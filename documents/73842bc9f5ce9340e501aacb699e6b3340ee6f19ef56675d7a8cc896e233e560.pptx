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697" r:id="rId2"/>
  </p:sldMasterIdLst>
  <p:notesMasterIdLst>
    <p:notesMasterId r:id="rId20"/>
  </p:notesMasterIdLst>
  <p:sldIdLst>
    <p:sldId id="918" r:id="rId3"/>
    <p:sldId id="922" r:id="rId4"/>
    <p:sldId id="280" r:id="rId5"/>
    <p:sldId id="881" r:id="rId6"/>
    <p:sldId id="867" r:id="rId7"/>
    <p:sldId id="930" r:id="rId8"/>
    <p:sldId id="868" r:id="rId9"/>
    <p:sldId id="932" r:id="rId10"/>
    <p:sldId id="933" r:id="rId11"/>
    <p:sldId id="928" r:id="rId12"/>
    <p:sldId id="875" r:id="rId13"/>
    <p:sldId id="870" r:id="rId14"/>
    <p:sldId id="931" r:id="rId15"/>
    <p:sldId id="880" r:id="rId16"/>
    <p:sldId id="934" r:id="rId17"/>
    <p:sldId id="877" r:id="rId18"/>
    <p:sldId id="92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A6F32-C58F-4C78-9079-E2B5588D2CDA}" v="7" dt="2026-09-13T14:35:42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>
        <p:scale>
          <a:sx n="100" d="100"/>
          <a:sy n="100" d="100"/>
        </p:scale>
        <p:origin x="166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lanie Caron-Harris" userId="784ba18a-e74f-420c-a966-05b1322e4383" providerId="ADAL" clId="{2D819EB9-7307-4A86-A40F-5F1833D42680}"/>
    <pc:docChg chg="undo custSel addSld delSld modSld">
      <pc:chgData name="Mélanie Caron-Harris" userId="784ba18a-e74f-420c-a966-05b1322e4383" providerId="ADAL" clId="{2D819EB9-7307-4A86-A40F-5F1833D42680}" dt="2026-09-13T14:38:56.922" v="463" actId="1076"/>
      <pc:docMkLst>
        <pc:docMk/>
      </pc:docMkLst>
      <pc:sldChg chg="modSp mod">
        <pc:chgData name="Mélanie Caron-Harris" userId="784ba18a-e74f-420c-a966-05b1322e4383" providerId="ADAL" clId="{2D819EB9-7307-4A86-A40F-5F1833D42680}" dt="2026-09-13T14:27:57.847" v="392" actId="27636"/>
        <pc:sldMkLst>
          <pc:docMk/>
          <pc:sldMk cId="1745275521" sldId="868"/>
        </pc:sldMkLst>
        <pc:spChg chg="mod">
          <ac:chgData name="Mélanie Caron-Harris" userId="784ba18a-e74f-420c-a966-05b1322e4383" providerId="ADAL" clId="{2D819EB9-7307-4A86-A40F-5F1833D42680}" dt="2026-09-13T14:27:57.847" v="392" actId="27636"/>
          <ac:spMkLst>
            <pc:docMk/>
            <pc:sldMk cId="1745275521" sldId="868"/>
            <ac:spMk id="4" creationId="{8E813A3A-8190-40CA-A2AB-79AD88617011}"/>
          </ac:spMkLst>
        </pc:spChg>
      </pc:sldChg>
      <pc:sldChg chg="modSp mod">
        <pc:chgData name="Mélanie Caron-Harris" userId="784ba18a-e74f-420c-a966-05b1322e4383" providerId="ADAL" clId="{2D819EB9-7307-4A86-A40F-5F1833D42680}" dt="2026-09-13T14:33:51.166" v="416" actId="27636"/>
        <pc:sldMkLst>
          <pc:docMk/>
          <pc:sldMk cId="3702047946" sldId="870"/>
        </pc:sldMkLst>
        <pc:spChg chg="mod">
          <ac:chgData name="Mélanie Caron-Harris" userId="784ba18a-e74f-420c-a966-05b1322e4383" providerId="ADAL" clId="{2D819EB9-7307-4A86-A40F-5F1833D42680}" dt="2026-09-13T14:33:51.166" v="416" actId="27636"/>
          <ac:spMkLst>
            <pc:docMk/>
            <pc:sldMk cId="3702047946" sldId="870"/>
            <ac:spMk id="4" creationId="{CC729DEA-70EC-45D0-BCF7-5A233D2AE288}"/>
          </ac:spMkLst>
        </pc:spChg>
      </pc:sldChg>
      <pc:sldChg chg="modSp mod">
        <pc:chgData name="Mélanie Caron-Harris" userId="784ba18a-e74f-420c-a966-05b1322e4383" providerId="ADAL" clId="{2D819EB9-7307-4A86-A40F-5F1833D42680}" dt="2026-09-13T14:38:56.922" v="463" actId="1076"/>
        <pc:sldMkLst>
          <pc:docMk/>
          <pc:sldMk cId="470026497" sldId="877"/>
        </pc:sldMkLst>
        <pc:spChg chg="mod">
          <ac:chgData name="Mélanie Caron-Harris" userId="784ba18a-e74f-420c-a966-05b1322e4383" providerId="ADAL" clId="{2D819EB9-7307-4A86-A40F-5F1833D42680}" dt="2026-09-13T14:38:56.922" v="463" actId="1076"/>
          <ac:spMkLst>
            <pc:docMk/>
            <pc:sldMk cId="470026497" sldId="877"/>
            <ac:spMk id="13" creationId="{612BDAEC-5609-2205-FF31-688381D1CE1B}"/>
          </ac:spMkLst>
        </pc:spChg>
        <pc:spChg chg="mod">
          <ac:chgData name="Mélanie Caron-Harris" userId="784ba18a-e74f-420c-a966-05b1322e4383" providerId="ADAL" clId="{2D819EB9-7307-4A86-A40F-5F1833D42680}" dt="2026-09-13T14:38:55.019" v="462" actId="1076"/>
          <ac:spMkLst>
            <pc:docMk/>
            <pc:sldMk cId="470026497" sldId="877"/>
            <ac:spMk id="14" creationId="{7729E4F4-8A8A-A73E-E3F5-32E0C5A2406A}"/>
          </ac:spMkLst>
        </pc:spChg>
      </pc:sldChg>
      <pc:sldChg chg="modSp mod">
        <pc:chgData name="Mélanie Caron-Harris" userId="784ba18a-e74f-420c-a966-05b1322e4383" providerId="ADAL" clId="{2D819EB9-7307-4A86-A40F-5F1833D42680}" dt="2026-09-13T14:37:54.886" v="459" actId="20577"/>
        <pc:sldMkLst>
          <pc:docMk/>
          <pc:sldMk cId="431658327" sldId="880"/>
        </pc:sldMkLst>
        <pc:spChg chg="mod">
          <ac:chgData name="Mélanie Caron-Harris" userId="784ba18a-e74f-420c-a966-05b1322e4383" providerId="ADAL" clId="{2D819EB9-7307-4A86-A40F-5F1833D42680}" dt="2026-09-13T14:37:54.886" v="459" actId="20577"/>
          <ac:spMkLst>
            <pc:docMk/>
            <pc:sldMk cId="431658327" sldId="880"/>
            <ac:spMk id="3" creationId="{1E1183AA-24B5-A12C-5EAE-FC35A11952B9}"/>
          </ac:spMkLst>
        </pc:spChg>
      </pc:sldChg>
      <pc:sldChg chg="modSp mod">
        <pc:chgData name="Mélanie Caron-Harris" userId="784ba18a-e74f-420c-a966-05b1322e4383" providerId="ADAL" clId="{2D819EB9-7307-4A86-A40F-5F1833D42680}" dt="2026-09-13T14:21:06.961" v="169" actId="20577"/>
        <pc:sldMkLst>
          <pc:docMk/>
          <pc:sldMk cId="1202354506" sldId="881"/>
        </pc:sldMkLst>
        <pc:spChg chg="mod">
          <ac:chgData name="Mélanie Caron-Harris" userId="784ba18a-e74f-420c-a966-05b1322e4383" providerId="ADAL" clId="{2D819EB9-7307-4A86-A40F-5F1833D42680}" dt="2026-09-13T14:21:06.961" v="169" actId="20577"/>
          <ac:spMkLst>
            <pc:docMk/>
            <pc:sldMk cId="1202354506" sldId="881"/>
            <ac:spMk id="3" creationId="{00000000-0000-0000-0000-000000000000}"/>
          </ac:spMkLst>
        </pc:spChg>
      </pc:sldChg>
      <pc:sldChg chg="delSp modSp mod">
        <pc:chgData name="Mélanie Caron-Harris" userId="784ba18a-e74f-420c-a966-05b1322e4383" providerId="ADAL" clId="{2D819EB9-7307-4A86-A40F-5F1833D42680}" dt="2026-09-13T14:19:32.553" v="129" actId="1076"/>
        <pc:sldMkLst>
          <pc:docMk/>
          <pc:sldMk cId="3439261569" sldId="918"/>
        </pc:sldMkLst>
        <pc:spChg chg="mod">
          <ac:chgData name="Mélanie Caron-Harris" userId="784ba18a-e74f-420c-a966-05b1322e4383" providerId="ADAL" clId="{2D819EB9-7307-4A86-A40F-5F1833D42680}" dt="2026-09-13T14:19:18.669" v="113" actId="1076"/>
          <ac:spMkLst>
            <pc:docMk/>
            <pc:sldMk cId="3439261569" sldId="918"/>
            <ac:spMk id="2" creationId="{FD37CE3F-EA88-316A-BA25-61E3A68BFC5B}"/>
          </ac:spMkLst>
        </pc:spChg>
        <pc:spChg chg="mod">
          <ac:chgData name="Mélanie Caron-Harris" userId="784ba18a-e74f-420c-a966-05b1322e4383" providerId="ADAL" clId="{2D819EB9-7307-4A86-A40F-5F1833D42680}" dt="2026-09-13T14:19:32.553" v="129" actId="1076"/>
          <ac:spMkLst>
            <pc:docMk/>
            <pc:sldMk cId="3439261569" sldId="918"/>
            <ac:spMk id="3" creationId="{BD2F2975-8E17-55BC-C605-1DF6AB103270}"/>
          </ac:spMkLst>
        </pc:spChg>
        <pc:spChg chg="mod">
          <ac:chgData name="Mélanie Caron-Harris" userId="784ba18a-e74f-420c-a966-05b1322e4383" providerId="ADAL" clId="{2D819EB9-7307-4A86-A40F-5F1833D42680}" dt="2026-09-13T14:19:11.665" v="110" actId="1076"/>
          <ac:spMkLst>
            <pc:docMk/>
            <pc:sldMk cId="3439261569" sldId="918"/>
            <ac:spMk id="4" creationId="{459406AA-21C5-73C8-8534-12BAF5E62038}"/>
          </ac:spMkLst>
        </pc:spChg>
        <pc:picChg chg="del">
          <ac:chgData name="Mélanie Caron-Harris" userId="784ba18a-e74f-420c-a966-05b1322e4383" providerId="ADAL" clId="{2D819EB9-7307-4A86-A40F-5F1833D42680}" dt="2026-09-13T14:18:37.381" v="104" actId="478"/>
          <ac:picMkLst>
            <pc:docMk/>
            <pc:sldMk cId="3439261569" sldId="918"/>
            <ac:picMk id="5" creationId="{96F048EC-D42B-AC6F-7755-43ABCAA97E63}"/>
          </ac:picMkLst>
        </pc:picChg>
      </pc:sldChg>
      <pc:sldChg chg="modSp mod">
        <pc:chgData name="Mélanie Caron-Harris" userId="784ba18a-e74f-420c-a966-05b1322e4383" providerId="ADAL" clId="{2D819EB9-7307-4A86-A40F-5F1833D42680}" dt="2026-09-13T14:37:25.169" v="456" actId="20577"/>
        <pc:sldMkLst>
          <pc:docMk/>
          <pc:sldMk cId="1716139420" sldId="931"/>
        </pc:sldMkLst>
        <pc:spChg chg="mod">
          <ac:chgData name="Mélanie Caron-Harris" userId="784ba18a-e74f-420c-a966-05b1322e4383" providerId="ADAL" clId="{2D819EB9-7307-4A86-A40F-5F1833D42680}" dt="2026-09-13T14:37:25.169" v="456" actId="20577"/>
          <ac:spMkLst>
            <pc:docMk/>
            <pc:sldMk cId="1716139420" sldId="931"/>
            <ac:spMk id="4" creationId="{C3D386B3-8126-1171-AC3F-807B3FB3CC21}"/>
          </ac:spMkLst>
        </pc:spChg>
      </pc:sldChg>
      <pc:sldChg chg="modSp mod">
        <pc:chgData name="Mélanie Caron-Harris" userId="784ba18a-e74f-420c-a966-05b1322e4383" providerId="ADAL" clId="{2D819EB9-7307-4A86-A40F-5F1833D42680}" dt="2026-09-13T14:36:24.139" v="454" actId="20577"/>
        <pc:sldMkLst>
          <pc:docMk/>
          <pc:sldMk cId="61409828" sldId="932"/>
        </pc:sldMkLst>
        <pc:spChg chg="mod">
          <ac:chgData name="Mélanie Caron-Harris" userId="784ba18a-e74f-420c-a966-05b1322e4383" providerId="ADAL" clId="{2D819EB9-7307-4A86-A40F-5F1833D42680}" dt="2026-09-13T14:36:10.569" v="448" actId="20577"/>
          <ac:spMkLst>
            <pc:docMk/>
            <pc:sldMk cId="61409828" sldId="932"/>
            <ac:spMk id="12" creationId="{6041FBCC-3E92-02B7-2536-69A0305FA20C}"/>
          </ac:spMkLst>
        </pc:spChg>
        <pc:spChg chg="mod">
          <ac:chgData name="Mélanie Caron-Harris" userId="784ba18a-e74f-420c-a966-05b1322e4383" providerId="ADAL" clId="{2D819EB9-7307-4A86-A40F-5F1833D42680}" dt="2026-09-13T14:36:24.139" v="454" actId="20577"/>
          <ac:spMkLst>
            <pc:docMk/>
            <pc:sldMk cId="61409828" sldId="932"/>
            <ac:spMk id="14" creationId="{B0433A0D-3675-7759-A9C4-DDFD9588EC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1959C-0419-441D-9A63-B13EFCACCCF9}" type="datetimeFigureOut">
              <a:rPr lang="fr-CA" smtClean="0"/>
              <a:t>2026-09-13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Cliquez pour modifier les styles de texte principaux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921EA-5BEA-4F41-BD33-30E93AAED69B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4457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A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DEA30-6F50-4834-B9A9-17A2A41D4712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020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A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DEA30-6F50-4834-B9A9-17A2A41D4712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877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A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DEA30-6F50-4834-B9A9-17A2A41D4712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5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877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19C2-3DBF-40B5-337D-ACF4C034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B7157-9240-63F2-30BE-2D1EC9D30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07813-9023-F037-A2AA-572A47407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A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25D9C-A0CF-DFB5-DC6D-837012C0C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DEA30-6F50-4834-B9A9-17A2A41D4712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504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0BBF39-FE2A-B24F-A435-85FF0A5BB30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149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0BBF39-FE2A-B24F-A435-85FF0A5BB30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540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DEA30-6F50-4834-B9A9-17A2A41D4712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571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DEA30-6F50-4834-B9A9-17A2A41D4712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368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6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48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52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05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32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41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89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97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98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7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94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65" y="152400"/>
            <a:ext cx="8759536" cy="1143000"/>
          </a:xfrm>
        </p:spPr>
        <p:txBody>
          <a:bodyPr>
            <a:normAutofit/>
          </a:bodyPr>
          <a:lstStyle>
            <a:lvl1pPr>
              <a:defRPr sz="3300" b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noProof="0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914400" y="1524000"/>
            <a:ext cx="7315200" cy="3962400"/>
          </a:xfrm>
        </p:spPr>
        <p:txBody>
          <a:bodyPr>
            <a:noAutofit/>
          </a:bodyPr>
          <a:lstStyle>
            <a:lvl1pPr marL="457200" indent="-457200">
              <a:defRPr sz="2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71600" indent="-457200">
              <a:buFont typeface="Wingdings" panose="05000000000000000000" pitchFamily="2" charset="2"/>
              <a:buChar char="§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828800" indent="-457200">
              <a:buFont typeface="Courier New" panose="02070309020205020404" pitchFamily="49" charset="0"/>
              <a:buChar char="o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86000" indent="-457200">
              <a:buFont typeface="Wingdings" panose="05000000000000000000" pitchFamily="2" charset="2"/>
              <a:buChar char="Ø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CA" noProof="0" dirty="0"/>
              <a:t>Click to edit Master text styles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  <a:p>
            <a:pPr lvl="4"/>
            <a:r>
              <a:rPr lang="en-CA" noProof="0" dirty="0"/>
              <a:t>Fifth level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55B51126-09C9-464E-AEF3-49D721E4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822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32480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692248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90707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7900431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30775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8676152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785386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96426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966395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72150508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590933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Cliquez pour modifier le style du titre principal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Cliquez pour modifier les styles de texte principal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83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6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hc-schl.gc.ca/en/consumers/owning-a-home/mortgage-management/your-credit-repor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ratehub.ca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hc-schl.gc.ca/en/professionals/industry-innovation-and-leadership/industry-expertise/resources-for-mortgage-professionals/mortgage-loan-insurance-and-premium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delity.ca/fr/investor/investorinsights/fhsa-hbp-save-for-home/" TargetMode="External"/><Relationship Id="rId2" Type="http://schemas.openxmlformats.org/officeDocument/2006/relationships/hyperlink" Target="https://www.fidelity.ca/fr/investor/investorinsights/fhsa-registered-account-for-prospective-homebuyers/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unlife.ca/en/investments/fhsa/fhsa-vs-hbp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gif"/><Relationship Id="rId5" Type="http://schemas.openxmlformats.org/officeDocument/2006/relationships/hyperlink" Target="https://www.ratehub.ca/comparez" TargetMode="External"/><Relationship Id="rId4" Type="http://schemas.openxmlformats.org/officeDocument/2006/relationships/hyperlink" Target="https://www.bnc.ca/particuliers/hypotheque/taux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tehub.ca/calcul-versement-hypothecair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room.bankofamerica.com/content/newsroom/press-releases/2023/10/gen-z-is-tightening-its-belt--with-73--modifying-lifestyles-due-.html" TargetMode="External"/><Relationship Id="rId2" Type="http://schemas.openxmlformats.org/officeDocument/2006/relationships/hyperlink" Target="https://www.salon.com/2024/10/03/gen-z-younger-millennials-more-financially-stressed-survey-say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CE3F-EA88-316A-BA25-61E3A68B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262" y="2198912"/>
            <a:ext cx="5457825" cy="1450757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 err="1"/>
              <a:t>Chronique</a:t>
            </a:r>
            <a:r>
              <a:rPr lang="en-CA" dirty="0"/>
              <a:t> financière….</a:t>
            </a:r>
            <a:br>
              <a:rPr lang="en-CA" dirty="0"/>
            </a:br>
            <a:r>
              <a:rPr lang="en-CA" sz="5300" dirty="0">
                <a:solidFill>
                  <a:srgbClr val="C00000"/>
                </a:solidFill>
                <a:latin typeface="Ink Free" panose="03080402000500000000" pitchFamily="66" charset="0"/>
              </a:rPr>
              <a:t>Les </a:t>
            </a:r>
            <a:r>
              <a:rPr lang="en-CA" sz="5300" dirty="0" err="1">
                <a:solidFill>
                  <a:srgbClr val="C00000"/>
                </a:solidFill>
                <a:latin typeface="Ink Free" panose="03080402000500000000" pitchFamily="66" charset="0"/>
              </a:rPr>
              <a:t>hypothèques</a:t>
            </a:r>
            <a:r>
              <a:rPr lang="en-CA" sz="5300" dirty="0">
                <a:solidFill>
                  <a:srgbClr val="C00000"/>
                </a:solidFill>
                <a:latin typeface="Ink Free" panose="03080402000500000000" pitchFamily="66" charset="0"/>
              </a:rPr>
              <a:t>!</a:t>
            </a:r>
            <a:endParaRPr lang="fr-CA" sz="5300" dirty="0">
              <a:solidFill>
                <a:srgbClr val="C00000"/>
              </a:solidFill>
              <a:latin typeface="Ink Free" panose="03080402000500000000" pitchFamily="66" charset="0"/>
            </a:endParaRPr>
          </a:p>
        </p:txBody>
      </p:sp>
      <p:pic>
        <p:nvPicPr>
          <p:cNvPr id="18" name="Picture 17" descr="Calculatrice, stylo, boussole, argent et un papier avec graphiques imprimés">
            <a:extLst>
              <a:ext uri="{FF2B5EF4-FFF2-40B4-BE49-F238E27FC236}">
                <a16:creationId xmlns:a16="http://schemas.microsoft.com/office/drawing/2014/main" id="{021DAD8B-EBF5-3F41-5E07-1916D317D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04" r="32583" b="1"/>
          <a:stretch/>
        </p:blipFill>
        <p:spPr>
          <a:xfrm>
            <a:off x="20" y="-12128"/>
            <a:ext cx="3490702" cy="687012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2975-8E17-55BC-C605-1DF6AB10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210" y="1884787"/>
            <a:ext cx="4776107" cy="4659085"/>
          </a:xfrm>
        </p:spPr>
        <p:txBody>
          <a:bodyPr>
            <a:noAutofit/>
          </a:bodyPr>
          <a:lstStyle/>
          <a:p>
            <a:endParaRPr lang="en-CA" sz="2200" dirty="0">
              <a:latin typeface="+mj-lt"/>
            </a:endParaRPr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endParaRPr lang="en-CA" sz="1500" dirty="0"/>
          </a:p>
          <a:p>
            <a:r>
              <a:rPr lang="fr-CA" sz="1500" dirty="0"/>
              <a:t>©Mélanie Harris 2024 </a:t>
            </a:r>
            <a:r>
              <a:rPr lang="fr-CA" sz="1500" dirty="0">
                <a:latin typeface="Ink Free" panose="03080402000500000000" pitchFamily="66" charset="0"/>
              </a:rPr>
              <a:t>(à .jour sept 2026)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406AA-21C5-73C8-8534-12BAF5E62038}"/>
              </a:ext>
            </a:extLst>
          </p:cNvPr>
          <p:cNvSpPr/>
          <p:nvPr/>
        </p:nvSpPr>
        <p:spPr>
          <a:xfrm>
            <a:off x="4572000" y="4214330"/>
            <a:ext cx="3194528" cy="628250"/>
          </a:xfrm>
          <a:custGeom>
            <a:avLst/>
            <a:gdLst>
              <a:gd name="csX0" fmla="*/ 0 w 3194528"/>
              <a:gd name="csY0" fmla="*/ 0 h 628250"/>
              <a:gd name="csX1" fmla="*/ 543070 w 3194528"/>
              <a:gd name="csY1" fmla="*/ 0 h 628250"/>
              <a:gd name="csX2" fmla="*/ 1118085 w 3194528"/>
              <a:gd name="csY2" fmla="*/ 0 h 628250"/>
              <a:gd name="csX3" fmla="*/ 1788936 w 3194528"/>
              <a:gd name="csY3" fmla="*/ 0 h 628250"/>
              <a:gd name="csX4" fmla="*/ 2363951 w 3194528"/>
              <a:gd name="csY4" fmla="*/ 0 h 628250"/>
              <a:gd name="csX5" fmla="*/ 3194528 w 3194528"/>
              <a:gd name="csY5" fmla="*/ 0 h 628250"/>
              <a:gd name="csX6" fmla="*/ 3194528 w 3194528"/>
              <a:gd name="csY6" fmla="*/ 628250 h 628250"/>
              <a:gd name="csX7" fmla="*/ 2523677 w 3194528"/>
              <a:gd name="csY7" fmla="*/ 628250 h 628250"/>
              <a:gd name="csX8" fmla="*/ 1852826 w 3194528"/>
              <a:gd name="csY8" fmla="*/ 628250 h 628250"/>
              <a:gd name="csX9" fmla="*/ 1309756 w 3194528"/>
              <a:gd name="csY9" fmla="*/ 628250 h 628250"/>
              <a:gd name="csX10" fmla="*/ 766687 w 3194528"/>
              <a:gd name="csY10" fmla="*/ 628250 h 628250"/>
              <a:gd name="csX11" fmla="*/ 0 w 3194528"/>
              <a:gd name="csY11" fmla="*/ 628250 h 628250"/>
              <a:gd name="csX12" fmla="*/ 0 w 3194528"/>
              <a:gd name="csY12" fmla="*/ 0 h 628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94528" h="628250" fill="none" extrusionOk="0">
                <a:moveTo>
                  <a:pt x="0" y="0"/>
                </a:moveTo>
                <a:cubicBezTo>
                  <a:pt x="165078" y="-9372"/>
                  <a:pt x="326288" y="13409"/>
                  <a:pt x="543070" y="0"/>
                </a:cubicBezTo>
                <a:cubicBezTo>
                  <a:pt x="759852" y="-13409"/>
                  <a:pt x="845998" y="13524"/>
                  <a:pt x="1118085" y="0"/>
                </a:cubicBezTo>
                <a:cubicBezTo>
                  <a:pt x="1390173" y="-13524"/>
                  <a:pt x="1521800" y="30571"/>
                  <a:pt x="1788936" y="0"/>
                </a:cubicBezTo>
                <a:cubicBezTo>
                  <a:pt x="2056072" y="-30571"/>
                  <a:pt x="2198700" y="-20028"/>
                  <a:pt x="2363951" y="0"/>
                </a:cubicBezTo>
                <a:cubicBezTo>
                  <a:pt x="2529203" y="20028"/>
                  <a:pt x="2977793" y="29781"/>
                  <a:pt x="3194528" y="0"/>
                </a:cubicBezTo>
                <a:cubicBezTo>
                  <a:pt x="3175274" y="164758"/>
                  <a:pt x="3225593" y="367406"/>
                  <a:pt x="3194528" y="628250"/>
                </a:cubicBezTo>
                <a:cubicBezTo>
                  <a:pt x="2869172" y="605955"/>
                  <a:pt x="2787065" y="650237"/>
                  <a:pt x="2523677" y="628250"/>
                </a:cubicBezTo>
                <a:cubicBezTo>
                  <a:pt x="2260289" y="606263"/>
                  <a:pt x="2066068" y="609146"/>
                  <a:pt x="1852826" y="628250"/>
                </a:cubicBezTo>
                <a:cubicBezTo>
                  <a:pt x="1639584" y="647354"/>
                  <a:pt x="1563133" y="654277"/>
                  <a:pt x="1309756" y="628250"/>
                </a:cubicBezTo>
                <a:cubicBezTo>
                  <a:pt x="1056379" y="602224"/>
                  <a:pt x="918597" y="644621"/>
                  <a:pt x="766687" y="628250"/>
                </a:cubicBezTo>
                <a:cubicBezTo>
                  <a:pt x="614777" y="611879"/>
                  <a:pt x="201032" y="645026"/>
                  <a:pt x="0" y="628250"/>
                </a:cubicBezTo>
                <a:cubicBezTo>
                  <a:pt x="29387" y="406962"/>
                  <a:pt x="-28864" y="151312"/>
                  <a:pt x="0" y="0"/>
                </a:cubicBezTo>
                <a:close/>
              </a:path>
              <a:path w="3194528" h="628250" stroke="0" extrusionOk="0">
                <a:moveTo>
                  <a:pt x="0" y="0"/>
                </a:moveTo>
                <a:cubicBezTo>
                  <a:pt x="255562" y="-29791"/>
                  <a:pt x="313178" y="7868"/>
                  <a:pt x="606960" y="0"/>
                </a:cubicBezTo>
                <a:cubicBezTo>
                  <a:pt x="900742" y="-7868"/>
                  <a:pt x="999206" y="-22256"/>
                  <a:pt x="1181975" y="0"/>
                </a:cubicBezTo>
                <a:cubicBezTo>
                  <a:pt x="1364744" y="22256"/>
                  <a:pt x="1716319" y="22315"/>
                  <a:pt x="1884772" y="0"/>
                </a:cubicBezTo>
                <a:cubicBezTo>
                  <a:pt x="2053225" y="-22315"/>
                  <a:pt x="2280124" y="-24548"/>
                  <a:pt x="2587568" y="0"/>
                </a:cubicBezTo>
                <a:cubicBezTo>
                  <a:pt x="2895012" y="24548"/>
                  <a:pt x="2912149" y="-1726"/>
                  <a:pt x="3194528" y="0"/>
                </a:cubicBezTo>
                <a:cubicBezTo>
                  <a:pt x="3171594" y="132277"/>
                  <a:pt x="3188121" y="415337"/>
                  <a:pt x="3194528" y="628250"/>
                </a:cubicBezTo>
                <a:cubicBezTo>
                  <a:pt x="2921795" y="607880"/>
                  <a:pt x="2804916" y="652525"/>
                  <a:pt x="2587568" y="628250"/>
                </a:cubicBezTo>
                <a:cubicBezTo>
                  <a:pt x="2370220" y="603975"/>
                  <a:pt x="2220724" y="608097"/>
                  <a:pt x="1980607" y="628250"/>
                </a:cubicBezTo>
                <a:cubicBezTo>
                  <a:pt x="1740490" y="648403"/>
                  <a:pt x="1656372" y="640429"/>
                  <a:pt x="1373647" y="628250"/>
                </a:cubicBezTo>
                <a:cubicBezTo>
                  <a:pt x="1090922" y="616071"/>
                  <a:pt x="1062459" y="616376"/>
                  <a:pt x="830577" y="628250"/>
                </a:cubicBezTo>
                <a:cubicBezTo>
                  <a:pt x="598695" y="640125"/>
                  <a:pt x="311983" y="622604"/>
                  <a:pt x="0" y="628250"/>
                </a:cubicBezTo>
                <a:cubicBezTo>
                  <a:pt x="24430" y="489577"/>
                  <a:pt x="17793" y="175711"/>
                  <a:pt x="0" y="0"/>
                </a:cubicBez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11455964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500" dirty="0">
                <a:solidFill>
                  <a:schemeClr val="tx1"/>
                </a:solidFill>
                <a:latin typeface="Ink Free" panose="03080402000500000000" pitchFamily="66" charset="0"/>
              </a:rPr>
              <a:t>Non-matière à examen</a:t>
            </a:r>
          </a:p>
        </p:txBody>
      </p:sp>
    </p:spTree>
    <p:extLst>
      <p:ext uri="{BB962C8B-B14F-4D97-AF65-F5344CB8AC3E}">
        <p14:creationId xmlns:p14="http://schemas.microsoft.com/office/powerpoint/2010/main" val="343926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sign on a railing&#10;&#10;Description automatically generated">
            <a:extLst>
              <a:ext uri="{FF2B5EF4-FFF2-40B4-BE49-F238E27FC236}">
                <a16:creationId xmlns:a16="http://schemas.microsoft.com/office/drawing/2014/main" id="{B647DD03-0596-2A6F-7097-A7346D5703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53" r="47005" b="-1"/>
          <a:stretch/>
        </p:blipFill>
        <p:spPr>
          <a:xfrm>
            <a:off x="13" y="10"/>
            <a:ext cx="5667666" cy="685799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9ED41B5-F9B0-4DE1-8C59-A980468A7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5710114" y="0"/>
            <a:ext cx="343855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B3045-E4DA-D05B-BDAD-0CBABA364F12}"/>
              </a:ext>
            </a:extLst>
          </p:cNvPr>
          <p:cNvSpPr txBox="1"/>
          <p:nvPr/>
        </p:nvSpPr>
        <p:spPr>
          <a:xfrm>
            <a:off x="5807591" y="275167"/>
            <a:ext cx="3383509" cy="13982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-5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Objectifs</a:t>
            </a:r>
            <a:r>
              <a:rPr kumimoji="0" lang="en-US" sz="38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  <a:r>
              <a:rPr kumimoji="0" lang="en-US" sz="3800" b="0" i="0" u="none" strike="noStrike" kern="1200" cap="none" spc="-5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d’apprentissage</a:t>
            </a:r>
            <a:endParaRPr kumimoji="0" lang="en-US" sz="3800" b="0" i="0" u="none" strike="noStrike" kern="1200" cap="none" spc="-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72B4D-6E5B-AAA1-F788-EB3FAEA1F614}"/>
              </a:ext>
            </a:extLst>
          </p:cNvPr>
          <p:cNvSpPr txBox="1"/>
          <p:nvPr/>
        </p:nvSpPr>
        <p:spPr>
          <a:xfrm>
            <a:off x="5800579" y="2097334"/>
            <a:ext cx="3143396" cy="4300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None/>
              <a:tabLst/>
              <a:defRPr/>
            </a:pPr>
            <a:r>
              <a:rPr kumimoji="0" lang="fr-CA" sz="1800" b="1" i="0" u="none" strike="noStrike" kern="1200" cap="all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Comprendre ce qu'est une hypothèque et ses principales caractéristiques.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None/>
              <a:tabLst/>
              <a:defRPr/>
            </a:pPr>
            <a:r>
              <a:rPr kumimoji="0" lang="fr-CA" sz="1800" b="1" i="0" u="none" strike="noStrike" kern="1200" cap="all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Identifier les différents types de prêts hypothécaires.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None/>
              <a:tabLst/>
              <a:defRPr/>
            </a:pPr>
            <a:r>
              <a:rPr kumimoji="0" lang="fr-CA" sz="1800" b="1" i="0" u="none" strike="noStrike" kern="1200" cap="all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Reconnaître l'importance d'un bon dossier de crédit.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Tx/>
              <a:buNone/>
              <a:tabLst/>
              <a:defRPr/>
            </a:pPr>
            <a:r>
              <a:rPr kumimoji="0" lang="fr-CA" sz="1800" b="1" i="0" u="none" strike="noStrike" kern="1200" cap="all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Explorer les options de financement pour les premiers acheteurs.</a:t>
            </a:r>
            <a:endParaRPr kumimoji="0" lang="en-US" sz="1800" b="1" i="0" u="none" strike="noStrike" kern="1200" cap="all" spc="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482A030-873A-4216-B6A6-C3348B9CA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7679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B6E51-DB08-C092-547D-B5CB75DA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2930" y="6459785"/>
            <a:ext cx="5441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585649F-876E-A447-8403-6DEDC044090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34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34400" cy="758952"/>
          </a:xfrm>
        </p:spPr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Définition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92045" y="2060848"/>
            <a:ext cx="8556176" cy="4219636"/>
          </a:xfrm>
        </p:spPr>
        <p:txBody>
          <a:bodyPr>
            <a:normAutofit/>
          </a:bodyPr>
          <a:lstStyle/>
          <a:p>
            <a:pPr algn="l"/>
            <a:r>
              <a:rPr lang="fr-CA" sz="2200" b="1" i="0" dirty="0">
                <a:solidFill>
                  <a:srgbClr val="0D0D0D"/>
                </a:solidFill>
                <a:effectLst/>
                <a:latin typeface="ui-sans-serif"/>
              </a:rPr>
              <a:t>Qu'est-ce qu'une Hypothèque?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200" b="0" i="0" dirty="0">
                <a:solidFill>
                  <a:srgbClr val="0D0D0D"/>
                </a:solidFill>
                <a:effectLst/>
                <a:latin typeface="ui-sans-serif"/>
              </a:rPr>
              <a:t>Une hypothèque est un type de prêt utilisé pour financer l'achat d'un actif à long terme, comme une maison ou un condo. C'est ce qu'on appelle un « </a:t>
            </a:r>
            <a:r>
              <a:rPr lang="fr-CA" sz="2200" b="0" i="0" dirty="0">
                <a:solidFill>
                  <a:srgbClr val="0D0D0D"/>
                </a:solidFill>
                <a:effectLst/>
                <a:latin typeface="Ink Free" panose="03080402000500000000" pitchFamily="66" charset="0"/>
              </a:rPr>
              <a:t>Prêt Amorti </a:t>
            </a:r>
            <a:r>
              <a:rPr lang="fr-CA" sz="2200" b="0" i="0" dirty="0">
                <a:solidFill>
                  <a:srgbClr val="0D0D0D"/>
                </a:solidFill>
                <a:effectLst/>
                <a:latin typeface="ui-sans-serif"/>
              </a:rPr>
              <a:t>», où les paiements comprennent à la fois le capital et les intérêts et sont les mêmes à chaque période.</a:t>
            </a:r>
          </a:p>
          <a:p>
            <a:pPr lvl="1"/>
            <a:endParaRPr lang="fr-CA" sz="2200" dirty="0"/>
          </a:p>
          <a:p>
            <a:r>
              <a:rPr lang="fr-CA" sz="2200" b="1" dirty="0">
                <a:solidFill>
                  <a:srgbClr val="0D0D0D"/>
                </a:solidFill>
                <a:latin typeface="ui-sans-serif"/>
              </a:rPr>
              <a:t>Diagramme temporel: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  <a:latin typeface="Georgia"/>
                <a:ea typeface="ＭＳ Ｐゴシック" charset="0"/>
              </a:rPr>
              <a:pPr>
                <a:defRPr/>
              </a:pPr>
              <a:t>3</a:t>
            </a:fld>
            <a:endParaRPr lang="fr-CA">
              <a:solidFill>
                <a:srgbClr val="8CADAE">
                  <a:shade val="75000"/>
                </a:srgbClr>
              </a:solidFill>
              <a:latin typeface="Georgia"/>
              <a:ea typeface="ＭＳ Ｐゴシック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A57011-C597-A53F-7301-BF8441DF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2" y="947592"/>
            <a:ext cx="8928992" cy="10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5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34400" cy="758952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Caractéristiques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1520" y="2111508"/>
            <a:ext cx="8503920" cy="4320480"/>
          </a:xfrm>
        </p:spPr>
        <p:txBody>
          <a:bodyPr>
            <a:normAutofit fontScale="92500" lnSpcReduction="10000"/>
          </a:bodyPr>
          <a:lstStyle/>
          <a:p>
            <a:r>
              <a:rPr lang="fr-CA" sz="2500" b="1" u="sng" dirty="0">
                <a:solidFill>
                  <a:schemeClr val="accent6">
                    <a:lumMod val="75000"/>
                  </a:schemeClr>
                </a:solidFill>
              </a:rPr>
              <a:t>L’emprunteur</a:t>
            </a:r>
            <a:r>
              <a:rPr lang="fr-CA" sz="2500" b="1" dirty="0"/>
              <a:t> a plusieurs </a:t>
            </a:r>
            <a:r>
              <a:rPr lang="fr-CA" sz="2500" b="1" u="sng" dirty="0"/>
              <a:t>choix à faire </a:t>
            </a:r>
            <a:r>
              <a:rPr lang="fr-CA" sz="2500" b="1" dirty="0"/>
              <a:t>pour le contrat:</a:t>
            </a:r>
          </a:p>
          <a:p>
            <a:endParaRPr lang="fr-CA" sz="11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b="1" dirty="0"/>
              <a:t>Échéance: </a:t>
            </a:r>
            <a:r>
              <a:rPr lang="fr-CA" sz="2400" dirty="0"/>
              <a:t>temps prévu pour rembourser le prêt au complet: 1 an à </a:t>
            </a:r>
            <a:r>
              <a:rPr lang="fr-CA" sz="2400" dirty="0">
                <a:solidFill>
                  <a:srgbClr val="FF0000"/>
                </a:solidFill>
                <a:latin typeface="Ink Free" panose="03080402000500000000" pitchFamily="66" charset="0"/>
              </a:rPr>
              <a:t>30 ans (premier acheteur ou maison neuve).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b="1" dirty="0"/>
              <a:t>Terme: </a:t>
            </a:r>
            <a:r>
              <a:rPr lang="fr-CA" sz="2400" dirty="0"/>
              <a:t>durée du contrat hypothécaire : 6 mois a 5 ans. À la fin du terme, on peut renégocier un nouveau terme.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b="1" dirty="0"/>
              <a:t>Taux d’intérêt </a:t>
            </a:r>
            <a:r>
              <a:rPr lang="fr-CA" sz="2400" dirty="0"/>
              <a:t>: Fixe ou variable pour la durée du terme.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b="1" dirty="0"/>
              <a:t>Fréquence des versements: </a:t>
            </a:r>
            <a:r>
              <a:rPr lang="fr-CA" sz="2400" dirty="0"/>
              <a:t>mensuels, 2 semaines, hebdomadaire ..</a:t>
            </a:r>
            <a:r>
              <a:rPr lang="fr-CA" sz="2400" dirty="0">
                <a:solidFill>
                  <a:srgbClr val="FF0000"/>
                </a:solidFill>
                <a:latin typeface="Ink Free" panose="03080402000500000000" pitchFamily="66" charset="0"/>
              </a:rPr>
              <a:t>Pas nécessairement mensuel!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b="1" dirty="0"/>
              <a:t>Prêt ouvert: </a:t>
            </a:r>
            <a:r>
              <a:rPr lang="fr-CA" sz="2400" dirty="0"/>
              <a:t>prêt pouvant être remboursé à l’avance sans pénalité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b="1" dirty="0"/>
              <a:t>Prêt fermé: </a:t>
            </a:r>
            <a:r>
              <a:rPr lang="fr-CA" sz="2400" dirty="0"/>
              <a:t>pénalité si remboursée avant terme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dirty="0">
                <a:solidFill>
                  <a:srgbClr val="FF0000"/>
                </a:solidFill>
                <a:latin typeface="Ink Free" panose="03080402000500000000" pitchFamily="66" charset="0"/>
              </a:rPr>
              <a:t>Plusieurs autres options, à magasiner et surtout regarder le coût des options..! </a:t>
            </a:r>
            <a:endParaRPr lang="fr-CA" dirty="0"/>
          </a:p>
          <a:p>
            <a:pPr lvl="1"/>
            <a:endParaRPr lang="fr-CA" dirty="0"/>
          </a:p>
          <a:p>
            <a:pPr marL="320040" lvl="1" indent="0">
              <a:buClr>
                <a:schemeClr val="accent3">
                  <a:lumMod val="50000"/>
                </a:schemeClr>
              </a:buClr>
              <a:buNone/>
            </a:pPr>
            <a:endParaRPr lang="fr-CA" dirty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defRPr/>
            </a:pPr>
            <a:endParaRPr lang="fr-CA" dirty="0"/>
          </a:p>
          <a:p>
            <a:pPr marL="594360" lvl="2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  <a:latin typeface="Georgia"/>
                <a:ea typeface="ＭＳ Ｐゴシック" charset="0"/>
              </a:rPr>
              <a:pPr>
                <a:defRPr/>
              </a:pPr>
              <a:t>4</a:t>
            </a:fld>
            <a:endParaRPr lang="fr-CA">
              <a:solidFill>
                <a:srgbClr val="8CADAE">
                  <a:shade val="75000"/>
                </a:srgbClr>
              </a:solidFill>
              <a:latin typeface="Georgia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4D98E-8D38-2D9E-6CCD-5863F8DCE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2" y="947592"/>
            <a:ext cx="8928992" cy="10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5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34400" cy="75895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Considérations importantes…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1752" y="2400300"/>
            <a:ext cx="8503920" cy="4269060"/>
          </a:xfrm>
        </p:spPr>
        <p:txBody>
          <a:bodyPr>
            <a:normAutofit/>
          </a:bodyPr>
          <a:lstStyle/>
          <a:p>
            <a:pPr lvl="1"/>
            <a:r>
              <a:rPr lang="fr-CA" sz="2400" b="1" dirty="0" err="1"/>
              <a:t>Assurance titre </a:t>
            </a:r>
            <a:r>
              <a:rPr lang="en-US" sz="2400" dirty="0"/>
              <a:t>Protège contre les hypothèques légales pour les nouvelles constructions.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Un bon </a:t>
            </a:r>
            <a:r>
              <a:rPr lang="en-US" sz="2400" b="1" dirty="0"/>
              <a:t>rapport de solvabilité </a:t>
            </a:r>
            <a:r>
              <a:rPr lang="en-US" sz="2400" dirty="0"/>
              <a:t>et une bonne cote de crédit sont des facteurs importants pour déterminer si vous serez approuvé ou non pour un prêt hypothécaire.</a:t>
            </a:r>
          </a:p>
          <a:p>
            <a:pPr lvl="2"/>
            <a:r>
              <a:rPr lang="fr-CA" sz="1600" dirty="0">
                <a:hlinkClick r:id="rId3"/>
              </a:rPr>
              <a:t>https://www.cmhc-schl.gc.</a:t>
            </a:r>
            <a:r>
              <a:rPr lang="fr-CA" sz="1600" dirty="0"/>
              <a:t>ca/en/consumers/owning-a-home/mortgage-management/your-credit-report </a:t>
            </a:r>
          </a:p>
          <a:p>
            <a:pPr lvl="2"/>
            <a:endParaRPr lang="fr-CA" sz="1600" dirty="0"/>
          </a:p>
          <a:p>
            <a:pPr lvl="1"/>
            <a:r>
              <a:rPr lang="fr-CA" sz="2400" dirty="0"/>
              <a:t>Excellent </a:t>
            </a:r>
            <a:r>
              <a:rPr lang="fr-CA" sz="2400" dirty="0" err="1"/>
              <a:t>site web </a:t>
            </a:r>
            <a:r>
              <a:rPr lang="fr-CA" sz="2400" dirty="0"/>
              <a:t>pour </a:t>
            </a:r>
            <a:r>
              <a:rPr lang="fr-CA" sz="2400" b="1" dirty="0"/>
              <a:t>comparer </a:t>
            </a:r>
            <a:r>
              <a:rPr lang="fr-CA" sz="2400" b="1" dirty="0" err="1"/>
              <a:t>les prêts hypothécaires et les assurances </a:t>
            </a:r>
            <a:r>
              <a:rPr lang="fr-CA" sz="2400" dirty="0"/>
              <a:t>: </a:t>
            </a:r>
            <a:r>
              <a:rPr lang="en-CA" sz="2400" dirty="0">
                <a:hlinkClick r:id="rId4"/>
              </a:rPr>
              <a:t>https://www.ratehub.ca/</a:t>
            </a:r>
            <a:r>
              <a:rPr lang="en-CA" sz="2400" dirty="0"/>
              <a:t>  </a:t>
            </a:r>
            <a:endParaRPr lang="fr-CA" sz="2400" dirty="0"/>
          </a:p>
          <a:p>
            <a:pPr lvl="1"/>
            <a:endParaRPr lang="fr-CA" sz="2000" dirty="0"/>
          </a:p>
          <a:p>
            <a:pPr marL="320040" lvl="1" indent="0">
              <a:buClr>
                <a:schemeClr val="accent3">
                  <a:lumMod val="50000"/>
                </a:schemeClr>
              </a:buClr>
              <a:buNone/>
            </a:pPr>
            <a:endParaRPr lang="fr-CA" sz="2000" dirty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defRPr/>
            </a:pPr>
            <a:endParaRPr lang="fr-CA" sz="2000" dirty="0"/>
          </a:p>
          <a:p>
            <a:pPr marL="594360" lvl="2" indent="0">
              <a:buNone/>
            </a:pPr>
            <a:endParaRPr lang="fr-CA" sz="1600" dirty="0"/>
          </a:p>
          <a:p>
            <a:pPr lvl="1"/>
            <a:endParaRPr lang="fr-CA" sz="2000" dirty="0"/>
          </a:p>
          <a:p>
            <a:pPr lvl="1"/>
            <a:endParaRPr lang="fr-CA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  <a:latin typeface="Georgia"/>
                <a:ea typeface="ＭＳ Ｐゴシック" charset="0"/>
              </a:rPr>
              <a:t>5</a:t>
            </a:fld>
            <a:endParaRPr lang="fr-CA">
              <a:solidFill>
                <a:srgbClr val="8CADAE">
                  <a:shade val="75000"/>
                </a:srgbClr>
              </a:solidFill>
              <a:latin typeface="Georgia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C6ADF-D61E-EC5E-BAC9-6EA706A09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92" y="947592"/>
            <a:ext cx="8928992" cy="10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8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E1699-FBC3-DCC7-0D9A-A9F7EB5D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76B8DA-6E93-A45D-E79D-26866A8C3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34400" cy="75895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Options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398853-B84D-8B7F-0185-6CC06E0899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1520" y="2111508"/>
            <a:ext cx="8503920" cy="4320480"/>
          </a:xfrm>
        </p:spPr>
        <p:txBody>
          <a:bodyPr>
            <a:normAutofit/>
          </a:bodyPr>
          <a:lstStyle/>
          <a:p>
            <a:r>
              <a:rPr lang="en-US" sz="2400" dirty="0"/>
              <a:t>Les options de </a:t>
            </a:r>
            <a:r>
              <a:rPr lang="en-US" sz="2400" b="1" dirty="0" err="1"/>
              <a:t>remboursement</a:t>
            </a:r>
            <a:r>
              <a:rPr lang="en-US" sz="2400" b="1" dirty="0"/>
              <a:t> </a:t>
            </a:r>
            <a:r>
              <a:rPr lang="en-US" sz="2400" b="1" dirty="0" err="1"/>
              <a:t>anticipé</a:t>
            </a:r>
            <a:r>
              <a:rPr lang="en-US" sz="2400" b="1" dirty="0"/>
              <a:t> </a:t>
            </a:r>
            <a:r>
              <a:rPr lang="en-US" sz="2400" dirty="0" err="1"/>
              <a:t>sont</a:t>
            </a:r>
            <a:r>
              <a:rPr lang="en-US" sz="2400" dirty="0"/>
              <a:t> un </a:t>
            </a:r>
            <a:r>
              <a:rPr lang="en-US" sz="2400" dirty="0" err="1"/>
              <a:t>outil</a:t>
            </a:r>
            <a:r>
              <a:rPr lang="en-US" sz="2400" dirty="0"/>
              <a:t> important pour </a:t>
            </a:r>
            <a:r>
              <a:rPr lang="en-US" sz="2400" dirty="0" err="1"/>
              <a:t>gérer</a:t>
            </a:r>
            <a:r>
              <a:rPr lang="en-US" sz="2400" dirty="0"/>
              <a:t> son </a:t>
            </a:r>
            <a:r>
              <a:rPr lang="en-US" sz="2400" dirty="0" err="1"/>
              <a:t>hypothèque</a:t>
            </a:r>
            <a:r>
              <a:rPr lang="en-US" sz="2400" dirty="0"/>
              <a:t> avec </a:t>
            </a:r>
            <a:r>
              <a:rPr lang="en-US" sz="2400" b="1" u="sng" dirty="0" err="1"/>
              <a:t>souplesse</a:t>
            </a:r>
            <a:r>
              <a:rPr lang="en-US" sz="2400" b="1" u="sng" dirty="0"/>
              <a:t> et intelligence</a:t>
            </a:r>
            <a:r>
              <a:rPr lang="en-US" sz="2400" b="1" dirty="0"/>
              <a:t>. </a:t>
            </a:r>
          </a:p>
          <a:p>
            <a:r>
              <a:rPr lang="en-US" sz="2400" dirty="0"/>
              <a:t>En </a:t>
            </a:r>
            <a:r>
              <a:rPr lang="en-US" sz="2400" u="sng" dirty="0" err="1"/>
              <a:t>comprenant</a:t>
            </a:r>
            <a:r>
              <a:rPr lang="en-US" sz="2400" u="sng" dirty="0"/>
              <a:t> </a:t>
            </a:r>
            <a:r>
              <a:rPr lang="en-US" sz="2400" u="sng" dirty="0" err="1"/>
              <a:t>vos</a:t>
            </a:r>
            <a:r>
              <a:rPr lang="en-US" sz="2400" u="sng" dirty="0"/>
              <a:t> </a:t>
            </a:r>
            <a:r>
              <a:rPr lang="en-US" sz="2400" b="1" u="sng" dirty="0"/>
              <a:t>droits et les conditions </a:t>
            </a:r>
            <a:r>
              <a:rPr lang="en-US" sz="2400" dirty="0"/>
              <a:t>précises de </a:t>
            </a:r>
            <a:r>
              <a:rPr lang="en-US" sz="2400" dirty="0" err="1"/>
              <a:t>votre</a:t>
            </a:r>
            <a:r>
              <a:rPr lang="en-US" sz="2400" dirty="0"/>
              <a:t> </a:t>
            </a:r>
            <a:r>
              <a:rPr lang="en-US" sz="2400" dirty="0" err="1"/>
              <a:t>contrat</a:t>
            </a:r>
            <a:r>
              <a:rPr lang="en-US" sz="2400" dirty="0"/>
              <a:t>, </a:t>
            </a:r>
            <a:r>
              <a:rPr lang="en-US" sz="2400" dirty="0" err="1"/>
              <a:t>vous</a:t>
            </a:r>
            <a:r>
              <a:rPr lang="en-US" sz="2400" dirty="0"/>
              <a:t> </a:t>
            </a:r>
            <a:r>
              <a:rPr lang="en-US" sz="2400" dirty="0" err="1"/>
              <a:t>pouvez</a:t>
            </a:r>
            <a:r>
              <a:rPr lang="en-US" sz="2400" dirty="0"/>
              <a:t> </a:t>
            </a:r>
            <a:r>
              <a:rPr lang="en-US" sz="2400" dirty="0" err="1"/>
              <a:t>économiser</a:t>
            </a:r>
            <a:r>
              <a:rPr lang="en-US" sz="2400" dirty="0"/>
              <a:t> des </a:t>
            </a:r>
            <a:r>
              <a:rPr lang="en-US" sz="2400" dirty="0" err="1"/>
              <a:t>milliers</a:t>
            </a:r>
            <a:r>
              <a:rPr lang="en-US" sz="2400" dirty="0"/>
              <a:t> de dollars sans frais </a:t>
            </a:r>
            <a:r>
              <a:rPr lang="en-US" sz="2400" dirty="0" err="1"/>
              <a:t>additionnels</a:t>
            </a:r>
            <a:r>
              <a:rPr lang="en-US" sz="2400" dirty="0"/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dirty="0"/>
              <a:t>Paiements doubles ou versements augmentés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dirty="0"/>
              <a:t>Versements forfaitaires annuels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dirty="0"/>
              <a:t>Congé de paiement (report d’un versement)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dirty="0"/>
              <a:t>Autres options flexibles (fréquence, portabilité, etc.)</a:t>
            </a:r>
            <a:endParaRPr lang="fr-CA" dirty="0"/>
          </a:p>
          <a:p>
            <a:pPr marL="320040" lvl="1" indent="0">
              <a:buClr>
                <a:schemeClr val="accent3">
                  <a:lumMod val="50000"/>
                </a:schemeClr>
              </a:buClr>
              <a:buNone/>
            </a:pPr>
            <a:endParaRPr lang="fr-CA" dirty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defRPr/>
            </a:pPr>
            <a:endParaRPr lang="fr-CA" dirty="0"/>
          </a:p>
          <a:p>
            <a:pPr marL="594360" lvl="2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338907-A7BC-841E-4850-8BA6F829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  <a:latin typeface="Georgia"/>
                <a:ea typeface="ＭＳ Ｐゴシック" charset="0"/>
              </a:rPr>
              <a:pPr>
                <a:defRPr/>
              </a:pPr>
              <a:t>6</a:t>
            </a:fld>
            <a:endParaRPr lang="fr-CA">
              <a:solidFill>
                <a:srgbClr val="8CADAE">
                  <a:shade val="75000"/>
                </a:srgbClr>
              </a:solidFill>
              <a:latin typeface="Georgia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02B78-5506-45A0-54FB-907D8A751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2" y="947592"/>
            <a:ext cx="8928992" cy="10851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EF5A9-E4EB-12AF-7745-481912D48237}"/>
              </a:ext>
            </a:extLst>
          </p:cNvPr>
          <p:cNvSpPr txBox="1"/>
          <p:nvPr/>
        </p:nvSpPr>
        <p:spPr>
          <a:xfrm>
            <a:off x="6699250" y="4470159"/>
            <a:ext cx="2444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FF0000"/>
                </a:solidFill>
                <a:latin typeface="Ink Free" panose="03080402000500000000" pitchFamily="66" charset="0"/>
              </a:rPr>
              <a:t>Voir</a:t>
            </a:r>
            <a:r>
              <a:rPr lang="en-US" sz="2400" b="1" dirty="0">
                <a:solidFill>
                  <a:srgbClr val="FF0000"/>
                </a:solidFill>
                <a:latin typeface="Ink Free" panose="03080402000500000000" pitchFamily="66" charset="0"/>
              </a:rPr>
              <a:t> document</a:t>
            </a:r>
            <a:endParaRPr lang="fr-CA" sz="1100" b="1" u="sng" dirty="0"/>
          </a:p>
        </p:txBody>
      </p:sp>
    </p:spTree>
    <p:extLst>
      <p:ext uri="{BB962C8B-B14F-4D97-AF65-F5344CB8AC3E}">
        <p14:creationId xmlns:p14="http://schemas.microsoft.com/office/powerpoint/2010/main" val="244926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C41AA-C9CF-42FB-8FBC-D3183AB6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5" y="90324"/>
            <a:ext cx="8534400" cy="75895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Quelques statistiques (2026)…</a:t>
            </a:r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13A3A-8190-40CA-A2AB-79AD88617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35" y="1908313"/>
            <a:ext cx="8852898" cy="50919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Prix </a:t>
            </a:r>
            <a:r>
              <a:rPr lang="en-US" dirty="0" err="1"/>
              <a:t>médian</a:t>
            </a:r>
            <a:r>
              <a:rPr lang="en-US" dirty="0"/>
              <a:t> des maisons à </a:t>
            </a:r>
            <a:r>
              <a:rPr lang="en-US" b="1" u="sng" dirty="0"/>
              <a:t>Montréal</a:t>
            </a:r>
            <a:r>
              <a:rPr lang="en-US" dirty="0"/>
              <a:t> - </a:t>
            </a:r>
            <a:r>
              <a:rPr lang="en-US" sz="2000" i="1" dirty="0" err="1"/>
              <a:t>Août</a:t>
            </a:r>
            <a:r>
              <a:rPr lang="en-US" sz="2000" i="1" dirty="0"/>
              <a:t> 2026</a:t>
            </a:r>
          </a:p>
          <a:p>
            <a:pPr lvl="1"/>
            <a:r>
              <a:rPr lang="en-US" sz="2000" dirty="0"/>
              <a:t>Maison </a:t>
            </a:r>
            <a:r>
              <a:rPr lang="en-US" sz="2000" dirty="0" err="1"/>
              <a:t>unifamiliale</a:t>
            </a:r>
            <a:r>
              <a:rPr lang="en-US" sz="2000" dirty="0"/>
              <a:t> : 650 000 $ </a:t>
            </a:r>
          </a:p>
          <a:p>
            <a:pPr lvl="1"/>
            <a:r>
              <a:rPr lang="en-US" sz="2000" dirty="0"/>
              <a:t>Condominium : 437 000 $ (frais de </a:t>
            </a:r>
            <a:r>
              <a:rPr lang="en-US" sz="2000" dirty="0" err="1"/>
              <a:t>copropriété</a:t>
            </a:r>
            <a:r>
              <a:rPr lang="en-US" sz="2000" dirty="0"/>
              <a:t> </a:t>
            </a:r>
            <a:r>
              <a:rPr lang="en-US" sz="2000" u="sng" dirty="0"/>
              <a:t>Québec</a:t>
            </a:r>
            <a:r>
              <a:rPr lang="en-US" sz="2000" dirty="0"/>
              <a:t> 3 432 $ / an)</a:t>
            </a:r>
            <a:endParaRPr lang="en-US" sz="2000" b="1" u="sng" dirty="0"/>
          </a:p>
          <a:p>
            <a:pPr algn="ctr"/>
            <a:r>
              <a:rPr lang="fr-FR" b="1" dirty="0"/>
              <a:t>Mise de fonds minimale  </a:t>
            </a:r>
            <a:r>
              <a:rPr lang="fr-FR" dirty="0"/>
              <a:t>pour les propriétés de </a:t>
            </a:r>
            <a:r>
              <a:rPr lang="fr-FR" u="sng" dirty="0"/>
              <a:t>type unifamiliale et condo</a:t>
            </a:r>
          </a:p>
          <a:p>
            <a:pPr marL="292608" lvl="1" indent="0" algn="ctr">
              <a:buNone/>
            </a:pPr>
            <a:r>
              <a:rPr lang="fr-CA" b="1" u="sng" dirty="0">
                <a:solidFill>
                  <a:srgbClr val="0D0D0D"/>
                </a:solidFill>
                <a:latin typeface="ui-sans-serif"/>
              </a:rPr>
              <a:t>Si valeur propriété ≤ 1 500 000 $ </a:t>
            </a:r>
          </a:p>
          <a:p>
            <a:pPr marL="292608" lvl="1" indent="0" algn="ctr">
              <a:buNone/>
            </a:pPr>
            <a:r>
              <a:rPr lang="fr-CA" i="0" dirty="0">
                <a:solidFill>
                  <a:srgbClr val="0D0D0D"/>
                </a:solidFill>
                <a:effectLst/>
                <a:latin typeface="ui-sans-serif"/>
              </a:rPr>
              <a:t>5 % sur les premiers 500 000 $ </a:t>
            </a:r>
            <a:r>
              <a:rPr lang="fr-CA" dirty="0">
                <a:solidFill>
                  <a:srgbClr val="0D0D0D"/>
                </a:solidFill>
                <a:latin typeface="ui-sans-serif"/>
              </a:rPr>
              <a:t>et </a:t>
            </a:r>
            <a:r>
              <a:rPr lang="fr-CA" i="0" dirty="0">
                <a:solidFill>
                  <a:srgbClr val="0D0D0D"/>
                </a:solidFill>
                <a:effectLst/>
                <a:latin typeface="ui-sans-serif"/>
              </a:rPr>
              <a:t>10 % sur la portion excédent 500 000 $ </a:t>
            </a:r>
          </a:p>
          <a:p>
            <a:pPr marL="292608" lvl="1" indent="0" algn="ctr">
              <a:buNone/>
            </a:pPr>
            <a:r>
              <a:rPr lang="fr-CA" b="1" dirty="0">
                <a:solidFill>
                  <a:srgbClr val="FF0000"/>
                </a:solidFill>
                <a:latin typeface="ui-sans-serif"/>
              </a:rPr>
              <a:t>Exemple: si prix = 600 000 $ alors mise de fonds de 30 000 $</a:t>
            </a:r>
          </a:p>
          <a:p>
            <a:pPr marL="292608" lvl="1" indent="0" algn="ctr">
              <a:buNone/>
            </a:pPr>
            <a:r>
              <a:rPr lang="fr-CA" b="1" u="sng" dirty="0">
                <a:solidFill>
                  <a:srgbClr val="0D0D0D"/>
                </a:solidFill>
                <a:latin typeface="ui-sans-serif"/>
              </a:rPr>
              <a:t>Si valeur propriété </a:t>
            </a:r>
            <a:r>
              <a:rPr lang="fr-CA" b="1" i="0" dirty="0">
                <a:solidFill>
                  <a:srgbClr val="0D0D0D"/>
                </a:solidFill>
                <a:effectLst/>
                <a:latin typeface="ui-sans-serif"/>
              </a:rPr>
              <a:t>≥ 1 500 000 $ 20 % sur la valeur totale</a:t>
            </a:r>
          </a:p>
          <a:p>
            <a:r>
              <a:rPr lang="fr-FR" b="1" dirty="0"/>
              <a:t>Assurance prêt hypothécaire </a:t>
            </a:r>
            <a:r>
              <a:rPr lang="fr-FR" sz="1500" dirty="0"/>
              <a:t>(</a:t>
            </a:r>
            <a:r>
              <a:rPr lang="fr-FR" sz="1500" dirty="0">
                <a:solidFill>
                  <a:prstClr val="black"/>
                </a:solidFill>
                <a:latin typeface="Georgia"/>
              </a:rPr>
              <a:t>SCHL)</a:t>
            </a:r>
            <a:r>
              <a:rPr lang="fr-FR" sz="1500" b="1" dirty="0"/>
              <a:t> </a:t>
            </a:r>
            <a:r>
              <a:rPr lang="fr-FR" u="sng" dirty="0"/>
              <a:t>exigée par les prêteurs</a:t>
            </a:r>
            <a:r>
              <a:rPr lang="fr-FR" dirty="0"/>
              <a:t> lorsque l’emprunteur verse une </a:t>
            </a:r>
            <a:r>
              <a:rPr lang="fr-FR" b="1" dirty="0"/>
              <a:t>mise de fonds inférieure à 20% </a:t>
            </a:r>
            <a:r>
              <a:rPr lang="fr-FR" dirty="0"/>
              <a:t>du prix d’achat de l’habitation…Obligatoire. </a:t>
            </a:r>
            <a:r>
              <a:rPr lang="fr-CA" dirty="0"/>
              <a:t>⚠️ </a:t>
            </a:r>
            <a:r>
              <a:rPr lang="fr-CA" dirty="0">
                <a:latin typeface="Ink Free" panose="03080402000500000000" pitchFamily="66" charset="0"/>
              </a:rPr>
              <a:t>Important: Elle ne vous protège pas vous en tant qu’acheteur. C’est une protection pour la banque !</a:t>
            </a:r>
            <a:endParaRPr lang="fr-FR" dirty="0">
              <a:latin typeface="Ink Free" panose="03080402000500000000" pitchFamily="66" charset="0"/>
            </a:endParaRPr>
          </a:p>
          <a:p>
            <a:pPr marL="91440" lvl="1" indent="-91440" algn="ctr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fr-FR" sz="2000" b="1" dirty="0"/>
              <a:t>Intentions d’achat </a:t>
            </a:r>
            <a:r>
              <a:rPr lang="fr-FR" sz="2000" dirty="0"/>
              <a:t>d’ici 5 ans pour les 18 à 34 ans au Québec:</a:t>
            </a:r>
          </a:p>
          <a:p>
            <a:pPr marL="91440" lvl="1" indent="-91440" algn="ctr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fr-FR" sz="2000" b="1" dirty="0"/>
              <a:t>1/2 </a:t>
            </a:r>
            <a:r>
              <a:rPr lang="fr-FR" sz="2000" dirty="0"/>
              <a:t>voudrait acheter (2021) et </a:t>
            </a:r>
            <a:r>
              <a:rPr lang="fr-FR" sz="2000" b="1" dirty="0"/>
              <a:t>1/4 </a:t>
            </a:r>
            <a:r>
              <a:rPr lang="fr-FR" sz="2000" dirty="0"/>
              <a:t>voudrait acheter en </a:t>
            </a:r>
            <a:r>
              <a:rPr lang="fr-FR" sz="2000" b="1" dirty="0"/>
              <a:t>2024</a:t>
            </a:r>
          </a:p>
          <a:p>
            <a:pPr marL="201168" lvl="1" indent="0">
              <a:buNone/>
            </a:pPr>
            <a:endParaRPr lang="fr-CA" sz="1400" dirty="0">
              <a:solidFill>
                <a:prstClr val="black"/>
              </a:solidFill>
              <a:latin typeface="Arial" charset="0"/>
              <a:ea typeface="ＭＳ Ｐゴシック" charset="0"/>
              <a:hlinkClick r:id="rId3"/>
            </a:endParaRPr>
          </a:p>
          <a:p>
            <a:pPr marL="201168" lvl="1" indent="0">
              <a:buNone/>
            </a:pPr>
            <a:r>
              <a:rPr lang="fr-CA" sz="1400" dirty="0">
                <a:solidFill>
                  <a:prstClr val="black"/>
                </a:solidFill>
                <a:latin typeface="Arial" charset="0"/>
                <a:ea typeface="ＭＳ Ｐゴシック" charset="0"/>
                <a:hlinkClick r:id="rId3"/>
              </a:rPr>
              <a:t>https://www.cmhc-schl.gc.ca/en/professionals/industry-innovation-and-leadership/industry-expertise/resources-for-mortgage-professionals/mortgage-loan-insurance-and-premiums</a:t>
            </a:r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F7315-EEC9-4BF1-AEA7-71B40852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  <a:latin typeface="Arial" charset="0"/>
                <a:ea typeface="ＭＳ Ｐゴシック" charset="0"/>
              </a:rPr>
              <a:t>7</a:t>
            </a:fld>
            <a:endParaRPr lang="fr-CA">
              <a:solidFill>
                <a:srgbClr val="8CADAE">
                  <a:shade val="75000"/>
                </a:srgbClr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50AE9A-08FF-58B4-0125-666C6E7F4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35" y="821550"/>
            <a:ext cx="8928992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75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B3FD6-508D-47AA-719B-E34DBC91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Taux de prime SCHL selon la mise de fonds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B092AE-3E42-AC04-B8C0-3EEAD88B8D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57792" y="1841139"/>
          <a:ext cx="7543800" cy="167640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2544490114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66904322"/>
                    </a:ext>
                  </a:extLst>
                </a:gridCol>
              </a:tblGrid>
              <a:tr h="278626">
                <a:tc>
                  <a:txBody>
                    <a:bodyPr/>
                    <a:lstStyle/>
                    <a:p>
                      <a:r>
                        <a:rPr lang="fr-CA" sz="1600" b="1" dirty="0"/>
                        <a:t>Mise de fonds</a:t>
                      </a:r>
                      <a:endParaRPr lang="fr-CA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1" dirty="0"/>
                        <a:t>Prime SCHL (% du montant emprunté)</a:t>
                      </a:r>
                      <a:endParaRPr lang="fr-CA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641178"/>
                  </a:ext>
                </a:extLst>
              </a:tr>
              <a:tr h="278626">
                <a:tc>
                  <a:txBody>
                    <a:bodyPr/>
                    <a:lstStyle/>
                    <a:p>
                      <a:r>
                        <a:rPr lang="fr-CA" sz="1600"/>
                        <a:t>5 % à 9,99 %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/>
                        <a:t>4,00 %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630759"/>
                  </a:ext>
                </a:extLst>
              </a:tr>
              <a:tr h="278626">
                <a:tc>
                  <a:txBody>
                    <a:bodyPr/>
                    <a:lstStyle/>
                    <a:p>
                      <a:r>
                        <a:rPr lang="fr-CA" sz="1600"/>
                        <a:t>10 % à 14,99 %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/>
                        <a:t>3,10 %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47122"/>
                  </a:ext>
                </a:extLst>
              </a:tr>
              <a:tr h="278626">
                <a:tc>
                  <a:txBody>
                    <a:bodyPr/>
                    <a:lstStyle/>
                    <a:p>
                      <a:r>
                        <a:rPr lang="fr-CA" sz="1600"/>
                        <a:t>15 % à 19,99 %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/>
                        <a:t>2,80 %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63322"/>
                  </a:ext>
                </a:extLst>
              </a:tr>
              <a:tr h="278626">
                <a:tc>
                  <a:txBody>
                    <a:bodyPr/>
                    <a:lstStyle/>
                    <a:p>
                      <a:r>
                        <a:rPr lang="fr-CA" sz="1600"/>
                        <a:t>≥ 20 %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dirty="0"/>
                        <a:t>Aucune assurance requise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8953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2972C-2666-93F7-3EE2-C5F982EE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8</a:t>
            </a:fld>
            <a:endParaRPr lang="fr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886345-A388-AB3D-BB33-4D5C5AB54438}"/>
              </a:ext>
            </a:extLst>
          </p:cNvPr>
          <p:cNvSpPr txBox="1"/>
          <p:nvPr/>
        </p:nvSpPr>
        <p:spPr>
          <a:xfrm>
            <a:off x="68015" y="3596058"/>
            <a:ext cx="9075985" cy="10002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84048" marR="0" lvl="1" indent="-18288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fr-FR" altLang="fr-F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 votre mise de fonds est de 5 % à 9,99 %, la prime SCHL est de 4,00 % du </a:t>
            </a:r>
            <a:r>
              <a:rPr lang="fr-FR" altLang="fr-FR" sz="15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montant emprunté (et non du prix d’achat).</a:t>
            </a:r>
          </a:p>
          <a:p>
            <a:pPr marL="384048" marR="0" lvl="1" indent="-182880" fontAlgn="base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fr-FR" altLang="fr-F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Cette prime est généralement </a:t>
            </a:r>
            <a:r>
              <a:rPr lang="fr-FR" altLang="fr-FR" sz="1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ajoutée au prêt hypothécaire </a:t>
            </a:r>
            <a:r>
              <a:rPr lang="fr-FR" altLang="fr-F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— donc vous payez de l’intérêt sur ce montant pendant toute la durée de l’hypothèque.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41FBCC-3E92-02B7-2536-69A0305FA20C}"/>
              </a:ext>
            </a:extLst>
          </p:cNvPr>
          <p:cNvSpPr txBox="1"/>
          <p:nvPr/>
        </p:nvSpPr>
        <p:spPr>
          <a:xfrm>
            <a:off x="68015" y="4704479"/>
            <a:ext cx="3843585" cy="20621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CA" sz="1600" b="1" dirty="0"/>
              <a:t>🎯 Exemple :</a:t>
            </a:r>
          </a:p>
          <a:p>
            <a:r>
              <a:rPr lang="fr-CA" sz="1600" b="1" dirty="0"/>
              <a:t>Prix d’achat :</a:t>
            </a:r>
            <a:r>
              <a:rPr lang="fr-CA" sz="1600" dirty="0"/>
              <a:t> 600 000 $</a:t>
            </a:r>
            <a:br>
              <a:rPr lang="fr-CA" sz="1600" dirty="0"/>
            </a:br>
            <a:r>
              <a:rPr lang="fr-CA" sz="1600" b="1" dirty="0"/>
              <a:t>Mise de fonds :</a:t>
            </a:r>
            <a:r>
              <a:rPr lang="fr-CA" sz="1600" dirty="0"/>
              <a:t> 5 % sur les premiers 500 000 $ + 10 % sur le 100 000 $ restant = 35 000 $</a:t>
            </a:r>
            <a:br>
              <a:rPr lang="fr-CA" sz="1600" dirty="0"/>
            </a:br>
            <a:r>
              <a:rPr lang="fr-CA" sz="1600" b="1" dirty="0"/>
              <a:t>Montant emprunté :</a:t>
            </a:r>
            <a:r>
              <a:rPr lang="fr-CA" sz="1600" dirty="0"/>
              <a:t> 600 000 $ - 35 000 $ = 565 000 $ </a:t>
            </a:r>
            <a:br>
              <a:rPr lang="fr-CA" sz="1600" dirty="0"/>
            </a:br>
            <a:r>
              <a:rPr lang="fr-CA" sz="1600" b="1" dirty="0"/>
              <a:t>Prime SCHL :</a:t>
            </a:r>
            <a:r>
              <a:rPr lang="fr-CA" sz="1600" dirty="0"/>
              <a:t> 4 % de 565 000 $ = </a:t>
            </a:r>
            <a:r>
              <a:rPr lang="fr-CA" sz="1600" b="1" dirty="0"/>
              <a:t>22 600 $</a:t>
            </a:r>
            <a:endParaRPr lang="fr-CA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433A0D-3675-7759-A9C4-DDFD9588EC14}"/>
              </a:ext>
            </a:extLst>
          </p:cNvPr>
          <p:cNvSpPr txBox="1"/>
          <p:nvPr/>
        </p:nvSpPr>
        <p:spPr>
          <a:xfrm>
            <a:off x="3911600" y="4689665"/>
            <a:ext cx="5232400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fr-CA" sz="1400" dirty="0"/>
              <a:t>➡️ Votre nouveau prêt est donc de 565 000 $ + 22 600 $ = </a:t>
            </a:r>
            <a:r>
              <a:rPr lang="fr-CA" sz="1400" b="1" dirty="0"/>
              <a:t>587 600 $</a:t>
            </a:r>
            <a:r>
              <a:rPr lang="fr-CA" sz="1400" dirty="0"/>
              <a:t>, et vos </a:t>
            </a:r>
            <a:r>
              <a:rPr lang="fr-CA" sz="1400" b="1" dirty="0"/>
              <a:t>paiements mensuels sont plus élevés</a:t>
            </a:r>
            <a:r>
              <a:rPr lang="fr-CA" sz="1400" dirty="0"/>
              <a:t> que si vous aviez mis 20 % de mise de fonds.</a:t>
            </a:r>
          </a:p>
          <a:p>
            <a:r>
              <a:rPr lang="fr-CA" sz="1400" dirty="0"/>
              <a:t>➡️ Mettre </a:t>
            </a:r>
            <a:r>
              <a:rPr lang="fr-CA" sz="1400" b="1" dirty="0"/>
              <a:t>moins de 20 %</a:t>
            </a:r>
            <a:r>
              <a:rPr lang="fr-CA" sz="1400" dirty="0"/>
              <a:t> augmente vos paiements de </a:t>
            </a:r>
            <a:r>
              <a:rPr lang="fr-CA" sz="1400" b="1" dirty="0"/>
              <a:t>40 à 130 $ par mois</a:t>
            </a:r>
            <a:r>
              <a:rPr lang="fr-CA" sz="1400" dirty="0"/>
              <a:t> selon la mise de fonds.</a:t>
            </a:r>
          </a:p>
          <a:p>
            <a:r>
              <a:rPr lang="fr-CA" sz="1400" dirty="0"/>
              <a:t>➡️ </a:t>
            </a:r>
            <a:r>
              <a:rPr lang="fr-CA" sz="1400" b="1" dirty="0"/>
              <a:t>Stratégie</a:t>
            </a:r>
            <a:r>
              <a:rPr lang="fr-CA" sz="1400" dirty="0"/>
              <a:t> : si possible, </a:t>
            </a:r>
            <a:r>
              <a:rPr lang="fr-CA" sz="1400" b="1" dirty="0"/>
              <a:t>mettre 20 % ou plus</a:t>
            </a:r>
            <a:r>
              <a:rPr lang="fr-CA" sz="1400" dirty="0"/>
              <a:t> permet d’économiser </a:t>
            </a:r>
            <a:r>
              <a:rPr lang="fr-CA" sz="1400" b="1" dirty="0"/>
              <a:t>des milliers de dollars sur la durée du prêt</a:t>
            </a:r>
            <a:r>
              <a:rPr lang="fr-CA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0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3CD39-6E7E-EB72-CCA7-0301B1BC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57" y="-92765"/>
            <a:ext cx="2313633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Simulation </a:t>
            </a:r>
            <a:r>
              <a:rPr lang="en-US" sz="3100" dirty="0" err="1">
                <a:solidFill>
                  <a:srgbClr val="FFFFFF"/>
                </a:solidFill>
              </a:rPr>
              <a:t>hypothécaire</a:t>
            </a:r>
            <a:endParaRPr lang="en-US" sz="31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89CF1-9B14-19A0-1983-6CE78E213393}"/>
              </a:ext>
            </a:extLst>
          </p:cNvPr>
          <p:cNvSpPr txBox="1"/>
          <p:nvPr/>
        </p:nvSpPr>
        <p:spPr>
          <a:xfrm>
            <a:off x="95958" y="2206978"/>
            <a:ext cx="2842402" cy="43913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48312"/>
              </a:buClr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🎯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48312"/>
              </a:buClr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Achat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d’un condo à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427 000 $ à Montréal (1 chambre)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48312"/>
              </a:buClr>
              <a:buSzTx/>
              <a:buFont typeface="Calibri" panose="020F0502020204030204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48312"/>
              </a:buClr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Comparaison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entre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mise de fonds de 20 %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(pas de prime SCHL) et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5 %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(prime SCHL de 4 %)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48312"/>
              </a:buClr>
              <a:buSzTx/>
              <a:buFont typeface="Calibri" panose="020F050202020403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48312"/>
              </a:buClr>
              <a:buSzTx/>
              <a:buFont typeface="Calibri" panose="020F0502020204030204" pitchFamily="34" charset="0"/>
              <a:buNone/>
              <a:tabLst/>
              <a:defRPr/>
            </a:pPr>
            <a:r>
              <a:rPr kumimoji="0" lang="fr-C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</a:t>
            </a:r>
            <a:r>
              <a:rPr kumimoji="0" lang="fr-CA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loyer moyen</a:t>
            </a:r>
            <a:r>
              <a:rPr kumimoji="0" lang="fr-C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une chambre à Montréal se situe autour de </a:t>
            </a:r>
            <a:r>
              <a:rPr kumimoji="0" lang="fr-CA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1 550 $ à 1 700 $/mois</a:t>
            </a:r>
            <a:r>
              <a:rPr kumimoji="0" lang="fr-C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C1001-E352-360B-C897-EA541F24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585649F-876E-A447-8403-6DEDC0440903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370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37014D3-61B2-CBFF-5640-7BABCCBBEE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06044" y="152400"/>
          <a:ext cx="5841999" cy="6445956"/>
        </p:xfrm>
        <a:graphic>
          <a:graphicData uri="http://schemas.openxmlformats.org/drawingml/2006/table">
            <a:tbl>
              <a:tblPr/>
              <a:tblGrid>
                <a:gridCol w="2043519">
                  <a:extLst>
                    <a:ext uri="{9D8B030D-6E8A-4147-A177-3AD203B41FA5}">
                      <a16:colId xmlns:a16="http://schemas.microsoft.com/office/drawing/2014/main" val="109198284"/>
                    </a:ext>
                  </a:extLst>
                </a:gridCol>
                <a:gridCol w="1899240">
                  <a:extLst>
                    <a:ext uri="{9D8B030D-6E8A-4147-A177-3AD203B41FA5}">
                      <a16:colId xmlns:a16="http://schemas.microsoft.com/office/drawing/2014/main" val="603656266"/>
                    </a:ext>
                  </a:extLst>
                </a:gridCol>
                <a:gridCol w="1899240">
                  <a:extLst>
                    <a:ext uri="{9D8B030D-6E8A-4147-A177-3AD203B41FA5}">
                      <a16:colId xmlns:a16="http://schemas.microsoft.com/office/drawing/2014/main" val="3207326637"/>
                    </a:ext>
                  </a:extLst>
                </a:gridCol>
              </a:tblGrid>
              <a:tr h="7338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 dirty="0">
                          <a:effectLst/>
                          <a:latin typeface="Arial" panose="020B0604020202020204" pitchFamily="34" charset="0"/>
                        </a:rPr>
                        <a:t>Option</a:t>
                      </a:r>
                      <a:endParaRPr lang="fr-CA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Mise de fonds 20 %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Mise de fonds 5 %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318945"/>
                  </a:ext>
                </a:extLst>
              </a:tr>
              <a:tr h="4363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Prix du condo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427 000 $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427 000 $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72594"/>
                  </a:ext>
                </a:extLst>
              </a:tr>
              <a:tr h="4363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Mise de fonds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85 400 $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21 350 $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47278"/>
                  </a:ext>
                </a:extLst>
              </a:tr>
              <a:tr h="7338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Montant emprunté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341 600 $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405 650 $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051087"/>
                  </a:ext>
                </a:extLst>
              </a:tr>
              <a:tr h="7338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Prime SCHL (4 %)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16 226 $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13257"/>
                  </a:ext>
                </a:extLst>
              </a:tr>
              <a:tr h="7338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Prêt total avec SCHL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341 600 $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421 876 $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631890"/>
                  </a:ext>
                </a:extLst>
              </a:tr>
              <a:tr h="4363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Taux d’intérêt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4,5 %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4,5 %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278332"/>
                  </a:ext>
                </a:extLst>
              </a:tr>
              <a:tr h="4363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Amortissement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25 ans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25 ans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925624"/>
                  </a:ext>
                </a:extLst>
              </a:tr>
              <a:tr h="1031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Paiement mensuel approx.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1 893 $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 dirty="0">
                          <a:effectLst/>
                          <a:latin typeface="Arial" panose="020B0604020202020204" pitchFamily="34" charset="0"/>
                        </a:rPr>
                        <a:t>2 338 $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693273"/>
                  </a:ext>
                </a:extLst>
              </a:tr>
              <a:tr h="7338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>
                          <a:effectLst/>
                          <a:latin typeface="Arial" panose="020B0604020202020204" pitchFamily="34" charset="0"/>
                        </a:rPr>
                        <a:t>Différence par mois</a:t>
                      </a:r>
                      <a:endParaRPr lang="fr-CA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0" i="0" u="none" strike="noStrike"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CA" sz="1600" b="1" i="0" u="none" strike="noStrike" dirty="0">
                          <a:effectLst/>
                          <a:latin typeface="Arial" panose="020B0604020202020204" pitchFamily="34" charset="0"/>
                        </a:rPr>
                        <a:t>+445 $</a:t>
                      </a:r>
                      <a:endParaRPr lang="fr-CA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419" marR="82419" marT="41210" marB="412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4492"/>
                  </a:ext>
                </a:extLst>
              </a:tr>
            </a:tbl>
          </a:graphicData>
        </a:graphic>
      </p:graphicFrame>
      <p:sp>
        <p:nvSpPr>
          <p:cNvPr id="5" name="object 30">
            <a:extLst>
              <a:ext uri="{FF2B5EF4-FFF2-40B4-BE49-F238E27FC236}">
                <a16:creationId xmlns:a16="http://schemas.microsoft.com/office/drawing/2014/main" id="{D88BF469-77F3-7562-D8B2-129D5BC72DCC}"/>
              </a:ext>
            </a:extLst>
          </p:cNvPr>
          <p:cNvSpPr/>
          <p:nvPr/>
        </p:nvSpPr>
        <p:spPr>
          <a:xfrm>
            <a:off x="6747333" y="5411244"/>
            <a:ext cx="2555375" cy="1539521"/>
          </a:xfrm>
          <a:prstGeom prst="rect">
            <a:avLst/>
          </a:prstGeom>
          <a:blipFill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D9BA9-C579-6875-D89D-31627932C2B7}"/>
              </a:ext>
            </a:extLst>
          </p:cNvPr>
          <p:cNvSpPr txBox="1"/>
          <p:nvPr/>
        </p:nvSpPr>
        <p:spPr>
          <a:xfrm>
            <a:off x="7007345" y="5781626"/>
            <a:ext cx="2213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k Free" panose="03080402000500000000" pitchFamily="66" charset="0"/>
                <a:ea typeface="+mn-ea"/>
                <a:cs typeface="+mn-cs"/>
              </a:rPr>
              <a:t>Prime SCHL 90 $</a:t>
            </a:r>
            <a:endParaRPr kumimoji="0" lang="fr-CA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k Free" panose="03080402000500000000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74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A086-B88D-F9BF-C737-272BCFB7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11" y="286604"/>
            <a:ext cx="8225649" cy="1450757"/>
          </a:xfrm>
        </p:spPr>
        <p:txBody>
          <a:bodyPr>
            <a:normAutofit/>
          </a:bodyPr>
          <a:lstStyle/>
          <a:p>
            <a:r>
              <a:rPr lang="fr-CA" dirty="0"/>
              <a:t>Une règle simple pour estimer sa capacité d’achat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2672-816B-35EA-DFAF-CF92C914C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10" y="1986844"/>
            <a:ext cx="7874001" cy="428187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CA" altLang="fr-FR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📏 La règle des 30 % du revenu brut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 ménage ne devrait pas consacrer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plus de 30 % de son revenu brut mensuel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à ses paiements de logement (hypothèque ou loyer, taxes municipales et scolaires, frais de condo, assurance habitation).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b="1" dirty="0">
                <a:solidFill>
                  <a:schemeClr val="tx1"/>
                </a:solidFill>
              </a:rPr>
              <a:t>Exemple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fr-FR" altLang="fr-FR" dirty="0">
                <a:solidFill>
                  <a:schemeClr val="tx1"/>
                </a:solidFill>
              </a:rPr>
            </a:br>
            <a:r>
              <a:rPr lang="fr-FR" altLang="fr-FR" dirty="0">
                <a:solidFill>
                  <a:schemeClr val="tx1"/>
                </a:solidFill>
              </a:rPr>
              <a:t>Revenu brut de 6 667 $/mois  (80 000 $/an) → logement ou paiement hypothécaire max ≈ 6 667 $ * 30 % = </a:t>
            </a:r>
            <a:r>
              <a:rPr lang="fr-FR" altLang="fr-FR" b="1" dirty="0">
                <a:solidFill>
                  <a:schemeClr val="tx1"/>
                </a:solidFill>
              </a:rPr>
              <a:t>2 000 $/mois. </a:t>
            </a:r>
            <a:r>
              <a:rPr lang="fr-FR" altLang="fr-FR" sz="1800" b="1" dirty="0">
                <a:solidFill>
                  <a:schemeClr val="tx1"/>
                </a:solidFill>
              </a:rPr>
              <a:t>À un taux de 4-5%, on peut avoir un prêt hypothécaire de entre 340k et 380k 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b="1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endParaRPr lang="fr-CA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A1AE3-6F97-16B1-10E7-0DB109F6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85649F-876E-A447-8403-6DEDC0440903}" type="slidenum">
              <a:rPr kumimoji="0" lang="fr-CA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CA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719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9115-B241-C063-88A4-97F9186E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58945"/>
            <a:ext cx="8534400" cy="758952"/>
          </a:xfrm>
        </p:spPr>
        <p:txBody>
          <a:bodyPr>
            <a:noAutofit/>
          </a:bodyPr>
          <a:lstStyle/>
          <a:p>
            <a:r>
              <a:rPr lang="en-CA" sz="3300" b="1" dirty="0">
                <a:solidFill>
                  <a:srgbClr val="FF0000"/>
                </a:solidFill>
              </a:rPr>
              <a:t>Difficile </a:t>
            </a:r>
            <a:r>
              <a:rPr lang="en-CA" sz="3300" b="1" dirty="0" err="1">
                <a:solidFill>
                  <a:srgbClr val="FF0000"/>
                </a:solidFill>
              </a:rPr>
              <a:t>d’aller</a:t>
            </a:r>
            <a:r>
              <a:rPr lang="en-CA" sz="3300" b="1" dirty="0">
                <a:solidFill>
                  <a:srgbClr val="FF0000"/>
                </a:solidFill>
              </a:rPr>
              <a:t> </a:t>
            </a:r>
            <a:r>
              <a:rPr lang="en-CA" sz="3300" b="1" dirty="0" err="1">
                <a:solidFill>
                  <a:srgbClr val="FF0000"/>
                </a:solidFill>
              </a:rPr>
              <a:t>chercher</a:t>
            </a:r>
            <a:r>
              <a:rPr lang="en-CA" sz="3300" b="1" dirty="0">
                <a:solidFill>
                  <a:srgbClr val="FF0000"/>
                </a:solidFill>
              </a:rPr>
              <a:t> </a:t>
            </a:r>
            <a:r>
              <a:rPr lang="en-CA" sz="3300" b="1" dirty="0" err="1">
                <a:solidFill>
                  <a:srgbClr val="FF0000"/>
                </a:solidFill>
              </a:rPr>
              <a:t>l’argent</a:t>
            </a:r>
            <a:r>
              <a:rPr lang="en-CA" sz="3300" b="1" dirty="0">
                <a:solidFill>
                  <a:srgbClr val="FF0000"/>
                </a:solidFill>
              </a:rPr>
              <a:t> </a:t>
            </a:r>
            <a:r>
              <a:rPr lang="en-CA" sz="3300" dirty="0">
                <a:solidFill>
                  <a:srgbClr val="FF0000"/>
                </a:solidFill>
              </a:rPr>
              <a:t>pour les premiers </a:t>
            </a:r>
            <a:r>
              <a:rPr lang="en-CA" sz="3300" dirty="0" err="1">
                <a:solidFill>
                  <a:srgbClr val="FF0000"/>
                </a:solidFill>
              </a:rPr>
              <a:t>acheteurs</a:t>
            </a:r>
            <a:r>
              <a:rPr lang="en-CA" sz="3300" dirty="0">
                <a:solidFill>
                  <a:srgbClr val="FF0000"/>
                </a:solidFill>
              </a:rPr>
              <a:t>…</a:t>
            </a:r>
            <a:endParaRPr lang="fr-CA" sz="33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A213C-5674-35E3-0AD1-CD19B363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7C2F0C-A6A4-44C9-B109-8FE1FD9A5A06}" type="slidenum">
              <a:rPr kumimoji="0" lang="fr-CA" sz="1050" b="0" i="0" u="none" strike="noStrike" kern="1200" cap="none" spc="0" normalizeH="0" baseline="0" noProof="0" smtClean="0">
                <a:ln>
                  <a:noFill/>
                </a:ln>
                <a:solidFill>
                  <a:srgbClr val="8CADAE">
                    <a:shade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CA" sz="1050" b="0" i="0" u="none" strike="noStrike" kern="1200" cap="none" spc="0" normalizeH="0" baseline="0" noProof="0">
              <a:ln>
                <a:noFill/>
              </a:ln>
              <a:solidFill>
                <a:srgbClr val="8CADAE">
                  <a:shade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A8BB1-A245-C2C1-6138-13D74A0161F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2204864"/>
            <a:ext cx="8503920" cy="415213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CA" sz="2200" dirty="0"/>
              <a:t>Les jeunes Canadiens, en particulier ceux de la génération Y (né entre 1981 et 1996), ont de la </a:t>
            </a:r>
            <a:r>
              <a:rPr lang="fr-CA" sz="2200" dirty="0">
                <a:latin typeface="Ink Free" panose="03080402000500000000" pitchFamily="66" charset="0"/>
              </a:rPr>
              <a:t>difficulté à entrer sur le marché de l’habitation</a:t>
            </a:r>
            <a:r>
              <a:rPr lang="fr-CA" sz="2200" dirty="0"/>
              <a:t>…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CA" sz="2200" dirty="0"/>
              <a:t>Les Z (né entre 1997 et 2012) face à leur situation financière:</a:t>
            </a:r>
          </a:p>
          <a:p>
            <a:pPr lvl="1"/>
            <a:r>
              <a:rPr lang="fr-CA" sz="2200" dirty="0"/>
              <a:t>42% sont stressés</a:t>
            </a:r>
          </a:p>
          <a:p>
            <a:pPr lvl="1"/>
            <a:r>
              <a:rPr lang="fr-CA" sz="2200" dirty="0"/>
              <a:t>37% sont anxieux</a:t>
            </a:r>
          </a:p>
          <a:p>
            <a:pPr lvl="1"/>
            <a:r>
              <a:rPr lang="fr-CA" sz="2200" dirty="0"/>
              <a:t>31% sont dépassés</a:t>
            </a:r>
          </a:p>
          <a:p>
            <a:pPr lvl="1"/>
            <a:endParaRPr lang="fr-CA" sz="100" dirty="0"/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fr-CA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 enquête de décembre 2024 par APCIQ indique les principaux obstacles à l’accès à la propriété:</a:t>
            </a:r>
          </a:p>
          <a:p>
            <a:pPr lvl="1"/>
            <a:r>
              <a:rPr lang="fr-CA" sz="2200" dirty="0"/>
              <a:t>32% situation financière</a:t>
            </a:r>
          </a:p>
          <a:p>
            <a:pPr lvl="1"/>
            <a:r>
              <a:rPr lang="fr-CA" sz="2200" dirty="0"/>
              <a:t>29% contexte économique</a:t>
            </a:r>
          </a:p>
          <a:p>
            <a:pPr lvl="1"/>
            <a:r>
              <a:rPr lang="fr-CA" sz="2200" dirty="0"/>
              <a:t>25% prix trop élevés</a:t>
            </a:r>
          </a:p>
          <a:p>
            <a:pPr lvl="1"/>
            <a:r>
              <a:rPr lang="fr-CA" sz="2200" dirty="0"/>
              <a:t>24% mise de fonds insuffisante</a:t>
            </a:r>
          </a:p>
          <a:p>
            <a:pPr marL="91440" marR="0" lvl="0" indent="-9144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endParaRPr lang="fr-CA" sz="2200" dirty="0">
              <a:latin typeface="Ink Free" panose="03080402000500000000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6A917-B317-4704-182E-2E423EBF065F}"/>
              </a:ext>
            </a:extLst>
          </p:cNvPr>
          <p:cNvSpPr txBox="1"/>
          <p:nvPr/>
        </p:nvSpPr>
        <p:spPr>
          <a:xfrm>
            <a:off x="246888" y="6411442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Source: RDI économie 23 mai. Léger pour </a:t>
            </a:r>
            <a:r>
              <a:rPr kumimoji="0" lang="fr-FR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Intérac</a:t>
            </a: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fr-CA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94FA2-DA20-015A-25CC-28BCEE611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92" y="1006224"/>
            <a:ext cx="8928992" cy="10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51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3C48-7CA0-479E-92B7-B0C44D48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49" y="276947"/>
            <a:ext cx="8534400" cy="758952"/>
          </a:xfrm>
        </p:spPr>
        <p:txBody>
          <a:bodyPr>
            <a:noAutofit/>
          </a:bodyPr>
          <a:lstStyle/>
          <a:p>
            <a:r>
              <a:rPr lang="fr-FR" sz="3300" dirty="0">
                <a:solidFill>
                  <a:srgbClr val="FF0000"/>
                </a:solidFill>
              </a:rPr>
              <a:t>Donc, </a:t>
            </a:r>
            <a:r>
              <a:rPr lang="fr-FR" sz="3300" b="1" dirty="0">
                <a:solidFill>
                  <a:srgbClr val="FF0000"/>
                </a:solidFill>
              </a:rPr>
              <a:t>où allez chercher l’argent </a:t>
            </a:r>
            <a:r>
              <a:rPr lang="fr-FR" sz="3300" dirty="0">
                <a:solidFill>
                  <a:srgbClr val="FF0000"/>
                </a:solidFill>
              </a:rPr>
              <a:t>pour la mise de fonds lorsqu’on est premier acheteur ?!</a:t>
            </a:r>
            <a:endParaRPr lang="fr-CA" sz="33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092203-9DE1-42E2-9762-F177EC6A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7C2F0C-A6A4-44C9-B109-8FE1FD9A5A06}" type="slidenum">
              <a:rPr kumimoji="0" lang="fr-CA" sz="1050" b="0" i="0" u="none" strike="noStrike" kern="1200" cap="none" spc="0" normalizeH="0" baseline="0" noProof="0" smtClean="0">
                <a:ln>
                  <a:noFill/>
                </a:ln>
                <a:solidFill>
                  <a:srgbClr val="8CADAE">
                    <a:shade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CA" sz="1050" b="0" i="0" u="none" strike="noStrike" kern="1200" cap="none" spc="0" normalizeH="0" baseline="0" noProof="0">
              <a:ln>
                <a:noFill/>
              </a:ln>
              <a:solidFill>
                <a:srgbClr val="8CADAE">
                  <a:shade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29DEA-70EC-45D0-BCF7-5A233D2AE2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6249" y="2155342"/>
            <a:ext cx="8706587" cy="4474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300" b="1" dirty="0"/>
              <a:t>Options de financement pour les premiers acheteurs: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300" b="1" dirty="0"/>
              <a:t>FFF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Au Québec, ce sont plus de 30 % des acheteurs qui ont compté sur </a:t>
            </a:r>
            <a:r>
              <a:rPr lang="fr-FR" dirty="0">
                <a:latin typeface="Ink Free" panose="03080402000500000000" pitchFamily="66" charset="0"/>
              </a:rPr>
              <a:t>l’aide de leurs parents </a:t>
            </a:r>
            <a:r>
              <a:rPr lang="fr-FR" dirty="0"/>
              <a:t>en 2021 versus 20 % en 2020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En moyenne, les parents appelés à la rescousse ont </a:t>
            </a:r>
            <a:r>
              <a:rPr lang="fr-FR" dirty="0">
                <a:latin typeface="Ink Free" panose="03080402000500000000" pitchFamily="66" charset="0"/>
              </a:rPr>
              <a:t>donné 82 000 $ </a:t>
            </a:r>
            <a:r>
              <a:rPr lang="fr-FR" dirty="0"/>
              <a:t>à leur enfant. Il s’agit d’une augmentation de 58 % par rapport à la moyenne de 2015 (montant moyen = 52 000$). 5.5% des parents s’endettent.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A" dirty="0"/>
              <a:t>Parents peuvent être </a:t>
            </a:r>
            <a:r>
              <a:rPr lang="fr-CA" dirty="0">
                <a:latin typeface="Ink Free" panose="03080402000500000000" pitchFamily="66" charset="0"/>
              </a:rPr>
              <a:t>cosignataire</a:t>
            </a:r>
          </a:p>
          <a:p>
            <a:pPr algn="ctr"/>
            <a:r>
              <a:rPr lang="fr-CA" sz="2600" b="1" dirty="0"/>
              <a:t>**RAP avec les RÉER ou CÉLIAPP** </a:t>
            </a:r>
          </a:p>
          <a:p>
            <a:endParaRPr lang="fr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F9525-33EC-B7F9-74A1-53C7DAC01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2" y="987552"/>
            <a:ext cx="8928992" cy="10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47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3341C-65D5-ADE9-A75E-24AD4056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4" y="-894904"/>
            <a:ext cx="8745780" cy="1450757"/>
          </a:xfrm>
        </p:spPr>
        <p:txBody>
          <a:bodyPr>
            <a:normAutofit/>
          </a:bodyPr>
          <a:lstStyle/>
          <a:p>
            <a:r>
              <a:rPr lang="en-CA" sz="3300" dirty="0" err="1">
                <a:solidFill>
                  <a:srgbClr val="FF0000"/>
                </a:solidFill>
              </a:rPr>
              <a:t>CéliAPP</a:t>
            </a:r>
            <a:r>
              <a:rPr lang="en-CA" sz="3300" dirty="0">
                <a:solidFill>
                  <a:srgbClr val="FF0000"/>
                </a:solidFill>
              </a:rPr>
              <a:t> et </a:t>
            </a:r>
            <a:r>
              <a:rPr lang="fr-CA" sz="3300" dirty="0">
                <a:solidFill>
                  <a:srgbClr val="FF0000"/>
                </a:solidFill>
              </a:rPr>
              <a:t>Régime d'accession à la propriété </a:t>
            </a:r>
            <a:r>
              <a:rPr lang="en-CA" sz="3300" dirty="0">
                <a:solidFill>
                  <a:srgbClr val="FF0000"/>
                </a:solidFill>
              </a:rPr>
              <a:t>RAP</a:t>
            </a:r>
            <a:endParaRPr lang="fr-CA" sz="33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7D16B7-BFEF-B51B-0350-0753B969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7C2F0C-A6A4-44C9-B109-8FE1FD9A5A06}" type="slidenum">
              <a:rPr kumimoji="0" lang="fr-CA" sz="1050" b="0" i="0" u="none" strike="noStrike" kern="1200" cap="none" spc="0" normalizeH="0" baseline="0" noProof="0" smtClean="0">
                <a:ln>
                  <a:noFill/>
                </a:ln>
                <a:solidFill>
                  <a:srgbClr val="8CADAE">
                    <a:shade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CA" sz="1050" b="0" i="0" u="none" strike="noStrike" kern="1200" cap="none" spc="0" normalizeH="0" baseline="0" noProof="0">
              <a:ln>
                <a:noFill/>
              </a:ln>
              <a:solidFill>
                <a:srgbClr val="8CADAE">
                  <a:shade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386B3-8126-1171-AC3F-807B3FB3CC2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012" y="550209"/>
            <a:ext cx="8943975" cy="6307791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fr-CA" sz="2500" b="1" dirty="0"/>
              <a:t>CELIAPP : Jusqu'à 8 000 $ par année, 40 000 $ à vie, retraits non imposables.</a:t>
            </a:r>
          </a:p>
          <a:p>
            <a:r>
              <a:rPr lang="fr-CA" sz="2500" b="1" dirty="0"/>
              <a:t>RAP : Jusqu’à 60 000$ maximum par personne, remboursable sur 15 ans. Période de grâce: 5 ans.</a:t>
            </a:r>
            <a:endParaRPr lang="en-CA" sz="2500" b="1" dirty="0"/>
          </a:p>
          <a:p>
            <a:r>
              <a:rPr lang="en-CA" b="1" dirty="0" err="1"/>
              <a:t>CéliAPP</a:t>
            </a:r>
            <a:r>
              <a:rPr lang="en-CA" b="1" dirty="0"/>
              <a:t>. </a:t>
            </a:r>
            <a:r>
              <a:rPr lang="fr-CA" dirty="0"/>
              <a:t>Si vous savez que vous utiliserez les fonds pour acheter une maison, alors le CELIAPP pourrait être la meilleure option, car vous obtiendrez des avantages fiscaux à l’entrée et à la sortie des fonds</a:t>
            </a:r>
            <a:endParaRPr lang="en-CA" dirty="0"/>
          </a:p>
          <a:p>
            <a:pPr lvl="1"/>
            <a:r>
              <a:rPr lang="fr-CA" b="0" i="0" dirty="0">
                <a:solidFill>
                  <a:srgbClr val="45555F"/>
                </a:solidFill>
                <a:effectLst/>
                <a:latin typeface="NeuzeitGro"/>
              </a:rPr>
              <a:t>Les droits de cotisation commencent à s’accumuler à partir de la </a:t>
            </a:r>
            <a:r>
              <a:rPr lang="fr-CA" b="0" i="0" u="sng" dirty="0">
                <a:solidFill>
                  <a:srgbClr val="45555F"/>
                </a:solidFill>
                <a:effectLst/>
                <a:latin typeface="NeuzeitGro"/>
              </a:rPr>
              <a:t>date d’ouverture du compte</a:t>
            </a:r>
            <a:r>
              <a:rPr lang="fr-CA" b="0" i="0" dirty="0">
                <a:solidFill>
                  <a:srgbClr val="45555F"/>
                </a:solidFill>
                <a:effectLst/>
                <a:latin typeface="NeuzeitGro"/>
              </a:rPr>
              <a:t>, et non à partir de l’âge de 18 ans (comme REER ou CELI)</a:t>
            </a:r>
          </a:p>
          <a:p>
            <a:pPr lvl="1"/>
            <a:r>
              <a:rPr lang="fr-CA" sz="2600" dirty="0">
                <a:solidFill>
                  <a:srgbClr val="FF0000"/>
                </a:solidFill>
                <a:latin typeface="Ink Free" panose="03080402000500000000" pitchFamily="66" charset="0"/>
              </a:rPr>
              <a:t>Donc ouvrir dès que l’on peut contribuer. Max 8 000$ reporté et non complètement comme un RÉER.</a:t>
            </a:r>
          </a:p>
          <a:p>
            <a:pPr lvl="1"/>
            <a:r>
              <a:rPr lang="fr-CA" b="0" i="0" dirty="0">
                <a:solidFill>
                  <a:srgbClr val="45555F"/>
                </a:solidFill>
                <a:effectLst/>
                <a:latin typeface="NeuzeitGro"/>
              </a:rPr>
              <a:t>40 000 $ pour la </a:t>
            </a:r>
            <a:r>
              <a:rPr lang="fr-CA" b="1" i="0" u="sng" dirty="0">
                <a:solidFill>
                  <a:srgbClr val="45555F"/>
                </a:solidFill>
                <a:effectLst/>
                <a:latin typeface="NeuzeitGro"/>
              </a:rPr>
              <a:t>durée de vie de 15 ans du compte</a:t>
            </a:r>
            <a:r>
              <a:rPr lang="fr-CA" b="0" i="0" dirty="0">
                <a:solidFill>
                  <a:srgbClr val="45555F"/>
                </a:solidFill>
                <a:effectLst/>
                <a:latin typeface="NeuzeitGro"/>
              </a:rPr>
              <a:t>. Mais la valeur du CELIPP dépassera probablement 40 000$.</a:t>
            </a:r>
          </a:p>
          <a:p>
            <a:pPr lvl="1"/>
            <a:r>
              <a:rPr lang="fr-CA" dirty="0">
                <a:solidFill>
                  <a:srgbClr val="45555F"/>
                </a:solidFill>
                <a:latin typeface="NeuzeitGro"/>
              </a:rPr>
              <a:t>Cotisations déductibles d’impôts comme un REER.</a:t>
            </a:r>
          </a:p>
          <a:p>
            <a:pPr lvl="1"/>
            <a:r>
              <a:rPr lang="fr-CA" b="0" i="0" dirty="0">
                <a:solidFill>
                  <a:srgbClr val="45555F"/>
                </a:solidFill>
                <a:effectLst/>
                <a:latin typeface="NeuzeitGro"/>
              </a:rPr>
              <a:t>Pour ce qui est des retraits, le CELIAPP fonctionne comme un CELI : l’argent retiré dans le but d’acheter une première propriété est </a:t>
            </a:r>
            <a:r>
              <a:rPr lang="fr-CA" b="0" i="0" u="sng" dirty="0">
                <a:solidFill>
                  <a:srgbClr val="45555F"/>
                </a:solidFill>
                <a:effectLst/>
                <a:latin typeface="NeuzeitGro"/>
              </a:rPr>
              <a:t>entièrement libre d’impôt.</a:t>
            </a:r>
            <a:endParaRPr lang="fr-CA" b="0" i="0" dirty="0">
              <a:solidFill>
                <a:srgbClr val="45555F"/>
              </a:solidFill>
              <a:effectLst/>
              <a:latin typeface="NeuzeitGro"/>
            </a:endParaRPr>
          </a:p>
          <a:p>
            <a:pPr lvl="1"/>
            <a:r>
              <a:rPr lang="fr-CA" b="0" i="0" dirty="0">
                <a:solidFill>
                  <a:srgbClr val="45555F"/>
                </a:solidFill>
                <a:effectLst/>
                <a:latin typeface="NeuzeitGro"/>
              </a:rPr>
              <a:t>Avec le CELIAPP, contrairement au RAP, vous </a:t>
            </a:r>
            <a:r>
              <a:rPr lang="fr-CA" b="0" i="0" u="sng" dirty="0">
                <a:solidFill>
                  <a:srgbClr val="45555F"/>
                </a:solidFill>
                <a:effectLst/>
                <a:latin typeface="NeuzeitGro"/>
              </a:rPr>
              <a:t>n’avez jamais à rembourser le montant retiré</a:t>
            </a:r>
            <a:r>
              <a:rPr lang="fr-CA" sz="2100" b="0" i="0" dirty="0"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. Il est possible d’utiliser à la fois le CELIAPP et le RAP pour un même achat de propriété.</a:t>
            </a:r>
          </a:p>
          <a:p>
            <a:pPr lvl="1"/>
            <a:r>
              <a:rPr lang="fr-CA" dirty="0">
                <a:solidFill>
                  <a:srgbClr val="45555F"/>
                </a:solidFill>
                <a:latin typeface="NeuzeitGro"/>
                <a:hlinkClick r:id="rId2"/>
              </a:rPr>
              <a:t>https://www.fidelity.ca/fr/investor/investorinsights/fhsa-registered-account-for-prospective-homebuyers/</a:t>
            </a:r>
            <a:r>
              <a:rPr lang="fr-CA" dirty="0">
                <a:solidFill>
                  <a:srgbClr val="45555F"/>
                </a:solidFill>
                <a:latin typeface="NeuzeitGro"/>
              </a:rPr>
              <a:t> </a:t>
            </a:r>
          </a:p>
          <a:p>
            <a:pPr lvl="1"/>
            <a:r>
              <a:rPr lang="fr-CA" dirty="0">
                <a:solidFill>
                  <a:srgbClr val="45555F"/>
                </a:solidFill>
                <a:latin typeface="NeuzeitGro"/>
                <a:hlinkClick r:id="rId3"/>
              </a:rPr>
              <a:t>https://www.fidelity.ca/fr/investor/investorinsights/fhsa-hbp-save-for-home/</a:t>
            </a:r>
            <a:r>
              <a:rPr lang="fr-CA" dirty="0">
                <a:solidFill>
                  <a:srgbClr val="45555F"/>
                </a:solidFill>
                <a:latin typeface="NeuzeitGro"/>
              </a:rPr>
              <a:t> </a:t>
            </a:r>
          </a:p>
          <a:p>
            <a:pPr lvl="1"/>
            <a:endParaRPr lang="fr-CA" dirty="0">
              <a:solidFill>
                <a:srgbClr val="45555F"/>
              </a:solidFill>
              <a:latin typeface="NeuzeitGro"/>
            </a:endParaRPr>
          </a:p>
          <a:p>
            <a:r>
              <a:rPr lang="fr-CA" b="1" dirty="0"/>
              <a:t>RAP. </a:t>
            </a:r>
            <a:r>
              <a:rPr lang="fr-CA" dirty="0"/>
              <a:t>Le RAP est comme un prêt que vous vous accordez à vous-même.</a:t>
            </a:r>
          </a:p>
          <a:p>
            <a:pPr lvl="1"/>
            <a:r>
              <a:rPr lang="fr-CA" dirty="0">
                <a:solidFill>
                  <a:srgbClr val="45555F"/>
                </a:solidFill>
                <a:latin typeface="NeuzeitGro"/>
              </a:rPr>
              <a:t>Montant des cotisations au REER: 18% du revenu gagné ou maximum de 32 490$ (2025)</a:t>
            </a:r>
          </a:p>
          <a:p>
            <a:pPr lvl="1"/>
            <a:r>
              <a:rPr lang="fr-CA" dirty="0">
                <a:solidFill>
                  <a:srgbClr val="45555F"/>
                </a:solidFill>
                <a:latin typeface="NeuzeitGro"/>
              </a:rPr>
              <a:t>Cotisations déductibles d’impôts. </a:t>
            </a:r>
            <a:r>
              <a:rPr lang="fr-CA" b="0" i="0" dirty="0">
                <a:solidFill>
                  <a:srgbClr val="45555F"/>
                </a:solidFill>
                <a:effectLst/>
                <a:latin typeface="NeuzeitGro"/>
              </a:rPr>
              <a:t>Cotisations peuvent être reportées indéfiniment.</a:t>
            </a:r>
            <a:endParaRPr lang="fr-CA" dirty="0">
              <a:solidFill>
                <a:srgbClr val="45555F"/>
              </a:solidFill>
              <a:latin typeface="NeuzeitGro"/>
            </a:endParaRPr>
          </a:p>
          <a:p>
            <a:pPr lvl="1"/>
            <a:r>
              <a:rPr lang="fr-CA" dirty="0">
                <a:solidFill>
                  <a:srgbClr val="45555F"/>
                </a:solidFill>
                <a:latin typeface="NeuzeitGro"/>
              </a:rPr>
              <a:t>Maximum 60 000 $ pour un RAP par personne (nouveau de 2024).</a:t>
            </a:r>
          </a:p>
          <a:p>
            <a:pPr lvl="1"/>
            <a:r>
              <a:rPr lang="fr-CA" dirty="0">
                <a:solidFill>
                  <a:srgbClr val="45555F"/>
                </a:solidFill>
                <a:latin typeface="NeuzeitGro"/>
              </a:rPr>
              <a:t>Rembourser les fonds sur d'une période de 15 ans sans intérêts. Le remboursement commence après une </a:t>
            </a:r>
            <a:r>
              <a:rPr lang="fr-CA" b="1" u="sng" dirty="0">
                <a:solidFill>
                  <a:srgbClr val="45555F"/>
                </a:solidFill>
                <a:latin typeface="NeuzeitGro"/>
              </a:rPr>
              <a:t>période de grâce de 5 ans suivant le retrait.</a:t>
            </a:r>
            <a:endParaRPr lang="fr-CA" b="1" u="sng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AC9FE7-7482-156C-8A71-84F0E6D1C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499" y="5017911"/>
            <a:ext cx="1594488" cy="819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139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EFA6-9CC8-D314-8855-BF5B7865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75" y="-558222"/>
            <a:ext cx="7543800" cy="1450757"/>
          </a:xfrm>
        </p:spPr>
        <p:txBody>
          <a:bodyPr/>
          <a:lstStyle/>
          <a:p>
            <a:r>
              <a:rPr lang="en-US" dirty="0"/>
              <a:t>Lequel est le meilleur ?</a:t>
            </a:r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83AA-24B5-A12C-5EAE-FC35A119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845734"/>
            <a:ext cx="8817705" cy="4614052"/>
          </a:xfrm>
        </p:spPr>
        <p:txBody>
          <a:bodyPr>
            <a:normAutofit/>
          </a:bodyPr>
          <a:lstStyle/>
          <a:p>
            <a:r>
              <a:rPr lang="en-US" sz="2400" b="1" dirty="0"/>
              <a:t>Attention ! </a:t>
            </a:r>
            <a:r>
              <a:rPr lang="en-US" dirty="0"/>
              <a:t>Les REER </a:t>
            </a:r>
            <a:r>
              <a:rPr lang="en-US" dirty="0" err="1"/>
              <a:t>permettent</a:t>
            </a:r>
            <a:r>
              <a:rPr lang="en-US" dirty="0"/>
              <a:t> de reporter indéfiniment les droits de cotisation inutilisés, de sorte que vous ne « perdez » pas l'espace inutilisé.</a:t>
            </a:r>
            <a:r>
              <a:rPr lang="en-US" b="1" dirty="0"/>
              <a:t> Ce n'est pas le cas pour le CÉLIAPP.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Pour les acheteurs d'une première maison, le </a:t>
            </a:r>
            <a:r>
              <a:rPr lang="en-US" sz="2400" b="1" dirty="0"/>
              <a:t>CELIAPP</a:t>
            </a:r>
            <a:r>
              <a:rPr lang="en-US" sz="2400" dirty="0"/>
              <a:t> offre plus de souplesse, sans obligation de remboursement, ce qui en fait une </a:t>
            </a:r>
            <a:r>
              <a:rPr lang="en-US" sz="2400" b="1" dirty="0"/>
              <a:t>excellente option </a:t>
            </a:r>
            <a:r>
              <a:rPr lang="en-US" sz="2400" dirty="0"/>
              <a:t>pour ceux qui ne sont pas certains de leur situation financière future.</a:t>
            </a:r>
          </a:p>
          <a:p>
            <a:r>
              <a:rPr lang="en-US" sz="2400" b="1" dirty="0">
                <a:latin typeface="Ink Free" panose="03080402000500000000" pitchFamily="66" charset="0"/>
              </a:rPr>
              <a:t>Toutefois, la combinaison des deux comptes permet de maximiser les économies et les avantages fiscaux.</a:t>
            </a:r>
          </a:p>
          <a:p>
            <a:r>
              <a:rPr lang="fr-CA" sz="2400" b="1" dirty="0">
                <a:hlinkClick r:id="rId2"/>
              </a:rPr>
              <a:t>https://www.sunlife.ca/en/investments/fhsa/fhsa-vs-hbp/</a:t>
            </a:r>
            <a:r>
              <a:rPr lang="fr-CA" sz="2400" b="1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ACA4-CA67-01D7-63AC-85DAF291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551EB-0DEF-F5D2-380B-FC7BA9AA5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772234"/>
            <a:ext cx="8928992" cy="97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362E25B-4561-CC0F-250C-CC579297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2" y="987552"/>
            <a:ext cx="8928992" cy="1085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51B566-1D99-406D-92D3-FA284E00C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05" y="-759492"/>
            <a:ext cx="7543800" cy="1450757"/>
          </a:xfrm>
        </p:spPr>
        <p:txBody>
          <a:bodyPr>
            <a:normAutofit/>
          </a:bodyPr>
          <a:lstStyle/>
          <a:p>
            <a:r>
              <a:rPr lang="fr-CA" sz="3300" dirty="0">
                <a:solidFill>
                  <a:srgbClr val="FF0000"/>
                </a:solidFill>
              </a:rPr>
              <a:t>Exemples de taux hypothécaires actuels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953DD5-047B-4191-9612-95BAAA64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  <a:latin typeface="Georgia"/>
              </a:rPr>
              <a:pPr/>
              <a:t>15</a:t>
            </a:fld>
            <a:endParaRPr lang="fr-CA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49CE1-DAE4-4E1B-B74C-FB5CE5D3F9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 dirty="0"/>
          </a:p>
          <a:p>
            <a:endParaRPr lang="fr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BE2B0-90C4-4E24-8A91-7C51357CB8B4}"/>
              </a:ext>
            </a:extLst>
          </p:cNvPr>
          <p:cNvSpPr txBox="1"/>
          <p:nvPr/>
        </p:nvSpPr>
        <p:spPr>
          <a:xfrm>
            <a:off x="301752" y="6427905"/>
            <a:ext cx="6975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600" dirty="0">
                <a:solidFill>
                  <a:prstClr val="black"/>
                </a:solidFill>
                <a:latin typeface="Georgia"/>
                <a:hlinkClick r:id="rId4"/>
              </a:rPr>
              <a:t>Source : Banque Nationale</a:t>
            </a:r>
            <a:r>
              <a:rPr lang="fr-CA" sz="1600" dirty="0">
                <a:solidFill>
                  <a:prstClr val="black"/>
                </a:solidFill>
                <a:latin typeface="Georgia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8A00E-A6A5-4290-B11A-493E8ED5DCBE}"/>
              </a:ext>
            </a:extLst>
          </p:cNvPr>
          <p:cNvSpPr txBox="1"/>
          <p:nvPr/>
        </p:nvSpPr>
        <p:spPr>
          <a:xfrm>
            <a:off x="287097" y="5885036"/>
            <a:ext cx="8842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4F81BD"/>
              </a:buClr>
              <a:buSzPct val="85000"/>
              <a:defRPr/>
            </a:pPr>
            <a:r>
              <a:rPr lang="fr-CA" sz="2000" b="1" dirty="0">
                <a:solidFill>
                  <a:prstClr val="black"/>
                </a:solidFill>
                <a:latin typeface="Georgia"/>
              </a:rPr>
              <a:t>MAIS</a:t>
            </a:r>
            <a:r>
              <a:rPr lang="fr-CA" sz="2000" dirty="0">
                <a:solidFill>
                  <a:prstClr val="black"/>
                </a:solidFill>
                <a:latin typeface="Georgia"/>
              </a:rPr>
              <a:t>…une hypothèque ça se magasine !! ;-)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5A580-7B60-4BF0-B35F-38F57BD27D91}"/>
              </a:ext>
            </a:extLst>
          </p:cNvPr>
          <p:cNvSpPr txBox="1"/>
          <p:nvPr/>
        </p:nvSpPr>
        <p:spPr>
          <a:xfrm>
            <a:off x="402994" y="3895725"/>
            <a:ext cx="3822247" cy="18466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4F81BD"/>
              </a:buClr>
              <a:buSzPct val="85000"/>
              <a:defRPr/>
            </a:pPr>
            <a:r>
              <a:rPr lang="fr-CA" sz="2300" b="1" dirty="0">
                <a:solidFill>
                  <a:prstClr val="black"/>
                </a:solidFill>
                <a:latin typeface="Georgia"/>
              </a:rPr>
              <a:t>Quel est le meilleur taux actuel ??</a:t>
            </a:r>
          </a:p>
          <a:p>
            <a:pPr>
              <a:spcBef>
                <a:spcPct val="20000"/>
              </a:spcBef>
              <a:buClr>
                <a:srgbClr val="4F81BD"/>
              </a:buClr>
              <a:buSzPct val="85000"/>
              <a:defRPr/>
            </a:pPr>
            <a:endParaRPr lang="fr-CA" sz="2000" dirty="0">
              <a:solidFill>
                <a:prstClr val="black"/>
              </a:solidFill>
              <a:latin typeface="Georgia"/>
            </a:endParaRPr>
          </a:p>
          <a:p>
            <a:pPr>
              <a:spcBef>
                <a:spcPct val="20000"/>
              </a:spcBef>
              <a:buClr>
                <a:srgbClr val="4F81BD"/>
              </a:buClr>
              <a:buSzPct val="85000"/>
              <a:defRPr/>
            </a:pPr>
            <a:r>
              <a:rPr lang="fr-CA" sz="2000" dirty="0">
                <a:solidFill>
                  <a:prstClr val="black"/>
                </a:solidFill>
                <a:latin typeface="Georgia"/>
                <a:hlinkClick r:id="rId5"/>
              </a:rPr>
              <a:t>https://www.ratehub.ca/comparez</a:t>
            </a:r>
            <a:r>
              <a:rPr lang="fr-CA" sz="2000" dirty="0">
                <a:solidFill>
                  <a:prstClr val="black"/>
                </a:solidFill>
                <a:latin typeface="Georgia"/>
              </a:rPr>
              <a:t> </a:t>
            </a:r>
          </a:p>
        </p:txBody>
      </p:sp>
      <p:pic>
        <p:nvPicPr>
          <p:cNvPr id="1026" name="Picture 2" descr="Confusion ">
            <a:extLst>
              <a:ext uri="{FF2B5EF4-FFF2-40B4-BE49-F238E27FC236}">
                <a16:creationId xmlns:a16="http://schemas.microsoft.com/office/drawing/2014/main" id="{D710CA9A-350B-1E3A-AF9B-0953CD590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444" y="3751711"/>
            <a:ext cx="1131593" cy="1131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695D5-470C-DB7A-6486-E09E4A1971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1433" y="2072688"/>
            <a:ext cx="3075470" cy="4159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576EDD-328E-EB4F-8072-6641471A73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330" y="2201733"/>
            <a:ext cx="4143543" cy="156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94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729E4F4-8A8A-A73E-E3F5-32E0C5A2406A}"/>
              </a:ext>
            </a:extLst>
          </p:cNvPr>
          <p:cNvSpPr/>
          <p:nvPr/>
        </p:nvSpPr>
        <p:spPr>
          <a:xfrm>
            <a:off x="6691256" y="2297229"/>
            <a:ext cx="2360563" cy="28362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Faîtes vos calculs!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2232" y="2200361"/>
            <a:ext cx="6101421" cy="3508943"/>
          </a:xfrm>
        </p:spPr>
        <p:txBody>
          <a:bodyPr>
            <a:normAutofit fontScale="92500" lnSpcReduction="20000"/>
          </a:bodyPr>
          <a:lstStyle/>
          <a:p>
            <a:r>
              <a:rPr lang="en-US" sz="1700" dirty="0" err="1"/>
              <a:t>Calcul</a:t>
            </a:r>
            <a:r>
              <a:rPr lang="en-US" sz="1700" dirty="0"/>
              <a:t> du </a:t>
            </a:r>
            <a:r>
              <a:rPr lang="en-US" sz="1700" dirty="0" err="1"/>
              <a:t>montant</a:t>
            </a:r>
            <a:r>
              <a:rPr lang="en-US" sz="1700" dirty="0"/>
              <a:t> de </a:t>
            </a:r>
            <a:r>
              <a:rPr lang="en-US" sz="1700" dirty="0" err="1"/>
              <a:t>l’hypothèque</a:t>
            </a:r>
            <a:r>
              <a:rPr lang="en-US" sz="1700" dirty="0"/>
              <a:t> par </a:t>
            </a:r>
            <a:r>
              <a:rPr lang="en-US" sz="1700" dirty="0" err="1"/>
              <a:t>mois</a:t>
            </a:r>
            <a:r>
              <a:rPr lang="en-US" sz="1700" dirty="0"/>
              <a:t>. Tous les sites </a:t>
            </a:r>
            <a:r>
              <a:rPr lang="en-US" sz="1700" dirty="0" err="1"/>
              <a:t>bancaires</a:t>
            </a:r>
            <a:r>
              <a:rPr lang="en-US" sz="1700" dirty="0"/>
              <a:t> </a:t>
            </a:r>
            <a:r>
              <a:rPr lang="en-US" sz="1700" dirty="0" err="1"/>
              <a:t>offrent</a:t>
            </a:r>
            <a:r>
              <a:rPr lang="en-US" sz="1700" dirty="0"/>
              <a:t> un </a:t>
            </a:r>
            <a:r>
              <a:rPr lang="en-US" sz="1700" dirty="0" err="1"/>
              <a:t>calculateur</a:t>
            </a:r>
            <a:r>
              <a:rPr lang="en-US" sz="1700" dirty="0"/>
              <a:t>.</a:t>
            </a:r>
          </a:p>
          <a:p>
            <a:r>
              <a:rPr lang="en-US" sz="1700" dirty="0"/>
              <a:t> </a:t>
            </a:r>
            <a:r>
              <a:rPr lang="en-US" sz="1700" dirty="0" err="1"/>
              <a:t>Ceux</a:t>
            </a:r>
            <a:r>
              <a:rPr lang="en-US" sz="1700" dirty="0"/>
              <a:t>-ci entre </a:t>
            </a:r>
            <a:r>
              <a:rPr lang="en-US" sz="1700" dirty="0" err="1"/>
              <a:t>autre</a:t>
            </a:r>
            <a:r>
              <a:rPr lang="en-US" sz="1700" dirty="0"/>
              <a:t>:</a:t>
            </a:r>
          </a:p>
          <a:p>
            <a:pPr lvl="1"/>
            <a:r>
              <a:rPr lang="en-US" sz="1700" dirty="0">
                <a:hlinkClick r:id="" action="ppaction://noaction"/>
              </a:rPr>
              <a:t>https://www.cmhc-schl.gc.ca/fr/consumers/home-buying/calculators/mortgage-calculator</a:t>
            </a:r>
          </a:p>
          <a:p>
            <a:pPr lvl="1"/>
            <a:r>
              <a:rPr lang="en-US" sz="1700" dirty="0">
                <a:hlinkClick r:id="" action="ppaction://noaction"/>
              </a:rPr>
              <a:t>https://www.bnc.ca/particuliers/hypotheque/calculatrices/versements.html</a:t>
            </a:r>
            <a:r>
              <a:rPr lang="en-US" sz="1700" dirty="0"/>
              <a:t> </a:t>
            </a:r>
          </a:p>
          <a:p>
            <a:pPr lvl="1"/>
            <a:r>
              <a:rPr lang="en-US" sz="1700" dirty="0">
                <a:hlinkClick r:id="rId3"/>
              </a:rPr>
              <a:t>https://www.ratehub.ca/calcul-versement-hypothecaire</a:t>
            </a:r>
            <a:r>
              <a:rPr lang="en-US" sz="1700" dirty="0"/>
              <a:t> </a:t>
            </a:r>
          </a:p>
          <a:p>
            <a:endParaRPr lang="en-US" sz="1700" dirty="0"/>
          </a:p>
          <a:p>
            <a:r>
              <a:rPr lang="en-US" sz="1700" dirty="0" err="1"/>
              <a:t>Calcul</a:t>
            </a:r>
            <a:r>
              <a:rPr lang="en-US" sz="1700" dirty="0"/>
              <a:t> de </a:t>
            </a:r>
            <a:r>
              <a:rPr lang="en-US" sz="1700" dirty="0" err="1"/>
              <a:t>votre</a:t>
            </a:r>
            <a:r>
              <a:rPr lang="en-US" sz="1700" dirty="0"/>
              <a:t> </a:t>
            </a:r>
            <a:r>
              <a:rPr lang="en-US" sz="1700" dirty="0" err="1"/>
              <a:t>capacité</a:t>
            </a:r>
            <a:r>
              <a:rPr lang="en-US" sz="1700" dirty="0"/>
              <a:t> </a:t>
            </a:r>
            <a:r>
              <a:rPr lang="en-US" sz="1700" dirty="0" err="1"/>
              <a:t>d’emprunt</a:t>
            </a:r>
            <a:r>
              <a:rPr lang="en-US" sz="1700" dirty="0"/>
              <a:t>:</a:t>
            </a:r>
          </a:p>
          <a:p>
            <a:pPr lvl="1"/>
            <a:r>
              <a:rPr lang="en-US" sz="1700" dirty="0">
                <a:hlinkClick r:id="" action="ppaction://noaction"/>
              </a:rPr>
              <a:t>https://www.cmhc-schl.gc.ca/fr/consumers/home-buying/calculators/mortgage-calculator</a:t>
            </a:r>
          </a:p>
          <a:p>
            <a:pPr lvl="1"/>
            <a:r>
              <a:rPr lang="en-US" sz="1700" dirty="0">
                <a:hlinkClick r:id="" action="ppaction://noaction"/>
              </a:rPr>
              <a:t>https://www.ratehub.ca/calculateur-de-pret-hypothecaire-selon-votre-capacite-d-emprunt</a:t>
            </a:r>
            <a:r>
              <a:rPr lang="en-US" sz="1700" dirty="0"/>
              <a:t> </a:t>
            </a:r>
          </a:p>
          <a:p>
            <a:endParaRPr lang="en-US" dirty="0"/>
          </a:p>
          <a:p>
            <a:endParaRPr lang="fr-FR" b="0" i="0" dirty="0">
              <a:solidFill>
                <a:srgbClr val="202124"/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  <a:latin typeface="Georgia"/>
              </a:rPr>
              <a:pPr>
                <a:defRPr/>
              </a:pPr>
              <a:t>16</a:t>
            </a:fld>
            <a:endParaRPr lang="fr-CA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4467D6-F01B-433F-8BF8-C174637A0E61}"/>
              </a:ext>
            </a:extLst>
          </p:cNvPr>
          <p:cNvGrpSpPr/>
          <p:nvPr/>
        </p:nvGrpSpPr>
        <p:grpSpPr>
          <a:xfrm>
            <a:off x="4861834" y="33089"/>
            <a:ext cx="4026134" cy="1343184"/>
            <a:chOff x="628321" y="4176591"/>
            <a:chExt cx="7923934" cy="2452809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C33E0CD-07D0-45DA-8F68-A0D62B1DB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321" y="4176591"/>
              <a:ext cx="7923934" cy="189688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5A82E-4B9B-4F82-9AF8-CA685D010902}"/>
                </a:ext>
              </a:extLst>
            </p:cNvPr>
            <p:cNvSpPr/>
            <p:nvPr/>
          </p:nvSpPr>
          <p:spPr>
            <a:xfrm>
              <a:off x="5724128" y="6525344"/>
              <a:ext cx="2828127" cy="1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>
                <a:solidFill>
                  <a:prstClr val="white"/>
                </a:solidFill>
                <a:latin typeface="Georgia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F6ECE64-FA10-0EC1-7706-C3508C328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92" y="987552"/>
            <a:ext cx="8928992" cy="1085136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E883BA1C-A498-2676-33FB-4CE582465400}"/>
              </a:ext>
            </a:extLst>
          </p:cNvPr>
          <p:cNvSpPr txBox="1">
            <a:spLocks/>
          </p:cNvSpPr>
          <p:nvPr/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>
                <a:solidFill>
                  <a:srgbClr val="FF0000"/>
                </a:solidFill>
              </a:rPr>
              <a:t>Faîtes vos calculs!</a:t>
            </a:r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E78A05-7A7F-91A8-C0CB-C0293DC485C0}"/>
              </a:ext>
            </a:extLst>
          </p:cNvPr>
          <p:cNvSpPr txBox="1"/>
          <p:nvPr/>
        </p:nvSpPr>
        <p:spPr>
          <a:xfrm>
            <a:off x="-3048" y="5829926"/>
            <a:ext cx="9144000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fr-CA" b="1" i="0" dirty="0">
                <a:effectLst/>
                <a:latin typeface="Ink Free" panose="03080402000500000000" pitchFamily="66" charset="0"/>
              </a:rPr>
              <a:t>Comprendre les hypothèques est essentiel pour prendre des décisions financières éclairées. Prenez le temps de </a:t>
            </a:r>
            <a:r>
              <a:rPr lang="fr-CA" b="1" i="0" u="sng" dirty="0">
                <a:effectLst/>
                <a:latin typeface="Ink Free" panose="03080402000500000000" pitchFamily="66" charset="0"/>
              </a:rPr>
              <a:t>magasiner vos options</a:t>
            </a:r>
            <a:r>
              <a:rPr lang="fr-CA" b="1" i="0" dirty="0">
                <a:effectLst/>
                <a:latin typeface="Ink Free" panose="03080402000500000000" pitchFamily="66" charset="0"/>
              </a:rPr>
              <a:t>, de maintenir un bon dossier de crédit et d'explorer toutes les options de financement disponibles.</a:t>
            </a:r>
            <a:endParaRPr lang="fr-CA" b="1" dirty="0">
              <a:latin typeface="Ink Free" panose="03080402000500000000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2BDAEC-5609-2205-FF31-688381D1CE1B}"/>
              </a:ext>
            </a:extLst>
          </p:cNvPr>
          <p:cNvSpPr txBox="1"/>
          <p:nvPr/>
        </p:nvSpPr>
        <p:spPr>
          <a:xfrm>
            <a:off x="6848404" y="3027151"/>
            <a:ext cx="21835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>
                <a:latin typeface="Ink Free" panose="03080402000500000000" pitchFamily="66" charset="0"/>
              </a:rPr>
              <a:t>Chiffrier</a:t>
            </a:r>
            <a:r>
              <a:rPr lang="en-US" sz="1800" dirty="0">
                <a:latin typeface="Ink Free" panose="03080402000500000000" pitchFamily="66" charset="0"/>
              </a:rPr>
              <a:t> excel pour </a:t>
            </a:r>
            <a:r>
              <a:rPr lang="en-US" sz="1800" dirty="0" err="1">
                <a:latin typeface="Ink Free" panose="03080402000500000000" pitchFamily="66" charset="0"/>
              </a:rPr>
              <a:t>calculer</a:t>
            </a:r>
            <a:r>
              <a:rPr lang="en-US" sz="1800" dirty="0">
                <a:latin typeface="Ink Free" panose="03080402000500000000" pitchFamily="66" charset="0"/>
              </a:rPr>
              <a:t> </a:t>
            </a:r>
            <a:r>
              <a:rPr lang="en-US" sz="1800" dirty="0" err="1">
                <a:latin typeface="Ink Free" panose="03080402000500000000" pitchFamily="66" charset="0"/>
              </a:rPr>
              <a:t>votre</a:t>
            </a:r>
            <a:r>
              <a:rPr lang="en-US" sz="1800" dirty="0">
                <a:latin typeface="Ink Free" panose="03080402000500000000" pitchFamily="66" charset="0"/>
              </a:rPr>
              <a:t> </a:t>
            </a:r>
            <a:r>
              <a:rPr lang="en-US" sz="1800" dirty="0" err="1">
                <a:latin typeface="Ink Free" panose="03080402000500000000" pitchFamily="66" charset="0"/>
              </a:rPr>
              <a:t>hypothèque</a:t>
            </a:r>
            <a:r>
              <a:rPr lang="en-US" sz="1800" dirty="0">
                <a:latin typeface="Ink Free" panose="03080402000500000000" pitchFamily="66" charset="0"/>
              </a:rPr>
              <a:t> et </a:t>
            </a:r>
            <a:r>
              <a:rPr lang="en-US" sz="1800" dirty="0" err="1">
                <a:latin typeface="Ink Free" panose="03080402000500000000" pitchFamily="66" charset="0"/>
              </a:rPr>
              <a:t>paiements</a:t>
            </a:r>
            <a:endParaRPr lang="en-US" sz="1800" dirty="0">
              <a:latin typeface="Ink Free" panose="03080402000500000000" pitchFamily="66" charset="0"/>
            </a:endParaRPr>
          </a:p>
          <a:p>
            <a:pPr algn="ctr"/>
            <a:endParaRPr lang="en-US" dirty="0"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026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A4C7-0762-5492-84A1-9A82F4ED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 savoir plus? </a:t>
            </a:r>
            <a:r>
              <a:rPr lang="en-CA" dirty="0">
                <a:sym typeface="Wingdings" panose="05000000000000000000" pitchFamily="2" charset="2"/>
              </a:rPr>
              <a:t></a:t>
            </a:r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A27E9-4B9F-B559-7DBF-C139B65B3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>
                <a:hlinkClick r:id="rId2"/>
              </a:rPr>
              <a:t>https://www.lapresse.ca/affaires/finances-personnelles/2023-04-18/l-anxiete-financiere-des-quebecois-est-a-la-hausse.php</a:t>
            </a:r>
          </a:p>
          <a:p>
            <a:r>
              <a:rPr lang="fr-CA" dirty="0">
                <a:hlinkClick r:id="rId2"/>
              </a:rPr>
              <a:t>https://www.conseiller.ca/ma-pratique/relation-client/la-generation-z-face-a-lanxiete-financiere/</a:t>
            </a:r>
          </a:p>
          <a:p>
            <a:r>
              <a:rPr lang="fr-CA" dirty="0">
                <a:hlinkClick r:id="rId2"/>
              </a:rPr>
              <a:t>https://www.stress.org/news/gen-z-faces-financial-challenges-stress-anxiety-and-an-uncertain-future/</a:t>
            </a:r>
          </a:p>
          <a:p>
            <a:r>
              <a:rPr lang="fr-CA" dirty="0">
                <a:hlinkClick r:id="rId2"/>
              </a:rPr>
              <a:t>https://www.salon.com/2024/10/03/gen-z-younger-millennials-more-financially-stressed-survey-says/</a:t>
            </a:r>
            <a:r>
              <a:rPr lang="fr-CA" dirty="0"/>
              <a:t> </a:t>
            </a:r>
          </a:p>
          <a:p>
            <a:pPr marL="0" indent="0">
              <a:buNone/>
            </a:pPr>
            <a:r>
              <a:rPr lang="fr-CA" dirty="0">
                <a:hlinkClick r:id="rId3"/>
              </a:rPr>
              <a:t> https://newsroom.bankofamerica.com/content/newsroom/press-releases/2023/10/gen-z-is-tightening-its-belt--with-73--modifying-lifestyles-due-.html</a:t>
            </a:r>
            <a:r>
              <a:rPr lang="fr-CA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1817-1446-A1A5-F5FF-FC690985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49211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2049</Words>
  <Application>Microsoft Office PowerPoint</Application>
  <PresentationFormat>On-screen Show (4:3)</PresentationFormat>
  <Paragraphs>230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Georgia</vt:lpstr>
      <vt:lpstr>Ink Free</vt:lpstr>
      <vt:lpstr>NeuzeitGro</vt:lpstr>
      <vt:lpstr>ui-sans-serif</vt:lpstr>
      <vt:lpstr>Verdana</vt:lpstr>
      <vt:lpstr>Wingdings</vt:lpstr>
      <vt:lpstr>Retrospect</vt:lpstr>
      <vt:lpstr>1_Retrospect</vt:lpstr>
      <vt:lpstr>Chronique financière…. Les hypothèques!</vt:lpstr>
      <vt:lpstr>PowerPoint Presentation</vt:lpstr>
      <vt:lpstr>Définition</vt:lpstr>
      <vt:lpstr>Caractéristiques</vt:lpstr>
      <vt:lpstr>Considérations importantes…</vt:lpstr>
      <vt:lpstr>Options</vt:lpstr>
      <vt:lpstr>Quelques statistiques (2026)…</vt:lpstr>
      <vt:lpstr>Taux de prime SCHL selon la mise de fonds</vt:lpstr>
      <vt:lpstr>Simulation hypothécaire</vt:lpstr>
      <vt:lpstr>Une règle simple pour estimer sa capacité d’achat</vt:lpstr>
      <vt:lpstr>Difficile d’aller chercher l’argent pour les premiers acheteurs…</vt:lpstr>
      <vt:lpstr>Donc, où allez chercher l’argent pour la mise de fonds lorsqu’on est premier acheteur ?!</vt:lpstr>
      <vt:lpstr>CéliAPP et Régime d'accession à la propriété RAP</vt:lpstr>
      <vt:lpstr>Lequel est le meilleur ?</vt:lpstr>
      <vt:lpstr>Exemples de taux hypothécaires actuels</vt:lpstr>
      <vt:lpstr>Faîtes vos calculs!</vt:lpstr>
      <vt:lpstr>En savoir plus?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ANNEXE: Les hypothèques</dc:title>
  <dc:creator>mélanie caron-harris</dc:creator>
  <cp:keywords>, docId:1571ECAD5E10E04A9BE8090866A5C3A4</cp:keywords>
  <cp:lastModifiedBy>Mélanie Caron-Harris</cp:lastModifiedBy>
  <cp:revision>23</cp:revision>
  <dcterms:created xsi:type="dcterms:W3CDTF">2022-01-21T16:37:06Z</dcterms:created>
  <dcterms:modified xsi:type="dcterms:W3CDTF">2026-09-13T14:38:58Z</dcterms:modified>
</cp:coreProperties>
</file>