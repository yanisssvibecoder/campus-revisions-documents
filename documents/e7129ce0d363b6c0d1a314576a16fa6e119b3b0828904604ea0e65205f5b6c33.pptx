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6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7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3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1" r:id="rId4"/>
    <p:sldMasterId id="2147483704" r:id="rId5"/>
    <p:sldMasterId id="2147483706" r:id="rId6"/>
    <p:sldMasterId id="2147483718" r:id="rId7"/>
    <p:sldMasterId id="2147483726" r:id="rId8"/>
  </p:sldMasterIdLst>
  <p:notesMasterIdLst>
    <p:notesMasterId r:id="rId25"/>
  </p:notesMasterIdLst>
  <p:sldIdLst>
    <p:sldId id="373" r:id="rId9"/>
    <p:sldId id="559" r:id="rId10"/>
    <p:sldId id="352" r:id="rId11"/>
    <p:sldId id="294" r:id="rId12"/>
    <p:sldId id="300" r:id="rId13"/>
    <p:sldId id="552" r:id="rId14"/>
    <p:sldId id="550" r:id="rId15"/>
    <p:sldId id="554" r:id="rId16"/>
    <p:sldId id="557" r:id="rId17"/>
    <p:sldId id="426" r:id="rId18"/>
    <p:sldId id="427" r:id="rId19"/>
    <p:sldId id="429" r:id="rId20"/>
    <p:sldId id="430" r:id="rId21"/>
    <p:sldId id="338" r:id="rId22"/>
    <p:sldId id="343" r:id="rId23"/>
    <p:sldId id="354" r:id="rId24"/>
  </p:sldIdLst>
  <p:sldSz cx="9144000" cy="6858000" type="screen4x3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2BF54-2911-4CEC-8216-C514AC0C4EFA}" v="1" dt="2026-09-21T13:07:08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34" autoAdjust="0"/>
    <p:restoredTop sz="93566" autoAdjust="0"/>
  </p:normalViewPr>
  <p:slideViewPr>
    <p:cSldViewPr>
      <p:cViewPr varScale="1">
        <p:scale>
          <a:sx n="103" d="100"/>
          <a:sy n="103" d="100"/>
        </p:scale>
        <p:origin x="165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élanie Caron-Harris" userId="784ba18a-e74f-420c-a966-05b1322e4383" providerId="ADAL" clId="{2D819EB9-7307-4A86-A40F-5F1833D42680}"/>
    <pc:docChg chg="undo custSel delSld modSld">
      <pc:chgData name="Mélanie Caron-Harris" userId="784ba18a-e74f-420c-a966-05b1322e4383" providerId="ADAL" clId="{2D819EB9-7307-4A86-A40F-5F1833D42680}" dt="2026-09-21T13:09:40.109" v="103" actId="1076"/>
      <pc:docMkLst>
        <pc:docMk/>
      </pc:docMkLst>
      <pc:sldChg chg="modSp mod">
        <pc:chgData name="Mélanie Caron-Harris" userId="784ba18a-e74f-420c-a966-05b1322e4383" providerId="ADAL" clId="{2D819EB9-7307-4A86-A40F-5F1833D42680}" dt="2026-09-21T13:08:33.834" v="98" actId="403"/>
        <pc:sldMkLst>
          <pc:docMk/>
          <pc:sldMk cId="3670765751" sldId="338"/>
        </pc:sldMkLst>
        <pc:spChg chg="mod">
          <ac:chgData name="Mélanie Caron-Harris" userId="784ba18a-e74f-420c-a966-05b1322e4383" providerId="ADAL" clId="{2D819EB9-7307-4A86-A40F-5F1833D42680}" dt="2026-09-21T13:08:33.834" v="98" actId="403"/>
          <ac:spMkLst>
            <pc:docMk/>
            <pc:sldMk cId="3670765751" sldId="338"/>
            <ac:spMk id="3" creationId="{00000000-0000-0000-0000-000000000000}"/>
          </ac:spMkLst>
        </pc:spChg>
      </pc:sldChg>
      <pc:sldChg chg="modSp mod">
        <pc:chgData name="Mélanie Caron-Harris" userId="784ba18a-e74f-420c-a966-05b1322e4383" providerId="ADAL" clId="{2D819EB9-7307-4A86-A40F-5F1833D42680}" dt="2026-09-21T13:09:40.109" v="103" actId="1076"/>
        <pc:sldMkLst>
          <pc:docMk/>
          <pc:sldMk cId="1828575272" sldId="373"/>
        </pc:sldMkLst>
        <pc:spChg chg="mod">
          <ac:chgData name="Mélanie Caron-Harris" userId="784ba18a-e74f-420c-a966-05b1322e4383" providerId="ADAL" clId="{2D819EB9-7307-4A86-A40F-5F1833D42680}" dt="2026-09-21T13:09:37.958" v="102" actId="207"/>
          <ac:spMkLst>
            <pc:docMk/>
            <pc:sldMk cId="1828575272" sldId="373"/>
            <ac:spMk id="6" creationId="{79BBBB01-5B6C-3428-08A3-23C6C0FD8DFC}"/>
          </ac:spMkLst>
        </pc:spChg>
        <pc:picChg chg="mod">
          <ac:chgData name="Mélanie Caron-Harris" userId="784ba18a-e74f-420c-a966-05b1322e4383" providerId="ADAL" clId="{2D819EB9-7307-4A86-A40F-5F1833D42680}" dt="2026-09-21T13:09:40.109" v="103" actId="1076"/>
          <ac:picMkLst>
            <pc:docMk/>
            <pc:sldMk cId="1828575272" sldId="373"/>
            <ac:picMk id="2" creationId="{62F9F0B0-42E3-3DD2-A0BB-E24E4CAB0C44}"/>
          </ac:picMkLst>
        </pc:picChg>
      </pc:sldChg>
      <pc:sldChg chg="modSp mod">
        <pc:chgData name="Mélanie Caron-Harris" userId="784ba18a-e74f-420c-a966-05b1322e4383" providerId="ADAL" clId="{2D819EB9-7307-4A86-A40F-5F1833D42680}" dt="2026-09-21T13:08:00.654" v="96" actId="20577"/>
        <pc:sldMkLst>
          <pc:docMk/>
          <pc:sldMk cId="1259848723" sldId="426"/>
        </pc:sldMkLst>
        <pc:spChg chg="mod">
          <ac:chgData name="Mélanie Caron-Harris" userId="784ba18a-e74f-420c-a966-05b1322e4383" providerId="ADAL" clId="{2D819EB9-7307-4A86-A40F-5F1833D42680}" dt="2026-09-21T13:08:00.654" v="96" actId="20577"/>
          <ac:spMkLst>
            <pc:docMk/>
            <pc:sldMk cId="1259848723" sldId="426"/>
            <ac:spMk id="5" creationId="{BD45F8D0-A082-27FF-DA58-AC78BBD7A6F6}"/>
          </ac:spMkLst>
        </pc:spChg>
      </pc:sldChg>
      <pc:sldChg chg="modSp mod">
        <pc:chgData name="Mélanie Caron-Harris" userId="784ba18a-e74f-420c-a966-05b1322e4383" providerId="ADAL" clId="{2D819EB9-7307-4A86-A40F-5F1833D42680}" dt="2026-09-21T13:05:41.880" v="6" actId="20577"/>
        <pc:sldMkLst>
          <pc:docMk/>
          <pc:sldMk cId="197929687" sldId="550"/>
        </pc:sldMkLst>
        <pc:spChg chg="mod">
          <ac:chgData name="Mélanie Caron-Harris" userId="784ba18a-e74f-420c-a966-05b1322e4383" providerId="ADAL" clId="{2D819EB9-7307-4A86-A40F-5F1833D42680}" dt="2026-09-21T13:05:18.498" v="2" actId="6549"/>
          <ac:spMkLst>
            <pc:docMk/>
            <pc:sldMk cId="197929687" sldId="550"/>
            <ac:spMk id="3" creationId="{00000000-0000-0000-0000-000000000000}"/>
          </ac:spMkLst>
        </pc:spChg>
        <pc:spChg chg="mod">
          <ac:chgData name="Mélanie Caron-Harris" userId="784ba18a-e74f-420c-a966-05b1322e4383" providerId="ADAL" clId="{2D819EB9-7307-4A86-A40F-5F1833D42680}" dt="2026-09-21T13:05:39.564" v="4" actId="20577"/>
          <ac:spMkLst>
            <pc:docMk/>
            <pc:sldMk cId="197929687" sldId="550"/>
            <ac:spMk id="52" creationId="{CFF466DA-7076-4346-B76A-407CD15D9F1D}"/>
          </ac:spMkLst>
        </pc:spChg>
        <pc:spChg chg="mod">
          <ac:chgData name="Mélanie Caron-Harris" userId="784ba18a-e74f-420c-a966-05b1322e4383" providerId="ADAL" clId="{2D819EB9-7307-4A86-A40F-5F1833D42680}" dt="2026-09-21T13:05:41.880" v="6" actId="20577"/>
          <ac:spMkLst>
            <pc:docMk/>
            <pc:sldMk cId="197929687" sldId="550"/>
            <ac:spMk id="54" creationId="{846BB11D-3D21-4B4C-A488-9E3033EBA6F5}"/>
          </ac:spMkLst>
        </pc:spChg>
      </pc:sldChg>
      <pc:sldChg chg="modSp mod">
        <pc:chgData name="Mélanie Caron-Harris" userId="784ba18a-e74f-420c-a966-05b1322e4383" providerId="ADAL" clId="{2D819EB9-7307-4A86-A40F-5F1833D42680}" dt="2026-09-21T13:04:58.699" v="0" actId="115"/>
        <pc:sldMkLst>
          <pc:docMk/>
          <pc:sldMk cId="1032983617" sldId="552"/>
        </pc:sldMkLst>
        <pc:spChg chg="mod">
          <ac:chgData name="Mélanie Caron-Harris" userId="784ba18a-e74f-420c-a966-05b1322e4383" providerId="ADAL" clId="{2D819EB9-7307-4A86-A40F-5F1833D42680}" dt="2026-09-21T13:04:58.699" v="0" actId="115"/>
          <ac:spMkLst>
            <pc:docMk/>
            <pc:sldMk cId="1032983617" sldId="552"/>
            <ac:spMk id="6" creationId="{F7138525-8E5E-4D64-8AB5-E036C12644A1}"/>
          </ac:spMkLst>
        </pc:spChg>
      </pc:sldChg>
      <pc:sldChg chg="modSp mod">
        <pc:chgData name="Mélanie Caron-Harris" userId="784ba18a-e74f-420c-a966-05b1322e4383" providerId="ADAL" clId="{2D819EB9-7307-4A86-A40F-5F1833D42680}" dt="2026-09-21T13:06:07.248" v="45" actId="20577"/>
        <pc:sldMkLst>
          <pc:docMk/>
          <pc:sldMk cId="4097958580" sldId="554"/>
        </pc:sldMkLst>
        <pc:spChg chg="mod">
          <ac:chgData name="Mélanie Caron-Harris" userId="784ba18a-e74f-420c-a966-05b1322e4383" providerId="ADAL" clId="{2D819EB9-7307-4A86-A40F-5F1833D42680}" dt="2026-09-21T13:06:07.248" v="45" actId="20577"/>
          <ac:spMkLst>
            <pc:docMk/>
            <pc:sldMk cId="4097958580" sldId="554"/>
            <ac:spMk id="3" creationId="{00000000-0000-0000-0000-000000000000}"/>
          </ac:spMkLst>
        </pc:spChg>
      </pc:sldChg>
      <pc:sldChg chg="modSp mod">
        <pc:chgData name="Mélanie Caron-Harris" userId="784ba18a-e74f-420c-a966-05b1322e4383" providerId="ADAL" clId="{2D819EB9-7307-4A86-A40F-5F1833D42680}" dt="2026-09-21T13:07:23.327" v="74" actId="14100"/>
        <pc:sldMkLst>
          <pc:docMk/>
          <pc:sldMk cId="4150220997" sldId="557"/>
        </pc:sldMkLst>
        <pc:spChg chg="mod">
          <ac:chgData name="Mélanie Caron-Harris" userId="784ba18a-e74f-420c-a966-05b1322e4383" providerId="ADAL" clId="{2D819EB9-7307-4A86-A40F-5F1833D42680}" dt="2026-09-21T13:07:23.327" v="74" actId="14100"/>
          <ac:spMkLst>
            <pc:docMk/>
            <pc:sldMk cId="4150220997" sldId="557"/>
            <ac:spMk id="3" creationId="{00000000-0000-0000-0000-000000000000}"/>
          </ac:spMkLst>
        </pc:spChg>
      </pc:sldChg>
      <pc:sldChg chg="modSp del mod">
        <pc:chgData name="Mélanie Caron-Harris" userId="784ba18a-e74f-420c-a966-05b1322e4383" providerId="ADAL" clId="{2D819EB9-7307-4A86-A40F-5F1833D42680}" dt="2026-09-21T13:07:26.075" v="75" actId="47"/>
        <pc:sldMkLst>
          <pc:docMk/>
          <pc:sldMk cId="3106985627" sldId="558"/>
        </pc:sldMkLst>
        <pc:spChg chg="mod">
          <ac:chgData name="Mélanie Caron-Harris" userId="784ba18a-e74f-420c-a966-05b1322e4383" providerId="ADAL" clId="{2D819EB9-7307-4A86-A40F-5F1833D42680}" dt="2026-09-21T13:07:05.670" v="60" actId="21"/>
          <ac:spMkLst>
            <pc:docMk/>
            <pc:sldMk cId="3106985627" sldId="55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3BB1-82BD-423B-B35A-974BC9C6034F}" type="datetimeFigureOut">
              <a:rPr lang="fr-CA" smtClean="0"/>
              <a:t>2026-09-21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DEA30-6F50-4834-B9A9-17A2A41D4712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392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5E59A1-C51A-4F4A-86C8-22A0EC8DAD15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77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9527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2676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4224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06094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36627-F8D8-47A6-A674-75CD294D554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225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88796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650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EEA1-CDA6-4521-B3D6-8C463216AF50}" type="datetime1">
              <a:rPr lang="fr-FR" smtClean="0"/>
              <a:t>21/09/2026</a:t>
            </a:fld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1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506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98A7-70BF-4C55-A40D-1AD8197950F5}" type="datetime1">
              <a:rPr lang="fr-FR" smtClean="0"/>
              <a:t>21/09/2026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3"/>
            <a:ext cx="4572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99103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7E89D-2869-4F8C-87A5-C7E821FE6C20}" type="datetime1">
              <a:rPr lang="fr-FR" smtClean="0"/>
              <a:t>21/09/2026</a:t>
            </a:fld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1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35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5590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7928143F-C8E0-4707-80AD-B901F6FFD840}" type="datetime1">
              <a:rPr lang="fr-FR" smtClean="0"/>
              <a:t>21/09/2026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2" y="1575653"/>
            <a:ext cx="8921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56961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833" b="1" dirty="0" smtClean="0">
                <a:solidFill>
                  <a:srgbClr val="FFFFFF"/>
                </a:solidFill>
              </a:defRPr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2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833" b="1"/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ED04-1A72-4840-A5EF-6AA5A78236D6}" type="datetime1">
              <a:rPr lang="fr-FR" smtClean="0"/>
              <a:t>21/09/2026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4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7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0328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A206-D375-4B39-B57B-640DF3D76E5A}" type="datetime1">
              <a:rPr lang="fr-FR" smtClean="0"/>
              <a:t>21/09/2026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1"/>
            <a:ext cx="4572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90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863A-7DC0-4BE3-B808-B292F0AC945E}" type="datetime1">
              <a:rPr lang="fr-FR" smtClean="0"/>
              <a:t>21/09/2026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7C2F0C-A6A4-44C9-B109-8FE1FD9A5A06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482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9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CCAA-344A-4D64-BB18-051DE9134BDB}" type="datetime1">
              <a:rPr lang="fr-FR" smtClean="0"/>
              <a:t>21/09/2026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18139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9"/>
            <a:ext cx="4572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E576D67-08A4-420E-8AAF-A2414656640E}" type="datetime1">
              <a:rPr lang="fr-FR" smtClean="0"/>
              <a:t>21/09/2026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6822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4F2-F423-4DAC-817C-898851890E7C}" type="datetime1">
              <a:rPr lang="fr-FR" smtClean="0"/>
              <a:t>21/09/2026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905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2"/>
            <a:ext cx="4572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170F-08EF-4A8D-B82F-B8065B769896}" type="datetime1">
              <a:rPr lang="fr-FR" smtClean="0"/>
              <a:t>21/09/2026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2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0596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1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1887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3"/>
            <a:ext cx="4572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05004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1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35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1272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2" y="1575653"/>
            <a:ext cx="8921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1814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833" b="1" dirty="0" smtClean="0">
                <a:solidFill>
                  <a:srgbClr val="FFFFFF"/>
                </a:solidFill>
              </a:defRPr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2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833" b="1"/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4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7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2945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1"/>
            <a:ext cx="4572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009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5381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9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4206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9"/>
            <a:ext cx="4572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1752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285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2"/>
            <a:ext cx="4572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2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711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0354" y="1036638"/>
            <a:ext cx="457200" cy="441325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457159" indent="-228580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685739" indent="-190482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91820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2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30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200" b="1" cap="all" spc="187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6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267202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9"/>
            <a:ext cx="4572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4" y="533400"/>
            <a:ext cx="77724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  <a:latin typeface="Amasis MT Pro Light" panose="02040304050005020304" pitchFamily="18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21445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3" y="685800"/>
            <a:ext cx="5638800" cy="5410200"/>
          </a:xfrm>
          <a:noFill/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8480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2" y="1575653"/>
            <a:ext cx="8921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083" b="0">
                <a:latin typeface="Amasis MT Pro Light" panose="02040304050005020304" pitchFamily="18" charset="0"/>
              </a:defRPr>
            </a:lvl1pPr>
            <a:lvl2pPr>
              <a:defRPr b="0">
                <a:latin typeface="Amasis MT Pro Light" panose="02040304050005020304" pitchFamily="18" charset="0"/>
              </a:defRPr>
            </a:lvl2pPr>
            <a:lvl3pPr>
              <a:defRPr b="0">
                <a:latin typeface="Amasis MT Pro Light" panose="02040304050005020304" pitchFamily="18" charset="0"/>
              </a:defRPr>
            </a:lvl3pPr>
            <a:lvl4pPr>
              <a:defRPr b="0">
                <a:latin typeface="Amasis MT Pro Light" panose="02040304050005020304" pitchFamily="18" charset="0"/>
              </a:defRPr>
            </a:lvl4pPr>
            <a:lvl5pPr>
              <a:defRPr b="0"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083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75530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8"/>
            <a:ext cx="457200" cy="4413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8727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2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3" y="685800"/>
            <a:ext cx="56388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295403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9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4137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2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30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200" b="1" cap="all" spc="187" baseline="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6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267202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9"/>
            <a:ext cx="4572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4" y="533400"/>
            <a:ext cx="77724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4671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3"/>
            <a:ext cx="457200" cy="441325"/>
          </a:xfrm>
        </p:spPr>
        <p:txBody>
          <a:bodyPr/>
          <a:lstStyle>
            <a:lvl1pPr>
              <a:defRPr sz="1333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08081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61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200" b="1" cap="all" spc="188" baseline="0">
                <a:solidFill>
                  <a:schemeClr val="tx2"/>
                </a:solidFill>
              </a:defRPr>
            </a:lvl1pPr>
            <a:lvl2pPr marL="342887" indent="0" algn="ctr">
              <a:buNone/>
            </a:lvl2pPr>
            <a:lvl3pPr marL="685773" indent="0" algn="ctr">
              <a:buNone/>
            </a:lvl3pPr>
            <a:lvl4pPr marL="1028659" indent="0" algn="ctr">
              <a:buNone/>
            </a:lvl4pPr>
            <a:lvl5pPr marL="1371545" indent="0" algn="ctr">
              <a:buNone/>
            </a:lvl5pPr>
            <a:lvl6pPr marL="1714432" indent="0" algn="ctr">
              <a:buNone/>
            </a:lvl6pPr>
            <a:lvl7pPr marL="2057318" indent="0" algn="ctr">
              <a:buNone/>
            </a:lvl7pPr>
            <a:lvl8pPr marL="2400204" indent="0" algn="ctr">
              <a:buNone/>
            </a:lvl8pPr>
            <a:lvl9pPr marL="2743091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4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324EA66-A4B0-4224-BBA5-0FC2F209177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315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99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6"/>
            <a:ext cx="457200" cy="441325"/>
          </a:xfrm>
        </p:spPr>
        <p:txBody>
          <a:bodyPr/>
          <a:lstStyle/>
          <a:p>
            <a:pPr>
              <a:defRPr/>
            </a:pPr>
            <a:fld id="{93C7882D-F441-4648-9C50-5072DBCC9D63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22853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200" b="1" cap="all" spc="188" baseline="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61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4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CCD3217-9817-4872-9FE9-0F35C26178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2940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B4160-BEC7-480B-A15C-B98BAAC7102F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4" y="1575653"/>
            <a:ext cx="8921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38852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650" b="1" dirty="0" smtClean="0">
                <a:solidFill>
                  <a:srgbClr val="FFFFFF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4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650" b="1"/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5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20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3CBA4568-AD52-4CB0-B47B-D5416F603BEE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440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4"/>
            <a:ext cx="457200" cy="441325"/>
          </a:xfrm>
        </p:spPr>
        <p:txBody>
          <a:bodyPr/>
          <a:lstStyle/>
          <a:p>
            <a:pPr>
              <a:defRPr/>
            </a:pPr>
            <a:fld id="{5C3A58B9-6C5A-4C4F-A301-4FE9DEEE0E0C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69739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61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E58A79-823B-415C-B96A-0DA0927A0E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477568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3"/>
            <a:ext cx="23622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4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354E199E-4E0B-4BED-BDCE-D9E19E8FE615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90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33310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42"/>
            <a:ext cx="457200" cy="441325"/>
          </a:xfrm>
        </p:spPr>
        <p:txBody>
          <a:bodyPr/>
          <a:lstStyle/>
          <a:p>
            <a:pPr>
              <a:defRPr/>
            </a:pPr>
            <a:fld id="{8EDA00BC-A223-4E39-95EA-BB8A711B6D1F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750"/>
              </a:spcAft>
              <a:buFontTx/>
              <a:buNone/>
              <a:defRPr sz="1200">
                <a:solidFill>
                  <a:srgbClr val="FFFFFF"/>
                </a:solidFill>
              </a:defRPr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90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750733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F4BBC-A50D-472A-9282-574269CBB30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26524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61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6"/>
            <a:ext cx="457200" cy="441325"/>
          </a:xfrm>
        </p:spPr>
        <p:txBody>
          <a:bodyPr/>
          <a:lstStyle/>
          <a:p>
            <a:pPr>
              <a:defRPr/>
            </a:pPr>
            <a:fld id="{9C18D745-C84B-4C60-BCFC-BE659AADC1CC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6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8319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0354" y="1036639"/>
            <a:ext cx="457200" cy="441325"/>
          </a:xfrm>
        </p:spPr>
        <p:txBody>
          <a:bodyPr>
            <a:normAutofit/>
          </a:bodyPr>
          <a:lstStyle>
            <a:lvl1pPr>
              <a:defRPr sz="917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380951" indent="-190476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571426" indent="-158729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40062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2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67641" y="158496"/>
            <a:ext cx="8833104" cy="213969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30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000" b="1" cap="all" spc="156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6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267202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60"/>
            <a:ext cx="4572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4" y="533400"/>
            <a:ext cx="7772400" cy="1524000"/>
          </a:xfrm>
        </p:spPr>
        <p:txBody>
          <a:bodyPr anchor="b"/>
          <a:lstStyle>
            <a:lvl1pPr algn="ctr">
              <a:buNone/>
              <a:defRPr sz="2625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8238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9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89949627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1527" b="1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694"/>
              </a:spcAft>
              <a:buNone/>
              <a:defRPr sz="1111">
                <a:solidFill>
                  <a:schemeClr val="tx1"/>
                </a:solidFill>
              </a:defRPr>
            </a:lvl1pPr>
            <a:lvl2pPr>
              <a:buNone/>
              <a:defRPr sz="833"/>
            </a:lvl2pPr>
            <a:lvl3pPr>
              <a:buNone/>
              <a:defRPr sz="694"/>
            </a:lvl3pPr>
            <a:lvl4pPr>
              <a:buNone/>
              <a:defRPr sz="625"/>
            </a:lvl4pPr>
            <a:lvl5pPr>
              <a:buNone/>
              <a:defRPr sz="62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075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4" y="1575653"/>
            <a:ext cx="8921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1736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1736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14525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4" y="1715290"/>
            <a:ext cx="8187094" cy="456254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715040"/>
            <a:ext cx="5274000" cy="17496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3555189"/>
            <a:ext cx="5266800" cy="482803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6462720"/>
            <a:ext cx="464400" cy="164160"/>
          </a:xfrm>
        </p:spPr>
        <p:txBody>
          <a:bodyPr vert="horz" lIns="91440" tIns="45720" rIns="91440" bIns="45720" rtlCol="0" anchor="ctr"/>
          <a:lstStyle>
            <a:lvl1pPr marL="0" algn="r" defTabSz="82294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20" y="280875"/>
            <a:ext cx="5282773" cy="978868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6033954"/>
            <a:ext cx="5266944" cy="240067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3854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575623"/>
            <a:ext cx="8186400" cy="987552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893225"/>
            <a:ext cx="8186400" cy="3825587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5718811"/>
            <a:ext cx="914400" cy="109728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16" indent="-139316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/>
          </a:p>
        </p:txBody>
      </p:sp>
    </p:spTree>
    <p:extLst>
      <p:ext uri="{BB962C8B-B14F-4D97-AF65-F5344CB8AC3E}">
        <p14:creationId xmlns:p14="http://schemas.microsoft.com/office/powerpoint/2010/main" val="4255330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6" y="4143768"/>
            <a:ext cx="6603135" cy="17337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4" y="1685399"/>
            <a:ext cx="2824582" cy="236782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715039"/>
            <a:ext cx="5274000" cy="17496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4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3555189"/>
            <a:ext cx="5266800" cy="482803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4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4142794"/>
            <a:ext cx="1497820" cy="1733703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5" y="6038595"/>
            <a:ext cx="1540097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674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577218"/>
            <a:ext cx="8186400" cy="988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821283"/>
            <a:ext cx="4038600" cy="3897529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821283"/>
            <a:ext cx="4038600" cy="3897529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8805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574443"/>
            <a:ext cx="8186400" cy="98459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13561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70" indent="0">
              <a:buNone/>
              <a:defRPr sz="1800" b="1"/>
            </a:lvl2pPr>
            <a:lvl3pPr marL="822940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8" indent="0">
              <a:buNone/>
              <a:defRPr sz="1440" b="1"/>
            </a:lvl6pPr>
            <a:lvl7pPr marL="2468819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453323"/>
            <a:ext cx="4040188" cy="326548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8" y="1813561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70" indent="0">
              <a:buNone/>
              <a:defRPr sz="1800" b="1"/>
            </a:lvl2pPr>
            <a:lvl3pPr marL="822940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8" indent="0">
              <a:buNone/>
              <a:defRPr sz="1440" b="1"/>
            </a:lvl6pPr>
            <a:lvl7pPr marL="2468819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8" y="2453323"/>
            <a:ext cx="4041775" cy="326548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3148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577217"/>
            <a:ext cx="8186400" cy="98373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57037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867693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572634"/>
            <a:ext cx="8186400" cy="986409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805281"/>
            <a:ext cx="5097600" cy="3913531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805281"/>
            <a:ext cx="2988000" cy="3913531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70" indent="0">
              <a:buNone/>
              <a:defRPr sz="1080"/>
            </a:lvl2pPr>
            <a:lvl3pPr marL="822940" indent="0">
              <a:buNone/>
              <a:defRPr sz="900"/>
            </a:lvl3pPr>
            <a:lvl4pPr marL="1234409" indent="0">
              <a:buNone/>
              <a:defRPr sz="810"/>
            </a:lvl4pPr>
            <a:lvl5pPr marL="1645879" indent="0">
              <a:buNone/>
              <a:defRPr sz="810"/>
            </a:lvl5pPr>
            <a:lvl6pPr marL="2057348" indent="0">
              <a:buNone/>
              <a:defRPr sz="810"/>
            </a:lvl6pPr>
            <a:lvl7pPr marL="2468819" indent="0">
              <a:buNone/>
              <a:defRPr sz="810"/>
            </a:lvl7pPr>
            <a:lvl8pPr marL="2880288" indent="0">
              <a:buNone/>
              <a:defRPr sz="810"/>
            </a:lvl8pPr>
            <a:lvl9pPr marL="3291758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95610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587673"/>
            <a:ext cx="8186400" cy="987540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2478093"/>
            <a:ext cx="8179200" cy="3240717"/>
          </a:xfrm>
        </p:spPr>
        <p:txBody>
          <a:bodyPr/>
          <a:lstStyle>
            <a:lvl1pPr marL="0" indent="0">
              <a:buNone/>
              <a:defRPr sz="1503"/>
            </a:lvl1pPr>
            <a:lvl2pPr marL="411470" indent="0">
              <a:buNone/>
              <a:defRPr sz="2520"/>
            </a:lvl2pPr>
            <a:lvl3pPr marL="822940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8" indent="0">
              <a:buNone/>
              <a:defRPr sz="1800"/>
            </a:lvl6pPr>
            <a:lvl7pPr marL="2468819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821452"/>
            <a:ext cx="8179200" cy="6264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70" indent="0">
              <a:buNone/>
              <a:defRPr sz="1080"/>
            </a:lvl2pPr>
            <a:lvl3pPr marL="822940" indent="0">
              <a:buNone/>
              <a:defRPr sz="900"/>
            </a:lvl3pPr>
            <a:lvl4pPr marL="1234409" indent="0">
              <a:buNone/>
              <a:defRPr sz="810"/>
            </a:lvl4pPr>
            <a:lvl5pPr marL="1645879" indent="0">
              <a:buNone/>
              <a:defRPr sz="810"/>
            </a:lvl5pPr>
            <a:lvl6pPr marL="2057348" indent="0">
              <a:buNone/>
              <a:defRPr sz="810"/>
            </a:lvl6pPr>
            <a:lvl7pPr marL="2468819" indent="0">
              <a:buNone/>
              <a:defRPr sz="810"/>
            </a:lvl7pPr>
            <a:lvl8pPr marL="2880288" indent="0">
              <a:buNone/>
              <a:defRPr sz="810"/>
            </a:lvl8pPr>
            <a:lvl9pPr marL="3291758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3180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51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fld id="{3D0783CF-17E4-4B11-9F24-59E268539695}" type="datetime1">
              <a:rPr lang="fr-FR" smtClean="0"/>
              <a:t>21/09/2026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4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5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3268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1" indent="-2285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73" indent="-19049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19049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954" indent="-19049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45" indent="-15239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136" indent="-15239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530" indent="-15239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121" indent="-15239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4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5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04760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1" indent="-2285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73" indent="-19049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19049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954" indent="-19049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45" indent="-15239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136" indent="-15239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530" indent="-15239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121" indent="-15239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9144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2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9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2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4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4267202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8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4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4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31247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1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80" indent="-22858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1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indent="-22858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39" indent="-19048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17" indent="-19048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898" indent="-19048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476" indent="-152387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056" indent="-152387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443" indent="-152387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022" indent="-152387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8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2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7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9144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2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9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2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4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4267202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8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4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4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5364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25" r:id="rId3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06" indent="-27430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13" indent="-27430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19" indent="-228589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25" indent="-228589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532" indent="-228589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838" indent="-182871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144" indent="-182871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015" indent="-182871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322" indent="-182871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4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5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t>‹#›</a:t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32457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90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4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9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7F8CD8-CA4F-4FC0-B2CB-CA3707B35CC1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9260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475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05732" indent="-205732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411464" indent="-205732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650" kern="1200">
          <a:solidFill>
            <a:schemeClr val="tx2"/>
          </a:solidFill>
          <a:latin typeface="+mn-lt"/>
          <a:ea typeface="+mn-ea"/>
          <a:cs typeface="+mn-cs"/>
        </a:defRPr>
      </a:lvl2pPr>
      <a:lvl3pPr marL="617196" indent="-171443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27" indent="-171443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1028659" indent="-171443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234391" indent="-137155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22" indent="-137155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77277" indent="-137155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783009" indent="-137155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05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0"/>
            <a:ext cx="9144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2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9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7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2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7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4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4267202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85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0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7F8CD8-CA4F-4FC0-B2CB-CA3707B35CC1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4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79477" y="1544364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lang="en-US"/>
              <a:t>Cliquez pour modifier les styles de texte principaux</a:t>
            </a:r>
          </a:p>
          <a:p>
            <a:pPr lvl="1" eaLnBrk="1" latinLnBrk="0" hangingPunct="1"/>
            <a:r>
              <a:rPr lang="en-US"/>
              <a:t>Deuxième niveau</a:t>
            </a:r>
          </a:p>
          <a:p>
            <a:pPr lvl="2" eaLnBrk="1" latinLnBrk="0" hangingPunct="1"/>
            <a:r>
              <a:rPr lang="en-US"/>
              <a:t>Troisième niveau</a:t>
            </a:r>
          </a:p>
          <a:p>
            <a:pPr lvl="3" eaLnBrk="1" latinLnBrk="0" hangingPunct="1"/>
            <a:r>
              <a:rPr lang="en-US"/>
              <a:t>Quatrième niveau</a:t>
            </a:r>
          </a:p>
          <a:p>
            <a:pPr lvl="4" eaLnBrk="1" latinLnBrk="0" hangingPunct="1"/>
            <a:r>
              <a:rPr lang="en-US"/>
              <a:t>Cinquième niveau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1776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292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190476" indent="-19047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1pPr>
      <a:lvl2pPr marL="380951" indent="-19047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2pPr>
      <a:lvl3pPr marL="571426" indent="-158729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3pPr>
      <a:lvl4pPr marL="761900" indent="-158729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4pPr>
      <a:lvl5pPr marL="952377" indent="-158729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lang="en-US" sz="1876" kern="1200" noProof="0" dirty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5pPr>
      <a:lvl6pPr marL="1142851" indent="-12698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333327" indent="-12698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111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460311" indent="-12698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111" kern="1200">
          <a:solidFill>
            <a:schemeClr val="tx1"/>
          </a:solidFill>
          <a:latin typeface="+mn-lt"/>
          <a:ea typeface="+mn-ea"/>
          <a:cs typeface="+mn-cs"/>
        </a:defRPr>
      </a:lvl8pPr>
      <a:lvl9pPr marL="1650786" indent="-12698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972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174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349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952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2698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5872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9047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2222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5396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582232"/>
            <a:ext cx="8186400" cy="99298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821453"/>
            <a:ext cx="8186400" cy="389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de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6461995"/>
            <a:ext cx="21336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t>21/09/2026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461995"/>
            <a:ext cx="28956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6461995"/>
            <a:ext cx="4644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5" y="6038595"/>
            <a:ext cx="1540097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2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</p:sldLayoutIdLst>
  <p:txStyles>
    <p:titleStyle>
      <a:lvl1pPr algn="l" defTabSz="82294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16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30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43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17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30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4" indent="-205735" algn="l" defTabSz="82294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4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4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2" indent="-205735" algn="l" defTabSz="82294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4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9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yahoo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9" Type="http://schemas.openxmlformats.org/officeDocument/2006/relationships/image" Target="../media/image80.png"/><Relationship Id="rId21" Type="http://schemas.openxmlformats.org/officeDocument/2006/relationships/tags" Target="../tags/tag26.xml"/><Relationship Id="rId34" Type="http://schemas.openxmlformats.org/officeDocument/2006/relationships/tags" Target="../tags/tag39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131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0" Type="http://schemas.openxmlformats.org/officeDocument/2006/relationships/tags" Target="../tags/tag25.xml"/><Relationship Id="rId29" Type="http://schemas.openxmlformats.org/officeDocument/2006/relationships/tags" Target="../tags/tag34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image" Target="../media/image15.png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notesSlide" Target="../notesSlides/notesSlide6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tags" Target="../tags/tag36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slideLayout" Target="../slideLayouts/slideLayout27.xml"/><Relationship Id="rId8" Type="http://schemas.openxmlformats.org/officeDocument/2006/relationships/tags" Target="../tags/tag13.xml"/><Relationship Id="rId3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fool.com/investing/stock-market/types-of-stocks/esg-investing/esg-rating/" TargetMode="Externa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autorite.qc.ca/grand-public/investissements/investissement-responsable-ou-durable" TargetMode="External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EC294168-EDF8-4A56-8236-C8C76B4B0246}" type="slidenum">
              <a:rPr lang="fr-CA">
                <a:solidFill>
                  <a:prstClr val="black"/>
                </a:solidFill>
              </a:rPr>
              <a:t>1</a:t>
            </a:fld>
            <a:endParaRPr lang="fr-CA" dirty="0">
              <a:solidFill>
                <a:prstClr val="black"/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85800" y="279337"/>
            <a:ext cx="7772400" cy="1524000"/>
          </a:xfrm>
        </p:spPr>
        <p:txBody>
          <a:bodyPr>
            <a:normAutofit/>
          </a:bodyPr>
          <a:lstStyle/>
          <a:p>
            <a:r>
              <a:rPr lang="en-CA" sz="4000" noProof="0" dirty="0">
                <a:solidFill>
                  <a:schemeClr val="tx1"/>
                </a:solidFill>
              </a:rPr>
              <a:t>10200</a:t>
            </a:r>
            <a:br>
              <a:rPr lang="en-CA" sz="4000" noProof="0" dirty="0">
                <a:solidFill>
                  <a:schemeClr val="tx1"/>
                </a:solidFill>
              </a:rPr>
            </a:br>
            <a:r>
              <a:rPr lang="en-CA" sz="4000" b="1" noProof="0" dirty="0">
                <a:solidFill>
                  <a:schemeClr val="tx1"/>
                </a:solidFill>
              </a:rPr>
              <a:t>Finance</a:t>
            </a: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79BBBB01-5B6C-3428-08A3-23C6C0FD8DF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62869" y="4719325"/>
            <a:ext cx="8568952" cy="2000879"/>
          </a:xfrm>
          <a:prstGeom prst="rect">
            <a:avLst/>
          </a:prstGeom>
        </p:spPr>
        <p:txBody>
          <a:bodyPr vert="horz" anchor="b">
            <a:normAutofit fontScale="85000" lnSpcReduction="2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sz="2000" dirty="0">
              <a:solidFill>
                <a:schemeClr val="bg1"/>
              </a:solidFill>
              <a:latin typeface="Georgia"/>
            </a:endParaRPr>
          </a:p>
          <a:p>
            <a:endParaRPr lang="en-CA" sz="2000" dirty="0">
              <a:solidFill>
                <a:schemeClr val="bg1"/>
              </a:solidFill>
              <a:latin typeface="Georgia"/>
            </a:endParaRPr>
          </a:p>
          <a:p>
            <a:endParaRPr lang="en-CA" sz="2000" dirty="0">
              <a:solidFill>
                <a:schemeClr val="bg1"/>
              </a:solidFill>
              <a:latin typeface="Georgia"/>
            </a:endParaRPr>
          </a:p>
          <a:p>
            <a:endParaRPr lang="en-CA" sz="2000" dirty="0">
              <a:solidFill>
                <a:schemeClr val="bg1"/>
              </a:solidFill>
              <a:latin typeface="Georgia"/>
            </a:endParaRPr>
          </a:p>
          <a:p>
            <a:endParaRPr lang="en-CA" sz="2000" dirty="0">
              <a:solidFill>
                <a:schemeClr val="bg1"/>
              </a:solidFill>
              <a:latin typeface="Georgia"/>
            </a:endParaRPr>
          </a:p>
          <a:p>
            <a:endParaRPr lang="en-CA" sz="2000" dirty="0">
              <a:solidFill>
                <a:schemeClr val="bg1"/>
              </a:solidFill>
              <a:latin typeface="Georgia"/>
            </a:endParaRPr>
          </a:p>
          <a:p>
            <a:endParaRPr lang="en-CA" sz="2000" dirty="0">
              <a:solidFill>
                <a:schemeClr val="bg1"/>
              </a:solidFill>
              <a:latin typeface="Georgia"/>
            </a:endParaRPr>
          </a:p>
          <a:p>
            <a:endParaRPr lang="en-CA" sz="1800" dirty="0">
              <a:solidFill>
                <a:schemeClr val="bg1"/>
              </a:solidFill>
              <a:latin typeface="Georgia"/>
            </a:endParaRPr>
          </a:p>
          <a:p>
            <a:r>
              <a:rPr lang="en-CA" sz="1900" dirty="0">
                <a:solidFill>
                  <a:schemeClr val="bg1"/>
                </a:solidFill>
                <a:latin typeface="Georgia"/>
              </a:rPr>
              <a:t>© Mélanie Harris 2019 </a:t>
            </a:r>
            <a:r>
              <a:rPr lang="en-CA" sz="1900" dirty="0">
                <a:solidFill>
                  <a:schemeClr val="bg1"/>
                </a:solidFill>
                <a:latin typeface="Ink Free" panose="03080402000500000000" pitchFamily="66" charset="0"/>
              </a:rPr>
              <a:t> (mis à jour en 2025)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CEF0A-4CF0-72D8-5BFD-55B004412DB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62869" y="3478231"/>
            <a:ext cx="348905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22920">
              <a:defRPr/>
            </a:pPr>
            <a:r>
              <a:rPr lang="en-US" sz="2800" b="1" u="sng" dirty="0">
                <a:solidFill>
                  <a:prstClr val="black"/>
                </a:solidFill>
                <a:latin typeface="+mj-lt"/>
              </a:rPr>
              <a:t>Séance 4 </a:t>
            </a:r>
          </a:p>
          <a:p>
            <a:pPr defTabSz="822920">
              <a:defRPr/>
            </a:pPr>
            <a:endParaRPr lang="en-US" sz="2800" b="1" dirty="0">
              <a:solidFill>
                <a:prstClr val="black"/>
              </a:solidFill>
              <a:latin typeface="+mj-lt"/>
            </a:endParaRPr>
          </a:p>
          <a:p>
            <a:pPr defTabSz="822920">
              <a:defRPr/>
            </a:pPr>
            <a:r>
              <a:rPr lang="en-US" sz="2400" b="1" dirty="0">
                <a:solidFill>
                  <a:prstClr val="black"/>
                </a:solidFill>
                <a:latin typeface="+mj-lt"/>
              </a:rPr>
              <a:t>Évaluation des actions</a:t>
            </a:r>
          </a:p>
        </p:txBody>
      </p:sp>
      <p:pic>
        <p:nvPicPr>
          <p:cNvPr id="7" name="Espace réservé du contenu 5">
            <a:extLst>
              <a:ext uri="{FF2B5EF4-FFF2-40B4-BE49-F238E27FC236}">
                <a16:creationId xmlns:a16="http://schemas.microsoft.com/office/drawing/2014/main" id="{D85F7EBD-DBEB-8885-B674-8A8A7EDB4862}"/>
              </a:ext>
            </a:extLst>
          </p:cNvPr>
          <p:cNvPicPr>
            <a:picLocks noGrp="1" noChangeAspect="1"/>
          </p:cNvPicPr>
          <p:nvPr>
            <p:custDataLst>
              <p:tags r:id="rId5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44" y="2564904"/>
            <a:ext cx="3240361" cy="1050106"/>
          </a:xfrm>
          <a:prstGeom prst="rect">
            <a:avLst/>
          </a:prstGeom>
        </p:spPr>
      </p:pic>
      <p:pic>
        <p:nvPicPr>
          <p:cNvPr id="2" name="Picture 1" descr="A paper with a pen and a piece of paper with a pie chart and a graph&#10;&#10;AI-generated content may be incorrect.">
            <a:extLst>
              <a:ext uri="{FF2B5EF4-FFF2-40B4-BE49-F238E27FC236}">
                <a16:creationId xmlns:a16="http://schemas.microsoft.com/office/drawing/2014/main" id="{62F9F0B0-42E3-3DD2-A0BB-E24E4CAB0C4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026" y="2853515"/>
            <a:ext cx="4512128" cy="29422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28575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Qu'avons-nous vu dans </a:t>
            </a:r>
            <a:r>
              <a:rPr lang="fr-CA" b="1" u="sng" dirty="0">
                <a:solidFill>
                  <a:srgbClr val="FF0000"/>
                </a:solidFill>
              </a:rPr>
              <a:t>la séance 4 </a:t>
            </a:r>
            <a:r>
              <a:rPr lang="fr-CA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5206352" cy="4854280"/>
          </a:xfrm>
        </p:spPr>
        <p:txBody>
          <a:bodyPr/>
          <a:lstStyle/>
          <a:p>
            <a:pPr marL="0" indent="0">
              <a:buNone/>
            </a:pPr>
            <a:r>
              <a:rPr lang="fr-CA" b="1" dirty="0"/>
              <a:t>Capsule 1 </a:t>
            </a:r>
            <a:r>
              <a:rPr lang="fr-CA" dirty="0"/>
              <a:t>: Caractéristiques des actions ordinaires et privilégiées</a:t>
            </a:r>
          </a:p>
          <a:p>
            <a:pPr marL="0" indent="0">
              <a:buNone/>
            </a:pPr>
            <a:endParaRPr lang="fr-CA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CA" b="1" dirty="0"/>
              <a:t>Capsule 2 &amp; 3 : </a:t>
            </a:r>
            <a:r>
              <a:rPr lang="fr-CA" dirty="0"/>
              <a:t>Évaluation des actions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A4769-2422-9884-C0D1-ADED1DBC4D80}"/>
              </a:ext>
            </a:extLst>
          </p:cNvPr>
          <p:cNvSpPr txBox="1"/>
          <p:nvPr/>
        </p:nvSpPr>
        <p:spPr>
          <a:xfrm>
            <a:off x="755576" y="5407012"/>
            <a:ext cx="8534400" cy="95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US" sz="2700" b="1" dirty="0">
                <a:solidFill>
                  <a:prstClr val="black"/>
                </a:solidFill>
                <a:latin typeface="Georgia"/>
              </a:rPr>
              <a:t>Lecture : </a:t>
            </a:r>
            <a:r>
              <a:rPr lang="en-US" sz="2700" dirty="0">
                <a:solidFill>
                  <a:prstClr val="black"/>
                </a:solidFill>
                <a:latin typeface="Georgia"/>
              </a:rPr>
              <a:t>Chapitre 8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US" sz="2400" dirty="0">
                <a:solidFill>
                  <a:prstClr val="black"/>
                </a:solidFill>
                <a:latin typeface="Ink Free" panose="03080402000500000000" pitchFamily="66" charset="0"/>
              </a:rPr>
              <a:t>ZC / Matériel pédagogique / « Importance de chaque section 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F9AEC-3B8C-9EE1-318D-E6A14625EA3E}"/>
              </a:ext>
            </a:extLst>
          </p:cNvPr>
          <p:cNvSpPr txBox="1"/>
          <p:nvPr/>
        </p:nvSpPr>
        <p:spPr>
          <a:xfrm>
            <a:off x="301753" y="4255944"/>
            <a:ext cx="8570976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latin typeface="Ink Free" panose="03080402000500000000" pitchFamily="66" charset="0"/>
              </a:rPr>
              <a:t>« Le marché boursier regorge d'individus qui connaissent le prix de tout, mais la valeur de rien. » </a:t>
            </a:r>
          </a:p>
          <a:p>
            <a:r>
              <a:rPr lang="en-US" sz="2000" dirty="0">
                <a:latin typeface="Ink Free" panose="03080402000500000000" pitchFamily="66" charset="0"/>
              </a:rPr>
              <a:t>– Philip Fisher</a:t>
            </a:r>
            <a:endParaRPr lang="fr-CA" sz="2000" dirty="0">
              <a:latin typeface="Ink Free" panose="03080402000500000000" pitchFamily="66" charset="0"/>
            </a:endParaRPr>
          </a:p>
        </p:txBody>
      </p:sp>
      <p:pic>
        <p:nvPicPr>
          <p:cNvPr id="1028" name="Picture 4" descr="Let's Learn Stock Valuation With Various Methods - Daniel">
            <a:extLst>
              <a:ext uri="{FF2B5EF4-FFF2-40B4-BE49-F238E27FC236}">
                <a16:creationId xmlns:a16="http://schemas.microsoft.com/office/drawing/2014/main" id="{D08D9A1C-67AE-9018-B2F2-A495454A2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593" y="1772816"/>
            <a:ext cx="2815645" cy="18722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" name="Picture 4" descr="Book ">
            <a:extLst>
              <a:ext uri="{FF2B5EF4-FFF2-40B4-BE49-F238E27FC236}">
                <a16:creationId xmlns:a16="http://schemas.microsoft.com/office/drawing/2014/main" id="{05028F21-A8D4-1AD3-7FCE-380ECE9F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1" y="5517109"/>
            <a:ext cx="554739" cy="55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90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Lire une cote d’action ordinaire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3"/>
              </a:rPr>
              <a:t>https://finance.yahoo.com/</a:t>
            </a:r>
            <a:endParaRPr lang="fr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EB9AF4-E6D2-4A9F-8D66-0F9A86975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12" y="1966662"/>
            <a:ext cx="8647952" cy="46718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F8342D-F56C-0840-6D10-11DE326CB167}"/>
              </a:ext>
            </a:extLst>
          </p:cNvPr>
          <p:cNvSpPr txBox="1"/>
          <p:nvPr/>
        </p:nvSpPr>
        <p:spPr>
          <a:xfrm>
            <a:off x="5436096" y="1465741"/>
            <a:ext cx="295232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Ink Free" panose="03080402000500000000" pitchFamily="66" charset="0"/>
              </a:rPr>
              <a:t>Non soumis à examen</a:t>
            </a:r>
            <a:endParaRPr lang="fr-CA" sz="2400" dirty="0"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43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9B5E3E-17DA-5537-13FA-D49EF6B7334B}"/>
              </a:ext>
            </a:extLst>
          </p:cNvPr>
          <p:cNvSpPr/>
          <p:nvPr/>
        </p:nvSpPr>
        <p:spPr>
          <a:xfrm>
            <a:off x="215528" y="4653136"/>
            <a:ext cx="8712944" cy="16534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FF0000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endParaRPr lang="fr-CA" sz="2000" dirty="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Évaluation des actions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102352"/>
          </a:xfrm>
        </p:spPr>
        <p:txBody>
          <a:bodyPr>
            <a:normAutofit fontScale="85000" lnSpcReduction="20000"/>
          </a:bodyPr>
          <a:lstStyle/>
          <a:p>
            <a:r>
              <a:rPr lang="fr-CA" dirty="0"/>
              <a:t>Calcul du prix :</a:t>
            </a:r>
          </a:p>
          <a:p>
            <a:pPr lvl="1"/>
            <a:r>
              <a:rPr lang="en-GB" dirty="0"/>
              <a:t>Le prix d'un titre correspond à la somme de tous les flux </a:t>
            </a:r>
            <a:r>
              <a:rPr lang="en-GB" dirty="0" err="1"/>
              <a:t>monétaires</a:t>
            </a:r>
            <a:r>
              <a:rPr lang="en-GB" dirty="0"/>
              <a:t> </a:t>
            </a:r>
            <a:r>
              <a:rPr lang="en-GB" b="1" dirty="0"/>
              <a:t>futurs actualisés</a:t>
            </a:r>
          </a:p>
          <a:p>
            <a:pPr lvl="1"/>
            <a:r>
              <a:rPr lang="en-GB" dirty="0"/>
              <a:t>Pour les actions : </a:t>
            </a:r>
            <a:r>
              <a:rPr lang="en-GB" b="1" dirty="0"/>
              <a:t>flux </a:t>
            </a:r>
            <a:r>
              <a:rPr lang="en-GB" b="1" dirty="0" err="1"/>
              <a:t>monétaires</a:t>
            </a:r>
            <a:r>
              <a:rPr lang="en-GB" b="1" dirty="0"/>
              <a:t> = dividendes.</a:t>
            </a:r>
          </a:p>
          <a:p>
            <a:endParaRPr lang="fr-CA" dirty="0"/>
          </a:p>
          <a:p>
            <a:r>
              <a:rPr lang="fr-CA" dirty="0" err="1"/>
              <a:t>Quelles </a:t>
            </a:r>
            <a:r>
              <a:rPr lang="fr-CA" dirty="0"/>
              <a:t>sont les variables à </a:t>
            </a:r>
            <a:r>
              <a:rPr lang="fr-CA" dirty="0" err="1"/>
              <a:t>estimer </a:t>
            </a:r>
            <a:r>
              <a:rPr lang="fr-CA" dirty="0"/>
              <a:t>?</a:t>
            </a:r>
          </a:p>
          <a:p>
            <a:pPr lvl="1">
              <a:buClr>
                <a:srgbClr val="C0504D"/>
              </a:buClr>
            </a:pPr>
            <a:r>
              <a:rPr lang="fr-CA" dirty="0">
                <a:solidFill>
                  <a:srgbClr val="1F497D"/>
                </a:solidFill>
              </a:rPr>
              <a:t>Taux de rendement </a:t>
            </a:r>
            <a:r>
              <a:rPr lang="fr-CA" dirty="0" err="1">
                <a:solidFill>
                  <a:srgbClr val="1F497D"/>
                </a:solidFill>
              </a:rPr>
              <a:t>requis </a:t>
            </a:r>
            <a:r>
              <a:rPr lang="fr-CA" dirty="0"/>
              <a:t>(par </a:t>
            </a:r>
            <a:r>
              <a:rPr lang="fr-CA" dirty="0" err="1"/>
              <a:t>l'individu </a:t>
            </a:r>
            <a:r>
              <a:rPr lang="fr-CA" dirty="0"/>
              <a:t>ou le </a:t>
            </a:r>
            <a:r>
              <a:rPr lang="fr-CA" dirty="0" err="1"/>
              <a:t>marché</a:t>
            </a:r>
            <a:r>
              <a:rPr lang="fr-CA" dirty="0"/>
              <a:t>)</a:t>
            </a:r>
          </a:p>
          <a:p>
            <a:pPr lvl="1">
              <a:buClr>
                <a:srgbClr val="C0504D"/>
              </a:buClr>
            </a:pPr>
            <a:r>
              <a:rPr lang="fr-CA" dirty="0" err="1">
                <a:solidFill>
                  <a:srgbClr val="1F497D"/>
                </a:solidFill>
              </a:rPr>
              <a:t>Dividendes</a:t>
            </a:r>
            <a:r>
              <a:rPr lang="fr-CA" dirty="0">
                <a:solidFill>
                  <a:srgbClr val="1F497D"/>
                </a:solidFill>
              </a:rPr>
              <a:t> futurs... à </a:t>
            </a:r>
            <a:r>
              <a:rPr lang="fr-CA" dirty="0" err="1">
                <a:solidFill>
                  <a:srgbClr val="1F497D"/>
                </a:solidFill>
              </a:rPr>
              <a:t>l'infini </a:t>
            </a:r>
            <a:r>
              <a:rPr lang="fr-CA" dirty="0">
                <a:solidFill>
                  <a:srgbClr val="1F497D"/>
                </a:solidFill>
              </a:rPr>
              <a:t>!</a:t>
            </a:r>
          </a:p>
          <a:p>
            <a:endParaRPr lang="fr-CA" dirty="0"/>
          </a:p>
          <a:p>
            <a:r>
              <a:rPr lang="fr-CA" dirty="0" err="1"/>
              <a:t>Problème </a:t>
            </a:r>
            <a:r>
              <a:rPr lang="fr-CA" dirty="0"/>
              <a:t>:</a:t>
            </a:r>
          </a:p>
          <a:p>
            <a:pPr lvl="1"/>
            <a:r>
              <a:rPr lang="fr-CA" dirty="0" err="1"/>
              <a:t>Nous </a:t>
            </a:r>
            <a:r>
              <a:rPr lang="fr-CA" dirty="0"/>
              <a:t>ne connaissons pas les </a:t>
            </a:r>
            <a:r>
              <a:rPr lang="fr-CA" dirty="0" err="1"/>
              <a:t>dividendes qui seront versés </a:t>
            </a:r>
            <a:r>
              <a:rPr lang="fr-CA" dirty="0"/>
              <a:t>à </a:t>
            </a:r>
            <a:r>
              <a:rPr lang="fr-CA" dirty="0" err="1"/>
              <a:t>l'infini </a:t>
            </a:r>
            <a:r>
              <a:rPr lang="fr-CA" dirty="0"/>
              <a:t>!</a:t>
            </a:r>
          </a:p>
          <a:p>
            <a:pPr lvl="1"/>
            <a:r>
              <a:rPr lang="fr-CA" dirty="0"/>
              <a:t>Comment </a:t>
            </a:r>
            <a:r>
              <a:rPr lang="fr-CA" dirty="0" err="1"/>
              <a:t>faire alors </a:t>
            </a:r>
            <a:r>
              <a:rPr lang="fr-CA" dirty="0"/>
              <a:t>? </a:t>
            </a:r>
            <a:r>
              <a:rPr lang="fr-CA" dirty="0" err="1"/>
              <a:t>Nous émettons des </a:t>
            </a:r>
            <a:r>
              <a:rPr lang="fr-CA" b="1" dirty="0" err="1"/>
              <a:t>hypothèses</a:t>
            </a:r>
            <a:r>
              <a:rPr lang="fr-CA" dirty="0"/>
              <a:t>. </a:t>
            </a:r>
            <a:r>
              <a:rPr lang="fr-CA" dirty="0" err="1"/>
              <a:t>Trois </a:t>
            </a:r>
            <a:r>
              <a:rPr lang="fr-CA" dirty="0"/>
              <a:t>scénarios possibles :</a:t>
            </a:r>
          </a:p>
          <a:p>
            <a:pPr marL="868636" lvl="3" indent="0">
              <a:buNone/>
            </a:pPr>
            <a:r>
              <a:rPr lang="fr-CA" b="1" dirty="0"/>
              <a:t>1 : </a:t>
            </a:r>
            <a:r>
              <a:rPr lang="fr-CA" b="1" dirty="0" err="1"/>
              <a:t>Dividendes</a:t>
            </a:r>
            <a:r>
              <a:rPr lang="fr-CA" b="1" dirty="0"/>
              <a:t> constants</a:t>
            </a:r>
          </a:p>
          <a:p>
            <a:pPr marL="868636" lvl="3" indent="0">
              <a:buNone/>
            </a:pPr>
            <a:r>
              <a:rPr lang="en-GB" b="1" dirty="0"/>
              <a:t>2 : Taux de croissance constant des dividendes.</a:t>
            </a:r>
          </a:p>
          <a:p>
            <a:pPr marL="868636" lvl="3" indent="0">
              <a:buNone/>
            </a:pPr>
            <a:r>
              <a:rPr lang="en-GB" b="1" dirty="0"/>
              <a:t>3 : Dividendes avec deux (ou plusieurs) phases de croissance.</a:t>
            </a:r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3710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0AA12A-B142-E858-1D84-919D2269032F}"/>
              </a:ext>
            </a:extLst>
          </p:cNvPr>
          <p:cNvSpPr/>
          <p:nvPr/>
        </p:nvSpPr>
        <p:spPr>
          <a:xfrm>
            <a:off x="191713" y="2636912"/>
            <a:ext cx="8712944" cy="21574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FF0000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endParaRPr lang="fr-CA" sz="2000" dirty="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2 - Taux de croissance constant des dividendes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49356" y="1359027"/>
                <a:ext cx="8503920" cy="527037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fr-CA" sz="1800" dirty="0"/>
                  <a:t>Diagramme temporel :</a:t>
                </a:r>
              </a:p>
              <a:p>
                <a:endParaRPr lang="fr-CA" sz="1800" dirty="0"/>
              </a:p>
              <a:p>
                <a:endParaRPr lang="fr-CA" sz="1800" dirty="0"/>
              </a:p>
              <a:p>
                <a:endParaRPr lang="fr-CA" sz="1800" dirty="0"/>
              </a:p>
              <a:p>
                <a:endParaRPr lang="fr-CA" sz="1800" dirty="0"/>
              </a:p>
              <a:p>
                <a:endParaRPr lang="fr-CA" sz="1800" dirty="0"/>
              </a:p>
              <a:p>
                <a:r>
                  <a:rPr lang="fr-CA" sz="1800" dirty="0"/>
                  <a:t>Modèle Gordon-Shapiro :</a:t>
                </a:r>
              </a:p>
              <a:p>
                <a:pPr marL="0" indent="0">
                  <a:buNone/>
                </a:pPr>
                <a:r>
                  <a:rPr lang="fr-CA" sz="1800" b="1" dirty="0">
                    <a:solidFill>
                      <a:srgbClr val="FF0000"/>
                    </a:solidFill>
                  </a:rPr>
                  <a:t>	</a:t>
                </a:r>
                <a:r>
                  <a:rPr lang="fr-CA" sz="1800" b="1" dirty="0"/>
                  <a:t>P</a:t>
                </a:r>
                <a:r>
                  <a:rPr kumimoji="0" lang="fr-CA" sz="2000" b="1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eorgia"/>
                  </a:rPr>
                  <a:t>rix</a:t>
                </a:r>
                <a:r>
                  <a:rPr kumimoji="0" lang="fr-CA" sz="20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eorgia"/>
                  </a:rPr>
                  <a:t> au temps 0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fr-CA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fr-CA" sz="2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𝐃𝐢𝐯𝐢𝐝𝐞𝐧𝐝𝐞</m:t>
                        </m:r>
                        <m:r>
                          <a:rPr kumimoji="0" lang="fr-CA" sz="2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fr-CA" sz="2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kumimoji="0" lang="fr-CA" sz="2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CA" sz="26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kumimoji="0" lang="fr-CA" sz="26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𝐦</m:t>
                            </m:r>
                          </m:sub>
                        </m:sSub>
                        <m:r>
                          <a:rPr kumimoji="0" lang="fr-CA" sz="2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kumimoji="0" lang="fr-CA" sz="2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𝐠</m:t>
                        </m:r>
                      </m:den>
                    </m:f>
                  </m:oMath>
                </a14:m>
                <a:endParaRPr kumimoji="0" lang="fr-CA" sz="22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eorgi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buFont typeface="Wingdings 2"/>
                  <a:buNone/>
                  <a:tabLst/>
                  <a:defRPr/>
                </a:pPr>
                <a:endParaRPr kumimoji="0" lang="fr-CA" sz="26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eorgi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fr-CA" sz="23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eorgia"/>
                  </a:rPr>
                  <a:t>	</a:t>
                </a:r>
                <a:r>
                  <a:rPr kumimoji="0" lang="fr-CA" sz="20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eorgia"/>
                  </a:rPr>
                  <a:t>Valeur au temps 0 =</a:t>
                </a:r>
                <a:r>
                  <a:rPr kumimoji="0" lang="fr-CA" sz="23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eorgi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fr-CA" sz="2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fr-CA" sz="2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𝐃𝐢𝐯𝐢𝐝𝐞𝐧𝐝𝐞</m:t>
                        </m:r>
                        <m:r>
                          <a:rPr kumimoji="0" lang="fr-CA" sz="2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fr-CA" sz="2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0" lang="fr-CA" sz="24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fr-CA" sz="24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kumimoji="0" lang="fr-CA" sz="2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fr-CA" sz="2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𝐠</m:t>
                        </m:r>
                      </m:den>
                    </m:f>
                  </m:oMath>
                </a14:m>
                <a:endParaRPr kumimoji="0" lang="fr-CA" sz="24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eorgia"/>
                </a:endParaRPr>
              </a:p>
              <a:p>
                <a:pPr marL="0" indent="0">
                  <a:buNone/>
                </a:pPr>
                <a:endParaRPr lang="fr-CA" sz="1800" b="1" dirty="0">
                  <a:solidFill>
                    <a:srgbClr val="FF0000"/>
                  </a:solidFill>
                </a:endParaRPr>
              </a:p>
              <a:p>
                <a:r>
                  <a:rPr lang="fr-CA" sz="1800" dirty="0"/>
                  <a:t>4 conditions pour appliquer ce modèle :</a:t>
                </a:r>
              </a:p>
              <a:p>
                <a:pPr lvl="1"/>
                <a:r>
                  <a:rPr lang="en-GB" sz="1800" dirty="0"/>
                  <a:t>Le dividende n'est pas nul </a:t>
                </a:r>
              </a:p>
              <a:p>
                <a:pPr lvl="1"/>
                <a:r>
                  <a:rPr lang="en-GB" sz="1800" dirty="0"/>
                  <a:t>Les dividendes sont versés à </a:t>
                </a:r>
                <a:r>
                  <a:rPr lang="en-GB" sz="1800" b="1" dirty="0"/>
                  <a:t>l'infini</a:t>
                </a:r>
              </a:p>
              <a:p>
                <a:pPr lvl="1"/>
                <a:r>
                  <a:rPr lang="en-GB" sz="1800" dirty="0"/>
                  <a:t>g est constant</a:t>
                </a:r>
              </a:p>
              <a:p>
                <a:pPr lvl="1"/>
                <a:r>
                  <a:rPr lang="en-GB" sz="1800" dirty="0"/>
                  <a:t>r ou 𝑟</a:t>
                </a:r>
                <a:r>
                  <a:rPr lang="en-GB" sz="1800" baseline="-25000" dirty="0"/>
                  <a:t>𝑚</a:t>
                </a:r>
                <a:r>
                  <a:rPr lang="en-GB" sz="1800" dirty="0"/>
                  <a:t> &gt; g 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49356" y="1359027"/>
                <a:ext cx="8503920" cy="5270373"/>
              </a:xfrm>
              <a:blipFill>
                <a:blip r:embed="rId3"/>
                <a:stretch>
                  <a:fillRect l="-72" t="-138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0" y="828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AB15B2-67FC-F36F-7A46-39106E49E394}"/>
              </a:ext>
            </a:extLst>
          </p:cNvPr>
          <p:cNvSpPr txBox="1"/>
          <p:nvPr/>
        </p:nvSpPr>
        <p:spPr>
          <a:xfrm>
            <a:off x="5580112" y="327511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+mj-lt"/>
              </a:rPr>
              <a:t>𝑟</a:t>
            </a:r>
            <a:r>
              <a:rPr lang="en-GB" sz="1400" baseline="-25000" dirty="0">
                <a:latin typeface="+mj-lt"/>
              </a:rPr>
              <a:t>𝑚</a:t>
            </a:r>
            <a:r>
              <a:rPr lang="en-GB" sz="1400" dirty="0">
                <a:latin typeface="+mj-lt"/>
              </a:rPr>
              <a:t>  </a:t>
            </a:r>
            <a:r>
              <a:rPr lang="en-GB" sz="1400" dirty="0" err="1">
                <a:latin typeface="+mj-lt"/>
              </a:rPr>
              <a:t>est</a:t>
            </a:r>
            <a:r>
              <a:rPr lang="en-GB" sz="1400" dirty="0">
                <a:latin typeface="+mj-lt"/>
              </a:rPr>
              <a:t> le </a:t>
            </a:r>
            <a:r>
              <a:rPr lang="en-GB" sz="1400" dirty="0" err="1">
                <a:latin typeface="+mj-lt"/>
              </a:rPr>
              <a:t>taux</a:t>
            </a:r>
            <a:r>
              <a:rPr lang="en-GB" sz="1400" dirty="0">
                <a:latin typeface="+mj-lt"/>
              </a:rPr>
              <a:t> de </a:t>
            </a:r>
            <a:r>
              <a:rPr lang="en-GB" sz="1400" dirty="0" err="1">
                <a:latin typeface="+mj-lt"/>
              </a:rPr>
              <a:t>rendement</a:t>
            </a:r>
            <a:r>
              <a:rPr lang="en-GB" sz="1400" dirty="0">
                <a:latin typeface="+mj-lt"/>
              </a:rPr>
              <a:t> du </a:t>
            </a:r>
            <a:r>
              <a:rPr lang="en-GB" sz="1400" dirty="0" err="1">
                <a:latin typeface="+mj-lt"/>
              </a:rPr>
              <a:t>marché</a:t>
            </a:r>
            <a:endParaRPr lang="fr-CA" sz="14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01AAA-B425-3346-797D-12CEAC287901}"/>
              </a:ext>
            </a:extLst>
          </p:cNvPr>
          <p:cNvSpPr txBox="1"/>
          <p:nvPr/>
        </p:nvSpPr>
        <p:spPr>
          <a:xfrm>
            <a:off x="5568958" y="419262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+mj-lt"/>
              </a:rPr>
              <a:t>𝑟  </a:t>
            </a:r>
            <a:r>
              <a:rPr lang="en-GB" sz="1400" dirty="0" err="1">
                <a:latin typeface="+mj-lt"/>
              </a:rPr>
              <a:t>est</a:t>
            </a:r>
            <a:r>
              <a:rPr lang="en-GB" sz="1400" dirty="0">
                <a:latin typeface="+mj-lt"/>
              </a:rPr>
              <a:t> le </a:t>
            </a:r>
            <a:r>
              <a:rPr lang="en-GB" sz="1400" dirty="0" err="1">
                <a:latin typeface="+mj-lt"/>
              </a:rPr>
              <a:t>taux</a:t>
            </a:r>
            <a:r>
              <a:rPr lang="en-GB" sz="1400" dirty="0">
                <a:latin typeface="+mj-lt"/>
              </a:rPr>
              <a:t> de </a:t>
            </a:r>
            <a:r>
              <a:rPr lang="en-GB" sz="1400" dirty="0" err="1">
                <a:latin typeface="+mj-lt"/>
              </a:rPr>
              <a:t>rendement</a:t>
            </a:r>
            <a:r>
              <a:rPr lang="en-GB" sz="1400" dirty="0">
                <a:latin typeface="+mj-lt"/>
              </a:rPr>
              <a:t> d’un </a:t>
            </a:r>
            <a:r>
              <a:rPr lang="en-GB" sz="1400" dirty="0" err="1">
                <a:latin typeface="+mj-lt"/>
              </a:rPr>
              <a:t>individu</a:t>
            </a:r>
            <a:endParaRPr lang="fr-CA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9959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Classroom">
            <a:extLst>
              <a:ext uri="{FF2B5EF4-FFF2-40B4-BE49-F238E27FC236}">
                <a16:creationId xmlns:a16="http://schemas.microsoft.com/office/drawing/2014/main" id="{457FF1F8-3291-4C7B-BCF5-57F61894F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3583" y="286094"/>
            <a:ext cx="1024930" cy="102493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7952" y="332656"/>
            <a:ext cx="7538464" cy="758952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0000"/>
                </a:solidFill>
              </a:rPr>
              <a:t>Exemple : action ordinaire et annuité croissante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6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50298" y="1527048"/>
            <a:ext cx="8685854" cy="3558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900" dirty="0"/>
              <a:t>Les actions </a:t>
            </a:r>
            <a:r>
              <a:rPr lang="fr-CA" sz="1900" dirty="0" err="1"/>
              <a:t>d'une société </a:t>
            </a:r>
            <a:r>
              <a:rPr lang="fr-CA" sz="1900" dirty="0"/>
              <a:t>ont versé ce matin un dividende annuel de 1 $. Les analystes estiment que ce dividende devrait </a:t>
            </a:r>
            <a:r>
              <a:rPr lang="fr-CA" sz="1900" dirty="0" err="1"/>
              <a:t>augmenter </a:t>
            </a:r>
            <a:r>
              <a:rPr lang="fr-CA" sz="1900" dirty="0"/>
              <a:t>à un taux </a:t>
            </a:r>
            <a:r>
              <a:rPr lang="fr-CA" sz="1900" dirty="0" err="1"/>
              <a:t>annuel</a:t>
            </a:r>
            <a:r>
              <a:rPr lang="fr-CA" sz="1900" dirty="0"/>
              <a:t> effectif de 10 % au cours des trois prochaines années. La croissance devrait ensuite se stabiliser à un taux annuel effectif de 5 % pour tout l'avenir prévisible. Le marché exige un taux annuel effectif de 14 %.</a:t>
            </a:r>
          </a:p>
          <a:p>
            <a:pPr marL="0" indent="0">
              <a:buNone/>
            </a:pPr>
            <a:endParaRPr lang="fr-CA" sz="1900" dirty="0"/>
          </a:p>
          <a:p>
            <a:pPr marL="0" indent="0">
              <a:buNone/>
            </a:pPr>
            <a:r>
              <a:rPr lang="fr-CA" sz="1900" dirty="0"/>
              <a:t>Quel est le cours de l'action aujourd'hui ? </a:t>
            </a:r>
          </a:p>
          <a:p>
            <a:pPr marL="0" indent="0">
              <a:buNone/>
            </a:pPr>
            <a:r>
              <a:rPr lang="fr-CA" sz="1900" dirty="0">
                <a:solidFill>
                  <a:srgbClr val="339966"/>
                </a:solidFill>
                <a:latin typeface="Bradley Hand ITC" panose="03070402050302030203" pitchFamily="66" charset="0"/>
              </a:rPr>
              <a:t>Remarque : Phase 1</a:t>
            </a:r>
            <a:r>
              <a:rPr lang="fr-CA" sz="1900" dirty="0">
                <a:solidFill>
                  <a:srgbClr val="339966"/>
                </a:solidFill>
                <a:latin typeface="Bradley Hand ITC" panose="03070402050302030203" pitchFamily="66" charset="0"/>
                <a:sym typeface="Wingdings" panose="05000000000000000000" pitchFamily="2" charset="2"/>
              </a:rPr>
              <a:t>  </a:t>
            </a:r>
            <a:r>
              <a:rPr lang="fr-CA" sz="1900" b="1" u="sng" dirty="0">
                <a:solidFill>
                  <a:srgbClr val="339966"/>
                </a:solidFill>
                <a:latin typeface="Bradley Hand ITC" panose="03070402050302030203" pitchFamily="66" charset="0"/>
              </a:rPr>
              <a:t>annuité croissante !</a:t>
            </a:r>
            <a:endParaRPr lang="fr-CA" sz="1900" dirty="0">
              <a:solidFill>
                <a:srgbClr val="339966"/>
              </a:solidFill>
              <a:latin typeface="Bradley Hand ITC" panose="03070402050302030203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38525-8E5E-4D64-8AB5-E036C12644A1}"/>
              </a:ext>
            </a:extLst>
          </p:cNvPr>
          <p:cNvSpPr txBox="1"/>
          <p:nvPr/>
        </p:nvSpPr>
        <p:spPr>
          <a:xfrm>
            <a:off x="168197" y="4973163"/>
            <a:ext cx="8807606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2" algn="ctr"/>
            <a:r>
              <a:rPr lang="fr-CA" dirty="0"/>
              <a:t>📌 </a:t>
            </a:r>
            <a:r>
              <a:rPr lang="en-GB" b="1" dirty="0" err="1">
                <a:latin typeface="+mj-lt"/>
              </a:rPr>
              <a:t>N'incluez</a:t>
            </a:r>
            <a:r>
              <a:rPr lang="en-GB" b="1" dirty="0">
                <a:latin typeface="+mj-lt"/>
              </a:rPr>
              <a:t> jamais </a:t>
            </a:r>
            <a:r>
              <a:rPr lang="en-GB" dirty="0">
                <a:latin typeface="+mj-lt"/>
              </a:rPr>
              <a:t>le « dividende</a:t>
            </a:r>
            <a:r>
              <a:rPr lang="en-GB" b="1" dirty="0">
                <a:latin typeface="+mj-lt"/>
              </a:rPr>
              <a:t> </a:t>
            </a:r>
            <a:r>
              <a:rPr lang="en-GB" b="1" dirty="0" err="1">
                <a:latin typeface="+mj-lt"/>
              </a:rPr>
              <a:t>versé</a:t>
            </a:r>
            <a:r>
              <a:rPr lang="en-GB" b="1" dirty="0">
                <a:latin typeface="+mj-lt"/>
              </a:rPr>
              <a:t> </a:t>
            </a:r>
            <a:r>
              <a:rPr lang="en-GB" b="1" dirty="0" err="1">
                <a:latin typeface="+mj-lt"/>
              </a:rPr>
              <a:t>aujourd’hui</a:t>
            </a:r>
            <a:r>
              <a:rPr lang="en-GB" b="1" dirty="0">
                <a:latin typeface="+mj-lt"/>
              </a:rPr>
              <a:t> </a:t>
            </a:r>
            <a:r>
              <a:rPr lang="en-GB" b="1" dirty="0" err="1">
                <a:latin typeface="+mj-lt"/>
              </a:rPr>
              <a:t>ou</a:t>
            </a:r>
            <a:r>
              <a:rPr lang="en-GB" b="1" dirty="0">
                <a:latin typeface="+mj-lt"/>
              </a:rPr>
              <a:t> </a:t>
            </a:r>
            <a:r>
              <a:rPr lang="en-GB" b="1" dirty="0" err="1">
                <a:latin typeface="+mj-lt"/>
              </a:rPr>
              <a:t>ce</a:t>
            </a:r>
            <a:r>
              <a:rPr lang="en-GB" b="1" dirty="0">
                <a:latin typeface="+mj-lt"/>
              </a:rPr>
              <a:t> matin </a:t>
            </a:r>
            <a:r>
              <a:rPr lang="en-GB" dirty="0">
                <a:latin typeface="+mj-lt"/>
              </a:rPr>
              <a:t>» dans la valeur actuelle calculée aujourd'hui. </a:t>
            </a:r>
            <a:r>
              <a:rPr lang="en-GB" sz="1600" dirty="0">
                <a:latin typeface="Ink Free" panose="03080402000500000000" pitchFamily="66" charset="0"/>
              </a:rPr>
              <a:t>Ce dividende appartient à l'investisseur précédent. Si vous êtes un acheteur, le vendeur conservera ce dividende avant de vous vendre l'action. Par conséquent, le dividende versé </a:t>
            </a:r>
            <a:r>
              <a:rPr lang="en-GB" sz="1600" u="sng" dirty="0">
                <a:latin typeface="Ink Free" panose="03080402000500000000" pitchFamily="66" charset="0"/>
              </a:rPr>
              <a:t>aujourd'hui ne doit pas être inclus dans le calcul du prix. </a:t>
            </a:r>
            <a:endParaRPr lang="en-GB" u="sng" dirty="0">
              <a:latin typeface="Ink Free" panose="03080402000500000000" pitchFamily="66" charset="0"/>
            </a:endParaRPr>
          </a:p>
        </p:txBody>
      </p:sp>
      <p:pic>
        <p:nvPicPr>
          <p:cNvPr id="9" name="Picture 2" descr="Important ">
            <a:extLst>
              <a:ext uri="{FF2B5EF4-FFF2-40B4-BE49-F238E27FC236}">
                <a16:creationId xmlns:a16="http://schemas.microsoft.com/office/drawing/2014/main" id="{622F175A-1440-C410-81B9-2282B62DB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30" y="5158038"/>
            <a:ext cx="1015244" cy="101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983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CF1B004-2762-405C-B1C0-A0E05F8B2E83}"/>
              </a:ext>
            </a:extLst>
          </p:cNvPr>
          <p:cNvSpPr/>
          <p:nvPr/>
        </p:nvSpPr>
        <p:spPr>
          <a:xfrm>
            <a:off x="1015227" y="4789289"/>
            <a:ext cx="4624422" cy="15200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088" y="282224"/>
            <a:ext cx="8534400" cy="758952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chemeClr val="accent3">
                    <a:lumMod val="75000"/>
                  </a:schemeClr>
                </a:solidFill>
              </a:rPr>
              <a:t> Cas </a:t>
            </a:r>
            <a:r>
              <a:rPr lang="fr-CA" b="1" dirty="0">
                <a:solidFill>
                  <a:schemeClr val="accent3">
                    <a:lumMod val="75000"/>
                  </a:schemeClr>
                </a:solidFill>
              </a:rPr>
              <a:t>particulier</a:t>
            </a:r>
            <a:r>
              <a:rPr lang="fr-CA" dirty="0">
                <a:solidFill>
                  <a:schemeClr val="accent3">
                    <a:lumMod val="75000"/>
                  </a:schemeClr>
                </a:solidFill>
              </a:rPr>
              <a:t> : annuité croissante</a:t>
            </a:r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0443A9-7CF2-4AF6-A108-271190AEB83F}" type="slidenum">
              <a:rPr kumimoji="0" lang="fr-CA" sz="1600" b="0" i="0" u="none" strike="noStrike" kern="1200" cap="none" spc="0" normalizeH="0" baseline="0" noProof="0" smtClean="0">
                <a:ln>
                  <a:noFill/>
                </a:ln>
                <a:solidFill>
                  <a:srgbClr val="8CADAE">
                    <a:shade val="75000"/>
                  </a:srgb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7</a:t>
            </a:fld>
            <a:endParaRPr kumimoji="0" lang="fr-CA" sz="1600" b="0" i="0" u="none" strike="noStrike" kern="1200" cap="none" spc="0" normalizeH="0" baseline="0" noProof="0" dirty="0">
              <a:ln>
                <a:noFill/>
              </a:ln>
              <a:solidFill>
                <a:srgbClr val="8CADAE">
                  <a:shade val="75000"/>
                </a:srgb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69164" y="1506517"/>
            <a:ext cx="8842248" cy="3216115"/>
          </a:xfrm>
        </p:spPr>
        <p:txBody>
          <a:bodyPr>
            <a:normAutofit fontScale="77500" lnSpcReduction="20000"/>
          </a:bodyPr>
          <a:lstStyle/>
          <a:p>
            <a:r>
              <a:rPr lang="fr-CA" dirty="0" err="1"/>
              <a:t>Définition</a:t>
            </a:r>
            <a:endParaRPr lang="fr-CA" dirty="0"/>
          </a:p>
          <a:p>
            <a:pPr lvl="1"/>
            <a:r>
              <a:rPr lang="fr-CA" dirty="0"/>
              <a:t>Nombre fini de flux monétaires croissants </a:t>
            </a:r>
          </a:p>
          <a:p>
            <a:pPr lvl="1"/>
            <a:r>
              <a:rPr lang="fr-CA" sz="2300" dirty="0"/>
              <a:t>Formule :</a:t>
            </a:r>
          </a:p>
          <a:p>
            <a:pPr lvl="1"/>
            <a:endParaRPr lang="fr-CA" sz="2300" dirty="0"/>
          </a:p>
          <a:p>
            <a:pPr lvl="1"/>
            <a:endParaRPr lang="fr-CA" sz="2300" dirty="0"/>
          </a:p>
          <a:p>
            <a:r>
              <a:rPr lang="fr-CA" sz="2800" dirty="0"/>
              <a:t>Remarque</a:t>
            </a:r>
          </a:p>
          <a:p>
            <a:pPr lvl="1"/>
            <a:r>
              <a:rPr lang="en-US" sz="1900" dirty="0"/>
              <a:t>Le calcul de la valeur actualisée </a:t>
            </a:r>
            <a:r>
              <a:rPr lang="en-US" sz="1900" dirty="0" err="1"/>
              <a:t>d'une</a:t>
            </a:r>
            <a:r>
              <a:rPr lang="en-US" sz="1900" dirty="0"/>
              <a:t> </a:t>
            </a:r>
            <a:r>
              <a:rPr lang="en-US" sz="1900" dirty="0" err="1"/>
              <a:t>annuité</a:t>
            </a:r>
            <a:r>
              <a:rPr lang="en-US" sz="1900" dirty="0"/>
              <a:t> donne la valeur au moment du dernier flux </a:t>
            </a:r>
            <a:r>
              <a:rPr lang="en-US" sz="1900" dirty="0" err="1"/>
              <a:t>monétaire</a:t>
            </a:r>
            <a:r>
              <a:rPr lang="en-US" sz="1900" dirty="0"/>
              <a:t>.</a:t>
            </a:r>
          </a:p>
          <a:p>
            <a:pPr lvl="1"/>
            <a:r>
              <a:rPr lang="en-US" sz="1900" dirty="0"/>
              <a:t>Le calcul de la valeur actualisée (PV) </a:t>
            </a:r>
            <a:r>
              <a:rPr lang="en-US" sz="1900" dirty="0" err="1"/>
              <a:t>d'une</a:t>
            </a:r>
            <a:r>
              <a:rPr lang="en-US" sz="1900" dirty="0"/>
              <a:t> </a:t>
            </a:r>
            <a:r>
              <a:rPr lang="en-US" sz="1900" dirty="0" err="1"/>
              <a:t>annuité</a:t>
            </a:r>
            <a:r>
              <a:rPr lang="en-US" sz="1900" dirty="0"/>
              <a:t> donne la valeur à une période antérieure au premier flux </a:t>
            </a:r>
            <a:r>
              <a:rPr lang="en-US" sz="1900" dirty="0" err="1"/>
              <a:t>monétaire</a:t>
            </a:r>
            <a:r>
              <a:rPr lang="en-US" sz="1900" dirty="0"/>
              <a:t>.</a:t>
            </a:r>
          </a:p>
          <a:p>
            <a:pPr lvl="1"/>
            <a:endParaRPr lang="en-US" sz="1900" dirty="0"/>
          </a:p>
          <a:p>
            <a:r>
              <a:rPr lang="fr-CA" sz="2800" dirty="0"/>
              <a:t>Graphique :</a:t>
            </a:r>
          </a:p>
          <a:p>
            <a:pPr lvl="1"/>
            <a:endParaRPr lang="fr-CA" sz="2300" dirty="0"/>
          </a:p>
          <a:p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41E354C6-B1F0-4A4B-AD54-40732F4BA809}"/>
                  </a:ext>
                </a:extLst>
              </p:cNvPr>
              <p:cNvSpPr txBox="1"/>
              <p:nvPr/>
            </p:nvSpPr>
            <p:spPr bwMode="auto">
              <a:xfrm>
                <a:off x="2334758" y="2295525"/>
                <a:ext cx="3887788" cy="91745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𝑃𝑉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CA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𝑃𝑀</m:t>
                          </m:r>
                          <m:sSub>
                            <m:sSubPr>
                              <m:ctrlPr>
                                <a:rPr kumimoji="0" lang="en-CA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CA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  <m: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0" lang="en-CA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CA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en-CA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kumimoji="0" lang="en-CA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CA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1+</m:t>
                                          </m:r>
                                          <m:r>
                                            <a:rPr kumimoji="0" lang="en-CA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𝑔</m:t>
                                          </m:r>
                                        </m:e>
                                      </m:d>
                                    </m:num>
                                    <m:den>
                                      <m:d>
                                        <m:dPr>
                                          <m:ctrlPr>
                                            <a:rPr kumimoji="0" lang="en-CA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CA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1+</m:t>
                                          </m:r>
                                          <m:r>
                                            <a:rPr kumimoji="0" lang="en-CA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𝑟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en-CA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41E354C6-B1F0-4A4B-AD54-40732F4B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4758" y="2295525"/>
                <a:ext cx="3887788" cy="917451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ine 4">
            <a:extLst>
              <a:ext uri="{FF2B5EF4-FFF2-40B4-BE49-F238E27FC236}">
                <a16:creationId xmlns:a16="http://schemas.microsoft.com/office/drawing/2014/main" id="{AFB2BEEE-23CD-4220-A68C-E3B2CF231891}"/>
              </a:ext>
            </a:extLst>
          </p:cNvPr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55712" y="5478451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Line 5">
            <a:extLst>
              <a:ext uri="{FF2B5EF4-FFF2-40B4-BE49-F238E27FC236}">
                <a16:creationId xmlns:a16="http://schemas.microsoft.com/office/drawing/2014/main" id="{E0366FE7-56A2-4784-8EF7-FB8CF1FDD7FB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4973648" y="5308254"/>
            <a:ext cx="154234" cy="170197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0E2D391E-1166-41DF-9D69-EDB6D23DEB82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5364088" y="5478451"/>
            <a:ext cx="20252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" name="Line 7">
            <a:extLst>
              <a:ext uri="{FF2B5EF4-FFF2-40B4-BE49-F238E27FC236}">
                <a16:creationId xmlns:a16="http://schemas.microsoft.com/office/drawing/2014/main" id="{D46BEE0F-DC9B-41A5-9EA5-FA05FEAC5FF8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477421" y="531614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D188BB29-7451-475D-945B-CE02CC3ACCC6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5510620" y="5369721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61FEF5C3-0F3E-4958-A11A-7668B0CB590D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155711" y="5316526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142DFAFA-F8AC-4E71-B55A-A35B4FD65062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165361" y="5370104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4" name="Line 11">
            <a:extLst>
              <a:ext uri="{FF2B5EF4-FFF2-40B4-BE49-F238E27FC236}">
                <a16:creationId xmlns:a16="http://schemas.microsoft.com/office/drawing/2014/main" id="{04474AB2-4DE1-4578-A241-9ADB6B82EE17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244861" y="5370104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5" name="Line 12">
            <a:extLst>
              <a:ext uri="{FF2B5EF4-FFF2-40B4-BE49-F238E27FC236}">
                <a16:creationId xmlns:a16="http://schemas.microsoft.com/office/drawing/2014/main" id="{BB15176F-A4BB-499B-A6AF-6076CB098E77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324361" y="5370104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3">
                <a:extLst>
                  <a:ext uri="{FF2B5EF4-FFF2-40B4-BE49-F238E27FC236}">
                    <a16:creationId xmlns:a16="http://schemas.microsoft.com/office/drawing/2014/main" id="{FFF04220-507D-4F19-B0E5-EBFC5B16816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39812" y="4992676"/>
                <a:ext cx="6204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𝑃𝑉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fr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endParaRP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6" name="Text Box 13">
                <a:extLst>
                  <a:ext uri="{FF2B5EF4-FFF2-40B4-BE49-F238E27FC236}">
                    <a16:creationId xmlns:a16="http://schemas.microsoft.com/office/drawing/2014/main" id="{FFF04220-507D-4F19-B0E5-EBFC5B168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939812" y="4992676"/>
                <a:ext cx="620426" cy="369332"/>
              </a:xfrm>
              <a:prstGeom prst="rect">
                <a:avLst/>
              </a:prstGeom>
              <a:blipFill>
                <a:blip r:embed="rId39"/>
                <a:stretch>
                  <a:fillRect b="-163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ine 14">
            <a:extLst>
              <a:ext uri="{FF2B5EF4-FFF2-40B4-BE49-F238E27FC236}">
                <a16:creationId xmlns:a16="http://schemas.microsoft.com/office/drawing/2014/main" id="{2DBC2FEF-EDFE-4873-B789-14605D7C9454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3244861" y="542487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8" name="Text Box 15">
            <a:extLst>
              <a:ext uri="{FF2B5EF4-FFF2-40B4-BE49-F238E27FC236}">
                <a16:creationId xmlns:a16="http://schemas.microsoft.com/office/drawing/2014/main" id="{EA8D22EC-C8F9-498C-851C-AF5B3DB0251F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748098" y="5154601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E718F2F8-B1BD-455B-A14A-08084A98DAD0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928542" y="5048345"/>
            <a:ext cx="5310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PMT</a:t>
            </a:r>
            <a:r>
              <a:rPr kumimoji="0" lang="fr-CA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1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2" name="Text Box 18">
            <a:extLst>
              <a:ext uri="{FF2B5EF4-FFF2-40B4-BE49-F238E27FC236}">
                <a16:creationId xmlns:a16="http://schemas.microsoft.com/office/drawing/2014/main" id="{71351CDA-E65F-4552-9410-85B8C48B3E29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35521" y="2390615"/>
            <a:ext cx="3075023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 = nombre de paiements pour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1400" dirty="0">
                <a:solidFill>
                  <a:srgbClr val="1F497D"/>
                </a:solidFill>
                <a:latin typeface="+mj-lt"/>
              </a:rPr>
              <a:t>      </a:t>
            </a:r>
            <a:r>
              <a:rPr kumimoji="0" lang="fr-CA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l’annuité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 = taux de </a:t>
            </a:r>
            <a:r>
              <a:rPr kumimoji="0" lang="fr-C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croissance </a:t>
            </a:r>
            <a:r>
              <a:rPr kumimoji="0" lang="fr-CA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 </a:t>
            </a:r>
            <a:r>
              <a:rPr kumimoji="0" lang="fr-C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période</a:t>
            </a:r>
            <a:endParaRPr kumimoji="0" lang="fr-CA" sz="1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3" name="Text Box 17">
            <a:extLst>
              <a:ext uri="{FF2B5EF4-FFF2-40B4-BE49-F238E27FC236}">
                <a16:creationId xmlns:a16="http://schemas.microsoft.com/office/drawing/2014/main" id="{5CB54331-FC8C-4354-9E5B-291C46CD0B7A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005853" y="5034557"/>
            <a:ext cx="5341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PMT</a:t>
            </a:r>
            <a:r>
              <a:rPr kumimoji="0" lang="fr-CA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2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4" name="Text Box 17">
            <a:extLst>
              <a:ext uri="{FF2B5EF4-FFF2-40B4-BE49-F238E27FC236}">
                <a16:creationId xmlns:a16="http://schemas.microsoft.com/office/drawing/2014/main" id="{B96D49F6-8984-4334-8B15-4B79005B395F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074677" y="5034556"/>
            <a:ext cx="5341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PMT</a:t>
            </a:r>
            <a:r>
              <a:rPr kumimoji="0" lang="fr-CA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3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5" name="Text Box 17">
            <a:extLst>
              <a:ext uri="{FF2B5EF4-FFF2-40B4-BE49-F238E27FC236}">
                <a16:creationId xmlns:a16="http://schemas.microsoft.com/office/drawing/2014/main" id="{F2B3ECEB-F7C8-4B6B-8EB6-2EA4C79E0448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222546" y="5029721"/>
            <a:ext cx="6431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PMT</a:t>
            </a:r>
            <a:r>
              <a:rPr kumimoji="0" lang="fr-CA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t+1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6" name="Text Box 17">
            <a:extLst>
              <a:ext uri="{FF2B5EF4-FFF2-40B4-BE49-F238E27FC236}">
                <a16:creationId xmlns:a16="http://schemas.microsoft.com/office/drawing/2014/main" id="{F570DD60-0FCE-4726-915F-1C5C44ADD047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271612" y="5038459"/>
            <a:ext cx="51167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PMT</a:t>
            </a:r>
            <a:r>
              <a:rPr kumimoji="0" lang="fr-CA" sz="12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t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grpSp>
        <p:nvGrpSpPr>
          <p:cNvPr id="37" name="Groupe 3">
            <a:extLst>
              <a:ext uri="{FF2B5EF4-FFF2-40B4-BE49-F238E27FC236}">
                <a16:creationId xmlns:a16="http://schemas.microsoft.com/office/drawing/2014/main" id="{4BFCC8F8-DD48-4A70-B288-546A21EC1768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2548615" y="5580138"/>
            <a:ext cx="484700" cy="367990"/>
            <a:chOff x="2521153" y="3899910"/>
            <a:chExt cx="484700" cy="1273147"/>
          </a:xfrm>
        </p:grpSpPr>
        <p:cxnSp>
          <p:nvCxnSpPr>
            <p:cNvPr id="38" name="Connecteur droit avec flèche 2">
              <a:extLst>
                <a:ext uri="{FF2B5EF4-FFF2-40B4-BE49-F238E27FC236}">
                  <a16:creationId xmlns:a16="http://schemas.microsoft.com/office/drawing/2014/main" id="{A60DD265-2062-4067-ABB0-A7F330489285}"/>
                </a:ext>
              </a:extLst>
            </p:cNvPr>
            <p:cNvCxnSpPr>
              <a:endCxn id="33" idx="1"/>
            </p:cNvCxnSpPr>
            <p:nvPr/>
          </p:nvCxnSpPr>
          <p:spPr>
            <a:xfrm>
              <a:off x="2521153" y="5168603"/>
              <a:ext cx="484700" cy="4454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Box 17">
              <a:extLst>
                <a:ext uri="{FF2B5EF4-FFF2-40B4-BE49-F238E27FC236}">
                  <a16:creationId xmlns:a16="http://schemas.microsoft.com/office/drawing/2014/main" id="{1BF6A9E5-5011-430A-8F4E-41D694F07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5209" y="389991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79646">
                      <a:lumMod val="75000"/>
                    </a:srgbClr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g</a:t>
              </a: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</p:grpSp>
      <p:sp>
        <p:nvSpPr>
          <p:cNvPr id="49" name="Line 5">
            <a:extLst>
              <a:ext uri="{FF2B5EF4-FFF2-40B4-BE49-F238E27FC236}">
                <a16:creationId xmlns:a16="http://schemas.microsoft.com/office/drawing/2014/main" id="{7EB11AF4-F3B1-43BA-95F8-9EC0508424FA}"/>
              </a:ext>
            </a:extLst>
          </p:cNvPr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 flipH="1" flipV="1">
            <a:off x="5143501" y="5292294"/>
            <a:ext cx="84144" cy="461389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0" name="Line 5">
            <a:extLst>
              <a:ext uri="{FF2B5EF4-FFF2-40B4-BE49-F238E27FC236}">
                <a16:creationId xmlns:a16="http://schemas.microsoft.com/office/drawing/2014/main" id="{A212514F-9FA3-4358-A883-3B0AC4907AD7}"/>
              </a:ext>
            </a:extLst>
          </p:cNvPr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 flipV="1">
            <a:off x="5230745" y="5462658"/>
            <a:ext cx="164225" cy="277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1" name="Line 7">
            <a:extLst>
              <a:ext uri="{FF2B5EF4-FFF2-40B4-BE49-F238E27FC236}">
                <a16:creationId xmlns:a16="http://schemas.microsoft.com/office/drawing/2014/main" id="{21A32910-1C55-4B31-B9AC-02BBEEBB2625}"/>
              </a:ext>
            </a:extLst>
          </p:cNvPr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7390788" y="5331462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2" name="Text Box 17">
            <a:extLst>
              <a:ext uri="{FF2B5EF4-FFF2-40B4-BE49-F238E27FC236}">
                <a16:creationId xmlns:a16="http://schemas.microsoft.com/office/drawing/2014/main" id="{CFF466DA-7076-4346-B76A-407CD15D9F1D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135913" y="5045040"/>
            <a:ext cx="6431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PMT</a:t>
            </a:r>
            <a:r>
              <a:rPr kumimoji="0" lang="fr-CA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t+2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3" name="Line 7">
            <a:extLst>
              <a:ext uri="{FF2B5EF4-FFF2-40B4-BE49-F238E27FC236}">
                <a16:creationId xmlns:a16="http://schemas.microsoft.com/office/drawing/2014/main" id="{29B7FEE8-D950-44DB-8B71-03434EE22990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8438004" y="53320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4" name="Text Box 17">
            <a:extLst>
              <a:ext uri="{FF2B5EF4-FFF2-40B4-BE49-F238E27FC236}">
                <a16:creationId xmlns:a16="http://schemas.microsoft.com/office/drawing/2014/main" id="{846BB11D-3D21-4B4C-A488-9E3033EBA6F5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8183129" y="5045641"/>
            <a:ext cx="6431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PMT</a:t>
            </a:r>
            <a:r>
              <a:rPr kumimoji="0" lang="fr-CA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t+3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5" name="Line 6">
            <a:extLst>
              <a:ext uri="{FF2B5EF4-FFF2-40B4-BE49-F238E27FC236}">
                <a16:creationId xmlns:a16="http://schemas.microsoft.com/office/drawing/2014/main" id="{C8BD6325-9BA7-45D0-9B46-5376447B6B3D}"/>
              </a:ext>
            </a:extLst>
          </p:cNvPr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6412724" y="5478451"/>
            <a:ext cx="20252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7" name="Text Box 17">
            <a:extLst>
              <a:ext uri="{FF2B5EF4-FFF2-40B4-BE49-F238E27FC236}">
                <a16:creationId xmlns:a16="http://schemas.microsoft.com/office/drawing/2014/main" id="{8A0B1F97-AE5B-4280-BE6B-C3A31D468BFC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016648" y="5638942"/>
            <a:ext cx="5310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0</a:t>
            </a: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65" name="Text Box 17">
            <a:extLst>
              <a:ext uri="{FF2B5EF4-FFF2-40B4-BE49-F238E27FC236}">
                <a16:creationId xmlns:a16="http://schemas.microsoft.com/office/drawing/2014/main" id="{D1C3D8AE-3119-407C-A467-DFBB76E79E28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922760" y="5598762"/>
            <a:ext cx="531016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6" name="Text Box 17">
            <a:extLst>
              <a:ext uri="{FF2B5EF4-FFF2-40B4-BE49-F238E27FC236}">
                <a16:creationId xmlns:a16="http://schemas.microsoft.com/office/drawing/2014/main" id="{3A118AFD-1413-48AE-9031-26E0CC696994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3133119" y="5584974"/>
            <a:ext cx="26802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67" name="Text Box 17">
            <a:extLst>
              <a:ext uri="{FF2B5EF4-FFF2-40B4-BE49-F238E27FC236}">
                <a16:creationId xmlns:a16="http://schemas.microsoft.com/office/drawing/2014/main" id="{1667BE61-0355-4C99-B3DD-DF75C61622AD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4201943" y="5584973"/>
            <a:ext cx="26802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8" name="Text Box 17">
            <a:extLst>
              <a:ext uri="{FF2B5EF4-FFF2-40B4-BE49-F238E27FC236}">
                <a16:creationId xmlns:a16="http://schemas.microsoft.com/office/drawing/2014/main" id="{07DF17DB-03FD-4C80-9161-862FBDEA97BA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322562" y="5580138"/>
            <a:ext cx="4315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t+1</a:t>
            </a:r>
          </a:p>
        </p:txBody>
      </p:sp>
      <p:sp>
        <p:nvSpPr>
          <p:cNvPr id="69" name="Text Box 17">
            <a:extLst>
              <a:ext uri="{FF2B5EF4-FFF2-40B4-BE49-F238E27FC236}">
                <a16:creationId xmlns:a16="http://schemas.microsoft.com/office/drawing/2014/main" id="{9A435B90-AC0F-414E-B4B3-B0148FB57AD4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403687" y="5588876"/>
            <a:ext cx="23596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70" name="Text Box 17">
            <a:extLst>
              <a:ext uri="{FF2B5EF4-FFF2-40B4-BE49-F238E27FC236}">
                <a16:creationId xmlns:a16="http://schemas.microsoft.com/office/drawing/2014/main" id="{F50EABA5-DA71-4127-B79D-D6C7612CE72D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7235929" y="5595457"/>
            <a:ext cx="4315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t+2</a:t>
            </a:r>
          </a:p>
        </p:txBody>
      </p:sp>
      <p:sp>
        <p:nvSpPr>
          <p:cNvPr id="71" name="Text Box 17">
            <a:extLst>
              <a:ext uri="{FF2B5EF4-FFF2-40B4-BE49-F238E27FC236}">
                <a16:creationId xmlns:a16="http://schemas.microsoft.com/office/drawing/2014/main" id="{49B439F7-DCAB-40E1-A2DC-0AEBAD2C1C92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8283145" y="5596058"/>
            <a:ext cx="4315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t+3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73E9AC-25FB-4611-A40B-81F2B82EF5E3}"/>
              </a:ext>
            </a:extLst>
          </p:cNvPr>
          <p:cNvSpPr txBox="1"/>
          <p:nvPr/>
        </p:nvSpPr>
        <p:spPr>
          <a:xfrm>
            <a:off x="1475656" y="6021288"/>
            <a:ext cx="358021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Annuité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croissante : de 0 à t</a:t>
            </a:r>
          </a:p>
        </p:txBody>
      </p:sp>
    </p:spTree>
    <p:extLst>
      <p:ext uri="{BB962C8B-B14F-4D97-AF65-F5344CB8AC3E}">
        <p14:creationId xmlns:p14="http://schemas.microsoft.com/office/powerpoint/2010/main" val="19792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Exemple 2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8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/>
              <a:t>Calculez le prix des actions suivantes :</a:t>
            </a:r>
          </a:p>
          <a:p>
            <a:pPr marL="514350" indent="-514350">
              <a:buFont typeface="Wingdings 2"/>
              <a:buAutoNum type="alphaLcParenR"/>
            </a:pPr>
            <a:r>
              <a:rPr lang="fr-CA" sz="1800" dirty="0">
                <a:solidFill>
                  <a:schemeClr val="tx2"/>
                </a:solidFill>
              </a:rPr>
              <a:t>L'action C verse des dividendes trimestriels de 0,22 $. Le taux exigé par les actionnaires est de 9 % annuel effectif. </a:t>
            </a:r>
          </a:p>
          <a:p>
            <a:pPr marL="514350" indent="-514350">
              <a:buFont typeface="Wingdings 2"/>
              <a:buAutoNum type="alphaLcParenR"/>
            </a:pPr>
            <a:endParaRPr lang="fr-CA" sz="1800" dirty="0">
              <a:solidFill>
                <a:schemeClr val="tx2"/>
              </a:solidFill>
            </a:endParaRPr>
          </a:p>
          <a:p>
            <a:pPr marL="514350" indent="-514350">
              <a:buFont typeface="Wingdings 2"/>
              <a:buAutoNum type="alphaLcParenR"/>
            </a:pPr>
            <a:endParaRPr lang="fr-CA" sz="1800" dirty="0">
              <a:solidFill>
                <a:schemeClr val="tx2"/>
              </a:solidFill>
            </a:endParaRPr>
          </a:p>
          <a:p>
            <a:pPr marL="514350" indent="-514350">
              <a:buFont typeface="Wingdings 2"/>
              <a:buAutoNum type="alphaLcParenR"/>
            </a:pPr>
            <a:endParaRPr lang="fr-CA" sz="1800" dirty="0">
              <a:solidFill>
                <a:schemeClr val="tx2"/>
              </a:solidFill>
            </a:endParaRPr>
          </a:p>
          <a:p>
            <a:pPr marL="514350" indent="-514350">
              <a:buFont typeface="Wingdings 2"/>
              <a:buAutoNum type="alphaLcParenR"/>
            </a:pPr>
            <a:endParaRPr lang="fr-CA" sz="1800" dirty="0">
              <a:solidFill>
                <a:schemeClr val="tx2"/>
              </a:solidFill>
            </a:endParaRPr>
          </a:p>
          <a:p>
            <a:pPr marL="514350" indent="-514350">
              <a:buFont typeface="Wingdings 2"/>
              <a:buAutoNum type="alphaLcParenR"/>
            </a:pPr>
            <a:r>
              <a:rPr lang="fr-CA" sz="1800" dirty="0">
                <a:solidFill>
                  <a:schemeClr val="tx2"/>
                </a:solidFill>
              </a:rPr>
              <a:t>L'action D </a:t>
            </a:r>
            <a:r>
              <a:rPr lang="fr-CA" sz="1800" dirty="0" err="1">
                <a:solidFill>
                  <a:schemeClr val="tx2"/>
                </a:solidFill>
              </a:rPr>
              <a:t>a versé </a:t>
            </a:r>
            <a:r>
              <a:rPr lang="fr-CA" sz="1800" dirty="0">
                <a:solidFill>
                  <a:schemeClr val="tx2"/>
                </a:solidFill>
              </a:rPr>
              <a:t>un </a:t>
            </a:r>
            <a:r>
              <a:rPr lang="fr-CA" sz="1800" dirty="0" err="1">
                <a:solidFill>
                  <a:schemeClr val="tx2"/>
                </a:solidFill>
              </a:rPr>
              <a:t>dividende </a:t>
            </a:r>
            <a:r>
              <a:rPr lang="fr-CA" sz="1800" dirty="0">
                <a:solidFill>
                  <a:schemeClr val="tx2"/>
                </a:solidFill>
              </a:rPr>
              <a:t>de 0,67 $ </a:t>
            </a:r>
            <a:r>
              <a:rPr lang="fr-CA" sz="1800" dirty="0" err="1">
                <a:solidFill>
                  <a:schemeClr val="tx2"/>
                </a:solidFill>
              </a:rPr>
              <a:t>ce matin</a:t>
            </a:r>
            <a:r>
              <a:rPr lang="fr-CA" sz="1800" dirty="0">
                <a:solidFill>
                  <a:schemeClr val="tx2"/>
                </a:solidFill>
              </a:rPr>
              <a:t>. Le </a:t>
            </a:r>
            <a:r>
              <a:rPr lang="fr-CA" sz="1800" dirty="0" err="1">
                <a:solidFill>
                  <a:schemeClr val="tx2"/>
                </a:solidFill>
              </a:rPr>
              <a:t>prochain dividende sera versé </a:t>
            </a:r>
            <a:r>
              <a:rPr lang="fr-CA" sz="1800" dirty="0">
                <a:solidFill>
                  <a:schemeClr val="tx2"/>
                </a:solidFill>
              </a:rPr>
              <a:t>dans un </a:t>
            </a:r>
            <a:r>
              <a:rPr lang="fr-CA" sz="1800" dirty="0" err="1">
                <a:solidFill>
                  <a:schemeClr val="tx2"/>
                </a:solidFill>
              </a:rPr>
              <a:t>an</a:t>
            </a:r>
            <a:r>
              <a:rPr lang="fr-CA" sz="1800" dirty="0">
                <a:solidFill>
                  <a:schemeClr val="tx2"/>
                </a:solidFill>
              </a:rPr>
              <a:t>. Les dividendes annuels devraient augmenter à un taux constant de 6 % effectif annuel. Le taux exigé par les actionnaires est de 13 % effectif annuel.</a:t>
            </a:r>
          </a:p>
          <a:p>
            <a:pPr marL="514350" indent="-514350">
              <a:buFont typeface="Wingdings 2"/>
              <a:buAutoNum type="alphaLcParenR"/>
            </a:pPr>
            <a:endParaRPr lang="fr-CA" sz="1800" dirty="0">
              <a:solidFill>
                <a:schemeClr val="tx2"/>
              </a:solidFill>
            </a:endParaRPr>
          </a:p>
          <a:p>
            <a:pPr marL="514350" indent="-514350">
              <a:buFont typeface="Wingdings 2"/>
              <a:buAutoNum type="alphaLcParenR"/>
            </a:pPr>
            <a:endParaRPr lang="fr-CA" sz="1800" dirty="0">
              <a:solidFill>
                <a:schemeClr val="tx2"/>
              </a:solidFill>
            </a:endParaRPr>
          </a:p>
          <a:p>
            <a:pPr marL="514350" indent="-514350">
              <a:buFont typeface="Wingdings 2"/>
              <a:buAutoNum type="alphaLcParenR"/>
            </a:pPr>
            <a:endParaRPr lang="fr-CA" sz="1800" dirty="0">
              <a:solidFill>
                <a:schemeClr val="tx2"/>
              </a:solidFill>
            </a:endParaRPr>
          </a:p>
          <a:p>
            <a:pPr marL="514350" indent="-514350">
              <a:buAutoNum type="alphaLcParenR"/>
            </a:pPr>
            <a:endParaRPr lang="fr-CA" sz="1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95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Exemple 3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79512" y="1397593"/>
            <a:ext cx="8784976" cy="5055743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Clr>
                <a:srgbClr val="4F81BD"/>
              </a:buClr>
              <a:buNone/>
              <a:defRPr/>
            </a:pPr>
            <a:r>
              <a:rPr lang="fr-CA" sz="1800" dirty="0" err="1">
                <a:solidFill>
                  <a:prstClr val="black"/>
                </a:solidFill>
                <a:latin typeface="Georgia"/>
              </a:rPr>
              <a:t>Nous </a:t>
            </a:r>
            <a:r>
              <a:rPr lang="fr-CA" sz="1800" dirty="0">
                <a:solidFill>
                  <a:prstClr val="black"/>
                </a:solidFill>
                <a:latin typeface="Georgia"/>
              </a:rPr>
              <a:t>sommes au 15 juin 2010. La </a:t>
            </a:r>
            <a:r>
              <a:rPr lang="fr-CA" sz="1800" dirty="0" err="1">
                <a:solidFill>
                  <a:prstClr val="black"/>
                </a:solidFill>
                <a:latin typeface="Georgia"/>
              </a:rPr>
              <a:t>société SFB </a:t>
            </a:r>
            <a:r>
              <a:rPr lang="fr-CA" sz="1800" dirty="0">
                <a:solidFill>
                  <a:prstClr val="black"/>
                </a:solidFill>
                <a:latin typeface="Georgia"/>
              </a:rPr>
              <a:t>a versé les dividendes suivants au cours </a:t>
            </a:r>
            <a:r>
              <a:rPr lang="fr-CA" sz="1800" dirty="0" err="1">
                <a:solidFill>
                  <a:prstClr val="black"/>
                </a:solidFill>
                <a:latin typeface="Georgia"/>
              </a:rPr>
              <a:t>des</a:t>
            </a:r>
            <a:r>
              <a:rPr lang="fr-CA" sz="1800" dirty="0">
                <a:solidFill>
                  <a:prstClr val="black"/>
                </a:solidFill>
                <a:latin typeface="Georgia"/>
              </a:rPr>
              <a:t> </a:t>
            </a:r>
            <a:r>
              <a:rPr lang="fr-CA" sz="1800" dirty="0" err="1">
                <a:solidFill>
                  <a:prstClr val="black"/>
                </a:solidFill>
                <a:latin typeface="Georgia"/>
              </a:rPr>
              <a:t>derniers trimestres </a:t>
            </a:r>
            <a:r>
              <a:rPr lang="fr-CA" sz="1800" dirty="0">
                <a:solidFill>
                  <a:prstClr val="black"/>
                </a:solidFill>
                <a:latin typeface="Georgia"/>
              </a:rPr>
              <a:t>:</a:t>
            </a:r>
          </a:p>
          <a:p>
            <a:pPr marL="0" indent="0">
              <a:buNone/>
            </a:pPr>
            <a:endParaRPr lang="fr-CA" sz="9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None/>
              <a:tabLst/>
              <a:defRPr/>
            </a:pP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Il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est prévu que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société augmente son dividende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 5 %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lors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du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prochain versement trimestriel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par rapport au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versement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du 15 mai 2010.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None/>
              <a:tabLst/>
              <a:defRPr/>
            </a:pPr>
            <a:endParaRPr kumimoji="0" lang="fr-CA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None/>
              <a:tabLst/>
              <a:defRPr/>
            </a:pPr>
            <a:endParaRPr kumimoji="0" lang="fr-CA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None/>
              <a:tabLst/>
              <a:defRPr/>
            </a:pP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En raison d'un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manque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liquidités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SFB a l'intention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 ne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verser aucun dividende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au cours des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deux trimestres suivants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après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 trimestre de </a:t>
            </a:r>
            <a:r>
              <a:rPr kumimoji="0" lang="fr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croissance </a:t>
            </a:r>
            <a:r>
              <a: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 5 %). Après deux trimestres sans dividende, SFB recommencera à verser un dividende trimestriel de 3,75 $. </a:t>
            </a:r>
            <a:endParaRPr lang="fr-CA" sz="1800" dirty="0">
              <a:solidFill>
                <a:prstClr val="black"/>
              </a:solidFill>
              <a:latin typeface="Georgi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À partir de ce moment, la société prévoit d'augmenter son dividende de manière constante à un taux trimestriel de 2,6844 % jusqu'à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l'infini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indent="0">
              <a:buClr>
                <a:srgbClr val="4F81BD"/>
              </a:buClr>
              <a:buNone/>
              <a:defRPr/>
            </a:pPr>
            <a:r>
              <a:rPr lang="fr-CA" sz="1800" b="1" dirty="0"/>
              <a:t>Sachant que les actionnaires de SFB exigent un rendement effectif annuel de 20 %, quel est le cours de l'action au 15 juin 2010 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333752"/>
              </p:ext>
            </p:extLst>
          </p:nvPr>
        </p:nvGraphicFramePr>
        <p:xfrm>
          <a:off x="1493944" y="2132856"/>
          <a:ext cx="619268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96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521">
                <a:tc>
                  <a:txBody>
                    <a:bodyPr/>
                    <a:lstStyle/>
                    <a:p>
                      <a:r>
                        <a:rPr lang="fr-CA" sz="1800" dirty="0"/>
                        <a:t>Date </a:t>
                      </a:r>
                      <a:r>
                        <a:rPr lang="fr-CA" sz="1800" baseline="0" dirty="0"/>
                        <a:t>de paiement</a:t>
                      </a:r>
                      <a:endParaRPr lang="fr-C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Dividende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21">
                <a:tc>
                  <a:txBody>
                    <a:bodyPr/>
                    <a:lstStyle/>
                    <a:p>
                      <a:r>
                        <a:rPr lang="fr-CA" sz="1800" dirty="0"/>
                        <a:t>15 février</a:t>
                      </a:r>
                      <a:r>
                        <a:rPr lang="fr-CA" sz="1800" baseline="0" dirty="0"/>
                        <a:t> 2010</a:t>
                      </a:r>
                      <a:endParaRPr lang="fr-C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21">
                <a:tc>
                  <a:txBody>
                    <a:bodyPr/>
                    <a:lstStyle/>
                    <a:p>
                      <a:r>
                        <a:rPr lang="fr-CA" sz="1800" dirty="0"/>
                        <a:t>15 mai 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22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91592-7F5B-4D98-9FEC-9D33C87D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Actions</a:t>
            </a:r>
            <a:r>
              <a:rPr lang="fr-CA" dirty="0"/>
              <a:t> ordinaires et finance </a:t>
            </a:r>
            <a:r>
              <a:rPr lang="fr-CA" dirty="0" err="1"/>
              <a:t>durable</a:t>
            </a:r>
            <a:br>
              <a:rPr lang="fr-CA" dirty="0"/>
            </a:br>
            <a:r>
              <a:rPr lang="fr-CA" sz="1600" dirty="0"/>
              <a:t>© Marie-Hélène Allard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870DFC-5910-6DC2-BD66-F68104C8B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fr-CA" sz="1800" dirty="0"/>
              <a:t>Certains investisseurs souhaitent investir dans des entreprises qui respectent les principes ESG.</a:t>
            </a:r>
            <a:endParaRPr lang="en-US" sz="1800" dirty="0"/>
          </a:p>
          <a:p>
            <a:endParaRPr lang="en-US" sz="1800" dirty="0">
              <a:cs typeface="Calibri"/>
            </a:endParaRPr>
          </a:p>
          <a:p>
            <a:r>
              <a:rPr lang="en-US" sz="1800" dirty="0" err="1">
                <a:cs typeface="Calibri"/>
              </a:rPr>
              <a:t>Plusieurs </a:t>
            </a:r>
            <a:r>
              <a:rPr lang="en-US" sz="1800" dirty="0">
                <a:cs typeface="Calibri"/>
              </a:rPr>
              <a:t>raisons</a:t>
            </a:r>
            <a:r>
              <a:rPr lang="en-US" sz="1800" dirty="0" err="1">
                <a:cs typeface="Calibri"/>
              </a:rPr>
              <a:t> peuvent expliquer cela </a:t>
            </a:r>
            <a:r>
              <a:rPr lang="en-US" sz="1800" dirty="0">
                <a:cs typeface="Calibri"/>
              </a:rPr>
              <a:t>:</a:t>
            </a:r>
            <a:endParaRPr lang="en-US" sz="1800" dirty="0"/>
          </a:p>
          <a:p>
            <a:pPr lvl="1"/>
            <a:r>
              <a:rPr lang="fr-CA" dirty="0"/>
              <a:t>Alignement avec les valeurs personnelles des investisseurs</a:t>
            </a:r>
            <a:endParaRPr lang="fr-CA" dirty="0">
              <a:cs typeface="Calibri" panose="020F0502020204030204"/>
            </a:endParaRPr>
          </a:p>
          <a:p>
            <a:pPr lvl="1"/>
            <a:r>
              <a:rPr lang="fr-CA" dirty="0">
                <a:cs typeface="Calibri" panose="020F0502020204030204"/>
              </a:rPr>
              <a:t>Les entreprises ont accès à davantage de capitaux (pacte d'investissement responsable)</a:t>
            </a:r>
          </a:p>
          <a:p>
            <a:pPr lvl="1"/>
            <a:r>
              <a:rPr lang="fr-CA" dirty="0">
                <a:cs typeface="Calibri" panose="020F0502020204030204"/>
              </a:rPr>
              <a:t>Les entreprises ont accès à de nouvelles opportunités d'investissement (projets verts, etc.)</a:t>
            </a:r>
          </a:p>
          <a:p>
            <a:pPr lvl="1"/>
            <a:r>
              <a:rPr lang="fr-CA" dirty="0">
                <a:cs typeface="Calibri" panose="020F0502020204030204"/>
              </a:rPr>
              <a:t>Les entreprises limitent les risques (climatiques, réputationnels, etc.)</a:t>
            </a:r>
            <a:endParaRPr lang="fr-CA" dirty="0"/>
          </a:p>
          <a:p>
            <a:pPr lvl="1"/>
            <a:r>
              <a:rPr lang="fr-CA" dirty="0">
                <a:cs typeface="Calibri" panose="020F0502020204030204"/>
              </a:rPr>
              <a:t>Les entreprises sont moins touchées par certaines réglementations : taxes pour les pollueurs, achat de crédits carbone, etc.</a:t>
            </a:r>
          </a:p>
          <a:p>
            <a:pPr marL="342900" lvl="1" indent="0">
              <a:buNone/>
            </a:pPr>
            <a:endParaRPr lang="fr-CA" dirty="0">
              <a:cs typeface="Calibri" panose="020F0502020204030204"/>
            </a:endParaRPr>
          </a:p>
          <a:p>
            <a:pPr lvl="1"/>
            <a:endParaRPr lang="fr-CA" dirty="0">
              <a:cs typeface="Calibri" panose="020F0502020204030204"/>
            </a:endParaRPr>
          </a:p>
          <a:p>
            <a:pPr lvl="1"/>
            <a:endParaRPr lang="fr-CA" dirty="0">
              <a:cs typeface="Calibri" panose="020F0502020204030204"/>
            </a:endParaRPr>
          </a:p>
          <a:p>
            <a:pPr marL="342900" lvl="1" indent="0">
              <a:buNone/>
            </a:pPr>
            <a:endParaRPr lang="fr-CA" dirty="0">
              <a:cs typeface="Calibri" panose="020F0502020204030204"/>
            </a:endParaRPr>
          </a:p>
          <a:p>
            <a:endParaRPr lang="fr-CA" dirty="0">
              <a:cs typeface="Calibri" panose="020F0502020204030204"/>
            </a:endParaRPr>
          </a:p>
          <a:p>
            <a:endParaRPr lang="fr-CA" dirty="0">
              <a:cs typeface="Calibri" panose="020F0502020204030204"/>
            </a:endParaRPr>
          </a:p>
          <a:p>
            <a:endParaRPr lang="fr-CA" dirty="0"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5F8D0-A082-27FF-DA58-AC78BBD7A6F6}"/>
              </a:ext>
            </a:extLst>
          </p:cNvPr>
          <p:cNvSpPr txBox="1"/>
          <p:nvPr/>
        </p:nvSpPr>
        <p:spPr>
          <a:xfrm>
            <a:off x="251520" y="5684186"/>
            <a:ext cx="70450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CA" sz="3200" dirty="0">
                <a:solidFill>
                  <a:srgbClr val="FF0000"/>
                </a:solidFill>
                <a:latin typeface="Ink Free" panose="03080402000500000000" pitchFamily="66" charset="0"/>
                <a:cs typeface="Calibri" panose="020F0502020204030204"/>
              </a:rPr>
              <a:t>Plus de détails ? Chronique financière de la séance n° 1</a:t>
            </a:r>
          </a:p>
        </p:txBody>
      </p:sp>
    </p:spTree>
    <p:extLst>
      <p:ext uri="{BB962C8B-B14F-4D97-AF65-F5344CB8AC3E}">
        <p14:creationId xmlns:p14="http://schemas.microsoft.com/office/powerpoint/2010/main" val="125984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91592-7F5B-4D98-9FEC-9D33C87D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Les actions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870DFC-5910-6DC2-BD66-F68104C8B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fr-CA" sz="1800" dirty="0"/>
              <a:t>Notation ESG :</a:t>
            </a:r>
            <a:endParaRPr lang="en-US" sz="1800" dirty="0"/>
          </a:p>
          <a:p>
            <a:pPr lvl="1"/>
            <a:r>
              <a:rPr lang="fr-CA" dirty="0"/>
              <a:t>Mesure l'exposition aux risques environnementaux, sociaux et de gouvernance et la manière dont l'entreprise gère ces risques.</a:t>
            </a:r>
          </a:p>
          <a:p>
            <a:pPr lvl="1"/>
            <a:r>
              <a:rPr lang="fr-CA" dirty="0"/>
              <a:t>Comment les notations ESG sont-elles attribuées ? </a:t>
            </a:r>
            <a:r>
              <a:rPr lang="en-US" dirty="0">
                <a:hlinkClick r:id="rId2"/>
              </a:rPr>
              <a:t>Qu'est-ce qu'une notation ESG ?</a:t>
            </a:r>
            <a:endParaRPr lang="fr-CA" dirty="0"/>
          </a:p>
          <a:p>
            <a:pPr lvl="1"/>
            <a:r>
              <a:rPr lang="fr-CA" dirty="0"/>
              <a:t>Exemples : voir page suivante</a:t>
            </a:r>
          </a:p>
          <a:p>
            <a:pPr lvl="1"/>
            <a:endParaRPr lang="fr-CA" dirty="0"/>
          </a:p>
          <a:p>
            <a:pPr marL="342900" lvl="1" indent="0">
              <a:buNone/>
            </a:pPr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3A1CE1AA-A04E-CCC1-D6CB-986786A89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284984"/>
            <a:ext cx="6192688" cy="349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6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7922-3428-3AD6-85F8-2D563852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Agences</a:t>
            </a:r>
            <a:r>
              <a:rPr lang="en-US" dirty="0">
                <a:cs typeface="Calibri Light"/>
              </a:rPr>
              <a:t> de notation ESG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D1A2-8232-51B1-D3BE-C70CF385E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3632780"/>
          </a:xfr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dirty="0">
                <a:cs typeface="Calibri"/>
              </a:rPr>
              <a:t>Notations ESG de Sustainalytics (Morningstar)</a:t>
            </a:r>
            <a:endParaRPr lang="en-US" dirty="0"/>
          </a:p>
          <a:p>
            <a:r>
              <a:rPr lang="en-US" dirty="0">
                <a:cs typeface="Calibri"/>
              </a:rPr>
              <a:t>Notations ESG de Bloomberg</a:t>
            </a:r>
            <a:endParaRPr lang="en-US" dirty="0"/>
          </a:p>
          <a:p>
            <a:r>
              <a:rPr lang="en-US" dirty="0">
                <a:cs typeface="Calibri"/>
              </a:rPr>
              <a:t>Scores CDP (</a:t>
            </a:r>
            <a:r>
              <a:rPr lang="en-US" dirty="0" err="1">
                <a:cs typeface="Calibri"/>
              </a:rPr>
              <a:t>anciennement </a:t>
            </a:r>
            <a:r>
              <a:rPr lang="en-US" dirty="0">
                <a:cs typeface="Calibri"/>
              </a:rPr>
              <a:t>Carbon Disclosure Project)</a:t>
            </a:r>
          </a:p>
          <a:p>
            <a:r>
              <a:rPr lang="en-US" dirty="0">
                <a:cs typeface="Calibri"/>
              </a:rPr>
              <a:t>Notations ESG FTSE Russell</a:t>
            </a:r>
          </a:p>
          <a:p>
            <a:r>
              <a:rPr lang="en-US" dirty="0">
                <a:cs typeface="Calibri"/>
              </a:rPr>
              <a:t>ISS (International Shareholder Services) Notations et classements ESG</a:t>
            </a:r>
          </a:p>
          <a:p>
            <a:r>
              <a:rPr lang="en-US" dirty="0">
                <a:cs typeface="Calibri"/>
              </a:rPr>
              <a:t>Notation ESG MSCI (Morgan Stanley Capital International)</a:t>
            </a:r>
          </a:p>
          <a:p>
            <a:r>
              <a:rPr lang="en-US" dirty="0">
                <a:cs typeface="Calibri"/>
              </a:rPr>
              <a:t>Scores ESG Refinitiv</a:t>
            </a:r>
          </a:p>
          <a:p>
            <a:r>
              <a:rPr lang="en-US" dirty="0">
                <a:cs typeface="Calibri"/>
              </a:rPr>
              <a:t>Notations ESG S&amp;P Global</a:t>
            </a:r>
          </a:p>
          <a:p>
            <a:r>
              <a:rPr lang="en-US" dirty="0">
                <a:cs typeface="Calibri"/>
              </a:rPr>
              <a:t>Données de recherche ESG de Thomson Reuters</a:t>
            </a:r>
          </a:p>
          <a:p>
            <a:r>
              <a:rPr lang="en-US" dirty="0">
                <a:cs typeface="Calibri"/>
              </a:rPr>
              <a:t>Indice Dow Jones Sustainability (DJSI)</a:t>
            </a:r>
          </a:p>
          <a:p>
            <a:r>
              <a:rPr lang="en-US" dirty="0">
                <a:cs typeface="Calibri"/>
              </a:rPr>
              <a:t>Moody's ESG </a:t>
            </a:r>
          </a:p>
          <a:p>
            <a:r>
              <a:rPr lang="en-US" dirty="0" err="1">
                <a:cs typeface="Calibri"/>
              </a:rPr>
              <a:t>EcoVadis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4746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D5321-E421-34C5-119B-34BCB547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Ce qu'il faut savoir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B4FD1-52BE-9A55-D316-C4B5B5377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 lnSpcReduction="10000"/>
          </a:bodyPr>
          <a:lstStyle/>
          <a:p>
            <a:r>
              <a:rPr lang="en-US" sz="2400" dirty="0">
                <a:cs typeface="Calibri"/>
              </a:rPr>
              <a:t>Les scores ESG </a:t>
            </a:r>
            <a:r>
              <a:rPr lang="en-US" sz="2400" dirty="0" err="1">
                <a:cs typeface="Calibri"/>
              </a:rPr>
              <a:t>varient d'une agence à l'autre</a:t>
            </a:r>
            <a:r>
              <a:rPr lang="en-US" sz="2400" dirty="0">
                <a:cs typeface="Calibri"/>
              </a:rPr>
              <a:t>.</a:t>
            </a:r>
            <a:endParaRPr lang="en-US" sz="2400" dirty="0"/>
          </a:p>
          <a:p>
            <a:endParaRPr lang="en-US" sz="2400" dirty="0">
              <a:cs typeface="Calibri"/>
            </a:endParaRPr>
          </a:p>
          <a:p>
            <a:r>
              <a:rPr lang="en-US" sz="2400" dirty="0" err="1">
                <a:cs typeface="Calibri"/>
              </a:rPr>
              <a:t>Pourquoi </a:t>
            </a:r>
            <a:r>
              <a:rPr lang="en-US" sz="2400" dirty="0">
                <a:cs typeface="Calibri"/>
              </a:rPr>
              <a:t>?</a:t>
            </a:r>
          </a:p>
          <a:p>
            <a:pPr lvl="1"/>
            <a:r>
              <a:rPr lang="en-US" sz="1800" dirty="0" err="1">
                <a:cs typeface="Calibri"/>
              </a:rPr>
              <a:t>Les facteurs</a:t>
            </a:r>
            <a:r>
              <a:rPr lang="en-US" sz="1800" dirty="0">
                <a:cs typeface="Calibri"/>
              </a:rPr>
              <a:t> ESG ne</a:t>
            </a:r>
            <a:r>
              <a:rPr lang="en-US" sz="1800" dirty="0" err="1">
                <a:cs typeface="Calibri"/>
              </a:rPr>
              <a:t> sont </a:t>
            </a:r>
            <a:r>
              <a:rPr lang="en-US" sz="1800" dirty="0">
                <a:cs typeface="Calibri"/>
              </a:rPr>
              <a:t>pas </a:t>
            </a:r>
            <a:r>
              <a:rPr lang="en-US" sz="1800" dirty="0" err="1">
                <a:cs typeface="Calibri"/>
              </a:rPr>
              <a:t>évalués </a:t>
            </a:r>
            <a:r>
              <a:rPr lang="en-US" sz="1800" dirty="0">
                <a:cs typeface="Calibri"/>
              </a:rPr>
              <a:t>à l'aide des </a:t>
            </a:r>
            <a:r>
              <a:rPr lang="en-US" sz="1800" dirty="0" err="1">
                <a:cs typeface="Calibri"/>
              </a:rPr>
              <a:t>mêmes indicateurs</a:t>
            </a:r>
            <a:r>
              <a:rPr lang="en-US" sz="1800" dirty="0">
                <a:cs typeface="Calibri"/>
              </a:rPr>
              <a:t>.</a:t>
            </a:r>
          </a:p>
          <a:p>
            <a:pPr lvl="2"/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cs typeface="Calibri"/>
              </a:rPr>
              <a:t>Exemple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/>
              </a:rPr>
              <a:t>: satisfaction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cs typeface="Calibri"/>
              </a:rPr>
              <a:t> des employés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/>
              </a:rPr>
              <a:t>: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cs typeface="Calibri"/>
              </a:rPr>
              <a:t>taux de rotation du personnel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/>
              </a:rPr>
              <a:t>vs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cs typeface="Calibri"/>
              </a:rPr>
              <a:t>nombre de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/>
              </a:rPr>
              <a:t>plaintes</a:t>
            </a:r>
          </a:p>
          <a:p>
            <a:pPr lvl="1"/>
            <a:endParaRPr lang="en-US" sz="1800" dirty="0">
              <a:cs typeface="Calibri"/>
            </a:endParaRPr>
          </a:p>
          <a:p>
            <a:pPr lvl="1"/>
            <a:r>
              <a:rPr lang="en-US" sz="1800" dirty="0" err="1">
                <a:cs typeface="Calibri"/>
              </a:rPr>
              <a:t>Le poids </a:t>
            </a:r>
            <a:r>
              <a:rPr lang="en-US" sz="1800" dirty="0">
                <a:cs typeface="Calibri"/>
              </a:rPr>
              <a:t>de </a:t>
            </a:r>
            <a:r>
              <a:rPr lang="en-US" sz="1800" dirty="0" err="1">
                <a:cs typeface="Calibri"/>
              </a:rPr>
              <a:t>chaque facteur</a:t>
            </a:r>
            <a:r>
              <a:rPr lang="en-US" sz="1800" dirty="0">
                <a:cs typeface="Calibri"/>
              </a:rPr>
              <a:t> ESG n'</a:t>
            </a:r>
            <a:r>
              <a:rPr lang="en-US" sz="1800" dirty="0" err="1">
                <a:cs typeface="Calibri"/>
              </a:rPr>
              <a:t>est </a:t>
            </a:r>
            <a:r>
              <a:rPr lang="en-US" sz="1800" dirty="0">
                <a:cs typeface="Calibri"/>
              </a:rPr>
              <a:t>pas le </a:t>
            </a:r>
            <a:r>
              <a:rPr lang="en-US" sz="1800" dirty="0" err="1">
                <a:cs typeface="Calibri"/>
              </a:rPr>
              <a:t>même </a:t>
            </a:r>
            <a:r>
              <a:rPr lang="en-US" sz="1800" dirty="0">
                <a:cs typeface="Calibri"/>
              </a:rPr>
              <a:t>dans tous les indices.</a:t>
            </a:r>
            <a:endParaRPr lang="en-US" sz="1800" dirty="0"/>
          </a:p>
          <a:p>
            <a:pPr lvl="1"/>
            <a:endParaRPr lang="en-US" sz="1800" dirty="0">
              <a:cs typeface="Calibri"/>
            </a:endParaRPr>
          </a:p>
          <a:p>
            <a:pPr lvl="1"/>
            <a:r>
              <a:rPr lang="en-US" sz="1800" dirty="0" err="1">
                <a:cs typeface="Calibri"/>
              </a:rPr>
              <a:t>Toutes les informations </a:t>
            </a:r>
            <a:r>
              <a:rPr lang="en-US" sz="1800" dirty="0">
                <a:cs typeface="Calibri"/>
              </a:rPr>
              <a:t>sur les pratiques ESG ne </a:t>
            </a:r>
            <a:r>
              <a:rPr lang="en-US" sz="1800" dirty="0" err="1">
                <a:cs typeface="Calibri"/>
              </a:rPr>
              <a:t>sont </a:t>
            </a:r>
            <a:r>
              <a:rPr lang="en-US" sz="1800" dirty="0">
                <a:cs typeface="Calibri"/>
              </a:rPr>
              <a:t>pas </a:t>
            </a:r>
            <a:r>
              <a:rPr lang="en-US" sz="1800" dirty="0" err="1">
                <a:cs typeface="Calibri"/>
              </a:rPr>
              <a:t>publiques </a:t>
            </a:r>
            <a:r>
              <a:rPr lang="en-US" sz="1800" dirty="0">
                <a:cs typeface="Calibri"/>
              </a:rPr>
              <a:t>(divulgation</a:t>
            </a:r>
            <a:r>
              <a:rPr lang="en-US" sz="1800" dirty="0" err="1">
                <a:cs typeface="Calibri"/>
              </a:rPr>
              <a:t> volontaire</a:t>
            </a:r>
            <a:r>
              <a:rPr lang="en-US" sz="1800" dirty="0">
                <a:cs typeface="Calibri"/>
              </a:rPr>
              <a:t>). </a:t>
            </a:r>
            <a:r>
              <a:rPr lang="en-US" sz="1800" dirty="0" err="1">
                <a:cs typeface="Calibri"/>
              </a:rPr>
              <a:t>Les agences doivent « interpréter » </a:t>
            </a:r>
            <a:r>
              <a:rPr lang="en-US" sz="1800" dirty="0">
                <a:cs typeface="Calibri"/>
              </a:rPr>
              <a:t>les </a:t>
            </a:r>
            <a:r>
              <a:rPr lang="en-US" sz="1800" dirty="0" err="1">
                <a:cs typeface="Calibri"/>
              </a:rPr>
              <a:t>informations</a:t>
            </a:r>
            <a:r>
              <a:rPr lang="en-US" sz="1800" dirty="0">
                <a:cs typeface="Calibri"/>
              </a:rPr>
              <a:t>.</a:t>
            </a:r>
          </a:p>
          <a:p>
            <a:pPr lvl="1"/>
            <a:endParaRPr lang="en-US" sz="1800" dirty="0">
              <a:cs typeface="Calibri"/>
            </a:endParaRPr>
          </a:p>
          <a:p>
            <a:pPr lvl="1"/>
            <a:endParaRPr lang="en-US" sz="1800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DFDF2-3B33-2B14-AB5B-520D3B196E0F}"/>
              </a:ext>
            </a:extLst>
          </p:cNvPr>
          <p:cNvSpPr txBox="1"/>
          <p:nvPr/>
        </p:nvSpPr>
        <p:spPr>
          <a:xfrm>
            <a:off x="478800" y="5749280"/>
            <a:ext cx="6757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 err="1"/>
              <a:t>Lien intéressant </a:t>
            </a:r>
            <a:r>
              <a:rPr lang="fr-CA" dirty="0"/>
              <a:t>: </a:t>
            </a:r>
          </a:p>
          <a:p>
            <a:pPr marL="268913" lvl="1" indent="0">
              <a:buNone/>
            </a:pPr>
            <a:r>
              <a:rPr lang="fr-CA" dirty="0">
                <a:hlinkClick r:id="rId2"/>
              </a:rPr>
              <a:t>AMF - </a:t>
            </a:r>
            <a:r>
              <a:rPr lang="fr-CA" dirty="0" err="1">
                <a:hlinkClick r:id="rId2"/>
              </a:rPr>
              <a:t>Investissement responsable </a:t>
            </a:r>
            <a:r>
              <a:rPr lang="fr-CA" dirty="0">
                <a:hlinkClick r:id="rId2"/>
              </a:rPr>
              <a:t>et </a:t>
            </a:r>
            <a:r>
              <a:rPr lang="fr-CA" dirty="0" err="1">
                <a:hlinkClick r:id="rId2"/>
              </a:rPr>
              <a:t>durable</a:t>
            </a:r>
            <a:endParaRPr lang="fr-CA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38598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Actions privilégiées </a:t>
            </a:r>
            <a:r>
              <a:rPr lang="fr-CA" dirty="0"/>
              <a:t>- </a:t>
            </a:r>
            <a:r>
              <a:rPr lang="fr-CA" dirty="0" err="1"/>
              <a:t>Définition </a:t>
            </a:r>
            <a:r>
              <a:rPr lang="fr-CA" dirty="0"/>
              <a:t>et caractéristiques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78800" y="2002536"/>
            <a:ext cx="8186399" cy="3948208"/>
          </a:xfrm>
        </p:spPr>
        <p:txBody>
          <a:bodyPr>
            <a:normAutofit lnSpcReduction="10000"/>
          </a:bodyPr>
          <a:lstStyle/>
          <a:p>
            <a:r>
              <a:rPr lang="fr-CA" sz="1800" b="1" dirty="0"/>
              <a:t>Définition : </a:t>
            </a:r>
          </a:p>
          <a:p>
            <a:pPr lvl="1"/>
            <a:r>
              <a:rPr lang="fr-CA" dirty="0" err="1"/>
              <a:t>Titres</a:t>
            </a:r>
            <a:r>
              <a:rPr lang="fr-CA" dirty="0"/>
              <a:t> financiers </a:t>
            </a:r>
            <a:r>
              <a:rPr lang="fr-CA" dirty="0" err="1"/>
              <a:t>présentant </a:t>
            </a:r>
            <a:r>
              <a:rPr lang="fr-CA" dirty="0"/>
              <a:t>les </a:t>
            </a:r>
            <a:r>
              <a:rPr lang="fr-CA" dirty="0" err="1"/>
              <a:t>caractéristiques suivantes </a:t>
            </a:r>
            <a:r>
              <a:rPr lang="fr-CA" dirty="0"/>
              <a:t>:</a:t>
            </a:r>
          </a:p>
          <a:p>
            <a:pPr lvl="1"/>
            <a:endParaRPr lang="fr-CA" dirty="0"/>
          </a:p>
          <a:p>
            <a:r>
              <a:rPr lang="fr-CA" sz="1800" b="1" dirty="0"/>
              <a:t>Caractéristiques :</a:t>
            </a:r>
          </a:p>
          <a:p>
            <a:pPr lvl="1"/>
            <a:r>
              <a:rPr lang="fr-CA" dirty="0" err="1"/>
              <a:t>Échéance illimitée</a:t>
            </a:r>
            <a:endParaRPr lang="fr-CA" dirty="0"/>
          </a:p>
          <a:p>
            <a:pPr lvl="1"/>
            <a:r>
              <a:rPr lang="fr-CA" dirty="0"/>
              <a:t>Pas de droit de vote</a:t>
            </a:r>
          </a:p>
          <a:p>
            <a:pPr lvl="1"/>
            <a:r>
              <a:rPr lang="fr-CA" dirty="0"/>
              <a:t>Dividendes</a:t>
            </a:r>
            <a:r>
              <a:rPr lang="fr-CA" u="sng" dirty="0"/>
              <a:t> fixes </a:t>
            </a:r>
            <a:r>
              <a:rPr lang="fr-CA" dirty="0"/>
              <a:t>(trimestriels ou annuels) </a:t>
            </a:r>
            <a:r>
              <a:rPr lang="fr-CA" dirty="0">
                <a:sym typeface="Wingdings" panose="05000000000000000000" pitchFamily="2" charset="2"/>
              </a:rPr>
              <a:t> </a:t>
            </a:r>
            <a:r>
              <a:rPr lang="fr-FR" dirty="0"/>
              <a:t>les dividendes non versés sont reportés</a:t>
            </a:r>
            <a:endParaRPr lang="fr-CA" dirty="0"/>
          </a:p>
          <a:p>
            <a:pPr lvl="1"/>
            <a:r>
              <a:rPr lang="fr-FR" dirty="0"/>
              <a:t>Titre senior aux actions ordinaires et subordonné à la dette</a:t>
            </a:r>
          </a:p>
          <a:p>
            <a:pPr lvl="1"/>
            <a:endParaRPr lang="fr-CA" dirty="0"/>
          </a:p>
          <a:p>
            <a:r>
              <a:rPr lang="fr-CA" dirty="0"/>
              <a:t>En quoi diffèrent-ils </a:t>
            </a:r>
            <a:r>
              <a:rPr lang="fr-CA" dirty="0" err="1"/>
              <a:t>des </a:t>
            </a:r>
            <a:r>
              <a:rPr lang="fr-CA" dirty="0"/>
              <a:t>actions ordinaires ?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Qui sont les véritables propriétaires de la société ?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sz="1800" dirty="0">
                <a:solidFill>
                  <a:srgbClr val="339966"/>
                </a:solidFill>
                <a:latin typeface="Ink Free" panose="03080402000500000000" pitchFamily="66" charset="0"/>
              </a:rPr>
              <a:t>Un titre beaucoup moins courant sur les marchés.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765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78800" y="2002536"/>
                <a:ext cx="8086556" cy="4526734"/>
              </a:xfrm>
            </p:spPr>
            <p:txBody>
              <a:bodyPr>
                <a:normAutofit/>
              </a:bodyPr>
              <a:lstStyle/>
              <a:p>
                <a:r>
                  <a:rPr lang="fr-CA" sz="1800" b="1" dirty="0"/>
                  <a:t>Dividendes constants à l'infini </a:t>
                </a:r>
                <a:r>
                  <a:rPr lang="fr-CA" dirty="0"/>
                  <a:t>:</a:t>
                </a:r>
              </a:p>
              <a:p>
                <a:pPr lvl="1"/>
                <a:r>
                  <a:rPr lang="fr-CA" dirty="0" err="1"/>
                  <a:t>Actualisation </a:t>
                </a:r>
                <a:r>
                  <a:rPr lang="fr-CA" dirty="0"/>
                  <a:t>d'une </a:t>
                </a:r>
                <a:r>
                  <a:rPr lang="fr-CA" dirty="0" err="1"/>
                  <a:t>perpétuité</a:t>
                </a:r>
                <a:r>
                  <a:rPr lang="fr-CA" dirty="0"/>
                  <a:t>...</a:t>
                </a:r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r>
                  <a:rPr lang="fr-CA" sz="1800" b="1" dirty="0"/>
                  <a:t>Formules : </a:t>
                </a:r>
              </a:p>
              <a:p>
                <a:pPr>
                  <a:buNone/>
                </a:pPr>
                <a:endParaRPr lang="fr-CA" dirty="0"/>
              </a:p>
              <a:p>
                <a:pPr marL="205740" lvl="1" indent="0">
                  <a:buNone/>
                </a:pPr>
                <a:r>
                  <a:rPr lang="fr-CA" b="1" dirty="0">
                    <a:solidFill>
                      <a:srgbClr val="FF0000"/>
                    </a:solidFill>
                  </a:rPr>
                  <a:t>	Valeur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𝑫𝒊𝒗𝒊𝒅𝒆𝒏𝒅𝒆</m:t>
                        </m:r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𝒄𝒐𝒏𝒔𝒕𝒂𝒏𝒕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fr-CA" dirty="0"/>
                  <a:t>	   ou     </a:t>
                </a:r>
                <a:r>
                  <a:rPr lang="fr-CA" b="1" dirty="0">
                    <a:solidFill>
                      <a:srgbClr val="FF0000"/>
                    </a:solidFill>
                  </a:rPr>
                  <a:t>Prix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𝑫𝒊𝒗𝒊𝒅𝒆𝒏𝒅𝒆</m:t>
                        </m:r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𝒄𝒐𝒏𝒔𝒕𝒂𝒏𝒕</m:t>
                        </m:r>
                      </m:num>
                      <m:den>
                        <m:sSub>
                          <m:sSubPr>
                            <m:ctrlPr>
                              <a:rPr lang="fr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fr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den>
                    </m:f>
                  </m:oMath>
                </a14:m>
                <a:endParaRPr lang="fr-CA" b="1" dirty="0"/>
              </a:p>
              <a:p>
                <a:pPr marL="205740" lvl="1" indent="0">
                  <a:buNone/>
                </a:pPr>
                <a:endParaRPr lang="fr-CA" dirty="0"/>
              </a:p>
              <a:p>
                <a:pPr lvl="1"/>
                <a:endParaRPr lang="fr-CA" dirty="0"/>
              </a:p>
              <a:p>
                <a:r>
                  <a:rPr lang="fr-CA" dirty="0"/>
                  <a:t>Remarque : le dividende et r doivent se situer dans la même période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78800" y="2002536"/>
                <a:ext cx="8086556" cy="4526734"/>
              </a:xfrm>
              <a:blipFill>
                <a:blip r:embed="rId2"/>
                <a:stretch>
                  <a:fillRect l="-905" t="-188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1143001" y="855576"/>
            <a:ext cx="138564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1143001" y="1284201"/>
            <a:ext cx="138564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023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396471"/>
            <a:ext cx="7056784" cy="758952"/>
          </a:xfrm>
        </p:spPr>
        <p:txBody>
          <a:bodyPr>
            <a:noAutofit/>
          </a:bodyPr>
          <a:lstStyle/>
          <a:p>
            <a:pPr algn="l"/>
            <a:r>
              <a:rPr lang="fr-CA" sz="2800" b="1" dirty="0">
                <a:solidFill>
                  <a:srgbClr val="FF0000"/>
                </a:solidFill>
              </a:rPr>
              <a:t>Annexe : </a:t>
            </a:r>
            <a:r>
              <a:rPr lang="fr-CA" sz="2800" dirty="0">
                <a:solidFill>
                  <a:srgbClr val="FF0000"/>
                </a:solidFill>
              </a:rPr>
              <a:t>Action privilégiée vs action ordinaire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614D67-8457-422B-A1BB-6E96CD5FDDD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15889305"/>
              </p:ext>
            </p:extLst>
          </p:nvPr>
        </p:nvGraphicFramePr>
        <p:xfrm>
          <a:off x="330832" y="1484784"/>
          <a:ext cx="8482335" cy="48492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12843">
                  <a:extLst>
                    <a:ext uri="{9D8B030D-6E8A-4147-A177-3AD203B41FA5}">
                      <a16:colId xmlns:a16="http://schemas.microsoft.com/office/drawing/2014/main" val="3245832748"/>
                    </a:ext>
                  </a:extLst>
                </a:gridCol>
                <a:gridCol w="2731773">
                  <a:extLst>
                    <a:ext uri="{9D8B030D-6E8A-4147-A177-3AD203B41FA5}">
                      <a16:colId xmlns:a16="http://schemas.microsoft.com/office/drawing/2014/main" val="1562845423"/>
                    </a:ext>
                  </a:extLst>
                </a:gridCol>
                <a:gridCol w="2937719">
                  <a:extLst>
                    <a:ext uri="{9D8B030D-6E8A-4147-A177-3AD203B41FA5}">
                      <a16:colId xmlns:a16="http://schemas.microsoft.com/office/drawing/2014/main" val="247124269"/>
                    </a:ext>
                  </a:extLst>
                </a:gridCol>
              </a:tblGrid>
              <a:tr h="410117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Action privilégiée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Action ordinaire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105158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/>
                        <a:t>Dividende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Dividende privilégié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Dividende ordinaire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595634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/>
                        <a:t>Flux </a:t>
                      </a:r>
                      <a:r>
                        <a:rPr lang="en-CA" sz="1600" dirty="0" err="1"/>
                        <a:t>monétaires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Fixe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Variable (incertain)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977844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/>
                        <a:t>Propriétaire de la société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29320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/>
                        <a:t>Accès aux bénéfices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12422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/>
                        <a:t>Droits de 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027457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/>
                        <a:t>Rémunération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Dividendes uniquement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Dividendes + bénéfices non distribués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372326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 err="1"/>
                        <a:t>Priorité</a:t>
                      </a:r>
                      <a:r>
                        <a:rPr lang="en-CA" sz="1600" dirty="0"/>
                        <a:t> </a:t>
                      </a:r>
                      <a:r>
                        <a:rPr lang="en-CA" sz="1600" dirty="0" err="1"/>
                        <a:t>en</a:t>
                      </a:r>
                      <a:r>
                        <a:rPr lang="en-CA" sz="1600" dirty="0"/>
                        <a:t> </a:t>
                      </a:r>
                      <a:r>
                        <a:rPr lang="en-CA" sz="1600" dirty="0" err="1"/>
                        <a:t>cas</a:t>
                      </a:r>
                      <a:r>
                        <a:rPr lang="en-CA" sz="1600" dirty="0"/>
                        <a:t> de </a:t>
                      </a:r>
                      <a:r>
                        <a:rPr lang="en-CA" sz="1600" dirty="0" err="1"/>
                        <a:t>faillite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Avant les </a:t>
                      </a:r>
                      <a:r>
                        <a:rPr lang="en-CA" sz="1600" dirty="0" err="1"/>
                        <a:t>actionnaires</a:t>
                      </a:r>
                      <a:r>
                        <a:rPr lang="en-CA" sz="1600" dirty="0"/>
                        <a:t> ordinaires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862134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/>
                        <a:t>Risque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795148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 err="1"/>
                        <a:t>Populairité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Faible, peu courant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Nombreuses entreprises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31364"/>
                  </a:ext>
                </a:extLst>
              </a:tr>
              <a:tr h="410117">
                <a:tc>
                  <a:txBody>
                    <a:bodyPr/>
                    <a:lstStyle/>
                    <a:p>
                      <a:r>
                        <a:rPr lang="en-CA" sz="1600" dirty="0"/>
                        <a:t>Durée de 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Illimitée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Illimitée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943647"/>
                  </a:ext>
                </a:extLst>
              </a:tr>
            </a:tbl>
          </a:graphicData>
        </a:graphic>
      </p:graphicFrame>
      <p:pic>
        <p:nvPicPr>
          <p:cNvPr id="3" name="Picture 2" descr="Important ">
            <a:extLst>
              <a:ext uri="{FF2B5EF4-FFF2-40B4-BE49-F238E27FC236}">
                <a16:creationId xmlns:a16="http://schemas.microsoft.com/office/drawing/2014/main" id="{285DE078-4AA0-8386-E3CF-1D44C9C12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9863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82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 nouveau 2024 v3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nouveau 2024 v3" id="{E9EE394B-11A2-4972-97DD-70F5505EE67A}" vid="{B6E295EC-CFD5-4099-AC90-43DE5FAA0485}"/>
    </a:ext>
  </a:extLst>
</a:theme>
</file>

<file path=ppt/theme/theme2.xml><?xml version="1.0" encoding="utf-8"?>
<a:theme xmlns:a="http://schemas.openxmlformats.org/drawingml/2006/main" name="1_Civil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4.xml><?xml version="1.0" encoding="utf-8"?>
<a:theme xmlns:a="http://schemas.openxmlformats.org/drawingml/2006/main" name="1_Theme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F497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5.xml><?xml version="1.0" encoding="utf-8"?>
<a:theme xmlns:a="http://schemas.openxmlformats.org/drawingml/2006/main" name="2_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6.xml><?xml version="1.0" encoding="utf-8"?>
<a:theme xmlns:a="http://schemas.openxmlformats.org/drawingml/2006/main" name="3_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7.xml><?xml version="1.0" encoding="utf-8"?>
<a:theme xmlns:a="http://schemas.openxmlformats.org/drawingml/2006/main" name="theme nouveau 2024 v2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nouveau 2024 v2" id="{80D6775C-FE4E-4DA0-8FFC-73D90771A4C7}" vid="{D02DAE52-BF4B-4B74-BF16-773B52978150}"/>
    </a:ext>
  </a:extLst>
</a:theme>
</file>

<file path=ppt/theme/theme8.xml><?xml version="1.0" encoding="utf-8"?>
<a:theme xmlns:a="http://schemas.openxmlformats.org/drawingml/2006/main" name="1_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54F02C9-6C04-8941-98AF-7C66FC1B9807}" vid="{378BFC92-88BE-C343-AA7D-4E1AA329E8F6}"/>
    </a:ext>
  </a:extLst>
</a:theme>
</file>

<file path=ppt/theme/theme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nouveau 2024 v3</Template>
  <TotalTime>7014</TotalTime>
  <Words>1291</Words>
  <Application>Microsoft Office PowerPoint</Application>
  <PresentationFormat>On-screen Show (4:3)</PresentationFormat>
  <Paragraphs>257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16</vt:i4>
      </vt:variant>
    </vt:vector>
  </HeadingPairs>
  <TitlesOfParts>
    <vt:vector size="36" baseType="lpstr">
      <vt:lpstr>Amasis MT Pro Light</vt:lpstr>
      <vt:lpstr>Arial</vt:lpstr>
      <vt:lpstr>Bradley Hand ITC</vt:lpstr>
      <vt:lpstr>Calibri</vt:lpstr>
      <vt:lpstr>Calibri Light</vt:lpstr>
      <vt:lpstr>Cambria Math</vt:lpstr>
      <vt:lpstr>Courier New</vt:lpstr>
      <vt:lpstr>Georgia</vt:lpstr>
      <vt:lpstr>Ink Free</vt:lpstr>
      <vt:lpstr>Tahoma</vt:lpstr>
      <vt:lpstr>Wingdings</vt:lpstr>
      <vt:lpstr>Wingdings 2</vt:lpstr>
      <vt:lpstr>theme nouveau 2024 v3</vt:lpstr>
      <vt:lpstr>1_Civil</vt:lpstr>
      <vt:lpstr>Theme1</vt:lpstr>
      <vt:lpstr>1_Theme1</vt:lpstr>
      <vt:lpstr>2_Theme1</vt:lpstr>
      <vt:lpstr>3_Theme1</vt:lpstr>
      <vt:lpstr>theme nouveau 2024 v2</vt:lpstr>
      <vt:lpstr>1_Thème HEC</vt:lpstr>
      <vt:lpstr>10200 Finance</vt:lpstr>
      <vt:lpstr>Qu'avons-nous vu dans la séance 4 ?</vt:lpstr>
      <vt:lpstr>Lire une cote d’action ordinaire</vt:lpstr>
      <vt:lpstr>Évaluation des actions</vt:lpstr>
      <vt:lpstr>2 - Taux de croissance constant des dividendes</vt:lpstr>
      <vt:lpstr>Exemple : action ordinaire et annuité croissante</vt:lpstr>
      <vt:lpstr> Cas particulier : annuité croissante</vt:lpstr>
      <vt:lpstr>Exemple 2</vt:lpstr>
      <vt:lpstr>Exemple 3</vt:lpstr>
      <vt:lpstr>Actions ordinaires et finance durable © Marie-Hélène Allard</vt:lpstr>
      <vt:lpstr>Les actions</vt:lpstr>
      <vt:lpstr>Agences de notation ESG</vt:lpstr>
      <vt:lpstr>Ce qu'il faut savoir</vt:lpstr>
      <vt:lpstr>Actions privilégiées - Définition et caractéristiques</vt:lpstr>
      <vt:lpstr>Évaluation</vt:lpstr>
      <vt:lpstr>Annexe : Action privilégiée vs action ordinaire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Propédeutique en finance 70-200</dc:title>
  <dc:creator>Utilisateur</dc:creator>
  <cp:keywords>, docId:DC1C202A6C51E230AEDB850AFE20A818</cp:keywords>
  <cp:lastModifiedBy>Mélanie Caron-Harris</cp:lastModifiedBy>
  <cp:revision>164</cp:revision>
  <dcterms:created xsi:type="dcterms:W3CDTF">2014-06-10T14:49:14Z</dcterms:created>
  <dcterms:modified xsi:type="dcterms:W3CDTF">2026-09-21T13:09:41Z</dcterms:modified>
</cp:coreProperties>
</file>