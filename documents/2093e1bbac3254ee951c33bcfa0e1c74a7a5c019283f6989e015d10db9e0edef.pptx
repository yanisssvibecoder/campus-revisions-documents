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76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71" r:id="rId2"/>
    <p:sldId id="272" r:id="rId3"/>
    <p:sldId id="273" r:id="rId4"/>
    <p:sldId id="274" r:id="rId5"/>
    <p:sldId id="317" r:id="rId6"/>
    <p:sldId id="318" r:id="rId7"/>
    <p:sldId id="275" r:id="rId8"/>
    <p:sldId id="276" r:id="rId9"/>
    <p:sldId id="277" r:id="rId10"/>
    <p:sldId id="278" r:id="rId11"/>
    <p:sldId id="279" r:id="rId12"/>
    <p:sldId id="280" r:id="rId13"/>
    <p:sldId id="282" r:id="rId14"/>
    <p:sldId id="285" r:id="rId15"/>
    <p:sldId id="286" r:id="rId16"/>
    <p:sldId id="288" r:id="rId17"/>
    <p:sldId id="293" r:id="rId18"/>
    <p:sldId id="319" r:id="rId19"/>
    <p:sldId id="320" r:id="rId20"/>
    <p:sldId id="299" r:id="rId21"/>
    <p:sldId id="300" r:id="rId22"/>
    <p:sldId id="307" r:id="rId23"/>
    <p:sldId id="308" r:id="rId24"/>
    <p:sldId id="314" r:id="rId25"/>
    <p:sldId id="316" r:id="rId26"/>
    <p:sldId id="315" r:id="rId27"/>
    <p:sldId id="270" r:id="rId28"/>
  </p:sldIdLst>
  <p:sldSz cx="9144000" cy="5143500" type="screen16x9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02E6BC-72DD-435B-86D7-268B93C560E6}" v="1" dt="2020-05-21T20:03:26.1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80" autoAdjust="0"/>
    <p:restoredTop sz="94660"/>
  </p:normalViewPr>
  <p:slideViewPr>
    <p:cSldViewPr>
      <p:cViewPr varScale="1">
        <p:scale>
          <a:sx n="79" d="100"/>
          <a:sy n="79" d="100"/>
        </p:scale>
        <p:origin x="864" y="4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87BBB82-4C46-488C-AFD1-E5C28E1249C6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CA"/>
        </a:p>
      </dgm:t>
    </dgm:pt>
    <dgm:pt modelId="{D6C4EC92-4668-4023-9428-695245D4E223}">
      <dgm:prSet phldrT="[Texte]"/>
      <dgm:spPr/>
      <dgm:t>
        <a:bodyPr/>
        <a:lstStyle/>
        <a:p>
          <a:r>
            <a:rPr lang="fr-CA" dirty="0"/>
            <a:t>Revenus - dépenses</a:t>
          </a:r>
        </a:p>
      </dgm:t>
    </dgm:pt>
    <dgm:pt modelId="{F3BD0E3F-9690-475D-A837-A682D22F2A69}" type="parTrans" cxnId="{14A6B062-7F6C-43F1-A301-644E2D65FFCD}">
      <dgm:prSet/>
      <dgm:spPr/>
      <dgm:t>
        <a:bodyPr/>
        <a:lstStyle/>
        <a:p>
          <a:endParaRPr lang="fr-CA"/>
        </a:p>
      </dgm:t>
    </dgm:pt>
    <dgm:pt modelId="{8319E6F8-629A-4C1A-B6E5-AD476B50C524}" type="sibTrans" cxnId="{14A6B062-7F6C-43F1-A301-644E2D65FFCD}">
      <dgm:prSet/>
      <dgm:spPr/>
      <dgm:t>
        <a:bodyPr/>
        <a:lstStyle/>
        <a:p>
          <a:endParaRPr lang="fr-CA"/>
        </a:p>
      </dgm:t>
    </dgm:pt>
    <dgm:pt modelId="{D5060922-DB09-4023-B744-B8A9856C8286}">
      <dgm:prSet phldrT="[Texte]"/>
      <dgm:spPr/>
      <dgm:t>
        <a:bodyPr/>
        <a:lstStyle/>
        <a:p>
          <a:r>
            <a:rPr lang="fr-CA" dirty="0"/>
            <a:t>R–D*(1 – Tc)</a:t>
          </a:r>
        </a:p>
      </dgm:t>
    </dgm:pt>
    <dgm:pt modelId="{E7040AFF-94FB-4D21-A59F-AA6F1B60F719}" type="parTrans" cxnId="{BA3F2C6B-6A97-4632-BA35-9C50059B4C05}">
      <dgm:prSet/>
      <dgm:spPr/>
      <dgm:t>
        <a:bodyPr/>
        <a:lstStyle/>
        <a:p>
          <a:endParaRPr lang="fr-CA"/>
        </a:p>
      </dgm:t>
    </dgm:pt>
    <dgm:pt modelId="{FD6A5A19-8D1E-4B07-BD2B-B1E1D386D3B0}" type="sibTrans" cxnId="{BA3F2C6B-6A97-4632-BA35-9C50059B4C05}">
      <dgm:prSet/>
      <dgm:spPr/>
      <dgm:t>
        <a:bodyPr/>
        <a:lstStyle/>
        <a:p>
          <a:endParaRPr lang="fr-CA"/>
        </a:p>
      </dgm:t>
    </dgm:pt>
    <dgm:pt modelId="{2F8BAB89-C765-4756-BB20-27B6083386ED}">
      <dgm:prSet phldrT="[Texte]"/>
      <dgm:spPr/>
      <dgm:t>
        <a:bodyPr/>
        <a:lstStyle/>
        <a:p>
          <a:r>
            <a:rPr lang="fr-CA" dirty="0"/>
            <a:t>Actifs amortissables</a:t>
          </a:r>
        </a:p>
      </dgm:t>
    </dgm:pt>
    <dgm:pt modelId="{10E11220-4FCF-4939-9A98-8847642463FF}" type="parTrans" cxnId="{ACAE5E16-EE92-4DBF-B890-6214E4F4F04E}">
      <dgm:prSet/>
      <dgm:spPr/>
      <dgm:t>
        <a:bodyPr/>
        <a:lstStyle/>
        <a:p>
          <a:endParaRPr lang="fr-CA"/>
        </a:p>
      </dgm:t>
    </dgm:pt>
    <dgm:pt modelId="{2397DE27-2D6F-4EAA-8096-DCBF77A83F43}" type="sibTrans" cxnId="{ACAE5E16-EE92-4DBF-B890-6214E4F4F04E}">
      <dgm:prSet/>
      <dgm:spPr/>
      <dgm:t>
        <a:bodyPr/>
        <a:lstStyle/>
        <a:p>
          <a:endParaRPr lang="fr-CA"/>
        </a:p>
      </dgm:t>
    </dgm:pt>
    <dgm:pt modelId="{E29C59F2-FC54-4F1C-AFF6-F03906960C9A}">
      <dgm:prSet phldrT="[Texte]"/>
      <dgm:spPr/>
      <dgm:t>
        <a:bodyPr/>
        <a:lstStyle/>
        <a:p>
          <a:r>
            <a:rPr lang="fr-CA" dirty="0"/>
            <a:t>VAÉI</a:t>
          </a:r>
          <a:r>
            <a:rPr lang="fr-CA" baseline="-25000" dirty="0"/>
            <a:t>ACC</a:t>
          </a:r>
        </a:p>
      </dgm:t>
    </dgm:pt>
    <dgm:pt modelId="{B4A83BED-4189-428C-B02E-087739DDA5FC}" type="parTrans" cxnId="{C04DCB43-475E-4FBC-9729-DDF7FFC98E96}">
      <dgm:prSet/>
      <dgm:spPr/>
      <dgm:t>
        <a:bodyPr/>
        <a:lstStyle/>
        <a:p>
          <a:endParaRPr lang="fr-CA"/>
        </a:p>
      </dgm:t>
    </dgm:pt>
    <dgm:pt modelId="{DDF32814-304A-44AD-A1EA-B3DD22DDFDEF}" type="sibTrans" cxnId="{C04DCB43-475E-4FBC-9729-DDF7FFC98E96}">
      <dgm:prSet/>
      <dgm:spPr/>
      <dgm:t>
        <a:bodyPr/>
        <a:lstStyle/>
        <a:p>
          <a:endParaRPr lang="fr-CA"/>
        </a:p>
      </dgm:t>
    </dgm:pt>
    <dgm:pt modelId="{10A823AD-2A82-4EC6-9FEA-4F59C311F377}">
      <dgm:prSet phldrT="[Texte]"/>
      <dgm:spPr/>
      <dgm:t>
        <a:bodyPr/>
        <a:lstStyle/>
        <a:p>
          <a:r>
            <a:rPr lang="fr-CA" dirty="0"/>
            <a:t>Actifs non-amortissables</a:t>
          </a:r>
        </a:p>
      </dgm:t>
    </dgm:pt>
    <dgm:pt modelId="{5A11224E-FC31-4AB4-811F-9A4D2AC4DDE0}" type="parTrans" cxnId="{E8033A1B-372F-4216-BEF6-43129793BC40}">
      <dgm:prSet/>
      <dgm:spPr/>
      <dgm:t>
        <a:bodyPr/>
        <a:lstStyle/>
        <a:p>
          <a:endParaRPr lang="fr-CA"/>
        </a:p>
      </dgm:t>
    </dgm:pt>
    <dgm:pt modelId="{D8308EDD-71B6-4C8E-BAB6-7336255D252F}" type="sibTrans" cxnId="{E8033A1B-372F-4216-BEF6-43129793BC40}">
      <dgm:prSet/>
      <dgm:spPr/>
      <dgm:t>
        <a:bodyPr/>
        <a:lstStyle/>
        <a:p>
          <a:endParaRPr lang="fr-CA"/>
        </a:p>
      </dgm:t>
    </dgm:pt>
    <dgm:pt modelId="{034C2A50-857A-4570-9A8C-5B303BC0E925}">
      <dgm:prSet phldrT="[Texte]"/>
      <dgm:spPr/>
      <dgm:t>
        <a:bodyPr/>
        <a:lstStyle/>
        <a:p>
          <a:r>
            <a:rPr lang="fr-CA" dirty="0"/>
            <a:t>Gain ou perte en capital</a:t>
          </a:r>
        </a:p>
      </dgm:t>
    </dgm:pt>
    <dgm:pt modelId="{9113D74B-6FB4-4C85-B60D-6416D0BEB8C2}" type="parTrans" cxnId="{3B73C518-3AF4-4E0A-AB3C-AA7A4B8E7A55}">
      <dgm:prSet/>
      <dgm:spPr/>
      <dgm:t>
        <a:bodyPr/>
        <a:lstStyle/>
        <a:p>
          <a:endParaRPr lang="fr-CA"/>
        </a:p>
      </dgm:t>
    </dgm:pt>
    <dgm:pt modelId="{1307E631-080B-4994-85D8-33BE15A9EBF9}" type="sibTrans" cxnId="{3B73C518-3AF4-4E0A-AB3C-AA7A4B8E7A55}">
      <dgm:prSet/>
      <dgm:spPr/>
      <dgm:t>
        <a:bodyPr/>
        <a:lstStyle/>
        <a:p>
          <a:endParaRPr lang="fr-CA"/>
        </a:p>
      </dgm:t>
    </dgm:pt>
    <dgm:pt modelId="{84237759-6DAE-47F1-95C8-3312C8236C48}">
      <dgm:prSet phldrT="[Texte]"/>
      <dgm:spPr/>
      <dgm:t>
        <a:bodyPr/>
        <a:lstStyle/>
        <a:p>
          <a:r>
            <a:rPr lang="fr-CA" baseline="0" dirty="0"/>
            <a:t>Coût</a:t>
          </a:r>
        </a:p>
      </dgm:t>
    </dgm:pt>
    <dgm:pt modelId="{3F3FA9CA-59F8-4667-89FB-28B42D0BB9C3}" type="parTrans" cxnId="{26DC594D-A8E8-40A3-B488-A5ED0F4B7749}">
      <dgm:prSet/>
      <dgm:spPr/>
      <dgm:t>
        <a:bodyPr/>
        <a:lstStyle/>
        <a:p>
          <a:endParaRPr lang="fr-CA"/>
        </a:p>
      </dgm:t>
    </dgm:pt>
    <dgm:pt modelId="{61B1710F-0FD8-4249-B64E-63A105AAF43F}" type="sibTrans" cxnId="{26DC594D-A8E8-40A3-B488-A5ED0F4B7749}">
      <dgm:prSet/>
      <dgm:spPr/>
      <dgm:t>
        <a:bodyPr/>
        <a:lstStyle/>
        <a:p>
          <a:endParaRPr lang="fr-CA"/>
        </a:p>
      </dgm:t>
    </dgm:pt>
    <dgm:pt modelId="{DD9AF786-652D-4A1C-8056-D70F66F664DF}">
      <dgm:prSet phldrT="[Texte]"/>
      <dgm:spPr/>
      <dgm:t>
        <a:bodyPr/>
        <a:lstStyle/>
        <a:p>
          <a:r>
            <a:rPr lang="fr-CA" dirty="0"/>
            <a:t>Coût</a:t>
          </a:r>
        </a:p>
      </dgm:t>
    </dgm:pt>
    <dgm:pt modelId="{8A8D33C7-0EA9-4C22-8709-890E9CFDDE5E}" type="parTrans" cxnId="{16B1CC76-9608-4B27-9A10-618579DC33B6}">
      <dgm:prSet/>
      <dgm:spPr/>
      <dgm:t>
        <a:bodyPr/>
        <a:lstStyle/>
        <a:p>
          <a:endParaRPr lang="fr-CA"/>
        </a:p>
      </dgm:t>
    </dgm:pt>
    <dgm:pt modelId="{A4789347-706B-4861-9A10-F034036AFFC8}" type="sibTrans" cxnId="{16B1CC76-9608-4B27-9A10-618579DC33B6}">
      <dgm:prSet/>
      <dgm:spPr/>
      <dgm:t>
        <a:bodyPr/>
        <a:lstStyle/>
        <a:p>
          <a:endParaRPr lang="fr-CA"/>
        </a:p>
      </dgm:t>
    </dgm:pt>
    <dgm:pt modelId="{D353D791-D3F2-4974-B950-2145CC0D0D03}">
      <dgm:prSet phldrT="[Texte]"/>
      <dgm:spPr/>
      <dgm:t>
        <a:bodyPr/>
        <a:lstStyle/>
        <a:p>
          <a:r>
            <a:rPr lang="fr-CA" dirty="0" err="1"/>
            <a:t>VAÉI</a:t>
          </a:r>
          <a:r>
            <a:rPr lang="fr-CA" baseline="-25000" dirty="0" err="1"/>
            <a:t>ACClinéaire</a:t>
          </a:r>
          <a:endParaRPr lang="fr-CA" baseline="-25000" dirty="0"/>
        </a:p>
      </dgm:t>
    </dgm:pt>
    <dgm:pt modelId="{FDDA411B-4A65-463F-B015-9F902E85CCA4}" type="parTrans" cxnId="{AD46D190-74C4-4EBD-8789-A063DD14BF5B}">
      <dgm:prSet/>
      <dgm:spPr/>
      <dgm:t>
        <a:bodyPr/>
        <a:lstStyle/>
        <a:p>
          <a:endParaRPr lang="fr-CA"/>
        </a:p>
      </dgm:t>
    </dgm:pt>
    <dgm:pt modelId="{1269CDF8-F35B-4FA2-80EE-2DF8B3EAC211}" type="sibTrans" cxnId="{AD46D190-74C4-4EBD-8789-A063DD14BF5B}">
      <dgm:prSet/>
      <dgm:spPr/>
      <dgm:t>
        <a:bodyPr/>
        <a:lstStyle/>
        <a:p>
          <a:endParaRPr lang="fr-CA"/>
        </a:p>
      </dgm:t>
    </dgm:pt>
    <dgm:pt modelId="{D3B32F53-C91B-41F7-937C-00F7FAD33FBB}" type="pres">
      <dgm:prSet presAssocID="{387BBB82-4C46-488C-AFD1-E5C28E1249C6}" presName="Name0" presStyleCnt="0">
        <dgm:presLayoutVars>
          <dgm:dir/>
          <dgm:animLvl val="lvl"/>
          <dgm:resizeHandles val="exact"/>
        </dgm:presLayoutVars>
      </dgm:prSet>
      <dgm:spPr/>
    </dgm:pt>
    <dgm:pt modelId="{883D1976-E990-494B-9B7A-E308BAEABF4A}" type="pres">
      <dgm:prSet presAssocID="{D6C4EC92-4668-4023-9428-695245D4E223}" presName="composite" presStyleCnt="0"/>
      <dgm:spPr/>
    </dgm:pt>
    <dgm:pt modelId="{0E9AD3D3-EBAB-46BE-97DB-0393EB68905D}" type="pres">
      <dgm:prSet presAssocID="{D6C4EC92-4668-4023-9428-695245D4E223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E40CCE53-98B8-4757-A820-685C846C1450}" type="pres">
      <dgm:prSet presAssocID="{D6C4EC92-4668-4023-9428-695245D4E223}" presName="desTx" presStyleLbl="alignAccFollowNode1" presStyleIdx="0" presStyleCnt="3">
        <dgm:presLayoutVars>
          <dgm:bulletEnabled val="1"/>
        </dgm:presLayoutVars>
      </dgm:prSet>
      <dgm:spPr/>
    </dgm:pt>
    <dgm:pt modelId="{814B08FF-C3B1-45C4-999C-5DFEAFC43141}" type="pres">
      <dgm:prSet presAssocID="{8319E6F8-629A-4C1A-B6E5-AD476B50C524}" presName="space" presStyleCnt="0"/>
      <dgm:spPr/>
    </dgm:pt>
    <dgm:pt modelId="{A05DE4C4-36F1-4810-A1B9-D43D0F808A12}" type="pres">
      <dgm:prSet presAssocID="{2F8BAB89-C765-4756-BB20-27B6083386ED}" presName="composite" presStyleCnt="0"/>
      <dgm:spPr/>
    </dgm:pt>
    <dgm:pt modelId="{D65AFA29-17E9-462C-A793-B50B5619F775}" type="pres">
      <dgm:prSet presAssocID="{2F8BAB89-C765-4756-BB20-27B6083386ED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4A40DFBF-6C3C-4B77-940E-868F2A30B8FF}" type="pres">
      <dgm:prSet presAssocID="{2F8BAB89-C765-4756-BB20-27B6083386ED}" presName="desTx" presStyleLbl="alignAccFollowNode1" presStyleIdx="1" presStyleCnt="3">
        <dgm:presLayoutVars>
          <dgm:bulletEnabled val="1"/>
        </dgm:presLayoutVars>
      </dgm:prSet>
      <dgm:spPr/>
    </dgm:pt>
    <dgm:pt modelId="{5D7DAFF1-2787-4414-81B1-8B92C6D75CC7}" type="pres">
      <dgm:prSet presAssocID="{2397DE27-2D6F-4EAA-8096-DCBF77A83F43}" presName="space" presStyleCnt="0"/>
      <dgm:spPr/>
    </dgm:pt>
    <dgm:pt modelId="{61306640-D447-4837-A67F-AA2AA5E9E684}" type="pres">
      <dgm:prSet presAssocID="{10A823AD-2A82-4EC6-9FEA-4F59C311F377}" presName="composite" presStyleCnt="0"/>
      <dgm:spPr/>
    </dgm:pt>
    <dgm:pt modelId="{676B0E0D-5BB9-4CD9-AF0C-AD65F805E1B5}" type="pres">
      <dgm:prSet presAssocID="{10A823AD-2A82-4EC6-9FEA-4F59C311F377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B33FA95A-D065-41F8-8005-FD277723E1E9}" type="pres">
      <dgm:prSet presAssocID="{10A823AD-2A82-4EC6-9FEA-4F59C311F377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ACAE5E16-EE92-4DBF-B890-6214E4F4F04E}" srcId="{387BBB82-4C46-488C-AFD1-E5C28E1249C6}" destId="{2F8BAB89-C765-4756-BB20-27B6083386ED}" srcOrd="1" destOrd="0" parTransId="{10E11220-4FCF-4939-9A98-8847642463FF}" sibTransId="{2397DE27-2D6F-4EAA-8096-DCBF77A83F43}"/>
    <dgm:cxn modelId="{24539E16-44BF-4917-8BE8-AAC087EFE47D}" type="presOf" srcId="{034C2A50-857A-4570-9A8C-5B303BC0E925}" destId="{B33FA95A-D065-41F8-8005-FD277723E1E9}" srcOrd="0" destOrd="1" presId="urn:microsoft.com/office/officeart/2005/8/layout/hList1"/>
    <dgm:cxn modelId="{3B73C518-3AF4-4E0A-AB3C-AA7A4B8E7A55}" srcId="{10A823AD-2A82-4EC6-9FEA-4F59C311F377}" destId="{034C2A50-857A-4570-9A8C-5B303BC0E925}" srcOrd="1" destOrd="0" parTransId="{9113D74B-6FB4-4C85-B60D-6416D0BEB8C2}" sibTransId="{1307E631-080B-4994-85D8-33BE15A9EBF9}"/>
    <dgm:cxn modelId="{E8033A1B-372F-4216-BEF6-43129793BC40}" srcId="{387BBB82-4C46-488C-AFD1-E5C28E1249C6}" destId="{10A823AD-2A82-4EC6-9FEA-4F59C311F377}" srcOrd="2" destOrd="0" parTransId="{5A11224E-FC31-4AB4-811F-9A4D2AC4DDE0}" sibTransId="{D8308EDD-71B6-4C8E-BAB6-7336255D252F}"/>
    <dgm:cxn modelId="{1FF3521B-EB88-4C40-85EC-1783F0C53209}" type="presOf" srcId="{D6C4EC92-4668-4023-9428-695245D4E223}" destId="{0E9AD3D3-EBAB-46BE-97DB-0393EB68905D}" srcOrd="0" destOrd="0" presId="urn:microsoft.com/office/officeart/2005/8/layout/hList1"/>
    <dgm:cxn modelId="{14A6B062-7F6C-43F1-A301-644E2D65FFCD}" srcId="{387BBB82-4C46-488C-AFD1-E5C28E1249C6}" destId="{D6C4EC92-4668-4023-9428-695245D4E223}" srcOrd="0" destOrd="0" parTransId="{F3BD0E3F-9690-475D-A837-A682D22F2A69}" sibTransId="{8319E6F8-629A-4C1A-B6E5-AD476B50C524}"/>
    <dgm:cxn modelId="{C04DCB43-475E-4FBC-9729-DDF7FFC98E96}" srcId="{2F8BAB89-C765-4756-BB20-27B6083386ED}" destId="{E29C59F2-FC54-4F1C-AFF6-F03906960C9A}" srcOrd="1" destOrd="0" parTransId="{B4A83BED-4189-428C-B02E-087739DDA5FC}" sibTransId="{DDF32814-304A-44AD-A1EA-B3DD22DDFDEF}"/>
    <dgm:cxn modelId="{458DBE45-AD60-45A9-93C2-C71EFE2598CF}" type="presOf" srcId="{2F8BAB89-C765-4756-BB20-27B6083386ED}" destId="{D65AFA29-17E9-462C-A793-B50B5619F775}" srcOrd="0" destOrd="0" presId="urn:microsoft.com/office/officeart/2005/8/layout/hList1"/>
    <dgm:cxn modelId="{FC96A249-8F6A-4279-9C10-6B4418BA2582}" type="presOf" srcId="{84237759-6DAE-47F1-95C8-3312C8236C48}" destId="{4A40DFBF-6C3C-4B77-940E-868F2A30B8FF}" srcOrd="0" destOrd="0" presId="urn:microsoft.com/office/officeart/2005/8/layout/hList1"/>
    <dgm:cxn modelId="{BA3F2C6B-6A97-4632-BA35-9C50059B4C05}" srcId="{D6C4EC92-4668-4023-9428-695245D4E223}" destId="{D5060922-DB09-4023-B744-B8A9856C8286}" srcOrd="0" destOrd="0" parTransId="{E7040AFF-94FB-4D21-A59F-AA6F1B60F719}" sibTransId="{FD6A5A19-8D1E-4B07-BD2B-B1E1D386D3B0}"/>
    <dgm:cxn modelId="{26DC594D-A8E8-40A3-B488-A5ED0F4B7749}" srcId="{2F8BAB89-C765-4756-BB20-27B6083386ED}" destId="{84237759-6DAE-47F1-95C8-3312C8236C48}" srcOrd="0" destOrd="0" parTransId="{3F3FA9CA-59F8-4667-89FB-28B42D0BB9C3}" sibTransId="{61B1710F-0FD8-4249-B64E-63A105AAF43F}"/>
    <dgm:cxn modelId="{16B1CC76-9608-4B27-9A10-618579DC33B6}" srcId="{10A823AD-2A82-4EC6-9FEA-4F59C311F377}" destId="{DD9AF786-652D-4A1C-8056-D70F66F664DF}" srcOrd="0" destOrd="0" parTransId="{8A8D33C7-0EA9-4C22-8709-890E9CFDDE5E}" sibTransId="{A4789347-706B-4861-9A10-F034036AFFC8}"/>
    <dgm:cxn modelId="{63008477-7F57-4007-8F25-9B8E6C0B7A58}" type="presOf" srcId="{387BBB82-4C46-488C-AFD1-E5C28E1249C6}" destId="{D3B32F53-C91B-41F7-937C-00F7FAD33FBB}" srcOrd="0" destOrd="0" presId="urn:microsoft.com/office/officeart/2005/8/layout/hList1"/>
    <dgm:cxn modelId="{AD46D190-74C4-4EBD-8789-A063DD14BF5B}" srcId="{2F8BAB89-C765-4756-BB20-27B6083386ED}" destId="{D353D791-D3F2-4974-B950-2145CC0D0D03}" srcOrd="2" destOrd="0" parTransId="{FDDA411B-4A65-463F-B015-9F902E85CCA4}" sibTransId="{1269CDF8-F35B-4FA2-80EE-2DF8B3EAC211}"/>
    <dgm:cxn modelId="{C011559F-220C-43C6-A55C-B3E11CC4EFBF}" type="presOf" srcId="{DD9AF786-652D-4A1C-8056-D70F66F664DF}" destId="{B33FA95A-D065-41F8-8005-FD277723E1E9}" srcOrd="0" destOrd="0" presId="urn:microsoft.com/office/officeart/2005/8/layout/hList1"/>
    <dgm:cxn modelId="{9DC087AC-8649-4663-8701-F626E8636E3D}" type="presOf" srcId="{D353D791-D3F2-4974-B950-2145CC0D0D03}" destId="{4A40DFBF-6C3C-4B77-940E-868F2A30B8FF}" srcOrd="0" destOrd="2" presId="urn:microsoft.com/office/officeart/2005/8/layout/hList1"/>
    <dgm:cxn modelId="{4E6525DD-A19F-4B4E-AE5F-00CEE2AC04E0}" type="presOf" srcId="{D5060922-DB09-4023-B744-B8A9856C8286}" destId="{E40CCE53-98B8-4757-A820-685C846C1450}" srcOrd="0" destOrd="0" presId="urn:microsoft.com/office/officeart/2005/8/layout/hList1"/>
    <dgm:cxn modelId="{03D94CEC-5D68-4798-801B-8ECBC154A940}" type="presOf" srcId="{10A823AD-2A82-4EC6-9FEA-4F59C311F377}" destId="{676B0E0D-5BB9-4CD9-AF0C-AD65F805E1B5}" srcOrd="0" destOrd="0" presId="urn:microsoft.com/office/officeart/2005/8/layout/hList1"/>
    <dgm:cxn modelId="{CA93F1F2-AF08-444C-B3B1-C9712F99285C}" type="presOf" srcId="{E29C59F2-FC54-4F1C-AFF6-F03906960C9A}" destId="{4A40DFBF-6C3C-4B77-940E-868F2A30B8FF}" srcOrd="0" destOrd="1" presId="urn:microsoft.com/office/officeart/2005/8/layout/hList1"/>
    <dgm:cxn modelId="{FCEB3BD7-2985-43AF-8A33-D4B0FC96FDA4}" type="presParOf" srcId="{D3B32F53-C91B-41F7-937C-00F7FAD33FBB}" destId="{883D1976-E990-494B-9B7A-E308BAEABF4A}" srcOrd="0" destOrd="0" presId="urn:microsoft.com/office/officeart/2005/8/layout/hList1"/>
    <dgm:cxn modelId="{F2711CCB-4AA0-4F88-9281-8C230756F891}" type="presParOf" srcId="{883D1976-E990-494B-9B7A-E308BAEABF4A}" destId="{0E9AD3D3-EBAB-46BE-97DB-0393EB68905D}" srcOrd="0" destOrd="0" presId="urn:microsoft.com/office/officeart/2005/8/layout/hList1"/>
    <dgm:cxn modelId="{4509DE61-AB96-4C00-9399-25B39D018594}" type="presParOf" srcId="{883D1976-E990-494B-9B7A-E308BAEABF4A}" destId="{E40CCE53-98B8-4757-A820-685C846C1450}" srcOrd="1" destOrd="0" presId="urn:microsoft.com/office/officeart/2005/8/layout/hList1"/>
    <dgm:cxn modelId="{43AFE589-C013-4E88-B527-CBC8590B16AC}" type="presParOf" srcId="{D3B32F53-C91B-41F7-937C-00F7FAD33FBB}" destId="{814B08FF-C3B1-45C4-999C-5DFEAFC43141}" srcOrd="1" destOrd="0" presId="urn:microsoft.com/office/officeart/2005/8/layout/hList1"/>
    <dgm:cxn modelId="{33C7A344-17D4-48B2-AF15-D4A27DCB443A}" type="presParOf" srcId="{D3B32F53-C91B-41F7-937C-00F7FAD33FBB}" destId="{A05DE4C4-36F1-4810-A1B9-D43D0F808A12}" srcOrd="2" destOrd="0" presId="urn:microsoft.com/office/officeart/2005/8/layout/hList1"/>
    <dgm:cxn modelId="{C255318D-989D-4BE9-9B53-4FB247DC6C7C}" type="presParOf" srcId="{A05DE4C4-36F1-4810-A1B9-D43D0F808A12}" destId="{D65AFA29-17E9-462C-A793-B50B5619F775}" srcOrd="0" destOrd="0" presId="urn:microsoft.com/office/officeart/2005/8/layout/hList1"/>
    <dgm:cxn modelId="{D5DDD0FA-3A70-4262-A69B-9893C8D7AD28}" type="presParOf" srcId="{A05DE4C4-36F1-4810-A1B9-D43D0F808A12}" destId="{4A40DFBF-6C3C-4B77-940E-868F2A30B8FF}" srcOrd="1" destOrd="0" presId="urn:microsoft.com/office/officeart/2005/8/layout/hList1"/>
    <dgm:cxn modelId="{3C513012-4A62-4531-9F4A-1C061A9CC1B0}" type="presParOf" srcId="{D3B32F53-C91B-41F7-937C-00F7FAD33FBB}" destId="{5D7DAFF1-2787-4414-81B1-8B92C6D75CC7}" srcOrd="3" destOrd="0" presId="urn:microsoft.com/office/officeart/2005/8/layout/hList1"/>
    <dgm:cxn modelId="{FBC38542-BE84-4654-B2E4-37F9CB0A55D9}" type="presParOf" srcId="{D3B32F53-C91B-41F7-937C-00F7FAD33FBB}" destId="{61306640-D447-4837-A67F-AA2AA5E9E684}" srcOrd="4" destOrd="0" presId="urn:microsoft.com/office/officeart/2005/8/layout/hList1"/>
    <dgm:cxn modelId="{9D9DFB24-D533-421D-B251-7D0A6535890D}" type="presParOf" srcId="{61306640-D447-4837-A67F-AA2AA5E9E684}" destId="{676B0E0D-5BB9-4CD9-AF0C-AD65F805E1B5}" srcOrd="0" destOrd="0" presId="urn:microsoft.com/office/officeart/2005/8/layout/hList1"/>
    <dgm:cxn modelId="{912E19DD-CF53-4BFA-86CB-FD8412BA2041}" type="presParOf" srcId="{61306640-D447-4837-A67F-AA2AA5E9E684}" destId="{B33FA95A-D065-41F8-8005-FD277723E1E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9AD3D3-EBAB-46BE-97DB-0393EB68905D}">
      <dsp:nvSpPr>
        <dsp:cNvPr id="0" name=""/>
        <dsp:cNvSpPr/>
      </dsp:nvSpPr>
      <dsp:spPr>
        <a:xfrm>
          <a:off x="2557" y="96953"/>
          <a:ext cx="2493912" cy="8965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600" kern="1200" dirty="0"/>
            <a:t>Revenus - dépenses</a:t>
          </a:r>
        </a:p>
      </dsp:txBody>
      <dsp:txXfrm>
        <a:off x="2557" y="96953"/>
        <a:ext cx="2493912" cy="896504"/>
      </dsp:txXfrm>
    </dsp:sp>
    <dsp:sp modelId="{E40CCE53-98B8-4757-A820-685C846C1450}">
      <dsp:nvSpPr>
        <dsp:cNvPr id="0" name=""/>
        <dsp:cNvSpPr/>
      </dsp:nvSpPr>
      <dsp:spPr>
        <a:xfrm>
          <a:off x="2557" y="993457"/>
          <a:ext cx="2493912" cy="177978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2600" kern="1200" dirty="0"/>
            <a:t>R–D*(1 – Tc)</a:t>
          </a:r>
        </a:p>
      </dsp:txBody>
      <dsp:txXfrm>
        <a:off x="2557" y="993457"/>
        <a:ext cx="2493912" cy="1779789"/>
      </dsp:txXfrm>
    </dsp:sp>
    <dsp:sp modelId="{D65AFA29-17E9-462C-A793-B50B5619F775}">
      <dsp:nvSpPr>
        <dsp:cNvPr id="0" name=""/>
        <dsp:cNvSpPr/>
      </dsp:nvSpPr>
      <dsp:spPr>
        <a:xfrm>
          <a:off x="2845618" y="96953"/>
          <a:ext cx="2493912" cy="8965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600" kern="1200" dirty="0"/>
            <a:t>Actifs amortissables</a:t>
          </a:r>
        </a:p>
      </dsp:txBody>
      <dsp:txXfrm>
        <a:off x="2845618" y="96953"/>
        <a:ext cx="2493912" cy="896504"/>
      </dsp:txXfrm>
    </dsp:sp>
    <dsp:sp modelId="{4A40DFBF-6C3C-4B77-940E-868F2A30B8FF}">
      <dsp:nvSpPr>
        <dsp:cNvPr id="0" name=""/>
        <dsp:cNvSpPr/>
      </dsp:nvSpPr>
      <dsp:spPr>
        <a:xfrm>
          <a:off x="2845618" y="993457"/>
          <a:ext cx="2493912" cy="177978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2600" kern="1200" baseline="0" dirty="0"/>
            <a:t>Coût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2600" kern="1200" dirty="0"/>
            <a:t>VAÉI</a:t>
          </a:r>
          <a:r>
            <a:rPr lang="fr-CA" sz="2600" kern="1200" baseline="-25000" dirty="0"/>
            <a:t>ACC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2600" kern="1200" dirty="0" err="1"/>
            <a:t>VAÉI</a:t>
          </a:r>
          <a:r>
            <a:rPr lang="fr-CA" sz="2600" kern="1200" baseline="-25000" dirty="0" err="1"/>
            <a:t>ACClinéaire</a:t>
          </a:r>
          <a:endParaRPr lang="fr-CA" sz="2600" kern="1200" baseline="-25000" dirty="0"/>
        </a:p>
      </dsp:txBody>
      <dsp:txXfrm>
        <a:off x="2845618" y="993457"/>
        <a:ext cx="2493912" cy="1779789"/>
      </dsp:txXfrm>
    </dsp:sp>
    <dsp:sp modelId="{676B0E0D-5BB9-4CD9-AF0C-AD65F805E1B5}">
      <dsp:nvSpPr>
        <dsp:cNvPr id="0" name=""/>
        <dsp:cNvSpPr/>
      </dsp:nvSpPr>
      <dsp:spPr>
        <a:xfrm>
          <a:off x="5688679" y="96953"/>
          <a:ext cx="2493912" cy="8965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600" kern="1200" dirty="0"/>
            <a:t>Actifs non-amortissables</a:t>
          </a:r>
        </a:p>
      </dsp:txBody>
      <dsp:txXfrm>
        <a:off x="5688679" y="96953"/>
        <a:ext cx="2493912" cy="896504"/>
      </dsp:txXfrm>
    </dsp:sp>
    <dsp:sp modelId="{B33FA95A-D065-41F8-8005-FD277723E1E9}">
      <dsp:nvSpPr>
        <dsp:cNvPr id="0" name=""/>
        <dsp:cNvSpPr/>
      </dsp:nvSpPr>
      <dsp:spPr>
        <a:xfrm>
          <a:off x="5688679" y="993457"/>
          <a:ext cx="2493912" cy="177978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2600" kern="1200" dirty="0"/>
            <a:t>Coût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2600" kern="1200" dirty="0"/>
            <a:t>Gain ou perte en capital</a:t>
          </a:r>
        </a:p>
      </dsp:txBody>
      <dsp:txXfrm>
        <a:off x="5688679" y="993457"/>
        <a:ext cx="2493912" cy="17797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4" Type="http://schemas.openxmlformats.org/officeDocument/2006/relationships/image" Target="../media/image8.wmf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53" y="1286467"/>
            <a:ext cx="8187094" cy="3421905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78800" y="1286280"/>
            <a:ext cx="5274000" cy="1312200"/>
          </a:xfrm>
          <a:solidFill>
            <a:schemeClr val="accent1">
              <a:alpha val="80000"/>
            </a:schemeClr>
          </a:solidFill>
        </p:spPr>
        <p:txBody>
          <a:bodyPr bIns="72000">
            <a:normAutofit/>
          </a:bodyPr>
          <a:lstStyle>
            <a:lvl1pPr>
              <a:defRPr sz="3240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CA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478800" y="2666391"/>
            <a:ext cx="5266800" cy="362102"/>
          </a:xfrm>
          <a:solidFill>
            <a:schemeClr val="accent1">
              <a:alpha val="80000"/>
            </a:schemeClr>
          </a:solidFill>
        </p:spPr>
        <p:txBody>
          <a:bodyPr anchor="ctr" anchorCtr="0">
            <a:normAutofit/>
          </a:bodyPr>
          <a:lstStyle>
            <a:lvl1pPr marL="0" indent="0" algn="l">
              <a:buNone/>
              <a:defRPr sz="1800">
                <a:solidFill>
                  <a:schemeClr val="accent2"/>
                </a:solidFill>
              </a:defRPr>
            </a:lvl1pPr>
            <a:lvl2pPr marL="411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2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80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fr-CA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200800" y="4847040"/>
            <a:ext cx="464400" cy="123120"/>
          </a:xfrm>
        </p:spPr>
        <p:txBody>
          <a:bodyPr vert="horz" lIns="91440" tIns="45720" rIns="91440" bIns="45720" rtlCol="0" anchor="ctr"/>
          <a:lstStyle>
            <a:lvl1pPr marL="0" algn="r" defTabSz="822960" rtl="0" eaLnBrk="1" latinLnBrk="0" hangingPunct="1">
              <a:defRPr lang="fr-CA" sz="603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76DBD91B-A6BE-418C-B2C9-88CD34860EFA}" type="slidenum">
              <a:rPr lang="fr-CA" smtClean="0"/>
              <a:pPr/>
              <a:t>‹N°›</a:t>
            </a:fld>
            <a:endParaRPr lang="fr-CA"/>
          </a:p>
        </p:txBody>
      </p:sp>
      <p:pic>
        <p:nvPicPr>
          <p:cNvPr id="7" name="Imag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19" y="210656"/>
            <a:ext cx="5282773" cy="734151"/>
          </a:xfrm>
          <a:prstGeom prst="rect">
            <a:avLst/>
          </a:prstGeom>
        </p:spPr>
      </p:pic>
      <p:sp>
        <p:nvSpPr>
          <p:cNvPr id="11" name="Espace réservé du pied de page 10"/>
          <p:cNvSpPr>
            <a:spLocks noGrp="1"/>
          </p:cNvSpPr>
          <p:nvPr>
            <p:ph type="ftr" sz="quarter" idx="14"/>
          </p:nvPr>
        </p:nvSpPr>
        <p:spPr>
          <a:xfrm>
            <a:off x="478452" y="4525465"/>
            <a:ext cx="5266944" cy="180050"/>
          </a:xfrm>
          <a:solidFill>
            <a:schemeClr val="accent1"/>
          </a:solidFill>
        </p:spPr>
        <p:txBody>
          <a:bodyPr/>
          <a:lstStyle>
            <a:lvl1pPr algn="l">
              <a:defRPr sz="1170" cap="all" baseline="0">
                <a:solidFill>
                  <a:schemeClr val="bg1"/>
                </a:solidFill>
              </a:defRPr>
            </a:lvl1pPr>
          </a:lstStyle>
          <a:p>
            <a:endParaRPr lang="fr-CA"/>
          </a:p>
        </p:txBody>
      </p:sp>
      <p:sp>
        <p:nvSpPr>
          <p:cNvPr id="13" name="Espace réservé de la date 1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21/05/2020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49271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78800" y="431717"/>
            <a:ext cx="8186400" cy="740664"/>
          </a:xfrm>
        </p:spPr>
        <p:txBody>
          <a:bodyPr/>
          <a:lstStyle/>
          <a:p>
            <a:r>
              <a:rPr lang="fr-FR" dirty="0"/>
              <a:t>Cliquez pour modifier le style du titre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478800" y="1419918"/>
            <a:ext cx="8186400" cy="286919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fr-CA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21/05/2020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‹N°›</a:t>
            </a:fld>
            <a:endParaRPr lang="fr-CA"/>
          </a:p>
        </p:txBody>
      </p:sp>
      <p:sp>
        <p:nvSpPr>
          <p:cNvPr id="7" name="TextBox 6"/>
          <p:cNvSpPr txBox="1"/>
          <p:nvPr/>
        </p:nvSpPr>
        <p:spPr>
          <a:xfrm>
            <a:off x="346075" y="4289108"/>
            <a:ext cx="914400" cy="822960"/>
          </a:xfrm>
          <a:prstGeom prst="rect">
            <a:avLst/>
          </a:prstGeom>
        </p:spPr>
        <p:txBody>
          <a:bodyPr vert="horz" wrap="none" lIns="82296" tIns="41148" rIns="82296" bIns="41148" rtlCol="0">
            <a:normAutofit/>
          </a:bodyPr>
          <a:lstStyle/>
          <a:p>
            <a:pPr marL="139320" indent="-139320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en-US" sz="1503" dirty="0"/>
          </a:p>
        </p:txBody>
      </p:sp>
    </p:spTree>
    <p:extLst>
      <p:ext uri="{BB962C8B-B14F-4D97-AF65-F5344CB8AC3E}">
        <p14:creationId xmlns:p14="http://schemas.microsoft.com/office/powerpoint/2010/main" val="31487897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62065" y="3107825"/>
            <a:ext cx="6603135" cy="130027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63" t="-901" b="1413"/>
          <a:stretch/>
        </p:blipFill>
        <p:spPr>
          <a:xfrm>
            <a:off x="5840963" y="1264049"/>
            <a:ext cx="2824582" cy="1775865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800" y="1286279"/>
            <a:ext cx="5274000" cy="1312200"/>
          </a:xfrm>
          <a:solidFill>
            <a:schemeClr val="accent1"/>
          </a:solidFill>
        </p:spPr>
        <p:txBody>
          <a:bodyPr vert="horz" lIns="91440" tIns="45720" rIns="91440" bIns="72000" rtlCol="0" anchor="ctr">
            <a:normAutofit/>
          </a:bodyPr>
          <a:lstStyle>
            <a:lvl1pPr algn="l" defTabSz="822960" rtl="0" eaLnBrk="1" latinLnBrk="0" hangingPunct="1">
              <a:spcBef>
                <a:spcPct val="0"/>
              </a:spcBef>
              <a:buNone/>
              <a:defRPr lang="fr-CA" sz="324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/>
              <a:t>Modifiez le style du titre</a:t>
            </a:r>
            <a:endParaRPr lang="fr-CA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78800" y="2666391"/>
            <a:ext cx="5266800" cy="362102"/>
          </a:xfrm>
          <a:solidFill>
            <a:schemeClr val="accent1"/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l" defTabSz="82296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None/>
              <a:defRPr lang="fr-FR" sz="1800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1148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82296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23444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64592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205740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4688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88036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329184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‹N°›</a:t>
            </a:fld>
            <a:endParaRPr lang="fr-CA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21/05/2020</a:t>
            </a:fld>
            <a:endParaRPr lang="fr-CA"/>
          </a:p>
        </p:txBody>
      </p:sp>
      <p:sp>
        <p:nvSpPr>
          <p:cNvPr id="11" name="Espace réservé du pied de page 10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13" name="Imag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4" t="27926" r="63211" b="1117"/>
          <a:stretch/>
        </p:blipFill>
        <p:spPr>
          <a:xfrm>
            <a:off x="489600" y="3107094"/>
            <a:ext cx="1497820" cy="1300277"/>
          </a:xfrm>
          <a:prstGeom prst="rect">
            <a:avLst/>
          </a:prstGeom>
        </p:spPr>
      </p:pic>
      <p:pic>
        <p:nvPicPr>
          <p:cNvPr id="14" name="Imag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2354" y="4528945"/>
            <a:ext cx="1540097" cy="19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468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800" y="432912"/>
            <a:ext cx="8186400" cy="74102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365961"/>
            <a:ext cx="4038600" cy="2923147"/>
          </a:xfrm>
        </p:spPr>
        <p:txBody>
          <a:bodyPr>
            <a:normAutofit/>
          </a:bodyPr>
          <a:lstStyle>
            <a:lvl1pPr>
              <a:defRPr sz="1503"/>
            </a:lvl1pPr>
            <a:lvl2pPr>
              <a:defRPr sz="1503"/>
            </a:lvl2pPr>
            <a:lvl3pPr>
              <a:defRPr sz="1503"/>
            </a:lvl3pPr>
            <a:lvl4pPr>
              <a:defRPr sz="1503"/>
            </a:lvl4pPr>
            <a:lvl5pPr>
              <a:defRPr sz="1503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365961"/>
            <a:ext cx="4038600" cy="2923147"/>
          </a:xfrm>
        </p:spPr>
        <p:txBody>
          <a:bodyPr>
            <a:normAutofit/>
          </a:bodyPr>
          <a:lstStyle>
            <a:lvl1pPr>
              <a:defRPr sz="1503"/>
            </a:lvl1pPr>
            <a:lvl2pPr>
              <a:defRPr sz="1503"/>
            </a:lvl2pPr>
            <a:lvl3pPr>
              <a:defRPr sz="1503"/>
            </a:lvl3pPr>
            <a:lvl4pPr>
              <a:defRPr sz="1503"/>
            </a:lvl4pPr>
            <a:lvl5pPr>
              <a:defRPr sz="1503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21/05/2020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208832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800" y="430831"/>
            <a:ext cx="8186400" cy="738449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fr-CA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360170"/>
            <a:ext cx="4040188" cy="479822"/>
          </a:xfrm>
        </p:spPr>
        <p:txBody>
          <a:bodyPr anchor="b">
            <a:noAutofit/>
          </a:bodyPr>
          <a:lstStyle>
            <a:lvl1pPr marL="0" indent="0">
              <a:buNone/>
              <a:defRPr sz="1350" b="1" cap="all" baseline="0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1839992"/>
            <a:ext cx="4040188" cy="2449116"/>
          </a:xfrm>
        </p:spPr>
        <p:txBody>
          <a:bodyPr>
            <a:normAutofit/>
          </a:bodyPr>
          <a:lstStyle>
            <a:lvl1pPr>
              <a:defRPr sz="1503"/>
            </a:lvl1pPr>
            <a:lvl2pPr>
              <a:defRPr sz="1503"/>
            </a:lvl2pPr>
            <a:lvl3pPr>
              <a:defRPr sz="1503"/>
            </a:lvl3pPr>
            <a:lvl4pPr>
              <a:defRPr sz="1503"/>
            </a:lvl4pPr>
            <a:lvl5pPr>
              <a:defRPr sz="1503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7" y="1360170"/>
            <a:ext cx="4041775" cy="479822"/>
          </a:xfrm>
        </p:spPr>
        <p:txBody>
          <a:bodyPr anchor="b">
            <a:noAutofit/>
          </a:bodyPr>
          <a:lstStyle>
            <a:lvl1pPr marL="0" indent="0">
              <a:buNone/>
              <a:defRPr sz="1350" b="1" cap="all" baseline="0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7" y="1839992"/>
            <a:ext cx="4041775" cy="2449116"/>
          </a:xfrm>
        </p:spPr>
        <p:txBody>
          <a:bodyPr>
            <a:normAutofit/>
          </a:bodyPr>
          <a:lstStyle>
            <a:lvl1pPr>
              <a:defRPr sz="1503"/>
            </a:lvl1pPr>
            <a:lvl2pPr>
              <a:defRPr sz="1503"/>
            </a:lvl2pPr>
            <a:lvl3pPr>
              <a:defRPr sz="1503"/>
            </a:lvl3pPr>
            <a:lvl4pPr>
              <a:defRPr sz="1503"/>
            </a:lvl4pPr>
            <a:lvl5pPr>
              <a:defRPr sz="1503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 dirty="0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21/05/2020</a:t>
            </a:fld>
            <a:endParaRPr lang="fr-CA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395700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800" y="432912"/>
            <a:ext cx="8186400" cy="73779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21/05/2020</a:t>
            </a:fld>
            <a:endParaRPr lang="fr-C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445951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21/05/2020</a:t>
            </a:fld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07777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800" y="429474"/>
            <a:ext cx="8186400" cy="739807"/>
          </a:xfrm>
        </p:spPr>
        <p:txBody>
          <a:bodyPr anchor="ctr" anchorCtr="0"/>
          <a:lstStyle>
            <a:lvl1pPr algn="l">
              <a:defRPr sz="2340" b="1"/>
            </a:lvl1pPr>
          </a:lstStyle>
          <a:p>
            <a:r>
              <a:rPr lang="fr-FR"/>
              <a:t>Modifiez le style du titre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60400" y="1353960"/>
            <a:ext cx="5097600" cy="2935148"/>
          </a:xfrm>
        </p:spPr>
        <p:txBody>
          <a:bodyPr>
            <a:normAutofit/>
          </a:bodyPr>
          <a:lstStyle>
            <a:lvl1pPr>
              <a:defRPr sz="1503"/>
            </a:lvl1pPr>
            <a:lvl2pPr>
              <a:defRPr sz="1503"/>
            </a:lvl2pPr>
            <a:lvl3pPr>
              <a:defRPr sz="1503"/>
            </a:lvl3pPr>
            <a:lvl4pPr>
              <a:defRPr sz="1503"/>
            </a:lvl4pPr>
            <a:lvl5pPr>
              <a:defRPr sz="1503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78800" y="1353960"/>
            <a:ext cx="2988000" cy="2935148"/>
          </a:xfrm>
        </p:spPr>
        <p:txBody>
          <a:bodyPr>
            <a:normAutofit/>
          </a:bodyPr>
          <a:lstStyle>
            <a:lvl1pPr marL="0" indent="0">
              <a:buNone/>
              <a:defRPr sz="1350" b="1" cap="all" baseline="0"/>
            </a:lvl1pPr>
            <a:lvl2pPr marL="411480" indent="0">
              <a:buNone/>
              <a:defRPr sz="1080"/>
            </a:lvl2pPr>
            <a:lvl3pPr marL="822960" indent="0">
              <a:buNone/>
              <a:defRPr sz="900"/>
            </a:lvl3pPr>
            <a:lvl4pPr marL="1234440" indent="0">
              <a:buNone/>
              <a:defRPr sz="810"/>
            </a:lvl4pPr>
            <a:lvl5pPr marL="1645920" indent="0">
              <a:buNone/>
              <a:defRPr sz="810"/>
            </a:lvl5pPr>
            <a:lvl6pPr marL="2057400" indent="0">
              <a:buNone/>
              <a:defRPr sz="810"/>
            </a:lvl6pPr>
            <a:lvl7pPr marL="2468880" indent="0">
              <a:buNone/>
              <a:defRPr sz="810"/>
            </a:lvl7pPr>
            <a:lvl8pPr marL="2880360" indent="0">
              <a:buNone/>
              <a:defRPr sz="810"/>
            </a:lvl8pPr>
            <a:lvl9pPr marL="3291840" indent="0">
              <a:buNone/>
              <a:defRPr sz="81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21/05/2020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053550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800" y="440754"/>
            <a:ext cx="8186400" cy="740655"/>
          </a:xfrm>
        </p:spPr>
        <p:txBody>
          <a:bodyPr anchor="ctr" anchorCtr="0"/>
          <a:lstStyle>
            <a:lvl1pPr algn="l">
              <a:defRPr sz="2340" b="1"/>
            </a:lvl1pPr>
          </a:lstStyle>
          <a:p>
            <a:r>
              <a:rPr lang="fr-FR"/>
              <a:t>Modifiez le style du titre</a:t>
            </a:r>
            <a:endParaRPr lang="fr-CA" dirty="0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478800" y="1858569"/>
            <a:ext cx="8179200" cy="2430538"/>
          </a:xfrm>
        </p:spPr>
        <p:txBody>
          <a:bodyPr/>
          <a:lstStyle>
            <a:lvl1pPr marL="0" indent="0">
              <a:buNone/>
              <a:defRPr sz="1503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r>
              <a:rPr lang="fr-FR"/>
              <a:t>Cliquez sur l'icône pour ajouter une image</a:t>
            </a:r>
            <a:endParaRPr lang="fr-CA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78800" y="1366089"/>
            <a:ext cx="8179200" cy="469800"/>
          </a:xfrm>
        </p:spPr>
        <p:txBody>
          <a:bodyPr>
            <a:normAutofit/>
          </a:bodyPr>
          <a:lstStyle>
            <a:lvl1pPr marL="0" indent="0">
              <a:buNone/>
              <a:defRPr sz="1350" b="1" cap="all" baseline="0"/>
            </a:lvl1pPr>
            <a:lvl2pPr marL="411480" indent="0">
              <a:buNone/>
              <a:defRPr sz="1080"/>
            </a:lvl2pPr>
            <a:lvl3pPr marL="822960" indent="0">
              <a:buNone/>
              <a:defRPr sz="900"/>
            </a:lvl3pPr>
            <a:lvl4pPr marL="1234440" indent="0">
              <a:buNone/>
              <a:defRPr sz="810"/>
            </a:lvl4pPr>
            <a:lvl5pPr marL="1645920" indent="0">
              <a:buNone/>
              <a:defRPr sz="810"/>
            </a:lvl5pPr>
            <a:lvl6pPr marL="2057400" indent="0">
              <a:buNone/>
              <a:defRPr sz="810"/>
            </a:lvl6pPr>
            <a:lvl7pPr marL="2468880" indent="0">
              <a:buNone/>
              <a:defRPr sz="810"/>
            </a:lvl7pPr>
            <a:lvl8pPr marL="2880360" indent="0">
              <a:buNone/>
              <a:defRPr sz="810"/>
            </a:lvl8pPr>
            <a:lvl9pPr marL="3291840" indent="0">
              <a:buNone/>
              <a:defRPr sz="81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21/05/2020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319740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re. Texte et 2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4648200" y="1200151"/>
            <a:ext cx="4038600" cy="163949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3"/>
          </p:nvPr>
        </p:nvSpPr>
        <p:spPr>
          <a:xfrm>
            <a:off x="4648200" y="2953943"/>
            <a:ext cx="4038600" cy="164068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e la date 5"/>
          <p:cNvSpPr>
            <a:spLocks noGrp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C6DC91D2-297D-4124-9588-388F28AB5B3D}" type="datetimeFigureOut">
              <a:rPr lang="fr-FR" smtClean="0"/>
              <a:pPr/>
              <a:t>21/05/2020</a:t>
            </a:fld>
            <a:endParaRPr lang="fr-CA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fr-CA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76DBD91B-A6BE-418C-B2C9-88CD34860EFA}" type="slidenum">
              <a:rPr lang="fr-CA" smtClean="0"/>
              <a:pPr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47867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re. Text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</p:spPr>
        <p:txBody>
          <a:bodyPr/>
          <a:lstStyle>
            <a:lvl1pPr>
              <a:defRPr/>
            </a:lvl1pPr>
          </a:lstStyle>
          <a:p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</p:spPr>
        <p:txBody>
          <a:bodyPr/>
          <a:lstStyle>
            <a:lvl1pPr>
              <a:defRPr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</p:spPr>
        <p:txBody>
          <a:bodyPr/>
          <a:lstStyle>
            <a:lvl1pPr>
              <a:defRPr/>
            </a:lvl1pPr>
          </a:lstStyle>
          <a:p>
            <a:fld id="{E4B237D4-D237-4209-A6F9-A690B5C2DBBE}" type="slidenum">
              <a:rPr lang="fr-CA" smtClean="0"/>
              <a:pPr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42621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78800" y="436673"/>
            <a:ext cx="8186400" cy="744737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dirty="0"/>
              <a:t>Cliquez pour modifier le style du titre</a:t>
            </a:r>
            <a:endParaRPr lang="fr-CA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78800" y="1366089"/>
            <a:ext cx="8186400" cy="2923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fr-CA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89600" y="4846496"/>
            <a:ext cx="2133600" cy="1231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3">
                <a:solidFill>
                  <a:schemeClr val="accent2"/>
                </a:solidFill>
              </a:defRPr>
            </a:lvl1pPr>
          </a:lstStyle>
          <a:p>
            <a:fld id="{C6DC91D2-297D-4124-9588-388F28AB5B3D}" type="datetimeFigureOut">
              <a:rPr lang="fr-FR" smtClean="0"/>
              <a:pPr/>
              <a:t>21/05/2020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4846496"/>
            <a:ext cx="2895600" cy="1231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3">
                <a:solidFill>
                  <a:schemeClr val="accent2"/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200800" y="4846496"/>
            <a:ext cx="464400" cy="1231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3">
                <a:solidFill>
                  <a:schemeClr val="accent2"/>
                </a:solidFill>
              </a:defRPr>
            </a:lvl1pPr>
          </a:lstStyle>
          <a:p>
            <a:fld id="{76DBD91B-A6BE-418C-B2C9-88CD34860EFA}" type="slidenum">
              <a:rPr lang="fr-CA" smtClean="0"/>
              <a:pPr/>
              <a:t>‹N°›</a:t>
            </a:fld>
            <a:endParaRPr lang="fr-CA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2354" y="4528945"/>
            <a:ext cx="1540097" cy="19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391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822960" rtl="0" eaLnBrk="1" latinLnBrk="0" hangingPunct="1">
        <a:spcBef>
          <a:spcPct val="0"/>
        </a:spcBef>
        <a:buNone/>
        <a:defRPr sz="234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39320" indent="-139320" algn="l" defTabSz="82296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1pPr>
      <a:lvl2pPr marL="408240" indent="-139320" algn="l" defTabSz="82296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2pPr>
      <a:lvl3pPr marL="677160" indent="-139320" algn="l" defTabSz="82296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3pPr>
      <a:lvl4pPr marL="942840" indent="-139320" algn="l" defTabSz="82296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4pPr>
      <a:lvl5pPr marL="1211760" indent="-139320" algn="l" defTabSz="82296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5pPr>
      <a:lvl6pPr marL="226314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2.xml"/><Relationship Id="rId3" Type="http://schemas.openxmlformats.org/officeDocument/2006/relationships/tags" Target="../tags/tag7.xml"/><Relationship Id="rId7" Type="http://schemas.openxmlformats.org/officeDocument/2006/relationships/tags" Target="../tags/tag1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slideLayout" Target="../slideLayouts/slideLayout5.xml"/><Relationship Id="rId5" Type="http://schemas.openxmlformats.org/officeDocument/2006/relationships/tags" Target="../tags/tag9.xml"/><Relationship Id="rId10" Type="http://schemas.openxmlformats.org/officeDocument/2006/relationships/tags" Target="../tags/tag14.xml"/><Relationship Id="rId4" Type="http://schemas.openxmlformats.org/officeDocument/2006/relationships/tags" Target="../tags/tag8.xml"/><Relationship Id="rId9" Type="http://schemas.openxmlformats.org/officeDocument/2006/relationships/tags" Target="../tags/tag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7.xml"/><Relationship Id="rId1" Type="http://schemas.openxmlformats.org/officeDocument/2006/relationships/tags" Target="../tags/tag2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9.xml"/><Relationship Id="rId1" Type="http://schemas.openxmlformats.org/officeDocument/2006/relationships/tags" Target="../tags/tag2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1.xml"/><Relationship Id="rId1" Type="http://schemas.openxmlformats.org/officeDocument/2006/relationships/tags" Target="../tags/tag3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3.xml"/><Relationship Id="rId1" Type="http://schemas.openxmlformats.org/officeDocument/2006/relationships/tags" Target="../tags/tag3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4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4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50.xml"/><Relationship Id="rId3" Type="http://schemas.openxmlformats.org/officeDocument/2006/relationships/tags" Target="../tags/tag45.xml"/><Relationship Id="rId7" Type="http://schemas.openxmlformats.org/officeDocument/2006/relationships/tags" Target="../tags/tag49.xml"/><Relationship Id="rId12" Type="http://schemas.openxmlformats.org/officeDocument/2006/relationships/slideLayout" Target="../slideLayouts/slideLayout1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11" Type="http://schemas.openxmlformats.org/officeDocument/2006/relationships/tags" Target="../tags/tag53.xml"/><Relationship Id="rId5" Type="http://schemas.openxmlformats.org/officeDocument/2006/relationships/tags" Target="../tags/tag47.xml"/><Relationship Id="rId10" Type="http://schemas.openxmlformats.org/officeDocument/2006/relationships/tags" Target="../tags/tag52.xml"/><Relationship Id="rId4" Type="http://schemas.openxmlformats.org/officeDocument/2006/relationships/tags" Target="../tags/tag46.xml"/><Relationship Id="rId9" Type="http://schemas.openxmlformats.org/officeDocument/2006/relationships/tags" Target="../tags/tag5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56.xml"/><Relationship Id="rId1" Type="http://schemas.openxmlformats.org/officeDocument/2006/relationships/tags" Target="../tags/tag5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8.xml"/><Relationship Id="rId1" Type="http://schemas.openxmlformats.org/officeDocument/2006/relationships/tags" Target="../tags/tag5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0.xml"/><Relationship Id="rId1" Type="http://schemas.openxmlformats.org/officeDocument/2006/relationships/tags" Target="../tags/tag5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2.xml"/><Relationship Id="rId1" Type="http://schemas.openxmlformats.org/officeDocument/2006/relationships/tags" Target="../tags/tag6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oleObject" Target="../embeddings/oleObject3.bin"/><Relationship Id="rId3" Type="http://schemas.openxmlformats.org/officeDocument/2006/relationships/tags" Target="../tags/tag69.xml"/><Relationship Id="rId7" Type="http://schemas.openxmlformats.org/officeDocument/2006/relationships/tags" Target="../tags/tag73.xml"/><Relationship Id="rId12" Type="http://schemas.openxmlformats.org/officeDocument/2006/relationships/image" Target="../media/image6.wmf"/><Relationship Id="rId2" Type="http://schemas.openxmlformats.org/officeDocument/2006/relationships/tags" Target="../tags/tag68.xml"/><Relationship Id="rId16" Type="http://schemas.openxmlformats.org/officeDocument/2006/relationships/image" Target="../media/image8.wmf"/><Relationship Id="rId1" Type="http://schemas.openxmlformats.org/officeDocument/2006/relationships/vmlDrawing" Target="../drawings/vmlDrawing1.vml"/><Relationship Id="rId6" Type="http://schemas.openxmlformats.org/officeDocument/2006/relationships/tags" Target="../tags/tag72.xml"/><Relationship Id="rId11" Type="http://schemas.openxmlformats.org/officeDocument/2006/relationships/oleObject" Target="../embeddings/oleObject2.bin"/><Relationship Id="rId5" Type="http://schemas.openxmlformats.org/officeDocument/2006/relationships/tags" Target="../tags/tag71.xml"/><Relationship Id="rId15" Type="http://schemas.openxmlformats.org/officeDocument/2006/relationships/oleObject" Target="../embeddings/oleObject4.bin"/><Relationship Id="rId10" Type="http://schemas.openxmlformats.org/officeDocument/2006/relationships/image" Target="../media/image5.wmf"/><Relationship Id="rId4" Type="http://schemas.openxmlformats.org/officeDocument/2006/relationships/tags" Target="../tags/tag70.xml"/><Relationship Id="rId9" Type="http://schemas.openxmlformats.org/officeDocument/2006/relationships/oleObject" Target="../embeddings/oleObject1.bin"/><Relationship Id="rId14" Type="http://schemas.openxmlformats.org/officeDocument/2006/relationships/image" Target="../media/image7.wmf"/></Relationships>
</file>

<file path=ppt/slides/_rels/slide2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1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fr-CA" dirty="0"/>
              <a:t>Chapitre 10: L’évaluation de projet</a:t>
            </a:r>
          </a:p>
        </p:txBody>
      </p:sp>
      <p:sp>
        <p:nvSpPr>
          <p:cNvPr id="2" name="Sous-titre 1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lstStyle/>
          <a:p>
            <a:r>
              <a:rPr lang="fr-CA" dirty="0"/>
              <a:t>Principes de base de l’évaluation de projet</a:t>
            </a:r>
          </a:p>
        </p:txBody>
      </p:sp>
    </p:spTree>
    <p:extLst>
      <p:ext uri="{BB962C8B-B14F-4D97-AF65-F5344CB8AC3E}">
        <p14:creationId xmlns:p14="http://schemas.microsoft.com/office/powerpoint/2010/main" val="1996652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Plan de présentation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323528" y="1221582"/>
            <a:ext cx="8641086" cy="3618310"/>
          </a:xfrm>
        </p:spPr>
        <p:txBody>
          <a:bodyPr/>
          <a:lstStyle/>
          <a:p>
            <a:pPr>
              <a:lnSpc>
                <a:spcPct val="80000"/>
              </a:lnSpc>
              <a:buNone/>
            </a:pPr>
            <a:r>
              <a:rPr lang="fr-CA" sz="2400" dirty="0"/>
              <a:t>	</a:t>
            </a:r>
            <a:endParaRPr lang="fr-CA" sz="3200" dirty="0"/>
          </a:p>
          <a:p>
            <a:pPr marL="538163" lvl="1" indent="-360363">
              <a:lnSpc>
                <a:spcPct val="80000"/>
              </a:lnSpc>
            </a:pPr>
            <a:r>
              <a:rPr lang="fr-CA" sz="3200" dirty="0"/>
              <a:t>Principe fondamental</a:t>
            </a:r>
          </a:p>
          <a:p>
            <a:pPr marL="538163" lvl="1" indent="-360363">
              <a:lnSpc>
                <a:spcPct val="80000"/>
              </a:lnSpc>
            </a:pPr>
            <a:r>
              <a:rPr lang="fr-CA" sz="3200" dirty="0"/>
              <a:t>Le critère de décision ultime: la VAN</a:t>
            </a:r>
          </a:p>
          <a:p>
            <a:pPr marL="538163" lvl="1" indent="-360363">
              <a:lnSpc>
                <a:spcPct val="80000"/>
              </a:lnSpc>
            </a:pPr>
            <a:r>
              <a:rPr lang="fr-CA" sz="3200" dirty="0"/>
              <a:t>Les flux monétaires pertinents</a:t>
            </a:r>
          </a:p>
          <a:p>
            <a:pPr marL="538163" lvl="1" indent="-360363">
              <a:lnSpc>
                <a:spcPct val="80000"/>
              </a:lnSpc>
            </a:pPr>
            <a:r>
              <a:rPr lang="fr-CA" sz="3200" dirty="0"/>
              <a:t>La considération fiscale</a:t>
            </a:r>
          </a:p>
          <a:p>
            <a:pPr marL="538163" lvl="1" indent="-360363">
              <a:lnSpc>
                <a:spcPct val="80000"/>
              </a:lnSpc>
            </a:pPr>
            <a:r>
              <a:rPr lang="fr-CA" sz="3200" dirty="0"/>
              <a:t>Le calcul d’une VAN</a:t>
            </a:r>
          </a:p>
          <a:p>
            <a:pPr lvl="1">
              <a:lnSpc>
                <a:spcPct val="80000"/>
              </a:lnSpc>
            </a:pPr>
            <a:endParaRPr lang="fr-CA" sz="2000" dirty="0"/>
          </a:p>
          <a:p>
            <a:pPr>
              <a:lnSpc>
                <a:spcPct val="80000"/>
              </a:lnSpc>
              <a:buFontTx/>
              <a:buNone/>
            </a:pPr>
            <a:endParaRPr lang="fr-CA" sz="2400" dirty="0"/>
          </a:p>
          <a:p>
            <a:pPr>
              <a:lnSpc>
                <a:spcPct val="80000"/>
              </a:lnSpc>
            </a:pPr>
            <a:endParaRPr lang="fr-CA" sz="2400" dirty="0"/>
          </a:p>
        </p:txBody>
      </p:sp>
    </p:spTree>
    <p:extLst>
      <p:ext uri="{BB962C8B-B14F-4D97-AF65-F5344CB8AC3E}">
        <p14:creationId xmlns:p14="http://schemas.microsoft.com/office/powerpoint/2010/main" val="1528547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Autofit/>
          </a:bodyPr>
          <a:lstStyle/>
          <a:p>
            <a:pPr algn="l"/>
            <a:r>
              <a:rPr lang="fr-CA" sz="3200" dirty="0"/>
              <a:t>Principe fondamental</a:t>
            </a:r>
            <a:br>
              <a:rPr lang="fr-CA" sz="3200" dirty="0"/>
            </a:br>
            <a:r>
              <a:rPr lang="fr-CA" sz="2000" dirty="0"/>
              <a:t>Séparation des décisions d’investissement et de financement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469367" y="1143943"/>
            <a:ext cx="4040188" cy="479822"/>
          </a:xfrm>
        </p:spPr>
        <p:txBody>
          <a:bodyPr/>
          <a:lstStyle/>
          <a:p>
            <a:r>
              <a:rPr lang="fr-CA" dirty="0"/>
              <a:t>Décisions à long terme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457200" y="1631156"/>
            <a:ext cx="4402832" cy="296346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fr-CA" sz="2600" b="1" dirty="0">
                <a:solidFill>
                  <a:schemeClr val="accent6"/>
                </a:solidFill>
              </a:rPr>
              <a:t>Investissement</a:t>
            </a:r>
          </a:p>
          <a:p>
            <a:pPr lvl="1"/>
            <a:r>
              <a:rPr lang="fr-CA" sz="2300" dirty="0">
                <a:solidFill>
                  <a:schemeClr val="accent6"/>
                </a:solidFill>
              </a:rPr>
              <a:t>Porte sur les actifs</a:t>
            </a:r>
          </a:p>
          <a:p>
            <a:pPr lvl="1"/>
            <a:r>
              <a:rPr lang="fr-CA" sz="2300" dirty="0">
                <a:solidFill>
                  <a:schemeClr val="accent6"/>
                </a:solidFill>
              </a:rPr>
              <a:t>Choix d’actifs à valeur ajoutée</a:t>
            </a:r>
          </a:p>
          <a:p>
            <a:pPr lvl="1"/>
            <a:r>
              <a:rPr lang="fr-CA" sz="2300" dirty="0">
                <a:solidFill>
                  <a:schemeClr val="accent6"/>
                </a:solidFill>
              </a:rPr>
              <a:t>Décisions sur une base d’actif individuel</a:t>
            </a:r>
          </a:p>
          <a:p>
            <a:pPr lvl="1"/>
            <a:r>
              <a:rPr lang="fr-CA" sz="2300" dirty="0">
                <a:solidFill>
                  <a:schemeClr val="accent6"/>
                </a:solidFill>
              </a:rPr>
              <a:t>Détermine les besoins de financement</a:t>
            </a:r>
          </a:p>
          <a:p>
            <a:pPr marL="0" indent="0">
              <a:buNone/>
            </a:pPr>
            <a:r>
              <a:rPr lang="fr-CA" sz="2600" b="1" dirty="0">
                <a:solidFill>
                  <a:schemeClr val="tx2"/>
                </a:solidFill>
              </a:rPr>
              <a:t>Financement</a:t>
            </a:r>
          </a:p>
          <a:p>
            <a:pPr lvl="1"/>
            <a:r>
              <a:rPr lang="fr-CA" sz="2300" dirty="0">
                <a:solidFill>
                  <a:schemeClr val="tx2"/>
                </a:solidFill>
              </a:rPr>
              <a:t>Porte sur les passifs / CP</a:t>
            </a:r>
          </a:p>
          <a:p>
            <a:pPr lvl="1"/>
            <a:r>
              <a:rPr lang="fr-CA" sz="2300" dirty="0">
                <a:solidFill>
                  <a:schemeClr val="tx2"/>
                </a:solidFill>
              </a:rPr>
              <a:t>Cible de financement à LT</a:t>
            </a:r>
          </a:p>
          <a:p>
            <a:pPr lvl="1"/>
            <a:r>
              <a:rPr lang="fr-CA" sz="2300" dirty="0">
                <a:solidFill>
                  <a:schemeClr val="tx2"/>
                </a:solidFill>
              </a:rPr>
              <a:t>Décision sur l’ensemble de l’entreprise</a:t>
            </a:r>
          </a:p>
          <a:p>
            <a:pPr lvl="1"/>
            <a:r>
              <a:rPr lang="fr-CA" sz="2300" dirty="0">
                <a:solidFill>
                  <a:schemeClr val="tx2"/>
                </a:solidFill>
              </a:rPr>
              <a:t>Doit être à hauteur des besoins de financement</a:t>
            </a:r>
          </a:p>
          <a:p>
            <a:pPr lvl="1"/>
            <a:endParaRPr lang="fr-CA" dirty="0"/>
          </a:p>
          <a:p>
            <a:pPr>
              <a:buNone/>
            </a:pPr>
            <a:endParaRPr lang="fr-CA" dirty="0"/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4645026" y="1151335"/>
            <a:ext cx="3570313" cy="479822"/>
          </a:xfrm>
        </p:spPr>
        <p:txBody>
          <a:bodyPr/>
          <a:lstStyle/>
          <a:p>
            <a:pPr algn="ctr"/>
            <a:r>
              <a:rPr lang="fr-CA" dirty="0"/>
              <a:t>Impact sur le bilan</a:t>
            </a:r>
          </a:p>
        </p:txBody>
      </p:sp>
      <p:sp>
        <p:nvSpPr>
          <p:cNvPr id="11" name="Organigramme : Disque magnétique 10"/>
          <p:cNvSpPr/>
          <p:nvPr>
            <p:custDataLst>
              <p:tags r:id="rId5"/>
            </p:custDataLst>
          </p:nvPr>
        </p:nvSpPr>
        <p:spPr>
          <a:xfrm>
            <a:off x="5209665" y="1961186"/>
            <a:ext cx="1214446" cy="2250297"/>
          </a:xfrm>
          <a:prstGeom prst="flowChartMagneticDisk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>
                <a:solidFill>
                  <a:schemeClr val="accent6"/>
                </a:solidFill>
              </a:rPr>
              <a:t>Actifs</a:t>
            </a:r>
          </a:p>
        </p:txBody>
      </p:sp>
      <p:sp>
        <p:nvSpPr>
          <p:cNvPr id="13" name="Organigramme : Disque magnétique 12"/>
          <p:cNvSpPr/>
          <p:nvPr>
            <p:custDataLst>
              <p:tags r:id="rId6"/>
            </p:custDataLst>
          </p:nvPr>
        </p:nvSpPr>
        <p:spPr>
          <a:xfrm>
            <a:off x="6852739" y="1961186"/>
            <a:ext cx="1214446" cy="2250297"/>
          </a:xfrm>
          <a:prstGeom prst="flowChartMagneticDisk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>
              <a:solidFill>
                <a:schemeClr val="accent3"/>
              </a:solidFill>
            </a:endParaRPr>
          </a:p>
          <a:p>
            <a:pPr algn="ctr"/>
            <a:r>
              <a:rPr lang="fr-CA" dirty="0">
                <a:solidFill>
                  <a:schemeClr val="tx2"/>
                </a:solidFill>
              </a:rPr>
              <a:t>Passifs</a:t>
            </a:r>
          </a:p>
          <a:p>
            <a:pPr algn="ctr"/>
            <a:endParaRPr lang="fr-CA" dirty="0">
              <a:solidFill>
                <a:schemeClr val="tx2"/>
              </a:solidFill>
            </a:endParaRPr>
          </a:p>
          <a:p>
            <a:pPr algn="ctr"/>
            <a:endParaRPr lang="fr-CA" dirty="0">
              <a:solidFill>
                <a:schemeClr val="tx2"/>
              </a:solidFill>
            </a:endParaRPr>
          </a:p>
          <a:p>
            <a:pPr algn="ctr"/>
            <a:r>
              <a:rPr lang="fr-CA" dirty="0">
                <a:solidFill>
                  <a:schemeClr val="tx2"/>
                </a:solidFill>
              </a:rPr>
              <a:t>Capitaux</a:t>
            </a:r>
          </a:p>
          <a:p>
            <a:pPr algn="ctr"/>
            <a:r>
              <a:rPr lang="fr-CA" dirty="0">
                <a:solidFill>
                  <a:schemeClr val="tx2"/>
                </a:solidFill>
              </a:rPr>
              <a:t>propres</a:t>
            </a:r>
          </a:p>
        </p:txBody>
      </p:sp>
      <p:cxnSp>
        <p:nvCxnSpPr>
          <p:cNvPr id="15" name="Connecteur droit 14"/>
          <p:cNvCxnSpPr/>
          <p:nvPr>
            <p:custDataLst>
              <p:tags r:id="rId7"/>
            </p:custDataLst>
          </p:nvPr>
        </p:nvCxnSpPr>
        <p:spPr>
          <a:xfrm rot="5400000" flipH="1" flipV="1">
            <a:off x="6674144" y="1889748"/>
            <a:ext cx="0" cy="1643074"/>
          </a:xfrm>
          <a:prstGeom prst="line">
            <a:avLst/>
          </a:prstGeom>
          <a:ln w="25400">
            <a:solidFill>
              <a:schemeClr val="accent6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/>
          <p:cNvCxnSpPr/>
          <p:nvPr>
            <p:custDataLst>
              <p:tags r:id="rId8"/>
            </p:custDataLst>
          </p:nvPr>
        </p:nvCxnSpPr>
        <p:spPr>
          <a:xfrm rot="5400000" flipH="1" flipV="1">
            <a:off x="6674144" y="3389946"/>
            <a:ext cx="0" cy="1643074"/>
          </a:xfrm>
          <a:prstGeom prst="line">
            <a:avLst/>
          </a:prstGeom>
          <a:ln w="25400">
            <a:solidFill>
              <a:schemeClr val="accent6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/>
          <p:nvPr>
            <p:custDataLst>
              <p:tags r:id="rId9"/>
            </p:custDataLst>
          </p:nvPr>
        </p:nvCxnSpPr>
        <p:spPr>
          <a:xfrm>
            <a:off x="6852739" y="3300648"/>
            <a:ext cx="1214446" cy="0"/>
          </a:xfrm>
          <a:prstGeom prst="line">
            <a:avLst/>
          </a:prstGeom>
          <a:ln w="2540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avec flèche 19"/>
          <p:cNvCxnSpPr/>
          <p:nvPr>
            <p:custDataLst>
              <p:tags r:id="rId10"/>
            </p:custDataLst>
          </p:nvPr>
        </p:nvCxnSpPr>
        <p:spPr>
          <a:xfrm rot="10800000">
            <a:off x="8067185" y="3300648"/>
            <a:ext cx="642942" cy="1191"/>
          </a:xfrm>
          <a:prstGeom prst="straightConnector1">
            <a:avLst/>
          </a:prstGeom>
          <a:ln w="317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4027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4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0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3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6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11" grpId="0" build="allAtOnce" animBg="1"/>
      <p:bldP spid="13" grpId="0" build="allAtOnce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205979"/>
            <a:ext cx="8229600" cy="554831"/>
          </a:xfrm>
        </p:spPr>
        <p:txBody>
          <a:bodyPr>
            <a:normAutofit/>
          </a:bodyPr>
          <a:lstStyle/>
          <a:p>
            <a:pPr algn="l"/>
            <a:r>
              <a:rPr lang="fr-CA" dirty="0"/>
              <a:t>Le critère de décision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113235"/>
            <a:ext cx="8229600" cy="34587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sz="2400" dirty="0"/>
              <a:t>Notre critère de décision ultime : </a:t>
            </a:r>
            <a:r>
              <a:rPr lang="fr-CA" sz="2400" dirty="0">
                <a:solidFill>
                  <a:schemeClr val="accent1"/>
                </a:solidFill>
              </a:rPr>
              <a:t>la VAN</a:t>
            </a:r>
          </a:p>
          <a:p>
            <a:endParaRPr lang="fr-CA" sz="2400" dirty="0"/>
          </a:p>
          <a:p>
            <a:pPr marL="0" indent="0">
              <a:buNone/>
            </a:pPr>
            <a:r>
              <a:rPr lang="fr-CA" sz="2400" dirty="0"/>
              <a:t>Flux monétaires : </a:t>
            </a:r>
            <a:r>
              <a:rPr lang="fr-CA" sz="2400" u="sng" dirty="0">
                <a:solidFill>
                  <a:schemeClr val="accent1"/>
                </a:solidFill>
              </a:rPr>
              <a:t>entrées et sorties réelles</a:t>
            </a:r>
            <a:r>
              <a:rPr lang="fr-CA" sz="2400" dirty="0">
                <a:solidFill>
                  <a:schemeClr val="accent1"/>
                </a:solidFill>
              </a:rPr>
              <a:t> d’argent.</a:t>
            </a:r>
          </a:p>
          <a:p>
            <a:pPr marL="0" indent="0">
              <a:buNone/>
            </a:pPr>
            <a:r>
              <a:rPr lang="fr-CA" sz="2400" dirty="0"/>
              <a:t>Il faut donc actualiser tous les flux monétaires </a:t>
            </a:r>
            <a:r>
              <a:rPr lang="fr-CA" sz="2400" u="sng" dirty="0">
                <a:solidFill>
                  <a:schemeClr val="accent1"/>
                </a:solidFill>
              </a:rPr>
              <a:t>pertinents</a:t>
            </a:r>
            <a:r>
              <a:rPr lang="fr-CA" sz="2400" dirty="0"/>
              <a:t> au projet.</a:t>
            </a:r>
          </a:p>
          <a:p>
            <a:pPr marL="0" indent="0">
              <a:buNone/>
            </a:pPr>
            <a:endParaRPr lang="fr-CA" sz="2400" dirty="0"/>
          </a:p>
          <a:p>
            <a:pPr marL="0" indent="0">
              <a:buNone/>
            </a:pPr>
            <a:r>
              <a:rPr lang="fr-CA" sz="2400" dirty="0"/>
              <a:t>	Quels sont-ils???</a:t>
            </a:r>
          </a:p>
          <a:p>
            <a:pPr>
              <a:buFontTx/>
              <a:buNone/>
            </a:pPr>
            <a:r>
              <a:rPr lang="fr-CA" sz="2400" dirty="0"/>
              <a:t>		On procède par </a:t>
            </a:r>
            <a:r>
              <a:rPr lang="fr-CA" sz="2400" dirty="0">
                <a:solidFill>
                  <a:schemeClr val="accent1"/>
                </a:solidFill>
              </a:rPr>
              <a:t>analyse marginale…</a:t>
            </a:r>
          </a:p>
          <a:p>
            <a:endParaRPr lang="fr-CA" dirty="0"/>
          </a:p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765556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space réservé du contenu 5"/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1707654"/>
            <a:ext cx="4736592" cy="1645920"/>
          </a:xfrm>
        </p:spPr>
      </p:pic>
    </p:spTree>
    <p:extLst>
      <p:ext uri="{BB962C8B-B14F-4D97-AF65-F5344CB8AC3E}">
        <p14:creationId xmlns:p14="http://schemas.microsoft.com/office/powerpoint/2010/main" val="3677982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fr-CA" dirty="0"/>
              <a:t>Chapitre 10: L’évaluation de projet</a:t>
            </a:r>
          </a:p>
        </p:txBody>
      </p:sp>
      <p:sp>
        <p:nvSpPr>
          <p:cNvPr id="2" name="Sous-titre 1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lstStyle/>
          <a:p>
            <a:r>
              <a:rPr lang="fr-CA" dirty="0"/>
              <a:t>L’analyse marginal &amp; les </a:t>
            </a:r>
            <a:r>
              <a:rPr lang="fr-CA" dirty="0" err="1"/>
              <a:t>FMs</a:t>
            </a:r>
            <a:r>
              <a:rPr lang="fr-CA" dirty="0"/>
              <a:t> pertinents</a:t>
            </a:r>
          </a:p>
        </p:txBody>
      </p:sp>
    </p:spTree>
    <p:extLst>
      <p:ext uri="{BB962C8B-B14F-4D97-AF65-F5344CB8AC3E}">
        <p14:creationId xmlns:p14="http://schemas.microsoft.com/office/powerpoint/2010/main" val="4168354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205979"/>
            <a:ext cx="8229600" cy="554831"/>
          </a:xfrm>
        </p:spPr>
        <p:txBody>
          <a:bodyPr>
            <a:normAutofit/>
          </a:bodyPr>
          <a:lstStyle/>
          <a:p>
            <a:pPr algn="l"/>
            <a:r>
              <a:rPr lang="fr-CA" dirty="0"/>
              <a:t>Les flux monétaires pertinents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113235"/>
            <a:ext cx="8218488" cy="3673078"/>
          </a:xfrm>
        </p:spPr>
        <p:txBody>
          <a:bodyPr>
            <a:normAutofit fontScale="92500" lnSpcReduction="10000"/>
          </a:bodyPr>
          <a:lstStyle/>
          <a:p>
            <a:pPr marL="0" indent="0">
              <a:buFontTx/>
              <a:buNone/>
            </a:pPr>
            <a:r>
              <a:rPr lang="fr-CA" sz="2800" dirty="0"/>
              <a:t>Ce sont les flux monétaires qui changent selon que l’on entreprenne ou non le projet.</a:t>
            </a:r>
          </a:p>
          <a:p>
            <a:pPr>
              <a:buFontTx/>
              <a:buNone/>
            </a:pPr>
            <a:endParaRPr lang="fr-CA" sz="800" dirty="0"/>
          </a:p>
          <a:p>
            <a:pPr>
              <a:buNone/>
            </a:pPr>
            <a:r>
              <a:rPr lang="fr-CA" sz="2800" dirty="0"/>
              <a:t>	1) </a:t>
            </a:r>
            <a:r>
              <a:rPr lang="fr-CA" sz="2800" u="sng" dirty="0"/>
              <a:t>Les coûts irrécupérables</a:t>
            </a:r>
          </a:p>
          <a:p>
            <a:pPr marL="808038" lvl="1" indent="-269875"/>
            <a:r>
              <a:rPr lang="fr-CA" sz="2400" dirty="0"/>
              <a:t>Coûts que l’on doit payer, qu’on entreprenne ou non le projet</a:t>
            </a:r>
          </a:p>
          <a:p>
            <a:pPr marL="808038" lvl="1" indent="-269875"/>
            <a:r>
              <a:rPr lang="fr-CA" sz="2400" dirty="0"/>
              <a:t>Ex.: une étude de marché</a:t>
            </a:r>
          </a:p>
          <a:p>
            <a:pPr marL="538163" lvl="1" indent="0">
              <a:buFontTx/>
              <a:buNone/>
            </a:pPr>
            <a:r>
              <a:rPr lang="fr-CA" sz="2400" dirty="0"/>
              <a:t>Est-ce un coût pour notre projet???</a:t>
            </a:r>
          </a:p>
          <a:p>
            <a:pPr marL="538163" lvl="1" indent="-268288">
              <a:buFontTx/>
              <a:buNone/>
            </a:pPr>
            <a:r>
              <a:rPr lang="fr-CA" sz="2400" dirty="0"/>
              <a:t>	</a:t>
            </a:r>
            <a:r>
              <a:rPr lang="fr-CA" sz="2400" dirty="0">
                <a:solidFill>
                  <a:schemeClr val="accent1"/>
                </a:solidFill>
              </a:rPr>
              <a:t>Non, elle devra être payée quand même!</a:t>
            </a:r>
          </a:p>
          <a:p>
            <a:pPr lvl="1">
              <a:buFontTx/>
              <a:buNone/>
            </a:pPr>
            <a:r>
              <a:rPr lang="fr-CA" sz="3200" dirty="0"/>
              <a:t>Conclusion :</a:t>
            </a:r>
          </a:p>
          <a:p>
            <a:endParaRPr lang="fr-CA" sz="2800" dirty="0">
              <a:solidFill>
                <a:srgbClr val="FF0000"/>
              </a:solidFill>
            </a:endParaRPr>
          </a:p>
          <a:p>
            <a:endParaRPr lang="fr-CA" sz="2800" dirty="0"/>
          </a:p>
        </p:txBody>
      </p:sp>
    </p:spTree>
    <p:extLst>
      <p:ext uri="{BB962C8B-B14F-4D97-AF65-F5344CB8AC3E}">
        <p14:creationId xmlns:p14="http://schemas.microsoft.com/office/powerpoint/2010/main" val="619342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205979"/>
            <a:ext cx="8229600" cy="554831"/>
          </a:xfrm>
        </p:spPr>
        <p:txBody>
          <a:bodyPr>
            <a:normAutofit/>
          </a:bodyPr>
          <a:lstStyle/>
          <a:p>
            <a:pPr algn="l"/>
            <a:r>
              <a:rPr lang="fr-CA" dirty="0"/>
              <a:t>Les flux monétaires pertinents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113235"/>
            <a:ext cx="8218488" cy="3673078"/>
          </a:xfrm>
        </p:spPr>
        <p:txBody>
          <a:bodyPr>
            <a:normAutofit fontScale="92500" lnSpcReduction="10000"/>
          </a:bodyPr>
          <a:lstStyle/>
          <a:p>
            <a:pPr marL="0" indent="0">
              <a:buFontTx/>
              <a:buNone/>
            </a:pPr>
            <a:r>
              <a:rPr lang="fr-CA" sz="2800" dirty="0"/>
              <a:t>Ce sont les flux monétaires qui changent selon que l’on entreprenne ou non le projet.</a:t>
            </a:r>
          </a:p>
          <a:p>
            <a:pPr>
              <a:buFontTx/>
              <a:buNone/>
            </a:pPr>
            <a:endParaRPr lang="fr-CA" sz="800" dirty="0"/>
          </a:p>
          <a:p>
            <a:pPr>
              <a:buNone/>
            </a:pPr>
            <a:r>
              <a:rPr lang="fr-CA" sz="2800" dirty="0"/>
              <a:t>	1) </a:t>
            </a:r>
            <a:r>
              <a:rPr lang="fr-CA" sz="2800" u="sng" dirty="0"/>
              <a:t>Les coûts irrécupérables</a:t>
            </a:r>
          </a:p>
          <a:p>
            <a:pPr marL="808038" lvl="1" indent="-269875"/>
            <a:r>
              <a:rPr lang="fr-CA" sz="2400" dirty="0"/>
              <a:t>Coûts que l’on doit payer, qu’on entreprenne ou non le projet</a:t>
            </a:r>
          </a:p>
          <a:p>
            <a:pPr marL="808038" lvl="1" indent="-269875"/>
            <a:r>
              <a:rPr lang="fr-CA" sz="2400" dirty="0"/>
              <a:t>Ex.: une étude de marché</a:t>
            </a:r>
          </a:p>
          <a:p>
            <a:pPr marL="808038" lvl="1" indent="-269875">
              <a:buFontTx/>
              <a:buNone/>
            </a:pPr>
            <a:r>
              <a:rPr lang="fr-CA" sz="2400" dirty="0"/>
              <a:t>Est-ce un coût pour notre projet???</a:t>
            </a:r>
          </a:p>
          <a:p>
            <a:pPr marL="538163" lvl="1" indent="-176213">
              <a:buFontTx/>
              <a:buNone/>
            </a:pPr>
            <a:r>
              <a:rPr lang="fr-CA" sz="2400" dirty="0"/>
              <a:t>	</a:t>
            </a:r>
            <a:r>
              <a:rPr lang="fr-CA" sz="2400" dirty="0">
                <a:solidFill>
                  <a:schemeClr val="accent1"/>
                </a:solidFill>
              </a:rPr>
              <a:t>Non, elle devra être payée quand même!</a:t>
            </a:r>
          </a:p>
          <a:p>
            <a:pPr lvl="1">
              <a:buFontTx/>
              <a:buNone/>
            </a:pPr>
            <a:r>
              <a:rPr lang="fr-CA" sz="3200" dirty="0">
                <a:solidFill>
                  <a:schemeClr val="accent2"/>
                </a:solidFill>
              </a:rPr>
              <a:t>Conclusion: FM non pertinent</a:t>
            </a:r>
          </a:p>
          <a:p>
            <a:endParaRPr lang="fr-CA" sz="2800" dirty="0">
              <a:solidFill>
                <a:srgbClr val="FF0000"/>
              </a:solidFill>
            </a:endParaRPr>
          </a:p>
          <a:p>
            <a:endParaRPr lang="fr-CA" sz="2800" dirty="0"/>
          </a:p>
        </p:txBody>
      </p:sp>
    </p:spTree>
    <p:extLst>
      <p:ext uri="{BB962C8B-B14F-4D97-AF65-F5344CB8AC3E}">
        <p14:creationId xmlns:p14="http://schemas.microsoft.com/office/powerpoint/2010/main" val="1667568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234554"/>
            <a:ext cx="8229600" cy="554831"/>
          </a:xfrm>
        </p:spPr>
        <p:txBody>
          <a:bodyPr>
            <a:normAutofit/>
          </a:bodyPr>
          <a:lstStyle/>
          <a:p>
            <a:r>
              <a:rPr lang="fr-CA"/>
              <a:t>Les flux monétaires pertinents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113235"/>
            <a:ext cx="8435975" cy="367307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CA" sz="2600" dirty="0"/>
              <a:t>	2) </a:t>
            </a:r>
            <a:r>
              <a:rPr lang="fr-CA" sz="2600" u="sng" dirty="0"/>
              <a:t>Les coûts d’opportunité </a:t>
            </a:r>
            <a:r>
              <a:rPr lang="fr-CA" sz="2600" dirty="0"/>
              <a:t>(de renonciation)</a:t>
            </a:r>
          </a:p>
          <a:p>
            <a:pPr marL="446088" lvl="1" indent="0">
              <a:buNone/>
            </a:pPr>
            <a:r>
              <a:rPr lang="fr-CA" sz="2600" dirty="0"/>
              <a:t>Coûts qui vient du fait que l’on utilise un actif pour le projet</a:t>
            </a:r>
          </a:p>
          <a:p>
            <a:pPr marL="715963" lvl="1" indent="-269875"/>
            <a:r>
              <a:rPr lang="fr-CA" sz="2600" dirty="0"/>
              <a:t>Ex.: terrain appartenant à la compagnie</a:t>
            </a:r>
          </a:p>
          <a:p>
            <a:pPr lvl="1">
              <a:buFontTx/>
              <a:buNone/>
            </a:pPr>
            <a:r>
              <a:rPr lang="fr-CA" sz="2600" dirty="0"/>
              <a:t>	Coût au projet? </a:t>
            </a:r>
            <a:endParaRPr lang="fr-CA" sz="26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3662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234554"/>
            <a:ext cx="8229600" cy="554831"/>
          </a:xfrm>
        </p:spPr>
        <p:txBody>
          <a:bodyPr>
            <a:normAutofit/>
          </a:bodyPr>
          <a:lstStyle/>
          <a:p>
            <a:r>
              <a:rPr lang="fr-CA"/>
              <a:t>Les flux monétaires pertinents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113235"/>
            <a:ext cx="8435975" cy="367307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CA" sz="2600" dirty="0"/>
              <a:t>	2) </a:t>
            </a:r>
            <a:r>
              <a:rPr lang="fr-CA" sz="2600" u="sng" dirty="0"/>
              <a:t>Les coûts d’opportunité </a:t>
            </a:r>
            <a:r>
              <a:rPr lang="fr-CA" sz="2600" dirty="0"/>
              <a:t>(de renonciation)</a:t>
            </a:r>
          </a:p>
          <a:p>
            <a:pPr marL="446088" lvl="1" indent="0">
              <a:buNone/>
            </a:pPr>
            <a:r>
              <a:rPr lang="fr-CA" sz="2600" dirty="0"/>
              <a:t>Coûts qui vient du fait que l’on utilise un actif pour le projet</a:t>
            </a:r>
          </a:p>
          <a:p>
            <a:pPr marL="715963" lvl="1" indent="-269875"/>
            <a:r>
              <a:rPr lang="fr-CA" sz="2600" dirty="0"/>
              <a:t>Ex.: terrain appartenant à la compagnie</a:t>
            </a:r>
          </a:p>
          <a:p>
            <a:pPr lvl="1">
              <a:buFontTx/>
              <a:buNone/>
            </a:pPr>
            <a:r>
              <a:rPr lang="fr-CA" sz="2600" dirty="0"/>
              <a:t>	Coût au projet? </a:t>
            </a:r>
            <a:r>
              <a:rPr lang="fr-CA" sz="2600" dirty="0">
                <a:solidFill>
                  <a:schemeClr val="accent1"/>
                </a:solidFill>
              </a:rPr>
              <a:t>Oui, on y renonce!</a:t>
            </a:r>
          </a:p>
        </p:txBody>
      </p:sp>
    </p:spTree>
    <p:extLst>
      <p:ext uri="{BB962C8B-B14F-4D97-AF65-F5344CB8AC3E}">
        <p14:creationId xmlns:p14="http://schemas.microsoft.com/office/powerpoint/2010/main" val="39941830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234554"/>
            <a:ext cx="8229600" cy="554831"/>
          </a:xfrm>
        </p:spPr>
        <p:txBody>
          <a:bodyPr>
            <a:normAutofit/>
          </a:bodyPr>
          <a:lstStyle/>
          <a:p>
            <a:r>
              <a:rPr lang="fr-CA"/>
              <a:t>Les flux monétaires pertinents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113235"/>
            <a:ext cx="8435975" cy="367307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CA" sz="2600" dirty="0"/>
              <a:t>	2) </a:t>
            </a:r>
            <a:r>
              <a:rPr lang="fr-CA" sz="2600" u="sng" dirty="0"/>
              <a:t>Les coûts d’opportunité </a:t>
            </a:r>
            <a:r>
              <a:rPr lang="fr-CA" sz="2600" dirty="0"/>
              <a:t>(de renonciation)</a:t>
            </a:r>
          </a:p>
          <a:p>
            <a:pPr marL="538163" lvl="1" indent="0">
              <a:buNone/>
            </a:pPr>
            <a:r>
              <a:rPr lang="fr-CA" sz="2600" dirty="0"/>
              <a:t>Coûts qui vient du fait que l’on utilise un actif pour le projet</a:t>
            </a:r>
          </a:p>
          <a:p>
            <a:pPr marL="808038" lvl="1" indent="-269875"/>
            <a:r>
              <a:rPr lang="fr-CA" sz="2600" dirty="0"/>
              <a:t>Ex.: terrain appartenant à la compagnie</a:t>
            </a:r>
          </a:p>
          <a:p>
            <a:pPr marL="808038" lvl="1" indent="-269875">
              <a:buFontTx/>
              <a:buNone/>
            </a:pPr>
            <a:r>
              <a:rPr lang="fr-CA" sz="2600" dirty="0"/>
              <a:t>	Coût au projet? </a:t>
            </a:r>
            <a:r>
              <a:rPr lang="fr-CA" sz="2600" dirty="0">
                <a:solidFill>
                  <a:schemeClr val="accent1"/>
                </a:solidFill>
              </a:rPr>
              <a:t>Oui, on y renonce!</a:t>
            </a:r>
          </a:p>
          <a:p>
            <a:pPr marL="808038" lvl="1" indent="-269875"/>
            <a:r>
              <a:rPr lang="fr-CA" sz="2600" dirty="0"/>
              <a:t>Ex.: locaux que l’on louait auparavant</a:t>
            </a:r>
          </a:p>
          <a:p>
            <a:pPr marL="808038" lvl="1" indent="-269875">
              <a:buFontTx/>
              <a:buNone/>
            </a:pPr>
            <a:r>
              <a:rPr lang="fr-CA" sz="2600" dirty="0"/>
              <a:t>	Coût? </a:t>
            </a:r>
            <a:endParaRPr lang="fr-CA" sz="26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74530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234554"/>
            <a:ext cx="8229600" cy="554831"/>
          </a:xfrm>
        </p:spPr>
        <p:txBody>
          <a:bodyPr>
            <a:normAutofit/>
          </a:bodyPr>
          <a:lstStyle/>
          <a:p>
            <a:r>
              <a:rPr lang="fr-CA"/>
              <a:t>Les flux monétaires pertinents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113235"/>
            <a:ext cx="8435975" cy="367307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CA" sz="2600" dirty="0"/>
              <a:t>	2) </a:t>
            </a:r>
            <a:r>
              <a:rPr lang="fr-CA" sz="2600" u="sng" dirty="0"/>
              <a:t>Les coûts d’opportunité </a:t>
            </a:r>
            <a:r>
              <a:rPr lang="fr-CA" sz="2600" dirty="0"/>
              <a:t>(de renonciation)</a:t>
            </a:r>
          </a:p>
          <a:p>
            <a:pPr marL="538163" lvl="1" indent="0">
              <a:buNone/>
            </a:pPr>
            <a:r>
              <a:rPr lang="fr-CA" sz="2600" dirty="0"/>
              <a:t>Coûts qui vient du fait que l’on utilise un actif pour le projet</a:t>
            </a:r>
          </a:p>
          <a:p>
            <a:pPr marL="808038" lvl="1" indent="-269875"/>
            <a:r>
              <a:rPr lang="fr-CA" sz="2600" dirty="0"/>
              <a:t>Ex.: terrain appartenant à la compagnie</a:t>
            </a:r>
          </a:p>
          <a:p>
            <a:pPr marL="808038" lvl="1" indent="-269875">
              <a:buFontTx/>
              <a:buNone/>
            </a:pPr>
            <a:r>
              <a:rPr lang="fr-CA" sz="2600" dirty="0"/>
              <a:t>	Coût au projet? </a:t>
            </a:r>
            <a:r>
              <a:rPr lang="fr-CA" sz="2600" dirty="0">
                <a:solidFill>
                  <a:schemeClr val="accent1"/>
                </a:solidFill>
              </a:rPr>
              <a:t>Oui, on y renonce!</a:t>
            </a:r>
          </a:p>
          <a:p>
            <a:pPr marL="808038" lvl="1" indent="-269875"/>
            <a:r>
              <a:rPr lang="fr-CA" sz="2600" dirty="0"/>
              <a:t>Ex.: locaux que l’on louait auparavant</a:t>
            </a:r>
          </a:p>
          <a:p>
            <a:pPr marL="808038" lvl="1" indent="-269875">
              <a:buFontTx/>
              <a:buNone/>
            </a:pPr>
            <a:r>
              <a:rPr lang="fr-CA" sz="2600" dirty="0"/>
              <a:t>	Coût? </a:t>
            </a:r>
            <a:r>
              <a:rPr lang="fr-CA" sz="2600" dirty="0">
                <a:solidFill>
                  <a:schemeClr val="accent1"/>
                </a:solidFill>
              </a:rPr>
              <a:t>Oui, on perd l’opportunité de louer!</a:t>
            </a:r>
          </a:p>
        </p:txBody>
      </p:sp>
    </p:spTree>
    <p:extLst>
      <p:ext uri="{BB962C8B-B14F-4D97-AF65-F5344CB8AC3E}">
        <p14:creationId xmlns:p14="http://schemas.microsoft.com/office/powerpoint/2010/main" val="22027371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234554"/>
            <a:ext cx="8229600" cy="554831"/>
          </a:xfrm>
        </p:spPr>
        <p:txBody>
          <a:bodyPr>
            <a:normAutofit/>
          </a:bodyPr>
          <a:lstStyle/>
          <a:p>
            <a:r>
              <a:rPr lang="fr-CA"/>
              <a:t>Les flux monétaires pertinents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457200" y="915566"/>
            <a:ext cx="8435975" cy="3870747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CA" dirty="0"/>
              <a:t>	</a:t>
            </a:r>
            <a:r>
              <a:rPr lang="fr-CA" sz="2000" dirty="0"/>
              <a:t>2) </a:t>
            </a:r>
            <a:r>
              <a:rPr lang="fr-CA" sz="2000" u="sng" dirty="0"/>
              <a:t>Les coûts d’opportunité </a:t>
            </a:r>
            <a:r>
              <a:rPr lang="fr-CA" sz="2000" dirty="0"/>
              <a:t>(de renonciation)</a:t>
            </a:r>
          </a:p>
          <a:p>
            <a:pPr marL="446088" lvl="1" indent="0">
              <a:buNone/>
            </a:pPr>
            <a:r>
              <a:rPr lang="fr-CA" sz="2000" dirty="0"/>
              <a:t>Coûts qui vient du fait que l’on utilise un actif pour le projet</a:t>
            </a:r>
          </a:p>
          <a:p>
            <a:pPr marL="623888" lvl="1" indent="-177800"/>
            <a:r>
              <a:rPr lang="fr-CA" sz="2000" dirty="0"/>
              <a:t>Ex.: terrain appartenant à la </a:t>
            </a:r>
            <a:r>
              <a:rPr lang="fr-CA" sz="2000" dirty="0" err="1"/>
              <a:t>cie</a:t>
            </a:r>
            <a:endParaRPr lang="fr-CA" sz="2000" dirty="0"/>
          </a:p>
          <a:p>
            <a:pPr marL="623888" lvl="1" indent="-177800">
              <a:buFontTx/>
              <a:buNone/>
            </a:pPr>
            <a:r>
              <a:rPr lang="fr-CA" sz="2000" dirty="0"/>
              <a:t>	Coût au projet? </a:t>
            </a:r>
            <a:r>
              <a:rPr lang="fr-CA" sz="2000" dirty="0">
                <a:solidFill>
                  <a:schemeClr val="accent1"/>
                </a:solidFill>
              </a:rPr>
              <a:t>Oui, on y renonce!</a:t>
            </a:r>
          </a:p>
          <a:p>
            <a:pPr marL="623888" lvl="1" indent="-177800"/>
            <a:r>
              <a:rPr lang="fr-CA" sz="2000" dirty="0"/>
              <a:t>Ex.: locaux que l’on louait auparavant</a:t>
            </a:r>
          </a:p>
          <a:p>
            <a:pPr marL="623888" lvl="1" indent="-177800">
              <a:buFontTx/>
              <a:buNone/>
            </a:pPr>
            <a:r>
              <a:rPr lang="fr-CA" sz="2000" dirty="0"/>
              <a:t>	Coût? </a:t>
            </a:r>
            <a:r>
              <a:rPr lang="fr-CA" sz="2000" dirty="0">
                <a:solidFill>
                  <a:schemeClr val="accent1"/>
                </a:solidFill>
              </a:rPr>
              <a:t>Oui, on perd l’opportunité de louer!</a:t>
            </a:r>
          </a:p>
          <a:p>
            <a:pPr lvl="1">
              <a:buFontTx/>
              <a:buNone/>
            </a:pPr>
            <a:r>
              <a:rPr lang="fr-CA" sz="4400" dirty="0">
                <a:solidFill>
                  <a:schemeClr val="accent3"/>
                </a:solidFill>
              </a:rPr>
              <a:t>Conclusion: FM pertinents</a:t>
            </a:r>
          </a:p>
        </p:txBody>
      </p:sp>
    </p:spTree>
    <p:extLst>
      <p:ext uri="{BB962C8B-B14F-4D97-AF65-F5344CB8AC3E}">
        <p14:creationId xmlns:p14="http://schemas.microsoft.com/office/powerpoint/2010/main" val="16945218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395288" y="141685"/>
            <a:ext cx="8229600" cy="773881"/>
          </a:xfrm>
        </p:spPr>
        <p:txBody>
          <a:bodyPr/>
          <a:lstStyle/>
          <a:p>
            <a:pPr algn="l"/>
            <a:r>
              <a:rPr lang="fr-CA" dirty="0"/>
              <a:t>Les flux monétaires pertinents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sz="half" idx="1"/>
            <p:custDataLst>
              <p:tags r:id="rId2"/>
            </p:custDataLst>
          </p:nvPr>
        </p:nvSpPr>
        <p:spPr>
          <a:xfrm>
            <a:off x="395288" y="1113235"/>
            <a:ext cx="8362950" cy="3726656"/>
          </a:xfrm>
        </p:spPr>
        <p:txBody>
          <a:bodyPr/>
          <a:lstStyle/>
          <a:p>
            <a:pPr>
              <a:buNone/>
            </a:pPr>
            <a:r>
              <a:rPr lang="fr-CA" sz="2800" dirty="0"/>
              <a:t>	3) Les </a:t>
            </a:r>
            <a:r>
              <a:rPr lang="fr-CA" sz="2800" dirty="0" err="1"/>
              <a:t>FMs</a:t>
            </a:r>
            <a:r>
              <a:rPr lang="fr-CA" sz="2800" dirty="0"/>
              <a:t> différentiels</a:t>
            </a:r>
          </a:p>
          <a:p>
            <a:pPr marL="538163" lvl="1" indent="0">
              <a:buNone/>
            </a:pPr>
            <a:r>
              <a:rPr lang="fr-CA" sz="2400" dirty="0"/>
              <a:t>On remplace une machine :</a:t>
            </a:r>
          </a:p>
          <a:p>
            <a:pPr lvl="1"/>
            <a:endParaRPr lang="fr-CA" sz="2400" dirty="0"/>
          </a:p>
          <a:p>
            <a:pPr lvl="1"/>
            <a:endParaRPr lang="fr-CA" sz="2400" dirty="0"/>
          </a:p>
          <a:p>
            <a:pPr lvl="1"/>
            <a:endParaRPr lang="fr-CA" sz="2400" dirty="0"/>
          </a:p>
          <a:p>
            <a:pPr lvl="1"/>
            <a:endParaRPr lang="fr-CA" sz="2400" dirty="0"/>
          </a:p>
          <a:p>
            <a:pPr lvl="1"/>
            <a:endParaRPr lang="fr-CA" sz="2400" dirty="0"/>
          </a:p>
        </p:txBody>
      </p:sp>
      <p:graphicFrame>
        <p:nvGraphicFramePr>
          <p:cNvPr id="21508" name="Group 4"/>
          <p:cNvGraphicFramePr>
            <a:graphicFrameLocks noGrp="1"/>
          </p:cNvGraphicFramePr>
          <p:nvPr>
            <p:ph sz="half" idx="2"/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596503703"/>
              </p:ext>
            </p:extLst>
          </p:nvPr>
        </p:nvGraphicFramePr>
        <p:xfrm>
          <a:off x="1259632" y="2377678"/>
          <a:ext cx="6911975" cy="1197770"/>
        </p:xfrm>
        <a:graphic>
          <a:graphicData uri="http://schemas.openxmlformats.org/drawingml/2006/table">
            <a:tbl>
              <a:tblPr/>
              <a:tblGrid>
                <a:gridCol w="17287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87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50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Facteur de coût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Frais avec l’ancienne machine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Frais avec la nouvelle machine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FM différentiel (pertinent)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2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Salaire des employés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5 000 $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3 000 $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+2 000 $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4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Frais d’entretien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300 $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800 $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CA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2354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395288" y="141685"/>
            <a:ext cx="8229600" cy="701873"/>
          </a:xfrm>
        </p:spPr>
        <p:txBody>
          <a:bodyPr/>
          <a:lstStyle/>
          <a:p>
            <a:pPr algn="l"/>
            <a:r>
              <a:rPr lang="fr-CA" dirty="0"/>
              <a:t>Les flux monétaires pertinents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sz="half" idx="1"/>
            <p:custDataLst>
              <p:tags r:id="rId2"/>
            </p:custDataLst>
          </p:nvPr>
        </p:nvSpPr>
        <p:spPr>
          <a:xfrm>
            <a:off x="395288" y="1113235"/>
            <a:ext cx="8362950" cy="3726656"/>
          </a:xfrm>
        </p:spPr>
        <p:txBody>
          <a:bodyPr/>
          <a:lstStyle/>
          <a:p>
            <a:pPr>
              <a:buNone/>
            </a:pPr>
            <a:r>
              <a:rPr lang="fr-CA" sz="2800" dirty="0"/>
              <a:t>	3) Les </a:t>
            </a:r>
            <a:r>
              <a:rPr lang="fr-CA" sz="2800" dirty="0" err="1"/>
              <a:t>FMs</a:t>
            </a:r>
            <a:r>
              <a:rPr lang="fr-CA" sz="2800" dirty="0"/>
              <a:t> différentiels</a:t>
            </a:r>
          </a:p>
          <a:p>
            <a:pPr marL="538163" lvl="1" indent="0">
              <a:buNone/>
            </a:pPr>
            <a:r>
              <a:rPr lang="fr-CA" sz="2400" dirty="0"/>
              <a:t>On remplace une machine :</a:t>
            </a:r>
          </a:p>
          <a:p>
            <a:pPr lvl="1"/>
            <a:endParaRPr lang="fr-CA" sz="2400" dirty="0"/>
          </a:p>
          <a:p>
            <a:pPr lvl="1"/>
            <a:endParaRPr lang="fr-CA" sz="2400" dirty="0"/>
          </a:p>
          <a:p>
            <a:pPr lvl="1"/>
            <a:endParaRPr lang="fr-CA" sz="2400" dirty="0"/>
          </a:p>
          <a:p>
            <a:pPr lvl="1"/>
            <a:endParaRPr lang="fr-CA" sz="2400" dirty="0"/>
          </a:p>
          <a:p>
            <a:pPr lvl="1"/>
            <a:endParaRPr lang="fr-CA" sz="2400" dirty="0"/>
          </a:p>
        </p:txBody>
      </p:sp>
      <p:graphicFrame>
        <p:nvGraphicFramePr>
          <p:cNvPr id="21508" name="Group 4"/>
          <p:cNvGraphicFramePr>
            <a:graphicFrameLocks noGrp="1"/>
          </p:cNvGraphicFramePr>
          <p:nvPr>
            <p:ph sz="half" idx="2"/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748130942"/>
              </p:ext>
            </p:extLst>
          </p:nvPr>
        </p:nvGraphicFramePr>
        <p:xfrm>
          <a:off x="1259632" y="2377678"/>
          <a:ext cx="6911975" cy="1197770"/>
        </p:xfrm>
        <a:graphic>
          <a:graphicData uri="http://schemas.openxmlformats.org/drawingml/2006/table">
            <a:tbl>
              <a:tblPr/>
              <a:tblGrid>
                <a:gridCol w="17287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87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50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Facteur de coût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Frais avec l’ancienne machine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Frais avec la nouvelle machine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FM différentiel (pertinent)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2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Salaire des employés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5 000 $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3 000 $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+2 000 $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4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Frais d’entretien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300 $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800 $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-500 $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82965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395288" y="141685"/>
            <a:ext cx="8229600" cy="701873"/>
          </a:xfrm>
        </p:spPr>
        <p:txBody>
          <a:bodyPr/>
          <a:lstStyle/>
          <a:p>
            <a:pPr algn="l"/>
            <a:r>
              <a:rPr lang="fr-CA" dirty="0"/>
              <a:t>Les flux monétaires pertinents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sz="half" idx="1"/>
            <p:custDataLst>
              <p:tags r:id="rId2"/>
            </p:custDataLst>
          </p:nvPr>
        </p:nvSpPr>
        <p:spPr>
          <a:xfrm>
            <a:off x="395288" y="1113235"/>
            <a:ext cx="8362950" cy="372665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CA" sz="2800" dirty="0"/>
              <a:t>	3) Les </a:t>
            </a:r>
            <a:r>
              <a:rPr lang="fr-CA" sz="2800" dirty="0" err="1"/>
              <a:t>FMs</a:t>
            </a:r>
            <a:r>
              <a:rPr lang="fr-CA" sz="2800" dirty="0"/>
              <a:t> différentiels</a:t>
            </a:r>
          </a:p>
          <a:p>
            <a:pPr marL="538163" lvl="1" indent="0">
              <a:buNone/>
            </a:pPr>
            <a:r>
              <a:rPr lang="fr-CA" sz="2400" dirty="0"/>
              <a:t>On remplace une machine:</a:t>
            </a:r>
          </a:p>
          <a:p>
            <a:pPr lvl="1"/>
            <a:endParaRPr lang="fr-CA" sz="2400" dirty="0"/>
          </a:p>
          <a:p>
            <a:pPr lvl="1"/>
            <a:endParaRPr lang="fr-CA" sz="2400" dirty="0"/>
          </a:p>
          <a:p>
            <a:pPr lvl="1"/>
            <a:endParaRPr lang="fr-CA" sz="2400" dirty="0"/>
          </a:p>
          <a:p>
            <a:pPr marL="538163" lvl="1" indent="0">
              <a:buNone/>
            </a:pPr>
            <a:r>
              <a:rPr lang="fr-CA" sz="2400" dirty="0"/>
              <a:t>Entreprendre ou non le projet change les entrées et sorties d’argents (</a:t>
            </a:r>
            <a:r>
              <a:rPr lang="fr-CA" sz="2400" dirty="0" err="1"/>
              <a:t>FMs</a:t>
            </a:r>
            <a:r>
              <a:rPr lang="fr-CA" sz="2400" dirty="0"/>
              <a:t>)</a:t>
            </a:r>
          </a:p>
          <a:p>
            <a:pPr marL="538163" lvl="1" indent="0">
              <a:buFontTx/>
              <a:buNone/>
            </a:pPr>
            <a:endParaRPr lang="fr-CA" dirty="0">
              <a:solidFill>
                <a:schemeClr val="accent3"/>
              </a:solidFill>
            </a:endParaRPr>
          </a:p>
          <a:p>
            <a:pPr marL="538163" lvl="1" indent="0">
              <a:buFontTx/>
              <a:buNone/>
            </a:pPr>
            <a:r>
              <a:rPr lang="fr-CA" sz="2000" dirty="0">
                <a:solidFill>
                  <a:schemeClr val="accent3"/>
                </a:solidFill>
              </a:rPr>
              <a:t>Conclusion: </a:t>
            </a:r>
            <a:r>
              <a:rPr lang="fr-CA" sz="2000" dirty="0" err="1">
                <a:solidFill>
                  <a:schemeClr val="accent3"/>
                </a:solidFill>
              </a:rPr>
              <a:t>FMs</a:t>
            </a:r>
            <a:r>
              <a:rPr lang="fr-CA" sz="2000" dirty="0">
                <a:solidFill>
                  <a:schemeClr val="accent3"/>
                </a:solidFill>
              </a:rPr>
              <a:t> pertinent</a:t>
            </a:r>
          </a:p>
        </p:txBody>
      </p:sp>
      <p:graphicFrame>
        <p:nvGraphicFramePr>
          <p:cNvPr id="21508" name="Group 4"/>
          <p:cNvGraphicFramePr>
            <a:graphicFrameLocks noGrp="1"/>
          </p:cNvGraphicFramePr>
          <p:nvPr>
            <p:ph sz="half" idx="2"/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909726958"/>
              </p:ext>
            </p:extLst>
          </p:nvPr>
        </p:nvGraphicFramePr>
        <p:xfrm>
          <a:off x="1259632" y="2067694"/>
          <a:ext cx="6911975" cy="1197770"/>
        </p:xfrm>
        <a:graphic>
          <a:graphicData uri="http://schemas.openxmlformats.org/drawingml/2006/table">
            <a:tbl>
              <a:tblPr/>
              <a:tblGrid>
                <a:gridCol w="17287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87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50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Facteur de coût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Frais avec l’ancienne machine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Frais avec la nouvelle machine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FM différentiel (pertinent)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2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Salaire des employés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5 000 $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3 000 $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latin typeface="Arial" charset="0"/>
                        </a:rPr>
                        <a:t>+2 000 $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4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Frais d’entretien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300 $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800 $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latin typeface="Arial" charset="0"/>
                        </a:rPr>
                        <a:t>-500 $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23440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395288" y="141685"/>
            <a:ext cx="8229600" cy="754857"/>
          </a:xfrm>
        </p:spPr>
        <p:txBody>
          <a:bodyPr/>
          <a:lstStyle/>
          <a:p>
            <a:r>
              <a:rPr lang="fr-CA"/>
              <a:t>Les flux monétaires pertinents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sz="half" idx="1"/>
            <p:custDataLst>
              <p:tags r:id="rId2"/>
            </p:custDataLst>
          </p:nvPr>
        </p:nvSpPr>
        <p:spPr>
          <a:xfrm>
            <a:off x="395288" y="1113235"/>
            <a:ext cx="8362950" cy="3726656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fr-CA" sz="2800" dirty="0"/>
              <a:t>	4) Les besoins en fonds de roulement</a:t>
            </a:r>
          </a:p>
          <a:p>
            <a:pPr marL="538163" lvl="1" indent="0">
              <a:buNone/>
              <a:tabLst>
                <a:tab pos="715963" algn="l"/>
              </a:tabLst>
            </a:pPr>
            <a:r>
              <a:rPr lang="fr-CA" sz="2400" dirty="0"/>
              <a:t>Il arrive que l’augmentation des activités nécessite de financer le fonds de roulement. </a:t>
            </a:r>
          </a:p>
          <a:p>
            <a:pPr marL="715963" lvl="1" indent="-177800">
              <a:tabLst>
                <a:tab pos="715963" algn="l"/>
              </a:tabLst>
            </a:pPr>
            <a:r>
              <a:rPr lang="fr-CA" sz="2400" dirty="0"/>
              <a:t>Par exemple, pour un projet de 5 ans qui nécessite de provisionner de 50 000 $ les activités courantes:</a:t>
            </a:r>
          </a:p>
          <a:p>
            <a:pPr lvl="1"/>
            <a:endParaRPr lang="fr-CA" sz="2400" dirty="0"/>
          </a:p>
          <a:p>
            <a:pPr lvl="1"/>
            <a:endParaRPr lang="fr-CA" sz="2400" dirty="0"/>
          </a:p>
          <a:p>
            <a:pPr lvl="1"/>
            <a:endParaRPr lang="fr-CA" sz="2400" dirty="0"/>
          </a:p>
          <a:p>
            <a:pPr lvl="1"/>
            <a:endParaRPr lang="fr-CA" sz="2400" dirty="0"/>
          </a:p>
          <a:p>
            <a:pPr lvl="1">
              <a:buFontTx/>
              <a:buNone/>
            </a:pPr>
            <a:r>
              <a:rPr lang="fr-CA" sz="2400" dirty="0"/>
              <a:t>	 Notez : </a:t>
            </a:r>
            <a:r>
              <a:rPr lang="fr-CA" sz="2400" dirty="0">
                <a:solidFill>
                  <a:schemeClr val="accent1"/>
                </a:solidFill>
              </a:rPr>
              <a:t>On récupère la somme à la fin du projet.</a:t>
            </a:r>
            <a:endParaRPr lang="fr-CA" sz="2400" dirty="0"/>
          </a:p>
          <a:p>
            <a:pPr marL="538163" lvl="1" indent="0">
              <a:buFontTx/>
              <a:buNone/>
            </a:pPr>
            <a:r>
              <a:rPr lang="fr-CA" sz="3000" dirty="0">
                <a:solidFill>
                  <a:schemeClr val="accent3"/>
                </a:solidFill>
              </a:rPr>
              <a:t>Conclusion: </a:t>
            </a:r>
            <a:r>
              <a:rPr lang="fr-CA" sz="3000" dirty="0" err="1">
                <a:solidFill>
                  <a:schemeClr val="accent3"/>
                </a:solidFill>
              </a:rPr>
              <a:t>FMs</a:t>
            </a:r>
            <a:r>
              <a:rPr lang="fr-CA" sz="3000" dirty="0">
                <a:solidFill>
                  <a:schemeClr val="accent3"/>
                </a:solidFill>
              </a:rPr>
              <a:t> pertinents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331913" y="2895600"/>
            <a:ext cx="6584725" cy="747951"/>
            <a:chOff x="1331913" y="2895600"/>
            <a:chExt cx="6584725" cy="747951"/>
          </a:xfrm>
        </p:grpSpPr>
        <p:sp>
          <p:nvSpPr>
            <p:cNvPr id="24580" name="Line 4"/>
            <p:cNvSpPr>
              <a:spLocks noChangeShapeType="1"/>
            </p:cNvSpPr>
            <p:nvPr>
              <p:custDataLst>
                <p:tags r:id="rId3"/>
              </p:custDataLst>
            </p:nvPr>
          </p:nvSpPr>
          <p:spPr bwMode="auto">
            <a:xfrm>
              <a:off x="1835150" y="3057525"/>
              <a:ext cx="53292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4581" name="Line 5"/>
            <p:cNvSpPr>
              <a:spLocks noChangeShapeType="1"/>
            </p:cNvSpPr>
            <p:nvPr>
              <p:custDataLst>
                <p:tags r:id="rId4"/>
              </p:custDataLst>
            </p:nvPr>
          </p:nvSpPr>
          <p:spPr bwMode="auto">
            <a:xfrm>
              <a:off x="1835150" y="2895600"/>
              <a:ext cx="0" cy="323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4582" name="Line 6"/>
            <p:cNvSpPr>
              <a:spLocks noChangeShapeType="1"/>
            </p:cNvSpPr>
            <p:nvPr>
              <p:custDataLst>
                <p:tags r:id="rId5"/>
              </p:custDataLst>
            </p:nvPr>
          </p:nvSpPr>
          <p:spPr bwMode="auto">
            <a:xfrm>
              <a:off x="2987675" y="2895600"/>
              <a:ext cx="0" cy="323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4583" name="Line 7"/>
            <p:cNvSpPr>
              <a:spLocks noChangeShapeType="1"/>
            </p:cNvSpPr>
            <p:nvPr>
              <p:custDataLst>
                <p:tags r:id="rId6"/>
              </p:custDataLst>
            </p:nvPr>
          </p:nvSpPr>
          <p:spPr bwMode="auto">
            <a:xfrm>
              <a:off x="4067175" y="2895600"/>
              <a:ext cx="0" cy="323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4584" name="Line 8"/>
            <p:cNvSpPr>
              <a:spLocks noChangeShapeType="1"/>
            </p:cNvSpPr>
            <p:nvPr>
              <p:custDataLst>
                <p:tags r:id="rId7"/>
              </p:custDataLst>
            </p:nvPr>
          </p:nvSpPr>
          <p:spPr bwMode="auto">
            <a:xfrm>
              <a:off x="5148263" y="2895600"/>
              <a:ext cx="0" cy="323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4585" name="Line 9"/>
            <p:cNvSpPr>
              <a:spLocks noChangeShapeType="1"/>
            </p:cNvSpPr>
            <p:nvPr>
              <p:custDataLst>
                <p:tags r:id="rId8"/>
              </p:custDataLst>
            </p:nvPr>
          </p:nvSpPr>
          <p:spPr bwMode="auto">
            <a:xfrm>
              <a:off x="6156325" y="2895600"/>
              <a:ext cx="0" cy="323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4586" name="Line 10"/>
            <p:cNvSpPr>
              <a:spLocks noChangeShapeType="1"/>
            </p:cNvSpPr>
            <p:nvPr>
              <p:custDataLst>
                <p:tags r:id="rId9"/>
              </p:custDataLst>
            </p:nvPr>
          </p:nvSpPr>
          <p:spPr bwMode="auto">
            <a:xfrm>
              <a:off x="7164388" y="2895600"/>
              <a:ext cx="0" cy="323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4587" name="Text Box 11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331913" y="3274219"/>
              <a:ext cx="117211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dirty="0">
                  <a:solidFill>
                    <a:schemeClr val="accent3"/>
                  </a:solidFill>
                  <a:latin typeface="Tahoma" pitchFamily="34" charset="0"/>
                </a:rPr>
                <a:t>-50 000 $</a:t>
              </a:r>
            </a:p>
          </p:txBody>
        </p:sp>
        <p:sp>
          <p:nvSpPr>
            <p:cNvPr id="24588" name="Text Box 12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6659563" y="3219450"/>
              <a:ext cx="1257075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dirty="0">
                  <a:solidFill>
                    <a:schemeClr val="accent3"/>
                  </a:solidFill>
                  <a:latin typeface="Tahoma" pitchFamily="34" charset="0"/>
                </a:rPr>
                <a:t>+50 000 $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04549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space réservé du contenu 5"/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1707654"/>
            <a:ext cx="4736592" cy="1645920"/>
          </a:xfrm>
        </p:spPr>
      </p:pic>
    </p:spTree>
    <p:extLst>
      <p:ext uri="{BB962C8B-B14F-4D97-AF65-F5344CB8AC3E}">
        <p14:creationId xmlns:p14="http://schemas.microsoft.com/office/powerpoint/2010/main" val="41644405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fr-CA" dirty="0"/>
              <a:t>Chapitre 10: L’évaluation de projet</a:t>
            </a:r>
          </a:p>
        </p:txBody>
      </p:sp>
      <p:sp>
        <p:nvSpPr>
          <p:cNvPr id="2" name="Sous-titre 1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lstStyle/>
          <a:p>
            <a:r>
              <a:rPr lang="fr-CA" dirty="0"/>
              <a:t>Autres </a:t>
            </a:r>
            <a:r>
              <a:rPr lang="fr-CA" dirty="0" err="1"/>
              <a:t>FMs</a:t>
            </a:r>
            <a:r>
              <a:rPr lang="fr-CA" dirty="0"/>
              <a:t> courants à l’étude d’un projet</a:t>
            </a:r>
          </a:p>
        </p:txBody>
      </p:sp>
    </p:spTree>
    <p:extLst>
      <p:ext uri="{BB962C8B-B14F-4D97-AF65-F5344CB8AC3E}">
        <p14:creationId xmlns:p14="http://schemas.microsoft.com/office/powerpoint/2010/main" val="6867444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l"/>
            <a:r>
              <a:rPr lang="fr-CA" dirty="0"/>
              <a:t>Revenus/dépenses après impôt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478800" y="1419918"/>
            <a:ext cx="8186400" cy="338408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fr-CA" sz="1900" dirty="0"/>
              <a:t>Principe de base: les revenus et dépenses sont imposables/déductibles d’impôt.</a:t>
            </a:r>
          </a:p>
          <a:p>
            <a:pPr>
              <a:buFontTx/>
              <a:buNone/>
            </a:pPr>
            <a:r>
              <a:rPr lang="fr-CA" dirty="0"/>
              <a:t>	</a:t>
            </a:r>
            <a:r>
              <a:rPr lang="fr-CA" sz="2400" dirty="0">
                <a:solidFill>
                  <a:schemeClr val="hlink"/>
                </a:solidFill>
              </a:rPr>
              <a:t>Exemple:	</a:t>
            </a:r>
            <a:r>
              <a:rPr lang="fr-CA" sz="2400" dirty="0"/>
              <a:t>Revenus prévus: </a:t>
            </a:r>
            <a:r>
              <a:rPr lang="fr-CA" sz="2400" dirty="0">
                <a:solidFill>
                  <a:schemeClr val="accent1"/>
                </a:solidFill>
              </a:rPr>
              <a:t>1 000 $</a:t>
            </a:r>
          </a:p>
          <a:p>
            <a:pPr>
              <a:buFontTx/>
              <a:buNone/>
            </a:pPr>
            <a:r>
              <a:rPr lang="fr-CA" sz="2400" dirty="0"/>
              <a:t>			Dépenses prévues: </a:t>
            </a:r>
            <a:r>
              <a:rPr lang="fr-CA" sz="2400" dirty="0">
                <a:solidFill>
                  <a:schemeClr val="accent1"/>
                </a:solidFill>
              </a:rPr>
              <a:t>700 $</a:t>
            </a:r>
            <a:r>
              <a:rPr lang="fr-CA" sz="2400" dirty="0"/>
              <a:t>	(Tc = </a:t>
            </a:r>
            <a:r>
              <a:rPr lang="fr-CA" sz="2400" dirty="0">
                <a:solidFill>
                  <a:schemeClr val="accent1"/>
                </a:solidFill>
              </a:rPr>
              <a:t>20 %</a:t>
            </a:r>
            <a:r>
              <a:rPr lang="fr-CA" sz="2400" dirty="0"/>
              <a:t>)</a:t>
            </a:r>
          </a:p>
          <a:p>
            <a:pPr>
              <a:buFontTx/>
              <a:buNone/>
            </a:pPr>
            <a:r>
              <a:rPr lang="fr-CA" sz="2400" dirty="0"/>
              <a:t>	</a:t>
            </a:r>
          </a:p>
          <a:p>
            <a:pPr>
              <a:buFontTx/>
              <a:buNone/>
            </a:pPr>
            <a:r>
              <a:rPr lang="fr-CA" sz="2800" u="sng" dirty="0" err="1">
                <a:solidFill>
                  <a:schemeClr val="accent3"/>
                </a:solidFill>
              </a:rPr>
              <a:t>FMs</a:t>
            </a:r>
            <a:r>
              <a:rPr lang="fr-CA" sz="2800" u="sng" dirty="0">
                <a:solidFill>
                  <a:schemeClr val="accent3"/>
                </a:solidFill>
              </a:rPr>
              <a:t> pertinents</a:t>
            </a:r>
          </a:p>
          <a:p>
            <a:pPr>
              <a:buFontTx/>
              <a:buNone/>
            </a:pPr>
            <a:r>
              <a:rPr lang="fr-CA" sz="2400" dirty="0"/>
              <a:t>	Revenus après î: 1000 (1-0,2) =+800 $</a:t>
            </a:r>
          </a:p>
          <a:p>
            <a:pPr>
              <a:buFontTx/>
              <a:buNone/>
            </a:pPr>
            <a:r>
              <a:rPr lang="fr-CA" sz="2400" dirty="0"/>
              <a:t>	Dépenses après î: 700 (1-0,2) =-560 $	       </a:t>
            </a:r>
            <a:r>
              <a:rPr lang="fr-CA" sz="2800" dirty="0">
                <a:solidFill>
                  <a:schemeClr val="accent3"/>
                </a:solidFill>
                <a:sym typeface="Symbol" pitchFamily="18" charset="2"/>
              </a:rPr>
              <a:t>	= +240 $</a:t>
            </a:r>
          </a:p>
          <a:p>
            <a:pPr>
              <a:buFontTx/>
              <a:buNone/>
            </a:pPr>
            <a:r>
              <a:rPr lang="fr-CA" sz="2400" dirty="0">
                <a:sym typeface="Symbol" pitchFamily="18" charset="2"/>
              </a:rPr>
              <a:t>			OU ENCORE</a:t>
            </a:r>
          </a:p>
          <a:p>
            <a:pPr>
              <a:buFontTx/>
              <a:buNone/>
            </a:pPr>
            <a:r>
              <a:rPr lang="fr-CA" sz="2400" dirty="0">
                <a:sym typeface="Symbol" pitchFamily="18" charset="2"/>
              </a:rPr>
              <a:t>	Profits après î: (1000-700) (1-0,2)	  		</a:t>
            </a:r>
            <a:r>
              <a:rPr lang="fr-CA" sz="2800" dirty="0">
                <a:solidFill>
                  <a:schemeClr val="accent3"/>
                </a:solidFill>
                <a:sym typeface="Symbol" pitchFamily="18" charset="2"/>
              </a:rPr>
              <a:t>= +240 $</a:t>
            </a:r>
            <a:endParaRPr lang="fr-CA" sz="28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8927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l"/>
            <a:r>
              <a:rPr lang="fr-CA" dirty="0"/>
              <a:t>Impact fiscal de l’amortissement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CA" sz="2000" dirty="0"/>
              <a:t>Économies d’impôt dues à l’ACC (dégressif)</a:t>
            </a:r>
          </a:p>
          <a:p>
            <a:pPr lvl="1"/>
            <a:endParaRPr lang="fr-CA" sz="2000" dirty="0"/>
          </a:p>
          <a:p>
            <a:pPr lvl="1"/>
            <a:r>
              <a:rPr lang="fr-CA" sz="2000" dirty="0"/>
              <a:t>L’impact fiscal pour les biens amortissables doit être considéré.</a:t>
            </a:r>
          </a:p>
          <a:p>
            <a:pPr lvl="1"/>
            <a:r>
              <a:rPr lang="fr-CA" sz="2000" dirty="0"/>
              <a:t>L’achat d’une machine : amortissement fiscal.</a:t>
            </a:r>
          </a:p>
          <a:p>
            <a:pPr lvl="1"/>
            <a:r>
              <a:rPr lang="fr-CA" sz="2000" dirty="0"/>
              <a:t>La charge d’amortissement n’est pas une dépense réelle (pas un FM) </a:t>
            </a:r>
            <a:r>
              <a:rPr lang="fr-CA" sz="2000" dirty="0">
                <a:solidFill>
                  <a:schemeClr val="accent2"/>
                </a:solidFill>
              </a:rPr>
              <a:t>donc non pertinent.</a:t>
            </a:r>
          </a:p>
          <a:p>
            <a:pPr lvl="1"/>
            <a:r>
              <a:rPr lang="fr-CA" sz="2000" dirty="0"/>
              <a:t>Mais, cette charge réduit les dépenses d’impôts, évite des charges d’impôts </a:t>
            </a:r>
            <a:r>
              <a:rPr lang="fr-CA" sz="2000" dirty="0">
                <a:solidFill>
                  <a:schemeClr val="accent3"/>
                </a:solidFill>
              </a:rPr>
              <a:t>donc pertinent.</a:t>
            </a:r>
          </a:p>
        </p:txBody>
      </p:sp>
    </p:spTree>
    <p:extLst>
      <p:ext uri="{BB962C8B-B14F-4D97-AF65-F5344CB8AC3E}">
        <p14:creationId xmlns:p14="http://schemas.microsoft.com/office/powerpoint/2010/main" val="1367650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2000"/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l"/>
            <a:r>
              <a:rPr lang="fr-CA" dirty="0"/>
              <a:t>Impact fiscal de l’amortissement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478800" y="1419918"/>
            <a:ext cx="8186400" cy="3384080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fr-CA" sz="3400" dirty="0">
                <a:solidFill>
                  <a:schemeClr val="accent3"/>
                </a:solidFill>
              </a:rPr>
              <a:t>Exemple de VAÉÎ</a:t>
            </a:r>
            <a:r>
              <a:rPr lang="fr-CA" sz="3400" baseline="-25000" dirty="0">
                <a:solidFill>
                  <a:schemeClr val="accent3"/>
                </a:solidFill>
              </a:rPr>
              <a:t>ACC</a:t>
            </a:r>
            <a:endParaRPr lang="fr-CA" sz="3400" dirty="0">
              <a:solidFill>
                <a:schemeClr val="accent3"/>
              </a:solidFill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fr-CA" dirty="0"/>
              <a:t>	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fr-CA" sz="3600" dirty="0"/>
              <a:t>L’achat d’une machine </a:t>
            </a:r>
            <a:r>
              <a:rPr lang="fr-CA" sz="3600" dirty="0">
                <a:solidFill>
                  <a:schemeClr val="accent1"/>
                </a:solidFill>
              </a:rPr>
              <a:t>10 000 $ </a:t>
            </a:r>
            <a:r>
              <a:rPr lang="fr-CA" sz="3600" dirty="0"/>
              <a:t>(cat. 30 %)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fr-CA" sz="3600" dirty="0"/>
              <a:t>Charge d’amortissement de </a:t>
            </a:r>
            <a:r>
              <a:rPr lang="fr-CA" sz="3600" dirty="0">
                <a:solidFill>
                  <a:schemeClr val="accent1"/>
                </a:solidFill>
              </a:rPr>
              <a:t>3 000 $ </a:t>
            </a:r>
            <a:r>
              <a:rPr lang="fr-CA" sz="3600" dirty="0"/>
              <a:t>(1</a:t>
            </a:r>
            <a:r>
              <a:rPr lang="fr-CA" sz="3600" baseline="30000" dirty="0"/>
              <a:t>ère</a:t>
            </a:r>
            <a:r>
              <a:rPr lang="fr-CA" sz="3600" dirty="0"/>
              <a:t> année)</a:t>
            </a:r>
          </a:p>
          <a:p>
            <a:pPr lvl="1">
              <a:lnSpc>
                <a:spcPct val="90000"/>
              </a:lnSpc>
            </a:pPr>
            <a:r>
              <a:rPr lang="fr-CA" sz="2900" dirty="0"/>
              <a:t>Sans l’achat de la machine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fr-CA" sz="2900" dirty="0"/>
              <a:t>		Supposons un </a:t>
            </a:r>
            <a:r>
              <a:rPr lang="fr-CA" sz="2900" dirty="0" err="1"/>
              <a:t>bén</a:t>
            </a:r>
            <a:r>
              <a:rPr lang="fr-CA" sz="2900" dirty="0"/>
              <a:t>. imposable = </a:t>
            </a:r>
            <a:r>
              <a:rPr lang="fr-CA" sz="2900" dirty="0">
                <a:solidFill>
                  <a:schemeClr val="accent1"/>
                </a:solidFill>
              </a:rPr>
              <a:t>8 000 $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fr-CA" sz="2900" dirty="0"/>
              <a:t>		La charge d’impôt sera donc (Tc = </a:t>
            </a:r>
            <a:r>
              <a:rPr lang="fr-CA" sz="2900" dirty="0">
                <a:solidFill>
                  <a:schemeClr val="accent1"/>
                </a:solidFill>
              </a:rPr>
              <a:t>20 %</a:t>
            </a:r>
            <a:r>
              <a:rPr lang="fr-CA" sz="2900" dirty="0"/>
              <a:t>) 	= </a:t>
            </a:r>
            <a:r>
              <a:rPr lang="fr-CA" sz="2900" dirty="0">
                <a:solidFill>
                  <a:schemeClr val="accent1"/>
                </a:solidFill>
              </a:rPr>
              <a:t>1 600 $</a:t>
            </a:r>
          </a:p>
          <a:p>
            <a:pPr lvl="1">
              <a:lnSpc>
                <a:spcPct val="90000"/>
              </a:lnSpc>
            </a:pPr>
            <a:r>
              <a:rPr lang="fr-CA" sz="2900" dirty="0"/>
              <a:t>Avec l’achat de la nouvelle machine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fr-CA" sz="2900" dirty="0"/>
              <a:t>		Le bénéfice imposable réduira 	  = </a:t>
            </a:r>
            <a:r>
              <a:rPr lang="fr-CA" sz="2900" dirty="0">
                <a:solidFill>
                  <a:schemeClr val="accent1"/>
                </a:solidFill>
              </a:rPr>
              <a:t>5 000 $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fr-CA" sz="2900" dirty="0"/>
              <a:t>		Maintenant, l’impôt à payer (Tc = </a:t>
            </a:r>
            <a:r>
              <a:rPr lang="fr-CA" sz="2900" dirty="0">
                <a:solidFill>
                  <a:schemeClr val="accent1"/>
                </a:solidFill>
              </a:rPr>
              <a:t>20 %</a:t>
            </a:r>
            <a:r>
              <a:rPr lang="fr-CA" sz="2900" dirty="0"/>
              <a:t>)		</a:t>
            </a:r>
            <a:r>
              <a:rPr lang="fr-CA" sz="2900" u="sng" dirty="0"/>
              <a:t>= </a:t>
            </a:r>
            <a:r>
              <a:rPr lang="fr-CA" sz="2900" u="sng" dirty="0">
                <a:solidFill>
                  <a:schemeClr val="accent1"/>
                </a:solidFill>
              </a:rPr>
              <a:t>1 000 $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fr-CA" sz="2900" dirty="0"/>
              <a:t>								</a:t>
            </a:r>
            <a:r>
              <a:rPr lang="fr-CA" sz="6500" dirty="0"/>
              <a:t> </a:t>
            </a:r>
            <a:r>
              <a:rPr lang="fr-CA" sz="3600" dirty="0">
                <a:solidFill>
                  <a:schemeClr val="accent3"/>
                </a:solidFill>
              </a:rPr>
              <a:t>+600 $</a:t>
            </a:r>
            <a:r>
              <a:rPr lang="fr-CA" sz="6500" dirty="0"/>
              <a:t>	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fr-CA" sz="2900" dirty="0"/>
              <a:t>Donc, on évite de payer de l’impôt grâce à l’ACC!!!</a:t>
            </a:r>
          </a:p>
        </p:txBody>
      </p:sp>
    </p:spTree>
    <p:extLst>
      <p:ext uri="{BB962C8B-B14F-4D97-AF65-F5344CB8AC3E}">
        <p14:creationId xmlns:p14="http://schemas.microsoft.com/office/powerpoint/2010/main" val="4258475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l"/>
            <a:r>
              <a:rPr lang="fr-CA" dirty="0"/>
              <a:t>Impact fiscal de l’amortissement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sz="half" idx="4294967295"/>
            <p:custDataLst>
              <p:tags r:id="rId2"/>
            </p:custDataLst>
          </p:nvPr>
        </p:nvSpPr>
        <p:spPr>
          <a:xfrm>
            <a:off x="478800" y="1172380"/>
            <a:ext cx="8186400" cy="370362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CA" sz="2200" dirty="0"/>
              <a:t>Plus simplement, on peut calculer les ÉÎ dues à l’ACC :</a:t>
            </a:r>
          </a:p>
          <a:p>
            <a:pPr>
              <a:buFontTx/>
              <a:buNone/>
            </a:pPr>
            <a:r>
              <a:rPr lang="fr-CA" sz="3300" dirty="0"/>
              <a:t>	ÉÎ = </a:t>
            </a:r>
            <a:r>
              <a:rPr lang="fr-CA" sz="3300" dirty="0">
                <a:solidFill>
                  <a:schemeClr val="accent1"/>
                </a:solidFill>
              </a:rPr>
              <a:t>Charge d’</a:t>
            </a:r>
            <a:r>
              <a:rPr lang="fr-CA" sz="3300" dirty="0" err="1">
                <a:solidFill>
                  <a:schemeClr val="accent1"/>
                </a:solidFill>
              </a:rPr>
              <a:t>amort</a:t>
            </a:r>
            <a:r>
              <a:rPr lang="fr-CA" sz="3300" dirty="0">
                <a:solidFill>
                  <a:schemeClr val="accent1"/>
                </a:solidFill>
              </a:rPr>
              <a:t> * taux d’impôt</a:t>
            </a:r>
          </a:p>
          <a:p>
            <a:pPr lvl="1">
              <a:buFontTx/>
              <a:buNone/>
            </a:pPr>
            <a:r>
              <a:rPr lang="fr-CA" sz="3300" dirty="0"/>
              <a:t>           </a:t>
            </a:r>
            <a:r>
              <a:rPr lang="fr-CA" sz="3300" dirty="0">
                <a:solidFill>
                  <a:schemeClr val="accent1"/>
                </a:solidFill>
              </a:rPr>
              <a:t>3 000 $         *    20 %  </a:t>
            </a:r>
            <a:r>
              <a:rPr lang="fr-CA" sz="3300" dirty="0"/>
              <a:t>     = 	</a:t>
            </a:r>
            <a:r>
              <a:rPr lang="fr-CA" sz="3300" dirty="0">
                <a:solidFill>
                  <a:schemeClr val="accent3"/>
                </a:solidFill>
              </a:rPr>
              <a:t>+600 $</a:t>
            </a:r>
          </a:p>
          <a:p>
            <a:endParaRPr lang="fr-CA" sz="2800" dirty="0"/>
          </a:p>
          <a:p>
            <a:pPr marL="0" indent="0">
              <a:buNone/>
            </a:pPr>
            <a:r>
              <a:rPr lang="fr-CA" sz="2800" dirty="0"/>
              <a:t>Mais comme la catégorie est dégressive, on doit actualiser tous les ÉÎ jusqu’à l’infini </a:t>
            </a:r>
            <a:r>
              <a:rPr lang="fr-CA" sz="2200" dirty="0">
                <a:solidFill>
                  <a:schemeClr val="accent1"/>
                </a:solidFill>
              </a:rPr>
              <a:t>(perpétuité)</a:t>
            </a:r>
            <a:r>
              <a:rPr lang="fr-CA" sz="2200" dirty="0"/>
              <a:t>.</a:t>
            </a:r>
            <a:endParaRPr lang="fr-CA" sz="2800" dirty="0"/>
          </a:p>
          <a:p>
            <a:endParaRPr lang="fr-CA" sz="2800" dirty="0"/>
          </a:p>
          <a:p>
            <a:pPr>
              <a:buFontTx/>
              <a:buNone/>
            </a:pPr>
            <a:r>
              <a:rPr lang="fr-CA" sz="2800" dirty="0"/>
              <a:t>	VAÉÎ =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F07E2C79-5806-4181-8AE3-51EDA3B778E8}"/>
                  </a:ext>
                </a:extLst>
              </p:cNvPr>
              <p:cNvSpPr/>
              <p:nvPr/>
            </p:nvSpPr>
            <p:spPr>
              <a:xfrm>
                <a:off x="1913273" y="4066377"/>
                <a:ext cx="3090775" cy="779592"/>
              </a:xfrm>
              <a:prstGeom prst="rect">
                <a:avLst/>
              </a:prstGeom>
            </p:spPr>
            <p:txBody>
              <a:bodyPr wrap="none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CA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A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fr-CA" i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fr-CA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fr-CA" i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fr-CA" i="1">
                              <a:latin typeface="Cambria Math" panose="02040503050406030204" pitchFamily="18" charset="0"/>
                            </a:rPr>
                            <m:t>𝑇𝑐</m:t>
                          </m:r>
                        </m:num>
                        <m:den>
                          <m:r>
                            <a:rPr lang="fr-CA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fr-CA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CA" i="1">
                              <a:latin typeface="Cambria Math" panose="02040503050406030204" pitchFamily="18" charset="0"/>
                            </a:rPr>
                            <m:t>𝑑</m:t>
                          </m:r>
                        </m:den>
                      </m:f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  ∗  </m:t>
                      </m:r>
                      <m:d>
                        <m:dPr>
                          <m:begChr m:val="["/>
                          <m:endChr m:val="]"/>
                          <m:ctrlPr>
                            <a:rPr lang="fr-CA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fr-CA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CA" i="0">
                                  <a:latin typeface="Cambria Math" panose="02040503050406030204" pitchFamily="18" charset="0"/>
                                </a:rPr>
                                <m:t>1+1,5∗</m:t>
                              </m:r>
                              <m:r>
                                <a:rPr lang="fr-CA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num>
                            <m:den>
                              <m:r>
                                <a:rPr lang="fr-CA" i="0">
                                  <a:latin typeface="Cambria Math" panose="02040503050406030204" pitchFamily="18" charset="0"/>
                                </a:rPr>
                                <m:t>1 + </m:t>
                              </m:r>
                              <m:r>
                                <a:rPr lang="fr-CA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fr-CA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F07E2C79-5806-4181-8AE3-51EDA3B778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273" y="4066377"/>
                <a:ext cx="3090775" cy="77959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9107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395288" y="141685"/>
            <a:ext cx="8229600" cy="756047"/>
          </a:xfrm>
        </p:spPr>
        <p:txBody>
          <a:bodyPr>
            <a:normAutofit/>
          </a:bodyPr>
          <a:lstStyle/>
          <a:p>
            <a:r>
              <a:rPr lang="fr-CA" dirty="0"/>
              <a:t>Impact fiscal de l’amortissement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sz="half" idx="1"/>
            <p:custDataLst>
              <p:tags r:id="rId2"/>
            </p:custDataLst>
          </p:nvPr>
        </p:nvSpPr>
        <p:spPr>
          <a:xfrm>
            <a:off x="323851" y="897732"/>
            <a:ext cx="8424863" cy="390626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CA" sz="2400" dirty="0"/>
              <a:t>Mais à la revente, on perd des </a:t>
            </a:r>
            <a:r>
              <a:rPr lang="fr-CA" sz="2400" dirty="0">
                <a:solidFill>
                  <a:schemeClr val="tx2"/>
                </a:solidFill>
              </a:rPr>
              <a:t>ÉÎ (VAPEI)</a:t>
            </a:r>
            <a:r>
              <a:rPr lang="fr-CA" sz="2400" dirty="0"/>
              <a:t>:</a:t>
            </a:r>
          </a:p>
          <a:p>
            <a:endParaRPr lang="fr-CA" sz="2400" dirty="0"/>
          </a:p>
          <a:p>
            <a:endParaRPr lang="fr-CA" sz="2400" dirty="0"/>
          </a:p>
          <a:p>
            <a:pPr marL="0" indent="0">
              <a:buNone/>
            </a:pPr>
            <a:r>
              <a:rPr lang="fr-CA" sz="2400" dirty="0"/>
              <a:t>Il faut donc les soustraire:</a:t>
            </a:r>
          </a:p>
          <a:p>
            <a:pPr>
              <a:buFontTx/>
              <a:buNone/>
            </a:pPr>
            <a:r>
              <a:rPr lang="fr-CA" sz="2400" dirty="0"/>
              <a:t>	VAÉÎ</a:t>
            </a:r>
            <a:r>
              <a:rPr lang="fr-CA" sz="2400" baseline="-25000" dirty="0"/>
              <a:t>ACC</a:t>
            </a:r>
            <a:r>
              <a:rPr lang="fr-CA" sz="2400" dirty="0"/>
              <a:t>=</a:t>
            </a:r>
          </a:p>
          <a:p>
            <a:pPr>
              <a:buFontTx/>
              <a:buNone/>
            </a:pPr>
            <a:endParaRPr lang="fr-CA" sz="2400" dirty="0"/>
          </a:p>
          <a:p>
            <a:pPr>
              <a:buFontTx/>
              <a:buNone/>
            </a:pPr>
            <a:r>
              <a:rPr lang="fr-CA" sz="2400" dirty="0"/>
              <a:t>	</a:t>
            </a:r>
            <a:r>
              <a:rPr lang="fr-CA" sz="2200" dirty="0"/>
              <a:t>De notre exemple, on revend l’actif </a:t>
            </a:r>
            <a:r>
              <a:rPr lang="fr-CA" sz="2200" dirty="0">
                <a:solidFill>
                  <a:schemeClr val="accent1"/>
                </a:solidFill>
              </a:rPr>
              <a:t>dans 5 ans pour 2 000 $:</a:t>
            </a:r>
          </a:p>
          <a:p>
            <a:pPr>
              <a:buFontTx/>
              <a:buNone/>
            </a:pPr>
            <a:endParaRPr lang="fr-CA" sz="2200" dirty="0">
              <a:solidFill>
                <a:schemeClr val="accent1"/>
              </a:solidFill>
            </a:endParaRPr>
          </a:p>
          <a:p>
            <a:pPr>
              <a:buFontTx/>
              <a:buNone/>
            </a:pPr>
            <a:r>
              <a:rPr lang="fr-CA" sz="2200" dirty="0"/>
              <a:t>	VAÉÎ</a:t>
            </a:r>
            <a:r>
              <a:rPr lang="fr-CA" sz="2200" baseline="-25000" dirty="0"/>
              <a:t>ACC</a:t>
            </a:r>
            <a:r>
              <a:rPr lang="fr-CA" sz="2200" dirty="0"/>
              <a:t>=</a:t>
            </a:r>
          </a:p>
          <a:p>
            <a:pPr>
              <a:buFontTx/>
              <a:buNone/>
            </a:pPr>
            <a:endParaRPr lang="fr-CA" sz="2200" dirty="0"/>
          </a:p>
          <a:p>
            <a:pPr>
              <a:buFontTx/>
              <a:buNone/>
            </a:pPr>
            <a:r>
              <a:rPr lang="fr-CA" sz="2200" dirty="0"/>
              <a:t>	</a:t>
            </a:r>
          </a:p>
          <a:p>
            <a:pPr>
              <a:buFontTx/>
              <a:buNone/>
            </a:pPr>
            <a:r>
              <a:rPr lang="fr-CA" sz="2200" dirty="0"/>
              <a:t>	VAÉÎ</a:t>
            </a:r>
            <a:r>
              <a:rPr lang="fr-CA" sz="2200" baseline="-25000" dirty="0"/>
              <a:t>ACC</a:t>
            </a:r>
            <a:r>
              <a:rPr lang="fr-CA" sz="2200" dirty="0"/>
              <a:t>=         </a:t>
            </a:r>
            <a:r>
              <a:rPr lang="fr-CA" sz="2200" dirty="0">
                <a:solidFill>
                  <a:schemeClr val="accent1"/>
                </a:solidFill>
              </a:rPr>
              <a:t>1 505 $        -    162 $ 	</a:t>
            </a:r>
            <a:r>
              <a:rPr lang="fr-CA" sz="2200" dirty="0"/>
              <a:t>	</a:t>
            </a:r>
            <a:r>
              <a:rPr lang="fr-CA" sz="2600" dirty="0">
                <a:solidFill>
                  <a:schemeClr val="accent3"/>
                </a:solidFill>
              </a:rPr>
              <a:t>= 1 343 $</a:t>
            </a:r>
          </a:p>
          <a:p>
            <a:pPr>
              <a:buFontTx/>
              <a:buNone/>
            </a:pPr>
            <a:endParaRPr lang="fr-CA" sz="2600" dirty="0"/>
          </a:p>
        </p:txBody>
      </p:sp>
      <p:grpSp>
        <p:nvGrpSpPr>
          <p:cNvPr id="14" name="Groupe 13"/>
          <p:cNvGrpSpPr/>
          <p:nvPr>
            <p:custDataLst>
              <p:tags r:id="rId3"/>
            </p:custDataLst>
          </p:nvPr>
        </p:nvGrpSpPr>
        <p:grpSpPr>
          <a:xfrm>
            <a:off x="1979613" y="1181101"/>
            <a:ext cx="6769100" cy="1013222"/>
            <a:chOff x="1979613" y="1574800"/>
            <a:chExt cx="6769100" cy="1350963"/>
          </a:xfrm>
        </p:grpSpPr>
        <p:sp>
          <p:nvSpPr>
            <p:cNvPr id="15" name="Line 4"/>
            <p:cNvSpPr>
              <a:spLocks noChangeShapeType="1"/>
            </p:cNvSpPr>
            <p:nvPr/>
          </p:nvSpPr>
          <p:spPr bwMode="auto">
            <a:xfrm>
              <a:off x="1979613" y="1844675"/>
              <a:ext cx="6769100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16" name="Line 5"/>
            <p:cNvSpPr>
              <a:spLocks noChangeShapeType="1"/>
            </p:cNvSpPr>
            <p:nvPr/>
          </p:nvSpPr>
          <p:spPr bwMode="auto">
            <a:xfrm>
              <a:off x="1979613" y="1628775"/>
              <a:ext cx="0" cy="43180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17" name="Text Box 6"/>
            <p:cNvSpPr txBox="1">
              <a:spLocks noChangeArrowheads="1"/>
            </p:cNvSpPr>
            <p:nvPr/>
          </p:nvSpPr>
          <p:spPr bwMode="auto">
            <a:xfrm>
              <a:off x="2032000" y="1574800"/>
              <a:ext cx="50917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sz="1200" dirty="0">
                  <a:solidFill>
                    <a:schemeClr val="accent1"/>
                  </a:solidFill>
                  <a:latin typeface="Tahoma" pitchFamily="34" charset="0"/>
                </a:rPr>
                <a:t>VAEI</a:t>
              </a:r>
            </a:p>
          </p:txBody>
        </p:sp>
        <p:sp>
          <p:nvSpPr>
            <p:cNvPr id="18" name="Line 7"/>
            <p:cNvSpPr>
              <a:spLocks noChangeShapeType="1"/>
            </p:cNvSpPr>
            <p:nvPr/>
          </p:nvSpPr>
          <p:spPr bwMode="auto">
            <a:xfrm>
              <a:off x="4787900" y="2563813"/>
              <a:ext cx="3960813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19" name="Text Box 9"/>
            <p:cNvSpPr txBox="1">
              <a:spLocks noChangeArrowheads="1"/>
            </p:cNvSpPr>
            <p:nvPr/>
          </p:nvSpPr>
          <p:spPr bwMode="auto">
            <a:xfrm>
              <a:off x="4860925" y="2276475"/>
              <a:ext cx="59413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sz="1200" dirty="0">
                  <a:solidFill>
                    <a:schemeClr val="accent1"/>
                  </a:solidFill>
                  <a:latin typeface="Tahoma" pitchFamily="34" charset="0"/>
                </a:rPr>
                <a:t>VAPEI</a:t>
              </a:r>
            </a:p>
          </p:txBody>
        </p:sp>
        <p:sp>
          <p:nvSpPr>
            <p:cNvPr id="20" name="Line 10"/>
            <p:cNvSpPr>
              <a:spLocks noChangeShapeType="1"/>
            </p:cNvSpPr>
            <p:nvPr/>
          </p:nvSpPr>
          <p:spPr bwMode="auto">
            <a:xfrm>
              <a:off x="4787900" y="1844675"/>
              <a:ext cx="0" cy="1081088"/>
            </a:xfrm>
            <a:prstGeom prst="line">
              <a:avLst/>
            </a:prstGeom>
            <a:noFill/>
            <a:ln w="9525" cap="rnd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1" name="Text Box 11"/>
            <p:cNvSpPr txBox="1">
              <a:spLocks noChangeArrowheads="1"/>
            </p:cNvSpPr>
            <p:nvPr/>
          </p:nvSpPr>
          <p:spPr bwMode="auto">
            <a:xfrm>
              <a:off x="4498975" y="1917700"/>
              <a:ext cx="570349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sz="1200" dirty="0">
                  <a:solidFill>
                    <a:schemeClr val="accent1"/>
                  </a:solidFill>
                  <a:latin typeface="Tahoma" pitchFamily="34" charset="0"/>
                </a:rPr>
                <a:t>Vente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901A7F3-7BD1-49E5-9FCE-F0B4EB08E3EE}"/>
                  </a:ext>
                </a:extLst>
              </p:cNvPr>
              <p:cNvSpPr/>
              <p:nvPr/>
            </p:nvSpPr>
            <p:spPr>
              <a:xfrm>
                <a:off x="1687805" y="2047549"/>
                <a:ext cx="4673138" cy="7087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CA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A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fr-CA" i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fr-CA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fr-CA" i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fr-CA" i="1">
                              <a:latin typeface="Cambria Math" panose="02040503050406030204" pitchFamily="18" charset="0"/>
                            </a:rPr>
                            <m:t>𝑇𝑐</m:t>
                          </m:r>
                        </m:num>
                        <m:den>
                          <m:r>
                            <a:rPr lang="fr-CA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fr-CA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CA" i="1">
                              <a:latin typeface="Cambria Math" panose="02040503050406030204" pitchFamily="18" charset="0"/>
                            </a:rPr>
                            <m:t>𝑑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fr-CA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fr-CA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CA" i="0">
                                  <a:latin typeface="Cambria Math" panose="02040503050406030204" pitchFamily="18" charset="0"/>
                                </a:rPr>
                                <m:t>1+1,5∗</m:t>
                              </m:r>
                              <m:r>
                                <a:rPr lang="fr-CA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num>
                            <m:den>
                              <m:r>
                                <a:rPr lang="fr-CA" i="0">
                                  <a:latin typeface="Cambria Math" panose="02040503050406030204" pitchFamily="18" charset="0"/>
                                </a:rPr>
                                <m:t>1 + </m:t>
                              </m:r>
                              <m:r>
                                <a:rPr lang="fr-CA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den>
                          </m:f>
                        </m:e>
                      </m:d>
                      <m:r>
                        <a:rPr lang="fr-CA" i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fr-CA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A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fr-CA" i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fr-CA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fr-CA" i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fr-CA" i="1">
                              <a:latin typeface="Cambria Math" panose="02040503050406030204" pitchFamily="18" charset="0"/>
                            </a:rPr>
                            <m:t>𝑇𝑐</m:t>
                          </m:r>
                        </m:num>
                        <m:den>
                          <m:r>
                            <a:rPr lang="fr-CA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fr-CA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CA" i="1">
                              <a:latin typeface="Cambria Math" panose="02040503050406030204" pitchFamily="18" charset="0"/>
                            </a:rPr>
                            <m:t>𝑑</m:t>
                          </m:r>
                        </m:den>
                      </m:f>
                      <m:sSup>
                        <m:sSupPr>
                          <m:ctrlPr>
                            <a:rPr lang="fr-CA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CA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CA" i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fr-CA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</m:e>
                        <m:sup>
                          <m:r>
                            <a:rPr lang="fr-CA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CA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fr-CA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901A7F3-7BD1-49E5-9FCE-F0B4EB08E3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7805" y="2047549"/>
                <a:ext cx="4673138" cy="7087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4B4E055-AB72-4DCA-85FF-1455891829D3}"/>
                  </a:ext>
                </a:extLst>
              </p:cNvPr>
              <p:cNvSpPr/>
              <p:nvPr/>
            </p:nvSpPr>
            <p:spPr>
              <a:xfrm>
                <a:off x="1687805" y="3204051"/>
                <a:ext cx="6192688" cy="65870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CA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A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fr-CA" i="0">
                              <a:latin typeface="Cambria Math" panose="02040503050406030204" pitchFamily="18" charset="0"/>
                            </a:rPr>
                            <m:t> 000$∗30%∗20%</m:t>
                          </m:r>
                        </m:num>
                        <m:den>
                          <m:r>
                            <a:rPr lang="fr-CA" i="0">
                              <a:latin typeface="Cambria Math" panose="02040503050406030204" pitchFamily="18" charset="0"/>
                            </a:rPr>
                            <m:t>12%+30%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fr-CA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fr-CA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CA" i="0">
                                  <a:latin typeface="Cambria Math" panose="02040503050406030204" pitchFamily="18" charset="0"/>
                                </a:rPr>
                                <m:t>1,18</m:t>
                              </m:r>
                            </m:num>
                            <m:den>
                              <m:r>
                                <a:rPr lang="fr-CA" i="0">
                                  <a:latin typeface="Cambria Math" panose="02040503050406030204" pitchFamily="18" charset="0"/>
                                </a:rPr>
                                <m:t>1,12</m:t>
                              </m:r>
                            </m:den>
                          </m:f>
                        </m:e>
                      </m:d>
                      <m:r>
                        <a:rPr lang="fr-CA" i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fr-CA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A" i="0">
                              <a:latin typeface="Cambria Math" panose="02040503050406030204" pitchFamily="18" charset="0"/>
                            </a:rPr>
                            <m:t>2 000$∗30%∗20%</m:t>
                          </m:r>
                        </m:num>
                        <m:den>
                          <m:r>
                            <a:rPr lang="fr-CA" i="0">
                              <a:latin typeface="Cambria Math" panose="02040503050406030204" pitchFamily="18" charset="0"/>
                            </a:rPr>
                            <m:t>12%+30%</m:t>
                          </m:r>
                        </m:den>
                      </m:f>
                      <m:sSup>
                        <m:sSupPr>
                          <m:ctrlPr>
                            <a:rPr lang="fr-CA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CA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CA" i="0">
                                  <a:latin typeface="Cambria Math" panose="02040503050406030204" pitchFamily="18" charset="0"/>
                                </a:rPr>
                                <m:t>1,12</m:t>
                              </m:r>
                            </m:e>
                          </m:d>
                        </m:e>
                        <m:sup>
                          <m:r>
                            <a:rPr lang="fr-CA" i="0">
                              <a:latin typeface="Cambria Math" panose="02040503050406030204" pitchFamily="18" charset="0"/>
                            </a:rPr>
                            <m:t>−5</m:t>
                          </m:r>
                        </m:sup>
                      </m:sSup>
                    </m:oMath>
                  </m:oMathPara>
                </a14:m>
                <a:endParaRPr lang="fr-CA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4B4E055-AB72-4DCA-85FF-1455891829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7805" y="3204051"/>
                <a:ext cx="6192688" cy="65870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8267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395288" y="141685"/>
            <a:ext cx="8229600" cy="756047"/>
          </a:xfrm>
        </p:spPr>
        <p:txBody>
          <a:bodyPr>
            <a:normAutofit/>
          </a:bodyPr>
          <a:lstStyle/>
          <a:p>
            <a:r>
              <a:rPr lang="fr-CA" dirty="0"/>
              <a:t>Impact fiscal de l’amortissement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sz="half" idx="1"/>
            <p:custDataLst>
              <p:tags r:id="rId3"/>
            </p:custDataLst>
          </p:nvPr>
        </p:nvSpPr>
        <p:spPr>
          <a:xfrm>
            <a:off x="323851" y="897732"/>
            <a:ext cx="8424863" cy="3726656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fr-CA" sz="2400" u="sng" dirty="0"/>
              <a:t>Exemple d’amortissement linéaire</a:t>
            </a:r>
          </a:p>
          <a:p>
            <a:endParaRPr lang="fr-CA" sz="2400" dirty="0"/>
          </a:p>
          <a:p>
            <a:endParaRPr lang="fr-CA" sz="2400" dirty="0"/>
          </a:p>
          <a:p>
            <a:endParaRPr lang="fr-CA" sz="2400" dirty="0"/>
          </a:p>
          <a:p>
            <a:r>
              <a:rPr lang="fr-CA" sz="2400" dirty="0"/>
              <a:t>Comme les économies d’impôt sont constantes pendant la vie utile :</a:t>
            </a:r>
          </a:p>
          <a:p>
            <a:pPr>
              <a:buFontTx/>
              <a:buNone/>
            </a:pPr>
            <a:r>
              <a:rPr lang="fr-CA" sz="2400" dirty="0"/>
              <a:t>	</a:t>
            </a:r>
          </a:p>
          <a:p>
            <a:pPr>
              <a:buFontTx/>
              <a:buNone/>
            </a:pPr>
            <a:endParaRPr lang="fr-CA" sz="2400" dirty="0"/>
          </a:p>
          <a:p>
            <a:pPr>
              <a:buFontTx/>
              <a:buNone/>
            </a:pPr>
            <a:r>
              <a:rPr lang="fr-CA" sz="2400" dirty="0"/>
              <a:t>	</a:t>
            </a:r>
            <a:r>
              <a:rPr lang="fr-CA" sz="2200" dirty="0"/>
              <a:t>Par exemple, un actif de 5M$ amortissable linéairement sur 8 ans:</a:t>
            </a:r>
            <a:endParaRPr lang="fr-CA" sz="2200" dirty="0">
              <a:solidFill>
                <a:schemeClr val="accent1"/>
              </a:solidFill>
            </a:endParaRPr>
          </a:p>
          <a:p>
            <a:pPr>
              <a:buFontTx/>
              <a:buNone/>
            </a:pPr>
            <a:r>
              <a:rPr lang="fr-CA" sz="2200" dirty="0"/>
              <a:t>	</a:t>
            </a:r>
          </a:p>
          <a:p>
            <a:pPr>
              <a:buFontTx/>
              <a:buNone/>
            </a:pPr>
            <a:endParaRPr lang="fr-CA" sz="2200" dirty="0"/>
          </a:p>
          <a:p>
            <a:pPr>
              <a:buFontTx/>
              <a:buNone/>
            </a:pPr>
            <a:r>
              <a:rPr lang="fr-CA" sz="2200" dirty="0"/>
              <a:t>	</a:t>
            </a:r>
          </a:p>
          <a:p>
            <a:pPr>
              <a:buFontTx/>
              <a:buNone/>
            </a:pPr>
            <a:endParaRPr lang="fr-CA" sz="2600" dirty="0"/>
          </a:p>
        </p:txBody>
      </p:sp>
      <p:graphicFrame>
        <p:nvGraphicFramePr>
          <p:cNvPr id="46" name="Object 16"/>
          <p:cNvGraphicFramePr>
            <a:graphicFrameLocks noGrp="1" noChangeAspect="1"/>
          </p:cNvGraphicFramePr>
          <p:nvPr>
            <p:ph sz="half" idx="2"/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557953859"/>
              </p:ext>
            </p:extLst>
          </p:nvPr>
        </p:nvGraphicFramePr>
        <p:xfrm>
          <a:off x="1173163" y="2552700"/>
          <a:ext cx="2771775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9" name="Equation" r:id="rId9" imgW="2044440" imgH="482400" progId="Equation.3">
                  <p:embed/>
                </p:oleObj>
              </mc:Choice>
              <mc:Fallback>
                <p:oleObj name="Equation" r:id="rId9" imgW="204444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3163" y="2552700"/>
                        <a:ext cx="2771775" cy="6540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e 2"/>
          <p:cNvGrpSpPr/>
          <p:nvPr>
            <p:custDataLst>
              <p:tags r:id="rId5"/>
            </p:custDataLst>
          </p:nvPr>
        </p:nvGrpSpPr>
        <p:grpSpPr>
          <a:xfrm>
            <a:off x="874532" y="1165528"/>
            <a:ext cx="7031072" cy="949525"/>
            <a:chOff x="1048700" y="1034894"/>
            <a:chExt cx="7031072" cy="949525"/>
          </a:xfrm>
        </p:grpSpPr>
        <p:sp>
          <p:nvSpPr>
            <p:cNvPr id="22" name="Line 4"/>
            <p:cNvSpPr>
              <a:spLocks noChangeShapeType="1"/>
            </p:cNvSpPr>
            <p:nvPr/>
          </p:nvSpPr>
          <p:spPr bwMode="auto">
            <a:xfrm>
              <a:off x="1402235" y="1358744"/>
              <a:ext cx="38179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3" name="Line 5"/>
            <p:cNvSpPr>
              <a:spLocks noChangeShapeType="1"/>
            </p:cNvSpPr>
            <p:nvPr/>
          </p:nvSpPr>
          <p:spPr bwMode="auto">
            <a:xfrm>
              <a:off x="5220171" y="1358744"/>
              <a:ext cx="935038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4" name="Line 6"/>
            <p:cNvSpPr>
              <a:spLocks noChangeShapeType="1"/>
            </p:cNvSpPr>
            <p:nvPr/>
          </p:nvSpPr>
          <p:spPr bwMode="auto">
            <a:xfrm>
              <a:off x="6155209" y="1358744"/>
              <a:ext cx="14398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5" name="Line 7"/>
            <p:cNvSpPr>
              <a:spLocks noChangeShapeType="1"/>
            </p:cNvSpPr>
            <p:nvPr/>
          </p:nvSpPr>
          <p:spPr bwMode="auto">
            <a:xfrm>
              <a:off x="7595071" y="1196819"/>
              <a:ext cx="0" cy="3238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6" name="Line 8"/>
            <p:cNvSpPr>
              <a:spLocks noChangeShapeType="1"/>
            </p:cNvSpPr>
            <p:nvPr/>
          </p:nvSpPr>
          <p:spPr bwMode="auto">
            <a:xfrm>
              <a:off x="6660034" y="1250397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7" name="Line 9"/>
            <p:cNvSpPr>
              <a:spLocks noChangeShapeType="1"/>
            </p:cNvSpPr>
            <p:nvPr/>
          </p:nvSpPr>
          <p:spPr bwMode="auto">
            <a:xfrm>
              <a:off x="1402234" y="1196819"/>
              <a:ext cx="0" cy="3238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8" name="Line 10"/>
            <p:cNvSpPr>
              <a:spLocks noChangeShapeType="1"/>
            </p:cNvSpPr>
            <p:nvPr/>
          </p:nvSpPr>
          <p:spPr bwMode="auto">
            <a:xfrm>
              <a:off x="2411884" y="1250397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9" name="Line 11"/>
            <p:cNvSpPr>
              <a:spLocks noChangeShapeType="1"/>
            </p:cNvSpPr>
            <p:nvPr/>
          </p:nvSpPr>
          <p:spPr bwMode="auto">
            <a:xfrm>
              <a:off x="3491384" y="1250397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30" name="Line 12"/>
            <p:cNvSpPr>
              <a:spLocks noChangeShapeType="1"/>
            </p:cNvSpPr>
            <p:nvPr/>
          </p:nvSpPr>
          <p:spPr bwMode="auto">
            <a:xfrm>
              <a:off x="4570884" y="1250397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32" name="Line 14"/>
            <p:cNvSpPr>
              <a:spLocks noChangeShapeType="1"/>
            </p:cNvSpPr>
            <p:nvPr/>
          </p:nvSpPr>
          <p:spPr bwMode="auto">
            <a:xfrm>
              <a:off x="3491384" y="1305166"/>
              <a:ext cx="10795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33" name="Text Box 15"/>
            <p:cNvSpPr txBox="1">
              <a:spLocks noChangeArrowheads="1"/>
            </p:cNvSpPr>
            <p:nvPr/>
          </p:nvSpPr>
          <p:spPr bwMode="auto">
            <a:xfrm>
              <a:off x="3994621" y="1034894"/>
              <a:ext cx="268022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r</a:t>
              </a:r>
            </a:p>
          </p:txBody>
        </p:sp>
        <p:sp>
          <p:nvSpPr>
            <p:cNvPr id="34" name="Text Box 17"/>
            <p:cNvSpPr txBox="1">
              <a:spLocks noChangeArrowheads="1"/>
            </p:cNvSpPr>
            <p:nvPr/>
          </p:nvSpPr>
          <p:spPr bwMode="auto">
            <a:xfrm>
              <a:off x="2242940" y="1497175"/>
              <a:ext cx="316112" cy="261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sz="1100" dirty="0">
                  <a:solidFill>
                    <a:schemeClr val="tx2"/>
                  </a:solidFill>
                  <a:latin typeface="Tahoma" pitchFamily="34" charset="0"/>
                </a:rPr>
                <a:t>ÉÎ</a:t>
              </a:r>
            </a:p>
          </p:txBody>
        </p:sp>
        <p:sp>
          <p:nvSpPr>
            <p:cNvPr id="39" name="Ellipse 38"/>
            <p:cNvSpPr/>
            <p:nvPr/>
          </p:nvSpPr>
          <p:spPr>
            <a:xfrm>
              <a:off x="2051050" y="1412973"/>
              <a:ext cx="6028722" cy="44145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40" name="Forme libre 39"/>
            <p:cNvSpPr/>
            <p:nvPr/>
          </p:nvSpPr>
          <p:spPr>
            <a:xfrm>
              <a:off x="1429221" y="1736172"/>
              <a:ext cx="990600" cy="248247"/>
            </a:xfrm>
            <a:custGeom>
              <a:avLst/>
              <a:gdLst>
                <a:gd name="connsiteX0" fmla="*/ 990600 w 990600"/>
                <a:gd name="connsiteY0" fmla="*/ 57150 h 344487"/>
                <a:gd name="connsiteX1" fmla="*/ 666750 w 990600"/>
                <a:gd name="connsiteY1" fmla="*/ 295275 h 344487"/>
                <a:gd name="connsiteX2" fmla="*/ 228600 w 990600"/>
                <a:gd name="connsiteY2" fmla="*/ 295275 h 344487"/>
                <a:gd name="connsiteX3" fmla="*/ 0 w 990600"/>
                <a:gd name="connsiteY3" fmla="*/ 0 h 344487"/>
                <a:gd name="connsiteX0" fmla="*/ 990600 w 990600"/>
                <a:gd name="connsiteY0" fmla="*/ 57150 h 330996"/>
                <a:gd name="connsiteX1" fmla="*/ 666750 w 990600"/>
                <a:gd name="connsiteY1" fmla="*/ 295275 h 330996"/>
                <a:gd name="connsiteX2" fmla="*/ 285729 w 990600"/>
                <a:gd name="connsiteY2" fmla="*/ 271478 h 330996"/>
                <a:gd name="connsiteX3" fmla="*/ 0 w 990600"/>
                <a:gd name="connsiteY3" fmla="*/ 0 h 330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0600" h="330996">
                  <a:moveTo>
                    <a:pt x="990600" y="57150"/>
                  </a:moveTo>
                  <a:cubicBezTo>
                    <a:pt x="892175" y="156369"/>
                    <a:pt x="784228" y="259554"/>
                    <a:pt x="666750" y="295275"/>
                  </a:cubicBezTo>
                  <a:cubicBezTo>
                    <a:pt x="549272" y="330996"/>
                    <a:pt x="396854" y="320690"/>
                    <a:pt x="285729" y="271478"/>
                  </a:cubicBezTo>
                  <a:cubicBezTo>
                    <a:pt x="174604" y="222266"/>
                    <a:pt x="58737" y="123031"/>
                    <a:pt x="0" y="0"/>
                  </a:cubicBezTo>
                </a:path>
              </a:pathLst>
            </a:cu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graphicFrame>
          <p:nvGraphicFramePr>
            <p:cNvPr id="41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68018707"/>
                </p:ext>
              </p:extLst>
            </p:nvPr>
          </p:nvGraphicFramePr>
          <p:xfrm>
            <a:off x="1048700" y="1461985"/>
            <a:ext cx="1133475" cy="322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00" name="Equation" r:id="rId11" imgW="698400" imgH="241200" progId="Equation.3">
                    <p:embed/>
                  </p:oleObj>
                </mc:Choice>
                <mc:Fallback>
                  <p:oleObj name="Equation" r:id="rId11" imgW="69840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48700" y="1461985"/>
                          <a:ext cx="1133475" cy="3222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" name="Text Box 17"/>
            <p:cNvSpPr txBox="1">
              <a:spLocks noChangeArrowheads="1"/>
            </p:cNvSpPr>
            <p:nvPr/>
          </p:nvSpPr>
          <p:spPr bwMode="auto">
            <a:xfrm>
              <a:off x="3327558" y="1502894"/>
              <a:ext cx="316112" cy="261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sz="1100" dirty="0">
                  <a:solidFill>
                    <a:schemeClr val="tx2"/>
                  </a:solidFill>
                  <a:latin typeface="Tahoma" pitchFamily="34" charset="0"/>
                </a:rPr>
                <a:t>ÉÎ</a:t>
              </a:r>
            </a:p>
          </p:txBody>
        </p:sp>
        <p:sp>
          <p:nvSpPr>
            <p:cNvPr id="43" name="Text Box 17"/>
            <p:cNvSpPr txBox="1">
              <a:spLocks noChangeArrowheads="1"/>
            </p:cNvSpPr>
            <p:nvPr/>
          </p:nvSpPr>
          <p:spPr bwMode="auto">
            <a:xfrm>
              <a:off x="4426421" y="1499133"/>
              <a:ext cx="316112" cy="261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sz="1100" dirty="0">
                  <a:solidFill>
                    <a:schemeClr val="tx2"/>
                  </a:solidFill>
                  <a:latin typeface="Tahoma" pitchFamily="34" charset="0"/>
                </a:rPr>
                <a:t>ÉÎ</a:t>
              </a:r>
            </a:p>
          </p:txBody>
        </p:sp>
        <p:sp>
          <p:nvSpPr>
            <p:cNvPr id="44" name="Text Box 17"/>
            <p:cNvSpPr txBox="1">
              <a:spLocks noChangeArrowheads="1"/>
            </p:cNvSpPr>
            <p:nvPr/>
          </p:nvSpPr>
          <p:spPr bwMode="auto">
            <a:xfrm>
              <a:off x="6525003" y="1505638"/>
              <a:ext cx="316112" cy="261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sz="1100" dirty="0">
                  <a:solidFill>
                    <a:schemeClr val="tx2"/>
                  </a:solidFill>
                  <a:latin typeface="Tahoma" pitchFamily="34" charset="0"/>
                </a:rPr>
                <a:t>ÉÎ</a:t>
              </a:r>
            </a:p>
          </p:txBody>
        </p:sp>
        <p:sp>
          <p:nvSpPr>
            <p:cNvPr id="45" name="Text Box 17"/>
            <p:cNvSpPr txBox="1">
              <a:spLocks noChangeArrowheads="1"/>
            </p:cNvSpPr>
            <p:nvPr/>
          </p:nvSpPr>
          <p:spPr bwMode="auto">
            <a:xfrm>
              <a:off x="7450464" y="1492311"/>
              <a:ext cx="316112" cy="261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sz="1100" dirty="0">
                  <a:solidFill>
                    <a:schemeClr val="tx2"/>
                  </a:solidFill>
                  <a:latin typeface="Tahoma" pitchFamily="34" charset="0"/>
                </a:rPr>
                <a:t>ÉÎ</a:t>
              </a:r>
            </a:p>
          </p:txBody>
        </p:sp>
      </p:grpSp>
      <p:graphicFrame>
        <p:nvGraphicFramePr>
          <p:cNvPr id="47" name="Object 16"/>
          <p:cNvGraphicFramePr>
            <a:graphicFrameLocks noChangeAspect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1613040328"/>
              </p:ext>
            </p:extLst>
          </p:nvPr>
        </p:nvGraphicFramePr>
        <p:xfrm>
          <a:off x="1204913" y="3562350"/>
          <a:ext cx="6234112" cy="70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1" name="Equation" r:id="rId13" imgW="4267080" imgH="482400" progId="Equation.3">
                  <p:embed/>
                </p:oleObj>
              </mc:Choice>
              <mc:Fallback>
                <p:oleObj name="Equation" r:id="rId13" imgW="426708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4913" y="3562350"/>
                        <a:ext cx="6234112" cy="7064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16"/>
          <p:cNvGraphicFramePr>
            <a:graphicFrameLocks noChangeAspect="1"/>
          </p:cNvGraphicFramePr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1151512073"/>
              </p:ext>
            </p:extLst>
          </p:nvPr>
        </p:nvGraphicFramePr>
        <p:xfrm>
          <a:off x="1173163" y="4302047"/>
          <a:ext cx="233680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2" name="Equation" r:id="rId15" imgW="1600200" imgH="241200" progId="Equation.3">
                  <p:embed/>
                </p:oleObj>
              </mc:Choice>
              <mc:Fallback>
                <p:oleObj name="Equation" r:id="rId15" imgW="160020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3163" y="4302047"/>
                        <a:ext cx="2336800" cy="3524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1400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La considération fiscale: résumé</a:t>
            </a:r>
          </a:p>
        </p:txBody>
      </p:sp>
      <p:graphicFrame>
        <p:nvGraphicFramePr>
          <p:cNvPr id="6" name="Espace réservé du contenu 5"/>
          <p:cNvGraphicFramePr>
            <a:graphicFrameLocks noGrp="1"/>
          </p:cNvGraphicFramePr>
          <p:nvPr>
            <p:ph idx="1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721776498"/>
              </p:ext>
            </p:extLst>
          </p:nvPr>
        </p:nvGraphicFramePr>
        <p:xfrm>
          <a:off x="479425" y="1419225"/>
          <a:ext cx="8185150" cy="287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1970173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space réservé du contenu 5"/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1707654"/>
            <a:ext cx="4736592" cy="1645920"/>
          </a:xfrm>
        </p:spPr>
      </p:pic>
    </p:spTree>
    <p:extLst>
      <p:ext uri="{BB962C8B-B14F-4D97-AF65-F5344CB8AC3E}">
        <p14:creationId xmlns:p14="http://schemas.microsoft.com/office/powerpoint/2010/main" val="41217579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heme/theme1.xml><?xml version="1.0" encoding="utf-8"?>
<a:theme xmlns:a="http://schemas.openxmlformats.org/drawingml/2006/main" name="ThèmeHEC">
  <a:themeElements>
    <a:clrScheme name="HEC2">
      <a:dk1>
        <a:srgbClr val="000000"/>
      </a:dk1>
      <a:lt1>
        <a:srgbClr val="FFFFFF"/>
      </a:lt1>
      <a:dk2>
        <a:srgbClr val="97999B"/>
      </a:dk2>
      <a:lt2>
        <a:srgbClr val="EFF0F0"/>
      </a:lt2>
      <a:accent1>
        <a:srgbClr val="009FDF"/>
      </a:accent1>
      <a:accent2>
        <a:srgbClr val="003C71"/>
      </a:accent2>
      <a:accent3>
        <a:srgbClr val="D40F7D"/>
      </a:accent3>
      <a:accent4>
        <a:srgbClr val="FE5000"/>
      </a:accent4>
      <a:accent5>
        <a:srgbClr val="00C1D5"/>
      </a:accent5>
      <a:accent6>
        <a:srgbClr val="005EB8"/>
      </a:accent6>
      <a:hlink>
        <a:srgbClr val="003C71"/>
      </a:hlink>
      <a:folHlink>
        <a:srgbClr val="9678D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91440" tIns="45720" rIns="91440" bIns="45720" rtlCol="0">
        <a:normAutofit/>
      </a:bodyPr>
      <a:lstStyle>
        <a:defPPr marL="154800" indent="-154800">
          <a:buClr>
            <a:schemeClr val="accent2"/>
          </a:buClr>
          <a:buSzPct val="125000"/>
          <a:buFont typeface="Arial" panose="020B0604020202020204" pitchFamily="34" charset="0"/>
          <a:buChar char="•"/>
          <a:defRPr sz="167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hèmeHEC" id="{7465C618-7679-4EFC-97C4-7229E9764B6E}" vid="{8FDDE1AC-1B25-4CFF-908F-B02124D657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ThèmeHEC</Template>
  <TotalTime>1922</TotalTime>
  <Words>1315</Words>
  <Application>Microsoft Office PowerPoint</Application>
  <PresentationFormat>Affichage à l'écran (16:9)</PresentationFormat>
  <Paragraphs>245</Paragraphs>
  <Slides>27</Slides>
  <Notes>0</Notes>
  <HiddenSlides>0</HiddenSlides>
  <MMClips>0</MMClips>
  <ScaleCrop>false</ScaleCrop>
  <HeadingPairs>
    <vt:vector size="8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32" baseType="lpstr">
      <vt:lpstr>Arial</vt:lpstr>
      <vt:lpstr>Cambria Math</vt:lpstr>
      <vt:lpstr>Tahoma</vt:lpstr>
      <vt:lpstr>ThèmeHEC</vt:lpstr>
      <vt:lpstr>Equation</vt:lpstr>
      <vt:lpstr>Chapitre 10: L’évaluation de projet</vt:lpstr>
      <vt:lpstr>Plan de présentation</vt:lpstr>
      <vt:lpstr>Principe fondamental Séparation des décisions d’investissement et de financement</vt:lpstr>
      <vt:lpstr>Le critère de décision</vt:lpstr>
      <vt:lpstr>Présentation PowerPoint</vt:lpstr>
      <vt:lpstr>Chapitre 10: L’évaluation de projet</vt:lpstr>
      <vt:lpstr>Les flux monétaires pertinents</vt:lpstr>
      <vt:lpstr>Les flux monétaires pertinents</vt:lpstr>
      <vt:lpstr>Les flux monétaires pertinents</vt:lpstr>
      <vt:lpstr>Les flux monétaires pertinents</vt:lpstr>
      <vt:lpstr>Les flux monétaires pertinents</vt:lpstr>
      <vt:lpstr>Les flux monétaires pertinents</vt:lpstr>
      <vt:lpstr>Les flux monétaires pertinents</vt:lpstr>
      <vt:lpstr>Les flux monétaires pertinents</vt:lpstr>
      <vt:lpstr>Les flux monétaires pertinents</vt:lpstr>
      <vt:lpstr>Les flux monétaires pertinents</vt:lpstr>
      <vt:lpstr>Les flux monétaires pertinents</vt:lpstr>
      <vt:lpstr>Présentation PowerPoint</vt:lpstr>
      <vt:lpstr>Chapitre 10: L’évaluation de projet</vt:lpstr>
      <vt:lpstr>Revenus/dépenses après impôt</vt:lpstr>
      <vt:lpstr>Impact fiscal de l’amortissement</vt:lpstr>
      <vt:lpstr>Impact fiscal de l’amortissement</vt:lpstr>
      <vt:lpstr>Impact fiscal de l’amortissement</vt:lpstr>
      <vt:lpstr>Impact fiscal de l’amortissement</vt:lpstr>
      <vt:lpstr>Impact fiscal de l’amortissement</vt:lpstr>
      <vt:lpstr>La considération fiscale: résumé</vt:lpstr>
      <vt:lpstr>Présentation PowerPoint</vt:lpstr>
    </vt:vector>
  </TitlesOfParts>
  <Company>HEC Montréal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Chapitre 9: les critères de d’évaluation de projet</dc:title>
  <dc:creator>clihec3</dc:creator>
  <cp:lastModifiedBy>jean-philippe tarte</cp:lastModifiedBy>
  <cp:revision>44</cp:revision>
  <dcterms:created xsi:type="dcterms:W3CDTF">2009-10-06T16:37:55Z</dcterms:created>
  <dcterms:modified xsi:type="dcterms:W3CDTF">2020-05-21T20:03:59Z</dcterms:modified>
</cp:coreProperties>
</file>