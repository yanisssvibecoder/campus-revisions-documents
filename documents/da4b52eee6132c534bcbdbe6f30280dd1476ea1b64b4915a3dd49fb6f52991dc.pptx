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4.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8.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9.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0.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Lst>
  <p:notesMasterIdLst>
    <p:notesMasterId r:id="rId19"/>
  </p:notesMasterIdLst>
  <p:sldIdLst>
    <p:sldId id="4372" r:id="rId6"/>
    <p:sldId id="4518" r:id="rId7"/>
    <p:sldId id="4454" r:id="rId8"/>
    <p:sldId id="4519" r:id="rId9"/>
    <p:sldId id="4520" r:id="rId10"/>
    <p:sldId id="4521" r:id="rId11"/>
    <p:sldId id="4522" r:id="rId12"/>
    <p:sldId id="4524" r:id="rId13"/>
    <p:sldId id="4529" r:id="rId14"/>
    <p:sldId id="4523" r:id="rId15"/>
    <p:sldId id="4525" r:id="rId16"/>
    <p:sldId id="4526" r:id="rId17"/>
    <p:sldId id="4528"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D457F9-35BF-CD35-3B95-6E03F5ABB5AD}" name="Frederic Schlackl" initials="FS" userId="S::frederic.schlackl@hec.ca::e634d196-5c2c-456e-846e-5fbb06bb256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A0A2"/>
    <a:srgbClr val="F3D03E"/>
    <a:srgbClr val="FFFFFF"/>
    <a:srgbClr val="00CEEA"/>
    <a:srgbClr val="86D7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6"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BAED48-BE2C-4A1B-B573-E015B81D09C4}" type="datetimeFigureOut">
              <a:rPr lang="fr-CA" smtClean="0"/>
              <a:t>2026-05-18</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1DCC7-8E76-430B-A7BA-633787079C46}" type="slidenum">
              <a:rPr lang="fr-CA" smtClean="0"/>
              <a:t>‹N°›</a:t>
            </a:fld>
            <a:endParaRPr lang="fr-CA"/>
          </a:p>
        </p:txBody>
      </p:sp>
    </p:spTree>
    <p:extLst>
      <p:ext uri="{BB962C8B-B14F-4D97-AF65-F5344CB8AC3E}">
        <p14:creationId xmlns:p14="http://schemas.microsoft.com/office/powerpoint/2010/main" val="2349656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Photo Martin LESAGE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412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4</a:t>
            </a:fld>
            <a:endParaRPr lang="fr-CA"/>
          </a:p>
        </p:txBody>
      </p:sp>
    </p:spTree>
    <p:extLst>
      <p:ext uri="{BB962C8B-B14F-4D97-AF65-F5344CB8AC3E}">
        <p14:creationId xmlns:p14="http://schemas.microsoft.com/office/powerpoint/2010/main" val="176779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5</a:t>
            </a:fld>
            <a:endParaRPr lang="fr-CA"/>
          </a:p>
        </p:txBody>
      </p:sp>
    </p:spTree>
    <p:extLst>
      <p:ext uri="{BB962C8B-B14F-4D97-AF65-F5344CB8AC3E}">
        <p14:creationId xmlns:p14="http://schemas.microsoft.com/office/powerpoint/2010/main" val="1565007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6</a:t>
            </a:fld>
            <a:endParaRPr lang="fr-CA"/>
          </a:p>
        </p:txBody>
      </p:sp>
    </p:spTree>
    <p:extLst>
      <p:ext uri="{BB962C8B-B14F-4D97-AF65-F5344CB8AC3E}">
        <p14:creationId xmlns:p14="http://schemas.microsoft.com/office/powerpoint/2010/main" val="1284523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7</a:t>
            </a:fld>
            <a:endParaRPr lang="fr-CA"/>
          </a:p>
        </p:txBody>
      </p:sp>
    </p:spTree>
    <p:extLst>
      <p:ext uri="{BB962C8B-B14F-4D97-AF65-F5344CB8AC3E}">
        <p14:creationId xmlns:p14="http://schemas.microsoft.com/office/powerpoint/2010/main" val="3235619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8</a:t>
            </a:fld>
            <a:endParaRPr lang="fr-CA"/>
          </a:p>
        </p:txBody>
      </p:sp>
    </p:spTree>
    <p:extLst>
      <p:ext uri="{BB962C8B-B14F-4D97-AF65-F5344CB8AC3E}">
        <p14:creationId xmlns:p14="http://schemas.microsoft.com/office/powerpoint/2010/main" val="3798406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9</a:t>
            </a:fld>
            <a:endParaRPr lang="fr-CA"/>
          </a:p>
        </p:txBody>
      </p:sp>
    </p:spTree>
    <p:extLst>
      <p:ext uri="{BB962C8B-B14F-4D97-AF65-F5344CB8AC3E}">
        <p14:creationId xmlns:p14="http://schemas.microsoft.com/office/powerpoint/2010/main" val="1962087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10</a:t>
            </a:fld>
            <a:endParaRPr lang="fr-CA"/>
          </a:p>
        </p:txBody>
      </p:sp>
    </p:spTree>
    <p:extLst>
      <p:ext uri="{BB962C8B-B14F-4D97-AF65-F5344CB8AC3E}">
        <p14:creationId xmlns:p14="http://schemas.microsoft.com/office/powerpoint/2010/main" val="414840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11</a:t>
            </a:fld>
            <a:endParaRPr lang="fr-CA"/>
          </a:p>
        </p:txBody>
      </p:sp>
    </p:spTree>
    <p:extLst>
      <p:ext uri="{BB962C8B-B14F-4D97-AF65-F5344CB8AC3E}">
        <p14:creationId xmlns:p14="http://schemas.microsoft.com/office/powerpoint/2010/main" val="1795811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12</a:t>
            </a:fld>
            <a:endParaRPr lang="fr-CA"/>
          </a:p>
        </p:txBody>
      </p:sp>
    </p:spTree>
    <p:extLst>
      <p:ext uri="{BB962C8B-B14F-4D97-AF65-F5344CB8AC3E}">
        <p14:creationId xmlns:p14="http://schemas.microsoft.com/office/powerpoint/2010/main" val="1901589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13</a:t>
            </a:fld>
            <a:endParaRPr lang="fr-CA"/>
          </a:p>
        </p:txBody>
      </p:sp>
    </p:spTree>
    <p:extLst>
      <p:ext uri="{BB962C8B-B14F-4D97-AF65-F5344CB8AC3E}">
        <p14:creationId xmlns:p14="http://schemas.microsoft.com/office/powerpoint/2010/main" val="24149654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pic>
        <p:nvPicPr>
          <p:cNvPr id="8" name="Picture 7" descr="A group of people sitting on stairs&#10;&#10;Description automatically generated with medium confidence">
            <a:extLst>
              <a:ext uri="{FF2B5EF4-FFF2-40B4-BE49-F238E27FC236}">
                <a16:creationId xmlns:a16="http://schemas.microsoft.com/office/drawing/2014/main" id="{A135F293-1906-8D22-0785-79DD186470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 y="0"/>
            <a:ext cx="12188389"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2174409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85A992C-FD7E-DB48-739E-CAF22E9A1F2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934" r="6667"/>
          <a:stretch/>
        </p:blipFill>
        <p:spPr bwMode="auto">
          <a:xfrm>
            <a:off x="3411415" y="0"/>
            <a:ext cx="8780592"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2" name="Rectangle 1">
            <a:extLst>
              <a:ext uri="{FF2B5EF4-FFF2-40B4-BE49-F238E27FC236}">
                <a16:creationId xmlns:a16="http://schemas.microsoft.com/office/drawing/2014/main" id="{0CDEB207-92C5-842B-6134-B04F2E996053}"/>
              </a:ext>
            </a:extLst>
          </p:cNvPr>
          <p:cNvSpPr/>
          <p:nvPr userDrawn="1"/>
        </p:nvSpPr>
        <p:spPr>
          <a:xfrm>
            <a:off x="-62752" y="0"/>
            <a:ext cx="3474160" cy="6858000"/>
          </a:xfrm>
          <a:prstGeom prst="rect">
            <a:avLst/>
          </a:prstGeom>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pic>
        <p:nvPicPr>
          <p:cNvPr id="3" name="Picture 9" descr="A close up of a sign&#10;&#10;Description automatically generated">
            <a:extLst>
              <a:ext uri="{FF2B5EF4-FFF2-40B4-BE49-F238E27FC236}">
                <a16:creationId xmlns:a16="http://schemas.microsoft.com/office/drawing/2014/main" id="{19C71502-14D3-54DC-BEE9-12B69D6BCE9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2083" y="631121"/>
            <a:ext cx="1562807" cy="1562807"/>
          </a:xfrm>
          <a:prstGeom prst="rect">
            <a:avLst/>
          </a:prstGeom>
        </p:spPr>
      </p:pic>
      <p:sp>
        <p:nvSpPr>
          <p:cNvPr id="7" name="Title 1">
            <a:extLst>
              <a:ext uri="{FF2B5EF4-FFF2-40B4-BE49-F238E27FC236}">
                <a16:creationId xmlns:a16="http://schemas.microsoft.com/office/drawing/2014/main" id="{65B9265B-4FFC-F2C8-F435-6CA51324C7D8}"/>
              </a:ext>
            </a:extLst>
          </p:cNvPr>
          <p:cNvSpPr>
            <a:spLocks noGrp="1"/>
          </p:cNvSpPr>
          <p:nvPr>
            <p:ph type="title" hasCustomPrompt="1"/>
          </p:nvPr>
        </p:nvSpPr>
        <p:spPr>
          <a:xfrm>
            <a:off x="374537" y="1990728"/>
            <a:ext cx="5978135" cy="2254161"/>
          </a:xfrm>
          <a:ln>
            <a:noFill/>
          </a:ln>
        </p:spPr>
        <p:txBody>
          <a:bodyPr anchor="b" anchorCtr="0"/>
          <a:lstStyle>
            <a:lvl1pPr>
              <a:defRPr sz="6000" b="0">
                <a:solidFill>
                  <a:schemeClr val="tx2"/>
                </a:solidFill>
                <a:latin typeface="Visby Slab CF Bold" panose="00000800000000000000" pitchFamily="50" charset="0"/>
              </a:defRPr>
            </a:lvl1pPr>
          </a:lstStyle>
          <a:p>
            <a:r>
              <a:rPr lang="en-US" err="1"/>
              <a:t>Titre</a:t>
            </a:r>
            <a:endParaRPr lang="en-US"/>
          </a:p>
        </p:txBody>
      </p:sp>
      <p:sp>
        <p:nvSpPr>
          <p:cNvPr id="8" name="Text Placeholder 12">
            <a:extLst>
              <a:ext uri="{FF2B5EF4-FFF2-40B4-BE49-F238E27FC236}">
                <a16:creationId xmlns:a16="http://schemas.microsoft.com/office/drawing/2014/main" id="{85BB9CD6-5516-AEB6-5F47-CFAD3E025644}"/>
              </a:ext>
            </a:extLst>
          </p:cNvPr>
          <p:cNvSpPr>
            <a:spLocks noGrp="1"/>
          </p:cNvSpPr>
          <p:nvPr>
            <p:ph type="body" sz="quarter" idx="11" hasCustomPrompt="1"/>
          </p:nvPr>
        </p:nvSpPr>
        <p:spPr>
          <a:xfrm>
            <a:off x="374538" y="4178603"/>
            <a:ext cx="2906545" cy="2383563"/>
          </a:xfrm>
        </p:spPr>
        <p:txBody>
          <a:bodyPr>
            <a:normAutofit/>
          </a:bodyPr>
          <a:lstStyle>
            <a:lvl1pPr marL="0" indent="0">
              <a:buNone/>
              <a:defRPr sz="2667" b="0" i="0">
                <a:solidFill>
                  <a:schemeClr val="bg2">
                    <a:lumMod val="50000"/>
                  </a:schemeClr>
                </a:solidFill>
                <a:latin typeface="Visby CF Bold" pitchFamily="50" charset="0"/>
              </a:defRPr>
            </a:lvl1pPr>
          </a:lstStyle>
          <a:p>
            <a:pPr lvl="0"/>
            <a:r>
              <a:rPr lang="en-US"/>
              <a:t>Sous-</a:t>
            </a:r>
            <a:r>
              <a:rPr lang="en-US" err="1"/>
              <a:t>titre</a:t>
            </a:r>
            <a:endParaRPr lang="en-US"/>
          </a:p>
        </p:txBody>
      </p:sp>
    </p:spTree>
    <p:extLst>
      <p:ext uri="{BB962C8B-B14F-4D97-AF65-F5344CB8AC3E}">
        <p14:creationId xmlns:p14="http://schemas.microsoft.com/office/powerpoint/2010/main" val="2352944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375C50-436C-3C80-C642-31F554885E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a:solidFill>
                  <a:schemeClr val="bg1"/>
                </a:solidFill>
                <a:latin typeface="Visby Slab CF"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bg1"/>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508515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Diapositive de titre">
    <p:spTree>
      <p:nvGrpSpPr>
        <p:cNvPr id="1" name=""/>
        <p:cNvGrpSpPr/>
        <p:nvPr/>
      </p:nvGrpSpPr>
      <p:grpSpPr>
        <a:xfrm>
          <a:off x="0" y="0"/>
          <a:ext cx="0" cy="0"/>
          <a:chOff x="0" y="0"/>
          <a:chExt cx="0" cy="0"/>
        </a:xfrm>
      </p:grpSpPr>
      <p:pic>
        <p:nvPicPr>
          <p:cNvPr id="12" name="Picture 11" descr="A picture containing building, outdoor, sky, city&#10;&#10;Description automatically generated">
            <a:extLst>
              <a:ext uri="{FF2B5EF4-FFF2-40B4-BE49-F238E27FC236}">
                <a16:creationId xmlns:a16="http://schemas.microsoft.com/office/drawing/2014/main" id="{04743DEF-FC3C-DBAA-AEF4-43E7EC1625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br>
              <a:rPr lang="en-US"/>
            </a:br>
            <a:br>
              <a:rPr lang="en-US"/>
            </a:br>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92218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92509" y="2126743"/>
            <a:ext cx="10915200" cy="3825587"/>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userDrawn="1"/>
        </p:nvSpPr>
        <p:spPr>
          <a:xfrm>
            <a:off x="461433" y="5718811"/>
            <a:ext cx="1219200" cy="1097280"/>
          </a:xfrm>
          <a:prstGeom prst="rect">
            <a:avLst/>
          </a:prstGeom>
        </p:spPr>
        <p:txBody>
          <a:bodyPr vert="horz" wrap="none" lIns="109728" tIns="54864" rIns="109728" bIns="54864" rtlCol="0">
            <a:normAutofit/>
          </a:bodyPr>
          <a:lstStyle/>
          <a:p>
            <a:pPr marL="185755" indent="-185755">
              <a:buClr>
                <a:schemeClr val="accent2"/>
              </a:buClr>
              <a:buSzPct val="125000"/>
              <a:buFont typeface="Arial" panose="020B0604020202020204" pitchFamily="34" charset="0"/>
              <a:buChar char="•"/>
            </a:pPr>
            <a:endParaRPr lang="fr-CA" sz="2004"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492509" y="302168"/>
            <a:ext cx="10915200" cy="987552"/>
          </a:xfrm>
        </p:spPr>
        <p:txBody>
          <a:bodyPr/>
          <a:lstStyle>
            <a:lvl1pPr>
              <a:defRPr sz="4000" b="1" i="0">
                <a:solidFill>
                  <a:schemeClr val="accent3"/>
                </a:solidFill>
                <a:latin typeface="Visby Slab CF Demi Bold" pitchFamily="2" charset="77"/>
              </a:defRPr>
            </a:lvl1pPr>
          </a:lstStyle>
          <a:p>
            <a:r>
              <a:rPr lang="fr-CA" noProof="0"/>
              <a:t>Click to </a:t>
            </a:r>
            <a:r>
              <a:rPr lang="fr-CA" noProof="0" err="1"/>
              <a:t>edit</a:t>
            </a:r>
            <a:r>
              <a:rPr lang="fr-CA" noProof="0"/>
              <a:t> </a:t>
            </a:r>
            <a:r>
              <a:rPr lang="fr-CA" noProof="0" err="1"/>
              <a:t>title</a:t>
            </a:r>
            <a:r>
              <a:rPr lang="fr-CA" noProof="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492510" y="1139191"/>
            <a:ext cx="6991349" cy="576720"/>
          </a:xfrm>
        </p:spPr>
        <p:txBody>
          <a:bodyPr>
            <a:normAutofit/>
          </a:bodyPr>
          <a:lstStyle>
            <a:lvl1pPr>
              <a:defRPr sz="2133" b="1" i="0">
                <a:solidFill>
                  <a:srgbClr val="002060"/>
                </a:solidFill>
                <a:latin typeface="Visby CF Bold" pitchFamily="2" charset="77"/>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91139" y="447401"/>
            <a:ext cx="576720" cy="19444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45819869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31CD24-C12F-731C-7F6F-BB3218CFB324}"/>
              </a:ext>
            </a:extLst>
          </p:cNvPr>
          <p:cNvSpPr/>
          <p:nvPr userDrawn="1">
            <p:custDataLst>
              <p:tags r:id="rId1"/>
            </p:custDataLst>
          </p:nvPr>
        </p:nvSpPr>
        <p:spPr>
          <a:xfrm rot="5400000">
            <a:off x="10408212" y="5479915"/>
            <a:ext cx="2269787" cy="4863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chemeClr val="accent3"/>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E93C20F-61A3-A6C8-0181-89A4026E81E7}"/>
              </a:ext>
            </a:extLst>
          </p:cNvPr>
          <p:cNvSpPr/>
          <p:nvPr userDrawn="1">
            <p:custDataLst>
              <p:tags r:id="rId2"/>
            </p:custDataLst>
          </p:nvPr>
        </p:nvSpPr>
        <p:spPr>
          <a:xfrm>
            <a:off x="11300297" y="4588213"/>
            <a:ext cx="486000" cy="48638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chemeClr val="accent3">
                    <a:lumMod val="50000"/>
                  </a:schemeClr>
                </a:solidFill>
                <a:effectLst/>
                <a:uLnTx/>
                <a:uFillTx/>
                <a:latin typeface="Visby Slab CF Bold" panose="00000800000000000000" pitchFamily="50" charset="0"/>
              </a:rPr>
              <a:t>1</a:t>
            </a:r>
          </a:p>
        </p:txBody>
      </p:sp>
      <p:sp>
        <p:nvSpPr>
          <p:cNvPr id="6" name="ZoneTexte 5">
            <a:extLst>
              <a:ext uri="{FF2B5EF4-FFF2-40B4-BE49-F238E27FC236}">
                <a16:creationId xmlns:a16="http://schemas.microsoft.com/office/drawing/2014/main" id="{6DA28613-0ED5-8AC4-820F-A78A51809E12}"/>
              </a:ext>
            </a:extLst>
          </p:cNvPr>
          <p:cNvSpPr txBox="1"/>
          <p:nvPr userDrawn="1">
            <p:custDataLst>
              <p:tags r:id="rId3"/>
            </p:custDataLst>
          </p:nvPr>
        </p:nvSpPr>
        <p:spPr>
          <a:xfrm rot="20159134">
            <a:off x="-440987" y="131322"/>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accent3">
                    <a:lumMod val="40000"/>
                    <a:lumOff val="60000"/>
                  </a:schemeClr>
                </a:solidFill>
                <a:latin typeface="Script MT Bold" panose="03040602040607080904" pitchFamily="66" charset="0"/>
                <a:cs typeface="Dreaming Outloud Script Pro" panose="03050502040304050704" pitchFamily="66" charset="0"/>
              </a:rPr>
              <a:t>objectifs</a:t>
            </a:r>
          </a:p>
        </p:txBody>
      </p:sp>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ct val="150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028882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6DA28613-0ED5-8AC4-820F-A78A51809E12}"/>
              </a:ext>
            </a:extLst>
          </p:cNvPr>
          <p:cNvSpPr txBox="1"/>
          <p:nvPr userDrawn="1">
            <p:custDataLst>
              <p:tags r:id="rId1"/>
            </p:custDataLst>
          </p:nvPr>
        </p:nvSpPr>
        <p:spPr>
          <a:xfrm rot="20159134">
            <a:off x="-440987" y="131322"/>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accent6">
                    <a:lumMod val="40000"/>
                    <a:lumOff val="60000"/>
                  </a:schemeClr>
                </a:solidFill>
                <a:latin typeface="Script MT Bold" panose="03040602040607080904" pitchFamily="66" charset="0"/>
                <a:cs typeface="Dreaming Outloud Script Pro" panose="03050502040304050704" pitchFamily="66" charset="0"/>
              </a:rPr>
              <a:t>objectifs</a:t>
            </a:r>
          </a:p>
        </p:txBody>
      </p:sp>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ct val="150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2" name="ZoneTexte 1">
            <a:extLst>
              <a:ext uri="{FF2B5EF4-FFF2-40B4-BE49-F238E27FC236}">
                <a16:creationId xmlns:a16="http://schemas.microsoft.com/office/drawing/2014/main" id="{59A81DE9-8B63-093C-F2E5-E8D199B8432F}"/>
              </a:ext>
            </a:extLst>
          </p:cNvPr>
          <p:cNvSpPr txBox="1"/>
          <p:nvPr userDrawn="1">
            <p:custDataLst>
              <p:tags r:id="rId2"/>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0731CD24-C12F-731C-7F6F-BB3218CFB324}"/>
              </a:ext>
            </a:extLst>
          </p:cNvPr>
          <p:cNvSpPr/>
          <p:nvPr userDrawn="1">
            <p:custDataLst>
              <p:tags r:id="rId3"/>
            </p:custDataLst>
          </p:nvPr>
        </p:nvSpPr>
        <p:spPr>
          <a:xfrm rot="5400000">
            <a:off x="10408212" y="5479915"/>
            <a:ext cx="2269787" cy="486383"/>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chemeClr val="accent3"/>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6E93C20F-61A3-A6C8-0181-89A4026E81E7}"/>
              </a:ext>
            </a:extLst>
          </p:cNvPr>
          <p:cNvSpPr/>
          <p:nvPr userDrawn="1">
            <p:custDataLst>
              <p:tags r:id="rId4"/>
            </p:custDataLst>
          </p:nvPr>
        </p:nvSpPr>
        <p:spPr>
          <a:xfrm>
            <a:off x="11300297" y="4588213"/>
            <a:ext cx="486000" cy="486383"/>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chemeClr val="accent6">
                    <a:lumMod val="50000"/>
                  </a:schemeClr>
                </a:solidFill>
                <a:effectLst/>
                <a:uLnTx/>
                <a:uFillTx/>
                <a:latin typeface="Visby Slab CF Bold" panose="00000800000000000000" pitchFamily="50" charset="0"/>
              </a:rPr>
              <a:t>7</a:t>
            </a:r>
          </a:p>
        </p:txBody>
      </p:sp>
    </p:spTree>
    <p:extLst>
      <p:ext uri="{BB962C8B-B14F-4D97-AF65-F5344CB8AC3E}">
        <p14:creationId xmlns:p14="http://schemas.microsoft.com/office/powerpoint/2010/main" val="3385027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re vert">
    <p:bg>
      <p:bgPr>
        <a:solidFill>
          <a:schemeClr val="accent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04BB53-CD8C-3F9D-7025-648C03686B6F}"/>
              </a:ext>
            </a:extLst>
          </p:cNvPr>
          <p:cNvSpPr/>
          <p:nvPr userDrawn="1">
            <p:custDataLst>
              <p:tags r:id="rId1"/>
            </p:custDataLst>
          </p:nvPr>
        </p:nvSpPr>
        <p:spPr>
          <a:xfrm>
            <a:off x="2519464" y="5126475"/>
            <a:ext cx="9672536" cy="48638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71A99A2C-0E4A-B4A1-FFA8-A471A4B5A16C}"/>
              </a:ext>
            </a:extLst>
          </p:cNvPr>
          <p:cNvSpPr/>
          <p:nvPr userDrawn="1">
            <p:custDataLst>
              <p:tags r:id="rId2"/>
            </p:custDataLst>
          </p:nvPr>
        </p:nvSpPr>
        <p:spPr>
          <a:xfrm>
            <a:off x="2519464" y="5126475"/>
            <a:ext cx="486000" cy="4863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re 4">
            <a:extLst>
              <a:ext uri="{FF2B5EF4-FFF2-40B4-BE49-F238E27FC236}">
                <a16:creationId xmlns:a16="http://schemas.microsoft.com/office/drawing/2014/main" id="{BA7E816B-D6C4-3809-3F57-A292D004692F}"/>
              </a:ext>
            </a:extLst>
          </p:cNvPr>
          <p:cNvSpPr>
            <a:spLocks noGrp="1"/>
          </p:cNvSpPr>
          <p:nvPr>
            <p:ph type="title"/>
          </p:nvPr>
        </p:nvSpPr>
        <p:spPr>
          <a:xfrm>
            <a:off x="1043356" y="2145322"/>
            <a:ext cx="10341272" cy="1840524"/>
          </a:xfrm>
        </p:spPr>
        <p:txBody>
          <a:bodyPr anchor="t"/>
          <a:lstStyle>
            <a:lvl1pPr>
              <a:lnSpc>
                <a:spcPct val="150000"/>
              </a:lnSpc>
              <a:defRPr kumimoji="0" lang="fr-CA" sz="3600" b="0" i="0" u="none" strike="noStrike" kern="1200" cap="none" spc="0" normalizeH="0" baseline="0">
                <a:ln>
                  <a:noFill/>
                </a:ln>
                <a:solidFill>
                  <a:schemeClr val="tx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
        <p:nvSpPr>
          <p:cNvPr id="5" name="Espace réservé du texte 7">
            <a:extLst>
              <a:ext uri="{FF2B5EF4-FFF2-40B4-BE49-F238E27FC236}">
                <a16:creationId xmlns:a16="http://schemas.microsoft.com/office/drawing/2014/main" id="{88FEA5B9-0BBE-40C4-AA58-17D0AE299A90}"/>
              </a:ext>
            </a:extLst>
          </p:cNvPr>
          <p:cNvSpPr>
            <a:spLocks noGrp="1"/>
          </p:cNvSpPr>
          <p:nvPr>
            <p:ph type="body" sz="quarter" idx="10"/>
          </p:nvPr>
        </p:nvSpPr>
        <p:spPr>
          <a:xfrm>
            <a:off x="1043354" y="1458156"/>
            <a:ext cx="10341272" cy="687165"/>
          </a:xfrm>
        </p:spPr>
        <p:txBody>
          <a:bodyPr anchor="ctr">
            <a:noAutofit/>
          </a:bodyPr>
          <a:lstStyle>
            <a:lvl1pPr>
              <a:defRPr sz="3200" b="0">
                <a:solidFill>
                  <a:schemeClr val="tx2"/>
                </a:solidFill>
                <a:latin typeface="Visby CF" pitchFamily="50" charset="0"/>
              </a:defRPr>
            </a:lvl1pPr>
          </a:lstStyle>
          <a:p>
            <a:pPr lvl="0"/>
            <a:r>
              <a:rPr lang="fr-FR"/>
              <a:t>Cliquez pour modifier les styles du texte du masque</a:t>
            </a:r>
          </a:p>
        </p:txBody>
      </p:sp>
      <p:sp>
        <p:nvSpPr>
          <p:cNvPr id="7" name="ZoneTexte 6">
            <a:extLst>
              <a:ext uri="{FF2B5EF4-FFF2-40B4-BE49-F238E27FC236}">
                <a16:creationId xmlns:a16="http://schemas.microsoft.com/office/drawing/2014/main" id="{EC9D6B61-1012-A9A2-4219-80E088E336A5}"/>
              </a:ext>
            </a:extLst>
          </p:cNvPr>
          <p:cNvSpPr txBox="1"/>
          <p:nvPr userDrawn="1">
            <p:custDataLst>
              <p:tags r:id="rId3"/>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rgbClr val="86D7AE"/>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185752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re turquoise">
    <p:bg>
      <p:bgPr>
        <a:solidFill>
          <a:schemeClr val="accent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04BB53-CD8C-3F9D-7025-648C03686B6F}"/>
              </a:ext>
            </a:extLst>
          </p:cNvPr>
          <p:cNvSpPr/>
          <p:nvPr userDrawn="1">
            <p:custDataLst>
              <p:tags r:id="rId1"/>
            </p:custDataLst>
          </p:nvPr>
        </p:nvSpPr>
        <p:spPr>
          <a:xfrm>
            <a:off x="2519464" y="5126475"/>
            <a:ext cx="9672536" cy="4863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71A99A2C-0E4A-B4A1-FFA8-A471A4B5A16C}"/>
              </a:ext>
            </a:extLst>
          </p:cNvPr>
          <p:cNvSpPr/>
          <p:nvPr userDrawn="1">
            <p:custDataLst>
              <p:tags r:id="rId2"/>
            </p:custDataLst>
          </p:nvPr>
        </p:nvSpPr>
        <p:spPr>
          <a:xfrm>
            <a:off x="2519464" y="5126475"/>
            <a:ext cx="486000" cy="486383"/>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re 4">
            <a:extLst>
              <a:ext uri="{FF2B5EF4-FFF2-40B4-BE49-F238E27FC236}">
                <a16:creationId xmlns:a16="http://schemas.microsoft.com/office/drawing/2014/main" id="{BA7E816B-D6C4-3809-3F57-A292D004692F}"/>
              </a:ext>
            </a:extLst>
          </p:cNvPr>
          <p:cNvSpPr>
            <a:spLocks noGrp="1"/>
          </p:cNvSpPr>
          <p:nvPr>
            <p:ph type="title"/>
          </p:nvPr>
        </p:nvSpPr>
        <p:spPr>
          <a:xfrm>
            <a:off x="1043356" y="2145322"/>
            <a:ext cx="10341272" cy="1840524"/>
          </a:xfrm>
        </p:spPr>
        <p:txBody>
          <a:bodyPr anchor="t"/>
          <a:lstStyle>
            <a:lvl1pPr>
              <a:lnSpc>
                <a:spcPct val="150000"/>
              </a:lnSpc>
              <a:defRPr kumimoji="0" lang="fr-CA" sz="3600" b="0" i="0" u="none" strike="noStrike" kern="1200" cap="none" spc="0" normalizeH="0" baseline="0">
                <a:ln>
                  <a:noFill/>
                </a:ln>
                <a:solidFill>
                  <a:schemeClr val="tx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
        <p:nvSpPr>
          <p:cNvPr id="5" name="Espace réservé du texte 7">
            <a:extLst>
              <a:ext uri="{FF2B5EF4-FFF2-40B4-BE49-F238E27FC236}">
                <a16:creationId xmlns:a16="http://schemas.microsoft.com/office/drawing/2014/main" id="{88FEA5B9-0BBE-40C4-AA58-17D0AE299A90}"/>
              </a:ext>
            </a:extLst>
          </p:cNvPr>
          <p:cNvSpPr>
            <a:spLocks noGrp="1"/>
          </p:cNvSpPr>
          <p:nvPr>
            <p:ph type="body" sz="quarter" idx="10"/>
          </p:nvPr>
        </p:nvSpPr>
        <p:spPr>
          <a:xfrm>
            <a:off x="1043354" y="1458156"/>
            <a:ext cx="10341272" cy="687165"/>
          </a:xfrm>
        </p:spPr>
        <p:txBody>
          <a:bodyPr anchor="ctr">
            <a:noAutofit/>
          </a:bodyPr>
          <a:lstStyle>
            <a:lvl1pPr>
              <a:defRPr sz="3200" b="0">
                <a:solidFill>
                  <a:schemeClr val="tx2"/>
                </a:solidFill>
                <a:latin typeface="Visby CF" pitchFamily="50" charset="0"/>
              </a:defRPr>
            </a:lvl1pPr>
          </a:lstStyle>
          <a:p>
            <a:pPr lvl="0"/>
            <a:r>
              <a:rPr lang="fr-FR"/>
              <a:t>Cliquez pour modifier les styles du texte du masque</a:t>
            </a:r>
          </a:p>
        </p:txBody>
      </p:sp>
      <p:sp>
        <p:nvSpPr>
          <p:cNvPr id="7" name="ZoneTexte 6">
            <a:extLst>
              <a:ext uri="{FF2B5EF4-FFF2-40B4-BE49-F238E27FC236}">
                <a16:creationId xmlns:a16="http://schemas.microsoft.com/office/drawing/2014/main" id="{EC9D6B61-1012-A9A2-4219-80E088E336A5}"/>
              </a:ext>
            </a:extLst>
          </p:cNvPr>
          <p:cNvSpPr txBox="1"/>
          <p:nvPr userDrawn="1">
            <p:custDataLst>
              <p:tags r:id="rId3"/>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accent6">
                    <a:lumMod val="60000"/>
                    <a:lumOff val="40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4179032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Page vide">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2443F0-DC2E-3B56-D5E8-926C32A777AE}"/>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6BF38810-CD83-4A71-7D30-7FAC17F97E61}"/>
              </a:ext>
            </a:extLst>
          </p:cNvPr>
          <p:cNvSpPr/>
          <p:nvPr userDrawn="1">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E4DDCA0-01DD-E3DC-723A-8EE932071EE2}"/>
              </a:ext>
            </a:extLst>
          </p:cNvPr>
          <p:cNvSpPr/>
          <p:nvPr userDrawn="1">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Titre 4">
            <a:extLst>
              <a:ext uri="{FF2B5EF4-FFF2-40B4-BE49-F238E27FC236}">
                <a16:creationId xmlns:a16="http://schemas.microsoft.com/office/drawing/2014/main" id="{CFC22666-9781-1D5E-6E14-F7A7F692FE82}"/>
              </a:ext>
            </a:extLst>
          </p:cNvPr>
          <p:cNvSpPr>
            <a:spLocks noGrp="1"/>
          </p:cNvSpPr>
          <p:nvPr>
            <p:ph type="title"/>
          </p:nvPr>
        </p:nvSpPr>
        <p:spPr>
          <a:xfrm>
            <a:off x="469428" y="984738"/>
            <a:ext cx="10915200" cy="1971634"/>
          </a:xfrm>
        </p:spPr>
        <p:txBody>
          <a:bodyPr/>
          <a:lstStyle>
            <a:lvl1pPr>
              <a:defRPr kumimoji="0" lang="fr-CA" sz="7200" b="0" i="0" u="none" strike="noStrike" kern="1200" cap="none" spc="0" normalizeH="0" baseline="0">
                <a:ln>
                  <a:noFill/>
                </a:ln>
                <a:solidFill>
                  <a:schemeClr val="accent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Tree>
    <p:extLst>
      <p:ext uri="{BB962C8B-B14F-4D97-AF65-F5344CB8AC3E}">
        <p14:creationId xmlns:p14="http://schemas.microsoft.com/office/powerpoint/2010/main" val="140466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92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contenu 3"/>
          <p:cNvSpPr>
            <a:spLocks noGrp="1"/>
          </p:cNvSpPr>
          <p:nvPr>
            <p:ph sz="half" idx="2"/>
          </p:nvPr>
        </p:nvSpPr>
        <p:spPr>
          <a:xfrm>
            <a:off x="6080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6" name="Titre 1">
            <a:extLst>
              <a:ext uri="{FF2B5EF4-FFF2-40B4-BE49-F238E27FC236}">
                <a16:creationId xmlns:a16="http://schemas.microsoft.com/office/drawing/2014/main" id="{5DC87F9A-0B14-5044-A85E-4048F6B5FFD3}"/>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9EF46E6C-4B7F-3C48-9C35-05A210759582}"/>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37293968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92510" y="2126743"/>
            <a:ext cx="5386917"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492510" y="2766505"/>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5" name="Espace réservé du texte 4"/>
          <p:cNvSpPr>
            <a:spLocks noGrp="1"/>
          </p:cNvSpPr>
          <p:nvPr>
            <p:ph type="body" sz="quarter" idx="3"/>
          </p:nvPr>
        </p:nvSpPr>
        <p:spPr>
          <a:xfrm>
            <a:off x="6076280" y="2126743"/>
            <a:ext cx="5389033"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076280" y="2766505"/>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774571B3-8C99-AF4B-A06D-5BCDBDA55509}"/>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6C4B472A-7EF1-4148-BA9C-E519EA28DFD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209776643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Picture 2" descr="A picture containing sitting, computer, laptop, game&#10;&#10;Description automatically generated">
            <a:extLst>
              <a:ext uri="{FF2B5EF4-FFF2-40B4-BE49-F238E27FC236}">
                <a16:creationId xmlns:a16="http://schemas.microsoft.com/office/drawing/2014/main" id="{9D41478B-8AD6-D542-8657-FAEFBD0F23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re 1">
            <a:extLst>
              <a:ext uri="{FF2B5EF4-FFF2-40B4-BE49-F238E27FC236}">
                <a16:creationId xmlns:a16="http://schemas.microsoft.com/office/drawing/2014/main" id="{D53DE90F-EE13-BE4E-8537-0BF93F44AB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6" name="Text Placeholder 14">
            <a:extLst>
              <a:ext uri="{FF2B5EF4-FFF2-40B4-BE49-F238E27FC236}">
                <a16:creationId xmlns:a16="http://schemas.microsoft.com/office/drawing/2014/main" id="{453A668A-512D-B24E-A0FF-F58D1ABCA061}"/>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D0F4BC23-4785-1690-BCC4-506746ADE516}"/>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A121AB4C-33E0-5FB1-B4E5-64FCD3F84235}"/>
              </a:ext>
            </a:extLst>
          </p:cNvPr>
          <p:cNvSpPr/>
          <p:nvPr userDrawn="1"/>
        </p:nvSpPr>
        <p:spPr>
          <a:xfrm rot="16200000">
            <a:off x="-191139" y="447401"/>
            <a:ext cx="576720" cy="194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359001136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01309" y="2126743"/>
            <a:ext cx="6796800" cy="3913531"/>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texte 3"/>
          <p:cNvSpPr>
            <a:spLocks noGrp="1"/>
          </p:cNvSpPr>
          <p:nvPr>
            <p:ph type="body" sz="half" idx="2"/>
          </p:nvPr>
        </p:nvSpPr>
        <p:spPr>
          <a:xfrm>
            <a:off x="492509" y="2126743"/>
            <a:ext cx="3984000" cy="3913531"/>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7" name="Titre 1">
            <a:extLst>
              <a:ext uri="{FF2B5EF4-FFF2-40B4-BE49-F238E27FC236}">
                <a16:creationId xmlns:a16="http://schemas.microsoft.com/office/drawing/2014/main" id="{58858A58-66D0-B848-B566-D94130F68089}"/>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4F34D983-8FC4-6B4C-A271-28E076618E5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64522689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vec sous-titr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92509" y="2791850"/>
            <a:ext cx="10905600" cy="3240717"/>
          </a:xfrm>
        </p:spPr>
        <p:txBody>
          <a:bodyPr>
            <a:normAutofit/>
          </a:bodyPr>
          <a:lstStyle>
            <a:lvl1pPr marL="0" indent="0">
              <a:buNone/>
              <a:defRPr sz="2004"/>
            </a:lvl1pPr>
            <a:lvl2pPr marL="548626" indent="0">
              <a:buNone/>
              <a:defRPr sz="3360"/>
            </a:lvl2pPr>
            <a:lvl3pPr marL="1097253" indent="0">
              <a:buNone/>
              <a:defRPr sz="2880"/>
            </a:lvl3pPr>
            <a:lvl4pPr marL="1645879" indent="0">
              <a:buNone/>
              <a:defRPr sz="2400"/>
            </a:lvl4pPr>
            <a:lvl5pPr marL="2194505" indent="0">
              <a:buNone/>
              <a:defRPr sz="2400"/>
            </a:lvl5pPr>
            <a:lvl6pPr marL="2743131" indent="0">
              <a:buNone/>
              <a:defRPr sz="2400"/>
            </a:lvl6pPr>
            <a:lvl7pPr marL="3291758" indent="0">
              <a:buNone/>
              <a:defRPr sz="2400"/>
            </a:lvl7pPr>
            <a:lvl8pPr marL="3840384" indent="0">
              <a:buNone/>
              <a:defRPr sz="2400"/>
            </a:lvl8pPr>
            <a:lvl9pPr marL="4389010" indent="0">
              <a:buNone/>
              <a:defRPr sz="2400"/>
            </a:lvl9pPr>
          </a:lstStyle>
          <a:p>
            <a:r>
              <a:rPr lang="fr-FR" noProof="0"/>
              <a:t>Cliquez sur l'icône pour ajouter une image</a:t>
            </a:r>
            <a:endParaRPr lang="fr-CA" noProof="0"/>
          </a:p>
        </p:txBody>
      </p:sp>
      <p:sp>
        <p:nvSpPr>
          <p:cNvPr id="4" name="Espace réservé du texte 3"/>
          <p:cNvSpPr>
            <a:spLocks noGrp="1"/>
          </p:cNvSpPr>
          <p:nvPr>
            <p:ph type="body" sz="half" idx="2"/>
          </p:nvPr>
        </p:nvSpPr>
        <p:spPr>
          <a:xfrm>
            <a:off x="492509" y="2135209"/>
            <a:ext cx="10905600" cy="626400"/>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6" name="Titre 1">
            <a:extLst>
              <a:ext uri="{FF2B5EF4-FFF2-40B4-BE49-F238E27FC236}">
                <a16:creationId xmlns:a16="http://schemas.microsoft.com/office/drawing/2014/main" id="{31F822D9-3DEC-3047-80E7-91FEF03ADEEA}"/>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012413CD-0402-DF4B-B461-41211EB387C5}"/>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241563514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7" name="Espace réservé du contenu 2">
            <a:extLst>
              <a:ext uri="{FF2B5EF4-FFF2-40B4-BE49-F238E27FC236}">
                <a16:creationId xmlns:a16="http://schemas.microsoft.com/office/drawing/2014/main" id="{A4852420-8753-0547-A124-EA1822DD273F}"/>
              </a:ext>
            </a:extLst>
          </p:cNvPr>
          <p:cNvSpPr>
            <a:spLocks noGrp="1"/>
          </p:cNvSpPr>
          <p:nvPr>
            <p:ph idx="1"/>
          </p:nvPr>
        </p:nvSpPr>
        <p:spPr>
          <a:xfrm>
            <a:off x="492509" y="2126743"/>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1A0E864F-8F4A-CC42-8321-8A205C5B03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0D22B6CC-C7ED-5745-BD28-3822207DE776}"/>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605132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1AD97A31-589D-5648-AA82-BCBA4A39247D}"/>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2CC07A2E-488D-9643-9E9E-69C3CB294B7B}"/>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354004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Heavy" panose="00000A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2026-05-18</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
        <p:nvSpPr>
          <p:cNvPr id="11" name="Rectangle 10">
            <a:extLst>
              <a:ext uri="{FF2B5EF4-FFF2-40B4-BE49-F238E27FC236}">
                <a16:creationId xmlns:a16="http://schemas.microsoft.com/office/drawing/2014/main" id="{5298DF1A-E6D3-486E-8E29-D212F66F4115}"/>
              </a:ext>
            </a:extLst>
          </p:cNvPr>
          <p:cNvSpPr/>
          <p:nvPr userDrawn="1"/>
        </p:nvSpPr>
        <p:spPr>
          <a:xfrm>
            <a:off x="5677786" y="5349875"/>
            <a:ext cx="6514214" cy="1508125"/>
          </a:xfrm>
          <a:prstGeom prst="rect">
            <a:avLst/>
          </a:prstGeom>
          <a:solidFill>
            <a:srgbClr val="888B8D"/>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2413926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2026-05-18</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4130842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2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2026-05-18</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8493257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3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chemeClr val="accent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2026-05-18</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0198574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6"/>
                </a:solidFill>
                <a:latin typeface="Visby Slab CF Bold" panose="00000800000000000000" pitchFamily="50" charset="0"/>
              </a:rPr>
              <a:pPr algn="ctr"/>
              <a:t>‹N°›</a:t>
            </a:fld>
            <a:endParaRPr lang="fr-CA" sz="1400">
              <a:solidFill>
                <a:schemeClr val="accent6"/>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190820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5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1587054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Tree>
    <p:extLst>
      <p:ext uri="{BB962C8B-B14F-4D97-AF65-F5344CB8AC3E}">
        <p14:creationId xmlns:p14="http://schemas.microsoft.com/office/powerpoint/2010/main" val="127065144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74383962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6"/>
          </a:solidFill>
          <a:ln>
            <a:solidFill>
              <a:schemeClr val="accent6"/>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68235892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3"/>
          </a:solidFill>
          <a:ln>
            <a:solidFill>
              <a:schemeClr val="accent3"/>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84667852"/>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548047888"/>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5"/>
          </a:solidFill>
          <a:ln>
            <a:solidFill>
              <a:schemeClr val="accent5"/>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66307779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tx2"/>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1544253944"/>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4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accent4"/>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3836966087"/>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7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7989419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554392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4144630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Visby CF" pitchFamily="50" charset="0"/>
              </a:rPr>
              <a:pPr algn="ctr"/>
              <a:t>‹N°›</a:t>
            </a:fld>
            <a:endParaRPr lang="fr-CA" sz="1200">
              <a:solidFill>
                <a:srgbClr val="003C71"/>
              </a:solidFill>
              <a:latin typeface="Visby CF" pitchFamily="50" charset="0"/>
            </a:endParaRPr>
          </a:p>
        </p:txBody>
      </p:sp>
      <p:sp>
        <p:nvSpPr>
          <p:cNvPr id="7" name="Rectangle 6">
            <a:extLst>
              <a:ext uri="{FF2B5EF4-FFF2-40B4-BE49-F238E27FC236}">
                <a16:creationId xmlns:a16="http://schemas.microsoft.com/office/drawing/2014/main" id="{C659D36B-EA26-D450-5622-4C9069AAC298}"/>
              </a:ext>
            </a:extLst>
          </p:cNvPr>
          <p:cNvSpPr/>
          <p:nvPr userDrawn="1"/>
        </p:nvSpPr>
        <p:spPr>
          <a:xfrm rot="5400000">
            <a:off x="10462333" y="511954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B4BBD810-0277-793C-EA97-93FAC7EB8040}"/>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634475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31878594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4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2026-05-18</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383031" y="6061296"/>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0899211" y="6455575"/>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38998894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EBDD9D57-9370-83B4-9116-276A686DC0E2}"/>
              </a:ext>
            </a:extLst>
          </p:cNvPr>
          <p:cNvGrpSpPr/>
          <p:nvPr userDrawn="1"/>
        </p:nvGrpSpPr>
        <p:grpSpPr>
          <a:xfrm>
            <a:off x="831850" y="3686829"/>
            <a:ext cx="10521950" cy="900001"/>
            <a:chOff x="831850" y="3686829"/>
            <a:chExt cx="10521950"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5642825" y="-1124146"/>
              <a:ext cx="900000" cy="1052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3686830"/>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p:ph type="title"/>
          </p:nvPr>
        </p:nvSpPr>
        <p:spPr>
          <a:xfrm>
            <a:off x="1734502" y="1709738"/>
            <a:ext cx="9612948" cy="2852737"/>
          </a:xfrm>
          <a:prstGeom prst="rect">
            <a:avLst/>
          </a:prstGeom>
        </p:spPr>
        <p:txBody>
          <a:bodyPr anchor="b">
            <a:normAutofit/>
          </a:bodyPr>
          <a:lstStyle>
            <a:lvl1pPr>
              <a:defRPr sz="4800">
                <a:solidFill>
                  <a:schemeClr val="bg1"/>
                </a:solidFill>
                <a:latin typeface="Visby CF"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p:ph type="dt" sz="half" idx="10"/>
          </p:nvPr>
        </p:nvSpPr>
        <p:spPr/>
        <p:txBody>
          <a:bodyPr/>
          <a:lstStyle/>
          <a:p>
            <a:fld id="{C3FA3F56-1CBF-4B71-BCF0-9D49C229BC9E}" type="datetime1">
              <a:rPr lang="fr-CA" smtClean="0"/>
              <a:t>2026-05-18</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15286219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1_Titre de section">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E322D8C5-A4B1-D227-6B9A-DD26950FB037}"/>
              </a:ext>
            </a:extLst>
          </p:cNvPr>
          <p:cNvGrpSpPr/>
          <p:nvPr userDrawn="1"/>
        </p:nvGrpSpPr>
        <p:grpSpPr>
          <a:xfrm>
            <a:off x="831850" y="2410691"/>
            <a:ext cx="7478137" cy="900001"/>
            <a:chOff x="831850" y="2410691"/>
            <a:chExt cx="7478137"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4120919" y="-878378"/>
              <a:ext cx="900000" cy="747813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2410692"/>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userDrawn="1">
            <p:ph type="title" hasCustomPrompt="1"/>
          </p:nvPr>
        </p:nvSpPr>
        <p:spPr>
          <a:xfrm>
            <a:off x="1734502" y="433600"/>
            <a:ext cx="6575485" cy="2852737"/>
          </a:xfrm>
          <a:prstGeom prst="rect">
            <a:avLst/>
          </a:prstGeom>
        </p:spPr>
        <p:txBody>
          <a:bodyPr anchor="b">
            <a:normAutofit/>
          </a:bodyPr>
          <a:lstStyle>
            <a:lvl1pPr marL="180975" indent="0">
              <a:defRPr sz="4800">
                <a:solidFill>
                  <a:schemeClr val="bg1"/>
                </a:solidFill>
                <a:latin typeface="Visby CF" pitchFamily="50" charset="0"/>
              </a:defRPr>
            </a:lvl1pPr>
          </a:lstStyle>
          <a:p>
            <a:r>
              <a:rPr lang="fr-FR"/>
              <a:t>Modifiezle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userDrawn="1">
            <p:ph type="body" idx="1"/>
          </p:nvPr>
        </p:nvSpPr>
        <p:spPr>
          <a:xfrm>
            <a:off x="831850" y="3313325"/>
            <a:ext cx="7478137" cy="2775976"/>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userDrawn="1">
            <p:ph type="dt" sz="half" idx="10"/>
          </p:nvPr>
        </p:nvSpPr>
        <p:spPr/>
        <p:txBody>
          <a:bodyPr/>
          <a:lstStyle/>
          <a:p>
            <a:fld id="{C3FA3F56-1CBF-4B71-BCF0-9D49C229BC9E}" type="datetime1">
              <a:rPr lang="fr-CA" smtClean="0"/>
              <a:t>2026-05-18</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userDrawn="1">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userDrawn="1">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21568194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8671340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891014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E47C7D-ED3A-4278-A72A-48345246A3BD}"/>
              </a:ext>
            </a:extLst>
          </p:cNvPr>
          <p:cNvSpPr>
            <a:spLocks noGrp="1"/>
          </p:cNvSpPr>
          <p:nvPr>
            <p:ph type="title"/>
          </p:nvPr>
        </p:nvSpPr>
        <p:spPr>
          <a:xfrm>
            <a:off x="839788"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60E886C2-319B-46B8-AEEA-C66D91E93C90}"/>
              </a:ext>
            </a:extLst>
          </p:cNvPr>
          <p:cNvSpPr>
            <a:spLocks noGrp="1"/>
          </p:cNvSpPr>
          <p:nvPr>
            <p:ph type="body" idx="1"/>
          </p:nvPr>
        </p:nvSpPr>
        <p:spPr>
          <a:xfrm>
            <a:off x="839788" y="1857375"/>
            <a:ext cx="5157787"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9913E5C-7FCE-4545-9F38-F46AC53B5A95}"/>
              </a:ext>
            </a:extLst>
          </p:cNvPr>
          <p:cNvSpPr>
            <a:spLocks noGrp="1"/>
          </p:cNvSpPr>
          <p:nvPr>
            <p:ph sz="half" idx="2"/>
          </p:nvPr>
        </p:nvSpPr>
        <p:spPr>
          <a:xfrm>
            <a:off x="839788" y="2505075"/>
            <a:ext cx="5157787"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D37AAED7-E9B6-48F2-A2E0-FEC8023F8903}"/>
              </a:ext>
            </a:extLst>
          </p:cNvPr>
          <p:cNvSpPr>
            <a:spLocks noGrp="1"/>
          </p:cNvSpPr>
          <p:nvPr>
            <p:ph type="body" sz="quarter" idx="3"/>
          </p:nvPr>
        </p:nvSpPr>
        <p:spPr>
          <a:xfrm>
            <a:off x="6172200" y="1857375"/>
            <a:ext cx="5183188"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ADA2E83-D189-4767-ADCE-540349D0EFFB}"/>
              </a:ext>
            </a:extLst>
          </p:cNvPr>
          <p:cNvSpPr>
            <a:spLocks noGrp="1"/>
          </p:cNvSpPr>
          <p:nvPr>
            <p:ph sz="quarter" idx="4"/>
          </p:nvPr>
        </p:nvSpPr>
        <p:spPr>
          <a:xfrm>
            <a:off x="6172200" y="2505075"/>
            <a:ext cx="5183188"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75C8475E-69CC-4760-BC4D-744440FA2650}"/>
              </a:ext>
            </a:extLst>
          </p:cNvPr>
          <p:cNvSpPr>
            <a:spLocks noGrp="1"/>
          </p:cNvSpPr>
          <p:nvPr>
            <p:ph type="dt" sz="half" idx="10"/>
          </p:nvPr>
        </p:nvSpPr>
        <p:spPr/>
        <p:txBody>
          <a:bodyPr/>
          <a:lstStyle/>
          <a:p>
            <a:fld id="{8729ED92-C0A7-4E10-8DD3-6743B6F44C7B}" type="datetime1">
              <a:rPr lang="fr-CA" smtClean="0"/>
              <a:t>2026-05-18</a:t>
            </a:fld>
            <a:endParaRPr lang="fr-CA"/>
          </a:p>
        </p:txBody>
      </p:sp>
      <p:sp>
        <p:nvSpPr>
          <p:cNvPr id="8" name="Espace réservé du pied de page 7">
            <a:extLst>
              <a:ext uri="{FF2B5EF4-FFF2-40B4-BE49-F238E27FC236}">
                <a16:creationId xmlns:a16="http://schemas.microsoft.com/office/drawing/2014/main" id="{68F30160-070B-4EFD-9E9E-BC0F83F6A72C}"/>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2F012686-7446-4AAB-A356-87A58A8AB069}"/>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11" name="Image 10">
            <a:extLst>
              <a:ext uri="{FF2B5EF4-FFF2-40B4-BE49-F238E27FC236}">
                <a16:creationId xmlns:a16="http://schemas.microsoft.com/office/drawing/2014/main" id="{EED67E66-1270-42BB-90A8-FC65102E805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grpSp>
        <p:nvGrpSpPr>
          <p:cNvPr id="13" name="Groupe 12">
            <a:extLst>
              <a:ext uri="{FF2B5EF4-FFF2-40B4-BE49-F238E27FC236}">
                <a16:creationId xmlns:a16="http://schemas.microsoft.com/office/drawing/2014/main" id="{3AC88339-9552-A25D-2921-A87AA4DFDD4B}"/>
              </a:ext>
            </a:extLst>
          </p:cNvPr>
          <p:cNvGrpSpPr/>
          <p:nvPr userDrawn="1"/>
        </p:nvGrpSpPr>
        <p:grpSpPr>
          <a:xfrm>
            <a:off x="838200" y="1709553"/>
            <a:ext cx="10533184" cy="108000"/>
            <a:chOff x="838200" y="1709553"/>
            <a:chExt cx="10533184" cy="108000"/>
          </a:xfrm>
        </p:grpSpPr>
        <p:sp>
          <p:nvSpPr>
            <p:cNvPr id="14" name="Rectangle 13">
              <a:extLst>
                <a:ext uri="{FF2B5EF4-FFF2-40B4-BE49-F238E27FC236}">
                  <a16:creationId xmlns:a16="http://schemas.microsoft.com/office/drawing/2014/main" id="{F0CF4B4C-BFD0-8C2A-2386-F412098246A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22B810E8-6C17-FB8B-D457-5256556C269D}"/>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6" name="Espace réservé du numéro de diapositive 5">
            <a:extLst>
              <a:ext uri="{FF2B5EF4-FFF2-40B4-BE49-F238E27FC236}">
                <a16:creationId xmlns:a16="http://schemas.microsoft.com/office/drawing/2014/main" id="{5D05A552-4479-6999-0E35-5C8EE1CCB186}"/>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38880261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54DEB8-4F5E-4AAE-A758-E30BDC47F471}"/>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e la date 2">
            <a:extLst>
              <a:ext uri="{FF2B5EF4-FFF2-40B4-BE49-F238E27FC236}">
                <a16:creationId xmlns:a16="http://schemas.microsoft.com/office/drawing/2014/main" id="{EA14BE86-3DA4-4ACC-9F51-02FE94A7B474}"/>
              </a:ext>
            </a:extLst>
          </p:cNvPr>
          <p:cNvSpPr>
            <a:spLocks noGrp="1"/>
          </p:cNvSpPr>
          <p:nvPr>
            <p:ph type="dt" sz="half" idx="10"/>
          </p:nvPr>
        </p:nvSpPr>
        <p:spPr/>
        <p:txBody>
          <a:bodyPr/>
          <a:lstStyle/>
          <a:p>
            <a:fld id="{3771101E-C5D6-48CB-B6D1-4E1641070EEB}" type="datetime1">
              <a:rPr lang="fr-CA" smtClean="0"/>
              <a:t>2026-05-18</a:t>
            </a:fld>
            <a:endParaRPr lang="fr-CA"/>
          </a:p>
        </p:txBody>
      </p:sp>
      <p:sp>
        <p:nvSpPr>
          <p:cNvPr id="4" name="Espace réservé du pied de page 3">
            <a:extLst>
              <a:ext uri="{FF2B5EF4-FFF2-40B4-BE49-F238E27FC236}">
                <a16:creationId xmlns:a16="http://schemas.microsoft.com/office/drawing/2014/main" id="{57E88ACB-9530-4D5B-BB1B-4CA0A7E92CC4}"/>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8775DFD6-489D-42B5-9D6F-592A6E5D9E9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6" name="Rectangle 5">
            <a:extLst>
              <a:ext uri="{FF2B5EF4-FFF2-40B4-BE49-F238E27FC236}">
                <a16:creationId xmlns:a16="http://schemas.microsoft.com/office/drawing/2014/main" id="{F9C9CBCD-40E8-4EE8-B41F-8CB8DDB16B8C}"/>
              </a:ext>
            </a:extLst>
          </p:cNvPr>
          <p:cNvSpPr/>
          <p:nvPr userDrawn="1"/>
        </p:nvSpPr>
        <p:spPr>
          <a:xfrm>
            <a:off x="8527312" y="6517758"/>
            <a:ext cx="3664688" cy="340242"/>
          </a:xfrm>
          <a:prstGeom prst="rect">
            <a:avLst/>
          </a:prstGeom>
          <a:solidFill>
            <a:srgbClr val="888B8D"/>
          </a:solidFill>
          <a:ln>
            <a:solidFill>
              <a:srgbClr val="888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7" name="Image 6">
            <a:extLst>
              <a:ext uri="{FF2B5EF4-FFF2-40B4-BE49-F238E27FC236}">
                <a16:creationId xmlns:a16="http://schemas.microsoft.com/office/drawing/2014/main" id="{6A7B8A08-0129-4753-B49F-46CD5D78F6EF}"/>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8" name="Espace réservé du numéro de diapositive 5">
            <a:extLst>
              <a:ext uri="{FF2B5EF4-FFF2-40B4-BE49-F238E27FC236}">
                <a16:creationId xmlns:a16="http://schemas.microsoft.com/office/drawing/2014/main" id="{DAA6D7D7-2752-44C8-B867-BB292699DEE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chemeClr val="tx2"/>
                </a:solidFill>
                <a:latin typeface="Visby CF" pitchFamily="50" charset="0"/>
              </a:rPr>
              <a:pPr algn="ctr"/>
              <a:t>‹N°›</a:t>
            </a:fld>
            <a:endParaRPr lang="fr-CA" sz="1200">
              <a:solidFill>
                <a:schemeClr val="tx2"/>
              </a:solidFill>
              <a:latin typeface="Visby CF" pitchFamily="50" charset="0"/>
            </a:endParaRPr>
          </a:p>
        </p:txBody>
      </p:sp>
      <p:grpSp>
        <p:nvGrpSpPr>
          <p:cNvPr id="9" name="Groupe 8">
            <a:extLst>
              <a:ext uri="{FF2B5EF4-FFF2-40B4-BE49-F238E27FC236}">
                <a16:creationId xmlns:a16="http://schemas.microsoft.com/office/drawing/2014/main" id="{224B0C09-CC67-AFAA-5567-2D88140A4C21}"/>
              </a:ext>
            </a:extLst>
          </p:cNvPr>
          <p:cNvGrpSpPr/>
          <p:nvPr userDrawn="1"/>
        </p:nvGrpSpPr>
        <p:grpSpPr>
          <a:xfrm>
            <a:off x="838200" y="1709553"/>
            <a:ext cx="10533184" cy="108000"/>
            <a:chOff x="838200" y="1709553"/>
            <a:chExt cx="10533184" cy="108000"/>
          </a:xfrm>
        </p:grpSpPr>
        <p:sp>
          <p:nvSpPr>
            <p:cNvPr id="10" name="Rectangle 9">
              <a:extLst>
                <a:ext uri="{FF2B5EF4-FFF2-40B4-BE49-F238E27FC236}">
                  <a16:creationId xmlns:a16="http://schemas.microsoft.com/office/drawing/2014/main" id="{FA474C50-6FC7-1299-7A01-369B3B568D8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C0B80BA3-3EC3-7880-F6B1-940ABD8A8019}"/>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24398327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Vide">
    <p:bg>
      <p:bgRef idx="1001">
        <a:schemeClr val="bg1"/>
      </p:bgRef>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BB2C9CB-2066-4279-A68C-D7E978D806BE}"/>
              </a:ext>
            </a:extLst>
          </p:cNvPr>
          <p:cNvSpPr>
            <a:spLocks noGrp="1"/>
          </p:cNvSpPr>
          <p:nvPr>
            <p:ph type="dt" sz="half" idx="10"/>
          </p:nvPr>
        </p:nvSpPr>
        <p:spPr/>
        <p:txBody>
          <a:bodyPr/>
          <a:lstStyle/>
          <a:p>
            <a:fld id="{A41D5BF6-20CC-48B5-A010-8238257C1994}" type="datetime1">
              <a:rPr lang="fr-CA" smtClean="0"/>
              <a:t>2026-05-18</a:t>
            </a:fld>
            <a:endParaRPr lang="fr-CA"/>
          </a:p>
        </p:txBody>
      </p:sp>
      <p:sp>
        <p:nvSpPr>
          <p:cNvPr id="3" name="Espace réservé du pied de page 2">
            <a:extLst>
              <a:ext uri="{FF2B5EF4-FFF2-40B4-BE49-F238E27FC236}">
                <a16:creationId xmlns:a16="http://schemas.microsoft.com/office/drawing/2014/main" id="{801F4E27-6958-4070-AA66-9A182D7988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D2A506C-C42C-491E-9BF5-093EF3AC5B6D}"/>
              </a:ext>
            </a:extLst>
          </p:cNvPr>
          <p:cNvSpPr>
            <a:spLocks noGrp="1"/>
          </p:cNvSpPr>
          <p:nvPr>
            <p:ph type="sldNum" sz="quarter" idx="12"/>
          </p:nvPr>
        </p:nvSpPr>
        <p:spPr/>
        <p:txBody>
          <a:bodyPr/>
          <a:lstStyle/>
          <a:p>
            <a:fld id="{4162AF1F-2696-4F34-A7F3-E326E3C5B51E}" type="slidenum">
              <a:rPr lang="fr-CA" smtClean="0"/>
              <a:t>‹N°›</a:t>
            </a:fld>
            <a:endParaRPr lang="fr-CA"/>
          </a:p>
        </p:txBody>
      </p:sp>
    </p:spTree>
    <p:extLst>
      <p:ext uri="{BB962C8B-B14F-4D97-AF65-F5344CB8AC3E}">
        <p14:creationId xmlns:p14="http://schemas.microsoft.com/office/powerpoint/2010/main" val="237171812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F51677-42BF-4FC2-8CE3-7E864674DBC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918D88F3-8BDC-4C17-8D4A-8F4C884C41A1}"/>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01E9FF7B-CFD3-4931-97F0-F095DB122E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DC5A066-9CAF-4775-A347-FFE32DA2A5B4}"/>
              </a:ext>
            </a:extLst>
          </p:cNvPr>
          <p:cNvSpPr>
            <a:spLocks noGrp="1"/>
          </p:cNvSpPr>
          <p:nvPr>
            <p:ph type="dt" sz="half" idx="10"/>
          </p:nvPr>
        </p:nvSpPr>
        <p:spPr/>
        <p:txBody>
          <a:bodyPr/>
          <a:lstStyle/>
          <a:p>
            <a:fld id="{022B9842-C8FA-4217-AC08-028192B15B24}" type="datetime1">
              <a:rPr lang="fr-CA" smtClean="0"/>
              <a:t>2026-05-18</a:t>
            </a:fld>
            <a:endParaRPr lang="fr-CA"/>
          </a:p>
        </p:txBody>
      </p:sp>
      <p:sp>
        <p:nvSpPr>
          <p:cNvPr id="6" name="Espace réservé du pied de page 5">
            <a:extLst>
              <a:ext uri="{FF2B5EF4-FFF2-40B4-BE49-F238E27FC236}">
                <a16:creationId xmlns:a16="http://schemas.microsoft.com/office/drawing/2014/main" id="{BC62906C-320F-4B5D-9C84-4F2B8ACBF8E0}"/>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BA4ADDC-7251-4089-BAF1-3A0B93DD70F3}"/>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4B4DDD5A-DEA7-4CD1-8D7A-AF3A6B240B1C}"/>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AD89B3DA-2FAE-490D-A4FC-F4E4E1FC589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54C9F896-D6A0-4997-A045-99EB2D4FA30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286802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9ECDF-A604-443E-8A4F-EA05FFF6F8D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E346E8B3-AC30-4A96-91CA-2F9478047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A9FEFE5B-5101-4D36-9F68-ECDECB2D2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77E3281-5E78-4495-93B6-1C292584C287}"/>
              </a:ext>
            </a:extLst>
          </p:cNvPr>
          <p:cNvSpPr>
            <a:spLocks noGrp="1"/>
          </p:cNvSpPr>
          <p:nvPr>
            <p:ph type="dt" sz="half" idx="10"/>
          </p:nvPr>
        </p:nvSpPr>
        <p:spPr/>
        <p:txBody>
          <a:bodyPr/>
          <a:lstStyle/>
          <a:p>
            <a:fld id="{4E2CB3C4-D721-4A49-A7A3-5AED191ECCD4}" type="datetime1">
              <a:rPr lang="fr-CA" smtClean="0"/>
              <a:t>2026-05-18</a:t>
            </a:fld>
            <a:endParaRPr lang="fr-CA"/>
          </a:p>
        </p:txBody>
      </p:sp>
      <p:sp>
        <p:nvSpPr>
          <p:cNvPr id="6" name="Espace réservé du pied de page 5">
            <a:extLst>
              <a:ext uri="{FF2B5EF4-FFF2-40B4-BE49-F238E27FC236}">
                <a16:creationId xmlns:a16="http://schemas.microsoft.com/office/drawing/2014/main" id="{E16C1F57-F6DF-4568-B538-E0786700404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456E195-F0F6-4CCC-AF5E-D024B7D3D758}"/>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656C7529-1657-4E25-B7AA-C3903B6AE45F}"/>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C01413F5-9437-488A-B736-A631EF2529A1}"/>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C5FB3474-7D12-4CF4-9943-98EE47AE6F85}"/>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6076916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406E-95F4-499A-BBE9-B9D97B562C93}"/>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0A157FC-67D7-4281-A18E-62948D66A19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4DBF626-1B08-4CB3-8602-7F9E2514A0EC}"/>
              </a:ext>
            </a:extLst>
          </p:cNvPr>
          <p:cNvSpPr>
            <a:spLocks noGrp="1"/>
          </p:cNvSpPr>
          <p:nvPr>
            <p:ph type="dt" sz="half" idx="10"/>
          </p:nvPr>
        </p:nvSpPr>
        <p:spPr/>
        <p:txBody>
          <a:bodyPr/>
          <a:lstStyle/>
          <a:p>
            <a:fld id="{A1068845-574F-4A39-9217-7572E8838CEC}" type="datetime1">
              <a:rPr lang="fr-CA" smtClean="0"/>
              <a:t>2026-05-18</a:t>
            </a:fld>
            <a:endParaRPr lang="fr-CA"/>
          </a:p>
        </p:txBody>
      </p:sp>
      <p:sp>
        <p:nvSpPr>
          <p:cNvPr id="5" name="Espace réservé du pied de page 4">
            <a:extLst>
              <a:ext uri="{FF2B5EF4-FFF2-40B4-BE49-F238E27FC236}">
                <a16:creationId xmlns:a16="http://schemas.microsoft.com/office/drawing/2014/main" id="{EB14F398-5C2F-49BD-8C4D-1D9D1EFD2A4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5D41BFF-3D7A-4FDC-A6A5-3948EE9DD4B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19615985-F4BD-4105-A719-4A8F90123318}"/>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D810BD40-0F11-40A6-ADA5-84CA00EBD8F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C05E0136-25C9-41F6-987D-BA6FA2D7937D}"/>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6400426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1446C12-A80C-412A-9A11-679AF22FF059}"/>
              </a:ext>
            </a:extLst>
          </p:cNvPr>
          <p:cNvSpPr>
            <a:spLocks noGrp="1"/>
          </p:cNvSpPr>
          <p:nvPr>
            <p:ph type="title" orient="vert"/>
          </p:nvPr>
        </p:nvSpPr>
        <p:spPr>
          <a:xfrm>
            <a:off x="8724900" y="365125"/>
            <a:ext cx="2628900" cy="5811838"/>
          </a:xfrm>
          <a:prstGeom prst="rect">
            <a:avLst/>
          </a:prstGeom>
        </p:spPr>
        <p:txBody>
          <a:bodyPr vert="eaVert"/>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AD9A4679-A280-4B03-8A9F-E7D006F2D03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6596C72D-9CBF-4C48-B563-BC7D243ED56D}"/>
              </a:ext>
            </a:extLst>
          </p:cNvPr>
          <p:cNvSpPr>
            <a:spLocks noGrp="1"/>
          </p:cNvSpPr>
          <p:nvPr>
            <p:ph type="dt" sz="half" idx="10"/>
          </p:nvPr>
        </p:nvSpPr>
        <p:spPr/>
        <p:txBody>
          <a:bodyPr/>
          <a:lstStyle/>
          <a:p>
            <a:fld id="{09CBC5B7-CE7D-4A09-B93C-4EBB0CFF1E76}" type="datetime1">
              <a:rPr lang="fr-CA" smtClean="0"/>
              <a:t>2026-05-18</a:t>
            </a:fld>
            <a:endParaRPr lang="fr-CA"/>
          </a:p>
        </p:txBody>
      </p:sp>
      <p:sp>
        <p:nvSpPr>
          <p:cNvPr id="5" name="Espace réservé du pied de page 4">
            <a:extLst>
              <a:ext uri="{FF2B5EF4-FFF2-40B4-BE49-F238E27FC236}">
                <a16:creationId xmlns:a16="http://schemas.microsoft.com/office/drawing/2014/main" id="{480006D5-634E-4D99-A352-36C3A9A136C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7F633BE9-F50C-4F57-BAA6-3D8F730A69C7}"/>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D3C6842D-D75C-4675-BF79-E7AB15B5E720}"/>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FF97A3BA-7BFA-4CF2-BD72-D8589B5C6468}"/>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7C0059E3-14CD-433D-978F-883A1558973F}"/>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349708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32" Type="http://schemas.openxmlformats.org/officeDocument/2006/relationships/theme" Target="../theme/theme2.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slideLayout" Target="../slideLayouts/slideLayout48.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noFill/>
        </p:spPr>
        <p:txBody>
          <a:bodyPr vert="horz" lIns="91440" tIns="45720" rIns="91440" bIns="45720" rtlCol="0" anchor="ctr">
            <a:noAutofit/>
          </a:bodyPr>
          <a:lstStyle/>
          <a:p>
            <a:r>
              <a:rPr lang="fr-CA" noProof="0"/>
              <a:t>Cliquez pour modifier le style du titre</a:t>
            </a:r>
          </a:p>
        </p:txBody>
      </p:sp>
      <p:sp>
        <p:nvSpPr>
          <p:cNvPr id="3" name="Espace réservé du texte 2"/>
          <p:cNvSpPr>
            <a:spLocks noGrp="1"/>
          </p:cNvSpPr>
          <p:nvPr>
            <p:ph type="body" idx="1"/>
          </p:nvPr>
        </p:nvSpPr>
        <p:spPr>
          <a:xfrm>
            <a:off x="638400" y="1821452"/>
            <a:ext cx="10915200" cy="3897357"/>
          </a:xfrm>
          <a:prstGeom prst="rect">
            <a:avLst/>
          </a:prstGeom>
        </p:spPr>
        <p:txBody>
          <a:bodyPr vert="horz" lIns="91440" tIns="45720" rIns="91440" bIns="45720" rtlCol="0">
            <a:norm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Tree>
    <p:extLst>
      <p:ext uri="{BB962C8B-B14F-4D97-AF65-F5344CB8AC3E}">
        <p14:creationId xmlns:p14="http://schemas.microsoft.com/office/powerpoint/2010/main" val="1264719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743" r:id="rId6"/>
    <p:sldLayoutId id="2147483747" r:id="rId7"/>
    <p:sldLayoutId id="2147483666" r:id="rId8"/>
    <p:sldLayoutId id="2147483746" r:id="rId9"/>
    <p:sldLayoutId id="2147483742" r:id="rId10"/>
    <p:sldLayoutId id="2147483667" r:id="rId11"/>
    <p:sldLayoutId id="2147483668" r:id="rId12"/>
    <p:sldLayoutId id="2147483669" r:id="rId13"/>
    <p:sldLayoutId id="2147483670" r:id="rId14"/>
    <p:sldLayoutId id="2147483671" r:id="rId15"/>
    <p:sldLayoutId id="2147483672" r:id="rId16"/>
    <p:sldLayoutId id="2147483673" r:id="rId17"/>
  </p:sldLayoutIdLst>
  <p:hf hdr="0" ftr="0" dt="0"/>
  <p:txStyles>
    <p:titleStyle>
      <a:lvl1pPr algn="l" defTabSz="1097253" rtl="0" eaLnBrk="1" latinLnBrk="0" hangingPunct="1">
        <a:spcBef>
          <a:spcPct val="0"/>
        </a:spcBef>
        <a:buNone/>
        <a:defRPr sz="3120" b="1" i="0" kern="1200">
          <a:solidFill>
            <a:schemeClr val="accent2"/>
          </a:solidFill>
          <a:latin typeface="Visby Slab CF Demi Bold" pitchFamily="2" charset="77"/>
          <a:ea typeface="+mj-ea"/>
          <a:cs typeface="+mj-cs"/>
        </a:defRPr>
      </a:lvl1pPr>
    </p:titleStyle>
    <p:bodyStyle>
      <a:lvl1pPr marL="0" indent="0" algn="l" defTabSz="1097253" rtl="0" eaLnBrk="1" latinLnBrk="0" hangingPunct="1">
        <a:spcBef>
          <a:spcPct val="20000"/>
        </a:spcBef>
        <a:buClr>
          <a:schemeClr val="accent2"/>
        </a:buClr>
        <a:buSzPct val="125000"/>
        <a:buFont typeface="Arial" pitchFamily="34" charset="0"/>
        <a:buNone/>
        <a:defRPr sz="2004" b="0" i="0" kern="1200">
          <a:solidFill>
            <a:schemeClr val="tx1"/>
          </a:solidFill>
          <a:latin typeface="Visby CF" pitchFamily="2" charset="77"/>
          <a:ea typeface="+mn-ea"/>
          <a:cs typeface="+mn-cs"/>
        </a:defRPr>
      </a:lvl1pPr>
      <a:lvl2pPr marL="544306"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2pPr>
      <a:lvl3pPr marL="902857"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3pPr>
      <a:lvl4pPr marL="1257089"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4pPr>
      <a:lvl5pPr marL="1615640"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5pPr>
      <a:lvl6pPr marL="3017445"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71"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53" rtl="0" eaLnBrk="1" latinLnBrk="0" hangingPunct="1">
        <a:defRPr sz="2160" kern="1200">
          <a:solidFill>
            <a:schemeClr val="tx1"/>
          </a:solidFill>
          <a:latin typeface="+mn-lt"/>
          <a:ea typeface="+mn-ea"/>
          <a:cs typeface="+mn-cs"/>
        </a:defRPr>
      </a:lvl1pPr>
      <a:lvl2pPr marL="548626" algn="l" defTabSz="1097253" rtl="0" eaLnBrk="1" latinLnBrk="0" hangingPunct="1">
        <a:defRPr sz="2160" kern="1200">
          <a:solidFill>
            <a:schemeClr val="tx1"/>
          </a:solidFill>
          <a:latin typeface="+mn-lt"/>
          <a:ea typeface="+mn-ea"/>
          <a:cs typeface="+mn-cs"/>
        </a:defRPr>
      </a:lvl2pPr>
      <a:lvl3pPr marL="1097253" algn="l" defTabSz="1097253" rtl="0" eaLnBrk="1" latinLnBrk="0" hangingPunct="1">
        <a:defRPr sz="2160" kern="1200">
          <a:solidFill>
            <a:schemeClr val="tx1"/>
          </a:solidFill>
          <a:latin typeface="+mn-lt"/>
          <a:ea typeface="+mn-ea"/>
          <a:cs typeface="+mn-cs"/>
        </a:defRPr>
      </a:lvl3pPr>
      <a:lvl4pPr marL="1645879" algn="l" defTabSz="1097253" rtl="0" eaLnBrk="1" latinLnBrk="0" hangingPunct="1">
        <a:defRPr sz="2160" kern="1200">
          <a:solidFill>
            <a:schemeClr val="tx1"/>
          </a:solidFill>
          <a:latin typeface="+mn-lt"/>
          <a:ea typeface="+mn-ea"/>
          <a:cs typeface="+mn-cs"/>
        </a:defRPr>
      </a:lvl4pPr>
      <a:lvl5pPr marL="2194505" algn="l" defTabSz="1097253" rtl="0" eaLnBrk="1" latinLnBrk="0" hangingPunct="1">
        <a:defRPr sz="2160" kern="1200">
          <a:solidFill>
            <a:schemeClr val="tx1"/>
          </a:solidFill>
          <a:latin typeface="+mn-lt"/>
          <a:ea typeface="+mn-ea"/>
          <a:cs typeface="+mn-cs"/>
        </a:defRPr>
      </a:lvl5pPr>
      <a:lvl6pPr marL="2743131" algn="l" defTabSz="1097253" rtl="0" eaLnBrk="1" latinLnBrk="0" hangingPunct="1">
        <a:defRPr sz="2160" kern="1200">
          <a:solidFill>
            <a:schemeClr val="tx1"/>
          </a:solidFill>
          <a:latin typeface="+mn-lt"/>
          <a:ea typeface="+mn-ea"/>
          <a:cs typeface="+mn-cs"/>
        </a:defRPr>
      </a:lvl6pPr>
      <a:lvl7pPr marL="3291758" algn="l" defTabSz="1097253" rtl="0" eaLnBrk="1" latinLnBrk="0" hangingPunct="1">
        <a:defRPr sz="2160" kern="1200">
          <a:solidFill>
            <a:schemeClr val="tx1"/>
          </a:solidFill>
          <a:latin typeface="+mn-lt"/>
          <a:ea typeface="+mn-ea"/>
          <a:cs typeface="+mn-cs"/>
        </a:defRPr>
      </a:lvl7pPr>
      <a:lvl8pPr marL="3840384" algn="l" defTabSz="1097253" rtl="0" eaLnBrk="1" latinLnBrk="0" hangingPunct="1">
        <a:defRPr sz="2160" kern="1200">
          <a:solidFill>
            <a:schemeClr val="tx1"/>
          </a:solidFill>
          <a:latin typeface="+mn-lt"/>
          <a:ea typeface="+mn-ea"/>
          <a:cs typeface="+mn-cs"/>
        </a:defRPr>
      </a:lvl8pPr>
      <a:lvl9pPr marL="4389010" algn="l" defTabSz="1097253"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33FE462-E973-4630-85F5-AD42936CE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D377AAD-50B2-4339-8EAF-D393C19B01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tint val="75000"/>
                  </a:schemeClr>
                </a:solidFill>
                <a:latin typeface="Visby CF Light" pitchFamily="50" charset="0"/>
              </a:defRPr>
            </a:lvl1pPr>
          </a:lstStyle>
          <a:p>
            <a:fld id="{654C6E13-401B-4F3B-802C-5626CA646EED}" type="datetime1">
              <a:rPr lang="fr-CA" smtClean="0"/>
              <a:pPr/>
              <a:t>2026-05-18</a:t>
            </a:fld>
            <a:endParaRPr lang="fr-CA"/>
          </a:p>
        </p:txBody>
      </p:sp>
      <p:sp>
        <p:nvSpPr>
          <p:cNvPr id="5" name="Espace réservé du pied de page 4">
            <a:extLst>
              <a:ext uri="{FF2B5EF4-FFF2-40B4-BE49-F238E27FC236}">
                <a16:creationId xmlns:a16="http://schemas.microsoft.com/office/drawing/2014/main" id="{63DCBB9F-2F1C-41F3-B42D-E004B4DDBB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Visby CF Light" pitchFamily="50" charset="0"/>
              </a:defRPr>
            </a:lvl1pPr>
          </a:lstStyle>
          <a:p>
            <a:endParaRPr lang="fr-CA"/>
          </a:p>
        </p:txBody>
      </p:sp>
      <p:sp>
        <p:nvSpPr>
          <p:cNvPr id="6" name="Espace réservé du numéro de diapositive 5">
            <a:extLst>
              <a:ext uri="{FF2B5EF4-FFF2-40B4-BE49-F238E27FC236}">
                <a16:creationId xmlns:a16="http://schemas.microsoft.com/office/drawing/2014/main" id="{700AFECF-C337-4A3F-A262-15E07FB17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Visby CF Light" pitchFamily="50" charset="0"/>
              </a:defRPr>
            </a:lvl1pPr>
          </a:lstStyle>
          <a:p>
            <a:fld id="{4162AF1F-2696-4F34-A7F3-E326E3C5B51E}" type="slidenum">
              <a:rPr lang="fr-CA" smtClean="0"/>
              <a:pPr/>
              <a:t>‹N°›</a:t>
            </a:fld>
            <a:endParaRPr lang="fr-CA"/>
          </a:p>
        </p:txBody>
      </p:sp>
      <p:sp>
        <p:nvSpPr>
          <p:cNvPr id="2" name="Espace réservé du titre 1">
            <a:extLst>
              <a:ext uri="{FF2B5EF4-FFF2-40B4-BE49-F238E27FC236}">
                <a16:creationId xmlns:a16="http://schemas.microsoft.com/office/drawing/2014/main" id="{3B779E69-6F38-4172-8DD2-568BC0636901}"/>
              </a:ext>
            </a:extLst>
          </p:cNvPr>
          <p:cNvSpPr>
            <a:spLocks noGrp="1"/>
          </p:cNvSpPr>
          <p:nvPr>
            <p:ph type="title"/>
          </p:nvPr>
        </p:nvSpPr>
        <p:spPr>
          <a:xfrm>
            <a:off x="888022" y="18255"/>
            <a:ext cx="11303976" cy="871665"/>
          </a:xfrm>
          <a:prstGeom prst="rect">
            <a:avLst/>
          </a:prstGeom>
        </p:spPr>
        <p:txBody>
          <a:bodyPr vert="horz" lIns="91440" tIns="45720" rIns="91440" bIns="45720" rtlCol="0" anchor="ctr">
            <a:normAutofit/>
          </a:bodyPr>
          <a:lstStyle/>
          <a:p>
            <a:r>
              <a:rPr lang="fr-FR"/>
              <a:t>Modifiez le style du titre</a:t>
            </a:r>
            <a:endParaRPr lang="fr-CA"/>
          </a:p>
        </p:txBody>
      </p:sp>
    </p:spTree>
    <p:extLst>
      <p:ext uri="{BB962C8B-B14F-4D97-AF65-F5344CB8AC3E}">
        <p14:creationId xmlns:p14="http://schemas.microsoft.com/office/powerpoint/2010/main" val="37703067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Lst>
  <p:hf hdr="0" ftr="0" dt="0"/>
  <p:txStyles>
    <p:titleStyle>
      <a:lvl1pPr marL="360363" indent="0" algn="l" defTabSz="914400" rtl="0" eaLnBrk="1" latinLnBrk="0" hangingPunct="1">
        <a:lnSpc>
          <a:spcPct val="90000"/>
        </a:lnSpc>
        <a:spcBef>
          <a:spcPct val="0"/>
        </a:spcBef>
        <a:buNone/>
        <a:tabLst/>
        <a:defRPr sz="3200" kern="1200">
          <a:solidFill>
            <a:schemeClr val="bg1"/>
          </a:solidFill>
          <a:latin typeface="Visby Slab CF Heavy" panose="00000A00000000000000" pitchFamily="50" charset="0"/>
          <a:ea typeface="+mj-ea"/>
          <a:cs typeface="+mj-cs"/>
        </a:defRPr>
      </a:lvl1pPr>
    </p:titleStyle>
    <p:body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tags" Target="../tags/tag22.xml"/><Relationship Id="rId7" Type="http://schemas.openxmlformats.org/officeDocument/2006/relationships/image" Target="../media/image10.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26.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7.xml"/><Relationship Id="rId7" Type="http://schemas.openxmlformats.org/officeDocument/2006/relationships/image" Target="../media/image12.sv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notesSlide" Target="../notesSlides/notesSlide2.xml"/><Relationship Id="rId5" Type="http://schemas.openxmlformats.org/officeDocument/2006/relationships/slideLayout" Target="../slideLayouts/slideLayout26.xml"/><Relationship Id="rId4" Type="http://schemas.openxmlformats.org/officeDocument/2006/relationships/tags" Target="../tags/tag28.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1.xml"/><Relationship Id="rId7" Type="http://schemas.openxmlformats.org/officeDocument/2006/relationships/image" Target="../media/image12.sv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3.xml"/><Relationship Id="rId5" Type="http://schemas.openxmlformats.org/officeDocument/2006/relationships/slideLayout" Target="../slideLayouts/slideLayout26.xml"/><Relationship Id="rId4" Type="http://schemas.openxmlformats.org/officeDocument/2006/relationships/tags" Target="../tags/tag3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5.xml"/><Relationship Id="rId7" Type="http://schemas.openxmlformats.org/officeDocument/2006/relationships/image" Target="../media/image12.sv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notesSlide" Target="../notesSlides/notesSlide4.xml"/><Relationship Id="rId5" Type="http://schemas.openxmlformats.org/officeDocument/2006/relationships/slideLayout" Target="../slideLayouts/slideLayout26.xml"/><Relationship Id="rId4" Type="http://schemas.openxmlformats.org/officeDocument/2006/relationships/tags" Target="../tags/tag36.xml"/></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tags" Target="../tags/tag39.xml"/><Relationship Id="rId7" Type="http://schemas.openxmlformats.org/officeDocument/2006/relationships/image" Target="../media/image10.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notesSlide" Target="../notesSlides/notesSlide5.xml"/><Relationship Id="rId5" Type="http://schemas.openxmlformats.org/officeDocument/2006/relationships/slideLayout" Target="../slideLayouts/slideLayout26.xml"/><Relationship Id="rId4" Type="http://schemas.openxmlformats.org/officeDocument/2006/relationships/tags" Target="../tags/tag40.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43.xml"/><Relationship Id="rId7" Type="http://schemas.openxmlformats.org/officeDocument/2006/relationships/notesSlide" Target="../notesSlides/notesSlide6.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slideLayout" Target="../slideLayouts/slideLayout26.xml"/><Relationship Id="rId5" Type="http://schemas.openxmlformats.org/officeDocument/2006/relationships/tags" Target="../tags/tag45.xml"/><Relationship Id="rId10" Type="http://schemas.openxmlformats.org/officeDocument/2006/relationships/image" Target="../media/image10.png"/><Relationship Id="rId4" Type="http://schemas.openxmlformats.org/officeDocument/2006/relationships/tags" Target="../tags/tag44.xml"/><Relationship Id="rId9"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2.svg"/><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image" Target="../media/image15.png"/><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image" Target="../media/image14.png"/><Relationship Id="rId17" Type="http://schemas.openxmlformats.org/officeDocument/2006/relationships/image" Target="../media/image10.png"/><Relationship Id="rId2" Type="http://schemas.openxmlformats.org/officeDocument/2006/relationships/tags" Target="../tags/tag49.xml"/><Relationship Id="rId16" Type="http://schemas.openxmlformats.org/officeDocument/2006/relationships/image" Target="../media/image12.svg"/><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notesSlide" Target="../notesSlides/notesSlide8.xml"/><Relationship Id="rId5" Type="http://schemas.openxmlformats.org/officeDocument/2006/relationships/tags" Target="../tags/tag52.xml"/><Relationship Id="rId15" Type="http://schemas.openxmlformats.org/officeDocument/2006/relationships/image" Target="../media/image17.png"/><Relationship Id="rId10" Type="http://schemas.openxmlformats.org/officeDocument/2006/relationships/slideLayout" Target="../slideLayouts/slideLayout26.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tags" Target="../tags/tag59.xml"/><Relationship Id="rId7" Type="http://schemas.openxmlformats.org/officeDocument/2006/relationships/notesSlide" Target="../notesSlides/notesSlide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Layout" Target="../slideLayouts/slideLayout26.xml"/><Relationship Id="rId5" Type="http://schemas.openxmlformats.org/officeDocument/2006/relationships/tags" Target="../tags/tag61.xml"/><Relationship Id="rId4" Type="http://schemas.openxmlformats.org/officeDocument/2006/relationships/tags" Target="../tags/tag60.xm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64.xml"/><Relationship Id="rId7" Type="http://schemas.openxmlformats.org/officeDocument/2006/relationships/image" Target="../media/image12.sv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notesSlide" Target="../notesSlides/notesSlide10.xml"/><Relationship Id="rId5" Type="http://schemas.openxmlformats.org/officeDocument/2006/relationships/slideLayout" Target="../slideLayouts/slideLayout26.xml"/><Relationship Id="rId4" Type="http://schemas.openxmlformats.org/officeDocument/2006/relationships/tags" Target="../tags/tag65.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68.xml"/><Relationship Id="rId7" Type="http://schemas.openxmlformats.org/officeDocument/2006/relationships/image" Target="../media/image12.sv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notesSlide" Target="../notesSlides/notesSlide11.xml"/><Relationship Id="rId5" Type="http://schemas.openxmlformats.org/officeDocument/2006/relationships/slideLayout" Target="../slideLayouts/slideLayout26.xml"/><Relationship Id="rId4" Type="http://schemas.openxmlformats.org/officeDocument/2006/relationships/tags" Target="../tags/tag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3CCD87F7-71BA-613A-1F27-C4655D256487}"/>
              </a:ext>
            </a:extLst>
          </p:cNvPr>
          <p:cNvSpPr>
            <a:spLocks noGrp="1"/>
          </p:cNvSpPr>
          <p:nvPr>
            <p:ph type="title"/>
            <p:custDataLst>
              <p:tags r:id="rId1"/>
            </p:custDataLst>
          </p:nvPr>
        </p:nvSpPr>
        <p:spPr>
          <a:xfrm>
            <a:off x="374537" y="2679397"/>
            <a:ext cx="6148811" cy="1565491"/>
          </a:xfrm>
          <a:noFill/>
        </p:spPr>
        <p:txBody>
          <a:bodyPr/>
          <a:lstStyle/>
          <a:p>
            <a:r>
              <a:rPr lang="fr-CA" sz="3200">
                <a:solidFill>
                  <a:schemeClr val="bg1"/>
                </a:solidFill>
              </a:rPr>
              <a:t>Mobiliser les </a:t>
            </a:r>
            <a:br>
              <a:rPr lang="fr-CA" sz="3200">
                <a:solidFill>
                  <a:schemeClr val="bg1"/>
                </a:solidFill>
              </a:rPr>
            </a:br>
            <a:r>
              <a:rPr lang="fr-CA" sz="3200">
                <a:solidFill>
                  <a:schemeClr val="bg1"/>
                </a:solidFill>
              </a:rPr>
              <a:t>technologies numériques	</a:t>
            </a:r>
          </a:p>
        </p:txBody>
      </p:sp>
      <p:sp>
        <p:nvSpPr>
          <p:cNvPr id="9" name="Espace réservé du texte 8">
            <a:extLst>
              <a:ext uri="{FF2B5EF4-FFF2-40B4-BE49-F238E27FC236}">
                <a16:creationId xmlns:a16="http://schemas.microsoft.com/office/drawing/2014/main" id="{97A85CEF-B5A7-E1DA-683E-8BB20CA9FFD8}"/>
              </a:ext>
            </a:extLst>
          </p:cNvPr>
          <p:cNvSpPr>
            <a:spLocks noGrp="1"/>
          </p:cNvSpPr>
          <p:nvPr>
            <p:ph type="body" sz="quarter" idx="11"/>
            <p:custDataLst>
              <p:tags r:id="rId2"/>
            </p:custDataLst>
          </p:nvPr>
        </p:nvSpPr>
        <p:spPr>
          <a:xfrm>
            <a:off x="374538" y="4244888"/>
            <a:ext cx="2906545" cy="2317278"/>
          </a:xfrm>
        </p:spPr>
        <p:txBody>
          <a:bodyPr/>
          <a:lstStyle/>
          <a:p>
            <a:r>
              <a:rPr lang="fr-CA">
                <a:solidFill>
                  <a:schemeClr val="tx2"/>
                </a:solidFill>
              </a:rPr>
              <a:t>TECH 10701</a:t>
            </a:r>
          </a:p>
        </p:txBody>
      </p:sp>
    </p:spTree>
    <p:extLst>
      <p:ext uri="{BB962C8B-B14F-4D97-AF65-F5344CB8AC3E}">
        <p14:creationId xmlns:p14="http://schemas.microsoft.com/office/powerpoint/2010/main" val="258327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FCFCA2-8A8E-D6D6-B7E2-9DD152DF9AFD}"/>
              </a:ext>
            </a:extLst>
          </p:cNvPr>
          <p:cNvSpPr>
            <a:spLocks noGrp="1"/>
          </p:cNvSpPr>
          <p:nvPr>
            <p:ph type="title"/>
            <p:custDataLst>
              <p:tags r:id="rId1"/>
            </p:custDataLst>
          </p:nvPr>
        </p:nvSpPr>
        <p:spPr/>
        <p:txBody>
          <a:bodyPr/>
          <a:lstStyle/>
          <a:p>
            <a:r>
              <a:rPr kumimoji="0" lang="fr-CA" sz="7200" b="0" i="0" u="none" strike="noStrike" kern="1200" cap="none" spc="0" normalizeH="0" baseline="0" noProof="0">
                <a:ln>
                  <a:noFill/>
                </a:ln>
                <a:solidFill>
                  <a:schemeClr val="accent6"/>
                </a:solidFill>
                <a:effectLst/>
                <a:uLnTx/>
                <a:uFillTx/>
                <a:latin typeface="Visby Slab CF Bold" panose="00000800000000000000" pitchFamily="50" charset="0"/>
                <a:ea typeface="+mn-ea"/>
                <a:cs typeface="+mn-cs"/>
              </a:rPr>
              <a:t>Pratique pour l’intra</a:t>
            </a:r>
            <a:endParaRPr lang="fr-CA"/>
          </a:p>
        </p:txBody>
      </p:sp>
    </p:spTree>
    <p:extLst>
      <p:ext uri="{BB962C8B-B14F-4D97-AF65-F5344CB8AC3E}">
        <p14:creationId xmlns:p14="http://schemas.microsoft.com/office/powerpoint/2010/main" val="3005318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13179B-1E86-1365-ECD6-69293D40483F}"/>
              </a:ext>
            </a:extLst>
          </p:cNvPr>
          <p:cNvSpPr>
            <a:spLocks noGrp="1"/>
          </p:cNvSpPr>
          <p:nvPr>
            <p:ph type="title"/>
            <p:custDataLst>
              <p:tags r:id="rId1"/>
            </p:custDataLst>
          </p:nvPr>
        </p:nvSpPr>
        <p:spPr/>
        <p:txBody>
          <a:bodyPr/>
          <a:lstStyle/>
          <a:p>
            <a:r>
              <a:rPr lang="fr-CA"/>
              <a:t>Minicas de préparation pour l’intra</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FE35F3F3-D18E-8254-0C9A-D8CFED969CE0}"/>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0C457425-A370-C34A-F5FC-F45C3EE1DC1B}"/>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2017" y="43545"/>
            <a:ext cx="801441" cy="801441"/>
          </a:xfrm>
          <a:prstGeom prst="rect">
            <a:avLst/>
          </a:prstGeom>
        </p:spPr>
      </p:pic>
      <p:sp>
        <p:nvSpPr>
          <p:cNvPr id="3" name="Espace réservé du contenu 2">
            <a:extLst>
              <a:ext uri="{FF2B5EF4-FFF2-40B4-BE49-F238E27FC236}">
                <a16:creationId xmlns:a16="http://schemas.microsoft.com/office/drawing/2014/main" id="{3A7E2858-0DEF-6ABA-30B2-8F74666C4E61}"/>
              </a:ext>
            </a:extLst>
          </p:cNvPr>
          <p:cNvSpPr>
            <a:spLocks noGrp="1"/>
          </p:cNvSpPr>
          <p:nvPr>
            <p:ph idx="1"/>
            <p:custDataLst>
              <p:tags r:id="rId4"/>
            </p:custDataLst>
          </p:nvPr>
        </p:nvSpPr>
        <p:spPr>
          <a:xfrm>
            <a:off x="132258" y="950118"/>
            <a:ext cx="11860062" cy="5907882"/>
          </a:xfrm>
        </p:spPr>
        <p:txBody>
          <a:bodyPr anchor="ctr">
            <a:normAutofit fontScale="70000" lnSpcReduction="20000"/>
          </a:bodyPr>
          <a:lstStyle/>
          <a:p>
            <a:pPr marL="0" indent="0">
              <a:lnSpc>
                <a:spcPct val="134000"/>
              </a:lnSpc>
              <a:spcAft>
                <a:spcPts val="600"/>
              </a:spcAft>
              <a:buNone/>
            </a:pPr>
            <a:r>
              <a:rPr lang="fr-CA" b="1"/>
              <a:t>Modernisation du système d'inscription aux cours</a:t>
            </a:r>
          </a:p>
          <a:p>
            <a:pPr marL="0" indent="0">
              <a:lnSpc>
                <a:spcPct val="134000"/>
              </a:lnSpc>
              <a:spcAft>
                <a:spcPts val="600"/>
              </a:spcAft>
              <a:buNone/>
            </a:pPr>
            <a:r>
              <a:rPr lang="fr-CA" sz="2300"/>
              <a:t>Le Collège Innovations Numériques (CIN) souhaite moderniser son processus d'inscription aux cours pour la session d'automne 2025. Actuellement, les inscriptions se font par formulaire papier, ce qui génère des erreurs de saisie et ralentit le traitement des demandes. La direction a décidé de développer un nouveau système numérique utilisant </a:t>
            </a:r>
            <a:r>
              <a:rPr lang="fr-CA" sz="2300" i="1"/>
              <a:t>Airtable</a:t>
            </a:r>
            <a:r>
              <a:rPr lang="fr-CA" sz="2300"/>
              <a:t> comme base de données et </a:t>
            </a:r>
            <a:r>
              <a:rPr lang="fr-CA" sz="2300" i="1"/>
              <a:t>Softr</a:t>
            </a:r>
            <a:r>
              <a:rPr lang="fr-CA" sz="2300"/>
              <a:t> pour créer les interfaces utilisateurs.</a:t>
            </a:r>
          </a:p>
          <a:p>
            <a:pPr marL="0" indent="0">
              <a:lnSpc>
                <a:spcPct val="134000"/>
              </a:lnSpc>
              <a:spcAft>
                <a:spcPts val="600"/>
              </a:spcAft>
              <a:buNone/>
            </a:pPr>
            <a:r>
              <a:rPr lang="fr-CA" sz="2300"/>
              <a:t>Le processus est volontairement simple : un étudiant consulte le catalogue des cours offerts via l’interface </a:t>
            </a:r>
            <a:r>
              <a:rPr lang="fr-CA" sz="2300" i="1"/>
              <a:t>Softr</a:t>
            </a:r>
            <a:r>
              <a:rPr lang="fr-CA" sz="2300"/>
              <a:t>, sélectionne les cours qui l’intéressent et soumet sa demande d’inscription en ligne. Le système enregistre automatiquement chaque demande avec la date et l’heure. Un étudiant peut s’inscrire à plusieurs cours, mais chaque demande correspond à un seul cours et un seul étudiant.</a:t>
            </a:r>
          </a:p>
          <a:p>
            <a:pPr marL="0" indent="0">
              <a:lnSpc>
                <a:spcPct val="134000"/>
              </a:lnSpc>
              <a:spcAft>
                <a:spcPts val="600"/>
              </a:spcAft>
              <a:buNone/>
            </a:pPr>
            <a:r>
              <a:rPr lang="fr-CA" sz="2300"/>
              <a:t>Une fois la demande soumise, le coordonnateur du programme accède à son tableau de bord pour consulter les nouvelles demandes. Il peut alors valider ou refuser chaque demande selon la disponibilité des places et les préalables requis. La majorité des cours ont 60 places. Quelques cours ont des prérequis. L’étudiant reçoit ensuite une confirmation par courriel. Une fois confirmée, la demande devient une inscription officielle.</a:t>
            </a:r>
          </a:p>
          <a:p>
            <a:pPr marL="0" indent="0">
              <a:lnSpc>
                <a:spcPct val="134000"/>
              </a:lnSpc>
              <a:spcAft>
                <a:spcPts val="600"/>
              </a:spcAft>
              <a:buNone/>
            </a:pPr>
            <a:r>
              <a:rPr lang="fr-CA" sz="2300"/>
              <a:t>Le collège doit s’assurer que le nouveau système respecte la Loi 25 concernant la protection des renseignements personnels. L’équipe responsable du projet doit également mettre en place les pratiques appropriées de cybersécurité et de cyberhygiène pour protéger les données et le système.</a:t>
            </a:r>
          </a:p>
          <a:p>
            <a:pPr marL="0" indent="0">
              <a:lnSpc>
                <a:spcPct val="134000"/>
              </a:lnSpc>
              <a:spcAft>
                <a:spcPts val="600"/>
              </a:spcAft>
              <a:buNone/>
            </a:pPr>
            <a:r>
              <a:rPr lang="fr-CA" sz="2300"/>
              <a:t>Pour faciliter la planification des sessions futures, les administrateurs ont besoin d’accéder aux statistiques globales d’inscription et de générer des rapports sur la popularité des cours offerts.</a:t>
            </a:r>
          </a:p>
          <a:p>
            <a:pPr marL="0" indent="0">
              <a:buNone/>
            </a:pPr>
            <a:endParaRPr lang="fr-CA"/>
          </a:p>
        </p:txBody>
      </p:sp>
      <p:grpSp>
        <p:nvGrpSpPr>
          <p:cNvPr id="10" name="Groupe 9">
            <a:extLst>
              <a:ext uri="{FF2B5EF4-FFF2-40B4-BE49-F238E27FC236}">
                <a16:creationId xmlns:a16="http://schemas.microsoft.com/office/drawing/2014/main" id="{826022E9-EEB0-5AA1-8633-E35BC25A736E}"/>
              </a:ext>
            </a:extLst>
          </p:cNvPr>
          <p:cNvGrpSpPr/>
          <p:nvPr>
            <p:custDataLst>
              <p:tags r:id="rId5"/>
            </p:custDataLst>
          </p:nvPr>
        </p:nvGrpSpPr>
        <p:grpSpPr>
          <a:xfrm>
            <a:off x="10745537" y="-124816"/>
            <a:ext cx="914400" cy="1138162"/>
            <a:chOff x="10802017" y="164024"/>
            <a:chExt cx="914400" cy="1138162"/>
          </a:xfrm>
        </p:grpSpPr>
        <p:pic>
          <p:nvPicPr>
            <p:cNvPr id="7" name="Graphique 6" descr="Toque d'étudiant avec un remplissage uni">
              <a:extLst>
                <a:ext uri="{FF2B5EF4-FFF2-40B4-BE49-F238E27FC236}">
                  <a16:creationId xmlns:a16="http://schemas.microsoft.com/office/drawing/2014/main" id="{4D72AF09-D273-0611-E54A-1D80AB5A954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02017" y="387786"/>
              <a:ext cx="914400" cy="914400"/>
            </a:xfrm>
            <a:prstGeom prst="rect">
              <a:avLst/>
            </a:prstGeom>
          </p:spPr>
        </p:pic>
        <p:sp>
          <p:nvSpPr>
            <p:cNvPr id="9" name="ZoneTexte 8">
              <a:extLst>
                <a:ext uri="{FF2B5EF4-FFF2-40B4-BE49-F238E27FC236}">
                  <a16:creationId xmlns:a16="http://schemas.microsoft.com/office/drawing/2014/main" id="{32A5E5F1-40FF-8D02-A3BF-FD406253F79F}"/>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spTree>
    <p:extLst>
      <p:ext uri="{BB962C8B-B14F-4D97-AF65-F5344CB8AC3E}">
        <p14:creationId xmlns:p14="http://schemas.microsoft.com/office/powerpoint/2010/main" val="19853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0ED55-5E89-2504-2FDF-DAF2FEA23809}"/>
              </a:ext>
            </a:extLst>
          </p:cNvPr>
          <p:cNvSpPr>
            <a:spLocks noGrp="1"/>
          </p:cNvSpPr>
          <p:nvPr>
            <p:ph type="title"/>
            <p:custDataLst>
              <p:tags r:id="rId1"/>
            </p:custDataLst>
          </p:nvPr>
        </p:nvSpPr>
        <p:spPr/>
        <p:txBody>
          <a:bodyPr/>
          <a:lstStyle/>
          <a:p>
            <a:r>
              <a:rPr lang="fr-CA"/>
              <a:t>Séance 1</a:t>
            </a:r>
          </a:p>
        </p:txBody>
      </p:sp>
      <p:sp>
        <p:nvSpPr>
          <p:cNvPr id="3" name="Espace réservé du contenu 2">
            <a:extLst>
              <a:ext uri="{FF2B5EF4-FFF2-40B4-BE49-F238E27FC236}">
                <a16:creationId xmlns:a16="http://schemas.microsoft.com/office/drawing/2014/main" id="{9E4A1397-BD6C-1534-8577-FC8EFCEDC77A}"/>
              </a:ext>
            </a:extLst>
          </p:cNvPr>
          <p:cNvSpPr>
            <a:spLocks noGrp="1"/>
          </p:cNvSpPr>
          <p:nvPr>
            <p:ph idx="1"/>
            <p:custDataLst>
              <p:tags r:id="rId2"/>
            </p:custDataLst>
          </p:nvPr>
        </p:nvSpPr>
        <p:spPr/>
        <p:txBody>
          <a:bodyPr>
            <a:normAutofit lnSpcReduction="10000"/>
          </a:bodyPr>
          <a:lstStyle/>
          <a:p>
            <a:pPr marL="457200" indent="-457200">
              <a:buFont typeface="+mj-lt"/>
              <a:buAutoNum type="arabicPeriod"/>
            </a:pPr>
            <a:r>
              <a:rPr lang="fr-CA"/>
              <a:t>Si le CIN souhaite mobiliser les technologies numériques pour moderniser leur processus d'inscription aux cours, lequel de ces éléments n'est PAS un avantage?</a:t>
            </a:r>
          </a:p>
          <a:p>
            <a:pPr marL="914400" lvl="1" indent="-457200">
              <a:lnSpc>
                <a:spcPct val="160000"/>
              </a:lnSpc>
              <a:buFont typeface="Wingdings" panose="05000000000000000000" pitchFamily="2" charset="2"/>
              <a:buNone/>
            </a:pPr>
            <a:r>
              <a:rPr lang="fr-CA">
                <a:solidFill>
                  <a:srgbClr val="9EA0A2"/>
                </a:solidFill>
              </a:rPr>
              <a:t>a.      </a:t>
            </a:r>
            <a:r>
              <a:rPr lang="fr-CA"/>
              <a:t>Plus d'efficacité</a:t>
            </a:r>
          </a:p>
          <a:p>
            <a:pPr marL="914400" lvl="1" indent="-457200">
              <a:lnSpc>
                <a:spcPct val="160000"/>
              </a:lnSpc>
              <a:buFont typeface="Wingdings" panose="05000000000000000000" pitchFamily="2" charset="2"/>
              <a:buNone/>
            </a:pPr>
            <a:r>
              <a:rPr lang="fr-CA">
                <a:solidFill>
                  <a:srgbClr val="9EA0A2"/>
                </a:solidFill>
              </a:rPr>
              <a:t>b.      </a:t>
            </a:r>
            <a:r>
              <a:rPr lang="fr-CA"/>
              <a:t>Plus d'évolutivité</a:t>
            </a:r>
          </a:p>
          <a:p>
            <a:pPr marL="914400" lvl="1" indent="-457200">
              <a:lnSpc>
                <a:spcPct val="160000"/>
              </a:lnSpc>
              <a:buFont typeface="Wingdings" panose="05000000000000000000" pitchFamily="2" charset="2"/>
              <a:buNone/>
            </a:pPr>
            <a:r>
              <a:rPr lang="fr-CA">
                <a:solidFill>
                  <a:srgbClr val="9EA0A2"/>
                </a:solidFill>
              </a:rPr>
              <a:t>c.      </a:t>
            </a:r>
            <a:r>
              <a:rPr lang="fr-CA"/>
              <a:t>Plus de productivité </a:t>
            </a:r>
          </a:p>
          <a:p>
            <a:pPr marL="914400" lvl="1" indent="-457200">
              <a:lnSpc>
                <a:spcPct val="160000"/>
              </a:lnSpc>
              <a:spcAft>
                <a:spcPts val="1200"/>
              </a:spcAft>
              <a:buFont typeface="Wingdings" panose="05000000000000000000" pitchFamily="2" charset="2"/>
              <a:buNone/>
            </a:pPr>
            <a:r>
              <a:rPr lang="fr-CA">
                <a:solidFill>
                  <a:srgbClr val="9EA0A2"/>
                </a:solidFill>
              </a:rPr>
              <a:t>d.      </a:t>
            </a:r>
            <a:r>
              <a:rPr lang="fr-CA"/>
              <a:t>Plus de redondance</a:t>
            </a:r>
          </a:p>
          <a:p>
            <a:pPr marL="457200" indent="-457200">
              <a:buFont typeface="+mj-lt"/>
              <a:buAutoNum type="arabicPeriod"/>
            </a:pPr>
            <a:r>
              <a:rPr lang="fr-CA"/>
              <a:t>Le système d'information destiné à prendre en charge le nouveau processus d'inscription aux cours doit être un ensemble bien défini de tâches élémentaires qui permettent de saisir, stocker, transformer et distribuer des données.</a:t>
            </a:r>
          </a:p>
          <a:p>
            <a:pPr marL="457200" lvl="1" indent="0">
              <a:lnSpc>
                <a:spcPct val="160000"/>
              </a:lnSpc>
              <a:buNone/>
            </a:pPr>
            <a:r>
              <a:rPr lang="fr-CA">
                <a:solidFill>
                  <a:srgbClr val="9EA0A2"/>
                </a:solidFill>
              </a:rPr>
              <a:t>a.      </a:t>
            </a:r>
            <a:r>
              <a:rPr lang="fr-CA"/>
              <a:t>Vrai      </a:t>
            </a:r>
            <a:r>
              <a:rPr lang="fr-CA">
                <a:solidFill>
                  <a:srgbClr val="9EA0A2"/>
                </a:solidFill>
              </a:rPr>
              <a:t> b.     </a:t>
            </a:r>
            <a:r>
              <a:rPr lang="fr-CA"/>
              <a:t>Faux</a:t>
            </a:r>
          </a:p>
          <a:p>
            <a:pPr marL="457200" indent="-457200">
              <a:buFont typeface="+mj-lt"/>
              <a:buAutoNum type="arabicPeriod"/>
            </a:pPr>
            <a:endParaRPr lang="fr-CA"/>
          </a:p>
        </p:txBody>
      </p:sp>
      <p:grpSp>
        <p:nvGrpSpPr>
          <p:cNvPr id="4" name="Groupe 3">
            <a:extLst>
              <a:ext uri="{FF2B5EF4-FFF2-40B4-BE49-F238E27FC236}">
                <a16:creationId xmlns:a16="http://schemas.microsoft.com/office/drawing/2014/main" id="{5DF28D2E-B758-1FA2-D7BE-BD55C9AC18DF}"/>
              </a:ext>
            </a:extLst>
          </p:cNvPr>
          <p:cNvGrpSpPr/>
          <p:nvPr>
            <p:custDataLst>
              <p:tags r:id="rId3"/>
            </p:custDataLst>
          </p:nvPr>
        </p:nvGrpSpPr>
        <p:grpSpPr>
          <a:xfrm>
            <a:off x="10745537" y="-124816"/>
            <a:ext cx="914400" cy="1138162"/>
            <a:chOff x="10802017" y="164024"/>
            <a:chExt cx="914400" cy="1138162"/>
          </a:xfrm>
        </p:grpSpPr>
        <p:pic>
          <p:nvPicPr>
            <p:cNvPr id="5" name="Graphique 4" descr="Toque d'étudiant avec un remplissage uni">
              <a:extLst>
                <a:ext uri="{FF2B5EF4-FFF2-40B4-BE49-F238E27FC236}">
                  <a16:creationId xmlns:a16="http://schemas.microsoft.com/office/drawing/2014/main" id="{27AC0500-3B45-3DE5-99AB-83374AE08C1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02017" y="387786"/>
              <a:ext cx="914400" cy="914400"/>
            </a:xfrm>
            <a:prstGeom prst="rect">
              <a:avLst/>
            </a:prstGeom>
          </p:spPr>
        </p:pic>
        <p:sp>
          <p:nvSpPr>
            <p:cNvPr id="6" name="ZoneTexte 5">
              <a:extLst>
                <a:ext uri="{FF2B5EF4-FFF2-40B4-BE49-F238E27FC236}">
                  <a16:creationId xmlns:a16="http://schemas.microsoft.com/office/drawing/2014/main" id="{AA2F7551-7706-8744-A5B3-A3C54590A067}"/>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96EDE104-5E21-2AE1-F82F-CDAB03DD9547}"/>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75198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E9B43D-5355-259F-E890-45960D043ED2}"/>
              </a:ext>
            </a:extLst>
          </p:cNvPr>
          <p:cNvSpPr>
            <a:spLocks noGrp="1"/>
          </p:cNvSpPr>
          <p:nvPr>
            <p:ph type="title"/>
            <p:custDataLst>
              <p:tags r:id="rId1"/>
            </p:custDataLst>
          </p:nvPr>
        </p:nvSpPr>
        <p:spPr/>
        <p:txBody>
          <a:bodyPr/>
          <a:lstStyle/>
          <a:p>
            <a:r>
              <a:rPr lang="fr-CA"/>
              <a:t>Séance 1 et 2</a:t>
            </a:r>
          </a:p>
        </p:txBody>
      </p:sp>
      <p:sp>
        <p:nvSpPr>
          <p:cNvPr id="3" name="Espace réservé du contenu 2">
            <a:extLst>
              <a:ext uri="{FF2B5EF4-FFF2-40B4-BE49-F238E27FC236}">
                <a16:creationId xmlns:a16="http://schemas.microsoft.com/office/drawing/2014/main" id="{BE764FFC-546E-0626-5421-8AFB08F48203}"/>
              </a:ext>
            </a:extLst>
          </p:cNvPr>
          <p:cNvSpPr>
            <a:spLocks noGrp="1"/>
          </p:cNvSpPr>
          <p:nvPr>
            <p:ph idx="1"/>
            <p:custDataLst>
              <p:tags r:id="rId2"/>
            </p:custDataLst>
          </p:nvPr>
        </p:nvSpPr>
        <p:spPr/>
        <p:txBody>
          <a:bodyPr>
            <a:normAutofit lnSpcReduction="10000"/>
          </a:bodyPr>
          <a:lstStyle/>
          <a:p>
            <a:pPr marL="457200" indent="-457200">
              <a:lnSpc>
                <a:spcPct val="160000"/>
              </a:lnSpc>
              <a:buFont typeface="+mj-lt"/>
              <a:buAutoNum type="arabicPeriod" startAt="3"/>
            </a:pPr>
            <a:r>
              <a:rPr lang="fr-CA"/>
              <a:t>Pour atteindre leur objectif de modernisation du système d'inscription aux cours, il est judicieux de séparer les données saisies de leur traitement.</a:t>
            </a:r>
          </a:p>
          <a:p>
            <a:pPr marL="914400" lvl="1" indent="-457200">
              <a:spcAft>
                <a:spcPts val="800"/>
              </a:spcAft>
              <a:buFont typeface="+mj-lt"/>
              <a:buAutoNum type="alphaLcPeriod"/>
            </a:pPr>
            <a:r>
              <a:rPr lang="fr-CA" sz="1900"/>
              <a:t>Vrai       </a:t>
            </a:r>
            <a:r>
              <a:rPr lang="fr-CA" sz="1900">
                <a:solidFill>
                  <a:srgbClr val="9EA0A2"/>
                </a:solidFill>
              </a:rPr>
              <a:t>b.</a:t>
            </a:r>
            <a:r>
              <a:rPr lang="fr-CA" sz="1900"/>
              <a:t>     Faux</a:t>
            </a:r>
          </a:p>
          <a:p>
            <a:pPr marL="457200" indent="-457200">
              <a:buFont typeface="+mj-lt"/>
              <a:buAutoNum type="arabicPeriod" startAt="4"/>
            </a:pPr>
            <a:r>
              <a:rPr lang="fr-CA"/>
              <a:t>D'après votre compréhension des processus et du BPMN, qu'est-ce qui déclenche le processus ?</a:t>
            </a:r>
          </a:p>
          <a:p>
            <a:pPr marL="914400" lvl="1" indent="-457200">
              <a:buAutoNum type="alphaLcPeriod"/>
            </a:pPr>
            <a:r>
              <a:rPr lang="fr-CA"/>
              <a:t>Un étudiant consulte le catalogue des cours proposés et sélectionne les cours qui l'intéressent</a:t>
            </a:r>
          </a:p>
          <a:p>
            <a:pPr marL="914400" lvl="1" indent="-457200">
              <a:buAutoNum type="alphaLcPeriod"/>
            </a:pPr>
            <a:r>
              <a:rPr lang="fr-CA"/>
              <a:t>Le coordinateur du programme accède à son tableau de bord pour consulter les nouvelles candidatures</a:t>
            </a:r>
          </a:p>
          <a:p>
            <a:pPr marL="914400" lvl="1" indent="-457200">
              <a:buAutoNum type="alphaLcPeriod" startAt="2"/>
            </a:pPr>
            <a:r>
              <a:rPr lang="fr-CA"/>
              <a:t>Le système enregistre automatiquement chaque inscription avec la date et l'heure</a:t>
            </a:r>
          </a:p>
          <a:p>
            <a:pPr marL="914400" lvl="1" indent="-457200">
              <a:spcAft>
                <a:spcPts val="1200"/>
              </a:spcAft>
              <a:buAutoNum type="alphaLcPeriod" startAt="3"/>
            </a:pPr>
            <a:r>
              <a:rPr lang="fr-CA" sz="2100"/>
              <a:t>L'étudiant reçoit un courriel de confirmation</a:t>
            </a:r>
          </a:p>
          <a:p>
            <a:pPr marL="457200" indent="-457200">
              <a:spcAft>
                <a:spcPts val="800"/>
              </a:spcAft>
              <a:buFont typeface="+mj-lt"/>
              <a:buAutoNum type="arabicPeriod" startAt="3"/>
            </a:pPr>
            <a:endParaRPr lang="fr-CA" sz="2300"/>
          </a:p>
          <a:p>
            <a:pPr marL="914400" lvl="1" indent="-457200">
              <a:buAutoNum type="alphaLcPeriod"/>
            </a:pPr>
            <a:endParaRPr lang="fr-CA"/>
          </a:p>
          <a:p>
            <a:endParaRPr lang="fr-CA"/>
          </a:p>
        </p:txBody>
      </p:sp>
      <p:grpSp>
        <p:nvGrpSpPr>
          <p:cNvPr id="4" name="Groupe 3">
            <a:extLst>
              <a:ext uri="{FF2B5EF4-FFF2-40B4-BE49-F238E27FC236}">
                <a16:creationId xmlns:a16="http://schemas.microsoft.com/office/drawing/2014/main" id="{062BE622-010D-10CC-B67A-971397B2EFFD}"/>
              </a:ext>
            </a:extLst>
          </p:cNvPr>
          <p:cNvGrpSpPr/>
          <p:nvPr>
            <p:custDataLst>
              <p:tags r:id="rId3"/>
            </p:custDataLst>
          </p:nvPr>
        </p:nvGrpSpPr>
        <p:grpSpPr>
          <a:xfrm>
            <a:off x="10745537" y="-124816"/>
            <a:ext cx="914400" cy="1138162"/>
            <a:chOff x="10802017" y="164024"/>
            <a:chExt cx="914400" cy="1138162"/>
          </a:xfrm>
        </p:grpSpPr>
        <p:pic>
          <p:nvPicPr>
            <p:cNvPr id="5" name="Graphique 4" descr="Toque d'étudiant avec un remplissage uni">
              <a:extLst>
                <a:ext uri="{FF2B5EF4-FFF2-40B4-BE49-F238E27FC236}">
                  <a16:creationId xmlns:a16="http://schemas.microsoft.com/office/drawing/2014/main" id="{8F284EE7-E75F-E714-0B80-22F0247AB2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02017" y="387786"/>
              <a:ext cx="914400" cy="914400"/>
            </a:xfrm>
            <a:prstGeom prst="rect">
              <a:avLst/>
            </a:prstGeom>
          </p:spPr>
        </p:pic>
        <p:sp>
          <p:nvSpPr>
            <p:cNvPr id="6" name="ZoneTexte 5">
              <a:extLst>
                <a:ext uri="{FF2B5EF4-FFF2-40B4-BE49-F238E27FC236}">
                  <a16:creationId xmlns:a16="http://schemas.microsoft.com/office/drawing/2014/main" id="{2523EDD3-8F99-141D-E992-A2CF3B750020}"/>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9B61472E-381F-7BA4-7096-A993423D1743}"/>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619673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E27265-C965-6291-4AA1-2DCDE6C3B9E6}"/>
              </a:ext>
            </a:extLst>
          </p:cNvPr>
          <p:cNvSpPr>
            <a:spLocks noGrp="1"/>
          </p:cNvSpPr>
          <p:nvPr>
            <p:ph type="title"/>
            <p:custDataLst>
              <p:tags r:id="rId1"/>
            </p:custDataLst>
          </p:nvPr>
        </p:nvSpPr>
        <p:spPr/>
        <p:txBody>
          <a:bodyPr/>
          <a:lstStyle/>
          <a:p>
            <a:r>
              <a:rPr lang="fr-CA"/>
              <a:t>Séance 2</a:t>
            </a:r>
          </a:p>
        </p:txBody>
      </p:sp>
      <p:sp>
        <p:nvSpPr>
          <p:cNvPr id="3" name="Espace réservé du contenu 2">
            <a:extLst>
              <a:ext uri="{FF2B5EF4-FFF2-40B4-BE49-F238E27FC236}">
                <a16:creationId xmlns:a16="http://schemas.microsoft.com/office/drawing/2014/main" id="{42CC40B6-CBB6-93C6-1F9D-E2BE6297873F}"/>
              </a:ext>
            </a:extLst>
          </p:cNvPr>
          <p:cNvSpPr>
            <a:spLocks noGrp="1"/>
          </p:cNvSpPr>
          <p:nvPr>
            <p:ph idx="1"/>
            <p:custDataLst>
              <p:tags r:id="rId2"/>
            </p:custDataLst>
          </p:nvPr>
        </p:nvSpPr>
        <p:spPr/>
        <p:txBody>
          <a:bodyPr>
            <a:normAutofit lnSpcReduction="10000"/>
          </a:bodyPr>
          <a:lstStyle/>
          <a:p>
            <a:pPr marL="457200" indent="-457200">
              <a:spcAft>
                <a:spcPts val="800"/>
              </a:spcAft>
              <a:buFont typeface="+mj-lt"/>
              <a:buAutoNum type="arabicPeriod" startAt="5"/>
            </a:pPr>
            <a:r>
              <a:rPr lang="fr-CA"/>
              <a:t>Qui n'est PAS un acteur impliqué dans le processus décrit?</a:t>
            </a:r>
          </a:p>
          <a:p>
            <a:pPr marL="914400" lvl="1" indent="-457200">
              <a:buFont typeface="+mj-lt"/>
              <a:buAutoNum type="alphaLcPeriod"/>
            </a:pPr>
            <a:r>
              <a:rPr lang="fr-CA" sz="2100"/>
              <a:t>Étudiant</a:t>
            </a:r>
          </a:p>
          <a:p>
            <a:pPr marL="914400" lvl="1" indent="-457200">
              <a:buFont typeface="Wingdings" panose="05000000000000000000" pitchFamily="2" charset="2"/>
              <a:buAutoNum type="alphaLcPeriod"/>
            </a:pPr>
            <a:r>
              <a:rPr lang="fr-CA" sz="2100"/>
              <a:t>Coordonnateur du programme</a:t>
            </a:r>
          </a:p>
          <a:p>
            <a:pPr marL="914400" lvl="1" indent="-457200">
              <a:buFont typeface="Wingdings" panose="05000000000000000000" pitchFamily="2" charset="2"/>
              <a:buAutoNum type="alphaLcPeriod"/>
            </a:pPr>
            <a:r>
              <a:rPr lang="fr-CA" sz="2100"/>
              <a:t>Administrateurs</a:t>
            </a:r>
          </a:p>
          <a:p>
            <a:pPr marL="914400" lvl="1" indent="-457200">
              <a:spcAft>
                <a:spcPts val="800"/>
              </a:spcAft>
              <a:buFont typeface="Wingdings" panose="05000000000000000000" pitchFamily="2" charset="2"/>
              <a:buAutoNum type="alphaLcPeriod"/>
            </a:pPr>
            <a:r>
              <a:rPr lang="fr-CA" sz="2100"/>
              <a:t>Enseignant</a:t>
            </a:r>
          </a:p>
          <a:p>
            <a:pPr marL="457200" indent="-457200">
              <a:spcAft>
                <a:spcPts val="800"/>
              </a:spcAft>
              <a:buFont typeface="Wingdings" panose="05000000000000000000" pitchFamily="2" charset="2"/>
              <a:buAutoNum type="arabicPeriod" startAt="5"/>
            </a:pPr>
            <a:r>
              <a:rPr lang="fr-CA"/>
              <a:t>Quelles données sont nécessaires pour garantir le bon déroulement du processus ?</a:t>
            </a:r>
          </a:p>
          <a:p>
            <a:pPr marL="914400" lvl="1" indent="-457200">
              <a:lnSpc>
                <a:spcPct val="140000"/>
              </a:lnSpc>
              <a:buFont typeface="Wingdings" panose="05000000000000000000" pitchFamily="2" charset="2"/>
              <a:buAutoNum type="alphaLcPeriod"/>
            </a:pPr>
            <a:r>
              <a:rPr lang="fr-CA"/>
              <a:t>Détails de la commande</a:t>
            </a:r>
          </a:p>
          <a:p>
            <a:pPr marL="914400" lvl="1" indent="-457200">
              <a:lnSpc>
                <a:spcPct val="140000"/>
              </a:lnSpc>
              <a:buFont typeface="Wingdings" panose="05000000000000000000" pitchFamily="2" charset="2"/>
              <a:buAutoNum type="alphaLcPeriod"/>
            </a:pPr>
            <a:r>
              <a:rPr lang="fr-CA"/>
              <a:t>Données d'inventaire</a:t>
            </a:r>
          </a:p>
          <a:p>
            <a:pPr marL="914400" lvl="1" indent="-457200">
              <a:lnSpc>
                <a:spcPct val="140000"/>
              </a:lnSpc>
              <a:buFont typeface="Wingdings" panose="05000000000000000000" pitchFamily="2" charset="2"/>
              <a:buAutoNum type="alphaLcPeriod"/>
            </a:pPr>
            <a:r>
              <a:rPr lang="fr-CA"/>
              <a:t>Statut de la livraison</a:t>
            </a:r>
          </a:p>
          <a:p>
            <a:pPr marL="914400" lvl="1" indent="-457200">
              <a:lnSpc>
                <a:spcPct val="140000"/>
              </a:lnSpc>
              <a:spcAft>
                <a:spcPts val="1200"/>
              </a:spcAft>
              <a:buFont typeface="Wingdings" panose="05000000000000000000" pitchFamily="2" charset="2"/>
              <a:buAutoNum type="alphaLcPeriod"/>
            </a:pPr>
            <a:r>
              <a:rPr lang="fr-CA"/>
              <a:t>Aucune de ces réponses</a:t>
            </a:r>
          </a:p>
          <a:p>
            <a:pPr marL="914400" lvl="1" indent="-457200">
              <a:spcAft>
                <a:spcPts val="800"/>
              </a:spcAft>
              <a:buFont typeface="Wingdings" panose="05000000000000000000" pitchFamily="2" charset="2"/>
              <a:buAutoNum type="alphaLcPeriod"/>
            </a:pPr>
            <a:endParaRPr lang="fr-CA" sz="2100"/>
          </a:p>
          <a:p>
            <a:pPr marL="914400" lvl="1" indent="-457200">
              <a:buAutoNum type="alphaLcPeriod"/>
            </a:pPr>
            <a:endParaRPr lang="fr-CA"/>
          </a:p>
          <a:p>
            <a:endParaRPr lang="fr-CA"/>
          </a:p>
        </p:txBody>
      </p:sp>
      <p:grpSp>
        <p:nvGrpSpPr>
          <p:cNvPr id="4" name="Groupe 3">
            <a:extLst>
              <a:ext uri="{FF2B5EF4-FFF2-40B4-BE49-F238E27FC236}">
                <a16:creationId xmlns:a16="http://schemas.microsoft.com/office/drawing/2014/main" id="{0C48797A-B33F-4C96-6267-184935033DC4}"/>
              </a:ext>
            </a:extLst>
          </p:cNvPr>
          <p:cNvGrpSpPr/>
          <p:nvPr>
            <p:custDataLst>
              <p:tags r:id="rId3"/>
            </p:custDataLst>
          </p:nvPr>
        </p:nvGrpSpPr>
        <p:grpSpPr>
          <a:xfrm>
            <a:off x="10745537" y="-124816"/>
            <a:ext cx="914400" cy="1138162"/>
            <a:chOff x="10802017" y="164024"/>
            <a:chExt cx="914400" cy="1138162"/>
          </a:xfrm>
        </p:grpSpPr>
        <p:pic>
          <p:nvPicPr>
            <p:cNvPr id="5" name="Graphique 4" descr="Toque d'étudiant avec un remplissage uni">
              <a:extLst>
                <a:ext uri="{FF2B5EF4-FFF2-40B4-BE49-F238E27FC236}">
                  <a16:creationId xmlns:a16="http://schemas.microsoft.com/office/drawing/2014/main" id="{3F67EB2C-39FA-2DC6-294A-4D606AA28F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02017" y="387786"/>
              <a:ext cx="914400" cy="914400"/>
            </a:xfrm>
            <a:prstGeom prst="rect">
              <a:avLst/>
            </a:prstGeom>
          </p:spPr>
        </p:pic>
        <p:sp>
          <p:nvSpPr>
            <p:cNvPr id="6" name="ZoneTexte 5">
              <a:extLst>
                <a:ext uri="{FF2B5EF4-FFF2-40B4-BE49-F238E27FC236}">
                  <a16:creationId xmlns:a16="http://schemas.microsoft.com/office/drawing/2014/main" id="{D3423575-6654-B2E0-7856-AEA4BF1446C9}"/>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D1642527-D576-1F7A-7739-EE68480EBA91}"/>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4013125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9A6C7-BCD7-E8D6-0F6A-59BCD82E3B21}"/>
              </a:ext>
            </a:extLst>
          </p:cNvPr>
          <p:cNvSpPr>
            <a:spLocks noGrp="1"/>
          </p:cNvSpPr>
          <p:nvPr>
            <p:ph type="title"/>
            <p:custDataLst>
              <p:tags r:id="rId1"/>
            </p:custDataLst>
          </p:nvPr>
        </p:nvSpPr>
        <p:spPr/>
        <p:txBody>
          <a:bodyPr/>
          <a:lstStyle/>
          <a:p>
            <a:r>
              <a:rPr lang="fr-CA"/>
              <a:t>Séance 2 et 3</a:t>
            </a:r>
          </a:p>
        </p:txBody>
      </p:sp>
      <p:sp>
        <p:nvSpPr>
          <p:cNvPr id="3" name="Espace réservé du contenu 2">
            <a:extLst>
              <a:ext uri="{FF2B5EF4-FFF2-40B4-BE49-F238E27FC236}">
                <a16:creationId xmlns:a16="http://schemas.microsoft.com/office/drawing/2014/main" id="{8251BB19-DE40-8870-1B67-331FF484BB5E}"/>
              </a:ext>
            </a:extLst>
          </p:cNvPr>
          <p:cNvSpPr>
            <a:spLocks noGrp="1"/>
          </p:cNvSpPr>
          <p:nvPr>
            <p:ph idx="1"/>
            <p:custDataLst>
              <p:tags r:id="rId2"/>
            </p:custDataLst>
          </p:nvPr>
        </p:nvSpPr>
        <p:spPr>
          <a:xfrm>
            <a:off x="224640" y="1017270"/>
            <a:ext cx="11767680" cy="5741784"/>
          </a:xfrm>
        </p:spPr>
        <p:txBody>
          <a:bodyPr>
            <a:normAutofit lnSpcReduction="10000"/>
          </a:bodyPr>
          <a:lstStyle/>
          <a:p>
            <a:pPr marL="457200" indent="-457200">
              <a:lnSpc>
                <a:spcPct val="140000"/>
              </a:lnSpc>
              <a:spcAft>
                <a:spcPts val="800"/>
              </a:spcAft>
              <a:buFont typeface="+mj-lt"/>
              <a:buAutoNum type="arabicPeriod" startAt="7"/>
            </a:pPr>
            <a:r>
              <a:rPr lang="fr-CA"/>
              <a:t>La modernisation du processus d'inscription aux cours apporte principalement quel type de valeur ajoutée ?</a:t>
            </a:r>
          </a:p>
          <a:p>
            <a:pPr marL="914400" lvl="1" indent="-457200">
              <a:lnSpc>
                <a:spcPct val="140000"/>
              </a:lnSpc>
              <a:buFont typeface="Wingdings" panose="05000000000000000000" pitchFamily="2" charset="2"/>
              <a:buAutoNum type="alphaLcPeriod"/>
            </a:pPr>
            <a:r>
              <a:rPr lang="fr-CA" sz="1600"/>
              <a:t>Une réelle valeur ajoutée</a:t>
            </a:r>
          </a:p>
          <a:p>
            <a:pPr marL="914400" lvl="1" indent="-457200">
              <a:lnSpc>
                <a:spcPct val="140000"/>
              </a:lnSpc>
              <a:buFont typeface="Wingdings" panose="05000000000000000000" pitchFamily="2" charset="2"/>
              <a:buAutoNum type="alphaLcPeriod"/>
            </a:pPr>
            <a:r>
              <a:rPr lang="fr-CA" sz="1600"/>
              <a:t>Une valeur ajoutée d’affaires</a:t>
            </a:r>
          </a:p>
          <a:p>
            <a:pPr marL="914400" lvl="1" indent="-457200">
              <a:lnSpc>
                <a:spcPct val="140000"/>
              </a:lnSpc>
              <a:buFont typeface="Wingdings" panose="05000000000000000000" pitchFamily="2" charset="2"/>
              <a:buAutoNum type="alphaLcPeriod"/>
            </a:pPr>
            <a:r>
              <a:rPr lang="fr-CA" sz="1600"/>
              <a:t>Aucune valeur ajoutée</a:t>
            </a:r>
          </a:p>
          <a:p>
            <a:pPr marL="914400" lvl="1" indent="-457200">
              <a:lnSpc>
                <a:spcPct val="140000"/>
              </a:lnSpc>
              <a:spcAft>
                <a:spcPts val="800"/>
              </a:spcAft>
              <a:buFont typeface="Wingdings" panose="05000000000000000000" pitchFamily="2" charset="2"/>
              <a:buAutoNum type="alphaLcPeriod"/>
            </a:pPr>
            <a:r>
              <a:rPr lang="fr-CA" sz="1600"/>
              <a:t>Aucune des réponses ci-dessus</a:t>
            </a:r>
          </a:p>
          <a:p>
            <a:pPr marL="457200" indent="-457200">
              <a:lnSpc>
                <a:spcPct val="140000"/>
              </a:lnSpc>
              <a:spcAft>
                <a:spcPts val="800"/>
              </a:spcAft>
              <a:buFont typeface="Wingdings" panose="05000000000000000000" pitchFamily="2" charset="2"/>
              <a:buAutoNum type="arabicPeriod" startAt="7"/>
            </a:pPr>
            <a:r>
              <a:rPr lang="fr-CA"/>
              <a:t>Quelle combinaison décrit le mieux les publics principaux et la portée de chaque modèle ? </a:t>
            </a:r>
          </a:p>
          <a:p>
            <a:pPr marL="914400" lvl="1" indent="-457200">
              <a:lnSpc>
                <a:spcPct val="160000"/>
              </a:lnSpc>
              <a:buFont typeface="+mj-lt"/>
              <a:buAutoNum type="alphaLcPeriod"/>
            </a:pPr>
            <a:r>
              <a:rPr lang="fr-CA" sz="1600"/>
              <a:t>Conceptuel : analystes et experts métier, indépendant de tout choix technique / Logique : concepteurs de bases de données et développeurs, dépendant du modèle de données choisi</a:t>
            </a:r>
          </a:p>
          <a:p>
            <a:pPr marL="914400" lvl="1" indent="-457200">
              <a:lnSpc>
                <a:spcPct val="160000"/>
              </a:lnSpc>
              <a:buFont typeface="+mj-lt"/>
              <a:buAutoNum type="alphaLcPeriod"/>
            </a:pPr>
            <a:r>
              <a:rPr lang="fr-CA" sz="1600"/>
              <a:t>Conceptuel : développeurs, dépendant du SGBD / Logique : utilisateurs métier, indépendant de toute technologie</a:t>
            </a:r>
          </a:p>
          <a:p>
            <a:pPr marL="914400" lvl="1" indent="-457200">
              <a:lnSpc>
                <a:spcPct val="160000"/>
              </a:lnSpc>
              <a:buFont typeface="+mj-lt"/>
              <a:buAutoNum type="alphaLcPeriod"/>
            </a:pPr>
            <a:r>
              <a:rPr lang="fr-CA" sz="1600"/>
              <a:t>Conceptuel : Administrateur de BD, spécifique au modèle relationnel / Logique : chefs de projet, indépendant du modèle de données</a:t>
            </a:r>
          </a:p>
          <a:p>
            <a:pPr marL="914400" lvl="1" indent="-457200">
              <a:lnSpc>
                <a:spcPct val="160000"/>
              </a:lnSpc>
              <a:buFont typeface="+mj-lt"/>
              <a:buAutoNum type="alphaLcPeriod"/>
            </a:pPr>
            <a:r>
              <a:rPr lang="fr-CA" sz="1600"/>
              <a:t>Les deux modèles s'adressent au même public et ont le même niveau d'indépendance technologique</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1CC3970D-BD99-8CDA-019F-D5DE94BF9540}"/>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pSp>
        <p:nvGrpSpPr>
          <p:cNvPr id="5" name="Groupe 4">
            <a:extLst>
              <a:ext uri="{FF2B5EF4-FFF2-40B4-BE49-F238E27FC236}">
                <a16:creationId xmlns:a16="http://schemas.microsoft.com/office/drawing/2014/main" id="{FE9236D3-0D9A-CDB7-2839-F6E4D31EDA89}"/>
              </a:ext>
            </a:extLst>
          </p:cNvPr>
          <p:cNvGrpSpPr/>
          <p:nvPr>
            <p:custDataLst>
              <p:tags r:id="rId4"/>
            </p:custDataLst>
          </p:nvPr>
        </p:nvGrpSpPr>
        <p:grpSpPr>
          <a:xfrm>
            <a:off x="10745537" y="-124816"/>
            <a:ext cx="914400" cy="1138162"/>
            <a:chOff x="10802017" y="164024"/>
            <a:chExt cx="914400" cy="1138162"/>
          </a:xfrm>
        </p:grpSpPr>
        <p:pic>
          <p:nvPicPr>
            <p:cNvPr id="6" name="Graphique 5" descr="Toque d'étudiant avec un remplissage uni">
              <a:extLst>
                <a:ext uri="{FF2B5EF4-FFF2-40B4-BE49-F238E27FC236}">
                  <a16:creationId xmlns:a16="http://schemas.microsoft.com/office/drawing/2014/main" id="{1503244D-3594-1D26-643C-C8AB8E06563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802017" y="387786"/>
              <a:ext cx="914400" cy="914400"/>
            </a:xfrm>
            <a:prstGeom prst="rect">
              <a:avLst/>
            </a:prstGeom>
          </p:spPr>
        </p:pic>
        <p:sp>
          <p:nvSpPr>
            <p:cNvPr id="7" name="ZoneTexte 6">
              <a:extLst>
                <a:ext uri="{FF2B5EF4-FFF2-40B4-BE49-F238E27FC236}">
                  <a16:creationId xmlns:a16="http://schemas.microsoft.com/office/drawing/2014/main" id="{AD50258A-0EBD-8F12-7458-D782A08F3B6E}"/>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spTree>
    <p:extLst>
      <p:ext uri="{BB962C8B-B14F-4D97-AF65-F5344CB8AC3E}">
        <p14:creationId xmlns:p14="http://schemas.microsoft.com/office/powerpoint/2010/main" val="3279185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7DD98B-1999-EE1B-6091-59CD953F21A4}"/>
              </a:ext>
            </a:extLst>
          </p:cNvPr>
          <p:cNvSpPr>
            <a:spLocks noGrp="1"/>
          </p:cNvSpPr>
          <p:nvPr>
            <p:ph type="title"/>
            <p:custDataLst>
              <p:tags r:id="rId1"/>
            </p:custDataLst>
          </p:nvPr>
        </p:nvSpPr>
        <p:spPr/>
        <p:txBody>
          <a:bodyPr/>
          <a:lstStyle/>
          <a:p>
            <a:r>
              <a:rPr lang="fr-CA"/>
              <a:t>Séance 3</a:t>
            </a:r>
          </a:p>
        </p:txBody>
      </p:sp>
      <p:sp>
        <p:nvSpPr>
          <p:cNvPr id="3" name="Espace réservé du contenu 2">
            <a:extLst>
              <a:ext uri="{FF2B5EF4-FFF2-40B4-BE49-F238E27FC236}">
                <a16:creationId xmlns:a16="http://schemas.microsoft.com/office/drawing/2014/main" id="{E45EA734-AA86-C5E0-26E9-5F073CA9B8F7}"/>
              </a:ext>
            </a:extLst>
          </p:cNvPr>
          <p:cNvSpPr>
            <a:spLocks noGrp="1"/>
          </p:cNvSpPr>
          <p:nvPr>
            <p:ph idx="1"/>
            <p:custDataLst>
              <p:tags r:id="rId2"/>
            </p:custDataLst>
          </p:nvPr>
        </p:nvSpPr>
        <p:spPr/>
        <p:txBody>
          <a:bodyPr/>
          <a:lstStyle/>
          <a:p>
            <a:pPr marL="457200" indent="-457200">
              <a:lnSpc>
                <a:spcPct val="140000"/>
              </a:lnSpc>
              <a:spcAft>
                <a:spcPts val="800"/>
              </a:spcAft>
              <a:buFont typeface="+mj-lt"/>
              <a:buAutoNum type="arabicPeriod" startAt="9"/>
            </a:pPr>
            <a:r>
              <a:rPr lang="fr-CA"/>
              <a:t>En fonction du modèle logique suivant, quelle est la bonne réponse?</a:t>
            </a:r>
          </a:p>
          <a:p>
            <a:pPr marL="457200" indent="-457200">
              <a:lnSpc>
                <a:spcPct val="140000"/>
              </a:lnSpc>
              <a:spcAft>
                <a:spcPts val="800"/>
              </a:spcAft>
              <a:buFont typeface="+mj-lt"/>
              <a:buAutoNum type="arabicPeriod" startAt="9"/>
            </a:pPr>
            <a:endParaRPr lang="fr-CA"/>
          </a:p>
          <a:p>
            <a:pPr marL="457200" indent="-457200">
              <a:lnSpc>
                <a:spcPct val="140000"/>
              </a:lnSpc>
              <a:spcAft>
                <a:spcPts val="800"/>
              </a:spcAft>
              <a:buFont typeface="+mj-lt"/>
              <a:buAutoNum type="arabicPeriod" startAt="9"/>
            </a:pPr>
            <a:endParaRPr lang="fr-CA"/>
          </a:p>
          <a:p>
            <a:pPr marL="457200" indent="-457200">
              <a:lnSpc>
                <a:spcPct val="140000"/>
              </a:lnSpc>
              <a:spcAft>
                <a:spcPts val="800"/>
              </a:spcAft>
              <a:buFont typeface="+mj-lt"/>
              <a:buAutoNum type="arabicPeriod" startAt="9"/>
            </a:pPr>
            <a:endParaRPr lang="fr-CA"/>
          </a:p>
          <a:p>
            <a:pPr marL="914400" lvl="1" indent="-457200">
              <a:lnSpc>
                <a:spcPct val="140000"/>
              </a:lnSpc>
              <a:buFont typeface="Wingdings" panose="05000000000000000000" pitchFamily="2" charset="2"/>
              <a:buAutoNum type="alphaLcPeriod"/>
            </a:pPr>
            <a:r>
              <a:rPr lang="fr-CA"/>
              <a:t>L'attribut matricule dans la table inscription est une clé lointaine </a:t>
            </a:r>
          </a:p>
          <a:p>
            <a:pPr marL="914400" lvl="1" indent="-457200">
              <a:lnSpc>
                <a:spcPct val="140000"/>
              </a:lnSpc>
              <a:buFont typeface="Wingdings" panose="05000000000000000000" pitchFamily="2" charset="2"/>
              <a:buAutoNum type="alphaLcPeriod"/>
            </a:pPr>
            <a:r>
              <a:rPr lang="fr-CA"/>
              <a:t>L'attribut matricule dans la table inscription fait partie de la clé primaire </a:t>
            </a:r>
          </a:p>
          <a:p>
            <a:pPr marL="914400" lvl="1" indent="-457200">
              <a:lnSpc>
                <a:spcPct val="140000"/>
              </a:lnSpc>
              <a:buFont typeface="Wingdings" panose="05000000000000000000" pitchFamily="2" charset="2"/>
              <a:buAutoNum type="alphaLcPeriod"/>
            </a:pPr>
            <a:r>
              <a:rPr lang="fr-CA"/>
              <a:t>L'attribut matricule dans la table inscription est une clé primaire </a:t>
            </a:r>
          </a:p>
          <a:p>
            <a:pPr marL="914400" lvl="1" indent="-457200">
              <a:lnSpc>
                <a:spcPct val="140000"/>
              </a:lnSpc>
              <a:spcAft>
                <a:spcPts val="800"/>
              </a:spcAft>
              <a:buFont typeface="Wingdings" panose="05000000000000000000" pitchFamily="2" charset="2"/>
              <a:buAutoNum type="alphaLcPeriod"/>
            </a:pPr>
            <a:r>
              <a:rPr lang="fr-CA"/>
              <a:t>A et B</a:t>
            </a:r>
          </a:p>
          <a:p>
            <a:pPr marL="457200" indent="-457200">
              <a:lnSpc>
                <a:spcPct val="140000"/>
              </a:lnSpc>
              <a:spcAft>
                <a:spcPts val="800"/>
              </a:spcAft>
              <a:buFont typeface="+mj-lt"/>
              <a:buAutoNum type="arabicPeriod" startAt="9"/>
            </a:pPr>
            <a:endParaRPr lang="fr-CA"/>
          </a:p>
        </p:txBody>
      </p:sp>
      <p:pic>
        <p:nvPicPr>
          <p:cNvPr id="6" name="Image 5">
            <a:extLst>
              <a:ext uri="{FF2B5EF4-FFF2-40B4-BE49-F238E27FC236}">
                <a16:creationId xmlns:a16="http://schemas.microsoft.com/office/drawing/2014/main" id="{E63B5498-8193-AB52-67BA-1C609311E967}"/>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p:blipFill>
        <p:spPr bwMode="auto">
          <a:xfrm>
            <a:off x="3200400" y="1849779"/>
            <a:ext cx="5486400" cy="1215341"/>
          </a:xfrm>
          <a:prstGeom prst="rect">
            <a:avLst/>
          </a:prstGeom>
          <a:noFill/>
          <a:ln>
            <a:noFill/>
          </a:ln>
        </p:spPr>
      </p:pic>
      <p:grpSp>
        <p:nvGrpSpPr>
          <p:cNvPr id="7" name="Groupe 6">
            <a:extLst>
              <a:ext uri="{FF2B5EF4-FFF2-40B4-BE49-F238E27FC236}">
                <a16:creationId xmlns:a16="http://schemas.microsoft.com/office/drawing/2014/main" id="{D6AF11A1-5558-D3B8-9282-C85BE4DF5A8E}"/>
              </a:ext>
            </a:extLst>
          </p:cNvPr>
          <p:cNvGrpSpPr/>
          <p:nvPr>
            <p:custDataLst>
              <p:tags r:id="rId4"/>
            </p:custDataLst>
          </p:nvPr>
        </p:nvGrpSpPr>
        <p:grpSpPr>
          <a:xfrm>
            <a:off x="10745537" y="-124816"/>
            <a:ext cx="914400" cy="1138162"/>
            <a:chOff x="10802017" y="164024"/>
            <a:chExt cx="914400" cy="1138162"/>
          </a:xfrm>
        </p:grpSpPr>
        <p:pic>
          <p:nvPicPr>
            <p:cNvPr id="8" name="Graphique 7" descr="Toque d'étudiant avec un remplissage uni">
              <a:extLst>
                <a:ext uri="{FF2B5EF4-FFF2-40B4-BE49-F238E27FC236}">
                  <a16:creationId xmlns:a16="http://schemas.microsoft.com/office/drawing/2014/main" id="{CCE77A3D-BAF7-7F6D-1D98-17CCC24EFE1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02017" y="387786"/>
              <a:ext cx="914400" cy="914400"/>
            </a:xfrm>
            <a:prstGeom prst="rect">
              <a:avLst/>
            </a:prstGeom>
          </p:spPr>
        </p:pic>
        <p:sp>
          <p:nvSpPr>
            <p:cNvPr id="9" name="ZoneTexte 8">
              <a:extLst>
                <a:ext uri="{FF2B5EF4-FFF2-40B4-BE49-F238E27FC236}">
                  <a16:creationId xmlns:a16="http://schemas.microsoft.com/office/drawing/2014/main" id="{5319DA71-8640-CB7D-3B2B-DFF4755E7976}"/>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10" name="Image 9" descr="Une image contenant Police, Graphique, capture d’écran, graphisme&#10;&#10;Description générée automatiquement">
            <a:extLst>
              <a:ext uri="{FF2B5EF4-FFF2-40B4-BE49-F238E27FC236}">
                <a16:creationId xmlns:a16="http://schemas.microsoft.com/office/drawing/2014/main" id="{C3F18D71-F1CE-8504-D336-C0D5CBCF3E0C}"/>
              </a:ext>
            </a:extLst>
          </p:cNvPr>
          <p:cNvPicPr>
            <a:picLocks noChangeAspect="1"/>
          </p:cNvPicPr>
          <p:nvPr>
            <p:custDataLst>
              <p:tags r:id="rId5"/>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4220487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360CAA-51F7-CDB4-A012-90C57666C166}"/>
              </a:ext>
            </a:extLst>
          </p:cNvPr>
          <p:cNvSpPr>
            <a:spLocks noGrp="1"/>
          </p:cNvSpPr>
          <p:nvPr>
            <p:ph type="title"/>
          </p:nvPr>
        </p:nvSpPr>
        <p:spPr/>
        <p:txBody>
          <a:bodyPr/>
          <a:lstStyle/>
          <a:p>
            <a:r>
              <a:rPr lang="fr-CA"/>
              <a:t>Séance 3 et 4</a:t>
            </a:r>
          </a:p>
        </p:txBody>
      </p:sp>
      <p:sp>
        <p:nvSpPr>
          <p:cNvPr id="3" name="Espace réservé du contenu 2">
            <a:extLst>
              <a:ext uri="{FF2B5EF4-FFF2-40B4-BE49-F238E27FC236}">
                <a16:creationId xmlns:a16="http://schemas.microsoft.com/office/drawing/2014/main" id="{D3FDB7A4-BA49-F0CB-F73E-1B439BE54745}"/>
              </a:ext>
            </a:extLst>
          </p:cNvPr>
          <p:cNvSpPr>
            <a:spLocks noGrp="1"/>
          </p:cNvSpPr>
          <p:nvPr>
            <p:ph idx="1"/>
          </p:nvPr>
        </p:nvSpPr>
        <p:spPr>
          <a:xfrm>
            <a:off x="224640" y="1017270"/>
            <a:ext cx="11767680" cy="5840730"/>
          </a:xfrm>
        </p:spPr>
        <p:txBody>
          <a:bodyPr>
            <a:normAutofit fontScale="92500" lnSpcReduction="10000"/>
          </a:bodyPr>
          <a:lstStyle/>
          <a:p>
            <a:pPr marL="457200" indent="-457200">
              <a:buFont typeface="+mj-lt"/>
              <a:buAutoNum type="arabicPeriod" startAt="10"/>
            </a:pPr>
            <a:r>
              <a:rPr lang="fr-CA"/>
              <a:t>Un changement dans les processus d’affaires de l'organisation aura un impact en priorité sur…</a:t>
            </a:r>
          </a:p>
          <a:p>
            <a:pPr marL="914400" lvl="1" indent="-457200">
              <a:buFont typeface="+mj-lt"/>
              <a:buAutoNum type="alphaLcPeriod"/>
            </a:pPr>
            <a:r>
              <a:rPr lang="fr-CA" sz="1800"/>
              <a:t>…le modèle logique, qui devra ensuite être propagé au conceptuel </a:t>
            </a:r>
          </a:p>
          <a:p>
            <a:pPr marL="914400" lvl="1" indent="-457200">
              <a:buFont typeface="+mj-lt"/>
              <a:buAutoNum type="alphaLcPeriod"/>
            </a:pPr>
            <a:r>
              <a:rPr lang="fr-CA" sz="1800"/>
              <a:t>…le modèle conceptuel, qui pourra ensuite nécessiter des ajustements au logique </a:t>
            </a:r>
          </a:p>
          <a:p>
            <a:pPr marL="914400" lvl="1" indent="-457200">
              <a:buFont typeface="+mj-lt"/>
              <a:buAutoNum type="alphaLcPeriod"/>
            </a:pPr>
            <a:r>
              <a:rPr lang="fr-CA" sz="1800"/>
              <a:t>…les deux modèles simultanément et de manière identique </a:t>
            </a:r>
          </a:p>
          <a:p>
            <a:pPr marL="914400" lvl="1" indent="-457200">
              <a:buFont typeface="+mj-lt"/>
              <a:buAutoNum type="alphaLcPeriod"/>
            </a:pPr>
            <a:r>
              <a:rPr lang="fr-CA" sz="1800"/>
              <a:t>…aucun des deux, car les processus métier concernent uniquement le modèle physique</a:t>
            </a:r>
          </a:p>
          <a:p>
            <a:pPr marL="457200" indent="-457200">
              <a:buFont typeface="+mj-lt"/>
              <a:buAutoNum type="arabicPeriod" startAt="10"/>
            </a:pPr>
            <a:r>
              <a:rPr lang="fr-CA"/>
              <a:t>Quels sont les principaux avantages de maintenir à la fois un modèle conceptuel et un modèle logique ? (Sélectionnez toutes les bonnes réponses)</a:t>
            </a:r>
          </a:p>
          <a:p>
            <a:pPr marL="914400" lvl="1" indent="-457200">
              <a:buFont typeface="+mj-lt"/>
              <a:buAutoNum type="alphaLcPeriod"/>
            </a:pPr>
            <a:r>
              <a:rPr lang="fr-CA" sz="1800"/>
              <a:t>Faciliter la communication avec les utilisateurs qui n'ont pas de connaissances techniques </a:t>
            </a:r>
          </a:p>
          <a:p>
            <a:pPr marL="914400" lvl="1" indent="-457200">
              <a:buFont typeface="+mj-lt"/>
              <a:buAutoNum type="alphaLcPeriod"/>
            </a:pPr>
            <a:r>
              <a:rPr lang="fr-CA" sz="1800"/>
              <a:t>Permettre de changer de technologie de base de données sans revoir entièrement la vision métier</a:t>
            </a:r>
          </a:p>
          <a:p>
            <a:pPr marL="914400" lvl="1" indent="-457200">
              <a:buFont typeface="+mj-lt"/>
              <a:buAutoNum type="alphaLcPeriod"/>
            </a:pPr>
            <a:r>
              <a:rPr lang="fr-CA" sz="1800"/>
              <a:t>Réduire le temps total de développement en éliminant les étapes intermédiaires</a:t>
            </a:r>
          </a:p>
          <a:p>
            <a:pPr marL="914400" lvl="1" indent="-457200">
              <a:buFont typeface="+mj-lt"/>
              <a:buAutoNum type="alphaLcPeriod"/>
            </a:pPr>
            <a:r>
              <a:rPr lang="fr-CA" sz="1800"/>
              <a:t>Améliorer la traçabilité entre les besoins d’affaires et l'implémentation technique</a:t>
            </a:r>
          </a:p>
          <a:p>
            <a:pPr marL="914400" lvl="1" indent="-457200">
              <a:buFont typeface="+mj-lt"/>
              <a:buAutoNum type="alphaLcPeriod"/>
            </a:pPr>
            <a:r>
              <a:rPr lang="fr-CA" sz="1800"/>
              <a:t>Garantir que le système sera plus performant qu'avec un seul modèle</a:t>
            </a:r>
          </a:p>
          <a:p>
            <a:pPr marL="914400" lvl="1" indent="-457200">
              <a:buFont typeface="+mj-lt"/>
              <a:buAutoNum type="alphaLcPeriod"/>
            </a:pPr>
            <a:r>
              <a:rPr lang="fr-CA" sz="1800"/>
              <a:t>Structurer la démarche de conception en séparant les préoccupations d’affaires et techniques</a:t>
            </a:r>
          </a:p>
        </p:txBody>
      </p:sp>
      <p:pic>
        <p:nvPicPr>
          <p:cNvPr id="6" name="Image 5" descr="Une image contenant Police, Graphique, capture d’écran, graphisme&#10;&#10;Description générée automatiquement">
            <a:extLst>
              <a:ext uri="{FF2B5EF4-FFF2-40B4-BE49-F238E27FC236}">
                <a16:creationId xmlns:a16="http://schemas.microsoft.com/office/drawing/2014/main" id="{90799B25-13D6-720A-30A2-71A7F3540EE3}"/>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pSp>
        <p:nvGrpSpPr>
          <p:cNvPr id="4" name="Groupe 6">
            <a:extLst>
              <a:ext uri="{FF2B5EF4-FFF2-40B4-BE49-F238E27FC236}">
                <a16:creationId xmlns:a16="http://schemas.microsoft.com/office/drawing/2014/main" id="{4218E18B-E92E-E772-7338-214A5D5D2CD5}"/>
              </a:ext>
            </a:extLst>
          </p:cNvPr>
          <p:cNvGrpSpPr/>
          <p:nvPr>
            <p:custDataLst>
              <p:tags r:id="rId2"/>
            </p:custDataLst>
          </p:nvPr>
        </p:nvGrpSpPr>
        <p:grpSpPr>
          <a:xfrm>
            <a:off x="10745537" y="-124816"/>
            <a:ext cx="914400" cy="1138162"/>
            <a:chOff x="10802017" y="164024"/>
            <a:chExt cx="914400" cy="1138162"/>
          </a:xfrm>
        </p:grpSpPr>
        <p:pic>
          <p:nvPicPr>
            <p:cNvPr id="5" name="Graphique 7" descr="Toque d'étudiant avec un remplissage uni">
              <a:extLst>
                <a:ext uri="{FF2B5EF4-FFF2-40B4-BE49-F238E27FC236}">
                  <a16:creationId xmlns:a16="http://schemas.microsoft.com/office/drawing/2014/main" id="{221E709C-F65B-E5A3-76C4-BE7C473847D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02017" y="387786"/>
              <a:ext cx="914400" cy="914400"/>
            </a:xfrm>
            <a:prstGeom prst="rect">
              <a:avLst/>
            </a:prstGeom>
          </p:spPr>
        </p:pic>
        <p:sp>
          <p:nvSpPr>
            <p:cNvPr id="7" name="ZoneTexte 8">
              <a:extLst>
                <a:ext uri="{FF2B5EF4-FFF2-40B4-BE49-F238E27FC236}">
                  <a16:creationId xmlns:a16="http://schemas.microsoft.com/office/drawing/2014/main" id="{F82D16AE-4AE1-62EF-94D5-ABFA8A241C00}"/>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spTree>
    <p:extLst>
      <p:ext uri="{BB962C8B-B14F-4D97-AF65-F5344CB8AC3E}">
        <p14:creationId xmlns:p14="http://schemas.microsoft.com/office/powerpoint/2010/main" val="3506596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FC1B4089-BDB2-B371-9F57-4780D5C0261A}"/>
              </a:ext>
            </a:extLst>
          </p:cNvPr>
          <p:cNvGraphicFramePr>
            <a:graphicFrameLocks noGrp="1"/>
          </p:cNvGraphicFramePr>
          <p:nvPr>
            <p:custDataLst>
              <p:tags r:id="rId1"/>
            </p:custDataLst>
            <p:extLst>
              <p:ext uri="{D42A27DB-BD31-4B8C-83A1-F6EECF244321}">
                <p14:modId xmlns:p14="http://schemas.microsoft.com/office/powerpoint/2010/main" val="2487837636"/>
              </p:ext>
            </p:extLst>
          </p:nvPr>
        </p:nvGraphicFramePr>
        <p:xfrm>
          <a:off x="1898650" y="2480554"/>
          <a:ext cx="8128000" cy="3360176"/>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28932836"/>
                    </a:ext>
                  </a:extLst>
                </a:gridCol>
                <a:gridCol w="4064000">
                  <a:extLst>
                    <a:ext uri="{9D8B030D-6E8A-4147-A177-3AD203B41FA5}">
                      <a16:colId xmlns:a16="http://schemas.microsoft.com/office/drawing/2014/main" val="390292372"/>
                    </a:ext>
                  </a:extLst>
                </a:gridCol>
              </a:tblGrid>
              <a:tr h="1680088">
                <a:tc>
                  <a:txBody>
                    <a:bodyPr/>
                    <a:lstStyle/>
                    <a:p>
                      <a:r>
                        <a:rPr lang="fr-CA">
                          <a:latin typeface="Visby CF" pitchFamily="50" charset="0"/>
                        </a:rPr>
                        <a:t>a)</a:t>
                      </a:r>
                    </a:p>
                  </a:txBody>
                  <a:tcPr/>
                </a:tc>
                <a:tc>
                  <a:txBody>
                    <a:bodyPr/>
                    <a:lstStyle/>
                    <a:p>
                      <a:r>
                        <a:rPr lang="fr-CA">
                          <a:latin typeface="Visby CF" pitchFamily="50" charset="0"/>
                        </a:rPr>
                        <a:t>b)</a:t>
                      </a:r>
                    </a:p>
                  </a:txBody>
                  <a:tcPr/>
                </a:tc>
                <a:extLst>
                  <a:ext uri="{0D108BD9-81ED-4DB2-BD59-A6C34878D82A}">
                    <a16:rowId xmlns:a16="http://schemas.microsoft.com/office/drawing/2014/main" val="186666227"/>
                  </a:ext>
                </a:extLst>
              </a:tr>
              <a:tr h="1680088">
                <a:tc>
                  <a:txBody>
                    <a:bodyPr/>
                    <a:lstStyle/>
                    <a:p>
                      <a:r>
                        <a:rPr lang="fr-CA">
                          <a:latin typeface="Visby CF" pitchFamily="50" charset="0"/>
                        </a:rPr>
                        <a:t>c)</a:t>
                      </a:r>
                    </a:p>
                  </a:txBody>
                  <a:tcPr/>
                </a:tc>
                <a:tc>
                  <a:txBody>
                    <a:bodyPr/>
                    <a:lstStyle/>
                    <a:p>
                      <a:r>
                        <a:rPr lang="fr-CA">
                          <a:latin typeface="Visby CF" pitchFamily="50" charset="0"/>
                        </a:rPr>
                        <a:t>d)</a:t>
                      </a:r>
                    </a:p>
                  </a:txBody>
                  <a:tcPr/>
                </a:tc>
                <a:extLst>
                  <a:ext uri="{0D108BD9-81ED-4DB2-BD59-A6C34878D82A}">
                    <a16:rowId xmlns:a16="http://schemas.microsoft.com/office/drawing/2014/main" val="2546881843"/>
                  </a:ext>
                </a:extLst>
              </a:tr>
            </a:tbl>
          </a:graphicData>
        </a:graphic>
      </p:graphicFrame>
      <p:sp>
        <p:nvSpPr>
          <p:cNvPr id="2" name="Titre 1">
            <a:extLst>
              <a:ext uri="{FF2B5EF4-FFF2-40B4-BE49-F238E27FC236}">
                <a16:creationId xmlns:a16="http://schemas.microsoft.com/office/drawing/2014/main" id="{E511540D-E2CC-C59B-E67E-D377B6CB5D37}"/>
              </a:ext>
            </a:extLst>
          </p:cNvPr>
          <p:cNvSpPr>
            <a:spLocks noGrp="1"/>
          </p:cNvSpPr>
          <p:nvPr>
            <p:ph type="title"/>
            <p:custDataLst>
              <p:tags r:id="rId2"/>
            </p:custDataLst>
          </p:nvPr>
        </p:nvSpPr>
        <p:spPr/>
        <p:txBody>
          <a:bodyPr/>
          <a:lstStyle/>
          <a:p>
            <a:r>
              <a:rPr lang="fr-CA"/>
              <a:t>Séance 4</a:t>
            </a:r>
          </a:p>
        </p:txBody>
      </p:sp>
      <p:sp>
        <p:nvSpPr>
          <p:cNvPr id="3" name="Espace réservé du contenu 2">
            <a:extLst>
              <a:ext uri="{FF2B5EF4-FFF2-40B4-BE49-F238E27FC236}">
                <a16:creationId xmlns:a16="http://schemas.microsoft.com/office/drawing/2014/main" id="{FF63C5F5-3986-2111-E5C8-58D915FDBF1D}"/>
              </a:ext>
            </a:extLst>
          </p:cNvPr>
          <p:cNvSpPr>
            <a:spLocks noGrp="1"/>
          </p:cNvSpPr>
          <p:nvPr>
            <p:ph idx="1"/>
            <p:custDataLst>
              <p:tags r:id="rId3"/>
            </p:custDataLst>
          </p:nvPr>
        </p:nvSpPr>
        <p:spPr/>
        <p:txBody>
          <a:bodyPr/>
          <a:lstStyle/>
          <a:p>
            <a:pPr marL="457200" indent="-457200">
              <a:lnSpc>
                <a:spcPct val="140000"/>
              </a:lnSpc>
              <a:spcAft>
                <a:spcPts val="800"/>
              </a:spcAft>
              <a:buFont typeface="+mj-lt"/>
              <a:buAutoNum type="arabicPeriod" startAt="12"/>
            </a:pPr>
            <a:r>
              <a:rPr lang="fr-CA"/>
              <a:t>D'après le cas présenté, lequel des diagrammes de classes ci-dessous représente le mieux la relation entre les entités Étudiant et Cours ? </a:t>
            </a:r>
          </a:p>
        </p:txBody>
      </p:sp>
      <p:pic>
        <p:nvPicPr>
          <p:cNvPr id="4" name="Image 3" descr="Une image contenant texte, ligne, diagramme, capture d’écran&#10;&#10;Le contenu généré par l’IA peut être incorrect.">
            <a:extLst>
              <a:ext uri="{FF2B5EF4-FFF2-40B4-BE49-F238E27FC236}">
                <a16:creationId xmlns:a16="http://schemas.microsoft.com/office/drawing/2014/main" id="{836EF829-032E-252E-DAEF-2F3C21220682}"/>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rcRect/>
          <a:stretch>
            <a:fillRect/>
          </a:stretch>
        </p:blipFill>
        <p:spPr bwMode="auto">
          <a:xfrm>
            <a:off x="2304415" y="2879966"/>
            <a:ext cx="3239770" cy="977265"/>
          </a:xfrm>
          <a:prstGeom prst="rect">
            <a:avLst/>
          </a:prstGeom>
          <a:noFill/>
          <a:ln>
            <a:noFill/>
          </a:ln>
        </p:spPr>
      </p:pic>
      <p:pic>
        <p:nvPicPr>
          <p:cNvPr id="5" name="Image 4" descr="Une image contenant texte, ligne, diagramme, capture d’écran&#10;&#10;Le contenu généré par l’IA peut être incorrect.">
            <a:extLst>
              <a:ext uri="{FF2B5EF4-FFF2-40B4-BE49-F238E27FC236}">
                <a16:creationId xmlns:a16="http://schemas.microsoft.com/office/drawing/2014/main" id="{932751D6-031D-8F73-C252-107597E87CF7}"/>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6540010" y="2879966"/>
            <a:ext cx="3239770" cy="977265"/>
          </a:xfrm>
          <a:prstGeom prst="rect">
            <a:avLst/>
          </a:prstGeom>
          <a:noFill/>
          <a:ln>
            <a:noFill/>
          </a:ln>
        </p:spPr>
      </p:pic>
      <p:pic>
        <p:nvPicPr>
          <p:cNvPr id="6" name="Image 5" descr="Une image contenant texte, ligne, diagramme, capture d’écran&#10;&#10;Le contenu généré par l’IA peut être incorrect.">
            <a:extLst>
              <a:ext uri="{FF2B5EF4-FFF2-40B4-BE49-F238E27FC236}">
                <a16:creationId xmlns:a16="http://schemas.microsoft.com/office/drawing/2014/main" id="{6D09AF01-E540-089F-C141-19BC9BEE1C93}"/>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Lst>
          </a:blip>
          <a:srcRect/>
          <a:stretch>
            <a:fillRect/>
          </a:stretch>
        </p:blipFill>
        <p:spPr bwMode="auto">
          <a:xfrm>
            <a:off x="2304415" y="4566427"/>
            <a:ext cx="3239770" cy="977265"/>
          </a:xfrm>
          <a:prstGeom prst="rect">
            <a:avLst/>
          </a:prstGeom>
          <a:noFill/>
          <a:ln>
            <a:noFill/>
          </a:ln>
        </p:spPr>
      </p:pic>
      <p:pic>
        <p:nvPicPr>
          <p:cNvPr id="9" name="Image 8" descr="Une image contenant texte, ligne, diagramme, capture d’écran&#10;&#10;Le contenu généré par l’IA peut être incorrect.">
            <a:extLst>
              <a:ext uri="{FF2B5EF4-FFF2-40B4-BE49-F238E27FC236}">
                <a16:creationId xmlns:a16="http://schemas.microsoft.com/office/drawing/2014/main" id="{63E1D52A-8D11-15C0-1311-AA78AF179604}"/>
              </a:ext>
            </a:extLst>
          </p:cNvPr>
          <p:cNvPicPr>
            <a:picLocks noChangeAspect="1"/>
          </p:cNvPicPr>
          <p:nvPr>
            <p:custDataLst>
              <p:tags r:id="rId7"/>
            </p:custDataLst>
          </p:nvPr>
        </p:nvPicPr>
        <p:blipFill>
          <a:blip r:embed="rId15">
            <a:extLst>
              <a:ext uri="{28A0092B-C50C-407E-A947-70E740481C1C}">
                <a14:useLocalDpi xmlns:a14="http://schemas.microsoft.com/office/drawing/2010/main" val="0"/>
              </a:ext>
            </a:extLst>
          </a:blip>
          <a:srcRect/>
          <a:stretch>
            <a:fillRect/>
          </a:stretch>
        </p:blipFill>
        <p:spPr bwMode="auto">
          <a:xfrm>
            <a:off x="6540010" y="4562782"/>
            <a:ext cx="3239770" cy="977265"/>
          </a:xfrm>
          <a:prstGeom prst="rect">
            <a:avLst/>
          </a:prstGeom>
          <a:noFill/>
          <a:ln>
            <a:noFill/>
          </a:ln>
        </p:spPr>
      </p:pic>
      <p:grpSp>
        <p:nvGrpSpPr>
          <p:cNvPr id="10" name="Groupe 9">
            <a:extLst>
              <a:ext uri="{FF2B5EF4-FFF2-40B4-BE49-F238E27FC236}">
                <a16:creationId xmlns:a16="http://schemas.microsoft.com/office/drawing/2014/main" id="{9AA0100E-5A95-454F-0069-A3305A5F158C}"/>
              </a:ext>
            </a:extLst>
          </p:cNvPr>
          <p:cNvGrpSpPr/>
          <p:nvPr>
            <p:custDataLst>
              <p:tags r:id="rId8"/>
            </p:custDataLst>
          </p:nvPr>
        </p:nvGrpSpPr>
        <p:grpSpPr>
          <a:xfrm>
            <a:off x="10745537" y="-124816"/>
            <a:ext cx="914400" cy="1138162"/>
            <a:chOff x="10802017" y="164024"/>
            <a:chExt cx="914400" cy="1138162"/>
          </a:xfrm>
        </p:grpSpPr>
        <p:pic>
          <p:nvPicPr>
            <p:cNvPr id="11" name="Graphique 10" descr="Toque d'étudiant avec un remplissage uni">
              <a:extLst>
                <a:ext uri="{FF2B5EF4-FFF2-40B4-BE49-F238E27FC236}">
                  <a16:creationId xmlns:a16="http://schemas.microsoft.com/office/drawing/2014/main" id="{CB7FC49D-17EC-953D-66F6-072F7278124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802017" y="387786"/>
              <a:ext cx="914400" cy="914400"/>
            </a:xfrm>
            <a:prstGeom prst="rect">
              <a:avLst/>
            </a:prstGeom>
          </p:spPr>
        </p:pic>
        <p:sp>
          <p:nvSpPr>
            <p:cNvPr id="12" name="ZoneTexte 11">
              <a:extLst>
                <a:ext uri="{FF2B5EF4-FFF2-40B4-BE49-F238E27FC236}">
                  <a16:creationId xmlns:a16="http://schemas.microsoft.com/office/drawing/2014/main" id="{31453DBC-F979-1E23-06CF-A7066803AA2F}"/>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13" name="Image 12" descr="Une image contenant Police, Graphique, capture d’écran, graphisme&#10;&#10;Description générée automatiquement">
            <a:extLst>
              <a:ext uri="{FF2B5EF4-FFF2-40B4-BE49-F238E27FC236}">
                <a16:creationId xmlns:a16="http://schemas.microsoft.com/office/drawing/2014/main" id="{F19F9E6A-3792-25A5-8FE7-E78A1C43DE52}"/>
              </a:ext>
            </a:extLst>
          </p:cNvPr>
          <p:cNvPicPr>
            <a:picLocks noChangeAspect="1"/>
          </p:cNvPicPr>
          <p:nvPr>
            <p:custDataLst>
              <p:tags r:id="rId9"/>
            </p:custDataLst>
          </p:nvPr>
        </p:nvPicPr>
        <p:blipFill>
          <a:blip r:embed="rId1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056226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20EE12-4B8C-B45B-3C42-BF551E8E7243}"/>
              </a:ext>
            </a:extLst>
          </p:cNvPr>
          <p:cNvSpPr>
            <a:spLocks noGrp="1"/>
          </p:cNvSpPr>
          <p:nvPr>
            <p:ph type="title"/>
            <p:custDataLst>
              <p:tags r:id="rId1"/>
            </p:custDataLst>
          </p:nvPr>
        </p:nvSpPr>
        <p:spPr/>
        <p:txBody>
          <a:bodyPr/>
          <a:lstStyle/>
          <a:p>
            <a:r>
              <a:rPr lang="fr-CA"/>
              <a:t>Séance 3</a:t>
            </a:r>
          </a:p>
        </p:txBody>
      </p:sp>
      <p:sp>
        <p:nvSpPr>
          <p:cNvPr id="3" name="Espace réservé du contenu 2">
            <a:extLst>
              <a:ext uri="{FF2B5EF4-FFF2-40B4-BE49-F238E27FC236}">
                <a16:creationId xmlns:a16="http://schemas.microsoft.com/office/drawing/2014/main" id="{4702ADD8-388B-1A45-F4ED-1B27D145BE69}"/>
              </a:ext>
            </a:extLst>
          </p:cNvPr>
          <p:cNvSpPr>
            <a:spLocks noGrp="1"/>
          </p:cNvSpPr>
          <p:nvPr>
            <p:ph idx="1"/>
            <p:custDataLst>
              <p:tags r:id="rId2"/>
            </p:custDataLst>
          </p:nvPr>
        </p:nvSpPr>
        <p:spPr/>
        <p:txBody>
          <a:bodyPr/>
          <a:lstStyle/>
          <a:p>
            <a:pPr marL="457200" indent="-457200">
              <a:lnSpc>
                <a:spcPct val="140000"/>
              </a:lnSpc>
              <a:spcAft>
                <a:spcPts val="800"/>
              </a:spcAft>
              <a:buFont typeface="+mj-lt"/>
              <a:buAutoNum type="arabicPeriod" startAt="13"/>
            </a:pPr>
            <a:r>
              <a:rPr lang="fr-CA"/>
              <a:t>Pourquoi cette table n’est pas en 2FN?</a:t>
            </a:r>
          </a:p>
          <a:p>
            <a:pPr marL="457200" indent="-457200">
              <a:lnSpc>
                <a:spcPct val="140000"/>
              </a:lnSpc>
              <a:spcAft>
                <a:spcPts val="800"/>
              </a:spcAft>
              <a:buFont typeface="+mj-lt"/>
              <a:buAutoNum type="arabicPeriod" startAt="13"/>
            </a:pPr>
            <a:endParaRPr lang="fr-CA"/>
          </a:p>
          <a:p>
            <a:pPr marL="457200" indent="-457200">
              <a:lnSpc>
                <a:spcPct val="140000"/>
              </a:lnSpc>
              <a:spcAft>
                <a:spcPts val="800"/>
              </a:spcAft>
              <a:buFont typeface="+mj-lt"/>
              <a:buAutoNum type="arabicPeriod" startAt="13"/>
            </a:pPr>
            <a:endParaRPr lang="fr-CA"/>
          </a:p>
          <a:p>
            <a:pPr marL="457200" indent="-457200">
              <a:lnSpc>
                <a:spcPct val="140000"/>
              </a:lnSpc>
              <a:spcAft>
                <a:spcPts val="800"/>
              </a:spcAft>
              <a:buFont typeface="+mj-lt"/>
              <a:buAutoNum type="arabicPeriod" startAt="13"/>
            </a:pPr>
            <a:endParaRPr lang="fr-CA"/>
          </a:p>
          <a:p>
            <a:pPr marL="457200" indent="-457200">
              <a:lnSpc>
                <a:spcPct val="140000"/>
              </a:lnSpc>
              <a:spcAft>
                <a:spcPts val="800"/>
              </a:spcAft>
              <a:buFont typeface="+mj-lt"/>
              <a:buAutoNum type="arabicPeriod" startAt="13"/>
            </a:pPr>
            <a:endParaRPr lang="fr-CA"/>
          </a:p>
          <a:p>
            <a:pPr marL="457200" indent="-457200">
              <a:lnSpc>
                <a:spcPct val="140000"/>
              </a:lnSpc>
              <a:spcAft>
                <a:spcPts val="800"/>
              </a:spcAft>
              <a:buFont typeface="+mj-lt"/>
              <a:buAutoNum type="arabicPeriod" startAt="13"/>
            </a:pPr>
            <a:endParaRPr lang="fr-CA"/>
          </a:p>
          <a:p>
            <a:pPr marL="914400" lvl="1" indent="-457200">
              <a:lnSpc>
                <a:spcPct val="140000"/>
              </a:lnSpc>
              <a:buFont typeface="Wingdings" panose="05000000000000000000" pitchFamily="2" charset="2"/>
              <a:buAutoNum type="alphaLcPeriod"/>
            </a:pPr>
            <a:r>
              <a:rPr lang="fr-CA"/>
              <a:t>Certaines cellules sont vides </a:t>
            </a:r>
          </a:p>
          <a:p>
            <a:pPr marL="914400" lvl="1" indent="-457200">
              <a:lnSpc>
                <a:spcPct val="140000"/>
              </a:lnSpc>
              <a:buFont typeface="Wingdings" panose="05000000000000000000" pitchFamily="2" charset="2"/>
              <a:buAutoNum type="alphaLcPeriod"/>
            </a:pPr>
            <a:r>
              <a:rPr lang="fr-CA"/>
              <a:t>Il y a plusieurs clés primaires </a:t>
            </a:r>
          </a:p>
          <a:p>
            <a:pPr marL="914400" lvl="1" indent="-457200">
              <a:lnSpc>
                <a:spcPct val="140000"/>
              </a:lnSpc>
              <a:buFont typeface="Wingdings" panose="05000000000000000000" pitchFamily="2" charset="2"/>
              <a:buAutoNum type="alphaLcPeriod"/>
            </a:pPr>
            <a:r>
              <a:rPr lang="fr-CA"/>
              <a:t>Des attributs non-clé dépendent uniquement d’une partie de la clé primaire concaténée</a:t>
            </a:r>
          </a:p>
          <a:p>
            <a:pPr marL="914400" lvl="1" indent="-457200">
              <a:lnSpc>
                <a:spcPct val="140000"/>
              </a:lnSpc>
              <a:spcAft>
                <a:spcPts val="800"/>
              </a:spcAft>
              <a:buFont typeface="Wingdings" panose="05000000000000000000" pitchFamily="2" charset="2"/>
              <a:buAutoNum type="alphaLcPeriod"/>
            </a:pPr>
            <a:r>
              <a:rPr lang="fr-CA"/>
              <a:t>B et C</a:t>
            </a:r>
          </a:p>
          <a:p>
            <a:pPr marL="0" indent="0">
              <a:lnSpc>
                <a:spcPct val="140000"/>
              </a:lnSpc>
              <a:spcAft>
                <a:spcPts val="800"/>
              </a:spcAft>
              <a:buNone/>
            </a:pPr>
            <a:endParaRPr lang="fr-CA"/>
          </a:p>
          <a:p>
            <a:endParaRPr lang="fr-CA"/>
          </a:p>
        </p:txBody>
      </p:sp>
      <p:grpSp>
        <p:nvGrpSpPr>
          <p:cNvPr id="4" name="Groupe 3">
            <a:extLst>
              <a:ext uri="{FF2B5EF4-FFF2-40B4-BE49-F238E27FC236}">
                <a16:creationId xmlns:a16="http://schemas.microsoft.com/office/drawing/2014/main" id="{9C866420-D3F7-F9FA-74CD-65DCC3A190AF}"/>
              </a:ext>
            </a:extLst>
          </p:cNvPr>
          <p:cNvGrpSpPr/>
          <p:nvPr>
            <p:custDataLst>
              <p:tags r:id="rId3"/>
            </p:custDataLst>
          </p:nvPr>
        </p:nvGrpSpPr>
        <p:grpSpPr>
          <a:xfrm>
            <a:off x="10745537" y="-124816"/>
            <a:ext cx="914400" cy="1138162"/>
            <a:chOff x="10802017" y="164024"/>
            <a:chExt cx="914400" cy="1138162"/>
          </a:xfrm>
        </p:grpSpPr>
        <p:pic>
          <p:nvPicPr>
            <p:cNvPr id="5" name="Graphique 4" descr="Toque d'étudiant avec un remplissage uni">
              <a:extLst>
                <a:ext uri="{FF2B5EF4-FFF2-40B4-BE49-F238E27FC236}">
                  <a16:creationId xmlns:a16="http://schemas.microsoft.com/office/drawing/2014/main" id="{74B7FB67-4CFD-1B05-CFA6-BF049FF826C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802017" y="387786"/>
              <a:ext cx="914400" cy="914400"/>
            </a:xfrm>
            <a:prstGeom prst="rect">
              <a:avLst/>
            </a:prstGeom>
          </p:spPr>
        </p:pic>
        <p:sp>
          <p:nvSpPr>
            <p:cNvPr id="6" name="ZoneTexte 5">
              <a:extLst>
                <a:ext uri="{FF2B5EF4-FFF2-40B4-BE49-F238E27FC236}">
                  <a16:creationId xmlns:a16="http://schemas.microsoft.com/office/drawing/2014/main" id="{D82DAEE6-9CE8-4A04-4AC4-E75463A8735B}"/>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DA6C5BF7-A4FF-5F97-2F88-107B93DA7E45}"/>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aphicFrame>
        <p:nvGraphicFramePr>
          <p:cNvPr id="8" name="Tableau 7">
            <a:extLst>
              <a:ext uri="{FF2B5EF4-FFF2-40B4-BE49-F238E27FC236}">
                <a16:creationId xmlns:a16="http://schemas.microsoft.com/office/drawing/2014/main" id="{F6B742F6-39BD-F433-6FD6-CA30FCF70522}"/>
              </a:ext>
            </a:extLst>
          </p:cNvPr>
          <p:cNvGraphicFramePr>
            <a:graphicFrameLocks noGrp="1"/>
          </p:cNvGraphicFramePr>
          <p:nvPr>
            <p:custDataLst>
              <p:tags r:id="rId5"/>
            </p:custDataLst>
            <p:extLst>
              <p:ext uri="{D42A27DB-BD31-4B8C-83A1-F6EECF244321}">
                <p14:modId xmlns:p14="http://schemas.microsoft.com/office/powerpoint/2010/main" val="2697004961"/>
              </p:ext>
            </p:extLst>
          </p:nvPr>
        </p:nvGraphicFramePr>
        <p:xfrm>
          <a:off x="693302" y="1715294"/>
          <a:ext cx="10515600" cy="2926080"/>
        </p:xfrm>
        <a:graphic>
          <a:graphicData uri="http://schemas.openxmlformats.org/drawingml/2006/table">
            <a:tbl>
              <a:tblPr firstRow="1" firstCol="1" bandRow="1">
                <a:tableStyleId>{5940675A-B579-460E-94D1-54222C63F5DA}</a:tableStyleId>
              </a:tblPr>
              <a:tblGrid>
                <a:gridCol w="1002148">
                  <a:extLst>
                    <a:ext uri="{9D8B030D-6E8A-4147-A177-3AD203B41FA5}">
                      <a16:colId xmlns:a16="http://schemas.microsoft.com/office/drawing/2014/main" val="3373962828"/>
                    </a:ext>
                  </a:extLst>
                </a:gridCol>
                <a:gridCol w="1323975">
                  <a:extLst>
                    <a:ext uri="{9D8B030D-6E8A-4147-A177-3AD203B41FA5}">
                      <a16:colId xmlns:a16="http://schemas.microsoft.com/office/drawing/2014/main" val="3036844604"/>
                    </a:ext>
                  </a:extLst>
                </a:gridCol>
                <a:gridCol w="1617227">
                  <a:extLst>
                    <a:ext uri="{9D8B030D-6E8A-4147-A177-3AD203B41FA5}">
                      <a16:colId xmlns:a16="http://schemas.microsoft.com/office/drawing/2014/main" val="3427328074"/>
                    </a:ext>
                  </a:extLst>
                </a:gridCol>
                <a:gridCol w="1314450">
                  <a:extLst>
                    <a:ext uri="{9D8B030D-6E8A-4147-A177-3AD203B41FA5}">
                      <a16:colId xmlns:a16="http://schemas.microsoft.com/office/drawing/2014/main" val="2745086839"/>
                    </a:ext>
                  </a:extLst>
                </a:gridCol>
                <a:gridCol w="1030723">
                  <a:extLst>
                    <a:ext uri="{9D8B030D-6E8A-4147-A177-3AD203B41FA5}">
                      <a16:colId xmlns:a16="http://schemas.microsoft.com/office/drawing/2014/main" val="772590621"/>
                    </a:ext>
                  </a:extLst>
                </a:gridCol>
                <a:gridCol w="2438400">
                  <a:extLst>
                    <a:ext uri="{9D8B030D-6E8A-4147-A177-3AD203B41FA5}">
                      <a16:colId xmlns:a16="http://schemas.microsoft.com/office/drawing/2014/main" val="2081116902"/>
                    </a:ext>
                  </a:extLst>
                </a:gridCol>
                <a:gridCol w="952500">
                  <a:extLst>
                    <a:ext uri="{9D8B030D-6E8A-4147-A177-3AD203B41FA5}">
                      <a16:colId xmlns:a16="http://schemas.microsoft.com/office/drawing/2014/main" val="2787823522"/>
                    </a:ext>
                  </a:extLst>
                </a:gridCol>
                <a:gridCol w="836177">
                  <a:extLst>
                    <a:ext uri="{9D8B030D-6E8A-4147-A177-3AD203B41FA5}">
                      <a16:colId xmlns:a16="http://schemas.microsoft.com/office/drawing/2014/main" val="576073275"/>
                    </a:ext>
                  </a:extLst>
                </a:gridCol>
              </a:tblGrid>
              <a:tr h="365760">
                <a:tc>
                  <a:txBody>
                    <a:bodyPr/>
                    <a:lstStyle/>
                    <a:p>
                      <a:pPr>
                        <a:lnSpc>
                          <a:spcPct val="107000"/>
                        </a:lnSpc>
                        <a:spcAft>
                          <a:spcPts val="800"/>
                        </a:spcAft>
                        <a:buNone/>
                      </a:pPr>
                      <a:r>
                        <a:rPr lang="fr-CA" sz="1400" u="sng" kern="100">
                          <a:effectLst/>
                          <a:latin typeface="Visby CF" pitchFamily="50" charset="0"/>
                        </a:rPr>
                        <a:t>Matricule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Nom</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Date naissance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Programme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u="sng" kern="100">
                          <a:effectLst/>
                          <a:latin typeface="Visby CF" pitchFamily="50" charset="0"/>
                        </a:rPr>
                        <a:t>No cours</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Nom cours</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Session</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Note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78055690"/>
                  </a:ext>
                </a:extLst>
              </a:tr>
              <a:tr h="365760">
                <a:tc>
                  <a:txBody>
                    <a:bodyPr/>
                    <a:lstStyle/>
                    <a:p>
                      <a:pPr>
                        <a:lnSpc>
                          <a:spcPct val="107000"/>
                        </a:lnSpc>
                        <a:spcAft>
                          <a:spcPts val="800"/>
                        </a:spcAft>
                        <a:buNone/>
                      </a:pPr>
                      <a:r>
                        <a:rPr lang="fr-CA" sz="1400" kern="100">
                          <a:effectLst/>
                          <a:latin typeface="Visby CF" pitchFamily="50" charset="0"/>
                        </a:rPr>
                        <a:t>12345678</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Novak Sinner</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2004-01-26</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10701</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MTN</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A2025</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endParaRPr lang="fr-CA" sz="2400" kern="100">
                        <a:effectLst/>
                        <a:latin typeface="Visby CF" pitchFamily="50" charset="0"/>
                      </a:endParaRPr>
                    </a:p>
                  </a:txBody>
                  <a:tcPr marL="68580" marR="68580" marT="0" marB="0" anchor="ctr"/>
                </a:tc>
                <a:extLst>
                  <a:ext uri="{0D108BD9-81ED-4DB2-BD59-A6C34878D82A}">
                    <a16:rowId xmlns:a16="http://schemas.microsoft.com/office/drawing/2014/main" val="3348877753"/>
                  </a:ext>
                </a:extLst>
              </a:tr>
              <a:tr h="365760">
                <a:tc>
                  <a:txBody>
                    <a:bodyPr/>
                    <a:lstStyle/>
                    <a:p>
                      <a:pPr>
                        <a:lnSpc>
                          <a:spcPct val="107000"/>
                        </a:lnSpc>
                        <a:spcAft>
                          <a:spcPts val="800"/>
                        </a:spcAft>
                        <a:buNone/>
                      </a:pPr>
                      <a:r>
                        <a:rPr lang="fr-CA" sz="1400" kern="100">
                          <a:effectLst/>
                          <a:latin typeface="Visby CF" pitchFamily="50" charset="0"/>
                        </a:rPr>
                        <a:t>12345678</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Novak Sinner</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2004-01-26</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10903</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Comptabilité financière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H2025</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83702572"/>
                  </a:ext>
                </a:extLst>
              </a:tr>
              <a:tr h="365760">
                <a:tc>
                  <a:txBody>
                    <a:bodyPr/>
                    <a:lstStyle/>
                    <a:p>
                      <a:pPr>
                        <a:lnSpc>
                          <a:spcPct val="107000"/>
                        </a:lnSpc>
                        <a:spcAft>
                          <a:spcPts val="800"/>
                        </a:spcAft>
                        <a:buNone/>
                      </a:pPr>
                      <a:r>
                        <a:rPr lang="fr-CA" sz="1400" kern="100">
                          <a:effectLst/>
                          <a:latin typeface="Visby CF" pitchFamily="50" charset="0"/>
                        </a:rPr>
                        <a:t>12345678</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Novak Sinner</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2004-01-26</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10200</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Finance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H2025</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86929871"/>
                  </a:ext>
                </a:extLst>
              </a:tr>
              <a:tr h="365760">
                <a:tc>
                  <a:txBody>
                    <a:bodyPr/>
                    <a:lstStyle/>
                    <a:p>
                      <a:pPr>
                        <a:lnSpc>
                          <a:spcPct val="107000"/>
                        </a:lnSpc>
                        <a:spcAft>
                          <a:spcPts val="800"/>
                        </a:spcAft>
                        <a:buNone/>
                      </a:pPr>
                      <a:r>
                        <a:rPr lang="fr-CA" sz="1400" kern="100">
                          <a:effectLst/>
                          <a:latin typeface="Visby CF" pitchFamily="50" charset="0"/>
                        </a:rPr>
                        <a:t>12345678</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Novak Sinner</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2004-01-26</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10407</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Management</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A2024</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93094024"/>
                  </a:ext>
                </a:extLst>
              </a:tr>
              <a:tr h="365760">
                <a:tc>
                  <a:txBody>
                    <a:bodyPr/>
                    <a:lstStyle/>
                    <a:p>
                      <a:pPr>
                        <a:lnSpc>
                          <a:spcPct val="107000"/>
                        </a:lnSpc>
                        <a:spcAft>
                          <a:spcPts val="800"/>
                        </a:spcAft>
                        <a:buNone/>
                      </a:pPr>
                      <a:r>
                        <a:rPr lang="fr-CA" sz="1400" kern="100">
                          <a:effectLst/>
                          <a:latin typeface="Visby CF" pitchFamily="50" charset="0"/>
                        </a:rPr>
                        <a:t>12312345</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Felix Nash</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2000-10-12</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10200</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Finance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A2021</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32118078"/>
                  </a:ext>
                </a:extLst>
              </a:tr>
              <a:tr h="365760">
                <a:tc>
                  <a:txBody>
                    <a:bodyPr/>
                    <a:lstStyle/>
                    <a:p>
                      <a:pPr>
                        <a:lnSpc>
                          <a:spcPct val="107000"/>
                        </a:lnSpc>
                        <a:spcAft>
                          <a:spcPts val="800"/>
                        </a:spcAft>
                        <a:buNone/>
                      </a:pPr>
                      <a:r>
                        <a:rPr lang="fr-CA" sz="1400" kern="100">
                          <a:effectLst/>
                          <a:latin typeface="Visby CF" pitchFamily="50" charset="0"/>
                        </a:rPr>
                        <a:t>12312345</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Felix Nash</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2000-10-12</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10407</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Management</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A2021</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59419679"/>
                  </a:ext>
                </a:extLst>
              </a:tr>
              <a:tr h="365760">
                <a:tc>
                  <a:txBody>
                    <a:bodyPr/>
                    <a:lstStyle/>
                    <a:p>
                      <a:pPr>
                        <a:lnSpc>
                          <a:spcPct val="107000"/>
                        </a:lnSpc>
                        <a:spcAft>
                          <a:spcPts val="800"/>
                        </a:spcAft>
                        <a:buNone/>
                      </a:pPr>
                      <a:r>
                        <a:rPr lang="fr-CA" sz="1400" kern="100">
                          <a:effectLst/>
                          <a:latin typeface="Visby CF" pitchFamily="50" charset="0"/>
                        </a:rPr>
                        <a:t>12312345</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Felix Nash</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2000-10-12</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BAA</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10903</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Comptabilité financière</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7000"/>
                        </a:lnSpc>
                        <a:spcAft>
                          <a:spcPts val="800"/>
                        </a:spcAft>
                        <a:buNone/>
                      </a:pPr>
                      <a:r>
                        <a:rPr lang="fr-CA" sz="1400" kern="100">
                          <a:effectLst/>
                          <a:latin typeface="Visby CF" pitchFamily="50" charset="0"/>
                        </a:rPr>
                        <a:t>H2022</a:t>
                      </a:r>
                      <a:endParaRPr lang="fr-CA" sz="2400" kern="100">
                        <a:effectLst/>
                        <a:latin typeface="Visby CF" pitchFamily="50" charset="0"/>
                        <a:ea typeface="Aptos" panose="020B0004020202020204" pitchFamily="34" charset="0"/>
                        <a:cs typeface="Times New Roman" panose="02020603050405020304" pitchFamily="18" charset="0"/>
                      </a:endParaRPr>
                    </a:p>
                  </a:txBody>
                  <a:tcPr marL="68580" marR="68580" marT="0" marB="0" anchor="ctr"/>
                </a:tc>
                <a:tc>
                  <a:txBody>
                    <a:bodyPr/>
                    <a:lstStyle/>
                    <a:p>
                      <a:endParaRPr lang="fr-CA" sz="2400" kern="100">
                        <a:effectLst/>
                        <a:latin typeface="Visby CF" pitchFamily="50" charset="0"/>
                      </a:endParaRPr>
                    </a:p>
                  </a:txBody>
                  <a:tcPr marL="68580" marR="68580" marT="0" marB="0" anchor="ctr"/>
                </a:tc>
                <a:extLst>
                  <a:ext uri="{0D108BD9-81ED-4DB2-BD59-A6C34878D82A}">
                    <a16:rowId xmlns:a16="http://schemas.microsoft.com/office/drawing/2014/main" val="4075705185"/>
                  </a:ext>
                </a:extLst>
              </a:tr>
            </a:tbl>
          </a:graphicData>
        </a:graphic>
      </p:graphicFrame>
    </p:spTree>
    <p:extLst>
      <p:ext uri="{BB962C8B-B14F-4D97-AF65-F5344CB8AC3E}">
        <p14:creationId xmlns:p14="http://schemas.microsoft.com/office/powerpoint/2010/main" val="20353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616381-C899-EB47-BC7D-A5A901262FE4}"/>
              </a:ext>
            </a:extLst>
          </p:cNvPr>
          <p:cNvSpPr>
            <a:spLocks noGrp="1"/>
          </p:cNvSpPr>
          <p:nvPr>
            <p:ph type="title"/>
            <p:custDataLst>
              <p:tags r:id="rId1"/>
            </p:custDataLst>
          </p:nvPr>
        </p:nvSpPr>
        <p:spPr/>
        <p:txBody>
          <a:bodyPr/>
          <a:lstStyle/>
          <a:p>
            <a:r>
              <a:rPr lang="fr-CA"/>
              <a:t>Séance 4 et 5</a:t>
            </a:r>
          </a:p>
        </p:txBody>
      </p:sp>
      <p:sp>
        <p:nvSpPr>
          <p:cNvPr id="3" name="Espace réservé du contenu 2">
            <a:extLst>
              <a:ext uri="{FF2B5EF4-FFF2-40B4-BE49-F238E27FC236}">
                <a16:creationId xmlns:a16="http://schemas.microsoft.com/office/drawing/2014/main" id="{B0CDAD87-23B5-3D12-385A-D27E8CF86DDD}"/>
              </a:ext>
            </a:extLst>
          </p:cNvPr>
          <p:cNvSpPr>
            <a:spLocks noGrp="1"/>
          </p:cNvSpPr>
          <p:nvPr>
            <p:ph idx="1"/>
            <p:custDataLst>
              <p:tags r:id="rId2"/>
            </p:custDataLst>
          </p:nvPr>
        </p:nvSpPr>
        <p:spPr/>
        <p:txBody>
          <a:bodyPr>
            <a:normAutofit fontScale="92500" lnSpcReduction="20000"/>
          </a:bodyPr>
          <a:lstStyle/>
          <a:p>
            <a:pPr marL="457200" indent="-457200">
              <a:lnSpc>
                <a:spcPct val="140000"/>
              </a:lnSpc>
              <a:spcAft>
                <a:spcPts val="800"/>
              </a:spcAft>
              <a:buFont typeface="+mj-lt"/>
              <a:buAutoNum type="arabicPeriod" startAt="14"/>
            </a:pPr>
            <a:r>
              <a:rPr lang="fr-CA"/>
              <a:t>Il existe trois valeurs par an qu’une session peut avoir (p. ex. hiver, été, automne). Quel serait le meilleur type à choisir dans </a:t>
            </a:r>
            <a:r>
              <a:rPr lang="fr-CA" i="1"/>
              <a:t>Airtable</a:t>
            </a:r>
            <a:r>
              <a:rPr lang="fr-CA"/>
              <a:t> pour l’attribut nommé Session dans la table Inscription ?</a:t>
            </a:r>
          </a:p>
          <a:p>
            <a:pPr marL="914400" lvl="1" indent="-457200">
              <a:lnSpc>
                <a:spcPct val="140000"/>
              </a:lnSpc>
              <a:buFont typeface="Wingdings" panose="05000000000000000000" pitchFamily="2" charset="2"/>
              <a:buAutoNum type="alphaLcPeriod"/>
            </a:pPr>
            <a:r>
              <a:rPr lang="fr-CA"/>
              <a:t>Formule</a:t>
            </a:r>
          </a:p>
          <a:p>
            <a:pPr marL="914400" lvl="1" indent="-457200">
              <a:lnSpc>
                <a:spcPct val="140000"/>
              </a:lnSpc>
              <a:buFont typeface="Wingdings" panose="05000000000000000000" pitchFamily="2" charset="2"/>
              <a:buAutoNum type="alphaLcPeriod"/>
            </a:pPr>
            <a:r>
              <a:rPr lang="fr-CA"/>
              <a:t>Sélection unique</a:t>
            </a:r>
          </a:p>
          <a:p>
            <a:pPr marL="914400" lvl="1" indent="-457200">
              <a:lnSpc>
                <a:spcPct val="140000"/>
              </a:lnSpc>
              <a:buFont typeface="Wingdings" panose="05000000000000000000" pitchFamily="2" charset="2"/>
              <a:buAutoNum type="alphaLcPeriod"/>
            </a:pPr>
            <a:r>
              <a:rPr lang="fr-CA"/>
              <a:t>Texte sur une seule ligne</a:t>
            </a:r>
          </a:p>
          <a:p>
            <a:pPr marL="914400" lvl="1" indent="-457200">
              <a:lnSpc>
                <a:spcPct val="140000"/>
              </a:lnSpc>
              <a:spcAft>
                <a:spcPts val="800"/>
              </a:spcAft>
              <a:buFont typeface="Wingdings" panose="05000000000000000000" pitchFamily="2" charset="2"/>
              <a:buAutoNum type="alphaLcPeriod"/>
            </a:pPr>
            <a:r>
              <a:rPr lang="fr-CA"/>
              <a:t>Sélection multiple</a:t>
            </a:r>
          </a:p>
          <a:p>
            <a:pPr marL="457200" indent="-457200">
              <a:lnSpc>
                <a:spcPct val="140000"/>
              </a:lnSpc>
              <a:spcAft>
                <a:spcPts val="800"/>
              </a:spcAft>
              <a:buFont typeface="+mj-lt"/>
              <a:buAutoNum type="arabicPeriod" startAt="14"/>
            </a:pPr>
            <a:r>
              <a:rPr lang="fr-CA"/>
              <a:t>Parmi les exemples suivants de notre cas, lequel n’est PAS un renseignement personnel protégé par la Loi 25 ?</a:t>
            </a:r>
          </a:p>
          <a:p>
            <a:pPr marL="914400" lvl="1" indent="-457200">
              <a:buFont typeface="Wingdings" panose="05000000000000000000" pitchFamily="2" charset="2"/>
              <a:buAutoNum type="alphaLcPeriod"/>
            </a:pPr>
            <a:r>
              <a:rPr lang="fr-CA"/>
              <a:t>Le nom d’une étudiante</a:t>
            </a:r>
          </a:p>
          <a:p>
            <a:pPr marL="914400" lvl="1" indent="-457200">
              <a:buFont typeface="Wingdings" panose="05000000000000000000" pitchFamily="2" charset="2"/>
              <a:buAutoNum type="alphaLcPeriod"/>
            </a:pPr>
            <a:r>
              <a:rPr lang="fr-CA"/>
              <a:t>La date de naissance d’un étudiant</a:t>
            </a:r>
          </a:p>
          <a:p>
            <a:pPr marL="914400" lvl="1" indent="-457200">
              <a:buFont typeface="Wingdings" panose="05000000000000000000" pitchFamily="2" charset="2"/>
              <a:buAutoNum type="alphaLcPeriod"/>
            </a:pPr>
            <a:r>
              <a:rPr lang="fr-CA"/>
              <a:t>Le nom d’un cours</a:t>
            </a:r>
          </a:p>
          <a:p>
            <a:pPr marL="914400" lvl="1" indent="-457200">
              <a:spcAft>
                <a:spcPts val="800"/>
              </a:spcAft>
              <a:buFont typeface="Wingdings" panose="05000000000000000000" pitchFamily="2" charset="2"/>
              <a:buAutoNum type="alphaLcPeriod"/>
            </a:pPr>
            <a:r>
              <a:rPr lang="fr-CA"/>
              <a:t>Le fait qu’un étudiant reçoit des accommodements pour des raisons médicales</a:t>
            </a:r>
          </a:p>
          <a:p>
            <a:endParaRPr lang="fr-CA"/>
          </a:p>
        </p:txBody>
      </p:sp>
      <p:grpSp>
        <p:nvGrpSpPr>
          <p:cNvPr id="4" name="Groupe 3">
            <a:extLst>
              <a:ext uri="{FF2B5EF4-FFF2-40B4-BE49-F238E27FC236}">
                <a16:creationId xmlns:a16="http://schemas.microsoft.com/office/drawing/2014/main" id="{53E8DB49-175C-1C21-110C-B9AE6C51246F}"/>
              </a:ext>
            </a:extLst>
          </p:cNvPr>
          <p:cNvGrpSpPr/>
          <p:nvPr>
            <p:custDataLst>
              <p:tags r:id="rId3"/>
            </p:custDataLst>
          </p:nvPr>
        </p:nvGrpSpPr>
        <p:grpSpPr>
          <a:xfrm>
            <a:off x="10745537" y="-124816"/>
            <a:ext cx="914400" cy="1138162"/>
            <a:chOff x="10802017" y="164024"/>
            <a:chExt cx="914400" cy="1138162"/>
          </a:xfrm>
        </p:grpSpPr>
        <p:pic>
          <p:nvPicPr>
            <p:cNvPr id="5" name="Graphique 4" descr="Toque d'étudiant avec un remplissage uni">
              <a:extLst>
                <a:ext uri="{FF2B5EF4-FFF2-40B4-BE49-F238E27FC236}">
                  <a16:creationId xmlns:a16="http://schemas.microsoft.com/office/drawing/2014/main" id="{763B58CE-D8EA-F7DD-E1E4-723E6C5E8D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02017" y="387786"/>
              <a:ext cx="914400" cy="914400"/>
            </a:xfrm>
            <a:prstGeom prst="rect">
              <a:avLst/>
            </a:prstGeom>
          </p:spPr>
        </p:pic>
        <p:sp>
          <p:nvSpPr>
            <p:cNvPr id="6" name="ZoneTexte 5">
              <a:extLst>
                <a:ext uri="{FF2B5EF4-FFF2-40B4-BE49-F238E27FC236}">
                  <a16:creationId xmlns:a16="http://schemas.microsoft.com/office/drawing/2014/main" id="{34DD72C5-1D49-447F-030D-EEF4C1102743}"/>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E8E70CE6-18A8-C546-0AFE-EA2689C874B2}"/>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714114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3D40BD-5048-BA58-88CD-4173166E6CEA}"/>
              </a:ext>
            </a:extLst>
          </p:cNvPr>
          <p:cNvSpPr>
            <a:spLocks noGrp="1"/>
          </p:cNvSpPr>
          <p:nvPr>
            <p:ph type="title"/>
            <p:custDataLst>
              <p:tags r:id="rId1"/>
            </p:custDataLst>
          </p:nvPr>
        </p:nvSpPr>
        <p:spPr/>
        <p:txBody>
          <a:bodyPr/>
          <a:lstStyle/>
          <a:p>
            <a:r>
              <a:rPr lang="fr-CA"/>
              <a:t>Séance 7</a:t>
            </a:r>
          </a:p>
        </p:txBody>
      </p:sp>
      <p:sp>
        <p:nvSpPr>
          <p:cNvPr id="3" name="Espace réservé du contenu 2">
            <a:extLst>
              <a:ext uri="{FF2B5EF4-FFF2-40B4-BE49-F238E27FC236}">
                <a16:creationId xmlns:a16="http://schemas.microsoft.com/office/drawing/2014/main" id="{DDF633AB-9E14-7B80-98D3-0E9BE32673B6}"/>
              </a:ext>
            </a:extLst>
          </p:cNvPr>
          <p:cNvSpPr>
            <a:spLocks noGrp="1"/>
          </p:cNvSpPr>
          <p:nvPr>
            <p:ph idx="1"/>
            <p:custDataLst>
              <p:tags r:id="rId2"/>
            </p:custDataLst>
          </p:nvPr>
        </p:nvSpPr>
        <p:spPr>
          <a:xfrm>
            <a:off x="224640" y="1017270"/>
            <a:ext cx="11767680" cy="5840730"/>
          </a:xfrm>
        </p:spPr>
        <p:txBody>
          <a:bodyPr>
            <a:normAutofit fontScale="92500" lnSpcReduction="10000"/>
          </a:bodyPr>
          <a:lstStyle/>
          <a:p>
            <a:pPr marL="457200" indent="-457200">
              <a:lnSpc>
                <a:spcPct val="120000"/>
              </a:lnSpc>
              <a:spcAft>
                <a:spcPts val="800"/>
              </a:spcAft>
              <a:buFont typeface="+mj-lt"/>
              <a:buAutoNum type="arabicPeriod" startAt="16"/>
            </a:pPr>
            <a:r>
              <a:rPr lang="fr-CA"/>
              <a:t>Vrai ou Faux. Dans le cours, nous avons vu que lorsqu’on analyse un processus d’affaires, nous pouvons définir les besoins principaux de chaque utilisateur du système sous forme de Qui, Quoi et Pourquoi. Est-ce que l’affirmation suivante présente un besoin principal de l’étudiant dans notre cas : </a:t>
            </a:r>
            <a:r>
              <a:rPr lang="fr-CA" i="1"/>
              <a:t>En tant qu’étudiant, je veux que le système sauvegarde mes demandes d’inscription afin que je puisse les gérer d’une manière efficace</a:t>
            </a:r>
            <a:r>
              <a:rPr lang="fr-CA"/>
              <a:t>.</a:t>
            </a:r>
          </a:p>
          <a:p>
            <a:pPr marL="914400" lvl="1" indent="-457200">
              <a:spcAft>
                <a:spcPts val="800"/>
              </a:spcAft>
              <a:buFont typeface="+mj-lt"/>
              <a:buAutoNum type="alphaLcPeriod"/>
            </a:pPr>
            <a:r>
              <a:rPr lang="fr-CA"/>
              <a:t>Vrai       </a:t>
            </a:r>
            <a:r>
              <a:rPr lang="fr-CA">
                <a:solidFill>
                  <a:srgbClr val="9EA0A2"/>
                </a:solidFill>
              </a:rPr>
              <a:t>b.     </a:t>
            </a:r>
            <a:r>
              <a:rPr lang="fr-CA"/>
              <a:t>Faux</a:t>
            </a:r>
          </a:p>
          <a:p>
            <a:pPr marL="457200" indent="-457200">
              <a:lnSpc>
                <a:spcPct val="120000"/>
              </a:lnSpc>
              <a:spcAft>
                <a:spcPts val="800"/>
              </a:spcAft>
              <a:buFont typeface="+mj-lt"/>
              <a:buAutoNum type="arabicPeriod" startAt="16"/>
            </a:pPr>
            <a:r>
              <a:rPr lang="fr-CA"/>
              <a:t>Vrai ou Faux. Dans le cours, nous avons vu que lorsqu’on analyse un processus d’affaires, nous pouvons définir les besoins principaux de chaque utilisateur du système sous forme de Qui, Quoi et Pourquoi. Est-ce que l’affirmation suivante présente un besoin principal du coordonnateur du programme dans notre cas : </a:t>
            </a:r>
            <a:r>
              <a:rPr lang="fr-CA" i="1"/>
              <a:t>En tant que coordinateur, je veux que le système m’aide avec la hiérarchisation des étudiants sur la liste d’attente afin de privilégier ceux qui payent des frais de scolarité plus élevés</a:t>
            </a:r>
            <a:r>
              <a:rPr lang="fr-CA"/>
              <a:t>.</a:t>
            </a:r>
          </a:p>
          <a:p>
            <a:pPr marL="914400" lvl="1" indent="-457200">
              <a:spcAft>
                <a:spcPts val="800"/>
              </a:spcAft>
              <a:buFont typeface="+mj-lt"/>
              <a:buAutoNum type="alphaLcPeriod"/>
            </a:pPr>
            <a:r>
              <a:rPr lang="fr-CA" sz="2100"/>
              <a:t>Vrai       </a:t>
            </a:r>
            <a:r>
              <a:rPr lang="fr-CA" sz="2100">
                <a:solidFill>
                  <a:srgbClr val="9EA0A2"/>
                </a:solidFill>
              </a:rPr>
              <a:t>b.     </a:t>
            </a:r>
            <a:r>
              <a:rPr lang="fr-CA" sz="2100"/>
              <a:t>Faux</a:t>
            </a:r>
            <a:endParaRPr lang="fr-CA"/>
          </a:p>
          <a:p>
            <a:pPr marL="0" indent="0">
              <a:buNone/>
            </a:pPr>
            <a:endParaRPr lang="fr-CA" sz="2800"/>
          </a:p>
        </p:txBody>
      </p:sp>
      <p:grpSp>
        <p:nvGrpSpPr>
          <p:cNvPr id="4" name="Groupe 3">
            <a:extLst>
              <a:ext uri="{FF2B5EF4-FFF2-40B4-BE49-F238E27FC236}">
                <a16:creationId xmlns:a16="http://schemas.microsoft.com/office/drawing/2014/main" id="{4A938E12-503C-218D-B958-69FEDD8C35CB}"/>
              </a:ext>
            </a:extLst>
          </p:cNvPr>
          <p:cNvGrpSpPr/>
          <p:nvPr>
            <p:custDataLst>
              <p:tags r:id="rId3"/>
            </p:custDataLst>
          </p:nvPr>
        </p:nvGrpSpPr>
        <p:grpSpPr>
          <a:xfrm>
            <a:off x="10745537" y="-124816"/>
            <a:ext cx="914400" cy="1138162"/>
            <a:chOff x="10802017" y="164024"/>
            <a:chExt cx="914400" cy="1138162"/>
          </a:xfrm>
        </p:grpSpPr>
        <p:pic>
          <p:nvPicPr>
            <p:cNvPr id="5" name="Graphique 4" descr="Toque d'étudiant avec un remplissage uni">
              <a:extLst>
                <a:ext uri="{FF2B5EF4-FFF2-40B4-BE49-F238E27FC236}">
                  <a16:creationId xmlns:a16="http://schemas.microsoft.com/office/drawing/2014/main" id="{F1B04DC9-6C03-5BB1-F322-4ED7A983485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02017" y="387786"/>
              <a:ext cx="914400" cy="914400"/>
            </a:xfrm>
            <a:prstGeom prst="rect">
              <a:avLst/>
            </a:prstGeom>
          </p:spPr>
        </p:pic>
        <p:sp>
          <p:nvSpPr>
            <p:cNvPr id="6" name="ZoneTexte 5">
              <a:extLst>
                <a:ext uri="{FF2B5EF4-FFF2-40B4-BE49-F238E27FC236}">
                  <a16:creationId xmlns:a16="http://schemas.microsoft.com/office/drawing/2014/main" id="{0F850E16-0326-7E22-DBDF-56EE1FFC14AF}"/>
                </a:ext>
              </a:extLst>
            </p:cNvPr>
            <p:cNvSpPr txBox="1"/>
            <p:nvPr/>
          </p:nvSpPr>
          <p:spPr>
            <a:xfrm>
              <a:off x="10802017" y="164024"/>
              <a:ext cx="886781" cy="769441"/>
            </a:xfrm>
            <a:prstGeom prst="rect">
              <a:avLst/>
            </a:prstGeom>
            <a:noFill/>
          </p:spPr>
          <p:txBody>
            <a:bodyPr wrap="none" rtlCol="0">
              <a:spAutoFit/>
            </a:bodyPr>
            <a:lstStyle/>
            <a:p>
              <a:r>
                <a:rPr lang="fr-CA" sz="4400" b="1">
                  <a:solidFill>
                    <a:schemeClr val="accent2">
                      <a:lumMod val="20000"/>
                      <a:lumOff val="80000"/>
                    </a:schemeClr>
                  </a:solidFill>
                  <a:latin typeface="DS-Digital" pitchFamily="2" charset="0"/>
                </a:rPr>
                <a:t>CIN</a:t>
              </a:r>
              <a:endParaRPr lang="fr-CA" b="1">
                <a:solidFill>
                  <a:schemeClr val="accent2">
                    <a:lumMod val="20000"/>
                    <a:lumOff val="80000"/>
                  </a:schemeClr>
                </a:solidFill>
                <a:latin typeface="DS-Digital" pitchFamily="2" charset="0"/>
              </a:endParaRPr>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3B76EF3C-41F4-E4BF-17A4-B9EE5162DD92}"/>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8886343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5"/>
</p:tagLst>
</file>

<file path=ppt/tags/tag2.xml><?xml version="1.0" encoding="utf-8"?>
<p:tagLst xmlns:a="http://schemas.openxmlformats.org/drawingml/2006/main" xmlns:r="http://schemas.openxmlformats.org/officeDocument/2006/relationships" xmlns:p="http://schemas.openxmlformats.org/presentationml/2006/main">
  <p:tag name="NUM" val="6"/>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6"/>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4"/>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4"/>
</p:tagLst>
</file>

<file path=ppt/tags/tag14.xml><?xml version="1.0" encoding="utf-8"?>
<p:tagLst xmlns:a="http://schemas.openxmlformats.org/drawingml/2006/main" xmlns:r="http://schemas.openxmlformats.org/officeDocument/2006/relationships" xmlns:p="http://schemas.openxmlformats.org/presentationml/2006/main">
  <p:tag name="NUM" val="4"/>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5"/>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4"/>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3"/>
</p:tagLst>
</file>

<file path=ppt/tags/tag40.xml><?xml version="1.0" encoding="utf-8"?>
<p:tagLst xmlns:a="http://schemas.openxmlformats.org/drawingml/2006/main" xmlns:r="http://schemas.openxmlformats.org/officeDocument/2006/relationships" xmlns:p="http://schemas.openxmlformats.org/presentationml/2006/main">
  <p:tag name="NUM" val="4"/>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4"/>
</p:tagLst>
</file>

<file path=ppt/tags/tag45.xml><?xml version="1.0" encoding="utf-8"?>
<p:tagLst xmlns:a="http://schemas.openxmlformats.org/drawingml/2006/main" xmlns:r="http://schemas.openxmlformats.org/officeDocument/2006/relationships" xmlns:p="http://schemas.openxmlformats.org/presentationml/2006/main">
  <p:tag name="NUM" val="5"/>
</p:tagLst>
</file>

<file path=ppt/tags/tag46.xml><?xml version="1.0" encoding="utf-8"?>
<p:tagLst xmlns:a="http://schemas.openxmlformats.org/drawingml/2006/main" xmlns:r="http://schemas.openxmlformats.org/officeDocument/2006/relationships" xmlns:p="http://schemas.openxmlformats.org/presentationml/2006/main">
  <p:tag name="NUM" val="4"/>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3"/>
</p:tagLst>
</file>

<file path=ppt/tags/tag51.xml><?xml version="1.0" encoding="utf-8"?>
<p:tagLst xmlns:a="http://schemas.openxmlformats.org/drawingml/2006/main" xmlns:r="http://schemas.openxmlformats.org/officeDocument/2006/relationships" xmlns:p="http://schemas.openxmlformats.org/presentationml/2006/main">
  <p:tag name="NUM" val="4"/>
</p:tagLst>
</file>

<file path=ppt/tags/tag52.xml><?xml version="1.0" encoding="utf-8"?>
<p:tagLst xmlns:a="http://schemas.openxmlformats.org/drawingml/2006/main" xmlns:r="http://schemas.openxmlformats.org/officeDocument/2006/relationships" xmlns:p="http://schemas.openxmlformats.org/presentationml/2006/main">
  <p:tag name="NUM" val="5"/>
</p:tagLst>
</file>

<file path=ppt/tags/tag53.xml><?xml version="1.0" encoding="utf-8"?>
<p:tagLst xmlns:a="http://schemas.openxmlformats.org/drawingml/2006/main" xmlns:r="http://schemas.openxmlformats.org/officeDocument/2006/relationships" xmlns:p="http://schemas.openxmlformats.org/presentationml/2006/main">
  <p:tag name="NUM" val="6"/>
</p:tagLst>
</file>

<file path=ppt/tags/tag54.xml><?xml version="1.0" encoding="utf-8"?>
<p:tagLst xmlns:a="http://schemas.openxmlformats.org/drawingml/2006/main" xmlns:r="http://schemas.openxmlformats.org/officeDocument/2006/relationships" xmlns:p="http://schemas.openxmlformats.org/presentationml/2006/main">
  <p:tag name="NUM" val="7"/>
</p:tagLst>
</file>

<file path=ppt/tags/tag55.xml><?xml version="1.0" encoding="utf-8"?>
<p:tagLst xmlns:a="http://schemas.openxmlformats.org/drawingml/2006/main" xmlns:r="http://schemas.openxmlformats.org/officeDocument/2006/relationships" xmlns:p="http://schemas.openxmlformats.org/presentationml/2006/main">
  <p:tag name="NUM" val="8"/>
</p:tagLst>
</file>

<file path=ppt/tags/tag56.xml><?xml version="1.0" encoding="utf-8"?>
<p:tagLst xmlns:a="http://schemas.openxmlformats.org/drawingml/2006/main" xmlns:r="http://schemas.openxmlformats.org/officeDocument/2006/relationships" xmlns:p="http://schemas.openxmlformats.org/presentationml/2006/main">
  <p:tag name="NUM" val="9"/>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5"/>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4"/>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2"/>
</p:tagLst>
</file>

<file path=ppt/tags/tag68.xml><?xml version="1.0" encoding="utf-8"?>
<p:tagLst xmlns:a="http://schemas.openxmlformats.org/drawingml/2006/main" xmlns:r="http://schemas.openxmlformats.org/officeDocument/2006/relationships" xmlns:p="http://schemas.openxmlformats.org/presentationml/2006/main">
  <p:tag name="NUM" val="3"/>
</p:tagLst>
</file>

<file path=ppt/tags/tag69.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2_Thème HEC">
  <a:themeElements>
    <a:clrScheme name="HEC">
      <a:dk1>
        <a:srgbClr val="000000"/>
      </a:dk1>
      <a:lt1>
        <a:sysClr val="window" lastClr="FFFFFF"/>
      </a:lt1>
      <a:dk2>
        <a:srgbClr val="002855"/>
      </a:dk2>
      <a:lt2>
        <a:srgbClr val="DDDDDD"/>
      </a:lt2>
      <a:accent1>
        <a:srgbClr val="0072CE"/>
      </a:accent1>
      <a:accent2>
        <a:srgbClr val="00AEC7"/>
      </a:accent2>
      <a:accent3>
        <a:srgbClr val="26D07C"/>
      </a:accent3>
      <a:accent4>
        <a:srgbClr val="FF585D"/>
      </a:accent4>
      <a:accent5>
        <a:srgbClr val="EB6FBD"/>
      </a:accent5>
      <a:accent6>
        <a:srgbClr val="F3D03E"/>
      </a:accent6>
      <a:hlink>
        <a:srgbClr val="48A23F"/>
      </a:hlink>
      <a:folHlink>
        <a:srgbClr val="00285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HECMontreal-Gabarit" id="{90B23BB6-748E-9A4B-9146-9546151205D4}" vid="{48ADA872-361A-1B4C-ABD7-4D4607940B7F}"/>
    </a:ext>
  </a:extLst>
</a:theme>
</file>

<file path=ppt/theme/theme2.xml><?xml version="1.0" encoding="utf-8"?>
<a:theme xmlns:a="http://schemas.openxmlformats.org/drawingml/2006/main" name="1_Thème Office">
  <a:themeElements>
    <a:clrScheme name="HEC">
      <a:dk1>
        <a:srgbClr val="000000"/>
      </a:dk1>
      <a:lt1>
        <a:sysClr val="window" lastClr="FFFFFF"/>
      </a:lt1>
      <a:dk2>
        <a:srgbClr val="002855"/>
      </a:dk2>
      <a:lt2>
        <a:srgbClr val="DDDDDD"/>
      </a:lt2>
      <a:accent1>
        <a:srgbClr val="0072CE"/>
      </a:accent1>
      <a:accent2>
        <a:srgbClr val="00AEC7"/>
      </a:accent2>
      <a:accent3>
        <a:srgbClr val="26D07C"/>
      </a:accent3>
      <a:accent4>
        <a:srgbClr val="FF585D"/>
      </a:accent4>
      <a:accent5>
        <a:srgbClr val="EB6FBD"/>
      </a:accent5>
      <a:accent6>
        <a:srgbClr val="F3D03E"/>
      </a:accent6>
      <a:hlink>
        <a:srgbClr val="48A23F"/>
      </a:hlink>
      <a:folHlink>
        <a:srgbClr val="00285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8066646054FA44B64BA3F261D01FFA" ma:contentTypeVersion="11" ma:contentTypeDescription="Crée un document." ma:contentTypeScope="" ma:versionID="084be908b68c9a9d067ec792b1694b45">
  <xsd:schema xmlns:xsd="http://www.w3.org/2001/XMLSchema" xmlns:xs="http://www.w3.org/2001/XMLSchema" xmlns:p="http://schemas.microsoft.com/office/2006/metadata/properties" xmlns:ns2="39887826-ec16-479a-b3e6-521b243ce3b6" xmlns:ns3="6f205008-2c9f-4643-9908-e102020b9c2b" targetNamespace="http://schemas.microsoft.com/office/2006/metadata/properties" ma:root="true" ma:fieldsID="d53e91c3f1614378cd81591934604133" ns2:_="" ns3:_="">
    <xsd:import namespace="39887826-ec16-479a-b3e6-521b243ce3b6"/>
    <xsd:import namespace="6f205008-2c9f-4643-9908-e102020b9c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887826-ec16-479a-b3e6-521b243ce3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ae0b311d-aef2-47fc-9a4e-3c9c045afdc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205008-2c9f-4643-9908-e102020b9c2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10d19aa-0911-40c9-a95b-a16fb4b717b1}" ma:internalName="TaxCatchAll" ma:showField="CatchAllData" ma:web="6f205008-2c9f-4643-9908-e102020b9c2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f205008-2c9f-4643-9908-e102020b9c2b" xsi:nil="true"/>
    <lcf76f155ced4ddcb4097134ff3c332f xmlns="39887826-ec16-479a-b3e6-521b243ce3b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24B0547-85D9-4F82-A883-ACEFE9AD6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887826-ec16-479a-b3e6-521b243ce3b6"/>
    <ds:schemaRef ds:uri="6f205008-2c9f-4643-9908-e102020b9c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E929FF-482B-4099-BAF5-45D296383405}">
  <ds:schemaRefs>
    <ds:schemaRef ds:uri="http://schemas.microsoft.com/sharepoint/v3/contenttype/forms"/>
  </ds:schemaRefs>
</ds:datastoreItem>
</file>

<file path=customXml/itemProps3.xml><?xml version="1.0" encoding="utf-8"?>
<ds:datastoreItem xmlns:ds="http://schemas.openxmlformats.org/officeDocument/2006/customXml" ds:itemID="{0FDD11E9-F8FB-4561-BD9E-998A7A3218F1}">
  <ds:schemaRefs>
    <ds:schemaRef ds:uri="http://www.w3.org/XML/1998/namespace"/>
    <ds:schemaRef ds:uri="http://purl.org/dc/elements/1.1/"/>
    <ds:schemaRef ds:uri="39887826-ec16-479a-b3e6-521b243ce3b6"/>
    <ds:schemaRef ds:uri="http://schemas.microsoft.com/office/2006/documentManagement/types"/>
    <ds:schemaRef ds:uri="http://purl.org/dc/dcmitype/"/>
    <ds:schemaRef ds:uri="http://schemas.microsoft.com/office/infopath/2007/PartnerControls"/>
    <ds:schemaRef ds:uri="6f205008-2c9f-4643-9908-e102020b9c2b"/>
    <ds:schemaRef ds:uri="http://schemas.openxmlformats.org/package/2006/metadata/core-properties"/>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19df09a9-d1f0-4cff-90c4-01385cc40b57}" enabled="0" method="" siteId="{19df09a9-d1f0-4cff-90c4-01385cc40b57}" removed="1"/>
</clbl:labelList>
</file>

<file path=docProps/app.xml><?xml version="1.0" encoding="utf-8"?>
<Properties xmlns="http://schemas.openxmlformats.org/officeDocument/2006/extended-properties" xmlns:vt="http://schemas.openxmlformats.org/officeDocument/2006/docPropsVTypes">
  <TotalTime>154</TotalTime>
  <Words>1306</Words>
  <Application>Microsoft Office PowerPoint</Application>
  <PresentationFormat>Grand écran</PresentationFormat>
  <Paragraphs>190</Paragraphs>
  <Slides>13</Slides>
  <Notes>11</Notes>
  <HiddenSlides>0</HiddenSlides>
  <MMClips>0</MMClips>
  <ScaleCrop>false</ScaleCrop>
  <HeadingPairs>
    <vt:vector size="6" baseType="variant">
      <vt:variant>
        <vt:lpstr>Polices utilisées</vt:lpstr>
      </vt:variant>
      <vt:variant>
        <vt:i4>15</vt:i4>
      </vt:variant>
      <vt:variant>
        <vt:lpstr>Thème</vt:lpstr>
      </vt:variant>
      <vt:variant>
        <vt:i4>2</vt:i4>
      </vt:variant>
      <vt:variant>
        <vt:lpstr>Titres des diapositives</vt:lpstr>
      </vt:variant>
      <vt:variant>
        <vt:i4>13</vt:i4>
      </vt:variant>
    </vt:vector>
  </HeadingPairs>
  <TitlesOfParts>
    <vt:vector size="30" baseType="lpstr">
      <vt:lpstr>Aptos</vt:lpstr>
      <vt:lpstr>Arial</vt:lpstr>
      <vt:lpstr>Arial Rounded MT Bold</vt:lpstr>
      <vt:lpstr>Calibri</vt:lpstr>
      <vt:lpstr>DS-Digital</vt:lpstr>
      <vt:lpstr>Script MT Bold</vt:lpstr>
      <vt:lpstr>Visby CF</vt:lpstr>
      <vt:lpstr>Visby CF Bold</vt:lpstr>
      <vt:lpstr>Visby CF Light</vt:lpstr>
      <vt:lpstr>Visby CF Medium</vt:lpstr>
      <vt:lpstr>Visby Slab CF</vt:lpstr>
      <vt:lpstr>Visby Slab CF Bold</vt:lpstr>
      <vt:lpstr>Visby Slab CF Demi Bold</vt:lpstr>
      <vt:lpstr>Visby Slab CF Heavy</vt:lpstr>
      <vt:lpstr>Wingdings</vt:lpstr>
      <vt:lpstr>2_Thème HEC</vt:lpstr>
      <vt:lpstr>1_Thème Office</vt:lpstr>
      <vt:lpstr>Mobiliser les  technologies numériques </vt:lpstr>
      <vt:lpstr>Pratique pour l’intra</vt:lpstr>
      <vt:lpstr>Minicas de préparation pour l’intra</vt:lpstr>
      <vt:lpstr>Séance 1</vt:lpstr>
      <vt:lpstr>Séance 1 et 2</vt:lpstr>
      <vt:lpstr>Séance 2</vt:lpstr>
      <vt:lpstr>Séance 2 et 3</vt:lpstr>
      <vt:lpstr>Séance 3</vt:lpstr>
      <vt:lpstr>Séance 3 et 4</vt:lpstr>
      <vt:lpstr>Séance 4</vt:lpstr>
      <vt:lpstr>Séance 3</vt:lpstr>
      <vt:lpstr>Séance 4 et 5</vt:lpstr>
      <vt:lpstr>Séance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Marie-Claude Trudel</dc:creator>
  <cp:lastModifiedBy>Yannick Brière</cp:lastModifiedBy>
  <cp:revision>4</cp:revision>
  <dcterms:created xsi:type="dcterms:W3CDTF">2024-08-23T11:18:20Z</dcterms:created>
  <dcterms:modified xsi:type="dcterms:W3CDTF">2026-05-18T22:50:52Z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0x0101009F8066646054FA44B64BA3F261D01FFA</vt:lpwstr>
  </property>
  <property fmtid="{D5CDD505-2E9C-101B-9397-08002B2CF9AE}" pid="3" name="MediaServiceImageTags">
    <vt:lpwstr/>
  </property>
</Properties>
</file>