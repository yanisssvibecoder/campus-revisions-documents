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5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7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8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9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2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4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5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6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7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8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19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20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21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22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23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24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25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26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notesSlides/notesSlide27.xml" ContentType="application/vnd.openxmlformats-officedocument.presentationml.notesSlide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notesSlides/notesSlide28.xml" ContentType="application/vnd.openxmlformats-officedocument.presentationml.notesSlid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2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30.xml" ContentType="application/vnd.openxmlformats-officedocument.presentationml.notesSlide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31.xml" ContentType="application/vnd.openxmlformats-officedocument.presentationml.notesSlid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notesSlides/notesSlide32.xml" ContentType="application/vnd.openxmlformats-officedocument.presentationml.notesSlide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notesSlides/notesSlide3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34.xml" ContentType="application/vnd.openxmlformats-officedocument.presentationml.notesSlide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notesSlides/notesSlide35.xml" ContentType="application/vnd.openxmlformats-officedocument.presentationml.notesSlide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notesSlides/notesSlide36.xml" ContentType="application/vnd.openxmlformats-officedocument.presentationml.notesSlide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notesSlides/notesSlide37.xml" ContentType="application/vnd.openxmlformats-officedocument.presentationml.notesSlide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notesSlides/notesSlide38.xml" ContentType="application/vnd.openxmlformats-officedocument.presentationml.notesSlide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notesSlides/notesSlide39.xml" ContentType="application/vnd.openxmlformats-officedocument.presentationml.notesSlide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notesSlides/notesSlide40.xml" ContentType="application/vnd.openxmlformats-officedocument.presentationml.notesSlide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notesSlides/notesSlide41.xml" ContentType="application/vnd.openxmlformats-officedocument.presentationml.notesSlide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5" r:id="rId4"/>
  </p:sldMasterIdLst>
  <p:notesMasterIdLst>
    <p:notesMasterId r:id="rId48"/>
  </p:notesMasterIdLst>
  <p:handoutMasterIdLst>
    <p:handoutMasterId r:id="rId49"/>
  </p:handoutMasterIdLst>
  <p:sldIdLst>
    <p:sldId id="542" r:id="rId5"/>
    <p:sldId id="955" r:id="rId6"/>
    <p:sldId id="258" r:id="rId7"/>
    <p:sldId id="259" r:id="rId8"/>
    <p:sldId id="1475" r:id="rId9"/>
    <p:sldId id="1485" r:id="rId10"/>
    <p:sldId id="1477" r:id="rId11"/>
    <p:sldId id="1478" r:id="rId12"/>
    <p:sldId id="1479" r:id="rId13"/>
    <p:sldId id="1480" r:id="rId14"/>
    <p:sldId id="1472" r:id="rId15"/>
    <p:sldId id="266" r:id="rId16"/>
    <p:sldId id="1473" r:id="rId17"/>
    <p:sldId id="1463" r:id="rId18"/>
    <p:sldId id="934" r:id="rId19"/>
    <p:sldId id="261" r:id="rId20"/>
    <p:sldId id="1481" r:id="rId21"/>
    <p:sldId id="1468" r:id="rId22"/>
    <p:sldId id="1486" r:id="rId23"/>
    <p:sldId id="328" r:id="rId24"/>
    <p:sldId id="316" r:id="rId25"/>
    <p:sldId id="417" r:id="rId26"/>
    <p:sldId id="1469" r:id="rId27"/>
    <p:sldId id="526" r:id="rId28"/>
    <p:sldId id="301" r:id="rId29"/>
    <p:sldId id="936" r:id="rId30"/>
    <p:sldId id="304" r:id="rId31"/>
    <p:sldId id="303" r:id="rId32"/>
    <p:sldId id="302" r:id="rId33"/>
    <p:sldId id="347" r:id="rId34"/>
    <p:sldId id="954" r:id="rId35"/>
    <p:sldId id="937" r:id="rId36"/>
    <p:sldId id="938" r:id="rId37"/>
    <p:sldId id="947" r:id="rId38"/>
    <p:sldId id="946" r:id="rId39"/>
    <p:sldId id="950" r:id="rId40"/>
    <p:sldId id="951" r:id="rId41"/>
    <p:sldId id="1465" r:id="rId42"/>
    <p:sldId id="952" r:id="rId43"/>
    <p:sldId id="953" r:id="rId44"/>
    <p:sldId id="1462" r:id="rId45"/>
    <p:sldId id="523" r:id="rId46"/>
    <p:sldId id="1457" r:id="rId47"/>
  </p:sldIdLst>
  <p:sldSz cx="12192000" cy="6858000"/>
  <p:notesSz cx="70104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 du cours" id="{29F2F948-010D-4051-BD4E-77C7EB96EF33}">
          <p14:sldIdLst>
            <p14:sldId id="542"/>
            <p14:sldId id="955"/>
            <p14:sldId id="258"/>
            <p14:sldId id="259"/>
            <p14:sldId id="1475"/>
            <p14:sldId id="1485"/>
            <p14:sldId id="1477"/>
            <p14:sldId id="1478"/>
            <p14:sldId id="1479"/>
            <p14:sldId id="1480"/>
            <p14:sldId id="1472"/>
            <p14:sldId id="266"/>
            <p14:sldId id="1473"/>
            <p14:sldId id="1463"/>
            <p14:sldId id="934"/>
          </p14:sldIdLst>
        </p14:section>
        <p14:section name="Séance 1" id="{4EB025CC-1F60-4566-82D8-17BD90088A79}">
          <p14:sldIdLst>
            <p14:sldId id="261"/>
            <p14:sldId id="1481"/>
            <p14:sldId id="1468"/>
            <p14:sldId id="1486"/>
            <p14:sldId id="328"/>
            <p14:sldId id="316"/>
            <p14:sldId id="417"/>
            <p14:sldId id="1469"/>
            <p14:sldId id="526"/>
            <p14:sldId id="301"/>
            <p14:sldId id="936"/>
            <p14:sldId id="304"/>
            <p14:sldId id="303"/>
            <p14:sldId id="302"/>
            <p14:sldId id="347"/>
            <p14:sldId id="954"/>
            <p14:sldId id="937"/>
            <p14:sldId id="938"/>
            <p14:sldId id="947"/>
            <p14:sldId id="946"/>
            <p14:sldId id="950"/>
            <p14:sldId id="951"/>
            <p14:sldId id="1465"/>
            <p14:sldId id="952"/>
            <p14:sldId id="953"/>
            <p14:sldId id="1462"/>
            <p14:sldId id="523"/>
            <p14:sldId id="14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0B87E3-A2EA-47CD-FCC0-CF7D499A439E}" name="Katherine Dooling" initials="KD" userId="S::katherine.dooling@hec.ca::899682fa-3a3e-4e2f-bb63-3b35aa76622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echa philion" initials="lp" lastIdx="6" clrIdx="0">
    <p:extLst>
      <p:ext uri="{19B8F6BF-5375-455C-9EA6-DF929625EA0E}">
        <p15:presenceInfo xmlns:p15="http://schemas.microsoft.com/office/powerpoint/2012/main" userId="S::loecha.philion@hec.ca::0f598feb-c4c0-4dda-b2c1-17de97a01329" providerId="AD"/>
      </p:ext>
    </p:extLst>
  </p:cmAuthor>
  <p:cmAuthor id="2" name="elodie allain" initials="ea" lastIdx="1" clrIdx="1">
    <p:extLst>
      <p:ext uri="{19B8F6BF-5375-455C-9EA6-DF929625EA0E}">
        <p15:presenceInfo xmlns:p15="http://schemas.microsoft.com/office/powerpoint/2012/main" userId="S::elodie.allain@hec.ca::2b943744-3621-400b-bbf1-9af4902ca6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ED9B28"/>
    <a:srgbClr val="DE89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6" dt="2026-08-19T21:05:09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253" autoAdjust="0"/>
    <p:restoredTop sz="43826" autoAdjust="0"/>
  </p:normalViewPr>
  <p:slideViewPr>
    <p:cSldViewPr snapToGrid="0">
      <p:cViewPr varScale="1">
        <p:scale>
          <a:sx n="48" d="100"/>
          <a:sy n="48" d="100"/>
        </p:scale>
        <p:origin x="21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Relationship Id="rId57" Type="http://schemas.microsoft.com/office/2018/10/relationships/authors" Target="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echa Philion" userId="S::loecha.philion@hec.ca::0f598feb-c4c0-4dda-b2c1-17de97a01329" providerId="AD" clId="Web-{00000000-0000-0000-0000-000000000000}"/>
    <pc:docChg chg="modSld">
      <pc:chgData name="Loecha Philion" userId="S::loecha.philion@hec.ca::0f598feb-c4c0-4dda-b2c1-17de97a01329" providerId="AD" clId="Web-{00000000-0000-0000-0000-000000000000}" dt="2026-08-19T21:05:09.615" v="12" actId="20577"/>
      <pc:docMkLst>
        <pc:docMk/>
      </pc:docMkLst>
      <pc:sldChg chg="modSp">
        <pc:chgData name="Loecha Philion" userId="S::loecha.philion@hec.ca::0f598feb-c4c0-4dda-b2c1-17de97a01329" providerId="AD" clId="Web-{00000000-0000-0000-0000-000000000000}" dt="2026-08-19T21:05:09.615" v="12" actId="20577"/>
        <pc:sldMkLst>
          <pc:docMk/>
          <pc:sldMk cId="585235283" sldId="1478"/>
        </pc:sldMkLst>
        <pc:spChg chg="mod">
          <ac:chgData name="Loecha Philion" userId="S::loecha.philion@hec.ca::0f598feb-c4c0-4dda-b2c1-17de97a01329" providerId="AD" clId="Web-{00000000-0000-0000-0000-000000000000}" dt="2026-08-19T21:05:09.615" v="12" actId="20577"/>
          <ac:spMkLst>
            <pc:docMk/>
            <pc:sldMk cId="585235283" sldId="1478"/>
            <ac:spMk id="19" creationId="{D687137A-0A78-A202-C12F-8F6BFB71DC28}"/>
          </ac:spMkLst>
        </pc:spChg>
      </pc:sldChg>
    </pc:docChg>
  </pc:docChgLst>
  <pc:docChgLst>
    <pc:chgData name="Loecha Philion" userId="0f598feb-c4c0-4dda-b2c1-17de97a01329" providerId="ADAL" clId="{E7AA05E6-2E3A-4936-92BE-EF366E7850A9}"/>
    <pc:docChg chg="custSel delSld modSld addSection modSection">
      <pc:chgData name="Loecha Philion" userId="0f598feb-c4c0-4dda-b2c1-17de97a01329" providerId="ADAL" clId="{E7AA05E6-2E3A-4936-92BE-EF366E7850A9}" dt="2026-08-19T21:03:04.611" v="57" actId="17846"/>
      <pc:docMkLst>
        <pc:docMk/>
      </pc:docMkLst>
      <pc:sldChg chg="modNotesTx">
        <pc:chgData name="Loecha Philion" userId="0f598feb-c4c0-4dda-b2c1-17de97a01329" providerId="ADAL" clId="{E7AA05E6-2E3A-4936-92BE-EF366E7850A9}" dt="2026-08-19T20:58:07.175" v="15" actId="6549"/>
        <pc:sldMkLst>
          <pc:docMk/>
          <pc:sldMk cId="2111078612" sldId="258"/>
        </pc:sldMkLst>
      </pc:sldChg>
      <pc:sldChg chg="modSp mod">
        <pc:chgData name="Loecha Philion" userId="0f598feb-c4c0-4dda-b2c1-17de97a01329" providerId="ADAL" clId="{E7AA05E6-2E3A-4936-92BE-EF366E7850A9}" dt="2026-08-19T20:57:13.612" v="14" actId="27636"/>
        <pc:sldMkLst>
          <pc:docMk/>
          <pc:sldMk cId="35299971" sldId="259"/>
        </pc:sldMkLst>
        <pc:spChg chg="mod">
          <ac:chgData name="Loecha Philion" userId="0f598feb-c4c0-4dda-b2c1-17de97a01329" providerId="ADAL" clId="{E7AA05E6-2E3A-4936-92BE-EF366E7850A9}" dt="2026-08-19T20:57:13.612" v="14" actId="27636"/>
          <ac:spMkLst>
            <pc:docMk/>
            <pc:sldMk cId="35299971" sldId="259"/>
            <ac:spMk id="5" creationId="{00000000-0000-0000-0000-000000000000}"/>
          </ac:spMkLst>
        </pc:spChg>
      </pc:sldChg>
      <pc:sldChg chg="modNotesTx">
        <pc:chgData name="Loecha Philion" userId="0f598feb-c4c0-4dda-b2c1-17de97a01329" providerId="ADAL" clId="{E7AA05E6-2E3A-4936-92BE-EF366E7850A9}" dt="2026-08-19T20:59:45.466" v="34" actId="6549"/>
        <pc:sldMkLst>
          <pc:docMk/>
          <pc:sldMk cId="1430695961" sldId="301"/>
        </pc:sldMkLst>
      </pc:sldChg>
      <pc:sldChg chg="modNotesTx">
        <pc:chgData name="Loecha Philion" userId="0f598feb-c4c0-4dda-b2c1-17de97a01329" providerId="ADAL" clId="{E7AA05E6-2E3A-4936-92BE-EF366E7850A9}" dt="2026-08-19T21:00:11.002" v="39" actId="6549"/>
        <pc:sldMkLst>
          <pc:docMk/>
          <pc:sldMk cId="3627160130" sldId="303"/>
        </pc:sldMkLst>
      </pc:sldChg>
      <pc:sldChg chg="modNotesTx">
        <pc:chgData name="Loecha Philion" userId="0f598feb-c4c0-4dda-b2c1-17de97a01329" providerId="ADAL" clId="{E7AA05E6-2E3A-4936-92BE-EF366E7850A9}" dt="2026-08-19T21:00:02.132" v="37" actId="6549"/>
        <pc:sldMkLst>
          <pc:docMk/>
          <pc:sldMk cId="935079562" sldId="304"/>
        </pc:sldMkLst>
      </pc:sldChg>
      <pc:sldChg chg="modNotesTx">
        <pc:chgData name="Loecha Philion" userId="0f598feb-c4c0-4dda-b2c1-17de97a01329" providerId="ADAL" clId="{E7AA05E6-2E3A-4936-92BE-EF366E7850A9}" dt="2026-08-19T20:59:20.083" v="29" actId="6549"/>
        <pc:sldMkLst>
          <pc:docMk/>
          <pc:sldMk cId="2545955628" sldId="328"/>
        </pc:sldMkLst>
      </pc:sldChg>
      <pc:sldChg chg="modNotesTx">
        <pc:chgData name="Loecha Philion" userId="0f598feb-c4c0-4dda-b2c1-17de97a01329" providerId="ADAL" clId="{E7AA05E6-2E3A-4936-92BE-EF366E7850A9}" dt="2026-08-19T21:00:16.048" v="40" actId="6549"/>
        <pc:sldMkLst>
          <pc:docMk/>
          <pc:sldMk cId="4088739034" sldId="347"/>
        </pc:sldMkLst>
      </pc:sldChg>
      <pc:sldChg chg="del">
        <pc:chgData name="Loecha Philion" userId="0f598feb-c4c0-4dda-b2c1-17de97a01329" providerId="ADAL" clId="{E7AA05E6-2E3A-4936-92BE-EF366E7850A9}" dt="2026-08-19T20:58:33.386" v="19" actId="47"/>
        <pc:sldMkLst>
          <pc:docMk/>
          <pc:sldMk cId="3661682020" sldId="348"/>
        </pc:sldMkLst>
      </pc:sldChg>
      <pc:sldChg chg="del">
        <pc:chgData name="Loecha Philion" userId="0f598feb-c4c0-4dda-b2c1-17de97a01329" providerId="ADAL" clId="{E7AA05E6-2E3A-4936-92BE-EF366E7850A9}" dt="2026-08-19T20:58:35.645" v="21" actId="47"/>
        <pc:sldMkLst>
          <pc:docMk/>
          <pc:sldMk cId="3926856521" sldId="349"/>
        </pc:sldMkLst>
      </pc:sldChg>
      <pc:sldChg chg="del">
        <pc:chgData name="Loecha Philion" userId="0f598feb-c4c0-4dda-b2c1-17de97a01329" providerId="ADAL" clId="{E7AA05E6-2E3A-4936-92BE-EF366E7850A9}" dt="2026-08-19T21:00:37.662" v="46" actId="47"/>
        <pc:sldMkLst>
          <pc:docMk/>
          <pc:sldMk cId="1322257530" sldId="503"/>
        </pc:sldMkLst>
      </pc:sldChg>
      <pc:sldChg chg="del">
        <pc:chgData name="Loecha Philion" userId="0f598feb-c4c0-4dda-b2c1-17de97a01329" providerId="ADAL" clId="{E7AA05E6-2E3A-4936-92BE-EF366E7850A9}" dt="2026-08-19T21:00:26.459" v="43" actId="47"/>
        <pc:sldMkLst>
          <pc:docMk/>
          <pc:sldMk cId="3886719934" sldId="517"/>
        </pc:sldMkLst>
      </pc:sldChg>
      <pc:sldChg chg="del">
        <pc:chgData name="Loecha Philion" userId="0f598feb-c4c0-4dda-b2c1-17de97a01329" providerId="ADAL" clId="{E7AA05E6-2E3A-4936-92BE-EF366E7850A9}" dt="2026-08-19T21:00:53.613" v="50" actId="47"/>
        <pc:sldMkLst>
          <pc:docMk/>
          <pc:sldMk cId="1708349449" sldId="519"/>
        </pc:sldMkLst>
      </pc:sldChg>
      <pc:sldChg chg="modNotesTx">
        <pc:chgData name="Loecha Philion" userId="0f598feb-c4c0-4dda-b2c1-17de97a01329" providerId="ADAL" clId="{E7AA05E6-2E3A-4936-92BE-EF366E7850A9}" dt="2026-08-19T21:01:06.653" v="54" actId="6549"/>
        <pc:sldMkLst>
          <pc:docMk/>
          <pc:sldMk cId="2567735072" sldId="523"/>
        </pc:sldMkLst>
      </pc:sldChg>
      <pc:sldChg chg="del">
        <pc:chgData name="Loecha Philion" userId="0f598feb-c4c0-4dda-b2c1-17de97a01329" providerId="ADAL" clId="{E7AA05E6-2E3A-4936-92BE-EF366E7850A9}" dt="2026-08-19T20:59:56.192" v="36" actId="47"/>
        <pc:sldMkLst>
          <pc:docMk/>
          <pc:sldMk cId="3144598497" sldId="524"/>
        </pc:sldMkLst>
      </pc:sldChg>
      <pc:sldChg chg="modNotesTx">
        <pc:chgData name="Loecha Philion" userId="0f598feb-c4c0-4dda-b2c1-17de97a01329" providerId="ADAL" clId="{E7AA05E6-2E3A-4936-92BE-EF366E7850A9}" dt="2026-08-19T20:59:41.475" v="33" actId="6549"/>
        <pc:sldMkLst>
          <pc:docMk/>
          <pc:sldMk cId="1922813715" sldId="526"/>
        </pc:sldMkLst>
      </pc:sldChg>
      <pc:sldChg chg="del">
        <pc:chgData name="Loecha Philion" userId="0f598feb-c4c0-4dda-b2c1-17de97a01329" providerId="ADAL" clId="{E7AA05E6-2E3A-4936-92BE-EF366E7850A9}" dt="2026-08-19T20:58:58.393" v="26" actId="47"/>
        <pc:sldMkLst>
          <pc:docMk/>
          <pc:sldMk cId="1179439110" sldId="527"/>
        </pc:sldMkLst>
      </pc:sldChg>
      <pc:sldChg chg="modNotesTx">
        <pc:chgData name="Loecha Philion" userId="0f598feb-c4c0-4dda-b2c1-17de97a01329" providerId="ADAL" clId="{E7AA05E6-2E3A-4936-92BE-EF366E7850A9}" dt="2026-08-19T20:58:55.540" v="25" actId="6549"/>
        <pc:sldMkLst>
          <pc:docMk/>
          <pc:sldMk cId="3155000183" sldId="934"/>
        </pc:sldMkLst>
      </pc:sldChg>
      <pc:sldChg chg="del modNotesTx">
        <pc:chgData name="Loecha Philion" userId="0f598feb-c4c0-4dda-b2c1-17de97a01329" providerId="ADAL" clId="{E7AA05E6-2E3A-4936-92BE-EF366E7850A9}" dt="2026-08-19T20:59:36.956" v="32" actId="47"/>
        <pc:sldMkLst>
          <pc:docMk/>
          <pc:sldMk cId="26891025" sldId="935"/>
        </pc:sldMkLst>
      </pc:sldChg>
      <pc:sldChg chg="modNotesTx">
        <pc:chgData name="Loecha Philion" userId="0f598feb-c4c0-4dda-b2c1-17de97a01329" providerId="ADAL" clId="{E7AA05E6-2E3A-4936-92BE-EF366E7850A9}" dt="2026-08-19T20:59:50.555" v="35" actId="6549"/>
        <pc:sldMkLst>
          <pc:docMk/>
          <pc:sldMk cId="2275336544" sldId="936"/>
        </pc:sldMkLst>
      </pc:sldChg>
      <pc:sldChg chg="modNotesTx">
        <pc:chgData name="Loecha Philion" userId="0f598feb-c4c0-4dda-b2c1-17de97a01329" providerId="ADAL" clId="{E7AA05E6-2E3A-4936-92BE-EF366E7850A9}" dt="2026-08-19T21:00:23.945" v="42" actId="6549"/>
        <pc:sldMkLst>
          <pc:docMk/>
          <pc:sldMk cId="3091535090" sldId="937"/>
        </pc:sldMkLst>
      </pc:sldChg>
      <pc:sldChg chg="modNotesTx">
        <pc:chgData name="Loecha Philion" userId="0f598feb-c4c0-4dda-b2c1-17de97a01329" providerId="ADAL" clId="{E7AA05E6-2E3A-4936-92BE-EF366E7850A9}" dt="2026-08-19T21:00:29.941" v="44" actId="6549"/>
        <pc:sldMkLst>
          <pc:docMk/>
          <pc:sldMk cId="3571230214" sldId="938"/>
        </pc:sldMkLst>
      </pc:sldChg>
      <pc:sldChg chg="modNotesTx">
        <pc:chgData name="Loecha Philion" userId="0f598feb-c4c0-4dda-b2c1-17de97a01329" providerId="ADAL" clId="{E7AA05E6-2E3A-4936-92BE-EF366E7850A9}" dt="2026-08-19T21:00:34.121" v="45" actId="6549"/>
        <pc:sldMkLst>
          <pc:docMk/>
          <pc:sldMk cId="2428073161" sldId="947"/>
        </pc:sldMkLst>
      </pc:sldChg>
      <pc:sldChg chg="modNotesTx">
        <pc:chgData name="Loecha Philion" userId="0f598feb-c4c0-4dda-b2c1-17de97a01329" providerId="ADAL" clId="{E7AA05E6-2E3A-4936-92BE-EF366E7850A9}" dt="2026-08-19T21:00:42.651" v="47" actId="6549"/>
        <pc:sldMkLst>
          <pc:docMk/>
          <pc:sldMk cId="378208643" sldId="951"/>
        </pc:sldMkLst>
      </pc:sldChg>
      <pc:sldChg chg="modNotesTx">
        <pc:chgData name="Loecha Philion" userId="0f598feb-c4c0-4dda-b2c1-17de97a01329" providerId="ADAL" clId="{E7AA05E6-2E3A-4936-92BE-EF366E7850A9}" dt="2026-08-19T21:00:50.789" v="49" actId="6549"/>
        <pc:sldMkLst>
          <pc:docMk/>
          <pc:sldMk cId="1142124646" sldId="952"/>
        </pc:sldMkLst>
      </pc:sldChg>
      <pc:sldChg chg="modNotesTx">
        <pc:chgData name="Loecha Philion" userId="0f598feb-c4c0-4dda-b2c1-17de97a01329" providerId="ADAL" clId="{E7AA05E6-2E3A-4936-92BE-EF366E7850A9}" dt="2026-08-19T21:00:56.695" v="51" actId="6549"/>
        <pc:sldMkLst>
          <pc:docMk/>
          <pc:sldMk cId="3249555274" sldId="953"/>
        </pc:sldMkLst>
      </pc:sldChg>
      <pc:sldChg chg="modNotesTx">
        <pc:chgData name="Loecha Philion" userId="0f598feb-c4c0-4dda-b2c1-17de97a01329" providerId="ADAL" clId="{E7AA05E6-2E3A-4936-92BE-EF366E7850A9}" dt="2026-08-19T21:00:19.983" v="41" actId="6549"/>
        <pc:sldMkLst>
          <pc:docMk/>
          <pc:sldMk cId="3920559385" sldId="954"/>
        </pc:sldMkLst>
      </pc:sldChg>
      <pc:sldChg chg="modNotesTx">
        <pc:chgData name="Loecha Philion" userId="0f598feb-c4c0-4dda-b2c1-17de97a01329" providerId="ADAL" clId="{E7AA05E6-2E3A-4936-92BE-EF366E7850A9}" dt="2026-08-19T21:01:02.551" v="53" actId="5793"/>
        <pc:sldMkLst>
          <pc:docMk/>
          <pc:sldMk cId="2919882425" sldId="1462"/>
        </pc:sldMkLst>
      </pc:sldChg>
      <pc:sldChg chg="modNotesTx">
        <pc:chgData name="Loecha Philion" userId="0f598feb-c4c0-4dda-b2c1-17de97a01329" providerId="ADAL" clId="{E7AA05E6-2E3A-4936-92BE-EF366E7850A9}" dt="2026-08-19T20:58:49.900" v="24" actId="6549"/>
        <pc:sldMkLst>
          <pc:docMk/>
          <pc:sldMk cId="1390756910" sldId="1463"/>
        </pc:sldMkLst>
      </pc:sldChg>
      <pc:sldChg chg="modNotesTx">
        <pc:chgData name="Loecha Philion" userId="0f598feb-c4c0-4dda-b2c1-17de97a01329" providerId="ADAL" clId="{E7AA05E6-2E3A-4936-92BE-EF366E7850A9}" dt="2026-08-19T21:00:47.276" v="48" actId="6549"/>
        <pc:sldMkLst>
          <pc:docMk/>
          <pc:sldMk cId="2799288381" sldId="1465"/>
        </pc:sldMkLst>
      </pc:sldChg>
      <pc:sldChg chg="del">
        <pc:chgData name="Loecha Philion" userId="0f598feb-c4c0-4dda-b2c1-17de97a01329" providerId="ADAL" clId="{E7AA05E6-2E3A-4936-92BE-EF366E7850A9}" dt="2026-08-19T20:58:34.442" v="20" actId="47"/>
        <pc:sldMkLst>
          <pc:docMk/>
          <pc:sldMk cId="310263613" sldId="1467"/>
        </pc:sldMkLst>
      </pc:sldChg>
      <pc:sldChg chg="modNotesTx">
        <pc:chgData name="Loecha Philion" userId="0f598feb-c4c0-4dda-b2c1-17de97a01329" providerId="ADAL" clId="{E7AA05E6-2E3A-4936-92BE-EF366E7850A9}" dt="2026-08-19T20:59:25.632" v="30" actId="6549"/>
        <pc:sldMkLst>
          <pc:docMk/>
          <pc:sldMk cId="1562015217" sldId="1469"/>
        </pc:sldMkLst>
      </pc:sldChg>
      <pc:sldChg chg="modNotesTx">
        <pc:chgData name="Loecha Philion" userId="0f598feb-c4c0-4dda-b2c1-17de97a01329" providerId="ADAL" clId="{E7AA05E6-2E3A-4936-92BE-EF366E7850A9}" dt="2026-08-19T20:58:42.173" v="22" actId="6549"/>
        <pc:sldMkLst>
          <pc:docMk/>
          <pc:sldMk cId="3207123666" sldId="1473"/>
        </pc:sldMkLst>
      </pc:sldChg>
      <pc:sldChg chg="modSp mod modNotesTx">
        <pc:chgData name="Loecha Philion" userId="0f598feb-c4c0-4dda-b2c1-17de97a01329" providerId="ADAL" clId="{E7AA05E6-2E3A-4936-92BE-EF366E7850A9}" dt="2026-08-19T20:58:13.899" v="16" actId="6549"/>
        <pc:sldMkLst>
          <pc:docMk/>
          <pc:sldMk cId="2309658646" sldId="1475"/>
        </pc:sldMkLst>
        <pc:spChg chg="mod">
          <ac:chgData name="Loecha Philion" userId="0f598feb-c4c0-4dda-b2c1-17de97a01329" providerId="ADAL" clId="{E7AA05E6-2E3A-4936-92BE-EF366E7850A9}" dt="2026-08-19T20:56:54.995" v="12" actId="1076"/>
          <ac:spMkLst>
            <pc:docMk/>
            <pc:sldMk cId="2309658646" sldId="1475"/>
            <ac:spMk id="6" creationId="{37917350-C5B4-6E26-68D2-24C47D07FED6}"/>
          </ac:spMkLst>
        </pc:spChg>
      </pc:sldChg>
      <pc:sldChg chg="modSp mod modNotesTx">
        <pc:chgData name="Loecha Philion" userId="0f598feb-c4c0-4dda-b2c1-17de97a01329" providerId="ADAL" clId="{E7AA05E6-2E3A-4936-92BE-EF366E7850A9}" dt="2026-08-19T20:58:24.879" v="18" actId="6549"/>
        <pc:sldMkLst>
          <pc:docMk/>
          <pc:sldMk cId="585235283" sldId="1478"/>
        </pc:sldMkLst>
        <pc:spChg chg="mod">
          <ac:chgData name="Loecha Philion" userId="0f598feb-c4c0-4dda-b2c1-17de97a01329" providerId="ADAL" clId="{E7AA05E6-2E3A-4936-92BE-EF366E7850A9}" dt="2026-08-19T20:56:29.968" v="11" actId="20577"/>
          <ac:spMkLst>
            <pc:docMk/>
            <pc:sldMk cId="585235283" sldId="1478"/>
            <ac:spMk id="19" creationId="{D687137A-0A78-A202-C12F-8F6BFB71DC28}"/>
          </ac:spMkLst>
        </pc:spChg>
      </pc:sldChg>
      <pc:sldChg chg="modNotesTx">
        <pc:chgData name="Loecha Philion" userId="0f598feb-c4c0-4dda-b2c1-17de97a01329" providerId="ADAL" clId="{E7AA05E6-2E3A-4936-92BE-EF366E7850A9}" dt="2026-08-19T20:59:04.795" v="27" actId="6549"/>
        <pc:sldMkLst>
          <pc:docMk/>
          <pc:sldMk cId="2213594322" sldId="1481"/>
        </pc:sldMkLst>
      </pc:sldChg>
      <pc:sldChg chg="del">
        <pc:chgData name="Loecha Philion" userId="0f598feb-c4c0-4dda-b2c1-17de97a01329" providerId="ADAL" clId="{E7AA05E6-2E3A-4936-92BE-EF366E7850A9}" dt="2026-08-19T21:01:10.385" v="55" actId="47"/>
        <pc:sldMkLst>
          <pc:docMk/>
          <pc:sldMk cId="2575418168" sldId="1484"/>
        </pc:sldMkLst>
      </pc:sldChg>
      <pc:sldChg chg="modNotesTx">
        <pc:chgData name="Loecha Philion" userId="0f598feb-c4c0-4dda-b2c1-17de97a01329" providerId="ADAL" clId="{E7AA05E6-2E3A-4936-92BE-EF366E7850A9}" dt="2026-08-19T20:58:17.376" v="17" actId="6549"/>
        <pc:sldMkLst>
          <pc:docMk/>
          <pc:sldMk cId="683051285" sldId="1485"/>
        </pc:sldMkLst>
      </pc:sldChg>
      <pc:sldChg chg="del">
        <pc:chgData name="Loecha Philion" userId="0f598feb-c4c0-4dda-b2c1-17de97a01329" providerId="ADAL" clId="{E7AA05E6-2E3A-4936-92BE-EF366E7850A9}" dt="2026-08-19T20:59:13.655" v="28" actId="47"/>
        <pc:sldMkLst>
          <pc:docMk/>
          <pc:sldMk cId="2687355836" sldId="148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CF 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Feuil1!$A$2:$A$3</c:f>
              <c:strCache>
                <c:ptCount val="2"/>
                <c:pt idx="0">
                  <c:v>100 passagers</c:v>
                </c:pt>
                <c:pt idx="1">
                  <c:v>200 passagers</c:v>
                </c:pt>
              </c:strCache>
            </c:strRef>
          </c:cat>
          <c:val>
            <c:numRef>
              <c:f>Feuil1!$B$2:$B$3</c:f>
              <c:numCache>
                <c:formatCode>"$"#,##0_);[Red]\("$"#,##0\)</c:formatCode>
                <c:ptCount val="2"/>
                <c:pt idx="0">
                  <c:v>50000</c:v>
                </c:pt>
                <c:pt idx="1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34-4AC5-8BB7-C4FB8D468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11771279"/>
        <c:axId val="1909337375"/>
      </c:barChart>
      <c:catAx>
        <c:axId val="1611771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909337375"/>
        <c:crossesAt val="1"/>
        <c:auto val="1"/>
        <c:lblAlgn val="ctr"/>
        <c:lblOffset val="100"/>
        <c:noMultiLvlLbl val="0"/>
      </c:catAx>
      <c:valAx>
        <c:axId val="1909337375"/>
        <c:scaling>
          <c:logBase val="10"/>
          <c:orientation val="minMax"/>
          <c:max val="60000"/>
          <c:min val="10000"/>
        </c:scaling>
        <c:delete val="1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crossAx val="161177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CF unitaire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Feuil1!$A$2:$A$3</c:f>
              <c:strCache>
                <c:ptCount val="2"/>
                <c:pt idx="0">
                  <c:v>100 passagers</c:v>
                </c:pt>
                <c:pt idx="1">
                  <c:v>200 passagers</c:v>
                </c:pt>
              </c:strCache>
            </c:strRef>
          </c:cat>
          <c:val>
            <c:numRef>
              <c:f>Feuil1!$B$2:$B$3</c:f>
              <c:numCache>
                <c:formatCode>General</c:formatCode>
                <c:ptCount val="2"/>
                <c:pt idx="0">
                  <c:v>500</c:v>
                </c:pt>
                <c:pt idx="1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D2-4A0B-9AF2-F6439D0A70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986367568"/>
        <c:axId val="301137312"/>
      </c:barChart>
      <c:catAx>
        <c:axId val="1986367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01137312"/>
        <c:crosses val="autoZero"/>
        <c:auto val="1"/>
        <c:lblAlgn val="ctr"/>
        <c:lblOffset val="100"/>
        <c:noMultiLvlLbl val="0"/>
      </c:catAx>
      <c:valAx>
        <c:axId val="301137312"/>
        <c:scaling>
          <c:orientation val="minMax"/>
          <c:max val="50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986367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CV 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Feuil1!$A$2:$A$3</c:f>
              <c:strCache>
                <c:ptCount val="2"/>
                <c:pt idx="0">
                  <c:v>100 passagers</c:v>
                </c:pt>
                <c:pt idx="1">
                  <c:v>200 passagers</c:v>
                </c:pt>
              </c:strCache>
            </c:strRef>
          </c:cat>
          <c:val>
            <c:numRef>
              <c:f>Feuil1!$B$2:$B$3</c:f>
              <c:numCache>
                <c:formatCode>General</c:formatCode>
                <c:ptCount val="2"/>
                <c:pt idx="0">
                  <c:v>3000</c:v>
                </c:pt>
                <c:pt idx="1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69-46CC-A78B-3B2C09417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83022832"/>
        <c:axId val="301141888"/>
      </c:barChart>
      <c:catAx>
        <c:axId val="283022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01141888"/>
        <c:crosses val="autoZero"/>
        <c:auto val="1"/>
        <c:lblAlgn val="ctr"/>
        <c:lblOffset val="100"/>
        <c:noMultiLvlLbl val="0"/>
      </c:catAx>
      <c:valAx>
        <c:axId val="3011418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3022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1F048F-F10C-493B-AE6A-905D067A01C8}" type="doc">
      <dgm:prSet loTypeId="urn:microsoft.com/office/officeart/2005/8/layout/radial6" loCatId="cycle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fr-CA"/>
        </a:p>
      </dgm:t>
    </dgm:pt>
    <dgm:pt modelId="{0DC6D15F-6DAE-419D-B361-20000F517CDD}">
      <dgm:prSet phldrT="[Texte]"/>
      <dgm:spPr/>
      <dgm:t>
        <a:bodyPr/>
        <a:lstStyle/>
        <a:p>
          <a:r>
            <a:rPr lang="fr-CA" dirty="0"/>
            <a:t>Gestionnaires</a:t>
          </a:r>
        </a:p>
      </dgm:t>
    </dgm:pt>
    <dgm:pt modelId="{AD1193FA-2618-4DA5-AB62-16617E07907E}" type="parTrans" cxnId="{C238104C-BF3F-4540-A068-DD3B133AA26D}">
      <dgm:prSet/>
      <dgm:spPr/>
      <dgm:t>
        <a:bodyPr/>
        <a:lstStyle/>
        <a:p>
          <a:endParaRPr lang="fr-CA"/>
        </a:p>
      </dgm:t>
    </dgm:pt>
    <dgm:pt modelId="{D129FC24-773C-4C98-9F4D-206836412B01}" type="sibTrans" cxnId="{C238104C-BF3F-4540-A068-DD3B133AA26D}">
      <dgm:prSet/>
      <dgm:spPr/>
      <dgm:t>
        <a:bodyPr/>
        <a:lstStyle/>
        <a:p>
          <a:endParaRPr lang="fr-CA"/>
        </a:p>
      </dgm:t>
    </dgm:pt>
    <dgm:pt modelId="{E740E26F-6035-4C2F-BCF3-C4A605F2DFC4}">
      <dgm:prSet phldrT="[Texte]"/>
      <dgm:spPr/>
      <dgm:t>
        <a:bodyPr/>
        <a:lstStyle/>
        <a:p>
          <a:r>
            <a:rPr lang="fr-CA" dirty="0"/>
            <a:t>Marketing</a:t>
          </a:r>
        </a:p>
      </dgm:t>
    </dgm:pt>
    <dgm:pt modelId="{58CB1DD4-8C23-4D7B-9129-D707F62FC8AC}" type="parTrans" cxnId="{90D8C150-ADD8-42C0-AEB5-364F91EB572D}">
      <dgm:prSet/>
      <dgm:spPr/>
      <dgm:t>
        <a:bodyPr/>
        <a:lstStyle/>
        <a:p>
          <a:endParaRPr lang="fr-CA"/>
        </a:p>
      </dgm:t>
    </dgm:pt>
    <dgm:pt modelId="{EF6EBB99-C96C-427C-AFA6-F6B86DA3C8DD}" type="sibTrans" cxnId="{90D8C150-ADD8-42C0-AEB5-364F91EB572D}">
      <dgm:prSet/>
      <dgm:spPr/>
      <dgm:t>
        <a:bodyPr/>
        <a:lstStyle/>
        <a:p>
          <a:endParaRPr lang="fr-CA"/>
        </a:p>
      </dgm:t>
    </dgm:pt>
    <dgm:pt modelId="{BBC3E21B-D982-4B65-B993-35483FE9832B}">
      <dgm:prSet phldrT="[Texte]"/>
      <dgm:spPr/>
      <dgm:t>
        <a:bodyPr/>
        <a:lstStyle/>
        <a:p>
          <a:r>
            <a:rPr lang="fr-CA" dirty="0"/>
            <a:t>GRH</a:t>
          </a:r>
        </a:p>
      </dgm:t>
    </dgm:pt>
    <dgm:pt modelId="{39CD150D-6A29-48D6-B28D-02D201FC3D3E}" type="parTrans" cxnId="{655B52A9-28E8-4522-A5E1-8D34E423273F}">
      <dgm:prSet/>
      <dgm:spPr/>
      <dgm:t>
        <a:bodyPr/>
        <a:lstStyle/>
        <a:p>
          <a:endParaRPr lang="fr-CA"/>
        </a:p>
      </dgm:t>
    </dgm:pt>
    <dgm:pt modelId="{6B1A6C73-1F1A-402A-92D8-A802DA9996EB}" type="sibTrans" cxnId="{655B52A9-28E8-4522-A5E1-8D34E423273F}">
      <dgm:prSet/>
      <dgm:spPr/>
      <dgm:t>
        <a:bodyPr/>
        <a:lstStyle/>
        <a:p>
          <a:endParaRPr lang="fr-CA"/>
        </a:p>
      </dgm:t>
    </dgm:pt>
    <dgm:pt modelId="{0F15DBC4-7FAF-46FF-9446-380EB65F0AE9}">
      <dgm:prSet phldrT="[Texte]"/>
      <dgm:spPr/>
      <dgm:t>
        <a:bodyPr/>
        <a:lstStyle/>
        <a:p>
          <a:r>
            <a:rPr lang="fr-CA" dirty="0"/>
            <a:t>TI</a:t>
          </a:r>
        </a:p>
      </dgm:t>
    </dgm:pt>
    <dgm:pt modelId="{ADA3539E-33E1-4233-9195-0B203514CE3C}" type="parTrans" cxnId="{5DCF9E25-51F3-4CFB-9A3E-7F4A6098CAFD}">
      <dgm:prSet/>
      <dgm:spPr/>
      <dgm:t>
        <a:bodyPr/>
        <a:lstStyle/>
        <a:p>
          <a:endParaRPr lang="fr-CA"/>
        </a:p>
      </dgm:t>
    </dgm:pt>
    <dgm:pt modelId="{43E80819-E09B-4D23-A46B-C99CA01F0A32}" type="sibTrans" cxnId="{5DCF9E25-51F3-4CFB-9A3E-7F4A6098CAFD}">
      <dgm:prSet/>
      <dgm:spPr/>
      <dgm:t>
        <a:bodyPr/>
        <a:lstStyle/>
        <a:p>
          <a:endParaRPr lang="fr-CA"/>
        </a:p>
      </dgm:t>
    </dgm:pt>
    <dgm:pt modelId="{821BA62C-C83E-4E2F-8867-5B124E089C5E}">
      <dgm:prSet phldrT="[Texte]"/>
      <dgm:spPr/>
      <dgm:t>
        <a:bodyPr/>
        <a:lstStyle/>
        <a:p>
          <a:r>
            <a:rPr lang="fr-CA" dirty="0"/>
            <a:t>GOL</a:t>
          </a:r>
        </a:p>
      </dgm:t>
    </dgm:pt>
    <dgm:pt modelId="{BA87F085-E8C1-437D-800D-AD1812852CFD}" type="parTrans" cxnId="{252F6D17-496F-4D2D-A09C-4D7CD8080E53}">
      <dgm:prSet/>
      <dgm:spPr/>
      <dgm:t>
        <a:bodyPr/>
        <a:lstStyle/>
        <a:p>
          <a:endParaRPr lang="fr-CA"/>
        </a:p>
      </dgm:t>
    </dgm:pt>
    <dgm:pt modelId="{B187C769-36C8-4248-94D3-014C7AB0EFA6}" type="sibTrans" cxnId="{252F6D17-496F-4D2D-A09C-4D7CD8080E53}">
      <dgm:prSet/>
      <dgm:spPr/>
      <dgm:t>
        <a:bodyPr/>
        <a:lstStyle/>
        <a:p>
          <a:endParaRPr lang="fr-CA"/>
        </a:p>
      </dgm:t>
    </dgm:pt>
    <dgm:pt modelId="{9F5C12C3-8772-4610-8A38-3BF61619F224}">
      <dgm:prSet phldrT="[Texte]"/>
      <dgm:spPr/>
      <dgm:t>
        <a:bodyPr/>
        <a:lstStyle/>
        <a:p>
          <a:r>
            <a:rPr lang="fr-CA" dirty="0"/>
            <a:t>Finance</a:t>
          </a:r>
        </a:p>
      </dgm:t>
    </dgm:pt>
    <dgm:pt modelId="{BFC3C06E-BD4C-4BA3-989A-FAA176614EBD}" type="parTrans" cxnId="{A9B5A1A9-83B4-4AEF-811B-60F43542686B}">
      <dgm:prSet/>
      <dgm:spPr/>
      <dgm:t>
        <a:bodyPr/>
        <a:lstStyle/>
        <a:p>
          <a:endParaRPr lang="fr-CA"/>
        </a:p>
      </dgm:t>
    </dgm:pt>
    <dgm:pt modelId="{B179EBAD-4971-4084-AE82-D37ACEDB3060}" type="sibTrans" cxnId="{A9B5A1A9-83B4-4AEF-811B-60F43542686B}">
      <dgm:prSet/>
      <dgm:spPr/>
      <dgm:t>
        <a:bodyPr/>
        <a:lstStyle/>
        <a:p>
          <a:endParaRPr lang="fr-CA"/>
        </a:p>
      </dgm:t>
    </dgm:pt>
    <dgm:pt modelId="{60ED46FD-4226-49E7-A030-F9C3F85A5E90}">
      <dgm:prSet phldrT="[Texte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fr-CA" dirty="0"/>
            <a:t>Autres</a:t>
          </a:r>
        </a:p>
      </dgm:t>
    </dgm:pt>
    <dgm:pt modelId="{DEED871B-E698-4E4E-AAE4-B3B4E2ADF773}" type="parTrans" cxnId="{32B9333B-C918-465A-B69E-1B5F1B53E740}">
      <dgm:prSet/>
      <dgm:spPr/>
      <dgm:t>
        <a:bodyPr/>
        <a:lstStyle/>
        <a:p>
          <a:endParaRPr lang="fr-CA"/>
        </a:p>
      </dgm:t>
    </dgm:pt>
    <dgm:pt modelId="{95C0E5CC-3166-4599-BC51-32AA3DFC5415}" type="sibTrans" cxnId="{32B9333B-C918-465A-B69E-1B5F1B53E740}">
      <dgm:prSet/>
      <dgm:spPr/>
      <dgm:t>
        <a:bodyPr/>
        <a:lstStyle/>
        <a:p>
          <a:endParaRPr lang="fr-CA"/>
        </a:p>
      </dgm:t>
    </dgm:pt>
    <dgm:pt modelId="{A2007203-0C30-42AC-966D-FA5EDAF60386}" type="pres">
      <dgm:prSet presAssocID="{851F048F-F10C-493B-AE6A-905D067A01C8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5F8132D-4480-4461-AE1D-77B5B26642CB}" type="pres">
      <dgm:prSet presAssocID="{0DC6D15F-6DAE-419D-B361-20000F517CDD}" presName="centerShape" presStyleLbl="node0" presStyleIdx="0" presStyleCnt="1"/>
      <dgm:spPr/>
    </dgm:pt>
    <dgm:pt modelId="{F5320A52-87E9-4352-91AA-4754F95FF6EF}" type="pres">
      <dgm:prSet presAssocID="{E740E26F-6035-4C2F-BCF3-C4A605F2DFC4}" presName="node" presStyleLbl="node1" presStyleIdx="0" presStyleCnt="6">
        <dgm:presLayoutVars>
          <dgm:bulletEnabled val="1"/>
        </dgm:presLayoutVars>
      </dgm:prSet>
      <dgm:spPr/>
    </dgm:pt>
    <dgm:pt modelId="{15C7BE74-1E51-4505-9BCE-7D0F936FF529}" type="pres">
      <dgm:prSet presAssocID="{E740E26F-6035-4C2F-BCF3-C4A605F2DFC4}" presName="dummy" presStyleCnt="0"/>
      <dgm:spPr/>
    </dgm:pt>
    <dgm:pt modelId="{B5057D41-05CC-49CD-8B7F-35DBE0EAB1D4}" type="pres">
      <dgm:prSet presAssocID="{EF6EBB99-C96C-427C-AFA6-F6B86DA3C8DD}" presName="sibTrans" presStyleLbl="sibTrans2D1" presStyleIdx="0" presStyleCnt="6"/>
      <dgm:spPr/>
    </dgm:pt>
    <dgm:pt modelId="{6AA5F807-3D82-4EA2-8F7E-52FF80CD2998}" type="pres">
      <dgm:prSet presAssocID="{BBC3E21B-D982-4B65-B993-35483FE9832B}" presName="node" presStyleLbl="node1" presStyleIdx="1" presStyleCnt="6">
        <dgm:presLayoutVars>
          <dgm:bulletEnabled val="1"/>
        </dgm:presLayoutVars>
      </dgm:prSet>
      <dgm:spPr/>
    </dgm:pt>
    <dgm:pt modelId="{94855C05-D34A-4CF6-8DAE-315275E857E9}" type="pres">
      <dgm:prSet presAssocID="{BBC3E21B-D982-4B65-B993-35483FE9832B}" presName="dummy" presStyleCnt="0"/>
      <dgm:spPr/>
    </dgm:pt>
    <dgm:pt modelId="{37E21763-95D9-4776-B100-C8785CE71CF4}" type="pres">
      <dgm:prSet presAssocID="{6B1A6C73-1F1A-402A-92D8-A802DA9996EB}" presName="sibTrans" presStyleLbl="sibTrans2D1" presStyleIdx="1" presStyleCnt="6"/>
      <dgm:spPr/>
    </dgm:pt>
    <dgm:pt modelId="{8674B5BB-9017-43C3-8CAC-5CFFD2166F91}" type="pres">
      <dgm:prSet presAssocID="{0F15DBC4-7FAF-46FF-9446-380EB65F0AE9}" presName="node" presStyleLbl="node1" presStyleIdx="2" presStyleCnt="6">
        <dgm:presLayoutVars>
          <dgm:bulletEnabled val="1"/>
        </dgm:presLayoutVars>
      </dgm:prSet>
      <dgm:spPr/>
    </dgm:pt>
    <dgm:pt modelId="{A9F5DD5C-CA96-4ECB-8265-BD1EC409AC24}" type="pres">
      <dgm:prSet presAssocID="{0F15DBC4-7FAF-46FF-9446-380EB65F0AE9}" presName="dummy" presStyleCnt="0"/>
      <dgm:spPr/>
    </dgm:pt>
    <dgm:pt modelId="{1E8A7E3F-F4EF-4825-AEB9-A8F32902112E}" type="pres">
      <dgm:prSet presAssocID="{43E80819-E09B-4D23-A46B-C99CA01F0A32}" presName="sibTrans" presStyleLbl="sibTrans2D1" presStyleIdx="2" presStyleCnt="6"/>
      <dgm:spPr/>
    </dgm:pt>
    <dgm:pt modelId="{BE0F11B4-4B10-4426-A22A-5A6E70D1FA42}" type="pres">
      <dgm:prSet presAssocID="{821BA62C-C83E-4E2F-8867-5B124E089C5E}" presName="node" presStyleLbl="node1" presStyleIdx="3" presStyleCnt="6">
        <dgm:presLayoutVars>
          <dgm:bulletEnabled val="1"/>
        </dgm:presLayoutVars>
      </dgm:prSet>
      <dgm:spPr/>
    </dgm:pt>
    <dgm:pt modelId="{77D2D2ED-CC22-4DC3-AD7C-F4938D9C2CEC}" type="pres">
      <dgm:prSet presAssocID="{821BA62C-C83E-4E2F-8867-5B124E089C5E}" presName="dummy" presStyleCnt="0"/>
      <dgm:spPr/>
    </dgm:pt>
    <dgm:pt modelId="{5A7D8317-4092-4179-9DFE-563092C1301C}" type="pres">
      <dgm:prSet presAssocID="{B187C769-36C8-4248-94D3-014C7AB0EFA6}" presName="sibTrans" presStyleLbl="sibTrans2D1" presStyleIdx="3" presStyleCnt="6"/>
      <dgm:spPr/>
    </dgm:pt>
    <dgm:pt modelId="{A89937DB-50BA-47BD-81AE-0757284A99DB}" type="pres">
      <dgm:prSet presAssocID="{9F5C12C3-8772-4610-8A38-3BF61619F224}" presName="node" presStyleLbl="node1" presStyleIdx="4" presStyleCnt="6">
        <dgm:presLayoutVars>
          <dgm:bulletEnabled val="1"/>
        </dgm:presLayoutVars>
      </dgm:prSet>
      <dgm:spPr/>
    </dgm:pt>
    <dgm:pt modelId="{03769653-6156-4010-817C-09C63E555F28}" type="pres">
      <dgm:prSet presAssocID="{9F5C12C3-8772-4610-8A38-3BF61619F224}" presName="dummy" presStyleCnt="0"/>
      <dgm:spPr/>
    </dgm:pt>
    <dgm:pt modelId="{FE654B72-07E4-4A36-9BE5-C563E2027D0E}" type="pres">
      <dgm:prSet presAssocID="{B179EBAD-4971-4084-AE82-D37ACEDB3060}" presName="sibTrans" presStyleLbl="sibTrans2D1" presStyleIdx="4" presStyleCnt="6"/>
      <dgm:spPr/>
    </dgm:pt>
    <dgm:pt modelId="{B2509048-D20E-4BD7-A25F-6693CD7BB882}" type="pres">
      <dgm:prSet presAssocID="{60ED46FD-4226-49E7-A030-F9C3F85A5E90}" presName="node" presStyleLbl="node1" presStyleIdx="5" presStyleCnt="6">
        <dgm:presLayoutVars>
          <dgm:bulletEnabled val="1"/>
        </dgm:presLayoutVars>
      </dgm:prSet>
      <dgm:spPr/>
    </dgm:pt>
    <dgm:pt modelId="{D0DED228-E3A6-440D-9B9E-26E44BC68971}" type="pres">
      <dgm:prSet presAssocID="{60ED46FD-4226-49E7-A030-F9C3F85A5E90}" presName="dummy" presStyleCnt="0"/>
      <dgm:spPr/>
    </dgm:pt>
    <dgm:pt modelId="{306263CD-42FB-45A6-8F9D-08E52D3834F6}" type="pres">
      <dgm:prSet presAssocID="{95C0E5CC-3166-4599-BC51-32AA3DFC5415}" presName="sibTrans" presStyleLbl="sibTrans2D1" presStyleIdx="5" presStyleCnt="6"/>
      <dgm:spPr/>
    </dgm:pt>
  </dgm:ptLst>
  <dgm:cxnLst>
    <dgm:cxn modelId="{252F6D17-496F-4D2D-A09C-4D7CD8080E53}" srcId="{0DC6D15F-6DAE-419D-B361-20000F517CDD}" destId="{821BA62C-C83E-4E2F-8867-5B124E089C5E}" srcOrd="3" destOrd="0" parTransId="{BA87F085-E8C1-437D-800D-AD1812852CFD}" sibTransId="{B187C769-36C8-4248-94D3-014C7AB0EFA6}"/>
    <dgm:cxn modelId="{5DCF9E25-51F3-4CFB-9A3E-7F4A6098CAFD}" srcId="{0DC6D15F-6DAE-419D-B361-20000F517CDD}" destId="{0F15DBC4-7FAF-46FF-9446-380EB65F0AE9}" srcOrd="2" destOrd="0" parTransId="{ADA3539E-33E1-4233-9195-0B203514CE3C}" sibTransId="{43E80819-E09B-4D23-A46B-C99CA01F0A32}"/>
    <dgm:cxn modelId="{8CE2CF36-7907-4CF2-A21A-D3BBB8B432F3}" type="presOf" srcId="{0DC6D15F-6DAE-419D-B361-20000F517CDD}" destId="{F5F8132D-4480-4461-AE1D-77B5B26642CB}" srcOrd="0" destOrd="0" presId="urn:microsoft.com/office/officeart/2005/8/layout/radial6"/>
    <dgm:cxn modelId="{066E4538-C312-4FC2-93A4-C81018CADBF9}" type="presOf" srcId="{EF6EBB99-C96C-427C-AFA6-F6B86DA3C8DD}" destId="{B5057D41-05CC-49CD-8B7F-35DBE0EAB1D4}" srcOrd="0" destOrd="0" presId="urn:microsoft.com/office/officeart/2005/8/layout/radial6"/>
    <dgm:cxn modelId="{32B9333B-C918-465A-B69E-1B5F1B53E740}" srcId="{0DC6D15F-6DAE-419D-B361-20000F517CDD}" destId="{60ED46FD-4226-49E7-A030-F9C3F85A5E90}" srcOrd="5" destOrd="0" parTransId="{DEED871B-E698-4E4E-AAE4-B3B4E2ADF773}" sibTransId="{95C0E5CC-3166-4599-BC51-32AA3DFC5415}"/>
    <dgm:cxn modelId="{58BEE03D-54E2-4178-9D6F-B24275A3142A}" type="presOf" srcId="{851F048F-F10C-493B-AE6A-905D067A01C8}" destId="{A2007203-0C30-42AC-966D-FA5EDAF60386}" srcOrd="0" destOrd="0" presId="urn:microsoft.com/office/officeart/2005/8/layout/radial6"/>
    <dgm:cxn modelId="{155F105C-C313-45AF-B5E5-B0FB1CFA3745}" type="presOf" srcId="{60ED46FD-4226-49E7-A030-F9C3F85A5E90}" destId="{B2509048-D20E-4BD7-A25F-6693CD7BB882}" srcOrd="0" destOrd="0" presId="urn:microsoft.com/office/officeart/2005/8/layout/radial6"/>
    <dgm:cxn modelId="{548D0841-FC2E-4FE0-AF19-4FF04A638268}" type="presOf" srcId="{0F15DBC4-7FAF-46FF-9446-380EB65F0AE9}" destId="{8674B5BB-9017-43C3-8CAC-5CFFD2166F91}" srcOrd="0" destOrd="0" presId="urn:microsoft.com/office/officeart/2005/8/layout/radial6"/>
    <dgm:cxn modelId="{C238104C-BF3F-4540-A068-DD3B133AA26D}" srcId="{851F048F-F10C-493B-AE6A-905D067A01C8}" destId="{0DC6D15F-6DAE-419D-B361-20000F517CDD}" srcOrd="0" destOrd="0" parTransId="{AD1193FA-2618-4DA5-AB62-16617E07907E}" sibTransId="{D129FC24-773C-4C98-9F4D-206836412B01}"/>
    <dgm:cxn modelId="{376F8F6D-2703-4F76-A83F-F2128F155FDE}" type="presOf" srcId="{B179EBAD-4971-4084-AE82-D37ACEDB3060}" destId="{FE654B72-07E4-4A36-9BE5-C563E2027D0E}" srcOrd="0" destOrd="0" presId="urn:microsoft.com/office/officeart/2005/8/layout/radial6"/>
    <dgm:cxn modelId="{20823D50-1F4E-4A6F-A072-BCDC02C91232}" type="presOf" srcId="{95C0E5CC-3166-4599-BC51-32AA3DFC5415}" destId="{306263CD-42FB-45A6-8F9D-08E52D3834F6}" srcOrd="0" destOrd="0" presId="urn:microsoft.com/office/officeart/2005/8/layout/radial6"/>
    <dgm:cxn modelId="{90D8C150-ADD8-42C0-AEB5-364F91EB572D}" srcId="{0DC6D15F-6DAE-419D-B361-20000F517CDD}" destId="{E740E26F-6035-4C2F-BCF3-C4A605F2DFC4}" srcOrd="0" destOrd="0" parTransId="{58CB1DD4-8C23-4D7B-9129-D707F62FC8AC}" sibTransId="{EF6EBB99-C96C-427C-AFA6-F6B86DA3C8DD}"/>
    <dgm:cxn modelId="{89330E72-F398-4A85-9A2E-6F41CFFD3C9A}" type="presOf" srcId="{E740E26F-6035-4C2F-BCF3-C4A605F2DFC4}" destId="{F5320A52-87E9-4352-91AA-4754F95FF6EF}" srcOrd="0" destOrd="0" presId="urn:microsoft.com/office/officeart/2005/8/layout/radial6"/>
    <dgm:cxn modelId="{9C455654-1049-4DE7-BE70-A93727ACB79A}" type="presOf" srcId="{BBC3E21B-D982-4B65-B993-35483FE9832B}" destId="{6AA5F807-3D82-4EA2-8F7E-52FF80CD2998}" srcOrd="0" destOrd="0" presId="urn:microsoft.com/office/officeart/2005/8/layout/radial6"/>
    <dgm:cxn modelId="{14C00C93-D22B-49CA-9387-90E7FB5E262B}" type="presOf" srcId="{821BA62C-C83E-4E2F-8867-5B124E089C5E}" destId="{BE0F11B4-4B10-4426-A22A-5A6E70D1FA42}" srcOrd="0" destOrd="0" presId="urn:microsoft.com/office/officeart/2005/8/layout/radial6"/>
    <dgm:cxn modelId="{7EB3FD9A-ED81-4B0F-8A2D-85801CE85082}" type="presOf" srcId="{9F5C12C3-8772-4610-8A38-3BF61619F224}" destId="{A89937DB-50BA-47BD-81AE-0757284A99DB}" srcOrd="0" destOrd="0" presId="urn:microsoft.com/office/officeart/2005/8/layout/radial6"/>
    <dgm:cxn modelId="{655B52A9-28E8-4522-A5E1-8D34E423273F}" srcId="{0DC6D15F-6DAE-419D-B361-20000F517CDD}" destId="{BBC3E21B-D982-4B65-B993-35483FE9832B}" srcOrd="1" destOrd="0" parTransId="{39CD150D-6A29-48D6-B28D-02D201FC3D3E}" sibTransId="{6B1A6C73-1F1A-402A-92D8-A802DA9996EB}"/>
    <dgm:cxn modelId="{A9B5A1A9-83B4-4AEF-811B-60F43542686B}" srcId="{0DC6D15F-6DAE-419D-B361-20000F517CDD}" destId="{9F5C12C3-8772-4610-8A38-3BF61619F224}" srcOrd="4" destOrd="0" parTransId="{BFC3C06E-BD4C-4BA3-989A-FAA176614EBD}" sibTransId="{B179EBAD-4971-4084-AE82-D37ACEDB3060}"/>
    <dgm:cxn modelId="{D062E2A9-253D-4A17-9E64-AD8B0929896B}" type="presOf" srcId="{B187C769-36C8-4248-94D3-014C7AB0EFA6}" destId="{5A7D8317-4092-4179-9DFE-563092C1301C}" srcOrd="0" destOrd="0" presId="urn:microsoft.com/office/officeart/2005/8/layout/radial6"/>
    <dgm:cxn modelId="{9899AFC8-7152-4682-AB38-BBAF34BA6436}" type="presOf" srcId="{43E80819-E09B-4D23-A46B-C99CA01F0A32}" destId="{1E8A7E3F-F4EF-4825-AEB9-A8F32902112E}" srcOrd="0" destOrd="0" presId="urn:microsoft.com/office/officeart/2005/8/layout/radial6"/>
    <dgm:cxn modelId="{907B60E6-B4EE-4490-AEE6-479C7A1D2C45}" type="presOf" srcId="{6B1A6C73-1F1A-402A-92D8-A802DA9996EB}" destId="{37E21763-95D9-4776-B100-C8785CE71CF4}" srcOrd="0" destOrd="0" presId="urn:microsoft.com/office/officeart/2005/8/layout/radial6"/>
    <dgm:cxn modelId="{85AD71F1-0A3A-48A1-AC50-C0674D95E7C2}" type="presParOf" srcId="{A2007203-0C30-42AC-966D-FA5EDAF60386}" destId="{F5F8132D-4480-4461-AE1D-77B5B26642CB}" srcOrd="0" destOrd="0" presId="urn:microsoft.com/office/officeart/2005/8/layout/radial6"/>
    <dgm:cxn modelId="{B4B7DCD7-D727-4406-9A4F-D2F24B1573BF}" type="presParOf" srcId="{A2007203-0C30-42AC-966D-FA5EDAF60386}" destId="{F5320A52-87E9-4352-91AA-4754F95FF6EF}" srcOrd="1" destOrd="0" presId="urn:microsoft.com/office/officeart/2005/8/layout/radial6"/>
    <dgm:cxn modelId="{36E83FB3-8080-44A1-B33D-ABE76DBA219C}" type="presParOf" srcId="{A2007203-0C30-42AC-966D-FA5EDAF60386}" destId="{15C7BE74-1E51-4505-9BCE-7D0F936FF529}" srcOrd="2" destOrd="0" presId="urn:microsoft.com/office/officeart/2005/8/layout/radial6"/>
    <dgm:cxn modelId="{34E29839-D4DA-4BE1-8CBF-4D875DDC08E9}" type="presParOf" srcId="{A2007203-0C30-42AC-966D-FA5EDAF60386}" destId="{B5057D41-05CC-49CD-8B7F-35DBE0EAB1D4}" srcOrd="3" destOrd="0" presId="urn:microsoft.com/office/officeart/2005/8/layout/radial6"/>
    <dgm:cxn modelId="{EB0A9B98-C0A0-40C5-B741-A922EF2FBDF1}" type="presParOf" srcId="{A2007203-0C30-42AC-966D-FA5EDAF60386}" destId="{6AA5F807-3D82-4EA2-8F7E-52FF80CD2998}" srcOrd="4" destOrd="0" presId="urn:microsoft.com/office/officeart/2005/8/layout/radial6"/>
    <dgm:cxn modelId="{09B0F4C3-A5FA-469A-A811-5D4C1C30ED72}" type="presParOf" srcId="{A2007203-0C30-42AC-966D-FA5EDAF60386}" destId="{94855C05-D34A-4CF6-8DAE-315275E857E9}" srcOrd="5" destOrd="0" presId="urn:microsoft.com/office/officeart/2005/8/layout/radial6"/>
    <dgm:cxn modelId="{1357BB24-A2A6-4CF3-82D1-E675E4E58414}" type="presParOf" srcId="{A2007203-0C30-42AC-966D-FA5EDAF60386}" destId="{37E21763-95D9-4776-B100-C8785CE71CF4}" srcOrd="6" destOrd="0" presId="urn:microsoft.com/office/officeart/2005/8/layout/radial6"/>
    <dgm:cxn modelId="{C8F7EE4E-A9E3-44EC-8F7B-3555389C3F51}" type="presParOf" srcId="{A2007203-0C30-42AC-966D-FA5EDAF60386}" destId="{8674B5BB-9017-43C3-8CAC-5CFFD2166F91}" srcOrd="7" destOrd="0" presId="urn:microsoft.com/office/officeart/2005/8/layout/radial6"/>
    <dgm:cxn modelId="{14262F3A-F4B6-4752-A34A-CBC7E0DADBD4}" type="presParOf" srcId="{A2007203-0C30-42AC-966D-FA5EDAF60386}" destId="{A9F5DD5C-CA96-4ECB-8265-BD1EC409AC24}" srcOrd="8" destOrd="0" presId="urn:microsoft.com/office/officeart/2005/8/layout/radial6"/>
    <dgm:cxn modelId="{9A798CF8-C00D-4C22-81A5-70B639AF504F}" type="presParOf" srcId="{A2007203-0C30-42AC-966D-FA5EDAF60386}" destId="{1E8A7E3F-F4EF-4825-AEB9-A8F32902112E}" srcOrd="9" destOrd="0" presId="urn:microsoft.com/office/officeart/2005/8/layout/radial6"/>
    <dgm:cxn modelId="{6F6BA10F-884B-4A63-8391-8306BCC679AB}" type="presParOf" srcId="{A2007203-0C30-42AC-966D-FA5EDAF60386}" destId="{BE0F11B4-4B10-4426-A22A-5A6E70D1FA42}" srcOrd="10" destOrd="0" presId="urn:microsoft.com/office/officeart/2005/8/layout/radial6"/>
    <dgm:cxn modelId="{7160D171-B56C-4CCC-9C65-D07E3B0B73BF}" type="presParOf" srcId="{A2007203-0C30-42AC-966D-FA5EDAF60386}" destId="{77D2D2ED-CC22-4DC3-AD7C-F4938D9C2CEC}" srcOrd="11" destOrd="0" presId="urn:microsoft.com/office/officeart/2005/8/layout/radial6"/>
    <dgm:cxn modelId="{B5F4200D-D43E-4786-8204-7BA7A7488C5B}" type="presParOf" srcId="{A2007203-0C30-42AC-966D-FA5EDAF60386}" destId="{5A7D8317-4092-4179-9DFE-563092C1301C}" srcOrd="12" destOrd="0" presId="urn:microsoft.com/office/officeart/2005/8/layout/radial6"/>
    <dgm:cxn modelId="{02716ACA-B1F7-473A-AF63-F7BEB09D67B1}" type="presParOf" srcId="{A2007203-0C30-42AC-966D-FA5EDAF60386}" destId="{A89937DB-50BA-47BD-81AE-0757284A99DB}" srcOrd="13" destOrd="0" presId="urn:microsoft.com/office/officeart/2005/8/layout/radial6"/>
    <dgm:cxn modelId="{A1D1F15E-8640-4D7A-9534-582067831006}" type="presParOf" srcId="{A2007203-0C30-42AC-966D-FA5EDAF60386}" destId="{03769653-6156-4010-817C-09C63E555F28}" srcOrd="14" destOrd="0" presId="urn:microsoft.com/office/officeart/2005/8/layout/radial6"/>
    <dgm:cxn modelId="{F9DD3C52-5196-4D79-B375-FDE99DB7647B}" type="presParOf" srcId="{A2007203-0C30-42AC-966D-FA5EDAF60386}" destId="{FE654B72-07E4-4A36-9BE5-C563E2027D0E}" srcOrd="15" destOrd="0" presId="urn:microsoft.com/office/officeart/2005/8/layout/radial6"/>
    <dgm:cxn modelId="{03F08B6E-CCD8-4682-9B9B-A33FB0935A17}" type="presParOf" srcId="{A2007203-0C30-42AC-966D-FA5EDAF60386}" destId="{B2509048-D20E-4BD7-A25F-6693CD7BB882}" srcOrd="16" destOrd="0" presId="urn:microsoft.com/office/officeart/2005/8/layout/radial6"/>
    <dgm:cxn modelId="{C8D92880-7744-4E90-9CC1-CB7CA08BEE83}" type="presParOf" srcId="{A2007203-0C30-42AC-966D-FA5EDAF60386}" destId="{D0DED228-E3A6-440D-9B9E-26E44BC68971}" srcOrd="17" destOrd="0" presId="urn:microsoft.com/office/officeart/2005/8/layout/radial6"/>
    <dgm:cxn modelId="{7DF703A9-56B5-4353-9F9C-B451B3D99AD1}" type="presParOf" srcId="{A2007203-0C30-42AC-966D-FA5EDAF60386}" destId="{306263CD-42FB-45A6-8F9D-08E52D3834F6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870B4B-B64C-41BF-A5A4-0F8DC11B9B1D}" type="doc">
      <dgm:prSet loTypeId="urn:microsoft.com/office/officeart/2005/8/layout/equation1" loCatId="process" qsTypeId="urn:microsoft.com/office/officeart/2005/8/quickstyle/simple5#1" qsCatId="simple" csTypeId="urn:microsoft.com/office/officeart/2005/8/colors/accent0_3#1" csCatId="mainScheme" phldr="1"/>
      <dgm:spPr/>
    </dgm:pt>
    <dgm:pt modelId="{EEA5FDF9-257A-429C-98F3-7E0D54170F1D}">
      <dgm:prSet phldrT="[Texte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ln w="28575">
          <a:solidFill>
            <a:schemeClr val="accent1"/>
          </a:solidFill>
        </a:ln>
      </dgm:spPr>
      <dgm:t>
        <a:bodyPr/>
        <a:lstStyle/>
        <a:p>
          <a:r>
            <a:rPr lang="fr-CA" b="1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Coûts</a:t>
          </a:r>
          <a:r>
            <a:rPr lang="fr-CA" b="1" cap="none" spc="0">
              <a:ln w="10160">
                <a:prstDash val="solid"/>
              </a:ln>
              <a:effectLst/>
            </a:rPr>
            <a:t> </a:t>
          </a:r>
          <a:r>
            <a:rPr lang="fr-CA" b="1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fixes</a:t>
          </a:r>
        </a:p>
        <a:p>
          <a:r>
            <a:rPr lang="fr-CA" b="1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a</a:t>
          </a:r>
        </a:p>
      </dgm:t>
    </dgm:pt>
    <dgm:pt modelId="{2A9B22C7-8509-410A-BD5E-7E011002B424}" type="parTrans" cxnId="{AECBC41A-1352-4820-8C6F-527DB174CAFC}">
      <dgm:prSet/>
      <dgm:spPr/>
      <dgm:t>
        <a:bodyPr/>
        <a:lstStyle/>
        <a:p>
          <a:endParaRPr lang="fr-CA" b="1"/>
        </a:p>
      </dgm:t>
    </dgm:pt>
    <dgm:pt modelId="{C947C3FA-E2AB-4435-B8AD-4870B174C6EF}" type="sibTrans" cxnId="{AECBC41A-1352-4820-8C6F-527DB174CAFC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endParaRPr lang="fr-CA" b="1"/>
        </a:p>
      </dgm:t>
    </dgm:pt>
    <dgm:pt modelId="{AF081FBE-5A5B-454B-9E75-F075D2DFF1B2}">
      <dgm:prSet phldrT="[Texte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ln w="28575">
          <a:solidFill>
            <a:schemeClr val="accent1"/>
          </a:solidFill>
        </a:ln>
      </dgm:spPr>
      <dgm:t>
        <a:bodyPr/>
        <a:lstStyle/>
        <a:p>
          <a:r>
            <a:rPr lang="fr-CA" b="1">
              <a:solidFill>
                <a:schemeClr val="tx1"/>
              </a:solidFill>
              <a:effectLst/>
            </a:rPr>
            <a:t>Coûts variables</a:t>
          </a:r>
        </a:p>
        <a:p>
          <a:r>
            <a:rPr lang="fr-CA" b="1" err="1">
              <a:solidFill>
                <a:schemeClr val="tx1"/>
              </a:solidFill>
              <a:effectLst/>
            </a:rPr>
            <a:t>bx</a:t>
          </a:r>
          <a:endParaRPr lang="fr-CA" b="1">
            <a:solidFill>
              <a:schemeClr val="tx1"/>
            </a:solidFill>
            <a:effectLst/>
          </a:endParaRPr>
        </a:p>
      </dgm:t>
    </dgm:pt>
    <dgm:pt modelId="{FB7C7A8C-A810-4E82-86A6-A72EEB1699D5}" type="parTrans" cxnId="{CB683AC5-F6C8-4A9C-9922-606AA7B59865}">
      <dgm:prSet/>
      <dgm:spPr/>
      <dgm:t>
        <a:bodyPr/>
        <a:lstStyle/>
        <a:p>
          <a:endParaRPr lang="fr-CA" b="1"/>
        </a:p>
      </dgm:t>
    </dgm:pt>
    <dgm:pt modelId="{9A3012EF-AAE9-445D-AF81-ABA391D3BAF0}" type="sibTrans" cxnId="{CB683AC5-F6C8-4A9C-9922-606AA7B59865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endParaRPr lang="fr-CA" b="1"/>
        </a:p>
      </dgm:t>
    </dgm:pt>
    <dgm:pt modelId="{97714079-9FE0-4C15-B786-2203A27F042C}">
      <dgm:prSet phldrT="[Texte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ln w="28575">
          <a:solidFill>
            <a:schemeClr val="accent1"/>
          </a:solidFill>
        </a:ln>
      </dgm:spPr>
      <dgm:t>
        <a:bodyPr/>
        <a:lstStyle/>
        <a:p>
          <a:r>
            <a:rPr lang="fr-CA" b="1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Coûts totaux</a:t>
          </a:r>
        </a:p>
        <a:p>
          <a:r>
            <a:rPr lang="fr-CA" b="1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Y</a:t>
          </a:r>
        </a:p>
      </dgm:t>
    </dgm:pt>
    <dgm:pt modelId="{104BE3AB-0344-4E01-9B5E-1EBE5A0777CA}" type="parTrans" cxnId="{64BFA20F-DA35-4203-8C6F-07D739312469}">
      <dgm:prSet/>
      <dgm:spPr/>
      <dgm:t>
        <a:bodyPr/>
        <a:lstStyle/>
        <a:p>
          <a:endParaRPr lang="fr-CA" b="1"/>
        </a:p>
      </dgm:t>
    </dgm:pt>
    <dgm:pt modelId="{D994B253-2FB7-4B15-8C64-DB71D1641E10}" type="sibTrans" cxnId="{64BFA20F-DA35-4203-8C6F-07D739312469}">
      <dgm:prSet/>
      <dgm:spPr/>
      <dgm:t>
        <a:bodyPr/>
        <a:lstStyle/>
        <a:p>
          <a:endParaRPr lang="fr-CA" b="1"/>
        </a:p>
      </dgm:t>
    </dgm:pt>
    <dgm:pt modelId="{BBC63DE0-FC31-4C2B-9C63-74F48519DE88}" type="pres">
      <dgm:prSet presAssocID="{C5870B4B-B64C-41BF-A5A4-0F8DC11B9B1D}" presName="linearFlow" presStyleCnt="0">
        <dgm:presLayoutVars>
          <dgm:dir/>
          <dgm:resizeHandles val="exact"/>
        </dgm:presLayoutVars>
      </dgm:prSet>
      <dgm:spPr/>
    </dgm:pt>
    <dgm:pt modelId="{297CBDFC-96AC-4364-9118-AA537690BB6F}" type="pres">
      <dgm:prSet presAssocID="{EEA5FDF9-257A-429C-98F3-7E0D54170F1D}" presName="node" presStyleLbl="node1" presStyleIdx="0" presStyleCnt="3" custLinFactX="167313" custLinFactNeighborX="200000" custLinFactNeighborY="2505">
        <dgm:presLayoutVars>
          <dgm:bulletEnabled val="1"/>
        </dgm:presLayoutVars>
      </dgm:prSet>
      <dgm:spPr>
        <a:prstGeom prst="round2SameRect">
          <a:avLst/>
        </a:prstGeom>
      </dgm:spPr>
    </dgm:pt>
    <dgm:pt modelId="{851A2A4D-5C4D-4A10-8D6F-3F54A080BFC6}" type="pres">
      <dgm:prSet presAssocID="{C947C3FA-E2AB-4435-B8AD-4870B174C6EF}" presName="spacerL" presStyleCnt="0"/>
      <dgm:spPr/>
    </dgm:pt>
    <dgm:pt modelId="{E04CBDD5-3DC5-493B-85BF-645173FDBB92}" type="pres">
      <dgm:prSet presAssocID="{C947C3FA-E2AB-4435-B8AD-4870B174C6EF}" presName="sibTrans" presStyleLbl="sibTrans2D1" presStyleIdx="0" presStyleCnt="2" custLinFactX="264555" custLinFactNeighborX="300000" custLinFactNeighborY="5401"/>
      <dgm:spPr/>
    </dgm:pt>
    <dgm:pt modelId="{51569257-67C8-4884-AC1B-C9713D841B51}" type="pres">
      <dgm:prSet presAssocID="{C947C3FA-E2AB-4435-B8AD-4870B174C6EF}" presName="spacerR" presStyleCnt="0"/>
      <dgm:spPr/>
    </dgm:pt>
    <dgm:pt modelId="{A3158F4A-D74F-45A3-A787-CDD13943E39B}" type="pres">
      <dgm:prSet presAssocID="{AF081FBE-5A5B-454B-9E75-F075D2DFF1B2}" presName="node" presStyleLbl="node1" presStyleIdx="1" presStyleCnt="3" custLinFactX="158075" custLinFactNeighborX="200000" custLinFactNeighborY="3473">
        <dgm:presLayoutVars>
          <dgm:bulletEnabled val="1"/>
        </dgm:presLayoutVars>
      </dgm:prSet>
      <dgm:spPr>
        <a:prstGeom prst="round2SameRect">
          <a:avLst/>
        </a:prstGeom>
      </dgm:spPr>
    </dgm:pt>
    <dgm:pt modelId="{A7B603D4-64A7-4612-ACE7-409ED9DDFCD0}" type="pres">
      <dgm:prSet presAssocID="{9A3012EF-AAE9-445D-AF81-ABA391D3BAF0}" presName="spacerL" presStyleCnt="0"/>
      <dgm:spPr/>
    </dgm:pt>
    <dgm:pt modelId="{A9CAF044-9A55-47E3-BE39-CF758634F6F4}" type="pres">
      <dgm:prSet presAssocID="{9A3012EF-AAE9-445D-AF81-ABA391D3BAF0}" presName="sibTrans" presStyleLbl="sibTrans2D1" presStyleIdx="1" presStyleCnt="2" custLinFactX="-238662" custLinFactNeighborX="-300000" custLinFactNeighborY="3603"/>
      <dgm:spPr/>
    </dgm:pt>
    <dgm:pt modelId="{54833EC1-9439-4E37-B8FF-5DA7251FED79}" type="pres">
      <dgm:prSet presAssocID="{9A3012EF-AAE9-445D-AF81-ABA391D3BAF0}" presName="spacerR" presStyleCnt="0"/>
      <dgm:spPr/>
    </dgm:pt>
    <dgm:pt modelId="{6B3DE69E-15F5-4BE3-8D83-6D70A840E4A3}" type="pres">
      <dgm:prSet presAssocID="{97714079-9FE0-4C15-B786-2203A27F042C}" presName="node" presStyleLbl="node1" presStyleIdx="2" presStyleCnt="3" custLinFactX="-305654" custLinFactNeighborX="-400000">
        <dgm:presLayoutVars>
          <dgm:bulletEnabled val="1"/>
        </dgm:presLayoutVars>
      </dgm:prSet>
      <dgm:spPr>
        <a:prstGeom prst="round2SameRect">
          <a:avLst/>
        </a:prstGeom>
      </dgm:spPr>
    </dgm:pt>
  </dgm:ptLst>
  <dgm:cxnLst>
    <dgm:cxn modelId="{64BFA20F-DA35-4203-8C6F-07D739312469}" srcId="{C5870B4B-B64C-41BF-A5A4-0F8DC11B9B1D}" destId="{97714079-9FE0-4C15-B786-2203A27F042C}" srcOrd="2" destOrd="0" parTransId="{104BE3AB-0344-4E01-9B5E-1EBE5A0777CA}" sibTransId="{D994B253-2FB7-4B15-8C64-DB71D1641E10}"/>
    <dgm:cxn modelId="{B8AF0C18-346C-4296-BD39-BC0448EEBEDD}" type="presOf" srcId="{C5870B4B-B64C-41BF-A5A4-0F8DC11B9B1D}" destId="{BBC63DE0-FC31-4C2B-9C63-74F48519DE88}" srcOrd="0" destOrd="0" presId="urn:microsoft.com/office/officeart/2005/8/layout/equation1"/>
    <dgm:cxn modelId="{AECBC41A-1352-4820-8C6F-527DB174CAFC}" srcId="{C5870B4B-B64C-41BF-A5A4-0F8DC11B9B1D}" destId="{EEA5FDF9-257A-429C-98F3-7E0D54170F1D}" srcOrd="0" destOrd="0" parTransId="{2A9B22C7-8509-410A-BD5E-7E011002B424}" sibTransId="{C947C3FA-E2AB-4435-B8AD-4870B174C6EF}"/>
    <dgm:cxn modelId="{C4C6A364-CBA8-4005-AD68-94A3FA881662}" type="presOf" srcId="{AF081FBE-5A5B-454B-9E75-F075D2DFF1B2}" destId="{A3158F4A-D74F-45A3-A787-CDD13943E39B}" srcOrd="0" destOrd="0" presId="urn:microsoft.com/office/officeart/2005/8/layout/equation1"/>
    <dgm:cxn modelId="{5520216C-C29C-4D84-B2C5-07FB1BCCA3CF}" type="presOf" srcId="{C947C3FA-E2AB-4435-B8AD-4870B174C6EF}" destId="{E04CBDD5-3DC5-493B-85BF-645173FDBB92}" srcOrd="0" destOrd="0" presId="urn:microsoft.com/office/officeart/2005/8/layout/equation1"/>
    <dgm:cxn modelId="{E44AF375-8A0C-43D4-A59D-7A5064ACC8F9}" type="presOf" srcId="{97714079-9FE0-4C15-B786-2203A27F042C}" destId="{6B3DE69E-15F5-4BE3-8D83-6D70A840E4A3}" srcOrd="0" destOrd="0" presId="urn:microsoft.com/office/officeart/2005/8/layout/equation1"/>
    <dgm:cxn modelId="{0E596F9E-C1B9-470D-9C0D-C803D2F136E9}" type="presOf" srcId="{EEA5FDF9-257A-429C-98F3-7E0D54170F1D}" destId="{297CBDFC-96AC-4364-9118-AA537690BB6F}" srcOrd="0" destOrd="0" presId="urn:microsoft.com/office/officeart/2005/8/layout/equation1"/>
    <dgm:cxn modelId="{CB683AC5-F6C8-4A9C-9922-606AA7B59865}" srcId="{C5870B4B-B64C-41BF-A5A4-0F8DC11B9B1D}" destId="{AF081FBE-5A5B-454B-9E75-F075D2DFF1B2}" srcOrd="1" destOrd="0" parTransId="{FB7C7A8C-A810-4E82-86A6-A72EEB1699D5}" sibTransId="{9A3012EF-AAE9-445D-AF81-ABA391D3BAF0}"/>
    <dgm:cxn modelId="{7126ECE1-7E19-4267-9333-FA0DEE8DAF33}" type="presOf" srcId="{9A3012EF-AAE9-445D-AF81-ABA391D3BAF0}" destId="{A9CAF044-9A55-47E3-BE39-CF758634F6F4}" srcOrd="0" destOrd="0" presId="urn:microsoft.com/office/officeart/2005/8/layout/equation1"/>
    <dgm:cxn modelId="{E64DAEB2-47F1-4444-8B75-DA52DF5E5055}" type="presParOf" srcId="{BBC63DE0-FC31-4C2B-9C63-74F48519DE88}" destId="{297CBDFC-96AC-4364-9118-AA537690BB6F}" srcOrd="0" destOrd="0" presId="urn:microsoft.com/office/officeart/2005/8/layout/equation1"/>
    <dgm:cxn modelId="{A0A4CD21-DDF8-45DB-8E4F-2C290B738D8D}" type="presParOf" srcId="{BBC63DE0-FC31-4C2B-9C63-74F48519DE88}" destId="{851A2A4D-5C4D-4A10-8D6F-3F54A080BFC6}" srcOrd="1" destOrd="0" presId="urn:microsoft.com/office/officeart/2005/8/layout/equation1"/>
    <dgm:cxn modelId="{67AD2280-67E4-4CCF-AB7D-50EE562572C5}" type="presParOf" srcId="{BBC63DE0-FC31-4C2B-9C63-74F48519DE88}" destId="{E04CBDD5-3DC5-493B-85BF-645173FDBB92}" srcOrd="2" destOrd="0" presId="urn:microsoft.com/office/officeart/2005/8/layout/equation1"/>
    <dgm:cxn modelId="{FD079170-6D92-47D6-8829-A77127B543B6}" type="presParOf" srcId="{BBC63DE0-FC31-4C2B-9C63-74F48519DE88}" destId="{51569257-67C8-4884-AC1B-C9713D841B51}" srcOrd="3" destOrd="0" presId="urn:microsoft.com/office/officeart/2005/8/layout/equation1"/>
    <dgm:cxn modelId="{EB2AFD66-B149-431B-8407-E877E0783F51}" type="presParOf" srcId="{BBC63DE0-FC31-4C2B-9C63-74F48519DE88}" destId="{A3158F4A-D74F-45A3-A787-CDD13943E39B}" srcOrd="4" destOrd="0" presId="urn:microsoft.com/office/officeart/2005/8/layout/equation1"/>
    <dgm:cxn modelId="{5268E35A-B6F0-4F37-9871-07B9DEAD6299}" type="presParOf" srcId="{BBC63DE0-FC31-4C2B-9C63-74F48519DE88}" destId="{A7B603D4-64A7-4612-ACE7-409ED9DDFCD0}" srcOrd="5" destOrd="0" presId="urn:microsoft.com/office/officeart/2005/8/layout/equation1"/>
    <dgm:cxn modelId="{D9B30E8C-C4F5-48D9-A08F-266E910AD339}" type="presParOf" srcId="{BBC63DE0-FC31-4C2B-9C63-74F48519DE88}" destId="{A9CAF044-9A55-47E3-BE39-CF758634F6F4}" srcOrd="6" destOrd="0" presId="urn:microsoft.com/office/officeart/2005/8/layout/equation1"/>
    <dgm:cxn modelId="{4D051198-4FA0-4758-911B-3D601D653A12}" type="presParOf" srcId="{BBC63DE0-FC31-4C2B-9C63-74F48519DE88}" destId="{54833EC1-9439-4E37-B8FF-5DA7251FED79}" srcOrd="7" destOrd="0" presId="urn:microsoft.com/office/officeart/2005/8/layout/equation1"/>
    <dgm:cxn modelId="{160EB26C-BC87-4926-B160-511AFFA0BE0A}" type="presParOf" srcId="{BBC63DE0-FC31-4C2B-9C63-74F48519DE88}" destId="{6B3DE69E-15F5-4BE3-8D83-6D70A840E4A3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263CD-42FB-45A6-8F9D-08E52D3834F6}">
      <dsp:nvSpPr>
        <dsp:cNvPr id="0" name=""/>
        <dsp:cNvSpPr/>
      </dsp:nvSpPr>
      <dsp:spPr>
        <a:xfrm>
          <a:off x="1499646" y="512750"/>
          <a:ext cx="3512632" cy="3512632"/>
        </a:xfrm>
        <a:prstGeom prst="blockArc">
          <a:avLst>
            <a:gd name="adj1" fmla="val 12600000"/>
            <a:gd name="adj2" fmla="val 16200000"/>
            <a:gd name="adj3" fmla="val 451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54B72-07E4-4A36-9BE5-C563E2027D0E}">
      <dsp:nvSpPr>
        <dsp:cNvPr id="0" name=""/>
        <dsp:cNvSpPr/>
      </dsp:nvSpPr>
      <dsp:spPr>
        <a:xfrm>
          <a:off x="1499646" y="512750"/>
          <a:ext cx="3512632" cy="3512632"/>
        </a:xfrm>
        <a:prstGeom prst="blockArc">
          <a:avLst>
            <a:gd name="adj1" fmla="val 9000000"/>
            <a:gd name="adj2" fmla="val 12600000"/>
            <a:gd name="adj3" fmla="val 4517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D8317-4092-4179-9DFE-563092C1301C}">
      <dsp:nvSpPr>
        <dsp:cNvPr id="0" name=""/>
        <dsp:cNvSpPr/>
      </dsp:nvSpPr>
      <dsp:spPr>
        <a:xfrm>
          <a:off x="1499646" y="512750"/>
          <a:ext cx="3512632" cy="3512632"/>
        </a:xfrm>
        <a:prstGeom prst="blockArc">
          <a:avLst>
            <a:gd name="adj1" fmla="val 5400000"/>
            <a:gd name="adj2" fmla="val 9000000"/>
            <a:gd name="adj3" fmla="val 451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A7E3F-F4EF-4825-AEB9-A8F32902112E}">
      <dsp:nvSpPr>
        <dsp:cNvPr id="0" name=""/>
        <dsp:cNvSpPr/>
      </dsp:nvSpPr>
      <dsp:spPr>
        <a:xfrm>
          <a:off x="1499646" y="512750"/>
          <a:ext cx="3512632" cy="3512632"/>
        </a:xfrm>
        <a:prstGeom prst="blockArc">
          <a:avLst>
            <a:gd name="adj1" fmla="val 1800000"/>
            <a:gd name="adj2" fmla="val 5400000"/>
            <a:gd name="adj3" fmla="val 451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21763-95D9-4776-B100-C8785CE71CF4}">
      <dsp:nvSpPr>
        <dsp:cNvPr id="0" name=""/>
        <dsp:cNvSpPr/>
      </dsp:nvSpPr>
      <dsp:spPr>
        <a:xfrm>
          <a:off x="1499646" y="512750"/>
          <a:ext cx="3512632" cy="3512632"/>
        </a:xfrm>
        <a:prstGeom prst="blockArc">
          <a:avLst>
            <a:gd name="adj1" fmla="val 19800000"/>
            <a:gd name="adj2" fmla="val 1800000"/>
            <a:gd name="adj3" fmla="val 451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57D41-05CC-49CD-8B7F-35DBE0EAB1D4}">
      <dsp:nvSpPr>
        <dsp:cNvPr id="0" name=""/>
        <dsp:cNvSpPr/>
      </dsp:nvSpPr>
      <dsp:spPr>
        <a:xfrm>
          <a:off x="1499646" y="512750"/>
          <a:ext cx="3512632" cy="3512632"/>
        </a:xfrm>
        <a:prstGeom prst="blockArc">
          <a:avLst>
            <a:gd name="adj1" fmla="val 16200000"/>
            <a:gd name="adj2" fmla="val 19800000"/>
            <a:gd name="adj3" fmla="val 451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8132D-4480-4461-AE1D-77B5B26642CB}">
      <dsp:nvSpPr>
        <dsp:cNvPr id="0" name=""/>
        <dsp:cNvSpPr/>
      </dsp:nvSpPr>
      <dsp:spPr>
        <a:xfrm>
          <a:off x="2468998" y="1482102"/>
          <a:ext cx="1573927" cy="15739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Gestionnaires</a:t>
          </a:r>
        </a:p>
      </dsp:txBody>
      <dsp:txXfrm>
        <a:off x="2699494" y="1712598"/>
        <a:ext cx="1112935" cy="1112935"/>
      </dsp:txXfrm>
    </dsp:sp>
    <dsp:sp modelId="{F5320A52-87E9-4352-91AA-4754F95FF6EF}">
      <dsp:nvSpPr>
        <dsp:cNvPr id="0" name=""/>
        <dsp:cNvSpPr/>
      </dsp:nvSpPr>
      <dsp:spPr>
        <a:xfrm>
          <a:off x="2705087" y="1538"/>
          <a:ext cx="1101749" cy="110174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Marketing</a:t>
          </a:r>
        </a:p>
      </dsp:txBody>
      <dsp:txXfrm>
        <a:off x="2866434" y="162885"/>
        <a:ext cx="779055" cy="779055"/>
      </dsp:txXfrm>
    </dsp:sp>
    <dsp:sp modelId="{6AA5F807-3D82-4EA2-8F7E-52FF80CD2998}">
      <dsp:nvSpPr>
        <dsp:cNvPr id="0" name=""/>
        <dsp:cNvSpPr/>
      </dsp:nvSpPr>
      <dsp:spPr>
        <a:xfrm>
          <a:off x="4191753" y="859865"/>
          <a:ext cx="1101749" cy="110174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GRH</a:t>
          </a:r>
        </a:p>
      </dsp:txBody>
      <dsp:txXfrm>
        <a:off x="4353100" y="1021212"/>
        <a:ext cx="779055" cy="779055"/>
      </dsp:txXfrm>
    </dsp:sp>
    <dsp:sp modelId="{8674B5BB-9017-43C3-8CAC-5CFFD2166F91}">
      <dsp:nvSpPr>
        <dsp:cNvPr id="0" name=""/>
        <dsp:cNvSpPr/>
      </dsp:nvSpPr>
      <dsp:spPr>
        <a:xfrm>
          <a:off x="4191753" y="2576518"/>
          <a:ext cx="1101749" cy="110174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TI</a:t>
          </a:r>
        </a:p>
      </dsp:txBody>
      <dsp:txXfrm>
        <a:off x="4353100" y="2737865"/>
        <a:ext cx="779055" cy="779055"/>
      </dsp:txXfrm>
    </dsp:sp>
    <dsp:sp modelId="{BE0F11B4-4B10-4426-A22A-5A6E70D1FA42}">
      <dsp:nvSpPr>
        <dsp:cNvPr id="0" name=""/>
        <dsp:cNvSpPr/>
      </dsp:nvSpPr>
      <dsp:spPr>
        <a:xfrm>
          <a:off x="2705087" y="3434845"/>
          <a:ext cx="1101749" cy="110174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GOL</a:t>
          </a:r>
        </a:p>
      </dsp:txBody>
      <dsp:txXfrm>
        <a:off x="2866434" y="3596192"/>
        <a:ext cx="779055" cy="779055"/>
      </dsp:txXfrm>
    </dsp:sp>
    <dsp:sp modelId="{A89937DB-50BA-47BD-81AE-0757284A99DB}">
      <dsp:nvSpPr>
        <dsp:cNvPr id="0" name=""/>
        <dsp:cNvSpPr/>
      </dsp:nvSpPr>
      <dsp:spPr>
        <a:xfrm>
          <a:off x="1218422" y="2576518"/>
          <a:ext cx="1101749" cy="110174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Finance</a:t>
          </a:r>
        </a:p>
      </dsp:txBody>
      <dsp:txXfrm>
        <a:off x="1379769" y="2737865"/>
        <a:ext cx="779055" cy="779055"/>
      </dsp:txXfrm>
    </dsp:sp>
    <dsp:sp modelId="{B2509048-D20E-4BD7-A25F-6693CD7BB882}">
      <dsp:nvSpPr>
        <dsp:cNvPr id="0" name=""/>
        <dsp:cNvSpPr/>
      </dsp:nvSpPr>
      <dsp:spPr>
        <a:xfrm>
          <a:off x="1218422" y="859865"/>
          <a:ext cx="1101749" cy="1101749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Autres</a:t>
          </a:r>
        </a:p>
      </dsp:txBody>
      <dsp:txXfrm>
        <a:off x="1379769" y="1021212"/>
        <a:ext cx="779055" cy="779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CBDFC-96AC-4364-9118-AA537690BB6F}">
      <dsp:nvSpPr>
        <dsp:cNvPr id="0" name=""/>
        <dsp:cNvSpPr/>
      </dsp:nvSpPr>
      <dsp:spPr>
        <a:xfrm>
          <a:off x="2999591" y="250483"/>
          <a:ext cx="1633511" cy="1633511"/>
        </a:xfrm>
        <a:prstGeom prst="round2SameRect">
          <a:avLst/>
        </a:prstGeom>
        <a:solidFill>
          <a:schemeClr val="lt1"/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b="1" kern="1200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Coûts</a:t>
          </a:r>
          <a:r>
            <a:rPr lang="fr-CA" sz="2900" b="1" kern="1200" cap="none" spc="0">
              <a:ln w="10160">
                <a:prstDash val="solid"/>
              </a:ln>
              <a:effectLst/>
            </a:rPr>
            <a:t> </a:t>
          </a:r>
          <a:r>
            <a:rPr lang="fr-CA" sz="2900" b="1" kern="1200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fixes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b="1" kern="1200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a</a:t>
          </a:r>
        </a:p>
      </dsp:txBody>
      <dsp:txXfrm>
        <a:off x="3079332" y="330224"/>
        <a:ext cx="1474029" cy="1553770"/>
      </dsp:txXfrm>
    </dsp:sp>
    <dsp:sp modelId="{E04CBDD5-3DC5-493B-85BF-645173FDBB92}">
      <dsp:nvSpPr>
        <dsp:cNvPr id="0" name=""/>
        <dsp:cNvSpPr/>
      </dsp:nvSpPr>
      <dsp:spPr>
        <a:xfrm>
          <a:off x="4671798" y="603772"/>
          <a:ext cx="947436" cy="947436"/>
        </a:xfrm>
        <a:prstGeom prst="mathPlus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1500" b="1" kern="1200"/>
        </a:p>
      </dsp:txBody>
      <dsp:txXfrm>
        <a:off x="4797381" y="966072"/>
        <a:ext cx="696270" cy="222836"/>
      </dsp:txXfrm>
    </dsp:sp>
    <dsp:sp modelId="{A3158F4A-D74F-45A3-A787-CDD13943E39B}">
      <dsp:nvSpPr>
        <dsp:cNvPr id="0" name=""/>
        <dsp:cNvSpPr/>
      </dsp:nvSpPr>
      <dsp:spPr>
        <a:xfrm>
          <a:off x="5694917" y="266295"/>
          <a:ext cx="1633511" cy="1633511"/>
        </a:xfrm>
        <a:prstGeom prst="round2SameRect">
          <a:avLst/>
        </a:prstGeom>
        <a:solidFill>
          <a:schemeClr val="lt1"/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b="1" kern="1200">
              <a:solidFill>
                <a:schemeClr val="tx1"/>
              </a:solidFill>
              <a:effectLst/>
            </a:rPr>
            <a:t>Coûts variables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b="1" kern="1200" err="1">
              <a:solidFill>
                <a:schemeClr val="tx1"/>
              </a:solidFill>
              <a:effectLst/>
            </a:rPr>
            <a:t>bx</a:t>
          </a:r>
          <a:endParaRPr lang="fr-CA" sz="2900" b="1" kern="1200">
            <a:solidFill>
              <a:schemeClr val="tx1"/>
            </a:solidFill>
            <a:effectLst/>
          </a:endParaRPr>
        </a:p>
      </dsp:txBody>
      <dsp:txXfrm>
        <a:off x="5774658" y="346036"/>
        <a:ext cx="1474029" cy="1553770"/>
      </dsp:txXfrm>
    </dsp:sp>
    <dsp:sp modelId="{A9CAF044-9A55-47E3-BE39-CF758634F6F4}">
      <dsp:nvSpPr>
        <dsp:cNvPr id="0" name=""/>
        <dsp:cNvSpPr/>
      </dsp:nvSpPr>
      <dsp:spPr>
        <a:xfrm>
          <a:off x="1954520" y="586737"/>
          <a:ext cx="947436" cy="947436"/>
        </a:xfrm>
        <a:prstGeom prst="mathEqual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2500" b="1" kern="1200"/>
        </a:p>
      </dsp:txBody>
      <dsp:txXfrm>
        <a:off x="2080103" y="781909"/>
        <a:ext cx="696270" cy="557092"/>
      </dsp:txXfrm>
    </dsp:sp>
    <dsp:sp modelId="{6B3DE69E-15F5-4BE3-8D83-6D70A840E4A3}">
      <dsp:nvSpPr>
        <dsp:cNvPr id="0" name=""/>
        <dsp:cNvSpPr/>
      </dsp:nvSpPr>
      <dsp:spPr>
        <a:xfrm>
          <a:off x="170235" y="209563"/>
          <a:ext cx="1633511" cy="1633511"/>
        </a:xfrm>
        <a:prstGeom prst="round2SameRect">
          <a:avLst/>
        </a:prstGeom>
        <a:solidFill>
          <a:schemeClr val="lt1"/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b="1" kern="1200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Coûts totaux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900" b="1" kern="1200" cap="none" spc="0">
              <a:ln w="10160">
                <a:prstDash val="solid"/>
              </a:ln>
              <a:solidFill>
                <a:schemeClr val="tx1"/>
              </a:solidFill>
              <a:effectLst/>
            </a:rPr>
            <a:t>Y</a:t>
          </a:r>
        </a:p>
      </dsp:txBody>
      <dsp:txXfrm>
        <a:off x="249976" y="289304"/>
        <a:ext cx="1474029" cy="1553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970938" y="3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60A3AAB-47D1-4662-A762-08EA563F584F}" type="datetimeFigureOut">
              <a:rPr lang="fr-CA" smtClean="0"/>
              <a:t>2026-08-19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CE8287A-0C42-4A4D-92F4-1137A5D8F5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2749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8" y="3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F7AB90F-F7BC-4700-9960-B769A15787B7}" type="datetimeFigureOut">
              <a:rPr lang="fr-CA" smtClean="0"/>
              <a:t>2026-08-19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1040" y="4473891"/>
            <a:ext cx="5608320" cy="3660459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8756633-E94B-447C-907F-5A907A33816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7038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D131D5-6477-4BF7-8776-36E89AAF915A}" type="slidenum">
              <a:rPr lang="fr-CA" smtClean="0">
                <a:solidFill>
                  <a:prstClr val="black"/>
                </a:solidFill>
              </a:rPr>
              <a:pPr/>
              <a:t>1</a:t>
            </a:fld>
            <a:endParaRPr lang="fr-CA">
              <a:solidFill>
                <a:prstClr val="black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6E8D610-C0C9-DD54-4867-4FD1AA98600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0224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5560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662158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DA6A8B-D89A-46FD-832A-72A49CB14D75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8201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167F39-D79D-4B0B-BCBE-410D657E1073}" type="slidenum">
              <a:rPr lang="fr-CA" smtClean="0"/>
              <a:pPr>
                <a:defRPr/>
              </a:pPr>
              <a:t>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60272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558791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24246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1406-9CC2-B3EC-9CE2-CC96287F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DB020F-F1ED-2270-65B5-905DED900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DC4331B-E1C3-0FBB-720D-014D5F120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558791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0AA9D9-ADC4-309D-78E8-FE8F774B0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717721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36F4E-D455-4144-BEA3-03C565736DD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2668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36F4E-D455-4144-BEA3-03C565736DD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24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36F4E-D455-4144-BEA3-03C565736DD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7842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EA0BE-4D36-4E77-A41A-8CB3F59C50BC}" type="slidenum">
              <a:rPr lang="fr-CA" smtClean="0"/>
              <a:t>10</a:t>
            </a:fld>
            <a:endParaRPr lang="fr-CA" dirty="0"/>
          </a:p>
        </p:txBody>
      </p:sp>
      <p:sp>
        <p:nvSpPr>
          <p:cNvPr id="6" name="Espace réservé des notes 5">
            <a:extLst>
              <a:ext uri="{FF2B5EF4-FFF2-40B4-BE49-F238E27FC236}">
                <a16:creationId xmlns:a16="http://schemas.microsoft.com/office/drawing/2014/main" id="{4838649D-2257-4F71-9824-F77248706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75132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96584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F05D93-FCF1-4ACF-9263-8213DD6AC02C}" type="slidenum">
              <a:rPr lang="fr-CA"/>
              <a:pPr/>
              <a:t>12</a:t>
            </a:fld>
            <a:endParaRPr lang="fr-CA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" name="Espace réservé des commentaires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fr-CA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391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C12A4A-CF1B-42FE-BF6A-A55A6D1B0621}" type="slidenum">
              <a:rPr lang="fr-CA"/>
              <a:pPr/>
              <a:t>13</a:t>
            </a:fld>
            <a:endParaRPr lang="fr-CA" dirty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" name="Espace réservé des commentaires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326226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17551" y="4473891"/>
            <a:ext cx="5575300" cy="4356075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68757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0009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16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22138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71F3-806B-42D1-8F6C-80E689DF8B59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14350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ACF21F-3B90-493E-9DB5-EC26F6547494}" type="slidenum">
              <a:rPr lang="fr-CA"/>
              <a:pPr/>
              <a:t>18</a:t>
            </a:fld>
            <a:endParaRPr lang="fr-CA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" name="Espace réservé des commentaires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65541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3CB820-F492-462E-86D3-ACF619980CA3}" type="slidenum">
              <a:rPr lang="fr-CA"/>
              <a:pPr/>
              <a:t>20</a:t>
            </a:fld>
            <a:endParaRPr lang="fr-CA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>
          <a:xfrm>
            <a:off x="701040" y="4473891"/>
            <a:ext cx="5608320" cy="4041956"/>
          </a:xfrm>
        </p:spPr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3465819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F1C26C-5ED4-4765-BB4E-D765150A99FC}" type="slidenum">
              <a:rPr lang="fr-CA" smtClean="0">
                <a:latin typeface="Arial" pitchFamily="34" charset="0"/>
              </a:rPr>
              <a:pPr/>
              <a:t>21</a:t>
            </a:fld>
            <a:endParaRPr lang="fr-CA">
              <a:latin typeface="Arial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" name="Espace réservé des commentaires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883913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AECCB-54E4-43FD-9833-D3B6D5E1980C}" type="slidenum">
              <a:rPr lang="fr-CA" smtClean="0"/>
              <a:t>22</a:t>
            </a:fld>
            <a:endParaRPr lang="fr-CA"/>
          </a:p>
        </p:txBody>
      </p:sp>
      <p:sp>
        <p:nvSpPr>
          <p:cNvPr id="6" name="Espace réservé des notes 5">
            <a:extLst>
              <a:ext uri="{FF2B5EF4-FFF2-40B4-BE49-F238E27FC236}">
                <a16:creationId xmlns:a16="http://schemas.microsoft.com/office/drawing/2014/main" id="{7E358548-A7E2-4E49-B9F2-21F28BD36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90536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6587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150272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6BE89D-EB16-42D6-BD4F-AD7F90DD5E0B}" type="slidenum">
              <a:rPr lang="fr-CA"/>
              <a:pPr/>
              <a:t>25</a:t>
            </a:fld>
            <a:endParaRPr lang="fr-CA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32243"/>
            <a:ext cx="5575300" cy="4412974"/>
          </a:xfrm>
          <a:noFill/>
          <a:ln/>
        </p:spPr>
        <p:txBody>
          <a:bodyPr/>
          <a:lstStyle/>
          <a:p>
            <a:pPr eaLnBrk="1" hangingPunct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61767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2"/>
            <a:ext cx="5608320" cy="2396036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043581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7DEAF8-682B-44A9-BC54-996D7A4D6A56}" type="slidenum">
              <a:rPr lang="fr-CA"/>
              <a:pPr/>
              <a:t>27</a:t>
            </a:fld>
            <a:endParaRPr lang="fr-CA" dirty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96612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00124C-B7AC-4088-B764-E1BA2DCFE456}" type="slidenum">
              <a:rPr lang="fr-CA"/>
              <a:pPr/>
              <a:t>28</a:t>
            </a:fld>
            <a:endParaRPr lang="fr-CA" dirty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6150848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167F39-D79D-4B0B-BCBE-410D657E1073}" type="slidenum">
              <a:rPr lang="fr-CA" smtClean="0"/>
              <a:pPr>
                <a:defRPr/>
              </a:pPr>
              <a:t>29</a:t>
            </a:fld>
            <a:endParaRPr lang="fr-CA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816426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C8F8DC-4C45-493D-8B5B-239D9B7017FA}" type="slidenum">
              <a:rPr lang="fr-CA" smtClean="0"/>
              <a:pPr/>
              <a:t>30</a:t>
            </a:fld>
            <a:endParaRPr lang="fr-CA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689137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3F4D66-9B67-472F-AA9D-E7987CA10707}" type="slidenum">
              <a:rPr lang="fr-CA"/>
              <a:pPr/>
              <a:t>31</a:t>
            </a:fld>
            <a:endParaRPr lang="fr-CA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570605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519034"/>
          </a:xfrm>
        </p:spPr>
        <p:txBody>
          <a:bodyPr/>
          <a:lstStyle/>
          <a:p>
            <a:endParaRPr lang="fr-CA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28140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487418" y="4473892"/>
            <a:ext cx="6145394" cy="3859076"/>
          </a:xfrm>
        </p:spPr>
        <p:txBody>
          <a:bodyPr/>
          <a:lstStyle/>
          <a:p>
            <a:endParaRPr lang="fr-CA" dirty="0"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33</a:t>
            </a:fld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0A96FC-8BF0-9ECF-C4E1-4B685D662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18" y="10020634"/>
            <a:ext cx="5563525" cy="167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869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81070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74F0A3-7679-4965-8771-87EAFC952B53}" type="slidenum">
              <a:rPr lang="fr-CA"/>
              <a:pPr/>
              <a:t>35</a:t>
            </a:fld>
            <a:endParaRPr lang="fr-CA" dirty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615781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974741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17550" y="4473891"/>
            <a:ext cx="5575300" cy="3859076"/>
          </a:xfrm>
        </p:spPr>
        <p:txBody>
          <a:bodyPr/>
          <a:lstStyle/>
          <a:p>
            <a:endParaRPr lang="fr-CA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37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480036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80248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39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537607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519034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40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08358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41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859737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42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717456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43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247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86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6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447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736974"/>
            <a:ext cx="9144000" cy="15208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765111" y="3480657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 userDrawn="1"/>
        </p:nvCxnSpPr>
        <p:spPr>
          <a:xfrm>
            <a:off x="951722" y="359094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14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60589"/>
            <a:ext cx="10515600" cy="104257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67851"/>
            <a:ext cx="10515600" cy="4709112"/>
          </a:xfrm>
          <a:noFill/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772885" y="1214827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933061" y="1349764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9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309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>
            <a:off x="828870" y="42192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89046" y="435422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40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cxnSp>
        <p:nvCxnSpPr>
          <p:cNvPr id="3" name="Connecteur droit 2"/>
          <p:cNvCxnSpPr/>
          <p:nvPr userDrawn="1"/>
        </p:nvCxnSpPr>
        <p:spPr>
          <a:xfrm>
            <a:off x="838200" y="22380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/>
          <p:cNvCxnSpPr/>
          <p:nvPr userDrawn="1"/>
        </p:nvCxnSpPr>
        <p:spPr>
          <a:xfrm>
            <a:off x="989046" y="238198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43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847530" y="131746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1007706" y="145240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8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598769"/>
            <a:ext cx="5157787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250833"/>
            <a:ext cx="5157787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598769"/>
            <a:ext cx="5183188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250833"/>
            <a:ext cx="5183188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838200" y="1233488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 userDrawn="1"/>
        </p:nvCxnSpPr>
        <p:spPr>
          <a:xfrm>
            <a:off x="998376" y="1368425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2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5" name="Connecteur droit 4"/>
          <p:cNvCxnSpPr/>
          <p:nvPr userDrawn="1"/>
        </p:nvCxnSpPr>
        <p:spPr>
          <a:xfrm>
            <a:off x="800878" y="1242819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61054" y="137775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92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86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281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598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839" y="369690"/>
            <a:ext cx="10553700" cy="9017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839" y="1435942"/>
            <a:ext cx="3449255" cy="9258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8839" y="2361745"/>
            <a:ext cx="3449255" cy="3673784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9084" y="1435942"/>
            <a:ext cx="3101854" cy="9258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42893" y="2361745"/>
            <a:ext cx="3101854" cy="3673784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43121" y="1435942"/>
            <a:ext cx="3401154" cy="9258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92707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9936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pour une image  5"/>
          <p:cNvSpPr>
            <a:spLocks noGrp="1"/>
          </p:cNvSpPr>
          <p:nvPr>
            <p:ph type="pic" sz="quarter" idx="18"/>
          </p:nvPr>
        </p:nvSpPr>
        <p:spPr>
          <a:xfrm>
            <a:off x="7960468" y="2361743"/>
            <a:ext cx="3382071" cy="367378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628663" y="1298249"/>
            <a:ext cx="11010426" cy="144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 userDrawn="1"/>
        </p:nvCxnSpPr>
        <p:spPr>
          <a:xfrm flipV="1">
            <a:off x="788839" y="1427030"/>
            <a:ext cx="10850250" cy="615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544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3292CD-2331-41BD-95EA-A1988440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824291-2540-4210-9FCC-AAFEB9931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A456F8-1359-4B85-9F2E-BC4C681A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520133-7095-4C1B-AA0A-06B1B37D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(c) 10904 / S01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8C4214-C59A-481F-850C-A8D15C7F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99B6F-7984-48A3-9A47-56A72CAD0B3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5693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447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736974"/>
            <a:ext cx="9144000" cy="15208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cxnSp>
        <p:nvCxnSpPr>
          <p:cNvPr id="4" name="Connecteur droit 3"/>
          <p:cNvCxnSpPr/>
          <p:nvPr userDrawn="1"/>
        </p:nvCxnSpPr>
        <p:spPr>
          <a:xfrm>
            <a:off x="604935" y="3467101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/>
          <p:nvPr userDrawn="1"/>
        </p:nvCxnSpPr>
        <p:spPr>
          <a:xfrm>
            <a:off x="765111" y="3602038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945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60589"/>
            <a:ext cx="10515600" cy="104257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67851"/>
            <a:ext cx="10515600" cy="4709112"/>
          </a:xfrm>
          <a:noFill/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772885" y="1214827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933061" y="1349764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50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309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>
            <a:off x="828870" y="42192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89046" y="435422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205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598769"/>
            <a:ext cx="5181600" cy="457819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847530" y="131746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1007706" y="145240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842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598769"/>
            <a:ext cx="5157787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250833"/>
            <a:ext cx="5157787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598769"/>
            <a:ext cx="5183188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250833"/>
            <a:ext cx="5183188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838200" y="1233488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 userDrawn="1"/>
        </p:nvCxnSpPr>
        <p:spPr>
          <a:xfrm>
            <a:off x="998376" y="1368425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0001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5" name="Connecteur droit 4"/>
          <p:cNvCxnSpPr/>
          <p:nvPr userDrawn="1"/>
        </p:nvCxnSpPr>
        <p:spPr>
          <a:xfrm>
            <a:off x="800878" y="1242819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61054" y="137775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809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8894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893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0567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1_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11004206" cy="82867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en-CA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85800" y="1133475"/>
            <a:ext cx="11004206" cy="4886325"/>
          </a:xfrm>
        </p:spPr>
        <p:txBody>
          <a:bodyPr/>
          <a:lstStyle/>
          <a:p>
            <a:pPr lvl="0"/>
            <a:endParaRPr lang="en-CA" noProof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679580" y="1004694"/>
            <a:ext cx="11010426" cy="144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 userDrawn="1"/>
        </p:nvCxnSpPr>
        <p:spPr>
          <a:xfrm flipV="1">
            <a:off x="839756" y="1133475"/>
            <a:ext cx="10850250" cy="615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4509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5672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839" y="369690"/>
            <a:ext cx="10553700" cy="9017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839" y="1435942"/>
            <a:ext cx="3449255" cy="9258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8839" y="2361745"/>
            <a:ext cx="3449255" cy="3673784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9084" y="1435942"/>
            <a:ext cx="3101854" cy="9258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42893" y="2361745"/>
            <a:ext cx="3101854" cy="3673784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43121" y="1435942"/>
            <a:ext cx="3401154" cy="9258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92707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9936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pour une image  5"/>
          <p:cNvSpPr>
            <a:spLocks noGrp="1"/>
          </p:cNvSpPr>
          <p:nvPr>
            <p:ph type="pic" sz="quarter" idx="18"/>
          </p:nvPr>
        </p:nvSpPr>
        <p:spPr>
          <a:xfrm>
            <a:off x="7960468" y="2361743"/>
            <a:ext cx="3382071" cy="367378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628663" y="1298249"/>
            <a:ext cx="11010426" cy="144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 userDrawn="1"/>
        </p:nvCxnSpPr>
        <p:spPr>
          <a:xfrm flipV="1">
            <a:off x="788839" y="1427030"/>
            <a:ext cx="10850250" cy="615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5314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cxnSp>
        <p:nvCxnSpPr>
          <p:cNvPr id="3" name="Connecteur droit 2"/>
          <p:cNvCxnSpPr/>
          <p:nvPr userDrawn="1"/>
        </p:nvCxnSpPr>
        <p:spPr>
          <a:xfrm>
            <a:off x="838200" y="22380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/>
          <p:cNvCxnSpPr/>
          <p:nvPr userDrawn="1"/>
        </p:nvCxnSpPr>
        <p:spPr>
          <a:xfrm>
            <a:off x="989046" y="238198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4744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598769"/>
            <a:ext cx="5157787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250833"/>
            <a:ext cx="5157787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598769"/>
            <a:ext cx="5183188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250833"/>
            <a:ext cx="5183188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838200" y="1233488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 userDrawn="1"/>
        </p:nvCxnSpPr>
        <p:spPr>
          <a:xfrm>
            <a:off x="998376" y="1368425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5847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cxnSp>
        <p:nvCxnSpPr>
          <p:cNvPr id="5" name="Connecteur droit 4"/>
          <p:cNvCxnSpPr/>
          <p:nvPr userDrawn="1"/>
        </p:nvCxnSpPr>
        <p:spPr>
          <a:xfrm>
            <a:off x="800878" y="1242819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61054" y="137775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4906"/>
            <a:ext cx="1821024" cy="368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9564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669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804" r:id="rId25"/>
    <p:sldLayoutId id="2147483803" r:id="rId26"/>
    <p:sldLayoutId id="2147483673" r:id="rId27"/>
    <p:sldLayoutId id="2147483665" r:id="rId28"/>
    <p:sldLayoutId id="2147483666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image" Target="../media/image2.sv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7.xml"/><Relationship Id="rId15" Type="http://schemas.openxmlformats.org/officeDocument/2006/relationships/image" Target="../media/image4.svg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hyperlink" Target="https://www.hec.ca/cams/" TargetMode="Externa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hyperlink" Target="https://www.hec.ca/cfla/francais/" TargetMode="Externa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hyperlink" Target="https://www.hec.ca/etudiants/soutien-ressources/presentation-equipe-rbe-sce.pdf" TargetMode="External"/><Relationship Id="rId5" Type="http://schemas.openxmlformats.org/officeDocument/2006/relationships/tags" Target="../tags/tag39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38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6.svg"/><Relationship Id="rId5" Type="http://schemas.openxmlformats.org/officeDocument/2006/relationships/tags" Target="../tags/tag47.xml"/><Relationship Id="rId10" Type="http://schemas.openxmlformats.org/officeDocument/2006/relationships/notesSlide" Target="../notesSlides/notesSlide8.xml"/><Relationship Id="rId4" Type="http://schemas.openxmlformats.org/officeDocument/2006/relationships/tags" Target="../tags/tag46.xml"/><Relationship Id="rId9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tags" Target="../tags/tag53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6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notesSlide" Target="../notesSlides/notesSlide12.xml"/><Relationship Id="rId5" Type="http://schemas.openxmlformats.org/officeDocument/2006/relationships/tags" Target="../tags/tag68.xml"/><Relationship Id="rId10" Type="http://schemas.openxmlformats.org/officeDocument/2006/relationships/slideLayout" Target="../slideLayouts/slideLayout8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13" Type="http://schemas.microsoft.com/office/2007/relationships/diagramDrawing" Target="../diagrams/drawing1.xml"/><Relationship Id="rId3" Type="http://schemas.openxmlformats.org/officeDocument/2006/relationships/tags" Target="../tags/tag75.xml"/><Relationship Id="rId7" Type="http://schemas.openxmlformats.org/officeDocument/2006/relationships/slideLayout" Target="../slideLayouts/slideLayout4.xml"/><Relationship Id="rId12" Type="http://schemas.openxmlformats.org/officeDocument/2006/relationships/diagramColors" Target="../diagrams/colors1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diagramQuickStyle" Target="../diagrams/quickStyle1.xml"/><Relationship Id="rId5" Type="http://schemas.openxmlformats.org/officeDocument/2006/relationships/tags" Target="../tags/tag77.xml"/><Relationship Id="rId10" Type="http://schemas.openxmlformats.org/officeDocument/2006/relationships/diagramLayout" Target="../diagrams/layout1.xml"/><Relationship Id="rId4" Type="http://schemas.openxmlformats.org/officeDocument/2006/relationships/tags" Target="../tags/tag76.xml"/><Relationship Id="rId9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8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3" Type="http://schemas.openxmlformats.org/officeDocument/2006/relationships/tags" Target="../tags/tag85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10" Type="http://schemas.openxmlformats.org/officeDocument/2006/relationships/hyperlink" Target="https://www.rauldiego.es/wooclap/" TargetMode="External"/><Relationship Id="rId4" Type="http://schemas.openxmlformats.org/officeDocument/2006/relationships/tags" Target="../tags/tag86.xml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notesSlide" Target="../notesSlides/notesSlide17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07.xml"/><Relationship Id="rId4" Type="http://schemas.openxmlformats.org/officeDocument/2006/relationships/tags" Target="../tags/tag10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3" Type="http://schemas.openxmlformats.org/officeDocument/2006/relationships/tags" Target="../tags/tag110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9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9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image" Target="../media/image11.jpeg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image" Target="../media/image10.jpeg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notesSlide" Target="../notesSlides/notesSlide21.xml"/><Relationship Id="rId5" Type="http://schemas.openxmlformats.org/officeDocument/2006/relationships/tags" Target="../tags/tag12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9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3" Type="http://schemas.openxmlformats.org/officeDocument/2006/relationships/tags" Target="../tags/tag139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4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3" Type="http://schemas.openxmlformats.org/officeDocument/2006/relationships/tags" Target="../tags/tag149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10" Type="http://schemas.openxmlformats.org/officeDocument/2006/relationships/hyperlink" Target="https://www.rauldiego.es/wooclap/" TargetMode="External"/><Relationship Id="rId4" Type="http://schemas.openxmlformats.org/officeDocument/2006/relationships/tags" Target="../tags/tag150.xml"/><Relationship Id="rId9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18" Type="http://schemas.openxmlformats.org/officeDocument/2006/relationships/tags" Target="../tags/tag170.xml"/><Relationship Id="rId3" Type="http://schemas.openxmlformats.org/officeDocument/2006/relationships/tags" Target="../tags/tag155.xml"/><Relationship Id="rId21" Type="http://schemas.openxmlformats.org/officeDocument/2006/relationships/tags" Target="../tags/tag173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20" Type="http://schemas.openxmlformats.org/officeDocument/2006/relationships/tags" Target="../tags/tag172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24" Type="http://schemas.openxmlformats.org/officeDocument/2006/relationships/notesSlide" Target="../notesSlides/notesSlide26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23" Type="http://schemas.openxmlformats.org/officeDocument/2006/relationships/slideLayout" Target="../slideLayouts/slideLayout13.xml"/><Relationship Id="rId10" Type="http://schemas.openxmlformats.org/officeDocument/2006/relationships/tags" Target="../tags/tag162.xml"/><Relationship Id="rId19" Type="http://schemas.openxmlformats.org/officeDocument/2006/relationships/tags" Target="../tags/tag171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Relationship Id="rId22" Type="http://schemas.openxmlformats.org/officeDocument/2006/relationships/tags" Target="../tags/tag17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13" Type="http://schemas.openxmlformats.org/officeDocument/2006/relationships/notesSlide" Target="../notesSlides/notesSlide27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12" Type="http://schemas.openxmlformats.org/officeDocument/2006/relationships/slideLayout" Target="../slideLayouts/slideLayout13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tags" Target="../tags/tag185.xml"/><Relationship Id="rId5" Type="http://schemas.openxmlformats.org/officeDocument/2006/relationships/tags" Target="../tags/tag179.xml"/><Relationship Id="rId10" Type="http://schemas.openxmlformats.org/officeDocument/2006/relationships/tags" Target="../tags/tag184.xml"/><Relationship Id="rId4" Type="http://schemas.openxmlformats.org/officeDocument/2006/relationships/tags" Target="../tags/tag178.xml"/><Relationship Id="rId9" Type="http://schemas.openxmlformats.org/officeDocument/2006/relationships/tags" Target="../tags/tag18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13" Type="http://schemas.openxmlformats.org/officeDocument/2006/relationships/tags" Target="../tags/tag198.xml"/><Relationship Id="rId18" Type="http://schemas.openxmlformats.org/officeDocument/2006/relationships/tags" Target="../tags/tag203.xml"/><Relationship Id="rId3" Type="http://schemas.openxmlformats.org/officeDocument/2006/relationships/tags" Target="../tags/tag188.xml"/><Relationship Id="rId7" Type="http://schemas.openxmlformats.org/officeDocument/2006/relationships/tags" Target="../tags/tag192.xml"/><Relationship Id="rId12" Type="http://schemas.openxmlformats.org/officeDocument/2006/relationships/tags" Target="../tags/tag197.xml"/><Relationship Id="rId17" Type="http://schemas.openxmlformats.org/officeDocument/2006/relationships/tags" Target="../tags/tag202.xml"/><Relationship Id="rId2" Type="http://schemas.openxmlformats.org/officeDocument/2006/relationships/tags" Target="../tags/tag187.xml"/><Relationship Id="rId16" Type="http://schemas.openxmlformats.org/officeDocument/2006/relationships/tags" Target="../tags/tag201.xml"/><Relationship Id="rId20" Type="http://schemas.openxmlformats.org/officeDocument/2006/relationships/notesSlide" Target="../notesSlides/notesSlide28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tags" Target="../tags/tag196.xml"/><Relationship Id="rId5" Type="http://schemas.openxmlformats.org/officeDocument/2006/relationships/tags" Target="../tags/tag190.xml"/><Relationship Id="rId15" Type="http://schemas.openxmlformats.org/officeDocument/2006/relationships/tags" Target="../tags/tag200.xml"/><Relationship Id="rId10" Type="http://schemas.openxmlformats.org/officeDocument/2006/relationships/tags" Target="../tags/tag195.xml"/><Relationship Id="rId19" Type="http://schemas.openxmlformats.org/officeDocument/2006/relationships/slideLayout" Target="../slideLayouts/slideLayout13.xml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4" Type="http://schemas.openxmlformats.org/officeDocument/2006/relationships/tags" Target="../tags/tag19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13" Type="http://schemas.openxmlformats.org/officeDocument/2006/relationships/diagramLayout" Target="../diagrams/layout2.xml"/><Relationship Id="rId18" Type="http://schemas.openxmlformats.org/officeDocument/2006/relationships/image" Target="../media/image15.jpeg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12" Type="http://schemas.openxmlformats.org/officeDocument/2006/relationships/diagramData" Target="../diagrams/data2.xml"/><Relationship Id="rId17" Type="http://schemas.openxmlformats.org/officeDocument/2006/relationships/image" Target="../media/image14.png"/><Relationship Id="rId2" Type="http://schemas.openxmlformats.org/officeDocument/2006/relationships/tags" Target="../tags/tag205.xml"/><Relationship Id="rId16" Type="http://schemas.microsoft.com/office/2007/relationships/diagramDrawing" Target="../diagrams/drawing2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1" Type="http://schemas.openxmlformats.org/officeDocument/2006/relationships/image" Target="../media/image13.png"/><Relationship Id="rId5" Type="http://schemas.openxmlformats.org/officeDocument/2006/relationships/tags" Target="../tags/tag208.xml"/><Relationship Id="rId15" Type="http://schemas.openxmlformats.org/officeDocument/2006/relationships/diagramColors" Target="../diagrams/colors2.xml"/><Relationship Id="rId10" Type="http://schemas.openxmlformats.org/officeDocument/2006/relationships/notesSlide" Target="../notesSlides/notesSlide29.xml"/><Relationship Id="rId4" Type="http://schemas.openxmlformats.org/officeDocument/2006/relationships/tags" Target="../tags/tag207.xml"/><Relationship Id="rId9" Type="http://schemas.openxmlformats.org/officeDocument/2006/relationships/slideLayout" Target="../slideLayouts/slideLayout7.xml"/><Relationship Id="rId14" Type="http://schemas.openxmlformats.org/officeDocument/2006/relationships/diagramQuickStyle" Target="../diagrams/quickStyle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notesSlide" Target="../notesSlides/notesSlide30.xml"/><Relationship Id="rId5" Type="http://schemas.openxmlformats.org/officeDocument/2006/relationships/tags" Target="../tags/tag216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13" Type="http://schemas.openxmlformats.org/officeDocument/2006/relationships/image" Target="../media/image16.png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hyperlink" Target="https://www.rauldiego.es/wooclap/" TargetMode="Externa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image" Target="../media/image8.png"/><Relationship Id="rId5" Type="http://schemas.openxmlformats.org/officeDocument/2006/relationships/tags" Target="../tags/tag225.xml"/><Relationship Id="rId10" Type="http://schemas.openxmlformats.org/officeDocument/2006/relationships/notesSlide" Target="../notesSlides/notesSlide31.xml"/><Relationship Id="rId4" Type="http://schemas.openxmlformats.org/officeDocument/2006/relationships/tags" Target="../tags/tag224.xml"/><Relationship Id="rId9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image" Target="../media/image16.png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12" Type="http://schemas.openxmlformats.org/officeDocument/2006/relationships/hyperlink" Target="https://www.rauldiego.es/wooclap/" TargetMode="Externa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image" Target="../media/image8.png"/><Relationship Id="rId5" Type="http://schemas.openxmlformats.org/officeDocument/2006/relationships/tags" Target="../tags/tag233.xml"/><Relationship Id="rId10" Type="http://schemas.openxmlformats.org/officeDocument/2006/relationships/notesSlide" Target="../notesSlides/notesSlide32.xml"/><Relationship Id="rId4" Type="http://schemas.openxmlformats.org/officeDocument/2006/relationships/tags" Target="../tags/tag232.xml"/><Relationship Id="rId9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chart" Target="../charts/chart3.xml"/><Relationship Id="rId3" Type="http://schemas.openxmlformats.org/officeDocument/2006/relationships/tags" Target="../tags/tag239.xml"/><Relationship Id="rId7" Type="http://schemas.openxmlformats.org/officeDocument/2006/relationships/tags" Target="../tags/tag243.xml"/><Relationship Id="rId12" Type="http://schemas.openxmlformats.org/officeDocument/2006/relationships/chart" Target="../charts/chart2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chart" Target="../charts/chart1.xml"/><Relationship Id="rId5" Type="http://schemas.openxmlformats.org/officeDocument/2006/relationships/tags" Target="../tags/tag241.xml"/><Relationship Id="rId10" Type="http://schemas.openxmlformats.org/officeDocument/2006/relationships/notesSlide" Target="../notesSlides/notesSlide33.xml"/><Relationship Id="rId4" Type="http://schemas.openxmlformats.org/officeDocument/2006/relationships/tags" Target="../tags/tag240.xml"/><Relationship Id="rId9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252.xml"/><Relationship Id="rId3" Type="http://schemas.openxmlformats.org/officeDocument/2006/relationships/tags" Target="../tags/tag247.xml"/><Relationship Id="rId7" Type="http://schemas.openxmlformats.org/officeDocument/2006/relationships/tags" Target="../tags/tag251.xml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10" Type="http://schemas.openxmlformats.org/officeDocument/2006/relationships/notesSlide" Target="../notesSlides/notesSlide34.xml"/><Relationship Id="rId4" Type="http://schemas.openxmlformats.org/officeDocument/2006/relationships/tags" Target="../tags/tag248.xml"/><Relationship Id="rId9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5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6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26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267.xml"/><Relationship Id="rId7" Type="http://schemas.openxmlformats.org/officeDocument/2006/relationships/notesSlide" Target="../notesSlides/notesSlide38.xml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269.xml"/><Relationship Id="rId4" Type="http://schemas.openxmlformats.org/officeDocument/2006/relationships/tags" Target="../tags/tag268.xml"/><Relationship Id="rId9" Type="http://schemas.openxmlformats.org/officeDocument/2006/relationships/hyperlink" Target="https://www.rauldiego.es/wooclap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" Type="http://schemas.openxmlformats.org/officeDocument/2006/relationships/tags" Target="../tags/tag270.xml"/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7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7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285.xml"/><Relationship Id="rId3" Type="http://schemas.openxmlformats.org/officeDocument/2006/relationships/tags" Target="../tags/tag280.xml"/><Relationship Id="rId7" Type="http://schemas.openxmlformats.org/officeDocument/2006/relationships/tags" Target="../tags/tag284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10" Type="http://schemas.openxmlformats.org/officeDocument/2006/relationships/notesSlide" Target="../notesSlides/notesSlide41.xml"/><Relationship Id="rId4" Type="http://schemas.openxmlformats.org/officeDocument/2006/relationships/tags" Target="../tags/tag281.xml"/><Relationship Id="rId9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tags" Target="../tags/tag286.xml"/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41248" y="1380847"/>
            <a:ext cx="6270964" cy="180705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Comptabilité</a:t>
            </a:r>
            <a:r>
              <a:rPr lang="en-US" sz="3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gestion</a:t>
            </a:r>
            <a:br>
              <a:rPr lang="en-US" sz="3800" dirty="0">
                <a:latin typeface="+mj-lt"/>
                <a:ea typeface="+mj-ea"/>
                <a:cs typeface="+mj-cs"/>
              </a:rPr>
            </a:br>
            <a:r>
              <a:rPr lang="en-US" sz="3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(10904) – Séance 1</a:t>
            </a:r>
            <a:br>
              <a:rPr lang="en-US" sz="3800" dirty="0">
                <a:latin typeface="+mj-lt"/>
                <a:ea typeface="+mj-ea"/>
                <a:cs typeface="+mj-cs"/>
              </a:rPr>
            </a:br>
            <a:r>
              <a:rPr lang="en-US" sz="3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Séance </a:t>
            </a:r>
            <a:r>
              <a:rPr lang="en-US" sz="3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classe</a:t>
            </a:r>
            <a:endParaRPr lang="en-US" sz="3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41248" y="3194857"/>
            <a:ext cx="5808448" cy="91111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Département de sciences </a:t>
            </a:r>
            <a:r>
              <a:rPr lang="en-US" sz="2000" dirty="0" err="1">
                <a:solidFill>
                  <a:schemeClr val="tx1"/>
                </a:solidFill>
              </a:rPr>
              <a:t>comptables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Année </a:t>
            </a:r>
            <a:r>
              <a:rPr lang="en-US" sz="2000" dirty="0" err="1">
                <a:solidFill>
                  <a:schemeClr val="tx1"/>
                </a:solidFill>
              </a:rPr>
              <a:t>universitaire</a:t>
            </a:r>
            <a:r>
              <a:rPr lang="en-US" sz="2000" dirty="0">
                <a:solidFill>
                  <a:schemeClr val="tx1"/>
                </a:solidFill>
              </a:rPr>
              <a:t> 2026 – 2027</a:t>
            </a:r>
            <a:endParaRPr lang="en-US" sz="2000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144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4F7C04F3-7CCE-184B-8FEF-62BA96BA43D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0311" y="518294"/>
            <a:ext cx="1173137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latin typeface="Calibri Light"/>
                <a:cs typeface="Poppins"/>
              </a:rPr>
              <a:t>PLAN DE LA SÉANCE 1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049EE67-9B58-43C9-B63C-35C88F9CF13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9" name="Shape 46488">
            <a:extLst>
              <a:ext uri="{FF2B5EF4-FFF2-40B4-BE49-F238E27FC236}">
                <a16:creationId xmlns:a16="http://schemas.microsoft.com/office/drawing/2014/main" id="{10812663-49DB-8544-A992-5B1029F73BD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 rot="5400000" flipH="1">
            <a:off x="2862528" y="2674853"/>
            <a:ext cx="1744297" cy="16794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wrap="square" lIns="0" tIns="0" rIns="0" bIns="0" numCol="1" anchor="ctr">
            <a:noAutofit/>
          </a:bodyPr>
          <a:lstStyle/>
          <a:p>
            <a:pPr algn="ctr"/>
            <a:r>
              <a:rPr lang="fr-CA" sz="2279" dirty="0">
                <a:latin typeface="Lato Light" panose="020F0502020204030203" pitchFamily="34" charset="0"/>
              </a:rPr>
              <a:t>Présentation du cours</a:t>
            </a:r>
            <a:endParaRPr sz="2279" dirty="0">
              <a:latin typeface="Lato Light" panose="020F0502020204030203" pitchFamily="34" charset="0"/>
            </a:endParaRPr>
          </a:p>
        </p:txBody>
      </p:sp>
      <p:sp>
        <p:nvSpPr>
          <p:cNvPr id="25" name="Shape 46493">
            <a:extLst>
              <a:ext uri="{FF2B5EF4-FFF2-40B4-BE49-F238E27FC236}">
                <a16:creationId xmlns:a16="http://schemas.microsoft.com/office/drawing/2014/main" id="{FEE676C4-64DA-8045-83AB-D66EA1A9D4AC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 rot="5400000" flipH="1">
            <a:off x="5249401" y="2674853"/>
            <a:ext cx="1744296" cy="1679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270" wrap="square" lIns="0" tIns="0" rIns="0" bIns="0" numCol="1" anchor="ctr">
            <a:noAutofit/>
          </a:bodyPr>
          <a:lstStyle/>
          <a:p>
            <a:pPr algn="ctr"/>
            <a:r>
              <a:rPr lang="fr-CA" sz="2279" dirty="0">
                <a:latin typeface="Lato Light" panose="020F0502020204030203" pitchFamily="34" charset="0"/>
              </a:rPr>
              <a:t>Les notions de coûts</a:t>
            </a:r>
            <a:endParaRPr sz="2279" dirty="0">
              <a:latin typeface="Lato Light" panose="020F0502020204030203" pitchFamily="34" charset="0"/>
            </a:endParaRPr>
          </a:p>
        </p:txBody>
      </p:sp>
      <p:sp>
        <p:nvSpPr>
          <p:cNvPr id="21" name="Shape 46498">
            <a:extLst>
              <a:ext uri="{FF2B5EF4-FFF2-40B4-BE49-F238E27FC236}">
                <a16:creationId xmlns:a16="http://schemas.microsoft.com/office/drawing/2014/main" id="{53AAEBB2-B12E-A84F-8523-B894E8AC61D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>
          <a:xfrm rot="5400000" flipH="1">
            <a:off x="7636273" y="2674853"/>
            <a:ext cx="1744296" cy="1679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03" y="0"/>
                </a:moveTo>
                <a:cubicBezTo>
                  <a:pt x="3064" y="0"/>
                  <a:pt x="1896" y="1280"/>
                  <a:pt x="1896" y="2858"/>
                </a:cubicBezTo>
                <a:lnTo>
                  <a:pt x="1896" y="9446"/>
                </a:lnTo>
                <a:lnTo>
                  <a:pt x="0" y="10876"/>
                </a:lnTo>
                <a:lnTo>
                  <a:pt x="1896" y="12312"/>
                </a:lnTo>
                <a:lnTo>
                  <a:pt x="1896" y="18742"/>
                </a:lnTo>
                <a:cubicBezTo>
                  <a:pt x="1896" y="20320"/>
                  <a:pt x="3064" y="21600"/>
                  <a:pt x="4503" y="21600"/>
                </a:cubicBezTo>
                <a:lnTo>
                  <a:pt x="18993" y="21600"/>
                </a:lnTo>
                <a:cubicBezTo>
                  <a:pt x="20432" y="21600"/>
                  <a:pt x="21600" y="20320"/>
                  <a:pt x="21600" y="18742"/>
                </a:cubicBezTo>
                <a:lnTo>
                  <a:pt x="21600" y="2858"/>
                </a:lnTo>
                <a:cubicBezTo>
                  <a:pt x="21600" y="1280"/>
                  <a:pt x="20432" y="0"/>
                  <a:pt x="18993" y="0"/>
                </a:cubicBezTo>
                <a:lnTo>
                  <a:pt x="4503" y="0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wrap="square" lIns="0" tIns="0" rIns="0" bIns="0" numCol="1" anchor="ctr">
            <a:noAutofit/>
          </a:bodyPr>
          <a:lstStyle/>
          <a:p>
            <a:pPr algn="ctr"/>
            <a:r>
              <a:rPr lang="fr-CA" sz="2279" dirty="0">
                <a:latin typeface="Lato Light" panose="020F0502020204030203" pitchFamily="34" charset="0"/>
              </a:rPr>
              <a:t>Période de questions</a:t>
            </a:r>
            <a:endParaRPr sz="2279" dirty="0">
              <a:latin typeface="Lato Light" panose="020F0502020204030203" pitchFamily="34" charset="0"/>
            </a:endParaRPr>
          </a:p>
        </p:txBody>
      </p:sp>
      <p:pic>
        <p:nvPicPr>
          <p:cNvPr id="5" name="Graphique 4" descr="Badge 1 contour">
            <a:extLst>
              <a:ext uri="{FF2B5EF4-FFF2-40B4-BE49-F238E27FC236}">
                <a16:creationId xmlns:a16="http://schemas.microsoft.com/office/drawing/2014/main" id="{CCB1879A-CE9A-BF7C-5979-6FAB792BF2E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77476" y="4541192"/>
            <a:ext cx="914400" cy="914400"/>
          </a:xfrm>
          <a:prstGeom prst="rect">
            <a:avLst/>
          </a:prstGeom>
        </p:spPr>
      </p:pic>
      <p:pic>
        <p:nvPicPr>
          <p:cNvPr id="7" name="Graphique 6" descr="Badge contour">
            <a:extLst>
              <a:ext uri="{FF2B5EF4-FFF2-40B4-BE49-F238E27FC236}">
                <a16:creationId xmlns:a16="http://schemas.microsoft.com/office/drawing/2014/main" id="{1ADBDBF0-A6E8-741F-E12D-71307E92BB2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51367" y="4541192"/>
            <a:ext cx="914400" cy="914400"/>
          </a:xfrm>
          <a:prstGeom prst="rect">
            <a:avLst/>
          </a:prstGeom>
        </p:spPr>
      </p:pic>
      <p:pic>
        <p:nvPicPr>
          <p:cNvPr id="9" name="Graphique 8" descr="Badge 3 contour">
            <a:extLst>
              <a:ext uri="{FF2B5EF4-FFF2-40B4-BE49-F238E27FC236}">
                <a16:creationId xmlns:a16="http://schemas.microsoft.com/office/drawing/2014/main" id="{E10C9AFC-F527-89D6-165E-3987436498A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51221" y="4537781"/>
            <a:ext cx="914400" cy="914400"/>
          </a:xfrm>
          <a:prstGeom prst="rect">
            <a:avLst/>
          </a:prstGeom>
        </p:spPr>
      </p:pic>
      <p:sp>
        <p:nvSpPr>
          <p:cNvPr id="4" name="TextBox 39">
            <a:extLst>
              <a:ext uri="{FF2B5EF4-FFF2-40B4-BE49-F238E27FC236}">
                <a16:creationId xmlns:a16="http://schemas.microsoft.com/office/drawing/2014/main" id="{010BA70E-704F-C0C4-D357-039F0EEA798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02852" y="1580354"/>
            <a:ext cx="1173137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dirty="0">
                <a:latin typeface="Calibri Light"/>
                <a:ea typeface="+mn-lt"/>
                <a:cs typeface="+mn-lt"/>
              </a:rPr>
              <a:t>La </a:t>
            </a:r>
            <a:r>
              <a:rPr lang="en-US" sz="3200" dirty="0" err="1">
                <a:latin typeface="Calibri Light"/>
                <a:ea typeface="+mn-lt"/>
                <a:cs typeface="+mn-lt"/>
              </a:rPr>
              <a:t>comptabilité</a:t>
            </a:r>
            <a:r>
              <a:rPr lang="en-US" sz="3200" dirty="0">
                <a:latin typeface="Calibri Light"/>
                <a:ea typeface="+mn-lt"/>
                <a:cs typeface="+mn-lt"/>
              </a:rPr>
              <a:t> de Management &amp; Les notions de </a:t>
            </a:r>
            <a:r>
              <a:rPr lang="en-US" sz="3200" dirty="0" err="1">
                <a:latin typeface="Calibri Light"/>
                <a:ea typeface="+mn-lt"/>
                <a:cs typeface="+mn-lt"/>
              </a:rPr>
              <a:t>coûts</a:t>
            </a:r>
            <a:r>
              <a:rPr lang="en-US" sz="3200" b="1" dirty="0">
                <a:solidFill>
                  <a:schemeClr val="tx2"/>
                </a:solidFill>
                <a:latin typeface="Calibri Light"/>
                <a:cs typeface="Poppins"/>
              </a:rPr>
              <a:t> </a:t>
            </a:r>
            <a:endParaRPr lang="en-US" sz="3200" dirty="0">
              <a:solidFill>
                <a:schemeClr val="tx2"/>
              </a:solidFill>
              <a:latin typeface="Calibri Light"/>
              <a:cs typeface="Poppins"/>
            </a:endParaRPr>
          </a:p>
          <a:p>
            <a:pPr algn="ctr"/>
            <a:endParaRPr lang="en-US" sz="4000" dirty="0">
              <a:latin typeface="Calibri Light"/>
              <a:cs typeface="Poppins"/>
            </a:endParaRPr>
          </a:p>
        </p:txBody>
      </p: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97F038E6-F4B0-8DAB-DE8C-9928256BC9F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531315" y="6503436"/>
            <a:ext cx="3129368" cy="300587"/>
          </a:xfrm>
        </p:spPr>
        <p:txBody>
          <a:bodyPr/>
          <a:lstStyle/>
          <a:p>
            <a:pPr algn="ctr"/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65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ctr"/>
            <a:r>
              <a:rPr lang="fr-CA"/>
              <a:t>Présentation du cours</a:t>
            </a:r>
            <a:br>
              <a:rPr lang="fr-CA"/>
            </a:br>
            <a:endParaRPr lang="fr-CA" sz="4000"/>
          </a:p>
        </p:txBody>
      </p:sp>
      <p:sp>
        <p:nvSpPr>
          <p:cNvPr id="3" name="Sous-titr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ctr"/>
            <a:r>
              <a:rPr lang="fr-CA" dirty="0">
                <a:solidFill>
                  <a:schemeClr val="tx2"/>
                </a:solidFill>
              </a:rPr>
              <a:t>Présentation de votre enseignant</a:t>
            </a:r>
          </a:p>
          <a:p>
            <a:pPr algn="ctr"/>
            <a:r>
              <a:rPr lang="fr-CA" dirty="0">
                <a:solidFill>
                  <a:schemeClr val="tx2"/>
                </a:solidFill>
              </a:rPr>
              <a:t>Présentation du plan de cours</a:t>
            </a:r>
          </a:p>
          <a:p>
            <a:pPr algn="ctr"/>
            <a:r>
              <a:rPr lang="fr-CA" dirty="0">
                <a:solidFill>
                  <a:schemeClr val="tx2"/>
                </a:solidFill>
              </a:rPr>
              <a:t>Autres informations utiles pour le 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204041-2240-4155-96EE-4B697AD48D5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3132BFFC-9E08-3834-561E-FBC6833A829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</p:spPr>
        <p:txBody>
          <a:bodyPr/>
          <a:lstStyle/>
          <a:p>
            <a:pPr algn="ctr"/>
            <a:r>
              <a:rPr lang="pt-BR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07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Collaborateurs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Plusieurs enseignants ont participé à la création des présentations de Comptabilité de gestion au fil des années:</a:t>
            </a:r>
          </a:p>
          <a:p>
            <a:pPr lvl="1"/>
            <a:r>
              <a:rPr lang="fr-CA" dirty="0"/>
              <a:t>Élodie Allain</a:t>
            </a:r>
          </a:p>
          <a:p>
            <a:pPr lvl="1"/>
            <a:r>
              <a:rPr lang="fr-CA" dirty="0"/>
              <a:t>Marie-Claude Brouillette</a:t>
            </a:r>
          </a:p>
          <a:p>
            <a:pPr lvl="1"/>
            <a:r>
              <a:rPr lang="fr-CA" dirty="0"/>
              <a:t>Réal Jacques</a:t>
            </a:r>
          </a:p>
          <a:p>
            <a:pPr lvl="1"/>
            <a:r>
              <a:rPr lang="fr-CA" dirty="0"/>
              <a:t>Caroline Lambert</a:t>
            </a:r>
          </a:p>
          <a:p>
            <a:pPr lvl="1"/>
            <a:r>
              <a:rPr lang="fr-CA" dirty="0" err="1"/>
              <a:t>Loëcha</a:t>
            </a:r>
            <a:r>
              <a:rPr lang="fr-CA" dirty="0"/>
              <a:t> Philion</a:t>
            </a:r>
          </a:p>
          <a:p>
            <a:pPr lvl="1"/>
            <a:r>
              <a:rPr lang="fr-CA" dirty="0"/>
              <a:t>François Richer</a:t>
            </a:r>
          </a:p>
          <a:p>
            <a:pPr lvl="1"/>
            <a:r>
              <a:rPr lang="fr-CA" dirty="0"/>
              <a:t>Eduardo Schiehll</a:t>
            </a:r>
          </a:p>
          <a:p>
            <a:pPr lvl="1"/>
            <a:r>
              <a:rPr lang="fr-CA" dirty="0"/>
              <a:t>Sophie Tessier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638A18-AB7A-41AA-9C84-71567FFA300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7329E524-DDF9-3713-64CB-EBE4D4FEB84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</p:spPr>
        <p:txBody>
          <a:bodyPr/>
          <a:lstStyle/>
          <a:p>
            <a:pPr algn="ctr"/>
            <a:r>
              <a:rPr lang="pt-BR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60112"/>
            <a:ext cx="10515600" cy="875302"/>
          </a:xfrm>
        </p:spPr>
        <p:txBody>
          <a:bodyPr>
            <a:normAutofit/>
          </a:bodyPr>
          <a:lstStyle/>
          <a:p>
            <a:pPr algn="ctr"/>
            <a:r>
              <a:rPr lang="fr-CA" sz="4000" dirty="0"/>
              <a:t>Vue globale du cours (séances 1 à 7)</a:t>
            </a:r>
            <a:endParaRPr lang="fr-CA" sz="1600" dirty="0">
              <a:highlight>
                <a:srgbClr val="00FF00"/>
              </a:highlight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921086-DDAB-4676-B830-CAEB6EBAA13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 rot="16200000">
            <a:off x="10121418" y="3196885"/>
            <a:ext cx="3527514" cy="300587"/>
          </a:xfrm>
        </p:spPr>
        <p:txBody>
          <a:bodyPr/>
          <a:lstStyle/>
          <a:p>
            <a:r>
              <a:rPr lang="pt-BR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CF4D99-4302-4BB0-B2FE-B830EFC28A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9" name="Groupe 18"/>
          <p:cNvGrpSpPr/>
          <p:nvPr>
            <p:custDataLst>
              <p:tags r:id="rId4"/>
            </p:custDataLst>
          </p:nvPr>
        </p:nvGrpSpPr>
        <p:grpSpPr>
          <a:xfrm>
            <a:off x="612419" y="1925397"/>
            <a:ext cx="10738068" cy="4728333"/>
            <a:chOff x="1511394" y="2067150"/>
            <a:chExt cx="7910058" cy="4476536"/>
          </a:xfrm>
        </p:grpSpPr>
        <p:sp>
          <p:nvSpPr>
            <p:cNvPr id="7" name="Rectangle 6"/>
            <p:cNvSpPr/>
            <p:nvPr/>
          </p:nvSpPr>
          <p:spPr>
            <a:xfrm>
              <a:off x="1511394" y="2067150"/>
              <a:ext cx="2157715" cy="2422956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  <a:ea typeface="+mn-lt"/>
                  <a:cs typeface="+mn-lt"/>
                </a:rPr>
                <a:t>Séance 1: </a:t>
              </a: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Notions de coûts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Coût total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Coût moyen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Coût marginal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cs typeface="Calibri"/>
                </a:rPr>
                <a:t>Coût fixe (par paliers)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cs typeface="Calibri"/>
                </a:rPr>
                <a:t>Coût variable (par paliers)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ea typeface="+mn-lt"/>
                  <a:cs typeface="Calibri"/>
                </a:rPr>
                <a:t>Coût mixte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11394" y="4564221"/>
              <a:ext cx="2157715" cy="1579948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2 : </a:t>
              </a: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L’analyse coût – volume - résultat (</a:t>
              </a:r>
              <a:r>
                <a:rPr lang="fr-CA" b="1" dirty="0">
                  <a:solidFill>
                    <a:schemeClr val="tx1"/>
                  </a:solidFill>
                  <a:ea typeface="+mn-lt"/>
                  <a:cs typeface="+mn-lt"/>
                </a:rPr>
                <a:t>CVR</a:t>
              </a: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) et la prise de décision. </a:t>
              </a:r>
            </a:p>
            <a:p>
              <a:pPr algn="ctr"/>
              <a:r>
                <a:rPr lang="fr-CA" sz="1600" i="1" dirty="0">
                  <a:solidFill>
                    <a:schemeClr val="tx1"/>
                  </a:solidFill>
                  <a:ea typeface="+mn-lt"/>
                  <a:cs typeface="+mn-lt"/>
                </a:rPr>
                <a:t>Comprendre l’effet de la structure de coût sur la rentabilité et le risque de pertes</a:t>
              </a:r>
              <a:endParaRPr lang="en-US" sz="1600" i="1" dirty="0">
                <a:solidFill>
                  <a:schemeClr val="tx1"/>
                </a:solidFill>
                <a:ea typeface="+mn-lt"/>
                <a:cs typeface="+mn-lt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37625" y="2067150"/>
              <a:ext cx="5483827" cy="2078178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3 : </a:t>
              </a: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Prise de décision d’exploitation </a:t>
              </a:r>
            </a:p>
            <a:p>
              <a:pPr algn="ctr"/>
              <a:r>
                <a:rPr lang="fr-CA" sz="1600" i="1" dirty="0">
                  <a:solidFill>
                    <a:schemeClr val="tx1"/>
                  </a:solidFill>
                  <a:ea typeface="+mn-lt"/>
                  <a:cs typeface="+mn-lt"/>
                </a:rPr>
                <a:t>Utiliser l’analyse différentielle pour calculer l’impact sur le résultat d’exploitation d’une décision d’exploitation. </a:t>
              </a:r>
            </a:p>
            <a:p>
              <a:r>
                <a:rPr lang="fr-CA" b="1" dirty="0">
                  <a:solidFill>
                    <a:schemeClr val="tx1"/>
                  </a:solidFill>
                </a:rPr>
                <a:t>Notions de coûts   </a:t>
              </a:r>
              <a:r>
                <a:rPr lang="fr-CA" dirty="0">
                  <a:solidFill>
                    <a:schemeClr val="tx1"/>
                  </a:solidFill>
                </a:rPr>
                <a:t>​</a:t>
              </a:r>
              <a:endParaRPr lang="fr-CA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sz="1600" dirty="0">
                  <a:solidFill>
                    <a:schemeClr val="tx1"/>
                  </a:solidFill>
                  <a:ea typeface="+mn-lt"/>
                  <a:cs typeface="+mn-lt"/>
                </a:rPr>
                <a:t>Coût pertinent 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sz="1600" dirty="0">
                  <a:solidFill>
                    <a:schemeClr val="tx1"/>
                  </a:solidFill>
                  <a:ea typeface="+mn-lt"/>
                  <a:cs typeface="+mn-lt"/>
                </a:rPr>
                <a:t>Coût de renonciation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sz="1600" dirty="0">
                  <a:solidFill>
                    <a:schemeClr val="tx1"/>
                  </a:solidFill>
                  <a:ea typeface="+mn-lt"/>
                  <a:cs typeface="+mn-lt"/>
                </a:rPr>
                <a:t>Coûts fixes spécifiques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sz="1600" dirty="0">
                  <a:solidFill>
                    <a:schemeClr val="tx1"/>
                  </a:solidFill>
                  <a:ea typeface="+mn-lt"/>
                  <a:cs typeface="+mn-lt"/>
                </a:rPr>
                <a:t>Coûts communs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37625" y="4792822"/>
              <a:ext cx="5483827" cy="580456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5 : </a:t>
              </a:r>
              <a:r>
                <a:rPr lang="fr-CA" dirty="0">
                  <a:solidFill>
                    <a:schemeClr val="tx1"/>
                  </a:solidFill>
                </a:rPr>
                <a:t>La marge brute par produit (</a:t>
              </a:r>
              <a:r>
                <a:rPr lang="fr-CA" i="1" dirty="0">
                  <a:solidFill>
                    <a:schemeClr val="tx1"/>
                  </a:solidFill>
                </a:rPr>
                <a:t>Imputation des coûts indirects</a:t>
              </a:r>
              <a:r>
                <a:rPr lang="fr-CA" dirty="0">
                  <a:solidFill>
                    <a:schemeClr val="tx1"/>
                  </a:solidFill>
                </a:rPr>
                <a:t>) </a:t>
              </a:r>
              <a:endParaRPr lang="en-US" sz="1600" i="1" dirty="0">
                <a:solidFill>
                  <a:schemeClr val="tx1"/>
                </a:solidFill>
                <a:ea typeface="+mn-lt"/>
                <a:cs typeface="+mn-l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37625" y="5462144"/>
              <a:ext cx="5483827" cy="550387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6 : </a:t>
              </a:r>
              <a:r>
                <a:rPr lang="fr-CA" dirty="0">
                  <a:solidFill>
                    <a:schemeClr val="tx1"/>
                  </a:solidFill>
                </a:rPr>
                <a:t>La mesure et l’évaluation de la performance organisationnelle</a:t>
              </a:r>
              <a:endParaRPr lang="fr-CA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37624" y="6144169"/>
              <a:ext cx="5483827" cy="399517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7 : </a:t>
              </a:r>
              <a:r>
                <a:rPr lang="fr-CA" dirty="0">
                  <a:solidFill>
                    <a:schemeClr val="tx1"/>
                  </a:solidFill>
                </a:rPr>
                <a:t>Quiz &amp; séance de révision</a:t>
              </a:r>
            </a:p>
          </p:txBody>
        </p:sp>
      </p:grpSp>
      <p:sp>
        <p:nvSpPr>
          <p:cNvPr id="40" name="Rectangle 39"/>
          <p:cNvSpPr/>
          <p:nvPr>
            <p:custDataLst>
              <p:tags r:id="rId5"/>
            </p:custDataLst>
          </p:nvPr>
        </p:nvSpPr>
        <p:spPr>
          <a:xfrm>
            <a:off x="615732" y="1431557"/>
            <a:ext cx="10738068" cy="415556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CA" b="1">
                <a:ln w="0"/>
                <a:solidFill>
                  <a:schemeClr val="tx1">
                    <a:lumMod val="95000"/>
                    <a:lumOff val="5000"/>
                  </a:schemeClr>
                </a:solidFill>
              </a:rPr>
              <a:t>PRÉPARATION, PRÉSENTATION ET ANALYSE DE L’INFORMATION</a:t>
            </a:r>
            <a:endParaRPr lang="fr-CA" b="1">
              <a:ln w="0"/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2C62F65-0849-F343-829C-EBECC56E431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697573" y="4120469"/>
            <a:ext cx="808892" cy="53710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TP1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7917350-C5B4-6E26-68D2-24C47D07FED6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0770689" y="5173280"/>
            <a:ext cx="808892" cy="53710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TP2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1FA7CD-B3A9-F416-C29C-7B192F30E059}"/>
              </a:ext>
            </a:extLst>
          </p:cNvPr>
          <p:cNvSpPr/>
          <p:nvPr/>
        </p:nvSpPr>
        <p:spPr>
          <a:xfrm>
            <a:off x="3906076" y="4194477"/>
            <a:ext cx="7444409" cy="50733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CA" b="1" dirty="0">
                <a:solidFill>
                  <a:schemeClr val="tx1"/>
                </a:solidFill>
              </a:rPr>
              <a:t>Séance 4 : </a:t>
            </a:r>
            <a:r>
              <a:rPr lang="fr-CA" dirty="0">
                <a:solidFill>
                  <a:schemeClr val="tx1"/>
                </a:solidFill>
              </a:rPr>
              <a:t>Les marges </a:t>
            </a:r>
            <a:endParaRPr lang="en-US" sz="1600" i="1" dirty="0">
              <a:solidFill>
                <a:schemeClr val="tx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965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6A30-1BCE-237D-7F67-D72554A70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76AFF8-5D2B-4319-7F5A-768AE28CF0A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60112"/>
            <a:ext cx="10515600" cy="875302"/>
          </a:xfrm>
        </p:spPr>
        <p:txBody>
          <a:bodyPr>
            <a:normAutofit/>
          </a:bodyPr>
          <a:lstStyle/>
          <a:p>
            <a:pPr algn="ctr"/>
            <a:r>
              <a:rPr lang="fr-CA" sz="4000" dirty="0"/>
              <a:t>Vue globale du cours (séances 8 à 12)</a:t>
            </a:r>
            <a:endParaRPr lang="fr-CA" sz="1600" dirty="0">
              <a:highlight>
                <a:srgbClr val="00FF00"/>
              </a:highlight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751043-6220-75AE-A710-DEC18F7F53A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 rot="16200000">
            <a:off x="10121418" y="3196885"/>
            <a:ext cx="3527514" cy="300587"/>
          </a:xfrm>
        </p:spPr>
        <p:txBody>
          <a:bodyPr/>
          <a:lstStyle/>
          <a:p>
            <a:r>
              <a:rPr lang="pt-BR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BAE289-5318-5F21-F42C-31587CE994D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3A147AC6-4B3B-4723-FC45-1F69CDA60D2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12419" y="1925396"/>
            <a:ext cx="10738068" cy="4167303"/>
            <a:chOff x="1511394" y="2067149"/>
            <a:chExt cx="7910058" cy="39453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E2ED8B-1B0C-94FA-9B69-42BBBAA02FEC}"/>
                </a:ext>
              </a:extLst>
            </p:cNvPr>
            <p:cNvSpPr/>
            <p:nvPr/>
          </p:nvSpPr>
          <p:spPr>
            <a:xfrm>
              <a:off x="1511394" y="2067150"/>
              <a:ext cx="2157715" cy="2422956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  <a:ea typeface="+mn-lt"/>
                  <a:cs typeface="+mn-lt"/>
                </a:rPr>
                <a:t>Séance 8:</a:t>
              </a:r>
            </a:p>
            <a:p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Contrôler la performance</a:t>
              </a:r>
            </a:p>
            <a:p>
              <a:endParaRPr lang="fr-CA" i="1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r>
                <a:rPr lang="fr-CA" sz="1400" i="1" dirty="0">
                  <a:solidFill>
                    <a:schemeClr val="tx1"/>
                  </a:solidFill>
                  <a:ea typeface="+mn-lt"/>
                  <a:cs typeface="+mn-lt"/>
                </a:rPr>
                <a:t>Le coût de fabrication </a:t>
              </a:r>
              <a:r>
                <a:rPr lang="fr-CA" sz="1400" dirty="0">
                  <a:solidFill>
                    <a:schemeClr val="tx1"/>
                  </a:solidFill>
                  <a:ea typeface="+mn-lt"/>
                  <a:cs typeface="+mn-lt"/>
                </a:rPr>
                <a:t>dans les État financiers (entreprise manufacturière)</a:t>
              </a:r>
              <a:endParaRPr lang="en-US" sz="1400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endParaRPr lang="fr-CA" dirty="0">
                <a:solidFill>
                  <a:schemeClr val="tx1"/>
                </a:solidFill>
                <a:ea typeface="+mn-lt"/>
                <a:cs typeface="Calibri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50AB25-4593-F4D0-0437-CB3AA7452239}"/>
                </a:ext>
              </a:extLst>
            </p:cNvPr>
            <p:cNvSpPr/>
            <p:nvPr/>
          </p:nvSpPr>
          <p:spPr>
            <a:xfrm>
              <a:off x="3937625" y="2067149"/>
              <a:ext cx="5483827" cy="2650393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9 : </a:t>
              </a:r>
              <a:r>
                <a:rPr lang="fr-CA" dirty="0">
                  <a:solidFill>
                    <a:schemeClr val="tx1"/>
                  </a:solidFill>
                </a:rPr>
                <a:t>La planification budgétaire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A" dirty="0">
                  <a:solidFill>
                    <a:schemeClr val="tx1"/>
                  </a:solidFill>
                </a:rPr>
                <a:t>Les budgets d’exploitation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A" dirty="0">
                  <a:solidFill>
                    <a:schemeClr val="tx1"/>
                  </a:solidFill>
                </a:rPr>
                <a:t>État des résultats prévisionnels</a:t>
              </a:r>
              <a:endParaRPr lang="en-US" i="1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pPr algn="ctr"/>
              <a:endParaRPr lang="fr-CA" sz="1600" i="1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r>
                <a:rPr lang="fr-CA" sz="1600" b="1" dirty="0">
                  <a:solidFill>
                    <a:schemeClr val="tx1"/>
                  </a:solidFill>
                </a:rPr>
                <a:t>Séance 10 : </a:t>
              </a:r>
              <a:r>
                <a:rPr lang="fr-CA" sz="1600" dirty="0">
                  <a:solidFill>
                    <a:schemeClr val="tx1"/>
                  </a:solidFill>
                </a:rPr>
                <a:t>La planification budgétaire (suite)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A" sz="1600" dirty="0">
                  <a:solidFill>
                    <a:schemeClr val="tx1"/>
                  </a:solidFill>
                </a:rPr>
                <a:t>Le budget de Caisse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CA" sz="1600" dirty="0">
                  <a:solidFill>
                    <a:schemeClr val="tx1"/>
                  </a:solidFill>
                </a:rPr>
                <a:t>Gestion de la trésorerie</a:t>
              </a:r>
            </a:p>
            <a:p>
              <a:pPr algn="ctr"/>
              <a:endParaRPr lang="fr-CA" sz="1600" i="1" dirty="0">
                <a:solidFill>
                  <a:schemeClr val="tx1"/>
                </a:solidFill>
                <a:ea typeface="+mn-lt"/>
                <a:cs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42079B-A5B9-16AE-9895-BBBE489EFE2D}"/>
                </a:ext>
              </a:extLst>
            </p:cNvPr>
            <p:cNvSpPr/>
            <p:nvPr/>
          </p:nvSpPr>
          <p:spPr>
            <a:xfrm>
              <a:off x="3937625" y="4792822"/>
              <a:ext cx="5483827" cy="580456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11 : </a:t>
              </a:r>
              <a:r>
                <a:rPr lang="fr-CA" dirty="0">
                  <a:solidFill>
                    <a:schemeClr val="tx1"/>
                  </a:solidFill>
                </a:rPr>
                <a:t>Contrôle budgétaire (</a:t>
              </a:r>
              <a:r>
                <a:rPr lang="fr-CA" i="1" dirty="0">
                  <a:solidFill>
                    <a:schemeClr val="tx1"/>
                  </a:solidFill>
                </a:rPr>
                <a:t>analyse des écarts</a:t>
              </a:r>
              <a:r>
                <a:rPr lang="fr-CA" dirty="0">
                  <a:solidFill>
                    <a:schemeClr val="tx1"/>
                  </a:solidFill>
                </a:rPr>
                <a:t>)</a:t>
              </a:r>
              <a:endParaRPr lang="en-US" sz="1600" i="1" dirty="0">
                <a:solidFill>
                  <a:schemeClr val="tx1"/>
                </a:solidFill>
                <a:ea typeface="+mn-lt"/>
                <a:cs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5D41DA-0332-ECD2-DE3F-A121A18B8A7B}"/>
                </a:ext>
              </a:extLst>
            </p:cNvPr>
            <p:cNvSpPr/>
            <p:nvPr/>
          </p:nvSpPr>
          <p:spPr>
            <a:xfrm>
              <a:off x="3937625" y="5462144"/>
              <a:ext cx="5483827" cy="550387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12 : Quiz 2 &amp; </a:t>
              </a:r>
              <a:r>
                <a:rPr lang="fr-CA" dirty="0">
                  <a:solidFill>
                    <a:schemeClr val="tx1"/>
                  </a:solidFill>
                </a:rPr>
                <a:t>Activités de consolidation des apprentissages </a:t>
              </a:r>
              <a:endParaRPr lang="fr-CA" dirty="0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9998A3F2-4A5F-99A7-88C7-4FBA38E4A72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15732" y="1431557"/>
            <a:ext cx="10738068" cy="415556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CA" b="1">
                <a:ln w="0"/>
                <a:solidFill>
                  <a:schemeClr val="tx1">
                    <a:lumMod val="95000"/>
                    <a:lumOff val="5000"/>
                  </a:schemeClr>
                </a:solidFill>
              </a:rPr>
              <a:t>PRÉPARATION, PRÉSENTATION ET ANALYSE DE L’INFORMATION</a:t>
            </a:r>
            <a:endParaRPr lang="fr-CA" b="1">
              <a:ln w="0"/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3213CD6-E744-EEC4-379C-ACE3D64AC5E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329346" y="3056580"/>
            <a:ext cx="808892" cy="53710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TP3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C9E3E1-D01E-0A4B-7794-29772C00E9C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0329346" y="4821184"/>
            <a:ext cx="808892" cy="53710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TP4</a:t>
            </a:r>
          </a:p>
        </p:txBody>
      </p:sp>
    </p:spTree>
    <p:extLst>
      <p:ext uri="{BB962C8B-B14F-4D97-AF65-F5344CB8AC3E}">
        <p14:creationId xmlns:p14="http://schemas.microsoft.com/office/powerpoint/2010/main" val="68305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D79F5DBD-8D29-494B-96CF-ECB2719E36B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396049" y="292289"/>
            <a:ext cx="3236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err="1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Ressources</a:t>
            </a:r>
            <a:r>
              <a:rPr lang="en-US" sz="4000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31090E-E897-6C43-9BBC-9A72EFB01B9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845117" y="1119017"/>
            <a:ext cx="4501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spc="136" dirty="0">
                <a:solidFill>
                  <a:srgbClr val="A5A5A5"/>
                </a:solidFill>
                <a:latin typeface="Century Gothic" panose="020B0502020202020204" pitchFamily="34" charset="0"/>
                <a:cs typeface="Poppins Light" pitchFamily="2" charset="77"/>
              </a:rPr>
              <a:t>Vos </a:t>
            </a:r>
            <a:r>
              <a:rPr lang="en-US" sz="2000" spc="136" dirty="0" err="1">
                <a:solidFill>
                  <a:srgbClr val="A5A5A5"/>
                </a:solidFill>
                <a:latin typeface="Century Gothic" panose="020B0502020202020204" pitchFamily="34" charset="0"/>
                <a:cs typeface="Poppins Light" pitchFamily="2" charset="77"/>
              </a:rPr>
              <a:t>ressources</a:t>
            </a:r>
            <a:r>
              <a:rPr lang="en-US" sz="2000" spc="136" dirty="0">
                <a:solidFill>
                  <a:srgbClr val="A5A5A5"/>
                </a:solidFill>
                <a:latin typeface="Century Gothic" panose="020B0502020202020204" pitchFamily="34" charset="0"/>
                <a:cs typeface="Poppins Light" pitchFamily="2" charset="77"/>
              </a:rPr>
              <a:t> pour </a:t>
            </a:r>
            <a:r>
              <a:rPr lang="en-US" sz="2000" spc="136" dirty="0" err="1">
                <a:solidFill>
                  <a:srgbClr val="A5A5A5"/>
                </a:solidFill>
                <a:latin typeface="Century Gothic" panose="020B0502020202020204" pitchFamily="34" charset="0"/>
                <a:cs typeface="Poppins Light" pitchFamily="2" charset="77"/>
              </a:rPr>
              <a:t>interagir</a:t>
            </a:r>
            <a:endParaRPr lang="en-US" sz="2000" spc="136" dirty="0">
              <a:solidFill>
                <a:srgbClr val="A5A5A5"/>
              </a:solidFill>
              <a:latin typeface="Century Gothic" panose="020B0502020202020204" pitchFamily="34" charset="0"/>
              <a:cs typeface="Poppins Light" pitchFamily="2" charset="77"/>
            </a:endParaRPr>
          </a:p>
        </p:txBody>
      </p:sp>
      <p:sp>
        <p:nvSpPr>
          <p:cNvPr id="7" name="ZoneTexte 6"/>
          <p:cNvSpPr txBox="1"/>
          <p:nvPr>
            <p:custDataLst>
              <p:tags r:id="rId3"/>
            </p:custDataLst>
          </p:nvPr>
        </p:nvSpPr>
        <p:spPr>
          <a:xfrm>
            <a:off x="6464009" y="2837131"/>
            <a:ext cx="4159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fr-CA" cap="all">
                <a:solidFill>
                  <a:srgbClr val="003C71"/>
                </a:solidFill>
                <a:latin typeface="dineng"/>
              </a:rPr>
            </a:br>
            <a:endParaRPr lang="fr-CA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1392FBA-5F34-2B4D-BEF8-E9B1D2F0273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27836" y="2357896"/>
            <a:ext cx="4444678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CA" sz="2400" dirty="0">
                <a:solidFill>
                  <a:srgbClr val="0070C0"/>
                </a:solidFill>
              </a:rPr>
              <a:t>Votre enseignant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sz="2400" dirty="0">
              <a:solidFill>
                <a:srgbClr val="0070C0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2400" dirty="0">
                <a:solidFill>
                  <a:srgbClr val="0070C0"/>
                </a:solidFill>
                <a:latin typeface="Calibri" panose="020F0502020204030204"/>
              </a:rPr>
              <a:t>Les stagiaires d’enseignement</a:t>
            </a:r>
            <a:endParaRPr lang="fr-CA" sz="2400" dirty="0">
              <a:solidFill>
                <a:srgbClr val="0070C0"/>
              </a:solidFill>
              <a:latin typeface="Calibri" panose="020F0502020204030204"/>
              <a:cs typeface="Calibri"/>
            </a:endParaRPr>
          </a:p>
          <a:p>
            <a:pPr algn="ctr">
              <a:defRPr/>
            </a:pPr>
            <a:r>
              <a:rPr lang="fr-CA" sz="2000" i="1" dirty="0">
                <a:solidFill>
                  <a:srgbClr val="0070C0"/>
                </a:solidFill>
                <a:latin typeface="Calibri" panose="020F0502020204030204"/>
                <a:cs typeface="Calibri"/>
              </a:rPr>
              <a:t>(voir adresse courriel unique dans le plan de cours)</a:t>
            </a:r>
          </a:p>
          <a:p>
            <a:pPr algn="ctr">
              <a:defRPr/>
            </a:pPr>
            <a:endParaRPr lang="fr-CA" sz="2000" i="1" dirty="0">
              <a:solidFill>
                <a:srgbClr val="0070C0"/>
              </a:solidFill>
              <a:latin typeface="Calibri" panose="020F0502020204030204"/>
              <a:cs typeface="Calibri"/>
            </a:endParaRPr>
          </a:p>
          <a:p>
            <a:pPr algn="ctr">
              <a:defRPr/>
            </a:pPr>
            <a:r>
              <a:rPr lang="fr-CA" sz="2200" dirty="0">
                <a:solidFill>
                  <a:srgbClr val="0070C0"/>
                </a:solidFill>
              </a:rPr>
              <a:t>L'équipe des SCE</a:t>
            </a:r>
          </a:p>
          <a:p>
            <a:pPr algn="ctr">
              <a:defRPr/>
            </a:pPr>
            <a:r>
              <a:rPr lang="fr-CA" sz="2200" dirty="0">
                <a:solidFill>
                  <a:srgbClr val="0070C0"/>
                </a:solidFill>
                <a:hlinkClick r:id="rId11"/>
              </a:rPr>
              <a:t>Services à la communauté étudiant</a:t>
            </a:r>
            <a:endParaRPr lang="fr-CA" sz="2200" dirty="0">
              <a:solidFill>
                <a:srgbClr val="0070C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2AA34CE-203B-4F9F-9E26-68F8F04FAF8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072514" y="2131516"/>
            <a:ext cx="7049204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CA" sz="2400" dirty="0">
                <a:solidFill>
                  <a:srgbClr val="0070C0"/>
                </a:solidFill>
              </a:rPr>
              <a:t>Centre aide Français</a:t>
            </a:r>
          </a:p>
          <a:p>
            <a:pPr algn="ctr"/>
            <a:r>
              <a:rPr lang="fr-CA" sz="2400" dirty="0">
                <a:solidFill>
                  <a:srgbClr val="0070C0"/>
                </a:solidFill>
                <a:cs typeface="Calibri"/>
              </a:rPr>
              <a:t>(</a:t>
            </a:r>
            <a:r>
              <a:rPr lang="fr-CA" sz="2400" dirty="0">
                <a:ea typeface="+mn-lt"/>
                <a:cs typeface="+mn-lt"/>
                <a:hlinkClick r:id="rId12"/>
              </a:rPr>
              <a:t>https://www.hec.ca/cfla/francais/</a:t>
            </a:r>
            <a:r>
              <a:rPr lang="fr-CA" sz="2400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)</a:t>
            </a:r>
            <a:r>
              <a:rPr lang="fr-CA" sz="2400" dirty="0">
                <a:ea typeface="+mn-lt"/>
                <a:cs typeface="+mn-lt"/>
              </a:rPr>
              <a:t>  </a:t>
            </a:r>
            <a:endParaRPr lang="fr-CA" sz="2400" dirty="0">
              <a:solidFill>
                <a:srgbClr val="0070C0"/>
              </a:solidFill>
              <a:cs typeface="Calibri"/>
            </a:endParaRPr>
          </a:p>
          <a:p>
            <a:pPr algn="ctr"/>
            <a:endParaRPr lang="fr-CA" sz="2400" dirty="0">
              <a:solidFill>
                <a:srgbClr val="0070C0"/>
              </a:solidFill>
            </a:endParaRPr>
          </a:p>
          <a:p>
            <a:pPr algn="ctr"/>
            <a:r>
              <a:rPr lang="fr-CA" sz="2400" dirty="0">
                <a:solidFill>
                  <a:srgbClr val="0070C0"/>
                </a:solidFill>
              </a:rPr>
              <a:t>Centre aide en Mathématique</a:t>
            </a:r>
          </a:p>
          <a:p>
            <a:pPr algn="ctr"/>
            <a:r>
              <a:rPr lang="fr-CA" sz="2400" dirty="0">
                <a:solidFill>
                  <a:srgbClr val="0070C0"/>
                </a:solidFill>
                <a:cs typeface="Calibri"/>
              </a:rPr>
              <a:t>(</a:t>
            </a:r>
            <a:r>
              <a:rPr lang="fr-CA" sz="2400" dirty="0">
                <a:ea typeface="+mn-lt"/>
                <a:cs typeface="+mn-lt"/>
                <a:hlinkClick r:id="rId13"/>
              </a:rPr>
              <a:t>https://www.hec.ca/cams/</a:t>
            </a:r>
            <a:r>
              <a:rPr lang="fr-CA" sz="2400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)</a:t>
            </a:r>
            <a:r>
              <a:rPr lang="fr-CA" sz="2400" dirty="0">
                <a:ea typeface="+mn-lt"/>
                <a:cs typeface="+mn-lt"/>
              </a:rPr>
              <a:t> </a:t>
            </a:r>
            <a:endParaRPr lang="fr-CA" sz="2400" dirty="0">
              <a:solidFill>
                <a:srgbClr val="0070C0"/>
              </a:solidFill>
              <a:cs typeface="Calibri"/>
            </a:endParaRPr>
          </a:p>
          <a:p>
            <a:pPr algn="ctr">
              <a:defRPr/>
            </a:pPr>
            <a:endParaRPr lang="fr-CA" sz="2400" dirty="0">
              <a:solidFill>
                <a:srgbClr val="0070C0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2400" dirty="0">
                <a:solidFill>
                  <a:srgbClr val="0070C0"/>
                </a:solidFill>
                <a:latin typeface="Calibri" panose="020F0502020204030204"/>
              </a:rPr>
              <a:t>Agents de conseil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sz="2400" dirty="0">
              <a:solidFill>
                <a:srgbClr val="0070C0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2400" dirty="0">
                <a:solidFill>
                  <a:srgbClr val="0070C0"/>
                </a:solidFill>
                <a:latin typeface="Calibri" panose="020F0502020204030204"/>
              </a:rPr>
              <a:t>Comité étudiant </a:t>
            </a:r>
          </a:p>
          <a:p>
            <a:pPr>
              <a:defRPr/>
            </a:pPr>
            <a:endParaRPr lang="fr-CA" sz="2400" dirty="0">
              <a:solidFill>
                <a:srgbClr val="0070C0"/>
              </a:solidFill>
              <a:latin typeface="Calibri" panose="020F0502020204030204"/>
              <a:cs typeface="Calibri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E4A00A0-9AEE-4651-8650-54055864A14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758265" y="4613046"/>
            <a:ext cx="1263715" cy="1168460"/>
          </a:xfrm>
          <a:prstGeom prst="rect">
            <a:avLst/>
          </a:prstGeo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7EA82FE2-67F6-2C07-1669-EA11730B6DA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20FBA3-27E4-4E13-841E-B59ED0E8E620}" type="slidenum">
              <a:rPr lang="fr-CA" sz="1200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1">
            <a:extLst>
              <a:ext uri="{FF2B5EF4-FFF2-40B4-BE49-F238E27FC236}">
                <a16:creationId xmlns:a16="http://schemas.microsoft.com/office/drawing/2014/main" id="{91F782B9-5617-D9FD-E904-4B26A4C07F10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900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>
            <p:custDataLst>
              <p:tags r:id="rId1"/>
            </p:custDataLst>
          </p:nvPr>
        </p:nvSpPr>
        <p:spPr>
          <a:xfrm>
            <a:off x="6464009" y="2837131"/>
            <a:ext cx="4159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fr-CA" cap="all">
                <a:solidFill>
                  <a:srgbClr val="003C71"/>
                </a:solidFill>
                <a:latin typeface="dineng"/>
              </a:rPr>
            </a:br>
            <a:endParaRPr lang="fr-CA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Box 50">
            <a:extLst>
              <a:ext uri="{FF2B5EF4-FFF2-40B4-BE49-F238E27FC236}">
                <a16:creationId xmlns:a16="http://schemas.microsoft.com/office/drawing/2014/main" id="{FF1C3826-096E-43C3-023D-242F77D8D3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86370" y="301375"/>
            <a:ext cx="4165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Les </a:t>
            </a:r>
            <a:r>
              <a:rPr lang="en-US" sz="4000" dirty="0" err="1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évaluations</a:t>
            </a:r>
            <a:endParaRPr lang="en-US" sz="4000" dirty="0">
              <a:solidFill>
                <a:srgbClr val="ED7D31"/>
              </a:solidFill>
              <a:latin typeface="Century Gothic" panose="020B0502020202020204" pitchFamily="34" charset="0"/>
              <a:cs typeface="Poppins" pitchFamily="2" charset="77"/>
            </a:endParaRPr>
          </a:p>
        </p:txBody>
      </p:sp>
      <p:sp>
        <p:nvSpPr>
          <p:cNvPr id="6" name="Shape 55473">
            <a:extLst>
              <a:ext uri="{FF2B5EF4-FFF2-40B4-BE49-F238E27FC236}">
                <a16:creationId xmlns:a16="http://schemas.microsoft.com/office/drawing/2014/main" id="{6FDC19A5-1082-E94B-6369-517EE027047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1373" y="1896530"/>
            <a:ext cx="2771074" cy="1103418"/>
          </a:xfrm>
          <a:prstGeom prst="roundRect">
            <a:avLst>
              <a:gd name="adj" fmla="val 11113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sz="2279">
              <a:solidFill>
                <a:prstClr val="black"/>
              </a:solidFill>
              <a:latin typeface="Lato Light" panose="020F0502020204030203" pitchFamily="34" charset="0"/>
            </a:endParaRPr>
          </a:p>
        </p:txBody>
      </p:sp>
      <p:pic>
        <p:nvPicPr>
          <p:cNvPr id="14" name="Graphique 13" descr="Calculatrice contour">
            <a:extLst>
              <a:ext uri="{FF2B5EF4-FFF2-40B4-BE49-F238E27FC236}">
                <a16:creationId xmlns:a16="http://schemas.microsoft.com/office/drawing/2014/main" id="{C24A512A-DCE7-C955-9BB5-2603F249BFE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14186" y="1289318"/>
            <a:ext cx="3095625" cy="3095625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D687137A-0A78-A202-C12F-8F6BFB71DC2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8145" y="1928154"/>
            <a:ext cx="6096000" cy="26181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44546A"/>
                </a:solidFill>
                <a:latin typeface="Century Gothic" panose="020B0502020202020204" pitchFamily="34" charset="0"/>
                <a:ea typeface="League Spartan" charset="0"/>
                <a:cs typeface="Poppins" pitchFamily="2" charset="77"/>
              </a:rPr>
              <a:t>Examens (papier) : 80 %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44546A"/>
              </a:solidFill>
              <a:latin typeface="Century Gothic" panose="020B0502020202020204" pitchFamily="34" charset="0"/>
              <a:ea typeface="League Spartan" charset="0"/>
              <a:cs typeface="Poppins" pitchFamily="2" charset="77"/>
            </a:endParaRPr>
          </a:p>
          <a:p>
            <a:pPr marL="0" marR="0" lvl="0" indent="0" algn="l" defTabSz="1087636" rtl="0" eaLnBrk="1" fontAlgn="auto" latinLnBrk="0" hangingPunct="1">
              <a:lnSpc>
                <a:spcPts val="1576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800" dirty="0"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Intra: 40 %</a:t>
            </a:r>
          </a:p>
          <a:p>
            <a:pPr marL="0" marR="0" lvl="0" indent="0" algn="l" defTabSz="1087636" rtl="0" eaLnBrk="1" fontAlgn="auto" latinLnBrk="0" hangingPunct="1">
              <a:lnSpc>
                <a:spcPts val="1576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800" dirty="0"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Final: 40</a:t>
            </a:r>
            <a:r>
              <a:rPr lang="en-US" sz="1800" b="1" dirty="0"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%</a:t>
            </a:r>
          </a:p>
          <a:p>
            <a:pPr marL="0" marR="0" lvl="0" indent="0" algn="l" defTabSz="1087636" rtl="0" eaLnBrk="1" fontAlgn="auto" latinLnBrk="0" hangingPunct="1">
              <a:lnSpc>
                <a:spcPts val="1576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b="1" dirty="0">
              <a:latin typeface="Century Gothic" panose="020B0502020202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defTabSz="1087636">
              <a:lnSpc>
                <a:spcPts val="1576"/>
              </a:lnSpc>
              <a:spcBef>
                <a:spcPct val="20000"/>
              </a:spcBef>
              <a:defRPr/>
            </a:pPr>
            <a:r>
              <a:rPr lang="en-US" sz="2400" b="1">
                <a:solidFill>
                  <a:srgbClr val="44546A"/>
                </a:solidFill>
                <a:latin typeface="Century Gothic"/>
                <a:ea typeface="League Spartan" charset="0"/>
                <a:cs typeface="Poppins"/>
              </a:rPr>
              <a:t>Quiz (en</a:t>
            </a:r>
            <a:r>
              <a:rPr lang="en-US" sz="2400" b="1" dirty="0">
                <a:solidFill>
                  <a:srgbClr val="44546A"/>
                </a:solidFill>
                <a:latin typeface="Century Gothic"/>
                <a:ea typeface="League Spartan" charset="0"/>
                <a:cs typeface="Poppins"/>
              </a:rPr>
              <a:t> classe) : 10 %</a:t>
            </a:r>
          </a:p>
          <a:p>
            <a:pPr defTabSz="1087636">
              <a:lnSpc>
                <a:spcPts val="1576"/>
              </a:lnSpc>
              <a:spcBef>
                <a:spcPct val="20000"/>
              </a:spcBef>
              <a:defRPr/>
            </a:pPr>
            <a:endParaRPr lang="en-US" sz="2400" b="1" dirty="0">
              <a:solidFill>
                <a:srgbClr val="44546A"/>
              </a:solidFill>
              <a:latin typeface="Century Gothic" panose="020B0502020202020204" pitchFamily="34" charset="0"/>
              <a:ea typeface="League Spartan" charset="0"/>
              <a:cs typeface="Poppins" pitchFamily="2" charset="77"/>
            </a:endParaRPr>
          </a:p>
          <a:p>
            <a:pPr defTabSz="1087636">
              <a:lnSpc>
                <a:spcPts val="1576"/>
              </a:lnSpc>
              <a:spcBef>
                <a:spcPct val="20000"/>
              </a:spcBef>
              <a:defRPr/>
            </a:pPr>
            <a:r>
              <a:rPr lang="en-US" sz="2400" b="1" dirty="0" err="1">
                <a:solidFill>
                  <a:srgbClr val="44546A"/>
                </a:solidFill>
                <a:latin typeface="Century Gothic" panose="020B0502020202020204" pitchFamily="34" charset="0"/>
                <a:ea typeface="League Spartan" charset="0"/>
                <a:cs typeface="Poppins" pitchFamily="2" charset="77"/>
              </a:rPr>
              <a:t>Activités</a:t>
            </a:r>
            <a:r>
              <a:rPr lang="en-US" sz="2400" b="1" dirty="0">
                <a:solidFill>
                  <a:srgbClr val="44546A"/>
                </a:solidFill>
                <a:latin typeface="Century Gothic" panose="020B0502020202020204" pitchFamily="34" charset="0"/>
                <a:ea typeface="League Spartan" charset="0"/>
                <a:cs typeface="Poppins" pitchFamily="2" charset="77"/>
              </a:rPr>
              <a:t> </a:t>
            </a:r>
            <a:r>
              <a:rPr lang="en-US" sz="2400" b="1" dirty="0" err="1">
                <a:solidFill>
                  <a:srgbClr val="44546A"/>
                </a:solidFill>
                <a:latin typeface="Century Gothic" panose="020B0502020202020204" pitchFamily="34" charset="0"/>
                <a:ea typeface="League Spartan" charset="0"/>
                <a:cs typeface="Poppins" pitchFamily="2" charset="77"/>
              </a:rPr>
              <a:t>diverses</a:t>
            </a:r>
            <a:r>
              <a:rPr lang="en-US" sz="2400" b="1" dirty="0">
                <a:solidFill>
                  <a:srgbClr val="44546A"/>
                </a:solidFill>
                <a:latin typeface="Century Gothic" panose="020B0502020202020204" pitchFamily="34" charset="0"/>
                <a:ea typeface="League Spartan" charset="0"/>
                <a:cs typeface="Poppins" pitchFamily="2" charset="77"/>
              </a:rPr>
              <a:t> : 10 %</a:t>
            </a:r>
          </a:p>
          <a:p>
            <a:pPr marL="0" marR="0" lvl="0" indent="0" algn="l" defTabSz="1087636" rtl="0" eaLnBrk="1" fontAlgn="auto" latinLnBrk="0" hangingPunct="1">
              <a:lnSpc>
                <a:spcPts val="1576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>
              <a:latin typeface="Century Gothic" panose="020B0502020202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161434-53F8-9F23-74C9-7835514A01F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058145" y="5682431"/>
            <a:ext cx="7153669" cy="30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solidFill>
                  <a:srgbClr val="70AD47">
                    <a:lumMod val="50000"/>
                  </a:srgbClr>
                </a:solidFill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Détails</a:t>
            </a:r>
            <a:r>
              <a:rPr lang="en-US" sz="2000" dirty="0">
                <a:solidFill>
                  <a:srgbClr val="70AD47">
                    <a:lumMod val="50000"/>
                  </a:srgbClr>
                </a:solidFill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dans le plan de </a:t>
            </a:r>
            <a:r>
              <a:rPr lang="en-US" sz="2000" dirty="0" err="1">
                <a:solidFill>
                  <a:srgbClr val="70AD47">
                    <a:lumMod val="50000"/>
                  </a:srgbClr>
                </a:solidFill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cours</a:t>
            </a:r>
            <a:r>
              <a:rPr lang="en-US" sz="2000" dirty="0">
                <a:solidFill>
                  <a:srgbClr val="70AD47">
                    <a:lumMod val="50000"/>
                  </a:srgbClr>
                </a:solidFill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- </a:t>
            </a:r>
            <a:r>
              <a:rPr lang="en-US" sz="2000" b="1" dirty="0" err="1">
                <a:solidFill>
                  <a:srgbClr val="00B0F0"/>
                </a:solidFill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Zone</a:t>
            </a:r>
            <a:r>
              <a:rPr lang="en-US" sz="2000" b="1" dirty="0" err="1">
                <a:solidFill>
                  <a:srgbClr val="ED7D31"/>
                </a:solidFill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Cours</a:t>
            </a:r>
            <a:r>
              <a:rPr lang="en-US" sz="2000" dirty="0">
                <a:solidFill>
                  <a:srgbClr val="5B9BD5"/>
                </a:solidFill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2A711477-3B03-F954-B941-4FCD4EE669A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20FBA3-27E4-4E13-841E-B59ED0E8E620}" type="slidenum">
              <a:rPr lang="fr-CA" sz="1200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1">
            <a:extLst>
              <a:ext uri="{FF2B5EF4-FFF2-40B4-BE49-F238E27FC236}">
                <a16:creationId xmlns:a16="http://schemas.microsoft.com/office/drawing/2014/main" id="{DDF0B42D-A63D-2560-898F-A4063AD9F7A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235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>
            <p:custDataLst>
              <p:tags r:id="rId1"/>
            </p:custDataLst>
          </p:nvPr>
        </p:nvSpPr>
        <p:spPr>
          <a:xfrm>
            <a:off x="6464009" y="2837131"/>
            <a:ext cx="4159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fr-CA" cap="all">
                <a:solidFill>
                  <a:srgbClr val="003C71"/>
                </a:solidFill>
                <a:latin typeface="dineng"/>
              </a:rPr>
            </a:br>
            <a:endParaRPr lang="fr-CA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Box 50">
            <a:extLst>
              <a:ext uri="{FF2B5EF4-FFF2-40B4-BE49-F238E27FC236}">
                <a16:creationId xmlns:a16="http://schemas.microsoft.com/office/drawing/2014/main" id="{FF1C3826-096E-43C3-023D-242F77D8D3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38445" y="390596"/>
            <a:ext cx="41650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Les </a:t>
            </a:r>
            <a:r>
              <a:rPr lang="en-US" sz="4000" dirty="0" err="1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règles</a:t>
            </a:r>
            <a:r>
              <a:rPr lang="en-US" sz="4000" dirty="0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 de vie </a:t>
            </a:r>
            <a:r>
              <a:rPr lang="en-US" sz="4000" dirty="0" err="1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en</a:t>
            </a:r>
            <a:r>
              <a:rPr lang="en-US" sz="4000" dirty="0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 </a:t>
            </a:r>
            <a:r>
              <a:rPr lang="en-US" sz="4000" dirty="0" err="1">
                <a:solidFill>
                  <a:srgbClr val="ED7D31"/>
                </a:solidFill>
                <a:latin typeface="Century Gothic" panose="020B0502020202020204" pitchFamily="34" charset="0"/>
                <a:cs typeface="Poppins" pitchFamily="2" charset="77"/>
              </a:rPr>
              <a:t>classe</a:t>
            </a:r>
            <a:endParaRPr lang="en-US" sz="4000" dirty="0">
              <a:solidFill>
                <a:srgbClr val="ED7D31"/>
              </a:solidFill>
              <a:latin typeface="Century Gothic" panose="020B0502020202020204" pitchFamily="34" charset="0"/>
              <a:cs typeface="Poppins" pitchFamily="2" charset="77"/>
            </a:endParaRPr>
          </a:p>
        </p:txBody>
      </p:sp>
      <p:sp>
        <p:nvSpPr>
          <p:cNvPr id="6" name="Shape 55473">
            <a:extLst>
              <a:ext uri="{FF2B5EF4-FFF2-40B4-BE49-F238E27FC236}">
                <a16:creationId xmlns:a16="http://schemas.microsoft.com/office/drawing/2014/main" id="{6FDC19A5-1082-E94B-6369-517EE027047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1373" y="1896530"/>
            <a:ext cx="2771074" cy="1103418"/>
          </a:xfrm>
          <a:prstGeom prst="roundRect">
            <a:avLst>
              <a:gd name="adj" fmla="val 11113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sz="2279">
              <a:solidFill>
                <a:prstClr val="black"/>
              </a:solidFill>
              <a:latin typeface="Lato Light" panose="020F0502020204030203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8F88C20-4B3A-D66C-C860-009BEB9AB4C6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563" y="0"/>
            <a:ext cx="5151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pied de page 1">
            <a:extLst>
              <a:ext uri="{FF2B5EF4-FFF2-40B4-BE49-F238E27FC236}">
                <a16:creationId xmlns:a16="http://schemas.microsoft.com/office/drawing/2014/main" id="{570B9FCE-98B4-C282-4ADE-8ED006CDB8A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97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96ECC1-32F4-41B6-9804-33E4A068039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B02A100-3781-42F9-A584-0E0ABDDDE5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38200" y="160589"/>
            <a:ext cx="10515600" cy="1042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CA" sz="4000"/>
              <a:t>À quoi sert la comptabilité de management ? 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7BC0EBF-517C-027B-5052-00A4A30DD665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838200" y="1467851"/>
            <a:ext cx="10515600" cy="4709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CA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CA" dirty="0"/>
              <a:t>(Version étudiant)</a:t>
            </a: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14A81F54-8783-4A4C-E726-6E9D8DE3518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629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9CFD25-26E5-0C79-9E90-D46E52CEA0D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À qui s’adresse la comptabilité de management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205CC6-B7B1-CB70-5063-C430E91CB46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  <a:p>
            <a:pPr marL="0" indent="0" algn="ctr">
              <a:buNone/>
            </a:pPr>
            <a:r>
              <a:rPr lang="fr-CA" dirty="0"/>
              <a:t>(Version étudiant)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1C2549-E8B8-E109-381E-7BF45B5A19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3C296AD9-2DF0-E7EF-ACDD-4DBB23465CD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75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9788" y="1598769"/>
            <a:ext cx="5051905" cy="652064"/>
          </a:xfrm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fr-CA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Comptabilité financière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half" idx="2"/>
            <p:custDataLst>
              <p:tags r:id="rId3"/>
            </p:custDataLst>
          </p:nvPr>
        </p:nvSpPr>
        <p:spPr>
          <a:xfrm>
            <a:off x="839788" y="2250833"/>
            <a:ext cx="5051905" cy="3938830"/>
          </a:xfrm>
          <a:noFill/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fr-FR" sz="2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400" dirty="0"/>
              <a:t>Destinée aux tiers (externe)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400" dirty="0"/>
              <a:t>Réglementée (IFRS ou NCECF)        </a:t>
            </a:r>
            <a:r>
              <a:rPr lang="fr-FR" sz="1800" i="1" dirty="0"/>
              <a:t>(cadre à respecter)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400" dirty="0"/>
              <a:t>Données financières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400" dirty="0"/>
              <a:t>Données historiques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400" dirty="0"/>
              <a:t>Porte sur l’entité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400" dirty="0"/>
              <a:t>Porte sur un exercice financier</a:t>
            </a:r>
          </a:p>
          <a:p>
            <a:pPr marL="0" lvl="1" indent="0" algn="ctr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fr-FR" b="1" dirty="0">
                <a:solidFill>
                  <a:srgbClr val="0070C0"/>
                </a:solidFill>
              </a:rPr>
              <a:t>Informations fidèles et fiables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598769"/>
            <a:ext cx="5379098" cy="652064"/>
          </a:xfrm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CA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Comptabilité de gestion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250833"/>
            <a:ext cx="5379098" cy="393883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fr-CA" sz="2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CA" sz="2400" dirty="0"/>
              <a:t>Gestionnaires (interne)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CA" sz="2400" dirty="0"/>
              <a:t>Flexible – sur mesure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CA" sz="2400" dirty="0"/>
              <a:t>Financières et non-financières </a:t>
            </a:r>
            <a:r>
              <a:rPr lang="fr-CA" sz="1800" i="1" dirty="0"/>
              <a:t>(qualitative)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CA" sz="2400" dirty="0"/>
              <a:t>Prévisionnelle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CA" sz="2400" dirty="0"/>
              <a:t>Analytique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CA" sz="2400" dirty="0"/>
              <a:t>Porte sur le cycle de vie de l’activité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CA" sz="2400" b="1" dirty="0">
                <a:solidFill>
                  <a:srgbClr val="0070C0"/>
                </a:solidFill>
              </a:rPr>
              <a:t>Informations utiles et pertinentes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fr-CA" sz="2400" b="1" dirty="0">
                <a:solidFill>
                  <a:srgbClr val="0070C0"/>
                </a:solidFill>
              </a:rPr>
              <a:t>(à la prise de décision)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fr-CA" sz="2800"/>
            </a:br>
            <a:r>
              <a:rPr lang="fr-CA" sz="3200"/>
              <a:t>Éléments distinctifs </a:t>
            </a:r>
            <a:br>
              <a:rPr lang="fr-CA" sz="3200"/>
            </a:br>
            <a:r>
              <a:rPr lang="fr-CA" sz="3200"/>
              <a:t>de la comptabilité financière et de la comptabilité de gestion</a:t>
            </a:r>
            <a:br>
              <a:rPr lang="fr-CA" sz="3200"/>
            </a:br>
            <a:endParaRPr lang="en-CA" sz="3200">
              <a:cs typeface="Calibri Light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B7CE10-4FFD-4826-8F28-BDC2E77FBB1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152" name="Line 5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6031946" y="1551432"/>
            <a:ext cx="0" cy="434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CA"/>
          </a:p>
        </p:txBody>
      </p:sp>
      <p:sp>
        <p:nvSpPr>
          <p:cNvPr id="8" name="Espace réservé du pied de page 1">
            <a:extLst>
              <a:ext uri="{FF2B5EF4-FFF2-40B4-BE49-F238E27FC236}">
                <a16:creationId xmlns:a16="http://schemas.microsoft.com/office/drawing/2014/main" id="{25F789E0-1D58-8BA4-E360-44C138543092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819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Autofit/>
          </a:bodyPr>
          <a:lstStyle/>
          <a:p>
            <a:r>
              <a:rPr lang="fr-CA" sz="4000"/>
              <a:t>Utilisation de la comptabilité de management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467851"/>
            <a:ext cx="5391150" cy="4709112"/>
          </a:xfrm>
        </p:spPr>
        <p:txBody>
          <a:bodyPr>
            <a:normAutofit/>
          </a:bodyPr>
          <a:lstStyle/>
          <a:p>
            <a:r>
              <a:rPr lang="fr-CA" dirty="0"/>
              <a:t>La comptabilité de management </a:t>
            </a:r>
          </a:p>
          <a:p>
            <a:pPr lvl="1"/>
            <a:r>
              <a:rPr lang="fr-CA" dirty="0"/>
              <a:t>est présente partout où il y a de la gestion</a:t>
            </a:r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A6A8F4-C9D3-4ED9-94F1-126B1E37B16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7DE22EE4-46CB-EAD7-C824-E284E1FBCE3B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11301977"/>
              </p:ext>
            </p:extLst>
          </p:nvPr>
        </p:nvGraphicFramePr>
        <p:xfrm>
          <a:off x="4679950" y="1725542"/>
          <a:ext cx="6511925" cy="4538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A808DDA7-CC55-3AD2-4738-412F04991FD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7123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2BEEFA-E88B-57C9-B12C-8F9F9A3A2EA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L’éthique en comptabilité de gestion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5DD828-423C-D332-BBB0-93AAACCFAD2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2438399"/>
            <a:ext cx="10515600" cy="3738563"/>
          </a:xfrm>
        </p:spPr>
        <p:txBody>
          <a:bodyPr/>
          <a:lstStyle/>
          <a:p>
            <a:pPr marL="0" indent="0" algn="ctr">
              <a:buNone/>
            </a:pPr>
            <a:r>
              <a:rPr lang="fr-CA" sz="2800" dirty="0"/>
              <a:t>Pour quelle(s) raison(s) la comptabilité de gestion peut-elle créer des enjeux d’éthique?  </a:t>
            </a: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58EA46-9CDA-0CAA-6C11-0D3464ADB8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3041F8A9-D11D-4553-A690-8932C2B50CB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756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C03CEF-7893-4E5A-845B-4E6CDB08CA8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160589"/>
            <a:ext cx="9005596" cy="1042570"/>
          </a:xfrm>
        </p:spPr>
        <p:txBody>
          <a:bodyPr>
            <a:noAutofit/>
          </a:bodyPr>
          <a:lstStyle/>
          <a:p>
            <a:r>
              <a:rPr lang="fr-CA" sz="4000"/>
              <a:t>Parmi les décisions suivantes, lesquelles posent un problème d’ordre éthique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AC4D2F-58D1-4257-99FB-31D4D0049E8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641275"/>
            <a:ext cx="10515600" cy="4709112"/>
          </a:xfrm>
        </p:spPr>
        <p:txBody>
          <a:bodyPr>
            <a:normAutofit fontScale="77500" lnSpcReduction="20000"/>
          </a:bodyPr>
          <a:lstStyle/>
          <a:p>
            <a:pPr marL="596646" indent="-514350">
              <a:lnSpc>
                <a:spcPct val="12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+mj-lt"/>
              <a:buAutoNum type="alphaLcParenR"/>
              <a:defRPr/>
            </a:pPr>
            <a:r>
              <a:rPr lang="fr-CA" dirty="0"/>
              <a:t>À l'approche de la fin d’un exercice dont les bénéfices sont inférieurs aux prévisions, suggérer qu’une campagne publicitaire onéreuse soit reportée jusqu’à l’exercice suivant.</a:t>
            </a:r>
          </a:p>
          <a:p>
            <a:pPr marL="596646" indent="-514350">
              <a:lnSpc>
                <a:spcPct val="12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+mj-lt"/>
              <a:buAutoNum type="alphaLcParenR"/>
              <a:defRPr/>
            </a:pPr>
            <a:r>
              <a:rPr lang="fr-CA" dirty="0"/>
              <a:t>Accepter une boîte de chocolats reçue en cadeau d’un fournisseur régulier et la partager avec tous les employés de la société.</a:t>
            </a:r>
          </a:p>
          <a:p>
            <a:pPr marL="596646" indent="-514350">
              <a:lnSpc>
                <a:spcPct val="12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+mj-lt"/>
              <a:buAutoNum type="alphaLcParenR"/>
              <a:defRPr/>
            </a:pPr>
            <a:r>
              <a:rPr lang="fr-CA" dirty="0"/>
              <a:t>À la demande d’un cadre, inscrire à l’actif les coûts de développement d’un nouveau produit, plutôt que de les passer en charges, lorsque la probabilité de succès dudit produit sur le marché est faible.</a:t>
            </a:r>
          </a:p>
          <a:p>
            <a:pPr marL="596646" indent="-514350">
              <a:lnSpc>
                <a:spcPct val="12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+mj-lt"/>
              <a:buAutoNum type="alphaLcParenR"/>
              <a:defRPr/>
            </a:pPr>
            <a:r>
              <a:rPr lang="fr-CA" dirty="0"/>
              <a:t>À la demande du directeur de division, appuyer une proposition sur les projections les plus favorables, passant sous silence les projections potentiellement défavorables</a:t>
            </a:r>
          </a:p>
          <a:p>
            <a:pPr marL="596646" indent="-514350">
              <a:lnSpc>
                <a:spcPct val="120000"/>
              </a:lnSpc>
              <a:spcBef>
                <a:spcPts val="600"/>
              </a:spcBef>
              <a:buClr>
                <a:schemeClr val="tx2"/>
              </a:buClr>
              <a:buSzPct val="80000"/>
              <a:buFont typeface="+mj-lt"/>
              <a:buAutoNum type="alphaLcParenR"/>
              <a:defRPr/>
            </a:pPr>
            <a:r>
              <a:rPr lang="fr-CA" dirty="0"/>
              <a:t>Signaler au contrôleur le cas d’un cadre hiérarchique soupçonné de fournir des données de fabrication inexactes dans le but d’augmenter sa prime de fin d’année.</a:t>
            </a:r>
          </a:p>
          <a:p>
            <a:pPr marL="514350" indent="-514350">
              <a:buFont typeface="+mj-lt"/>
              <a:buAutoNum type="alphaLcParenR"/>
            </a:pP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E7EA48-8CC5-D076-07F6-28ECE532526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5D56961-DA00-47AB-BB1E-FDD9EA7BCD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190661" y="78136"/>
            <a:ext cx="2001339" cy="1125023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A6D92026-8780-4CCC-A4AF-E9375BCCF46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675352" y="6142018"/>
            <a:ext cx="5678448" cy="360040"/>
          </a:xfrm>
          <a:prstGeom prst="rect">
            <a:avLst/>
          </a:prstGeom>
          <a:ln>
            <a:noFill/>
          </a:ln>
        </p:spPr>
        <p:txBody>
          <a:bodyPr anchor="b">
            <a:normAutofit fontScale="97500"/>
          </a:bodyPr>
          <a:lstStyle/>
          <a:p>
            <a:pPr algn="r">
              <a:lnSpc>
                <a:spcPts val="2000"/>
              </a:lnSpc>
              <a:spcBef>
                <a:spcPct val="0"/>
              </a:spcBef>
              <a:defRPr/>
            </a:pPr>
            <a:r>
              <a:rPr lang="fr-CA" sz="1600" i="1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ea typeface="+mj-ea"/>
                <a:cs typeface="+mj-cs"/>
              </a:rPr>
              <a:t>Source : Ordre des CMA – Examen d’admission </a:t>
            </a:r>
          </a:p>
        </p:txBody>
      </p:sp>
      <p:sp>
        <p:nvSpPr>
          <p:cNvPr id="8" name="Espace réservé du pied de page 1">
            <a:extLst>
              <a:ext uri="{FF2B5EF4-FFF2-40B4-BE49-F238E27FC236}">
                <a16:creationId xmlns:a16="http://schemas.microsoft.com/office/drawing/2014/main" id="{468F98C6-0C39-9314-376B-BED5EA281343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000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ctr"/>
            <a:r>
              <a:rPr lang="fr-CA" dirty="0"/>
              <a:t>La comptabilité de management et quelques notions de coûts clés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DD47B9-CD77-4F96-BAD9-C95C4529108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texte 1">
            <a:extLst>
              <a:ext uri="{FF2B5EF4-FFF2-40B4-BE49-F238E27FC236}">
                <a16:creationId xmlns:a16="http://schemas.microsoft.com/office/drawing/2014/main" id="{B6956784-74C3-47F2-AE0F-D174128EB74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923730" y="4573793"/>
            <a:ext cx="10515600" cy="974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>
                <a:solidFill>
                  <a:schemeClr val="tx2"/>
                </a:solidFill>
              </a:rPr>
              <a:t>Définir et comprendre quelques notions de coûts clés </a:t>
            </a:r>
          </a:p>
          <a:p>
            <a:pPr algn="ctr"/>
            <a:r>
              <a:rPr lang="fr-FR" dirty="0">
                <a:solidFill>
                  <a:schemeClr val="tx2"/>
                </a:solidFill>
              </a:rPr>
              <a:t>liés à l’analyse des coûts et à la prise de décision</a:t>
            </a:r>
          </a:p>
          <a:p>
            <a:pPr algn="ctr"/>
            <a:endParaRPr lang="fr-FR" b="1" dirty="0"/>
          </a:p>
        </p:txBody>
      </p: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1879B97A-74FC-91DD-2285-24299D2F34D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60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BE599E6-8DE8-E7CB-F9D9-592F2E2B42E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8567" y="2367171"/>
            <a:ext cx="4189765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fr-CA" sz="2200" b="1" u="sng" dirty="0"/>
              <a:t>Diriger </a:t>
            </a:r>
            <a:endParaRPr lang="fr-CA" b="1" u="sng" dirty="0"/>
          </a:p>
          <a:p>
            <a:pPr>
              <a:spcAft>
                <a:spcPts val="600"/>
              </a:spcAft>
            </a:pPr>
            <a:r>
              <a:rPr lang="fr-CA" b="1" dirty="0"/>
              <a:t>(S02-S05) </a:t>
            </a:r>
            <a:r>
              <a:rPr lang="fr-CA" dirty="0"/>
              <a:t>Effectuer des analyses pour la prise décision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L’analyse coût-volume-résultat 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L’analyse différentielle  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Analyse de marges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CA" i="1" dirty="0"/>
          </a:p>
          <a:p>
            <a:pPr>
              <a:spcAft>
                <a:spcPts val="600"/>
              </a:spcAft>
            </a:pPr>
            <a:r>
              <a:rPr lang="fr-CA" b="1" dirty="0"/>
              <a:t>(S06) </a:t>
            </a:r>
            <a:r>
              <a:rPr lang="fr-CA" dirty="0"/>
              <a:t>Mesurer la performance 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Indicateurs financiers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Tableau de bord de gestion</a:t>
            </a:r>
          </a:p>
          <a:p>
            <a:pPr marL="105750">
              <a:spcAft>
                <a:spcPts val="600"/>
              </a:spcAft>
            </a:pPr>
            <a:endParaRPr lang="fr-CA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147321-340F-878B-AB21-6DE830F20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08332" y="2356298"/>
            <a:ext cx="36208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fr-CA" sz="2200" b="1" u="sng" dirty="0"/>
              <a:t>Planifier</a:t>
            </a:r>
          </a:p>
          <a:p>
            <a:pPr>
              <a:spcAft>
                <a:spcPts val="600"/>
              </a:spcAft>
            </a:pPr>
            <a:r>
              <a:rPr lang="fr-CA" b="1" dirty="0"/>
              <a:t>(S09) </a:t>
            </a:r>
            <a:r>
              <a:rPr lang="fr-CA" dirty="0"/>
              <a:t>Planifier la performance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Budgets d’exploitation et État des résultats prévisionnels</a:t>
            </a:r>
          </a:p>
          <a:p>
            <a:pPr>
              <a:spcAft>
                <a:spcPts val="600"/>
              </a:spcAft>
            </a:pPr>
            <a:r>
              <a:rPr lang="fr-CA" b="1" dirty="0"/>
              <a:t>(S10) </a:t>
            </a:r>
            <a:r>
              <a:rPr lang="fr-CA" dirty="0"/>
              <a:t>Planifier la viabilité financière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Budget de caisse et gestion de la trésorerie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B40286-696B-7A13-68DA-D5AB015768E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363607" y="2339716"/>
            <a:ext cx="3828393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fr-CA" sz="2200" b="1" u="sng" dirty="0"/>
              <a:t>Contrôler</a:t>
            </a:r>
            <a:endParaRPr lang="fr-CA" sz="2200" u="sng" dirty="0"/>
          </a:p>
          <a:p>
            <a:pPr>
              <a:spcAft>
                <a:spcPts val="600"/>
              </a:spcAft>
            </a:pPr>
            <a:r>
              <a:rPr lang="fr-CA" b="1" dirty="0"/>
              <a:t>(S08) </a:t>
            </a:r>
            <a:r>
              <a:rPr lang="fr-CA" dirty="0"/>
              <a:t>Contrôler la performance des entreprises manufacturière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État des résultats réels 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État du coût de fabrication</a:t>
            </a:r>
            <a:endParaRPr lang="fr-CA" dirty="0"/>
          </a:p>
          <a:p>
            <a:pPr>
              <a:spcAft>
                <a:spcPts val="600"/>
              </a:spcAft>
            </a:pPr>
            <a:r>
              <a:rPr lang="fr-CA" b="1" dirty="0"/>
              <a:t>(S11) </a:t>
            </a:r>
            <a:r>
              <a:rPr lang="fr-CA" dirty="0"/>
              <a:t>Contrôler l’atteinte des objectifs budgétaire 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i="1" dirty="0"/>
              <a:t>L’analyse des écarts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05B256B-2EDF-0DFF-529D-7F07591C650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202410" y="0"/>
            <a:ext cx="12297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000" dirty="0">
                <a:ln w="0"/>
                <a:solidFill>
                  <a:srgbClr val="002060"/>
                </a:solidFill>
                <a:latin typeface="+mj-lt"/>
              </a:rPr>
              <a:t>S01</a:t>
            </a:r>
          </a:p>
        </p:txBody>
      </p:sp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D3C211D3-B522-E90C-DCC9-E8DB71B1371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88317" y="21553"/>
            <a:ext cx="4603531" cy="2165803"/>
          </a:xfrm>
          <a:prstGeom prst="wedgeEllipseCallout">
            <a:avLst>
              <a:gd name="adj1" fmla="val 53246"/>
              <a:gd name="adj2" fmla="val -2770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CA" b="1" dirty="0"/>
              <a:t>S01: Les différents termes</a:t>
            </a:r>
          </a:p>
          <a:p>
            <a:r>
              <a:rPr lang="fr-CA" b="1" i="1" dirty="0"/>
              <a:t>L’analyse des </a:t>
            </a:r>
            <a:r>
              <a:rPr lang="fr-CA" b="1" i="1" dirty="0">
                <a:solidFill>
                  <a:srgbClr val="0070C0"/>
                </a:solidFill>
              </a:rPr>
              <a:t>coûts</a:t>
            </a:r>
            <a:r>
              <a:rPr lang="fr-CA" b="1" i="1" dirty="0"/>
              <a:t> puis de la rentabilité</a:t>
            </a:r>
          </a:p>
          <a:p>
            <a:pPr marL="285750" indent="-285750">
              <a:buFontTx/>
              <a:buChar char="-"/>
            </a:pPr>
            <a:r>
              <a:rPr lang="fr-CA" dirty="0">
                <a:solidFill>
                  <a:srgbClr val="0070C0"/>
                </a:solidFill>
              </a:rPr>
              <a:t>Variables et fixes</a:t>
            </a:r>
          </a:p>
          <a:p>
            <a:pPr marL="285750" indent="-285750">
              <a:buFontTx/>
              <a:buChar char="-"/>
            </a:pPr>
            <a:r>
              <a:rPr lang="fr-CA" dirty="0">
                <a:solidFill>
                  <a:srgbClr val="0070C0"/>
                </a:solidFill>
              </a:rPr>
              <a:t>Coût de fabrication et frais d’exploitation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5017BD8-611B-0EEF-D09F-F4315AF5B90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716516" y="663636"/>
            <a:ext cx="2758965" cy="1258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b="1" dirty="0"/>
              <a:t>Résultat d’exploitation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DE9556-123D-4606-2A36-DC467D29A14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308332" y="117374"/>
            <a:ext cx="38283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600" b="1" dirty="0">
                <a:latin typeface="+mj-lt"/>
              </a:rPr>
              <a:t>La comptabilité de gestion</a:t>
            </a:r>
          </a:p>
        </p:txBody>
      </p:sp>
      <p:sp>
        <p:nvSpPr>
          <p:cNvPr id="3" name="Espace réservé du numéro de diapositive 3">
            <a:extLst>
              <a:ext uri="{FF2B5EF4-FFF2-40B4-BE49-F238E27FC236}">
                <a16:creationId xmlns:a16="http://schemas.microsoft.com/office/drawing/2014/main" id="{75ED65A8-5DB8-01E8-53D0-5AC4794539D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20FBA3-27E4-4E13-841E-B59ED0E8E620}" type="slidenum">
              <a:rPr lang="fr-CA" sz="1200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37B72C11-FC48-A9A8-3562-B514401516C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Espace réservé du pied de page 1">
            <a:extLst>
              <a:ext uri="{FF2B5EF4-FFF2-40B4-BE49-F238E27FC236}">
                <a16:creationId xmlns:a16="http://schemas.microsoft.com/office/drawing/2014/main" id="{B0917136-C452-B1A4-4EAC-4FC6AB4106C6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594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Objectifs de la séance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633491"/>
            <a:ext cx="10515600" cy="45434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Calculer le résultat d'exploitation d’une entreprise</a:t>
            </a:r>
          </a:p>
          <a:p>
            <a:r>
              <a:rPr lang="fr-CA" dirty="0"/>
              <a:t>Distinguer les coûts de fabrication des frais de vente et d’administration</a:t>
            </a:r>
          </a:p>
          <a:p>
            <a:r>
              <a:rPr lang="fr-CA" dirty="0">
                <a:cs typeface="Calibri" panose="020F0502020204030204"/>
              </a:rPr>
              <a:t>Identifier et classer les coûts de fabrication en matières premières directes, main-d'œuvre directe et frais généraux de fabrication.</a:t>
            </a:r>
            <a:endParaRPr lang="fr-CA" dirty="0"/>
          </a:p>
          <a:p>
            <a:r>
              <a:rPr lang="fr-CA" dirty="0"/>
              <a:t>Classer les coûts comme étant variables ou fixes</a:t>
            </a:r>
          </a:p>
          <a:p>
            <a:r>
              <a:rPr lang="fr-CA" dirty="0">
                <a:cs typeface="Calibri" panose="020F0502020204030204"/>
              </a:rPr>
              <a:t>Comprendre la notion de segment significatif</a:t>
            </a:r>
          </a:p>
          <a:p>
            <a:r>
              <a:rPr lang="fr-CA" dirty="0">
                <a:cs typeface="Calibri" panose="020F0502020204030204"/>
              </a:rPr>
              <a:t>Différencier les c</a:t>
            </a:r>
            <a:r>
              <a:rPr lang="fr-CA" dirty="0"/>
              <a:t>oûts directs et les coûts indirects</a:t>
            </a:r>
          </a:p>
          <a:p>
            <a:endParaRPr lang="fr-CA" dirty="0">
              <a:cs typeface="Calibri" panose="020F0502020204030204"/>
            </a:endParaRPr>
          </a:p>
          <a:p>
            <a:pPr marL="0" indent="0">
              <a:buNone/>
            </a:pPr>
            <a:endParaRPr lang="fr-CA" dirty="0">
              <a:cs typeface="Calibri" panose="020F0502020204030204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D545598-B51E-4D28-B8BE-5B641A6CA6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C2E7A9FA-9F8A-3577-9105-9CEEF3659ED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7298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8716BF-7298-278C-3FFE-2141122D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Résultat d’exploitation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7443F3-54C2-CD2C-5F35-A46192693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Comment calculer le résultat d’exploitation d’une entreprise 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D361C4-068C-7540-DD21-267FC426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6BD348-3183-CCD2-9A2B-F8907FA6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869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 dirty="0">
                <a:ln w="0"/>
                <a:ea typeface="+mn-ea"/>
                <a:cs typeface="+mn-cs"/>
              </a:rPr>
              <a:t>Définition - Coût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210646" y="2674388"/>
            <a:ext cx="8821996" cy="17296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CA" sz="3600" b="1" dirty="0"/>
              <a:t>Qu’est-ce qu’un coût ?</a:t>
            </a:r>
          </a:p>
          <a:p>
            <a:pPr marL="0" indent="0" algn="ctr">
              <a:buNone/>
            </a:pPr>
            <a:r>
              <a:rPr lang="fr-CA" sz="3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valeur totale des ressources engagées pour obtenir l’objet de coût. </a:t>
            </a:r>
            <a:endParaRPr lang="fr-CA" sz="3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C8E312-EC8B-455E-BFB4-C06745E2733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0804BFF-1C63-474B-8D52-47F1ED20F38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583882" y="0"/>
            <a:ext cx="1314456" cy="1239301"/>
          </a:xfrm>
          <a:prstGeom prst="rect">
            <a:avLst/>
          </a:prstGeom>
        </p:spPr>
      </p:pic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0DD50ACB-686B-A6DF-3006-1C53347B816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595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sz="4000" dirty="0"/>
              <a:t>Définition - Objet de coût</a:t>
            </a: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1133" y="1756814"/>
            <a:ext cx="5257800" cy="2611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4000" dirty="0"/>
              <a:t>Un </a:t>
            </a:r>
            <a:r>
              <a:rPr lang="fr-CA" sz="4000" u="sng" dirty="0"/>
              <a:t>objet  de coût </a:t>
            </a:r>
            <a:r>
              <a:rPr lang="fr-CA" sz="4000" dirty="0"/>
              <a:t>:</a:t>
            </a:r>
          </a:p>
          <a:p>
            <a:r>
              <a:rPr lang="fr-CA" sz="2400" dirty="0"/>
              <a:t>Objet dont on veut mesurer le coût :</a:t>
            </a:r>
          </a:p>
          <a:p>
            <a:pPr lvl="1"/>
            <a:r>
              <a:rPr lang="fr-CA" dirty="0"/>
              <a:t>pour répondre à un besoin donné</a:t>
            </a:r>
          </a:p>
          <a:p>
            <a:pPr lvl="1"/>
            <a:r>
              <a:rPr lang="fr-CA" dirty="0"/>
              <a:t>pour prendre une décision</a:t>
            </a:r>
          </a:p>
          <a:p>
            <a:pPr marL="0" indent="0">
              <a:buNone/>
            </a:pPr>
            <a:endParaRPr lang="fr-CA" sz="40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757333" y="2388492"/>
            <a:ext cx="6558844" cy="2407799"/>
          </a:xfrm>
        </p:spPr>
        <p:txBody>
          <a:bodyPr>
            <a:normAutofit/>
          </a:bodyPr>
          <a:lstStyle/>
          <a:p>
            <a:r>
              <a:rPr lang="fr-CA" sz="2400" dirty="0"/>
              <a:t>Exemples pour Bombardier:</a:t>
            </a:r>
          </a:p>
          <a:p>
            <a:pPr lvl="1"/>
            <a:r>
              <a:rPr lang="fr-CA" dirty="0"/>
              <a:t>Produit fabriqué (Train à haute vitesse)</a:t>
            </a:r>
          </a:p>
          <a:p>
            <a:pPr lvl="1"/>
            <a:r>
              <a:rPr lang="fr-CA" dirty="0"/>
              <a:t>Modèle (</a:t>
            </a:r>
            <a:r>
              <a:rPr lang="fr-CA" dirty="0" err="1"/>
              <a:t>Learjet</a:t>
            </a:r>
            <a:r>
              <a:rPr lang="fr-CA" dirty="0"/>
              <a:t> 45, Q400, …)</a:t>
            </a:r>
          </a:p>
          <a:p>
            <a:pPr lvl="1"/>
            <a:r>
              <a:rPr lang="fr-CA" dirty="0"/>
              <a:t>Département (RH, R&amp;D, Ventes,…)</a:t>
            </a:r>
          </a:p>
          <a:p>
            <a:pPr lvl="1"/>
            <a:r>
              <a:rPr lang="fr-CA" dirty="0"/>
              <a:t>Division (Aérospatiale, Transport)</a:t>
            </a:r>
          </a:p>
          <a:p>
            <a:pPr lvl="1"/>
            <a:r>
              <a:rPr lang="fr-CA" dirty="0"/>
              <a:t>Segment géographique (USA, Europe, …)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6B348C-744E-4CF9-AB88-D947C7E22B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contenu 4">
            <a:extLst>
              <a:ext uri="{FF2B5EF4-FFF2-40B4-BE49-F238E27FC236}">
                <a16:creationId xmlns:a16="http://schemas.microsoft.com/office/drawing/2014/main" id="{82DD808F-3017-8501-5010-025117F89E5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6016978" y="5053698"/>
            <a:ext cx="6175022" cy="10365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400" dirty="0"/>
              <a:t>Autres exemples</a:t>
            </a:r>
          </a:p>
          <a:p>
            <a:pPr lvl="1"/>
            <a:r>
              <a:rPr lang="fr-CA" dirty="0"/>
              <a:t>Service rendu, programme, activité, client satisfait, etc.</a:t>
            </a:r>
            <a:endParaRPr lang="fr-CA" sz="2400" dirty="0"/>
          </a:p>
        </p:txBody>
      </p:sp>
      <p:sp>
        <p:nvSpPr>
          <p:cNvPr id="8" name="Espace réservé du pied de page 1">
            <a:extLst>
              <a:ext uri="{FF2B5EF4-FFF2-40B4-BE49-F238E27FC236}">
                <a16:creationId xmlns:a16="http://schemas.microsoft.com/office/drawing/2014/main" id="{86A5F800-FF93-AF52-34AE-74469B8EA93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15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9CC30-788F-49E4-80FA-D2BAF9CDF44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ctr"/>
            <a:r>
              <a:rPr lang="fr-CA" sz="4000"/>
              <a:t>Types d’entreprises…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DA5E85-190A-4644-81B8-CA303141F0B5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708711" y="1627917"/>
            <a:ext cx="3533977" cy="466725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CA" dirty="0"/>
              <a:t>  Entreprise	 commerciale</a:t>
            </a:r>
          </a:p>
          <a:p>
            <a:pPr marL="0" indent="0" algn="ctr">
              <a:buNone/>
            </a:pPr>
            <a:r>
              <a:rPr lang="fr-CA" sz="1500" dirty="0"/>
              <a:t>« Entreprise qui a pour objet essentiel la commercialisation de produits sur le marché. »</a:t>
            </a:r>
          </a:p>
          <a:p>
            <a:pPr marL="0" indent="0" algn="ctr">
              <a:buNone/>
            </a:pPr>
            <a:r>
              <a:rPr lang="fr-CA" sz="1000" dirty="0"/>
              <a:t>(Thésaurus de l’activité gouvernementale – gouvernement du Québec)</a:t>
            </a:r>
            <a:endParaRPr lang="fr-CA" sz="1500" dirty="0"/>
          </a:p>
          <a:p>
            <a:pPr marL="0" indent="0" algn="ctr">
              <a:buNone/>
            </a:pPr>
            <a:r>
              <a:rPr lang="fr-CA" sz="1500" dirty="0"/>
              <a:t>Ex : Librairie Renaud-Bray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9C1EC7-E9AA-44B9-83E9-37F44CE04D75}"/>
              </a:ext>
            </a:extLst>
          </p:cNvPr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372175" y="1627917"/>
            <a:ext cx="3426069" cy="466725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CA" dirty="0"/>
              <a:t>Entreprise manufacturière</a:t>
            </a:r>
          </a:p>
          <a:p>
            <a:pPr marL="0" indent="0" algn="ctr">
              <a:buNone/>
            </a:pPr>
            <a:r>
              <a:rPr lang="fr-CA" sz="1500" dirty="0"/>
              <a:t>« Entreprise dans laquelle sont groupés et coordonnés les facteurs de production qui concourent à la réalisation d'une fabrication ou de transformation prescrite. » </a:t>
            </a:r>
          </a:p>
          <a:p>
            <a:pPr marL="0" indent="0" algn="ctr">
              <a:buNone/>
            </a:pPr>
            <a:r>
              <a:rPr lang="fr-CA" sz="1000" dirty="0"/>
              <a:t>(Thésaurus de l’activité gouvernementale – gouvernement du Québec)</a:t>
            </a:r>
          </a:p>
          <a:p>
            <a:pPr marL="0" indent="0" algn="ctr">
              <a:buNone/>
            </a:pPr>
            <a:r>
              <a:rPr lang="fr-CA" sz="1500" dirty="0"/>
              <a:t>Ex : Cascades</a:t>
            </a:r>
          </a:p>
          <a:p>
            <a:endParaRPr lang="fr-CA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73F03B-FF42-4AF7-8937-D9C21C9434C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45B0B2DD-8628-416E-9682-F5861937C15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7927731" y="1627917"/>
            <a:ext cx="3426069" cy="46672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CA" dirty="0"/>
              <a:t>Entreprise de service</a:t>
            </a:r>
          </a:p>
          <a:p>
            <a:pPr marL="0" indent="0" algn="ctr">
              <a:buNone/>
            </a:pPr>
            <a:r>
              <a:rPr lang="fr-CA" sz="1500" dirty="0"/>
              <a:t>« Entreprise appartenant au secteur tertiaire et dont l'activité principale est la prestation de services plutôt que la fabrication de biens ou le commerce. »</a:t>
            </a:r>
          </a:p>
          <a:p>
            <a:pPr marL="0" indent="0" algn="ctr">
              <a:buNone/>
            </a:pPr>
            <a:r>
              <a:rPr lang="fr-CA" sz="1000" dirty="0"/>
              <a:t>(Thésaurus de l’activité gouvernementale – gouvernement du Québec)</a:t>
            </a:r>
          </a:p>
          <a:p>
            <a:pPr marL="0" indent="0" algn="ctr">
              <a:buNone/>
            </a:pPr>
            <a:r>
              <a:rPr lang="fr-CA" sz="1500" dirty="0"/>
              <a:t>Ex : Deloitte</a:t>
            </a:r>
          </a:p>
        </p:txBody>
      </p:sp>
      <p:pic>
        <p:nvPicPr>
          <p:cNvPr id="6" name="Picture 2" descr="Vecteur d'usine gratuit - Telecharger Vectoriel Gratuit, Clipart Graphique,  Vecteur Dessins et Pictogramme Gratuit">
            <a:extLst>
              <a:ext uri="{FF2B5EF4-FFF2-40B4-BE49-F238E27FC236}">
                <a16:creationId xmlns:a16="http://schemas.microsoft.com/office/drawing/2014/main" id="{3AA41CD2-5191-4FFA-BF43-AD5CFDCE3E49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0" r="14759" b="2"/>
          <a:stretch/>
        </p:blipFill>
        <p:spPr bwMode="auto">
          <a:xfrm>
            <a:off x="5006683" y="4350370"/>
            <a:ext cx="1919656" cy="194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 descr="Une image contenant personne, groupe, posant&#10;&#10;Description générée automatiquement">
            <a:extLst>
              <a:ext uri="{FF2B5EF4-FFF2-40B4-BE49-F238E27FC236}">
                <a16:creationId xmlns:a16="http://schemas.microsoft.com/office/drawing/2014/main" id="{111BD8E4-0E61-4B19-AE3C-1F5A23610A5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752" y="4463268"/>
            <a:ext cx="2455713" cy="1718999"/>
          </a:xfrm>
          <a:prstGeom prst="rect">
            <a:avLst/>
          </a:prstGeom>
        </p:spPr>
      </p:pic>
      <p:pic>
        <p:nvPicPr>
          <p:cNvPr id="1026" name="Picture 2" descr="Tulitu, une librairie indépendante québécoise… à Bruxelles! | ICI ARTV">
            <a:extLst>
              <a:ext uri="{FF2B5EF4-FFF2-40B4-BE49-F238E27FC236}">
                <a16:creationId xmlns:a16="http://schemas.microsoft.com/office/drawing/2014/main" id="{1CA0F0EA-AF23-4F67-AE28-FB7E0B8B9BFD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824" y="4458242"/>
            <a:ext cx="25717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pied de page 1">
            <a:extLst>
              <a:ext uri="{FF2B5EF4-FFF2-40B4-BE49-F238E27FC236}">
                <a16:creationId xmlns:a16="http://schemas.microsoft.com/office/drawing/2014/main" id="{746EDDDA-9DEE-2DE2-1267-91B128055C7F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65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8FA29-0CD7-1946-8873-6F1B36ADEF2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Identifiez le type d’entreprise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9D9999-9750-939C-9826-14E8C78FF807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467850"/>
            <a:ext cx="10515600" cy="1387109"/>
          </a:xfrm>
        </p:spPr>
        <p:txBody>
          <a:bodyPr>
            <a:normAutofit lnSpcReduction="10000"/>
          </a:bodyPr>
          <a:lstStyle/>
          <a:p>
            <a:r>
              <a:rPr lang="fr-CA" sz="2200" dirty="0"/>
              <a:t>Voici la section de l'actif courant (court terme) de l'État de la situation financière de trois entreprises. </a:t>
            </a:r>
          </a:p>
          <a:p>
            <a:r>
              <a:rPr lang="fr-CA" sz="2200" dirty="0"/>
              <a:t>Identifiez le type d’entreprise : laquelle est une entreprise de services, une entreprise commerciale, une entreprise manufacturière?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826C5D-0A12-2C56-E84E-540DF85562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5C3CED07-84A4-BFC8-F54F-8F5CDEF2E6AF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923730" y="3151033"/>
          <a:ext cx="10515600" cy="2726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7822">
                  <a:extLst>
                    <a:ext uri="{9D8B030D-6E8A-4147-A177-3AD203B41FA5}">
                      <a16:colId xmlns:a16="http://schemas.microsoft.com/office/drawing/2014/main" val="3449299245"/>
                    </a:ext>
                  </a:extLst>
                </a:gridCol>
                <a:gridCol w="3127022">
                  <a:extLst>
                    <a:ext uri="{9D8B030D-6E8A-4147-A177-3AD203B41FA5}">
                      <a16:colId xmlns:a16="http://schemas.microsoft.com/office/drawing/2014/main" val="2629190159"/>
                    </a:ext>
                  </a:extLst>
                </a:gridCol>
                <a:gridCol w="4210756">
                  <a:extLst>
                    <a:ext uri="{9D8B030D-6E8A-4147-A177-3AD203B41FA5}">
                      <a16:colId xmlns:a16="http://schemas.microsoft.com/office/drawing/2014/main" val="1848119659"/>
                    </a:ext>
                  </a:extLst>
                </a:gridCol>
              </a:tblGrid>
              <a:tr h="440267">
                <a:tc>
                  <a:txBody>
                    <a:bodyPr/>
                    <a:lstStyle/>
                    <a:p>
                      <a:r>
                        <a:rPr lang="fr-CA" dirty="0"/>
                        <a:t>             </a:t>
                      </a:r>
                      <a:r>
                        <a:rPr lang="fr-CA" b="1" dirty="0"/>
                        <a:t>Entreprise - 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             </a:t>
                      </a:r>
                      <a:r>
                        <a:rPr lang="fr-CA" b="1" dirty="0"/>
                        <a:t>Entreprise - 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b="1" dirty="0"/>
                        <a:t>                    Entreprise - AAB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45205"/>
                  </a:ext>
                </a:extLst>
              </a:tr>
              <a:tr h="1862667">
                <a:tc>
                  <a:txBody>
                    <a:bodyPr/>
                    <a:lstStyle/>
                    <a:p>
                      <a:r>
                        <a:rPr lang="fr-CA" dirty="0"/>
                        <a:t>Trésorerie …………………   2 500 $</a:t>
                      </a:r>
                    </a:p>
                    <a:p>
                      <a:r>
                        <a:rPr lang="fr-CA" dirty="0"/>
                        <a:t>Comptes clients ………..   5 500 $</a:t>
                      </a:r>
                    </a:p>
                    <a:p>
                      <a:r>
                        <a:rPr lang="fr-CA" dirty="0"/>
                        <a:t>Stocks ……………………….   8 000 $</a:t>
                      </a:r>
                    </a:p>
                    <a:p>
                      <a:r>
                        <a:rPr lang="fr-CA" dirty="0"/>
                        <a:t>Frais payés </a:t>
                      </a:r>
                      <a:r>
                        <a:rPr lang="fr-CA" u="none" dirty="0"/>
                        <a:t>d’avance …    </a:t>
                      </a:r>
                      <a:r>
                        <a:rPr lang="fr-CA" u="sng" dirty="0"/>
                        <a:t>   300 $</a:t>
                      </a:r>
                    </a:p>
                    <a:p>
                      <a:r>
                        <a:rPr lang="fr-CA" dirty="0"/>
                        <a:t>Total de l’actif CT………. </a:t>
                      </a:r>
                      <a:r>
                        <a:rPr lang="fr-CA" b="1" dirty="0"/>
                        <a:t>16 300 $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Trésorerie …………………. 5 000 $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Comptes clients ………… 7 000 $</a:t>
                      </a:r>
                    </a:p>
                    <a:p>
                      <a:r>
                        <a:rPr lang="fr-CA" dirty="0"/>
                        <a:t>Frais payés </a:t>
                      </a:r>
                      <a:r>
                        <a:rPr lang="fr-CA" u="none" dirty="0"/>
                        <a:t>d’avance …. </a:t>
                      </a:r>
                      <a:r>
                        <a:rPr lang="fr-CA" u="sng" dirty="0"/>
                        <a:t>   500 $</a:t>
                      </a:r>
                    </a:p>
                    <a:p>
                      <a:r>
                        <a:rPr lang="fr-CA" dirty="0"/>
                        <a:t>Total de l’actif CT……… </a:t>
                      </a:r>
                      <a:r>
                        <a:rPr lang="fr-CA" b="1" dirty="0"/>
                        <a:t>12 500 $</a:t>
                      </a:r>
                    </a:p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Trésorerie …………………………………   2 000 $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Comptes clients ………………………..   3 000 $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Stocks de matières premières……   8 000 $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Stocks de produits en cours ………      500 $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Stocks de produits finis …………….    </a:t>
                      </a:r>
                      <a:r>
                        <a:rPr lang="fr-CA" u="sng" dirty="0"/>
                        <a:t>3 000 $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Total de l’actif CT……………………….  </a:t>
                      </a:r>
                      <a:r>
                        <a:rPr lang="fr-CA" b="1" dirty="0"/>
                        <a:t>16 500 $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dirty="0"/>
                    </a:p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527247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201D203-1DAE-88FC-2445-CBA5105A9269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4074160" y="3151033"/>
            <a:ext cx="0" cy="2140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6DF055F-E11C-123B-0996-3E83B16B8138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7203440" y="3151033"/>
            <a:ext cx="0" cy="2140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1">
            <a:extLst>
              <a:ext uri="{FF2B5EF4-FFF2-40B4-BE49-F238E27FC236}">
                <a16:creationId xmlns:a16="http://schemas.microsoft.com/office/drawing/2014/main" id="{27398201-655E-F6C1-98A4-E5A1AC08DA5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015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81BEB-A767-425C-846D-62B45938D60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CA" dirty="0"/>
              <a:t>La classification des coûts dans une </a:t>
            </a:r>
            <a:br>
              <a:rPr lang="fr-CA" dirty="0"/>
            </a:br>
            <a:r>
              <a:rPr lang="fr-CA" dirty="0"/>
              <a:t>entreprise manufacturière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920A05-6A76-4235-9D5D-0820168B918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695937"/>
            <a:ext cx="10515600" cy="44810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Dans une entreprise manufacturière, on catégorise les coûts (ressources) de cette façon: </a:t>
            </a:r>
          </a:p>
          <a:p>
            <a:pPr lvl="1"/>
            <a:r>
              <a:rPr lang="fr-CA" dirty="0"/>
              <a:t>Matières premières (</a:t>
            </a:r>
            <a:r>
              <a:rPr lang="fr-CA" b="1" dirty="0"/>
              <a:t>MP</a:t>
            </a:r>
            <a:r>
              <a:rPr lang="fr-CA" dirty="0"/>
              <a:t>) : ex. pommes, bouteille de plastique, etc.</a:t>
            </a:r>
            <a:endParaRPr lang="fr-CA" dirty="0">
              <a:cs typeface="Calibri"/>
            </a:endParaRPr>
          </a:p>
          <a:p>
            <a:pPr lvl="1"/>
            <a:r>
              <a:rPr lang="fr-CA" dirty="0"/>
              <a:t>Main-d’œuvre directe (</a:t>
            </a:r>
            <a:r>
              <a:rPr lang="fr-CA" b="1" dirty="0"/>
              <a:t>MOD</a:t>
            </a:r>
            <a:r>
              <a:rPr lang="fr-CA" dirty="0"/>
              <a:t>) : ex. salaire des employés travaillant sur la chaîne de production</a:t>
            </a:r>
            <a:endParaRPr lang="fr-CA" dirty="0">
              <a:cs typeface="Calibri"/>
            </a:endParaRPr>
          </a:p>
          <a:p>
            <a:pPr lvl="1"/>
            <a:r>
              <a:rPr lang="fr-CA" dirty="0"/>
              <a:t>Frais généraux de fabrication (</a:t>
            </a:r>
            <a:r>
              <a:rPr lang="fr-CA" b="1" dirty="0"/>
              <a:t>FGF</a:t>
            </a:r>
            <a:r>
              <a:rPr lang="fr-CA" dirty="0"/>
              <a:t>) : ex. Amortissement de la machinerie; entretien et réparation de la machinerie, maintenance sur le bâtiment de l’usine, salaires des superviseurs, fournitures d’usine, etc.</a:t>
            </a:r>
            <a:endParaRPr lang="fr-CA" dirty="0">
              <a:cs typeface="Calibri"/>
            </a:endParaRPr>
          </a:p>
          <a:p>
            <a:pPr marL="457200" lvl="1" indent="0">
              <a:buNone/>
            </a:pPr>
            <a:endParaRPr lang="fr-CA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fr-CA" u="sng" dirty="0"/>
              <a:t>Frais généraux de vente et d’administration</a:t>
            </a:r>
            <a:r>
              <a:rPr lang="fr-CA" dirty="0"/>
              <a:t> (</a:t>
            </a:r>
            <a:r>
              <a:rPr lang="fr-CA" b="1" dirty="0"/>
              <a:t>FGVA ou FVA</a:t>
            </a:r>
            <a:r>
              <a:rPr lang="fr-CA" dirty="0"/>
              <a:t>) : ex. commissions des vendeurs (</a:t>
            </a:r>
            <a:r>
              <a:rPr lang="fr-CA" dirty="0" err="1"/>
              <a:t>FV</a:t>
            </a:r>
            <a:r>
              <a:rPr lang="fr-CA" sz="1800" dirty="0" err="1"/>
              <a:t>variable</a:t>
            </a:r>
            <a:r>
              <a:rPr lang="fr-CA" dirty="0"/>
              <a:t>), salaire du comptable, publicité, etc.</a:t>
            </a:r>
            <a:endParaRPr lang="fr-CA" dirty="0">
              <a:cs typeface="Calibri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0B99E6-576E-4466-A866-513916C708C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E9680559-1750-B9E6-B7B0-23980C14821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4148548C-3A05-5A34-2437-A7404E27C60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37432" y="2604862"/>
            <a:ext cx="383855" cy="19775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B8BCC0-5819-266A-2284-4F9A65E594F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 rot="-5400000">
            <a:off x="-671404" y="3386951"/>
            <a:ext cx="258871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err="1">
                <a:ea typeface="Calibri"/>
                <a:cs typeface="Calibri"/>
              </a:rPr>
              <a:t>Coût</a:t>
            </a:r>
            <a:r>
              <a:rPr lang="en-US" sz="2200" b="1" dirty="0">
                <a:ea typeface="Calibri"/>
                <a:cs typeface="Calibri"/>
              </a:rPr>
              <a:t> de fabrication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922813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fr-CA" sz="4000"/>
              <a:t>Coûts liés au volume d’activité</a:t>
            </a:r>
            <a:br>
              <a:rPr lang="fr-CA" sz="4000"/>
            </a:br>
            <a:r>
              <a:rPr lang="fr-CA" sz="4000"/>
              <a:t>(la variabilité des coûts)</a:t>
            </a:r>
            <a:endParaRPr lang="en-CA" sz="40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3919" y="1944302"/>
            <a:ext cx="10515600" cy="4557755"/>
          </a:xfrm>
        </p:spPr>
        <p:txBody>
          <a:bodyPr/>
          <a:lstStyle/>
          <a:p>
            <a:r>
              <a:rPr lang="fr-CA" sz="3200" dirty="0"/>
              <a:t>Les coûts fixes</a:t>
            </a:r>
          </a:p>
          <a:p>
            <a:pPr marL="0" indent="0">
              <a:buNone/>
            </a:pPr>
            <a:endParaRPr lang="fr-CA" sz="3200" dirty="0"/>
          </a:p>
          <a:p>
            <a:r>
              <a:rPr lang="fr-CA" sz="3200" dirty="0"/>
              <a:t>Les coûts variables</a:t>
            </a:r>
          </a:p>
          <a:p>
            <a:pPr marL="0" indent="0">
              <a:buNone/>
            </a:pPr>
            <a:endParaRPr lang="fr-CA" sz="3200" dirty="0"/>
          </a:p>
          <a:p>
            <a:r>
              <a:rPr lang="fr-CA" sz="3200" dirty="0"/>
              <a:t>Les coûts mixtes</a:t>
            </a:r>
          </a:p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03945F-24ED-4B93-8A63-F47DC5B569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1F5B87AB-319F-4367-CCB2-692019758A6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695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C03CEF-7893-4E5A-845B-4E6CDB08CA8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160589"/>
            <a:ext cx="9005596" cy="1042570"/>
          </a:xfrm>
        </p:spPr>
        <p:txBody>
          <a:bodyPr>
            <a:noAutofit/>
          </a:bodyPr>
          <a:lstStyle/>
          <a:p>
            <a:r>
              <a:rPr lang="fr-CA" sz="4000" dirty="0"/>
              <a:t>Classez les coûts comme étant </a:t>
            </a:r>
            <a:br>
              <a:rPr lang="fr-CA" sz="4000" dirty="0"/>
            </a:br>
            <a:r>
              <a:rPr lang="fr-CA" sz="4000" dirty="0"/>
              <a:t>variables, fixes ou mixtes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B4EA5F1-6B2B-47A0-9A95-92FE76FAA9C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Le tableau suivant indique des coûts de fabrication mensuels de l'entreprise </a:t>
            </a:r>
            <a:r>
              <a:rPr lang="fr-CA" dirty="0" err="1"/>
              <a:t>GoPUR</a:t>
            </a:r>
            <a:r>
              <a:rPr lang="fr-CA" dirty="0"/>
              <a:t>, une entreprise qui fabrique des jus de pomme, pour deux niveaux de production. </a:t>
            </a:r>
          </a:p>
          <a:p>
            <a:pPr marL="0" indent="0">
              <a:buNone/>
            </a:pPr>
            <a:r>
              <a:rPr lang="fr-CA" dirty="0"/>
              <a:t>Indiquez si les coûts sont variables, fixes ou mixtes. </a:t>
            </a:r>
          </a:p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BAEF92-7935-4920-B16C-45FB1ACC40F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5D56961-DA00-47AB-BB1E-FDD9EA7BCD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190661" y="78136"/>
            <a:ext cx="2001339" cy="1125023"/>
          </a:xfrm>
          <a:prstGeom prst="rect">
            <a:avLst/>
          </a:prstGeom>
        </p:spPr>
      </p:pic>
      <p:graphicFrame>
        <p:nvGraphicFramePr>
          <p:cNvPr id="10" name="Tableau 5">
            <a:extLst>
              <a:ext uri="{FF2B5EF4-FFF2-40B4-BE49-F238E27FC236}">
                <a16:creationId xmlns:a16="http://schemas.microsoft.com/office/drawing/2014/main" id="{20B8CEBB-541B-475C-920E-B143F5B264B8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429419570"/>
              </p:ext>
            </p:extLst>
          </p:nvPr>
        </p:nvGraphicFramePr>
        <p:xfrm>
          <a:off x="1884542" y="3822407"/>
          <a:ext cx="8263548" cy="242386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54516">
                  <a:extLst>
                    <a:ext uri="{9D8B030D-6E8A-4147-A177-3AD203B41FA5}">
                      <a16:colId xmlns:a16="http://schemas.microsoft.com/office/drawing/2014/main" val="2707075822"/>
                    </a:ext>
                  </a:extLst>
                </a:gridCol>
                <a:gridCol w="2754516">
                  <a:extLst>
                    <a:ext uri="{9D8B030D-6E8A-4147-A177-3AD203B41FA5}">
                      <a16:colId xmlns:a16="http://schemas.microsoft.com/office/drawing/2014/main" val="1910522757"/>
                    </a:ext>
                  </a:extLst>
                </a:gridCol>
                <a:gridCol w="2754516">
                  <a:extLst>
                    <a:ext uri="{9D8B030D-6E8A-4147-A177-3AD203B41FA5}">
                      <a16:colId xmlns:a16="http://schemas.microsoft.com/office/drawing/2014/main" val="3736974941"/>
                    </a:ext>
                  </a:extLst>
                </a:gridCol>
              </a:tblGrid>
              <a:tr h="457077">
                <a:tc>
                  <a:txBody>
                    <a:bodyPr/>
                    <a:lstStyle/>
                    <a:p>
                      <a:pPr algn="ctr"/>
                      <a:r>
                        <a:rPr lang="fr-CA" sz="2000" u="sng" dirty="0"/>
                        <a:t>Coûts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u="sng" dirty="0"/>
                        <a:t>4 000 unités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u="sng" dirty="0"/>
                        <a:t>8 000 unités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484834"/>
                  </a:ext>
                </a:extLst>
              </a:tr>
              <a:tr h="457077"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Pommes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10 000 $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20 000 $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258010"/>
                  </a:ext>
                </a:extLst>
              </a:tr>
              <a:tr h="457077"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Salaire des superviseurs de la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5 500 $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5 500 $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262862"/>
                  </a:ext>
                </a:extLst>
              </a:tr>
              <a:tr h="808675"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Électricité (incluant force motrice)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3 000 $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5 000 $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583246"/>
                  </a:ext>
                </a:extLst>
              </a:tr>
            </a:tbl>
          </a:graphicData>
        </a:graphic>
      </p:graphicFrame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F3FCEAC2-CA85-4EBF-BA60-3F96D79809F3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336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fr-CA" sz="4000"/>
              <a:t>Les coûts variables par palier</a:t>
            </a:r>
            <a:endParaRPr lang="en-CA" sz="400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CA" sz="2400" b="1"/>
              <a:t>Explications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1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sz="2000" dirty="0"/>
              <a:t>Coût variable = Coût proportionnel au volume d’activité</a:t>
            </a:r>
          </a:p>
          <a:p>
            <a:endParaRPr lang="fr-CA" sz="1600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CA" sz="2400" b="1" dirty="0"/>
              <a:t>Segment significatif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half" idx="16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fr-CA" sz="2000"/>
              <a:t>Hypothèse valable tant que le volume atteint se situe à l’intérieur d’une zone établie: le segment significatif</a:t>
            </a:r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fr-CA" sz="2400" b="1"/>
              <a:t>Courbe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CC23D36-D8CD-4D73-B73C-72CADB9EE27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Line 15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V="1">
            <a:off x="8439706" y="2417329"/>
            <a:ext cx="0" cy="342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 b="1">
              <a:cs typeface="Arial" pitchFamily="34" charset="0"/>
            </a:endParaRPr>
          </a:p>
        </p:txBody>
      </p:sp>
      <p:sp>
        <p:nvSpPr>
          <p:cNvPr id="16" name="Rectangle 1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284255" y="2499879"/>
            <a:ext cx="1044575" cy="30353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0487" tIns="44450" rIns="90487" bIns="44450"/>
          <a:lstStyle/>
          <a:p>
            <a:pPr algn="ctr" eaLnBrk="0" hangingPunct="0">
              <a:defRPr/>
            </a:pPr>
            <a:r>
              <a:rPr lang="fr-FR" b="1" i="1" dirty="0"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segment</a:t>
            </a:r>
          </a:p>
          <a:p>
            <a:pPr algn="ctr" eaLnBrk="0" hangingPunct="0">
              <a:defRPr/>
            </a:pPr>
            <a:r>
              <a:rPr lang="fr-FR" b="1" i="1" dirty="0"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significatif</a:t>
            </a:r>
          </a:p>
        </p:txBody>
      </p:sp>
      <p:sp>
        <p:nvSpPr>
          <p:cNvPr id="17" name="Line 17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V="1">
            <a:off x="8439706" y="4420752"/>
            <a:ext cx="823913" cy="112077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 b="1">
              <a:cs typeface="Arial" pitchFamily="34" charset="0"/>
            </a:endParaRPr>
          </a:p>
        </p:txBody>
      </p:sp>
      <p:sp>
        <p:nvSpPr>
          <p:cNvPr id="18" name="Line 18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V="1">
            <a:off x="9263619" y="3988953"/>
            <a:ext cx="1065212" cy="43179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 b="1">
              <a:cs typeface="Arial" pitchFamily="34" charset="0"/>
            </a:endParaRPr>
          </a:p>
        </p:txBody>
      </p:sp>
      <p:sp>
        <p:nvSpPr>
          <p:cNvPr id="19" name="Line 19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10324943" y="3901817"/>
            <a:ext cx="936625" cy="920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 b="1">
              <a:cs typeface="Arial" pitchFamily="34" charset="0"/>
            </a:endParaRPr>
          </a:p>
        </p:txBody>
      </p:sp>
      <p:sp>
        <p:nvSpPr>
          <p:cNvPr id="20" name="Line 20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8147606" y="5541529"/>
            <a:ext cx="302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 b="1">
              <a:cs typeface="Arial" pitchFamily="34" charset="0"/>
            </a:endParaRPr>
          </a:p>
        </p:txBody>
      </p:sp>
      <p:sp>
        <p:nvSpPr>
          <p:cNvPr id="21" name="Text Box 23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 rot="16210621">
            <a:off x="7870729" y="2611802"/>
            <a:ext cx="6587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fr-FR" sz="1400" b="1" dirty="0">
                <a:cs typeface="Arial" pitchFamily="34" charset="0"/>
              </a:rPr>
              <a:t>Coûts</a:t>
            </a:r>
            <a:endParaRPr lang="en-CA" sz="1400" b="1" dirty="0">
              <a:cs typeface="Arial" pitchFamily="34" charset="0"/>
            </a:endParaRPr>
          </a:p>
        </p:txBody>
      </p:sp>
      <p:sp>
        <p:nvSpPr>
          <p:cNvPr id="22" name="Text Box 2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 rot="25968">
            <a:off x="10066199" y="5905209"/>
            <a:ext cx="14218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fr-FR" sz="1400" b="1" dirty="0">
                <a:cs typeface="Arial" pitchFamily="34" charset="0"/>
              </a:rPr>
              <a:t>Volume d’activité</a:t>
            </a:r>
            <a:endParaRPr lang="en-CA" sz="1400" b="1" dirty="0">
              <a:cs typeface="Arial" pitchFamily="34" charset="0"/>
            </a:endParaRPr>
          </a:p>
        </p:txBody>
      </p:sp>
      <p:sp>
        <p:nvSpPr>
          <p:cNvPr id="23" name="Text Box 25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9149842" y="5552642"/>
            <a:ext cx="3513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fr-CA" sz="1400" b="1" dirty="0">
                <a:cs typeface="Arial" pitchFamily="34" charset="0"/>
              </a:rPr>
              <a:t>x1</a:t>
            </a:r>
            <a:endParaRPr lang="en-CA" sz="1400" b="1" dirty="0">
              <a:cs typeface="Arial" pitchFamily="34" charset="0"/>
            </a:endParaRPr>
          </a:p>
        </p:txBody>
      </p:sp>
      <p:sp>
        <p:nvSpPr>
          <p:cNvPr id="24" name="Text Box 26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0064242" y="5541529"/>
            <a:ext cx="3513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fr-CA" sz="1400" b="1">
                <a:cs typeface="Arial" pitchFamily="34" charset="0"/>
              </a:rPr>
              <a:t>x2</a:t>
            </a:r>
            <a:endParaRPr lang="en-CA" sz="1400" b="1">
              <a:cs typeface="Arial" pitchFamily="34" charset="0"/>
            </a:endParaRPr>
          </a:p>
        </p:txBody>
      </p:sp>
      <p:sp>
        <p:nvSpPr>
          <p:cNvPr id="25" name="Text Box 27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8062389" y="5027179"/>
            <a:ext cx="3545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fr-CA" sz="1400" b="1">
                <a:cs typeface="Arial" pitchFamily="34" charset="0"/>
              </a:rPr>
              <a:t>y1</a:t>
            </a:r>
            <a:endParaRPr lang="en-CA" sz="1400" b="1">
              <a:cs typeface="Arial" pitchFamily="34" charset="0"/>
            </a:endParaRPr>
          </a:p>
        </p:txBody>
      </p:sp>
      <p:sp>
        <p:nvSpPr>
          <p:cNvPr id="26" name="Text Box 28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8062389" y="4246129"/>
            <a:ext cx="3545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fr-CA" sz="1400" b="1">
                <a:cs typeface="Arial" pitchFamily="34" charset="0"/>
              </a:rPr>
              <a:t>y2</a:t>
            </a:r>
            <a:endParaRPr lang="en-CA" sz="1400" b="1">
              <a:cs typeface="Arial" pitchFamily="34" charset="0"/>
            </a:endParaRPr>
          </a:p>
        </p:txBody>
      </p:sp>
      <p:sp>
        <p:nvSpPr>
          <p:cNvPr id="27" name="Text Box 29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8062389" y="3693679"/>
            <a:ext cx="3545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fr-CA" sz="1400" b="1" dirty="0">
                <a:cs typeface="Arial" pitchFamily="34" charset="0"/>
              </a:rPr>
              <a:t>y3</a:t>
            </a:r>
            <a:endParaRPr lang="en-CA" sz="1400" b="1" dirty="0">
              <a:cs typeface="Arial" pitchFamily="34" charset="0"/>
            </a:endParaRPr>
          </a:p>
        </p:txBody>
      </p:sp>
      <p:sp>
        <p:nvSpPr>
          <p:cNvPr id="10" name="Espace réservé du pied de page 1">
            <a:extLst>
              <a:ext uri="{FF2B5EF4-FFF2-40B4-BE49-F238E27FC236}">
                <a16:creationId xmlns:a16="http://schemas.microsoft.com/office/drawing/2014/main" id="{493C2978-B97C-B969-3CDE-BCB5E70AF28D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5079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fr-CA" sz="4000"/>
              <a:t>Les coûts fixes par palier</a:t>
            </a:r>
            <a:endParaRPr lang="en-CA" sz="400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fr-CA" sz="2400" b="1"/>
              <a:t>Explications</a:t>
            </a:r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half" idx="1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A" sz="2000" dirty="0">
                <a:solidFill>
                  <a:schemeClr val="dk1"/>
                </a:solidFill>
              </a:rPr>
              <a:t>Coût fixe = coût qui est insensible à la variation du volume</a:t>
            </a:r>
          </a:p>
          <a:p>
            <a:endParaRPr lang="fr-CA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CA" sz="2400" b="1"/>
              <a:t>Segment significatif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half" idx="16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fr-CA" sz="2000">
                <a:solidFill>
                  <a:schemeClr val="dk1"/>
                </a:solidFill>
              </a:rPr>
              <a:t>La notion de coûts fixes se conçoit à l’intérieur d’une zone établie: le segment significatif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fr-CA" sz="2400" b="1" dirty="0"/>
              <a:t>Courbe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485E680-AC08-40D9-BDC7-B2474281060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2" name="Group 23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7943788" y="2361744"/>
            <a:ext cx="3778373" cy="3666657"/>
            <a:chOff x="3368" y="1296"/>
            <a:chExt cx="2344" cy="2606"/>
          </a:xfrm>
          <a:noFill/>
        </p:grpSpPr>
        <p:sp>
          <p:nvSpPr>
            <p:cNvPr id="13" name="Rectangle 24"/>
            <p:cNvSpPr>
              <a:spLocks noChangeArrowheads="1"/>
            </p:cNvSpPr>
            <p:nvPr/>
          </p:nvSpPr>
          <p:spPr bwMode="auto">
            <a:xfrm>
              <a:off x="3368" y="1296"/>
              <a:ext cx="2344" cy="2584"/>
            </a:xfrm>
            <a:prstGeom prst="rect">
              <a:avLst/>
            </a:prstGeom>
            <a:grpFill/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endParaRPr lang="en-CA" sz="2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Line 25"/>
            <p:cNvSpPr>
              <a:spLocks noChangeShapeType="1"/>
            </p:cNvSpPr>
            <p:nvPr/>
          </p:nvSpPr>
          <p:spPr bwMode="auto">
            <a:xfrm flipV="1">
              <a:off x="3744" y="1488"/>
              <a:ext cx="0" cy="216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4276" y="1599"/>
              <a:ext cx="612" cy="185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90487" tIns="44450" rIns="90487" bIns="44450"/>
            <a:lstStyle/>
            <a:p>
              <a:pPr algn="ctr" eaLnBrk="0" hangingPunct="0">
                <a:defRPr/>
              </a:pPr>
              <a:r>
                <a:rPr lang="fr-FR" b="1" i="1">
                  <a:effectLst>
                    <a:outerShdw blurRad="38100" dist="38100" dir="2700000" algn="tl">
                      <a:srgbClr val="FFFFFF"/>
                    </a:outerShdw>
                  </a:effectLst>
                  <a:cs typeface="Arial" pitchFamily="34" charset="0"/>
                </a:rPr>
                <a:t>segment</a:t>
              </a:r>
            </a:p>
            <a:p>
              <a:pPr algn="ctr" eaLnBrk="0" hangingPunct="0">
                <a:defRPr/>
              </a:pPr>
              <a:r>
                <a:rPr lang="fr-FR" b="1" i="1">
                  <a:effectLst>
                    <a:outerShdw blurRad="38100" dist="38100" dir="2700000" algn="tl">
                      <a:srgbClr val="FFFFFF"/>
                    </a:outerShdw>
                  </a:effectLst>
                  <a:cs typeface="Arial" pitchFamily="34" charset="0"/>
                </a:rPr>
                <a:t>significatif</a:t>
              </a:r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>
              <a:off x="3752" y="3024"/>
              <a:ext cx="512" cy="0"/>
            </a:xfrm>
            <a:prstGeom prst="line">
              <a:avLst/>
            </a:prstGeom>
            <a:grp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auto">
            <a:xfrm>
              <a:off x="4280" y="2736"/>
              <a:ext cx="608" cy="0"/>
            </a:xfrm>
            <a:prstGeom prst="line">
              <a:avLst/>
            </a:prstGeom>
            <a:grp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>
              <a:off x="4888" y="2391"/>
              <a:ext cx="532" cy="3"/>
            </a:xfrm>
            <a:prstGeom prst="line">
              <a:avLst/>
            </a:prstGeom>
            <a:grp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 flipH="1">
              <a:off x="3744" y="2736"/>
              <a:ext cx="52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CA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Line 32"/>
            <p:cNvSpPr>
              <a:spLocks noChangeShapeType="1"/>
            </p:cNvSpPr>
            <p:nvPr/>
          </p:nvSpPr>
          <p:spPr bwMode="auto">
            <a:xfrm>
              <a:off x="4900" y="2736"/>
              <a:ext cx="520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CA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 Box 33"/>
            <p:cNvSpPr txBox="1">
              <a:spLocks noChangeArrowheads="1"/>
            </p:cNvSpPr>
            <p:nvPr/>
          </p:nvSpPr>
          <p:spPr bwMode="auto">
            <a:xfrm rot="16210621">
              <a:off x="3274" y="1632"/>
              <a:ext cx="639" cy="19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fr-FR" sz="1400" b="1">
                  <a:cs typeface="Arial" pitchFamily="34" charset="0"/>
                </a:rPr>
                <a:t>Coût total</a:t>
              </a:r>
              <a:endParaRPr lang="en-CA" sz="1400" b="1">
                <a:cs typeface="Arial" pitchFamily="34" charset="0"/>
              </a:endParaRPr>
            </a:p>
          </p:txBody>
        </p:sp>
        <p:sp>
          <p:nvSpPr>
            <p:cNvPr id="26" name="Text Box 34"/>
            <p:cNvSpPr txBox="1">
              <a:spLocks noChangeArrowheads="1"/>
            </p:cNvSpPr>
            <p:nvPr/>
          </p:nvSpPr>
          <p:spPr bwMode="auto">
            <a:xfrm rot="25968">
              <a:off x="4631" y="3683"/>
              <a:ext cx="882" cy="21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defRPr/>
              </a:pPr>
              <a:r>
                <a:rPr lang="fr-FR" sz="1400" b="1">
                  <a:cs typeface="Arial" pitchFamily="34" charset="0"/>
                </a:rPr>
                <a:t>Volume d’activité</a:t>
              </a:r>
              <a:endParaRPr lang="en-CA" sz="1400" b="1">
                <a:cs typeface="Arial" pitchFamily="34" charset="0"/>
              </a:endParaRPr>
            </a:p>
          </p:txBody>
        </p:sp>
        <p:sp>
          <p:nvSpPr>
            <p:cNvPr id="27" name="Text Box 35"/>
            <p:cNvSpPr txBox="1">
              <a:spLocks noChangeArrowheads="1"/>
            </p:cNvSpPr>
            <p:nvPr/>
          </p:nvSpPr>
          <p:spPr bwMode="auto">
            <a:xfrm>
              <a:off x="4193" y="3463"/>
              <a:ext cx="218" cy="21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fr-CA" sz="1400" b="1" dirty="0">
                  <a:cs typeface="Arial" pitchFamily="34" charset="0"/>
                </a:rPr>
                <a:t>x1</a:t>
              </a:r>
              <a:endParaRPr lang="en-CA" sz="1400" b="1" dirty="0">
                <a:cs typeface="Arial" pitchFamily="34" charset="0"/>
              </a:endParaRPr>
            </a:p>
          </p:txBody>
        </p:sp>
        <p:sp>
          <p:nvSpPr>
            <p:cNvPr id="28" name="Text Box 36"/>
            <p:cNvSpPr txBox="1">
              <a:spLocks noChangeArrowheads="1"/>
            </p:cNvSpPr>
            <p:nvPr/>
          </p:nvSpPr>
          <p:spPr bwMode="auto">
            <a:xfrm>
              <a:off x="4769" y="3456"/>
              <a:ext cx="218" cy="21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fr-CA" sz="1400" b="1" dirty="0">
                  <a:cs typeface="Arial" pitchFamily="34" charset="0"/>
                </a:rPr>
                <a:t>x2</a:t>
              </a:r>
              <a:endParaRPr lang="en-CA" sz="1400" b="1" dirty="0">
                <a:cs typeface="Arial" pitchFamily="34" charset="0"/>
              </a:endParaRPr>
            </a:p>
          </p:txBody>
        </p:sp>
        <p:sp>
          <p:nvSpPr>
            <p:cNvPr id="29" name="Text Box 37"/>
            <p:cNvSpPr txBox="1">
              <a:spLocks noChangeArrowheads="1"/>
            </p:cNvSpPr>
            <p:nvPr/>
          </p:nvSpPr>
          <p:spPr bwMode="auto">
            <a:xfrm>
              <a:off x="3508" y="2928"/>
              <a:ext cx="220" cy="21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fr-CA" sz="1400" b="1" dirty="0">
                  <a:cs typeface="Arial" pitchFamily="34" charset="0"/>
                </a:rPr>
                <a:t>y1</a:t>
              </a:r>
              <a:endParaRPr lang="en-CA" sz="1400" b="1" dirty="0">
                <a:cs typeface="Arial" pitchFamily="34" charset="0"/>
              </a:endParaRPr>
            </a:p>
          </p:txBody>
        </p:sp>
        <p:sp>
          <p:nvSpPr>
            <p:cNvPr id="30" name="Text Box 38"/>
            <p:cNvSpPr txBox="1">
              <a:spLocks noChangeArrowheads="1"/>
            </p:cNvSpPr>
            <p:nvPr/>
          </p:nvSpPr>
          <p:spPr bwMode="auto">
            <a:xfrm>
              <a:off x="3508" y="2640"/>
              <a:ext cx="220" cy="21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fr-CA" sz="1400" b="1">
                  <a:cs typeface="Arial" pitchFamily="34" charset="0"/>
                </a:rPr>
                <a:t>y2</a:t>
              </a:r>
              <a:endParaRPr lang="en-CA" sz="1400" b="1">
                <a:cs typeface="Arial" pitchFamily="34" charset="0"/>
              </a:endParaRPr>
            </a:p>
          </p:txBody>
        </p:sp>
        <p:sp>
          <p:nvSpPr>
            <p:cNvPr id="31" name="Text Box 39"/>
            <p:cNvSpPr txBox="1">
              <a:spLocks noChangeArrowheads="1"/>
            </p:cNvSpPr>
            <p:nvPr/>
          </p:nvSpPr>
          <p:spPr bwMode="auto">
            <a:xfrm>
              <a:off x="3508" y="2256"/>
              <a:ext cx="220" cy="21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fr-CA" sz="1400" b="1">
                  <a:cs typeface="Arial" pitchFamily="34" charset="0"/>
                </a:rPr>
                <a:t>y3</a:t>
              </a:r>
              <a:endParaRPr lang="en-CA" sz="1400" b="1">
                <a:cs typeface="Arial" pitchFamily="34" charset="0"/>
              </a:endParaRPr>
            </a:p>
          </p:txBody>
        </p:sp>
      </p:grpSp>
      <p:sp>
        <p:nvSpPr>
          <p:cNvPr id="32" name="Line 2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8319939" y="5400876"/>
            <a:ext cx="302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 b="1">
              <a:cs typeface="Arial" pitchFamily="34" charset="0"/>
            </a:endParaRPr>
          </a:p>
        </p:txBody>
      </p:sp>
      <p:sp>
        <p:nvSpPr>
          <p:cNvPr id="5" name="Espace réservé du pied de page 1">
            <a:extLst>
              <a:ext uri="{FF2B5EF4-FFF2-40B4-BE49-F238E27FC236}">
                <a16:creationId xmlns:a16="http://schemas.microsoft.com/office/drawing/2014/main" id="{09C38678-154D-B7C3-1F55-D90E0FD2F30D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7160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fr-CA" sz="4000" dirty="0"/>
              <a:t>Le coût total </a:t>
            </a:r>
          </a:p>
        </p:txBody>
      </p:sp>
      <p:sp>
        <p:nvSpPr>
          <p:cNvPr id="39942" name="Rectangle 8"/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CA" sz="2400" b="1"/>
              <a:t>Explications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half" idx="15"/>
            <p:custDataLst>
              <p:tags r:id="rId4"/>
            </p:custDataLst>
          </p:nvPr>
        </p:nvSpPr>
        <p:spPr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CA" sz="2000"/>
              <a:t>Coût total = Courbe</a:t>
            </a:r>
          </a:p>
          <a:p>
            <a:r>
              <a:rPr lang="fr-CA" sz="2000"/>
              <a:t>À l’intérieur d’un segment significatif, la courbe ressemble à une droite</a:t>
            </a:r>
          </a:p>
          <a:p>
            <a:r>
              <a:rPr lang="fr-CA" sz="2000"/>
              <a:t>Coût total = Coûts fixes + Coûts variables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fr-CA" sz="2400" b="1" dirty="0"/>
              <a:t>Segment significatif </a:t>
            </a:r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half" idx="16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fr-CA" sz="2000">
                <a:solidFill>
                  <a:schemeClr val="dk1"/>
                </a:solidFill>
              </a:rPr>
              <a:t>Zone où les volumes d’activités sont les plus susceptibles d’être observés au cours d’un exercice 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7943121" y="1446216"/>
            <a:ext cx="3401154" cy="925802"/>
          </a:xfr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CA" sz="2400" b="1"/>
              <a:t>Courbe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85F32C-8F20-4686-9B55-C641581B611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>
            <p:custDataLst>
              <p:tags r:id="rId9"/>
            </p:custDataLst>
          </p:nvPr>
        </p:nvSpPr>
        <p:spPr>
          <a:xfrm>
            <a:off x="7949546" y="2361744"/>
            <a:ext cx="3793032" cy="3673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0" name="Line 9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V="1">
            <a:off x="8769440" y="25908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639341" y="2740170"/>
            <a:ext cx="1054100" cy="28067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0487" tIns="44450" rIns="90487" bIns="44450"/>
          <a:lstStyle/>
          <a:p>
            <a:pPr algn="ctr" eaLnBrk="0" hangingPunct="0">
              <a:defRPr/>
            </a:pPr>
            <a:r>
              <a:rPr lang="fr-FR" b="1" dirty="0"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segment</a:t>
            </a:r>
          </a:p>
          <a:p>
            <a:pPr algn="ctr" eaLnBrk="0" hangingPunct="0">
              <a:defRPr/>
            </a:pPr>
            <a:r>
              <a:rPr lang="fr-FR" b="1" dirty="0">
                <a:effectLst>
                  <a:outerShdw blurRad="38100" dist="38100" dir="2700000" algn="tl">
                    <a:srgbClr val="FFFFFF"/>
                  </a:outerShdw>
                </a:effectLst>
                <a:cs typeface="Arial" pitchFamily="34" charset="0"/>
              </a:rPr>
              <a:t>significatif</a:t>
            </a:r>
          </a:p>
        </p:txBody>
      </p:sp>
      <p:sp>
        <p:nvSpPr>
          <p:cNvPr id="22" name="Line 11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8601517" y="5562600"/>
            <a:ext cx="294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CA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Arc 12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769440" y="4244191"/>
            <a:ext cx="1282700" cy="1282700"/>
          </a:xfrm>
          <a:custGeom>
            <a:avLst/>
            <a:gdLst>
              <a:gd name="T0" fmla="*/ 0 w 21600"/>
              <a:gd name="T1" fmla="*/ 1282700 h 21599"/>
              <a:gd name="T2" fmla="*/ 1281156 w 21600"/>
              <a:gd name="T3" fmla="*/ 0 h 21599"/>
              <a:gd name="T4" fmla="*/ 1282700 w 21600"/>
              <a:gd name="T5" fmla="*/ 1282700 h 21599"/>
              <a:gd name="T6" fmla="*/ 0 60000 65536"/>
              <a:gd name="T7" fmla="*/ 0 60000 65536"/>
              <a:gd name="T8" fmla="*/ 0 60000 65536"/>
              <a:gd name="T9" fmla="*/ 0 w 21600"/>
              <a:gd name="T10" fmla="*/ 0 h 21599"/>
              <a:gd name="T11" fmla="*/ 21600 w 21600"/>
              <a:gd name="T12" fmla="*/ 21599 h 215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599" fill="none" extrusionOk="0">
                <a:moveTo>
                  <a:pt x="0" y="21599"/>
                </a:moveTo>
                <a:cubicBezTo>
                  <a:pt x="0" y="9679"/>
                  <a:pt x="9654" y="13"/>
                  <a:pt x="21573" y="-1"/>
                </a:cubicBezTo>
              </a:path>
              <a:path w="21600" h="21599" stroke="0" extrusionOk="0">
                <a:moveTo>
                  <a:pt x="0" y="21599"/>
                </a:moveTo>
                <a:cubicBezTo>
                  <a:pt x="0" y="9679"/>
                  <a:pt x="9654" y="13"/>
                  <a:pt x="21573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38100" cap="rnd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Arc 13"/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052140" y="3037691"/>
            <a:ext cx="1206500" cy="1206500"/>
          </a:xfrm>
          <a:custGeom>
            <a:avLst/>
            <a:gdLst>
              <a:gd name="T0" fmla="*/ 1206500 w 21600"/>
              <a:gd name="T1" fmla="*/ 0 h 21600"/>
              <a:gd name="T2" fmla="*/ 0 w 21600"/>
              <a:gd name="T3" fmla="*/ 1206500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38100" cap="rnd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CA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Line 1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9645691" y="4033712"/>
            <a:ext cx="104140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CA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 rot="16104826">
            <a:off x="8065421" y="2867080"/>
            <a:ext cx="8984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fr-CA" sz="1400" b="1" dirty="0">
                <a:cs typeface="Arial" pitchFamily="34" charset="0"/>
              </a:rPr>
              <a:t>Coût total</a:t>
            </a:r>
            <a:endParaRPr lang="en-CA" sz="1400" b="1" dirty="0">
              <a:cs typeface="Arial" pitchFamily="34" charset="0"/>
            </a:endParaRPr>
          </a:p>
        </p:txBody>
      </p:sp>
      <p:sp>
        <p:nvSpPr>
          <p:cNvPr id="27" name="Text Box 16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0318727" y="5637311"/>
            <a:ext cx="14218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fr-CA" sz="1400" b="1">
                <a:cs typeface="Arial" pitchFamily="34" charset="0"/>
              </a:rPr>
              <a:t>Volume d’activité</a:t>
            </a:r>
            <a:endParaRPr lang="en-CA" sz="1400" b="1">
              <a:cs typeface="Arial" pitchFamily="34" charset="0"/>
            </a:endParaRPr>
          </a:p>
        </p:txBody>
      </p:sp>
      <p:sp>
        <p:nvSpPr>
          <p:cNvPr id="10" name="Espace réservé du pied de page 1">
            <a:extLst>
              <a:ext uri="{FF2B5EF4-FFF2-40B4-BE49-F238E27FC236}">
                <a16:creationId xmlns:a16="http://schemas.microsoft.com/office/drawing/2014/main" id="{81D3B6D1-B517-0AB1-932E-7BB67830BC10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9605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525548"/>
            <a:ext cx="10601130" cy="661045"/>
          </a:xfrm>
        </p:spPr>
        <p:txBody>
          <a:bodyPr>
            <a:noAutofit/>
          </a:bodyPr>
          <a:lstStyle/>
          <a:p>
            <a:r>
              <a:rPr lang="fr-CA" sz="4000" dirty="0"/>
              <a:t>Le coût total (à l’intérieur d’un segment significatif)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B34BCC6B-AEDB-43BF-A73E-1C21B68D3811}"/>
              </a:ext>
            </a:extLst>
          </p:cNvPr>
          <p:cNvPicPr>
            <a:picLocks noGrp="1"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317290" y="3789242"/>
            <a:ext cx="3874710" cy="2331487"/>
          </a:xfrm>
          <a:prstGeom prst="rect">
            <a:avLst/>
          </a:prstGeom>
        </p:spPr>
      </p:pic>
      <p:graphicFrame>
        <p:nvGraphicFramePr>
          <p:cNvPr id="7" name="Espace réservé du contenu 6"/>
          <p:cNvGraphicFramePr>
            <a:graphicFrameLocks noGrp="1"/>
          </p:cNvGraphicFramePr>
          <p:nvPr>
            <p:ph sz="half" idx="2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4588873"/>
              </p:ext>
            </p:extLst>
          </p:nvPr>
        </p:nvGraphicFramePr>
        <p:xfrm>
          <a:off x="1972318" y="1363676"/>
          <a:ext cx="7328436" cy="2052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9B76A0-4313-4A1D-90F4-151F4895434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702085D-80FC-4D6F-8E03-C658624C989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513919" y="3789242"/>
            <a:ext cx="3164162" cy="2331487"/>
          </a:xfrm>
          <a:prstGeom prst="rect">
            <a:avLst/>
          </a:prstGeom>
        </p:spPr>
      </p:pic>
      <p:pic>
        <p:nvPicPr>
          <p:cNvPr id="14" name="Image 14">
            <a:extLst>
              <a:ext uri="{FF2B5EF4-FFF2-40B4-BE49-F238E27FC236}">
                <a16:creationId xmlns:a16="http://schemas.microsoft.com/office/drawing/2014/main" id="{D09A59AC-7731-4819-A5F8-F82A420A8D0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34380" y="3645972"/>
            <a:ext cx="4367349" cy="24747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284DDA-2962-48DA-8E29-24C6F731CE3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686033" y="1986414"/>
            <a:ext cx="2283587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Y = coût total</a:t>
            </a:r>
            <a:endParaRPr lang="fr-CA" dirty="0">
              <a:solidFill>
                <a:srgbClr val="0070C0"/>
              </a:solidFill>
            </a:endParaRPr>
          </a:p>
          <a:p>
            <a:r>
              <a:rPr lang="fr-CA" sz="1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 = coûts fixes</a:t>
            </a:r>
          </a:p>
          <a:p>
            <a:r>
              <a:rPr lang="fr-CA" sz="16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 = coûts variables</a:t>
            </a:r>
          </a:p>
          <a:p>
            <a:r>
              <a:rPr lang="fr-CA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 = volume d’activité</a:t>
            </a:r>
          </a:p>
        </p:txBody>
      </p: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344C023D-FCF1-72DD-86C0-18FBDDF2462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7390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fr-FR" sz="4000"/>
              <a:t>Les notions fondamentales – Définitions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467851"/>
            <a:ext cx="5471160" cy="4709112"/>
          </a:xfrm>
        </p:spPr>
        <p:txBody>
          <a:bodyPr>
            <a:normAutofit fontScale="92500" lnSpcReduction="10000"/>
          </a:bodyPr>
          <a:lstStyle/>
          <a:p>
            <a:pPr lvl="0" rtl="0"/>
            <a:r>
              <a:rPr lang="fr-FR" dirty="0">
                <a:solidFill>
                  <a:schemeClr val="tx1"/>
                </a:solidFill>
              </a:rPr>
              <a:t>Coût total</a:t>
            </a:r>
            <a:endParaRPr lang="fr-CA" dirty="0">
              <a:solidFill>
                <a:schemeClr val="tx1"/>
              </a:solidFill>
            </a:endParaRPr>
          </a:p>
          <a:p>
            <a:pPr lvl="1" rtl="0"/>
            <a:r>
              <a:rPr lang="fr-FR" sz="2800" dirty="0"/>
              <a:t>Somme des coûts de toutes les ressources consommées par un objet de coût</a:t>
            </a:r>
          </a:p>
          <a:p>
            <a:pPr lvl="2"/>
            <a:r>
              <a:rPr lang="fr-FR" sz="2400" dirty="0"/>
              <a:t>Exemples: projet, département, activités, produit, service, etc.</a:t>
            </a:r>
            <a:endParaRPr lang="fr-CA" sz="2400" dirty="0"/>
          </a:p>
          <a:p>
            <a:pPr lvl="0" rtl="0"/>
            <a:r>
              <a:rPr lang="fr-FR" dirty="0">
                <a:solidFill>
                  <a:schemeClr val="tx1"/>
                </a:solidFill>
              </a:rPr>
              <a:t>Coût moyen</a:t>
            </a:r>
            <a:endParaRPr lang="fr-CA" dirty="0">
              <a:solidFill>
                <a:schemeClr val="tx1"/>
              </a:solidFill>
            </a:endParaRPr>
          </a:p>
          <a:p>
            <a:pPr lvl="1" rtl="0"/>
            <a:r>
              <a:rPr lang="fr-FR" sz="2800" dirty="0"/>
              <a:t>Coût total d’un ensemble divisé par le nombre d’unités que comprend cet ensemble</a:t>
            </a:r>
            <a:endParaRPr lang="fr-CA" sz="2800" dirty="0"/>
          </a:p>
          <a:p>
            <a:pPr lvl="0" rtl="0"/>
            <a:r>
              <a:rPr lang="fr-FR" dirty="0">
                <a:solidFill>
                  <a:schemeClr val="tx1"/>
                </a:solidFill>
              </a:rPr>
              <a:t>Coût marginal</a:t>
            </a:r>
            <a:endParaRPr lang="fr-CA" dirty="0">
              <a:solidFill>
                <a:schemeClr val="tx1"/>
              </a:solidFill>
            </a:endParaRPr>
          </a:p>
          <a:p>
            <a:pPr lvl="1" rtl="0"/>
            <a:r>
              <a:rPr lang="fr-FR" sz="2800" dirty="0"/>
              <a:t>Coût des ressources consommées par la dernière unité produite</a:t>
            </a:r>
            <a:endParaRPr lang="fr-CA" sz="28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BA1B7F6-65BE-4185-B3EF-490FFC4DED3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" name="Groupe 1"/>
          <p:cNvGrpSpPr/>
          <p:nvPr>
            <p:custDataLst>
              <p:tags r:id="rId5"/>
            </p:custDataLst>
          </p:nvPr>
        </p:nvGrpSpPr>
        <p:grpSpPr>
          <a:xfrm flipH="1">
            <a:off x="139172" y="3429000"/>
            <a:ext cx="924422" cy="2663792"/>
            <a:chOff x="10156496" y="3465874"/>
            <a:chExt cx="903930" cy="2376264"/>
          </a:xfrm>
        </p:grpSpPr>
        <p:sp>
          <p:nvSpPr>
            <p:cNvPr id="19463" name="AutoShape 4"/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10156496" y="3465874"/>
              <a:ext cx="504032" cy="2376264"/>
            </a:xfrm>
            <a:prstGeom prst="rightBrace">
              <a:avLst>
                <a:gd name="adj1" fmla="val 42251"/>
                <a:gd name="adj2" fmla="val 49480"/>
              </a:avLst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64" name="Text Box 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 rot="5400000">
              <a:off x="10043772" y="4340721"/>
              <a:ext cx="1672163" cy="361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CA" dirty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Coût unitaire</a:t>
              </a:r>
            </a:p>
          </p:txBody>
        </p:sp>
      </p:grpSp>
      <p:graphicFrame>
        <p:nvGraphicFramePr>
          <p:cNvPr id="11" name="Espace réservé du tableau 4">
            <a:extLst>
              <a:ext uri="{FF2B5EF4-FFF2-40B4-BE49-F238E27FC236}">
                <a16:creationId xmlns:a16="http://schemas.microsoft.com/office/drawing/2014/main" id="{589C8E4F-3454-4565-8214-5873449CE404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</p:nvPr>
        </p:nvGraphicFramePr>
        <p:xfrm>
          <a:off x="6649103" y="1736705"/>
          <a:ext cx="4704697" cy="4422046"/>
        </p:xfrm>
        <a:graphic>
          <a:graphicData uri="http://schemas.openxmlformats.org/drawingml/2006/table">
            <a:tbl>
              <a:tblPr bandRow="1">
                <a:tableStyleId>{793D81CF-94F2-401A-BA57-92F5A7B2D0C5}</a:tableStyleId>
              </a:tblPr>
              <a:tblGrid>
                <a:gridCol w="1208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 rowSpan="2"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Nb </a:t>
                      </a:r>
                    </a:p>
                    <a:p>
                      <a:pPr algn="ctr"/>
                      <a:r>
                        <a:rPr lang="fr-CA" sz="2000" dirty="0"/>
                        <a:t>d’unités</a:t>
                      </a:r>
                      <a:endParaRPr lang="fr-CA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101788" marR="101788" anchor="b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CA" sz="2000"/>
                        <a:t>Coût</a:t>
                      </a:r>
                      <a:endParaRPr lang="fr-CA" sz="2000">
                        <a:solidFill>
                          <a:schemeClr val="tx1"/>
                        </a:solidFill>
                      </a:endParaRPr>
                    </a:p>
                  </a:txBody>
                  <a:tcPr marL="101788" marR="101788" anchor="ctr"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963">
                <a:tc vMerge="1">
                  <a:txBody>
                    <a:bodyPr/>
                    <a:lstStyle/>
                    <a:p>
                      <a:pPr algn="ctr"/>
                      <a:endParaRPr lang="fr-CA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kern="1200"/>
                        <a:t>Total ($)</a:t>
                      </a:r>
                      <a:endParaRPr lang="fr-CA" sz="2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788" marR="101788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kern="1200" dirty="0"/>
                        <a:t>Moyen ($)</a:t>
                      </a:r>
                      <a:endParaRPr lang="fr-CA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788" marR="101788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kern="1200" dirty="0"/>
                        <a:t>Marginal ($)</a:t>
                      </a:r>
                      <a:endParaRPr lang="fr-CA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788" marR="101788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CA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5 000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CA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800 000 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CA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CA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101788" marR="1017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703"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5 001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800 050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159,98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50</a:t>
                      </a:r>
                    </a:p>
                  </a:txBody>
                  <a:tcPr marL="101788" marR="1017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954"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5 002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800 100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159,96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50</a:t>
                      </a:r>
                    </a:p>
                  </a:txBody>
                  <a:tcPr marL="101788" marR="101788" anchor="ctr"/>
                </a:tc>
                <a:extLst>
                  <a:ext uri="{0D108BD9-81ED-4DB2-BD59-A6C34878D82A}">
                    <a16:rowId xmlns:a16="http://schemas.microsoft.com/office/drawing/2014/main" val="3104786393"/>
                  </a:ext>
                </a:extLst>
              </a:tr>
              <a:tr h="545703"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5 003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800 150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159,93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50</a:t>
                      </a:r>
                    </a:p>
                  </a:txBody>
                  <a:tcPr marL="101788" marR="101788" anchor="ctr"/>
                </a:tc>
                <a:extLst>
                  <a:ext uri="{0D108BD9-81ED-4DB2-BD59-A6C34878D82A}">
                    <a16:rowId xmlns:a16="http://schemas.microsoft.com/office/drawing/2014/main" val="419591752"/>
                  </a:ext>
                </a:extLst>
              </a:tr>
              <a:tr h="545703"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5 004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800 200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159,91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50</a:t>
                      </a:r>
                    </a:p>
                  </a:txBody>
                  <a:tcPr marL="101788" marR="101788" anchor="ctr"/>
                </a:tc>
                <a:extLst>
                  <a:ext uri="{0D108BD9-81ED-4DB2-BD59-A6C34878D82A}">
                    <a16:rowId xmlns:a16="http://schemas.microsoft.com/office/drawing/2014/main" val="2383828983"/>
                  </a:ext>
                </a:extLst>
              </a:tr>
              <a:tr h="545703"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5 005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810 250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161,89</a:t>
                      </a:r>
                    </a:p>
                  </a:txBody>
                  <a:tcPr marL="101788" marR="1017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10 050</a:t>
                      </a:r>
                    </a:p>
                  </a:txBody>
                  <a:tcPr marL="101788" marR="101788" anchor="ctr"/>
                </a:tc>
                <a:extLst>
                  <a:ext uri="{0D108BD9-81ED-4DB2-BD59-A6C34878D82A}">
                    <a16:rowId xmlns:a16="http://schemas.microsoft.com/office/drawing/2014/main" val="1992987686"/>
                  </a:ext>
                </a:extLst>
              </a:tr>
            </a:tbl>
          </a:graphicData>
        </a:graphic>
      </p:graphicFrame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4C68D612-037F-6AD6-A737-A59CF8A54B8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055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5D56961-DA00-47AB-BB1E-FDD9EA7BCD9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703136" y="75775"/>
            <a:ext cx="2001339" cy="1125023"/>
          </a:xfrm>
          <a:prstGeom prst="rect">
            <a:avLst/>
          </a:prstGeom>
        </p:spPr>
      </p:pic>
      <p:sp>
        <p:nvSpPr>
          <p:cNvPr id="10" name="Titre 3">
            <a:extLst>
              <a:ext uri="{FF2B5EF4-FFF2-40B4-BE49-F238E27FC236}">
                <a16:creationId xmlns:a16="http://schemas.microsoft.com/office/drawing/2014/main" id="{0A9BE838-FD72-461E-A79D-A1407673CB9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160589"/>
            <a:ext cx="8671525" cy="1042570"/>
          </a:xfrm>
        </p:spPr>
        <p:txBody>
          <a:bodyPr>
            <a:normAutofit fontScale="90000"/>
          </a:bodyPr>
          <a:lstStyle/>
          <a:p>
            <a:r>
              <a:rPr lang="fr-CA"/>
              <a:t>Illustration – Comportement des coûts </a:t>
            </a:r>
            <a:br>
              <a:rPr lang="fr-CA"/>
            </a:br>
            <a:r>
              <a:rPr lang="fr-CA" sz="3100"/>
              <a:t>(à l’intérieur d’un segment significatif) </a:t>
            </a:r>
            <a:r>
              <a:rPr lang="fr-CA"/>
              <a:t>(1) 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B4EA5F1-6B2B-47A0-9A95-92FE76FAA9C2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467851"/>
            <a:ext cx="8156510" cy="4709112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Compte tenu de l’information ci-dessous, de combien augmentera le résultat d’exploitation si 100 passagers supplémentaires prennent l’avion?  </a:t>
            </a:r>
          </a:p>
          <a:p>
            <a:pPr marL="0" indent="0">
              <a:buNone/>
            </a:pPr>
            <a:r>
              <a:rPr lang="fr-CA" dirty="0"/>
              <a:t>(on suppose que le prix de vente est constant)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89F8D9-5B29-48D7-8C0F-5DADE058A21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3BB89C55-3CBC-476F-B824-C05CD1C98BEE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108096713"/>
              </p:ext>
            </p:extLst>
          </p:nvPr>
        </p:nvGraphicFramePr>
        <p:xfrm>
          <a:off x="940762" y="3559628"/>
          <a:ext cx="5795043" cy="1584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73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9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278">
                <a:tc gridSpan="3"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Analyse de profitabilité pour 100 passagers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 sz="2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278">
                <a:tc>
                  <a:txBody>
                    <a:bodyPr/>
                    <a:lstStyle/>
                    <a:p>
                      <a:endParaRPr lang="fr-CA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unitaire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78">
                <a:tc>
                  <a:txBody>
                    <a:bodyPr/>
                    <a:lstStyle/>
                    <a:p>
                      <a:r>
                        <a:rPr lang="fr-CA" sz="2000"/>
                        <a:t>Prix du billet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730 $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73 000 $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fr-CA" sz="2000" dirty="0"/>
                        <a:t>Coût moyen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530 $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53 000 $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DA3D4723-0FD9-466F-B147-B6AB3601EBC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509725" y="1618861"/>
            <a:ext cx="2194750" cy="1237595"/>
          </a:xfrm>
          <a:prstGeom prst="rect">
            <a:avLst/>
          </a:prstGeom>
        </p:spPr>
      </p:pic>
      <p:sp>
        <p:nvSpPr>
          <p:cNvPr id="12" name="TPAnswers">
            <a:extLst>
              <a:ext uri="{FF2B5EF4-FFF2-40B4-BE49-F238E27FC236}">
                <a16:creationId xmlns:a16="http://schemas.microsoft.com/office/drawing/2014/main" id="{4C6EE262-9638-4D16-9E71-6FDDFDBD2A3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063272" y="3429000"/>
            <a:ext cx="4973217" cy="26163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200"/>
              <a:t>Choix de réponses: 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fr-CA" sz="2200"/>
              <a:t>20 000 $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fr-CA" sz="2200"/>
              <a:t>73 000 $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fr-CA" sz="2200"/>
              <a:t>93 000 $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fr-CA" sz="2200"/>
              <a:t>Nous ne disposons pas de  l’information nécessaire pour répondre à cette question.</a:t>
            </a:r>
          </a:p>
        </p:txBody>
      </p: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503511FA-8BAB-B34C-B896-E90BE35F1268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5350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5D56961-DA00-47AB-BB1E-FDD9EA7BCD9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751148" y="0"/>
            <a:ext cx="2001339" cy="1125023"/>
          </a:xfrm>
          <a:prstGeom prst="rect">
            <a:avLst/>
          </a:prstGeom>
        </p:spPr>
      </p:pic>
      <p:sp>
        <p:nvSpPr>
          <p:cNvPr id="9" name="Titre 3">
            <a:extLst>
              <a:ext uri="{FF2B5EF4-FFF2-40B4-BE49-F238E27FC236}">
                <a16:creationId xmlns:a16="http://schemas.microsoft.com/office/drawing/2014/main" id="{806362A7-DF13-4EDB-8448-56769FFA026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160589"/>
            <a:ext cx="8671525" cy="1042570"/>
          </a:xfrm>
        </p:spPr>
        <p:txBody>
          <a:bodyPr>
            <a:normAutofit fontScale="90000"/>
          </a:bodyPr>
          <a:lstStyle/>
          <a:p>
            <a:r>
              <a:rPr lang="fr-CA" dirty="0"/>
              <a:t>Illustration – Comportement des coûts </a:t>
            </a:r>
            <a:br>
              <a:rPr lang="fr-CA" dirty="0"/>
            </a:br>
            <a:r>
              <a:rPr lang="fr-CA" sz="3100" dirty="0"/>
              <a:t>(à l’intérieur d’un segment significatif) </a:t>
            </a:r>
            <a:r>
              <a:rPr lang="fr-CA" dirty="0"/>
              <a:t>(2) 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B4EA5F1-6B2B-47A0-9A95-92FE76FAA9C2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467851"/>
            <a:ext cx="8156510" cy="4709112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Compte tenu de l’information ci-dessous, de combien augmentera le résultat d’exploitation si 100 passagers supplémentaires prennent l’avion?  </a:t>
            </a:r>
          </a:p>
          <a:p>
            <a:pPr marL="0" indent="0">
              <a:buNone/>
            </a:pPr>
            <a:r>
              <a:rPr lang="fr-CA" dirty="0"/>
              <a:t>(on suppose que le prix de vente est constant)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66E7BE-1938-4B14-83F9-9892C61BD26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A3D4723-0FD9-466F-B147-B6AB3601EBC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509725" y="1618861"/>
            <a:ext cx="2194750" cy="1237595"/>
          </a:xfrm>
          <a:prstGeom prst="rect">
            <a:avLst/>
          </a:prstGeom>
        </p:spPr>
      </p:pic>
      <p:sp>
        <p:nvSpPr>
          <p:cNvPr id="12" name="TPAnswers">
            <a:extLst>
              <a:ext uri="{FF2B5EF4-FFF2-40B4-BE49-F238E27FC236}">
                <a16:creationId xmlns:a16="http://schemas.microsoft.com/office/drawing/2014/main" id="{4C6EE262-9638-4D16-9E71-6FDDFDBD2A3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7465807" y="3429000"/>
            <a:ext cx="4570682" cy="26163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200"/>
              <a:t>Choix de réponses: 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fr-CA" sz="2200"/>
              <a:t>40 000 $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fr-CA" sz="2200"/>
              <a:t>70 000 $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fr-CA" sz="2200"/>
              <a:t>90 000 $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fr-CA" sz="2200"/>
              <a:t>Nous ne disposons pas de  l’information nécessaire pour répondre à cette question.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CC0F101C-B604-4A57-A1DF-A43555603A54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753294630"/>
              </p:ext>
            </p:extLst>
          </p:nvPr>
        </p:nvGraphicFramePr>
        <p:xfrm>
          <a:off x="838200" y="3429000"/>
          <a:ext cx="6228033" cy="230482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944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965">
                <a:tc gridSpan="3">
                  <a:txBody>
                    <a:bodyPr/>
                    <a:lstStyle/>
                    <a:p>
                      <a:pPr algn="ctr"/>
                      <a:r>
                        <a:rPr lang="fr-CA" sz="2200" dirty="0"/>
                        <a:t>Analyse de profitabilité pour 100 passagers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 sz="2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965">
                <a:tc>
                  <a:txBody>
                    <a:bodyPr/>
                    <a:lstStyle/>
                    <a:p>
                      <a:endParaRPr lang="fr-CA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200" dirty="0"/>
                        <a:t>unitaire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20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965">
                <a:tc>
                  <a:txBody>
                    <a:bodyPr/>
                    <a:lstStyle/>
                    <a:p>
                      <a:r>
                        <a:rPr lang="fr-CA" sz="2200"/>
                        <a:t>Prix du billet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200" dirty="0"/>
                        <a:t>730 $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200" dirty="0"/>
                        <a:t>73 000 $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965">
                <a:tc>
                  <a:txBody>
                    <a:bodyPr/>
                    <a:lstStyle/>
                    <a:p>
                      <a:r>
                        <a:rPr lang="fr-CA" sz="2200"/>
                        <a:t>Coûts fixes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200" dirty="0"/>
                        <a:t>500 $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200" dirty="0"/>
                        <a:t>50 000 $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965">
                <a:tc>
                  <a:txBody>
                    <a:bodyPr/>
                    <a:lstStyle/>
                    <a:p>
                      <a:r>
                        <a:rPr lang="fr-CA" sz="2200"/>
                        <a:t>Coûts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200" dirty="0"/>
                        <a:t>30 $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200" dirty="0"/>
                        <a:t>3 000 $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477303"/>
                  </a:ext>
                </a:extLst>
              </a:tr>
            </a:tbl>
          </a:graphicData>
        </a:graphic>
      </p:graphicFrame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09504256-4CE0-EF7B-8EA8-BF3C87FC5AE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230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6CE1D2-B874-44CC-AAE4-0099FA6D7DE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fr-CA" sz="3200" dirty="0"/>
              <a:t>La variabilité des coûts à l’intérieur d’un segment significatif - </a:t>
            </a:r>
            <a:br>
              <a:rPr lang="fr-CA" sz="3200" dirty="0"/>
            </a:br>
            <a:r>
              <a:rPr lang="fr-CA" sz="3200" dirty="0"/>
              <a:t>Illustration - Les coûts par passager dans mon avion…</a:t>
            </a:r>
          </a:p>
        </p:txBody>
      </p:sp>
      <p:graphicFrame>
        <p:nvGraphicFramePr>
          <p:cNvPr id="14" name="Espace réservé du contenu 5">
            <a:extLst>
              <a:ext uri="{FF2B5EF4-FFF2-40B4-BE49-F238E27FC236}">
                <a16:creationId xmlns:a16="http://schemas.microsoft.com/office/drawing/2014/main" id="{67BEFA46-AFC6-46CA-A43D-506476EFB93E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671384"/>
              </p:ext>
            </p:extLst>
          </p:nvPr>
        </p:nvGraphicFramePr>
        <p:xfrm>
          <a:off x="323701" y="3138533"/>
          <a:ext cx="1608403" cy="1432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5776F4-7BB2-4578-9A8C-335CB571F7C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texte 1">
            <a:extLst>
              <a:ext uri="{FF2B5EF4-FFF2-40B4-BE49-F238E27FC236}">
                <a16:creationId xmlns:a16="http://schemas.microsoft.com/office/drawing/2014/main" id="{A843DEB6-6376-480E-BB40-6BA33FC93D1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651653" y="1441613"/>
            <a:ext cx="8379799" cy="1163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400" dirty="0"/>
              <a:t>Actuellement il y a 100 passagers dans l’avion. Si le nombre de passagers augmente à 200. </a:t>
            </a:r>
          </a:p>
          <a:p>
            <a:pPr marL="0" indent="0">
              <a:buNone/>
            </a:pPr>
            <a:r>
              <a:rPr lang="fr-CA" sz="2400" dirty="0"/>
              <a:t>53 000 $ (y) = 50 000 $ (a) + (30 $(100 passagers)) (</a:t>
            </a:r>
            <a:r>
              <a:rPr lang="fr-CA" sz="2400" dirty="0" err="1"/>
              <a:t>bx</a:t>
            </a:r>
            <a:r>
              <a:rPr lang="fr-CA" sz="2400" dirty="0"/>
              <a:t>)</a:t>
            </a:r>
          </a:p>
          <a:p>
            <a:pPr marL="0" indent="0">
              <a:buNone/>
            </a:pPr>
            <a:endParaRPr lang="fr-CA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dirty="0"/>
          </a:p>
        </p:txBody>
      </p:sp>
      <p:graphicFrame>
        <p:nvGraphicFramePr>
          <p:cNvPr id="19" name="Graphique 18">
            <a:extLst>
              <a:ext uri="{FF2B5EF4-FFF2-40B4-BE49-F238E27FC236}">
                <a16:creationId xmlns:a16="http://schemas.microsoft.com/office/drawing/2014/main" id="{D85403D7-4496-4573-B979-AC491FF1C176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35349447"/>
              </p:ext>
            </p:extLst>
          </p:nvPr>
        </p:nvGraphicFramePr>
        <p:xfrm>
          <a:off x="296447" y="1703979"/>
          <a:ext cx="1623934" cy="1299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8" name="Espace réservé du contenu 22">
            <a:extLst>
              <a:ext uri="{FF2B5EF4-FFF2-40B4-BE49-F238E27FC236}">
                <a16:creationId xmlns:a16="http://schemas.microsoft.com/office/drawing/2014/main" id="{A0A11083-69E6-2A63-B807-61D82B40ED21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843029986"/>
              </p:ext>
            </p:extLst>
          </p:nvPr>
        </p:nvGraphicFramePr>
        <p:xfrm>
          <a:off x="287117" y="4705852"/>
          <a:ext cx="1623934" cy="1299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28E7E46-1018-3138-32C5-111FE637A303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6904206"/>
              </p:ext>
            </p:extLst>
          </p:nvPr>
        </p:nvGraphicFramePr>
        <p:xfrm>
          <a:off x="2565897" y="2843250"/>
          <a:ext cx="9075117" cy="347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90134">
                  <a:extLst>
                    <a:ext uri="{9D8B030D-6E8A-4147-A177-3AD203B41FA5}">
                      <a16:colId xmlns:a16="http://schemas.microsoft.com/office/drawing/2014/main" val="2501487847"/>
                    </a:ext>
                  </a:extLst>
                </a:gridCol>
                <a:gridCol w="3001107">
                  <a:extLst>
                    <a:ext uri="{9D8B030D-6E8A-4147-A177-3AD203B41FA5}">
                      <a16:colId xmlns:a16="http://schemas.microsoft.com/office/drawing/2014/main" val="82358872"/>
                    </a:ext>
                  </a:extLst>
                </a:gridCol>
                <a:gridCol w="2883876">
                  <a:extLst>
                    <a:ext uri="{9D8B030D-6E8A-4147-A177-3AD203B41FA5}">
                      <a16:colId xmlns:a16="http://schemas.microsoft.com/office/drawing/2014/main" val="859129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100 passagers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/>
                        <a:t>200 passagers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446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0" dirty="0">
                          <a:solidFill>
                            <a:schemeClr val="tx1"/>
                          </a:solidFill>
                        </a:rPr>
                        <a:t>Quel est le </a:t>
                      </a:r>
                      <a:r>
                        <a:rPr lang="fr-CA" sz="1800" b="1" u="sng" dirty="0">
                          <a:solidFill>
                            <a:schemeClr val="tx1"/>
                          </a:solidFill>
                        </a:rPr>
                        <a:t>coût fixe </a:t>
                      </a:r>
                      <a:r>
                        <a:rPr lang="fr-CA" sz="1800" b="0" dirty="0">
                          <a:solidFill>
                            <a:schemeClr val="tx1"/>
                          </a:solidFill>
                        </a:rPr>
                        <a:t>total ? </a:t>
                      </a:r>
                    </a:p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530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0" dirty="0">
                          <a:solidFill>
                            <a:schemeClr val="tx1"/>
                          </a:solidFill>
                        </a:rPr>
                        <a:t>Quel est le </a:t>
                      </a:r>
                      <a:r>
                        <a:rPr lang="fr-CA" sz="1800" b="1" u="sng" dirty="0">
                          <a:solidFill>
                            <a:schemeClr val="tx1"/>
                          </a:solidFill>
                        </a:rPr>
                        <a:t>coût fixe </a:t>
                      </a:r>
                      <a:r>
                        <a:rPr lang="fr-CA" sz="1800" b="0" dirty="0">
                          <a:solidFill>
                            <a:schemeClr val="tx1"/>
                          </a:solidFill>
                        </a:rPr>
                        <a:t>unitaire?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8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719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0" dirty="0">
                          <a:solidFill>
                            <a:schemeClr val="tx1"/>
                          </a:solidFill>
                        </a:rPr>
                        <a:t>Quel est le </a:t>
                      </a:r>
                      <a:r>
                        <a:rPr lang="fr-CA" sz="1800" b="1" u="sng" dirty="0">
                          <a:solidFill>
                            <a:schemeClr val="tx1"/>
                          </a:solidFill>
                        </a:rPr>
                        <a:t>coût variable unitaire</a:t>
                      </a:r>
                      <a:r>
                        <a:rPr lang="fr-CA" sz="1800" b="0" dirty="0">
                          <a:solidFill>
                            <a:schemeClr val="tx1"/>
                          </a:solidFill>
                        </a:rPr>
                        <a:t> ?</a:t>
                      </a:r>
                      <a:endParaRPr lang="fr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3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0" dirty="0">
                          <a:solidFill>
                            <a:schemeClr val="tx1"/>
                          </a:solidFill>
                        </a:rPr>
                        <a:t>Quel est le coût </a:t>
                      </a:r>
                      <a:r>
                        <a:rPr lang="fr-CA" sz="1800" b="1" u="sng" dirty="0">
                          <a:solidFill>
                            <a:schemeClr val="tx1"/>
                          </a:solidFill>
                        </a:rPr>
                        <a:t>variable total </a:t>
                      </a:r>
                      <a:r>
                        <a:rPr lang="fr-CA" sz="18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8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489943"/>
                  </a:ext>
                </a:extLst>
              </a:tr>
            </a:tbl>
          </a:graphicData>
        </a:graphic>
      </p:graphicFrame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26A4213B-BB5B-7F37-6824-CC7F4872A46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073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sz="3200" dirty="0"/>
              <a:t>Coûts variables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38213" y="2250834"/>
            <a:ext cx="9428412" cy="1355396"/>
          </a:xfrm>
        </p:spPr>
        <p:txBody>
          <a:bodyPr>
            <a:normAutofit/>
          </a:bodyPr>
          <a:lstStyle/>
          <a:p>
            <a:r>
              <a:rPr lang="fr-CA" sz="3200" dirty="0"/>
              <a:t>Coût variable </a:t>
            </a:r>
            <a:r>
              <a:rPr lang="fr-CA" sz="3200" u="sng" dirty="0"/>
              <a:t>total</a:t>
            </a:r>
            <a:r>
              <a:rPr lang="fr-CA" sz="3200" dirty="0"/>
              <a:t> varie selon le volume d’activité</a:t>
            </a:r>
          </a:p>
          <a:p>
            <a:r>
              <a:rPr lang="fr-CA" sz="3200" dirty="0"/>
              <a:t>Coût variable </a:t>
            </a:r>
            <a:r>
              <a:rPr lang="fr-CA" sz="3200" u="sng" dirty="0"/>
              <a:t>unitaire</a:t>
            </a:r>
            <a:r>
              <a:rPr lang="fr-CA" sz="3200" dirty="0"/>
              <a:t> est constant </a:t>
            </a:r>
          </a:p>
          <a:p>
            <a:endParaRPr lang="fr-CA" sz="3200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938213" y="3860171"/>
            <a:ext cx="5183188" cy="652064"/>
          </a:xfrm>
        </p:spPr>
        <p:txBody>
          <a:bodyPr>
            <a:normAutofit/>
          </a:bodyPr>
          <a:lstStyle/>
          <a:p>
            <a:r>
              <a:rPr lang="fr-CA" sz="3200"/>
              <a:t>Coûts fixes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938213" y="4552241"/>
            <a:ext cx="9829104" cy="1685103"/>
          </a:xfrm>
        </p:spPr>
        <p:txBody>
          <a:bodyPr/>
          <a:lstStyle/>
          <a:p>
            <a:r>
              <a:rPr lang="fr-CA" sz="3200" dirty="0"/>
              <a:t>Coût fixe </a:t>
            </a:r>
            <a:r>
              <a:rPr lang="fr-CA" sz="3200" u="sng" dirty="0"/>
              <a:t>total</a:t>
            </a:r>
            <a:r>
              <a:rPr lang="fr-CA" sz="3200" dirty="0"/>
              <a:t> est constant </a:t>
            </a:r>
          </a:p>
          <a:p>
            <a:r>
              <a:rPr lang="fr-CA" sz="3200" dirty="0"/>
              <a:t>Coût fixe </a:t>
            </a:r>
            <a:r>
              <a:rPr lang="fr-CA" sz="3200" u="sng" dirty="0"/>
              <a:t>unitaire</a:t>
            </a:r>
            <a:r>
              <a:rPr lang="fr-CA" sz="3200" dirty="0"/>
              <a:t> varie selon le volume</a:t>
            </a:r>
          </a:p>
          <a:p>
            <a:endParaRPr lang="fr-CA" sz="3200" dirty="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fr-CA" sz="4000" dirty="0"/>
              <a:t>La variabilité des coûts à l’intérieur d’un segment significatif </a:t>
            </a:r>
            <a:r>
              <a:rPr lang="fr-CA" sz="4000"/>
              <a:t>-  Sommaire</a:t>
            </a:r>
            <a:endParaRPr lang="fr-CA" sz="4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442F5E-3242-4603-96A6-6914C965CA0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pied de page 1">
            <a:extLst>
              <a:ext uri="{FF2B5EF4-FFF2-40B4-BE49-F238E27FC236}">
                <a16:creationId xmlns:a16="http://schemas.microsoft.com/office/drawing/2014/main" id="{8301AC8A-EF4F-5C6F-3906-85D017DA9F3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1384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39CE06-7375-4E69-BF5B-BE95B923F22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 dirty="0"/>
              <a:t>Les coûts mixtes (1/2)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0BB8BE-EEC3-45CF-8101-EF0FF0EB9C1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Des postes de charges peuvent être constitués à la fois de charges fixes et de charges variables, on parle alors de coûts mixtes.</a:t>
            </a:r>
          </a:p>
          <a:p>
            <a:pPr lvl="1"/>
            <a:r>
              <a:rPr lang="fr-CA" dirty="0"/>
              <a:t>Exemple (1): salaire d’un vendeur = salaire de base (portion fixe) + commission (portion variable)</a:t>
            </a:r>
          </a:p>
          <a:p>
            <a:pPr lvl="1"/>
            <a:r>
              <a:rPr lang="fr-CA" dirty="0"/>
              <a:t>Exemple (2): Électricité = Éclairage et chauffage (portion fixe) + Force motrice (portion variable)</a:t>
            </a:r>
          </a:p>
          <a:p>
            <a:r>
              <a:rPr lang="fr-CA" dirty="0"/>
              <a:t>Pour pouvoir mener certaines analyses (cf. séances 2, 3 et 4), on va devoir </a:t>
            </a:r>
            <a:r>
              <a:rPr lang="fr-CA" u="sng" dirty="0"/>
              <a:t>séparer les coûts fixes des coûts variables</a:t>
            </a:r>
            <a:r>
              <a:rPr lang="fr-CA" dirty="0"/>
              <a:t>. </a:t>
            </a:r>
          </a:p>
          <a:p>
            <a:r>
              <a:rPr lang="fr-CA" i="1" dirty="0"/>
              <a:t>À noter </a:t>
            </a:r>
            <a:r>
              <a:rPr lang="fr-CA" dirty="0"/>
              <a:t>: dès lors que l’on connaît des coûts totaux pour différents niveaux d’activité, on peut chercher à séparer les coûts fixes des coûts variables.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BDD1D1-50BD-4826-B6C0-BCC1729047C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C3BEED1B-3E06-D45F-3D94-471273A14B3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725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39CE06-7375-4E69-BF5B-BE95B923F22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 dirty="0"/>
              <a:t>Les coûts mixtes (2/2)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0BB8BE-EEC3-45CF-8101-EF0FF0EB9C1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Il existe deux modèles d’analyse qui permettent de séparer la composante fixe de la composante variable des coûts mixtes pour aider à la prise de décision. </a:t>
            </a:r>
          </a:p>
          <a:p>
            <a:r>
              <a:rPr lang="fr-CA" dirty="0"/>
              <a:t>Ces deux modèles renvoient à l’utilisation de l’équation d’une droite : </a:t>
            </a:r>
          </a:p>
          <a:p>
            <a:pPr marL="0" indent="0">
              <a:buNone/>
            </a:pPr>
            <a:r>
              <a:rPr lang="fr-CA" b="1" dirty="0">
                <a:solidFill>
                  <a:srgbClr val="C00000"/>
                </a:solidFill>
              </a:rPr>
              <a:t>     Y </a:t>
            </a:r>
            <a:r>
              <a:rPr lang="fr-CA" sz="2000" dirty="0"/>
              <a:t>(coût total) </a:t>
            </a:r>
            <a:r>
              <a:rPr lang="fr-CA" sz="2000" b="1" dirty="0">
                <a:solidFill>
                  <a:srgbClr val="C00000"/>
                </a:solidFill>
              </a:rPr>
              <a:t> </a:t>
            </a:r>
            <a:r>
              <a:rPr lang="fr-CA" b="1" dirty="0">
                <a:solidFill>
                  <a:srgbClr val="C00000"/>
                </a:solidFill>
              </a:rPr>
              <a:t>= a </a:t>
            </a:r>
            <a:r>
              <a:rPr lang="fr-CA" sz="2000" dirty="0"/>
              <a:t>(coût fixe) </a:t>
            </a:r>
            <a:r>
              <a:rPr lang="fr-CA" b="1" dirty="0">
                <a:solidFill>
                  <a:srgbClr val="C00000"/>
                </a:solidFill>
              </a:rPr>
              <a:t>+ </a:t>
            </a:r>
            <a:r>
              <a:rPr lang="fr-CA" b="1" dirty="0" err="1">
                <a:solidFill>
                  <a:srgbClr val="C00000"/>
                </a:solidFill>
              </a:rPr>
              <a:t>bx</a:t>
            </a:r>
            <a:r>
              <a:rPr lang="fr-CA" b="1" dirty="0">
                <a:solidFill>
                  <a:srgbClr val="C00000"/>
                </a:solidFill>
              </a:rPr>
              <a:t> </a:t>
            </a:r>
            <a:r>
              <a:rPr lang="fr-CA" sz="2000" dirty="0"/>
              <a:t>(coût variable unitaire x volume) 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La méthode des </a:t>
            </a:r>
            <a:r>
              <a:rPr lang="fr-CA" b="1" dirty="0"/>
              <a:t>points extrêmes : </a:t>
            </a:r>
            <a:r>
              <a:rPr lang="fr-CA" dirty="0"/>
              <a:t>cette méthode retient les 2 observations limites relatives aux </a:t>
            </a:r>
            <a:r>
              <a:rPr lang="fr-CA" u="sng" dirty="0"/>
              <a:t>volumes d’activités </a:t>
            </a:r>
            <a:r>
              <a:rPr lang="fr-CA" dirty="0"/>
              <a:t>extrêmes. </a:t>
            </a:r>
            <a:r>
              <a:rPr lang="fr-CA" i="1" dirty="0"/>
              <a:t>Elle est pertinente si les volumes utilisés dans les calculs sont représentatifs.</a:t>
            </a:r>
          </a:p>
          <a:p>
            <a:pPr marL="457200" lvl="1" indent="0">
              <a:buNone/>
            </a:pPr>
            <a:endParaRPr lang="fr-CA" b="1" dirty="0"/>
          </a:p>
          <a:p>
            <a:pPr lvl="1"/>
            <a:r>
              <a:rPr lang="fr-CA" dirty="0"/>
              <a:t>La </a:t>
            </a:r>
            <a:r>
              <a:rPr lang="fr-CA" b="1" dirty="0"/>
              <a:t>régression linéaire simple </a:t>
            </a:r>
            <a:r>
              <a:rPr lang="fr-CA" dirty="0"/>
              <a:t>est un modèle d’analyse plus précis, car elle considère toutes les observations.</a:t>
            </a:r>
            <a:endParaRPr lang="fr-CA" i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B52C0F-7C59-417C-86C5-0FED5E76DB3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D8A88195-1DF0-72D4-CB63-A5B7611A22E0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08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DA33A2-3B63-BDB2-45DB-8FAC4C785E4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Questions de révision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D34855-5449-83E8-C673-0EBCC4D56BB8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BA73F5-E0AC-1ABA-30F2-D0DF88A2E8E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832B47A3-726E-AA65-6D8F-D89909FDABE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288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81BEB-A767-425C-846D-62B45938D60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53035" y="159752"/>
            <a:ext cx="9762565" cy="1042570"/>
          </a:xfrm>
        </p:spPr>
        <p:txBody>
          <a:bodyPr>
            <a:normAutofit/>
          </a:bodyPr>
          <a:lstStyle/>
          <a:p>
            <a:pPr algn="ctr"/>
            <a:r>
              <a:rPr lang="fr-CA" sz="4000"/>
              <a:t>Classez les coûts (</a:t>
            </a:r>
            <a:r>
              <a:rPr lang="fr-CA" sz="4000" b="1"/>
              <a:t>variables</a:t>
            </a:r>
            <a:r>
              <a:rPr lang="fr-CA" sz="4000"/>
              <a:t> ou </a:t>
            </a:r>
            <a:r>
              <a:rPr lang="fr-CA" sz="4000" b="1"/>
              <a:t>fixes) </a:t>
            </a:r>
            <a:endParaRPr lang="fr-CA" sz="3600">
              <a:cs typeface="Calibri Light" panose="020F03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920A05-6A76-4235-9D5D-0820168B918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660123"/>
            <a:ext cx="10515600" cy="4516839"/>
          </a:xfrm>
        </p:spPr>
        <p:txBody>
          <a:bodyPr/>
          <a:lstStyle/>
          <a:p>
            <a:pPr marL="0" indent="0">
              <a:buNone/>
            </a:pPr>
            <a:r>
              <a:rPr lang="fr-CA" i="1" dirty="0"/>
              <a:t>Exemple : pour une entreprise de service (Hôtel)</a:t>
            </a:r>
          </a:p>
          <a:p>
            <a:pPr marL="432000"/>
            <a:r>
              <a:rPr lang="fr-CA" dirty="0"/>
              <a:t>Salaire du directeur -  20 000 $ par mois</a:t>
            </a:r>
          </a:p>
          <a:p>
            <a:pPr marL="432000"/>
            <a:r>
              <a:rPr lang="fr-CA" dirty="0"/>
              <a:t>Électricité et chauffage - 2 300 $ par mois</a:t>
            </a:r>
          </a:p>
          <a:p>
            <a:pPr marL="432000"/>
            <a:r>
              <a:rPr lang="fr-CA" dirty="0"/>
              <a:t>Amortissement du bâtiment - 5 000 $ par mois </a:t>
            </a:r>
          </a:p>
          <a:p>
            <a:pPr marL="432000"/>
            <a:r>
              <a:rPr lang="fr-CA" dirty="0"/>
              <a:t>Services d'entretien ménager - 25 $ par chambre louée</a:t>
            </a:r>
          </a:p>
          <a:p>
            <a:pPr marL="432000"/>
            <a:r>
              <a:rPr lang="fr-CA" dirty="0"/>
              <a:t>Coûts divers (ex: articles de bain) - 5 $ par chambre louée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EAD31F-C5CB-48EE-9BEB-6F91375666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764DCE0-573E-4F0B-98A0-1EB68485FA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0130766" y="76853"/>
            <a:ext cx="2001339" cy="1125023"/>
          </a:xfrm>
          <a:prstGeom prst="rect">
            <a:avLst/>
          </a:prstGeom>
        </p:spPr>
      </p:pic>
      <p:sp>
        <p:nvSpPr>
          <p:cNvPr id="8" name="Espace réservé du pied de page 1">
            <a:extLst>
              <a:ext uri="{FF2B5EF4-FFF2-40B4-BE49-F238E27FC236}">
                <a16:creationId xmlns:a16="http://schemas.microsoft.com/office/drawing/2014/main" id="{815E5979-2ABF-8626-347D-E5430949FF68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1246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81BEB-A767-425C-846D-62B45938D60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42277" y="159752"/>
            <a:ext cx="10106555" cy="1042570"/>
          </a:xfrm>
        </p:spPr>
        <p:txBody>
          <a:bodyPr>
            <a:noAutofit/>
          </a:bodyPr>
          <a:lstStyle/>
          <a:p>
            <a:r>
              <a:rPr lang="fr-CA" sz="4000" dirty="0"/>
              <a:t>Classez les coûts (</a:t>
            </a:r>
            <a:r>
              <a:rPr lang="fr-CA" sz="4000" b="1" dirty="0"/>
              <a:t>variables</a:t>
            </a:r>
            <a:r>
              <a:rPr lang="fr-CA" sz="4000" dirty="0"/>
              <a:t>, </a:t>
            </a:r>
            <a:r>
              <a:rPr lang="fr-CA" sz="4000" b="1" dirty="0"/>
              <a:t>fixes ou mixtes)</a:t>
            </a:r>
            <a:br>
              <a:rPr lang="fr-CA" sz="4000" b="1" dirty="0"/>
            </a:br>
            <a:r>
              <a:rPr lang="fr-CA" sz="2800" b="1" dirty="0"/>
              <a:t>(MP, MOD, FGF, FVA) </a:t>
            </a:r>
            <a:endParaRPr lang="fr-CA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920A05-6A76-4235-9D5D-0820168B918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fr-CA" i="1" dirty="0"/>
              <a:t>Exemple : pour une entreprise manufacturière qui fabrique du jus de pomme</a:t>
            </a:r>
          </a:p>
          <a:p>
            <a:pPr marL="432000"/>
            <a:r>
              <a:rPr lang="fr-CA" dirty="0"/>
              <a:t>Pommes</a:t>
            </a:r>
          </a:p>
          <a:p>
            <a:pPr marL="432000"/>
            <a:r>
              <a:rPr lang="fr-CA" dirty="0"/>
              <a:t>Bouteilles de plastique</a:t>
            </a:r>
          </a:p>
          <a:p>
            <a:pPr marL="432000"/>
            <a:r>
              <a:rPr lang="fr-CA" dirty="0"/>
              <a:t>Amortissement de la machinerie</a:t>
            </a:r>
          </a:p>
          <a:p>
            <a:pPr marL="432000"/>
            <a:r>
              <a:rPr lang="fr-CA" dirty="0"/>
              <a:t>Commissions des vendeurs</a:t>
            </a:r>
          </a:p>
          <a:p>
            <a:pPr marL="432000"/>
            <a:r>
              <a:rPr lang="fr-CA" dirty="0"/>
              <a:t>Salaire du comptable</a:t>
            </a:r>
          </a:p>
          <a:p>
            <a:pPr marL="432000"/>
            <a:r>
              <a:rPr lang="fr-CA" dirty="0"/>
              <a:t>Salaire des employés sur la chaîne de production</a:t>
            </a:r>
          </a:p>
          <a:p>
            <a:pPr marL="432000"/>
            <a:r>
              <a:rPr lang="fr-CA" dirty="0"/>
              <a:t>Entretien et réparation de la machinerie</a:t>
            </a:r>
          </a:p>
          <a:p>
            <a:pPr marL="432000"/>
            <a:r>
              <a:rPr lang="fr-CA" dirty="0"/>
              <a:t>Maintenance sur le bâtiment de l’usine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B81601-7B4F-4470-A377-92A1B52293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B1F0E3C7-9DA5-FDCC-883D-6598B9F6308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5552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C53D45-134C-90A2-CB13-155B826A31C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Calculez le coût total et le coût moyen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BE2A60-D538-CAAF-D17A-06343B3F014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ABC </a:t>
            </a:r>
            <a:r>
              <a:rPr lang="fr-CA" dirty="0" err="1"/>
              <a:t>inc.</a:t>
            </a:r>
            <a:r>
              <a:rPr lang="fr-CA" dirty="0"/>
              <a:t> dépense 1 $ en coûts variables pour chaque unité produite. Les coûts fixes totaux s'élèvent à 7,5 millions de dollars par an. L'usine, qui fonctionne actuellement à seulement 75 % de sa capacité, a produit 15 millions d'unités cette année. La direction prévoit produire à 90 % de sa capacité , soit 18 millions d'unités l'année prochaine. La direction ne prévoit aucun changement dans ses coûts variables unitaires et aucun changement dans ses coûts fixes totaux.</a:t>
            </a:r>
          </a:p>
          <a:p>
            <a:pPr marL="0" indent="0">
              <a:buNone/>
            </a:pPr>
            <a:r>
              <a:rPr lang="fr-CA" dirty="0"/>
              <a:t> </a:t>
            </a:r>
          </a:p>
          <a:p>
            <a:pPr marL="792000" indent="-514350">
              <a:buFont typeface="+mj-lt"/>
              <a:buAutoNum type="arabicPeriod"/>
            </a:pPr>
            <a:r>
              <a:rPr lang="fr-CA" dirty="0"/>
              <a:t>Calculez le coût total </a:t>
            </a:r>
            <a:r>
              <a:rPr lang="fr-CA" b="1" dirty="0"/>
              <a:t>actuel</a:t>
            </a:r>
            <a:r>
              <a:rPr lang="fr-CA" dirty="0"/>
              <a:t> </a:t>
            </a:r>
            <a:r>
              <a:rPr lang="fr-CA" sz="2000" dirty="0"/>
              <a:t>(15 millions d’unités) </a:t>
            </a:r>
            <a:r>
              <a:rPr lang="fr-CA" dirty="0"/>
              <a:t>et le coût moyen.</a:t>
            </a:r>
          </a:p>
          <a:p>
            <a:pPr marL="792000" indent="-514350">
              <a:buFont typeface="+mj-lt"/>
              <a:buAutoNum type="arabicPeriod"/>
            </a:pPr>
            <a:r>
              <a:rPr lang="fr-CA" dirty="0"/>
              <a:t>Calculez le coût total </a:t>
            </a:r>
            <a:r>
              <a:rPr lang="fr-CA" b="1" dirty="0"/>
              <a:t>prévu</a:t>
            </a:r>
            <a:r>
              <a:rPr lang="fr-CA" dirty="0"/>
              <a:t> </a:t>
            </a:r>
            <a:r>
              <a:rPr lang="fr-CA" sz="2000" dirty="0"/>
              <a:t>(18 millions d’unités) </a:t>
            </a:r>
            <a:r>
              <a:rPr lang="fr-CA" dirty="0"/>
              <a:t>et le coût moyen.</a:t>
            </a:r>
          </a:p>
          <a:p>
            <a:pPr marL="792000" indent="-514350">
              <a:buFont typeface="+mj-lt"/>
              <a:buAutoNum type="arabicPeriod"/>
            </a:pPr>
            <a:r>
              <a:rPr lang="fr-CA" dirty="0"/>
              <a:t>Expliquez pourquoi le coût moyen a diminué.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BF9882-8C77-08DC-FF6C-5580B7DC820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3CEF4F52-ACAE-9929-9110-D0819600626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8824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/>
              <a:t>Conclusion – Séance 1</a:t>
            </a:r>
            <a:endParaRPr lang="fr-CA" sz="4000">
              <a:highlight>
                <a:srgbClr val="FFFF00"/>
              </a:highlight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7F3D74-6E73-4A63-824B-EE646DBACD4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1483567" y="2724540"/>
            <a:ext cx="3368351" cy="1754154"/>
          </a:xfrm>
          <a:prstGeom prst="rect">
            <a:avLst/>
          </a:prstGeom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3200" dirty="0"/>
              <a:t>Comprendre différents types de coûts</a:t>
            </a:r>
            <a:endParaRPr lang="fr-CA" sz="3200" u="sng" dirty="0"/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5617027" y="1642188"/>
            <a:ext cx="4114801" cy="1847462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CA" sz="2000"/>
              <a:t>POUR…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/>
              <a:t>Calculer le coût d’un objet </a:t>
            </a:r>
            <a:r>
              <a:rPr lang="fr-CA" sz="2000"/>
              <a:t>de coût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/>
              <a:t>Analyser la variation des coûts en fonction du volume d’activité.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5617027" y="3624944"/>
            <a:ext cx="4114801" cy="2141374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CA" sz="2000" dirty="0"/>
              <a:t>QUOI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/>
              <a:t>Les notions fondamentales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/>
              <a:t>La classification des coûts dans l’entreprise manufacturière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/>
              <a:t>Les coûts liés au volume d’activité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/>
              <a:t>Les coûts directs et indirects</a:t>
            </a:r>
          </a:p>
        </p:txBody>
      </p:sp>
      <p:cxnSp>
        <p:nvCxnSpPr>
          <p:cNvPr id="13" name="Connecteur droit avec flèche 12"/>
          <p:cNvCxnSpPr>
            <a:stCxn id="8" idx="3"/>
            <a:endCxn id="9" idx="1"/>
          </p:cNvCxnSpPr>
          <p:nvPr>
            <p:custDataLst>
              <p:tags r:id="rId6"/>
            </p:custDataLst>
          </p:nvPr>
        </p:nvCxnSpPr>
        <p:spPr>
          <a:xfrm flipV="1">
            <a:off x="4851918" y="2565919"/>
            <a:ext cx="765109" cy="103569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stCxn id="8" idx="3"/>
            <a:endCxn id="10" idx="1"/>
          </p:cNvCxnSpPr>
          <p:nvPr>
            <p:custDataLst>
              <p:tags r:id="rId7"/>
            </p:custDataLst>
          </p:nvPr>
        </p:nvCxnSpPr>
        <p:spPr>
          <a:xfrm>
            <a:off x="4851918" y="3601617"/>
            <a:ext cx="765109" cy="109401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0F363717-54A6-7ECA-F7DB-EC4796F007E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7350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A3AE72-BED2-3AE5-07BC-EF476306249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  <a:cs typeface="Poppins" pitchFamily="2" charset="77"/>
              </a:rPr>
              <a:t>QUESTIONS…</a:t>
            </a:r>
            <a:endParaRPr lang="fr-CA" sz="4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763D5A-079D-3823-9C30-05D24855557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138">
            <a:extLst>
              <a:ext uri="{FF2B5EF4-FFF2-40B4-BE49-F238E27FC236}">
                <a16:creationId xmlns:a16="http://schemas.microsoft.com/office/drawing/2014/main" id="{65046B40-4C17-4CB6-AFE9-AB12062D9A6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8719136" y="1959054"/>
            <a:ext cx="2068927" cy="2939891"/>
            <a:chOff x="8704441" y="2571694"/>
            <a:chExt cx="7028256" cy="10385705"/>
          </a:xfrm>
        </p:grpSpPr>
        <p:sp>
          <p:nvSpPr>
            <p:cNvPr id="7" name="Shape 34173">
              <a:extLst>
                <a:ext uri="{FF2B5EF4-FFF2-40B4-BE49-F238E27FC236}">
                  <a16:creationId xmlns:a16="http://schemas.microsoft.com/office/drawing/2014/main" id="{976C004C-1D4C-6265-7CAA-36D0B3554743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" name="Shape 34174">
              <a:extLst>
                <a:ext uri="{FF2B5EF4-FFF2-40B4-BE49-F238E27FC236}">
                  <a16:creationId xmlns:a16="http://schemas.microsoft.com/office/drawing/2014/main" id="{C4BF05D4-B682-FD65-42DA-A04AFFE28DC3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" name="Shape 34175">
              <a:extLst>
                <a:ext uri="{FF2B5EF4-FFF2-40B4-BE49-F238E27FC236}">
                  <a16:creationId xmlns:a16="http://schemas.microsoft.com/office/drawing/2014/main" id="{C9712020-E217-2295-A8BA-E42FE748FCC5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0" name="Shape 34176">
              <a:extLst>
                <a:ext uri="{FF2B5EF4-FFF2-40B4-BE49-F238E27FC236}">
                  <a16:creationId xmlns:a16="http://schemas.microsoft.com/office/drawing/2014/main" id="{AAF18868-B068-9C4F-8960-CB0D5A467E25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1" name="Shape 34177">
              <a:extLst>
                <a:ext uri="{FF2B5EF4-FFF2-40B4-BE49-F238E27FC236}">
                  <a16:creationId xmlns:a16="http://schemas.microsoft.com/office/drawing/2014/main" id="{E801DEDF-A984-AAEF-46E7-EC60B0FDD754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2" name="Shape 34178">
              <a:extLst>
                <a:ext uri="{FF2B5EF4-FFF2-40B4-BE49-F238E27FC236}">
                  <a16:creationId xmlns:a16="http://schemas.microsoft.com/office/drawing/2014/main" id="{BD91ED27-C937-F3A7-A98F-9F30D5337FE1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3" name="Shape 34179">
              <a:extLst>
                <a:ext uri="{FF2B5EF4-FFF2-40B4-BE49-F238E27FC236}">
                  <a16:creationId xmlns:a16="http://schemas.microsoft.com/office/drawing/2014/main" id="{CE42E4FB-FD68-9A56-DB60-45D4D1F6DEE8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4" name="Shape 34180">
              <a:extLst>
                <a:ext uri="{FF2B5EF4-FFF2-40B4-BE49-F238E27FC236}">
                  <a16:creationId xmlns:a16="http://schemas.microsoft.com/office/drawing/2014/main" id="{0FD9EA42-B916-E428-7847-39A0ED7419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5" name="Shape 34181">
              <a:extLst>
                <a:ext uri="{FF2B5EF4-FFF2-40B4-BE49-F238E27FC236}">
                  <a16:creationId xmlns:a16="http://schemas.microsoft.com/office/drawing/2014/main" id="{E8D68D33-D5CF-E622-C836-662EFC5E2A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6" name="Shape 34182">
              <a:extLst>
                <a:ext uri="{FF2B5EF4-FFF2-40B4-BE49-F238E27FC236}">
                  <a16:creationId xmlns:a16="http://schemas.microsoft.com/office/drawing/2014/main" id="{8CFECFFB-6EA8-A430-AED5-7E65407DD4A5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7" name="Shape 34183">
              <a:extLst>
                <a:ext uri="{FF2B5EF4-FFF2-40B4-BE49-F238E27FC236}">
                  <a16:creationId xmlns:a16="http://schemas.microsoft.com/office/drawing/2014/main" id="{617F6296-7E21-A175-05EE-8707F53A6F39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8" name="Shape 34184">
              <a:extLst>
                <a:ext uri="{FF2B5EF4-FFF2-40B4-BE49-F238E27FC236}">
                  <a16:creationId xmlns:a16="http://schemas.microsoft.com/office/drawing/2014/main" id="{4F91F915-B70C-3DFB-2DED-CD2D0C36EDD4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9" name="Shape 34185">
              <a:extLst>
                <a:ext uri="{FF2B5EF4-FFF2-40B4-BE49-F238E27FC236}">
                  <a16:creationId xmlns:a16="http://schemas.microsoft.com/office/drawing/2014/main" id="{F029D3C9-BD86-97DA-B294-D36F5FDE4428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0" name="Shape 34186">
              <a:extLst>
                <a:ext uri="{FF2B5EF4-FFF2-40B4-BE49-F238E27FC236}">
                  <a16:creationId xmlns:a16="http://schemas.microsoft.com/office/drawing/2014/main" id="{F5B7275A-6FAF-B24A-A685-47C4A6EE1FA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1" name="Shape 34187">
              <a:extLst>
                <a:ext uri="{FF2B5EF4-FFF2-40B4-BE49-F238E27FC236}">
                  <a16:creationId xmlns:a16="http://schemas.microsoft.com/office/drawing/2014/main" id="{EAAF3EFF-FA3D-D6EE-8564-5186B15CA88F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2" name="Shape 34188">
              <a:extLst>
                <a:ext uri="{FF2B5EF4-FFF2-40B4-BE49-F238E27FC236}">
                  <a16:creationId xmlns:a16="http://schemas.microsoft.com/office/drawing/2014/main" id="{749F9356-4688-F55D-7BA7-4D414600925A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3" name="Shape 34189">
              <a:extLst>
                <a:ext uri="{FF2B5EF4-FFF2-40B4-BE49-F238E27FC236}">
                  <a16:creationId xmlns:a16="http://schemas.microsoft.com/office/drawing/2014/main" id="{ACF42464-8277-7FE7-BFF9-60BD9A71C304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4" name="Shape 34190">
              <a:extLst>
                <a:ext uri="{FF2B5EF4-FFF2-40B4-BE49-F238E27FC236}">
                  <a16:creationId xmlns:a16="http://schemas.microsoft.com/office/drawing/2014/main" id="{1CB0601C-E813-F143-49E8-AF8089764FF4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5" name="Shape 34191">
              <a:extLst>
                <a:ext uri="{FF2B5EF4-FFF2-40B4-BE49-F238E27FC236}">
                  <a16:creationId xmlns:a16="http://schemas.microsoft.com/office/drawing/2014/main" id="{AC9455CF-AF30-DE16-2774-5F4D082B38B0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6" name="Shape 34192">
              <a:extLst>
                <a:ext uri="{FF2B5EF4-FFF2-40B4-BE49-F238E27FC236}">
                  <a16:creationId xmlns:a16="http://schemas.microsoft.com/office/drawing/2014/main" id="{7C569921-7480-9A44-8C2E-A5B0ED448F0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7" name="Shape 34193">
              <a:extLst>
                <a:ext uri="{FF2B5EF4-FFF2-40B4-BE49-F238E27FC236}">
                  <a16:creationId xmlns:a16="http://schemas.microsoft.com/office/drawing/2014/main" id="{A5E3F977-180A-3643-419D-57AED242F69C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8" name="Shape 34194">
              <a:extLst>
                <a:ext uri="{FF2B5EF4-FFF2-40B4-BE49-F238E27FC236}">
                  <a16:creationId xmlns:a16="http://schemas.microsoft.com/office/drawing/2014/main" id="{8654F068-3931-E6FE-A770-5E45CA727A66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9" name="Shape 34195">
              <a:extLst>
                <a:ext uri="{FF2B5EF4-FFF2-40B4-BE49-F238E27FC236}">
                  <a16:creationId xmlns:a16="http://schemas.microsoft.com/office/drawing/2014/main" id="{F32529DE-7723-A9F9-7F05-07E940417709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0" name="Shape 34196">
              <a:extLst>
                <a:ext uri="{FF2B5EF4-FFF2-40B4-BE49-F238E27FC236}">
                  <a16:creationId xmlns:a16="http://schemas.microsoft.com/office/drawing/2014/main" id="{99B49F4A-C995-B73F-E19A-B307302678CD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1" name="Shape 34197">
              <a:extLst>
                <a:ext uri="{FF2B5EF4-FFF2-40B4-BE49-F238E27FC236}">
                  <a16:creationId xmlns:a16="http://schemas.microsoft.com/office/drawing/2014/main" id="{E619B2D8-F6BD-8A7E-5EDA-D68C2CA0C3AC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2" name="Shape 34198">
              <a:extLst>
                <a:ext uri="{FF2B5EF4-FFF2-40B4-BE49-F238E27FC236}">
                  <a16:creationId xmlns:a16="http://schemas.microsoft.com/office/drawing/2014/main" id="{288C06A0-5E60-7FBA-5163-8D0A4E6E9A8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3" name="Shape 34199">
              <a:extLst>
                <a:ext uri="{FF2B5EF4-FFF2-40B4-BE49-F238E27FC236}">
                  <a16:creationId xmlns:a16="http://schemas.microsoft.com/office/drawing/2014/main" id="{49A32E76-801E-A843-8779-81977240544F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4" name="Shape 34200">
              <a:extLst>
                <a:ext uri="{FF2B5EF4-FFF2-40B4-BE49-F238E27FC236}">
                  <a16:creationId xmlns:a16="http://schemas.microsoft.com/office/drawing/2014/main" id="{3E5F91B2-B048-5BFE-5A85-82F92FA7CB84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5" name="Shape 34201">
              <a:extLst>
                <a:ext uri="{FF2B5EF4-FFF2-40B4-BE49-F238E27FC236}">
                  <a16:creationId xmlns:a16="http://schemas.microsoft.com/office/drawing/2014/main" id="{84AE006D-A898-C300-EAA5-3A5274B9B64F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6" name="Shape 34202">
              <a:extLst>
                <a:ext uri="{FF2B5EF4-FFF2-40B4-BE49-F238E27FC236}">
                  <a16:creationId xmlns:a16="http://schemas.microsoft.com/office/drawing/2014/main" id="{3627F16C-6922-1C8F-7FFA-A69F5B9480C3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7" name="Shape 34203">
              <a:extLst>
                <a:ext uri="{FF2B5EF4-FFF2-40B4-BE49-F238E27FC236}">
                  <a16:creationId xmlns:a16="http://schemas.microsoft.com/office/drawing/2014/main" id="{C0A6D04B-B571-CC97-4DA2-9B277FA71F2B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8" name="Shape 34204">
              <a:extLst>
                <a:ext uri="{FF2B5EF4-FFF2-40B4-BE49-F238E27FC236}">
                  <a16:creationId xmlns:a16="http://schemas.microsoft.com/office/drawing/2014/main" id="{B63486CF-8FD4-F19D-BEE7-B03A257609F9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9" name="Shape 34205">
              <a:extLst>
                <a:ext uri="{FF2B5EF4-FFF2-40B4-BE49-F238E27FC236}">
                  <a16:creationId xmlns:a16="http://schemas.microsoft.com/office/drawing/2014/main" id="{9B6154D4-4161-7162-8EA2-5A7C854A42F3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0" name="Shape 34206">
              <a:extLst>
                <a:ext uri="{FF2B5EF4-FFF2-40B4-BE49-F238E27FC236}">
                  <a16:creationId xmlns:a16="http://schemas.microsoft.com/office/drawing/2014/main" id="{4817CE05-AE16-2CD7-A719-FF48D57D7109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1" name="Shape 34207">
              <a:extLst>
                <a:ext uri="{FF2B5EF4-FFF2-40B4-BE49-F238E27FC236}">
                  <a16:creationId xmlns:a16="http://schemas.microsoft.com/office/drawing/2014/main" id="{9C0589CC-1AA8-EC0E-98E1-6EEF8B13A41E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2" name="Shape 34208">
              <a:extLst>
                <a:ext uri="{FF2B5EF4-FFF2-40B4-BE49-F238E27FC236}">
                  <a16:creationId xmlns:a16="http://schemas.microsoft.com/office/drawing/2014/main" id="{2B002F80-8F42-1F8C-9D53-E0E308DF3F05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3" name="Shape 34209">
              <a:extLst>
                <a:ext uri="{FF2B5EF4-FFF2-40B4-BE49-F238E27FC236}">
                  <a16:creationId xmlns:a16="http://schemas.microsoft.com/office/drawing/2014/main" id="{E04824C3-FDEF-BB7D-0D7D-4B2DEBD11EDA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4" name="Shape 34210">
              <a:extLst>
                <a:ext uri="{FF2B5EF4-FFF2-40B4-BE49-F238E27FC236}">
                  <a16:creationId xmlns:a16="http://schemas.microsoft.com/office/drawing/2014/main" id="{60A3E3D8-357B-9865-5ED6-C9C8DD99A5EB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5" name="Shape 34211">
              <a:extLst>
                <a:ext uri="{FF2B5EF4-FFF2-40B4-BE49-F238E27FC236}">
                  <a16:creationId xmlns:a16="http://schemas.microsoft.com/office/drawing/2014/main" id="{76DFA2CB-312D-1730-47C1-A020896FA28B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6" name="Shape 34212">
              <a:extLst>
                <a:ext uri="{FF2B5EF4-FFF2-40B4-BE49-F238E27FC236}">
                  <a16:creationId xmlns:a16="http://schemas.microsoft.com/office/drawing/2014/main" id="{36B98C3B-D0DC-9180-4848-8BA8BF1F5BD6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7" name="Shape 34213">
              <a:extLst>
                <a:ext uri="{FF2B5EF4-FFF2-40B4-BE49-F238E27FC236}">
                  <a16:creationId xmlns:a16="http://schemas.microsoft.com/office/drawing/2014/main" id="{B2A1DF19-68C4-B39F-A4E7-2413452CD571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8" name="Shape 34214">
              <a:extLst>
                <a:ext uri="{FF2B5EF4-FFF2-40B4-BE49-F238E27FC236}">
                  <a16:creationId xmlns:a16="http://schemas.microsoft.com/office/drawing/2014/main" id="{C07477F5-13C2-0059-175D-4F8386F20BBA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9" name="Shape 34215">
              <a:extLst>
                <a:ext uri="{FF2B5EF4-FFF2-40B4-BE49-F238E27FC236}">
                  <a16:creationId xmlns:a16="http://schemas.microsoft.com/office/drawing/2014/main" id="{BF6C8EC1-4101-C1F3-59E6-2E204FC0CA3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0" name="Shape 34216">
              <a:extLst>
                <a:ext uri="{FF2B5EF4-FFF2-40B4-BE49-F238E27FC236}">
                  <a16:creationId xmlns:a16="http://schemas.microsoft.com/office/drawing/2014/main" id="{22BE5295-7E6B-EBE3-6379-0FE69A700146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1" name="Shape 34217">
              <a:extLst>
                <a:ext uri="{FF2B5EF4-FFF2-40B4-BE49-F238E27FC236}">
                  <a16:creationId xmlns:a16="http://schemas.microsoft.com/office/drawing/2014/main" id="{7669BB95-B65F-80FF-F5E3-D558A71D1868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2" name="Shape 34218">
              <a:extLst>
                <a:ext uri="{FF2B5EF4-FFF2-40B4-BE49-F238E27FC236}">
                  <a16:creationId xmlns:a16="http://schemas.microsoft.com/office/drawing/2014/main" id="{ECD0EFAE-D165-C2EA-4152-E736B90B1620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3" name="Shape 34219">
              <a:extLst>
                <a:ext uri="{FF2B5EF4-FFF2-40B4-BE49-F238E27FC236}">
                  <a16:creationId xmlns:a16="http://schemas.microsoft.com/office/drawing/2014/main" id="{0C66A6C3-63D2-F0BA-F015-61AAA11211DC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4" name="Shape 34220">
              <a:extLst>
                <a:ext uri="{FF2B5EF4-FFF2-40B4-BE49-F238E27FC236}">
                  <a16:creationId xmlns:a16="http://schemas.microsoft.com/office/drawing/2014/main" id="{23AEB80C-7CCE-CCB6-29CA-778624C78CFC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5" name="Shape 34221">
              <a:extLst>
                <a:ext uri="{FF2B5EF4-FFF2-40B4-BE49-F238E27FC236}">
                  <a16:creationId xmlns:a16="http://schemas.microsoft.com/office/drawing/2014/main" id="{81701DFC-595E-9A3F-2738-AAA1A24AA083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6" name="Shape 34222">
              <a:extLst>
                <a:ext uri="{FF2B5EF4-FFF2-40B4-BE49-F238E27FC236}">
                  <a16:creationId xmlns:a16="http://schemas.microsoft.com/office/drawing/2014/main" id="{513F8701-84F3-14BA-ACF0-EF60A80D05EA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7" name="Shape 34223">
              <a:extLst>
                <a:ext uri="{FF2B5EF4-FFF2-40B4-BE49-F238E27FC236}">
                  <a16:creationId xmlns:a16="http://schemas.microsoft.com/office/drawing/2014/main" id="{669F5F77-ADD6-B162-0166-D72EC8E7733A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8" name="Shape 34224">
              <a:extLst>
                <a:ext uri="{FF2B5EF4-FFF2-40B4-BE49-F238E27FC236}">
                  <a16:creationId xmlns:a16="http://schemas.microsoft.com/office/drawing/2014/main" id="{2A34FEB1-6A68-6F25-3685-1694CE12D101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9" name="Shape 34225">
              <a:extLst>
                <a:ext uri="{FF2B5EF4-FFF2-40B4-BE49-F238E27FC236}">
                  <a16:creationId xmlns:a16="http://schemas.microsoft.com/office/drawing/2014/main" id="{3490BBCE-C5D5-7B6E-7A00-797D8846355F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0" name="Shape 34226">
              <a:extLst>
                <a:ext uri="{FF2B5EF4-FFF2-40B4-BE49-F238E27FC236}">
                  <a16:creationId xmlns:a16="http://schemas.microsoft.com/office/drawing/2014/main" id="{040F01A4-33AF-01A6-4535-A8F83A4719EC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1" name="Shape 34227">
              <a:extLst>
                <a:ext uri="{FF2B5EF4-FFF2-40B4-BE49-F238E27FC236}">
                  <a16:creationId xmlns:a16="http://schemas.microsoft.com/office/drawing/2014/main" id="{593658B6-C5DC-4C6D-EC98-B91FDF4F85E8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2" name="Shape 34228">
              <a:extLst>
                <a:ext uri="{FF2B5EF4-FFF2-40B4-BE49-F238E27FC236}">
                  <a16:creationId xmlns:a16="http://schemas.microsoft.com/office/drawing/2014/main" id="{F6804CB1-81F7-5B73-8ADE-F08C0DD65D63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3" name="Shape 34229">
              <a:extLst>
                <a:ext uri="{FF2B5EF4-FFF2-40B4-BE49-F238E27FC236}">
                  <a16:creationId xmlns:a16="http://schemas.microsoft.com/office/drawing/2014/main" id="{31B00120-41F5-991C-5B45-38DCF9E6593E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4" name="Shape 34230">
              <a:extLst>
                <a:ext uri="{FF2B5EF4-FFF2-40B4-BE49-F238E27FC236}">
                  <a16:creationId xmlns:a16="http://schemas.microsoft.com/office/drawing/2014/main" id="{F21EEEC0-ED3C-D255-F30B-AFF4394368E9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5" name="Shape 34231">
              <a:extLst>
                <a:ext uri="{FF2B5EF4-FFF2-40B4-BE49-F238E27FC236}">
                  <a16:creationId xmlns:a16="http://schemas.microsoft.com/office/drawing/2014/main" id="{35403DDE-DDDF-A4A3-8574-550FC2348FA0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6" name="Shape 34232">
              <a:extLst>
                <a:ext uri="{FF2B5EF4-FFF2-40B4-BE49-F238E27FC236}">
                  <a16:creationId xmlns:a16="http://schemas.microsoft.com/office/drawing/2014/main" id="{8F61DD08-9B59-C4E5-5769-A748751A1BA9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7" name="Shape 34233">
              <a:extLst>
                <a:ext uri="{FF2B5EF4-FFF2-40B4-BE49-F238E27FC236}">
                  <a16:creationId xmlns:a16="http://schemas.microsoft.com/office/drawing/2014/main" id="{F426EA7D-907F-BA9B-E5E7-313BEA0B053D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8" name="Shape 34234">
              <a:extLst>
                <a:ext uri="{FF2B5EF4-FFF2-40B4-BE49-F238E27FC236}">
                  <a16:creationId xmlns:a16="http://schemas.microsoft.com/office/drawing/2014/main" id="{5C22217F-FD1E-F18B-FF4B-82567CE5DCA1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9" name="Shape 34235">
              <a:extLst>
                <a:ext uri="{FF2B5EF4-FFF2-40B4-BE49-F238E27FC236}">
                  <a16:creationId xmlns:a16="http://schemas.microsoft.com/office/drawing/2014/main" id="{BCDA1780-5369-5563-0622-D61A54BEC2DF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0" name="Shape 34236">
              <a:extLst>
                <a:ext uri="{FF2B5EF4-FFF2-40B4-BE49-F238E27FC236}">
                  <a16:creationId xmlns:a16="http://schemas.microsoft.com/office/drawing/2014/main" id="{E9CF551E-55FB-2B85-2131-C5F843088F7F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1" name="Shape 34237">
              <a:extLst>
                <a:ext uri="{FF2B5EF4-FFF2-40B4-BE49-F238E27FC236}">
                  <a16:creationId xmlns:a16="http://schemas.microsoft.com/office/drawing/2014/main" id="{FFACF437-3B44-946E-27E7-90C32C4D78CF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2" name="Shape 34238">
              <a:extLst>
                <a:ext uri="{FF2B5EF4-FFF2-40B4-BE49-F238E27FC236}">
                  <a16:creationId xmlns:a16="http://schemas.microsoft.com/office/drawing/2014/main" id="{46C4E1FE-4F6F-924C-4B5B-0696E855EB77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3" name="Shape 34239">
              <a:extLst>
                <a:ext uri="{FF2B5EF4-FFF2-40B4-BE49-F238E27FC236}">
                  <a16:creationId xmlns:a16="http://schemas.microsoft.com/office/drawing/2014/main" id="{D185878E-FF18-4A20-B9EE-176068B979C5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4" name="Shape 34240">
              <a:extLst>
                <a:ext uri="{FF2B5EF4-FFF2-40B4-BE49-F238E27FC236}">
                  <a16:creationId xmlns:a16="http://schemas.microsoft.com/office/drawing/2014/main" id="{D93BD9D1-EEA1-0D4F-8600-3F3153A93B6C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5" name="Shape 34241">
              <a:extLst>
                <a:ext uri="{FF2B5EF4-FFF2-40B4-BE49-F238E27FC236}">
                  <a16:creationId xmlns:a16="http://schemas.microsoft.com/office/drawing/2014/main" id="{D7E296EA-B791-A4EA-1153-80795F3A152B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6" name="Shape 34242">
              <a:extLst>
                <a:ext uri="{FF2B5EF4-FFF2-40B4-BE49-F238E27FC236}">
                  <a16:creationId xmlns:a16="http://schemas.microsoft.com/office/drawing/2014/main" id="{7BD1DB59-0745-31CF-1150-1C2BA96B3818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7" name="Shape 34243">
              <a:extLst>
                <a:ext uri="{FF2B5EF4-FFF2-40B4-BE49-F238E27FC236}">
                  <a16:creationId xmlns:a16="http://schemas.microsoft.com/office/drawing/2014/main" id="{859A2A30-578E-E0CF-9B88-4D0BBC19E5F0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8" name="Shape 34244">
              <a:extLst>
                <a:ext uri="{FF2B5EF4-FFF2-40B4-BE49-F238E27FC236}">
                  <a16:creationId xmlns:a16="http://schemas.microsoft.com/office/drawing/2014/main" id="{829F2089-03A8-EB09-9794-C58301A25377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9" name="Shape 34245">
              <a:extLst>
                <a:ext uri="{FF2B5EF4-FFF2-40B4-BE49-F238E27FC236}">
                  <a16:creationId xmlns:a16="http://schemas.microsoft.com/office/drawing/2014/main" id="{5EF4459E-AC23-C524-D870-8EAA6CA4506F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0" name="Shape 34246">
              <a:extLst>
                <a:ext uri="{FF2B5EF4-FFF2-40B4-BE49-F238E27FC236}">
                  <a16:creationId xmlns:a16="http://schemas.microsoft.com/office/drawing/2014/main" id="{A49966BE-49C2-2E0B-DF00-BE6046DA1688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1" name="Shape 34247">
              <a:extLst>
                <a:ext uri="{FF2B5EF4-FFF2-40B4-BE49-F238E27FC236}">
                  <a16:creationId xmlns:a16="http://schemas.microsoft.com/office/drawing/2014/main" id="{55D230AC-EDAC-D177-985F-928BDF840C57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2" name="Shape 34248">
              <a:extLst>
                <a:ext uri="{FF2B5EF4-FFF2-40B4-BE49-F238E27FC236}">
                  <a16:creationId xmlns:a16="http://schemas.microsoft.com/office/drawing/2014/main" id="{1F148CBC-8AA1-BE4E-E118-503C7C297140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3" name="Shape 34249">
              <a:extLst>
                <a:ext uri="{FF2B5EF4-FFF2-40B4-BE49-F238E27FC236}">
                  <a16:creationId xmlns:a16="http://schemas.microsoft.com/office/drawing/2014/main" id="{A6803C7B-FD14-9001-B985-748E17C421AA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4" name="Shape 34250">
              <a:extLst>
                <a:ext uri="{FF2B5EF4-FFF2-40B4-BE49-F238E27FC236}">
                  <a16:creationId xmlns:a16="http://schemas.microsoft.com/office/drawing/2014/main" id="{F54ECFE8-A0DD-BE50-2B8A-AEC375164636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5" name="Shape 34251">
              <a:extLst>
                <a:ext uri="{FF2B5EF4-FFF2-40B4-BE49-F238E27FC236}">
                  <a16:creationId xmlns:a16="http://schemas.microsoft.com/office/drawing/2014/main" id="{F5DA6B52-A364-0343-A021-D1AD7A5B786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6" name="Shape 34252">
              <a:extLst>
                <a:ext uri="{FF2B5EF4-FFF2-40B4-BE49-F238E27FC236}">
                  <a16:creationId xmlns:a16="http://schemas.microsoft.com/office/drawing/2014/main" id="{E909B32D-5C04-1B0F-7C40-8D0410B8717A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7" name="Shape 34253">
              <a:extLst>
                <a:ext uri="{FF2B5EF4-FFF2-40B4-BE49-F238E27FC236}">
                  <a16:creationId xmlns:a16="http://schemas.microsoft.com/office/drawing/2014/main" id="{904C6508-E6C5-9FAB-06BA-F3F504B95C0E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8" name="Shape 34254">
              <a:extLst>
                <a:ext uri="{FF2B5EF4-FFF2-40B4-BE49-F238E27FC236}">
                  <a16:creationId xmlns:a16="http://schemas.microsoft.com/office/drawing/2014/main" id="{7C11C3C3-50EF-CD38-713D-3B82765597C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9" name="Shape 34255">
              <a:extLst>
                <a:ext uri="{FF2B5EF4-FFF2-40B4-BE49-F238E27FC236}">
                  <a16:creationId xmlns:a16="http://schemas.microsoft.com/office/drawing/2014/main" id="{DD0B73BB-9B23-85D1-08F0-A1083002F1EE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0" name="Shape 34256">
              <a:extLst>
                <a:ext uri="{FF2B5EF4-FFF2-40B4-BE49-F238E27FC236}">
                  <a16:creationId xmlns:a16="http://schemas.microsoft.com/office/drawing/2014/main" id="{DB198D26-C5BC-0B60-61A6-114E53BEA476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1" name="Shape 34257">
              <a:extLst>
                <a:ext uri="{FF2B5EF4-FFF2-40B4-BE49-F238E27FC236}">
                  <a16:creationId xmlns:a16="http://schemas.microsoft.com/office/drawing/2014/main" id="{C495D662-E4AD-8FDF-FC9F-7D24BA960269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2" name="Shape 34258">
              <a:extLst>
                <a:ext uri="{FF2B5EF4-FFF2-40B4-BE49-F238E27FC236}">
                  <a16:creationId xmlns:a16="http://schemas.microsoft.com/office/drawing/2014/main" id="{782B38B6-7885-E0FB-6B35-5977C84E5125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3" name="Shape 34259">
              <a:extLst>
                <a:ext uri="{FF2B5EF4-FFF2-40B4-BE49-F238E27FC236}">
                  <a16:creationId xmlns:a16="http://schemas.microsoft.com/office/drawing/2014/main" id="{ACEA1985-C96B-D18C-1DB4-3239D01C5DBD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4" name="Shape 34260">
              <a:extLst>
                <a:ext uri="{FF2B5EF4-FFF2-40B4-BE49-F238E27FC236}">
                  <a16:creationId xmlns:a16="http://schemas.microsoft.com/office/drawing/2014/main" id="{E2E15F41-8745-DF54-7A98-5CCD82B4B0A9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5" name="Shape 34261">
              <a:extLst>
                <a:ext uri="{FF2B5EF4-FFF2-40B4-BE49-F238E27FC236}">
                  <a16:creationId xmlns:a16="http://schemas.microsoft.com/office/drawing/2014/main" id="{2854AF16-1899-28BD-ECE5-3F50BF094ACE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6" name="Shape 34262">
              <a:extLst>
                <a:ext uri="{FF2B5EF4-FFF2-40B4-BE49-F238E27FC236}">
                  <a16:creationId xmlns:a16="http://schemas.microsoft.com/office/drawing/2014/main" id="{CBDEFF28-A355-BD1E-9EC9-71CA5C467CE0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7" name="Shape 34263">
              <a:extLst>
                <a:ext uri="{FF2B5EF4-FFF2-40B4-BE49-F238E27FC236}">
                  <a16:creationId xmlns:a16="http://schemas.microsoft.com/office/drawing/2014/main" id="{F604FEFF-8D13-1B9F-D241-E7D2AFA9209B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8" name="Shape 34264">
              <a:extLst>
                <a:ext uri="{FF2B5EF4-FFF2-40B4-BE49-F238E27FC236}">
                  <a16:creationId xmlns:a16="http://schemas.microsoft.com/office/drawing/2014/main" id="{29642944-FCFB-9027-DBEB-A3DE374E30A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9" name="Shape 34265">
              <a:extLst>
                <a:ext uri="{FF2B5EF4-FFF2-40B4-BE49-F238E27FC236}">
                  <a16:creationId xmlns:a16="http://schemas.microsoft.com/office/drawing/2014/main" id="{B4AE4AFC-DE57-6193-7D6C-068A638F5DC0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</p:grpSp>
      <p:sp>
        <p:nvSpPr>
          <p:cNvPr id="100" name="Espace réservé du pied de page 1">
            <a:extLst>
              <a:ext uri="{FF2B5EF4-FFF2-40B4-BE49-F238E27FC236}">
                <a16:creationId xmlns:a16="http://schemas.microsoft.com/office/drawing/2014/main" id="{C6CFD48A-72FF-556B-BBA8-D1B2ECD26F1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31315" y="6503436"/>
            <a:ext cx="3129368" cy="30058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429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3"/>
  <p:tag name="TEXTLENGTH" val="93"/>
  <p:tag name="FONTSIZE" val="22"/>
  <p:tag name="BULLETTYPE" val="ppBulletArabicPeriod"/>
  <p:tag name="ANSWERTEXT" val="8250$&#10;750$&#10;Nous ne disposons pas de  l’information nécessaire pour répondre à cette question."/>
  <p:tag name="ZEROBASED" val="False"/>
  <p:tag name="NUM" val="7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3"/>
  <p:tag name="TEXTLENGTH" val="93"/>
  <p:tag name="FONTSIZE" val="22"/>
  <p:tag name="BULLETTYPE" val="ppBulletArabicPeriod"/>
  <p:tag name="ANSWERTEXT" val="8250$&#10;750$&#10;Nous ne disposons pas de  l’information nécessaire pour répondre à cette question."/>
  <p:tag name="ZEROBASED" val="False"/>
  <p:tag name="NUM" val="6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1_Thème Office">
  <a:themeElements>
    <a:clrScheme name="Personnalisé 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1F497D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210C906DD6AF4AAA0745DA7F7D668C" ma:contentTypeVersion="17" ma:contentTypeDescription="Create a new document." ma:contentTypeScope="" ma:versionID="5c2f97b804d84dd0790adbe6b02a2070">
  <xsd:schema xmlns:xsd="http://www.w3.org/2001/XMLSchema" xmlns:xs="http://www.w3.org/2001/XMLSchema" xmlns:p="http://schemas.microsoft.com/office/2006/metadata/properties" xmlns:ns3="9b797739-e8dc-4491-9318-4a619ee9b153" xmlns:ns4="08c3be05-7986-4e38-b56c-c7c4a964138c" targetNamespace="http://schemas.microsoft.com/office/2006/metadata/properties" ma:root="true" ma:fieldsID="17969c1f29b196c5a5629ecb196e0653" ns3:_="" ns4:_="">
    <xsd:import namespace="9b797739-e8dc-4491-9318-4a619ee9b153"/>
    <xsd:import namespace="08c3be05-7986-4e38-b56c-c7c4a964138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797739-e8dc-4491-9318-4a619ee9b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3be05-7986-4e38-b56c-c7c4a964138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b797739-e8dc-4491-9318-4a619ee9b153" xsi:nil="true"/>
  </documentManagement>
</p:properties>
</file>

<file path=customXml/itemProps1.xml><?xml version="1.0" encoding="utf-8"?>
<ds:datastoreItem xmlns:ds="http://schemas.openxmlformats.org/officeDocument/2006/customXml" ds:itemID="{AC9B1801-35E0-4AAC-8F2C-7DE060456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797739-e8dc-4491-9318-4a619ee9b153"/>
    <ds:schemaRef ds:uri="08c3be05-7986-4e38-b56c-c7c4a96413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28E84A-E686-4758-B439-5D4A4600DD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E5ED2-D24D-487E-8CC9-D69917E8F74D}">
  <ds:schemaRefs>
    <ds:schemaRef ds:uri="http://purl.org/dc/dcmitype/"/>
    <ds:schemaRef ds:uri="9b797739-e8dc-4491-9318-4a619ee9b153"/>
    <ds:schemaRef ds:uri="http://purl.org/dc/terms/"/>
    <ds:schemaRef ds:uri="http://schemas.microsoft.com/office/2006/documentManagement/types"/>
    <ds:schemaRef ds:uri="08c3be05-7986-4e38-b56c-c7c4a964138c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2183</TotalTime>
  <Words>3134</Words>
  <Application>Microsoft Office PowerPoint</Application>
  <PresentationFormat>Grand écran</PresentationFormat>
  <Paragraphs>582</Paragraphs>
  <Slides>43</Slides>
  <Notes>42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4" baseType="lpstr">
      <vt:lpstr>1_Thème Office</vt:lpstr>
      <vt:lpstr>Comptabilité de gestion (10904) – Séance 1 Séance en classe</vt:lpstr>
      <vt:lpstr>Présentation PowerPoint</vt:lpstr>
      <vt:lpstr>Présentation du cours </vt:lpstr>
      <vt:lpstr>Collaborateurs</vt:lpstr>
      <vt:lpstr>Vue globale du cours (séances 1 à 7)</vt:lpstr>
      <vt:lpstr>Vue globale du cours (séances 8 à 12)</vt:lpstr>
      <vt:lpstr>Présentation PowerPoint</vt:lpstr>
      <vt:lpstr>Présentation PowerPoint</vt:lpstr>
      <vt:lpstr>Présentation PowerPoint</vt:lpstr>
      <vt:lpstr>Présentation PowerPoint</vt:lpstr>
      <vt:lpstr>À qui s’adresse la comptabilité de management ?</vt:lpstr>
      <vt:lpstr> Éléments distinctifs  de la comptabilité financière et de la comptabilité de gestion </vt:lpstr>
      <vt:lpstr>Utilisation de la comptabilité de management</vt:lpstr>
      <vt:lpstr>L’éthique en comptabilité de gestion</vt:lpstr>
      <vt:lpstr>Parmi les décisions suivantes, lesquelles posent un problème d’ordre éthique ?</vt:lpstr>
      <vt:lpstr>La comptabilité de management et quelques notions de coûts clés</vt:lpstr>
      <vt:lpstr>Présentation PowerPoint</vt:lpstr>
      <vt:lpstr>Objectifs de la séance</vt:lpstr>
      <vt:lpstr>Résultat d’exploitation</vt:lpstr>
      <vt:lpstr>Définition - Coût</vt:lpstr>
      <vt:lpstr>Définition - Objet de coût</vt:lpstr>
      <vt:lpstr>Types d’entreprises…</vt:lpstr>
      <vt:lpstr>Identifiez le type d’entreprise</vt:lpstr>
      <vt:lpstr>La classification des coûts dans une  entreprise manufacturière</vt:lpstr>
      <vt:lpstr>Coûts liés au volume d’activité (la variabilité des coûts)</vt:lpstr>
      <vt:lpstr>Classez les coûts comme étant  variables, fixes ou mixtes</vt:lpstr>
      <vt:lpstr>Les coûts variables par palier</vt:lpstr>
      <vt:lpstr>Les coûts fixes par palier</vt:lpstr>
      <vt:lpstr>Le coût total </vt:lpstr>
      <vt:lpstr>Le coût total (à l’intérieur d’un segment significatif)</vt:lpstr>
      <vt:lpstr>Les notions fondamentales – Définitions</vt:lpstr>
      <vt:lpstr>Illustration – Comportement des coûts  (à l’intérieur d’un segment significatif) (1) </vt:lpstr>
      <vt:lpstr>Illustration – Comportement des coûts  (à l’intérieur d’un segment significatif) (2) </vt:lpstr>
      <vt:lpstr>La variabilité des coûts à l’intérieur d’un segment significatif -  Illustration - Les coûts par passager dans mon avion…</vt:lpstr>
      <vt:lpstr>La variabilité des coûts à l’intérieur d’un segment significatif -  Sommaire</vt:lpstr>
      <vt:lpstr>Les coûts mixtes (1/2) </vt:lpstr>
      <vt:lpstr>Les coûts mixtes (2/2)</vt:lpstr>
      <vt:lpstr>Questions de révision</vt:lpstr>
      <vt:lpstr>Classez les coûts (variables ou fixes) </vt:lpstr>
      <vt:lpstr>Classez les coûts (variables, fixes ou mixtes) (MP, MOD, FGF, FVA) </vt:lpstr>
      <vt:lpstr>Calculez le coût total et le coût moyen</vt:lpstr>
      <vt:lpstr>Conclusion – Séance 1</vt:lpstr>
      <vt:lpstr>QUESTIONS…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Comptabilité de gestion (10904) Note de cours (capsule)</dc:title>
  <dc:creator>loecha philion</dc:creator>
  <cp:lastModifiedBy>Loecha Philion</cp:lastModifiedBy>
  <cp:revision>57</cp:revision>
  <cp:lastPrinted>1601-01-01T00:00:00Z</cp:lastPrinted>
  <dcterms:created xsi:type="dcterms:W3CDTF">2021-08-18T20:18:45Z</dcterms:created>
  <dcterms:modified xsi:type="dcterms:W3CDTF">2026-08-19T21:05:14Z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0x0101003F210C906DD6AF4AAA0745DA7F7D668C</vt:lpwstr>
  </property>
</Properties>
</file>