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323" r:id="rId3"/>
    <p:sldId id="290" r:id="rId4"/>
    <p:sldId id="328" r:id="rId5"/>
    <p:sldId id="330" r:id="rId6"/>
    <p:sldId id="332" r:id="rId7"/>
    <p:sldId id="333" r:id="rId8"/>
    <p:sldId id="334" r:id="rId9"/>
    <p:sldId id="335" r:id="rId10"/>
    <p:sldId id="336" r:id="rId11"/>
    <p:sldId id="337" r:id="rId12"/>
    <p:sldId id="366" r:id="rId13"/>
    <p:sldId id="365" r:id="rId14"/>
    <p:sldId id="364" r:id="rId15"/>
    <p:sldId id="340" r:id="rId16"/>
    <p:sldId id="363" r:id="rId17"/>
    <p:sldId id="345" r:id="rId18"/>
    <p:sldId id="346" r:id="rId19"/>
    <p:sldId id="347" r:id="rId20"/>
    <p:sldId id="348" r:id="rId21"/>
    <p:sldId id="349" r:id="rId22"/>
    <p:sldId id="372" r:id="rId23"/>
    <p:sldId id="371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8" r:id="rId35"/>
    <p:sldId id="361" r:id="rId36"/>
    <p:sldId id="369" r:id="rId37"/>
    <p:sldId id="370" r:id="rId38"/>
    <p:sldId id="367" r:id="rId39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6" autoAdjust="0"/>
    <p:restoredTop sz="94627" autoAdjust="0"/>
  </p:normalViewPr>
  <p:slideViewPr>
    <p:cSldViewPr>
      <p:cViewPr varScale="1">
        <p:scale>
          <a:sx n="110" d="100"/>
          <a:sy n="110" d="100"/>
        </p:scale>
        <p:origin x="76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30" y="112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5450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 smtClean="0"/>
          </a:p>
        </p:txBody>
      </p:sp>
    </p:spTree>
    <p:extLst>
      <p:ext uri="{BB962C8B-B14F-4D97-AF65-F5344CB8AC3E}">
        <p14:creationId xmlns:p14="http://schemas.microsoft.com/office/powerpoint/2010/main" val="5788900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692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30326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656780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572878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6302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29369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 smtClean="0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84274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E4B237D4-D237-4209-A6F9-A690B5C2DBBE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595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FCFA56F3-0D84-4B01-A76F-E92948C57A70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596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pPr/>
              <a:t>12/05/2016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8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iming>
    <p:tnLst>
      <p:par>
        <p:cTn id="1" dur="indefinite" restart="never" nodeType="tmRoot"/>
      </p:par>
    </p:tnLst>
  </p:timing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4.emf"/><Relationship Id="rId2" Type="http://schemas.openxmlformats.org/officeDocument/2006/relationships/tags" Target="../tags/tag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oleObject" Target="../embeddings/oleObject2.bin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slideLayout" Target="../slideLayouts/slideLayout11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1" Type="http://schemas.openxmlformats.org/officeDocument/2006/relationships/vmlDrawing" Target="../drawings/vmlDrawing2.v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26" Type="http://schemas.openxmlformats.org/officeDocument/2006/relationships/tags" Target="../tags/tag78.xml"/><Relationship Id="rId3" Type="http://schemas.openxmlformats.org/officeDocument/2006/relationships/tags" Target="../tags/tag55.xml"/><Relationship Id="rId21" Type="http://schemas.openxmlformats.org/officeDocument/2006/relationships/tags" Target="../tags/tag73.xml"/><Relationship Id="rId34" Type="http://schemas.openxmlformats.org/officeDocument/2006/relationships/slideLayout" Target="../slideLayouts/slideLayout11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5" Type="http://schemas.openxmlformats.org/officeDocument/2006/relationships/tags" Target="../tags/tag77.xml"/><Relationship Id="rId33" Type="http://schemas.openxmlformats.org/officeDocument/2006/relationships/tags" Target="../tags/tag85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tags" Target="../tags/tag72.xml"/><Relationship Id="rId29" Type="http://schemas.openxmlformats.org/officeDocument/2006/relationships/tags" Target="../tags/tag81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tags" Target="../tags/tag76.xml"/><Relationship Id="rId32" Type="http://schemas.openxmlformats.org/officeDocument/2006/relationships/tags" Target="../tags/tag84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tags" Target="../tags/tag75.xml"/><Relationship Id="rId28" Type="http://schemas.openxmlformats.org/officeDocument/2006/relationships/tags" Target="../tags/tag80.xml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31" Type="http://schemas.openxmlformats.org/officeDocument/2006/relationships/tags" Target="../tags/tag83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tags" Target="../tags/tag74.xml"/><Relationship Id="rId27" Type="http://schemas.openxmlformats.org/officeDocument/2006/relationships/tags" Target="../tags/tag79.xml"/><Relationship Id="rId30" Type="http://schemas.openxmlformats.org/officeDocument/2006/relationships/tags" Target="../tags/tag8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26" Type="http://schemas.openxmlformats.org/officeDocument/2006/relationships/tags" Target="../tags/tag111.xml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34" Type="http://schemas.openxmlformats.org/officeDocument/2006/relationships/tags" Target="../tags/tag119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5" Type="http://schemas.openxmlformats.org/officeDocument/2006/relationships/tags" Target="../tags/tag110.xml"/><Relationship Id="rId33" Type="http://schemas.openxmlformats.org/officeDocument/2006/relationships/tags" Target="../tags/tag118.xml"/><Relationship Id="rId38" Type="http://schemas.openxmlformats.org/officeDocument/2006/relationships/slideLayout" Target="../slideLayouts/slideLayout11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29" Type="http://schemas.openxmlformats.org/officeDocument/2006/relationships/tags" Target="../tags/tag114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tags" Target="../tags/tag109.xml"/><Relationship Id="rId32" Type="http://schemas.openxmlformats.org/officeDocument/2006/relationships/tags" Target="../tags/tag117.xml"/><Relationship Id="rId37" Type="http://schemas.openxmlformats.org/officeDocument/2006/relationships/tags" Target="../tags/tag122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28" Type="http://schemas.openxmlformats.org/officeDocument/2006/relationships/tags" Target="../tags/tag113.xml"/><Relationship Id="rId36" Type="http://schemas.openxmlformats.org/officeDocument/2006/relationships/tags" Target="../tags/tag121.xml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31" Type="http://schemas.openxmlformats.org/officeDocument/2006/relationships/tags" Target="../tags/tag116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Relationship Id="rId27" Type="http://schemas.openxmlformats.org/officeDocument/2006/relationships/tags" Target="../tags/tag112.xml"/><Relationship Id="rId30" Type="http://schemas.openxmlformats.org/officeDocument/2006/relationships/tags" Target="../tags/tag115.xml"/><Relationship Id="rId35" Type="http://schemas.openxmlformats.org/officeDocument/2006/relationships/tags" Target="../tags/tag12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26" Type="http://schemas.openxmlformats.org/officeDocument/2006/relationships/tags" Target="../tags/tag147.xml"/><Relationship Id="rId39" Type="http://schemas.openxmlformats.org/officeDocument/2006/relationships/tags" Target="../tags/tag160.xml"/><Relationship Id="rId3" Type="http://schemas.openxmlformats.org/officeDocument/2006/relationships/tags" Target="../tags/tag124.xml"/><Relationship Id="rId21" Type="http://schemas.openxmlformats.org/officeDocument/2006/relationships/tags" Target="../tags/tag142.xml"/><Relationship Id="rId34" Type="http://schemas.openxmlformats.org/officeDocument/2006/relationships/tags" Target="../tags/tag155.xml"/><Relationship Id="rId42" Type="http://schemas.openxmlformats.org/officeDocument/2006/relationships/oleObject" Target="../embeddings/oleObject3.bin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5" Type="http://schemas.openxmlformats.org/officeDocument/2006/relationships/tags" Target="../tags/tag146.xml"/><Relationship Id="rId33" Type="http://schemas.openxmlformats.org/officeDocument/2006/relationships/tags" Target="../tags/tag154.xml"/><Relationship Id="rId38" Type="http://schemas.openxmlformats.org/officeDocument/2006/relationships/tags" Target="../tags/tag159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0" Type="http://schemas.openxmlformats.org/officeDocument/2006/relationships/tags" Target="../tags/tag141.xml"/><Relationship Id="rId29" Type="http://schemas.openxmlformats.org/officeDocument/2006/relationships/tags" Target="../tags/tag150.xml"/><Relationship Id="rId41" Type="http://schemas.openxmlformats.org/officeDocument/2006/relationships/slideLayout" Target="../slideLayouts/slideLayout11.xml"/><Relationship Id="rId1" Type="http://schemas.openxmlformats.org/officeDocument/2006/relationships/vmlDrawing" Target="../drawings/vmlDrawing3.v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24" Type="http://schemas.openxmlformats.org/officeDocument/2006/relationships/tags" Target="../tags/tag145.xml"/><Relationship Id="rId32" Type="http://schemas.openxmlformats.org/officeDocument/2006/relationships/tags" Target="../tags/tag153.xml"/><Relationship Id="rId37" Type="http://schemas.openxmlformats.org/officeDocument/2006/relationships/tags" Target="../tags/tag158.xml"/><Relationship Id="rId40" Type="http://schemas.openxmlformats.org/officeDocument/2006/relationships/tags" Target="../tags/tag161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23" Type="http://schemas.openxmlformats.org/officeDocument/2006/relationships/tags" Target="../tags/tag144.xml"/><Relationship Id="rId28" Type="http://schemas.openxmlformats.org/officeDocument/2006/relationships/tags" Target="../tags/tag149.xml"/><Relationship Id="rId36" Type="http://schemas.openxmlformats.org/officeDocument/2006/relationships/tags" Target="../tags/tag157.xml"/><Relationship Id="rId10" Type="http://schemas.openxmlformats.org/officeDocument/2006/relationships/tags" Target="../tags/tag131.xml"/><Relationship Id="rId19" Type="http://schemas.openxmlformats.org/officeDocument/2006/relationships/tags" Target="../tags/tag140.xml"/><Relationship Id="rId31" Type="http://schemas.openxmlformats.org/officeDocument/2006/relationships/tags" Target="../tags/tag152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Relationship Id="rId22" Type="http://schemas.openxmlformats.org/officeDocument/2006/relationships/tags" Target="../tags/tag143.xml"/><Relationship Id="rId27" Type="http://schemas.openxmlformats.org/officeDocument/2006/relationships/tags" Target="../tags/tag148.xml"/><Relationship Id="rId30" Type="http://schemas.openxmlformats.org/officeDocument/2006/relationships/tags" Target="../tags/tag151.xml"/><Relationship Id="rId35" Type="http://schemas.openxmlformats.org/officeDocument/2006/relationships/tags" Target="../tags/tag156.xml"/><Relationship Id="rId43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26" Type="http://schemas.openxmlformats.org/officeDocument/2006/relationships/tags" Target="../tags/tag189.xml"/><Relationship Id="rId3" Type="http://schemas.openxmlformats.org/officeDocument/2006/relationships/tags" Target="../tags/tag166.xml"/><Relationship Id="rId21" Type="http://schemas.openxmlformats.org/officeDocument/2006/relationships/tags" Target="../tags/tag184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5" Type="http://schemas.openxmlformats.org/officeDocument/2006/relationships/tags" Target="../tags/tag188.xml"/><Relationship Id="rId33" Type="http://schemas.openxmlformats.org/officeDocument/2006/relationships/slideLayout" Target="../slideLayouts/slideLayout10.xml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20" Type="http://schemas.openxmlformats.org/officeDocument/2006/relationships/tags" Target="../tags/tag183.xml"/><Relationship Id="rId29" Type="http://schemas.openxmlformats.org/officeDocument/2006/relationships/tags" Target="../tags/tag192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24" Type="http://schemas.openxmlformats.org/officeDocument/2006/relationships/tags" Target="../tags/tag187.xml"/><Relationship Id="rId32" Type="http://schemas.openxmlformats.org/officeDocument/2006/relationships/tags" Target="../tags/tag195.xml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23" Type="http://schemas.openxmlformats.org/officeDocument/2006/relationships/tags" Target="../tags/tag186.xml"/><Relationship Id="rId28" Type="http://schemas.openxmlformats.org/officeDocument/2006/relationships/tags" Target="../tags/tag191.xml"/><Relationship Id="rId10" Type="http://schemas.openxmlformats.org/officeDocument/2006/relationships/tags" Target="../tags/tag173.xml"/><Relationship Id="rId19" Type="http://schemas.openxmlformats.org/officeDocument/2006/relationships/tags" Target="../tags/tag182.xml"/><Relationship Id="rId31" Type="http://schemas.openxmlformats.org/officeDocument/2006/relationships/tags" Target="../tags/tag194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Relationship Id="rId22" Type="http://schemas.openxmlformats.org/officeDocument/2006/relationships/tags" Target="../tags/tag185.xml"/><Relationship Id="rId27" Type="http://schemas.openxmlformats.org/officeDocument/2006/relationships/tags" Target="../tags/tag190.xml"/><Relationship Id="rId30" Type="http://schemas.openxmlformats.org/officeDocument/2006/relationships/tags" Target="../tags/tag19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18" Type="http://schemas.openxmlformats.org/officeDocument/2006/relationships/tags" Target="../tags/tag213.xml"/><Relationship Id="rId26" Type="http://schemas.openxmlformats.org/officeDocument/2006/relationships/tags" Target="../tags/tag221.xml"/><Relationship Id="rId3" Type="http://schemas.openxmlformats.org/officeDocument/2006/relationships/tags" Target="../tags/tag198.xml"/><Relationship Id="rId21" Type="http://schemas.openxmlformats.org/officeDocument/2006/relationships/tags" Target="../tags/tag216.xml"/><Relationship Id="rId34" Type="http://schemas.openxmlformats.org/officeDocument/2006/relationships/tags" Target="../tags/tag229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tags" Target="../tags/tag212.xml"/><Relationship Id="rId25" Type="http://schemas.openxmlformats.org/officeDocument/2006/relationships/tags" Target="../tags/tag220.xml"/><Relationship Id="rId33" Type="http://schemas.openxmlformats.org/officeDocument/2006/relationships/tags" Target="../tags/tag228.xml"/><Relationship Id="rId2" Type="http://schemas.openxmlformats.org/officeDocument/2006/relationships/tags" Target="../tags/tag197.xml"/><Relationship Id="rId16" Type="http://schemas.openxmlformats.org/officeDocument/2006/relationships/tags" Target="../tags/tag211.xml"/><Relationship Id="rId20" Type="http://schemas.openxmlformats.org/officeDocument/2006/relationships/tags" Target="../tags/tag215.xml"/><Relationship Id="rId29" Type="http://schemas.openxmlformats.org/officeDocument/2006/relationships/tags" Target="../tags/tag224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24" Type="http://schemas.openxmlformats.org/officeDocument/2006/relationships/tags" Target="../tags/tag219.xml"/><Relationship Id="rId32" Type="http://schemas.openxmlformats.org/officeDocument/2006/relationships/tags" Target="../tags/tag227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23" Type="http://schemas.openxmlformats.org/officeDocument/2006/relationships/tags" Target="../tags/tag218.xml"/><Relationship Id="rId28" Type="http://schemas.openxmlformats.org/officeDocument/2006/relationships/tags" Target="../tags/tag223.xml"/><Relationship Id="rId36" Type="http://schemas.openxmlformats.org/officeDocument/2006/relationships/slideLayout" Target="../slideLayouts/slideLayout10.xml"/><Relationship Id="rId10" Type="http://schemas.openxmlformats.org/officeDocument/2006/relationships/tags" Target="../tags/tag205.xml"/><Relationship Id="rId19" Type="http://schemas.openxmlformats.org/officeDocument/2006/relationships/tags" Target="../tags/tag214.xml"/><Relationship Id="rId31" Type="http://schemas.openxmlformats.org/officeDocument/2006/relationships/tags" Target="../tags/tag226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Relationship Id="rId22" Type="http://schemas.openxmlformats.org/officeDocument/2006/relationships/tags" Target="../tags/tag217.xml"/><Relationship Id="rId27" Type="http://schemas.openxmlformats.org/officeDocument/2006/relationships/tags" Target="../tags/tag222.xml"/><Relationship Id="rId30" Type="http://schemas.openxmlformats.org/officeDocument/2006/relationships/tags" Target="../tags/tag225.xml"/><Relationship Id="rId35" Type="http://schemas.openxmlformats.org/officeDocument/2006/relationships/tags" Target="../tags/tag23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13" Type="http://schemas.openxmlformats.org/officeDocument/2006/relationships/tags" Target="../tags/tag242.xml"/><Relationship Id="rId18" Type="http://schemas.openxmlformats.org/officeDocument/2006/relationships/tags" Target="../tags/tag247.xml"/><Relationship Id="rId26" Type="http://schemas.openxmlformats.org/officeDocument/2006/relationships/tags" Target="../tags/tag255.xml"/><Relationship Id="rId39" Type="http://schemas.openxmlformats.org/officeDocument/2006/relationships/oleObject" Target="../embeddings/oleObject4.bin"/><Relationship Id="rId3" Type="http://schemas.openxmlformats.org/officeDocument/2006/relationships/tags" Target="../tags/tag232.xml"/><Relationship Id="rId21" Type="http://schemas.openxmlformats.org/officeDocument/2006/relationships/tags" Target="../tags/tag250.xml"/><Relationship Id="rId34" Type="http://schemas.openxmlformats.org/officeDocument/2006/relationships/tags" Target="../tags/tag263.xml"/><Relationship Id="rId7" Type="http://schemas.openxmlformats.org/officeDocument/2006/relationships/tags" Target="../tags/tag236.xml"/><Relationship Id="rId12" Type="http://schemas.openxmlformats.org/officeDocument/2006/relationships/tags" Target="../tags/tag241.xml"/><Relationship Id="rId17" Type="http://schemas.openxmlformats.org/officeDocument/2006/relationships/tags" Target="../tags/tag246.xml"/><Relationship Id="rId25" Type="http://schemas.openxmlformats.org/officeDocument/2006/relationships/tags" Target="../tags/tag254.xml"/><Relationship Id="rId33" Type="http://schemas.openxmlformats.org/officeDocument/2006/relationships/tags" Target="../tags/tag262.xml"/><Relationship Id="rId38" Type="http://schemas.openxmlformats.org/officeDocument/2006/relationships/slideLayout" Target="../slideLayouts/slideLayout10.xml"/><Relationship Id="rId2" Type="http://schemas.openxmlformats.org/officeDocument/2006/relationships/tags" Target="../tags/tag231.xml"/><Relationship Id="rId16" Type="http://schemas.openxmlformats.org/officeDocument/2006/relationships/tags" Target="../tags/tag245.xml"/><Relationship Id="rId20" Type="http://schemas.openxmlformats.org/officeDocument/2006/relationships/tags" Target="../tags/tag249.xml"/><Relationship Id="rId29" Type="http://schemas.openxmlformats.org/officeDocument/2006/relationships/tags" Target="../tags/tag258.xml"/><Relationship Id="rId1" Type="http://schemas.openxmlformats.org/officeDocument/2006/relationships/vmlDrawing" Target="../drawings/vmlDrawing4.vml"/><Relationship Id="rId6" Type="http://schemas.openxmlformats.org/officeDocument/2006/relationships/tags" Target="../tags/tag235.xml"/><Relationship Id="rId11" Type="http://schemas.openxmlformats.org/officeDocument/2006/relationships/tags" Target="../tags/tag240.xml"/><Relationship Id="rId24" Type="http://schemas.openxmlformats.org/officeDocument/2006/relationships/tags" Target="../tags/tag253.xml"/><Relationship Id="rId32" Type="http://schemas.openxmlformats.org/officeDocument/2006/relationships/tags" Target="../tags/tag261.xml"/><Relationship Id="rId37" Type="http://schemas.openxmlformats.org/officeDocument/2006/relationships/tags" Target="../tags/tag266.xml"/><Relationship Id="rId40" Type="http://schemas.openxmlformats.org/officeDocument/2006/relationships/image" Target="../media/image7.emf"/><Relationship Id="rId5" Type="http://schemas.openxmlformats.org/officeDocument/2006/relationships/tags" Target="../tags/tag234.xml"/><Relationship Id="rId15" Type="http://schemas.openxmlformats.org/officeDocument/2006/relationships/tags" Target="../tags/tag244.xml"/><Relationship Id="rId23" Type="http://schemas.openxmlformats.org/officeDocument/2006/relationships/tags" Target="../tags/tag252.xml"/><Relationship Id="rId28" Type="http://schemas.openxmlformats.org/officeDocument/2006/relationships/tags" Target="../tags/tag257.xml"/><Relationship Id="rId36" Type="http://schemas.openxmlformats.org/officeDocument/2006/relationships/tags" Target="../tags/tag265.xml"/><Relationship Id="rId10" Type="http://schemas.openxmlformats.org/officeDocument/2006/relationships/tags" Target="../tags/tag239.xml"/><Relationship Id="rId19" Type="http://schemas.openxmlformats.org/officeDocument/2006/relationships/tags" Target="../tags/tag248.xml"/><Relationship Id="rId31" Type="http://schemas.openxmlformats.org/officeDocument/2006/relationships/tags" Target="../tags/tag260.xml"/><Relationship Id="rId4" Type="http://schemas.openxmlformats.org/officeDocument/2006/relationships/tags" Target="../tags/tag233.xml"/><Relationship Id="rId9" Type="http://schemas.openxmlformats.org/officeDocument/2006/relationships/tags" Target="../tags/tag238.xml"/><Relationship Id="rId14" Type="http://schemas.openxmlformats.org/officeDocument/2006/relationships/tags" Target="../tags/tag243.xml"/><Relationship Id="rId22" Type="http://schemas.openxmlformats.org/officeDocument/2006/relationships/tags" Target="../tags/tag251.xml"/><Relationship Id="rId27" Type="http://schemas.openxmlformats.org/officeDocument/2006/relationships/tags" Target="../tags/tag256.xml"/><Relationship Id="rId30" Type="http://schemas.openxmlformats.org/officeDocument/2006/relationships/tags" Target="../tags/tag259.xml"/><Relationship Id="rId35" Type="http://schemas.openxmlformats.org/officeDocument/2006/relationships/tags" Target="../tags/tag26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13" Type="http://schemas.openxmlformats.org/officeDocument/2006/relationships/tags" Target="../tags/tag278.xml"/><Relationship Id="rId18" Type="http://schemas.openxmlformats.org/officeDocument/2006/relationships/tags" Target="../tags/tag283.xml"/><Relationship Id="rId26" Type="http://schemas.openxmlformats.org/officeDocument/2006/relationships/tags" Target="../tags/tag291.xml"/><Relationship Id="rId39" Type="http://schemas.openxmlformats.org/officeDocument/2006/relationships/tags" Target="../tags/tag304.xml"/><Relationship Id="rId3" Type="http://schemas.openxmlformats.org/officeDocument/2006/relationships/tags" Target="../tags/tag268.xml"/><Relationship Id="rId21" Type="http://schemas.openxmlformats.org/officeDocument/2006/relationships/tags" Target="../tags/tag286.xml"/><Relationship Id="rId34" Type="http://schemas.openxmlformats.org/officeDocument/2006/relationships/tags" Target="../tags/tag299.xml"/><Relationship Id="rId42" Type="http://schemas.openxmlformats.org/officeDocument/2006/relationships/oleObject" Target="../embeddings/oleObject5.bin"/><Relationship Id="rId7" Type="http://schemas.openxmlformats.org/officeDocument/2006/relationships/tags" Target="../tags/tag272.xml"/><Relationship Id="rId12" Type="http://schemas.openxmlformats.org/officeDocument/2006/relationships/tags" Target="../tags/tag277.xml"/><Relationship Id="rId17" Type="http://schemas.openxmlformats.org/officeDocument/2006/relationships/tags" Target="../tags/tag282.xml"/><Relationship Id="rId25" Type="http://schemas.openxmlformats.org/officeDocument/2006/relationships/tags" Target="../tags/tag290.xml"/><Relationship Id="rId33" Type="http://schemas.openxmlformats.org/officeDocument/2006/relationships/tags" Target="../tags/tag298.xml"/><Relationship Id="rId38" Type="http://schemas.openxmlformats.org/officeDocument/2006/relationships/tags" Target="../tags/tag303.xml"/><Relationship Id="rId2" Type="http://schemas.openxmlformats.org/officeDocument/2006/relationships/tags" Target="../tags/tag267.xml"/><Relationship Id="rId16" Type="http://schemas.openxmlformats.org/officeDocument/2006/relationships/tags" Target="../tags/tag281.xml"/><Relationship Id="rId20" Type="http://schemas.openxmlformats.org/officeDocument/2006/relationships/tags" Target="../tags/tag285.xml"/><Relationship Id="rId29" Type="http://schemas.openxmlformats.org/officeDocument/2006/relationships/tags" Target="../tags/tag294.xml"/><Relationship Id="rId41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24" Type="http://schemas.openxmlformats.org/officeDocument/2006/relationships/tags" Target="../tags/tag289.xml"/><Relationship Id="rId32" Type="http://schemas.openxmlformats.org/officeDocument/2006/relationships/tags" Target="../tags/tag297.xml"/><Relationship Id="rId37" Type="http://schemas.openxmlformats.org/officeDocument/2006/relationships/tags" Target="../tags/tag302.xml"/><Relationship Id="rId40" Type="http://schemas.openxmlformats.org/officeDocument/2006/relationships/tags" Target="../tags/tag305.xml"/><Relationship Id="rId5" Type="http://schemas.openxmlformats.org/officeDocument/2006/relationships/tags" Target="../tags/tag270.xml"/><Relationship Id="rId15" Type="http://schemas.openxmlformats.org/officeDocument/2006/relationships/tags" Target="../tags/tag280.xml"/><Relationship Id="rId23" Type="http://schemas.openxmlformats.org/officeDocument/2006/relationships/tags" Target="../tags/tag288.xml"/><Relationship Id="rId28" Type="http://schemas.openxmlformats.org/officeDocument/2006/relationships/tags" Target="../tags/tag293.xml"/><Relationship Id="rId36" Type="http://schemas.openxmlformats.org/officeDocument/2006/relationships/tags" Target="../tags/tag301.xml"/><Relationship Id="rId10" Type="http://schemas.openxmlformats.org/officeDocument/2006/relationships/tags" Target="../tags/tag275.xml"/><Relationship Id="rId19" Type="http://schemas.openxmlformats.org/officeDocument/2006/relationships/tags" Target="../tags/tag284.xml"/><Relationship Id="rId31" Type="http://schemas.openxmlformats.org/officeDocument/2006/relationships/tags" Target="../tags/tag296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tags" Target="../tags/tag279.xml"/><Relationship Id="rId22" Type="http://schemas.openxmlformats.org/officeDocument/2006/relationships/tags" Target="../tags/tag287.xml"/><Relationship Id="rId27" Type="http://schemas.openxmlformats.org/officeDocument/2006/relationships/tags" Target="../tags/tag292.xml"/><Relationship Id="rId30" Type="http://schemas.openxmlformats.org/officeDocument/2006/relationships/tags" Target="../tags/tag295.xml"/><Relationship Id="rId35" Type="http://schemas.openxmlformats.org/officeDocument/2006/relationships/tags" Target="../tags/tag300.xml"/><Relationship Id="rId43" Type="http://schemas.openxmlformats.org/officeDocument/2006/relationships/image" Target="../media/image8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12.xml"/><Relationship Id="rId13" Type="http://schemas.openxmlformats.org/officeDocument/2006/relationships/tags" Target="../tags/tag317.xml"/><Relationship Id="rId18" Type="http://schemas.openxmlformats.org/officeDocument/2006/relationships/tags" Target="../tags/tag322.xml"/><Relationship Id="rId26" Type="http://schemas.openxmlformats.org/officeDocument/2006/relationships/tags" Target="../tags/tag330.xml"/><Relationship Id="rId39" Type="http://schemas.openxmlformats.org/officeDocument/2006/relationships/tags" Target="../tags/tag343.xml"/><Relationship Id="rId3" Type="http://schemas.openxmlformats.org/officeDocument/2006/relationships/tags" Target="../tags/tag307.xml"/><Relationship Id="rId21" Type="http://schemas.openxmlformats.org/officeDocument/2006/relationships/tags" Target="../tags/tag325.xml"/><Relationship Id="rId34" Type="http://schemas.openxmlformats.org/officeDocument/2006/relationships/tags" Target="../tags/tag338.xml"/><Relationship Id="rId42" Type="http://schemas.openxmlformats.org/officeDocument/2006/relationships/oleObject" Target="../embeddings/oleObject6.bin"/><Relationship Id="rId7" Type="http://schemas.openxmlformats.org/officeDocument/2006/relationships/tags" Target="../tags/tag311.xml"/><Relationship Id="rId12" Type="http://schemas.openxmlformats.org/officeDocument/2006/relationships/tags" Target="../tags/tag316.xml"/><Relationship Id="rId17" Type="http://schemas.openxmlformats.org/officeDocument/2006/relationships/tags" Target="../tags/tag321.xml"/><Relationship Id="rId25" Type="http://schemas.openxmlformats.org/officeDocument/2006/relationships/tags" Target="../tags/tag329.xml"/><Relationship Id="rId33" Type="http://schemas.openxmlformats.org/officeDocument/2006/relationships/tags" Target="../tags/tag337.xml"/><Relationship Id="rId38" Type="http://schemas.openxmlformats.org/officeDocument/2006/relationships/tags" Target="../tags/tag342.xml"/><Relationship Id="rId2" Type="http://schemas.openxmlformats.org/officeDocument/2006/relationships/tags" Target="../tags/tag306.xml"/><Relationship Id="rId16" Type="http://schemas.openxmlformats.org/officeDocument/2006/relationships/tags" Target="../tags/tag320.xml"/><Relationship Id="rId20" Type="http://schemas.openxmlformats.org/officeDocument/2006/relationships/tags" Target="../tags/tag324.xml"/><Relationship Id="rId29" Type="http://schemas.openxmlformats.org/officeDocument/2006/relationships/tags" Target="../tags/tag333.xml"/><Relationship Id="rId41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tags" Target="../tags/tag310.xml"/><Relationship Id="rId11" Type="http://schemas.openxmlformats.org/officeDocument/2006/relationships/tags" Target="../tags/tag315.xml"/><Relationship Id="rId24" Type="http://schemas.openxmlformats.org/officeDocument/2006/relationships/tags" Target="../tags/tag328.xml"/><Relationship Id="rId32" Type="http://schemas.openxmlformats.org/officeDocument/2006/relationships/tags" Target="../tags/tag336.xml"/><Relationship Id="rId37" Type="http://schemas.openxmlformats.org/officeDocument/2006/relationships/tags" Target="../tags/tag341.xml"/><Relationship Id="rId40" Type="http://schemas.openxmlformats.org/officeDocument/2006/relationships/tags" Target="../tags/tag344.xml"/><Relationship Id="rId5" Type="http://schemas.openxmlformats.org/officeDocument/2006/relationships/tags" Target="../tags/tag309.xml"/><Relationship Id="rId15" Type="http://schemas.openxmlformats.org/officeDocument/2006/relationships/tags" Target="../tags/tag319.xml"/><Relationship Id="rId23" Type="http://schemas.openxmlformats.org/officeDocument/2006/relationships/tags" Target="../tags/tag327.xml"/><Relationship Id="rId28" Type="http://schemas.openxmlformats.org/officeDocument/2006/relationships/tags" Target="../tags/tag332.xml"/><Relationship Id="rId36" Type="http://schemas.openxmlformats.org/officeDocument/2006/relationships/tags" Target="../tags/tag340.xml"/><Relationship Id="rId10" Type="http://schemas.openxmlformats.org/officeDocument/2006/relationships/tags" Target="../tags/tag314.xml"/><Relationship Id="rId19" Type="http://schemas.openxmlformats.org/officeDocument/2006/relationships/tags" Target="../tags/tag323.xml"/><Relationship Id="rId31" Type="http://schemas.openxmlformats.org/officeDocument/2006/relationships/tags" Target="../tags/tag335.xml"/><Relationship Id="rId4" Type="http://schemas.openxmlformats.org/officeDocument/2006/relationships/tags" Target="../tags/tag308.xml"/><Relationship Id="rId9" Type="http://schemas.openxmlformats.org/officeDocument/2006/relationships/tags" Target="../tags/tag313.xml"/><Relationship Id="rId14" Type="http://schemas.openxmlformats.org/officeDocument/2006/relationships/tags" Target="../tags/tag318.xml"/><Relationship Id="rId22" Type="http://schemas.openxmlformats.org/officeDocument/2006/relationships/tags" Target="../tags/tag326.xml"/><Relationship Id="rId27" Type="http://schemas.openxmlformats.org/officeDocument/2006/relationships/tags" Target="../tags/tag331.xml"/><Relationship Id="rId30" Type="http://schemas.openxmlformats.org/officeDocument/2006/relationships/tags" Target="../tags/tag334.xml"/><Relationship Id="rId35" Type="http://schemas.openxmlformats.org/officeDocument/2006/relationships/tags" Target="../tags/tag339.xml"/><Relationship Id="rId43" Type="http://schemas.openxmlformats.org/officeDocument/2006/relationships/image" Target="../media/image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46.xml"/><Relationship Id="rId1" Type="http://schemas.openxmlformats.org/officeDocument/2006/relationships/tags" Target="../tags/tag34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56.xml"/><Relationship Id="rId13" Type="http://schemas.openxmlformats.org/officeDocument/2006/relationships/tags" Target="../tags/tag361.xml"/><Relationship Id="rId18" Type="http://schemas.openxmlformats.org/officeDocument/2006/relationships/tags" Target="../tags/tag366.xml"/><Relationship Id="rId26" Type="http://schemas.openxmlformats.org/officeDocument/2006/relationships/tags" Target="../tags/tag374.xml"/><Relationship Id="rId3" Type="http://schemas.openxmlformats.org/officeDocument/2006/relationships/tags" Target="../tags/tag351.xml"/><Relationship Id="rId21" Type="http://schemas.openxmlformats.org/officeDocument/2006/relationships/tags" Target="../tags/tag369.xml"/><Relationship Id="rId34" Type="http://schemas.openxmlformats.org/officeDocument/2006/relationships/tags" Target="../tags/tag382.xml"/><Relationship Id="rId7" Type="http://schemas.openxmlformats.org/officeDocument/2006/relationships/tags" Target="../tags/tag355.xml"/><Relationship Id="rId12" Type="http://schemas.openxmlformats.org/officeDocument/2006/relationships/tags" Target="../tags/tag360.xml"/><Relationship Id="rId17" Type="http://schemas.openxmlformats.org/officeDocument/2006/relationships/tags" Target="../tags/tag365.xml"/><Relationship Id="rId25" Type="http://schemas.openxmlformats.org/officeDocument/2006/relationships/tags" Target="../tags/tag373.xml"/><Relationship Id="rId33" Type="http://schemas.openxmlformats.org/officeDocument/2006/relationships/tags" Target="../tags/tag381.xml"/><Relationship Id="rId2" Type="http://schemas.openxmlformats.org/officeDocument/2006/relationships/tags" Target="../tags/tag350.xml"/><Relationship Id="rId16" Type="http://schemas.openxmlformats.org/officeDocument/2006/relationships/tags" Target="../tags/tag364.xml"/><Relationship Id="rId20" Type="http://schemas.openxmlformats.org/officeDocument/2006/relationships/tags" Target="../tags/tag368.xml"/><Relationship Id="rId29" Type="http://schemas.openxmlformats.org/officeDocument/2006/relationships/tags" Target="../tags/tag377.xml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24" Type="http://schemas.openxmlformats.org/officeDocument/2006/relationships/tags" Target="../tags/tag372.xml"/><Relationship Id="rId32" Type="http://schemas.openxmlformats.org/officeDocument/2006/relationships/tags" Target="../tags/tag380.xml"/><Relationship Id="rId5" Type="http://schemas.openxmlformats.org/officeDocument/2006/relationships/tags" Target="../tags/tag353.xml"/><Relationship Id="rId15" Type="http://schemas.openxmlformats.org/officeDocument/2006/relationships/tags" Target="../tags/tag363.xml"/><Relationship Id="rId23" Type="http://schemas.openxmlformats.org/officeDocument/2006/relationships/tags" Target="../tags/tag371.xml"/><Relationship Id="rId28" Type="http://schemas.openxmlformats.org/officeDocument/2006/relationships/tags" Target="../tags/tag376.xml"/><Relationship Id="rId36" Type="http://schemas.openxmlformats.org/officeDocument/2006/relationships/slideLayout" Target="../slideLayouts/slideLayout2.xml"/><Relationship Id="rId10" Type="http://schemas.openxmlformats.org/officeDocument/2006/relationships/tags" Target="../tags/tag358.xml"/><Relationship Id="rId19" Type="http://schemas.openxmlformats.org/officeDocument/2006/relationships/tags" Target="../tags/tag367.xml"/><Relationship Id="rId31" Type="http://schemas.openxmlformats.org/officeDocument/2006/relationships/tags" Target="../tags/tag379.xml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tags" Target="../tags/tag362.xml"/><Relationship Id="rId22" Type="http://schemas.openxmlformats.org/officeDocument/2006/relationships/tags" Target="../tags/tag370.xml"/><Relationship Id="rId27" Type="http://schemas.openxmlformats.org/officeDocument/2006/relationships/tags" Target="../tags/tag375.xml"/><Relationship Id="rId30" Type="http://schemas.openxmlformats.org/officeDocument/2006/relationships/tags" Target="../tags/tag378.xml"/><Relationship Id="rId35" Type="http://schemas.openxmlformats.org/officeDocument/2006/relationships/tags" Target="../tags/tag38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91.xml"/><Relationship Id="rId13" Type="http://schemas.openxmlformats.org/officeDocument/2006/relationships/tags" Target="../tags/tag396.xml"/><Relationship Id="rId18" Type="http://schemas.openxmlformats.org/officeDocument/2006/relationships/tags" Target="../tags/tag401.xml"/><Relationship Id="rId26" Type="http://schemas.openxmlformats.org/officeDocument/2006/relationships/tags" Target="../tags/tag409.xml"/><Relationship Id="rId3" Type="http://schemas.openxmlformats.org/officeDocument/2006/relationships/tags" Target="../tags/tag386.xml"/><Relationship Id="rId21" Type="http://schemas.openxmlformats.org/officeDocument/2006/relationships/tags" Target="../tags/tag404.xml"/><Relationship Id="rId34" Type="http://schemas.openxmlformats.org/officeDocument/2006/relationships/tags" Target="../tags/tag417.xml"/><Relationship Id="rId7" Type="http://schemas.openxmlformats.org/officeDocument/2006/relationships/tags" Target="../tags/tag390.xml"/><Relationship Id="rId12" Type="http://schemas.openxmlformats.org/officeDocument/2006/relationships/tags" Target="../tags/tag395.xml"/><Relationship Id="rId17" Type="http://schemas.openxmlformats.org/officeDocument/2006/relationships/tags" Target="../tags/tag400.xml"/><Relationship Id="rId25" Type="http://schemas.openxmlformats.org/officeDocument/2006/relationships/tags" Target="../tags/tag408.xml"/><Relationship Id="rId33" Type="http://schemas.openxmlformats.org/officeDocument/2006/relationships/tags" Target="../tags/tag416.xml"/><Relationship Id="rId2" Type="http://schemas.openxmlformats.org/officeDocument/2006/relationships/tags" Target="../tags/tag385.xml"/><Relationship Id="rId16" Type="http://schemas.openxmlformats.org/officeDocument/2006/relationships/tags" Target="../tags/tag399.xml"/><Relationship Id="rId20" Type="http://schemas.openxmlformats.org/officeDocument/2006/relationships/tags" Target="../tags/tag403.xml"/><Relationship Id="rId29" Type="http://schemas.openxmlformats.org/officeDocument/2006/relationships/tags" Target="../tags/tag412.xml"/><Relationship Id="rId1" Type="http://schemas.openxmlformats.org/officeDocument/2006/relationships/tags" Target="../tags/tag384.xml"/><Relationship Id="rId6" Type="http://schemas.openxmlformats.org/officeDocument/2006/relationships/tags" Target="../tags/tag389.xml"/><Relationship Id="rId11" Type="http://schemas.openxmlformats.org/officeDocument/2006/relationships/tags" Target="../tags/tag394.xml"/><Relationship Id="rId24" Type="http://schemas.openxmlformats.org/officeDocument/2006/relationships/tags" Target="../tags/tag407.xml"/><Relationship Id="rId32" Type="http://schemas.openxmlformats.org/officeDocument/2006/relationships/tags" Target="../tags/tag415.xml"/><Relationship Id="rId5" Type="http://schemas.openxmlformats.org/officeDocument/2006/relationships/tags" Target="../tags/tag388.xml"/><Relationship Id="rId15" Type="http://schemas.openxmlformats.org/officeDocument/2006/relationships/tags" Target="../tags/tag398.xml"/><Relationship Id="rId23" Type="http://schemas.openxmlformats.org/officeDocument/2006/relationships/tags" Target="../tags/tag406.xml"/><Relationship Id="rId28" Type="http://schemas.openxmlformats.org/officeDocument/2006/relationships/tags" Target="../tags/tag411.xml"/><Relationship Id="rId36" Type="http://schemas.openxmlformats.org/officeDocument/2006/relationships/slideLayout" Target="../slideLayouts/slideLayout2.xml"/><Relationship Id="rId10" Type="http://schemas.openxmlformats.org/officeDocument/2006/relationships/tags" Target="../tags/tag393.xml"/><Relationship Id="rId19" Type="http://schemas.openxmlformats.org/officeDocument/2006/relationships/tags" Target="../tags/tag402.xml"/><Relationship Id="rId31" Type="http://schemas.openxmlformats.org/officeDocument/2006/relationships/tags" Target="../tags/tag414.xml"/><Relationship Id="rId4" Type="http://schemas.openxmlformats.org/officeDocument/2006/relationships/tags" Target="../tags/tag387.xml"/><Relationship Id="rId9" Type="http://schemas.openxmlformats.org/officeDocument/2006/relationships/tags" Target="../tags/tag392.xml"/><Relationship Id="rId14" Type="http://schemas.openxmlformats.org/officeDocument/2006/relationships/tags" Target="../tags/tag397.xml"/><Relationship Id="rId22" Type="http://schemas.openxmlformats.org/officeDocument/2006/relationships/tags" Target="../tags/tag405.xml"/><Relationship Id="rId27" Type="http://schemas.openxmlformats.org/officeDocument/2006/relationships/tags" Target="../tags/tag410.xml"/><Relationship Id="rId30" Type="http://schemas.openxmlformats.org/officeDocument/2006/relationships/tags" Target="../tags/tag413.xml"/><Relationship Id="rId35" Type="http://schemas.openxmlformats.org/officeDocument/2006/relationships/tags" Target="../tags/tag418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431.xml"/><Relationship Id="rId18" Type="http://schemas.openxmlformats.org/officeDocument/2006/relationships/tags" Target="../tags/tag436.xml"/><Relationship Id="rId26" Type="http://schemas.openxmlformats.org/officeDocument/2006/relationships/tags" Target="../tags/tag444.xml"/><Relationship Id="rId39" Type="http://schemas.openxmlformats.org/officeDocument/2006/relationships/tags" Target="../tags/tag457.xml"/><Relationship Id="rId21" Type="http://schemas.openxmlformats.org/officeDocument/2006/relationships/tags" Target="../tags/tag439.xml"/><Relationship Id="rId34" Type="http://schemas.openxmlformats.org/officeDocument/2006/relationships/tags" Target="../tags/tag452.xml"/><Relationship Id="rId42" Type="http://schemas.openxmlformats.org/officeDocument/2006/relationships/tags" Target="../tags/tag460.xml"/><Relationship Id="rId47" Type="http://schemas.openxmlformats.org/officeDocument/2006/relationships/tags" Target="../tags/tag465.xml"/><Relationship Id="rId50" Type="http://schemas.openxmlformats.org/officeDocument/2006/relationships/tags" Target="../tags/tag468.xml"/><Relationship Id="rId55" Type="http://schemas.openxmlformats.org/officeDocument/2006/relationships/tags" Target="../tags/tag473.xml"/><Relationship Id="rId63" Type="http://schemas.openxmlformats.org/officeDocument/2006/relationships/tags" Target="../tags/tag481.xml"/><Relationship Id="rId7" Type="http://schemas.openxmlformats.org/officeDocument/2006/relationships/tags" Target="../tags/tag425.xml"/><Relationship Id="rId2" Type="http://schemas.openxmlformats.org/officeDocument/2006/relationships/tags" Target="../tags/tag420.xml"/><Relationship Id="rId16" Type="http://schemas.openxmlformats.org/officeDocument/2006/relationships/tags" Target="../tags/tag434.xml"/><Relationship Id="rId20" Type="http://schemas.openxmlformats.org/officeDocument/2006/relationships/tags" Target="../tags/tag438.xml"/><Relationship Id="rId29" Type="http://schemas.openxmlformats.org/officeDocument/2006/relationships/tags" Target="../tags/tag447.xml"/><Relationship Id="rId41" Type="http://schemas.openxmlformats.org/officeDocument/2006/relationships/tags" Target="../tags/tag459.xml"/><Relationship Id="rId54" Type="http://schemas.openxmlformats.org/officeDocument/2006/relationships/tags" Target="../tags/tag472.xml"/><Relationship Id="rId62" Type="http://schemas.openxmlformats.org/officeDocument/2006/relationships/tags" Target="../tags/tag480.xml"/><Relationship Id="rId1" Type="http://schemas.openxmlformats.org/officeDocument/2006/relationships/tags" Target="../tags/tag419.xml"/><Relationship Id="rId6" Type="http://schemas.openxmlformats.org/officeDocument/2006/relationships/tags" Target="../tags/tag424.xml"/><Relationship Id="rId11" Type="http://schemas.openxmlformats.org/officeDocument/2006/relationships/tags" Target="../tags/tag429.xml"/><Relationship Id="rId24" Type="http://schemas.openxmlformats.org/officeDocument/2006/relationships/tags" Target="../tags/tag442.xml"/><Relationship Id="rId32" Type="http://schemas.openxmlformats.org/officeDocument/2006/relationships/tags" Target="../tags/tag450.xml"/><Relationship Id="rId37" Type="http://schemas.openxmlformats.org/officeDocument/2006/relationships/tags" Target="../tags/tag455.xml"/><Relationship Id="rId40" Type="http://schemas.openxmlformats.org/officeDocument/2006/relationships/tags" Target="../tags/tag458.xml"/><Relationship Id="rId45" Type="http://schemas.openxmlformats.org/officeDocument/2006/relationships/tags" Target="../tags/tag463.xml"/><Relationship Id="rId53" Type="http://schemas.openxmlformats.org/officeDocument/2006/relationships/tags" Target="../tags/tag471.xml"/><Relationship Id="rId58" Type="http://schemas.openxmlformats.org/officeDocument/2006/relationships/tags" Target="../tags/tag476.xml"/><Relationship Id="rId66" Type="http://schemas.openxmlformats.org/officeDocument/2006/relationships/slideLayout" Target="../slideLayouts/slideLayout2.xml"/><Relationship Id="rId5" Type="http://schemas.openxmlformats.org/officeDocument/2006/relationships/tags" Target="../tags/tag423.xml"/><Relationship Id="rId15" Type="http://schemas.openxmlformats.org/officeDocument/2006/relationships/tags" Target="../tags/tag433.xml"/><Relationship Id="rId23" Type="http://schemas.openxmlformats.org/officeDocument/2006/relationships/tags" Target="../tags/tag441.xml"/><Relationship Id="rId28" Type="http://schemas.openxmlformats.org/officeDocument/2006/relationships/tags" Target="../tags/tag446.xml"/><Relationship Id="rId36" Type="http://schemas.openxmlformats.org/officeDocument/2006/relationships/tags" Target="../tags/tag454.xml"/><Relationship Id="rId49" Type="http://schemas.openxmlformats.org/officeDocument/2006/relationships/tags" Target="../tags/tag467.xml"/><Relationship Id="rId57" Type="http://schemas.openxmlformats.org/officeDocument/2006/relationships/tags" Target="../tags/tag475.xml"/><Relationship Id="rId61" Type="http://schemas.openxmlformats.org/officeDocument/2006/relationships/tags" Target="../tags/tag479.xml"/><Relationship Id="rId10" Type="http://schemas.openxmlformats.org/officeDocument/2006/relationships/tags" Target="../tags/tag428.xml"/><Relationship Id="rId19" Type="http://schemas.openxmlformats.org/officeDocument/2006/relationships/tags" Target="../tags/tag437.xml"/><Relationship Id="rId31" Type="http://schemas.openxmlformats.org/officeDocument/2006/relationships/tags" Target="../tags/tag449.xml"/><Relationship Id="rId44" Type="http://schemas.openxmlformats.org/officeDocument/2006/relationships/tags" Target="../tags/tag462.xml"/><Relationship Id="rId52" Type="http://schemas.openxmlformats.org/officeDocument/2006/relationships/tags" Target="../tags/tag470.xml"/><Relationship Id="rId60" Type="http://schemas.openxmlformats.org/officeDocument/2006/relationships/tags" Target="../tags/tag478.xml"/><Relationship Id="rId65" Type="http://schemas.openxmlformats.org/officeDocument/2006/relationships/tags" Target="../tags/tag483.xml"/><Relationship Id="rId4" Type="http://schemas.openxmlformats.org/officeDocument/2006/relationships/tags" Target="../tags/tag422.xml"/><Relationship Id="rId9" Type="http://schemas.openxmlformats.org/officeDocument/2006/relationships/tags" Target="../tags/tag427.xml"/><Relationship Id="rId14" Type="http://schemas.openxmlformats.org/officeDocument/2006/relationships/tags" Target="../tags/tag432.xml"/><Relationship Id="rId22" Type="http://schemas.openxmlformats.org/officeDocument/2006/relationships/tags" Target="../tags/tag440.xml"/><Relationship Id="rId27" Type="http://schemas.openxmlformats.org/officeDocument/2006/relationships/tags" Target="../tags/tag445.xml"/><Relationship Id="rId30" Type="http://schemas.openxmlformats.org/officeDocument/2006/relationships/tags" Target="../tags/tag448.xml"/><Relationship Id="rId35" Type="http://schemas.openxmlformats.org/officeDocument/2006/relationships/tags" Target="../tags/tag453.xml"/><Relationship Id="rId43" Type="http://schemas.openxmlformats.org/officeDocument/2006/relationships/tags" Target="../tags/tag461.xml"/><Relationship Id="rId48" Type="http://schemas.openxmlformats.org/officeDocument/2006/relationships/tags" Target="../tags/tag466.xml"/><Relationship Id="rId56" Type="http://schemas.openxmlformats.org/officeDocument/2006/relationships/tags" Target="../tags/tag474.xml"/><Relationship Id="rId64" Type="http://schemas.openxmlformats.org/officeDocument/2006/relationships/tags" Target="../tags/tag482.xml"/><Relationship Id="rId8" Type="http://schemas.openxmlformats.org/officeDocument/2006/relationships/tags" Target="../tags/tag426.xml"/><Relationship Id="rId51" Type="http://schemas.openxmlformats.org/officeDocument/2006/relationships/tags" Target="../tags/tag469.xml"/><Relationship Id="rId3" Type="http://schemas.openxmlformats.org/officeDocument/2006/relationships/tags" Target="../tags/tag421.xml"/><Relationship Id="rId12" Type="http://schemas.openxmlformats.org/officeDocument/2006/relationships/tags" Target="../tags/tag430.xml"/><Relationship Id="rId17" Type="http://schemas.openxmlformats.org/officeDocument/2006/relationships/tags" Target="../tags/tag435.xml"/><Relationship Id="rId25" Type="http://schemas.openxmlformats.org/officeDocument/2006/relationships/tags" Target="../tags/tag443.xml"/><Relationship Id="rId33" Type="http://schemas.openxmlformats.org/officeDocument/2006/relationships/tags" Target="../tags/tag451.xml"/><Relationship Id="rId38" Type="http://schemas.openxmlformats.org/officeDocument/2006/relationships/tags" Target="../tags/tag456.xml"/><Relationship Id="rId46" Type="http://schemas.openxmlformats.org/officeDocument/2006/relationships/tags" Target="../tags/tag464.xml"/><Relationship Id="rId59" Type="http://schemas.openxmlformats.org/officeDocument/2006/relationships/tags" Target="../tags/tag47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91.xml"/><Relationship Id="rId13" Type="http://schemas.openxmlformats.org/officeDocument/2006/relationships/tags" Target="../tags/tag496.xml"/><Relationship Id="rId18" Type="http://schemas.openxmlformats.org/officeDocument/2006/relationships/tags" Target="../tags/tag501.xml"/><Relationship Id="rId26" Type="http://schemas.openxmlformats.org/officeDocument/2006/relationships/tags" Target="../tags/tag509.xml"/><Relationship Id="rId3" Type="http://schemas.openxmlformats.org/officeDocument/2006/relationships/tags" Target="../tags/tag486.xml"/><Relationship Id="rId21" Type="http://schemas.openxmlformats.org/officeDocument/2006/relationships/tags" Target="../tags/tag504.xml"/><Relationship Id="rId34" Type="http://schemas.openxmlformats.org/officeDocument/2006/relationships/tags" Target="../tags/tag517.xml"/><Relationship Id="rId7" Type="http://schemas.openxmlformats.org/officeDocument/2006/relationships/tags" Target="../tags/tag490.xml"/><Relationship Id="rId12" Type="http://schemas.openxmlformats.org/officeDocument/2006/relationships/tags" Target="../tags/tag495.xml"/><Relationship Id="rId17" Type="http://schemas.openxmlformats.org/officeDocument/2006/relationships/tags" Target="../tags/tag500.xml"/><Relationship Id="rId25" Type="http://schemas.openxmlformats.org/officeDocument/2006/relationships/tags" Target="../tags/tag508.xml"/><Relationship Id="rId33" Type="http://schemas.openxmlformats.org/officeDocument/2006/relationships/tags" Target="../tags/tag516.xml"/><Relationship Id="rId38" Type="http://schemas.openxmlformats.org/officeDocument/2006/relationships/slideLayout" Target="../slideLayouts/slideLayout11.xml"/><Relationship Id="rId2" Type="http://schemas.openxmlformats.org/officeDocument/2006/relationships/tags" Target="../tags/tag485.xml"/><Relationship Id="rId16" Type="http://schemas.openxmlformats.org/officeDocument/2006/relationships/tags" Target="../tags/tag499.xml"/><Relationship Id="rId20" Type="http://schemas.openxmlformats.org/officeDocument/2006/relationships/tags" Target="../tags/tag503.xml"/><Relationship Id="rId29" Type="http://schemas.openxmlformats.org/officeDocument/2006/relationships/tags" Target="../tags/tag512.xml"/><Relationship Id="rId1" Type="http://schemas.openxmlformats.org/officeDocument/2006/relationships/tags" Target="../tags/tag484.xml"/><Relationship Id="rId6" Type="http://schemas.openxmlformats.org/officeDocument/2006/relationships/tags" Target="../tags/tag489.xml"/><Relationship Id="rId11" Type="http://schemas.openxmlformats.org/officeDocument/2006/relationships/tags" Target="../tags/tag494.xml"/><Relationship Id="rId24" Type="http://schemas.openxmlformats.org/officeDocument/2006/relationships/tags" Target="../tags/tag507.xml"/><Relationship Id="rId32" Type="http://schemas.openxmlformats.org/officeDocument/2006/relationships/tags" Target="../tags/tag515.xml"/><Relationship Id="rId37" Type="http://schemas.openxmlformats.org/officeDocument/2006/relationships/tags" Target="../tags/tag520.xml"/><Relationship Id="rId5" Type="http://schemas.openxmlformats.org/officeDocument/2006/relationships/tags" Target="../tags/tag488.xml"/><Relationship Id="rId15" Type="http://schemas.openxmlformats.org/officeDocument/2006/relationships/tags" Target="../tags/tag498.xml"/><Relationship Id="rId23" Type="http://schemas.openxmlformats.org/officeDocument/2006/relationships/tags" Target="../tags/tag506.xml"/><Relationship Id="rId28" Type="http://schemas.openxmlformats.org/officeDocument/2006/relationships/tags" Target="../tags/tag511.xml"/><Relationship Id="rId36" Type="http://schemas.openxmlformats.org/officeDocument/2006/relationships/tags" Target="../tags/tag519.xml"/><Relationship Id="rId10" Type="http://schemas.openxmlformats.org/officeDocument/2006/relationships/tags" Target="../tags/tag493.xml"/><Relationship Id="rId19" Type="http://schemas.openxmlformats.org/officeDocument/2006/relationships/tags" Target="../tags/tag502.xml"/><Relationship Id="rId31" Type="http://schemas.openxmlformats.org/officeDocument/2006/relationships/tags" Target="../tags/tag514.xml"/><Relationship Id="rId4" Type="http://schemas.openxmlformats.org/officeDocument/2006/relationships/tags" Target="../tags/tag487.xml"/><Relationship Id="rId9" Type="http://schemas.openxmlformats.org/officeDocument/2006/relationships/tags" Target="../tags/tag492.xml"/><Relationship Id="rId14" Type="http://schemas.openxmlformats.org/officeDocument/2006/relationships/tags" Target="../tags/tag497.xml"/><Relationship Id="rId22" Type="http://schemas.openxmlformats.org/officeDocument/2006/relationships/tags" Target="../tags/tag505.xml"/><Relationship Id="rId27" Type="http://schemas.openxmlformats.org/officeDocument/2006/relationships/tags" Target="../tags/tag510.xml"/><Relationship Id="rId30" Type="http://schemas.openxmlformats.org/officeDocument/2006/relationships/tags" Target="../tags/tag513.xml"/><Relationship Id="rId35" Type="http://schemas.openxmlformats.org/officeDocument/2006/relationships/tags" Target="../tags/tag51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527.xml"/><Relationship Id="rId13" Type="http://schemas.openxmlformats.org/officeDocument/2006/relationships/tags" Target="../tags/tag532.xml"/><Relationship Id="rId18" Type="http://schemas.openxmlformats.org/officeDocument/2006/relationships/tags" Target="../tags/tag537.xml"/><Relationship Id="rId26" Type="http://schemas.openxmlformats.org/officeDocument/2006/relationships/tags" Target="../tags/tag545.xml"/><Relationship Id="rId39" Type="http://schemas.openxmlformats.org/officeDocument/2006/relationships/image" Target="../media/image10.emf"/><Relationship Id="rId3" Type="http://schemas.openxmlformats.org/officeDocument/2006/relationships/tags" Target="../tags/tag522.xml"/><Relationship Id="rId21" Type="http://schemas.openxmlformats.org/officeDocument/2006/relationships/tags" Target="../tags/tag540.xml"/><Relationship Id="rId34" Type="http://schemas.openxmlformats.org/officeDocument/2006/relationships/tags" Target="../tags/tag553.xml"/><Relationship Id="rId7" Type="http://schemas.openxmlformats.org/officeDocument/2006/relationships/tags" Target="../tags/tag526.xml"/><Relationship Id="rId12" Type="http://schemas.openxmlformats.org/officeDocument/2006/relationships/tags" Target="../tags/tag531.xml"/><Relationship Id="rId17" Type="http://schemas.openxmlformats.org/officeDocument/2006/relationships/tags" Target="../tags/tag536.xml"/><Relationship Id="rId25" Type="http://schemas.openxmlformats.org/officeDocument/2006/relationships/tags" Target="../tags/tag544.xml"/><Relationship Id="rId33" Type="http://schemas.openxmlformats.org/officeDocument/2006/relationships/tags" Target="../tags/tag552.xml"/><Relationship Id="rId38" Type="http://schemas.openxmlformats.org/officeDocument/2006/relationships/oleObject" Target="../embeddings/oleObject7.bin"/><Relationship Id="rId2" Type="http://schemas.openxmlformats.org/officeDocument/2006/relationships/tags" Target="../tags/tag521.xml"/><Relationship Id="rId16" Type="http://schemas.openxmlformats.org/officeDocument/2006/relationships/tags" Target="../tags/tag535.xml"/><Relationship Id="rId20" Type="http://schemas.openxmlformats.org/officeDocument/2006/relationships/tags" Target="../tags/tag539.xml"/><Relationship Id="rId29" Type="http://schemas.openxmlformats.org/officeDocument/2006/relationships/tags" Target="../tags/tag548.xml"/><Relationship Id="rId1" Type="http://schemas.openxmlformats.org/officeDocument/2006/relationships/vmlDrawing" Target="../drawings/vmlDrawing7.vml"/><Relationship Id="rId6" Type="http://schemas.openxmlformats.org/officeDocument/2006/relationships/tags" Target="../tags/tag525.xml"/><Relationship Id="rId11" Type="http://schemas.openxmlformats.org/officeDocument/2006/relationships/tags" Target="../tags/tag530.xml"/><Relationship Id="rId24" Type="http://schemas.openxmlformats.org/officeDocument/2006/relationships/tags" Target="../tags/tag543.xml"/><Relationship Id="rId32" Type="http://schemas.openxmlformats.org/officeDocument/2006/relationships/tags" Target="../tags/tag551.xml"/><Relationship Id="rId37" Type="http://schemas.openxmlformats.org/officeDocument/2006/relationships/slideLayout" Target="../slideLayouts/slideLayout11.xml"/><Relationship Id="rId5" Type="http://schemas.openxmlformats.org/officeDocument/2006/relationships/tags" Target="../tags/tag524.xml"/><Relationship Id="rId15" Type="http://schemas.openxmlformats.org/officeDocument/2006/relationships/tags" Target="../tags/tag534.xml"/><Relationship Id="rId23" Type="http://schemas.openxmlformats.org/officeDocument/2006/relationships/tags" Target="../tags/tag542.xml"/><Relationship Id="rId28" Type="http://schemas.openxmlformats.org/officeDocument/2006/relationships/tags" Target="../tags/tag547.xml"/><Relationship Id="rId36" Type="http://schemas.openxmlformats.org/officeDocument/2006/relationships/tags" Target="../tags/tag555.xml"/><Relationship Id="rId10" Type="http://schemas.openxmlformats.org/officeDocument/2006/relationships/tags" Target="../tags/tag529.xml"/><Relationship Id="rId19" Type="http://schemas.openxmlformats.org/officeDocument/2006/relationships/tags" Target="../tags/tag538.xml"/><Relationship Id="rId31" Type="http://schemas.openxmlformats.org/officeDocument/2006/relationships/tags" Target="../tags/tag550.xml"/><Relationship Id="rId4" Type="http://schemas.openxmlformats.org/officeDocument/2006/relationships/tags" Target="../tags/tag523.xml"/><Relationship Id="rId9" Type="http://schemas.openxmlformats.org/officeDocument/2006/relationships/tags" Target="../tags/tag528.xml"/><Relationship Id="rId14" Type="http://schemas.openxmlformats.org/officeDocument/2006/relationships/tags" Target="../tags/tag533.xml"/><Relationship Id="rId22" Type="http://schemas.openxmlformats.org/officeDocument/2006/relationships/tags" Target="../tags/tag541.xml"/><Relationship Id="rId27" Type="http://schemas.openxmlformats.org/officeDocument/2006/relationships/tags" Target="../tags/tag546.xml"/><Relationship Id="rId30" Type="http://schemas.openxmlformats.org/officeDocument/2006/relationships/tags" Target="../tags/tag549.xml"/><Relationship Id="rId35" Type="http://schemas.openxmlformats.org/officeDocument/2006/relationships/tags" Target="../tags/tag55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562.xml"/><Relationship Id="rId13" Type="http://schemas.openxmlformats.org/officeDocument/2006/relationships/tags" Target="../tags/tag567.xml"/><Relationship Id="rId18" Type="http://schemas.openxmlformats.org/officeDocument/2006/relationships/tags" Target="../tags/tag572.xml"/><Relationship Id="rId26" Type="http://schemas.openxmlformats.org/officeDocument/2006/relationships/tags" Target="../tags/tag580.xml"/><Relationship Id="rId39" Type="http://schemas.openxmlformats.org/officeDocument/2006/relationships/image" Target="../media/image11.emf"/><Relationship Id="rId3" Type="http://schemas.openxmlformats.org/officeDocument/2006/relationships/tags" Target="../tags/tag557.xml"/><Relationship Id="rId21" Type="http://schemas.openxmlformats.org/officeDocument/2006/relationships/tags" Target="../tags/tag575.xml"/><Relationship Id="rId34" Type="http://schemas.openxmlformats.org/officeDocument/2006/relationships/tags" Target="../tags/tag588.xml"/><Relationship Id="rId7" Type="http://schemas.openxmlformats.org/officeDocument/2006/relationships/tags" Target="../tags/tag561.xml"/><Relationship Id="rId12" Type="http://schemas.openxmlformats.org/officeDocument/2006/relationships/tags" Target="../tags/tag566.xml"/><Relationship Id="rId17" Type="http://schemas.openxmlformats.org/officeDocument/2006/relationships/tags" Target="../tags/tag571.xml"/><Relationship Id="rId25" Type="http://schemas.openxmlformats.org/officeDocument/2006/relationships/tags" Target="../tags/tag579.xml"/><Relationship Id="rId33" Type="http://schemas.openxmlformats.org/officeDocument/2006/relationships/tags" Target="../tags/tag587.xml"/><Relationship Id="rId38" Type="http://schemas.openxmlformats.org/officeDocument/2006/relationships/oleObject" Target="../embeddings/oleObject8.bin"/><Relationship Id="rId2" Type="http://schemas.openxmlformats.org/officeDocument/2006/relationships/tags" Target="../tags/tag556.xml"/><Relationship Id="rId16" Type="http://schemas.openxmlformats.org/officeDocument/2006/relationships/tags" Target="../tags/tag570.xml"/><Relationship Id="rId20" Type="http://schemas.openxmlformats.org/officeDocument/2006/relationships/tags" Target="../tags/tag574.xml"/><Relationship Id="rId29" Type="http://schemas.openxmlformats.org/officeDocument/2006/relationships/tags" Target="../tags/tag583.xml"/><Relationship Id="rId1" Type="http://schemas.openxmlformats.org/officeDocument/2006/relationships/vmlDrawing" Target="../drawings/vmlDrawing8.vml"/><Relationship Id="rId6" Type="http://schemas.openxmlformats.org/officeDocument/2006/relationships/tags" Target="../tags/tag560.xml"/><Relationship Id="rId11" Type="http://schemas.openxmlformats.org/officeDocument/2006/relationships/tags" Target="../tags/tag565.xml"/><Relationship Id="rId24" Type="http://schemas.openxmlformats.org/officeDocument/2006/relationships/tags" Target="../tags/tag578.xml"/><Relationship Id="rId32" Type="http://schemas.openxmlformats.org/officeDocument/2006/relationships/tags" Target="../tags/tag586.xml"/><Relationship Id="rId37" Type="http://schemas.openxmlformats.org/officeDocument/2006/relationships/slideLayout" Target="../slideLayouts/slideLayout11.xml"/><Relationship Id="rId5" Type="http://schemas.openxmlformats.org/officeDocument/2006/relationships/tags" Target="../tags/tag559.xml"/><Relationship Id="rId15" Type="http://schemas.openxmlformats.org/officeDocument/2006/relationships/tags" Target="../tags/tag569.xml"/><Relationship Id="rId23" Type="http://schemas.openxmlformats.org/officeDocument/2006/relationships/tags" Target="../tags/tag577.xml"/><Relationship Id="rId28" Type="http://schemas.openxmlformats.org/officeDocument/2006/relationships/tags" Target="../tags/tag582.xml"/><Relationship Id="rId36" Type="http://schemas.openxmlformats.org/officeDocument/2006/relationships/tags" Target="../tags/tag590.xml"/><Relationship Id="rId10" Type="http://schemas.openxmlformats.org/officeDocument/2006/relationships/tags" Target="../tags/tag564.xml"/><Relationship Id="rId19" Type="http://schemas.openxmlformats.org/officeDocument/2006/relationships/tags" Target="../tags/tag573.xml"/><Relationship Id="rId31" Type="http://schemas.openxmlformats.org/officeDocument/2006/relationships/tags" Target="../tags/tag585.xml"/><Relationship Id="rId4" Type="http://schemas.openxmlformats.org/officeDocument/2006/relationships/tags" Target="../tags/tag558.xml"/><Relationship Id="rId9" Type="http://schemas.openxmlformats.org/officeDocument/2006/relationships/tags" Target="../tags/tag563.xml"/><Relationship Id="rId14" Type="http://schemas.openxmlformats.org/officeDocument/2006/relationships/tags" Target="../tags/tag568.xml"/><Relationship Id="rId22" Type="http://schemas.openxmlformats.org/officeDocument/2006/relationships/tags" Target="../tags/tag576.xml"/><Relationship Id="rId27" Type="http://schemas.openxmlformats.org/officeDocument/2006/relationships/tags" Target="../tags/tag581.xml"/><Relationship Id="rId30" Type="http://schemas.openxmlformats.org/officeDocument/2006/relationships/tags" Target="../tags/tag584.xml"/><Relationship Id="rId35" Type="http://schemas.openxmlformats.org/officeDocument/2006/relationships/tags" Target="../tags/tag58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597.xml"/><Relationship Id="rId13" Type="http://schemas.openxmlformats.org/officeDocument/2006/relationships/tags" Target="../tags/tag602.xml"/><Relationship Id="rId18" Type="http://schemas.openxmlformats.org/officeDocument/2006/relationships/tags" Target="../tags/tag607.xml"/><Relationship Id="rId26" Type="http://schemas.openxmlformats.org/officeDocument/2006/relationships/tags" Target="../tags/tag615.xml"/><Relationship Id="rId39" Type="http://schemas.openxmlformats.org/officeDocument/2006/relationships/image" Target="../media/image12.emf"/><Relationship Id="rId3" Type="http://schemas.openxmlformats.org/officeDocument/2006/relationships/tags" Target="../tags/tag592.xml"/><Relationship Id="rId21" Type="http://schemas.openxmlformats.org/officeDocument/2006/relationships/tags" Target="../tags/tag610.xml"/><Relationship Id="rId34" Type="http://schemas.openxmlformats.org/officeDocument/2006/relationships/tags" Target="../tags/tag623.xml"/><Relationship Id="rId7" Type="http://schemas.openxmlformats.org/officeDocument/2006/relationships/tags" Target="../tags/tag596.xml"/><Relationship Id="rId12" Type="http://schemas.openxmlformats.org/officeDocument/2006/relationships/tags" Target="../tags/tag601.xml"/><Relationship Id="rId17" Type="http://schemas.openxmlformats.org/officeDocument/2006/relationships/tags" Target="../tags/tag606.xml"/><Relationship Id="rId25" Type="http://schemas.openxmlformats.org/officeDocument/2006/relationships/tags" Target="../tags/tag614.xml"/><Relationship Id="rId33" Type="http://schemas.openxmlformats.org/officeDocument/2006/relationships/tags" Target="../tags/tag622.xml"/><Relationship Id="rId38" Type="http://schemas.openxmlformats.org/officeDocument/2006/relationships/oleObject" Target="../embeddings/oleObject9.bin"/><Relationship Id="rId2" Type="http://schemas.openxmlformats.org/officeDocument/2006/relationships/tags" Target="../tags/tag591.xml"/><Relationship Id="rId16" Type="http://schemas.openxmlformats.org/officeDocument/2006/relationships/tags" Target="../tags/tag605.xml"/><Relationship Id="rId20" Type="http://schemas.openxmlformats.org/officeDocument/2006/relationships/tags" Target="../tags/tag609.xml"/><Relationship Id="rId29" Type="http://schemas.openxmlformats.org/officeDocument/2006/relationships/tags" Target="../tags/tag618.xml"/><Relationship Id="rId1" Type="http://schemas.openxmlformats.org/officeDocument/2006/relationships/vmlDrawing" Target="../drawings/vmlDrawing9.vml"/><Relationship Id="rId6" Type="http://schemas.openxmlformats.org/officeDocument/2006/relationships/tags" Target="../tags/tag595.xml"/><Relationship Id="rId11" Type="http://schemas.openxmlformats.org/officeDocument/2006/relationships/tags" Target="../tags/tag600.xml"/><Relationship Id="rId24" Type="http://schemas.openxmlformats.org/officeDocument/2006/relationships/tags" Target="../tags/tag613.xml"/><Relationship Id="rId32" Type="http://schemas.openxmlformats.org/officeDocument/2006/relationships/tags" Target="../tags/tag621.xml"/><Relationship Id="rId37" Type="http://schemas.openxmlformats.org/officeDocument/2006/relationships/slideLayout" Target="../slideLayouts/slideLayout11.xml"/><Relationship Id="rId5" Type="http://schemas.openxmlformats.org/officeDocument/2006/relationships/tags" Target="../tags/tag594.xml"/><Relationship Id="rId15" Type="http://schemas.openxmlformats.org/officeDocument/2006/relationships/tags" Target="../tags/tag604.xml"/><Relationship Id="rId23" Type="http://schemas.openxmlformats.org/officeDocument/2006/relationships/tags" Target="../tags/tag612.xml"/><Relationship Id="rId28" Type="http://schemas.openxmlformats.org/officeDocument/2006/relationships/tags" Target="../tags/tag617.xml"/><Relationship Id="rId36" Type="http://schemas.openxmlformats.org/officeDocument/2006/relationships/tags" Target="../tags/tag625.xml"/><Relationship Id="rId10" Type="http://schemas.openxmlformats.org/officeDocument/2006/relationships/tags" Target="../tags/tag599.xml"/><Relationship Id="rId19" Type="http://schemas.openxmlformats.org/officeDocument/2006/relationships/tags" Target="../tags/tag608.xml"/><Relationship Id="rId31" Type="http://schemas.openxmlformats.org/officeDocument/2006/relationships/tags" Target="../tags/tag620.xml"/><Relationship Id="rId4" Type="http://schemas.openxmlformats.org/officeDocument/2006/relationships/tags" Target="../tags/tag593.xml"/><Relationship Id="rId9" Type="http://schemas.openxmlformats.org/officeDocument/2006/relationships/tags" Target="../tags/tag598.xml"/><Relationship Id="rId14" Type="http://schemas.openxmlformats.org/officeDocument/2006/relationships/tags" Target="../tags/tag603.xml"/><Relationship Id="rId22" Type="http://schemas.openxmlformats.org/officeDocument/2006/relationships/tags" Target="../tags/tag611.xml"/><Relationship Id="rId27" Type="http://schemas.openxmlformats.org/officeDocument/2006/relationships/tags" Target="../tags/tag616.xml"/><Relationship Id="rId30" Type="http://schemas.openxmlformats.org/officeDocument/2006/relationships/tags" Target="../tags/tag619.xml"/><Relationship Id="rId35" Type="http://schemas.openxmlformats.org/officeDocument/2006/relationships/tags" Target="../tags/tag62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632.xml"/><Relationship Id="rId13" Type="http://schemas.openxmlformats.org/officeDocument/2006/relationships/tags" Target="../tags/tag637.xml"/><Relationship Id="rId18" Type="http://schemas.openxmlformats.org/officeDocument/2006/relationships/tags" Target="../tags/tag642.xml"/><Relationship Id="rId26" Type="http://schemas.openxmlformats.org/officeDocument/2006/relationships/tags" Target="../tags/tag650.xml"/><Relationship Id="rId39" Type="http://schemas.openxmlformats.org/officeDocument/2006/relationships/oleObject" Target="../embeddings/oleObject10.bin"/><Relationship Id="rId3" Type="http://schemas.openxmlformats.org/officeDocument/2006/relationships/tags" Target="../tags/tag627.xml"/><Relationship Id="rId21" Type="http://schemas.openxmlformats.org/officeDocument/2006/relationships/tags" Target="../tags/tag645.xml"/><Relationship Id="rId34" Type="http://schemas.openxmlformats.org/officeDocument/2006/relationships/tags" Target="../tags/tag658.xml"/><Relationship Id="rId42" Type="http://schemas.openxmlformats.org/officeDocument/2006/relationships/image" Target="../media/image14.wmf"/><Relationship Id="rId7" Type="http://schemas.openxmlformats.org/officeDocument/2006/relationships/tags" Target="../tags/tag631.xml"/><Relationship Id="rId12" Type="http://schemas.openxmlformats.org/officeDocument/2006/relationships/tags" Target="../tags/tag636.xml"/><Relationship Id="rId17" Type="http://schemas.openxmlformats.org/officeDocument/2006/relationships/tags" Target="../tags/tag641.xml"/><Relationship Id="rId25" Type="http://schemas.openxmlformats.org/officeDocument/2006/relationships/tags" Target="../tags/tag649.xml"/><Relationship Id="rId33" Type="http://schemas.openxmlformats.org/officeDocument/2006/relationships/tags" Target="../tags/tag657.xml"/><Relationship Id="rId38" Type="http://schemas.openxmlformats.org/officeDocument/2006/relationships/slideLayout" Target="../slideLayouts/slideLayout11.xml"/><Relationship Id="rId2" Type="http://schemas.openxmlformats.org/officeDocument/2006/relationships/tags" Target="../tags/tag626.xml"/><Relationship Id="rId16" Type="http://schemas.openxmlformats.org/officeDocument/2006/relationships/tags" Target="../tags/tag640.xml"/><Relationship Id="rId20" Type="http://schemas.openxmlformats.org/officeDocument/2006/relationships/tags" Target="../tags/tag644.xml"/><Relationship Id="rId29" Type="http://schemas.openxmlformats.org/officeDocument/2006/relationships/tags" Target="../tags/tag653.xml"/><Relationship Id="rId41" Type="http://schemas.openxmlformats.org/officeDocument/2006/relationships/oleObject" Target="../embeddings/oleObject11.bin"/><Relationship Id="rId1" Type="http://schemas.openxmlformats.org/officeDocument/2006/relationships/vmlDrawing" Target="../drawings/vmlDrawing10.vml"/><Relationship Id="rId6" Type="http://schemas.openxmlformats.org/officeDocument/2006/relationships/tags" Target="../tags/tag630.xml"/><Relationship Id="rId11" Type="http://schemas.openxmlformats.org/officeDocument/2006/relationships/tags" Target="../tags/tag635.xml"/><Relationship Id="rId24" Type="http://schemas.openxmlformats.org/officeDocument/2006/relationships/tags" Target="../tags/tag648.xml"/><Relationship Id="rId32" Type="http://schemas.openxmlformats.org/officeDocument/2006/relationships/tags" Target="../tags/tag656.xml"/><Relationship Id="rId37" Type="http://schemas.openxmlformats.org/officeDocument/2006/relationships/tags" Target="../tags/tag661.xml"/><Relationship Id="rId40" Type="http://schemas.openxmlformats.org/officeDocument/2006/relationships/image" Target="../media/image13.emf"/><Relationship Id="rId5" Type="http://schemas.openxmlformats.org/officeDocument/2006/relationships/tags" Target="../tags/tag629.xml"/><Relationship Id="rId15" Type="http://schemas.openxmlformats.org/officeDocument/2006/relationships/tags" Target="../tags/tag639.xml"/><Relationship Id="rId23" Type="http://schemas.openxmlformats.org/officeDocument/2006/relationships/tags" Target="../tags/tag647.xml"/><Relationship Id="rId28" Type="http://schemas.openxmlformats.org/officeDocument/2006/relationships/tags" Target="../tags/tag652.xml"/><Relationship Id="rId36" Type="http://schemas.openxmlformats.org/officeDocument/2006/relationships/tags" Target="../tags/tag660.xml"/><Relationship Id="rId10" Type="http://schemas.openxmlformats.org/officeDocument/2006/relationships/tags" Target="../tags/tag634.xml"/><Relationship Id="rId19" Type="http://schemas.openxmlformats.org/officeDocument/2006/relationships/tags" Target="../tags/tag643.xml"/><Relationship Id="rId31" Type="http://schemas.openxmlformats.org/officeDocument/2006/relationships/tags" Target="../tags/tag655.xml"/><Relationship Id="rId4" Type="http://schemas.openxmlformats.org/officeDocument/2006/relationships/tags" Target="../tags/tag628.xml"/><Relationship Id="rId9" Type="http://schemas.openxmlformats.org/officeDocument/2006/relationships/tags" Target="../tags/tag633.xml"/><Relationship Id="rId14" Type="http://schemas.openxmlformats.org/officeDocument/2006/relationships/tags" Target="../tags/tag638.xml"/><Relationship Id="rId22" Type="http://schemas.openxmlformats.org/officeDocument/2006/relationships/tags" Target="../tags/tag646.xml"/><Relationship Id="rId27" Type="http://schemas.openxmlformats.org/officeDocument/2006/relationships/tags" Target="../tags/tag651.xml"/><Relationship Id="rId30" Type="http://schemas.openxmlformats.org/officeDocument/2006/relationships/tags" Target="../tags/tag654.xml"/><Relationship Id="rId35" Type="http://schemas.openxmlformats.org/officeDocument/2006/relationships/tags" Target="../tags/tag65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668.xml"/><Relationship Id="rId13" Type="http://schemas.openxmlformats.org/officeDocument/2006/relationships/tags" Target="../tags/tag673.xml"/><Relationship Id="rId18" Type="http://schemas.openxmlformats.org/officeDocument/2006/relationships/tags" Target="../tags/tag678.xml"/><Relationship Id="rId26" Type="http://schemas.openxmlformats.org/officeDocument/2006/relationships/tags" Target="../tags/tag686.xml"/><Relationship Id="rId39" Type="http://schemas.openxmlformats.org/officeDocument/2006/relationships/oleObject" Target="../embeddings/oleObject12.bin"/><Relationship Id="rId3" Type="http://schemas.openxmlformats.org/officeDocument/2006/relationships/tags" Target="../tags/tag663.xml"/><Relationship Id="rId21" Type="http://schemas.openxmlformats.org/officeDocument/2006/relationships/tags" Target="../tags/tag681.xml"/><Relationship Id="rId34" Type="http://schemas.openxmlformats.org/officeDocument/2006/relationships/tags" Target="../tags/tag694.xml"/><Relationship Id="rId42" Type="http://schemas.openxmlformats.org/officeDocument/2006/relationships/image" Target="../media/image16.wmf"/><Relationship Id="rId7" Type="http://schemas.openxmlformats.org/officeDocument/2006/relationships/tags" Target="../tags/tag667.xml"/><Relationship Id="rId12" Type="http://schemas.openxmlformats.org/officeDocument/2006/relationships/tags" Target="../tags/tag672.xml"/><Relationship Id="rId17" Type="http://schemas.openxmlformats.org/officeDocument/2006/relationships/tags" Target="../tags/tag677.xml"/><Relationship Id="rId25" Type="http://schemas.openxmlformats.org/officeDocument/2006/relationships/tags" Target="../tags/tag685.xml"/><Relationship Id="rId33" Type="http://schemas.openxmlformats.org/officeDocument/2006/relationships/tags" Target="../tags/tag693.xml"/><Relationship Id="rId38" Type="http://schemas.openxmlformats.org/officeDocument/2006/relationships/slideLayout" Target="../slideLayouts/slideLayout11.xml"/><Relationship Id="rId2" Type="http://schemas.openxmlformats.org/officeDocument/2006/relationships/tags" Target="../tags/tag662.xml"/><Relationship Id="rId16" Type="http://schemas.openxmlformats.org/officeDocument/2006/relationships/tags" Target="../tags/tag676.xml"/><Relationship Id="rId20" Type="http://schemas.openxmlformats.org/officeDocument/2006/relationships/tags" Target="../tags/tag680.xml"/><Relationship Id="rId29" Type="http://schemas.openxmlformats.org/officeDocument/2006/relationships/tags" Target="../tags/tag689.xml"/><Relationship Id="rId41" Type="http://schemas.openxmlformats.org/officeDocument/2006/relationships/oleObject" Target="../embeddings/oleObject13.bin"/><Relationship Id="rId1" Type="http://schemas.openxmlformats.org/officeDocument/2006/relationships/vmlDrawing" Target="../drawings/vmlDrawing11.vml"/><Relationship Id="rId6" Type="http://schemas.openxmlformats.org/officeDocument/2006/relationships/tags" Target="../tags/tag666.xml"/><Relationship Id="rId11" Type="http://schemas.openxmlformats.org/officeDocument/2006/relationships/tags" Target="../tags/tag671.xml"/><Relationship Id="rId24" Type="http://schemas.openxmlformats.org/officeDocument/2006/relationships/tags" Target="../tags/tag684.xml"/><Relationship Id="rId32" Type="http://schemas.openxmlformats.org/officeDocument/2006/relationships/tags" Target="../tags/tag692.xml"/><Relationship Id="rId37" Type="http://schemas.openxmlformats.org/officeDocument/2006/relationships/tags" Target="../tags/tag697.xml"/><Relationship Id="rId40" Type="http://schemas.openxmlformats.org/officeDocument/2006/relationships/image" Target="../media/image15.emf"/><Relationship Id="rId5" Type="http://schemas.openxmlformats.org/officeDocument/2006/relationships/tags" Target="../tags/tag665.xml"/><Relationship Id="rId15" Type="http://schemas.openxmlformats.org/officeDocument/2006/relationships/tags" Target="../tags/tag675.xml"/><Relationship Id="rId23" Type="http://schemas.openxmlformats.org/officeDocument/2006/relationships/tags" Target="../tags/tag683.xml"/><Relationship Id="rId28" Type="http://schemas.openxmlformats.org/officeDocument/2006/relationships/tags" Target="../tags/tag688.xml"/><Relationship Id="rId36" Type="http://schemas.openxmlformats.org/officeDocument/2006/relationships/tags" Target="../tags/tag696.xml"/><Relationship Id="rId10" Type="http://schemas.openxmlformats.org/officeDocument/2006/relationships/tags" Target="../tags/tag670.xml"/><Relationship Id="rId19" Type="http://schemas.openxmlformats.org/officeDocument/2006/relationships/tags" Target="../tags/tag679.xml"/><Relationship Id="rId31" Type="http://schemas.openxmlformats.org/officeDocument/2006/relationships/tags" Target="../tags/tag691.xml"/><Relationship Id="rId4" Type="http://schemas.openxmlformats.org/officeDocument/2006/relationships/tags" Target="../tags/tag664.xml"/><Relationship Id="rId9" Type="http://schemas.openxmlformats.org/officeDocument/2006/relationships/tags" Target="../tags/tag669.xml"/><Relationship Id="rId14" Type="http://schemas.openxmlformats.org/officeDocument/2006/relationships/tags" Target="../tags/tag674.xml"/><Relationship Id="rId22" Type="http://schemas.openxmlformats.org/officeDocument/2006/relationships/tags" Target="../tags/tag682.xml"/><Relationship Id="rId27" Type="http://schemas.openxmlformats.org/officeDocument/2006/relationships/tags" Target="../tags/tag687.xml"/><Relationship Id="rId30" Type="http://schemas.openxmlformats.org/officeDocument/2006/relationships/tags" Target="../tags/tag690.xml"/><Relationship Id="rId35" Type="http://schemas.openxmlformats.org/officeDocument/2006/relationships/tags" Target="../tags/tag69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704.xml"/><Relationship Id="rId13" Type="http://schemas.openxmlformats.org/officeDocument/2006/relationships/tags" Target="../tags/tag709.xml"/><Relationship Id="rId18" Type="http://schemas.openxmlformats.org/officeDocument/2006/relationships/tags" Target="../tags/tag714.xml"/><Relationship Id="rId26" Type="http://schemas.openxmlformats.org/officeDocument/2006/relationships/tags" Target="../tags/tag722.xml"/><Relationship Id="rId39" Type="http://schemas.openxmlformats.org/officeDocument/2006/relationships/image" Target="../media/image17.wmf"/><Relationship Id="rId3" Type="http://schemas.openxmlformats.org/officeDocument/2006/relationships/tags" Target="../tags/tag699.xml"/><Relationship Id="rId21" Type="http://schemas.openxmlformats.org/officeDocument/2006/relationships/tags" Target="../tags/tag717.xml"/><Relationship Id="rId34" Type="http://schemas.openxmlformats.org/officeDocument/2006/relationships/tags" Target="../tags/tag730.xml"/><Relationship Id="rId7" Type="http://schemas.openxmlformats.org/officeDocument/2006/relationships/tags" Target="../tags/tag703.xml"/><Relationship Id="rId12" Type="http://schemas.openxmlformats.org/officeDocument/2006/relationships/tags" Target="../tags/tag708.xml"/><Relationship Id="rId17" Type="http://schemas.openxmlformats.org/officeDocument/2006/relationships/tags" Target="../tags/tag713.xml"/><Relationship Id="rId25" Type="http://schemas.openxmlformats.org/officeDocument/2006/relationships/tags" Target="../tags/tag721.xml"/><Relationship Id="rId33" Type="http://schemas.openxmlformats.org/officeDocument/2006/relationships/tags" Target="../tags/tag729.xml"/><Relationship Id="rId38" Type="http://schemas.openxmlformats.org/officeDocument/2006/relationships/oleObject" Target="../embeddings/oleObject14.bin"/><Relationship Id="rId2" Type="http://schemas.openxmlformats.org/officeDocument/2006/relationships/tags" Target="../tags/tag698.xml"/><Relationship Id="rId16" Type="http://schemas.openxmlformats.org/officeDocument/2006/relationships/tags" Target="../tags/tag712.xml"/><Relationship Id="rId20" Type="http://schemas.openxmlformats.org/officeDocument/2006/relationships/tags" Target="../tags/tag716.xml"/><Relationship Id="rId29" Type="http://schemas.openxmlformats.org/officeDocument/2006/relationships/tags" Target="../tags/tag725.xml"/><Relationship Id="rId1" Type="http://schemas.openxmlformats.org/officeDocument/2006/relationships/vmlDrawing" Target="../drawings/vmlDrawing12.vml"/><Relationship Id="rId6" Type="http://schemas.openxmlformats.org/officeDocument/2006/relationships/tags" Target="../tags/tag702.xml"/><Relationship Id="rId11" Type="http://schemas.openxmlformats.org/officeDocument/2006/relationships/tags" Target="../tags/tag707.xml"/><Relationship Id="rId24" Type="http://schemas.openxmlformats.org/officeDocument/2006/relationships/tags" Target="../tags/tag720.xml"/><Relationship Id="rId32" Type="http://schemas.openxmlformats.org/officeDocument/2006/relationships/tags" Target="../tags/tag728.xml"/><Relationship Id="rId37" Type="http://schemas.openxmlformats.org/officeDocument/2006/relationships/slideLayout" Target="../slideLayouts/slideLayout11.xml"/><Relationship Id="rId5" Type="http://schemas.openxmlformats.org/officeDocument/2006/relationships/tags" Target="../tags/tag701.xml"/><Relationship Id="rId15" Type="http://schemas.openxmlformats.org/officeDocument/2006/relationships/tags" Target="../tags/tag711.xml"/><Relationship Id="rId23" Type="http://schemas.openxmlformats.org/officeDocument/2006/relationships/tags" Target="../tags/tag719.xml"/><Relationship Id="rId28" Type="http://schemas.openxmlformats.org/officeDocument/2006/relationships/tags" Target="../tags/tag724.xml"/><Relationship Id="rId36" Type="http://schemas.openxmlformats.org/officeDocument/2006/relationships/tags" Target="../tags/tag732.xml"/><Relationship Id="rId10" Type="http://schemas.openxmlformats.org/officeDocument/2006/relationships/tags" Target="../tags/tag706.xml"/><Relationship Id="rId19" Type="http://schemas.openxmlformats.org/officeDocument/2006/relationships/tags" Target="../tags/tag715.xml"/><Relationship Id="rId31" Type="http://schemas.openxmlformats.org/officeDocument/2006/relationships/tags" Target="../tags/tag727.xml"/><Relationship Id="rId4" Type="http://schemas.openxmlformats.org/officeDocument/2006/relationships/tags" Target="../tags/tag700.xml"/><Relationship Id="rId9" Type="http://schemas.openxmlformats.org/officeDocument/2006/relationships/tags" Target="../tags/tag705.xml"/><Relationship Id="rId14" Type="http://schemas.openxmlformats.org/officeDocument/2006/relationships/tags" Target="../tags/tag710.xml"/><Relationship Id="rId22" Type="http://schemas.openxmlformats.org/officeDocument/2006/relationships/tags" Target="../tags/tag718.xml"/><Relationship Id="rId27" Type="http://schemas.openxmlformats.org/officeDocument/2006/relationships/tags" Target="../tags/tag723.xml"/><Relationship Id="rId30" Type="http://schemas.openxmlformats.org/officeDocument/2006/relationships/tags" Target="../tags/tag726.xml"/><Relationship Id="rId35" Type="http://schemas.openxmlformats.org/officeDocument/2006/relationships/tags" Target="../tags/tag7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734.xml"/><Relationship Id="rId7" Type="http://schemas.openxmlformats.org/officeDocument/2006/relationships/image" Target="../media/image18.emf"/><Relationship Id="rId2" Type="http://schemas.openxmlformats.org/officeDocument/2006/relationships/tags" Target="../tags/tag733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5.bin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7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7.xml"/><Relationship Id="rId1" Type="http://schemas.openxmlformats.org/officeDocument/2006/relationships/tags" Target="../tags/tag7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739.xml"/><Relationship Id="rId7" Type="http://schemas.openxmlformats.org/officeDocument/2006/relationships/image" Target="../media/image19.wmf"/><Relationship Id="rId2" Type="http://schemas.openxmlformats.org/officeDocument/2006/relationships/tags" Target="../tags/tag738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6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Chapitre 8: le marché des actions</a:t>
            </a:r>
            <a:br>
              <a:rPr lang="fr-CA" dirty="0" smtClean="0"/>
            </a:b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fr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Plan de présentation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383507"/>
            <a:ext cx="8485814" cy="3402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 smtClean="0"/>
              <a:t>Rappel : </a:t>
            </a:r>
            <a:r>
              <a:rPr lang="fr-CA" sz="2400" dirty="0"/>
              <a:t>l’évaluation de </a:t>
            </a:r>
            <a:r>
              <a:rPr lang="fr-CA" sz="2400" dirty="0" smtClean="0"/>
              <a:t>titre</a:t>
            </a:r>
          </a:p>
          <a:p>
            <a:pPr marL="0" indent="0">
              <a:buNone/>
            </a:pPr>
            <a:r>
              <a:rPr lang="fr-CA" sz="2400" dirty="0" smtClean="0"/>
              <a:t>Le marché des actions :</a:t>
            </a:r>
            <a:endParaRPr lang="fr-CA" sz="2400" dirty="0"/>
          </a:p>
          <a:p>
            <a:pPr marL="538163" lvl="1" indent="-268288"/>
            <a:r>
              <a:rPr lang="fr-CA" sz="2400" dirty="0" smtClean="0"/>
              <a:t>Action : </a:t>
            </a:r>
            <a:r>
              <a:rPr lang="fr-CA" sz="2400" dirty="0"/>
              <a:t>description</a:t>
            </a:r>
          </a:p>
          <a:p>
            <a:pPr marL="538163" lvl="1" indent="-268288"/>
            <a:r>
              <a:rPr lang="fr-CA" sz="2400" dirty="0" smtClean="0"/>
              <a:t>Action : </a:t>
            </a:r>
            <a:r>
              <a:rPr lang="fr-CA" sz="2400" dirty="0"/>
              <a:t>évaluation d’une action à dividende constant</a:t>
            </a:r>
          </a:p>
          <a:p>
            <a:pPr marL="538163" lvl="1" indent="-268288"/>
            <a:r>
              <a:rPr lang="fr-CA" sz="2400" dirty="0" smtClean="0"/>
              <a:t>Action : </a:t>
            </a:r>
            <a:r>
              <a:rPr lang="fr-CA" sz="2400" dirty="0"/>
              <a:t>évaluation d’une action à dividende croissant</a:t>
            </a:r>
          </a:p>
          <a:p>
            <a:endParaRPr lang="fr-CA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sz="2300" dirty="0" smtClean="0"/>
              <a:t>Introduction : </a:t>
            </a:r>
            <a:r>
              <a:rPr lang="fr-CA" sz="2300" dirty="0"/>
              <a:t>l’évaluation de titre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395288" y="1221582"/>
            <a:ext cx="8208962" cy="356473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fr-CA" sz="3000" dirty="0" smtClean="0"/>
              <a:t>Nous </a:t>
            </a:r>
            <a:r>
              <a:rPr lang="fr-CA" sz="3000" dirty="0"/>
              <a:t>avons vu que la valeur de tous les actifs financiers est déterminée par les </a:t>
            </a:r>
            <a:r>
              <a:rPr lang="fr-CA" sz="3000" dirty="0" smtClean="0">
                <a:solidFill>
                  <a:schemeClr val="accent1"/>
                </a:solidFill>
              </a:rPr>
              <a:t>flux</a:t>
            </a:r>
            <a:r>
              <a:rPr lang="fr-CA" sz="3000" dirty="0" smtClean="0"/>
              <a:t> </a:t>
            </a:r>
            <a:r>
              <a:rPr lang="fr-CA" sz="3000" dirty="0">
                <a:solidFill>
                  <a:schemeClr val="accent1"/>
                </a:solidFill>
              </a:rPr>
              <a:t>monétaires</a:t>
            </a:r>
            <a:r>
              <a:rPr lang="fr-CA" sz="3000" dirty="0"/>
              <a:t> futurs liés à cet </a:t>
            </a:r>
            <a:r>
              <a:rPr lang="fr-CA" sz="3000" dirty="0" smtClean="0"/>
              <a:t>actif :</a:t>
            </a:r>
            <a:endParaRPr lang="fr-CA" sz="3000" dirty="0"/>
          </a:p>
          <a:p>
            <a:pPr>
              <a:lnSpc>
                <a:spcPct val="80000"/>
              </a:lnSpc>
              <a:buFontTx/>
              <a:buNone/>
            </a:pPr>
            <a:endParaRPr lang="fr-CA" sz="3000" dirty="0"/>
          </a:p>
          <a:p>
            <a:pPr>
              <a:lnSpc>
                <a:spcPct val="80000"/>
              </a:lnSpc>
              <a:buFontTx/>
              <a:buNone/>
            </a:pPr>
            <a:endParaRPr lang="fr-CA" sz="3000" dirty="0"/>
          </a:p>
          <a:p>
            <a:pPr>
              <a:lnSpc>
                <a:spcPct val="80000"/>
              </a:lnSpc>
              <a:buFontTx/>
              <a:buNone/>
            </a:pPr>
            <a:endParaRPr lang="fr-CA" sz="3000" dirty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fr-CA" sz="3000" dirty="0" smtClean="0"/>
              <a:t>Ainsi</a:t>
            </a:r>
            <a:r>
              <a:rPr lang="fr-CA" sz="3000" dirty="0"/>
              <a:t>, tous les actifs financiers peuvent être évalués à l’aide des </a:t>
            </a:r>
            <a:r>
              <a:rPr lang="fr-CA" sz="3000" dirty="0" smtClean="0"/>
              <a:t>trois seuls </a:t>
            </a:r>
            <a:r>
              <a:rPr lang="fr-CA" sz="3000" dirty="0"/>
              <a:t>formules vues précédemment: le montant simple, l’annuité et la </a:t>
            </a:r>
            <a:r>
              <a:rPr lang="fr-CA" sz="3000" dirty="0" smtClean="0"/>
              <a:t>perpétuité.</a:t>
            </a:r>
            <a:endParaRPr lang="fr-CA" sz="3000" dirty="0"/>
          </a:p>
          <a:p>
            <a:pPr>
              <a:lnSpc>
                <a:spcPct val="80000"/>
              </a:lnSpc>
              <a:buFontTx/>
              <a:buNone/>
            </a:pPr>
            <a:endParaRPr lang="fr-CA" sz="2000" dirty="0"/>
          </a:p>
          <a:p>
            <a:pPr>
              <a:lnSpc>
                <a:spcPct val="80000"/>
              </a:lnSpc>
              <a:buFontTx/>
              <a:buNone/>
            </a:pPr>
            <a:endParaRPr lang="fr-CA" sz="2000" dirty="0"/>
          </a:p>
          <a:p>
            <a:pPr>
              <a:lnSpc>
                <a:spcPct val="80000"/>
              </a:lnSpc>
              <a:buFontTx/>
              <a:buNone/>
            </a:pPr>
            <a:endParaRPr lang="fr-CA" sz="2000" dirty="0"/>
          </a:p>
        </p:txBody>
      </p:sp>
      <p:graphicFrame>
        <p:nvGraphicFramePr>
          <p:cNvPr id="10244" name="Object 4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79448660"/>
              </p:ext>
            </p:extLst>
          </p:nvPr>
        </p:nvGraphicFramePr>
        <p:xfrm>
          <a:off x="2843808" y="2139702"/>
          <a:ext cx="31464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0" name="Equation" r:id="rId6" imgW="1218960" imgH="431640" progId="Equation.3">
                  <p:embed/>
                </p:oleObj>
              </mc:Choice>
              <mc:Fallback>
                <p:oleObj name="Equation" r:id="rId6" imgW="121896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139702"/>
                        <a:ext cx="3146425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Action: description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95535" y="1168004"/>
            <a:ext cx="8269665" cy="361830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CA" sz="2800" dirty="0"/>
              <a:t>L’action ordinaire</a:t>
            </a:r>
          </a:p>
          <a:p>
            <a:pPr marL="538163" lvl="1" indent="-268288"/>
            <a:r>
              <a:rPr lang="fr-CA" sz="2400" dirty="0"/>
              <a:t>Porte un droit de </a:t>
            </a:r>
            <a:r>
              <a:rPr lang="fr-CA" sz="2400" dirty="0">
                <a:solidFill>
                  <a:schemeClr val="accent1"/>
                </a:solidFill>
              </a:rPr>
              <a:t>vote</a:t>
            </a:r>
            <a:r>
              <a:rPr lang="fr-CA" sz="2400" dirty="0"/>
              <a:t> </a:t>
            </a:r>
            <a:r>
              <a:rPr lang="fr-CA" sz="2400" dirty="0" smtClean="0"/>
              <a:t>afin d’élire </a:t>
            </a:r>
            <a:r>
              <a:rPr lang="fr-CA" sz="2400" dirty="0"/>
              <a:t>le conseil d’administration</a:t>
            </a:r>
          </a:p>
          <a:p>
            <a:pPr marL="538163" lvl="1" indent="-268288"/>
            <a:r>
              <a:rPr lang="fr-CA" sz="2400" dirty="0"/>
              <a:t>Donne droit aux </a:t>
            </a:r>
            <a:r>
              <a:rPr lang="fr-CA" sz="2400" dirty="0">
                <a:solidFill>
                  <a:schemeClr val="accent1"/>
                </a:solidFill>
              </a:rPr>
              <a:t>bénéfices résiduels </a:t>
            </a:r>
            <a:r>
              <a:rPr lang="fr-CA" sz="2400" dirty="0"/>
              <a:t>qui sont versés en dividende et/ou réinvestis (BNR</a:t>
            </a:r>
            <a:r>
              <a:rPr lang="fr-CA" sz="2400" dirty="0" smtClean="0"/>
              <a:t>)</a:t>
            </a:r>
          </a:p>
          <a:p>
            <a:pPr marL="538163" lvl="1" indent="-268288"/>
            <a:r>
              <a:rPr lang="fr-CA" sz="2400" dirty="0" smtClean="0"/>
              <a:t>Dans l’ordre de faillite, il est le </a:t>
            </a:r>
            <a:r>
              <a:rPr lang="fr-CA" sz="2400" dirty="0" smtClean="0">
                <a:solidFill>
                  <a:schemeClr val="accent1"/>
                </a:solidFill>
              </a:rPr>
              <a:t>dernier en rang </a:t>
            </a:r>
            <a:r>
              <a:rPr lang="fr-CA" sz="2400" dirty="0" smtClean="0"/>
              <a:t>de priorité</a:t>
            </a:r>
            <a:endParaRPr lang="fr-CA" sz="2400" dirty="0"/>
          </a:p>
          <a:p>
            <a:pPr marL="0" indent="0">
              <a:buNone/>
            </a:pPr>
            <a:endParaRPr lang="fr-CA" sz="2800" dirty="0" smtClean="0"/>
          </a:p>
          <a:p>
            <a:pPr marL="0" indent="0">
              <a:buNone/>
            </a:pPr>
            <a:r>
              <a:rPr lang="fr-CA" sz="2800" dirty="0" smtClean="0"/>
              <a:t>L’action </a:t>
            </a:r>
            <a:r>
              <a:rPr lang="fr-CA" sz="2800" dirty="0"/>
              <a:t>privilégiée</a:t>
            </a:r>
          </a:p>
          <a:p>
            <a:pPr marL="538163" lvl="1" indent="-268288"/>
            <a:r>
              <a:rPr lang="fr-CA" sz="2400" dirty="0"/>
              <a:t>Titre </a:t>
            </a:r>
            <a:r>
              <a:rPr lang="fr-CA" sz="2400" dirty="0" smtClean="0"/>
              <a:t>senior </a:t>
            </a:r>
            <a:r>
              <a:rPr lang="fr-CA" sz="2400" dirty="0"/>
              <a:t>aux </a:t>
            </a:r>
            <a:r>
              <a:rPr lang="fr-CA" sz="2400" dirty="0" smtClean="0">
                <a:solidFill>
                  <a:schemeClr val="accent1"/>
                </a:solidFill>
              </a:rPr>
              <a:t>actions ordinaires</a:t>
            </a:r>
            <a:r>
              <a:rPr lang="fr-CA" sz="2400" dirty="0" smtClean="0"/>
              <a:t> </a:t>
            </a:r>
            <a:r>
              <a:rPr lang="fr-CA" sz="2400" dirty="0"/>
              <a:t>et subordonné à la </a:t>
            </a:r>
            <a:r>
              <a:rPr lang="fr-CA" sz="2400" dirty="0">
                <a:solidFill>
                  <a:schemeClr val="accent1"/>
                </a:solidFill>
              </a:rPr>
              <a:t>dette</a:t>
            </a:r>
          </a:p>
          <a:p>
            <a:pPr marL="538163" lvl="1" indent="-268288"/>
            <a:r>
              <a:rPr lang="fr-CA" sz="2400" dirty="0"/>
              <a:t>Donne habituellement droit à un </a:t>
            </a:r>
            <a:r>
              <a:rPr lang="fr-CA" sz="2400" dirty="0">
                <a:solidFill>
                  <a:schemeClr val="accent1"/>
                </a:solidFill>
              </a:rPr>
              <a:t>dividende constant</a:t>
            </a:r>
          </a:p>
          <a:p>
            <a:pPr marL="538163" lvl="1" indent="-268288"/>
            <a:r>
              <a:rPr lang="fr-CA" sz="2400" dirty="0"/>
              <a:t>Ne donne </a:t>
            </a:r>
            <a:r>
              <a:rPr lang="fr-CA" sz="2400" dirty="0">
                <a:solidFill>
                  <a:schemeClr val="accent1"/>
                </a:solidFill>
              </a:rPr>
              <a:t>pas</a:t>
            </a:r>
            <a:r>
              <a:rPr lang="fr-CA" sz="2400" dirty="0"/>
              <a:t> de droit de </a:t>
            </a:r>
            <a:r>
              <a:rPr lang="fr-CA" sz="2400" dirty="0" smtClean="0"/>
              <a:t>vote</a:t>
            </a:r>
          </a:p>
          <a:p>
            <a:pPr marL="538163" lvl="1" indent="-268288"/>
            <a:r>
              <a:rPr lang="fr-CA" sz="2400" dirty="0" smtClean="0"/>
              <a:t>Habituellement cumulative: les dividendes non versés sont reportés</a:t>
            </a:r>
            <a:endParaRPr lang="fr-CA" sz="2400" dirty="0"/>
          </a:p>
          <a:p>
            <a:pPr marL="538163" lvl="1" indent="-268288"/>
            <a:r>
              <a:rPr lang="fr-CA" sz="2400" dirty="0" smtClean="0"/>
              <a:t>Possibilité de droit de vote pour certaines contingences: report prolongé du dividende, émission de nouvelles actions, etc.</a:t>
            </a:r>
            <a:endParaRPr lang="fr-CA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Action</a:t>
            </a:r>
            <a:r>
              <a:rPr lang="fr-CA" dirty="0" smtClean="0"/>
              <a:t>: </a:t>
            </a:r>
            <a:r>
              <a:rPr lang="fr-CA" dirty="0"/>
              <a:t>dividende constant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395537" y="1200151"/>
            <a:ext cx="8137278" cy="3394472"/>
          </a:xfrm>
        </p:spPr>
        <p:txBody>
          <a:bodyPr/>
          <a:lstStyle/>
          <a:p>
            <a:pPr marL="0" indent="0">
              <a:buNone/>
            </a:pPr>
            <a:r>
              <a:rPr lang="fr-CA" sz="2400" dirty="0" smtClean="0"/>
              <a:t>Habituellement</a:t>
            </a:r>
            <a:r>
              <a:rPr lang="fr-CA" sz="2400" dirty="0"/>
              <a:t>, l’action privilégiée verse des dividendes </a:t>
            </a:r>
            <a:r>
              <a:rPr lang="fr-CA" sz="2400" dirty="0" smtClean="0"/>
              <a:t>constants et à l’infini.</a:t>
            </a:r>
          </a:p>
          <a:p>
            <a:pPr marL="0" indent="0">
              <a:buNone/>
            </a:pPr>
            <a:endParaRPr lang="fr-CA" sz="2800" dirty="0"/>
          </a:p>
        </p:txBody>
      </p:sp>
      <p:sp>
        <p:nvSpPr>
          <p:cNvPr id="6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266819" y="2413394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5084755" y="2413394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8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019793" y="2413394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9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459655" y="230504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0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524618" y="230504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1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266818" y="2251469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2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276468" y="230504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3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3355968" y="230504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4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435468" y="230504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" name="Text Box 13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050918" y="1927619"/>
            <a:ext cx="58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VAP</a:t>
            </a:r>
          </a:p>
        </p:txBody>
      </p:sp>
      <p:sp>
        <p:nvSpPr>
          <p:cNvPr id="16" name="Line 1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355968" y="2359815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" name="Text Box 15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786182" y="2035965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r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11368" y="2532456"/>
            <a:ext cx="3417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211505" y="2575319"/>
            <a:ext cx="3417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92593" y="2575319"/>
            <a:ext cx="3417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380155" y="2575319"/>
            <a:ext cx="3417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316780" y="2575319"/>
            <a:ext cx="3417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3" name="Line 21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7459656" y="2413394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4" name="Line 22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5516555" y="230504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5" name="Text Box 23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372093" y="2575319"/>
            <a:ext cx="3417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endParaRPr lang="fr-CA" dirty="0">
              <a:latin typeface="Tahoma" pitchFamily="34" charset="0"/>
            </a:endParaRPr>
          </a:p>
        </p:txBody>
      </p:sp>
      <p:graphicFrame>
        <p:nvGraphicFramePr>
          <p:cNvPr id="71683" name="Object 3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2786051" y="3000378"/>
          <a:ext cx="3240087" cy="95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4" name="Equation" r:id="rId26" imgW="1002960" imgH="393480" progId="Equation.3">
                  <p:embed/>
                </p:oleObj>
              </mc:Choice>
              <mc:Fallback>
                <p:oleObj name="Equation" r:id="rId26" imgW="100296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51" y="3000378"/>
                        <a:ext cx="3240087" cy="9536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Action: dividende constant</a:t>
            </a:r>
            <a:endParaRPr lang="fr-CA" sz="2800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75606"/>
            <a:ext cx="8075613" cy="3402360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L’action </a:t>
            </a:r>
            <a:r>
              <a:rPr lang="fr-CA" sz="2800" dirty="0"/>
              <a:t>privilégiée de </a:t>
            </a:r>
            <a:r>
              <a:rPr lang="fr-CA" sz="2800" dirty="0" smtClean="0"/>
              <a:t>BDB </a:t>
            </a:r>
            <a:r>
              <a:rPr lang="fr-CA" sz="2800" dirty="0" err="1"/>
              <a:t>inc.</a:t>
            </a:r>
            <a:r>
              <a:rPr lang="fr-CA" sz="2800" dirty="0"/>
              <a:t> verse un dividende annuel constant de </a:t>
            </a:r>
            <a:r>
              <a:rPr lang="fr-CA" sz="2800" dirty="0" smtClean="0"/>
              <a:t>1 $. </a:t>
            </a:r>
            <a:br>
              <a:rPr lang="fr-CA" sz="2800" dirty="0" smtClean="0"/>
            </a:br>
            <a:r>
              <a:rPr lang="fr-CA" sz="2800" dirty="0" smtClean="0"/>
              <a:t>Si </a:t>
            </a:r>
            <a:r>
              <a:rPr lang="fr-CA" sz="2800" dirty="0"/>
              <a:t>vous exigez un rendement de </a:t>
            </a:r>
            <a:r>
              <a:rPr lang="fr-CA" sz="2800" dirty="0" smtClean="0"/>
              <a:t>8 %, </a:t>
            </a:r>
            <a:r>
              <a:rPr lang="fr-CA" sz="2800" dirty="0"/>
              <a:t>quel prix serez-vous prêt à payer pour cette action?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constant</a:t>
            </a:r>
            <a:endParaRPr lang="fr-CA" sz="2800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131590"/>
            <a:ext cx="8075613" cy="3546376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L’action </a:t>
            </a:r>
            <a:r>
              <a:rPr lang="fr-CA" sz="2800" dirty="0"/>
              <a:t>privilégiée de </a:t>
            </a:r>
            <a:r>
              <a:rPr lang="fr-CA" sz="2800" dirty="0" smtClean="0"/>
              <a:t>BDB </a:t>
            </a:r>
            <a:r>
              <a:rPr lang="fr-CA" sz="2800" dirty="0" err="1"/>
              <a:t>inc.</a:t>
            </a:r>
            <a:r>
              <a:rPr lang="fr-CA" sz="2800" dirty="0"/>
              <a:t> verse un dividende annuel constant de </a:t>
            </a:r>
            <a:r>
              <a:rPr lang="fr-CA" sz="2800" dirty="0" smtClean="0"/>
              <a:t>1 $. </a:t>
            </a:r>
            <a:br>
              <a:rPr lang="fr-CA" sz="2800" dirty="0" smtClean="0"/>
            </a:br>
            <a:r>
              <a:rPr lang="fr-CA" sz="2800" dirty="0" smtClean="0"/>
              <a:t>Si </a:t>
            </a:r>
            <a:r>
              <a:rPr lang="fr-CA" sz="2800" dirty="0"/>
              <a:t>vous exigez un rendement de </a:t>
            </a:r>
            <a:r>
              <a:rPr lang="fr-CA" sz="2800" dirty="0" smtClean="0"/>
              <a:t>8 %, </a:t>
            </a:r>
            <a:r>
              <a:rPr lang="fr-CA" sz="2800" dirty="0"/>
              <a:t>quel prix serez-vous prêt à payer pour cette action?</a:t>
            </a:r>
          </a:p>
          <a:p>
            <a:endParaRPr lang="fr-CA" sz="2800" dirty="0"/>
          </a:p>
          <a:p>
            <a:endParaRPr lang="fr-CA" sz="2800" dirty="0"/>
          </a:p>
          <a:p>
            <a:pPr>
              <a:buFontTx/>
              <a:buNone/>
            </a:pPr>
            <a:endParaRPr lang="fr-CA" sz="2800" dirty="0"/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1042988" y="3274219"/>
            <a:ext cx="6985001" cy="1017032"/>
            <a:chOff x="1042988" y="2842022"/>
            <a:chExt cx="6985001" cy="1017032"/>
          </a:xfrm>
        </p:grpSpPr>
        <p:sp>
          <p:nvSpPr>
            <p:cNvPr id="47108" name="Line 4"/>
            <p:cNvSpPr>
              <a:spLocks noChangeShapeType="1"/>
            </p:cNvSpPr>
            <p:nvPr/>
          </p:nvSpPr>
          <p:spPr bwMode="auto">
            <a:xfrm>
              <a:off x="1258888" y="3327797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09" name="Line 5"/>
            <p:cNvSpPr>
              <a:spLocks noChangeShapeType="1"/>
            </p:cNvSpPr>
            <p:nvPr/>
          </p:nvSpPr>
          <p:spPr bwMode="auto">
            <a:xfrm>
              <a:off x="5076825" y="3327797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0" name="Line 6"/>
            <p:cNvSpPr>
              <a:spLocks noChangeShapeType="1"/>
            </p:cNvSpPr>
            <p:nvPr/>
          </p:nvSpPr>
          <p:spPr bwMode="auto">
            <a:xfrm>
              <a:off x="6011863" y="3327797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1" name="Line 7"/>
            <p:cNvSpPr>
              <a:spLocks noChangeShapeType="1"/>
            </p:cNvSpPr>
            <p:nvPr/>
          </p:nvSpPr>
          <p:spPr bwMode="auto">
            <a:xfrm>
              <a:off x="7451725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2" name="Line 8"/>
            <p:cNvSpPr>
              <a:spLocks noChangeShapeType="1"/>
            </p:cNvSpPr>
            <p:nvPr/>
          </p:nvSpPr>
          <p:spPr bwMode="auto">
            <a:xfrm>
              <a:off x="651668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3" name="Line 9"/>
            <p:cNvSpPr>
              <a:spLocks noChangeShapeType="1"/>
            </p:cNvSpPr>
            <p:nvPr/>
          </p:nvSpPr>
          <p:spPr bwMode="auto">
            <a:xfrm>
              <a:off x="1258888" y="316587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4" name="Line 10"/>
            <p:cNvSpPr>
              <a:spLocks noChangeShapeType="1"/>
            </p:cNvSpPr>
            <p:nvPr/>
          </p:nvSpPr>
          <p:spPr bwMode="auto">
            <a:xfrm>
              <a:off x="22685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5" name="Line 11"/>
            <p:cNvSpPr>
              <a:spLocks noChangeShapeType="1"/>
            </p:cNvSpPr>
            <p:nvPr/>
          </p:nvSpPr>
          <p:spPr bwMode="auto">
            <a:xfrm>
              <a:off x="33480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6" name="Line 12"/>
            <p:cNvSpPr>
              <a:spLocks noChangeShapeType="1"/>
            </p:cNvSpPr>
            <p:nvPr/>
          </p:nvSpPr>
          <p:spPr bwMode="auto">
            <a:xfrm>
              <a:off x="44275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7" name="Text Box 13"/>
            <p:cNvSpPr txBox="1">
              <a:spLocks noChangeArrowheads="1"/>
            </p:cNvSpPr>
            <p:nvPr/>
          </p:nvSpPr>
          <p:spPr bwMode="auto">
            <a:xfrm>
              <a:off x="1042988" y="2842022"/>
              <a:ext cx="5808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VAP</a:t>
              </a:r>
            </a:p>
          </p:txBody>
        </p:sp>
        <p:sp>
          <p:nvSpPr>
            <p:cNvPr id="47118" name="Line 14"/>
            <p:cNvSpPr>
              <a:spLocks noChangeShapeType="1"/>
            </p:cNvSpPr>
            <p:nvPr/>
          </p:nvSpPr>
          <p:spPr bwMode="auto">
            <a:xfrm>
              <a:off x="3348038" y="3274219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19" name="Text Box 15"/>
            <p:cNvSpPr txBox="1">
              <a:spLocks noChangeArrowheads="1"/>
            </p:cNvSpPr>
            <p:nvPr/>
          </p:nvSpPr>
          <p:spPr bwMode="auto">
            <a:xfrm>
              <a:off x="3492500" y="2950369"/>
              <a:ext cx="78899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r=8%</a:t>
              </a:r>
            </a:p>
          </p:txBody>
        </p:sp>
        <p:sp>
          <p:nvSpPr>
            <p:cNvPr id="47120" name="Text Box 16"/>
            <p:cNvSpPr txBox="1">
              <a:spLocks noChangeArrowheads="1"/>
            </p:cNvSpPr>
            <p:nvPr/>
          </p:nvSpPr>
          <p:spPr bwMode="auto">
            <a:xfrm>
              <a:off x="2103439" y="3446860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7121" name="Text Box 17"/>
            <p:cNvSpPr txBox="1">
              <a:spLocks noChangeArrowheads="1"/>
            </p:cNvSpPr>
            <p:nvPr/>
          </p:nvSpPr>
          <p:spPr bwMode="auto">
            <a:xfrm>
              <a:off x="3203576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7122" name="Text Box 18"/>
            <p:cNvSpPr txBox="1">
              <a:spLocks noChangeArrowheads="1"/>
            </p:cNvSpPr>
            <p:nvPr/>
          </p:nvSpPr>
          <p:spPr bwMode="auto">
            <a:xfrm>
              <a:off x="4284664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7123" name="Text Box 19"/>
            <p:cNvSpPr txBox="1">
              <a:spLocks noChangeArrowheads="1"/>
            </p:cNvSpPr>
            <p:nvPr/>
          </p:nvSpPr>
          <p:spPr bwMode="auto">
            <a:xfrm>
              <a:off x="6372226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7124" name="Text Box 20"/>
            <p:cNvSpPr txBox="1">
              <a:spLocks noChangeArrowheads="1"/>
            </p:cNvSpPr>
            <p:nvPr/>
          </p:nvSpPr>
          <p:spPr bwMode="auto">
            <a:xfrm>
              <a:off x="7308851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7125" name="Line 21"/>
            <p:cNvSpPr>
              <a:spLocks noChangeShapeType="1"/>
            </p:cNvSpPr>
            <p:nvPr/>
          </p:nvSpPr>
          <p:spPr bwMode="auto">
            <a:xfrm>
              <a:off x="7451726" y="3327797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26" name="Line 22"/>
            <p:cNvSpPr>
              <a:spLocks noChangeShapeType="1"/>
            </p:cNvSpPr>
            <p:nvPr/>
          </p:nvSpPr>
          <p:spPr bwMode="auto">
            <a:xfrm>
              <a:off x="5508625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7127" name="Text Box 23"/>
            <p:cNvSpPr txBox="1">
              <a:spLocks noChangeArrowheads="1"/>
            </p:cNvSpPr>
            <p:nvPr/>
          </p:nvSpPr>
          <p:spPr bwMode="auto">
            <a:xfrm>
              <a:off x="5364164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constant</a:t>
            </a:r>
            <a:endParaRPr lang="fr-CA" sz="28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131590"/>
            <a:ext cx="8075613" cy="3672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sz="2800" dirty="0" smtClean="0"/>
              <a:t>L’action </a:t>
            </a:r>
            <a:r>
              <a:rPr lang="fr-CA" sz="2800" dirty="0"/>
              <a:t>privilégiée de </a:t>
            </a:r>
            <a:r>
              <a:rPr lang="fr-CA" sz="2800" dirty="0" smtClean="0"/>
              <a:t>BDB </a:t>
            </a:r>
            <a:r>
              <a:rPr lang="fr-CA" sz="2800" dirty="0" err="1" smtClean="0"/>
              <a:t>inc</a:t>
            </a:r>
            <a:r>
              <a:rPr lang="fr-CA" sz="2800" dirty="0" err="1"/>
              <a:t>.</a:t>
            </a:r>
            <a:r>
              <a:rPr lang="fr-CA" sz="2800" dirty="0"/>
              <a:t> verse un dividende annuel constant de </a:t>
            </a:r>
            <a:r>
              <a:rPr lang="fr-CA" sz="2800" dirty="0" smtClean="0"/>
              <a:t>1 $.</a:t>
            </a:r>
            <a:br>
              <a:rPr lang="fr-CA" sz="2800" dirty="0" smtClean="0"/>
            </a:br>
            <a:r>
              <a:rPr lang="fr-CA" sz="2800" dirty="0" smtClean="0"/>
              <a:t>Si </a:t>
            </a:r>
            <a:r>
              <a:rPr lang="fr-CA" sz="2800" dirty="0"/>
              <a:t>vous exigez un rendement de </a:t>
            </a:r>
            <a:r>
              <a:rPr lang="fr-CA" sz="2800" dirty="0" smtClean="0"/>
              <a:t>8 %, </a:t>
            </a:r>
            <a:r>
              <a:rPr lang="fr-CA" sz="2800" dirty="0"/>
              <a:t>quel prix serez-vous prêt à payer pour cette action?</a:t>
            </a:r>
          </a:p>
          <a:p>
            <a:endParaRPr lang="fr-CA" sz="2800" dirty="0"/>
          </a:p>
          <a:p>
            <a:endParaRPr lang="fr-CA" sz="2800" dirty="0"/>
          </a:p>
          <a:p>
            <a:endParaRPr lang="fr-CA" sz="2800" dirty="0"/>
          </a:p>
          <a:p>
            <a:pPr>
              <a:buFontTx/>
              <a:buNone/>
            </a:pPr>
            <a:r>
              <a:rPr lang="fr-CA" sz="2800" dirty="0"/>
              <a:t>VA</a:t>
            </a:r>
            <a:r>
              <a:rPr lang="fr-CA" sz="2800" baseline="-25000" dirty="0"/>
              <a:t>act.div.const.</a:t>
            </a:r>
            <a:r>
              <a:rPr lang="fr-CA" sz="2800" dirty="0"/>
              <a:t>= 1$/0,08 = 12,50$</a:t>
            </a:r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1042988" y="2842022"/>
            <a:ext cx="6985001" cy="1017032"/>
            <a:chOff x="1042988" y="2842022"/>
            <a:chExt cx="6985001" cy="1017032"/>
          </a:xfrm>
        </p:grpSpPr>
        <p:sp>
          <p:nvSpPr>
            <p:cNvPr id="48132" name="Line 4"/>
            <p:cNvSpPr>
              <a:spLocks noChangeShapeType="1"/>
            </p:cNvSpPr>
            <p:nvPr/>
          </p:nvSpPr>
          <p:spPr bwMode="auto">
            <a:xfrm>
              <a:off x="1258888" y="3327797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33" name="Line 5"/>
            <p:cNvSpPr>
              <a:spLocks noChangeShapeType="1"/>
            </p:cNvSpPr>
            <p:nvPr/>
          </p:nvSpPr>
          <p:spPr bwMode="auto">
            <a:xfrm>
              <a:off x="5076825" y="3327797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34" name="Line 6"/>
            <p:cNvSpPr>
              <a:spLocks noChangeShapeType="1"/>
            </p:cNvSpPr>
            <p:nvPr/>
          </p:nvSpPr>
          <p:spPr bwMode="auto">
            <a:xfrm>
              <a:off x="6011863" y="3327797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35" name="Line 7"/>
            <p:cNvSpPr>
              <a:spLocks noChangeShapeType="1"/>
            </p:cNvSpPr>
            <p:nvPr/>
          </p:nvSpPr>
          <p:spPr bwMode="auto">
            <a:xfrm>
              <a:off x="7451725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36" name="Line 8"/>
            <p:cNvSpPr>
              <a:spLocks noChangeShapeType="1"/>
            </p:cNvSpPr>
            <p:nvPr/>
          </p:nvSpPr>
          <p:spPr bwMode="auto">
            <a:xfrm>
              <a:off x="651668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37" name="Line 9"/>
            <p:cNvSpPr>
              <a:spLocks noChangeShapeType="1"/>
            </p:cNvSpPr>
            <p:nvPr/>
          </p:nvSpPr>
          <p:spPr bwMode="auto">
            <a:xfrm>
              <a:off x="1258888" y="316587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38" name="Line 10"/>
            <p:cNvSpPr>
              <a:spLocks noChangeShapeType="1"/>
            </p:cNvSpPr>
            <p:nvPr/>
          </p:nvSpPr>
          <p:spPr bwMode="auto">
            <a:xfrm>
              <a:off x="22685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39" name="Line 11"/>
            <p:cNvSpPr>
              <a:spLocks noChangeShapeType="1"/>
            </p:cNvSpPr>
            <p:nvPr/>
          </p:nvSpPr>
          <p:spPr bwMode="auto">
            <a:xfrm>
              <a:off x="33480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40" name="Line 12"/>
            <p:cNvSpPr>
              <a:spLocks noChangeShapeType="1"/>
            </p:cNvSpPr>
            <p:nvPr/>
          </p:nvSpPr>
          <p:spPr bwMode="auto">
            <a:xfrm>
              <a:off x="44275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41" name="Text Box 13"/>
            <p:cNvSpPr txBox="1">
              <a:spLocks noChangeArrowheads="1"/>
            </p:cNvSpPr>
            <p:nvPr/>
          </p:nvSpPr>
          <p:spPr bwMode="auto">
            <a:xfrm>
              <a:off x="1042988" y="2842022"/>
              <a:ext cx="5808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VAP</a:t>
              </a:r>
            </a:p>
          </p:txBody>
        </p:sp>
        <p:sp>
          <p:nvSpPr>
            <p:cNvPr id="48142" name="Line 14"/>
            <p:cNvSpPr>
              <a:spLocks noChangeShapeType="1"/>
            </p:cNvSpPr>
            <p:nvPr/>
          </p:nvSpPr>
          <p:spPr bwMode="auto">
            <a:xfrm>
              <a:off x="3348038" y="3274219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43" name="Text Box 15"/>
            <p:cNvSpPr txBox="1">
              <a:spLocks noChangeArrowheads="1"/>
            </p:cNvSpPr>
            <p:nvPr/>
          </p:nvSpPr>
          <p:spPr bwMode="auto">
            <a:xfrm>
              <a:off x="3492500" y="2950369"/>
              <a:ext cx="78899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r=8%</a:t>
              </a:r>
            </a:p>
          </p:txBody>
        </p:sp>
        <p:sp>
          <p:nvSpPr>
            <p:cNvPr id="48144" name="Text Box 16"/>
            <p:cNvSpPr txBox="1">
              <a:spLocks noChangeArrowheads="1"/>
            </p:cNvSpPr>
            <p:nvPr/>
          </p:nvSpPr>
          <p:spPr bwMode="auto">
            <a:xfrm>
              <a:off x="2103439" y="3446860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8145" name="Text Box 17"/>
            <p:cNvSpPr txBox="1">
              <a:spLocks noChangeArrowheads="1"/>
            </p:cNvSpPr>
            <p:nvPr/>
          </p:nvSpPr>
          <p:spPr bwMode="auto">
            <a:xfrm>
              <a:off x="3203576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8146" name="Text Box 18"/>
            <p:cNvSpPr txBox="1">
              <a:spLocks noChangeArrowheads="1"/>
            </p:cNvSpPr>
            <p:nvPr/>
          </p:nvSpPr>
          <p:spPr bwMode="auto">
            <a:xfrm>
              <a:off x="4284664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8147" name="Text Box 19"/>
            <p:cNvSpPr txBox="1">
              <a:spLocks noChangeArrowheads="1"/>
            </p:cNvSpPr>
            <p:nvPr/>
          </p:nvSpPr>
          <p:spPr bwMode="auto">
            <a:xfrm>
              <a:off x="6372226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1$</a:t>
              </a:r>
            </a:p>
          </p:txBody>
        </p:sp>
        <p:sp>
          <p:nvSpPr>
            <p:cNvPr id="48148" name="Text Box 20"/>
            <p:cNvSpPr txBox="1">
              <a:spLocks noChangeArrowheads="1"/>
            </p:cNvSpPr>
            <p:nvPr/>
          </p:nvSpPr>
          <p:spPr bwMode="auto">
            <a:xfrm>
              <a:off x="7308851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  <p:sp>
          <p:nvSpPr>
            <p:cNvPr id="48149" name="Line 21"/>
            <p:cNvSpPr>
              <a:spLocks noChangeShapeType="1"/>
            </p:cNvSpPr>
            <p:nvPr/>
          </p:nvSpPr>
          <p:spPr bwMode="auto">
            <a:xfrm>
              <a:off x="7451726" y="3327797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50" name="Line 22"/>
            <p:cNvSpPr>
              <a:spLocks noChangeShapeType="1"/>
            </p:cNvSpPr>
            <p:nvPr/>
          </p:nvSpPr>
          <p:spPr bwMode="auto">
            <a:xfrm>
              <a:off x="5508625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8151" name="Text Box 23"/>
            <p:cNvSpPr txBox="1">
              <a:spLocks noChangeArrowheads="1"/>
            </p:cNvSpPr>
            <p:nvPr/>
          </p:nvSpPr>
          <p:spPr bwMode="auto">
            <a:xfrm>
              <a:off x="5364164" y="3489722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1$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constant</a:t>
            </a:r>
            <a:endParaRPr lang="fr-CA" sz="2800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75606"/>
            <a:ext cx="8075613" cy="3402360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Ex 2: </a:t>
            </a:r>
            <a:r>
              <a:rPr lang="fr-CA" sz="2800" dirty="0" smtClean="0"/>
              <a:t>Une </a:t>
            </a:r>
            <a:r>
              <a:rPr lang="fr-CA" sz="2800" dirty="0"/>
              <a:t>autre action de </a:t>
            </a:r>
            <a:r>
              <a:rPr lang="fr-CA" sz="2800" dirty="0" smtClean="0"/>
              <a:t>BDB </a:t>
            </a:r>
            <a:r>
              <a:rPr lang="fr-CA" sz="2800" dirty="0" err="1" smtClean="0"/>
              <a:t>inc</a:t>
            </a:r>
            <a:r>
              <a:rPr lang="fr-CA" sz="2800" dirty="0" err="1"/>
              <a:t>.</a:t>
            </a:r>
            <a:r>
              <a:rPr lang="fr-CA" sz="2800" dirty="0"/>
              <a:t> verse un dividende trimestriel constant de </a:t>
            </a:r>
            <a:r>
              <a:rPr lang="fr-CA" sz="2800" dirty="0" smtClean="0"/>
              <a:t>0,25 $. </a:t>
            </a:r>
            <a:br>
              <a:rPr lang="fr-CA" sz="2800" dirty="0" smtClean="0"/>
            </a:br>
            <a:r>
              <a:rPr lang="fr-CA" sz="2800" dirty="0" smtClean="0"/>
              <a:t>Si </a:t>
            </a:r>
            <a:r>
              <a:rPr lang="fr-CA" sz="2800" dirty="0"/>
              <a:t>vous exigez un rendement effectif de </a:t>
            </a:r>
            <a:r>
              <a:rPr lang="fr-CA" sz="2800" dirty="0" smtClean="0"/>
              <a:t>8 %, </a:t>
            </a:r>
            <a:r>
              <a:rPr lang="fr-CA" sz="2800" dirty="0"/>
              <a:t>quel prix serez-vous prêt à payer pour cette action?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constant</a:t>
            </a:r>
            <a:endParaRPr lang="fr-CA" sz="2800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3598"/>
            <a:ext cx="8075613" cy="3474368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Ex 2: </a:t>
            </a:r>
            <a:r>
              <a:rPr lang="fr-CA" sz="2800" dirty="0" smtClean="0"/>
              <a:t>Une </a:t>
            </a:r>
            <a:r>
              <a:rPr lang="fr-CA" sz="2800" dirty="0"/>
              <a:t>autre action de </a:t>
            </a:r>
            <a:r>
              <a:rPr lang="fr-CA" sz="2800" dirty="0" smtClean="0"/>
              <a:t>BDB </a:t>
            </a:r>
            <a:r>
              <a:rPr lang="fr-CA" sz="2800" dirty="0" err="1" smtClean="0"/>
              <a:t>inc</a:t>
            </a:r>
            <a:r>
              <a:rPr lang="fr-CA" sz="2800" dirty="0" err="1"/>
              <a:t>.</a:t>
            </a:r>
            <a:r>
              <a:rPr lang="fr-CA" sz="2800" dirty="0"/>
              <a:t> verse un dividende trimestriel constant de </a:t>
            </a:r>
            <a:r>
              <a:rPr lang="fr-CA" sz="2800" dirty="0" smtClean="0"/>
              <a:t>0,25 $. </a:t>
            </a:r>
            <a:br>
              <a:rPr lang="fr-CA" sz="2800" dirty="0" smtClean="0"/>
            </a:br>
            <a:r>
              <a:rPr lang="fr-CA" sz="2800" dirty="0" smtClean="0"/>
              <a:t>Si </a:t>
            </a:r>
            <a:r>
              <a:rPr lang="fr-CA" sz="2800" dirty="0"/>
              <a:t>vous exigez un rendement effectif de </a:t>
            </a:r>
            <a:r>
              <a:rPr lang="fr-CA" sz="2800" dirty="0" smtClean="0"/>
              <a:t>8 %, </a:t>
            </a:r>
            <a:r>
              <a:rPr lang="fr-CA" sz="2800" dirty="0"/>
              <a:t>quel prix serez-vous prêt à payer pour cette action?</a:t>
            </a:r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825092" y="3049129"/>
            <a:ext cx="7102109" cy="913782"/>
            <a:chOff x="1041513" y="3165872"/>
            <a:chExt cx="7102109" cy="913782"/>
          </a:xfrm>
        </p:grpSpPr>
        <p:sp>
          <p:nvSpPr>
            <p:cNvPr id="50180" name="Line 4"/>
            <p:cNvSpPr>
              <a:spLocks noChangeShapeType="1"/>
            </p:cNvSpPr>
            <p:nvPr/>
          </p:nvSpPr>
          <p:spPr bwMode="auto">
            <a:xfrm>
              <a:off x="1331914" y="3543300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1" name="Line 5"/>
            <p:cNvSpPr>
              <a:spLocks noChangeShapeType="1"/>
            </p:cNvSpPr>
            <p:nvPr/>
          </p:nvSpPr>
          <p:spPr bwMode="auto">
            <a:xfrm>
              <a:off x="5149850" y="3543300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2" name="Line 6"/>
            <p:cNvSpPr>
              <a:spLocks noChangeShapeType="1"/>
            </p:cNvSpPr>
            <p:nvPr/>
          </p:nvSpPr>
          <p:spPr bwMode="auto">
            <a:xfrm>
              <a:off x="6084888" y="3543300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3" name="Line 7"/>
            <p:cNvSpPr>
              <a:spLocks noChangeShapeType="1"/>
            </p:cNvSpPr>
            <p:nvPr/>
          </p:nvSpPr>
          <p:spPr bwMode="auto">
            <a:xfrm>
              <a:off x="7524750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4" name="Line 8"/>
            <p:cNvSpPr>
              <a:spLocks noChangeShapeType="1"/>
            </p:cNvSpPr>
            <p:nvPr/>
          </p:nvSpPr>
          <p:spPr bwMode="auto">
            <a:xfrm>
              <a:off x="658971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5" name="Line 9"/>
            <p:cNvSpPr>
              <a:spLocks noChangeShapeType="1"/>
            </p:cNvSpPr>
            <p:nvPr/>
          </p:nvSpPr>
          <p:spPr bwMode="auto">
            <a:xfrm>
              <a:off x="1331913" y="3381375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6" name="Line 10"/>
            <p:cNvSpPr>
              <a:spLocks noChangeShapeType="1"/>
            </p:cNvSpPr>
            <p:nvPr/>
          </p:nvSpPr>
          <p:spPr bwMode="auto">
            <a:xfrm>
              <a:off x="234156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7" name="Line 11"/>
            <p:cNvSpPr>
              <a:spLocks noChangeShapeType="1"/>
            </p:cNvSpPr>
            <p:nvPr/>
          </p:nvSpPr>
          <p:spPr bwMode="auto">
            <a:xfrm>
              <a:off x="342106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8" name="Line 12"/>
            <p:cNvSpPr>
              <a:spLocks noChangeShapeType="1"/>
            </p:cNvSpPr>
            <p:nvPr/>
          </p:nvSpPr>
          <p:spPr bwMode="auto">
            <a:xfrm>
              <a:off x="450056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89" name="Text Box 13"/>
            <p:cNvSpPr txBox="1">
              <a:spLocks noChangeArrowheads="1"/>
            </p:cNvSpPr>
            <p:nvPr/>
          </p:nvSpPr>
          <p:spPr bwMode="auto">
            <a:xfrm>
              <a:off x="1041513" y="3710322"/>
              <a:ext cx="5808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VAP</a:t>
              </a:r>
            </a:p>
          </p:txBody>
        </p:sp>
        <p:sp>
          <p:nvSpPr>
            <p:cNvPr id="50190" name="Line 14"/>
            <p:cNvSpPr>
              <a:spLocks noChangeShapeType="1"/>
            </p:cNvSpPr>
            <p:nvPr/>
          </p:nvSpPr>
          <p:spPr bwMode="auto">
            <a:xfrm>
              <a:off x="3421063" y="3489722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91" name="Text Box 15"/>
            <p:cNvSpPr txBox="1">
              <a:spLocks noChangeArrowheads="1"/>
            </p:cNvSpPr>
            <p:nvPr/>
          </p:nvSpPr>
          <p:spPr bwMode="auto">
            <a:xfrm>
              <a:off x="3565526" y="3165872"/>
              <a:ext cx="168187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r=1,94265…%</a:t>
              </a:r>
            </a:p>
          </p:txBody>
        </p:sp>
        <p:sp>
          <p:nvSpPr>
            <p:cNvPr id="50192" name="Text Box 16"/>
            <p:cNvSpPr txBox="1">
              <a:spLocks noChangeArrowheads="1"/>
            </p:cNvSpPr>
            <p:nvPr/>
          </p:nvSpPr>
          <p:spPr bwMode="auto">
            <a:xfrm>
              <a:off x="2176463" y="3662363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50193" name="Text Box 17"/>
            <p:cNvSpPr txBox="1">
              <a:spLocks noChangeArrowheads="1"/>
            </p:cNvSpPr>
            <p:nvPr/>
          </p:nvSpPr>
          <p:spPr bwMode="auto">
            <a:xfrm>
              <a:off x="3276600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50194" name="Text Box 18"/>
            <p:cNvSpPr txBox="1">
              <a:spLocks noChangeArrowheads="1"/>
            </p:cNvSpPr>
            <p:nvPr/>
          </p:nvSpPr>
          <p:spPr bwMode="auto">
            <a:xfrm>
              <a:off x="4357688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50195" name="Text Box 19"/>
            <p:cNvSpPr txBox="1">
              <a:spLocks noChangeArrowheads="1"/>
            </p:cNvSpPr>
            <p:nvPr/>
          </p:nvSpPr>
          <p:spPr bwMode="auto">
            <a:xfrm>
              <a:off x="6445250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50196" name="Text Box 20"/>
            <p:cNvSpPr txBox="1">
              <a:spLocks noChangeArrowheads="1"/>
            </p:cNvSpPr>
            <p:nvPr/>
          </p:nvSpPr>
          <p:spPr bwMode="auto">
            <a:xfrm>
              <a:off x="7381875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50197" name="Line 21"/>
            <p:cNvSpPr>
              <a:spLocks noChangeShapeType="1"/>
            </p:cNvSpPr>
            <p:nvPr/>
          </p:nvSpPr>
          <p:spPr bwMode="auto">
            <a:xfrm>
              <a:off x="7524751" y="3543300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98" name="Line 22"/>
            <p:cNvSpPr>
              <a:spLocks noChangeShapeType="1"/>
            </p:cNvSpPr>
            <p:nvPr/>
          </p:nvSpPr>
          <p:spPr bwMode="auto">
            <a:xfrm>
              <a:off x="5581650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50199" name="Text Box 23"/>
            <p:cNvSpPr txBox="1">
              <a:spLocks noChangeArrowheads="1"/>
            </p:cNvSpPr>
            <p:nvPr/>
          </p:nvSpPr>
          <p:spPr bwMode="auto">
            <a:xfrm>
              <a:off x="5437188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constant</a:t>
            </a:r>
            <a:endParaRPr lang="fr-CA" sz="2800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3598"/>
            <a:ext cx="8075613" cy="3744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sz="2800" dirty="0" smtClean="0"/>
              <a:t>Ex 2: </a:t>
            </a:r>
            <a:r>
              <a:rPr lang="fr-CA" sz="2800" dirty="0" smtClean="0"/>
              <a:t>Une </a:t>
            </a:r>
            <a:r>
              <a:rPr lang="fr-CA" sz="2800" dirty="0"/>
              <a:t>autre action de </a:t>
            </a:r>
            <a:r>
              <a:rPr lang="fr-CA" sz="2800" dirty="0" smtClean="0"/>
              <a:t>BDB </a:t>
            </a:r>
            <a:r>
              <a:rPr lang="fr-CA" sz="2800" dirty="0" err="1" smtClean="0"/>
              <a:t>inc</a:t>
            </a:r>
            <a:r>
              <a:rPr lang="fr-CA" sz="2800" dirty="0" err="1"/>
              <a:t>.</a:t>
            </a:r>
            <a:r>
              <a:rPr lang="fr-CA" sz="2800" dirty="0"/>
              <a:t> verse un dividende trimestriel constant de </a:t>
            </a:r>
            <a:r>
              <a:rPr lang="fr-CA" sz="2800" dirty="0" smtClean="0"/>
              <a:t>0,25 $. </a:t>
            </a:r>
            <a:br>
              <a:rPr lang="fr-CA" sz="2800" dirty="0" smtClean="0"/>
            </a:br>
            <a:r>
              <a:rPr lang="fr-CA" sz="2800" dirty="0" smtClean="0"/>
              <a:t>Si </a:t>
            </a:r>
            <a:r>
              <a:rPr lang="fr-CA" sz="2800" dirty="0"/>
              <a:t>vous exigez un rendement effectif de </a:t>
            </a:r>
            <a:r>
              <a:rPr lang="fr-CA" sz="2800" dirty="0" smtClean="0"/>
              <a:t>8 %, </a:t>
            </a:r>
            <a:r>
              <a:rPr lang="fr-CA" sz="2800" dirty="0"/>
              <a:t>quel prix serez-vous prêt à payer pour cette action?</a:t>
            </a:r>
          </a:p>
          <a:p>
            <a:endParaRPr lang="fr-CA" sz="2800" dirty="0"/>
          </a:p>
          <a:p>
            <a:endParaRPr lang="fr-CA" sz="2800" dirty="0"/>
          </a:p>
          <a:p>
            <a:endParaRPr lang="fr-CA" sz="2800" dirty="0"/>
          </a:p>
          <a:p>
            <a:pPr marL="0" indent="0">
              <a:buNone/>
            </a:pPr>
            <a:r>
              <a:rPr lang="fr-CA" sz="2800" dirty="0"/>
              <a:t>VA</a:t>
            </a:r>
            <a:r>
              <a:rPr lang="fr-CA" sz="2800" baseline="-25000" dirty="0"/>
              <a:t>act.div.const.</a:t>
            </a:r>
            <a:r>
              <a:rPr lang="fr-CA" sz="2800" dirty="0"/>
              <a:t>= 0,25$/0,0194265… = 12,87$</a:t>
            </a:r>
          </a:p>
        </p:txBody>
      </p:sp>
      <p:grpSp>
        <p:nvGrpSpPr>
          <p:cNvPr id="24" name="Groupe 1"/>
          <p:cNvGrpSpPr/>
          <p:nvPr>
            <p:custDataLst>
              <p:tags r:id="rId3"/>
            </p:custDataLst>
          </p:nvPr>
        </p:nvGrpSpPr>
        <p:grpSpPr>
          <a:xfrm>
            <a:off x="825092" y="3049129"/>
            <a:ext cx="7102109" cy="913782"/>
            <a:chOff x="1041513" y="3165872"/>
            <a:chExt cx="7102109" cy="913782"/>
          </a:xfrm>
        </p:grpSpPr>
        <p:sp>
          <p:nvSpPr>
            <p:cNvPr id="25" name="Line 4"/>
            <p:cNvSpPr>
              <a:spLocks noChangeShapeType="1"/>
            </p:cNvSpPr>
            <p:nvPr/>
          </p:nvSpPr>
          <p:spPr bwMode="auto">
            <a:xfrm>
              <a:off x="1331914" y="3543300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" name="Line 5"/>
            <p:cNvSpPr>
              <a:spLocks noChangeShapeType="1"/>
            </p:cNvSpPr>
            <p:nvPr/>
          </p:nvSpPr>
          <p:spPr bwMode="auto">
            <a:xfrm>
              <a:off x="5149850" y="3543300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7" name="Line 6"/>
            <p:cNvSpPr>
              <a:spLocks noChangeShapeType="1"/>
            </p:cNvSpPr>
            <p:nvPr/>
          </p:nvSpPr>
          <p:spPr bwMode="auto">
            <a:xfrm>
              <a:off x="6084888" y="3543300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7524750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>
              <a:off x="658971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>
              <a:off x="1331913" y="3381375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234156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2" name="Line 11"/>
            <p:cNvSpPr>
              <a:spLocks noChangeShapeType="1"/>
            </p:cNvSpPr>
            <p:nvPr/>
          </p:nvSpPr>
          <p:spPr bwMode="auto">
            <a:xfrm>
              <a:off x="342106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3" name="Line 12"/>
            <p:cNvSpPr>
              <a:spLocks noChangeShapeType="1"/>
            </p:cNvSpPr>
            <p:nvPr/>
          </p:nvSpPr>
          <p:spPr bwMode="auto">
            <a:xfrm>
              <a:off x="4500563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4" name="Text Box 13"/>
            <p:cNvSpPr txBox="1">
              <a:spLocks noChangeArrowheads="1"/>
            </p:cNvSpPr>
            <p:nvPr/>
          </p:nvSpPr>
          <p:spPr bwMode="auto">
            <a:xfrm>
              <a:off x="1041513" y="3710322"/>
              <a:ext cx="5808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VAP</a:t>
              </a:r>
            </a:p>
          </p:txBody>
        </p:sp>
        <p:sp>
          <p:nvSpPr>
            <p:cNvPr id="35" name="Line 14"/>
            <p:cNvSpPr>
              <a:spLocks noChangeShapeType="1"/>
            </p:cNvSpPr>
            <p:nvPr/>
          </p:nvSpPr>
          <p:spPr bwMode="auto">
            <a:xfrm>
              <a:off x="3421063" y="3489722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3565526" y="3165872"/>
              <a:ext cx="168187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r=1,94265…%</a:t>
              </a:r>
            </a:p>
          </p:txBody>
        </p:sp>
        <p:sp>
          <p:nvSpPr>
            <p:cNvPr id="37" name="Text Box 16"/>
            <p:cNvSpPr txBox="1">
              <a:spLocks noChangeArrowheads="1"/>
            </p:cNvSpPr>
            <p:nvPr/>
          </p:nvSpPr>
          <p:spPr bwMode="auto">
            <a:xfrm>
              <a:off x="2176463" y="3662363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3276600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4357688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6445250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41" name="Text Box 20"/>
            <p:cNvSpPr txBox="1">
              <a:spLocks noChangeArrowheads="1"/>
            </p:cNvSpPr>
            <p:nvPr/>
          </p:nvSpPr>
          <p:spPr bwMode="auto">
            <a:xfrm>
              <a:off x="7381875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  <p:sp>
          <p:nvSpPr>
            <p:cNvPr id="42" name="Line 21"/>
            <p:cNvSpPr>
              <a:spLocks noChangeShapeType="1"/>
            </p:cNvSpPr>
            <p:nvPr/>
          </p:nvSpPr>
          <p:spPr bwMode="auto">
            <a:xfrm>
              <a:off x="7524751" y="3543300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5581650" y="3434954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44" name="Text Box 23"/>
            <p:cNvSpPr txBox="1">
              <a:spLocks noChangeArrowheads="1"/>
            </p:cNvSpPr>
            <p:nvPr/>
          </p:nvSpPr>
          <p:spPr bwMode="auto">
            <a:xfrm>
              <a:off x="5437188" y="3705225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0,25$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0151"/>
            <a:ext cx="8075613" cy="3394472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On anticipe </a:t>
            </a:r>
            <a:r>
              <a:rPr lang="fr-CA" sz="2800" dirty="0" smtClean="0"/>
              <a:t>que, </a:t>
            </a:r>
            <a:r>
              <a:rPr lang="fr-CA" sz="2800" dirty="0" smtClean="0"/>
              <a:t>pour une société en bonne santé financière, l’action ordinaire versera des dividendes croissants. </a:t>
            </a:r>
            <a:endParaRPr lang="fr-CA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0151"/>
            <a:ext cx="8075613" cy="3394472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On anticipe </a:t>
            </a:r>
            <a:r>
              <a:rPr lang="fr-CA" sz="2800" dirty="0" smtClean="0"/>
              <a:t>que, </a:t>
            </a:r>
            <a:r>
              <a:rPr lang="fr-CA" sz="2800" dirty="0" smtClean="0"/>
              <a:t>pour une société en bonne santé financière, l’action ordinaire versera des dividendes croissants. </a:t>
            </a:r>
            <a:endParaRPr lang="fr-CA" sz="2800" dirty="0"/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1295399" y="2608089"/>
            <a:ext cx="6769101" cy="908685"/>
            <a:chOff x="1285852" y="2408636"/>
            <a:chExt cx="6769101" cy="908685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1285853" y="2786064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5103789" y="2786064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038827" y="2786064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7478689" y="267771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6543652" y="267771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1285852" y="2624139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2295502" y="267771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375002" y="267771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454502" y="267771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3375002" y="2732486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3805216" y="2408636"/>
              <a:ext cx="2680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r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130402" y="290512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D</a:t>
              </a:r>
              <a:r>
                <a:rPr lang="fr-CA" baseline="-25000" dirty="0" smtClean="0">
                  <a:latin typeface="Tahoma" pitchFamily="34" charset="0"/>
                </a:rPr>
                <a:t>1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3230539" y="2947989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D</a:t>
              </a:r>
              <a:r>
                <a:rPr lang="fr-CA" baseline="-25000" dirty="0" smtClean="0">
                  <a:latin typeface="Tahoma" pitchFamily="34" charset="0"/>
                </a:rPr>
                <a:t>2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311627" y="2947989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D</a:t>
              </a:r>
              <a:r>
                <a:rPr lang="fr-CA" baseline="-25000" dirty="0" smtClean="0">
                  <a:latin typeface="Tahoma" pitchFamily="34" charset="0"/>
                </a:rPr>
                <a:t>3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6399189" y="2947989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D</a:t>
              </a:r>
              <a:r>
                <a:rPr lang="fr-CA" baseline="-25000" dirty="0" smtClean="0">
                  <a:latin typeface="Tahoma" pitchFamily="34" charset="0"/>
                </a:rPr>
                <a:t>5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7335814" y="2947989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D</a:t>
              </a:r>
              <a:r>
                <a:rPr lang="fr-CA" baseline="-25000" dirty="0" smtClean="0">
                  <a:latin typeface="Tahoma" pitchFamily="34" charset="0"/>
                </a:rPr>
                <a:t>6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7478690" y="2786064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5535589" y="267771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5391127" y="2947989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D</a:t>
              </a:r>
              <a:r>
                <a:rPr lang="fr-CA" baseline="-25000" dirty="0" smtClean="0">
                  <a:latin typeface="Tahoma" pitchFamily="34" charset="0"/>
                </a:rPr>
                <a:t>4</a:t>
              </a:r>
              <a:endParaRPr lang="fr-CA" dirty="0">
                <a:latin typeface="Tahom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1088828"/>
            <a:ext cx="8075613" cy="3394472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On anticipe </a:t>
            </a:r>
            <a:r>
              <a:rPr lang="fr-CA" sz="2800" dirty="0" smtClean="0"/>
              <a:t>que, </a:t>
            </a:r>
            <a:r>
              <a:rPr lang="fr-CA" sz="2800" dirty="0" smtClean="0"/>
              <a:t>pour une société en bonne santé financière, l’action ordinaire versera des dividendes croissants. </a:t>
            </a:r>
          </a:p>
          <a:p>
            <a:pPr marL="0" indent="0">
              <a:buNone/>
            </a:pPr>
            <a:endParaRPr lang="fr-CA" sz="2800" dirty="0"/>
          </a:p>
        </p:txBody>
      </p:sp>
      <p:sp>
        <p:nvSpPr>
          <p:cNvPr id="7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285853" y="2786064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8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5103789" y="2786064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9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38827" y="2786064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0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7478689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1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54365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2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285852" y="2624139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3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2955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4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3750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4545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375002" y="2732486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" name="Text Box 1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805216" y="2408636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r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130402" y="2905127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1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230539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2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311627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3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399189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5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335814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6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4" name="Line 21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7478690" y="2786064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5" name="Line 22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5535589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6" name="Text Box 2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391127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4</a:t>
            </a:r>
            <a:endParaRPr lang="fr-CA" dirty="0">
              <a:latin typeface="Tahoma" pitchFamily="34" charset="0"/>
            </a:endParaRPr>
          </a:p>
        </p:txBody>
      </p:sp>
      <p:cxnSp>
        <p:nvCxnSpPr>
          <p:cNvPr id="28" name="Connecteur droit avec flèche 27"/>
          <p:cNvCxnSpPr/>
          <p:nvPr>
            <p:custDataLst>
              <p:tags r:id="rId22"/>
            </p:custDataLst>
          </p:nvPr>
        </p:nvCxnSpPr>
        <p:spPr>
          <a:xfrm>
            <a:off x="264317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>
            <p:custDataLst>
              <p:tags r:id="rId23"/>
            </p:custDataLst>
          </p:nvPr>
        </p:nvSpPr>
        <p:spPr>
          <a:xfrm>
            <a:off x="271461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0" name="Connecteur droit avec flèche 29"/>
          <p:cNvCxnSpPr/>
          <p:nvPr>
            <p:custDataLst>
              <p:tags r:id="rId24"/>
            </p:custDataLst>
          </p:nvPr>
        </p:nvCxnSpPr>
        <p:spPr>
          <a:xfrm>
            <a:off x="371474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>
            <p:custDataLst>
              <p:tags r:id="rId25"/>
            </p:custDataLst>
          </p:nvPr>
        </p:nvSpPr>
        <p:spPr>
          <a:xfrm>
            <a:off x="378618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2" name="Connecteur droit avec flèche 31"/>
          <p:cNvCxnSpPr/>
          <p:nvPr>
            <p:custDataLst>
              <p:tags r:id="rId26"/>
            </p:custDataLst>
          </p:nvPr>
        </p:nvCxnSpPr>
        <p:spPr>
          <a:xfrm>
            <a:off x="478631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>
            <p:custDataLst>
              <p:tags r:id="rId27"/>
            </p:custDataLst>
          </p:nvPr>
        </p:nvSpPr>
        <p:spPr>
          <a:xfrm>
            <a:off x="485775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4" name="Connecteur droit avec flèche 33"/>
          <p:cNvCxnSpPr/>
          <p:nvPr>
            <p:custDataLst>
              <p:tags r:id="rId28"/>
            </p:custDataLst>
          </p:nvPr>
        </p:nvCxnSpPr>
        <p:spPr>
          <a:xfrm>
            <a:off x="585788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>
            <p:custDataLst>
              <p:tags r:id="rId29"/>
            </p:custDataLst>
          </p:nvPr>
        </p:nvSpPr>
        <p:spPr>
          <a:xfrm>
            <a:off x="592932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6" name="Connecteur droit avec flèche 35"/>
          <p:cNvCxnSpPr/>
          <p:nvPr>
            <p:custDataLst>
              <p:tags r:id="rId30"/>
            </p:custDataLst>
          </p:nvPr>
        </p:nvCxnSpPr>
        <p:spPr>
          <a:xfrm>
            <a:off x="6858016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>
            <p:custDataLst>
              <p:tags r:id="rId31"/>
            </p:custDataLst>
          </p:nvPr>
        </p:nvSpPr>
        <p:spPr>
          <a:xfrm>
            <a:off x="6929454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8" name="Connecteur droit avec flèche 37"/>
          <p:cNvCxnSpPr/>
          <p:nvPr>
            <p:custDataLst>
              <p:tags r:id="rId32"/>
            </p:custDataLst>
          </p:nvPr>
        </p:nvCxnSpPr>
        <p:spPr>
          <a:xfrm>
            <a:off x="7715272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>
            <p:custDataLst>
              <p:tags r:id="rId33"/>
            </p:custDataLst>
          </p:nvPr>
        </p:nvSpPr>
        <p:spPr>
          <a:xfrm>
            <a:off x="7786710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0151"/>
            <a:ext cx="8075613" cy="3394472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On anticipe </a:t>
            </a:r>
            <a:r>
              <a:rPr lang="fr-CA" sz="2800" dirty="0" smtClean="0"/>
              <a:t>que, </a:t>
            </a:r>
            <a:r>
              <a:rPr lang="fr-CA" sz="2800" dirty="0" smtClean="0"/>
              <a:t>pour une société en bonne santé financière, l’action ordinaire versera des dividendes croissants. </a:t>
            </a:r>
            <a:endParaRPr lang="fr-CA" sz="2800" dirty="0"/>
          </a:p>
        </p:txBody>
      </p:sp>
      <p:sp>
        <p:nvSpPr>
          <p:cNvPr id="7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285853" y="2786064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8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5103789" y="2786064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9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38827" y="2786064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0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7478689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1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54365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2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285852" y="2624139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3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2955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4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3750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4545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" name="Text Box 1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26958" y="2892716"/>
            <a:ext cx="58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VAP</a:t>
            </a:r>
          </a:p>
        </p:txBody>
      </p:sp>
      <p:sp>
        <p:nvSpPr>
          <p:cNvPr id="17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3375002" y="2732486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" name="Text Box 15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805216" y="2408636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r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130402" y="2905127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1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230539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2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311627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3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399189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5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335814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6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4" name="Line 21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7478690" y="2786064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5" name="Line 22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5535589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6" name="Text Box 23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391127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4</a:t>
            </a:r>
            <a:endParaRPr lang="fr-CA" dirty="0">
              <a:latin typeface="Tahoma" pitchFamily="34" charset="0"/>
            </a:endParaRPr>
          </a:p>
        </p:txBody>
      </p:sp>
      <p:cxnSp>
        <p:nvCxnSpPr>
          <p:cNvPr id="28" name="Connecteur droit avec flèche 27"/>
          <p:cNvCxnSpPr/>
          <p:nvPr>
            <p:custDataLst>
              <p:tags r:id="rId23"/>
            </p:custDataLst>
          </p:nvPr>
        </p:nvCxnSpPr>
        <p:spPr>
          <a:xfrm>
            <a:off x="264317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>
            <p:custDataLst>
              <p:tags r:id="rId24"/>
            </p:custDataLst>
          </p:nvPr>
        </p:nvSpPr>
        <p:spPr>
          <a:xfrm>
            <a:off x="271461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0" name="Connecteur droit avec flèche 29"/>
          <p:cNvCxnSpPr/>
          <p:nvPr>
            <p:custDataLst>
              <p:tags r:id="rId25"/>
            </p:custDataLst>
          </p:nvPr>
        </p:nvCxnSpPr>
        <p:spPr>
          <a:xfrm>
            <a:off x="371474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>
            <p:custDataLst>
              <p:tags r:id="rId26"/>
            </p:custDataLst>
          </p:nvPr>
        </p:nvSpPr>
        <p:spPr>
          <a:xfrm>
            <a:off x="378618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2" name="Connecteur droit avec flèche 31"/>
          <p:cNvCxnSpPr/>
          <p:nvPr>
            <p:custDataLst>
              <p:tags r:id="rId27"/>
            </p:custDataLst>
          </p:nvPr>
        </p:nvCxnSpPr>
        <p:spPr>
          <a:xfrm>
            <a:off x="478631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>
            <p:custDataLst>
              <p:tags r:id="rId28"/>
            </p:custDataLst>
          </p:nvPr>
        </p:nvSpPr>
        <p:spPr>
          <a:xfrm>
            <a:off x="485775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4" name="Connecteur droit avec flèche 33"/>
          <p:cNvCxnSpPr/>
          <p:nvPr>
            <p:custDataLst>
              <p:tags r:id="rId29"/>
            </p:custDataLst>
          </p:nvPr>
        </p:nvCxnSpPr>
        <p:spPr>
          <a:xfrm>
            <a:off x="585788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>
            <p:custDataLst>
              <p:tags r:id="rId30"/>
            </p:custDataLst>
          </p:nvPr>
        </p:nvSpPr>
        <p:spPr>
          <a:xfrm>
            <a:off x="592932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6" name="Connecteur droit avec flèche 35"/>
          <p:cNvCxnSpPr/>
          <p:nvPr>
            <p:custDataLst>
              <p:tags r:id="rId31"/>
            </p:custDataLst>
          </p:nvPr>
        </p:nvCxnSpPr>
        <p:spPr>
          <a:xfrm>
            <a:off x="6858016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>
            <p:custDataLst>
              <p:tags r:id="rId32"/>
            </p:custDataLst>
          </p:nvPr>
        </p:nvSpPr>
        <p:spPr>
          <a:xfrm>
            <a:off x="6929454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8" name="Connecteur droit avec flèche 37"/>
          <p:cNvCxnSpPr/>
          <p:nvPr>
            <p:custDataLst>
              <p:tags r:id="rId33"/>
            </p:custDataLst>
          </p:nvPr>
        </p:nvCxnSpPr>
        <p:spPr>
          <a:xfrm>
            <a:off x="7715272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>
            <p:custDataLst>
              <p:tags r:id="rId34"/>
            </p:custDataLst>
          </p:nvPr>
        </p:nvSpPr>
        <p:spPr>
          <a:xfrm>
            <a:off x="7786710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sp>
        <p:nvSpPr>
          <p:cNvPr id="40" name="Ellipse 39"/>
          <p:cNvSpPr/>
          <p:nvPr>
            <p:custDataLst>
              <p:tags r:id="rId35"/>
            </p:custDataLst>
          </p:nvPr>
        </p:nvSpPr>
        <p:spPr>
          <a:xfrm>
            <a:off x="1766495" y="2847400"/>
            <a:ext cx="6896893" cy="4847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6" name="Forme libre 45"/>
          <p:cNvSpPr/>
          <p:nvPr>
            <p:custDataLst>
              <p:tags r:id="rId36"/>
            </p:custDataLst>
          </p:nvPr>
        </p:nvSpPr>
        <p:spPr>
          <a:xfrm>
            <a:off x="1420837" y="3249637"/>
            <a:ext cx="717452" cy="128369"/>
          </a:xfrm>
          <a:custGeom>
            <a:avLst/>
            <a:gdLst>
              <a:gd name="connsiteX0" fmla="*/ 717452 w 717452"/>
              <a:gd name="connsiteY0" fmla="*/ 0 h 171158"/>
              <a:gd name="connsiteX1" fmla="*/ 379828 w 717452"/>
              <a:gd name="connsiteY1" fmla="*/ 168813 h 171158"/>
              <a:gd name="connsiteX2" fmla="*/ 0 w 717452"/>
              <a:gd name="connsiteY2" fmla="*/ 14068 h 17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452" h="171158">
                <a:moveTo>
                  <a:pt x="717452" y="0"/>
                </a:moveTo>
                <a:cubicBezTo>
                  <a:pt x="608427" y="83234"/>
                  <a:pt x="499403" y="166468"/>
                  <a:pt x="379828" y="168813"/>
                </a:cubicBezTo>
                <a:cubicBezTo>
                  <a:pt x="260253" y="171158"/>
                  <a:pt x="58616" y="157090"/>
                  <a:pt x="0" y="14068"/>
                </a:cubicBezTo>
              </a:path>
            </a:pathLst>
          </a:cu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Rectangle 1"/>
          <p:cNvSpPr/>
          <p:nvPr>
            <p:custDataLst>
              <p:tags r:id="rId37"/>
            </p:custDataLst>
          </p:nvPr>
        </p:nvSpPr>
        <p:spPr>
          <a:xfrm>
            <a:off x="8227656" y="2593302"/>
            <a:ext cx="576064" cy="945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Action: dividende croissant</a:t>
            </a:r>
            <a:endParaRPr lang="fr-CA" sz="28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1" y="1200151"/>
            <a:ext cx="8075613" cy="3394472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 smtClean="0"/>
              <a:t>On anticipe </a:t>
            </a:r>
            <a:r>
              <a:rPr lang="fr-CA" sz="2800" dirty="0" smtClean="0"/>
              <a:t>que, </a:t>
            </a:r>
            <a:r>
              <a:rPr lang="fr-CA" sz="2800" dirty="0" smtClean="0"/>
              <a:t>pour une société en bonne santé financière, l’action ordinaire versera des dividendes croissants. </a:t>
            </a:r>
            <a:endParaRPr lang="fr-CA" sz="2800" dirty="0"/>
          </a:p>
        </p:txBody>
      </p:sp>
      <p:graphicFrame>
        <p:nvGraphicFramePr>
          <p:cNvPr id="54277" name="Object 5"/>
          <p:cNvGraphicFramePr>
            <a:graphicFrameLocks noGrp="1" noChangeAspect="1"/>
          </p:cNvGraphicFramePr>
          <p:nvPr>
            <p:ph sz="quarter" idx="2"/>
            <p:custDataLst>
              <p:tags r:id="rId4"/>
            </p:custDataLst>
          </p:nvPr>
        </p:nvGraphicFramePr>
        <p:xfrm>
          <a:off x="3414713" y="3665538"/>
          <a:ext cx="26749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21" name="Equation" r:id="rId42" imgW="1307880" imgH="419040" progId="Equation.3">
                  <p:embed/>
                </p:oleObj>
              </mc:Choice>
              <mc:Fallback>
                <p:oleObj name="Equation" r:id="rId42" imgW="130788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3665538"/>
                        <a:ext cx="2674937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4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85853" y="2786064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8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03789" y="2786064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9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038827" y="2786064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0" name="Line 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7478689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1" name="Line 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54365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2" name="Line 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285852" y="2624139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3" name="Line 10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2955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4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3750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" name="Line 1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454502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" name="Text Box 1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13306" y="2889078"/>
            <a:ext cx="58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VAP</a:t>
            </a:r>
          </a:p>
        </p:txBody>
      </p:sp>
      <p:sp>
        <p:nvSpPr>
          <p:cNvPr id="17" name="Line 1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375002" y="2732486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" name="Text Box 1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05216" y="2408636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r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130402" y="2905127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1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230539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2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311627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3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399189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5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335814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6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4" name="Line 21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7478690" y="2786064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5" name="Line 22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5535589" y="2677717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6" name="Text Box 23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391127" y="2947989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D</a:t>
            </a:r>
            <a:r>
              <a:rPr lang="fr-CA" baseline="-25000" dirty="0" smtClean="0">
                <a:latin typeface="Tahoma" pitchFamily="34" charset="0"/>
              </a:rPr>
              <a:t>4</a:t>
            </a:r>
            <a:endParaRPr lang="fr-CA" dirty="0">
              <a:latin typeface="Tahoma" pitchFamily="34" charset="0"/>
            </a:endParaRPr>
          </a:p>
        </p:txBody>
      </p:sp>
      <p:cxnSp>
        <p:nvCxnSpPr>
          <p:cNvPr id="28" name="Connecteur droit avec flèche 27"/>
          <p:cNvCxnSpPr/>
          <p:nvPr>
            <p:custDataLst>
              <p:tags r:id="rId25"/>
            </p:custDataLst>
          </p:nvPr>
        </p:nvCxnSpPr>
        <p:spPr>
          <a:xfrm>
            <a:off x="264317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>
            <p:custDataLst>
              <p:tags r:id="rId26"/>
            </p:custDataLst>
          </p:nvPr>
        </p:nvSpPr>
        <p:spPr>
          <a:xfrm>
            <a:off x="271461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0" name="Connecteur droit avec flèche 29"/>
          <p:cNvCxnSpPr/>
          <p:nvPr>
            <p:custDataLst>
              <p:tags r:id="rId27"/>
            </p:custDataLst>
          </p:nvPr>
        </p:nvCxnSpPr>
        <p:spPr>
          <a:xfrm>
            <a:off x="371474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>
            <p:custDataLst>
              <p:tags r:id="rId28"/>
            </p:custDataLst>
          </p:nvPr>
        </p:nvSpPr>
        <p:spPr>
          <a:xfrm>
            <a:off x="378618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2" name="Connecteur droit avec flèche 31"/>
          <p:cNvCxnSpPr/>
          <p:nvPr>
            <p:custDataLst>
              <p:tags r:id="rId29"/>
            </p:custDataLst>
          </p:nvPr>
        </p:nvCxnSpPr>
        <p:spPr>
          <a:xfrm>
            <a:off x="478631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>
            <p:custDataLst>
              <p:tags r:id="rId30"/>
            </p:custDataLst>
          </p:nvPr>
        </p:nvSpPr>
        <p:spPr>
          <a:xfrm>
            <a:off x="485775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4" name="Connecteur droit avec flèche 33"/>
          <p:cNvCxnSpPr/>
          <p:nvPr>
            <p:custDataLst>
              <p:tags r:id="rId31"/>
            </p:custDataLst>
          </p:nvPr>
        </p:nvCxnSpPr>
        <p:spPr>
          <a:xfrm>
            <a:off x="5857884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>
            <p:custDataLst>
              <p:tags r:id="rId32"/>
            </p:custDataLst>
          </p:nvPr>
        </p:nvSpPr>
        <p:spPr>
          <a:xfrm>
            <a:off x="5929322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6" name="Connecteur droit avec flèche 35"/>
          <p:cNvCxnSpPr/>
          <p:nvPr>
            <p:custDataLst>
              <p:tags r:id="rId33"/>
            </p:custDataLst>
          </p:nvPr>
        </p:nvCxnSpPr>
        <p:spPr>
          <a:xfrm>
            <a:off x="6858016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>
            <p:custDataLst>
              <p:tags r:id="rId34"/>
            </p:custDataLst>
          </p:nvPr>
        </p:nvSpPr>
        <p:spPr>
          <a:xfrm>
            <a:off x="6929454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cxnSp>
        <p:nvCxnSpPr>
          <p:cNvPr id="38" name="Connecteur droit avec flèche 37"/>
          <p:cNvCxnSpPr/>
          <p:nvPr>
            <p:custDataLst>
              <p:tags r:id="rId35"/>
            </p:custDataLst>
          </p:nvPr>
        </p:nvCxnSpPr>
        <p:spPr>
          <a:xfrm>
            <a:off x="7715272" y="3107535"/>
            <a:ext cx="428628" cy="11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>
            <p:custDataLst>
              <p:tags r:id="rId36"/>
            </p:custDataLst>
          </p:nvPr>
        </p:nvSpPr>
        <p:spPr>
          <a:xfrm>
            <a:off x="7786710" y="316111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 smtClean="0">
                <a:solidFill>
                  <a:schemeClr val="accent1"/>
                </a:solidFill>
              </a:rPr>
              <a:t>g</a:t>
            </a:r>
            <a:endParaRPr lang="fr-CA" sz="2400" dirty="0">
              <a:solidFill>
                <a:schemeClr val="accent1"/>
              </a:solidFill>
            </a:endParaRPr>
          </a:p>
        </p:txBody>
      </p:sp>
      <p:sp>
        <p:nvSpPr>
          <p:cNvPr id="46" name="Forme libre 45"/>
          <p:cNvSpPr/>
          <p:nvPr>
            <p:custDataLst>
              <p:tags r:id="rId37"/>
            </p:custDataLst>
          </p:nvPr>
        </p:nvSpPr>
        <p:spPr>
          <a:xfrm>
            <a:off x="1420837" y="3249637"/>
            <a:ext cx="717452" cy="128369"/>
          </a:xfrm>
          <a:custGeom>
            <a:avLst/>
            <a:gdLst>
              <a:gd name="connsiteX0" fmla="*/ 717452 w 717452"/>
              <a:gd name="connsiteY0" fmla="*/ 0 h 171158"/>
              <a:gd name="connsiteX1" fmla="*/ 379828 w 717452"/>
              <a:gd name="connsiteY1" fmla="*/ 168813 h 171158"/>
              <a:gd name="connsiteX2" fmla="*/ 0 w 717452"/>
              <a:gd name="connsiteY2" fmla="*/ 14068 h 17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452" h="171158">
                <a:moveTo>
                  <a:pt x="717452" y="0"/>
                </a:moveTo>
                <a:cubicBezTo>
                  <a:pt x="608427" y="83234"/>
                  <a:pt x="499403" y="166468"/>
                  <a:pt x="379828" y="168813"/>
                </a:cubicBezTo>
                <a:cubicBezTo>
                  <a:pt x="260253" y="171158"/>
                  <a:pt x="58616" y="157090"/>
                  <a:pt x="0" y="14068"/>
                </a:cubicBezTo>
              </a:path>
            </a:pathLst>
          </a:cu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1" name="Ellipse 40"/>
          <p:cNvSpPr/>
          <p:nvPr>
            <p:custDataLst>
              <p:tags r:id="rId38"/>
            </p:custDataLst>
          </p:nvPr>
        </p:nvSpPr>
        <p:spPr>
          <a:xfrm>
            <a:off x="1766495" y="2847400"/>
            <a:ext cx="6896893" cy="4847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0" name="Rectangle 39"/>
          <p:cNvSpPr/>
          <p:nvPr>
            <p:custDataLst>
              <p:tags r:id="rId39"/>
            </p:custDataLst>
          </p:nvPr>
        </p:nvSpPr>
        <p:spPr>
          <a:xfrm>
            <a:off x="8227656" y="2593302"/>
            <a:ext cx="576064" cy="945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2" name="ZoneTexte 41"/>
          <p:cNvSpPr txBox="1"/>
          <p:nvPr>
            <p:custDataLst>
              <p:tags r:id="rId40"/>
            </p:custDataLst>
          </p:nvPr>
        </p:nvSpPr>
        <p:spPr>
          <a:xfrm>
            <a:off x="214282" y="4339841"/>
            <a:ext cx="7121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smtClean="0">
                <a:solidFill>
                  <a:schemeClr val="accent2"/>
                </a:solidFill>
              </a:rPr>
              <a:t>*Résultat TOUJOURS trouvé</a:t>
            </a:r>
          </a:p>
          <a:p>
            <a:r>
              <a:rPr lang="fr-CA" dirty="0" smtClean="0">
                <a:solidFill>
                  <a:schemeClr val="accent2"/>
                </a:solidFill>
              </a:rPr>
              <a:t>une période avant le premier versement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Action: dividende croissant</a:t>
            </a:r>
            <a:endParaRPr lang="fr-CA" sz="280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0151"/>
            <a:ext cx="7931223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 smtClean="0"/>
              <a:t>IBN </a:t>
            </a:r>
            <a:r>
              <a:rPr lang="fr-CA" sz="2400" dirty="0" err="1"/>
              <a:t>inc.</a:t>
            </a:r>
            <a:r>
              <a:rPr lang="fr-CA" sz="2400" dirty="0"/>
              <a:t> vient de verser un dividende de </a:t>
            </a:r>
            <a:r>
              <a:rPr lang="fr-CA" sz="2400" dirty="0" smtClean="0"/>
              <a:t>1 $ </a:t>
            </a:r>
            <a:r>
              <a:rPr lang="fr-CA" sz="2400" dirty="0"/>
              <a:t>aux détenteurs d’actions ordinaires. Vous prévoyez que ce dividende devrait croître de </a:t>
            </a:r>
            <a:r>
              <a:rPr lang="fr-CA" sz="2400" dirty="0" smtClean="0"/>
              <a:t>5 % </a:t>
            </a:r>
            <a:r>
              <a:rPr lang="fr-CA" sz="2400" dirty="0"/>
              <a:t>dans l’avenir. </a:t>
            </a:r>
            <a:r>
              <a:rPr lang="fr-CA" sz="2400" dirty="0" smtClean="0"/>
              <a:t/>
            </a:r>
            <a:br>
              <a:rPr lang="fr-CA" sz="2400" dirty="0" smtClean="0"/>
            </a:br>
            <a:r>
              <a:rPr lang="fr-CA" sz="2400" dirty="0" smtClean="0"/>
              <a:t>Si </a:t>
            </a:r>
            <a:r>
              <a:rPr lang="fr-CA" sz="2400" dirty="0"/>
              <a:t>vous exigez un rendement effectif de </a:t>
            </a:r>
            <a:r>
              <a:rPr lang="fr-CA" sz="2400" dirty="0" smtClean="0"/>
              <a:t>14 % </a:t>
            </a:r>
            <a:r>
              <a:rPr lang="fr-CA" sz="2400" dirty="0"/>
              <a:t>pour cette action, quel devrait être son prix d’achat?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0151"/>
            <a:ext cx="8229599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IBN </a:t>
            </a:r>
            <a:r>
              <a:rPr lang="fr-CA" sz="2000" dirty="0" err="1"/>
              <a:t>inc.</a:t>
            </a:r>
            <a:r>
              <a:rPr lang="fr-CA" sz="2000" dirty="0"/>
              <a:t> vient de verser un dividende de </a:t>
            </a:r>
            <a:r>
              <a:rPr lang="fr-CA" sz="2000" dirty="0" smtClean="0"/>
              <a:t>1 $ </a:t>
            </a:r>
            <a:r>
              <a:rPr lang="fr-CA" sz="2000" dirty="0"/>
              <a:t>aux détenteurs d’actions ordinaires. Vous prévoyez que ce dividende devrait croître de </a:t>
            </a:r>
            <a:r>
              <a:rPr lang="fr-CA" sz="2000" dirty="0" smtClean="0"/>
              <a:t>5 % </a:t>
            </a:r>
            <a:r>
              <a:rPr lang="fr-CA" sz="2000" dirty="0"/>
              <a:t>dans l’avenir. </a:t>
            </a:r>
            <a:br>
              <a:rPr lang="fr-CA" sz="2000" dirty="0"/>
            </a:br>
            <a:r>
              <a:rPr lang="fr-CA" sz="2000" dirty="0" smtClean="0"/>
              <a:t>Si </a:t>
            </a:r>
            <a:r>
              <a:rPr lang="fr-CA" sz="2000" dirty="0"/>
              <a:t>vous exigez un rendement effectif de </a:t>
            </a:r>
            <a:r>
              <a:rPr lang="fr-CA" sz="2000" dirty="0" smtClean="0"/>
              <a:t>14 % </a:t>
            </a:r>
            <a:r>
              <a:rPr lang="fr-CA" sz="2000" dirty="0"/>
              <a:t>pour cette action, quel devrait être son prix d’achat</a:t>
            </a:r>
            <a:r>
              <a:rPr lang="fr-CA" sz="2000" dirty="0" smtClean="0"/>
              <a:t>?</a:t>
            </a:r>
          </a:p>
          <a:p>
            <a:pPr marL="0" indent="0">
              <a:buNone/>
            </a:pPr>
            <a:endParaRPr lang="fr-CA" sz="2000" dirty="0"/>
          </a:p>
        </p:txBody>
      </p:sp>
      <p:grpSp>
        <p:nvGrpSpPr>
          <p:cNvPr id="4" name="Groupe 3"/>
          <p:cNvGrpSpPr/>
          <p:nvPr/>
        </p:nvGrpSpPr>
        <p:grpSpPr>
          <a:xfrm>
            <a:off x="1079500" y="3147814"/>
            <a:ext cx="6984999" cy="1124188"/>
            <a:chOff x="1079500" y="2933063"/>
            <a:chExt cx="6984999" cy="1124188"/>
          </a:xfrm>
        </p:grpSpPr>
        <p:sp>
          <p:nvSpPr>
            <p:cNvPr id="60421" name="Line 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5113337" y="3418838"/>
              <a:ext cx="935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grpSp>
          <p:nvGrpSpPr>
            <p:cNvPr id="3" name="Groupe 2"/>
            <p:cNvGrpSpPr/>
            <p:nvPr/>
          </p:nvGrpSpPr>
          <p:grpSpPr>
            <a:xfrm>
              <a:off x="1079500" y="2933063"/>
              <a:ext cx="6984999" cy="1124188"/>
              <a:chOff x="1114426" y="2464594"/>
              <a:chExt cx="6984999" cy="1124188"/>
            </a:xfrm>
          </p:grpSpPr>
          <p:sp>
            <p:nvSpPr>
              <p:cNvPr id="60422" name="Line 6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6083301" y="2950369"/>
                <a:ext cx="14398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0428" name="Line 12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4498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grpSp>
            <p:nvGrpSpPr>
              <p:cNvPr id="2" name="Groupe 1"/>
              <p:cNvGrpSpPr/>
              <p:nvPr/>
            </p:nvGrpSpPr>
            <p:grpSpPr>
              <a:xfrm>
                <a:off x="1114426" y="2464594"/>
                <a:ext cx="6984999" cy="1124188"/>
                <a:chOff x="1114426" y="2464594"/>
                <a:chExt cx="6984999" cy="1124188"/>
              </a:xfrm>
            </p:grpSpPr>
            <p:sp>
              <p:nvSpPr>
                <p:cNvPr id="60420" name="Line 4"/>
                <p:cNvSpPr>
                  <a:spLocks noChangeShapeType="1"/>
                </p:cNvSpPr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1330325" y="2950369"/>
                  <a:ext cx="38179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23" name="Line 7"/>
                <p:cNvSpPr>
                  <a:spLocks noChangeShapeType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7523163" y="2842022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24" name="Line 8"/>
                <p:cNvSpPr>
                  <a:spLocks noChangeShapeType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588125" y="2842022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25" name="Line 9"/>
                <p:cNvSpPr>
                  <a:spLocks noChangeShapeType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1330325" y="2788444"/>
                  <a:ext cx="0" cy="3238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26" name="Line 10"/>
                <p:cNvSpPr>
                  <a:spLocks noChangeShapeType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2339975" y="2842022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27" name="Line 11"/>
                <p:cNvSpPr>
                  <a:spLocks noChangeShapeType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3419475" y="2842022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29" name="Text Box 13"/>
                <p:cNvSpPr txBox="1">
                  <a:spLocks noChangeArrowheads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1114426" y="2464594"/>
                  <a:ext cx="561372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 dirty="0">
                      <a:latin typeface="Tahoma" pitchFamily="34" charset="0"/>
                    </a:rPr>
                    <a:t>Prix</a:t>
                  </a:r>
                </a:p>
              </p:txBody>
            </p:sp>
            <p:sp>
              <p:nvSpPr>
                <p:cNvPr id="60430" name="Line 14"/>
                <p:cNvSpPr>
                  <a:spLocks noChangeShapeType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3419475" y="2896791"/>
                  <a:ext cx="10795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31" name="Text Box 15"/>
                <p:cNvSpPr txBox="1">
                  <a:spLocks noChangeArrowheads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3563938" y="2625329"/>
                  <a:ext cx="915635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r=14%</a:t>
                  </a:r>
                </a:p>
              </p:txBody>
            </p:sp>
            <p:sp>
              <p:nvSpPr>
                <p:cNvPr id="60432" name="Text Box 16"/>
                <p:cNvSpPr txBox="1">
                  <a:spLocks noChangeArrowheads="1"/>
                </p:cNvSpPr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2193926" y="311229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1</a:t>
                  </a:r>
                  <a:endParaRPr lang="fr-CA">
                    <a:latin typeface="Tahoma" pitchFamily="34" charset="0"/>
                  </a:endParaRPr>
                </a:p>
              </p:txBody>
            </p:sp>
            <p:sp>
              <p:nvSpPr>
                <p:cNvPr id="60433" name="Text Box 17"/>
                <p:cNvSpPr txBox="1">
                  <a:spLocks noChangeArrowheads="1"/>
                </p:cNvSpPr>
                <p:nvPr>
                  <p:custDataLst>
                    <p:tags r:id="rId16"/>
                  </p:custDataLst>
                </p:nvPr>
              </p:nvSpPr>
              <p:spPr bwMode="auto">
                <a:xfrm>
                  <a:off x="3275014" y="311229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2</a:t>
                  </a:r>
                </a:p>
              </p:txBody>
            </p:sp>
            <p:sp>
              <p:nvSpPr>
                <p:cNvPr id="60434" name="Text Box 18"/>
                <p:cNvSpPr txBox="1"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4356101" y="311229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3</a:t>
                  </a:r>
                </a:p>
              </p:txBody>
            </p:sp>
            <p:sp>
              <p:nvSpPr>
                <p:cNvPr id="60435" name="Text Box 19"/>
                <p:cNvSpPr txBox="1">
                  <a:spLocks noChangeArrowheads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6443664" y="311229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5</a:t>
                  </a:r>
                </a:p>
              </p:txBody>
            </p:sp>
            <p:sp>
              <p:nvSpPr>
                <p:cNvPr id="60436" name="Text Box 20"/>
                <p:cNvSpPr txBox="1">
                  <a:spLocks noChangeArrowheads="1"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7380289" y="311229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 dirty="0">
                      <a:latin typeface="Tahoma" pitchFamily="34" charset="0"/>
                    </a:rPr>
                    <a:t>D</a:t>
                  </a:r>
                  <a:r>
                    <a:rPr lang="fr-CA" baseline="-25000" dirty="0">
                      <a:latin typeface="Tahoma" pitchFamily="34" charset="0"/>
                    </a:rPr>
                    <a:t>6</a:t>
                  </a:r>
                </a:p>
              </p:txBody>
            </p:sp>
            <p:sp>
              <p:nvSpPr>
                <p:cNvPr id="60437" name="Line 21"/>
                <p:cNvSpPr>
                  <a:spLocks noChangeShapeType="1"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7523163" y="2950369"/>
                  <a:ext cx="57626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38" name="Line 22"/>
                <p:cNvSpPr>
                  <a:spLocks noChangeShapeType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580063" y="2842022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39" name="Text Box 23"/>
                <p:cNvSpPr txBox="1">
                  <a:spLocks noChangeArrowheads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435601" y="311229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 dirty="0">
                      <a:latin typeface="Tahoma" pitchFamily="34" charset="0"/>
                    </a:rPr>
                    <a:t>D</a:t>
                  </a:r>
                  <a:r>
                    <a:rPr lang="fr-CA" baseline="-25000" dirty="0">
                      <a:latin typeface="Tahoma" pitchFamily="34" charset="0"/>
                    </a:rPr>
                    <a:t>4</a:t>
                  </a:r>
                </a:p>
              </p:txBody>
            </p:sp>
            <p:sp>
              <p:nvSpPr>
                <p:cNvPr id="60440" name="Line 24"/>
                <p:cNvSpPr>
                  <a:spLocks noChangeShapeType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2719389" y="3262313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41" name="Text Box 25"/>
                <p:cNvSpPr txBox="1">
                  <a:spLocks noChangeArrowhead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2770188" y="3219450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0442" name="Line 26"/>
                <p:cNvSpPr>
                  <a:spLocks noChangeShapeType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3798888" y="3262313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43" name="Text Box 27"/>
                <p:cNvSpPr txBox="1">
                  <a:spLocks noChangeArrowheads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3849688" y="3219450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0444" name="Line 28"/>
                <p:cNvSpPr>
                  <a:spLocks noChangeShapeType="1"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4879975" y="3262313"/>
                  <a:ext cx="503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45" name="Text Box 29"/>
                <p:cNvSpPr txBox="1">
                  <a:spLocks noChangeArrowheads="1"/>
                </p:cNvSpPr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4930775" y="3219450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0446" name="Line 30"/>
                <p:cNvSpPr>
                  <a:spLocks noChangeShapeType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5888039" y="3262313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47" name="Text Box 31"/>
                <p:cNvSpPr txBox="1">
                  <a:spLocks noChangeArrowheads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5938838" y="3219450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 dirty="0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0448" name="Line 32"/>
                <p:cNvSpPr>
                  <a:spLocks noChangeShapeType="1"/>
                </p:cNvSpPr>
                <p:nvPr>
                  <p:custDataLst>
                    <p:tags r:id="rId31"/>
                  </p:custDataLst>
                </p:nvPr>
              </p:nvSpPr>
              <p:spPr bwMode="auto">
                <a:xfrm>
                  <a:off x="6896100" y="3262313"/>
                  <a:ext cx="503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0449" name="Text Box 33"/>
                <p:cNvSpPr txBox="1">
                  <a:spLocks noChangeArrowheads="1"/>
                </p:cNvSpPr>
                <p:nvPr>
                  <p:custDataLst>
                    <p:tags r:id="rId32"/>
                  </p:custDataLst>
                </p:nvPr>
              </p:nvSpPr>
              <p:spPr bwMode="auto">
                <a:xfrm>
                  <a:off x="6946900" y="3219450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0151"/>
            <a:ext cx="8229599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IBN </a:t>
            </a:r>
            <a:r>
              <a:rPr lang="fr-CA" sz="2000" dirty="0" err="1"/>
              <a:t>inc.</a:t>
            </a:r>
            <a:r>
              <a:rPr lang="fr-CA" sz="2000" dirty="0"/>
              <a:t> vient de verser un dividende de </a:t>
            </a:r>
            <a:r>
              <a:rPr lang="fr-CA" sz="2000" dirty="0" smtClean="0"/>
              <a:t>1 $ </a:t>
            </a:r>
            <a:r>
              <a:rPr lang="fr-CA" sz="2000" dirty="0"/>
              <a:t>aux détenteurs d’actions ordinaires. Vous prévoyez que ce dividende devrait croître de </a:t>
            </a:r>
            <a:r>
              <a:rPr lang="fr-CA" sz="2000" dirty="0" smtClean="0"/>
              <a:t>5 % </a:t>
            </a:r>
            <a:r>
              <a:rPr lang="fr-CA" sz="2000" dirty="0"/>
              <a:t>dans l’avenir. </a:t>
            </a:r>
            <a:r>
              <a:rPr lang="fr-CA" sz="2000" dirty="0" smtClean="0"/>
              <a:t/>
            </a:r>
            <a:br>
              <a:rPr lang="fr-CA" sz="2000" dirty="0" smtClean="0"/>
            </a:br>
            <a:r>
              <a:rPr lang="fr-CA" sz="2000" dirty="0" smtClean="0"/>
              <a:t>Si </a:t>
            </a:r>
            <a:r>
              <a:rPr lang="fr-CA" sz="2000" dirty="0"/>
              <a:t>vous exigez un rendement effectif de </a:t>
            </a:r>
            <a:r>
              <a:rPr lang="fr-CA" sz="2000" dirty="0" smtClean="0"/>
              <a:t>14 % </a:t>
            </a:r>
            <a:r>
              <a:rPr lang="fr-CA" sz="2000" dirty="0"/>
              <a:t>pour cette action, quel devrait être son prix d’achat?</a:t>
            </a:r>
          </a:p>
        </p:txBody>
      </p:sp>
      <p:grpSp>
        <p:nvGrpSpPr>
          <p:cNvPr id="3" name="Groupe 2"/>
          <p:cNvGrpSpPr/>
          <p:nvPr/>
        </p:nvGrpSpPr>
        <p:grpSpPr>
          <a:xfrm>
            <a:off x="827584" y="3219822"/>
            <a:ext cx="6984999" cy="1124188"/>
            <a:chOff x="1114426" y="2464594"/>
            <a:chExt cx="6984999" cy="1124188"/>
          </a:xfrm>
        </p:grpSpPr>
        <p:sp>
          <p:nvSpPr>
            <p:cNvPr id="61453" name="Text Box 1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14426" y="2464594"/>
              <a:ext cx="56137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Prix</a:t>
              </a:r>
            </a:p>
          </p:txBody>
        </p:sp>
        <p:grpSp>
          <p:nvGrpSpPr>
            <p:cNvPr id="2" name="Groupe 1"/>
            <p:cNvGrpSpPr/>
            <p:nvPr/>
          </p:nvGrpSpPr>
          <p:grpSpPr>
            <a:xfrm>
              <a:off x="1116014" y="2625329"/>
              <a:ext cx="6983411" cy="963453"/>
              <a:chOff x="1116014" y="2625329"/>
              <a:chExt cx="6983411" cy="963453"/>
            </a:xfrm>
          </p:grpSpPr>
          <p:sp>
            <p:nvSpPr>
              <p:cNvPr id="61444" name="Line 4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330325" y="2950369"/>
                <a:ext cx="38179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45" name="Line 5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5148264" y="2950369"/>
                <a:ext cx="9350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46" name="Line 6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6083301" y="2950369"/>
                <a:ext cx="14398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47" name="Line 7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75231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48" name="Line 8"/>
              <p:cNvSpPr>
                <a:spLocks noChangeShapeType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58812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49" name="Line 9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330325" y="2788444"/>
                <a:ext cx="0" cy="3238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50" name="Line 10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339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51" name="Line 11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4194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52" name="Line 12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498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54" name="Line 14"/>
              <p:cNvSpPr>
                <a:spLocks noChangeShapeType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419475" y="2896791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55" name="Text Box 15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563938" y="2625329"/>
                <a:ext cx="91563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r=14%</a:t>
                </a:r>
              </a:p>
            </p:txBody>
          </p:sp>
          <p:sp>
            <p:nvSpPr>
              <p:cNvPr id="61456" name="Text Box 16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193926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1</a:t>
                </a:r>
                <a:endParaRPr lang="fr-CA">
                  <a:latin typeface="Tahoma" pitchFamily="34" charset="0"/>
                </a:endParaRPr>
              </a:p>
            </p:txBody>
          </p:sp>
          <p:sp>
            <p:nvSpPr>
              <p:cNvPr id="61457" name="Text Box 17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27501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61458" name="Text Box 18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3561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61459" name="Text Box 19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644366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5</a:t>
                </a:r>
              </a:p>
            </p:txBody>
          </p:sp>
          <p:sp>
            <p:nvSpPr>
              <p:cNvPr id="61460" name="Text Box 20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7380289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6</a:t>
                </a:r>
              </a:p>
            </p:txBody>
          </p:sp>
          <p:sp>
            <p:nvSpPr>
              <p:cNvPr id="61461" name="Line 21"/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7523163" y="2950369"/>
                <a:ext cx="5762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62" name="Line 22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55800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63" name="Text Box 23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54356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61464" name="Line 24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271938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65" name="Text Box 25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2770188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1466" name="Line 26"/>
              <p:cNvSpPr>
                <a:spLocks noChangeShapeType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798888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67" name="Text Box 27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849688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1468" name="Line 28"/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4879975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69" name="Text Box 29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4930775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1470" name="Line 30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588803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71" name="Text Box 31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5938838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1472" name="Line 32"/>
              <p:cNvSpPr>
                <a:spLocks noChangeShapeType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6896100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73" name="Text Box 33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6946900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1474" name="Line 34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1547813" y="3274219"/>
                <a:ext cx="576262" cy="0"/>
              </a:xfrm>
              <a:prstGeom prst="line">
                <a:avLst/>
              </a:prstGeom>
              <a:noFill/>
              <a:ln w="9525" cap="rnd">
                <a:solidFill>
                  <a:schemeClr val="folHlink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1475" name="Text Box 35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1116014" y="3112294"/>
                <a:ext cx="43794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solidFill>
                      <a:schemeClr val="folHlink"/>
                    </a:solidFill>
                    <a:latin typeface="Tahoma" pitchFamily="34" charset="0"/>
                  </a:rPr>
                  <a:t>1$</a:t>
                </a:r>
              </a:p>
            </p:txBody>
          </p:sp>
          <p:sp>
            <p:nvSpPr>
              <p:cNvPr id="61476" name="Text Box 36"/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1547813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solidFill>
                      <a:schemeClr val="folHlink"/>
                    </a:solidFill>
                    <a:latin typeface="Tahoma" pitchFamily="34" charset="0"/>
                  </a:rPr>
                  <a:t>5%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1" y="1200151"/>
            <a:ext cx="8229599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IBN </a:t>
            </a:r>
            <a:r>
              <a:rPr lang="fr-CA" sz="2000" dirty="0" err="1"/>
              <a:t>inc.</a:t>
            </a:r>
            <a:r>
              <a:rPr lang="fr-CA" sz="2000" dirty="0"/>
              <a:t> vient de verser un dividende de </a:t>
            </a:r>
            <a:r>
              <a:rPr lang="fr-CA" sz="2000" dirty="0" smtClean="0"/>
              <a:t>1 $ </a:t>
            </a:r>
            <a:r>
              <a:rPr lang="fr-CA" sz="2000" dirty="0"/>
              <a:t>aux détenteurs d’actions ordinaires. Vous prévoyez que ce dividende devrait croître de </a:t>
            </a:r>
            <a:r>
              <a:rPr lang="fr-CA" sz="2000" dirty="0" smtClean="0"/>
              <a:t>5 % </a:t>
            </a:r>
            <a:r>
              <a:rPr lang="fr-CA" sz="2000" dirty="0"/>
              <a:t>dans l’avenir. </a:t>
            </a:r>
            <a:r>
              <a:rPr lang="fr-CA" sz="2000" dirty="0" smtClean="0"/>
              <a:t/>
            </a:r>
            <a:br>
              <a:rPr lang="fr-CA" sz="2000" dirty="0" smtClean="0"/>
            </a:br>
            <a:r>
              <a:rPr lang="fr-CA" sz="2000" dirty="0" smtClean="0"/>
              <a:t>Si </a:t>
            </a:r>
            <a:r>
              <a:rPr lang="fr-CA" sz="2000" dirty="0"/>
              <a:t>vous exigez un rendement effectif de </a:t>
            </a:r>
            <a:r>
              <a:rPr lang="fr-CA" sz="2000" dirty="0" smtClean="0"/>
              <a:t>14 % </a:t>
            </a:r>
            <a:r>
              <a:rPr lang="fr-CA" sz="2000" dirty="0"/>
              <a:t>pour cette action, quel devrait être son prix d’achat?</a:t>
            </a:r>
          </a:p>
        </p:txBody>
      </p:sp>
      <p:graphicFrame>
        <p:nvGraphicFramePr>
          <p:cNvPr id="62500" name="Object 36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38764244"/>
              </p:ext>
            </p:extLst>
          </p:nvPr>
        </p:nvGraphicFramePr>
        <p:xfrm>
          <a:off x="643748" y="4201318"/>
          <a:ext cx="192246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83" name="Equation" r:id="rId39" imgW="901440" imgH="419040" progId="Equation.3">
                  <p:embed/>
                </p:oleObj>
              </mc:Choice>
              <mc:Fallback>
                <p:oleObj name="Equation" r:id="rId39" imgW="90144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48" y="4201318"/>
                        <a:ext cx="1922463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 2"/>
          <p:cNvGrpSpPr/>
          <p:nvPr/>
        </p:nvGrpSpPr>
        <p:grpSpPr>
          <a:xfrm>
            <a:off x="1043608" y="3069048"/>
            <a:ext cx="6986135" cy="1132270"/>
            <a:chOff x="1114426" y="2464594"/>
            <a:chExt cx="6986135" cy="1132270"/>
          </a:xfrm>
        </p:grpSpPr>
        <p:sp>
          <p:nvSpPr>
            <p:cNvPr id="62477" name="Text Box 1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14426" y="2464594"/>
              <a:ext cx="56137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Prix</a:t>
              </a:r>
            </a:p>
          </p:txBody>
        </p:sp>
        <p:sp>
          <p:nvSpPr>
            <p:cNvPr id="62499" name="Text Box 3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16014" y="3112294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1$</a:t>
              </a:r>
            </a:p>
          </p:txBody>
        </p:sp>
        <p:grpSp>
          <p:nvGrpSpPr>
            <p:cNvPr id="2" name="Groupe 1"/>
            <p:cNvGrpSpPr/>
            <p:nvPr/>
          </p:nvGrpSpPr>
          <p:grpSpPr>
            <a:xfrm>
              <a:off x="1331461" y="2633411"/>
              <a:ext cx="6769100" cy="963453"/>
              <a:chOff x="1330325" y="2625329"/>
              <a:chExt cx="6769100" cy="963453"/>
            </a:xfrm>
          </p:grpSpPr>
          <p:sp>
            <p:nvSpPr>
              <p:cNvPr id="62468" name="Line 4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330325" y="2950369"/>
                <a:ext cx="38179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69" name="Line 5"/>
              <p:cNvSpPr>
                <a:spLocks noChangeShapeType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5148264" y="2950369"/>
                <a:ext cx="9350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0" name="Line 6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6083301" y="2950369"/>
                <a:ext cx="14398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1" name="Line 7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75231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2" name="Line 8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658812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3" name="Line 9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330325" y="2788444"/>
                <a:ext cx="0" cy="3238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4" name="Line 10"/>
              <p:cNvSpPr>
                <a:spLocks noChangeShapeType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339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5" name="Line 11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4194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6" name="Line 12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8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8" name="Line 14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419475" y="2896791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79" name="Text Box 15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563938" y="2625329"/>
                <a:ext cx="91563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r=14%</a:t>
                </a:r>
              </a:p>
            </p:txBody>
          </p:sp>
          <p:sp>
            <p:nvSpPr>
              <p:cNvPr id="62480" name="Text Box 16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193926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1</a:t>
                </a:r>
                <a:endParaRPr lang="fr-CA">
                  <a:latin typeface="Tahoma" pitchFamily="34" charset="0"/>
                </a:endParaRPr>
              </a:p>
            </p:txBody>
          </p:sp>
          <p:sp>
            <p:nvSpPr>
              <p:cNvPr id="62481" name="Text Box 17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327501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latin typeface="Tahoma" pitchFamily="34" charset="0"/>
                  </a:rPr>
                  <a:t>D</a:t>
                </a:r>
                <a:r>
                  <a:rPr lang="fr-CA" baseline="-25000" dirty="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62482" name="Text Box 18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3561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62483" name="Text Box 19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644366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5</a:t>
                </a:r>
              </a:p>
            </p:txBody>
          </p:sp>
          <p:sp>
            <p:nvSpPr>
              <p:cNvPr id="62484" name="Text Box 20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7380289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6</a:t>
                </a:r>
              </a:p>
            </p:txBody>
          </p:sp>
          <p:sp>
            <p:nvSpPr>
              <p:cNvPr id="62485" name="Line 21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7523163" y="2950369"/>
                <a:ext cx="5762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86" name="Line 22"/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5800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87" name="Text Box 23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54356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62488" name="Line 24"/>
              <p:cNvSpPr>
                <a:spLocks noChangeShapeType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271938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89" name="Text Box 25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547813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solidFill>
                      <a:schemeClr val="folHlink"/>
                    </a:solidFill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2490" name="Line 26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3798888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91" name="Text Box 27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3849688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2492" name="Line 28"/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4879975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93" name="Text Box 29"/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4930775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2494" name="Line 30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588803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95" name="Text Box 31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5938838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2496" name="Line 32"/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6896100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497" name="Text Box 33"/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6946900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  <p:sp>
            <p:nvSpPr>
              <p:cNvPr id="62498" name="Line 34"/>
              <p:cNvSpPr>
                <a:spLocks noChangeShapeType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1547814" y="3274219"/>
                <a:ext cx="574675" cy="0"/>
              </a:xfrm>
              <a:prstGeom prst="line">
                <a:avLst/>
              </a:prstGeom>
              <a:noFill/>
              <a:ln w="9525" cap="rnd">
                <a:solidFill>
                  <a:schemeClr val="folHlink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2501" name="Text Box 37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2700338" y="3219450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5%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1" y="1200151"/>
            <a:ext cx="8229599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IBN </a:t>
            </a:r>
            <a:r>
              <a:rPr lang="fr-CA" sz="2000" dirty="0" err="1"/>
              <a:t>inc.</a:t>
            </a:r>
            <a:r>
              <a:rPr lang="fr-CA" sz="2000" dirty="0"/>
              <a:t> vient de verser un dividende de </a:t>
            </a:r>
            <a:r>
              <a:rPr lang="fr-CA" sz="2000" dirty="0" smtClean="0"/>
              <a:t>1 $ </a:t>
            </a:r>
            <a:r>
              <a:rPr lang="fr-CA" sz="2000" dirty="0"/>
              <a:t>aux détenteurs d’actions ordinaires. Vous prévoyez que ce dividende devrait croître de </a:t>
            </a:r>
            <a:r>
              <a:rPr lang="fr-CA" sz="2000" dirty="0" smtClean="0"/>
              <a:t>5 % </a:t>
            </a:r>
            <a:r>
              <a:rPr lang="fr-CA" sz="2000" dirty="0"/>
              <a:t>dans l’avenir. Si vous exigez un rendement effectif de </a:t>
            </a:r>
            <a:r>
              <a:rPr lang="fr-CA" sz="2000" dirty="0" smtClean="0"/>
              <a:t>14 % </a:t>
            </a:r>
            <a:r>
              <a:rPr lang="fr-CA" sz="2000" dirty="0"/>
              <a:t>pour cette action, quel devrait être son prix d’achat?</a:t>
            </a:r>
          </a:p>
        </p:txBody>
      </p:sp>
      <p:graphicFrame>
        <p:nvGraphicFramePr>
          <p:cNvPr id="63524" name="Object 36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234972970"/>
              </p:ext>
            </p:extLst>
          </p:nvPr>
        </p:nvGraphicFramePr>
        <p:xfrm>
          <a:off x="1881939" y="4063047"/>
          <a:ext cx="3586163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7" name="Equation" r:id="rId42" imgW="1676160" imgH="444240" progId="Equation.3">
                  <p:embed/>
                </p:oleObj>
              </mc:Choice>
              <mc:Fallback>
                <p:oleObj name="Equation" r:id="rId42" imgW="167616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939" y="4063047"/>
                        <a:ext cx="3586163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 2"/>
          <p:cNvGrpSpPr/>
          <p:nvPr/>
        </p:nvGrpSpPr>
        <p:grpSpPr>
          <a:xfrm>
            <a:off x="1035100" y="2876501"/>
            <a:ext cx="7029399" cy="1094541"/>
            <a:chOff x="1070026" y="2625329"/>
            <a:chExt cx="7029399" cy="1094541"/>
          </a:xfrm>
        </p:grpSpPr>
        <p:sp>
          <p:nvSpPr>
            <p:cNvPr id="63513" name="Text Box 2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547813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5%</a:t>
              </a:r>
            </a:p>
          </p:txBody>
        </p:sp>
        <p:sp>
          <p:nvSpPr>
            <p:cNvPr id="63515" name="Text Box 2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49688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3517" name="Text Box 2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930775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3519" name="Text Box 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938838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3521" name="Text Box 3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946900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5%</a:t>
              </a:r>
            </a:p>
          </p:txBody>
        </p:sp>
        <p:grpSp>
          <p:nvGrpSpPr>
            <p:cNvPr id="2" name="Groupe 1"/>
            <p:cNvGrpSpPr/>
            <p:nvPr/>
          </p:nvGrpSpPr>
          <p:grpSpPr>
            <a:xfrm>
              <a:off x="1070026" y="2625329"/>
              <a:ext cx="7029399" cy="1094541"/>
              <a:chOff x="1070026" y="2625329"/>
              <a:chExt cx="7029399" cy="1094541"/>
            </a:xfrm>
          </p:grpSpPr>
          <p:sp>
            <p:nvSpPr>
              <p:cNvPr id="63492" name="Line 4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330325" y="2950369"/>
                <a:ext cx="38179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3" name="Line 5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148264" y="2950369"/>
                <a:ext cx="9350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4" name="Line 6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6083301" y="2950369"/>
                <a:ext cx="14398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5" name="Line 7"/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75231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6" name="Line 8"/>
              <p:cNvSpPr>
                <a:spLocks noChangeShapeType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658812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7" name="Line 9"/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330325" y="2788444"/>
                <a:ext cx="0" cy="3238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8" name="Line 10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339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9" name="Line 11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4194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00" name="Line 12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498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01" name="Text Box 13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070026" y="3350538"/>
                <a:ext cx="56137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6"/>
                    </a:solidFill>
                    <a:latin typeface="Tahoma" pitchFamily="34" charset="0"/>
                  </a:rPr>
                  <a:t>Prix</a:t>
                </a:r>
              </a:p>
            </p:txBody>
          </p:sp>
          <p:sp>
            <p:nvSpPr>
              <p:cNvPr id="63502" name="Line 14"/>
              <p:cNvSpPr>
                <a:spLocks noChangeShapeType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419475" y="2896791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03" name="Text Box 15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563938" y="2625329"/>
                <a:ext cx="91563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r=14%</a:t>
                </a:r>
              </a:p>
            </p:txBody>
          </p:sp>
          <p:sp>
            <p:nvSpPr>
              <p:cNvPr id="63504" name="Text Box 16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2193926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1</a:t>
                </a:r>
                <a:endParaRPr lang="fr-CA">
                  <a:latin typeface="Tahoma" pitchFamily="34" charset="0"/>
                </a:endParaRPr>
              </a:p>
            </p:txBody>
          </p:sp>
          <p:sp>
            <p:nvSpPr>
              <p:cNvPr id="63505" name="Text Box 17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327501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63506" name="Text Box 18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43561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63507" name="Text Box 19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644366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5</a:t>
                </a:r>
              </a:p>
            </p:txBody>
          </p:sp>
          <p:sp>
            <p:nvSpPr>
              <p:cNvPr id="63508" name="Text Box 20"/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7380289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6</a:t>
                </a:r>
              </a:p>
            </p:txBody>
          </p:sp>
          <p:sp>
            <p:nvSpPr>
              <p:cNvPr id="63509" name="Line 21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7523163" y="2950369"/>
                <a:ext cx="5762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0" name="Line 22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55800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1" name="Text Box 23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54356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63512" name="Line 24"/>
              <p:cNvSpPr>
                <a:spLocks noChangeShapeType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71938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4" name="Line 26"/>
              <p:cNvSpPr>
                <a:spLocks noChangeShapeType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798888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6" name="Line 28"/>
              <p:cNvSpPr>
                <a:spLocks noChangeShapeType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4879975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8" name="Line 30"/>
              <p:cNvSpPr>
                <a:spLocks noChangeShapeType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588803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20" name="Line 32"/>
              <p:cNvSpPr>
                <a:spLocks noChangeShapeType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6896100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22" name="Line 34"/>
              <p:cNvSpPr>
                <a:spLocks noChangeShapeType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1547814" y="3274219"/>
                <a:ext cx="574675" cy="0"/>
              </a:xfrm>
              <a:prstGeom prst="line">
                <a:avLst/>
              </a:prstGeom>
              <a:noFill/>
              <a:ln w="9525" cap="rnd">
                <a:solidFill>
                  <a:schemeClr val="folHlink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63523" name="Text Box 3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16014" y="3112294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1$</a:t>
              </a:r>
            </a:p>
          </p:txBody>
        </p:sp>
        <p:sp>
          <p:nvSpPr>
            <p:cNvPr id="63525" name="Text Box 3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00338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422824" y="3049524"/>
            <a:ext cx="7432454" cy="988093"/>
            <a:chOff x="1371266" y="2634949"/>
            <a:chExt cx="7432454" cy="988093"/>
          </a:xfrm>
        </p:grpSpPr>
        <p:sp>
          <p:nvSpPr>
            <p:cNvPr id="44" name="Forme libre 45"/>
            <p:cNvSpPr/>
            <p:nvPr>
              <p:custDataLst>
                <p:tags r:id="rId5"/>
              </p:custDataLst>
            </p:nvPr>
          </p:nvSpPr>
          <p:spPr>
            <a:xfrm>
              <a:off x="1371266" y="3425379"/>
              <a:ext cx="848386" cy="197663"/>
            </a:xfrm>
            <a:custGeom>
              <a:avLst/>
              <a:gdLst>
                <a:gd name="connsiteX0" fmla="*/ 717452 w 717452"/>
                <a:gd name="connsiteY0" fmla="*/ 0 h 171158"/>
                <a:gd name="connsiteX1" fmla="*/ 379828 w 717452"/>
                <a:gd name="connsiteY1" fmla="*/ 168813 h 171158"/>
                <a:gd name="connsiteX2" fmla="*/ 0 w 717452"/>
                <a:gd name="connsiteY2" fmla="*/ 14068 h 17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7452" h="171158">
                  <a:moveTo>
                    <a:pt x="717452" y="0"/>
                  </a:moveTo>
                  <a:cubicBezTo>
                    <a:pt x="608427" y="83234"/>
                    <a:pt x="499403" y="166468"/>
                    <a:pt x="379828" y="168813"/>
                  </a:cubicBezTo>
                  <a:cubicBezTo>
                    <a:pt x="260253" y="171158"/>
                    <a:pt x="58616" y="157090"/>
                    <a:pt x="0" y="14068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5" name="Ellipse 40"/>
            <p:cNvSpPr/>
            <p:nvPr>
              <p:custDataLst>
                <p:tags r:id="rId6"/>
              </p:custDataLst>
            </p:nvPr>
          </p:nvSpPr>
          <p:spPr>
            <a:xfrm>
              <a:off x="1766495" y="2889047"/>
              <a:ext cx="6896893" cy="48478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6" name="Rectangle 45"/>
            <p:cNvSpPr/>
            <p:nvPr>
              <p:custDataLst>
                <p:tags r:id="rId7"/>
              </p:custDataLst>
            </p:nvPr>
          </p:nvSpPr>
          <p:spPr>
            <a:xfrm>
              <a:off x="8227656" y="2634949"/>
              <a:ext cx="576064" cy="945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1" y="1200151"/>
            <a:ext cx="8229599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IBN </a:t>
            </a:r>
            <a:r>
              <a:rPr lang="fr-CA" sz="2000" dirty="0" err="1"/>
              <a:t>inc.</a:t>
            </a:r>
            <a:r>
              <a:rPr lang="fr-CA" sz="2000" dirty="0"/>
              <a:t> vient de verser un dividende de </a:t>
            </a:r>
            <a:r>
              <a:rPr lang="fr-CA" sz="2000" dirty="0" smtClean="0"/>
              <a:t>1 $ </a:t>
            </a:r>
            <a:r>
              <a:rPr lang="fr-CA" sz="2000" dirty="0"/>
              <a:t>aux détenteurs d’actions ordinaires. Vous prévoyez que ce dividende devrait croître de </a:t>
            </a:r>
            <a:r>
              <a:rPr lang="fr-CA" sz="2000" dirty="0" smtClean="0"/>
              <a:t>5 % </a:t>
            </a:r>
            <a:r>
              <a:rPr lang="fr-CA" sz="2000" dirty="0"/>
              <a:t>dans l’avenir. Si vous exigez un rendement effectif de </a:t>
            </a:r>
            <a:r>
              <a:rPr lang="fr-CA" sz="2000" dirty="0" smtClean="0"/>
              <a:t>14 % </a:t>
            </a:r>
            <a:r>
              <a:rPr lang="fr-CA" sz="2000" dirty="0"/>
              <a:t>pour cette action, quel devrait être son prix d’achat?</a:t>
            </a:r>
          </a:p>
        </p:txBody>
      </p:sp>
      <p:grpSp>
        <p:nvGrpSpPr>
          <p:cNvPr id="3" name="Groupe 2"/>
          <p:cNvGrpSpPr/>
          <p:nvPr/>
        </p:nvGrpSpPr>
        <p:grpSpPr>
          <a:xfrm>
            <a:off x="1035100" y="2876501"/>
            <a:ext cx="7029399" cy="1094541"/>
            <a:chOff x="1070026" y="2625329"/>
            <a:chExt cx="7029399" cy="1094541"/>
          </a:xfrm>
        </p:grpSpPr>
        <p:sp>
          <p:nvSpPr>
            <p:cNvPr id="63513" name="Text Box 2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547813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5%</a:t>
              </a:r>
            </a:p>
          </p:txBody>
        </p:sp>
        <p:sp>
          <p:nvSpPr>
            <p:cNvPr id="63515" name="Text Box 2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49688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3517" name="Text Box 2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930775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3519" name="Text Box 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938838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3521" name="Text Box 3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946900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5%</a:t>
              </a:r>
            </a:p>
          </p:txBody>
        </p:sp>
        <p:grpSp>
          <p:nvGrpSpPr>
            <p:cNvPr id="2" name="Groupe 1"/>
            <p:cNvGrpSpPr/>
            <p:nvPr/>
          </p:nvGrpSpPr>
          <p:grpSpPr>
            <a:xfrm>
              <a:off x="1070026" y="2625329"/>
              <a:ext cx="7029399" cy="1094541"/>
              <a:chOff x="1070026" y="2625329"/>
              <a:chExt cx="7029399" cy="1094541"/>
            </a:xfrm>
          </p:grpSpPr>
          <p:sp>
            <p:nvSpPr>
              <p:cNvPr id="63492" name="Line 4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330325" y="2950369"/>
                <a:ext cx="38179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3" name="Line 5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148264" y="2950369"/>
                <a:ext cx="9350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4" name="Line 6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6083301" y="2950369"/>
                <a:ext cx="14398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5" name="Line 7"/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75231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6" name="Line 8"/>
              <p:cNvSpPr>
                <a:spLocks noChangeShapeType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658812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7" name="Line 9"/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330325" y="2788444"/>
                <a:ext cx="0" cy="3238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8" name="Line 10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339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499" name="Line 11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4194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00" name="Line 12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498975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01" name="Text Box 13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070026" y="3350538"/>
                <a:ext cx="56137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6"/>
                    </a:solidFill>
                    <a:latin typeface="Tahoma" pitchFamily="34" charset="0"/>
                  </a:rPr>
                  <a:t>Prix</a:t>
                </a:r>
              </a:p>
            </p:txBody>
          </p:sp>
          <p:sp>
            <p:nvSpPr>
              <p:cNvPr id="63502" name="Line 14"/>
              <p:cNvSpPr>
                <a:spLocks noChangeShapeType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419475" y="2896791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03" name="Text Box 15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563938" y="2625329"/>
                <a:ext cx="91563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r=14%</a:t>
                </a:r>
              </a:p>
            </p:txBody>
          </p:sp>
          <p:sp>
            <p:nvSpPr>
              <p:cNvPr id="63504" name="Text Box 16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2193926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1</a:t>
                </a:r>
                <a:endParaRPr lang="fr-CA">
                  <a:latin typeface="Tahoma" pitchFamily="34" charset="0"/>
                </a:endParaRPr>
              </a:p>
            </p:txBody>
          </p:sp>
          <p:sp>
            <p:nvSpPr>
              <p:cNvPr id="63505" name="Text Box 17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327501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63506" name="Text Box 18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43561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63507" name="Text Box 19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6443664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5</a:t>
                </a:r>
              </a:p>
            </p:txBody>
          </p:sp>
          <p:sp>
            <p:nvSpPr>
              <p:cNvPr id="63508" name="Text Box 20"/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7380289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6</a:t>
                </a:r>
              </a:p>
            </p:txBody>
          </p:sp>
          <p:sp>
            <p:nvSpPr>
              <p:cNvPr id="63509" name="Line 21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7523163" y="2950369"/>
                <a:ext cx="5762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0" name="Line 22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5580063" y="284202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1" name="Text Box 23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5435601" y="3112294"/>
                <a:ext cx="42511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pitchFamily="34" charset="0"/>
                  </a:rPr>
                  <a:t>D</a:t>
                </a:r>
                <a:r>
                  <a:rPr lang="fr-CA" baseline="-25000"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63512" name="Line 24"/>
              <p:cNvSpPr>
                <a:spLocks noChangeShapeType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71938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4" name="Line 26"/>
              <p:cNvSpPr>
                <a:spLocks noChangeShapeType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798888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6" name="Line 28"/>
              <p:cNvSpPr>
                <a:spLocks noChangeShapeType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4879975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18" name="Line 30"/>
              <p:cNvSpPr>
                <a:spLocks noChangeShapeType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5888039" y="3262313"/>
                <a:ext cx="503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20" name="Line 32"/>
              <p:cNvSpPr>
                <a:spLocks noChangeShapeType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6896100" y="3262313"/>
                <a:ext cx="503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3522" name="Line 34"/>
              <p:cNvSpPr>
                <a:spLocks noChangeShapeType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1547814" y="3274219"/>
                <a:ext cx="574675" cy="0"/>
              </a:xfrm>
              <a:prstGeom prst="line">
                <a:avLst/>
              </a:prstGeom>
              <a:noFill/>
              <a:ln w="9525" cap="rnd">
                <a:solidFill>
                  <a:schemeClr val="folHlink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63523" name="Text Box 3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16014" y="3112294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1$</a:t>
              </a:r>
            </a:p>
          </p:txBody>
        </p:sp>
        <p:sp>
          <p:nvSpPr>
            <p:cNvPr id="63525" name="Text Box 3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00338" y="3219450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422824" y="3049524"/>
            <a:ext cx="7432454" cy="988093"/>
            <a:chOff x="1371266" y="2634949"/>
            <a:chExt cx="7432454" cy="988093"/>
          </a:xfrm>
        </p:grpSpPr>
        <p:sp>
          <p:nvSpPr>
            <p:cNvPr id="44" name="Forme libre 45"/>
            <p:cNvSpPr/>
            <p:nvPr>
              <p:custDataLst>
                <p:tags r:id="rId5"/>
              </p:custDataLst>
            </p:nvPr>
          </p:nvSpPr>
          <p:spPr>
            <a:xfrm>
              <a:off x="1371266" y="3425379"/>
              <a:ext cx="848386" cy="197663"/>
            </a:xfrm>
            <a:custGeom>
              <a:avLst/>
              <a:gdLst>
                <a:gd name="connsiteX0" fmla="*/ 717452 w 717452"/>
                <a:gd name="connsiteY0" fmla="*/ 0 h 171158"/>
                <a:gd name="connsiteX1" fmla="*/ 379828 w 717452"/>
                <a:gd name="connsiteY1" fmla="*/ 168813 h 171158"/>
                <a:gd name="connsiteX2" fmla="*/ 0 w 717452"/>
                <a:gd name="connsiteY2" fmla="*/ 14068 h 17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7452" h="171158">
                  <a:moveTo>
                    <a:pt x="717452" y="0"/>
                  </a:moveTo>
                  <a:cubicBezTo>
                    <a:pt x="608427" y="83234"/>
                    <a:pt x="499403" y="166468"/>
                    <a:pt x="379828" y="168813"/>
                  </a:cubicBezTo>
                  <a:cubicBezTo>
                    <a:pt x="260253" y="171158"/>
                    <a:pt x="58616" y="157090"/>
                    <a:pt x="0" y="14068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5" name="Ellipse 40"/>
            <p:cNvSpPr/>
            <p:nvPr>
              <p:custDataLst>
                <p:tags r:id="rId6"/>
              </p:custDataLst>
            </p:nvPr>
          </p:nvSpPr>
          <p:spPr>
            <a:xfrm>
              <a:off x="1766495" y="2889047"/>
              <a:ext cx="6896893" cy="48478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6" name="Rectangle 45"/>
            <p:cNvSpPr/>
            <p:nvPr>
              <p:custDataLst>
                <p:tags r:id="rId7"/>
              </p:custDataLst>
            </p:nvPr>
          </p:nvSpPr>
          <p:spPr>
            <a:xfrm>
              <a:off x="8227656" y="2634949"/>
              <a:ext cx="576064" cy="945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aphicFrame>
        <p:nvGraphicFramePr>
          <p:cNvPr id="47" name="Object 36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59547669"/>
              </p:ext>
            </p:extLst>
          </p:nvPr>
        </p:nvGraphicFramePr>
        <p:xfrm>
          <a:off x="770288" y="4092313"/>
          <a:ext cx="64389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0" name="Equation" r:id="rId42" imgW="3009600" imgH="444240" progId="Equation.3">
                  <p:embed/>
                </p:oleObj>
              </mc:Choice>
              <mc:Fallback>
                <p:oleObj name="Equation" r:id="rId42" imgW="3009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288" y="4092313"/>
                        <a:ext cx="6438900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907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1" y="1200151"/>
            <a:ext cx="8291263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IBN </a:t>
            </a:r>
            <a:r>
              <a:rPr lang="fr-CA" sz="2000" dirty="0" err="1"/>
              <a:t>inc.</a:t>
            </a:r>
            <a:r>
              <a:rPr lang="fr-CA" sz="2000" dirty="0"/>
              <a:t> vient de verser un dividende de </a:t>
            </a:r>
            <a:r>
              <a:rPr lang="fr-CA" sz="2000" dirty="0" smtClean="0"/>
              <a:t>1 $ </a:t>
            </a:r>
            <a:r>
              <a:rPr lang="fr-CA" sz="2000" dirty="0"/>
              <a:t>aux détenteurs d’actions ordinaires. Vous prévoyez que ce dividende devrait croître de </a:t>
            </a:r>
            <a:r>
              <a:rPr lang="fr-CA" sz="2000" dirty="0" smtClean="0"/>
              <a:t>5 % </a:t>
            </a:r>
            <a:r>
              <a:rPr lang="fr-CA" sz="2000" dirty="0"/>
              <a:t>dans l’avenir. Si vous exigez un rendement effectif de </a:t>
            </a:r>
            <a:r>
              <a:rPr lang="fr-CA" sz="2000" dirty="0" smtClean="0"/>
              <a:t>14 %.</a:t>
            </a:r>
            <a:endParaRPr lang="fr-CA" sz="2000" dirty="0"/>
          </a:p>
          <a:p>
            <a:pPr marL="269875" indent="-269875">
              <a:buNone/>
            </a:pPr>
            <a:endParaRPr lang="fr-CA" sz="2000" dirty="0" smtClean="0"/>
          </a:p>
          <a:p>
            <a:pPr marL="0" indent="0">
              <a:buNone/>
            </a:pPr>
            <a:r>
              <a:rPr lang="fr-CA" sz="2000" dirty="0" smtClean="0"/>
              <a:t>Considérant </a:t>
            </a:r>
            <a:r>
              <a:rPr lang="fr-CA" sz="2000" dirty="0" smtClean="0"/>
              <a:t>le prix que vous êtes prêt à payer pour le titre, quels devraient être la source de vos rendements si vos anticipations sont correctes?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43735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7981632" cy="2869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Une </a:t>
            </a:r>
            <a:r>
              <a:rPr lang="fr-CA" sz="2000" dirty="0"/>
              <a:t>nouvelle information vient à vos oreilles à propos de cette action d’IBN </a:t>
            </a:r>
            <a:r>
              <a:rPr lang="fr-CA" sz="2000" dirty="0" err="1"/>
              <a:t>inc.</a:t>
            </a:r>
            <a:r>
              <a:rPr lang="fr-CA" sz="2000" dirty="0"/>
              <a:t> Vos hypothèses sont les mêmes à la différence que la croissance prévue pour les 2 prochaines années devraient être de </a:t>
            </a:r>
            <a:r>
              <a:rPr lang="fr-CA" sz="2000" dirty="0" smtClean="0"/>
              <a:t>20% </a:t>
            </a:r>
            <a:r>
              <a:rPr lang="fr-CA" sz="2000" dirty="0"/>
              <a:t>et </a:t>
            </a:r>
            <a:r>
              <a:rPr lang="fr-CA" sz="2000" dirty="0" smtClean="0"/>
              <a:t>de </a:t>
            </a:r>
            <a:r>
              <a:rPr lang="fr-CA" sz="2000" dirty="0" smtClean="0"/>
              <a:t>15% </a:t>
            </a:r>
            <a:r>
              <a:rPr lang="fr-CA" sz="2000" dirty="0"/>
              <a:t>pour ensuite retomber à </a:t>
            </a:r>
            <a:r>
              <a:rPr lang="fr-CA" sz="2000" dirty="0" smtClean="0"/>
              <a:t>5% </a:t>
            </a:r>
            <a:r>
              <a:rPr lang="fr-CA" sz="2000" dirty="0"/>
              <a:t>comme prévu auparavant.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Action: dividende croissant</a:t>
            </a:r>
            <a:endParaRPr lang="fr-CA" sz="2800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503123" y="1267851"/>
            <a:ext cx="8186400" cy="2869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Une </a:t>
            </a:r>
            <a:r>
              <a:rPr lang="fr-CA" sz="2000" dirty="0"/>
              <a:t>nouvelle information vient à vos oreilles à propos </a:t>
            </a:r>
            <a:r>
              <a:rPr lang="fr-CA" sz="2000" dirty="0" smtClean="0"/>
              <a:t>d’IBN : </a:t>
            </a:r>
            <a:r>
              <a:rPr lang="fr-CA" sz="2000" dirty="0"/>
              <a:t>v</a:t>
            </a:r>
            <a:r>
              <a:rPr lang="fr-CA" sz="2000" dirty="0" smtClean="0"/>
              <a:t>os </a:t>
            </a:r>
            <a:r>
              <a:rPr lang="fr-CA" sz="2000" dirty="0"/>
              <a:t>hypothèses sont les mêmes à la différence que la croissance prévue pour </a:t>
            </a:r>
            <a:r>
              <a:rPr lang="fr-CA" sz="2000" dirty="0" smtClean="0"/>
              <a:t>les </a:t>
            </a:r>
            <a:r>
              <a:rPr lang="fr-CA" sz="2000" dirty="0"/>
              <a:t>2 prochaines années devraient être </a:t>
            </a:r>
            <a:r>
              <a:rPr lang="fr-CA" sz="2000" dirty="0" smtClean="0"/>
              <a:t>respectivement de 20 % </a:t>
            </a:r>
            <a:r>
              <a:rPr lang="fr-CA" sz="2000" dirty="0"/>
              <a:t>et </a:t>
            </a:r>
            <a:r>
              <a:rPr lang="fr-CA" sz="2000" dirty="0" smtClean="0"/>
              <a:t>de 15 % </a:t>
            </a:r>
            <a:r>
              <a:rPr lang="fr-CA" sz="2000" dirty="0"/>
              <a:t>pour ensuite retomber à </a:t>
            </a:r>
            <a:r>
              <a:rPr lang="fr-CA" sz="2000" dirty="0" smtClean="0"/>
              <a:t>5 % </a:t>
            </a:r>
            <a:r>
              <a:rPr lang="fr-CA" sz="2000" dirty="0"/>
              <a:t>tel que prévu auparavant.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1115616" y="3315889"/>
            <a:ext cx="6985001" cy="1125379"/>
            <a:chOff x="1042988" y="2356247"/>
            <a:chExt cx="6985001" cy="1125379"/>
          </a:xfrm>
        </p:grpSpPr>
        <p:sp>
          <p:nvSpPr>
            <p:cNvPr id="66564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1258888" y="2842022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65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5076825" y="2842022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66" name="Line 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6011863" y="2842022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67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7451725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68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651668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69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1258888" y="2680097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70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226853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71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34803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72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42753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73" name="Text Box 1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42988" y="2356247"/>
              <a:ext cx="6447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pitchFamily="34" charset="0"/>
                </a:rPr>
                <a:t>Prix</a:t>
              </a:r>
              <a:r>
                <a:rPr lang="fr-CA" baseline="-25000" dirty="0">
                  <a:latin typeface="Tahoma" pitchFamily="34" charset="0"/>
                </a:rPr>
                <a:t>0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66574" name="Line 14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3348038" y="2788444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75" name="Text Box 1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492500" y="2516982"/>
              <a:ext cx="91563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r=14%</a:t>
              </a:r>
            </a:p>
          </p:txBody>
        </p:sp>
        <p:sp>
          <p:nvSpPr>
            <p:cNvPr id="66576" name="Text Box 1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122488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1</a:t>
              </a:r>
              <a:endParaRPr lang="fr-CA">
                <a:latin typeface="Tahoma" pitchFamily="34" charset="0"/>
              </a:endParaRPr>
            </a:p>
          </p:txBody>
        </p:sp>
        <p:sp>
          <p:nvSpPr>
            <p:cNvPr id="66577" name="Text Box 1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203576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2</a:t>
              </a:r>
            </a:p>
          </p:txBody>
        </p:sp>
        <p:sp>
          <p:nvSpPr>
            <p:cNvPr id="66578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84664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3</a:t>
              </a:r>
            </a:p>
          </p:txBody>
        </p:sp>
        <p:sp>
          <p:nvSpPr>
            <p:cNvPr id="66579" name="Text Box 19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372226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5</a:t>
              </a:r>
            </a:p>
          </p:txBody>
        </p:sp>
        <p:sp>
          <p:nvSpPr>
            <p:cNvPr id="66580" name="Text Box 2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308851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6</a:t>
              </a:r>
            </a:p>
          </p:txBody>
        </p:sp>
        <p:sp>
          <p:nvSpPr>
            <p:cNvPr id="66581" name="Line 2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7451726" y="2842022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82" name="Line 2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5508625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83" name="Text Box 2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364164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4</a:t>
              </a:r>
            </a:p>
          </p:txBody>
        </p:sp>
        <p:sp>
          <p:nvSpPr>
            <p:cNvPr id="66584" name="Line 2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2647950" y="3153966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85" name="Text Box 2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403350" y="3112294"/>
              <a:ext cx="66396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20%</a:t>
              </a:r>
            </a:p>
          </p:txBody>
        </p:sp>
        <p:sp>
          <p:nvSpPr>
            <p:cNvPr id="66586" name="Line 2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3727450" y="3153966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87" name="Text Box 2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708400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6588" name="Line 28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4808539" y="3153966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89" name="Text Box 2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787900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6590" name="Line 30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5816600" y="3153966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91" name="Text Box 3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795963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6592" name="Line 32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6824664" y="3153966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93" name="Text Box 33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804025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6594" name="Line 34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1476376" y="3165872"/>
              <a:ext cx="574675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6595" name="Text Box 35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044576" y="30039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1$</a:t>
              </a:r>
            </a:p>
          </p:txBody>
        </p:sp>
        <p:sp>
          <p:nvSpPr>
            <p:cNvPr id="66596" name="Text Box 3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555876" y="3112294"/>
              <a:ext cx="66396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15%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0"/>
            <a:ext cx="8435280" cy="3639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Une </a:t>
            </a:r>
            <a:r>
              <a:rPr lang="fr-CA" sz="2000" dirty="0"/>
              <a:t>nouvelle information vient à vos oreilles à propos </a:t>
            </a:r>
            <a:r>
              <a:rPr lang="fr-CA" sz="2000" dirty="0" smtClean="0"/>
              <a:t>d’IBN : vos </a:t>
            </a:r>
            <a:r>
              <a:rPr lang="fr-CA" sz="2000" dirty="0"/>
              <a:t>hypothèses sont les mêmes à la différence que la croissance prévue pour les 2 prochaines années devraient être respectivement de </a:t>
            </a:r>
            <a:r>
              <a:rPr lang="fr-CA" sz="2000" dirty="0" smtClean="0"/>
              <a:t>20 % </a:t>
            </a:r>
            <a:r>
              <a:rPr lang="fr-CA" sz="2000" dirty="0"/>
              <a:t>et </a:t>
            </a:r>
            <a:r>
              <a:rPr lang="fr-CA" sz="2000" dirty="0" smtClean="0"/>
              <a:t>de 15 % </a:t>
            </a:r>
            <a:r>
              <a:rPr lang="fr-CA" sz="2000" dirty="0"/>
              <a:t>pour ensuite retomber à </a:t>
            </a:r>
            <a:r>
              <a:rPr lang="fr-CA" sz="2000" dirty="0" smtClean="0"/>
              <a:t>5 % </a:t>
            </a:r>
            <a:r>
              <a:rPr lang="fr-CA" sz="2000" dirty="0"/>
              <a:t>tel que prévu auparavant</a:t>
            </a:r>
            <a:r>
              <a:rPr lang="fr-CA" sz="2000" dirty="0" smtClean="0"/>
              <a:t>.</a:t>
            </a:r>
            <a:endParaRPr lang="fr-CA" sz="1800" dirty="0"/>
          </a:p>
          <a:p>
            <a:endParaRPr lang="fr-CA" sz="1800" dirty="0"/>
          </a:p>
          <a:p>
            <a:endParaRPr lang="fr-CA" sz="1800" dirty="0"/>
          </a:p>
          <a:p>
            <a:endParaRPr lang="fr-CA" sz="1800" dirty="0"/>
          </a:p>
          <a:p>
            <a:endParaRPr lang="fr-CA" sz="1800" dirty="0"/>
          </a:p>
          <a:p>
            <a:pPr>
              <a:buFontTx/>
              <a:buNone/>
            </a:pPr>
            <a:r>
              <a:rPr lang="fr-CA" sz="1600" dirty="0"/>
              <a:t>	</a:t>
            </a:r>
            <a:r>
              <a:rPr lang="fr-CA" sz="2000" dirty="0" smtClean="0"/>
              <a:t>Croissance non constante → décomposition de la structure des </a:t>
            </a:r>
            <a:r>
              <a:rPr lang="fr-CA" sz="2000" dirty="0" err="1" smtClean="0"/>
              <a:t>FMs</a:t>
            </a:r>
            <a:endParaRPr lang="fr-CA" sz="1600" dirty="0"/>
          </a:p>
        </p:txBody>
      </p:sp>
      <p:grpSp>
        <p:nvGrpSpPr>
          <p:cNvPr id="2" name="Groupe 1"/>
          <p:cNvGrpSpPr/>
          <p:nvPr/>
        </p:nvGrpSpPr>
        <p:grpSpPr>
          <a:xfrm>
            <a:off x="1079499" y="2715766"/>
            <a:ext cx="6985001" cy="1125379"/>
            <a:chOff x="1042988" y="2356247"/>
            <a:chExt cx="6985001" cy="1125379"/>
          </a:xfrm>
        </p:grpSpPr>
        <p:sp>
          <p:nvSpPr>
            <p:cNvPr id="67588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1258888" y="2842022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89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5076825" y="2842022"/>
              <a:ext cx="935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0" name="Line 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6011863" y="2842022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1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7451725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2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651668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3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1258888" y="2680097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4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226853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5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34803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6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427538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7" name="Text Box 1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42988" y="2356247"/>
              <a:ext cx="6447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Prix</a:t>
              </a:r>
              <a:r>
                <a:rPr lang="fr-CA" baseline="-25000">
                  <a:latin typeface="Tahoma" pitchFamily="34" charset="0"/>
                </a:rPr>
                <a:t>0</a:t>
              </a:r>
              <a:endParaRPr lang="fr-CA">
                <a:latin typeface="Tahoma" pitchFamily="34" charset="0"/>
              </a:endParaRPr>
            </a:p>
          </p:txBody>
        </p:sp>
        <p:sp>
          <p:nvSpPr>
            <p:cNvPr id="67598" name="Line 14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3348038" y="2788444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599" name="Text Box 1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492500" y="2516982"/>
              <a:ext cx="91563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r=14%</a:t>
              </a:r>
            </a:p>
          </p:txBody>
        </p:sp>
        <p:sp>
          <p:nvSpPr>
            <p:cNvPr id="67600" name="Text Box 1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122488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1</a:t>
              </a:r>
              <a:endParaRPr lang="fr-CA">
                <a:latin typeface="Tahoma" pitchFamily="34" charset="0"/>
              </a:endParaRPr>
            </a:p>
          </p:txBody>
        </p:sp>
        <p:sp>
          <p:nvSpPr>
            <p:cNvPr id="67601" name="Text Box 1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203576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2</a:t>
              </a:r>
            </a:p>
          </p:txBody>
        </p:sp>
        <p:sp>
          <p:nvSpPr>
            <p:cNvPr id="67602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84664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3</a:t>
              </a:r>
            </a:p>
          </p:txBody>
        </p:sp>
        <p:sp>
          <p:nvSpPr>
            <p:cNvPr id="67603" name="Text Box 19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372226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5</a:t>
              </a:r>
            </a:p>
          </p:txBody>
        </p:sp>
        <p:sp>
          <p:nvSpPr>
            <p:cNvPr id="67604" name="Text Box 2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308851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6</a:t>
              </a:r>
            </a:p>
          </p:txBody>
        </p:sp>
        <p:sp>
          <p:nvSpPr>
            <p:cNvPr id="67605" name="Line 2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7451726" y="2842022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06" name="Line 2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5508625" y="27336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07" name="Text Box 2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364164" y="3003947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4</a:t>
              </a:r>
            </a:p>
          </p:txBody>
        </p:sp>
        <p:sp>
          <p:nvSpPr>
            <p:cNvPr id="67608" name="Line 2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2647950" y="3153966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09" name="Text Box 2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403350" y="3112294"/>
              <a:ext cx="66396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20%</a:t>
              </a:r>
            </a:p>
          </p:txBody>
        </p:sp>
        <p:sp>
          <p:nvSpPr>
            <p:cNvPr id="67610" name="Line 2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3727450" y="3153966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11" name="Text Box 2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708400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7612" name="Line 28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4808539" y="3153966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13" name="Text Box 2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787900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7614" name="Line 30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5816600" y="3153966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15" name="Text Box 3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795963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7616" name="Line 32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6824664" y="3153966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17" name="Text Box 33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804025" y="3112294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7618" name="Line 34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1476376" y="3165872"/>
              <a:ext cx="574675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7619" name="Text Box 35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044576" y="30039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1$</a:t>
              </a:r>
            </a:p>
          </p:txBody>
        </p:sp>
        <p:sp>
          <p:nvSpPr>
            <p:cNvPr id="67620" name="Text Box 3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555876" y="3112294"/>
              <a:ext cx="66396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15%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68313" y="1275606"/>
            <a:ext cx="8229600" cy="3302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On </a:t>
            </a:r>
            <a:r>
              <a:rPr lang="fr-CA" sz="2000" dirty="0"/>
              <a:t>peut donc décomposer les </a:t>
            </a:r>
            <a:r>
              <a:rPr lang="fr-CA" sz="2000" dirty="0" err="1"/>
              <a:t>FMs</a:t>
            </a:r>
            <a:r>
              <a:rPr lang="fr-CA" sz="2000" dirty="0"/>
              <a:t> de la façon </a:t>
            </a:r>
            <a:r>
              <a:rPr lang="fr-CA" sz="2000" dirty="0" smtClean="0"/>
              <a:t>suivante :</a:t>
            </a:r>
            <a:endParaRPr lang="fr-CA" sz="2000" dirty="0"/>
          </a:p>
        </p:txBody>
      </p:sp>
      <p:sp>
        <p:nvSpPr>
          <p:cNvPr id="68668" name="Text Box 6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81425" y="4030266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5%</a:t>
            </a:r>
          </a:p>
        </p:txBody>
      </p:sp>
      <p:sp>
        <p:nvSpPr>
          <p:cNvPr id="68670" name="Text Box 6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860925" y="4030266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5%</a:t>
            </a:r>
          </a:p>
        </p:txBody>
      </p:sp>
      <p:sp>
        <p:nvSpPr>
          <p:cNvPr id="68672" name="Text Box 6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68988" y="4030266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971600" y="2019112"/>
            <a:ext cx="6985000" cy="2585085"/>
            <a:chOff x="1116014" y="1706166"/>
            <a:chExt cx="6985000" cy="2585085"/>
          </a:xfrm>
        </p:grpSpPr>
        <p:sp>
          <p:nvSpPr>
            <p:cNvPr id="68612" name="Line 4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331914" y="2031206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8614" name="Line 6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6084888" y="2031206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grpSp>
          <p:nvGrpSpPr>
            <p:cNvPr id="3" name="Groupe 2"/>
            <p:cNvGrpSpPr/>
            <p:nvPr/>
          </p:nvGrpSpPr>
          <p:grpSpPr>
            <a:xfrm>
              <a:off x="1116014" y="1706166"/>
              <a:ext cx="6985000" cy="2585085"/>
              <a:chOff x="1116014" y="1706166"/>
              <a:chExt cx="6985000" cy="2585085"/>
            </a:xfrm>
          </p:grpSpPr>
          <p:sp>
            <p:nvSpPr>
              <p:cNvPr id="68613" name="Line 5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149850" y="2031206"/>
                <a:ext cx="9350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68621" name="Line 13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421063" y="1977629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grpSp>
            <p:nvGrpSpPr>
              <p:cNvPr id="2" name="Groupe 1"/>
              <p:cNvGrpSpPr/>
              <p:nvPr/>
            </p:nvGrpSpPr>
            <p:grpSpPr>
              <a:xfrm>
                <a:off x="1116014" y="1706166"/>
                <a:ext cx="6985000" cy="2585085"/>
                <a:chOff x="1116014" y="1706166"/>
                <a:chExt cx="6985000" cy="2585085"/>
              </a:xfrm>
            </p:grpSpPr>
            <p:sp>
              <p:nvSpPr>
                <p:cNvPr id="68615" name="Line 7"/>
                <p:cNvSpPr>
                  <a:spLocks noChangeShapeType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7524750" y="1922860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16" name="Line 8"/>
                <p:cNvSpPr>
                  <a:spLocks noChangeShapeType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589713" y="1922860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17" name="Line 9"/>
                <p:cNvSpPr>
                  <a:spLocks noChangeShapeType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1331913" y="1869281"/>
                  <a:ext cx="0" cy="3238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18" name="Line 10"/>
                <p:cNvSpPr>
                  <a:spLocks noChangeShapeType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2341563" y="1922860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19" name="Line 11"/>
                <p:cNvSpPr>
                  <a:spLocks noChangeShapeType="1"/>
                </p:cNvSpPr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3421063" y="1922860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20" name="Line 12"/>
                <p:cNvSpPr>
                  <a:spLocks noChangeShapeType="1"/>
                </p:cNvSpPr>
                <p:nvPr>
                  <p:custDataLst>
                    <p:tags r:id="rId16"/>
                  </p:custDataLst>
                </p:nvPr>
              </p:nvSpPr>
              <p:spPr bwMode="auto">
                <a:xfrm>
                  <a:off x="4500563" y="1922860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22" name="Text Box 14"/>
                <p:cNvSpPr txBox="1"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3565525" y="1706166"/>
                  <a:ext cx="915635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r=14%</a:t>
                  </a:r>
                </a:p>
              </p:txBody>
            </p:sp>
            <p:sp>
              <p:nvSpPr>
                <p:cNvPr id="68623" name="Text Box 15"/>
                <p:cNvSpPr txBox="1">
                  <a:spLocks noChangeArrowheads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2195514" y="2193132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1</a:t>
                  </a:r>
                  <a:endParaRPr lang="fr-CA">
                    <a:latin typeface="Tahoma" pitchFamily="34" charset="0"/>
                  </a:endParaRPr>
                </a:p>
              </p:txBody>
            </p:sp>
            <p:sp>
              <p:nvSpPr>
                <p:cNvPr id="68624" name="Text Box 16"/>
                <p:cNvSpPr txBox="1">
                  <a:spLocks noChangeArrowheads="1"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3276600" y="2193132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2</a:t>
                  </a:r>
                </a:p>
              </p:txBody>
            </p:sp>
            <p:sp>
              <p:nvSpPr>
                <p:cNvPr id="68625" name="Text Box 17"/>
                <p:cNvSpPr txBox="1">
                  <a:spLocks noChangeArrowheads="1"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4357689" y="2193132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3</a:t>
                  </a:r>
                </a:p>
              </p:txBody>
            </p:sp>
            <p:sp>
              <p:nvSpPr>
                <p:cNvPr id="68626" name="Text Box 18"/>
                <p:cNvSpPr txBox="1">
                  <a:spLocks noChangeArrowheads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6445251" y="2193132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5</a:t>
                  </a:r>
                </a:p>
              </p:txBody>
            </p:sp>
            <p:sp>
              <p:nvSpPr>
                <p:cNvPr id="68627" name="Text Box 19"/>
                <p:cNvSpPr txBox="1">
                  <a:spLocks noChangeArrowheads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7381876" y="2193132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6</a:t>
                  </a:r>
                </a:p>
              </p:txBody>
            </p:sp>
            <p:sp>
              <p:nvSpPr>
                <p:cNvPr id="68628" name="Line 20"/>
                <p:cNvSpPr>
                  <a:spLocks noChangeShapeType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7524751" y="2031206"/>
                  <a:ext cx="57626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29" name="Line 21"/>
                <p:cNvSpPr>
                  <a:spLocks noChangeShapeType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5581650" y="1922860"/>
                  <a:ext cx="0" cy="2166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30" name="Text Box 22"/>
                <p:cNvSpPr txBox="1">
                  <a:spLocks noChangeArrowhead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5437189" y="2193132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4</a:t>
                  </a:r>
                </a:p>
              </p:txBody>
            </p:sp>
            <p:sp>
              <p:nvSpPr>
                <p:cNvPr id="68631" name="Line 23"/>
                <p:cNvSpPr>
                  <a:spLocks noChangeShapeType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2720975" y="2343150"/>
                  <a:ext cx="503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32" name="Text Box 24"/>
                <p:cNvSpPr txBox="1">
                  <a:spLocks noChangeArrowheads="1"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1476376" y="2301479"/>
                  <a:ext cx="663964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solidFill>
                        <a:schemeClr val="folHlink"/>
                      </a:solidFill>
                      <a:latin typeface="Tahoma" pitchFamily="34" charset="0"/>
                    </a:rPr>
                    <a:t>20%</a:t>
                  </a:r>
                </a:p>
              </p:txBody>
            </p:sp>
            <p:sp>
              <p:nvSpPr>
                <p:cNvPr id="68633" name="Line 25"/>
                <p:cNvSpPr>
                  <a:spLocks noChangeShapeType="1"/>
                </p:cNvSpPr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3800475" y="2343150"/>
                  <a:ext cx="503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34" name="Text Box 26"/>
                <p:cNvSpPr txBox="1">
                  <a:spLocks noChangeArrowheads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3781425" y="2301479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8635" name="Line 27"/>
                <p:cNvSpPr>
                  <a:spLocks noChangeShapeType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4881564" y="2343150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36" name="Text Box 28"/>
                <p:cNvSpPr txBox="1">
                  <a:spLocks noChangeArrowheads="1"/>
                </p:cNvSpPr>
                <p:nvPr>
                  <p:custDataLst>
                    <p:tags r:id="rId31"/>
                  </p:custDataLst>
                </p:nvPr>
              </p:nvSpPr>
              <p:spPr bwMode="auto">
                <a:xfrm>
                  <a:off x="4860925" y="2301479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8637" name="Line 29"/>
                <p:cNvSpPr>
                  <a:spLocks noChangeShapeType="1"/>
                </p:cNvSpPr>
                <p:nvPr>
                  <p:custDataLst>
                    <p:tags r:id="rId32"/>
                  </p:custDataLst>
                </p:nvPr>
              </p:nvSpPr>
              <p:spPr bwMode="auto">
                <a:xfrm>
                  <a:off x="5889625" y="2343150"/>
                  <a:ext cx="503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38" name="Text Box 30"/>
                <p:cNvSpPr txBox="1">
                  <a:spLocks noChangeArrowheads="1"/>
                </p:cNvSpPr>
                <p:nvPr>
                  <p:custDataLst>
                    <p:tags r:id="rId33"/>
                  </p:custDataLst>
                </p:nvPr>
              </p:nvSpPr>
              <p:spPr bwMode="auto">
                <a:xfrm>
                  <a:off x="5868988" y="2301479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8639" name="Line 31"/>
                <p:cNvSpPr>
                  <a:spLocks noChangeShapeType="1"/>
                </p:cNvSpPr>
                <p:nvPr>
                  <p:custDataLst>
                    <p:tags r:id="rId34"/>
                  </p:custDataLst>
                </p:nvPr>
              </p:nvSpPr>
              <p:spPr bwMode="auto">
                <a:xfrm>
                  <a:off x="6897689" y="2343150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40" name="Text Box 32"/>
                <p:cNvSpPr txBox="1">
                  <a:spLocks noChangeArrowheads="1"/>
                </p:cNvSpPr>
                <p:nvPr>
                  <p:custDataLst>
                    <p:tags r:id="rId35"/>
                  </p:custDataLst>
                </p:nvPr>
              </p:nvSpPr>
              <p:spPr bwMode="auto">
                <a:xfrm>
                  <a:off x="6877050" y="2301479"/>
                  <a:ext cx="5373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5%</a:t>
                  </a:r>
                </a:p>
              </p:txBody>
            </p:sp>
            <p:sp>
              <p:nvSpPr>
                <p:cNvPr id="68641" name="Line 33"/>
                <p:cNvSpPr>
                  <a:spLocks noChangeShapeType="1"/>
                </p:cNvSpPr>
                <p:nvPr>
                  <p:custDataLst>
                    <p:tags r:id="rId36"/>
                  </p:custDataLst>
                </p:nvPr>
              </p:nvSpPr>
              <p:spPr bwMode="auto">
                <a:xfrm>
                  <a:off x="1549401" y="2355056"/>
                  <a:ext cx="574675" cy="0"/>
                </a:xfrm>
                <a:prstGeom prst="line">
                  <a:avLst/>
                </a:prstGeom>
                <a:noFill/>
                <a:ln w="9525" cap="rnd">
                  <a:solidFill>
                    <a:schemeClr val="folHlink"/>
                  </a:solidFill>
                  <a:prstDash val="sysDot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42" name="Text Box 34"/>
                <p:cNvSpPr txBox="1">
                  <a:spLocks noChangeArrowheads="1"/>
                </p:cNvSpPr>
                <p:nvPr>
                  <p:custDataLst>
                    <p:tags r:id="rId37"/>
                  </p:custDataLst>
                </p:nvPr>
              </p:nvSpPr>
              <p:spPr bwMode="auto">
                <a:xfrm>
                  <a:off x="1117601" y="2193132"/>
                  <a:ext cx="437940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solidFill>
                        <a:schemeClr val="folHlink"/>
                      </a:solidFill>
                      <a:latin typeface="Tahoma" pitchFamily="34" charset="0"/>
                    </a:rPr>
                    <a:t>1$</a:t>
                  </a:r>
                </a:p>
              </p:txBody>
            </p:sp>
            <p:sp>
              <p:nvSpPr>
                <p:cNvPr id="68643" name="Text Box 35"/>
                <p:cNvSpPr txBox="1">
                  <a:spLocks noChangeArrowheads="1"/>
                </p:cNvSpPr>
                <p:nvPr>
                  <p:custDataLst>
                    <p:tags r:id="rId38"/>
                  </p:custDataLst>
                </p:nvPr>
              </p:nvSpPr>
              <p:spPr bwMode="auto">
                <a:xfrm>
                  <a:off x="2628901" y="2301479"/>
                  <a:ext cx="663964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15%</a:t>
                  </a:r>
                </a:p>
              </p:txBody>
            </p:sp>
            <p:sp>
              <p:nvSpPr>
                <p:cNvPr id="68644" name="Line 36"/>
                <p:cNvSpPr>
                  <a:spLocks noChangeShapeType="1"/>
                </p:cNvSpPr>
                <p:nvPr>
                  <p:custDataLst>
                    <p:tags r:id="rId39"/>
                  </p:custDataLst>
                </p:nvPr>
              </p:nvSpPr>
              <p:spPr bwMode="auto">
                <a:xfrm>
                  <a:off x="1330325" y="2949179"/>
                  <a:ext cx="2089150" cy="119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45" name="Line 37"/>
                <p:cNvSpPr>
                  <a:spLocks noChangeShapeType="1"/>
                </p:cNvSpPr>
                <p:nvPr>
                  <p:custDataLst>
                    <p:tags r:id="rId40"/>
                  </p:custDataLst>
                </p:nvPr>
              </p:nvSpPr>
              <p:spPr bwMode="auto">
                <a:xfrm>
                  <a:off x="1330325" y="2787254"/>
                  <a:ext cx="0" cy="323850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46" name="Line 38"/>
                <p:cNvSpPr>
                  <a:spLocks noChangeShapeType="1"/>
                </p:cNvSpPr>
                <p:nvPr>
                  <p:custDataLst>
                    <p:tags r:id="rId41"/>
                  </p:custDataLst>
                </p:nvPr>
              </p:nvSpPr>
              <p:spPr bwMode="auto">
                <a:xfrm>
                  <a:off x="2339975" y="2840832"/>
                  <a:ext cx="0" cy="21669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47" name="Line 39"/>
                <p:cNvSpPr>
                  <a:spLocks noChangeShapeType="1"/>
                </p:cNvSpPr>
                <p:nvPr>
                  <p:custDataLst>
                    <p:tags r:id="rId42"/>
                  </p:custDataLst>
                </p:nvPr>
              </p:nvSpPr>
              <p:spPr bwMode="auto">
                <a:xfrm>
                  <a:off x="3419475" y="2840832"/>
                  <a:ext cx="0" cy="21669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48" name="Text Box 40"/>
                <p:cNvSpPr txBox="1">
                  <a:spLocks noChangeArrowheads="1"/>
                </p:cNvSpPr>
                <p:nvPr>
                  <p:custDataLst>
                    <p:tags r:id="rId43"/>
                  </p:custDataLst>
                </p:nvPr>
              </p:nvSpPr>
              <p:spPr bwMode="auto">
                <a:xfrm>
                  <a:off x="2193926" y="311110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1</a:t>
                  </a:r>
                  <a:endParaRPr lang="fr-CA">
                    <a:latin typeface="Tahoma" pitchFamily="34" charset="0"/>
                  </a:endParaRPr>
                </a:p>
              </p:txBody>
            </p:sp>
            <p:sp>
              <p:nvSpPr>
                <p:cNvPr id="68649" name="Text Box 41"/>
                <p:cNvSpPr txBox="1">
                  <a:spLocks noChangeArrowheads="1"/>
                </p:cNvSpPr>
                <p:nvPr>
                  <p:custDataLst>
                    <p:tags r:id="rId44"/>
                  </p:custDataLst>
                </p:nvPr>
              </p:nvSpPr>
              <p:spPr bwMode="auto">
                <a:xfrm>
                  <a:off x="3275014" y="3111104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2</a:t>
                  </a:r>
                </a:p>
              </p:txBody>
            </p:sp>
            <p:sp>
              <p:nvSpPr>
                <p:cNvPr id="68650" name="Line 42"/>
                <p:cNvSpPr>
                  <a:spLocks noChangeShapeType="1"/>
                </p:cNvSpPr>
                <p:nvPr>
                  <p:custDataLst>
                    <p:tags r:id="rId45"/>
                  </p:custDataLst>
                </p:nvPr>
              </p:nvSpPr>
              <p:spPr bwMode="auto">
                <a:xfrm>
                  <a:off x="2719389" y="3261122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51" name="Text Box 43"/>
                <p:cNvSpPr txBox="1">
                  <a:spLocks noChangeArrowheads="1"/>
                </p:cNvSpPr>
                <p:nvPr>
                  <p:custDataLst>
                    <p:tags r:id="rId46"/>
                  </p:custDataLst>
                </p:nvPr>
              </p:nvSpPr>
              <p:spPr bwMode="auto">
                <a:xfrm>
                  <a:off x="1474788" y="3219450"/>
                  <a:ext cx="663964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solidFill>
                        <a:schemeClr val="folHlink"/>
                      </a:solidFill>
                      <a:latin typeface="Tahoma" pitchFamily="34" charset="0"/>
                    </a:rPr>
                    <a:t>20%</a:t>
                  </a:r>
                </a:p>
              </p:txBody>
            </p:sp>
            <p:sp>
              <p:nvSpPr>
                <p:cNvPr id="68652" name="Line 44"/>
                <p:cNvSpPr>
                  <a:spLocks noChangeShapeType="1"/>
                </p:cNvSpPr>
                <p:nvPr>
                  <p:custDataLst>
                    <p:tags r:id="rId47"/>
                  </p:custDataLst>
                </p:nvPr>
              </p:nvSpPr>
              <p:spPr bwMode="auto">
                <a:xfrm>
                  <a:off x="1547814" y="3273029"/>
                  <a:ext cx="574675" cy="0"/>
                </a:xfrm>
                <a:prstGeom prst="line">
                  <a:avLst/>
                </a:prstGeom>
                <a:noFill/>
                <a:ln w="9525" cap="rnd">
                  <a:solidFill>
                    <a:schemeClr val="folHlink"/>
                  </a:solidFill>
                  <a:prstDash val="sysDot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53" name="Text Box 45"/>
                <p:cNvSpPr txBox="1">
                  <a:spLocks noChangeArrowheads="1"/>
                </p:cNvSpPr>
                <p:nvPr>
                  <p:custDataLst>
                    <p:tags r:id="rId48"/>
                  </p:custDataLst>
                </p:nvPr>
              </p:nvSpPr>
              <p:spPr bwMode="auto">
                <a:xfrm>
                  <a:off x="1116014" y="3111104"/>
                  <a:ext cx="437940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solidFill>
                        <a:schemeClr val="folHlink"/>
                      </a:solidFill>
                      <a:latin typeface="Tahoma" pitchFamily="34" charset="0"/>
                    </a:rPr>
                    <a:t>1$</a:t>
                  </a:r>
                </a:p>
              </p:txBody>
            </p:sp>
            <p:sp>
              <p:nvSpPr>
                <p:cNvPr id="68654" name="Text Box 46"/>
                <p:cNvSpPr txBox="1">
                  <a:spLocks noChangeArrowheads="1"/>
                </p:cNvSpPr>
                <p:nvPr>
                  <p:custDataLst>
                    <p:tags r:id="rId49"/>
                  </p:custDataLst>
                </p:nvPr>
              </p:nvSpPr>
              <p:spPr bwMode="auto">
                <a:xfrm>
                  <a:off x="2627313" y="3219450"/>
                  <a:ext cx="663964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15%</a:t>
                  </a:r>
                </a:p>
              </p:txBody>
            </p:sp>
            <p:sp>
              <p:nvSpPr>
                <p:cNvPr id="68655" name="Line 47"/>
                <p:cNvSpPr>
                  <a:spLocks noChangeShapeType="1"/>
                </p:cNvSpPr>
                <p:nvPr>
                  <p:custDataLst>
                    <p:tags r:id="rId50"/>
                  </p:custDataLst>
                </p:nvPr>
              </p:nvSpPr>
              <p:spPr bwMode="auto">
                <a:xfrm>
                  <a:off x="3419476" y="3759994"/>
                  <a:ext cx="2665413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56" name="Line 48"/>
                <p:cNvSpPr>
                  <a:spLocks noChangeShapeType="1"/>
                </p:cNvSpPr>
                <p:nvPr>
                  <p:custDataLst>
                    <p:tags r:id="rId51"/>
                  </p:custDataLst>
                </p:nvPr>
              </p:nvSpPr>
              <p:spPr bwMode="auto">
                <a:xfrm>
                  <a:off x="6084888" y="3759994"/>
                  <a:ext cx="1439862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57" name="Line 49"/>
                <p:cNvSpPr>
                  <a:spLocks noChangeShapeType="1"/>
                </p:cNvSpPr>
                <p:nvPr>
                  <p:custDataLst>
                    <p:tags r:id="rId52"/>
                  </p:custDataLst>
                </p:nvPr>
              </p:nvSpPr>
              <p:spPr bwMode="auto">
                <a:xfrm>
                  <a:off x="7524750" y="3651648"/>
                  <a:ext cx="0" cy="21669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58" name="Line 50"/>
                <p:cNvSpPr>
                  <a:spLocks noChangeShapeType="1"/>
                </p:cNvSpPr>
                <p:nvPr>
                  <p:custDataLst>
                    <p:tags r:id="rId53"/>
                  </p:custDataLst>
                </p:nvPr>
              </p:nvSpPr>
              <p:spPr bwMode="auto">
                <a:xfrm>
                  <a:off x="6589713" y="3651648"/>
                  <a:ext cx="0" cy="21669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59" name="Line 51"/>
                <p:cNvSpPr>
                  <a:spLocks noChangeShapeType="1"/>
                </p:cNvSpPr>
                <p:nvPr>
                  <p:custDataLst>
                    <p:tags r:id="rId54"/>
                  </p:custDataLst>
                </p:nvPr>
              </p:nvSpPr>
              <p:spPr bwMode="auto">
                <a:xfrm>
                  <a:off x="3419475" y="3651648"/>
                  <a:ext cx="0" cy="21669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60" name="Line 52"/>
                <p:cNvSpPr>
                  <a:spLocks noChangeShapeType="1"/>
                </p:cNvSpPr>
                <p:nvPr>
                  <p:custDataLst>
                    <p:tags r:id="rId55"/>
                  </p:custDataLst>
                </p:nvPr>
              </p:nvSpPr>
              <p:spPr bwMode="auto">
                <a:xfrm>
                  <a:off x="4500563" y="3651648"/>
                  <a:ext cx="0" cy="21669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61" name="Text Box 53"/>
                <p:cNvSpPr txBox="1">
                  <a:spLocks noChangeArrowheads="1"/>
                </p:cNvSpPr>
                <p:nvPr>
                  <p:custDataLst>
                    <p:tags r:id="rId56"/>
                  </p:custDataLst>
                </p:nvPr>
              </p:nvSpPr>
              <p:spPr bwMode="auto">
                <a:xfrm>
                  <a:off x="4357689" y="3921919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3</a:t>
                  </a:r>
                </a:p>
              </p:txBody>
            </p:sp>
            <p:sp>
              <p:nvSpPr>
                <p:cNvPr id="68662" name="Text Box 54"/>
                <p:cNvSpPr txBox="1">
                  <a:spLocks noChangeArrowheads="1"/>
                </p:cNvSpPr>
                <p:nvPr>
                  <p:custDataLst>
                    <p:tags r:id="rId57"/>
                  </p:custDataLst>
                </p:nvPr>
              </p:nvSpPr>
              <p:spPr bwMode="auto">
                <a:xfrm>
                  <a:off x="6445251" y="3921919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5</a:t>
                  </a:r>
                </a:p>
              </p:txBody>
            </p:sp>
            <p:sp>
              <p:nvSpPr>
                <p:cNvPr id="68663" name="Text Box 55"/>
                <p:cNvSpPr txBox="1">
                  <a:spLocks noChangeArrowheads="1"/>
                </p:cNvSpPr>
                <p:nvPr>
                  <p:custDataLst>
                    <p:tags r:id="rId58"/>
                  </p:custDataLst>
                </p:nvPr>
              </p:nvSpPr>
              <p:spPr bwMode="auto">
                <a:xfrm>
                  <a:off x="7381876" y="3921919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6</a:t>
                  </a:r>
                </a:p>
              </p:txBody>
            </p:sp>
            <p:sp>
              <p:nvSpPr>
                <p:cNvPr id="68664" name="Line 56"/>
                <p:cNvSpPr>
                  <a:spLocks noChangeShapeType="1"/>
                </p:cNvSpPr>
                <p:nvPr>
                  <p:custDataLst>
                    <p:tags r:id="rId59"/>
                  </p:custDataLst>
                </p:nvPr>
              </p:nvSpPr>
              <p:spPr bwMode="auto">
                <a:xfrm>
                  <a:off x="7524751" y="3759994"/>
                  <a:ext cx="576263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65" name="Line 57"/>
                <p:cNvSpPr>
                  <a:spLocks noChangeShapeType="1"/>
                </p:cNvSpPr>
                <p:nvPr>
                  <p:custDataLst>
                    <p:tags r:id="rId60"/>
                  </p:custDataLst>
                </p:nvPr>
              </p:nvSpPr>
              <p:spPr bwMode="auto">
                <a:xfrm>
                  <a:off x="5581650" y="3651648"/>
                  <a:ext cx="0" cy="21669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66" name="Text Box 58"/>
                <p:cNvSpPr txBox="1">
                  <a:spLocks noChangeArrowheads="1"/>
                </p:cNvSpPr>
                <p:nvPr>
                  <p:custDataLst>
                    <p:tags r:id="rId61"/>
                  </p:custDataLst>
                </p:nvPr>
              </p:nvSpPr>
              <p:spPr bwMode="auto">
                <a:xfrm>
                  <a:off x="5437189" y="3921919"/>
                  <a:ext cx="42511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fr-CA">
                      <a:latin typeface="Tahoma" pitchFamily="34" charset="0"/>
                    </a:rPr>
                    <a:t>D</a:t>
                  </a:r>
                  <a:r>
                    <a:rPr lang="fr-CA" baseline="-25000">
                      <a:latin typeface="Tahoma" pitchFamily="34" charset="0"/>
                    </a:rPr>
                    <a:t>4</a:t>
                  </a:r>
                </a:p>
              </p:txBody>
            </p:sp>
            <p:sp>
              <p:nvSpPr>
                <p:cNvPr id="68667" name="Line 59"/>
                <p:cNvSpPr>
                  <a:spLocks noChangeShapeType="1"/>
                </p:cNvSpPr>
                <p:nvPr>
                  <p:custDataLst>
                    <p:tags r:id="rId62"/>
                  </p:custDataLst>
                </p:nvPr>
              </p:nvSpPr>
              <p:spPr bwMode="auto">
                <a:xfrm>
                  <a:off x="3800475" y="4071938"/>
                  <a:ext cx="503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69" name="Line 61"/>
                <p:cNvSpPr>
                  <a:spLocks noChangeShapeType="1"/>
                </p:cNvSpPr>
                <p:nvPr>
                  <p:custDataLst>
                    <p:tags r:id="rId63"/>
                  </p:custDataLst>
                </p:nvPr>
              </p:nvSpPr>
              <p:spPr bwMode="auto">
                <a:xfrm>
                  <a:off x="4881564" y="4071938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71" name="Line 63"/>
                <p:cNvSpPr>
                  <a:spLocks noChangeShapeType="1"/>
                </p:cNvSpPr>
                <p:nvPr>
                  <p:custDataLst>
                    <p:tags r:id="rId64"/>
                  </p:custDataLst>
                </p:nvPr>
              </p:nvSpPr>
              <p:spPr bwMode="auto">
                <a:xfrm>
                  <a:off x="5889625" y="4071938"/>
                  <a:ext cx="503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68673" name="Line 65"/>
                <p:cNvSpPr>
                  <a:spLocks noChangeShapeType="1"/>
                </p:cNvSpPr>
                <p:nvPr>
                  <p:custDataLst>
                    <p:tags r:id="rId65"/>
                  </p:custDataLst>
                </p:nvPr>
              </p:nvSpPr>
              <p:spPr bwMode="auto">
                <a:xfrm>
                  <a:off x="6897689" y="4071938"/>
                  <a:ext cx="503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fr-CA"/>
                </a:p>
              </p:txBody>
            </p:sp>
          </p:grpSp>
        </p:grpSp>
      </p:grpSp>
      <p:sp>
        <p:nvSpPr>
          <p:cNvPr id="68674" name="Text Box 6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77050" y="4030266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1200151"/>
            <a:ext cx="814705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On </a:t>
            </a:r>
            <a:r>
              <a:rPr lang="fr-CA" sz="2000" dirty="0"/>
              <a:t>peut donc décomposer les </a:t>
            </a:r>
            <a:r>
              <a:rPr lang="fr-CA" sz="2000" dirty="0" err="1"/>
              <a:t>FMs</a:t>
            </a:r>
            <a:r>
              <a:rPr lang="fr-CA" sz="2000" dirty="0"/>
              <a:t> de la façon </a:t>
            </a:r>
            <a:r>
              <a:rPr lang="fr-CA" sz="2000" dirty="0" smtClean="0"/>
              <a:t>suivante :</a:t>
            </a:r>
            <a:endParaRPr lang="fr-CA" sz="2000" dirty="0"/>
          </a:p>
        </p:txBody>
      </p:sp>
      <p:grpSp>
        <p:nvGrpSpPr>
          <p:cNvPr id="2" name="Groupe 1"/>
          <p:cNvGrpSpPr/>
          <p:nvPr/>
        </p:nvGrpSpPr>
        <p:grpSpPr>
          <a:xfrm>
            <a:off x="1038225" y="2283718"/>
            <a:ext cx="6984999" cy="1881426"/>
            <a:chOff x="1044576" y="1762125"/>
            <a:chExt cx="6984999" cy="1881426"/>
          </a:xfrm>
        </p:grpSpPr>
        <p:sp>
          <p:nvSpPr>
            <p:cNvPr id="69636" name="Line 4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1258888" y="1924050"/>
              <a:ext cx="2089150" cy="119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37" name="Line 5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258888" y="1762125"/>
              <a:ext cx="0" cy="32385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38" name="Line 6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2268538" y="1815704"/>
              <a:ext cx="0" cy="21669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39" name="Line 7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348038" y="1815704"/>
              <a:ext cx="0" cy="21669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40" name="Text Box 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122488" y="2085975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1</a:t>
              </a:r>
              <a:endParaRPr lang="fr-CA">
                <a:latin typeface="Tahoma" pitchFamily="34" charset="0"/>
              </a:endParaRPr>
            </a:p>
          </p:txBody>
        </p:sp>
        <p:sp>
          <p:nvSpPr>
            <p:cNvPr id="69641" name="Text Box 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203576" y="2085975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2</a:t>
              </a:r>
            </a:p>
          </p:txBody>
        </p:sp>
        <p:sp>
          <p:nvSpPr>
            <p:cNvPr id="69642" name="Line 10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2647950" y="2235994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43" name="Text Box 1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403350" y="2194322"/>
              <a:ext cx="66396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20%</a:t>
              </a:r>
            </a:p>
          </p:txBody>
        </p:sp>
        <p:sp>
          <p:nvSpPr>
            <p:cNvPr id="69644" name="Line 12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1476376" y="2247900"/>
              <a:ext cx="574675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45" name="Text Box 1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44576" y="2085975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solidFill>
                    <a:schemeClr val="folHlink"/>
                  </a:solidFill>
                  <a:latin typeface="Tahoma" pitchFamily="34" charset="0"/>
                </a:rPr>
                <a:t>1$</a:t>
              </a:r>
            </a:p>
          </p:txBody>
        </p:sp>
        <p:sp>
          <p:nvSpPr>
            <p:cNvPr id="69646" name="Text Box 1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55876" y="2194322"/>
              <a:ext cx="66396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15%</a:t>
              </a:r>
            </a:p>
          </p:txBody>
        </p:sp>
        <p:sp>
          <p:nvSpPr>
            <p:cNvPr id="69647" name="Line 15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3348038" y="3003947"/>
              <a:ext cx="266541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48" name="Line 1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6013451" y="3003947"/>
              <a:ext cx="1439863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49" name="Line 17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7453313" y="2895600"/>
              <a:ext cx="0" cy="21669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50" name="Line 18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6518275" y="2895600"/>
              <a:ext cx="0" cy="21669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51" name="Line 19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348038" y="2895600"/>
              <a:ext cx="0" cy="21669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52" name="Line 20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429125" y="2895600"/>
              <a:ext cx="0" cy="21669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53" name="Text Box 2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286251" y="3165872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3</a:t>
              </a:r>
            </a:p>
          </p:txBody>
        </p:sp>
        <p:sp>
          <p:nvSpPr>
            <p:cNvPr id="69654" name="Text Box 2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373814" y="3165872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5</a:t>
              </a:r>
            </a:p>
          </p:txBody>
        </p:sp>
        <p:sp>
          <p:nvSpPr>
            <p:cNvPr id="69655" name="Text Box 2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310439" y="3165872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6</a:t>
              </a:r>
            </a:p>
          </p:txBody>
        </p:sp>
        <p:sp>
          <p:nvSpPr>
            <p:cNvPr id="69656" name="Line 24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7453313" y="3003947"/>
              <a:ext cx="57626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57" name="Line 25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5510213" y="2895600"/>
              <a:ext cx="0" cy="21669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58" name="Text Box 2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65751" y="3165872"/>
              <a:ext cx="425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D</a:t>
              </a:r>
              <a:r>
                <a:rPr lang="fr-CA" baseline="-25000">
                  <a:latin typeface="Tahoma" pitchFamily="34" charset="0"/>
                </a:rPr>
                <a:t>4</a:t>
              </a:r>
            </a:p>
          </p:txBody>
        </p:sp>
        <p:sp>
          <p:nvSpPr>
            <p:cNvPr id="69659" name="Line 2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729039" y="3315891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60" name="Text Box 2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709988" y="3274219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9661" name="Line 29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4810125" y="3315891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62" name="Text Box 30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789488" y="3274219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9663" name="Line 31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5818189" y="3315891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64" name="Text Box 3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797550" y="3274219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9665" name="Line 33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6826250" y="3315891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69666" name="Text Box 34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805613" y="3274219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5%</a:t>
              </a:r>
            </a:p>
          </p:txBody>
        </p:sp>
        <p:sp>
          <p:nvSpPr>
            <p:cNvPr id="69667" name="Text Box 35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077065" y="3223330"/>
              <a:ext cx="6447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6"/>
                  </a:solidFill>
                  <a:latin typeface="Tahoma" pitchFamily="34" charset="0"/>
                </a:rPr>
                <a:t>Prix</a:t>
              </a:r>
              <a:r>
                <a:rPr lang="fr-CA" baseline="-25000" dirty="0">
                  <a:solidFill>
                    <a:schemeClr val="accent6"/>
                  </a:solidFill>
                  <a:latin typeface="Tahoma" pitchFamily="34" charset="0"/>
                </a:rPr>
                <a:t>2</a:t>
              </a:r>
              <a:endParaRPr lang="fr-CA" dirty="0">
                <a:solidFill>
                  <a:schemeClr val="accent6"/>
                </a:solidFill>
                <a:latin typeface="Tahoma" pitchFamily="34" charset="0"/>
              </a:endParaRPr>
            </a:p>
          </p:txBody>
        </p:sp>
      </p:grpSp>
      <p:sp>
        <p:nvSpPr>
          <p:cNvPr id="37" name="Forme libre 45"/>
          <p:cNvSpPr/>
          <p:nvPr>
            <p:custDataLst>
              <p:tags r:id="rId3"/>
            </p:custDataLst>
          </p:nvPr>
        </p:nvSpPr>
        <p:spPr>
          <a:xfrm>
            <a:off x="3419871" y="4110374"/>
            <a:ext cx="1097089" cy="247787"/>
          </a:xfrm>
          <a:custGeom>
            <a:avLst/>
            <a:gdLst>
              <a:gd name="connsiteX0" fmla="*/ 717452 w 717452"/>
              <a:gd name="connsiteY0" fmla="*/ 0 h 171158"/>
              <a:gd name="connsiteX1" fmla="*/ 379828 w 717452"/>
              <a:gd name="connsiteY1" fmla="*/ 168813 h 171158"/>
              <a:gd name="connsiteX2" fmla="*/ 0 w 717452"/>
              <a:gd name="connsiteY2" fmla="*/ 14068 h 17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452" h="171158">
                <a:moveTo>
                  <a:pt x="717452" y="0"/>
                </a:moveTo>
                <a:cubicBezTo>
                  <a:pt x="608427" y="83234"/>
                  <a:pt x="499403" y="166468"/>
                  <a:pt x="379828" y="168813"/>
                </a:cubicBezTo>
                <a:cubicBezTo>
                  <a:pt x="260253" y="171158"/>
                  <a:pt x="58616" y="157090"/>
                  <a:pt x="0" y="14068"/>
                </a:cubicBezTo>
              </a:path>
            </a:pathLst>
          </a:cu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8" name="Ellipse 40"/>
          <p:cNvSpPr/>
          <p:nvPr>
            <p:custDataLst>
              <p:tags r:id="rId4"/>
            </p:custDataLst>
          </p:nvPr>
        </p:nvSpPr>
        <p:spPr>
          <a:xfrm>
            <a:off x="4240964" y="3590342"/>
            <a:ext cx="4097110" cy="5767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9" name="Rectangle 38"/>
          <p:cNvSpPr/>
          <p:nvPr>
            <p:custDataLst>
              <p:tags r:id="rId5"/>
            </p:custDataLst>
          </p:nvPr>
        </p:nvSpPr>
        <p:spPr>
          <a:xfrm>
            <a:off x="7807325" y="3687465"/>
            <a:ext cx="547954" cy="580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00151"/>
            <a:ext cx="814705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On </a:t>
            </a:r>
            <a:r>
              <a:rPr lang="fr-CA" sz="2000" dirty="0"/>
              <a:t>peut donc décomposer les </a:t>
            </a:r>
            <a:r>
              <a:rPr lang="fr-CA" sz="2000" dirty="0" err="1"/>
              <a:t>FMs</a:t>
            </a:r>
            <a:r>
              <a:rPr lang="fr-CA" sz="2000" dirty="0"/>
              <a:t> de la façon </a:t>
            </a:r>
            <a:r>
              <a:rPr lang="fr-CA" sz="2000" dirty="0" smtClean="0"/>
              <a:t>suivante :</a:t>
            </a:r>
            <a:endParaRPr lang="fr-CA" sz="2000" dirty="0"/>
          </a:p>
        </p:txBody>
      </p:sp>
      <p:graphicFrame>
        <p:nvGraphicFramePr>
          <p:cNvPr id="70660" name="Object 4"/>
          <p:cNvGraphicFramePr>
            <a:graphicFrameLocks noGrp="1" noChangeAspect="1"/>
          </p:cNvGraphicFramePr>
          <p:nvPr>
            <p:ph sz="quarter" idx="2"/>
            <p:custDataLst>
              <p:tags r:id="rId4"/>
            </p:custDataLst>
          </p:nvPr>
        </p:nvGraphicFramePr>
        <p:xfrm>
          <a:off x="3783013" y="2411413"/>
          <a:ext cx="64293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4" name="Equation" r:id="rId38" imgW="495000" imgH="419040" progId="Equation.3">
                  <p:embed/>
                </p:oleObj>
              </mc:Choice>
              <mc:Fallback>
                <p:oleObj name="Equation" r:id="rId38" imgW="4950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3" y="2411413"/>
                        <a:ext cx="642937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58888" y="1924050"/>
            <a:ext cx="2089150" cy="1191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62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258888" y="1762125"/>
            <a:ext cx="0" cy="3238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63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685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64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3480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65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122488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D</a:t>
            </a:r>
            <a:r>
              <a:rPr lang="fr-CA" baseline="-25000" dirty="0">
                <a:latin typeface="Tahoma" pitchFamily="34" charset="0"/>
              </a:rPr>
              <a:t>1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70666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203576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D</a:t>
            </a:r>
            <a:r>
              <a:rPr lang="fr-CA" baseline="-25000" dirty="0">
                <a:latin typeface="Tahoma" pitchFamily="34" charset="0"/>
              </a:rPr>
              <a:t>2</a:t>
            </a:r>
          </a:p>
        </p:txBody>
      </p:sp>
      <p:sp>
        <p:nvSpPr>
          <p:cNvPr id="70667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647950" y="2235994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68" name="Text Box 1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403350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20%</a:t>
            </a:r>
          </a:p>
        </p:txBody>
      </p:sp>
      <p:sp>
        <p:nvSpPr>
          <p:cNvPr id="70669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1476376" y="2247900"/>
            <a:ext cx="574675" cy="0"/>
          </a:xfrm>
          <a:prstGeom prst="line">
            <a:avLst/>
          </a:prstGeom>
          <a:noFill/>
          <a:ln w="9525" cap="rnd">
            <a:solidFill>
              <a:schemeClr val="folHlink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70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44576" y="2085975"/>
            <a:ext cx="4379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1$</a:t>
            </a:r>
          </a:p>
        </p:txBody>
      </p:sp>
      <p:sp>
        <p:nvSpPr>
          <p:cNvPr id="70671" name="Text Box 15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555876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15%</a:t>
            </a:r>
          </a:p>
        </p:txBody>
      </p:sp>
      <p:sp>
        <p:nvSpPr>
          <p:cNvPr id="70672" name="Line 16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348038" y="3003947"/>
            <a:ext cx="26654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73" name="Line 17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013451" y="3003947"/>
            <a:ext cx="14398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74" name="Line 18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74533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75" name="Line 19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651827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76" name="Line 20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348038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77" name="Line 21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442912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78" name="Text Box 2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42862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3</a:t>
            </a:r>
          </a:p>
        </p:txBody>
      </p:sp>
      <p:sp>
        <p:nvSpPr>
          <p:cNvPr id="70679" name="Text Box 23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373814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5</a:t>
            </a:r>
          </a:p>
        </p:txBody>
      </p:sp>
      <p:sp>
        <p:nvSpPr>
          <p:cNvPr id="70680" name="Text Box 2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310439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6</a:t>
            </a:r>
          </a:p>
        </p:txBody>
      </p:sp>
      <p:sp>
        <p:nvSpPr>
          <p:cNvPr id="70681" name="Line 25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7453313" y="3003947"/>
            <a:ext cx="57626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82" name="Line 26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55102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83" name="Text Box 27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3657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4</a:t>
            </a:r>
          </a:p>
        </p:txBody>
      </p:sp>
      <p:sp>
        <p:nvSpPr>
          <p:cNvPr id="70684" name="Line 28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372903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85" name="Text Box 29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7099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0686" name="Line 30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4810125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87" name="Text Box 31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7894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0688" name="Line 32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581818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89" name="Text Box 33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797550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0690" name="Line 34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6826250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0691" name="Text Box 35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805613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0692" name="Text Box 36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059113" y="2518172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Prix</a:t>
            </a:r>
            <a:r>
              <a:rPr lang="fr-CA" baseline="-25000">
                <a:latin typeface="Tahoma" pitchFamily="34" charset="0"/>
              </a:rPr>
              <a:t>2</a:t>
            </a:r>
            <a:endParaRPr lang="fr-CA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00151"/>
            <a:ext cx="814705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On </a:t>
            </a:r>
            <a:r>
              <a:rPr lang="fr-CA" sz="2000" dirty="0"/>
              <a:t>peut donc décomposer les </a:t>
            </a:r>
            <a:r>
              <a:rPr lang="fr-CA" sz="2000" dirty="0" err="1"/>
              <a:t>FMs</a:t>
            </a:r>
            <a:r>
              <a:rPr lang="fr-CA" sz="2000" dirty="0"/>
              <a:t> de la façon </a:t>
            </a:r>
            <a:r>
              <a:rPr lang="fr-CA" sz="2000" dirty="0" smtClean="0"/>
              <a:t>suivante :</a:t>
            </a:r>
            <a:endParaRPr lang="fr-CA" sz="2000" dirty="0"/>
          </a:p>
        </p:txBody>
      </p:sp>
      <p:graphicFrame>
        <p:nvGraphicFramePr>
          <p:cNvPr id="71684" name="Object 4"/>
          <p:cNvGraphicFramePr>
            <a:graphicFrameLocks noGrp="1" noChangeAspect="1"/>
          </p:cNvGraphicFramePr>
          <p:nvPr>
            <p:ph sz="quarter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21818811"/>
              </p:ext>
            </p:extLst>
          </p:nvPr>
        </p:nvGraphicFramePr>
        <p:xfrm>
          <a:off x="3803650" y="2440186"/>
          <a:ext cx="27146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9" name="Equation" r:id="rId38" imgW="2095200" imgH="419040" progId="Equation.3">
                  <p:embed/>
                </p:oleObj>
              </mc:Choice>
              <mc:Fallback>
                <p:oleObj name="Equation" r:id="rId38" imgW="20952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2440186"/>
                        <a:ext cx="27146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58888" y="1924050"/>
            <a:ext cx="2089150" cy="1191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86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258888" y="1762125"/>
            <a:ext cx="0" cy="3238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87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685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88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3480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89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122488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1</a:t>
            </a:r>
            <a:endParaRPr lang="fr-CA">
              <a:latin typeface="Tahoma" pitchFamily="34" charset="0"/>
            </a:endParaRPr>
          </a:p>
        </p:txBody>
      </p:sp>
      <p:sp>
        <p:nvSpPr>
          <p:cNvPr id="71690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203576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2</a:t>
            </a:r>
          </a:p>
        </p:txBody>
      </p:sp>
      <p:sp>
        <p:nvSpPr>
          <p:cNvPr id="71691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647950" y="2235994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92" name="Text Box 1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403350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20%</a:t>
            </a:r>
          </a:p>
        </p:txBody>
      </p:sp>
      <p:sp>
        <p:nvSpPr>
          <p:cNvPr id="71693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1476376" y="2247900"/>
            <a:ext cx="574675" cy="0"/>
          </a:xfrm>
          <a:prstGeom prst="line">
            <a:avLst/>
          </a:prstGeom>
          <a:noFill/>
          <a:ln w="9525" cap="rnd">
            <a:solidFill>
              <a:schemeClr val="folHlink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94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44576" y="2085975"/>
            <a:ext cx="4379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1$</a:t>
            </a:r>
          </a:p>
        </p:txBody>
      </p:sp>
      <p:sp>
        <p:nvSpPr>
          <p:cNvPr id="71695" name="Text Box 15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555876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15%</a:t>
            </a:r>
          </a:p>
        </p:txBody>
      </p:sp>
      <p:sp>
        <p:nvSpPr>
          <p:cNvPr id="71696" name="Line 16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348038" y="3003947"/>
            <a:ext cx="26654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97" name="Line 17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013451" y="3003947"/>
            <a:ext cx="14398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98" name="Line 18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74533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699" name="Line 19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651827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00" name="Line 20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348038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01" name="Line 21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442912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02" name="Text Box 2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42862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3</a:t>
            </a:r>
          </a:p>
        </p:txBody>
      </p:sp>
      <p:sp>
        <p:nvSpPr>
          <p:cNvPr id="71703" name="Text Box 23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373814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5</a:t>
            </a:r>
          </a:p>
        </p:txBody>
      </p:sp>
      <p:sp>
        <p:nvSpPr>
          <p:cNvPr id="71704" name="Text Box 2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310439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6</a:t>
            </a:r>
          </a:p>
        </p:txBody>
      </p:sp>
      <p:sp>
        <p:nvSpPr>
          <p:cNvPr id="71705" name="Line 25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7453313" y="3003947"/>
            <a:ext cx="57626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06" name="Line 26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55102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07" name="Text Box 27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3657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4</a:t>
            </a:r>
          </a:p>
        </p:txBody>
      </p:sp>
      <p:sp>
        <p:nvSpPr>
          <p:cNvPr id="71708" name="Line 28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372903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09" name="Text Box 29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7099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1710" name="Line 30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4810125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11" name="Text Box 31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7894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1712" name="Line 32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581818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13" name="Text Box 33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797550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1714" name="Line 34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6826250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1715" name="Text Box 35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805613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1716" name="Text Box 36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059113" y="2518172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Prix</a:t>
            </a:r>
            <a:r>
              <a:rPr lang="fr-CA" baseline="-25000">
                <a:latin typeface="Tahoma" pitchFamily="34" charset="0"/>
              </a:rPr>
              <a:t>2</a:t>
            </a:r>
            <a:endParaRPr lang="fr-CA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00151"/>
            <a:ext cx="814705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On </a:t>
            </a:r>
            <a:r>
              <a:rPr lang="fr-CA" sz="2000" dirty="0"/>
              <a:t>peut donc décomposer les </a:t>
            </a:r>
            <a:r>
              <a:rPr lang="fr-CA" sz="2000" dirty="0" err="1"/>
              <a:t>FMs</a:t>
            </a:r>
            <a:r>
              <a:rPr lang="fr-CA" sz="2000" dirty="0"/>
              <a:t> de la façon suivante:</a:t>
            </a:r>
          </a:p>
        </p:txBody>
      </p:sp>
      <p:graphicFrame>
        <p:nvGraphicFramePr>
          <p:cNvPr id="72708" name="Object 4"/>
          <p:cNvGraphicFramePr>
            <a:graphicFrameLocks noGrp="1" noChangeAspect="1"/>
          </p:cNvGraphicFramePr>
          <p:nvPr>
            <p:ph sz="quarter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92464654"/>
              </p:ext>
            </p:extLst>
          </p:nvPr>
        </p:nvGraphicFramePr>
        <p:xfrm>
          <a:off x="3853735" y="2450426"/>
          <a:ext cx="38068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2" name="Equation" r:id="rId38" imgW="3416040" imgH="444240" progId="Equation.3">
                  <p:embed/>
                </p:oleObj>
              </mc:Choice>
              <mc:Fallback>
                <p:oleObj name="Equation" r:id="rId38" imgW="341604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3735" y="2450426"/>
                        <a:ext cx="38068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58888" y="1924050"/>
            <a:ext cx="2089150" cy="1191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10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258888" y="1762125"/>
            <a:ext cx="0" cy="3238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11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685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12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3480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13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122488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1</a:t>
            </a:r>
            <a:endParaRPr lang="fr-CA">
              <a:latin typeface="Tahoma" pitchFamily="34" charset="0"/>
            </a:endParaRPr>
          </a:p>
        </p:txBody>
      </p:sp>
      <p:sp>
        <p:nvSpPr>
          <p:cNvPr id="72714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203576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2</a:t>
            </a:r>
          </a:p>
        </p:txBody>
      </p:sp>
      <p:sp>
        <p:nvSpPr>
          <p:cNvPr id="72715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647950" y="2235994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16" name="Text Box 1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403350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20%</a:t>
            </a:r>
          </a:p>
        </p:txBody>
      </p:sp>
      <p:sp>
        <p:nvSpPr>
          <p:cNvPr id="72717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1476376" y="2247900"/>
            <a:ext cx="574675" cy="0"/>
          </a:xfrm>
          <a:prstGeom prst="line">
            <a:avLst/>
          </a:prstGeom>
          <a:noFill/>
          <a:ln w="9525" cap="rnd">
            <a:solidFill>
              <a:schemeClr val="folHlink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18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44576" y="2085975"/>
            <a:ext cx="4379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1$</a:t>
            </a:r>
          </a:p>
        </p:txBody>
      </p:sp>
      <p:sp>
        <p:nvSpPr>
          <p:cNvPr id="72719" name="Text Box 15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555876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15%</a:t>
            </a:r>
          </a:p>
        </p:txBody>
      </p:sp>
      <p:sp>
        <p:nvSpPr>
          <p:cNvPr id="72720" name="Line 16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348038" y="3003947"/>
            <a:ext cx="26654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21" name="Line 17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013451" y="3003947"/>
            <a:ext cx="14398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22" name="Line 18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74533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23" name="Line 19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651827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24" name="Line 20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348038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25" name="Line 21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442912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26" name="Text Box 2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42862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3</a:t>
            </a:r>
          </a:p>
        </p:txBody>
      </p:sp>
      <p:sp>
        <p:nvSpPr>
          <p:cNvPr id="72727" name="Text Box 23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373814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5</a:t>
            </a:r>
          </a:p>
        </p:txBody>
      </p:sp>
      <p:sp>
        <p:nvSpPr>
          <p:cNvPr id="72728" name="Text Box 2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310439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6</a:t>
            </a:r>
          </a:p>
        </p:txBody>
      </p:sp>
      <p:sp>
        <p:nvSpPr>
          <p:cNvPr id="72729" name="Line 25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7453313" y="3003947"/>
            <a:ext cx="57626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30" name="Line 26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55102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31" name="Text Box 27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3657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4</a:t>
            </a:r>
          </a:p>
        </p:txBody>
      </p:sp>
      <p:sp>
        <p:nvSpPr>
          <p:cNvPr id="72732" name="Line 28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372903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33" name="Text Box 29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7099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2734" name="Line 30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4810125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35" name="Text Box 31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7894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2736" name="Line 32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581818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37" name="Text Box 33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797550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2738" name="Line 34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6826250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2739" name="Text Box 35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805613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2740" name="Text Box 36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059113" y="2518172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Prix</a:t>
            </a:r>
            <a:r>
              <a:rPr lang="fr-CA" baseline="-25000">
                <a:latin typeface="Tahoma" pitchFamily="34" charset="0"/>
              </a:rPr>
              <a:t>2</a:t>
            </a:r>
            <a:endParaRPr lang="fr-CA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00151"/>
            <a:ext cx="814705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On </a:t>
            </a:r>
            <a:r>
              <a:rPr lang="fr-CA" sz="2000" dirty="0"/>
              <a:t>peut donc décomposer les </a:t>
            </a:r>
            <a:r>
              <a:rPr lang="fr-CA" sz="2000" dirty="0" err="1"/>
              <a:t>FMs</a:t>
            </a:r>
            <a:r>
              <a:rPr lang="fr-CA" sz="2000" dirty="0"/>
              <a:t> de la façon suivante:</a:t>
            </a:r>
          </a:p>
        </p:txBody>
      </p:sp>
      <p:graphicFrame>
        <p:nvGraphicFramePr>
          <p:cNvPr id="73732" name="Object 4"/>
          <p:cNvGraphicFramePr>
            <a:graphicFrameLocks noGrp="1" noChangeAspect="1"/>
          </p:cNvGraphicFramePr>
          <p:nvPr>
            <p:ph sz="quarter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83049721"/>
              </p:ext>
            </p:extLst>
          </p:nvPr>
        </p:nvGraphicFramePr>
        <p:xfrm>
          <a:off x="3894137" y="2420065"/>
          <a:ext cx="38068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1" name="Equation" r:id="rId39" imgW="3416040" imgH="444240" progId="Equation.3">
                  <p:embed/>
                </p:oleObj>
              </mc:Choice>
              <mc:Fallback>
                <p:oleObj name="Equation" r:id="rId39" imgW="341604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137" y="2420065"/>
                        <a:ext cx="38068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65" name="Object 37"/>
          <p:cNvGraphicFramePr>
            <a:graphicFrameLocks noGrp="1" noChangeAspect="1"/>
          </p:cNvGraphicFramePr>
          <p:nvPr>
            <p:ph sz="quarter" idx="3"/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086889175"/>
              </p:ext>
            </p:extLst>
          </p:nvPr>
        </p:nvGraphicFramePr>
        <p:xfrm>
          <a:off x="1150938" y="3605213"/>
          <a:ext cx="514826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2" name="Équation" r:id="rId41" imgW="2133360" imgH="419040" progId="Equation.3">
                  <p:embed/>
                </p:oleObj>
              </mc:Choice>
              <mc:Fallback>
                <p:oleObj name="Équation" r:id="rId41" imgW="213336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3605213"/>
                        <a:ext cx="5148262" cy="1011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258888" y="1924050"/>
            <a:ext cx="2089150" cy="1191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34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258888" y="1762125"/>
            <a:ext cx="0" cy="3238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35" name="Line 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685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36" name="Line 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3480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37" name="Text Box 9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122488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1</a:t>
            </a:r>
            <a:endParaRPr lang="fr-CA">
              <a:latin typeface="Tahoma" pitchFamily="34" charset="0"/>
            </a:endParaRPr>
          </a:p>
        </p:txBody>
      </p:sp>
      <p:sp>
        <p:nvSpPr>
          <p:cNvPr id="73738" name="Text Box 1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203576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2</a:t>
            </a:r>
          </a:p>
        </p:txBody>
      </p:sp>
      <p:sp>
        <p:nvSpPr>
          <p:cNvPr id="73739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2647950" y="2235994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40" name="Text Box 1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03350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20%</a:t>
            </a:r>
          </a:p>
        </p:txBody>
      </p:sp>
      <p:sp>
        <p:nvSpPr>
          <p:cNvPr id="73741" name="Line 1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1476376" y="2247900"/>
            <a:ext cx="574675" cy="0"/>
          </a:xfrm>
          <a:prstGeom prst="line">
            <a:avLst/>
          </a:prstGeom>
          <a:noFill/>
          <a:ln w="9525" cap="rnd">
            <a:solidFill>
              <a:schemeClr val="folHlink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42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044576" y="2085975"/>
            <a:ext cx="4379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1$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555876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15%</a:t>
            </a:r>
          </a:p>
        </p:txBody>
      </p:sp>
      <p:sp>
        <p:nvSpPr>
          <p:cNvPr id="73744" name="Line 16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3348038" y="3003947"/>
            <a:ext cx="26654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45" name="Line 17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6013451" y="3003947"/>
            <a:ext cx="14398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46" name="Line 18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74533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47" name="Line 19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51827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48" name="Line 20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3348038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49" name="Line 21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442912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50" name="Text Box 22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2862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3</a:t>
            </a:r>
          </a:p>
        </p:txBody>
      </p:sp>
      <p:sp>
        <p:nvSpPr>
          <p:cNvPr id="73751" name="Text Box 23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373814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5</a:t>
            </a:r>
          </a:p>
        </p:txBody>
      </p:sp>
      <p:sp>
        <p:nvSpPr>
          <p:cNvPr id="73752" name="Text Box 24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310439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6</a:t>
            </a:r>
          </a:p>
        </p:txBody>
      </p:sp>
      <p:sp>
        <p:nvSpPr>
          <p:cNvPr id="73753" name="Line 25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7453313" y="3003947"/>
            <a:ext cx="57626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54" name="Line 26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55102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55" name="Text Box 27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3657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4</a:t>
            </a:r>
          </a:p>
        </p:txBody>
      </p:sp>
      <p:sp>
        <p:nvSpPr>
          <p:cNvPr id="73756" name="Line 28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372903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57" name="Text Box 29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7099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3758" name="Line 30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4810125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59" name="Text Box 31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47894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3760" name="Line 32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581818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61" name="Text Box 33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797550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3762" name="Line 34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6826250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3763" name="Text Box 35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805613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3764" name="Text Box 36"/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3059113" y="2518172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Prix</a:t>
            </a:r>
            <a:r>
              <a:rPr lang="fr-CA" baseline="-25000">
                <a:latin typeface="Tahoma" pitchFamily="34" charset="0"/>
              </a:rPr>
              <a:t>2</a:t>
            </a:r>
            <a:endParaRPr lang="fr-CA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00151"/>
            <a:ext cx="814705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On </a:t>
            </a:r>
            <a:r>
              <a:rPr lang="fr-CA" sz="2000" dirty="0"/>
              <a:t>peut donc décomposer les </a:t>
            </a:r>
            <a:r>
              <a:rPr lang="fr-CA" sz="2000" dirty="0" err="1"/>
              <a:t>FMs</a:t>
            </a:r>
            <a:r>
              <a:rPr lang="fr-CA" sz="2000" dirty="0"/>
              <a:t> de la façon suivante:</a:t>
            </a:r>
          </a:p>
        </p:txBody>
      </p:sp>
      <p:graphicFrame>
        <p:nvGraphicFramePr>
          <p:cNvPr id="74756" name="Object 4"/>
          <p:cNvGraphicFramePr>
            <a:graphicFrameLocks noGrp="1" noChangeAspect="1"/>
          </p:cNvGraphicFramePr>
          <p:nvPr>
            <p:ph sz="quarter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289872919"/>
              </p:ext>
            </p:extLst>
          </p:nvPr>
        </p:nvGraphicFramePr>
        <p:xfrm>
          <a:off x="3804206" y="2444896"/>
          <a:ext cx="38068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0" name="Equation" r:id="rId39" imgW="3416040" imgH="444240" progId="Equation.3">
                  <p:embed/>
                </p:oleObj>
              </mc:Choice>
              <mc:Fallback>
                <p:oleObj name="Equation" r:id="rId39" imgW="341604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4206" y="2444896"/>
                        <a:ext cx="38068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89" name="Object 37"/>
          <p:cNvGraphicFramePr>
            <a:graphicFrameLocks noGrp="1" noChangeAspect="1"/>
          </p:cNvGraphicFramePr>
          <p:nvPr>
            <p:ph sz="quarter" idx="3"/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2817252"/>
              </p:ext>
            </p:extLst>
          </p:nvPr>
        </p:nvGraphicFramePr>
        <p:xfrm>
          <a:off x="608806" y="3531447"/>
          <a:ext cx="458152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1" name="Équation" r:id="rId41" imgW="2882880" imgH="888840" progId="Equation.3">
                  <p:embed/>
                </p:oleObj>
              </mc:Choice>
              <mc:Fallback>
                <p:oleObj name="Équation" r:id="rId41" imgW="2882880" imgH="8888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06" y="3531447"/>
                        <a:ext cx="4581525" cy="1412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258888" y="1924050"/>
            <a:ext cx="2089150" cy="1191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58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258888" y="1762125"/>
            <a:ext cx="0" cy="3238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59" name="Line 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685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60" name="Line 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3480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61" name="Text Box 9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122488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1</a:t>
            </a:r>
            <a:endParaRPr lang="fr-CA">
              <a:latin typeface="Tahoma" pitchFamily="34" charset="0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203576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2</a:t>
            </a:r>
          </a:p>
        </p:txBody>
      </p:sp>
      <p:sp>
        <p:nvSpPr>
          <p:cNvPr id="74763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2647950" y="2235994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64" name="Text Box 1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03350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20%</a:t>
            </a:r>
          </a:p>
        </p:txBody>
      </p:sp>
      <p:sp>
        <p:nvSpPr>
          <p:cNvPr id="74765" name="Line 1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1476376" y="2247900"/>
            <a:ext cx="574675" cy="0"/>
          </a:xfrm>
          <a:prstGeom prst="line">
            <a:avLst/>
          </a:prstGeom>
          <a:noFill/>
          <a:ln w="9525" cap="rnd">
            <a:solidFill>
              <a:schemeClr val="folHlink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66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044576" y="2085975"/>
            <a:ext cx="4379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schemeClr val="folHlink"/>
                </a:solidFill>
                <a:latin typeface="Tahoma" pitchFamily="34" charset="0"/>
              </a:rPr>
              <a:t>1$</a:t>
            </a:r>
          </a:p>
        </p:txBody>
      </p:sp>
      <p:sp>
        <p:nvSpPr>
          <p:cNvPr id="74767" name="Text Box 1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555876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15%</a:t>
            </a:r>
          </a:p>
        </p:txBody>
      </p:sp>
      <p:sp>
        <p:nvSpPr>
          <p:cNvPr id="74768" name="Line 16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3348038" y="3003947"/>
            <a:ext cx="26654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69" name="Line 17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6013451" y="3003947"/>
            <a:ext cx="14398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70" name="Line 18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74533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71" name="Line 19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51827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72" name="Line 20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3348038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73" name="Line 21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442912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74" name="Text Box 22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2862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3</a:t>
            </a:r>
          </a:p>
        </p:txBody>
      </p:sp>
      <p:sp>
        <p:nvSpPr>
          <p:cNvPr id="74775" name="Text Box 23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373814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5</a:t>
            </a:r>
          </a:p>
        </p:txBody>
      </p:sp>
      <p:sp>
        <p:nvSpPr>
          <p:cNvPr id="74776" name="Text Box 24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310439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6</a:t>
            </a:r>
          </a:p>
        </p:txBody>
      </p:sp>
      <p:sp>
        <p:nvSpPr>
          <p:cNvPr id="74777" name="Line 25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7453313" y="3003947"/>
            <a:ext cx="57626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78" name="Line 26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55102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79" name="Text Box 27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3657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D</a:t>
            </a:r>
            <a:r>
              <a:rPr lang="fr-CA" baseline="-25000">
                <a:latin typeface="Tahoma" pitchFamily="34" charset="0"/>
              </a:rPr>
              <a:t>4</a:t>
            </a:r>
          </a:p>
        </p:txBody>
      </p:sp>
      <p:sp>
        <p:nvSpPr>
          <p:cNvPr id="74780" name="Line 28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372903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81" name="Text Box 29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7099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4782" name="Line 30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4810125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83" name="Text Box 31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47894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4784" name="Line 32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581818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85" name="Text Box 33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797550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4786" name="Line 34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6826250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4787" name="Text Box 35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805613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5%</a:t>
            </a:r>
          </a:p>
        </p:txBody>
      </p:sp>
      <p:sp>
        <p:nvSpPr>
          <p:cNvPr id="74788" name="Text Box 36"/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3059113" y="2518172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Prix</a:t>
            </a:r>
            <a:r>
              <a:rPr lang="fr-CA" baseline="-25000">
                <a:latin typeface="Tahoma" pitchFamily="34" charset="0"/>
              </a:rPr>
              <a:t>2</a:t>
            </a:r>
            <a:endParaRPr lang="fr-CA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 smtClean="0"/>
              <a:t>Action : dividende croissant</a:t>
            </a:r>
            <a:endParaRPr lang="fr-CA" sz="2800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00151"/>
            <a:ext cx="82296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ou </a:t>
            </a:r>
            <a:r>
              <a:rPr lang="fr-CA" sz="2000" dirty="0" smtClean="0"/>
              <a:t>encore, on pourrait décomposer de la façon suivante :</a:t>
            </a:r>
            <a:endParaRPr lang="fr-CA" sz="2000" dirty="0"/>
          </a:p>
        </p:txBody>
      </p:sp>
      <p:sp>
        <p:nvSpPr>
          <p:cNvPr id="69636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258887" y="1924050"/>
            <a:ext cx="3170237" cy="1191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37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58888" y="1762125"/>
            <a:ext cx="0" cy="3238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38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2685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39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3348038" y="1815704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40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22488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D</a:t>
            </a:r>
            <a:r>
              <a:rPr lang="fr-CA" baseline="-25000">
                <a:solidFill>
                  <a:prstClr val="black"/>
                </a:solidFill>
                <a:latin typeface="Tahoma" pitchFamily="34" charset="0"/>
              </a:rPr>
              <a:t>1</a:t>
            </a:r>
            <a:endParaRPr lang="fr-CA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69641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03576" y="2085975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D</a:t>
            </a:r>
            <a:r>
              <a:rPr lang="fr-CA" baseline="-25000">
                <a:solidFill>
                  <a:prstClr val="black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69642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647950" y="2235994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46" name="Text Box 14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555876" y="2194322"/>
            <a:ext cx="66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15%</a:t>
            </a:r>
          </a:p>
        </p:txBody>
      </p:sp>
      <p:sp>
        <p:nvSpPr>
          <p:cNvPr id="69647" name="Line 15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429124" y="3003947"/>
            <a:ext cx="1584325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48" name="Line 16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013451" y="3003947"/>
            <a:ext cx="14398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49" name="Line 17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74533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50" name="Line 18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1827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52" name="Line 20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4429125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53" name="Text Box 21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216566" y="2102247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solidFill>
                  <a:prstClr val="black"/>
                </a:solidFill>
                <a:latin typeface="Tahoma" pitchFamily="34" charset="0"/>
              </a:rPr>
              <a:t>D</a:t>
            </a:r>
            <a:r>
              <a:rPr lang="fr-CA" baseline="-25000" dirty="0">
                <a:solidFill>
                  <a:prstClr val="black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69654" name="Text Box 22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373814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D</a:t>
            </a:r>
            <a:r>
              <a:rPr lang="fr-CA" baseline="-25000">
                <a:solidFill>
                  <a:prstClr val="black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69655" name="Text Box 2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310439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D</a:t>
            </a:r>
            <a:r>
              <a:rPr lang="fr-CA" baseline="-25000">
                <a:solidFill>
                  <a:prstClr val="black"/>
                </a:solidFill>
                <a:latin typeface="Tahoma" pitchFamily="34" charset="0"/>
              </a:rPr>
              <a:t>6</a:t>
            </a:r>
          </a:p>
        </p:txBody>
      </p:sp>
      <p:sp>
        <p:nvSpPr>
          <p:cNvPr id="69656" name="Line 2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7453313" y="3003947"/>
            <a:ext cx="57626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57" name="Line 25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5510213" y="2895600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58" name="Text Box 26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365751" y="3165872"/>
            <a:ext cx="4251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D</a:t>
            </a:r>
            <a:r>
              <a:rPr lang="fr-CA" baseline="-25000">
                <a:solidFill>
                  <a:prstClr val="black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69659" name="Line 27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3647743" y="222877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60" name="Text Box 28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628692" y="218709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5%</a:t>
            </a:r>
          </a:p>
        </p:txBody>
      </p:sp>
      <p:sp>
        <p:nvSpPr>
          <p:cNvPr id="69661" name="Line 29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4810125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62" name="Text Box 30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789488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5%</a:t>
            </a:r>
          </a:p>
        </p:txBody>
      </p:sp>
      <p:sp>
        <p:nvSpPr>
          <p:cNvPr id="69663" name="Line 31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5818189" y="3315891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64" name="Text Box 32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797550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5%</a:t>
            </a:r>
          </a:p>
        </p:txBody>
      </p:sp>
      <p:sp>
        <p:nvSpPr>
          <p:cNvPr id="69665" name="Line 33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6826250" y="3315891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69666" name="Text Box 34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805613" y="3274219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solidFill>
                  <a:prstClr val="black"/>
                </a:solidFill>
                <a:latin typeface="Tahoma" pitchFamily="34" charset="0"/>
              </a:rPr>
              <a:t>5%</a:t>
            </a:r>
          </a:p>
        </p:txBody>
      </p:sp>
      <p:sp>
        <p:nvSpPr>
          <p:cNvPr id="69667" name="Text Box 35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089132" y="3116581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chemeClr val="accent6"/>
                </a:solidFill>
                <a:latin typeface="Tahoma" pitchFamily="34" charset="0"/>
              </a:rPr>
              <a:t>Prix</a:t>
            </a:r>
            <a:r>
              <a:rPr lang="fr-CA" baseline="-25000" dirty="0" smtClean="0">
                <a:solidFill>
                  <a:schemeClr val="accent6"/>
                </a:solidFill>
                <a:latin typeface="Tahoma" pitchFamily="34" charset="0"/>
              </a:rPr>
              <a:t>3</a:t>
            </a:r>
            <a:endParaRPr lang="fr-CA" dirty="0">
              <a:solidFill>
                <a:schemeClr val="accent6"/>
              </a:solidFill>
              <a:latin typeface="Tahoma" pitchFamily="34" charset="0"/>
            </a:endParaRPr>
          </a:p>
        </p:txBody>
      </p:sp>
      <p:sp>
        <p:nvSpPr>
          <p:cNvPr id="33" name="Line 7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4429125" y="1830785"/>
            <a:ext cx="0" cy="2166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graphicFrame>
        <p:nvGraphicFramePr>
          <p:cNvPr id="2" name="Objet 1"/>
          <p:cNvGraphicFramePr>
            <a:graphicFrameLocks noGrp="1" noChangeAspect="1"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4290351683"/>
              </p:ext>
            </p:extLst>
          </p:nvPr>
        </p:nvGraphicFramePr>
        <p:xfrm>
          <a:off x="519113" y="3673475"/>
          <a:ext cx="7869311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2" name="Équation" r:id="rId38" imgW="3251160" imgH="419040" progId="Equation.3">
                  <p:embed/>
                </p:oleObj>
              </mc:Choice>
              <mc:Fallback>
                <p:oleObj name="Équation" r:id="rId38" imgW="3251160" imgH="41904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3673475"/>
                        <a:ext cx="7869311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orme libre 45"/>
          <p:cNvSpPr/>
          <p:nvPr>
            <p:custDataLst>
              <p:tags r:id="rId34"/>
            </p:custDataLst>
          </p:nvPr>
        </p:nvSpPr>
        <p:spPr>
          <a:xfrm>
            <a:off x="4458210" y="3503454"/>
            <a:ext cx="1052004" cy="234304"/>
          </a:xfrm>
          <a:custGeom>
            <a:avLst/>
            <a:gdLst>
              <a:gd name="connsiteX0" fmla="*/ 717452 w 717452"/>
              <a:gd name="connsiteY0" fmla="*/ 0 h 171158"/>
              <a:gd name="connsiteX1" fmla="*/ 379828 w 717452"/>
              <a:gd name="connsiteY1" fmla="*/ 168813 h 171158"/>
              <a:gd name="connsiteX2" fmla="*/ 0 w 717452"/>
              <a:gd name="connsiteY2" fmla="*/ 14068 h 17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452" h="171158">
                <a:moveTo>
                  <a:pt x="717452" y="0"/>
                </a:moveTo>
                <a:cubicBezTo>
                  <a:pt x="608427" y="83234"/>
                  <a:pt x="499403" y="166468"/>
                  <a:pt x="379828" y="168813"/>
                </a:cubicBezTo>
                <a:cubicBezTo>
                  <a:pt x="260253" y="171158"/>
                  <a:pt x="58616" y="157090"/>
                  <a:pt x="0" y="14068"/>
                </a:cubicBezTo>
              </a:path>
            </a:pathLst>
          </a:cu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5" name="Ellipse 40"/>
          <p:cNvSpPr/>
          <p:nvPr>
            <p:custDataLst>
              <p:tags r:id="rId35"/>
            </p:custDataLst>
          </p:nvPr>
        </p:nvSpPr>
        <p:spPr>
          <a:xfrm>
            <a:off x="5357683" y="3074447"/>
            <a:ext cx="2767691" cy="5767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6" name="Rectangle 35"/>
          <p:cNvSpPr/>
          <p:nvPr>
            <p:custDataLst>
              <p:tags r:id="rId36"/>
            </p:custDataLst>
          </p:nvPr>
        </p:nvSpPr>
        <p:spPr>
          <a:xfrm>
            <a:off x="7713538" y="3084480"/>
            <a:ext cx="547954" cy="580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614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Conclusion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00151"/>
            <a:ext cx="8147050" cy="3394472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/>
              <a:t>Le prix des actions, comme le prix des obligations sont déterminés par les </a:t>
            </a:r>
            <a:r>
              <a:rPr lang="fr-CA" sz="2800" dirty="0" err="1">
                <a:solidFill>
                  <a:schemeClr val="accent1"/>
                </a:solidFill>
              </a:rPr>
              <a:t>FMs</a:t>
            </a:r>
            <a:r>
              <a:rPr lang="fr-CA" sz="2800" dirty="0">
                <a:solidFill>
                  <a:schemeClr val="accent1"/>
                </a:solidFill>
              </a:rPr>
              <a:t> </a:t>
            </a:r>
            <a:r>
              <a:rPr lang="fr-CA" sz="2800" dirty="0" smtClean="0">
                <a:solidFill>
                  <a:schemeClr val="accent1"/>
                </a:solidFill>
              </a:rPr>
              <a:t>futurs</a:t>
            </a:r>
            <a:endParaRPr lang="fr-CA" sz="2800" dirty="0"/>
          </a:p>
          <a:p>
            <a:pPr marL="269875" indent="-269875"/>
            <a:endParaRPr lang="fr-CA" sz="2800" dirty="0"/>
          </a:p>
          <a:p>
            <a:pPr marL="0" indent="0">
              <a:buNone/>
            </a:pPr>
            <a:r>
              <a:rPr lang="fr-CA" sz="2800" dirty="0"/>
              <a:t>D’ailleurs, le prix de </a:t>
            </a:r>
            <a:r>
              <a:rPr lang="fr-CA" sz="2800" dirty="0">
                <a:solidFill>
                  <a:schemeClr val="accent1"/>
                </a:solidFill>
              </a:rPr>
              <a:t>tous les actifs</a:t>
            </a:r>
            <a:r>
              <a:rPr lang="fr-CA" sz="2800" dirty="0"/>
              <a:t> est déterminé par les </a:t>
            </a:r>
            <a:r>
              <a:rPr lang="fr-CA" sz="2800" dirty="0" err="1"/>
              <a:t>FMs</a:t>
            </a:r>
            <a:r>
              <a:rPr lang="fr-CA" sz="2800" dirty="0"/>
              <a:t> futurs que l’on </a:t>
            </a:r>
            <a:r>
              <a:rPr lang="fr-CA" sz="2800" dirty="0" smtClean="0"/>
              <a:t>actualise</a:t>
            </a:r>
            <a:endParaRPr lang="fr-CA" sz="2800" dirty="0"/>
          </a:p>
        </p:txBody>
      </p:sp>
      <p:graphicFrame>
        <p:nvGraphicFramePr>
          <p:cNvPr id="75780" name="Object 4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39174776"/>
              </p:ext>
            </p:extLst>
          </p:nvPr>
        </p:nvGraphicFramePr>
        <p:xfrm>
          <a:off x="2483768" y="3651870"/>
          <a:ext cx="35052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3" name="Equation" r:id="rId6" imgW="1218960" imgH="431640" progId="Equation.3">
                  <p:embed/>
                </p:oleObj>
              </mc:Choice>
              <mc:Fallback>
                <p:oleObj name="Equation" r:id="rId6" imgW="121896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651870"/>
                        <a:ext cx="3505200" cy="1241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 smtClean="0"/>
              <a:t>Méthode d’évaluation alternative</a:t>
            </a:r>
            <a:endParaRPr lang="fr-CA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CA" sz="2000" dirty="0" smtClean="0"/>
              <a:t>Actualisation des </a:t>
            </a:r>
            <a:r>
              <a:rPr lang="fr-CA" sz="2000" dirty="0" err="1" smtClean="0"/>
              <a:t>FMs</a:t>
            </a:r>
            <a:r>
              <a:rPr lang="fr-CA" sz="2000" dirty="0" smtClean="0"/>
              <a:t> disponibles aux actionnaires ordinaires</a:t>
            </a:r>
          </a:p>
          <a:p>
            <a:pPr lvl="1"/>
            <a:r>
              <a:rPr lang="fr-CA" sz="2000" dirty="0" smtClean="0"/>
              <a:t>On considère tous les </a:t>
            </a:r>
            <a:r>
              <a:rPr lang="fr-CA" sz="2000" dirty="0" err="1" smtClean="0"/>
              <a:t>FMs</a:t>
            </a:r>
            <a:r>
              <a:rPr lang="fr-CA" sz="2000" dirty="0" smtClean="0"/>
              <a:t> qui reviennent à l’actionnaire (décomposition des bénéfices)</a:t>
            </a:r>
          </a:p>
          <a:p>
            <a:pPr lvl="1"/>
            <a:r>
              <a:rPr lang="fr-CA" sz="2000" dirty="0" smtClean="0"/>
              <a:t>Méthode qui sera couverte dans un cours d’évaluation ultérieur</a:t>
            </a:r>
          </a:p>
          <a:p>
            <a:pPr marL="0" indent="0">
              <a:buNone/>
            </a:pPr>
            <a:r>
              <a:rPr lang="fr-CA" sz="2000" dirty="0" smtClean="0"/>
              <a:t>Méthode d’évaluation par multiple</a:t>
            </a:r>
          </a:p>
          <a:p>
            <a:pPr lvl="1"/>
            <a:r>
              <a:rPr lang="fr-CA" sz="2000" dirty="0" smtClean="0"/>
              <a:t>Les multiples sont une méthode simplifiée d’évaluation demandant moins d’hypothèses (dividende)</a:t>
            </a:r>
          </a:p>
          <a:p>
            <a:pPr lvl="1"/>
            <a:r>
              <a:rPr lang="fr-CA" sz="2000" dirty="0" smtClean="0"/>
              <a:t>Choix des multiples en fonction de certains paramètres pertinents à l’analyse (P/E, P/B, EV/EBIT, EV/EBITDA, P/clic, etc.)</a:t>
            </a:r>
          </a:p>
        </p:txBody>
      </p:sp>
    </p:spTree>
    <p:extLst>
      <p:ext uri="{BB962C8B-B14F-4D97-AF65-F5344CB8AC3E}">
        <p14:creationId xmlns:p14="http://schemas.microsoft.com/office/powerpoint/2010/main" val="350907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/>
            <a:r>
              <a:rPr lang="fr-CA" dirty="0" smtClean="0"/>
              <a:t>Multiple Cours/Bénéfices (P/E)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78800" y="1419918"/>
            <a:ext cx="8186400" cy="3456088"/>
          </a:xfrm>
        </p:spPr>
        <p:txBody>
          <a:bodyPr>
            <a:normAutofit/>
          </a:bodyPr>
          <a:lstStyle/>
          <a:p>
            <a:pPr marL="1079500" indent="-1079500">
              <a:buNone/>
            </a:pPr>
            <a:r>
              <a:rPr lang="fr-CA" dirty="0" smtClean="0"/>
              <a:t>C/B: Combien </a:t>
            </a:r>
            <a:r>
              <a:rPr lang="fr-CA" dirty="0" smtClean="0"/>
              <a:t>de fois paie-t-on les bénéfices des 4 derniers trimestres?</a:t>
            </a:r>
          </a:p>
          <a:p>
            <a:pPr marL="0" indent="0">
              <a:buNone/>
            </a:pPr>
            <a:r>
              <a:rPr lang="fr-CA" sz="2000" u="sng" dirty="0" smtClean="0">
                <a:solidFill>
                  <a:schemeClr val="accent1"/>
                </a:solidFill>
              </a:rPr>
              <a:t>Exemple</a:t>
            </a:r>
            <a:r>
              <a:rPr lang="fr-CA" sz="2000" dirty="0" smtClean="0">
                <a:solidFill>
                  <a:schemeClr val="accent1"/>
                </a:solidFill>
              </a:rPr>
              <a:t>: cours = 90 $, bénéfices = 7,50 $</a:t>
            </a:r>
            <a:r>
              <a:rPr lang="fr-CA" sz="2400" dirty="0" smtClean="0">
                <a:solidFill>
                  <a:schemeClr val="accent1"/>
                </a:solidFill>
              </a:rPr>
              <a:t> </a:t>
            </a:r>
            <a:r>
              <a:rPr lang="fr-CA" sz="1400" dirty="0" smtClean="0">
                <a:solidFill>
                  <a:schemeClr val="accent1"/>
                </a:solidFill>
              </a:rPr>
              <a:t>(2 $ + 1,50 $ + 2,50 $ + 1,50 $)</a:t>
            </a:r>
          </a:p>
          <a:p>
            <a:pPr marL="357188" indent="-357188">
              <a:buNone/>
            </a:pPr>
            <a:r>
              <a:rPr lang="fr-CA" sz="2400" dirty="0" smtClean="0"/>
              <a:t>	</a:t>
            </a:r>
            <a:r>
              <a:rPr lang="fr-CA" sz="2000" dirty="0" smtClean="0"/>
              <a:t>C/B </a:t>
            </a:r>
            <a:r>
              <a:rPr lang="fr-CA" sz="2000" dirty="0" smtClean="0"/>
              <a:t>= 90 $ / 7,50 $ = </a:t>
            </a:r>
            <a:r>
              <a:rPr lang="fr-CA" sz="2000" dirty="0" smtClean="0"/>
              <a:t>12</a:t>
            </a:r>
          </a:p>
          <a:p>
            <a:pPr marL="357188" indent="-357188">
              <a:buNone/>
            </a:pPr>
            <a:endParaRPr lang="fr-CA" sz="2000" dirty="0" smtClean="0"/>
          </a:p>
          <a:p>
            <a:pPr marL="357188" indent="-357188">
              <a:buFont typeface="+mj-lt"/>
              <a:buAutoNum type="arabicParenR"/>
            </a:pPr>
            <a:r>
              <a:rPr lang="fr-CA" sz="2000" dirty="0" smtClean="0"/>
              <a:t>On </a:t>
            </a:r>
            <a:r>
              <a:rPr lang="fr-CA" sz="2000" dirty="0" smtClean="0"/>
              <a:t>compare à la moyenne de l’industrie (ex: 14 </a:t>
            </a:r>
            <a:r>
              <a:rPr lang="fr-CA" sz="2000" dirty="0" smtClean="0"/>
              <a:t>fois)</a:t>
            </a:r>
          </a:p>
          <a:p>
            <a:pPr marL="357188" indent="-357188">
              <a:buFont typeface="+mj-lt"/>
              <a:buAutoNum type="arabicParenR"/>
            </a:pPr>
            <a:r>
              <a:rPr lang="fr-CA" sz="2000" dirty="0" smtClean="0"/>
              <a:t>On </a:t>
            </a:r>
            <a:r>
              <a:rPr lang="fr-CA" sz="2000" dirty="0" smtClean="0"/>
              <a:t>utilise </a:t>
            </a:r>
            <a:r>
              <a:rPr lang="fr-CA" sz="2000" dirty="0" smtClean="0"/>
              <a:t>cette</a:t>
            </a:r>
            <a:r>
              <a:rPr lang="fr-CA" sz="2000" dirty="0" smtClean="0"/>
              <a:t> </a:t>
            </a:r>
            <a:r>
              <a:rPr lang="fr-CA" sz="2000" dirty="0" smtClean="0"/>
              <a:t>moyenne pour la valeur intrinsèque du titre</a:t>
            </a:r>
          </a:p>
          <a:p>
            <a:pPr marL="357188" indent="-357188">
              <a:buNone/>
            </a:pPr>
            <a:r>
              <a:rPr lang="fr-CA" sz="2000" dirty="0"/>
              <a:t>	</a:t>
            </a:r>
            <a:r>
              <a:rPr lang="fr-CA" sz="2000" dirty="0" smtClean="0"/>
              <a:t>Valeur intrinsèque = 			= 14 * 7,50$ = 105$</a:t>
            </a:r>
          </a:p>
          <a:p>
            <a:pPr marL="0" indent="0">
              <a:buNone/>
            </a:pPr>
            <a:endParaRPr lang="fr-CA" dirty="0"/>
          </a:p>
        </p:txBody>
      </p:sp>
      <p:graphicFrame>
        <p:nvGraphicFramePr>
          <p:cNvPr id="4" name="Objet 3"/>
          <p:cNvGraphicFramePr>
            <a:graphicFrameLocks noGrp="1"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41608849"/>
              </p:ext>
            </p:extLst>
          </p:nvPr>
        </p:nvGraphicFramePr>
        <p:xfrm>
          <a:off x="3347864" y="3651870"/>
          <a:ext cx="20066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0" name="Equation" r:id="rId6" imgW="1371600" imgH="393480" progId="Equation.3">
                  <p:embed/>
                </p:oleObj>
              </mc:Choice>
              <mc:Fallback>
                <p:oleObj name="Equation" r:id="rId6" imgW="1371600" imgH="39348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651870"/>
                        <a:ext cx="20066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6752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2175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9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5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2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3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4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5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6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7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8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9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0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2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3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4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6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8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0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4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54F02C9-6C04-8941-98AF-7C66FC1B9807}" vid="{378BFC92-88BE-C343-AA7D-4E1AA329E8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PowerPoint_officiel_HEC_Mtl_16-10_DEMO_1</Template>
  <TotalTime>834</TotalTime>
  <Words>1648</Words>
  <Application>Microsoft Office PowerPoint</Application>
  <PresentationFormat>On-screen Show (16:9)</PresentationFormat>
  <Paragraphs>437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Tahoma</vt:lpstr>
      <vt:lpstr>Thème HEC</vt:lpstr>
      <vt:lpstr>Equation</vt:lpstr>
      <vt:lpstr>Équation</vt:lpstr>
      <vt:lpstr>Chapitre 8: le marché des actions </vt:lpstr>
      <vt:lpstr>Plan de présentation</vt:lpstr>
      <vt:lpstr>Introduction : l’évaluation de titre</vt:lpstr>
      <vt:lpstr>Action: description</vt:lpstr>
      <vt:lpstr>Action: dividende constant</vt:lpstr>
      <vt:lpstr>Action: dividende constant</vt:lpstr>
      <vt:lpstr>Action : dividende constant</vt:lpstr>
      <vt:lpstr>Action : dividende constant</vt:lpstr>
      <vt:lpstr>Action : dividende constant</vt:lpstr>
      <vt:lpstr>Action : dividende constant</vt:lpstr>
      <vt:lpstr>Action : dividende constant</vt:lpstr>
      <vt:lpstr>Action : dividende croissant</vt:lpstr>
      <vt:lpstr>Action : dividende croissant</vt:lpstr>
      <vt:lpstr>Action : dividende croissant</vt:lpstr>
      <vt:lpstr>Action : dividende croissant</vt:lpstr>
      <vt:lpstr>Action: dividende croissant</vt:lpstr>
      <vt:lpstr>Action: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Action: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Action : dividende croissant</vt:lpstr>
      <vt:lpstr>Conclusion</vt:lpstr>
      <vt:lpstr>Méthode d’évaluation alternative</vt:lpstr>
      <vt:lpstr>Multiple Cours/Bénéfices (P/E)</vt:lpstr>
      <vt:lpstr>PowerPoint Presentation</vt:lpstr>
    </vt:vector>
  </TitlesOfParts>
  <Company>HEC Montréal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9: les critères de d’évaluation de projet</dc:title>
  <dc:creator>clihec3</dc:creator>
  <cp:lastModifiedBy>jean-philippe tarte</cp:lastModifiedBy>
  <cp:revision>73</cp:revision>
  <dcterms:created xsi:type="dcterms:W3CDTF">2009-10-06T16:37:55Z</dcterms:created>
  <dcterms:modified xsi:type="dcterms:W3CDTF">2016-05-12T19:08:35Z</dcterms:modified>
</cp:coreProperties>
</file>