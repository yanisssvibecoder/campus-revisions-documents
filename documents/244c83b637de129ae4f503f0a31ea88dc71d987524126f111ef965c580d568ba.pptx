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4.xml" ContentType="application/vnd.openxmlformats-officedocument.theme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6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7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8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9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5" r:id="rId2"/>
    <p:sldMasterId id="2147483697" r:id="rId3"/>
    <p:sldMasterId id="2147483702" r:id="rId4"/>
    <p:sldMasterId id="2147483705" r:id="rId5"/>
    <p:sldMasterId id="2147483707" r:id="rId6"/>
    <p:sldMasterId id="2147483719" r:id="rId7"/>
    <p:sldMasterId id="2147483728" r:id="rId8"/>
    <p:sldMasterId id="2147483740" r:id="rId9"/>
    <p:sldMasterId id="2147483747" r:id="rId10"/>
  </p:sldMasterIdLst>
  <p:notesMasterIdLst>
    <p:notesMasterId r:id="rId55"/>
  </p:notesMasterIdLst>
  <p:sldIdLst>
    <p:sldId id="941" r:id="rId11"/>
    <p:sldId id="285" r:id="rId12"/>
    <p:sldId id="345" r:id="rId13"/>
    <p:sldId id="280" r:id="rId14"/>
    <p:sldId id="489" r:id="rId15"/>
    <p:sldId id="490" r:id="rId16"/>
    <p:sldId id="281" r:id="rId17"/>
    <p:sldId id="943" r:id="rId18"/>
    <p:sldId id="282" r:id="rId19"/>
    <p:sldId id="283" r:id="rId20"/>
    <p:sldId id="921" r:id="rId21"/>
    <p:sldId id="260" r:id="rId22"/>
    <p:sldId id="347" r:id="rId23"/>
    <p:sldId id="430" r:id="rId24"/>
    <p:sldId id="944" r:id="rId25"/>
    <p:sldId id="360" r:id="rId26"/>
    <p:sldId id="309" r:id="rId27"/>
    <p:sldId id="370" r:id="rId28"/>
    <p:sldId id="314" r:id="rId29"/>
    <p:sldId id="872" r:id="rId30"/>
    <p:sldId id="924" r:id="rId31"/>
    <p:sldId id="320" r:id="rId32"/>
    <p:sldId id="339" r:id="rId33"/>
    <p:sldId id="331" r:id="rId34"/>
    <p:sldId id="343" r:id="rId35"/>
    <p:sldId id="922" r:id="rId36"/>
    <p:sldId id="558" r:id="rId37"/>
    <p:sldId id="371" r:id="rId38"/>
    <p:sldId id="325" r:id="rId39"/>
    <p:sldId id="940" r:id="rId40"/>
    <p:sldId id="923" r:id="rId41"/>
    <p:sldId id="273" r:id="rId42"/>
    <p:sldId id="274" r:id="rId43"/>
    <p:sldId id="276" r:id="rId44"/>
    <p:sldId id="271" r:id="rId45"/>
    <p:sldId id="272" r:id="rId46"/>
    <p:sldId id="942" r:id="rId47"/>
    <p:sldId id="416" r:id="rId48"/>
    <p:sldId id="925" r:id="rId49"/>
    <p:sldId id="926" r:id="rId50"/>
    <p:sldId id="927" r:id="rId51"/>
    <p:sldId id="397" r:id="rId52"/>
    <p:sldId id="400" r:id="rId53"/>
    <p:sldId id="398" r:id="rId54"/>
  </p:sldIdLst>
  <p:sldSz cx="12192000" cy="6858000"/>
  <p:notesSz cx="7010400" cy="9296400"/>
  <p:defaultTextStyle>
    <a:defPPr>
      <a:defRPr lang="fr-CA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2E3BED-9E68-447C-B9F1-78046716293D}" v="2" dt="2026-09-13T14:40:28.5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78" autoAdjust="0"/>
    <p:restoredTop sz="95652" autoAdjust="0"/>
  </p:normalViewPr>
  <p:slideViewPr>
    <p:cSldViewPr>
      <p:cViewPr>
        <p:scale>
          <a:sx n="75" d="100"/>
          <a:sy n="75" d="100"/>
        </p:scale>
        <p:origin x="2100" y="7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50" Type="http://schemas.openxmlformats.org/officeDocument/2006/relationships/slide" Target="slides/slide40.xml"/><Relationship Id="rId55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slide" Target="slides/slide43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microsoft.com/office/2015/10/relationships/revisionInfo" Target="revisionInfo.xml"/><Relationship Id="rId19" Type="http://schemas.openxmlformats.org/officeDocument/2006/relationships/slide" Target="slides/slide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presProps" Target="presProp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59" Type="http://schemas.openxmlformats.org/officeDocument/2006/relationships/tableStyles" Target="tableStyles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slide" Target="slides/slide4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Relationship Id="rId57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slide" Target="slides/slide42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élanie Caron-Harris" userId="784ba18a-e74f-420c-a966-05b1322e4383" providerId="ADAL" clId="{2D819EB9-7307-4A86-A40F-5F1833D42680}"/>
    <pc:docChg chg="custSel modSld">
      <pc:chgData name="Mélanie Caron-Harris" userId="784ba18a-e74f-420c-a966-05b1322e4383" providerId="ADAL" clId="{2D819EB9-7307-4A86-A40F-5F1833D42680}" dt="2026-09-13T14:46:49.236" v="77" actId="1076"/>
      <pc:docMkLst>
        <pc:docMk/>
      </pc:docMkLst>
      <pc:sldChg chg="addSp modSp mod">
        <pc:chgData name="Mélanie Caron-Harris" userId="784ba18a-e74f-420c-a966-05b1322e4383" providerId="ADAL" clId="{2D819EB9-7307-4A86-A40F-5F1833D42680}" dt="2026-09-13T14:40:34.176" v="2" actId="115"/>
        <pc:sldMkLst>
          <pc:docMk/>
          <pc:sldMk cId="2719503915" sldId="281"/>
        </pc:sldMkLst>
        <pc:spChg chg="mod">
          <ac:chgData name="Mélanie Caron-Harris" userId="784ba18a-e74f-420c-a966-05b1322e4383" providerId="ADAL" clId="{2D819EB9-7307-4A86-A40F-5F1833D42680}" dt="2026-09-13T14:40:34.176" v="2" actId="115"/>
          <ac:spMkLst>
            <pc:docMk/>
            <pc:sldMk cId="2719503915" sldId="281"/>
            <ac:spMk id="3" creationId="{00000000-0000-0000-0000-000000000000}"/>
          </ac:spMkLst>
        </pc:spChg>
        <pc:picChg chg="add mod">
          <ac:chgData name="Mélanie Caron-Harris" userId="784ba18a-e74f-420c-a966-05b1322e4383" providerId="ADAL" clId="{2D819EB9-7307-4A86-A40F-5F1833D42680}" dt="2026-09-13T14:40:28.531" v="1" actId="1076"/>
          <ac:picMkLst>
            <pc:docMk/>
            <pc:sldMk cId="2719503915" sldId="281"/>
            <ac:picMk id="6" creationId="{5CB951F0-2401-F98E-1588-5D47766C5897}"/>
          </ac:picMkLst>
        </pc:picChg>
      </pc:sldChg>
      <pc:sldChg chg="modSp mod">
        <pc:chgData name="Mélanie Caron-Harris" userId="784ba18a-e74f-420c-a966-05b1322e4383" providerId="ADAL" clId="{2D819EB9-7307-4A86-A40F-5F1833D42680}" dt="2026-09-13T14:44:54.606" v="76" actId="1076"/>
        <pc:sldMkLst>
          <pc:docMk/>
          <pc:sldMk cId="2436977196" sldId="339"/>
        </pc:sldMkLst>
        <pc:spChg chg="mod">
          <ac:chgData name="Mélanie Caron-Harris" userId="784ba18a-e74f-420c-a966-05b1322e4383" providerId="ADAL" clId="{2D819EB9-7307-4A86-A40F-5F1833D42680}" dt="2026-09-13T14:44:54.606" v="76" actId="1076"/>
          <ac:spMkLst>
            <pc:docMk/>
            <pc:sldMk cId="2436977196" sldId="339"/>
            <ac:spMk id="7" creationId="{DBE93C47-FDF1-4415-A795-278DB23F2E57}"/>
          </ac:spMkLst>
        </pc:spChg>
        <pc:spChg chg="mod">
          <ac:chgData name="Mélanie Caron-Harris" userId="784ba18a-e74f-420c-a966-05b1322e4383" providerId="ADAL" clId="{2D819EB9-7307-4A86-A40F-5F1833D42680}" dt="2026-09-13T14:44:35.128" v="72" actId="14100"/>
          <ac:spMkLst>
            <pc:docMk/>
            <pc:sldMk cId="2436977196" sldId="339"/>
            <ac:spMk id="10" creationId="{CD1CA56A-A0EE-4784-BE90-D6814673FA2C}"/>
          </ac:spMkLst>
        </pc:spChg>
        <pc:spChg chg="mod">
          <ac:chgData name="Mélanie Caron-Harris" userId="784ba18a-e74f-420c-a966-05b1322e4383" providerId="ADAL" clId="{2D819EB9-7307-4A86-A40F-5F1833D42680}" dt="2026-09-13T14:44:31.836" v="71" actId="14100"/>
          <ac:spMkLst>
            <pc:docMk/>
            <pc:sldMk cId="2436977196" sldId="339"/>
            <ac:spMk id="12" creationId="{44BE5C66-288F-4226-9DF4-10DED0A2305E}"/>
          </ac:spMkLst>
        </pc:spChg>
        <pc:spChg chg="mod">
          <ac:chgData name="Mélanie Caron-Harris" userId="784ba18a-e74f-420c-a966-05b1322e4383" providerId="ADAL" clId="{2D819EB9-7307-4A86-A40F-5F1833D42680}" dt="2026-09-13T14:44:46.418" v="74" actId="14100"/>
          <ac:spMkLst>
            <pc:docMk/>
            <pc:sldMk cId="2436977196" sldId="339"/>
            <ac:spMk id="16" creationId="{0C9DB0F5-5FEF-4601-8268-FB20488F421F}"/>
          </ac:spMkLst>
        </pc:spChg>
        <pc:spChg chg="mod">
          <ac:chgData name="Mélanie Caron-Harris" userId="784ba18a-e74f-420c-a966-05b1322e4383" providerId="ADAL" clId="{2D819EB9-7307-4A86-A40F-5F1833D42680}" dt="2026-09-13T14:44:14.167" v="69" actId="207"/>
          <ac:spMkLst>
            <pc:docMk/>
            <pc:sldMk cId="2436977196" sldId="339"/>
            <ac:spMk id="22" creationId="{6C3EE411-B88C-486D-B8C1-E2B0159DD7E8}"/>
          </ac:spMkLst>
        </pc:spChg>
      </pc:sldChg>
      <pc:sldChg chg="modSp mod">
        <pc:chgData name="Mélanie Caron-Harris" userId="784ba18a-e74f-420c-a966-05b1322e4383" providerId="ADAL" clId="{2D819EB9-7307-4A86-A40F-5F1833D42680}" dt="2026-09-13T14:42:12.082" v="37" actId="404"/>
        <pc:sldMkLst>
          <pc:docMk/>
          <pc:sldMk cId="3663669012" sldId="347"/>
        </pc:sldMkLst>
        <pc:spChg chg="mod">
          <ac:chgData name="Mélanie Caron-Harris" userId="784ba18a-e74f-420c-a966-05b1322e4383" providerId="ADAL" clId="{2D819EB9-7307-4A86-A40F-5F1833D42680}" dt="2026-09-13T14:42:12.082" v="37" actId="404"/>
          <ac:spMkLst>
            <pc:docMk/>
            <pc:sldMk cId="3663669012" sldId="347"/>
            <ac:spMk id="3" creationId="{00000000-0000-0000-0000-000000000000}"/>
          </ac:spMkLst>
        </pc:spChg>
        <pc:spChg chg="mod">
          <ac:chgData name="Mélanie Caron-Harris" userId="784ba18a-e74f-420c-a966-05b1322e4383" providerId="ADAL" clId="{2D819EB9-7307-4A86-A40F-5F1833D42680}" dt="2026-09-13T14:41:54.677" v="33" actId="14100"/>
          <ac:spMkLst>
            <pc:docMk/>
            <pc:sldMk cId="3663669012" sldId="347"/>
            <ac:spMk id="5" creationId="{1927A8AB-4A1F-449B-A4C4-31FCBC0AA732}"/>
          </ac:spMkLst>
        </pc:spChg>
        <pc:spChg chg="mod">
          <ac:chgData name="Mélanie Caron-Harris" userId="784ba18a-e74f-420c-a966-05b1322e4383" providerId="ADAL" clId="{2D819EB9-7307-4A86-A40F-5F1833D42680}" dt="2026-09-13T14:42:00.124" v="34" actId="14100"/>
          <ac:spMkLst>
            <pc:docMk/>
            <pc:sldMk cId="3663669012" sldId="347"/>
            <ac:spMk id="6" creationId="{E4366770-D1E6-E944-97D6-A7D0EB867864}"/>
          </ac:spMkLst>
        </pc:spChg>
        <pc:spChg chg="mod">
          <ac:chgData name="Mélanie Caron-Harris" userId="784ba18a-e74f-420c-a966-05b1322e4383" providerId="ADAL" clId="{2D819EB9-7307-4A86-A40F-5F1833D42680}" dt="2026-09-13T14:42:05.556" v="35" actId="1076"/>
          <ac:spMkLst>
            <pc:docMk/>
            <pc:sldMk cId="3663669012" sldId="347"/>
            <ac:spMk id="13" creationId="{C497822F-9EFB-E838-B509-8DBFFF414BDF}"/>
          </ac:spMkLst>
        </pc:spChg>
      </pc:sldChg>
      <pc:sldChg chg="modSp mod">
        <pc:chgData name="Mélanie Caron-Harris" userId="784ba18a-e74f-420c-a966-05b1322e4383" providerId="ADAL" clId="{2D819EB9-7307-4A86-A40F-5F1833D42680}" dt="2026-09-13T14:43:22.843" v="55" actId="207"/>
        <pc:sldMkLst>
          <pc:docMk/>
          <pc:sldMk cId="121511758" sldId="924"/>
        </pc:sldMkLst>
        <pc:spChg chg="mod">
          <ac:chgData name="Mélanie Caron-Harris" userId="784ba18a-e74f-420c-a966-05b1322e4383" providerId="ADAL" clId="{2D819EB9-7307-4A86-A40F-5F1833D42680}" dt="2026-09-13T14:43:22.843" v="55" actId="207"/>
          <ac:spMkLst>
            <pc:docMk/>
            <pc:sldMk cId="121511758" sldId="924"/>
            <ac:spMk id="3" creationId="{3DB1B030-E136-D79F-12B3-996A6294A35C}"/>
          </ac:spMkLst>
        </pc:spChg>
      </pc:sldChg>
      <pc:sldChg chg="modSp mod">
        <pc:chgData name="Mélanie Caron-Harris" userId="784ba18a-e74f-420c-a966-05b1322e4383" providerId="ADAL" clId="{2D819EB9-7307-4A86-A40F-5F1833D42680}" dt="2026-09-13T14:46:49.236" v="77" actId="1076"/>
        <pc:sldMkLst>
          <pc:docMk/>
          <pc:sldMk cId="3710590618" sldId="926"/>
        </pc:sldMkLst>
        <pc:spChg chg="mod">
          <ac:chgData name="Mélanie Caron-Harris" userId="784ba18a-e74f-420c-a966-05b1322e4383" providerId="ADAL" clId="{2D819EB9-7307-4A86-A40F-5F1833D42680}" dt="2026-09-13T14:46:49.236" v="77" actId="1076"/>
          <ac:spMkLst>
            <pc:docMk/>
            <pc:sldMk cId="3710590618" sldId="926"/>
            <ac:spMk id="4" creationId="{AE9CEB2D-E5DD-43B7-BDEE-90F6118807CC}"/>
          </ac:spMkLst>
        </pc:spChg>
      </pc:sldChg>
      <pc:sldChg chg="modSp mod">
        <pc:chgData name="Mélanie Caron-Harris" userId="784ba18a-e74f-420c-a966-05b1322e4383" providerId="ADAL" clId="{2D819EB9-7307-4A86-A40F-5F1833D42680}" dt="2026-09-13T14:41:11.046" v="26" actId="20577"/>
        <pc:sldMkLst>
          <pc:docMk/>
          <pc:sldMk cId="576302035" sldId="943"/>
        </pc:sldMkLst>
        <pc:spChg chg="mod">
          <ac:chgData name="Mélanie Caron-Harris" userId="784ba18a-e74f-420c-a966-05b1322e4383" providerId="ADAL" clId="{2D819EB9-7307-4A86-A40F-5F1833D42680}" dt="2026-09-13T14:41:11.046" v="26" actId="20577"/>
          <ac:spMkLst>
            <pc:docMk/>
            <pc:sldMk cId="576302035" sldId="943"/>
            <ac:spMk id="10" creationId="{A5DD6AFB-F66D-054D-CBD7-3312B7CB2F25}"/>
          </ac:spMkLst>
        </pc:spChg>
      </pc:sldChg>
      <pc:sldChg chg="modSp mod">
        <pc:chgData name="Mélanie Caron-Harris" userId="784ba18a-e74f-420c-a966-05b1322e4383" providerId="ADAL" clId="{2D819EB9-7307-4A86-A40F-5F1833D42680}" dt="2026-09-13T14:42:43.170" v="54" actId="313"/>
        <pc:sldMkLst>
          <pc:docMk/>
          <pc:sldMk cId="3350785733" sldId="944"/>
        </pc:sldMkLst>
        <pc:spChg chg="mod">
          <ac:chgData name="Mélanie Caron-Harris" userId="784ba18a-e74f-420c-a966-05b1322e4383" providerId="ADAL" clId="{2D819EB9-7307-4A86-A40F-5F1833D42680}" dt="2026-09-13T14:42:43.170" v="54" actId="313"/>
          <ac:spMkLst>
            <pc:docMk/>
            <pc:sldMk cId="3350785733" sldId="944"/>
            <ac:spMk id="9" creationId="{910BF665-CC5A-09C7-4BF8-A6394B33A03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9757749875860118E-2"/>
          <c:y val="6.8388599312409898E-2"/>
          <c:w val="0.87878787878788078"/>
          <c:h val="0.81575994346860503"/>
        </c:manualLayout>
      </c:layout>
      <c:scatterChart>
        <c:scatterStyle val="smoothMarker"/>
        <c:varyColors val="0"/>
        <c:ser>
          <c:idx val="1"/>
          <c:order val="0"/>
          <c:tx>
            <c:strRef>
              <c:f>'Données du graph'!$D$12</c:f>
              <c:strCache>
                <c:ptCount val="1"/>
                <c:pt idx="0">
                  <c:v>Obligation</c:v>
                </c:pt>
              </c:strCache>
            </c:strRef>
          </c:tx>
          <c:marker>
            <c:symbol val="none"/>
          </c:marker>
          <c:xVal>
            <c:numRef>
              <c:f>'Données du graph'!$B$13:$B$208</c:f>
              <c:numCache>
                <c:formatCode>0.00%</c:formatCode>
                <c:ptCount val="196"/>
                <c:pt idx="0">
                  <c:v>1.0000000000000007E-2</c:v>
                </c:pt>
                <c:pt idx="1">
                  <c:v>1.2000000000000002E-2</c:v>
                </c:pt>
                <c:pt idx="2">
                  <c:v>1.4000000000000002E-2</c:v>
                </c:pt>
                <c:pt idx="3">
                  <c:v>1.6000000000000025E-2</c:v>
                </c:pt>
                <c:pt idx="4">
                  <c:v>1.8000000000000002E-2</c:v>
                </c:pt>
                <c:pt idx="5">
                  <c:v>2.0000000000000014E-2</c:v>
                </c:pt>
                <c:pt idx="6">
                  <c:v>2.2000000000000002E-2</c:v>
                </c:pt>
                <c:pt idx="7">
                  <c:v>2.4000000000000004E-2</c:v>
                </c:pt>
                <c:pt idx="8">
                  <c:v>2.6000000000000002E-2</c:v>
                </c:pt>
                <c:pt idx="9">
                  <c:v>2.8000000000000004E-2</c:v>
                </c:pt>
                <c:pt idx="10">
                  <c:v>3.0000000000000006E-2</c:v>
                </c:pt>
                <c:pt idx="11">
                  <c:v>3.2000000000000049E-2</c:v>
                </c:pt>
                <c:pt idx="12">
                  <c:v>3.4000000000000002E-2</c:v>
                </c:pt>
                <c:pt idx="13">
                  <c:v>3.6000000000000004E-2</c:v>
                </c:pt>
                <c:pt idx="14">
                  <c:v>3.8000000000000006E-2</c:v>
                </c:pt>
                <c:pt idx="15">
                  <c:v>4.0000000000000029E-2</c:v>
                </c:pt>
                <c:pt idx="16">
                  <c:v>4.200000000000003E-2</c:v>
                </c:pt>
                <c:pt idx="17">
                  <c:v>4.4000000000000004E-2</c:v>
                </c:pt>
                <c:pt idx="18">
                  <c:v>4.6000000000000006E-2</c:v>
                </c:pt>
                <c:pt idx="19">
                  <c:v>4.8000000000000008E-2</c:v>
                </c:pt>
                <c:pt idx="20">
                  <c:v>5.000000000000001E-2</c:v>
                </c:pt>
                <c:pt idx="21">
                  <c:v>5.2000000000000005E-2</c:v>
                </c:pt>
                <c:pt idx="22">
                  <c:v>5.4000000000000006E-2</c:v>
                </c:pt>
                <c:pt idx="23">
                  <c:v>5.6000000000000008E-2</c:v>
                </c:pt>
                <c:pt idx="24">
                  <c:v>5.800000000000001E-2</c:v>
                </c:pt>
                <c:pt idx="25">
                  <c:v>6.0000000000000039E-2</c:v>
                </c:pt>
                <c:pt idx="26">
                  <c:v>6.2000000000000041E-2</c:v>
                </c:pt>
                <c:pt idx="27">
                  <c:v>6.4000000000000126E-2</c:v>
                </c:pt>
                <c:pt idx="28">
                  <c:v>6.6000000000000003E-2</c:v>
                </c:pt>
                <c:pt idx="29">
                  <c:v>6.8000000000000033E-2</c:v>
                </c:pt>
                <c:pt idx="30">
                  <c:v>7.0000000000000034E-2</c:v>
                </c:pt>
                <c:pt idx="31">
                  <c:v>7.2000000000000008E-2</c:v>
                </c:pt>
                <c:pt idx="32">
                  <c:v>7.400000000000001E-2</c:v>
                </c:pt>
                <c:pt idx="33">
                  <c:v>7.6000000000000012E-2</c:v>
                </c:pt>
                <c:pt idx="34">
                  <c:v>7.8000000000000028E-2</c:v>
                </c:pt>
                <c:pt idx="35">
                  <c:v>8.0000000000000057E-2</c:v>
                </c:pt>
                <c:pt idx="36">
                  <c:v>8.2000000000000003E-2</c:v>
                </c:pt>
                <c:pt idx="37">
                  <c:v>8.4000000000000061E-2</c:v>
                </c:pt>
                <c:pt idx="38">
                  <c:v>8.6000000000000035E-2</c:v>
                </c:pt>
                <c:pt idx="39">
                  <c:v>8.8000000000000078E-2</c:v>
                </c:pt>
                <c:pt idx="40">
                  <c:v>9.0000000000000038E-2</c:v>
                </c:pt>
                <c:pt idx="41">
                  <c:v>9.2000000000000026E-2</c:v>
                </c:pt>
                <c:pt idx="42">
                  <c:v>9.4000000000000042E-2</c:v>
                </c:pt>
                <c:pt idx="43">
                  <c:v>9.6000000000000016E-2</c:v>
                </c:pt>
                <c:pt idx="44">
                  <c:v>9.800000000000024E-2</c:v>
                </c:pt>
                <c:pt idx="45">
                  <c:v>0.1</c:v>
                </c:pt>
                <c:pt idx="46">
                  <c:v>0.10199999999999998</c:v>
                </c:pt>
                <c:pt idx="47">
                  <c:v>0.10400000000000002</c:v>
                </c:pt>
                <c:pt idx="48">
                  <c:v>0.10600000000000002</c:v>
                </c:pt>
                <c:pt idx="49">
                  <c:v>0.10800000000000012</c:v>
                </c:pt>
                <c:pt idx="50">
                  <c:v>0.11000000000000001</c:v>
                </c:pt>
                <c:pt idx="51">
                  <c:v>0.11200000000000002</c:v>
                </c:pt>
                <c:pt idx="52">
                  <c:v>0.11400000000000002</c:v>
                </c:pt>
                <c:pt idx="53">
                  <c:v>0.11600000000000003</c:v>
                </c:pt>
                <c:pt idx="54">
                  <c:v>0.11799999999999999</c:v>
                </c:pt>
                <c:pt idx="55">
                  <c:v>0.12000000000000002</c:v>
                </c:pt>
                <c:pt idx="56">
                  <c:v>0.12200000000000009</c:v>
                </c:pt>
                <c:pt idx="57">
                  <c:v>0.12400000000000012</c:v>
                </c:pt>
                <c:pt idx="58">
                  <c:v>0.126</c:v>
                </c:pt>
                <c:pt idx="59">
                  <c:v>0.128</c:v>
                </c:pt>
                <c:pt idx="60">
                  <c:v>0.13</c:v>
                </c:pt>
                <c:pt idx="61">
                  <c:v>0.13200000000000001</c:v>
                </c:pt>
                <c:pt idx="62">
                  <c:v>0.13400000000000001</c:v>
                </c:pt>
                <c:pt idx="63">
                  <c:v>0.13600000000000001</c:v>
                </c:pt>
                <c:pt idx="64">
                  <c:v>0.13800000000000001</c:v>
                </c:pt>
                <c:pt idx="65">
                  <c:v>0.14000000000000001</c:v>
                </c:pt>
                <c:pt idx="66">
                  <c:v>0.14200000000000004</c:v>
                </c:pt>
                <c:pt idx="67">
                  <c:v>0.14400000000000004</c:v>
                </c:pt>
                <c:pt idx="68">
                  <c:v>0.14600000000000021</c:v>
                </c:pt>
                <c:pt idx="69">
                  <c:v>0.14800000000000021</c:v>
                </c:pt>
                <c:pt idx="70">
                  <c:v>0.15000000000000024</c:v>
                </c:pt>
                <c:pt idx="71">
                  <c:v>0.15200000000000041</c:v>
                </c:pt>
                <c:pt idx="72">
                  <c:v>0.15400000000000041</c:v>
                </c:pt>
                <c:pt idx="73">
                  <c:v>0.15600000000000044</c:v>
                </c:pt>
                <c:pt idx="74">
                  <c:v>0.15800000000000047</c:v>
                </c:pt>
                <c:pt idx="75">
                  <c:v>0.16000000000000003</c:v>
                </c:pt>
                <c:pt idx="76">
                  <c:v>0.16200000000000003</c:v>
                </c:pt>
                <c:pt idx="77">
                  <c:v>0.16400000000000003</c:v>
                </c:pt>
                <c:pt idx="78">
                  <c:v>0.16600000000000004</c:v>
                </c:pt>
                <c:pt idx="79">
                  <c:v>0.16800000000000004</c:v>
                </c:pt>
                <c:pt idx="80">
                  <c:v>0.17</c:v>
                </c:pt>
                <c:pt idx="81">
                  <c:v>0.17200000000000001</c:v>
                </c:pt>
                <c:pt idx="82">
                  <c:v>0.17400000000000004</c:v>
                </c:pt>
                <c:pt idx="83">
                  <c:v>0.17600000000000021</c:v>
                </c:pt>
                <c:pt idx="84">
                  <c:v>0.17800000000000021</c:v>
                </c:pt>
                <c:pt idx="85">
                  <c:v>0.18000000000000024</c:v>
                </c:pt>
                <c:pt idx="86">
                  <c:v>0.18200000000000024</c:v>
                </c:pt>
                <c:pt idx="87">
                  <c:v>0.18400000000000041</c:v>
                </c:pt>
                <c:pt idx="88">
                  <c:v>0.18600000000000044</c:v>
                </c:pt>
                <c:pt idx="89">
                  <c:v>0.18800000000000044</c:v>
                </c:pt>
                <c:pt idx="90">
                  <c:v>0.19000000000000003</c:v>
                </c:pt>
                <c:pt idx="91">
                  <c:v>0.19200000000000003</c:v>
                </c:pt>
                <c:pt idx="92">
                  <c:v>0.19400000000000003</c:v>
                </c:pt>
                <c:pt idx="93">
                  <c:v>0.19600000000000004</c:v>
                </c:pt>
                <c:pt idx="94">
                  <c:v>0.19800000000000004</c:v>
                </c:pt>
                <c:pt idx="95">
                  <c:v>0.2</c:v>
                </c:pt>
                <c:pt idx="96">
                  <c:v>0.20200000000000001</c:v>
                </c:pt>
                <c:pt idx="97">
                  <c:v>0.20400000000000001</c:v>
                </c:pt>
                <c:pt idx="98">
                  <c:v>0.20600000000000004</c:v>
                </c:pt>
                <c:pt idx="99">
                  <c:v>0.20800000000000021</c:v>
                </c:pt>
                <c:pt idx="100">
                  <c:v>0.21000000000000021</c:v>
                </c:pt>
                <c:pt idx="101">
                  <c:v>0.21200000000000024</c:v>
                </c:pt>
                <c:pt idx="102">
                  <c:v>0.21400000000000041</c:v>
                </c:pt>
                <c:pt idx="103">
                  <c:v>0.21600000000000041</c:v>
                </c:pt>
                <c:pt idx="104">
                  <c:v>0.21800000000000044</c:v>
                </c:pt>
                <c:pt idx="105">
                  <c:v>0.22000000000000003</c:v>
                </c:pt>
                <c:pt idx="106">
                  <c:v>0.22200000000000003</c:v>
                </c:pt>
                <c:pt idx="107">
                  <c:v>0.22400000000000003</c:v>
                </c:pt>
                <c:pt idx="108">
                  <c:v>0.22600000000000003</c:v>
                </c:pt>
                <c:pt idx="109">
                  <c:v>0.22800000000000004</c:v>
                </c:pt>
                <c:pt idx="110">
                  <c:v>0.23</c:v>
                </c:pt>
                <c:pt idx="111">
                  <c:v>0.23200000000000001</c:v>
                </c:pt>
                <c:pt idx="112">
                  <c:v>0.23400000000000001</c:v>
                </c:pt>
                <c:pt idx="113">
                  <c:v>0.23600000000000004</c:v>
                </c:pt>
                <c:pt idx="114">
                  <c:v>0.23800000000000004</c:v>
                </c:pt>
                <c:pt idx="115">
                  <c:v>0.24000000000000021</c:v>
                </c:pt>
                <c:pt idx="116">
                  <c:v>0.24200000000000021</c:v>
                </c:pt>
                <c:pt idx="117">
                  <c:v>0.24400000000000024</c:v>
                </c:pt>
                <c:pt idx="118">
                  <c:v>0.24600000000000041</c:v>
                </c:pt>
                <c:pt idx="119">
                  <c:v>0.24800000000000041</c:v>
                </c:pt>
                <c:pt idx="120">
                  <c:v>0.25</c:v>
                </c:pt>
                <c:pt idx="121">
                  <c:v>0.252</c:v>
                </c:pt>
                <c:pt idx="122">
                  <c:v>0.254</c:v>
                </c:pt>
                <c:pt idx="123">
                  <c:v>0.25600000000000001</c:v>
                </c:pt>
                <c:pt idx="124">
                  <c:v>0.25800000000000001</c:v>
                </c:pt>
                <c:pt idx="125">
                  <c:v>0.26</c:v>
                </c:pt>
                <c:pt idx="126">
                  <c:v>0.26200000000000001</c:v>
                </c:pt>
                <c:pt idx="127">
                  <c:v>0.26400000000000001</c:v>
                </c:pt>
                <c:pt idx="128">
                  <c:v>0.26600000000000001</c:v>
                </c:pt>
                <c:pt idx="129">
                  <c:v>0.26800000000000002</c:v>
                </c:pt>
                <c:pt idx="130">
                  <c:v>0.27</c:v>
                </c:pt>
                <c:pt idx="131">
                  <c:v>0.27200000000000002</c:v>
                </c:pt>
                <c:pt idx="132">
                  <c:v>0.27400000000000002</c:v>
                </c:pt>
                <c:pt idx="133">
                  <c:v>0.27600000000000002</c:v>
                </c:pt>
                <c:pt idx="134">
                  <c:v>0.27800000000000002</c:v>
                </c:pt>
                <c:pt idx="135">
                  <c:v>0.28000000000000008</c:v>
                </c:pt>
                <c:pt idx="136">
                  <c:v>0.28200000000000008</c:v>
                </c:pt>
                <c:pt idx="137">
                  <c:v>0.28400000000000031</c:v>
                </c:pt>
                <c:pt idx="138">
                  <c:v>0.28600000000000031</c:v>
                </c:pt>
                <c:pt idx="139">
                  <c:v>0.28800000000000031</c:v>
                </c:pt>
                <c:pt idx="140">
                  <c:v>0.29000000000000031</c:v>
                </c:pt>
                <c:pt idx="141">
                  <c:v>0.29200000000000031</c:v>
                </c:pt>
                <c:pt idx="142">
                  <c:v>0.29400000000000032</c:v>
                </c:pt>
                <c:pt idx="143">
                  <c:v>0.29600000000000032</c:v>
                </c:pt>
                <c:pt idx="144">
                  <c:v>0.29800000000000032</c:v>
                </c:pt>
                <c:pt idx="145">
                  <c:v>0.30000000000000032</c:v>
                </c:pt>
                <c:pt idx="146">
                  <c:v>0.30200000000000032</c:v>
                </c:pt>
                <c:pt idx="147">
                  <c:v>0.30400000000000038</c:v>
                </c:pt>
                <c:pt idx="148">
                  <c:v>0.30600000000000038</c:v>
                </c:pt>
                <c:pt idx="149">
                  <c:v>0.30800000000000038</c:v>
                </c:pt>
                <c:pt idx="150">
                  <c:v>0.31000000000000089</c:v>
                </c:pt>
                <c:pt idx="151">
                  <c:v>0.31200000000000089</c:v>
                </c:pt>
                <c:pt idx="152">
                  <c:v>0.31400000000000089</c:v>
                </c:pt>
                <c:pt idx="153">
                  <c:v>0.31600000000000095</c:v>
                </c:pt>
                <c:pt idx="154">
                  <c:v>0.318000000000001</c:v>
                </c:pt>
                <c:pt idx="155">
                  <c:v>0.32000000000000101</c:v>
                </c:pt>
                <c:pt idx="156">
                  <c:v>0.32200000000000101</c:v>
                </c:pt>
                <c:pt idx="157">
                  <c:v>0.32400000000000101</c:v>
                </c:pt>
                <c:pt idx="158">
                  <c:v>0.32600000000000101</c:v>
                </c:pt>
                <c:pt idx="159">
                  <c:v>0.32800000000000101</c:v>
                </c:pt>
                <c:pt idx="160">
                  <c:v>0.33000000000000113</c:v>
                </c:pt>
                <c:pt idx="161">
                  <c:v>0.33200000000000113</c:v>
                </c:pt>
                <c:pt idx="162">
                  <c:v>0.33400000000000113</c:v>
                </c:pt>
                <c:pt idx="163">
                  <c:v>0.33600000000000113</c:v>
                </c:pt>
                <c:pt idx="164">
                  <c:v>0.33800000000000113</c:v>
                </c:pt>
                <c:pt idx="165">
                  <c:v>0.34000000000000008</c:v>
                </c:pt>
                <c:pt idx="166">
                  <c:v>0.34200000000000014</c:v>
                </c:pt>
                <c:pt idx="167">
                  <c:v>0.34400000000000014</c:v>
                </c:pt>
                <c:pt idx="168">
                  <c:v>0.34600000000000036</c:v>
                </c:pt>
                <c:pt idx="169">
                  <c:v>0.34800000000000036</c:v>
                </c:pt>
                <c:pt idx="170">
                  <c:v>0.35000000000000031</c:v>
                </c:pt>
                <c:pt idx="171">
                  <c:v>0.35200000000000031</c:v>
                </c:pt>
                <c:pt idx="172">
                  <c:v>0.35400000000000031</c:v>
                </c:pt>
                <c:pt idx="173">
                  <c:v>0.35600000000000032</c:v>
                </c:pt>
                <c:pt idx="174">
                  <c:v>0.35800000000000032</c:v>
                </c:pt>
                <c:pt idx="175">
                  <c:v>0.36000000000000032</c:v>
                </c:pt>
                <c:pt idx="176">
                  <c:v>0.36200000000000032</c:v>
                </c:pt>
                <c:pt idx="177">
                  <c:v>0.36400000000000032</c:v>
                </c:pt>
                <c:pt idx="178">
                  <c:v>0.36600000000000038</c:v>
                </c:pt>
                <c:pt idx="179">
                  <c:v>0.36800000000000038</c:v>
                </c:pt>
                <c:pt idx="180">
                  <c:v>0.37000000000000038</c:v>
                </c:pt>
                <c:pt idx="181">
                  <c:v>0.37200000000000089</c:v>
                </c:pt>
                <c:pt idx="182">
                  <c:v>0.37400000000000089</c:v>
                </c:pt>
                <c:pt idx="183">
                  <c:v>0.37600000000000089</c:v>
                </c:pt>
                <c:pt idx="184">
                  <c:v>0.37800000000000089</c:v>
                </c:pt>
                <c:pt idx="185">
                  <c:v>0.380000000000001</c:v>
                </c:pt>
                <c:pt idx="186">
                  <c:v>0.38200000000000101</c:v>
                </c:pt>
                <c:pt idx="187">
                  <c:v>0.38400000000000101</c:v>
                </c:pt>
                <c:pt idx="188">
                  <c:v>0.38600000000000101</c:v>
                </c:pt>
                <c:pt idx="189">
                  <c:v>0.38800000000000101</c:v>
                </c:pt>
                <c:pt idx="190">
                  <c:v>0.39000000000000101</c:v>
                </c:pt>
                <c:pt idx="191">
                  <c:v>0.39200000000000113</c:v>
                </c:pt>
                <c:pt idx="192">
                  <c:v>0.39400000000000113</c:v>
                </c:pt>
                <c:pt idx="193">
                  <c:v>0.39600000000000113</c:v>
                </c:pt>
                <c:pt idx="194">
                  <c:v>0.39800000000000113</c:v>
                </c:pt>
                <c:pt idx="195">
                  <c:v>0.4</c:v>
                </c:pt>
              </c:numCache>
            </c:numRef>
          </c:xVal>
          <c:yVal>
            <c:numRef>
              <c:f>'Données du graph'!$D$13:$D$208</c:f>
              <c:numCache>
                <c:formatCode>_-* #,##0.00\ "$"_-;_-* #,##0.00\ "$"\-;_-* "-"??\ "$"_-;_-@_-</c:formatCode>
                <c:ptCount val="196"/>
                <c:pt idx="0">
                  <c:v>1451.2573244353146</c:v>
                </c:pt>
                <c:pt idx="1">
                  <c:v>1423.5087264289477</c:v>
                </c:pt>
                <c:pt idx="2">
                  <c:v>1396.3889542562144</c:v>
                </c:pt>
                <c:pt idx="3">
                  <c:v>1369.8826324192048</c:v>
                </c:pt>
                <c:pt idx="4">
                  <c:v>1343.9747817755601</c:v>
                </c:pt>
                <c:pt idx="5">
                  <c:v>1318.6508088644148</c:v>
                </c:pt>
                <c:pt idx="6">
                  <c:v>1293.8964955311028</c:v>
                </c:pt>
                <c:pt idx="7">
                  <c:v>1269.6979888421297</c:v>
                </c:pt>
                <c:pt idx="8">
                  <c:v>1246.0417912819332</c:v>
                </c:pt>
                <c:pt idx="9">
                  <c:v>1222.9147512233001</c:v>
                </c:pt>
                <c:pt idx="10">
                  <c:v>1200.304053663448</c:v>
                </c:pt>
                <c:pt idx="11">
                  <c:v>1178.1972112182348</c:v>
                </c:pt>
                <c:pt idx="12">
                  <c:v>1156.58205536685</c:v>
                </c:pt>
                <c:pt idx="13">
                  <c:v>1135.4467279399189</c:v>
                </c:pt>
                <c:pt idx="14">
                  <c:v>1114.7796728439471</c:v>
                </c:pt>
                <c:pt idx="15">
                  <c:v>1094.5696280152888</c:v>
                </c:pt>
                <c:pt idx="16">
                  <c:v>1074.8056175970487</c:v>
                </c:pt>
                <c:pt idx="17">
                  <c:v>1055.476944332524</c:v>
                </c:pt>
                <c:pt idx="18">
                  <c:v>1036.5731821689528</c:v>
                </c:pt>
                <c:pt idx="19">
                  <c:v>1018.0841690655554</c:v>
                </c:pt>
                <c:pt idx="20">
                  <c:v>1000</c:v>
                </c:pt>
                <c:pt idx="21">
                  <c:v>982.31102016763339</c:v>
                </c:pt>
                <c:pt idx="22">
                  <c:v>965.00781836795056</c:v>
                </c:pt>
                <c:pt idx="23">
                  <c:v>948.08122057296669</c:v>
                </c:pt>
                <c:pt idx="24">
                  <c:v>931.52228367229839</c:v>
                </c:pt>
                <c:pt idx="25">
                  <c:v>915.32228938991511</c:v>
                </c:pt>
                <c:pt idx="26">
                  <c:v>899.47273836770046</c:v>
                </c:pt>
                <c:pt idx="27">
                  <c:v>883.96534441099243</c:v>
                </c:pt>
                <c:pt idx="28">
                  <c:v>868.79202889167209</c:v>
                </c:pt>
                <c:pt idx="29">
                  <c:v>853.94491530411347</c:v>
                </c:pt>
                <c:pt idx="30">
                  <c:v>839.4163239698396</c:v>
                </c:pt>
                <c:pt idx="31">
                  <c:v>825.19876688657303</c:v>
                </c:pt>
                <c:pt idx="32">
                  <c:v>811.28494271763748</c:v>
                </c:pt>
                <c:pt idx="33">
                  <c:v>797.66773191771404</c:v>
                </c:pt>
                <c:pt idx="34">
                  <c:v>784.34019199115949</c:v>
                </c:pt>
                <c:pt idx="35">
                  <c:v>771.29555287904793</c:v>
                </c:pt>
                <c:pt idx="36">
                  <c:v>758.52721247140732</c:v>
                </c:pt>
                <c:pt idx="37">
                  <c:v>746.02873224110419</c:v>
                </c:pt>
                <c:pt idx="38">
                  <c:v>733.79383299585584</c:v>
                </c:pt>
                <c:pt idx="39">
                  <c:v>721.81639074524139</c:v>
                </c:pt>
                <c:pt idx="40">
                  <c:v>710.09043267930906</c:v>
                </c:pt>
                <c:pt idx="41">
                  <c:v>698.61013325570252</c:v>
                </c:pt>
                <c:pt idx="42">
                  <c:v>687.36981039236446</c:v>
                </c:pt>
                <c:pt idx="43">
                  <c:v>676.36392176268441</c:v>
                </c:pt>
                <c:pt idx="44">
                  <c:v>665.58706119039539</c:v>
                </c:pt>
                <c:pt idx="45">
                  <c:v>655.03395514132512</c:v>
                </c:pt>
                <c:pt idx="46">
                  <c:v>644.69945930935364</c:v>
                </c:pt>
                <c:pt idx="47">
                  <c:v>634.57855529393191</c:v>
                </c:pt>
                <c:pt idx="48">
                  <c:v>624.66634736662093</c:v>
                </c:pt>
                <c:pt idx="49">
                  <c:v>614.95805932415306</c:v>
                </c:pt>
                <c:pt idx="50">
                  <c:v>605.4490314256708</c:v>
                </c:pt>
                <c:pt idx="51">
                  <c:v>596.13471741171543</c:v>
                </c:pt>
                <c:pt idx="52">
                  <c:v>587.01068160278976</c:v>
                </c:pt>
                <c:pt idx="53">
                  <c:v>578.07259607522906</c:v>
                </c:pt>
                <c:pt idx="54">
                  <c:v>569.3162379122723</c:v>
                </c:pt>
                <c:pt idx="55">
                  <c:v>560.73748652824304</c:v>
                </c:pt>
                <c:pt idx="56">
                  <c:v>552.33232106381797</c:v>
                </c:pt>
                <c:pt idx="57">
                  <c:v>544.09681785044347</c:v>
                </c:pt>
                <c:pt idx="58">
                  <c:v>536.02714794195549</c:v>
                </c:pt>
                <c:pt idx="59">
                  <c:v>528.11957471159485</c:v>
                </c:pt>
                <c:pt idx="60">
                  <c:v>520.37045151259315</c:v>
                </c:pt>
                <c:pt idx="61">
                  <c:v>512.77621940058441</c:v>
                </c:pt>
                <c:pt idx="62">
                  <c:v>505.33340491616423</c:v>
                </c:pt>
                <c:pt idx="63">
                  <c:v>498.03861792591664</c:v>
                </c:pt>
                <c:pt idx="64">
                  <c:v>490.8885495203404</c:v>
                </c:pt>
                <c:pt idx="65">
                  <c:v>483.87996996708324</c:v>
                </c:pt>
                <c:pt idx="66">
                  <c:v>477.00972671801151</c:v>
                </c:pt>
                <c:pt idx="67">
                  <c:v>470.27474246860197</c:v>
                </c:pt>
                <c:pt idx="68">
                  <c:v>463.67201326827086</c:v>
                </c:pt>
                <c:pt idx="69">
                  <c:v>457.19860668020704</c:v>
                </c:pt>
                <c:pt idx="70">
                  <c:v>450.85165998940425</c:v>
                </c:pt>
                <c:pt idx="71">
                  <c:v>444.62837845755394</c:v>
                </c:pt>
                <c:pt idx="72">
                  <c:v>438.52603362354216</c:v>
                </c:pt>
                <c:pt idx="73">
                  <c:v>432.54196164827869</c:v>
                </c:pt>
                <c:pt idx="74">
                  <c:v>426.67356170271967</c:v>
                </c:pt>
                <c:pt idx="75">
                  <c:v>420.91829439783828</c:v>
                </c:pt>
                <c:pt idx="76">
                  <c:v>415.27368025547196</c:v>
                </c:pt>
                <c:pt idx="77">
                  <c:v>409.73729821889663</c:v>
                </c:pt>
                <c:pt idx="78">
                  <c:v>404.30678420208369</c:v>
                </c:pt>
                <c:pt idx="79">
                  <c:v>398.9798296765731</c:v>
                </c:pt>
                <c:pt idx="80">
                  <c:v>393.75418029497297</c:v>
                </c:pt>
                <c:pt idx="81">
                  <c:v>388.62763455007399</c:v>
                </c:pt>
                <c:pt idx="82">
                  <c:v>383.59804246864309</c:v>
                </c:pt>
                <c:pt idx="83">
                  <c:v>378.66330433894672</c:v>
                </c:pt>
                <c:pt idx="84">
                  <c:v>373.82136947110217</c:v>
                </c:pt>
                <c:pt idx="85">
                  <c:v>369.07023498939964</c:v>
                </c:pt>
                <c:pt idx="86">
                  <c:v>364.40794465568626</c:v>
                </c:pt>
                <c:pt idx="87">
                  <c:v>359.83258772304401</c:v>
                </c:pt>
                <c:pt idx="88">
                  <c:v>355.34229781889871</c:v>
                </c:pt>
                <c:pt idx="89">
                  <c:v>350.93525185680625</c:v>
                </c:pt>
                <c:pt idx="90">
                  <c:v>346.60966897613702</c:v>
                </c:pt>
                <c:pt idx="91">
                  <c:v>342.36380950890964</c:v>
                </c:pt>
                <c:pt idx="92">
                  <c:v>338.19597397307524</c:v>
                </c:pt>
                <c:pt idx="93">
                  <c:v>334.10450209151401</c:v>
                </c:pt>
                <c:pt idx="94">
                  <c:v>330.0877718360889</c:v>
                </c:pt>
                <c:pt idx="95">
                  <c:v>326.14419849607765</c:v>
                </c:pt>
                <c:pt idx="96">
                  <c:v>322.27223377034034</c:v>
                </c:pt>
                <c:pt idx="97">
                  <c:v>318.47036488258669</c:v>
                </c:pt>
                <c:pt idx="98">
                  <c:v>314.73711371914823</c:v>
                </c:pt>
                <c:pt idx="99">
                  <c:v>311.0710359886337</c:v>
                </c:pt>
                <c:pt idx="100">
                  <c:v>307.47072040292392</c:v>
                </c:pt>
                <c:pt idx="101">
                  <c:v>303.93478787890069</c:v>
                </c:pt>
                <c:pt idx="102">
                  <c:v>300.46189076040514</c:v>
                </c:pt>
                <c:pt idx="103">
                  <c:v>297.05071205986496</c:v>
                </c:pt>
                <c:pt idx="104">
                  <c:v>293.69996471908291</c:v>
                </c:pt>
                <c:pt idx="105">
                  <c:v>290.40839088867614</c:v>
                </c:pt>
                <c:pt idx="106">
                  <c:v>287.17476122569587</c:v>
                </c:pt>
                <c:pt idx="107">
                  <c:v>283.99787420890863</c:v>
                </c:pt>
                <c:pt idx="108">
                  <c:v>280.87655547133869</c:v>
                </c:pt>
                <c:pt idx="109">
                  <c:v>277.80965714955431</c:v>
                </c:pt>
                <c:pt idx="110">
                  <c:v>274.79605724930349</c:v>
                </c:pt>
                <c:pt idx="111">
                  <c:v>271.83465902706445</c:v>
                </c:pt>
                <c:pt idx="112">
                  <c:v>268.9243903870659</c:v>
                </c:pt>
                <c:pt idx="113">
                  <c:v>266.06420329342586</c:v>
                </c:pt>
                <c:pt idx="114">
                  <c:v>263.25307319696088</c:v>
                </c:pt>
                <c:pt idx="115">
                  <c:v>260.48999847633161</c:v>
                </c:pt>
                <c:pt idx="116">
                  <c:v>257.77399989310675</c:v>
                </c:pt>
                <c:pt idx="117">
                  <c:v>255.10412006042156</c:v>
                </c:pt>
                <c:pt idx="118">
                  <c:v>252.47942292485732</c:v>
                </c:pt>
                <c:pt idx="119">
                  <c:v>249.89899326120872</c:v>
                </c:pt>
                <c:pt idx="120">
                  <c:v>247.36193617979092</c:v>
                </c:pt>
                <c:pt idx="121">
                  <c:v>244.86737664598178</c:v>
                </c:pt>
                <c:pt idx="122">
                  <c:v>242.41445901167077</c:v>
                </c:pt>
                <c:pt idx="123">
                  <c:v>240.00234655831048</c:v>
                </c:pt>
                <c:pt idx="124">
                  <c:v>237.63022105125964</c:v>
                </c:pt>
                <c:pt idx="125">
                  <c:v>235.29728230515758</c:v>
                </c:pt>
                <c:pt idx="126">
                  <c:v>233.00274776000521</c:v>
                </c:pt>
                <c:pt idx="127">
                  <c:v>230.74585206771036</c:v>
                </c:pt>
                <c:pt idx="128">
                  <c:v>228.52584668881556</c:v>
                </c:pt>
                <c:pt idx="129">
                  <c:v>226.34199949913506</c:v>
                </c:pt>
                <c:pt idx="130">
                  <c:v>224.19359440607897</c:v>
                </c:pt>
                <c:pt idx="131">
                  <c:v>222.07993097438072</c:v>
                </c:pt>
                <c:pt idx="132">
                  <c:v>220.00032406100755</c:v>
                </c:pt>
                <c:pt idx="133">
                  <c:v>217.95410345901774</c:v>
                </c:pt>
                <c:pt idx="134">
                  <c:v>215.94061355012943</c:v>
                </c:pt>
                <c:pt idx="135">
                  <c:v>213.95921296578501</c:v>
                </c:pt>
                <c:pt idx="136">
                  <c:v>212.00927425649002</c:v>
                </c:pt>
                <c:pt idx="137">
                  <c:v>210.09018356921752</c:v>
                </c:pt>
                <c:pt idx="138">
                  <c:v>208.2013403326763</c:v>
                </c:pt>
                <c:pt idx="139">
                  <c:v>206.34215695023164</c:v>
                </c:pt>
                <c:pt idx="140">
                  <c:v>204.51205850030314</c:v>
                </c:pt>
                <c:pt idx="141">
                  <c:v>202.71048244403369</c:v>
                </c:pt>
                <c:pt idx="142">
                  <c:v>200.93687834004621</c:v>
                </c:pt>
                <c:pt idx="143">
                  <c:v>199.19070756612192</c:v>
                </c:pt>
                <c:pt idx="144">
                  <c:v>197.47144304761304</c:v>
                </c:pt>
                <c:pt idx="145">
                  <c:v>195.77856899241738</c:v>
                </c:pt>
                <c:pt idx="146">
                  <c:v>194.11158063236928</c:v>
                </c:pt>
                <c:pt idx="147">
                  <c:v>192.46998397085628</c:v>
                </c:pt>
                <c:pt idx="148">
                  <c:v>190.85329553652642</c:v>
                </c:pt>
                <c:pt idx="149">
                  <c:v>189.26104214292531</c:v>
                </c:pt>
                <c:pt idx="150">
                  <c:v>187.69276065391321</c:v>
                </c:pt>
                <c:pt idx="151">
                  <c:v>186.14799775472238</c:v>
                </c:pt>
                <c:pt idx="152">
                  <c:v>184.62630972850158</c:v>
                </c:pt>
                <c:pt idx="153">
                  <c:v>183.12726223822401</c:v>
                </c:pt>
                <c:pt idx="154">
                  <c:v>181.65043011381547</c:v>
                </c:pt>
                <c:pt idx="155">
                  <c:v>180.1953971443746</c:v>
                </c:pt>
                <c:pt idx="156">
                  <c:v>178.76175587536034</c:v>
                </c:pt>
                <c:pt idx="157">
                  <c:v>177.34910741061978</c:v>
                </c:pt>
                <c:pt idx="158">
                  <c:v>175.95706121912818</c:v>
                </c:pt>
                <c:pt idx="159">
                  <c:v>174.58523494635088</c:v>
                </c:pt>
                <c:pt idx="160">
                  <c:v>173.23325423007111</c:v>
                </c:pt>
                <c:pt idx="161">
                  <c:v>171.90075252061388</c:v>
                </c:pt>
                <c:pt idx="162">
                  <c:v>170.58737090531847</c:v>
                </c:pt>
                <c:pt idx="163">
                  <c:v>169.29275793719341</c:v>
                </c:pt>
                <c:pt idx="164">
                  <c:v>168.01656946761443</c:v>
                </c:pt>
                <c:pt idx="165">
                  <c:v>166.75846848299028</c:v>
                </c:pt>
                <c:pt idx="166">
                  <c:v>165.51812494527957</c:v>
                </c:pt>
                <c:pt idx="167">
                  <c:v>164.29521563628631</c:v>
                </c:pt>
                <c:pt idx="168">
                  <c:v>163.08942400561673</c:v>
                </c:pt>
                <c:pt idx="169">
                  <c:v>161.90044002221563</c:v>
                </c:pt>
                <c:pt idx="170">
                  <c:v>160.72796002940692</c:v>
                </c:pt>
                <c:pt idx="171">
                  <c:v>159.57168660333795</c:v>
                </c:pt>
                <c:pt idx="172">
                  <c:v>158.43132841473681</c:v>
                </c:pt>
                <c:pt idx="173">
                  <c:v>157.30660009392449</c:v>
                </c:pt>
                <c:pt idx="174">
                  <c:v>156.19722209898782</c:v>
                </c:pt>
                <c:pt idx="175">
                  <c:v>155.10292058702947</c:v>
                </c:pt>
                <c:pt idx="176">
                  <c:v>154.02342728843183</c:v>
                </c:pt>
                <c:pt idx="177">
                  <c:v>152.95847938406098</c:v>
                </c:pt>
                <c:pt idx="178">
                  <c:v>151.90781938532663</c:v>
                </c:pt>
                <c:pt idx="179">
                  <c:v>150.87119501704106</c:v>
                </c:pt>
                <c:pt idx="180">
                  <c:v>149.84835910300404</c:v>
                </c:pt>
                <c:pt idx="181">
                  <c:v>148.839069454243</c:v>
                </c:pt>
                <c:pt idx="182">
                  <c:v>147.84308875985212</c:v>
                </c:pt>
                <c:pt idx="183">
                  <c:v>146.86018448036461</c:v>
                </c:pt>
                <c:pt idx="184">
                  <c:v>145.8901287435859</c:v>
                </c:pt>
                <c:pt idx="185">
                  <c:v>144.93269824284815</c:v>
                </c:pt>
                <c:pt idx="186">
                  <c:v>143.98767413761229</c:v>
                </c:pt>
                <c:pt idx="187">
                  <c:v>143.05484195636123</c:v>
                </c:pt>
                <c:pt idx="188">
                  <c:v>142.13399150173692</c:v>
                </c:pt>
                <c:pt idx="189">
                  <c:v>141.22491675786225</c:v>
                </c:pt>
                <c:pt idx="190">
                  <c:v>140.32741579979174</c:v>
                </c:pt>
                <c:pt idx="191">
                  <c:v>139.44129070504832</c:v>
                </c:pt>
                <c:pt idx="192">
                  <c:v>138.56634746718748</c:v>
                </c:pt>
                <c:pt idx="193">
                  <c:v>137.70239591134199</c:v>
                </c:pt>
                <c:pt idx="194">
                  <c:v>136.84924961171021</c:v>
                </c:pt>
                <c:pt idx="195">
                  <c:v>136.00672581091601</c:v>
                </c:pt>
              </c:numCache>
            </c:numRef>
          </c:yVal>
          <c:smooth val="1"/>
          <c:extLst xmlns:mc="http://schemas.openxmlformats.org/markup-compatibility/2006" xmlns:c14="http://schemas.microsoft.com/office/drawing/2007/8/2/chart" xmlns:c16="http://schemas.microsoft.com/office/drawing/2014/chart">
            <c:ext xmlns:c16="http://schemas.microsoft.com/office/drawing/2014/chart" uri="{C3380CC4-5D6E-409C-BE32-E72D297353CC}">
              <c16:uniqueId val="{00000000-8DC6-4FA5-8641-C24379C517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22575368"/>
        <c:axId val="422576152"/>
      </c:scatterChart>
      <c:valAx>
        <c:axId val="422575368"/>
        <c:scaling>
          <c:orientation val="minMax"/>
          <c:max val="0.42000000000000032"/>
          <c:min val="0"/>
        </c:scaling>
        <c:delete val="1"/>
        <c:axPos val="b"/>
        <c:title>
          <c:tx>
            <c:rich>
              <a:bodyPr/>
              <a:lstStyle/>
              <a:p>
                <a:pPr>
                  <a:defRPr sz="1200" b="0" i="0" u="none" strike="noStrike" baseline="0">
                    <a:solidFill>
                      <a:schemeClr val="tx1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fr-CA" sz="1200" baseline="0" dirty="0">
                    <a:solidFill>
                      <a:schemeClr val="tx1"/>
                    </a:solidFill>
                  </a:rPr>
                  <a:t>Rendement à l'échéance (RAÉ)</a:t>
                </a:r>
              </a:p>
            </c:rich>
          </c:tx>
          <c:layout>
            <c:manualLayout>
              <c:xMode val="edge"/>
              <c:yMode val="edge"/>
              <c:x val="0.39509097680357524"/>
              <c:y val="0.91038852537798975"/>
            </c:manualLayout>
          </c:layout>
          <c:overlay val="0"/>
          <c:spPr>
            <a:noFill/>
            <a:ln w="23427">
              <a:noFill/>
            </a:ln>
          </c:spPr>
        </c:title>
        <c:numFmt formatCode="0%" sourceLinked="0"/>
        <c:majorTickMark val="out"/>
        <c:minorTickMark val="none"/>
        <c:tickLblPos val="nextTo"/>
        <c:crossAx val="422576152"/>
        <c:crosses val="autoZero"/>
        <c:crossBetween val="midCat"/>
      </c:valAx>
      <c:valAx>
        <c:axId val="422576152"/>
        <c:scaling>
          <c:orientation val="minMax"/>
        </c:scaling>
        <c:delete val="1"/>
        <c:axPos val="l"/>
        <c:title>
          <c:tx>
            <c:rich>
              <a:bodyPr/>
              <a:lstStyle/>
              <a:p>
                <a:pPr>
                  <a:defRPr sz="1200" baseline="0">
                    <a:solidFill>
                      <a:schemeClr val="tx1"/>
                    </a:solidFill>
                  </a:defRPr>
                </a:pPr>
                <a:r>
                  <a:rPr lang="fr-CA" sz="1200" baseline="0" dirty="0">
                    <a:solidFill>
                      <a:schemeClr val="tx1"/>
                    </a:solidFill>
                  </a:rPr>
                  <a:t>Valeur actuelle de l'obligation</a:t>
                </a:r>
              </a:p>
            </c:rich>
          </c:tx>
          <c:layout>
            <c:manualLayout>
              <c:xMode val="edge"/>
              <c:yMode val="edge"/>
              <c:x val="2.8815173441157693E-2"/>
              <c:y val="0.35222283834239032"/>
            </c:manualLayout>
          </c:layout>
          <c:overlay val="0"/>
        </c:title>
        <c:numFmt formatCode="_-* #,##0\ \$_-;_-* #,##0\ \$\-;_-* &quot;-&quot;\ \$_-;_-@_-" sourceLinked="0"/>
        <c:majorTickMark val="out"/>
        <c:minorTickMark val="none"/>
        <c:tickLblPos val="nextTo"/>
        <c:crossAx val="422575368"/>
        <c:crosses val="autoZero"/>
        <c:crossBetween val="midCat"/>
      </c:valAx>
      <c:spPr>
        <a:solidFill>
          <a:schemeClr val="accent1">
            <a:lumMod val="20000"/>
            <a:lumOff val="80000"/>
          </a:schemeClr>
        </a:solidFill>
        <a:ln w="11713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807" b="0" i="0" u="none" strike="noStrike" baseline="0">
          <a:solidFill>
            <a:srgbClr val="FFFFFF"/>
          </a:solidFill>
          <a:latin typeface="Arial"/>
          <a:ea typeface="Arial"/>
          <a:cs typeface="Arial"/>
        </a:defRPr>
      </a:pPr>
      <a:endParaRPr lang="fr-FR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776F6C-3CFC-455D-BEC1-E696FA6FA99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8DE39E-6440-44D6-B641-38431924736B}">
      <dgm:prSet custT="1"/>
      <dgm:spPr>
        <a:solidFill>
          <a:srgbClr val="00B050"/>
        </a:solidFill>
      </dgm:spPr>
      <dgm:t>
        <a:bodyPr/>
        <a:lstStyle/>
        <a:p>
          <a:pPr>
            <a:defRPr b="1"/>
          </a:pPr>
          <a:r>
            <a:rPr lang="fr-CA" sz="2800" b="1" dirty="0"/>
            <a:t>Obligations vertes </a:t>
          </a:r>
          <a:r>
            <a:rPr lang="fr-CA" sz="2800" dirty="0"/>
            <a:t>:</a:t>
          </a:r>
          <a:endParaRPr lang="en-US" sz="2800" dirty="0"/>
        </a:p>
      </dgm:t>
    </dgm:pt>
    <dgm:pt modelId="{0217D4BC-843F-421C-92C8-53F3821E6AD0}" type="parTrans" cxnId="{274239FB-A880-41F7-9D51-69D8A178D686}">
      <dgm:prSet/>
      <dgm:spPr/>
      <dgm:t>
        <a:bodyPr/>
        <a:lstStyle/>
        <a:p>
          <a:endParaRPr lang="en-US"/>
        </a:p>
      </dgm:t>
    </dgm:pt>
    <dgm:pt modelId="{54BAB3D2-4E19-4690-ACAD-C907D99585D4}" type="sibTrans" cxnId="{274239FB-A880-41F7-9D51-69D8A178D686}">
      <dgm:prSet/>
      <dgm:spPr/>
      <dgm:t>
        <a:bodyPr/>
        <a:lstStyle/>
        <a:p>
          <a:endParaRPr lang="en-US"/>
        </a:p>
      </dgm:t>
    </dgm:pt>
    <dgm:pt modelId="{6DD0457B-D27C-499C-843F-792625A6E3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CA" dirty="0"/>
            <a:t>Obligations émises pour financer des projets de préservation de l'environnement (efficacité énergétique, réduction de la pollution, agriculture durable, gestion de l'eau, taux </a:t>
          </a:r>
          <a:r>
            <a:rPr lang="fr-CA" dirty="0" err="1"/>
            <a:t>eCoupon</a:t>
          </a:r>
          <a:r>
            <a:rPr lang="fr-CA" dirty="0"/>
            <a:t>).</a:t>
          </a:r>
          <a:endParaRPr lang="en-US" dirty="0"/>
        </a:p>
      </dgm:t>
    </dgm:pt>
    <dgm:pt modelId="{76E38D5D-F4E0-4456-AA69-199F976A722B}" type="parTrans" cxnId="{4A6F887E-A1F8-4898-AF2F-3C9FB5397CC9}">
      <dgm:prSet/>
      <dgm:spPr/>
      <dgm:t>
        <a:bodyPr/>
        <a:lstStyle/>
        <a:p>
          <a:endParaRPr lang="en-US"/>
        </a:p>
      </dgm:t>
    </dgm:pt>
    <dgm:pt modelId="{52055C13-3361-47B5-AE8A-46C55B08B35C}" type="sibTrans" cxnId="{4A6F887E-A1F8-4898-AF2F-3C9FB5397CC9}">
      <dgm:prSet/>
      <dgm:spPr/>
      <dgm:t>
        <a:bodyPr/>
        <a:lstStyle/>
        <a:p>
          <a:endParaRPr lang="en-US"/>
        </a:p>
      </dgm:t>
    </dgm:pt>
    <dgm:pt modelId="{494B2CD1-56E9-4E0B-A24D-D43A306579F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CA" dirty="0"/>
            <a:t>Parfois associées à des incitations fiscales (qui augmentent le rendement pour les investisseurs).</a:t>
          </a:r>
          <a:endParaRPr lang="en-US" dirty="0"/>
        </a:p>
      </dgm:t>
    </dgm:pt>
    <dgm:pt modelId="{42A5E02A-B6F4-4569-9F18-5396349B53F7}" type="parTrans" cxnId="{C8212283-40D8-4D48-8968-D0D56163E336}">
      <dgm:prSet/>
      <dgm:spPr/>
      <dgm:t>
        <a:bodyPr/>
        <a:lstStyle/>
        <a:p>
          <a:endParaRPr lang="en-US"/>
        </a:p>
      </dgm:t>
    </dgm:pt>
    <dgm:pt modelId="{796DD32E-CD83-4543-9B00-74302255B82E}" type="sibTrans" cxnId="{C8212283-40D8-4D48-8968-D0D56163E336}">
      <dgm:prSet/>
      <dgm:spPr/>
      <dgm:t>
        <a:bodyPr/>
        <a:lstStyle/>
        <a:p>
          <a:endParaRPr lang="en-US"/>
        </a:p>
      </dgm:t>
    </dgm:pt>
    <dgm:pt modelId="{F64BFA53-C28C-4B6B-873A-A6BC72E0246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CA" dirty="0"/>
            <a:t>Selon la </a:t>
          </a:r>
          <a:r>
            <a:rPr lang="fr-CA" dirty="0" err="1"/>
            <a:t>Climate </a:t>
          </a:r>
          <a:r>
            <a:rPr lang="fr-CA" dirty="0"/>
            <a:t>Bonds Initiative, les émissions d'obligations vertes ont atteint 269,5 milliards de dollars américains en 2020.</a:t>
          </a:r>
          <a:endParaRPr lang="en-US" dirty="0"/>
        </a:p>
      </dgm:t>
    </dgm:pt>
    <dgm:pt modelId="{E148D015-8816-4EC5-82D7-A8B6D287C783}" type="parTrans" cxnId="{1596628D-0359-4522-B7E3-7C35BDB54F9D}">
      <dgm:prSet/>
      <dgm:spPr/>
      <dgm:t>
        <a:bodyPr/>
        <a:lstStyle/>
        <a:p>
          <a:endParaRPr lang="en-US"/>
        </a:p>
      </dgm:t>
    </dgm:pt>
    <dgm:pt modelId="{E352E730-B7B3-4614-AC2A-16F51B9A1B30}" type="sibTrans" cxnId="{1596628D-0359-4522-B7E3-7C35BDB54F9D}">
      <dgm:prSet/>
      <dgm:spPr/>
      <dgm:t>
        <a:bodyPr/>
        <a:lstStyle/>
        <a:p>
          <a:endParaRPr lang="en-US"/>
        </a:p>
      </dgm:t>
    </dgm:pt>
    <dgm:pt modelId="{14061650-46A4-48F5-A34C-32EAA2662E3B}">
      <dgm:prSet custT="1"/>
      <dgm:spPr/>
      <dgm:t>
        <a:bodyPr/>
        <a:lstStyle/>
        <a:p>
          <a:pPr>
            <a:defRPr b="1"/>
          </a:pPr>
          <a:r>
            <a:rPr lang="fr-CA" sz="2800" b="1" dirty="0"/>
            <a:t>Obligations bleues :</a:t>
          </a:r>
          <a:endParaRPr lang="en-US" sz="2800" dirty="0"/>
        </a:p>
      </dgm:t>
    </dgm:pt>
    <dgm:pt modelId="{8BBAA570-A6C4-4A63-9F01-C504D03651C2}" type="parTrans" cxnId="{B27F7820-E12E-4565-975A-1A87F0D17F05}">
      <dgm:prSet/>
      <dgm:spPr/>
      <dgm:t>
        <a:bodyPr/>
        <a:lstStyle/>
        <a:p>
          <a:endParaRPr lang="en-US"/>
        </a:p>
      </dgm:t>
    </dgm:pt>
    <dgm:pt modelId="{61F6DD8C-1324-497D-B5F4-3C4B8FA7D33C}" type="sibTrans" cxnId="{B27F7820-E12E-4565-975A-1A87F0D17F05}">
      <dgm:prSet/>
      <dgm:spPr/>
      <dgm:t>
        <a:bodyPr/>
        <a:lstStyle/>
        <a:p>
          <a:endParaRPr lang="en-US"/>
        </a:p>
      </dgm:t>
    </dgm:pt>
    <dgm:pt modelId="{377F396E-D02F-4AEA-A690-4C242B1CC4D8}">
      <dgm:prSet/>
      <dgm:spPr/>
      <dgm:t>
        <a:bodyPr/>
        <a:lstStyle/>
        <a:p>
          <a:r>
            <a:rPr lang="fr-CA"/>
            <a:t>Obligations émises pour financer des projets liés à la protection des océans et des écosystèmes marins.</a:t>
          </a:r>
          <a:endParaRPr lang="en-US"/>
        </a:p>
      </dgm:t>
    </dgm:pt>
    <dgm:pt modelId="{0979E6A9-0F1A-4174-8754-BF75314A64F1}" type="parTrans" cxnId="{24F661DC-2DB1-4264-90E8-F45F93C1AF5A}">
      <dgm:prSet/>
      <dgm:spPr/>
      <dgm:t>
        <a:bodyPr/>
        <a:lstStyle/>
        <a:p>
          <a:endParaRPr lang="en-US"/>
        </a:p>
      </dgm:t>
    </dgm:pt>
    <dgm:pt modelId="{E9DCCB8C-6B5B-4913-B945-A6F3D359C27D}" type="sibTrans" cxnId="{24F661DC-2DB1-4264-90E8-F45F93C1AF5A}">
      <dgm:prSet/>
      <dgm:spPr/>
      <dgm:t>
        <a:bodyPr/>
        <a:lstStyle/>
        <a:p>
          <a:endParaRPr lang="en-US"/>
        </a:p>
      </dgm:t>
    </dgm:pt>
    <dgm:pt modelId="{E35CF617-3B46-42F8-B83B-E72EF92843CD}">
      <dgm:prSet/>
      <dgm:spPr/>
      <dgm:t>
        <a:bodyPr/>
        <a:lstStyle/>
        <a:p>
          <a:r>
            <a:rPr lang="fr-CA"/>
            <a:t>Les obligations bleues sont un type particulier d'obligations vertes.</a:t>
          </a:r>
          <a:endParaRPr lang="en-US"/>
        </a:p>
      </dgm:t>
    </dgm:pt>
    <dgm:pt modelId="{DC559A49-3011-421B-AE58-151359A094CC}" type="parTrans" cxnId="{1CFAE908-20FD-415B-850B-515D69FBD3F8}">
      <dgm:prSet/>
      <dgm:spPr/>
      <dgm:t>
        <a:bodyPr/>
        <a:lstStyle/>
        <a:p>
          <a:endParaRPr lang="en-US"/>
        </a:p>
      </dgm:t>
    </dgm:pt>
    <dgm:pt modelId="{B85D94D7-B8A9-46AE-B510-0A9C854C3F57}" type="sibTrans" cxnId="{1CFAE908-20FD-415B-850B-515D69FBD3F8}">
      <dgm:prSet/>
      <dgm:spPr/>
      <dgm:t>
        <a:bodyPr/>
        <a:lstStyle/>
        <a:p>
          <a:endParaRPr lang="en-US"/>
        </a:p>
      </dgm:t>
    </dgm:pt>
    <dgm:pt modelId="{9C066B69-EA98-4958-917B-50F73537A0D6}" type="pres">
      <dgm:prSet presAssocID="{17776F6C-3CFC-455D-BEC1-E696FA6FA992}" presName="linear" presStyleCnt="0">
        <dgm:presLayoutVars>
          <dgm:dir/>
          <dgm:animLvl val="lvl"/>
          <dgm:resizeHandles val="exact"/>
        </dgm:presLayoutVars>
      </dgm:prSet>
      <dgm:spPr/>
    </dgm:pt>
    <dgm:pt modelId="{5B9C7F8A-1252-4915-96B9-6EF6713DBDFF}" type="pres">
      <dgm:prSet presAssocID="{668DE39E-6440-44D6-B641-38431924736B}" presName="parentLin" presStyleCnt="0"/>
      <dgm:spPr/>
    </dgm:pt>
    <dgm:pt modelId="{A3B0B60A-8118-43A5-9AAB-447D3BAD7085}" type="pres">
      <dgm:prSet presAssocID="{668DE39E-6440-44D6-B641-38431924736B}" presName="parentLeftMargin" presStyleLbl="node1" presStyleIdx="0" presStyleCnt="2"/>
      <dgm:spPr/>
    </dgm:pt>
    <dgm:pt modelId="{7D6ED572-F677-49BE-B5AA-8F40E1D6B386}" type="pres">
      <dgm:prSet presAssocID="{668DE39E-6440-44D6-B641-38431924736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86211492-FE55-48D9-81C9-08055784652E}" type="pres">
      <dgm:prSet presAssocID="{668DE39E-6440-44D6-B641-38431924736B}" presName="negativeSpace" presStyleCnt="0"/>
      <dgm:spPr/>
    </dgm:pt>
    <dgm:pt modelId="{B6C68A5F-8939-421F-AA88-4A01ED60BB0B}" type="pres">
      <dgm:prSet presAssocID="{668DE39E-6440-44D6-B641-38431924736B}" presName="childText" presStyleLbl="conFgAcc1" presStyleIdx="0" presStyleCnt="2">
        <dgm:presLayoutVars>
          <dgm:bulletEnabled val="1"/>
        </dgm:presLayoutVars>
      </dgm:prSet>
      <dgm:spPr/>
    </dgm:pt>
    <dgm:pt modelId="{8AC5F66E-E5DE-45E8-850E-D48146705655}" type="pres">
      <dgm:prSet presAssocID="{54BAB3D2-4E19-4690-ACAD-C907D99585D4}" presName="spaceBetweenRectangles" presStyleCnt="0"/>
      <dgm:spPr/>
    </dgm:pt>
    <dgm:pt modelId="{9FCDB859-FB23-459E-976D-C5C672850562}" type="pres">
      <dgm:prSet presAssocID="{14061650-46A4-48F5-A34C-32EAA2662E3B}" presName="parentLin" presStyleCnt="0"/>
      <dgm:spPr/>
    </dgm:pt>
    <dgm:pt modelId="{798F51E5-8934-4B97-8A32-DECC3FAF3702}" type="pres">
      <dgm:prSet presAssocID="{14061650-46A4-48F5-A34C-32EAA2662E3B}" presName="parentLeftMargin" presStyleLbl="node1" presStyleIdx="0" presStyleCnt="2"/>
      <dgm:spPr/>
    </dgm:pt>
    <dgm:pt modelId="{153D9CA0-D04A-4533-8C92-24668E9941D9}" type="pres">
      <dgm:prSet presAssocID="{14061650-46A4-48F5-A34C-32EAA2662E3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8F68D8D-7F42-4403-8718-3907ADF4C8E2}" type="pres">
      <dgm:prSet presAssocID="{14061650-46A4-48F5-A34C-32EAA2662E3B}" presName="negativeSpace" presStyleCnt="0"/>
      <dgm:spPr/>
    </dgm:pt>
    <dgm:pt modelId="{5D4E3DBA-61FF-4636-904D-8C2CD7149EEE}" type="pres">
      <dgm:prSet presAssocID="{14061650-46A4-48F5-A34C-32EAA2662E3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6F8DC00-430A-43E7-B3BC-3ABCC22908FF}" type="presOf" srcId="{668DE39E-6440-44D6-B641-38431924736B}" destId="{A3B0B60A-8118-43A5-9AAB-447D3BAD7085}" srcOrd="0" destOrd="0" presId="urn:microsoft.com/office/officeart/2005/8/layout/list1"/>
    <dgm:cxn modelId="{58C85105-ADB7-4E5A-B678-B1E477AA79D7}" type="presOf" srcId="{494B2CD1-56E9-4E0B-A24D-D43A306579FB}" destId="{B6C68A5F-8939-421F-AA88-4A01ED60BB0B}" srcOrd="0" destOrd="1" presId="urn:microsoft.com/office/officeart/2005/8/layout/list1"/>
    <dgm:cxn modelId="{9FF8B707-A2E1-4CDA-B29F-A89CE059C4B0}" type="presOf" srcId="{668DE39E-6440-44D6-B641-38431924736B}" destId="{7D6ED572-F677-49BE-B5AA-8F40E1D6B386}" srcOrd="1" destOrd="0" presId="urn:microsoft.com/office/officeart/2005/8/layout/list1"/>
    <dgm:cxn modelId="{1CFAE908-20FD-415B-850B-515D69FBD3F8}" srcId="{14061650-46A4-48F5-A34C-32EAA2662E3B}" destId="{E35CF617-3B46-42F8-B83B-E72EF92843CD}" srcOrd="1" destOrd="0" parTransId="{DC559A49-3011-421B-AE58-151359A094CC}" sibTransId="{B85D94D7-B8A9-46AE-B510-0A9C854C3F57}"/>
    <dgm:cxn modelId="{53C3B815-5D90-47D4-B87F-1AEE50BA0619}" type="presOf" srcId="{14061650-46A4-48F5-A34C-32EAA2662E3B}" destId="{153D9CA0-D04A-4533-8C92-24668E9941D9}" srcOrd="1" destOrd="0" presId="urn:microsoft.com/office/officeart/2005/8/layout/list1"/>
    <dgm:cxn modelId="{B27F7820-E12E-4565-975A-1A87F0D17F05}" srcId="{17776F6C-3CFC-455D-BEC1-E696FA6FA992}" destId="{14061650-46A4-48F5-A34C-32EAA2662E3B}" srcOrd="1" destOrd="0" parTransId="{8BBAA570-A6C4-4A63-9F01-C504D03651C2}" sibTransId="{61F6DD8C-1324-497D-B5F4-3C4B8FA7D33C}"/>
    <dgm:cxn modelId="{CC1E5C2E-BDE3-490A-92F1-218DB4225CA0}" type="presOf" srcId="{14061650-46A4-48F5-A34C-32EAA2662E3B}" destId="{798F51E5-8934-4B97-8A32-DECC3FAF3702}" srcOrd="0" destOrd="0" presId="urn:microsoft.com/office/officeart/2005/8/layout/list1"/>
    <dgm:cxn modelId="{6B7CCB76-5742-4E8B-BED1-1905E0687F91}" type="presOf" srcId="{6DD0457B-D27C-499C-843F-792625A6E378}" destId="{B6C68A5F-8939-421F-AA88-4A01ED60BB0B}" srcOrd="0" destOrd="0" presId="urn:microsoft.com/office/officeart/2005/8/layout/list1"/>
    <dgm:cxn modelId="{4A6F887E-A1F8-4898-AF2F-3C9FB5397CC9}" srcId="{668DE39E-6440-44D6-B641-38431924736B}" destId="{6DD0457B-D27C-499C-843F-792625A6E378}" srcOrd="0" destOrd="0" parTransId="{76E38D5D-F4E0-4456-AA69-199F976A722B}" sibTransId="{52055C13-3361-47B5-AE8A-46C55B08B35C}"/>
    <dgm:cxn modelId="{C8212283-40D8-4D48-8968-D0D56163E336}" srcId="{668DE39E-6440-44D6-B641-38431924736B}" destId="{494B2CD1-56E9-4E0B-A24D-D43A306579FB}" srcOrd="1" destOrd="0" parTransId="{42A5E02A-B6F4-4569-9F18-5396349B53F7}" sibTransId="{796DD32E-CD83-4543-9B00-74302255B82E}"/>
    <dgm:cxn modelId="{1596628D-0359-4522-B7E3-7C35BDB54F9D}" srcId="{668DE39E-6440-44D6-B641-38431924736B}" destId="{F64BFA53-C28C-4B6B-873A-A6BC72E0246E}" srcOrd="2" destOrd="0" parTransId="{E148D015-8816-4EC5-82D7-A8B6D287C783}" sibTransId="{E352E730-B7B3-4614-AC2A-16F51B9A1B30}"/>
    <dgm:cxn modelId="{BDA2CD9B-C0BB-4E94-91DA-0F4F6174BC8B}" type="presOf" srcId="{F64BFA53-C28C-4B6B-873A-A6BC72E0246E}" destId="{B6C68A5F-8939-421F-AA88-4A01ED60BB0B}" srcOrd="0" destOrd="2" presId="urn:microsoft.com/office/officeart/2005/8/layout/list1"/>
    <dgm:cxn modelId="{2C7472B4-4FF5-43EE-ABCF-34FACF75B0CB}" type="presOf" srcId="{E35CF617-3B46-42F8-B83B-E72EF92843CD}" destId="{5D4E3DBA-61FF-4636-904D-8C2CD7149EEE}" srcOrd="0" destOrd="1" presId="urn:microsoft.com/office/officeart/2005/8/layout/list1"/>
    <dgm:cxn modelId="{2628D8C1-C1F8-488C-8572-3CCF4092FA4E}" type="presOf" srcId="{377F396E-D02F-4AEA-A690-4C242B1CC4D8}" destId="{5D4E3DBA-61FF-4636-904D-8C2CD7149EEE}" srcOrd="0" destOrd="0" presId="urn:microsoft.com/office/officeart/2005/8/layout/list1"/>
    <dgm:cxn modelId="{24F661DC-2DB1-4264-90E8-F45F93C1AF5A}" srcId="{14061650-46A4-48F5-A34C-32EAA2662E3B}" destId="{377F396E-D02F-4AEA-A690-4C242B1CC4D8}" srcOrd="0" destOrd="0" parTransId="{0979E6A9-0F1A-4174-8754-BF75314A64F1}" sibTransId="{E9DCCB8C-6B5B-4913-B945-A6F3D359C27D}"/>
    <dgm:cxn modelId="{BEDAB1DC-3C22-466D-B93C-FB854A4B4E3F}" type="presOf" srcId="{17776F6C-3CFC-455D-BEC1-E696FA6FA992}" destId="{9C066B69-EA98-4958-917B-50F73537A0D6}" srcOrd="0" destOrd="0" presId="urn:microsoft.com/office/officeart/2005/8/layout/list1"/>
    <dgm:cxn modelId="{274239FB-A880-41F7-9D51-69D8A178D686}" srcId="{17776F6C-3CFC-455D-BEC1-E696FA6FA992}" destId="{668DE39E-6440-44D6-B641-38431924736B}" srcOrd="0" destOrd="0" parTransId="{0217D4BC-843F-421C-92C8-53F3821E6AD0}" sibTransId="{54BAB3D2-4E19-4690-ACAD-C907D99585D4}"/>
    <dgm:cxn modelId="{AD46A7FC-8BB7-4B27-B3B4-58E38FCA95A0}" type="presParOf" srcId="{9C066B69-EA98-4958-917B-50F73537A0D6}" destId="{5B9C7F8A-1252-4915-96B9-6EF6713DBDFF}" srcOrd="0" destOrd="0" presId="urn:microsoft.com/office/officeart/2005/8/layout/list1"/>
    <dgm:cxn modelId="{5FF93D76-A11C-418F-AB96-311656F4F3F8}" type="presParOf" srcId="{5B9C7F8A-1252-4915-96B9-6EF6713DBDFF}" destId="{A3B0B60A-8118-43A5-9AAB-447D3BAD7085}" srcOrd="0" destOrd="0" presId="urn:microsoft.com/office/officeart/2005/8/layout/list1"/>
    <dgm:cxn modelId="{66EE15BE-50B8-4D67-88F6-882E822EB003}" type="presParOf" srcId="{5B9C7F8A-1252-4915-96B9-6EF6713DBDFF}" destId="{7D6ED572-F677-49BE-B5AA-8F40E1D6B386}" srcOrd="1" destOrd="0" presId="urn:microsoft.com/office/officeart/2005/8/layout/list1"/>
    <dgm:cxn modelId="{CEB68DB7-5780-40E7-9E60-A5C1CD658C22}" type="presParOf" srcId="{9C066B69-EA98-4958-917B-50F73537A0D6}" destId="{86211492-FE55-48D9-81C9-08055784652E}" srcOrd="1" destOrd="0" presId="urn:microsoft.com/office/officeart/2005/8/layout/list1"/>
    <dgm:cxn modelId="{EBC83FF8-49F7-4F8B-A805-FF8BC90A9C6F}" type="presParOf" srcId="{9C066B69-EA98-4958-917B-50F73537A0D6}" destId="{B6C68A5F-8939-421F-AA88-4A01ED60BB0B}" srcOrd="2" destOrd="0" presId="urn:microsoft.com/office/officeart/2005/8/layout/list1"/>
    <dgm:cxn modelId="{45312DA1-8239-45C7-8509-4F1B659AE3AE}" type="presParOf" srcId="{9C066B69-EA98-4958-917B-50F73537A0D6}" destId="{8AC5F66E-E5DE-45E8-850E-D48146705655}" srcOrd="3" destOrd="0" presId="urn:microsoft.com/office/officeart/2005/8/layout/list1"/>
    <dgm:cxn modelId="{8A8D0EF5-06B2-441F-91E9-F3E0514C084B}" type="presParOf" srcId="{9C066B69-EA98-4958-917B-50F73537A0D6}" destId="{9FCDB859-FB23-459E-976D-C5C672850562}" srcOrd="4" destOrd="0" presId="urn:microsoft.com/office/officeart/2005/8/layout/list1"/>
    <dgm:cxn modelId="{6262F1FB-E493-4532-A59F-617B68DF7EDB}" type="presParOf" srcId="{9FCDB859-FB23-459E-976D-C5C672850562}" destId="{798F51E5-8934-4B97-8A32-DECC3FAF3702}" srcOrd="0" destOrd="0" presId="urn:microsoft.com/office/officeart/2005/8/layout/list1"/>
    <dgm:cxn modelId="{B75008FA-8298-4D30-A0E4-ABBD698534F6}" type="presParOf" srcId="{9FCDB859-FB23-459E-976D-C5C672850562}" destId="{153D9CA0-D04A-4533-8C92-24668E9941D9}" srcOrd="1" destOrd="0" presId="urn:microsoft.com/office/officeart/2005/8/layout/list1"/>
    <dgm:cxn modelId="{0E4D290C-1B38-4812-9972-7957A9EF97B8}" type="presParOf" srcId="{9C066B69-EA98-4958-917B-50F73537A0D6}" destId="{98F68D8D-7F42-4403-8718-3907ADF4C8E2}" srcOrd="5" destOrd="0" presId="urn:microsoft.com/office/officeart/2005/8/layout/list1"/>
    <dgm:cxn modelId="{022CDE7F-5FC3-4F71-9267-E5084040B922}" type="presParOf" srcId="{9C066B69-EA98-4958-917B-50F73537A0D6}" destId="{5D4E3DBA-61FF-4636-904D-8C2CD7149EE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776F6C-3CFC-455D-BEC1-E696FA6FA99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8DE39E-6440-44D6-B641-38431924736B}">
      <dgm:prSet custT="1"/>
      <dgm:spPr>
        <a:solidFill>
          <a:srgbClr val="8E796A"/>
        </a:solidFill>
      </dgm:spPr>
      <dgm:t>
        <a:bodyPr/>
        <a:lstStyle/>
        <a:p>
          <a:pPr>
            <a:defRPr b="1"/>
          </a:pPr>
          <a:r>
            <a:rPr lang="fr-CA" sz="2000" b="1" dirty="0"/>
            <a:t>Obligations brunes et obligations de transition </a:t>
          </a:r>
          <a:r>
            <a:rPr lang="fr-CA" sz="2000" dirty="0"/>
            <a:t>:</a:t>
          </a:r>
          <a:endParaRPr lang="en-US" sz="2000" dirty="0"/>
        </a:p>
      </dgm:t>
    </dgm:pt>
    <dgm:pt modelId="{0217D4BC-843F-421C-92C8-53F3821E6AD0}" type="parTrans" cxnId="{274239FB-A880-41F7-9D51-69D8A178D686}">
      <dgm:prSet/>
      <dgm:spPr/>
      <dgm:t>
        <a:bodyPr/>
        <a:lstStyle/>
        <a:p>
          <a:endParaRPr lang="en-US"/>
        </a:p>
      </dgm:t>
    </dgm:pt>
    <dgm:pt modelId="{54BAB3D2-4E19-4690-ACAD-C907D99585D4}" type="sibTrans" cxnId="{274239FB-A880-41F7-9D51-69D8A178D686}">
      <dgm:prSet/>
      <dgm:spPr/>
      <dgm:t>
        <a:bodyPr/>
        <a:lstStyle/>
        <a:p>
          <a:endParaRPr lang="en-US"/>
        </a:p>
      </dgm:t>
    </dgm:pt>
    <dgm:pt modelId="{6DD0457B-D27C-499C-843F-792625A6E3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b="1" dirty="0"/>
            <a:t>Brune </a:t>
          </a:r>
          <a:r>
            <a:rPr lang="fr-FR" dirty="0"/>
            <a:t>: obligations émises par des entreprises du « secteur brun » (entreprises basées sur les combustibles fossiles).</a:t>
          </a:r>
          <a:endParaRPr lang="fr-CA" noProof="0" dirty="0"/>
        </a:p>
      </dgm:t>
    </dgm:pt>
    <dgm:pt modelId="{76E38D5D-F4E0-4456-AA69-199F976A722B}" type="parTrans" cxnId="{4A6F887E-A1F8-4898-AF2F-3C9FB5397CC9}">
      <dgm:prSet/>
      <dgm:spPr/>
      <dgm:t>
        <a:bodyPr/>
        <a:lstStyle/>
        <a:p>
          <a:endParaRPr lang="en-US"/>
        </a:p>
      </dgm:t>
    </dgm:pt>
    <dgm:pt modelId="{52055C13-3361-47B5-AE8A-46C55B08B35C}" type="sibTrans" cxnId="{4A6F887E-A1F8-4898-AF2F-3C9FB5397CC9}">
      <dgm:prSet/>
      <dgm:spPr/>
      <dgm:t>
        <a:bodyPr/>
        <a:lstStyle/>
        <a:p>
          <a:endParaRPr lang="en-US"/>
        </a:p>
      </dgm:t>
    </dgm:pt>
    <dgm:pt modelId="{8DEDA43B-E136-44B4-8B75-D1A37331E06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CA" b="1" noProof="0" dirty="0"/>
            <a:t>Transition </a:t>
          </a:r>
          <a:r>
            <a:rPr lang="fr-CA" noProof="0" dirty="0"/>
            <a:t>: obligations émises par des entreprises </a:t>
          </a:r>
          <a:r>
            <a:rPr lang="fr-CA" noProof="0" dirty="0" err="1"/>
            <a:t>du secteur brun </a:t>
          </a:r>
          <a:r>
            <a:rPr lang="fr-FR" dirty="0"/>
            <a:t>pour financer des projets de transition énergétique (vers des énergies plus vertes). </a:t>
          </a:r>
          <a:endParaRPr lang="en-US" dirty="0"/>
        </a:p>
      </dgm:t>
    </dgm:pt>
    <dgm:pt modelId="{343290D6-17DA-427E-AA9F-FECE2E2B6E24}" type="parTrans" cxnId="{EF39C353-F0C9-4124-AC3E-25DB6D51260A}">
      <dgm:prSet/>
      <dgm:spPr/>
      <dgm:t>
        <a:bodyPr/>
        <a:lstStyle/>
        <a:p>
          <a:endParaRPr lang="fr-FR"/>
        </a:p>
      </dgm:t>
    </dgm:pt>
    <dgm:pt modelId="{0559985F-BC4C-4C96-9FCB-537071BB54CA}" type="sibTrans" cxnId="{EF39C353-F0C9-4124-AC3E-25DB6D51260A}">
      <dgm:prSet/>
      <dgm:spPr/>
      <dgm:t>
        <a:bodyPr/>
        <a:lstStyle/>
        <a:p>
          <a:endParaRPr lang="fr-FR"/>
        </a:p>
      </dgm:t>
    </dgm:pt>
    <dgm:pt modelId="{BE8A70A4-AEA7-4D5B-8F2E-0E6E145CF87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fr-FR" dirty="0"/>
            <a:t>Méfiez-vous du « </a:t>
          </a:r>
          <a:r>
            <a:rPr lang="fr-FR" dirty="0" err="1"/>
            <a:t>greenwashing </a:t>
          </a:r>
          <a:r>
            <a:rPr lang="fr-FR" dirty="0"/>
            <a:t>» : une méthode marketing qui s'appuie sur des arguments écologiques, sans que la réalité de l'entreprise ne suive ces principes.</a:t>
          </a:r>
          <a:endParaRPr lang="en-US" dirty="0"/>
        </a:p>
      </dgm:t>
    </dgm:pt>
    <dgm:pt modelId="{75B502E4-DF53-4303-BE64-18D2E7019F16}" type="parTrans" cxnId="{B054A33D-4205-4BE5-87BF-500C8695A9FB}">
      <dgm:prSet/>
      <dgm:spPr/>
      <dgm:t>
        <a:bodyPr/>
        <a:lstStyle/>
        <a:p>
          <a:endParaRPr lang="fr-CA"/>
        </a:p>
      </dgm:t>
    </dgm:pt>
    <dgm:pt modelId="{C5E180B4-7E34-4922-8BA4-02828A39E2F3}" type="sibTrans" cxnId="{B054A33D-4205-4BE5-87BF-500C8695A9FB}">
      <dgm:prSet/>
      <dgm:spPr/>
      <dgm:t>
        <a:bodyPr/>
        <a:lstStyle/>
        <a:p>
          <a:endParaRPr lang="fr-CA"/>
        </a:p>
      </dgm:t>
    </dgm:pt>
    <dgm:pt modelId="{9C066B69-EA98-4958-917B-50F73537A0D6}" type="pres">
      <dgm:prSet presAssocID="{17776F6C-3CFC-455D-BEC1-E696FA6FA992}" presName="linear" presStyleCnt="0">
        <dgm:presLayoutVars>
          <dgm:dir/>
          <dgm:animLvl val="lvl"/>
          <dgm:resizeHandles val="exact"/>
        </dgm:presLayoutVars>
      </dgm:prSet>
      <dgm:spPr/>
    </dgm:pt>
    <dgm:pt modelId="{5B9C7F8A-1252-4915-96B9-6EF6713DBDFF}" type="pres">
      <dgm:prSet presAssocID="{668DE39E-6440-44D6-B641-38431924736B}" presName="parentLin" presStyleCnt="0"/>
      <dgm:spPr/>
    </dgm:pt>
    <dgm:pt modelId="{A3B0B60A-8118-43A5-9AAB-447D3BAD7085}" type="pres">
      <dgm:prSet presAssocID="{668DE39E-6440-44D6-B641-38431924736B}" presName="parentLeftMargin" presStyleLbl="node1" presStyleIdx="0" presStyleCnt="1"/>
      <dgm:spPr/>
    </dgm:pt>
    <dgm:pt modelId="{7D6ED572-F677-49BE-B5AA-8F40E1D6B386}" type="pres">
      <dgm:prSet presAssocID="{668DE39E-6440-44D6-B641-38431924736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6211492-FE55-48D9-81C9-08055784652E}" type="pres">
      <dgm:prSet presAssocID="{668DE39E-6440-44D6-B641-38431924736B}" presName="negativeSpace" presStyleCnt="0"/>
      <dgm:spPr/>
    </dgm:pt>
    <dgm:pt modelId="{B6C68A5F-8939-421F-AA88-4A01ED60BB0B}" type="pres">
      <dgm:prSet presAssocID="{668DE39E-6440-44D6-B641-38431924736B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76F8DC00-430A-43E7-B3BC-3ABCC22908FF}" type="presOf" srcId="{668DE39E-6440-44D6-B641-38431924736B}" destId="{A3B0B60A-8118-43A5-9AAB-447D3BAD7085}" srcOrd="0" destOrd="0" presId="urn:microsoft.com/office/officeart/2005/8/layout/list1"/>
    <dgm:cxn modelId="{9FF8B707-A2E1-4CDA-B29F-A89CE059C4B0}" type="presOf" srcId="{668DE39E-6440-44D6-B641-38431924736B}" destId="{7D6ED572-F677-49BE-B5AA-8F40E1D6B386}" srcOrd="1" destOrd="0" presId="urn:microsoft.com/office/officeart/2005/8/layout/list1"/>
    <dgm:cxn modelId="{8A05DB19-8D13-444C-8C05-D387B9A7B6AA}" type="presOf" srcId="{BE8A70A4-AEA7-4D5B-8F2E-0E6E145CF870}" destId="{B6C68A5F-8939-421F-AA88-4A01ED60BB0B}" srcOrd="0" destOrd="2" presId="urn:microsoft.com/office/officeart/2005/8/layout/list1"/>
    <dgm:cxn modelId="{B054A33D-4205-4BE5-87BF-500C8695A9FB}" srcId="{668DE39E-6440-44D6-B641-38431924736B}" destId="{BE8A70A4-AEA7-4D5B-8F2E-0E6E145CF870}" srcOrd="2" destOrd="0" parTransId="{75B502E4-DF53-4303-BE64-18D2E7019F16}" sibTransId="{C5E180B4-7E34-4922-8BA4-02828A39E2F3}"/>
    <dgm:cxn modelId="{EF39C353-F0C9-4124-AC3E-25DB6D51260A}" srcId="{668DE39E-6440-44D6-B641-38431924736B}" destId="{8DEDA43B-E136-44B4-8B75-D1A37331E066}" srcOrd="1" destOrd="0" parTransId="{343290D6-17DA-427E-AA9F-FECE2E2B6E24}" sibTransId="{0559985F-BC4C-4C96-9FCB-537071BB54CA}"/>
    <dgm:cxn modelId="{6B7CCB76-5742-4E8B-BED1-1905E0687F91}" type="presOf" srcId="{6DD0457B-D27C-499C-843F-792625A6E378}" destId="{B6C68A5F-8939-421F-AA88-4A01ED60BB0B}" srcOrd="0" destOrd="0" presId="urn:microsoft.com/office/officeart/2005/8/layout/list1"/>
    <dgm:cxn modelId="{4A6F887E-A1F8-4898-AF2F-3C9FB5397CC9}" srcId="{668DE39E-6440-44D6-B641-38431924736B}" destId="{6DD0457B-D27C-499C-843F-792625A6E378}" srcOrd="0" destOrd="0" parTransId="{76E38D5D-F4E0-4456-AA69-199F976A722B}" sibTransId="{52055C13-3361-47B5-AE8A-46C55B08B35C}"/>
    <dgm:cxn modelId="{BEDAB1DC-3C22-466D-B93C-FB854A4B4E3F}" type="presOf" srcId="{17776F6C-3CFC-455D-BEC1-E696FA6FA992}" destId="{9C066B69-EA98-4958-917B-50F73537A0D6}" srcOrd="0" destOrd="0" presId="urn:microsoft.com/office/officeart/2005/8/layout/list1"/>
    <dgm:cxn modelId="{C09113E5-3384-4955-87A5-D11312CF99DC}" type="presOf" srcId="{8DEDA43B-E136-44B4-8B75-D1A37331E066}" destId="{B6C68A5F-8939-421F-AA88-4A01ED60BB0B}" srcOrd="0" destOrd="1" presId="urn:microsoft.com/office/officeart/2005/8/layout/list1"/>
    <dgm:cxn modelId="{274239FB-A880-41F7-9D51-69D8A178D686}" srcId="{17776F6C-3CFC-455D-BEC1-E696FA6FA992}" destId="{668DE39E-6440-44D6-B641-38431924736B}" srcOrd="0" destOrd="0" parTransId="{0217D4BC-843F-421C-92C8-53F3821E6AD0}" sibTransId="{54BAB3D2-4E19-4690-ACAD-C907D99585D4}"/>
    <dgm:cxn modelId="{AD46A7FC-8BB7-4B27-B3B4-58E38FCA95A0}" type="presParOf" srcId="{9C066B69-EA98-4958-917B-50F73537A0D6}" destId="{5B9C7F8A-1252-4915-96B9-6EF6713DBDFF}" srcOrd="0" destOrd="0" presId="urn:microsoft.com/office/officeart/2005/8/layout/list1"/>
    <dgm:cxn modelId="{5FF93D76-A11C-418F-AB96-311656F4F3F8}" type="presParOf" srcId="{5B9C7F8A-1252-4915-96B9-6EF6713DBDFF}" destId="{A3B0B60A-8118-43A5-9AAB-447D3BAD7085}" srcOrd="0" destOrd="0" presId="urn:microsoft.com/office/officeart/2005/8/layout/list1"/>
    <dgm:cxn modelId="{66EE15BE-50B8-4D67-88F6-882E822EB003}" type="presParOf" srcId="{5B9C7F8A-1252-4915-96B9-6EF6713DBDFF}" destId="{7D6ED572-F677-49BE-B5AA-8F40E1D6B386}" srcOrd="1" destOrd="0" presId="urn:microsoft.com/office/officeart/2005/8/layout/list1"/>
    <dgm:cxn modelId="{CEB68DB7-5780-40E7-9E60-A5C1CD658C22}" type="presParOf" srcId="{9C066B69-EA98-4958-917B-50F73537A0D6}" destId="{86211492-FE55-48D9-81C9-08055784652E}" srcOrd="1" destOrd="0" presId="urn:microsoft.com/office/officeart/2005/8/layout/list1"/>
    <dgm:cxn modelId="{EBC83FF8-49F7-4F8B-A805-FF8BC90A9C6F}" type="presParOf" srcId="{9C066B69-EA98-4958-917B-50F73537A0D6}" destId="{B6C68A5F-8939-421F-AA88-4A01ED60BB0B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C68A5F-8939-421F-AA88-4A01ED60BB0B}">
      <dsp:nvSpPr>
        <dsp:cNvPr id="0" name=""/>
        <dsp:cNvSpPr/>
      </dsp:nvSpPr>
      <dsp:spPr>
        <a:xfrm>
          <a:off x="0" y="209420"/>
          <a:ext cx="7674102" cy="176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5596" tIns="291592" rIns="59559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CA" sz="1400" kern="1200" dirty="0"/>
            <a:t>Obligations émises pour financer des projets de préservation de l'environnement (efficacité énergétique, réduction de la pollution, agriculture durable, gestion de l'eau, taux </a:t>
          </a:r>
          <a:r>
            <a:rPr lang="fr-CA" sz="1400" kern="1200" dirty="0" err="1"/>
            <a:t>eCoupon</a:t>
          </a:r>
          <a:r>
            <a:rPr lang="fr-CA" sz="1400" kern="1200" dirty="0"/>
            <a:t>).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CA" sz="1400" kern="1200" dirty="0"/>
            <a:t>Parfois associées à des incitations fiscales (qui augmentent le rendement pour les investisseurs).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CA" sz="1400" kern="1200" dirty="0"/>
            <a:t>Selon la </a:t>
          </a:r>
          <a:r>
            <a:rPr lang="fr-CA" sz="1400" kern="1200" dirty="0" err="1"/>
            <a:t>Climate </a:t>
          </a:r>
          <a:r>
            <a:rPr lang="fr-CA" sz="1400" kern="1200" dirty="0"/>
            <a:t>Bonds Initiative, les émissions d'obligations vertes ont atteint 269,5 milliards de dollars américains en 2020.</a:t>
          </a:r>
          <a:endParaRPr lang="en-US" sz="1400" kern="1200" dirty="0"/>
        </a:p>
      </dsp:txBody>
      <dsp:txXfrm>
        <a:off x="0" y="209420"/>
        <a:ext cx="7674102" cy="1764000"/>
      </dsp:txXfrm>
    </dsp:sp>
    <dsp:sp modelId="{7D6ED572-F677-49BE-B5AA-8F40E1D6B386}">
      <dsp:nvSpPr>
        <dsp:cNvPr id="0" name=""/>
        <dsp:cNvSpPr/>
      </dsp:nvSpPr>
      <dsp:spPr>
        <a:xfrm>
          <a:off x="383705" y="2780"/>
          <a:ext cx="5371871" cy="413280"/>
        </a:xfrm>
        <a:prstGeom prst="roundRect">
          <a:avLst/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044" tIns="0" rIns="203044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CA" sz="2800" b="1" kern="1200" dirty="0"/>
            <a:t>Obligations vertes </a:t>
          </a:r>
          <a:r>
            <a:rPr lang="fr-CA" sz="2800" kern="1200" dirty="0"/>
            <a:t>:</a:t>
          </a:r>
          <a:endParaRPr lang="en-US" sz="2800" kern="1200" dirty="0"/>
        </a:p>
      </dsp:txBody>
      <dsp:txXfrm>
        <a:off x="403880" y="22955"/>
        <a:ext cx="5331521" cy="372930"/>
      </dsp:txXfrm>
    </dsp:sp>
    <dsp:sp modelId="{5D4E3DBA-61FF-4636-904D-8C2CD7149EEE}">
      <dsp:nvSpPr>
        <dsp:cNvPr id="0" name=""/>
        <dsp:cNvSpPr/>
      </dsp:nvSpPr>
      <dsp:spPr>
        <a:xfrm>
          <a:off x="0" y="2255661"/>
          <a:ext cx="7674102" cy="992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5596" tIns="291592" rIns="595596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400" kern="1200"/>
            <a:t>Obligations émises pour financer des projets liés à la protection des océans et des écosystèmes marins.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400" kern="1200"/>
            <a:t>Les obligations bleues sont un type particulier d'obligations vertes.</a:t>
          </a:r>
          <a:endParaRPr lang="en-US" sz="1400" kern="1200"/>
        </a:p>
      </dsp:txBody>
      <dsp:txXfrm>
        <a:off x="0" y="2255661"/>
        <a:ext cx="7674102" cy="992250"/>
      </dsp:txXfrm>
    </dsp:sp>
    <dsp:sp modelId="{153D9CA0-D04A-4533-8C92-24668E9941D9}">
      <dsp:nvSpPr>
        <dsp:cNvPr id="0" name=""/>
        <dsp:cNvSpPr/>
      </dsp:nvSpPr>
      <dsp:spPr>
        <a:xfrm>
          <a:off x="383705" y="2049021"/>
          <a:ext cx="5371871" cy="413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044" tIns="0" rIns="203044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CA" sz="2800" b="1" kern="1200" dirty="0"/>
            <a:t>Obligations bleues :</a:t>
          </a:r>
          <a:endParaRPr lang="en-US" sz="2800" kern="1200" dirty="0"/>
        </a:p>
      </dsp:txBody>
      <dsp:txXfrm>
        <a:off x="403880" y="2069196"/>
        <a:ext cx="5331521" cy="372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C68A5F-8939-421F-AA88-4A01ED60BB0B}">
      <dsp:nvSpPr>
        <dsp:cNvPr id="0" name=""/>
        <dsp:cNvSpPr/>
      </dsp:nvSpPr>
      <dsp:spPr>
        <a:xfrm>
          <a:off x="0" y="329165"/>
          <a:ext cx="7674102" cy="287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95596" tIns="395732" rIns="595596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900" b="1" kern="1200" dirty="0"/>
            <a:t>Brune </a:t>
          </a:r>
          <a:r>
            <a:rPr lang="fr-FR" sz="1900" kern="1200" dirty="0"/>
            <a:t>: obligations émises par des entreprises du « secteur brun » (entreprises basées sur les combustibles fossiles).</a:t>
          </a:r>
          <a:endParaRPr lang="fr-CA" sz="1900" kern="1200" noProof="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CA" sz="1900" b="1" kern="1200" noProof="0" dirty="0"/>
            <a:t>Transition </a:t>
          </a:r>
          <a:r>
            <a:rPr lang="fr-CA" sz="1900" kern="1200" noProof="0" dirty="0"/>
            <a:t>: obligations émises par des entreprises </a:t>
          </a:r>
          <a:r>
            <a:rPr lang="fr-CA" sz="1900" kern="1200" noProof="0" dirty="0" err="1"/>
            <a:t>du secteur brun </a:t>
          </a:r>
          <a:r>
            <a:rPr lang="fr-FR" sz="1900" kern="1200" dirty="0"/>
            <a:t>pour financer des projets de transition énergétique (vers des énergies plus vertes). 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fr-FR" sz="1900" kern="1200" dirty="0"/>
            <a:t>Méfiez-vous du « </a:t>
          </a:r>
          <a:r>
            <a:rPr lang="fr-FR" sz="1900" kern="1200" dirty="0" err="1"/>
            <a:t>greenwashing </a:t>
          </a:r>
          <a:r>
            <a:rPr lang="fr-FR" sz="1900" kern="1200" dirty="0"/>
            <a:t>» : une méthode marketing qui s'appuie sur des arguments écologiques, sans que la réalité de l'entreprise ne suive ces principes.</a:t>
          </a:r>
          <a:endParaRPr lang="en-US" sz="1900" kern="1200" dirty="0"/>
        </a:p>
      </dsp:txBody>
      <dsp:txXfrm>
        <a:off x="0" y="329165"/>
        <a:ext cx="7674102" cy="2872800"/>
      </dsp:txXfrm>
    </dsp:sp>
    <dsp:sp modelId="{7D6ED572-F677-49BE-B5AA-8F40E1D6B386}">
      <dsp:nvSpPr>
        <dsp:cNvPr id="0" name=""/>
        <dsp:cNvSpPr/>
      </dsp:nvSpPr>
      <dsp:spPr>
        <a:xfrm>
          <a:off x="383705" y="48725"/>
          <a:ext cx="5371871" cy="560880"/>
        </a:xfrm>
        <a:prstGeom prst="roundRect">
          <a:avLst/>
        </a:prstGeom>
        <a:solidFill>
          <a:srgbClr val="8E796A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044" tIns="0" rIns="20304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fr-CA" sz="2000" b="1" kern="1200" dirty="0"/>
            <a:t>Obligations brunes et obligations de transition </a:t>
          </a:r>
          <a:r>
            <a:rPr lang="fr-CA" sz="2000" kern="1200" dirty="0"/>
            <a:t>:</a:t>
          </a:r>
          <a:endParaRPr lang="en-US" sz="2000" kern="1200" dirty="0"/>
        </a:p>
      </dsp:txBody>
      <dsp:txXfrm>
        <a:off x="411085" y="76105"/>
        <a:ext cx="5317111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3A43BB1-82BD-423B-B35A-974BC9C6034F}" type="datetimeFigureOut">
              <a:rPr lang="fr-CA" smtClean="0"/>
              <a:t>2026-09-13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55DEA30-6F50-4834-B9A9-17A2A41D4712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33920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trike="no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5E59A1-C51A-4F4A-86C8-22A0EC8DAD15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5677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95278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39837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180201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79929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18877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54368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45779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10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520544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801DF5-6BF2-4047-8DA5-606EE14CB4DE}" type="slidenum">
              <a:rPr lang="fr-CA" smtClean="0"/>
              <a:t>11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989130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12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640723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13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435739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16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25152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9D10A190-61EA-45D0-9448-981E41D3D3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200"/>
              <a:t>6.</a:t>
            </a:r>
            <a:fld id="{C1D25139-E5C3-48FC-AF68-4AE05416D5F5}" type="slidenum">
              <a:rPr lang="en-US" altLang="en-US" sz="1200"/>
              <a:t>17</a:t>
            </a:fld>
            <a:endParaRPr lang="en-US" altLang="en-US" sz="120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9E97975F-6B0D-4E8C-A779-20BC10D808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AAA7DD97-C076-4172-9090-DD9D6BE418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55DEA30-6F50-4834-B9A9-17A2A41D4712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18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65104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19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240399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23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084436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24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889575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25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962572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27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368758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5DEA30-6F50-4834-B9A9-17A2A41D4712}" type="slidenum">
              <a:rPr lang="fr-CA" smtClean="0"/>
              <a:t>29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24783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F436627-F8D8-47A6-A674-75CD294D5548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fr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823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 marL="380985" indent="0" algn="ctr">
              <a:buNone/>
            </a:lvl2pPr>
            <a:lvl3pPr marL="761970" indent="0" algn="ctr">
              <a:buNone/>
            </a:lvl3pPr>
            <a:lvl4pPr marL="1142954" indent="0" algn="ctr">
              <a:buNone/>
            </a:lvl4pPr>
            <a:lvl5pPr marL="1523939" indent="0" algn="ctr">
              <a:buNone/>
            </a:lvl5pPr>
            <a:lvl6pPr marL="1904924" indent="0" algn="ctr">
              <a:buNone/>
            </a:lvl6pPr>
            <a:lvl7pPr marL="2285909" indent="0" algn="ctr">
              <a:buNone/>
            </a:lvl7pPr>
            <a:lvl8pPr marL="2666893" indent="0" algn="ctr">
              <a:buNone/>
            </a:lvl8pPr>
            <a:lvl9pPr marL="3047878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0F6DF-01E9-47F1-8163-9BEB7C8BC220}" type="datetime1">
              <a:rPr lang="fr-FR" smtClean="0"/>
              <a:t>13/09/2026</a:t>
            </a:fld>
            <a:endParaRPr lang="fr-CA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5791200" y="2199452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35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7716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36FDD-6EE9-43F4-93B1-CE197328F736}" type="datetime1">
              <a:rPr lang="fr-FR" smtClean="0"/>
              <a:t>13/09/2026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74"/>
            <a:ext cx="609600" cy="441325"/>
          </a:xfrm>
        </p:spPr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06545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7B236-D12E-4B54-87C2-32B2BBA3218A}" type="datetime1">
              <a:rPr lang="fr-FR" smtClean="0"/>
              <a:t>13/09/2026</a:t>
            </a:fld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52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35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25271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fld id="{8282478E-43D3-48F4-A532-39D2B902B964}" type="datetime1">
              <a:rPr lang="fr-FR" smtClean="0"/>
              <a:t>13/09/2026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0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083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083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562085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6096000" y="2200276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1833" b="1" dirty="0" smtClean="0">
                <a:solidFill>
                  <a:srgbClr val="FFFFFF"/>
                </a:solidFill>
              </a:defRPr>
            </a:lvl1pPr>
            <a:lvl2pPr>
              <a:buNone/>
              <a:defRPr sz="1667" b="1"/>
            </a:lvl2pPr>
            <a:lvl3pPr>
              <a:buNone/>
              <a:defRPr sz="1500" b="1"/>
            </a:lvl3pPr>
            <a:lvl4pPr>
              <a:buNone/>
              <a:defRPr sz="1333" b="1"/>
            </a:lvl4pPr>
            <a:lvl5pPr>
              <a:buNone/>
              <a:defRPr sz="13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388444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1833" b="1"/>
            </a:lvl1pPr>
            <a:lvl2pPr>
              <a:buNone/>
              <a:defRPr sz="1667" b="1"/>
            </a:lvl2pPr>
            <a:lvl3pPr>
              <a:buNone/>
              <a:defRPr sz="1500" b="1"/>
            </a:lvl3pPr>
            <a:lvl4pPr>
              <a:buNone/>
              <a:defRPr sz="1333" b="1"/>
            </a:lvl4pPr>
            <a:lvl5pPr>
              <a:buNone/>
              <a:defRPr sz="13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55DF2-1BD1-4DEE-A2C6-094A2165EA7B}" type="datetime1">
              <a:rPr lang="fr-FR" smtClean="0"/>
              <a:t>13/09/2026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402336" y="2471384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5791200" y="1042418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95747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30EF0-3B95-4AAD-8162-38C9AD8BB518}" type="datetime1">
              <a:rPr lang="fr-FR" smtClean="0"/>
              <a:t>13/09/2026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5791200" y="1036022"/>
            <a:ext cx="609600" cy="441325"/>
          </a:xfrm>
        </p:spPr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943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FC2E3-C1AA-437B-938C-C9869813C0C7}" type="datetime1">
              <a:rPr lang="fr-FR" smtClean="0"/>
              <a:t>13/09/2026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7C2F0C-A6A4-44C9-B109-8FE1FD9A5A06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73325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833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833"/>
              </a:spcAft>
              <a:buNone/>
              <a:defRPr sz="1333">
                <a:solidFill>
                  <a:srgbClr val="FFFFFF"/>
                </a:solidFill>
              </a:defRPr>
            </a:lvl1pPr>
            <a:lvl2pPr>
              <a:buNone/>
              <a:defRPr sz="1000"/>
            </a:lvl2pPr>
            <a:lvl3pPr>
              <a:buNone/>
              <a:defRPr sz="833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0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C14F-A41F-406B-A339-640C69B9C236}" type="datetime1">
              <a:rPr lang="fr-FR" smtClean="0"/>
              <a:t>13/09/2026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1626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0"/>
            <a:ext cx="609600" cy="441325"/>
          </a:xfrm>
        </p:spPr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2667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833"/>
              </a:spcAft>
              <a:buFontTx/>
              <a:buNone/>
              <a:defRPr sz="1333">
                <a:solidFill>
                  <a:srgbClr val="FFFFFF"/>
                </a:solidFill>
              </a:defRPr>
            </a:lvl1pPr>
            <a:lvl2pPr>
              <a:defRPr sz="1000"/>
            </a:lvl2pPr>
            <a:lvl3pPr>
              <a:defRPr sz="833"/>
            </a:lvl3pPr>
            <a:lvl4pPr>
              <a:defRPr sz="750"/>
            </a:lvl4pPr>
            <a:lvl5pPr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fld id="{4ABE3648-25CA-47DE-A446-05F3108AF8B6}" type="datetime1">
              <a:rPr lang="fr-FR" smtClean="0"/>
              <a:t>13/09/2026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0111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2127-DD7C-49FF-860D-4B2924EA1C48}" type="datetime1">
              <a:rPr lang="fr-FR" smtClean="0"/>
              <a:t>13/09/2026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0671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21216" y="3009903"/>
            <a:ext cx="609600" cy="441325"/>
          </a:xfrm>
        </p:spPr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3D88-5A53-4D58-AD31-89E8BB31BFFF}" type="datetime1">
              <a:rPr lang="fr-FR" smtClean="0"/>
              <a:t>13/09/2026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855200" y="304803"/>
            <a:ext cx="1930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34126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 marL="380985" indent="0" algn="ctr">
              <a:buNone/>
            </a:lvl2pPr>
            <a:lvl3pPr marL="761970" indent="0" algn="ctr">
              <a:buNone/>
            </a:lvl3pPr>
            <a:lvl4pPr marL="1142954" indent="0" algn="ctr">
              <a:buNone/>
            </a:lvl4pPr>
            <a:lvl5pPr marL="1523939" indent="0" algn="ctr">
              <a:buNone/>
            </a:lvl5pPr>
            <a:lvl6pPr marL="1904924" indent="0" algn="ctr">
              <a:buNone/>
            </a:lvl6pPr>
            <a:lvl7pPr marL="2285909" indent="0" algn="ctr">
              <a:buNone/>
            </a:lvl7pPr>
            <a:lvl8pPr marL="2666893" indent="0" algn="ctr">
              <a:buNone/>
            </a:lvl8pPr>
            <a:lvl9pPr marL="3047878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5791200" y="2199452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35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607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74"/>
            <a:ext cx="609600" cy="441325"/>
          </a:xfrm>
        </p:spPr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115664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333" b="1" cap="all" spc="208" baseline="0">
                <a:solidFill>
                  <a:schemeClr val="tx2"/>
                </a:solidFill>
              </a:defRPr>
            </a:lvl1pPr>
            <a:lvl2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167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52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35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9394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0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083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083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33914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6096000" y="2200276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1833" b="1" dirty="0" smtClean="0">
                <a:solidFill>
                  <a:srgbClr val="FFFFFF"/>
                </a:solidFill>
              </a:defRPr>
            </a:lvl1pPr>
            <a:lvl2pPr>
              <a:buNone/>
              <a:defRPr sz="1667" b="1"/>
            </a:lvl2pPr>
            <a:lvl3pPr>
              <a:buNone/>
              <a:defRPr sz="1500" b="1"/>
            </a:lvl3pPr>
            <a:lvl4pPr>
              <a:buNone/>
              <a:defRPr sz="1333" b="1"/>
            </a:lvl4pPr>
            <a:lvl5pPr>
              <a:buNone/>
              <a:defRPr sz="13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388444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1833" b="1"/>
            </a:lvl1pPr>
            <a:lvl2pPr>
              <a:buNone/>
              <a:defRPr sz="1667" b="1"/>
            </a:lvl2pPr>
            <a:lvl3pPr>
              <a:buNone/>
              <a:defRPr sz="1500" b="1"/>
            </a:lvl3pPr>
            <a:lvl4pPr>
              <a:buNone/>
              <a:defRPr sz="1333" b="1"/>
            </a:lvl4pPr>
            <a:lvl5pPr>
              <a:buNone/>
              <a:defRPr sz="1333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402336" y="2471384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5791200" y="1042418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68411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5791200" y="1036022"/>
            <a:ext cx="609600" cy="441325"/>
          </a:xfrm>
        </p:spPr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186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225058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833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833"/>
              </a:spcAft>
              <a:buNone/>
              <a:defRPr sz="1333">
                <a:solidFill>
                  <a:srgbClr val="FFFFFF"/>
                </a:solidFill>
              </a:defRPr>
            </a:lvl1pPr>
            <a:lvl2pPr>
              <a:buNone/>
              <a:defRPr sz="1000"/>
            </a:lvl2pPr>
            <a:lvl3pPr>
              <a:buNone/>
              <a:defRPr sz="833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0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140917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0"/>
            <a:ext cx="609600" cy="441325"/>
          </a:xfrm>
        </p:spPr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2667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833"/>
              </a:spcAft>
              <a:buFontTx/>
              <a:buNone/>
              <a:defRPr sz="1333">
                <a:solidFill>
                  <a:srgbClr val="FFFFFF"/>
                </a:solidFill>
              </a:defRPr>
            </a:lvl1pPr>
            <a:lvl2pPr>
              <a:defRPr sz="1000"/>
            </a:lvl2pPr>
            <a:lvl3pPr>
              <a:defRPr sz="833"/>
            </a:lvl3pPr>
            <a:lvl4pPr>
              <a:defRPr sz="750"/>
            </a:lvl4pPr>
            <a:lvl5pPr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117105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2904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21216" y="3009903"/>
            <a:ext cx="609600" cy="441325"/>
          </a:xfrm>
        </p:spPr>
        <p:txBody>
          <a:bodyPr/>
          <a:lstStyle/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/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855200" y="304803"/>
            <a:ext cx="1930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7053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87139" y="1036639"/>
            <a:ext cx="609600" cy="441325"/>
          </a:xfrm>
        </p:spPr>
        <p:txBody>
          <a:bodyPr>
            <a:norm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  <a:noFill/>
        </p:spPr>
        <p:txBody>
          <a:bodyPr/>
          <a:lstStyle>
            <a:lvl1pPr>
              <a:buClrTx/>
              <a:buSzPct val="100000"/>
              <a:defRPr>
                <a:latin typeface="Amasis MT Pro Light" panose="02040304050005020304" pitchFamily="18" charset="0"/>
              </a:defRPr>
            </a:lvl1pPr>
            <a:lvl2pPr marL="457159" indent="-228580">
              <a:buClr>
                <a:schemeClr val="accent6">
                  <a:lumMod val="75000"/>
                </a:schemeClr>
              </a:buClr>
              <a:buSzPct val="85000"/>
              <a:buFont typeface="Wingdings" panose="05000000000000000000" pitchFamily="2" charset="2"/>
              <a:buChar char=""/>
              <a:defRPr>
                <a:solidFill>
                  <a:schemeClr val="accent3">
                    <a:lumMod val="50000"/>
                  </a:schemeClr>
                </a:solidFill>
                <a:latin typeface="Amasis MT Pro Light" panose="02040304050005020304" pitchFamily="18" charset="0"/>
              </a:defRPr>
            </a:lvl2pPr>
            <a:lvl3pPr marL="685739" indent="-190482">
              <a:buClr>
                <a:schemeClr val="tx2"/>
              </a:buClr>
              <a:buSzPct val="85000"/>
              <a:buFont typeface="Courier New" panose="02070309020205020404" pitchFamily="49" charset="0"/>
              <a:buChar char="o"/>
              <a:defRPr>
                <a:solidFill>
                  <a:schemeClr val="accent2">
                    <a:lumMod val="75000"/>
                  </a:schemeClr>
                </a:solidFill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8959590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73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200" b="1" cap="all" spc="187" baseline="0">
                <a:solidFill>
                  <a:schemeClr val="tx2"/>
                </a:solidFill>
                <a:latin typeface="Amasis MT Pro Light" panose="02040304050005020304" pitchFamily="18" charset="0"/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6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3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60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5" y="533400"/>
            <a:ext cx="10363200" cy="1524000"/>
          </a:xfrm>
        </p:spPr>
        <p:txBody>
          <a:bodyPr anchor="b"/>
          <a:lstStyle>
            <a:lvl1pPr algn="ctr">
              <a:buNone/>
              <a:defRPr sz="3150" b="0" cap="none" baseline="0">
                <a:solidFill>
                  <a:srgbClr val="FFFFFF"/>
                </a:solidFill>
                <a:latin typeface="Amasis MT Pro Light" panose="02040304050005020304" pitchFamily="18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1177371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65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750"/>
              </a:spcAft>
              <a:buNone/>
              <a:defRPr sz="1200">
                <a:solidFill>
                  <a:srgbClr val="FFFFFF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6"/>
            </a:lvl4pPr>
            <a:lvl5pPr>
              <a:buNone/>
              <a:defRPr sz="676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4" y="685800"/>
            <a:ext cx="7518400" cy="5410200"/>
          </a:xfrm>
          <a:noFill/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1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1622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F0BD8F-A75F-44D8-942F-F1E8634EA224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0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500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083" b="0">
                <a:latin typeface="Amasis MT Pro Light" panose="02040304050005020304" pitchFamily="18" charset="0"/>
              </a:defRPr>
            </a:lvl1pPr>
            <a:lvl2pPr>
              <a:defRPr b="0">
                <a:latin typeface="Amasis MT Pro Light" panose="02040304050005020304" pitchFamily="18" charset="0"/>
              </a:defRPr>
            </a:lvl2pPr>
            <a:lvl3pPr>
              <a:defRPr b="0">
                <a:latin typeface="Amasis MT Pro Light" panose="02040304050005020304" pitchFamily="18" charset="0"/>
              </a:defRPr>
            </a:lvl3pPr>
            <a:lvl4pPr>
              <a:defRPr b="0">
                <a:latin typeface="Amasis MT Pro Light" panose="02040304050005020304" pitchFamily="18" charset="0"/>
              </a:defRPr>
            </a:lvl4pPr>
            <a:lvl5pPr>
              <a:defRPr b="0"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083"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896922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79"/>
            <a:ext cx="609600" cy="44132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07D78C65-EB30-EA4B-B3AF-ED56473E9FBA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2681861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65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750"/>
              </a:spcAft>
              <a:buNone/>
              <a:defRPr sz="1200">
                <a:solidFill>
                  <a:srgbClr val="FFFFFF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6"/>
            </a:lvl4pPr>
            <a:lvl5pPr>
              <a:buNone/>
              <a:defRPr sz="676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4" y="685800"/>
            <a:ext cx="7518400" cy="5410200"/>
          </a:xfrm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0" name="Ellipse 9"/>
          <p:cNvSpPr/>
          <p:nvPr/>
        </p:nvSpPr>
        <p:spPr>
          <a:xfrm>
            <a:off x="1727204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1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9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750904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59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6197600" y="3938592"/>
            <a:ext cx="5384800" cy="21875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609600" y="6245227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4165600" y="6245227"/>
            <a:ext cx="3860800" cy="476251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8737600" y="6245227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FCFA56F3-0D84-4B01-A76F-E92948C57A70}" type="slidenum">
              <a:rPr lang="fr-CA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437179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74"/>
            <a:ext cx="609600" cy="441325"/>
          </a:xfrm>
        </p:spPr>
        <p:txBody>
          <a:bodyPr/>
          <a:lstStyle>
            <a:lvl1pPr>
              <a:defRPr sz="1333"/>
            </a:lvl1pPr>
          </a:lstStyle>
          <a:p>
            <a:pPr>
              <a:defRPr/>
            </a:pPr>
            <a:fld id="{07D78C65-EB30-EA4B-B3AF-ED56473E9FBA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634867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3048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5072" y="639166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828800" y="2819400"/>
            <a:ext cx="8534400" cy="1752600"/>
          </a:xfrm>
        </p:spPr>
        <p:txBody>
          <a:bodyPr/>
          <a:lstStyle>
            <a:lvl1pPr marL="0" indent="0" algn="ctr">
              <a:buNone/>
              <a:defRPr sz="1200" b="1" cap="all" spc="188" baseline="0">
                <a:solidFill>
                  <a:schemeClr val="tx2"/>
                </a:solidFill>
              </a:defRPr>
            </a:lvl1pPr>
            <a:lvl2pPr marL="342887" indent="0" algn="ctr">
              <a:buNone/>
            </a:lvl2pPr>
            <a:lvl3pPr marL="685773" indent="0" algn="ctr">
              <a:buNone/>
            </a:lvl3pPr>
            <a:lvl4pPr marL="1028659" indent="0" algn="ctr">
              <a:buNone/>
            </a:lvl4pPr>
            <a:lvl5pPr marL="1371545" indent="0" algn="ctr">
              <a:buNone/>
            </a:lvl5pPr>
            <a:lvl6pPr marL="1714432" indent="0" algn="ctr">
              <a:buNone/>
            </a:lvl6pPr>
            <a:lvl7pPr marL="2057318" indent="0" algn="ctr">
              <a:buNone/>
            </a:lvl7pPr>
            <a:lvl8pPr marL="2400204" indent="0" algn="ctr">
              <a:buNone/>
            </a:lvl8pPr>
            <a:lvl9pPr marL="2743091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207264" y="2420112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5791200" y="2199455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A324EA66-A4B0-4224-BBA5-0FC2F2091774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914400" y="381000"/>
            <a:ext cx="10363200" cy="1752600"/>
          </a:xfrm>
        </p:spPr>
        <p:txBody>
          <a:bodyPr anchor="b"/>
          <a:lstStyle>
            <a:lvl1pPr>
              <a:defRPr sz="315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84844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815584" y="1026377"/>
            <a:ext cx="609600" cy="441325"/>
          </a:xfrm>
        </p:spPr>
        <p:txBody>
          <a:bodyPr/>
          <a:lstStyle/>
          <a:p>
            <a:pPr>
              <a:defRPr/>
            </a:pPr>
            <a:fld id="{93C7882D-F441-4648-9C50-5072DBCC9D63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10611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68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200" b="1" cap="all" spc="188" baseline="0">
                <a:solidFill>
                  <a:schemeClr val="tx2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6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0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55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ACCD3217-9817-4872-9FE9-0F35C2617878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533400"/>
            <a:ext cx="10363200" cy="1524000"/>
          </a:xfrm>
        </p:spPr>
        <p:txBody>
          <a:bodyPr anchor="b"/>
          <a:lstStyle>
            <a:lvl1pPr algn="ctr">
              <a:buNone/>
              <a:defRPr sz="315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572914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B4160-BEC7-480B-A15C-B98BAAC7102F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3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1875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1875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5053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6096000" y="2200276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12192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03200" y="1371600"/>
            <a:ext cx="11777472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4564" y="6391656"/>
            <a:ext cx="11777472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5386917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1650" b="1" dirty="0" smtClean="0">
                <a:solidFill>
                  <a:srgbClr val="FFFFFF"/>
                </a:solidFill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388446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1650" b="1"/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6400" y="6409944"/>
            <a:ext cx="4775200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203200" y="128016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402336" y="2471385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5791200" y="1042421"/>
            <a:ext cx="6096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3CBA4568-AD52-4CB0-B47B-D5416F603BEE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9168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5791200" y="1036025"/>
            <a:ext cx="609600" cy="441325"/>
          </a:xfrm>
        </p:spPr>
        <p:txBody>
          <a:bodyPr/>
          <a:lstStyle/>
          <a:p>
            <a:pPr>
              <a:defRPr/>
            </a:pPr>
            <a:fld id="{5C3A58B9-6C5A-4C4F-A301-4FE9DEEE0E0C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842615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6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0E58A79-823B-415C-B96A-0DA0927A0E78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14398374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65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4"/>
            <a:ext cx="3149600" cy="4144963"/>
          </a:xfrm>
        </p:spPr>
        <p:txBody>
          <a:bodyPr/>
          <a:lstStyle>
            <a:lvl1pPr marL="0" indent="0">
              <a:spcAft>
                <a:spcPts val="750"/>
              </a:spcAft>
              <a:buNone/>
              <a:defRPr sz="1200">
                <a:solidFill>
                  <a:srgbClr val="FFFFFF"/>
                </a:solidFill>
              </a:defRPr>
            </a:lvl1pPr>
            <a:lvl2pPr>
              <a:buNone/>
              <a:defRPr sz="900"/>
            </a:lvl2pPr>
            <a:lvl3pPr>
              <a:buNone/>
              <a:defRPr sz="750"/>
            </a:lvl3pPr>
            <a:lvl4pPr>
              <a:buNone/>
              <a:defRPr sz="675"/>
            </a:lvl4pPr>
            <a:lvl5pPr>
              <a:buNone/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3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354E199E-4E0B-4BED-BDCE-D9E19E8FE615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91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969607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203200" y="152400"/>
            <a:ext cx="11777472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3"/>
            <a:ext cx="609600" cy="441325"/>
          </a:xfrm>
        </p:spPr>
        <p:txBody>
          <a:bodyPr/>
          <a:lstStyle/>
          <a:p>
            <a:pPr>
              <a:defRPr/>
            </a:pPr>
            <a:fld id="{8EDA00BC-A223-4E39-95EA-BB8A711B6D1F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18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750"/>
              </a:spcAft>
              <a:buFontTx/>
              <a:buNone/>
              <a:defRPr sz="1200">
                <a:solidFill>
                  <a:srgbClr val="FFFFFF"/>
                </a:solidFill>
              </a:defRPr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99136" y="6388391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7970084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7F4BBC-A50D-472A-9282-574269CBB30A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447515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9347200" y="0"/>
            <a:ext cx="28448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95072" y="639166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6403340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9119616" y="2925763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9245600" y="3020251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221216" y="3009907"/>
            <a:ext cx="609600" cy="441325"/>
          </a:xfrm>
        </p:spPr>
        <p:txBody>
          <a:bodyPr/>
          <a:lstStyle/>
          <a:p>
            <a:pPr>
              <a:defRPr/>
            </a:pPr>
            <a:fld id="{9C18D745-C84B-4C60-BCFC-BE659AADC1CC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06400" y="304800"/>
            <a:ext cx="87376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855200" y="304807"/>
            <a:ext cx="1930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185862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87139" y="1036640"/>
            <a:ext cx="609600" cy="441325"/>
          </a:xfrm>
        </p:spPr>
        <p:txBody>
          <a:bodyPr>
            <a:normAutofit/>
          </a:bodyPr>
          <a:lstStyle>
            <a:lvl1pPr>
              <a:defRPr sz="917"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  <a:noFill/>
        </p:spPr>
        <p:txBody>
          <a:bodyPr/>
          <a:lstStyle>
            <a:lvl1pPr>
              <a:buClrTx/>
              <a:buSzPct val="100000"/>
              <a:defRPr>
                <a:latin typeface="Amasis MT Pro Light" panose="02040304050005020304" pitchFamily="18" charset="0"/>
              </a:defRPr>
            </a:lvl1pPr>
            <a:lvl2pPr marL="380951" indent="-190476">
              <a:buClr>
                <a:schemeClr val="accent6">
                  <a:lumMod val="75000"/>
                </a:schemeClr>
              </a:buClr>
              <a:buSzPct val="85000"/>
              <a:buFont typeface="Wingdings" panose="05000000000000000000" pitchFamily="2" charset="2"/>
              <a:buChar char=""/>
              <a:defRPr>
                <a:solidFill>
                  <a:schemeClr val="accent3">
                    <a:lumMod val="50000"/>
                  </a:schemeClr>
                </a:solidFill>
                <a:latin typeface="Amasis MT Pro Light" panose="02040304050005020304" pitchFamily="18" charset="0"/>
              </a:defRPr>
            </a:lvl2pPr>
            <a:lvl3pPr marL="571426" indent="-158729">
              <a:buClr>
                <a:schemeClr val="tx2"/>
              </a:buClr>
              <a:buSzPct val="85000"/>
              <a:buFont typeface="Courier New" panose="02070309020205020404" pitchFamily="49" charset="0"/>
              <a:buChar char="o"/>
              <a:defRPr>
                <a:solidFill>
                  <a:schemeClr val="accent2">
                    <a:lumMod val="75000"/>
                  </a:schemeClr>
                </a:solidFill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55632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23521" y="158496"/>
            <a:ext cx="11777472" cy="213969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73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000" b="1" cap="all" spc="156" baseline="0">
                <a:solidFill>
                  <a:schemeClr val="tx2"/>
                </a:solidFill>
                <a:latin typeface="Amasis MT Pro Light" panose="02040304050005020304" pitchFamily="18" charset="0"/>
              </a:defRPr>
            </a:lvl1pPr>
            <a:lvl2pPr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875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6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3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61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5" y="533400"/>
            <a:ext cx="10363200" cy="1524000"/>
          </a:xfrm>
        </p:spPr>
        <p:txBody>
          <a:bodyPr anchor="b"/>
          <a:lstStyle>
            <a:lvl1pPr algn="ctr">
              <a:buNone/>
              <a:defRPr sz="2625" b="0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813638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60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7797711-19F7-489A-B9FE-21143DCBA2BB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804217763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527" b="1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694"/>
              </a:spcAft>
              <a:buNone/>
              <a:defRPr sz="1111">
                <a:solidFill>
                  <a:schemeClr val="tx1"/>
                </a:solidFill>
              </a:defRPr>
            </a:lvl1pPr>
            <a:lvl2pPr>
              <a:buNone/>
              <a:defRPr sz="833"/>
            </a:lvl2pPr>
            <a:lvl3pPr>
              <a:buNone/>
              <a:defRPr sz="694"/>
            </a:lvl3pPr>
            <a:lvl4pPr>
              <a:buNone/>
              <a:defRPr sz="625"/>
            </a:lvl4pPr>
            <a:lvl5pPr>
              <a:buNone/>
              <a:defRPr sz="625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0" name="Ellipse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1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8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803772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F0BD8F-A75F-44D8-942F-F1E8634EA224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3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3500" tIns="31750" rIns="63500" bIns="3175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1736"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1736"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67927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39" y="1715290"/>
            <a:ext cx="10916125" cy="456254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38400" y="1715040"/>
            <a:ext cx="7032000" cy="1749600"/>
          </a:xfrm>
          <a:solidFill>
            <a:schemeClr val="accent1">
              <a:alpha val="80000"/>
            </a:schemeClr>
          </a:solidFill>
        </p:spPr>
        <p:txBody>
          <a:bodyPr bIns="72000">
            <a:normAutofit/>
          </a:bodyPr>
          <a:lstStyle>
            <a:lvl1pPr>
              <a:defRPr sz="3240">
                <a:solidFill>
                  <a:schemeClr val="accent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38400" y="3555190"/>
            <a:ext cx="7022400" cy="482803"/>
          </a:xfrm>
          <a:solidFill>
            <a:schemeClr val="accent1">
              <a:alpha val="80000"/>
            </a:schemeClr>
          </a:solidFill>
        </p:spPr>
        <p:txBody>
          <a:bodyPr anchor="ctr" anchorCtr="0">
            <a:normAutofit/>
          </a:bodyPr>
          <a:lstStyle>
            <a:lvl1pPr marL="0" indent="0" algn="l">
              <a:buNone/>
              <a:defRPr sz="1800">
                <a:solidFill>
                  <a:schemeClr val="accent2"/>
                </a:solidFill>
              </a:defRPr>
            </a:lvl1pPr>
            <a:lvl2pPr marL="4114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2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344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45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68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8802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29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0934400" y="6462720"/>
            <a:ext cx="619200" cy="164160"/>
          </a:xfrm>
        </p:spPr>
        <p:txBody>
          <a:bodyPr vert="horz" lIns="91440" tIns="45720" rIns="91440" bIns="45720" rtlCol="0" anchor="ctr"/>
          <a:lstStyle>
            <a:lvl1pPr marL="0" algn="r" defTabSz="822940" rtl="0" eaLnBrk="1" latinLnBrk="0" hangingPunct="1">
              <a:defRPr lang="fr-CA" sz="603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pic>
        <p:nvPicPr>
          <p:cNvPr id="7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94" y="280875"/>
            <a:ext cx="7043697" cy="978868"/>
          </a:xfrm>
          <a:prstGeom prst="rect">
            <a:avLst/>
          </a:prstGeom>
        </p:spPr>
      </p:pic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>
          <a:xfrm>
            <a:off x="637936" y="6033955"/>
            <a:ext cx="7022592" cy="240067"/>
          </a:xfrm>
          <a:solidFill>
            <a:schemeClr val="accent1"/>
          </a:solidFill>
        </p:spPr>
        <p:txBody>
          <a:bodyPr/>
          <a:lstStyle>
            <a:lvl1pPr algn="l">
              <a:defRPr sz="1170" cap="all" baseline="0">
                <a:solidFill>
                  <a:schemeClr val="bg1"/>
                </a:solidFill>
              </a:defRPr>
            </a:lvl1pPr>
          </a:lstStyle>
          <a:p>
            <a:endParaRPr lang="fr-CA"/>
          </a:p>
        </p:txBody>
      </p:sp>
      <p:sp>
        <p:nvSpPr>
          <p:cNvPr id="13" name="Espace réservé de la date 1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13/09/2026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103326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38400" y="575623"/>
            <a:ext cx="10915200" cy="987552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638400" y="1893226"/>
            <a:ext cx="10915200" cy="3825587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13/09/2026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7" name="TextBox 6"/>
          <p:cNvSpPr txBox="1"/>
          <p:nvPr/>
        </p:nvSpPr>
        <p:spPr>
          <a:xfrm>
            <a:off x="461433" y="5718811"/>
            <a:ext cx="1219200" cy="1097280"/>
          </a:xfrm>
          <a:prstGeom prst="rect">
            <a:avLst/>
          </a:prstGeom>
        </p:spPr>
        <p:txBody>
          <a:bodyPr vert="horz" wrap="none" lIns="82296" tIns="41148" rIns="82296" bIns="41148" rtlCol="0">
            <a:normAutofit/>
          </a:bodyPr>
          <a:lstStyle/>
          <a:p>
            <a:pPr marL="139316" indent="-139316">
              <a:buClr>
                <a:schemeClr val="accent2"/>
              </a:buClr>
              <a:buSzPct val="125000"/>
              <a:buFont typeface="Arial" panose="020B0604020202020204" pitchFamily="34" charset="0"/>
              <a:buChar char="•"/>
            </a:pPr>
            <a:endParaRPr lang="en-US" sz="1503" dirty="0"/>
          </a:p>
        </p:txBody>
      </p:sp>
    </p:spTree>
    <p:extLst>
      <p:ext uri="{BB962C8B-B14F-4D97-AF65-F5344CB8AC3E}">
        <p14:creationId xmlns:p14="http://schemas.microsoft.com/office/powerpoint/2010/main" val="4267829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749422" y="4143769"/>
            <a:ext cx="8804180" cy="17337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2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63" t="-901" b="1413"/>
          <a:stretch/>
        </p:blipFill>
        <p:spPr>
          <a:xfrm>
            <a:off x="7787952" y="1685399"/>
            <a:ext cx="3766109" cy="236782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1715039"/>
            <a:ext cx="7032000" cy="1749600"/>
          </a:xfrm>
          <a:solidFill>
            <a:schemeClr val="accent1"/>
          </a:solidFill>
        </p:spPr>
        <p:txBody>
          <a:bodyPr vert="horz" lIns="91440" tIns="45720" rIns="91440" bIns="72000" rtlCol="0" anchor="ctr">
            <a:normAutofit/>
          </a:bodyPr>
          <a:lstStyle>
            <a:lvl1pPr algn="l" defTabSz="822940" rtl="0" eaLnBrk="1" latinLnBrk="0" hangingPunct="1">
              <a:spcBef>
                <a:spcPct val="0"/>
              </a:spcBef>
              <a:buNone/>
              <a:defRPr lang="fr-CA" sz="324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8400" y="3555190"/>
            <a:ext cx="7022400" cy="482803"/>
          </a:xfrm>
          <a:solidFill>
            <a:schemeClr val="accent1"/>
          </a:solidFill>
        </p:spPr>
        <p:txBody>
          <a:bodyPr vert="horz" lIns="91440" tIns="45720" rIns="91440" bIns="45720" rtlCol="0" anchor="ctr" anchorCtr="0">
            <a:normAutofit/>
          </a:bodyPr>
          <a:lstStyle>
            <a:lvl1pPr marL="0" indent="0" algn="l" defTabSz="822940" rtl="0" eaLnBrk="1" latinLnBrk="0" hangingPunct="1">
              <a:spcBef>
                <a:spcPct val="20000"/>
              </a:spcBef>
              <a:buClr>
                <a:schemeClr val="accent2"/>
              </a:buClr>
              <a:buSzPct val="125000"/>
              <a:buFont typeface="Arial" pitchFamily="34" charset="0"/>
              <a:buNone/>
              <a:defRPr lang="fr-FR" sz="1800" kern="120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1147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2pPr>
            <a:lvl3pPr marL="8229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205734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468819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13/09/2026</a:t>
            </a:fld>
            <a:endParaRPr lang="fr-CA"/>
          </a:p>
        </p:txBody>
      </p:sp>
      <p:sp>
        <p:nvSpPr>
          <p:cNvPr id="11" name="Espace réservé du pied de page 10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CA"/>
          </a:p>
        </p:txBody>
      </p:sp>
      <p:pic>
        <p:nvPicPr>
          <p:cNvPr id="13" name="Imag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4" t="27926" r="63211" b="1117"/>
          <a:stretch/>
        </p:blipFill>
        <p:spPr>
          <a:xfrm>
            <a:off x="652800" y="4142795"/>
            <a:ext cx="1997093" cy="1733703"/>
          </a:xfrm>
          <a:prstGeom prst="rect">
            <a:avLst/>
          </a:prstGeom>
        </p:spPr>
      </p:pic>
      <p:pic>
        <p:nvPicPr>
          <p:cNvPr id="14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807" y="6038596"/>
            <a:ext cx="2053463" cy="25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38667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7219"/>
            <a:ext cx="10915200" cy="98803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821283"/>
            <a:ext cx="5384800" cy="3897529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821283"/>
            <a:ext cx="5384800" cy="3897529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620"/>
            </a:lvl6pPr>
            <a:lvl7pPr>
              <a:defRPr sz="1620"/>
            </a:lvl7pPr>
            <a:lvl8pPr>
              <a:defRPr sz="1620"/>
            </a:lvl8pPr>
            <a:lvl9pPr>
              <a:defRPr sz="162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13/09/2026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573657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4444"/>
            <a:ext cx="10915200" cy="984599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813562"/>
            <a:ext cx="5386917" cy="639763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70" indent="0">
              <a:buNone/>
              <a:defRPr sz="1800" b="1"/>
            </a:lvl2pPr>
            <a:lvl3pPr marL="822940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8" indent="0">
              <a:buNone/>
              <a:defRPr sz="1440" b="1"/>
            </a:lvl6pPr>
            <a:lvl7pPr marL="2468819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453323"/>
            <a:ext cx="5386917" cy="3265488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72" y="1813562"/>
            <a:ext cx="5389033" cy="639763"/>
          </a:xfrm>
        </p:spPr>
        <p:txBody>
          <a:bodyPr anchor="b">
            <a:noAutofit/>
          </a:bodyPr>
          <a:lstStyle>
            <a:lvl1pPr marL="0" indent="0">
              <a:buNone/>
              <a:defRPr sz="1350" b="1" cap="all" baseline="0"/>
            </a:lvl1pPr>
            <a:lvl2pPr marL="411470" indent="0">
              <a:buNone/>
              <a:defRPr sz="1800" b="1"/>
            </a:lvl2pPr>
            <a:lvl3pPr marL="822940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8" indent="0">
              <a:buNone/>
              <a:defRPr sz="1440" b="1"/>
            </a:lvl6pPr>
            <a:lvl7pPr marL="2468819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72" y="2453323"/>
            <a:ext cx="5389033" cy="3265488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13/09/2026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90013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7218"/>
            <a:ext cx="10915200" cy="98373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13/09/2026</a:t>
            </a:fld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819381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13/09/2026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087366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72635"/>
            <a:ext cx="10915200" cy="986409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47200" y="1805282"/>
            <a:ext cx="6796800" cy="3913531"/>
          </a:xfrm>
        </p:spPr>
        <p:txBody>
          <a:bodyPr>
            <a:normAutofit/>
          </a:bodyPr>
          <a:lstStyle>
            <a:lvl1pPr>
              <a:defRPr sz="1503"/>
            </a:lvl1pPr>
            <a:lvl2pPr>
              <a:defRPr sz="1503"/>
            </a:lvl2pPr>
            <a:lvl3pPr>
              <a:defRPr sz="1503"/>
            </a:lvl3pPr>
            <a:lvl4pPr>
              <a:defRPr sz="1503"/>
            </a:lvl4pPr>
            <a:lvl5pPr>
              <a:defRPr sz="1503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8400" y="1805282"/>
            <a:ext cx="3984000" cy="3913531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70" indent="0">
              <a:buNone/>
              <a:defRPr sz="1080"/>
            </a:lvl2pPr>
            <a:lvl3pPr marL="822940" indent="0">
              <a:buNone/>
              <a:defRPr sz="900"/>
            </a:lvl3pPr>
            <a:lvl4pPr marL="1234409" indent="0">
              <a:buNone/>
              <a:defRPr sz="810"/>
            </a:lvl4pPr>
            <a:lvl5pPr marL="1645879" indent="0">
              <a:buNone/>
              <a:defRPr sz="810"/>
            </a:lvl5pPr>
            <a:lvl6pPr marL="2057348" indent="0">
              <a:buNone/>
              <a:defRPr sz="810"/>
            </a:lvl6pPr>
            <a:lvl7pPr marL="2468819" indent="0">
              <a:buNone/>
              <a:defRPr sz="810"/>
            </a:lvl7pPr>
            <a:lvl8pPr marL="2880288" indent="0">
              <a:buNone/>
              <a:defRPr sz="810"/>
            </a:lvl8pPr>
            <a:lvl9pPr marL="3291758" indent="0">
              <a:buNone/>
              <a:defRPr sz="81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13/09/2026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817174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8400" y="587673"/>
            <a:ext cx="10915200" cy="987540"/>
          </a:xfrm>
        </p:spPr>
        <p:txBody>
          <a:bodyPr anchor="ctr" anchorCtr="0"/>
          <a:lstStyle>
            <a:lvl1pPr algn="l">
              <a:defRPr sz="2340" b="1"/>
            </a:lvl1pPr>
          </a:lstStyle>
          <a:p>
            <a:r>
              <a:rPr lang="fr-FR"/>
              <a:t>Modifiez le style du titre</a:t>
            </a:r>
            <a:endParaRPr lang="fr-CA" dirty="0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38400" y="2478094"/>
            <a:ext cx="10905600" cy="3240717"/>
          </a:xfrm>
        </p:spPr>
        <p:txBody>
          <a:bodyPr/>
          <a:lstStyle>
            <a:lvl1pPr marL="0" indent="0">
              <a:buNone/>
              <a:defRPr sz="1503"/>
            </a:lvl1pPr>
            <a:lvl2pPr marL="411470" indent="0">
              <a:buNone/>
              <a:defRPr sz="2520"/>
            </a:lvl2pPr>
            <a:lvl3pPr marL="822940" indent="0">
              <a:buNone/>
              <a:defRPr sz="2160"/>
            </a:lvl3pPr>
            <a:lvl4pPr marL="1234409" indent="0">
              <a:buNone/>
              <a:defRPr sz="1800"/>
            </a:lvl4pPr>
            <a:lvl5pPr marL="1645879" indent="0">
              <a:buNone/>
              <a:defRPr sz="1800"/>
            </a:lvl5pPr>
            <a:lvl6pPr marL="2057348" indent="0">
              <a:buNone/>
              <a:defRPr sz="1800"/>
            </a:lvl6pPr>
            <a:lvl7pPr marL="2468819" indent="0">
              <a:buNone/>
              <a:defRPr sz="1800"/>
            </a:lvl7pPr>
            <a:lvl8pPr marL="2880288" indent="0">
              <a:buNone/>
              <a:defRPr sz="1800"/>
            </a:lvl8pPr>
            <a:lvl9pPr marL="3291758" indent="0">
              <a:buNone/>
              <a:defRPr sz="1800"/>
            </a:lvl9pPr>
          </a:lstStyle>
          <a:p>
            <a:r>
              <a:rPr lang="fr-FR"/>
              <a:t>Cliquez sur l'icône pour ajouter une image</a:t>
            </a:r>
            <a:endParaRPr lang="fr-CA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38400" y="1821452"/>
            <a:ext cx="10905600" cy="626400"/>
          </a:xfrm>
        </p:spPr>
        <p:txBody>
          <a:bodyPr>
            <a:normAutofit/>
          </a:bodyPr>
          <a:lstStyle>
            <a:lvl1pPr marL="0" indent="0">
              <a:buNone/>
              <a:defRPr sz="1350" b="1" cap="all" baseline="0"/>
            </a:lvl1pPr>
            <a:lvl2pPr marL="411470" indent="0">
              <a:buNone/>
              <a:defRPr sz="1080"/>
            </a:lvl2pPr>
            <a:lvl3pPr marL="822940" indent="0">
              <a:buNone/>
              <a:defRPr sz="900"/>
            </a:lvl3pPr>
            <a:lvl4pPr marL="1234409" indent="0">
              <a:buNone/>
              <a:defRPr sz="810"/>
            </a:lvl4pPr>
            <a:lvl5pPr marL="1645879" indent="0">
              <a:buNone/>
              <a:defRPr sz="810"/>
            </a:lvl5pPr>
            <a:lvl6pPr marL="2057348" indent="0">
              <a:buNone/>
              <a:defRPr sz="810"/>
            </a:lvl6pPr>
            <a:lvl7pPr marL="2468819" indent="0">
              <a:buNone/>
              <a:defRPr sz="810"/>
            </a:lvl7pPr>
            <a:lvl8pPr marL="2880288" indent="0">
              <a:buNone/>
              <a:defRPr sz="810"/>
            </a:lvl8pPr>
            <a:lvl9pPr marL="3291758" indent="0">
              <a:buNone/>
              <a:defRPr sz="81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C91D2-297D-4124-9588-388F28AB5B3D}" type="datetimeFigureOut">
              <a:rPr lang="fr-FR" smtClean="0"/>
              <a:pPr/>
              <a:t>13/09/2026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DBD91B-A6BE-418C-B2C9-88CD34860EFA}" type="slidenum">
              <a:rPr lang="fr-CA" smtClean="0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65834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09600" y="6245227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165600" y="6245227"/>
            <a:ext cx="3860800" cy="476251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737600" y="6245227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E4B237D4-D237-4209-A6F9-A690B5C2DBBE}" type="slidenum">
              <a:rPr lang="fr-CA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7388151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59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6197600" y="3938592"/>
            <a:ext cx="5384800" cy="218757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>
          <a:xfrm>
            <a:off x="609600" y="6245227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4165600" y="6245227"/>
            <a:ext cx="3860800" cy="476251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8737600" y="6245227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FCFA56F3-0D84-4B01-A76F-E92948C57A70}" type="slidenum">
              <a:rPr lang="fr-CA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0408249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87139" y="1036639"/>
            <a:ext cx="609600" cy="441325"/>
          </a:xfrm>
        </p:spPr>
        <p:txBody>
          <a:bodyPr>
            <a:normAutofit/>
          </a:bodyPr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  <a:noFill/>
        </p:spPr>
        <p:txBody>
          <a:bodyPr/>
          <a:lstStyle>
            <a:lvl1pPr>
              <a:buClrTx/>
              <a:buSzPct val="100000"/>
              <a:defRPr>
                <a:latin typeface="Amasis MT Pro Light" panose="02040304050005020304" pitchFamily="18" charset="0"/>
              </a:defRPr>
            </a:lvl1pPr>
            <a:lvl2pPr marL="457159" indent="-228580">
              <a:buClr>
                <a:schemeClr val="accent6">
                  <a:lumMod val="75000"/>
                </a:schemeClr>
              </a:buClr>
              <a:buSzPct val="85000"/>
              <a:buFont typeface="Wingdings" panose="05000000000000000000" pitchFamily="2" charset="2"/>
              <a:buChar char=""/>
              <a:defRPr>
                <a:solidFill>
                  <a:schemeClr val="accent3">
                    <a:lumMod val="50000"/>
                  </a:schemeClr>
                </a:solidFill>
                <a:latin typeface="Amasis MT Pro Light" panose="02040304050005020304" pitchFamily="18" charset="0"/>
              </a:defRPr>
            </a:lvl2pPr>
            <a:lvl3pPr marL="685739" indent="-190482">
              <a:buClr>
                <a:schemeClr val="tx2"/>
              </a:buClr>
              <a:buSzPct val="85000"/>
              <a:buFont typeface="Courier New" panose="02070309020205020404" pitchFamily="49" charset="0"/>
              <a:buChar char="o"/>
              <a:defRPr>
                <a:solidFill>
                  <a:schemeClr val="accent2">
                    <a:lumMod val="75000"/>
                  </a:schemeClr>
                </a:solidFill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38205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73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1200" b="1" cap="all" spc="187" baseline="0">
                <a:solidFill>
                  <a:schemeClr val="tx2"/>
                </a:solidFill>
                <a:latin typeface="Amasis MT Pro Light" panose="02040304050005020304" pitchFamily="18" charset="0"/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6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3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60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5" y="533400"/>
            <a:ext cx="10363200" cy="1524000"/>
          </a:xfrm>
        </p:spPr>
        <p:txBody>
          <a:bodyPr anchor="b"/>
          <a:lstStyle>
            <a:lvl1pPr algn="ctr">
              <a:buNone/>
              <a:defRPr sz="3150" b="0" cap="none" baseline="0">
                <a:solidFill>
                  <a:srgbClr val="FFFFFF"/>
                </a:solidFill>
                <a:latin typeface="Amasis MT Pro Light" panose="02040304050005020304" pitchFamily="18" charset="0"/>
              </a:defRPr>
            </a:lvl1pPr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4306308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12192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95072" y="6391659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03200" y="158496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0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C86B27-FDB5-4D80-B3B3-431E57B37097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9817552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1833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1"/>
            <a:ext cx="3149600" cy="4144963"/>
          </a:xfrm>
        </p:spPr>
        <p:txBody>
          <a:bodyPr/>
          <a:lstStyle>
            <a:lvl1pPr marL="0" indent="0">
              <a:spcAft>
                <a:spcPts val="833"/>
              </a:spcAft>
              <a:buNone/>
              <a:defRPr sz="1333">
                <a:solidFill>
                  <a:srgbClr val="FFFFFF"/>
                </a:solidFill>
              </a:defRPr>
            </a:lvl1pPr>
            <a:lvl2pPr>
              <a:buNone/>
              <a:defRPr sz="1000"/>
            </a:lvl2pPr>
            <a:lvl3pPr>
              <a:buNone/>
              <a:defRPr sz="833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0" y="685800"/>
            <a:ext cx="7518400" cy="5410200"/>
          </a:xfrm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0" name="Ellipse 9"/>
          <p:cNvSpPr/>
          <p:nvPr/>
        </p:nvSpPr>
        <p:spPr>
          <a:xfrm>
            <a:off x="1727200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0"/>
            <a:ext cx="6096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6FBE0A6C-DAC7-4258-B108-F454C62A6F09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916218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61BD0EA-A6FC-44F6-B3FE-6B3666AEED44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6084110" y="1575653"/>
            <a:ext cx="11895" cy="4819558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2083"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2083"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474483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0"/>
            <a:ext cx="609600" cy="441325"/>
          </a:xfrm>
        </p:spPr>
        <p:txBody>
          <a:bodyPr/>
          <a:lstStyle/>
          <a:p>
            <a:fld id="{1FB3BBD4-803F-4DB7-9DDC-5BE95F2AE9F7}" type="slidenum">
              <a:rPr lang="fr-CA" smtClean="0"/>
              <a:t>‹#›</a:t>
            </a:fld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00500" y="5029200"/>
            <a:ext cx="7823200" cy="1219200"/>
          </a:xfrm>
        </p:spPr>
        <p:txBody>
          <a:bodyPr anchor="t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4000500" y="609600"/>
            <a:ext cx="7823200" cy="4267200"/>
          </a:xfrm>
        </p:spPr>
        <p:txBody>
          <a:bodyPr/>
          <a:lstStyle>
            <a:lvl1pPr marL="0" indent="0">
              <a:buNone/>
              <a:defRPr sz="2667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08000" y="990600"/>
            <a:ext cx="3251200" cy="5257800"/>
          </a:xfrm>
        </p:spPr>
        <p:txBody>
          <a:bodyPr/>
          <a:lstStyle>
            <a:lvl1pPr marL="0" indent="0">
              <a:spcAft>
                <a:spcPts val="833"/>
              </a:spcAft>
              <a:buFontTx/>
              <a:buNone/>
              <a:defRPr sz="1333">
                <a:solidFill>
                  <a:srgbClr val="FFFFFF"/>
                </a:solidFill>
              </a:defRPr>
            </a:lvl1pPr>
            <a:lvl2pPr>
              <a:defRPr sz="1000"/>
            </a:lvl2pPr>
            <a:lvl3pPr>
              <a:defRPr sz="833"/>
            </a:lvl3pPr>
            <a:lvl4pPr>
              <a:defRPr sz="750"/>
            </a:lvl4pPr>
            <a:lvl5pPr>
              <a:defRPr sz="75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17536" y="6404984"/>
            <a:ext cx="4059936" cy="365760"/>
          </a:xfrm>
        </p:spPr>
        <p:txBody>
          <a:bodyPr/>
          <a:lstStyle/>
          <a:p>
            <a:fld id="{99D3EFF7-699A-4ECF-B251-F84F439C8709}" type="datetime1">
              <a:rPr lang="fr-CA" smtClean="0"/>
              <a:t>2026-09-13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779264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1096827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87139" y="1036641"/>
            <a:ext cx="609600" cy="441325"/>
          </a:xfrm>
        </p:spPr>
        <p:txBody>
          <a:bodyPr>
            <a:noAutofit/>
          </a:bodyPr>
          <a:lstStyle>
            <a:lvl1pPr>
              <a:defRPr sz="945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defRPr/>
            </a:pPr>
            <a:fld id="{07D78C65-EB30-EA4B-B3AF-ED56473E9FBA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402336" y="1527048"/>
            <a:ext cx="1133856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2777186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203200" y="152400"/>
            <a:ext cx="11777472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03200" y="609600"/>
            <a:ext cx="36576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76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8000" y="914400"/>
            <a:ext cx="3149600" cy="990600"/>
          </a:xfrm>
        </p:spPr>
        <p:txBody>
          <a:bodyPr anchor="b">
            <a:noAutofit/>
          </a:bodyPr>
          <a:lstStyle>
            <a:lvl1pPr algn="l">
              <a:buNone/>
              <a:defRPr sz="929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508000" y="1981203"/>
            <a:ext cx="3149600" cy="4144963"/>
          </a:xfrm>
        </p:spPr>
        <p:txBody>
          <a:bodyPr/>
          <a:lstStyle>
            <a:lvl1pPr marL="0" indent="0">
              <a:spcAft>
                <a:spcPts val="422"/>
              </a:spcAft>
              <a:buNone/>
              <a:defRPr sz="675">
                <a:solidFill>
                  <a:srgbClr val="FFFFFF"/>
                </a:solidFill>
              </a:defRPr>
            </a:lvl1pPr>
            <a:lvl2pPr>
              <a:buNone/>
              <a:defRPr sz="506"/>
            </a:lvl2pPr>
            <a:lvl3pPr>
              <a:buNone/>
              <a:defRPr sz="422"/>
            </a:lvl3pPr>
            <a:lvl4pPr>
              <a:buNone/>
              <a:defRPr sz="380"/>
            </a:lvl4pPr>
            <a:lvl5pPr>
              <a:buNone/>
              <a:defRPr sz="38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203200" y="533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4165605" y="685800"/>
            <a:ext cx="7518400" cy="5410200"/>
          </a:xfrm>
        </p:spPr>
        <p:txBody>
          <a:bodyPr/>
          <a:lstStyle>
            <a:lvl1pPr>
              <a:defRPr>
                <a:latin typeface="Amasis MT Pro Light" panose="02040304050005020304" pitchFamily="18" charset="0"/>
              </a:defRPr>
            </a:lvl1pPr>
            <a:lvl2pPr>
              <a:defRPr>
                <a:latin typeface="Amasis MT Pro Light" panose="02040304050005020304" pitchFamily="18" charset="0"/>
              </a:defRPr>
            </a:lvl2pPr>
            <a:lvl3pPr>
              <a:defRPr>
                <a:latin typeface="Amasis MT Pro Light" panose="02040304050005020304" pitchFamily="18" charset="0"/>
              </a:defRPr>
            </a:lvl3pPr>
            <a:lvl4pPr>
              <a:defRPr>
                <a:latin typeface="Amasis MT Pro Light" panose="02040304050005020304" pitchFamily="18" charset="0"/>
              </a:defRPr>
            </a:lvl4pPr>
            <a:lvl5pPr>
              <a:defRPr>
                <a:latin typeface="Amasis MT Pro Light" panose="02040304050005020304" pitchFamily="18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0" name="Ellipse 9"/>
          <p:cNvSpPr/>
          <p:nvPr/>
        </p:nvSpPr>
        <p:spPr>
          <a:xfrm>
            <a:off x="1727205" y="228600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76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853184" y="323088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76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828800" y="312745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60443A9-7CF2-4AF6-A108-271190AEB83F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99136" y="6388400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2336" y="6410848"/>
            <a:ext cx="4511040" cy="365760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578837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1" y="76200"/>
            <a:ext cx="11176000" cy="1219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1447800"/>
            <a:ext cx="11074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2800" y="4000500"/>
            <a:ext cx="11074400" cy="2400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A9B1C82-ADAF-4800-B737-740A63359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13-</a:t>
            </a:r>
            <a:fld id="{630DAC8A-692F-45EA-A35C-B8DA7A27D63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588397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09600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1" y="1600204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609601" y="6245229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1ACE85D3-DC3F-45F0-91C0-1F5069DED0DD}" type="datetime1">
              <a:rPr lang="fr-CA" smtClean="0"/>
              <a:t>2026-09-13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165601" y="6245229"/>
            <a:ext cx="3860800" cy="476251"/>
          </a:xfrm>
        </p:spPr>
        <p:txBody>
          <a:bodyPr/>
          <a:lstStyle>
            <a:lvl1pPr>
              <a:defRPr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737600" y="6245229"/>
            <a:ext cx="2844800" cy="476251"/>
          </a:xfrm>
        </p:spPr>
        <p:txBody>
          <a:bodyPr/>
          <a:lstStyle>
            <a:lvl1pPr>
              <a:defRPr/>
            </a:lvl1pPr>
          </a:lstStyle>
          <a:p>
            <a:fld id="{4DF64075-4FE8-4212-AA8D-27F93E0C3606}" type="slidenum">
              <a:rPr lang="fr-CA"/>
              <a:pPr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9267838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11988803" y="1905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203200" y="2286000"/>
            <a:ext cx="11777472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7264" y="142352"/>
            <a:ext cx="11777472" cy="2139696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824575" y="2743200"/>
            <a:ext cx="8640232" cy="1673225"/>
          </a:xfrm>
        </p:spPr>
        <p:txBody>
          <a:bodyPr anchor="t"/>
          <a:lstStyle>
            <a:lvl1pPr marL="0" indent="0" algn="ctr">
              <a:buNone/>
              <a:defRPr sz="675" b="1" cap="all" spc="105" baseline="0">
                <a:solidFill>
                  <a:schemeClr val="tx2"/>
                </a:solidFill>
              </a:defRPr>
            </a:lvl1pPr>
            <a:lvl2pPr>
              <a:buNone/>
              <a:defRPr sz="76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675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591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95072" y="6391672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203200" y="152400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203200" y="2438400"/>
            <a:ext cx="11777472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76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5689604" y="2115312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76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5815584" y="2209800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76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5791200" y="2199463"/>
            <a:ext cx="609600" cy="4413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797711-19F7-489A-B9FE-21143DCBA2BB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5" y="533400"/>
            <a:ext cx="10363200" cy="1524000"/>
          </a:xfrm>
        </p:spPr>
        <p:txBody>
          <a:bodyPr anchor="b"/>
          <a:lstStyle>
            <a:lvl1pPr algn="ctr">
              <a:buNone/>
              <a:defRPr sz="1772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24244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</p:spPr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721600" y="6409944"/>
            <a:ext cx="4059936" cy="365760"/>
          </a:xfrm>
        </p:spPr>
        <p:txBody>
          <a:bodyPr/>
          <a:lstStyle/>
          <a:p>
            <a:fld id="{5A0EAEEB-3E8A-40A3-AB11-03CA23E73CA1}" type="datetime1">
              <a:rPr lang="fr-CA" smtClean="0"/>
              <a:t>2026-09-13</a:t>
            </a:fld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3983902-ABD2-4CA9-BB77-601D6C75F434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402336" y="1371600"/>
            <a:ext cx="5384800" cy="4681728"/>
          </a:xfrm>
        </p:spPr>
        <p:txBody>
          <a:bodyPr/>
          <a:lstStyle>
            <a:lvl1pPr>
              <a:defRPr sz="1266"/>
            </a:lvl1pPr>
          </a:lstStyle>
          <a:p>
            <a:pPr lvl="0" eaLnBrk="1" latinLnBrk="0" hangingPunct="1"/>
            <a:r>
              <a:rPr lang="fr-FR" dirty="0"/>
              <a:t>Modifiez les styles du texte du masque</a:t>
            </a:r>
          </a:p>
          <a:p>
            <a:pPr lvl="1" eaLnBrk="1" latinLnBrk="0" hangingPunct="1"/>
            <a:r>
              <a:rPr lang="fr-FR" dirty="0"/>
              <a:t>Deuxième niveau</a:t>
            </a:r>
          </a:p>
          <a:p>
            <a:pPr lvl="2" eaLnBrk="1" latinLnBrk="0" hangingPunct="1"/>
            <a:r>
              <a:rPr lang="fr-FR" dirty="0"/>
              <a:t>Troisième niveau</a:t>
            </a:r>
          </a:p>
          <a:p>
            <a:pPr lvl="3" eaLnBrk="1" latinLnBrk="0" hangingPunct="1"/>
            <a:r>
              <a:rPr lang="fr-FR" dirty="0"/>
              <a:t>Quatrième niveau</a:t>
            </a:r>
          </a:p>
          <a:p>
            <a:pPr lvl="4" eaLnBrk="1" latinLnBrk="0" hangingPunct="1"/>
            <a:r>
              <a:rPr lang="fr-FR" dirty="0"/>
              <a:t>Cinquième niveau</a:t>
            </a:r>
            <a:endParaRPr kumimoji="0" lang="en-US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6400800" y="1371600"/>
            <a:ext cx="5384800" cy="4681728"/>
          </a:xfrm>
        </p:spPr>
        <p:txBody>
          <a:bodyPr/>
          <a:lstStyle>
            <a:lvl1pPr>
              <a:defRPr sz="1266"/>
            </a:lvl1pPr>
          </a:lstStyle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24096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5689601" y="6324600"/>
            <a:ext cx="8128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30E58A79-823B-415C-B96A-0DA0927A0E78}" type="slidenum">
              <a:rPr lang="fr-CA" smtClean="0"/>
              <a:pPr>
                <a:defRPr/>
              </a:pPr>
              <a:t>‹#›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362719033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02341" y="1524000"/>
            <a:ext cx="5386919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1114" b="1" dirty="0" smtClean="0">
                <a:solidFill>
                  <a:srgbClr val="FFFFFF"/>
                </a:solidFill>
              </a:defRPr>
            </a:lvl1pPr>
            <a:lvl2pPr>
              <a:buNone/>
              <a:defRPr sz="1013" b="1"/>
            </a:lvl2pPr>
            <a:lvl3pPr>
              <a:buNone/>
              <a:defRPr sz="911" b="1"/>
            </a:lvl3pPr>
            <a:lvl4pPr>
              <a:buNone/>
              <a:defRPr sz="810" b="1"/>
            </a:lvl4pPr>
            <a:lvl5pPr>
              <a:buNone/>
              <a:defRPr sz="810" b="1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6388446" y="1524000"/>
            <a:ext cx="5389033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1114" b="1"/>
            </a:lvl1pPr>
            <a:lvl2pPr>
              <a:buNone/>
              <a:defRPr sz="1013" b="1"/>
            </a:lvl2pPr>
            <a:lvl3pPr>
              <a:buNone/>
              <a:defRPr sz="911" b="1"/>
            </a:lvl3pPr>
            <a:lvl4pPr>
              <a:buNone/>
              <a:defRPr sz="810" b="1"/>
            </a:lvl4pPr>
            <a:lvl5pPr>
              <a:buNone/>
              <a:defRPr sz="810" b="1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D7785-CC48-4AA0-8D4D-D438F01E5233}" type="datetime1">
              <a:rPr lang="fr-CA" smtClean="0"/>
              <a:t>2026-09-13</a:t>
            </a:fld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6403" y="6409944"/>
            <a:ext cx="4775200" cy="365760"/>
          </a:xfrm>
        </p:spPr>
        <p:txBody>
          <a:bodyPr/>
          <a:lstStyle/>
          <a:p>
            <a:endParaRPr lang="fr-CA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402336" y="2471387"/>
            <a:ext cx="5388864" cy="3818404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6400800" y="2471383"/>
            <a:ext cx="5384800" cy="3822192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5791200" y="1042425"/>
            <a:ext cx="609600" cy="4413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B3983902-ABD2-4CA9-BB77-601D6C75F434}" type="slidenum">
              <a:rPr lang="fr-CA" smtClean="0"/>
              <a:pPr/>
              <a:t>‹#›</a:t>
            </a:fld>
            <a:endParaRPr lang="fr-CA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471761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3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image" Target="../media/image3.emf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0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1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7.xml"/><Relationship Id="rId9" Type="http://schemas.openxmlformats.org/officeDocument/2006/relationships/theme" Target="../theme/theme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67">
                <a:solidFill>
                  <a:srgbClr val="FFFFFF"/>
                </a:solidFill>
              </a:defRPr>
            </a:lvl1pPr>
          </a:lstStyle>
          <a:p>
            <a:fld id="{A0A86CB2-612B-4088-9446-94467C4DEC41}" type="datetime1">
              <a:rPr lang="fr-FR" smtClean="0"/>
              <a:t>13/09/2026</a:t>
            </a:fld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76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333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149399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75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91" indent="-228591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indent="-228591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833" kern="1200">
          <a:solidFill>
            <a:schemeClr val="tx2"/>
          </a:solidFill>
          <a:latin typeface="+mn-lt"/>
          <a:ea typeface="+mn-ea"/>
          <a:cs typeface="+mn-cs"/>
        </a:defRPr>
      </a:lvl2pPr>
      <a:lvl3pPr marL="685773" indent="-190492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914363" indent="-190492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667" kern="1200">
          <a:solidFill>
            <a:schemeClr val="tx2"/>
          </a:solidFill>
          <a:latin typeface="+mn-lt"/>
          <a:ea typeface="+mn-ea"/>
          <a:cs typeface="+mn-cs"/>
        </a:defRPr>
      </a:lvl4pPr>
      <a:lvl5pPr marL="1142954" indent="-190492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545" indent="-152394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136" indent="-152394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333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52530" indent="-152394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1981121" indent="-152394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167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67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76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333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60443A9-7CF2-4AF6-A108-271190AEB83F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‹#›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Modifiez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1737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75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91" indent="-228591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25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indent="-228591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833" kern="1200">
          <a:solidFill>
            <a:schemeClr val="tx2"/>
          </a:solidFill>
          <a:latin typeface="+mn-lt"/>
          <a:ea typeface="+mn-ea"/>
          <a:cs typeface="+mn-cs"/>
        </a:defRPr>
      </a:lvl2pPr>
      <a:lvl3pPr marL="685773" indent="-190492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914363" indent="-190492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667" kern="1200">
          <a:solidFill>
            <a:schemeClr val="tx2"/>
          </a:solidFill>
          <a:latin typeface="+mn-lt"/>
          <a:ea typeface="+mn-ea"/>
          <a:cs typeface="+mn-cs"/>
        </a:defRPr>
      </a:lvl4pPr>
      <a:lvl5pPr marL="1142954" indent="-190492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545" indent="-152394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136" indent="-152394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333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52530" indent="-152394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1981121" indent="-152394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167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9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3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9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3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5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2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7797711-19F7-489A-B9FE-21143DCBA2BB}" type="slidenum">
              <a:rPr lang="fr-CA" smtClean="0"/>
              <a:t>‹#›</a:t>
            </a:fld>
            <a:endParaRPr lang="fr-CA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9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261241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751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80" indent="-22858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251" kern="1200">
          <a:solidFill>
            <a:schemeClr val="tx1"/>
          </a:solidFill>
          <a:latin typeface="+mn-lt"/>
          <a:ea typeface="+mn-ea"/>
          <a:cs typeface="+mn-cs"/>
        </a:defRPr>
      </a:lvl1pPr>
      <a:lvl2pPr marL="457159" indent="-22858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833" kern="1200">
          <a:solidFill>
            <a:schemeClr val="tx2"/>
          </a:solidFill>
          <a:latin typeface="+mn-lt"/>
          <a:ea typeface="+mn-ea"/>
          <a:cs typeface="+mn-cs"/>
        </a:defRPr>
      </a:lvl2pPr>
      <a:lvl3pPr marL="685739" indent="-190482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914317" indent="-190482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667" kern="1200">
          <a:solidFill>
            <a:schemeClr val="tx2"/>
          </a:solidFill>
          <a:latin typeface="+mn-lt"/>
          <a:ea typeface="+mn-ea"/>
          <a:cs typeface="+mn-cs"/>
        </a:defRPr>
      </a:lvl4pPr>
      <a:lvl5pPr marL="1142898" indent="-190482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476" indent="-152387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056" indent="-152387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333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52443" indent="-152387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1981022" indent="-152387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167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809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7619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289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6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2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28579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2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9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3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3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5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D0463A9-3ADC-8645-96FC-E3E0F339007A}" type="slidenum">
              <a:rPr lang="fr-FR" smtClean="0"/>
              <a:t>‹#›</a:t>
            </a:fld>
            <a:endParaRPr lang="fr-FR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9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14752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27" r:id="rId3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06" indent="-274306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13" indent="-274306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19" indent="-228589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25" indent="-228589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532" indent="-228589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838" indent="-182871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144" indent="-182871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015" indent="-182871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322" indent="-182871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88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167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76200" tIns="38100" rIns="76200" bIns="38100" anchor="ctr" compatLnSpc="1"/>
          <a:lstStyle/>
          <a:p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0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200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76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333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4D0463A9-3ADC-8645-96FC-E3E0F339007A}" type="slidenum">
              <a:rPr lang="fr-FR" smtClean="0"/>
              <a:t>‹#›</a:t>
            </a:fld>
            <a:endParaRPr lang="fr-FR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17220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1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0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62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0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62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0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2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647F8CD8-CA4F-4FC0-B2CB-CA3707B35CC1}" type="slidenum">
              <a:rPr lang="fr-CA" smtClean="0"/>
              <a:t>‹#›</a:t>
            </a:fld>
            <a:endParaRPr lang="fr-CA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6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6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67466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475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05732" indent="-205732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025" kern="1200">
          <a:solidFill>
            <a:schemeClr val="tx1"/>
          </a:solidFill>
          <a:latin typeface="+mn-lt"/>
          <a:ea typeface="+mn-ea"/>
          <a:cs typeface="+mn-cs"/>
        </a:defRPr>
      </a:lvl1pPr>
      <a:lvl2pPr marL="411464" indent="-205732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650" kern="1200">
          <a:solidFill>
            <a:schemeClr val="tx2"/>
          </a:solidFill>
          <a:latin typeface="+mn-lt"/>
          <a:ea typeface="+mn-ea"/>
          <a:cs typeface="+mn-cs"/>
        </a:defRPr>
      </a:lvl2pPr>
      <a:lvl3pPr marL="617196" indent="-171443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27" indent="-171443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4pPr>
      <a:lvl5pPr marL="1028659" indent="-171443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234391" indent="-137155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1440122" indent="-137155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2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77277" indent="-137155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783009" indent="-137155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05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0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9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0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7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75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3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7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57150" tIns="28575" rIns="57150" bIns="28575" anchor="ctr" compatLnSpc="1"/>
          <a:lstStyle/>
          <a:p>
            <a:endParaRPr lang="en-US" sz="1125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3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125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6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0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647F8CD8-CA4F-4FC0-B2CB-CA3707B35CC1}" type="slidenum">
              <a:rPr lang="fr-CA" smtClean="0"/>
              <a:t>‹#›</a:t>
            </a:fld>
            <a:endParaRPr lang="fr-CA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dirty="0"/>
              <a:t>Cliquez pour modifier le style du titre</a:t>
            </a:r>
            <a:endParaRPr kumimoji="0" lang="en-US" dirty="0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505969" y="1544364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lang="en-US"/>
              <a:t>Cliquez pour modifier les styles de texte principaux</a:t>
            </a:r>
          </a:p>
          <a:p>
            <a:pPr lvl="1" eaLnBrk="1" latinLnBrk="0" hangingPunct="1"/>
            <a:r>
              <a:rPr lang="en-US"/>
              <a:t>Deuxième niveau</a:t>
            </a:r>
          </a:p>
          <a:p>
            <a:pPr lvl="2" eaLnBrk="1" latinLnBrk="0" hangingPunct="1"/>
            <a:r>
              <a:rPr lang="en-US"/>
              <a:t>Troisième niveau</a:t>
            </a:r>
          </a:p>
          <a:p>
            <a:pPr lvl="3" eaLnBrk="1" latinLnBrk="0" hangingPunct="1"/>
            <a:r>
              <a:rPr lang="en-US"/>
              <a:t>Quatrième niveau</a:t>
            </a:r>
          </a:p>
          <a:p>
            <a:pPr lvl="4" eaLnBrk="1" latinLnBrk="0" hangingPunct="1"/>
            <a:r>
              <a:rPr lang="en-US"/>
              <a:t>Cinquième niveau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246086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292" kern="1200">
          <a:solidFill>
            <a:schemeClr val="accent5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190476" indent="-190476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lang="en-US" sz="1876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1pPr>
      <a:lvl2pPr marL="380951" indent="-190476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lang="en-US" sz="1876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2pPr>
      <a:lvl3pPr marL="571426" indent="-158729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lang="en-US" sz="1876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3pPr>
      <a:lvl4pPr marL="761900" indent="-158729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lang="en-US" sz="1876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4pPr>
      <a:lvl5pPr marL="952377" indent="-158729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lang="en-US" sz="1876" kern="1200" noProof="0" dirty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5pPr>
      <a:lvl6pPr marL="1142851" indent="-126984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1333327" indent="-126984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111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460311" indent="-126984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111" kern="1200">
          <a:solidFill>
            <a:schemeClr val="tx1"/>
          </a:solidFill>
          <a:latin typeface="+mn-lt"/>
          <a:ea typeface="+mn-ea"/>
          <a:cs typeface="+mn-cs"/>
        </a:defRPr>
      </a:lvl8pPr>
      <a:lvl9pPr marL="1650786" indent="-126984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972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1745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349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95237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2698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58729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190475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22221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53967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38400" y="582233"/>
            <a:ext cx="10915200" cy="99298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dirty="0"/>
              <a:t>Cliquez pour modifier le style du titre</a:t>
            </a:r>
            <a:endParaRPr lang="fr-CA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38400" y="1821454"/>
            <a:ext cx="10915200" cy="3897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de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fr-CA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52800" y="6461995"/>
            <a:ext cx="28448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3">
                <a:solidFill>
                  <a:schemeClr val="accent2"/>
                </a:solidFill>
              </a:defRPr>
            </a:lvl1pPr>
          </a:lstStyle>
          <a:p>
            <a:fld id="{C6DC91D2-297D-4124-9588-388F28AB5B3D}" type="datetimeFigureOut">
              <a:rPr lang="fr-FR" smtClean="0"/>
              <a:t>13/09/2026</a:t>
            </a:fld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461995"/>
            <a:ext cx="38608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3">
                <a:solidFill>
                  <a:schemeClr val="accent2"/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934400" y="6461995"/>
            <a:ext cx="619200" cy="1641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3">
                <a:solidFill>
                  <a:schemeClr val="accent2"/>
                </a:solidFill>
              </a:defRPr>
            </a:lvl1pPr>
          </a:lstStyle>
          <a:p>
            <a:fld id="{76DBD91B-A6BE-418C-B2C9-88CD34860EFA}" type="slidenum">
              <a:rPr lang="fr-CA" smtClean="0"/>
              <a:t>‹#›</a:t>
            </a:fld>
            <a:endParaRPr lang="fr-CA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2423" y="6117301"/>
            <a:ext cx="2053463" cy="255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755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defTabSz="822940" rtl="0" eaLnBrk="1" latinLnBrk="0" hangingPunct="1">
        <a:spcBef>
          <a:spcPct val="0"/>
        </a:spcBef>
        <a:buNone/>
        <a:defRPr sz="234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39316" indent="-139316" algn="l" defTabSz="82294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1pPr>
      <a:lvl2pPr marL="408230" indent="-139316" algn="l" defTabSz="82294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677143" indent="-139316" algn="l" defTabSz="82294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3pPr>
      <a:lvl4pPr marL="942817" indent="-139316" algn="l" defTabSz="82294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4pPr>
      <a:lvl5pPr marL="1211730" indent="-139316" algn="l" defTabSz="822940" rtl="0" eaLnBrk="1" latinLnBrk="0" hangingPunct="1">
        <a:spcBef>
          <a:spcPct val="20000"/>
        </a:spcBef>
        <a:buClr>
          <a:schemeClr val="accent2"/>
        </a:buClr>
        <a:buSzPct val="125000"/>
        <a:buFont typeface="Arial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5pPr>
      <a:lvl6pPr marL="2263084" indent="-205735" algn="l" defTabSz="82294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674553" indent="-205735" algn="l" defTabSz="82294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086023" indent="-205735" algn="l" defTabSz="82294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497492" indent="-205735" algn="l" defTabSz="82294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40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9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82294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9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396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05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3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900">
                <a:solidFill>
                  <a:srgbClr val="FFFFFF"/>
                </a:solidFill>
              </a:defRPr>
            </a:lvl1pPr>
          </a:lstStyle>
          <a:p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68580" tIns="34290" rIns="68580" bIns="34290" anchor="ctr" compatLnSpc="1"/>
          <a:lstStyle/>
          <a:p>
            <a:endParaRPr lang="en-US" sz="135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3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5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2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7797711-19F7-489A-B9FE-21143DCBA2BB}" type="slidenum">
              <a:rPr lang="fr-CA" smtClean="0"/>
              <a:t>‹#›</a:t>
            </a:fld>
            <a:endParaRPr lang="fr-CA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dirty="0"/>
              <a:t>Cliquez pour modifier le style du titre</a:t>
            </a:r>
            <a:endParaRPr kumimoji="0" lang="en-US" dirty="0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505969" y="1544364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28580" marR="0" lvl="0" indent="-2285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EABAB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sz="225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Cliquez pour modifier les styles de texte principaux</a:t>
            </a:r>
          </a:p>
          <a:p>
            <a:pPr marL="228580" marR="0" lvl="1" indent="-2285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EABAB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sz="225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Deuxième niveau</a:t>
            </a:r>
          </a:p>
          <a:p>
            <a:pPr marL="228580" marR="0" lvl="2" indent="-2285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EABAB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sz="225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Troisième niveau</a:t>
            </a:r>
          </a:p>
          <a:p>
            <a:pPr marL="228580" marR="0" lvl="3" indent="-2285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EABAB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sz="225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Quatrième niveau</a:t>
            </a:r>
          </a:p>
          <a:p>
            <a:pPr marL="228580" marR="0" lvl="4" indent="-2285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AEABAB"/>
              </a:buClr>
              <a:buSzPct val="85000"/>
              <a:buFont typeface="Wingdings 2"/>
              <a:buChar char=""/>
              <a:tabLst/>
              <a:defRPr/>
            </a:pPr>
            <a:r>
              <a:rPr kumimoji="0" lang="en-US" sz="225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Cinquième niveau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520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2751" kern="1200">
          <a:solidFill>
            <a:schemeClr val="accent5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580" indent="-22858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lang="en-US" sz="2251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1pPr>
      <a:lvl2pPr marL="457159" indent="-22858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lang="en-US" sz="2251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2pPr>
      <a:lvl3pPr marL="685739" indent="-190482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lang="en-US" sz="2251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3pPr>
      <a:lvl4pPr marL="914317" indent="-190482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lang="en-US" sz="2251" kern="1200" noProof="0" dirty="0" smtClean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4pPr>
      <a:lvl5pPr marL="1142898" indent="-190482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lang="en-US" sz="2251" kern="1200" noProof="0" dirty="0">
          <a:solidFill>
            <a:schemeClr val="tx1"/>
          </a:solidFill>
          <a:latin typeface="Amasis MT Pro Light" panose="02040304050005020304" pitchFamily="18" charset="0"/>
          <a:ea typeface="+mn-ea"/>
          <a:cs typeface="+mn-cs"/>
        </a:defRPr>
      </a:lvl5pPr>
      <a:lvl6pPr marL="1371476" indent="-152387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056" indent="-152387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333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52443" indent="-152387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1981022" indent="-152387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167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8096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76193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14289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2386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90482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28579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6667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04772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12192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11"/>
            <a:ext cx="12192000" cy="13933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1988803" y="0"/>
            <a:ext cx="2032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99136" y="6388400"/>
            <a:ext cx="11777472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7721600" y="6404984"/>
            <a:ext cx="4059936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59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06403" y="6410848"/>
            <a:ext cx="4775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506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fr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203200" y="155448"/>
            <a:ext cx="11777472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203200" y="1276744"/>
            <a:ext cx="1177747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38576" tIns="19289" rIns="38576" bIns="19289" anchor="ctr" compatLnSpc="1"/>
          <a:lstStyle/>
          <a:p>
            <a:endParaRPr lang="en-US" sz="1013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5689604" y="956036"/>
            <a:ext cx="8128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815584" y="1050524"/>
            <a:ext cx="560832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013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5791200" y="1040189"/>
            <a:ext cx="6096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675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4D0463A9-3ADC-8645-96FC-E3E0F339007A}" type="slidenum">
              <a:rPr lang="fr-FR" smtClean="0"/>
              <a:pPr>
                <a:defRPr/>
              </a:pPr>
              <a:t>‹#›</a:t>
            </a:fld>
            <a:endParaRPr lang="fr-FR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402339" y="228600"/>
            <a:ext cx="113792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402339" y="1524000"/>
            <a:ext cx="113792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596804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1856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154291" indent="-154291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1519" kern="1200">
          <a:solidFill>
            <a:schemeClr val="tx1"/>
          </a:solidFill>
          <a:latin typeface="+mn-lt"/>
          <a:ea typeface="+mn-ea"/>
          <a:cs typeface="+mn-cs"/>
        </a:defRPr>
      </a:lvl1pPr>
      <a:lvl2pPr marL="308582" indent="-154291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1238" kern="1200">
          <a:solidFill>
            <a:schemeClr val="tx2"/>
          </a:solidFill>
          <a:latin typeface="+mn-lt"/>
          <a:ea typeface="+mn-ea"/>
          <a:cs typeface="+mn-cs"/>
        </a:defRPr>
      </a:lvl2pPr>
      <a:lvl3pPr marL="462873" indent="-128576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617165" indent="-128576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1125" kern="1200">
          <a:solidFill>
            <a:schemeClr val="tx2"/>
          </a:solidFill>
          <a:latin typeface="+mn-lt"/>
          <a:ea typeface="+mn-ea"/>
          <a:cs typeface="+mn-cs"/>
        </a:defRPr>
      </a:lvl4pPr>
      <a:lvl5pPr marL="771456" indent="-128576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925747" indent="-10286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080038" indent="-10286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9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182899" indent="-10286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337190" indent="-10286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788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25715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51430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77145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02860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28576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154291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180006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05721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7.png"/><Relationship Id="rId5" Type="http://schemas.openxmlformats.org/officeDocument/2006/relationships/tags" Target="../tags/tag5.xml"/><Relationship Id="rId10" Type="http://schemas.openxmlformats.org/officeDocument/2006/relationships/image" Target="../media/image6.jpeg"/><Relationship Id="rId4" Type="http://schemas.openxmlformats.org/officeDocument/2006/relationships/tags" Target="../tags/tag4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5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16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tags" Target="../tags/tag37.xml"/><Relationship Id="rId3" Type="http://schemas.openxmlformats.org/officeDocument/2006/relationships/tags" Target="../tags/tag14.xml"/><Relationship Id="rId21" Type="http://schemas.openxmlformats.org/officeDocument/2006/relationships/tags" Target="../tags/tag32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tags" Target="../tags/tag36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29" Type="http://schemas.openxmlformats.org/officeDocument/2006/relationships/tags" Target="../tags/tag40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28" Type="http://schemas.openxmlformats.org/officeDocument/2006/relationships/tags" Target="../tags/tag39.xml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Relationship Id="rId27" Type="http://schemas.openxmlformats.org/officeDocument/2006/relationships/tags" Target="../tags/tag38.xml"/><Relationship Id="rId30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s.cfainstitute.org/investor/2019/10/08/green-bonds-vs-traditional-bonds/" TargetMode="External"/><Relationship Id="rId2" Type="http://schemas.openxmlformats.org/officeDocument/2006/relationships/hyperlink" Target="https://www.investopedia.com/terms/g/green-bond.asp" TargetMode="External"/><Relationship Id="rId1" Type="http://schemas.openxmlformats.org/officeDocument/2006/relationships/slideLayout" Target="../slideLayouts/slideLayout48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gi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  <p:custDataLst>
              <p:tags r:id="rId1"/>
            </p:custDataLst>
          </p:nvPr>
        </p:nvSpPr>
        <p:spPr/>
        <p:txBody>
          <a:bodyPr/>
          <a:lstStyle/>
          <a:p>
            <a:pPr defTabSz="617220"/>
            <a:fld id="{EC294168-EDF8-4A56-8236-C8C76B4B0246}" type="slidenum">
              <a:rPr lang="fr-CA">
                <a:solidFill>
                  <a:prstClr val="black"/>
                </a:solidFill>
              </a:rPr>
              <a:pPr defTabSz="617220"/>
              <a:t>1</a:t>
            </a:fld>
            <a:endParaRPr lang="fr-CA" dirty="0">
              <a:solidFill>
                <a:prstClr val="black"/>
              </a:solidFill>
            </a:endParaRPr>
          </a:p>
        </p:txBody>
      </p:sp>
      <p:sp>
        <p:nvSpPr>
          <p:cNvPr id="5" name="Titre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359696" y="634085"/>
            <a:ext cx="5246370" cy="1177245"/>
          </a:xfrm>
        </p:spPr>
        <p:txBody>
          <a:bodyPr>
            <a:noAutofit/>
          </a:bodyPr>
          <a:lstStyle/>
          <a:p>
            <a:r>
              <a:rPr lang="en-CA" sz="3600" dirty="0">
                <a:solidFill>
                  <a:schemeClr val="tx1"/>
                </a:solidFill>
              </a:rPr>
              <a:t>10200</a:t>
            </a:r>
            <a:br>
              <a:rPr lang="en-CA" sz="3600" dirty="0">
                <a:solidFill>
                  <a:schemeClr val="tx1"/>
                </a:solidFill>
              </a:rPr>
            </a:br>
            <a:r>
              <a:rPr lang="en-CA" sz="3600" b="1" dirty="0">
                <a:solidFill>
                  <a:schemeClr val="tx1"/>
                </a:solidFill>
              </a:rPr>
              <a:t>Finance</a:t>
            </a:r>
          </a:p>
        </p:txBody>
      </p:sp>
      <p:sp>
        <p:nvSpPr>
          <p:cNvPr id="6" name="Titre 4">
            <a:extLst>
              <a:ext uri="{FF2B5EF4-FFF2-40B4-BE49-F238E27FC236}">
                <a16:creationId xmlns:a16="http://schemas.microsoft.com/office/drawing/2014/main" id="{79BBBB01-5B6C-3428-08A3-23C6C0FD8DFC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3179678" y="4119834"/>
            <a:ext cx="5784043" cy="1164852"/>
          </a:xfrm>
          <a:prstGeom prst="rect">
            <a:avLst/>
          </a:prstGeom>
        </p:spPr>
        <p:txBody>
          <a:bodyPr vert="horz" anchor="b">
            <a:normAutofit fontScale="70000" lnSpcReduction="20000"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500" b="0" kern="1200" cap="none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17220"/>
            <a:endParaRPr lang="en-CA" sz="1823" dirty="0">
              <a:solidFill>
                <a:prstClr val="black"/>
              </a:solidFill>
              <a:latin typeface="Georgia"/>
            </a:endParaRPr>
          </a:p>
          <a:p>
            <a:pPr defTabSz="617220"/>
            <a:endParaRPr lang="en-CA" sz="1823" dirty="0">
              <a:solidFill>
                <a:prstClr val="black"/>
              </a:solidFill>
              <a:latin typeface="Georgia"/>
            </a:endParaRPr>
          </a:p>
          <a:p>
            <a:pPr defTabSz="617220"/>
            <a:endParaRPr lang="en-CA" sz="1823" dirty="0">
              <a:solidFill>
                <a:prstClr val="black"/>
              </a:solidFill>
              <a:latin typeface="Georgia"/>
            </a:endParaRPr>
          </a:p>
          <a:p>
            <a:pPr defTabSz="617220"/>
            <a:endParaRPr lang="en-CA" sz="1823" dirty="0">
              <a:solidFill>
                <a:prstClr val="black"/>
              </a:solidFill>
              <a:latin typeface="Georgia"/>
            </a:endParaRPr>
          </a:p>
          <a:p>
            <a:pPr defTabSz="617220"/>
            <a:endParaRPr lang="en-CA" sz="1823" dirty="0">
              <a:solidFill>
                <a:prstClr val="black"/>
              </a:solidFill>
              <a:latin typeface="Georgia"/>
            </a:endParaRPr>
          </a:p>
          <a:p>
            <a:pPr defTabSz="617220"/>
            <a:endParaRPr lang="en-CA" sz="1580" dirty="0">
              <a:solidFill>
                <a:prstClr val="black"/>
              </a:solidFill>
              <a:latin typeface="Georgia"/>
            </a:endParaRPr>
          </a:p>
          <a:p>
            <a:pPr defTabSz="617220"/>
            <a:r>
              <a:rPr lang="en-CA" sz="1350" dirty="0">
                <a:solidFill>
                  <a:prstClr val="white"/>
                </a:solidFill>
                <a:latin typeface="Georgia"/>
              </a:rPr>
              <a:t>© Mélanie Harris 2025</a:t>
            </a:r>
            <a:endParaRPr lang="en-CA" sz="1350" dirty="0">
              <a:solidFill>
                <a:prstClr val="white"/>
              </a:solidFill>
              <a:latin typeface="Ink Free" panose="03080402000500000000" pitchFamily="66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8CEF0A-4CF0-72D8-5BFD-55B004412DB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277227" y="3744590"/>
            <a:ext cx="380490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555471">
              <a:defRPr/>
            </a:pPr>
            <a:r>
              <a:rPr lang="en-CA" sz="2400" b="1" dirty="0">
                <a:solidFill>
                  <a:prstClr val="black"/>
                </a:solidFill>
                <a:latin typeface="Georgia"/>
              </a:rPr>
              <a:t>Séance 3 </a:t>
            </a:r>
          </a:p>
          <a:p>
            <a:pPr algn="ctr" defTabSz="555471">
              <a:defRPr/>
            </a:pPr>
            <a:endParaRPr lang="en-CA" sz="2400" dirty="0">
              <a:solidFill>
                <a:prstClr val="black"/>
              </a:solidFill>
              <a:latin typeface="Georgia"/>
            </a:endParaRPr>
          </a:p>
          <a:p>
            <a:pPr algn="ctr" defTabSz="617190">
              <a:defRPr/>
            </a:pPr>
            <a:r>
              <a:rPr lang="fr-CA" sz="2400" dirty="0">
                <a:solidFill>
                  <a:prstClr val="black"/>
                </a:solidFill>
                <a:latin typeface="Georgia"/>
              </a:rPr>
              <a:t>Évaluation des obligations et hypothèques</a:t>
            </a:r>
          </a:p>
        </p:txBody>
      </p:sp>
      <p:pic>
        <p:nvPicPr>
          <p:cNvPr id="7" name="Espace réservé du contenu 5">
            <a:extLst>
              <a:ext uri="{FF2B5EF4-FFF2-40B4-BE49-F238E27FC236}">
                <a16:creationId xmlns:a16="http://schemas.microsoft.com/office/drawing/2014/main" id="{D85F7EBD-DBEB-8885-B674-8A8A7EDB4862}"/>
              </a:ext>
            </a:extLst>
          </p:cNvPr>
          <p:cNvPicPr>
            <a:picLocks noGrp="1" noChangeAspect="1"/>
          </p:cNvPicPr>
          <p:nvPr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6" r="7697"/>
          <a:stretch/>
        </p:blipFill>
        <p:spPr>
          <a:xfrm>
            <a:off x="1962331" y="2640788"/>
            <a:ext cx="2434693" cy="1013245"/>
          </a:xfrm>
          <a:prstGeom prst="rect">
            <a:avLst/>
          </a:prstGeom>
        </p:spPr>
      </p:pic>
      <p:sp>
        <p:nvSpPr>
          <p:cNvPr id="2" name="Titre 4">
            <a:extLst>
              <a:ext uri="{FF2B5EF4-FFF2-40B4-BE49-F238E27FC236}">
                <a16:creationId xmlns:a16="http://schemas.microsoft.com/office/drawing/2014/main" id="{79BBBB01-5B6C-3428-08A3-23C6C0FD8DFC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900748" y="5569829"/>
            <a:ext cx="6426714" cy="31252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500" b="0" kern="1200" cap="none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685800"/>
            <a:r>
              <a:rPr lang="en-CA" sz="1200" dirty="0">
                <a:solidFill>
                  <a:prstClr val="white"/>
                </a:solidFill>
                <a:latin typeface="Georgia"/>
              </a:rPr>
              <a:t>© Mélanie Harris 2019 </a:t>
            </a:r>
            <a:r>
              <a:rPr lang="en-CA" sz="1200" dirty="0">
                <a:solidFill>
                  <a:prstClr val="white"/>
                </a:solidFill>
                <a:latin typeface="Ink Free" panose="03080402000500000000" pitchFamily="66" charset="0"/>
              </a:rPr>
              <a:t> (mis à jour </a:t>
            </a:r>
            <a:r>
              <a:rPr lang="en-CA" sz="1200" dirty="0" err="1">
                <a:solidFill>
                  <a:prstClr val="white"/>
                </a:solidFill>
                <a:latin typeface="Ink Free" panose="03080402000500000000" pitchFamily="66" charset="0"/>
              </a:rPr>
              <a:t>en</a:t>
            </a:r>
            <a:r>
              <a:rPr lang="en-CA" sz="1200" dirty="0">
                <a:solidFill>
                  <a:prstClr val="white"/>
                </a:solidFill>
                <a:latin typeface="Ink Free" panose="03080402000500000000" pitchFamily="66" charset="0"/>
              </a:rPr>
              <a:t> 2025)</a:t>
            </a:r>
          </a:p>
        </p:txBody>
      </p:sp>
      <p:pic>
        <p:nvPicPr>
          <p:cNvPr id="8" name="Picture 7" descr="A paper with a pen and a piece of paper with a pie chart and a graph&#10;&#10;AI-generated content may be incorrect.">
            <a:extLst>
              <a:ext uri="{FF2B5EF4-FFF2-40B4-BE49-F238E27FC236}">
                <a16:creationId xmlns:a16="http://schemas.microsoft.com/office/drawing/2014/main" id="{7D505E5A-CDE9-A140-A6A3-3A8647CEB9B0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2911923"/>
            <a:ext cx="4512128" cy="29422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sp>
        <p:nvSpPr>
          <p:cNvPr id="3" name="Titre 4">
            <a:extLst>
              <a:ext uri="{FF2B5EF4-FFF2-40B4-BE49-F238E27FC236}">
                <a16:creationId xmlns:a16="http://schemas.microsoft.com/office/drawing/2014/main" id="{AEDB7534-6C31-7C8E-ACBF-774E55C0FAC6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1501866" y="6283404"/>
            <a:ext cx="8568952" cy="416704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3500" b="0" kern="1200" cap="none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1600" dirty="0">
                <a:solidFill>
                  <a:schemeClr val="bg1"/>
                </a:solidFill>
                <a:latin typeface="Georgia"/>
              </a:rPr>
              <a:t>© Mélanie Harris 2019 </a:t>
            </a:r>
            <a:r>
              <a:rPr lang="en-CA" sz="1600" dirty="0">
                <a:solidFill>
                  <a:schemeClr val="bg1"/>
                </a:solidFill>
                <a:latin typeface="Ink Free" panose="03080402000500000000" pitchFamily="66" charset="0"/>
              </a:rPr>
              <a:t> (mis à jour </a:t>
            </a:r>
            <a:r>
              <a:rPr lang="en-CA" sz="1600" dirty="0" err="1">
                <a:solidFill>
                  <a:schemeClr val="bg1"/>
                </a:solidFill>
                <a:latin typeface="Ink Free" panose="03080402000500000000" pitchFamily="66" charset="0"/>
              </a:rPr>
              <a:t>en</a:t>
            </a:r>
            <a:r>
              <a:rPr lang="en-CA" sz="1600" dirty="0">
                <a:solidFill>
                  <a:schemeClr val="bg1"/>
                </a:solidFill>
                <a:latin typeface="Ink Free" panose="03080402000500000000" pitchFamily="66" charset="0"/>
              </a:rPr>
              <a:t> 2025)</a:t>
            </a:r>
          </a:p>
        </p:txBody>
      </p:sp>
    </p:spTree>
    <p:extLst>
      <p:ext uri="{BB962C8B-B14F-4D97-AF65-F5344CB8AC3E}">
        <p14:creationId xmlns:p14="http://schemas.microsoft.com/office/powerpoint/2010/main" val="2943560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>
                <a:solidFill>
                  <a:srgbClr val="FF0000"/>
                </a:solidFill>
              </a:rPr>
              <a:t>Qu'avons-nous vu dans la séance 3 ?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02339" y="1527048"/>
            <a:ext cx="9927333" cy="48542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b="1" dirty="0"/>
              <a:t>Capsule 1 : </a:t>
            </a:r>
            <a:r>
              <a:rPr lang="en-CA" sz="2400" dirty="0"/>
              <a:t>Évaluation des actifs et caractéristiques des obligations </a:t>
            </a:r>
          </a:p>
          <a:p>
            <a:pPr marL="0" indent="0">
              <a:buNone/>
            </a:pPr>
            <a:r>
              <a:rPr lang="fr-CA" sz="2400" b="1" dirty="0"/>
              <a:t>Capsule 2 : </a:t>
            </a:r>
            <a:r>
              <a:rPr lang="fr-CA" sz="2400" dirty="0"/>
              <a:t>Évaluation des obligations</a:t>
            </a:r>
          </a:p>
          <a:p>
            <a:pPr marL="0" indent="0">
              <a:buNone/>
            </a:pPr>
            <a:r>
              <a:rPr lang="fr-CA" sz="2400" b="1" dirty="0"/>
              <a:t>Capsule 3 : </a:t>
            </a:r>
            <a:r>
              <a:rPr lang="fr-CA" sz="2400" dirty="0"/>
              <a:t>Autres types d'obligations</a:t>
            </a:r>
          </a:p>
          <a:p>
            <a:pPr marL="0" indent="0">
              <a:buClr>
                <a:srgbClr val="4F81BD"/>
              </a:buClr>
              <a:buNone/>
              <a:defRPr/>
            </a:pPr>
            <a:r>
              <a:rPr lang="fr-CA" sz="2400" b="1" dirty="0">
                <a:solidFill>
                  <a:prstClr val="black"/>
                </a:solidFill>
                <a:latin typeface="Georgia"/>
              </a:rPr>
              <a:t>Capsule 4 : </a:t>
            </a:r>
            <a:r>
              <a:rPr lang="fr-CA" sz="2400" dirty="0">
                <a:solidFill>
                  <a:prstClr val="black"/>
                </a:solidFill>
                <a:latin typeface="Georgia"/>
              </a:rPr>
              <a:t>Facteurs de risque</a:t>
            </a:r>
          </a:p>
          <a:p>
            <a:pPr marL="0" indent="0">
              <a:buNone/>
            </a:pPr>
            <a:endParaRPr lang="fr-CA" sz="2400" dirty="0"/>
          </a:p>
        </p:txBody>
      </p:sp>
      <p:pic>
        <p:nvPicPr>
          <p:cNvPr id="5" name="Picture 2" descr="Basics Of Bonds - Maturity, Coupons And Yield">
            <a:extLst>
              <a:ext uri="{FF2B5EF4-FFF2-40B4-BE49-F238E27FC236}">
                <a16:creationId xmlns:a16="http://schemas.microsoft.com/office/drawing/2014/main" id="{540CF57F-EC20-E28C-B959-3DF4998EF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2073272"/>
            <a:ext cx="3284774" cy="18809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CDA4769-2422-9884-C0D1-ADED1DBC4D80}"/>
              </a:ext>
            </a:extLst>
          </p:cNvPr>
          <p:cNvSpPr txBox="1"/>
          <p:nvPr/>
        </p:nvSpPr>
        <p:spPr>
          <a:xfrm>
            <a:off x="911424" y="5520555"/>
            <a:ext cx="94659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en-US" sz="2400" b="1" dirty="0">
                <a:solidFill>
                  <a:prstClr val="black"/>
                </a:solidFill>
                <a:latin typeface="Georgia"/>
              </a:rPr>
              <a:t>Lectures : </a:t>
            </a:r>
            <a:r>
              <a:rPr lang="en-US" sz="2400" dirty="0">
                <a:solidFill>
                  <a:prstClr val="black"/>
                </a:solidFill>
                <a:latin typeface="Georgia"/>
              </a:rPr>
              <a:t>Chapitres 6 &amp; 7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en-US" sz="2000" dirty="0">
                <a:solidFill>
                  <a:prstClr val="black"/>
                </a:solidFill>
                <a:latin typeface="Ink Free" panose="03080402000500000000" pitchFamily="66" charset="0"/>
              </a:rPr>
              <a:t>ZC / Matériel </a:t>
            </a:r>
            <a:r>
              <a:rPr lang="en-US" sz="2000" dirty="0" err="1">
                <a:solidFill>
                  <a:prstClr val="black"/>
                </a:solidFill>
                <a:latin typeface="Ink Free" panose="03080402000500000000" pitchFamily="66" charset="0"/>
              </a:rPr>
              <a:t>pédagogique</a:t>
            </a:r>
            <a:r>
              <a:rPr lang="en-US" sz="2000" dirty="0">
                <a:solidFill>
                  <a:prstClr val="black"/>
                </a:solidFill>
                <a:latin typeface="Ink Free" panose="03080402000500000000" pitchFamily="66" charset="0"/>
              </a:rPr>
              <a:t> / « Importance de chaque section »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EF9AEC-3B8C-9EE1-318D-E6A14625EA3E}"/>
              </a:ext>
            </a:extLst>
          </p:cNvPr>
          <p:cNvSpPr txBox="1"/>
          <p:nvPr/>
        </p:nvSpPr>
        <p:spPr>
          <a:xfrm>
            <a:off x="354608" y="4131999"/>
            <a:ext cx="11574040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>
                <a:latin typeface="Ink Free" panose="03080402000500000000" pitchFamily="66" charset="0"/>
              </a:rPr>
              <a:t>«</a:t>
            </a:r>
            <a:r>
              <a:rPr lang="fr-CA" sz="2000" b="1" dirty="0">
                <a:latin typeface="Ink Free" panose="03080402000500000000" pitchFamily="66" charset="0"/>
              </a:rPr>
              <a:t>Les obligations sont comme des passagers d’avion : plus le vol est long, plus les turbulences se font sentir… mais à l’approche de l’atterrissage, la trajectoire devient claire.</a:t>
            </a:r>
            <a:r>
              <a:rPr lang="en-US" sz="2000" b="1" dirty="0">
                <a:latin typeface="Ink Free" panose="03080402000500000000" pitchFamily="66" charset="0"/>
              </a:rPr>
              <a:t>»</a:t>
            </a:r>
            <a:br>
              <a:rPr lang="en-US" sz="2000" dirty="0">
                <a:latin typeface="Ink Free" panose="03080402000500000000" pitchFamily="66" charset="0"/>
              </a:rPr>
            </a:br>
            <a:r>
              <a:rPr lang="en-US" sz="2000" dirty="0">
                <a:latin typeface="Ink Free" panose="03080402000500000000" pitchFamily="66" charset="0"/>
              </a:rPr>
              <a:t>– Anonyme</a:t>
            </a:r>
            <a:endParaRPr lang="fr-CA" sz="2000" dirty="0">
              <a:latin typeface="Ink Free" panose="03080402000500000000" pitchFamily="66" charset="0"/>
            </a:endParaRPr>
          </a:p>
        </p:txBody>
      </p:sp>
      <p:pic>
        <p:nvPicPr>
          <p:cNvPr id="1026" name="Picture 2" descr="Airplane ">
            <a:extLst>
              <a:ext uri="{FF2B5EF4-FFF2-40B4-BE49-F238E27FC236}">
                <a16:creationId xmlns:a16="http://schemas.microsoft.com/office/drawing/2014/main" id="{DBFEDFC2-EDD0-EACC-85B8-49CBC8614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4057" y="4500412"/>
            <a:ext cx="825624" cy="825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Book ">
            <a:extLst>
              <a:ext uri="{FF2B5EF4-FFF2-40B4-BE49-F238E27FC236}">
                <a16:creationId xmlns:a16="http://schemas.microsoft.com/office/drawing/2014/main" id="{CE03811F-7E76-12C2-829B-EFCB9D4A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4" y="5675476"/>
            <a:ext cx="554739" cy="554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558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16992" y="188640"/>
            <a:ext cx="8534400" cy="758952"/>
          </a:xfrm>
        </p:spPr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Rappel…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3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91344" y="1506518"/>
            <a:ext cx="11665296" cy="1913190"/>
          </a:xfrm>
        </p:spPr>
        <p:txBody>
          <a:bodyPr>
            <a:normAutofit lnSpcReduction="10000"/>
          </a:bodyPr>
          <a:lstStyle/>
          <a:p>
            <a:r>
              <a:rPr lang="fr-CA" dirty="0"/>
              <a:t>Pour les </a:t>
            </a:r>
            <a:r>
              <a:rPr lang="fr-CA" dirty="0" err="1"/>
              <a:t>deux</a:t>
            </a:r>
            <a:r>
              <a:rPr lang="fr-CA" dirty="0"/>
              <a:t> prochains cours :</a:t>
            </a:r>
          </a:p>
          <a:p>
            <a:pPr lvl="1"/>
            <a:r>
              <a:rPr lang="fr-CA" b="1" u="sng" dirty="0"/>
              <a:t>Évaluation des actifs</a:t>
            </a:r>
          </a:p>
          <a:p>
            <a:pPr lvl="1"/>
            <a:r>
              <a:rPr lang="fr-CA" sz="2800" b="1" dirty="0"/>
              <a:t>Décision </a:t>
            </a:r>
            <a:r>
              <a:rPr lang="fr-CA" dirty="0"/>
              <a:t>d'acheter ou non un titre</a:t>
            </a:r>
          </a:p>
          <a:p>
            <a:pPr lvl="1"/>
            <a:r>
              <a:rPr lang="fr-CA" b="1" dirty="0" err="1"/>
              <a:t>Du point de vue </a:t>
            </a:r>
            <a:r>
              <a:rPr lang="fr-CA" sz="3200" b="1" u="sng" dirty="0" err="1"/>
              <a:t>de l'investisseur</a:t>
            </a:r>
            <a:endParaRPr lang="fr-CA" b="1" dirty="0"/>
          </a:p>
          <a:p>
            <a:pPr lvl="3"/>
            <a:endParaRPr lang="fr-CA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02AD72-A71C-49F3-910C-9B198A371B29}"/>
              </a:ext>
            </a:extLst>
          </p:cNvPr>
          <p:cNvSpPr/>
          <p:nvPr/>
        </p:nvSpPr>
        <p:spPr>
          <a:xfrm>
            <a:off x="251544" y="4395935"/>
            <a:ext cx="11665296" cy="18110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rgbClr val="FF0000"/>
            </a:solidFill>
            <a:prstDash val="solid"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fr-CA" sz="3200" dirty="0"/>
              <a:t>📌 </a:t>
            </a:r>
            <a:r>
              <a:rPr lang="fr-CA" sz="3200" b="1" dirty="0">
                <a:solidFill>
                  <a:sysClr val="windowText" lastClr="000000"/>
                </a:solidFill>
              </a:rPr>
              <a:t>Quand investir ?? </a:t>
            </a:r>
            <a:r>
              <a:rPr lang="fr-CA" sz="3200" u="sng" dirty="0">
                <a:solidFill>
                  <a:srgbClr val="FF0000"/>
                </a:solidFill>
                <a:latin typeface="Georgia"/>
              </a:rPr>
              <a:t>Règle </a:t>
            </a:r>
            <a:r>
              <a:rPr lang="fr-CA" sz="3200" b="1" u="sng" dirty="0">
                <a:solidFill>
                  <a:prstClr val="black"/>
                </a:solidFill>
                <a:latin typeface="Georgia"/>
              </a:rPr>
              <a:t>de décision :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fr-CA" sz="2000" dirty="0">
                <a:solidFill>
                  <a:prstClr val="black"/>
                </a:solidFill>
                <a:latin typeface="Georgia"/>
              </a:rPr>
              <a:t>Lorsque la valeur </a:t>
            </a:r>
            <a:r>
              <a:rPr lang="en-CA" sz="2000" dirty="0">
                <a:solidFill>
                  <a:srgbClr val="1F497D"/>
                </a:solidFill>
                <a:latin typeface="Georgia"/>
              </a:rPr>
              <a:t>est supérieure ou égale </a:t>
            </a:r>
            <a:r>
              <a:rPr lang="fr-CA" sz="2000" dirty="0">
                <a:solidFill>
                  <a:prstClr val="black"/>
                </a:solidFill>
                <a:latin typeface="Georgia"/>
              </a:rPr>
              <a:t>au prix : </a:t>
            </a:r>
            <a:r>
              <a:rPr lang="fr-CA" sz="2000" b="1" dirty="0">
                <a:solidFill>
                  <a:prstClr val="black"/>
                </a:solidFill>
                <a:latin typeface="Georgia"/>
              </a:rPr>
              <a:t>ACHETER (=investir) </a:t>
            </a:r>
            <a:r>
              <a:rPr lang="fr-CA" sz="2000" dirty="0">
                <a:solidFill>
                  <a:prstClr val="black"/>
                </a:solidFill>
                <a:latin typeface="Georgia"/>
              </a:rPr>
              <a:t>le titre</a:t>
            </a:r>
          </a:p>
          <a:p>
            <a:pPr marL="274320" lvl="1" algn="ctr" fontAlgn="auto">
              <a:spcBef>
                <a:spcPct val="20000"/>
              </a:spcBef>
              <a:spcAft>
                <a:spcPts val="0"/>
              </a:spcAft>
              <a:buClr>
                <a:srgbClr val="C0504D"/>
              </a:buClr>
              <a:buSzPct val="70000"/>
              <a:defRPr/>
            </a:pPr>
            <a:r>
              <a:rPr lang="fr-CA" sz="2000" dirty="0" err="1">
                <a:solidFill>
                  <a:prstClr val="black"/>
                </a:solidFill>
                <a:latin typeface="Georgia"/>
              </a:rPr>
              <a:t>Lorsque </a:t>
            </a:r>
            <a:r>
              <a:rPr lang="fr-CA" sz="2000" dirty="0">
                <a:solidFill>
                  <a:prstClr val="black"/>
                </a:solidFill>
                <a:latin typeface="Georgia"/>
              </a:rPr>
              <a:t>la valeur </a:t>
            </a:r>
            <a:r>
              <a:rPr lang="en-CA" sz="2000" dirty="0">
                <a:solidFill>
                  <a:srgbClr val="1F497D"/>
                </a:solidFill>
                <a:latin typeface="Georgia"/>
              </a:rPr>
              <a:t>est inférieure</a:t>
            </a:r>
            <a:r>
              <a:rPr lang="en-CA" sz="2000" dirty="0">
                <a:solidFill>
                  <a:schemeClr val="tx1"/>
                </a:solidFill>
                <a:latin typeface="Georgia"/>
              </a:rPr>
              <a:t> au </a:t>
            </a:r>
            <a:r>
              <a:rPr lang="fr-CA" sz="2000" dirty="0">
                <a:solidFill>
                  <a:prstClr val="black"/>
                </a:solidFill>
                <a:latin typeface="Georgia"/>
              </a:rPr>
              <a:t>prix : </a:t>
            </a:r>
            <a:r>
              <a:rPr lang="fr-CA" sz="2000" b="1" dirty="0">
                <a:solidFill>
                  <a:prstClr val="black"/>
                </a:solidFill>
                <a:latin typeface="Georgia"/>
              </a:rPr>
              <a:t>NE PAS ACHETER (= ne pas investir) </a:t>
            </a:r>
            <a:r>
              <a:rPr lang="fr-CA" sz="2000" dirty="0">
                <a:solidFill>
                  <a:prstClr val="black"/>
                </a:solidFill>
                <a:latin typeface="Georgia"/>
              </a:rPr>
              <a:t>le titre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A79F24-F631-4E89-AE9B-AAA5CDB2A67E}"/>
              </a:ext>
            </a:extLst>
          </p:cNvPr>
          <p:cNvSpPr txBox="1"/>
          <p:nvPr/>
        </p:nvSpPr>
        <p:spPr>
          <a:xfrm>
            <a:off x="1337384" y="3630796"/>
            <a:ext cx="9373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lvl="1" algn="ctr"/>
            <a:r>
              <a:rPr lang="fr-CA" sz="2800" b="1" dirty="0">
                <a:solidFill>
                  <a:srgbClr val="008080"/>
                </a:solidFill>
                <a:latin typeface="Ink Free" panose="03080402000500000000" pitchFamily="66" charset="0"/>
              </a:rPr>
              <a:t>« Multitude de valeurs possibles pour un seul actif »</a:t>
            </a:r>
          </a:p>
        </p:txBody>
      </p:sp>
      <p:pic>
        <p:nvPicPr>
          <p:cNvPr id="9" name="Picture 2" descr="Important ">
            <a:extLst>
              <a:ext uri="{FF2B5EF4-FFF2-40B4-BE49-F238E27FC236}">
                <a16:creationId xmlns:a16="http://schemas.microsoft.com/office/drawing/2014/main" id="{A9F485D8-0851-B4C7-A4C3-FC95242FBF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8915" y="2935812"/>
            <a:ext cx="1913189" cy="1913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211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600" y="382568"/>
            <a:ext cx="11640615" cy="758952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A – </a:t>
            </a:r>
            <a:r>
              <a:rPr lang="en-US" sz="3200" b="1" dirty="0" err="1">
                <a:solidFill>
                  <a:srgbClr val="FF0000"/>
                </a:solidFill>
              </a:rPr>
              <a:t>Évaluation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hypothécaire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br>
              <a:rPr lang="en-US" sz="32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008080"/>
                </a:solidFill>
                <a:latin typeface="Bradley Hand ITC" panose="03070402050302030203" pitchFamily="66" charset="0"/>
              </a:rPr>
              <a:t>(✅non </a:t>
            </a:r>
            <a:r>
              <a:rPr lang="en-US" sz="2800" b="1" dirty="0" err="1">
                <a:solidFill>
                  <a:srgbClr val="008080"/>
                </a:solidFill>
                <a:latin typeface="Bradley Hand ITC" panose="03070402050302030203" pitchFamily="66" charset="0"/>
              </a:rPr>
              <a:t>présent</a:t>
            </a:r>
            <a:r>
              <a:rPr lang="en-US" sz="2800" b="1" dirty="0">
                <a:solidFill>
                  <a:srgbClr val="008080"/>
                </a:solidFill>
                <a:latin typeface="Bradley Hand ITC" panose="03070402050302030203" pitchFamily="66" charset="0"/>
              </a:rPr>
              <a:t> dans les capsules </a:t>
            </a:r>
            <a:r>
              <a:rPr lang="en-US" sz="2800" b="1" dirty="0" err="1">
                <a:solidFill>
                  <a:srgbClr val="008080"/>
                </a:solidFill>
                <a:latin typeface="Bradley Hand ITC" panose="03070402050302030203" pitchFamily="66" charset="0"/>
              </a:rPr>
              <a:t>mais</a:t>
            </a:r>
            <a:r>
              <a:rPr lang="en-US" sz="2800" b="1" dirty="0">
                <a:solidFill>
                  <a:srgbClr val="008080"/>
                </a:solidFill>
                <a:latin typeface="Bradley Hand ITC" panose="03070402050302030203" pitchFamily="66" charset="0"/>
              </a:rPr>
              <a:t> matière à examen)</a:t>
            </a:r>
            <a:endParaRPr lang="en-US" sz="3200" b="1" dirty="0">
              <a:solidFill>
                <a:srgbClr val="00808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4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31516" y="2659814"/>
            <a:ext cx="11525124" cy="3649506"/>
          </a:xfrm>
        </p:spPr>
        <p:txBody>
          <a:bodyPr>
            <a:normAutofit lnSpcReduction="10000"/>
          </a:bodyPr>
          <a:lstStyle/>
          <a:p>
            <a:r>
              <a:rPr lang="fr-CA" dirty="0"/>
              <a:t>Définition :</a:t>
            </a:r>
          </a:p>
          <a:p>
            <a:pPr lvl="1"/>
            <a:r>
              <a:rPr lang="en-CA" dirty="0"/>
              <a:t>Une hypothèque est un type de dette utilisé pour financer l'achat d'un actif à long terme (</a:t>
            </a:r>
            <a:r>
              <a:rPr lang="en-CA" dirty="0" err="1"/>
              <a:t>par exemple</a:t>
            </a:r>
            <a:r>
              <a:rPr lang="en-CA" dirty="0"/>
              <a:t>, une maison). </a:t>
            </a:r>
          </a:p>
          <a:p>
            <a:pPr marL="0" indent="0">
              <a:buNone/>
            </a:pPr>
            <a:endParaRPr lang="fr-CA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fr-CA" dirty="0"/>
              <a:t>Caractéristiques :</a:t>
            </a:r>
          </a:p>
          <a:p>
            <a:pPr lvl="1"/>
            <a:r>
              <a:rPr lang="fr-CA" dirty="0"/>
              <a:t>Type de prêt (</a:t>
            </a:r>
            <a:r>
              <a:rPr lang="fr-CA" dirty="0" err="1">
                <a:sym typeface="Wingdings" panose="05000000000000000000" pitchFamily="2" charset="2"/>
              </a:rPr>
              <a:t>appelé </a:t>
            </a:r>
            <a:r>
              <a:rPr lang="fr-CA" dirty="0">
                <a:sym typeface="Wingdings" panose="05000000000000000000" pitchFamily="2" charset="2"/>
              </a:rPr>
              <a:t>« </a:t>
            </a:r>
            <a:r>
              <a:rPr lang="fr-CA" u="sng" dirty="0">
                <a:latin typeface="Ink Free" panose="03080402000500000000" pitchFamily="66" charset="0"/>
                <a:sym typeface="Wingdings" panose="05000000000000000000" pitchFamily="2" charset="2"/>
              </a:rPr>
              <a:t>prêt</a:t>
            </a:r>
            <a:r>
              <a:rPr lang="fr-CA" dirty="0">
                <a:latin typeface="Ink Free" panose="03080402000500000000" pitchFamily="66" charset="0"/>
                <a:sym typeface="Wingdings" panose="05000000000000000000" pitchFamily="2" charset="2"/>
              </a:rPr>
              <a:t> </a:t>
            </a:r>
            <a:r>
              <a:rPr lang="fr-CA" u="sng" dirty="0" err="1">
                <a:latin typeface="Ink Free" panose="03080402000500000000" pitchFamily="66" charset="0"/>
                <a:sym typeface="Wingdings" panose="05000000000000000000" pitchFamily="2" charset="2"/>
              </a:rPr>
              <a:t>amorti </a:t>
            </a:r>
            <a:r>
              <a:rPr lang="fr-CA" dirty="0"/>
              <a:t>») dont les paiements sont </a:t>
            </a:r>
            <a:r>
              <a:rPr lang="fr-CA" dirty="0" err="1"/>
              <a:t>identiques </a:t>
            </a:r>
            <a:r>
              <a:rPr lang="fr-CA" dirty="0"/>
              <a:t>à </a:t>
            </a:r>
            <a:r>
              <a:rPr lang="fr-CA" dirty="0" err="1"/>
              <a:t>chaque période</a:t>
            </a:r>
            <a:r>
              <a:rPr lang="fr-CA" dirty="0"/>
              <a:t>. </a:t>
            </a:r>
            <a:r>
              <a:rPr lang="fr-CA" sz="2000" b="1" dirty="0" err="1"/>
              <a:t>Paiement </a:t>
            </a:r>
            <a:r>
              <a:rPr lang="fr-CA" sz="2000" b="1" dirty="0"/>
              <a:t>= capital + </a:t>
            </a:r>
            <a:r>
              <a:rPr lang="fr-CA" sz="2000" b="1" dirty="0" err="1"/>
              <a:t>intérêts</a:t>
            </a:r>
            <a:endParaRPr lang="fr-CA" b="1" dirty="0"/>
          </a:p>
          <a:p>
            <a:pPr lvl="1"/>
            <a:r>
              <a:rPr lang="en-GB" dirty="0"/>
              <a:t>Taux d'intérêt : exprimé sous forme de </a:t>
            </a:r>
            <a:r>
              <a:rPr lang="en-GB" b="1" dirty="0" err="1"/>
              <a:t>taux</a:t>
            </a:r>
            <a:r>
              <a:rPr lang="en-GB" b="1" dirty="0"/>
              <a:t> nominal composé </a:t>
            </a:r>
            <a:r>
              <a:rPr lang="en-GB" b="1" u="sng" dirty="0"/>
              <a:t>semestriellement</a:t>
            </a:r>
          </a:p>
          <a:p>
            <a:pPr lvl="1"/>
            <a:r>
              <a:rPr lang="en-CA" dirty="0"/>
              <a:t>Les actifs sont donnés en </a:t>
            </a:r>
            <a:r>
              <a:rPr lang="en-CA" b="1" dirty="0"/>
              <a:t>garantie </a:t>
            </a:r>
            <a:r>
              <a:rPr lang="en-CA" dirty="0"/>
              <a:t>(pour </a:t>
            </a:r>
            <a:r>
              <a:rPr lang="en-CA" u="sng" dirty="0"/>
              <a:t>protéger le </a:t>
            </a:r>
            <a:r>
              <a:rPr lang="en-CA" u="sng" dirty="0" err="1"/>
              <a:t>prêteur</a:t>
            </a:r>
            <a:r>
              <a:rPr lang="en-CA" u="sng" dirty="0"/>
              <a:t> </a:t>
            </a:r>
            <a:r>
              <a:rPr lang="en-CA" u="sng" dirty="0" err="1"/>
              <a:t>càd</a:t>
            </a:r>
            <a:r>
              <a:rPr lang="en-CA" u="sng" dirty="0"/>
              <a:t> la </a:t>
            </a:r>
            <a:r>
              <a:rPr lang="en-CA" u="sng" dirty="0" err="1"/>
              <a:t>banque</a:t>
            </a:r>
            <a:r>
              <a:rPr lang="en-CA" dirty="0"/>
              <a:t>)</a:t>
            </a:r>
          </a:p>
          <a:p>
            <a:pPr lvl="1"/>
            <a:endParaRPr lang="fr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E3833-B75C-33CE-FBB6-646EBBAFB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1404792"/>
            <a:ext cx="8928992" cy="1085136"/>
          </a:xfrm>
          <a:prstGeom prst="rect">
            <a:avLst/>
          </a:prstGeom>
        </p:spPr>
      </p:pic>
      <p:pic>
        <p:nvPicPr>
          <p:cNvPr id="2050" name="Picture 2" descr="House ">
            <a:extLst>
              <a:ext uri="{FF2B5EF4-FFF2-40B4-BE49-F238E27FC236}">
                <a16:creationId xmlns:a16="http://schemas.microsoft.com/office/drawing/2014/main" id="{4AA5FBEB-E30B-E552-58D2-C322605C5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516" y="213867"/>
            <a:ext cx="936104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Warning ">
            <a:extLst>
              <a:ext uri="{FF2B5EF4-FFF2-40B4-BE49-F238E27FC236}">
                <a16:creationId xmlns:a16="http://schemas.microsoft.com/office/drawing/2014/main" id="{997B60BD-CFFA-B432-167E-ED1E82907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8" y="5301208"/>
            <a:ext cx="450344" cy="450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5059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E7822-76C4-42A8-ABBA-B253C062B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Diagramme</a:t>
            </a:r>
            <a:r>
              <a:rPr lang="en-CA" dirty="0"/>
              <a:t> </a:t>
            </a:r>
            <a:r>
              <a:rPr lang="en-CA" dirty="0" err="1"/>
              <a:t>temporel</a:t>
            </a:r>
            <a:endParaRPr lang="fr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A59EDC-2535-4C3B-B245-F85DB91B3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5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BB3002-FDB6-424A-80EA-C595B7C418D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fr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476951-C90C-679A-30E1-2146F4A3F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456" y="1496832"/>
            <a:ext cx="8928992" cy="108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943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0939AB-2112-2B30-632E-59F944A86752}"/>
              </a:ext>
            </a:extLst>
          </p:cNvPr>
          <p:cNvSpPr/>
          <p:nvPr/>
        </p:nvSpPr>
        <p:spPr>
          <a:xfrm>
            <a:off x="191344" y="4797153"/>
            <a:ext cx="11737304" cy="11132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63352" y="2204864"/>
            <a:ext cx="11521280" cy="4140460"/>
          </a:xfrm>
        </p:spPr>
        <p:txBody>
          <a:bodyPr>
            <a:normAutofit fontScale="70000" lnSpcReduction="20000"/>
          </a:bodyPr>
          <a:lstStyle/>
          <a:p>
            <a:r>
              <a:rPr lang="fr-CA" sz="2800" dirty="0" err="1"/>
              <a:t>L'emprunteur </a:t>
            </a:r>
            <a:r>
              <a:rPr lang="fr-CA" sz="2800" dirty="0"/>
              <a:t>a </a:t>
            </a:r>
            <a:r>
              <a:rPr lang="fr-CA" sz="2800" dirty="0" err="1"/>
              <a:t>plusieurs choix </a:t>
            </a:r>
            <a:r>
              <a:rPr lang="fr-CA" sz="2800" dirty="0"/>
              <a:t>à </a:t>
            </a:r>
            <a:r>
              <a:rPr lang="fr-CA" sz="2800" dirty="0" err="1"/>
              <a:t>faire </a:t>
            </a:r>
            <a:r>
              <a:rPr lang="fr-CA" sz="2800" dirty="0"/>
              <a:t>pour le </a:t>
            </a:r>
            <a:r>
              <a:rPr lang="fr-CA" sz="2800" dirty="0" err="1"/>
              <a:t>contrat </a:t>
            </a:r>
            <a:r>
              <a:rPr lang="fr-CA" sz="2800" dirty="0"/>
              <a:t>:</a:t>
            </a:r>
            <a:endParaRPr lang="fr-CA" sz="2300" dirty="0"/>
          </a:p>
          <a:p>
            <a:pPr lvl="1"/>
            <a:r>
              <a:rPr lang="fr-CA" sz="2500" b="1" dirty="0"/>
              <a:t>Période d'amortissement ou échéance : </a:t>
            </a:r>
            <a:r>
              <a:rPr lang="fr-CA" sz="2500" dirty="0"/>
              <a:t>durée de remboursement intégral du prêt : 1 an à 30 ans</a:t>
            </a:r>
          </a:p>
          <a:p>
            <a:pPr lvl="1"/>
            <a:r>
              <a:rPr lang="fr-CA" sz="2500" b="1" dirty="0"/>
              <a:t>Terme du contrat hypothécaire </a:t>
            </a:r>
            <a:r>
              <a:rPr lang="fr-CA" sz="2500" dirty="0"/>
              <a:t>: de 6 mois à 5 ans</a:t>
            </a:r>
          </a:p>
          <a:p>
            <a:pPr lvl="1"/>
            <a:r>
              <a:rPr lang="fr-CA" sz="2500" b="1" dirty="0"/>
              <a:t>Les taux </a:t>
            </a:r>
            <a:r>
              <a:rPr lang="fr-CA" sz="2500" b="1" dirty="0" err="1"/>
              <a:t>d'intérêt </a:t>
            </a:r>
            <a:r>
              <a:rPr lang="fr-CA" sz="2500" dirty="0"/>
              <a:t>sont </a:t>
            </a:r>
            <a:r>
              <a:rPr lang="fr-CA" sz="2500" b="1" dirty="0"/>
              <a:t>fixés </a:t>
            </a:r>
            <a:r>
              <a:rPr lang="fr-CA" sz="2500" dirty="0"/>
              <a:t>pour la </a:t>
            </a:r>
            <a:r>
              <a:rPr lang="fr-CA" sz="2500" dirty="0" err="1"/>
              <a:t>durée du contrat </a:t>
            </a:r>
            <a:r>
              <a:rPr lang="fr-CA" sz="2500" dirty="0"/>
              <a:t>(</a:t>
            </a:r>
            <a:r>
              <a:rPr lang="fr-CA" sz="2500" dirty="0" err="1"/>
              <a:t>choix entre </a:t>
            </a:r>
            <a:r>
              <a:rPr lang="fr-CA" sz="2500" dirty="0"/>
              <a:t>un taux </a:t>
            </a:r>
            <a:r>
              <a:rPr lang="fr-CA" sz="2500" dirty="0" err="1"/>
              <a:t>fixe </a:t>
            </a:r>
            <a:r>
              <a:rPr lang="fr-CA" sz="2500" dirty="0"/>
              <a:t>ou variable)</a:t>
            </a:r>
          </a:p>
          <a:p>
            <a:pPr lvl="1"/>
            <a:r>
              <a:rPr lang="fr-CA" sz="2500" b="1" dirty="0"/>
              <a:t>Fréquence des paiements : </a:t>
            </a:r>
            <a:r>
              <a:rPr lang="fr-CA" sz="2500" dirty="0"/>
              <a:t>mensuelle, toutes les deux semaines, hebdomadaire...</a:t>
            </a:r>
          </a:p>
          <a:p>
            <a:pPr lvl="1"/>
            <a:r>
              <a:rPr lang="fr-CA" sz="2500" dirty="0"/>
              <a:t>Prêt ouvert : prêt pouvant être remboursé par anticipation sans pénalité </a:t>
            </a:r>
          </a:p>
          <a:p>
            <a:pPr lvl="1"/>
            <a:r>
              <a:rPr lang="fr-CA" sz="2500" dirty="0"/>
              <a:t>Prêt fermé : pénalité en cas de remboursement anticipé</a:t>
            </a:r>
          </a:p>
          <a:p>
            <a:pPr lvl="1"/>
            <a:r>
              <a:rPr lang="fr-CA" sz="2500" dirty="0"/>
              <a:t>À chaque renouvellement de terme, on renégocie les conditions.</a:t>
            </a:r>
          </a:p>
          <a:p>
            <a:pPr lvl="1"/>
            <a:r>
              <a:rPr lang="fr-CA" sz="2500" dirty="0"/>
              <a:t>Et </a:t>
            </a:r>
            <a:r>
              <a:rPr lang="fr-CA" sz="2500" b="1" dirty="0"/>
              <a:t>bien d'autres conditions </a:t>
            </a:r>
            <a:r>
              <a:rPr lang="fr-CA" sz="2500" dirty="0"/>
              <a:t>à discuter avec la </a:t>
            </a:r>
            <a:r>
              <a:rPr lang="fr-CA" sz="2500" u="sng" dirty="0"/>
              <a:t>banque ET un notaire</a:t>
            </a:r>
          </a:p>
          <a:p>
            <a:pPr lvl="2"/>
            <a:endParaRPr lang="fr-CA" sz="2300" dirty="0">
              <a:solidFill>
                <a:schemeClr val="tx2"/>
              </a:solidFill>
            </a:endParaRPr>
          </a:p>
          <a:p>
            <a:pPr marL="0" indent="0" algn="ctr">
              <a:buNone/>
            </a:pPr>
            <a:r>
              <a:rPr lang="fr-CA" sz="3000" dirty="0">
                <a:solidFill>
                  <a:srgbClr val="FF0000"/>
                </a:solidFill>
                <a:latin typeface="Ink Free" panose="03080402000500000000" pitchFamily="66" charset="0"/>
              </a:rPr>
              <a:t>** Au Canada, </a:t>
            </a:r>
            <a:r>
              <a:rPr lang="fr-CA" sz="3000" dirty="0" err="1">
                <a:solidFill>
                  <a:srgbClr val="FF0000"/>
                </a:solidFill>
                <a:latin typeface="Ink Free" panose="03080402000500000000" pitchFamily="66" charset="0"/>
              </a:rPr>
              <a:t>la réglementation exige que </a:t>
            </a:r>
            <a:r>
              <a:rPr lang="fr-CA" sz="3000" dirty="0">
                <a:solidFill>
                  <a:srgbClr val="FF0000"/>
                </a:solidFill>
                <a:latin typeface="Ink Free" panose="03080402000500000000" pitchFamily="66" charset="0"/>
              </a:rPr>
              <a:t>les taux </a:t>
            </a:r>
            <a:r>
              <a:rPr lang="fr-CA" sz="3000" dirty="0" err="1">
                <a:solidFill>
                  <a:srgbClr val="FF0000"/>
                </a:solidFill>
                <a:latin typeface="Ink Free" panose="03080402000500000000" pitchFamily="66" charset="0"/>
              </a:rPr>
              <a:t>hypothécaires soient indiqués </a:t>
            </a:r>
            <a:r>
              <a:rPr lang="fr-CA" sz="3000" dirty="0">
                <a:solidFill>
                  <a:srgbClr val="FF0000"/>
                </a:solidFill>
                <a:latin typeface="Ink Free" panose="03080402000500000000" pitchFamily="66" charset="0"/>
              </a:rPr>
              <a:t>sous forme de</a:t>
            </a:r>
          </a:p>
          <a:p>
            <a:pPr marL="0" indent="0" algn="ctr">
              <a:buNone/>
            </a:pPr>
            <a:r>
              <a:rPr lang="fr-CA" sz="3000" b="1" dirty="0">
                <a:solidFill>
                  <a:srgbClr val="FF0000"/>
                </a:solidFill>
                <a:latin typeface="Ink Free" panose="03080402000500000000" pitchFamily="66" charset="0"/>
              </a:rPr>
              <a:t> taux nominal avec </a:t>
            </a:r>
            <a:r>
              <a:rPr lang="fr-CA" sz="3000" dirty="0">
                <a:solidFill>
                  <a:srgbClr val="FF0000"/>
                </a:solidFill>
                <a:latin typeface="Ink Free" panose="03080402000500000000" pitchFamily="66" charset="0"/>
              </a:rPr>
              <a:t>capitalisation</a:t>
            </a:r>
            <a:r>
              <a:rPr lang="fr-CA" sz="3000" b="1" dirty="0">
                <a:solidFill>
                  <a:srgbClr val="FF0000"/>
                </a:solidFill>
                <a:latin typeface="Ink Free" panose="03080402000500000000" pitchFamily="66" charset="0"/>
              </a:rPr>
              <a:t> semestrielle**</a:t>
            </a:r>
          </a:p>
          <a:p>
            <a:pPr marL="0" indent="0">
              <a:buNone/>
            </a:pPr>
            <a:endParaRPr lang="fr-CA" sz="3000" dirty="0">
              <a:solidFill>
                <a:schemeClr val="tx2"/>
              </a:solidFill>
            </a:endParaRPr>
          </a:p>
          <a:p>
            <a:r>
              <a:rPr lang="fr-CA" sz="2800" dirty="0"/>
              <a:t>Autres considérations… </a:t>
            </a:r>
            <a:r>
              <a:rPr lang="fr-CA" sz="2800" b="1" dirty="0">
                <a:latin typeface="Ink Free" panose="03080402000500000000" pitchFamily="66" charset="0"/>
              </a:rPr>
              <a:t>voir chronique financière !</a:t>
            </a:r>
          </a:p>
          <a:p>
            <a:pPr lvl="1"/>
            <a:endParaRPr lang="fr-CA" sz="2500" dirty="0"/>
          </a:p>
          <a:p>
            <a:pPr lvl="2"/>
            <a:endParaRPr lang="fr-CA" sz="2300" dirty="0">
              <a:solidFill>
                <a:schemeClr val="tx2"/>
              </a:solidFill>
            </a:endParaRPr>
          </a:p>
          <a:p>
            <a:pPr lvl="1"/>
            <a:endParaRPr lang="fr-CA" sz="2500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47528" y="188640"/>
            <a:ext cx="8534400" cy="758952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Caractéristiques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6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E7E1496-ADEB-E459-D7F0-B5A3260DB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792" y="947592"/>
            <a:ext cx="8928992" cy="1085136"/>
          </a:xfrm>
          <a:prstGeom prst="rect">
            <a:avLst/>
          </a:prstGeom>
        </p:spPr>
      </p:pic>
      <p:pic>
        <p:nvPicPr>
          <p:cNvPr id="8" name="Graphic 7" descr="Thumbs up sign">
            <a:extLst>
              <a:ext uri="{FF2B5EF4-FFF2-40B4-BE49-F238E27FC236}">
                <a16:creationId xmlns:a16="http://schemas.microsoft.com/office/drawing/2014/main" id="{615EAD89-6DDE-4F12-92C8-343DA1173E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2104" y="5805264"/>
            <a:ext cx="504056" cy="504056"/>
          </a:xfrm>
          <a:prstGeom prst="rect">
            <a:avLst/>
          </a:prstGeom>
        </p:spPr>
      </p:pic>
      <p:pic>
        <p:nvPicPr>
          <p:cNvPr id="10" name="Picture 2" descr="Important">
            <a:extLst>
              <a:ext uri="{FF2B5EF4-FFF2-40B4-BE49-F238E27FC236}">
                <a16:creationId xmlns:a16="http://schemas.microsoft.com/office/drawing/2014/main" id="{D1838568-F8C5-B4C4-F7DA-5EA8A19BB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5630" y="5244279"/>
            <a:ext cx="879002" cy="879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889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C9022-C787-4CF1-84B1-37E0137EDC8D}"/>
              </a:ext>
            </a:extLst>
          </p:cNvPr>
          <p:cNvSpPr/>
          <p:nvPr/>
        </p:nvSpPr>
        <p:spPr>
          <a:xfrm>
            <a:off x="3260337" y="2051560"/>
            <a:ext cx="4275823" cy="873384"/>
          </a:xfrm>
          <a:custGeom>
            <a:avLst/>
            <a:gdLst>
              <a:gd name="csX0" fmla="*/ 0 w 4275823"/>
              <a:gd name="csY0" fmla="*/ 0 h 873384"/>
              <a:gd name="csX1" fmla="*/ 568074 w 4275823"/>
              <a:gd name="csY1" fmla="*/ 0 h 873384"/>
              <a:gd name="csX2" fmla="*/ 1050631 w 4275823"/>
              <a:gd name="csY2" fmla="*/ 0 h 873384"/>
              <a:gd name="csX3" fmla="*/ 1533188 w 4275823"/>
              <a:gd name="csY3" fmla="*/ 0 h 873384"/>
              <a:gd name="csX4" fmla="*/ 2015745 w 4275823"/>
              <a:gd name="csY4" fmla="*/ 0 h 873384"/>
              <a:gd name="csX5" fmla="*/ 2541061 w 4275823"/>
              <a:gd name="csY5" fmla="*/ 0 h 873384"/>
              <a:gd name="csX6" fmla="*/ 3023618 w 4275823"/>
              <a:gd name="csY6" fmla="*/ 0 h 873384"/>
              <a:gd name="csX7" fmla="*/ 3591691 w 4275823"/>
              <a:gd name="csY7" fmla="*/ 0 h 873384"/>
              <a:gd name="csX8" fmla="*/ 4275823 w 4275823"/>
              <a:gd name="csY8" fmla="*/ 0 h 873384"/>
              <a:gd name="csX9" fmla="*/ 4275823 w 4275823"/>
              <a:gd name="csY9" fmla="*/ 454160 h 873384"/>
              <a:gd name="csX10" fmla="*/ 4275823 w 4275823"/>
              <a:gd name="csY10" fmla="*/ 873384 h 873384"/>
              <a:gd name="csX11" fmla="*/ 3622233 w 4275823"/>
              <a:gd name="csY11" fmla="*/ 873384 h 873384"/>
              <a:gd name="csX12" fmla="*/ 3054159 w 4275823"/>
              <a:gd name="csY12" fmla="*/ 873384 h 873384"/>
              <a:gd name="csX13" fmla="*/ 2400569 w 4275823"/>
              <a:gd name="csY13" fmla="*/ 873384 h 873384"/>
              <a:gd name="csX14" fmla="*/ 1704221 w 4275823"/>
              <a:gd name="csY14" fmla="*/ 873384 h 873384"/>
              <a:gd name="csX15" fmla="*/ 1050631 w 4275823"/>
              <a:gd name="csY15" fmla="*/ 873384 h 873384"/>
              <a:gd name="csX16" fmla="*/ 0 w 4275823"/>
              <a:gd name="csY16" fmla="*/ 873384 h 873384"/>
              <a:gd name="csX17" fmla="*/ 0 w 4275823"/>
              <a:gd name="csY17" fmla="*/ 445426 h 873384"/>
              <a:gd name="csX18" fmla="*/ 0 w 4275823"/>
              <a:gd name="csY18" fmla="*/ 0 h 8733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275823" h="873384" fill="none" extrusionOk="0">
                <a:moveTo>
                  <a:pt x="0" y="0"/>
                </a:moveTo>
                <a:cubicBezTo>
                  <a:pt x="200617" y="-16223"/>
                  <a:pt x="404876" y="11899"/>
                  <a:pt x="568074" y="0"/>
                </a:cubicBezTo>
                <a:cubicBezTo>
                  <a:pt x="731272" y="-11899"/>
                  <a:pt x="833483" y="2030"/>
                  <a:pt x="1050631" y="0"/>
                </a:cubicBezTo>
                <a:cubicBezTo>
                  <a:pt x="1267779" y="-2030"/>
                  <a:pt x="1378551" y="14603"/>
                  <a:pt x="1533188" y="0"/>
                </a:cubicBezTo>
                <a:cubicBezTo>
                  <a:pt x="1687825" y="-14603"/>
                  <a:pt x="1788167" y="-3874"/>
                  <a:pt x="2015745" y="0"/>
                </a:cubicBezTo>
                <a:cubicBezTo>
                  <a:pt x="2243323" y="3874"/>
                  <a:pt x="2435166" y="6609"/>
                  <a:pt x="2541061" y="0"/>
                </a:cubicBezTo>
                <a:cubicBezTo>
                  <a:pt x="2646956" y="-6609"/>
                  <a:pt x="2881768" y="19630"/>
                  <a:pt x="3023618" y="0"/>
                </a:cubicBezTo>
                <a:cubicBezTo>
                  <a:pt x="3165468" y="-19630"/>
                  <a:pt x="3382136" y="-17350"/>
                  <a:pt x="3591691" y="0"/>
                </a:cubicBezTo>
                <a:cubicBezTo>
                  <a:pt x="3801246" y="17350"/>
                  <a:pt x="3937585" y="6528"/>
                  <a:pt x="4275823" y="0"/>
                </a:cubicBezTo>
                <a:cubicBezTo>
                  <a:pt x="4267980" y="153137"/>
                  <a:pt x="4290203" y="250721"/>
                  <a:pt x="4275823" y="454160"/>
                </a:cubicBezTo>
                <a:cubicBezTo>
                  <a:pt x="4261443" y="657599"/>
                  <a:pt x="4271984" y="714839"/>
                  <a:pt x="4275823" y="873384"/>
                </a:cubicBezTo>
                <a:cubicBezTo>
                  <a:pt x="4119208" y="872036"/>
                  <a:pt x="3871499" y="878402"/>
                  <a:pt x="3622233" y="873384"/>
                </a:cubicBezTo>
                <a:cubicBezTo>
                  <a:pt x="3372967" y="868367"/>
                  <a:pt x="3235632" y="854710"/>
                  <a:pt x="3054159" y="873384"/>
                </a:cubicBezTo>
                <a:cubicBezTo>
                  <a:pt x="2872686" y="892058"/>
                  <a:pt x="2725641" y="842625"/>
                  <a:pt x="2400569" y="873384"/>
                </a:cubicBezTo>
                <a:cubicBezTo>
                  <a:pt x="2075497" y="904144"/>
                  <a:pt x="1977346" y="866306"/>
                  <a:pt x="1704221" y="873384"/>
                </a:cubicBezTo>
                <a:cubicBezTo>
                  <a:pt x="1431096" y="880462"/>
                  <a:pt x="1212303" y="892429"/>
                  <a:pt x="1050631" y="873384"/>
                </a:cubicBezTo>
                <a:cubicBezTo>
                  <a:pt x="888959" y="854340"/>
                  <a:pt x="470909" y="904903"/>
                  <a:pt x="0" y="873384"/>
                </a:cubicBezTo>
                <a:cubicBezTo>
                  <a:pt x="11427" y="716184"/>
                  <a:pt x="-2949" y="578374"/>
                  <a:pt x="0" y="445426"/>
                </a:cubicBezTo>
                <a:cubicBezTo>
                  <a:pt x="2949" y="312478"/>
                  <a:pt x="739" y="162749"/>
                  <a:pt x="0" y="0"/>
                </a:cubicBezTo>
                <a:close/>
              </a:path>
              <a:path w="4275823" h="873384" stroke="0" extrusionOk="0">
                <a:moveTo>
                  <a:pt x="0" y="0"/>
                </a:moveTo>
                <a:cubicBezTo>
                  <a:pt x="255175" y="26625"/>
                  <a:pt x="309856" y="-23544"/>
                  <a:pt x="568074" y="0"/>
                </a:cubicBezTo>
                <a:cubicBezTo>
                  <a:pt x="826292" y="23544"/>
                  <a:pt x="893547" y="-21668"/>
                  <a:pt x="1050631" y="0"/>
                </a:cubicBezTo>
                <a:cubicBezTo>
                  <a:pt x="1207715" y="21668"/>
                  <a:pt x="1421616" y="25416"/>
                  <a:pt x="1704221" y="0"/>
                </a:cubicBezTo>
                <a:cubicBezTo>
                  <a:pt x="1986826" y="-25416"/>
                  <a:pt x="2229082" y="19768"/>
                  <a:pt x="2400569" y="0"/>
                </a:cubicBezTo>
                <a:cubicBezTo>
                  <a:pt x="2572056" y="-19768"/>
                  <a:pt x="2692912" y="23430"/>
                  <a:pt x="2883126" y="0"/>
                </a:cubicBezTo>
                <a:cubicBezTo>
                  <a:pt x="3073340" y="-23430"/>
                  <a:pt x="3280605" y="24834"/>
                  <a:pt x="3451200" y="0"/>
                </a:cubicBezTo>
                <a:cubicBezTo>
                  <a:pt x="3621795" y="-24834"/>
                  <a:pt x="3867837" y="-2300"/>
                  <a:pt x="4275823" y="0"/>
                </a:cubicBezTo>
                <a:cubicBezTo>
                  <a:pt x="4263860" y="160076"/>
                  <a:pt x="4278849" y="247148"/>
                  <a:pt x="4275823" y="445426"/>
                </a:cubicBezTo>
                <a:cubicBezTo>
                  <a:pt x="4272797" y="643704"/>
                  <a:pt x="4293146" y="660196"/>
                  <a:pt x="4275823" y="873384"/>
                </a:cubicBezTo>
                <a:cubicBezTo>
                  <a:pt x="4089500" y="869378"/>
                  <a:pt x="4017846" y="880146"/>
                  <a:pt x="3793266" y="873384"/>
                </a:cubicBezTo>
                <a:cubicBezTo>
                  <a:pt x="3568686" y="866622"/>
                  <a:pt x="3378589" y="897894"/>
                  <a:pt x="3225192" y="873384"/>
                </a:cubicBezTo>
                <a:cubicBezTo>
                  <a:pt x="3071795" y="848874"/>
                  <a:pt x="2853508" y="891125"/>
                  <a:pt x="2699877" y="873384"/>
                </a:cubicBezTo>
                <a:cubicBezTo>
                  <a:pt x="2546246" y="855643"/>
                  <a:pt x="2378341" y="875286"/>
                  <a:pt x="2174561" y="873384"/>
                </a:cubicBezTo>
                <a:cubicBezTo>
                  <a:pt x="1970781" y="871482"/>
                  <a:pt x="1849349" y="865110"/>
                  <a:pt x="1692004" y="873384"/>
                </a:cubicBezTo>
                <a:cubicBezTo>
                  <a:pt x="1534659" y="881658"/>
                  <a:pt x="1272926" y="896559"/>
                  <a:pt x="1081172" y="873384"/>
                </a:cubicBezTo>
                <a:cubicBezTo>
                  <a:pt x="889418" y="850209"/>
                  <a:pt x="795493" y="884431"/>
                  <a:pt x="555857" y="873384"/>
                </a:cubicBezTo>
                <a:cubicBezTo>
                  <a:pt x="316222" y="862337"/>
                  <a:pt x="255430" y="872161"/>
                  <a:pt x="0" y="873384"/>
                </a:cubicBezTo>
                <a:cubicBezTo>
                  <a:pt x="5533" y="670008"/>
                  <a:pt x="-11836" y="556721"/>
                  <a:pt x="0" y="445426"/>
                </a:cubicBezTo>
                <a:cubicBezTo>
                  <a:pt x="11836" y="334131"/>
                  <a:pt x="12447" y="114129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28575">
            <a:prstDash val="solid"/>
            <a:extLst>
              <a:ext uri="{C807C97D-BFC1-408E-A445-0C87EB9F89A2}">
                <ask:lineSketchStyleProps xmlns:ask="http://schemas.microsoft.com/office/drawing/2018/sketchyshapes" sd="221559712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E7A37B-25FE-A0A2-8A99-B47992BA2A4E}"/>
              </a:ext>
            </a:extLst>
          </p:cNvPr>
          <p:cNvSpPr/>
          <p:nvPr/>
        </p:nvSpPr>
        <p:spPr>
          <a:xfrm>
            <a:off x="3243137" y="3729753"/>
            <a:ext cx="4275823" cy="873384"/>
          </a:xfrm>
          <a:custGeom>
            <a:avLst/>
            <a:gdLst>
              <a:gd name="csX0" fmla="*/ 0 w 4275823"/>
              <a:gd name="csY0" fmla="*/ 0 h 873384"/>
              <a:gd name="csX1" fmla="*/ 568074 w 4275823"/>
              <a:gd name="csY1" fmla="*/ 0 h 873384"/>
              <a:gd name="csX2" fmla="*/ 1050631 w 4275823"/>
              <a:gd name="csY2" fmla="*/ 0 h 873384"/>
              <a:gd name="csX3" fmla="*/ 1533188 w 4275823"/>
              <a:gd name="csY3" fmla="*/ 0 h 873384"/>
              <a:gd name="csX4" fmla="*/ 2015745 w 4275823"/>
              <a:gd name="csY4" fmla="*/ 0 h 873384"/>
              <a:gd name="csX5" fmla="*/ 2541061 w 4275823"/>
              <a:gd name="csY5" fmla="*/ 0 h 873384"/>
              <a:gd name="csX6" fmla="*/ 3023618 w 4275823"/>
              <a:gd name="csY6" fmla="*/ 0 h 873384"/>
              <a:gd name="csX7" fmla="*/ 3591691 w 4275823"/>
              <a:gd name="csY7" fmla="*/ 0 h 873384"/>
              <a:gd name="csX8" fmla="*/ 4275823 w 4275823"/>
              <a:gd name="csY8" fmla="*/ 0 h 873384"/>
              <a:gd name="csX9" fmla="*/ 4275823 w 4275823"/>
              <a:gd name="csY9" fmla="*/ 454160 h 873384"/>
              <a:gd name="csX10" fmla="*/ 4275823 w 4275823"/>
              <a:gd name="csY10" fmla="*/ 873384 h 873384"/>
              <a:gd name="csX11" fmla="*/ 3622233 w 4275823"/>
              <a:gd name="csY11" fmla="*/ 873384 h 873384"/>
              <a:gd name="csX12" fmla="*/ 3054159 w 4275823"/>
              <a:gd name="csY12" fmla="*/ 873384 h 873384"/>
              <a:gd name="csX13" fmla="*/ 2400569 w 4275823"/>
              <a:gd name="csY13" fmla="*/ 873384 h 873384"/>
              <a:gd name="csX14" fmla="*/ 1704221 w 4275823"/>
              <a:gd name="csY14" fmla="*/ 873384 h 873384"/>
              <a:gd name="csX15" fmla="*/ 1050631 w 4275823"/>
              <a:gd name="csY15" fmla="*/ 873384 h 873384"/>
              <a:gd name="csX16" fmla="*/ 0 w 4275823"/>
              <a:gd name="csY16" fmla="*/ 873384 h 873384"/>
              <a:gd name="csX17" fmla="*/ 0 w 4275823"/>
              <a:gd name="csY17" fmla="*/ 445426 h 873384"/>
              <a:gd name="csX18" fmla="*/ 0 w 4275823"/>
              <a:gd name="csY18" fmla="*/ 0 h 8733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4275823" h="873384" fill="none" extrusionOk="0">
                <a:moveTo>
                  <a:pt x="0" y="0"/>
                </a:moveTo>
                <a:cubicBezTo>
                  <a:pt x="200617" y="-16223"/>
                  <a:pt x="404876" y="11899"/>
                  <a:pt x="568074" y="0"/>
                </a:cubicBezTo>
                <a:cubicBezTo>
                  <a:pt x="731272" y="-11899"/>
                  <a:pt x="833483" y="2030"/>
                  <a:pt x="1050631" y="0"/>
                </a:cubicBezTo>
                <a:cubicBezTo>
                  <a:pt x="1267779" y="-2030"/>
                  <a:pt x="1378551" y="14603"/>
                  <a:pt x="1533188" y="0"/>
                </a:cubicBezTo>
                <a:cubicBezTo>
                  <a:pt x="1687825" y="-14603"/>
                  <a:pt x="1788167" y="-3874"/>
                  <a:pt x="2015745" y="0"/>
                </a:cubicBezTo>
                <a:cubicBezTo>
                  <a:pt x="2243323" y="3874"/>
                  <a:pt x="2435166" y="6609"/>
                  <a:pt x="2541061" y="0"/>
                </a:cubicBezTo>
                <a:cubicBezTo>
                  <a:pt x="2646956" y="-6609"/>
                  <a:pt x="2881768" y="19630"/>
                  <a:pt x="3023618" y="0"/>
                </a:cubicBezTo>
                <a:cubicBezTo>
                  <a:pt x="3165468" y="-19630"/>
                  <a:pt x="3382136" y="-17350"/>
                  <a:pt x="3591691" y="0"/>
                </a:cubicBezTo>
                <a:cubicBezTo>
                  <a:pt x="3801246" y="17350"/>
                  <a:pt x="3937585" y="6528"/>
                  <a:pt x="4275823" y="0"/>
                </a:cubicBezTo>
                <a:cubicBezTo>
                  <a:pt x="4267980" y="153137"/>
                  <a:pt x="4290203" y="250721"/>
                  <a:pt x="4275823" y="454160"/>
                </a:cubicBezTo>
                <a:cubicBezTo>
                  <a:pt x="4261443" y="657599"/>
                  <a:pt x="4271984" y="714839"/>
                  <a:pt x="4275823" y="873384"/>
                </a:cubicBezTo>
                <a:cubicBezTo>
                  <a:pt x="4119208" y="872036"/>
                  <a:pt x="3871499" y="878402"/>
                  <a:pt x="3622233" y="873384"/>
                </a:cubicBezTo>
                <a:cubicBezTo>
                  <a:pt x="3372967" y="868367"/>
                  <a:pt x="3235632" y="854710"/>
                  <a:pt x="3054159" y="873384"/>
                </a:cubicBezTo>
                <a:cubicBezTo>
                  <a:pt x="2872686" y="892058"/>
                  <a:pt x="2725641" y="842625"/>
                  <a:pt x="2400569" y="873384"/>
                </a:cubicBezTo>
                <a:cubicBezTo>
                  <a:pt x="2075497" y="904144"/>
                  <a:pt x="1977346" y="866306"/>
                  <a:pt x="1704221" y="873384"/>
                </a:cubicBezTo>
                <a:cubicBezTo>
                  <a:pt x="1431096" y="880462"/>
                  <a:pt x="1212303" y="892429"/>
                  <a:pt x="1050631" y="873384"/>
                </a:cubicBezTo>
                <a:cubicBezTo>
                  <a:pt x="888959" y="854340"/>
                  <a:pt x="470909" y="904903"/>
                  <a:pt x="0" y="873384"/>
                </a:cubicBezTo>
                <a:cubicBezTo>
                  <a:pt x="11427" y="716184"/>
                  <a:pt x="-2949" y="578374"/>
                  <a:pt x="0" y="445426"/>
                </a:cubicBezTo>
                <a:cubicBezTo>
                  <a:pt x="2949" y="312478"/>
                  <a:pt x="739" y="162749"/>
                  <a:pt x="0" y="0"/>
                </a:cubicBezTo>
                <a:close/>
              </a:path>
              <a:path w="4275823" h="873384" stroke="0" extrusionOk="0">
                <a:moveTo>
                  <a:pt x="0" y="0"/>
                </a:moveTo>
                <a:cubicBezTo>
                  <a:pt x="255175" y="26625"/>
                  <a:pt x="309856" y="-23544"/>
                  <a:pt x="568074" y="0"/>
                </a:cubicBezTo>
                <a:cubicBezTo>
                  <a:pt x="826292" y="23544"/>
                  <a:pt x="893547" y="-21668"/>
                  <a:pt x="1050631" y="0"/>
                </a:cubicBezTo>
                <a:cubicBezTo>
                  <a:pt x="1207715" y="21668"/>
                  <a:pt x="1421616" y="25416"/>
                  <a:pt x="1704221" y="0"/>
                </a:cubicBezTo>
                <a:cubicBezTo>
                  <a:pt x="1986826" y="-25416"/>
                  <a:pt x="2229082" y="19768"/>
                  <a:pt x="2400569" y="0"/>
                </a:cubicBezTo>
                <a:cubicBezTo>
                  <a:pt x="2572056" y="-19768"/>
                  <a:pt x="2692912" y="23430"/>
                  <a:pt x="2883126" y="0"/>
                </a:cubicBezTo>
                <a:cubicBezTo>
                  <a:pt x="3073340" y="-23430"/>
                  <a:pt x="3280605" y="24834"/>
                  <a:pt x="3451200" y="0"/>
                </a:cubicBezTo>
                <a:cubicBezTo>
                  <a:pt x="3621795" y="-24834"/>
                  <a:pt x="3867837" y="-2300"/>
                  <a:pt x="4275823" y="0"/>
                </a:cubicBezTo>
                <a:cubicBezTo>
                  <a:pt x="4263860" y="160076"/>
                  <a:pt x="4278849" y="247148"/>
                  <a:pt x="4275823" y="445426"/>
                </a:cubicBezTo>
                <a:cubicBezTo>
                  <a:pt x="4272797" y="643704"/>
                  <a:pt x="4293146" y="660196"/>
                  <a:pt x="4275823" y="873384"/>
                </a:cubicBezTo>
                <a:cubicBezTo>
                  <a:pt x="4089500" y="869378"/>
                  <a:pt x="4017846" y="880146"/>
                  <a:pt x="3793266" y="873384"/>
                </a:cubicBezTo>
                <a:cubicBezTo>
                  <a:pt x="3568686" y="866622"/>
                  <a:pt x="3378589" y="897894"/>
                  <a:pt x="3225192" y="873384"/>
                </a:cubicBezTo>
                <a:cubicBezTo>
                  <a:pt x="3071795" y="848874"/>
                  <a:pt x="2853508" y="891125"/>
                  <a:pt x="2699877" y="873384"/>
                </a:cubicBezTo>
                <a:cubicBezTo>
                  <a:pt x="2546246" y="855643"/>
                  <a:pt x="2378341" y="875286"/>
                  <a:pt x="2174561" y="873384"/>
                </a:cubicBezTo>
                <a:cubicBezTo>
                  <a:pt x="1970781" y="871482"/>
                  <a:pt x="1849349" y="865110"/>
                  <a:pt x="1692004" y="873384"/>
                </a:cubicBezTo>
                <a:cubicBezTo>
                  <a:pt x="1534659" y="881658"/>
                  <a:pt x="1272926" y="896559"/>
                  <a:pt x="1081172" y="873384"/>
                </a:cubicBezTo>
                <a:cubicBezTo>
                  <a:pt x="889418" y="850209"/>
                  <a:pt x="795493" y="884431"/>
                  <a:pt x="555857" y="873384"/>
                </a:cubicBezTo>
                <a:cubicBezTo>
                  <a:pt x="316222" y="862337"/>
                  <a:pt x="255430" y="872161"/>
                  <a:pt x="0" y="873384"/>
                </a:cubicBezTo>
                <a:cubicBezTo>
                  <a:pt x="5533" y="670008"/>
                  <a:pt x="-11836" y="556721"/>
                  <a:pt x="0" y="445426"/>
                </a:cubicBezTo>
                <a:cubicBezTo>
                  <a:pt x="11836" y="334131"/>
                  <a:pt x="12447" y="114129"/>
                  <a:pt x="0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28575">
            <a:prstDash val="solid"/>
            <a:extLst>
              <a:ext uri="{C807C97D-BFC1-408E-A445-0C87EB9F89A2}">
                <ask:lineSketchStyleProps xmlns:ask="http://schemas.microsoft.com/office/drawing/2018/sketchyshapes" sd="221559712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>
                <a:solidFill>
                  <a:schemeClr val="accent3">
                    <a:lumMod val="75000"/>
                  </a:schemeClr>
                </a:solidFill>
              </a:rPr>
              <a:t>Évaluation</a:t>
            </a:r>
            <a:endParaRPr lang="fr-CA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7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839416" y="1527048"/>
            <a:ext cx="7776864" cy="5102352"/>
          </a:xfrm>
        </p:spPr>
        <p:txBody>
          <a:bodyPr>
            <a:normAutofit/>
          </a:bodyPr>
          <a:lstStyle/>
          <a:p>
            <a:r>
              <a:rPr lang="en-US" sz="2000" dirty="0"/>
              <a:t>Valeur actuelle de l'hypothèque </a:t>
            </a:r>
            <a:r>
              <a:rPr lang="en-US" sz="2000" dirty="0">
                <a:latin typeface="Ink Free" panose="03080402000500000000" pitchFamily="66" charset="0"/>
              </a:rPr>
              <a:t>: </a:t>
            </a:r>
            <a:r>
              <a:rPr lang="en-US" sz="2000" b="1" u="sng" dirty="0"/>
              <a:t>Prix de la maison :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GB" sz="2000" dirty="0"/>
              <a:t>Solde hypothécaire </a:t>
            </a:r>
            <a:r>
              <a:rPr lang="en-US" sz="2000" dirty="0"/>
              <a:t>: </a:t>
            </a:r>
            <a:r>
              <a:rPr lang="en-US" sz="2000" b="1" u="sng" dirty="0"/>
              <a:t>Capital </a:t>
            </a:r>
            <a:r>
              <a:rPr lang="en-US" sz="2000" b="1" u="sng" dirty="0" err="1"/>
              <a:t>restant</a:t>
            </a:r>
            <a:r>
              <a:rPr lang="en-US" sz="2000" b="1" u="sng" dirty="0"/>
              <a:t> à </a:t>
            </a:r>
            <a:r>
              <a:rPr lang="en-US" sz="2000" b="1" u="sng" dirty="0" err="1"/>
              <a:t>rembourser</a:t>
            </a:r>
            <a:r>
              <a:rPr lang="en-US" sz="2000" b="1" u="sng" dirty="0"/>
              <a:t>: </a:t>
            </a:r>
            <a:r>
              <a:rPr lang="en-US" sz="2000" dirty="0"/>
              <a:t>:</a:t>
            </a:r>
          </a:p>
          <a:p>
            <a:endParaRPr lang="en-US" sz="2000" dirty="0"/>
          </a:p>
          <a:p>
            <a:pPr lvl="4">
              <a:buNone/>
            </a:pPr>
            <a:endParaRPr lang="en-US" sz="1400" dirty="0"/>
          </a:p>
          <a:p>
            <a:pPr lvl="4">
              <a:buNone/>
            </a:pPr>
            <a:endParaRPr lang="en-US" sz="1400" dirty="0"/>
          </a:p>
          <a:p>
            <a:pPr lvl="4">
              <a:buNone/>
            </a:pPr>
            <a:endParaRPr lang="en-US" sz="1400" dirty="0"/>
          </a:p>
          <a:p>
            <a:pPr lvl="0">
              <a:buClr>
                <a:srgbClr val="4F81BD"/>
              </a:buClr>
              <a:defRPr/>
            </a:pPr>
            <a:r>
              <a:rPr lang="fr-FR" sz="2000" kern="0" dirty="0" err="1">
                <a:solidFill>
                  <a:prstClr val="black"/>
                </a:solidFill>
              </a:rPr>
              <a:t>Définitions </a:t>
            </a:r>
            <a:r>
              <a:rPr lang="fr-FR" sz="2000" kern="0" dirty="0">
                <a:solidFill>
                  <a:prstClr val="black"/>
                </a:solidFill>
              </a:rPr>
              <a:t>: </a:t>
            </a:r>
          </a:p>
          <a:p>
            <a:pPr lvl="1">
              <a:buClr>
                <a:srgbClr val="C0504D"/>
              </a:buClr>
              <a:defRPr/>
            </a:pPr>
            <a:r>
              <a:rPr lang="fr-FR" sz="1400" kern="0" dirty="0">
                <a:solidFill>
                  <a:srgbClr val="1F497D"/>
                </a:solidFill>
              </a:rPr>
              <a:t>PMT : paiements périodiques (intérêts et capital)</a:t>
            </a:r>
          </a:p>
          <a:p>
            <a:pPr lvl="1">
              <a:buClr>
                <a:srgbClr val="C0504D"/>
              </a:buClr>
              <a:defRPr/>
            </a:pPr>
            <a:r>
              <a:rPr lang="fr-FR" sz="1400" kern="0" dirty="0">
                <a:solidFill>
                  <a:srgbClr val="1F497D"/>
                </a:solidFill>
              </a:rPr>
              <a:t>r : taux de rendement périodique (« I/Y ») </a:t>
            </a:r>
          </a:p>
          <a:p>
            <a:pPr lvl="1">
              <a:buClr>
                <a:srgbClr val="C0504D"/>
              </a:buClr>
              <a:defRPr/>
            </a:pPr>
            <a:r>
              <a:rPr lang="fr-FR" sz="1400" kern="0" dirty="0">
                <a:solidFill>
                  <a:srgbClr val="1F497D"/>
                </a:solidFill>
              </a:rPr>
              <a:t>t : nombre de paiements (« n »)</a:t>
            </a:r>
          </a:p>
          <a:p>
            <a:pPr lvl="1">
              <a:buClr>
                <a:srgbClr val="C0504D"/>
              </a:buClr>
              <a:defRPr/>
            </a:pPr>
            <a:r>
              <a:rPr lang="fr-FR" sz="1800" kern="0" dirty="0">
                <a:solidFill>
                  <a:srgbClr val="1F497D"/>
                </a:solidFill>
              </a:rPr>
              <a:t>j : nombre de </a:t>
            </a:r>
            <a:r>
              <a:rPr lang="fr-FR" sz="1800" b="1" kern="0" dirty="0">
                <a:solidFill>
                  <a:srgbClr val="1F497D"/>
                </a:solidFill>
              </a:rPr>
              <a:t>paiements restants </a:t>
            </a:r>
            <a:r>
              <a:rPr lang="fr-FR" sz="1800" kern="0" dirty="0">
                <a:solidFill>
                  <a:srgbClr val="1F497D"/>
                </a:solidFill>
              </a:rPr>
              <a:t>(« n ») </a:t>
            </a:r>
            <a:r>
              <a:rPr lang="fr-FR" sz="1800" u="sng" kern="0" dirty="0">
                <a:solidFill>
                  <a:srgbClr val="FF0000"/>
                </a:solidFill>
              </a:rPr>
              <a:t>IMPORTANT</a:t>
            </a:r>
            <a:endParaRPr lang="en-US" sz="1800" u="sng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t 3"/>
              <p:cNvSpPr txBox="1"/>
              <p:nvPr/>
            </p:nvSpPr>
            <p:spPr bwMode="auto">
              <a:xfrm>
                <a:off x="3479800" y="2132857"/>
                <a:ext cx="4459288" cy="1128713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CA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Montant</m:t>
                      </m:r>
                      <m:r>
                        <m:rPr>
                          <m:nor/>
                        </m:rPr>
                        <a:rPr lang="en-CA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initial</m:t>
                      </m:r>
                      <m:r>
                        <a:rPr lang="fr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CA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fr-CA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r>
                        <m:rPr>
                          <m:nor/>
                        </m:rP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MT</m:t>
                      </m:r>
                      <m:r>
                        <m:rPr>
                          <m:nor/>
                        </m:rPr>
                        <a:rPr lang="fr-CA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∗ </m:t>
                      </m:r>
                      <m:d>
                        <m:dPr>
                          <m:begChr m:val="["/>
                          <m:endChr m:val="]"/>
                          <m:ctrlPr>
                            <a:rPr lang="fr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A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fr-CA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fr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CA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CA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fr-CA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GB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fr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fr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bje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79800" y="2132857"/>
                <a:ext cx="4459288" cy="11287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t 7"/>
              <p:cNvSpPr txBox="1"/>
              <p:nvPr/>
            </p:nvSpPr>
            <p:spPr bwMode="auto">
              <a:xfrm>
                <a:off x="3354894" y="3805385"/>
                <a:ext cx="4584194" cy="1118096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𝑎𝑙𝑎𝑛𝑐𝑒</m:t>
                      </m:r>
                      <m:r>
                        <a:rPr lang="fr-CA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fr-CA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PMT</m:t>
                      </m:r>
                      <m:r>
                        <m:rPr>
                          <m:nor/>
                        </m:rPr>
                        <a:rPr lang="fr-CA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∗ </m:t>
                      </m:r>
                      <m:d>
                        <m:dPr>
                          <m:begChr m:val="["/>
                          <m:endChr m:val="]"/>
                          <m:ctrlPr>
                            <a:rPr lang="fr-CA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fr-CA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fr-CA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fr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CA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fr-CA" i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fr-CA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GB" b="0" i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fr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CA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fr-CA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bje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4894" y="3805385"/>
                <a:ext cx="4584194" cy="11180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9EF907B-F913-41F0-B105-F48C889B506B}"/>
              </a:ext>
            </a:extLst>
          </p:cNvPr>
          <p:cNvSpPr/>
          <p:nvPr/>
        </p:nvSpPr>
        <p:spPr>
          <a:xfrm>
            <a:off x="8348229" y="4538864"/>
            <a:ext cx="3594384" cy="182999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500" dirty="0">
                <a:solidFill>
                  <a:schemeClr val="tx1"/>
                </a:solidFill>
              </a:rPr>
              <a:t>La fréquence de capitalisation du taux d'intérêt </a:t>
            </a:r>
            <a:r>
              <a:rPr lang="fr-CA" sz="1500" b="1" dirty="0">
                <a:solidFill>
                  <a:schemeClr val="tx1"/>
                </a:solidFill>
              </a:rPr>
              <a:t>DIFFÈRE </a:t>
            </a:r>
            <a:r>
              <a:rPr lang="fr-CA" sz="1500" dirty="0">
                <a:solidFill>
                  <a:schemeClr val="tx1"/>
                </a:solidFill>
              </a:rPr>
              <a:t>de la fréquence de paiement</a:t>
            </a:r>
          </a:p>
          <a:p>
            <a:pPr algn="ctr"/>
            <a:endParaRPr lang="fr-CA" sz="1500" dirty="0">
              <a:solidFill>
                <a:schemeClr val="tx1"/>
              </a:solidFill>
            </a:endParaRPr>
          </a:p>
          <a:p>
            <a:pPr algn="ctr"/>
            <a:r>
              <a:rPr lang="fr-CA" sz="1600" dirty="0"/>
              <a:t>👉 </a:t>
            </a:r>
            <a:r>
              <a:rPr lang="fr-CA" sz="1500" b="1" dirty="0">
                <a:solidFill>
                  <a:schemeClr val="tx1"/>
                </a:solidFill>
                <a:latin typeface="Ink Free" panose="03080402000500000000" pitchFamily="66" charset="0"/>
              </a:rPr>
              <a:t>IL EST NÉCESSAIRE DE </a:t>
            </a:r>
            <a:r>
              <a:rPr lang="fr-CA" sz="1500" b="1" u="sng" dirty="0">
                <a:solidFill>
                  <a:schemeClr val="tx1"/>
                </a:solidFill>
                <a:latin typeface="Ink Free" panose="03080402000500000000" pitchFamily="66" charset="0"/>
              </a:rPr>
              <a:t>CONVERTIR LE TAUX D'INTÉRÊT donné</a:t>
            </a:r>
            <a:endParaRPr lang="fr-CA" u="sng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sp>
        <p:nvSpPr>
          <p:cNvPr id="10" name="object 34">
            <a:extLst>
              <a:ext uri="{FF2B5EF4-FFF2-40B4-BE49-F238E27FC236}">
                <a16:creationId xmlns:a16="http://schemas.microsoft.com/office/drawing/2014/main" id="{52C49BB2-CD1A-B61B-9871-3F3627B2DF93}"/>
              </a:ext>
            </a:extLst>
          </p:cNvPr>
          <p:cNvSpPr/>
          <p:nvPr/>
        </p:nvSpPr>
        <p:spPr>
          <a:xfrm>
            <a:off x="8473136" y="1700808"/>
            <a:ext cx="3308403" cy="2664296"/>
          </a:xfrm>
          <a:prstGeom prst="rect">
            <a:avLst/>
          </a:prstGeom>
          <a:blipFill>
            <a:blip r:embed="rId5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C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A2A825-D53F-2F69-4040-755A34655793}"/>
              </a:ext>
            </a:extLst>
          </p:cNvPr>
          <p:cNvSpPr txBox="1"/>
          <p:nvPr/>
        </p:nvSpPr>
        <p:spPr>
          <a:xfrm>
            <a:off x="8729714" y="2679013"/>
            <a:ext cx="28314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sz="2000" dirty="0">
                <a:latin typeface="Ink Free" panose="03080402000500000000" pitchFamily="66" charset="0"/>
              </a:rPr>
              <a:t>Jamais, au grand jamais, la valeur finale !!!</a:t>
            </a:r>
          </a:p>
        </p:txBody>
      </p:sp>
      <p:pic>
        <p:nvPicPr>
          <p:cNvPr id="6" name="Picture 2" descr="Important">
            <a:extLst>
              <a:ext uri="{FF2B5EF4-FFF2-40B4-BE49-F238E27FC236}">
                <a16:creationId xmlns:a16="http://schemas.microsoft.com/office/drawing/2014/main" id="{5CB951F0-2401-F98E-1588-5D47766C5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592" y="1800011"/>
            <a:ext cx="879002" cy="879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503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B8406AB-3CFB-A063-993F-A0F17106CE8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2339" y="1556793"/>
            <a:ext cx="11339512" cy="1584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fr-CA" dirty="0">
                <a:solidFill>
                  <a:srgbClr val="0F8D36"/>
                </a:solidFill>
                <a:latin typeface="Ink Free" panose="03080402000500000000" pitchFamily="66" charset="0"/>
              </a:rPr>
              <a:t>👉 </a:t>
            </a:r>
            <a:r>
              <a:rPr lang="en-CA" b="1" dirty="0">
                <a:solidFill>
                  <a:schemeClr val="tx1"/>
                </a:solidFill>
              </a:rPr>
              <a:t>Jamais</a:t>
            </a:r>
            <a:r>
              <a:rPr lang="en-CA" dirty="0">
                <a:solidFill>
                  <a:schemeClr val="tx1"/>
                </a:solidFill>
              </a:rPr>
              <a:t> on ne </a:t>
            </a:r>
            <a:r>
              <a:rPr lang="en-CA" dirty="0" err="1">
                <a:solidFill>
                  <a:schemeClr val="tx1"/>
                </a:solidFill>
              </a:rPr>
              <a:t>calcule</a:t>
            </a:r>
            <a:r>
              <a:rPr lang="en-CA" dirty="0">
                <a:solidFill>
                  <a:schemeClr val="tx1"/>
                </a:solidFill>
              </a:rPr>
              <a:t> la </a:t>
            </a:r>
            <a:r>
              <a:rPr lang="en-CA" u="sng" dirty="0" err="1">
                <a:solidFill>
                  <a:schemeClr val="tx1"/>
                </a:solidFill>
              </a:rPr>
              <a:t>valeur</a:t>
            </a:r>
            <a:r>
              <a:rPr lang="en-CA" u="sng" dirty="0">
                <a:solidFill>
                  <a:schemeClr val="tx1"/>
                </a:solidFill>
              </a:rPr>
              <a:t> finale </a:t>
            </a:r>
            <a:r>
              <a:rPr lang="en-CA" dirty="0" err="1">
                <a:solidFill>
                  <a:schemeClr val="tx1"/>
                </a:solidFill>
              </a:rPr>
              <a:t>d’une</a:t>
            </a:r>
            <a:r>
              <a:rPr lang="en-CA" dirty="0">
                <a:solidFill>
                  <a:schemeClr val="tx1"/>
                </a:solidFill>
              </a:rPr>
              <a:t> </a:t>
            </a:r>
            <a:r>
              <a:rPr lang="en-CA" dirty="0" err="1">
                <a:solidFill>
                  <a:schemeClr val="tx1"/>
                </a:solidFill>
              </a:rPr>
              <a:t>hypothèque</a:t>
            </a:r>
            <a:endParaRPr lang="en-CA" dirty="0">
              <a:solidFill>
                <a:schemeClr val="tx1"/>
              </a:solidFill>
            </a:endParaRPr>
          </a:p>
          <a:p>
            <a:pPr lvl="1"/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Balance de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l’hypothèque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à un point dans le temps = </a:t>
            </a:r>
            <a:r>
              <a:rPr lang="en-CA" u="sng" dirty="0" err="1">
                <a:solidFill>
                  <a:schemeClr val="tx2">
                    <a:lumMod val="75000"/>
                  </a:schemeClr>
                </a:solidFill>
              </a:rPr>
              <a:t>valeur</a:t>
            </a:r>
            <a:r>
              <a:rPr lang="en-CA"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u="sng" dirty="0" err="1">
                <a:solidFill>
                  <a:schemeClr val="tx2">
                    <a:lumMod val="75000"/>
                  </a:schemeClr>
                </a:solidFill>
              </a:rPr>
              <a:t>actuelle</a:t>
            </a:r>
            <a:r>
              <a:rPr lang="en-CA"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des FMs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futurs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lang="fr-CA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79B8A31-F939-7D67-47AB-300DB6409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Donc</a:t>
            </a:r>
            <a:r>
              <a:rPr lang="en-CA" dirty="0"/>
              <a:t>…à </a:t>
            </a:r>
            <a:r>
              <a:rPr lang="en-CA" dirty="0" err="1"/>
              <a:t>retenir</a:t>
            </a:r>
            <a:endParaRPr lang="fr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35CF2-CF6D-E014-422D-DE7E983CB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/>
              <a:pPr/>
              <a:t>8</a:t>
            </a:fld>
            <a:endParaRPr lang="fr-CA" dirty="0"/>
          </a:p>
        </p:txBody>
      </p:sp>
      <p:pic>
        <p:nvPicPr>
          <p:cNvPr id="8" name="Picture 2" descr="Important ">
            <a:extLst>
              <a:ext uri="{FF2B5EF4-FFF2-40B4-BE49-F238E27FC236}">
                <a16:creationId xmlns:a16="http://schemas.microsoft.com/office/drawing/2014/main" id="{3AFA8AD0-B72E-FBA4-67A7-50C9F562F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8541" y="692696"/>
            <a:ext cx="1682604" cy="168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5DD6AFB-F66D-054D-CBD7-3312B7CB2F25}"/>
              </a:ext>
            </a:extLst>
          </p:cNvPr>
          <p:cNvSpPr txBox="1">
            <a:spLocks/>
          </p:cNvSpPr>
          <p:nvPr/>
        </p:nvSpPr>
        <p:spPr>
          <a:xfrm>
            <a:off x="402338" y="3429001"/>
            <a:ext cx="11339512" cy="2880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>
            <a:normAutofit/>
          </a:bodyPr>
          <a:lstStyle>
            <a:lvl1pPr marL="274306" indent="-274306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8613" indent="-274306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22919" indent="-228589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97225" indent="-228589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532" indent="-228589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45838" indent="-182871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20144" indent="-182871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03015" indent="-182871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377322" indent="-182871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fr-CA" dirty="0">
                <a:solidFill>
                  <a:srgbClr val="0F8D36"/>
                </a:solidFill>
                <a:latin typeface="Ink Free" panose="03080402000500000000" pitchFamily="66" charset="0"/>
              </a:rPr>
              <a:t>👉 </a:t>
            </a:r>
            <a:r>
              <a:rPr lang="en-CA" dirty="0">
                <a:solidFill>
                  <a:schemeClr val="tx1"/>
                </a:solidFill>
              </a:rPr>
              <a:t>TCEPA, le </a:t>
            </a:r>
            <a:r>
              <a:rPr lang="en-CA" b="1" dirty="0" err="1">
                <a:solidFill>
                  <a:schemeClr val="tx1"/>
                </a:solidFill>
              </a:rPr>
              <a:t>taux</a:t>
            </a:r>
            <a:r>
              <a:rPr lang="en-CA" b="1" dirty="0">
                <a:solidFill>
                  <a:schemeClr val="tx1"/>
                </a:solidFill>
              </a:rPr>
              <a:t> </a:t>
            </a:r>
            <a:r>
              <a:rPr lang="en-CA" b="1" dirty="0" err="1">
                <a:solidFill>
                  <a:schemeClr val="tx1"/>
                </a:solidFill>
              </a:rPr>
              <a:t>donné</a:t>
            </a:r>
            <a:r>
              <a:rPr lang="en-CA" b="1" dirty="0">
                <a:solidFill>
                  <a:schemeClr val="tx1"/>
                </a:solidFill>
              </a:rPr>
              <a:t> </a:t>
            </a:r>
            <a:r>
              <a:rPr lang="en-CA" dirty="0">
                <a:solidFill>
                  <a:schemeClr val="tx1"/>
                </a:solidFill>
              </a:rPr>
              <a:t>par la </a:t>
            </a:r>
            <a:r>
              <a:rPr lang="en-CA" dirty="0" err="1">
                <a:solidFill>
                  <a:schemeClr val="tx1"/>
                </a:solidFill>
              </a:rPr>
              <a:t>banque</a:t>
            </a:r>
            <a:r>
              <a:rPr lang="en-CA" dirty="0">
                <a:solidFill>
                  <a:schemeClr val="tx1"/>
                </a:solidFill>
              </a:rPr>
              <a:t> </a:t>
            </a:r>
            <a:r>
              <a:rPr lang="en-CA" dirty="0" err="1">
                <a:solidFill>
                  <a:schemeClr val="tx1"/>
                </a:solidFill>
              </a:rPr>
              <a:t>est</a:t>
            </a:r>
            <a:r>
              <a:rPr lang="en-CA" dirty="0">
                <a:solidFill>
                  <a:schemeClr val="tx1"/>
                </a:solidFill>
              </a:rPr>
              <a:t> un </a:t>
            </a:r>
            <a:r>
              <a:rPr lang="en-CA" b="1" dirty="0" err="1">
                <a:solidFill>
                  <a:schemeClr val="tx1"/>
                </a:solidFill>
              </a:rPr>
              <a:t>taux</a:t>
            </a:r>
            <a:r>
              <a:rPr lang="en-CA" b="1" dirty="0">
                <a:solidFill>
                  <a:schemeClr val="tx1"/>
                </a:solidFill>
              </a:rPr>
              <a:t> nominal à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CA" b="1" dirty="0">
                <a:solidFill>
                  <a:schemeClr val="tx1"/>
                </a:solidFill>
              </a:rPr>
              <a:t>       capitalisation </a:t>
            </a:r>
            <a:r>
              <a:rPr lang="en-CA" b="1" dirty="0" err="1">
                <a:solidFill>
                  <a:schemeClr val="tx1"/>
                </a:solidFill>
              </a:rPr>
              <a:t>semestrielle</a:t>
            </a:r>
            <a:endParaRPr lang="en-CA" dirty="0">
              <a:solidFill>
                <a:schemeClr val="tx1"/>
              </a:solidFill>
            </a:endParaRPr>
          </a:p>
          <a:p>
            <a:pPr lvl="1" fontAlgn="auto">
              <a:spcAft>
                <a:spcPts val="0"/>
              </a:spcAft>
            </a:pP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Donc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fréquence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du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taux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périodique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donné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est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semestriel</a:t>
            </a:r>
            <a:endParaRPr lang="en-CA" dirty="0">
              <a:solidFill>
                <a:schemeClr val="tx2">
                  <a:lumMod val="75000"/>
                </a:schemeClr>
              </a:solidFill>
            </a:endParaRPr>
          </a:p>
          <a:p>
            <a:pPr lvl="1" fontAlgn="auto">
              <a:spcAft>
                <a:spcPts val="0"/>
              </a:spcAft>
            </a:pP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Aucun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acheteur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ne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paiera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ses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pmts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hypothécaires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à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chaque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6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mois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…</a:t>
            </a:r>
          </a:p>
          <a:p>
            <a:pPr lvl="1" fontAlgn="auto">
              <a:spcAft>
                <a:spcPts val="0"/>
              </a:spcAft>
            </a:pP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Donc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, on doit </a:t>
            </a:r>
            <a:r>
              <a:rPr lang="en-CA" b="1" dirty="0">
                <a:solidFill>
                  <a:schemeClr val="tx2">
                    <a:lumMod val="75000"/>
                  </a:schemeClr>
                </a:solidFill>
              </a:rPr>
              <a:t>CONVERTIR le </a:t>
            </a:r>
            <a:r>
              <a:rPr lang="en-CA" b="1" dirty="0" err="1">
                <a:solidFill>
                  <a:schemeClr val="tx2">
                    <a:lumMod val="75000"/>
                  </a:schemeClr>
                </a:solidFill>
              </a:rPr>
              <a:t>taux</a:t>
            </a:r>
            <a:r>
              <a:rPr lang="en-CA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b="1" dirty="0" err="1">
                <a:solidFill>
                  <a:schemeClr val="tx2">
                    <a:lumMod val="75000"/>
                  </a:schemeClr>
                </a:solidFill>
              </a:rPr>
              <a:t>semestriel</a:t>
            </a:r>
            <a:r>
              <a:rPr lang="en-CA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b="1" dirty="0" err="1">
                <a:solidFill>
                  <a:schemeClr val="tx2">
                    <a:lumMod val="75000"/>
                  </a:schemeClr>
                </a:solidFill>
              </a:rPr>
              <a:t>donné</a:t>
            </a:r>
            <a:r>
              <a:rPr lang="en-CA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en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une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fréquence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qui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concorde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avec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celle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des FMs (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mensuelle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ou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hebdomadaire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etc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)</a:t>
            </a:r>
            <a:endParaRPr lang="fr-CA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1" name="Picture 2" descr="Warning ">
            <a:extLst>
              <a:ext uri="{FF2B5EF4-FFF2-40B4-BE49-F238E27FC236}">
                <a16:creationId xmlns:a16="http://schemas.microsoft.com/office/drawing/2014/main" id="{6EB28CF7-7AF4-19E4-D99B-E3C8BC554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288481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Warning ">
            <a:extLst>
              <a:ext uri="{FF2B5EF4-FFF2-40B4-BE49-F238E27FC236}">
                <a16:creationId xmlns:a16="http://schemas.microsoft.com/office/drawing/2014/main" id="{0487D006-B2B9-F55A-2D32-C8C92CF31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516" y="298978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302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Exemple : Hypothèque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9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dirty="0"/>
              <a:t>Supposons que vous souhaitiez acheter une maison de 350 000 $ avec un acompte de 125 000 $.</a:t>
            </a:r>
          </a:p>
          <a:p>
            <a:endParaRPr lang="en-US" sz="800" dirty="0"/>
          </a:p>
          <a:p>
            <a:pPr lvl="1"/>
            <a:r>
              <a:rPr lang="en-US" sz="2400" dirty="0"/>
              <a:t>Taux </a:t>
            </a:r>
            <a:r>
              <a:rPr lang="en-US" sz="2400" dirty="0" err="1"/>
              <a:t>d'intérêt</a:t>
            </a:r>
            <a:r>
              <a:rPr lang="en-US" sz="2400" dirty="0"/>
              <a:t> </a:t>
            </a:r>
            <a:r>
              <a:rPr lang="en-US" sz="2400" dirty="0" err="1"/>
              <a:t>affiché</a:t>
            </a:r>
            <a:r>
              <a:rPr lang="en-US" sz="2400" dirty="0"/>
              <a:t> : 6 %</a:t>
            </a:r>
          </a:p>
          <a:p>
            <a:pPr lvl="1"/>
            <a:r>
              <a:rPr lang="en-CA" sz="2400" dirty="0"/>
              <a:t>Durée du prêt : 25 ans</a:t>
            </a:r>
          </a:p>
          <a:p>
            <a:pPr lvl="1"/>
            <a:r>
              <a:rPr lang="fr-CA" sz="2400" dirty="0"/>
              <a:t>Terme de 5 ans</a:t>
            </a:r>
          </a:p>
          <a:p>
            <a:pPr lvl="1"/>
            <a:r>
              <a:rPr lang="fr-CA" sz="2400" dirty="0"/>
              <a:t>Fréquence des paiements : </a:t>
            </a:r>
            <a:r>
              <a:rPr lang="fr-CA" sz="2400" dirty="0" err="1"/>
              <a:t>mensuelle</a:t>
            </a:r>
            <a:endParaRPr lang="fr-CA" sz="2400" dirty="0"/>
          </a:p>
          <a:p>
            <a:pPr lvl="1"/>
            <a:endParaRPr lang="fr-CA" sz="2400" dirty="0"/>
          </a:p>
          <a:p>
            <a:pPr lvl="1"/>
            <a:endParaRPr lang="fr-CA" sz="800" dirty="0"/>
          </a:p>
          <a:p>
            <a:pPr marL="342900" indent="-342900">
              <a:buFont typeface="+mj-lt"/>
              <a:buAutoNum type="alphaLcParenR"/>
            </a:pPr>
            <a:r>
              <a:rPr lang="en-US" sz="2400" dirty="0"/>
              <a:t>Si vous choisissez de rembourser par versements mensuels, quel serait le montant de votre paiement ?</a:t>
            </a:r>
          </a:p>
          <a:p>
            <a:pPr marL="0" indent="0">
              <a:buNone/>
            </a:pPr>
            <a:endParaRPr lang="fr-CA" sz="2400" dirty="0"/>
          </a:p>
        </p:txBody>
      </p:sp>
      <p:pic>
        <p:nvPicPr>
          <p:cNvPr id="5" name="Picture 2" descr="Identification ">
            <a:extLst>
              <a:ext uri="{FF2B5EF4-FFF2-40B4-BE49-F238E27FC236}">
                <a16:creationId xmlns:a16="http://schemas.microsoft.com/office/drawing/2014/main" id="{129518AE-D4CB-01A5-2D0A-B4EEFEF5C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008" y="265389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826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Exemple  suite…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10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fr-CA" sz="2400" dirty="0"/>
              <a:t>Au bout de 5 ans, vous renégociez un nouveau terme de 5 ans avec paiements mensuels.</a:t>
            </a:r>
          </a:p>
          <a:p>
            <a:pPr lvl="1"/>
            <a:r>
              <a:rPr lang="fr-CA" sz="2400" dirty="0"/>
              <a:t>Cependant, les taux ont augmenté et le nouveau taux affiché est de 7%. </a:t>
            </a:r>
          </a:p>
          <a:p>
            <a:pPr marL="274320" lvl="1" indent="0">
              <a:buNone/>
            </a:pPr>
            <a:endParaRPr lang="fr-CA" sz="2000" dirty="0">
              <a:solidFill>
                <a:schemeClr val="tx1"/>
              </a:solidFill>
            </a:endParaRPr>
          </a:p>
          <a:p>
            <a:pPr marL="342913" indent="-342900">
              <a:buFont typeface="+mj-lt"/>
              <a:buAutoNum type="alphaLcParenR" startAt="2"/>
            </a:pPr>
            <a:r>
              <a:rPr lang="fr-CA" sz="2400" dirty="0"/>
              <a:t>Quel est le montant de votre nouvelle mensualité dans le cadre de votre deuxième terme ? </a:t>
            </a:r>
          </a:p>
          <a:p>
            <a:pPr marL="342913" indent="-342900">
              <a:buFont typeface="+mj-lt"/>
              <a:buAutoNum type="alphaLcParenR" startAt="2"/>
            </a:pPr>
            <a:endParaRPr lang="fr-CA" sz="2400" dirty="0"/>
          </a:p>
          <a:p>
            <a:pPr marL="342913" indent="-342900">
              <a:buFont typeface="+mj-lt"/>
              <a:buAutoNum type="alphaLcParenR" startAt="2"/>
            </a:pPr>
            <a:r>
              <a:rPr lang="fr-CA" sz="2400" dirty="0"/>
              <a:t>Calculez le montant supplémentaire à verser afin de maintenir la mensualité calculée en a) malgré l'augmentation du taux.</a:t>
            </a:r>
          </a:p>
          <a:p>
            <a:pPr marL="274320" lvl="1" indent="0">
              <a:buNone/>
            </a:pPr>
            <a:endParaRPr lang="fr-CA" sz="2000" dirty="0">
              <a:solidFill>
                <a:schemeClr val="tx1"/>
              </a:solidFill>
            </a:endParaRPr>
          </a:p>
          <a:p>
            <a:pPr marL="274320" lvl="1" indent="0">
              <a:buNone/>
            </a:pPr>
            <a:endParaRPr lang="fr-CA" sz="2000" dirty="0">
              <a:solidFill>
                <a:schemeClr val="tx1"/>
              </a:solidFill>
            </a:endParaRPr>
          </a:p>
        </p:txBody>
      </p:sp>
      <p:pic>
        <p:nvPicPr>
          <p:cNvPr id="5" name="Picture 2" descr="Identification ">
            <a:extLst>
              <a:ext uri="{FF2B5EF4-FFF2-40B4-BE49-F238E27FC236}">
                <a16:creationId xmlns:a16="http://schemas.microsoft.com/office/drawing/2014/main" id="{CB2D4409-2B46-2C35-9052-AC1E733F7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008" y="265389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1102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croll: Horizontal 6">
            <a:extLst>
              <a:ext uri="{FF2B5EF4-FFF2-40B4-BE49-F238E27FC236}">
                <a16:creationId xmlns:a16="http://schemas.microsoft.com/office/drawing/2014/main" id="{9A31F324-BE8F-B6F1-0A3B-49C7E136739B}"/>
              </a:ext>
            </a:extLst>
          </p:cNvPr>
          <p:cNvSpPr/>
          <p:nvPr/>
        </p:nvSpPr>
        <p:spPr>
          <a:xfrm>
            <a:off x="1775520" y="1247040"/>
            <a:ext cx="8496944" cy="3816424"/>
          </a:xfrm>
          <a:prstGeom prst="horizontalScroll">
            <a:avLst/>
          </a:prstGeom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endParaRPr lang="en-CA" sz="3200" b="1" dirty="0">
              <a:solidFill>
                <a:schemeClr val="bg1"/>
              </a:solidFill>
              <a:latin typeface="Ink Free" panose="03080402000500000000" pitchFamily="66" charset="0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en-CA" sz="3200" b="1" dirty="0">
                <a:solidFill>
                  <a:schemeClr val="bg1"/>
                </a:solidFill>
                <a:latin typeface="Ink Free" panose="03080402000500000000" pitchFamily="66" charset="0"/>
              </a:rPr>
              <a:t>Chronique financière : 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en-CA" sz="3200" b="1" dirty="0">
                <a:solidFill>
                  <a:schemeClr val="bg1"/>
                </a:solidFill>
                <a:latin typeface="Ink Free" panose="03080402000500000000" pitchFamily="66" charset="0"/>
              </a:rPr>
              <a:t>Prêts hypothécaires !</a:t>
            </a:r>
            <a:endParaRPr lang="fr-CA" sz="3200" b="1" dirty="0">
              <a:solidFill>
                <a:schemeClr val="bg1"/>
              </a:solidFill>
              <a:latin typeface="Ink Free" panose="03080402000500000000" pitchFamily="66" charset="0"/>
            </a:endParaRPr>
          </a:p>
          <a:p>
            <a:endParaRPr lang="fr-CA" b="1" dirty="0">
              <a:solidFill>
                <a:schemeClr val="bg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E4C9D8-5826-6BE9-B876-214ED7853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7D78C65-EB30-EA4B-B3AF-ED56473E9FBA}" type="slidenum">
              <a:rPr lang="fr-CA" smtClean="0"/>
              <a:t>11</a:t>
            </a:fld>
            <a:endParaRPr lang="fr-CA" dirty="0"/>
          </a:p>
        </p:txBody>
      </p:sp>
      <p:pic>
        <p:nvPicPr>
          <p:cNvPr id="11266" name="Picture 2" descr="History icon">
            <a:extLst>
              <a:ext uri="{FF2B5EF4-FFF2-40B4-BE49-F238E27FC236}">
                <a16:creationId xmlns:a16="http://schemas.microsoft.com/office/drawing/2014/main" id="{36017F01-E50A-E8D4-FF7B-9862238A3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0176" y="2492896"/>
            <a:ext cx="2304256" cy="2304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1F40665-0E89-D6DC-CF6F-1C28535D287D}"/>
              </a:ext>
            </a:extLst>
          </p:cNvPr>
          <p:cNvSpPr/>
          <p:nvPr/>
        </p:nvSpPr>
        <p:spPr>
          <a:xfrm>
            <a:off x="2419017" y="4483027"/>
            <a:ext cx="4185616" cy="628250"/>
          </a:xfrm>
          <a:custGeom>
            <a:avLst/>
            <a:gdLst>
              <a:gd name="csX0" fmla="*/ 0 w 4185616"/>
              <a:gd name="csY0" fmla="*/ 0 h 628250"/>
              <a:gd name="csX1" fmla="*/ 655747 w 4185616"/>
              <a:gd name="csY1" fmla="*/ 0 h 628250"/>
              <a:gd name="csX2" fmla="*/ 1269637 w 4185616"/>
              <a:gd name="csY2" fmla="*/ 0 h 628250"/>
              <a:gd name="csX3" fmla="*/ 2050952 w 4185616"/>
              <a:gd name="csY3" fmla="*/ 0 h 628250"/>
              <a:gd name="csX4" fmla="*/ 2832267 w 4185616"/>
              <a:gd name="csY4" fmla="*/ 0 h 628250"/>
              <a:gd name="csX5" fmla="*/ 3488013 w 4185616"/>
              <a:gd name="csY5" fmla="*/ 0 h 628250"/>
              <a:gd name="csX6" fmla="*/ 4185616 w 4185616"/>
              <a:gd name="csY6" fmla="*/ 0 h 628250"/>
              <a:gd name="csX7" fmla="*/ 4185616 w 4185616"/>
              <a:gd name="csY7" fmla="*/ 628250 h 628250"/>
              <a:gd name="csX8" fmla="*/ 3404301 w 4185616"/>
              <a:gd name="csY8" fmla="*/ 628250 h 628250"/>
              <a:gd name="csX9" fmla="*/ 2748555 w 4185616"/>
              <a:gd name="csY9" fmla="*/ 628250 h 628250"/>
              <a:gd name="csX10" fmla="*/ 2176520 w 4185616"/>
              <a:gd name="csY10" fmla="*/ 628250 h 628250"/>
              <a:gd name="csX11" fmla="*/ 1562630 w 4185616"/>
              <a:gd name="csY11" fmla="*/ 628250 h 628250"/>
              <a:gd name="csX12" fmla="*/ 865027 w 4185616"/>
              <a:gd name="csY12" fmla="*/ 628250 h 628250"/>
              <a:gd name="csX13" fmla="*/ 0 w 4185616"/>
              <a:gd name="csY13" fmla="*/ 628250 h 628250"/>
              <a:gd name="csX14" fmla="*/ 0 w 4185616"/>
              <a:gd name="csY14" fmla="*/ 0 h 6282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185616" h="628250" extrusionOk="0">
                <a:moveTo>
                  <a:pt x="0" y="0"/>
                </a:moveTo>
                <a:cubicBezTo>
                  <a:pt x="141772" y="-18766"/>
                  <a:pt x="360120" y="-31141"/>
                  <a:pt x="655747" y="0"/>
                </a:cubicBezTo>
                <a:cubicBezTo>
                  <a:pt x="951374" y="31141"/>
                  <a:pt x="972410" y="26241"/>
                  <a:pt x="1269637" y="0"/>
                </a:cubicBezTo>
                <a:cubicBezTo>
                  <a:pt x="1566864" y="-26241"/>
                  <a:pt x="1768697" y="-24272"/>
                  <a:pt x="2050952" y="0"/>
                </a:cubicBezTo>
                <a:cubicBezTo>
                  <a:pt x="2333207" y="24272"/>
                  <a:pt x="2620039" y="20614"/>
                  <a:pt x="2832267" y="0"/>
                </a:cubicBezTo>
                <a:cubicBezTo>
                  <a:pt x="3044496" y="-20614"/>
                  <a:pt x="3297458" y="3611"/>
                  <a:pt x="3488013" y="0"/>
                </a:cubicBezTo>
                <a:cubicBezTo>
                  <a:pt x="3678568" y="-3611"/>
                  <a:pt x="3861752" y="-7976"/>
                  <a:pt x="4185616" y="0"/>
                </a:cubicBezTo>
                <a:cubicBezTo>
                  <a:pt x="4205637" y="141044"/>
                  <a:pt x="4191918" y="484467"/>
                  <a:pt x="4185616" y="628250"/>
                </a:cubicBezTo>
                <a:cubicBezTo>
                  <a:pt x="3875420" y="608314"/>
                  <a:pt x="3604572" y="635969"/>
                  <a:pt x="3404301" y="628250"/>
                </a:cubicBezTo>
                <a:cubicBezTo>
                  <a:pt x="3204030" y="620531"/>
                  <a:pt x="3059429" y="660673"/>
                  <a:pt x="2748555" y="628250"/>
                </a:cubicBezTo>
                <a:cubicBezTo>
                  <a:pt x="2437681" y="595827"/>
                  <a:pt x="2430159" y="617266"/>
                  <a:pt x="2176520" y="628250"/>
                </a:cubicBezTo>
                <a:cubicBezTo>
                  <a:pt x="1922881" y="639234"/>
                  <a:pt x="1778928" y="646462"/>
                  <a:pt x="1562630" y="628250"/>
                </a:cubicBezTo>
                <a:cubicBezTo>
                  <a:pt x="1346332" y="610039"/>
                  <a:pt x="1099238" y="646173"/>
                  <a:pt x="865027" y="628250"/>
                </a:cubicBezTo>
                <a:cubicBezTo>
                  <a:pt x="630816" y="610327"/>
                  <a:pt x="287519" y="637954"/>
                  <a:pt x="0" y="628250"/>
                </a:cubicBezTo>
                <a:cubicBezTo>
                  <a:pt x="-4188" y="387648"/>
                  <a:pt x="21636" y="282408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11455964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500" dirty="0">
                <a:solidFill>
                  <a:srgbClr val="C00000"/>
                </a:solidFill>
                <a:latin typeface="Ink Free" panose="03080402000500000000" pitchFamily="66" charset="0"/>
              </a:rPr>
              <a:t>Non </a:t>
            </a:r>
            <a:r>
              <a:rPr lang="fr-CA" sz="2500" dirty="0" err="1">
                <a:solidFill>
                  <a:srgbClr val="C00000"/>
                </a:solidFill>
                <a:latin typeface="Ink Free" panose="03080402000500000000" pitchFamily="66" charset="0"/>
              </a:rPr>
              <a:t>soumis </a:t>
            </a:r>
            <a:r>
              <a:rPr lang="fr-CA" sz="2500" dirty="0">
                <a:solidFill>
                  <a:srgbClr val="C00000"/>
                </a:solidFill>
                <a:latin typeface="Ink Free" panose="03080402000500000000" pitchFamily="66" charset="0"/>
              </a:rPr>
              <a:t>à </a:t>
            </a:r>
            <a:r>
              <a:rPr lang="fr-CA" sz="2500" dirty="0" err="1">
                <a:solidFill>
                  <a:srgbClr val="C00000"/>
                </a:solidFill>
                <a:latin typeface="Ink Free" panose="03080402000500000000" pitchFamily="66" charset="0"/>
              </a:rPr>
              <a:t>examen</a:t>
            </a:r>
            <a:endParaRPr lang="fr-CA" sz="2500" dirty="0">
              <a:solidFill>
                <a:srgbClr val="C00000"/>
              </a:solidFill>
              <a:latin typeface="Ink Free" panose="030804020005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0019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E5A15D7-E208-163E-2897-59C6FEA6A052}"/>
              </a:ext>
            </a:extLst>
          </p:cNvPr>
          <p:cNvSpPr/>
          <p:nvPr/>
        </p:nvSpPr>
        <p:spPr>
          <a:xfrm>
            <a:off x="119336" y="2670048"/>
            <a:ext cx="11809312" cy="1152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63352" y="1647064"/>
            <a:ext cx="11379199" cy="4350223"/>
          </a:xfrm>
        </p:spPr>
        <p:txBody>
          <a:bodyPr>
            <a:normAutofit fontScale="92500" lnSpcReduction="20000"/>
          </a:bodyPr>
          <a:lstStyle/>
          <a:p>
            <a:r>
              <a:rPr lang="fr-CA" dirty="0" err="1"/>
              <a:t>Qu'est-ce </a:t>
            </a:r>
            <a:r>
              <a:rPr lang="fr-CA" dirty="0"/>
              <a:t>qu'une obligation ?</a:t>
            </a:r>
          </a:p>
          <a:p>
            <a:pPr lvl="1"/>
            <a:r>
              <a:rPr lang="fr-CA" dirty="0"/>
              <a:t>Une </a:t>
            </a:r>
            <a:r>
              <a:rPr lang="fr-CA" b="1" dirty="0"/>
              <a:t>dette</a:t>
            </a:r>
            <a:r>
              <a:rPr lang="fr-CA" dirty="0"/>
              <a:t> émise par des </a:t>
            </a:r>
            <a:r>
              <a:rPr lang="fr-CA" b="1" dirty="0"/>
              <a:t>entreprises/gouvernements </a:t>
            </a:r>
            <a:r>
              <a:rPr lang="fr-CA" dirty="0"/>
              <a:t>sur le marché obligataire afin de financer leurs projets et leurs investissements.</a:t>
            </a:r>
          </a:p>
          <a:p>
            <a:pPr lvl="1"/>
            <a:endParaRPr lang="fr-CA" dirty="0"/>
          </a:p>
          <a:p>
            <a:pPr marL="274307" lvl="1" indent="0" algn="ctr">
              <a:buNone/>
            </a:pPr>
            <a:r>
              <a:rPr lang="fr-CA" b="1" dirty="0"/>
              <a:t>Investisseurs = prêteurs</a:t>
            </a:r>
          </a:p>
          <a:p>
            <a:pPr marL="274307" lvl="1" indent="0" algn="ctr">
              <a:buNone/>
            </a:pPr>
            <a:r>
              <a:rPr lang="fr-CA" b="1" dirty="0"/>
              <a:t>Entreprises et gouvernements qui émettent des obligations = emprunteurs</a:t>
            </a:r>
          </a:p>
          <a:p>
            <a:pPr lvl="1"/>
            <a:endParaRPr lang="fr-CA" dirty="0"/>
          </a:p>
          <a:p>
            <a:pPr lvl="1"/>
            <a:endParaRPr lang="fr-CA" dirty="0"/>
          </a:p>
          <a:p>
            <a:r>
              <a:rPr lang="fr-CA" dirty="0"/>
              <a:t>Une obligation est un </a:t>
            </a:r>
            <a:r>
              <a:rPr lang="fr-CA" b="1" dirty="0"/>
              <a:t>instrument financier </a:t>
            </a:r>
            <a:r>
              <a:rPr lang="fr-CA" dirty="0"/>
              <a:t>relativement </a:t>
            </a:r>
            <a:r>
              <a:rPr lang="fr-CA" u="sng" dirty="0"/>
              <a:t>simple</a:t>
            </a:r>
            <a:r>
              <a:rPr lang="fr-CA" dirty="0"/>
              <a:t>, mais le </a:t>
            </a:r>
            <a:r>
              <a:rPr lang="fr-CA" b="1" dirty="0"/>
              <a:t>vocabulaire</a:t>
            </a:r>
            <a:r>
              <a:rPr lang="fr-CA" dirty="0"/>
              <a:t> utilisé est assez </a:t>
            </a:r>
            <a:r>
              <a:rPr lang="fr-CA" b="1" dirty="0"/>
              <a:t>technique</a:t>
            </a:r>
            <a:r>
              <a:rPr lang="fr-CA" dirty="0"/>
              <a:t>...:</a:t>
            </a:r>
          </a:p>
          <a:p>
            <a:pPr lvl="1"/>
            <a:r>
              <a:rPr lang="fr-CA" dirty="0"/>
              <a:t>Intérêts = coupons</a:t>
            </a:r>
          </a:p>
          <a:p>
            <a:pPr lvl="1"/>
            <a:r>
              <a:rPr lang="fr-CA" dirty="0"/>
              <a:t>Montant emprunter à rembourser = valeur nominale</a:t>
            </a:r>
          </a:p>
          <a:p>
            <a:pPr lvl="1"/>
            <a:r>
              <a:rPr lang="fr-CA" dirty="0"/>
              <a:t>Taux d’actualisation des flux monétaires = rendement à l’échéance</a:t>
            </a:r>
          </a:p>
          <a:p>
            <a:endParaRPr lang="fr-CA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fr-CA" dirty="0"/>
          </a:p>
          <a:p>
            <a:pPr>
              <a:buNone/>
            </a:pPr>
            <a:endParaRPr lang="fr-CA" dirty="0"/>
          </a:p>
          <a:p>
            <a:pPr lvl="1"/>
            <a:endParaRPr lang="fr-CA" dirty="0"/>
          </a:p>
          <a:p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>
                <a:solidFill>
                  <a:srgbClr val="FF0000"/>
                </a:solidFill>
              </a:rPr>
              <a:t>B - </a:t>
            </a:r>
            <a:r>
              <a:rPr lang="fr-CA" b="1" dirty="0" err="1">
                <a:solidFill>
                  <a:srgbClr val="FF0000"/>
                </a:solidFill>
              </a:rPr>
              <a:t>Obligations </a:t>
            </a:r>
            <a:r>
              <a:rPr lang="fr-CA" b="1" dirty="0">
                <a:solidFill>
                  <a:srgbClr val="FF0000"/>
                </a:solidFill>
              </a:rPr>
              <a:t>: </a:t>
            </a:r>
            <a:r>
              <a:rPr lang="fr-CA" b="1" dirty="0" err="1">
                <a:solidFill>
                  <a:srgbClr val="FF0000"/>
                </a:solidFill>
              </a:rPr>
              <a:t>Récapitulatif</a:t>
            </a:r>
            <a:endParaRPr lang="fr-CA" b="1" dirty="0">
              <a:solidFill>
                <a:srgbClr val="FF0000"/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12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4100" name="Picture 4" descr="Building ">
            <a:extLst>
              <a:ext uri="{FF2B5EF4-FFF2-40B4-BE49-F238E27FC236}">
                <a16:creationId xmlns:a16="http://schemas.microsoft.com/office/drawing/2014/main" id="{F914C6E8-6005-2096-AFBF-6E51799DC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49" y="3055599"/>
            <a:ext cx="664704" cy="6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Stockbrokers ">
            <a:extLst>
              <a:ext uri="{FF2B5EF4-FFF2-40B4-BE49-F238E27FC236}">
                <a16:creationId xmlns:a16="http://schemas.microsoft.com/office/drawing/2014/main" id="{D3842231-4B02-84DE-6D47-4330FE8F1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744" y="2548426"/>
            <a:ext cx="664704" cy="66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23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4366770-D1E6-E944-97D6-A7D0EB867864}"/>
              </a:ext>
            </a:extLst>
          </p:cNvPr>
          <p:cNvSpPr/>
          <p:nvPr/>
        </p:nvSpPr>
        <p:spPr>
          <a:xfrm>
            <a:off x="227348" y="5157192"/>
            <a:ext cx="11737303" cy="12220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27A8AB-4A1F-449B-A4C4-31FCBC0AA732}"/>
              </a:ext>
            </a:extLst>
          </p:cNvPr>
          <p:cNvSpPr/>
          <p:nvPr/>
        </p:nvSpPr>
        <p:spPr>
          <a:xfrm>
            <a:off x="191344" y="2296450"/>
            <a:ext cx="11737303" cy="18526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FF0000"/>
            </a:solidFill>
            <a:prstDash val="solid"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69734" y="1412776"/>
            <a:ext cx="11701299" cy="519704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fr-CA" dirty="0"/>
              <a:t>Voici les « caractéristiques</a:t>
            </a:r>
            <a:r>
              <a:rPr lang="fr-CA" b="1" dirty="0"/>
              <a:t> par défaut </a:t>
            </a:r>
            <a:r>
              <a:rPr lang="fr-CA" dirty="0"/>
              <a:t>» des </a:t>
            </a:r>
            <a:r>
              <a:rPr lang="fr-CA" b="1" dirty="0"/>
              <a:t>obligations</a:t>
            </a:r>
            <a:r>
              <a:rPr lang="fr-CA" dirty="0"/>
              <a:t>. </a:t>
            </a:r>
          </a:p>
          <a:p>
            <a:pPr marL="0" indent="0" algn="ctr">
              <a:buNone/>
            </a:pPr>
            <a:r>
              <a:rPr lang="fr-CA" dirty="0"/>
              <a:t>Sauf indication </a:t>
            </a:r>
            <a:r>
              <a:rPr lang="fr-CA" dirty="0">
                <a:solidFill>
                  <a:srgbClr val="FF0000"/>
                </a:solidFill>
              </a:rPr>
              <a:t>contraire</a:t>
            </a:r>
            <a:endParaRPr lang="fr-CA" sz="1300" dirty="0">
              <a:solidFill>
                <a:srgbClr val="FF0000"/>
              </a:solidFill>
            </a:endParaRPr>
          </a:p>
          <a:p>
            <a:pPr lvl="1"/>
            <a:r>
              <a:rPr lang="fr-CA" b="1" dirty="0"/>
              <a:t>Les coupons sont </a:t>
            </a:r>
            <a:r>
              <a:rPr lang="fr-CA" b="1" dirty="0" err="1"/>
              <a:t>payés semestriellement</a:t>
            </a:r>
            <a:endParaRPr lang="fr-CA" b="1" dirty="0"/>
          </a:p>
          <a:p>
            <a:pPr lvl="1"/>
            <a:r>
              <a:rPr lang="fr-CA" b="1" dirty="0"/>
              <a:t>Le taux du coupon est un taux nominal capitalisé semestriellement</a:t>
            </a:r>
          </a:p>
          <a:p>
            <a:pPr lvl="1"/>
            <a:r>
              <a:rPr lang="fr-CA" b="1" dirty="0"/>
              <a:t>Le taux d'actualisation est un taux nominal capitalisé semestriellement = RAÉ</a:t>
            </a:r>
          </a:p>
          <a:p>
            <a:pPr lvl="1"/>
            <a:r>
              <a:rPr lang="fr-CA" b="1" dirty="0"/>
              <a:t>La valeur nominale est de 1 000 $</a:t>
            </a:r>
          </a:p>
          <a:p>
            <a:pPr lvl="1"/>
            <a:endParaRPr lang="fr-CA" sz="200" dirty="0">
              <a:sym typeface="Wingdings" panose="05000000000000000000" pitchFamily="2" charset="2"/>
            </a:endParaRPr>
          </a:p>
          <a:p>
            <a:pPr lvl="1"/>
            <a:endParaRPr lang="fr-CA" sz="1600" dirty="0">
              <a:sym typeface="Wingdings" panose="05000000000000000000" pitchFamily="2" charset="2"/>
            </a:endParaRPr>
          </a:p>
          <a:p>
            <a:pPr lvl="1"/>
            <a:r>
              <a:rPr lang="fr-CA" dirty="0">
                <a:sym typeface="Wingdings" panose="05000000000000000000" pitchFamily="2" charset="2"/>
              </a:rPr>
              <a:t>C sont payés semestriellement → C en $ =  taux de coupon % / 2 * VN</a:t>
            </a:r>
          </a:p>
          <a:p>
            <a:pPr lvl="1"/>
            <a:r>
              <a:rPr lang="fr-CA" u="sng" dirty="0">
                <a:solidFill>
                  <a:srgbClr val="002060"/>
                </a:solidFill>
                <a:sym typeface="Wingdings" panose="05000000000000000000" pitchFamily="2" charset="2"/>
              </a:rPr>
              <a:t>Convertir le RAÉ en taux périodique = RAÉ / 2 pour « r » dans les formules </a:t>
            </a:r>
          </a:p>
          <a:p>
            <a:pPr marL="274320" lvl="1" indent="0">
              <a:buNone/>
            </a:pPr>
            <a:endParaRPr lang="fr-CA" sz="100" dirty="0">
              <a:sym typeface="Wingdings" panose="05000000000000000000" pitchFamily="2" charset="2"/>
            </a:endParaRPr>
          </a:p>
          <a:p>
            <a:pPr marL="274320" lvl="1" indent="0">
              <a:buNone/>
            </a:pPr>
            <a:r>
              <a:rPr lang="fr-CA" b="1" dirty="0">
                <a:sym typeface="Wingdings" panose="05000000000000000000" pitchFamily="2" charset="2"/>
              </a:rPr>
              <a:t>La fréquence de capitalisation du taux d'intérêt correspond à la fréquence de versement des coupons (</a:t>
            </a:r>
            <a:r>
              <a:rPr lang="fr-CA" b="1" dirty="0" err="1">
                <a:sym typeface="Wingdings" panose="05000000000000000000" pitchFamily="2" charset="2"/>
              </a:rPr>
              <a:t>FMs</a:t>
            </a:r>
            <a:r>
              <a:rPr lang="fr-CA" b="1" dirty="0">
                <a:sym typeface="Wingdings" panose="05000000000000000000" pitchFamily="2" charset="2"/>
              </a:rPr>
              <a:t>)... il n'est donc </a:t>
            </a:r>
            <a:r>
              <a:rPr lang="fr-CA" sz="3800" b="1" u="sng" dirty="0">
                <a:latin typeface="Ink Free" panose="03080402000500000000" pitchFamily="66" charset="0"/>
                <a:sym typeface="Wingdings" panose="05000000000000000000" pitchFamily="2" charset="2"/>
              </a:rPr>
              <a:t>pas nécessaire </a:t>
            </a:r>
            <a:r>
              <a:rPr lang="fr-CA" b="1" dirty="0">
                <a:sym typeface="Wingdings" panose="05000000000000000000" pitchFamily="2" charset="2"/>
              </a:rPr>
              <a:t>de procéder </a:t>
            </a:r>
            <a:r>
              <a:rPr lang="fr-CA" sz="1800" b="1" dirty="0">
                <a:sym typeface="Wingdings" panose="05000000000000000000" pitchFamily="2" charset="2"/>
              </a:rPr>
              <a:t>à </a:t>
            </a:r>
            <a:r>
              <a:rPr lang="fr-CA" sz="3200" b="1" u="sng" dirty="0">
                <a:latin typeface="Ink Free" panose="03080402000500000000" pitchFamily="66" charset="0"/>
                <a:sym typeface="Wingdings" panose="05000000000000000000" pitchFamily="2" charset="2"/>
              </a:rPr>
              <a:t>une grande conversion </a:t>
            </a:r>
            <a:r>
              <a:rPr lang="fr-CA" sz="1800" b="1" dirty="0">
                <a:sym typeface="Wingdings" panose="05000000000000000000" pitchFamily="2" charset="2"/>
              </a:rPr>
              <a:t>des taux d'intérêt.</a:t>
            </a:r>
          </a:p>
          <a:p>
            <a:pPr marL="274320" lvl="1" indent="0">
              <a:buNone/>
            </a:pPr>
            <a:endParaRPr lang="fr-CA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 err="1"/>
              <a:t>Définition </a:t>
            </a:r>
            <a:r>
              <a:rPr lang="fr-CA" dirty="0"/>
              <a:t>et caractéristiques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13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11" name="Picture 2" descr="Important ">
            <a:extLst>
              <a:ext uri="{FF2B5EF4-FFF2-40B4-BE49-F238E27FC236}">
                <a16:creationId xmlns:a16="http://schemas.microsoft.com/office/drawing/2014/main" id="{8C7E4BD2-9206-4E41-9461-0E2FFF79D2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2304" y="30638"/>
            <a:ext cx="1437066" cy="1437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C497822F-9EFB-E838-B509-8DBFFF414BDF}"/>
              </a:ext>
            </a:extLst>
          </p:cNvPr>
          <p:cNvSpPr/>
          <p:nvPr/>
        </p:nvSpPr>
        <p:spPr>
          <a:xfrm>
            <a:off x="10870076" y="5972884"/>
            <a:ext cx="864096" cy="501475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9662D23B-2964-EA0A-E73C-C67C01C68577}"/>
              </a:ext>
            </a:extLst>
          </p:cNvPr>
          <p:cNvSpPr/>
          <p:nvPr/>
        </p:nvSpPr>
        <p:spPr>
          <a:xfrm>
            <a:off x="10879800" y="2495874"/>
            <a:ext cx="864096" cy="501475"/>
          </a:xfrm>
          <a:prstGeom prst="star5">
            <a:avLst/>
          </a:prstGeom>
          <a:solidFill>
            <a:srgbClr val="FF0000"/>
          </a:solidFill>
          <a:ln>
            <a:noFill/>
          </a:ln>
          <a:effectLst>
            <a:outerShdw blurRad="184150" dist="241300" dir="11520000" sx="110000" sy="110000" algn="ctr">
              <a:srgbClr val="000000">
                <a:alpha val="18000"/>
              </a:srgb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63669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961552" y="-195558"/>
            <a:ext cx="8229600" cy="1143000"/>
          </a:xfrm>
          <a:noFill/>
        </p:spPr>
        <p:txBody>
          <a:bodyPr/>
          <a:lstStyle/>
          <a:p>
            <a:r>
              <a:rPr lang="fr-CA" dirty="0"/>
              <a:t>Formule d'évaluation des obligations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79376" y="1412776"/>
            <a:ext cx="11377264" cy="4896544"/>
          </a:xfrm>
        </p:spPr>
        <p:txBody>
          <a:bodyPr>
            <a:noAutofit/>
          </a:bodyPr>
          <a:lstStyle/>
          <a:p>
            <a:pPr marL="269868" indent="-269868"/>
            <a:r>
              <a:rPr lang="fr-CA" sz="2800" dirty="0"/>
              <a:t>Diagramme temporel :</a:t>
            </a:r>
          </a:p>
          <a:p>
            <a:pPr marL="269868" indent="-269868"/>
            <a:endParaRPr lang="fr-CA" sz="2200" dirty="0">
              <a:solidFill>
                <a:schemeClr val="accent1"/>
              </a:solidFill>
            </a:endParaRPr>
          </a:p>
          <a:p>
            <a:pPr marL="269868" indent="-269868"/>
            <a:endParaRPr lang="fr-CA" sz="2200" dirty="0">
              <a:solidFill>
                <a:schemeClr val="accent1"/>
              </a:solidFill>
            </a:endParaRPr>
          </a:p>
          <a:p>
            <a:pPr marL="269868" indent="-269868"/>
            <a:endParaRPr lang="fr-CA" sz="2200" dirty="0">
              <a:solidFill>
                <a:schemeClr val="accent1"/>
              </a:solidFill>
            </a:endParaRPr>
          </a:p>
          <a:p>
            <a:pPr marL="269868" indent="-269868"/>
            <a:endParaRPr lang="fr-CA" sz="500" dirty="0">
              <a:solidFill>
                <a:schemeClr val="accent1"/>
              </a:solidFill>
            </a:endParaRPr>
          </a:p>
          <a:p>
            <a:pPr marL="269868" indent="-269868"/>
            <a:endParaRPr lang="fr-CA" sz="500" dirty="0">
              <a:solidFill>
                <a:schemeClr val="accent1"/>
              </a:solidFill>
            </a:endParaRPr>
          </a:p>
          <a:p>
            <a:pPr marL="269868" indent="-269868"/>
            <a:endParaRPr lang="fr-CA" sz="2200" dirty="0">
              <a:solidFill>
                <a:schemeClr val="accent1"/>
              </a:solidFill>
            </a:endParaRPr>
          </a:p>
          <a:p>
            <a:pPr marL="269868" indent="-269868"/>
            <a:endParaRPr lang="fr-CA" sz="2200" dirty="0">
              <a:solidFill>
                <a:schemeClr val="accent1"/>
              </a:solidFill>
            </a:endParaRPr>
          </a:p>
          <a:p>
            <a:pPr marL="269868" indent="-269868"/>
            <a:endParaRPr lang="fr-CA" sz="2200" dirty="0">
              <a:solidFill>
                <a:schemeClr val="accent1"/>
              </a:solidFill>
            </a:endParaRPr>
          </a:p>
          <a:p>
            <a:pPr marL="269868" indent="-269868"/>
            <a:endParaRPr lang="fr-CA" sz="2200" dirty="0">
              <a:solidFill>
                <a:schemeClr val="accent1"/>
              </a:solidFill>
            </a:endParaRPr>
          </a:p>
          <a:p>
            <a:pPr marL="269868" indent="-269868"/>
            <a:endParaRPr lang="fr-CA" sz="22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200" b="1" u="sng" dirty="0">
                <a:solidFill>
                  <a:schemeClr val="accent2">
                    <a:lumMod val="75000"/>
                  </a:schemeClr>
                </a:solidFill>
                <a:latin typeface="Ink Free" panose="03080402000500000000" pitchFamily="66" charset="0"/>
              </a:rPr>
              <a:t>Exemple : </a:t>
            </a:r>
            <a:r>
              <a:rPr lang="en-US" sz="2200" dirty="0">
                <a:solidFill>
                  <a:schemeClr val="accent2">
                    <a:lumMod val="75000"/>
                  </a:schemeClr>
                </a:solidFill>
                <a:latin typeface="Ink Free" panose="03080402000500000000" pitchFamily="66" charset="0"/>
              </a:rPr>
              <a:t>Obligation arrivant à échéance dans 2 ans, avec un taux d'intérêt nominal de 5 %. Quel est son prix aujourd'hui si le rendement à l'échéance est de 6 % ?</a:t>
            </a:r>
            <a:endParaRPr lang="fr-CA" sz="2200" dirty="0">
              <a:solidFill>
                <a:schemeClr val="accent2">
                  <a:lumMod val="75000"/>
                </a:schemeClr>
              </a:solidFill>
              <a:latin typeface="Ink Free" panose="03080402000500000000" pitchFamily="66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DB623D-5834-4F73-BD13-1B7D45C924FF}"/>
              </a:ext>
            </a:extLst>
          </p:cNvPr>
          <p:cNvSpPr/>
          <p:nvPr/>
        </p:nvSpPr>
        <p:spPr>
          <a:xfrm>
            <a:off x="3123503" y="4118017"/>
            <a:ext cx="5707856" cy="11215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fr-FR" sz="1350">
              <a:solidFill>
                <a:prstClr val="white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1AC62079-088E-AE59-FEF7-091186FEEBEC}"/>
                  </a:ext>
                </a:extLst>
              </p:cNvPr>
              <p:cNvSpPr txBox="1"/>
              <p:nvPr/>
            </p:nvSpPr>
            <p:spPr>
              <a:xfrm>
                <a:off x="3123503" y="4285669"/>
                <a:ext cx="5707856" cy="7270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/>
                      </m:sSub>
                      <m:r>
                        <a:rPr lang="fr-CA" b="1" i="1" smtClean="0">
                          <a:latin typeface="Cambria Math"/>
                        </a:rPr>
                        <m:t>=</m:t>
                      </m:r>
                      <m:r>
                        <a:rPr lang="fr-CA" b="1" i="1" smtClean="0">
                          <a:latin typeface="Cambria Math"/>
                          <a:cs typeface="Helvetica" panose="020B0604020202020204" pitchFamily="34" charset="0"/>
                        </a:rPr>
                        <m:t>𝒄𝒐𝒖𝒑𝒐𝒏</m:t>
                      </m:r>
                      <m:d>
                        <m:dPr>
                          <m:begChr m:val="["/>
                          <m:endChr m:val="]"/>
                          <m:ctrlPr>
                            <a:rPr lang="en-CA" i="1">
                              <a:latin typeface="Cambria Math" panose="02040503050406030204" pitchFamily="18" charset="0"/>
                              <a:cs typeface="Helvetica" panose="020B0604020202020204" pitchFamily="34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CA" i="1">
                                  <a:latin typeface="Cambria Math" panose="02040503050406030204" pitchFamily="18" charset="0"/>
                                  <a:cs typeface="Helvetica" panose="020B0604020202020204" pitchFamily="3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CA" i="1">
                                      <a:latin typeface="Cambria Math" panose="02040503050406030204" pitchFamily="18" charset="0"/>
                                      <a:cs typeface="Helvetica" panose="020B0604020202020204" pitchFamily="3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CA" i="1">
                                      <a:latin typeface="Cambria Math"/>
                                      <a:cs typeface="Helvetica" panose="020B0604020202020204" pitchFamily="34" charset="0"/>
                                    </a:rPr>
                                    <m:t>𝟏</m:t>
                                  </m:r>
                                  <m:r>
                                    <a:rPr lang="en-CA" i="1">
                                      <a:latin typeface="Cambria Math"/>
                                      <a:cs typeface="Helvetica" panose="020B0604020202020204" pitchFamily="34" charset="0"/>
                                    </a:rPr>
                                    <m:t>−(</m:t>
                                  </m:r>
                                  <m:r>
                                    <a:rPr lang="en-CA" i="1">
                                      <a:latin typeface="Cambria Math"/>
                                      <a:cs typeface="Helvetica" panose="020B0604020202020204" pitchFamily="34" charset="0"/>
                                    </a:rPr>
                                    <m:t>𝟏</m:t>
                                  </m:r>
                                  <m:r>
                                    <a:rPr lang="en-CA" i="1">
                                      <a:latin typeface="Cambria Math"/>
                                      <a:cs typeface="Helvetica" panose="020B0604020202020204" pitchFamily="34" charset="0"/>
                                    </a:rPr>
                                    <m:t>+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  <a:cs typeface="Helvetica" panose="020B0604020202020204" pitchFamily="34" charset="0"/>
                                    </a:rPr>
                                    <m:t>𝑅𝐴</m:t>
                                  </m:r>
                                  <m:r>
                                    <a:rPr lang="en-CA" b="0" i="1" smtClean="0">
                                      <a:latin typeface="Cambria Math" panose="02040503050406030204" pitchFamily="18" charset="0"/>
                                      <a:cs typeface="Helvetica" panose="020B0604020202020204" pitchFamily="34" charset="0"/>
                                    </a:rPr>
                                    <m:t>É)</m:t>
                                  </m:r>
                                </m:e>
                                <m:sup>
                                  <m:r>
                                    <a:rPr lang="en-CA" i="1">
                                      <a:latin typeface="Cambria Math"/>
                                      <a:cs typeface="Helvetica" panose="020B0604020202020204" pitchFamily="34" charset="0"/>
                                    </a:rPr>
                                    <m:t>−</m:t>
                                  </m:r>
                                  <m:r>
                                    <a:rPr lang="en-CA" i="1">
                                      <a:latin typeface="Cambria Math"/>
                                      <a:cs typeface="Helvetica" panose="020B0604020202020204" pitchFamily="34" charset="0"/>
                                    </a:rPr>
                                    <m:t>𝒕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CA" b="1" i="1" smtClean="0">
                                  <a:latin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𝑹𝑨</m:t>
                              </m:r>
                              <m:r>
                                <a:rPr lang="en-CA" b="1" i="1" smtClean="0">
                                  <a:latin typeface="Cambria Math" panose="02040503050406030204" pitchFamily="18" charset="0"/>
                                  <a:cs typeface="Helvetica" panose="020B0604020202020204" pitchFamily="34" charset="0"/>
                                </a:rPr>
                                <m:t>É</m:t>
                              </m:r>
                            </m:den>
                          </m:f>
                        </m:e>
                      </m:d>
                      <m:r>
                        <a:rPr lang="fr-CA" b="1" i="0" smtClean="0">
                          <a:latin typeface="Cambria Math"/>
                          <a:cs typeface="Helvetica" panose="020B0604020202020204" pitchFamily="34" charset="0"/>
                        </a:rPr>
                        <m:t>+</m:t>
                      </m:r>
                      <m:f>
                        <m:fPr>
                          <m:ctrlPr>
                            <a:rPr lang="en-CA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b="1" i="1" smtClean="0">
                              <a:latin typeface="Cambria Math" panose="02040503050406030204" pitchFamily="18" charset="0"/>
                            </a:rPr>
                            <m:t>𝑽𝑵</m:t>
                          </m:r>
                        </m:num>
                        <m:den>
                          <m:sSup>
                            <m:sSupPr>
                              <m:ctrlPr>
                                <a:rPr lang="en-CA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latin typeface="Cambria Math"/>
                                </a:rPr>
                                <m:t>(</m:t>
                              </m:r>
                              <m:r>
                                <a:rPr lang="en-CA" i="1">
                                  <a:latin typeface="Cambria Math"/>
                                </a:rPr>
                                <m:t>𝟏</m:t>
                              </m:r>
                              <m:r>
                                <a:rPr lang="en-CA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𝑅𝐴</m:t>
                              </m:r>
                              <m:r>
                                <a:rPr lang="en-CA" b="0" i="1" smtClean="0">
                                  <a:latin typeface="Cambria Math" panose="02040503050406030204" pitchFamily="18" charset="0"/>
                                </a:rPr>
                                <m:t>É)</m:t>
                              </m:r>
                            </m:e>
                            <m:sup>
                              <m:r>
                                <a:rPr lang="en-CA" i="1">
                                  <a:latin typeface="Cambria Math"/>
                                </a:rPr>
                                <m:t>𝒕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1AC62079-088E-AE59-FEF7-091186FEE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503" y="4285669"/>
                <a:ext cx="5707856" cy="7270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34">
            <a:extLst>
              <a:ext uri="{FF2B5EF4-FFF2-40B4-BE49-F238E27FC236}">
                <a16:creationId xmlns:a16="http://schemas.microsoft.com/office/drawing/2014/main" id="{065EE07E-72DE-BCD0-F81A-3D2867AC7E3B}"/>
              </a:ext>
            </a:extLst>
          </p:cNvPr>
          <p:cNvSpPr/>
          <p:nvPr/>
        </p:nvSpPr>
        <p:spPr>
          <a:xfrm>
            <a:off x="8472264" y="3933056"/>
            <a:ext cx="3384376" cy="1167850"/>
          </a:xfrm>
          <a:prstGeom prst="rect">
            <a:avLst/>
          </a:prstGeom>
          <a:blipFill>
            <a:blip r:embed="rId5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4BE556-E691-00C4-29DC-7E1E33065373}"/>
              </a:ext>
            </a:extLst>
          </p:cNvPr>
          <p:cNvSpPr txBox="1"/>
          <p:nvPr/>
        </p:nvSpPr>
        <p:spPr>
          <a:xfrm>
            <a:off x="8869089" y="4208321"/>
            <a:ext cx="26441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dirty="0">
                <a:latin typeface="Ink Free" panose="03080402000500000000" pitchFamily="66" charset="0"/>
              </a:rPr>
              <a:t>Jamais, au grand jamais, la </a:t>
            </a:r>
            <a:r>
              <a:rPr lang="en-CA" dirty="0" err="1">
                <a:latin typeface="Ink Free" panose="03080402000500000000" pitchFamily="66" charset="0"/>
              </a:rPr>
              <a:t>valeur</a:t>
            </a:r>
            <a:r>
              <a:rPr lang="en-CA" dirty="0">
                <a:latin typeface="Ink Free" panose="03080402000500000000" pitchFamily="66" charset="0"/>
              </a:rPr>
              <a:t> finale !!!</a:t>
            </a:r>
          </a:p>
        </p:txBody>
      </p:sp>
    </p:spTree>
    <p:extLst>
      <p:ext uri="{BB962C8B-B14F-4D97-AF65-F5344CB8AC3E}">
        <p14:creationId xmlns:p14="http://schemas.microsoft.com/office/powerpoint/2010/main" val="3460838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D7CBF-2FFF-9C8D-01AC-63FB62084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10BF665-CC5A-09C7-4BF8-A6394B33A03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02339" y="1556793"/>
            <a:ext cx="11339512" cy="1584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fr-CA" dirty="0">
                <a:solidFill>
                  <a:srgbClr val="0F8D36"/>
                </a:solidFill>
                <a:latin typeface="Ink Free" panose="03080402000500000000" pitchFamily="66" charset="0"/>
              </a:rPr>
              <a:t>👉 </a:t>
            </a:r>
            <a:r>
              <a:rPr lang="en-CA" b="1" dirty="0">
                <a:solidFill>
                  <a:schemeClr val="tx1"/>
                </a:solidFill>
              </a:rPr>
              <a:t>Jamais</a:t>
            </a:r>
            <a:r>
              <a:rPr lang="en-CA" dirty="0">
                <a:solidFill>
                  <a:schemeClr val="tx1"/>
                </a:solidFill>
              </a:rPr>
              <a:t> on ne </a:t>
            </a:r>
            <a:r>
              <a:rPr lang="en-CA" dirty="0" err="1">
                <a:solidFill>
                  <a:schemeClr val="tx1"/>
                </a:solidFill>
              </a:rPr>
              <a:t>calcule</a:t>
            </a:r>
            <a:r>
              <a:rPr lang="en-CA" dirty="0">
                <a:solidFill>
                  <a:schemeClr val="tx1"/>
                </a:solidFill>
              </a:rPr>
              <a:t> la </a:t>
            </a:r>
            <a:r>
              <a:rPr lang="en-CA" u="sng" dirty="0" err="1">
                <a:solidFill>
                  <a:schemeClr val="tx1"/>
                </a:solidFill>
              </a:rPr>
              <a:t>valeur</a:t>
            </a:r>
            <a:r>
              <a:rPr lang="en-CA" u="sng" dirty="0">
                <a:solidFill>
                  <a:schemeClr val="tx1"/>
                </a:solidFill>
              </a:rPr>
              <a:t> finale </a:t>
            </a:r>
            <a:r>
              <a:rPr lang="en-CA" dirty="0" err="1">
                <a:solidFill>
                  <a:schemeClr val="tx1"/>
                </a:solidFill>
              </a:rPr>
              <a:t>d’une</a:t>
            </a:r>
            <a:r>
              <a:rPr lang="en-CA" dirty="0">
                <a:solidFill>
                  <a:schemeClr val="tx1"/>
                </a:solidFill>
              </a:rPr>
              <a:t> obligation pour </a:t>
            </a:r>
            <a:r>
              <a:rPr lang="en-CA" dirty="0" err="1">
                <a:solidFill>
                  <a:schemeClr val="tx1"/>
                </a:solidFill>
              </a:rPr>
              <a:t>trouver</a:t>
            </a:r>
            <a:r>
              <a:rPr lang="en-CA" dirty="0">
                <a:solidFill>
                  <a:schemeClr val="tx1"/>
                </a:solidFill>
              </a:rPr>
              <a:t> </a:t>
            </a:r>
            <a:r>
              <a:rPr lang="en-CA" dirty="0" err="1">
                <a:solidFill>
                  <a:schemeClr val="tx1"/>
                </a:solidFill>
              </a:rPr>
              <a:t>sa</a:t>
            </a:r>
            <a:r>
              <a:rPr lang="en-CA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en-CA" dirty="0">
                <a:solidFill>
                  <a:schemeClr val="tx1"/>
                </a:solidFill>
              </a:rPr>
              <a:t>       </a:t>
            </a:r>
            <a:r>
              <a:rPr lang="en-CA" dirty="0" err="1">
                <a:solidFill>
                  <a:schemeClr val="tx1"/>
                </a:solidFill>
              </a:rPr>
              <a:t>valeur</a:t>
            </a:r>
            <a:r>
              <a:rPr lang="en-CA" dirty="0">
                <a:solidFill>
                  <a:schemeClr val="tx1"/>
                </a:solidFill>
              </a:rPr>
              <a:t> à un certain point dans le future.</a:t>
            </a:r>
          </a:p>
          <a:p>
            <a:pPr lvl="1"/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Valeur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ou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prix de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l’obligation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= </a:t>
            </a:r>
            <a:r>
              <a:rPr lang="en-CA" u="sng" dirty="0" err="1">
                <a:solidFill>
                  <a:schemeClr val="tx2">
                    <a:lumMod val="75000"/>
                  </a:schemeClr>
                </a:solidFill>
              </a:rPr>
              <a:t>valeur</a:t>
            </a:r>
            <a:r>
              <a:rPr lang="en-CA"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u="sng" dirty="0" err="1">
                <a:solidFill>
                  <a:schemeClr val="tx2">
                    <a:lumMod val="75000"/>
                  </a:schemeClr>
                </a:solidFill>
              </a:rPr>
              <a:t>actuelle</a:t>
            </a:r>
            <a:r>
              <a:rPr lang="en-CA" u="sng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des FMs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futurs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.</a:t>
            </a:r>
            <a:endParaRPr lang="fr-CA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529136B-D326-E2CD-16BE-251C0578A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/>
              <a:t>Donc</a:t>
            </a:r>
            <a:r>
              <a:rPr lang="en-CA" dirty="0"/>
              <a:t>…à </a:t>
            </a:r>
            <a:r>
              <a:rPr lang="en-CA" dirty="0" err="1"/>
              <a:t>retenir</a:t>
            </a:r>
            <a:endParaRPr lang="fr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10475-787A-C5CD-4208-09CBE0E73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/>
              <a:pPr/>
              <a:t>15</a:t>
            </a:fld>
            <a:endParaRPr lang="fr-CA" dirty="0"/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1E600534-AB97-8EF1-86E6-4F9DF8E91EB5}"/>
              </a:ext>
            </a:extLst>
          </p:cNvPr>
          <p:cNvSpPr txBox="1">
            <a:spLocks/>
          </p:cNvSpPr>
          <p:nvPr/>
        </p:nvSpPr>
        <p:spPr>
          <a:xfrm>
            <a:off x="402338" y="3429001"/>
            <a:ext cx="11339512" cy="2880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 cap="flat" cmpd="sng" algn="ctr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>
            <a:normAutofit/>
          </a:bodyPr>
          <a:lstStyle>
            <a:lvl1pPr marL="274306" indent="-274306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8613" indent="-274306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22919" indent="-228589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97225" indent="-228589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532" indent="-228589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45838" indent="-182871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20144" indent="-182871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03015" indent="-182871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377322" indent="-182871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None/>
            </a:pPr>
            <a:r>
              <a:rPr lang="fr-CA" dirty="0">
                <a:solidFill>
                  <a:srgbClr val="0F8D36"/>
                </a:solidFill>
                <a:latin typeface="Ink Free" panose="03080402000500000000" pitchFamily="66" charset="0"/>
              </a:rPr>
              <a:t>👉 </a:t>
            </a:r>
            <a:r>
              <a:rPr lang="en-CA" dirty="0">
                <a:solidFill>
                  <a:schemeClr val="tx1"/>
                </a:solidFill>
              </a:rPr>
              <a:t>TCEPA, le </a:t>
            </a:r>
            <a:r>
              <a:rPr lang="en-CA" b="1" dirty="0">
                <a:solidFill>
                  <a:schemeClr val="tx1"/>
                </a:solidFill>
              </a:rPr>
              <a:t>RAÉ</a:t>
            </a:r>
            <a:r>
              <a:rPr lang="en-CA" dirty="0">
                <a:solidFill>
                  <a:schemeClr val="tx1"/>
                </a:solidFill>
              </a:rPr>
              <a:t> </a:t>
            </a:r>
            <a:r>
              <a:rPr lang="en-CA" dirty="0" err="1">
                <a:solidFill>
                  <a:schemeClr val="tx1"/>
                </a:solidFill>
              </a:rPr>
              <a:t>est</a:t>
            </a:r>
            <a:r>
              <a:rPr lang="en-CA" dirty="0">
                <a:solidFill>
                  <a:schemeClr val="tx1"/>
                </a:solidFill>
              </a:rPr>
              <a:t> un </a:t>
            </a:r>
            <a:r>
              <a:rPr lang="en-CA" b="1" dirty="0" err="1">
                <a:solidFill>
                  <a:schemeClr val="tx1"/>
                </a:solidFill>
              </a:rPr>
              <a:t>taux</a:t>
            </a:r>
            <a:r>
              <a:rPr lang="en-CA" b="1" dirty="0">
                <a:solidFill>
                  <a:schemeClr val="tx1"/>
                </a:solidFill>
              </a:rPr>
              <a:t> nominal à capitalisation </a:t>
            </a:r>
          </a:p>
          <a:p>
            <a:pPr marL="0" indent="0" fontAlgn="auto">
              <a:spcAft>
                <a:spcPts val="0"/>
              </a:spcAft>
              <a:buNone/>
            </a:pPr>
            <a:r>
              <a:rPr lang="en-CA" b="1" dirty="0">
                <a:solidFill>
                  <a:schemeClr val="tx1"/>
                </a:solidFill>
              </a:rPr>
              <a:t>       </a:t>
            </a:r>
            <a:r>
              <a:rPr lang="en-CA" b="1" dirty="0" err="1">
                <a:solidFill>
                  <a:schemeClr val="tx1"/>
                </a:solidFill>
              </a:rPr>
              <a:t>semestrielle</a:t>
            </a:r>
            <a:endParaRPr lang="en-CA" dirty="0">
              <a:solidFill>
                <a:schemeClr val="tx1"/>
              </a:solidFill>
            </a:endParaRPr>
          </a:p>
          <a:p>
            <a:pPr lvl="1" fontAlgn="auto">
              <a:spcAft>
                <a:spcPts val="0"/>
              </a:spcAft>
            </a:pP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Donc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fréquence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du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taux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donné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est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semestriel</a:t>
            </a:r>
            <a:endParaRPr lang="en-CA" dirty="0">
              <a:solidFill>
                <a:schemeClr val="tx2">
                  <a:lumMod val="75000"/>
                </a:schemeClr>
              </a:solidFill>
            </a:endParaRPr>
          </a:p>
          <a:p>
            <a:pPr lvl="1" fontAlgn="auto">
              <a:spcAft>
                <a:spcPts val="0"/>
              </a:spcAft>
            </a:pP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Les FMs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sont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les coupons verses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semestriellement</a:t>
            </a:r>
            <a:endParaRPr lang="en-CA" dirty="0">
              <a:solidFill>
                <a:schemeClr val="tx2">
                  <a:lumMod val="75000"/>
                </a:schemeClr>
              </a:solidFill>
            </a:endParaRPr>
          </a:p>
          <a:p>
            <a:pPr lvl="1" fontAlgn="auto">
              <a:spcAft>
                <a:spcPts val="0"/>
              </a:spcAft>
            </a:pP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Les 2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fréquences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concordent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et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donc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pas de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grande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conversion. </a:t>
            </a:r>
            <a:r>
              <a:rPr lang="en-CA" dirty="0" err="1">
                <a:solidFill>
                  <a:schemeClr val="tx2">
                    <a:lumMod val="75000"/>
                  </a:schemeClr>
                </a:solidFill>
              </a:rPr>
              <a:t>Seulement</a:t>
            </a:r>
            <a:r>
              <a:rPr lang="en-CA" dirty="0">
                <a:solidFill>
                  <a:schemeClr val="tx2">
                    <a:lumMod val="75000"/>
                  </a:schemeClr>
                </a:solidFill>
              </a:rPr>
              <a:t> RAÉ/2.</a:t>
            </a:r>
            <a:endParaRPr lang="fr-CA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1" name="Picture 2" descr="Warning ">
            <a:extLst>
              <a:ext uri="{FF2B5EF4-FFF2-40B4-BE49-F238E27FC236}">
                <a16:creationId xmlns:a16="http://schemas.microsoft.com/office/drawing/2014/main" id="{65F5A4A8-2DDE-06A6-35EC-8A0BF6CEA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8" y="288481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Warning ">
            <a:extLst>
              <a:ext uri="{FF2B5EF4-FFF2-40B4-BE49-F238E27FC236}">
                <a16:creationId xmlns:a16="http://schemas.microsoft.com/office/drawing/2014/main" id="{EBF498BB-545F-CACF-FA2B-024CE200A1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8516" y="298978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Important ">
            <a:extLst>
              <a:ext uri="{FF2B5EF4-FFF2-40B4-BE49-F238E27FC236}">
                <a16:creationId xmlns:a16="http://schemas.microsoft.com/office/drawing/2014/main" id="{C866DC29-038D-5C11-CCB6-5E784E4D8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0416" y="2282187"/>
            <a:ext cx="1717563" cy="171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0785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642350" y="248798"/>
            <a:ext cx="8534400" cy="758952"/>
          </a:xfrm>
        </p:spPr>
        <p:txBody>
          <a:bodyPr>
            <a:normAutofit/>
          </a:bodyPr>
          <a:lstStyle/>
          <a:p>
            <a:r>
              <a:rPr lang="fr-CA" dirty="0"/>
              <a:t>Relation inverse entre le prix et le RAÉ</a:t>
            </a:r>
            <a:endParaRPr lang="fr-CA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63352" y="1437243"/>
            <a:ext cx="11449272" cy="1041445"/>
          </a:xfrm>
        </p:spPr>
        <p:txBody>
          <a:bodyPr>
            <a:normAutofit/>
          </a:bodyPr>
          <a:lstStyle/>
          <a:p>
            <a:pPr lvl="1" algn="ctr">
              <a:buClr>
                <a:schemeClr val="tx1"/>
              </a:buClr>
              <a:buSzPct val="100000"/>
              <a:buFont typeface="Wingdings" panose="05000000000000000000" pitchFamily="2" charset="2"/>
              <a:buChar char="ð"/>
            </a:pPr>
            <a:r>
              <a:rPr lang="fr-CA" dirty="0">
                <a:solidFill>
                  <a:schemeClr val="tx1"/>
                </a:solidFill>
              </a:rPr>
              <a:t>Lorsque le </a:t>
            </a:r>
            <a:r>
              <a:rPr lang="fr-CA" b="1" dirty="0">
                <a:solidFill>
                  <a:schemeClr val="tx1"/>
                </a:solidFill>
              </a:rPr>
              <a:t>RAÉ augmente</a:t>
            </a:r>
            <a:r>
              <a:rPr lang="fr-CA" dirty="0">
                <a:solidFill>
                  <a:schemeClr val="tx1"/>
                </a:solidFill>
              </a:rPr>
              <a:t>, le </a:t>
            </a:r>
            <a:r>
              <a:rPr lang="fr-CA" b="1" dirty="0">
                <a:solidFill>
                  <a:schemeClr val="tx1"/>
                </a:solidFill>
              </a:rPr>
              <a:t>prix diminue</a:t>
            </a:r>
            <a:r>
              <a:rPr lang="fr-CA" dirty="0">
                <a:solidFill>
                  <a:schemeClr val="tx1"/>
                </a:solidFill>
              </a:rPr>
              <a:t>.</a:t>
            </a:r>
          </a:p>
          <a:p>
            <a:pPr lvl="1" algn="ctr">
              <a:buClr>
                <a:schemeClr val="tx1"/>
              </a:buClr>
              <a:buSzPct val="100000"/>
              <a:buFont typeface="Wingdings" panose="05000000000000000000" pitchFamily="2" charset="2"/>
              <a:buChar char="ð"/>
            </a:pPr>
            <a:r>
              <a:rPr lang="fr-CA" dirty="0">
                <a:solidFill>
                  <a:schemeClr val="tx1"/>
                </a:solidFill>
              </a:rPr>
              <a:t>Lorsque le </a:t>
            </a:r>
            <a:r>
              <a:rPr lang="fr-CA" b="1" dirty="0">
                <a:solidFill>
                  <a:schemeClr val="tx1"/>
                </a:solidFill>
              </a:rPr>
              <a:t>RAÉ diminue</a:t>
            </a:r>
            <a:r>
              <a:rPr lang="fr-CA" dirty="0">
                <a:solidFill>
                  <a:schemeClr val="tx1"/>
                </a:solidFill>
              </a:rPr>
              <a:t>, le </a:t>
            </a:r>
            <a:r>
              <a:rPr lang="fr-CA" b="1" dirty="0">
                <a:solidFill>
                  <a:schemeClr val="tx1"/>
                </a:solidFill>
              </a:rPr>
              <a:t>prix augmente</a:t>
            </a:r>
            <a:r>
              <a:rPr lang="fr-CA" dirty="0">
                <a:solidFill>
                  <a:schemeClr val="tx1"/>
                </a:solidFill>
              </a:rPr>
              <a:t>.</a:t>
            </a:r>
          </a:p>
          <a:p>
            <a:pPr lvl="1" algn="ctr"/>
            <a:endParaRPr lang="fr-CA" dirty="0"/>
          </a:p>
          <a:p>
            <a:pPr marL="274320" lvl="1" indent="0" algn="ctr">
              <a:buNone/>
            </a:pPr>
            <a:endParaRPr lang="fr-CA" dirty="0"/>
          </a:p>
          <a:p>
            <a:pPr marL="0" indent="0" algn="ctr">
              <a:buNone/>
            </a:pP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16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D208739B-3192-4899-933A-99EBB9AD2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19345" y="2578362"/>
            <a:ext cx="4337285" cy="36975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ZoneTexte 9">
            <a:extLst>
              <a:ext uri="{FF2B5EF4-FFF2-40B4-BE49-F238E27FC236}">
                <a16:creationId xmlns:a16="http://schemas.microsoft.com/office/drawing/2014/main" id="{69D95786-2FDA-4D9D-8C6B-B1766B260AC3}"/>
              </a:ext>
            </a:extLst>
          </p:cNvPr>
          <p:cNvSpPr txBox="1"/>
          <p:nvPr/>
        </p:nvSpPr>
        <p:spPr>
          <a:xfrm>
            <a:off x="1825754" y="3965465"/>
            <a:ext cx="1232474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CA" sz="2400" b="1" dirty="0">
                <a:latin typeface="+mj-lt"/>
                <a:cs typeface="Helvetica" panose="020B0604020202020204" pitchFamily="34" charset="0"/>
              </a:rPr>
              <a:t>Prix</a:t>
            </a:r>
          </a:p>
        </p:txBody>
      </p:sp>
      <p:sp>
        <p:nvSpPr>
          <p:cNvPr id="7" name="ZoneTexte 11">
            <a:extLst>
              <a:ext uri="{FF2B5EF4-FFF2-40B4-BE49-F238E27FC236}">
                <a16:creationId xmlns:a16="http://schemas.microsoft.com/office/drawing/2014/main" id="{1F5AD0DB-BCD8-4A58-BDC4-19549718B4F9}"/>
              </a:ext>
            </a:extLst>
          </p:cNvPr>
          <p:cNvSpPr txBox="1"/>
          <p:nvPr/>
        </p:nvSpPr>
        <p:spPr>
          <a:xfrm>
            <a:off x="8051557" y="3198168"/>
            <a:ext cx="1161641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txBody>
          <a:bodyPr wrap="square" rtlCol="0">
            <a:spAutoFit/>
          </a:bodyPr>
          <a:lstStyle/>
          <a:p>
            <a:r>
              <a:rPr lang="en-CA" sz="2400" b="1" dirty="0">
                <a:latin typeface="+mj-lt"/>
                <a:cs typeface="Helvetica" panose="020B0604020202020204" pitchFamily="34" charset="0"/>
              </a:rPr>
              <a:t>RAÉ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4F43A929-4EBB-44CB-B950-85BA2BC0E155}"/>
              </a:ext>
            </a:extLst>
          </p:cNvPr>
          <p:cNvSpPr/>
          <p:nvPr/>
        </p:nvSpPr>
        <p:spPr>
          <a:xfrm>
            <a:off x="7573818" y="3083003"/>
            <a:ext cx="477738" cy="816746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5941A03D-23FC-48ED-82D6-EA58F85EEABA}"/>
              </a:ext>
            </a:extLst>
          </p:cNvPr>
          <p:cNvSpPr/>
          <p:nvPr/>
        </p:nvSpPr>
        <p:spPr>
          <a:xfrm rot="10800000">
            <a:off x="3143672" y="3789040"/>
            <a:ext cx="477738" cy="816746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object 34">
            <a:extLst>
              <a:ext uri="{FF2B5EF4-FFF2-40B4-BE49-F238E27FC236}">
                <a16:creationId xmlns:a16="http://schemas.microsoft.com/office/drawing/2014/main" id="{3DB8AC1C-45AB-1360-3443-9803B4C0AC07}"/>
              </a:ext>
            </a:extLst>
          </p:cNvPr>
          <p:cNvSpPr/>
          <p:nvPr/>
        </p:nvSpPr>
        <p:spPr>
          <a:xfrm>
            <a:off x="7405644" y="2492235"/>
            <a:ext cx="2453465" cy="1712823"/>
          </a:xfrm>
          <a:prstGeom prst="rect">
            <a:avLst/>
          </a:prstGeom>
          <a:blipFill>
            <a:blip r:embed="rId4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CA" dirty="0"/>
          </a:p>
        </p:txBody>
      </p:sp>
      <p:sp>
        <p:nvSpPr>
          <p:cNvPr id="9" name="object 34">
            <a:extLst>
              <a:ext uri="{FF2B5EF4-FFF2-40B4-BE49-F238E27FC236}">
                <a16:creationId xmlns:a16="http://schemas.microsoft.com/office/drawing/2014/main" id="{F1C14792-BF6A-0670-93D6-E516C2FCCA19}"/>
              </a:ext>
            </a:extLst>
          </p:cNvPr>
          <p:cNvSpPr/>
          <p:nvPr/>
        </p:nvSpPr>
        <p:spPr>
          <a:xfrm>
            <a:off x="1523507" y="3348647"/>
            <a:ext cx="2453465" cy="1712823"/>
          </a:xfrm>
          <a:prstGeom prst="rect">
            <a:avLst/>
          </a:prstGeom>
          <a:blipFill>
            <a:blip r:embed="rId4" cstate="print">
              <a:duotone>
                <a:prstClr val="black"/>
                <a:schemeClr val="accent5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060323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5947EF50-442B-4B91-BC5D-8A7C6E979C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361" y="966071"/>
            <a:ext cx="3412623" cy="1146448"/>
          </a:xfrm>
        </p:spPr>
        <p:txBody>
          <a:bodyPr anchor="b"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Relation graphique entre le prix et le </a:t>
            </a:r>
            <a:r>
              <a:rPr lang="en-US" altLang="en-US" sz="2000" dirty="0" err="1"/>
              <a:t>rendement</a:t>
            </a:r>
            <a:r>
              <a:rPr lang="en-US" altLang="en-US" sz="2000" dirty="0"/>
              <a:t> à l'échéance</a:t>
            </a:r>
          </a:p>
        </p:txBody>
      </p:sp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24B8CCBC-567B-42AA-8AC2-A70541A4D32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5361" y="2324525"/>
            <a:ext cx="3384376" cy="4248472"/>
          </a:xfrm>
        </p:spPr>
        <p:txBody>
          <a:bodyPr>
            <a:normAutofit/>
          </a:bodyPr>
          <a:lstStyle/>
          <a:p>
            <a:r>
              <a:rPr lang="fr-CA" sz="1800" dirty="0">
                <a:solidFill>
                  <a:srgbClr val="0F8D36"/>
                </a:solidFill>
              </a:rPr>
              <a:t> 🚨 </a:t>
            </a:r>
            <a:r>
              <a:rPr lang="fr-CA" sz="1800" b="1" dirty="0"/>
              <a:t>Toutes les obligations sont émises à leur valeur nominale</a:t>
            </a:r>
            <a:r>
              <a:rPr lang="fr-CA" sz="1800" dirty="0"/>
              <a:t>...</a:t>
            </a:r>
          </a:p>
          <a:p>
            <a:endParaRPr lang="fr-CA" sz="1600" dirty="0"/>
          </a:p>
          <a:p>
            <a:r>
              <a:rPr lang="fr-CA" sz="2000" dirty="0">
                <a:solidFill>
                  <a:srgbClr val="0F8D36"/>
                </a:solidFill>
              </a:rPr>
              <a:t> 🚨 </a:t>
            </a:r>
            <a:r>
              <a:rPr lang="fr-CA" sz="2000" b="1" dirty="0"/>
              <a:t>Pourquoi </a:t>
            </a:r>
            <a:r>
              <a:rPr lang="fr-CA" sz="2000" dirty="0"/>
              <a:t>certaines obligations se négocient-elles à un prix supérieur à leur valeur nominale de 1000 $, tandis que d'autres se négocient à un prix inférieur ou même égal à leur valeur nominale ?</a:t>
            </a:r>
          </a:p>
          <a:p>
            <a:endParaRPr lang="fr-CA" sz="1600" dirty="0"/>
          </a:p>
          <a:p>
            <a:endParaRPr lang="fr-CA" sz="2000" dirty="0"/>
          </a:p>
          <a:p>
            <a:endParaRPr lang="fr-CA" sz="1600" dirty="0"/>
          </a:p>
          <a:p>
            <a:endParaRPr lang="fr-CA" sz="1600" dirty="0"/>
          </a:p>
          <a:p>
            <a:endParaRPr lang="en-US" sz="1600" dirty="0"/>
          </a:p>
          <a:p>
            <a:endParaRPr lang="en-US" sz="1600" dirty="0"/>
          </a:p>
        </p:txBody>
      </p:sp>
      <p:sp>
        <p:nvSpPr>
          <p:cNvPr id="76" name="Slide Number Placeholder 4">
            <a:extLst>
              <a:ext uri="{FF2B5EF4-FFF2-40B4-BE49-F238E27FC236}">
                <a16:creationId xmlns:a16="http://schemas.microsoft.com/office/drawing/2014/main" id="{7333AA68-1DB5-4834-8F58-A7F1195F4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51B73766-C40F-49C3-AE03-209F8EEFC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7848" y="6217709"/>
            <a:ext cx="3296708" cy="501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987" tIns="44993" rIns="89987" bIns="44993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en-US" altLang="en-US" sz="2667"/>
          </a:p>
        </p:txBody>
      </p:sp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84CD7A34-4F4E-4AFF-A316-915F63F366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6514739"/>
              </p:ext>
            </p:extLst>
          </p:nvPr>
        </p:nvGraphicFramePr>
        <p:xfrm>
          <a:off x="4510388" y="1196752"/>
          <a:ext cx="56388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Picture 7">
            <a:extLst>
              <a:ext uri="{FF2B5EF4-FFF2-40B4-BE49-F238E27FC236}">
                <a16:creationId xmlns:a16="http://schemas.microsoft.com/office/drawing/2014/main" id="{C791B974-1BD9-735F-661E-1CAF446711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47928" y="762423"/>
            <a:ext cx="1191498" cy="101575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" name="Picture 2" descr="Important ">
            <a:extLst>
              <a:ext uri="{FF2B5EF4-FFF2-40B4-BE49-F238E27FC236}">
                <a16:creationId xmlns:a16="http://schemas.microsoft.com/office/drawing/2014/main" id="{22B22C52-0066-276F-BF17-924C6A819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7551" y="688876"/>
            <a:ext cx="1457879" cy="145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dirty="0"/>
              <a:t>Obligations à prime, à escompte et au pair</a:t>
            </a:r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07C2F0C-A6A4-44C9-B109-8FE1FD9A5A06}" type="slidenum">
              <a:rPr lang="fr-CA" sz="1600">
                <a:solidFill>
                  <a:srgbClr val="8CADAE">
                    <a:shade val="75000"/>
                  </a:srgbClr>
                </a:solidFill>
                <a:latin typeface="Georgia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18</a:t>
            </a:fld>
            <a:endParaRPr lang="fr-CA" sz="1600">
              <a:solidFill>
                <a:srgbClr val="8CADAE">
                  <a:shade val="75000"/>
                </a:srgbClr>
              </a:solidFill>
              <a:latin typeface="Georgia"/>
            </a:endParaRP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034341862"/>
              </p:ext>
            </p:extLst>
          </p:nvPr>
        </p:nvGraphicFramePr>
        <p:xfrm>
          <a:off x="402340" y="1916832"/>
          <a:ext cx="11255994" cy="4427566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37519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19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1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970">
                <a:tc>
                  <a:txBody>
                    <a:bodyPr/>
                    <a:lstStyle/>
                    <a:p>
                      <a:pPr algn="ctr"/>
                      <a:endParaRPr lang="fr-CA" sz="2400" dirty="0"/>
                    </a:p>
                    <a:p>
                      <a:pPr algn="ctr"/>
                      <a:r>
                        <a:rPr lang="fr-CA" sz="2400" dirty="0"/>
                        <a:t>Escompte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400" dirty="0"/>
                    </a:p>
                    <a:p>
                      <a:pPr algn="ctr"/>
                      <a:r>
                        <a:rPr lang="fr-CA" sz="2400" dirty="0"/>
                        <a:t>Prime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400" dirty="0"/>
                    </a:p>
                    <a:p>
                      <a:pPr algn="ctr"/>
                      <a:r>
                        <a:rPr lang="fr-CA" sz="2400" dirty="0"/>
                        <a:t>Au pair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43">
                <a:tc>
                  <a:txBody>
                    <a:bodyPr/>
                    <a:lstStyle/>
                    <a:p>
                      <a:pPr algn="ctr"/>
                      <a:endParaRPr lang="fr-CA" sz="1800" dirty="0"/>
                    </a:p>
                    <a:p>
                      <a:pPr algn="ctr"/>
                      <a:r>
                        <a:rPr lang="fr-CA" sz="1800" dirty="0"/>
                        <a:t>CR </a:t>
                      </a:r>
                      <a:r>
                        <a:rPr lang="fr-CA" sz="1800" b="1" dirty="0"/>
                        <a:t>&lt; </a:t>
                      </a:r>
                      <a:r>
                        <a:rPr lang="fr-CA" sz="1800" baseline="0" dirty="0"/>
                        <a:t>RAÉ</a:t>
                      </a:r>
                      <a:endParaRPr lang="fr-CA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1800" dirty="0"/>
                    </a:p>
                    <a:p>
                      <a:pPr algn="ctr"/>
                      <a:r>
                        <a:rPr lang="fr-CA" sz="1800" dirty="0"/>
                        <a:t>CR &gt; </a:t>
                      </a:r>
                      <a:r>
                        <a:rPr lang="fr-CA" sz="1800" baseline="0" dirty="0"/>
                        <a:t>RAÉ</a:t>
                      </a:r>
                      <a:endParaRPr lang="fr-CA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1800" dirty="0"/>
                    </a:p>
                    <a:p>
                      <a:pPr algn="ctr"/>
                      <a:r>
                        <a:rPr lang="fr-CA" sz="1800" dirty="0"/>
                        <a:t>CR = RAÉ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141">
                <a:tc>
                  <a:txBody>
                    <a:bodyPr/>
                    <a:lstStyle/>
                    <a:p>
                      <a:pPr algn="ctr"/>
                      <a:r>
                        <a:rPr lang="fr-CA" sz="1800" dirty="0" err="1"/>
                        <a:t>Intérêt offert</a:t>
                      </a:r>
                      <a:endParaRPr lang="fr-CA" sz="1800" dirty="0"/>
                    </a:p>
                    <a:p>
                      <a:pPr algn="ctr"/>
                      <a:r>
                        <a:rPr lang="fr-CA" sz="1800" b="1" dirty="0"/>
                        <a:t>&lt;</a:t>
                      </a:r>
                    </a:p>
                    <a:p>
                      <a:pPr algn="ctr"/>
                      <a:r>
                        <a:rPr lang="fr-CA" sz="1800" baseline="0" dirty="0"/>
                        <a:t>taux de rendement requis</a:t>
                      </a:r>
                      <a:endParaRPr lang="fr-CA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 err="1"/>
                        <a:t>Intérêt offert</a:t>
                      </a:r>
                      <a:endParaRPr lang="fr-CA" sz="1800" dirty="0"/>
                    </a:p>
                    <a:p>
                      <a:pPr algn="ctr"/>
                      <a:r>
                        <a:rPr lang="fr-CA" sz="1800" dirty="0"/>
                        <a:t>&gt; </a:t>
                      </a:r>
                    </a:p>
                    <a:p>
                      <a:pPr algn="ctr"/>
                      <a:r>
                        <a:rPr lang="fr-CA" sz="1800" baseline="0" dirty="0"/>
                        <a:t>taux de rendement requis</a:t>
                      </a:r>
                      <a:endParaRPr lang="fr-CA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800" dirty="0" err="1"/>
                        <a:t>Intérêt offert</a:t>
                      </a:r>
                      <a:endParaRPr lang="fr-CA" sz="1800" dirty="0"/>
                    </a:p>
                    <a:p>
                      <a:pPr algn="ctr"/>
                      <a:r>
                        <a:rPr lang="fr-CA" sz="1800" baseline="0" dirty="0"/>
                        <a:t>=</a:t>
                      </a:r>
                    </a:p>
                    <a:p>
                      <a:pPr algn="ctr"/>
                      <a:r>
                        <a:rPr lang="fr-CA" sz="1800" baseline="0" dirty="0"/>
                        <a:t>taux de rendement </a:t>
                      </a:r>
                      <a:r>
                        <a:rPr lang="fr-CA" sz="1800" baseline="0" dirty="0" err="1"/>
                        <a:t>requis</a:t>
                      </a:r>
                      <a:endParaRPr lang="fr-CA" sz="18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141"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Pour compenser, nous devons offrir une remise sur le prix.</a:t>
                      </a:r>
                      <a:endParaRPr lang="fr-CA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Les investisseurs sont prêts à payer plus pour l'obtenir.</a:t>
                      </a:r>
                      <a:endParaRPr lang="fr-CA" sz="18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800" dirty="0"/>
                        <a:t>Les investisseurs sont prêts à payer la valeur nominale.</a:t>
                      </a:r>
                      <a:endParaRPr lang="fr-CA" sz="1800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141">
                <a:tc>
                  <a:txBody>
                    <a:bodyPr/>
                    <a:lstStyle/>
                    <a:p>
                      <a:pPr algn="ctr"/>
                      <a:endParaRPr lang="fr-CA" sz="2000" b="1" dirty="0"/>
                    </a:p>
                    <a:p>
                      <a:pPr algn="ctr"/>
                      <a:r>
                        <a:rPr lang="fr-CA" sz="2000" b="1" dirty="0"/>
                        <a:t>Prix &lt; </a:t>
                      </a:r>
                      <a:r>
                        <a:rPr lang="fr-CA" sz="2000" b="1" baseline="0" dirty="0"/>
                        <a:t>Valeur nominale</a:t>
                      </a:r>
                      <a:endParaRPr lang="fr-CA" sz="2000" b="1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b="1" dirty="0"/>
                    </a:p>
                    <a:p>
                      <a:pPr algn="ctr"/>
                      <a:r>
                        <a:rPr lang="fr-CA" sz="2000" b="1" dirty="0"/>
                        <a:t>Prix &gt; </a:t>
                      </a:r>
                      <a:r>
                        <a:rPr lang="fr-CA" sz="2000" b="1" baseline="0" dirty="0"/>
                        <a:t>Valeur nominale</a:t>
                      </a:r>
                      <a:endParaRPr lang="fr-CA" sz="2000" b="1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fr-CA" sz="2000" b="1" dirty="0"/>
                    </a:p>
                    <a:p>
                      <a:pPr algn="ctr"/>
                      <a:r>
                        <a:rPr lang="fr-CA" sz="2000" b="1" dirty="0"/>
                        <a:t>Prix </a:t>
                      </a:r>
                      <a:r>
                        <a:rPr lang="fr-CA" sz="2000" b="1" baseline="0" dirty="0"/>
                        <a:t>= Valeur nominale</a:t>
                      </a:r>
                      <a:endParaRPr lang="fr-CA" sz="2000" b="1" dirty="0"/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2" descr="Important ">
            <a:extLst>
              <a:ext uri="{FF2B5EF4-FFF2-40B4-BE49-F238E27FC236}">
                <a16:creationId xmlns:a16="http://schemas.microsoft.com/office/drawing/2014/main" id="{89935208-4A6F-A787-10CB-A9D22E153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0455" y="297439"/>
            <a:ext cx="1457879" cy="145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2C75356-3098-4A84-DD17-287B3A635701}"/>
              </a:ext>
            </a:extLst>
          </p:cNvPr>
          <p:cNvSpPr/>
          <p:nvPr/>
        </p:nvSpPr>
        <p:spPr>
          <a:xfrm>
            <a:off x="533666" y="2132856"/>
            <a:ext cx="11034942" cy="1296144"/>
          </a:xfrm>
          <a:custGeom>
            <a:avLst/>
            <a:gdLst>
              <a:gd name="csX0" fmla="*/ 0 w 11034942"/>
              <a:gd name="csY0" fmla="*/ 0 h 1296144"/>
              <a:gd name="csX1" fmla="*/ 910383 w 11034942"/>
              <a:gd name="csY1" fmla="*/ 0 h 1296144"/>
              <a:gd name="csX2" fmla="*/ 1489717 w 11034942"/>
              <a:gd name="csY2" fmla="*/ 0 h 1296144"/>
              <a:gd name="csX3" fmla="*/ 2069052 w 11034942"/>
              <a:gd name="csY3" fmla="*/ 0 h 1296144"/>
              <a:gd name="csX4" fmla="*/ 2427687 w 11034942"/>
              <a:gd name="csY4" fmla="*/ 0 h 1296144"/>
              <a:gd name="csX5" fmla="*/ 3227721 w 11034942"/>
              <a:gd name="csY5" fmla="*/ 0 h 1296144"/>
              <a:gd name="csX6" fmla="*/ 4138103 w 11034942"/>
              <a:gd name="csY6" fmla="*/ 0 h 1296144"/>
              <a:gd name="csX7" fmla="*/ 4496739 w 11034942"/>
              <a:gd name="csY7" fmla="*/ 0 h 1296144"/>
              <a:gd name="csX8" fmla="*/ 4965724 w 11034942"/>
              <a:gd name="csY8" fmla="*/ 0 h 1296144"/>
              <a:gd name="csX9" fmla="*/ 5324360 w 11034942"/>
              <a:gd name="csY9" fmla="*/ 0 h 1296144"/>
              <a:gd name="csX10" fmla="*/ 5682995 w 11034942"/>
              <a:gd name="csY10" fmla="*/ 0 h 1296144"/>
              <a:gd name="csX11" fmla="*/ 6151980 w 11034942"/>
              <a:gd name="csY11" fmla="*/ 0 h 1296144"/>
              <a:gd name="csX12" fmla="*/ 7062363 w 11034942"/>
              <a:gd name="csY12" fmla="*/ 0 h 1296144"/>
              <a:gd name="csX13" fmla="*/ 7420998 w 11034942"/>
              <a:gd name="csY13" fmla="*/ 0 h 1296144"/>
              <a:gd name="csX14" fmla="*/ 7889984 w 11034942"/>
              <a:gd name="csY14" fmla="*/ 0 h 1296144"/>
              <a:gd name="csX15" fmla="*/ 8469318 w 11034942"/>
              <a:gd name="csY15" fmla="*/ 0 h 1296144"/>
              <a:gd name="csX16" fmla="*/ 9048652 w 11034942"/>
              <a:gd name="csY16" fmla="*/ 0 h 1296144"/>
              <a:gd name="csX17" fmla="*/ 9517637 w 11034942"/>
              <a:gd name="csY17" fmla="*/ 0 h 1296144"/>
              <a:gd name="csX18" fmla="*/ 10096972 w 11034942"/>
              <a:gd name="csY18" fmla="*/ 0 h 1296144"/>
              <a:gd name="csX19" fmla="*/ 11034942 w 11034942"/>
              <a:gd name="csY19" fmla="*/ 0 h 1296144"/>
              <a:gd name="csX20" fmla="*/ 11034942 w 11034942"/>
              <a:gd name="csY20" fmla="*/ 661033 h 1296144"/>
              <a:gd name="csX21" fmla="*/ 11034942 w 11034942"/>
              <a:gd name="csY21" fmla="*/ 1296144 h 1296144"/>
              <a:gd name="csX22" fmla="*/ 10455608 w 11034942"/>
              <a:gd name="csY22" fmla="*/ 1296144 h 1296144"/>
              <a:gd name="csX23" fmla="*/ 9986623 w 11034942"/>
              <a:gd name="csY23" fmla="*/ 1296144 h 1296144"/>
              <a:gd name="csX24" fmla="*/ 9517637 w 11034942"/>
              <a:gd name="csY24" fmla="*/ 1296144 h 1296144"/>
              <a:gd name="csX25" fmla="*/ 9048652 w 11034942"/>
              <a:gd name="csY25" fmla="*/ 1296144 h 1296144"/>
              <a:gd name="csX26" fmla="*/ 8358969 w 11034942"/>
              <a:gd name="csY26" fmla="*/ 1296144 h 1296144"/>
              <a:gd name="csX27" fmla="*/ 7889984 w 11034942"/>
              <a:gd name="csY27" fmla="*/ 1296144 h 1296144"/>
              <a:gd name="csX28" fmla="*/ 7420998 w 11034942"/>
              <a:gd name="csY28" fmla="*/ 1296144 h 1296144"/>
              <a:gd name="csX29" fmla="*/ 6841664 w 11034942"/>
              <a:gd name="csY29" fmla="*/ 1296144 h 1296144"/>
              <a:gd name="csX30" fmla="*/ 6372679 w 11034942"/>
              <a:gd name="csY30" fmla="*/ 1296144 h 1296144"/>
              <a:gd name="csX31" fmla="*/ 5572646 w 11034942"/>
              <a:gd name="csY31" fmla="*/ 1296144 h 1296144"/>
              <a:gd name="csX32" fmla="*/ 4772612 w 11034942"/>
              <a:gd name="csY32" fmla="*/ 1296144 h 1296144"/>
              <a:gd name="csX33" fmla="*/ 4082929 w 11034942"/>
              <a:gd name="csY33" fmla="*/ 1296144 h 1296144"/>
              <a:gd name="csX34" fmla="*/ 3724293 w 11034942"/>
              <a:gd name="csY34" fmla="*/ 1296144 h 1296144"/>
              <a:gd name="csX35" fmla="*/ 3144958 w 11034942"/>
              <a:gd name="csY35" fmla="*/ 1296144 h 1296144"/>
              <a:gd name="csX36" fmla="*/ 2234576 w 11034942"/>
              <a:gd name="csY36" fmla="*/ 1296144 h 1296144"/>
              <a:gd name="csX37" fmla="*/ 1655241 w 11034942"/>
              <a:gd name="csY37" fmla="*/ 1296144 h 1296144"/>
              <a:gd name="csX38" fmla="*/ 1075907 w 11034942"/>
              <a:gd name="csY38" fmla="*/ 1296144 h 1296144"/>
              <a:gd name="csX39" fmla="*/ 0 w 11034942"/>
              <a:gd name="csY39" fmla="*/ 1296144 h 1296144"/>
              <a:gd name="csX40" fmla="*/ 0 w 11034942"/>
              <a:gd name="csY40" fmla="*/ 673995 h 1296144"/>
              <a:gd name="csX41" fmla="*/ 0 w 11034942"/>
              <a:gd name="csY41" fmla="*/ 0 h 12961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1034942" h="1296144" extrusionOk="0">
                <a:moveTo>
                  <a:pt x="0" y="0"/>
                </a:moveTo>
                <a:cubicBezTo>
                  <a:pt x="426934" y="25713"/>
                  <a:pt x="462075" y="-26562"/>
                  <a:pt x="910383" y="0"/>
                </a:cubicBezTo>
                <a:cubicBezTo>
                  <a:pt x="1358691" y="26562"/>
                  <a:pt x="1245466" y="-7855"/>
                  <a:pt x="1489717" y="0"/>
                </a:cubicBezTo>
                <a:cubicBezTo>
                  <a:pt x="1733968" y="7855"/>
                  <a:pt x="1814734" y="-18423"/>
                  <a:pt x="2069052" y="0"/>
                </a:cubicBezTo>
                <a:cubicBezTo>
                  <a:pt x="2323371" y="18423"/>
                  <a:pt x="2273718" y="2827"/>
                  <a:pt x="2427687" y="0"/>
                </a:cubicBezTo>
                <a:cubicBezTo>
                  <a:pt x="2581657" y="-2827"/>
                  <a:pt x="2910022" y="-632"/>
                  <a:pt x="3227721" y="0"/>
                </a:cubicBezTo>
                <a:cubicBezTo>
                  <a:pt x="3545420" y="632"/>
                  <a:pt x="3922706" y="-6142"/>
                  <a:pt x="4138103" y="0"/>
                </a:cubicBezTo>
                <a:cubicBezTo>
                  <a:pt x="4353500" y="6142"/>
                  <a:pt x="4364328" y="13104"/>
                  <a:pt x="4496739" y="0"/>
                </a:cubicBezTo>
                <a:cubicBezTo>
                  <a:pt x="4629150" y="-13104"/>
                  <a:pt x="4789821" y="-9312"/>
                  <a:pt x="4965724" y="0"/>
                </a:cubicBezTo>
                <a:cubicBezTo>
                  <a:pt x="5141627" y="9312"/>
                  <a:pt x="5220671" y="4689"/>
                  <a:pt x="5324360" y="0"/>
                </a:cubicBezTo>
                <a:cubicBezTo>
                  <a:pt x="5428049" y="-4689"/>
                  <a:pt x="5522577" y="-5424"/>
                  <a:pt x="5682995" y="0"/>
                </a:cubicBezTo>
                <a:cubicBezTo>
                  <a:pt x="5843414" y="5424"/>
                  <a:pt x="5956869" y="23079"/>
                  <a:pt x="6151980" y="0"/>
                </a:cubicBezTo>
                <a:cubicBezTo>
                  <a:pt x="6347092" y="-23079"/>
                  <a:pt x="6798950" y="31498"/>
                  <a:pt x="7062363" y="0"/>
                </a:cubicBezTo>
                <a:cubicBezTo>
                  <a:pt x="7325776" y="-31498"/>
                  <a:pt x="7255464" y="-7679"/>
                  <a:pt x="7420998" y="0"/>
                </a:cubicBezTo>
                <a:cubicBezTo>
                  <a:pt x="7586533" y="7679"/>
                  <a:pt x="7703216" y="11927"/>
                  <a:pt x="7889984" y="0"/>
                </a:cubicBezTo>
                <a:cubicBezTo>
                  <a:pt x="8076752" y="-11927"/>
                  <a:pt x="8293002" y="-16239"/>
                  <a:pt x="8469318" y="0"/>
                </a:cubicBezTo>
                <a:cubicBezTo>
                  <a:pt x="8645634" y="16239"/>
                  <a:pt x="8839554" y="21219"/>
                  <a:pt x="9048652" y="0"/>
                </a:cubicBezTo>
                <a:cubicBezTo>
                  <a:pt x="9257750" y="-21219"/>
                  <a:pt x="9337027" y="-16149"/>
                  <a:pt x="9517637" y="0"/>
                </a:cubicBezTo>
                <a:cubicBezTo>
                  <a:pt x="9698247" y="16149"/>
                  <a:pt x="9913621" y="3412"/>
                  <a:pt x="10096972" y="0"/>
                </a:cubicBezTo>
                <a:cubicBezTo>
                  <a:pt x="10280324" y="-3412"/>
                  <a:pt x="10600118" y="2913"/>
                  <a:pt x="11034942" y="0"/>
                </a:cubicBezTo>
                <a:cubicBezTo>
                  <a:pt x="11037958" y="251231"/>
                  <a:pt x="11032712" y="360925"/>
                  <a:pt x="11034942" y="661033"/>
                </a:cubicBezTo>
                <a:cubicBezTo>
                  <a:pt x="11037172" y="961141"/>
                  <a:pt x="11031738" y="1153628"/>
                  <a:pt x="11034942" y="1296144"/>
                </a:cubicBezTo>
                <a:cubicBezTo>
                  <a:pt x="10783068" y="1267299"/>
                  <a:pt x="10687970" y="1294026"/>
                  <a:pt x="10455608" y="1296144"/>
                </a:cubicBezTo>
                <a:cubicBezTo>
                  <a:pt x="10223246" y="1298262"/>
                  <a:pt x="10172611" y="1277876"/>
                  <a:pt x="9986623" y="1296144"/>
                </a:cubicBezTo>
                <a:cubicBezTo>
                  <a:pt x="9800635" y="1314412"/>
                  <a:pt x="9614681" y="1288260"/>
                  <a:pt x="9517637" y="1296144"/>
                </a:cubicBezTo>
                <a:cubicBezTo>
                  <a:pt x="9420593" y="1304028"/>
                  <a:pt x="9164857" y="1297855"/>
                  <a:pt x="9048652" y="1296144"/>
                </a:cubicBezTo>
                <a:cubicBezTo>
                  <a:pt x="8932447" y="1294433"/>
                  <a:pt x="8626809" y="1273529"/>
                  <a:pt x="8358969" y="1296144"/>
                </a:cubicBezTo>
                <a:cubicBezTo>
                  <a:pt x="8091129" y="1318759"/>
                  <a:pt x="8033744" y="1289148"/>
                  <a:pt x="7889984" y="1296144"/>
                </a:cubicBezTo>
                <a:cubicBezTo>
                  <a:pt x="7746225" y="1303140"/>
                  <a:pt x="7646340" y="1272988"/>
                  <a:pt x="7420998" y="1296144"/>
                </a:cubicBezTo>
                <a:cubicBezTo>
                  <a:pt x="7195656" y="1319300"/>
                  <a:pt x="7116710" y="1316690"/>
                  <a:pt x="6841664" y="1296144"/>
                </a:cubicBezTo>
                <a:cubicBezTo>
                  <a:pt x="6566618" y="1275598"/>
                  <a:pt x="6482078" y="1313841"/>
                  <a:pt x="6372679" y="1296144"/>
                </a:cubicBezTo>
                <a:cubicBezTo>
                  <a:pt x="6263280" y="1278447"/>
                  <a:pt x="5773656" y="1274760"/>
                  <a:pt x="5572646" y="1296144"/>
                </a:cubicBezTo>
                <a:cubicBezTo>
                  <a:pt x="5371636" y="1317528"/>
                  <a:pt x="4973333" y="1286114"/>
                  <a:pt x="4772612" y="1296144"/>
                </a:cubicBezTo>
                <a:cubicBezTo>
                  <a:pt x="4571891" y="1306174"/>
                  <a:pt x="4322793" y="1313618"/>
                  <a:pt x="4082929" y="1296144"/>
                </a:cubicBezTo>
                <a:cubicBezTo>
                  <a:pt x="3843065" y="1278670"/>
                  <a:pt x="3839586" y="1296634"/>
                  <a:pt x="3724293" y="1296144"/>
                </a:cubicBezTo>
                <a:cubicBezTo>
                  <a:pt x="3609000" y="1295654"/>
                  <a:pt x="3309091" y="1307848"/>
                  <a:pt x="3144958" y="1296144"/>
                </a:cubicBezTo>
                <a:cubicBezTo>
                  <a:pt x="2980826" y="1284440"/>
                  <a:pt x="2535800" y="1269244"/>
                  <a:pt x="2234576" y="1296144"/>
                </a:cubicBezTo>
                <a:cubicBezTo>
                  <a:pt x="1933352" y="1323044"/>
                  <a:pt x="1899029" y="1321158"/>
                  <a:pt x="1655241" y="1296144"/>
                </a:cubicBezTo>
                <a:cubicBezTo>
                  <a:pt x="1411453" y="1271130"/>
                  <a:pt x="1201096" y="1287138"/>
                  <a:pt x="1075907" y="1296144"/>
                </a:cubicBezTo>
                <a:cubicBezTo>
                  <a:pt x="950718" y="1305150"/>
                  <a:pt x="222606" y="1305293"/>
                  <a:pt x="0" y="1296144"/>
                </a:cubicBezTo>
                <a:cubicBezTo>
                  <a:pt x="-18356" y="1081344"/>
                  <a:pt x="-3283" y="816713"/>
                  <a:pt x="0" y="673995"/>
                </a:cubicBezTo>
                <a:cubicBezTo>
                  <a:pt x="3283" y="531277"/>
                  <a:pt x="19204" y="325887"/>
                  <a:pt x="0" y="0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204364782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92D9CD-D51D-1983-529D-B49CCEEA80B0}"/>
              </a:ext>
            </a:extLst>
          </p:cNvPr>
          <p:cNvSpPr/>
          <p:nvPr/>
        </p:nvSpPr>
        <p:spPr>
          <a:xfrm>
            <a:off x="533666" y="5589240"/>
            <a:ext cx="11034942" cy="683150"/>
          </a:xfrm>
          <a:custGeom>
            <a:avLst/>
            <a:gdLst>
              <a:gd name="csX0" fmla="*/ 0 w 11034942"/>
              <a:gd name="csY0" fmla="*/ 0 h 683150"/>
              <a:gd name="csX1" fmla="*/ 910383 w 11034942"/>
              <a:gd name="csY1" fmla="*/ 0 h 683150"/>
              <a:gd name="csX2" fmla="*/ 1489717 w 11034942"/>
              <a:gd name="csY2" fmla="*/ 0 h 683150"/>
              <a:gd name="csX3" fmla="*/ 2069052 w 11034942"/>
              <a:gd name="csY3" fmla="*/ 0 h 683150"/>
              <a:gd name="csX4" fmla="*/ 2427687 w 11034942"/>
              <a:gd name="csY4" fmla="*/ 0 h 683150"/>
              <a:gd name="csX5" fmla="*/ 3227721 w 11034942"/>
              <a:gd name="csY5" fmla="*/ 0 h 683150"/>
              <a:gd name="csX6" fmla="*/ 4138103 w 11034942"/>
              <a:gd name="csY6" fmla="*/ 0 h 683150"/>
              <a:gd name="csX7" fmla="*/ 4496739 w 11034942"/>
              <a:gd name="csY7" fmla="*/ 0 h 683150"/>
              <a:gd name="csX8" fmla="*/ 4965724 w 11034942"/>
              <a:gd name="csY8" fmla="*/ 0 h 683150"/>
              <a:gd name="csX9" fmla="*/ 5324360 w 11034942"/>
              <a:gd name="csY9" fmla="*/ 0 h 683150"/>
              <a:gd name="csX10" fmla="*/ 5682995 w 11034942"/>
              <a:gd name="csY10" fmla="*/ 0 h 683150"/>
              <a:gd name="csX11" fmla="*/ 6151980 w 11034942"/>
              <a:gd name="csY11" fmla="*/ 0 h 683150"/>
              <a:gd name="csX12" fmla="*/ 7062363 w 11034942"/>
              <a:gd name="csY12" fmla="*/ 0 h 683150"/>
              <a:gd name="csX13" fmla="*/ 7420998 w 11034942"/>
              <a:gd name="csY13" fmla="*/ 0 h 683150"/>
              <a:gd name="csX14" fmla="*/ 7889984 w 11034942"/>
              <a:gd name="csY14" fmla="*/ 0 h 683150"/>
              <a:gd name="csX15" fmla="*/ 8469318 w 11034942"/>
              <a:gd name="csY15" fmla="*/ 0 h 683150"/>
              <a:gd name="csX16" fmla="*/ 9048652 w 11034942"/>
              <a:gd name="csY16" fmla="*/ 0 h 683150"/>
              <a:gd name="csX17" fmla="*/ 9517637 w 11034942"/>
              <a:gd name="csY17" fmla="*/ 0 h 683150"/>
              <a:gd name="csX18" fmla="*/ 10096972 w 11034942"/>
              <a:gd name="csY18" fmla="*/ 0 h 683150"/>
              <a:gd name="csX19" fmla="*/ 11034942 w 11034942"/>
              <a:gd name="csY19" fmla="*/ 0 h 683150"/>
              <a:gd name="csX20" fmla="*/ 11034942 w 11034942"/>
              <a:gd name="csY20" fmla="*/ 683150 h 683150"/>
              <a:gd name="csX21" fmla="*/ 10234909 w 11034942"/>
              <a:gd name="csY21" fmla="*/ 683150 h 683150"/>
              <a:gd name="csX22" fmla="*/ 9545225 w 11034942"/>
              <a:gd name="csY22" fmla="*/ 683150 h 683150"/>
              <a:gd name="csX23" fmla="*/ 9076240 w 11034942"/>
              <a:gd name="csY23" fmla="*/ 683150 h 683150"/>
              <a:gd name="csX24" fmla="*/ 8607255 w 11034942"/>
              <a:gd name="csY24" fmla="*/ 683150 h 683150"/>
              <a:gd name="csX25" fmla="*/ 8138270 w 11034942"/>
              <a:gd name="csY25" fmla="*/ 683150 h 683150"/>
              <a:gd name="csX26" fmla="*/ 7448586 w 11034942"/>
              <a:gd name="csY26" fmla="*/ 683150 h 683150"/>
              <a:gd name="csX27" fmla="*/ 6979601 w 11034942"/>
              <a:gd name="csY27" fmla="*/ 683150 h 683150"/>
              <a:gd name="csX28" fmla="*/ 6510616 w 11034942"/>
              <a:gd name="csY28" fmla="*/ 683150 h 683150"/>
              <a:gd name="csX29" fmla="*/ 5931281 w 11034942"/>
              <a:gd name="csY29" fmla="*/ 683150 h 683150"/>
              <a:gd name="csX30" fmla="*/ 5462296 w 11034942"/>
              <a:gd name="csY30" fmla="*/ 683150 h 683150"/>
              <a:gd name="csX31" fmla="*/ 4662263 w 11034942"/>
              <a:gd name="csY31" fmla="*/ 683150 h 683150"/>
              <a:gd name="csX32" fmla="*/ 3862230 w 11034942"/>
              <a:gd name="csY32" fmla="*/ 683150 h 683150"/>
              <a:gd name="csX33" fmla="*/ 3172546 w 11034942"/>
              <a:gd name="csY33" fmla="*/ 683150 h 683150"/>
              <a:gd name="csX34" fmla="*/ 2813910 w 11034942"/>
              <a:gd name="csY34" fmla="*/ 683150 h 683150"/>
              <a:gd name="csX35" fmla="*/ 2234576 w 11034942"/>
              <a:gd name="csY35" fmla="*/ 683150 h 683150"/>
              <a:gd name="csX36" fmla="*/ 1324193 w 11034942"/>
              <a:gd name="csY36" fmla="*/ 683150 h 683150"/>
              <a:gd name="csX37" fmla="*/ 744859 w 11034942"/>
              <a:gd name="csY37" fmla="*/ 683150 h 683150"/>
              <a:gd name="csX38" fmla="*/ 0 w 11034942"/>
              <a:gd name="csY38" fmla="*/ 683150 h 683150"/>
              <a:gd name="csX39" fmla="*/ 0 w 11034942"/>
              <a:gd name="csY39" fmla="*/ 0 h 6831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1034942" h="683150" extrusionOk="0">
                <a:moveTo>
                  <a:pt x="0" y="0"/>
                </a:moveTo>
                <a:cubicBezTo>
                  <a:pt x="426934" y="25713"/>
                  <a:pt x="462075" y="-26562"/>
                  <a:pt x="910383" y="0"/>
                </a:cubicBezTo>
                <a:cubicBezTo>
                  <a:pt x="1358691" y="26562"/>
                  <a:pt x="1245466" y="-7855"/>
                  <a:pt x="1489717" y="0"/>
                </a:cubicBezTo>
                <a:cubicBezTo>
                  <a:pt x="1733968" y="7855"/>
                  <a:pt x="1814734" y="-18423"/>
                  <a:pt x="2069052" y="0"/>
                </a:cubicBezTo>
                <a:cubicBezTo>
                  <a:pt x="2323371" y="18423"/>
                  <a:pt x="2273718" y="2827"/>
                  <a:pt x="2427687" y="0"/>
                </a:cubicBezTo>
                <a:cubicBezTo>
                  <a:pt x="2581657" y="-2827"/>
                  <a:pt x="2910022" y="-632"/>
                  <a:pt x="3227721" y="0"/>
                </a:cubicBezTo>
                <a:cubicBezTo>
                  <a:pt x="3545420" y="632"/>
                  <a:pt x="3922706" y="-6142"/>
                  <a:pt x="4138103" y="0"/>
                </a:cubicBezTo>
                <a:cubicBezTo>
                  <a:pt x="4353500" y="6142"/>
                  <a:pt x="4364328" y="13104"/>
                  <a:pt x="4496739" y="0"/>
                </a:cubicBezTo>
                <a:cubicBezTo>
                  <a:pt x="4629150" y="-13104"/>
                  <a:pt x="4789821" y="-9312"/>
                  <a:pt x="4965724" y="0"/>
                </a:cubicBezTo>
                <a:cubicBezTo>
                  <a:pt x="5141627" y="9312"/>
                  <a:pt x="5220671" y="4689"/>
                  <a:pt x="5324360" y="0"/>
                </a:cubicBezTo>
                <a:cubicBezTo>
                  <a:pt x="5428049" y="-4689"/>
                  <a:pt x="5522577" y="-5424"/>
                  <a:pt x="5682995" y="0"/>
                </a:cubicBezTo>
                <a:cubicBezTo>
                  <a:pt x="5843414" y="5424"/>
                  <a:pt x="5956869" y="23079"/>
                  <a:pt x="6151980" y="0"/>
                </a:cubicBezTo>
                <a:cubicBezTo>
                  <a:pt x="6347092" y="-23079"/>
                  <a:pt x="6798950" y="31498"/>
                  <a:pt x="7062363" y="0"/>
                </a:cubicBezTo>
                <a:cubicBezTo>
                  <a:pt x="7325776" y="-31498"/>
                  <a:pt x="7255464" y="-7679"/>
                  <a:pt x="7420998" y="0"/>
                </a:cubicBezTo>
                <a:cubicBezTo>
                  <a:pt x="7586533" y="7679"/>
                  <a:pt x="7703216" y="11927"/>
                  <a:pt x="7889984" y="0"/>
                </a:cubicBezTo>
                <a:cubicBezTo>
                  <a:pt x="8076752" y="-11927"/>
                  <a:pt x="8293002" y="-16239"/>
                  <a:pt x="8469318" y="0"/>
                </a:cubicBezTo>
                <a:cubicBezTo>
                  <a:pt x="8645634" y="16239"/>
                  <a:pt x="8839554" y="21219"/>
                  <a:pt x="9048652" y="0"/>
                </a:cubicBezTo>
                <a:cubicBezTo>
                  <a:pt x="9257750" y="-21219"/>
                  <a:pt x="9337027" y="-16149"/>
                  <a:pt x="9517637" y="0"/>
                </a:cubicBezTo>
                <a:cubicBezTo>
                  <a:pt x="9698247" y="16149"/>
                  <a:pt x="9913621" y="3412"/>
                  <a:pt x="10096972" y="0"/>
                </a:cubicBezTo>
                <a:cubicBezTo>
                  <a:pt x="10280324" y="-3412"/>
                  <a:pt x="10600118" y="2913"/>
                  <a:pt x="11034942" y="0"/>
                </a:cubicBezTo>
                <a:cubicBezTo>
                  <a:pt x="11067458" y="282187"/>
                  <a:pt x="11039514" y="473116"/>
                  <a:pt x="11034942" y="683150"/>
                </a:cubicBezTo>
                <a:cubicBezTo>
                  <a:pt x="10845105" y="673897"/>
                  <a:pt x="10514921" y="670453"/>
                  <a:pt x="10234909" y="683150"/>
                </a:cubicBezTo>
                <a:cubicBezTo>
                  <a:pt x="9954897" y="695847"/>
                  <a:pt x="9733552" y="678329"/>
                  <a:pt x="9545225" y="683150"/>
                </a:cubicBezTo>
                <a:cubicBezTo>
                  <a:pt x="9356898" y="687971"/>
                  <a:pt x="9262228" y="664882"/>
                  <a:pt x="9076240" y="683150"/>
                </a:cubicBezTo>
                <a:cubicBezTo>
                  <a:pt x="8890252" y="701418"/>
                  <a:pt x="8703195" y="671468"/>
                  <a:pt x="8607255" y="683150"/>
                </a:cubicBezTo>
                <a:cubicBezTo>
                  <a:pt x="8511316" y="694832"/>
                  <a:pt x="8254475" y="684861"/>
                  <a:pt x="8138270" y="683150"/>
                </a:cubicBezTo>
                <a:cubicBezTo>
                  <a:pt x="8022065" y="681439"/>
                  <a:pt x="7719932" y="665494"/>
                  <a:pt x="7448586" y="683150"/>
                </a:cubicBezTo>
                <a:cubicBezTo>
                  <a:pt x="7177240" y="700806"/>
                  <a:pt x="7123361" y="676154"/>
                  <a:pt x="6979601" y="683150"/>
                </a:cubicBezTo>
                <a:cubicBezTo>
                  <a:pt x="6835842" y="690146"/>
                  <a:pt x="6729174" y="705179"/>
                  <a:pt x="6510616" y="683150"/>
                </a:cubicBezTo>
                <a:cubicBezTo>
                  <a:pt x="6292058" y="661121"/>
                  <a:pt x="6208259" y="709924"/>
                  <a:pt x="5931281" y="683150"/>
                </a:cubicBezTo>
                <a:cubicBezTo>
                  <a:pt x="5654304" y="656376"/>
                  <a:pt x="5571695" y="700847"/>
                  <a:pt x="5462296" y="683150"/>
                </a:cubicBezTo>
                <a:cubicBezTo>
                  <a:pt x="5352897" y="665453"/>
                  <a:pt x="4863273" y="661766"/>
                  <a:pt x="4662263" y="683150"/>
                </a:cubicBezTo>
                <a:cubicBezTo>
                  <a:pt x="4461253" y="704534"/>
                  <a:pt x="4059140" y="669696"/>
                  <a:pt x="3862230" y="683150"/>
                </a:cubicBezTo>
                <a:cubicBezTo>
                  <a:pt x="3665320" y="696604"/>
                  <a:pt x="3417785" y="704111"/>
                  <a:pt x="3172546" y="683150"/>
                </a:cubicBezTo>
                <a:cubicBezTo>
                  <a:pt x="2927307" y="662189"/>
                  <a:pt x="2929203" y="683640"/>
                  <a:pt x="2813910" y="683150"/>
                </a:cubicBezTo>
                <a:cubicBezTo>
                  <a:pt x="2698617" y="682660"/>
                  <a:pt x="2397421" y="693863"/>
                  <a:pt x="2234576" y="683150"/>
                </a:cubicBezTo>
                <a:cubicBezTo>
                  <a:pt x="2071731" y="672437"/>
                  <a:pt x="1628955" y="659353"/>
                  <a:pt x="1324193" y="683150"/>
                </a:cubicBezTo>
                <a:cubicBezTo>
                  <a:pt x="1019431" y="706947"/>
                  <a:pt x="981831" y="703150"/>
                  <a:pt x="744859" y="683150"/>
                </a:cubicBezTo>
                <a:cubicBezTo>
                  <a:pt x="507887" y="663150"/>
                  <a:pt x="232988" y="654297"/>
                  <a:pt x="0" y="683150"/>
                </a:cubicBezTo>
                <a:cubicBezTo>
                  <a:pt x="-25036" y="393985"/>
                  <a:pt x="-6106" y="255106"/>
                  <a:pt x="0" y="0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204364782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5507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47088" y="338087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fr-CA" dirty="0">
                <a:solidFill>
                  <a:srgbClr val="FF0000"/>
                </a:solidFill>
              </a:rPr>
              <a:t>Exemple : évaluation d'une obligation </a:t>
            </a:r>
            <a:r>
              <a:rPr lang="fr-CA" b="1" dirty="0">
                <a:solidFill>
                  <a:srgbClr val="FF0000"/>
                </a:solidFill>
              </a:rPr>
              <a:t>conventionnelle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19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35360" y="1422992"/>
            <a:ext cx="11449272" cy="5102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1800" dirty="0"/>
              <a:t>Vous vous intéressez beaucoup aux marchés obligataires et venez de trouver une obligation présentant les caractéristiques suivantes :</a:t>
            </a:r>
          </a:p>
          <a:p>
            <a:pPr lvl="1"/>
            <a:r>
              <a:rPr lang="en-CA" sz="1800" dirty="0"/>
              <a:t>VN = 1 000</a:t>
            </a:r>
          </a:p>
          <a:p>
            <a:pPr lvl="1"/>
            <a:r>
              <a:rPr lang="en-CA" sz="1800" dirty="0" err="1"/>
              <a:t>Taux</a:t>
            </a:r>
            <a:r>
              <a:rPr lang="en-CA" sz="1800" dirty="0"/>
              <a:t> de coupon = 8 %</a:t>
            </a:r>
          </a:p>
          <a:p>
            <a:pPr lvl="1"/>
            <a:r>
              <a:rPr lang="en-CA" sz="1800" dirty="0"/>
              <a:t>Échéance = 10 ans</a:t>
            </a:r>
          </a:p>
          <a:p>
            <a:pPr lvl="1"/>
            <a:r>
              <a:rPr lang="en-CA" sz="1800" dirty="0"/>
              <a:t>RAÉ = 10 %</a:t>
            </a:r>
          </a:p>
          <a:p>
            <a:pPr lvl="1"/>
            <a:endParaRPr lang="en-CA" sz="1800" dirty="0"/>
          </a:p>
          <a:p>
            <a:pPr marL="788670" lvl="1" indent="-514350">
              <a:buSzPct val="100000"/>
              <a:buFont typeface="+mj-lt"/>
              <a:buAutoNum type="alphaLcParenR"/>
            </a:pPr>
            <a:r>
              <a:rPr lang="en-CA" sz="1800" dirty="0"/>
              <a:t>Quel est le prix de cette obligation ?</a:t>
            </a:r>
          </a:p>
          <a:p>
            <a:pPr marL="788670" lvl="1" indent="-514350">
              <a:buSzPct val="100000"/>
              <a:buFont typeface="+mj-lt"/>
              <a:buAutoNum type="alphaLcParenR"/>
            </a:pPr>
            <a:endParaRPr lang="en-CA" sz="1000" dirty="0"/>
          </a:p>
          <a:p>
            <a:pPr marL="788670" lvl="1" indent="-514350">
              <a:buSzPct val="100000"/>
              <a:buFont typeface="+mj-lt"/>
              <a:buAutoNum type="alphaLcParenR"/>
            </a:pPr>
            <a:endParaRPr lang="en-CA" sz="500" dirty="0"/>
          </a:p>
          <a:p>
            <a:pPr marL="13" indent="0">
              <a:buSzPct val="100000"/>
              <a:buNone/>
            </a:pPr>
            <a:r>
              <a:rPr lang="en-CA" sz="1800" dirty="0"/>
              <a:t>Dans 3 ans, nous prévoyons une baisse du taux d'intérêt de</a:t>
            </a:r>
            <a:r>
              <a:rPr lang="en-CA" sz="1800" b="1" dirty="0"/>
              <a:t> 200 points de base</a:t>
            </a:r>
            <a:r>
              <a:rPr lang="en-CA" sz="1800" dirty="0"/>
              <a:t>. </a:t>
            </a:r>
          </a:p>
          <a:p>
            <a:pPr marL="13" indent="0">
              <a:buSzPct val="100000"/>
              <a:buNone/>
            </a:pPr>
            <a:endParaRPr lang="en-CA" sz="1000" dirty="0"/>
          </a:p>
          <a:p>
            <a:pPr marL="13" indent="0">
              <a:buSzPct val="100000"/>
              <a:buNone/>
            </a:pPr>
            <a:endParaRPr lang="en-CA" sz="500" dirty="0"/>
          </a:p>
          <a:p>
            <a:pPr marL="788670" lvl="1" indent="-514350">
              <a:buSzPct val="100000"/>
              <a:buFont typeface="+mj-lt"/>
              <a:buAutoNum type="alphaLcParenR" startAt="2"/>
            </a:pPr>
            <a:r>
              <a:rPr lang="en-CA" sz="1800" dirty="0" err="1"/>
              <a:t>Quel</a:t>
            </a:r>
            <a:r>
              <a:rPr lang="en-CA" sz="1800" dirty="0"/>
              <a:t> sera le prix de l'obligation à ce moment-là ? </a:t>
            </a:r>
          </a:p>
          <a:p>
            <a:pPr marL="788670" lvl="1" indent="-514350">
              <a:buSzPct val="100000"/>
              <a:buFont typeface="+mj-lt"/>
              <a:buAutoNum type="alphaLcParenR" startAt="2"/>
            </a:pPr>
            <a:r>
              <a:rPr lang="en-CA" sz="1800" dirty="0"/>
              <a:t>L'obligation se négocie-t-elle au pair, avec une prime ou une décote par rapport à sa valeur nominale ?</a:t>
            </a:r>
          </a:p>
          <a:p>
            <a:pPr marL="788670" lvl="1" indent="-514350">
              <a:buFont typeface="+mj-lt"/>
              <a:buAutoNum type="alphaLcParenR" startAt="2"/>
            </a:pPr>
            <a:endParaRPr lang="en-CA" sz="1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7A1841-4D73-41BA-993A-E0C3CDFCFF87}"/>
              </a:ext>
            </a:extLst>
          </p:cNvPr>
          <p:cNvSpPr/>
          <p:nvPr/>
        </p:nvSpPr>
        <p:spPr>
          <a:xfrm>
            <a:off x="3647728" y="5831628"/>
            <a:ext cx="5040560" cy="5497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FF0000"/>
            </a:solidFill>
            <a:prstDash val="solid"/>
          </a:ln>
          <a:effectLst>
            <a:outerShdw blurRad="107950" dist="12700" dir="5400000" algn="ctr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400" dirty="0">
                <a:solidFill>
                  <a:srgbClr val="0F8D36"/>
                </a:solidFill>
                <a:latin typeface="Ink Free" panose="03080402000500000000" pitchFamily="66" charset="0"/>
              </a:rPr>
              <a:t>👉 </a:t>
            </a:r>
            <a:r>
              <a:rPr lang="en-GB" sz="2200" b="1" dirty="0">
                <a:solidFill>
                  <a:schemeClr val="tx1"/>
                </a:solidFill>
              </a:rPr>
              <a:t>** 100 points de base = 1 % **</a:t>
            </a:r>
          </a:p>
        </p:txBody>
      </p:sp>
      <p:pic>
        <p:nvPicPr>
          <p:cNvPr id="8" name="Picture 2" descr="Identification ">
            <a:extLst>
              <a:ext uri="{FF2B5EF4-FFF2-40B4-BE49-F238E27FC236}">
                <a16:creationId xmlns:a16="http://schemas.microsoft.com/office/drawing/2014/main" id="{F7CCC5D1-26E3-65C0-C279-17B6FC8F9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272735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644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FABD7-0FA7-582F-E837-0F169EC5B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164" y="267426"/>
            <a:ext cx="8842248" cy="758952"/>
          </a:xfrm>
        </p:spPr>
        <p:txBody>
          <a:bodyPr>
            <a:normAutofit fontScale="90000"/>
          </a:bodyPr>
          <a:lstStyle/>
          <a:p>
            <a:r>
              <a:rPr lang="fr-CA" sz="2800" dirty="0">
                <a:solidFill>
                  <a:srgbClr val="FF0000"/>
                </a:solidFill>
              </a:rPr>
              <a:t>Exemple : évaluation d'une obligation </a:t>
            </a:r>
            <a:r>
              <a:rPr lang="fr-CA" sz="2800" b="1" u="sng" dirty="0" err="1">
                <a:solidFill>
                  <a:srgbClr val="FF0000"/>
                </a:solidFill>
              </a:rPr>
              <a:t>entre </a:t>
            </a:r>
            <a:r>
              <a:rPr lang="fr-CA" sz="2800" dirty="0">
                <a:solidFill>
                  <a:srgbClr val="FF0000"/>
                </a:solidFill>
              </a:rPr>
              <a:t>deux dates </a:t>
            </a:r>
            <a:r>
              <a:rPr lang="en-CA" sz="2800" dirty="0">
                <a:solidFill>
                  <a:srgbClr val="FF0000"/>
                </a:solidFill>
              </a:rPr>
              <a:t>de paiement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7A88E7-64E6-78C4-E9A9-101E87E3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20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70EFB-EDC7-D37B-25C1-4EB7E7719A96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91344" y="1661700"/>
            <a:ext cx="11593288" cy="48636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CA" sz="2000" dirty="0"/>
              <a:t>Une obligation de la société XY a été </a:t>
            </a:r>
            <a:r>
              <a:rPr lang="fr-CA" sz="2000" b="1" dirty="0"/>
              <a:t>émise au pair </a:t>
            </a:r>
            <a:r>
              <a:rPr lang="fr-CA" sz="2000" dirty="0"/>
              <a:t>il y a deux ans et trois mois avec un taux d'intérêt nominal de 5 % et une échéance de 7 ans. </a:t>
            </a:r>
          </a:p>
          <a:p>
            <a:pPr marL="0" indent="0" algn="just">
              <a:buNone/>
            </a:pPr>
            <a:endParaRPr lang="fr-CA" sz="2000" dirty="0"/>
          </a:p>
          <a:p>
            <a:pPr marL="0" indent="0" algn="just">
              <a:buNone/>
            </a:pPr>
            <a:r>
              <a:rPr lang="fr-CA" sz="2000" dirty="0"/>
              <a:t>Le taux de rendement à l'échéance (RAÉ) actuel est supérieur de 15 points de base à celui de la date d'émission. </a:t>
            </a:r>
          </a:p>
          <a:p>
            <a:endParaRPr lang="fr-CA" sz="2000" dirty="0"/>
          </a:p>
          <a:p>
            <a:pPr marL="788670" lvl="1" indent="-514350">
              <a:buFont typeface="+mj-lt"/>
              <a:buAutoNum type="alphaUcPeriod"/>
            </a:pPr>
            <a:r>
              <a:rPr lang="fr-CA" sz="2000" dirty="0"/>
              <a:t>Quel est le RAÉ actuel ?</a:t>
            </a:r>
          </a:p>
          <a:p>
            <a:pPr marL="788670" lvl="1" indent="-514350">
              <a:buFont typeface="+mj-lt"/>
              <a:buAutoNum type="alphaUcPeriod"/>
            </a:pPr>
            <a:r>
              <a:rPr lang="fr-CA" sz="2000" dirty="0" err="1"/>
              <a:t>Quel est le prix de l'obligation aujourd'hui </a:t>
            </a:r>
            <a:r>
              <a:rPr lang="fr-CA" sz="2000" dirty="0"/>
              <a:t>?</a:t>
            </a:r>
          </a:p>
          <a:p>
            <a:pPr marL="1062976" lvl="2" indent="-514350">
              <a:buFont typeface="Wingdings" panose="05000000000000000000" pitchFamily="2" charset="2"/>
              <a:buChar char="ü"/>
            </a:pPr>
            <a:r>
              <a:rPr lang="fr-CA" sz="2400" b="1" dirty="0">
                <a:latin typeface="Bradley Hand ITC" panose="03070402050302030203" pitchFamily="66" charset="0"/>
              </a:rPr>
              <a:t>Méthode </a:t>
            </a:r>
            <a:r>
              <a:rPr lang="en-US" sz="2400" b="1" dirty="0">
                <a:latin typeface="Bradley Hand ITC" panose="03070402050302030203" pitchFamily="66" charset="0"/>
              </a:rPr>
              <a:t>«</a:t>
            </a:r>
            <a:r>
              <a:rPr lang="fr-CA" sz="2400" b="1" dirty="0">
                <a:latin typeface="Bradley Hand ITC" panose="03070402050302030203" pitchFamily="66" charset="0"/>
              </a:rPr>
              <a:t>prof</a:t>
            </a:r>
            <a:r>
              <a:rPr lang="en-US" sz="2400" b="1" dirty="0">
                <a:latin typeface="Bradley Hand ITC" panose="03070402050302030203" pitchFamily="66" charset="0"/>
              </a:rPr>
              <a:t> »</a:t>
            </a:r>
            <a:r>
              <a:rPr lang="fr-CA" sz="2400" b="1" dirty="0">
                <a:latin typeface="Bradley Hand ITC" panose="03070402050302030203" pitchFamily="66" charset="0"/>
              </a:rPr>
              <a:t> !</a:t>
            </a:r>
          </a:p>
          <a:p>
            <a:pPr marL="1062976" lvl="2" indent="-514350">
              <a:buFont typeface="Wingdings" panose="05000000000000000000" pitchFamily="2" charset="2"/>
              <a:buChar char="ü"/>
            </a:pPr>
            <a:r>
              <a:rPr lang="fr-CA" sz="2400" b="1" dirty="0">
                <a:latin typeface="Bradley Hand ITC" panose="03070402050302030203" pitchFamily="66" charset="0"/>
              </a:rPr>
              <a:t>Méthode </a:t>
            </a:r>
            <a:r>
              <a:rPr lang="en-US" sz="2400" b="1" dirty="0">
                <a:latin typeface="Bradley Hand ITC" panose="03070402050302030203" pitchFamily="66" charset="0"/>
              </a:rPr>
              <a:t>«</a:t>
            </a:r>
            <a:r>
              <a:rPr lang="fr-CA" sz="2400" b="1" dirty="0">
                <a:latin typeface="Bradley Hand ITC" panose="03070402050302030203" pitchFamily="66" charset="0"/>
              </a:rPr>
              <a:t>étudiants</a:t>
            </a:r>
            <a:r>
              <a:rPr lang="en-US" sz="2400" b="1" dirty="0">
                <a:latin typeface="Bradley Hand ITC" panose="03070402050302030203" pitchFamily="66" charset="0"/>
              </a:rPr>
              <a:t> »</a:t>
            </a:r>
            <a:r>
              <a:rPr lang="fr-CA" sz="2400" b="1" dirty="0">
                <a:latin typeface="Bradley Hand ITC" panose="03070402050302030203" pitchFamily="66" charset="0"/>
              </a:rPr>
              <a:t> !</a:t>
            </a:r>
          </a:p>
          <a:p>
            <a:pPr marL="788670" lvl="1" indent="-514350">
              <a:buFont typeface="+mj-lt"/>
              <a:buAutoNum type="alphaUcPeriod"/>
            </a:pPr>
            <a:r>
              <a:rPr lang="fr-CA" sz="2000" dirty="0"/>
              <a:t>Quelle est la cote de l'obligation aujourd'hui 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B3BF8B-C829-9486-1DBC-CDA30AF50FE7}"/>
              </a:ext>
            </a:extLst>
          </p:cNvPr>
          <p:cNvSpPr/>
          <p:nvPr/>
        </p:nvSpPr>
        <p:spPr>
          <a:xfrm>
            <a:off x="1693164" y="5831622"/>
            <a:ext cx="8795324" cy="655564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B8D526-ECCC-BD5B-6510-FCDB7F397784}"/>
              </a:ext>
            </a:extLst>
          </p:cNvPr>
          <p:cNvSpPr txBox="1"/>
          <p:nvPr/>
        </p:nvSpPr>
        <p:spPr>
          <a:xfrm>
            <a:off x="1508845" y="5493860"/>
            <a:ext cx="9026567" cy="978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endParaRPr lang="fr-CA" dirty="0">
              <a:solidFill>
                <a:prstClr val="black"/>
              </a:solidFill>
              <a:latin typeface="Georgia"/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fr-CA" b="1" u="sng" dirty="0">
                <a:solidFill>
                  <a:prstClr val="black"/>
                </a:solidFill>
                <a:latin typeface="Georgia"/>
              </a:rPr>
              <a:t>*** </a:t>
            </a:r>
            <a:r>
              <a:rPr lang="en-US" dirty="0">
                <a:solidFill>
                  <a:prstClr val="black"/>
                </a:solidFill>
                <a:latin typeface="Georgia"/>
              </a:rPr>
              <a:t>Nous </a:t>
            </a:r>
            <a:r>
              <a:rPr lang="en-US" b="1" u="sng" dirty="0">
                <a:solidFill>
                  <a:prstClr val="black"/>
                </a:solidFill>
                <a:latin typeface="Georgia"/>
              </a:rPr>
              <a:t>ne pouvons pas </a:t>
            </a:r>
            <a:r>
              <a:rPr lang="en-US" b="1" dirty="0">
                <a:solidFill>
                  <a:prstClr val="black"/>
                </a:solidFill>
                <a:latin typeface="Georgia"/>
              </a:rPr>
              <a:t>utiliser de fractions pour les exposants </a:t>
            </a:r>
            <a:r>
              <a:rPr lang="en-US" dirty="0">
                <a:solidFill>
                  <a:prstClr val="black"/>
                </a:solidFill>
                <a:latin typeface="Georgia"/>
              </a:rPr>
              <a:t>dans l'évaluation des obligations. Nous avons besoin de </a:t>
            </a:r>
            <a:r>
              <a:rPr lang="fr-CA" b="1" u="sng" dirty="0">
                <a:solidFill>
                  <a:prstClr val="black"/>
                </a:solidFill>
                <a:latin typeface="Georgia"/>
              </a:rPr>
              <a:t>nombres</a:t>
            </a:r>
            <a:r>
              <a:rPr lang="en-US" b="1" u="sng" dirty="0">
                <a:solidFill>
                  <a:prstClr val="black"/>
                </a:solidFill>
                <a:latin typeface="Georgia"/>
              </a:rPr>
              <a:t> entiers </a:t>
            </a:r>
            <a:r>
              <a:rPr lang="fr-CA" b="1" u="sng" dirty="0">
                <a:solidFill>
                  <a:prstClr val="black"/>
                </a:solidFill>
                <a:latin typeface="Georgia"/>
              </a:rPr>
              <a:t>***</a:t>
            </a:r>
            <a:endParaRPr lang="fr-FR" b="1" u="sng" dirty="0">
              <a:solidFill>
                <a:srgbClr val="FF0000"/>
              </a:solidFill>
              <a:latin typeface="Georgia"/>
            </a:endParaRPr>
          </a:p>
        </p:txBody>
      </p:sp>
      <p:pic>
        <p:nvPicPr>
          <p:cNvPr id="6" name="Picture 2" descr="Identification ">
            <a:extLst>
              <a:ext uri="{FF2B5EF4-FFF2-40B4-BE49-F238E27FC236}">
                <a16:creationId xmlns:a16="http://schemas.microsoft.com/office/drawing/2014/main" id="{D383C69E-996D-29BC-548F-367A5F2275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656" y="267426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Warning ">
            <a:extLst>
              <a:ext uri="{FF2B5EF4-FFF2-40B4-BE49-F238E27FC236}">
                <a16:creationId xmlns:a16="http://schemas.microsoft.com/office/drawing/2014/main" id="{B083AD75-1890-2582-79AC-041FC12A6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417" y="5759634"/>
            <a:ext cx="825054" cy="825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bject 34">
            <a:extLst>
              <a:ext uri="{FF2B5EF4-FFF2-40B4-BE49-F238E27FC236}">
                <a16:creationId xmlns:a16="http://schemas.microsoft.com/office/drawing/2014/main" id="{24D2235C-EC55-7BBA-74F7-CCC9FD4DC366}"/>
              </a:ext>
            </a:extLst>
          </p:cNvPr>
          <p:cNvSpPr/>
          <p:nvPr/>
        </p:nvSpPr>
        <p:spPr>
          <a:xfrm>
            <a:off x="4655840" y="1602354"/>
            <a:ext cx="2016224" cy="500671"/>
          </a:xfrm>
          <a:prstGeom prst="rect">
            <a:avLst/>
          </a:prstGeom>
          <a:blipFill>
            <a:blip r:embed="rId4" cstate="print">
              <a:duotone>
                <a:prstClr val="black"/>
                <a:schemeClr val="accent2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80428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1B030-E136-D79F-12B3-996A6294A35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5360" y="1340768"/>
            <a:ext cx="3416560" cy="4968552"/>
          </a:xfrm>
        </p:spPr>
        <p:txBody>
          <a:bodyPr>
            <a:normAutofit fontScale="92500" lnSpcReduction="20000"/>
          </a:bodyPr>
          <a:lstStyle/>
          <a:p>
            <a:r>
              <a:rPr lang="en-CA" sz="4000" b="1" u="sng" dirty="0"/>
              <a:t>Méthode suggérée </a:t>
            </a:r>
            <a:r>
              <a:rPr lang="en-CA" sz="2800" dirty="0"/>
              <a:t>pour évaluer un actif </a:t>
            </a:r>
            <a:r>
              <a:rPr lang="en-CA" sz="4000" u="sng" dirty="0">
                <a:latin typeface="Ink Free" panose="03080402000500000000" pitchFamily="66" charset="0"/>
              </a:rPr>
              <a:t>entre deux dates de paiement</a:t>
            </a:r>
          </a:p>
          <a:p>
            <a:endParaRPr lang="en-CA" sz="4000" u="sng" dirty="0">
              <a:latin typeface="Ink Free" panose="03080402000500000000" pitchFamily="66" charset="0"/>
            </a:endParaRPr>
          </a:p>
          <a:p>
            <a:r>
              <a:rPr lang="fr-CA" sz="4800" b="1" u="sng" dirty="0">
                <a:solidFill>
                  <a:srgbClr val="FF0000"/>
                </a:solidFill>
                <a:latin typeface="Bradley Hand ITC" panose="03070402050302030203" pitchFamily="66" charset="0"/>
              </a:rPr>
              <a:t>Méthode </a:t>
            </a:r>
            <a:r>
              <a:rPr lang="en-US" sz="4800" b="1" u="sng" dirty="0">
                <a:solidFill>
                  <a:srgbClr val="FF0000"/>
                </a:solidFill>
                <a:latin typeface="Bradley Hand ITC" panose="03070402050302030203" pitchFamily="66" charset="0"/>
              </a:rPr>
              <a:t>«</a:t>
            </a:r>
            <a:r>
              <a:rPr lang="fr-CA" sz="4800" b="1" u="sng" dirty="0">
                <a:solidFill>
                  <a:srgbClr val="FF0000"/>
                </a:solidFill>
                <a:latin typeface="Bradley Hand ITC" panose="03070402050302030203" pitchFamily="66" charset="0"/>
              </a:rPr>
              <a:t>prof</a:t>
            </a:r>
            <a:r>
              <a:rPr lang="en-US" sz="4800" b="1" u="sng" dirty="0">
                <a:solidFill>
                  <a:srgbClr val="FF0000"/>
                </a:solidFill>
                <a:latin typeface="Bradley Hand ITC" panose="03070402050302030203" pitchFamily="66" charset="0"/>
              </a:rPr>
              <a:t>»</a:t>
            </a:r>
            <a:endParaRPr lang="en-CA" sz="4600" u="sng" dirty="0">
              <a:solidFill>
                <a:srgbClr val="FF0000"/>
              </a:solidFill>
              <a:latin typeface="Ink Free" panose="03080402000500000000" pitchFamily="66" charset="0"/>
            </a:endParaRPr>
          </a:p>
          <a:p>
            <a:endParaRPr lang="en-CA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3022A-B359-7E58-50D7-074E1D41942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223792" y="1700809"/>
            <a:ext cx="7200800" cy="4722365"/>
          </a:xfrm>
        </p:spPr>
        <p:txBody>
          <a:bodyPr>
            <a:normAutofit/>
          </a:bodyPr>
          <a:lstStyle/>
          <a:p>
            <a:r>
              <a:rPr lang="en-CA" sz="2800" b="1" dirty="0">
                <a:latin typeface="+mj-lt"/>
              </a:rPr>
              <a:t>Étape 1 : </a:t>
            </a:r>
            <a:r>
              <a:rPr lang="en-CA" sz="2800" dirty="0">
                <a:latin typeface="+mj-lt"/>
              </a:rPr>
              <a:t>Calculez la valeur </a:t>
            </a:r>
            <a:r>
              <a:rPr lang="en-CA" sz="2800" dirty="0" err="1">
                <a:latin typeface="+mj-lt"/>
              </a:rPr>
              <a:t>actuelle</a:t>
            </a:r>
            <a:r>
              <a:rPr lang="en-CA" sz="2800" dirty="0">
                <a:latin typeface="+mj-lt"/>
              </a:rPr>
              <a:t> (VA) une période </a:t>
            </a:r>
            <a:r>
              <a:rPr lang="en-CA" sz="2800" b="1" dirty="0">
                <a:latin typeface="+mj-lt"/>
              </a:rPr>
              <a:t>avant</a:t>
            </a:r>
            <a:r>
              <a:rPr lang="en-CA" sz="2800" dirty="0">
                <a:latin typeface="+mj-lt"/>
              </a:rPr>
              <a:t> le premier flux </a:t>
            </a:r>
            <a:r>
              <a:rPr lang="en-CA" sz="2800" dirty="0" err="1">
                <a:latin typeface="+mj-lt"/>
              </a:rPr>
              <a:t>monétaire</a:t>
            </a:r>
            <a:r>
              <a:rPr lang="en-CA" sz="2800" dirty="0">
                <a:latin typeface="+mj-lt"/>
              </a:rPr>
              <a:t> (le premier coupon).</a:t>
            </a:r>
          </a:p>
          <a:p>
            <a:endParaRPr lang="en-CA" sz="2800" dirty="0">
              <a:latin typeface="+mj-lt"/>
            </a:endParaRPr>
          </a:p>
          <a:p>
            <a:r>
              <a:rPr lang="en-CA" sz="2800" b="1" dirty="0">
                <a:latin typeface="+mj-lt"/>
              </a:rPr>
              <a:t>Étape 2 : </a:t>
            </a:r>
            <a:r>
              <a:rPr lang="en-CA" sz="2800" b="1" dirty="0" err="1">
                <a:latin typeface="+mj-lt"/>
              </a:rPr>
              <a:t>Capitalisez</a:t>
            </a:r>
            <a:r>
              <a:rPr lang="en-CA" sz="2800" dirty="0">
                <a:latin typeface="+mj-lt"/>
              </a:rPr>
              <a:t> la VA en fonction du nombre de périodes requises.  </a:t>
            </a:r>
            <a:endParaRPr lang="fr-CA" sz="2800" dirty="0">
              <a:latin typeface="+mj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2E4FA-4730-6EC8-146E-3F385ADA9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/>
              <a:t>21</a:t>
            </a:fld>
            <a:endParaRPr lang="fr-CA" dirty="0"/>
          </a:p>
        </p:txBody>
      </p:sp>
      <p:pic>
        <p:nvPicPr>
          <p:cNvPr id="2" name="Picture 2" descr="Threat ">
            <a:extLst>
              <a:ext uri="{FF2B5EF4-FFF2-40B4-BE49-F238E27FC236}">
                <a16:creationId xmlns:a16="http://schemas.microsoft.com/office/drawing/2014/main" id="{7DBE0011-705C-3C71-7941-1783B38A1E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0136" y="4797152"/>
            <a:ext cx="1296144" cy="1296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11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A44F926-5A7B-75AB-0F49-FA7848320E4B}"/>
              </a:ext>
            </a:extLst>
          </p:cNvPr>
          <p:cNvSpPr/>
          <p:nvPr/>
        </p:nvSpPr>
        <p:spPr>
          <a:xfrm>
            <a:off x="1628458" y="3818220"/>
            <a:ext cx="8928992" cy="1656184"/>
          </a:xfrm>
          <a:custGeom>
            <a:avLst/>
            <a:gdLst>
              <a:gd name="csX0" fmla="*/ 0 w 8928992"/>
              <a:gd name="csY0" fmla="*/ 0 h 1656184"/>
              <a:gd name="csX1" fmla="*/ 684556 w 8928992"/>
              <a:gd name="csY1" fmla="*/ 0 h 1656184"/>
              <a:gd name="csX2" fmla="*/ 1101242 w 8928992"/>
              <a:gd name="csY2" fmla="*/ 0 h 1656184"/>
              <a:gd name="csX3" fmla="*/ 1607219 w 8928992"/>
              <a:gd name="csY3" fmla="*/ 0 h 1656184"/>
              <a:gd name="csX4" fmla="*/ 2291775 w 8928992"/>
              <a:gd name="csY4" fmla="*/ 0 h 1656184"/>
              <a:gd name="csX5" fmla="*/ 2887041 w 8928992"/>
              <a:gd name="csY5" fmla="*/ 0 h 1656184"/>
              <a:gd name="csX6" fmla="*/ 3482307 w 8928992"/>
              <a:gd name="csY6" fmla="*/ 0 h 1656184"/>
              <a:gd name="csX7" fmla="*/ 4256153 w 8928992"/>
              <a:gd name="csY7" fmla="*/ 0 h 1656184"/>
              <a:gd name="csX8" fmla="*/ 4672839 w 8928992"/>
              <a:gd name="csY8" fmla="*/ 0 h 1656184"/>
              <a:gd name="csX9" fmla="*/ 5178815 w 8928992"/>
              <a:gd name="csY9" fmla="*/ 0 h 1656184"/>
              <a:gd name="csX10" fmla="*/ 5952661 w 8928992"/>
              <a:gd name="csY10" fmla="*/ 0 h 1656184"/>
              <a:gd name="csX11" fmla="*/ 6726507 w 8928992"/>
              <a:gd name="csY11" fmla="*/ 0 h 1656184"/>
              <a:gd name="csX12" fmla="*/ 7321773 w 8928992"/>
              <a:gd name="csY12" fmla="*/ 0 h 1656184"/>
              <a:gd name="csX13" fmla="*/ 7649170 w 8928992"/>
              <a:gd name="csY13" fmla="*/ 0 h 1656184"/>
              <a:gd name="csX14" fmla="*/ 8155146 w 8928992"/>
              <a:gd name="csY14" fmla="*/ 0 h 1656184"/>
              <a:gd name="csX15" fmla="*/ 8928992 w 8928992"/>
              <a:gd name="csY15" fmla="*/ 0 h 1656184"/>
              <a:gd name="csX16" fmla="*/ 8928992 w 8928992"/>
              <a:gd name="csY16" fmla="*/ 585185 h 1656184"/>
              <a:gd name="csX17" fmla="*/ 8928992 w 8928992"/>
              <a:gd name="csY17" fmla="*/ 1170370 h 1656184"/>
              <a:gd name="csX18" fmla="*/ 8928992 w 8928992"/>
              <a:gd name="csY18" fmla="*/ 1656184 h 1656184"/>
              <a:gd name="csX19" fmla="*/ 8512306 w 8928992"/>
              <a:gd name="csY19" fmla="*/ 1656184 h 1656184"/>
              <a:gd name="csX20" fmla="*/ 7738460 w 8928992"/>
              <a:gd name="csY20" fmla="*/ 1656184 h 1656184"/>
              <a:gd name="csX21" fmla="*/ 7053904 w 8928992"/>
              <a:gd name="csY21" fmla="*/ 1656184 h 1656184"/>
              <a:gd name="csX22" fmla="*/ 6726507 w 8928992"/>
              <a:gd name="csY22" fmla="*/ 1656184 h 1656184"/>
              <a:gd name="csX23" fmla="*/ 6041951 w 8928992"/>
              <a:gd name="csY23" fmla="*/ 1656184 h 1656184"/>
              <a:gd name="csX24" fmla="*/ 5535975 w 8928992"/>
              <a:gd name="csY24" fmla="*/ 1656184 h 1656184"/>
              <a:gd name="csX25" fmla="*/ 5208579 w 8928992"/>
              <a:gd name="csY25" fmla="*/ 1656184 h 1656184"/>
              <a:gd name="csX26" fmla="*/ 4434733 w 8928992"/>
              <a:gd name="csY26" fmla="*/ 1656184 h 1656184"/>
              <a:gd name="csX27" fmla="*/ 3839467 w 8928992"/>
              <a:gd name="csY27" fmla="*/ 1656184 h 1656184"/>
              <a:gd name="csX28" fmla="*/ 3154911 w 8928992"/>
              <a:gd name="csY28" fmla="*/ 1656184 h 1656184"/>
              <a:gd name="csX29" fmla="*/ 2381065 w 8928992"/>
              <a:gd name="csY29" fmla="*/ 1656184 h 1656184"/>
              <a:gd name="csX30" fmla="*/ 2053668 w 8928992"/>
              <a:gd name="csY30" fmla="*/ 1656184 h 1656184"/>
              <a:gd name="csX31" fmla="*/ 1547692 w 8928992"/>
              <a:gd name="csY31" fmla="*/ 1656184 h 1656184"/>
              <a:gd name="csX32" fmla="*/ 863136 w 8928992"/>
              <a:gd name="csY32" fmla="*/ 1656184 h 1656184"/>
              <a:gd name="csX33" fmla="*/ 0 w 8928992"/>
              <a:gd name="csY33" fmla="*/ 1656184 h 1656184"/>
              <a:gd name="csX34" fmla="*/ 0 w 8928992"/>
              <a:gd name="csY34" fmla="*/ 1137246 h 1656184"/>
              <a:gd name="csX35" fmla="*/ 0 w 8928992"/>
              <a:gd name="csY35" fmla="*/ 601747 h 1656184"/>
              <a:gd name="csX36" fmla="*/ 0 w 8928992"/>
              <a:gd name="csY36" fmla="*/ 0 h 1656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8928992" h="1656184" fill="none" extrusionOk="0">
                <a:moveTo>
                  <a:pt x="0" y="0"/>
                </a:moveTo>
                <a:cubicBezTo>
                  <a:pt x="313064" y="-79815"/>
                  <a:pt x="521271" y="37749"/>
                  <a:pt x="684556" y="0"/>
                </a:cubicBezTo>
                <a:cubicBezTo>
                  <a:pt x="847841" y="-37749"/>
                  <a:pt x="922480" y="14909"/>
                  <a:pt x="1101242" y="0"/>
                </a:cubicBezTo>
                <a:cubicBezTo>
                  <a:pt x="1280004" y="-14909"/>
                  <a:pt x="1372094" y="49100"/>
                  <a:pt x="1607219" y="0"/>
                </a:cubicBezTo>
                <a:cubicBezTo>
                  <a:pt x="1842344" y="-49100"/>
                  <a:pt x="2098225" y="43213"/>
                  <a:pt x="2291775" y="0"/>
                </a:cubicBezTo>
                <a:cubicBezTo>
                  <a:pt x="2485325" y="-43213"/>
                  <a:pt x="2589812" y="11134"/>
                  <a:pt x="2887041" y="0"/>
                </a:cubicBezTo>
                <a:cubicBezTo>
                  <a:pt x="3184270" y="-11134"/>
                  <a:pt x="3240866" y="23121"/>
                  <a:pt x="3482307" y="0"/>
                </a:cubicBezTo>
                <a:cubicBezTo>
                  <a:pt x="3723748" y="-23121"/>
                  <a:pt x="3899355" y="80471"/>
                  <a:pt x="4256153" y="0"/>
                </a:cubicBezTo>
                <a:cubicBezTo>
                  <a:pt x="4612951" y="-80471"/>
                  <a:pt x="4530642" y="44090"/>
                  <a:pt x="4672839" y="0"/>
                </a:cubicBezTo>
                <a:cubicBezTo>
                  <a:pt x="4815036" y="-44090"/>
                  <a:pt x="5040007" y="33325"/>
                  <a:pt x="5178815" y="0"/>
                </a:cubicBezTo>
                <a:cubicBezTo>
                  <a:pt x="5317623" y="-33325"/>
                  <a:pt x="5743911" y="77622"/>
                  <a:pt x="5952661" y="0"/>
                </a:cubicBezTo>
                <a:cubicBezTo>
                  <a:pt x="6161411" y="-77622"/>
                  <a:pt x="6461798" y="73436"/>
                  <a:pt x="6726507" y="0"/>
                </a:cubicBezTo>
                <a:cubicBezTo>
                  <a:pt x="6991216" y="-73436"/>
                  <a:pt x="7131523" y="3762"/>
                  <a:pt x="7321773" y="0"/>
                </a:cubicBezTo>
                <a:cubicBezTo>
                  <a:pt x="7512023" y="-3762"/>
                  <a:pt x="7551036" y="15128"/>
                  <a:pt x="7649170" y="0"/>
                </a:cubicBezTo>
                <a:cubicBezTo>
                  <a:pt x="7747304" y="-15128"/>
                  <a:pt x="7948958" y="16713"/>
                  <a:pt x="8155146" y="0"/>
                </a:cubicBezTo>
                <a:cubicBezTo>
                  <a:pt x="8361334" y="-16713"/>
                  <a:pt x="8764060" y="46923"/>
                  <a:pt x="8928992" y="0"/>
                </a:cubicBezTo>
                <a:cubicBezTo>
                  <a:pt x="8943640" y="153381"/>
                  <a:pt x="8909659" y="343871"/>
                  <a:pt x="8928992" y="585185"/>
                </a:cubicBezTo>
                <a:cubicBezTo>
                  <a:pt x="8948325" y="826500"/>
                  <a:pt x="8877646" y="908502"/>
                  <a:pt x="8928992" y="1170370"/>
                </a:cubicBezTo>
                <a:cubicBezTo>
                  <a:pt x="8980338" y="1432238"/>
                  <a:pt x="8901023" y="1528740"/>
                  <a:pt x="8928992" y="1656184"/>
                </a:cubicBezTo>
                <a:cubicBezTo>
                  <a:pt x="8774061" y="1664414"/>
                  <a:pt x="8613123" y="1614557"/>
                  <a:pt x="8512306" y="1656184"/>
                </a:cubicBezTo>
                <a:cubicBezTo>
                  <a:pt x="8411489" y="1697811"/>
                  <a:pt x="8067080" y="1584079"/>
                  <a:pt x="7738460" y="1656184"/>
                </a:cubicBezTo>
                <a:cubicBezTo>
                  <a:pt x="7409840" y="1728289"/>
                  <a:pt x="7267662" y="1599074"/>
                  <a:pt x="7053904" y="1656184"/>
                </a:cubicBezTo>
                <a:cubicBezTo>
                  <a:pt x="6840146" y="1713294"/>
                  <a:pt x="6812102" y="1655998"/>
                  <a:pt x="6726507" y="1656184"/>
                </a:cubicBezTo>
                <a:cubicBezTo>
                  <a:pt x="6640912" y="1656370"/>
                  <a:pt x="6236250" y="1640847"/>
                  <a:pt x="6041951" y="1656184"/>
                </a:cubicBezTo>
                <a:cubicBezTo>
                  <a:pt x="5847652" y="1671521"/>
                  <a:pt x="5771230" y="1636715"/>
                  <a:pt x="5535975" y="1656184"/>
                </a:cubicBezTo>
                <a:cubicBezTo>
                  <a:pt x="5300720" y="1675653"/>
                  <a:pt x="5304101" y="1646015"/>
                  <a:pt x="5208579" y="1656184"/>
                </a:cubicBezTo>
                <a:cubicBezTo>
                  <a:pt x="5113057" y="1666353"/>
                  <a:pt x="4820005" y="1613192"/>
                  <a:pt x="4434733" y="1656184"/>
                </a:cubicBezTo>
                <a:cubicBezTo>
                  <a:pt x="4049461" y="1699176"/>
                  <a:pt x="4127654" y="1649805"/>
                  <a:pt x="3839467" y="1656184"/>
                </a:cubicBezTo>
                <a:cubicBezTo>
                  <a:pt x="3551280" y="1662563"/>
                  <a:pt x="3381871" y="1619237"/>
                  <a:pt x="3154911" y="1656184"/>
                </a:cubicBezTo>
                <a:cubicBezTo>
                  <a:pt x="2927951" y="1693131"/>
                  <a:pt x="2734609" y="1636814"/>
                  <a:pt x="2381065" y="1656184"/>
                </a:cubicBezTo>
                <a:cubicBezTo>
                  <a:pt x="2027521" y="1675554"/>
                  <a:pt x="2136708" y="1648307"/>
                  <a:pt x="2053668" y="1656184"/>
                </a:cubicBezTo>
                <a:cubicBezTo>
                  <a:pt x="1970628" y="1664061"/>
                  <a:pt x="1733191" y="1627361"/>
                  <a:pt x="1547692" y="1656184"/>
                </a:cubicBezTo>
                <a:cubicBezTo>
                  <a:pt x="1362193" y="1685007"/>
                  <a:pt x="1000857" y="1609059"/>
                  <a:pt x="863136" y="1656184"/>
                </a:cubicBezTo>
                <a:cubicBezTo>
                  <a:pt x="725415" y="1703309"/>
                  <a:pt x="330398" y="1628402"/>
                  <a:pt x="0" y="1656184"/>
                </a:cubicBezTo>
                <a:cubicBezTo>
                  <a:pt x="-8703" y="1477853"/>
                  <a:pt x="34493" y="1304061"/>
                  <a:pt x="0" y="1137246"/>
                </a:cubicBezTo>
                <a:cubicBezTo>
                  <a:pt x="-34493" y="970431"/>
                  <a:pt x="4781" y="839749"/>
                  <a:pt x="0" y="601747"/>
                </a:cubicBezTo>
                <a:cubicBezTo>
                  <a:pt x="-4781" y="363745"/>
                  <a:pt x="22133" y="219918"/>
                  <a:pt x="0" y="0"/>
                </a:cubicBezTo>
                <a:close/>
              </a:path>
              <a:path w="8928992" h="1656184" stroke="0" extrusionOk="0">
                <a:moveTo>
                  <a:pt x="0" y="0"/>
                </a:moveTo>
                <a:cubicBezTo>
                  <a:pt x="317854" y="-57264"/>
                  <a:pt x="425655" y="62884"/>
                  <a:pt x="684556" y="0"/>
                </a:cubicBezTo>
                <a:cubicBezTo>
                  <a:pt x="943457" y="-62884"/>
                  <a:pt x="999427" y="18678"/>
                  <a:pt x="1190532" y="0"/>
                </a:cubicBezTo>
                <a:cubicBezTo>
                  <a:pt x="1381637" y="-18678"/>
                  <a:pt x="1513302" y="18334"/>
                  <a:pt x="1696508" y="0"/>
                </a:cubicBezTo>
                <a:cubicBezTo>
                  <a:pt x="1879714" y="-18334"/>
                  <a:pt x="2128085" y="66833"/>
                  <a:pt x="2381065" y="0"/>
                </a:cubicBezTo>
                <a:cubicBezTo>
                  <a:pt x="2634045" y="-66833"/>
                  <a:pt x="2635547" y="36849"/>
                  <a:pt x="2708461" y="0"/>
                </a:cubicBezTo>
                <a:cubicBezTo>
                  <a:pt x="2781375" y="-36849"/>
                  <a:pt x="3182219" y="33882"/>
                  <a:pt x="3303727" y="0"/>
                </a:cubicBezTo>
                <a:cubicBezTo>
                  <a:pt x="3425235" y="-33882"/>
                  <a:pt x="3834413" y="11561"/>
                  <a:pt x="3988283" y="0"/>
                </a:cubicBezTo>
                <a:cubicBezTo>
                  <a:pt x="4142153" y="-11561"/>
                  <a:pt x="4393605" y="41031"/>
                  <a:pt x="4583549" y="0"/>
                </a:cubicBezTo>
                <a:cubicBezTo>
                  <a:pt x="4773493" y="-41031"/>
                  <a:pt x="5112423" y="13144"/>
                  <a:pt x="5357395" y="0"/>
                </a:cubicBezTo>
                <a:cubicBezTo>
                  <a:pt x="5602367" y="-13144"/>
                  <a:pt x="5726889" y="6642"/>
                  <a:pt x="5863371" y="0"/>
                </a:cubicBezTo>
                <a:cubicBezTo>
                  <a:pt x="5999853" y="-6642"/>
                  <a:pt x="6267127" y="33808"/>
                  <a:pt x="6637217" y="0"/>
                </a:cubicBezTo>
                <a:cubicBezTo>
                  <a:pt x="7007307" y="-33808"/>
                  <a:pt x="6888889" y="35829"/>
                  <a:pt x="6964614" y="0"/>
                </a:cubicBezTo>
                <a:cubicBezTo>
                  <a:pt x="7040339" y="-35829"/>
                  <a:pt x="7272766" y="33576"/>
                  <a:pt x="7559880" y="0"/>
                </a:cubicBezTo>
                <a:cubicBezTo>
                  <a:pt x="7846994" y="-33576"/>
                  <a:pt x="7766140" y="4328"/>
                  <a:pt x="7887276" y="0"/>
                </a:cubicBezTo>
                <a:cubicBezTo>
                  <a:pt x="8008412" y="-4328"/>
                  <a:pt x="8590674" y="35236"/>
                  <a:pt x="8928992" y="0"/>
                </a:cubicBezTo>
                <a:cubicBezTo>
                  <a:pt x="8969389" y="125023"/>
                  <a:pt x="8894352" y="319804"/>
                  <a:pt x="8928992" y="518938"/>
                </a:cubicBezTo>
                <a:cubicBezTo>
                  <a:pt x="8963632" y="718072"/>
                  <a:pt x="8871126" y="922504"/>
                  <a:pt x="8928992" y="1054437"/>
                </a:cubicBezTo>
                <a:cubicBezTo>
                  <a:pt x="8986858" y="1186370"/>
                  <a:pt x="8862502" y="1422655"/>
                  <a:pt x="8928992" y="1656184"/>
                </a:cubicBezTo>
                <a:cubicBezTo>
                  <a:pt x="8818603" y="1665756"/>
                  <a:pt x="8707258" y="1646096"/>
                  <a:pt x="8512306" y="1656184"/>
                </a:cubicBezTo>
                <a:cubicBezTo>
                  <a:pt x="8317354" y="1666272"/>
                  <a:pt x="8079344" y="1633020"/>
                  <a:pt x="7827750" y="1656184"/>
                </a:cubicBezTo>
                <a:cubicBezTo>
                  <a:pt x="7576156" y="1679348"/>
                  <a:pt x="7379453" y="1597693"/>
                  <a:pt x="7232484" y="1656184"/>
                </a:cubicBezTo>
                <a:cubicBezTo>
                  <a:pt x="7085515" y="1714675"/>
                  <a:pt x="7062709" y="1651437"/>
                  <a:pt x="6905087" y="1656184"/>
                </a:cubicBezTo>
                <a:cubicBezTo>
                  <a:pt x="6747465" y="1660931"/>
                  <a:pt x="6453403" y="1598090"/>
                  <a:pt x="6131241" y="1656184"/>
                </a:cubicBezTo>
                <a:cubicBezTo>
                  <a:pt x="5809079" y="1714278"/>
                  <a:pt x="5862389" y="1611767"/>
                  <a:pt x="5625265" y="1656184"/>
                </a:cubicBezTo>
                <a:cubicBezTo>
                  <a:pt x="5388141" y="1700601"/>
                  <a:pt x="5122829" y="1618774"/>
                  <a:pt x="4851419" y="1656184"/>
                </a:cubicBezTo>
                <a:cubicBezTo>
                  <a:pt x="4580009" y="1693594"/>
                  <a:pt x="4597525" y="1643181"/>
                  <a:pt x="4524023" y="1656184"/>
                </a:cubicBezTo>
                <a:cubicBezTo>
                  <a:pt x="4450521" y="1669187"/>
                  <a:pt x="4329136" y="1622859"/>
                  <a:pt x="4196626" y="1656184"/>
                </a:cubicBezTo>
                <a:cubicBezTo>
                  <a:pt x="4064116" y="1689509"/>
                  <a:pt x="3802615" y="1655889"/>
                  <a:pt x="3512070" y="1656184"/>
                </a:cubicBezTo>
                <a:cubicBezTo>
                  <a:pt x="3221525" y="1656479"/>
                  <a:pt x="2996336" y="1586032"/>
                  <a:pt x="2827514" y="1656184"/>
                </a:cubicBezTo>
                <a:cubicBezTo>
                  <a:pt x="2658692" y="1726336"/>
                  <a:pt x="2423957" y="1619246"/>
                  <a:pt x="2053668" y="1656184"/>
                </a:cubicBezTo>
                <a:cubicBezTo>
                  <a:pt x="1683379" y="1693122"/>
                  <a:pt x="1442173" y="1626326"/>
                  <a:pt x="1279822" y="1656184"/>
                </a:cubicBezTo>
                <a:cubicBezTo>
                  <a:pt x="1117471" y="1686042"/>
                  <a:pt x="1098308" y="1655920"/>
                  <a:pt x="952426" y="1656184"/>
                </a:cubicBezTo>
                <a:cubicBezTo>
                  <a:pt x="806544" y="1656448"/>
                  <a:pt x="434287" y="1564474"/>
                  <a:pt x="0" y="1656184"/>
                </a:cubicBezTo>
                <a:cubicBezTo>
                  <a:pt x="-19701" y="1453364"/>
                  <a:pt x="56200" y="1216295"/>
                  <a:pt x="0" y="1104123"/>
                </a:cubicBezTo>
                <a:cubicBezTo>
                  <a:pt x="-56200" y="991951"/>
                  <a:pt x="6736" y="807916"/>
                  <a:pt x="0" y="518938"/>
                </a:cubicBezTo>
                <a:cubicBezTo>
                  <a:pt x="-6736" y="229960"/>
                  <a:pt x="7753" y="175907"/>
                  <a:pt x="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prstDash val="solid"/>
            <a:extLst>
              <a:ext uri="{C807C97D-BFC1-408E-A445-0C87EB9F89A2}">
                <ask:lineSketchStyleProps xmlns:ask="http://schemas.microsoft.com/office/drawing/2018/sketchyshapes" sd="26483195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0E045F-B751-FD6F-E040-95AD34A6243D}"/>
              </a:ext>
            </a:extLst>
          </p:cNvPr>
          <p:cNvSpPr/>
          <p:nvPr/>
        </p:nvSpPr>
        <p:spPr>
          <a:xfrm>
            <a:off x="1631504" y="1988840"/>
            <a:ext cx="8928992" cy="1656184"/>
          </a:xfrm>
          <a:custGeom>
            <a:avLst/>
            <a:gdLst>
              <a:gd name="csX0" fmla="*/ 0 w 8928992"/>
              <a:gd name="csY0" fmla="*/ 0 h 1656184"/>
              <a:gd name="csX1" fmla="*/ 684556 w 8928992"/>
              <a:gd name="csY1" fmla="*/ 0 h 1656184"/>
              <a:gd name="csX2" fmla="*/ 1101242 w 8928992"/>
              <a:gd name="csY2" fmla="*/ 0 h 1656184"/>
              <a:gd name="csX3" fmla="*/ 1607219 w 8928992"/>
              <a:gd name="csY3" fmla="*/ 0 h 1656184"/>
              <a:gd name="csX4" fmla="*/ 2291775 w 8928992"/>
              <a:gd name="csY4" fmla="*/ 0 h 1656184"/>
              <a:gd name="csX5" fmla="*/ 2887041 w 8928992"/>
              <a:gd name="csY5" fmla="*/ 0 h 1656184"/>
              <a:gd name="csX6" fmla="*/ 3482307 w 8928992"/>
              <a:gd name="csY6" fmla="*/ 0 h 1656184"/>
              <a:gd name="csX7" fmla="*/ 4256153 w 8928992"/>
              <a:gd name="csY7" fmla="*/ 0 h 1656184"/>
              <a:gd name="csX8" fmla="*/ 4672839 w 8928992"/>
              <a:gd name="csY8" fmla="*/ 0 h 1656184"/>
              <a:gd name="csX9" fmla="*/ 5178815 w 8928992"/>
              <a:gd name="csY9" fmla="*/ 0 h 1656184"/>
              <a:gd name="csX10" fmla="*/ 5952661 w 8928992"/>
              <a:gd name="csY10" fmla="*/ 0 h 1656184"/>
              <a:gd name="csX11" fmla="*/ 6726507 w 8928992"/>
              <a:gd name="csY11" fmla="*/ 0 h 1656184"/>
              <a:gd name="csX12" fmla="*/ 7321773 w 8928992"/>
              <a:gd name="csY12" fmla="*/ 0 h 1656184"/>
              <a:gd name="csX13" fmla="*/ 7649170 w 8928992"/>
              <a:gd name="csY13" fmla="*/ 0 h 1656184"/>
              <a:gd name="csX14" fmla="*/ 8155146 w 8928992"/>
              <a:gd name="csY14" fmla="*/ 0 h 1656184"/>
              <a:gd name="csX15" fmla="*/ 8928992 w 8928992"/>
              <a:gd name="csY15" fmla="*/ 0 h 1656184"/>
              <a:gd name="csX16" fmla="*/ 8928992 w 8928992"/>
              <a:gd name="csY16" fmla="*/ 585185 h 1656184"/>
              <a:gd name="csX17" fmla="*/ 8928992 w 8928992"/>
              <a:gd name="csY17" fmla="*/ 1170370 h 1656184"/>
              <a:gd name="csX18" fmla="*/ 8928992 w 8928992"/>
              <a:gd name="csY18" fmla="*/ 1656184 h 1656184"/>
              <a:gd name="csX19" fmla="*/ 8512306 w 8928992"/>
              <a:gd name="csY19" fmla="*/ 1656184 h 1656184"/>
              <a:gd name="csX20" fmla="*/ 7738460 w 8928992"/>
              <a:gd name="csY20" fmla="*/ 1656184 h 1656184"/>
              <a:gd name="csX21" fmla="*/ 7053904 w 8928992"/>
              <a:gd name="csY21" fmla="*/ 1656184 h 1656184"/>
              <a:gd name="csX22" fmla="*/ 6726507 w 8928992"/>
              <a:gd name="csY22" fmla="*/ 1656184 h 1656184"/>
              <a:gd name="csX23" fmla="*/ 6041951 w 8928992"/>
              <a:gd name="csY23" fmla="*/ 1656184 h 1656184"/>
              <a:gd name="csX24" fmla="*/ 5535975 w 8928992"/>
              <a:gd name="csY24" fmla="*/ 1656184 h 1656184"/>
              <a:gd name="csX25" fmla="*/ 5208579 w 8928992"/>
              <a:gd name="csY25" fmla="*/ 1656184 h 1656184"/>
              <a:gd name="csX26" fmla="*/ 4434733 w 8928992"/>
              <a:gd name="csY26" fmla="*/ 1656184 h 1656184"/>
              <a:gd name="csX27" fmla="*/ 3839467 w 8928992"/>
              <a:gd name="csY27" fmla="*/ 1656184 h 1656184"/>
              <a:gd name="csX28" fmla="*/ 3154911 w 8928992"/>
              <a:gd name="csY28" fmla="*/ 1656184 h 1656184"/>
              <a:gd name="csX29" fmla="*/ 2381065 w 8928992"/>
              <a:gd name="csY29" fmla="*/ 1656184 h 1656184"/>
              <a:gd name="csX30" fmla="*/ 2053668 w 8928992"/>
              <a:gd name="csY30" fmla="*/ 1656184 h 1656184"/>
              <a:gd name="csX31" fmla="*/ 1547692 w 8928992"/>
              <a:gd name="csY31" fmla="*/ 1656184 h 1656184"/>
              <a:gd name="csX32" fmla="*/ 863136 w 8928992"/>
              <a:gd name="csY32" fmla="*/ 1656184 h 1656184"/>
              <a:gd name="csX33" fmla="*/ 0 w 8928992"/>
              <a:gd name="csY33" fmla="*/ 1656184 h 1656184"/>
              <a:gd name="csX34" fmla="*/ 0 w 8928992"/>
              <a:gd name="csY34" fmla="*/ 1137246 h 1656184"/>
              <a:gd name="csX35" fmla="*/ 0 w 8928992"/>
              <a:gd name="csY35" fmla="*/ 601747 h 1656184"/>
              <a:gd name="csX36" fmla="*/ 0 w 8928992"/>
              <a:gd name="csY36" fmla="*/ 0 h 16561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</a:cxnLst>
            <a:rect l="l" t="t" r="r" b="b"/>
            <a:pathLst>
              <a:path w="8928992" h="1656184" fill="none" extrusionOk="0">
                <a:moveTo>
                  <a:pt x="0" y="0"/>
                </a:moveTo>
                <a:cubicBezTo>
                  <a:pt x="313064" y="-79815"/>
                  <a:pt x="521271" y="37749"/>
                  <a:pt x="684556" y="0"/>
                </a:cubicBezTo>
                <a:cubicBezTo>
                  <a:pt x="847841" y="-37749"/>
                  <a:pt x="922480" y="14909"/>
                  <a:pt x="1101242" y="0"/>
                </a:cubicBezTo>
                <a:cubicBezTo>
                  <a:pt x="1280004" y="-14909"/>
                  <a:pt x="1372094" y="49100"/>
                  <a:pt x="1607219" y="0"/>
                </a:cubicBezTo>
                <a:cubicBezTo>
                  <a:pt x="1842344" y="-49100"/>
                  <a:pt x="2098225" y="43213"/>
                  <a:pt x="2291775" y="0"/>
                </a:cubicBezTo>
                <a:cubicBezTo>
                  <a:pt x="2485325" y="-43213"/>
                  <a:pt x="2589812" y="11134"/>
                  <a:pt x="2887041" y="0"/>
                </a:cubicBezTo>
                <a:cubicBezTo>
                  <a:pt x="3184270" y="-11134"/>
                  <a:pt x="3240866" y="23121"/>
                  <a:pt x="3482307" y="0"/>
                </a:cubicBezTo>
                <a:cubicBezTo>
                  <a:pt x="3723748" y="-23121"/>
                  <a:pt x="3899355" y="80471"/>
                  <a:pt x="4256153" y="0"/>
                </a:cubicBezTo>
                <a:cubicBezTo>
                  <a:pt x="4612951" y="-80471"/>
                  <a:pt x="4530642" y="44090"/>
                  <a:pt x="4672839" y="0"/>
                </a:cubicBezTo>
                <a:cubicBezTo>
                  <a:pt x="4815036" y="-44090"/>
                  <a:pt x="5040007" y="33325"/>
                  <a:pt x="5178815" y="0"/>
                </a:cubicBezTo>
                <a:cubicBezTo>
                  <a:pt x="5317623" y="-33325"/>
                  <a:pt x="5743911" y="77622"/>
                  <a:pt x="5952661" y="0"/>
                </a:cubicBezTo>
                <a:cubicBezTo>
                  <a:pt x="6161411" y="-77622"/>
                  <a:pt x="6461798" y="73436"/>
                  <a:pt x="6726507" y="0"/>
                </a:cubicBezTo>
                <a:cubicBezTo>
                  <a:pt x="6991216" y="-73436"/>
                  <a:pt x="7131523" y="3762"/>
                  <a:pt x="7321773" y="0"/>
                </a:cubicBezTo>
                <a:cubicBezTo>
                  <a:pt x="7512023" y="-3762"/>
                  <a:pt x="7551036" y="15128"/>
                  <a:pt x="7649170" y="0"/>
                </a:cubicBezTo>
                <a:cubicBezTo>
                  <a:pt x="7747304" y="-15128"/>
                  <a:pt x="7948958" y="16713"/>
                  <a:pt x="8155146" y="0"/>
                </a:cubicBezTo>
                <a:cubicBezTo>
                  <a:pt x="8361334" y="-16713"/>
                  <a:pt x="8764060" y="46923"/>
                  <a:pt x="8928992" y="0"/>
                </a:cubicBezTo>
                <a:cubicBezTo>
                  <a:pt x="8943640" y="153381"/>
                  <a:pt x="8909659" y="343871"/>
                  <a:pt x="8928992" y="585185"/>
                </a:cubicBezTo>
                <a:cubicBezTo>
                  <a:pt x="8948325" y="826500"/>
                  <a:pt x="8877646" y="908502"/>
                  <a:pt x="8928992" y="1170370"/>
                </a:cubicBezTo>
                <a:cubicBezTo>
                  <a:pt x="8980338" y="1432238"/>
                  <a:pt x="8901023" y="1528740"/>
                  <a:pt x="8928992" y="1656184"/>
                </a:cubicBezTo>
                <a:cubicBezTo>
                  <a:pt x="8774061" y="1664414"/>
                  <a:pt x="8613123" y="1614557"/>
                  <a:pt x="8512306" y="1656184"/>
                </a:cubicBezTo>
                <a:cubicBezTo>
                  <a:pt x="8411489" y="1697811"/>
                  <a:pt x="8067080" y="1584079"/>
                  <a:pt x="7738460" y="1656184"/>
                </a:cubicBezTo>
                <a:cubicBezTo>
                  <a:pt x="7409840" y="1728289"/>
                  <a:pt x="7267662" y="1599074"/>
                  <a:pt x="7053904" y="1656184"/>
                </a:cubicBezTo>
                <a:cubicBezTo>
                  <a:pt x="6840146" y="1713294"/>
                  <a:pt x="6812102" y="1655998"/>
                  <a:pt x="6726507" y="1656184"/>
                </a:cubicBezTo>
                <a:cubicBezTo>
                  <a:pt x="6640912" y="1656370"/>
                  <a:pt x="6236250" y="1640847"/>
                  <a:pt x="6041951" y="1656184"/>
                </a:cubicBezTo>
                <a:cubicBezTo>
                  <a:pt x="5847652" y="1671521"/>
                  <a:pt x="5771230" y="1636715"/>
                  <a:pt x="5535975" y="1656184"/>
                </a:cubicBezTo>
                <a:cubicBezTo>
                  <a:pt x="5300720" y="1675653"/>
                  <a:pt x="5304101" y="1646015"/>
                  <a:pt x="5208579" y="1656184"/>
                </a:cubicBezTo>
                <a:cubicBezTo>
                  <a:pt x="5113057" y="1666353"/>
                  <a:pt x="4820005" y="1613192"/>
                  <a:pt x="4434733" y="1656184"/>
                </a:cubicBezTo>
                <a:cubicBezTo>
                  <a:pt x="4049461" y="1699176"/>
                  <a:pt x="4127654" y="1649805"/>
                  <a:pt x="3839467" y="1656184"/>
                </a:cubicBezTo>
                <a:cubicBezTo>
                  <a:pt x="3551280" y="1662563"/>
                  <a:pt x="3381871" y="1619237"/>
                  <a:pt x="3154911" y="1656184"/>
                </a:cubicBezTo>
                <a:cubicBezTo>
                  <a:pt x="2927951" y="1693131"/>
                  <a:pt x="2734609" y="1636814"/>
                  <a:pt x="2381065" y="1656184"/>
                </a:cubicBezTo>
                <a:cubicBezTo>
                  <a:pt x="2027521" y="1675554"/>
                  <a:pt x="2136708" y="1648307"/>
                  <a:pt x="2053668" y="1656184"/>
                </a:cubicBezTo>
                <a:cubicBezTo>
                  <a:pt x="1970628" y="1664061"/>
                  <a:pt x="1733191" y="1627361"/>
                  <a:pt x="1547692" y="1656184"/>
                </a:cubicBezTo>
                <a:cubicBezTo>
                  <a:pt x="1362193" y="1685007"/>
                  <a:pt x="1000857" y="1609059"/>
                  <a:pt x="863136" y="1656184"/>
                </a:cubicBezTo>
                <a:cubicBezTo>
                  <a:pt x="725415" y="1703309"/>
                  <a:pt x="330398" y="1628402"/>
                  <a:pt x="0" y="1656184"/>
                </a:cubicBezTo>
                <a:cubicBezTo>
                  <a:pt x="-8703" y="1477853"/>
                  <a:pt x="34493" y="1304061"/>
                  <a:pt x="0" y="1137246"/>
                </a:cubicBezTo>
                <a:cubicBezTo>
                  <a:pt x="-34493" y="970431"/>
                  <a:pt x="4781" y="839749"/>
                  <a:pt x="0" y="601747"/>
                </a:cubicBezTo>
                <a:cubicBezTo>
                  <a:pt x="-4781" y="363745"/>
                  <a:pt x="22133" y="219918"/>
                  <a:pt x="0" y="0"/>
                </a:cubicBezTo>
                <a:close/>
              </a:path>
              <a:path w="8928992" h="1656184" stroke="0" extrusionOk="0">
                <a:moveTo>
                  <a:pt x="0" y="0"/>
                </a:moveTo>
                <a:cubicBezTo>
                  <a:pt x="317854" y="-57264"/>
                  <a:pt x="425655" y="62884"/>
                  <a:pt x="684556" y="0"/>
                </a:cubicBezTo>
                <a:cubicBezTo>
                  <a:pt x="943457" y="-62884"/>
                  <a:pt x="999427" y="18678"/>
                  <a:pt x="1190532" y="0"/>
                </a:cubicBezTo>
                <a:cubicBezTo>
                  <a:pt x="1381637" y="-18678"/>
                  <a:pt x="1513302" y="18334"/>
                  <a:pt x="1696508" y="0"/>
                </a:cubicBezTo>
                <a:cubicBezTo>
                  <a:pt x="1879714" y="-18334"/>
                  <a:pt x="2128085" y="66833"/>
                  <a:pt x="2381065" y="0"/>
                </a:cubicBezTo>
                <a:cubicBezTo>
                  <a:pt x="2634045" y="-66833"/>
                  <a:pt x="2635547" y="36849"/>
                  <a:pt x="2708461" y="0"/>
                </a:cubicBezTo>
                <a:cubicBezTo>
                  <a:pt x="2781375" y="-36849"/>
                  <a:pt x="3182219" y="33882"/>
                  <a:pt x="3303727" y="0"/>
                </a:cubicBezTo>
                <a:cubicBezTo>
                  <a:pt x="3425235" y="-33882"/>
                  <a:pt x="3834413" y="11561"/>
                  <a:pt x="3988283" y="0"/>
                </a:cubicBezTo>
                <a:cubicBezTo>
                  <a:pt x="4142153" y="-11561"/>
                  <a:pt x="4393605" y="41031"/>
                  <a:pt x="4583549" y="0"/>
                </a:cubicBezTo>
                <a:cubicBezTo>
                  <a:pt x="4773493" y="-41031"/>
                  <a:pt x="5112423" y="13144"/>
                  <a:pt x="5357395" y="0"/>
                </a:cubicBezTo>
                <a:cubicBezTo>
                  <a:pt x="5602367" y="-13144"/>
                  <a:pt x="5726889" y="6642"/>
                  <a:pt x="5863371" y="0"/>
                </a:cubicBezTo>
                <a:cubicBezTo>
                  <a:pt x="5999853" y="-6642"/>
                  <a:pt x="6267127" y="33808"/>
                  <a:pt x="6637217" y="0"/>
                </a:cubicBezTo>
                <a:cubicBezTo>
                  <a:pt x="7007307" y="-33808"/>
                  <a:pt x="6888889" y="35829"/>
                  <a:pt x="6964614" y="0"/>
                </a:cubicBezTo>
                <a:cubicBezTo>
                  <a:pt x="7040339" y="-35829"/>
                  <a:pt x="7272766" y="33576"/>
                  <a:pt x="7559880" y="0"/>
                </a:cubicBezTo>
                <a:cubicBezTo>
                  <a:pt x="7846994" y="-33576"/>
                  <a:pt x="7766140" y="4328"/>
                  <a:pt x="7887276" y="0"/>
                </a:cubicBezTo>
                <a:cubicBezTo>
                  <a:pt x="8008412" y="-4328"/>
                  <a:pt x="8590674" y="35236"/>
                  <a:pt x="8928992" y="0"/>
                </a:cubicBezTo>
                <a:cubicBezTo>
                  <a:pt x="8969389" y="125023"/>
                  <a:pt x="8894352" y="319804"/>
                  <a:pt x="8928992" y="518938"/>
                </a:cubicBezTo>
                <a:cubicBezTo>
                  <a:pt x="8963632" y="718072"/>
                  <a:pt x="8871126" y="922504"/>
                  <a:pt x="8928992" y="1054437"/>
                </a:cubicBezTo>
                <a:cubicBezTo>
                  <a:pt x="8986858" y="1186370"/>
                  <a:pt x="8862502" y="1422655"/>
                  <a:pt x="8928992" y="1656184"/>
                </a:cubicBezTo>
                <a:cubicBezTo>
                  <a:pt x="8818603" y="1665756"/>
                  <a:pt x="8707258" y="1646096"/>
                  <a:pt x="8512306" y="1656184"/>
                </a:cubicBezTo>
                <a:cubicBezTo>
                  <a:pt x="8317354" y="1666272"/>
                  <a:pt x="8079344" y="1633020"/>
                  <a:pt x="7827750" y="1656184"/>
                </a:cubicBezTo>
                <a:cubicBezTo>
                  <a:pt x="7576156" y="1679348"/>
                  <a:pt x="7379453" y="1597693"/>
                  <a:pt x="7232484" y="1656184"/>
                </a:cubicBezTo>
                <a:cubicBezTo>
                  <a:pt x="7085515" y="1714675"/>
                  <a:pt x="7062709" y="1651437"/>
                  <a:pt x="6905087" y="1656184"/>
                </a:cubicBezTo>
                <a:cubicBezTo>
                  <a:pt x="6747465" y="1660931"/>
                  <a:pt x="6453403" y="1598090"/>
                  <a:pt x="6131241" y="1656184"/>
                </a:cubicBezTo>
                <a:cubicBezTo>
                  <a:pt x="5809079" y="1714278"/>
                  <a:pt x="5862389" y="1611767"/>
                  <a:pt x="5625265" y="1656184"/>
                </a:cubicBezTo>
                <a:cubicBezTo>
                  <a:pt x="5388141" y="1700601"/>
                  <a:pt x="5122829" y="1618774"/>
                  <a:pt x="4851419" y="1656184"/>
                </a:cubicBezTo>
                <a:cubicBezTo>
                  <a:pt x="4580009" y="1693594"/>
                  <a:pt x="4597525" y="1643181"/>
                  <a:pt x="4524023" y="1656184"/>
                </a:cubicBezTo>
                <a:cubicBezTo>
                  <a:pt x="4450521" y="1669187"/>
                  <a:pt x="4329136" y="1622859"/>
                  <a:pt x="4196626" y="1656184"/>
                </a:cubicBezTo>
                <a:cubicBezTo>
                  <a:pt x="4064116" y="1689509"/>
                  <a:pt x="3802615" y="1655889"/>
                  <a:pt x="3512070" y="1656184"/>
                </a:cubicBezTo>
                <a:cubicBezTo>
                  <a:pt x="3221525" y="1656479"/>
                  <a:pt x="2996336" y="1586032"/>
                  <a:pt x="2827514" y="1656184"/>
                </a:cubicBezTo>
                <a:cubicBezTo>
                  <a:pt x="2658692" y="1726336"/>
                  <a:pt x="2423957" y="1619246"/>
                  <a:pt x="2053668" y="1656184"/>
                </a:cubicBezTo>
                <a:cubicBezTo>
                  <a:pt x="1683379" y="1693122"/>
                  <a:pt x="1442173" y="1626326"/>
                  <a:pt x="1279822" y="1656184"/>
                </a:cubicBezTo>
                <a:cubicBezTo>
                  <a:pt x="1117471" y="1686042"/>
                  <a:pt x="1098308" y="1655920"/>
                  <a:pt x="952426" y="1656184"/>
                </a:cubicBezTo>
                <a:cubicBezTo>
                  <a:pt x="806544" y="1656448"/>
                  <a:pt x="434287" y="1564474"/>
                  <a:pt x="0" y="1656184"/>
                </a:cubicBezTo>
                <a:cubicBezTo>
                  <a:pt x="-19701" y="1453364"/>
                  <a:pt x="56200" y="1216295"/>
                  <a:pt x="0" y="1104123"/>
                </a:cubicBezTo>
                <a:cubicBezTo>
                  <a:pt x="-56200" y="991951"/>
                  <a:pt x="6736" y="807916"/>
                  <a:pt x="0" y="518938"/>
                </a:cubicBezTo>
                <a:cubicBezTo>
                  <a:pt x="-6736" y="229960"/>
                  <a:pt x="7753" y="175907"/>
                  <a:pt x="0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prstDash val="solid"/>
            <a:extLst>
              <a:ext uri="{C807C97D-BFC1-408E-A445-0C87EB9F89A2}">
                <ask:lineSketchStyleProps xmlns:ask="http://schemas.microsoft.com/office/drawing/2018/sketchyshapes" sd="264831953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 dirty="0"/>
              <a:t>Obligation : autres caractéristiques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1981200" y="2057401"/>
            <a:ext cx="6419056" cy="3020690"/>
          </a:xfrm>
        </p:spPr>
        <p:txBody>
          <a:bodyPr>
            <a:normAutofit fontScale="85000" lnSpcReduction="20000"/>
          </a:bodyPr>
          <a:lstStyle/>
          <a:p>
            <a:endParaRPr lang="fr-CA" sz="3200" dirty="0"/>
          </a:p>
          <a:p>
            <a:r>
              <a:rPr lang="fr-CA" sz="2400" dirty="0"/>
              <a:t>Clauses restrictives (rachetables, remboursables, convertibles)</a:t>
            </a:r>
          </a:p>
          <a:p>
            <a:r>
              <a:rPr lang="fr-CA" sz="2400" dirty="0"/>
              <a:t>Lecture d'une cotation</a:t>
            </a:r>
          </a:p>
          <a:p>
            <a:endParaRPr lang="fr-CA" sz="2400" dirty="0"/>
          </a:p>
          <a:p>
            <a:endParaRPr lang="fr-CA" sz="2400" dirty="0"/>
          </a:p>
          <a:p>
            <a:pPr marL="0" indent="0">
              <a:buNone/>
            </a:pPr>
            <a:endParaRPr lang="fr-CA" sz="2400" dirty="0"/>
          </a:p>
          <a:p>
            <a:r>
              <a:rPr lang="fr-CA" sz="2400" dirty="0"/>
              <a:t>Inflation</a:t>
            </a:r>
          </a:p>
          <a:p>
            <a:r>
              <a:rPr lang="fr-CA" sz="2400" dirty="0"/>
              <a:t>Structure des taux d'intérêt à terme</a:t>
            </a:r>
          </a:p>
          <a:p>
            <a:endParaRPr lang="fr-CA" sz="2400" dirty="0"/>
          </a:p>
          <a:p>
            <a:endParaRPr lang="fr-CA" sz="2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37241AD-B364-4593-BD02-2A95F71188F8}"/>
              </a:ext>
            </a:extLst>
          </p:cNvPr>
          <p:cNvSpPr txBox="1"/>
          <p:nvPr/>
        </p:nvSpPr>
        <p:spPr>
          <a:xfrm>
            <a:off x="8465596" y="2330576"/>
            <a:ext cx="1900238" cy="10264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txBody>
          <a:bodyPr vert="horz" wrap="square" lIns="68580" tIns="34290" rIns="68580" bIns="34290" rtlCol="0">
            <a:normAutofit fontScale="92500"/>
          </a:bodyPr>
          <a:lstStyle/>
          <a:p>
            <a:pPr algn="ctr">
              <a:buClr>
                <a:schemeClr val="accent2"/>
              </a:buClr>
              <a:buSzPct val="125000"/>
            </a:pPr>
            <a:r>
              <a:rPr lang="fr-CA" sz="2000" dirty="0">
                <a:solidFill>
                  <a:schemeClr val="bg1"/>
                </a:solidFill>
                <a:latin typeface="Ink Free" panose="03080402000500000000" pitchFamily="66" charset="0"/>
              </a:rPr>
              <a:t>Couverture dans les lectures et les capsules vidéo</a:t>
            </a:r>
            <a:endParaRPr lang="fr-FR" sz="2000" dirty="0"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8694A26-D9C3-49A3-B2D9-5B21A96287FD}"/>
              </a:ext>
            </a:extLst>
          </p:cNvPr>
          <p:cNvSpPr txBox="1"/>
          <p:nvPr/>
        </p:nvSpPr>
        <p:spPr>
          <a:xfrm>
            <a:off x="8469851" y="4227985"/>
            <a:ext cx="1900238" cy="85010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txBody>
          <a:bodyPr vert="horz" wrap="square" lIns="68580" tIns="34290" rIns="68580" bIns="34290" rtlCol="0">
            <a:normAutofit lnSpcReduction="10000"/>
          </a:bodyPr>
          <a:lstStyle/>
          <a:p>
            <a:pPr algn="ctr">
              <a:buClr>
                <a:schemeClr val="accent2"/>
              </a:buClr>
              <a:buSzPct val="125000"/>
            </a:pPr>
            <a:r>
              <a:rPr lang="fr-CA" sz="2800" dirty="0">
                <a:solidFill>
                  <a:schemeClr val="bg1"/>
                </a:solidFill>
                <a:latin typeface="Ink Free" panose="03080402000500000000" pitchFamily="66" charset="0"/>
              </a:rPr>
              <a:t>Non </a:t>
            </a:r>
            <a:r>
              <a:rPr lang="fr-CA" sz="2800" dirty="0" err="1">
                <a:solidFill>
                  <a:schemeClr val="bg1"/>
                </a:solidFill>
                <a:latin typeface="Ink Free" panose="03080402000500000000" pitchFamily="66" charset="0"/>
              </a:rPr>
              <a:t>couvert</a:t>
            </a:r>
            <a:endParaRPr lang="fr-FR" sz="2800" dirty="0"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 dirty="0">
                <a:solidFill>
                  <a:srgbClr val="FF0000"/>
                </a:solidFill>
              </a:rPr>
              <a:t>C – Obligations : </a:t>
            </a:r>
            <a:r>
              <a:rPr lang="fr-CA" b="1" dirty="0" err="1">
                <a:solidFill>
                  <a:srgbClr val="FF0000"/>
                </a:solidFill>
              </a:rPr>
              <a:t>Facteurs</a:t>
            </a:r>
            <a:r>
              <a:rPr lang="fr-CA" b="1" dirty="0">
                <a:solidFill>
                  <a:srgbClr val="FF0000"/>
                </a:solidFill>
              </a:rPr>
              <a:t> de risque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23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504A22-5DF7-4857-BF45-E36537C7C389}"/>
              </a:ext>
            </a:extLst>
          </p:cNvPr>
          <p:cNvSpPr txBox="1"/>
          <p:nvPr/>
        </p:nvSpPr>
        <p:spPr>
          <a:xfrm>
            <a:off x="191344" y="1295183"/>
            <a:ext cx="509425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fr-CA" sz="2200" b="1" dirty="0">
                <a:solidFill>
                  <a:prstClr val="black"/>
                </a:solidFill>
                <a:latin typeface="Georgia"/>
              </a:rPr>
              <a:t>Qu'est-ce que le RAÉ ? </a:t>
            </a:r>
            <a:r>
              <a:rPr lang="fr-CA" sz="2200" dirty="0">
                <a:solidFill>
                  <a:prstClr val="black"/>
                </a:solidFill>
                <a:latin typeface="Georgia"/>
              </a:rPr>
              <a:t>Décomposons</a:t>
            </a:r>
            <a:r>
              <a:rPr lang="fr-CA" sz="2200" dirty="0" err="1">
                <a:solidFill>
                  <a:prstClr val="black"/>
                </a:solidFill>
                <a:latin typeface="Georgia"/>
              </a:rPr>
              <a:t>-</a:t>
            </a:r>
            <a:r>
              <a:rPr lang="fr-CA" sz="2200" dirty="0">
                <a:solidFill>
                  <a:prstClr val="black"/>
                </a:solidFill>
                <a:latin typeface="Georgia"/>
              </a:rPr>
              <a:t>le </a:t>
            </a:r>
            <a:r>
              <a:rPr lang="fr-CA" sz="2200" dirty="0" err="1">
                <a:solidFill>
                  <a:prstClr val="black"/>
                </a:solidFill>
                <a:latin typeface="Georgia"/>
              </a:rPr>
              <a:t>en ses différents éléments</a:t>
            </a:r>
            <a:r>
              <a:rPr lang="fr-CA" sz="2200" dirty="0">
                <a:solidFill>
                  <a:prstClr val="black"/>
                </a:solidFill>
                <a:latin typeface="Georgia"/>
              </a:rPr>
              <a:t>...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1CA56A-A0EE-4784-BE90-D6814673FA2C}"/>
              </a:ext>
            </a:extLst>
          </p:cNvPr>
          <p:cNvSpPr/>
          <p:nvPr/>
        </p:nvSpPr>
        <p:spPr>
          <a:xfrm>
            <a:off x="1602209" y="3317572"/>
            <a:ext cx="2137738" cy="30862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noFill/>
            <a:prstDash val="soli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BE5C66-288F-4226-9DF4-10DED0A2305E}"/>
              </a:ext>
            </a:extLst>
          </p:cNvPr>
          <p:cNvSpPr/>
          <p:nvPr/>
        </p:nvSpPr>
        <p:spPr>
          <a:xfrm>
            <a:off x="1602209" y="3902120"/>
            <a:ext cx="2137738" cy="164399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noFill/>
            <a:prstDash val="soli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5">
            <a:extLst>
              <a:ext uri="{FF2B5EF4-FFF2-40B4-BE49-F238E27FC236}">
                <a16:creationId xmlns:a16="http://schemas.microsoft.com/office/drawing/2014/main" id="{03E57298-7CF3-434C-9318-E20AFFDDFB31}"/>
              </a:ext>
            </a:extLst>
          </p:cNvPr>
          <p:cNvSpPr txBox="1"/>
          <p:nvPr/>
        </p:nvSpPr>
        <p:spPr>
          <a:xfrm>
            <a:off x="1282713" y="2622033"/>
            <a:ext cx="2736304" cy="32092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>
              <a:buClr>
                <a:schemeClr val="accent2"/>
              </a:buClr>
              <a:buSzPct val="125000"/>
            </a:pPr>
            <a:r>
              <a:rPr lang="fr-CA" sz="2200" b="1" dirty="0">
                <a:latin typeface="+mj-lt"/>
              </a:rPr>
              <a:t>RAÉ</a:t>
            </a:r>
            <a:endParaRPr lang="fr-FR" sz="2200" b="1" dirty="0">
              <a:latin typeface="+mj-lt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9DB0F5-5FEF-4601-8268-FB20488F421F}"/>
              </a:ext>
            </a:extLst>
          </p:cNvPr>
          <p:cNvSpPr/>
          <p:nvPr/>
        </p:nvSpPr>
        <p:spPr>
          <a:xfrm>
            <a:off x="1581996" y="5621301"/>
            <a:ext cx="2137738" cy="8139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noFill/>
            <a:prstDash val="solid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ZoneTexte 10">
            <a:extLst>
              <a:ext uri="{FF2B5EF4-FFF2-40B4-BE49-F238E27FC236}">
                <a16:creationId xmlns:a16="http://schemas.microsoft.com/office/drawing/2014/main" id="{D9FFB752-3D19-4412-8A56-8F39C8894AE6}"/>
              </a:ext>
            </a:extLst>
          </p:cNvPr>
          <p:cNvSpPr txBox="1"/>
          <p:nvPr/>
        </p:nvSpPr>
        <p:spPr>
          <a:xfrm>
            <a:off x="1812644" y="3351411"/>
            <a:ext cx="1800200" cy="82809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algn="ctr">
              <a:buClr>
                <a:schemeClr val="accent2"/>
              </a:buClr>
              <a:buSzPct val="125000"/>
            </a:pPr>
            <a:r>
              <a:rPr lang="fr-CA" sz="1600" b="1" dirty="0"/>
              <a:t>Prime d'inflation</a:t>
            </a:r>
            <a:endParaRPr lang="fr-FR" sz="1600" b="1" dirty="0"/>
          </a:p>
        </p:txBody>
      </p:sp>
      <p:sp>
        <p:nvSpPr>
          <p:cNvPr id="26" name="ZoneTexte 11">
            <a:extLst>
              <a:ext uri="{FF2B5EF4-FFF2-40B4-BE49-F238E27FC236}">
                <a16:creationId xmlns:a16="http://schemas.microsoft.com/office/drawing/2014/main" id="{21FF278B-5C5C-47C9-BE78-55BC2A15F9E0}"/>
              </a:ext>
            </a:extLst>
          </p:cNvPr>
          <p:cNvSpPr txBox="1"/>
          <p:nvPr/>
        </p:nvSpPr>
        <p:spPr>
          <a:xfrm>
            <a:off x="1489697" y="4401320"/>
            <a:ext cx="2362763" cy="93610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algn="ctr">
              <a:buClr>
                <a:schemeClr val="accent2"/>
              </a:buClr>
              <a:buSzPct val="125000"/>
            </a:pPr>
            <a:endParaRPr lang="fr-CA" sz="1670" b="1" dirty="0"/>
          </a:p>
          <a:p>
            <a:pPr algn="ctr">
              <a:buClr>
                <a:schemeClr val="accent2"/>
              </a:buClr>
              <a:buSzPct val="125000"/>
            </a:pPr>
            <a:r>
              <a:rPr lang="fr-CA" sz="1670" b="1" dirty="0"/>
              <a:t>Prime de risque</a:t>
            </a:r>
            <a:endParaRPr lang="fr-FR" sz="1670" b="1" dirty="0"/>
          </a:p>
        </p:txBody>
      </p:sp>
      <p:sp>
        <p:nvSpPr>
          <p:cNvPr id="28" name="ZoneTexte 12">
            <a:extLst>
              <a:ext uri="{FF2B5EF4-FFF2-40B4-BE49-F238E27FC236}">
                <a16:creationId xmlns:a16="http://schemas.microsoft.com/office/drawing/2014/main" id="{8D01343A-C5F6-4222-A62D-162EDDA0F860}"/>
              </a:ext>
            </a:extLst>
          </p:cNvPr>
          <p:cNvSpPr txBox="1"/>
          <p:nvPr/>
        </p:nvSpPr>
        <p:spPr>
          <a:xfrm>
            <a:off x="1531363" y="6026775"/>
            <a:ext cx="2362763" cy="66902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>
              <a:buClr>
                <a:schemeClr val="accent2"/>
              </a:buClr>
              <a:buSzPct val="125000"/>
            </a:pPr>
            <a:r>
              <a:rPr lang="fr-CA" sz="1670" b="1" dirty="0"/>
              <a:t>Prime de temps</a:t>
            </a:r>
            <a:endParaRPr lang="fr-FR" sz="1670" b="1" dirty="0"/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74267F0A-70AE-4734-B1CA-F26537ABC7BA}"/>
              </a:ext>
            </a:extLst>
          </p:cNvPr>
          <p:cNvSpPr txBox="1">
            <a:spLocks/>
          </p:cNvSpPr>
          <p:nvPr/>
        </p:nvSpPr>
        <p:spPr>
          <a:xfrm>
            <a:off x="6420662" y="1341408"/>
            <a:ext cx="3939489" cy="182354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Char char=""/>
              <a:defRPr kumimoji="0"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Char char="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Char char=""/>
              <a:defRPr kumimoji="0"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fr-CA" dirty="0"/>
          </a:p>
          <a:p>
            <a:pPr marL="274320" lvl="1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</p:txBody>
      </p:sp>
      <p:sp>
        <p:nvSpPr>
          <p:cNvPr id="5" name="Equals 4">
            <a:extLst>
              <a:ext uri="{FF2B5EF4-FFF2-40B4-BE49-F238E27FC236}">
                <a16:creationId xmlns:a16="http://schemas.microsoft.com/office/drawing/2014/main" id="{6272E6BF-FC18-4CFF-99E1-92571B9F018F}"/>
              </a:ext>
            </a:extLst>
          </p:cNvPr>
          <p:cNvSpPr/>
          <p:nvPr/>
        </p:nvSpPr>
        <p:spPr>
          <a:xfrm>
            <a:off x="2344897" y="2980476"/>
            <a:ext cx="624659" cy="339554"/>
          </a:xfrm>
          <a:prstGeom prst="mathEqual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>
              <a:solidFill>
                <a:schemeClr val="tx1"/>
              </a:solidFill>
            </a:endParaRPr>
          </a:p>
        </p:txBody>
      </p:sp>
      <p:sp>
        <p:nvSpPr>
          <p:cNvPr id="6" name="Plus Sign 5">
            <a:extLst>
              <a:ext uri="{FF2B5EF4-FFF2-40B4-BE49-F238E27FC236}">
                <a16:creationId xmlns:a16="http://schemas.microsoft.com/office/drawing/2014/main" id="{742E48F9-4792-4776-895F-D1E40D16374C}"/>
              </a:ext>
            </a:extLst>
          </p:cNvPr>
          <p:cNvSpPr/>
          <p:nvPr/>
        </p:nvSpPr>
        <p:spPr>
          <a:xfrm>
            <a:off x="2363665" y="3616663"/>
            <a:ext cx="614825" cy="682444"/>
          </a:xfrm>
          <a:prstGeom prst="mathPlus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Plus Sign 6">
            <a:extLst>
              <a:ext uri="{FF2B5EF4-FFF2-40B4-BE49-F238E27FC236}">
                <a16:creationId xmlns:a16="http://schemas.microsoft.com/office/drawing/2014/main" id="{DBE93C47-FDF1-4415-A795-278DB23F2E57}"/>
              </a:ext>
            </a:extLst>
          </p:cNvPr>
          <p:cNvSpPr/>
          <p:nvPr/>
        </p:nvSpPr>
        <p:spPr>
          <a:xfrm>
            <a:off x="2373256" y="5285640"/>
            <a:ext cx="605234" cy="619188"/>
          </a:xfrm>
          <a:prstGeom prst="mathPlus">
            <a:avLst/>
          </a:prstGeom>
          <a:solidFill>
            <a:srgbClr val="0080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3EE411-B88C-486D-B8C1-E2B0159DD7E8}"/>
              </a:ext>
            </a:extLst>
          </p:cNvPr>
          <p:cNvSpPr txBox="1"/>
          <p:nvPr/>
        </p:nvSpPr>
        <p:spPr>
          <a:xfrm>
            <a:off x="5123109" y="1403233"/>
            <a:ext cx="6733531" cy="4856714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fr-CA" dirty="0" err="1">
                <a:solidFill>
                  <a:prstClr val="black"/>
                </a:solidFill>
                <a:latin typeface="Georgia"/>
              </a:rPr>
              <a:t>Les prix</a:t>
            </a:r>
            <a:r>
              <a:rPr lang="fr-CA" dirty="0">
                <a:solidFill>
                  <a:prstClr val="black"/>
                </a:solidFill>
                <a:latin typeface="Georgia"/>
              </a:rPr>
              <a:t> des obligations </a:t>
            </a:r>
            <a:r>
              <a:rPr lang="fr-CA" dirty="0" err="1">
                <a:solidFill>
                  <a:prstClr val="black"/>
                </a:solidFill>
                <a:latin typeface="Georgia"/>
              </a:rPr>
              <a:t>varient </a:t>
            </a:r>
            <a:r>
              <a:rPr lang="fr-CA" dirty="0">
                <a:solidFill>
                  <a:prstClr val="black"/>
                </a:solidFill>
                <a:latin typeface="Georgia"/>
              </a:rPr>
              <a:t>au fil du temps...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endParaRPr lang="fr-CA" b="1" dirty="0">
              <a:solidFill>
                <a:prstClr val="black"/>
              </a:solidFill>
              <a:latin typeface="Georgia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fr-CA" b="1" dirty="0" err="1">
                <a:solidFill>
                  <a:prstClr val="black"/>
                </a:solidFill>
                <a:latin typeface="Georgia"/>
              </a:rPr>
              <a:t>Pourquoi </a:t>
            </a:r>
            <a:r>
              <a:rPr lang="fr-CA" b="1" dirty="0">
                <a:solidFill>
                  <a:prstClr val="black"/>
                </a:solidFill>
                <a:latin typeface="Georgia"/>
              </a:rPr>
              <a:t>? </a:t>
            </a:r>
            <a:r>
              <a:rPr lang="fr-CA" dirty="0">
                <a:solidFill>
                  <a:prstClr val="black"/>
                </a:solidFill>
                <a:latin typeface="Georgia"/>
              </a:rPr>
              <a:t>Parce que le RAÉ varie au fil du temps...</a:t>
            </a: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endParaRPr lang="fr-CA" b="1" dirty="0">
              <a:solidFill>
                <a:prstClr val="black"/>
              </a:solidFill>
              <a:latin typeface="Georgia"/>
            </a:endParaRPr>
          </a:p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4F81BD"/>
              </a:buClr>
              <a:buSzPct val="85000"/>
              <a:defRPr/>
            </a:pPr>
            <a:r>
              <a:rPr lang="fr-CA" b="1" dirty="0" err="1">
                <a:solidFill>
                  <a:prstClr val="black"/>
                </a:solidFill>
                <a:latin typeface="Georgia"/>
              </a:rPr>
              <a:t>Pourquoi </a:t>
            </a:r>
            <a:r>
              <a:rPr lang="fr-CA" b="1" dirty="0">
                <a:solidFill>
                  <a:prstClr val="black"/>
                </a:solidFill>
                <a:latin typeface="Georgia"/>
              </a:rPr>
              <a:t>? </a:t>
            </a:r>
          </a:p>
          <a:p>
            <a:pPr marL="342900" indent="-342900">
              <a:spcBef>
                <a:spcPct val="20000"/>
              </a:spcBef>
              <a:buClr>
                <a:srgbClr val="4F81BD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fr-CA" u="sng" dirty="0">
                <a:solidFill>
                  <a:prstClr val="black"/>
                </a:solidFill>
                <a:latin typeface="Georgia"/>
              </a:rPr>
              <a:t>Risque de défaut ou risque de crédit peut changer </a:t>
            </a:r>
          </a:p>
          <a:p>
            <a:pPr marL="800100" lvl="1" indent="-342900">
              <a:spcBef>
                <a:spcPct val="20000"/>
              </a:spcBef>
              <a:buClr>
                <a:srgbClr val="4F81BD"/>
              </a:buClr>
              <a:buSzPct val="85000"/>
              <a:buFont typeface="Courier New" panose="02070309020205020404" pitchFamily="49" charset="0"/>
              <a:buChar char="o"/>
              <a:defRPr/>
            </a:pPr>
            <a:r>
              <a:rPr lang="fr-CA" dirty="0" err="1">
                <a:solidFill>
                  <a:prstClr val="black"/>
                </a:solidFill>
                <a:latin typeface="Georgia"/>
              </a:rPr>
              <a:t>Mesuré </a:t>
            </a:r>
            <a:r>
              <a:rPr lang="fr-CA" dirty="0">
                <a:solidFill>
                  <a:prstClr val="black"/>
                </a:solidFill>
                <a:latin typeface="Georgia"/>
              </a:rPr>
              <a:t>par la notation </a:t>
            </a:r>
            <a:r>
              <a:rPr lang="fr-CA" dirty="0" err="1">
                <a:solidFill>
                  <a:prstClr val="black"/>
                </a:solidFill>
                <a:latin typeface="Georgia"/>
              </a:rPr>
              <a:t>de crédit</a:t>
            </a:r>
          </a:p>
          <a:p>
            <a:pPr marL="800100" lvl="1" indent="-342900">
              <a:spcBef>
                <a:spcPct val="20000"/>
              </a:spcBef>
              <a:buClr>
                <a:srgbClr val="4F81BD"/>
              </a:buClr>
              <a:buSzPct val="85000"/>
              <a:buFont typeface="Courier New" panose="02070309020205020404" pitchFamily="49" charset="0"/>
              <a:buChar char="o"/>
              <a:defRPr/>
            </a:pPr>
            <a:r>
              <a:rPr lang="en-US" b="1" dirty="0">
                <a:solidFill>
                  <a:srgbClr val="FF0000"/>
                </a:solidFill>
                <a:latin typeface="Ink Free" panose="03080402000500000000" pitchFamily="66" charset="0"/>
              </a:rPr>
              <a:t>À mesure que le risque de </a:t>
            </a:r>
            <a:r>
              <a:rPr lang="en-US" b="1" dirty="0" err="1">
                <a:solidFill>
                  <a:srgbClr val="FF0000"/>
                </a:solidFill>
                <a:latin typeface="Ink Free" panose="03080402000500000000" pitchFamily="66" charset="0"/>
              </a:rPr>
              <a:t>défaut</a:t>
            </a:r>
            <a:r>
              <a:rPr lang="en-US" b="1" dirty="0">
                <a:solidFill>
                  <a:srgbClr val="FF0000"/>
                </a:solidFill>
                <a:latin typeface="Ink Free" panose="03080402000500000000" pitchFamily="66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Ink Free" panose="03080402000500000000" pitchFamily="66" charset="0"/>
              </a:rPr>
              <a:t>augmente</a:t>
            </a:r>
            <a:r>
              <a:rPr lang="en-US" b="1" dirty="0">
                <a:solidFill>
                  <a:srgbClr val="FF0000"/>
                </a:solidFill>
                <a:latin typeface="Ink Free" panose="03080402000500000000" pitchFamily="66" charset="0"/>
              </a:rPr>
              <a:t>, le rendement à l'échéance augmente et le prix diminue, et inversement</a:t>
            </a:r>
          </a:p>
          <a:p>
            <a:pPr marL="800100" lvl="1" indent="-342900">
              <a:spcBef>
                <a:spcPct val="20000"/>
              </a:spcBef>
              <a:buClr>
                <a:srgbClr val="4F81BD"/>
              </a:buClr>
              <a:buSzPct val="85000"/>
              <a:buFont typeface="Courier New" panose="02070309020205020404" pitchFamily="49" charset="0"/>
              <a:buChar char="o"/>
              <a:defRPr/>
            </a:pPr>
            <a:endParaRPr lang="fr-CA" dirty="0">
              <a:solidFill>
                <a:prstClr val="black"/>
              </a:solidFill>
              <a:latin typeface="Georgia"/>
            </a:endParaRPr>
          </a:p>
          <a:p>
            <a:pPr marL="342900" indent="-342900">
              <a:spcBef>
                <a:spcPct val="20000"/>
              </a:spcBef>
              <a:buClr>
                <a:srgbClr val="4F81BD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fr-CA" u="sng" dirty="0">
                <a:solidFill>
                  <a:prstClr val="black"/>
                </a:solidFill>
                <a:latin typeface="Georgia"/>
              </a:rPr>
              <a:t>Risque de taux d'intérêt car il varie dans le temps</a:t>
            </a:r>
          </a:p>
          <a:p>
            <a:pPr marL="800100" lvl="1" indent="-342900">
              <a:spcBef>
                <a:spcPct val="20000"/>
              </a:spcBef>
              <a:buClr>
                <a:srgbClr val="4F81BD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fr-CA" dirty="0" err="1">
                <a:latin typeface="+mj-lt"/>
              </a:rPr>
              <a:t>Nous </a:t>
            </a:r>
            <a:r>
              <a:rPr lang="fr-CA" dirty="0">
                <a:latin typeface="+mj-lt"/>
              </a:rPr>
              <a:t>connaissons la </a:t>
            </a:r>
            <a:r>
              <a:rPr lang="fr-CA" dirty="0" err="1">
                <a:latin typeface="+mj-lt"/>
              </a:rPr>
              <a:t>relation inverse entre </a:t>
            </a:r>
            <a:r>
              <a:rPr lang="fr-CA" dirty="0">
                <a:latin typeface="+mj-lt"/>
              </a:rPr>
              <a:t>le rendement à l'échéance et les </a:t>
            </a:r>
            <a:r>
              <a:rPr lang="fr-CA" dirty="0" err="1">
                <a:latin typeface="+mj-lt"/>
              </a:rPr>
              <a:t>prix</a:t>
            </a:r>
            <a:r>
              <a:rPr lang="fr-CA" dirty="0">
                <a:latin typeface="+mj-lt"/>
              </a:rPr>
              <a:t>...**</a:t>
            </a:r>
          </a:p>
          <a:p>
            <a:pPr marL="800100" lvl="1" indent="-342900">
              <a:spcBef>
                <a:spcPct val="20000"/>
              </a:spcBef>
              <a:buClr>
                <a:srgbClr val="4F81BD"/>
              </a:buClr>
              <a:buSzPct val="85000"/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rgbClr val="FF0000"/>
                </a:solidFill>
                <a:latin typeface="Ink Free" panose="03080402000500000000" pitchFamily="66" charset="0"/>
              </a:rPr>
              <a:t>MAIS... Toutes les obligations n'ont pas la même sensibilité aux variations de taux d'intérêt... Pourquoi ?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9DEE3C9B-4BE0-429F-A0FB-9589A5E5521F}"/>
              </a:ext>
            </a:extLst>
          </p:cNvPr>
          <p:cNvSpPr/>
          <p:nvPr/>
        </p:nvSpPr>
        <p:spPr>
          <a:xfrm rot="10800000">
            <a:off x="1361083" y="2403179"/>
            <a:ext cx="2592288" cy="244524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11" name="Picture 2" descr="Warning ">
            <a:extLst>
              <a:ext uri="{FF2B5EF4-FFF2-40B4-BE49-F238E27FC236}">
                <a16:creationId xmlns:a16="http://schemas.microsoft.com/office/drawing/2014/main" id="{DBF1142B-CAB0-A144-FE4B-14FFE2D3C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9287" y="2824575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977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E2067F3-CCB1-B1C6-D692-47615D1F2974}"/>
              </a:ext>
            </a:extLst>
          </p:cNvPr>
          <p:cNvSpPr/>
          <p:nvPr/>
        </p:nvSpPr>
        <p:spPr>
          <a:xfrm>
            <a:off x="623392" y="3753036"/>
            <a:ext cx="11233248" cy="1836204"/>
          </a:xfrm>
          <a:custGeom>
            <a:avLst/>
            <a:gdLst>
              <a:gd name="csX0" fmla="*/ 0 w 11233248"/>
              <a:gd name="csY0" fmla="*/ 306040 h 1836204"/>
              <a:gd name="csX1" fmla="*/ 306040 w 11233248"/>
              <a:gd name="csY1" fmla="*/ 0 h 1836204"/>
              <a:gd name="csX2" fmla="*/ 969863 w 11233248"/>
              <a:gd name="csY2" fmla="*/ 0 h 1836204"/>
              <a:gd name="csX3" fmla="*/ 1421263 w 11233248"/>
              <a:gd name="csY3" fmla="*/ 0 h 1836204"/>
              <a:gd name="csX4" fmla="*/ 2191297 w 11233248"/>
              <a:gd name="csY4" fmla="*/ 0 h 1836204"/>
              <a:gd name="csX5" fmla="*/ 2642697 w 11233248"/>
              <a:gd name="csY5" fmla="*/ 0 h 1836204"/>
              <a:gd name="csX6" fmla="*/ 3200308 w 11233248"/>
              <a:gd name="csY6" fmla="*/ 0 h 1836204"/>
              <a:gd name="csX7" fmla="*/ 3970343 w 11233248"/>
              <a:gd name="csY7" fmla="*/ 0 h 1836204"/>
              <a:gd name="csX8" fmla="*/ 4315531 w 11233248"/>
              <a:gd name="csY8" fmla="*/ 0 h 1836204"/>
              <a:gd name="csX9" fmla="*/ 5085566 w 11233248"/>
              <a:gd name="csY9" fmla="*/ 0 h 1836204"/>
              <a:gd name="csX10" fmla="*/ 5430754 w 11233248"/>
              <a:gd name="csY10" fmla="*/ 0 h 1836204"/>
              <a:gd name="csX11" fmla="*/ 6094577 w 11233248"/>
              <a:gd name="csY11" fmla="*/ 0 h 1836204"/>
              <a:gd name="csX12" fmla="*/ 6439765 w 11233248"/>
              <a:gd name="csY12" fmla="*/ 0 h 1836204"/>
              <a:gd name="csX13" fmla="*/ 6891164 w 11233248"/>
              <a:gd name="csY13" fmla="*/ 0 h 1836204"/>
              <a:gd name="csX14" fmla="*/ 7661199 w 11233248"/>
              <a:gd name="csY14" fmla="*/ 0 h 1836204"/>
              <a:gd name="csX15" fmla="*/ 8431234 w 11233248"/>
              <a:gd name="csY15" fmla="*/ 0 h 1836204"/>
              <a:gd name="csX16" fmla="*/ 8882633 w 11233248"/>
              <a:gd name="csY16" fmla="*/ 0 h 1836204"/>
              <a:gd name="csX17" fmla="*/ 9227821 w 11233248"/>
              <a:gd name="csY17" fmla="*/ 0 h 1836204"/>
              <a:gd name="csX18" fmla="*/ 9679221 w 11233248"/>
              <a:gd name="csY18" fmla="*/ 0 h 1836204"/>
              <a:gd name="csX19" fmla="*/ 10024409 w 11233248"/>
              <a:gd name="csY19" fmla="*/ 0 h 1836204"/>
              <a:gd name="csX20" fmla="*/ 10927208 w 11233248"/>
              <a:gd name="csY20" fmla="*/ 0 h 1836204"/>
              <a:gd name="csX21" fmla="*/ 11233248 w 11233248"/>
              <a:gd name="csY21" fmla="*/ 306040 h 1836204"/>
              <a:gd name="csX22" fmla="*/ 11233248 w 11233248"/>
              <a:gd name="csY22" fmla="*/ 905861 h 1836204"/>
              <a:gd name="csX23" fmla="*/ 11233248 w 11233248"/>
              <a:gd name="csY23" fmla="*/ 1530164 h 1836204"/>
              <a:gd name="csX24" fmla="*/ 10927208 w 11233248"/>
              <a:gd name="csY24" fmla="*/ 1836204 h 1836204"/>
              <a:gd name="csX25" fmla="*/ 10157173 w 11233248"/>
              <a:gd name="csY25" fmla="*/ 1836204 h 1836204"/>
              <a:gd name="csX26" fmla="*/ 9599562 w 11233248"/>
              <a:gd name="csY26" fmla="*/ 1836204 h 1836204"/>
              <a:gd name="csX27" fmla="*/ 9148162 w 11233248"/>
              <a:gd name="csY27" fmla="*/ 1836204 h 1836204"/>
              <a:gd name="csX28" fmla="*/ 8590551 w 11233248"/>
              <a:gd name="csY28" fmla="*/ 1836204 h 1836204"/>
              <a:gd name="csX29" fmla="*/ 8139151 w 11233248"/>
              <a:gd name="csY29" fmla="*/ 1836204 h 1836204"/>
              <a:gd name="csX30" fmla="*/ 7475328 w 11233248"/>
              <a:gd name="csY30" fmla="*/ 1836204 h 1836204"/>
              <a:gd name="csX31" fmla="*/ 7023929 w 11233248"/>
              <a:gd name="csY31" fmla="*/ 1836204 h 1836204"/>
              <a:gd name="csX32" fmla="*/ 6253894 w 11233248"/>
              <a:gd name="csY32" fmla="*/ 1836204 h 1836204"/>
              <a:gd name="csX33" fmla="*/ 5802494 w 11233248"/>
              <a:gd name="csY33" fmla="*/ 1836204 h 1836204"/>
              <a:gd name="csX34" fmla="*/ 5244883 w 11233248"/>
              <a:gd name="csY34" fmla="*/ 1836204 h 1836204"/>
              <a:gd name="csX35" fmla="*/ 4899695 w 11233248"/>
              <a:gd name="csY35" fmla="*/ 1836204 h 1836204"/>
              <a:gd name="csX36" fmla="*/ 4342084 w 11233248"/>
              <a:gd name="csY36" fmla="*/ 1836204 h 1836204"/>
              <a:gd name="csX37" fmla="*/ 3465837 w 11233248"/>
              <a:gd name="csY37" fmla="*/ 1836204 h 1836204"/>
              <a:gd name="csX38" fmla="*/ 2695803 w 11233248"/>
              <a:gd name="csY38" fmla="*/ 1836204 h 1836204"/>
              <a:gd name="csX39" fmla="*/ 1925768 w 11233248"/>
              <a:gd name="csY39" fmla="*/ 1836204 h 1836204"/>
              <a:gd name="csX40" fmla="*/ 1049522 w 11233248"/>
              <a:gd name="csY40" fmla="*/ 1836204 h 1836204"/>
              <a:gd name="csX41" fmla="*/ 306040 w 11233248"/>
              <a:gd name="csY41" fmla="*/ 1836204 h 1836204"/>
              <a:gd name="csX42" fmla="*/ 0 w 11233248"/>
              <a:gd name="csY42" fmla="*/ 1530164 h 1836204"/>
              <a:gd name="csX43" fmla="*/ 0 w 11233248"/>
              <a:gd name="csY43" fmla="*/ 942584 h 1836204"/>
              <a:gd name="csX44" fmla="*/ 0 w 11233248"/>
              <a:gd name="csY44" fmla="*/ 306040 h 18362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11233248" h="1836204" fill="none" extrusionOk="0">
                <a:moveTo>
                  <a:pt x="0" y="306040"/>
                </a:moveTo>
                <a:cubicBezTo>
                  <a:pt x="-7663" y="173679"/>
                  <a:pt x="146833" y="17201"/>
                  <a:pt x="306040" y="0"/>
                </a:cubicBezTo>
                <a:cubicBezTo>
                  <a:pt x="574603" y="3575"/>
                  <a:pt x="818910" y="-5851"/>
                  <a:pt x="969863" y="0"/>
                </a:cubicBezTo>
                <a:cubicBezTo>
                  <a:pt x="1120816" y="5851"/>
                  <a:pt x="1308685" y="-1576"/>
                  <a:pt x="1421263" y="0"/>
                </a:cubicBezTo>
                <a:cubicBezTo>
                  <a:pt x="1533841" y="1576"/>
                  <a:pt x="2030138" y="-28309"/>
                  <a:pt x="2191297" y="0"/>
                </a:cubicBezTo>
                <a:cubicBezTo>
                  <a:pt x="2352456" y="28309"/>
                  <a:pt x="2544273" y="-20281"/>
                  <a:pt x="2642697" y="0"/>
                </a:cubicBezTo>
                <a:cubicBezTo>
                  <a:pt x="2741121" y="20281"/>
                  <a:pt x="3078653" y="15664"/>
                  <a:pt x="3200308" y="0"/>
                </a:cubicBezTo>
                <a:cubicBezTo>
                  <a:pt x="3321963" y="-15664"/>
                  <a:pt x="3616299" y="29975"/>
                  <a:pt x="3970343" y="0"/>
                </a:cubicBezTo>
                <a:cubicBezTo>
                  <a:pt x="4324387" y="-29975"/>
                  <a:pt x="4234479" y="13294"/>
                  <a:pt x="4315531" y="0"/>
                </a:cubicBezTo>
                <a:cubicBezTo>
                  <a:pt x="4396583" y="-13294"/>
                  <a:pt x="4900014" y="-7178"/>
                  <a:pt x="5085566" y="0"/>
                </a:cubicBezTo>
                <a:cubicBezTo>
                  <a:pt x="5271118" y="7178"/>
                  <a:pt x="5329621" y="1637"/>
                  <a:pt x="5430754" y="0"/>
                </a:cubicBezTo>
                <a:cubicBezTo>
                  <a:pt x="5531887" y="-1637"/>
                  <a:pt x="5820731" y="-11418"/>
                  <a:pt x="6094577" y="0"/>
                </a:cubicBezTo>
                <a:cubicBezTo>
                  <a:pt x="6368423" y="11418"/>
                  <a:pt x="6337550" y="3707"/>
                  <a:pt x="6439765" y="0"/>
                </a:cubicBezTo>
                <a:cubicBezTo>
                  <a:pt x="6541980" y="-3707"/>
                  <a:pt x="6766386" y="17949"/>
                  <a:pt x="6891164" y="0"/>
                </a:cubicBezTo>
                <a:cubicBezTo>
                  <a:pt x="7015942" y="-17949"/>
                  <a:pt x="7404228" y="21680"/>
                  <a:pt x="7661199" y="0"/>
                </a:cubicBezTo>
                <a:cubicBezTo>
                  <a:pt x="7918170" y="-21680"/>
                  <a:pt x="8121954" y="-13625"/>
                  <a:pt x="8431234" y="0"/>
                </a:cubicBezTo>
                <a:cubicBezTo>
                  <a:pt x="8740515" y="13625"/>
                  <a:pt x="8747697" y="-7066"/>
                  <a:pt x="8882633" y="0"/>
                </a:cubicBezTo>
                <a:cubicBezTo>
                  <a:pt x="9017569" y="7066"/>
                  <a:pt x="9105439" y="-6104"/>
                  <a:pt x="9227821" y="0"/>
                </a:cubicBezTo>
                <a:cubicBezTo>
                  <a:pt x="9350203" y="6104"/>
                  <a:pt x="9470025" y="7746"/>
                  <a:pt x="9679221" y="0"/>
                </a:cubicBezTo>
                <a:cubicBezTo>
                  <a:pt x="9888417" y="-7746"/>
                  <a:pt x="9856842" y="-6932"/>
                  <a:pt x="10024409" y="0"/>
                </a:cubicBezTo>
                <a:cubicBezTo>
                  <a:pt x="10191976" y="6932"/>
                  <a:pt x="10559009" y="29391"/>
                  <a:pt x="10927208" y="0"/>
                </a:cubicBezTo>
                <a:cubicBezTo>
                  <a:pt x="11113467" y="20078"/>
                  <a:pt x="11237596" y="127973"/>
                  <a:pt x="11233248" y="306040"/>
                </a:cubicBezTo>
                <a:cubicBezTo>
                  <a:pt x="11240965" y="451077"/>
                  <a:pt x="11225916" y="722706"/>
                  <a:pt x="11233248" y="905861"/>
                </a:cubicBezTo>
                <a:cubicBezTo>
                  <a:pt x="11240580" y="1089016"/>
                  <a:pt x="11217415" y="1328603"/>
                  <a:pt x="11233248" y="1530164"/>
                </a:cubicBezTo>
                <a:cubicBezTo>
                  <a:pt x="11269752" y="1696662"/>
                  <a:pt x="11092922" y="1833422"/>
                  <a:pt x="10927208" y="1836204"/>
                </a:cubicBezTo>
                <a:cubicBezTo>
                  <a:pt x="10750512" y="1816616"/>
                  <a:pt x="10379710" y="1871863"/>
                  <a:pt x="10157173" y="1836204"/>
                </a:cubicBezTo>
                <a:cubicBezTo>
                  <a:pt x="9934637" y="1800545"/>
                  <a:pt x="9777688" y="1861617"/>
                  <a:pt x="9599562" y="1836204"/>
                </a:cubicBezTo>
                <a:cubicBezTo>
                  <a:pt x="9421436" y="1810791"/>
                  <a:pt x="9371379" y="1848714"/>
                  <a:pt x="9148162" y="1836204"/>
                </a:cubicBezTo>
                <a:cubicBezTo>
                  <a:pt x="8924945" y="1823694"/>
                  <a:pt x="8708488" y="1835009"/>
                  <a:pt x="8590551" y="1836204"/>
                </a:cubicBezTo>
                <a:cubicBezTo>
                  <a:pt x="8472614" y="1837399"/>
                  <a:pt x="8288908" y="1836606"/>
                  <a:pt x="8139151" y="1836204"/>
                </a:cubicBezTo>
                <a:cubicBezTo>
                  <a:pt x="7989394" y="1835802"/>
                  <a:pt x="7775047" y="1823111"/>
                  <a:pt x="7475328" y="1836204"/>
                </a:cubicBezTo>
                <a:cubicBezTo>
                  <a:pt x="7175609" y="1849297"/>
                  <a:pt x="7154809" y="1825380"/>
                  <a:pt x="7023929" y="1836204"/>
                </a:cubicBezTo>
                <a:cubicBezTo>
                  <a:pt x="6893049" y="1847028"/>
                  <a:pt x="6551969" y="1845395"/>
                  <a:pt x="6253894" y="1836204"/>
                </a:cubicBezTo>
                <a:cubicBezTo>
                  <a:pt x="5955820" y="1827013"/>
                  <a:pt x="5949598" y="1819807"/>
                  <a:pt x="5802494" y="1836204"/>
                </a:cubicBezTo>
                <a:cubicBezTo>
                  <a:pt x="5655390" y="1852601"/>
                  <a:pt x="5362541" y="1847335"/>
                  <a:pt x="5244883" y="1836204"/>
                </a:cubicBezTo>
                <a:cubicBezTo>
                  <a:pt x="5127225" y="1825073"/>
                  <a:pt x="5065579" y="1846251"/>
                  <a:pt x="4899695" y="1836204"/>
                </a:cubicBezTo>
                <a:cubicBezTo>
                  <a:pt x="4733811" y="1826157"/>
                  <a:pt x="4579552" y="1825071"/>
                  <a:pt x="4342084" y="1836204"/>
                </a:cubicBezTo>
                <a:cubicBezTo>
                  <a:pt x="4104616" y="1847337"/>
                  <a:pt x="3893444" y="1823818"/>
                  <a:pt x="3465837" y="1836204"/>
                </a:cubicBezTo>
                <a:cubicBezTo>
                  <a:pt x="3038230" y="1848590"/>
                  <a:pt x="2882831" y="1814060"/>
                  <a:pt x="2695803" y="1836204"/>
                </a:cubicBezTo>
                <a:cubicBezTo>
                  <a:pt x="2508775" y="1858348"/>
                  <a:pt x="2173012" y="1872656"/>
                  <a:pt x="1925768" y="1836204"/>
                </a:cubicBezTo>
                <a:cubicBezTo>
                  <a:pt x="1678525" y="1799752"/>
                  <a:pt x="1361243" y="1865013"/>
                  <a:pt x="1049522" y="1836204"/>
                </a:cubicBezTo>
                <a:cubicBezTo>
                  <a:pt x="737801" y="1807395"/>
                  <a:pt x="474349" y="1858442"/>
                  <a:pt x="306040" y="1836204"/>
                </a:cubicBezTo>
                <a:cubicBezTo>
                  <a:pt x="159997" y="1804822"/>
                  <a:pt x="-14308" y="1681406"/>
                  <a:pt x="0" y="1530164"/>
                </a:cubicBezTo>
                <a:cubicBezTo>
                  <a:pt x="-16801" y="1378839"/>
                  <a:pt x="23306" y="1215841"/>
                  <a:pt x="0" y="942584"/>
                </a:cubicBezTo>
                <a:cubicBezTo>
                  <a:pt x="-23306" y="669327"/>
                  <a:pt x="20131" y="618663"/>
                  <a:pt x="0" y="306040"/>
                </a:cubicBezTo>
                <a:close/>
              </a:path>
              <a:path w="11233248" h="1836204" stroke="0" extrusionOk="0">
                <a:moveTo>
                  <a:pt x="0" y="306040"/>
                </a:moveTo>
                <a:cubicBezTo>
                  <a:pt x="10356" y="131481"/>
                  <a:pt x="129879" y="-8497"/>
                  <a:pt x="306040" y="0"/>
                </a:cubicBezTo>
                <a:cubicBezTo>
                  <a:pt x="416565" y="11853"/>
                  <a:pt x="518639" y="-12974"/>
                  <a:pt x="651228" y="0"/>
                </a:cubicBezTo>
                <a:cubicBezTo>
                  <a:pt x="783817" y="12974"/>
                  <a:pt x="933400" y="-3625"/>
                  <a:pt x="1208839" y="0"/>
                </a:cubicBezTo>
                <a:cubicBezTo>
                  <a:pt x="1484278" y="3625"/>
                  <a:pt x="1523329" y="7668"/>
                  <a:pt x="1660239" y="0"/>
                </a:cubicBezTo>
                <a:cubicBezTo>
                  <a:pt x="1797149" y="-7668"/>
                  <a:pt x="2138940" y="4910"/>
                  <a:pt x="2536485" y="0"/>
                </a:cubicBezTo>
                <a:cubicBezTo>
                  <a:pt x="2934030" y="-4910"/>
                  <a:pt x="2823754" y="-9210"/>
                  <a:pt x="2987885" y="0"/>
                </a:cubicBezTo>
                <a:cubicBezTo>
                  <a:pt x="3152016" y="9210"/>
                  <a:pt x="3621928" y="-29970"/>
                  <a:pt x="3864131" y="0"/>
                </a:cubicBezTo>
                <a:cubicBezTo>
                  <a:pt x="4106334" y="29970"/>
                  <a:pt x="4209146" y="32337"/>
                  <a:pt x="4527954" y="0"/>
                </a:cubicBezTo>
                <a:cubicBezTo>
                  <a:pt x="4846762" y="-32337"/>
                  <a:pt x="4816962" y="-10524"/>
                  <a:pt x="4979354" y="0"/>
                </a:cubicBezTo>
                <a:cubicBezTo>
                  <a:pt x="5141746" y="10524"/>
                  <a:pt x="5457970" y="22852"/>
                  <a:pt x="5749389" y="0"/>
                </a:cubicBezTo>
                <a:cubicBezTo>
                  <a:pt x="6040808" y="-22852"/>
                  <a:pt x="6231311" y="28792"/>
                  <a:pt x="6413212" y="0"/>
                </a:cubicBezTo>
                <a:cubicBezTo>
                  <a:pt x="6595113" y="-28792"/>
                  <a:pt x="6904392" y="-30690"/>
                  <a:pt x="7077035" y="0"/>
                </a:cubicBezTo>
                <a:cubicBezTo>
                  <a:pt x="7249678" y="30690"/>
                  <a:pt x="7712077" y="-34217"/>
                  <a:pt x="7953281" y="0"/>
                </a:cubicBezTo>
                <a:cubicBezTo>
                  <a:pt x="8194485" y="34217"/>
                  <a:pt x="8217773" y="-2670"/>
                  <a:pt x="8298469" y="0"/>
                </a:cubicBezTo>
                <a:cubicBezTo>
                  <a:pt x="8379165" y="2670"/>
                  <a:pt x="8747857" y="17685"/>
                  <a:pt x="8962292" y="0"/>
                </a:cubicBezTo>
                <a:cubicBezTo>
                  <a:pt x="9176727" y="-17685"/>
                  <a:pt x="9450042" y="-2347"/>
                  <a:pt x="9732327" y="0"/>
                </a:cubicBezTo>
                <a:cubicBezTo>
                  <a:pt x="10014612" y="2347"/>
                  <a:pt x="10108580" y="5356"/>
                  <a:pt x="10289938" y="0"/>
                </a:cubicBezTo>
                <a:cubicBezTo>
                  <a:pt x="10471296" y="-5356"/>
                  <a:pt x="10744063" y="-27083"/>
                  <a:pt x="10927208" y="0"/>
                </a:cubicBezTo>
                <a:cubicBezTo>
                  <a:pt x="11095032" y="8889"/>
                  <a:pt x="11235972" y="142478"/>
                  <a:pt x="11233248" y="306040"/>
                </a:cubicBezTo>
                <a:cubicBezTo>
                  <a:pt x="11238947" y="546532"/>
                  <a:pt x="11259939" y="779951"/>
                  <a:pt x="11233248" y="918102"/>
                </a:cubicBezTo>
                <a:cubicBezTo>
                  <a:pt x="11206557" y="1056253"/>
                  <a:pt x="11245727" y="1243224"/>
                  <a:pt x="11233248" y="1530164"/>
                </a:cubicBezTo>
                <a:cubicBezTo>
                  <a:pt x="11262420" y="1680312"/>
                  <a:pt x="11120343" y="1811099"/>
                  <a:pt x="10927208" y="1836204"/>
                </a:cubicBezTo>
                <a:cubicBezTo>
                  <a:pt x="10544331" y="1806629"/>
                  <a:pt x="10313050" y="1866737"/>
                  <a:pt x="10050962" y="1836204"/>
                </a:cubicBezTo>
                <a:cubicBezTo>
                  <a:pt x="9788874" y="1805671"/>
                  <a:pt x="9648872" y="1843886"/>
                  <a:pt x="9387139" y="1836204"/>
                </a:cubicBezTo>
                <a:cubicBezTo>
                  <a:pt x="9125406" y="1828522"/>
                  <a:pt x="9152485" y="1838173"/>
                  <a:pt x="8935739" y="1836204"/>
                </a:cubicBezTo>
                <a:cubicBezTo>
                  <a:pt x="8718993" y="1834235"/>
                  <a:pt x="8751242" y="1822972"/>
                  <a:pt x="8590551" y="1836204"/>
                </a:cubicBezTo>
                <a:cubicBezTo>
                  <a:pt x="8429860" y="1849436"/>
                  <a:pt x="8264424" y="1816248"/>
                  <a:pt x="8032940" y="1836204"/>
                </a:cubicBezTo>
                <a:cubicBezTo>
                  <a:pt x="7801456" y="1856160"/>
                  <a:pt x="7564476" y="1862111"/>
                  <a:pt x="7262905" y="1836204"/>
                </a:cubicBezTo>
                <a:cubicBezTo>
                  <a:pt x="6961335" y="1810297"/>
                  <a:pt x="6987870" y="1840765"/>
                  <a:pt x="6811505" y="1836204"/>
                </a:cubicBezTo>
                <a:cubicBezTo>
                  <a:pt x="6635140" y="1831643"/>
                  <a:pt x="6390346" y="1836327"/>
                  <a:pt x="6253894" y="1836204"/>
                </a:cubicBezTo>
                <a:cubicBezTo>
                  <a:pt x="6117442" y="1836081"/>
                  <a:pt x="5988377" y="1826386"/>
                  <a:pt x="5802494" y="1836204"/>
                </a:cubicBezTo>
                <a:cubicBezTo>
                  <a:pt x="5616611" y="1846022"/>
                  <a:pt x="5341528" y="1875815"/>
                  <a:pt x="4926248" y="1836204"/>
                </a:cubicBezTo>
                <a:cubicBezTo>
                  <a:pt x="4510968" y="1796593"/>
                  <a:pt x="4451830" y="1875869"/>
                  <a:pt x="4050002" y="1836204"/>
                </a:cubicBezTo>
                <a:cubicBezTo>
                  <a:pt x="3648174" y="1796539"/>
                  <a:pt x="3399733" y="1878380"/>
                  <a:pt x="3173755" y="1836204"/>
                </a:cubicBezTo>
                <a:cubicBezTo>
                  <a:pt x="2947777" y="1794028"/>
                  <a:pt x="2731983" y="1829587"/>
                  <a:pt x="2616144" y="1836204"/>
                </a:cubicBezTo>
                <a:cubicBezTo>
                  <a:pt x="2500305" y="1842821"/>
                  <a:pt x="2104491" y="1816632"/>
                  <a:pt x="1846109" y="1836204"/>
                </a:cubicBezTo>
                <a:cubicBezTo>
                  <a:pt x="1587727" y="1855776"/>
                  <a:pt x="1383064" y="1858932"/>
                  <a:pt x="1076075" y="1836204"/>
                </a:cubicBezTo>
                <a:cubicBezTo>
                  <a:pt x="769086" y="1813476"/>
                  <a:pt x="637645" y="1807092"/>
                  <a:pt x="306040" y="1836204"/>
                </a:cubicBezTo>
                <a:cubicBezTo>
                  <a:pt x="140812" y="1841064"/>
                  <a:pt x="41354" y="1703620"/>
                  <a:pt x="0" y="1530164"/>
                </a:cubicBezTo>
                <a:cubicBezTo>
                  <a:pt x="-20146" y="1317927"/>
                  <a:pt x="28634" y="1179160"/>
                  <a:pt x="0" y="954826"/>
                </a:cubicBezTo>
                <a:cubicBezTo>
                  <a:pt x="-28634" y="730492"/>
                  <a:pt x="-20267" y="555855"/>
                  <a:pt x="0" y="30604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274847891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51384" y="1527048"/>
            <a:ext cx="11305256" cy="4926288"/>
          </a:xfrm>
        </p:spPr>
        <p:txBody>
          <a:bodyPr>
            <a:normAutofit fontScale="92500" lnSpcReduction="10000"/>
          </a:bodyPr>
          <a:lstStyle/>
          <a:p>
            <a:endParaRPr lang="fr-CA" dirty="0"/>
          </a:p>
          <a:p>
            <a:r>
              <a:rPr lang="fr-CA" dirty="0"/>
              <a:t>Toutes les obligations ne présentent pas la </a:t>
            </a:r>
            <a:r>
              <a:rPr lang="fr-CA" dirty="0" err="1"/>
              <a:t>même </a:t>
            </a:r>
            <a:r>
              <a:rPr lang="fr-CA" b="1" dirty="0" err="1"/>
              <a:t>sensibilité </a:t>
            </a:r>
            <a:r>
              <a:rPr lang="fr-CA" dirty="0"/>
              <a:t>aux variations des taux </a:t>
            </a:r>
            <a:r>
              <a:rPr lang="fr-CA" dirty="0" err="1"/>
              <a:t>d'intérêt</a:t>
            </a:r>
            <a:r>
              <a:rPr lang="fr-CA" dirty="0"/>
              <a:t>...</a:t>
            </a:r>
          </a:p>
          <a:p>
            <a:endParaRPr lang="fr-CA" dirty="0"/>
          </a:p>
          <a:p>
            <a:pPr marL="0" indent="0">
              <a:buNone/>
            </a:pPr>
            <a:r>
              <a:rPr lang="en-GB" dirty="0">
                <a:latin typeface="Ink Free" panose="03080402000500000000" pitchFamily="66" charset="0"/>
              </a:rPr>
              <a:t> Toutes choses égales par ailleurs...</a:t>
            </a:r>
          </a:p>
          <a:p>
            <a:pPr marL="0" indent="0">
              <a:buNone/>
            </a:pPr>
            <a:endParaRPr lang="en-GB" sz="2000" dirty="0">
              <a:latin typeface="Ink Free" panose="03080402000500000000" pitchFamily="66" charset="0"/>
            </a:endParaRPr>
          </a:p>
          <a:p>
            <a:pPr lvl="1"/>
            <a:r>
              <a:rPr lang="fr-CA" dirty="0"/>
              <a:t>Plus </a:t>
            </a:r>
            <a:r>
              <a:rPr lang="fr-CA" b="1" u="sng" dirty="0"/>
              <a:t>la </a:t>
            </a:r>
            <a:r>
              <a:rPr lang="fr-CA" b="1" u="sng" dirty="0" err="1"/>
              <a:t>durée </a:t>
            </a:r>
            <a:r>
              <a:rPr lang="fr-CA" dirty="0"/>
              <a:t>de l'obligation </a:t>
            </a:r>
            <a:r>
              <a:rPr lang="fr-CA" b="1" u="sng" dirty="0"/>
              <a:t>est longue</a:t>
            </a:r>
            <a:r>
              <a:rPr lang="fr-CA" dirty="0"/>
              <a:t>, </a:t>
            </a:r>
            <a:r>
              <a:rPr lang="fr-CA" sz="2800" b="1" u="sng" dirty="0"/>
              <a:t>plus </a:t>
            </a:r>
            <a:r>
              <a:rPr lang="fr-CA" dirty="0"/>
              <a:t>le </a:t>
            </a:r>
            <a:r>
              <a:rPr lang="fr-CA" dirty="0" err="1"/>
              <a:t>prix</a:t>
            </a:r>
            <a:r>
              <a:rPr lang="fr-CA" dirty="0"/>
              <a:t> de l'obligation </a:t>
            </a:r>
            <a:r>
              <a:rPr lang="fr-CA" dirty="0" err="1"/>
              <a:t>est </a:t>
            </a:r>
            <a:r>
              <a:rPr lang="fr-CA" sz="2800" u="sng" dirty="0"/>
              <a:t>sensible </a:t>
            </a:r>
            <a:r>
              <a:rPr lang="fr-CA" dirty="0"/>
              <a:t>à une variation des taux </a:t>
            </a:r>
            <a:r>
              <a:rPr lang="fr-CA" dirty="0" err="1"/>
              <a:t>d'intérêt</a:t>
            </a:r>
            <a:endParaRPr lang="fr-CA" u="sng" dirty="0"/>
          </a:p>
          <a:p>
            <a:pPr lvl="1"/>
            <a:r>
              <a:rPr lang="fr-CA" dirty="0"/>
              <a:t>Plus </a:t>
            </a:r>
            <a:r>
              <a:rPr lang="fr-CA" b="1" u="sng" dirty="0"/>
              <a:t>le taux de coupon est faible</a:t>
            </a:r>
            <a:r>
              <a:rPr lang="fr-CA" dirty="0"/>
              <a:t>, </a:t>
            </a:r>
            <a:r>
              <a:rPr lang="fr-CA" sz="3000" b="1" u="sng" dirty="0"/>
              <a:t>plus </a:t>
            </a:r>
            <a:r>
              <a:rPr lang="fr-CA" dirty="0"/>
              <a:t>le prix de l'obligation est </a:t>
            </a:r>
            <a:r>
              <a:rPr lang="fr-CA" sz="3000" u="sng" dirty="0"/>
              <a:t>sensible </a:t>
            </a:r>
            <a:r>
              <a:rPr lang="fr-CA" dirty="0"/>
              <a:t>aux variations des taux d'intérêt</a:t>
            </a:r>
          </a:p>
          <a:p>
            <a:endParaRPr lang="fr-FR" dirty="0"/>
          </a:p>
          <a:p>
            <a:r>
              <a:rPr lang="fr-CA" dirty="0" err="1"/>
              <a:t>Prenons </a:t>
            </a:r>
            <a:r>
              <a:rPr lang="fr-CA" dirty="0"/>
              <a:t>un exemple...</a:t>
            </a:r>
          </a:p>
          <a:p>
            <a:pPr lvl="1"/>
            <a:endParaRPr lang="fr-CA" b="1" dirty="0"/>
          </a:p>
          <a:p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accent3">
                    <a:lumMod val="75000"/>
                  </a:schemeClr>
                </a:solidFill>
              </a:rPr>
              <a:t>Risque de taux d'intérêt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24</a:t>
            </a:fld>
            <a:endParaRPr lang="fr-CA" dirty="0">
              <a:solidFill>
                <a:srgbClr val="8CADA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441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74060" y="267420"/>
            <a:ext cx="8534400" cy="758952"/>
          </a:xfrm>
        </p:spPr>
        <p:txBody>
          <a:bodyPr/>
          <a:lstStyle/>
          <a:p>
            <a:r>
              <a:rPr lang="fr-CA" dirty="0">
                <a:solidFill>
                  <a:srgbClr val="FF0000"/>
                </a:solidFill>
              </a:rPr>
              <a:t>Exemple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25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91344" y="1527048"/>
            <a:ext cx="11665296" cy="4926288"/>
          </a:xfrm>
        </p:spPr>
        <p:txBody>
          <a:bodyPr>
            <a:normAutofit fontScale="92500" lnSpcReduction="10000"/>
          </a:bodyPr>
          <a:lstStyle/>
          <a:p>
            <a:r>
              <a:rPr lang="en-CA" sz="2800" dirty="0"/>
              <a:t>Vous souhaitez investir et vous hésitez entre ces 4 obligations </a:t>
            </a:r>
            <a:r>
              <a:rPr lang="en-CA" sz="3200" dirty="0"/>
              <a:t>:</a:t>
            </a:r>
            <a:endParaRPr lang="fr-CA" sz="3200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endParaRPr lang="fr-CA" dirty="0"/>
          </a:p>
          <a:p>
            <a:r>
              <a:rPr lang="fr-CA" dirty="0"/>
              <a:t>Quelles </a:t>
            </a:r>
            <a:r>
              <a:rPr lang="fr-CA" b="1" dirty="0"/>
              <a:t>obligations </a:t>
            </a:r>
            <a:r>
              <a:rPr lang="fr-CA" b="1" u="sng" dirty="0"/>
              <a:t>acheter </a:t>
            </a:r>
            <a:r>
              <a:rPr lang="fr-CA" dirty="0"/>
              <a:t>si </a:t>
            </a:r>
            <a:r>
              <a:rPr lang="fr-CA" dirty="0" err="1"/>
              <a:t>vous anticipez</a:t>
            </a:r>
            <a:r>
              <a:rPr lang="fr-CA" dirty="0"/>
              <a:t>...</a:t>
            </a:r>
          </a:p>
          <a:p>
            <a:pPr lvl="1"/>
            <a:r>
              <a:rPr lang="en-CA" sz="2400" dirty="0"/>
              <a:t>une baisse des taux d'intérêt ?</a:t>
            </a:r>
          </a:p>
          <a:p>
            <a:pPr lvl="1"/>
            <a:r>
              <a:rPr lang="en-CA" sz="2400" dirty="0"/>
              <a:t>une hausse des taux d'intérêt ?</a:t>
            </a:r>
          </a:p>
          <a:p>
            <a:pPr lvl="1"/>
            <a:r>
              <a:rPr lang="en-CA" sz="2400" dirty="0"/>
              <a:t>une baisse des taux d'intérêt, </a:t>
            </a:r>
            <a:r>
              <a:rPr lang="en-CA" sz="2400" b="1" dirty="0"/>
              <a:t>MAIS </a:t>
            </a:r>
            <a:r>
              <a:rPr lang="fr-CA" sz="2400" dirty="0" err="1"/>
              <a:t>vous ne</a:t>
            </a:r>
            <a:r>
              <a:rPr lang="fr-CA" sz="2400" dirty="0"/>
              <a:t> pouvez choisir </a:t>
            </a:r>
            <a:r>
              <a:rPr lang="fr-CA" sz="2400" dirty="0" err="1"/>
              <a:t>qu'entre </a:t>
            </a:r>
            <a:r>
              <a:rPr lang="fr-CA" sz="2400" dirty="0"/>
              <a:t>les obligations A et D ?</a:t>
            </a: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639661"/>
              </p:ext>
            </p:extLst>
          </p:nvPr>
        </p:nvGraphicFramePr>
        <p:xfrm>
          <a:off x="2135560" y="2465480"/>
          <a:ext cx="8172900" cy="184175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2043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3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3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8350">
                <a:tc>
                  <a:txBody>
                    <a:bodyPr/>
                    <a:lstStyle/>
                    <a:p>
                      <a:pPr algn="ctr"/>
                      <a:r>
                        <a:rPr lang="fr-CA" sz="1900" dirty="0"/>
                        <a:t>Obligation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900" dirty="0" err="1"/>
                        <a:t>Émetteur</a:t>
                      </a:r>
                      <a:endParaRPr lang="fr-CA" sz="19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900" dirty="0"/>
                        <a:t>TC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900" dirty="0"/>
                        <a:t>Échéance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50">
                <a:tc>
                  <a:txBody>
                    <a:bodyPr/>
                    <a:lstStyle/>
                    <a:p>
                      <a:pPr algn="ctr"/>
                      <a:r>
                        <a:rPr lang="en-GB" sz="1900" b="1" dirty="0"/>
                        <a:t>A</a:t>
                      </a:r>
                      <a:endParaRPr lang="fr-CA" sz="1900" b="1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900" dirty="0"/>
                        <a:t>Québec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900" dirty="0"/>
                        <a:t>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900" dirty="0"/>
                        <a:t>20 ans 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50">
                <a:tc>
                  <a:txBody>
                    <a:bodyPr/>
                    <a:lstStyle/>
                    <a:p>
                      <a:pPr algn="ctr"/>
                      <a:r>
                        <a:rPr lang="fr-CA" sz="1900" b="1" dirty="0"/>
                        <a:t>B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900" dirty="0"/>
                        <a:t>Québec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900" dirty="0"/>
                        <a:t>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900" dirty="0"/>
                        <a:t>20 ans 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50">
                <a:tc>
                  <a:txBody>
                    <a:bodyPr/>
                    <a:lstStyle/>
                    <a:p>
                      <a:pPr algn="ctr"/>
                      <a:r>
                        <a:rPr lang="fr-CA" sz="1900" b="1" dirty="0"/>
                        <a:t>C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900" dirty="0"/>
                        <a:t>Québec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900" dirty="0"/>
                        <a:t>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900" dirty="0"/>
                        <a:t>10 ans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50">
                <a:tc>
                  <a:txBody>
                    <a:bodyPr/>
                    <a:lstStyle/>
                    <a:p>
                      <a:pPr algn="ctr"/>
                      <a:r>
                        <a:rPr lang="fr-CA" sz="1900" b="1" dirty="0"/>
                        <a:t>D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900" dirty="0"/>
                        <a:t>Québec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900" dirty="0"/>
                        <a:t>5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A" sz="1900" dirty="0"/>
                        <a:t>10 ans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2" descr="Important ">
            <a:extLst>
              <a:ext uri="{FF2B5EF4-FFF2-40B4-BE49-F238E27FC236}">
                <a16:creationId xmlns:a16="http://schemas.microsoft.com/office/drawing/2014/main" id="{17690F49-4288-2C0E-F557-A4D4B1067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6440" y="366089"/>
            <a:ext cx="1681770" cy="1681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8484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8392E1-8DDD-7B79-AC2F-DD0B179BF51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935761" y="836712"/>
            <a:ext cx="7920880" cy="561662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185755" indent="-185755" defTabSz="1097253">
              <a:buClr>
                <a:srgbClr val="003C71"/>
              </a:buClr>
              <a:buSzPct val="125000"/>
              <a:buFont typeface="Arial" pitchFamily="34" charset="0"/>
              <a:buChar char="•"/>
              <a:defRPr/>
            </a:pPr>
            <a:r>
              <a:rPr lang="fr-CA" sz="2200" dirty="0">
                <a:solidFill>
                  <a:srgbClr val="000000"/>
                </a:solidFill>
                <a:latin typeface="+mj-lt"/>
              </a:rPr>
              <a:t>Si les taux d'intérêt devaient </a:t>
            </a:r>
            <a:r>
              <a:rPr lang="fr-CA" sz="2200" b="1" u="sng" dirty="0">
                <a:solidFill>
                  <a:srgbClr val="000000"/>
                </a:solidFill>
                <a:latin typeface="+mj-lt"/>
              </a:rPr>
              <a:t>baisser </a:t>
            </a:r>
            <a:r>
              <a:rPr lang="fr-CA" sz="2200" dirty="0">
                <a:solidFill>
                  <a:srgbClr val="000000"/>
                </a:solidFill>
                <a:latin typeface="+mj-lt"/>
              </a:rPr>
              <a:t>:</a:t>
            </a:r>
          </a:p>
          <a:p>
            <a:pPr marL="358551" lvl="1" indent="0" defTabSz="1097253">
              <a:buClr>
                <a:srgbClr val="003C71"/>
              </a:buClr>
              <a:buSzPct val="125000"/>
              <a:buNone/>
              <a:defRPr/>
            </a:pPr>
            <a:r>
              <a:rPr lang="fr-FR" sz="2000" dirty="0">
                <a:solidFill>
                  <a:srgbClr val="000000"/>
                </a:solidFill>
                <a:latin typeface="+mj-lt"/>
              </a:rPr>
              <a:t>      Taux d'intérêt dans l’économie</a:t>
            </a:r>
          </a:p>
          <a:p>
            <a:pPr marL="358551" lvl="1" indent="0" defTabSz="1097253">
              <a:buClr>
                <a:srgbClr val="003C71"/>
              </a:buClr>
              <a:buSzPct val="125000"/>
              <a:buNone/>
              <a:defRPr/>
            </a:pPr>
            <a:r>
              <a:rPr lang="fr-FR" sz="2000" dirty="0">
                <a:solidFill>
                  <a:srgbClr val="000000"/>
                </a:solidFill>
                <a:latin typeface="+mj-lt"/>
              </a:rPr>
              <a:t>      Rendement à l'échéance,       </a:t>
            </a:r>
          </a:p>
          <a:p>
            <a:pPr marL="358551" lvl="1" indent="0" defTabSz="1097253">
              <a:buClr>
                <a:srgbClr val="003C71"/>
              </a:buClr>
              <a:buSzPct val="125000"/>
              <a:buNone/>
              <a:defRPr/>
            </a:pPr>
            <a:r>
              <a:rPr lang="fr-FR" sz="2000" dirty="0">
                <a:solidFill>
                  <a:srgbClr val="000000"/>
                </a:solidFill>
                <a:latin typeface="+mj-lt"/>
              </a:rPr>
              <a:t>      Prix</a:t>
            </a:r>
          </a:p>
          <a:p>
            <a:pPr marL="358551" lvl="1" indent="0" defTabSz="1097253">
              <a:buClr>
                <a:srgbClr val="003C71"/>
              </a:buClr>
              <a:buSzPct val="125000"/>
              <a:buNone/>
              <a:defRPr/>
            </a:pPr>
            <a:endParaRPr lang="fr-FR" sz="2000" dirty="0">
              <a:solidFill>
                <a:srgbClr val="000000"/>
              </a:solidFill>
              <a:latin typeface="+mj-lt"/>
            </a:endParaRPr>
          </a:p>
          <a:p>
            <a:pPr marL="358551" lvl="1" indent="0" algn="ctr" defTabSz="1097253">
              <a:buClr>
                <a:srgbClr val="003C71"/>
              </a:buClr>
              <a:buSzPct val="125000"/>
              <a:buNone/>
              <a:defRPr/>
            </a:pPr>
            <a:r>
              <a:rPr lang="fr-FR" sz="2000" dirty="0">
                <a:solidFill>
                  <a:srgbClr val="00B050"/>
                </a:solidFill>
                <a:latin typeface="Ink Free" panose="03080402000500000000" pitchFamily="66" charset="0"/>
              </a:rPr>
              <a:t>Nous voulons donc investir dans une </a:t>
            </a:r>
            <a:r>
              <a:rPr lang="fr-FR" sz="2000" b="1" u="sng" dirty="0">
                <a:solidFill>
                  <a:srgbClr val="00B050"/>
                </a:solidFill>
                <a:latin typeface="Ink Free" panose="03080402000500000000" pitchFamily="66" charset="0"/>
              </a:rPr>
              <a:t>obligation sensible </a:t>
            </a:r>
            <a:r>
              <a:rPr lang="fr-FR" sz="2000" dirty="0">
                <a:solidFill>
                  <a:srgbClr val="00B050"/>
                </a:solidFill>
                <a:latin typeface="Ink Free" panose="03080402000500000000" pitchFamily="66" charset="0"/>
              </a:rPr>
              <a:t>càd longue échéance, faible taux de coupon (= longue durée)</a:t>
            </a:r>
          </a:p>
          <a:p>
            <a:pPr marL="358551" lvl="1" indent="0" algn="ctr" defTabSz="1097253">
              <a:buClr>
                <a:srgbClr val="003C71"/>
              </a:buClr>
              <a:buSzPct val="125000"/>
              <a:buNone/>
              <a:defRPr/>
            </a:pPr>
            <a:endParaRPr lang="fr-FR" sz="2000" dirty="0">
              <a:solidFill>
                <a:srgbClr val="00B050"/>
              </a:solidFill>
              <a:latin typeface="Ink Free" panose="03080402000500000000" pitchFamily="66" charset="0"/>
            </a:endParaRPr>
          </a:p>
          <a:p>
            <a:pPr marL="358551" lvl="1" indent="0" defTabSz="1097253">
              <a:buClr>
                <a:srgbClr val="003C71"/>
              </a:buClr>
              <a:buSzPct val="125000"/>
              <a:buNone/>
              <a:defRPr/>
            </a:pPr>
            <a:endParaRPr lang="fr-FR" sz="500" dirty="0">
              <a:solidFill>
                <a:srgbClr val="00B050"/>
              </a:solidFill>
              <a:latin typeface="Ink Free" panose="03080402000500000000" pitchFamily="66" charset="0"/>
            </a:endParaRPr>
          </a:p>
          <a:p>
            <a:pPr marL="185755" indent="-185755" defTabSz="1097253">
              <a:buClr>
                <a:srgbClr val="003C71"/>
              </a:buClr>
              <a:buSzPct val="125000"/>
              <a:buFont typeface="Arial" pitchFamily="34" charset="0"/>
              <a:buChar char="•"/>
              <a:defRPr/>
            </a:pPr>
            <a:r>
              <a:rPr lang="fr-CA" sz="2200" dirty="0">
                <a:solidFill>
                  <a:srgbClr val="000000"/>
                </a:solidFill>
                <a:latin typeface="+mj-lt"/>
              </a:rPr>
              <a:t>Si les taux d'intérêt devaient </a:t>
            </a:r>
            <a:r>
              <a:rPr lang="fr-CA" sz="2200" b="1" u="sng" dirty="0">
                <a:solidFill>
                  <a:srgbClr val="000000"/>
                </a:solidFill>
                <a:latin typeface="+mj-lt"/>
              </a:rPr>
              <a:t>augmenter :</a:t>
            </a:r>
          </a:p>
          <a:p>
            <a:pPr marL="358551" lvl="1" indent="0" defTabSz="1097253">
              <a:buClr>
                <a:srgbClr val="003C71"/>
              </a:buClr>
              <a:buSzPct val="125000"/>
              <a:buNone/>
              <a:defRPr/>
            </a:pPr>
            <a:r>
              <a:rPr lang="fr-FR" sz="2000" dirty="0">
                <a:solidFill>
                  <a:srgbClr val="000000"/>
                </a:solidFill>
                <a:latin typeface="+mj-lt"/>
              </a:rPr>
              <a:t>      Taux d'intérêt dans l’économie    </a:t>
            </a:r>
          </a:p>
          <a:p>
            <a:pPr marL="358551" lvl="1" indent="0" defTabSz="1097253">
              <a:buClr>
                <a:srgbClr val="003C71"/>
              </a:buClr>
              <a:buSzPct val="125000"/>
              <a:buNone/>
              <a:defRPr/>
            </a:pPr>
            <a:r>
              <a:rPr lang="fr-FR" sz="2000" dirty="0">
                <a:solidFill>
                  <a:srgbClr val="000000"/>
                </a:solidFill>
                <a:latin typeface="+mj-lt"/>
              </a:rPr>
              <a:t>      Rendement à l'échéance,      </a:t>
            </a:r>
          </a:p>
          <a:p>
            <a:pPr marL="358551" lvl="1" indent="0" defTabSz="1097253">
              <a:buClr>
                <a:srgbClr val="003C71"/>
              </a:buClr>
              <a:buSzPct val="125000"/>
              <a:buNone/>
              <a:defRPr/>
            </a:pPr>
            <a:r>
              <a:rPr lang="fr-FR" sz="2000" dirty="0">
                <a:solidFill>
                  <a:srgbClr val="000000"/>
                </a:solidFill>
                <a:latin typeface="+mj-lt"/>
              </a:rPr>
              <a:t>      Prix</a:t>
            </a:r>
          </a:p>
          <a:p>
            <a:pPr marL="358551" lvl="1" indent="0" defTabSz="1097253">
              <a:buClr>
                <a:srgbClr val="003C71"/>
              </a:buClr>
              <a:buSzPct val="125000"/>
              <a:buNone/>
              <a:defRPr/>
            </a:pPr>
            <a:endParaRPr lang="fr-FR" sz="2000" dirty="0">
              <a:solidFill>
                <a:srgbClr val="000000"/>
              </a:solidFill>
              <a:latin typeface="+mj-lt"/>
            </a:endParaRPr>
          </a:p>
          <a:p>
            <a:pPr marL="358551" lvl="1" indent="0" algn="ctr" defTabSz="1097253">
              <a:buClr>
                <a:srgbClr val="003C71"/>
              </a:buClr>
              <a:buSzPct val="125000"/>
              <a:buNone/>
              <a:defRPr/>
            </a:pPr>
            <a:r>
              <a:rPr lang="fr-FR" sz="2000" dirty="0">
                <a:solidFill>
                  <a:srgbClr val="00B050"/>
                </a:solidFill>
                <a:latin typeface="Ink Free" panose="03080402000500000000" pitchFamily="66" charset="0"/>
              </a:rPr>
              <a:t>Nous voulons une </a:t>
            </a:r>
            <a:r>
              <a:rPr lang="fr-FR" sz="2000" b="1" u="sng" dirty="0">
                <a:solidFill>
                  <a:srgbClr val="00B050"/>
                </a:solidFill>
                <a:latin typeface="Ink Free" panose="03080402000500000000" pitchFamily="66" charset="0"/>
              </a:rPr>
              <a:t>obligation moins sensible </a:t>
            </a:r>
            <a:r>
              <a:rPr lang="fr-FR" sz="2000" dirty="0">
                <a:solidFill>
                  <a:srgbClr val="00B050"/>
                </a:solidFill>
                <a:latin typeface="Ink Free" panose="03080402000500000000" pitchFamily="66" charset="0"/>
              </a:rPr>
              <a:t>: échéance courte, taux de coupon élevé (= courte durée)</a:t>
            </a:r>
          </a:p>
          <a:p>
            <a:endParaRPr lang="fr-CA" sz="2400" dirty="0">
              <a:latin typeface="+mj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7A69D-1A76-1B23-C1CB-4C46E22D008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0988" y="1108310"/>
            <a:ext cx="2999595" cy="4785395"/>
          </a:xfrm>
        </p:spPr>
        <p:txBody>
          <a:bodyPr>
            <a:normAutofit/>
          </a:bodyPr>
          <a:lstStyle/>
          <a:p>
            <a:r>
              <a:rPr lang="en-CA" sz="2800" dirty="0"/>
              <a:t>Stratégie d'investissement obligataire</a:t>
            </a:r>
            <a:endParaRPr lang="fr-CA" sz="2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4248F1-6E89-DB9E-4C24-E100D3922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0443A9-7CF2-4AF6-A108-271190AEB83F}" type="slidenum">
              <a:rPr lang="fr-CA" smtClean="0"/>
              <a:t>26</a:t>
            </a:fld>
            <a:endParaRPr lang="fr-CA" dirty="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53306A04-5258-01FC-16E1-17D00D2FBD71}"/>
              </a:ext>
            </a:extLst>
          </p:cNvPr>
          <p:cNvSpPr/>
          <p:nvPr/>
        </p:nvSpPr>
        <p:spPr>
          <a:xfrm rot="10800000">
            <a:off x="4394664" y="1988840"/>
            <a:ext cx="288032" cy="273663"/>
          </a:xfrm>
          <a:prstGeom prst="downArrow">
            <a:avLst/>
          </a:prstGeom>
          <a:solidFill>
            <a:srgbClr val="00B050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AD772B5A-02FE-71C1-C823-50F772B38D4E}"/>
              </a:ext>
            </a:extLst>
          </p:cNvPr>
          <p:cNvSpPr/>
          <p:nvPr/>
        </p:nvSpPr>
        <p:spPr>
          <a:xfrm rot="10800000">
            <a:off x="4374022" y="4315838"/>
            <a:ext cx="288032" cy="273663"/>
          </a:xfrm>
          <a:prstGeom prst="downArrow">
            <a:avLst/>
          </a:prstGeom>
          <a:solidFill>
            <a:srgbClr val="00B050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14C751E5-935F-6DC0-B278-EC116FF9691B}"/>
              </a:ext>
            </a:extLst>
          </p:cNvPr>
          <p:cNvSpPr/>
          <p:nvPr/>
        </p:nvSpPr>
        <p:spPr>
          <a:xfrm>
            <a:off x="4374021" y="5056364"/>
            <a:ext cx="288032" cy="273663"/>
          </a:xfrm>
          <a:prstGeom prst="downArrow">
            <a:avLst/>
          </a:prstGeom>
          <a:solidFill>
            <a:srgbClr val="FF0000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4E47799A-5526-FD81-0000-18F1E9C05EEA}"/>
              </a:ext>
            </a:extLst>
          </p:cNvPr>
          <p:cNvSpPr/>
          <p:nvPr/>
        </p:nvSpPr>
        <p:spPr>
          <a:xfrm>
            <a:off x="4394664" y="1664804"/>
            <a:ext cx="288032" cy="273663"/>
          </a:xfrm>
          <a:prstGeom prst="downArrow">
            <a:avLst/>
          </a:prstGeom>
          <a:solidFill>
            <a:srgbClr val="FF0000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ABC37DAF-8285-47CA-CECB-6F5037493410}"/>
              </a:ext>
            </a:extLst>
          </p:cNvPr>
          <p:cNvSpPr/>
          <p:nvPr/>
        </p:nvSpPr>
        <p:spPr>
          <a:xfrm>
            <a:off x="4394664" y="1293599"/>
            <a:ext cx="288032" cy="273663"/>
          </a:xfrm>
          <a:prstGeom prst="downArrow">
            <a:avLst/>
          </a:prstGeom>
          <a:solidFill>
            <a:srgbClr val="FF0000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C236FABE-8BBF-6178-B554-FA7480A71E82}"/>
              </a:ext>
            </a:extLst>
          </p:cNvPr>
          <p:cNvSpPr/>
          <p:nvPr/>
        </p:nvSpPr>
        <p:spPr>
          <a:xfrm rot="10800000">
            <a:off x="4378761" y="4687043"/>
            <a:ext cx="288032" cy="273663"/>
          </a:xfrm>
          <a:prstGeom prst="downArrow">
            <a:avLst/>
          </a:prstGeom>
          <a:solidFill>
            <a:srgbClr val="00B050"/>
          </a:solidFill>
          <a:ln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19" name="Picture 2" descr="Important ">
            <a:extLst>
              <a:ext uri="{FF2B5EF4-FFF2-40B4-BE49-F238E27FC236}">
                <a16:creationId xmlns:a16="http://schemas.microsoft.com/office/drawing/2014/main" id="{0F03E876-CDDD-9492-9D4A-864A5E28B5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860" y="2700060"/>
            <a:ext cx="1457879" cy="1457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3701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9B66F0-89E0-57B4-83EC-60222CA9C61D}"/>
              </a:ext>
            </a:extLst>
          </p:cNvPr>
          <p:cNvSpPr/>
          <p:nvPr/>
        </p:nvSpPr>
        <p:spPr>
          <a:xfrm>
            <a:off x="623392" y="2694898"/>
            <a:ext cx="10873208" cy="1262312"/>
          </a:xfrm>
          <a:custGeom>
            <a:avLst/>
            <a:gdLst>
              <a:gd name="csX0" fmla="*/ 0 w 10873208"/>
              <a:gd name="csY0" fmla="*/ 210390 h 1262312"/>
              <a:gd name="csX1" fmla="*/ 210390 w 10873208"/>
              <a:gd name="csY1" fmla="*/ 0 h 1262312"/>
              <a:gd name="csX2" fmla="*/ 1116267 w 10873208"/>
              <a:gd name="csY2" fmla="*/ 0 h 1262312"/>
              <a:gd name="csX3" fmla="*/ 2022144 w 10873208"/>
              <a:gd name="csY3" fmla="*/ 0 h 1262312"/>
              <a:gd name="csX4" fmla="*/ 2405400 w 10873208"/>
              <a:gd name="csY4" fmla="*/ 0 h 1262312"/>
              <a:gd name="csX5" fmla="*/ 2893180 w 10873208"/>
              <a:gd name="csY5" fmla="*/ 0 h 1262312"/>
              <a:gd name="csX6" fmla="*/ 3694533 w 10873208"/>
              <a:gd name="csY6" fmla="*/ 0 h 1262312"/>
              <a:gd name="csX7" fmla="*/ 4182313 w 10873208"/>
              <a:gd name="csY7" fmla="*/ 0 h 1262312"/>
              <a:gd name="csX8" fmla="*/ 4774617 w 10873208"/>
              <a:gd name="csY8" fmla="*/ 0 h 1262312"/>
              <a:gd name="csX9" fmla="*/ 5575970 w 10873208"/>
              <a:gd name="csY9" fmla="*/ 0 h 1262312"/>
              <a:gd name="csX10" fmla="*/ 5959225 w 10873208"/>
              <a:gd name="csY10" fmla="*/ 0 h 1262312"/>
              <a:gd name="csX11" fmla="*/ 6760578 w 10873208"/>
              <a:gd name="csY11" fmla="*/ 0 h 1262312"/>
              <a:gd name="csX12" fmla="*/ 7143834 w 10873208"/>
              <a:gd name="csY12" fmla="*/ 0 h 1262312"/>
              <a:gd name="csX13" fmla="*/ 7840662 w 10873208"/>
              <a:gd name="csY13" fmla="*/ 0 h 1262312"/>
              <a:gd name="csX14" fmla="*/ 8223918 w 10873208"/>
              <a:gd name="csY14" fmla="*/ 0 h 1262312"/>
              <a:gd name="csX15" fmla="*/ 8711698 w 10873208"/>
              <a:gd name="csY15" fmla="*/ 0 h 1262312"/>
              <a:gd name="csX16" fmla="*/ 9513051 w 10873208"/>
              <a:gd name="csY16" fmla="*/ 0 h 1262312"/>
              <a:gd name="csX17" fmla="*/ 10662818 w 10873208"/>
              <a:gd name="csY17" fmla="*/ 0 h 1262312"/>
              <a:gd name="csX18" fmla="*/ 10873208 w 10873208"/>
              <a:gd name="csY18" fmla="*/ 210390 h 1262312"/>
              <a:gd name="csX19" fmla="*/ 10873208 w 10873208"/>
              <a:gd name="csY19" fmla="*/ 631156 h 1262312"/>
              <a:gd name="csX20" fmla="*/ 10873208 w 10873208"/>
              <a:gd name="csY20" fmla="*/ 1051922 h 1262312"/>
              <a:gd name="csX21" fmla="*/ 10662818 w 10873208"/>
              <a:gd name="csY21" fmla="*/ 1262312 h 1262312"/>
              <a:gd name="csX22" fmla="*/ 9861465 w 10873208"/>
              <a:gd name="csY22" fmla="*/ 1262312 h 1262312"/>
              <a:gd name="csX23" fmla="*/ 9269161 w 10873208"/>
              <a:gd name="csY23" fmla="*/ 1262312 h 1262312"/>
              <a:gd name="csX24" fmla="*/ 8885905 w 10873208"/>
              <a:gd name="csY24" fmla="*/ 1262312 h 1262312"/>
              <a:gd name="csX25" fmla="*/ 8084552 w 10873208"/>
              <a:gd name="csY25" fmla="*/ 1262312 h 1262312"/>
              <a:gd name="csX26" fmla="*/ 7701297 w 10873208"/>
              <a:gd name="csY26" fmla="*/ 1262312 h 1262312"/>
              <a:gd name="csX27" fmla="*/ 6899944 w 10873208"/>
              <a:gd name="csY27" fmla="*/ 1262312 h 1262312"/>
              <a:gd name="csX28" fmla="*/ 6307640 w 10873208"/>
              <a:gd name="csY28" fmla="*/ 1262312 h 1262312"/>
              <a:gd name="csX29" fmla="*/ 5819860 w 10873208"/>
              <a:gd name="csY29" fmla="*/ 1262312 h 1262312"/>
              <a:gd name="csX30" fmla="*/ 5227555 w 10873208"/>
              <a:gd name="csY30" fmla="*/ 1262312 h 1262312"/>
              <a:gd name="csX31" fmla="*/ 4739775 w 10873208"/>
              <a:gd name="csY31" fmla="*/ 1262312 h 1262312"/>
              <a:gd name="csX32" fmla="*/ 4042947 w 10873208"/>
              <a:gd name="csY32" fmla="*/ 1262312 h 1262312"/>
              <a:gd name="csX33" fmla="*/ 3555167 w 10873208"/>
              <a:gd name="csY33" fmla="*/ 1262312 h 1262312"/>
              <a:gd name="csX34" fmla="*/ 2753814 w 10873208"/>
              <a:gd name="csY34" fmla="*/ 1262312 h 1262312"/>
              <a:gd name="csX35" fmla="*/ 2266034 w 10873208"/>
              <a:gd name="csY35" fmla="*/ 1262312 h 1262312"/>
              <a:gd name="csX36" fmla="*/ 1673730 w 10873208"/>
              <a:gd name="csY36" fmla="*/ 1262312 h 1262312"/>
              <a:gd name="csX37" fmla="*/ 1290474 w 10873208"/>
              <a:gd name="csY37" fmla="*/ 1262312 h 1262312"/>
              <a:gd name="csX38" fmla="*/ 210390 w 10873208"/>
              <a:gd name="csY38" fmla="*/ 1262312 h 1262312"/>
              <a:gd name="csX39" fmla="*/ 0 w 10873208"/>
              <a:gd name="csY39" fmla="*/ 1051922 h 1262312"/>
              <a:gd name="csX40" fmla="*/ 0 w 10873208"/>
              <a:gd name="csY40" fmla="*/ 622741 h 1262312"/>
              <a:gd name="csX41" fmla="*/ 0 w 10873208"/>
              <a:gd name="csY41" fmla="*/ 210390 h 126231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10873208" h="1262312" fill="none" extrusionOk="0">
                <a:moveTo>
                  <a:pt x="0" y="210390"/>
                </a:moveTo>
                <a:cubicBezTo>
                  <a:pt x="1150" y="97678"/>
                  <a:pt x="75715" y="20975"/>
                  <a:pt x="210390" y="0"/>
                </a:cubicBezTo>
                <a:cubicBezTo>
                  <a:pt x="408087" y="24710"/>
                  <a:pt x="738213" y="-8017"/>
                  <a:pt x="1116267" y="0"/>
                </a:cubicBezTo>
                <a:cubicBezTo>
                  <a:pt x="1494321" y="8017"/>
                  <a:pt x="1731982" y="25749"/>
                  <a:pt x="2022144" y="0"/>
                </a:cubicBezTo>
                <a:cubicBezTo>
                  <a:pt x="2312306" y="-25749"/>
                  <a:pt x="2323798" y="-4027"/>
                  <a:pt x="2405400" y="0"/>
                </a:cubicBezTo>
                <a:cubicBezTo>
                  <a:pt x="2487002" y="4027"/>
                  <a:pt x="2739897" y="-16327"/>
                  <a:pt x="2893180" y="0"/>
                </a:cubicBezTo>
                <a:cubicBezTo>
                  <a:pt x="3046463" y="16327"/>
                  <a:pt x="3426661" y="27150"/>
                  <a:pt x="3694533" y="0"/>
                </a:cubicBezTo>
                <a:cubicBezTo>
                  <a:pt x="3962405" y="-27150"/>
                  <a:pt x="4066622" y="5946"/>
                  <a:pt x="4182313" y="0"/>
                </a:cubicBezTo>
                <a:cubicBezTo>
                  <a:pt x="4298004" y="-5946"/>
                  <a:pt x="4541002" y="-23337"/>
                  <a:pt x="4774617" y="0"/>
                </a:cubicBezTo>
                <a:cubicBezTo>
                  <a:pt x="5008232" y="23337"/>
                  <a:pt x="5307242" y="39060"/>
                  <a:pt x="5575970" y="0"/>
                </a:cubicBezTo>
                <a:cubicBezTo>
                  <a:pt x="5844698" y="-39060"/>
                  <a:pt x="5851053" y="14031"/>
                  <a:pt x="5959225" y="0"/>
                </a:cubicBezTo>
                <a:cubicBezTo>
                  <a:pt x="6067398" y="-14031"/>
                  <a:pt x="6520224" y="6515"/>
                  <a:pt x="6760578" y="0"/>
                </a:cubicBezTo>
                <a:cubicBezTo>
                  <a:pt x="7000932" y="-6515"/>
                  <a:pt x="6980719" y="-23"/>
                  <a:pt x="7143834" y="0"/>
                </a:cubicBezTo>
                <a:cubicBezTo>
                  <a:pt x="7306949" y="23"/>
                  <a:pt x="7623931" y="-12633"/>
                  <a:pt x="7840662" y="0"/>
                </a:cubicBezTo>
                <a:cubicBezTo>
                  <a:pt x="8057393" y="12633"/>
                  <a:pt x="8035530" y="-18727"/>
                  <a:pt x="8223918" y="0"/>
                </a:cubicBezTo>
                <a:cubicBezTo>
                  <a:pt x="8412306" y="18727"/>
                  <a:pt x="8572182" y="-4566"/>
                  <a:pt x="8711698" y="0"/>
                </a:cubicBezTo>
                <a:cubicBezTo>
                  <a:pt x="8851214" y="4566"/>
                  <a:pt x="9170712" y="-28579"/>
                  <a:pt x="9513051" y="0"/>
                </a:cubicBezTo>
                <a:cubicBezTo>
                  <a:pt x="9855390" y="28579"/>
                  <a:pt x="10140949" y="-48405"/>
                  <a:pt x="10662818" y="0"/>
                </a:cubicBezTo>
                <a:cubicBezTo>
                  <a:pt x="10788838" y="2482"/>
                  <a:pt x="10860515" y="75301"/>
                  <a:pt x="10873208" y="210390"/>
                </a:cubicBezTo>
                <a:cubicBezTo>
                  <a:pt x="10894142" y="371217"/>
                  <a:pt x="10893096" y="443930"/>
                  <a:pt x="10873208" y="631156"/>
                </a:cubicBezTo>
                <a:cubicBezTo>
                  <a:pt x="10853320" y="818382"/>
                  <a:pt x="10864066" y="862205"/>
                  <a:pt x="10873208" y="1051922"/>
                </a:cubicBezTo>
                <a:cubicBezTo>
                  <a:pt x="10873651" y="1187792"/>
                  <a:pt x="10776946" y="1264212"/>
                  <a:pt x="10662818" y="1262312"/>
                </a:cubicBezTo>
                <a:cubicBezTo>
                  <a:pt x="10401797" y="1266452"/>
                  <a:pt x="10064964" y="1286544"/>
                  <a:pt x="9861465" y="1262312"/>
                </a:cubicBezTo>
                <a:cubicBezTo>
                  <a:pt x="9657966" y="1238080"/>
                  <a:pt x="9452561" y="1264151"/>
                  <a:pt x="9269161" y="1262312"/>
                </a:cubicBezTo>
                <a:cubicBezTo>
                  <a:pt x="9085761" y="1260473"/>
                  <a:pt x="8989045" y="1264378"/>
                  <a:pt x="8885905" y="1262312"/>
                </a:cubicBezTo>
                <a:cubicBezTo>
                  <a:pt x="8782765" y="1260246"/>
                  <a:pt x="8436253" y="1229120"/>
                  <a:pt x="8084552" y="1262312"/>
                </a:cubicBezTo>
                <a:cubicBezTo>
                  <a:pt x="7732851" y="1295504"/>
                  <a:pt x="7818728" y="1264886"/>
                  <a:pt x="7701297" y="1262312"/>
                </a:cubicBezTo>
                <a:cubicBezTo>
                  <a:pt x="7583867" y="1259738"/>
                  <a:pt x="7211467" y="1248120"/>
                  <a:pt x="6899944" y="1262312"/>
                </a:cubicBezTo>
                <a:cubicBezTo>
                  <a:pt x="6588421" y="1276504"/>
                  <a:pt x="6599004" y="1286559"/>
                  <a:pt x="6307640" y="1262312"/>
                </a:cubicBezTo>
                <a:cubicBezTo>
                  <a:pt x="6016276" y="1238065"/>
                  <a:pt x="6021611" y="1278259"/>
                  <a:pt x="5819860" y="1262312"/>
                </a:cubicBezTo>
                <a:cubicBezTo>
                  <a:pt x="5618109" y="1246365"/>
                  <a:pt x="5457979" y="1240639"/>
                  <a:pt x="5227555" y="1262312"/>
                </a:cubicBezTo>
                <a:cubicBezTo>
                  <a:pt x="4997131" y="1283985"/>
                  <a:pt x="4850226" y="1257001"/>
                  <a:pt x="4739775" y="1262312"/>
                </a:cubicBezTo>
                <a:cubicBezTo>
                  <a:pt x="4629324" y="1267623"/>
                  <a:pt x="4317814" y="1275834"/>
                  <a:pt x="4042947" y="1262312"/>
                </a:cubicBezTo>
                <a:cubicBezTo>
                  <a:pt x="3768080" y="1248790"/>
                  <a:pt x="3779699" y="1244408"/>
                  <a:pt x="3555167" y="1262312"/>
                </a:cubicBezTo>
                <a:cubicBezTo>
                  <a:pt x="3330635" y="1280216"/>
                  <a:pt x="2978620" y="1248200"/>
                  <a:pt x="2753814" y="1262312"/>
                </a:cubicBezTo>
                <a:cubicBezTo>
                  <a:pt x="2529008" y="1276424"/>
                  <a:pt x="2453561" y="1256030"/>
                  <a:pt x="2266034" y="1262312"/>
                </a:cubicBezTo>
                <a:cubicBezTo>
                  <a:pt x="2078507" y="1268594"/>
                  <a:pt x="1965548" y="1263674"/>
                  <a:pt x="1673730" y="1262312"/>
                </a:cubicBezTo>
                <a:cubicBezTo>
                  <a:pt x="1381912" y="1260950"/>
                  <a:pt x="1399729" y="1262016"/>
                  <a:pt x="1290474" y="1262312"/>
                </a:cubicBezTo>
                <a:cubicBezTo>
                  <a:pt x="1181219" y="1262608"/>
                  <a:pt x="653903" y="1295226"/>
                  <a:pt x="210390" y="1262312"/>
                </a:cubicBezTo>
                <a:cubicBezTo>
                  <a:pt x="79811" y="1279594"/>
                  <a:pt x="6233" y="1171135"/>
                  <a:pt x="0" y="1051922"/>
                </a:cubicBezTo>
                <a:cubicBezTo>
                  <a:pt x="-18714" y="904029"/>
                  <a:pt x="-306" y="731703"/>
                  <a:pt x="0" y="622741"/>
                </a:cubicBezTo>
                <a:cubicBezTo>
                  <a:pt x="306" y="513779"/>
                  <a:pt x="-5404" y="393012"/>
                  <a:pt x="0" y="210390"/>
                </a:cubicBezTo>
                <a:close/>
              </a:path>
              <a:path w="10873208" h="1262312" stroke="0" extrusionOk="0">
                <a:moveTo>
                  <a:pt x="0" y="210390"/>
                </a:moveTo>
                <a:cubicBezTo>
                  <a:pt x="18354" y="84381"/>
                  <a:pt x="75862" y="-21817"/>
                  <a:pt x="210390" y="0"/>
                </a:cubicBezTo>
                <a:cubicBezTo>
                  <a:pt x="306654" y="7057"/>
                  <a:pt x="481071" y="-10937"/>
                  <a:pt x="593646" y="0"/>
                </a:cubicBezTo>
                <a:cubicBezTo>
                  <a:pt x="706221" y="10937"/>
                  <a:pt x="967254" y="21147"/>
                  <a:pt x="1185950" y="0"/>
                </a:cubicBezTo>
                <a:cubicBezTo>
                  <a:pt x="1404646" y="-21147"/>
                  <a:pt x="1546537" y="-9467"/>
                  <a:pt x="1673730" y="0"/>
                </a:cubicBezTo>
                <a:cubicBezTo>
                  <a:pt x="1800923" y="9467"/>
                  <a:pt x="2196707" y="-42179"/>
                  <a:pt x="2579607" y="0"/>
                </a:cubicBezTo>
                <a:cubicBezTo>
                  <a:pt x="2962507" y="42179"/>
                  <a:pt x="2838024" y="-5021"/>
                  <a:pt x="3067387" y="0"/>
                </a:cubicBezTo>
                <a:cubicBezTo>
                  <a:pt x="3296750" y="5021"/>
                  <a:pt x="3697956" y="33302"/>
                  <a:pt x="3973264" y="0"/>
                </a:cubicBezTo>
                <a:cubicBezTo>
                  <a:pt x="4248572" y="-33302"/>
                  <a:pt x="4471487" y="-30757"/>
                  <a:pt x="4670093" y="0"/>
                </a:cubicBezTo>
                <a:cubicBezTo>
                  <a:pt x="4868699" y="30757"/>
                  <a:pt x="4988896" y="2711"/>
                  <a:pt x="5157873" y="0"/>
                </a:cubicBezTo>
                <a:cubicBezTo>
                  <a:pt x="5326850" y="-2711"/>
                  <a:pt x="5583462" y="33059"/>
                  <a:pt x="5959225" y="0"/>
                </a:cubicBezTo>
                <a:cubicBezTo>
                  <a:pt x="6334988" y="-33059"/>
                  <a:pt x="6421096" y="-32716"/>
                  <a:pt x="6656054" y="0"/>
                </a:cubicBezTo>
                <a:cubicBezTo>
                  <a:pt x="6891012" y="32716"/>
                  <a:pt x="7199504" y="-7789"/>
                  <a:pt x="7352882" y="0"/>
                </a:cubicBezTo>
                <a:cubicBezTo>
                  <a:pt x="7506260" y="7789"/>
                  <a:pt x="8028512" y="-24318"/>
                  <a:pt x="8258760" y="0"/>
                </a:cubicBezTo>
                <a:cubicBezTo>
                  <a:pt x="8489008" y="24318"/>
                  <a:pt x="8476461" y="-15348"/>
                  <a:pt x="8642015" y="0"/>
                </a:cubicBezTo>
                <a:cubicBezTo>
                  <a:pt x="8807570" y="15348"/>
                  <a:pt x="9014878" y="3923"/>
                  <a:pt x="9338844" y="0"/>
                </a:cubicBezTo>
                <a:cubicBezTo>
                  <a:pt x="9662810" y="-3923"/>
                  <a:pt x="10138904" y="27722"/>
                  <a:pt x="10662818" y="0"/>
                </a:cubicBezTo>
                <a:cubicBezTo>
                  <a:pt x="10772848" y="6625"/>
                  <a:pt x="10858465" y="102854"/>
                  <a:pt x="10873208" y="210390"/>
                </a:cubicBezTo>
                <a:cubicBezTo>
                  <a:pt x="10859045" y="350092"/>
                  <a:pt x="10864844" y="441280"/>
                  <a:pt x="10873208" y="605910"/>
                </a:cubicBezTo>
                <a:cubicBezTo>
                  <a:pt x="10881572" y="770540"/>
                  <a:pt x="10853288" y="920555"/>
                  <a:pt x="10873208" y="1051922"/>
                </a:cubicBezTo>
                <a:cubicBezTo>
                  <a:pt x="10898232" y="1154073"/>
                  <a:pt x="10780707" y="1255626"/>
                  <a:pt x="10662818" y="1262312"/>
                </a:cubicBezTo>
                <a:cubicBezTo>
                  <a:pt x="10553412" y="1272729"/>
                  <a:pt x="10364642" y="1277635"/>
                  <a:pt x="10175038" y="1262312"/>
                </a:cubicBezTo>
                <a:cubicBezTo>
                  <a:pt x="9985434" y="1246989"/>
                  <a:pt x="9893552" y="1266937"/>
                  <a:pt x="9791782" y="1262312"/>
                </a:cubicBezTo>
                <a:cubicBezTo>
                  <a:pt x="9690012" y="1257687"/>
                  <a:pt x="9491818" y="1266437"/>
                  <a:pt x="9304002" y="1262312"/>
                </a:cubicBezTo>
                <a:cubicBezTo>
                  <a:pt x="9116186" y="1258187"/>
                  <a:pt x="8803972" y="1263462"/>
                  <a:pt x="8607174" y="1262312"/>
                </a:cubicBezTo>
                <a:cubicBezTo>
                  <a:pt x="8410376" y="1261162"/>
                  <a:pt x="8350364" y="1248876"/>
                  <a:pt x="8119394" y="1262312"/>
                </a:cubicBezTo>
                <a:cubicBezTo>
                  <a:pt x="7888424" y="1275748"/>
                  <a:pt x="7845500" y="1251791"/>
                  <a:pt x="7736138" y="1262312"/>
                </a:cubicBezTo>
                <a:cubicBezTo>
                  <a:pt x="7626776" y="1272833"/>
                  <a:pt x="7270915" y="1238998"/>
                  <a:pt x="7143834" y="1262312"/>
                </a:cubicBezTo>
                <a:cubicBezTo>
                  <a:pt x="7016753" y="1285626"/>
                  <a:pt x="6566247" y="1262934"/>
                  <a:pt x="6342481" y="1262312"/>
                </a:cubicBezTo>
                <a:cubicBezTo>
                  <a:pt x="6118715" y="1261690"/>
                  <a:pt x="6069392" y="1276424"/>
                  <a:pt x="5854701" y="1262312"/>
                </a:cubicBezTo>
                <a:cubicBezTo>
                  <a:pt x="5640010" y="1248200"/>
                  <a:pt x="5389722" y="1288468"/>
                  <a:pt x="5262397" y="1262312"/>
                </a:cubicBezTo>
                <a:cubicBezTo>
                  <a:pt x="5135072" y="1236156"/>
                  <a:pt x="4887744" y="1267529"/>
                  <a:pt x="4774617" y="1262312"/>
                </a:cubicBezTo>
                <a:cubicBezTo>
                  <a:pt x="4661490" y="1257095"/>
                  <a:pt x="4158409" y="1291455"/>
                  <a:pt x="3868740" y="1262312"/>
                </a:cubicBezTo>
                <a:cubicBezTo>
                  <a:pt x="3579071" y="1233169"/>
                  <a:pt x="3194353" y="1228123"/>
                  <a:pt x="2962863" y="1262312"/>
                </a:cubicBezTo>
                <a:cubicBezTo>
                  <a:pt x="2731373" y="1296501"/>
                  <a:pt x="2443244" y="1227493"/>
                  <a:pt x="2056986" y="1262312"/>
                </a:cubicBezTo>
                <a:cubicBezTo>
                  <a:pt x="1670728" y="1297131"/>
                  <a:pt x="1681247" y="1264429"/>
                  <a:pt x="1464681" y="1262312"/>
                </a:cubicBezTo>
                <a:cubicBezTo>
                  <a:pt x="1248116" y="1260195"/>
                  <a:pt x="656411" y="1254040"/>
                  <a:pt x="210390" y="1262312"/>
                </a:cubicBezTo>
                <a:cubicBezTo>
                  <a:pt x="85151" y="1265684"/>
                  <a:pt x="-14491" y="1181466"/>
                  <a:pt x="0" y="1051922"/>
                </a:cubicBezTo>
                <a:cubicBezTo>
                  <a:pt x="-12335" y="958510"/>
                  <a:pt x="-19587" y="732081"/>
                  <a:pt x="0" y="614325"/>
                </a:cubicBezTo>
                <a:cubicBezTo>
                  <a:pt x="19587" y="496569"/>
                  <a:pt x="-836" y="320135"/>
                  <a:pt x="0" y="21039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28575">
            <a:prstDash val="solid"/>
            <a:extLst>
              <a:ext uri="{C807C97D-BFC1-408E-A445-0C87EB9F89A2}">
                <ask:lineSketchStyleProps xmlns:ask="http://schemas.microsoft.com/office/drawing/2018/sketchyshapes" sd="274847891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5C1D809-5148-D5F5-E800-A8760536C062}"/>
              </a:ext>
            </a:extLst>
          </p:cNvPr>
          <p:cNvSpPr/>
          <p:nvPr/>
        </p:nvSpPr>
        <p:spPr>
          <a:xfrm>
            <a:off x="623392" y="4356926"/>
            <a:ext cx="10873208" cy="974026"/>
          </a:xfrm>
          <a:custGeom>
            <a:avLst/>
            <a:gdLst>
              <a:gd name="csX0" fmla="*/ 0 w 10873208"/>
              <a:gd name="csY0" fmla="*/ 162341 h 974026"/>
              <a:gd name="csX1" fmla="*/ 162341 w 10873208"/>
              <a:gd name="csY1" fmla="*/ 0 h 974026"/>
              <a:gd name="csX2" fmla="*/ 1032594 w 10873208"/>
              <a:gd name="csY2" fmla="*/ 0 h 974026"/>
              <a:gd name="csX3" fmla="*/ 1902848 w 10873208"/>
              <a:gd name="csY3" fmla="*/ 0 h 974026"/>
              <a:gd name="csX4" fmla="*/ 2245675 w 10873208"/>
              <a:gd name="csY4" fmla="*/ 0 h 974026"/>
              <a:gd name="csX5" fmla="*/ 2693987 w 10873208"/>
              <a:gd name="csY5" fmla="*/ 0 h 974026"/>
              <a:gd name="csX6" fmla="*/ 3458755 w 10873208"/>
              <a:gd name="csY6" fmla="*/ 0 h 974026"/>
              <a:gd name="csX7" fmla="*/ 3907068 w 10873208"/>
              <a:gd name="csY7" fmla="*/ 0 h 974026"/>
              <a:gd name="csX8" fmla="*/ 4460865 w 10873208"/>
              <a:gd name="csY8" fmla="*/ 0 h 974026"/>
              <a:gd name="csX9" fmla="*/ 5225633 w 10873208"/>
              <a:gd name="csY9" fmla="*/ 0 h 974026"/>
              <a:gd name="csX10" fmla="*/ 5568461 w 10873208"/>
              <a:gd name="csY10" fmla="*/ 0 h 974026"/>
              <a:gd name="csX11" fmla="*/ 6333229 w 10873208"/>
              <a:gd name="csY11" fmla="*/ 0 h 974026"/>
              <a:gd name="csX12" fmla="*/ 6676056 w 10873208"/>
              <a:gd name="csY12" fmla="*/ 0 h 974026"/>
              <a:gd name="csX13" fmla="*/ 7335339 w 10873208"/>
              <a:gd name="csY13" fmla="*/ 0 h 974026"/>
              <a:gd name="csX14" fmla="*/ 7678166 w 10873208"/>
              <a:gd name="csY14" fmla="*/ 0 h 974026"/>
              <a:gd name="csX15" fmla="*/ 8126478 w 10873208"/>
              <a:gd name="csY15" fmla="*/ 0 h 974026"/>
              <a:gd name="csX16" fmla="*/ 8891246 w 10873208"/>
              <a:gd name="csY16" fmla="*/ 0 h 974026"/>
              <a:gd name="csX17" fmla="*/ 9656014 w 10873208"/>
              <a:gd name="csY17" fmla="*/ 0 h 974026"/>
              <a:gd name="csX18" fmla="*/ 10104327 w 10873208"/>
              <a:gd name="csY18" fmla="*/ 0 h 974026"/>
              <a:gd name="csX19" fmla="*/ 10710867 w 10873208"/>
              <a:gd name="csY19" fmla="*/ 0 h 974026"/>
              <a:gd name="csX20" fmla="*/ 10873208 w 10873208"/>
              <a:gd name="csY20" fmla="*/ 162341 h 974026"/>
              <a:gd name="csX21" fmla="*/ 10873208 w 10873208"/>
              <a:gd name="csY21" fmla="*/ 811685 h 974026"/>
              <a:gd name="csX22" fmla="*/ 10710867 w 10873208"/>
              <a:gd name="csY22" fmla="*/ 974026 h 974026"/>
              <a:gd name="csX23" fmla="*/ 10157069 w 10873208"/>
              <a:gd name="csY23" fmla="*/ 974026 h 974026"/>
              <a:gd name="csX24" fmla="*/ 9814242 w 10873208"/>
              <a:gd name="csY24" fmla="*/ 974026 h 974026"/>
              <a:gd name="csX25" fmla="*/ 9049474 w 10873208"/>
              <a:gd name="csY25" fmla="*/ 974026 h 974026"/>
              <a:gd name="csX26" fmla="*/ 8706647 w 10873208"/>
              <a:gd name="csY26" fmla="*/ 974026 h 974026"/>
              <a:gd name="csX27" fmla="*/ 7941879 w 10873208"/>
              <a:gd name="csY27" fmla="*/ 974026 h 974026"/>
              <a:gd name="csX28" fmla="*/ 7388081 w 10873208"/>
              <a:gd name="csY28" fmla="*/ 974026 h 974026"/>
              <a:gd name="csX29" fmla="*/ 6939769 w 10873208"/>
              <a:gd name="csY29" fmla="*/ 974026 h 974026"/>
              <a:gd name="csX30" fmla="*/ 6385971 w 10873208"/>
              <a:gd name="csY30" fmla="*/ 974026 h 974026"/>
              <a:gd name="csX31" fmla="*/ 5937659 w 10873208"/>
              <a:gd name="csY31" fmla="*/ 974026 h 974026"/>
              <a:gd name="csX32" fmla="*/ 5278376 w 10873208"/>
              <a:gd name="csY32" fmla="*/ 974026 h 974026"/>
              <a:gd name="csX33" fmla="*/ 4830064 w 10873208"/>
              <a:gd name="csY33" fmla="*/ 974026 h 974026"/>
              <a:gd name="csX34" fmla="*/ 4065296 w 10873208"/>
              <a:gd name="csY34" fmla="*/ 974026 h 974026"/>
              <a:gd name="csX35" fmla="*/ 3616983 w 10873208"/>
              <a:gd name="csY35" fmla="*/ 974026 h 974026"/>
              <a:gd name="csX36" fmla="*/ 3063186 w 10873208"/>
              <a:gd name="csY36" fmla="*/ 974026 h 974026"/>
              <a:gd name="csX37" fmla="*/ 2720359 w 10873208"/>
              <a:gd name="csY37" fmla="*/ 974026 h 974026"/>
              <a:gd name="csX38" fmla="*/ 2166561 w 10873208"/>
              <a:gd name="csY38" fmla="*/ 974026 h 974026"/>
              <a:gd name="csX39" fmla="*/ 1296308 w 10873208"/>
              <a:gd name="csY39" fmla="*/ 974026 h 974026"/>
              <a:gd name="csX40" fmla="*/ 162341 w 10873208"/>
              <a:gd name="csY40" fmla="*/ 974026 h 974026"/>
              <a:gd name="csX41" fmla="*/ 0 w 10873208"/>
              <a:gd name="csY41" fmla="*/ 811685 h 974026"/>
              <a:gd name="csX42" fmla="*/ 0 w 10873208"/>
              <a:gd name="csY42" fmla="*/ 162341 h 9740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10873208" h="974026" fill="none" extrusionOk="0">
                <a:moveTo>
                  <a:pt x="0" y="162341"/>
                </a:moveTo>
                <a:cubicBezTo>
                  <a:pt x="5156" y="88298"/>
                  <a:pt x="64653" y="9115"/>
                  <a:pt x="162341" y="0"/>
                </a:cubicBezTo>
                <a:cubicBezTo>
                  <a:pt x="585593" y="25837"/>
                  <a:pt x="804832" y="-31874"/>
                  <a:pt x="1032594" y="0"/>
                </a:cubicBezTo>
                <a:cubicBezTo>
                  <a:pt x="1260356" y="31874"/>
                  <a:pt x="1680661" y="4477"/>
                  <a:pt x="1902848" y="0"/>
                </a:cubicBezTo>
                <a:cubicBezTo>
                  <a:pt x="2125035" y="-4477"/>
                  <a:pt x="2095293" y="11321"/>
                  <a:pt x="2245675" y="0"/>
                </a:cubicBezTo>
                <a:cubicBezTo>
                  <a:pt x="2396057" y="-11321"/>
                  <a:pt x="2494715" y="7699"/>
                  <a:pt x="2693987" y="0"/>
                </a:cubicBezTo>
                <a:cubicBezTo>
                  <a:pt x="2893259" y="-7699"/>
                  <a:pt x="3185036" y="-9224"/>
                  <a:pt x="3458755" y="0"/>
                </a:cubicBezTo>
                <a:cubicBezTo>
                  <a:pt x="3732474" y="9224"/>
                  <a:pt x="3801190" y="-15686"/>
                  <a:pt x="3907068" y="0"/>
                </a:cubicBezTo>
                <a:cubicBezTo>
                  <a:pt x="4012946" y="15686"/>
                  <a:pt x="4298218" y="18484"/>
                  <a:pt x="4460865" y="0"/>
                </a:cubicBezTo>
                <a:cubicBezTo>
                  <a:pt x="4623512" y="-18484"/>
                  <a:pt x="5038179" y="21812"/>
                  <a:pt x="5225633" y="0"/>
                </a:cubicBezTo>
                <a:cubicBezTo>
                  <a:pt x="5413087" y="-21812"/>
                  <a:pt x="5491052" y="-2447"/>
                  <a:pt x="5568461" y="0"/>
                </a:cubicBezTo>
                <a:cubicBezTo>
                  <a:pt x="5645870" y="2447"/>
                  <a:pt x="6097520" y="-10698"/>
                  <a:pt x="6333229" y="0"/>
                </a:cubicBezTo>
                <a:cubicBezTo>
                  <a:pt x="6568938" y="10698"/>
                  <a:pt x="6592351" y="3224"/>
                  <a:pt x="6676056" y="0"/>
                </a:cubicBezTo>
                <a:cubicBezTo>
                  <a:pt x="6759761" y="-3224"/>
                  <a:pt x="7127137" y="23432"/>
                  <a:pt x="7335339" y="0"/>
                </a:cubicBezTo>
                <a:cubicBezTo>
                  <a:pt x="7543541" y="-23432"/>
                  <a:pt x="7548701" y="-12146"/>
                  <a:pt x="7678166" y="0"/>
                </a:cubicBezTo>
                <a:cubicBezTo>
                  <a:pt x="7807631" y="12146"/>
                  <a:pt x="8024732" y="13873"/>
                  <a:pt x="8126478" y="0"/>
                </a:cubicBezTo>
                <a:cubicBezTo>
                  <a:pt x="8228224" y="-13873"/>
                  <a:pt x="8520241" y="16058"/>
                  <a:pt x="8891246" y="0"/>
                </a:cubicBezTo>
                <a:cubicBezTo>
                  <a:pt x="9262251" y="-16058"/>
                  <a:pt x="9331568" y="-37792"/>
                  <a:pt x="9656014" y="0"/>
                </a:cubicBezTo>
                <a:cubicBezTo>
                  <a:pt x="9980460" y="37792"/>
                  <a:pt x="10003830" y="-19054"/>
                  <a:pt x="10104327" y="0"/>
                </a:cubicBezTo>
                <a:cubicBezTo>
                  <a:pt x="10204824" y="19054"/>
                  <a:pt x="10482501" y="16644"/>
                  <a:pt x="10710867" y="0"/>
                </a:cubicBezTo>
                <a:cubicBezTo>
                  <a:pt x="10805382" y="15819"/>
                  <a:pt x="10860367" y="83842"/>
                  <a:pt x="10873208" y="162341"/>
                </a:cubicBezTo>
                <a:cubicBezTo>
                  <a:pt x="10890140" y="404085"/>
                  <a:pt x="10848959" y="656305"/>
                  <a:pt x="10873208" y="811685"/>
                </a:cubicBezTo>
                <a:cubicBezTo>
                  <a:pt x="10875193" y="903655"/>
                  <a:pt x="10807328" y="959872"/>
                  <a:pt x="10710867" y="974026"/>
                </a:cubicBezTo>
                <a:cubicBezTo>
                  <a:pt x="10484761" y="959077"/>
                  <a:pt x="10296179" y="994449"/>
                  <a:pt x="10157069" y="974026"/>
                </a:cubicBezTo>
                <a:cubicBezTo>
                  <a:pt x="10017959" y="953603"/>
                  <a:pt x="9978089" y="959843"/>
                  <a:pt x="9814242" y="974026"/>
                </a:cubicBezTo>
                <a:cubicBezTo>
                  <a:pt x="9650395" y="988209"/>
                  <a:pt x="9224824" y="996985"/>
                  <a:pt x="9049474" y="974026"/>
                </a:cubicBezTo>
                <a:cubicBezTo>
                  <a:pt x="8874124" y="951067"/>
                  <a:pt x="8803866" y="970446"/>
                  <a:pt x="8706647" y="974026"/>
                </a:cubicBezTo>
                <a:cubicBezTo>
                  <a:pt x="8609428" y="977606"/>
                  <a:pt x="8193468" y="1007095"/>
                  <a:pt x="7941879" y="974026"/>
                </a:cubicBezTo>
                <a:cubicBezTo>
                  <a:pt x="7690290" y="940957"/>
                  <a:pt x="7564125" y="967203"/>
                  <a:pt x="7388081" y="974026"/>
                </a:cubicBezTo>
                <a:cubicBezTo>
                  <a:pt x="7212037" y="980849"/>
                  <a:pt x="7058076" y="979890"/>
                  <a:pt x="6939769" y="974026"/>
                </a:cubicBezTo>
                <a:cubicBezTo>
                  <a:pt x="6821462" y="968162"/>
                  <a:pt x="6533881" y="964156"/>
                  <a:pt x="6385971" y="974026"/>
                </a:cubicBezTo>
                <a:cubicBezTo>
                  <a:pt x="6238061" y="983896"/>
                  <a:pt x="6102040" y="953726"/>
                  <a:pt x="5937659" y="974026"/>
                </a:cubicBezTo>
                <a:cubicBezTo>
                  <a:pt x="5773278" y="994326"/>
                  <a:pt x="5475846" y="958292"/>
                  <a:pt x="5278376" y="974026"/>
                </a:cubicBezTo>
                <a:cubicBezTo>
                  <a:pt x="5080906" y="989760"/>
                  <a:pt x="5036194" y="990013"/>
                  <a:pt x="4830064" y="974026"/>
                </a:cubicBezTo>
                <a:cubicBezTo>
                  <a:pt x="4623934" y="958039"/>
                  <a:pt x="4389813" y="945764"/>
                  <a:pt x="4065296" y="974026"/>
                </a:cubicBezTo>
                <a:cubicBezTo>
                  <a:pt x="3740779" y="1002288"/>
                  <a:pt x="3718158" y="976958"/>
                  <a:pt x="3616983" y="974026"/>
                </a:cubicBezTo>
                <a:cubicBezTo>
                  <a:pt x="3515808" y="971094"/>
                  <a:pt x="3255982" y="991299"/>
                  <a:pt x="3063186" y="974026"/>
                </a:cubicBezTo>
                <a:cubicBezTo>
                  <a:pt x="2870390" y="956753"/>
                  <a:pt x="2888278" y="984029"/>
                  <a:pt x="2720359" y="974026"/>
                </a:cubicBezTo>
                <a:cubicBezTo>
                  <a:pt x="2552440" y="964023"/>
                  <a:pt x="2423220" y="989813"/>
                  <a:pt x="2166561" y="974026"/>
                </a:cubicBezTo>
                <a:cubicBezTo>
                  <a:pt x="1909902" y="958239"/>
                  <a:pt x="1593957" y="973959"/>
                  <a:pt x="1296308" y="974026"/>
                </a:cubicBezTo>
                <a:cubicBezTo>
                  <a:pt x="998659" y="974093"/>
                  <a:pt x="412042" y="928022"/>
                  <a:pt x="162341" y="974026"/>
                </a:cubicBezTo>
                <a:cubicBezTo>
                  <a:pt x="74434" y="978930"/>
                  <a:pt x="-15763" y="917257"/>
                  <a:pt x="0" y="811685"/>
                </a:cubicBezTo>
                <a:cubicBezTo>
                  <a:pt x="-24322" y="629160"/>
                  <a:pt x="-10640" y="317368"/>
                  <a:pt x="0" y="162341"/>
                </a:cubicBezTo>
                <a:close/>
              </a:path>
              <a:path w="10873208" h="974026" stroke="0" extrusionOk="0">
                <a:moveTo>
                  <a:pt x="0" y="162341"/>
                </a:moveTo>
                <a:cubicBezTo>
                  <a:pt x="6417" y="69251"/>
                  <a:pt x="67209" y="-6514"/>
                  <a:pt x="162341" y="0"/>
                </a:cubicBezTo>
                <a:cubicBezTo>
                  <a:pt x="244879" y="7412"/>
                  <a:pt x="430195" y="-2635"/>
                  <a:pt x="505168" y="0"/>
                </a:cubicBezTo>
                <a:cubicBezTo>
                  <a:pt x="580141" y="2635"/>
                  <a:pt x="827828" y="-27345"/>
                  <a:pt x="1058966" y="0"/>
                </a:cubicBezTo>
                <a:cubicBezTo>
                  <a:pt x="1290104" y="27345"/>
                  <a:pt x="1392061" y="18510"/>
                  <a:pt x="1507278" y="0"/>
                </a:cubicBezTo>
                <a:cubicBezTo>
                  <a:pt x="1622495" y="-18510"/>
                  <a:pt x="2155744" y="-30776"/>
                  <a:pt x="2377531" y="0"/>
                </a:cubicBezTo>
                <a:cubicBezTo>
                  <a:pt x="2599318" y="30776"/>
                  <a:pt x="2628579" y="13177"/>
                  <a:pt x="2825844" y="0"/>
                </a:cubicBezTo>
                <a:cubicBezTo>
                  <a:pt x="3023109" y="-13177"/>
                  <a:pt x="3474597" y="12737"/>
                  <a:pt x="3696097" y="0"/>
                </a:cubicBezTo>
                <a:cubicBezTo>
                  <a:pt x="3917597" y="-12737"/>
                  <a:pt x="4182509" y="13720"/>
                  <a:pt x="4355380" y="0"/>
                </a:cubicBezTo>
                <a:cubicBezTo>
                  <a:pt x="4528251" y="-13720"/>
                  <a:pt x="4610322" y="-470"/>
                  <a:pt x="4803692" y="0"/>
                </a:cubicBezTo>
                <a:cubicBezTo>
                  <a:pt x="4997062" y="470"/>
                  <a:pt x="5267800" y="-19774"/>
                  <a:pt x="5568461" y="0"/>
                </a:cubicBezTo>
                <a:cubicBezTo>
                  <a:pt x="5869122" y="19774"/>
                  <a:pt x="6043982" y="5686"/>
                  <a:pt x="6227743" y="0"/>
                </a:cubicBezTo>
                <a:cubicBezTo>
                  <a:pt x="6411504" y="-5686"/>
                  <a:pt x="6665267" y="15219"/>
                  <a:pt x="6887026" y="0"/>
                </a:cubicBezTo>
                <a:cubicBezTo>
                  <a:pt x="7108785" y="-15219"/>
                  <a:pt x="7511439" y="28860"/>
                  <a:pt x="7757280" y="0"/>
                </a:cubicBezTo>
                <a:cubicBezTo>
                  <a:pt x="8003121" y="-28860"/>
                  <a:pt x="7937107" y="-8207"/>
                  <a:pt x="8100107" y="0"/>
                </a:cubicBezTo>
                <a:cubicBezTo>
                  <a:pt x="8263107" y="8207"/>
                  <a:pt x="8514320" y="-14206"/>
                  <a:pt x="8759390" y="0"/>
                </a:cubicBezTo>
                <a:cubicBezTo>
                  <a:pt x="9004460" y="14206"/>
                  <a:pt x="9230884" y="-34738"/>
                  <a:pt x="9524158" y="0"/>
                </a:cubicBezTo>
                <a:cubicBezTo>
                  <a:pt x="9817432" y="34738"/>
                  <a:pt x="9860153" y="324"/>
                  <a:pt x="10077955" y="0"/>
                </a:cubicBezTo>
                <a:cubicBezTo>
                  <a:pt x="10295757" y="-324"/>
                  <a:pt x="10461220" y="-22719"/>
                  <a:pt x="10710867" y="0"/>
                </a:cubicBezTo>
                <a:cubicBezTo>
                  <a:pt x="10799398" y="8369"/>
                  <a:pt x="10882299" y="90904"/>
                  <a:pt x="10873208" y="162341"/>
                </a:cubicBezTo>
                <a:cubicBezTo>
                  <a:pt x="10844010" y="309841"/>
                  <a:pt x="10876946" y="522084"/>
                  <a:pt x="10873208" y="811685"/>
                </a:cubicBezTo>
                <a:cubicBezTo>
                  <a:pt x="10856999" y="905347"/>
                  <a:pt x="10793377" y="973130"/>
                  <a:pt x="10710867" y="974026"/>
                </a:cubicBezTo>
                <a:cubicBezTo>
                  <a:pt x="10363747" y="994454"/>
                  <a:pt x="10138560" y="980991"/>
                  <a:pt x="9946099" y="974026"/>
                </a:cubicBezTo>
                <a:cubicBezTo>
                  <a:pt x="9753638" y="967061"/>
                  <a:pt x="9688683" y="987683"/>
                  <a:pt x="9497787" y="974026"/>
                </a:cubicBezTo>
                <a:cubicBezTo>
                  <a:pt x="9306891" y="960369"/>
                  <a:pt x="9009885" y="963829"/>
                  <a:pt x="8838504" y="974026"/>
                </a:cubicBezTo>
                <a:cubicBezTo>
                  <a:pt x="8667123" y="984223"/>
                  <a:pt x="8501331" y="982447"/>
                  <a:pt x="8390191" y="974026"/>
                </a:cubicBezTo>
                <a:cubicBezTo>
                  <a:pt x="8279051" y="965605"/>
                  <a:pt x="8131425" y="958487"/>
                  <a:pt x="8047364" y="974026"/>
                </a:cubicBezTo>
                <a:cubicBezTo>
                  <a:pt x="7963303" y="989565"/>
                  <a:pt x="7697284" y="969047"/>
                  <a:pt x="7493567" y="974026"/>
                </a:cubicBezTo>
                <a:cubicBezTo>
                  <a:pt x="7289850" y="979005"/>
                  <a:pt x="7050026" y="991206"/>
                  <a:pt x="6728798" y="974026"/>
                </a:cubicBezTo>
                <a:cubicBezTo>
                  <a:pt x="6407570" y="956846"/>
                  <a:pt x="6407745" y="954572"/>
                  <a:pt x="6280486" y="974026"/>
                </a:cubicBezTo>
                <a:cubicBezTo>
                  <a:pt x="6153227" y="993480"/>
                  <a:pt x="5951514" y="950614"/>
                  <a:pt x="5726688" y="974026"/>
                </a:cubicBezTo>
                <a:cubicBezTo>
                  <a:pt x="5501862" y="997438"/>
                  <a:pt x="5485181" y="966283"/>
                  <a:pt x="5278376" y="974026"/>
                </a:cubicBezTo>
                <a:cubicBezTo>
                  <a:pt x="5071571" y="981769"/>
                  <a:pt x="4628252" y="946462"/>
                  <a:pt x="4408123" y="974026"/>
                </a:cubicBezTo>
                <a:cubicBezTo>
                  <a:pt x="4187994" y="1001590"/>
                  <a:pt x="3728159" y="999978"/>
                  <a:pt x="3537869" y="974026"/>
                </a:cubicBezTo>
                <a:cubicBezTo>
                  <a:pt x="3347579" y="948074"/>
                  <a:pt x="2842443" y="995543"/>
                  <a:pt x="2667616" y="974026"/>
                </a:cubicBezTo>
                <a:cubicBezTo>
                  <a:pt x="2492789" y="952509"/>
                  <a:pt x="2351239" y="958245"/>
                  <a:pt x="2113818" y="974026"/>
                </a:cubicBezTo>
                <a:cubicBezTo>
                  <a:pt x="1876397" y="989807"/>
                  <a:pt x="1581792" y="951341"/>
                  <a:pt x="1349050" y="974026"/>
                </a:cubicBezTo>
                <a:cubicBezTo>
                  <a:pt x="1116308" y="996711"/>
                  <a:pt x="501522" y="957960"/>
                  <a:pt x="162341" y="974026"/>
                </a:cubicBezTo>
                <a:cubicBezTo>
                  <a:pt x="60503" y="958770"/>
                  <a:pt x="13997" y="914294"/>
                  <a:pt x="0" y="811685"/>
                </a:cubicBezTo>
                <a:cubicBezTo>
                  <a:pt x="-2967" y="671264"/>
                  <a:pt x="-19939" y="482337"/>
                  <a:pt x="0" y="162341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28575">
            <a:prstDash val="solid"/>
            <a:extLst>
              <a:ext uri="{C807C97D-BFC1-408E-A445-0C87EB9F89A2}">
                <ask:lineSketchStyleProps xmlns:ask="http://schemas.microsoft.com/office/drawing/2018/sketchyshapes" sd="2748478912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02339" y="1527048"/>
            <a:ext cx="11379200" cy="4926288"/>
          </a:xfrm>
        </p:spPr>
        <p:txBody>
          <a:bodyPr>
            <a:normAutofit/>
          </a:bodyPr>
          <a:lstStyle/>
          <a:p>
            <a:r>
              <a:rPr lang="fr-FR" dirty="0"/>
              <a:t>Durée</a:t>
            </a:r>
          </a:p>
          <a:p>
            <a:pPr lvl="1"/>
            <a:r>
              <a:rPr lang="fr-CA" dirty="0" err="1"/>
              <a:t>Mesure </a:t>
            </a:r>
            <a:r>
              <a:rPr lang="fr-CA" dirty="0"/>
              <a:t>de </a:t>
            </a:r>
            <a:r>
              <a:rPr lang="fr-CA" dirty="0" err="1"/>
              <a:t>la sensibilité d'une obligation </a:t>
            </a:r>
            <a:r>
              <a:rPr lang="fr-CA" dirty="0"/>
              <a:t>aux variations des taux </a:t>
            </a:r>
            <a:r>
              <a:rPr lang="fr-CA" dirty="0" err="1"/>
              <a:t>d'intérêt</a:t>
            </a:r>
            <a:r>
              <a:rPr lang="fr-CA" dirty="0"/>
              <a:t>.</a:t>
            </a:r>
          </a:p>
          <a:p>
            <a:pPr lvl="1"/>
            <a:endParaRPr lang="fr-CA" dirty="0"/>
          </a:p>
          <a:p>
            <a:pPr lvl="1"/>
            <a:r>
              <a:rPr lang="fr-CA" b="1" dirty="0"/>
              <a:t>Plus la durée est longue, plus </a:t>
            </a:r>
            <a:r>
              <a:rPr lang="fr-CA" b="1" dirty="0" err="1"/>
              <a:t>les prix</a:t>
            </a:r>
            <a:r>
              <a:rPr lang="fr-CA" b="1" dirty="0"/>
              <a:t> des obligations </a:t>
            </a:r>
            <a:r>
              <a:rPr lang="fr-CA" b="1" dirty="0" err="1"/>
              <a:t>seront </a:t>
            </a:r>
            <a:r>
              <a:rPr lang="fr-CA" b="1" dirty="0"/>
              <a:t>sensibles à une variation des taux </a:t>
            </a:r>
            <a:r>
              <a:rPr lang="fr-CA" b="1" dirty="0" err="1"/>
              <a:t>d'intérêt.</a:t>
            </a:r>
          </a:p>
          <a:p>
            <a:pPr lvl="1"/>
            <a:endParaRPr lang="fr-CA" b="1" dirty="0"/>
          </a:p>
          <a:p>
            <a:pPr lvl="1"/>
            <a:r>
              <a:rPr lang="fr-CA" dirty="0"/>
              <a:t>Toutes choses </a:t>
            </a:r>
            <a:r>
              <a:rPr lang="fr-CA" dirty="0" err="1"/>
              <a:t>égales par ailleurs </a:t>
            </a:r>
            <a:r>
              <a:rPr lang="fr-CA" dirty="0"/>
              <a:t>:</a:t>
            </a:r>
          </a:p>
          <a:p>
            <a:pPr lvl="2"/>
            <a:r>
              <a:rPr lang="fr-CA" sz="2200" b="1" dirty="0">
                <a:solidFill>
                  <a:schemeClr val="tx2"/>
                </a:solidFill>
              </a:rPr>
              <a:t>Plus l'</a:t>
            </a:r>
            <a:r>
              <a:rPr lang="fr-CA" sz="2200" b="1" dirty="0" err="1">
                <a:solidFill>
                  <a:schemeClr val="tx2"/>
                </a:solidFill>
              </a:rPr>
              <a:t>échéance</a:t>
            </a:r>
            <a:r>
              <a:rPr lang="fr-CA" sz="2200" b="1" dirty="0">
                <a:solidFill>
                  <a:schemeClr val="tx2"/>
                </a:solidFill>
              </a:rPr>
              <a:t> est longue, plus la durée est longue</a:t>
            </a:r>
          </a:p>
          <a:p>
            <a:pPr lvl="2"/>
            <a:r>
              <a:rPr lang="fr-CA" sz="2200" b="1" dirty="0">
                <a:solidFill>
                  <a:schemeClr val="tx2"/>
                </a:solidFill>
              </a:rPr>
              <a:t>Plus le taux d'intérêt nominal </a:t>
            </a:r>
            <a:r>
              <a:rPr lang="fr-CA" sz="2200" b="1" dirty="0" err="1">
                <a:solidFill>
                  <a:schemeClr val="tx2"/>
                </a:solidFill>
              </a:rPr>
              <a:t>est faible</a:t>
            </a:r>
            <a:r>
              <a:rPr lang="fr-CA" sz="2200" b="1" dirty="0">
                <a:solidFill>
                  <a:schemeClr val="tx2"/>
                </a:solidFill>
              </a:rPr>
              <a:t>, plus la durée est longue</a:t>
            </a:r>
          </a:p>
          <a:p>
            <a:pPr lvl="1"/>
            <a:endParaRPr lang="fr-CA" b="1" dirty="0"/>
          </a:p>
          <a:p>
            <a:pPr lvl="1"/>
            <a:endParaRPr lang="fr-CA" b="1" dirty="0"/>
          </a:p>
          <a:p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>
                <a:solidFill>
                  <a:schemeClr val="accent3">
                    <a:lumMod val="75000"/>
                  </a:schemeClr>
                </a:solidFill>
              </a:rPr>
              <a:t>Risque de taux d'intérêt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27</a:t>
            </a:fld>
            <a:endParaRPr lang="fr-CA" dirty="0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8C1EA3-24F3-4B7C-847D-75CA41D8D89E}"/>
              </a:ext>
            </a:extLst>
          </p:cNvPr>
          <p:cNvSpPr txBox="1"/>
          <p:nvPr/>
        </p:nvSpPr>
        <p:spPr>
          <a:xfrm>
            <a:off x="223287" y="5870448"/>
            <a:ext cx="11737303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 wrap="square" rtlCol="0">
            <a:spAutoFit/>
          </a:bodyPr>
          <a:lstStyle/>
          <a:p>
            <a:pPr algn="ctr"/>
            <a:r>
              <a:rPr lang="fr-CA" sz="2400" dirty="0">
                <a:solidFill>
                  <a:srgbClr val="0F8D36"/>
                </a:solidFill>
                <a:latin typeface="Ink Free" panose="03080402000500000000" pitchFamily="66" charset="0"/>
              </a:rPr>
              <a:t>👉 </a:t>
            </a:r>
            <a:r>
              <a:rPr lang="fr-CA" sz="2400" b="1" dirty="0">
                <a:latin typeface="Ink Free" panose="03080402000500000000" pitchFamily="66" charset="0"/>
              </a:rPr>
              <a:t>Dans notre cours, vous </a:t>
            </a:r>
            <a:r>
              <a:rPr lang="fr-CA" sz="2400" b="1" u="sng" dirty="0">
                <a:latin typeface="Ink Free" panose="03080402000500000000" pitchFamily="66" charset="0"/>
              </a:rPr>
              <a:t>n'aurez pas </a:t>
            </a:r>
            <a:r>
              <a:rPr lang="fr-CA" sz="2400" b="1" dirty="0">
                <a:latin typeface="Ink Free" panose="03080402000500000000" pitchFamily="66" charset="0"/>
              </a:rPr>
              <a:t>à calculer la durée</a:t>
            </a:r>
            <a:endParaRPr lang="fr-CA" sz="2400" dirty="0">
              <a:latin typeface="Ink Free" panose="03080402000500000000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1534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876192" y="268848"/>
            <a:ext cx="8534400" cy="758952"/>
          </a:xfrm>
        </p:spPr>
        <p:txBody>
          <a:bodyPr/>
          <a:lstStyle/>
          <a:p>
            <a:r>
              <a:rPr lang="fr-CA" dirty="0" err="1"/>
              <a:t>Représentation graphique </a:t>
            </a:r>
            <a:r>
              <a:rPr lang="fr-CA" dirty="0"/>
              <a:t>de la durée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61A4C-41C3-4A23-B13C-CB8B7DBD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28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263352" y="1387760"/>
            <a:ext cx="9515400" cy="453498"/>
          </a:xfrm>
        </p:spPr>
        <p:txBody>
          <a:bodyPr>
            <a:normAutofit/>
          </a:bodyPr>
          <a:lstStyle/>
          <a:p>
            <a:r>
              <a:rPr lang="fr-CA" sz="2300" dirty="0"/>
              <a:t>Durée : point dans le temps moyen pour recevoir les </a:t>
            </a:r>
            <a:r>
              <a:rPr lang="fr-CA" sz="2300" dirty="0" err="1"/>
              <a:t>FMs</a:t>
            </a:r>
            <a:endParaRPr lang="fr-CA" sz="2300" dirty="0">
              <a:solidFill>
                <a:schemeClr val="accent1"/>
              </a:solidFill>
            </a:endParaRPr>
          </a:p>
        </p:txBody>
      </p:sp>
      <p:cxnSp>
        <p:nvCxnSpPr>
          <p:cNvPr id="5" name="Connecteur droit avec flèche 4"/>
          <p:cNvCxnSpPr/>
          <p:nvPr>
            <p:custDataLst>
              <p:tags r:id="rId3"/>
            </p:custDataLst>
          </p:nvPr>
        </p:nvCxnSpPr>
        <p:spPr>
          <a:xfrm>
            <a:off x="2584773" y="3906016"/>
            <a:ext cx="30963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/>
          <p:nvPr>
            <p:custDataLst>
              <p:tags r:id="rId4"/>
            </p:custDataLst>
          </p:nvPr>
        </p:nvCxnSpPr>
        <p:spPr>
          <a:xfrm>
            <a:off x="2584773" y="3771001"/>
            <a:ext cx="0" cy="270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>
            <p:custDataLst>
              <p:tags r:id="rId5"/>
            </p:custDataLst>
          </p:nvPr>
        </p:nvSpPr>
        <p:spPr>
          <a:xfrm>
            <a:off x="3049713" y="3527974"/>
            <a:ext cx="288032" cy="378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6" name="Rectangle 15"/>
          <p:cNvSpPr/>
          <p:nvPr>
            <p:custDataLst>
              <p:tags r:id="rId6"/>
            </p:custDataLst>
          </p:nvPr>
        </p:nvSpPr>
        <p:spPr>
          <a:xfrm>
            <a:off x="3697785" y="3527974"/>
            <a:ext cx="288032" cy="3803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7" name="Rectangle 16"/>
          <p:cNvSpPr/>
          <p:nvPr>
            <p:custDataLst>
              <p:tags r:id="rId7"/>
            </p:custDataLst>
          </p:nvPr>
        </p:nvSpPr>
        <p:spPr>
          <a:xfrm>
            <a:off x="4384973" y="3527974"/>
            <a:ext cx="288032" cy="378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8" name="Rectangle 17"/>
          <p:cNvSpPr/>
          <p:nvPr>
            <p:custDataLst>
              <p:tags r:id="rId8"/>
            </p:custDataLst>
          </p:nvPr>
        </p:nvSpPr>
        <p:spPr>
          <a:xfrm>
            <a:off x="5012214" y="2953479"/>
            <a:ext cx="288032" cy="952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25" name="Connecteur droit avec flèche 24"/>
          <p:cNvCxnSpPr/>
          <p:nvPr>
            <p:custDataLst>
              <p:tags r:id="rId9"/>
            </p:custDataLst>
          </p:nvPr>
        </p:nvCxnSpPr>
        <p:spPr>
          <a:xfrm>
            <a:off x="2692785" y="5587688"/>
            <a:ext cx="30963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25"/>
          <p:cNvCxnSpPr/>
          <p:nvPr>
            <p:custDataLst>
              <p:tags r:id="rId10"/>
            </p:custDataLst>
          </p:nvPr>
        </p:nvCxnSpPr>
        <p:spPr>
          <a:xfrm>
            <a:off x="2692785" y="5452673"/>
            <a:ext cx="0" cy="270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>
            <p:custDataLst>
              <p:tags r:id="rId11"/>
            </p:custDataLst>
          </p:nvPr>
        </p:nvSpPr>
        <p:spPr>
          <a:xfrm>
            <a:off x="3052825" y="5520180"/>
            <a:ext cx="288032" cy="6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8" name="Rectangle 27"/>
          <p:cNvSpPr/>
          <p:nvPr>
            <p:custDataLst>
              <p:tags r:id="rId12"/>
            </p:custDataLst>
          </p:nvPr>
        </p:nvSpPr>
        <p:spPr>
          <a:xfrm>
            <a:off x="3700897" y="5520180"/>
            <a:ext cx="288032" cy="69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9" name="Rectangle 28"/>
          <p:cNvSpPr/>
          <p:nvPr>
            <p:custDataLst>
              <p:tags r:id="rId13"/>
            </p:custDataLst>
          </p:nvPr>
        </p:nvSpPr>
        <p:spPr>
          <a:xfrm>
            <a:off x="4384973" y="5520180"/>
            <a:ext cx="252028" cy="6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0" name="Rectangle 29"/>
          <p:cNvSpPr/>
          <p:nvPr>
            <p:custDataLst>
              <p:tags r:id="rId14"/>
            </p:custDataLst>
          </p:nvPr>
        </p:nvSpPr>
        <p:spPr>
          <a:xfrm>
            <a:off x="5031608" y="4635151"/>
            <a:ext cx="288032" cy="952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33" name="Connecteur droit avec flèche 32"/>
          <p:cNvCxnSpPr/>
          <p:nvPr>
            <p:custDataLst>
              <p:tags r:id="rId15"/>
            </p:custDataLst>
          </p:nvPr>
        </p:nvCxnSpPr>
        <p:spPr>
          <a:xfrm>
            <a:off x="6960096" y="3923087"/>
            <a:ext cx="30963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>
            <p:custDataLst>
              <p:tags r:id="rId16"/>
            </p:custDataLst>
          </p:nvPr>
        </p:nvCxnSpPr>
        <p:spPr>
          <a:xfrm>
            <a:off x="6960096" y="3788072"/>
            <a:ext cx="0" cy="270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>
            <p:custDataLst>
              <p:tags r:id="rId17"/>
            </p:custDataLst>
          </p:nvPr>
        </p:nvSpPr>
        <p:spPr>
          <a:xfrm>
            <a:off x="7320136" y="3545045"/>
            <a:ext cx="288032" cy="378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6" name="Rectangle 35"/>
          <p:cNvSpPr/>
          <p:nvPr>
            <p:custDataLst>
              <p:tags r:id="rId18"/>
            </p:custDataLst>
          </p:nvPr>
        </p:nvSpPr>
        <p:spPr>
          <a:xfrm>
            <a:off x="7968208" y="3545045"/>
            <a:ext cx="288032" cy="3803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7" name="Rectangle 36"/>
          <p:cNvSpPr/>
          <p:nvPr>
            <p:custDataLst>
              <p:tags r:id="rId19"/>
            </p:custDataLst>
          </p:nvPr>
        </p:nvSpPr>
        <p:spPr>
          <a:xfrm>
            <a:off x="8616280" y="3545045"/>
            <a:ext cx="288032" cy="378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38" name="Rectangle 37"/>
          <p:cNvSpPr/>
          <p:nvPr>
            <p:custDataLst>
              <p:tags r:id="rId20"/>
            </p:custDataLst>
          </p:nvPr>
        </p:nvSpPr>
        <p:spPr>
          <a:xfrm>
            <a:off x="9298919" y="2970550"/>
            <a:ext cx="288032" cy="9525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cxnSp>
        <p:nvCxnSpPr>
          <p:cNvPr id="39" name="Connecteur droit avec flèche 38"/>
          <p:cNvCxnSpPr/>
          <p:nvPr>
            <p:custDataLst>
              <p:tags r:id="rId21"/>
            </p:custDataLst>
          </p:nvPr>
        </p:nvCxnSpPr>
        <p:spPr>
          <a:xfrm>
            <a:off x="6960096" y="5580023"/>
            <a:ext cx="309634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>
            <p:custDataLst>
              <p:tags r:id="rId22"/>
            </p:custDataLst>
          </p:nvPr>
        </p:nvCxnSpPr>
        <p:spPr>
          <a:xfrm>
            <a:off x="6960096" y="5445008"/>
            <a:ext cx="0" cy="2700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>
            <p:custDataLst>
              <p:tags r:id="rId23"/>
            </p:custDataLst>
          </p:nvPr>
        </p:nvSpPr>
        <p:spPr>
          <a:xfrm>
            <a:off x="7320136" y="5201981"/>
            <a:ext cx="288032" cy="3780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2" name="Rectangle 41"/>
          <p:cNvSpPr/>
          <p:nvPr>
            <p:custDataLst>
              <p:tags r:id="rId24"/>
            </p:custDataLst>
          </p:nvPr>
        </p:nvSpPr>
        <p:spPr>
          <a:xfrm>
            <a:off x="7968208" y="5201981"/>
            <a:ext cx="288032" cy="3803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3" name="Rectangle 42"/>
          <p:cNvSpPr/>
          <p:nvPr>
            <p:custDataLst>
              <p:tags r:id="rId25"/>
            </p:custDataLst>
          </p:nvPr>
        </p:nvSpPr>
        <p:spPr>
          <a:xfrm>
            <a:off x="8616280" y="4652222"/>
            <a:ext cx="288032" cy="927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pSp>
        <p:nvGrpSpPr>
          <p:cNvPr id="31" name="Groupe 30"/>
          <p:cNvGrpSpPr/>
          <p:nvPr>
            <p:custDataLst>
              <p:tags r:id="rId26"/>
            </p:custDataLst>
          </p:nvPr>
        </p:nvGrpSpPr>
        <p:grpSpPr>
          <a:xfrm>
            <a:off x="4008422" y="3907133"/>
            <a:ext cx="813043" cy="765256"/>
            <a:chOff x="2467256" y="3502496"/>
            <a:chExt cx="813043" cy="1020340"/>
          </a:xfrm>
        </p:grpSpPr>
        <p:cxnSp>
          <p:nvCxnSpPr>
            <p:cNvPr id="32" name="Connecteur droit avec flèche 31"/>
            <p:cNvCxnSpPr>
              <a:cxnSpLocks noChangeAspect="1"/>
              <a:stCxn id="45" idx="0"/>
            </p:cNvCxnSpPr>
            <p:nvPr/>
          </p:nvCxnSpPr>
          <p:spPr>
            <a:xfrm flipH="1" flipV="1">
              <a:off x="2859416" y="3502496"/>
              <a:ext cx="14362" cy="527898"/>
            </a:xfrm>
            <a:prstGeom prst="straightConnector1">
              <a:avLst/>
            </a:prstGeom>
            <a:ln w="9525">
              <a:solidFill>
                <a:schemeClr val="accent1">
                  <a:shade val="95000"/>
                  <a:satMod val="105000"/>
                  <a:alpha val="65000"/>
                </a:schemeClr>
              </a:solidFill>
              <a:headEnd w="lg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ZoneTexte 44"/>
            <p:cNvSpPr txBox="1"/>
            <p:nvPr/>
          </p:nvSpPr>
          <p:spPr>
            <a:xfrm>
              <a:off x="2467256" y="4030394"/>
              <a:ext cx="813043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dirty="0">
                  <a:solidFill>
                    <a:schemeClr val="accent1"/>
                  </a:solidFill>
                </a:rPr>
                <a:t>Durée</a:t>
              </a:r>
            </a:p>
          </p:txBody>
        </p:sp>
      </p:grpSp>
      <p:grpSp>
        <p:nvGrpSpPr>
          <p:cNvPr id="46" name="Groupe 45"/>
          <p:cNvGrpSpPr/>
          <p:nvPr>
            <p:custDataLst>
              <p:tags r:id="rId27"/>
            </p:custDataLst>
          </p:nvPr>
        </p:nvGrpSpPr>
        <p:grpSpPr>
          <a:xfrm>
            <a:off x="4557209" y="5730890"/>
            <a:ext cx="813043" cy="722446"/>
            <a:chOff x="3033208" y="5593937"/>
            <a:chExt cx="813043" cy="1080037"/>
          </a:xfrm>
        </p:grpSpPr>
        <p:cxnSp>
          <p:nvCxnSpPr>
            <p:cNvPr id="47" name="Connecteur droit avec flèche 46"/>
            <p:cNvCxnSpPr>
              <a:cxnSpLocks noChangeAspect="1"/>
              <a:stCxn id="48" idx="0"/>
            </p:cNvCxnSpPr>
            <p:nvPr/>
          </p:nvCxnSpPr>
          <p:spPr>
            <a:xfrm flipH="1" flipV="1">
              <a:off x="3425368" y="5593937"/>
              <a:ext cx="14362" cy="527896"/>
            </a:xfrm>
            <a:prstGeom prst="straightConnector1">
              <a:avLst/>
            </a:prstGeom>
            <a:ln w="9525">
              <a:solidFill>
                <a:schemeClr val="accent1">
                  <a:shade val="95000"/>
                  <a:satMod val="105000"/>
                  <a:alpha val="65000"/>
                </a:schemeClr>
              </a:solidFill>
              <a:headEnd w="lg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ZoneTexte 47"/>
            <p:cNvSpPr txBox="1"/>
            <p:nvPr/>
          </p:nvSpPr>
          <p:spPr>
            <a:xfrm>
              <a:off x="3033208" y="6121833"/>
              <a:ext cx="813043" cy="5521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dirty="0">
                  <a:solidFill>
                    <a:schemeClr val="accent1"/>
                  </a:solidFill>
                </a:rPr>
                <a:t>Durée</a:t>
              </a:r>
            </a:p>
          </p:txBody>
        </p:sp>
      </p:grpSp>
      <p:grpSp>
        <p:nvGrpSpPr>
          <p:cNvPr id="49" name="Groupe 48"/>
          <p:cNvGrpSpPr/>
          <p:nvPr>
            <p:custDataLst>
              <p:tags r:id="rId28"/>
            </p:custDataLst>
          </p:nvPr>
        </p:nvGrpSpPr>
        <p:grpSpPr>
          <a:xfrm>
            <a:off x="8239463" y="3940008"/>
            <a:ext cx="813043" cy="765256"/>
            <a:chOff x="2969822" y="5750982"/>
            <a:chExt cx="813043" cy="1020340"/>
          </a:xfrm>
        </p:grpSpPr>
        <p:cxnSp>
          <p:nvCxnSpPr>
            <p:cNvPr id="50" name="Connecteur droit avec flèche 49"/>
            <p:cNvCxnSpPr>
              <a:cxnSpLocks noChangeAspect="1"/>
              <a:stCxn id="51" idx="0"/>
            </p:cNvCxnSpPr>
            <p:nvPr/>
          </p:nvCxnSpPr>
          <p:spPr>
            <a:xfrm flipH="1" flipV="1">
              <a:off x="3361982" y="5750982"/>
              <a:ext cx="14362" cy="527898"/>
            </a:xfrm>
            <a:prstGeom prst="straightConnector1">
              <a:avLst/>
            </a:prstGeom>
            <a:ln w="9525">
              <a:solidFill>
                <a:schemeClr val="accent1">
                  <a:shade val="95000"/>
                  <a:satMod val="105000"/>
                  <a:alpha val="65000"/>
                </a:schemeClr>
              </a:solidFill>
              <a:headEnd w="lg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ZoneTexte 50"/>
            <p:cNvSpPr txBox="1"/>
            <p:nvPr/>
          </p:nvSpPr>
          <p:spPr>
            <a:xfrm>
              <a:off x="2969822" y="6278880"/>
              <a:ext cx="813043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dirty="0">
                  <a:solidFill>
                    <a:schemeClr val="accent1"/>
                  </a:solidFill>
                </a:rPr>
                <a:t>Durée</a:t>
              </a:r>
            </a:p>
          </p:txBody>
        </p:sp>
      </p:grpSp>
      <p:grpSp>
        <p:nvGrpSpPr>
          <p:cNvPr id="52" name="Groupe 51"/>
          <p:cNvGrpSpPr/>
          <p:nvPr>
            <p:custDataLst>
              <p:tags r:id="rId29"/>
            </p:custDataLst>
          </p:nvPr>
        </p:nvGrpSpPr>
        <p:grpSpPr>
          <a:xfrm>
            <a:off x="7799078" y="5711037"/>
            <a:ext cx="813043" cy="731408"/>
            <a:chOff x="2969822" y="5750983"/>
            <a:chExt cx="813043" cy="1066374"/>
          </a:xfrm>
        </p:grpSpPr>
        <p:cxnSp>
          <p:nvCxnSpPr>
            <p:cNvPr id="53" name="Connecteur droit avec flèche 52"/>
            <p:cNvCxnSpPr>
              <a:cxnSpLocks noChangeAspect="1"/>
              <a:stCxn id="54" idx="0"/>
            </p:cNvCxnSpPr>
            <p:nvPr/>
          </p:nvCxnSpPr>
          <p:spPr>
            <a:xfrm flipH="1" flipV="1">
              <a:off x="3361982" y="5750983"/>
              <a:ext cx="14362" cy="527897"/>
            </a:xfrm>
            <a:prstGeom prst="straightConnector1">
              <a:avLst/>
            </a:prstGeom>
            <a:ln w="9525">
              <a:solidFill>
                <a:schemeClr val="accent1">
                  <a:shade val="95000"/>
                  <a:satMod val="105000"/>
                  <a:alpha val="65000"/>
                </a:schemeClr>
              </a:solidFill>
              <a:headEnd w="lg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ZoneTexte 53"/>
            <p:cNvSpPr txBox="1"/>
            <p:nvPr/>
          </p:nvSpPr>
          <p:spPr>
            <a:xfrm>
              <a:off x="2969822" y="6278880"/>
              <a:ext cx="813043" cy="5384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CA" dirty="0">
                  <a:solidFill>
                    <a:schemeClr val="accent1"/>
                  </a:solidFill>
                </a:rPr>
                <a:t>Durée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347EBA0B-D459-4DFD-BEA2-46C865762F91}"/>
              </a:ext>
            </a:extLst>
          </p:cNvPr>
          <p:cNvSpPr txBox="1"/>
          <p:nvPr/>
        </p:nvSpPr>
        <p:spPr>
          <a:xfrm>
            <a:off x="5682208" y="189883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/>
            <a:r>
              <a:rPr lang="fr-CA" b="1" dirty="0">
                <a:solidFill>
                  <a:schemeClr val="tx2"/>
                </a:solidFill>
              </a:rPr>
              <a:t>Plus la </a:t>
            </a:r>
            <a:r>
              <a:rPr lang="fr-CA" b="1" dirty="0" err="1">
                <a:solidFill>
                  <a:schemeClr val="tx2"/>
                </a:solidFill>
              </a:rPr>
              <a:t>maturité</a:t>
            </a:r>
            <a:r>
              <a:rPr lang="fr-CA" b="1" dirty="0">
                <a:solidFill>
                  <a:schemeClr val="tx2"/>
                </a:solidFill>
              </a:rPr>
              <a:t> est longue, plus la durée est longue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6B8212-2B70-405A-B005-5AA1C883C701}"/>
              </a:ext>
            </a:extLst>
          </p:cNvPr>
          <p:cNvSpPr txBox="1"/>
          <p:nvPr/>
        </p:nvSpPr>
        <p:spPr>
          <a:xfrm>
            <a:off x="1313688" y="183566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/>
            <a:r>
              <a:rPr lang="fr-CA" b="1" dirty="0">
                <a:solidFill>
                  <a:schemeClr val="tx2"/>
                </a:solidFill>
              </a:rPr>
              <a:t>Plus le taux de coupon est bas, plus la durée est longue</a:t>
            </a: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29D989A9-2A9E-4E0B-B595-9A80954C408C}"/>
              </a:ext>
            </a:extLst>
          </p:cNvPr>
          <p:cNvSpPr/>
          <p:nvPr/>
        </p:nvSpPr>
        <p:spPr>
          <a:xfrm rot="10800000">
            <a:off x="2322165" y="2753859"/>
            <a:ext cx="3329530" cy="270030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5B23228-9227-46A5-884E-2BC7CBC54AAD}"/>
              </a:ext>
            </a:extLst>
          </p:cNvPr>
          <p:cNvSpPr/>
          <p:nvPr/>
        </p:nvSpPr>
        <p:spPr>
          <a:xfrm rot="10800000">
            <a:off x="6608193" y="2721221"/>
            <a:ext cx="3329530" cy="270030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473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25752" y="340660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fr-CA" dirty="0">
                <a:solidFill>
                  <a:srgbClr val="FF0000"/>
                </a:solidFill>
              </a:rPr>
              <a:t>Exercice 1 : problème difficile. </a:t>
            </a:r>
            <a:br>
              <a:rPr lang="fr-CA" dirty="0">
                <a:solidFill>
                  <a:srgbClr val="FF0000"/>
                </a:solidFill>
              </a:rPr>
            </a:br>
            <a:r>
              <a:rPr lang="fr-CA" u="sng" dirty="0">
                <a:solidFill>
                  <a:srgbClr val="FF0000"/>
                </a:solidFill>
              </a:rPr>
              <a:t>Obligation </a:t>
            </a:r>
            <a:r>
              <a:rPr lang="fr-CA" b="1" u="sng" dirty="0">
                <a:solidFill>
                  <a:srgbClr val="FF0000"/>
                </a:solidFill>
              </a:rPr>
              <a:t>non conventionnelle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C2F0C-A6A4-44C9-B109-8FE1FD9A5A06}" type="slidenum">
              <a:rPr lang="fr-CA" smtClean="0">
                <a:solidFill>
                  <a:srgbClr val="8CADAE">
                    <a:shade val="75000"/>
                  </a:srgbClr>
                </a:solidFill>
              </a:rPr>
              <a:t>29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CA" sz="2000" dirty="0"/>
              <a:t>L'obligation XYZ versera son prochain coupon semestriel de 35 $ dans exactement 6 mois et arrivera à échéance dans 6 ans. Le RAÉ </a:t>
            </a:r>
            <a:r>
              <a:rPr lang="en-CA" sz="2000" dirty="0" err="1"/>
              <a:t>est</a:t>
            </a:r>
            <a:r>
              <a:rPr lang="en-CA" sz="2000" dirty="0"/>
              <a:t> de 8%.</a:t>
            </a:r>
          </a:p>
          <a:p>
            <a:endParaRPr lang="en-CA" sz="2000" dirty="0"/>
          </a:p>
          <a:p>
            <a:pPr lvl="1"/>
            <a:r>
              <a:rPr lang="en-CA" sz="2000" dirty="0"/>
              <a:t>Si nous supprimons les coupons de la troisième année, quel sera le nouveau prix ?</a:t>
            </a:r>
          </a:p>
          <a:p>
            <a:endParaRPr lang="en-CA" sz="2000" dirty="0"/>
          </a:p>
        </p:txBody>
      </p:sp>
      <p:pic>
        <p:nvPicPr>
          <p:cNvPr id="5" name="Picture 2" descr="Identification ">
            <a:extLst>
              <a:ext uri="{FF2B5EF4-FFF2-40B4-BE49-F238E27FC236}">
                <a16:creationId xmlns:a16="http://schemas.microsoft.com/office/drawing/2014/main" id="{26631742-084B-5889-7C99-D0083D1FC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272735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4649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5D40D6-3987-3F81-8D47-4086FB27F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8788" y="332656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fr-CA" dirty="0" err="1">
                <a:solidFill>
                  <a:srgbClr val="FF0000"/>
                </a:solidFill>
              </a:rPr>
              <a:t>Exercice</a:t>
            </a:r>
            <a:r>
              <a:rPr lang="fr-CA" dirty="0">
                <a:solidFill>
                  <a:srgbClr val="FF0000"/>
                </a:solidFill>
              </a:rPr>
              <a:t> 2 : </a:t>
            </a:r>
            <a:r>
              <a:rPr lang="fr-CA" b="1" u="sng" dirty="0">
                <a:solidFill>
                  <a:srgbClr val="FF0000"/>
                </a:solidFill>
              </a:rPr>
              <a:t>Évaluation </a:t>
            </a:r>
            <a:r>
              <a:rPr lang="fr-CA" b="1" u="sng" dirty="0" err="1">
                <a:solidFill>
                  <a:srgbClr val="FF0000"/>
                </a:solidFill>
              </a:rPr>
              <a:t>entre deux </a:t>
            </a:r>
            <a:r>
              <a:rPr lang="fr-CA" b="1" u="sng" dirty="0">
                <a:solidFill>
                  <a:srgbClr val="FF0000"/>
                </a:solidFill>
              </a:rPr>
              <a:t>dates </a:t>
            </a:r>
            <a:r>
              <a:rPr lang="fr-CA" b="1" u="sng" dirty="0" err="1">
                <a:solidFill>
                  <a:srgbClr val="FF0000"/>
                </a:solidFill>
              </a:rPr>
              <a:t>de paiement</a:t>
            </a:r>
            <a:endParaRPr lang="fr-FR" b="1" u="sng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B65F3A-4662-7FC1-CAC1-6400A5627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512" y="1527048"/>
            <a:ext cx="8712968" cy="507030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fr-CA" sz="2400" dirty="0"/>
              <a:t>Nous sommes le 1er février 2024.  </a:t>
            </a:r>
          </a:p>
          <a:p>
            <a:pPr marL="0" indent="0" algn="just">
              <a:buNone/>
            </a:pPr>
            <a:endParaRPr lang="fr-CA" sz="2400" dirty="0"/>
          </a:p>
          <a:p>
            <a:pPr marL="0" indent="0" algn="just">
              <a:buNone/>
            </a:pPr>
            <a:r>
              <a:rPr lang="fr-CA" sz="2400" dirty="0"/>
              <a:t>L'obligation XCV arrive à échéance le 1er mai 2028. Elle verse des coupons semestriels de 23 $ et son rendement à l'échéance  est de 6 % aujourd’hui. </a:t>
            </a:r>
          </a:p>
          <a:p>
            <a:pPr marL="0" indent="0" algn="just">
              <a:buNone/>
            </a:pPr>
            <a:endParaRPr lang="fr-CA" sz="2400" dirty="0"/>
          </a:p>
          <a:p>
            <a:pPr marL="0" indent="0" algn="just">
              <a:buNone/>
            </a:pPr>
            <a:r>
              <a:rPr lang="fr-CA" sz="2400" dirty="0" err="1"/>
              <a:t>Quel est </a:t>
            </a:r>
            <a:r>
              <a:rPr lang="fr-CA" sz="2400" dirty="0"/>
              <a:t>le </a:t>
            </a:r>
            <a:r>
              <a:rPr lang="fr-CA" sz="2400" dirty="0" err="1"/>
              <a:t>prix actuel </a:t>
            </a:r>
            <a:r>
              <a:rPr lang="fr-CA" sz="2400" dirty="0"/>
              <a:t>de l'obligation XCV ?</a:t>
            </a:r>
            <a:endParaRPr lang="fr-FR" sz="2400" dirty="0"/>
          </a:p>
          <a:p>
            <a:pPr marL="0" indent="0" algn="just">
              <a:buNone/>
            </a:pPr>
            <a:endParaRPr lang="fr-CA" sz="2800" dirty="0"/>
          </a:p>
        </p:txBody>
      </p:sp>
      <p:sp>
        <p:nvSpPr>
          <p:cNvPr id="4" name="object 34">
            <a:extLst>
              <a:ext uri="{FF2B5EF4-FFF2-40B4-BE49-F238E27FC236}">
                <a16:creationId xmlns:a16="http://schemas.microsoft.com/office/drawing/2014/main" id="{0834B4FD-BF17-54FF-E0CC-9E87C37D9A1F}"/>
              </a:ext>
            </a:extLst>
          </p:cNvPr>
          <p:cNvSpPr/>
          <p:nvPr/>
        </p:nvSpPr>
        <p:spPr>
          <a:xfrm>
            <a:off x="2207568" y="4797152"/>
            <a:ext cx="7920879" cy="1493538"/>
          </a:xfrm>
          <a:prstGeom prst="rect">
            <a:avLst/>
          </a:prstGeom>
          <a:blipFill>
            <a:blip r:embed="rId2" cstate="print">
              <a:duotone>
                <a:prstClr val="black"/>
                <a:srgbClr val="D9C3A5">
                  <a:tint val="50000"/>
                  <a:satMod val="180000"/>
                </a:srgbClr>
              </a:duotone>
            </a:blip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6BD9AE-6848-3625-2258-868656E02E12}"/>
              </a:ext>
            </a:extLst>
          </p:cNvPr>
          <p:cNvSpPr txBox="1"/>
          <p:nvPr/>
        </p:nvSpPr>
        <p:spPr>
          <a:xfrm>
            <a:off x="3166274" y="5128423"/>
            <a:ext cx="635010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 sz="2800" dirty="0"/>
              <a:t>⚠️</a:t>
            </a:r>
            <a:r>
              <a:rPr lang="fr-CA" sz="2400" dirty="0">
                <a:latin typeface="Ink Free" panose="03080402000500000000" pitchFamily="66" charset="0"/>
              </a:rPr>
              <a:t>N'utilisez jamais </a:t>
            </a:r>
            <a:r>
              <a:rPr lang="fr-CA" sz="2400" strike="sngStrike" dirty="0">
                <a:latin typeface="Ink Free" panose="03080402000500000000" pitchFamily="66" charset="0"/>
              </a:rPr>
              <a:t>de fractions</a:t>
            </a:r>
            <a:r>
              <a:rPr lang="fr-CA" sz="2400" dirty="0">
                <a:latin typeface="Ink Free" panose="03080402000500000000" pitchFamily="66" charset="0"/>
              </a:rPr>
              <a:t>. n doit </a:t>
            </a:r>
            <a:r>
              <a:rPr lang="fr-CA" sz="2400" dirty="0" err="1">
                <a:latin typeface="Ink Free" panose="03080402000500000000" pitchFamily="66" charset="0"/>
              </a:rPr>
              <a:t>être </a:t>
            </a:r>
            <a:r>
              <a:rPr lang="fr-CA" sz="2400" dirty="0">
                <a:latin typeface="Ink Free" panose="03080402000500000000" pitchFamily="66" charset="0"/>
              </a:rPr>
              <a:t>un </a:t>
            </a:r>
            <a:r>
              <a:rPr lang="fr-CA" sz="2400" b="1" u="sng" dirty="0" err="1">
                <a:latin typeface="Ink Free" panose="03080402000500000000" pitchFamily="66" charset="0"/>
              </a:rPr>
              <a:t>nombre entier</a:t>
            </a:r>
            <a:r>
              <a:rPr lang="fr-CA" sz="2400" dirty="0">
                <a:latin typeface="Ink Free" panose="03080402000500000000" pitchFamily="66" charset="0"/>
              </a:rPr>
              <a:t>. </a:t>
            </a:r>
            <a:r>
              <a:rPr lang="fr-CA" sz="2400" b="1" u="sng" dirty="0" err="1">
                <a:latin typeface="Ink Free" panose="03080402000500000000" pitchFamily="66" charset="0"/>
              </a:rPr>
              <a:t>Voir </a:t>
            </a:r>
            <a:r>
              <a:rPr lang="fr-CA" sz="2400" b="1" u="sng" dirty="0">
                <a:latin typeface="Ink Free" panose="03080402000500000000" pitchFamily="66" charset="0"/>
              </a:rPr>
              <a:t>l'annexe pour la </a:t>
            </a:r>
            <a:r>
              <a:rPr lang="fr-CA" sz="2400" b="1" u="sng" dirty="0" err="1">
                <a:latin typeface="Ink Free" panose="03080402000500000000" pitchFamily="66" charset="0"/>
              </a:rPr>
              <a:t>réponse.</a:t>
            </a:r>
            <a:endParaRPr lang="fr-CA" sz="2400" b="1" u="sng" dirty="0">
              <a:latin typeface="Ink Free" panose="03080402000500000000" pitchFamily="66" charset="0"/>
            </a:endParaRPr>
          </a:p>
        </p:txBody>
      </p:sp>
      <p:pic>
        <p:nvPicPr>
          <p:cNvPr id="5" name="Picture 2" descr="Identification ">
            <a:extLst>
              <a:ext uri="{FF2B5EF4-FFF2-40B4-BE49-F238E27FC236}">
                <a16:creationId xmlns:a16="http://schemas.microsoft.com/office/drawing/2014/main" id="{619BBC60-41E9-6BDA-F88D-32EFD852B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260696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32597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5D40D6-3987-3F81-8D47-4086FB27F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32656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fr-CA" dirty="0" err="1">
                <a:solidFill>
                  <a:srgbClr val="FF0000"/>
                </a:solidFill>
              </a:rPr>
              <a:t>Exercice</a:t>
            </a:r>
            <a:r>
              <a:rPr lang="fr-CA" dirty="0">
                <a:solidFill>
                  <a:srgbClr val="FF0000"/>
                </a:solidFill>
              </a:rPr>
              <a:t> 3 : Évaluation </a:t>
            </a:r>
            <a:r>
              <a:rPr lang="fr-CA" b="1" u="sng" dirty="0" err="1">
                <a:solidFill>
                  <a:srgbClr val="FF0000"/>
                </a:solidFill>
              </a:rPr>
              <a:t>non conventionnelle </a:t>
            </a:r>
            <a:r>
              <a:rPr lang="fr-CA" dirty="0">
                <a:solidFill>
                  <a:srgbClr val="FF0000"/>
                </a:solidFill>
              </a:rPr>
              <a:t>d'une obligation</a:t>
            </a:r>
            <a:endParaRPr lang="fr-FR" b="1" u="sng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B65F3A-4662-7FC1-CAC1-6400A5627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1527048"/>
            <a:ext cx="11521280" cy="485428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fr-CA" sz="1800" dirty="0"/>
              <a:t>Vous vous intéressez beaucoup aux marchés boursiers et vous venez de découvrir une obligation très particulière. Cette obligation présente les caractéristiques suivantes :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fr-CA" sz="1800" dirty="0"/>
              <a:t>VN = 1 000 $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fr-CA" sz="1800" dirty="0"/>
              <a:t>Taux de coupon = 8 %.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fr-CA" sz="1800" dirty="0" err="1"/>
              <a:t>Échéance </a:t>
            </a:r>
            <a:r>
              <a:rPr lang="fr-CA" sz="1800" dirty="0"/>
              <a:t>= 15 </a:t>
            </a:r>
            <a:r>
              <a:rPr lang="fr-CA" sz="1800" dirty="0" err="1"/>
              <a:t>ans</a:t>
            </a:r>
            <a:endParaRPr lang="fr-CA" sz="1800" dirty="0"/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fr-CA" sz="1800" dirty="0"/>
              <a:t>RAÉ = 10 %</a:t>
            </a:r>
          </a:p>
          <a:p>
            <a:pPr lvl="1" algn="just">
              <a:buFont typeface="Wingdings" panose="05000000000000000000" pitchFamily="2" charset="2"/>
              <a:buChar char="ü"/>
            </a:pPr>
            <a:endParaRPr lang="fr-CA" sz="600" dirty="0"/>
          </a:p>
          <a:p>
            <a:pPr marL="274307" lvl="1" indent="0" algn="just">
              <a:buNone/>
            </a:pPr>
            <a:endParaRPr lang="fr-CA" sz="600" dirty="0"/>
          </a:p>
          <a:p>
            <a:pPr marL="0" indent="0" algn="just">
              <a:buNone/>
            </a:pPr>
            <a:r>
              <a:rPr lang="fr-CA" sz="1800" dirty="0" err="1"/>
              <a:t>La particularité </a:t>
            </a:r>
            <a:r>
              <a:rPr lang="fr-CA" sz="1800" dirty="0"/>
              <a:t>de </a:t>
            </a:r>
            <a:r>
              <a:rPr lang="fr-CA" sz="1800" dirty="0" err="1"/>
              <a:t>cette </a:t>
            </a:r>
            <a:r>
              <a:rPr lang="fr-CA" sz="1800" dirty="0"/>
              <a:t>obligation </a:t>
            </a:r>
            <a:r>
              <a:rPr lang="fr-CA" sz="1800" dirty="0" err="1"/>
              <a:t>est qu'elle permet </a:t>
            </a:r>
            <a:r>
              <a:rPr lang="fr-CA" sz="1800" dirty="0"/>
              <a:t>à </a:t>
            </a:r>
            <a:r>
              <a:rPr lang="fr-CA" sz="1800" dirty="0" err="1"/>
              <a:t>son détenteur d'acheter </a:t>
            </a:r>
            <a:r>
              <a:rPr lang="fr-CA" sz="1800" dirty="0"/>
              <a:t>une « option » </a:t>
            </a:r>
            <a:r>
              <a:rPr lang="fr-CA" sz="1800" dirty="0" err="1"/>
              <a:t>qui </a:t>
            </a:r>
            <a:r>
              <a:rPr lang="fr-CA" sz="1800" dirty="0"/>
              <a:t>modifie </a:t>
            </a:r>
            <a:r>
              <a:rPr lang="fr-CA" sz="1800" dirty="0" err="1"/>
              <a:t>ses caractéristiques</a:t>
            </a:r>
            <a:r>
              <a:rPr lang="fr-CA" sz="1800" dirty="0"/>
              <a:t> de base. L'option coûte 50 $ et donne droit à son détenteur de doubler le montant du coupon à partir de la 9e année jusqu'à l'échéance.</a:t>
            </a:r>
          </a:p>
          <a:p>
            <a:pPr marL="0" indent="0" algn="just">
              <a:buNone/>
            </a:pPr>
            <a:endParaRPr lang="fr-CA" sz="600" dirty="0"/>
          </a:p>
          <a:p>
            <a:pPr marL="0" indent="0" algn="just">
              <a:buNone/>
            </a:pPr>
            <a:endParaRPr lang="fr-CA" sz="600" dirty="0"/>
          </a:p>
          <a:p>
            <a:pPr marL="0" indent="0" algn="just">
              <a:buNone/>
            </a:pPr>
            <a:r>
              <a:rPr lang="fr-CA" sz="1800" dirty="0"/>
              <a:t>Vous devez </a:t>
            </a:r>
            <a:r>
              <a:rPr lang="fr-CA" sz="1800" dirty="0" err="1"/>
              <a:t>choisir aujourd'hui si </a:t>
            </a:r>
            <a:r>
              <a:rPr lang="fr-CA" sz="1800" dirty="0"/>
              <a:t>vous </a:t>
            </a:r>
            <a:r>
              <a:rPr lang="fr-CA" sz="1800" dirty="0" err="1"/>
              <a:t>souhaitez</a:t>
            </a:r>
            <a:r>
              <a:rPr lang="fr-CA" sz="1800" dirty="0"/>
              <a:t> </a:t>
            </a:r>
            <a:r>
              <a:rPr lang="fr-CA" sz="1800" dirty="0" err="1"/>
              <a:t>acheter </a:t>
            </a:r>
            <a:r>
              <a:rPr lang="fr-CA" sz="1800" dirty="0"/>
              <a:t>l'option. Si </a:t>
            </a:r>
            <a:r>
              <a:rPr lang="fr-CA" sz="1800" dirty="0" err="1"/>
              <a:t>vous </a:t>
            </a:r>
            <a:r>
              <a:rPr lang="fr-CA" sz="1800" dirty="0"/>
              <a:t>souhaitez </a:t>
            </a:r>
            <a:r>
              <a:rPr lang="fr-CA" sz="1800" dirty="0" err="1"/>
              <a:t>acheter </a:t>
            </a:r>
            <a:r>
              <a:rPr lang="fr-CA" sz="1800" dirty="0"/>
              <a:t>l'obligation </a:t>
            </a:r>
            <a:r>
              <a:rPr lang="fr-CA" sz="1800" dirty="0" err="1"/>
              <a:t>avec </a:t>
            </a:r>
            <a:r>
              <a:rPr lang="fr-CA" sz="1800" dirty="0"/>
              <a:t>option, </a:t>
            </a:r>
            <a:r>
              <a:rPr lang="fr-CA" sz="1800" dirty="0" err="1"/>
              <a:t>vous </a:t>
            </a:r>
            <a:r>
              <a:rPr lang="fr-CA" sz="1800" dirty="0"/>
              <a:t>devez </a:t>
            </a:r>
            <a:r>
              <a:rPr lang="fr-CA" sz="1800" dirty="0" err="1"/>
              <a:t>payer </a:t>
            </a:r>
            <a:r>
              <a:rPr lang="fr-CA" sz="1800" dirty="0"/>
              <a:t>le </a:t>
            </a:r>
            <a:r>
              <a:rPr lang="fr-CA" sz="1800" dirty="0" err="1"/>
              <a:t>prix </a:t>
            </a:r>
            <a:r>
              <a:rPr lang="fr-CA" sz="1800" dirty="0"/>
              <a:t>de l'obligation </a:t>
            </a:r>
            <a:r>
              <a:rPr lang="fr-CA" sz="1800" dirty="0" err="1"/>
              <a:t>sans </a:t>
            </a:r>
            <a:r>
              <a:rPr lang="fr-CA" sz="1800" dirty="0"/>
              <a:t>option + le </a:t>
            </a:r>
            <a:r>
              <a:rPr lang="fr-CA" sz="1800" dirty="0" err="1"/>
              <a:t>montant nécessaire </a:t>
            </a:r>
            <a:r>
              <a:rPr lang="fr-CA" sz="1800" dirty="0"/>
              <a:t>pour </a:t>
            </a:r>
            <a:r>
              <a:rPr lang="fr-CA" sz="1800" dirty="0" err="1"/>
              <a:t>acheter </a:t>
            </a:r>
            <a:r>
              <a:rPr lang="fr-CA" sz="1800" dirty="0"/>
              <a:t>l'option.</a:t>
            </a:r>
          </a:p>
          <a:p>
            <a:pPr marL="0" indent="0" algn="just">
              <a:buNone/>
            </a:pPr>
            <a:endParaRPr lang="fr-CA" sz="600" dirty="0"/>
          </a:p>
          <a:p>
            <a:pPr marL="788657" lvl="1" indent="-514350" algn="just">
              <a:buFont typeface="+mj-lt"/>
              <a:buAutoNum type="alphaLcParenR"/>
            </a:pPr>
            <a:r>
              <a:rPr lang="fr-CA" sz="1800" dirty="0" err="1"/>
              <a:t>Quel est </a:t>
            </a:r>
            <a:r>
              <a:rPr lang="fr-CA" sz="1800" dirty="0"/>
              <a:t>le </a:t>
            </a:r>
            <a:r>
              <a:rPr lang="fr-CA" sz="1800" dirty="0" err="1"/>
              <a:t>prix actuel </a:t>
            </a:r>
            <a:r>
              <a:rPr lang="fr-CA" sz="1800" dirty="0"/>
              <a:t>de l'obligation </a:t>
            </a:r>
            <a:r>
              <a:rPr lang="fr-CA" sz="1800" dirty="0" err="1"/>
              <a:t>sans </a:t>
            </a:r>
            <a:r>
              <a:rPr lang="fr-CA" sz="1800" dirty="0"/>
              <a:t>option ?</a:t>
            </a:r>
          </a:p>
          <a:p>
            <a:pPr marL="788657" lvl="1" indent="-514350" algn="just">
              <a:buFont typeface="+mj-lt"/>
              <a:buAutoNum type="alphaLcParenR"/>
            </a:pPr>
            <a:r>
              <a:rPr lang="fr-CA" sz="1800" dirty="0" err="1"/>
              <a:t>Vaut-il la peine d'acheter </a:t>
            </a:r>
            <a:r>
              <a:rPr lang="fr-CA" sz="1800" dirty="0"/>
              <a:t>l'obligation </a:t>
            </a:r>
            <a:r>
              <a:rPr lang="fr-CA" sz="1800" dirty="0" err="1"/>
              <a:t>avec </a:t>
            </a:r>
            <a:r>
              <a:rPr lang="fr-CA" sz="1800" dirty="0"/>
              <a:t>l'option ?</a:t>
            </a:r>
          </a:p>
        </p:txBody>
      </p:sp>
      <p:pic>
        <p:nvPicPr>
          <p:cNvPr id="4" name="Picture 2" descr="Identification ">
            <a:extLst>
              <a:ext uri="{FF2B5EF4-FFF2-40B4-BE49-F238E27FC236}">
                <a16:creationId xmlns:a16="http://schemas.microsoft.com/office/drawing/2014/main" id="{B90442C6-EDEA-60D6-171D-CA13B274B3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280084"/>
            <a:ext cx="864096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61420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C3DF07-9278-B295-3A60-52DF75CE1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676" y="1239391"/>
            <a:ext cx="7674102" cy="761238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fr-CA" sz="3000" dirty="0"/>
              <a:t>Lien avec la finance durable</a:t>
            </a:r>
            <a:endParaRPr lang="fr-FR" sz="3000" dirty="0"/>
          </a:p>
        </p:txBody>
      </p:sp>
      <p:graphicFrame>
        <p:nvGraphicFramePr>
          <p:cNvPr id="6" name="Espace réservé du contenu 2">
            <a:extLst>
              <a:ext uri="{FF2B5EF4-FFF2-40B4-BE49-F238E27FC236}">
                <a16:creationId xmlns:a16="http://schemas.microsoft.com/office/drawing/2014/main" id="{0BF788A7-271D-FBB3-6274-C44495D1759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60676" y="2112264"/>
          <a:ext cx="7674102" cy="3250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631146A-8342-B670-274C-DC4C4E752830}"/>
              </a:ext>
            </a:extLst>
          </p:cNvPr>
          <p:cNvSpPr txBox="1"/>
          <p:nvPr/>
        </p:nvSpPr>
        <p:spPr>
          <a:xfrm>
            <a:off x="1631504" y="6381328"/>
            <a:ext cx="5040560" cy="32919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lnSpcReduction="10000"/>
          </a:bodyPr>
          <a:lstStyle/>
          <a:p>
            <a:pPr>
              <a:buClr>
                <a:schemeClr val="accent2"/>
              </a:buClr>
              <a:buSzPct val="125000"/>
            </a:pPr>
            <a:r>
              <a:rPr lang="en-CA" sz="1670" dirty="0"/>
              <a:t>© Marie-Hélène Allard</a:t>
            </a:r>
            <a:endParaRPr lang="fr-CA" sz="1670" dirty="0"/>
          </a:p>
        </p:txBody>
      </p:sp>
    </p:spTree>
    <p:extLst>
      <p:ext uri="{BB962C8B-B14F-4D97-AF65-F5344CB8AC3E}">
        <p14:creationId xmlns:p14="http://schemas.microsoft.com/office/powerpoint/2010/main" val="32000054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C3DF07-9278-B295-3A60-52DF75CE1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676" y="1239391"/>
            <a:ext cx="7674102" cy="761238"/>
          </a:xfrm>
        </p:spPr>
        <p:txBody>
          <a:bodyPr>
            <a:normAutofit/>
          </a:bodyPr>
          <a:lstStyle/>
          <a:p>
            <a:r>
              <a:rPr lang="fr-CA" sz="3000"/>
              <a:t>Obligations et finance durable</a:t>
            </a:r>
            <a:endParaRPr lang="fr-FR" sz="3000"/>
          </a:p>
        </p:txBody>
      </p:sp>
      <p:graphicFrame>
        <p:nvGraphicFramePr>
          <p:cNvPr id="6" name="Espace réservé du contenu 2">
            <a:extLst>
              <a:ext uri="{FF2B5EF4-FFF2-40B4-BE49-F238E27FC236}">
                <a16:creationId xmlns:a16="http://schemas.microsoft.com/office/drawing/2014/main" id="{0BF788A7-271D-FBB3-6274-C44495D175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5551780"/>
              </p:ext>
            </p:extLst>
          </p:nvPr>
        </p:nvGraphicFramePr>
        <p:xfrm>
          <a:off x="2360676" y="2112264"/>
          <a:ext cx="7674102" cy="32506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262791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AEB81FD-1D4A-7E6D-CEBC-A6E7A88A5A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4894" r="1034"/>
          <a:stretch/>
        </p:blipFill>
        <p:spPr>
          <a:xfrm>
            <a:off x="1945640" y="1878746"/>
            <a:ext cx="8178800" cy="371010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599C3AB-1DCE-C21A-83C5-C2F48B9A037A}"/>
              </a:ext>
            </a:extLst>
          </p:cNvPr>
          <p:cNvSpPr txBox="1"/>
          <p:nvPr/>
        </p:nvSpPr>
        <p:spPr>
          <a:xfrm>
            <a:off x="2141220" y="1093470"/>
            <a:ext cx="78211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sz="2100" b="1" dirty="0">
                <a:solidFill>
                  <a:prstClr val="black"/>
                </a:solidFill>
                <a:latin typeface="Calibri" panose="020F0502020204030204"/>
              </a:rPr>
              <a:t>Taille du marché : 1 000 milliards de dollars américains en obligations liées au climat</a:t>
            </a:r>
            <a:endParaRPr lang="fr-FR" sz="135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481BDFE-5559-2D36-6ABE-073AA147BFF9}"/>
              </a:ext>
            </a:extLst>
          </p:cNvPr>
          <p:cNvSpPr txBox="1"/>
          <p:nvPr/>
        </p:nvSpPr>
        <p:spPr>
          <a:xfrm>
            <a:off x="3764280" y="2449830"/>
            <a:ext cx="747544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sz="1350" dirty="0">
                <a:solidFill>
                  <a:prstClr val="black"/>
                </a:solidFill>
                <a:latin typeface="Calibri" panose="020F0502020204030204"/>
              </a:rPr>
              <a:t>Vert</a:t>
            </a:r>
            <a:endParaRPr lang="fr-FR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BA1F7EE-FFB8-7329-4DBC-F638CBB76065}"/>
              </a:ext>
            </a:extLst>
          </p:cNvPr>
          <p:cNvSpPr txBox="1"/>
          <p:nvPr/>
        </p:nvSpPr>
        <p:spPr>
          <a:xfrm>
            <a:off x="6169825" y="2449830"/>
            <a:ext cx="1213292" cy="3000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sz="1350" dirty="0">
                <a:solidFill>
                  <a:prstClr val="black"/>
                </a:solidFill>
                <a:latin typeface="Calibri" panose="020F0502020204030204"/>
              </a:rPr>
              <a:t>Durable</a:t>
            </a:r>
            <a:endParaRPr lang="fr-FR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9F7B0EC-F4AE-BE7E-BCC3-D1A21B1BCEED}"/>
              </a:ext>
            </a:extLst>
          </p:cNvPr>
          <p:cNvSpPr txBox="1"/>
          <p:nvPr/>
        </p:nvSpPr>
        <p:spPr>
          <a:xfrm rot="16200000">
            <a:off x="413277" y="3339929"/>
            <a:ext cx="3025341" cy="323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fr-CA" sz="1500" b="1" dirty="0">
                <a:solidFill>
                  <a:prstClr val="black"/>
                </a:solidFill>
                <a:latin typeface="Calibri" panose="020F0502020204030204"/>
              </a:rPr>
              <a:t>En milliards de dollars américains</a:t>
            </a:r>
            <a:endParaRPr lang="fr-FR" sz="15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60D2B9D-49CE-72F1-2E5A-15B5A7742B3B}"/>
              </a:ext>
            </a:extLst>
          </p:cNvPr>
          <p:cNvSpPr txBox="1"/>
          <p:nvPr/>
        </p:nvSpPr>
        <p:spPr>
          <a:xfrm>
            <a:off x="2291262" y="5588852"/>
            <a:ext cx="6172736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dirty="0">
                <a:solidFill>
                  <a:prstClr val="black"/>
                </a:solidFill>
                <a:latin typeface="Calibri" panose="020F0502020204030204"/>
              </a:rPr>
              <a:t>Source : Climate Bonds Initiative, « Sustainable Debt: The State of the Market 2021 ».</a:t>
            </a:r>
            <a:endParaRPr lang="fr-FR" sz="13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A41215C-313F-0AD7-47DD-12620ECAED12}"/>
              </a:ext>
            </a:extLst>
          </p:cNvPr>
          <p:cNvSpPr txBox="1"/>
          <p:nvPr/>
        </p:nvSpPr>
        <p:spPr>
          <a:xfrm>
            <a:off x="3543261" y="3429001"/>
            <a:ext cx="154462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 fontAlgn="auto">
              <a:spcBef>
                <a:spcPts val="0"/>
              </a:spcBef>
              <a:spcAft>
                <a:spcPts val="0"/>
              </a:spcAft>
            </a:pPr>
            <a:r>
              <a:rPr lang="fr-CA" sz="1050" dirty="0">
                <a:solidFill>
                  <a:srgbClr val="000000"/>
                </a:solidFill>
                <a:latin typeface="Arial" panose="020B0604020202020204"/>
              </a:rPr>
              <a:t>Obligations</a:t>
            </a:r>
            <a:r>
              <a:rPr lang="fr-CA" sz="1050" dirty="0" err="1">
                <a:solidFill>
                  <a:srgbClr val="000000"/>
                </a:solidFill>
                <a:latin typeface="Arial" panose="020B0604020202020204"/>
              </a:rPr>
              <a:t> liées au développement durable</a:t>
            </a:r>
            <a:endParaRPr lang="fr-FR" sz="1050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6710654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C3DF07-9278-B295-3A60-52DF75CE1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Obligations et finance durable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0C0C45-4745-4B9C-D768-5A3EAC0DE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1570" y="2132856"/>
            <a:ext cx="8186400" cy="2937884"/>
          </a:xfrm>
        </p:spPr>
        <p:txBody>
          <a:bodyPr>
            <a:normAutofit/>
          </a:bodyPr>
          <a:lstStyle/>
          <a:p>
            <a:r>
              <a:rPr lang="fr-CA" sz="2400" dirty="0"/>
              <a:t>Différences entre les obligations traditionnelles et les obligations vertes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CA" sz="2400" dirty="0"/>
              <a:t>Rendement ?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CA" sz="2400" dirty="0"/>
              <a:t>Risque ?</a:t>
            </a:r>
          </a:p>
          <a:p>
            <a:pPr marL="342900" lvl="1" indent="0">
              <a:buNone/>
            </a:pPr>
            <a:endParaRPr lang="fr-FR" sz="2400" dirty="0"/>
          </a:p>
          <a:p>
            <a:pPr marL="342900" lvl="1" indent="0">
              <a:buNone/>
            </a:pPr>
            <a:endParaRPr lang="fr-CA" sz="2400" dirty="0"/>
          </a:p>
        </p:txBody>
      </p:sp>
    </p:spTree>
    <p:extLst>
      <p:ext uri="{BB962C8B-B14F-4D97-AF65-F5344CB8AC3E}">
        <p14:creationId xmlns:p14="http://schemas.microsoft.com/office/powerpoint/2010/main" val="865077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0A6CD6-AA20-AC81-C0BE-F7DE63EA5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Quelques liens intéressants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56DDE58-E62D-63EC-A967-87C620A2B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sz="2000" dirty="0"/>
              <a:t>Obligations vertes : </a:t>
            </a:r>
            <a:r>
              <a:rPr lang="fr-CA" sz="2000" dirty="0">
                <a:hlinkClick r:id="rId2"/>
              </a:rPr>
              <a:t>https://www.investopedia.com/terms/g/green-bond.asp</a:t>
            </a:r>
            <a:endParaRPr lang="fr-CA" sz="2000" dirty="0"/>
          </a:p>
          <a:p>
            <a:endParaRPr lang="fr-CA" sz="2000" dirty="0"/>
          </a:p>
          <a:p>
            <a:r>
              <a:rPr lang="fr-CA" sz="2000" dirty="0"/>
              <a:t>Obligations vertes vs obligations classiques : </a:t>
            </a:r>
            <a:r>
              <a:rPr lang="fr-CA" sz="2000" dirty="0">
                <a:hlinkClick r:id="rId3"/>
              </a:rPr>
              <a:t>https://blogs.cfainstitute.org/investor/2019/10/08/green-bonds-vs-traditional-bonds/</a:t>
            </a:r>
            <a:endParaRPr lang="fr-CA" sz="2000" dirty="0"/>
          </a:p>
          <a:p>
            <a:endParaRPr lang="fr-CA" sz="2000" dirty="0"/>
          </a:p>
          <a:p>
            <a:pPr marL="0" indent="0">
              <a:buNone/>
            </a:pPr>
            <a:endParaRPr lang="fr-CA" sz="2000" dirty="0"/>
          </a:p>
          <a:p>
            <a:endParaRPr lang="fr-CA" sz="2000" dirty="0"/>
          </a:p>
          <a:p>
            <a:endParaRPr lang="fr-CA" sz="2000" dirty="0"/>
          </a:p>
          <a:p>
            <a:endParaRPr lang="fr-CA" sz="2000" dirty="0"/>
          </a:p>
          <a:p>
            <a:pPr marL="0" indent="0">
              <a:buNone/>
            </a:pPr>
            <a:endParaRPr lang="fr-CA" sz="2000" dirty="0"/>
          </a:p>
          <a:p>
            <a:endParaRPr lang="fr-CA" sz="2000" dirty="0"/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5658558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>
                <a:solidFill>
                  <a:srgbClr val="FF0000"/>
                </a:solidFill>
                <a:latin typeface="Ink Free" panose="03080402000500000000" pitchFamily="66" charset="0"/>
              </a:rPr>
              <a:t>C'est en forgeant qu'on devient forgeron !!!</a:t>
            </a:r>
            <a:endParaRPr lang="fr-CA" sz="3200" dirty="0">
              <a:solidFill>
                <a:srgbClr val="FF0000"/>
              </a:solidFill>
              <a:latin typeface="Ink Free" panose="03080402000500000000" pitchFamily="66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63352" y="1580441"/>
            <a:ext cx="9217024" cy="4869758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r>
              <a:rPr lang="en-CA" sz="2000" b="1" u="sng" dirty="0"/>
              <a:t>Manuel</a:t>
            </a:r>
            <a:r>
              <a:rPr lang="en-CA" sz="2000" dirty="0"/>
              <a:t>. </a:t>
            </a:r>
            <a:r>
              <a:rPr lang="en-CA" sz="2000" dirty="0" err="1"/>
              <a:t>Voir</a:t>
            </a:r>
            <a:r>
              <a:rPr lang="en-CA" sz="2000" dirty="0"/>
              <a:t> séance 3 sur ZC.</a:t>
            </a:r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endParaRPr lang="en-CA" sz="2000" dirty="0"/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endParaRPr lang="en-CA" sz="2000" dirty="0"/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r>
              <a:rPr lang="en-CA" sz="2000" dirty="0"/>
              <a:t>Sous ZC / séance 3/ </a:t>
            </a:r>
            <a:r>
              <a:rPr lang="en-CA" sz="2000" dirty="0" err="1"/>
              <a:t>Ressources</a:t>
            </a:r>
            <a:r>
              <a:rPr lang="en-CA" sz="2000" dirty="0"/>
              <a:t> après la séance</a:t>
            </a:r>
            <a:endParaRPr lang="en-CA" sz="2000" b="1" u="sng" dirty="0"/>
          </a:p>
          <a:p>
            <a:pPr lvl="1">
              <a:buSzPct val="100000"/>
              <a:buFont typeface="Wingdings" panose="05000000000000000000" pitchFamily="2" charset="2"/>
              <a:buChar char="ü"/>
            </a:pPr>
            <a:r>
              <a:rPr lang="en-CA" sz="2000" u="sng" dirty="0"/>
              <a:t>2 </a:t>
            </a:r>
            <a:r>
              <a:rPr lang="en-CA" sz="2000" u="sng" dirty="0" err="1"/>
              <a:t>exercices</a:t>
            </a:r>
            <a:r>
              <a:rPr lang="en-CA" sz="2000" u="sng" dirty="0"/>
              <a:t> </a:t>
            </a:r>
            <a:r>
              <a:rPr lang="en-CA" sz="2000" u="sng" dirty="0" err="1"/>
              <a:t>résolus</a:t>
            </a:r>
            <a:r>
              <a:rPr lang="en-CA" sz="2000" u="sng" dirty="0"/>
              <a:t> </a:t>
            </a:r>
            <a:r>
              <a:rPr lang="en-CA" sz="2000" dirty="0"/>
              <a:t>avec </a:t>
            </a:r>
            <a:r>
              <a:rPr lang="en-CA" sz="2000" dirty="0" err="1"/>
              <a:t>vidéos</a:t>
            </a:r>
            <a:endParaRPr lang="en-CA" sz="2000" dirty="0"/>
          </a:p>
          <a:p>
            <a:pPr lvl="1">
              <a:buSzPct val="100000"/>
              <a:buFont typeface="Wingdings" panose="05000000000000000000" pitchFamily="2" charset="2"/>
              <a:buChar char="ü"/>
            </a:pPr>
            <a:r>
              <a:rPr lang="en-CA" sz="2000" u="sng" dirty="0" err="1">
                <a:solidFill>
                  <a:schemeClr val="tx2"/>
                </a:solidFill>
              </a:rPr>
              <a:t>Exercices</a:t>
            </a:r>
            <a:r>
              <a:rPr lang="en-CA" sz="2000" u="sng" dirty="0">
                <a:solidFill>
                  <a:schemeClr val="tx2"/>
                </a:solidFill>
              </a:rPr>
              <a:t> </a:t>
            </a:r>
            <a:r>
              <a:rPr lang="en-CA" sz="2000" u="sng" dirty="0" err="1">
                <a:solidFill>
                  <a:schemeClr val="tx2"/>
                </a:solidFill>
              </a:rPr>
              <a:t>supplémentaires</a:t>
            </a:r>
            <a:r>
              <a:rPr lang="en-CA" sz="2000" u="sng" dirty="0">
                <a:solidFill>
                  <a:schemeClr val="tx2"/>
                </a:solidFill>
              </a:rPr>
              <a:t>. </a:t>
            </a:r>
            <a:r>
              <a:rPr lang="en-CA" sz="20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**</a:t>
            </a:r>
            <a:r>
              <a:rPr lang="en-CA" sz="2000" b="1" dirty="0" err="1">
                <a:solidFill>
                  <a:srgbClr val="FF0000"/>
                </a:solidFill>
                <a:latin typeface="Bradley Hand ITC" panose="03070402050302030203" pitchFamily="66" charset="0"/>
              </a:rPr>
              <a:t>Votre</a:t>
            </a:r>
            <a:r>
              <a:rPr lang="en-CA" sz="20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 </a:t>
            </a:r>
            <a:r>
              <a:rPr lang="en-CA" sz="2000" b="1" dirty="0" err="1">
                <a:solidFill>
                  <a:srgbClr val="FF0000"/>
                </a:solidFill>
                <a:latin typeface="Bradley Hand ITC" panose="03070402050302030203" pitchFamily="66" charset="0"/>
              </a:rPr>
              <a:t>meilleure</a:t>
            </a:r>
            <a:r>
              <a:rPr lang="en-CA" sz="20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 pratique** </a:t>
            </a:r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endParaRPr lang="en-CA" sz="2000" dirty="0"/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r>
              <a:rPr lang="en-CA" sz="2000" b="1" u="sng" dirty="0"/>
              <a:t>Tutoriel </a:t>
            </a:r>
            <a:r>
              <a:rPr lang="en-CA" sz="2400" b="1" u="sng" dirty="0"/>
              <a:t>n° 2</a:t>
            </a:r>
            <a:r>
              <a:rPr lang="en-CA" sz="2000" b="1" dirty="0"/>
              <a:t>. </a:t>
            </a:r>
            <a:r>
              <a:rPr lang="en-CA" sz="2000" dirty="0"/>
              <a:t>Sous ZC / Modules / Travail pratique</a:t>
            </a:r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endParaRPr lang="en-CA" sz="2000" dirty="0"/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r>
              <a:rPr lang="en-CA" sz="2000" dirty="0" err="1"/>
              <a:t>Exercices</a:t>
            </a:r>
            <a:r>
              <a:rPr lang="en-CA" sz="2000" dirty="0"/>
              <a:t> dans le </a:t>
            </a:r>
            <a:r>
              <a:rPr lang="en-CA" sz="2000" u="sng" dirty="0"/>
              <a:t>cahier de travaux de mi-semestre</a:t>
            </a:r>
            <a:r>
              <a:rPr lang="en-CA" sz="2000" dirty="0"/>
              <a:t>. </a:t>
            </a:r>
            <a:r>
              <a:rPr lang="en-CA" sz="2000" dirty="0" err="1"/>
              <a:t>Voir</a:t>
            </a:r>
            <a:r>
              <a:rPr lang="en-CA" sz="2000" dirty="0"/>
              <a:t> ZC / Modules / </a:t>
            </a:r>
            <a:r>
              <a:rPr lang="en-CA" sz="2000" dirty="0" err="1"/>
              <a:t>Préparation</a:t>
            </a:r>
            <a:r>
              <a:rPr lang="en-CA" sz="2000" dirty="0"/>
              <a:t> aux examens INTRA </a:t>
            </a:r>
          </a:p>
          <a:p>
            <a:pPr marL="342900" indent="-342900">
              <a:buClr>
                <a:schemeClr val="accent2"/>
              </a:buClr>
              <a:buSzPct val="100000"/>
              <a:buFont typeface="+mj-lt"/>
              <a:buAutoNum type="arabicParenR"/>
            </a:pPr>
            <a:endParaRPr lang="fr-CA" sz="2000" dirty="0"/>
          </a:p>
          <a:p>
            <a:endParaRPr lang="fr-CA" sz="3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A019D1F-2BC9-41FA-953B-C3256200C508}" type="slidenum">
              <a:rPr kumimoji="0" lang="fr-CA" sz="1200" b="0" i="0" u="none" strike="noStrike" kern="1200" cap="none" spc="0" normalizeH="0" baseline="0" noProof="0" smtClean="0">
                <a:ln>
                  <a:noFill/>
                </a:ln>
                <a:solidFill>
                  <a:srgbClr val="8CADAE">
                    <a:shade val="75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fr-CA" sz="1200" b="0" i="0" u="none" strike="noStrike" kern="1200" cap="none" spc="0" normalizeH="0" baseline="0" noProof="0" dirty="0">
              <a:ln>
                <a:noFill/>
              </a:ln>
              <a:solidFill>
                <a:srgbClr val="8CADAE">
                  <a:shade val="75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9" name="Picture 2" descr="Important ">
            <a:extLst>
              <a:ext uri="{FF2B5EF4-FFF2-40B4-BE49-F238E27FC236}">
                <a16:creationId xmlns:a16="http://schemas.microsoft.com/office/drawing/2014/main" id="{DB3315D7-0DAA-6CB7-9C2F-7D9E91E38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4698" y="386019"/>
            <a:ext cx="1656184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39D8D91-23F2-D831-6963-6F7FB37671DB}"/>
              </a:ext>
            </a:extLst>
          </p:cNvPr>
          <p:cNvSpPr txBox="1"/>
          <p:nvPr/>
        </p:nvSpPr>
        <p:spPr>
          <a:xfrm>
            <a:off x="593779" y="2036711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nk Free" panose="03080402000500000000" pitchFamily="66" charset="0"/>
                <a:ea typeface="+mn-ea"/>
                <a:cs typeface="+mn-cs"/>
              </a:rPr>
              <a:t>Solutions aux exercices des éditions 4 et 5 sur ZC</a:t>
            </a:r>
          </a:p>
        </p:txBody>
      </p:sp>
      <p:pic>
        <p:nvPicPr>
          <p:cNvPr id="12290" name="Picture 2" descr="Work in progress ">
            <a:extLst>
              <a:ext uri="{FF2B5EF4-FFF2-40B4-BE49-F238E27FC236}">
                <a16:creationId xmlns:a16="http://schemas.microsoft.com/office/drawing/2014/main" id="{6C88A424-936D-A17A-5A11-3C32F7D4C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88" y="228600"/>
            <a:ext cx="913565" cy="91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A47070-A63D-2D3E-D13B-7836388BAB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6320" y="5180891"/>
            <a:ext cx="2690537" cy="9011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19D970-202A-E20D-DE73-E8172BE965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8675" y="1425828"/>
            <a:ext cx="1391151" cy="12434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B14160-8AA6-D817-23D1-0D32AB929D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4152" y="3357851"/>
            <a:ext cx="3562533" cy="768389"/>
          </a:xfrm>
          <a:prstGeom prst="rect">
            <a:avLst/>
          </a:prstGeom>
        </p:spPr>
      </p:pic>
      <p:pic>
        <p:nvPicPr>
          <p:cNvPr id="11" name="Picture 2" descr="Warning ">
            <a:extLst>
              <a:ext uri="{FF2B5EF4-FFF2-40B4-BE49-F238E27FC236}">
                <a16:creationId xmlns:a16="http://schemas.microsoft.com/office/drawing/2014/main" id="{E86A8ECD-D962-9AA1-A20F-08831216E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2504" y="3284984"/>
            <a:ext cx="792088" cy="792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8796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8E63DA-A216-4B68-BF5D-AE7A741BE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7C2F0C-A6A4-44C9-B109-8FE1FD9A5A06}" type="slidenum">
              <a:rPr lang="fr-CA">
                <a:solidFill>
                  <a:srgbClr val="8CADAE">
                    <a:shade val="75000"/>
                  </a:srgbClr>
                </a:solidFill>
              </a:rPr>
              <a:pPr>
                <a:defRPr/>
              </a:pPr>
              <a:t>38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CEB2D-E5DD-43B7-BDEE-90F6118807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055440" y="1527050"/>
            <a:ext cx="6840760" cy="478227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GB" sz="4000" dirty="0">
              <a:solidFill>
                <a:srgbClr val="FF0000"/>
              </a:solidFill>
              <a:latin typeface="+mj-lt"/>
            </a:endParaRPr>
          </a:p>
          <a:p>
            <a:pPr marL="0" indent="0">
              <a:buNone/>
            </a:pPr>
            <a:endParaRPr lang="en-GB" sz="4000" dirty="0">
              <a:solidFill>
                <a:srgbClr val="FF0000"/>
              </a:solidFill>
              <a:latin typeface="+mj-lt"/>
            </a:endParaRPr>
          </a:p>
          <a:p>
            <a:pPr marL="0" indent="0" algn="ctr">
              <a:buNone/>
            </a:pPr>
            <a:r>
              <a:rPr lang="en-GB" sz="4000" b="1" dirty="0">
                <a:latin typeface="+mj-lt"/>
              </a:rPr>
              <a:t>ANNEXES</a:t>
            </a:r>
          </a:p>
          <a:p>
            <a:pPr marL="0" indent="0">
              <a:buNone/>
            </a:pPr>
            <a:endParaRPr lang="en-GB" sz="4000" dirty="0">
              <a:latin typeface="+mj-lt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sz="2800" u="sng" dirty="0">
                <a:latin typeface="+mj-lt"/>
              </a:rPr>
              <a:t>Exercice 2 : </a:t>
            </a:r>
            <a:r>
              <a:rPr lang="en-US" sz="2800" dirty="0">
                <a:latin typeface="+mj-lt"/>
              </a:rPr>
              <a:t>Comprendre l'évaluation des obligations : l'importance des </a:t>
            </a:r>
            <a:r>
              <a:rPr lang="en-US" sz="2800" dirty="0" err="1">
                <a:latin typeface="+mj-lt"/>
              </a:rPr>
              <a:t>exposants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 err="1">
                <a:latin typeface="+mj-lt"/>
              </a:rPr>
              <a:t>entiers</a:t>
            </a:r>
            <a:r>
              <a:rPr lang="en-US" sz="2800" dirty="0">
                <a:latin typeface="+mj-lt"/>
              </a:rPr>
              <a:t> ⚠️</a:t>
            </a:r>
          </a:p>
          <a:p>
            <a:pPr marL="514350" indent="-514350">
              <a:buFont typeface="+mj-lt"/>
              <a:buAutoNum type="alphaUcPeriod"/>
            </a:pPr>
            <a:endParaRPr lang="en-US" sz="2800" dirty="0">
              <a:latin typeface="+mj-lt"/>
            </a:endParaRPr>
          </a:p>
          <a:p>
            <a:pPr marL="514350" indent="-514350">
              <a:buFont typeface="+mj-lt"/>
              <a:buAutoNum type="alphaUcPeriod"/>
            </a:pPr>
            <a:r>
              <a:rPr lang="en-US" sz="2800" dirty="0">
                <a:latin typeface="+mj-lt"/>
              </a:rPr>
              <a:t>Problème supplémentaire 1</a:t>
            </a:r>
            <a:endParaRPr lang="fr-CA" sz="3200" dirty="0">
              <a:latin typeface="+mj-lt"/>
            </a:endParaRPr>
          </a:p>
        </p:txBody>
      </p:sp>
      <p:pic>
        <p:nvPicPr>
          <p:cNvPr id="5" name="Picture 2" descr="File ">
            <a:extLst>
              <a:ext uri="{FF2B5EF4-FFF2-40B4-BE49-F238E27FC236}">
                <a16:creationId xmlns:a16="http://schemas.microsoft.com/office/drawing/2014/main" id="{9CAB19E1-EE8F-899E-7D28-8B18E10AB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0256" y="2348880"/>
            <a:ext cx="2560775" cy="256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787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CE29-0F9D-4B0F-8191-BE53933FF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5754" y="251482"/>
            <a:ext cx="8534400" cy="758952"/>
          </a:xfrm>
        </p:spPr>
        <p:txBody>
          <a:bodyPr>
            <a:noAutofit/>
          </a:bodyPr>
          <a:lstStyle/>
          <a:p>
            <a:r>
              <a:rPr lang="en-US" sz="2400" u="sng" dirty="0">
                <a:solidFill>
                  <a:srgbClr val="FF0000"/>
                </a:solidFill>
              </a:rPr>
              <a:t>A - Exercice 2 </a:t>
            </a:r>
            <a:r>
              <a:rPr lang="en-US" sz="2400" dirty="0">
                <a:solidFill>
                  <a:srgbClr val="FF0000"/>
                </a:solidFill>
              </a:rPr>
              <a:t>: Pourquoi les </a:t>
            </a:r>
            <a:r>
              <a:rPr lang="en-US" sz="2400" b="1" dirty="0">
                <a:solidFill>
                  <a:srgbClr val="FF0000"/>
                </a:solidFill>
              </a:rPr>
              <a:t>exposants</a:t>
            </a:r>
            <a:r>
              <a:rPr lang="en-US" sz="2400" dirty="0">
                <a:solidFill>
                  <a:srgbClr val="FF0000"/>
                </a:solidFill>
              </a:rPr>
              <a:t> doivent-ils être des </a:t>
            </a:r>
            <a:r>
              <a:rPr lang="en-US" sz="2400" b="1" dirty="0">
                <a:solidFill>
                  <a:srgbClr val="FF0000"/>
                </a:solidFill>
              </a:rPr>
              <a:t>nombres entiers </a:t>
            </a:r>
            <a:r>
              <a:rPr lang="en-US" sz="2400" dirty="0">
                <a:solidFill>
                  <a:srgbClr val="FF0000"/>
                </a:solidFill>
              </a:rPr>
              <a:t>dans l'évaluation des obligations ?</a:t>
            </a:r>
            <a:endParaRPr lang="fr-CA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8E63DA-A216-4B68-BF5D-AE7A741BE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7C2F0C-A6A4-44C9-B109-8FE1FD9A5A06}" type="slidenum">
              <a:rPr lang="fr-CA">
                <a:solidFill>
                  <a:srgbClr val="8CADAE">
                    <a:shade val="75000"/>
                  </a:srgbClr>
                </a:solidFill>
              </a:rPr>
              <a:pPr>
                <a:defRPr/>
              </a:pPr>
              <a:t>39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CEB2D-E5DD-43B7-BDEE-90F6118807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59291" y="1477964"/>
            <a:ext cx="11665296" cy="5263405"/>
          </a:xfrm>
        </p:spPr>
        <p:txBody>
          <a:bodyPr>
            <a:normAutofit fontScale="70000" lnSpcReduction="20000"/>
          </a:bodyPr>
          <a:lstStyle/>
          <a:p>
            <a:pPr>
              <a:buFont typeface="+mj-lt"/>
              <a:buAutoNum type="arabicPeriod"/>
            </a:pPr>
            <a:r>
              <a:rPr lang="en-US" b="1" dirty="0">
                <a:latin typeface="+mj-lt"/>
              </a:rPr>
              <a:t>Les exposants représentent des périodes discrètes :</a:t>
            </a:r>
            <a:endParaRPr lang="en-US" dirty="0">
              <a:latin typeface="+mj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latin typeface="+mj-lt"/>
              </a:rPr>
              <a:t>Définition : </a:t>
            </a:r>
            <a:r>
              <a:rPr lang="en-US" dirty="0">
                <a:latin typeface="+mj-lt"/>
              </a:rPr>
              <a:t>Dans le contexte de la tarification des obligations, les exposants dans des formules telles que le calcul de la valeur </a:t>
            </a:r>
            <a:r>
              <a:rPr lang="en-US" dirty="0" err="1">
                <a:latin typeface="+mj-lt"/>
              </a:rPr>
              <a:t>actuelle</a:t>
            </a:r>
            <a:r>
              <a:rPr lang="en-US" dirty="0">
                <a:latin typeface="+mj-lt"/>
              </a:rPr>
              <a:t> (VA) représentent le </a:t>
            </a:r>
            <a:r>
              <a:rPr lang="en-US" dirty="0" err="1">
                <a:latin typeface="+mj-lt"/>
              </a:rPr>
              <a:t>nombre</a:t>
            </a:r>
            <a:r>
              <a:rPr lang="en-US" dirty="0">
                <a:latin typeface="+mj-lt"/>
              </a:rPr>
              <a:t> </a:t>
            </a:r>
            <a:r>
              <a:rPr lang="en-US" u="sng" dirty="0">
                <a:latin typeface="+mj-lt"/>
              </a:rPr>
              <a:t>de coupon </a:t>
            </a:r>
            <a:r>
              <a:rPr lang="en-US" b="1" u="sng" dirty="0" err="1">
                <a:latin typeface="+mj-lt"/>
              </a:rPr>
              <a:t>complets</a:t>
            </a:r>
            <a:r>
              <a:rPr lang="en-US" b="1" u="sng" dirty="0">
                <a:latin typeface="+mj-lt"/>
              </a:rPr>
              <a:t> </a:t>
            </a:r>
            <a:r>
              <a:rPr lang="en-US" dirty="0">
                <a:latin typeface="+mj-lt"/>
              </a:rPr>
              <a:t>restant jusqu'à l'échéance de l'obligation.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latin typeface="+mj-lt"/>
              </a:rPr>
              <a:t>Exemple : </a:t>
            </a:r>
            <a:r>
              <a:rPr lang="en-US" dirty="0">
                <a:latin typeface="+mj-lt"/>
              </a:rPr>
              <a:t>si une obligation verse des coupons semestriels, chaque période est </a:t>
            </a:r>
            <a:r>
              <a:rPr lang="en-US" b="1" dirty="0">
                <a:latin typeface="+mj-lt"/>
              </a:rPr>
              <a:t>de 6 mois</a:t>
            </a:r>
            <a:r>
              <a:rPr lang="en-US" dirty="0">
                <a:latin typeface="+mj-lt"/>
              </a:rPr>
              <a:t>. Un exposant de</a:t>
            </a:r>
            <a:r>
              <a:rPr lang="en-US" b="1" dirty="0">
                <a:latin typeface="+mj-lt"/>
              </a:rPr>
              <a:t> 10 </a:t>
            </a:r>
            <a:r>
              <a:rPr lang="en-US" dirty="0">
                <a:latin typeface="+mj-lt"/>
              </a:rPr>
              <a:t>indique</a:t>
            </a:r>
            <a:r>
              <a:rPr lang="en-US" b="1" dirty="0">
                <a:latin typeface="+mj-lt"/>
              </a:rPr>
              <a:t> 10 coupons verses à </a:t>
            </a:r>
            <a:r>
              <a:rPr lang="en-US" b="1" dirty="0" err="1">
                <a:latin typeface="+mj-lt"/>
              </a:rPr>
              <a:t>chaque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période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complète</a:t>
            </a:r>
            <a:r>
              <a:rPr lang="en-US" b="1" dirty="0">
                <a:latin typeface="+mj-lt"/>
              </a:rPr>
              <a:t> de 6 mois </a:t>
            </a:r>
            <a:r>
              <a:rPr lang="en-US" dirty="0">
                <a:latin typeface="+mj-lt"/>
              </a:rPr>
              <a:t>(</a:t>
            </a:r>
            <a:r>
              <a:rPr lang="en-US" dirty="0" err="1">
                <a:latin typeface="+mj-lt"/>
              </a:rPr>
              <a:t>soit</a:t>
            </a:r>
            <a:r>
              <a:rPr lang="en-US" dirty="0">
                <a:latin typeface="+mj-lt"/>
              </a:rPr>
              <a:t> un total de 5 ans).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+mj-lt"/>
              </a:rPr>
              <a:t>Alignement sur les flux </a:t>
            </a:r>
            <a:r>
              <a:rPr lang="en-US" b="1" dirty="0" err="1">
                <a:latin typeface="+mj-lt"/>
              </a:rPr>
              <a:t>monétaires</a:t>
            </a:r>
            <a:r>
              <a:rPr lang="en-US" b="1" dirty="0">
                <a:latin typeface="+mj-lt"/>
              </a:rPr>
              <a:t>:</a:t>
            </a:r>
            <a:endParaRPr lang="en-US" dirty="0">
              <a:latin typeface="+mj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b="1" dirty="0" err="1">
                <a:latin typeface="+mj-lt"/>
              </a:rPr>
              <a:t>Paiements</a:t>
            </a:r>
            <a:r>
              <a:rPr lang="en-US" b="1" dirty="0">
                <a:latin typeface="+mj-lt"/>
              </a:rPr>
              <a:t> de coupons : </a:t>
            </a:r>
            <a:r>
              <a:rPr lang="en-US" dirty="0">
                <a:latin typeface="+mj-lt"/>
              </a:rPr>
              <a:t>Les obligations </a:t>
            </a:r>
            <a:r>
              <a:rPr lang="en-US" dirty="0" err="1">
                <a:latin typeface="+mj-lt"/>
              </a:rPr>
              <a:t>effectuent</a:t>
            </a:r>
            <a:r>
              <a:rPr lang="en-US" dirty="0">
                <a:latin typeface="+mj-lt"/>
              </a:rPr>
              <a:t> des </a:t>
            </a:r>
            <a:r>
              <a:rPr lang="en-US" dirty="0" err="1">
                <a:latin typeface="+mj-lt"/>
              </a:rPr>
              <a:t>paiements</a:t>
            </a:r>
            <a:r>
              <a:rPr lang="en-US" dirty="0">
                <a:latin typeface="+mj-lt"/>
              </a:rPr>
              <a:t> de coupons à </a:t>
            </a:r>
            <a:r>
              <a:rPr lang="en-US" dirty="0" err="1">
                <a:latin typeface="+mj-lt"/>
              </a:rPr>
              <a:t>intervalles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spécifiques</a:t>
            </a:r>
            <a:r>
              <a:rPr lang="en-US" dirty="0">
                <a:latin typeface="+mj-lt"/>
              </a:rPr>
              <a:t> (par </a:t>
            </a:r>
            <a:r>
              <a:rPr lang="en-US" dirty="0" err="1">
                <a:latin typeface="+mj-lt"/>
              </a:rPr>
              <a:t>exemple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tous</a:t>
            </a:r>
            <a:r>
              <a:rPr lang="en-US" dirty="0">
                <a:latin typeface="+mj-lt"/>
              </a:rPr>
              <a:t> les 6 </a:t>
            </a:r>
            <a:r>
              <a:rPr lang="en-US" dirty="0" err="1">
                <a:latin typeface="+mj-lt"/>
              </a:rPr>
              <a:t>mois</a:t>
            </a:r>
            <a:r>
              <a:rPr lang="en-US" dirty="0">
                <a:latin typeface="+mj-lt"/>
              </a:rPr>
              <a:t>).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 err="1">
                <a:latin typeface="+mj-lt"/>
              </a:rPr>
              <a:t>Périodes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entières</a:t>
            </a:r>
            <a:r>
              <a:rPr lang="en-US" b="1" dirty="0">
                <a:latin typeface="+mj-lt"/>
              </a:rPr>
              <a:t> : </a:t>
            </a:r>
            <a:r>
              <a:rPr lang="en-US" dirty="0" err="1">
                <a:latin typeface="+mj-lt"/>
              </a:rPr>
              <a:t>l'utilisation</a:t>
            </a:r>
            <a:r>
              <a:rPr lang="en-US" dirty="0">
                <a:latin typeface="+mj-lt"/>
              </a:rPr>
              <a:t> de </a:t>
            </a:r>
            <a:r>
              <a:rPr lang="en-US" dirty="0" err="1">
                <a:latin typeface="+mj-lt"/>
              </a:rPr>
              <a:t>nombres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entiers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garantit</a:t>
            </a:r>
            <a:r>
              <a:rPr lang="en-US" dirty="0">
                <a:latin typeface="+mj-lt"/>
              </a:rPr>
              <a:t> que </a:t>
            </a:r>
            <a:r>
              <a:rPr lang="en-US" dirty="0" err="1">
                <a:latin typeface="+mj-lt"/>
              </a:rPr>
              <a:t>chaque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exposant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s'aligne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parfaitement</a:t>
            </a:r>
            <a:r>
              <a:rPr lang="en-US" dirty="0">
                <a:latin typeface="+mj-lt"/>
              </a:rPr>
              <a:t> sur </a:t>
            </a:r>
            <a:r>
              <a:rPr lang="en-US" dirty="0" err="1">
                <a:latin typeface="+mj-lt"/>
              </a:rPr>
              <a:t>ces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paiements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prévus</a:t>
            </a:r>
            <a:r>
              <a:rPr lang="en-US" dirty="0">
                <a:latin typeface="+mj-lt"/>
              </a:rPr>
              <a:t>. Par </a:t>
            </a:r>
            <a:r>
              <a:rPr lang="en-US" dirty="0" err="1">
                <a:latin typeface="+mj-lt"/>
              </a:rPr>
              <a:t>exemple</a:t>
            </a:r>
            <a:r>
              <a:rPr lang="en-US" dirty="0">
                <a:latin typeface="+mj-lt"/>
              </a:rPr>
              <a:t>, un </a:t>
            </a:r>
            <a:r>
              <a:rPr lang="en-US" dirty="0" err="1">
                <a:latin typeface="+mj-lt"/>
              </a:rPr>
              <a:t>exposant</a:t>
            </a:r>
            <a:r>
              <a:rPr lang="en-US" dirty="0">
                <a:latin typeface="+mj-lt"/>
              </a:rPr>
              <a:t> de</a:t>
            </a:r>
            <a:r>
              <a:rPr lang="en-US" b="1" dirty="0">
                <a:latin typeface="+mj-lt"/>
              </a:rPr>
              <a:t> 10 </a:t>
            </a:r>
            <a:r>
              <a:rPr lang="en-US" dirty="0">
                <a:latin typeface="+mj-lt"/>
              </a:rPr>
              <a:t>correspond à</a:t>
            </a:r>
            <a:r>
              <a:rPr lang="en-US" b="1" dirty="0">
                <a:latin typeface="+mj-lt"/>
              </a:rPr>
              <a:t> 10 </a:t>
            </a:r>
            <a:r>
              <a:rPr lang="en-US" dirty="0" err="1">
                <a:latin typeface="+mj-lt"/>
              </a:rPr>
              <a:t>paiements</a:t>
            </a:r>
            <a:r>
              <a:rPr lang="en-US" dirty="0">
                <a:latin typeface="+mj-lt"/>
              </a:rPr>
              <a:t> de coupons.</a:t>
            </a:r>
          </a:p>
          <a:p>
            <a:pPr>
              <a:buFont typeface="+mj-lt"/>
              <a:buAutoNum type="arabicPeriod"/>
            </a:pPr>
            <a:r>
              <a:rPr lang="en-US" b="1" dirty="0" err="1">
                <a:latin typeface="+mj-lt"/>
              </a:rPr>
              <a:t>Cohérence</a:t>
            </a:r>
            <a:r>
              <a:rPr lang="en-US" b="1" dirty="0">
                <a:latin typeface="+mj-lt"/>
              </a:rPr>
              <a:t> mathématique :</a:t>
            </a:r>
            <a:endParaRPr lang="en-US" dirty="0">
              <a:latin typeface="+mj-lt"/>
            </a:endParaRPr>
          </a:p>
          <a:p>
            <a:pPr marL="457200" lvl="1" indent="0">
              <a:buNone/>
            </a:pPr>
            <a:r>
              <a:rPr lang="en-US" b="1" dirty="0">
                <a:latin typeface="+mj-lt"/>
              </a:rPr>
              <a:t>Formule des intérêts composés : </a:t>
            </a:r>
            <a:r>
              <a:rPr lang="en-US" dirty="0">
                <a:latin typeface="+mj-lt"/>
              </a:rPr>
              <a:t>La formule standard des intérêts composés suppose que les intérêts sont composés à la fin de chaque période. Des exposants fractionnaires impliqueraient des périodes partielles, qui ne correspondent pas aux intervalles de composition réels.</a:t>
            </a:r>
          </a:p>
          <a:p>
            <a:pPr marL="457200" lvl="1" indent="0" algn="ctr">
              <a:buNone/>
            </a:pPr>
            <a:r>
              <a:rPr lang="pt-BR" dirty="0">
                <a:latin typeface="+mj-lt"/>
              </a:rPr>
              <a:t>PV = [C × (1 - (1 + r)^-n) / r] + [VF / (1 + r)^n]</a:t>
            </a:r>
            <a:endParaRPr lang="en-US" dirty="0">
              <a:latin typeface="+mj-lt"/>
            </a:endParaRPr>
          </a:p>
          <a:p>
            <a:pPr marL="457200" lvl="1" indent="0">
              <a:buNone/>
            </a:pPr>
            <a:r>
              <a:rPr lang="en-US" dirty="0">
                <a:latin typeface="+mj-lt"/>
              </a:rPr>
              <a:t> Ici, </a:t>
            </a:r>
            <a:r>
              <a:rPr lang="en-US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n doit être un nombre entier représentant le nombre de périodes complètes.</a:t>
            </a:r>
          </a:p>
          <a:p>
            <a:pPr>
              <a:buFont typeface="+mj-lt"/>
              <a:buAutoNum type="arabicPeriod"/>
            </a:pPr>
            <a:r>
              <a:rPr lang="en-US" b="1" dirty="0">
                <a:latin typeface="+mj-lt"/>
              </a:rPr>
              <a:t>Évaluation incorrecte avec des exposants fractionnaires :</a:t>
            </a:r>
            <a:endParaRPr lang="en-US" dirty="0">
              <a:latin typeface="+mj-lt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latin typeface="+mj-lt"/>
              </a:rPr>
              <a:t>Désalignement : </a:t>
            </a:r>
            <a:r>
              <a:rPr lang="en-US" dirty="0">
                <a:latin typeface="+mj-lt"/>
              </a:rPr>
              <a:t>l'utilisation d'un exposant fractionnaire (par exemple 9,5) suggère qu'un paiement de coupon a lieu au cours </a:t>
            </a:r>
            <a:r>
              <a:rPr lang="en-US" dirty="0" err="1">
                <a:latin typeface="+mj-lt"/>
              </a:rPr>
              <a:t>d'une</a:t>
            </a:r>
            <a:r>
              <a:rPr lang="en-US" dirty="0">
                <a:latin typeface="+mj-lt"/>
              </a:rPr>
              <a:t> demi-</a:t>
            </a:r>
            <a:r>
              <a:rPr lang="en-US" dirty="0" err="1">
                <a:latin typeface="+mj-lt"/>
              </a:rPr>
              <a:t>période</a:t>
            </a:r>
            <a:r>
              <a:rPr lang="en-US" dirty="0">
                <a:latin typeface="+mj-lt"/>
              </a:rPr>
              <a:t>, </a:t>
            </a:r>
            <a:r>
              <a:rPr lang="en-US" u="sng" dirty="0">
                <a:latin typeface="+mj-lt"/>
              </a:rPr>
              <a:t>ce qui n'est pas le cas</a:t>
            </a:r>
            <a:r>
              <a:rPr lang="en-US" dirty="0">
                <a:latin typeface="+mj-lt"/>
              </a:rPr>
              <a:t>. </a:t>
            </a:r>
            <a:r>
              <a:rPr lang="en-US" b="1" dirty="0">
                <a:latin typeface="+mj-lt"/>
              </a:rPr>
              <a:t>Les coupons ne sont payés qu'à la fin de chaque période complète</a:t>
            </a:r>
            <a:r>
              <a:rPr lang="en-US" dirty="0">
                <a:latin typeface="+mj-lt"/>
              </a:rPr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b="1" dirty="0">
                <a:latin typeface="+mj-lt"/>
              </a:rPr>
              <a:t>Erreur résultante : </a:t>
            </a:r>
            <a:r>
              <a:rPr lang="en-US" dirty="0">
                <a:latin typeface="+mj-lt"/>
              </a:rPr>
              <a:t>ce désalignement entraîne une actualisation inexacte des FMs, ce qui donne un prix incorrect pour l'obligation.</a:t>
            </a:r>
          </a:p>
          <a:p>
            <a:endParaRPr lang="en-GB" sz="2000" dirty="0">
              <a:solidFill>
                <a:srgbClr val="FF0000"/>
              </a:solidFill>
              <a:latin typeface="+mj-lt"/>
            </a:endParaRPr>
          </a:p>
          <a:p>
            <a:pPr marL="0" indent="0">
              <a:buNone/>
            </a:pPr>
            <a:endParaRPr lang="en-GB" sz="3500" dirty="0">
              <a:solidFill>
                <a:srgbClr val="FF0000"/>
              </a:solidFill>
              <a:latin typeface="+mj-lt"/>
            </a:endParaRPr>
          </a:p>
          <a:p>
            <a:pPr marL="0" indent="0">
              <a:buNone/>
            </a:pPr>
            <a:endParaRPr lang="en-GB" sz="3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388762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CE29-0F9D-4B0F-8191-BE53933FF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832" y="277686"/>
            <a:ext cx="8534400" cy="758952"/>
          </a:xfrm>
        </p:spPr>
        <p:txBody>
          <a:bodyPr>
            <a:noAutofit/>
          </a:bodyPr>
          <a:lstStyle/>
          <a:p>
            <a:r>
              <a:rPr lang="en-US" sz="2400" u="sng" dirty="0">
                <a:solidFill>
                  <a:srgbClr val="0070C0"/>
                </a:solidFill>
              </a:rPr>
              <a:t>Exercice 2 </a:t>
            </a:r>
            <a:r>
              <a:rPr lang="en-US" sz="2400" dirty="0">
                <a:solidFill>
                  <a:srgbClr val="0070C0"/>
                </a:solidFill>
              </a:rPr>
              <a:t>: Évaluation</a:t>
            </a:r>
            <a:r>
              <a:rPr lang="en-US" sz="2400" b="1" dirty="0">
                <a:solidFill>
                  <a:srgbClr val="FF0000"/>
                </a:solidFill>
              </a:rPr>
              <a:t> CORRECTE </a:t>
            </a:r>
            <a:r>
              <a:rPr lang="en-US" sz="2400" dirty="0">
                <a:solidFill>
                  <a:srgbClr val="0070C0"/>
                </a:solidFill>
              </a:rPr>
              <a:t>(méthode de l'enseignant)</a:t>
            </a:r>
            <a:endParaRPr lang="fr-CA" sz="2400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8E63DA-A216-4B68-BF5D-AE7A741BE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7C2F0C-A6A4-44C9-B109-8FE1FD9A5A06}" type="slidenum">
              <a:rPr lang="fr-CA">
                <a:solidFill>
                  <a:srgbClr val="8CADAE">
                    <a:shade val="75000"/>
                  </a:srgbClr>
                </a:solidFill>
              </a:rPr>
              <a:pPr>
                <a:defRPr/>
              </a:pPr>
              <a:t>40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CEB2D-E5DD-43B7-BDEE-90F6118807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63214" y="1316909"/>
            <a:ext cx="5328592" cy="526340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j-lt"/>
              </a:rPr>
              <a:t>Du 1er février 2024 au 1er mai 2028, l'obligation a une durée restante de</a:t>
            </a:r>
            <a:r>
              <a:rPr lang="en-US" sz="2400" b="1" dirty="0">
                <a:latin typeface="+mj-lt"/>
              </a:rPr>
              <a:t> 4 ans et 3 </a:t>
            </a:r>
            <a:r>
              <a:rPr lang="en-US" sz="2400" b="1" dirty="0" err="1">
                <a:latin typeface="+mj-lt"/>
              </a:rPr>
              <a:t>mois</a:t>
            </a:r>
            <a:r>
              <a:rPr lang="en-US" sz="2400" dirty="0">
                <a:latin typeface="+mj-lt"/>
              </a:rPr>
              <a:t>.</a:t>
            </a:r>
          </a:p>
          <a:p>
            <a:endParaRPr lang="en-US" sz="2400" dirty="0">
              <a:latin typeface="+mj-lt"/>
            </a:endParaRPr>
          </a:p>
          <a:p>
            <a:r>
              <a:rPr lang="en-US" sz="2400" dirty="0">
                <a:latin typeface="+mj-lt"/>
              </a:rPr>
              <a:t>Comme 𝑛 doit être un nombre entier, arrondissez à 𝑛=9 </a:t>
            </a:r>
            <a:r>
              <a:rPr lang="en-US" sz="2400" dirty="0" err="1">
                <a:latin typeface="+mj-lt"/>
              </a:rPr>
              <a:t>périodes</a:t>
            </a:r>
            <a:r>
              <a:rPr lang="en-US" sz="2400" dirty="0">
                <a:latin typeface="+mj-lt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latin typeface="+mj-lt"/>
              </a:rPr>
              <a:t>  (1 </a:t>
            </a:r>
            <a:r>
              <a:rPr lang="en-US" sz="2400" dirty="0" err="1">
                <a:latin typeface="+mj-lt"/>
              </a:rPr>
              <a:t>période</a:t>
            </a:r>
            <a:r>
              <a:rPr lang="en-US" sz="2400" dirty="0">
                <a:latin typeface="+mj-lt"/>
              </a:rPr>
              <a:t> </a:t>
            </a:r>
            <a:r>
              <a:rPr lang="en-US" sz="2400" u="sng" dirty="0" err="1">
                <a:latin typeface="+mj-lt"/>
              </a:rPr>
              <a:t>avant</a:t>
            </a:r>
            <a:r>
              <a:rPr lang="en-US" sz="2400" u="sng" dirty="0">
                <a:latin typeface="+mj-lt"/>
              </a:rPr>
              <a:t> le premier coupon</a:t>
            </a:r>
            <a:r>
              <a:rPr lang="en-US" sz="2400" dirty="0">
                <a:latin typeface="+mj-lt"/>
              </a:rPr>
              <a:t>).</a:t>
            </a:r>
          </a:p>
          <a:p>
            <a:endParaRPr lang="en-US" sz="2400" dirty="0">
              <a:latin typeface="+mj-lt"/>
            </a:endParaRPr>
          </a:p>
          <a:p>
            <a:endParaRPr lang="en-US" sz="600" dirty="0">
              <a:latin typeface="+mj-lt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>
                <a:latin typeface="+mj-lt"/>
              </a:rPr>
              <a:t>Calculez la valeur </a:t>
            </a:r>
            <a:r>
              <a:rPr lang="en-US" sz="2400" dirty="0" err="1">
                <a:latin typeface="+mj-lt"/>
              </a:rPr>
              <a:t>actuelle</a:t>
            </a:r>
            <a:r>
              <a:rPr lang="en-US" sz="2400" dirty="0">
                <a:latin typeface="+mj-lt"/>
              </a:rPr>
              <a:t> (= 962,21) et ensuite </a:t>
            </a:r>
            <a:r>
              <a:rPr lang="en-US" sz="2400" dirty="0" err="1">
                <a:latin typeface="+mj-lt"/>
              </a:rPr>
              <a:t>capitalisez</a:t>
            </a:r>
            <a:r>
              <a:rPr lang="en-US" sz="2400" dirty="0">
                <a:latin typeface="+mj-lt"/>
              </a:rPr>
              <a:t> la valeur </a:t>
            </a:r>
            <a:r>
              <a:rPr lang="en-US" sz="2400" dirty="0" err="1">
                <a:latin typeface="+mj-lt"/>
              </a:rPr>
              <a:t>actuelle</a:t>
            </a:r>
            <a:r>
              <a:rPr lang="en-US" sz="2400" dirty="0">
                <a:latin typeface="+mj-lt"/>
              </a:rPr>
              <a:t> de 3 </a:t>
            </a:r>
            <a:r>
              <a:rPr lang="en-US" sz="2400" dirty="0" err="1">
                <a:latin typeface="+mj-lt"/>
              </a:rPr>
              <a:t>mois</a:t>
            </a:r>
            <a:r>
              <a:rPr lang="en-US" sz="2400" dirty="0">
                <a:latin typeface="+mj-lt"/>
              </a:rPr>
              <a:t>.</a:t>
            </a:r>
            <a:endParaRPr lang="en-GB" sz="2400" dirty="0">
              <a:latin typeface="+mj-lt"/>
            </a:endParaRPr>
          </a:p>
          <a:p>
            <a:pPr marL="0" indent="0">
              <a:buNone/>
            </a:pPr>
            <a:endParaRPr lang="en-GB" sz="3600" dirty="0">
              <a:solidFill>
                <a:srgbClr val="FF0000"/>
              </a:solidFill>
              <a:latin typeface="+mj-lt"/>
            </a:endParaRPr>
          </a:p>
          <a:p>
            <a:pPr marL="0" indent="0">
              <a:buNone/>
            </a:pPr>
            <a:endParaRPr lang="en-GB" sz="3600" dirty="0">
              <a:latin typeface="+mj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4D18EC-D79D-59D1-931D-98A5B650C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351" y="2204864"/>
            <a:ext cx="6515435" cy="320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5906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44AF38F-AF0F-B7BA-9D69-D3953B082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944" y="1477964"/>
            <a:ext cx="5366112" cy="21104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D2DCE29-0F9D-4B0F-8191-BE53933FF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5832" y="277686"/>
            <a:ext cx="8534400" cy="758952"/>
          </a:xfrm>
        </p:spPr>
        <p:txBody>
          <a:bodyPr>
            <a:noAutofit/>
          </a:bodyPr>
          <a:lstStyle/>
          <a:p>
            <a:r>
              <a:rPr lang="en-US" sz="2800" u="sng" dirty="0">
                <a:solidFill>
                  <a:srgbClr val="0070C0"/>
                </a:solidFill>
              </a:rPr>
              <a:t>Exercice 2 </a:t>
            </a:r>
            <a:r>
              <a:rPr lang="en-US" sz="2800" dirty="0">
                <a:solidFill>
                  <a:srgbClr val="0070C0"/>
                </a:solidFill>
              </a:rPr>
              <a:t>: Évaluation </a:t>
            </a:r>
            <a:r>
              <a:rPr lang="en-US" sz="2800" b="1" dirty="0">
                <a:solidFill>
                  <a:srgbClr val="FF0000"/>
                </a:solidFill>
              </a:rPr>
              <a:t>INCORRECTE</a:t>
            </a:r>
            <a:endParaRPr lang="fr-CA" sz="2800" dirty="0">
              <a:solidFill>
                <a:srgbClr val="0070C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8E63DA-A216-4B68-BF5D-AE7A741BE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7C2F0C-A6A4-44C9-B109-8FE1FD9A5A06}" type="slidenum">
              <a:rPr lang="fr-CA">
                <a:solidFill>
                  <a:srgbClr val="8CADAE">
                    <a:shade val="75000"/>
                  </a:srgbClr>
                </a:solidFill>
              </a:rPr>
              <a:pPr>
                <a:defRPr/>
              </a:pPr>
              <a:t>41</a:t>
            </a:fld>
            <a:endParaRPr lang="fr-CA">
              <a:solidFill>
                <a:srgbClr val="8CADAE">
                  <a:shade val="75000"/>
                </a:srgb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CEB2D-E5DD-43B7-BDEE-90F6118807C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78395" y="1749757"/>
            <a:ext cx="11449272" cy="4903364"/>
          </a:xfrm>
        </p:spPr>
        <p:txBody>
          <a:bodyPr>
            <a:normAutofit fontScale="77500" lnSpcReduction="20000"/>
          </a:bodyPr>
          <a:lstStyle/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La </a:t>
            </a:r>
            <a:r>
              <a:rPr lang="en-US" dirty="0" err="1">
                <a:latin typeface="+mj-lt"/>
              </a:rPr>
              <a:t>valeur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actuelle</a:t>
            </a:r>
            <a:r>
              <a:rPr lang="en-US" dirty="0">
                <a:latin typeface="+mj-lt"/>
              </a:rPr>
              <a:t> (VA) = 964,84, ce qui est </a:t>
            </a:r>
            <a:r>
              <a:rPr lang="en-US" b="1" dirty="0">
                <a:latin typeface="+mj-lt"/>
              </a:rPr>
              <a:t>incorrect </a:t>
            </a:r>
            <a:r>
              <a:rPr lang="en-US" dirty="0">
                <a:latin typeface="+mj-lt"/>
              </a:rPr>
              <a:t>(n = 8,5).</a:t>
            </a:r>
          </a:p>
          <a:p>
            <a:r>
              <a:rPr lang="en-US" dirty="0">
                <a:latin typeface="+mj-lt"/>
              </a:rPr>
              <a:t>La </a:t>
            </a:r>
            <a:r>
              <a:rPr lang="en-US" dirty="0" err="1">
                <a:latin typeface="+mj-lt"/>
              </a:rPr>
              <a:t>valeur</a:t>
            </a:r>
            <a:r>
              <a:rPr lang="en-US" b="1" dirty="0">
                <a:latin typeface="+mj-lt"/>
              </a:rPr>
              <a:t> </a:t>
            </a:r>
            <a:r>
              <a:rPr lang="en-US" b="1" dirty="0" err="1">
                <a:latin typeface="+mj-lt"/>
              </a:rPr>
              <a:t>adéquate</a:t>
            </a:r>
            <a:r>
              <a:rPr lang="en-US" b="1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est</a:t>
            </a:r>
            <a:r>
              <a:rPr lang="en-US" dirty="0">
                <a:latin typeface="+mj-lt"/>
              </a:rPr>
              <a:t> VA = 974,85 avec n=9 et ensuite </a:t>
            </a:r>
            <a:r>
              <a:rPr lang="en-US" dirty="0" err="1">
                <a:latin typeface="+mj-lt"/>
              </a:rPr>
              <a:t>capitalisation</a:t>
            </a:r>
            <a:r>
              <a:rPr lang="en-US" dirty="0">
                <a:latin typeface="+mj-lt"/>
              </a:rPr>
              <a:t> de 3 </a:t>
            </a:r>
            <a:r>
              <a:rPr lang="en-US" dirty="0" err="1">
                <a:latin typeface="+mj-lt"/>
              </a:rPr>
              <a:t>mois</a:t>
            </a:r>
            <a:r>
              <a:rPr lang="en-US" dirty="0">
                <a:latin typeface="+mj-lt"/>
              </a:rPr>
              <a:t>.</a:t>
            </a:r>
          </a:p>
          <a:p>
            <a:endParaRPr lang="en-US" dirty="0">
              <a:latin typeface="+mj-lt"/>
            </a:endParaRPr>
          </a:p>
          <a:p>
            <a:r>
              <a:rPr lang="en-US" b="1" dirty="0">
                <a:latin typeface="+mj-lt"/>
              </a:rPr>
              <a:t>Points clés</a:t>
            </a:r>
          </a:p>
          <a:p>
            <a:pPr lvl="1">
              <a:buFont typeface="+mj-lt"/>
              <a:buAutoNum type="arabicPeriod"/>
            </a:pPr>
            <a:r>
              <a:rPr lang="en-US" b="1" dirty="0">
                <a:latin typeface="+mj-lt"/>
              </a:rPr>
              <a:t>Nombres entiers uniquement :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Les exposants doivent correspondre à des périodes complètes afin de refléter avec précision les FMs</a:t>
            </a:r>
          </a:p>
          <a:p>
            <a:pPr lvl="1">
              <a:buFont typeface="+mj-lt"/>
              <a:buAutoNum type="arabicPeriod"/>
            </a:pPr>
            <a:r>
              <a:rPr lang="en-US" b="1" dirty="0">
                <a:latin typeface="+mj-lt"/>
              </a:rPr>
              <a:t>Les exposants fractionnaires ne fonctionnent pas :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Ils supposent que les FMs se produisent à mi-parcours des périodes, ce qui est incompatible avec les calendriers de paiement des obligations.</a:t>
            </a:r>
          </a:p>
          <a:p>
            <a:pPr lvl="1">
              <a:buFont typeface="+mj-lt"/>
              <a:buAutoNum type="arabicPeriod"/>
            </a:pPr>
            <a:r>
              <a:rPr lang="en-US" b="1" dirty="0">
                <a:latin typeface="+mj-lt"/>
              </a:rPr>
              <a:t>Ajustement pour les périodes partielles :</a:t>
            </a:r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Utilisez la </a:t>
            </a:r>
            <a:r>
              <a:rPr lang="en-US" dirty="0" err="1">
                <a:latin typeface="+mj-lt"/>
              </a:rPr>
              <a:t>capitalisation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en</a:t>
            </a:r>
            <a:r>
              <a:rPr lang="en-US" dirty="0">
                <a:latin typeface="+mj-lt"/>
              </a:rPr>
              <a:t> dehors des périodes complètes.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GB" dirty="0">
              <a:latin typeface="+mj-lt"/>
            </a:endParaRPr>
          </a:p>
          <a:p>
            <a:pPr marL="0" indent="0">
              <a:buNone/>
            </a:pPr>
            <a:endParaRPr lang="en-GB" sz="3500" dirty="0">
              <a:solidFill>
                <a:srgbClr val="FF0000"/>
              </a:solidFill>
              <a:latin typeface="+mj-lt"/>
            </a:endParaRPr>
          </a:p>
          <a:p>
            <a:pPr marL="0" indent="0">
              <a:buNone/>
            </a:pPr>
            <a:endParaRPr lang="en-GB" sz="3500" dirty="0">
              <a:latin typeface="+mj-lt"/>
            </a:endParaRPr>
          </a:p>
        </p:txBody>
      </p:sp>
      <p:sp>
        <p:nvSpPr>
          <p:cNvPr id="28" name="Multiplication Sign 27">
            <a:extLst>
              <a:ext uri="{FF2B5EF4-FFF2-40B4-BE49-F238E27FC236}">
                <a16:creationId xmlns:a16="http://schemas.microsoft.com/office/drawing/2014/main" id="{4AF8743C-E4C9-D4A0-24EC-BEFD3F61E062}"/>
              </a:ext>
            </a:extLst>
          </p:cNvPr>
          <p:cNvSpPr/>
          <p:nvPr/>
        </p:nvSpPr>
        <p:spPr>
          <a:xfrm>
            <a:off x="7957061" y="1036638"/>
            <a:ext cx="2858741" cy="2086943"/>
          </a:xfrm>
          <a:prstGeom prst="mathMultiply">
            <a:avLst/>
          </a:prstGeom>
          <a:solidFill>
            <a:srgbClr val="FF0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92935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6B2AC1-F903-4757-88D7-6C549C3DC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Problème supplémentaire 1 : Évaluation entre deux dates de coupon</a:t>
            </a:r>
            <a:br>
              <a:rPr lang="fr-CA" dirty="0"/>
            </a:br>
            <a:r>
              <a:rPr lang="fr-CA" dirty="0"/>
              <a:t>© Marie-Hélène Allard    </a:t>
            </a:r>
            <a:r>
              <a:rPr lang="fr-CA" sz="3200" dirty="0">
                <a:solidFill>
                  <a:srgbClr val="FF0000"/>
                </a:solidFill>
                <a:latin typeface="Bradley Hand ITC" panose="03070402050302030203" pitchFamily="66" charset="0"/>
              </a:rPr>
              <a:t>Méthode prof</a:t>
            </a:r>
            <a:endParaRPr lang="fr-FR" dirty="0">
              <a:solidFill>
                <a:srgbClr val="FF0000"/>
              </a:solidFill>
              <a:latin typeface="Bradley Hand ITC" panose="03070402050302030203" pitchFamily="66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E1E24E-A553-4CAF-A53F-8D8B9CF6A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sz="2400" dirty="0"/>
              <a:t>Le dernier coupon </a:t>
            </a:r>
            <a:r>
              <a:rPr lang="fr-CA" sz="2400" dirty="0" err="1"/>
              <a:t>a été payé il y a </a:t>
            </a:r>
            <a:r>
              <a:rPr lang="fr-CA" sz="2400" dirty="0"/>
              <a:t>un </a:t>
            </a:r>
            <a:r>
              <a:rPr lang="fr-CA" sz="2400" dirty="0" err="1"/>
              <a:t>mois</a:t>
            </a:r>
            <a:r>
              <a:rPr lang="fr-CA" sz="2400" dirty="0"/>
              <a:t>. </a:t>
            </a:r>
            <a:r>
              <a:rPr lang="fr-CA" sz="2400" dirty="0" err="1"/>
              <a:t>Quel est </a:t>
            </a:r>
            <a:r>
              <a:rPr lang="fr-CA" sz="2400" dirty="0"/>
              <a:t>le </a:t>
            </a:r>
            <a:r>
              <a:rPr lang="fr-CA" sz="2400" dirty="0" err="1"/>
              <a:t>prix actuel </a:t>
            </a:r>
            <a:r>
              <a:rPr lang="fr-CA" sz="2400" dirty="0"/>
              <a:t>de </a:t>
            </a:r>
            <a:r>
              <a:rPr lang="fr-CA" sz="2400" dirty="0" err="1"/>
              <a:t>cette </a:t>
            </a:r>
            <a:r>
              <a:rPr lang="fr-CA" sz="2400" dirty="0"/>
              <a:t>obligation si 9 coupons </a:t>
            </a:r>
            <a:r>
              <a:rPr lang="fr-CA" sz="2400" dirty="0" err="1"/>
              <a:t>restent à payer</a:t>
            </a:r>
            <a:r>
              <a:rPr lang="fr-CA" sz="2400" dirty="0"/>
              <a:t>, que le taux d'intérêt nominal </a:t>
            </a:r>
            <a:r>
              <a:rPr lang="fr-CA" sz="2400" dirty="0" err="1"/>
              <a:t>est </a:t>
            </a:r>
            <a:r>
              <a:rPr lang="fr-CA" sz="2400" dirty="0"/>
              <a:t>de 8 % et que le taux d'actualisation </a:t>
            </a:r>
            <a:r>
              <a:rPr lang="fr-CA" sz="2400" dirty="0" err="1"/>
              <a:t>est de</a:t>
            </a:r>
            <a:r>
              <a:rPr lang="fr-CA" sz="2400" dirty="0"/>
              <a:t> 5 % ? </a:t>
            </a:r>
          </a:p>
          <a:p>
            <a:endParaRPr lang="fr-CA" sz="1800" dirty="0"/>
          </a:p>
          <a:p>
            <a:endParaRPr lang="fr-CA" sz="1800" dirty="0"/>
          </a:p>
          <a:p>
            <a:pPr marL="0" indent="0">
              <a:buNone/>
            </a:pPr>
            <a:endParaRPr lang="fr-CA" sz="1800" dirty="0"/>
          </a:p>
          <a:p>
            <a:endParaRPr lang="fr-FR" sz="1800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F77CF154-0B4F-467A-8645-F760233AE0E1}"/>
              </a:ext>
            </a:extLst>
          </p:cNvPr>
          <p:cNvCxnSpPr/>
          <p:nvPr/>
        </p:nvCxnSpPr>
        <p:spPr>
          <a:xfrm>
            <a:off x="2207569" y="4170745"/>
            <a:ext cx="78488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F7C0358D-2727-4F49-8EF2-AB2A76096938}"/>
              </a:ext>
            </a:extLst>
          </p:cNvPr>
          <p:cNvCxnSpPr/>
          <p:nvPr/>
        </p:nvCxnSpPr>
        <p:spPr>
          <a:xfrm>
            <a:off x="2495600" y="3997475"/>
            <a:ext cx="0" cy="288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F0396965-36D3-431B-B1E5-2D47E86E78A0}"/>
              </a:ext>
            </a:extLst>
          </p:cNvPr>
          <p:cNvCxnSpPr/>
          <p:nvPr/>
        </p:nvCxnSpPr>
        <p:spPr>
          <a:xfrm>
            <a:off x="3287688" y="3997475"/>
            <a:ext cx="0" cy="288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7A3981A-F4C9-416B-9D66-77BFB56F481A}"/>
              </a:ext>
            </a:extLst>
          </p:cNvPr>
          <p:cNvCxnSpPr/>
          <p:nvPr/>
        </p:nvCxnSpPr>
        <p:spPr>
          <a:xfrm>
            <a:off x="4079776" y="4028423"/>
            <a:ext cx="0" cy="288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8BBA8885-11DD-49BC-A195-B070F082BDA7}"/>
              </a:ext>
            </a:extLst>
          </p:cNvPr>
          <p:cNvCxnSpPr/>
          <p:nvPr/>
        </p:nvCxnSpPr>
        <p:spPr>
          <a:xfrm>
            <a:off x="4871864" y="3990215"/>
            <a:ext cx="0" cy="288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F6C2CB74-B9D1-4A01-A20E-87403759F293}"/>
              </a:ext>
            </a:extLst>
          </p:cNvPr>
          <p:cNvCxnSpPr/>
          <p:nvPr/>
        </p:nvCxnSpPr>
        <p:spPr>
          <a:xfrm>
            <a:off x="5663952" y="3990215"/>
            <a:ext cx="0" cy="288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6AC5EBB4-4CA8-40C7-9059-588FFC3F167D}"/>
              </a:ext>
            </a:extLst>
          </p:cNvPr>
          <p:cNvCxnSpPr/>
          <p:nvPr/>
        </p:nvCxnSpPr>
        <p:spPr>
          <a:xfrm>
            <a:off x="6456040" y="3990215"/>
            <a:ext cx="0" cy="288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42F64707-01FF-4A48-885A-F25A380E8EAB}"/>
              </a:ext>
            </a:extLst>
          </p:cNvPr>
          <p:cNvCxnSpPr/>
          <p:nvPr/>
        </p:nvCxnSpPr>
        <p:spPr>
          <a:xfrm>
            <a:off x="7248128" y="3997475"/>
            <a:ext cx="0" cy="288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0DAF528-348C-4C05-9ED8-172188367724}"/>
              </a:ext>
            </a:extLst>
          </p:cNvPr>
          <p:cNvCxnSpPr/>
          <p:nvPr/>
        </p:nvCxnSpPr>
        <p:spPr>
          <a:xfrm>
            <a:off x="7968208" y="3990215"/>
            <a:ext cx="0" cy="288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0564A189-2A44-42AD-87B4-F918D7BB96CE}"/>
              </a:ext>
            </a:extLst>
          </p:cNvPr>
          <p:cNvCxnSpPr/>
          <p:nvPr/>
        </p:nvCxnSpPr>
        <p:spPr>
          <a:xfrm>
            <a:off x="8688288" y="3997475"/>
            <a:ext cx="0" cy="288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EC40A014-4A9F-4523-94F7-A2F70E07E65F}"/>
              </a:ext>
            </a:extLst>
          </p:cNvPr>
          <p:cNvCxnSpPr/>
          <p:nvPr/>
        </p:nvCxnSpPr>
        <p:spPr>
          <a:xfrm>
            <a:off x="9408368" y="4028423"/>
            <a:ext cx="0" cy="2880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Flèche : bas 18">
            <a:extLst>
              <a:ext uri="{FF2B5EF4-FFF2-40B4-BE49-F238E27FC236}">
                <a16:creationId xmlns:a16="http://schemas.microsoft.com/office/drawing/2014/main" id="{5527F178-291E-4138-8E86-81CD1D4A815C}"/>
              </a:ext>
            </a:extLst>
          </p:cNvPr>
          <p:cNvSpPr/>
          <p:nvPr/>
        </p:nvSpPr>
        <p:spPr>
          <a:xfrm>
            <a:off x="2592538" y="3603214"/>
            <a:ext cx="144011" cy="540555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8" fontAlgn="auto">
              <a:spcBef>
                <a:spcPts val="0"/>
              </a:spcBef>
              <a:spcAft>
                <a:spcPts val="0"/>
              </a:spcAft>
            </a:pPr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D52FF861-0481-49A2-9064-16495331D207}"/>
              </a:ext>
            </a:extLst>
          </p:cNvPr>
          <p:cNvSpPr/>
          <p:nvPr/>
        </p:nvSpPr>
        <p:spPr>
          <a:xfrm>
            <a:off x="2207571" y="3306649"/>
            <a:ext cx="1224135" cy="296560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378" fontAlgn="auto">
              <a:spcBef>
                <a:spcPts val="0"/>
              </a:spcBef>
              <a:spcAft>
                <a:spcPts val="0"/>
              </a:spcAft>
            </a:pPr>
            <a:endParaRPr lang="fr-FR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6922E77-E8D3-4A9E-947E-C916B54AD01C}"/>
              </a:ext>
            </a:extLst>
          </p:cNvPr>
          <p:cNvSpPr txBox="1"/>
          <p:nvPr/>
        </p:nvSpPr>
        <p:spPr>
          <a:xfrm>
            <a:off x="2351580" y="3329908"/>
            <a:ext cx="1008117" cy="24632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70000" lnSpcReduction="20000"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</a:pPr>
            <a:r>
              <a:rPr lang="fr-CA" sz="1670" dirty="0">
                <a:solidFill>
                  <a:srgbClr val="000000"/>
                </a:solidFill>
                <a:latin typeface="Arial" panose="020B0604020202020204"/>
              </a:rPr>
              <a:t>Aujourd'hui</a:t>
            </a:r>
            <a:endParaRPr lang="fr-FR" sz="167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705FC47-AF84-46D1-89C8-7FA6A855B4D9}"/>
              </a:ext>
            </a:extLst>
          </p:cNvPr>
          <p:cNvSpPr txBox="1"/>
          <p:nvPr/>
        </p:nvSpPr>
        <p:spPr>
          <a:xfrm>
            <a:off x="3071664" y="4386769"/>
            <a:ext cx="432042" cy="35146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</a:pPr>
            <a:r>
              <a:rPr lang="fr-CA" sz="1670" dirty="0">
                <a:solidFill>
                  <a:srgbClr val="000000"/>
                </a:solidFill>
                <a:latin typeface="Arial" panose="020B0604020202020204"/>
              </a:rPr>
              <a:t>40</a:t>
            </a:r>
            <a:endParaRPr lang="fr-FR" sz="167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21C8196-B97D-40A3-A650-F8995A4D206A}"/>
              </a:ext>
            </a:extLst>
          </p:cNvPr>
          <p:cNvSpPr txBox="1"/>
          <p:nvPr/>
        </p:nvSpPr>
        <p:spPr>
          <a:xfrm>
            <a:off x="3894460" y="4386770"/>
            <a:ext cx="370634" cy="351464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</a:pPr>
            <a:r>
              <a:rPr lang="fr-CA" sz="1670" dirty="0">
                <a:solidFill>
                  <a:srgbClr val="000000"/>
                </a:solidFill>
                <a:latin typeface="Arial" panose="020B0604020202020204"/>
              </a:rPr>
              <a:t>40</a:t>
            </a:r>
            <a:endParaRPr lang="fr-FR" sz="167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C719CE90-28A3-49F0-BC9C-C9FCEF064C53}"/>
              </a:ext>
            </a:extLst>
          </p:cNvPr>
          <p:cNvSpPr txBox="1"/>
          <p:nvPr/>
        </p:nvSpPr>
        <p:spPr>
          <a:xfrm>
            <a:off x="4655848" y="4386770"/>
            <a:ext cx="370634" cy="351464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</a:pPr>
            <a:r>
              <a:rPr lang="fr-CA" sz="1670" dirty="0">
                <a:solidFill>
                  <a:srgbClr val="000000"/>
                </a:solidFill>
                <a:latin typeface="Arial" panose="020B0604020202020204"/>
              </a:rPr>
              <a:t>40</a:t>
            </a:r>
            <a:endParaRPr lang="fr-FR" sz="167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7F20179-94FD-4FAE-95A1-BB22EDA7FDDD}"/>
              </a:ext>
            </a:extLst>
          </p:cNvPr>
          <p:cNvSpPr txBox="1"/>
          <p:nvPr/>
        </p:nvSpPr>
        <p:spPr>
          <a:xfrm>
            <a:off x="5466397" y="4407677"/>
            <a:ext cx="370634" cy="351464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</a:pPr>
            <a:r>
              <a:rPr lang="fr-CA" sz="1670" dirty="0">
                <a:solidFill>
                  <a:srgbClr val="000000"/>
                </a:solidFill>
                <a:latin typeface="Arial" panose="020B0604020202020204"/>
              </a:rPr>
              <a:t>40</a:t>
            </a:r>
            <a:endParaRPr lang="fr-FR" sz="167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C50CEEC-9930-4177-9B14-F9E2E51FFF6C}"/>
              </a:ext>
            </a:extLst>
          </p:cNvPr>
          <p:cNvSpPr txBox="1"/>
          <p:nvPr/>
        </p:nvSpPr>
        <p:spPr>
          <a:xfrm>
            <a:off x="6169657" y="4384514"/>
            <a:ext cx="370634" cy="351464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</a:pPr>
            <a:r>
              <a:rPr lang="fr-CA" sz="1670" dirty="0">
                <a:solidFill>
                  <a:srgbClr val="000000"/>
                </a:solidFill>
                <a:latin typeface="Arial" panose="020B0604020202020204"/>
              </a:rPr>
              <a:t>40</a:t>
            </a:r>
            <a:endParaRPr lang="fr-FR" sz="167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ED07CA3-E2EE-4957-899E-9DBA2AE51623}"/>
              </a:ext>
            </a:extLst>
          </p:cNvPr>
          <p:cNvSpPr txBox="1"/>
          <p:nvPr/>
        </p:nvSpPr>
        <p:spPr>
          <a:xfrm>
            <a:off x="6998797" y="4363238"/>
            <a:ext cx="370634" cy="351464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</a:pPr>
            <a:r>
              <a:rPr lang="fr-CA" sz="1670" dirty="0">
                <a:solidFill>
                  <a:srgbClr val="000000"/>
                </a:solidFill>
                <a:latin typeface="Arial" panose="020B0604020202020204"/>
              </a:rPr>
              <a:t>40</a:t>
            </a:r>
            <a:endParaRPr lang="fr-FR" sz="167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4F400AB3-799E-4A95-A955-693596CCE095}"/>
              </a:ext>
            </a:extLst>
          </p:cNvPr>
          <p:cNvSpPr txBox="1"/>
          <p:nvPr/>
        </p:nvSpPr>
        <p:spPr>
          <a:xfrm>
            <a:off x="7782892" y="4363238"/>
            <a:ext cx="370634" cy="351464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</a:pPr>
            <a:r>
              <a:rPr lang="fr-CA" sz="1670" dirty="0">
                <a:solidFill>
                  <a:srgbClr val="000000"/>
                </a:solidFill>
                <a:latin typeface="Arial" panose="020B0604020202020204"/>
              </a:rPr>
              <a:t>40</a:t>
            </a:r>
            <a:endParaRPr lang="fr-FR" sz="167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224ECDD-D475-4A69-BC6A-32C9BFD7181F}"/>
              </a:ext>
            </a:extLst>
          </p:cNvPr>
          <p:cNvSpPr txBox="1"/>
          <p:nvPr/>
        </p:nvSpPr>
        <p:spPr>
          <a:xfrm>
            <a:off x="8490076" y="4384514"/>
            <a:ext cx="370634" cy="351464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</a:pPr>
            <a:r>
              <a:rPr lang="fr-CA" sz="1670" dirty="0">
                <a:solidFill>
                  <a:srgbClr val="000000"/>
                </a:solidFill>
                <a:latin typeface="Arial" panose="020B0604020202020204"/>
              </a:rPr>
              <a:t>40</a:t>
            </a:r>
            <a:endParaRPr lang="fr-FR" sz="167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4F82B01-2371-449E-BD6D-09B1D798791D}"/>
              </a:ext>
            </a:extLst>
          </p:cNvPr>
          <p:cNvSpPr txBox="1"/>
          <p:nvPr/>
        </p:nvSpPr>
        <p:spPr>
          <a:xfrm>
            <a:off x="9256102" y="4384514"/>
            <a:ext cx="370634" cy="351464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</a:pPr>
            <a:r>
              <a:rPr lang="fr-CA" sz="1670" dirty="0">
                <a:solidFill>
                  <a:srgbClr val="000000"/>
                </a:solidFill>
                <a:latin typeface="Arial" panose="020B0604020202020204"/>
              </a:rPr>
              <a:t>40</a:t>
            </a:r>
            <a:endParaRPr lang="fr-FR" sz="1670" dirty="0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2835F23-C9C7-4DAD-9955-B2A91A4D9FCC}"/>
              </a:ext>
            </a:extLst>
          </p:cNvPr>
          <p:cNvSpPr txBox="1"/>
          <p:nvPr/>
        </p:nvSpPr>
        <p:spPr>
          <a:xfrm>
            <a:off x="9256102" y="4733720"/>
            <a:ext cx="933098" cy="351464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</a:pPr>
            <a:r>
              <a:rPr lang="fr-CA" sz="1670" dirty="0">
                <a:solidFill>
                  <a:srgbClr val="000000"/>
                </a:solidFill>
                <a:latin typeface="Arial" panose="020B0604020202020204"/>
              </a:rPr>
              <a:t>1000</a:t>
            </a:r>
            <a:endParaRPr lang="fr-FR" sz="1670" dirty="0">
              <a:solidFill>
                <a:srgbClr val="000000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5283035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6B2AC1-F903-4757-88D7-6C549C3DC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Problème 1 : Évaluation entre deux dates de coupon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E1E24E-A553-4CAF-A53F-8D8B9CF6A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fr-CA" sz="2400" dirty="0"/>
              <a:t>Étape 1 : Trouvez le prix ou la valeur à la date du coupon précédent.</a:t>
            </a:r>
          </a:p>
          <a:p>
            <a:pPr marL="0" indent="0">
              <a:buNone/>
            </a:pPr>
            <a:endParaRPr lang="fr-CA" dirty="0"/>
          </a:p>
          <a:p>
            <a:endParaRPr lang="fr-FR" dirty="0"/>
          </a:p>
        </p:txBody>
      </p:sp>
      <p:sp>
        <p:nvSpPr>
          <p:cNvPr id="6" name="Object 29">
            <a:extLst>
              <a:ext uri="{FF2B5EF4-FFF2-40B4-BE49-F238E27FC236}">
                <a16:creationId xmlns:a16="http://schemas.microsoft.com/office/drawing/2014/main" id="{9A613E25-6253-40B9-AD86-7BDB984C9456}"/>
              </a:ext>
            </a:extLst>
          </p:cNvPr>
          <p:cNvSpPr txBox="1"/>
          <p:nvPr/>
        </p:nvSpPr>
        <p:spPr bwMode="auto">
          <a:xfrm>
            <a:off x="5231905" y="2331777"/>
            <a:ext cx="6624587" cy="889046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</a:pPr>
            <a:r>
              <a:rPr lang="fr-FR" sz="1600" dirty="0">
                <a:solidFill>
                  <a:srgbClr val="000000"/>
                </a:solidFill>
                <a:latin typeface="Arial" panose="020B0604020202020204"/>
              </a:rPr>
              <a:t> = 1 119,56</a:t>
            </a:r>
            <a:endParaRPr lang="fr-FR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0F3C932-90F1-4ADC-B1E2-87BE12940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317" y="3385848"/>
            <a:ext cx="6559887" cy="1860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6476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1BA116-04C2-445A-A550-550AE736C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Problème 1 : Évaluation entre deux dates de coupon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04F65F-71AC-4074-BE74-998C66164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sz="2400" dirty="0"/>
              <a:t>Étape 2 : Capitaliser à la date souhaitée</a:t>
            </a:r>
          </a:p>
          <a:p>
            <a:pPr marL="0" indent="0">
              <a:buNone/>
            </a:pPr>
            <a:endParaRPr lang="fr-CA" dirty="0"/>
          </a:p>
          <a:p>
            <a:pPr marL="0" indent="0">
              <a:buNone/>
            </a:pPr>
            <a:r>
              <a:rPr lang="fr-CA" sz="1400" dirty="0">
                <a:solidFill>
                  <a:srgbClr val="000000"/>
                </a:solidFill>
              </a:rPr>
              <a:t>	Valeur actuelle </a:t>
            </a:r>
            <a:r>
              <a:rPr lang="fr-FR" dirty="0"/>
              <a:t>= 1 124,18 $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66562" name="Picture 2">
            <a:extLst>
              <a:ext uri="{FF2B5EF4-FFF2-40B4-BE49-F238E27FC236}">
                <a16:creationId xmlns:a16="http://schemas.microsoft.com/office/drawing/2014/main" id="{5D41A636-2FB3-4745-8D66-B2517946A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673" y="3574075"/>
            <a:ext cx="4162425" cy="1326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F8A0C73-C012-4FBE-A8A1-FC040DBA8D43}"/>
              </a:ext>
            </a:extLst>
          </p:cNvPr>
          <p:cNvSpPr txBox="1"/>
          <p:nvPr/>
        </p:nvSpPr>
        <p:spPr>
          <a:xfrm>
            <a:off x="3287689" y="4900826"/>
            <a:ext cx="720080" cy="3807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70000" lnSpcReduction="20000"/>
          </a:bodyPr>
          <a:lstStyle/>
          <a:p>
            <a:pPr defTabSz="914378" fontAlgn="auto">
              <a:spcBef>
                <a:spcPts val="0"/>
              </a:spcBef>
              <a:spcAft>
                <a:spcPts val="0"/>
              </a:spcAft>
              <a:buClr>
                <a:srgbClr val="003C71"/>
              </a:buClr>
              <a:buSzPct val="125000"/>
            </a:pPr>
            <a:r>
              <a:rPr lang="fr-CA" sz="1670" dirty="0">
                <a:solidFill>
                  <a:srgbClr val="000000"/>
                </a:solidFill>
                <a:latin typeface="Arial" panose="020B0604020202020204"/>
              </a:rPr>
              <a:t>1119,56</a:t>
            </a:r>
            <a:endParaRPr lang="fr-FR" sz="1670" dirty="0">
              <a:solidFill>
                <a:srgbClr val="000000"/>
              </a:solidFill>
              <a:latin typeface="Arial" panose="020B0604020202020204"/>
            </a:endParaRPr>
          </a:p>
        </p:txBody>
      </p:sp>
      <p:cxnSp>
        <p:nvCxnSpPr>
          <p:cNvPr id="7" name="Connecteur : en arc 6">
            <a:extLst>
              <a:ext uri="{FF2B5EF4-FFF2-40B4-BE49-F238E27FC236}">
                <a16:creationId xmlns:a16="http://schemas.microsoft.com/office/drawing/2014/main" id="{9DA02302-F80B-4884-88B4-8F6767884460}"/>
              </a:ext>
            </a:extLst>
          </p:cNvPr>
          <p:cNvCxnSpPr/>
          <p:nvPr/>
        </p:nvCxnSpPr>
        <p:spPr>
          <a:xfrm rot="5400000" flipH="1" flipV="1">
            <a:off x="3581137" y="4791736"/>
            <a:ext cx="421214" cy="288032"/>
          </a:xfrm>
          <a:prstGeom prst="curvedConnector3">
            <a:avLst>
              <a:gd name="adj1" fmla="val -10323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8304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8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3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6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7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9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 nouveau 2024 v3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nouveau 2024 v3" id="{E9EE394B-11A2-4972-97DD-70F5505EE67A}" vid="{B6E295EC-CFD5-4099-AC90-43DE5FAA0485}"/>
    </a:ext>
  </a:extLst>
</a:theme>
</file>

<file path=ppt/theme/theme2.xml><?xml version="1.0" encoding="utf-8"?>
<a:theme xmlns:a="http://schemas.openxmlformats.org/drawingml/2006/main" name="1_Civil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eme1">
  <a:themeElements>
    <a:clrScheme name="Custom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EABAB"/>
      </a:accent1>
      <a:accent2>
        <a:srgbClr val="70AD47"/>
      </a:accent2>
      <a:accent3>
        <a:srgbClr val="8EAADB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4.xml><?xml version="1.0" encoding="utf-8"?>
<a:theme xmlns:a="http://schemas.openxmlformats.org/drawingml/2006/main" name="1_Theme1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1F497D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5.xml><?xml version="1.0" encoding="utf-8"?>
<a:theme xmlns:a="http://schemas.openxmlformats.org/drawingml/2006/main" name="2_Theme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6.xml><?xml version="1.0" encoding="utf-8"?>
<a:theme xmlns:a="http://schemas.openxmlformats.org/drawingml/2006/main" name="3_Theme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7.xml><?xml version="1.0" encoding="utf-8"?>
<a:theme xmlns:a="http://schemas.openxmlformats.org/drawingml/2006/main" name="theme nouveau 2024 v2">
  <a:themeElements>
    <a:clrScheme name="Custom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EABAB"/>
      </a:accent1>
      <a:accent2>
        <a:srgbClr val="70AD47"/>
      </a:accent2>
      <a:accent3>
        <a:srgbClr val="8EAADB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 nouveau 2024 v2" id="{80D6775C-FE4E-4DA0-8FFC-73D90771A4C7}" vid="{D02DAE52-BF4B-4B74-BF16-773B52978150}"/>
    </a:ext>
  </a:extLst>
</a:theme>
</file>

<file path=ppt/theme/theme8.xml><?xml version="1.0" encoding="utf-8"?>
<a:theme xmlns:a="http://schemas.openxmlformats.org/drawingml/2006/main" name="Thème HEC">
  <a:themeElements>
    <a:clrScheme name="HEC2">
      <a:dk1>
        <a:srgbClr val="000000"/>
      </a:dk1>
      <a:lt1>
        <a:srgbClr val="FFFFFF"/>
      </a:lt1>
      <a:dk2>
        <a:srgbClr val="97999B"/>
      </a:dk2>
      <a:lt2>
        <a:srgbClr val="EFF0F0"/>
      </a:lt2>
      <a:accent1>
        <a:srgbClr val="009FDF"/>
      </a:accent1>
      <a:accent2>
        <a:srgbClr val="003C71"/>
      </a:accent2>
      <a:accent3>
        <a:srgbClr val="D40F7D"/>
      </a:accent3>
      <a:accent4>
        <a:srgbClr val="FE5000"/>
      </a:accent4>
      <a:accent5>
        <a:srgbClr val="00C1D5"/>
      </a:accent5>
      <a:accent6>
        <a:srgbClr val="005EB8"/>
      </a:accent6>
      <a:hlink>
        <a:srgbClr val="003C71"/>
      </a:hlink>
      <a:folHlink>
        <a:srgbClr val="9678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1440" tIns="45720" rIns="91440" bIns="45720" rtlCol="0">
        <a:normAutofit/>
      </a:bodyPr>
      <a:lstStyle>
        <a:defPPr marL="154800" indent="-154800">
          <a:buClr>
            <a:schemeClr val="accent2"/>
          </a:buClr>
          <a:buSzPct val="125000"/>
          <a:buFont typeface="Arial" panose="020B0604020202020204" pitchFamily="34" charset="0"/>
          <a:buChar char="•"/>
          <a:defRPr sz="167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A54F02C9-6C04-8941-98AF-7C66FC1B9807}" vid="{378BFC92-88BE-C343-AA7D-4E1AA329E8F6}"/>
    </a:ext>
  </a:extLst>
</a:theme>
</file>

<file path=ppt/theme/theme9.xml><?xml version="1.0" encoding="utf-8"?>
<a:theme xmlns:a="http://schemas.openxmlformats.org/drawingml/2006/main" name="4_Theme1">
  <a:themeElements>
    <a:clrScheme name="Custom 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EABAB"/>
      </a:accent1>
      <a:accent2>
        <a:srgbClr val="70AD47"/>
      </a:accent2>
      <a:accent3>
        <a:srgbClr val="8EAADB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10.xml><?xml version="1.0" encoding="utf-8"?>
<a:theme xmlns:a="http://schemas.openxmlformats.org/drawingml/2006/main" name="8_Theme1">
  <a:themeElements>
    <a:clrScheme name="Custom 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1F497D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1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 nouveau 2024 v3</Template>
  <TotalTime>4520</TotalTime>
  <Words>3434</Words>
  <Application>Microsoft Office PowerPoint</Application>
  <PresentationFormat>Widescreen</PresentationFormat>
  <Paragraphs>545</Paragraphs>
  <Slides>44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44</vt:i4>
      </vt:variant>
    </vt:vector>
  </HeadingPairs>
  <TitlesOfParts>
    <vt:vector size="64" baseType="lpstr">
      <vt:lpstr>Amasis MT Pro Light</vt:lpstr>
      <vt:lpstr>Arial</vt:lpstr>
      <vt:lpstr>Bradley Hand ITC</vt:lpstr>
      <vt:lpstr>Calibri</vt:lpstr>
      <vt:lpstr>Cambria Math</vt:lpstr>
      <vt:lpstr>Courier New</vt:lpstr>
      <vt:lpstr>Georgia</vt:lpstr>
      <vt:lpstr>Ink Free</vt:lpstr>
      <vt:lpstr>Wingdings</vt:lpstr>
      <vt:lpstr>Wingdings 2</vt:lpstr>
      <vt:lpstr>theme nouveau 2024 v3</vt:lpstr>
      <vt:lpstr>1_Civil</vt:lpstr>
      <vt:lpstr>Theme1</vt:lpstr>
      <vt:lpstr>1_Theme1</vt:lpstr>
      <vt:lpstr>2_Theme1</vt:lpstr>
      <vt:lpstr>3_Theme1</vt:lpstr>
      <vt:lpstr>theme nouveau 2024 v2</vt:lpstr>
      <vt:lpstr>Thème HEC</vt:lpstr>
      <vt:lpstr>4_Theme1</vt:lpstr>
      <vt:lpstr>8_Theme1</vt:lpstr>
      <vt:lpstr>10200 Finance</vt:lpstr>
      <vt:lpstr>Qu'avons-nous vu dans la séance 3 ?</vt:lpstr>
      <vt:lpstr>Rappel…</vt:lpstr>
      <vt:lpstr>A – Évaluation hypothécaire  (✅non présent dans les capsules mais matière à examen)</vt:lpstr>
      <vt:lpstr>Diagramme temporel</vt:lpstr>
      <vt:lpstr>Caractéristiques</vt:lpstr>
      <vt:lpstr>Évaluation</vt:lpstr>
      <vt:lpstr>Donc…à retenir</vt:lpstr>
      <vt:lpstr>Exemple : Hypothèque</vt:lpstr>
      <vt:lpstr>Exemple  suite…</vt:lpstr>
      <vt:lpstr>PowerPoint Presentation</vt:lpstr>
      <vt:lpstr>B - Obligations : Récapitulatif</vt:lpstr>
      <vt:lpstr>Définition et caractéristiques</vt:lpstr>
      <vt:lpstr>Formule d'évaluation des obligations</vt:lpstr>
      <vt:lpstr>Donc…à retenir</vt:lpstr>
      <vt:lpstr>Relation inverse entre le prix et le RAÉ</vt:lpstr>
      <vt:lpstr>Relation graphique entre le prix et le rendement à l'échéance</vt:lpstr>
      <vt:lpstr>Obligations à prime, à escompte et au pair</vt:lpstr>
      <vt:lpstr>Exemple : évaluation d'une obligation conventionnelle</vt:lpstr>
      <vt:lpstr>Exemple : évaluation d'une obligation entre deux dates de paiement</vt:lpstr>
      <vt:lpstr>PowerPoint Presentation</vt:lpstr>
      <vt:lpstr>Obligation : autres caractéristiques</vt:lpstr>
      <vt:lpstr>C – Obligations : Facteurs de risque</vt:lpstr>
      <vt:lpstr>Risque de taux d'intérêt</vt:lpstr>
      <vt:lpstr>Exemple</vt:lpstr>
      <vt:lpstr>PowerPoint Presentation</vt:lpstr>
      <vt:lpstr>Risque de taux d'intérêt</vt:lpstr>
      <vt:lpstr>Représentation graphique de la durée</vt:lpstr>
      <vt:lpstr>Exercice 1 : problème difficile.  Obligation non conventionnelle</vt:lpstr>
      <vt:lpstr>Exercice 2 : Évaluation entre deux dates de paiement</vt:lpstr>
      <vt:lpstr>Exercice 3 : Évaluation non conventionnelle d'une obligation</vt:lpstr>
      <vt:lpstr>Lien avec la finance durable</vt:lpstr>
      <vt:lpstr>Obligations et finance durable</vt:lpstr>
      <vt:lpstr>PowerPoint Presentation</vt:lpstr>
      <vt:lpstr>Obligations et finance durable</vt:lpstr>
      <vt:lpstr>Quelques liens intéressants</vt:lpstr>
      <vt:lpstr>C'est en forgeant qu'on devient forgeron !!!</vt:lpstr>
      <vt:lpstr>PowerPoint Presentation</vt:lpstr>
      <vt:lpstr>A - Exercice 2 : Pourquoi les exposants doivent-ils être des nombres entiers dans l'évaluation des obligations ?</vt:lpstr>
      <vt:lpstr>Exercice 2 : Évaluation CORRECTE (méthode de l'enseignant)</vt:lpstr>
      <vt:lpstr>Exercice 2 : Évaluation INCORRECTE</vt:lpstr>
      <vt:lpstr>Problème supplémentaire 1 : Évaluation entre deux dates de coupon © Marie-Hélène Allard    Méthode prof</vt:lpstr>
      <vt:lpstr>Problème 1 : Évaluation entre deux dates de coupon</vt:lpstr>
      <vt:lpstr>Problème 1 : Évaluation entre deux dates de coupon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10-200</dc:title>
  <dc:creator>melanie caron-harris</dc:creator>
  <cp:keywords>, docId:A77126F26220466CF08958F190AB9E4C</cp:keywords>
  <cp:lastModifiedBy>Mélanie Caron-Harris</cp:lastModifiedBy>
  <cp:revision>87</cp:revision>
  <dcterms:created xsi:type="dcterms:W3CDTF">2020-09-21T13:52:03Z</dcterms:created>
  <dcterms:modified xsi:type="dcterms:W3CDTF">2026-09-13T14:46:58Z</dcterms:modified>
</cp:coreProperties>
</file>