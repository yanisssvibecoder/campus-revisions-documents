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1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25"/>
  </p:notesMasterIdLst>
  <p:sldIdLst>
    <p:sldId id="257" r:id="rId2"/>
    <p:sldId id="268" r:id="rId3"/>
    <p:sldId id="325" r:id="rId4"/>
    <p:sldId id="324" r:id="rId5"/>
    <p:sldId id="323" r:id="rId6"/>
    <p:sldId id="278" r:id="rId7"/>
    <p:sldId id="270" r:id="rId8"/>
    <p:sldId id="271" r:id="rId9"/>
    <p:sldId id="284" r:id="rId10"/>
    <p:sldId id="322" r:id="rId11"/>
    <p:sldId id="272" r:id="rId12"/>
    <p:sldId id="273" r:id="rId13"/>
    <p:sldId id="274" r:id="rId14"/>
    <p:sldId id="281" r:id="rId15"/>
    <p:sldId id="326" r:id="rId16"/>
    <p:sldId id="327" r:id="rId17"/>
    <p:sldId id="280" r:id="rId18"/>
    <p:sldId id="283" r:id="rId19"/>
    <p:sldId id="275" r:id="rId20"/>
    <p:sldId id="276" r:id="rId21"/>
    <p:sldId id="277" r:id="rId22"/>
    <p:sldId id="282" r:id="rId23"/>
    <p:sldId id="328" r:id="rId24"/>
  </p:sldIdLst>
  <p:sldSz cx="9144000" cy="5143500" type="screen16x9"/>
  <p:notesSz cx="6858000" cy="9144000"/>
  <p:defaultTextStyle>
    <a:defPPr>
      <a:defRPr lang="fr-CA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95" autoAdjust="0"/>
    <p:restoredTop sz="94660"/>
  </p:normalViewPr>
  <p:slideViewPr>
    <p:cSldViewPr>
      <p:cViewPr varScale="1">
        <p:scale>
          <a:sx n="99" d="100"/>
          <a:sy n="99" d="100"/>
        </p:scale>
        <p:origin x="76" y="7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2F01D-219B-4F81-AEC1-160EBD099A5E}" type="datetimeFigureOut">
              <a:rPr lang="fr-CA" smtClean="0"/>
              <a:t>2020-07-30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518EE3-F0CA-4AEA-97F7-84D67DCAB6B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71190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518EE3-F0CA-4AEA-97F7-84D67DCAB6BD}" type="slidenum">
              <a:rPr lang="fr-CA" smtClean="0"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37868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53" y="1286467"/>
            <a:ext cx="8187094" cy="342190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78800" y="1286280"/>
            <a:ext cx="5274000" cy="1312200"/>
          </a:xfrm>
          <a:solidFill>
            <a:schemeClr val="accent1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24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78800" y="2666391"/>
            <a:ext cx="5266800" cy="362102"/>
          </a:xfrm>
          <a:solidFill>
            <a:schemeClr val="accent1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200800" y="4847040"/>
            <a:ext cx="464400" cy="123120"/>
          </a:xfrm>
        </p:spPr>
        <p:txBody>
          <a:bodyPr vert="horz" lIns="91440" tIns="45720" rIns="91440" bIns="45720" rtlCol="0" anchor="ctr"/>
          <a:lstStyle>
            <a:lvl1pPr marL="0" algn="r" defTabSz="822960" rtl="0" eaLnBrk="1" latinLnBrk="0" hangingPunct="1">
              <a:defRPr lang="fr-CA" sz="603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CDC33E5-2889-4132-972F-77AA9D7031F2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7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19" y="210656"/>
            <a:ext cx="5282773" cy="734151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478452" y="4525465"/>
            <a:ext cx="5266944" cy="180050"/>
          </a:xfrm>
          <a:solidFill>
            <a:schemeClr val="accent1"/>
          </a:solidFill>
        </p:spPr>
        <p:txBody>
          <a:bodyPr/>
          <a:lstStyle>
            <a:lvl1pPr algn="l">
              <a:defRPr sz="1170" cap="all" baseline="0">
                <a:solidFill>
                  <a:schemeClr val="bg1"/>
                </a:solidFill>
              </a:defRPr>
            </a:lvl1pPr>
          </a:lstStyle>
          <a:p>
            <a:endParaRPr lang="fr-CA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82754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8800" y="431717"/>
            <a:ext cx="8186400" cy="740664"/>
          </a:xfrm>
        </p:spPr>
        <p:txBody>
          <a:bodyPr/>
          <a:lstStyle/>
          <a:p>
            <a:r>
              <a:rPr lang="fr-FR" dirty="0"/>
              <a:t>Cliquez pour modifier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8800" y="1419918"/>
            <a:ext cx="8186400" cy="286919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C1FE-574F-4352-BDBA-FDDD0D2CC756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7" name="TextBox 6"/>
          <p:cNvSpPr txBox="1"/>
          <p:nvPr/>
        </p:nvSpPr>
        <p:spPr>
          <a:xfrm>
            <a:off x="346075" y="4289108"/>
            <a:ext cx="914400" cy="822960"/>
          </a:xfrm>
          <a:prstGeom prst="rect">
            <a:avLst/>
          </a:prstGeom>
        </p:spPr>
        <p:txBody>
          <a:bodyPr vert="horz" wrap="none" lIns="82296" tIns="41148" rIns="82296" bIns="41148" rtlCol="0">
            <a:normAutofit/>
          </a:bodyPr>
          <a:lstStyle/>
          <a:p>
            <a:pPr marL="139320" indent="-13932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en-US" sz="1503" dirty="0"/>
          </a:p>
        </p:txBody>
      </p:sp>
    </p:spTree>
    <p:extLst>
      <p:ext uri="{BB962C8B-B14F-4D97-AF65-F5344CB8AC3E}">
        <p14:creationId xmlns:p14="http://schemas.microsoft.com/office/powerpoint/2010/main" val="23361227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62065" y="3107825"/>
            <a:ext cx="6603135" cy="13002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63" t="-901" b="1413"/>
          <a:stretch/>
        </p:blipFill>
        <p:spPr>
          <a:xfrm>
            <a:off x="5840963" y="1264049"/>
            <a:ext cx="2824582" cy="177586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1286279"/>
            <a:ext cx="5274000" cy="1312200"/>
          </a:xfrm>
          <a:solidFill>
            <a:schemeClr val="accent1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822960" rtl="0" eaLnBrk="1" latinLnBrk="0" hangingPunct="1">
              <a:spcBef>
                <a:spcPct val="0"/>
              </a:spcBef>
              <a:buNone/>
              <a:defRPr lang="fr-CA" sz="324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8800" y="2666391"/>
            <a:ext cx="5266800" cy="362102"/>
          </a:xfrm>
          <a:solidFill>
            <a:schemeClr val="accent1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82296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18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942D1-04AC-41AB-A491-FF8C47841412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13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4" t="27926" r="63211" b="1117"/>
          <a:stretch/>
        </p:blipFill>
        <p:spPr>
          <a:xfrm>
            <a:off x="489600" y="3107094"/>
            <a:ext cx="1497820" cy="1300277"/>
          </a:xfrm>
          <a:prstGeom prst="rect">
            <a:avLst/>
          </a:prstGeom>
        </p:spPr>
      </p:pic>
      <p:pic>
        <p:nvPicPr>
          <p:cNvPr id="14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354" y="4528945"/>
            <a:ext cx="1540097" cy="19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801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2912"/>
            <a:ext cx="8186400" cy="74102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365961"/>
            <a:ext cx="4038600" cy="2923147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365961"/>
            <a:ext cx="4038600" cy="2923147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6CBF-85C4-4197-8B0E-125C715C98F6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908239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0831"/>
            <a:ext cx="8186400" cy="738449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360170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839992"/>
            <a:ext cx="4040188" cy="2449116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7" y="1360170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7" y="1839992"/>
            <a:ext cx="4041775" cy="2449116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618E8-1305-4A13-B3B1-D1F6C4F7CD4F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807601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2912"/>
            <a:ext cx="8186400" cy="73779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62329-E901-4172-96E6-BAB7004C1F73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6927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34A9-B9F6-40B1-8632-480EB9365038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8055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29474"/>
            <a:ext cx="8186400" cy="739807"/>
          </a:xfrm>
        </p:spPr>
        <p:txBody>
          <a:bodyPr anchor="ctr" anchorCtr="0"/>
          <a:lstStyle>
            <a:lvl1pPr algn="l">
              <a:defRPr sz="2340" b="1"/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60400" y="1353960"/>
            <a:ext cx="5097600" cy="2935148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8800" y="1353960"/>
            <a:ext cx="2988000" cy="2935148"/>
          </a:xfrm>
        </p:spPr>
        <p:txBody>
          <a:bodyPr>
            <a:norm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9F62-2155-4421-9DD9-01CB86C63EE3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980695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40754"/>
            <a:ext cx="8186400" cy="740655"/>
          </a:xfrm>
        </p:spPr>
        <p:txBody>
          <a:bodyPr anchor="ctr" anchorCtr="0"/>
          <a:lstStyle>
            <a:lvl1pPr algn="l">
              <a:defRPr sz="2340" b="1"/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78800" y="1858569"/>
            <a:ext cx="8179200" cy="2430538"/>
          </a:xfrm>
        </p:spPr>
        <p:txBody>
          <a:bodyPr/>
          <a:lstStyle>
            <a:lvl1pPr marL="0" indent="0">
              <a:buNone/>
              <a:defRPr sz="1503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fr-FR"/>
              <a:t>Cliquez sur l'icône pour ajouter une image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8800" y="1366089"/>
            <a:ext cx="8179200" cy="469800"/>
          </a:xfrm>
        </p:spPr>
        <p:txBody>
          <a:bodyPr>
            <a:norm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7A66-569D-4843-BD1C-FAE825146557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868548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648200" y="1200151"/>
            <a:ext cx="4038600" cy="16394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4648200" y="2953943"/>
            <a:ext cx="4038600" cy="16406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53E03B2-4E79-49B6-A91A-27CA1D63D84C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99157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78800" y="436673"/>
            <a:ext cx="8186400" cy="744737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Cliquez pour modifier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8800" y="1366089"/>
            <a:ext cx="8186400" cy="2923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89600" y="4846496"/>
            <a:ext cx="21336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3">
                <a:solidFill>
                  <a:schemeClr val="accent2"/>
                </a:solidFill>
              </a:defRPr>
            </a:lvl1pPr>
          </a:lstStyle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4846496"/>
            <a:ext cx="28956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3">
                <a:solidFill>
                  <a:schemeClr val="accent2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200800" y="4846496"/>
            <a:ext cx="4644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3">
                <a:solidFill>
                  <a:schemeClr val="accent2"/>
                </a:solidFill>
              </a:defRPr>
            </a:lvl1pPr>
          </a:lstStyle>
          <a:p>
            <a:fld id="{F8AF7A66-569D-4843-BD1C-FAE825146557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354" y="4528945"/>
            <a:ext cx="1540097" cy="19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03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</p:sldLayoutIdLst>
  <p:txStyles>
    <p:titleStyle>
      <a:lvl1pPr algn="l" defTabSz="822960" rtl="0" eaLnBrk="1" latinLnBrk="0" hangingPunct="1">
        <a:spcBef>
          <a:spcPct val="0"/>
        </a:spcBef>
        <a:buNone/>
        <a:defRPr sz="234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3932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1pPr>
      <a:lvl2pPr marL="40824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67716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3pPr>
      <a:lvl4pPr marL="94284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4pPr>
      <a:lvl5pPr marL="121176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.xml"/><Relationship Id="rId4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9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image" Target="../media/image5.emf"/><Relationship Id="rId2" Type="http://schemas.openxmlformats.org/officeDocument/2006/relationships/tags" Target="../tags/tag25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tags" Target="../tags/tag29.xml"/><Relationship Id="rId7" Type="http://schemas.openxmlformats.org/officeDocument/2006/relationships/oleObject" Target="../embeddings/oleObject2.bin"/><Relationship Id="rId2" Type="http://schemas.openxmlformats.org/officeDocument/2006/relationships/tags" Target="../tags/tag28.xml"/><Relationship Id="rId1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1.xml"/><Relationship Id="rId4" Type="http://schemas.openxmlformats.org/officeDocument/2006/relationships/tags" Target="../tags/tag3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7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6.xml"/><Relationship Id="rId4" Type="http://schemas.openxmlformats.org/officeDocument/2006/relationships/tags" Target="../tags/tag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image" Target="../media/image8.emf"/><Relationship Id="rId2" Type="http://schemas.openxmlformats.org/officeDocument/2006/relationships/tags" Target="../tags/tag39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tags" Target="../tags/tag43.xml"/><Relationship Id="rId7" Type="http://schemas.openxmlformats.org/officeDocument/2006/relationships/oleObject" Target="../embeddings/oleObject4.bin"/><Relationship Id="rId2" Type="http://schemas.openxmlformats.org/officeDocument/2006/relationships/tags" Target="../tags/tag42.xml"/><Relationship Id="rId1" Type="http://schemas.openxmlformats.org/officeDocument/2006/relationships/vmlDrawing" Target="../drawings/vmlDrawing4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5.xml"/><Relationship Id="rId10" Type="http://schemas.openxmlformats.org/officeDocument/2006/relationships/image" Target="../media/image10.emf"/><Relationship Id="rId4" Type="http://schemas.openxmlformats.org/officeDocument/2006/relationships/tags" Target="../tags/tag44.xml"/><Relationship Id="rId9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tags" Target="../tags/tag47.xml"/><Relationship Id="rId7" Type="http://schemas.openxmlformats.org/officeDocument/2006/relationships/oleObject" Target="../embeddings/oleObject6.bin"/><Relationship Id="rId2" Type="http://schemas.openxmlformats.org/officeDocument/2006/relationships/tags" Target="../tags/tag46.xml"/><Relationship Id="rId1" Type="http://schemas.openxmlformats.org/officeDocument/2006/relationships/vmlDrawing" Target="../drawings/vmlDrawing5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9.xml"/><Relationship Id="rId10" Type="http://schemas.openxmlformats.org/officeDocument/2006/relationships/image" Target="../media/image12.emf"/><Relationship Id="rId4" Type="http://schemas.openxmlformats.org/officeDocument/2006/relationships/tags" Target="../tags/tag48.xml"/><Relationship Id="rId9" Type="http://schemas.openxmlformats.org/officeDocument/2006/relationships/oleObject" Target="../embeddings/oleObject7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notesSlide" Target="../notesSlides/notesSlide1.xml"/><Relationship Id="rId5" Type="http://schemas.openxmlformats.org/officeDocument/2006/relationships/tags" Target="../tags/tag54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53.xml"/><Relationship Id="rId9" Type="http://schemas.openxmlformats.org/officeDocument/2006/relationships/tags" Target="../tags/tag5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9" Type="http://schemas.openxmlformats.org/officeDocument/2006/relationships/image" Target="../media/image1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78.xml"/><Relationship Id="rId10" Type="http://schemas.openxmlformats.org/officeDocument/2006/relationships/tags" Target="../tags/tag83.xml"/><Relationship Id="rId4" Type="http://schemas.openxmlformats.org/officeDocument/2006/relationships/tags" Target="../tags/tag77.xml"/><Relationship Id="rId9" Type="http://schemas.openxmlformats.org/officeDocument/2006/relationships/tags" Target="../tags/tag8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91.xml"/><Relationship Id="rId13" Type="http://schemas.openxmlformats.org/officeDocument/2006/relationships/tags" Target="../tags/tag96.xml"/><Relationship Id="rId18" Type="http://schemas.openxmlformats.org/officeDocument/2006/relationships/tags" Target="../tags/tag101.xml"/><Relationship Id="rId3" Type="http://schemas.openxmlformats.org/officeDocument/2006/relationships/tags" Target="../tags/tag86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90.xml"/><Relationship Id="rId12" Type="http://schemas.openxmlformats.org/officeDocument/2006/relationships/tags" Target="../tags/tag95.xml"/><Relationship Id="rId17" Type="http://schemas.openxmlformats.org/officeDocument/2006/relationships/tags" Target="../tags/tag100.xml"/><Relationship Id="rId2" Type="http://schemas.openxmlformats.org/officeDocument/2006/relationships/tags" Target="../tags/tag85.xml"/><Relationship Id="rId16" Type="http://schemas.openxmlformats.org/officeDocument/2006/relationships/tags" Target="../tags/tag99.xml"/><Relationship Id="rId20" Type="http://schemas.openxmlformats.org/officeDocument/2006/relationships/tags" Target="../tags/tag103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11" Type="http://schemas.openxmlformats.org/officeDocument/2006/relationships/tags" Target="../tags/tag94.xml"/><Relationship Id="rId5" Type="http://schemas.openxmlformats.org/officeDocument/2006/relationships/tags" Target="../tags/tag88.xml"/><Relationship Id="rId15" Type="http://schemas.openxmlformats.org/officeDocument/2006/relationships/tags" Target="../tags/tag98.xml"/><Relationship Id="rId10" Type="http://schemas.openxmlformats.org/officeDocument/2006/relationships/tags" Target="../tags/tag93.xml"/><Relationship Id="rId19" Type="http://schemas.openxmlformats.org/officeDocument/2006/relationships/tags" Target="../tags/tag102.xml"/><Relationship Id="rId4" Type="http://schemas.openxmlformats.org/officeDocument/2006/relationships/tags" Target="../tags/tag87.xml"/><Relationship Id="rId9" Type="http://schemas.openxmlformats.org/officeDocument/2006/relationships/tags" Target="../tags/tag92.xml"/><Relationship Id="rId14" Type="http://schemas.openxmlformats.org/officeDocument/2006/relationships/tags" Target="../tags/tag97.xml"/><Relationship Id="rId22" Type="http://schemas.openxmlformats.org/officeDocument/2006/relationships/image" Target="../media/image14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07.xml"/><Relationship Id="rId9" Type="http://schemas.openxmlformats.org/officeDocument/2006/relationships/tags" Target="../tags/tag1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Chapitre 14</a:t>
            </a:r>
            <a:br>
              <a:rPr lang="fr-CA" dirty="0"/>
            </a:br>
            <a:endParaRPr lang="fr-CA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CA" sz="4000" dirty="0"/>
              <a:t>Introduction au coût du capital</a:t>
            </a:r>
            <a:endParaRPr lang="fr-CA" sz="40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Le coût en capital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172381"/>
            <a:ext cx="8186400" cy="28691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CA" sz="2400" dirty="0"/>
              <a:t>Définition:</a:t>
            </a:r>
            <a:r>
              <a:rPr lang="fr-CA" sz="2000" dirty="0"/>
              <a:t> coût des fonds utilisés pour acquérir une ressource</a:t>
            </a:r>
          </a:p>
          <a:p>
            <a:pPr marL="536575" lvl="1" indent="-266700"/>
            <a:r>
              <a:rPr lang="fr-CA" sz="2000" dirty="0"/>
              <a:t>Taux au marché</a:t>
            </a:r>
          </a:p>
          <a:p>
            <a:pPr marL="536575" lvl="1" indent="-266700"/>
            <a:r>
              <a:rPr lang="fr-CA" sz="2000" dirty="0"/>
              <a:t>Dépend du risque du projet (</a:t>
            </a:r>
            <a:r>
              <a:rPr lang="fr-CA" sz="2000" dirty="0">
                <a:sym typeface="Symbol" pitchFamily="18" charset="2"/>
              </a:rPr>
              <a:t> entreprise)</a:t>
            </a:r>
          </a:p>
          <a:p>
            <a:pPr marL="536575" lvl="1" indent="-266700"/>
            <a:r>
              <a:rPr lang="fr-CA" sz="2000" dirty="0">
                <a:sym typeface="Symbol" pitchFamily="18" charset="2"/>
              </a:rPr>
              <a:t>Coût marginal (effet du projet)</a:t>
            </a:r>
          </a:p>
          <a:p>
            <a:pPr marL="536575" lvl="1" indent="-266700"/>
            <a:r>
              <a:rPr lang="fr-CA" sz="2000" dirty="0">
                <a:sym typeface="Symbol" pitchFamily="18" charset="2"/>
              </a:rPr>
              <a:t>Coût d’opportunité (ou de renonciation)</a:t>
            </a:r>
          </a:p>
          <a:p>
            <a:pPr marL="536575" lvl="1" indent="-266700"/>
            <a:r>
              <a:rPr lang="fr-CA" sz="2000" dirty="0">
                <a:sym typeface="Symbol" pitchFamily="18" charset="2"/>
              </a:rPr>
              <a:t>Coût de l’actif ( passif)</a:t>
            </a:r>
          </a:p>
          <a:p>
            <a:pPr lvl="1">
              <a:buNone/>
            </a:pPr>
            <a:endParaRPr lang="fr-CA" sz="2000" dirty="0">
              <a:sym typeface="Symbol" pitchFamily="18" charset="2"/>
            </a:endParaRPr>
          </a:p>
          <a:p>
            <a:pPr lvl="1">
              <a:buNone/>
            </a:pPr>
            <a:endParaRPr lang="fr-CA" sz="1800" dirty="0">
              <a:sym typeface="Symbol" pitchFamily="18" charset="2"/>
            </a:endParaRPr>
          </a:p>
          <a:p>
            <a:pPr lvl="1">
              <a:buNone/>
            </a:pPr>
            <a:r>
              <a:rPr lang="fr-CA" sz="1800" dirty="0">
                <a:sym typeface="Symbol" pitchFamily="18" charset="2"/>
              </a:rPr>
              <a:t>Relation recherchée ===&gt;</a:t>
            </a:r>
          </a:p>
          <a:p>
            <a:pPr lvl="1">
              <a:buNone/>
            </a:pPr>
            <a:r>
              <a:rPr lang="fr-CA" sz="1800" dirty="0">
                <a:sym typeface="Symbol" pitchFamily="18" charset="2"/>
              </a:rPr>
              <a:t>Alors, quel taux d’actualisation doit-on utiliser pour l’évaluation d’un projet?</a:t>
            </a:r>
          </a:p>
        </p:txBody>
      </p:sp>
      <p:grpSp>
        <p:nvGrpSpPr>
          <p:cNvPr id="2" name="Groupe 1"/>
          <p:cNvGrpSpPr/>
          <p:nvPr/>
        </p:nvGrpSpPr>
        <p:grpSpPr>
          <a:xfrm>
            <a:off x="5724128" y="3219822"/>
            <a:ext cx="2736850" cy="1133475"/>
            <a:chOff x="4937801" y="3119096"/>
            <a:chExt cx="2736850" cy="1133475"/>
          </a:xfrm>
        </p:grpSpPr>
        <p:sp>
          <p:nvSpPr>
            <p:cNvPr id="9220" name="Line 4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 flipV="1">
              <a:off x="4937801" y="3119096"/>
              <a:ext cx="0" cy="11334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9221" name="Line 5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4937801" y="4252571"/>
              <a:ext cx="27368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9222" name="Line 6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 flipV="1">
              <a:off x="4937802" y="3389368"/>
              <a:ext cx="2447925" cy="594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Le coût du capital</a:t>
            </a:r>
          </a:p>
        </p:txBody>
      </p:sp>
      <p:grpSp>
        <p:nvGrpSpPr>
          <p:cNvPr id="30" name="Groupe 29"/>
          <p:cNvGrpSpPr/>
          <p:nvPr>
            <p:custDataLst>
              <p:tags r:id="rId2"/>
            </p:custDataLst>
          </p:nvPr>
        </p:nvGrpSpPr>
        <p:grpSpPr>
          <a:xfrm>
            <a:off x="4628619" y="1419622"/>
            <a:ext cx="1285884" cy="1558647"/>
            <a:chOff x="4929190" y="2428868"/>
            <a:chExt cx="1285884" cy="2286016"/>
          </a:xfrm>
        </p:grpSpPr>
        <p:sp>
          <p:nvSpPr>
            <p:cNvPr id="15" name="Rectangle 14"/>
            <p:cNvSpPr/>
            <p:nvPr/>
          </p:nvSpPr>
          <p:spPr>
            <a:xfrm>
              <a:off x="4929190" y="2428868"/>
              <a:ext cx="1285884" cy="228601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dirty="0"/>
            </a:p>
            <a:p>
              <a:pPr algn="ctr"/>
              <a:r>
                <a:rPr lang="fr-CA" dirty="0"/>
                <a:t>Passifs LT</a:t>
              </a:r>
            </a:p>
            <a:p>
              <a:pPr algn="ctr"/>
              <a:endParaRPr lang="fr-CA" sz="900" dirty="0"/>
            </a:p>
            <a:p>
              <a:pPr algn="ctr"/>
              <a:endParaRPr lang="fr-CA" dirty="0"/>
            </a:p>
            <a:p>
              <a:pPr algn="ctr"/>
              <a:r>
                <a:rPr lang="fr-CA" dirty="0"/>
                <a:t>Fonds propres</a:t>
              </a:r>
            </a:p>
          </p:txBody>
        </p:sp>
        <p:cxnSp>
          <p:nvCxnSpPr>
            <p:cNvPr id="17" name="Connecteur droit 16"/>
            <p:cNvCxnSpPr/>
            <p:nvPr/>
          </p:nvCxnSpPr>
          <p:spPr>
            <a:xfrm>
              <a:off x="4929190" y="3606905"/>
              <a:ext cx="1285884" cy="0"/>
            </a:xfrm>
            <a:prstGeom prst="line">
              <a:avLst/>
            </a:prstGeom>
            <a:ln w="4762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/>
          <p:cNvSpPr/>
          <p:nvPr>
            <p:custDataLst>
              <p:tags r:id="rId3"/>
            </p:custDataLst>
          </p:nvPr>
        </p:nvSpPr>
        <p:spPr>
          <a:xfrm>
            <a:off x="2699792" y="1419622"/>
            <a:ext cx="1285884" cy="155864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Actifs LT</a:t>
            </a:r>
          </a:p>
          <a:p>
            <a:pPr algn="ctr"/>
            <a:r>
              <a:rPr lang="fr-CA" dirty="0"/>
              <a:t>en place</a:t>
            </a:r>
          </a:p>
        </p:txBody>
      </p:sp>
      <p:sp>
        <p:nvSpPr>
          <p:cNvPr id="18" name="ZoneTexte 17"/>
          <p:cNvSpPr txBox="1"/>
          <p:nvPr>
            <p:custDataLst>
              <p:tags r:id="rId4"/>
            </p:custDataLst>
          </p:nvPr>
        </p:nvSpPr>
        <p:spPr>
          <a:xfrm>
            <a:off x="4057114" y="1915246"/>
            <a:ext cx="500066" cy="755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4800" dirty="0">
                <a:solidFill>
                  <a:schemeClr val="tx2"/>
                </a:solidFill>
              </a:rPr>
              <a:t>=</a:t>
            </a:r>
          </a:p>
        </p:txBody>
      </p:sp>
      <p:sp>
        <p:nvSpPr>
          <p:cNvPr id="23" name="Rectangle 22"/>
          <p:cNvSpPr/>
          <p:nvPr>
            <p:custDataLst>
              <p:tags r:id="rId5"/>
            </p:custDataLst>
          </p:nvPr>
        </p:nvSpPr>
        <p:spPr>
          <a:xfrm>
            <a:off x="2574016" y="3857679"/>
            <a:ext cx="1285884" cy="64294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>
                <a:solidFill>
                  <a:schemeClr val="tx2"/>
                </a:solidFill>
              </a:rPr>
              <a:t>Projets à évaluer</a:t>
            </a:r>
          </a:p>
        </p:txBody>
      </p:sp>
      <p:sp>
        <p:nvSpPr>
          <p:cNvPr id="29" name="Flèche vers le haut 28"/>
          <p:cNvSpPr/>
          <p:nvPr>
            <p:custDataLst>
              <p:tags r:id="rId6"/>
            </p:custDataLst>
          </p:nvPr>
        </p:nvSpPr>
        <p:spPr>
          <a:xfrm>
            <a:off x="2788330" y="3054002"/>
            <a:ext cx="857256" cy="750099"/>
          </a:xfrm>
          <a:prstGeom prst="upArrow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6000" dirty="0">
                <a:solidFill>
                  <a:schemeClr val="tx2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0823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/>
      <p:bldP spid="23" grpId="0" animBg="1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707654"/>
            <a:ext cx="4736592" cy="1645920"/>
          </a:xfrm>
        </p:spPr>
      </p:pic>
    </p:spTree>
    <p:extLst>
      <p:ext uri="{BB962C8B-B14F-4D97-AF65-F5344CB8AC3E}">
        <p14:creationId xmlns:p14="http://schemas.microsoft.com/office/powerpoint/2010/main" val="2180007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Chapitre 14</a:t>
            </a:r>
            <a:br>
              <a:rPr lang="fr-CA" dirty="0"/>
            </a:br>
            <a:endParaRPr lang="fr-CA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CA" sz="4000" dirty="0"/>
              <a:t>L’approximation du CMPC</a:t>
            </a:r>
            <a:endParaRPr lang="fr-CA" sz="4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583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L’approximation par le CMPC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225959"/>
            <a:ext cx="8186400" cy="30631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CA" sz="2400" dirty="0">
                <a:sym typeface="Symbol" pitchFamily="18" charset="2"/>
              </a:rPr>
              <a:t>Le CMPC permet de trouver le coût du capital de l’ensemble des actifs à long terme </a:t>
            </a:r>
            <a:r>
              <a:rPr lang="fr-CA" sz="1400" dirty="0">
                <a:sym typeface="Symbol" pitchFamily="18" charset="2"/>
              </a:rPr>
              <a:t>(≠ à court terme: marge de crédit)</a:t>
            </a:r>
          </a:p>
          <a:p>
            <a:endParaRPr lang="fr-CA" sz="2400" dirty="0">
              <a:sym typeface="Symbol" pitchFamily="18" charset="2"/>
            </a:endParaRPr>
          </a:p>
          <a:p>
            <a:endParaRPr lang="fr-CA" sz="2400" dirty="0">
              <a:sym typeface="Symbol" pitchFamily="18" charset="2"/>
            </a:endParaRPr>
          </a:p>
          <a:p>
            <a:endParaRPr lang="fr-CA" sz="2400" dirty="0">
              <a:sym typeface="Symbol" pitchFamily="18" charset="2"/>
            </a:endParaRPr>
          </a:p>
          <a:p>
            <a:pPr marL="0" indent="0" algn="r">
              <a:buNone/>
            </a:pPr>
            <a:endParaRPr lang="fr-CA" sz="1200" dirty="0">
              <a:sym typeface="Symbol" pitchFamily="18" charset="2"/>
            </a:endParaRPr>
          </a:p>
          <a:p>
            <a:pPr marL="0" indent="0" algn="r">
              <a:buNone/>
            </a:pPr>
            <a:r>
              <a:rPr lang="fr-CA" sz="1800" dirty="0">
                <a:sym typeface="Symbol" pitchFamily="18" charset="2"/>
              </a:rPr>
              <a:t>Ne représente toutefois pas le risque </a:t>
            </a:r>
          </a:p>
          <a:p>
            <a:pPr marL="0" indent="0" algn="r">
              <a:buNone/>
            </a:pPr>
            <a:r>
              <a:rPr lang="fr-CA" sz="1800" dirty="0">
                <a:sym typeface="Symbol" pitchFamily="18" charset="2"/>
              </a:rPr>
              <a:t>des actifs à acquérir </a:t>
            </a:r>
          </a:p>
          <a:p>
            <a:pPr marL="0" indent="0" algn="r">
              <a:buNone/>
            </a:pPr>
            <a:r>
              <a:rPr lang="fr-CA" sz="1800" dirty="0">
                <a:sym typeface="Symbol" pitchFamily="18" charset="2"/>
              </a:rPr>
              <a:t>(évaluation de nouveaux projets)</a:t>
            </a:r>
          </a:p>
        </p:txBody>
      </p:sp>
      <p:grpSp>
        <p:nvGrpSpPr>
          <p:cNvPr id="30" name="Groupe 29"/>
          <p:cNvGrpSpPr/>
          <p:nvPr>
            <p:custDataLst>
              <p:tags r:id="rId3"/>
            </p:custDataLst>
          </p:nvPr>
        </p:nvGrpSpPr>
        <p:grpSpPr>
          <a:xfrm>
            <a:off x="4826403" y="2011031"/>
            <a:ext cx="3814975" cy="1558647"/>
            <a:chOff x="4929190" y="2428868"/>
            <a:chExt cx="3814975" cy="2286016"/>
          </a:xfrm>
        </p:grpSpPr>
        <p:sp>
          <p:nvSpPr>
            <p:cNvPr id="15" name="Rectangle 14"/>
            <p:cNvSpPr/>
            <p:nvPr/>
          </p:nvSpPr>
          <p:spPr>
            <a:xfrm>
              <a:off x="4929190" y="2428868"/>
              <a:ext cx="1285884" cy="228601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Passifs LT</a:t>
              </a:r>
            </a:p>
            <a:p>
              <a:pPr algn="ctr"/>
              <a:endParaRPr lang="fr-CA" sz="1050" dirty="0"/>
            </a:p>
            <a:p>
              <a:pPr algn="ctr"/>
              <a:endParaRPr lang="fr-CA" sz="1050" dirty="0"/>
            </a:p>
            <a:p>
              <a:pPr algn="ctr"/>
              <a:endParaRPr lang="fr-CA" dirty="0"/>
            </a:p>
            <a:p>
              <a:pPr algn="ctr"/>
              <a:r>
                <a:rPr lang="fr-CA" dirty="0"/>
                <a:t>Fonds propres</a:t>
              </a:r>
            </a:p>
          </p:txBody>
        </p:sp>
        <p:cxnSp>
          <p:nvCxnSpPr>
            <p:cNvPr id="17" name="Connecteur droit 16"/>
            <p:cNvCxnSpPr/>
            <p:nvPr/>
          </p:nvCxnSpPr>
          <p:spPr>
            <a:xfrm>
              <a:off x="4929190" y="3429000"/>
              <a:ext cx="1285884" cy="0"/>
            </a:xfrm>
            <a:prstGeom prst="line">
              <a:avLst/>
            </a:prstGeom>
            <a:ln w="4762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Accolade fermante 18"/>
            <p:cNvSpPr/>
            <p:nvPr/>
          </p:nvSpPr>
          <p:spPr>
            <a:xfrm>
              <a:off x="6286512" y="2428868"/>
              <a:ext cx="500066" cy="2286016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20" name="ZoneTexte 19"/>
            <p:cNvSpPr txBox="1"/>
            <p:nvPr/>
          </p:nvSpPr>
          <p:spPr>
            <a:xfrm>
              <a:off x="6786578" y="3429000"/>
              <a:ext cx="1957587" cy="533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sz="2000" dirty="0">
                  <a:solidFill>
                    <a:schemeClr val="tx2"/>
                  </a:solidFill>
                </a:rPr>
                <a:t>CMPC = 12,5%</a:t>
              </a:r>
            </a:p>
          </p:txBody>
        </p:sp>
      </p:grpSp>
      <p:sp>
        <p:nvSpPr>
          <p:cNvPr id="14" name="Rectangle 13"/>
          <p:cNvSpPr/>
          <p:nvPr>
            <p:custDataLst>
              <p:tags r:id="rId4"/>
            </p:custDataLst>
          </p:nvPr>
        </p:nvSpPr>
        <p:spPr>
          <a:xfrm>
            <a:off x="2897576" y="2011031"/>
            <a:ext cx="1285884" cy="155864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Actifs LT</a:t>
            </a:r>
          </a:p>
          <a:p>
            <a:pPr algn="ctr"/>
            <a:r>
              <a:rPr lang="fr-CA" dirty="0"/>
              <a:t>en place</a:t>
            </a:r>
          </a:p>
        </p:txBody>
      </p:sp>
      <p:sp>
        <p:nvSpPr>
          <p:cNvPr id="18" name="ZoneTexte 17"/>
          <p:cNvSpPr txBox="1"/>
          <p:nvPr>
            <p:custDataLst>
              <p:tags r:id="rId5"/>
            </p:custDataLst>
          </p:nvPr>
        </p:nvSpPr>
        <p:spPr>
          <a:xfrm>
            <a:off x="4254898" y="2506655"/>
            <a:ext cx="500066" cy="755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4800" dirty="0">
                <a:solidFill>
                  <a:schemeClr val="tx2"/>
                </a:solidFill>
              </a:rPr>
              <a:t>=</a:t>
            </a:r>
          </a:p>
        </p:txBody>
      </p:sp>
      <p:grpSp>
        <p:nvGrpSpPr>
          <p:cNvPr id="33" name="Groupe 32"/>
          <p:cNvGrpSpPr/>
          <p:nvPr>
            <p:custDataLst>
              <p:tags r:id="rId6"/>
            </p:custDataLst>
          </p:nvPr>
        </p:nvGrpSpPr>
        <p:grpSpPr>
          <a:xfrm>
            <a:off x="611560" y="2011031"/>
            <a:ext cx="2143140" cy="1558647"/>
            <a:chOff x="714348" y="2428868"/>
            <a:chExt cx="2143140" cy="2286016"/>
          </a:xfrm>
        </p:grpSpPr>
        <p:sp>
          <p:nvSpPr>
            <p:cNvPr id="21" name="Accolade ouvrante 20"/>
            <p:cNvSpPr/>
            <p:nvPr/>
          </p:nvSpPr>
          <p:spPr>
            <a:xfrm>
              <a:off x="2500298" y="2428868"/>
              <a:ext cx="357190" cy="2286016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22" name="ZoneTexte 21"/>
            <p:cNvSpPr txBox="1"/>
            <p:nvPr/>
          </p:nvSpPr>
          <p:spPr>
            <a:xfrm>
              <a:off x="714348" y="3143248"/>
              <a:ext cx="1798890" cy="9438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sz="2000" dirty="0">
                  <a:solidFill>
                    <a:schemeClr val="tx2"/>
                  </a:solidFill>
                </a:rPr>
                <a:t>Risque des</a:t>
              </a:r>
            </a:p>
            <a:p>
              <a:r>
                <a:rPr lang="fr-CA" sz="2000" dirty="0">
                  <a:solidFill>
                    <a:schemeClr val="tx2"/>
                  </a:solidFill>
                </a:rPr>
                <a:t>actifs = 12,5%</a:t>
              </a:r>
            </a:p>
          </p:txBody>
        </p:sp>
      </p:grpSp>
      <p:sp>
        <p:nvSpPr>
          <p:cNvPr id="23" name="Rectangle 22"/>
          <p:cNvSpPr/>
          <p:nvPr>
            <p:custDataLst>
              <p:tags r:id="rId7"/>
            </p:custDataLst>
          </p:nvPr>
        </p:nvSpPr>
        <p:spPr>
          <a:xfrm>
            <a:off x="2771800" y="4449088"/>
            <a:ext cx="1285884" cy="64294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>
                <a:solidFill>
                  <a:schemeClr val="tx2"/>
                </a:solidFill>
              </a:rPr>
              <a:t>Projets à évaluer</a:t>
            </a:r>
          </a:p>
        </p:txBody>
      </p:sp>
      <p:sp>
        <p:nvSpPr>
          <p:cNvPr id="29" name="Flèche vers le haut 28"/>
          <p:cNvSpPr/>
          <p:nvPr>
            <p:custDataLst>
              <p:tags r:id="rId8"/>
            </p:custDataLst>
          </p:nvPr>
        </p:nvSpPr>
        <p:spPr>
          <a:xfrm>
            <a:off x="2986114" y="3645411"/>
            <a:ext cx="857256" cy="750099"/>
          </a:xfrm>
          <a:prstGeom prst="upArrow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6000" dirty="0">
                <a:solidFill>
                  <a:schemeClr val="tx2"/>
                </a:solidFill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/>
      <p:bldP spid="23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Le calcul du CMPC</a:t>
            </a:r>
          </a:p>
        </p:txBody>
      </p:sp>
      <p:graphicFrame>
        <p:nvGraphicFramePr>
          <p:cNvPr id="14340" name="Object 4"/>
          <p:cNvGraphicFramePr>
            <a:graphicFrameLocks noGrp="1" noChangeAspect="1"/>
          </p:cNvGraphicFramePr>
          <p:nvPr>
            <p:ph idx="1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507772826"/>
              </p:ext>
            </p:extLst>
          </p:nvPr>
        </p:nvGraphicFramePr>
        <p:xfrm>
          <a:off x="1835696" y="1707654"/>
          <a:ext cx="5832648" cy="843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5" name="Equation" r:id="rId6" imgW="2984400" imgH="431640" progId="Equation.3">
                  <p:embed/>
                </p:oleObj>
              </mc:Choice>
              <mc:Fallback>
                <p:oleObj name="Equation" r:id="rId6" imgW="298440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1707654"/>
                        <a:ext cx="5832648" cy="8438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Rectangle 3"/>
          <p:cNvSpPr>
            <a:spLocks noGrp="1" noChangeArrowheads="1"/>
          </p:cNvSpPr>
          <p:nvPr>
            <p:ph type="body" sz="half" idx="4294967295"/>
            <p:custDataLst>
              <p:tags r:id="rId4"/>
            </p:custDataLst>
          </p:nvPr>
        </p:nvSpPr>
        <p:spPr>
          <a:xfrm>
            <a:off x="467350" y="1347613"/>
            <a:ext cx="8496300" cy="3552217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fr-CA" sz="2400" u="sng" dirty="0">
                <a:sym typeface="Symbol" pitchFamily="18" charset="2"/>
              </a:rPr>
              <a:t>Coût Moyen Pondéré du Capital (CMPC)</a:t>
            </a:r>
          </a:p>
          <a:p>
            <a:pPr>
              <a:lnSpc>
                <a:spcPct val="90000"/>
              </a:lnSpc>
            </a:pPr>
            <a:endParaRPr lang="fr-CA" sz="2400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endParaRPr lang="fr-CA" sz="2400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endParaRPr lang="fr-CA" sz="2400" dirty="0">
              <a:sym typeface="Symbol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fr-CA" sz="2400" dirty="0">
              <a:sym typeface="Symbol" pitchFamily="18" charset="2"/>
            </a:endParaRPr>
          </a:p>
          <a:p>
            <a:pPr marL="271463" lvl="1" indent="-271463">
              <a:lnSpc>
                <a:spcPct val="90000"/>
              </a:lnSpc>
            </a:pPr>
            <a:r>
              <a:rPr lang="fr-CA" sz="2000" dirty="0">
                <a:sym typeface="Symbol" pitchFamily="18" charset="2"/>
              </a:rPr>
              <a:t>Valeur marchande des actions ordinaires (E)</a:t>
            </a:r>
          </a:p>
          <a:p>
            <a:pPr marL="271463" lvl="1" indent="-271463">
              <a:lnSpc>
                <a:spcPct val="90000"/>
              </a:lnSpc>
            </a:pPr>
            <a:r>
              <a:rPr lang="fr-CA" sz="2000" dirty="0">
                <a:sym typeface="Symbol" pitchFamily="18" charset="2"/>
              </a:rPr>
              <a:t>Valeur marchande des actions privilégiées (P)</a:t>
            </a:r>
          </a:p>
          <a:p>
            <a:pPr marL="271463" lvl="1" indent="-271463">
              <a:lnSpc>
                <a:spcPct val="90000"/>
              </a:lnSpc>
            </a:pPr>
            <a:r>
              <a:rPr lang="fr-CA" sz="2000" dirty="0">
                <a:sym typeface="Symbol" pitchFamily="18" charset="2"/>
              </a:rPr>
              <a:t>Valeur marchande de la dette (D)</a:t>
            </a:r>
          </a:p>
          <a:p>
            <a:pPr marL="271463" lvl="1" indent="-271463">
              <a:lnSpc>
                <a:spcPct val="90000"/>
              </a:lnSpc>
            </a:pPr>
            <a:r>
              <a:rPr lang="fr-CA" sz="2000" dirty="0">
                <a:sym typeface="Symbol" pitchFamily="18" charset="2"/>
              </a:rPr>
              <a:t>Valeur marchande totale de l’entreprise (V)</a:t>
            </a:r>
          </a:p>
          <a:p>
            <a:pPr marL="271463" lvl="1" indent="-271463">
              <a:lnSpc>
                <a:spcPct val="90000"/>
              </a:lnSpc>
            </a:pPr>
            <a:r>
              <a:rPr lang="fr-CA" sz="2000" dirty="0">
                <a:sym typeface="Symbol" pitchFamily="18" charset="2"/>
              </a:rPr>
              <a:t>Coût des actions ordinaires (</a:t>
            </a:r>
            <a:r>
              <a:rPr lang="fr-CA" sz="2000" dirty="0" err="1">
                <a:sym typeface="Symbol" pitchFamily="18" charset="2"/>
              </a:rPr>
              <a:t>R</a:t>
            </a:r>
            <a:r>
              <a:rPr lang="fr-CA" sz="2000" baseline="-25000" dirty="0" err="1">
                <a:sym typeface="Symbol" pitchFamily="18" charset="2"/>
              </a:rPr>
              <a:t>e</a:t>
            </a:r>
            <a:r>
              <a:rPr lang="fr-CA" sz="2000" dirty="0">
                <a:sym typeface="Symbol" pitchFamily="18" charset="2"/>
              </a:rPr>
              <a:t>)</a:t>
            </a:r>
          </a:p>
          <a:p>
            <a:pPr marL="271463" lvl="1" indent="-271463">
              <a:lnSpc>
                <a:spcPct val="90000"/>
              </a:lnSpc>
            </a:pPr>
            <a:r>
              <a:rPr lang="fr-CA" sz="2000" dirty="0">
                <a:sym typeface="Symbol" pitchFamily="18" charset="2"/>
              </a:rPr>
              <a:t>Coût des actions privilégiées (</a:t>
            </a:r>
            <a:r>
              <a:rPr lang="fr-CA" sz="2000" dirty="0" err="1">
                <a:sym typeface="Symbol" pitchFamily="18" charset="2"/>
              </a:rPr>
              <a:t>R</a:t>
            </a:r>
            <a:r>
              <a:rPr lang="fr-CA" sz="2000" baseline="-25000" dirty="0" err="1">
                <a:sym typeface="Symbol" pitchFamily="18" charset="2"/>
              </a:rPr>
              <a:t>p</a:t>
            </a:r>
            <a:r>
              <a:rPr lang="fr-CA" sz="2000" dirty="0">
                <a:sym typeface="Symbol" pitchFamily="18" charset="2"/>
              </a:rPr>
              <a:t>)</a:t>
            </a:r>
          </a:p>
          <a:p>
            <a:pPr marL="271463" lvl="1" indent="-271463">
              <a:lnSpc>
                <a:spcPct val="90000"/>
              </a:lnSpc>
            </a:pPr>
            <a:r>
              <a:rPr lang="fr-CA" sz="2000" dirty="0">
                <a:sym typeface="Symbol" pitchFamily="18" charset="2"/>
              </a:rPr>
              <a:t>Coût de la dette (R</a:t>
            </a:r>
            <a:r>
              <a:rPr lang="fr-CA" sz="2000" baseline="-25000" dirty="0">
                <a:sym typeface="Symbol" pitchFamily="18" charset="2"/>
              </a:rPr>
              <a:t>d</a:t>
            </a:r>
            <a:r>
              <a:rPr lang="fr-CA" sz="2000" dirty="0">
                <a:sym typeface="Symbol" pitchFamily="18" charset="2"/>
              </a:rPr>
              <a:t>)</a:t>
            </a:r>
          </a:p>
          <a:p>
            <a:pPr marL="271463" lvl="1" indent="-271463">
              <a:lnSpc>
                <a:spcPct val="90000"/>
              </a:lnSpc>
            </a:pPr>
            <a:r>
              <a:rPr lang="fr-CA" sz="2000" dirty="0">
                <a:sym typeface="Symbol" pitchFamily="18" charset="2"/>
              </a:rPr>
              <a:t>Taux marginal d’imposition (Tm)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4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4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43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Le calcul du CMPC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4294967295"/>
            <p:custDataLst>
              <p:tags r:id="rId3"/>
            </p:custDataLst>
          </p:nvPr>
        </p:nvSpPr>
        <p:spPr>
          <a:xfrm>
            <a:off x="478800" y="1275606"/>
            <a:ext cx="8186400" cy="345638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CA" sz="2800" u="sng" dirty="0">
                <a:sym typeface="Symbol" pitchFamily="18" charset="2"/>
              </a:rPr>
              <a:t>Coût des actions ordinaires </a:t>
            </a:r>
            <a:r>
              <a:rPr lang="fr-CA" sz="2100" u="sng" dirty="0">
                <a:sym typeface="Symbol" pitchFamily="18" charset="2"/>
              </a:rPr>
              <a:t>(</a:t>
            </a:r>
            <a:r>
              <a:rPr lang="fr-CA" sz="2100" u="sng" dirty="0" err="1">
                <a:sym typeface="Symbol" pitchFamily="18" charset="2"/>
              </a:rPr>
              <a:t>R</a:t>
            </a:r>
            <a:r>
              <a:rPr lang="fr-CA" sz="2100" u="sng" baseline="-25000" dirty="0" err="1">
                <a:sym typeface="Symbol" pitchFamily="18" charset="2"/>
              </a:rPr>
              <a:t>e</a:t>
            </a:r>
            <a:r>
              <a:rPr lang="fr-CA" sz="2100" u="sng" dirty="0">
                <a:sym typeface="Symbol" pitchFamily="18" charset="2"/>
              </a:rPr>
              <a:t>=</a:t>
            </a:r>
            <a:r>
              <a:rPr lang="fr-CA" sz="2100" u="sng" dirty="0" err="1">
                <a:sym typeface="Symbol" pitchFamily="18" charset="2"/>
              </a:rPr>
              <a:t>tx</a:t>
            </a:r>
            <a:r>
              <a:rPr lang="fr-CA" sz="2100" u="sng" dirty="0">
                <a:sym typeface="Symbol" pitchFamily="18" charset="2"/>
              </a:rPr>
              <a:t> exigé sur l’équité)</a:t>
            </a:r>
          </a:p>
          <a:p>
            <a:pPr marL="457200" lvl="1" indent="0">
              <a:buNone/>
            </a:pPr>
            <a:r>
              <a:rPr lang="fr-CA" sz="2400" dirty="0">
                <a:sym typeface="Symbol" pitchFamily="18" charset="2"/>
              </a:rPr>
              <a:t>1.	Modèle du MEDAF</a:t>
            </a:r>
          </a:p>
          <a:p>
            <a:pPr marL="914400" lvl="1" indent="-457200">
              <a:buFont typeface="Wingdings" pitchFamily="2" charset="2"/>
              <a:buNone/>
            </a:pPr>
            <a:endParaRPr lang="fr-CA" sz="2400" dirty="0">
              <a:sym typeface="Symbol" pitchFamily="18" charset="2"/>
            </a:endParaRPr>
          </a:p>
          <a:p>
            <a:pPr marL="914400" lvl="1" indent="-457200">
              <a:buFont typeface="Wingdings" pitchFamily="2" charset="2"/>
              <a:buNone/>
            </a:pPr>
            <a:r>
              <a:rPr lang="fr-CA" sz="2400" dirty="0">
                <a:sym typeface="Symbol" pitchFamily="18" charset="2"/>
              </a:rPr>
              <a:t>	</a:t>
            </a:r>
          </a:p>
          <a:p>
            <a:pPr marL="914400" lvl="1" indent="-457200">
              <a:buFont typeface="Wingdings" pitchFamily="2" charset="2"/>
              <a:buNone/>
            </a:pPr>
            <a:r>
              <a:rPr lang="fr-CA" sz="2400" dirty="0">
                <a:solidFill>
                  <a:schemeClr val="accent1"/>
                </a:solidFill>
                <a:sym typeface="Symbol" pitchFamily="18" charset="2"/>
              </a:rPr>
              <a:t>	Exemple:	HCE </a:t>
            </a:r>
            <a:r>
              <a:rPr lang="fr-CA" sz="2400" dirty="0" err="1">
                <a:solidFill>
                  <a:schemeClr val="accent1"/>
                </a:solidFill>
                <a:sym typeface="Symbol" pitchFamily="18" charset="2"/>
              </a:rPr>
              <a:t>inc.</a:t>
            </a:r>
            <a:endParaRPr lang="fr-CA" sz="2400" dirty="0">
              <a:solidFill>
                <a:schemeClr val="accent1"/>
              </a:solidFill>
              <a:sym typeface="Symbol" pitchFamily="18" charset="2"/>
            </a:endParaRPr>
          </a:p>
          <a:p>
            <a:pPr marL="914400" lvl="1" indent="-457200">
              <a:buFont typeface="Wingdings" pitchFamily="2" charset="2"/>
              <a:buNone/>
            </a:pPr>
            <a:r>
              <a:rPr lang="fr-CA" sz="2400" dirty="0">
                <a:solidFill>
                  <a:schemeClr val="accent1"/>
                </a:solidFill>
                <a:sym typeface="Symbol" pitchFamily="18" charset="2"/>
              </a:rPr>
              <a:t>			</a:t>
            </a:r>
            <a:r>
              <a:rPr lang="fr-CA" sz="2400" dirty="0" err="1">
                <a:solidFill>
                  <a:schemeClr val="accent1"/>
                </a:solidFill>
                <a:sym typeface="Symbol" pitchFamily="18" charset="2"/>
              </a:rPr>
              <a:t>Re</a:t>
            </a:r>
            <a:r>
              <a:rPr lang="fr-CA" sz="2400" dirty="0">
                <a:solidFill>
                  <a:schemeClr val="accent1"/>
                </a:solidFill>
                <a:sym typeface="Symbol" pitchFamily="18" charset="2"/>
              </a:rPr>
              <a:t> = 4% + [9%-4%]*2,2 = 15%</a:t>
            </a:r>
          </a:p>
          <a:p>
            <a:pPr marL="457200" lvl="1" indent="0">
              <a:buNone/>
            </a:pPr>
            <a:r>
              <a:rPr lang="fr-CA" sz="2400" dirty="0">
                <a:sym typeface="Symbol" pitchFamily="18" charset="2"/>
              </a:rPr>
              <a:t>2.	Modèle de Gordon</a:t>
            </a:r>
          </a:p>
          <a:p>
            <a:pPr marL="914400" lvl="1" indent="-457200">
              <a:buFont typeface="Wingdings" pitchFamily="2" charset="2"/>
              <a:buNone/>
            </a:pPr>
            <a:r>
              <a:rPr lang="fr-CA" sz="2400" dirty="0">
                <a:solidFill>
                  <a:schemeClr val="folHlink"/>
                </a:solidFill>
                <a:sym typeface="Symbol" pitchFamily="18" charset="2"/>
              </a:rPr>
              <a:t>	</a:t>
            </a:r>
          </a:p>
          <a:p>
            <a:pPr marL="914400" lvl="1" indent="-457200">
              <a:buFont typeface="Wingdings" pitchFamily="2" charset="2"/>
              <a:buNone/>
            </a:pPr>
            <a:endParaRPr lang="fr-CA" sz="2400" dirty="0">
              <a:solidFill>
                <a:schemeClr val="folHlink"/>
              </a:solidFill>
              <a:sym typeface="Symbol" pitchFamily="18" charset="2"/>
            </a:endParaRPr>
          </a:p>
          <a:p>
            <a:pPr marL="914400" lvl="1" indent="-457200">
              <a:buFont typeface="Wingdings" pitchFamily="2" charset="2"/>
              <a:buNone/>
            </a:pPr>
            <a:r>
              <a:rPr lang="fr-CA" sz="2400" dirty="0">
                <a:solidFill>
                  <a:schemeClr val="folHlink"/>
                </a:solidFill>
                <a:sym typeface="Symbol" pitchFamily="18" charset="2"/>
              </a:rPr>
              <a:t>	</a:t>
            </a:r>
            <a:r>
              <a:rPr lang="fr-CA" sz="2400" dirty="0">
                <a:solidFill>
                  <a:schemeClr val="accent1"/>
                </a:solidFill>
                <a:sym typeface="Symbol" pitchFamily="18" charset="2"/>
              </a:rPr>
              <a:t>Exemple:	HCE </a:t>
            </a:r>
            <a:r>
              <a:rPr lang="fr-CA" sz="2400" dirty="0" err="1">
                <a:solidFill>
                  <a:schemeClr val="accent1"/>
                </a:solidFill>
                <a:sym typeface="Symbol" pitchFamily="18" charset="2"/>
              </a:rPr>
              <a:t>inc.</a:t>
            </a:r>
            <a:endParaRPr lang="fr-CA" sz="2400" dirty="0">
              <a:solidFill>
                <a:schemeClr val="accent1"/>
              </a:solidFill>
              <a:sym typeface="Symbol" pitchFamily="18" charset="2"/>
            </a:endParaRPr>
          </a:p>
          <a:p>
            <a:pPr marL="914400" lvl="1" indent="-457200">
              <a:buFont typeface="Wingdings" pitchFamily="2" charset="2"/>
              <a:buNone/>
            </a:pPr>
            <a:r>
              <a:rPr lang="fr-CA" sz="2400" dirty="0">
                <a:solidFill>
                  <a:schemeClr val="accent1"/>
                </a:solidFill>
                <a:sym typeface="Symbol" pitchFamily="18" charset="2"/>
              </a:rPr>
              <a:t>			</a:t>
            </a:r>
            <a:r>
              <a:rPr lang="fr-CA" sz="2400" dirty="0" err="1">
                <a:solidFill>
                  <a:schemeClr val="accent1"/>
                </a:solidFill>
                <a:sym typeface="Symbol" pitchFamily="18" charset="2"/>
              </a:rPr>
              <a:t>R</a:t>
            </a:r>
            <a:r>
              <a:rPr lang="fr-CA" sz="2400" baseline="-25000" dirty="0" err="1">
                <a:solidFill>
                  <a:schemeClr val="accent1"/>
                </a:solidFill>
                <a:sym typeface="Symbol" pitchFamily="18" charset="2"/>
              </a:rPr>
              <a:t>e</a:t>
            </a:r>
            <a:r>
              <a:rPr lang="fr-CA" sz="2400" dirty="0">
                <a:solidFill>
                  <a:schemeClr val="accent1"/>
                </a:solidFill>
                <a:sym typeface="Symbol" pitchFamily="18" charset="2"/>
              </a:rPr>
              <a:t>=1,05$/10$ + 5% = 15,5%</a:t>
            </a:r>
          </a:p>
          <a:p>
            <a:pPr marL="914400" lvl="1" indent="-457200">
              <a:buFont typeface="Wingdings" pitchFamily="2" charset="2"/>
              <a:buNone/>
            </a:pPr>
            <a:r>
              <a:rPr lang="fr-CA" sz="2400" dirty="0">
                <a:sym typeface="Symbol" pitchFamily="18" charset="2"/>
              </a:rPr>
              <a:t>Que faire?</a:t>
            </a:r>
          </a:p>
        </p:txBody>
      </p:sp>
      <p:sp>
        <p:nvSpPr>
          <p:cNvPr id="15365" name="Text Box 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403648" y="1779662"/>
            <a:ext cx="441620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2400" dirty="0">
                <a:latin typeface="Tahoma" charset="0"/>
              </a:rPr>
              <a:t>E(R</a:t>
            </a:r>
            <a:r>
              <a:rPr lang="fr-CA" sz="2400" baseline="-25000" dirty="0">
                <a:latin typeface="Tahoma" charset="0"/>
              </a:rPr>
              <a:t>i</a:t>
            </a:r>
            <a:r>
              <a:rPr lang="fr-CA" sz="2400" dirty="0">
                <a:latin typeface="Tahoma" charset="0"/>
              </a:rPr>
              <a:t>) = </a:t>
            </a:r>
            <a:r>
              <a:rPr lang="fr-CA" sz="2400" dirty="0" err="1">
                <a:latin typeface="Tahoma" charset="0"/>
              </a:rPr>
              <a:t>R</a:t>
            </a:r>
            <a:r>
              <a:rPr lang="fr-CA" sz="2400" baseline="-25000" dirty="0" err="1">
                <a:latin typeface="Tahoma" charset="0"/>
              </a:rPr>
              <a:t>e</a:t>
            </a:r>
            <a:r>
              <a:rPr lang="fr-CA" sz="2400" dirty="0">
                <a:latin typeface="Tahoma" charset="0"/>
              </a:rPr>
              <a:t>= </a:t>
            </a:r>
            <a:r>
              <a:rPr lang="fr-CA" sz="2400" dirty="0" err="1">
                <a:latin typeface="Tahoma" charset="0"/>
              </a:rPr>
              <a:t>R</a:t>
            </a:r>
            <a:r>
              <a:rPr lang="fr-CA" sz="2400" baseline="-25000" dirty="0" err="1">
                <a:latin typeface="Tahoma" charset="0"/>
              </a:rPr>
              <a:t>f</a:t>
            </a:r>
            <a:r>
              <a:rPr lang="fr-CA" sz="2400" dirty="0">
                <a:latin typeface="Tahoma" charset="0"/>
              </a:rPr>
              <a:t> + </a:t>
            </a:r>
            <a:r>
              <a:rPr lang="fr-CA" sz="2400" dirty="0">
                <a:latin typeface="Tahoma" charset="0"/>
                <a:sym typeface="Symbol" pitchFamily="18" charset="2"/>
              </a:rPr>
              <a:t>[E(</a:t>
            </a:r>
            <a:r>
              <a:rPr lang="fr-CA" sz="2400" dirty="0" err="1">
                <a:latin typeface="Tahoma" charset="0"/>
                <a:sym typeface="Symbol" pitchFamily="18" charset="2"/>
              </a:rPr>
              <a:t>R</a:t>
            </a:r>
            <a:r>
              <a:rPr lang="fr-CA" sz="2400" baseline="-25000" dirty="0" err="1">
                <a:latin typeface="Tahoma" charset="0"/>
                <a:sym typeface="Symbol" pitchFamily="18" charset="2"/>
              </a:rPr>
              <a:t>m</a:t>
            </a:r>
            <a:r>
              <a:rPr lang="fr-CA" sz="2400" dirty="0">
                <a:latin typeface="Tahoma" charset="0"/>
                <a:sym typeface="Symbol" pitchFamily="18" charset="2"/>
              </a:rPr>
              <a:t>)-</a:t>
            </a:r>
            <a:r>
              <a:rPr lang="fr-CA" sz="2400" dirty="0" err="1">
                <a:latin typeface="Tahoma" charset="0"/>
                <a:sym typeface="Symbol" pitchFamily="18" charset="2"/>
              </a:rPr>
              <a:t>R</a:t>
            </a:r>
            <a:r>
              <a:rPr lang="fr-CA" sz="2400" baseline="-25000" dirty="0" err="1">
                <a:latin typeface="Tahoma" charset="0"/>
                <a:sym typeface="Symbol" pitchFamily="18" charset="2"/>
              </a:rPr>
              <a:t>f</a:t>
            </a:r>
            <a:r>
              <a:rPr lang="fr-CA" sz="2400" dirty="0">
                <a:latin typeface="Tahoma" charset="0"/>
                <a:sym typeface="Symbol" pitchFamily="18" charset="2"/>
              </a:rPr>
              <a:t>] </a:t>
            </a:r>
            <a:r>
              <a:rPr lang="fr-CA" sz="2400" baseline="-25000" dirty="0">
                <a:latin typeface="Tahoma" charset="0"/>
                <a:sym typeface="Symbol" pitchFamily="18" charset="2"/>
              </a:rPr>
              <a:t>i</a:t>
            </a:r>
            <a:r>
              <a:rPr lang="fr-CA" sz="1600" dirty="0">
                <a:latin typeface="Tahoma" charset="0"/>
                <a:sym typeface="Symbol" pitchFamily="18" charset="2"/>
              </a:rPr>
              <a:t> </a:t>
            </a:r>
          </a:p>
        </p:txBody>
      </p:sp>
      <p:graphicFrame>
        <p:nvGraphicFramePr>
          <p:cNvPr id="36867" name="Object 3"/>
          <p:cNvGraphicFramePr>
            <a:graphicFrameLocks noGrp="1" noChangeAspect="1"/>
          </p:cNvGraphicFramePr>
          <p:nvPr>
            <p:ph idx="1"/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411554577"/>
              </p:ext>
            </p:extLst>
          </p:nvPr>
        </p:nvGraphicFramePr>
        <p:xfrm>
          <a:off x="1403648" y="3075806"/>
          <a:ext cx="1143656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1" name="Equation" r:id="rId7" imgW="761760" imgH="431640" progId="Equation.3">
                  <p:embed/>
                </p:oleObj>
              </mc:Choice>
              <mc:Fallback>
                <p:oleObj name="Equation" r:id="rId7" imgW="761760" imgH="431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075806"/>
                        <a:ext cx="1143656" cy="6480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153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Le calcul du CMPC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254093"/>
            <a:ext cx="3971927" cy="360010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CA" sz="2000" u="sng" dirty="0">
                <a:sym typeface="Symbol" pitchFamily="18" charset="2"/>
              </a:rPr>
              <a:t>Coût des actions ordinaires (</a:t>
            </a:r>
            <a:r>
              <a:rPr lang="fr-CA" sz="2000" u="sng" dirty="0" err="1">
                <a:sym typeface="Symbol" pitchFamily="18" charset="2"/>
              </a:rPr>
              <a:t>R</a:t>
            </a:r>
            <a:r>
              <a:rPr lang="fr-CA" sz="2000" u="sng" baseline="-25000" dirty="0" err="1">
                <a:sym typeface="Symbol" pitchFamily="18" charset="2"/>
              </a:rPr>
              <a:t>e</a:t>
            </a:r>
            <a:r>
              <a:rPr lang="fr-CA" sz="2000" u="sng" dirty="0">
                <a:sym typeface="Symbol" pitchFamily="18" charset="2"/>
              </a:rPr>
              <a:t>)</a:t>
            </a:r>
          </a:p>
          <a:p>
            <a:pPr marL="0" indent="0">
              <a:buNone/>
            </a:pPr>
            <a:r>
              <a:rPr lang="fr-CA" sz="2000" dirty="0">
                <a:sym typeface="Symbol" pitchFamily="18" charset="2"/>
              </a:rPr>
              <a:t>En pratique:</a:t>
            </a:r>
          </a:p>
          <a:p>
            <a:pPr marL="0" indent="0">
              <a:buNone/>
            </a:pPr>
            <a:endParaRPr lang="fr-CA" sz="2000" dirty="0">
              <a:sym typeface="Symbol" pitchFamily="18" charset="2"/>
            </a:endParaRPr>
          </a:p>
          <a:p>
            <a:pPr marL="182563" indent="-182563">
              <a:buFont typeface="Wingdings" panose="05000000000000000000" pitchFamily="2" charset="2"/>
              <a:buChar char="§"/>
            </a:pPr>
            <a:r>
              <a:rPr lang="fr-CA" sz="2000" dirty="0">
                <a:sym typeface="Symbol" pitchFamily="18" charset="2"/>
              </a:rPr>
              <a:t>Plusieurs méthodes alternatives</a:t>
            </a:r>
          </a:p>
          <a:p>
            <a:pPr marL="182563" indent="-182563">
              <a:buFont typeface="Wingdings" panose="05000000000000000000" pitchFamily="2" charset="2"/>
              <a:buChar char="§"/>
            </a:pPr>
            <a:endParaRPr lang="fr-CA" sz="2000" dirty="0">
              <a:sym typeface="Symbol" pitchFamily="18" charset="2"/>
            </a:endParaRPr>
          </a:p>
          <a:p>
            <a:pPr marL="182563" indent="-182563">
              <a:buFont typeface="Wingdings" panose="05000000000000000000" pitchFamily="2" charset="2"/>
              <a:buChar char="§"/>
            </a:pPr>
            <a:r>
              <a:rPr lang="fr-CA" sz="2000" dirty="0">
                <a:sym typeface="Symbol" pitchFamily="18" charset="2"/>
              </a:rPr>
              <a:t>Le MEDAF est habituellement privilégié, malgré les inconvénients</a:t>
            </a:r>
          </a:p>
          <a:p>
            <a:pPr marL="182563" indent="-182563">
              <a:buFont typeface="Wingdings" panose="05000000000000000000" pitchFamily="2" charset="2"/>
              <a:buChar char="§"/>
            </a:pPr>
            <a:endParaRPr lang="fr-CA" sz="2000" dirty="0">
              <a:sym typeface="Symbol" pitchFamily="18" charset="2"/>
            </a:endParaRPr>
          </a:p>
          <a:p>
            <a:pPr marL="182563" indent="-182563">
              <a:buFont typeface="Wingdings" panose="05000000000000000000" pitchFamily="2" charset="2"/>
              <a:buChar char="§"/>
            </a:pPr>
            <a:r>
              <a:rPr lang="fr-CA" sz="2000" dirty="0">
                <a:sym typeface="Symbol" pitchFamily="18" charset="2"/>
              </a:rPr>
              <a:t>L’objectif est de trouver un taux raisonnable (exercice de jugement professionnel)</a:t>
            </a:r>
            <a:endParaRPr lang="fr-CA" sz="1800" dirty="0">
              <a:sym typeface="Symbol" pitchFamily="18" charset="2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385074" y="1741927"/>
            <a:ext cx="4266604" cy="2624436"/>
            <a:chOff x="4450727" y="2292401"/>
            <a:chExt cx="4266604" cy="2624436"/>
          </a:xfrm>
        </p:grpSpPr>
        <p:pic>
          <p:nvPicPr>
            <p:cNvPr id="14" name="Picture 4"/>
            <p:cNvPicPr>
              <a:picLocks noChangeAspect="1" noChangeArrowheads="1"/>
            </p:cNvPicPr>
            <p:nvPr>
              <p:custDataLst>
                <p:tags r:id="rId3"/>
              </p:custDataLst>
            </p:nvPr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450727" y="2292401"/>
              <a:ext cx="4266604" cy="262443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sp>
          <p:nvSpPr>
            <p:cNvPr id="3" name="Rectangle 2"/>
            <p:cNvSpPr/>
            <p:nvPr>
              <p:custDataLst>
                <p:tags r:id="rId4"/>
              </p:custDataLst>
            </p:nvPr>
          </p:nvSpPr>
          <p:spPr>
            <a:xfrm>
              <a:off x="4832752" y="3517582"/>
              <a:ext cx="1747961" cy="239784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6" name="Rectangle 15"/>
            <p:cNvSpPr/>
            <p:nvPr>
              <p:custDataLst>
                <p:tags r:id="rId5"/>
              </p:custDataLst>
            </p:nvPr>
          </p:nvSpPr>
          <p:spPr>
            <a:xfrm>
              <a:off x="5500718" y="2736121"/>
              <a:ext cx="2815697" cy="274414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4147743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Le calcul du CMPC</a:t>
            </a:r>
          </a:p>
        </p:txBody>
      </p:sp>
      <p:grpSp>
        <p:nvGrpSpPr>
          <p:cNvPr id="7" name="Groupe 6"/>
          <p:cNvGrpSpPr/>
          <p:nvPr>
            <p:custDataLst>
              <p:tags r:id="rId2"/>
            </p:custDataLst>
          </p:nvPr>
        </p:nvGrpSpPr>
        <p:grpSpPr>
          <a:xfrm>
            <a:off x="485696" y="1347614"/>
            <a:ext cx="8179504" cy="3096344"/>
            <a:chOff x="365760" y="1371600"/>
            <a:chExt cx="8229600" cy="4297679"/>
          </a:xfrm>
        </p:grpSpPr>
        <p:sp>
          <p:nvSpPr>
            <p:cNvPr id="8" name="Rectangle 3"/>
            <p:cNvSpPr txBox="1">
              <a:spLocks noChangeArrowheads="1"/>
            </p:cNvSpPr>
            <p:nvPr/>
          </p:nvSpPr>
          <p:spPr bwMode="auto">
            <a:xfrm>
              <a:off x="365760" y="2117556"/>
              <a:ext cx="4072820" cy="2637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pPr marL="266700" marR="0" lvl="1" indent="-266700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Times New Roman" pitchFamily="18" charset="0"/>
                <a:buChar char="•"/>
                <a:tabLst/>
                <a:defRPr/>
              </a:pPr>
              <a:r>
                <a:rPr lang="fr-FR" kern="0" dirty="0">
                  <a:solidFill>
                    <a:srgbClr val="525051">
                      <a:lumMod val="50000"/>
                    </a:srgbClr>
                  </a:solidFill>
                  <a:latin typeface="+mn-lt"/>
                </a:rPr>
                <a:t>S’ajuste en fonction du risque systématique</a:t>
              </a:r>
            </a:p>
            <a:p>
              <a:pPr marL="266700" marR="0" lvl="1" indent="-266700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Times New Roman" pitchFamily="18" charset="0"/>
                <a:buChar char="•"/>
                <a:tabLst/>
                <a:defRPr/>
              </a:pPr>
              <a:r>
                <a:rPr lang="fr-FR" kern="0" dirty="0">
                  <a:solidFill>
                    <a:srgbClr val="525051">
                      <a:lumMod val="50000"/>
                    </a:srgbClr>
                  </a:solidFill>
                  <a:latin typeface="+mn-lt"/>
                </a:rPr>
                <a:t>Applicable à toutes les compagnies si l’on peut calculer le Béta.</a:t>
              </a:r>
            </a:p>
            <a:p>
              <a:pPr marL="266700" marR="0" lvl="1" indent="-266700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Times New Roman" pitchFamily="18" charset="0"/>
                <a:buChar char="•"/>
                <a:tabLst/>
                <a:defRPr/>
              </a:pPr>
              <a:endParaRPr lang="en-US" sz="1200" kern="0" dirty="0">
                <a:solidFill>
                  <a:srgbClr val="525051">
                    <a:lumMod val="50000"/>
                  </a:srgbClr>
                </a:solidFill>
                <a:latin typeface="+mn-lt"/>
              </a:endParaRPr>
            </a:p>
          </p:txBody>
        </p:sp>
        <p:sp>
          <p:nvSpPr>
            <p:cNvPr id="9" name="Rectangle 4"/>
            <p:cNvSpPr txBox="1">
              <a:spLocks noChangeArrowheads="1"/>
            </p:cNvSpPr>
            <p:nvPr/>
          </p:nvSpPr>
          <p:spPr>
            <a:xfrm>
              <a:off x="4572000" y="2133601"/>
              <a:ext cx="4023360" cy="2895600"/>
            </a:xfrm>
            <a:prstGeom prst="rect">
              <a:avLst/>
            </a:prstGeom>
          </p:spPr>
          <p:txBody>
            <a:bodyPr lIns="91422" tIns="45711" rIns="91422" bIns="45711"/>
            <a:lstStyle/>
            <a:p>
              <a:pPr marL="177800" marR="0" lvl="1" indent="-177800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Times New Roman" pitchFamily="18" charset="0"/>
                <a:buChar char="•"/>
                <a:tabLst/>
                <a:defRPr/>
              </a:pPr>
              <a:r>
                <a:rPr lang="fr-FR" kern="0" dirty="0">
                  <a:solidFill>
                    <a:srgbClr val="525051">
                      <a:lumMod val="50000"/>
                    </a:srgbClr>
                  </a:solidFill>
                  <a:latin typeface="+mn-lt"/>
                </a:rPr>
                <a:t>On doit estimer l’espérance du premium de risque du marché (varie constamment)</a:t>
              </a:r>
            </a:p>
            <a:p>
              <a:pPr marL="177800" marR="0" lvl="1" indent="-177800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Times New Roman" pitchFamily="18" charset="0"/>
                <a:buChar char="•"/>
                <a:tabLst/>
                <a:defRPr/>
              </a:pPr>
              <a:r>
                <a:rPr lang="fr-FR" kern="0" dirty="0">
                  <a:solidFill>
                    <a:srgbClr val="525051">
                      <a:lumMod val="50000"/>
                    </a:srgbClr>
                  </a:solidFill>
                  <a:latin typeface="+mn-lt"/>
                </a:rPr>
                <a:t>On doit estimer le Béta (varie aussi constamment)</a:t>
              </a:r>
            </a:p>
            <a:p>
              <a:pPr marL="177800" marR="0" lvl="1" indent="-177800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Times New Roman" pitchFamily="18" charset="0"/>
                <a:buChar char="•"/>
                <a:tabLst/>
                <a:defRPr/>
              </a:pPr>
              <a:r>
                <a:rPr lang="fr-FR" kern="0" dirty="0">
                  <a:solidFill>
                    <a:srgbClr val="525051">
                      <a:lumMod val="50000"/>
                    </a:srgbClr>
                  </a:solidFill>
                  <a:latin typeface="+mn-lt"/>
                </a:rPr>
                <a:t>On se fie au passé pour prédire le futur, ce qui n’est pas toujours très juste</a:t>
              </a:r>
            </a:p>
          </p:txBody>
        </p:sp>
        <p:sp>
          <p:nvSpPr>
            <p:cNvPr id="10" name="Rectangle 9"/>
            <p:cNvSpPr/>
            <p:nvPr/>
          </p:nvSpPr>
          <p:spPr>
            <a:xfrm rot="5400000">
              <a:off x="2103120" y="-365760"/>
              <a:ext cx="548641" cy="4023361"/>
            </a:xfrm>
            <a:prstGeom prst="rect">
              <a:avLst/>
            </a:prstGeom>
            <a:solidFill>
              <a:srgbClr val="525051">
                <a:lumMod val="40000"/>
                <a:lumOff val="60000"/>
              </a:srgbClr>
            </a:solidFill>
            <a:ln w="12700" cap="flat" cmpd="sng" algn="ctr">
              <a:solidFill>
                <a:srgbClr val="6B7295">
                  <a:shade val="50000"/>
                </a:srgbClr>
              </a:solidFill>
              <a:prstDash val="solid"/>
            </a:ln>
            <a:effectLst/>
          </p:spPr>
          <p:txBody>
            <a:bodyPr vert="vert27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b="1" kern="0" dirty="0">
                  <a:solidFill>
                    <a:srgbClr val="525051">
                      <a:lumMod val="50000"/>
                    </a:srgbClr>
                  </a:solidFill>
                  <a:latin typeface="+mn-lt"/>
                </a:rPr>
                <a:t>MEDAF: avantages</a:t>
              </a:r>
            </a:p>
          </p:txBody>
        </p:sp>
        <p:sp>
          <p:nvSpPr>
            <p:cNvPr id="11" name="Rectangle 10"/>
            <p:cNvSpPr/>
            <p:nvPr/>
          </p:nvSpPr>
          <p:spPr>
            <a:xfrm rot="5400000">
              <a:off x="6309360" y="-365760"/>
              <a:ext cx="548640" cy="4023360"/>
            </a:xfrm>
            <a:prstGeom prst="rect">
              <a:avLst/>
            </a:prstGeom>
            <a:solidFill>
              <a:srgbClr val="525051">
                <a:lumMod val="40000"/>
                <a:lumOff val="60000"/>
              </a:srgbClr>
            </a:solidFill>
            <a:ln w="12700" cap="flat" cmpd="sng" algn="ctr">
              <a:solidFill>
                <a:srgbClr val="6B7295">
                  <a:shade val="50000"/>
                </a:srgbClr>
              </a:solidFill>
              <a:prstDash val="solid"/>
            </a:ln>
            <a:effectLst/>
          </p:spPr>
          <p:txBody>
            <a:bodyPr vert="vert27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b="1" kern="0" dirty="0">
                  <a:solidFill>
                    <a:srgbClr val="525051">
                      <a:lumMod val="50000"/>
                    </a:srgbClr>
                  </a:solidFill>
                  <a:latin typeface="+mn-lt"/>
                </a:rPr>
                <a:t>MEDAF: inconvénients</a:t>
              </a:r>
            </a:p>
          </p:txBody>
        </p:sp>
        <p:sp>
          <p:nvSpPr>
            <p:cNvPr id="12" name="Rectangle 11"/>
            <p:cNvSpPr/>
            <p:nvPr/>
          </p:nvSpPr>
          <p:spPr>
            <a:xfrm rot="5400000">
              <a:off x="571500" y="1851660"/>
              <a:ext cx="3611879" cy="4023360"/>
            </a:xfrm>
            <a:prstGeom prst="rect">
              <a:avLst/>
            </a:prstGeom>
            <a:noFill/>
            <a:ln w="12700" cap="flat" cmpd="sng" algn="ctr">
              <a:solidFill>
                <a:srgbClr val="6B7295">
                  <a:shade val="50000"/>
                </a:srgbClr>
              </a:solidFill>
              <a:prstDash val="solid"/>
            </a:ln>
            <a:effectLst/>
          </p:spPr>
          <p:txBody>
            <a:bodyPr vert="vert27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CA" sz="1200" b="1" i="0" u="none" strike="noStrike" kern="0" cap="none" spc="0" normalizeH="0" baseline="0" noProof="0" dirty="0">
                <a:ln>
                  <a:noFill/>
                </a:ln>
                <a:solidFill>
                  <a:srgbClr val="525051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777740" y="1851660"/>
              <a:ext cx="3611879" cy="4023360"/>
            </a:xfrm>
            <a:prstGeom prst="rect">
              <a:avLst/>
            </a:prstGeom>
            <a:noFill/>
            <a:ln w="12700" cap="flat" cmpd="sng" algn="ctr">
              <a:solidFill>
                <a:srgbClr val="6B7295">
                  <a:shade val="50000"/>
                </a:srgbClr>
              </a:solidFill>
              <a:prstDash val="solid"/>
            </a:ln>
            <a:effectLst/>
          </p:spPr>
          <p:txBody>
            <a:bodyPr vert="vert27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CA" sz="1200" b="1" i="0" u="none" strike="noStrike" kern="0" cap="none" spc="0" normalizeH="0" baseline="0" noProof="0" dirty="0">
                <a:ln>
                  <a:noFill/>
                </a:ln>
                <a:solidFill>
                  <a:srgbClr val="525051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9740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Le calcul du CMPC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4294967295"/>
            <p:custDataLst>
              <p:tags r:id="rId3"/>
            </p:custDataLst>
          </p:nvPr>
        </p:nvSpPr>
        <p:spPr>
          <a:xfrm>
            <a:off x="478800" y="1112838"/>
            <a:ext cx="8186400" cy="3619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800" u="sng" dirty="0">
                <a:sym typeface="Symbol" pitchFamily="18" charset="2"/>
              </a:rPr>
              <a:t>Coût des actions privilégiées (</a:t>
            </a:r>
            <a:r>
              <a:rPr lang="fr-CA" sz="2800" u="sng" dirty="0" err="1">
                <a:sym typeface="Symbol" pitchFamily="18" charset="2"/>
              </a:rPr>
              <a:t>R</a:t>
            </a:r>
            <a:r>
              <a:rPr lang="fr-CA" sz="2800" u="sng" baseline="-25000" dirty="0" err="1">
                <a:sym typeface="Symbol" pitchFamily="18" charset="2"/>
              </a:rPr>
              <a:t>p</a:t>
            </a:r>
            <a:r>
              <a:rPr lang="fr-CA" sz="2800" u="sng" dirty="0">
                <a:sym typeface="Symbol" pitchFamily="18" charset="2"/>
              </a:rPr>
              <a:t>)</a:t>
            </a:r>
          </a:p>
          <a:p>
            <a:pPr marL="914400" lvl="1" indent="-457200"/>
            <a:r>
              <a:rPr lang="fr-CA" sz="2400" dirty="0">
                <a:sym typeface="Symbol" pitchFamily="18" charset="2"/>
              </a:rPr>
              <a:t>Perpétuité à croissance nulle</a:t>
            </a:r>
          </a:p>
          <a:p>
            <a:pPr marL="914400" lvl="1" indent="-457200"/>
            <a:endParaRPr lang="fr-CA" sz="2400" dirty="0">
              <a:sym typeface="Symbol" pitchFamily="18" charset="2"/>
            </a:endParaRPr>
          </a:p>
          <a:p>
            <a:pPr marL="914400" lvl="1" indent="-457200"/>
            <a:endParaRPr lang="fr-CA" sz="2400" dirty="0">
              <a:sym typeface="Symbol" pitchFamily="18" charset="2"/>
            </a:endParaRPr>
          </a:p>
          <a:p>
            <a:pPr marL="914400" lvl="1" indent="-457200"/>
            <a:endParaRPr lang="fr-CA" sz="2400" dirty="0">
              <a:sym typeface="Symbol" pitchFamily="18" charset="2"/>
            </a:endParaRPr>
          </a:p>
          <a:p>
            <a:pPr marL="914400" lvl="1" indent="-457200">
              <a:buFontTx/>
              <a:buNone/>
            </a:pPr>
            <a:r>
              <a:rPr lang="fr-CA" sz="2400" dirty="0">
                <a:sym typeface="Symbol" pitchFamily="18" charset="2"/>
              </a:rPr>
              <a:t>	</a:t>
            </a:r>
            <a:r>
              <a:rPr lang="fr-CA" sz="2400" dirty="0">
                <a:solidFill>
                  <a:schemeClr val="accent1"/>
                </a:solidFill>
                <a:sym typeface="Symbol" pitchFamily="18" charset="2"/>
              </a:rPr>
              <a:t>Exemple:	HCE </a:t>
            </a:r>
            <a:r>
              <a:rPr lang="fr-CA" sz="2400" dirty="0" err="1">
                <a:solidFill>
                  <a:schemeClr val="accent1"/>
                </a:solidFill>
                <a:sym typeface="Symbol" pitchFamily="18" charset="2"/>
              </a:rPr>
              <a:t>inc</a:t>
            </a:r>
            <a:r>
              <a:rPr lang="fr-CA" sz="2400" dirty="0">
                <a:solidFill>
                  <a:schemeClr val="accent1"/>
                </a:solidFill>
                <a:sym typeface="Symbol" pitchFamily="18" charset="2"/>
              </a:rPr>
              <a:t>.</a:t>
            </a:r>
          </a:p>
          <a:p>
            <a:pPr marL="914400" lvl="1" indent="-457200">
              <a:buFontTx/>
              <a:buNone/>
            </a:pPr>
            <a:r>
              <a:rPr lang="fr-CA" sz="2400" dirty="0">
                <a:solidFill>
                  <a:schemeClr val="accent1"/>
                </a:solidFill>
                <a:sym typeface="Symbol" pitchFamily="18" charset="2"/>
              </a:rPr>
              <a:t>			</a:t>
            </a:r>
            <a:r>
              <a:rPr lang="fr-CA" sz="2400" dirty="0" err="1">
                <a:solidFill>
                  <a:schemeClr val="accent1"/>
                </a:solidFill>
                <a:sym typeface="Symbol" pitchFamily="18" charset="2"/>
              </a:rPr>
              <a:t>R</a:t>
            </a:r>
            <a:r>
              <a:rPr lang="fr-CA" sz="2400" baseline="-25000" dirty="0" err="1">
                <a:solidFill>
                  <a:schemeClr val="accent1"/>
                </a:solidFill>
                <a:sym typeface="Symbol" pitchFamily="18" charset="2"/>
              </a:rPr>
              <a:t>p</a:t>
            </a:r>
            <a:r>
              <a:rPr lang="fr-CA" sz="2400" dirty="0">
                <a:solidFill>
                  <a:schemeClr val="accent1"/>
                </a:solidFill>
                <a:sym typeface="Symbol" pitchFamily="18" charset="2"/>
              </a:rPr>
              <a:t> = D/P = 0,50$/6,25$ = 8%</a:t>
            </a:r>
          </a:p>
        </p:txBody>
      </p:sp>
      <p:graphicFrame>
        <p:nvGraphicFramePr>
          <p:cNvPr id="37891" name="Object 3"/>
          <p:cNvGraphicFramePr>
            <a:graphicFrameLocks noGrp="1" noChangeAspect="1"/>
          </p:cNvGraphicFramePr>
          <p:nvPr>
            <p:ph idx="1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276464175"/>
              </p:ext>
            </p:extLst>
          </p:nvPr>
        </p:nvGraphicFramePr>
        <p:xfrm>
          <a:off x="3635896" y="2067694"/>
          <a:ext cx="1368152" cy="112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3" name="Équation" r:id="rId6" imgW="571320" imgH="469800" progId="Equation.3">
                  <p:embed/>
                </p:oleObj>
              </mc:Choice>
              <mc:Fallback>
                <p:oleObj name="Équation" r:id="rId6" imgW="571320" imgH="4698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896" y="2067694"/>
                        <a:ext cx="1368152" cy="11249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Le calcul du CMPC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4294967295"/>
            <p:custDataLst>
              <p:tags r:id="rId3"/>
            </p:custDataLst>
          </p:nvPr>
        </p:nvSpPr>
        <p:spPr>
          <a:xfrm>
            <a:off x="478800" y="1168400"/>
            <a:ext cx="8665200" cy="37798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CA" sz="2800" u="sng" dirty="0">
                <a:sym typeface="Symbol" pitchFamily="18" charset="2"/>
              </a:rPr>
              <a:t>Coût de la dette (R</a:t>
            </a:r>
            <a:r>
              <a:rPr lang="fr-CA" sz="2800" u="sng" baseline="-25000" dirty="0">
                <a:sym typeface="Symbol" pitchFamily="18" charset="2"/>
              </a:rPr>
              <a:t>d</a:t>
            </a:r>
            <a:r>
              <a:rPr lang="fr-CA" sz="2800" u="sng" dirty="0">
                <a:sym typeface="Symbol" pitchFamily="18" charset="2"/>
              </a:rPr>
              <a:t>)</a:t>
            </a:r>
          </a:p>
          <a:p>
            <a:pPr marL="457200" lvl="1" indent="0">
              <a:buNone/>
            </a:pPr>
            <a:r>
              <a:rPr lang="fr-CA" sz="2400" dirty="0">
                <a:sym typeface="Symbol" pitchFamily="18" charset="2"/>
              </a:rPr>
              <a:t>Valeur de l’obligation au marché</a:t>
            </a:r>
          </a:p>
          <a:p>
            <a:pPr marL="914400" lvl="1" indent="-457200"/>
            <a:endParaRPr lang="fr-CA" sz="2400" dirty="0">
              <a:sym typeface="Symbol" pitchFamily="18" charset="2"/>
            </a:endParaRPr>
          </a:p>
          <a:p>
            <a:pPr marL="914400" lvl="1" indent="-457200"/>
            <a:endParaRPr lang="fr-CA" sz="2400" dirty="0">
              <a:sym typeface="Symbol" pitchFamily="18" charset="2"/>
            </a:endParaRPr>
          </a:p>
          <a:p>
            <a:pPr marL="914400" lvl="1" indent="-457200"/>
            <a:endParaRPr lang="fr-CA" sz="2400" dirty="0">
              <a:sym typeface="Symbol" pitchFamily="18" charset="2"/>
            </a:endParaRPr>
          </a:p>
          <a:p>
            <a:pPr marL="914400" lvl="1" indent="-457200"/>
            <a:endParaRPr lang="fr-CA" sz="2400" dirty="0">
              <a:sym typeface="Symbol" pitchFamily="18" charset="2"/>
            </a:endParaRPr>
          </a:p>
          <a:p>
            <a:pPr marL="914400" lvl="1" indent="-457200">
              <a:buFontTx/>
              <a:buNone/>
            </a:pPr>
            <a:r>
              <a:rPr lang="fr-CA" sz="2400" dirty="0">
                <a:sym typeface="Symbol" pitchFamily="18" charset="2"/>
              </a:rPr>
              <a:t>	</a:t>
            </a:r>
          </a:p>
          <a:p>
            <a:pPr marL="914400" lvl="1" indent="-457200">
              <a:buFontTx/>
              <a:buNone/>
            </a:pPr>
            <a:endParaRPr lang="fr-CA" sz="2400" dirty="0">
              <a:sym typeface="Symbol" pitchFamily="18" charset="2"/>
            </a:endParaRPr>
          </a:p>
          <a:p>
            <a:pPr marL="914400" lvl="1" indent="-457200">
              <a:buFontTx/>
              <a:buNone/>
            </a:pPr>
            <a:r>
              <a:rPr lang="fr-CA" sz="2400" dirty="0">
                <a:solidFill>
                  <a:schemeClr val="accent1"/>
                </a:solidFill>
                <a:sym typeface="Symbol" pitchFamily="18" charset="2"/>
              </a:rPr>
              <a:t>Exemple:		r 	= 3,40 %</a:t>
            </a:r>
          </a:p>
          <a:p>
            <a:pPr marL="914400" lvl="1" indent="-457200">
              <a:buFontTx/>
              <a:buNone/>
            </a:pPr>
            <a:r>
              <a:rPr lang="fr-CA" sz="2400" dirty="0">
                <a:solidFill>
                  <a:schemeClr val="accent1"/>
                </a:solidFill>
                <a:sym typeface="Symbol" pitchFamily="18" charset="2"/>
              </a:rPr>
              <a:t>			TRE 	= 6,80 %</a:t>
            </a:r>
          </a:p>
          <a:p>
            <a:pPr marL="914400" lvl="1" indent="-457200">
              <a:buFontTx/>
              <a:buNone/>
            </a:pPr>
            <a:r>
              <a:rPr lang="fr-CA" sz="2400" dirty="0">
                <a:solidFill>
                  <a:schemeClr val="accent1"/>
                </a:solidFill>
                <a:sym typeface="Symbol" pitchFamily="18" charset="2"/>
              </a:rPr>
              <a:t>			</a:t>
            </a:r>
            <a:r>
              <a:rPr lang="fr-CA" sz="2400" dirty="0" err="1">
                <a:solidFill>
                  <a:schemeClr val="accent1"/>
                </a:solidFill>
                <a:sym typeface="Symbol" pitchFamily="18" charset="2"/>
              </a:rPr>
              <a:t>Tx</a:t>
            </a:r>
            <a:r>
              <a:rPr lang="fr-CA" sz="2400" baseline="-25000" dirty="0" err="1">
                <a:solidFill>
                  <a:schemeClr val="accent1"/>
                </a:solidFill>
                <a:sym typeface="Symbol" pitchFamily="18" charset="2"/>
              </a:rPr>
              <a:t>eff</a:t>
            </a:r>
            <a:r>
              <a:rPr lang="fr-CA" sz="2400" baseline="-25000" dirty="0">
                <a:solidFill>
                  <a:schemeClr val="accent1"/>
                </a:solidFill>
                <a:sym typeface="Symbol" pitchFamily="18" charset="2"/>
              </a:rPr>
              <a:t>	</a:t>
            </a:r>
            <a:r>
              <a:rPr lang="fr-CA" sz="2400" dirty="0">
                <a:solidFill>
                  <a:schemeClr val="accent1"/>
                </a:solidFill>
                <a:sym typeface="Symbol" pitchFamily="18" charset="2"/>
              </a:rPr>
              <a:t>= 6,92 %</a:t>
            </a:r>
          </a:p>
        </p:txBody>
      </p:sp>
      <p:graphicFrame>
        <p:nvGraphicFramePr>
          <p:cNvPr id="17412" name="Object 4"/>
          <p:cNvGraphicFramePr>
            <a:graphicFrameLocks noGrp="1" noChangeAspect="1"/>
          </p:cNvGraphicFramePr>
          <p:nvPr>
            <p:ph sz="quarter" idx="4294967295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99604892"/>
              </p:ext>
            </p:extLst>
          </p:nvPr>
        </p:nvGraphicFramePr>
        <p:xfrm>
          <a:off x="1619672" y="1858485"/>
          <a:ext cx="5688632" cy="908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8" name="Equation" r:id="rId7" imgW="3022560" imgH="482400" progId="Equation.3">
                  <p:embed/>
                </p:oleObj>
              </mc:Choice>
              <mc:Fallback>
                <p:oleObj name="Equation" r:id="rId7" imgW="3022560" imgH="4824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1858485"/>
                        <a:ext cx="5688632" cy="9082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5"/>
          <p:cNvGraphicFramePr>
            <a:graphicFrameLocks noGrp="1" noChangeAspect="1"/>
          </p:cNvGraphicFramePr>
          <p:nvPr>
            <p:ph idx="1"/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05736730"/>
              </p:ext>
            </p:extLst>
          </p:nvPr>
        </p:nvGraphicFramePr>
        <p:xfrm>
          <a:off x="2123728" y="2784218"/>
          <a:ext cx="4477150" cy="784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9" name="Equation" r:id="rId9" imgW="2755800" imgH="482400" progId="Equation.3">
                  <p:embed/>
                </p:oleObj>
              </mc:Choice>
              <mc:Fallback>
                <p:oleObj name="Equation" r:id="rId9" imgW="2755800" imgH="4824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2784218"/>
                        <a:ext cx="4477150" cy="7840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Le calcul du CMPC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sz="half" idx="4294967295"/>
            <p:custDataLst>
              <p:tags r:id="rId3"/>
            </p:custDataLst>
          </p:nvPr>
        </p:nvSpPr>
        <p:spPr>
          <a:xfrm>
            <a:off x="478800" y="1206500"/>
            <a:ext cx="8186400" cy="366950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CA" sz="2800" u="sng" dirty="0">
                <a:sym typeface="Symbol" pitchFamily="18" charset="2"/>
              </a:rPr>
              <a:t>Coût Moyen Pondéré du Capital (CMPC)</a:t>
            </a:r>
          </a:p>
          <a:p>
            <a:endParaRPr lang="fr-CA" sz="2800" dirty="0">
              <a:sym typeface="Symbol" pitchFamily="18" charset="2"/>
            </a:endParaRPr>
          </a:p>
          <a:p>
            <a:endParaRPr lang="fr-CA" sz="2800" dirty="0">
              <a:sym typeface="Symbol" pitchFamily="18" charset="2"/>
            </a:endParaRPr>
          </a:p>
          <a:p>
            <a:endParaRPr lang="fr-CA" sz="2800" dirty="0">
              <a:sym typeface="Symbol" pitchFamily="18" charset="2"/>
            </a:endParaRPr>
          </a:p>
          <a:p>
            <a:endParaRPr lang="fr-CA" sz="2800" dirty="0">
              <a:sym typeface="Symbol" pitchFamily="18" charset="2"/>
            </a:endParaRPr>
          </a:p>
          <a:p>
            <a:endParaRPr lang="fr-CA" sz="2800" dirty="0">
              <a:sym typeface="Symbol" pitchFamily="18" charset="2"/>
            </a:endParaRPr>
          </a:p>
          <a:p>
            <a:pPr marL="268920" lvl="1" indent="0">
              <a:buNone/>
            </a:pPr>
            <a:r>
              <a:rPr lang="fr-CA" sz="2400" dirty="0">
                <a:sym typeface="Symbol" pitchFamily="18" charset="2"/>
              </a:rPr>
              <a:t>CMPC = 9,23 %</a:t>
            </a:r>
          </a:p>
          <a:p>
            <a:pPr lvl="1">
              <a:buFontTx/>
              <a:buNone/>
            </a:pPr>
            <a:r>
              <a:rPr lang="fr-CA" sz="2400" dirty="0">
                <a:sym typeface="Symbol" pitchFamily="18" charset="2"/>
              </a:rPr>
              <a:t>Taux à exiger pour les projets de la firme HCE </a:t>
            </a:r>
            <a:r>
              <a:rPr lang="fr-CA" sz="2400" dirty="0" err="1">
                <a:sym typeface="Symbol" pitchFamily="18" charset="2"/>
              </a:rPr>
              <a:t>inc.</a:t>
            </a:r>
            <a:endParaRPr lang="fr-CA" sz="2400" dirty="0">
              <a:sym typeface="Symbol" pitchFamily="18" charset="2"/>
            </a:endParaRPr>
          </a:p>
          <a:p>
            <a:pPr lvl="1">
              <a:buFontTx/>
              <a:buNone/>
            </a:pPr>
            <a:r>
              <a:rPr lang="fr-CA" sz="2400" dirty="0">
                <a:sym typeface="Symbol" pitchFamily="18" charset="2"/>
              </a:rPr>
              <a:t>PROBLÈME: ne tient pas compte du risque d’un projet!</a:t>
            </a:r>
          </a:p>
        </p:txBody>
      </p:sp>
      <p:graphicFrame>
        <p:nvGraphicFramePr>
          <p:cNvPr id="18436" name="Object 4"/>
          <p:cNvGraphicFramePr>
            <a:graphicFrameLocks noGrp="1" noChangeAspect="1"/>
          </p:cNvGraphicFramePr>
          <p:nvPr>
            <p:ph idx="1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42363565"/>
              </p:ext>
            </p:extLst>
          </p:nvPr>
        </p:nvGraphicFramePr>
        <p:xfrm>
          <a:off x="1189652" y="1779662"/>
          <a:ext cx="503555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24" name="Equation" r:id="rId7" imgW="3085920" imgH="431640" progId="Equation.3">
                  <p:embed/>
                </p:oleObj>
              </mc:Choice>
              <mc:Fallback>
                <p:oleObj name="Equation" r:id="rId7" imgW="308592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652" y="1779662"/>
                        <a:ext cx="5035550" cy="7048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5"/>
          <p:cNvGraphicFramePr>
            <a:graphicFrameLocks noGrp="1" noChangeAspect="1"/>
          </p:cNvGraphicFramePr>
          <p:nvPr>
            <p:ph sz="quarter" idx="4294967295"/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55288819"/>
              </p:ext>
            </p:extLst>
          </p:nvPr>
        </p:nvGraphicFramePr>
        <p:xfrm>
          <a:off x="1174034" y="2701528"/>
          <a:ext cx="5456238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25" name="Equation" r:id="rId9" imgW="3466800" imgH="431640" progId="Equation.3">
                  <p:embed/>
                </p:oleObj>
              </mc:Choice>
              <mc:Fallback>
                <p:oleObj name="Equation" r:id="rId9" imgW="3466800" imgH="431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034" y="2701528"/>
                        <a:ext cx="5456238" cy="679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L’approximation par le CMPC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419918"/>
            <a:ext cx="8186400" cy="36001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u="sng" dirty="0">
                <a:sym typeface="Symbol" pitchFamily="18" charset="2"/>
              </a:rPr>
              <a:t>Le CMPC = coût moyen des actifs (en place)</a:t>
            </a:r>
          </a:p>
          <a:p>
            <a:endParaRPr lang="fr-CA" dirty="0">
              <a:sym typeface="Symbol" pitchFamily="18" charset="2"/>
            </a:endParaRPr>
          </a:p>
          <a:p>
            <a:endParaRPr lang="fr-CA" dirty="0">
              <a:sym typeface="Symbol" pitchFamily="18" charset="2"/>
            </a:endParaRPr>
          </a:p>
          <a:p>
            <a:endParaRPr lang="fr-CA" dirty="0">
              <a:sym typeface="Symbol" pitchFamily="18" charset="2"/>
            </a:endParaRPr>
          </a:p>
          <a:p>
            <a:endParaRPr lang="fr-CA" dirty="0">
              <a:sym typeface="Symbol" pitchFamily="18" charset="2"/>
            </a:endParaRPr>
          </a:p>
          <a:p>
            <a:endParaRPr lang="fr-CA" dirty="0">
              <a:sym typeface="Symbol" pitchFamily="18" charset="2"/>
            </a:endParaRPr>
          </a:p>
          <a:p>
            <a:endParaRPr lang="fr-CA" dirty="0">
              <a:sym typeface="Symbol" pitchFamily="18" charset="2"/>
            </a:endParaRPr>
          </a:p>
          <a:p>
            <a:endParaRPr lang="fr-CA" dirty="0">
              <a:sym typeface="Symbol" pitchFamily="18" charset="2"/>
            </a:endParaRPr>
          </a:p>
          <a:p>
            <a:pPr marL="0" indent="0">
              <a:buNone/>
            </a:pPr>
            <a:r>
              <a:rPr lang="fr-CA" dirty="0">
                <a:sym typeface="Symbol" pitchFamily="18" charset="2"/>
              </a:rPr>
              <a:t>				     </a:t>
            </a:r>
          </a:p>
          <a:p>
            <a:pPr marL="0" indent="0" algn="r">
              <a:buNone/>
            </a:pPr>
            <a:r>
              <a:rPr lang="fr-CA" sz="1600" dirty="0">
                <a:sym typeface="Symbol" pitchFamily="18" charset="2"/>
              </a:rPr>
              <a:t>Est-ce que le taux du CMPC est pertinent?</a:t>
            </a:r>
          </a:p>
          <a:p>
            <a:pPr marL="0" indent="0">
              <a:buNone/>
            </a:pPr>
            <a:r>
              <a:rPr lang="fr-CA" sz="1600" dirty="0">
                <a:sym typeface="Symbol" pitchFamily="18" charset="2"/>
              </a:rPr>
              <a:t>				         Non, CMPC ≠ risque du nouveau projet…</a:t>
            </a:r>
            <a:endParaRPr lang="fr-CA" sz="1400" dirty="0">
              <a:sym typeface="Symbol" pitchFamily="18" charset="2"/>
            </a:endParaRPr>
          </a:p>
        </p:txBody>
      </p:sp>
      <p:grpSp>
        <p:nvGrpSpPr>
          <p:cNvPr id="30" name="Groupe 29"/>
          <p:cNvGrpSpPr/>
          <p:nvPr>
            <p:custDataLst>
              <p:tags r:id="rId3"/>
            </p:custDataLst>
          </p:nvPr>
        </p:nvGrpSpPr>
        <p:grpSpPr>
          <a:xfrm>
            <a:off x="4929191" y="1821651"/>
            <a:ext cx="3885507" cy="1714512"/>
            <a:chOff x="4929190" y="2428868"/>
            <a:chExt cx="3885507" cy="2286016"/>
          </a:xfrm>
        </p:grpSpPr>
        <p:sp>
          <p:nvSpPr>
            <p:cNvPr id="15" name="Rectangle 14"/>
            <p:cNvSpPr/>
            <p:nvPr/>
          </p:nvSpPr>
          <p:spPr>
            <a:xfrm>
              <a:off x="4929190" y="2428868"/>
              <a:ext cx="1285884" cy="228601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Passifs LT</a:t>
              </a:r>
            </a:p>
            <a:p>
              <a:pPr algn="ctr"/>
              <a:endParaRPr lang="fr-CA" dirty="0"/>
            </a:p>
            <a:p>
              <a:pPr algn="ctr"/>
              <a:r>
                <a:rPr lang="fr-CA" dirty="0" err="1"/>
                <a:t>Act</a:t>
              </a:r>
              <a:r>
                <a:rPr lang="fr-CA" dirty="0"/>
                <a:t>. </a:t>
              </a:r>
              <a:r>
                <a:rPr lang="fr-CA" dirty="0" err="1"/>
                <a:t>priv</a:t>
              </a:r>
              <a:r>
                <a:rPr lang="fr-CA" dirty="0"/>
                <a:t>.</a:t>
              </a:r>
            </a:p>
            <a:p>
              <a:pPr algn="ctr"/>
              <a:endParaRPr lang="fr-CA" dirty="0"/>
            </a:p>
            <a:p>
              <a:pPr algn="ctr"/>
              <a:r>
                <a:rPr lang="fr-CA" dirty="0"/>
                <a:t>Fonds propres</a:t>
              </a:r>
            </a:p>
          </p:txBody>
        </p:sp>
        <p:cxnSp>
          <p:nvCxnSpPr>
            <p:cNvPr id="17" name="Connecteur droit 16"/>
            <p:cNvCxnSpPr/>
            <p:nvPr/>
          </p:nvCxnSpPr>
          <p:spPr>
            <a:xfrm>
              <a:off x="4929190" y="3018452"/>
              <a:ext cx="1285884" cy="0"/>
            </a:xfrm>
            <a:prstGeom prst="line">
              <a:avLst/>
            </a:prstGeom>
            <a:ln w="4762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Accolade fermante 18"/>
            <p:cNvSpPr/>
            <p:nvPr/>
          </p:nvSpPr>
          <p:spPr>
            <a:xfrm>
              <a:off x="6286512" y="2428868"/>
              <a:ext cx="500066" cy="2286016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20" name="ZoneTexte 19"/>
            <p:cNvSpPr txBox="1"/>
            <p:nvPr/>
          </p:nvSpPr>
          <p:spPr>
            <a:xfrm>
              <a:off x="6786578" y="3429000"/>
              <a:ext cx="2028119" cy="533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sz="2000" dirty="0">
                  <a:solidFill>
                    <a:schemeClr val="tx2"/>
                  </a:solidFill>
                </a:rPr>
                <a:t>CMPC = 9,23 %</a:t>
              </a:r>
            </a:p>
          </p:txBody>
        </p:sp>
      </p:grpSp>
      <p:sp>
        <p:nvSpPr>
          <p:cNvPr id="14" name="Rectangle 13"/>
          <p:cNvSpPr/>
          <p:nvPr>
            <p:custDataLst>
              <p:tags r:id="rId4"/>
            </p:custDataLst>
          </p:nvPr>
        </p:nvSpPr>
        <p:spPr>
          <a:xfrm>
            <a:off x="3000364" y="1821651"/>
            <a:ext cx="1285884" cy="171451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Actifs LT</a:t>
            </a:r>
          </a:p>
          <a:p>
            <a:pPr algn="ctr"/>
            <a:r>
              <a:rPr lang="fr-CA" dirty="0"/>
              <a:t>en place</a:t>
            </a:r>
          </a:p>
        </p:txBody>
      </p:sp>
      <p:sp>
        <p:nvSpPr>
          <p:cNvPr id="18" name="ZoneTexte 17"/>
          <p:cNvSpPr txBox="1"/>
          <p:nvPr>
            <p:custDataLst>
              <p:tags r:id="rId5"/>
            </p:custDataLst>
          </p:nvPr>
        </p:nvSpPr>
        <p:spPr>
          <a:xfrm>
            <a:off x="4357686" y="2357436"/>
            <a:ext cx="5000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4800" dirty="0">
                <a:solidFill>
                  <a:schemeClr val="tx2"/>
                </a:solidFill>
              </a:rPr>
              <a:t>=</a:t>
            </a:r>
          </a:p>
        </p:txBody>
      </p:sp>
      <p:sp>
        <p:nvSpPr>
          <p:cNvPr id="21" name="Accolade ouvrante 20"/>
          <p:cNvSpPr/>
          <p:nvPr>
            <p:custDataLst>
              <p:tags r:id="rId6"/>
            </p:custDataLst>
          </p:nvPr>
        </p:nvSpPr>
        <p:spPr>
          <a:xfrm>
            <a:off x="2500298" y="1821651"/>
            <a:ext cx="357190" cy="171451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2" name="ZoneTexte 21"/>
          <p:cNvSpPr txBox="1"/>
          <p:nvPr>
            <p:custDataLst>
              <p:tags r:id="rId7"/>
            </p:custDataLst>
          </p:nvPr>
        </p:nvSpPr>
        <p:spPr>
          <a:xfrm>
            <a:off x="179512" y="2324964"/>
            <a:ext cx="23207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000" dirty="0">
                <a:solidFill>
                  <a:schemeClr val="tx2"/>
                </a:solidFill>
              </a:rPr>
              <a:t>Coût («risque») des actifs= 9,23 %</a:t>
            </a:r>
          </a:p>
        </p:txBody>
      </p:sp>
      <p:sp>
        <p:nvSpPr>
          <p:cNvPr id="16" name="Rectangle 15"/>
          <p:cNvSpPr/>
          <p:nvPr>
            <p:custDataLst>
              <p:tags r:id="rId8"/>
            </p:custDataLst>
          </p:nvPr>
        </p:nvSpPr>
        <p:spPr>
          <a:xfrm>
            <a:off x="3011250" y="4034181"/>
            <a:ext cx="1285884" cy="64294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>
                <a:solidFill>
                  <a:schemeClr val="tx2"/>
                </a:solidFill>
              </a:rPr>
              <a:t>Projets à évaluer</a:t>
            </a:r>
          </a:p>
        </p:txBody>
      </p:sp>
      <p:sp>
        <p:nvSpPr>
          <p:cNvPr id="24" name="Flèche vers le haut 23"/>
          <p:cNvSpPr/>
          <p:nvPr>
            <p:custDataLst>
              <p:tags r:id="rId9"/>
            </p:custDataLst>
          </p:nvPr>
        </p:nvSpPr>
        <p:spPr>
          <a:xfrm>
            <a:off x="3497714" y="3567970"/>
            <a:ext cx="277202" cy="350159"/>
          </a:xfrm>
          <a:prstGeom prst="upArrow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6000" dirty="0">
              <a:solidFill>
                <a:schemeClr val="tx2"/>
              </a:solidFill>
            </a:endParaRPr>
          </a:p>
        </p:txBody>
      </p:sp>
      <p:cxnSp>
        <p:nvCxnSpPr>
          <p:cNvPr id="23" name="Connecteur droit 16"/>
          <p:cNvCxnSpPr/>
          <p:nvPr/>
        </p:nvCxnSpPr>
        <p:spPr>
          <a:xfrm>
            <a:off x="4932295" y="2836114"/>
            <a:ext cx="1285884" cy="0"/>
          </a:xfrm>
          <a:prstGeom prst="line">
            <a:avLst/>
          </a:prstGeom>
          <a:ln w="476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950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/>
      <p:bldP spid="21" grpId="0" animBg="1"/>
      <p:bldP spid="22" grpId="0"/>
      <p:bldP spid="16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707654"/>
            <a:ext cx="4736592" cy="1645920"/>
          </a:xfrm>
        </p:spPr>
      </p:pic>
    </p:spTree>
    <p:extLst>
      <p:ext uri="{BB962C8B-B14F-4D97-AF65-F5344CB8AC3E}">
        <p14:creationId xmlns:p14="http://schemas.microsoft.com/office/powerpoint/2010/main" val="1214856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Chapitre 14</a:t>
            </a:r>
            <a:br>
              <a:rPr lang="fr-CA" dirty="0"/>
            </a:br>
            <a:endParaRPr lang="fr-CA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CA" sz="4000" dirty="0"/>
              <a:t>Correction du CMPC</a:t>
            </a:r>
            <a:endParaRPr lang="fr-CA" sz="4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9098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L’approximation par le CMPC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279537"/>
            <a:ext cx="8186400" cy="30095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dirty="0"/>
              <a:t>Relation risque-rendement difficile à établir.</a:t>
            </a:r>
          </a:p>
          <a:p>
            <a:pPr marL="0" indent="0">
              <a:buNone/>
            </a:pPr>
            <a:r>
              <a:rPr lang="fr-CA" sz="2000" dirty="0"/>
              <a:t>Approximation: Coût Moyen Pondéré du Capital</a:t>
            </a:r>
          </a:p>
          <a:p>
            <a:pPr marL="534988" lvl="1" indent="-266700"/>
            <a:r>
              <a:rPr lang="fr-CA" sz="2000" dirty="0">
                <a:sym typeface="Symbol" pitchFamily="18" charset="2"/>
              </a:rPr>
              <a:t>Mais il faut que le projet ait :</a:t>
            </a:r>
          </a:p>
          <a:p>
            <a:pPr marL="538162" lvl="2" indent="0">
              <a:buNone/>
            </a:pPr>
            <a:r>
              <a:rPr lang="fr-CA" sz="2000" dirty="0">
                <a:sym typeface="Symbol" pitchFamily="18" charset="2"/>
              </a:rPr>
              <a:t>Le même risque que l’entreprise</a:t>
            </a:r>
          </a:p>
          <a:p>
            <a:pPr marL="676275" lvl="2" indent="44450">
              <a:buFontTx/>
              <a:buNone/>
            </a:pPr>
            <a:r>
              <a:rPr lang="fr-CA" sz="2000" dirty="0">
                <a:sym typeface="Symbol" pitchFamily="18" charset="2"/>
              </a:rPr>
              <a:t>Sinon,</a:t>
            </a:r>
          </a:p>
        </p:txBody>
      </p:sp>
      <p:grpSp>
        <p:nvGrpSpPr>
          <p:cNvPr id="13" name="Groupe 12"/>
          <p:cNvGrpSpPr/>
          <p:nvPr>
            <p:custDataLst>
              <p:tags r:id="rId3"/>
            </p:custDataLst>
          </p:nvPr>
        </p:nvGrpSpPr>
        <p:grpSpPr>
          <a:xfrm>
            <a:off x="1428728" y="3114611"/>
            <a:ext cx="5622320" cy="1651466"/>
            <a:chOff x="3132138" y="4251233"/>
            <a:chExt cx="5622320" cy="2201955"/>
          </a:xfrm>
        </p:grpSpPr>
        <p:sp>
          <p:nvSpPr>
            <p:cNvPr id="10244" name="Line 4"/>
            <p:cNvSpPr>
              <a:spLocks noChangeShapeType="1"/>
            </p:cNvSpPr>
            <p:nvPr/>
          </p:nvSpPr>
          <p:spPr bwMode="auto">
            <a:xfrm flipV="1">
              <a:off x="3132138" y="4581525"/>
              <a:ext cx="0" cy="18716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0245" name="Line 5"/>
            <p:cNvSpPr>
              <a:spLocks noChangeShapeType="1"/>
            </p:cNvSpPr>
            <p:nvPr/>
          </p:nvSpPr>
          <p:spPr bwMode="auto">
            <a:xfrm>
              <a:off x="3132138" y="6453188"/>
              <a:ext cx="39608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0246" name="Line 6"/>
            <p:cNvSpPr>
              <a:spLocks noChangeShapeType="1"/>
            </p:cNvSpPr>
            <p:nvPr/>
          </p:nvSpPr>
          <p:spPr bwMode="auto">
            <a:xfrm flipV="1">
              <a:off x="3132138" y="4724400"/>
              <a:ext cx="4176712" cy="13700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0247" name="Line 7"/>
            <p:cNvSpPr>
              <a:spLocks noChangeShapeType="1"/>
            </p:cNvSpPr>
            <p:nvPr/>
          </p:nvSpPr>
          <p:spPr bwMode="auto">
            <a:xfrm>
              <a:off x="3132138" y="5445125"/>
              <a:ext cx="41767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0248" name="Text Box 8"/>
            <p:cNvSpPr txBox="1">
              <a:spLocks noChangeArrowheads="1"/>
            </p:cNvSpPr>
            <p:nvPr/>
          </p:nvSpPr>
          <p:spPr bwMode="auto">
            <a:xfrm rot="20715409">
              <a:off x="6765131" y="4251233"/>
              <a:ext cx="19893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200" dirty="0">
                  <a:latin typeface="Tahoma" charset="0"/>
                </a:rPr>
                <a:t>Relation risque-rendement</a:t>
              </a:r>
            </a:p>
          </p:txBody>
        </p:sp>
        <p:sp>
          <p:nvSpPr>
            <p:cNvPr id="10249" name="Text Box 9"/>
            <p:cNvSpPr txBox="1">
              <a:spLocks noChangeArrowheads="1"/>
            </p:cNvSpPr>
            <p:nvPr/>
          </p:nvSpPr>
          <p:spPr bwMode="auto">
            <a:xfrm>
              <a:off x="7235825" y="5516563"/>
              <a:ext cx="57419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200">
                  <a:latin typeface="Tahoma" charset="0"/>
                </a:rPr>
                <a:t>CMPC</a:t>
              </a:r>
            </a:p>
          </p:txBody>
        </p:sp>
        <p:sp>
          <p:nvSpPr>
            <p:cNvPr id="10250" name="Text Box 10"/>
            <p:cNvSpPr txBox="1">
              <a:spLocks noChangeArrowheads="1"/>
            </p:cNvSpPr>
            <p:nvPr/>
          </p:nvSpPr>
          <p:spPr bwMode="auto">
            <a:xfrm>
              <a:off x="3348038" y="4508500"/>
              <a:ext cx="3198696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>
                  <a:latin typeface="Tahoma" charset="0"/>
                </a:rPr>
                <a:t>Mauvaises décisions du CMPC</a:t>
              </a:r>
            </a:p>
          </p:txBody>
        </p:sp>
        <p:sp>
          <p:nvSpPr>
            <p:cNvPr id="10251" name="Line 11"/>
            <p:cNvSpPr>
              <a:spLocks noChangeShapeType="1"/>
            </p:cNvSpPr>
            <p:nvPr/>
          </p:nvSpPr>
          <p:spPr bwMode="auto">
            <a:xfrm flipV="1">
              <a:off x="3708400" y="4868863"/>
              <a:ext cx="1150938" cy="865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0252" name="Line 12"/>
            <p:cNvSpPr>
              <a:spLocks noChangeShapeType="1"/>
            </p:cNvSpPr>
            <p:nvPr/>
          </p:nvSpPr>
          <p:spPr bwMode="auto">
            <a:xfrm flipH="1" flipV="1">
              <a:off x="5219700" y="4868863"/>
              <a:ext cx="13684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404214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sz="2400" dirty="0"/>
              <a:t>L’approximation par le CMPC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438041" y="3411834"/>
            <a:ext cx="4454439" cy="1731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dirty="0">
                <a:solidFill>
                  <a:schemeClr val="accent5"/>
                </a:solidFill>
                <a:sym typeface="Symbol" pitchFamily="18" charset="2"/>
              </a:rPr>
              <a:t>Projet B </a:t>
            </a:r>
            <a:r>
              <a:rPr lang="fr-CA" sz="2000" dirty="0">
                <a:sym typeface="Symbol" pitchFamily="18" charset="2"/>
              </a:rPr>
              <a:t>: plus risqué que l’entreprise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fr-CA" sz="1400" dirty="0">
                <a:sym typeface="Symbol" pitchFamily="18" charset="2"/>
              </a:rPr>
              <a:t>On devrait être plus exigeant que CMPC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fr-CA" sz="1400" dirty="0">
                <a:sym typeface="Symbol" pitchFamily="18" charset="2"/>
              </a:rPr>
              <a:t>On devrait le refuser en </a:t>
            </a:r>
            <a:r>
              <a:rPr lang="fr-CA" sz="1400" dirty="0" err="1">
                <a:sym typeface="Symbol" pitchFamily="18" charset="2"/>
              </a:rPr>
              <a:t>fct</a:t>
            </a:r>
            <a:r>
              <a:rPr lang="fr-CA" sz="1400" dirty="0">
                <a:sym typeface="Symbol" pitchFamily="18" charset="2"/>
              </a:rPr>
              <a:t> du risque (risque-rend.)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fr-CA" sz="1400" dirty="0">
                <a:sym typeface="Symbol" pitchFamily="18" charset="2"/>
              </a:rPr>
              <a:t>Mais le CMPC l’accepte (≠ risque)</a:t>
            </a:r>
          </a:p>
          <a:p>
            <a:pPr marL="0" indent="0">
              <a:buNone/>
            </a:pPr>
            <a:endParaRPr lang="fr-CA" sz="2000" dirty="0">
              <a:sym typeface="Symbol" pitchFamily="18" charset="2"/>
            </a:endParaRPr>
          </a:p>
        </p:txBody>
      </p:sp>
      <p:pic>
        <p:nvPicPr>
          <p:cNvPr id="14" name="Picture 2" descr="C:\TEMP\wz9338\ch14\ros69760_1401.jp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9879" y="2110294"/>
            <a:ext cx="4264089" cy="2757753"/>
          </a:xfrm>
          <a:prstGeom prst="rect">
            <a:avLst/>
          </a:prstGeom>
          <a:noFill/>
        </p:spPr>
      </p:pic>
      <p:graphicFrame>
        <p:nvGraphicFramePr>
          <p:cNvPr id="15" name="Table 11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797838005"/>
              </p:ext>
            </p:extLst>
          </p:nvPr>
        </p:nvGraphicFramePr>
        <p:xfrm>
          <a:off x="4457149" y="1472003"/>
          <a:ext cx="4227159" cy="1988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9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920">
                <a:tc>
                  <a:txBody>
                    <a:bodyPr/>
                    <a:lstStyle/>
                    <a:p>
                      <a:endParaRPr lang="en-CA" sz="105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noProof="0" dirty="0" err="1"/>
                        <a:t>Projet</a:t>
                      </a:r>
                      <a:r>
                        <a:rPr lang="en-CA" sz="1050" noProof="0" dirty="0"/>
                        <a:t>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noProof="0" dirty="0" err="1"/>
                        <a:t>Projet</a:t>
                      </a:r>
                      <a:r>
                        <a:rPr lang="en-CA" sz="1050" noProof="0" dirty="0"/>
                        <a:t>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920">
                <a:tc>
                  <a:txBody>
                    <a:bodyPr/>
                    <a:lstStyle/>
                    <a:p>
                      <a:r>
                        <a:rPr lang="en-CA" sz="1050" noProof="0" dirty="0" err="1"/>
                        <a:t>Béta</a:t>
                      </a:r>
                      <a:endParaRPr lang="en-CA" sz="105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noProof="0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noProof="0" dirty="0"/>
                        <a:t>1.2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920">
                <a:tc>
                  <a:txBody>
                    <a:bodyPr/>
                    <a:lstStyle/>
                    <a:p>
                      <a:r>
                        <a:rPr lang="en-CA" sz="1050" noProof="0" dirty="0" err="1"/>
                        <a:t>Rendement</a:t>
                      </a:r>
                      <a:r>
                        <a:rPr lang="en-CA" sz="1050" noProof="0" dirty="0"/>
                        <a:t> </a:t>
                      </a:r>
                      <a:r>
                        <a:rPr lang="en-CA" sz="1050" noProof="0" dirty="0" err="1"/>
                        <a:t>espéré</a:t>
                      </a:r>
                      <a:endParaRPr lang="en-CA" sz="105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noProof="0" dirty="0"/>
                        <a:t>14 %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noProof="0" dirty="0"/>
                        <a:t>16 %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324">
                <a:tc>
                  <a:txBody>
                    <a:bodyPr/>
                    <a:lstStyle/>
                    <a:p>
                      <a:r>
                        <a:rPr lang="en-CA" sz="1050" noProof="0" dirty="0" err="1"/>
                        <a:t>Rendement</a:t>
                      </a:r>
                      <a:r>
                        <a:rPr lang="en-CA" sz="1050" baseline="0" noProof="0" dirty="0"/>
                        <a:t> </a:t>
                      </a:r>
                      <a:r>
                        <a:rPr lang="en-CA" sz="1050" baseline="0" noProof="0" dirty="0" err="1"/>
                        <a:t>exigé</a:t>
                      </a:r>
                      <a:r>
                        <a:rPr lang="en-CA" sz="1050" baseline="0" noProof="0" dirty="0"/>
                        <a:t> (CMPC)</a:t>
                      </a:r>
                      <a:endParaRPr lang="en-CA" sz="105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noProof="0" dirty="0"/>
                        <a:t>11.8 % </a:t>
                      </a:r>
                    </a:p>
                    <a:p>
                      <a:r>
                        <a:rPr lang="en-CA" sz="1050" noProof="0" dirty="0"/>
                        <a:t>= 7% + 0.6 x 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noProof="0" dirty="0"/>
                        <a:t>16.6 % </a:t>
                      </a:r>
                    </a:p>
                    <a:p>
                      <a:r>
                        <a:rPr lang="en-CA" sz="1050" noProof="0" dirty="0"/>
                        <a:t>= 7 % + 1.2 x 8 %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324">
                <a:tc>
                  <a:txBody>
                    <a:bodyPr/>
                    <a:lstStyle/>
                    <a:p>
                      <a:r>
                        <a:rPr lang="en-CA" sz="1050" noProof="0" dirty="0" err="1"/>
                        <a:t>Résultats</a:t>
                      </a:r>
                      <a:r>
                        <a:rPr lang="en-CA" sz="1050" baseline="0" noProof="0" dirty="0"/>
                        <a:t> du MÉDAF</a:t>
                      </a:r>
                      <a:endParaRPr lang="en-CA" sz="105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noProof="0" dirty="0"/>
                        <a:t>Accepter </a:t>
                      </a:r>
                    </a:p>
                    <a:p>
                      <a:r>
                        <a:rPr lang="en-CA" sz="1050" noProof="0" dirty="0"/>
                        <a:t>(14 %&gt;11.8 %)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noProof="0" dirty="0" err="1"/>
                        <a:t>Rejeter</a:t>
                      </a:r>
                      <a:endParaRPr lang="en-CA" sz="1050" noProof="0" dirty="0"/>
                    </a:p>
                    <a:p>
                      <a:r>
                        <a:rPr lang="en-CA" sz="1050" noProof="0" dirty="0"/>
                        <a:t>(16 %&lt;16.6 %)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324">
                <a:tc>
                  <a:txBody>
                    <a:bodyPr/>
                    <a:lstStyle/>
                    <a:p>
                      <a:r>
                        <a:rPr lang="en-CA" sz="1050" noProof="0" dirty="0" err="1"/>
                        <a:t>Résultats</a:t>
                      </a:r>
                      <a:r>
                        <a:rPr lang="en-CA" sz="1050" baseline="0" noProof="0" dirty="0"/>
                        <a:t> du CMPC</a:t>
                      </a:r>
                      <a:endParaRPr lang="en-CA" sz="1050" noProof="0" dirty="0"/>
                    </a:p>
                    <a:p>
                      <a:r>
                        <a:rPr lang="en-CA" sz="1050" noProof="0" dirty="0"/>
                        <a:t>(Faux)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noProof="0" dirty="0" err="1"/>
                        <a:t>Rejeter</a:t>
                      </a:r>
                      <a:endParaRPr lang="en-CA" sz="1050" noProof="0" dirty="0"/>
                    </a:p>
                    <a:p>
                      <a:r>
                        <a:rPr lang="en-CA" sz="1050" noProof="0" dirty="0"/>
                        <a:t>(14 %&lt;15 %)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noProof="0" dirty="0"/>
                        <a:t>Accepter</a:t>
                      </a:r>
                    </a:p>
                    <a:p>
                      <a:r>
                        <a:rPr lang="en-CA" sz="1050" noProof="0" dirty="0"/>
                        <a:t>(16 %&gt;15 %)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3" name="Connecteur droit 2"/>
          <p:cNvCxnSpPr/>
          <p:nvPr>
            <p:custDataLst>
              <p:tags r:id="rId5"/>
            </p:custDataLst>
          </p:nvPr>
        </p:nvCxnSpPr>
        <p:spPr>
          <a:xfrm>
            <a:off x="3554160" y="2624302"/>
            <a:ext cx="432048" cy="0"/>
          </a:xfrm>
          <a:prstGeom prst="line">
            <a:avLst/>
          </a:prstGeom>
          <a:ln w="2222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/>
          <p:cNvSpPr txBox="1"/>
          <p:nvPr>
            <p:custDataLst>
              <p:tags r:id="rId6"/>
            </p:custDataLst>
          </p:nvPr>
        </p:nvSpPr>
        <p:spPr>
          <a:xfrm rot="20292288">
            <a:off x="2845705" y="2474093"/>
            <a:ext cx="13997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800" dirty="0">
                <a:solidFill>
                  <a:srgbClr val="FF0000"/>
                </a:solidFill>
              </a:rPr>
              <a:t>Relation risque-rendement</a:t>
            </a:r>
          </a:p>
        </p:txBody>
      </p:sp>
      <p:sp>
        <p:nvSpPr>
          <p:cNvPr id="8" name="Rectangle 3"/>
          <p:cNvSpPr txBox="1">
            <a:spLocks noChangeArrowheads="1"/>
          </p:cNvSpPr>
          <p:nvPr>
            <p:custDataLst>
              <p:tags r:id="rId7"/>
            </p:custDataLst>
          </p:nvPr>
        </p:nvSpPr>
        <p:spPr>
          <a:xfrm>
            <a:off x="469564" y="1172381"/>
            <a:ext cx="8186400" cy="14519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39320" indent="-139320" algn="l" defTabSz="82296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5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8240" indent="-139320" algn="l" defTabSz="82296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5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77160" indent="-139320" algn="l" defTabSz="82296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5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2840" indent="-139320" algn="l" defTabSz="82296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5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1760" indent="-139320" algn="l" defTabSz="82296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5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lang="fr-CA" sz="2000" dirty="0">
                <a:solidFill>
                  <a:srgbClr val="FFCC99"/>
                </a:solidFill>
                <a:sym typeface="Symbol" pitchFamily="18" charset="2"/>
              </a:rPr>
              <a:t>Projet A </a:t>
            </a:r>
            <a:r>
              <a:rPr lang="fr-CA" sz="2000" dirty="0">
                <a:sym typeface="Symbol" pitchFamily="18" charset="2"/>
              </a:rPr>
              <a:t>: moins risqué que l’entreprise</a:t>
            </a:r>
          </a:p>
          <a:p>
            <a:pPr fontAlgn="auto">
              <a:spcAft>
                <a:spcPts val="0"/>
              </a:spcAft>
              <a:buFont typeface="Symbol" panose="05050102010706020507" pitchFamily="18" charset="2"/>
              <a:buChar char="Þ"/>
            </a:pPr>
            <a:r>
              <a:rPr lang="fr-CA" sz="1400" dirty="0">
                <a:sym typeface="Symbol" panose="05050102010706020507" pitchFamily="18" charset="2"/>
              </a:rPr>
              <a:t>On devrait être moins exigeant que CMPC</a:t>
            </a:r>
          </a:p>
          <a:p>
            <a:pPr fontAlgn="auto">
              <a:spcAft>
                <a:spcPts val="0"/>
              </a:spcAft>
              <a:buFont typeface="Symbol" panose="05050102010706020507" pitchFamily="18" charset="2"/>
              <a:buChar char="Þ"/>
            </a:pPr>
            <a:r>
              <a:rPr lang="fr-CA" sz="1400" dirty="0">
                <a:sym typeface="Symbol" panose="05050102010706020507" pitchFamily="18" charset="2"/>
              </a:rPr>
              <a:t>Devrait l’accepter en </a:t>
            </a:r>
            <a:r>
              <a:rPr lang="fr-CA" sz="1400" dirty="0" err="1">
                <a:sym typeface="Symbol" panose="05050102010706020507" pitchFamily="18" charset="2"/>
              </a:rPr>
              <a:t>fct</a:t>
            </a:r>
            <a:r>
              <a:rPr lang="fr-CA" sz="1400" dirty="0">
                <a:sym typeface="Symbol" panose="05050102010706020507" pitchFamily="18" charset="2"/>
              </a:rPr>
              <a:t> du risque (risque-rend.)</a:t>
            </a:r>
          </a:p>
          <a:p>
            <a:pPr fontAlgn="auto">
              <a:spcAft>
                <a:spcPts val="0"/>
              </a:spcAft>
              <a:buFont typeface="Symbol" panose="05050102010706020507" pitchFamily="18" charset="2"/>
              <a:buChar char="Þ"/>
            </a:pPr>
            <a:r>
              <a:rPr lang="fr-CA" sz="1400" dirty="0">
                <a:sym typeface="Symbol" panose="05050102010706020507" pitchFamily="18" charset="2"/>
              </a:rPr>
              <a:t>Mais le CMPC le refuse (≠ risque)</a:t>
            </a:r>
          </a:p>
        </p:txBody>
      </p:sp>
    </p:spTree>
    <p:extLst>
      <p:ext uri="{BB962C8B-B14F-4D97-AF65-F5344CB8AC3E}">
        <p14:creationId xmlns:p14="http://schemas.microsoft.com/office/powerpoint/2010/main" val="8236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Méthodes de rectification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CA" sz="2800" u="sng" dirty="0">
                <a:sym typeface="Symbol" pitchFamily="18" charset="2"/>
              </a:rPr>
              <a:t>Sociétés non-diversifiées (pure </a:t>
            </a:r>
            <a:r>
              <a:rPr lang="fr-CA" sz="2800" u="sng" dirty="0" err="1">
                <a:sym typeface="Symbol" pitchFamily="18" charset="2"/>
              </a:rPr>
              <a:t>play</a:t>
            </a:r>
            <a:r>
              <a:rPr lang="fr-CA" sz="2800" u="sng" dirty="0">
                <a:sym typeface="Symbol" pitchFamily="18" charset="2"/>
              </a:rPr>
              <a:t>)</a:t>
            </a:r>
          </a:p>
          <a:p>
            <a:pPr marL="628650" lvl="1" indent="-171450"/>
            <a:r>
              <a:rPr lang="fr-CA" sz="2400" dirty="0">
                <a:sym typeface="Symbol" pitchFamily="18" charset="2"/>
              </a:rPr>
              <a:t>Activités identiques au projet</a:t>
            </a:r>
          </a:p>
          <a:p>
            <a:pPr marL="628650" lvl="1" indent="-171450"/>
            <a:r>
              <a:rPr lang="fr-CA" sz="2400" dirty="0">
                <a:sym typeface="Symbol" pitchFamily="18" charset="2"/>
              </a:rPr>
              <a:t>Activités spécifiques</a:t>
            </a:r>
          </a:p>
          <a:p>
            <a:pPr marL="628650" lvl="1" indent="-171450"/>
            <a:r>
              <a:rPr lang="fr-CA" sz="2400" dirty="0">
                <a:sym typeface="Symbol" pitchFamily="18" charset="2"/>
              </a:rPr>
              <a:t>Même structure de capital que l’entreprise</a:t>
            </a:r>
          </a:p>
          <a:p>
            <a:pPr marL="914400" lvl="1" indent="-457200">
              <a:buFontTx/>
              <a:buNone/>
            </a:pPr>
            <a:endParaRPr lang="fr-CA" sz="2400" dirty="0">
              <a:sym typeface="Symbol" pitchFamily="18" charset="2"/>
            </a:endParaRPr>
          </a:p>
          <a:p>
            <a:pPr marL="914400" lvl="1" indent="-457200">
              <a:buFontTx/>
              <a:buNone/>
            </a:pPr>
            <a:r>
              <a:rPr lang="fr-CA" sz="2400" dirty="0">
                <a:sym typeface="Symbol" pitchFamily="18" charset="2"/>
              </a:rPr>
              <a:t>Problèmes :</a:t>
            </a:r>
          </a:p>
          <a:p>
            <a:pPr marL="1081088" lvl="2" indent="-166688"/>
            <a:r>
              <a:rPr lang="fr-CA" sz="2000" dirty="0">
                <a:sym typeface="Symbol" pitchFamily="18" charset="2"/>
              </a:rPr>
              <a:t>Existence d’une telle entreprise</a:t>
            </a:r>
          </a:p>
          <a:p>
            <a:pPr marL="1081088" lvl="2" indent="-166688"/>
            <a:r>
              <a:rPr lang="fr-CA" sz="2000" dirty="0">
                <a:sym typeface="Symbol" pitchFamily="18" charset="2"/>
              </a:rPr>
              <a:t>Disponibilité des données (CMPC)</a:t>
            </a:r>
          </a:p>
          <a:p>
            <a:pPr marL="914400" lvl="1" indent="-457200">
              <a:buNone/>
            </a:pPr>
            <a:endParaRPr lang="fr-CA" sz="2400" dirty="0">
              <a:sym typeface="Symbol" pitchFamily="18" charset="2"/>
            </a:endParaRPr>
          </a:p>
          <a:p>
            <a:pPr marL="914400" lvl="1" indent="-457200">
              <a:buNone/>
            </a:pPr>
            <a:r>
              <a:rPr lang="fr-CA" sz="2400" dirty="0">
                <a:sym typeface="Symbol" pitchFamily="18" charset="2"/>
              </a:rPr>
              <a:t>Conclusion : approche pratiquement impossible à utiliser…</a:t>
            </a:r>
          </a:p>
          <a:p>
            <a:pPr marL="914400" lvl="1" indent="-457200"/>
            <a:endParaRPr lang="fr-CA" sz="240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Méthodes de rectification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172381"/>
            <a:ext cx="8186400" cy="3116727"/>
          </a:xfrm>
        </p:spPr>
        <p:txBody>
          <a:bodyPr/>
          <a:lstStyle/>
          <a:p>
            <a:pPr marL="0" indent="0">
              <a:buNone/>
            </a:pPr>
            <a:r>
              <a:rPr lang="fr-CA" sz="2800" dirty="0">
                <a:sym typeface="Symbol" pitchFamily="18" charset="2"/>
              </a:rPr>
              <a:t>Approche subjective</a:t>
            </a:r>
          </a:p>
          <a:p>
            <a:pPr marL="533400" indent="-533400"/>
            <a:endParaRPr lang="fr-CA" sz="2800" dirty="0">
              <a:sym typeface="Symbol" pitchFamily="18" charset="2"/>
            </a:endParaRPr>
          </a:p>
          <a:p>
            <a:pPr marL="914400" lvl="1" indent="-457200"/>
            <a:endParaRPr lang="fr-CA" sz="2400" dirty="0">
              <a:sym typeface="Symbol" pitchFamily="18" charset="2"/>
            </a:endParaRPr>
          </a:p>
        </p:txBody>
      </p:sp>
      <p:sp>
        <p:nvSpPr>
          <p:cNvPr id="15364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V="1">
            <a:off x="1187450" y="1600200"/>
            <a:ext cx="0" cy="30241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5365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187450" y="4624388"/>
            <a:ext cx="71294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5366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8750" y="1668066"/>
            <a:ext cx="96257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200">
                <a:latin typeface="Tahoma" charset="0"/>
              </a:rPr>
              <a:t>Rendement</a:t>
            </a:r>
          </a:p>
        </p:txBody>
      </p:sp>
      <p:sp>
        <p:nvSpPr>
          <p:cNvPr id="15367" name="Text Box 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000876" y="4692254"/>
            <a:ext cx="63831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200">
                <a:latin typeface="Tahoma" charset="0"/>
              </a:rPr>
              <a:t>Risque</a:t>
            </a:r>
          </a:p>
        </p:txBody>
      </p:sp>
      <p:sp>
        <p:nvSpPr>
          <p:cNvPr id="15368" name="Line 8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V="1">
            <a:off x="1187450" y="1707356"/>
            <a:ext cx="6985000" cy="216098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5369" name="Text Box 9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 rot="-1291740">
            <a:off x="7374362" y="1343918"/>
            <a:ext cx="177715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400" dirty="0">
                <a:latin typeface="Tahoma" charset="0"/>
              </a:rPr>
              <a:t>Risque – rendement</a:t>
            </a:r>
          </a:p>
        </p:txBody>
      </p:sp>
      <p:sp>
        <p:nvSpPr>
          <p:cNvPr id="15370" name="Line 10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 flipV="1">
            <a:off x="1187451" y="2859782"/>
            <a:ext cx="7129462" cy="3581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5371" name="Text Box 1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451726" y="2636554"/>
            <a:ext cx="57419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200" dirty="0">
                <a:latin typeface="Tahoma" charset="0"/>
              </a:rPr>
              <a:t>CMPC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animBg="1"/>
      <p:bldP spid="15365" grpId="0" animBg="1"/>
      <p:bldP spid="15366" grpId="0"/>
      <p:bldP spid="15367" grpId="0"/>
      <p:bldP spid="15368" grpId="0" animBg="1"/>
      <p:bldP spid="15369" grpId="0"/>
      <p:bldP spid="15370" grpId="1" animBg="1"/>
      <p:bldP spid="15371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Méthodes de rectification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172381"/>
            <a:ext cx="8186400" cy="3116727"/>
          </a:xfrm>
        </p:spPr>
        <p:txBody>
          <a:bodyPr/>
          <a:lstStyle/>
          <a:p>
            <a:pPr marL="0" indent="0">
              <a:buNone/>
            </a:pPr>
            <a:r>
              <a:rPr lang="fr-CA" sz="2800" dirty="0">
                <a:sym typeface="Symbol" pitchFamily="18" charset="2"/>
              </a:rPr>
              <a:t>Approche subjective </a:t>
            </a:r>
          </a:p>
          <a:p>
            <a:pPr marL="720725" indent="0">
              <a:buNone/>
            </a:pPr>
            <a:r>
              <a:rPr lang="fr-CA" sz="1800" dirty="0">
                <a:sym typeface="Symbol" pitchFamily="18" charset="2"/>
              </a:rPr>
              <a:t>(on se rapproche de la relation risque-rendement)</a:t>
            </a:r>
          </a:p>
          <a:p>
            <a:pPr marL="533400" indent="-533400"/>
            <a:endParaRPr lang="fr-CA" sz="2800" dirty="0">
              <a:sym typeface="Symbol" pitchFamily="18" charset="2"/>
            </a:endParaRPr>
          </a:p>
          <a:p>
            <a:pPr marL="914400" lvl="1" indent="-457200"/>
            <a:endParaRPr lang="fr-CA" sz="2400" dirty="0">
              <a:sym typeface="Symbol" pitchFamily="18" charset="2"/>
            </a:endParaRPr>
          </a:p>
        </p:txBody>
      </p:sp>
      <p:sp>
        <p:nvSpPr>
          <p:cNvPr id="16388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V="1">
            <a:off x="1187450" y="1600200"/>
            <a:ext cx="0" cy="30241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6389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187450" y="4624388"/>
            <a:ext cx="71294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6390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8750" y="1668066"/>
            <a:ext cx="96257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200">
                <a:latin typeface="Tahoma" charset="0"/>
              </a:rPr>
              <a:t>Rendement</a:t>
            </a:r>
          </a:p>
        </p:txBody>
      </p:sp>
      <p:sp>
        <p:nvSpPr>
          <p:cNvPr id="16391" name="Text Box 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000876" y="4692254"/>
            <a:ext cx="63831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200">
                <a:latin typeface="Tahoma" charset="0"/>
              </a:rPr>
              <a:t>Risque</a:t>
            </a:r>
          </a:p>
        </p:txBody>
      </p:sp>
      <p:sp>
        <p:nvSpPr>
          <p:cNvPr id="16392" name="Line 8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V="1">
            <a:off x="1187450" y="1707356"/>
            <a:ext cx="6985000" cy="216098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6393" name="Line 9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1187451" y="3598069"/>
            <a:ext cx="18002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6394" name="Line 10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2987675" y="2895600"/>
            <a:ext cx="28082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6395" name="Line 11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5795963" y="2031206"/>
            <a:ext cx="23764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6396" name="Line 12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 flipV="1">
            <a:off x="2987675" y="2895600"/>
            <a:ext cx="0" cy="702469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6397" name="Line 13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 flipV="1">
            <a:off x="5795963" y="2031207"/>
            <a:ext cx="0" cy="86439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6398" name="Line 14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 flipV="1">
            <a:off x="6011863" y="2085975"/>
            <a:ext cx="0" cy="809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6399" name="Text Box 15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089651" y="2394347"/>
            <a:ext cx="243900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400">
                <a:latin typeface="Tahoma" charset="0"/>
              </a:rPr>
              <a:t>Prime positive (risque élevé)</a:t>
            </a:r>
          </a:p>
        </p:txBody>
      </p:sp>
      <p:sp>
        <p:nvSpPr>
          <p:cNvPr id="16400" name="Line 16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3132138" y="3003947"/>
            <a:ext cx="0" cy="53935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6401" name="Text Box 17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860592" y="3020021"/>
            <a:ext cx="251985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400" dirty="0">
                <a:latin typeface="Tahoma" charset="0"/>
              </a:rPr>
              <a:t>Prime négative (risque faible)</a:t>
            </a:r>
          </a:p>
        </p:txBody>
      </p:sp>
      <p:sp>
        <p:nvSpPr>
          <p:cNvPr id="16402" name="Text Box 18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984751" y="2767013"/>
            <a:ext cx="508473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000" dirty="0">
                <a:latin typeface="Tahoma" charset="0"/>
              </a:rPr>
              <a:t>CMPC</a:t>
            </a:r>
          </a:p>
        </p:txBody>
      </p:sp>
      <p:sp>
        <p:nvSpPr>
          <p:cNvPr id="19" name="Text Box 9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 rot="20512933">
            <a:off x="7057446" y="1507890"/>
            <a:ext cx="177715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400" dirty="0">
                <a:latin typeface="Tahoma" charset="0"/>
              </a:rPr>
              <a:t>Risque – rendement</a:t>
            </a:r>
          </a:p>
        </p:txBody>
      </p:sp>
      <p:pic>
        <p:nvPicPr>
          <p:cNvPr id="20" name="Picture 2" descr="C:\TEMP\wza7f0\ch14\ros69760_1402.jpg"/>
          <p:cNvPicPr>
            <a:picLocks noChangeAspect="1" noChangeArrowheads="1"/>
          </p:cNvPicPr>
          <p:nvPr>
            <p:custDataLst>
              <p:tags r:id="rId19"/>
            </p:custDataLst>
          </p:nvPr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5674695" y="3029812"/>
            <a:ext cx="2469463" cy="1554847"/>
          </a:xfrm>
          <a:prstGeom prst="rect">
            <a:avLst/>
          </a:prstGeom>
          <a:noFill/>
        </p:spPr>
      </p:pic>
      <p:sp>
        <p:nvSpPr>
          <p:cNvPr id="21" name="Line 13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 flipH="1">
            <a:off x="1169202" y="2881751"/>
            <a:ext cx="7517598" cy="13848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animBg="1"/>
      <p:bldP spid="16389" grpId="0" animBg="1"/>
      <p:bldP spid="16390" grpId="0"/>
      <p:bldP spid="16391" grpId="0"/>
      <p:bldP spid="16392" grpId="0" animBg="1"/>
      <p:bldP spid="16393" grpId="0" animBg="1"/>
      <p:bldP spid="16394" grpId="0" animBg="1"/>
      <p:bldP spid="16395" grpId="0" animBg="1"/>
      <p:bldP spid="16396" grpId="0" animBg="1"/>
      <p:bldP spid="16397" grpId="0" animBg="1"/>
      <p:bldP spid="16398" grpId="0" animBg="1"/>
      <p:bldP spid="16399" grpId="0"/>
      <p:bldP spid="16400" grpId="0" animBg="1"/>
      <p:bldP spid="16401" grpId="0"/>
      <p:bldP spid="16402" grpId="0"/>
      <p:bldP spid="19" grpId="0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fr-CA" dirty="0"/>
              <a:t>L’approximation par le CMPC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419918"/>
            <a:ext cx="8186400" cy="3528096"/>
          </a:xfrm>
        </p:spPr>
        <p:txBody>
          <a:bodyPr>
            <a:normAutofit/>
          </a:bodyPr>
          <a:lstStyle/>
          <a:p>
            <a:endParaRPr lang="fr-CA" dirty="0">
              <a:sym typeface="Symbol" pitchFamily="18" charset="2"/>
            </a:endParaRPr>
          </a:p>
          <a:p>
            <a:endParaRPr lang="fr-CA" dirty="0">
              <a:sym typeface="Symbol" pitchFamily="18" charset="2"/>
            </a:endParaRPr>
          </a:p>
          <a:p>
            <a:endParaRPr lang="fr-CA" dirty="0">
              <a:sym typeface="Symbol" pitchFamily="18" charset="2"/>
            </a:endParaRPr>
          </a:p>
          <a:p>
            <a:pPr marL="0" indent="0">
              <a:buNone/>
            </a:pPr>
            <a:r>
              <a:rPr lang="fr-CA" dirty="0">
                <a:sym typeface="Symbol" pitchFamily="18" charset="2"/>
              </a:rPr>
              <a:t>				         </a:t>
            </a:r>
          </a:p>
          <a:p>
            <a:pPr marL="0" indent="0">
              <a:buNone/>
            </a:pPr>
            <a:endParaRPr lang="fr-CA" sz="1600" dirty="0">
              <a:sym typeface="Symbol" pitchFamily="18" charset="2"/>
            </a:endParaRPr>
          </a:p>
          <a:p>
            <a:pPr marL="0" indent="0" algn="r">
              <a:buNone/>
            </a:pPr>
            <a:endParaRPr lang="fr-CA" sz="1600" dirty="0">
              <a:sym typeface="Symbol" pitchFamily="18" charset="2"/>
            </a:endParaRPr>
          </a:p>
          <a:p>
            <a:pPr marL="0" indent="0">
              <a:buNone/>
            </a:pPr>
            <a:r>
              <a:rPr lang="fr-CA" sz="1600" dirty="0">
                <a:sym typeface="Symbol" pitchFamily="18" charset="2"/>
              </a:rPr>
              <a:t>                                                                 </a:t>
            </a:r>
            <a:r>
              <a:rPr lang="fr-CA" sz="1400" dirty="0">
                <a:sym typeface="Symbol" pitchFamily="18" charset="2"/>
              </a:rPr>
              <a:t>Risque projet: si + risqué que les actifs en place</a:t>
            </a:r>
          </a:p>
          <a:p>
            <a:pPr marL="0" indent="0">
              <a:buNone/>
            </a:pPr>
            <a:r>
              <a:rPr lang="fr-CA" sz="1400" dirty="0">
                <a:sym typeface="Symbol" pitchFamily="18" charset="2"/>
              </a:rPr>
              <a:t>				         Donc, taux exigé du projet</a:t>
            </a:r>
          </a:p>
          <a:p>
            <a:pPr marL="0" indent="0">
              <a:buNone/>
            </a:pPr>
            <a:r>
              <a:rPr lang="fr-CA" sz="1400" dirty="0">
                <a:sym typeface="Symbol" pitchFamily="18" charset="2"/>
              </a:rPr>
              <a:t>				            Taux exigé = 9,23 % + prime de risque du projet</a:t>
            </a:r>
          </a:p>
          <a:p>
            <a:pPr marL="0" indent="0">
              <a:buNone/>
            </a:pPr>
            <a:r>
              <a:rPr lang="fr-CA" sz="1400" dirty="0">
                <a:sym typeface="Symbol" pitchFamily="18" charset="2"/>
              </a:rPr>
              <a:t>                                                                               Taux exigé = 9,23 % + 2 %</a:t>
            </a:r>
          </a:p>
          <a:p>
            <a:pPr marL="0" indent="0">
              <a:buNone/>
            </a:pPr>
            <a:r>
              <a:rPr lang="fr-CA" sz="1400" dirty="0">
                <a:sym typeface="Symbol" pitchFamily="18" charset="2"/>
              </a:rPr>
              <a:t>                                                                               Taux exigé = 11,23 % (vs le risque du projet)</a:t>
            </a:r>
          </a:p>
        </p:txBody>
      </p:sp>
      <p:grpSp>
        <p:nvGrpSpPr>
          <p:cNvPr id="30" name="Groupe 29"/>
          <p:cNvGrpSpPr/>
          <p:nvPr>
            <p:custDataLst>
              <p:tags r:id="rId3"/>
            </p:custDataLst>
          </p:nvPr>
        </p:nvGrpSpPr>
        <p:grpSpPr>
          <a:xfrm>
            <a:off x="4932040" y="1419918"/>
            <a:ext cx="3885507" cy="1714512"/>
            <a:chOff x="4929190" y="2428868"/>
            <a:chExt cx="3885507" cy="2286016"/>
          </a:xfrm>
        </p:grpSpPr>
        <p:sp>
          <p:nvSpPr>
            <p:cNvPr id="15" name="Rectangle 14"/>
            <p:cNvSpPr/>
            <p:nvPr/>
          </p:nvSpPr>
          <p:spPr>
            <a:xfrm>
              <a:off x="4929190" y="2428868"/>
              <a:ext cx="1285884" cy="228601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Passifs LT</a:t>
              </a:r>
            </a:p>
            <a:p>
              <a:pPr algn="ctr"/>
              <a:endParaRPr lang="fr-CA" dirty="0"/>
            </a:p>
            <a:p>
              <a:pPr algn="ctr"/>
              <a:endParaRPr lang="fr-CA" dirty="0"/>
            </a:p>
            <a:p>
              <a:pPr algn="ctr"/>
              <a:endParaRPr lang="fr-CA" dirty="0"/>
            </a:p>
            <a:p>
              <a:pPr algn="ctr"/>
              <a:r>
                <a:rPr lang="fr-CA" dirty="0"/>
                <a:t>Fonds propres</a:t>
              </a:r>
            </a:p>
          </p:txBody>
        </p:sp>
        <p:cxnSp>
          <p:nvCxnSpPr>
            <p:cNvPr id="17" name="Connecteur droit 16"/>
            <p:cNvCxnSpPr/>
            <p:nvPr/>
          </p:nvCxnSpPr>
          <p:spPr>
            <a:xfrm>
              <a:off x="4929190" y="3429000"/>
              <a:ext cx="1285884" cy="0"/>
            </a:xfrm>
            <a:prstGeom prst="line">
              <a:avLst/>
            </a:prstGeom>
            <a:ln w="4762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Accolade fermante 18"/>
            <p:cNvSpPr/>
            <p:nvPr/>
          </p:nvSpPr>
          <p:spPr>
            <a:xfrm>
              <a:off x="6286512" y="2428868"/>
              <a:ext cx="500066" cy="2286016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20" name="ZoneTexte 19"/>
            <p:cNvSpPr txBox="1"/>
            <p:nvPr/>
          </p:nvSpPr>
          <p:spPr>
            <a:xfrm>
              <a:off x="6786578" y="3429000"/>
              <a:ext cx="2028119" cy="533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sz="2000" dirty="0">
                  <a:solidFill>
                    <a:schemeClr val="tx2"/>
                  </a:solidFill>
                </a:rPr>
                <a:t>CMPC = 9,23 %</a:t>
              </a:r>
            </a:p>
          </p:txBody>
        </p:sp>
      </p:grpSp>
      <p:sp>
        <p:nvSpPr>
          <p:cNvPr id="14" name="Rectangle 13"/>
          <p:cNvSpPr/>
          <p:nvPr>
            <p:custDataLst>
              <p:tags r:id="rId4"/>
            </p:custDataLst>
          </p:nvPr>
        </p:nvSpPr>
        <p:spPr>
          <a:xfrm>
            <a:off x="3003213" y="1419918"/>
            <a:ext cx="1285884" cy="171451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Actifs LT</a:t>
            </a:r>
          </a:p>
          <a:p>
            <a:pPr algn="ctr"/>
            <a:r>
              <a:rPr lang="fr-CA" dirty="0"/>
              <a:t>en place</a:t>
            </a:r>
          </a:p>
        </p:txBody>
      </p:sp>
      <p:sp>
        <p:nvSpPr>
          <p:cNvPr id="18" name="ZoneTexte 17"/>
          <p:cNvSpPr txBox="1"/>
          <p:nvPr>
            <p:custDataLst>
              <p:tags r:id="rId5"/>
            </p:custDataLst>
          </p:nvPr>
        </p:nvSpPr>
        <p:spPr>
          <a:xfrm>
            <a:off x="4360535" y="1955703"/>
            <a:ext cx="5000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4800" dirty="0">
                <a:solidFill>
                  <a:schemeClr val="tx2"/>
                </a:solidFill>
              </a:rPr>
              <a:t>=</a:t>
            </a:r>
          </a:p>
        </p:txBody>
      </p:sp>
      <p:sp>
        <p:nvSpPr>
          <p:cNvPr id="21" name="Accolade ouvrante 20"/>
          <p:cNvSpPr/>
          <p:nvPr>
            <p:custDataLst>
              <p:tags r:id="rId6"/>
            </p:custDataLst>
          </p:nvPr>
        </p:nvSpPr>
        <p:spPr>
          <a:xfrm>
            <a:off x="2503147" y="1419918"/>
            <a:ext cx="357190" cy="171451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2" name="ZoneTexte 21"/>
          <p:cNvSpPr txBox="1"/>
          <p:nvPr>
            <p:custDataLst>
              <p:tags r:id="rId7"/>
            </p:custDataLst>
          </p:nvPr>
        </p:nvSpPr>
        <p:spPr>
          <a:xfrm>
            <a:off x="182361" y="1923231"/>
            <a:ext cx="2376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000" dirty="0">
                <a:solidFill>
                  <a:schemeClr val="tx2"/>
                </a:solidFill>
              </a:rPr>
              <a:t>Coût («risque») des actifs = 9,23 %</a:t>
            </a:r>
          </a:p>
        </p:txBody>
      </p:sp>
      <p:sp>
        <p:nvSpPr>
          <p:cNvPr id="16" name="Rectangle 15"/>
          <p:cNvSpPr/>
          <p:nvPr>
            <p:custDataLst>
              <p:tags r:id="rId8"/>
            </p:custDataLst>
          </p:nvPr>
        </p:nvSpPr>
        <p:spPr>
          <a:xfrm>
            <a:off x="2996222" y="3783569"/>
            <a:ext cx="1285884" cy="64294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>
                <a:solidFill>
                  <a:schemeClr val="tx2"/>
                </a:solidFill>
              </a:rPr>
              <a:t>Projets à évaluer</a:t>
            </a:r>
          </a:p>
        </p:txBody>
      </p:sp>
      <p:sp>
        <p:nvSpPr>
          <p:cNvPr id="24" name="Flèche vers le haut 23"/>
          <p:cNvSpPr/>
          <p:nvPr>
            <p:custDataLst>
              <p:tags r:id="rId9"/>
            </p:custDataLst>
          </p:nvPr>
        </p:nvSpPr>
        <p:spPr>
          <a:xfrm>
            <a:off x="3482686" y="3317358"/>
            <a:ext cx="277202" cy="350159"/>
          </a:xfrm>
          <a:prstGeom prst="upArrow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6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081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 animBg="1"/>
      <p:bldP spid="22" grpId="0"/>
      <p:bldP spid="16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707654"/>
            <a:ext cx="4736592" cy="1645920"/>
          </a:xfrm>
        </p:spPr>
      </p:pic>
    </p:spTree>
    <p:extLst>
      <p:ext uri="{BB962C8B-B14F-4D97-AF65-F5344CB8AC3E}">
        <p14:creationId xmlns:p14="http://schemas.microsoft.com/office/powerpoint/2010/main" val="6827720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heme/theme1.xml><?xml version="1.0" encoding="utf-8"?>
<a:theme xmlns:a="http://schemas.openxmlformats.org/drawingml/2006/main" name="ThèmeHEC">
  <a:themeElements>
    <a:clrScheme name="HEC2">
      <a:dk1>
        <a:srgbClr val="000000"/>
      </a:dk1>
      <a:lt1>
        <a:srgbClr val="FFFFFF"/>
      </a:lt1>
      <a:dk2>
        <a:srgbClr val="97999B"/>
      </a:dk2>
      <a:lt2>
        <a:srgbClr val="EFF0F0"/>
      </a:lt2>
      <a:accent1>
        <a:srgbClr val="009FDF"/>
      </a:accent1>
      <a:accent2>
        <a:srgbClr val="003C71"/>
      </a:accent2>
      <a:accent3>
        <a:srgbClr val="D40F7D"/>
      </a:accent3>
      <a:accent4>
        <a:srgbClr val="FE5000"/>
      </a:accent4>
      <a:accent5>
        <a:srgbClr val="00C1D5"/>
      </a:accent5>
      <a:accent6>
        <a:srgbClr val="005EB8"/>
      </a:accent6>
      <a:hlink>
        <a:srgbClr val="003C71"/>
      </a:hlink>
      <a:folHlink>
        <a:srgbClr val="9678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èmeHEC" id="{7465C618-7679-4EFC-97C4-7229E9764B6E}" vid="{8FDDE1AC-1B25-4CFF-908F-B02124D657E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ThèmeHEC</Template>
  <TotalTime>6884</TotalTime>
  <Words>996</Words>
  <Application>Microsoft Office PowerPoint</Application>
  <PresentationFormat>Affichage à l'écran (16:9)</PresentationFormat>
  <Paragraphs>241</Paragraphs>
  <Slides>23</Slides>
  <Notes>1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23</vt:i4>
      </vt:variant>
    </vt:vector>
  </HeadingPairs>
  <TitlesOfParts>
    <vt:vector size="32" baseType="lpstr">
      <vt:lpstr>Arial</vt:lpstr>
      <vt:lpstr>Calibri</vt:lpstr>
      <vt:lpstr>Symbol</vt:lpstr>
      <vt:lpstr>Tahoma</vt:lpstr>
      <vt:lpstr>Times New Roman</vt:lpstr>
      <vt:lpstr>Wingdings</vt:lpstr>
      <vt:lpstr>ThèmeHEC</vt:lpstr>
      <vt:lpstr>Equation</vt:lpstr>
      <vt:lpstr>Équation</vt:lpstr>
      <vt:lpstr>Chapitre 14 </vt:lpstr>
      <vt:lpstr>Le coût en capital</vt:lpstr>
      <vt:lpstr>Le coût du capital</vt:lpstr>
      <vt:lpstr>Présentation PowerPoint</vt:lpstr>
      <vt:lpstr>Chapitre 14 </vt:lpstr>
      <vt:lpstr>L’approximation par le CMPC</vt:lpstr>
      <vt:lpstr>Le calcul du CMPC</vt:lpstr>
      <vt:lpstr>Le calcul du CMPC</vt:lpstr>
      <vt:lpstr>Le calcul du CMPC</vt:lpstr>
      <vt:lpstr>Le calcul du CMPC</vt:lpstr>
      <vt:lpstr>Le calcul du CMPC</vt:lpstr>
      <vt:lpstr>Le calcul du CMPC</vt:lpstr>
      <vt:lpstr>Le calcul du CMPC</vt:lpstr>
      <vt:lpstr>L’approximation par le CMPC</vt:lpstr>
      <vt:lpstr>Présentation PowerPoint</vt:lpstr>
      <vt:lpstr>Chapitre 14 </vt:lpstr>
      <vt:lpstr>L’approximation par le CMPC</vt:lpstr>
      <vt:lpstr>L’approximation par le CMPC</vt:lpstr>
      <vt:lpstr>Méthodes de rectification</vt:lpstr>
      <vt:lpstr>Méthodes de rectification</vt:lpstr>
      <vt:lpstr>Méthodes de rectification</vt:lpstr>
      <vt:lpstr>L’approximation par le CMPC</vt:lpstr>
      <vt:lpstr>Présentation PowerPoint</vt:lpstr>
    </vt:vector>
  </TitlesOfParts>
  <Company>HEC Montréal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Séances 9</dc:title>
  <dc:creator>User</dc:creator>
  <cp:lastModifiedBy>marie-helene allard</cp:lastModifiedBy>
  <cp:revision>62</cp:revision>
  <dcterms:created xsi:type="dcterms:W3CDTF">2006-02-13T17:45:05Z</dcterms:created>
  <dcterms:modified xsi:type="dcterms:W3CDTF">2020-07-30T13:25:21Z</dcterms:modified>
</cp:coreProperties>
</file>