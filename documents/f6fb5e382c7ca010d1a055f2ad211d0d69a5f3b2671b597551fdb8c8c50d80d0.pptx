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45"/>
  </p:notesMasterIdLst>
  <p:sldIdLst>
    <p:sldId id="299" r:id="rId2"/>
    <p:sldId id="322" r:id="rId3"/>
    <p:sldId id="324" r:id="rId4"/>
    <p:sldId id="301" r:id="rId5"/>
    <p:sldId id="332" r:id="rId6"/>
    <p:sldId id="302" r:id="rId7"/>
    <p:sldId id="328" r:id="rId8"/>
    <p:sldId id="303" r:id="rId9"/>
    <p:sldId id="329" r:id="rId10"/>
    <p:sldId id="330" r:id="rId11"/>
    <p:sldId id="331" r:id="rId12"/>
    <p:sldId id="333" r:id="rId13"/>
    <p:sldId id="304" r:id="rId14"/>
    <p:sldId id="305" r:id="rId15"/>
    <p:sldId id="334" r:id="rId16"/>
    <p:sldId id="327" r:id="rId17"/>
    <p:sldId id="335" r:id="rId18"/>
    <p:sldId id="306" r:id="rId19"/>
    <p:sldId id="336" r:id="rId20"/>
    <p:sldId id="337" r:id="rId21"/>
    <p:sldId id="307" r:id="rId22"/>
    <p:sldId id="338" r:id="rId23"/>
    <p:sldId id="339" r:id="rId24"/>
    <p:sldId id="340" r:id="rId25"/>
    <p:sldId id="308" r:id="rId26"/>
    <p:sldId id="309" r:id="rId27"/>
    <p:sldId id="310" r:id="rId28"/>
    <p:sldId id="326" r:id="rId29"/>
    <p:sldId id="311" r:id="rId30"/>
    <p:sldId id="312" r:id="rId31"/>
    <p:sldId id="313" r:id="rId32"/>
    <p:sldId id="341" r:id="rId33"/>
    <p:sldId id="314" r:id="rId34"/>
    <p:sldId id="315" r:id="rId35"/>
    <p:sldId id="320" r:id="rId36"/>
    <p:sldId id="342" r:id="rId37"/>
    <p:sldId id="316" r:id="rId38"/>
    <p:sldId id="323" r:id="rId39"/>
    <p:sldId id="343" r:id="rId40"/>
    <p:sldId id="317" r:id="rId41"/>
    <p:sldId id="321" r:id="rId42"/>
    <p:sldId id="318" r:id="rId43"/>
    <p:sldId id="319" r:id="rId44"/>
  </p:sldIdLst>
  <p:sldSz cx="9144000" cy="5143500" type="screen16x9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80" autoAdjust="0"/>
    <p:restoredTop sz="94660"/>
  </p:normalViewPr>
  <p:slideViewPr>
    <p:cSldViewPr>
      <p:cViewPr varScale="1">
        <p:scale>
          <a:sx n="100" d="100"/>
          <a:sy n="100" d="100"/>
        </p:scale>
        <p:origin x="312" y="5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7" d="100"/>
          <a:sy n="57" d="100"/>
        </p:scale>
        <p:origin x="-2604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6D3595B-C107-4D31-AF2C-319949126392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75C0E0B6-4D0B-4917-B78A-52D113192122}">
      <dgm:prSet phldrT="[Texte]"/>
      <dgm:spPr/>
      <dgm:t>
        <a:bodyPr/>
        <a:lstStyle/>
        <a:p>
          <a:r>
            <a:rPr lang="fr-CA" dirty="0" err="1"/>
            <a:t>Tx</a:t>
          </a:r>
          <a:r>
            <a:rPr lang="fr-CA" dirty="0"/>
            <a:t> effectif = </a:t>
          </a:r>
          <a:r>
            <a:rPr lang="fr-CA" dirty="0" err="1"/>
            <a:t>tx</a:t>
          </a:r>
          <a:r>
            <a:rPr lang="fr-CA" dirty="0"/>
            <a:t> nom </a:t>
          </a:r>
          <a:r>
            <a:rPr lang="fr-CA" dirty="0" err="1"/>
            <a:t>ann</a:t>
          </a:r>
          <a:r>
            <a:rPr lang="fr-CA" dirty="0"/>
            <a:t>.</a:t>
          </a:r>
        </a:p>
      </dgm:t>
    </dgm:pt>
    <dgm:pt modelId="{D84238EA-86E2-4B8D-8AE5-26C987950462}" type="parTrans" cxnId="{9A3E54EA-FB13-4F7B-884E-7CF707FA80B5}">
      <dgm:prSet/>
      <dgm:spPr/>
      <dgm:t>
        <a:bodyPr/>
        <a:lstStyle/>
        <a:p>
          <a:endParaRPr lang="fr-CA"/>
        </a:p>
      </dgm:t>
    </dgm:pt>
    <dgm:pt modelId="{AB857520-CB48-46A8-9812-85BD24063895}" type="sibTrans" cxnId="{9A3E54EA-FB13-4F7B-884E-7CF707FA80B5}">
      <dgm:prSet/>
      <dgm:spPr/>
      <dgm:t>
        <a:bodyPr/>
        <a:lstStyle/>
        <a:p>
          <a:endParaRPr lang="fr-CA"/>
        </a:p>
      </dgm:t>
    </dgm:pt>
    <dgm:pt modelId="{8E8D3B54-139B-4735-BBAA-06080214BBB9}">
      <dgm:prSet phldrT="[Texte]"/>
      <dgm:spPr/>
      <dgm:t>
        <a:bodyPr/>
        <a:lstStyle/>
        <a:p>
          <a:r>
            <a:rPr lang="fr-CA" dirty="0" err="1"/>
            <a:t>Tx</a:t>
          </a:r>
          <a:r>
            <a:rPr lang="fr-CA" dirty="0"/>
            <a:t> nominal semestriel</a:t>
          </a:r>
        </a:p>
      </dgm:t>
    </dgm:pt>
    <dgm:pt modelId="{8D9E2A18-D446-45FF-93D5-9B037D338EC3}" type="parTrans" cxnId="{2135924B-D43B-4A09-9547-F4786A200DDE}">
      <dgm:prSet/>
      <dgm:spPr/>
      <dgm:t>
        <a:bodyPr/>
        <a:lstStyle/>
        <a:p>
          <a:endParaRPr lang="fr-CA"/>
        </a:p>
      </dgm:t>
    </dgm:pt>
    <dgm:pt modelId="{F604ABEE-1E4C-4BB6-ACDB-47207F954805}" type="sibTrans" cxnId="{2135924B-D43B-4A09-9547-F4786A200DDE}">
      <dgm:prSet/>
      <dgm:spPr/>
      <dgm:t>
        <a:bodyPr/>
        <a:lstStyle/>
        <a:p>
          <a:endParaRPr lang="fr-CA"/>
        </a:p>
      </dgm:t>
    </dgm:pt>
    <dgm:pt modelId="{5BD2D364-7E56-4721-8CED-AB264CB76F17}">
      <dgm:prSet phldrT="[Texte]"/>
      <dgm:spPr/>
      <dgm:t>
        <a:bodyPr/>
        <a:lstStyle/>
        <a:p>
          <a:r>
            <a:rPr lang="fr-CA" dirty="0" err="1"/>
            <a:t>Tx</a:t>
          </a:r>
          <a:r>
            <a:rPr lang="fr-CA" dirty="0"/>
            <a:t> nominal quotidien</a:t>
          </a:r>
        </a:p>
      </dgm:t>
    </dgm:pt>
    <dgm:pt modelId="{076F57FC-03DF-44BB-9637-F363EA5E50C2}" type="parTrans" cxnId="{0B3BE6B3-343F-4BF9-B95A-30F8599EA64D}">
      <dgm:prSet/>
      <dgm:spPr/>
      <dgm:t>
        <a:bodyPr/>
        <a:lstStyle/>
        <a:p>
          <a:endParaRPr lang="fr-CA"/>
        </a:p>
      </dgm:t>
    </dgm:pt>
    <dgm:pt modelId="{10384008-410A-4A38-8849-8998EAC33A5D}" type="sibTrans" cxnId="{0B3BE6B3-343F-4BF9-B95A-30F8599EA64D}">
      <dgm:prSet/>
      <dgm:spPr/>
      <dgm:t>
        <a:bodyPr/>
        <a:lstStyle/>
        <a:p>
          <a:endParaRPr lang="fr-CA"/>
        </a:p>
      </dgm:t>
    </dgm:pt>
    <dgm:pt modelId="{12F8C6C6-F392-447D-9503-BB32E20907A9}" type="pres">
      <dgm:prSet presAssocID="{E6D3595B-C107-4D31-AF2C-319949126392}" presName="CompostProcess" presStyleCnt="0">
        <dgm:presLayoutVars>
          <dgm:dir/>
          <dgm:resizeHandles val="exact"/>
        </dgm:presLayoutVars>
      </dgm:prSet>
      <dgm:spPr/>
    </dgm:pt>
    <dgm:pt modelId="{D43CC8D4-2841-4467-B735-D62C20ABD455}" type="pres">
      <dgm:prSet presAssocID="{E6D3595B-C107-4D31-AF2C-319949126392}" presName="arrow" presStyleLbl="bgShp" presStyleIdx="0" presStyleCnt="1"/>
      <dgm:spPr/>
    </dgm:pt>
    <dgm:pt modelId="{8460634A-817B-40A1-9C77-41575B2754FC}" type="pres">
      <dgm:prSet presAssocID="{E6D3595B-C107-4D31-AF2C-319949126392}" presName="linearProcess" presStyleCnt="0"/>
      <dgm:spPr/>
    </dgm:pt>
    <dgm:pt modelId="{D7DDA352-6E01-4A6A-94E2-96F53DF4B806}" type="pres">
      <dgm:prSet presAssocID="{75C0E0B6-4D0B-4917-B78A-52D113192122}" presName="textNode" presStyleLbl="node1" presStyleIdx="0" presStyleCnt="3">
        <dgm:presLayoutVars>
          <dgm:bulletEnabled val="1"/>
        </dgm:presLayoutVars>
      </dgm:prSet>
      <dgm:spPr/>
    </dgm:pt>
    <dgm:pt modelId="{9B530779-0AA6-48A0-83E4-4A31D91FC938}" type="pres">
      <dgm:prSet presAssocID="{AB857520-CB48-46A8-9812-85BD24063895}" presName="sibTrans" presStyleCnt="0"/>
      <dgm:spPr/>
    </dgm:pt>
    <dgm:pt modelId="{EBD29EDF-3406-4893-8558-16688943B844}" type="pres">
      <dgm:prSet presAssocID="{8E8D3B54-139B-4735-BBAA-06080214BBB9}" presName="textNode" presStyleLbl="node1" presStyleIdx="1" presStyleCnt="3" custLinFactNeighborX="2504" custLinFactNeighborY="-3792">
        <dgm:presLayoutVars>
          <dgm:bulletEnabled val="1"/>
        </dgm:presLayoutVars>
      </dgm:prSet>
      <dgm:spPr/>
    </dgm:pt>
    <dgm:pt modelId="{157E4D98-67E8-474D-8CF8-857C32730A51}" type="pres">
      <dgm:prSet presAssocID="{F604ABEE-1E4C-4BB6-ACDB-47207F954805}" presName="sibTrans" presStyleCnt="0"/>
      <dgm:spPr/>
    </dgm:pt>
    <dgm:pt modelId="{3744F070-AC07-448B-ADE3-01A36864883C}" type="pres">
      <dgm:prSet presAssocID="{5BD2D364-7E56-4721-8CED-AB264CB76F17}" presName="textNode" presStyleLbl="node1" presStyleIdx="2" presStyleCnt="3">
        <dgm:presLayoutVars>
          <dgm:bulletEnabled val="1"/>
        </dgm:presLayoutVars>
      </dgm:prSet>
      <dgm:spPr/>
    </dgm:pt>
  </dgm:ptLst>
  <dgm:cxnLst>
    <dgm:cxn modelId="{F09D423A-9C81-4429-8081-7D2D404BFDAE}" type="presOf" srcId="{5BD2D364-7E56-4721-8CED-AB264CB76F17}" destId="{3744F070-AC07-448B-ADE3-01A36864883C}" srcOrd="0" destOrd="0" presId="urn:microsoft.com/office/officeart/2005/8/layout/hProcess9"/>
    <dgm:cxn modelId="{2444094A-F7EF-4D6F-A29F-2893CE3852B1}" type="presOf" srcId="{E6D3595B-C107-4D31-AF2C-319949126392}" destId="{12F8C6C6-F392-447D-9503-BB32E20907A9}" srcOrd="0" destOrd="0" presId="urn:microsoft.com/office/officeart/2005/8/layout/hProcess9"/>
    <dgm:cxn modelId="{2135924B-D43B-4A09-9547-F4786A200DDE}" srcId="{E6D3595B-C107-4D31-AF2C-319949126392}" destId="{8E8D3B54-139B-4735-BBAA-06080214BBB9}" srcOrd="1" destOrd="0" parTransId="{8D9E2A18-D446-45FF-93D5-9B037D338EC3}" sibTransId="{F604ABEE-1E4C-4BB6-ACDB-47207F954805}"/>
    <dgm:cxn modelId="{1BDDDD74-8F34-42CA-8D88-D3B128056227}" type="presOf" srcId="{75C0E0B6-4D0B-4917-B78A-52D113192122}" destId="{D7DDA352-6E01-4A6A-94E2-96F53DF4B806}" srcOrd="0" destOrd="0" presId="urn:microsoft.com/office/officeart/2005/8/layout/hProcess9"/>
    <dgm:cxn modelId="{9E394AA2-E8A4-479B-9850-053FA4323035}" type="presOf" srcId="{8E8D3B54-139B-4735-BBAA-06080214BBB9}" destId="{EBD29EDF-3406-4893-8558-16688943B844}" srcOrd="0" destOrd="0" presId="urn:microsoft.com/office/officeart/2005/8/layout/hProcess9"/>
    <dgm:cxn modelId="{0B3BE6B3-343F-4BF9-B95A-30F8599EA64D}" srcId="{E6D3595B-C107-4D31-AF2C-319949126392}" destId="{5BD2D364-7E56-4721-8CED-AB264CB76F17}" srcOrd="2" destOrd="0" parTransId="{076F57FC-03DF-44BB-9637-F363EA5E50C2}" sibTransId="{10384008-410A-4A38-8849-8998EAC33A5D}"/>
    <dgm:cxn modelId="{9A3E54EA-FB13-4F7B-884E-7CF707FA80B5}" srcId="{E6D3595B-C107-4D31-AF2C-319949126392}" destId="{75C0E0B6-4D0B-4917-B78A-52D113192122}" srcOrd="0" destOrd="0" parTransId="{D84238EA-86E2-4B8D-8AE5-26C987950462}" sibTransId="{AB857520-CB48-46A8-9812-85BD24063895}"/>
    <dgm:cxn modelId="{23580CB6-8CD9-4551-AAB8-F03B2C5485EB}" type="presParOf" srcId="{12F8C6C6-F392-447D-9503-BB32E20907A9}" destId="{D43CC8D4-2841-4467-B735-D62C20ABD455}" srcOrd="0" destOrd="0" presId="urn:microsoft.com/office/officeart/2005/8/layout/hProcess9"/>
    <dgm:cxn modelId="{EFA9D863-6063-4E5F-B076-F605927C28B9}" type="presParOf" srcId="{12F8C6C6-F392-447D-9503-BB32E20907A9}" destId="{8460634A-817B-40A1-9C77-41575B2754FC}" srcOrd="1" destOrd="0" presId="urn:microsoft.com/office/officeart/2005/8/layout/hProcess9"/>
    <dgm:cxn modelId="{3C10B623-09A2-44BD-B5E0-E1E9C5AAC589}" type="presParOf" srcId="{8460634A-817B-40A1-9C77-41575B2754FC}" destId="{D7DDA352-6E01-4A6A-94E2-96F53DF4B806}" srcOrd="0" destOrd="0" presId="urn:microsoft.com/office/officeart/2005/8/layout/hProcess9"/>
    <dgm:cxn modelId="{C13C4CA8-0827-4C9E-BD9E-A52C3E4A89C7}" type="presParOf" srcId="{8460634A-817B-40A1-9C77-41575B2754FC}" destId="{9B530779-0AA6-48A0-83E4-4A31D91FC938}" srcOrd="1" destOrd="0" presId="urn:microsoft.com/office/officeart/2005/8/layout/hProcess9"/>
    <dgm:cxn modelId="{2FFAA6A0-7F64-4FB4-9583-4786FA6B119C}" type="presParOf" srcId="{8460634A-817B-40A1-9C77-41575B2754FC}" destId="{EBD29EDF-3406-4893-8558-16688943B844}" srcOrd="2" destOrd="0" presId="urn:microsoft.com/office/officeart/2005/8/layout/hProcess9"/>
    <dgm:cxn modelId="{E5CD62BA-BD8F-4770-91C3-FEE95097B3F9}" type="presParOf" srcId="{8460634A-817B-40A1-9C77-41575B2754FC}" destId="{157E4D98-67E8-474D-8CF8-857C32730A51}" srcOrd="3" destOrd="0" presId="urn:microsoft.com/office/officeart/2005/8/layout/hProcess9"/>
    <dgm:cxn modelId="{2128EF5F-036B-4EAC-9F15-018F4DB43FB8}" type="presParOf" srcId="{8460634A-817B-40A1-9C77-41575B2754FC}" destId="{3744F070-AC07-448B-ADE3-01A36864883C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3CC8D4-2841-4467-B735-D62C20ABD455}">
      <dsp:nvSpPr>
        <dsp:cNvPr id="0" name=""/>
        <dsp:cNvSpPr/>
      </dsp:nvSpPr>
      <dsp:spPr>
        <a:xfrm>
          <a:off x="617219" y="0"/>
          <a:ext cx="6995160" cy="1590427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DDA352-6E01-4A6A-94E2-96F53DF4B806}">
      <dsp:nvSpPr>
        <dsp:cNvPr id="0" name=""/>
        <dsp:cNvSpPr/>
      </dsp:nvSpPr>
      <dsp:spPr>
        <a:xfrm>
          <a:off x="8840" y="477128"/>
          <a:ext cx="2648902" cy="6361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800" kern="1200" dirty="0" err="1"/>
            <a:t>Tx</a:t>
          </a:r>
          <a:r>
            <a:rPr lang="fr-CA" sz="1800" kern="1200" dirty="0"/>
            <a:t> effectif = </a:t>
          </a:r>
          <a:r>
            <a:rPr lang="fr-CA" sz="1800" kern="1200" dirty="0" err="1"/>
            <a:t>tx</a:t>
          </a:r>
          <a:r>
            <a:rPr lang="fr-CA" sz="1800" kern="1200" dirty="0"/>
            <a:t> nom </a:t>
          </a:r>
          <a:r>
            <a:rPr lang="fr-CA" sz="1800" kern="1200" dirty="0" err="1"/>
            <a:t>ann</a:t>
          </a:r>
          <a:r>
            <a:rPr lang="fr-CA" sz="1800" kern="1200" dirty="0"/>
            <a:t>.</a:t>
          </a:r>
        </a:p>
      </dsp:txBody>
      <dsp:txXfrm>
        <a:off x="39895" y="508183"/>
        <a:ext cx="2586792" cy="574060"/>
      </dsp:txXfrm>
    </dsp:sp>
    <dsp:sp modelId="{EBD29EDF-3406-4893-8558-16688943B844}">
      <dsp:nvSpPr>
        <dsp:cNvPr id="0" name=""/>
        <dsp:cNvSpPr/>
      </dsp:nvSpPr>
      <dsp:spPr>
        <a:xfrm>
          <a:off x="2793669" y="453004"/>
          <a:ext cx="2648902" cy="6361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800" kern="1200" dirty="0" err="1"/>
            <a:t>Tx</a:t>
          </a:r>
          <a:r>
            <a:rPr lang="fr-CA" sz="1800" kern="1200" dirty="0"/>
            <a:t> nominal semestriel</a:t>
          </a:r>
        </a:p>
      </dsp:txBody>
      <dsp:txXfrm>
        <a:off x="2824724" y="484059"/>
        <a:ext cx="2586792" cy="574060"/>
      </dsp:txXfrm>
    </dsp:sp>
    <dsp:sp modelId="{3744F070-AC07-448B-ADE3-01A36864883C}">
      <dsp:nvSpPr>
        <dsp:cNvPr id="0" name=""/>
        <dsp:cNvSpPr/>
      </dsp:nvSpPr>
      <dsp:spPr>
        <a:xfrm>
          <a:off x="5571857" y="477128"/>
          <a:ext cx="2648902" cy="6361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800" kern="1200" dirty="0" err="1"/>
            <a:t>Tx</a:t>
          </a:r>
          <a:r>
            <a:rPr lang="fr-CA" sz="1800" kern="1200" dirty="0"/>
            <a:t> nominal quotidien</a:t>
          </a:r>
        </a:p>
      </dsp:txBody>
      <dsp:txXfrm>
        <a:off x="5602912" y="508183"/>
        <a:ext cx="2586792" cy="5740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6D511E-1C2E-4BAA-8E92-B2A2FC8DF910}" type="datetimeFigureOut">
              <a:rPr lang="fr-FR" smtClean="0"/>
              <a:pPr/>
              <a:t>23/07/2020</a:t>
            </a:fld>
            <a:endParaRPr lang="fr-C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A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BA1A2B-237C-4F2F-BD47-5AEC66889746}" type="slidenum">
              <a:rPr lang="fr-CA" smtClean="0"/>
              <a:pPr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305020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453" y="1286467"/>
            <a:ext cx="8187094" cy="3421905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478800" y="1286280"/>
            <a:ext cx="5274000" cy="1312200"/>
          </a:xfrm>
          <a:solidFill>
            <a:schemeClr val="accent1">
              <a:alpha val="80000"/>
            </a:schemeClr>
          </a:solidFill>
        </p:spPr>
        <p:txBody>
          <a:bodyPr bIns="72000">
            <a:normAutofit/>
          </a:bodyPr>
          <a:lstStyle>
            <a:lvl1pPr>
              <a:defRPr sz="3240">
                <a:solidFill>
                  <a:schemeClr val="accent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CA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478800" y="2666391"/>
            <a:ext cx="5266800" cy="362102"/>
          </a:xfrm>
          <a:solidFill>
            <a:schemeClr val="accent1">
              <a:alpha val="80000"/>
            </a:schemeClr>
          </a:solidFill>
        </p:spPr>
        <p:txBody>
          <a:bodyPr anchor="ctr" anchorCtr="0">
            <a:normAutofit/>
          </a:bodyPr>
          <a:lstStyle>
            <a:lvl1pPr marL="0" indent="0" algn="l">
              <a:buNone/>
              <a:defRPr sz="1800">
                <a:solidFill>
                  <a:schemeClr val="accent2"/>
                </a:solidFill>
              </a:defRPr>
            </a:lvl1pPr>
            <a:lvl2pPr marL="411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2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34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68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803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fr-CA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200800" y="4847040"/>
            <a:ext cx="464400" cy="123120"/>
          </a:xfrm>
        </p:spPr>
        <p:txBody>
          <a:bodyPr vert="horz" lIns="91440" tIns="45720" rIns="91440" bIns="45720" rtlCol="0" anchor="ctr"/>
          <a:lstStyle>
            <a:lvl1pPr marL="0" algn="r" defTabSz="822960" rtl="0" eaLnBrk="1" latinLnBrk="0" hangingPunct="1">
              <a:defRPr lang="fr-CA" sz="603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76DBD91B-A6BE-418C-B2C9-88CD34860EFA}" type="slidenum">
              <a:rPr lang="fr-CA" smtClean="0"/>
              <a:pPr/>
              <a:t>‹N°›</a:t>
            </a:fld>
            <a:endParaRPr lang="fr-CA"/>
          </a:p>
        </p:txBody>
      </p:sp>
      <p:pic>
        <p:nvPicPr>
          <p:cNvPr id="7" name="Imag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919" y="210656"/>
            <a:ext cx="5282773" cy="734151"/>
          </a:xfrm>
          <a:prstGeom prst="rect">
            <a:avLst/>
          </a:prstGeom>
        </p:spPr>
      </p:pic>
      <p:sp>
        <p:nvSpPr>
          <p:cNvPr id="11" name="Espace réservé du pied de page 10"/>
          <p:cNvSpPr>
            <a:spLocks noGrp="1"/>
          </p:cNvSpPr>
          <p:nvPr>
            <p:ph type="ftr" sz="quarter" idx="14"/>
          </p:nvPr>
        </p:nvSpPr>
        <p:spPr>
          <a:xfrm>
            <a:off x="478452" y="4525465"/>
            <a:ext cx="5266944" cy="180050"/>
          </a:xfrm>
          <a:solidFill>
            <a:schemeClr val="accent1"/>
          </a:solidFill>
        </p:spPr>
        <p:txBody>
          <a:bodyPr/>
          <a:lstStyle>
            <a:lvl1pPr algn="l">
              <a:defRPr sz="1170" cap="all" baseline="0">
                <a:solidFill>
                  <a:schemeClr val="bg1"/>
                </a:solidFill>
              </a:defRPr>
            </a:lvl1pPr>
          </a:lstStyle>
          <a:p>
            <a:endParaRPr lang="fr-CA"/>
          </a:p>
        </p:txBody>
      </p:sp>
      <p:sp>
        <p:nvSpPr>
          <p:cNvPr id="13" name="Espace réservé de la date 1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6DC91D2-297D-4124-9588-388F28AB5B3D}" type="datetimeFigureOut">
              <a:rPr lang="fr-FR" smtClean="0"/>
              <a:pPr/>
              <a:t>23/07/2020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148260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478800" y="431717"/>
            <a:ext cx="8186400" cy="740664"/>
          </a:xfrm>
        </p:spPr>
        <p:txBody>
          <a:bodyPr/>
          <a:lstStyle/>
          <a:p>
            <a:r>
              <a:rPr lang="fr-FR" dirty="0"/>
              <a:t>Cliquez pour modifier le style du titre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478800" y="1419918"/>
            <a:ext cx="8186400" cy="286919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fr-CA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C91D2-297D-4124-9588-388F28AB5B3D}" type="datetimeFigureOut">
              <a:rPr lang="fr-FR" smtClean="0"/>
              <a:pPr/>
              <a:t>23/07/2020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BD91B-A6BE-418C-B2C9-88CD34860EFA}" type="slidenum">
              <a:rPr lang="fr-CA" smtClean="0"/>
              <a:pPr/>
              <a:t>‹N°›</a:t>
            </a:fld>
            <a:endParaRPr lang="fr-CA"/>
          </a:p>
        </p:txBody>
      </p:sp>
      <p:sp>
        <p:nvSpPr>
          <p:cNvPr id="7" name="TextBox 6"/>
          <p:cNvSpPr txBox="1"/>
          <p:nvPr/>
        </p:nvSpPr>
        <p:spPr>
          <a:xfrm>
            <a:off x="346075" y="4289108"/>
            <a:ext cx="914400" cy="822960"/>
          </a:xfrm>
          <a:prstGeom prst="rect">
            <a:avLst/>
          </a:prstGeom>
        </p:spPr>
        <p:txBody>
          <a:bodyPr vert="horz" wrap="none" lIns="82296" tIns="41148" rIns="82296" bIns="41148" rtlCol="0">
            <a:normAutofit/>
          </a:bodyPr>
          <a:lstStyle/>
          <a:p>
            <a:pPr marL="139320" indent="-139320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endParaRPr lang="en-US" sz="1503" dirty="0"/>
          </a:p>
        </p:txBody>
      </p:sp>
    </p:spTree>
    <p:extLst>
      <p:ext uri="{BB962C8B-B14F-4D97-AF65-F5344CB8AC3E}">
        <p14:creationId xmlns:p14="http://schemas.microsoft.com/office/powerpoint/2010/main" val="18127688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062065" y="3107825"/>
            <a:ext cx="6603135" cy="130027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20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63" t="-901" b="1413"/>
          <a:stretch/>
        </p:blipFill>
        <p:spPr>
          <a:xfrm>
            <a:off x="5840963" y="1264049"/>
            <a:ext cx="2824582" cy="1775865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78800" y="1286279"/>
            <a:ext cx="5274000" cy="1312200"/>
          </a:xfrm>
          <a:solidFill>
            <a:schemeClr val="accent1"/>
          </a:solidFill>
        </p:spPr>
        <p:txBody>
          <a:bodyPr vert="horz" lIns="91440" tIns="45720" rIns="91440" bIns="72000" rtlCol="0" anchor="ctr">
            <a:normAutofit/>
          </a:bodyPr>
          <a:lstStyle>
            <a:lvl1pPr algn="l" defTabSz="822960" rtl="0" eaLnBrk="1" latinLnBrk="0" hangingPunct="1">
              <a:spcBef>
                <a:spcPct val="0"/>
              </a:spcBef>
              <a:buNone/>
              <a:defRPr lang="fr-CA" sz="3240" b="1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/>
              <a:t>Modifiez le style du titre</a:t>
            </a:r>
            <a:endParaRPr lang="fr-CA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78800" y="2666391"/>
            <a:ext cx="5266800" cy="362102"/>
          </a:xfrm>
          <a:solidFill>
            <a:schemeClr val="accent1"/>
          </a:solidFill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l" defTabSz="822960" rtl="0" eaLnBrk="1" latinLnBrk="0" hangingPunct="1">
              <a:spcBef>
                <a:spcPct val="20000"/>
              </a:spcBef>
              <a:buClr>
                <a:schemeClr val="accent2"/>
              </a:buClr>
              <a:buSzPct val="125000"/>
              <a:buFont typeface="Arial" pitchFamily="34" charset="0"/>
              <a:buNone/>
              <a:defRPr lang="fr-FR" sz="1800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11480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2pPr>
            <a:lvl3pPr marL="82296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3pPr>
            <a:lvl4pPr marL="123444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64592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205740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46888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88036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329184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BD91B-A6BE-418C-B2C9-88CD34860EFA}" type="slidenum">
              <a:rPr lang="fr-CA" smtClean="0"/>
              <a:pPr/>
              <a:t>‹N°›</a:t>
            </a:fld>
            <a:endParaRPr lang="fr-CA"/>
          </a:p>
        </p:txBody>
      </p:sp>
      <p:sp>
        <p:nvSpPr>
          <p:cNvPr id="10" name="Espace réservé de la date 9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6DC91D2-297D-4124-9588-388F28AB5B3D}" type="datetimeFigureOut">
              <a:rPr lang="fr-FR" smtClean="0"/>
              <a:pPr/>
              <a:t>23/07/2020</a:t>
            </a:fld>
            <a:endParaRPr lang="fr-CA"/>
          </a:p>
        </p:txBody>
      </p:sp>
      <p:sp>
        <p:nvSpPr>
          <p:cNvPr id="11" name="Espace réservé du pied de page 10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fr-CA"/>
          </a:p>
        </p:txBody>
      </p:sp>
      <p:pic>
        <p:nvPicPr>
          <p:cNvPr id="13" name="Image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4" t="27926" r="63211" b="1117"/>
          <a:stretch/>
        </p:blipFill>
        <p:spPr>
          <a:xfrm>
            <a:off x="489600" y="3107094"/>
            <a:ext cx="1497820" cy="1300277"/>
          </a:xfrm>
          <a:prstGeom prst="rect">
            <a:avLst/>
          </a:prstGeom>
        </p:spPr>
      </p:pic>
      <p:pic>
        <p:nvPicPr>
          <p:cNvPr id="14" name="Imag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2354" y="4528945"/>
            <a:ext cx="1540097" cy="191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191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78800" y="432912"/>
            <a:ext cx="8186400" cy="741025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365961"/>
            <a:ext cx="4038600" cy="2923147"/>
          </a:xfrm>
        </p:spPr>
        <p:txBody>
          <a:bodyPr>
            <a:normAutofit/>
          </a:bodyPr>
          <a:lstStyle>
            <a:lvl1pPr>
              <a:defRPr sz="1503"/>
            </a:lvl1pPr>
            <a:lvl2pPr>
              <a:defRPr sz="1503"/>
            </a:lvl2pPr>
            <a:lvl3pPr>
              <a:defRPr sz="1503"/>
            </a:lvl3pPr>
            <a:lvl4pPr>
              <a:defRPr sz="1503"/>
            </a:lvl4pPr>
            <a:lvl5pPr>
              <a:defRPr sz="1503"/>
            </a:lvl5pPr>
            <a:lvl6pPr>
              <a:defRPr sz="1620"/>
            </a:lvl6pPr>
            <a:lvl7pPr>
              <a:defRPr sz="1620"/>
            </a:lvl7pPr>
            <a:lvl8pPr>
              <a:defRPr sz="1620"/>
            </a:lvl8pPr>
            <a:lvl9pPr>
              <a:defRPr sz="162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365961"/>
            <a:ext cx="4038600" cy="2923147"/>
          </a:xfrm>
        </p:spPr>
        <p:txBody>
          <a:bodyPr>
            <a:normAutofit/>
          </a:bodyPr>
          <a:lstStyle>
            <a:lvl1pPr>
              <a:defRPr sz="1503"/>
            </a:lvl1pPr>
            <a:lvl2pPr>
              <a:defRPr sz="1503"/>
            </a:lvl2pPr>
            <a:lvl3pPr>
              <a:defRPr sz="1503"/>
            </a:lvl3pPr>
            <a:lvl4pPr>
              <a:defRPr sz="1503"/>
            </a:lvl4pPr>
            <a:lvl5pPr>
              <a:defRPr sz="1503"/>
            </a:lvl5pPr>
            <a:lvl6pPr>
              <a:defRPr sz="1620"/>
            </a:lvl6pPr>
            <a:lvl7pPr>
              <a:defRPr sz="1620"/>
            </a:lvl7pPr>
            <a:lvl8pPr>
              <a:defRPr sz="1620"/>
            </a:lvl8pPr>
            <a:lvl9pPr>
              <a:defRPr sz="162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 dirty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C91D2-297D-4124-9588-388F28AB5B3D}" type="datetimeFigureOut">
              <a:rPr lang="fr-FR" smtClean="0"/>
              <a:pPr/>
              <a:t>23/07/2020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BD91B-A6BE-418C-B2C9-88CD34860EFA}" type="slidenum">
              <a:rPr lang="fr-CA" smtClean="0"/>
              <a:pPr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2491509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78800" y="430831"/>
            <a:ext cx="8186400" cy="738449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fr-CA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360170"/>
            <a:ext cx="4040188" cy="479822"/>
          </a:xfrm>
        </p:spPr>
        <p:txBody>
          <a:bodyPr anchor="b">
            <a:noAutofit/>
          </a:bodyPr>
          <a:lstStyle>
            <a:lvl1pPr marL="0" indent="0">
              <a:buNone/>
              <a:defRPr sz="1350" b="1" cap="all" baseline="0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1839992"/>
            <a:ext cx="4040188" cy="2449116"/>
          </a:xfrm>
        </p:spPr>
        <p:txBody>
          <a:bodyPr>
            <a:normAutofit/>
          </a:bodyPr>
          <a:lstStyle>
            <a:lvl1pPr>
              <a:defRPr sz="1503"/>
            </a:lvl1pPr>
            <a:lvl2pPr>
              <a:defRPr sz="1503"/>
            </a:lvl2pPr>
            <a:lvl3pPr>
              <a:defRPr sz="1503"/>
            </a:lvl3pPr>
            <a:lvl4pPr>
              <a:defRPr sz="1503"/>
            </a:lvl4pPr>
            <a:lvl5pPr>
              <a:defRPr sz="1503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7" y="1360170"/>
            <a:ext cx="4041775" cy="479822"/>
          </a:xfrm>
        </p:spPr>
        <p:txBody>
          <a:bodyPr anchor="b">
            <a:noAutofit/>
          </a:bodyPr>
          <a:lstStyle>
            <a:lvl1pPr marL="0" indent="0">
              <a:buNone/>
              <a:defRPr sz="1350" b="1" cap="all" baseline="0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7" y="1839992"/>
            <a:ext cx="4041775" cy="2449116"/>
          </a:xfrm>
        </p:spPr>
        <p:txBody>
          <a:bodyPr>
            <a:normAutofit/>
          </a:bodyPr>
          <a:lstStyle>
            <a:lvl1pPr>
              <a:defRPr sz="1503"/>
            </a:lvl1pPr>
            <a:lvl2pPr>
              <a:defRPr sz="1503"/>
            </a:lvl2pPr>
            <a:lvl3pPr>
              <a:defRPr sz="1503"/>
            </a:lvl3pPr>
            <a:lvl4pPr>
              <a:defRPr sz="1503"/>
            </a:lvl4pPr>
            <a:lvl5pPr>
              <a:defRPr sz="1503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 dirty="0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C91D2-297D-4124-9588-388F28AB5B3D}" type="datetimeFigureOut">
              <a:rPr lang="fr-FR" smtClean="0"/>
              <a:pPr/>
              <a:t>23/07/2020</a:t>
            </a:fld>
            <a:endParaRPr lang="fr-CA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BD91B-A6BE-418C-B2C9-88CD34860EFA}" type="slidenum">
              <a:rPr lang="fr-CA" smtClean="0"/>
              <a:pPr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9637475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78800" y="432912"/>
            <a:ext cx="8186400" cy="737798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C91D2-297D-4124-9588-388F28AB5B3D}" type="datetimeFigureOut">
              <a:rPr lang="fr-FR" smtClean="0"/>
              <a:pPr/>
              <a:t>23/07/2020</a:t>
            </a:fld>
            <a:endParaRPr lang="fr-CA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BD91B-A6BE-418C-B2C9-88CD34860EFA}" type="slidenum">
              <a:rPr lang="fr-CA" smtClean="0"/>
              <a:pPr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3224218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C91D2-297D-4124-9588-388F28AB5B3D}" type="datetimeFigureOut">
              <a:rPr lang="fr-FR" smtClean="0"/>
              <a:pPr/>
              <a:t>23/07/2020</a:t>
            </a:fld>
            <a:endParaRPr lang="fr-CA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BD91B-A6BE-418C-B2C9-88CD34860EFA}" type="slidenum">
              <a:rPr lang="fr-CA" smtClean="0"/>
              <a:pPr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833975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78800" y="429474"/>
            <a:ext cx="8186400" cy="739807"/>
          </a:xfrm>
        </p:spPr>
        <p:txBody>
          <a:bodyPr anchor="ctr" anchorCtr="0"/>
          <a:lstStyle>
            <a:lvl1pPr algn="l">
              <a:defRPr sz="2340" b="1"/>
            </a:lvl1pPr>
          </a:lstStyle>
          <a:p>
            <a:r>
              <a:rPr lang="fr-FR"/>
              <a:t>Modifiez le style du titre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60400" y="1353960"/>
            <a:ext cx="5097600" cy="2935148"/>
          </a:xfrm>
        </p:spPr>
        <p:txBody>
          <a:bodyPr>
            <a:normAutofit/>
          </a:bodyPr>
          <a:lstStyle>
            <a:lvl1pPr>
              <a:defRPr sz="1503"/>
            </a:lvl1pPr>
            <a:lvl2pPr>
              <a:defRPr sz="1503"/>
            </a:lvl2pPr>
            <a:lvl3pPr>
              <a:defRPr sz="1503"/>
            </a:lvl3pPr>
            <a:lvl4pPr>
              <a:defRPr sz="1503"/>
            </a:lvl4pPr>
            <a:lvl5pPr>
              <a:defRPr sz="1503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78800" y="1353960"/>
            <a:ext cx="2988000" cy="2935148"/>
          </a:xfrm>
        </p:spPr>
        <p:txBody>
          <a:bodyPr>
            <a:normAutofit/>
          </a:bodyPr>
          <a:lstStyle>
            <a:lvl1pPr marL="0" indent="0">
              <a:buNone/>
              <a:defRPr sz="1350" b="1" cap="all" baseline="0"/>
            </a:lvl1pPr>
            <a:lvl2pPr marL="411480" indent="0">
              <a:buNone/>
              <a:defRPr sz="1080"/>
            </a:lvl2pPr>
            <a:lvl3pPr marL="822960" indent="0">
              <a:buNone/>
              <a:defRPr sz="900"/>
            </a:lvl3pPr>
            <a:lvl4pPr marL="1234440" indent="0">
              <a:buNone/>
              <a:defRPr sz="810"/>
            </a:lvl4pPr>
            <a:lvl5pPr marL="1645920" indent="0">
              <a:buNone/>
              <a:defRPr sz="810"/>
            </a:lvl5pPr>
            <a:lvl6pPr marL="2057400" indent="0">
              <a:buNone/>
              <a:defRPr sz="810"/>
            </a:lvl6pPr>
            <a:lvl7pPr marL="2468880" indent="0">
              <a:buNone/>
              <a:defRPr sz="810"/>
            </a:lvl7pPr>
            <a:lvl8pPr marL="2880360" indent="0">
              <a:buNone/>
              <a:defRPr sz="810"/>
            </a:lvl8pPr>
            <a:lvl9pPr marL="3291840" indent="0">
              <a:buNone/>
              <a:defRPr sz="81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C91D2-297D-4124-9588-388F28AB5B3D}" type="datetimeFigureOut">
              <a:rPr lang="fr-FR" smtClean="0"/>
              <a:pPr/>
              <a:t>23/07/2020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BD91B-A6BE-418C-B2C9-88CD34860EFA}" type="slidenum">
              <a:rPr lang="fr-CA" smtClean="0"/>
              <a:pPr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812051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sous-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78800" y="440754"/>
            <a:ext cx="8186400" cy="740655"/>
          </a:xfrm>
        </p:spPr>
        <p:txBody>
          <a:bodyPr anchor="ctr" anchorCtr="0"/>
          <a:lstStyle>
            <a:lvl1pPr algn="l">
              <a:defRPr sz="2340" b="1"/>
            </a:lvl1pPr>
          </a:lstStyle>
          <a:p>
            <a:r>
              <a:rPr lang="fr-FR"/>
              <a:t>Modifiez le style du titre</a:t>
            </a:r>
            <a:endParaRPr lang="fr-CA" dirty="0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478800" y="1858569"/>
            <a:ext cx="8179200" cy="2430538"/>
          </a:xfrm>
        </p:spPr>
        <p:txBody>
          <a:bodyPr/>
          <a:lstStyle>
            <a:lvl1pPr marL="0" indent="0">
              <a:buNone/>
              <a:defRPr sz="1503"/>
            </a:lvl1pPr>
            <a:lvl2pPr marL="411480" indent="0">
              <a:buNone/>
              <a:defRPr sz="2520"/>
            </a:lvl2pPr>
            <a:lvl3pPr marL="822960" indent="0">
              <a:buNone/>
              <a:defRPr sz="2160"/>
            </a:lvl3pPr>
            <a:lvl4pPr marL="1234440" indent="0">
              <a:buNone/>
              <a:defRPr sz="1800"/>
            </a:lvl4pPr>
            <a:lvl5pPr marL="1645920" indent="0">
              <a:buNone/>
              <a:defRPr sz="1800"/>
            </a:lvl5pPr>
            <a:lvl6pPr marL="2057400" indent="0">
              <a:buNone/>
              <a:defRPr sz="1800"/>
            </a:lvl6pPr>
            <a:lvl7pPr marL="2468880" indent="0">
              <a:buNone/>
              <a:defRPr sz="1800"/>
            </a:lvl7pPr>
            <a:lvl8pPr marL="2880360" indent="0">
              <a:buNone/>
              <a:defRPr sz="1800"/>
            </a:lvl8pPr>
            <a:lvl9pPr marL="3291840" indent="0">
              <a:buNone/>
              <a:defRPr sz="1800"/>
            </a:lvl9pPr>
          </a:lstStyle>
          <a:p>
            <a:r>
              <a:rPr lang="fr-FR"/>
              <a:t>Cliquez sur l'icône pour ajouter une image</a:t>
            </a:r>
            <a:endParaRPr lang="fr-CA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78800" y="1366089"/>
            <a:ext cx="8179200" cy="469800"/>
          </a:xfrm>
        </p:spPr>
        <p:txBody>
          <a:bodyPr>
            <a:normAutofit/>
          </a:bodyPr>
          <a:lstStyle>
            <a:lvl1pPr marL="0" indent="0">
              <a:buNone/>
              <a:defRPr sz="1350" b="1" cap="all" baseline="0"/>
            </a:lvl1pPr>
            <a:lvl2pPr marL="411480" indent="0">
              <a:buNone/>
              <a:defRPr sz="1080"/>
            </a:lvl2pPr>
            <a:lvl3pPr marL="822960" indent="0">
              <a:buNone/>
              <a:defRPr sz="900"/>
            </a:lvl3pPr>
            <a:lvl4pPr marL="1234440" indent="0">
              <a:buNone/>
              <a:defRPr sz="810"/>
            </a:lvl4pPr>
            <a:lvl5pPr marL="1645920" indent="0">
              <a:buNone/>
              <a:defRPr sz="810"/>
            </a:lvl5pPr>
            <a:lvl6pPr marL="2057400" indent="0">
              <a:buNone/>
              <a:defRPr sz="810"/>
            </a:lvl6pPr>
            <a:lvl7pPr marL="2468880" indent="0">
              <a:buNone/>
              <a:defRPr sz="810"/>
            </a:lvl7pPr>
            <a:lvl8pPr marL="2880360" indent="0">
              <a:buNone/>
              <a:defRPr sz="810"/>
            </a:lvl8pPr>
            <a:lvl9pPr marL="3291840" indent="0">
              <a:buNone/>
              <a:defRPr sz="81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C91D2-297D-4124-9588-388F28AB5B3D}" type="datetimeFigureOut">
              <a:rPr lang="fr-FR" smtClean="0"/>
              <a:pPr/>
              <a:t>23/07/2020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BD91B-A6BE-418C-B2C9-88CD34860EFA}" type="slidenum">
              <a:rPr lang="fr-CA" smtClean="0"/>
              <a:pPr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811513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re. Text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r>
              <a:rPr lang="fr-FR"/>
              <a:t>Cliquez pour modifier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</p:spPr>
        <p:txBody>
          <a:bodyPr/>
          <a:lstStyle>
            <a:lvl1pPr>
              <a:defRPr/>
            </a:lvl1pPr>
          </a:lstStyle>
          <a:p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</p:spPr>
        <p:txBody>
          <a:bodyPr/>
          <a:lstStyle>
            <a:lvl1pPr>
              <a:defRPr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</p:spPr>
        <p:txBody>
          <a:bodyPr/>
          <a:lstStyle>
            <a:lvl1pPr>
              <a:defRPr/>
            </a:lvl1pPr>
          </a:lstStyle>
          <a:p>
            <a:fld id="{E4B237D4-D237-4209-A6F9-A690B5C2DBBE}" type="slidenum">
              <a:rPr lang="fr-CA"/>
              <a:pPr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800035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78800" y="436673"/>
            <a:ext cx="8186400" cy="744737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dirty="0"/>
              <a:t>Cliquez pour modifier le style du titre</a:t>
            </a:r>
            <a:endParaRPr lang="fr-CA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78800" y="1366089"/>
            <a:ext cx="8186400" cy="29230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fr-CA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89600" y="4846496"/>
            <a:ext cx="2133600" cy="1231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3">
                <a:solidFill>
                  <a:schemeClr val="accent2"/>
                </a:solidFill>
              </a:defRPr>
            </a:lvl1pPr>
          </a:lstStyle>
          <a:p>
            <a:fld id="{C6DC91D2-297D-4124-9588-388F28AB5B3D}" type="datetimeFigureOut">
              <a:rPr lang="fr-FR" smtClean="0"/>
              <a:pPr/>
              <a:t>23/07/2020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4846496"/>
            <a:ext cx="2895600" cy="1231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3">
                <a:solidFill>
                  <a:schemeClr val="accent2"/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200800" y="4846496"/>
            <a:ext cx="464400" cy="1231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3">
                <a:solidFill>
                  <a:schemeClr val="accent2"/>
                </a:solidFill>
              </a:defRPr>
            </a:lvl1pPr>
          </a:lstStyle>
          <a:p>
            <a:fld id="{76DBD91B-A6BE-418C-B2C9-88CD34860EFA}" type="slidenum">
              <a:rPr lang="fr-CA" smtClean="0"/>
              <a:pPr/>
              <a:t>‹N°›</a:t>
            </a:fld>
            <a:endParaRPr lang="fr-CA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2354" y="4528945"/>
            <a:ext cx="1540097" cy="191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428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txStyles>
    <p:titleStyle>
      <a:lvl1pPr algn="l" defTabSz="822960" rtl="0" eaLnBrk="1" latinLnBrk="0" hangingPunct="1">
        <a:spcBef>
          <a:spcPct val="0"/>
        </a:spcBef>
        <a:buNone/>
        <a:defRPr sz="234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39320" indent="-139320" algn="l" defTabSz="82296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503" kern="1200">
          <a:solidFill>
            <a:schemeClr val="tx1"/>
          </a:solidFill>
          <a:latin typeface="+mn-lt"/>
          <a:ea typeface="+mn-ea"/>
          <a:cs typeface="+mn-cs"/>
        </a:defRPr>
      </a:lvl1pPr>
      <a:lvl2pPr marL="408240" indent="-139320" algn="l" defTabSz="82296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503" kern="1200">
          <a:solidFill>
            <a:schemeClr val="tx1"/>
          </a:solidFill>
          <a:latin typeface="+mn-lt"/>
          <a:ea typeface="+mn-ea"/>
          <a:cs typeface="+mn-cs"/>
        </a:defRPr>
      </a:lvl2pPr>
      <a:lvl3pPr marL="677160" indent="-139320" algn="l" defTabSz="82296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503" kern="1200">
          <a:solidFill>
            <a:schemeClr val="tx1"/>
          </a:solidFill>
          <a:latin typeface="+mn-lt"/>
          <a:ea typeface="+mn-ea"/>
          <a:cs typeface="+mn-cs"/>
        </a:defRPr>
      </a:lvl3pPr>
      <a:lvl4pPr marL="942840" indent="-139320" algn="l" defTabSz="82296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503" kern="1200">
          <a:solidFill>
            <a:schemeClr val="tx1"/>
          </a:solidFill>
          <a:latin typeface="+mn-lt"/>
          <a:ea typeface="+mn-ea"/>
          <a:cs typeface="+mn-cs"/>
        </a:defRPr>
      </a:lvl4pPr>
      <a:lvl5pPr marL="1211760" indent="-139320" algn="l" defTabSz="82296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503" kern="1200">
          <a:solidFill>
            <a:schemeClr val="tx1"/>
          </a:solidFill>
          <a:latin typeface="+mn-lt"/>
          <a:ea typeface="+mn-ea"/>
          <a:cs typeface="+mn-cs"/>
        </a:defRPr>
      </a:lvl5pPr>
      <a:lvl6pPr marL="2263140" indent="-205740" algn="l" defTabSz="82296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74620" indent="-205740" algn="l" defTabSz="82296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086100" indent="-205740" algn="l" defTabSz="82296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497580" indent="-205740" algn="l" defTabSz="82296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3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8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.xml"/><Relationship Id="rId1" Type="http://schemas.openxmlformats.org/officeDocument/2006/relationships/tags" Target="../tags/tag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3" Type="http://schemas.openxmlformats.org/officeDocument/2006/relationships/tags" Target="../tags/tag9.xml"/><Relationship Id="rId7" Type="http://schemas.openxmlformats.org/officeDocument/2006/relationships/oleObject" Target="../embeddings/oleObject1.bin"/><Relationship Id="rId2" Type="http://schemas.openxmlformats.org/officeDocument/2006/relationships/tags" Target="../tags/tag8.xml"/><Relationship Id="rId1" Type="http://schemas.openxmlformats.org/officeDocument/2006/relationships/vmlDrawing" Target="../drawings/vmlDrawing1.v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1.xml"/><Relationship Id="rId10" Type="http://schemas.openxmlformats.org/officeDocument/2006/relationships/image" Target="../media/image6.wmf"/><Relationship Id="rId4" Type="http://schemas.openxmlformats.org/officeDocument/2006/relationships/tags" Target="../tags/tag10.xml"/><Relationship Id="rId9" Type="http://schemas.openxmlformats.org/officeDocument/2006/relationships/oleObject" Target="../embeddings/oleObject2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19.xml"/><Relationship Id="rId13" Type="http://schemas.openxmlformats.org/officeDocument/2006/relationships/tags" Target="../tags/tag24.xml"/><Relationship Id="rId18" Type="http://schemas.openxmlformats.org/officeDocument/2006/relationships/slideLayout" Target="../slideLayouts/slideLayout2.xml"/><Relationship Id="rId3" Type="http://schemas.openxmlformats.org/officeDocument/2006/relationships/tags" Target="../tags/tag14.xml"/><Relationship Id="rId7" Type="http://schemas.openxmlformats.org/officeDocument/2006/relationships/tags" Target="../tags/tag18.xml"/><Relationship Id="rId12" Type="http://schemas.openxmlformats.org/officeDocument/2006/relationships/tags" Target="../tags/tag23.xml"/><Relationship Id="rId17" Type="http://schemas.openxmlformats.org/officeDocument/2006/relationships/tags" Target="../tags/tag28.xml"/><Relationship Id="rId2" Type="http://schemas.openxmlformats.org/officeDocument/2006/relationships/tags" Target="../tags/tag13.xml"/><Relationship Id="rId16" Type="http://schemas.openxmlformats.org/officeDocument/2006/relationships/tags" Target="../tags/tag27.xml"/><Relationship Id="rId1" Type="http://schemas.openxmlformats.org/officeDocument/2006/relationships/tags" Target="../tags/tag12.xml"/><Relationship Id="rId6" Type="http://schemas.openxmlformats.org/officeDocument/2006/relationships/tags" Target="../tags/tag17.xml"/><Relationship Id="rId11" Type="http://schemas.openxmlformats.org/officeDocument/2006/relationships/tags" Target="../tags/tag22.xml"/><Relationship Id="rId5" Type="http://schemas.openxmlformats.org/officeDocument/2006/relationships/tags" Target="../tags/tag16.xml"/><Relationship Id="rId15" Type="http://schemas.openxmlformats.org/officeDocument/2006/relationships/tags" Target="../tags/tag26.xml"/><Relationship Id="rId10" Type="http://schemas.openxmlformats.org/officeDocument/2006/relationships/tags" Target="../tags/tag21.xml"/><Relationship Id="rId4" Type="http://schemas.openxmlformats.org/officeDocument/2006/relationships/tags" Target="../tags/tag15.xml"/><Relationship Id="rId9" Type="http://schemas.openxmlformats.org/officeDocument/2006/relationships/tags" Target="../tags/tag20.xml"/><Relationship Id="rId14" Type="http://schemas.openxmlformats.org/officeDocument/2006/relationships/tags" Target="../tags/tag2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36.xml"/><Relationship Id="rId13" Type="http://schemas.openxmlformats.org/officeDocument/2006/relationships/tags" Target="../tags/tag41.xml"/><Relationship Id="rId3" Type="http://schemas.openxmlformats.org/officeDocument/2006/relationships/tags" Target="../tags/tag31.xml"/><Relationship Id="rId7" Type="http://schemas.openxmlformats.org/officeDocument/2006/relationships/tags" Target="../tags/tag35.xml"/><Relationship Id="rId12" Type="http://schemas.openxmlformats.org/officeDocument/2006/relationships/tags" Target="../tags/tag40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30.xml"/><Relationship Id="rId16" Type="http://schemas.openxmlformats.org/officeDocument/2006/relationships/tags" Target="../tags/tag44.xml"/><Relationship Id="rId1" Type="http://schemas.openxmlformats.org/officeDocument/2006/relationships/tags" Target="../tags/tag29.xml"/><Relationship Id="rId6" Type="http://schemas.openxmlformats.org/officeDocument/2006/relationships/tags" Target="../tags/tag34.xml"/><Relationship Id="rId11" Type="http://schemas.openxmlformats.org/officeDocument/2006/relationships/tags" Target="../tags/tag39.xml"/><Relationship Id="rId5" Type="http://schemas.openxmlformats.org/officeDocument/2006/relationships/tags" Target="../tags/tag33.xml"/><Relationship Id="rId15" Type="http://schemas.openxmlformats.org/officeDocument/2006/relationships/tags" Target="../tags/tag43.xml"/><Relationship Id="rId10" Type="http://schemas.openxmlformats.org/officeDocument/2006/relationships/tags" Target="../tags/tag38.xml"/><Relationship Id="rId4" Type="http://schemas.openxmlformats.org/officeDocument/2006/relationships/tags" Target="../tags/tag32.xml"/><Relationship Id="rId9" Type="http://schemas.openxmlformats.org/officeDocument/2006/relationships/tags" Target="../tags/tag37.xml"/><Relationship Id="rId14" Type="http://schemas.openxmlformats.org/officeDocument/2006/relationships/tags" Target="../tags/tag4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52.xml"/><Relationship Id="rId3" Type="http://schemas.openxmlformats.org/officeDocument/2006/relationships/tags" Target="../tags/tag47.xml"/><Relationship Id="rId7" Type="http://schemas.openxmlformats.org/officeDocument/2006/relationships/tags" Target="../tags/tag51.xml"/><Relationship Id="rId12" Type="http://schemas.openxmlformats.org/officeDocument/2006/relationships/slideLayout" Target="../slideLayouts/slideLayout2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6" Type="http://schemas.openxmlformats.org/officeDocument/2006/relationships/tags" Target="../tags/tag50.xml"/><Relationship Id="rId11" Type="http://schemas.openxmlformats.org/officeDocument/2006/relationships/tags" Target="../tags/tag55.xml"/><Relationship Id="rId5" Type="http://schemas.openxmlformats.org/officeDocument/2006/relationships/tags" Target="../tags/tag49.xml"/><Relationship Id="rId10" Type="http://schemas.openxmlformats.org/officeDocument/2006/relationships/tags" Target="../tags/tag54.xml"/><Relationship Id="rId4" Type="http://schemas.openxmlformats.org/officeDocument/2006/relationships/tags" Target="../tags/tag48.xml"/><Relationship Id="rId9" Type="http://schemas.openxmlformats.org/officeDocument/2006/relationships/tags" Target="../tags/tag5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63.xml"/><Relationship Id="rId3" Type="http://schemas.openxmlformats.org/officeDocument/2006/relationships/tags" Target="../tags/tag58.xml"/><Relationship Id="rId7" Type="http://schemas.openxmlformats.org/officeDocument/2006/relationships/tags" Target="../tags/tag62.xml"/><Relationship Id="rId12" Type="http://schemas.openxmlformats.org/officeDocument/2006/relationships/slideLayout" Target="../slideLayouts/slideLayout2.xml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6" Type="http://schemas.openxmlformats.org/officeDocument/2006/relationships/tags" Target="../tags/tag61.xml"/><Relationship Id="rId11" Type="http://schemas.openxmlformats.org/officeDocument/2006/relationships/tags" Target="../tags/tag66.xml"/><Relationship Id="rId5" Type="http://schemas.openxmlformats.org/officeDocument/2006/relationships/tags" Target="../tags/tag60.xml"/><Relationship Id="rId10" Type="http://schemas.openxmlformats.org/officeDocument/2006/relationships/tags" Target="../tags/tag65.xml"/><Relationship Id="rId4" Type="http://schemas.openxmlformats.org/officeDocument/2006/relationships/tags" Target="../tags/tag59.xml"/><Relationship Id="rId9" Type="http://schemas.openxmlformats.org/officeDocument/2006/relationships/tags" Target="../tags/tag64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74.xml"/><Relationship Id="rId3" Type="http://schemas.openxmlformats.org/officeDocument/2006/relationships/tags" Target="../tags/tag69.xml"/><Relationship Id="rId7" Type="http://schemas.openxmlformats.org/officeDocument/2006/relationships/tags" Target="../tags/tag73.xml"/><Relationship Id="rId12" Type="http://schemas.openxmlformats.org/officeDocument/2006/relationships/slideLayout" Target="../slideLayouts/slideLayout2.xml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6" Type="http://schemas.openxmlformats.org/officeDocument/2006/relationships/tags" Target="../tags/tag72.xml"/><Relationship Id="rId11" Type="http://schemas.openxmlformats.org/officeDocument/2006/relationships/tags" Target="../tags/tag77.xml"/><Relationship Id="rId5" Type="http://schemas.openxmlformats.org/officeDocument/2006/relationships/tags" Target="../tags/tag71.xml"/><Relationship Id="rId10" Type="http://schemas.openxmlformats.org/officeDocument/2006/relationships/tags" Target="../tags/tag76.xml"/><Relationship Id="rId4" Type="http://schemas.openxmlformats.org/officeDocument/2006/relationships/tags" Target="../tags/tag70.xml"/><Relationship Id="rId9" Type="http://schemas.openxmlformats.org/officeDocument/2006/relationships/tags" Target="../tags/tag75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85.xml"/><Relationship Id="rId3" Type="http://schemas.openxmlformats.org/officeDocument/2006/relationships/tags" Target="../tags/tag80.xml"/><Relationship Id="rId7" Type="http://schemas.openxmlformats.org/officeDocument/2006/relationships/tags" Target="../tags/tag84.xml"/><Relationship Id="rId12" Type="http://schemas.openxmlformats.org/officeDocument/2006/relationships/slideLayout" Target="../slideLayouts/slideLayout2.xml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6" Type="http://schemas.openxmlformats.org/officeDocument/2006/relationships/tags" Target="../tags/tag83.xml"/><Relationship Id="rId11" Type="http://schemas.openxmlformats.org/officeDocument/2006/relationships/tags" Target="../tags/tag88.xml"/><Relationship Id="rId5" Type="http://schemas.openxmlformats.org/officeDocument/2006/relationships/tags" Target="../tags/tag82.xml"/><Relationship Id="rId10" Type="http://schemas.openxmlformats.org/officeDocument/2006/relationships/tags" Target="../tags/tag87.xml"/><Relationship Id="rId4" Type="http://schemas.openxmlformats.org/officeDocument/2006/relationships/tags" Target="../tags/tag81.xml"/><Relationship Id="rId9" Type="http://schemas.openxmlformats.org/officeDocument/2006/relationships/tags" Target="../tags/tag8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89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96.xml"/><Relationship Id="rId13" Type="http://schemas.openxmlformats.org/officeDocument/2006/relationships/tags" Target="../tags/tag101.xml"/><Relationship Id="rId18" Type="http://schemas.openxmlformats.org/officeDocument/2006/relationships/tags" Target="../tags/tag106.xml"/><Relationship Id="rId26" Type="http://schemas.openxmlformats.org/officeDocument/2006/relationships/slideLayout" Target="../slideLayouts/slideLayout10.xml"/><Relationship Id="rId3" Type="http://schemas.openxmlformats.org/officeDocument/2006/relationships/tags" Target="../tags/tag91.xml"/><Relationship Id="rId21" Type="http://schemas.openxmlformats.org/officeDocument/2006/relationships/tags" Target="../tags/tag109.xml"/><Relationship Id="rId7" Type="http://schemas.openxmlformats.org/officeDocument/2006/relationships/tags" Target="../tags/tag95.xml"/><Relationship Id="rId12" Type="http://schemas.openxmlformats.org/officeDocument/2006/relationships/tags" Target="../tags/tag100.xml"/><Relationship Id="rId17" Type="http://schemas.openxmlformats.org/officeDocument/2006/relationships/tags" Target="../tags/tag105.xml"/><Relationship Id="rId25" Type="http://schemas.openxmlformats.org/officeDocument/2006/relationships/tags" Target="../tags/tag113.xml"/><Relationship Id="rId2" Type="http://schemas.openxmlformats.org/officeDocument/2006/relationships/tags" Target="../tags/tag90.xml"/><Relationship Id="rId16" Type="http://schemas.openxmlformats.org/officeDocument/2006/relationships/tags" Target="../tags/tag104.xml"/><Relationship Id="rId20" Type="http://schemas.openxmlformats.org/officeDocument/2006/relationships/tags" Target="../tags/tag108.xml"/><Relationship Id="rId1" Type="http://schemas.openxmlformats.org/officeDocument/2006/relationships/vmlDrawing" Target="../drawings/vmlDrawing2.vml"/><Relationship Id="rId6" Type="http://schemas.openxmlformats.org/officeDocument/2006/relationships/tags" Target="../tags/tag94.xml"/><Relationship Id="rId11" Type="http://schemas.openxmlformats.org/officeDocument/2006/relationships/tags" Target="../tags/tag99.xml"/><Relationship Id="rId24" Type="http://schemas.openxmlformats.org/officeDocument/2006/relationships/tags" Target="../tags/tag112.xml"/><Relationship Id="rId5" Type="http://schemas.openxmlformats.org/officeDocument/2006/relationships/tags" Target="../tags/tag93.xml"/><Relationship Id="rId15" Type="http://schemas.openxmlformats.org/officeDocument/2006/relationships/tags" Target="../tags/tag103.xml"/><Relationship Id="rId23" Type="http://schemas.openxmlformats.org/officeDocument/2006/relationships/tags" Target="../tags/tag111.xml"/><Relationship Id="rId28" Type="http://schemas.openxmlformats.org/officeDocument/2006/relationships/image" Target="../media/image7.emf"/><Relationship Id="rId10" Type="http://schemas.openxmlformats.org/officeDocument/2006/relationships/tags" Target="../tags/tag98.xml"/><Relationship Id="rId19" Type="http://schemas.openxmlformats.org/officeDocument/2006/relationships/tags" Target="../tags/tag107.xml"/><Relationship Id="rId4" Type="http://schemas.openxmlformats.org/officeDocument/2006/relationships/tags" Target="../tags/tag92.xml"/><Relationship Id="rId9" Type="http://schemas.openxmlformats.org/officeDocument/2006/relationships/tags" Target="../tags/tag97.xml"/><Relationship Id="rId14" Type="http://schemas.openxmlformats.org/officeDocument/2006/relationships/tags" Target="../tags/tag102.xml"/><Relationship Id="rId22" Type="http://schemas.openxmlformats.org/officeDocument/2006/relationships/tags" Target="../tags/tag110.xml"/><Relationship Id="rId27" Type="http://schemas.openxmlformats.org/officeDocument/2006/relationships/oleObject" Target="../embeddings/oleObject3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121.xml"/><Relationship Id="rId3" Type="http://schemas.openxmlformats.org/officeDocument/2006/relationships/tags" Target="../tags/tag116.xml"/><Relationship Id="rId7" Type="http://schemas.openxmlformats.org/officeDocument/2006/relationships/tags" Target="../tags/tag120.xml"/><Relationship Id="rId12" Type="http://schemas.openxmlformats.org/officeDocument/2006/relationships/slideLayout" Target="../slideLayouts/slideLayout2.xml"/><Relationship Id="rId2" Type="http://schemas.openxmlformats.org/officeDocument/2006/relationships/tags" Target="../tags/tag115.xml"/><Relationship Id="rId1" Type="http://schemas.openxmlformats.org/officeDocument/2006/relationships/tags" Target="../tags/tag114.xml"/><Relationship Id="rId6" Type="http://schemas.openxmlformats.org/officeDocument/2006/relationships/tags" Target="../tags/tag119.xml"/><Relationship Id="rId11" Type="http://schemas.openxmlformats.org/officeDocument/2006/relationships/tags" Target="../tags/tag124.xml"/><Relationship Id="rId5" Type="http://schemas.openxmlformats.org/officeDocument/2006/relationships/tags" Target="../tags/tag118.xml"/><Relationship Id="rId10" Type="http://schemas.openxmlformats.org/officeDocument/2006/relationships/tags" Target="../tags/tag123.xml"/><Relationship Id="rId4" Type="http://schemas.openxmlformats.org/officeDocument/2006/relationships/tags" Target="../tags/tag117.xml"/><Relationship Id="rId9" Type="http://schemas.openxmlformats.org/officeDocument/2006/relationships/tags" Target="../tags/tag12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132.xml"/><Relationship Id="rId3" Type="http://schemas.openxmlformats.org/officeDocument/2006/relationships/tags" Target="../tags/tag127.xml"/><Relationship Id="rId7" Type="http://schemas.openxmlformats.org/officeDocument/2006/relationships/tags" Target="../tags/tag131.xml"/><Relationship Id="rId12" Type="http://schemas.openxmlformats.org/officeDocument/2006/relationships/slideLayout" Target="../slideLayouts/slideLayout2.xml"/><Relationship Id="rId2" Type="http://schemas.openxmlformats.org/officeDocument/2006/relationships/tags" Target="../tags/tag126.xml"/><Relationship Id="rId1" Type="http://schemas.openxmlformats.org/officeDocument/2006/relationships/tags" Target="../tags/tag125.xml"/><Relationship Id="rId6" Type="http://schemas.openxmlformats.org/officeDocument/2006/relationships/tags" Target="../tags/tag130.xml"/><Relationship Id="rId11" Type="http://schemas.openxmlformats.org/officeDocument/2006/relationships/tags" Target="../tags/tag135.xml"/><Relationship Id="rId5" Type="http://schemas.openxmlformats.org/officeDocument/2006/relationships/tags" Target="../tags/tag129.xml"/><Relationship Id="rId10" Type="http://schemas.openxmlformats.org/officeDocument/2006/relationships/tags" Target="../tags/tag134.xml"/><Relationship Id="rId4" Type="http://schemas.openxmlformats.org/officeDocument/2006/relationships/tags" Target="../tags/tag128.xml"/><Relationship Id="rId9" Type="http://schemas.openxmlformats.org/officeDocument/2006/relationships/tags" Target="../tags/tag133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143.xml"/><Relationship Id="rId3" Type="http://schemas.openxmlformats.org/officeDocument/2006/relationships/tags" Target="../tags/tag138.xml"/><Relationship Id="rId7" Type="http://schemas.openxmlformats.org/officeDocument/2006/relationships/tags" Target="../tags/tag142.xml"/><Relationship Id="rId12" Type="http://schemas.openxmlformats.org/officeDocument/2006/relationships/slideLayout" Target="../slideLayouts/slideLayout2.xml"/><Relationship Id="rId2" Type="http://schemas.openxmlformats.org/officeDocument/2006/relationships/tags" Target="../tags/tag137.xml"/><Relationship Id="rId1" Type="http://schemas.openxmlformats.org/officeDocument/2006/relationships/tags" Target="../tags/tag136.xml"/><Relationship Id="rId6" Type="http://schemas.openxmlformats.org/officeDocument/2006/relationships/tags" Target="../tags/tag141.xml"/><Relationship Id="rId11" Type="http://schemas.openxmlformats.org/officeDocument/2006/relationships/tags" Target="../tags/tag146.xml"/><Relationship Id="rId5" Type="http://schemas.openxmlformats.org/officeDocument/2006/relationships/tags" Target="../tags/tag140.xml"/><Relationship Id="rId10" Type="http://schemas.openxmlformats.org/officeDocument/2006/relationships/tags" Target="../tags/tag145.xml"/><Relationship Id="rId4" Type="http://schemas.openxmlformats.org/officeDocument/2006/relationships/tags" Target="../tags/tag139.xml"/><Relationship Id="rId9" Type="http://schemas.openxmlformats.org/officeDocument/2006/relationships/tags" Target="../tags/tag14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154.xml"/><Relationship Id="rId13" Type="http://schemas.openxmlformats.org/officeDocument/2006/relationships/tags" Target="../tags/tag159.xml"/><Relationship Id="rId18" Type="http://schemas.openxmlformats.org/officeDocument/2006/relationships/tags" Target="../tags/tag164.xml"/><Relationship Id="rId26" Type="http://schemas.openxmlformats.org/officeDocument/2006/relationships/tags" Target="../tags/tag172.xml"/><Relationship Id="rId3" Type="http://schemas.openxmlformats.org/officeDocument/2006/relationships/tags" Target="../tags/tag149.xml"/><Relationship Id="rId21" Type="http://schemas.openxmlformats.org/officeDocument/2006/relationships/tags" Target="../tags/tag167.xml"/><Relationship Id="rId7" Type="http://schemas.openxmlformats.org/officeDocument/2006/relationships/tags" Target="../tags/tag153.xml"/><Relationship Id="rId12" Type="http://schemas.openxmlformats.org/officeDocument/2006/relationships/tags" Target="../tags/tag158.xml"/><Relationship Id="rId17" Type="http://schemas.openxmlformats.org/officeDocument/2006/relationships/tags" Target="../tags/tag163.xml"/><Relationship Id="rId25" Type="http://schemas.openxmlformats.org/officeDocument/2006/relationships/tags" Target="../tags/tag171.xml"/><Relationship Id="rId2" Type="http://schemas.openxmlformats.org/officeDocument/2006/relationships/tags" Target="../tags/tag148.xml"/><Relationship Id="rId16" Type="http://schemas.openxmlformats.org/officeDocument/2006/relationships/tags" Target="../tags/tag162.xml"/><Relationship Id="rId20" Type="http://schemas.openxmlformats.org/officeDocument/2006/relationships/tags" Target="../tags/tag166.xml"/><Relationship Id="rId29" Type="http://schemas.openxmlformats.org/officeDocument/2006/relationships/slideLayout" Target="../slideLayouts/slideLayout10.xml"/><Relationship Id="rId1" Type="http://schemas.openxmlformats.org/officeDocument/2006/relationships/vmlDrawing" Target="../drawings/vmlDrawing3.vml"/><Relationship Id="rId6" Type="http://schemas.openxmlformats.org/officeDocument/2006/relationships/tags" Target="../tags/tag152.xml"/><Relationship Id="rId11" Type="http://schemas.openxmlformats.org/officeDocument/2006/relationships/tags" Target="../tags/tag157.xml"/><Relationship Id="rId24" Type="http://schemas.openxmlformats.org/officeDocument/2006/relationships/tags" Target="../tags/tag170.xml"/><Relationship Id="rId5" Type="http://schemas.openxmlformats.org/officeDocument/2006/relationships/tags" Target="../tags/tag151.xml"/><Relationship Id="rId15" Type="http://schemas.openxmlformats.org/officeDocument/2006/relationships/tags" Target="../tags/tag161.xml"/><Relationship Id="rId23" Type="http://schemas.openxmlformats.org/officeDocument/2006/relationships/tags" Target="../tags/tag169.xml"/><Relationship Id="rId28" Type="http://schemas.openxmlformats.org/officeDocument/2006/relationships/tags" Target="../tags/tag174.xml"/><Relationship Id="rId10" Type="http://schemas.openxmlformats.org/officeDocument/2006/relationships/tags" Target="../tags/tag156.xml"/><Relationship Id="rId19" Type="http://schemas.openxmlformats.org/officeDocument/2006/relationships/tags" Target="../tags/tag165.xml"/><Relationship Id="rId31" Type="http://schemas.openxmlformats.org/officeDocument/2006/relationships/image" Target="../media/image8.emf"/><Relationship Id="rId4" Type="http://schemas.openxmlformats.org/officeDocument/2006/relationships/tags" Target="../tags/tag150.xml"/><Relationship Id="rId9" Type="http://schemas.openxmlformats.org/officeDocument/2006/relationships/tags" Target="../tags/tag155.xml"/><Relationship Id="rId14" Type="http://schemas.openxmlformats.org/officeDocument/2006/relationships/tags" Target="../tags/tag160.xml"/><Relationship Id="rId22" Type="http://schemas.openxmlformats.org/officeDocument/2006/relationships/tags" Target="../tags/tag168.xml"/><Relationship Id="rId27" Type="http://schemas.openxmlformats.org/officeDocument/2006/relationships/tags" Target="../tags/tag173.xml"/><Relationship Id="rId30" Type="http://schemas.openxmlformats.org/officeDocument/2006/relationships/oleObject" Target="../embeddings/oleObject4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tags" Target="../tags/tag182.xml"/><Relationship Id="rId3" Type="http://schemas.openxmlformats.org/officeDocument/2006/relationships/tags" Target="../tags/tag177.xml"/><Relationship Id="rId7" Type="http://schemas.openxmlformats.org/officeDocument/2006/relationships/tags" Target="../tags/tag181.xml"/><Relationship Id="rId12" Type="http://schemas.openxmlformats.org/officeDocument/2006/relationships/slideLayout" Target="../slideLayouts/slideLayout2.xml"/><Relationship Id="rId2" Type="http://schemas.openxmlformats.org/officeDocument/2006/relationships/tags" Target="../tags/tag176.xml"/><Relationship Id="rId1" Type="http://schemas.openxmlformats.org/officeDocument/2006/relationships/tags" Target="../tags/tag175.xml"/><Relationship Id="rId6" Type="http://schemas.openxmlformats.org/officeDocument/2006/relationships/tags" Target="../tags/tag180.xml"/><Relationship Id="rId11" Type="http://schemas.openxmlformats.org/officeDocument/2006/relationships/tags" Target="../tags/tag185.xml"/><Relationship Id="rId5" Type="http://schemas.openxmlformats.org/officeDocument/2006/relationships/tags" Target="../tags/tag179.xml"/><Relationship Id="rId10" Type="http://schemas.openxmlformats.org/officeDocument/2006/relationships/tags" Target="../tags/tag184.xml"/><Relationship Id="rId4" Type="http://schemas.openxmlformats.org/officeDocument/2006/relationships/tags" Target="../tags/tag178.xml"/><Relationship Id="rId9" Type="http://schemas.openxmlformats.org/officeDocument/2006/relationships/tags" Target="../tags/tag183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tags" Target="../tags/tag193.xml"/><Relationship Id="rId3" Type="http://schemas.openxmlformats.org/officeDocument/2006/relationships/tags" Target="../tags/tag188.xml"/><Relationship Id="rId7" Type="http://schemas.openxmlformats.org/officeDocument/2006/relationships/tags" Target="../tags/tag192.xml"/><Relationship Id="rId12" Type="http://schemas.openxmlformats.org/officeDocument/2006/relationships/slideLayout" Target="../slideLayouts/slideLayout2.xml"/><Relationship Id="rId2" Type="http://schemas.openxmlformats.org/officeDocument/2006/relationships/tags" Target="../tags/tag187.xml"/><Relationship Id="rId1" Type="http://schemas.openxmlformats.org/officeDocument/2006/relationships/tags" Target="../tags/tag186.xml"/><Relationship Id="rId6" Type="http://schemas.openxmlformats.org/officeDocument/2006/relationships/tags" Target="../tags/tag191.xml"/><Relationship Id="rId11" Type="http://schemas.openxmlformats.org/officeDocument/2006/relationships/tags" Target="../tags/tag196.xml"/><Relationship Id="rId5" Type="http://schemas.openxmlformats.org/officeDocument/2006/relationships/tags" Target="../tags/tag190.xml"/><Relationship Id="rId10" Type="http://schemas.openxmlformats.org/officeDocument/2006/relationships/tags" Target="../tags/tag195.xml"/><Relationship Id="rId4" Type="http://schemas.openxmlformats.org/officeDocument/2006/relationships/tags" Target="../tags/tag189.xml"/><Relationship Id="rId9" Type="http://schemas.openxmlformats.org/officeDocument/2006/relationships/tags" Target="../tags/tag194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tags" Target="../tags/tag204.xml"/><Relationship Id="rId3" Type="http://schemas.openxmlformats.org/officeDocument/2006/relationships/tags" Target="../tags/tag199.xml"/><Relationship Id="rId7" Type="http://schemas.openxmlformats.org/officeDocument/2006/relationships/tags" Target="../tags/tag203.xml"/><Relationship Id="rId12" Type="http://schemas.openxmlformats.org/officeDocument/2006/relationships/slideLayout" Target="../slideLayouts/slideLayout2.xml"/><Relationship Id="rId2" Type="http://schemas.openxmlformats.org/officeDocument/2006/relationships/tags" Target="../tags/tag198.xml"/><Relationship Id="rId1" Type="http://schemas.openxmlformats.org/officeDocument/2006/relationships/tags" Target="../tags/tag197.xml"/><Relationship Id="rId6" Type="http://schemas.openxmlformats.org/officeDocument/2006/relationships/tags" Target="../tags/tag202.xml"/><Relationship Id="rId11" Type="http://schemas.openxmlformats.org/officeDocument/2006/relationships/tags" Target="../tags/tag207.xml"/><Relationship Id="rId5" Type="http://schemas.openxmlformats.org/officeDocument/2006/relationships/tags" Target="../tags/tag201.xml"/><Relationship Id="rId10" Type="http://schemas.openxmlformats.org/officeDocument/2006/relationships/tags" Target="../tags/tag206.xml"/><Relationship Id="rId4" Type="http://schemas.openxmlformats.org/officeDocument/2006/relationships/tags" Target="../tags/tag200.xml"/><Relationship Id="rId9" Type="http://schemas.openxmlformats.org/officeDocument/2006/relationships/tags" Target="../tags/tag205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tags" Target="../tags/tag215.xml"/><Relationship Id="rId3" Type="http://schemas.openxmlformats.org/officeDocument/2006/relationships/tags" Target="../tags/tag210.xml"/><Relationship Id="rId7" Type="http://schemas.openxmlformats.org/officeDocument/2006/relationships/tags" Target="../tags/tag214.xml"/><Relationship Id="rId12" Type="http://schemas.openxmlformats.org/officeDocument/2006/relationships/slideLayout" Target="../slideLayouts/slideLayout2.xml"/><Relationship Id="rId2" Type="http://schemas.openxmlformats.org/officeDocument/2006/relationships/tags" Target="../tags/tag209.xml"/><Relationship Id="rId1" Type="http://schemas.openxmlformats.org/officeDocument/2006/relationships/tags" Target="../tags/tag208.xml"/><Relationship Id="rId6" Type="http://schemas.openxmlformats.org/officeDocument/2006/relationships/tags" Target="../tags/tag213.xml"/><Relationship Id="rId11" Type="http://schemas.openxmlformats.org/officeDocument/2006/relationships/tags" Target="../tags/tag218.xml"/><Relationship Id="rId5" Type="http://schemas.openxmlformats.org/officeDocument/2006/relationships/tags" Target="../tags/tag212.xml"/><Relationship Id="rId10" Type="http://schemas.openxmlformats.org/officeDocument/2006/relationships/tags" Target="../tags/tag217.xml"/><Relationship Id="rId4" Type="http://schemas.openxmlformats.org/officeDocument/2006/relationships/tags" Target="../tags/tag211.xml"/><Relationship Id="rId9" Type="http://schemas.openxmlformats.org/officeDocument/2006/relationships/tags" Target="../tags/tag21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19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3" Type="http://schemas.openxmlformats.org/officeDocument/2006/relationships/tags" Target="../tags/tag221.xml"/><Relationship Id="rId7" Type="http://schemas.openxmlformats.org/officeDocument/2006/relationships/oleObject" Target="../embeddings/oleObject5.bin"/><Relationship Id="rId2" Type="http://schemas.openxmlformats.org/officeDocument/2006/relationships/tags" Target="../tags/tag220.xml"/><Relationship Id="rId1" Type="http://schemas.openxmlformats.org/officeDocument/2006/relationships/vmlDrawing" Target="../drawings/vmlDrawing4.v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223.xml"/><Relationship Id="rId10" Type="http://schemas.openxmlformats.org/officeDocument/2006/relationships/image" Target="../media/image6.wmf"/><Relationship Id="rId4" Type="http://schemas.openxmlformats.org/officeDocument/2006/relationships/tags" Target="../tags/tag222.xml"/><Relationship Id="rId9" Type="http://schemas.openxmlformats.org/officeDocument/2006/relationships/oleObject" Target="../embeddings/oleObject6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tags" Target="../tags/tag226.xml"/><Relationship Id="rId2" Type="http://schemas.openxmlformats.org/officeDocument/2006/relationships/tags" Target="../tags/tag225.xml"/><Relationship Id="rId1" Type="http://schemas.openxmlformats.org/officeDocument/2006/relationships/tags" Target="../tags/tag224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2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tags" Target="../tags/tag230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229.xml"/><Relationship Id="rId1" Type="http://schemas.openxmlformats.org/officeDocument/2006/relationships/tags" Target="../tags/tag228.xml"/><Relationship Id="rId6" Type="http://schemas.openxmlformats.org/officeDocument/2006/relationships/tags" Target="../tags/tag233.xml"/><Relationship Id="rId5" Type="http://schemas.openxmlformats.org/officeDocument/2006/relationships/tags" Target="../tags/tag232.xml"/><Relationship Id="rId4" Type="http://schemas.openxmlformats.org/officeDocument/2006/relationships/tags" Target="../tags/tag23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35.xml"/><Relationship Id="rId1" Type="http://schemas.openxmlformats.org/officeDocument/2006/relationships/tags" Target="../tags/tag23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tags" Target="../tags/tag238.xml"/><Relationship Id="rId2" Type="http://schemas.openxmlformats.org/officeDocument/2006/relationships/tags" Target="../tags/tag237.xml"/><Relationship Id="rId1" Type="http://schemas.openxmlformats.org/officeDocument/2006/relationships/tags" Target="../tags/tag236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3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41.xml"/><Relationship Id="rId1" Type="http://schemas.openxmlformats.org/officeDocument/2006/relationships/tags" Target="../tags/tag240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tags" Target="../tags/tag244.xml"/><Relationship Id="rId7" Type="http://schemas.openxmlformats.org/officeDocument/2006/relationships/diagramQuickStyle" Target="../diagrams/quickStyle1.xml"/><Relationship Id="rId2" Type="http://schemas.openxmlformats.org/officeDocument/2006/relationships/tags" Target="../tags/tag243.xml"/><Relationship Id="rId1" Type="http://schemas.openxmlformats.org/officeDocument/2006/relationships/tags" Target="../tags/tag242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slideLayout" Target="../slideLayouts/slideLayout2.xml"/><Relationship Id="rId9" Type="http://schemas.microsoft.com/office/2007/relationships/diagramDrawing" Target="../diagrams/drawing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tags" Target="../tags/tag246.xml"/><Relationship Id="rId7" Type="http://schemas.openxmlformats.org/officeDocument/2006/relationships/image" Target="../media/image9.emf"/><Relationship Id="rId2" Type="http://schemas.openxmlformats.org/officeDocument/2006/relationships/tags" Target="../tags/tag245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7.bin"/><Relationship Id="rId5" Type="http://schemas.openxmlformats.org/officeDocument/2006/relationships/slideLayout" Target="../slideLayouts/slideLayout10.xml"/><Relationship Id="rId4" Type="http://schemas.openxmlformats.org/officeDocument/2006/relationships/tags" Target="../tags/tag24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4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50.xml"/><Relationship Id="rId1" Type="http://schemas.openxmlformats.org/officeDocument/2006/relationships/tags" Target="../tags/tag249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52.xml"/><Relationship Id="rId1" Type="http://schemas.openxmlformats.org/officeDocument/2006/relationships/tags" Target="../tags/tag251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tags" Target="../tags/tag260.xml"/><Relationship Id="rId3" Type="http://schemas.openxmlformats.org/officeDocument/2006/relationships/tags" Target="../tags/tag255.xml"/><Relationship Id="rId7" Type="http://schemas.openxmlformats.org/officeDocument/2006/relationships/tags" Target="../tags/tag259.xml"/><Relationship Id="rId12" Type="http://schemas.openxmlformats.org/officeDocument/2006/relationships/slideLayout" Target="../slideLayouts/slideLayout2.xml"/><Relationship Id="rId2" Type="http://schemas.openxmlformats.org/officeDocument/2006/relationships/tags" Target="../tags/tag254.xml"/><Relationship Id="rId1" Type="http://schemas.openxmlformats.org/officeDocument/2006/relationships/tags" Target="../tags/tag253.xml"/><Relationship Id="rId6" Type="http://schemas.openxmlformats.org/officeDocument/2006/relationships/tags" Target="../tags/tag258.xml"/><Relationship Id="rId11" Type="http://schemas.openxmlformats.org/officeDocument/2006/relationships/tags" Target="../tags/tag263.xml"/><Relationship Id="rId5" Type="http://schemas.openxmlformats.org/officeDocument/2006/relationships/tags" Target="../tags/tag257.xml"/><Relationship Id="rId10" Type="http://schemas.openxmlformats.org/officeDocument/2006/relationships/tags" Target="../tags/tag262.xml"/><Relationship Id="rId4" Type="http://schemas.openxmlformats.org/officeDocument/2006/relationships/tags" Target="../tags/tag256.xml"/><Relationship Id="rId9" Type="http://schemas.openxmlformats.org/officeDocument/2006/relationships/tags" Target="../tags/tag261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tags" Target="../tags/tag271.xml"/><Relationship Id="rId3" Type="http://schemas.openxmlformats.org/officeDocument/2006/relationships/tags" Target="../tags/tag266.xml"/><Relationship Id="rId7" Type="http://schemas.openxmlformats.org/officeDocument/2006/relationships/tags" Target="../tags/tag270.xml"/><Relationship Id="rId12" Type="http://schemas.openxmlformats.org/officeDocument/2006/relationships/slideLayout" Target="../slideLayouts/slideLayout2.xml"/><Relationship Id="rId2" Type="http://schemas.openxmlformats.org/officeDocument/2006/relationships/tags" Target="../tags/tag265.xml"/><Relationship Id="rId1" Type="http://schemas.openxmlformats.org/officeDocument/2006/relationships/tags" Target="../tags/tag264.xml"/><Relationship Id="rId6" Type="http://schemas.openxmlformats.org/officeDocument/2006/relationships/tags" Target="../tags/tag269.xml"/><Relationship Id="rId11" Type="http://schemas.openxmlformats.org/officeDocument/2006/relationships/tags" Target="../tags/tag274.xml"/><Relationship Id="rId5" Type="http://schemas.openxmlformats.org/officeDocument/2006/relationships/tags" Target="../tags/tag268.xml"/><Relationship Id="rId10" Type="http://schemas.openxmlformats.org/officeDocument/2006/relationships/tags" Target="../tags/tag273.xml"/><Relationship Id="rId4" Type="http://schemas.openxmlformats.org/officeDocument/2006/relationships/tags" Target="../tags/tag267.xml"/><Relationship Id="rId9" Type="http://schemas.openxmlformats.org/officeDocument/2006/relationships/tags" Target="../tags/tag27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76.xml"/><Relationship Id="rId1" Type="http://schemas.openxmlformats.org/officeDocument/2006/relationships/tags" Target="../tags/tag275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tags" Target="../tags/tag284.xml"/><Relationship Id="rId3" Type="http://schemas.openxmlformats.org/officeDocument/2006/relationships/tags" Target="../tags/tag279.xml"/><Relationship Id="rId7" Type="http://schemas.openxmlformats.org/officeDocument/2006/relationships/tags" Target="../tags/tag283.xml"/><Relationship Id="rId12" Type="http://schemas.openxmlformats.org/officeDocument/2006/relationships/slideLayout" Target="../slideLayouts/slideLayout2.xml"/><Relationship Id="rId2" Type="http://schemas.openxmlformats.org/officeDocument/2006/relationships/tags" Target="../tags/tag278.xml"/><Relationship Id="rId1" Type="http://schemas.openxmlformats.org/officeDocument/2006/relationships/tags" Target="../tags/tag277.xml"/><Relationship Id="rId6" Type="http://schemas.openxmlformats.org/officeDocument/2006/relationships/tags" Target="../tags/tag282.xml"/><Relationship Id="rId11" Type="http://schemas.openxmlformats.org/officeDocument/2006/relationships/tags" Target="../tags/tag287.xml"/><Relationship Id="rId5" Type="http://schemas.openxmlformats.org/officeDocument/2006/relationships/tags" Target="../tags/tag281.xml"/><Relationship Id="rId10" Type="http://schemas.openxmlformats.org/officeDocument/2006/relationships/tags" Target="../tags/tag286.xml"/><Relationship Id="rId4" Type="http://schemas.openxmlformats.org/officeDocument/2006/relationships/tags" Target="../tags/tag280.xml"/><Relationship Id="rId9" Type="http://schemas.openxmlformats.org/officeDocument/2006/relationships/tags" Target="../tags/tag285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tags" Target="../tags/tag295.xml"/><Relationship Id="rId3" Type="http://schemas.openxmlformats.org/officeDocument/2006/relationships/tags" Target="../tags/tag290.xml"/><Relationship Id="rId7" Type="http://schemas.openxmlformats.org/officeDocument/2006/relationships/tags" Target="../tags/tag294.xml"/><Relationship Id="rId12" Type="http://schemas.openxmlformats.org/officeDocument/2006/relationships/slideLayout" Target="../slideLayouts/slideLayout2.xml"/><Relationship Id="rId2" Type="http://schemas.openxmlformats.org/officeDocument/2006/relationships/tags" Target="../tags/tag289.xml"/><Relationship Id="rId1" Type="http://schemas.openxmlformats.org/officeDocument/2006/relationships/tags" Target="../tags/tag288.xml"/><Relationship Id="rId6" Type="http://schemas.openxmlformats.org/officeDocument/2006/relationships/tags" Target="../tags/tag293.xml"/><Relationship Id="rId11" Type="http://schemas.openxmlformats.org/officeDocument/2006/relationships/tags" Target="../tags/tag298.xml"/><Relationship Id="rId5" Type="http://schemas.openxmlformats.org/officeDocument/2006/relationships/tags" Target="../tags/tag292.xml"/><Relationship Id="rId10" Type="http://schemas.openxmlformats.org/officeDocument/2006/relationships/tags" Target="../tags/tag297.xml"/><Relationship Id="rId4" Type="http://schemas.openxmlformats.org/officeDocument/2006/relationships/tags" Target="../tags/tag291.xml"/><Relationship Id="rId9" Type="http://schemas.openxmlformats.org/officeDocument/2006/relationships/tags" Target="../tags/tag29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tags" Target="../tags/tag301.xml"/><Relationship Id="rId2" Type="http://schemas.openxmlformats.org/officeDocument/2006/relationships/tags" Target="../tags/tag300.xml"/><Relationship Id="rId1" Type="http://schemas.openxmlformats.org/officeDocument/2006/relationships/tags" Target="../tags/tag299.xml"/><Relationship Id="rId4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tags" Target="../tags/tag304.xml"/><Relationship Id="rId2" Type="http://schemas.openxmlformats.org/officeDocument/2006/relationships/tags" Target="../tags/tag303.xml"/><Relationship Id="rId1" Type="http://schemas.openxmlformats.org/officeDocument/2006/relationships/tags" Target="../tags/tag302.xml"/><Relationship Id="rId4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tags" Target="../tags/tag312.xml"/><Relationship Id="rId3" Type="http://schemas.openxmlformats.org/officeDocument/2006/relationships/tags" Target="../tags/tag307.xml"/><Relationship Id="rId7" Type="http://schemas.openxmlformats.org/officeDocument/2006/relationships/tags" Target="../tags/tag311.xml"/><Relationship Id="rId12" Type="http://schemas.openxmlformats.org/officeDocument/2006/relationships/slideLayout" Target="../slideLayouts/slideLayout2.xml"/><Relationship Id="rId2" Type="http://schemas.openxmlformats.org/officeDocument/2006/relationships/tags" Target="../tags/tag306.xml"/><Relationship Id="rId1" Type="http://schemas.openxmlformats.org/officeDocument/2006/relationships/tags" Target="../tags/tag305.xml"/><Relationship Id="rId6" Type="http://schemas.openxmlformats.org/officeDocument/2006/relationships/tags" Target="../tags/tag310.xml"/><Relationship Id="rId11" Type="http://schemas.openxmlformats.org/officeDocument/2006/relationships/tags" Target="../tags/tag315.xml"/><Relationship Id="rId5" Type="http://schemas.openxmlformats.org/officeDocument/2006/relationships/tags" Target="../tags/tag309.xml"/><Relationship Id="rId10" Type="http://schemas.openxmlformats.org/officeDocument/2006/relationships/tags" Target="../tags/tag314.xml"/><Relationship Id="rId4" Type="http://schemas.openxmlformats.org/officeDocument/2006/relationships/tags" Target="../tags/tag308.xml"/><Relationship Id="rId9" Type="http://schemas.openxmlformats.org/officeDocument/2006/relationships/tags" Target="../tags/tag31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fr-CA" dirty="0"/>
              <a:t>Chapitre 5 &amp; 6: révision des mathématiques financières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CA" dirty="0"/>
              <a:t>PRINCIPES DE MATH FINANCIÈRES &amp; MONTANT SIMPLE</a:t>
            </a:r>
          </a:p>
        </p:txBody>
      </p:sp>
    </p:spTree>
    <p:extLst>
      <p:ext uri="{BB962C8B-B14F-4D97-AF65-F5344CB8AC3E}">
        <p14:creationId xmlns:p14="http://schemas.microsoft.com/office/powerpoint/2010/main" val="854850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Principe de base des math. fin.</a:t>
            </a:r>
          </a:p>
        </p:txBody>
      </p:sp>
      <p:grpSp>
        <p:nvGrpSpPr>
          <p:cNvPr id="28" name="Groupe 27"/>
          <p:cNvGrpSpPr/>
          <p:nvPr>
            <p:custDataLst>
              <p:tags r:id="rId2"/>
            </p:custDataLst>
          </p:nvPr>
        </p:nvGrpSpPr>
        <p:grpSpPr>
          <a:xfrm>
            <a:off x="1043608" y="1203598"/>
            <a:ext cx="6550227" cy="3163798"/>
            <a:chOff x="254021" y="1280160"/>
            <a:chExt cx="8641715" cy="4520781"/>
          </a:xfrm>
        </p:grpSpPr>
        <p:sp>
          <p:nvSpPr>
            <p:cNvPr id="16" name="Rectangle 18"/>
            <p:cNvSpPr txBox="1">
              <a:spLocks noChangeArrowheads="1"/>
            </p:cNvSpPr>
            <p:nvPr/>
          </p:nvSpPr>
          <p:spPr>
            <a:xfrm>
              <a:off x="254021" y="1280160"/>
              <a:ext cx="8641715" cy="548640"/>
            </a:xfrm>
            <a:prstGeom prst="rect">
              <a:avLst/>
            </a:prstGeom>
            <a:noFill/>
          </p:spPr>
          <p:txBody>
            <a:bodyPr vert="horz" lIns="91440" tIns="45720" rIns="91440" bIns="45720" rtlCol="0">
              <a:normAutofit fontScale="47500" lnSpcReduction="20000"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buFont typeface="Arial" pitchFamily="34" charset="0"/>
                <a:buNone/>
              </a:pPr>
              <a:r>
                <a:rPr lang="fr-FR" i="1" dirty="0"/>
                <a:t>Un dollar gagné aujourd'hui vaut plus qu'un dollar gagné demain.</a:t>
              </a:r>
            </a:p>
          </p:txBody>
        </p:sp>
        <p:pic>
          <p:nvPicPr>
            <p:cNvPr id="17" name="Picture 2" descr="http://hagiographic.com/wp-content/uploads/2013/12/outline-smiley-icons-clip-art-vector-online-royalty-free-74717.jpg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659" t="289" r="40141" b="66654"/>
            <a:stretch/>
          </p:blipFill>
          <p:spPr bwMode="auto">
            <a:xfrm>
              <a:off x="1543365" y="2221752"/>
              <a:ext cx="731520" cy="762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2" descr="http://hagiographic.com/wp-content/uploads/2013/12/outline-smiley-icons-clip-art-vector-online-royalty-free-74717.jpg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0" r="60000" b="66942"/>
            <a:stretch/>
          </p:blipFill>
          <p:spPr bwMode="auto">
            <a:xfrm>
              <a:off x="3419107" y="2221752"/>
              <a:ext cx="731520" cy="762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2" descr="http://hagiographic.com/wp-content/uploads/2013/12/outline-smiley-icons-clip-art-vector-online-royalty-free-74717.jpg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05" t="816" r="79795" b="66126"/>
            <a:stretch/>
          </p:blipFill>
          <p:spPr bwMode="auto">
            <a:xfrm>
              <a:off x="5280370" y="2221752"/>
              <a:ext cx="731520" cy="762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2" descr="http://hagiographic.com/wp-content/uploads/2013/12/outline-smiley-icons-clip-art-vector-online-royalty-free-74717.jpg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800" t="66116" r="40000" b="826"/>
            <a:stretch/>
          </p:blipFill>
          <p:spPr bwMode="auto">
            <a:xfrm>
              <a:off x="7132320" y="2218929"/>
              <a:ext cx="731520" cy="762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1" name="Straight Arrow Connector 48"/>
            <p:cNvCxnSpPr/>
            <p:nvPr/>
          </p:nvCxnSpPr>
          <p:spPr>
            <a:xfrm>
              <a:off x="1463040" y="3435799"/>
              <a:ext cx="7178040" cy="15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49"/>
            <p:cNvSpPr txBox="1"/>
            <p:nvPr/>
          </p:nvSpPr>
          <p:spPr>
            <a:xfrm>
              <a:off x="8250365" y="3391667"/>
              <a:ext cx="2968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fr-CA" sz="1800" dirty="0">
                  <a:latin typeface="Calibri" panose="020F0502020204030204" pitchFamily="34" charset="0"/>
                </a:rPr>
                <a:t>T</a:t>
              </a:r>
            </a:p>
          </p:txBody>
        </p:sp>
        <p:sp>
          <p:nvSpPr>
            <p:cNvPr id="23" name="TextBox 51"/>
            <p:cNvSpPr txBox="1"/>
            <p:nvPr/>
          </p:nvSpPr>
          <p:spPr>
            <a:xfrm>
              <a:off x="1230469" y="2997536"/>
              <a:ext cx="1292617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fr-CA" sz="1800" dirty="0">
                  <a:latin typeface="Calibri" panose="020F0502020204030204" pitchFamily="34" charset="0"/>
                </a:rPr>
                <a:t>1 000 $</a:t>
              </a:r>
            </a:p>
            <a:p>
              <a:pPr algn="ctr"/>
              <a:br>
                <a:rPr lang="fr-CA" sz="1800" dirty="0">
                  <a:latin typeface="Calibri" panose="020F0502020204030204" pitchFamily="34" charset="0"/>
                </a:rPr>
              </a:br>
              <a:r>
                <a:rPr lang="fr-CA" sz="1800" dirty="0">
                  <a:latin typeface="Calibri" panose="020F0502020204030204" pitchFamily="34" charset="0"/>
                </a:rPr>
                <a:t>Aujourd’hui</a:t>
              </a:r>
            </a:p>
            <a:p>
              <a:pPr algn="ctr"/>
              <a:endParaRPr lang="fr-CA" sz="1800" dirty="0">
                <a:latin typeface="Calibri" panose="020F0502020204030204" pitchFamily="34" charset="0"/>
              </a:endParaRPr>
            </a:p>
          </p:txBody>
        </p:sp>
        <p:sp>
          <p:nvSpPr>
            <p:cNvPr id="24" name="TextBox 52"/>
            <p:cNvSpPr txBox="1"/>
            <p:nvPr/>
          </p:nvSpPr>
          <p:spPr>
            <a:xfrm>
              <a:off x="3199131" y="3000328"/>
              <a:ext cx="1102022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fr-CA" sz="1800" dirty="0">
                  <a:latin typeface="Calibri" panose="020F0502020204030204" pitchFamily="34" charset="0"/>
                </a:rPr>
                <a:t>1 000 $</a:t>
              </a:r>
            </a:p>
            <a:p>
              <a:pPr algn="ctr"/>
              <a:endParaRPr lang="fr-CA" sz="1800" dirty="0">
                <a:latin typeface="Calibri" panose="020F0502020204030204" pitchFamily="34" charset="0"/>
              </a:endParaRPr>
            </a:p>
            <a:p>
              <a:pPr algn="ctr"/>
              <a:r>
                <a:rPr lang="fr-CA" sz="1800" dirty="0">
                  <a:latin typeface="Calibri" panose="020F0502020204030204" pitchFamily="34" charset="0"/>
                </a:rPr>
                <a:t>Dans 1 an</a:t>
              </a:r>
            </a:p>
            <a:p>
              <a:pPr algn="ctr"/>
              <a:endParaRPr lang="fr-CA" sz="1800" dirty="0">
                <a:latin typeface="Calibri" panose="020F0502020204030204" pitchFamily="34" charset="0"/>
              </a:endParaRPr>
            </a:p>
          </p:txBody>
        </p:sp>
        <p:sp>
          <p:nvSpPr>
            <p:cNvPr id="25" name="TextBox 53"/>
            <p:cNvSpPr txBox="1"/>
            <p:nvPr/>
          </p:nvSpPr>
          <p:spPr>
            <a:xfrm>
              <a:off x="5024626" y="3003120"/>
              <a:ext cx="1197764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fr-CA" sz="1800" dirty="0">
                  <a:latin typeface="Calibri" panose="020F0502020204030204" pitchFamily="34" charset="0"/>
                </a:rPr>
                <a:t>1 000 $</a:t>
              </a:r>
            </a:p>
            <a:p>
              <a:pPr algn="ctr"/>
              <a:br>
                <a:rPr lang="fr-CA" sz="1800" dirty="0">
                  <a:latin typeface="Calibri" panose="020F0502020204030204" pitchFamily="34" charset="0"/>
                </a:rPr>
              </a:br>
              <a:r>
                <a:rPr lang="fr-CA" sz="1800" dirty="0">
                  <a:latin typeface="Calibri" panose="020F0502020204030204" pitchFamily="34" charset="0"/>
                </a:rPr>
                <a:t>Dans 5 ans</a:t>
              </a:r>
            </a:p>
            <a:p>
              <a:pPr algn="ctr"/>
              <a:endParaRPr lang="fr-CA" sz="1800" dirty="0">
                <a:latin typeface="Calibri" panose="020F0502020204030204" pitchFamily="34" charset="0"/>
              </a:endParaRPr>
            </a:p>
          </p:txBody>
        </p:sp>
        <p:sp>
          <p:nvSpPr>
            <p:cNvPr id="26" name="TextBox 54"/>
            <p:cNvSpPr txBox="1"/>
            <p:nvPr/>
          </p:nvSpPr>
          <p:spPr>
            <a:xfrm>
              <a:off x="6818791" y="3005912"/>
              <a:ext cx="1313180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fr-CA" sz="1800" dirty="0">
                  <a:latin typeface="Calibri" panose="020F0502020204030204" pitchFamily="34" charset="0"/>
                </a:rPr>
                <a:t>1 000 $</a:t>
              </a:r>
            </a:p>
            <a:p>
              <a:pPr algn="ctr"/>
              <a:endParaRPr lang="fr-CA" sz="1800" dirty="0">
                <a:latin typeface="Calibri" panose="020F0502020204030204" pitchFamily="34" charset="0"/>
              </a:endParaRPr>
            </a:p>
            <a:p>
              <a:pPr algn="ctr"/>
              <a:r>
                <a:rPr lang="fr-CA" sz="1800" dirty="0">
                  <a:latin typeface="Calibri" panose="020F0502020204030204" pitchFamily="34" charset="0"/>
                </a:rPr>
                <a:t>Dans 50 ans</a:t>
              </a:r>
            </a:p>
          </p:txBody>
        </p:sp>
        <p:sp>
          <p:nvSpPr>
            <p:cNvPr id="27" name="Rounded Rectangle 11"/>
            <p:cNvSpPr/>
            <p:nvPr/>
          </p:nvSpPr>
          <p:spPr>
            <a:xfrm>
              <a:off x="1909125" y="4932261"/>
              <a:ext cx="5486400" cy="868680"/>
            </a:xfrm>
            <a:prstGeom prst="roundRect">
              <a:avLst/>
            </a:prstGeom>
            <a:solidFill>
              <a:schemeClr val="accent1"/>
            </a:solidFill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rtlCol="0" anchor="ctr"/>
            <a:lstStyle/>
            <a:p>
              <a:pPr algn="ctr"/>
              <a:r>
                <a:rPr lang="en-US" b="1" dirty="0" err="1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libri" panose="020F0502020204030204" pitchFamily="34" charset="0"/>
                  <a:cs typeface="Calibri" pitchFamily="34" charset="0"/>
                </a:rPr>
                <a:t>Mais</a:t>
              </a:r>
              <a:r>
                <a:rPr lang="en-US" b="1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libri" panose="020F0502020204030204" pitchFamily="34" charset="0"/>
                  <a:cs typeface="Calibri" pitchFamily="34" charset="0"/>
                </a:rPr>
                <a:t> </a:t>
              </a:r>
              <a:r>
                <a:rPr lang="en-US" b="1" dirty="0" err="1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libri" panose="020F0502020204030204" pitchFamily="34" charset="0"/>
                  <a:cs typeface="Calibri" pitchFamily="34" charset="0"/>
                </a:rPr>
                <a:t>pourquoi</a:t>
              </a:r>
              <a:r>
                <a:rPr lang="en-US" b="1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libri" panose="020F0502020204030204" pitchFamily="34" charset="0"/>
                  <a:cs typeface="Calibri" pitchFamily="34" charset="0"/>
                </a:rPr>
                <a:t>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90435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Intérêt simple vs capitalisé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78800" y="1172380"/>
            <a:ext cx="8186400" cy="348760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CA" sz="1800" u="sng" dirty="0"/>
              <a:t>Rendement de 10 % par année pendant 2 ans</a:t>
            </a:r>
          </a:p>
          <a:p>
            <a:r>
              <a:rPr lang="fr-CA" sz="1800" dirty="0"/>
              <a:t>Intérêt simple (ou l’épargne sous le matelas)</a:t>
            </a:r>
          </a:p>
          <a:p>
            <a:pPr marL="0" indent="0">
              <a:buNone/>
            </a:pPr>
            <a:r>
              <a:rPr lang="fr-CA" sz="1800" dirty="0"/>
              <a:t>		100 $ + 10 $ + 10 $ = 120 $</a:t>
            </a:r>
          </a:p>
          <a:p>
            <a:pPr marL="0" indent="0">
              <a:buNone/>
            </a:pPr>
            <a:endParaRPr lang="fr-CA" sz="1800" dirty="0"/>
          </a:p>
          <a:p>
            <a:r>
              <a:rPr lang="fr-CA" sz="1800" dirty="0"/>
              <a:t>Intérêts «capitalisés» (ajout des intérêts au «capital» (intérêts sur intérêts))</a:t>
            </a:r>
          </a:p>
          <a:p>
            <a:pPr marL="457200" lvl="1" indent="0">
              <a:buNone/>
            </a:pPr>
            <a:r>
              <a:rPr lang="fr-CA" sz="1800" dirty="0"/>
              <a:t>		100 $ + 10 $ + 11 $ = 121 $</a:t>
            </a:r>
          </a:p>
          <a:p>
            <a:pPr marL="357188" lvl="1" indent="0">
              <a:buNone/>
            </a:pPr>
            <a:r>
              <a:rPr lang="fr-CA" sz="1800" dirty="0"/>
              <a:t>ou encore, 	100 $ * (1 + 10 %)</a:t>
            </a:r>
            <a:r>
              <a:rPr lang="fr-CA" sz="1800" baseline="30000" dirty="0"/>
              <a:t>2</a:t>
            </a:r>
            <a:r>
              <a:rPr lang="fr-CA" sz="1800" dirty="0"/>
              <a:t> = 121 $</a:t>
            </a:r>
          </a:p>
          <a:p>
            <a:pPr marL="357188" indent="0">
              <a:buNone/>
            </a:pPr>
            <a:endParaRPr lang="fr-CA" sz="1800" dirty="0"/>
          </a:p>
          <a:p>
            <a:pPr marL="357188" indent="0">
              <a:buNone/>
            </a:pPr>
            <a:r>
              <a:rPr lang="fr-CA" sz="1800" dirty="0"/>
              <a:t>D’où vient le 1 $? 10 % du 10 $ de la première année…</a:t>
            </a:r>
          </a:p>
          <a:p>
            <a:pPr marL="357188" indent="0">
              <a:buNone/>
            </a:pPr>
            <a:endParaRPr lang="fr-CA" sz="1800" dirty="0"/>
          </a:p>
          <a:p>
            <a:pPr marL="357188" indent="0">
              <a:buNone/>
            </a:pPr>
            <a:endParaRPr lang="fr-CA" sz="1800" dirty="0"/>
          </a:p>
          <a:p>
            <a:pPr marL="0" indent="0">
              <a:buNone/>
            </a:pPr>
            <a:r>
              <a:rPr lang="fr-CA" sz="1800" dirty="0"/>
              <a:t>Quelle méthode utiliserons-nous pour nos calculs?</a:t>
            </a:r>
          </a:p>
        </p:txBody>
      </p:sp>
    </p:spTree>
    <p:extLst>
      <p:ext uri="{BB962C8B-B14F-4D97-AF65-F5344CB8AC3E}">
        <p14:creationId xmlns:p14="http://schemas.microsoft.com/office/powerpoint/2010/main" val="39590974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L’approche financière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78800" y="1419918"/>
            <a:ext cx="8186400" cy="309604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CA" sz="2000" dirty="0"/>
              <a:t>Les flux monétaires à des temps différents sont ramenés </a:t>
            </a:r>
            <a:r>
              <a:rPr lang="fr-CA" sz="2000" b="1" u="sng" dirty="0"/>
              <a:t>à un même temps « t »</a:t>
            </a:r>
            <a:r>
              <a:rPr lang="fr-CA" sz="2000" b="1" dirty="0"/>
              <a:t> </a:t>
            </a:r>
            <a:r>
              <a:rPr lang="fr-CA" sz="2000" dirty="0"/>
              <a:t>afin de pouvoir les comparer, par exemple:</a:t>
            </a:r>
          </a:p>
          <a:p>
            <a:endParaRPr lang="fr-CA" sz="2000" dirty="0"/>
          </a:p>
          <a:p>
            <a:pPr marL="0" indent="0" algn="ctr">
              <a:buNone/>
            </a:pPr>
            <a:r>
              <a:rPr lang="fr-CA" sz="2400" dirty="0">
                <a:ln>
                  <a:solidFill>
                    <a:schemeClr val="accent1">
                      <a:alpha val="65000"/>
                    </a:schemeClr>
                  </a:solidFill>
                </a:ln>
                <a:solidFill>
                  <a:schemeClr val="accent1"/>
                </a:solidFill>
              </a:rPr>
              <a:t>Décaissements </a:t>
            </a:r>
            <a:r>
              <a:rPr lang="fr-CA" sz="2400" baseline="-25000" dirty="0">
                <a:ln>
                  <a:solidFill>
                    <a:schemeClr val="accent1">
                      <a:alpha val="65000"/>
                    </a:schemeClr>
                  </a:solidFill>
                </a:ln>
                <a:solidFill>
                  <a:schemeClr val="accent1"/>
                </a:solidFill>
              </a:rPr>
              <a:t>à t=0 </a:t>
            </a:r>
            <a:r>
              <a:rPr lang="fr-CA" sz="2400" dirty="0">
                <a:ln>
                  <a:solidFill>
                    <a:schemeClr val="accent1">
                      <a:alpha val="65000"/>
                    </a:schemeClr>
                  </a:solidFill>
                </a:ln>
                <a:solidFill>
                  <a:schemeClr val="accent1"/>
                </a:solidFill>
              </a:rPr>
              <a:t>= Encaissements</a:t>
            </a:r>
            <a:r>
              <a:rPr lang="fr-CA" sz="2400" baseline="-25000" dirty="0">
                <a:ln>
                  <a:solidFill>
                    <a:schemeClr val="accent1">
                      <a:alpha val="65000"/>
                    </a:schemeClr>
                  </a:solidFill>
                </a:ln>
                <a:solidFill>
                  <a:schemeClr val="accent1"/>
                </a:solidFill>
              </a:rPr>
              <a:t> à t=0 </a:t>
            </a:r>
          </a:p>
          <a:p>
            <a:pPr marL="0" indent="0" algn="ctr">
              <a:buNone/>
            </a:pPr>
            <a:r>
              <a:rPr lang="fr-CA" sz="2400" dirty="0">
                <a:ln>
                  <a:solidFill>
                    <a:schemeClr val="accent1">
                      <a:alpha val="65000"/>
                    </a:schemeClr>
                  </a:solidFill>
                </a:ln>
                <a:solidFill>
                  <a:schemeClr val="accent1"/>
                </a:solidFill>
              </a:rPr>
              <a:t>Flux monétaires + </a:t>
            </a:r>
            <a:r>
              <a:rPr lang="fr-CA" sz="2400" baseline="-25000" dirty="0">
                <a:ln>
                  <a:solidFill>
                    <a:schemeClr val="accent1">
                      <a:alpha val="65000"/>
                    </a:schemeClr>
                  </a:solidFill>
                </a:ln>
                <a:solidFill>
                  <a:schemeClr val="accent1"/>
                </a:solidFill>
              </a:rPr>
              <a:t>à t=30 </a:t>
            </a:r>
            <a:r>
              <a:rPr lang="fr-CA" sz="2400" dirty="0">
                <a:ln>
                  <a:solidFill>
                    <a:schemeClr val="accent1">
                      <a:alpha val="65000"/>
                    </a:schemeClr>
                  </a:solidFill>
                </a:ln>
                <a:solidFill>
                  <a:schemeClr val="accent1"/>
                </a:solidFill>
              </a:rPr>
              <a:t>= Flux monétaires -</a:t>
            </a:r>
            <a:r>
              <a:rPr lang="fr-CA" sz="2400" baseline="-25000" dirty="0">
                <a:ln>
                  <a:solidFill>
                    <a:schemeClr val="accent1">
                      <a:alpha val="65000"/>
                    </a:schemeClr>
                  </a:solidFill>
                </a:ln>
                <a:solidFill>
                  <a:schemeClr val="accent1"/>
                </a:solidFill>
              </a:rPr>
              <a:t> à t=30 </a:t>
            </a:r>
          </a:p>
          <a:p>
            <a:pPr marL="0" indent="0" algn="ctr">
              <a:buNone/>
            </a:pPr>
            <a:r>
              <a:rPr lang="fr-CA" sz="2400" dirty="0">
                <a:ln>
                  <a:solidFill>
                    <a:schemeClr val="accent1">
                      <a:alpha val="65000"/>
                    </a:schemeClr>
                  </a:solidFill>
                </a:ln>
                <a:solidFill>
                  <a:schemeClr val="accent1"/>
                </a:solidFill>
              </a:rPr>
              <a:t>Prix </a:t>
            </a:r>
            <a:r>
              <a:rPr lang="fr-CA" sz="2400" baseline="-25000" dirty="0">
                <a:ln>
                  <a:solidFill>
                    <a:schemeClr val="accent1">
                      <a:alpha val="65000"/>
                    </a:schemeClr>
                  </a:solidFill>
                </a:ln>
                <a:solidFill>
                  <a:schemeClr val="accent1"/>
                </a:solidFill>
              </a:rPr>
              <a:t>à t=0 </a:t>
            </a:r>
            <a:r>
              <a:rPr lang="fr-CA" sz="2400" dirty="0">
                <a:ln>
                  <a:solidFill>
                    <a:schemeClr val="accent1">
                      <a:alpha val="65000"/>
                    </a:schemeClr>
                  </a:solidFill>
                </a:ln>
                <a:solidFill>
                  <a:schemeClr val="accent1"/>
                </a:solidFill>
              </a:rPr>
              <a:t>= FM à recevoir</a:t>
            </a:r>
            <a:r>
              <a:rPr lang="fr-CA" sz="2400" baseline="-25000" dirty="0">
                <a:ln>
                  <a:solidFill>
                    <a:schemeClr val="accent1">
                      <a:alpha val="65000"/>
                    </a:schemeClr>
                  </a:solidFill>
                </a:ln>
                <a:solidFill>
                  <a:schemeClr val="accent1"/>
                </a:solidFill>
              </a:rPr>
              <a:t> à t=0 </a:t>
            </a:r>
            <a:endParaRPr lang="fr-CA" sz="2400" dirty="0">
              <a:ln>
                <a:solidFill>
                  <a:schemeClr val="accent1">
                    <a:alpha val="65000"/>
                  </a:schemeClr>
                </a:solidFill>
              </a:ln>
              <a:solidFill>
                <a:schemeClr val="accent1"/>
              </a:solidFill>
            </a:endParaRPr>
          </a:p>
          <a:p>
            <a:endParaRPr lang="fr-CA" sz="2000" dirty="0"/>
          </a:p>
          <a:p>
            <a:pPr marL="0" indent="0">
              <a:buNone/>
            </a:pPr>
            <a:r>
              <a:rPr lang="fr-CA" sz="2000" dirty="0"/>
              <a:t>Le taux d’actualisation (capitalisation) </a:t>
            </a:r>
            <a:r>
              <a:rPr lang="fr-CA" sz="2000" b="1" u="sng" dirty="0"/>
              <a:t>tient compte du risque</a:t>
            </a:r>
            <a:r>
              <a:rPr lang="fr-CA" sz="2000" dirty="0"/>
              <a:t> des flux monétaires.</a:t>
            </a:r>
          </a:p>
          <a:p>
            <a:pPr marL="0" indent="0">
              <a:buNone/>
            </a:pPr>
            <a:endParaRPr lang="fr-CA" baseline="-25000" dirty="0"/>
          </a:p>
          <a:p>
            <a:pPr marL="0" indent="0">
              <a:buNone/>
            </a:pP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8702796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68313" y="123478"/>
            <a:ext cx="8229600" cy="665560"/>
          </a:xfrm>
        </p:spPr>
        <p:txBody>
          <a:bodyPr>
            <a:normAutofit/>
          </a:bodyPr>
          <a:lstStyle/>
          <a:p>
            <a:pPr algn="l"/>
            <a:r>
              <a:rPr lang="fr-CA" dirty="0"/>
              <a:t>L’équivalence de taux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68313" y="681038"/>
            <a:ext cx="8229600" cy="42672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r-CA" sz="2400" dirty="0"/>
          </a:p>
          <a:p>
            <a:pPr marL="0" indent="0" algn="ctr">
              <a:buNone/>
            </a:pPr>
            <a:r>
              <a:rPr lang="fr-CA" sz="3600" u="sng" dirty="0"/>
              <a:t>Principe général</a:t>
            </a:r>
          </a:p>
          <a:p>
            <a:pPr marL="0" indent="0">
              <a:buNone/>
            </a:pPr>
            <a:endParaRPr lang="fr-CA" sz="2400" dirty="0"/>
          </a:p>
          <a:p>
            <a:pPr marL="0" indent="0">
              <a:buNone/>
            </a:pPr>
            <a:endParaRPr lang="fr-CA" sz="2400" dirty="0"/>
          </a:p>
        </p:txBody>
      </p:sp>
      <p:graphicFrame>
        <p:nvGraphicFramePr>
          <p:cNvPr id="23" name="Object 5"/>
          <p:cNvGraphicFramePr>
            <a:graphicFrameLocks noChangeAspect="1"/>
          </p:cNvGraphicFramePr>
          <p:nvPr>
            <p:custDataLst>
              <p:tags r:id="rId4"/>
            </p:custDataLst>
          </p:nvPr>
        </p:nvGraphicFramePr>
        <p:xfrm>
          <a:off x="755576" y="1929209"/>
          <a:ext cx="7394575" cy="1058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" name="Equation" r:id="rId7" imgW="3276360" imgH="469800" progId="Equation.3">
                  <p:embed/>
                </p:oleObj>
              </mc:Choice>
              <mc:Fallback>
                <p:oleObj name="Equation" r:id="rId7" imgW="327636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576" y="1929209"/>
                        <a:ext cx="7394575" cy="10588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5"/>
          <p:cNvGraphicFramePr>
            <a:graphicFrameLocks noChangeAspect="1"/>
          </p:cNvGraphicFramePr>
          <p:nvPr>
            <p:custDataLst>
              <p:tags r:id="rId5"/>
            </p:custDataLst>
          </p:nvPr>
        </p:nvGraphicFramePr>
        <p:xfrm>
          <a:off x="2771800" y="3158263"/>
          <a:ext cx="3152775" cy="1058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" name="Equation" r:id="rId9" imgW="1396800" imgH="469800" progId="Equation.3">
                  <p:embed/>
                </p:oleObj>
              </mc:Choice>
              <mc:Fallback>
                <p:oleObj name="Equation" r:id="rId9" imgW="139680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800" y="3158263"/>
                        <a:ext cx="3152775" cy="10588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77560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algn="l"/>
            <a:r>
              <a:rPr lang="fr-CA" dirty="0"/>
              <a:t>Le montant simple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457200" y="1168003"/>
            <a:ext cx="8229600" cy="3403997"/>
          </a:xfrm>
        </p:spPr>
        <p:txBody>
          <a:bodyPr/>
          <a:lstStyle/>
          <a:p>
            <a:pPr marL="0" indent="0">
              <a:buNone/>
            </a:pPr>
            <a:r>
              <a:rPr lang="fr-CA" sz="2800" dirty="0"/>
              <a:t>La formule générale d’actualisation ou capitalisation d’un montant simple peut permettre de résoudre </a:t>
            </a:r>
            <a:r>
              <a:rPr lang="fr-CA" sz="2800" dirty="0">
                <a:solidFill>
                  <a:schemeClr val="accent1"/>
                </a:solidFill>
              </a:rPr>
              <a:t>tous les problèmes </a:t>
            </a:r>
            <a:r>
              <a:rPr lang="fr-CA" sz="2800" dirty="0"/>
              <a:t>financiers.</a:t>
            </a:r>
          </a:p>
          <a:p>
            <a:pPr marL="0" indent="0">
              <a:buNone/>
            </a:pPr>
            <a:r>
              <a:rPr lang="fr-CA" sz="2800" dirty="0">
                <a:solidFill>
                  <a:schemeClr val="accent1"/>
                </a:solidFill>
              </a:rPr>
              <a:t>			VA (1+r)</a:t>
            </a:r>
            <a:r>
              <a:rPr lang="fr-CA" sz="2800" baseline="30000" dirty="0">
                <a:solidFill>
                  <a:schemeClr val="accent1"/>
                </a:solidFill>
              </a:rPr>
              <a:t>t</a:t>
            </a:r>
            <a:r>
              <a:rPr lang="fr-CA" sz="2800" dirty="0">
                <a:solidFill>
                  <a:schemeClr val="accent1"/>
                </a:solidFill>
              </a:rPr>
              <a:t> = VC</a:t>
            </a:r>
          </a:p>
          <a:p>
            <a:pPr algn="ctr">
              <a:buFontTx/>
              <a:buNone/>
            </a:pPr>
            <a:endParaRPr lang="fr-CA" dirty="0"/>
          </a:p>
        </p:txBody>
      </p:sp>
      <p:sp>
        <p:nvSpPr>
          <p:cNvPr id="17412" name="Line 4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1258889" y="3651647"/>
            <a:ext cx="38179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17413" name="Line 5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5076825" y="3651647"/>
            <a:ext cx="935038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17414" name="Line 6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>
            <a:off x="6011863" y="3651647"/>
            <a:ext cx="14398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17415" name="Line 7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7451725" y="3489722"/>
            <a:ext cx="0" cy="32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17416" name="Line 8"/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>
            <a:off x="6516688" y="3543300"/>
            <a:ext cx="0" cy="2166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17417" name="Line 9"/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>
            <a:off x="1258888" y="3489722"/>
            <a:ext cx="0" cy="32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17418" name="Line 10"/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>
            <a:off x="2268538" y="3543300"/>
            <a:ext cx="0" cy="2166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17419" name="Line 11"/>
          <p:cNvSpPr>
            <a:spLocks noChangeShapeType="1"/>
          </p:cNvSpPr>
          <p:nvPr>
            <p:custDataLst>
              <p:tags r:id="rId10"/>
            </p:custDataLst>
          </p:nvPr>
        </p:nvSpPr>
        <p:spPr bwMode="auto">
          <a:xfrm>
            <a:off x="3348038" y="3543300"/>
            <a:ext cx="0" cy="2166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17420" name="Line 12"/>
          <p:cNvSpPr>
            <a:spLocks noChangeShapeType="1"/>
          </p:cNvSpPr>
          <p:nvPr>
            <p:custDataLst>
              <p:tags r:id="rId11"/>
            </p:custDataLst>
          </p:nvPr>
        </p:nvSpPr>
        <p:spPr bwMode="auto">
          <a:xfrm>
            <a:off x="4427538" y="3543300"/>
            <a:ext cx="0" cy="2166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17421" name="Text Box 13"/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1042988" y="3165872"/>
            <a:ext cx="45416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latin typeface="Tahoma" pitchFamily="34" charset="0"/>
              </a:rPr>
              <a:t>VA</a:t>
            </a:r>
          </a:p>
        </p:txBody>
      </p:sp>
      <p:sp>
        <p:nvSpPr>
          <p:cNvPr id="17422" name="Text Box 14"/>
          <p:cNvSpPr txBox="1"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7235825" y="3165872"/>
            <a:ext cx="46038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latin typeface="Tahoma" pitchFamily="34" charset="0"/>
              </a:rPr>
              <a:t>VC</a:t>
            </a:r>
          </a:p>
        </p:txBody>
      </p:sp>
      <p:sp>
        <p:nvSpPr>
          <p:cNvPr id="17423" name="Line 15"/>
          <p:cNvSpPr>
            <a:spLocks noChangeShapeType="1"/>
          </p:cNvSpPr>
          <p:nvPr>
            <p:custDataLst>
              <p:tags r:id="rId14"/>
            </p:custDataLst>
          </p:nvPr>
        </p:nvSpPr>
        <p:spPr bwMode="auto">
          <a:xfrm>
            <a:off x="3348038" y="3598069"/>
            <a:ext cx="1079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17424" name="Text Box 16"/>
          <p:cNvSpPr txBox="1"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3851275" y="3327797"/>
            <a:ext cx="26802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 dirty="0">
                <a:latin typeface="Tahoma" pitchFamily="34" charset="0"/>
              </a:rPr>
              <a:t>r</a:t>
            </a:r>
          </a:p>
        </p:txBody>
      </p:sp>
      <p:sp>
        <p:nvSpPr>
          <p:cNvPr id="17" name="Accolade ouvrante 16"/>
          <p:cNvSpPr/>
          <p:nvPr>
            <p:custDataLst>
              <p:tags r:id="rId16"/>
            </p:custDataLst>
          </p:nvPr>
        </p:nvSpPr>
        <p:spPr>
          <a:xfrm rot="16200000">
            <a:off x="4116583" y="1080482"/>
            <a:ext cx="482207" cy="6143668"/>
          </a:xfrm>
          <a:prstGeom prst="leftBrace">
            <a:avLst>
              <a:gd name="adj1" fmla="val 8333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8" name="ZoneTexte 17"/>
          <p:cNvSpPr txBox="1"/>
          <p:nvPr>
            <p:custDataLst>
              <p:tags r:id="rId17"/>
            </p:custDataLst>
          </p:nvPr>
        </p:nvSpPr>
        <p:spPr>
          <a:xfrm>
            <a:off x="3786182" y="4393419"/>
            <a:ext cx="1197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dirty="0">
                <a:solidFill>
                  <a:schemeClr val="accent1"/>
                </a:solidFill>
              </a:rPr>
              <a:t>t périodes</a:t>
            </a:r>
          </a:p>
        </p:txBody>
      </p:sp>
    </p:spTree>
    <p:extLst>
      <p:ext uri="{BB962C8B-B14F-4D97-AF65-F5344CB8AC3E}">
        <p14:creationId xmlns:p14="http://schemas.microsoft.com/office/powerpoint/2010/main" val="3451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7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17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17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17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17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7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17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17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17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500"/>
                                        <p:tgtEl>
                                          <p:spTgt spid="17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17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0" dur="500"/>
                                        <p:tgtEl>
                                          <p:spTgt spid="17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3" dur="500"/>
                                        <p:tgtEl>
                                          <p:spTgt spid="17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2" grpId="0" animBg="1"/>
      <p:bldP spid="17413" grpId="0" animBg="1"/>
      <p:bldP spid="17414" grpId="0" animBg="1"/>
      <p:bldP spid="17415" grpId="0" animBg="1"/>
      <p:bldP spid="17416" grpId="0" animBg="1"/>
      <p:bldP spid="17417" grpId="0" animBg="1"/>
      <p:bldP spid="17418" grpId="0" animBg="1"/>
      <p:bldP spid="17419" grpId="0" animBg="1"/>
      <p:bldP spid="17420" grpId="0" animBg="1"/>
      <p:bldP spid="17421" grpId="0"/>
      <p:bldP spid="17422" grpId="0"/>
      <p:bldP spid="17423" grpId="0" animBg="1"/>
      <p:bldP spid="17424" grpId="0"/>
      <p:bldP spid="17" grpId="0" animBg="1"/>
      <p:bldP spid="1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i="1" dirty="0"/>
              <a:t>Un dollar gagné aujourd'hui vaut plus qu'un dollar gagné demain.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  <a:tabLst>
                <a:tab pos="2235200" algn="l"/>
              </a:tabLst>
              <a:defRPr/>
            </a:pPr>
            <a:r>
              <a:rPr lang="fr-CA" sz="2000" kern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Valeur actuelle – la valeur de l’argent au temps présent</a:t>
            </a:r>
          </a:p>
          <a:p>
            <a:pPr marL="0" lvl="0" indent="0">
              <a:buNone/>
              <a:tabLst>
                <a:tab pos="2235200" algn="l"/>
              </a:tabLst>
              <a:defRPr/>
            </a:pPr>
            <a:r>
              <a:rPr lang="fr-CA" sz="2000" kern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Valeur future – la valeur de l’argent au temps futur</a:t>
            </a:r>
          </a:p>
          <a:p>
            <a:pPr marL="0" lvl="0" indent="0">
              <a:buNone/>
              <a:tabLst>
                <a:tab pos="2235200" algn="l"/>
              </a:tabLst>
              <a:defRPr/>
            </a:pPr>
            <a:r>
              <a:rPr lang="fr-CA" sz="2000" kern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Taux d'intérêt – le prix du temps</a:t>
            </a:r>
          </a:p>
          <a:p>
            <a:pPr marL="0" lvl="0" indent="0">
              <a:buNone/>
              <a:tabLst>
                <a:tab pos="2235200" algn="l"/>
              </a:tabLst>
              <a:defRPr/>
            </a:pPr>
            <a:r>
              <a:rPr lang="fr-CA" sz="2000" kern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Composer – combien vaut dans le futur un flux monétaire d’aujourd’hui</a:t>
            </a:r>
          </a:p>
          <a:p>
            <a:pPr marL="0" lvl="0" indent="0">
              <a:buNone/>
              <a:tabLst>
                <a:tab pos="2235200" algn="l"/>
              </a:tabLst>
              <a:defRPr/>
            </a:pPr>
            <a:r>
              <a:rPr lang="fr-CA" sz="2000" kern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Actualisation – combien vaut aujourd’hui un flux monétaire futur </a:t>
            </a:r>
          </a:p>
          <a:p>
            <a:pPr marL="0" indent="0">
              <a:buNone/>
            </a:pPr>
            <a:endParaRPr lang="fr-CA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478800" y="3548443"/>
            <a:ext cx="8186400" cy="988201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822960" rtl="0" eaLnBrk="1" latinLnBrk="0" hangingPunct="1">
              <a:spcBef>
                <a:spcPct val="0"/>
              </a:spcBef>
              <a:buNone/>
              <a:defRPr sz="234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fr-CA" dirty="0"/>
          </a:p>
        </p:txBody>
      </p:sp>
      <p:sp>
        <p:nvSpPr>
          <p:cNvPr id="7" name="TextBox 23"/>
          <p:cNvSpPr txBox="1"/>
          <p:nvPr>
            <p:custDataLst>
              <p:tags r:id="rId1"/>
            </p:custDataLst>
          </p:nvPr>
        </p:nvSpPr>
        <p:spPr>
          <a:xfrm>
            <a:off x="495718" y="3559139"/>
            <a:ext cx="120559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sz="1800" i="1" dirty="0"/>
              <a:t>la période</a:t>
            </a:r>
          </a:p>
          <a:p>
            <a:endParaRPr lang="fr-CA" sz="1800" i="1" dirty="0"/>
          </a:p>
          <a:p>
            <a:r>
              <a:rPr lang="fr-CA" sz="1800" i="1" dirty="0"/>
              <a:t>$ </a:t>
            </a:r>
            <a:r>
              <a:rPr lang="fr-CA" sz="1400" i="1" dirty="0"/>
              <a:t>[r=5%]</a:t>
            </a:r>
          </a:p>
        </p:txBody>
      </p:sp>
      <p:sp>
        <p:nvSpPr>
          <p:cNvPr id="8" name="TextBox 10"/>
          <p:cNvSpPr txBox="1"/>
          <p:nvPr>
            <p:custDataLst>
              <p:tags r:id="rId2"/>
            </p:custDataLst>
          </p:nvPr>
        </p:nvSpPr>
        <p:spPr>
          <a:xfrm>
            <a:off x="1723163" y="3613314"/>
            <a:ext cx="70403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CA" sz="1800" dirty="0"/>
              <a:t>-3</a:t>
            </a:r>
          </a:p>
          <a:p>
            <a:pPr algn="ctr"/>
            <a:endParaRPr lang="fr-CA" sz="1800" dirty="0"/>
          </a:p>
          <a:p>
            <a:pPr algn="ctr"/>
            <a:r>
              <a:rPr lang="fr-CA" sz="1800" dirty="0"/>
              <a:t>86.38</a:t>
            </a:r>
          </a:p>
        </p:txBody>
      </p:sp>
      <p:sp>
        <p:nvSpPr>
          <p:cNvPr id="9" name="TextBox 27"/>
          <p:cNvSpPr txBox="1"/>
          <p:nvPr>
            <p:custDataLst>
              <p:tags r:id="rId3"/>
            </p:custDataLst>
          </p:nvPr>
        </p:nvSpPr>
        <p:spPr>
          <a:xfrm>
            <a:off x="2602646" y="3613314"/>
            <a:ext cx="70403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CA" sz="1800" dirty="0"/>
              <a:t>-2</a:t>
            </a:r>
          </a:p>
          <a:p>
            <a:pPr algn="ctr"/>
            <a:endParaRPr lang="fr-CA" sz="1800" dirty="0"/>
          </a:p>
          <a:p>
            <a:pPr algn="ctr"/>
            <a:r>
              <a:rPr lang="fr-CA" sz="1800" dirty="0"/>
              <a:t>90.70</a:t>
            </a:r>
          </a:p>
        </p:txBody>
      </p:sp>
      <p:sp>
        <p:nvSpPr>
          <p:cNvPr id="10" name="TextBox 28"/>
          <p:cNvSpPr txBox="1"/>
          <p:nvPr>
            <p:custDataLst>
              <p:tags r:id="rId4"/>
            </p:custDataLst>
          </p:nvPr>
        </p:nvSpPr>
        <p:spPr>
          <a:xfrm>
            <a:off x="3482129" y="3625860"/>
            <a:ext cx="70403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CA" sz="1800" dirty="0"/>
              <a:t>-1</a:t>
            </a:r>
          </a:p>
          <a:p>
            <a:pPr algn="ctr"/>
            <a:endParaRPr lang="fr-CA" sz="1800" dirty="0"/>
          </a:p>
          <a:p>
            <a:pPr algn="ctr"/>
            <a:r>
              <a:rPr lang="fr-CA" sz="1800" dirty="0"/>
              <a:t>95.24</a:t>
            </a:r>
          </a:p>
        </p:txBody>
      </p:sp>
      <p:sp>
        <p:nvSpPr>
          <p:cNvPr id="11" name="TextBox 29"/>
          <p:cNvSpPr txBox="1"/>
          <p:nvPr>
            <p:custDataLst>
              <p:tags r:id="rId5"/>
            </p:custDataLst>
          </p:nvPr>
        </p:nvSpPr>
        <p:spPr>
          <a:xfrm>
            <a:off x="4098950" y="3613314"/>
            <a:ext cx="13300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CA" sz="1800" i="1" dirty="0"/>
              <a:t>aujourd'hui </a:t>
            </a:r>
            <a:endParaRPr lang="fr-CA" sz="1800" dirty="0"/>
          </a:p>
          <a:p>
            <a:pPr algn="ctr"/>
            <a:endParaRPr lang="fr-CA" sz="1800" dirty="0"/>
          </a:p>
          <a:p>
            <a:pPr algn="ctr"/>
            <a:r>
              <a:rPr lang="fr-CA" sz="1800" dirty="0"/>
              <a:t>100.00</a:t>
            </a:r>
          </a:p>
        </p:txBody>
      </p:sp>
      <p:sp>
        <p:nvSpPr>
          <p:cNvPr id="12" name="TextBox 30"/>
          <p:cNvSpPr txBox="1"/>
          <p:nvPr>
            <p:custDataLst>
              <p:tags r:id="rId6"/>
            </p:custDataLst>
          </p:nvPr>
        </p:nvSpPr>
        <p:spPr>
          <a:xfrm>
            <a:off x="5247533" y="3599012"/>
            <a:ext cx="81945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CA" sz="1800" dirty="0"/>
              <a:t>1</a:t>
            </a:r>
          </a:p>
          <a:p>
            <a:pPr algn="ctr"/>
            <a:endParaRPr lang="fr-CA" sz="1800" dirty="0"/>
          </a:p>
          <a:p>
            <a:pPr algn="ctr"/>
            <a:r>
              <a:rPr lang="fr-CA" sz="1800" dirty="0"/>
              <a:t>105.00</a:t>
            </a:r>
          </a:p>
        </p:txBody>
      </p:sp>
      <p:sp>
        <p:nvSpPr>
          <p:cNvPr id="13" name="TextBox 31"/>
          <p:cNvSpPr txBox="1"/>
          <p:nvPr>
            <p:custDataLst>
              <p:tags r:id="rId7"/>
            </p:custDataLst>
          </p:nvPr>
        </p:nvSpPr>
        <p:spPr>
          <a:xfrm>
            <a:off x="6149980" y="3596575"/>
            <a:ext cx="81086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CA" sz="1800" dirty="0"/>
              <a:t>2</a:t>
            </a:r>
          </a:p>
          <a:p>
            <a:pPr algn="ctr"/>
            <a:endParaRPr lang="fr-CA" sz="1800" dirty="0"/>
          </a:p>
          <a:p>
            <a:pPr algn="ctr"/>
            <a:r>
              <a:rPr lang="fr-CA" sz="1800" dirty="0"/>
              <a:t>110.25</a:t>
            </a:r>
          </a:p>
        </p:txBody>
      </p:sp>
      <p:sp>
        <p:nvSpPr>
          <p:cNvPr id="15" name="TextBox 32"/>
          <p:cNvSpPr txBox="1"/>
          <p:nvPr>
            <p:custDataLst>
              <p:tags r:id="rId8"/>
            </p:custDataLst>
          </p:nvPr>
        </p:nvSpPr>
        <p:spPr>
          <a:xfrm>
            <a:off x="7043835" y="3596575"/>
            <a:ext cx="81086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CA" sz="1800" dirty="0"/>
              <a:t>3</a:t>
            </a:r>
          </a:p>
          <a:p>
            <a:pPr algn="ctr"/>
            <a:endParaRPr lang="fr-CA" sz="1800" dirty="0"/>
          </a:p>
          <a:p>
            <a:pPr algn="ctr"/>
            <a:r>
              <a:rPr lang="fr-CA" sz="1800" dirty="0"/>
              <a:t>115.76</a:t>
            </a:r>
          </a:p>
        </p:txBody>
      </p:sp>
      <p:cxnSp>
        <p:nvCxnSpPr>
          <p:cNvPr id="16" name="Straight Arrow Connector 22"/>
          <p:cNvCxnSpPr/>
          <p:nvPr>
            <p:custDataLst>
              <p:tags r:id="rId9"/>
            </p:custDataLst>
          </p:nvPr>
        </p:nvCxnSpPr>
        <p:spPr>
          <a:xfrm>
            <a:off x="1487160" y="4042543"/>
            <a:ext cx="7178040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4"/>
          <p:cNvCxnSpPr/>
          <p:nvPr>
            <p:custDataLst>
              <p:tags r:id="rId10"/>
            </p:custDataLst>
          </p:nvPr>
        </p:nvCxnSpPr>
        <p:spPr>
          <a:xfrm rot="5400000" flipH="1" flipV="1">
            <a:off x="1914560" y="4088235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4"/>
          <p:cNvCxnSpPr/>
          <p:nvPr>
            <p:custDataLst>
              <p:tags r:id="rId11"/>
            </p:custDataLst>
          </p:nvPr>
        </p:nvCxnSpPr>
        <p:spPr>
          <a:xfrm rot="5400000" flipH="1" flipV="1">
            <a:off x="2827866" y="4088235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4"/>
          <p:cNvCxnSpPr/>
          <p:nvPr>
            <p:custDataLst>
              <p:tags r:id="rId12"/>
            </p:custDataLst>
          </p:nvPr>
        </p:nvCxnSpPr>
        <p:spPr>
          <a:xfrm rot="5400000" flipH="1" flipV="1">
            <a:off x="3714760" y="4088235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4"/>
          <p:cNvCxnSpPr/>
          <p:nvPr>
            <p:custDataLst>
              <p:tags r:id="rId13"/>
            </p:custDataLst>
          </p:nvPr>
        </p:nvCxnSpPr>
        <p:spPr>
          <a:xfrm rot="5400000" flipH="1" flipV="1">
            <a:off x="4650864" y="4042543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14"/>
          <p:cNvCxnSpPr/>
          <p:nvPr>
            <p:custDataLst>
              <p:tags r:id="rId14"/>
            </p:custDataLst>
          </p:nvPr>
        </p:nvCxnSpPr>
        <p:spPr>
          <a:xfrm rot="5400000" flipH="1" flipV="1">
            <a:off x="5514960" y="4042543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14"/>
          <p:cNvCxnSpPr/>
          <p:nvPr>
            <p:custDataLst>
              <p:tags r:id="rId15"/>
            </p:custDataLst>
          </p:nvPr>
        </p:nvCxnSpPr>
        <p:spPr>
          <a:xfrm rot="5400000" flipH="1" flipV="1">
            <a:off x="7322010" y="4042543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14"/>
          <p:cNvCxnSpPr/>
          <p:nvPr>
            <p:custDataLst>
              <p:tags r:id="rId16"/>
            </p:custDataLst>
          </p:nvPr>
        </p:nvCxnSpPr>
        <p:spPr>
          <a:xfrm rot="5400000" flipH="1" flipV="1">
            <a:off x="6418251" y="4042543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6902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algn="l"/>
            <a:r>
              <a:rPr lang="fr-CA" dirty="0"/>
              <a:t>Le montant simple: exercices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57200" y="1200151"/>
            <a:ext cx="7715200" cy="3394472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fr-CA" sz="1800" dirty="0"/>
              <a:t>Valeur future de 100 $ dans 5 ans (8 %)?</a:t>
            </a:r>
          </a:p>
        </p:txBody>
      </p:sp>
      <p:cxnSp>
        <p:nvCxnSpPr>
          <p:cNvPr id="6" name="Straight Arrow Connector 22"/>
          <p:cNvCxnSpPr/>
          <p:nvPr>
            <p:custDataLst>
              <p:tags r:id="rId3"/>
            </p:custDataLst>
          </p:nvPr>
        </p:nvCxnSpPr>
        <p:spPr>
          <a:xfrm>
            <a:off x="1278148" y="1891513"/>
            <a:ext cx="7178040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14"/>
          <p:cNvCxnSpPr/>
          <p:nvPr>
            <p:custDataLst>
              <p:tags r:id="rId4"/>
            </p:custDataLst>
          </p:nvPr>
        </p:nvCxnSpPr>
        <p:spPr>
          <a:xfrm rot="5400000" flipH="1" flipV="1">
            <a:off x="1705548" y="1902369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14"/>
          <p:cNvCxnSpPr/>
          <p:nvPr>
            <p:custDataLst>
              <p:tags r:id="rId5"/>
            </p:custDataLst>
          </p:nvPr>
        </p:nvCxnSpPr>
        <p:spPr>
          <a:xfrm rot="5400000" flipH="1" flipV="1">
            <a:off x="2618854" y="1911078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14"/>
          <p:cNvCxnSpPr/>
          <p:nvPr>
            <p:custDataLst>
              <p:tags r:id="rId6"/>
            </p:custDataLst>
          </p:nvPr>
        </p:nvCxnSpPr>
        <p:spPr>
          <a:xfrm rot="5400000" flipH="1" flipV="1">
            <a:off x="3505748" y="1902369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14"/>
          <p:cNvCxnSpPr/>
          <p:nvPr>
            <p:custDataLst>
              <p:tags r:id="rId7"/>
            </p:custDataLst>
          </p:nvPr>
        </p:nvCxnSpPr>
        <p:spPr>
          <a:xfrm rot="5400000" flipH="1" flipV="1">
            <a:off x="4441852" y="1891513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4"/>
          <p:cNvCxnSpPr/>
          <p:nvPr>
            <p:custDataLst>
              <p:tags r:id="rId8"/>
            </p:custDataLst>
          </p:nvPr>
        </p:nvCxnSpPr>
        <p:spPr>
          <a:xfrm rot="5400000" flipH="1" flipV="1">
            <a:off x="5305948" y="1891513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4"/>
          <p:cNvCxnSpPr/>
          <p:nvPr>
            <p:custDataLst>
              <p:tags r:id="rId9"/>
            </p:custDataLst>
          </p:nvPr>
        </p:nvCxnSpPr>
        <p:spPr>
          <a:xfrm rot="5400000" flipH="1" flipV="1">
            <a:off x="7112998" y="1891513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4"/>
          <p:cNvCxnSpPr/>
          <p:nvPr>
            <p:custDataLst>
              <p:tags r:id="rId10"/>
            </p:custDataLst>
          </p:nvPr>
        </p:nvCxnSpPr>
        <p:spPr>
          <a:xfrm rot="5400000" flipH="1" flipV="1">
            <a:off x="6209239" y="1891513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4"/>
          <p:cNvCxnSpPr/>
          <p:nvPr>
            <p:custDataLst>
              <p:tags r:id="rId11"/>
            </p:custDataLst>
          </p:nvPr>
        </p:nvCxnSpPr>
        <p:spPr>
          <a:xfrm rot="5400000" flipH="1" flipV="1">
            <a:off x="7918552" y="1899404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94583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algn="l"/>
            <a:r>
              <a:rPr lang="fr-CA" dirty="0"/>
              <a:t>Le montant simple: exercices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57200" y="1200151"/>
            <a:ext cx="7715200" cy="3394472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fr-CA" sz="1800" dirty="0"/>
              <a:t>Valeur actuelle de 500 $ à recevoir dans 2 ans (5,5 %)?</a:t>
            </a:r>
          </a:p>
        </p:txBody>
      </p:sp>
      <p:cxnSp>
        <p:nvCxnSpPr>
          <p:cNvPr id="6" name="Straight Arrow Connector 22"/>
          <p:cNvCxnSpPr/>
          <p:nvPr>
            <p:custDataLst>
              <p:tags r:id="rId3"/>
            </p:custDataLst>
          </p:nvPr>
        </p:nvCxnSpPr>
        <p:spPr>
          <a:xfrm>
            <a:off x="1278148" y="1891513"/>
            <a:ext cx="7178040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14"/>
          <p:cNvCxnSpPr/>
          <p:nvPr>
            <p:custDataLst>
              <p:tags r:id="rId4"/>
            </p:custDataLst>
          </p:nvPr>
        </p:nvCxnSpPr>
        <p:spPr>
          <a:xfrm rot="5400000" flipH="1" flipV="1">
            <a:off x="1705548" y="1902369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14"/>
          <p:cNvCxnSpPr/>
          <p:nvPr>
            <p:custDataLst>
              <p:tags r:id="rId5"/>
            </p:custDataLst>
          </p:nvPr>
        </p:nvCxnSpPr>
        <p:spPr>
          <a:xfrm rot="5400000" flipH="1" flipV="1">
            <a:off x="2618854" y="1911078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14"/>
          <p:cNvCxnSpPr/>
          <p:nvPr>
            <p:custDataLst>
              <p:tags r:id="rId6"/>
            </p:custDataLst>
          </p:nvPr>
        </p:nvCxnSpPr>
        <p:spPr>
          <a:xfrm rot="5400000" flipH="1" flipV="1">
            <a:off x="3505748" y="1902369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14"/>
          <p:cNvCxnSpPr/>
          <p:nvPr>
            <p:custDataLst>
              <p:tags r:id="rId7"/>
            </p:custDataLst>
          </p:nvPr>
        </p:nvCxnSpPr>
        <p:spPr>
          <a:xfrm rot="5400000" flipH="1" flipV="1">
            <a:off x="4441852" y="1891513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4"/>
          <p:cNvCxnSpPr/>
          <p:nvPr>
            <p:custDataLst>
              <p:tags r:id="rId8"/>
            </p:custDataLst>
          </p:nvPr>
        </p:nvCxnSpPr>
        <p:spPr>
          <a:xfrm rot="5400000" flipH="1" flipV="1">
            <a:off x="5305948" y="1891513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4"/>
          <p:cNvCxnSpPr/>
          <p:nvPr>
            <p:custDataLst>
              <p:tags r:id="rId9"/>
            </p:custDataLst>
          </p:nvPr>
        </p:nvCxnSpPr>
        <p:spPr>
          <a:xfrm rot="5400000" flipH="1" flipV="1">
            <a:off x="7112998" y="1891513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4"/>
          <p:cNvCxnSpPr/>
          <p:nvPr>
            <p:custDataLst>
              <p:tags r:id="rId10"/>
            </p:custDataLst>
          </p:nvPr>
        </p:nvCxnSpPr>
        <p:spPr>
          <a:xfrm rot="5400000" flipH="1" flipV="1">
            <a:off x="6209239" y="1891513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4"/>
          <p:cNvCxnSpPr/>
          <p:nvPr>
            <p:custDataLst>
              <p:tags r:id="rId11"/>
            </p:custDataLst>
          </p:nvPr>
        </p:nvCxnSpPr>
        <p:spPr>
          <a:xfrm rot="5400000" flipH="1" flipV="1">
            <a:off x="7918552" y="1899404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26516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algn="l"/>
            <a:r>
              <a:rPr lang="fr-CA" dirty="0"/>
              <a:t>Le montant simple: exercices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57200" y="1200151"/>
            <a:ext cx="7715200" cy="3394472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fr-CA" sz="1800" dirty="0"/>
              <a:t>Valeur future dans 3 ans d’un montant de 100 000 $ reçu il y a 2 ans (3 %)?</a:t>
            </a:r>
          </a:p>
        </p:txBody>
      </p:sp>
      <p:cxnSp>
        <p:nvCxnSpPr>
          <p:cNvPr id="6" name="Straight Arrow Connector 22"/>
          <p:cNvCxnSpPr/>
          <p:nvPr>
            <p:custDataLst>
              <p:tags r:id="rId3"/>
            </p:custDataLst>
          </p:nvPr>
        </p:nvCxnSpPr>
        <p:spPr>
          <a:xfrm>
            <a:off x="1089303" y="2228773"/>
            <a:ext cx="7178040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14"/>
          <p:cNvCxnSpPr/>
          <p:nvPr>
            <p:custDataLst>
              <p:tags r:id="rId4"/>
            </p:custDataLst>
          </p:nvPr>
        </p:nvCxnSpPr>
        <p:spPr>
          <a:xfrm rot="5400000" flipH="1" flipV="1">
            <a:off x="1516703" y="2239629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14"/>
          <p:cNvCxnSpPr/>
          <p:nvPr>
            <p:custDataLst>
              <p:tags r:id="rId5"/>
            </p:custDataLst>
          </p:nvPr>
        </p:nvCxnSpPr>
        <p:spPr>
          <a:xfrm rot="5400000" flipH="1" flipV="1">
            <a:off x="2430009" y="2248338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14"/>
          <p:cNvCxnSpPr/>
          <p:nvPr>
            <p:custDataLst>
              <p:tags r:id="rId6"/>
            </p:custDataLst>
          </p:nvPr>
        </p:nvCxnSpPr>
        <p:spPr>
          <a:xfrm rot="5400000" flipH="1" flipV="1">
            <a:off x="3316903" y="2239629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14"/>
          <p:cNvCxnSpPr/>
          <p:nvPr>
            <p:custDataLst>
              <p:tags r:id="rId7"/>
            </p:custDataLst>
          </p:nvPr>
        </p:nvCxnSpPr>
        <p:spPr>
          <a:xfrm rot="5400000" flipH="1" flipV="1">
            <a:off x="4253007" y="2228773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4"/>
          <p:cNvCxnSpPr/>
          <p:nvPr>
            <p:custDataLst>
              <p:tags r:id="rId8"/>
            </p:custDataLst>
          </p:nvPr>
        </p:nvCxnSpPr>
        <p:spPr>
          <a:xfrm rot="5400000" flipH="1" flipV="1">
            <a:off x="5117103" y="2228773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4"/>
          <p:cNvCxnSpPr/>
          <p:nvPr>
            <p:custDataLst>
              <p:tags r:id="rId9"/>
            </p:custDataLst>
          </p:nvPr>
        </p:nvCxnSpPr>
        <p:spPr>
          <a:xfrm rot="5400000" flipH="1" flipV="1">
            <a:off x="6924153" y="2228773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4"/>
          <p:cNvCxnSpPr/>
          <p:nvPr>
            <p:custDataLst>
              <p:tags r:id="rId10"/>
            </p:custDataLst>
          </p:nvPr>
        </p:nvCxnSpPr>
        <p:spPr>
          <a:xfrm rot="5400000" flipH="1" flipV="1">
            <a:off x="6020394" y="2228773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4"/>
          <p:cNvCxnSpPr/>
          <p:nvPr>
            <p:custDataLst>
              <p:tags r:id="rId11"/>
            </p:custDataLst>
          </p:nvPr>
        </p:nvCxnSpPr>
        <p:spPr>
          <a:xfrm rot="5400000" flipH="1" flipV="1">
            <a:off x="7729707" y="2236664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33947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algn="l"/>
            <a:r>
              <a:rPr lang="fr-CA" dirty="0"/>
              <a:t>Le montant simple: exercices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57200" y="1200151"/>
            <a:ext cx="7715200" cy="3394472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4"/>
            </a:pPr>
            <a:r>
              <a:rPr lang="fr-CA" sz="1800" dirty="0"/>
              <a:t>Dans un an, combien « coûtera » un montant de 700 000$ à recevoir 22 années plus tard (4,5 %)?</a:t>
            </a:r>
          </a:p>
        </p:txBody>
      </p:sp>
      <p:cxnSp>
        <p:nvCxnSpPr>
          <p:cNvPr id="24" name="Straight Arrow Connector 22"/>
          <p:cNvCxnSpPr/>
          <p:nvPr>
            <p:custDataLst>
              <p:tags r:id="rId3"/>
            </p:custDataLst>
          </p:nvPr>
        </p:nvCxnSpPr>
        <p:spPr>
          <a:xfrm>
            <a:off x="1155124" y="2187282"/>
            <a:ext cx="7178040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14"/>
          <p:cNvCxnSpPr/>
          <p:nvPr>
            <p:custDataLst>
              <p:tags r:id="rId4"/>
            </p:custDataLst>
          </p:nvPr>
        </p:nvCxnSpPr>
        <p:spPr>
          <a:xfrm rot="5400000" flipH="1" flipV="1">
            <a:off x="1582524" y="2198138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14"/>
          <p:cNvCxnSpPr/>
          <p:nvPr>
            <p:custDataLst>
              <p:tags r:id="rId5"/>
            </p:custDataLst>
          </p:nvPr>
        </p:nvCxnSpPr>
        <p:spPr>
          <a:xfrm rot="5400000" flipH="1" flipV="1">
            <a:off x="2495830" y="2206847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14"/>
          <p:cNvCxnSpPr/>
          <p:nvPr>
            <p:custDataLst>
              <p:tags r:id="rId6"/>
            </p:custDataLst>
          </p:nvPr>
        </p:nvCxnSpPr>
        <p:spPr>
          <a:xfrm rot="5400000" flipH="1" flipV="1">
            <a:off x="3382724" y="2198138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14"/>
          <p:cNvCxnSpPr/>
          <p:nvPr>
            <p:custDataLst>
              <p:tags r:id="rId7"/>
            </p:custDataLst>
          </p:nvPr>
        </p:nvCxnSpPr>
        <p:spPr>
          <a:xfrm rot="5400000" flipH="1" flipV="1">
            <a:off x="4318828" y="2187282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14"/>
          <p:cNvCxnSpPr/>
          <p:nvPr>
            <p:custDataLst>
              <p:tags r:id="rId8"/>
            </p:custDataLst>
          </p:nvPr>
        </p:nvCxnSpPr>
        <p:spPr>
          <a:xfrm rot="5400000" flipH="1" flipV="1">
            <a:off x="5182924" y="2187282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14"/>
          <p:cNvCxnSpPr/>
          <p:nvPr>
            <p:custDataLst>
              <p:tags r:id="rId9"/>
            </p:custDataLst>
          </p:nvPr>
        </p:nvCxnSpPr>
        <p:spPr>
          <a:xfrm rot="5400000" flipH="1" flipV="1">
            <a:off x="6989974" y="2187282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14"/>
          <p:cNvCxnSpPr/>
          <p:nvPr>
            <p:custDataLst>
              <p:tags r:id="rId10"/>
            </p:custDataLst>
          </p:nvPr>
        </p:nvCxnSpPr>
        <p:spPr>
          <a:xfrm rot="5400000" flipH="1" flipV="1">
            <a:off x="6086215" y="2187282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14"/>
          <p:cNvCxnSpPr/>
          <p:nvPr>
            <p:custDataLst>
              <p:tags r:id="rId11"/>
            </p:custDataLst>
          </p:nvPr>
        </p:nvCxnSpPr>
        <p:spPr>
          <a:xfrm rot="5400000" flipH="1" flipV="1">
            <a:off x="7795528" y="2195173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87762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fr-CA" dirty="0"/>
              <a:t>Chapitre 5 &amp; 6: révision des mathématiques financières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fr-CA"/>
              <a:t>L’ANNUITÉ</a:t>
            </a: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0660199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68313" y="209538"/>
            <a:ext cx="8229600" cy="819161"/>
          </a:xfrm>
        </p:spPr>
        <p:txBody>
          <a:bodyPr/>
          <a:lstStyle/>
          <a:p>
            <a:pPr algn="l"/>
            <a:r>
              <a:rPr lang="fr-CA" dirty="0"/>
              <a:t>L’annuité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sz="half" idx="1"/>
            <p:custDataLst>
              <p:tags r:id="rId3"/>
            </p:custDataLst>
          </p:nvPr>
        </p:nvSpPr>
        <p:spPr>
          <a:xfrm>
            <a:off x="468313" y="942679"/>
            <a:ext cx="8291512" cy="1518047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fr-CA" sz="2800" dirty="0"/>
              <a:t>Il arrive que dans certains problèmes financiers, des montants constants soient </a:t>
            </a:r>
            <a:r>
              <a:rPr lang="fr-CA" sz="2800" dirty="0">
                <a:solidFill>
                  <a:schemeClr val="accent1"/>
                </a:solidFill>
              </a:rPr>
              <a:t>récurrents. </a:t>
            </a:r>
            <a:r>
              <a:rPr lang="fr-CA" sz="2800" dirty="0"/>
              <a:t>Il est donc pratique de calculer rapidement leur valeur actuelle.</a:t>
            </a:r>
          </a:p>
          <a:p>
            <a:pPr algn="ctr">
              <a:buFontTx/>
              <a:buNone/>
            </a:pPr>
            <a:endParaRPr lang="fr-CA" sz="2800" dirty="0"/>
          </a:p>
        </p:txBody>
      </p:sp>
      <p:graphicFrame>
        <p:nvGraphicFramePr>
          <p:cNvPr id="18448" name="Object 16"/>
          <p:cNvGraphicFramePr>
            <a:graphicFrameLocks noGrp="1" noChangeAspect="1"/>
          </p:cNvGraphicFramePr>
          <p:nvPr>
            <p:ph sz="half" idx="2"/>
            <p:custDataLst>
              <p:tags r:id="rId4"/>
            </p:custDataLst>
          </p:nvPr>
        </p:nvGraphicFramePr>
        <p:xfrm>
          <a:off x="2946400" y="2155825"/>
          <a:ext cx="3328988" cy="1171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Equation" r:id="rId27" imgW="1371600" imgH="482400" progId="Equation.3">
                  <p:embed/>
                </p:oleObj>
              </mc:Choice>
              <mc:Fallback>
                <p:oleObj name="Equation" r:id="rId27" imgW="1371600" imgH="482400" progId="Equation.3">
                  <p:embed/>
                  <p:pic>
                    <p:nvPicPr>
                      <p:cNvPr id="18448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6400" y="2155825"/>
                        <a:ext cx="3328988" cy="1171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6" name="Line 4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>
            <a:off x="1258889" y="3651647"/>
            <a:ext cx="38179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18437" name="Line 5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5076825" y="3651647"/>
            <a:ext cx="935038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18438" name="Line 6"/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>
            <a:off x="6011863" y="3651647"/>
            <a:ext cx="14398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18439" name="Line 7"/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>
            <a:off x="7451725" y="3489722"/>
            <a:ext cx="0" cy="32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18440" name="Line 8"/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>
            <a:off x="6516688" y="3543300"/>
            <a:ext cx="0" cy="2166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18441" name="Line 9"/>
          <p:cNvSpPr>
            <a:spLocks noChangeShapeType="1"/>
          </p:cNvSpPr>
          <p:nvPr>
            <p:custDataLst>
              <p:tags r:id="rId10"/>
            </p:custDataLst>
          </p:nvPr>
        </p:nvSpPr>
        <p:spPr bwMode="auto">
          <a:xfrm>
            <a:off x="1258888" y="3489722"/>
            <a:ext cx="0" cy="32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18442" name="Line 10"/>
          <p:cNvSpPr>
            <a:spLocks noChangeShapeType="1"/>
          </p:cNvSpPr>
          <p:nvPr>
            <p:custDataLst>
              <p:tags r:id="rId11"/>
            </p:custDataLst>
          </p:nvPr>
        </p:nvSpPr>
        <p:spPr bwMode="auto">
          <a:xfrm>
            <a:off x="2268538" y="3543300"/>
            <a:ext cx="0" cy="2166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18443" name="Line 11"/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>
            <a:off x="3348038" y="3543300"/>
            <a:ext cx="0" cy="2166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18444" name="Line 12"/>
          <p:cNvSpPr>
            <a:spLocks noChangeShapeType="1"/>
          </p:cNvSpPr>
          <p:nvPr>
            <p:custDataLst>
              <p:tags r:id="rId13"/>
            </p:custDataLst>
          </p:nvPr>
        </p:nvSpPr>
        <p:spPr bwMode="auto">
          <a:xfrm>
            <a:off x="4427538" y="3543300"/>
            <a:ext cx="0" cy="2166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18445" name="Text Box 13"/>
          <p:cNvSpPr txBox="1"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1042989" y="3165872"/>
            <a:ext cx="59202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latin typeface="Tahoma" pitchFamily="34" charset="0"/>
              </a:rPr>
              <a:t>VAA</a:t>
            </a:r>
          </a:p>
        </p:txBody>
      </p:sp>
      <p:sp>
        <p:nvSpPr>
          <p:cNvPr id="18446" name="Line 14"/>
          <p:cNvSpPr>
            <a:spLocks noChangeShapeType="1"/>
          </p:cNvSpPr>
          <p:nvPr>
            <p:custDataLst>
              <p:tags r:id="rId15"/>
            </p:custDataLst>
          </p:nvPr>
        </p:nvSpPr>
        <p:spPr bwMode="auto">
          <a:xfrm>
            <a:off x="3348038" y="3598069"/>
            <a:ext cx="1079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18447" name="Text Box 15"/>
          <p:cNvSpPr txBox="1"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3851275" y="3327797"/>
            <a:ext cx="26802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latin typeface="Tahoma" pitchFamily="34" charset="0"/>
              </a:rPr>
              <a:t>r</a:t>
            </a:r>
          </a:p>
        </p:txBody>
      </p:sp>
      <p:sp>
        <p:nvSpPr>
          <p:cNvPr id="18449" name="Text Box 17"/>
          <p:cNvSpPr txBox="1"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2103439" y="3770710"/>
            <a:ext cx="32733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latin typeface="Tahoma" pitchFamily="34" charset="0"/>
              </a:rPr>
              <a:t>R</a:t>
            </a:r>
          </a:p>
        </p:txBody>
      </p:sp>
      <p:sp>
        <p:nvSpPr>
          <p:cNvPr id="18450" name="Text Box 18"/>
          <p:cNvSpPr txBox="1"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3203575" y="3813572"/>
            <a:ext cx="32733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 dirty="0">
                <a:latin typeface="Tahoma" pitchFamily="34" charset="0"/>
              </a:rPr>
              <a:t>R</a:t>
            </a:r>
          </a:p>
        </p:txBody>
      </p:sp>
      <p:sp>
        <p:nvSpPr>
          <p:cNvPr id="18451" name="Text Box 19"/>
          <p:cNvSpPr txBox="1"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4284664" y="3813572"/>
            <a:ext cx="32733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latin typeface="Tahoma" pitchFamily="34" charset="0"/>
              </a:rPr>
              <a:t>R</a:t>
            </a:r>
          </a:p>
        </p:txBody>
      </p:sp>
      <p:sp>
        <p:nvSpPr>
          <p:cNvPr id="18452" name="Text Box 20"/>
          <p:cNvSpPr txBox="1"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6372225" y="3813572"/>
            <a:ext cx="32733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latin typeface="Tahoma" pitchFamily="34" charset="0"/>
              </a:rPr>
              <a:t>R</a:t>
            </a:r>
          </a:p>
        </p:txBody>
      </p:sp>
      <p:sp>
        <p:nvSpPr>
          <p:cNvPr id="18453" name="Text Box 21"/>
          <p:cNvSpPr txBox="1"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7308850" y="3813572"/>
            <a:ext cx="32733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latin typeface="Tahoma" pitchFamily="34" charset="0"/>
              </a:rPr>
              <a:t>R</a:t>
            </a:r>
          </a:p>
        </p:txBody>
      </p:sp>
      <p:sp>
        <p:nvSpPr>
          <p:cNvPr id="22" name="Ellipse 21"/>
          <p:cNvSpPr/>
          <p:nvPr>
            <p:custDataLst>
              <p:tags r:id="rId22"/>
            </p:custDataLst>
          </p:nvPr>
        </p:nvSpPr>
        <p:spPr>
          <a:xfrm>
            <a:off x="1907704" y="3705876"/>
            <a:ext cx="6028722" cy="44145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57" name="Forme libre 56"/>
          <p:cNvSpPr/>
          <p:nvPr>
            <p:custDataLst>
              <p:tags r:id="rId23"/>
            </p:custDataLst>
          </p:nvPr>
        </p:nvSpPr>
        <p:spPr>
          <a:xfrm>
            <a:off x="1285875" y="4029075"/>
            <a:ext cx="990600" cy="248247"/>
          </a:xfrm>
          <a:custGeom>
            <a:avLst/>
            <a:gdLst>
              <a:gd name="connsiteX0" fmla="*/ 990600 w 990600"/>
              <a:gd name="connsiteY0" fmla="*/ 57150 h 344487"/>
              <a:gd name="connsiteX1" fmla="*/ 666750 w 990600"/>
              <a:gd name="connsiteY1" fmla="*/ 295275 h 344487"/>
              <a:gd name="connsiteX2" fmla="*/ 228600 w 990600"/>
              <a:gd name="connsiteY2" fmla="*/ 295275 h 344487"/>
              <a:gd name="connsiteX3" fmla="*/ 0 w 990600"/>
              <a:gd name="connsiteY3" fmla="*/ 0 h 344487"/>
              <a:gd name="connsiteX0" fmla="*/ 990600 w 990600"/>
              <a:gd name="connsiteY0" fmla="*/ 57150 h 330996"/>
              <a:gd name="connsiteX1" fmla="*/ 666750 w 990600"/>
              <a:gd name="connsiteY1" fmla="*/ 295275 h 330996"/>
              <a:gd name="connsiteX2" fmla="*/ 285729 w 990600"/>
              <a:gd name="connsiteY2" fmla="*/ 271478 h 330996"/>
              <a:gd name="connsiteX3" fmla="*/ 0 w 990600"/>
              <a:gd name="connsiteY3" fmla="*/ 0 h 330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90600" h="330996">
                <a:moveTo>
                  <a:pt x="990600" y="57150"/>
                </a:moveTo>
                <a:cubicBezTo>
                  <a:pt x="892175" y="156369"/>
                  <a:pt x="784228" y="259554"/>
                  <a:pt x="666750" y="295275"/>
                </a:cubicBezTo>
                <a:cubicBezTo>
                  <a:pt x="549272" y="330996"/>
                  <a:pt x="396854" y="320690"/>
                  <a:pt x="285729" y="271478"/>
                </a:cubicBezTo>
                <a:cubicBezTo>
                  <a:pt x="174604" y="222266"/>
                  <a:pt x="58737" y="123031"/>
                  <a:pt x="0" y="0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58" name="ZoneTexte 57"/>
          <p:cNvSpPr txBox="1"/>
          <p:nvPr>
            <p:custDataLst>
              <p:tags r:id="rId24"/>
            </p:custDataLst>
          </p:nvPr>
        </p:nvSpPr>
        <p:spPr>
          <a:xfrm>
            <a:off x="214282" y="4339841"/>
            <a:ext cx="54983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dirty="0">
                <a:solidFill>
                  <a:schemeClr val="accent1"/>
                </a:solidFill>
              </a:rPr>
              <a:t>*Résultat de ce calcul d’annuité TOUJOURS trouvé </a:t>
            </a:r>
          </a:p>
          <a:p>
            <a:r>
              <a:rPr lang="fr-CA" dirty="0">
                <a:solidFill>
                  <a:schemeClr val="accent1"/>
                </a:solidFill>
              </a:rPr>
              <a:t>une période avant le 1</a:t>
            </a:r>
            <a:r>
              <a:rPr lang="fr-CA" baseline="30000" dirty="0">
                <a:solidFill>
                  <a:schemeClr val="accent1"/>
                </a:solidFill>
              </a:rPr>
              <a:t>er</a:t>
            </a:r>
            <a:r>
              <a:rPr lang="fr-CA" dirty="0">
                <a:solidFill>
                  <a:schemeClr val="accent1"/>
                </a:solidFill>
              </a:rPr>
              <a:t> versement</a:t>
            </a:r>
          </a:p>
        </p:txBody>
      </p:sp>
      <p:sp>
        <p:nvSpPr>
          <p:cNvPr id="25" name="Text Box 18"/>
          <p:cNvSpPr txBox="1"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6836933" y="4078231"/>
            <a:ext cx="173637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 sz="1400" dirty="0">
                <a:solidFill>
                  <a:schemeClr val="accent1"/>
                </a:solidFill>
                <a:latin typeface="Tahoma" pitchFamily="34" charset="0"/>
              </a:rPr>
              <a:t>t = # de paiements</a:t>
            </a:r>
          </a:p>
          <a:p>
            <a:r>
              <a:rPr lang="fr-CA" sz="1400" dirty="0">
                <a:solidFill>
                  <a:schemeClr val="accent1"/>
                </a:solidFill>
                <a:latin typeface="Tahoma" pitchFamily="34" charset="0"/>
              </a:rPr>
              <a:t>      à regrouper</a:t>
            </a:r>
          </a:p>
        </p:txBody>
      </p:sp>
    </p:spTree>
    <p:extLst>
      <p:ext uri="{BB962C8B-B14F-4D97-AF65-F5344CB8AC3E}">
        <p14:creationId xmlns:p14="http://schemas.microsoft.com/office/powerpoint/2010/main" val="1147693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8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8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18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18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18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18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8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18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18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18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500"/>
                                        <p:tgtEl>
                                          <p:spTgt spid="18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18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0" dur="500"/>
                                        <p:tgtEl>
                                          <p:spTgt spid="18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3" dur="500"/>
                                        <p:tgtEl>
                                          <p:spTgt spid="18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6" dur="500"/>
                                        <p:tgtEl>
                                          <p:spTgt spid="18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9" dur="500"/>
                                        <p:tgtEl>
                                          <p:spTgt spid="18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500"/>
                                        <p:tgtEl>
                                          <p:spTgt spid="18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5" dur="500"/>
                                        <p:tgtEl>
                                          <p:spTgt spid="18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6" grpId="0" animBg="1"/>
      <p:bldP spid="18437" grpId="0" animBg="1"/>
      <p:bldP spid="18438" grpId="0" animBg="1"/>
      <p:bldP spid="18439" grpId="0" animBg="1"/>
      <p:bldP spid="18440" grpId="0" animBg="1"/>
      <p:bldP spid="18441" grpId="0" animBg="1"/>
      <p:bldP spid="18442" grpId="0" animBg="1"/>
      <p:bldP spid="18443" grpId="0" animBg="1"/>
      <p:bldP spid="18444" grpId="0" animBg="1"/>
      <p:bldP spid="18445" grpId="0"/>
      <p:bldP spid="18446" grpId="0" animBg="1"/>
      <p:bldP spid="18447" grpId="0"/>
      <p:bldP spid="18449" grpId="0"/>
      <p:bldP spid="18450" grpId="0"/>
      <p:bldP spid="18451" grpId="0"/>
      <p:bldP spid="18452" grpId="0"/>
      <p:bldP spid="18453" grpId="0"/>
      <p:bldP spid="22" grpId="0" animBg="1"/>
      <p:bldP spid="57" grpId="0" animBg="1"/>
      <p:bldP spid="58" grpId="0"/>
      <p:bldP spid="2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algn="l"/>
            <a:r>
              <a:rPr lang="fr-CA" dirty="0"/>
              <a:t>L’annuité: exercices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fr-CA" sz="1600" dirty="0"/>
              <a:t>Quels seraient la valeur d’un prêt hypothécaire si vous projetez effectuer des paiements mensuels de 1 500 $ au cours des 25 prochaines années (3%)?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1115616" y="2362582"/>
            <a:ext cx="7178040" cy="293885"/>
            <a:chOff x="1115616" y="2362582"/>
            <a:chExt cx="7178040" cy="293885"/>
          </a:xfrm>
        </p:grpSpPr>
        <p:cxnSp>
          <p:nvCxnSpPr>
            <p:cNvPr id="6" name="Straight Arrow Connector 22"/>
            <p:cNvCxnSpPr/>
            <p:nvPr>
              <p:custDataLst>
                <p:tags r:id="rId3"/>
              </p:custDataLst>
            </p:nvPr>
          </p:nvCxnSpPr>
          <p:spPr>
            <a:xfrm>
              <a:off x="1115616" y="2499742"/>
              <a:ext cx="7178040" cy="15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14"/>
            <p:cNvCxnSpPr/>
            <p:nvPr>
              <p:custDataLst>
                <p:tags r:id="rId4"/>
              </p:custDataLst>
            </p:nvPr>
          </p:nvCxnSpPr>
          <p:spPr>
            <a:xfrm rot="5400000" flipH="1" flipV="1">
              <a:off x="1543016" y="2510598"/>
              <a:ext cx="2743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14"/>
            <p:cNvCxnSpPr/>
            <p:nvPr>
              <p:custDataLst>
                <p:tags r:id="rId5"/>
              </p:custDataLst>
            </p:nvPr>
          </p:nvCxnSpPr>
          <p:spPr>
            <a:xfrm rot="5400000" flipH="1" flipV="1">
              <a:off x="2456322" y="2519307"/>
              <a:ext cx="2743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14"/>
            <p:cNvCxnSpPr/>
            <p:nvPr>
              <p:custDataLst>
                <p:tags r:id="rId6"/>
              </p:custDataLst>
            </p:nvPr>
          </p:nvCxnSpPr>
          <p:spPr>
            <a:xfrm rot="5400000" flipH="1" flipV="1">
              <a:off x="3343216" y="2510598"/>
              <a:ext cx="2743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14"/>
            <p:cNvCxnSpPr/>
            <p:nvPr>
              <p:custDataLst>
                <p:tags r:id="rId7"/>
              </p:custDataLst>
            </p:nvPr>
          </p:nvCxnSpPr>
          <p:spPr>
            <a:xfrm rot="5400000" flipH="1" flipV="1">
              <a:off x="4279320" y="2499742"/>
              <a:ext cx="2743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4"/>
            <p:cNvCxnSpPr/>
            <p:nvPr>
              <p:custDataLst>
                <p:tags r:id="rId8"/>
              </p:custDataLst>
            </p:nvPr>
          </p:nvCxnSpPr>
          <p:spPr>
            <a:xfrm rot="5400000" flipH="1" flipV="1">
              <a:off x="5143416" y="2499742"/>
              <a:ext cx="2743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4"/>
            <p:cNvCxnSpPr/>
            <p:nvPr>
              <p:custDataLst>
                <p:tags r:id="rId9"/>
              </p:custDataLst>
            </p:nvPr>
          </p:nvCxnSpPr>
          <p:spPr>
            <a:xfrm rot="5400000" flipH="1" flipV="1">
              <a:off x="6950466" y="2499742"/>
              <a:ext cx="2743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4"/>
            <p:cNvCxnSpPr/>
            <p:nvPr>
              <p:custDataLst>
                <p:tags r:id="rId10"/>
              </p:custDataLst>
            </p:nvPr>
          </p:nvCxnSpPr>
          <p:spPr>
            <a:xfrm rot="5400000" flipH="1" flipV="1">
              <a:off x="6046707" y="2499742"/>
              <a:ext cx="2743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4"/>
            <p:cNvCxnSpPr/>
            <p:nvPr>
              <p:custDataLst>
                <p:tags r:id="rId11"/>
              </p:custDataLst>
            </p:nvPr>
          </p:nvCxnSpPr>
          <p:spPr>
            <a:xfrm rot="5400000" flipH="1" flipV="1">
              <a:off x="7756020" y="2507633"/>
              <a:ext cx="2743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355902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algn="l"/>
            <a:r>
              <a:rPr lang="fr-CA" dirty="0"/>
              <a:t>L’annuité: exercices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fr-CA" sz="1600" dirty="0"/>
              <a:t>Un retraité aimerait recevoir une rente mensuelle de 5 000 $ par mois (début) pour les 25 prochaines années: quel serait le coût de cette rente (3 %)?</a:t>
            </a:r>
          </a:p>
        </p:txBody>
      </p:sp>
      <p:cxnSp>
        <p:nvCxnSpPr>
          <p:cNvPr id="6" name="Straight Arrow Connector 22"/>
          <p:cNvCxnSpPr/>
          <p:nvPr>
            <p:custDataLst>
              <p:tags r:id="rId3"/>
            </p:custDataLst>
          </p:nvPr>
        </p:nvCxnSpPr>
        <p:spPr>
          <a:xfrm>
            <a:off x="1043008" y="2422741"/>
            <a:ext cx="7178040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14"/>
          <p:cNvCxnSpPr/>
          <p:nvPr>
            <p:custDataLst>
              <p:tags r:id="rId4"/>
            </p:custDataLst>
          </p:nvPr>
        </p:nvCxnSpPr>
        <p:spPr>
          <a:xfrm rot="5400000" flipH="1" flipV="1">
            <a:off x="1470408" y="2433597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14"/>
          <p:cNvCxnSpPr/>
          <p:nvPr>
            <p:custDataLst>
              <p:tags r:id="rId5"/>
            </p:custDataLst>
          </p:nvPr>
        </p:nvCxnSpPr>
        <p:spPr>
          <a:xfrm rot="5400000" flipH="1" flipV="1">
            <a:off x="2383714" y="2442306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14"/>
          <p:cNvCxnSpPr/>
          <p:nvPr>
            <p:custDataLst>
              <p:tags r:id="rId6"/>
            </p:custDataLst>
          </p:nvPr>
        </p:nvCxnSpPr>
        <p:spPr>
          <a:xfrm rot="5400000" flipH="1" flipV="1">
            <a:off x="3270608" y="2433597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14"/>
          <p:cNvCxnSpPr/>
          <p:nvPr>
            <p:custDataLst>
              <p:tags r:id="rId7"/>
            </p:custDataLst>
          </p:nvPr>
        </p:nvCxnSpPr>
        <p:spPr>
          <a:xfrm rot="5400000" flipH="1" flipV="1">
            <a:off x="4206712" y="2422741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4"/>
          <p:cNvCxnSpPr/>
          <p:nvPr>
            <p:custDataLst>
              <p:tags r:id="rId8"/>
            </p:custDataLst>
          </p:nvPr>
        </p:nvCxnSpPr>
        <p:spPr>
          <a:xfrm rot="5400000" flipH="1" flipV="1">
            <a:off x="5070808" y="2422741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4"/>
          <p:cNvCxnSpPr/>
          <p:nvPr>
            <p:custDataLst>
              <p:tags r:id="rId9"/>
            </p:custDataLst>
          </p:nvPr>
        </p:nvCxnSpPr>
        <p:spPr>
          <a:xfrm rot="5400000" flipH="1" flipV="1">
            <a:off x="6877858" y="2422741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4"/>
          <p:cNvCxnSpPr/>
          <p:nvPr>
            <p:custDataLst>
              <p:tags r:id="rId10"/>
            </p:custDataLst>
          </p:nvPr>
        </p:nvCxnSpPr>
        <p:spPr>
          <a:xfrm rot="5400000" flipH="1" flipV="1">
            <a:off x="5974099" y="2422741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4"/>
          <p:cNvCxnSpPr/>
          <p:nvPr>
            <p:custDataLst>
              <p:tags r:id="rId11"/>
            </p:custDataLst>
          </p:nvPr>
        </p:nvCxnSpPr>
        <p:spPr>
          <a:xfrm rot="5400000" flipH="1" flipV="1">
            <a:off x="7683412" y="2430632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39004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algn="l"/>
            <a:r>
              <a:rPr lang="fr-CA" dirty="0"/>
              <a:t>L’annuité: exercices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fr-CA" sz="1800" dirty="0"/>
              <a:t>Vous placez 250 $ à chaque 2 semaines dans un compte épargne rapportant 2,6 % pour un voyage à effectuer dans 3 ans.</a:t>
            </a:r>
          </a:p>
        </p:txBody>
      </p:sp>
      <p:cxnSp>
        <p:nvCxnSpPr>
          <p:cNvPr id="6" name="Straight Arrow Connector 22"/>
          <p:cNvCxnSpPr/>
          <p:nvPr>
            <p:custDataLst>
              <p:tags r:id="rId3"/>
            </p:custDataLst>
          </p:nvPr>
        </p:nvCxnSpPr>
        <p:spPr>
          <a:xfrm>
            <a:off x="1043008" y="2422741"/>
            <a:ext cx="7178040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14"/>
          <p:cNvCxnSpPr/>
          <p:nvPr>
            <p:custDataLst>
              <p:tags r:id="rId4"/>
            </p:custDataLst>
          </p:nvPr>
        </p:nvCxnSpPr>
        <p:spPr>
          <a:xfrm rot="5400000" flipH="1" flipV="1">
            <a:off x="1470408" y="2433597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14"/>
          <p:cNvCxnSpPr/>
          <p:nvPr>
            <p:custDataLst>
              <p:tags r:id="rId5"/>
            </p:custDataLst>
          </p:nvPr>
        </p:nvCxnSpPr>
        <p:spPr>
          <a:xfrm rot="5400000" flipH="1" flipV="1">
            <a:off x="2383714" y="2442306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14"/>
          <p:cNvCxnSpPr/>
          <p:nvPr>
            <p:custDataLst>
              <p:tags r:id="rId6"/>
            </p:custDataLst>
          </p:nvPr>
        </p:nvCxnSpPr>
        <p:spPr>
          <a:xfrm rot="5400000" flipH="1" flipV="1">
            <a:off x="3270608" y="2433597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14"/>
          <p:cNvCxnSpPr/>
          <p:nvPr>
            <p:custDataLst>
              <p:tags r:id="rId7"/>
            </p:custDataLst>
          </p:nvPr>
        </p:nvCxnSpPr>
        <p:spPr>
          <a:xfrm rot="5400000" flipH="1" flipV="1">
            <a:off x="4206712" y="2422741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4"/>
          <p:cNvCxnSpPr/>
          <p:nvPr>
            <p:custDataLst>
              <p:tags r:id="rId8"/>
            </p:custDataLst>
          </p:nvPr>
        </p:nvCxnSpPr>
        <p:spPr>
          <a:xfrm rot="5400000" flipH="1" flipV="1">
            <a:off x="5070808" y="2422741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4"/>
          <p:cNvCxnSpPr/>
          <p:nvPr>
            <p:custDataLst>
              <p:tags r:id="rId9"/>
            </p:custDataLst>
          </p:nvPr>
        </p:nvCxnSpPr>
        <p:spPr>
          <a:xfrm rot="5400000" flipH="1" flipV="1">
            <a:off x="6877858" y="2422741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4"/>
          <p:cNvCxnSpPr/>
          <p:nvPr>
            <p:custDataLst>
              <p:tags r:id="rId10"/>
            </p:custDataLst>
          </p:nvPr>
        </p:nvCxnSpPr>
        <p:spPr>
          <a:xfrm rot="5400000" flipH="1" flipV="1">
            <a:off x="5974099" y="2422741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4"/>
          <p:cNvCxnSpPr/>
          <p:nvPr>
            <p:custDataLst>
              <p:tags r:id="rId11"/>
            </p:custDataLst>
          </p:nvPr>
        </p:nvCxnSpPr>
        <p:spPr>
          <a:xfrm rot="5400000" flipH="1" flipV="1">
            <a:off x="7683412" y="2430632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30166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fr-CA" dirty="0"/>
              <a:t>Chapitre 5 &amp; 6: révision des mathématiques financières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fr-CA"/>
              <a:t>LA </a:t>
            </a:r>
            <a:r>
              <a:rPr lang="fr-CA" dirty="0"/>
              <a:t>PERPÉTUITÉ</a:t>
            </a:r>
          </a:p>
        </p:txBody>
      </p:sp>
    </p:spTree>
    <p:extLst>
      <p:ext uri="{BB962C8B-B14F-4D97-AF65-F5344CB8AC3E}">
        <p14:creationId xmlns:p14="http://schemas.microsoft.com/office/powerpoint/2010/main" val="39765824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93049" y="267494"/>
            <a:ext cx="8229600" cy="951534"/>
          </a:xfrm>
        </p:spPr>
        <p:txBody>
          <a:bodyPr/>
          <a:lstStyle/>
          <a:p>
            <a:pPr algn="l"/>
            <a:r>
              <a:rPr lang="fr-CA" dirty="0"/>
              <a:t>La perpétuité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sz="half" idx="1"/>
            <p:custDataLst>
              <p:tags r:id="rId3"/>
            </p:custDataLst>
          </p:nvPr>
        </p:nvSpPr>
        <p:spPr>
          <a:xfrm>
            <a:off x="468313" y="1280434"/>
            <a:ext cx="8291512" cy="1518047"/>
          </a:xfrm>
        </p:spPr>
        <p:txBody>
          <a:bodyPr/>
          <a:lstStyle/>
          <a:p>
            <a:pPr marL="0" indent="0">
              <a:buNone/>
            </a:pPr>
            <a:r>
              <a:rPr lang="fr-CA" sz="2400" dirty="0"/>
              <a:t>Certains actifs financiers n’ont pas d’échéance déterminée. Il faut donc pouvoir actualiser des montants qui </a:t>
            </a:r>
            <a:r>
              <a:rPr lang="fr-CA" sz="2400" dirty="0">
                <a:solidFill>
                  <a:schemeClr val="accent1"/>
                </a:solidFill>
              </a:rPr>
              <a:t>se répètent à l’infini.</a:t>
            </a:r>
          </a:p>
          <a:p>
            <a:pPr algn="ctr">
              <a:buFontTx/>
              <a:buNone/>
            </a:pPr>
            <a:endParaRPr lang="fr-CA" sz="2800" dirty="0"/>
          </a:p>
        </p:txBody>
      </p:sp>
      <p:graphicFrame>
        <p:nvGraphicFramePr>
          <p:cNvPr id="19472" name="Object 16"/>
          <p:cNvGraphicFramePr>
            <a:graphicFrameLocks noGrp="1" noChangeAspect="1"/>
          </p:cNvGraphicFramePr>
          <p:nvPr>
            <p:ph sz="half" idx="2"/>
            <p:custDataLst>
              <p:tags r:id="rId4"/>
            </p:custDataLst>
          </p:nvPr>
        </p:nvGraphicFramePr>
        <p:xfrm>
          <a:off x="3584575" y="2266950"/>
          <a:ext cx="1739900" cy="105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Equation" r:id="rId30" imgW="647640" imgH="393480" progId="Equation.3">
                  <p:embed/>
                </p:oleObj>
              </mc:Choice>
              <mc:Fallback>
                <p:oleObj name="Equation" r:id="rId30" imgW="647640" imgH="393480" progId="Equation.3">
                  <p:embed/>
                  <p:pic>
                    <p:nvPicPr>
                      <p:cNvPr id="19472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4575" y="2266950"/>
                        <a:ext cx="1739900" cy="1057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0" name="Line 4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>
            <a:off x="1258889" y="3651647"/>
            <a:ext cx="38179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19461" name="Line 5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5076825" y="3651647"/>
            <a:ext cx="9350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19462" name="Line 6"/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>
            <a:off x="6011863" y="3651647"/>
            <a:ext cx="14398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19463" name="Line 7"/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>
            <a:off x="7451725" y="3543300"/>
            <a:ext cx="0" cy="2166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19464" name="Line 8"/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>
            <a:off x="6516688" y="3543300"/>
            <a:ext cx="0" cy="2166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19465" name="Line 9"/>
          <p:cNvSpPr>
            <a:spLocks noChangeShapeType="1"/>
          </p:cNvSpPr>
          <p:nvPr>
            <p:custDataLst>
              <p:tags r:id="rId10"/>
            </p:custDataLst>
          </p:nvPr>
        </p:nvSpPr>
        <p:spPr bwMode="auto">
          <a:xfrm>
            <a:off x="1258888" y="3489722"/>
            <a:ext cx="0" cy="32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19466" name="Line 10"/>
          <p:cNvSpPr>
            <a:spLocks noChangeShapeType="1"/>
          </p:cNvSpPr>
          <p:nvPr>
            <p:custDataLst>
              <p:tags r:id="rId11"/>
            </p:custDataLst>
          </p:nvPr>
        </p:nvSpPr>
        <p:spPr bwMode="auto">
          <a:xfrm>
            <a:off x="2268538" y="3543300"/>
            <a:ext cx="0" cy="2166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19467" name="Line 11"/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>
            <a:off x="3348038" y="3543300"/>
            <a:ext cx="0" cy="2166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19468" name="Line 12"/>
          <p:cNvSpPr>
            <a:spLocks noChangeShapeType="1"/>
          </p:cNvSpPr>
          <p:nvPr>
            <p:custDataLst>
              <p:tags r:id="rId13"/>
            </p:custDataLst>
          </p:nvPr>
        </p:nvSpPr>
        <p:spPr bwMode="auto">
          <a:xfrm>
            <a:off x="4427538" y="3543300"/>
            <a:ext cx="0" cy="2166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19469" name="Text Box 13"/>
          <p:cNvSpPr txBox="1"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1042988" y="3165872"/>
            <a:ext cx="580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latin typeface="Tahoma" pitchFamily="34" charset="0"/>
              </a:rPr>
              <a:t>VAP</a:t>
            </a:r>
          </a:p>
        </p:txBody>
      </p:sp>
      <p:sp>
        <p:nvSpPr>
          <p:cNvPr id="19470" name="Line 14"/>
          <p:cNvSpPr>
            <a:spLocks noChangeShapeType="1"/>
          </p:cNvSpPr>
          <p:nvPr>
            <p:custDataLst>
              <p:tags r:id="rId15"/>
            </p:custDataLst>
          </p:nvPr>
        </p:nvSpPr>
        <p:spPr bwMode="auto">
          <a:xfrm>
            <a:off x="3348038" y="3598069"/>
            <a:ext cx="1079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19471" name="Text Box 15"/>
          <p:cNvSpPr txBox="1"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3851275" y="3327797"/>
            <a:ext cx="26802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latin typeface="Tahoma" pitchFamily="34" charset="0"/>
              </a:rPr>
              <a:t>r</a:t>
            </a:r>
          </a:p>
        </p:txBody>
      </p:sp>
      <p:sp>
        <p:nvSpPr>
          <p:cNvPr id="19473" name="Text Box 17"/>
          <p:cNvSpPr txBox="1"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2103439" y="3770710"/>
            <a:ext cx="32733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latin typeface="Tahoma" pitchFamily="34" charset="0"/>
              </a:rPr>
              <a:t>R</a:t>
            </a:r>
          </a:p>
        </p:txBody>
      </p:sp>
      <p:sp>
        <p:nvSpPr>
          <p:cNvPr id="19474" name="Text Box 18"/>
          <p:cNvSpPr txBox="1"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3203575" y="3813572"/>
            <a:ext cx="32733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latin typeface="Tahoma" pitchFamily="34" charset="0"/>
              </a:rPr>
              <a:t>R</a:t>
            </a:r>
          </a:p>
        </p:txBody>
      </p:sp>
      <p:sp>
        <p:nvSpPr>
          <p:cNvPr id="19475" name="Text Box 19"/>
          <p:cNvSpPr txBox="1"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4284664" y="3813572"/>
            <a:ext cx="32733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latin typeface="Tahoma" pitchFamily="34" charset="0"/>
              </a:rPr>
              <a:t>R</a:t>
            </a:r>
          </a:p>
        </p:txBody>
      </p:sp>
      <p:sp>
        <p:nvSpPr>
          <p:cNvPr id="19476" name="Text Box 20"/>
          <p:cNvSpPr txBox="1"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6372225" y="3813572"/>
            <a:ext cx="32733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latin typeface="Tahoma" pitchFamily="34" charset="0"/>
              </a:rPr>
              <a:t>R</a:t>
            </a:r>
          </a:p>
        </p:txBody>
      </p:sp>
      <p:sp>
        <p:nvSpPr>
          <p:cNvPr id="19477" name="Text Box 21"/>
          <p:cNvSpPr txBox="1"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7308850" y="3813572"/>
            <a:ext cx="32733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latin typeface="Tahoma" pitchFamily="34" charset="0"/>
              </a:rPr>
              <a:t>R</a:t>
            </a:r>
          </a:p>
        </p:txBody>
      </p:sp>
      <p:sp>
        <p:nvSpPr>
          <p:cNvPr id="19478" name="Line 22"/>
          <p:cNvSpPr>
            <a:spLocks noChangeShapeType="1"/>
          </p:cNvSpPr>
          <p:nvPr>
            <p:custDataLst>
              <p:tags r:id="rId22"/>
            </p:custDataLst>
          </p:nvPr>
        </p:nvSpPr>
        <p:spPr bwMode="auto">
          <a:xfrm>
            <a:off x="7451726" y="3651647"/>
            <a:ext cx="5762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19479" name="Line 23"/>
          <p:cNvSpPr>
            <a:spLocks noChangeShapeType="1"/>
          </p:cNvSpPr>
          <p:nvPr>
            <p:custDataLst>
              <p:tags r:id="rId23"/>
            </p:custDataLst>
          </p:nvPr>
        </p:nvSpPr>
        <p:spPr bwMode="auto">
          <a:xfrm>
            <a:off x="5508625" y="3543300"/>
            <a:ext cx="0" cy="2166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19480" name="Text Box 24"/>
          <p:cNvSpPr txBox="1"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5364164" y="3813572"/>
            <a:ext cx="32733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latin typeface="Tahoma" pitchFamily="34" charset="0"/>
              </a:rPr>
              <a:t>R</a:t>
            </a:r>
          </a:p>
        </p:txBody>
      </p:sp>
      <p:sp>
        <p:nvSpPr>
          <p:cNvPr id="25" name="Ellipse 24"/>
          <p:cNvSpPr/>
          <p:nvPr>
            <p:custDataLst>
              <p:tags r:id="rId25"/>
            </p:custDataLst>
          </p:nvPr>
        </p:nvSpPr>
        <p:spPr>
          <a:xfrm>
            <a:off x="1763688" y="3705876"/>
            <a:ext cx="6604786" cy="44145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26" name="Forme libre 25"/>
          <p:cNvSpPr/>
          <p:nvPr>
            <p:custDataLst>
              <p:tags r:id="rId26"/>
            </p:custDataLst>
          </p:nvPr>
        </p:nvSpPr>
        <p:spPr>
          <a:xfrm>
            <a:off x="1285875" y="4029075"/>
            <a:ext cx="990600" cy="248247"/>
          </a:xfrm>
          <a:custGeom>
            <a:avLst/>
            <a:gdLst>
              <a:gd name="connsiteX0" fmla="*/ 990600 w 990600"/>
              <a:gd name="connsiteY0" fmla="*/ 57150 h 344487"/>
              <a:gd name="connsiteX1" fmla="*/ 666750 w 990600"/>
              <a:gd name="connsiteY1" fmla="*/ 295275 h 344487"/>
              <a:gd name="connsiteX2" fmla="*/ 228600 w 990600"/>
              <a:gd name="connsiteY2" fmla="*/ 295275 h 344487"/>
              <a:gd name="connsiteX3" fmla="*/ 0 w 990600"/>
              <a:gd name="connsiteY3" fmla="*/ 0 h 344487"/>
              <a:gd name="connsiteX0" fmla="*/ 990600 w 990600"/>
              <a:gd name="connsiteY0" fmla="*/ 57150 h 330996"/>
              <a:gd name="connsiteX1" fmla="*/ 666750 w 990600"/>
              <a:gd name="connsiteY1" fmla="*/ 295275 h 330996"/>
              <a:gd name="connsiteX2" fmla="*/ 285729 w 990600"/>
              <a:gd name="connsiteY2" fmla="*/ 271478 h 330996"/>
              <a:gd name="connsiteX3" fmla="*/ 0 w 990600"/>
              <a:gd name="connsiteY3" fmla="*/ 0 h 330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90600" h="330996">
                <a:moveTo>
                  <a:pt x="990600" y="57150"/>
                </a:moveTo>
                <a:cubicBezTo>
                  <a:pt x="892175" y="156369"/>
                  <a:pt x="784228" y="259554"/>
                  <a:pt x="666750" y="295275"/>
                </a:cubicBezTo>
                <a:cubicBezTo>
                  <a:pt x="549272" y="330996"/>
                  <a:pt x="396854" y="320690"/>
                  <a:pt x="285729" y="271478"/>
                </a:cubicBezTo>
                <a:cubicBezTo>
                  <a:pt x="174604" y="222266"/>
                  <a:pt x="58737" y="123031"/>
                  <a:pt x="0" y="0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27" name="ZoneTexte 26"/>
          <p:cNvSpPr txBox="1"/>
          <p:nvPr>
            <p:custDataLst>
              <p:tags r:id="rId27"/>
            </p:custDataLst>
          </p:nvPr>
        </p:nvSpPr>
        <p:spPr>
          <a:xfrm>
            <a:off x="214282" y="4339841"/>
            <a:ext cx="70220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>
                <a:solidFill>
                  <a:schemeClr val="accent1"/>
                </a:solidFill>
              </a:rPr>
              <a:t>*Résultat de l’annuité TOUJOURS trouvé </a:t>
            </a:r>
          </a:p>
          <a:p>
            <a:r>
              <a:rPr lang="fr-CA" dirty="0">
                <a:solidFill>
                  <a:schemeClr val="accent1"/>
                </a:solidFill>
              </a:rPr>
              <a:t>une période avant le 1</a:t>
            </a:r>
            <a:r>
              <a:rPr lang="fr-CA" baseline="30000" dirty="0">
                <a:solidFill>
                  <a:schemeClr val="accent1"/>
                </a:solidFill>
              </a:rPr>
              <a:t>er</a:t>
            </a:r>
            <a:r>
              <a:rPr lang="fr-CA" dirty="0">
                <a:solidFill>
                  <a:schemeClr val="accent1"/>
                </a:solidFill>
              </a:rPr>
              <a:t> versement</a:t>
            </a:r>
          </a:p>
        </p:txBody>
      </p:sp>
      <p:sp useBgFill="1">
        <p:nvSpPr>
          <p:cNvPr id="28" name="Ellipse 27"/>
          <p:cNvSpPr/>
          <p:nvPr>
            <p:custDataLst>
              <p:tags r:id="rId28"/>
            </p:custDataLst>
          </p:nvPr>
        </p:nvSpPr>
        <p:spPr>
          <a:xfrm>
            <a:off x="7740352" y="3651870"/>
            <a:ext cx="952666" cy="54006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753212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9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9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19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19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19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19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9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19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19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19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500"/>
                                        <p:tgtEl>
                                          <p:spTgt spid="19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19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0" dur="500"/>
                                        <p:tgtEl>
                                          <p:spTgt spid="19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3" dur="500"/>
                                        <p:tgtEl>
                                          <p:spTgt spid="19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6" dur="500"/>
                                        <p:tgtEl>
                                          <p:spTgt spid="19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9" dur="500"/>
                                        <p:tgtEl>
                                          <p:spTgt spid="19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500"/>
                                        <p:tgtEl>
                                          <p:spTgt spid="19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5" dur="500"/>
                                        <p:tgtEl>
                                          <p:spTgt spid="19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8" dur="500"/>
                                        <p:tgtEl>
                                          <p:spTgt spid="19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1" dur="500"/>
                                        <p:tgtEl>
                                          <p:spTgt spid="19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4" dur="500"/>
                                        <p:tgtEl>
                                          <p:spTgt spid="19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0" grpId="0" animBg="1"/>
      <p:bldP spid="19461" grpId="0" animBg="1"/>
      <p:bldP spid="19462" grpId="0" animBg="1"/>
      <p:bldP spid="19463" grpId="0" animBg="1"/>
      <p:bldP spid="19464" grpId="0" animBg="1"/>
      <p:bldP spid="19465" grpId="0" animBg="1"/>
      <p:bldP spid="19466" grpId="0" animBg="1"/>
      <p:bldP spid="19467" grpId="0" animBg="1"/>
      <p:bldP spid="19468" grpId="0" animBg="1"/>
      <p:bldP spid="19469" grpId="0"/>
      <p:bldP spid="19470" grpId="0" animBg="1"/>
      <p:bldP spid="19471" grpId="0"/>
      <p:bldP spid="19473" grpId="0"/>
      <p:bldP spid="19474" grpId="0"/>
      <p:bldP spid="19475" grpId="0"/>
      <p:bldP spid="19476" grpId="0"/>
      <p:bldP spid="19477" grpId="0"/>
      <p:bldP spid="19478" grpId="0" animBg="1"/>
      <p:bldP spid="19479" grpId="0" animBg="1"/>
      <p:bldP spid="19480" grpId="0"/>
      <p:bldP spid="25" grpId="0" animBg="1"/>
      <p:bldP spid="26" grpId="0" animBg="1"/>
      <p:bldP spid="27" grpId="0"/>
      <p:bldP spid="2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algn="l"/>
            <a:r>
              <a:rPr lang="fr-CA" dirty="0"/>
              <a:t>La perpétuité: exercices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57200" y="1200151"/>
            <a:ext cx="8208000" cy="3394472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fr-CA" sz="1600" dirty="0"/>
              <a:t>Quelle loterie préférez-vous (3%)? </a:t>
            </a:r>
          </a:p>
          <a:p>
            <a:pPr marL="0" indent="0">
              <a:buNone/>
            </a:pPr>
            <a:r>
              <a:rPr lang="fr-CA" sz="1600" dirty="0"/>
              <a:t>	A) 5M $ immédiatement	OU      B) 12 500 $ par mois à l’infini</a:t>
            </a:r>
          </a:p>
        </p:txBody>
      </p:sp>
      <p:cxnSp>
        <p:nvCxnSpPr>
          <p:cNvPr id="6" name="Straight Arrow Connector 22"/>
          <p:cNvCxnSpPr/>
          <p:nvPr>
            <p:custDataLst>
              <p:tags r:id="rId3"/>
            </p:custDataLst>
          </p:nvPr>
        </p:nvCxnSpPr>
        <p:spPr>
          <a:xfrm>
            <a:off x="1043008" y="2196317"/>
            <a:ext cx="7178040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14"/>
          <p:cNvCxnSpPr/>
          <p:nvPr>
            <p:custDataLst>
              <p:tags r:id="rId4"/>
            </p:custDataLst>
          </p:nvPr>
        </p:nvCxnSpPr>
        <p:spPr>
          <a:xfrm rot="5400000" flipH="1" flipV="1">
            <a:off x="1470408" y="2207173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14"/>
          <p:cNvCxnSpPr/>
          <p:nvPr>
            <p:custDataLst>
              <p:tags r:id="rId5"/>
            </p:custDataLst>
          </p:nvPr>
        </p:nvCxnSpPr>
        <p:spPr>
          <a:xfrm rot="5400000" flipH="1" flipV="1">
            <a:off x="2383714" y="2215882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14"/>
          <p:cNvCxnSpPr/>
          <p:nvPr>
            <p:custDataLst>
              <p:tags r:id="rId6"/>
            </p:custDataLst>
          </p:nvPr>
        </p:nvCxnSpPr>
        <p:spPr>
          <a:xfrm rot="5400000" flipH="1" flipV="1">
            <a:off x="3270608" y="2207173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14"/>
          <p:cNvCxnSpPr/>
          <p:nvPr>
            <p:custDataLst>
              <p:tags r:id="rId7"/>
            </p:custDataLst>
          </p:nvPr>
        </p:nvCxnSpPr>
        <p:spPr>
          <a:xfrm rot="5400000" flipH="1" flipV="1">
            <a:off x="4206712" y="2196317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4"/>
          <p:cNvCxnSpPr/>
          <p:nvPr>
            <p:custDataLst>
              <p:tags r:id="rId8"/>
            </p:custDataLst>
          </p:nvPr>
        </p:nvCxnSpPr>
        <p:spPr>
          <a:xfrm rot="5400000" flipH="1" flipV="1">
            <a:off x="5070808" y="2196317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4"/>
          <p:cNvCxnSpPr/>
          <p:nvPr>
            <p:custDataLst>
              <p:tags r:id="rId9"/>
            </p:custDataLst>
          </p:nvPr>
        </p:nvCxnSpPr>
        <p:spPr>
          <a:xfrm rot="5400000" flipH="1" flipV="1">
            <a:off x="6877858" y="2196317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4"/>
          <p:cNvCxnSpPr/>
          <p:nvPr>
            <p:custDataLst>
              <p:tags r:id="rId10"/>
            </p:custDataLst>
          </p:nvPr>
        </p:nvCxnSpPr>
        <p:spPr>
          <a:xfrm rot="5400000" flipH="1" flipV="1">
            <a:off x="5974099" y="2196317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4"/>
          <p:cNvCxnSpPr/>
          <p:nvPr>
            <p:custDataLst>
              <p:tags r:id="rId11"/>
            </p:custDataLst>
          </p:nvPr>
        </p:nvCxnSpPr>
        <p:spPr>
          <a:xfrm rot="5400000" flipH="1" flipV="1">
            <a:off x="7683412" y="2204208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4124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algn="l"/>
            <a:r>
              <a:rPr lang="fr-CA" dirty="0"/>
              <a:t>La perpétuité: exercices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57200" y="1200151"/>
            <a:ext cx="8075240" cy="3394472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fr-CA" sz="1500" dirty="0"/>
              <a:t>Valeur actuelle de paiements de 2 000 $ à toutes les deux semaines à vie (2,6%)?</a:t>
            </a:r>
          </a:p>
        </p:txBody>
      </p:sp>
      <p:cxnSp>
        <p:nvCxnSpPr>
          <p:cNvPr id="6" name="Straight Arrow Connector 22"/>
          <p:cNvCxnSpPr/>
          <p:nvPr>
            <p:custDataLst>
              <p:tags r:id="rId3"/>
            </p:custDataLst>
          </p:nvPr>
        </p:nvCxnSpPr>
        <p:spPr>
          <a:xfrm>
            <a:off x="1043008" y="2196317"/>
            <a:ext cx="7178040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14"/>
          <p:cNvCxnSpPr/>
          <p:nvPr>
            <p:custDataLst>
              <p:tags r:id="rId4"/>
            </p:custDataLst>
          </p:nvPr>
        </p:nvCxnSpPr>
        <p:spPr>
          <a:xfrm rot="5400000" flipH="1" flipV="1">
            <a:off x="1470408" y="2207173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14"/>
          <p:cNvCxnSpPr/>
          <p:nvPr>
            <p:custDataLst>
              <p:tags r:id="rId5"/>
            </p:custDataLst>
          </p:nvPr>
        </p:nvCxnSpPr>
        <p:spPr>
          <a:xfrm rot="5400000" flipH="1" flipV="1">
            <a:off x="2383714" y="2215882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14"/>
          <p:cNvCxnSpPr/>
          <p:nvPr>
            <p:custDataLst>
              <p:tags r:id="rId6"/>
            </p:custDataLst>
          </p:nvPr>
        </p:nvCxnSpPr>
        <p:spPr>
          <a:xfrm rot="5400000" flipH="1" flipV="1">
            <a:off x="3270608" y="2207173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14"/>
          <p:cNvCxnSpPr/>
          <p:nvPr>
            <p:custDataLst>
              <p:tags r:id="rId7"/>
            </p:custDataLst>
          </p:nvPr>
        </p:nvCxnSpPr>
        <p:spPr>
          <a:xfrm rot="5400000" flipH="1" flipV="1">
            <a:off x="4206712" y="2196317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4"/>
          <p:cNvCxnSpPr/>
          <p:nvPr>
            <p:custDataLst>
              <p:tags r:id="rId8"/>
            </p:custDataLst>
          </p:nvPr>
        </p:nvCxnSpPr>
        <p:spPr>
          <a:xfrm rot="5400000" flipH="1" flipV="1">
            <a:off x="5070808" y="2196317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4"/>
          <p:cNvCxnSpPr/>
          <p:nvPr>
            <p:custDataLst>
              <p:tags r:id="rId9"/>
            </p:custDataLst>
          </p:nvPr>
        </p:nvCxnSpPr>
        <p:spPr>
          <a:xfrm rot="5400000" flipH="1" flipV="1">
            <a:off x="6877858" y="2196317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4"/>
          <p:cNvCxnSpPr/>
          <p:nvPr>
            <p:custDataLst>
              <p:tags r:id="rId10"/>
            </p:custDataLst>
          </p:nvPr>
        </p:nvCxnSpPr>
        <p:spPr>
          <a:xfrm rot="5400000" flipH="1" flipV="1">
            <a:off x="5974099" y="2196317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4"/>
          <p:cNvCxnSpPr/>
          <p:nvPr>
            <p:custDataLst>
              <p:tags r:id="rId11"/>
            </p:custDataLst>
          </p:nvPr>
        </p:nvCxnSpPr>
        <p:spPr>
          <a:xfrm rot="5400000" flipH="1" flipV="1">
            <a:off x="7683412" y="2204208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1359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algn="l"/>
            <a:r>
              <a:rPr lang="fr-CA" dirty="0"/>
              <a:t>La perpétuité: exercices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57200" y="1200151"/>
            <a:ext cx="8147248" cy="3394472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fr-CA" sz="1600" dirty="0"/>
              <a:t>Valeur de cette loterie dans 4 semaines?</a:t>
            </a:r>
          </a:p>
        </p:txBody>
      </p:sp>
      <p:cxnSp>
        <p:nvCxnSpPr>
          <p:cNvPr id="6" name="Straight Arrow Connector 22"/>
          <p:cNvCxnSpPr/>
          <p:nvPr>
            <p:custDataLst>
              <p:tags r:id="rId3"/>
            </p:custDataLst>
          </p:nvPr>
        </p:nvCxnSpPr>
        <p:spPr>
          <a:xfrm>
            <a:off x="1043008" y="2196317"/>
            <a:ext cx="7178040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14"/>
          <p:cNvCxnSpPr/>
          <p:nvPr>
            <p:custDataLst>
              <p:tags r:id="rId4"/>
            </p:custDataLst>
          </p:nvPr>
        </p:nvCxnSpPr>
        <p:spPr>
          <a:xfrm rot="5400000" flipH="1" flipV="1">
            <a:off x="1470408" y="2207173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14"/>
          <p:cNvCxnSpPr/>
          <p:nvPr>
            <p:custDataLst>
              <p:tags r:id="rId5"/>
            </p:custDataLst>
          </p:nvPr>
        </p:nvCxnSpPr>
        <p:spPr>
          <a:xfrm rot="5400000" flipH="1" flipV="1">
            <a:off x="2383714" y="2215882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14"/>
          <p:cNvCxnSpPr/>
          <p:nvPr>
            <p:custDataLst>
              <p:tags r:id="rId6"/>
            </p:custDataLst>
          </p:nvPr>
        </p:nvCxnSpPr>
        <p:spPr>
          <a:xfrm rot="5400000" flipH="1" flipV="1">
            <a:off x="3270608" y="2207173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14"/>
          <p:cNvCxnSpPr/>
          <p:nvPr>
            <p:custDataLst>
              <p:tags r:id="rId7"/>
            </p:custDataLst>
          </p:nvPr>
        </p:nvCxnSpPr>
        <p:spPr>
          <a:xfrm rot="5400000" flipH="1" flipV="1">
            <a:off x="4206712" y="2196317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4"/>
          <p:cNvCxnSpPr/>
          <p:nvPr>
            <p:custDataLst>
              <p:tags r:id="rId8"/>
            </p:custDataLst>
          </p:nvPr>
        </p:nvCxnSpPr>
        <p:spPr>
          <a:xfrm rot="5400000" flipH="1" flipV="1">
            <a:off x="5070808" y="2196317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4"/>
          <p:cNvCxnSpPr/>
          <p:nvPr>
            <p:custDataLst>
              <p:tags r:id="rId9"/>
            </p:custDataLst>
          </p:nvPr>
        </p:nvCxnSpPr>
        <p:spPr>
          <a:xfrm rot="5400000" flipH="1" flipV="1">
            <a:off x="6877858" y="2196317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4"/>
          <p:cNvCxnSpPr/>
          <p:nvPr>
            <p:custDataLst>
              <p:tags r:id="rId10"/>
            </p:custDataLst>
          </p:nvPr>
        </p:nvCxnSpPr>
        <p:spPr>
          <a:xfrm rot="5400000" flipH="1" flipV="1">
            <a:off x="5974099" y="2196317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4"/>
          <p:cNvCxnSpPr/>
          <p:nvPr>
            <p:custDataLst>
              <p:tags r:id="rId11"/>
            </p:custDataLst>
          </p:nvPr>
        </p:nvCxnSpPr>
        <p:spPr>
          <a:xfrm rot="5400000" flipH="1" flipV="1">
            <a:off x="7683412" y="2204208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36468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algn="l"/>
            <a:r>
              <a:rPr lang="fr-CA" dirty="0"/>
              <a:t>La perpétuité: exercices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57200" y="1200151"/>
            <a:ext cx="8208000" cy="3394472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4"/>
            </a:pPr>
            <a:r>
              <a:rPr lang="fr-CA" sz="1600" dirty="0"/>
              <a:t>Valeur de cette loterie dans 5 ans?</a:t>
            </a:r>
          </a:p>
        </p:txBody>
      </p:sp>
      <p:cxnSp>
        <p:nvCxnSpPr>
          <p:cNvPr id="6" name="Straight Arrow Connector 22"/>
          <p:cNvCxnSpPr/>
          <p:nvPr>
            <p:custDataLst>
              <p:tags r:id="rId3"/>
            </p:custDataLst>
          </p:nvPr>
        </p:nvCxnSpPr>
        <p:spPr>
          <a:xfrm>
            <a:off x="1043008" y="2196317"/>
            <a:ext cx="7178040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14"/>
          <p:cNvCxnSpPr/>
          <p:nvPr>
            <p:custDataLst>
              <p:tags r:id="rId4"/>
            </p:custDataLst>
          </p:nvPr>
        </p:nvCxnSpPr>
        <p:spPr>
          <a:xfrm rot="5400000" flipH="1" flipV="1">
            <a:off x="1470408" y="2207173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14"/>
          <p:cNvCxnSpPr/>
          <p:nvPr>
            <p:custDataLst>
              <p:tags r:id="rId5"/>
            </p:custDataLst>
          </p:nvPr>
        </p:nvCxnSpPr>
        <p:spPr>
          <a:xfrm rot="5400000" flipH="1" flipV="1">
            <a:off x="2383714" y="2215882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14"/>
          <p:cNvCxnSpPr/>
          <p:nvPr>
            <p:custDataLst>
              <p:tags r:id="rId6"/>
            </p:custDataLst>
          </p:nvPr>
        </p:nvCxnSpPr>
        <p:spPr>
          <a:xfrm rot="5400000" flipH="1" flipV="1">
            <a:off x="3270608" y="2207173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14"/>
          <p:cNvCxnSpPr/>
          <p:nvPr>
            <p:custDataLst>
              <p:tags r:id="rId7"/>
            </p:custDataLst>
          </p:nvPr>
        </p:nvCxnSpPr>
        <p:spPr>
          <a:xfrm rot="5400000" flipH="1" flipV="1">
            <a:off x="4206712" y="2196317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4"/>
          <p:cNvCxnSpPr/>
          <p:nvPr>
            <p:custDataLst>
              <p:tags r:id="rId8"/>
            </p:custDataLst>
          </p:nvPr>
        </p:nvCxnSpPr>
        <p:spPr>
          <a:xfrm rot="5400000" flipH="1" flipV="1">
            <a:off x="5070808" y="2196317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4"/>
          <p:cNvCxnSpPr/>
          <p:nvPr>
            <p:custDataLst>
              <p:tags r:id="rId9"/>
            </p:custDataLst>
          </p:nvPr>
        </p:nvCxnSpPr>
        <p:spPr>
          <a:xfrm rot="5400000" flipH="1" flipV="1">
            <a:off x="6877858" y="2196317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4"/>
          <p:cNvCxnSpPr/>
          <p:nvPr>
            <p:custDataLst>
              <p:tags r:id="rId10"/>
            </p:custDataLst>
          </p:nvPr>
        </p:nvCxnSpPr>
        <p:spPr>
          <a:xfrm rot="5400000" flipH="1" flipV="1">
            <a:off x="5974099" y="2196317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4"/>
          <p:cNvCxnSpPr/>
          <p:nvPr>
            <p:custDataLst>
              <p:tags r:id="rId11"/>
            </p:custDataLst>
          </p:nvPr>
        </p:nvCxnSpPr>
        <p:spPr>
          <a:xfrm rot="5400000" flipH="1" flipV="1">
            <a:off x="7683412" y="2204208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38900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fr-CA" dirty="0"/>
              <a:t>Chapitre 5 &amp; 6: révision des mathématiques financières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fr-CA" dirty="0"/>
              <a:t>L’équivalence de taux</a:t>
            </a:r>
          </a:p>
        </p:txBody>
      </p:sp>
    </p:spTree>
    <p:extLst>
      <p:ext uri="{BB962C8B-B14F-4D97-AF65-F5344CB8AC3E}">
        <p14:creationId xmlns:p14="http://schemas.microsoft.com/office/powerpoint/2010/main" val="7373312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68313" y="123478"/>
            <a:ext cx="8229600" cy="665560"/>
          </a:xfrm>
        </p:spPr>
        <p:txBody>
          <a:bodyPr>
            <a:normAutofit/>
          </a:bodyPr>
          <a:lstStyle/>
          <a:p>
            <a:pPr algn="l"/>
            <a:r>
              <a:rPr lang="fr-CA" dirty="0"/>
              <a:t>L’équivalence de taux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68313" y="681038"/>
            <a:ext cx="8229600" cy="42672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r-CA" sz="2400" dirty="0"/>
          </a:p>
          <a:p>
            <a:pPr marL="0" indent="0" algn="ctr">
              <a:buNone/>
            </a:pPr>
            <a:r>
              <a:rPr lang="fr-CA" sz="3600" u="sng" dirty="0"/>
              <a:t>Principe général</a:t>
            </a:r>
          </a:p>
          <a:p>
            <a:pPr marL="0" indent="0">
              <a:buNone/>
            </a:pPr>
            <a:endParaRPr lang="fr-CA" sz="2400" dirty="0"/>
          </a:p>
          <a:p>
            <a:pPr marL="0" indent="0">
              <a:buNone/>
            </a:pPr>
            <a:endParaRPr lang="fr-CA" sz="2400" dirty="0"/>
          </a:p>
        </p:txBody>
      </p:sp>
      <p:graphicFrame>
        <p:nvGraphicFramePr>
          <p:cNvPr id="23" name="Object 5"/>
          <p:cNvGraphicFramePr>
            <a:graphicFrameLocks noChangeAspect="1"/>
          </p:cNvGraphicFramePr>
          <p:nvPr>
            <p:custDataLst>
              <p:tags r:id="rId4"/>
            </p:custDataLst>
          </p:nvPr>
        </p:nvGraphicFramePr>
        <p:xfrm>
          <a:off x="755576" y="1929209"/>
          <a:ext cx="7394575" cy="1058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2" name="Equation" r:id="rId7" imgW="3276360" imgH="469800" progId="Equation.3">
                  <p:embed/>
                </p:oleObj>
              </mc:Choice>
              <mc:Fallback>
                <p:oleObj name="Equation" r:id="rId7" imgW="3276360" imgH="469800" progId="Equation.3">
                  <p:embed/>
                  <p:pic>
                    <p:nvPicPr>
                      <p:cNvPr id="2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576" y="1929209"/>
                        <a:ext cx="7394575" cy="10588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5"/>
          <p:cNvGraphicFramePr>
            <a:graphicFrameLocks noChangeAspect="1"/>
          </p:cNvGraphicFramePr>
          <p:nvPr>
            <p:custDataLst>
              <p:tags r:id="rId5"/>
            </p:custDataLst>
          </p:nvPr>
        </p:nvGraphicFramePr>
        <p:xfrm>
          <a:off x="2771800" y="3158263"/>
          <a:ext cx="3152775" cy="1058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3" name="Equation" r:id="rId9" imgW="1396800" imgH="469800" progId="Equation.3">
                  <p:embed/>
                </p:oleObj>
              </mc:Choice>
              <mc:Fallback>
                <p:oleObj name="Equation" r:id="rId9" imgW="1396800" imgH="469800" progId="Equation.3">
                  <p:embed/>
                  <p:pic>
                    <p:nvPicPr>
                      <p:cNvPr id="24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800" y="3158263"/>
                        <a:ext cx="3152775" cy="10588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567561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450860" y="133784"/>
            <a:ext cx="8229600" cy="665560"/>
          </a:xfrm>
        </p:spPr>
        <p:txBody>
          <a:bodyPr>
            <a:normAutofit/>
          </a:bodyPr>
          <a:lstStyle/>
          <a:p>
            <a:pPr algn="l"/>
            <a:r>
              <a:rPr lang="fr-CA" dirty="0"/>
              <a:t>L’équivalence de taux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450860" y="852921"/>
            <a:ext cx="8136135" cy="38349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CA" sz="2400" dirty="0"/>
              <a:t>Le </a:t>
            </a:r>
            <a:r>
              <a:rPr lang="fr-CA" sz="2400" u="sng" dirty="0">
                <a:solidFill>
                  <a:schemeClr val="accent1"/>
                </a:solidFill>
              </a:rPr>
              <a:t>taux nominal</a:t>
            </a:r>
            <a:r>
              <a:rPr lang="fr-CA" sz="2400" dirty="0">
                <a:solidFill>
                  <a:schemeClr val="accent1"/>
                </a:solidFill>
              </a:rPr>
              <a:t> </a:t>
            </a:r>
            <a:r>
              <a:rPr lang="fr-CA" sz="1600" dirty="0">
                <a:solidFill>
                  <a:schemeClr val="accent1"/>
                </a:solidFill>
              </a:rPr>
              <a:t>(aussi dans le livre: taux périodique annuel ou taux spécifié) </a:t>
            </a:r>
            <a:br>
              <a:rPr lang="fr-CA" sz="1600" dirty="0">
                <a:solidFill>
                  <a:schemeClr val="tx2"/>
                </a:solidFill>
              </a:rPr>
            </a:br>
            <a:r>
              <a:rPr lang="fr-CA" sz="2400" dirty="0"/>
              <a:t>est un taux dont les taux périodiques ont été additionnés sur une période d’une année :</a:t>
            </a:r>
          </a:p>
          <a:p>
            <a:pPr lvl="1"/>
            <a:r>
              <a:rPr lang="fr-CA" sz="2400" dirty="0"/>
              <a:t>Taux </a:t>
            </a:r>
            <a:r>
              <a:rPr lang="fr-CA" sz="2400" dirty="0">
                <a:solidFill>
                  <a:schemeClr val="accent1"/>
                </a:solidFill>
              </a:rPr>
              <a:t>nominal (« à capitalisation ») semestriel </a:t>
            </a:r>
            <a:r>
              <a:rPr lang="fr-CA" sz="2400" dirty="0"/>
              <a:t>de 12 %</a:t>
            </a:r>
          </a:p>
          <a:p>
            <a:pPr lvl="1"/>
            <a:endParaRPr lang="fr-CA" sz="2400" dirty="0"/>
          </a:p>
          <a:p>
            <a:pPr lvl="1"/>
            <a:endParaRPr lang="fr-CA" sz="2400" dirty="0"/>
          </a:p>
          <a:p>
            <a:pPr lvl="1"/>
            <a:r>
              <a:rPr lang="fr-CA" sz="2400" dirty="0"/>
              <a:t>Taux </a:t>
            </a:r>
            <a:r>
              <a:rPr lang="fr-CA" sz="2400" dirty="0">
                <a:solidFill>
                  <a:schemeClr val="accent1"/>
                </a:solidFill>
              </a:rPr>
              <a:t>nominal (« à capitalisation ») trimestriel </a:t>
            </a:r>
            <a:r>
              <a:rPr lang="fr-CA" sz="2400" dirty="0"/>
              <a:t>de 8 %</a:t>
            </a:r>
          </a:p>
          <a:p>
            <a:pPr>
              <a:buFontTx/>
              <a:buNone/>
            </a:pPr>
            <a:endParaRPr lang="fr-CA" sz="2200" dirty="0"/>
          </a:p>
          <a:p>
            <a:pPr>
              <a:buFontTx/>
              <a:buNone/>
            </a:pPr>
            <a:endParaRPr lang="fr-CA" sz="2200" dirty="0"/>
          </a:p>
        </p:txBody>
      </p:sp>
      <p:grpSp>
        <p:nvGrpSpPr>
          <p:cNvPr id="5" name="Groupe 4"/>
          <p:cNvGrpSpPr/>
          <p:nvPr>
            <p:custDataLst>
              <p:tags r:id="rId3"/>
            </p:custDataLst>
          </p:nvPr>
        </p:nvGrpSpPr>
        <p:grpSpPr>
          <a:xfrm>
            <a:off x="2051051" y="2477372"/>
            <a:ext cx="4826000" cy="477679"/>
            <a:chOff x="2124075" y="1664494"/>
            <a:chExt cx="4826000" cy="477679"/>
          </a:xfrm>
        </p:grpSpPr>
        <p:grpSp>
          <p:nvGrpSpPr>
            <p:cNvPr id="2" name="Groupe 1"/>
            <p:cNvGrpSpPr/>
            <p:nvPr/>
          </p:nvGrpSpPr>
          <p:grpSpPr>
            <a:xfrm>
              <a:off x="2124075" y="1664494"/>
              <a:ext cx="4826000" cy="216694"/>
              <a:chOff x="2124075" y="1599010"/>
              <a:chExt cx="4826000" cy="216694"/>
            </a:xfrm>
          </p:grpSpPr>
          <p:sp>
            <p:nvSpPr>
              <p:cNvPr id="14345" name="Line 9"/>
              <p:cNvSpPr>
                <a:spLocks noChangeShapeType="1"/>
              </p:cNvSpPr>
              <p:nvPr/>
            </p:nvSpPr>
            <p:spPr bwMode="auto">
              <a:xfrm>
                <a:off x="2124075" y="1707356"/>
                <a:ext cx="48260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14346" name="Line 10"/>
              <p:cNvSpPr>
                <a:spLocks noChangeShapeType="1"/>
              </p:cNvSpPr>
              <p:nvPr/>
            </p:nvSpPr>
            <p:spPr bwMode="auto">
              <a:xfrm>
                <a:off x="2124075" y="1599010"/>
                <a:ext cx="0" cy="21669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14347" name="Line 11"/>
              <p:cNvSpPr>
                <a:spLocks noChangeShapeType="1"/>
              </p:cNvSpPr>
              <p:nvPr/>
            </p:nvSpPr>
            <p:spPr bwMode="auto">
              <a:xfrm>
                <a:off x="6950075" y="1599010"/>
                <a:ext cx="0" cy="21669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14348" name="Line 12"/>
              <p:cNvSpPr>
                <a:spLocks noChangeShapeType="1"/>
              </p:cNvSpPr>
              <p:nvPr/>
            </p:nvSpPr>
            <p:spPr bwMode="auto">
              <a:xfrm>
                <a:off x="4500563" y="1599010"/>
                <a:ext cx="0" cy="21669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CA"/>
              </a:p>
            </p:txBody>
          </p:sp>
        </p:grpSp>
        <p:sp>
          <p:nvSpPr>
            <p:cNvPr id="14349" name="Text Box 13"/>
            <p:cNvSpPr txBox="1">
              <a:spLocks noChangeArrowheads="1"/>
            </p:cNvSpPr>
            <p:nvPr/>
          </p:nvSpPr>
          <p:spPr bwMode="auto">
            <a:xfrm>
              <a:off x="2897188" y="1772841"/>
              <a:ext cx="537327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 dirty="0">
                  <a:solidFill>
                    <a:schemeClr val="accent1"/>
                  </a:solidFill>
                  <a:latin typeface="Tahoma" pitchFamily="34" charset="0"/>
                </a:rPr>
                <a:t>6%</a:t>
              </a:r>
            </a:p>
          </p:txBody>
        </p:sp>
        <p:sp>
          <p:nvSpPr>
            <p:cNvPr id="14350" name="Text Box 14"/>
            <p:cNvSpPr txBox="1">
              <a:spLocks noChangeArrowheads="1"/>
            </p:cNvSpPr>
            <p:nvPr/>
          </p:nvSpPr>
          <p:spPr bwMode="auto">
            <a:xfrm>
              <a:off x="5489575" y="1772841"/>
              <a:ext cx="537327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 dirty="0">
                  <a:solidFill>
                    <a:schemeClr val="accent1"/>
                  </a:solidFill>
                  <a:latin typeface="Tahoma" pitchFamily="34" charset="0"/>
                </a:rPr>
                <a:t>6%</a:t>
              </a:r>
            </a:p>
          </p:txBody>
        </p:sp>
      </p:grpSp>
      <p:grpSp>
        <p:nvGrpSpPr>
          <p:cNvPr id="3" name="Groupe 2"/>
          <p:cNvGrpSpPr/>
          <p:nvPr>
            <p:custDataLst>
              <p:tags r:id="rId4"/>
            </p:custDataLst>
          </p:nvPr>
        </p:nvGrpSpPr>
        <p:grpSpPr>
          <a:xfrm>
            <a:off x="2051051" y="3723878"/>
            <a:ext cx="4826000" cy="531257"/>
            <a:chOff x="2124075" y="2355057"/>
            <a:chExt cx="4826000" cy="531257"/>
          </a:xfrm>
        </p:grpSpPr>
        <p:sp>
          <p:nvSpPr>
            <p:cNvPr id="14340" name="Line 4"/>
            <p:cNvSpPr>
              <a:spLocks noChangeShapeType="1"/>
            </p:cNvSpPr>
            <p:nvPr/>
          </p:nvSpPr>
          <p:spPr bwMode="auto">
            <a:xfrm>
              <a:off x="2124075" y="2463404"/>
              <a:ext cx="4826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14341" name="Line 5"/>
            <p:cNvSpPr>
              <a:spLocks noChangeShapeType="1"/>
            </p:cNvSpPr>
            <p:nvPr/>
          </p:nvSpPr>
          <p:spPr bwMode="auto">
            <a:xfrm>
              <a:off x="2124075" y="2355057"/>
              <a:ext cx="0" cy="2166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14342" name="Line 6"/>
            <p:cNvSpPr>
              <a:spLocks noChangeShapeType="1"/>
            </p:cNvSpPr>
            <p:nvPr/>
          </p:nvSpPr>
          <p:spPr bwMode="auto">
            <a:xfrm>
              <a:off x="6950075" y="2355057"/>
              <a:ext cx="0" cy="2166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14343" name="Line 7"/>
            <p:cNvSpPr>
              <a:spLocks noChangeShapeType="1"/>
            </p:cNvSpPr>
            <p:nvPr/>
          </p:nvSpPr>
          <p:spPr bwMode="auto">
            <a:xfrm>
              <a:off x="4500563" y="2355057"/>
              <a:ext cx="0" cy="2166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14344" name="Text Box 8"/>
            <p:cNvSpPr txBox="1">
              <a:spLocks noChangeArrowheads="1"/>
            </p:cNvSpPr>
            <p:nvPr/>
          </p:nvSpPr>
          <p:spPr bwMode="auto">
            <a:xfrm>
              <a:off x="6084888" y="2516982"/>
              <a:ext cx="537327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 dirty="0">
                  <a:solidFill>
                    <a:schemeClr val="accent1"/>
                  </a:solidFill>
                  <a:latin typeface="Tahoma" pitchFamily="34" charset="0"/>
                </a:rPr>
                <a:t>2%</a:t>
              </a:r>
            </a:p>
          </p:txBody>
        </p:sp>
        <p:sp>
          <p:nvSpPr>
            <p:cNvPr id="14351" name="Line 15"/>
            <p:cNvSpPr>
              <a:spLocks noChangeShapeType="1"/>
            </p:cNvSpPr>
            <p:nvPr/>
          </p:nvSpPr>
          <p:spPr bwMode="auto">
            <a:xfrm>
              <a:off x="3276600" y="2355057"/>
              <a:ext cx="0" cy="2166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14352" name="Line 16"/>
            <p:cNvSpPr>
              <a:spLocks noChangeShapeType="1"/>
            </p:cNvSpPr>
            <p:nvPr/>
          </p:nvSpPr>
          <p:spPr bwMode="auto">
            <a:xfrm>
              <a:off x="5724525" y="2355057"/>
              <a:ext cx="0" cy="2166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14353" name="Text Box 17"/>
            <p:cNvSpPr txBox="1">
              <a:spLocks noChangeArrowheads="1"/>
            </p:cNvSpPr>
            <p:nvPr/>
          </p:nvSpPr>
          <p:spPr bwMode="auto">
            <a:xfrm>
              <a:off x="4859338" y="2516982"/>
              <a:ext cx="537327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 dirty="0">
                  <a:solidFill>
                    <a:schemeClr val="accent1"/>
                  </a:solidFill>
                  <a:latin typeface="Tahoma" pitchFamily="34" charset="0"/>
                </a:rPr>
                <a:t>2%</a:t>
              </a:r>
            </a:p>
          </p:txBody>
        </p:sp>
        <p:sp>
          <p:nvSpPr>
            <p:cNvPr id="14354" name="Text Box 18"/>
            <p:cNvSpPr txBox="1">
              <a:spLocks noChangeArrowheads="1"/>
            </p:cNvSpPr>
            <p:nvPr/>
          </p:nvSpPr>
          <p:spPr bwMode="auto">
            <a:xfrm>
              <a:off x="3635375" y="2516982"/>
              <a:ext cx="537327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 dirty="0">
                  <a:solidFill>
                    <a:schemeClr val="accent1"/>
                  </a:solidFill>
                  <a:latin typeface="Tahoma" pitchFamily="34" charset="0"/>
                </a:rPr>
                <a:t>2%</a:t>
              </a:r>
            </a:p>
          </p:txBody>
        </p:sp>
        <p:sp>
          <p:nvSpPr>
            <p:cNvPr id="14355" name="Text Box 19"/>
            <p:cNvSpPr txBox="1">
              <a:spLocks noChangeArrowheads="1"/>
            </p:cNvSpPr>
            <p:nvPr/>
          </p:nvSpPr>
          <p:spPr bwMode="auto">
            <a:xfrm>
              <a:off x="2411413" y="2516982"/>
              <a:ext cx="537327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 dirty="0">
                  <a:solidFill>
                    <a:schemeClr val="accent1"/>
                  </a:solidFill>
                  <a:latin typeface="Tahoma" pitchFamily="34" charset="0"/>
                </a:rPr>
                <a:t>2%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92301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493714" y="165475"/>
            <a:ext cx="8229600" cy="665560"/>
          </a:xfrm>
        </p:spPr>
        <p:txBody>
          <a:bodyPr>
            <a:normAutofit/>
          </a:bodyPr>
          <a:lstStyle/>
          <a:p>
            <a:pPr algn="l"/>
            <a:r>
              <a:rPr lang="fr-CA" dirty="0"/>
              <a:t>L’équivalence de taux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459601" y="773011"/>
            <a:ext cx="8229600" cy="4267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CA" sz="2400" dirty="0"/>
              <a:t>Le </a:t>
            </a:r>
            <a:r>
              <a:rPr lang="fr-CA" sz="2400" u="sng" dirty="0">
                <a:solidFill>
                  <a:schemeClr val="accent1"/>
                </a:solidFill>
              </a:rPr>
              <a:t>taux effectif</a:t>
            </a:r>
            <a:r>
              <a:rPr lang="fr-CA" sz="2400" dirty="0">
                <a:solidFill>
                  <a:schemeClr val="accent1"/>
                </a:solidFill>
              </a:rPr>
              <a:t> </a:t>
            </a:r>
            <a:r>
              <a:rPr lang="fr-CA" sz="2400" dirty="0"/>
              <a:t>est un taux annuel dont les taux périodiques ont été capitalisés à chaque période (sur une année):</a:t>
            </a:r>
          </a:p>
          <a:p>
            <a:pPr lvl="1"/>
            <a:r>
              <a:rPr lang="fr-CA" sz="2000" dirty="0"/>
              <a:t>Le précédent taux de 12 % donne 12,36 % effectif</a:t>
            </a:r>
          </a:p>
          <a:p>
            <a:pPr lvl="1">
              <a:buFontTx/>
              <a:buNone/>
            </a:pPr>
            <a:endParaRPr lang="fr-CA" dirty="0"/>
          </a:p>
          <a:p>
            <a:pPr lvl="1">
              <a:buFontTx/>
              <a:buNone/>
            </a:pPr>
            <a:endParaRPr lang="fr-CA" dirty="0"/>
          </a:p>
          <a:p>
            <a:pPr lvl="1"/>
            <a:endParaRPr lang="fr-CA" sz="2000" dirty="0"/>
          </a:p>
          <a:p>
            <a:pPr lvl="1"/>
            <a:r>
              <a:rPr lang="fr-CA" sz="2000" dirty="0"/>
              <a:t>Le précédent taux de 8 % donne 8,24 % effectif</a:t>
            </a:r>
          </a:p>
          <a:p>
            <a:pPr lvl="1"/>
            <a:endParaRPr lang="fr-CA" sz="2000" dirty="0"/>
          </a:p>
        </p:txBody>
      </p:sp>
      <p:grpSp>
        <p:nvGrpSpPr>
          <p:cNvPr id="8" name="Groupe 7"/>
          <p:cNvGrpSpPr/>
          <p:nvPr>
            <p:custDataLst>
              <p:tags r:id="rId3"/>
            </p:custDataLst>
          </p:nvPr>
        </p:nvGrpSpPr>
        <p:grpSpPr>
          <a:xfrm>
            <a:off x="2087563" y="3867894"/>
            <a:ext cx="4826000" cy="531256"/>
            <a:chOff x="2124075" y="4512648"/>
            <a:chExt cx="4826000" cy="531256"/>
          </a:xfrm>
        </p:grpSpPr>
        <p:grpSp>
          <p:nvGrpSpPr>
            <p:cNvPr id="6" name="Groupe 5"/>
            <p:cNvGrpSpPr/>
            <p:nvPr/>
          </p:nvGrpSpPr>
          <p:grpSpPr>
            <a:xfrm>
              <a:off x="2124075" y="4512648"/>
              <a:ext cx="4826000" cy="531256"/>
              <a:chOff x="2124075" y="4461273"/>
              <a:chExt cx="4826000" cy="531256"/>
            </a:xfrm>
          </p:grpSpPr>
          <p:sp>
            <p:nvSpPr>
              <p:cNvPr id="14365" name="Line 29"/>
              <p:cNvSpPr>
                <a:spLocks noChangeShapeType="1"/>
              </p:cNvSpPr>
              <p:nvPr/>
            </p:nvSpPr>
            <p:spPr bwMode="auto">
              <a:xfrm>
                <a:off x="2124075" y="4569619"/>
                <a:ext cx="48260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14366" name="Line 30"/>
              <p:cNvSpPr>
                <a:spLocks noChangeShapeType="1"/>
              </p:cNvSpPr>
              <p:nvPr/>
            </p:nvSpPr>
            <p:spPr bwMode="auto">
              <a:xfrm>
                <a:off x="2124075" y="4461273"/>
                <a:ext cx="0" cy="21669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14367" name="Line 31"/>
              <p:cNvSpPr>
                <a:spLocks noChangeShapeType="1"/>
              </p:cNvSpPr>
              <p:nvPr/>
            </p:nvSpPr>
            <p:spPr bwMode="auto">
              <a:xfrm>
                <a:off x="6950075" y="4461273"/>
                <a:ext cx="0" cy="21669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14368" name="Line 32"/>
              <p:cNvSpPr>
                <a:spLocks noChangeShapeType="1"/>
              </p:cNvSpPr>
              <p:nvPr/>
            </p:nvSpPr>
            <p:spPr bwMode="auto">
              <a:xfrm>
                <a:off x="4500563" y="4461273"/>
                <a:ext cx="0" cy="21669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14369" name="Text Box 33"/>
              <p:cNvSpPr txBox="1">
                <a:spLocks noChangeArrowheads="1"/>
              </p:cNvSpPr>
              <p:nvPr/>
            </p:nvSpPr>
            <p:spPr bwMode="auto">
              <a:xfrm>
                <a:off x="6084888" y="4623197"/>
                <a:ext cx="537327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fr-CA" dirty="0">
                    <a:solidFill>
                      <a:schemeClr val="accent1"/>
                    </a:solidFill>
                    <a:latin typeface="Tahoma" pitchFamily="34" charset="0"/>
                  </a:rPr>
                  <a:t>2%</a:t>
                </a:r>
              </a:p>
            </p:txBody>
          </p:sp>
          <p:sp>
            <p:nvSpPr>
              <p:cNvPr id="14370" name="Line 34"/>
              <p:cNvSpPr>
                <a:spLocks noChangeShapeType="1"/>
              </p:cNvSpPr>
              <p:nvPr/>
            </p:nvSpPr>
            <p:spPr bwMode="auto">
              <a:xfrm>
                <a:off x="3276600" y="4461273"/>
                <a:ext cx="0" cy="21669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14371" name="Line 35"/>
              <p:cNvSpPr>
                <a:spLocks noChangeShapeType="1"/>
              </p:cNvSpPr>
              <p:nvPr/>
            </p:nvSpPr>
            <p:spPr bwMode="auto">
              <a:xfrm>
                <a:off x="5724525" y="4461273"/>
                <a:ext cx="0" cy="21669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14372" name="Text Box 36"/>
              <p:cNvSpPr txBox="1">
                <a:spLocks noChangeArrowheads="1"/>
              </p:cNvSpPr>
              <p:nvPr/>
            </p:nvSpPr>
            <p:spPr bwMode="auto">
              <a:xfrm>
                <a:off x="4859338" y="4623197"/>
                <a:ext cx="537327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fr-CA" dirty="0">
                    <a:solidFill>
                      <a:schemeClr val="accent1"/>
                    </a:solidFill>
                    <a:latin typeface="Tahoma" pitchFamily="34" charset="0"/>
                  </a:rPr>
                  <a:t>2%</a:t>
                </a:r>
              </a:p>
            </p:txBody>
          </p:sp>
          <p:sp>
            <p:nvSpPr>
              <p:cNvPr id="14373" name="Text Box 37"/>
              <p:cNvSpPr txBox="1">
                <a:spLocks noChangeArrowheads="1"/>
              </p:cNvSpPr>
              <p:nvPr/>
            </p:nvSpPr>
            <p:spPr bwMode="auto">
              <a:xfrm>
                <a:off x="3635375" y="4623197"/>
                <a:ext cx="609462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fr-CA" dirty="0">
                    <a:solidFill>
                      <a:schemeClr val="accent1"/>
                    </a:solidFill>
                    <a:latin typeface="Tahoma" pitchFamily="34" charset="0"/>
                  </a:rPr>
                  <a:t>2 %</a:t>
                </a:r>
              </a:p>
            </p:txBody>
          </p:sp>
          <p:sp>
            <p:nvSpPr>
              <p:cNvPr id="14374" name="Text Box 38"/>
              <p:cNvSpPr txBox="1">
                <a:spLocks noChangeArrowheads="1"/>
              </p:cNvSpPr>
              <p:nvPr/>
            </p:nvSpPr>
            <p:spPr bwMode="auto">
              <a:xfrm>
                <a:off x="2411413" y="4623197"/>
                <a:ext cx="609462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fr-CA" dirty="0">
                    <a:solidFill>
                      <a:schemeClr val="accent1"/>
                    </a:solidFill>
                    <a:latin typeface="Tahoma" pitchFamily="34" charset="0"/>
                  </a:rPr>
                  <a:t>2 %</a:t>
                </a:r>
              </a:p>
            </p:txBody>
          </p:sp>
          <p:sp>
            <p:nvSpPr>
              <p:cNvPr id="14375" name="Line 39"/>
              <p:cNvSpPr>
                <a:spLocks noChangeShapeType="1"/>
              </p:cNvSpPr>
              <p:nvPr/>
            </p:nvSpPr>
            <p:spPr bwMode="auto">
              <a:xfrm>
                <a:off x="2197101" y="4624388"/>
                <a:ext cx="100806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14376" name="Line 40"/>
              <p:cNvSpPr>
                <a:spLocks noChangeShapeType="1"/>
              </p:cNvSpPr>
              <p:nvPr/>
            </p:nvSpPr>
            <p:spPr bwMode="auto">
              <a:xfrm>
                <a:off x="3349625" y="4624388"/>
                <a:ext cx="10795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14377" name="Line 41"/>
              <p:cNvSpPr>
                <a:spLocks noChangeShapeType="1"/>
              </p:cNvSpPr>
              <p:nvPr/>
            </p:nvSpPr>
            <p:spPr bwMode="auto">
              <a:xfrm>
                <a:off x="4573588" y="4624388"/>
                <a:ext cx="10795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14378" name="Line 42"/>
              <p:cNvSpPr>
                <a:spLocks noChangeShapeType="1"/>
              </p:cNvSpPr>
              <p:nvPr/>
            </p:nvSpPr>
            <p:spPr bwMode="auto">
              <a:xfrm>
                <a:off x="5797550" y="4624388"/>
                <a:ext cx="10795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fr-CA"/>
              </a:p>
            </p:txBody>
          </p:sp>
        </p:grpSp>
        <p:sp>
          <p:nvSpPr>
            <p:cNvPr id="14379" name="Text Box 43"/>
            <p:cNvSpPr txBox="1">
              <a:spLocks noChangeArrowheads="1"/>
            </p:cNvSpPr>
            <p:nvPr/>
          </p:nvSpPr>
          <p:spPr bwMode="auto">
            <a:xfrm>
              <a:off x="3060700" y="4624388"/>
              <a:ext cx="461986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 sz="1400" dirty="0">
                  <a:solidFill>
                    <a:schemeClr val="accent1"/>
                  </a:solidFill>
                  <a:latin typeface="Tahoma" pitchFamily="34" charset="0"/>
                </a:rPr>
                <a:t>cap</a:t>
              </a:r>
            </a:p>
          </p:txBody>
        </p:sp>
        <p:sp>
          <p:nvSpPr>
            <p:cNvPr id="14380" name="Text Box 44"/>
            <p:cNvSpPr txBox="1">
              <a:spLocks noChangeArrowheads="1"/>
            </p:cNvSpPr>
            <p:nvPr/>
          </p:nvSpPr>
          <p:spPr bwMode="auto">
            <a:xfrm>
              <a:off x="4284664" y="4624388"/>
              <a:ext cx="461986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 sz="1400" dirty="0">
                  <a:solidFill>
                    <a:schemeClr val="accent1"/>
                  </a:solidFill>
                  <a:latin typeface="Tahoma" pitchFamily="34" charset="0"/>
                </a:rPr>
                <a:t>cap</a:t>
              </a:r>
            </a:p>
          </p:txBody>
        </p:sp>
        <p:sp>
          <p:nvSpPr>
            <p:cNvPr id="14381" name="Text Box 45"/>
            <p:cNvSpPr txBox="1">
              <a:spLocks noChangeArrowheads="1"/>
            </p:cNvSpPr>
            <p:nvPr/>
          </p:nvSpPr>
          <p:spPr bwMode="auto">
            <a:xfrm>
              <a:off x="5508625" y="4624388"/>
              <a:ext cx="461986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 sz="1400" dirty="0">
                  <a:solidFill>
                    <a:schemeClr val="accent1"/>
                  </a:solidFill>
                  <a:latin typeface="Tahoma" pitchFamily="34" charset="0"/>
                </a:rPr>
                <a:t>cap</a:t>
              </a:r>
            </a:p>
          </p:txBody>
        </p:sp>
      </p:grpSp>
      <p:grpSp>
        <p:nvGrpSpPr>
          <p:cNvPr id="7" name="Groupe 6"/>
          <p:cNvGrpSpPr/>
          <p:nvPr>
            <p:custDataLst>
              <p:tags r:id="rId4"/>
            </p:custDataLst>
          </p:nvPr>
        </p:nvGrpSpPr>
        <p:grpSpPr>
          <a:xfrm>
            <a:off x="2087563" y="2363448"/>
            <a:ext cx="4826000" cy="543163"/>
            <a:chOff x="2124075" y="3548765"/>
            <a:chExt cx="4826000" cy="543163"/>
          </a:xfrm>
        </p:grpSpPr>
        <p:sp>
          <p:nvSpPr>
            <p:cNvPr id="14363" name="Line 27"/>
            <p:cNvSpPr>
              <a:spLocks noChangeShapeType="1"/>
            </p:cNvSpPr>
            <p:nvPr/>
          </p:nvSpPr>
          <p:spPr bwMode="auto">
            <a:xfrm>
              <a:off x="4645026" y="3765459"/>
              <a:ext cx="22320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fr-CA"/>
            </a:p>
          </p:txBody>
        </p:sp>
        <p:grpSp>
          <p:nvGrpSpPr>
            <p:cNvPr id="4" name="Groupe 3"/>
            <p:cNvGrpSpPr/>
            <p:nvPr/>
          </p:nvGrpSpPr>
          <p:grpSpPr>
            <a:xfrm>
              <a:off x="2124075" y="3548765"/>
              <a:ext cx="4826000" cy="543163"/>
              <a:chOff x="2124075" y="3759994"/>
              <a:chExt cx="4826000" cy="543163"/>
            </a:xfrm>
          </p:grpSpPr>
          <p:sp>
            <p:nvSpPr>
              <p:cNvPr id="14356" name="Line 20"/>
              <p:cNvSpPr>
                <a:spLocks noChangeShapeType="1"/>
              </p:cNvSpPr>
              <p:nvPr/>
            </p:nvSpPr>
            <p:spPr bwMode="auto">
              <a:xfrm>
                <a:off x="2124075" y="3868341"/>
                <a:ext cx="48260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14357" name="Line 21"/>
              <p:cNvSpPr>
                <a:spLocks noChangeShapeType="1"/>
              </p:cNvSpPr>
              <p:nvPr/>
            </p:nvSpPr>
            <p:spPr bwMode="auto">
              <a:xfrm>
                <a:off x="2124075" y="3759994"/>
                <a:ext cx="0" cy="21669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14358" name="Line 22"/>
              <p:cNvSpPr>
                <a:spLocks noChangeShapeType="1"/>
              </p:cNvSpPr>
              <p:nvPr/>
            </p:nvSpPr>
            <p:spPr bwMode="auto">
              <a:xfrm>
                <a:off x="6950075" y="3759994"/>
                <a:ext cx="0" cy="21669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14359" name="Line 23"/>
              <p:cNvSpPr>
                <a:spLocks noChangeShapeType="1"/>
              </p:cNvSpPr>
              <p:nvPr/>
            </p:nvSpPr>
            <p:spPr bwMode="auto">
              <a:xfrm>
                <a:off x="4500563" y="3759994"/>
                <a:ext cx="0" cy="21669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14360" name="Text Box 24"/>
              <p:cNvSpPr txBox="1">
                <a:spLocks noChangeArrowheads="1"/>
              </p:cNvSpPr>
              <p:nvPr/>
            </p:nvSpPr>
            <p:spPr bwMode="auto">
              <a:xfrm>
                <a:off x="2824163" y="3933825"/>
                <a:ext cx="537327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fr-CA" dirty="0">
                    <a:solidFill>
                      <a:schemeClr val="accent1"/>
                    </a:solidFill>
                    <a:latin typeface="Tahoma" pitchFamily="34" charset="0"/>
                  </a:rPr>
                  <a:t>6%</a:t>
                </a:r>
              </a:p>
            </p:txBody>
          </p:sp>
          <p:sp>
            <p:nvSpPr>
              <p:cNvPr id="14361" name="Text Box 25"/>
              <p:cNvSpPr txBox="1">
                <a:spLocks noChangeArrowheads="1"/>
              </p:cNvSpPr>
              <p:nvPr/>
            </p:nvSpPr>
            <p:spPr bwMode="auto">
              <a:xfrm>
                <a:off x="5416550" y="3933825"/>
                <a:ext cx="537327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fr-CA" dirty="0">
                    <a:solidFill>
                      <a:schemeClr val="accent1"/>
                    </a:solidFill>
                    <a:latin typeface="Tahoma" pitchFamily="34" charset="0"/>
                  </a:rPr>
                  <a:t>6%</a:t>
                </a:r>
              </a:p>
            </p:txBody>
          </p:sp>
          <p:sp>
            <p:nvSpPr>
              <p:cNvPr id="14362" name="Line 26"/>
              <p:cNvSpPr>
                <a:spLocks noChangeShapeType="1"/>
              </p:cNvSpPr>
              <p:nvPr/>
            </p:nvSpPr>
            <p:spPr bwMode="auto">
              <a:xfrm>
                <a:off x="2268538" y="3975497"/>
                <a:ext cx="208915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14364" name="Text Box 28"/>
              <p:cNvSpPr txBox="1">
                <a:spLocks noChangeArrowheads="1"/>
              </p:cNvSpPr>
              <p:nvPr/>
            </p:nvSpPr>
            <p:spPr bwMode="auto">
              <a:xfrm>
                <a:off x="3913694" y="3995380"/>
                <a:ext cx="1214307" cy="3077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fr-CA" sz="1400" dirty="0">
                    <a:solidFill>
                      <a:schemeClr val="accent1"/>
                    </a:solidFill>
                    <a:latin typeface="Tahoma" pitchFamily="34" charset="0"/>
                  </a:rPr>
                  <a:t>capitalisation</a:t>
                </a:r>
              </a:p>
            </p:txBody>
          </p:sp>
        </p:grpSp>
      </p:grpSp>
      <p:sp>
        <p:nvSpPr>
          <p:cNvPr id="34" name="Text Box 44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6678076" y="2574904"/>
            <a:ext cx="46198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 sz="1400" dirty="0">
                <a:solidFill>
                  <a:schemeClr val="accent1"/>
                </a:solidFill>
                <a:latin typeface="Tahoma" pitchFamily="34" charset="0"/>
              </a:rPr>
              <a:t>cap</a:t>
            </a:r>
          </a:p>
        </p:txBody>
      </p:sp>
      <p:sp>
        <p:nvSpPr>
          <p:cNvPr id="35" name="Text Box 44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6709436" y="3975425"/>
            <a:ext cx="46198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 sz="1400" dirty="0">
                <a:solidFill>
                  <a:schemeClr val="accent1"/>
                </a:solidFill>
                <a:latin typeface="Tahoma" pitchFamily="34" charset="0"/>
              </a:rPr>
              <a:t>cap</a:t>
            </a:r>
          </a:p>
        </p:txBody>
      </p:sp>
    </p:spTree>
    <p:extLst>
      <p:ext uri="{BB962C8B-B14F-4D97-AF65-F5344CB8AC3E}">
        <p14:creationId xmlns:p14="http://schemas.microsoft.com/office/powerpoint/2010/main" val="591928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468313" y="141685"/>
            <a:ext cx="8229600" cy="665559"/>
          </a:xfrm>
        </p:spPr>
        <p:txBody>
          <a:bodyPr>
            <a:normAutofit/>
          </a:bodyPr>
          <a:lstStyle/>
          <a:p>
            <a:pPr algn="l"/>
            <a:r>
              <a:rPr lang="fr-CA" dirty="0"/>
              <a:t>L’équivalence de taux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457200" y="1006079"/>
            <a:ext cx="8229600" cy="3221856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fr-CA" sz="1600" dirty="0"/>
              <a:t>Ainsi, à l’aide du </a:t>
            </a:r>
            <a:r>
              <a:rPr lang="fr-CA" sz="1600" dirty="0">
                <a:solidFill>
                  <a:schemeClr val="accent1"/>
                </a:solidFill>
              </a:rPr>
              <a:t>taux effectif </a:t>
            </a:r>
            <a:r>
              <a:rPr lang="fr-CA" sz="1600" dirty="0"/>
              <a:t>on peut trouver tous les taux périodiques nécessaires à nos solutions financières.</a:t>
            </a:r>
          </a:p>
          <a:p>
            <a:pPr marL="357188" indent="-357188">
              <a:lnSpc>
                <a:spcPct val="120000"/>
              </a:lnSpc>
              <a:buNone/>
            </a:pPr>
            <a:r>
              <a:rPr lang="fr-CA" sz="1600" dirty="0"/>
              <a:t>	</a:t>
            </a:r>
            <a:r>
              <a:rPr lang="fr-CA" sz="1400" dirty="0"/>
              <a:t>Notez que le taux doit s’ajuster aux </a:t>
            </a:r>
            <a:r>
              <a:rPr lang="fr-CA" sz="1400" dirty="0">
                <a:solidFill>
                  <a:schemeClr val="accent1"/>
                </a:solidFill>
              </a:rPr>
              <a:t>paiements</a:t>
            </a:r>
            <a:r>
              <a:rPr lang="fr-CA" sz="1400" dirty="0"/>
              <a:t> et non l’inverse.</a:t>
            </a:r>
          </a:p>
          <a:p>
            <a:pPr marL="357188" indent="-357188">
              <a:lnSpc>
                <a:spcPct val="120000"/>
              </a:lnSpc>
              <a:buNone/>
            </a:pPr>
            <a:endParaRPr lang="fr-CA" sz="200" dirty="0"/>
          </a:p>
          <a:p>
            <a:pPr lvl="1">
              <a:lnSpc>
                <a:spcPct val="120000"/>
              </a:lnSpc>
            </a:pPr>
            <a:r>
              <a:rPr lang="fr-CA" sz="1400" dirty="0"/>
              <a:t>Taux nominal semestriel de 12 %. Si nos paiements sont mensuels, on trouve un taux périodique de:</a:t>
            </a:r>
          </a:p>
          <a:p>
            <a:pPr lvl="1" algn="ctr">
              <a:lnSpc>
                <a:spcPct val="120000"/>
              </a:lnSpc>
              <a:buFontTx/>
              <a:buNone/>
            </a:pPr>
            <a:r>
              <a:rPr lang="fr-CA" sz="1400" dirty="0"/>
              <a:t>		</a:t>
            </a:r>
            <a:r>
              <a:rPr lang="fr-CA" sz="1400" dirty="0">
                <a:solidFill>
                  <a:schemeClr val="accent1"/>
                </a:solidFill>
              </a:rPr>
              <a:t>(1 + 0,06)</a:t>
            </a:r>
            <a:r>
              <a:rPr lang="fr-CA" sz="1400" baseline="30000" dirty="0">
                <a:solidFill>
                  <a:schemeClr val="accent1"/>
                </a:solidFill>
              </a:rPr>
              <a:t>2</a:t>
            </a:r>
            <a:r>
              <a:rPr lang="fr-CA" sz="1400" dirty="0">
                <a:solidFill>
                  <a:schemeClr val="accent1"/>
                </a:solidFill>
              </a:rPr>
              <a:t> = (1 + </a:t>
            </a:r>
            <a:r>
              <a:rPr lang="fr-CA" sz="1400" dirty="0" err="1">
                <a:solidFill>
                  <a:schemeClr val="accent1"/>
                </a:solidFill>
              </a:rPr>
              <a:t>r</a:t>
            </a:r>
            <a:r>
              <a:rPr lang="fr-CA" sz="1400" baseline="-25000" dirty="0" err="1">
                <a:solidFill>
                  <a:schemeClr val="accent1"/>
                </a:solidFill>
              </a:rPr>
              <a:t>mens</a:t>
            </a:r>
            <a:r>
              <a:rPr lang="fr-CA" sz="1400" dirty="0">
                <a:solidFill>
                  <a:schemeClr val="accent1"/>
                </a:solidFill>
              </a:rPr>
              <a:t>)</a:t>
            </a:r>
            <a:r>
              <a:rPr lang="fr-CA" sz="1400" baseline="30000" dirty="0">
                <a:solidFill>
                  <a:schemeClr val="accent1"/>
                </a:solidFill>
              </a:rPr>
              <a:t>12 </a:t>
            </a:r>
            <a:r>
              <a:rPr lang="fr-CA" sz="1400" dirty="0">
                <a:solidFill>
                  <a:schemeClr val="accent1"/>
                </a:solidFill>
              </a:rPr>
              <a:t>  </a:t>
            </a:r>
            <a:r>
              <a:rPr lang="en-US" sz="1400" dirty="0">
                <a:solidFill>
                  <a:schemeClr val="accent1"/>
                </a:solidFill>
              </a:rPr>
              <a:t>»    </a:t>
            </a:r>
            <a:r>
              <a:rPr lang="en-US" sz="1400" dirty="0" err="1">
                <a:solidFill>
                  <a:schemeClr val="accent1"/>
                </a:solidFill>
              </a:rPr>
              <a:t>r</a:t>
            </a:r>
            <a:r>
              <a:rPr lang="en-US" sz="1400" baseline="-25000" dirty="0" err="1">
                <a:solidFill>
                  <a:schemeClr val="accent1"/>
                </a:solidFill>
              </a:rPr>
              <a:t>mens</a:t>
            </a:r>
            <a:r>
              <a:rPr lang="en-US" sz="1400" dirty="0">
                <a:solidFill>
                  <a:schemeClr val="accent1"/>
                </a:solidFill>
              </a:rPr>
              <a:t>= 0,9758…%</a:t>
            </a:r>
          </a:p>
          <a:p>
            <a:pPr lvl="1">
              <a:lnSpc>
                <a:spcPct val="120000"/>
              </a:lnSpc>
              <a:buFontTx/>
              <a:buNone/>
            </a:pPr>
            <a:endParaRPr lang="en-US" sz="500" dirty="0"/>
          </a:p>
          <a:p>
            <a:pPr lvl="1">
              <a:lnSpc>
                <a:spcPct val="120000"/>
              </a:lnSpc>
            </a:pPr>
            <a:r>
              <a:rPr lang="fr-CA" sz="1400" dirty="0"/>
              <a:t>Taux nominal trimestriel de 8 %. Si nos paiements sont hebdomadaires, on trouve un taux périodique de:</a:t>
            </a:r>
          </a:p>
          <a:p>
            <a:pPr lvl="1" algn="ctr">
              <a:lnSpc>
                <a:spcPct val="120000"/>
              </a:lnSpc>
              <a:buFontTx/>
              <a:buNone/>
            </a:pPr>
            <a:r>
              <a:rPr lang="fr-CA" sz="1400" dirty="0"/>
              <a:t>		</a:t>
            </a:r>
            <a:r>
              <a:rPr lang="fr-CA" sz="1400" dirty="0">
                <a:solidFill>
                  <a:schemeClr val="accent1"/>
                </a:solidFill>
              </a:rPr>
              <a:t>(1 + 0,02)</a:t>
            </a:r>
            <a:r>
              <a:rPr lang="fr-CA" sz="1400" baseline="30000" dirty="0">
                <a:solidFill>
                  <a:schemeClr val="accent1"/>
                </a:solidFill>
              </a:rPr>
              <a:t>4</a:t>
            </a:r>
            <a:r>
              <a:rPr lang="fr-CA" sz="1400" dirty="0">
                <a:solidFill>
                  <a:schemeClr val="accent1"/>
                </a:solidFill>
              </a:rPr>
              <a:t> = (1 + </a:t>
            </a:r>
            <a:r>
              <a:rPr lang="fr-CA" sz="1400" dirty="0" err="1">
                <a:solidFill>
                  <a:schemeClr val="accent1"/>
                </a:solidFill>
              </a:rPr>
              <a:t>r</a:t>
            </a:r>
            <a:r>
              <a:rPr lang="fr-CA" sz="1400" baseline="-25000" dirty="0" err="1">
                <a:solidFill>
                  <a:schemeClr val="accent1"/>
                </a:solidFill>
              </a:rPr>
              <a:t>hebdo</a:t>
            </a:r>
            <a:r>
              <a:rPr lang="fr-CA" sz="1400" dirty="0">
                <a:solidFill>
                  <a:schemeClr val="accent1"/>
                </a:solidFill>
              </a:rPr>
              <a:t>)</a:t>
            </a:r>
            <a:r>
              <a:rPr lang="fr-CA" sz="1400" baseline="30000" dirty="0">
                <a:solidFill>
                  <a:schemeClr val="accent1"/>
                </a:solidFill>
              </a:rPr>
              <a:t>52 </a:t>
            </a:r>
            <a:r>
              <a:rPr lang="fr-CA" sz="1400" dirty="0">
                <a:solidFill>
                  <a:schemeClr val="accent1"/>
                </a:solidFill>
              </a:rPr>
              <a:t>  </a:t>
            </a:r>
            <a:r>
              <a:rPr lang="en-US" sz="1400" dirty="0">
                <a:solidFill>
                  <a:schemeClr val="accent1"/>
                </a:solidFill>
              </a:rPr>
              <a:t>»    </a:t>
            </a:r>
            <a:r>
              <a:rPr lang="en-US" sz="1400" dirty="0" err="1">
                <a:solidFill>
                  <a:schemeClr val="accent1"/>
                </a:solidFill>
              </a:rPr>
              <a:t>r</a:t>
            </a:r>
            <a:r>
              <a:rPr lang="en-US" sz="1400" baseline="-25000" dirty="0" err="1">
                <a:solidFill>
                  <a:schemeClr val="accent1"/>
                </a:solidFill>
              </a:rPr>
              <a:t>hebdo</a:t>
            </a:r>
            <a:r>
              <a:rPr lang="en-US" sz="1400" dirty="0">
                <a:solidFill>
                  <a:schemeClr val="accent1"/>
                </a:solidFill>
              </a:rPr>
              <a:t>= 0,1524…%</a:t>
            </a:r>
          </a:p>
          <a:p>
            <a:pPr marL="1082675" lvl="1" indent="-717550">
              <a:lnSpc>
                <a:spcPct val="120000"/>
              </a:lnSpc>
              <a:buFontTx/>
              <a:buNone/>
            </a:pPr>
            <a:endParaRPr lang="en-US" sz="1400" dirty="0">
              <a:solidFill>
                <a:schemeClr val="tx2"/>
              </a:solidFill>
            </a:endParaRPr>
          </a:p>
          <a:p>
            <a:pPr marL="1079500" lvl="1" indent="-714375">
              <a:lnSpc>
                <a:spcPct val="120000"/>
              </a:lnSpc>
              <a:buFontTx/>
              <a:buNone/>
            </a:pPr>
            <a:r>
              <a:rPr lang="en-US" sz="1800" dirty="0">
                <a:solidFill>
                  <a:schemeClr val="accent1"/>
                </a:solidFill>
              </a:rPr>
              <a:t>Note:	</a:t>
            </a:r>
            <a:r>
              <a:rPr lang="en-US" sz="1800" dirty="0" err="1">
                <a:solidFill>
                  <a:schemeClr val="accent1"/>
                </a:solidFill>
              </a:rPr>
              <a:t>Vous</a:t>
            </a:r>
            <a:r>
              <a:rPr lang="en-US" sz="1800" dirty="0">
                <a:solidFill>
                  <a:schemeClr val="accent1"/>
                </a:solidFill>
              </a:rPr>
              <a:t> </a:t>
            </a:r>
            <a:r>
              <a:rPr lang="en-US" sz="1800" dirty="0" err="1">
                <a:solidFill>
                  <a:schemeClr val="accent1"/>
                </a:solidFill>
              </a:rPr>
              <a:t>devez</a:t>
            </a:r>
            <a:r>
              <a:rPr lang="en-US" sz="1800" dirty="0">
                <a:solidFill>
                  <a:schemeClr val="accent1"/>
                </a:solidFill>
              </a:rPr>
              <a:t> </a:t>
            </a:r>
            <a:r>
              <a:rPr lang="en-US" sz="1800" dirty="0" err="1">
                <a:solidFill>
                  <a:schemeClr val="accent1"/>
                </a:solidFill>
              </a:rPr>
              <a:t>garder</a:t>
            </a:r>
            <a:r>
              <a:rPr lang="en-US" sz="1800" dirty="0">
                <a:solidFill>
                  <a:schemeClr val="accent1"/>
                </a:solidFill>
              </a:rPr>
              <a:t> le maximum de </a:t>
            </a:r>
            <a:r>
              <a:rPr lang="en-US" sz="1800" dirty="0" err="1">
                <a:solidFill>
                  <a:schemeClr val="accent1"/>
                </a:solidFill>
              </a:rPr>
              <a:t>précision</a:t>
            </a:r>
            <a:r>
              <a:rPr lang="en-US" sz="1800" dirty="0">
                <a:solidFill>
                  <a:schemeClr val="accent1"/>
                </a:solidFill>
              </a:rPr>
              <a:t> </a:t>
            </a:r>
            <a:r>
              <a:rPr lang="en-US" sz="1800" dirty="0" err="1">
                <a:solidFill>
                  <a:schemeClr val="accent1"/>
                </a:solidFill>
              </a:rPr>
              <a:t>dans</a:t>
            </a:r>
            <a:r>
              <a:rPr lang="en-US" sz="1800" dirty="0">
                <a:solidFill>
                  <a:schemeClr val="accent1"/>
                </a:solidFill>
              </a:rPr>
              <a:t> </a:t>
            </a:r>
            <a:r>
              <a:rPr lang="en-US" sz="1800" dirty="0" err="1">
                <a:solidFill>
                  <a:schemeClr val="accent1"/>
                </a:solidFill>
              </a:rPr>
              <a:t>vos</a:t>
            </a:r>
            <a:r>
              <a:rPr lang="en-US" sz="1800" dirty="0">
                <a:solidFill>
                  <a:schemeClr val="accent1"/>
                </a:solidFill>
              </a:rPr>
              <a:t> </a:t>
            </a:r>
            <a:r>
              <a:rPr lang="en-US" sz="1800" dirty="0" err="1">
                <a:solidFill>
                  <a:schemeClr val="accent1"/>
                </a:solidFill>
              </a:rPr>
              <a:t>calculs</a:t>
            </a:r>
            <a:r>
              <a:rPr lang="en-US" sz="1800" dirty="0">
                <a:solidFill>
                  <a:schemeClr val="accent1"/>
                </a:solidFill>
              </a:rPr>
              <a:t> (</a:t>
            </a:r>
            <a:r>
              <a:rPr lang="en-US" sz="1800" dirty="0" err="1">
                <a:solidFill>
                  <a:schemeClr val="accent1"/>
                </a:solidFill>
              </a:rPr>
              <a:t>utilisez</a:t>
            </a:r>
            <a:r>
              <a:rPr lang="en-US" sz="1800" dirty="0">
                <a:solidFill>
                  <a:schemeClr val="accent1"/>
                </a:solidFill>
              </a:rPr>
              <a:t> la </a:t>
            </a:r>
            <a:r>
              <a:rPr lang="en-US" sz="1800" dirty="0" err="1">
                <a:solidFill>
                  <a:schemeClr val="accent1"/>
                </a:solidFill>
              </a:rPr>
              <a:t>mémoire</a:t>
            </a:r>
            <a:r>
              <a:rPr lang="en-US" sz="1800" dirty="0">
                <a:solidFill>
                  <a:schemeClr val="accent1"/>
                </a:solidFill>
              </a:rPr>
              <a:t> de </a:t>
            </a:r>
            <a:r>
              <a:rPr lang="en-US" sz="1800" dirty="0" err="1">
                <a:solidFill>
                  <a:schemeClr val="accent1"/>
                </a:solidFill>
              </a:rPr>
              <a:t>votre</a:t>
            </a:r>
            <a:r>
              <a:rPr lang="en-US" sz="1800" dirty="0">
                <a:solidFill>
                  <a:schemeClr val="accent1"/>
                </a:solidFill>
              </a:rPr>
              <a:t> </a:t>
            </a:r>
            <a:r>
              <a:rPr lang="en-US" sz="1800" dirty="0" err="1">
                <a:solidFill>
                  <a:schemeClr val="accent1"/>
                </a:solidFill>
              </a:rPr>
              <a:t>calculatrice</a:t>
            </a:r>
            <a:r>
              <a:rPr lang="en-US" sz="1800" dirty="0">
                <a:solidFill>
                  <a:schemeClr val="accent1"/>
                </a:solidFill>
              </a:rPr>
              <a:t>)</a:t>
            </a:r>
            <a:endParaRPr lang="fr-CA" sz="18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5331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5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53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468313" y="141685"/>
            <a:ext cx="8229600" cy="665559"/>
          </a:xfrm>
        </p:spPr>
        <p:txBody>
          <a:bodyPr>
            <a:normAutofit/>
          </a:bodyPr>
          <a:lstStyle/>
          <a:p>
            <a:pPr algn="l"/>
            <a:r>
              <a:rPr lang="fr-CA" dirty="0"/>
              <a:t>L’équivalence de taux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457200" y="1006078"/>
            <a:ext cx="8229600" cy="3833813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fr-CA" sz="2800" dirty="0"/>
              <a:t>En somme, la conversion de taux est simplement:</a:t>
            </a:r>
          </a:p>
          <a:p>
            <a:pPr marL="0" indent="0">
              <a:lnSpc>
                <a:spcPct val="120000"/>
              </a:lnSpc>
              <a:buNone/>
            </a:pPr>
            <a:endParaRPr lang="fr-CA" sz="2800" dirty="0"/>
          </a:p>
          <a:p>
            <a:pPr marL="0" indent="0">
              <a:lnSpc>
                <a:spcPct val="120000"/>
              </a:lnSpc>
              <a:buNone/>
            </a:pPr>
            <a:endParaRPr lang="fr-CA" sz="28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fr-CA" sz="2800" dirty="0">
                <a:sym typeface="Symbol" panose="05050102010706020507" pitchFamily="18" charset="2"/>
              </a:rPr>
              <a:t>   </a:t>
            </a:r>
            <a:r>
              <a:rPr lang="fr-CA" sz="2800" dirty="0" err="1">
                <a:solidFill>
                  <a:schemeClr val="accent1"/>
                </a:solidFill>
              </a:rPr>
              <a:t>Tx</a:t>
            </a:r>
            <a:r>
              <a:rPr lang="fr-CA" sz="2800" dirty="0">
                <a:solidFill>
                  <a:schemeClr val="accent1"/>
                </a:solidFill>
              </a:rPr>
              <a:t> effectif = </a:t>
            </a:r>
            <a:r>
              <a:rPr lang="fr-CA" sz="2800" dirty="0" err="1">
                <a:solidFill>
                  <a:schemeClr val="accent1"/>
                </a:solidFill>
              </a:rPr>
              <a:t>Tx</a:t>
            </a:r>
            <a:r>
              <a:rPr lang="fr-CA" sz="2800" dirty="0">
                <a:solidFill>
                  <a:schemeClr val="accent1"/>
                </a:solidFill>
              </a:rPr>
              <a:t> effectif   </a:t>
            </a:r>
            <a:r>
              <a:rPr lang="fr-CA" sz="2800" dirty="0">
                <a:sym typeface="Symbol" panose="05050102010706020507" pitchFamily="18" charset="2"/>
              </a:rPr>
              <a:t></a:t>
            </a:r>
          </a:p>
          <a:p>
            <a:pPr marL="0" indent="0" algn="ctr">
              <a:lnSpc>
                <a:spcPct val="120000"/>
              </a:lnSpc>
              <a:buNone/>
            </a:pPr>
            <a:endParaRPr lang="fr-CA" sz="16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fr-CA" sz="1400" dirty="0"/>
              <a:t>(1 + 0,06)</a:t>
            </a:r>
            <a:r>
              <a:rPr lang="fr-CA" sz="1400" baseline="30000" dirty="0"/>
              <a:t>2</a:t>
            </a:r>
            <a:r>
              <a:rPr lang="fr-CA" sz="1400" dirty="0"/>
              <a:t> = (1 + </a:t>
            </a:r>
            <a:r>
              <a:rPr lang="fr-CA" sz="1400" dirty="0" err="1"/>
              <a:t>r</a:t>
            </a:r>
            <a:r>
              <a:rPr lang="fr-CA" sz="1400" baseline="-25000" dirty="0" err="1"/>
              <a:t>mens</a:t>
            </a:r>
            <a:r>
              <a:rPr lang="fr-CA" sz="1400" dirty="0"/>
              <a:t>)</a:t>
            </a:r>
            <a:r>
              <a:rPr lang="fr-CA" sz="1400" baseline="30000" dirty="0"/>
              <a:t>12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fr-CA" sz="1400" dirty="0"/>
              <a:t>(1 + 0,02)</a:t>
            </a:r>
            <a:r>
              <a:rPr lang="fr-CA" sz="1400" baseline="30000" dirty="0"/>
              <a:t>4</a:t>
            </a:r>
            <a:r>
              <a:rPr lang="fr-CA" sz="1400" dirty="0"/>
              <a:t> = (1 + </a:t>
            </a:r>
            <a:r>
              <a:rPr lang="fr-CA" sz="1400" dirty="0" err="1"/>
              <a:t>r</a:t>
            </a:r>
            <a:r>
              <a:rPr lang="fr-CA" sz="1400" baseline="-25000" dirty="0" err="1"/>
              <a:t>hebdo</a:t>
            </a:r>
            <a:r>
              <a:rPr lang="fr-CA" sz="1400" dirty="0"/>
              <a:t>)</a:t>
            </a:r>
            <a:r>
              <a:rPr lang="fr-CA" sz="1400" baseline="30000" dirty="0"/>
              <a:t>52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fr-CA" sz="1400" baseline="30000" dirty="0"/>
              <a:t>…</a:t>
            </a:r>
          </a:p>
          <a:p>
            <a:pPr marL="0" indent="0" algn="ctr">
              <a:lnSpc>
                <a:spcPct val="120000"/>
              </a:lnSpc>
              <a:buNone/>
            </a:pPr>
            <a:endParaRPr lang="fr-CA" sz="2800" dirty="0"/>
          </a:p>
        </p:txBody>
      </p:sp>
      <p:sp>
        <p:nvSpPr>
          <p:cNvPr id="2" name="ZoneTexte 1"/>
          <p:cNvSpPr txBox="1"/>
          <p:nvPr>
            <p:custDataLst>
              <p:tags r:id="rId3"/>
            </p:custDataLst>
          </p:nvPr>
        </p:nvSpPr>
        <p:spPr>
          <a:xfrm>
            <a:off x="440702" y="2499742"/>
            <a:ext cx="181280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dirty="0">
                <a:solidFill>
                  <a:schemeClr val="accent1"/>
                </a:solidFill>
              </a:rPr>
              <a:t>Taux fourni</a:t>
            </a:r>
          </a:p>
          <a:p>
            <a:r>
              <a:rPr lang="fr-CA" dirty="0">
                <a:solidFill>
                  <a:schemeClr val="accent1"/>
                </a:solidFill>
              </a:rPr>
              <a:t>dans le problème</a:t>
            </a:r>
          </a:p>
          <a:p>
            <a:r>
              <a:rPr lang="fr-CA" sz="1400" dirty="0"/>
              <a:t>(TPA, </a:t>
            </a:r>
            <a:r>
              <a:rPr lang="fr-CA" sz="1400" dirty="0" err="1"/>
              <a:t>Tx</a:t>
            </a:r>
            <a:r>
              <a:rPr lang="fr-CA" sz="1400" dirty="0"/>
              <a:t> nominal,</a:t>
            </a:r>
          </a:p>
          <a:p>
            <a:r>
              <a:rPr lang="fr-CA" sz="1400" dirty="0" err="1"/>
              <a:t>Tx</a:t>
            </a:r>
            <a:r>
              <a:rPr lang="fr-CA" sz="1400" dirty="0"/>
              <a:t> effectif, etc.)</a:t>
            </a:r>
          </a:p>
        </p:txBody>
      </p:sp>
      <p:sp>
        <p:nvSpPr>
          <p:cNvPr id="5" name="ZoneTexte 4"/>
          <p:cNvSpPr txBox="1"/>
          <p:nvPr>
            <p:custDataLst>
              <p:tags r:id="rId4"/>
            </p:custDataLst>
          </p:nvPr>
        </p:nvSpPr>
        <p:spPr>
          <a:xfrm>
            <a:off x="6841623" y="2499742"/>
            <a:ext cx="1702004" cy="1354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dirty="0">
                <a:solidFill>
                  <a:schemeClr val="accent1"/>
                </a:solidFill>
              </a:rPr>
              <a:t>Taux adapté aux</a:t>
            </a:r>
          </a:p>
          <a:p>
            <a:r>
              <a:rPr lang="fr-CA" dirty="0">
                <a:solidFill>
                  <a:schemeClr val="accent1"/>
                </a:solidFill>
              </a:rPr>
              <a:t>périodes de</a:t>
            </a:r>
          </a:p>
          <a:p>
            <a:r>
              <a:rPr lang="fr-CA" dirty="0">
                <a:solidFill>
                  <a:schemeClr val="accent1"/>
                </a:solidFill>
              </a:rPr>
              <a:t>versements</a:t>
            </a:r>
          </a:p>
          <a:p>
            <a:r>
              <a:rPr lang="fr-CA" sz="1400" dirty="0"/>
              <a:t>(hebdo, </a:t>
            </a:r>
            <a:r>
              <a:rPr lang="fr-CA" sz="1400" dirty="0" err="1"/>
              <a:t>trim</a:t>
            </a:r>
            <a:r>
              <a:rPr lang="fr-CA" sz="1400" dirty="0"/>
              <a:t>,</a:t>
            </a:r>
          </a:p>
          <a:p>
            <a:r>
              <a:rPr lang="fr-CA" sz="1400" dirty="0"/>
              <a:t>semestriel, etc.)</a:t>
            </a:r>
          </a:p>
        </p:txBody>
      </p:sp>
    </p:spTree>
    <p:extLst>
      <p:ext uri="{BB962C8B-B14F-4D97-AF65-F5344CB8AC3E}">
        <p14:creationId xmlns:p14="http://schemas.microsoft.com/office/powerpoint/2010/main" val="3234467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algn="l"/>
            <a:r>
              <a:rPr lang="fr-CA" dirty="0"/>
              <a:t>Conversion de taux: exercices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79924" y="1275606"/>
            <a:ext cx="8185276" cy="3240359"/>
          </a:xfrm>
        </p:spPr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fr-CA" sz="2100" dirty="0"/>
              <a:t>2,6 % nominal à cap. hebdomadaire… 		en taux périodique mensuel</a:t>
            </a:r>
          </a:p>
          <a:p>
            <a:pPr marL="514350" indent="-514350">
              <a:buFont typeface="+mj-lt"/>
              <a:buAutoNum type="arabicPeriod"/>
            </a:pPr>
            <a:endParaRPr lang="fr-CA" sz="2100" dirty="0"/>
          </a:p>
          <a:p>
            <a:pPr marL="514350" indent="-514350">
              <a:buFont typeface="+mj-lt"/>
              <a:buAutoNum type="arabicPeriod"/>
            </a:pPr>
            <a:endParaRPr lang="fr-CA" sz="2100" dirty="0"/>
          </a:p>
          <a:p>
            <a:pPr marL="514350" indent="-514350">
              <a:buFont typeface="+mj-lt"/>
              <a:buAutoNum type="arabicPeriod"/>
            </a:pPr>
            <a:r>
              <a:rPr lang="fr-CA" sz="2100" dirty="0"/>
              <a:t>9 %  nominal à cap. semestrielle…		en taux périodique trimestriel</a:t>
            </a:r>
          </a:p>
          <a:p>
            <a:pPr marL="514350" indent="-514350">
              <a:buFont typeface="+mj-lt"/>
              <a:buAutoNum type="arabicPeriod"/>
            </a:pPr>
            <a:endParaRPr lang="fr-CA" sz="2100" dirty="0"/>
          </a:p>
          <a:p>
            <a:pPr marL="514350" indent="-514350">
              <a:buFont typeface="+mj-lt"/>
              <a:buAutoNum type="arabicPeriod"/>
            </a:pPr>
            <a:endParaRPr lang="fr-CA" sz="2100" dirty="0"/>
          </a:p>
          <a:p>
            <a:pPr marL="514350" indent="-514350">
              <a:buFont typeface="+mj-lt"/>
              <a:buAutoNum type="arabicPeriod"/>
            </a:pPr>
            <a:r>
              <a:rPr lang="fr-CA" sz="2100" dirty="0"/>
              <a:t>5,2 % nominal à cap. aux deux semaines… 	en taux périodique semestriel</a:t>
            </a:r>
          </a:p>
          <a:p>
            <a:pPr marL="514350" indent="-514350">
              <a:buFont typeface="+mj-lt"/>
              <a:buAutoNum type="arabicPeriod"/>
            </a:pPr>
            <a:endParaRPr lang="fr-CA" sz="2100" dirty="0"/>
          </a:p>
          <a:p>
            <a:pPr marL="514350" indent="-514350">
              <a:buFont typeface="+mj-lt"/>
              <a:buAutoNum type="arabicPeriod"/>
            </a:pPr>
            <a:endParaRPr lang="fr-CA" sz="2100" dirty="0"/>
          </a:p>
          <a:p>
            <a:pPr marL="514350" indent="-514350">
              <a:buFont typeface="+mj-lt"/>
              <a:buAutoNum type="arabicPeriod"/>
            </a:pPr>
            <a:r>
              <a:rPr lang="fr-CA" sz="2100" dirty="0"/>
              <a:t>7 % nominal à cap. annuelle… 		en taux périodique mensuel</a:t>
            </a:r>
          </a:p>
          <a:p>
            <a:pPr marL="514350" indent="-514350">
              <a:buFont typeface="+mj-lt"/>
              <a:buAutoNum type="arabicPeriod"/>
            </a:pPr>
            <a:endParaRPr lang="fr-CA" sz="2100" dirty="0"/>
          </a:p>
          <a:p>
            <a:pPr marL="514350" indent="-514350">
              <a:buFont typeface="+mj-lt"/>
              <a:buAutoNum type="arabicPeriod"/>
            </a:pPr>
            <a:endParaRPr lang="fr-CA" sz="2100" dirty="0"/>
          </a:p>
          <a:p>
            <a:pPr marL="514350" indent="-514350">
              <a:buFont typeface="+mj-lt"/>
              <a:buAutoNum type="arabicPeriod"/>
              <a:tabLst>
                <a:tab pos="4933950" algn="l"/>
              </a:tabLst>
            </a:pPr>
            <a:r>
              <a:rPr lang="fr-CA" sz="2100" dirty="0"/>
              <a:t>6 % nominal à cap. continue…		 en taux effectif</a:t>
            </a:r>
          </a:p>
          <a:p>
            <a:pPr marL="514350" indent="-514350">
              <a:buFont typeface="+mj-lt"/>
              <a:buAutoNum type="arabicPeriod"/>
            </a:pP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5960860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Les taux d’intérêt</a:t>
            </a:r>
          </a:p>
        </p:txBody>
      </p:sp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  <p:custDataLst>
              <p:tags r:id="rId2"/>
            </p:custDataLst>
          </p:nvPr>
        </p:nvGraphicFramePr>
        <p:xfrm>
          <a:off x="457200" y="3003798"/>
          <a:ext cx="8229600" cy="15904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6" name="Rectangle 3"/>
          <p:cNvSpPr txBox="1">
            <a:spLocks noChangeArrowheads="1"/>
          </p:cNvSpPr>
          <p:nvPr>
            <p:custDataLst>
              <p:tags r:id="rId3"/>
            </p:custDataLst>
          </p:nvPr>
        </p:nvSpPr>
        <p:spPr>
          <a:xfrm>
            <a:off x="479241" y="1213674"/>
            <a:ext cx="8229600" cy="207815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fr-CA" sz="2400" dirty="0"/>
              <a:t>Ordonnez les taux suivants du plus petit au plus grand :</a:t>
            </a:r>
          </a:p>
          <a:p>
            <a:pPr marL="0" indent="0">
              <a:lnSpc>
                <a:spcPct val="90000"/>
              </a:lnSpc>
              <a:buNone/>
            </a:pPr>
            <a:endParaRPr lang="fr-CA" sz="24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fr-CA" sz="2400" dirty="0"/>
              <a:t>Taux effectif de 6%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fr-CA" sz="2400" dirty="0"/>
              <a:t>Taux nominal à capitalisation quotidien de 6 %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fr-CA" sz="2400" dirty="0"/>
              <a:t>Taux nominal à capitalisation semestriel de 6 %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fr-CA" sz="2400" dirty="0"/>
              <a:t>Taux nominal à capitalisation annuel de 6 %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fr-CA" sz="2400" dirty="0">
              <a:solidFill>
                <a:schemeClr val="tx2"/>
              </a:solidFill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fr-CA" sz="2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1934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05979"/>
            <a:ext cx="8229600" cy="600075"/>
          </a:xfrm>
        </p:spPr>
        <p:txBody>
          <a:bodyPr>
            <a:normAutofit/>
          </a:bodyPr>
          <a:lstStyle/>
          <a:p>
            <a:pPr algn="l"/>
            <a:r>
              <a:rPr lang="fr-CA" dirty="0"/>
              <a:t>L’évaluation en finance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sz="half" idx="1"/>
            <p:custDataLst>
              <p:tags r:id="rId3"/>
            </p:custDataLst>
          </p:nvPr>
        </p:nvSpPr>
        <p:spPr>
          <a:xfrm>
            <a:off x="457200" y="1168004"/>
            <a:ext cx="8218488" cy="361830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CA" sz="2400" dirty="0"/>
              <a:t>Le principe de base : la valeur d’un actif financier est déterminée par </a:t>
            </a:r>
            <a:r>
              <a:rPr lang="fr-CA" sz="2400" dirty="0">
                <a:solidFill>
                  <a:schemeClr val="accent1"/>
                </a:solidFill>
              </a:rPr>
              <a:t>les flux monétaires futurs </a:t>
            </a:r>
            <a:r>
              <a:rPr lang="fr-CA" sz="2400" dirty="0"/>
              <a:t>associés à cet actif </a:t>
            </a:r>
            <a:r>
              <a:rPr lang="fr-CA" sz="2400" dirty="0">
                <a:solidFill>
                  <a:schemeClr val="accent1"/>
                </a:solidFill>
              </a:rPr>
              <a:t>actualisés</a:t>
            </a:r>
            <a:r>
              <a:rPr lang="fr-CA" sz="2400" dirty="0">
                <a:solidFill>
                  <a:schemeClr val="tx2"/>
                </a:solidFill>
              </a:rPr>
              <a:t> </a:t>
            </a:r>
            <a:r>
              <a:rPr lang="fr-CA" sz="2400" dirty="0"/>
              <a:t>au taux de rendement exigé.</a:t>
            </a:r>
          </a:p>
          <a:p>
            <a:endParaRPr lang="fr-CA" sz="2400" dirty="0"/>
          </a:p>
          <a:p>
            <a:pPr>
              <a:buFontTx/>
              <a:buNone/>
            </a:pPr>
            <a:endParaRPr lang="fr-CA" sz="2400" dirty="0"/>
          </a:p>
          <a:p>
            <a:pPr>
              <a:buFontTx/>
              <a:buNone/>
            </a:pPr>
            <a:endParaRPr lang="fr-CA" sz="2400" dirty="0"/>
          </a:p>
          <a:p>
            <a:pPr>
              <a:buFontTx/>
              <a:buNone/>
            </a:pPr>
            <a:endParaRPr lang="fr-CA" sz="2400" dirty="0"/>
          </a:p>
          <a:p>
            <a:pPr marL="0" indent="0">
              <a:buNone/>
            </a:pPr>
            <a:r>
              <a:rPr lang="fr-CA" sz="2400" dirty="0"/>
              <a:t>On actualise donc tous ces </a:t>
            </a:r>
            <a:r>
              <a:rPr lang="fr-CA" sz="2400" dirty="0" err="1"/>
              <a:t>FMs</a:t>
            </a:r>
            <a:r>
              <a:rPr lang="fr-CA" sz="2400" dirty="0"/>
              <a:t> futurs à l’aide des trois formules vues précédemment (actualisation d’un montant simple, l’annuité et la perpétuité).</a:t>
            </a:r>
          </a:p>
        </p:txBody>
      </p:sp>
      <p:graphicFrame>
        <p:nvGraphicFramePr>
          <p:cNvPr id="16388" name="Object 4"/>
          <p:cNvGraphicFramePr>
            <a:graphicFrameLocks noGrp="1" noChangeAspect="1"/>
          </p:cNvGraphicFramePr>
          <p:nvPr>
            <p:ph sz="half" idx="2"/>
            <p:custDataLst>
              <p:tags r:id="rId4"/>
            </p:custDataLst>
          </p:nvPr>
        </p:nvGraphicFramePr>
        <p:xfrm>
          <a:off x="2930525" y="2089150"/>
          <a:ext cx="3397250" cy="1203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" name="Equation" r:id="rId6" imgW="1218960" imgH="431640" progId="Equation.3">
                  <p:embed/>
                </p:oleObj>
              </mc:Choice>
              <mc:Fallback>
                <p:oleObj name="Equation" r:id="rId6" imgW="1218960" imgH="431640" progId="Equation.3">
                  <p:embed/>
                  <p:pic>
                    <p:nvPicPr>
                      <p:cNvPr id="1638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0525" y="2089150"/>
                        <a:ext cx="3397250" cy="12033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01939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6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fr-CA" dirty="0"/>
              <a:t>Chapitre 5 &amp; 6: révision des mathématiques financières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fr-CA" dirty="0"/>
              <a:t>Exercices</a:t>
            </a:r>
          </a:p>
        </p:txBody>
      </p:sp>
    </p:spTree>
    <p:extLst>
      <p:ext uri="{BB962C8B-B14F-4D97-AF65-F5344CB8AC3E}">
        <p14:creationId xmlns:p14="http://schemas.microsoft.com/office/powerpoint/2010/main" val="39759677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pPr algn="l"/>
            <a:r>
              <a:rPr lang="fr-CA" dirty="0"/>
              <a:t>Exercice 1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78800" y="1172381"/>
            <a:ext cx="8229600" cy="39648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CA" sz="1800" dirty="0"/>
              <a:t>Votre institution financière vous offre un taux hypothécaire de 5 % nominal à capitalisation semestrielle.</a:t>
            </a:r>
          </a:p>
          <a:p>
            <a:pPr marL="266693" indent="-266693"/>
            <a:r>
              <a:rPr lang="fr-CA" sz="1800" dirty="0"/>
              <a:t>Quel est le taux périodique semestriel?</a:t>
            </a:r>
          </a:p>
          <a:p>
            <a:pPr marL="266693" indent="-266693"/>
            <a:r>
              <a:rPr lang="fr-CA" sz="1800" dirty="0"/>
              <a:t>Quel est le taux effectif équivalent? (5,0625 %)</a:t>
            </a:r>
          </a:p>
          <a:p>
            <a:pPr marL="266693" indent="-266693"/>
            <a:r>
              <a:rPr lang="fr-CA" sz="1800" dirty="0"/>
              <a:t>Quel est le taux périodique mensuel? (0,41239…%)</a:t>
            </a:r>
          </a:p>
          <a:p>
            <a:pPr marL="266693" indent="-266693"/>
            <a:r>
              <a:rPr lang="fr-CA" sz="1800" dirty="0"/>
              <a:t>Quel est le taux nominal à capitalisation mensuel équivalent? (4,9486…%)</a:t>
            </a:r>
          </a:p>
          <a:p>
            <a:pPr marL="266693" indent="-266693"/>
            <a:r>
              <a:rPr lang="fr-CA" sz="1800" dirty="0"/>
              <a:t>Quel sera le montant du prêt si vous projetez faire des paiements de 900 $ à la fin de chaque mois pour les 25 prochaines années? (154 744,20 $)</a:t>
            </a:r>
            <a:endParaRPr lang="fr-CA" sz="1050" dirty="0"/>
          </a:p>
        </p:txBody>
      </p:sp>
    </p:spTree>
    <p:extLst>
      <p:ext uri="{BB962C8B-B14F-4D97-AF65-F5344CB8AC3E}">
        <p14:creationId xmlns:p14="http://schemas.microsoft.com/office/powerpoint/2010/main" val="20392410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pPr algn="l"/>
            <a:r>
              <a:rPr lang="fr-CA" dirty="0"/>
              <a:t>Exercice 2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68681" y="1172381"/>
            <a:ext cx="8435280" cy="396480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CA" sz="1800" dirty="0"/>
              <a:t>Votre tante a deux offres pour la vente de son voilier. Elle fait appel à votre expertise afin d’évaluer les offres.</a:t>
            </a:r>
          </a:p>
          <a:p>
            <a:pPr marL="0" indent="0">
              <a:buNone/>
            </a:pPr>
            <a:r>
              <a:rPr lang="fr-CA" sz="1800" u="sng" dirty="0"/>
              <a:t>Offre 1</a:t>
            </a:r>
            <a:r>
              <a:rPr lang="fr-CA" sz="1800" dirty="0"/>
              <a:t>: un versement immédiat de 10 000 $ et des versements de 500 $ par mois au cours des 4 prochaines années.</a:t>
            </a:r>
          </a:p>
          <a:p>
            <a:pPr marL="0" indent="0">
              <a:buNone/>
            </a:pPr>
            <a:r>
              <a:rPr lang="fr-CA" sz="1800" u="sng" dirty="0"/>
              <a:t>Offre 2</a:t>
            </a:r>
            <a:r>
              <a:rPr lang="fr-CA" sz="1800" dirty="0"/>
              <a:t>: des versements hebdomadaires de 150 $ (débutant immédiatement) pendant 3 ans et un versement de 14 000 $ dans 5 ans.</a:t>
            </a:r>
          </a:p>
          <a:p>
            <a:pPr marL="0" indent="0">
              <a:buNone/>
            </a:pPr>
            <a:endParaRPr lang="fr-CA" sz="1800" dirty="0"/>
          </a:p>
          <a:p>
            <a:pPr marL="174621" indent="-174621"/>
            <a:r>
              <a:rPr lang="fr-CA" sz="1800" dirty="0"/>
              <a:t>Comment votre tante peut-elle comparer les deux offres?</a:t>
            </a:r>
          </a:p>
          <a:p>
            <a:pPr marL="174621" indent="-174621"/>
            <a:endParaRPr lang="fr-CA" sz="1800" dirty="0"/>
          </a:p>
          <a:p>
            <a:pPr marL="174621" indent="-174621"/>
            <a:r>
              <a:rPr lang="fr-CA" sz="1800" dirty="0"/>
              <a:t>Quelle offre est la plus avantageuse (supposez un même risque pour les deux financements, soit un taux effectif de 5 %)? (31 758,98 $ vs</a:t>
            </a:r>
            <a:br>
              <a:rPr lang="fr-CA" sz="1800" dirty="0"/>
            </a:br>
            <a:r>
              <a:rPr lang="fr-CA" sz="1800" dirty="0"/>
              <a:t>32 747,63 $, donc l’offre 2)</a:t>
            </a:r>
          </a:p>
        </p:txBody>
      </p:sp>
    </p:spTree>
    <p:extLst>
      <p:ext uri="{BB962C8B-B14F-4D97-AF65-F5344CB8AC3E}">
        <p14:creationId xmlns:p14="http://schemas.microsoft.com/office/powerpoint/2010/main" val="17517629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pPr algn="l"/>
            <a:r>
              <a:rPr lang="fr-CA" dirty="0"/>
              <a:t>Exercice 2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68681" y="1172381"/>
            <a:ext cx="8435280" cy="396480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CA" sz="1800" u="sng" dirty="0"/>
              <a:t>Offre 1</a:t>
            </a:r>
            <a:r>
              <a:rPr lang="fr-CA" sz="1800" dirty="0"/>
              <a:t>: un versement immédiat de 10 000 $ et des versements de 500 $ par mois au cours des 4 prochaines années.</a:t>
            </a:r>
          </a:p>
          <a:p>
            <a:pPr marL="0" indent="0">
              <a:buNone/>
            </a:pPr>
            <a:endParaRPr lang="fr-CA" sz="1800" dirty="0"/>
          </a:p>
          <a:p>
            <a:pPr marL="0" indent="0">
              <a:buNone/>
            </a:pPr>
            <a:endParaRPr lang="fr-CA" sz="1800" dirty="0"/>
          </a:p>
          <a:p>
            <a:pPr marL="0" indent="0">
              <a:buNone/>
            </a:pPr>
            <a:endParaRPr lang="fr-CA" sz="1800" dirty="0"/>
          </a:p>
          <a:p>
            <a:pPr marL="0" indent="0">
              <a:buNone/>
            </a:pPr>
            <a:endParaRPr lang="fr-CA" sz="1800" dirty="0"/>
          </a:p>
          <a:p>
            <a:pPr marL="0" indent="0">
              <a:buNone/>
            </a:pPr>
            <a:endParaRPr lang="fr-CA" sz="1800" dirty="0"/>
          </a:p>
          <a:p>
            <a:pPr marL="0" indent="0">
              <a:buNone/>
            </a:pPr>
            <a:endParaRPr lang="fr-CA" sz="1800" dirty="0"/>
          </a:p>
          <a:p>
            <a:pPr marL="0" indent="0">
              <a:buNone/>
            </a:pPr>
            <a:endParaRPr lang="fr-CA" sz="1800" dirty="0"/>
          </a:p>
          <a:p>
            <a:pPr marL="174621" indent="-174621"/>
            <a:r>
              <a:rPr lang="fr-CA" sz="1800" dirty="0"/>
              <a:t>Quelle offre est la plus avantageuse (supposez un même risque pour les deux financements, soit un taux effectif de 5 %)? (31 758,98 $ vs</a:t>
            </a:r>
            <a:br>
              <a:rPr lang="fr-CA" sz="1800" dirty="0"/>
            </a:br>
            <a:r>
              <a:rPr lang="fr-CA" sz="1800" dirty="0"/>
              <a:t>32 747,63 $, donc l’offre 2)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755576" y="2139703"/>
            <a:ext cx="7178040" cy="293885"/>
            <a:chOff x="1115616" y="2362582"/>
            <a:chExt cx="7178040" cy="293885"/>
          </a:xfrm>
        </p:grpSpPr>
        <p:cxnSp>
          <p:nvCxnSpPr>
            <p:cNvPr id="7" name="Straight Arrow Connector 22"/>
            <p:cNvCxnSpPr/>
            <p:nvPr>
              <p:custDataLst>
                <p:tags r:id="rId3"/>
              </p:custDataLst>
            </p:nvPr>
          </p:nvCxnSpPr>
          <p:spPr>
            <a:xfrm>
              <a:off x="1115616" y="2499742"/>
              <a:ext cx="7178040" cy="15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14"/>
            <p:cNvCxnSpPr/>
            <p:nvPr>
              <p:custDataLst>
                <p:tags r:id="rId4"/>
              </p:custDataLst>
            </p:nvPr>
          </p:nvCxnSpPr>
          <p:spPr>
            <a:xfrm rot="5400000" flipH="1" flipV="1">
              <a:off x="1543016" y="2510598"/>
              <a:ext cx="2743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14"/>
            <p:cNvCxnSpPr/>
            <p:nvPr>
              <p:custDataLst>
                <p:tags r:id="rId5"/>
              </p:custDataLst>
            </p:nvPr>
          </p:nvCxnSpPr>
          <p:spPr>
            <a:xfrm rot="5400000" flipH="1" flipV="1">
              <a:off x="2456322" y="2519307"/>
              <a:ext cx="2743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14"/>
            <p:cNvCxnSpPr/>
            <p:nvPr>
              <p:custDataLst>
                <p:tags r:id="rId6"/>
              </p:custDataLst>
            </p:nvPr>
          </p:nvCxnSpPr>
          <p:spPr>
            <a:xfrm rot="5400000" flipH="1" flipV="1">
              <a:off x="3343216" y="2510598"/>
              <a:ext cx="2743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4"/>
            <p:cNvCxnSpPr/>
            <p:nvPr>
              <p:custDataLst>
                <p:tags r:id="rId7"/>
              </p:custDataLst>
            </p:nvPr>
          </p:nvCxnSpPr>
          <p:spPr>
            <a:xfrm rot="5400000" flipH="1" flipV="1">
              <a:off x="4279320" y="2499742"/>
              <a:ext cx="2743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4"/>
            <p:cNvCxnSpPr/>
            <p:nvPr>
              <p:custDataLst>
                <p:tags r:id="rId8"/>
              </p:custDataLst>
            </p:nvPr>
          </p:nvCxnSpPr>
          <p:spPr>
            <a:xfrm rot="5400000" flipH="1" flipV="1">
              <a:off x="5143416" y="2499742"/>
              <a:ext cx="2743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4"/>
            <p:cNvCxnSpPr/>
            <p:nvPr>
              <p:custDataLst>
                <p:tags r:id="rId9"/>
              </p:custDataLst>
            </p:nvPr>
          </p:nvCxnSpPr>
          <p:spPr>
            <a:xfrm rot="5400000" flipH="1" flipV="1">
              <a:off x="6950466" y="2499742"/>
              <a:ext cx="2743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4"/>
            <p:cNvCxnSpPr/>
            <p:nvPr>
              <p:custDataLst>
                <p:tags r:id="rId10"/>
              </p:custDataLst>
            </p:nvPr>
          </p:nvCxnSpPr>
          <p:spPr>
            <a:xfrm rot="5400000" flipH="1" flipV="1">
              <a:off x="6046707" y="2499742"/>
              <a:ext cx="2743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>
              <p:custDataLst>
                <p:tags r:id="rId11"/>
              </p:custDataLst>
            </p:nvPr>
          </p:nvCxnSpPr>
          <p:spPr>
            <a:xfrm rot="5400000" flipH="1" flipV="1">
              <a:off x="7756020" y="2507633"/>
              <a:ext cx="2743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740280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pPr algn="l"/>
            <a:r>
              <a:rPr lang="fr-CA" dirty="0"/>
              <a:t>Exercice 2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68681" y="1172381"/>
            <a:ext cx="8435280" cy="396480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CA" sz="1800" u="sng" dirty="0"/>
              <a:t>Offre 2</a:t>
            </a:r>
            <a:r>
              <a:rPr lang="fr-CA" sz="1800" dirty="0"/>
              <a:t>: des versements hebdomadaires de 150 $ (débutant immédiatement) pendant 3 ans et un versement de 14 000 $ dans 5 ans.</a:t>
            </a:r>
          </a:p>
          <a:p>
            <a:pPr marL="0" indent="0">
              <a:buNone/>
            </a:pPr>
            <a:endParaRPr lang="fr-CA" sz="1800" dirty="0"/>
          </a:p>
          <a:p>
            <a:pPr marL="0" indent="0">
              <a:buNone/>
            </a:pPr>
            <a:endParaRPr lang="fr-CA" sz="1800" dirty="0"/>
          </a:p>
          <a:p>
            <a:pPr marL="0" indent="0">
              <a:buNone/>
            </a:pPr>
            <a:endParaRPr lang="fr-CA" sz="1800" dirty="0"/>
          </a:p>
          <a:p>
            <a:pPr marL="0" indent="0">
              <a:buNone/>
            </a:pPr>
            <a:endParaRPr lang="fr-CA" sz="1800" dirty="0"/>
          </a:p>
          <a:p>
            <a:pPr marL="0" indent="0">
              <a:buNone/>
            </a:pPr>
            <a:endParaRPr lang="fr-CA" sz="1800" dirty="0"/>
          </a:p>
          <a:p>
            <a:pPr marL="0" indent="0">
              <a:buNone/>
            </a:pPr>
            <a:endParaRPr lang="fr-CA" sz="1800" dirty="0"/>
          </a:p>
          <a:p>
            <a:pPr marL="0" indent="0">
              <a:buNone/>
            </a:pPr>
            <a:endParaRPr lang="fr-CA" sz="1800" dirty="0"/>
          </a:p>
          <a:p>
            <a:pPr marL="174621" indent="-174621"/>
            <a:r>
              <a:rPr lang="fr-CA" sz="1800" dirty="0"/>
              <a:t>Quelle offre est la plus avantageuse (supposez un même risque pour les deux financements, soit un taux effectif de 5 %)? (31 758,98 $ vs</a:t>
            </a:r>
            <a:br>
              <a:rPr lang="fr-CA" sz="1800" dirty="0"/>
            </a:br>
            <a:r>
              <a:rPr lang="fr-CA" sz="1800" dirty="0"/>
              <a:t>32 747,63 $, donc l’offre 2)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899592" y="2139703"/>
            <a:ext cx="7178040" cy="293885"/>
            <a:chOff x="1115616" y="2362582"/>
            <a:chExt cx="7178040" cy="293885"/>
          </a:xfrm>
        </p:grpSpPr>
        <p:cxnSp>
          <p:nvCxnSpPr>
            <p:cNvPr id="7" name="Straight Arrow Connector 22"/>
            <p:cNvCxnSpPr/>
            <p:nvPr>
              <p:custDataLst>
                <p:tags r:id="rId3"/>
              </p:custDataLst>
            </p:nvPr>
          </p:nvCxnSpPr>
          <p:spPr>
            <a:xfrm>
              <a:off x="1115616" y="2499742"/>
              <a:ext cx="7178040" cy="15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14"/>
            <p:cNvCxnSpPr/>
            <p:nvPr>
              <p:custDataLst>
                <p:tags r:id="rId4"/>
              </p:custDataLst>
            </p:nvPr>
          </p:nvCxnSpPr>
          <p:spPr>
            <a:xfrm rot="5400000" flipH="1" flipV="1">
              <a:off x="1543016" y="2510598"/>
              <a:ext cx="2743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14"/>
            <p:cNvCxnSpPr/>
            <p:nvPr>
              <p:custDataLst>
                <p:tags r:id="rId5"/>
              </p:custDataLst>
            </p:nvPr>
          </p:nvCxnSpPr>
          <p:spPr>
            <a:xfrm rot="5400000" flipH="1" flipV="1">
              <a:off x="2456322" y="2519307"/>
              <a:ext cx="2743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14"/>
            <p:cNvCxnSpPr/>
            <p:nvPr>
              <p:custDataLst>
                <p:tags r:id="rId6"/>
              </p:custDataLst>
            </p:nvPr>
          </p:nvCxnSpPr>
          <p:spPr>
            <a:xfrm rot="5400000" flipH="1" flipV="1">
              <a:off x="3343216" y="2510598"/>
              <a:ext cx="2743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4"/>
            <p:cNvCxnSpPr/>
            <p:nvPr>
              <p:custDataLst>
                <p:tags r:id="rId7"/>
              </p:custDataLst>
            </p:nvPr>
          </p:nvCxnSpPr>
          <p:spPr>
            <a:xfrm rot="5400000" flipH="1" flipV="1">
              <a:off x="4279320" y="2499742"/>
              <a:ext cx="2743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4"/>
            <p:cNvCxnSpPr/>
            <p:nvPr>
              <p:custDataLst>
                <p:tags r:id="rId8"/>
              </p:custDataLst>
            </p:nvPr>
          </p:nvCxnSpPr>
          <p:spPr>
            <a:xfrm rot="5400000" flipH="1" flipV="1">
              <a:off x="5143416" y="2499742"/>
              <a:ext cx="2743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4"/>
            <p:cNvCxnSpPr/>
            <p:nvPr>
              <p:custDataLst>
                <p:tags r:id="rId9"/>
              </p:custDataLst>
            </p:nvPr>
          </p:nvCxnSpPr>
          <p:spPr>
            <a:xfrm rot="5400000" flipH="1" flipV="1">
              <a:off x="6950466" y="2499742"/>
              <a:ext cx="2743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4"/>
            <p:cNvCxnSpPr/>
            <p:nvPr>
              <p:custDataLst>
                <p:tags r:id="rId10"/>
              </p:custDataLst>
            </p:nvPr>
          </p:nvCxnSpPr>
          <p:spPr>
            <a:xfrm rot="5400000" flipH="1" flipV="1">
              <a:off x="6046707" y="2499742"/>
              <a:ext cx="2743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>
              <p:custDataLst>
                <p:tags r:id="rId11"/>
              </p:custDataLst>
            </p:nvPr>
          </p:nvCxnSpPr>
          <p:spPr>
            <a:xfrm rot="5400000" flipH="1" flipV="1">
              <a:off x="7756020" y="2507633"/>
              <a:ext cx="2743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3898326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pPr algn="l"/>
            <a:r>
              <a:rPr lang="fr-CA" dirty="0"/>
              <a:t>Exercice 3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503438" y="1172381"/>
            <a:ext cx="8229600" cy="39648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CA" sz="1800" dirty="0"/>
              <a:t>Vous jouez fréquemment à la loterie gagnant à vie et vous gagnez finalement une présence à la télévision. Lors de celle-ci, on vous offre de prendre l’œuf dans lequel il y a 1,5 million de dollars ou encore la poule qui vous pondra un montant de 1000 $ par semaine à vie débutant dans une semaine.</a:t>
            </a:r>
          </a:p>
          <a:p>
            <a:pPr marL="357179" indent="-357179"/>
            <a:r>
              <a:rPr lang="fr-CA" sz="1800" dirty="0"/>
              <a:t>Quel est le bon choix si vous considérez un taux très peu risqué de 3 % nominal à capitalisation trimestrielle? (la poule = 1 739 325,29 $)</a:t>
            </a:r>
          </a:p>
          <a:p>
            <a:pPr marL="357179" indent="-357179"/>
            <a:endParaRPr lang="fr-CA" sz="1800" dirty="0"/>
          </a:p>
          <a:p>
            <a:pPr marL="357179" indent="-357179"/>
            <a:r>
              <a:rPr lang="fr-CA" sz="1800" dirty="0"/>
              <a:t>On vous apprend en coulisse que la poule a une espérance de vie de </a:t>
            </a:r>
            <a:br>
              <a:rPr lang="fr-CA" sz="1800" dirty="0"/>
            </a:br>
            <a:r>
              <a:rPr lang="fr-CA" sz="1800" dirty="0"/>
              <a:t>25 ans. Quel serait alors votre choix dans ces conditions? </a:t>
            </a:r>
            <a:br>
              <a:rPr lang="fr-CA" sz="1800" dirty="0"/>
            </a:br>
            <a:r>
              <a:rPr lang="fr-CA" sz="1800" dirty="0"/>
              <a:t>(l’œuf: la poule = 915 423,72 $)</a:t>
            </a:r>
          </a:p>
        </p:txBody>
      </p:sp>
    </p:spTree>
    <p:extLst>
      <p:ext uri="{BB962C8B-B14F-4D97-AF65-F5344CB8AC3E}">
        <p14:creationId xmlns:p14="http://schemas.microsoft.com/office/powerpoint/2010/main" val="38446443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pPr algn="l"/>
            <a:r>
              <a:rPr lang="fr-CA" dirty="0"/>
              <a:t>Exercice 3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503438" y="1172381"/>
            <a:ext cx="8229600" cy="39648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CA" sz="1800" dirty="0"/>
              <a:t>Vous jouez fréquemment à la loterie gagnant à vie et vous gagnez finalement une présence à la télévision. Lors de celle-ci, on vous offre de prendre l’œuf dans lequel il y a 1,5 million de dollars ou encore la poule qui vous pondra un montant de 1000 $ par semaine à vie débutant dans une semaine.</a:t>
            </a:r>
          </a:p>
          <a:p>
            <a:pPr marL="357179" indent="-357179"/>
            <a:r>
              <a:rPr lang="fr-CA" sz="1800" dirty="0"/>
              <a:t>Quel est le bon choix si vous considérez un taux très peu risqué de 3 % nominal à capitalisation trimestrielle? (la poule = 1 739 325,29 $)</a:t>
            </a:r>
          </a:p>
          <a:p>
            <a:pPr marL="0" indent="0">
              <a:buNone/>
            </a:pPr>
            <a:endParaRPr lang="fr-CA" sz="1800" dirty="0"/>
          </a:p>
        </p:txBody>
      </p:sp>
      <p:grpSp>
        <p:nvGrpSpPr>
          <p:cNvPr id="4" name="Group 3"/>
          <p:cNvGrpSpPr/>
          <p:nvPr/>
        </p:nvGrpSpPr>
        <p:grpSpPr>
          <a:xfrm>
            <a:off x="982980" y="3154786"/>
            <a:ext cx="7178040" cy="293885"/>
            <a:chOff x="1115616" y="2362582"/>
            <a:chExt cx="7178040" cy="293885"/>
          </a:xfrm>
        </p:grpSpPr>
        <p:cxnSp>
          <p:nvCxnSpPr>
            <p:cNvPr id="7" name="Straight Arrow Connector 22"/>
            <p:cNvCxnSpPr/>
            <p:nvPr>
              <p:custDataLst>
                <p:tags r:id="rId3"/>
              </p:custDataLst>
            </p:nvPr>
          </p:nvCxnSpPr>
          <p:spPr>
            <a:xfrm>
              <a:off x="1115616" y="2499742"/>
              <a:ext cx="7178040" cy="15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14"/>
            <p:cNvCxnSpPr/>
            <p:nvPr>
              <p:custDataLst>
                <p:tags r:id="rId4"/>
              </p:custDataLst>
            </p:nvPr>
          </p:nvCxnSpPr>
          <p:spPr>
            <a:xfrm rot="5400000" flipH="1" flipV="1">
              <a:off x="1543016" y="2510598"/>
              <a:ext cx="2743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14"/>
            <p:cNvCxnSpPr/>
            <p:nvPr>
              <p:custDataLst>
                <p:tags r:id="rId5"/>
              </p:custDataLst>
            </p:nvPr>
          </p:nvCxnSpPr>
          <p:spPr>
            <a:xfrm rot="5400000" flipH="1" flipV="1">
              <a:off x="2456322" y="2519307"/>
              <a:ext cx="2743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14"/>
            <p:cNvCxnSpPr/>
            <p:nvPr>
              <p:custDataLst>
                <p:tags r:id="rId6"/>
              </p:custDataLst>
            </p:nvPr>
          </p:nvCxnSpPr>
          <p:spPr>
            <a:xfrm rot="5400000" flipH="1" flipV="1">
              <a:off x="3343216" y="2510598"/>
              <a:ext cx="2743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4"/>
            <p:cNvCxnSpPr/>
            <p:nvPr>
              <p:custDataLst>
                <p:tags r:id="rId7"/>
              </p:custDataLst>
            </p:nvPr>
          </p:nvCxnSpPr>
          <p:spPr>
            <a:xfrm rot="5400000" flipH="1" flipV="1">
              <a:off x="4279320" y="2499742"/>
              <a:ext cx="2743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4"/>
            <p:cNvCxnSpPr/>
            <p:nvPr>
              <p:custDataLst>
                <p:tags r:id="rId8"/>
              </p:custDataLst>
            </p:nvPr>
          </p:nvCxnSpPr>
          <p:spPr>
            <a:xfrm rot="5400000" flipH="1" flipV="1">
              <a:off x="5143416" y="2499742"/>
              <a:ext cx="2743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4"/>
            <p:cNvCxnSpPr/>
            <p:nvPr>
              <p:custDataLst>
                <p:tags r:id="rId9"/>
              </p:custDataLst>
            </p:nvPr>
          </p:nvCxnSpPr>
          <p:spPr>
            <a:xfrm rot="5400000" flipH="1" flipV="1">
              <a:off x="6950466" y="2499742"/>
              <a:ext cx="2743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4"/>
            <p:cNvCxnSpPr/>
            <p:nvPr>
              <p:custDataLst>
                <p:tags r:id="rId10"/>
              </p:custDataLst>
            </p:nvPr>
          </p:nvCxnSpPr>
          <p:spPr>
            <a:xfrm rot="5400000" flipH="1" flipV="1">
              <a:off x="6046707" y="2499742"/>
              <a:ext cx="2743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>
              <p:custDataLst>
                <p:tags r:id="rId11"/>
              </p:custDataLst>
            </p:nvPr>
          </p:nvCxnSpPr>
          <p:spPr>
            <a:xfrm rot="5400000" flipH="1" flipV="1">
              <a:off x="7756020" y="2507633"/>
              <a:ext cx="2743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6880088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pPr algn="l"/>
            <a:r>
              <a:rPr lang="fr-CA" dirty="0"/>
              <a:t>Exercice 3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503438" y="1172381"/>
            <a:ext cx="8229600" cy="39648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CA" sz="1800" dirty="0"/>
              <a:t>Vous jouez fréquemment à la loterie gagnant à vie et vous gagnez finalement une présence à la télévision. Lors de celle-ci, on vous offre de prendre l’œuf dans lequel il y a 1,5 million de dollars ou encore la poule qui vous pondra un montant de 1000 $ par semaine à vie débutant dans une semaine.</a:t>
            </a:r>
          </a:p>
          <a:p>
            <a:pPr marL="357179" indent="-357179"/>
            <a:r>
              <a:rPr lang="fr-CA" sz="1800" dirty="0"/>
              <a:t>On vous apprend en coulisse que la poule a une espérance de vie de </a:t>
            </a:r>
            <a:br>
              <a:rPr lang="fr-CA" sz="1800" dirty="0"/>
            </a:br>
            <a:r>
              <a:rPr lang="fr-CA" sz="1800" dirty="0"/>
              <a:t>25 ans. Quel serait alors votre choix dans ces conditions? </a:t>
            </a:r>
            <a:br>
              <a:rPr lang="fr-CA" sz="1800" dirty="0"/>
            </a:br>
            <a:r>
              <a:rPr lang="fr-CA" sz="1800" dirty="0"/>
              <a:t>(l’œuf: la poule = 915 423,72 $)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1115616" y="3435847"/>
            <a:ext cx="7178040" cy="293885"/>
            <a:chOff x="1115616" y="2362582"/>
            <a:chExt cx="7178040" cy="293885"/>
          </a:xfrm>
        </p:grpSpPr>
        <p:cxnSp>
          <p:nvCxnSpPr>
            <p:cNvPr id="7" name="Straight Arrow Connector 22"/>
            <p:cNvCxnSpPr/>
            <p:nvPr>
              <p:custDataLst>
                <p:tags r:id="rId3"/>
              </p:custDataLst>
            </p:nvPr>
          </p:nvCxnSpPr>
          <p:spPr>
            <a:xfrm>
              <a:off x="1115616" y="2499742"/>
              <a:ext cx="7178040" cy="15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14"/>
            <p:cNvCxnSpPr/>
            <p:nvPr>
              <p:custDataLst>
                <p:tags r:id="rId4"/>
              </p:custDataLst>
            </p:nvPr>
          </p:nvCxnSpPr>
          <p:spPr>
            <a:xfrm rot="5400000" flipH="1" flipV="1">
              <a:off x="1543016" y="2510598"/>
              <a:ext cx="2743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14"/>
            <p:cNvCxnSpPr/>
            <p:nvPr>
              <p:custDataLst>
                <p:tags r:id="rId5"/>
              </p:custDataLst>
            </p:nvPr>
          </p:nvCxnSpPr>
          <p:spPr>
            <a:xfrm rot="5400000" flipH="1" flipV="1">
              <a:off x="2456322" y="2519307"/>
              <a:ext cx="2743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14"/>
            <p:cNvCxnSpPr/>
            <p:nvPr>
              <p:custDataLst>
                <p:tags r:id="rId6"/>
              </p:custDataLst>
            </p:nvPr>
          </p:nvCxnSpPr>
          <p:spPr>
            <a:xfrm rot="5400000" flipH="1" flipV="1">
              <a:off x="3343216" y="2510598"/>
              <a:ext cx="2743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4"/>
            <p:cNvCxnSpPr/>
            <p:nvPr>
              <p:custDataLst>
                <p:tags r:id="rId7"/>
              </p:custDataLst>
            </p:nvPr>
          </p:nvCxnSpPr>
          <p:spPr>
            <a:xfrm rot="5400000" flipH="1" flipV="1">
              <a:off x="4279320" y="2499742"/>
              <a:ext cx="2743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4"/>
            <p:cNvCxnSpPr/>
            <p:nvPr>
              <p:custDataLst>
                <p:tags r:id="rId8"/>
              </p:custDataLst>
            </p:nvPr>
          </p:nvCxnSpPr>
          <p:spPr>
            <a:xfrm rot="5400000" flipH="1" flipV="1">
              <a:off x="5143416" y="2499742"/>
              <a:ext cx="2743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4"/>
            <p:cNvCxnSpPr/>
            <p:nvPr>
              <p:custDataLst>
                <p:tags r:id="rId9"/>
              </p:custDataLst>
            </p:nvPr>
          </p:nvCxnSpPr>
          <p:spPr>
            <a:xfrm rot="5400000" flipH="1" flipV="1">
              <a:off x="6950466" y="2499742"/>
              <a:ext cx="2743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4"/>
            <p:cNvCxnSpPr/>
            <p:nvPr>
              <p:custDataLst>
                <p:tags r:id="rId10"/>
              </p:custDataLst>
            </p:nvPr>
          </p:nvCxnSpPr>
          <p:spPr>
            <a:xfrm rot="5400000" flipH="1" flipV="1">
              <a:off x="6046707" y="2499742"/>
              <a:ext cx="2743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>
              <p:custDataLst>
                <p:tags r:id="rId11"/>
              </p:custDataLst>
            </p:nvPr>
          </p:nvCxnSpPr>
          <p:spPr>
            <a:xfrm rot="5400000" flipH="1" flipV="1">
              <a:off x="7756020" y="2507633"/>
              <a:ext cx="2743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4237543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pPr algn="l"/>
            <a:r>
              <a:rPr lang="fr-CA" dirty="0"/>
              <a:t>Exercice 4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78800" y="1172381"/>
            <a:ext cx="8229600" cy="39648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CA" sz="2400" dirty="0"/>
              <a:t>Vous projetez faire l’acquisition d’une machine à boule que vous voulez installer au salon L’Oréal. Après avoir étudié le projet, voici les </a:t>
            </a:r>
            <a:r>
              <a:rPr lang="fr-CA" sz="2400" dirty="0" err="1"/>
              <a:t>FMs</a:t>
            </a:r>
            <a:r>
              <a:rPr lang="fr-CA" sz="2400" dirty="0"/>
              <a:t> nets que vous projetez:</a:t>
            </a:r>
          </a:p>
          <a:p>
            <a:pPr marL="0" indent="0">
              <a:buNone/>
            </a:pPr>
            <a:endParaRPr lang="fr-CA" sz="2400" dirty="0"/>
          </a:p>
          <a:p>
            <a:pPr marL="0" indent="0">
              <a:buNone/>
            </a:pPr>
            <a:endParaRPr lang="fr-CA" sz="2400" dirty="0"/>
          </a:p>
          <a:p>
            <a:pPr marL="0" indent="0">
              <a:buNone/>
            </a:pPr>
            <a:r>
              <a:rPr lang="fr-CA" sz="2400" dirty="0"/>
              <a:t>Quel prix êtes-vous prêt à payer pour cette machine si vous évaluez le taux à exiger (risque du projet) à 10 %? (38,09 $)</a:t>
            </a:r>
          </a:p>
        </p:txBody>
      </p:sp>
      <p:grpSp>
        <p:nvGrpSpPr>
          <p:cNvPr id="2" name="Groupe 1"/>
          <p:cNvGrpSpPr/>
          <p:nvPr>
            <p:custDataLst>
              <p:tags r:id="rId3"/>
            </p:custDataLst>
          </p:nvPr>
        </p:nvGrpSpPr>
        <p:grpSpPr>
          <a:xfrm>
            <a:off x="857225" y="2273489"/>
            <a:ext cx="7129463" cy="693182"/>
            <a:chOff x="857224" y="1981197"/>
            <a:chExt cx="7129463" cy="693182"/>
          </a:xfrm>
        </p:grpSpPr>
        <p:sp>
          <p:nvSpPr>
            <p:cNvPr id="4" name="Line 4"/>
            <p:cNvSpPr>
              <a:spLocks noChangeShapeType="1"/>
            </p:cNvSpPr>
            <p:nvPr/>
          </p:nvSpPr>
          <p:spPr bwMode="auto">
            <a:xfrm>
              <a:off x="857225" y="2143122"/>
              <a:ext cx="38179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defTabSz="914378"/>
              <a:endParaRPr lang="fr-CA">
                <a:solidFill>
                  <a:prstClr val="black"/>
                </a:solidFill>
                <a:latin typeface="Arial" panose="020B0604020202020204"/>
              </a:endParaRPr>
            </a:p>
          </p:txBody>
        </p:sp>
        <p:sp>
          <p:nvSpPr>
            <p:cNvPr id="7" name="Line 5"/>
            <p:cNvSpPr>
              <a:spLocks noChangeShapeType="1"/>
            </p:cNvSpPr>
            <p:nvPr/>
          </p:nvSpPr>
          <p:spPr bwMode="auto">
            <a:xfrm>
              <a:off x="4673575" y="2143122"/>
              <a:ext cx="9350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defTabSz="914378"/>
              <a:endParaRPr lang="fr-CA">
                <a:solidFill>
                  <a:prstClr val="black"/>
                </a:solidFill>
                <a:latin typeface="Arial" panose="020B0604020202020204"/>
              </a:endParaRPr>
            </a:p>
          </p:txBody>
        </p:sp>
        <p:sp>
          <p:nvSpPr>
            <p:cNvPr id="8" name="Line 6"/>
            <p:cNvSpPr>
              <a:spLocks noChangeShapeType="1"/>
            </p:cNvSpPr>
            <p:nvPr/>
          </p:nvSpPr>
          <p:spPr bwMode="auto">
            <a:xfrm>
              <a:off x="5610199" y="2143122"/>
              <a:ext cx="14398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defTabSz="914378"/>
              <a:endParaRPr lang="fr-CA">
                <a:solidFill>
                  <a:prstClr val="black"/>
                </a:solidFill>
                <a:latin typeface="Arial" panose="020B0604020202020204"/>
              </a:endParaRPr>
            </a:p>
          </p:txBody>
        </p:sp>
        <p:sp>
          <p:nvSpPr>
            <p:cNvPr id="9" name="Line 7"/>
            <p:cNvSpPr>
              <a:spLocks noChangeShapeType="1"/>
            </p:cNvSpPr>
            <p:nvPr/>
          </p:nvSpPr>
          <p:spPr bwMode="auto">
            <a:xfrm>
              <a:off x="7050061" y="1981197"/>
              <a:ext cx="0" cy="3238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defTabSz="914378"/>
              <a:endParaRPr lang="fr-CA">
                <a:solidFill>
                  <a:prstClr val="black"/>
                </a:solidFill>
                <a:latin typeface="Arial" panose="020B0604020202020204"/>
              </a:endParaRPr>
            </a:p>
          </p:txBody>
        </p:sp>
        <p:sp>
          <p:nvSpPr>
            <p:cNvPr id="10" name="Line 8"/>
            <p:cNvSpPr>
              <a:spLocks noChangeShapeType="1"/>
            </p:cNvSpPr>
            <p:nvPr/>
          </p:nvSpPr>
          <p:spPr bwMode="auto">
            <a:xfrm>
              <a:off x="6115024" y="2034775"/>
              <a:ext cx="0" cy="2166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defTabSz="914378"/>
              <a:endParaRPr lang="fr-CA">
                <a:solidFill>
                  <a:prstClr val="black"/>
                </a:solidFill>
                <a:latin typeface="Arial" panose="020B0604020202020204"/>
              </a:endParaRPr>
            </a:p>
          </p:txBody>
        </p:sp>
        <p:sp>
          <p:nvSpPr>
            <p:cNvPr id="11" name="Line 9"/>
            <p:cNvSpPr>
              <a:spLocks noChangeShapeType="1"/>
            </p:cNvSpPr>
            <p:nvPr/>
          </p:nvSpPr>
          <p:spPr bwMode="auto">
            <a:xfrm>
              <a:off x="857224" y="1981197"/>
              <a:ext cx="0" cy="3238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defTabSz="914378"/>
              <a:endParaRPr lang="fr-CA">
                <a:solidFill>
                  <a:prstClr val="black"/>
                </a:solidFill>
                <a:latin typeface="Arial" panose="020B0604020202020204"/>
              </a:endParaRPr>
            </a:p>
          </p:txBody>
        </p:sp>
        <p:sp>
          <p:nvSpPr>
            <p:cNvPr id="12" name="Line 10"/>
            <p:cNvSpPr>
              <a:spLocks noChangeShapeType="1"/>
            </p:cNvSpPr>
            <p:nvPr/>
          </p:nvSpPr>
          <p:spPr bwMode="auto">
            <a:xfrm>
              <a:off x="1866874" y="2034775"/>
              <a:ext cx="0" cy="2166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defTabSz="914378"/>
              <a:endParaRPr lang="fr-CA">
                <a:solidFill>
                  <a:prstClr val="black"/>
                </a:solidFill>
                <a:latin typeface="Arial" panose="020B0604020202020204"/>
              </a:endParaRPr>
            </a:p>
          </p:txBody>
        </p:sp>
        <p:sp>
          <p:nvSpPr>
            <p:cNvPr id="13" name="Line 11"/>
            <p:cNvSpPr>
              <a:spLocks noChangeShapeType="1"/>
            </p:cNvSpPr>
            <p:nvPr/>
          </p:nvSpPr>
          <p:spPr bwMode="auto">
            <a:xfrm>
              <a:off x="2946374" y="2034775"/>
              <a:ext cx="0" cy="2166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defTabSz="914378"/>
              <a:endParaRPr lang="fr-CA">
                <a:solidFill>
                  <a:prstClr val="black"/>
                </a:solidFill>
                <a:latin typeface="Arial" panose="020B0604020202020204"/>
              </a:endParaRPr>
            </a:p>
          </p:txBody>
        </p:sp>
        <p:sp>
          <p:nvSpPr>
            <p:cNvPr id="14" name="Line 12"/>
            <p:cNvSpPr>
              <a:spLocks noChangeShapeType="1"/>
            </p:cNvSpPr>
            <p:nvPr/>
          </p:nvSpPr>
          <p:spPr bwMode="auto">
            <a:xfrm>
              <a:off x="4025874" y="2034775"/>
              <a:ext cx="0" cy="2166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defTabSz="914378"/>
              <a:endParaRPr lang="fr-CA">
                <a:solidFill>
                  <a:prstClr val="black"/>
                </a:solidFill>
                <a:latin typeface="Arial" panose="020B0604020202020204"/>
              </a:endParaRPr>
            </a:p>
          </p:txBody>
        </p:sp>
        <p:sp>
          <p:nvSpPr>
            <p:cNvPr id="15" name="Text Box 13"/>
            <p:cNvSpPr txBox="1">
              <a:spLocks noChangeArrowheads="1"/>
            </p:cNvSpPr>
            <p:nvPr/>
          </p:nvSpPr>
          <p:spPr bwMode="auto">
            <a:xfrm>
              <a:off x="2801911" y="2305047"/>
              <a:ext cx="43794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defTabSz="914378"/>
              <a:r>
                <a:rPr lang="fr-CA" dirty="0">
                  <a:solidFill>
                    <a:prstClr val="black"/>
                  </a:solidFill>
                  <a:latin typeface="Tahoma" pitchFamily="34" charset="0"/>
                </a:rPr>
                <a:t>10</a:t>
              </a:r>
            </a:p>
          </p:txBody>
        </p:sp>
        <p:sp>
          <p:nvSpPr>
            <p:cNvPr id="16" name="Text Box 14"/>
            <p:cNvSpPr txBox="1">
              <a:spLocks noChangeArrowheads="1"/>
            </p:cNvSpPr>
            <p:nvPr/>
          </p:nvSpPr>
          <p:spPr bwMode="auto">
            <a:xfrm>
              <a:off x="3882999" y="2305047"/>
              <a:ext cx="43794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defTabSz="914378"/>
              <a:r>
                <a:rPr lang="fr-CA" dirty="0">
                  <a:solidFill>
                    <a:prstClr val="black"/>
                  </a:solidFill>
                  <a:latin typeface="Tahoma" pitchFamily="34" charset="0"/>
                </a:rPr>
                <a:t>10</a:t>
              </a:r>
            </a:p>
          </p:txBody>
        </p:sp>
        <p:sp>
          <p:nvSpPr>
            <p:cNvPr id="17" name="Text Box 15"/>
            <p:cNvSpPr txBox="1">
              <a:spLocks noChangeArrowheads="1"/>
            </p:cNvSpPr>
            <p:nvPr/>
          </p:nvSpPr>
          <p:spPr bwMode="auto">
            <a:xfrm>
              <a:off x="5970561" y="2305047"/>
              <a:ext cx="311304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defTabSz="914378"/>
              <a:r>
                <a:rPr lang="fr-CA" dirty="0">
                  <a:solidFill>
                    <a:prstClr val="black"/>
                  </a:solidFill>
                  <a:latin typeface="Tahoma" pitchFamily="34" charset="0"/>
                </a:rPr>
                <a:t>2</a:t>
              </a:r>
            </a:p>
          </p:txBody>
        </p:sp>
        <p:sp>
          <p:nvSpPr>
            <p:cNvPr id="18" name="Text Box 16"/>
            <p:cNvSpPr txBox="1">
              <a:spLocks noChangeArrowheads="1"/>
            </p:cNvSpPr>
            <p:nvPr/>
          </p:nvSpPr>
          <p:spPr bwMode="auto">
            <a:xfrm>
              <a:off x="6907186" y="2305047"/>
              <a:ext cx="1079142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defTabSz="914378"/>
              <a:r>
                <a:rPr lang="fr-CA" dirty="0">
                  <a:solidFill>
                    <a:prstClr val="black"/>
                  </a:solidFill>
                  <a:latin typeface="Tahoma" pitchFamily="34" charset="0"/>
                </a:rPr>
                <a:t>2 … </a:t>
              </a:r>
              <a:r>
                <a:rPr lang="fr-CA" sz="1000" dirty="0">
                  <a:solidFill>
                    <a:prstClr val="black"/>
                  </a:solidFill>
                  <a:latin typeface="Tahoma" pitchFamily="34" charset="0"/>
                </a:rPr>
                <a:t>à l’infini</a:t>
              </a:r>
            </a:p>
          </p:txBody>
        </p:sp>
        <p:sp>
          <p:nvSpPr>
            <p:cNvPr id="19" name="Line 17"/>
            <p:cNvSpPr>
              <a:spLocks noChangeShapeType="1"/>
            </p:cNvSpPr>
            <p:nvPr/>
          </p:nvSpPr>
          <p:spPr bwMode="auto">
            <a:xfrm>
              <a:off x="5106961" y="2034775"/>
              <a:ext cx="0" cy="2155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defTabSz="914378"/>
              <a:endParaRPr lang="fr-CA">
                <a:solidFill>
                  <a:prstClr val="black"/>
                </a:solidFill>
                <a:latin typeface="Arial" panose="020B0604020202020204"/>
              </a:endParaRPr>
            </a:p>
          </p:txBody>
        </p:sp>
        <p:sp>
          <p:nvSpPr>
            <p:cNvPr id="20" name="Text Box 18"/>
            <p:cNvSpPr txBox="1">
              <a:spLocks noChangeArrowheads="1"/>
            </p:cNvSpPr>
            <p:nvPr/>
          </p:nvSpPr>
          <p:spPr bwMode="auto">
            <a:xfrm>
              <a:off x="4962499" y="2305047"/>
              <a:ext cx="43794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defTabSz="914378"/>
              <a:r>
                <a:rPr lang="fr-CA" dirty="0">
                  <a:solidFill>
                    <a:prstClr val="black"/>
                  </a:solidFill>
                  <a:latin typeface="Tahoma" pitchFamily="34" charset="0"/>
                </a:rPr>
                <a:t>10</a:t>
              </a:r>
            </a:p>
          </p:txBody>
        </p:sp>
        <p:sp>
          <p:nvSpPr>
            <p:cNvPr id="21" name="Line 19"/>
            <p:cNvSpPr>
              <a:spLocks noChangeShapeType="1"/>
            </p:cNvSpPr>
            <p:nvPr/>
          </p:nvSpPr>
          <p:spPr bwMode="auto">
            <a:xfrm>
              <a:off x="7050062" y="2143122"/>
              <a:ext cx="9366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pPr defTabSz="914378"/>
              <a:endParaRPr lang="fr-CA">
                <a:solidFill>
                  <a:prstClr val="black"/>
                </a:solidFill>
                <a:latin typeface="Arial" panose="020B0604020202020204"/>
              </a:endParaRPr>
            </a:p>
          </p:txBody>
        </p:sp>
        <p:sp>
          <p:nvSpPr>
            <p:cNvPr id="22" name="Text Box 13"/>
            <p:cNvSpPr txBox="1">
              <a:spLocks noChangeArrowheads="1"/>
            </p:cNvSpPr>
            <p:nvPr/>
          </p:nvSpPr>
          <p:spPr bwMode="auto">
            <a:xfrm>
              <a:off x="1643042" y="2303858"/>
              <a:ext cx="311304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defTabSz="914378"/>
              <a:r>
                <a:rPr lang="fr-CA" dirty="0">
                  <a:solidFill>
                    <a:prstClr val="black"/>
                  </a:solidFill>
                  <a:latin typeface="Tahoma" pitchFamily="34" charset="0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7192592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pPr algn="l"/>
            <a:r>
              <a:rPr lang="fr-CA" dirty="0"/>
              <a:t>Exercice 4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78800" y="1172381"/>
            <a:ext cx="8229600" cy="396480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r-CA" sz="2400" dirty="0"/>
          </a:p>
          <a:p>
            <a:pPr marL="0" indent="0">
              <a:buNone/>
            </a:pPr>
            <a:endParaRPr lang="fr-CA" sz="2400" dirty="0"/>
          </a:p>
          <a:p>
            <a:pPr marL="0" indent="0">
              <a:buNone/>
            </a:pPr>
            <a:endParaRPr lang="fr-CA" sz="2400" dirty="0"/>
          </a:p>
          <a:p>
            <a:pPr marL="0" indent="0">
              <a:buNone/>
            </a:pPr>
            <a:endParaRPr lang="fr-CA" sz="2400" dirty="0"/>
          </a:p>
          <a:p>
            <a:pPr marL="0" indent="0">
              <a:buNone/>
            </a:pPr>
            <a:endParaRPr lang="fr-CA" sz="2400" dirty="0"/>
          </a:p>
          <a:p>
            <a:pPr marL="0" indent="0">
              <a:buNone/>
            </a:pPr>
            <a:endParaRPr lang="fr-CA" sz="2400" dirty="0"/>
          </a:p>
          <a:p>
            <a:pPr marL="0" indent="0">
              <a:buNone/>
            </a:pPr>
            <a:r>
              <a:rPr lang="fr-CA" sz="2400" dirty="0"/>
              <a:t>Quel prix êtes-vous prêt à payer pour cette machine si vous évaluez le taux à exiger (risque du projet) à 10 %? (38,09 $)</a:t>
            </a:r>
          </a:p>
        </p:txBody>
      </p:sp>
      <p:grpSp>
        <p:nvGrpSpPr>
          <p:cNvPr id="2" name="Groupe 1"/>
          <p:cNvGrpSpPr/>
          <p:nvPr>
            <p:custDataLst>
              <p:tags r:id="rId3"/>
            </p:custDataLst>
          </p:nvPr>
        </p:nvGrpSpPr>
        <p:grpSpPr>
          <a:xfrm>
            <a:off x="827585" y="1347616"/>
            <a:ext cx="7129463" cy="693182"/>
            <a:chOff x="857224" y="1981197"/>
            <a:chExt cx="7129463" cy="693182"/>
          </a:xfrm>
        </p:grpSpPr>
        <p:sp>
          <p:nvSpPr>
            <p:cNvPr id="4" name="Line 4"/>
            <p:cNvSpPr>
              <a:spLocks noChangeShapeType="1"/>
            </p:cNvSpPr>
            <p:nvPr/>
          </p:nvSpPr>
          <p:spPr bwMode="auto">
            <a:xfrm>
              <a:off x="857225" y="2143122"/>
              <a:ext cx="38179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defTabSz="914378"/>
              <a:endParaRPr lang="fr-CA">
                <a:solidFill>
                  <a:prstClr val="black"/>
                </a:solidFill>
                <a:latin typeface="Arial" panose="020B0604020202020204"/>
              </a:endParaRPr>
            </a:p>
          </p:txBody>
        </p:sp>
        <p:sp>
          <p:nvSpPr>
            <p:cNvPr id="7" name="Line 5"/>
            <p:cNvSpPr>
              <a:spLocks noChangeShapeType="1"/>
            </p:cNvSpPr>
            <p:nvPr/>
          </p:nvSpPr>
          <p:spPr bwMode="auto">
            <a:xfrm>
              <a:off x="4673575" y="2143122"/>
              <a:ext cx="9350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defTabSz="914378"/>
              <a:endParaRPr lang="fr-CA">
                <a:solidFill>
                  <a:prstClr val="black"/>
                </a:solidFill>
                <a:latin typeface="Arial" panose="020B0604020202020204"/>
              </a:endParaRPr>
            </a:p>
          </p:txBody>
        </p:sp>
        <p:sp>
          <p:nvSpPr>
            <p:cNvPr id="8" name="Line 6"/>
            <p:cNvSpPr>
              <a:spLocks noChangeShapeType="1"/>
            </p:cNvSpPr>
            <p:nvPr/>
          </p:nvSpPr>
          <p:spPr bwMode="auto">
            <a:xfrm>
              <a:off x="5610199" y="2143122"/>
              <a:ext cx="14398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defTabSz="914378"/>
              <a:endParaRPr lang="fr-CA">
                <a:solidFill>
                  <a:prstClr val="black"/>
                </a:solidFill>
                <a:latin typeface="Arial" panose="020B0604020202020204"/>
              </a:endParaRPr>
            </a:p>
          </p:txBody>
        </p:sp>
        <p:sp>
          <p:nvSpPr>
            <p:cNvPr id="9" name="Line 7"/>
            <p:cNvSpPr>
              <a:spLocks noChangeShapeType="1"/>
            </p:cNvSpPr>
            <p:nvPr/>
          </p:nvSpPr>
          <p:spPr bwMode="auto">
            <a:xfrm>
              <a:off x="7050061" y="1981197"/>
              <a:ext cx="0" cy="3238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defTabSz="914378"/>
              <a:endParaRPr lang="fr-CA">
                <a:solidFill>
                  <a:prstClr val="black"/>
                </a:solidFill>
                <a:latin typeface="Arial" panose="020B0604020202020204"/>
              </a:endParaRPr>
            </a:p>
          </p:txBody>
        </p:sp>
        <p:sp>
          <p:nvSpPr>
            <p:cNvPr id="10" name="Line 8"/>
            <p:cNvSpPr>
              <a:spLocks noChangeShapeType="1"/>
            </p:cNvSpPr>
            <p:nvPr/>
          </p:nvSpPr>
          <p:spPr bwMode="auto">
            <a:xfrm>
              <a:off x="6115024" y="2034775"/>
              <a:ext cx="0" cy="2166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defTabSz="914378"/>
              <a:endParaRPr lang="fr-CA">
                <a:solidFill>
                  <a:prstClr val="black"/>
                </a:solidFill>
                <a:latin typeface="Arial" panose="020B0604020202020204"/>
              </a:endParaRPr>
            </a:p>
          </p:txBody>
        </p:sp>
        <p:sp>
          <p:nvSpPr>
            <p:cNvPr id="11" name="Line 9"/>
            <p:cNvSpPr>
              <a:spLocks noChangeShapeType="1"/>
            </p:cNvSpPr>
            <p:nvPr/>
          </p:nvSpPr>
          <p:spPr bwMode="auto">
            <a:xfrm>
              <a:off x="857224" y="1981197"/>
              <a:ext cx="0" cy="3238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defTabSz="914378"/>
              <a:endParaRPr lang="fr-CA">
                <a:solidFill>
                  <a:prstClr val="black"/>
                </a:solidFill>
                <a:latin typeface="Arial" panose="020B0604020202020204"/>
              </a:endParaRPr>
            </a:p>
          </p:txBody>
        </p:sp>
        <p:sp>
          <p:nvSpPr>
            <p:cNvPr id="12" name="Line 10"/>
            <p:cNvSpPr>
              <a:spLocks noChangeShapeType="1"/>
            </p:cNvSpPr>
            <p:nvPr/>
          </p:nvSpPr>
          <p:spPr bwMode="auto">
            <a:xfrm>
              <a:off x="1866874" y="2034775"/>
              <a:ext cx="0" cy="2166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defTabSz="914378"/>
              <a:endParaRPr lang="fr-CA">
                <a:solidFill>
                  <a:prstClr val="black"/>
                </a:solidFill>
                <a:latin typeface="Arial" panose="020B0604020202020204"/>
              </a:endParaRPr>
            </a:p>
          </p:txBody>
        </p:sp>
        <p:sp>
          <p:nvSpPr>
            <p:cNvPr id="13" name="Line 11"/>
            <p:cNvSpPr>
              <a:spLocks noChangeShapeType="1"/>
            </p:cNvSpPr>
            <p:nvPr/>
          </p:nvSpPr>
          <p:spPr bwMode="auto">
            <a:xfrm>
              <a:off x="2946374" y="2034775"/>
              <a:ext cx="0" cy="2166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defTabSz="914378"/>
              <a:endParaRPr lang="fr-CA">
                <a:solidFill>
                  <a:prstClr val="black"/>
                </a:solidFill>
                <a:latin typeface="Arial" panose="020B0604020202020204"/>
              </a:endParaRPr>
            </a:p>
          </p:txBody>
        </p:sp>
        <p:sp>
          <p:nvSpPr>
            <p:cNvPr id="14" name="Line 12"/>
            <p:cNvSpPr>
              <a:spLocks noChangeShapeType="1"/>
            </p:cNvSpPr>
            <p:nvPr/>
          </p:nvSpPr>
          <p:spPr bwMode="auto">
            <a:xfrm>
              <a:off x="4025874" y="2034775"/>
              <a:ext cx="0" cy="2166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defTabSz="914378"/>
              <a:endParaRPr lang="fr-CA">
                <a:solidFill>
                  <a:prstClr val="black"/>
                </a:solidFill>
                <a:latin typeface="Arial" panose="020B0604020202020204"/>
              </a:endParaRPr>
            </a:p>
          </p:txBody>
        </p:sp>
        <p:sp>
          <p:nvSpPr>
            <p:cNvPr id="15" name="Text Box 13"/>
            <p:cNvSpPr txBox="1">
              <a:spLocks noChangeArrowheads="1"/>
            </p:cNvSpPr>
            <p:nvPr/>
          </p:nvSpPr>
          <p:spPr bwMode="auto">
            <a:xfrm>
              <a:off x="2801911" y="2305047"/>
              <a:ext cx="43794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defTabSz="914378"/>
              <a:r>
                <a:rPr lang="fr-CA" dirty="0">
                  <a:solidFill>
                    <a:prstClr val="black"/>
                  </a:solidFill>
                  <a:latin typeface="Tahoma" pitchFamily="34" charset="0"/>
                </a:rPr>
                <a:t>10</a:t>
              </a:r>
            </a:p>
          </p:txBody>
        </p:sp>
        <p:sp>
          <p:nvSpPr>
            <p:cNvPr id="16" name="Text Box 14"/>
            <p:cNvSpPr txBox="1">
              <a:spLocks noChangeArrowheads="1"/>
            </p:cNvSpPr>
            <p:nvPr/>
          </p:nvSpPr>
          <p:spPr bwMode="auto">
            <a:xfrm>
              <a:off x="3882999" y="2305047"/>
              <a:ext cx="43794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defTabSz="914378"/>
              <a:r>
                <a:rPr lang="fr-CA" dirty="0">
                  <a:solidFill>
                    <a:prstClr val="black"/>
                  </a:solidFill>
                  <a:latin typeface="Tahoma" pitchFamily="34" charset="0"/>
                </a:rPr>
                <a:t>10</a:t>
              </a:r>
            </a:p>
          </p:txBody>
        </p:sp>
        <p:sp>
          <p:nvSpPr>
            <p:cNvPr id="17" name="Text Box 15"/>
            <p:cNvSpPr txBox="1">
              <a:spLocks noChangeArrowheads="1"/>
            </p:cNvSpPr>
            <p:nvPr/>
          </p:nvSpPr>
          <p:spPr bwMode="auto">
            <a:xfrm>
              <a:off x="5970561" y="2305047"/>
              <a:ext cx="311304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defTabSz="914378"/>
              <a:r>
                <a:rPr lang="fr-CA" dirty="0">
                  <a:solidFill>
                    <a:prstClr val="black"/>
                  </a:solidFill>
                  <a:latin typeface="Tahoma" pitchFamily="34" charset="0"/>
                </a:rPr>
                <a:t>2</a:t>
              </a:r>
            </a:p>
          </p:txBody>
        </p:sp>
        <p:sp>
          <p:nvSpPr>
            <p:cNvPr id="18" name="Text Box 16"/>
            <p:cNvSpPr txBox="1">
              <a:spLocks noChangeArrowheads="1"/>
            </p:cNvSpPr>
            <p:nvPr/>
          </p:nvSpPr>
          <p:spPr bwMode="auto">
            <a:xfrm>
              <a:off x="6907186" y="2305047"/>
              <a:ext cx="1079142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defTabSz="914378"/>
              <a:r>
                <a:rPr lang="fr-CA" dirty="0">
                  <a:solidFill>
                    <a:prstClr val="black"/>
                  </a:solidFill>
                  <a:latin typeface="Tahoma" pitchFamily="34" charset="0"/>
                </a:rPr>
                <a:t>2 … </a:t>
              </a:r>
              <a:r>
                <a:rPr lang="fr-CA" sz="1000" dirty="0">
                  <a:solidFill>
                    <a:prstClr val="black"/>
                  </a:solidFill>
                  <a:latin typeface="Tahoma" pitchFamily="34" charset="0"/>
                </a:rPr>
                <a:t>à l’infini</a:t>
              </a:r>
            </a:p>
          </p:txBody>
        </p:sp>
        <p:sp>
          <p:nvSpPr>
            <p:cNvPr id="19" name="Line 17"/>
            <p:cNvSpPr>
              <a:spLocks noChangeShapeType="1"/>
            </p:cNvSpPr>
            <p:nvPr/>
          </p:nvSpPr>
          <p:spPr bwMode="auto">
            <a:xfrm>
              <a:off x="5106961" y="2034775"/>
              <a:ext cx="0" cy="2155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defTabSz="914378"/>
              <a:endParaRPr lang="fr-CA">
                <a:solidFill>
                  <a:prstClr val="black"/>
                </a:solidFill>
                <a:latin typeface="Arial" panose="020B0604020202020204"/>
              </a:endParaRPr>
            </a:p>
          </p:txBody>
        </p:sp>
        <p:sp>
          <p:nvSpPr>
            <p:cNvPr id="20" name="Text Box 18"/>
            <p:cNvSpPr txBox="1">
              <a:spLocks noChangeArrowheads="1"/>
            </p:cNvSpPr>
            <p:nvPr/>
          </p:nvSpPr>
          <p:spPr bwMode="auto">
            <a:xfrm>
              <a:off x="4962499" y="2305047"/>
              <a:ext cx="43794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defTabSz="914378"/>
              <a:r>
                <a:rPr lang="fr-CA" dirty="0">
                  <a:solidFill>
                    <a:prstClr val="black"/>
                  </a:solidFill>
                  <a:latin typeface="Tahoma" pitchFamily="34" charset="0"/>
                </a:rPr>
                <a:t>10</a:t>
              </a:r>
            </a:p>
          </p:txBody>
        </p:sp>
        <p:sp>
          <p:nvSpPr>
            <p:cNvPr id="21" name="Line 19"/>
            <p:cNvSpPr>
              <a:spLocks noChangeShapeType="1"/>
            </p:cNvSpPr>
            <p:nvPr/>
          </p:nvSpPr>
          <p:spPr bwMode="auto">
            <a:xfrm>
              <a:off x="7050062" y="2143122"/>
              <a:ext cx="9366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pPr defTabSz="914378"/>
              <a:endParaRPr lang="fr-CA">
                <a:solidFill>
                  <a:prstClr val="black"/>
                </a:solidFill>
                <a:latin typeface="Arial" panose="020B0604020202020204"/>
              </a:endParaRPr>
            </a:p>
          </p:txBody>
        </p:sp>
        <p:sp>
          <p:nvSpPr>
            <p:cNvPr id="22" name="Text Box 13"/>
            <p:cNvSpPr txBox="1">
              <a:spLocks noChangeArrowheads="1"/>
            </p:cNvSpPr>
            <p:nvPr/>
          </p:nvSpPr>
          <p:spPr bwMode="auto">
            <a:xfrm>
              <a:off x="1643042" y="2303858"/>
              <a:ext cx="311304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defTabSz="914378"/>
              <a:r>
                <a:rPr lang="fr-CA" dirty="0">
                  <a:solidFill>
                    <a:prstClr val="black"/>
                  </a:solidFill>
                  <a:latin typeface="Tahoma" pitchFamily="34" charset="0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7128135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pPr algn="l"/>
            <a:r>
              <a:rPr lang="fr-CA" dirty="0"/>
              <a:t>Exercice 5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78801" y="1172381"/>
            <a:ext cx="8291264" cy="39648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CA" sz="2000" dirty="0"/>
              <a:t>Vous désirez économiser 100 $ par semaine pour faire un voyage à la fin de vos études actuelles. Vous ajoutez à cela un montant de 400 $ que vous venez de recevoir. Vous évaluez terminer votre baccalauréat dans exactement 84 semaines.</a:t>
            </a:r>
          </a:p>
          <a:p>
            <a:pPr marL="0" indent="0">
              <a:buNone/>
            </a:pPr>
            <a:r>
              <a:rPr lang="fr-CA" sz="2000" dirty="0"/>
              <a:t>Ces épargnes seront placées dans un compte procurant un rendement nominal à capitalisation hebdomadaire de 2,6 %.</a:t>
            </a:r>
          </a:p>
          <a:p>
            <a:pPr marL="0" indent="0">
              <a:buNone/>
            </a:pPr>
            <a:endParaRPr lang="fr-CA" sz="2000" dirty="0"/>
          </a:p>
          <a:p>
            <a:pPr marL="0" indent="0">
              <a:buNone/>
            </a:pPr>
            <a:endParaRPr lang="fr-CA" sz="2000" dirty="0"/>
          </a:p>
          <a:p>
            <a:pPr marL="0" indent="0">
              <a:buNone/>
            </a:pPr>
            <a:endParaRPr lang="fr-CA" sz="2000" dirty="0"/>
          </a:p>
          <a:p>
            <a:pPr marL="0" indent="0">
              <a:buNone/>
            </a:pPr>
            <a:r>
              <a:rPr lang="fr-CA" sz="2000" dirty="0"/>
              <a:t>De quelle somme disposerez-vous pour votre voyage (soit dans exactement 84 semaines)? (8993,86 $)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827584" y="3291831"/>
            <a:ext cx="7178040" cy="293885"/>
            <a:chOff x="1115616" y="2362582"/>
            <a:chExt cx="7178040" cy="293885"/>
          </a:xfrm>
        </p:grpSpPr>
        <p:cxnSp>
          <p:nvCxnSpPr>
            <p:cNvPr id="7" name="Straight Arrow Connector 22"/>
            <p:cNvCxnSpPr/>
            <p:nvPr>
              <p:custDataLst>
                <p:tags r:id="rId3"/>
              </p:custDataLst>
            </p:nvPr>
          </p:nvCxnSpPr>
          <p:spPr>
            <a:xfrm>
              <a:off x="1115616" y="2499742"/>
              <a:ext cx="7178040" cy="15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14"/>
            <p:cNvCxnSpPr/>
            <p:nvPr>
              <p:custDataLst>
                <p:tags r:id="rId4"/>
              </p:custDataLst>
            </p:nvPr>
          </p:nvCxnSpPr>
          <p:spPr>
            <a:xfrm rot="5400000" flipH="1" flipV="1">
              <a:off x="1543016" y="2510598"/>
              <a:ext cx="2743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14"/>
            <p:cNvCxnSpPr/>
            <p:nvPr>
              <p:custDataLst>
                <p:tags r:id="rId5"/>
              </p:custDataLst>
            </p:nvPr>
          </p:nvCxnSpPr>
          <p:spPr>
            <a:xfrm rot="5400000" flipH="1" flipV="1">
              <a:off x="2456322" y="2519307"/>
              <a:ext cx="2743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14"/>
            <p:cNvCxnSpPr/>
            <p:nvPr>
              <p:custDataLst>
                <p:tags r:id="rId6"/>
              </p:custDataLst>
            </p:nvPr>
          </p:nvCxnSpPr>
          <p:spPr>
            <a:xfrm rot="5400000" flipH="1" flipV="1">
              <a:off x="3343216" y="2510598"/>
              <a:ext cx="2743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4"/>
            <p:cNvCxnSpPr/>
            <p:nvPr>
              <p:custDataLst>
                <p:tags r:id="rId7"/>
              </p:custDataLst>
            </p:nvPr>
          </p:nvCxnSpPr>
          <p:spPr>
            <a:xfrm rot="5400000" flipH="1" flipV="1">
              <a:off x="4279320" y="2499742"/>
              <a:ext cx="2743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4"/>
            <p:cNvCxnSpPr/>
            <p:nvPr>
              <p:custDataLst>
                <p:tags r:id="rId8"/>
              </p:custDataLst>
            </p:nvPr>
          </p:nvCxnSpPr>
          <p:spPr>
            <a:xfrm rot="5400000" flipH="1" flipV="1">
              <a:off x="5143416" y="2499742"/>
              <a:ext cx="2743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4"/>
            <p:cNvCxnSpPr/>
            <p:nvPr>
              <p:custDataLst>
                <p:tags r:id="rId9"/>
              </p:custDataLst>
            </p:nvPr>
          </p:nvCxnSpPr>
          <p:spPr>
            <a:xfrm rot="5400000" flipH="1" flipV="1">
              <a:off x="6950466" y="2499742"/>
              <a:ext cx="2743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4"/>
            <p:cNvCxnSpPr/>
            <p:nvPr>
              <p:custDataLst>
                <p:tags r:id="rId10"/>
              </p:custDataLst>
            </p:nvPr>
          </p:nvCxnSpPr>
          <p:spPr>
            <a:xfrm rot="5400000" flipH="1" flipV="1">
              <a:off x="6046707" y="2499742"/>
              <a:ext cx="2743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>
              <p:custDataLst>
                <p:tags r:id="rId11"/>
              </p:custDataLst>
            </p:nvPr>
          </p:nvCxnSpPr>
          <p:spPr>
            <a:xfrm rot="5400000" flipH="1" flipV="1">
              <a:off x="7756020" y="2507633"/>
              <a:ext cx="2743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8981265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Espace réservé du contenu 5"/>
          <p:cNvPicPr>
            <a:picLocks noGrp="1" noChangeAspect="1"/>
          </p:cNvPicPr>
          <p:nvPr>
            <p:ph idx="1"/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736" y="1707654"/>
            <a:ext cx="4736592" cy="1645920"/>
          </a:xfrm>
        </p:spPr>
      </p:pic>
    </p:spTree>
    <p:extLst>
      <p:ext uri="{BB962C8B-B14F-4D97-AF65-F5344CB8AC3E}">
        <p14:creationId xmlns:p14="http://schemas.microsoft.com/office/powerpoint/2010/main" val="56170250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5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6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7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6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7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8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9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5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6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7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8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9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0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1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2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3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4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5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6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7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8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9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0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1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2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3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4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5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6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7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heme/theme1.xml><?xml version="1.0" encoding="utf-8"?>
<a:theme xmlns:a="http://schemas.openxmlformats.org/drawingml/2006/main" name="Thème HEC">
  <a:themeElements>
    <a:clrScheme name="HEC2">
      <a:dk1>
        <a:srgbClr val="000000"/>
      </a:dk1>
      <a:lt1>
        <a:srgbClr val="FFFFFF"/>
      </a:lt1>
      <a:dk2>
        <a:srgbClr val="97999B"/>
      </a:dk2>
      <a:lt2>
        <a:srgbClr val="EFF0F0"/>
      </a:lt2>
      <a:accent1>
        <a:srgbClr val="009FDF"/>
      </a:accent1>
      <a:accent2>
        <a:srgbClr val="003C71"/>
      </a:accent2>
      <a:accent3>
        <a:srgbClr val="D40F7D"/>
      </a:accent3>
      <a:accent4>
        <a:srgbClr val="FE5000"/>
      </a:accent4>
      <a:accent5>
        <a:srgbClr val="00C1D5"/>
      </a:accent5>
      <a:accent6>
        <a:srgbClr val="005EB8"/>
      </a:accent6>
      <a:hlink>
        <a:srgbClr val="003C71"/>
      </a:hlink>
      <a:folHlink>
        <a:srgbClr val="9678D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wrap="square" lIns="91440" tIns="45720" rIns="91440" bIns="45720" rtlCol="0">
        <a:normAutofit/>
      </a:bodyPr>
      <a:lstStyle>
        <a:defPPr marL="154800" indent="-154800">
          <a:buClr>
            <a:schemeClr val="accent2"/>
          </a:buClr>
          <a:buSzPct val="125000"/>
          <a:buFont typeface="Arial" panose="020B0604020202020204" pitchFamily="34" charset="0"/>
          <a:buChar char="•"/>
          <a:defRPr sz="167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A54F02C9-6C04-8941-98AF-7C66FC1B9807}" vid="{378BFC92-88BE-C343-AA7D-4E1AA329E8F6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6546</TotalTime>
  <Words>2134</Words>
  <Application>Microsoft Office PowerPoint</Application>
  <PresentationFormat>Affichage à l'écran (16:9)</PresentationFormat>
  <Paragraphs>305</Paragraphs>
  <Slides>43</Slides>
  <Notes>0</Notes>
  <HiddenSlides>0</HiddenSlides>
  <MMClips>0</MMClips>
  <ScaleCrop>false</ScaleCrop>
  <HeadingPairs>
    <vt:vector size="8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43</vt:i4>
      </vt:variant>
    </vt:vector>
  </HeadingPairs>
  <TitlesOfParts>
    <vt:vector size="49" baseType="lpstr">
      <vt:lpstr>Arial</vt:lpstr>
      <vt:lpstr>Calibri</vt:lpstr>
      <vt:lpstr>Tahoma</vt:lpstr>
      <vt:lpstr>Wingdings</vt:lpstr>
      <vt:lpstr>Thème HEC</vt:lpstr>
      <vt:lpstr>Equation</vt:lpstr>
      <vt:lpstr>Chapitre 5 &amp; 6: révision des mathématiques financières</vt:lpstr>
      <vt:lpstr>Principe de base des math. fin.</vt:lpstr>
      <vt:lpstr>Intérêt simple vs capitalisé</vt:lpstr>
      <vt:lpstr>L’approche financière</vt:lpstr>
      <vt:lpstr>L’équivalence de taux</vt:lpstr>
      <vt:lpstr>Le montant simple</vt:lpstr>
      <vt:lpstr>Un dollar gagné aujourd'hui vaut plus qu'un dollar gagné demain.</vt:lpstr>
      <vt:lpstr>Le montant simple: exercices</vt:lpstr>
      <vt:lpstr>Le montant simple: exercices</vt:lpstr>
      <vt:lpstr>Le montant simple: exercices</vt:lpstr>
      <vt:lpstr>Le montant simple: exercices</vt:lpstr>
      <vt:lpstr>Chapitre 5 &amp; 6: révision des mathématiques financières</vt:lpstr>
      <vt:lpstr>L’annuité</vt:lpstr>
      <vt:lpstr>L’annuité: exercices</vt:lpstr>
      <vt:lpstr>L’annuité: exercices</vt:lpstr>
      <vt:lpstr>L’annuité: exercices</vt:lpstr>
      <vt:lpstr>Chapitre 5 &amp; 6: révision des mathématiques financières</vt:lpstr>
      <vt:lpstr>La perpétuité</vt:lpstr>
      <vt:lpstr>La perpétuité: exercices</vt:lpstr>
      <vt:lpstr>La perpétuité: exercices</vt:lpstr>
      <vt:lpstr>La perpétuité: exercices</vt:lpstr>
      <vt:lpstr>La perpétuité: exercices</vt:lpstr>
      <vt:lpstr>Chapitre 5 &amp; 6: révision des mathématiques financières</vt:lpstr>
      <vt:lpstr>L’équivalence de taux</vt:lpstr>
      <vt:lpstr>L’équivalence de taux</vt:lpstr>
      <vt:lpstr>L’équivalence de taux</vt:lpstr>
      <vt:lpstr>L’équivalence de taux</vt:lpstr>
      <vt:lpstr>L’équivalence de taux</vt:lpstr>
      <vt:lpstr>Conversion de taux: exercices</vt:lpstr>
      <vt:lpstr>Les taux d’intérêt</vt:lpstr>
      <vt:lpstr>L’évaluation en finance</vt:lpstr>
      <vt:lpstr>Chapitre 5 &amp; 6: révision des mathématiques financières</vt:lpstr>
      <vt:lpstr>Exercice 1</vt:lpstr>
      <vt:lpstr>Exercice 2</vt:lpstr>
      <vt:lpstr>Exercice 2</vt:lpstr>
      <vt:lpstr>Exercice 2</vt:lpstr>
      <vt:lpstr>Exercice 3</vt:lpstr>
      <vt:lpstr>Exercice 3</vt:lpstr>
      <vt:lpstr>Exercice 3</vt:lpstr>
      <vt:lpstr>Exercice 4</vt:lpstr>
      <vt:lpstr>Exercice 4</vt:lpstr>
      <vt:lpstr>Exercice 5</vt:lpstr>
      <vt:lpstr>Présentation PowerPoint</vt:lpstr>
    </vt:vector>
  </TitlesOfParts>
  <Company>HEC Montréal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Chapitre 9: les critères de d’évaluation de projet</dc:title>
  <dc:creator>clihec3</dc:creator>
  <cp:lastModifiedBy>marie-helene allard</cp:lastModifiedBy>
  <cp:revision>71</cp:revision>
  <dcterms:created xsi:type="dcterms:W3CDTF">2009-10-06T16:37:55Z</dcterms:created>
  <dcterms:modified xsi:type="dcterms:W3CDTF">2020-07-23T18:03:31Z</dcterms:modified>
</cp:coreProperties>
</file>