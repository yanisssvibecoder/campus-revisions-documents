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60" r:id="rId3"/>
    <p:sldId id="261" r:id="rId4"/>
    <p:sldId id="265" r:id="rId5"/>
    <p:sldId id="266" r:id="rId6"/>
    <p:sldId id="267" r:id="rId7"/>
    <p:sldId id="268" r:id="rId8"/>
    <p:sldId id="271" r:id="rId9"/>
    <p:sldId id="272" r:id="rId10"/>
    <p:sldId id="269" r:id="rId11"/>
    <p:sldId id="270" r:id="rId1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 autoAdjust="0"/>
    <p:restoredTop sz="94660"/>
  </p:normalViewPr>
  <p:slideViewPr>
    <p:cSldViewPr>
      <p:cViewPr varScale="1">
        <p:scale>
          <a:sx n="110" d="100"/>
          <a:sy n="110" d="100"/>
        </p:scale>
        <p:origin x="768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6860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 smtClean="0"/>
          </a:p>
        </p:txBody>
      </p:sp>
    </p:spTree>
    <p:extLst>
      <p:ext uri="{BB962C8B-B14F-4D97-AF65-F5344CB8AC3E}">
        <p14:creationId xmlns:p14="http://schemas.microsoft.com/office/powerpoint/2010/main" val="234216927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6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870191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4091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248772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4975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962534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 smtClean="0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31309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2FCFB49-AA0B-43A7-9ABF-3C314EAFBE41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961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14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25/05/2016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5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iming>
    <p:tnLst>
      <p:par>
        <p:cTn id="1" dur="indefinite" restart="never" nodeType="tmRoot"/>
      </p:par>
    </p:tnLst>
  </p:timing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19.xml"/><Relationship Id="rId7" Type="http://schemas.openxmlformats.org/officeDocument/2006/relationships/slideLayout" Target="../slideLayouts/slideLayout1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.v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9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 smtClean="0"/>
              <a:t>Chapitre 9: les critères d’évaluation de projet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2800" dirty="0"/>
              <a:t>Les critères d’évaluation de projet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200150"/>
            <a:ext cx="8147050" cy="367547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fr-CA" sz="2400" dirty="0" smtClean="0"/>
              <a:t>Il </a:t>
            </a:r>
            <a:r>
              <a:rPr lang="fr-CA" sz="2400" dirty="0"/>
              <a:t>existe plusieurs méthodes pour évaluer un projet. </a:t>
            </a:r>
            <a:endParaRPr lang="fr-CA" sz="2400" dirty="0" smtClean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fr-CA" sz="2400" dirty="0" smtClean="0"/>
              <a:t>En </a:t>
            </a:r>
            <a:r>
              <a:rPr lang="fr-CA" sz="2400" dirty="0"/>
              <a:t>guise d’exemple, prenons le </a:t>
            </a:r>
            <a:r>
              <a:rPr lang="fr-CA" sz="2400" dirty="0" smtClean="0"/>
              <a:t>projet suivant :</a:t>
            </a:r>
            <a:endParaRPr lang="fr-CA" sz="2400" dirty="0"/>
          </a:p>
          <a:p>
            <a:pPr>
              <a:lnSpc>
                <a:spcPct val="80000"/>
              </a:lnSpc>
            </a:pPr>
            <a:endParaRPr lang="fr-CA" sz="2400" dirty="0"/>
          </a:p>
          <a:p>
            <a:pPr>
              <a:lnSpc>
                <a:spcPct val="80000"/>
              </a:lnSpc>
            </a:pP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fr-CA" sz="2400" dirty="0"/>
              <a:t>	</a:t>
            </a:r>
            <a:endParaRPr lang="fr-CA" sz="24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fr-CA" sz="2400" dirty="0"/>
              <a:t>	</a:t>
            </a:r>
            <a:r>
              <a:rPr lang="fr-CA" sz="2400" dirty="0" smtClean="0"/>
              <a:t>Vous </a:t>
            </a:r>
            <a:r>
              <a:rPr lang="fr-CA" sz="2400" dirty="0"/>
              <a:t>exigez </a:t>
            </a:r>
            <a:r>
              <a:rPr lang="fr-CA" sz="2400" dirty="0" smtClean="0">
                <a:solidFill>
                  <a:schemeClr val="accent1"/>
                </a:solidFill>
              </a:rPr>
              <a:t>10 %</a:t>
            </a:r>
            <a:r>
              <a:rPr lang="fr-CA" sz="2400" dirty="0" smtClean="0"/>
              <a:t> </a:t>
            </a:r>
            <a:r>
              <a:rPr lang="fr-CA" sz="2400" dirty="0"/>
              <a:t>(considérant le risque </a:t>
            </a:r>
            <a:r>
              <a:rPr lang="fr-CA" sz="2400" dirty="0" smtClean="0"/>
              <a:t>de ce projet)</a:t>
            </a: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endParaRPr lang="fr-CA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fr-CA" sz="2400" dirty="0"/>
              <a:t>	Reste maintenant à évaluer ce projet…</a:t>
            </a:r>
          </a:p>
        </p:txBody>
      </p:sp>
      <p:graphicFrame>
        <p:nvGraphicFramePr>
          <p:cNvPr id="8" name="Espace réservé du contenu 7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41739091"/>
              </p:ext>
            </p:extLst>
          </p:nvPr>
        </p:nvGraphicFramePr>
        <p:xfrm>
          <a:off x="857224" y="2067694"/>
          <a:ext cx="7429552" cy="1200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446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7543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Flux monétaires prévus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8"/>
            <a:ext cx="8229600" cy="689372"/>
          </a:xfrm>
        </p:spPr>
        <p:txBody>
          <a:bodyPr>
            <a:normAutofit/>
          </a:bodyPr>
          <a:lstStyle/>
          <a:p>
            <a:pPr marL="361950" indent="-361950" algn="l"/>
            <a:r>
              <a:rPr lang="fr-CA" sz="2800" dirty="0"/>
              <a:t>1)	Le délai de </a:t>
            </a:r>
            <a:r>
              <a:rPr lang="fr-CA" sz="2800" dirty="0" smtClean="0"/>
              <a:t>récupération</a:t>
            </a:r>
            <a:endParaRPr lang="fr-CA" sz="28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288" y="1581934"/>
            <a:ext cx="8280400" cy="343808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5600" dirty="0" smtClean="0"/>
              <a:t>Définition: </a:t>
            </a:r>
            <a:r>
              <a:rPr lang="fr-CA" sz="5600" b="1" i="1" u="sng" dirty="0">
                <a:solidFill>
                  <a:schemeClr val="accent1"/>
                </a:solidFill>
              </a:rPr>
              <a:t>temps nécessaire afin de récupérer </a:t>
            </a:r>
            <a:r>
              <a:rPr lang="fr-CA" sz="5600" b="1" i="1" u="sng" dirty="0" smtClean="0">
                <a:solidFill>
                  <a:schemeClr val="accent1"/>
                </a:solidFill>
              </a:rPr>
              <a:t>l’investissement initial</a:t>
            </a:r>
            <a:endParaRPr lang="fr-CA" sz="5600" dirty="0" smtClean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endParaRPr lang="fr-CA" sz="5600" dirty="0">
              <a:solidFill>
                <a:schemeClr val="accent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fr-CA" sz="5600" dirty="0" smtClean="0"/>
              <a:t>Pour </a:t>
            </a:r>
            <a:r>
              <a:rPr lang="fr-CA" sz="5600" dirty="0"/>
              <a:t>atteindre le retour d’investissement de </a:t>
            </a:r>
            <a:r>
              <a:rPr lang="fr-CA" sz="5600" dirty="0" smtClean="0"/>
              <a:t>300 000 $, </a:t>
            </a:r>
            <a:r>
              <a:rPr lang="fr-CA" sz="5600" dirty="0"/>
              <a:t>il faut </a:t>
            </a:r>
            <a:r>
              <a:rPr lang="fr-CA" sz="5600" dirty="0" smtClean="0"/>
              <a:t>attendre :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CA" sz="5600" i="1" dirty="0"/>
              <a:t>	</a:t>
            </a:r>
            <a:r>
              <a:rPr lang="fr-CA" sz="5600" i="1" dirty="0" smtClean="0"/>
              <a:t>	</a:t>
            </a:r>
            <a:r>
              <a:rPr lang="fr-CA" sz="11200" i="1" dirty="0" smtClean="0"/>
              <a:t>Délai de récupération = 1,5 an</a:t>
            </a:r>
            <a:endParaRPr lang="fr-CA" sz="11200" i="1" dirty="0" smtClean="0">
              <a:solidFill>
                <a:schemeClr val="accent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fr-CA" sz="5600" dirty="0" smtClean="0"/>
              <a:t>La décision dépend </a:t>
            </a:r>
            <a:r>
              <a:rPr lang="fr-CA" sz="5600" dirty="0" smtClean="0">
                <a:solidFill>
                  <a:schemeClr val="accent1"/>
                </a:solidFill>
              </a:rPr>
              <a:t>de la limite établie subjectivement.</a:t>
            </a:r>
            <a:r>
              <a:rPr lang="fr-CA" sz="5600" dirty="0"/>
              <a:t> Mais,</a:t>
            </a:r>
            <a:endParaRPr lang="fr-CA" sz="5600" i="1" dirty="0">
              <a:solidFill>
                <a:schemeClr val="accent1"/>
              </a:solidFill>
            </a:endParaRPr>
          </a:p>
          <a:p>
            <a:pPr marL="538163" indent="-176213">
              <a:lnSpc>
                <a:spcPct val="120000"/>
              </a:lnSpc>
              <a:buFontTx/>
              <a:buNone/>
            </a:pPr>
            <a:r>
              <a:rPr lang="fr-CA" sz="5600" i="1" dirty="0"/>
              <a:t>	</a:t>
            </a:r>
            <a:endParaRPr lang="fr-CA" sz="5600" i="1" dirty="0" smtClean="0"/>
          </a:p>
          <a:p>
            <a:pPr marL="538163" lvl="1" indent="-176213">
              <a:lnSpc>
                <a:spcPct val="120000"/>
              </a:lnSpc>
            </a:pPr>
            <a:r>
              <a:rPr lang="fr-CA" sz="5600" dirty="0" smtClean="0"/>
              <a:t>Aucun maximum ou minimum objectif</a:t>
            </a:r>
            <a:endParaRPr lang="fr-CA" sz="5600" dirty="0" smtClean="0">
              <a:solidFill>
                <a:schemeClr val="accent1"/>
              </a:solidFill>
            </a:endParaRPr>
          </a:p>
          <a:p>
            <a:pPr marL="538163" lvl="1" indent="-176213">
              <a:lnSpc>
                <a:spcPct val="120000"/>
              </a:lnSpc>
            </a:pPr>
            <a:r>
              <a:rPr lang="fr-CA" sz="5600" dirty="0" err="1" smtClean="0"/>
              <a:t>FMs</a:t>
            </a:r>
            <a:r>
              <a:rPr lang="fr-CA" sz="5600" dirty="0" smtClean="0"/>
              <a:t> après le délai non considéré</a:t>
            </a:r>
            <a:endParaRPr lang="fr-CA" sz="5600" dirty="0">
              <a:solidFill>
                <a:schemeClr val="accent1"/>
              </a:solidFill>
            </a:endParaRPr>
          </a:p>
          <a:p>
            <a:pPr marL="538163" lvl="1" indent="-176213">
              <a:lnSpc>
                <a:spcPct val="120000"/>
              </a:lnSpc>
            </a:pPr>
            <a:r>
              <a:rPr lang="fr-CA" sz="5600" dirty="0" smtClean="0"/>
              <a:t>Le risque du projet n’est pas clairement adressé</a:t>
            </a:r>
            <a:endParaRPr lang="fr-CA" sz="56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endParaRPr lang="fr-CA" sz="5600" dirty="0"/>
          </a:p>
          <a:p>
            <a:pPr marL="0" indent="0">
              <a:lnSpc>
                <a:spcPct val="120000"/>
              </a:lnSpc>
              <a:buNone/>
            </a:pPr>
            <a:r>
              <a:rPr lang="fr-CA" sz="5600" dirty="0"/>
              <a:t>Le délai de récupération ne semble pas être le meilleur des critères de décision</a:t>
            </a:r>
            <a:r>
              <a:rPr lang="fr-CA" sz="5600" dirty="0" smtClean="0"/>
              <a:t>…</a:t>
            </a:r>
            <a:endParaRPr lang="fr-CA" sz="2400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64250302"/>
              </p:ext>
            </p:extLst>
          </p:nvPr>
        </p:nvGraphicFramePr>
        <p:xfrm>
          <a:off x="1979712" y="987574"/>
          <a:ext cx="5643604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901"/>
                <a:gridCol w="1410901"/>
                <a:gridCol w="1410901"/>
                <a:gridCol w="1410901"/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361950" indent="-361950" algn="l"/>
            <a:r>
              <a:rPr lang="fr-CA" sz="2800" dirty="0" smtClean="0"/>
              <a:t>2)</a:t>
            </a:r>
            <a:r>
              <a:rPr lang="fr-CA" sz="2800" dirty="0"/>
              <a:t>	Le </a:t>
            </a:r>
            <a:r>
              <a:rPr lang="fr-CA" sz="2800" dirty="0" smtClean="0"/>
              <a:t>délai de récupération actualisé</a:t>
            </a:r>
            <a:endParaRPr lang="fr-CA" sz="28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822661"/>
            <a:ext cx="8229600" cy="319736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2900" dirty="0" smtClean="0"/>
              <a:t>Définition: </a:t>
            </a:r>
            <a:r>
              <a:rPr lang="fr-CA" sz="2900" b="1" i="1" u="sng" dirty="0" smtClean="0">
                <a:solidFill>
                  <a:schemeClr val="accent1"/>
                </a:solidFill>
              </a:rPr>
              <a:t>temps nécessaire afin de récupérer l’investissement initial (en VA)</a:t>
            </a:r>
            <a:endParaRPr lang="fr-CA" sz="2900" dirty="0" smtClean="0"/>
          </a:p>
          <a:p>
            <a:pPr>
              <a:lnSpc>
                <a:spcPct val="120000"/>
              </a:lnSpc>
            </a:pPr>
            <a:endParaRPr lang="fr-CA" sz="29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fr-CA" sz="2900" dirty="0" smtClean="0"/>
              <a:t>Ici, il nous faut: </a:t>
            </a:r>
            <a:r>
              <a:rPr lang="fr-CA" sz="3600" dirty="0" smtClean="0"/>
              <a:t>DRA= </a:t>
            </a:r>
            <a:r>
              <a:rPr lang="fr-CA" sz="3600" i="1" dirty="0" smtClean="0">
                <a:solidFill>
                  <a:schemeClr val="accent1"/>
                </a:solidFill>
              </a:rPr>
              <a:t>1,715 an </a:t>
            </a:r>
            <a:r>
              <a:rPr lang="fr-CA" sz="2900" i="1" dirty="0" smtClean="0">
                <a:solidFill>
                  <a:schemeClr val="accent1"/>
                </a:solidFill>
              </a:rPr>
              <a:t>(181 818 $+ 0,715*165 289 $)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fr-CA" sz="2900" dirty="0" smtClean="0"/>
              <a:t>Encore,</a:t>
            </a:r>
          </a:p>
          <a:p>
            <a:pPr lvl="1">
              <a:lnSpc>
                <a:spcPct val="120000"/>
              </a:lnSpc>
            </a:pPr>
            <a:r>
              <a:rPr lang="fr-CA" sz="2500" dirty="0"/>
              <a:t>Aucun maximum ou minimum objectif</a:t>
            </a:r>
            <a:endParaRPr lang="fr-CA" sz="25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CA" sz="2500" dirty="0" err="1"/>
              <a:t>FMs</a:t>
            </a:r>
            <a:r>
              <a:rPr lang="fr-CA" sz="2500" dirty="0"/>
              <a:t> après le délai non considérés</a:t>
            </a:r>
            <a:endParaRPr lang="fr-CA" sz="2500" dirty="0">
              <a:solidFill>
                <a:schemeClr val="accent1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CA" sz="2500" dirty="0"/>
              <a:t>Le risque du projet </a:t>
            </a:r>
            <a:r>
              <a:rPr lang="fr-CA" sz="2500" dirty="0" smtClean="0"/>
              <a:t>est intégré (au taux d’actualisation), mais la limite reste établie de façon subjective</a:t>
            </a:r>
          </a:p>
          <a:p>
            <a:pPr lvl="1">
              <a:lnSpc>
                <a:spcPct val="120000"/>
              </a:lnSpc>
            </a:pPr>
            <a:endParaRPr lang="fr-CA" sz="2500" dirty="0">
              <a:solidFill>
                <a:schemeClr val="accent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fr-CA" sz="2900" dirty="0" smtClean="0"/>
              <a:t>Le critère reste très subjectif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CA" sz="2900" dirty="0" smtClean="0">
                <a:solidFill>
                  <a:schemeClr val="accent1"/>
                </a:solidFill>
              </a:rPr>
              <a:t>Le travail exécuté revient à calculer la VAN…</a:t>
            </a:r>
            <a:endParaRPr lang="fr-CA" sz="2400" dirty="0"/>
          </a:p>
          <a:p>
            <a:pPr>
              <a:lnSpc>
                <a:spcPct val="80000"/>
              </a:lnSpc>
            </a:pPr>
            <a:endParaRPr lang="fr-CA" sz="2400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78411364"/>
              </p:ext>
            </p:extLst>
          </p:nvPr>
        </p:nvGraphicFramePr>
        <p:xfrm>
          <a:off x="1907704" y="1120550"/>
          <a:ext cx="4762900" cy="68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725"/>
                <a:gridCol w="1190725"/>
                <a:gridCol w="1190725"/>
                <a:gridCol w="1190725"/>
              </a:tblGrid>
              <a:tr h="2466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L="65436" marR="65436" marT="34290" marB="34290" horzOverflow="overflow"/>
                </a:tc>
              </a:tr>
              <a:tr h="383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-300 000$</a:t>
                      </a: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L="65436" marR="65436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+200 000$</a:t>
                      </a:r>
                    </a:p>
                  </a:txBody>
                  <a:tcPr marL="65436" marR="65436" marT="34290" marB="34290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marL="361950" indent="-361950" algn="l"/>
            <a:r>
              <a:rPr lang="fr-CA" sz="2800" dirty="0"/>
              <a:t>3</a:t>
            </a:r>
            <a:r>
              <a:rPr lang="fr-CA" sz="2800" dirty="0" smtClean="0"/>
              <a:t>)</a:t>
            </a:r>
            <a:r>
              <a:rPr lang="fr-CA" sz="2800" dirty="0"/>
              <a:t>	Le </a:t>
            </a:r>
            <a:r>
              <a:rPr lang="fr-CA" sz="2800" dirty="0" smtClean="0"/>
              <a:t>taux de rendement comptable moyen</a:t>
            </a:r>
            <a:endParaRPr lang="fr-CA" sz="2800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3482538"/>
              </p:ext>
            </p:extLst>
          </p:nvPr>
        </p:nvGraphicFramePr>
        <p:xfrm>
          <a:off x="1691680" y="1203598"/>
          <a:ext cx="5604804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201"/>
                <a:gridCol w="1401201"/>
                <a:gridCol w="1401201"/>
                <a:gridCol w="1401201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L="132620" marR="132620" marT="34290" marB="34290" horzOverflow="overflow"/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-300 000 $</a:t>
                      </a: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L="132620" marR="132620"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L="132620" marR="132620" marT="34290" marB="34290" horzOverflow="overflow"/>
                </a:tc>
              </a:tr>
            </a:tbl>
          </a:graphicData>
        </a:graphic>
      </p:graphicFrame>
      <p:sp>
        <p:nvSpPr>
          <p:cNvPr id="25603" name="Rectangle 3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78800" y="1796629"/>
            <a:ext cx="8280400" cy="30607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2800" dirty="0" smtClean="0"/>
              <a:t>Définition :  </a:t>
            </a:r>
            <a:r>
              <a:rPr lang="fr-CA" sz="2800" b="1" i="1" u="sng" dirty="0" smtClean="0">
                <a:solidFill>
                  <a:schemeClr val="accent1"/>
                </a:solidFill>
              </a:rPr>
              <a:t>Bénéfice net moyen / valeur comptable moyenne</a:t>
            </a:r>
            <a:endParaRPr lang="fr-CA" sz="2800" dirty="0" smtClean="0"/>
          </a:p>
          <a:p>
            <a:pPr>
              <a:lnSpc>
                <a:spcPct val="120000"/>
              </a:lnSpc>
            </a:pPr>
            <a:endParaRPr lang="fr-CA" sz="28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fr-CA" sz="2800" dirty="0" smtClean="0"/>
              <a:t>Dépend des données comptables :</a:t>
            </a:r>
            <a:endParaRPr lang="fr-CA" sz="2400" i="1" dirty="0">
              <a:solidFill>
                <a:schemeClr val="tx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CA" sz="2200" i="1" dirty="0" smtClean="0"/>
              <a:t>Bénéfice net ≠ </a:t>
            </a:r>
            <a:r>
              <a:rPr lang="fr-CA" sz="2200" i="1" dirty="0" smtClean="0">
                <a:solidFill>
                  <a:schemeClr val="accent1"/>
                </a:solidFill>
              </a:rPr>
              <a:t>flux monétaires (ex.: charges d’amortissement)</a:t>
            </a:r>
          </a:p>
          <a:p>
            <a:pPr lvl="1">
              <a:lnSpc>
                <a:spcPct val="120000"/>
              </a:lnSpc>
            </a:pPr>
            <a:r>
              <a:rPr lang="fr-CA" sz="2200" i="1" dirty="0" smtClean="0"/>
              <a:t>Valeur comptable ≠ </a:t>
            </a:r>
            <a:r>
              <a:rPr lang="fr-CA" sz="2200" i="1" dirty="0" smtClean="0">
                <a:solidFill>
                  <a:schemeClr val="accent1"/>
                </a:solidFill>
              </a:rPr>
              <a:t>valeur au marché</a:t>
            </a:r>
          </a:p>
          <a:p>
            <a:pPr lvl="1">
              <a:lnSpc>
                <a:spcPct val="120000"/>
              </a:lnSpc>
              <a:buNone/>
            </a:pPr>
            <a:r>
              <a:rPr lang="fr-CA" sz="2200" dirty="0" smtClean="0"/>
              <a:t>Non représentatif de </a:t>
            </a:r>
            <a:r>
              <a:rPr lang="fr-CA" sz="2200" u="sng" dirty="0" smtClean="0"/>
              <a:t>l’impact direct sur </a:t>
            </a:r>
            <a:r>
              <a:rPr lang="fr-CA" sz="2200" u="sng" dirty="0" smtClean="0">
                <a:solidFill>
                  <a:schemeClr val="accent1"/>
                </a:solidFill>
              </a:rPr>
              <a:t>les </a:t>
            </a:r>
            <a:r>
              <a:rPr lang="fr-CA" sz="2200" u="sng" dirty="0" err="1" smtClean="0">
                <a:solidFill>
                  <a:schemeClr val="accent1"/>
                </a:solidFill>
              </a:rPr>
              <a:t>FMs</a:t>
            </a:r>
            <a:r>
              <a:rPr lang="fr-CA" sz="2200" u="sng" dirty="0" smtClean="0">
                <a:solidFill>
                  <a:schemeClr val="accent1"/>
                </a:solidFill>
              </a:rPr>
              <a:t> de l’investisseur</a:t>
            </a:r>
          </a:p>
          <a:p>
            <a:pPr>
              <a:lnSpc>
                <a:spcPct val="120000"/>
              </a:lnSpc>
            </a:pPr>
            <a:endParaRPr lang="fr-CA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fr-CA" sz="2400" dirty="0" smtClean="0"/>
              <a:t>Critère non-financier : </a:t>
            </a:r>
            <a:r>
              <a:rPr lang="fr-CA" sz="2400" dirty="0" smtClean="0">
                <a:solidFill>
                  <a:schemeClr val="accent1"/>
                </a:solidFill>
              </a:rPr>
              <a:t>ne se base pas sur la réalité économique</a:t>
            </a:r>
            <a:endParaRPr lang="fr-CA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978"/>
            <a:ext cx="8075240" cy="689372"/>
          </a:xfrm>
        </p:spPr>
        <p:txBody>
          <a:bodyPr>
            <a:noAutofit/>
          </a:bodyPr>
          <a:lstStyle/>
          <a:p>
            <a:pPr marL="361950" indent="-361950" algn="l"/>
            <a:r>
              <a:rPr lang="fr-CA" sz="2800" dirty="0" smtClean="0"/>
              <a:t>4)</a:t>
            </a:r>
            <a:r>
              <a:rPr lang="fr-CA" sz="2800" dirty="0"/>
              <a:t>	</a:t>
            </a:r>
            <a:r>
              <a:rPr lang="fr-CA" sz="2800" dirty="0" smtClean="0"/>
              <a:t>La VAN</a:t>
            </a:r>
            <a:r>
              <a:rPr lang="fr-CA" sz="2400" dirty="0" smtClean="0"/>
              <a:t/>
            </a:r>
            <a:br>
              <a:rPr lang="fr-CA" sz="2400" dirty="0" smtClean="0"/>
            </a:br>
            <a:r>
              <a:rPr lang="fr-CA" sz="1600" dirty="0" smtClean="0"/>
              <a:t>(valeur actuelle nette)</a:t>
            </a:r>
            <a:endParaRPr lang="fr-CA" sz="24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37059" y="1600320"/>
            <a:ext cx="8280400" cy="35111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CA" sz="3300" dirty="0" smtClean="0"/>
              <a:t>On calcule la valeur actuelle de chacun des FMs.</a:t>
            </a:r>
          </a:p>
          <a:p>
            <a:pPr>
              <a:buNone/>
            </a:pPr>
            <a:endParaRPr lang="fr-CA" sz="3300" dirty="0" smtClean="0"/>
          </a:p>
          <a:p>
            <a:pPr marL="0" indent="0">
              <a:buNone/>
            </a:pPr>
            <a:r>
              <a:rPr lang="fr-CA" sz="3300" dirty="0" smtClean="0"/>
              <a:t>On mesure </a:t>
            </a:r>
            <a:r>
              <a:rPr lang="fr-CA" sz="3300" u="sng" dirty="0" smtClean="0">
                <a:solidFill>
                  <a:schemeClr val="accent1"/>
                </a:solidFill>
              </a:rPr>
              <a:t>la valeur ajoutée </a:t>
            </a:r>
            <a:r>
              <a:rPr lang="fr-CA" sz="3300" dirty="0" smtClean="0"/>
              <a:t>du projet pour l’entreprise :</a:t>
            </a:r>
          </a:p>
          <a:p>
            <a:pPr>
              <a:buFontTx/>
              <a:buNone/>
            </a:pPr>
            <a:r>
              <a:rPr lang="fr-CA" sz="3300" dirty="0" smtClean="0"/>
              <a:t>	</a:t>
            </a:r>
          </a:p>
          <a:p>
            <a:pPr>
              <a:buFontTx/>
              <a:buNone/>
            </a:pPr>
            <a:endParaRPr lang="fr-CA" sz="3300" dirty="0" smtClean="0"/>
          </a:p>
          <a:p>
            <a:pPr>
              <a:buFontTx/>
              <a:buNone/>
            </a:pPr>
            <a:endParaRPr lang="fr-CA" sz="3300" dirty="0" smtClean="0"/>
          </a:p>
          <a:p>
            <a:pPr>
              <a:buFontTx/>
              <a:buNone/>
            </a:pPr>
            <a:endParaRPr lang="fr-CA" sz="3300" dirty="0" smtClean="0"/>
          </a:p>
          <a:p>
            <a:pPr marL="0" indent="0">
              <a:buNone/>
            </a:pPr>
            <a:r>
              <a:rPr lang="fr-CA" sz="3300" dirty="0" smtClean="0"/>
              <a:t>On trouve donc que :</a:t>
            </a:r>
            <a:r>
              <a:rPr lang="fr-CA" sz="3300" i="1" dirty="0" smtClean="0"/>
              <a:t> VAN = </a:t>
            </a:r>
            <a:r>
              <a:rPr lang="fr-CA" sz="3300" i="1" dirty="0" smtClean="0">
                <a:solidFill>
                  <a:schemeClr val="accent1"/>
                </a:solidFill>
              </a:rPr>
              <a:t>47 107 $</a:t>
            </a:r>
            <a:r>
              <a:rPr lang="fr-CA" sz="3800" i="1" dirty="0" smtClean="0">
                <a:solidFill>
                  <a:schemeClr val="accent1"/>
                </a:solidFill>
              </a:rPr>
              <a:t>  </a:t>
            </a:r>
            <a:r>
              <a:rPr lang="fr-CA" sz="1900" i="1" dirty="0" smtClean="0">
                <a:solidFill>
                  <a:schemeClr val="accent1"/>
                </a:solidFill>
              </a:rPr>
              <a:t>(-300 000 $ + 181 818 $ + 165 289 $)</a:t>
            </a:r>
          </a:p>
          <a:p>
            <a:pPr>
              <a:buFontTx/>
              <a:buNone/>
            </a:pPr>
            <a:r>
              <a:rPr lang="fr-CA" sz="2800" i="1" dirty="0" smtClean="0"/>
              <a:t>	</a:t>
            </a:r>
            <a:endParaRPr lang="fr-CA" sz="2600" dirty="0" smtClean="0"/>
          </a:p>
          <a:p>
            <a:pPr lvl="1"/>
            <a:r>
              <a:rPr lang="fr-CA" sz="2900" dirty="0" smtClean="0"/>
              <a:t>On tient compte du </a:t>
            </a:r>
            <a:r>
              <a:rPr lang="fr-CA" sz="2900" dirty="0" smtClean="0">
                <a:solidFill>
                  <a:schemeClr val="accent1"/>
                </a:solidFill>
              </a:rPr>
              <a:t>risque (à travers le taux exigé de 10 %)</a:t>
            </a:r>
          </a:p>
          <a:p>
            <a:pPr lvl="1"/>
            <a:r>
              <a:rPr lang="fr-CA" sz="2900" dirty="0" smtClean="0"/>
              <a:t>On tient compte de </a:t>
            </a:r>
            <a:r>
              <a:rPr lang="fr-CA" sz="2900" dirty="0" smtClean="0">
                <a:solidFill>
                  <a:schemeClr val="accent1"/>
                </a:solidFill>
              </a:rPr>
              <a:t>tous les </a:t>
            </a:r>
            <a:r>
              <a:rPr lang="fr-CA" sz="2900" dirty="0" err="1" smtClean="0">
                <a:solidFill>
                  <a:schemeClr val="accent1"/>
                </a:solidFill>
              </a:rPr>
              <a:t>FMs</a:t>
            </a:r>
            <a:r>
              <a:rPr lang="fr-CA" sz="2900" dirty="0" smtClean="0">
                <a:solidFill>
                  <a:schemeClr val="accent1"/>
                </a:solidFill>
              </a:rPr>
              <a:t> reliés au projet</a:t>
            </a:r>
          </a:p>
          <a:p>
            <a:pPr lvl="1"/>
            <a:r>
              <a:rPr lang="fr-CA" sz="2900" dirty="0" smtClean="0"/>
              <a:t>On tient compte de </a:t>
            </a:r>
            <a:r>
              <a:rPr lang="fr-CA" sz="2900" dirty="0" smtClean="0">
                <a:solidFill>
                  <a:schemeClr val="accent1"/>
                </a:solidFill>
              </a:rPr>
              <a:t>la valeur de l’argent dans le temps</a:t>
            </a:r>
            <a:endParaRPr lang="fr-CA" sz="2900" dirty="0">
              <a:solidFill>
                <a:schemeClr val="accent1"/>
              </a:solidFill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36573999"/>
              </p:ext>
            </p:extLst>
          </p:nvPr>
        </p:nvGraphicFramePr>
        <p:xfrm>
          <a:off x="1755457" y="942861"/>
          <a:ext cx="5643604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901"/>
                <a:gridCol w="1410901"/>
                <a:gridCol w="1410901"/>
                <a:gridCol w="1410901"/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4232027"/>
              </p:ext>
            </p:extLst>
          </p:nvPr>
        </p:nvGraphicFramePr>
        <p:xfrm>
          <a:off x="683568" y="2571750"/>
          <a:ext cx="7215240" cy="910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810"/>
                <a:gridCol w="1803810"/>
                <a:gridCol w="1803810"/>
                <a:gridCol w="1803810"/>
              </a:tblGrid>
              <a:tr h="4554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4554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+181 818 $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+165 289 $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05978"/>
            <a:ext cx="8147844" cy="689372"/>
          </a:xfrm>
        </p:spPr>
        <p:txBody>
          <a:bodyPr>
            <a:noAutofit/>
          </a:bodyPr>
          <a:lstStyle/>
          <a:p>
            <a:pPr marL="446088" indent="-446088" algn="l"/>
            <a:r>
              <a:rPr lang="fr-CA" sz="2800" dirty="0" smtClean="0"/>
              <a:t>5) Le TRI</a:t>
            </a:r>
            <a:r>
              <a:rPr lang="fr-CA" sz="2400" dirty="0"/>
              <a:t/>
            </a:r>
            <a:br>
              <a:rPr lang="fr-CA" sz="2400" dirty="0"/>
            </a:br>
            <a:r>
              <a:rPr lang="fr-CA" sz="1200" dirty="0" smtClean="0"/>
              <a:t>(taux de rendement interne)</a:t>
            </a:r>
            <a:endParaRPr lang="fr-CA" sz="24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324644" y="1489710"/>
            <a:ext cx="8280400" cy="3815969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3600" dirty="0" smtClean="0"/>
              <a:t>Définition : </a:t>
            </a:r>
            <a:r>
              <a:rPr lang="fr-CA" sz="3600" dirty="0" smtClean="0">
                <a:solidFill>
                  <a:schemeClr val="accent1"/>
                </a:solidFill>
              </a:rPr>
              <a:t>taux pour lequel la VAN est nulle.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CA" sz="3600" dirty="0" smtClean="0"/>
              <a:t>Ou encore, on compare les entrées et sorties de fonds au même temps « t »</a:t>
            </a:r>
            <a:endParaRPr lang="fr-CA" sz="3600" dirty="0" smtClean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  <a:buFontTx/>
              <a:buNone/>
            </a:pPr>
            <a:endParaRPr lang="fr-CA" sz="2500" dirty="0" smtClean="0"/>
          </a:p>
          <a:p>
            <a:pPr>
              <a:lnSpc>
                <a:spcPct val="120000"/>
              </a:lnSpc>
              <a:buFontTx/>
              <a:buNone/>
            </a:pPr>
            <a:endParaRPr lang="fr-CA" sz="3600" dirty="0" smtClean="0"/>
          </a:p>
          <a:p>
            <a:pPr>
              <a:lnSpc>
                <a:spcPct val="120000"/>
              </a:lnSpc>
              <a:buFontTx/>
              <a:buNone/>
            </a:pPr>
            <a:r>
              <a:rPr lang="fr-CA" sz="3600" dirty="0" smtClean="0"/>
              <a:t>	</a:t>
            </a:r>
          </a:p>
          <a:p>
            <a:pPr>
              <a:lnSpc>
                <a:spcPct val="120000"/>
              </a:lnSpc>
              <a:buFontTx/>
              <a:buNone/>
            </a:pPr>
            <a:endParaRPr lang="fr-CA" sz="3600" dirty="0" smtClean="0"/>
          </a:p>
          <a:p>
            <a:pPr>
              <a:lnSpc>
                <a:spcPct val="120000"/>
              </a:lnSpc>
              <a:buFontTx/>
              <a:buNone/>
            </a:pPr>
            <a:endParaRPr lang="fr-CA" sz="3600" dirty="0" smtClean="0"/>
          </a:p>
          <a:p>
            <a:pPr>
              <a:lnSpc>
                <a:spcPct val="120000"/>
              </a:lnSpc>
              <a:buFontTx/>
              <a:buNone/>
            </a:pPr>
            <a:endParaRPr lang="fr-CA" sz="3600" dirty="0" smtClean="0"/>
          </a:p>
          <a:p>
            <a:pPr>
              <a:lnSpc>
                <a:spcPct val="120000"/>
              </a:lnSpc>
              <a:buFontTx/>
              <a:buNone/>
            </a:pPr>
            <a:endParaRPr lang="fr-CA" sz="36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fr-CA" sz="3600" dirty="0" smtClean="0"/>
              <a:t>On trouve donc que:</a:t>
            </a:r>
            <a:r>
              <a:rPr lang="fr-CA" sz="3600" i="1" dirty="0" smtClean="0"/>
              <a:t> TRI = 21,53 %</a:t>
            </a:r>
            <a:endParaRPr lang="fr-CA" sz="4400" i="1" dirty="0"/>
          </a:p>
          <a:p>
            <a:pPr lvl="1">
              <a:lnSpc>
                <a:spcPct val="120000"/>
              </a:lnSpc>
            </a:pPr>
            <a:r>
              <a:rPr lang="fr-CA" sz="2900" i="1" dirty="0" smtClean="0"/>
              <a:t>À l’aide d’</a:t>
            </a:r>
            <a:r>
              <a:rPr lang="fr-CA" sz="2900" i="1" dirty="0"/>
              <a:t>E</a:t>
            </a:r>
            <a:r>
              <a:rPr lang="fr-CA" sz="2900" i="1" dirty="0" smtClean="0"/>
              <a:t>xcel: </a:t>
            </a:r>
            <a:r>
              <a:rPr lang="fr-CA" sz="2900" i="1" dirty="0" smtClean="0">
                <a:solidFill>
                  <a:schemeClr val="accent1"/>
                </a:solidFill>
              </a:rPr>
              <a:t>solveur ou valeur cible (</a:t>
            </a:r>
            <a:r>
              <a:rPr lang="fr-CA" sz="2900" i="1" dirty="0" err="1" smtClean="0">
                <a:solidFill>
                  <a:schemeClr val="accent1"/>
                </a:solidFill>
              </a:rPr>
              <a:t>solver</a:t>
            </a:r>
            <a:r>
              <a:rPr lang="fr-CA" sz="2900" i="1" dirty="0">
                <a:solidFill>
                  <a:schemeClr val="accent1"/>
                </a:solidFill>
              </a:rPr>
              <a:t> </a:t>
            </a:r>
            <a:r>
              <a:rPr lang="fr-CA" sz="2900" i="1" dirty="0" smtClean="0">
                <a:solidFill>
                  <a:schemeClr val="accent1"/>
                </a:solidFill>
              </a:rPr>
              <a:t>or goal </a:t>
            </a:r>
            <a:r>
              <a:rPr lang="fr-CA" sz="2900" i="1" dirty="0" err="1" smtClean="0">
                <a:solidFill>
                  <a:schemeClr val="accent1"/>
                </a:solidFill>
              </a:rPr>
              <a:t>seek</a:t>
            </a:r>
            <a:r>
              <a:rPr lang="fr-CA" sz="2900" i="1" dirty="0" smtClean="0">
                <a:solidFill>
                  <a:schemeClr val="accent1"/>
                </a:solidFill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fr-CA" sz="2900" i="1" dirty="0" smtClean="0"/>
              <a:t>À l’aide de la calculatrice financière: </a:t>
            </a:r>
            <a:r>
              <a:rPr lang="fr-CA" sz="2900" i="1" dirty="0" smtClean="0">
                <a:solidFill>
                  <a:schemeClr val="accent1"/>
                </a:solidFill>
              </a:rPr>
              <a:t>les 3 touches: CF, NPV, IRR</a:t>
            </a:r>
            <a:endParaRPr lang="fr-CA" sz="2900" dirty="0">
              <a:solidFill>
                <a:schemeClr val="accent1"/>
              </a:solidFill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27335866"/>
              </p:ext>
            </p:extLst>
          </p:nvPr>
        </p:nvGraphicFramePr>
        <p:xfrm>
          <a:off x="1819440" y="967492"/>
          <a:ext cx="5643604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901"/>
                <a:gridCol w="1410901"/>
                <a:gridCol w="1410901"/>
                <a:gridCol w="1410901"/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27016887"/>
              </p:ext>
            </p:extLst>
          </p:nvPr>
        </p:nvGraphicFramePr>
        <p:xfrm>
          <a:off x="1259632" y="2153997"/>
          <a:ext cx="6207128" cy="9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782"/>
                <a:gridCol w="1551782"/>
                <a:gridCol w="1551782"/>
                <a:gridCol w="1551782"/>
              </a:tblGrid>
              <a:tr h="4525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Temps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0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1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 = 2</a:t>
                      </a:r>
                    </a:p>
                  </a:txBody>
                  <a:tcPr marT="34290" marB="34290" horzOverflow="overflow"/>
                </a:tc>
              </a:tr>
              <a:tr h="4525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FMs</a:t>
                      </a:r>
                      <a:endParaRPr kumimoji="0" lang="fr-CA" sz="1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+200 000 $</a:t>
                      </a:r>
                    </a:p>
                  </a:txBody>
                  <a:tcPr marT="34290" marB="34290" horzOverflow="overflow"/>
                </a:tc>
              </a:tr>
            </a:tbl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52279933"/>
              </p:ext>
            </p:extLst>
          </p:nvPr>
        </p:nvGraphicFramePr>
        <p:xfrm>
          <a:off x="1259728" y="3219822"/>
          <a:ext cx="623728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Équation" r:id="rId8" imgW="2400120" imgH="431640" progId="Equation.3">
                  <p:embed/>
                </p:oleObj>
              </mc:Choice>
              <mc:Fallback>
                <p:oleObj name="Équation" r:id="rId8" imgW="240012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728" y="3219822"/>
                        <a:ext cx="6237288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267689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 smtClean="0"/>
              <a:t>Chapitre 9: les critères d’évaluation de projet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 smtClean="0"/>
              <a:t>Le conflit VAN vs TRI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11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68314" y="195262"/>
            <a:ext cx="8002587" cy="558404"/>
          </a:xfrm>
        </p:spPr>
        <p:txBody>
          <a:bodyPr/>
          <a:lstStyle/>
          <a:p>
            <a:pPr marL="838200" indent="-838200" algn="l"/>
            <a:r>
              <a:rPr lang="fr-CA" sz="2800" u="sng" dirty="0"/>
              <a:t>Le conflit VAN </a:t>
            </a:r>
            <a:r>
              <a:rPr lang="fr-CA" sz="2800" i="1" u="sng" dirty="0"/>
              <a:t>vs</a:t>
            </a:r>
            <a:r>
              <a:rPr lang="fr-CA" sz="2800" u="sng" dirty="0"/>
              <a:t> TRI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395536" y="814390"/>
            <a:ext cx="8136904" cy="4050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dirty="0" smtClean="0"/>
              <a:t>Ces </a:t>
            </a:r>
            <a:r>
              <a:rPr lang="fr-CA" sz="2000" dirty="0"/>
              <a:t>deux critères sont </a:t>
            </a:r>
            <a:r>
              <a:rPr lang="fr-CA" sz="2000" dirty="0" smtClean="0"/>
              <a:t>le </a:t>
            </a:r>
            <a:r>
              <a:rPr lang="fr-CA" sz="2000" dirty="0"/>
              <a:t>même </a:t>
            </a:r>
            <a:r>
              <a:rPr lang="fr-CA" sz="2000" dirty="0">
                <a:solidFill>
                  <a:schemeClr val="accent1"/>
                </a:solidFill>
              </a:rPr>
              <a:t>(TRI </a:t>
            </a:r>
            <a:r>
              <a:rPr lang="fr-CA" sz="2000" dirty="0">
                <a:solidFill>
                  <a:schemeClr val="accent1"/>
                </a:solidFill>
                <a:sym typeface="Symbol" pitchFamily="18" charset="2"/>
              </a:rPr>
              <a:t></a:t>
            </a:r>
            <a:r>
              <a:rPr lang="fr-CA" sz="2000" dirty="0">
                <a:solidFill>
                  <a:schemeClr val="accent1"/>
                </a:solidFill>
              </a:rPr>
              <a:t> VAN=0). </a:t>
            </a:r>
            <a:endParaRPr lang="fr-CA" sz="20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CA" sz="2000" dirty="0" smtClean="0"/>
              <a:t>Cependant</a:t>
            </a:r>
            <a:r>
              <a:rPr lang="fr-CA" sz="2000" dirty="0"/>
              <a:t>, il peut y avoir </a:t>
            </a:r>
            <a:r>
              <a:rPr lang="fr-CA" sz="2000" dirty="0" smtClean="0">
                <a:solidFill>
                  <a:schemeClr val="accent1"/>
                </a:solidFill>
              </a:rPr>
              <a:t>conflit entre ces deux critères :</a:t>
            </a:r>
            <a:endParaRPr lang="fr-CA" sz="2000" dirty="0">
              <a:solidFill>
                <a:schemeClr val="accent1"/>
              </a:solidFill>
            </a:endParaRPr>
          </a:p>
          <a:p>
            <a:endParaRPr lang="fr-CA" sz="2400" dirty="0"/>
          </a:p>
          <a:p>
            <a:pPr lvl="1">
              <a:buFontTx/>
              <a:buNone/>
            </a:pPr>
            <a:endParaRPr lang="fr-CA" sz="2000" dirty="0"/>
          </a:p>
          <a:p>
            <a:pPr lvl="1">
              <a:buFontTx/>
              <a:buNone/>
            </a:pPr>
            <a:endParaRPr lang="fr-CA" sz="2000" dirty="0"/>
          </a:p>
          <a:p>
            <a:pPr lvl="1">
              <a:buFontTx/>
              <a:buNone/>
            </a:pPr>
            <a:endParaRPr lang="fr-CA" sz="2000" dirty="0"/>
          </a:p>
          <a:p>
            <a:endParaRPr lang="fr-CA" sz="2000" dirty="0" smtClean="0"/>
          </a:p>
          <a:p>
            <a:endParaRPr lang="fr-CA" sz="2000" dirty="0"/>
          </a:p>
          <a:p>
            <a:pPr marL="0" indent="0">
              <a:buNone/>
            </a:pPr>
            <a:r>
              <a:rPr lang="fr-CA" sz="2000" dirty="0" smtClean="0"/>
              <a:t>Il </a:t>
            </a:r>
            <a:r>
              <a:rPr lang="fr-CA" sz="2000" dirty="0"/>
              <a:t>peut y avoir plusieurs </a:t>
            </a:r>
            <a:r>
              <a:rPr lang="fr-CA" sz="2000" dirty="0" smtClean="0">
                <a:solidFill>
                  <a:schemeClr val="accent1"/>
                </a:solidFill>
              </a:rPr>
              <a:t>TRI </a:t>
            </a:r>
            <a:r>
              <a:rPr lang="fr-CA" sz="1600" dirty="0">
                <a:solidFill>
                  <a:schemeClr val="accent1"/>
                </a:solidFill>
              </a:rPr>
              <a:t>(les zéros de la </a:t>
            </a:r>
            <a:r>
              <a:rPr lang="fr-CA" sz="1600" dirty="0" smtClean="0">
                <a:solidFill>
                  <a:schemeClr val="accent1"/>
                </a:solidFill>
              </a:rPr>
              <a:t>fonction d’une VAN complexe)</a:t>
            </a:r>
            <a:endParaRPr lang="fr-CA" sz="20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CA" sz="2000" b="1" i="1" u="sng" dirty="0" smtClean="0">
                <a:solidFill>
                  <a:schemeClr val="accent1"/>
                </a:solidFill>
              </a:rPr>
              <a:t>La VAN </a:t>
            </a:r>
            <a:r>
              <a:rPr lang="fr-CA" sz="2000" b="1" i="1" u="sng" dirty="0">
                <a:solidFill>
                  <a:schemeClr val="accent1"/>
                </a:solidFill>
              </a:rPr>
              <a:t>sera notre critère de décision ultime</a:t>
            </a:r>
            <a:r>
              <a:rPr lang="fr-CA" sz="2000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fr-CA" sz="2000" dirty="0" smtClean="0">
                <a:solidFill>
                  <a:schemeClr val="accent1"/>
                </a:solidFill>
              </a:rPr>
              <a:t>TRI </a:t>
            </a:r>
            <a:r>
              <a:rPr lang="fr-CA" sz="2000" dirty="0">
                <a:solidFill>
                  <a:schemeClr val="accent1"/>
                </a:solidFill>
              </a:rPr>
              <a:t>servira comme point </a:t>
            </a:r>
            <a:r>
              <a:rPr lang="fr-CA" sz="2000" dirty="0" smtClean="0">
                <a:solidFill>
                  <a:schemeClr val="accent1"/>
                </a:solidFill>
              </a:rPr>
              <a:t>d’illustration</a:t>
            </a:r>
            <a:endParaRPr lang="fr-CA" sz="2000" dirty="0">
              <a:solidFill>
                <a:schemeClr val="accent1"/>
              </a:solidFill>
            </a:endParaRPr>
          </a:p>
        </p:txBody>
      </p:sp>
      <p:grpSp>
        <p:nvGrpSpPr>
          <p:cNvPr id="24" name="Groupe 23"/>
          <p:cNvGrpSpPr/>
          <p:nvPr>
            <p:custDataLst>
              <p:tags r:id="rId3"/>
            </p:custDataLst>
          </p:nvPr>
        </p:nvGrpSpPr>
        <p:grpSpPr>
          <a:xfrm>
            <a:off x="785787" y="1553759"/>
            <a:ext cx="7872361" cy="1674019"/>
            <a:chOff x="785786" y="2071678"/>
            <a:chExt cx="7872361" cy="2232025"/>
          </a:xfrm>
        </p:grpSpPr>
        <p:sp>
          <p:nvSpPr>
            <p:cNvPr id="15364" name="Line 4"/>
            <p:cNvSpPr>
              <a:spLocks noChangeShapeType="1"/>
            </p:cNvSpPr>
            <p:nvPr/>
          </p:nvSpPr>
          <p:spPr bwMode="auto">
            <a:xfrm flipV="1">
              <a:off x="3378173" y="2071678"/>
              <a:ext cx="0" cy="2232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5365" name="Line 5"/>
            <p:cNvSpPr>
              <a:spLocks noChangeShapeType="1"/>
            </p:cNvSpPr>
            <p:nvPr/>
          </p:nvSpPr>
          <p:spPr bwMode="auto">
            <a:xfrm>
              <a:off x="785786" y="3224203"/>
              <a:ext cx="70564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5366" name="Freeform 6"/>
            <p:cNvSpPr>
              <a:spLocks/>
            </p:cNvSpPr>
            <p:nvPr/>
          </p:nvSpPr>
          <p:spPr bwMode="auto">
            <a:xfrm>
              <a:off x="1146148" y="2562216"/>
              <a:ext cx="7127875" cy="1357312"/>
            </a:xfrm>
            <a:custGeom>
              <a:avLst/>
              <a:gdLst/>
              <a:ahLst/>
              <a:cxnLst>
                <a:cxn ang="0">
                  <a:pos x="0" y="779"/>
                </a:cxn>
                <a:cxn ang="0">
                  <a:pos x="680" y="8"/>
                </a:cxn>
                <a:cxn ang="0">
                  <a:pos x="1905" y="825"/>
                </a:cxn>
                <a:cxn ang="0">
                  <a:pos x="2857" y="190"/>
                </a:cxn>
                <a:cxn ang="0">
                  <a:pos x="4490" y="779"/>
                </a:cxn>
              </a:cxnLst>
              <a:rect l="0" t="0" r="r" b="b"/>
              <a:pathLst>
                <a:path w="4490" h="855">
                  <a:moveTo>
                    <a:pt x="0" y="779"/>
                  </a:moveTo>
                  <a:cubicBezTo>
                    <a:pt x="181" y="389"/>
                    <a:pt x="363" y="0"/>
                    <a:pt x="680" y="8"/>
                  </a:cubicBezTo>
                  <a:cubicBezTo>
                    <a:pt x="997" y="16"/>
                    <a:pt x="1542" y="795"/>
                    <a:pt x="1905" y="825"/>
                  </a:cubicBezTo>
                  <a:cubicBezTo>
                    <a:pt x="2268" y="855"/>
                    <a:pt x="2426" y="198"/>
                    <a:pt x="2857" y="190"/>
                  </a:cubicBezTo>
                  <a:cubicBezTo>
                    <a:pt x="3288" y="182"/>
                    <a:pt x="4233" y="681"/>
                    <a:pt x="4490" y="77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3357536" y="2085966"/>
              <a:ext cx="608052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>
                  <a:latin typeface="Tahoma" pitchFamily="34" charset="0"/>
                </a:rPr>
                <a:t>VAN</a:t>
              </a:r>
            </a:p>
          </p:txBody>
        </p:sp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7389786" y="2806691"/>
              <a:ext cx="126836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dirty="0" smtClean="0">
                  <a:latin typeface="Tahoma" pitchFamily="34" charset="0"/>
                </a:rPr>
                <a:t>Taux exigé</a:t>
              </a:r>
              <a:endParaRPr lang="fr-CA" dirty="0">
                <a:latin typeface="Tahoma" pitchFamily="34" charset="0"/>
              </a:endParaRPr>
            </a:p>
          </p:txBody>
        </p:sp>
      </p:grpSp>
      <p:grpSp>
        <p:nvGrpSpPr>
          <p:cNvPr id="17" name="Groupe 16"/>
          <p:cNvGrpSpPr/>
          <p:nvPr>
            <p:custDataLst>
              <p:tags r:id="rId4"/>
            </p:custDataLst>
          </p:nvPr>
        </p:nvGrpSpPr>
        <p:grpSpPr>
          <a:xfrm>
            <a:off x="1428728" y="2464594"/>
            <a:ext cx="5500726" cy="1173010"/>
            <a:chOff x="1428728" y="3286124"/>
            <a:chExt cx="5500726" cy="1564012"/>
          </a:xfrm>
        </p:grpSpPr>
        <p:sp>
          <p:nvSpPr>
            <p:cNvPr id="10" name="ZoneTexte 9"/>
            <p:cNvSpPr txBox="1"/>
            <p:nvPr/>
          </p:nvSpPr>
          <p:spPr>
            <a:xfrm>
              <a:off x="3857620" y="4357694"/>
              <a:ext cx="57150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 smtClean="0">
                  <a:solidFill>
                    <a:schemeClr val="accent1"/>
                  </a:solidFill>
                </a:rPr>
                <a:t>TRI</a:t>
              </a:r>
              <a:endParaRPr lang="fr-CA" dirty="0">
                <a:solidFill>
                  <a:schemeClr val="accent1"/>
                </a:solidFill>
              </a:endParaRPr>
            </a:p>
          </p:txBody>
        </p:sp>
        <p:cxnSp>
          <p:nvCxnSpPr>
            <p:cNvPr id="12" name="Connecteur en arc 11"/>
            <p:cNvCxnSpPr/>
            <p:nvPr/>
          </p:nvCxnSpPr>
          <p:spPr>
            <a:xfrm rot="10800000">
              <a:off x="1428728" y="3286124"/>
              <a:ext cx="2214578" cy="1143008"/>
            </a:xfrm>
            <a:prstGeom prst="curvedConnector3">
              <a:avLst>
                <a:gd name="adj1" fmla="val 101613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en arc 13"/>
            <p:cNvCxnSpPr/>
            <p:nvPr/>
          </p:nvCxnSpPr>
          <p:spPr>
            <a:xfrm rot="16200000" flipV="1">
              <a:off x="3036083" y="3393281"/>
              <a:ext cx="1000132" cy="785818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en arc 15"/>
            <p:cNvCxnSpPr/>
            <p:nvPr/>
          </p:nvCxnSpPr>
          <p:spPr>
            <a:xfrm rot="5400000" flipH="1" flipV="1">
              <a:off x="4143372" y="3429000"/>
              <a:ext cx="1071570" cy="785818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en arc 17"/>
            <p:cNvCxnSpPr/>
            <p:nvPr/>
          </p:nvCxnSpPr>
          <p:spPr>
            <a:xfrm flipV="1">
              <a:off x="4643438" y="3357562"/>
              <a:ext cx="2286016" cy="1071570"/>
            </a:xfrm>
            <a:prstGeom prst="curvedConnector3">
              <a:avLst>
                <a:gd name="adj1" fmla="val 9916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79796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483</TotalTime>
  <Words>498</Words>
  <Application>Microsoft Office PowerPoint</Application>
  <PresentationFormat>On-screen Show (16:9)</PresentationFormat>
  <Paragraphs>152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Symbol</vt:lpstr>
      <vt:lpstr>Tahoma</vt:lpstr>
      <vt:lpstr>ThèmeHEC</vt:lpstr>
      <vt:lpstr>Équation</vt:lpstr>
      <vt:lpstr>Chapitre 9: les critères d’évaluation de projet</vt:lpstr>
      <vt:lpstr>Les critères d’évaluation de projet</vt:lpstr>
      <vt:lpstr>1) Le délai de récupération</vt:lpstr>
      <vt:lpstr>2) Le délai de récupération actualisé</vt:lpstr>
      <vt:lpstr>3) Le taux de rendement comptable moyen</vt:lpstr>
      <vt:lpstr>4) La VAN (valeur actuelle nette)</vt:lpstr>
      <vt:lpstr>5) Le TRI (taux de rendement interne)</vt:lpstr>
      <vt:lpstr>PowerPoint Presentation</vt:lpstr>
      <vt:lpstr>Chapitre 9: les critères d’évaluation de projet</vt:lpstr>
      <vt:lpstr>Le conflit VAN vs TRI</vt:lpstr>
      <vt:lpstr>PowerPoint Presentation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34</cp:revision>
  <dcterms:created xsi:type="dcterms:W3CDTF">2009-10-06T16:37:55Z</dcterms:created>
  <dcterms:modified xsi:type="dcterms:W3CDTF">2016-05-25T18:15:59Z</dcterms:modified>
</cp:coreProperties>
</file>