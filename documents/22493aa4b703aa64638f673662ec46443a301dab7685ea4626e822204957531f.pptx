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4"/>
  </p:sldMasterIdLst>
  <p:sldIdLst>
    <p:sldId id="257" r:id="rId5"/>
    <p:sldId id="268" r:id="rId6"/>
    <p:sldId id="282" r:id="rId7"/>
    <p:sldId id="283" r:id="rId8"/>
    <p:sldId id="269" r:id="rId9"/>
    <p:sldId id="270" r:id="rId10"/>
    <p:sldId id="271" r:id="rId11"/>
    <p:sldId id="272" r:id="rId12"/>
    <p:sldId id="273" r:id="rId13"/>
    <p:sldId id="284" r:id="rId14"/>
    <p:sldId id="287" r:id="rId15"/>
    <p:sldId id="281" r:id="rId16"/>
    <p:sldId id="274" r:id="rId17"/>
    <p:sldId id="275" r:id="rId18"/>
    <p:sldId id="276" r:id="rId19"/>
    <p:sldId id="277" r:id="rId20"/>
    <p:sldId id="278" r:id="rId21"/>
    <p:sldId id="288" r:id="rId22"/>
    <p:sldId id="279" r:id="rId23"/>
    <p:sldId id="280" r:id="rId24"/>
    <p:sldId id="289" r:id="rId25"/>
    <p:sldId id="285" r:id="rId26"/>
    <p:sldId id="286" r:id="rId27"/>
    <p:sldId id="290" r:id="rId28"/>
    <p:sldId id="261" r:id="rId29"/>
    <p:sldId id="262" r:id="rId30"/>
    <p:sldId id="291" r:id="rId31"/>
    <p:sldId id="263" r:id="rId32"/>
    <p:sldId id="264" r:id="rId33"/>
    <p:sldId id="265" r:id="rId34"/>
    <p:sldId id="267" r:id="rId35"/>
    <p:sldId id="266" r:id="rId36"/>
  </p:sldIdLst>
  <p:sldSz cx="9144000" cy="5143500" type="screen16x9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95" autoAdjust="0"/>
    <p:restoredTop sz="94660"/>
  </p:normalViewPr>
  <p:slideViewPr>
    <p:cSldViewPr>
      <p:cViewPr varScale="1">
        <p:scale>
          <a:sx n="79" d="100"/>
          <a:sy n="79" d="100"/>
        </p:scale>
        <p:origin x="584" y="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7CBABC-C32D-42CA-BC3C-27E5667732A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7F0ED691-F9DB-4A48-AA51-4292EA64FC5D}">
      <dgm:prSet phldrT="[Texte]"/>
      <dgm:spPr/>
      <dgm:t>
        <a:bodyPr/>
        <a:lstStyle/>
        <a:p>
          <a:r>
            <a:rPr lang="fr-CA" dirty="0"/>
            <a:t>Risque total</a:t>
          </a:r>
        </a:p>
      </dgm:t>
    </dgm:pt>
    <dgm:pt modelId="{58B6C0A6-A43D-4CFF-94DA-653AA508A2D7}" type="parTrans" cxnId="{9EB42713-4391-474F-941A-14453BA6CF06}">
      <dgm:prSet/>
      <dgm:spPr/>
      <dgm:t>
        <a:bodyPr/>
        <a:lstStyle/>
        <a:p>
          <a:endParaRPr lang="fr-CA"/>
        </a:p>
      </dgm:t>
    </dgm:pt>
    <dgm:pt modelId="{1839CAA5-59AB-4B61-9F4A-0E12765FDF3D}" type="sibTrans" cxnId="{9EB42713-4391-474F-941A-14453BA6CF06}">
      <dgm:prSet/>
      <dgm:spPr/>
      <dgm:t>
        <a:bodyPr/>
        <a:lstStyle/>
        <a:p>
          <a:endParaRPr lang="fr-CA"/>
        </a:p>
      </dgm:t>
    </dgm:pt>
    <dgm:pt modelId="{F97681E8-296F-4673-A870-90AE92A0289A}">
      <dgm:prSet phldrT="[Texte]"/>
      <dgm:spPr/>
      <dgm:t>
        <a:bodyPr/>
        <a:lstStyle/>
        <a:p>
          <a:r>
            <a:rPr lang="fr-CA" dirty="0"/>
            <a:t>Réfère à l’écart-type</a:t>
          </a:r>
        </a:p>
      </dgm:t>
    </dgm:pt>
    <dgm:pt modelId="{10E3655D-7BAE-48D2-A4A2-C0A5FA3310C9}" type="parTrans" cxnId="{CCBD0407-5D32-41B4-B1F2-C9191FF30140}">
      <dgm:prSet/>
      <dgm:spPr/>
      <dgm:t>
        <a:bodyPr/>
        <a:lstStyle/>
        <a:p>
          <a:endParaRPr lang="fr-CA"/>
        </a:p>
      </dgm:t>
    </dgm:pt>
    <dgm:pt modelId="{9D676039-3D16-4BAF-A1B6-176C815CA21E}" type="sibTrans" cxnId="{CCBD0407-5D32-41B4-B1F2-C9191FF30140}">
      <dgm:prSet/>
      <dgm:spPr/>
      <dgm:t>
        <a:bodyPr/>
        <a:lstStyle/>
        <a:p>
          <a:endParaRPr lang="fr-CA"/>
        </a:p>
      </dgm:t>
    </dgm:pt>
    <dgm:pt modelId="{BA6EFC43-AA1C-414C-9326-52B8ED2037DB}">
      <dgm:prSet phldrT="[Texte]"/>
      <dgm:spPr/>
      <dgm:t>
        <a:bodyPr/>
        <a:lstStyle/>
        <a:p>
          <a:r>
            <a:rPr lang="fr-CA" dirty="0"/>
            <a:t>Sur une base individuelle, le risque des titres présente une partie systématique et une partie spécifique</a:t>
          </a:r>
        </a:p>
      </dgm:t>
    </dgm:pt>
    <dgm:pt modelId="{970FA872-2DAD-4B25-A546-45EB93CF4322}" type="parTrans" cxnId="{74523159-EC1E-420C-95BB-1C56F8FDED69}">
      <dgm:prSet/>
      <dgm:spPr/>
      <dgm:t>
        <a:bodyPr/>
        <a:lstStyle/>
        <a:p>
          <a:endParaRPr lang="fr-CA"/>
        </a:p>
      </dgm:t>
    </dgm:pt>
    <dgm:pt modelId="{8A04D74C-CB0D-4735-B486-D028439EC974}" type="sibTrans" cxnId="{74523159-EC1E-420C-95BB-1C56F8FDED69}">
      <dgm:prSet/>
      <dgm:spPr/>
      <dgm:t>
        <a:bodyPr/>
        <a:lstStyle/>
        <a:p>
          <a:endParaRPr lang="fr-CA"/>
        </a:p>
      </dgm:t>
    </dgm:pt>
    <dgm:pt modelId="{8C278451-B67D-4059-A140-85A8C30E5F56}">
      <dgm:prSet phldrT="[Texte]"/>
      <dgm:spPr/>
      <dgm:t>
        <a:bodyPr/>
        <a:lstStyle/>
        <a:p>
          <a:r>
            <a:rPr lang="fr-CA" dirty="0"/>
            <a:t>Risque systématique</a:t>
          </a:r>
        </a:p>
      </dgm:t>
    </dgm:pt>
    <dgm:pt modelId="{19A7050C-5374-48D4-BC8D-FEA800841999}" type="parTrans" cxnId="{7B0D5DB5-29BF-4D3E-A404-DB1DEDB316F1}">
      <dgm:prSet/>
      <dgm:spPr/>
      <dgm:t>
        <a:bodyPr/>
        <a:lstStyle/>
        <a:p>
          <a:endParaRPr lang="fr-CA"/>
        </a:p>
      </dgm:t>
    </dgm:pt>
    <dgm:pt modelId="{1A270F67-CD23-4EDE-A7A9-B396D354CD83}" type="sibTrans" cxnId="{7B0D5DB5-29BF-4D3E-A404-DB1DEDB316F1}">
      <dgm:prSet/>
      <dgm:spPr/>
      <dgm:t>
        <a:bodyPr/>
        <a:lstStyle/>
        <a:p>
          <a:endParaRPr lang="fr-CA"/>
        </a:p>
      </dgm:t>
    </dgm:pt>
    <dgm:pt modelId="{EBB13A5D-3F23-44A8-B71A-4E1D46326B93}">
      <dgm:prSet phldrT="[Texte]"/>
      <dgm:spPr/>
      <dgm:t>
        <a:bodyPr/>
        <a:lstStyle/>
        <a:p>
          <a:r>
            <a:rPr lang="fr-CA" dirty="0"/>
            <a:t>Ne présente que la part non-éliminable  par diversification</a:t>
          </a:r>
        </a:p>
      </dgm:t>
    </dgm:pt>
    <dgm:pt modelId="{0BDDB550-578C-44CA-9A67-D5F1EE5DD7D9}" type="parTrans" cxnId="{716FB29B-5466-42F0-9431-29DFACC9E7E0}">
      <dgm:prSet/>
      <dgm:spPr/>
      <dgm:t>
        <a:bodyPr/>
        <a:lstStyle/>
        <a:p>
          <a:endParaRPr lang="fr-CA"/>
        </a:p>
      </dgm:t>
    </dgm:pt>
    <dgm:pt modelId="{6E8D6E2E-03EA-44BB-BF2E-1C6BE08B5CFA}" type="sibTrans" cxnId="{716FB29B-5466-42F0-9431-29DFACC9E7E0}">
      <dgm:prSet/>
      <dgm:spPr/>
      <dgm:t>
        <a:bodyPr/>
        <a:lstStyle/>
        <a:p>
          <a:endParaRPr lang="fr-CA"/>
        </a:p>
      </dgm:t>
    </dgm:pt>
    <dgm:pt modelId="{F44DB781-2C1F-4045-BEC1-3272B636541E}">
      <dgm:prSet phldrT="[Texte]"/>
      <dgm:spPr/>
      <dgm:t>
        <a:bodyPr/>
        <a:lstStyle/>
        <a:p>
          <a:r>
            <a:rPr lang="fr-CA" dirty="0"/>
            <a:t>Risque pertinent pour un investisseur rationnel (contexte de diversification)</a:t>
          </a:r>
        </a:p>
      </dgm:t>
    </dgm:pt>
    <dgm:pt modelId="{EEB4EFBD-D383-44DB-B30B-F577ACAB467E}" type="parTrans" cxnId="{B97B18A2-44AD-4FCF-AC06-8AE2E93ECE0B}">
      <dgm:prSet/>
      <dgm:spPr/>
      <dgm:t>
        <a:bodyPr/>
        <a:lstStyle/>
        <a:p>
          <a:endParaRPr lang="fr-CA"/>
        </a:p>
      </dgm:t>
    </dgm:pt>
    <dgm:pt modelId="{7AAB8CA8-3B44-40D8-AF81-BBF336EADC34}" type="sibTrans" cxnId="{B97B18A2-44AD-4FCF-AC06-8AE2E93ECE0B}">
      <dgm:prSet/>
      <dgm:spPr/>
      <dgm:t>
        <a:bodyPr/>
        <a:lstStyle/>
        <a:p>
          <a:endParaRPr lang="fr-CA"/>
        </a:p>
      </dgm:t>
    </dgm:pt>
    <dgm:pt modelId="{125E0F69-03EC-4595-91D6-098851BA4677}">
      <dgm:prSet phldrT="[Texte]"/>
      <dgm:spPr/>
      <dgm:t>
        <a:bodyPr/>
        <a:lstStyle/>
        <a:p>
          <a:r>
            <a:rPr lang="fr-CA" dirty="0"/>
            <a:t>Risque spécifique</a:t>
          </a:r>
        </a:p>
      </dgm:t>
    </dgm:pt>
    <dgm:pt modelId="{3A587260-EC62-4419-BA5F-1824303A8855}" type="parTrans" cxnId="{B6AC5D74-86B8-4E91-A6E9-A186A7CB514A}">
      <dgm:prSet/>
      <dgm:spPr/>
      <dgm:t>
        <a:bodyPr/>
        <a:lstStyle/>
        <a:p>
          <a:endParaRPr lang="fr-CA"/>
        </a:p>
      </dgm:t>
    </dgm:pt>
    <dgm:pt modelId="{285EDE9D-A40D-4BB9-9C7D-9D8D739B8D38}" type="sibTrans" cxnId="{B6AC5D74-86B8-4E91-A6E9-A186A7CB514A}">
      <dgm:prSet/>
      <dgm:spPr/>
      <dgm:t>
        <a:bodyPr/>
        <a:lstStyle/>
        <a:p>
          <a:endParaRPr lang="fr-CA"/>
        </a:p>
      </dgm:t>
    </dgm:pt>
    <dgm:pt modelId="{F0CA9BD7-8AAF-48B0-8064-ADD66C657D84}">
      <dgm:prSet phldrT="[Texte]"/>
      <dgm:spPr/>
      <dgm:t>
        <a:bodyPr/>
        <a:lstStyle/>
        <a:p>
          <a:r>
            <a:rPr lang="fr-CA" dirty="0"/>
            <a:t>Réfère à la part de risque éliminable par diversification</a:t>
          </a:r>
        </a:p>
      </dgm:t>
    </dgm:pt>
    <dgm:pt modelId="{BC43055E-4FA0-463E-9A34-E274D15974EF}" type="parTrans" cxnId="{6279F43B-8387-432C-9007-13153CD79C63}">
      <dgm:prSet/>
      <dgm:spPr/>
      <dgm:t>
        <a:bodyPr/>
        <a:lstStyle/>
        <a:p>
          <a:endParaRPr lang="fr-CA"/>
        </a:p>
      </dgm:t>
    </dgm:pt>
    <dgm:pt modelId="{791469E0-3F4D-4DCE-82A1-D337DE3917C2}" type="sibTrans" cxnId="{6279F43B-8387-432C-9007-13153CD79C63}">
      <dgm:prSet/>
      <dgm:spPr/>
      <dgm:t>
        <a:bodyPr/>
        <a:lstStyle/>
        <a:p>
          <a:endParaRPr lang="fr-CA"/>
        </a:p>
      </dgm:t>
    </dgm:pt>
    <dgm:pt modelId="{DBA23458-D824-44E9-B7DC-1F94B5D47B77}">
      <dgm:prSet phldrT="[Texte]"/>
      <dgm:spPr/>
      <dgm:t>
        <a:bodyPr/>
        <a:lstStyle/>
        <a:p>
          <a:r>
            <a:rPr lang="fr-CA" dirty="0"/>
            <a:t>Aucun calcul mathématique requis pour le présent cours</a:t>
          </a:r>
        </a:p>
      </dgm:t>
    </dgm:pt>
    <dgm:pt modelId="{A01325B0-7878-4E59-BF6E-EDB08C028C31}" type="parTrans" cxnId="{D13BED32-FED0-4F5A-91A8-B6ECDCFBCA26}">
      <dgm:prSet/>
      <dgm:spPr/>
      <dgm:t>
        <a:bodyPr/>
        <a:lstStyle/>
        <a:p>
          <a:endParaRPr lang="fr-CA"/>
        </a:p>
      </dgm:t>
    </dgm:pt>
    <dgm:pt modelId="{65EAB178-C93A-4A41-B599-D297C15F6A39}" type="sibTrans" cxnId="{D13BED32-FED0-4F5A-91A8-B6ECDCFBCA26}">
      <dgm:prSet/>
      <dgm:spPr/>
      <dgm:t>
        <a:bodyPr/>
        <a:lstStyle/>
        <a:p>
          <a:endParaRPr lang="fr-CA"/>
        </a:p>
      </dgm:t>
    </dgm:pt>
    <dgm:pt modelId="{34455F1A-7D17-44AC-9109-1B2FC14984D2}">
      <dgm:prSet phldrT="[Texte]"/>
      <dgm:spPr/>
      <dgm:t>
        <a:bodyPr/>
        <a:lstStyle/>
        <a:p>
          <a:r>
            <a:rPr lang="fr-CA" dirty="0"/>
            <a:t>Réfère au </a:t>
          </a:r>
          <a:r>
            <a:rPr lang="fr-CA" dirty="0">
              <a:latin typeface="Symbol" panose="05050102010706020507" pitchFamily="18" charset="2"/>
            </a:rPr>
            <a:t>b</a:t>
          </a:r>
        </a:p>
      </dgm:t>
    </dgm:pt>
    <dgm:pt modelId="{76F1D457-9746-472F-B1D3-752A28A62452}" type="parTrans" cxnId="{100023AA-43DA-4AF3-B356-762BA3271570}">
      <dgm:prSet/>
      <dgm:spPr/>
      <dgm:t>
        <a:bodyPr/>
        <a:lstStyle/>
        <a:p>
          <a:endParaRPr lang="fr-CA"/>
        </a:p>
      </dgm:t>
    </dgm:pt>
    <dgm:pt modelId="{65E71805-2EFD-4465-944E-A08CBC778BF6}" type="sibTrans" cxnId="{100023AA-43DA-4AF3-B356-762BA3271570}">
      <dgm:prSet/>
      <dgm:spPr/>
      <dgm:t>
        <a:bodyPr/>
        <a:lstStyle/>
        <a:p>
          <a:endParaRPr lang="fr-CA"/>
        </a:p>
      </dgm:t>
    </dgm:pt>
    <dgm:pt modelId="{9F6028E4-0A40-453F-A2EB-C0231D9E5BAA}" type="pres">
      <dgm:prSet presAssocID="{CA7CBABC-C32D-42CA-BC3C-27E5667732A1}" presName="Name0" presStyleCnt="0">
        <dgm:presLayoutVars>
          <dgm:dir/>
          <dgm:animLvl val="lvl"/>
          <dgm:resizeHandles val="exact"/>
        </dgm:presLayoutVars>
      </dgm:prSet>
      <dgm:spPr/>
    </dgm:pt>
    <dgm:pt modelId="{B611A641-450C-468D-8E72-A580AB60BD1B}" type="pres">
      <dgm:prSet presAssocID="{7F0ED691-F9DB-4A48-AA51-4292EA64FC5D}" presName="composite" presStyleCnt="0"/>
      <dgm:spPr/>
    </dgm:pt>
    <dgm:pt modelId="{9FFB0F21-B18E-4735-B32D-46B6288C8806}" type="pres">
      <dgm:prSet presAssocID="{7F0ED691-F9DB-4A48-AA51-4292EA64FC5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57C07D4-47A2-472C-BE71-A60070FF092C}" type="pres">
      <dgm:prSet presAssocID="{7F0ED691-F9DB-4A48-AA51-4292EA64FC5D}" presName="desTx" presStyleLbl="alignAccFollowNode1" presStyleIdx="0" presStyleCnt="3">
        <dgm:presLayoutVars>
          <dgm:bulletEnabled val="1"/>
        </dgm:presLayoutVars>
      </dgm:prSet>
      <dgm:spPr/>
    </dgm:pt>
    <dgm:pt modelId="{CA571CD1-968B-4C28-AEF6-ABA91614343C}" type="pres">
      <dgm:prSet presAssocID="{1839CAA5-59AB-4B61-9F4A-0E12765FDF3D}" presName="space" presStyleCnt="0"/>
      <dgm:spPr/>
    </dgm:pt>
    <dgm:pt modelId="{DAF75B0C-A1B8-4171-BBA2-5CC218351E30}" type="pres">
      <dgm:prSet presAssocID="{8C278451-B67D-4059-A140-85A8C30E5F56}" presName="composite" presStyleCnt="0"/>
      <dgm:spPr/>
    </dgm:pt>
    <dgm:pt modelId="{7BE726BF-7E66-46EE-AE47-00F76D2F6D43}" type="pres">
      <dgm:prSet presAssocID="{8C278451-B67D-4059-A140-85A8C30E5F5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B7E4C9A-41E9-4632-A8A6-E2244ECFE36E}" type="pres">
      <dgm:prSet presAssocID="{8C278451-B67D-4059-A140-85A8C30E5F56}" presName="desTx" presStyleLbl="alignAccFollowNode1" presStyleIdx="1" presStyleCnt="3">
        <dgm:presLayoutVars>
          <dgm:bulletEnabled val="1"/>
        </dgm:presLayoutVars>
      </dgm:prSet>
      <dgm:spPr/>
    </dgm:pt>
    <dgm:pt modelId="{346DDBF7-182F-497B-ACF3-D42E3E9F5A2D}" type="pres">
      <dgm:prSet presAssocID="{1A270F67-CD23-4EDE-A7A9-B396D354CD83}" presName="space" presStyleCnt="0"/>
      <dgm:spPr/>
    </dgm:pt>
    <dgm:pt modelId="{07810DD5-BDD4-48A6-8E34-EEAB1F672ABC}" type="pres">
      <dgm:prSet presAssocID="{125E0F69-03EC-4595-91D6-098851BA4677}" presName="composite" presStyleCnt="0"/>
      <dgm:spPr/>
    </dgm:pt>
    <dgm:pt modelId="{F3390421-C387-41DD-9E62-A2514FB2DF39}" type="pres">
      <dgm:prSet presAssocID="{125E0F69-03EC-4595-91D6-098851BA467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9AEA769-5912-43C5-94FC-10D6041A6888}" type="pres">
      <dgm:prSet presAssocID="{125E0F69-03EC-4595-91D6-098851BA467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A7F4906-E8E8-48C5-9780-B4FB1EE8679E}" type="presOf" srcId="{BA6EFC43-AA1C-414C-9326-52B8ED2037DB}" destId="{A57C07D4-47A2-472C-BE71-A60070FF092C}" srcOrd="0" destOrd="1" presId="urn:microsoft.com/office/officeart/2005/8/layout/hList1"/>
    <dgm:cxn modelId="{CCBD0407-5D32-41B4-B1F2-C9191FF30140}" srcId="{7F0ED691-F9DB-4A48-AA51-4292EA64FC5D}" destId="{F97681E8-296F-4673-A870-90AE92A0289A}" srcOrd="0" destOrd="0" parTransId="{10E3655D-7BAE-48D2-A4A2-C0A5FA3310C9}" sibTransId="{9D676039-3D16-4BAF-A1B6-176C815CA21E}"/>
    <dgm:cxn modelId="{9EB42713-4391-474F-941A-14453BA6CF06}" srcId="{CA7CBABC-C32D-42CA-BC3C-27E5667732A1}" destId="{7F0ED691-F9DB-4A48-AA51-4292EA64FC5D}" srcOrd="0" destOrd="0" parTransId="{58B6C0A6-A43D-4CFF-94DA-653AA508A2D7}" sibTransId="{1839CAA5-59AB-4B61-9F4A-0E12765FDF3D}"/>
    <dgm:cxn modelId="{BD2A5119-2253-4E07-8E6F-8CCDCEC578D3}" type="presOf" srcId="{F97681E8-296F-4673-A870-90AE92A0289A}" destId="{A57C07D4-47A2-472C-BE71-A60070FF092C}" srcOrd="0" destOrd="0" presId="urn:microsoft.com/office/officeart/2005/8/layout/hList1"/>
    <dgm:cxn modelId="{3CF9781A-34D9-459D-AD8B-485BB6564CEA}" type="presOf" srcId="{EBB13A5D-3F23-44A8-B71A-4E1D46326B93}" destId="{AB7E4C9A-41E9-4632-A8A6-E2244ECFE36E}" srcOrd="0" destOrd="1" presId="urn:microsoft.com/office/officeart/2005/8/layout/hList1"/>
    <dgm:cxn modelId="{EB02E62E-BA79-4C57-8F92-8A2D0E2E8DB6}" type="presOf" srcId="{DBA23458-D824-44E9-B7DC-1F94B5D47B77}" destId="{09AEA769-5912-43C5-94FC-10D6041A6888}" srcOrd="0" destOrd="1" presId="urn:microsoft.com/office/officeart/2005/8/layout/hList1"/>
    <dgm:cxn modelId="{D13BED32-FED0-4F5A-91A8-B6ECDCFBCA26}" srcId="{125E0F69-03EC-4595-91D6-098851BA4677}" destId="{DBA23458-D824-44E9-B7DC-1F94B5D47B77}" srcOrd="1" destOrd="0" parTransId="{A01325B0-7878-4E59-BF6E-EDB08C028C31}" sibTransId="{65EAB178-C93A-4A41-B599-D297C15F6A39}"/>
    <dgm:cxn modelId="{6279F43B-8387-432C-9007-13153CD79C63}" srcId="{125E0F69-03EC-4595-91D6-098851BA4677}" destId="{F0CA9BD7-8AAF-48B0-8064-ADD66C657D84}" srcOrd="0" destOrd="0" parTransId="{BC43055E-4FA0-463E-9A34-E274D15974EF}" sibTransId="{791469E0-3F4D-4DCE-82A1-D337DE3917C2}"/>
    <dgm:cxn modelId="{B6AC5D74-86B8-4E91-A6E9-A186A7CB514A}" srcId="{CA7CBABC-C32D-42CA-BC3C-27E5667732A1}" destId="{125E0F69-03EC-4595-91D6-098851BA4677}" srcOrd="2" destOrd="0" parTransId="{3A587260-EC62-4419-BA5F-1824303A8855}" sibTransId="{285EDE9D-A40D-4BB9-9C7D-9D8D739B8D38}"/>
    <dgm:cxn modelId="{74523159-EC1E-420C-95BB-1C56F8FDED69}" srcId="{7F0ED691-F9DB-4A48-AA51-4292EA64FC5D}" destId="{BA6EFC43-AA1C-414C-9326-52B8ED2037DB}" srcOrd="1" destOrd="0" parTransId="{970FA872-2DAD-4B25-A546-45EB93CF4322}" sibTransId="{8A04D74C-CB0D-4735-B486-D028439EC974}"/>
    <dgm:cxn modelId="{D42BE55A-D200-4799-9BA2-A3BBEEFAE313}" type="presOf" srcId="{125E0F69-03EC-4595-91D6-098851BA4677}" destId="{F3390421-C387-41DD-9E62-A2514FB2DF39}" srcOrd="0" destOrd="0" presId="urn:microsoft.com/office/officeart/2005/8/layout/hList1"/>
    <dgm:cxn modelId="{716FB29B-5466-42F0-9431-29DFACC9E7E0}" srcId="{8C278451-B67D-4059-A140-85A8C30E5F56}" destId="{EBB13A5D-3F23-44A8-B71A-4E1D46326B93}" srcOrd="1" destOrd="0" parTransId="{0BDDB550-578C-44CA-9A67-D5F1EE5DD7D9}" sibTransId="{6E8D6E2E-03EA-44BB-BF2E-1C6BE08B5CFA}"/>
    <dgm:cxn modelId="{B97B18A2-44AD-4FCF-AC06-8AE2E93ECE0B}" srcId="{8C278451-B67D-4059-A140-85A8C30E5F56}" destId="{F44DB781-2C1F-4045-BEC1-3272B636541E}" srcOrd="2" destOrd="0" parTransId="{EEB4EFBD-D383-44DB-B30B-F577ACAB467E}" sibTransId="{7AAB8CA8-3B44-40D8-AF81-BBF336EADC34}"/>
    <dgm:cxn modelId="{100023AA-43DA-4AF3-B356-762BA3271570}" srcId="{8C278451-B67D-4059-A140-85A8C30E5F56}" destId="{34455F1A-7D17-44AC-9109-1B2FC14984D2}" srcOrd="0" destOrd="0" parTransId="{76F1D457-9746-472F-B1D3-752A28A62452}" sibTransId="{65E71805-2EFD-4465-944E-A08CBC778BF6}"/>
    <dgm:cxn modelId="{FA7A5DAA-3B7C-4346-B8F5-04C15F7D9DDC}" type="presOf" srcId="{34455F1A-7D17-44AC-9109-1B2FC14984D2}" destId="{AB7E4C9A-41E9-4632-A8A6-E2244ECFE36E}" srcOrd="0" destOrd="0" presId="urn:microsoft.com/office/officeart/2005/8/layout/hList1"/>
    <dgm:cxn modelId="{7B0D5DB5-29BF-4D3E-A404-DB1DEDB316F1}" srcId="{CA7CBABC-C32D-42CA-BC3C-27E5667732A1}" destId="{8C278451-B67D-4059-A140-85A8C30E5F56}" srcOrd="1" destOrd="0" parTransId="{19A7050C-5374-48D4-BC8D-FEA800841999}" sibTransId="{1A270F67-CD23-4EDE-A7A9-B396D354CD83}"/>
    <dgm:cxn modelId="{3B5776C8-C22F-4D0A-B866-177ADDB0434E}" type="presOf" srcId="{CA7CBABC-C32D-42CA-BC3C-27E5667732A1}" destId="{9F6028E4-0A40-453F-A2EB-C0231D9E5BAA}" srcOrd="0" destOrd="0" presId="urn:microsoft.com/office/officeart/2005/8/layout/hList1"/>
    <dgm:cxn modelId="{C07D34D5-673E-4F1A-87B4-AAB88507E9C2}" type="presOf" srcId="{F0CA9BD7-8AAF-48B0-8064-ADD66C657D84}" destId="{09AEA769-5912-43C5-94FC-10D6041A6888}" srcOrd="0" destOrd="0" presId="urn:microsoft.com/office/officeart/2005/8/layout/hList1"/>
    <dgm:cxn modelId="{64B25BDD-AC4E-4B77-A464-7280B79BB067}" type="presOf" srcId="{8C278451-B67D-4059-A140-85A8C30E5F56}" destId="{7BE726BF-7E66-46EE-AE47-00F76D2F6D43}" srcOrd="0" destOrd="0" presId="urn:microsoft.com/office/officeart/2005/8/layout/hList1"/>
    <dgm:cxn modelId="{8C0F5DEF-02D2-4A90-B2AA-67AF78071E63}" type="presOf" srcId="{F44DB781-2C1F-4045-BEC1-3272B636541E}" destId="{AB7E4C9A-41E9-4632-A8A6-E2244ECFE36E}" srcOrd="0" destOrd="2" presId="urn:microsoft.com/office/officeart/2005/8/layout/hList1"/>
    <dgm:cxn modelId="{0A4FE8FF-10A7-441E-B775-4BD17D32F966}" type="presOf" srcId="{7F0ED691-F9DB-4A48-AA51-4292EA64FC5D}" destId="{9FFB0F21-B18E-4735-B32D-46B6288C8806}" srcOrd="0" destOrd="0" presId="urn:microsoft.com/office/officeart/2005/8/layout/hList1"/>
    <dgm:cxn modelId="{01C61BBC-6348-4A7C-827D-0C05D5C9EA3B}" type="presParOf" srcId="{9F6028E4-0A40-453F-A2EB-C0231D9E5BAA}" destId="{B611A641-450C-468D-8E72-A580AB60BD1B}" srcOrd="0" destOrd="0" presId="urn:microsoft.com/office/officeart/2005/8/layout/hList1"/>
    <dgm:cxn modelId="{565CE3F6-4BD4-4F04-9A2A-ACCBBF03229B}" type="presParOf" srcId="{B611A641-450C-468D-8E72-A580AB60BD1B}" destId="{9FFB0F21-B18E-4735-B32D-46B6288C8806}" srcOrd="0" destOrd="0" presId="urn:microsoft.com/office/officeart/2005/8/layout/hList1"/>
    <dgm:cxn modelId="{D1220DC1-9B71-47CC-B8C7-61C74B531658}" type="presParOf" srcId="{B611A641-450C-468D-8E72-A580AB60BD1B}" destId="{A57C07D4-47A2-472C-BE71-A60070FF092C}" srcOrd="1" destOrd="0" presId="urn:microsoft.com/office/officeart/2005/8/layout/hList1"/>
    <dgm:cxn modelId="{2B582C8D-D468-4E04-84F6-C44A49076E10}" type="presParOf" srcId="{9F6028E4-0A40-453F-A2EB-C0231D9E5BAA}" destId="{CA571CD1-968B-4C28-AEF6-ABA91614343C}" srcOrd="1" destOrd="0" presId="urn:microsoft.com/office/officeart/2005/8/layout/hList1"/>
    <dgm:cxn modelId="{C18B5F41-5E20-46BA-A1A5-8E5ABCBA3696}" type="presParOf" srcId="{9F6028E4-0A40-453F-A2EB-C0231D9E5BAA}" destId="{DAF75B0C-A1B8-4171-BBA2-5CC218351E30}" srcOrd="2" destOrd="0" presId="urn:microsoft.com/office/officeart/2005/8/layout/hList1"/>
    <dgm:cxn modelId="{9D236288-A28D-4A8F-AC0F-AD88E7417CB9}" type="presParOf" srcId="{DAF75B0C-A1B8-4171-BBA2-5CC218351E30}" destId="{7BE726BF-7E66-46EE-AE47-00F76D2F6D43}" srcOrd="0" destOrd="0" presId="urn:microsoft.com/office/officeart/2005/8/layout/hList1"/>
    <dgm:cxn modelId="{5AD0C10A-875A-4F85-A9D9-BA25E1C35183}" type="presParOf" srcId="{DAF75B0C-A1B8-4171-BBA2-5CC218351E30}" destId="{AB7E4C9A-41E9-4632-A8A6-E2244ECFE36E}" srcOrd="1" destOrd="0" presId="urn:microsoft.com/office/officeart/2005/8/layout/hList1"/>
    <dgm:cxn modelId="{2C2CAFEF-16A9-41D9-928A-04AA8546460C}" type="presParOf" srcId="{9F6028E4-0A40-453F-A2EB-C0231D9E5BAA}" destId="{346DDBF7-182F-497B-ACF3-D42E3E9F5A2D}" srcOrd="3" destOrd="0" presId="urn:microsoft.com/office/officeart/2005/8/layout/hList1"/>
    <dgm:cxn modelId="{C66E1447-5E38-4498-9F5C-207C7D874B8A}" type="presParOf" srcId="{9F6028E4-0A40-453F-A2EB-C0231D9E5BAA}" destId="{07810DD5-BDD4-48A6-8E34-EEAB1F672ABC}" srcOrd="4" destOrd="0" presId="urn:microsoft.com/office/officeart/2005/8/layout/hList1"/>
    <dgm:cxn modelId="{7E1C299D-54A9-4A13-AF26-B96FC508D7F2}" type="presParOf" srcId="{07810DD5-BDD4-48A6-8E34-EEAB1F672ABC}" destId="{F3390421-C387-41DD-9E62-A2514FB2DF39}" srcOrd="0" destOrd="0" presId="urn:microsoft.com/office/officeart/2005/8/layout/hList1"/>
    <dgm:cxn modelId="{B5007647-7641-4162-BA07-E565826C424B}" type="presParOf" srcId="{07810DD5-BDD4-48A6-8E34-EEAB1F672ABC}" destId="{09AEA769-5912-43C5-94FC-10D6041A688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B0F21-B18E-4735-B32D-46B6288C8806}">
      <dsp:nvSpPr>
        <dsp:cNvPr id="0" name=""/>
        <dsp:cNvSpPr/>
      </dsp:nvSpPr>
      <dsp:spPr>
        <a:xfrm>
          <a:off x="2677" y="383048"/>
          <a:ext cx="261096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Risque total</a:t>
          </a:r>
        </a:p>
      </dsp:txBody>
      <dsp:txXfrm>
        <a:off x="2677" y="383048"/>
        <a:ext cx="2610966" cy="547200"/>
      </dsp:txXfrm>
    </dsp:sp>
    <dsp:sp modelId="{A57C07D4-47A2-472C-BE71-A60070FF092C}">
      <dsp:nvSpPr>
        <dsp:cNvPr id="0" name=""/>
        <dsp:cNvSpPr/>
      </dsp:nvSpPr>
      <dsp:spPr>
        <a:xfrm>
          <a:off x="2677" y="930248"/>
          <a:ext cx="2610966" cy="24121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Réfère à l’écart-type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Sur une base individuelle, le risque des titres présente une partie systématique et une partie spécifique</a:t>
          </a:r>
        </a:p>
      </dsp:txBody>
      <dsp:txXfrm>
        <a:off x="2677" y="930248"/>
        <a:ext cx="2610966" cy="2412168"/>
      </dsp:txXfrm>
    </dsp:sp>
    <dsp:sp modelId="{7BE726BF-7E66-46EE-AE47-00F76D2F6D43}">
      <dsp:nvSpPr>
        <dsp:cNvPr id="0" name=""/>
        <dsp:cNvSpPr/>
      </dsp:nvSpPr>
      <dsp:spPr>
        <a:xfrm>
          <a:off x="2979179" y="383048"/>
          <a:ext cx="261096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Risque systématique</a:t>
          </a:r>
        </a:p>
      </dsp:txBody>
      <dsp:txXfrm>
        <a:off x="2979179" y="383048"/>
        <a:ext cx="2610966" cy="547200"/>
      </dsp:txXfrm>
    </dsp:sp>
    <dsp:sp modelId="{AB7E4C9A-41E9-4632-A8A6-E2244ECFE36E}">
      <dsp:nvSpPr>
        <dsp:cNvPr id="0" name=""/>
        <dsp:cNvSpPr/>
      </dsp:nvSpPr>
      <dsp:spPr>
        <a:xfrm>
          <a:off x="2979179" y="930248"/>
          <a:ext cx="2610966" cy="24121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Réfère au </a:t>
          </a:r>
          <a:r>
            <a:rPr lang="fr-CA" sz="1900" kern="1200" dirty="0">
              <a:latin typeface="Symbol" panose="05050102010706020507" pitchFamily="18" charset="2"/>
            </a:rPr>
            <a:t>b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Ne présente que la part non-éliminable  par diversification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Risque pertinent pour un investisseur rationnel (contexte de diversification)</a:t>
          </a:r>
        </a:p>
      </dsp:txBody>
      <dsp:txXfrm>
        <a:off x="2979179" y="930248"/>
        <a:ext cx="2610966" cy="2412168"/>
      </dsp:txXfrm>
    </dsp:sp>
    <dsp:sp modelId="{F3390421-C387-41DD-9E62-A2514FB2DF39}">
      <dsp:nvSpPr>
        <dsp:cNvPr id="0" name=""/>
        <dsp:cNvSpPr/>
      </dsp:nvSpPr>
      <dsp:spPr>
        <a:xfrm>
          <a:off x="5955680" y="383048"/>
          <a:ext cx="261096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Risque spécifique</a:t>
          </a:r>
        </a:p>
      </dsp:txBody>
      <dsp:txXfrm>
        <a:off x="5955680" y="383048"/>
        <a:ext cx="2610966" cy="547200"/>
      </dsp:txXfrm>
    </dsp:sp>
    <dsp:sp modelId="{09AEA769-5912-43C5-94FC-10D6041A6888}">
      <dsp:nvSpPr>
        <dsp:cNvPr id="0" name=""/>
        <dsp:cNvSpPr/>
      </dsp:nvSpPr>
      <dsp:spPr>
        <a:xfrm>
          <a:off x="5955680" y="930248"/>
          <a:ext cx="2610966" cy="24121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Réfère à la part de risque éliminable par diversification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Aucun calcul mathématique requis pour le présent cours</a:t>
          </a:r>
        </a:p>
      </dsp:txBody>
      <dsp:txXfrm>
        <a:off x="5955680" y="930248"/>
        <a:ext cx="2610966" cy="24121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CDC33E5-2889-4132-972F-77AA9D7031F2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284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C1FE-574F-4352-BDBA-FDDD0D2CC756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4103040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942D1-04AC-41AB-A491-FF8C47841412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2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6CBF-85C4-4197-8B0E-125C715C98F6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634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18E8-1305-4A13-B3B1-D1F6C4F7CD4F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2049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62329-E901-4172-96E6-BAB7004C1F73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08656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34A9-B9F6-40B1-8632-480EB9365038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757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F62-2155-4421-9DD9-01CB86C63EE3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86056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7A66-569D-4843-BD1C-FAE825146557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77518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90E5491-3086-4455-BB87-3459B623B485}" type="slidenum">
              <a:rPr lang="fr-CA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46517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4DF64075-4FE8-4212-AA8D-27F93E0C3606}" type="slidenum">
              <a:rPr lang="fr-CA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250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F8AF7A66-569D-4843-BD1C-FAE825146557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81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5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gif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8.wmf"/><Relationship Id="rId2" Type="http://schemas.openxmlformats.org/officeDocument/2006/relationships/tags" Target="../tags/tag5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tags" Target="../tags/tag63.xml"/><Relationship Id="rId7" Type="http://schemas.openxmlformats.org/officeDocument/2006/relationships/oleObject" Target="../embeddings/oleObject2.bin"/><Relationship Id="rId2" Type="http://schemas.openxmlformats.org/officeDocument/2006/relationships/tags" Target="../tags/tag62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10" Type="http://schemas.openxmlformats.org/officeDocument/2006/relationships/image" Target="../media/image10.wmf"/><Relationship Id="rId4" Type="http://schemas.openxmlformats.org/officeDocument/2006/relationships/tags" Target="../tags/tag64.xml"/><Relationship Id="rId9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15.emf"/><Relationship Id="rId2" Type="http://schemas.openxmlformats.org/officeDocument/2006/relationships/tags" Target="../tags/tag8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17.wmf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oleObject" Target="../embeddings/oleObject6.bin"/><Relationship Id="rId2" Type="http://schemas.openxmlformats.org/officeDocument/2006/relationships/tags" Target="../tags/tag88.xml"/><Relationship Id="rId1" Type="http://schemas.openxmlformats.org/officeDocument/2006/relationships/vmlDrawing" Target="../drawings/vmlDrawing4.vml"/><Relationship Id="rId6" Type="http://schemas.openxmlformats.org/officeDocument/2006/relationships/tags" Target="../tags/tag92.xml"/><Relationship Id="rId11" Type="http://schemas.openxmlformats.org/officeDocument/2006/relationships/image" Target="../media/image16.wmf"/><Relationship Id="rId5" Type="http://schemas.openxmlformats.org/officeDocument/2006/relationships/tags" Target="../tags/tag91.xml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5.bin"/><Relationship Id="rId4" Type="http://schemas.openxmlformats.org/officeDocument/2006/relationships/tags" Target="../tags/tag90.xml"/><Relationship Id="rId9" Type="http://schemas.openxmlformats.org/officeDocument/2006/relationships/image" Target="../media/image19.jpeg"/><Relationship Id="rId1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image" Target="../media/image19.jpeg"/><Relationship Id="rId4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" Type="http://schemas.openxmlformats.org/officeDocument/2006/relationships/vmlDrawing" Target="../drawings/vmlDrawing5.vml"/><Relationship Id="rId6" Type="http://schemas.openxmlformats.org/officeDocument/2006/relationships/tags" Target="../tags/tag103.xml"/><Relationship Id="rId11" Type="http://schemas.openxmlformats.org/officeDocument/2006/relationships/image" Target="../media/image20.emf"/><Relationship Id="rId5" Type="http://schemas.openxmlformats.org/officeDocument/2006/relationships/tags" Target="../tags/tag102.xml"/><Relationship Id="rId10" Type="http://schemas.openxmlformats.org/officeDocument/2006/relationships/oleObject" Target="../embeddings/oleObject8.bin"/><Relationship Id="rId4" Type="http://schemas.openxmlformats.org/officeDocument/2006/relationships/tags" Target="../tags/tag101.xml"/><Relationship Id="rId9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107.xml"/><Relationship Id="rId7" Type="http://schemas.openxmlformats.org/officeDocument/2006/relationships/image" Target="../media/image19.jpeg"/><Relationship Id="rId2" Type="http://schemas.openxmlformats.org/officeDocument/2006/relationships/tags" Target="../tags/tag106.xml"/><Relationship Id="rId1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9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7" Type="http://schemas.openxmlformats.org/officeDocument/2006/relationships/image" Target="../media/image22.jpe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21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slideLayout" Target="../slideLayouts/slideLayout11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tags" Target="../tags/tag144.xml"/><Relationship Id="rId18" Type="http://schemas.openxmlformats.org/officeDocument/2006/relationships/oleObject" Target="../embeddings/oleObject10.bin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tags" Target="../tags/tag143.xml"/><Relationship Id="rId17" Type="http://schemas.openxmlformats.org/officeDocument/2006/relationships/slideLayout" Target="../slideLayouts/slideLayout11.xml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1" Type="http://schemas.openxmlformats.org/officeDocument/2006/relationships/vmlDrawing" Target="../drawings/vmlDrawing7.v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10" Type="http://schemas.openxmlformats.org/officeDocument/2006/relationships/tags" Target="../tags/tag141.xml"/><Relationship Id="rId19" Type="http://schemas.openxmlformats.org/officeDocument/2006/relationships/image" Target="../media/image24.wmf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7" Type="http://schemas.openxmlformats.org/officeDocument/2006/relationships/slideLayout" Target="../slideLayouts/slideLayout11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11.xml"/><Relationship Id="rId7" Type="http://schemas.openxmlformats.org/officeDocument/2006/relationships/diagramColors" Target="../diagrams/colors1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/>
              <a:t>Chapitre 12 &amp; 13</a:t>
            </a:r>
            <a:br>
              <a:rPr lang="fr-CA" dirty="0"/>
            </a:br>
            <a:endParaRPr lang="fr-CA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sz="4000" dirty="0"/>
              <a:t>La relation risque-rendement</a:t>
            </a:r>
            <a:endParaRPr lang="fr-CA" sz="4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 risque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4409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1" y="204786"/>
            <a:ext cx="3008313" cy="1574875"/>
          </a:xfrm>
        </p:spPr>
        <p:txBody>
          <a:bodyPr>
            <a:normAutofit fontScale="90000"/>
          </a:bodyPr>
          <a:lstStyle/>
          <a:p>
            <a:r>
              <a:rPr lang="fr-CA" sz="2800" dirty="0"/>
              <a:t>Le rendement selon les produits financiers</a:t>
            </a:r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893631" y="3133304"/>
            <a:ext cx="3926841" cy="1382661"/>
          </a:xfrm>
        </p:spPr>
        <p:txBody>
          <a:bodyPr/>
          <a:lstStyle/>
          <a:p>
            <a:r>
              <a:rPr lang="fr-CA" sz="2000" b="0" cap="none" dirty="0"/>
              <a:t>En pratique, on constate que les différents types d’actifs financiers présentent des niveaux de variabilité différents.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pic>
        <p:nvPicPr>
          <p:cNvPr id="13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63888" y="11172"/>
            <a:ext cx="5580112" cy="3050125"/>
          </a:xfrm>
          <a:prstGeom prst="rect">
            <a:avLst/>
          </a:prstGeom>
        </p:spPr>
      </p:pic>
      <p:pic>
        <p:nvPicPr>
          <p:cNvPr id="21506" name="Picture 2" descr="http://static.cdn-seekingalpha.com/uploads/2010/1/7/saupload_cm_capture_6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851669"/>
            <a:ext cx="4712565" cy="301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90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://people.duke.edu/~charvey/Classes/ba350_1997/history/5ssbar.gif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6" t="11362" r="6137" b="11596"/>
          <a:stretch/>
        </p:blipFill>
        <p:spPr bwMode="auto">
          <a:xfrm>
            <a:off x="251520" y="1936712"/>
            <a:ext cx="4392488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1" y="204786"/>
            <a:ext cx="3008313" cy="1574875"/>
          </a:xfrm>
        </p:spPr>
        <p:txBody>
          <a:bodyPr>
            <a:normAutofit fontScale="90000"/>
          </a:bodyPr>
          <a:lstStyle/>
          <a:p>
            <a:r>
              <a:rPr lang="fr-CA" sz="2800" dirty="0"/>
              <a:t>Le risque selon les produits financiers</a:t>
            </a:r>
            <a:br>
              <a:rPr lang="fr-CA" sz="2800" dirty="0"/>
            </a:br>
            <a:endParaRPr lang="fr-CA" sz="2800" dirty="0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893631" y="3133304"/>
            <a:ext cx="3926841" cy="1382661"/>
          </a:xfrm>
        </p:spPr>
        <p:txBody>
          <a:bodyPr/>
          <a:lstStyle/>
          <a:p>
            <a:r>
              <a:rPr lang="fr-CA" sz="1800" b="0" cap="none" dirty="0"/>
              <a:t>On constate toutefois que la volatilité des actifs financiers présentant de meilleurs rendements à long terme est plus élevée.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pic>
        <p:nvPicPr>
          <p:cNvPr id="6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7"/>
          <a:srcRect l="3955" t="2633" r="4329" b="5201"/>
          <a:stretch/>
        </p:blipFill>
        <p:spPr>
          <a:xfrm>
            <a:off x="3563888" y="216639"/>
            <a:ext cx="5328592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7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600075"/>
          </a:xfrm>
        </p:spPr>
        <p:txBody>
          <a:bodyPr>
            <a:normAutofit fontScale="90000"/>
          </a:bodyPr>
          <a:lstStyle/>
          <a:p>
            <a:r>
              <a:rPr lang="fr-CA" sz="3600" dirty="0"/>
              <a:t>Relation rendement-risque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250825" y="803661"/>
            <a:ext cx="8642350" cy="4089809"/>
          </a:xfrm>
        </p:spPr>
        <p:txBody>
          <a:bodyPr>
            <a:normAutofit/>
          </a:bodyPr>
          <a:lstStyle/>
          <a:p>
            <a:pPr marL="180975" indent="0">
              <a:buNone/>
            </a:pPr>
            <a:r>
              <a:rPr lang="fr-CA" sz="1600" dirty="0"/>
              <a:t>À partir de ces constats, on peut convenir d’une relation entre le rendement que l’on peut obtenir d’un groupe d’actifs financiers et le risque de chacun :</a:t>
            </a:r>
          </a:p>
        </p:txBody>
      </p:sp>
      <p:grpSp>
        <p:nvGrpSpPr>
          <p:cNvPr id="3" name="Groupe 2"/>
          <p:cNvGrpSpPr/>
          <p:nvPr/>
        </p:nvGrpSpPr>
        <p:grpSpPr>
          <a:xfrm>
            <a:off x="107504" y="1402371"/>
            <a:ext cx="8382778" cy="3218675"/>
            <a:chOff x="77754" y="1403736"/>
            <a:chExt cx="8382778" cy="3218675"/>
          </a:xfrm>
        </p:grpSpPr>
        <p:sp>
          <p:nvSpPr>
            <p:cNvPr id="10246" name="Text Box 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7754" y="1528591"/>
              <a:ext cx="1163075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latin typeface="Tahoma" charset="0"/>
                </a:rPr>
                <a:t>E(R)</a:t>
              </a:r>
            </a:p>
            <a:p>
              <a:r>
                <a:rPr lang="fr-CA" sz="1600" dirty="0">
                  <a:latin typeface="Tahoma" charset="0"/>
                </a:rPr>
                <a:t>Espérance</a:t>
              </a:r>
            </a:p>
            <a:p>
              <a:r>
                <a:rPr lang="fr-CA" sz="1600" dirty="0">
                  <a:latin typeface="Tahoma" charset="0"/>
                </a:rPr>
                <a:t>de</a:t>
              </a:r>
            </a:p>
            <a:p>
              <a:r>
                <a:rPr lang="fr-CA" sz="1600" dirty="0">
                  <a:latin typeface="Tahoma" charset="0"/>
                </a:rPr>
                <a:t>rendement</a:t>
              </a:r>
            </a:p>
          </p:txBody>
        </p:sp>
        <p:grpSp>
          <p:nvGrpSpPr>
            <p:cNvPr id="2" name="Groupe 1"/>
            <p:cNvGrpSpPr/>
            <p:nvPr/>
          </p:nvGrpSpPr>
          <p:grpSpPr>
            <a:xfrm>
              <a:off x="1259632" y="1403736"/>
              <a:ext cx="7200900" cy="3218675"/>
              <a:chOff x="1258888" y="1869282"/>
              <a:chExt cx="7200900" cy="3218675"/>
            </a:xfrm>
          </p:grpSpPr>
          <p:sp>
            <p:nvSpPr>
              <p:cNvPr id="10244" name="Line 4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 flipV="1">
                <a:off x="1258888" y="1869282"/>
                <a:ext cx="0" cy="28622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0245" name="Line 5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258888" y="4731544"/>
                <a:ext cx="7200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0247" name="Text Box 7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7451728" y="4749403"/>
                <a:ext cx="78418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sz="1600">
                    <a:latin typeface="Tahoma" charset="0"/>
                  </a:rPr>
                  <a:t>Risque</a:t>
                </a:r>
              </a:p>
            </p:txBody>
          </p:sp>
          <p:sp>
            <p:nvSpPr>
              <p:cNvPr id="10248" name="Text Box 8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258891" y="4137423"/>
                <a:ext cx="1286891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sz="1400" dirty="0">
                    <a:solidFill>
                      <a:schemeClr val="accent1"/>
                    </a:solidFill>
                    <a:latin typeface="Tahoma" charset="0"/>
                  </a:rPr>
                  <a:t>Bon du Trésor</a:t>
                </a:r>
              </a:p>
            </p:txBody>
          </p:sp>
          <p:cxnSp>
            <p:nvCxnSpPr>
              <p:cNvPr id="16" name="Connecteur droit 15"/>
              <p:cNvCxnSpPr/>
              <p:nvPr>
                <p:custDataLst>
                  <p:tags r:id="rId8"/>
                </p:custDataLst>
              </p:nvPr>
            </p:nvCxnSpPr>
            <p:spPr>
              <a:xfrm flipV="1">
                <a:off x="1285852" y="1982386"/>
                <a:ext cx="4357718" cy="208956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6026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600075"/>
          </a:xfrm>
        </p:spPr>
        <p:txBody>
          <a:bodyPr>
            <a:normAutofit fontScale="90000"/>
          </a:bodyPr>
          <a:lstStyle/>
          <a:p>
            <a:r>
              <a:rPr lang="fr-CA" sz="3600" dirty="0"/>
              <a:t>Relation rendement-risque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95537" y="803661"/>
            <a:ext cx="8497638" cy="4089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600" dirty="0"/>
              <a:t>À partir de ces constats, on peut convenir d’une relation entre le rendement que l’on peut obtenir d’un groupe d’actifs financiers et le risque de chacun :</a:t>
            </a:r>
          </a:p>
          <a:p>
            <a:pPr marL="0" indent="0">
              <a:buNone/>
            </a:pPr>
            <a:endParaRPr lang="fr-CA" sz="1600" dirty="0"/>
          </a:p>
        </p:txBody>
      </p:sp>
      <p:grpSp>
        <p:nvGrpSpPr>
          <p:cNvPr id="2" name="Groupe 1"/>
          <p:cNvGrpSpPr/>
          <p:nvPr/>
        </p:nvGrpSpPr>
        <p:grpSpPr>
          <a:xfrm>
            <a:off x="431801" y="1419482"/>
            <a:ext cx="8280398" cy="3218675"/>
            <a:chOff x="179390" y="1869282"/>
            <a:chExt cx="8280398" cy="3218675"/>
          </a:xfrm>
        </p:grpSpPr>
        <p:sp>
          <p:nvSpPr>
            <p:cNvPr id="10244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 flipV="1">
              <a:off x="1258888" y="1869282"/>
              <a:ext cx="0" cy="2862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5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258888" y="4731544"/>
              <a:ext cx="7200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6" name="Text Box 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79390" y="1924051"/>
              <a:ext cx="1163075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>
                  <a:latin typeface="Tahoma" charset="0"/>
                </a:rPr>
                <a:t>E(R)</a:t>
              </a:r>
            </a:p>
            <a:p>
              <a:r>
                <a:rPr lang="fr-CA" sz="1600">
                  <a:latin typeface="Tahoma" charset="0"/>
                </a:rPr>
                <a:t>Espérance</a:t>
              </a:r>
            </a:p>
            <a:p>
              <a:r>
                <a:rPr lang="fr-CA" sz="1600">
                  <a:latin typeface="Tahoma" charset="0"/>
                </a:rPr>
                <a:t>de</a:t>
              </a:r>
            </a:p>
            <a:p>
              <a:r>
                <a:rPr lang="fr-CA" sz="1600">
                  <a:latin typeface="Tahoma" charset="0"/>
                </a:rPr>
                <a:t>rendement</a:t>
              </a:r>
            </a:p>
          </p:txBody>
        </p:sp>
        <p:sp>
          <p:nvSpPr>
            <p:cNvPr id="10247" name="Text Box 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451728" y="4749403"/>
              <a:ext cx="78418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latin typeface="Tahoma" charset="0"/>
                </a:rPr>
                <a:t>Risque</a:t>
              </a:r>
            </a:p>
          </p:txBody>
        </p:sp>
        <p:sp>
          <p:nvSpPr>
            <p:cNvPr id="10248" name="Text Box 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258891" y="4137423"/>
              <a:ext cx="128689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dirty="0">
                  <a:solidFill>
                    <a:schemeClr val="accent1"/>
                  </a:solidFill>
                  <a:latin typeface="Tahoma" charset="0"/>
                </a:rPr>
                <a:t>Bon du Trésor</a:t>
              </a:r>
            </a:p>
          </p:txBody>
        </p:sp>
        <p:sp>
          <p:nvSpPr>
            <p:cNvPr id="10249" name="Text Box 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619252" y="3868342"/>
              <a:ext cx="257512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>
                  <a:solidFill>
                    <a:schemeClr val="accent1"/>
                  </a:solidFill>
                  <a:latin typeface="Tahoma" charset="0"/>
                </a:rPr>
                <a:t>Obligations gouvernementales</a:t>
              </a:r>
            </a:p>
          </p:txBody>
        </p:sp>
        <p:sp>
          <p:nvSpPr>
            <p:cNvPr id="10250" name="Text Box 1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195513" y="3598070"/>
              <a:ext cx="20847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>
                  <a:solidFill>
                    <a:schemeClr val="accent1"/>
                  </a:solidFill>
                  <a:latin typeface="Tahoma" charset="0"/>
                </a:rPr>
                <a:t>Obligations corporatives</a:t>
              </a:r>
            </a:p>
          </p:txBody>
        </p:sp>
        <p:sp>
          <p:nvSpPr>
            <p:cNvPr id="10251" name="Text Box 1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843215" y="3327798"/>
              <a:ext cx="210929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>
                  <a:solidFill>
                    <a:schemeClr val="accent1"/>
                  </a:solidFill>
                  <a:latin typeface="Tahoma" charset="0"/>
                </a:rPr>
                <a:t>Débentures corporatives</a:t>
              </a:r>
            </a:p>
          </p:txBody>
        </p:sp>
        <p:cxnSp>
          <p:nvCxnSpPr>
            <p:cNvPr id="16" name="Connecteur droit 15"/>
            <p:cNvCxnSpPr/>
            <p:nvPr>
              <p:custDataLst>
                <p:tags r:id="rId11"/>
              </p:custDataLst>
            </p:nvPr>
          </p:nvCxnSpPr>
          <p:spPr>
            <a:xfrm flipV="1">
              <a:off x="1285852" y="1982386"/>
              <a:ext cx="4357718" cy="208956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0050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600075"/>
          </a:xfrm>
        </p:spPr>
        <p:txBody>
          <a:bodyPr>
            <a:normAutofit fontScale="90000"/>
          </a:bodyPr>
          <a:lstStyle/>
          <a:p>
            <a:r>
              <a:rPr lang="fr-CA" sz="3600" dirty="0"/>
              <a:t>Relation rendement-risque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95535" y="803661"/>
            <a:ext cx="8497639" cy="4089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600" dirty="0"/>
              <a:t>À partir de ces constats, on peut convenir d’une relation entre le rendement que l’on peut obtenir d’un groupe d’actifs financiers et le risque de chacun :</a:t>
            </a:r>
          </a:p>
          <a:p>
            <a:pPr marL="0" indent="0">
              <a:buNone/>
            </a:pPr>
            <a:endParaRPr lang="fr-CA" sz="1600" dirty="0"/>
          </a:p>
        </p:txBody>
      </p:sp>
      <p:grpSp>
        <p:nvGrpSpPr>
          <p:cNvPr id="2" name="Groupe 1"/>
          <p:cNvGrpSpPr/>
          <p:nvPr/>
        </p:nvGrpSpPr>
        <p:grpSpPr>
          <a:xfrm>
            <a:off x="35496" y="1924825"/>
            <a:ext cx="8280398" cy="3218675"/>
            <a:chOff x="179390" y="1869282"/>
            <a:chExt cx="8280398" cy="3218675"/>
          </a:xfrm>
        </p:grpSpPr>
        <p:sp>
          <p:nvSpPr>
            <p:cNvPr id="10244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 flipV="1">
              <a:off x="1258888" y="1869282"/>
              <a:ext cx="0" cy="2862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5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258888" y="4731544"/>
              <a:ext cx="7200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6" name="Text Box 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79390" y="1924051"/>
              <a:ext cx="1163075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>
                  <a:latin typeface="Tahoma" charset="0"/>
                </a:rPr>
                <a:t>E(R)</a:t>
              </a:r>
            </a:p>
            <a:p>
              <a:r>
                <a:rPr lang="fr-CA" sz="1600">
                  <a:latin typeface="Tahoma" charset="0"/>
                </a:rPr>
                <a:t>Espérance</a:t>
              </a:r>
            </a:p>
            <a:p>
              <a:r>
                <a:rPr lang="fr-CA" sz="1600">
                  <a:latin typeface="Tahoma" charset="0"/>
                </a:rPr>
                <a:t>de</a:t>
              </a:r>
            </a:p>
            <a:p>
              <a:r>
                <a:rPr lang="fr-CA" sz="1600">
                  <a:latin typeface="Tahoma" charset="0"/>
                </a:rPr>
                <a:t>rendement</a:t>
              </a:r>
            </a:p>
          </p:txBody>
        </p:sp>
        <p:sp>
          <p:nvSpPr>
            <p:cNvPr id="10247" name="Text Box 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451728" y="4749403"/>
              <a:ext cx="78418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latin typeface="Tahoma" charset="0"/>
                </a:rPr>
                <a:t>Risque</a:t>
              </a:r>
            </a:p>
          </p:txBody>
        </p:sp>
        <p:sp>
          <p:nvSpPr>
            <p:cNvPr id="10248" name="Text Box 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258891" y="4137423"/>
              <a:ext cx="128689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dirty="0">
                  <a:solidFill>
                    <a:schemeClr val="accent1"/>
                  </a:solidFill>
                  <a:latin typeface="Tahoma" charset="0"/>
                </a:rPr>
                <a:t>Bon du Trésor</a:t>
              </a:r>
            </a:p>
          </p:txBody>
        </p:sp>
        <p:sp>
          <p:nvSpPr>
            <p:cNvPr id="10249" name="Text Box 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619252" y="3868342"/>
              <a:ext cx="257512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>
                  <a:solidFill>
                    <a:schemeClr val="accent1"/>
                  </a:solidFill>
                  <a:latin typeface="Tahoma" charset="0"/>
                </a:rPr>
                <a:t>Obligations gouvernementales</a:t>
              </a:r>
            </a:p>
          </p:txBody>
        </p:sp>
        <p:sp>
          <p:nvSpPr>
            <p:cNvPr id="10250" name="Text Box 1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195513" y="3598070"/>
              <a:ext cx="20847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>
                  <a:solidFill>
                    <a:schemeClr val="accent1"/>
                  </a:solidFill>
                  <a:latin typeface="Tahoma" charset="0"/>
                </a:rPr>
                <a:t>Obligations corporatives</a:t>
              </a:r>
            </a:p>
          </p:txBody>
        </p:sp>
        <p:sp>
          <p:nvSpPr>
            <p:cNvPr id="10251" name="Text Box 1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843215" y="3327798"/>
              <a:ext cx="210929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>
                  <a:solidFill>
                    <a:schemeClr val="accent1"/>
                  </a:solidFill>
                  <a:latin typeface="Tahoma" charset="0"/>
                </a:rPr>
                <a:t>Débentures corporatives</a:t>
              </a:r>
            </a:p>
          </p:txBody>
        </p:sp>
        <p:sp>
          <p:nvSpPr>
            <p:cNvPr id="10252" name="Text Box 1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492500" y="3003948"/>
              <a:ext cx="169328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dirty="0">
                  <a:solidFill>
                    <a:schemeClr val="accent1"/>
                  </a:solidFill>
                  <a:latin typeface="Tahoma" charset="0"/>
                </a:rPr>
                <a:t>Actions privilégiées</a:t>
              </a:r>
            </a:p>
          </p:txBody>
        </p:sp>
        <p:sp>
          <p:nvSpPr>
            <p:cNvPr id="10253" name="Text Box 1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140203" y="2680098"/>
              <a:ext cx="158549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dirty="0">
                  <a:solidFill>
                    <a:schemeClr val="accent1"/>
                  </a:solidFill>
                  <a:latin typeface="Tahoma" charset="0"/>
                </a:rPr>
                <a:t>Actions ordinaires</a:t>
              </a:r>
            </a:p>
          </p:txBody>
        </p:sp>
        <p:cxnSp>
          <p:nvCxnSpPr>
            <p:cNvPr id="16" name="Connecteur droit 15"/>
            <p:cNvCxnSpPr/>
            <p:nvPr>
              <p:custDataLst>
                <p:tags r:id="rId13"/>
              </p:custDataLst>
            </p:nvPr>
          </p:nvCxnSpPr>
          <p:spPr>
            <a:xfrm flipV="1">
              <a:off x="1285852" y="1982386"/>
              <a:ext cx="4357718" cy="208956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210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600075"/>
          </a:xfrm>
        </p:spPr>
        <p:txBody>
          <a:bodyPr>
            <a:normAutofit fontScale="90000"/>
          </a:bodyPr>
          <a:lstStyle/>
          <a:p>
            <a:r>
              <a:rPr lang="fr-CA" sz="3600" dirty="0"/>
              <a:t>Relation rendement-risque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199" y="803661"/>
            <a:ext cx="8435975" cy="4089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600" dirty="0"/>
              <a:t>À partir de ces constats, on peut convenir d’une relation entre le rendement que l’on peut obtenir d’un groupe d’actifs financiers et le risque de chacun :</a:t>
            </a:r>
          </a:p>
          <a:p>
            <a:pPr marL="0" indent="0">
              <a:buNone/>
            </a:pPr>
            <a:endParaRPr lang="fr-CA" sz="1600" dirty="0"/>
          </a:p>
        </p:txBody>
      </p:sp>
      <p:sp>
        <p:nvSpPr>
          <p:cNvPr id="10244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258888" y="1869282"/>
            <a:ext cx="0" cy="2862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0245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258888" y="4731544"/>
            <a:ext cx="720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0246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390" y="1924051"/>
            <a:ext cx="11630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600">
                <a:latin typeface="Tahoma" charset="0"/>
              </a:rPr>
              <a:t>E(R)</a:t>
            </a:r>
          </a:p>
          <a:p>
            <a:r>
              <a:rPr lang="fr-CA" sz="1600">
                <a:latin typeface="Tahoma" charset="0"/>
              </a:rPr>
              <a:t>Espérance</a:t>
            </a:r>
          </a:p>
          <a:p>
            <a:r>
              <a:rPr lang="fr-CA" sz="1600">
                <a:latin typeface="Tahoma" charset="0"/>
              </a:rPr>
              <a:t>de</a:t>
            </a:r>
          </a:p>
          <a:p>
            <a:r>
              <a:rPr lang="fr-CA" sz="1600">
                <a:latin typeface="Tahoma" charset="0"/>
              </a:rPr>
              <a:t>rendement</a:t>
            </a:r>
          </a:p>
        </p:txBody>
      </p:sp>
      <p:sp>
        <p:nvSpPr>
          <p:cNvPr id="10247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451728" y="4749403"/>
            <a:ext cx="7841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600">
                <a:latin typeface="Tahoma" charset="0"/>
              </a:rPr>
              <a:t>Risque</a:t>
            </a:r>
          </a:p>
        </p:txBody>
      </p:sp>
      <p:sp>
        <p:nvSpPr>
          <p:cNvPr id="10248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58891" y="4137423"/>
            <a:ext cx="12868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solidFill>
                  <a:schemeClr val="accent1"/>
                </a:solidFill>
                <a:latin typeface="Tahoma" charset="0"/>
              </a:rPr>
              <a:t>Bon du Trésor</a:t>
            </a:r>
          </a:p>
        </p:txBody>
      </p:sp>
      <p:sp>
        <p:nvSpPr>
          <p:cNvPr id="10249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19252" y="3868342"/>
            <a:ext cx="25751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>
                <a:solidFill>
                  <a:schemeClr val="accent1"/>
                </a:solidFill>
                <a:latin typeface="Tahoma" charset="0"/>
              </a:rPr>
              <a:t>Obligations gouvernementales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195513" y="3598070"/>
            <a:ext cx="20847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>
                <a:solidFill>
                  <a:schemeClr val="accent1"/>
                </a:solidFill>
                <a:latin typeface="Tahoma" charset="0"/>
              </a:rPr>
              <a:t>Obligations corporatives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843215" y="3327798"/>
            <a:ext cx="21092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>
                <a:solidFill>
                  <a:schemeClr val="accent1"/>
                </a:solidFill>
                <a:latin typeface="Tahoma" charset="0"/>
              </a:rPr>
              <a:t>Débentures corporatives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492500" y="3003948"/>
            <a:ext cx="16932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solidFill>
                  <a:schemeClr val="accent1"/>
                </a:solidFill>
                <a:latin typeface="Tahoma" charset="0"/>
              </a:rPr>
              <a:t>Actions privilégiées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40203" y="2680098"/>
            <a:ext cx="15854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solidFill>
                  <a:schemeClr val="accent1"/>
                </a:solidFill>
                <a:latin typeface="Tahoma" charset="0"/>
              </a:rPr>
              <a:t>Actions ordinaires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859338" y="2356248"/>
            <a:ext cx="14456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>
                <a:solidFill>
                  <a:schemeClr val="accent1"/>
                </a:solidFill>
                <a:latin typeface="Tahoma" charset="0"/>
              </a:rPr>
              <a:t>Produits dérivés</a:t>
            </a:r>
          </a:p>
        </p:txBody>
      </p:sp>
      <p:cxnSp>
        <p:nvCxnSpPr>
          <p:cNvPr id="16" name="Connecteur droit 15"/>
          <p:cNvCxnSpPr/>
          <p:nvPr>
            <p:custDataLst>
              <p:tags r:id="rId14"/>
            </p:custDataLst>
          </p:nvPr>
        </p:nvCxnSpPr>
        <p:spPr>
          <a:xfrm flipV="1">
            <a:off x="1285852" y="1982386"/>
            <a:ext cx="4357718" cy="20895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43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05979"/>
            <a:ext cx="8229600" cy="600075"/>
          </a:xfrm>
        </p:spPr>
        <p:txBody>
          <a:bodyPr/>
          <a:lstStyle/>
          <a:p>
            <a:r>
              <a:rPr lang="fr-CA" sz="2400" dirty="0"/>
              <a:t>Les outils mathématiques pour illustrer le risque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250825" y="806054"/>
            <a:ext cx="8642350" cy="3887390"/>
          </a:xfrm>
        </p:spPr>
        <p:txBody>
          <a:bodyPr>
            <a:normAutofit/>
          </a:bodyPr>
          <a:lstStyle/>
          <a:p>
            <a:pPr marL="446088" indent="-174625"/>
            <a:r>
              <a:rPr lang="fr-CA" sz="2000" dirty="0">
                <a:solidFill>
                  <a:schemeClr val="accent2"/>
                </a:solidFill>
              </a:rPr>
              <a:t>Le risque d’un seul titre</a:t>
            </a:r>
          </a:p>
          <a:p>
            <a:pPr algn="ctr">
              <a:buFontTx/>
              <a:buNone/>
            </a:pPr>
            <a:r>
              <a:rPr lang="fr-CA" sz="2000" dirty="0"/>
              <a:t>	</a:t>
            </a:r>
            <a:r>
              <a:rPr lang="fr-CA" sz="2400" dirty="0"/>
              <a:t>Quel outil mathématique pourrait être utilisé afin de représenter le risque (la variabilité) d’un titre?</a:t>
            </a:r>
          </a:p>
          <a:p>
            <a:pPr algn="ctr">
              <a:buFontTx/>
              <a:buNone/>
            </a:pPr>
            <a:r>
              <a:rPr lang="fr-CA" sz="3200" dirty="0">
                <a:solidFill>
                  <a:schemeClr val="accent2"/>
                </a:solidFill>
              </a:rPr>
              <a:t>	La variance (l’écart-type)</a:t>
            </a:r>
          </a:p>
          <a:p>
            <a:pPr lvl="1"/>
            <a:r>
              <a:rPr lang="fr-CA" sz="2000" dirty="0">
                <a:solidFill>
                  <a:schemeClr val="accent2"/>
                </a:solidFill>
              </a:rPr>
              <a:t>Le rendement</a:t>
            </a:r>
            <a:r>
              <a:rPr lang="fr-CA" sz="2000" dirty="0"/>
              <a:t> d’un titre : on s’intéresse aux </a:t>
            </a:r>
            <a:r>
              <a:rPr lang="fr-CA" sz="2000" dirty="0" err="1"/>
              <a:t>FMs</a:t>
            </a:r>
            <a:r>
              <a:rPr lang="fr-CA" sz="2000" dirty="0"/>
              <a:t> futurs, donc à l’espérance du rendement noté → E(R)</a:t>
            </a:r>
          </a:p>
          <a:p>
            <a:pPr marL="268920" lvl="1" indent="0">
              <a:buNone/>
            </a:pPr>
            <a:endParaRPr lang="fr-CA" sz="1800" dirty="0"/>
          </a:p>
          <a:p>
            <a:pPr lvl="1"/>
            <a:r>
              <a:rPr lang="fr-CA" sz="2000" dirty="0">
                <a:solidFill>
                  <a:schemeClr val="accent2"/>
                </a:solidFill>
              </a:rPr>
              <a:t>Le risque </a:t>
            </a:r>
            <a:r>
              <a:rPr lang="fr-CA" sz="2000" dirty="0"/>
              <a:t>d’un titre: sa variabilité (variation forte ou faible)</a:t>
            </a:r>
          </a:p>
          <a:p>
            <a:pPr lvl="2"/>
            <a:r>
              <a:rPr lang="fr-CA" sz="1800" dirty="0"/>
              <a:t>La variance: représente le risque en « %</a:t>
            </a:r>
            <a:r>
              <a:rPr lang="fr-CA" sz="1800" baseline="30000" dirty="0"/>
              <a:t>2</a:t>
            </a:r>
            <a:r>
              <a:rPr lang="fr-CA" sz="1800" dirty="0"/>
              <a:t>»</a:t>
            </a:r>
            <a:endParaRPr lang="fr-CA" sz="1800" baseline="30000" dirty="0"/>
          </a:p>
          <a:p>
            <a:pPr lvl="2"/>
            <a:r>
              <a:rPr lang="fr-CA" sz="1800" dirty="0"/>
              <a:t>L’écart-type: représente le risque en « % » (racine de la variance)</a:t>
            </a:r>
          </a:p>
          <a:p>
            <a:endParaRPr lang="fr-CA" sz="2400" dirty="0"/>
          </a:p>
          <a:p>
            <a:endParaRPr lang="fr-CA" sz="2400" dirty="0"/>
          </a:p>
          <a:p>
            <a:endParaRPr lang="fr-CA" sz="2400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45596666"/>
              </p:ext>
            </p:extLst>
          </p:nvPr>
        </p:nvGraphicFramePr>
        <p:xfrm>
          <a:off x="5724128" y="3867894"/>
          <a:ext cx="1898658" cy="525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1" name="Equation" r:id="rId6" imgW="4038480" imgH="1117440" progId="">
                  <p:embed/>
                </p:oleObj>
              </mc:Choice>
              <mc:Fallback>
                <p:oleObj name="Equation" r:id="rId6" imgW="4038480" imgH="11174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3867894"/>
                        <a:ext cx="1898658" cy="5254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506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3600" dirty="0"/>
              <a:t>Le rendement d’un portefeuille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00150"/>
            <a:ext cx="8507288" cy="3387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Que l’on regarde dans le futur (espérance) ou la passé (rend. historique) :</a:t>
            </a:r>
          </a:p>
          <a:p>
            <a:endParaRPr lang="fr-FR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fr-FR" b="1" dirty="0"/>
              <a:t>Moyenne arithmétique des rendements (R</a:t>
            </a:r>
            <a:r>
              <a:rPr lang="fr-FR" b="1" baseline="-25000" dirty="0"/>
              <a:t>A</a:t>
            </a:r>
            <a:r>
              <a:rPr lang="fr-FR" b="1" dirty="0"/>
              <a:t>)</a:t>
            </a:r>
          </a:p>
          <a:p>
            <a:pPr marL="354013" indent="-354013">
              <a:buNone/>
            </a:pPr>
            <a:r>
              <a:rPr lang="fr-FR" b="1" dirty="0"/>
              <a:t>	</a:t>
            </a:r>
            <a:r>
              <a:rPr lang="fr-FR" sz="2300" dirty="0"/>
              <a:t>= Somme des rendements annuels divisée par le nombre d’années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fr-FR" dirty="0"/>
          </a:p>
          <a:p>
            <a:pPr lvl="1"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Moyenne géométrique des rendements (R</a:t>
            </a:r>
            <a:r>
              <a:rPr lang="fr-FR" b="1" baseline="-25000" dirty="0"/>
              <a:t>G</a:t>
            </a:r>
            <a:r>
              <a:rPr lang="fr-FR" b="1" dirty="0"/>
              <a:t>)</a:t>
            </a:r>
          </a:p>
          <a:p>
            <a:pPr marL="354013" indent="0">
              <a:buNone/>
            </a:pPr>
            <a:r>
              <a:rPr lang="fr-FR" sz="2300" dirty="0"/>
              <a:t>= Le taux de rendement moyen que vous devez réaliser chaque année afin d’atteindre un niveau de richesse futur</a:t>
            </a:r>
          </a:p>
          <a:p>
            <a:endParaRPr lang="fr-CA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58138995"/>
              </p:ext>
            </p:extLst>
          </p:nvPr>
        </p:nvGraphicFramePr>
        <p:xfrm>
          <a:off x="860179" y="2894061"/>
          <a:ext cx="29019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0" name="Équation" r:id="rId7" imgW="1460160" imgH="215640" progId="Equation.3">
                  <p:embed/>
                </p:oleObj>
              </mc:Choice>
              <mc:Fallback>
                <p:oleObj name="Équation" r:id="rId7" imgW="1460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179" y="2894061"/>
                        <a:ext cx="29019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88476045"/>
              </p:ext>
            </p:extLst>
          </p:nvPr>
        </p:nvGraphicFramePr>
        <p:xfrm>
          <a:off x="882520" y="4376029"/>
          <a:ext cx="46180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1" name="Équation" r:id="rId9" imgW="2323800" imgH="241200" progId="Equation.3">
                  <p:embed/>
                </p:oleObj>
              </mc:Choice>
              <mc:Fallback>
                <p:oleObj name="Équation" r:id="rId9" imgW="2323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520" y="4376029"/>
                        <a:ext cx="4618038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184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3600" dirty="0"/>
              <a:t>Le rendement d’un portefeuille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0"/>
            <a:ext cx="8435280" cy="338782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sz="2400" u="sng" dirty="0"/>
              <a:t>Exemple:</a:t>
            </a:r>
            <a:r>
              <a:rPr lang="fr-FR" sz="2400" dirty="0"/>
              <a:t> </a:t>
            </a:r>
          </a:p>
          <a:p>
            <a:pPr marL="0" lvl="0" indent="0">
              <a:buNone/>
            </a:pPr>
            <a:r>
              <a:rPr lang="fr-FR" sz="2400" dirty="0"/>
              <a:t>Vous avez investi 100 $ dans une action il y a un an.  Depuis ces cinq dernières années, les rendements annuels ont été de : 15 %, -8 %, 12 %, 18 %  et -11 %. </a:t>
            </a:r>
          </a:p>
          <a:p>
            <a:pPr marL="0" lvl="0" indent="0">
              <a:buNone/>
            </a:pPr>
            <a:r>
              <a:rPr lang="fr-FR" sz="2400" dirty="0"/>
              <a:t>Que vaut votre investissement aujourd’hui? </a:t>
            </a:r>
          </a:p>
          <a:p>
            <a:pPr marL="0" lvl="0" indent="0">
              <a:buNone/>
            </a:pPr>
            <a:r>
              <a:rPr lang="fr-FR" sz="2400" dirty="0"/>
              <a:t>Que valent R</a:t>
            </a:r>
            <a:r>
              <a:rPr lang="fr-FR" sz="2400" baseline="-25000" dirty="0"/>
              <a:t>A</a:t>
            </a:r>
            <a:r>
              <a:rPr lang="fr-FR" sz="2400" dirty="0"/>
              <a:t> et R</a:t>
            </a:r>
            <a:r>
              <a:rPr lang="fr-FR" sz="2400" baseline="-25000" dirty="0"/>
              <a:t>G</a:t>
            </a:r>
            <a:r>
              <a:rPr lang="fr-FR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5541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Le risque entre 2 titres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65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600075"/>
          </a:xfrm>
        </p:spPr>
        <p:txBody>
          <a:bodyPr>
            <a:noAutofit/>
          </a:bodyPr>
          <a:lstStyle/>
          <a:p>
            <a:r>
              <a:rPr lang="fr-CA" sz="2800" dirty="0"/>
              <a:t>Le risque d’un portefeuille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250825" y="1006080"/>
            <a:ext cx="8642350" cy="3887390"/>
          </a:xfrm>
        </p:spPr>
        <p:txBody>
          <a:bodyPr>
            <a:normAutofit fontScale="70000" lnSpcReduction="20000"/>
          </a:bodyPr>
          <a:lstStyle/>
          <a:p>
            <a:pPr marL="180975" indent="0">
              <a:buNone/>
            </a:pPr>
            <a:r>
              <a:rPr lang="fr-CA" sz="3900" dirty="0">
                <a:solidFill>
                  <a:schemeClr val="accent1"/>
                </a:solidFill>
              </a:rPr>
              <a:t>Le risque entre 2 titres</a:t>
            </a:r>
          </a:p>
          <a:p>
            <a:pPr>
              <a:buFontTx/>
              <a:buNone/>
            </a:pPr>
            <a:r>
              <a:rPr lang="fr-CA" sz="2400" dirty="0"/>
              <a:t>	</a:t>
            </a:r>
            <a:r>
              <a:rPr lang="fr-CA" sz="2600" dirty="0"/>
              <a:t>Quel outil mathématique pourrait être utilisé afin de représenter le risque (la variabilité) entre deux ou plusieurs titres?</a:t>
            </a:r>
            <a:r>
              <a:rPr lang="fr-CA" sz="2800" dirty="0"/>
              <a:t>	</a:t>
            </a:r>
          </a:p>
          <a:p>
            <a:pPr algn="ctr">
              <a:buFontTx/>
              <a:buNone/>
            </a:pPr>
            <a:r>
              <a:rPr lang="fr-CA" sz="4600" dirty="0">
                <a:solidFill>
                  <a:schemeClr val="accent2"/>
                </a:solidFill>
              </a:rPr>
              <a:t>La corrélation</a:t>
            </a:r>
            <a:endParaRPr lang="fr-CA" sz="2900" dirty="0">
              <a:solidFill>
                <a:schemeClr val="accent2"/>
              </a:solidFill>
            </a:endParaRPr>
          </a:p>
          <a:p>
            <a:pPr lvl="1">
              <a:buFontTx/>
              <a:buNone/>
            </a:pPr>
            <a:endParaRPr lang="fr-CA" sz="2000" dirty="0">
              <a:solidFill>
                <a:schemeClr val="accent2"/>
              </a:solidFill>
            </a:endParaRPr>
          </a:p>
          <a:p>
            <a:pPr lvl="1"/>
            <a:r>
              <a:rPr lang="fr-CA" sz="2400" dirty="0"/>
              <a:t>Le coefficient de corrélation: lien des variations entre les titres</a:t>
            </a:r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r>
              <a:rPr lang="fr-CA" sz="2400" dirty="0"/>
              <a:t>La covariance: la variance, mais entre 2 titres (« %</a:t>
            </a:r>
            <a:r>
              <a:rPr lang="fr-CA" sz="2400" baseline="30000" dirty="0"/>
              <a:t>2</a:t>
            </a:r>
            <a:r>
              <a:rPr lang="fr-CA" sz="2400" dirty="0"/>
              <a:t>»)</a:t>
            </a:r>
          </a:p>
          <a:p>
            <a:pPr>
              <a:buFontTx/>
              <a:buNone/>
            </a:pPr>
            <a:endParaRPr lang="fr-CA" sz="2800" dirty="0"/>
          </a:p>
          <a:p>
            <a:pPr lvl="1"/>
            <a:r>
              <a:rPr lang="fr-CA" sz="2400" dirty="0"/>
              <a:t>Notez que: </a:t>
            </a:r>
            <a:r>
              <a:rPr lang="fr-CA" sz="2400" dirty="0" err="1"/>
              <a:t>cov</a:t>
            </a:r>
            <a:r>
              <a:rPr lang="fr-CA" sz="2400" dirty="0"/>
              <a:t> (</a:t>
            </a:r>
            <a:r>
              <a:rPr lang="fr-CA" sz="2400" dirty="0" err="1"/>
              <a:t>x,y</a:t>
            </a:r>
            <a:r>
              <a:rPr lang="fr-CA" sz="2400" dirty="0"/>
              <a:t>) = </a:t>
            </a:r>
            <a:r>
              <a:rPr lang="fr-CA" sz="3200" dirty="0">
                <a:sym typeface="Symbol" pitchFamily="18" charset="2"/>
              </a:rPr>
              <a:t></a:t>
            </a:r>
            <a:r>
              <a:rPr lang="fr-CA" sz="2400" baseline="-25000" dirty="0" err="1">
                <a:sym typeface="Symbol" pitchFamily="18" charset="2"/>
              </a:rPr>
              <a:t>x,y</a:t>
            </a:r>
            <a:r>
              <a:rPr lang="fr-CA" sz="2400" dirty="0">
                <a:sym typeface="Symbol" pitchFamily="18" charset="2"/>
              </a:rPr>
              <a:t> </a:t>
            </a:r>
            <a:r>
              <a:rPr lang="fr-CA" sz="3200" dirty="0">
                <a:sym typeface="Symbol" pitchFamily="18" charset="2"/>
              </a:rPr>
              <a:t></a:t>
            </a:r>
            <a:r>
              <a:rPr lang="fr-CA" sz="2400" baseline="-25000" dirty="0">
                <a:sym typeface="Symbol" pitchFamily="18" charset="2"/>
              </a:rPr>
              <a:t>x</a:t>
            </a:r>
            <a:r>
              <a:rPr lang="fr-CA" sz="2400" dirty="0">
                <a:sym typeface="Symbol" pitchFamily="18" charset="2"/>
              </a:rPr>
              <a:t> </a:t>
            </a:r>
            <a:r>
              <a:rPr lang="fr-CA" sz="3200" dirty="0">
                <a:sym typeface="Symbol" pitchFamily="18" charset="2"/>
              </a:rPr>
              <a:t></a:t>
            </a:r>
            <a:r>
              <a:rPr lang="fr-CA" sz="2400" baseline="-25000" dirty="0">
                <a:sym typeface="Symbol" pitchFamily="18" charset="2"/>
              </a:rPr>
              <a:t>y</a:t>
            </a:r>
          </a:p>
        </p:txBody>
      </p:sp>
      <p:sp>
        <p:nvSpPr>
          <p:cNvPr id="13316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051050" y="321945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3317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87538" y="3284935"/>
            <a:ext cx="3946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-1</a:t>
            </a:r>
          </a:p>
        </p:txBody>
      </p:sp>
      <p:sp>
        <p:nvSpPr>
          <p:cNvPr id="13318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00562" y="3321849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0</a:t>
            </a:r>
          </a:p>
        </p:txBody>
      </p:sp>
      <p:sp>
        <p:nvSpPr>
          <p:cNvPr id="13319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00876" y="3284935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1</a:t>
            </a:r>
          </a:p>
        </p:txBody>
      </p:sp>
      <p:cxnSp>
        <p:nvCxnSpPr>
          <p:cNvPr id="9" name="Connecteur droit 8"/>
          <p:cNvCxnSpPr/>
          <p:nvPr>
            <p:custDataLst>
              <p:tags r:id="rId7"/>
            </p:custDataLst>
          </p:nvPr>
        </p:nvCxnSpPr>
        <p:spPr>
          <a:xfrm rot="5400000">
            <a:off x="4589861" y="3214692"/>
            <a:ext cx="1071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57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  <p:bldP spid="13317" grpId="0"/>
      <p:bldP spid="13318" grpId="0"/>
      <p:bldP spid="133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l"/>
            <a:r>
              <a:rPr lang="fr-CA" sz="2800" dirty="0"/>
              <a:t>Représentation graphique de l’effet de diversification</a:t>
            </a:r>
          </a:p>
        </p:txBody>
      </p:sp>
      <p:pic>
        <p:nvPicPr>
          <p:cNvPr id="5" name="Picture 6" descr="Page 392a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07" y="1599642"/>
            <a:ext cx="7669212" cy="2569369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84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l"/>
            <a:r>
              <a:rPr lang="fr-CA" sz="2800" dirty="0"/>
              <a:t>Représentation graphique de l’effet de diversification</a:t>
            </a:r>
          </a:p>
        </p:txBody>
      </p:sp>
      <p:pic>
        <p:nvPicPr>
          <p:cNvPr id="4" name="Picture 4" descr="Page 392b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37624"/>
            <a:ext cx="7840663" cy="25050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030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l"/>
            <a:r>
              <a:rPr lang="fr-CA" sz="2800" dirty="0"/>
              <a:t>Représentation graphique de l’effet de diversification</a:t>
            </a:r>
          </a:p>
        </p:txBody>
      </p:sp>
      <p:pic>
        <p:nvPicPr>
          <p:cNvPr id="4" name="Picture 4" descr="Page 392c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45637"/>
            <a:ext cx="7669213" cy="245983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429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l"/>
            <a:r>
              <a:rPr lang="fr-CA" sz="2800" dirty="0"/>
              <a:t>Représentation graphique de l’effet de diversification</a:t>
            </a:r>
          </a:p>
        </p:txBody>
      </p:sp>
      <p:pic>
        <p:nvPicPr>
          <p:cNvPr id="5" name="Picture 6" descr="Page 39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21" y="1653648"/>
            <a:ext cx="7829550" cy="21621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743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l"/>
            <a:r>
              <a:rPr lang="fr-CA" sz="2800" dirty="0"/>
              <a:t>Représentation graphique de l’effet de diversification</a:t>
            </a:r>
          </a:p>
        </p:txBody>
      </p:sp>
      <p:graphicFrame>
        <p:nvGraphicFramePr>
          <p:cNvPr id="4" name="Object 9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6397914"/>
              </p:ext>
            </p:extLst>
          </p:nvPr>
        </p:nvGraphicFramePr>
        <p:xfrm>
          <a:off x="2580335" y="864911"/>
          <a:ext cx="6312145" cy="3915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0" name="Graphique" r:id="rId6" imgW="11791843" imgH="7400970" progId="Excel.Sheet.8">
                  <p:embed/>
                </p:oleObj>
              </mc:Choice>
              <mc:Fallback>
                <p:oleObj name="Graphique" r:id="rId6" imgW="11791843" imgH="740097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335" y="864911"/>
                        <a:ext cx="6312145" cy="3915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texte 1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07504" y="1172381"/>
            <a:ext cx="2808312" cy="37036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fr-CA" sz="1400" b="1" u="sng" dirty="0"/>
              <a:t>Profil risque-rend d’un PF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fr-CA" sz="1400" dirty="0"/>
              <a:t>L’effet de diversification selon le coefficient de corrélation: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fr-CA" sz="1400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fr-CA" sz="1400" b="1" dirty="0">
                <a:solidFill>
                  <a:srgbClr val="0070C0"/>
                </a:solidFill>
                <a:latin typeface="Symbol" panose="05050102010706020507" pitchFamily="18" charset="2"/>
              </a:rPr>
              <a:t>r</a:t>
            </a:r>
            <a:r>
              <a:rPr lang="fr-CA" sz="1400" b="1" dirty="0">
                <a:solidFill>
                  <a:srgbClr val="0070C0"/>
                </a:solidFill>
              </a:rPr>
              <a:t> = 1</a:t>
            </a:r>
            <a:r>
              <a:rPr lang="fr-CA" sz="1400" dirty="0">
                <a:solidFill>
                  <a:srgbClr val="0070C0"/>
                </a:solidFill>
              </a:rPr>
              <a:t>: pas diversification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fr-CA" sz="1400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fr-CA" sz="1400" b="1" dirty="0">
                <a:solidFill>
                  <a:srgbClr val="FFC000"/>
                </a:solidFill>
                <a:latin typeface="Symbol" panose="05050102010706020507" pitchFamily="18" charset="2"/>
              </a:rPr>
              <a:t>r</a:t>
            </a:r>
            <a:r>
              <a:rPr lang="fr-CA" sz="1400" b="1" dirty="0">
                <a:solidFill>
                  <a:srgbClr val="FFC000"/>
                </a:solidFill>
              </a:rPr>
              <a:t> = 0,5</a:t>
            </a:r>
            <a:r>
              <a:rPr lang="fr-CA" sz="1400" dirty="0">
                <a:solidFill>
                  <a:srgbClr val="FFC000"/>
                </a:solidFill>
              </a:rPr>
              <a:t>: faible diversification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fr-CA" sz="1400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fr-CA" sz="1400" b="1" dirty="0">
                <a:solidFill>
                  <a:srgbClr val="009900"/>
                </a:solidFill>
                <a:latin typeface="Symbol" panose="05050102010706020507" pitchFamily="18" charset="2"/>
              </a:rPr>
              <a:t>r</a:t>
            </a:r>
            <a:r>
              <a:rPr lang="fr-CA" sz="1400" b="1" dirty="0">
                <a:solidFill>
                  <a:srgbClr val="009900"/>
                </a:solidFill>
              </a:rPr>
              <a:t> = 0</a:t>
            </a:r>
            <a:r>
              <a:rPr lang="fr-CA" sz="1400" dirty="0">
                <a:solidFill>
                  <a:srgbClr val="009900"/>
                </a:solidFill>
              </a:rPr>
              <a:t>: bon effet de diversification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fr-CA" sz="1400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fr-CA" sz="1400" b="1" dirty="0">
                <a:solidFill>
                  <a:srgbClr val="FF0000"/>
                </a:solidFill>
                <a:latin typeface="Symbol" panose="05050102010706020507" pitchFamily="18" charset="2"/>
              </a:rPr>
              <a:t>r</a:t>
            </a:r>
            <a:r>
              <a:rPr lang="fr-CA" sz="1400" b="1" dirty="0">
                <a:solidFill>
                  <a:srgbClr val="FF0000"/>
                </a:solidFill>
              </a:rPr>
              <a:t> = -0,5</a:t>
            </a:r>
            <a:r>
              <a:rPr lang="fr-CA" sz="1400" dirty="0">
                <a:solidFill>
                  <a:srgbClr val="FF0000"/>
                </a:solidFill>
              </a:rPr>
              <a:t>: fort effet de diversification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fr-CA" sz="1400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fr-CA" sz="1400" b="1" dirty="0">
                <a:latin typeface="Symbol" panose="05050102010706020507" pitchFamily="18" charset="2"/>
              </a:rPr>
              <a:t>r</a:t>
            </a:r>
            <a:r>
              <a:rPr lang="fr-CA" sz="1400" b="1" dirty="0"/>
              <a:t> = 1</a:t>
            </a:r>
            <a:r>
              <a:rPr lang="fr-CA" sz="1400" dirty="0"/>
              <a:t>: diversification parfaite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fr-CA" sz="1100" dirty="0"/>
              <a:t>Il existe des proportions entre A &amp; B tel que le risque du portefeuille sera nul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fr-CA" sz="1400" dirty="0"/>
          </a:p>
          <a:p>
            <a:pPr marL="0" indent="0" fontAlgn="auto">
              <a:spcAft>
                <a:spcPts val="0"/>
              </a:spcAft>
              <a:buNone/>
            </a:pPr>
            <a:endParaRPr lang="fr-CA" sz="1400" dirty="0"/>
          </a:p>
          <a:p>
            <a:pPr fontAlgn="auto">
              <a:spcAft>
                <a:spcPts val="0"/>
              </a:spcAft>
            </a:pPr>
            <a:endParaRPr lang="fr-CA" dirty="0"/>
          </a:p>
          <a:p>
            <a:pPr fontAlgn="auto">
              <a:spcAft>
                <a:spcPts val="0"/>
              </a:spcAft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88118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05980"/>
            <a:ext cx="8229600" cy="645319"/>
          </a:xfrm>
        </p:spPr>
        <p:txBody>
          <a:bodyPr>
            <a:normAutofit fontScale="90000"/>
          </a:bodyPr>
          <a:lstStyle/>
          <a:p>
            <a:r>
              <a:rPr lang="fr-CA" sz="2800" dirty="0"/>
              <a:t>Les outils mathématiques pour illustrer</a:t>
            </a:r>
            <a:br>
              <a:rPr lang="fr-CA" sz="2800" dirty="0"/>
            </a:br>
            <a:r>
              <a:rPr lang="fr-CA" sz="2800" dirty="0"/>
              <a:t>la relation risque - rendement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395291" y="1168004"/>
            <a:ext cx="8353425" cy="3780234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fr-CA" sz="2800" dirty="0"/>
              <a:t>Exemple : </a:t>
            </a:r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 marL="0" indent="0">
              <a:lnSpc>
                <a:spcPct val="90000"/>
              </a:lnSpc>
              <a:buNone/>
            </a:pPr>
            <a:endParaRPr lang="fr-CA" sz="24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000" baseline="-25000" dirty="0">
              <a:sym typeface="Symbol" pitchFamily="18" charset="2"/>
            </a:endParaRPr>
          </a:p>
        </p:txBody>
      </p:sp>
      <p:graphicFrame>
        <p:nvGraphicFramePr>
          <p:cNvPr id="14340" name="Group 4"/>
          <p:cNvGraphicFramePr>
            <a:graphicFrameLocks noGrp="1"/>
          </p:cNvGraphicFramePr>
          <p:nvPr>
            <p:ph sz="quarter" idx="2"/>
            <p:custDataLst>
              <p:tags r:id="rId4"/>
            </p:custDataLst>
          </p:nvPr>
        </p:nvGraphicFramePr>
        <p:xfrm>
          <a:off x="3276600" y="1168004"/>
          <a:ext cx="5183832" cy="2195836"/>
        </p:xfrm>
        <a:graphic>
          <a:graphicData uri="http://schemas.openxmlformats.org/drawingml/2006/table">
            <a:tbl>
              <a:tblPr/>
              <a:tblGrid>
                <a:gridCol w="1727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4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Pi</a:t>
                      </a:r>
                      <a:endParaRPr kumimoji="0" lang="fr-CA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  <a:endParaRPr kumimoji="0" lang="fr-CA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fr-CA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10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10 %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12 %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20 %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10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25 %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11 %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25 %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10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50 %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9 %</a:t>
                      </a:r>
                      <a:endParaRPr kumimoji="0" lang="fr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15 %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10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15 %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6 %</a:t>
                      </a:r>
                      <a:endParaRPr kumimoji="0" lang="fr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-3 %</a:t>
                      </a:r>
                      <a:endParaRPr kumimoji="0" lang="fr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9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t 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827584" y="2139702"/>
          <a:ext cx="173831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3" name="Equation" r:id="rId10" imgW="965200" imgH="431800" progId="Equation.3">
                  <p:embed/>
                </p:oleObj>
              </mc:Choice>
              <mc:Fallback>
                <p:oleObj name="Equation" r:id="rId10" imgW="965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139702"/>
                        <a:ext cx="173831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 2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755576" y="3003798"/>
          <a:ext cx="2195512" cy="550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4" name="Equation" r:id="rId12" imgW="1435100" imgH="431800" progId="Equation.3">
                  <p:embed/>
                </p:oleObj>
              </mc:Choice>
              <mc:Fallback>
                <p:oleObj name="Equation" r:id="rId12" imgW="1435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003798"/>
                        <a:ext cx="2195512" cy="550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 3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683568" y="3813888"/>
          <a:ext cx="6297612" cy="653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5" name="Équation" r:id="rId14" imgW="3467100" imgH="431800" progId="Equation.3">
                  <p:embed/>
                </p:oleObj>
              </mc:Choice>
              <mc:Fallback>
                <p:oleObj name="Équation" r:id="rId14" imgW="346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813888"/>
                        <a:ext cx="6297612" cy="653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212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80"/>
            <a:ext cx="8229600" cy="645319"/>
          </a:xfrm>
        </p:spPr>
        <p:txBody>
          <a:bodyPr>
            <a:normAutofit fontScale="90000"/>
          </a:bodyPr>
          <a:lstStyle/>
          <a:p>
            <a:r>
              <a:rPr lang="fr-CA" sz="2800" dirty="0"/>
              <a:t>Les outils mathématiques pour illustrer</a:t>
            </a:r>
            <a:br>
              <a:rPr lang="fr-CA" sz="2800" dirty="0"/>
            </a:br>
            <a:r>
              <a:rPr lang="fr-CA" sz="2800" dirty="0"/>
              <a:t>la relation risque - rendement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915566"/>
            <a:ext cx="8353425" cy="396066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2800" dirty="0"/>
              <a:t>Retrouvez les valeurs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CA" sz="2800" dirty="0"/>
              <a:t>suivantes :</a:t>
            </a:r>
          </a:p>
          <a:p>
            <a:pPr lvl="1">
              <a:lnSpc>
                <a:spcPct val="90000"/>
              </a:lnSpc>
            </a:pPr>
            <a:endParaRPr lang="fr-CA" sz="24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fr-CA" sz="2400" dirty="0"/>
              <a:t>E(R</a:t>
            </a:r>
            <a:r>
              <a:rPr lang="fr-CA" sz="2400" baseline="-25000" dirty="0"/>
              <a:t>A</a:t>
            </a:r>
            <a:r>
              <a:rPr lang="fr-CA" sz="2400" dirty="0"/>
              <a:t>) = 	9,35 %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sz="2400" dirty="0"/>
              <a:t>E(R</a:t>
            </a:r>
            <a:r>
              <a:rPr lang="fr-CA" sz="2400" baseline="-25000" dirty="0"/>
              <a:t>B</a:t>
            </a:r>
            <a:r>
              <a:rPr lang="fr-CA" sz="2400" dirty="0"/>
              <a:t>) = 	15,30 %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dirty="0">
                <a:sym typeface="Symbol" pitchFamily="18" charset="2"/>
              </a:rPr>
              <a:t></a:t>
            </a:r>
            <a:r>
              <a:rPr lang="fr-CA" sz="2400" baseline="-25000" dirty="0"/>
              <a:t>A</a:t>
            </a:r>
            <a:r>
              <a:rPr lang="fr-CA" sz="2400" dirty="0"/>
              <a:t> = 	1,77 %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dirty="0">
                <a:sym typeface="Symbol" pitchFamily="18" charset="2"/>
              </a:rPr>
              <a:t></a:t>
            </a:r>
            <a:r>
              <a:rPr lang="fr-CA" sz="2400" baseline="-25000" dirty="0"/>
              <a:t>B</a:t>
            </a:r>
            <a:r>
              <a:rPr lang="fr-CA" sz="2400" dirty="0"/>
              <a:t> = 	8,72 %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sz="2400" dirty="0" err="1"/>
              <a:t>Cov</a:t>
            </a:r>
            <a:r>
              <a:rPr lang="fr-CA" sz="2400" baseline="-25000" dirty="0" err="1"/>
              <a:t>A,B</a:t>
            </a:r>
            <a:r>
              <a:rPr lang="fr-CA" sz="2400" dirty="0"/>
              <a:t> = 	0,0014495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dirty="0">
                <a:sym typeface="Symbol" pitchFamily="18" charset="2"/>
              </a:rPr>
              <a:t></a:t>
            </a:r>
            <a:r>
              <a:rPr lang="fr-CA" sz="1800" baseline="-25000" dirty="0" err="1">
                <a:sym typeface="Symbol" pitchFamily="18" charset="2"/>
              </a:rPr>
              <a:t>x,y</a:t>
            </a:r>
            <a:r>
              <a:rPr lang="fr-CA" sz="1800" dirty="0">
                <a:sym typeface="Symbol" pitchFamily="18" charset="2"/>
              </a:rPr>
              <a:t> </a:t>
            </a:r>
            <a:r>
              <a:rPr lang="fr-CA" sz="2400" dirty="0">
                <a:sym typeface="Symbol" pitchFamily="18" charset="2"/>
              </a:rPr>
              <a:t>= 	0,94</a:t>
            </a:r>
            <a:endParaRPr lang="fr-CA" sz="2400" dirty="0"/>
          </a:p>
          <a:p>
            <a:pPr>
              <a:lnSpc>
                <a:spcPct val="90000"/>
              </a:lnSpc>
            </a:pPr>
            <a:endParaRPr lang="fr-CA" sz="24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800" dirty="0"/>
          </a:p>
          <a:p>
            <a:pPr>
              <a:lnSpc>
                <a:spcPct val="90000"/>
              </a:lnSpc>
            </a:pPr>
            <a:endParaRPr lang="fr-CA" sz="2000" baseline="-25000" dirty="0">
              <a:sym typeface="Symbol" pitchFamily="18" charset="2"/>
            </a:endParaRPr>
          </a:p>
        </p:txBody>
      </p:sp>
      <p:graphicFrame>
        <p:nvGraphicFramePr>
          <p:cNvPr id="14340" name="Group 4"/>
          <p:cNvGraphicFramePr>
            <a:graphicFrameLocks noGrp="1"/>
          </p:cNvGraphicFramePr>
          <p:nvPr>
            <p:ph sz="quarter" idx="2"/>
            <p:custDataLst>
              <p:tags r:id="rId3"/>
            </p:custDataLst>
          </p:nvPr>
        </p:nvGraphicFramePr>
        <p:xfrm>
          <a:off x="3851920" y="1491630"/>
          <a:ext cx="4752528" cy="1944214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46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Pi</a:t>
                      </a:r>
                      <a:endParaRPr kumimoji="0" lang="fr-CA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  <a:endParaRPr kumimoji="0" lang="fr-CA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fr-CA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10 %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12 %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20 %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25 %</a:t>
                      </a:r>
                      <a:endParaRPr kumimoji="0" lang="fr-CA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11 %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25 %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50 %</a:t>
                      </a:r>
                      <a:endParaRPr kumimoji="0" lang="fr-CA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9 %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15 %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15 %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6 %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-3 %</a:t>
                      </a:r>
                      <a:endParaRPr kumimoji="0" lang="fr-CA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7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Le risque en contexte de portefeuille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3122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05979"/>
            <a:ext cx="8229600" cy="600075"/>
          </a:xfrm>
        </p:spPr>
        <p:txBody>
          <a:bodyPr>
            <a:noAutofit/>
          </a:bodyPr>
          <a:lstStyle/>
          <a:p>
            <a:r>
              <a:rPr lang="fr-CA" sz="3600" dirty="0"/>
              <a:t>Le risque d’un portefeuille</a:t>
            </a:r>
            <a:endParaRPr lang="fr-CA" sz="40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199" y="1006080"/>
            <a:ext cx="8435975" cy="917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u="sng" dirty="0">
                <a:solidFill>
                  <a:schemeClr val="accent1"/>
                </a:solidFill>
              </a:rPr>
              <a:t>Le risque d’un portefeuille </a:t>
            </a:r>
            <a:r>
              <a:rPr lang="fr-CA" sz="2400" dirty="0"/>
              <a:t>: une part de risque s’élimine en raison du principe de la diversification</a:t>
            </a:r>
          </a:p>
          <a:p>
            <a:pPr>
              <a:buFontTx/>
              <a:buNone/>
            </a:pPr>
            <a:endParaRPr lang="fr-CA" sz="2400" dirty="0"/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46484109"/>
              </p:ext>
            </p:extLst>
          </p:nvPr>
        </p:nvGraphicFramePr>
        <p:xfrm>
          <a:off x="899592" y="1923678"/>
          <a:ext cx="6983809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Equation" r:id="rId10" imgW="2209680" imgH="253800" progId="Equation.3">
                  <p:embed/>
                </p:oleObj>
              </mc:Choice>
              <mc:Fallback>
                <p:oleObj name="Equation" r:id="rId10" imgW="2209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923678"/>
                        <a:ext cx="6983809" cy="676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Accolade fermante 1"/>
          <p:cNvSpPr/>
          <p:nvPr>
            <p:custDataLst>
              <p:tags r:id="rId5"/>
            </p:custDataLst>
          </p:nvPr>
        </p:nvSpPr>
        <p:spPr>
          <a:xfrm rot="5400000">
            <a:off x="3371218" y="1424470"/>
            <a:ext cx="241323" cy="259228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Accolade fermante 10"/>
          <p:cNvSpPr/>
          <p:nvPr>
            <p:custDataLst>
              <p:tags r:id="rId6"/>
            </p:custDataLst>
          </p:nvPr>
        </p:nvSpPr>
        <p:spPr>
          <a:xfrm rot="5400000">
            <a:off x="6395555" y="1424471"/>
            <a:ext cx="241323" cy="2592288"/>
          </a:xfrm>
          <a:prstGeom prst="rightBrac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2" name="Rectangle 3"/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2195735" y="2888107"/>
            <a:ext cx="2592290" cy="979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Tx/>
              <a:buNone/>
            </a:pPr>
            <a:r>
              <a:rPr lang="fr-CA" sz="2400" dirty="0">
                <a:solidFill>
                  <a:schemeClr val="accent1"/>
                </a:solidFill>
              </a:rPr>
              <a:t>Contribution individuelle de chacun des titres au risque du PF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5148064" y="2831693"/>
            <a:ext cx="2699817" cy="16122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Tx/>
              <a:buNone/>
            </a:pPr>
            <a:r>
              <a:rPr lang="fr-CA" sz="2400" dirty="0">
                <a:solidFill>
                  <a:schemeClr val="accent3"/>
                </a:solidFill>
              </a:rPr>
              <a:t>Effet de diversification entre les titres (</a:t>
            </a:r>
            <a:r>
              <a:rPr lang="fr-CA" sz="2400" dirty="0" err="1">
                <a:solidFill>
                  <a:schemeClr val="accent3"/>
                </a:solidFill>
              </a:rPr>
              <a:t>coef</a:t>
            </a:r>
            <a:r>
              <a:rPr lang="fr-CA" sz="2400" dirty="0">
                <a:solidFill>
                  <a:schemeClr val="accent3"/>
                </a:solidFill>
              </a:rPr>
              <a:t>. de corrélation se cache dans la covariance)</a:t>
            </a:r>
          </a:p>
          <a:p>
            <a:pPr marL="0" lvl="1" indent="0" algn="ctr" fontAlgn="auto">
              <a:spcAft>
                <a:spcPts val="0"/>
              </a:spcAft>
              <a:buNone/>
            </a:pPr>
            <a:r>
              <a:rPr lang="fr-CA" sz="2400" dirty="0" err="1">
                <a:solidFill>
                  <a:schemeClr val="accent3"/>
                </a:solidFill>
              </a:rPr>
              <a:t>cov</a:t>
            </a:r>
            <a:r>
              <a:rPr lang="fr-CA" sz="2400" dirty="0">
                <a:solidFill>
                  <a:schemeClr val="accent3"/>
                </a:solidFill>
              </a:rPr>
              <a:t> (A,B) </a:t>
            </a:r>
            <a:r>
              <a:rPr lang="fr-CA" sz="2400" b="1" dirty="0">
                <a:solidFill>
                  <a:schemeClr val="accent3"/>
                </a:solidFill>
              </a:rPr>
              <a:t>= </a:t>
            </a:r>
            <a:r>
              <a:rPr lang="fr-CA" sz="3200" b="1" dirty="0">
                <a:solidFill>
                  <a:schemeClr val="accent3"/>
                </a:solidFill>
                <a:sym typeface="Symbol" pitchFamily="18" charset="2"/>
              </a:rPr>
              <a:t></a:t>
            </a:r>
            <a:r>
              <a:rPr lang="fr-CA" sz="2400" b="1" baseline="-25000" dirty="0">
                <a:solidFill>
                  <a:schemeClr val="accent3"/>
                </a:solidFill>
                <a:sym typeface="Symbol" pitchFamily="18" charset="2"/>
              </a:rPr>
              <a:t>A,B</a:t>
            </a:r>
            <a:r>
              <a:rPr lang="fr-CA" sz="2400" b="1" dirty="0">
                <a:solidFill>
                  <a:schemeClr val="accent3"/>
                </a:solidFill>
                <a:sym typeface="Symbol" pitchFamily="18" charset="2"/>
              </a:rPr>
              <a:t> </a:t>
            </a:r>
            <a:r>
              <a:rPr lang="fr-CA" sz="3200" dirty="0">
                <a:solidFill>
                  <a:schemeClr val="accent3"/>
                </a:solidFill>
                <a:sym typeface="Symbol" pitchFamily="18" charset="2"/>
              </a:rPr>
              <a:t></a:t>
            </a:r>
            <a:r>
              <a:rPr lang="fr-CA" sz="2400" baseline="-25000" dirty="0">
                <a:solidFill>
                  <a:schemeClr val="accent3"/>
                </a:solidFill>
                <a:sym typeface="Symbol" pitchFamily="18" charset="2"/>
              </a:rPr>
              <a:t>A</a:t>
            </a:r>
            <a:r>
              <a:rPr lang="fr-CA" sz="2400" dirty="0">
                <a:solidFill>
                  <a:schemeClr val="accent3"/>
                </a:solidFill>
                <a:sym typeface="Symbol" pitchFamily="18" charset="2"/>
              </a:rPr>
              <a:t> </a:t>
            </a:r>
            <a:r>
              <a:rPr lang="fr-CA" sz="3200" dirty="0">
                <a:solidFill>
                  <a:schemeClr val="accent3"/>
                </a:solidFill>
                <a:sym typeface="Symbol" pitchFamily="18" charset="2"/>
              </a:rPr>
              <a:t></a:t>
            </a:r>
            <a:r>
              <a:rPr lang="fr-CA" sz="2400" baseline="-25000" dirty="0">
                <a:solidFill>
                  <a:schemeClr val="accent3"/>
                </a:solidFill>
                <a:sym typeface="Symbol" pitchFamily="18" charset="2"/>
              </a:rPr>
              <a:t>B</a:t>
            </a:r>
          </a:p>
          <a:p>
            <a:pPr marL="0" indent="0" algn="ctr" fontAlgn="auto">
              <a:spcAft>
                <a:spcPts val="0"/>
              </a:spcAft>
              <a:buFontTx/>
              <a:buNone/>
            </a:pPr>
            <a:endParaRPr lang="fr-CA" sz="2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39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3600" dirty="0"/>
              <a:t>Le risque d’un portefeuille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78800" y="1235311"/>
            <a:ext cx="4114800" cy="15912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3200" dirty="0"/>
              <a:t>Trouvez le risque d’un portefeuille constitué à </a:t>
            </a:r>
            <a:br>
              <a:rPr lang="fr-CA" sz="3200" dirty="0"/>
            </a:br>
            <a:r>
              <a:rPr lang="fr-CA" sz="3200" dirty="0"/>
              <a:t>60 %-40 % </a:t>
            </a:r>
            <a:br>
              <a:rPr lang="fr-CA" sz="3200" dirty="0"/>
            </a:br>
            <a:r>
              <a:rPr lang="fr-CA" sz="3200" dirty="0"/>
              <a:t>des titres A &amp; B.</a:t>
            </a:r>
          </a:p>
        </p:txBody>
      </p:sp>
      <p:graphicFrame>
        <p:nvGraphicFramePr>
          <p:cNvPr id="4" name="Group 4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388851944"/>
              </p:ext>
            </p:extLst>
          </p:nvPr>
        </p:nvGraphicFramePr>
        <p:xfrm>
          <a:off x="4572000" y="1711201"/>
          <a:ext cx="4176465" cy="1728192"/>
        </p:xfrm>
        <a:graphic>
          <a:graphicData uri="http://schemas.openxmlformats.org/drawingml/2006/table">
            <a:tbl>
              <a:tblPr/>
              <a:tblGrid>
                <a:gridCol w="139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4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Pi</a:t>
                      </a:r>
                      <a:endParaRPr kumimoji="0" lang="fr-CA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  <a:endParaRPr kumimoji="0" lang="fr-CA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fr-CA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10 %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12 %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20 %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25 %</a:t>
                      </a:r>
                      <a:endParaRPr kumimoji="0" lang="fr-CA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11 %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25 %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50 %</a:t>
                      </a:r>
                      <a:endParaRPr kumimoji="0" lang="fr-CA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9 %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15 %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15 %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6 %</a:t>
                      </a:r>
                      <a:endParaRPr kumimoji="0" lang="fr-CA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-3 %</a:t>
                      </a:r>
                      <a:endParaRPr kumimoji="0" lang="fr-CA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anchor="b" horzOverflow="overflow">
                    <a:lnL>
                      <a:noFill/>
                    </a:lnL>
                    <a:lnR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7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859934301"/>
              </p:ext>
            </p:extLst>
          </p:nvPr>
        </p:nvGraphicFramePr>
        <p:xfrm>
          <a:off x="827584" y="3795886"/>
          <a:ext cx="6983809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Equation" r:id="rId8" imgW="2209680" imgH="253800" progId="Equation.3">
                  <p:embed/>
                </p:oleObj>
              </mc:Choice>
              <mc:Fallback>
                <p:oleObj name="Equation" r:id="rId8" imgW="2209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795886"/>
                        <a:ext cx="6983809" cy="676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816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Diversification de portefeuille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1168003"/>
            <a:ext cx="3265786" cy="3509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000" dirty="0"/>
              <a:t>Il est possible de créer une infinité de portefeuille contenant plusieurs titres.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Certains de ces PF ont des profils plus intéressants que d’autres, ces derniers se trouvent sur la courbe appelée </a:t>
            </a:r>
            <a:r>
              <a:rPr lang="fr-CA" sz="2000" dirty="0">
                <a:solidFill>
                  <a:schemeClr val="accent1"/>
                </a:solidFill>
              </a:rPr>
              <a:t>frontière efficiente</a:t>
            </a:r>
            <a:r>
              <a:rPr lang="fr-CA" sz="2000" dirty="0"/>
              <a:t>.</a:t>
            </a:r>
          </a:p>
        </p:txBody>
      </p:sp>
      <p:pic>
        <p:nvPicPr>
          <p:cNvPr id="27650" name="Picture 2" descr="Efficient Frontier and Risk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86" y="1095158"/>
            <a:ext cx="5395715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9" descr="portfolio_fig1_wl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530" y="915566"/>
            <a:ext cx="1679171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8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Diversification de portefeuille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535" y="1168003"/>
            <a:ext cx="8352929" cy="3509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Lorsqu’on augmente le nombre de titres contenus dans le portefeuille, on se rend donc compte que le risque du PF diminue, mais n’est pas complètement éliminable.</a:t>
            </a:r>
          </a:p>
        </p:txBody>
      </p:sp>
      <p:sp>
        <p:nvSpPr>
          <p:cNvPr id="12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2164353" y="1825736"/>
            <a:ext cx="0" cy="275391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3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164353" y="4580843"/>
            <a:ext cx="5759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4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80117" y="1944799"/>
            <a:ext cx="86113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Risque</a:t>
            </a:r>
          </a:p>
          <a:p>
            <a:r>
              <a:rPr lang="fr-CA">
                <a:latin typeface="Tahoma" charset="0"/>
              </a:rPr>
              <a:t>du PF</a:t>
            </a:r>
          </a:p>
        </p:txBody>
      </p:sp>
      <p:sp>
        <p:nvSpPr>
          <p:cNvPr id="15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44167" y="4645137"/>
            <a:ext cx="18980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Nombre de titres</a:t>
            </a:r>
          </a:p>
        </p:txBody>
      </p:sp>
      <p:sp>
        <p:nvSpPr>
          <p:cNvPr id="16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164354" y="3284251"/>
            <a:ext cx="5477833" cy="1071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818190" y="2274094"/>
            <a:ext cx="19610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Risque éliminable</a:t>
            </a:r>
          </a:p>
          <a:p>
            <a:r>
              <a:rPr lang="fr-CA" dirty="0">
                <a:latin typeface="Tahoma" charset="0"/>
              </a:rPr>
              <a:t>Risque spécifique</a:t>
            </a:r>
          </a:p>
        </p:txBody>
      </p:sp>
      <p:sp>
        <p:nvSpPr>
          <p:cNvPr id="18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891826" y="3608370"/>
            <a:ext cx="242592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solidFill>
                  <a:schemeClr val="accent1"/>
                </a:solidFill>
                <a:latin typeface="Tahoma" charset="0"/>
              </a:rPr>
              <a:t>Risque non-éliminable</a:t>
            </a:r>
          </a:p>
          <a:p>
            <a:r>
              <a:rPr lang="fr-CA" dirty="0">
                <a:solidFill>
                  <a:schemeClr val="accent1"/>
                </a:solidFill>
                <a:latin typeface="Tahoma" charset="0"/>
              </a:rPr>
              <a:t>Risque systématique</a:t>
            </a:r>
          </a:p>
        </p:txBody>
      </p:sp>
      <p:sp>
        <p:nvSpPr>
          <p:cNvPr id="19" name="Freeform 11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345329" y="1987661"/>
            <a:ext cx="5002213" cy="1243013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521" y="726"/>
              </a:cxn>
              <a:cxn ang="0">
                <a:pos x="3151" y="1044"/>
              </a:cxn>
            </a:cxnLst>
            <a:rect l="0" t="0" r="r" b="b"/>
            <a:pathLst>
              <a:path w="3151" h="1044">
                <a:moveTo>
                  <a:pt x="22" y="0"/>
                </a:moveTo>
                <a:cubicBezTo>
                  <a:pt x="11" y="276"/>
                  <a:pt x="0" y="552"/>
                  <a:pt x="521" y="726"/>
                </a:cubicBezTo>
                <a:cubicBezTo>
                  <a:pt x="1042" y="900"/>
                  <a:pt x="2713" y="991"/>
                  <a:pt x="3151" y="10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0" name="Rectangle 19"/>
          <p:cNvSpPr/>
          <p:nvPr>
            <p:custDataLst>
              <p:tags r:id="rId11"/>
            </p:custDataLst>
          </p:nvPr>
        </p:nvSpPr>
        <p:spPr>
          <a:xfrm>
            <a:off x="2164353" y="3284251"/>
            <a:ext cx="5614887" cy="1266827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250031"/>
            <a:ext cx="8229600" cy="863204"/>
          </a:xfrm>
        </p:spPr>
        <p:txBody>
          <a:bodyPr/>
          <a:lstStyle/>
          <a:p>
            <a:r>
              <a:rPr lang="fr-CA"/>
              <a:t>L’approche pratique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68312" y="1168004"/>
            <a:ext cx="8424167" cy="3725465"/>
          </a:xfrm>
        </p:spPr>
        <p:txBody>
          <a:bodyPr>
            <a:normAutofit fontScale="77500" lnSpcReduction="20000"/>
          </a:bodyPr>
          <a:lstStyle/>
          <a:p>
            <a:r>
              <a:rPr lang="fr-CA" sz="2800" dirty="0"/>
              <a:t>Un investisseur rationnel ne paiera donc pas pour du risque éliminable : seul le risque systématique importe!</a:t>
            </a:r>
          </a:p>
          <a:p>
            <a:endParaRPr lang="fr-CA" sz="2800" dirty="0"/>
          </a:p>
          <a:p>
            <a:r>
              <a:rPr lang="fr-CA" sz="2800" dirty="0"/>
              <a:t>En pratique, qu’est-ce qu’un PF diversifié?</a:t>
            </a:r>
          </a:p>
          <a:p>
            <a:pPr lvl="1"/>
            <a:r>
              <a:rPr lang="fr-CA" sz="2400" dirty="0"/>
              <a:t>On peut utiliser l’indice d’une bourse tel que le S&amp;P/TSX (hypothèse : l’indice se trouve sur la frontière efficiente)</a:t>
            </a:r>
          </a:p>
          <a:p>
            <a:endParaRPr lang="fr-CA" sz="2800" dirty="0"/>
          </a:p>
          <a:p>
            <a:r>
              <a:rPr lang="fr-CA" sz="2800" dirty="0"/>
              <a:t>En pratique, qu’utilise-t-on pour représenter le risque systématique?</a:t>
            </a:r>
          </a:p>
          <a:p>
            <a:pPr lvl="1"/>
            <a:r>
              <a:rPr lang="fr-CA" sz="2400" dirty="0"/>
              <a:t>On utilise la lettre grecque </a:t>
            </a:r>
            <a:r>
              <a:rPr lang="fr-CA" dirty="0">
                <a:sym typeface="Symbol" pitchFamily="18" charset="2"/>
              </a:rPr>
              <a:t></a:t>
            </a:r>
          </a:p>
          <a:p>
            <a:pPr lvl="1"/>
            <a:r>
              <a:rPr lang="fr-CA" sz="2400" dirty="0"/>
              <a:t>On fixe le risque systématique du marché </a:t>
            </a:r>
            <a:r>
              <a:rPr lang="fr-CA" dirty="0">
                <a:sym typeface="Symbol" pitchFamily="18" charset="2"/>
              </a:rPr>
              <a:t></a:t>
            </a:r>
            <a:r>
              <a:rPr lang="fr-CA" sz="2400" baseline="-25000" dirty="0"/>
              <a:t>m</a:t>
            </a:r>
            <a:r>
              <a:rPr lang="fr-CA" sz="2400" dirty="0"/>
              <a:t>= 1</a:t>
            </a:r>
          </a:p>
          <a:p>
            <a:pPr lvl="1"/>
            <a:r>
              <a:rPr lang="fr-CA" sz="2400" dirty="0"/>
              <a:t>Les titres </a:t>
            </a:r>
            <a:r>
              <a:rPr lang="fr-CA" sz="2400" dirty="0">
                <a:sym typeface="Symbol" pitchFamily="18" charset="2"/>
              </a:rPr>
              <a:t> risqués que le marché auront des </a:t>
            </a:r>
            <a:r>
              <a:rPr lang="fr-CA" dirty="0">
                <a:sym typeface="Symbol" pitchFamily="18" charset="2"/>
              </a:rPr>
              <a:t>  1.</a:t>
            </a:r>
            <a:endParaRPr lang="fr-CA" sz="2400" dirty="0">
              <a:sym typeface="Symbol" pitchFamily="18" charset="2"/>
            </a:endParaRPr>
          </a:p>
          <a:p>
            <a:endParaRPr lang="fr-CA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250031"/>
            <a:ext cx="8229600" cy="863204"/>
          </a:xfrm>
        </p:spPr>
        <p:txBody>
          <a:bodyPr/>
          <a:lstStyle/>
          <a:p>
            <a:r>
              <a:rPr lang="fr-CA"/>
              <a:t>L’approche pratique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536" y="1168004"/>
            <a:ext cx="4457677" cy="372546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CA" sz="2800" dirty="0"/>
              <a:t>Beta (</a:t>
            </a:r>
            <a:r>
              <a:rPr lang="fr-CA" sz="2800" dirty="0">
                <a:sym typeface="Symbol" pitchFamily="18" charset="2"/>
              </a:rPr>
              <a:t>) </a:t>
            </a:r>
            <a:r>
              <a:rPr lang="fr-CA" sz="2800" dirty="0"/>
              <a:t>: niveau de variation des titres avec le marché.</a:t>
            </a:r>
          </a:p>
          <a:p>
            <a:pPr marL="0" indent="0">
              <a:buNone/>
            </a:pPr>
            <a:endParaRPr lang="fr-CA" sz="1200" dirty="0"/>
          </a:p>
          <a:p>
            <a:pPr marL="0" indent="0">
              <a:buNone/>
            </a:pPr>
            <a:r>
              <a:rPr lang="fr-CA" sz="2000" dirty="0">
                <a:sym typeface="Symbol" panose="05050102010706020507" pitchFamily="18" charset="2"/>
              </a:rPr>
              <a:t> 1 : titre plus variable que le marché</a:t>
            </a:r>
          </a:p>
          <a:p>
            <a:pPr marL="0" indent="0">
              <a:buNone/>
            </a:pPr>
            <a:endParaRPr lang="fr-CA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fr-CA" sz="2000" dirty="0">
                <a:sym typeface="Symbol" panose="05050102010706020507" pitchFamily="18" charset="2"/>
              </a:rPr>
              <a:t> =1 : titre présentant un niveau de variabilité comparable au marché</a:t>
            </a:r>
          </a:p>
          <a:p>
            <a:pPr marL="0" indent="0">
              <a:buNone/>
            </a:pPr>
            <a:endParaRPr lang="fr-CA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fr-CA" sz="2000" dirty="0">
                <a:sym typeface="Symbol" panose="05050102010706020507" pitchFamily="18" charset="2"/>
              </a:rPr>
              <a:t> 1 : titre moins variable que le marché</a:t>
            </a:r>
            <a:endParaRPr lang="fr-CA" sz="2000" dirty="0"/>
          </a:p>
        </p:txBody>
      </p:sp>
      <p:pic>
        <p:nvPicPr>
          <p:cNvPr id="4" name="Picture 5" descr="Fig13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 cstate="print"/>
          <a:srcRect l="13972" t="1627" r="18687" b="6558"/>
          <a:stretch>
            <a:fillRect/>
          </a:stretch>
        </p:blipFill>
        <p:spPr bwMode="auto">
          <a:xfrm>
            <a:off x="4853213" y="1197892"/>
            <a:ext cx="3844700" cy="23102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7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250031"/>
            <a:ext cx="8229600" cy="863204"/>
          </a:xfrm>
        </p:spPr>
        <p:txBody>
          <a:bodyPr/>
          <a:lstStyle/>
          <a:p>
            <a:r>
              <a:rPr lang="fr-CA" dirty="0"/>
              <a:t>Le MÉDAF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68313" y="1168004"/>
            <a:ext cx="8351838" cy="3725465"/>
          </a:xfrm>
        </p:spPr>
        <p:txBody>
          <a:bodyPr>
            <a:normAutofit fontScale="85000" lnSpcReduction="10000"/>
          </a:bodyPr>
          <a:lstStyle/>
          <a:p>
            <a:r>
              <a:rPr lang="fr-CA" sz="2800" dirty="0"/>
              <a:t>MÉDAF : </a:t>
            </a:r>
            <a:r>
              <a:rPr lang="fr-CA" sz="2800" dirty="0">
                <a:solidFill>
                  <a:schemeClr val="accent1"/>
                </a:solidFill>
              </a:rPr>
              <a:t>M</a:t>
            </a:r>
            <a:r>
              <a:rPr lang="fr-CA" sz="2800" dirty="0"/>
              <a:t>odèle d’</a:t>
            </a:r>
            <a:r>
              <a:rPr lang="fr-CA" sz="2800" dirty="0">
                <a:solidFill>
                  <a:schemeClr val="accent1"/>
                </a:solidFill>
              </a:rPr>
              <a:t>É</a:t>
            </a:r>
            <a:r>
              <a:rPr lang="fr-CA" sz="2800" dirty="0"/>
              <a:t>valuation </a:t>
            </a:r>
            <a:r>
              <a:rPr lang="fr-CA" sz="2800" dirty="0">
                <a:solidFill>
                  <a:schemeClr val="accent1"/>
                </a:solidFill>
              </a:rPr>
              <a:t>D</a:t>
            </a:r>
            <a:r>
              <a:rPr lang="fr-CA" sz="2800" dirty="0"/>
              <a:t>es </a:t>
            </a:r>
            <a:r>
              <a:rPr lang="fr-CA" sz="2800" dirty="0">
                <a:solidFill>
                  <a:schemeClr val="accent1"/>
                </a:solidFill>
              </a:rPr>
              <a:t>A</a:t>
            </a:r>
            <a:r>
              <a:rPr lang="fr-CA" sz="2800" dirty="0"/>
              <a:t>ctifs </a:t>
            </a:r>
            <a:r>
              <a:rPr lang="fr-CA" sz="2800" dirty="0">
                <a:solidFill>
                  <a:schemeClr val="accent1"/>
                </a:solidFill>
              </a:rPr>
              <a:t>F</a:t>
            </a:r>
            <a:r>
              <a:rPr lang="fr-CA" sz="2800" dirty="0"/>
              <a:t>inanciers.</a:t>
            </a:r>
          </a:p>
          <a:p>
            <a:r>
              <a:rPr lang="fr-CA" sz="2800" dirty="0"/>
              <a:t>Utilisation : sert à déterminer le rendement à exiger pour un titre financier (action).</a:t>
            </a:r>
          </a:p>
          <a:p>
            <a:endParaRPr lang="fr-CA" sz="2800" dirty="0"/>
          </a:p>
          <a:p>
            <a:endParaRPr lang="fr-CA" sz="2800" dirty="0"/>
          </a:p>
          <a:p>
            <a:pPr lvl="1"/>
            <a:r>
              <a:rPr lang="fr-CA" sz="2400" dirty="0" err="1"/>
              <a:t>R</a:t>
            </a:r>
            <a:r>
              <a:rPr lang="fr-CA" sz="2400" baseline="-25000" dirty="0" err="1"/>
              <a:t>f</a:t>
            </a:r>
            <a:r>
              <a:rPr lang="fr-CA" sz="2400" baseline="-25000" dirty="0"/>
              <a:t> </a:t>
            </a:r>
            <a:r>
              <a:rPr lang="fr-CA" sz="2400" dirty="0"/>
              <a:t>: taux sans risque (</a:t>
            </a:r>
            <a:r>
              <a:rPr lang="fr-CA" sz="2400" dirty="0" err="1"/>
              <a:t>Risk</a:t>
            </a:r>
            <a:r>
              <a:rPr lang="fr-CA" sz="2400" dirty="0"/>
              <a:t>-free Rate)</a:t>
            </a:r>
          </a:p>
          <a:p>
            <a:pPr lvl="1"/>
            <a:r>
              <a:rPr lang="fr-CA" sz="2400" dirty="0"/>
              <a:t>E(</a:t>
            </a:r>
            <a:r>
              <a:rPr lang="fr-CA" sz="2400" dirty="0" err="1"/>
              <a:t>R</a:t>
            </a:r>
            <a:r>
              <a:rPr lang="fr-CA" sz="2400" baseline="-25000" dirty="0" err="1"/>
              <a:t>m</a:t>
            </a:r>
            <a:r>
              <a:rPr lang="fr-CA" sz="2400" dirty="0"/>
              <a:t>) : espérance de rendement du marché</a:t>
            </a:r>
          </a:p>
          <a:p>
            <a:pPr lvl="1"/>
            <a:r>
              <a:rPr lang="fr-CA" sz="2400" dirty="0">
                <a:sym typeface="Symbol" pitchFamily="18" charset="2"/>
              </a:rPr>
              <a:t></a:t>
            </a:r>
            <a:r>
              <a:rPr lang="fr-CA" sz="2400" baseline="-25000" dirty="0">
                <a:sym typeface="Symbol" pitchFamily="18" charset="2"/>
              </a:rPr>
              <a:t>i </a:t>
            </a:r>
            <a:r>
              <a:rPr lang="fr-CA" sz="2400" dirty="0">
                <a:sym typeface="Symbol" pitchFamily="18" charset="2"/>
              </a:rPr>
              <a:t>: Risque systématique du titre i</a:t>
            </a:r>
            <a:endParaRPr lang="fr-CA" sz="2400" dirty="0"/>
          </a:p>
          <a:p>
            <a:r>
              <a:rPr lang="fr-CA" sz="2400" dirty="0"/>
              <a:t>Rappel : l’investisseur étant rationnel et donc diversifié, le titre i sera à ajouter à un portefeuille qui ne présente pas de risque spécifique.</a:t>
            </a:r>
          </a:p>
        </p:txBody>
      </p:sp>
      <p:sp>
        <p:nvSpPr>
          <p:cNvPr id="22532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39752" y="2403681"/>
            <a:ext cx="52377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CA" sz="2800" dirty="0">
                <a:latin typeface="Tahoma" charset="0"/>
              </a:rPr>
              <a:t>E(R</a:t>
            </a:r>
            <a:r>
              <a:rPr lang="fr-CA" sz="2800" baseline="-25000" dirty="0">
                <a:latin typeface="Tahoma" charset="0"/>
              </a:rPr>
              <a:t>i</a:t>
            </a:r>
            <a:r>
              <a:rPr lang="fr-CA" sz="2800" dirty="0">
                <a:latin typeface="Tahoma" charset="0"/>
              </a:rPr>
              <a:t>) = </a:t>
            </a:r>
            <a:r>
              <a:rPr lang="fr-CA" sz="2800" dirty="0" err="1">
                <a:latin typeface="Tahoma" charset="0"/>
              </a:rPr>
              <a:t>R</a:t>
            </a:r>
            <a:r>
              <a:rPr lang="fr-CA" sz="2800" baseline="-25000" dirty="0" err="1">
                <a:latin typeface="Tahoma" charset="0"/>
              </a:rPr>
              <a:t>f</a:t>
            </a:r>
            <a:r>
              <a:rPr lang="fr-CA" sz="2800" dirty="0">
                <a:latin typeface="Tahoma" charset="0"/>
              </a:rPr>
              <a:t> + </a:t>
            </a:r>
            <a:r>
              <a:rPr lang="fr-CA" sz="2800" dirty="0">
                <a:latin typeface="Tahoma" charset="0"/>
                <a:sym typeface="Symbol" pitchFamily="18" charset="2"/>
              </a:rPr>
              <a:t>[E(</a:t>
            </a:r>
            <a:r>
              <a:rPr lang="fr-CA" sz="2800" dirty="0" err="1">
                <a:latin typeface="Tahoma" charset="0"/>
                <a:sym typeface="Symbol" pitchFamily="18" charset="2"/>
              </a:rPr>
              <a:t>R</a:t>
            </a:r>
            <a:r>
              <a:rPr lang="fr-CA" sz="2800" baseline="-25000" dirty="0" err="1">
                <a:latin typeface="Tahoma" charset="0"/>
                <a:sym typeface="Symbol" pitchFamily="18" charset="2"/>
              </a:rPr>
              <a:t>m</a:t>
            </a:r>
            <a:r>
              <a:rPr lang="fr-CA" sz="2800" dirty="0">
                <a:latin typeface="Tahoma" charset="0"/>
                <a:sym typeface="Symbol" pitchFamily="18" charset="2"/>
              </a:rPr>
              <a:t>)-</a:t>
            </a:r>
            <a:r>
              <a:rPr lang="fr-CA" sz="2800" dirty="0" err="1">
                <a:latin typeface="Tahoma" charset="0"/>
                <a:sym typeface="Symbol" pitchFamily="18" charset="2"/>
              </a:rPr>
              <a:t>R</a:t>
            </a:r>
            <a:r>
              <a:rPr lang="fr-CA" sz="2800" baseline="-25000" dirty="0" err="1">
                <a:latin typeface="Tahoma" charset="0"/>
                <a:sym typeface="Symbol" pitchFamily="18" charset="2"/>
              </a:rPr>
              <a:t>f</a:t>
            </a:r>
            <a:r>
              <a:rPr lang="fr-CA" sz="2800" dirty="0">
                <a:latin typeface="Tahoma" charset="0"/>
                <a:sym typeface="Symbol" pitchFamily="18" charset="2"/>
              </a:rPr>
              <a:t>] i</a:t>
            </a:r>
            <a:r>
              <a:rPr lang="fr-CA" dirty="0">
                <a:latin typeface="Tahoma" charset="0"/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68313" y="250032"/>
            <a:ext cx="8229600" cy="756047"/>
          </a:xfrm>
        </p:spPr>
        <p:txBody>
          <a:bodyPr>
            <a:normAutofit/>
          </a:bodyPr>
          <a:lstStyle/>
          <a:p>
            <a:r>
              <a:rPr lang="fr-CA"/>
              <a:t>Le MÉDAF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68313" y="951310"/>
            <a:ext cx="8351838" cy="3725465"/>
          </a:xfrm>
        </p:spPr>
        <p:txBody>
          <a:bodyPr/>
          <a:lstStyle/>
          <a:p>
            <a:r>
              <a:rPr lang="fr-CA" sz="2000" dirty="0"/>
              <a:t>On déterminera donc le rendement à exiger pour un titre en fonction de son risque systématique.</a:t>
            </a:r>
          </a:p>
          <a:p>
            <a:pPr>
              <a:buFontTx/>
              <a:buNone/>
            </a:pPr>
            <a:r>
              <a:rPr lang="fr-CA" sz="2000" dirty="0"/>
              <a:t>	La relation sera linéaire:</a:t>
            </a:r>
          </a:p>
          <a:p>
            <a:endParaRPr lang="fr-CA" sz="2800" dirty="0"/>
          </a:p>
          <a:p>
            <a:endParaRPr lang="fr-CA" sz="2800" dirty="0"/>
          </a:p>
        </p:txBody>
      </p:sp>
      <p:sp>
        <p:nvSpPr>
          <p:cNvPr id="23556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971550" y="2139553"/>
            <a:ext cx="0" cy="2376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3557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971551" y="4516041"/>
            <a:ext cx="4752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3558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971551" y="2463404"/>
            <a:ext cx="4608513" cy="12965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3559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3059113" y="3165873"/>
            <a:ext cx="0" cy="1350169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3560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971550" y="3165872"/>
            <a:ext cx="20875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3561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19113" y="3663554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R</a:t>
            </a:r>
            <a:r>
              <a:rPr lang="fr-CA" baseline="-25000">
                <a:latin typeface="Tahoma" charset="0"/>
              </a:rPr>
              <a:t>f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50825" y="3003947"/>
            <a:ext cx="7633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E(R</a:t>
            </a:r>
            <a:r>
              <a:rPr lang="fr-CA" baseline="-25000">
                <a:latin typeface="Tahoma" charset="0"/>
              </a:rPr>
              <a:t>m</a:t>
            </a:r>
            <a:r>
              <a:rPr lang="fr-CA">
                <a:latin typeface="Tahoma" charset="0"/>
              </a:rPr>
              <a:t>)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679700" y="4527947"/>
            <a:ext cx="7360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  <a:sym typeface="Symbol" pitchFamily="18" charset="2"/>
              </a:rPr>
              <a:t></a:t>
            </a:r>
            <a:r>
              <a:rPr lang="fr-CA" baseline="-25000" dirty="0">
                <a:latin typeface="Tahoma" charset="0"/>
                <a:sym typeface="Symbol" pitchFamily="18" charset="2"/>
              </a:rPr>
              <a:t>m</a:t>
            </a:r>
            <a:r>
              <a:rPr lang="fr-CA" dirty="0">
                <a:latin typeface="Tahoma" charset="0"/>
                <a:sym typeface="Symbol" pitchFamily="18" charset="2"/>
              </a:rPr>
              <a:t>=1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79389" y="2085975"/>
            <a:ext cx="7505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b="1">
                <a:latin typeface="Tahoma" charset="0"/>
              </a:rPr>
              <a:t>E(R</a:t>
            </a:r>
            <a:r>
              <a:rPr lang="fr-CA" b="1" baseline="-25000">
                <a:latin typeface="Tahoma" charset="0"/>
              </a:rPr>
              <a:t>i</a:t>
            </a:r>
            <a:r>
              <a:rPr lang="fr-CA" b="1">
                <a:latin typeface="Tahoma" charset="0"/>
              </a:rPr>
              <a:t>)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435600" y="4569619"/>
            <a:ext cx="3577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b="1">
                <a:latin typeface="Tahoma" charset="0"/>
                <a:sym typeface="Symbol" pitchFamily="18" charset="2"/>
              </a:rPr>
              <a:t></a:t>
            </a:r>
            <a:r>
              <a:rPr lang="fr-CA" b="1" baseline="-25000">
                <a:latin typeface="Tahoma" charset="0"/>
                <a:sym typeface="Symbol" pitchFamily="18" charset="2"/>
              </a:rPr>
              <a:t>i</a:t>
            </a:r>
            <a:endParaRPr lang="fr-CA" b="1">
              <a:latin typeface="Tahoma" charset="0"/>
              <a:sym typeface="Symbol" pitchFamily="18" charset="2"/>
            </a:endParaRPr>
          </a:p>
        </p:txBody>
      </p:sp>
      <p:sp>
        <p:nvSpPr>
          <p:cNvPr id="23567" name="Text Box 15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572001" y="2895600"/>
            <a:ext cx="42920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800" dirty="0">
                <a:latin typeface="Tahoma" charset="0"/>
              </a:rPr>
              <a:t>E(R</a:t>
            </a:r>
            <a:r>
              <a:rPr lang="fr-CA" sz="2800" baseline="-25000" dirty="0">
                <a:latin typeface="Tahoma" charset="0"/>
              </a:rPr>
              <a:t>i</a:t>
            </a:r>
            <a:r>
              <a:rPr lang="fr-CA" sz="2800" dirty="0">
                <a:latin typeface="Tahoma" charset="0"/>
              </a:rPr>
              <a:t>) = </a:t>
            </a:r>
            <a:r>
              <a:rPr lang="fr-CA" sz="2800" dirty="0" err="1">
                <a:latin typeface="Tahoma" charset="0"/>
              </a:rPr>
              <a:t>R</a:t>
            </a:r>
            <a:r>
              <a:rPr lang="fr-CA" sz="2800" baseline="-25000" dirty="0" err="1">
                <a:latin typeface="Tahoma" charset="0"/>
              </a:rPr>
              <a:t>f</a:t>
            </a:r>
            <a:r>
              <a:rPr lang="fr-CA" sz="2800" dirty="0">
                <a:latin typeface="Tahoma" charset="0"/>
              </a:rPr>
              <a:t> + </a:t>
            </a:r>
            <a:r>
              <a:rPr lang="fr-CA" sz="2800" dirty="0">
                <a:latin typeface="Tahoma" charset="0"/>
                <a:sym typeface="Symbol" pitchFamily="18" charset="2"/>
              </a:rPr>
              <a:t>[E(</a:t>
            </a:r>
            <a:r>
              <a:rPr lang="fr-CA" sz="2800" dirty="0" err="1">
                <a:latin typeface="Tahoma" charset="0"/>
                <a:sym typeface="Symbol" pitchFamily="18" charset="2"/>
              </a:rPr>
              <a:t>R</a:t>
            </a:r>
            <a:r>
              <a:rPr lang="fr-CA" sz="2800" baseline="-25000" dirty="0" err="1">
                <a:latin typeface="Tahoma" charset="0"/>
                <a:sym typeface="Symbol" pitchFamily="18" charset="2"/>
              </a:rPr>
              <a:t>m</a:t>
            </a:r>
            <a:r>
              <a:rPr lang="fr-CA" sz="2800" dirty="0">
                <a:latin typeface="Tahoma" charset="0"/>
                <a:sym typeface="Symbol" pitchFamily="18" charset="2"/>
              </a:rPr>
              <a:t>)-</a:t>
            </a:r>
            <a:r>
              <a:rPr lang="fr-CA" sz="2800" dirty="0" err="1">
                <a:latin typeface="Tahoma" charset="0"/>
                <a:sym typeface="Symbol" pitchFamily="18" charset="2"/>
              </a:rPr>
              <a:t>R</a:t>
            </a:r>
            <a:r>
              <a:rPr lang="fr-CA" sz="2800" baseline="-25000" dirty="0" err="1">
                <a:latin typeface="Tahoma" charset="0"/>
                <a:sym typeface="Symbol" pitchFamily="18" charset="2"/>
              </a:rPr>
              <a:t>f</a:t>
            </a:r>
            <a:r>
              <a:rPr lang="fr-CA" sz="2800" dirty="0">
                <a:latin typeface="Tahoma" charset="0"/>
                <a:sym typeface="Symbol" pitchFamily="18" charset="2"/>
              </a:rPr>
              <a:t>] i</a:t>
            </a:r>
            <a:r>
              <a:rPr lang="fr-CA" dirty="0">
                <a:latin typeface="Tahoma" charset="0"/>
                <a:sym typeface="Symbol" pitchFamily="18" charset="2"/>
              </a:rPr>
              <a:t> </a:t>
            </a:r>
          </a:p>
        </p:txBody>
      </p:sp>
      <p:sp>
        <p:nvSpPr>
          <p:cNvPr id="16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280151" y="2258616"/>
            <a:ext cx="15680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000" dirty="0">
                <a:latin typeface="Tahoma" charset="0"/>
              </a:rPr>
              <a:t>y = b + m x</a:t>
            </a: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01672295"/>
              </p:ext>
            </p:extLst>
          </p:nvPr>
        </p:nvGraphicFramePr>
        <p:xfrm>
          <a:off x="6444208" y="3731114"/>
          <a:ext cx="1577497" cy="52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Equation" r:id="rId18" imgW="1091880" imgH="431640" progId="Equation.3">
                  <p:embed/>
                </p:oleObj>
              </mc:Choice>
              <mc:Fallback>
                <p:oleObj name="Equation" r:id="rId18" imgW="1091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731114"/>
                        <a:ext cx="1577497" cy="526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57" grpId="0" animBg="1"/>
      <p:bldP spid="23558" grpId="0" animBg="1"/>
      <p:bldP spid="23559" grpId="0" animBg="1"/>
      <p:bldP spid="23560" grpId="0" animBg="1"/>
      <p:bldP spid="23561" grpId="0"/>
      <p:bldP spid="23562" grpId="0"/>
      <p:bldP spid="23563" grpId="0"/>
      <p:bldP spid="23564" grpId="0"/>
      <p:bldP spid="23565" grpId="0"/>
      <p:bldP spid="23567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250032"/>
            <a:ext cx="8229600" cy="756047"/>
          </a:xfrm>
        </p:spPr>
        <p:txBody>
          <a:bodyPr>
            <a:normAutofit/>
          </a:bodyPr>
          <a:lstStyle/>
          <a:p>
            <a:r>
              <a:rPr lang="fr-CA"/>
              <a:t>Le MÉDAF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536" y="951310"/>
            <a:ext cx="8424615" cy="123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Exemple : trouvez le rendement exigé pour investir dans les actions suivantes si vous anticipez </a:t>
            </a:r>
            <a:r>
              <a:rPr lang="fr-CA" sz="2000" dirty="0">
                <a:sym typeface="Symbol" pitchFamily="18" charset="2"/>
              </a:rPr>
              <a:t>que le marché devrait rapporter 8 % et que vous savez que les bons du trésor vous rapportent 2 %.</a:t>
            </a:r>
          </a:p>
          <a:p>
            <a:pPr marL="457200" lvl="1" indent="0">
              <a:buNone/>
            </a:pPr>
            <a:endParaRPr lang="en-US" sz="2400" dirty="0">
              <a:sym typeface="Symbol" pitchFamily="18" charset="2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2872" y="1956144"/>
            <a:ext cx="41814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CA" sz="2800" dirty="0">
                <a:latin typeface="Tahoma" charset="0"/>
              </a:rPr>
              <a:t>E(R</a:t>
            </a:r>
            <a:r>
              <a:rPr lang="fr-CA" sz="2800" baseline="-25000" dirty="0">
                <a:latin typeface="Tahoma" charset="0"/>
              </a:rPr>
              <a:t>i</a:t>
            </a:r>
            <a:r>
              <a:rPr lang="fr-CA" sz="2800" dirty="0">
                <a:latin typeface="Tahoma" charset="0"/>
              </a:rPr>
              <a:t>)= </a:t>
            </a:r>
            <a:r>
              <a:rPr lang="fr-CA" sz="2800" dirty="0" err="1">
                <a:latin typeface="Tahoma" charset="0"/>
              </a:rPr>
              <a:t>R</a:t>
            </a:r>
            <a:r>
              <a:rPr lang="fr-CA" sz="2800" baseline="-25000" dirty="0" err="1">
                <a:latin typeface="Tahoma" charset="0"/>
              </a:rPr>
              <a:t>f</a:t>
            </a:r>
            <a:r>
              <a:rPr lang="fr-CA" sz="2800" dirty="0">
                <a:latin typeface="Tahoma" charset="0"/>
              </a:rPr>
              <a:t> + </a:t>
            </a:r>
            <a:r>
              <a:rPr lang="fr-CA" sz="2800" dirty="0">
                <a:latin typeface="Tahoma" charset="0"/>
                <a:sym typeface="Symbol" pitchFamily="18" charset="2"/>
              </a:rPr>
              <a:t>[E(</a:t>
            </a:r>
            <a:r>
              <a:rPr lang="fr-CA" sz="2800" dirty="0" err="1">
                <a:latin typeface="Tahoma" charset="0"/>
                <a:sym typeface="Symbol" pitchFamily="18" charset="2"/>
              </a:rPr>
              <a:t>R</a:t>
            </a:r>
            <a:r>
              <a:rPr lang="fr-CA" sz="2800" baseline="-25000" dirty="0" err="1">
                <a:latin typeface="Tahoma" charset="0"/>
                <a:sym typeface="Symbol" pitchFamily="18" charset="2"/>
              </a:rPr>
              <a:t>m</a:t>
            </a:r>
            <a:r>
              <a:rPr lang="fr-CA" sz="2800" dirty="0">
                <a:latin typeface="Tahoma" charset="0"/>
                <a:sym typeface="Symbol" pitchFamily="18" charset="2"/>
              </a:rPr>
              <a:t>)-</a:t>
            </a:r>
            <a:r>
              <a:rPr lang="fr-CA" sz="2800" dirty="0" err="1">
                <a:latin typeface="Tahoma" charset="0"/>
                <a:sym typeface="Symbol" pitchFamily="18" charset="2"/>
              </a:rPr>
              <a:t>R</a:t>
            </a:r>
            <a:r>
              <a:rPr lang="fr-CA" sz="2800" baseline="-25000" dirty="0" err="1">
                <a:latin typeface="Tahoma" charset="0"/>
                <a:sym typeface="Symbol" pitchFamily="18" charset="2"/>
              </a:rPr>
              <a:t>f</a:t>
            </a:r>
            <a:r>
              <a:rPr lang="fr-CA" sz="2800" dirty="0">
                <a:latin typeface="Tahoma" charset="0"/>
                <a:sym typeface="Symbol" pitchFamily="18" charset="2"/>
              </a:rPr>
              <a:t>] </a:t>
            </a:r>
            <a:r>
              <a:rPr lang="fr-CA" sz="2800" baseline="-25000" dirty="0">
                <a:latin typeface="Tahoma" charset="0"/>
                <a:sym typeface="Symbol" pitchFamily="18" charset="2"/>
              </a:rPr>
              <a:t>i</a:t>
            </a:r>
            <a:r>
              <a:rPr lang="fr-CA" dirty="0">
                <a:latin typeface="Tahoma" charset="0"/>
                <a:sym typeface="Symbol" pitchFamily="18" charset="2"/>
              </a:rPr>
              <a:t> </a:t>
            </a:r>
          </a:p>
        </p:txBody>
      </p:sp>
      <p:sp>
        <p:nvSpPr>
          <p:cNvPr id="24581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2871" y="2441919"/>
            <a:ext cx="46799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CA" sz="2800" dirty="0">
                <a:latin typeface="Tahoma" charset="0"/>
              </a:rPr>
              <a:t>E(R</a:t>
            </a:r>
            <a:r>
              <a:rPr lang="fr-CA" sz="2800" baseline="-25000" dirty="0">
                <a:latin typeface="Tahoma" charset="0"/>
              </a:rPr>
              <a:t>i</a:t>
            </a:r>
            <a:r>
              <a:rPr lang="fr-CA" sz="2800" dirty="0">
                <a:latin typeface="Tahoma" charset="0"/>
              </a:rPr>
              <a:t>)= 2%+</a:t>
            </a:r>
            <a:r>
              <a:rPr lang="fr-CA" sz="2800" dirty="0">
                <a:latin typeface="Tahoma" charset="0"/>
                <a:sym typeface="Symbol" pitchFamily="18" charset="2"/>
              </a:rPr>
              <a:t>[ 8% - 2% ] </a:t>
            </a:r>
            <a:r>
              <a:rPr lang="fr-CA" sz="2800" baseline="-25000" dirty="0">
                <a:latin typeface="Tahoma" charset="0"/>
                <a:sym typeface="Symbol" pitchFamily="18" charset="2"/>
              </a:rPr>
              <a:t>i</a:t>
            </a:r>
            <a:endParaRPr lang="fr-CA" dirty="0">
              <a:latin typeface="Tahoma" charset="0"/>
              <a:sym typeface="Symbol" pitchFamily="18" charset="2"/>
            </a:endParaRPr>
          </a:p>
        </p:txBody>
      </p:sp>
      <p:grpSp>
        <p:nvGrpSpPr>
          <p:cNvPr id="2" name="Groupe 1"/>
          <p:cNvGrpSpPr/>
          <p:nvPr>
            <p:custDataLst>
              <p:tags r:id="rId5"/>
            </p:custDataLst>
          </p:nvPr>
        </p:nvGrpSpPr>
        <p:grpSpPr>
          <a:xfrm>
            <a:off x="5315088" y="2167604"/>
            <a:ext cx="3568386" cy="1976854"/>
            <a:chOff x="5322217" y="3003947"/>
            <a:chExt cx="3568386" cy="1976854"/>
          </a:xfrm>
        </p:grpSpPr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 flipV="1">
              <a:off x="5940425" y="3111104"/>
              <a:ext cx="0" cy="15120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5940425" y="4623197"/>
              <a:ext cx="259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 flipV="1">
              <a:off x="5940426" y="3381375"/>
              <a:ext cx="2447925" cy="7560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7019925" y="3813573"/>
              <a:ext cx="0" cy="81081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 flipH="1">
              <a:off x="5940425" y="3813572"/>
              <a:ext cx="10795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 flipV="1">
              <a:off x="7667625" y="3598069"/>
              <a:ext cx="0" cy="102631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 flipH="1">
              <a:off x="5940425" y="3598069"/>
              <a:ext cx="17272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90" name="Text Box 14"/>
            <p:cNvSpPr txBox="1">
              <a:spLocks noChangeArrowheads="1"/>
            </p:cNvSpPr>
            <p:nvPr/>
          </p:nvSpPr>
          <p:spPr bwMode="auto">
            <a:xfrm>
              <a:off x="8532813" y="4569619"/>
              <a:ext cx="35779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charset="0"/>
                  <a:sym typeface="Symbol" pitchFamily="18" charset="2"/>
                </a:rPr>
                <a:t></a:t>
              </a:r>
              <a:r>
                <a:rPr lang="fr-CA" baseline="-25000" dirty="0">
                  <a:latin typeface="Tahoma" charset="0"/>
                  <a:sym typeface="Symbol" pitchFamily="18" charset="2"/>
                </a:rPr>
                <a:t>i</a:t>
              </a:r>
              <a:endParaRPr lang="fr-CA" dirty="0">
                <a:latin typeface="Tahoma" charset="0"/>
                <a:sym typeface="Symbol" pitchFamily="18" charset="2"/>
              </a:endParaRPr>
            </a:p>
          </p:txBody>
        </p:sp>
        <p:sp>
          <p:nvSpPr>
            <p:cNvPr id="24591" name="Text Box 15"/>
            <p:cNvSpPr txBox="1">
              <a:spLocks noChangeArrowheads="1"/>
            </p:cNvSpPr>
            <p:nvPr/>
          </p:nvSpPr>
          <p:spPr bwMode="auto">
            <a:xfrm>
              <a:off x="5364164" y="3003947"/>
              <a:ext cx="51007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 dirty="0">
                  <a:latin typeface="Tahoma" charset="0"/>
                </a:rPr>
                <a:t>E(R</a:t>
              </a:r>
              <a:r>
                <a:rPr lang="fr-CA" sz="1200" baseline="-25000" dirty="0">
                  <a:latin typeface="Tahoma" charset="0"/>
                </a:rPr>
                <a:t>i</a:t>
              </a:r>
              <a:r>
                <a:rPr lang="fr-CA" sz="1200" dirty="0">
                  <a:latin typeface="Tahoma" charset="0"/>
                </a:rPr>
                <a:t>)</a:t>
              </a:r>
            </a:p>
          </p:txBody>
        </p:sp>
        <p:sp>
          <p:nvSpPr>
            <p:cNvPr id="24592" name="Text Box 16"/>
            <p:cNvSpPr txBox="1">
              <a:spLocks noChangeArrowheads="1"/>
            </p:cNvSpPr>
            <p:nvPr/>
          </p:nvSpPr>
          <p:spPr bwMode="auto">
            <a:xfrm>
              <a:off x="6659563" y="4642247"/>
              <a:ext cx="67358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latin typeface="Tahoma" charset="0"/>
                  <a:sym typeface="Symbol" pitchFamily="18" charset="2"/>
                </a:rPr>
                <a:t></a:t>
              </a:r>
              <a:r>
                <a:rPr lang="fr-CA" sz="1600" baseline="-25000" dirty="0">
                  <a:latin typeface="Tahoma" charset="0"/>
                  <a:sym typeface="Symbol" pitchFamily="18" charset="2"/>
                </a:rPr>
                <a:t>m</a:t>
              </a:r>
              <a:r>
                <a:rPr lang="fr-CA" sz="1600" dirty="0">
                  <a:latin typeface="Tahoma" charset="0"/>
                  <a:sym typeface="Symbol" pitchFamily="18" charset="2"/>
                </a:rPr>
                <a:t>=1</a:t>
              </a:r>
            </a:p>
          </p:txBody>
        </p:sp>
        <p:sp>
          <p:nvSpPr>
            <p:cNvPr id="24593" name="Text Box 17"/>
            <p:cNvSpPr txBox="1">
              <a:spLocks noChangeArrowheads="1"/>
            </p:cNvSpPr>
            <p:nvPr/>
          </p:nvSpPr>
          <p:spPr bwMode="auto">
            <a:xfrm>
              <a:off x="7443017" y="4613164"/>
              <a:ext cx="52129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latin typeface="Tahoma" charset="0"/>
                  <a:sym typeface="Symbol" pitchFamily="18" charset="2"/>
                </a:rPr>
                <a:t>___</a:t>
              </a:r>
            </a:p>
          </p:txBody>
        </p:sp>
        <p:sp>
          <p:nvSpPr>
            <p:cNvPr id="24594" name="Text Box 18"/>
            <p:cNvSpPr txBox="1">
              <a:spLocks noChangeArrowheads="1"/>
            </p:cNvSpPr>
            <p:nvPr/>
          </p:nvSpPr>
          <p:spPr bwMode="auto">
            <a:xfrm>
              <a:off x="5529631" y="3671580"/>
              <a:ext cx="51007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fr-CA" sz="1600" dirty="0">
                  <a:latin typeface="Tahoma" charset="0"/>
                </a:rPr>
                <a:t>8%</a:t>
              </a:r>
            </a:p>
          </p:txBody>
        </p:sp>
        <p:sp>
          <p:nvSpPr>
            <p:cNvPr id="24595" name="Text Box 19"/>
            <p:cNvSpPr txBox="1">
              <a:spLocks noChangeArrowheads="1"/>
            </p:cNvSpPr>
            <p:nvPr/>
          </p:nvSpPr>
          <p:spPr bwMode="auto">
            <a:xfrm>
              <a:off x="5322217" y="3437400"/>
              <a:ext cx="73977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CA" sz="1600" dirty="0">
                  <a:latin typeface="Tahoma" charset="0"/>
                </a:rPr>
                <a:t>___%</a:t>
              </a:r>
            </a:p>
          </p:txBody>
        </p:sp>
      </p:grpSp>
      <p:sp>
        <p:nvSpPr>
          <p:cNvPr id="22" name="Rectangle 3"/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468313" y="4302474"/>
            <a:ext cx="8569325" cy="521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lang="fr-CA" sz="2000" dirty="0">
                <a:sym typeface="Symbol" pitchFamily="18" charset="2"/>
              </a:rPr>
              <a:t>À quoi sert ces taux exigé?</a:t>
            </a:r>
            <a:endParaRPr lang="en-US" sz="24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50826" y="250032"/>
            <a:ext cx="8569325" cy="756047"/>
          </a:xfrm>
        </p:spPr>
        <p:txBody>
          <a:bodyPr>
            <a:normAutofit/>
          </a:bodyPr>
          <a:lstStyle/>
          <a:p>
            <a:r>
              <a:rPr lang="fr-CA" dirty="0"/>
              <a:t>Le risque: résumé</a:t>
            </a:r>
          </a:p>
        </p:txBody>
      </p:sp>
      <p:graphicFrame>
        <p:nvGraphicFramePr>
          <p:cNvPr id="2" name="Diagramme 1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47026579"/>
              </p:ext>
            </p:extLst>
          </p:nvPr>
        </p:nvGraphicFramePr>
        <p:xfrm>
          <a:off x="250826" y="951310"/>
          <a:ext cx="8569325" cy="3725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57032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330548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54F02C9-6C04-8941-98AF-7C66FC1B9807}" vid="{378BFC92-88BE-C343-AA7D-4E1AA329E8F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AE7F001F76EC45BE40992E8BB7B987" ma:contentTypeVersion="13" ma:contentTypeDescription="Create a new document." ma:contentTypeScope="" ma:versionID="faf23b05f3a74634f2e87d72aede8cb8">
  <xsd:schema xmlns:xsd="http://www.w3.org/2001/XMLSchema" xmlns:xs="http://www.w3.org/2001/XMLSchema" xmlns:p="http://schemas.microsoft.com/office/2006/metadata/properties" xmlns:ns3="c514949a-36e3-495b-a2b0-5c21910d7a7b" xmlns:ns4="25391546-c085-409b-8bd5-e8810a8f1c6f" targetNamespace="http://schemas.microsoft.com/office/2006/metadata/properties" ma:root="true" ma:fieldsID="de788517366c95c6c472563eb329d38b" ns3:_="" ns4:_="">
    <xsd:import namespace="c514949a-36e3-495b-a2b0-5c21910d7a7b"/>
    <xsd:import namespace="25391546-c085-409b-8bd5-e8810a8f1c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4:SharedWithUsers" minOccurs="0"/>
                <xsd:element ref="ns3:MediaServiceOCR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14949a-36e3-495b-a2b0-5c21910d7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391546-c085-409b-8bd5-e8810a8f1c6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47270C-7D66-47ED-BA0D-E00EFA8827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14949a-36e3-495b-a2b0-5c21910d7a7b"/>
    <ds:schemaRef ds:uri="25391546-c085-409b-8bd5-e8810a8f1c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BD1ECE8-4146-406B-BF59-6C8DC11BB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B55BAF-BFBA-4D09-BF03-D591A33D4F9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PowerPoint_officiel_HEC_Mtl_16-10_DEMO_1</Template>
  <TotalTime>10729</TotalTime>
  <Words>1441</Words>
  <Application>Microsoft Office PowerPoint</Application>
  <PresentationFormat>Affichage à l'écran (16:9)</PresentationFormat>
  <Paragraphs>263</Paragraphs>
  <Slides>32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32</vt:i4>
      </vt:variant>
    </vt:vector>
  </HeadingPairs>
  <TitlesOfParts>
    <vt:vector size="40" baseType="lpstr">
      <vt:lpstr>Arial</vt:lpstr>
      <vt:lpstr>Symbol</vt:lpstr>
      <vt:lpstr>Tahoma</vt:lpstr>
      <vt:lpstr>Wingdings</vt:lpstr>
      <vt:lpstr>Thème HEC</vt:lpstr>
      <vt:lpstr>Equation</vt:lpstr>
      <vt:lpstr>Équation</vt:lpstr>
      <vt:lpstr>Graphique</vt:lpstr>
      <vt:lpstr>Chapitre 12 &amp; 13 </vt:lpstr>
      <vt:lpstr>Le risque</vt:lpstr>
      <vt:lpstr>Le rendement selon les produits financiers</vt:lpstr>
      <vt:lpstr>Le risque selon les produits financiers </vt:lpstr>
      <vt:lpstr>Relation rendement-risque</vt:lpstr>
      <vt:lpstr>Relation rendement-risque</vt:lpstr>
      <vt:lpstr>Relation rendement-risque</vt:lpstr>
      <vt:lpstr>Relation rendement-risque</vt:lpstr>
      <vt:lpstr>Les outils mathématiques pour illustrer le risque</vt:lpstr>
      <vt:lpstr>Le rendement d’un portefeuille</vt:lpstr>
      <vt:lpstr>Le rendement d’un portefeuille</vt:lpstr>
      <vt:lpstr>Le risque entre 2 titres</vt:lpstr>
      <vt:lpstr>Le risque d’un portefeuille</vt:lpstr>
      <vt:lpstr>Représentation graphique de l’effet de diversification</vt:lpstr>
      <vt:lpstr>Représentation graphique de l’effet de diversification</vt:lpstr>
      <vt:lpstr>Représentation graphique de l’effet de diversification</vt:lpstr>
      <vt:lpstr>Représentation graphique de l’effet de diversification</vt:lpstr>
      <vt:lpstr>Représentation graphique de l’effet de diversification</vt:lpstr>
      <vt:lpstr>Les outils mathématiques pour illustrer la relation risque - rendement</vt:lpstr>
      <vt:lpstr>Les outils mathématiques pour illustrer la relation risque - rendement</vt:lpstr>
      <vt:lpstr>Le risque en contexte de portefeuille</vt:lpstr>
      <vt:lpstr>Le risque d’un portefeuille</vt:lpstr>
      <vt:lpstr>Le risque d’un portefeuille</vt:lpstr>
      <vt:lpstr>Diversification de portefeuille</vt:lpstr>
      <vt:lpstr>Diversification de portefeuille</vt:lpstr>
      <vt:lpstr>L’approche pratique</vt:lpstr>
      <vt:lpstr>L’approche pratique</vt:lpstr>
      <vt:lpstr>Le MÉDAF</vt:lpstr>
      <vt:lpstr>Le MÉDAF</vt:lpstr>
      <vt:lpstr>Le MÉDAF</vt:lpstr>
      <vt:lpstr>Le risque: résumé</vt:lpstr>
      <vt:lpstr>Présentation PowerPoint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Séances 9</dc:title>
  <dc:creator>User</dc:creator>
  <cp:lastModifiedBy>jean-philippe tarte</cp:lastModifiedBy>
  <cp:revision>51</cp:revision>
  <dcterms:created xsi:type="dcterms:W3CDTF">2006-02-13T17:45:05Z</dcterms:created>
  <dcterms:modified xsi:type="dcterms:W3CDTF">2020-06-10T21:59:59Z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0x01010027AE7F001F76EC45BE40992E8BB7B987</vt:lpwstr>
  </property>
</Properties>
</file>