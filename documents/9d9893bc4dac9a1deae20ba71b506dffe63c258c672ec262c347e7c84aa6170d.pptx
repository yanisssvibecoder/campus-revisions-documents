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7.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8.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9.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0.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2.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7.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8.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9.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0.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21.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22.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23.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28.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notesSlides/notesSlide36.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37.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38.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39.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40.xml" ContentType="application/vnd.openxmlformats-officedocument.presentationml.notesSlide+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notesSlides/notesSlide41.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42.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notesSlides/notesSlide43.xml" ContentType="application/vnd.openxmlformats-officedocument.presentationml.notesSlid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notesSlides/notesSlide44.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45.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notesSlides/notesSlide46.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47.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48.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notesSlides/notesSlide49.xml" ContentType="application/vnd.openxmlformats-officedocument.presentationml.notesSlide+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4"/>
    <p:sldMasterId id="2147483696" r:id="rId5"/>
  </p:sldMasterIdLst>
  <p:notesMasterIdLst>
    <p:notesMasterId r:id="rId60"/>
  </p:notesMasterIdLst>
  <p:handoutMasterIdLst>
    <p:handoutMasterId r:id="rId61"/>
  </p:handoutMasterIdLst>
  <p:sldIdLst>
    <p:sldId id="959" r:id="rId6"/>
    <p:sldId id="262" r:id="rId7"/>
    <p:sldId id="1582" r:id="rId8"/>
    <p:sldId id="1583" r:id="rId9"/>
    <p:sldId id="1458" r:id="rId10"/>
    <p:sldId id="316" r:id="rId11"/>
    <p:sldId id="1512" r:id="rId12"/>
    <p:sldId id="1483" r:id="rId13"/>
    <p:sldId id="1513" r:id="rId14"/>
    <p:sldId id="940" r:id="rId15"/>
    <p:sldId id="1581" r:id="rId16"/>
    <p:sldId id="318" r:id="rId17"/>
    <p:sldId id="1579" r:id="rId18"/>
    <p:sldId id="1589" r:id="rId19"/>
    <p:sldId id="1590" r:id="rId20"/>
    <p:sldId id="1591" r:id="rId21"/>
    <p:sldId id="1593" r:id="rId22"/>
    <p:sldId id="1594" r:id="rId23"/>
    <p:sldId id="1503" r:id="rId24"/>
    <p:sldId id="970" r:id="rId25"/>
    <p:sldId id="1517" r:id="rId26"/>
    <p:sldId id="1500" r:id="rId27"/>
    <p:sldId id="972" r:id="rId28"/>
    <p:sldId id="1477" r:id="rId29"/>
    <p:sldId id="1484" r:id="rId30"/>
    <p:sldId id="1614" r:id="rId31"/>
    <p:sldId id="1599" r:id="rId32"/>
    <p:sldId id="1615" r:id="rId33"/>
    <p:sldId id="1601" r:id="rId34"/>
    <p:sldId id="1610" r:id="rId35"/>
    <p:sldId id="1495" r:id="rId36"/>
    <p:sldId id="1602" r:id="rId37"/>
    <p:sldId id="1603" r:id="rId38"/>
    <p:sldId id="1617" r:id="rId39"/>
    <p:sldId id="1604" r:id="rId40"/>
    <p:sldId id="1605" r:id="rId41"/>
    <p:sldId id="1619" r:id="rId42"/>
    <p:sldId id="1624" r:id="rId43"/>
    <p:sldId id="1606" r:id="rId44"/>
    <p:sldId id="1608" r:id="rId45"/>
    <p:sldId id="1612" r:id="rId46"/>
    <p:sldId id="1609" r:id="rId47"/>
    <p:sldId id="1613" r:id="rId48"/>
    <p:sldId id="1621" r:id="rId49"/>
    <p:sldId id="1622" r:id="rId50"/>
    <p:sldId id="968" r:id="rId51"/>
    <p:sldId id="1575" r:id="rId52"/>
    <p:sldId id="1505" r:id="rId53"/>
    <p:sldId id="1499" r:id="rId54"/>
    <p:sldId id="355" r:id="rId55"/>
    <p:sldId id="356" r:id="rId56"/>
    <p:sldId id="1625" r:id="rId57"/>
    <p:sldId id="1489" r:id="rId58"/>
    <p:sldId id="1457" r:id="rId59"/>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éance 5" id="{29F2F948-010D-4051-BD4E-77C7EB96EF33}">
          <p14:sldIdLst>
            <p14:sldId id="959"/>
            <p14:sldId id="262"/>
            <p14:sldId id="1582"/>
            <p14:sldId id="1583"/>
            <p14:sldId id="1458"/>
            <p14:sldId id="316"/>
            <p14:sldId id="1512"/>
            <p14:sldId id="1483"/>
            <p14:sldId id="1513"/>
            <p14:sldId id="940"/>
            <p14:sldId id="1581"/>
            <p14:sldId id="318"/>
            <p14:sldId id="1579"/>
            <p14:sldId id="1589"/>
            <p14:sldId id="1590"/>
            <p14:sldId id="1591"/>
            <p14:sldId id="1593"/>
            <p14:sldId id="1594"/>
            <p14:sldId id="1503"/>
            <p14:sldId id="970"/>
            <p14:sldId id="1517"/>
            <p14:sldId id="1500"/>
            <p14:sldId id="972"/>
            <p14:sldId id="1477"/>
            <p14:sldId id="1484"/>
            <p14:sldId id="1614"/>
            <p14:sldId id="1599"/>
            <p14:sldId id="1615"/>
            <p14:sldId id="1601"/>
            <p14:sldId id="1610"/>
            <p14:sldId id="1495"/>
            <p14:sldId id="1602"/>
            <p14:sldId id="1603"/>
            <p14:sldId id="1617"/>
            <p14:sldId id="1604"/>
            <p14:sldId id="1605"/>
            <p14:sldId id="1619"/>
            <p14:sldId id="1624"/>
            <p14:sldId id="1606"/>
            <p14:sldId id="1608"/>
            <p14:sldId id="1612"/>
            <p14:sldId id="1609"/>
            <p14:sldId id="1613"/>
            <p14:sldId id="1621"/>
            <p14:sldId id="1622"/>
            <p14:sldId id="968"/>
            <p14:sldId id="1575"/>
            <p14:sldId id="1505"/>
            <p14:sldId id="1499"/>
            <p14:sldId id="355"/>
            <p14:sldId id="356"/>
            <p14:sldId id="1625"/>
            <p14:sldId id="1489"/>
            <p14:sldId id="145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FB072-923D-C39A-5898-EBB6249902FB}" name="François Richer" initials="FR" userId="S::francois.richer@hec.ca::f77fb91c-da60-46f8-bb73-a9e887769cc7" providerId="AD"/>
  <p188:author id="{CE0B87E3-A2EA-47CD-FCC0-CF7D499A439E}" name="Katherine Dooling" initials="KD" userId="S::katherine.dooling@hec.ca::899682fa-3a3e-4e2f-bb63-3b35aa7662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odie allain" initials="ea" lastIdx="1" clrIdx="0">
    <p:extLst>
      <p:ext uri="{19B8F6BF-5375-455C-9EA6-DF929625EA0E}">
        <p15:presenceInfo xmlns:p15="http://schemas.microsoft.com/office/powerpoint/2012/main" userId="S::elodie.allain@hec.ca::2b943744-3621-400b-bbf1-9af4902ca672" providerId="AD"/>
      </p:ext>
    </p:extLst>
  </p:cmAuthor>
  <p:cmAuthor id="2" name="loecha philion" initials="lp" lastIdx="1" clrIdx="1">
    <p:extLst>
      <p:ext uri="{19B8F6BF-5375-455C-9EA6-DF929625EA0E}">
        <p15:presenceInfo xmlns:p15="http://schemas.microsoft.com/office/powerpoint/2012/main" userId="S::loecha.philion@hec.ca::0f598feb-c4c0-4dda-b2c1-17de97a013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2B012-6F7B-4DE6-8D94-6F327F5BBB8B}" v="2" dt="2026-09-24T20:28:16.47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8" autoAdjust="0"/>
    <p:restoredTop sz="67070" autoAdjust="0"/>
  </p:normalViewPr>
  <p:slideViewPr>
    <p:cSldViewPr snapToGrid="0">
      <p:cViewPr varScale="1">
        <p:scale>
          <a:sx n="83" d="100"/>
          <a:sy n="83" d="100"/>
        </p:scale>
        <p:origin x="1242" y="84"/>
      </p:cViewPr>
      <p:guideLst/>
    </p:cSldViewPr>
  </p:slideViewPr>
  <p:notesTextViewPr>
    <p:cViewPr>
      <p:scale>
        <a:sx n="1" d="1"/>
        <a:sy n="1" d="1"/>
      </p:scale>
      <p:origin x="0" y="0"/>
    </p:cViewPr>
  </p:notesTextViewPr>
  <p:sorterViewPr>
    <p:cViewPr>
      <p:scale>
        <a:sx n="100" d="100"/>
        <a:sy n="100" d="100"/>
      </p:scale>
      <p:origin x="0" y="-10692"/>
    </p:cViewPr>
  </p:sorterViewPr>
  <p:notesViewPr>
    <p:cSldViewPr snapToGrid="0">
      <p:cViewPr varScale="1">
        <p:scale>
          <a:sx n="83" d="100"/>
          <a:sy n="83" d="100"/>
        </p:scale>
        <p:origin x="389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echa Philion" userId="0f598feb-c4c0-4dda-b2c1-17de97a01329" providerId="ADAL" clId="{E7AA05E6-2E3A-4936-92BE-EF366E7850A9}"/>
    <pc:docChg chg="undo custSel delSld modSld modSection">
      <pc:chgData name="Loecha Philion" userId="0f598feb-c4c0-4dda-b2c1-17de97a01329" providerId="ADAL" clId="{E7AA05E6-2E3A-4936-92BE-EF366E7850A9}" dt="2026-09-24T20:30:52.619" v="75" actId="6549"/>
      <pc:docMkLst>
        <pc:docMk/>
      </pc:docMkLst>
      <pc:sldChg chg="modNotesTx">
        <pc:chgData name="Loecha Philion" userId="0f598feb-c4c0-4dda-b2c1-17de97a01329" providerId="ADAL" clId="{E7AA05E6-2E3A-4936-92BE-EF366E7850A9}" dt="2026-09-24T20:27:31.469" v="0" actId="6549"/>
        <pc:sldMkLst>
          <pc:docMk/>
          <pc:sldMk cId="76427356" sldId="262"/>
        </pc:sldMkLst>
      </pc:sldChg>
      <pc:sldChg chg="modNotesTx">
        <pc:chgData name="Loecha Philion" userId="0f598feb-c4c0-4dda-b2c1-17de97a01329" providerId="ADAL" clId="{E7AA05E6-2E3A-4936-92BE-EF366E7850A9}" dt="2026-09-24T20:30:42.026" v="69" actId="6549"/>
        <pc:sldMkLst>
          <pc:docMk/>
          <pc:sldMk cId="1538194351" sldId="356"/>
        </pc:sldMkLst>
      </pc:sldChg>
      <pc:sldChg chg="modNotesTx">
        <pc:chgData name="Loecha Philion" userId="0f598feb-c4c0-4dda-b2c1-17de97a01329" providerId="ADAL" clId="{E7AA05E6-2E3A-4936-92BE-EF366E7850A9}" dt="2026-09-24T20:27:56.837" v="6" actId="6549"/>
        <pc:sldMkLst>
          <pc:docMk/>
          <pc:sldMk cId="2105451828" sldId="940"/>
        </pc:sldMkLst>
      </pc:sldChg>
      <pc:sldChg chg="modNotesTx">
        <pc:chgData name="Loecha Philion" userId="0f598feb-c4c0-4dda-b2c1-17de97a01329" providerId="ADAL" clId="{E7AA05E6-2E3A-4936-92BE-EF366E7850A9}" dt="2026-09-24T20:28:40.383" v="16" actId="6549"/>
        <pc:sldMkLst>
          <pc:docMk/>
          <pc:sldMk cId="12350316" sldId="970"/>
        </pc:sldMkLst>
      </pc:sldChg>
      <pc:sldChg chg="modNotesTx">
        <pc:chgData name="Loecha Philion" userId="0f598feb-c4c0-4dda-b2c1-17de97a01329" providerId="ADAL" clId="{E7AA05E6-2E3A-4936-92BE-EF366E7850A9}" dt="2026-09-24T20:28:44.732" v="17" actId="6549"/>
        <pc:sldMkLst>
          <pc:docMk/>
          <pc:sldMk cId="2357546543" sldId="972"/>
        </pc:sldMkLst>
      </pc:sldChg>
      <pc:sldChg chg="modNotesTx">
        <pc:chgData name="Loecha Philion" userId="0f598feb-c4c0-4dda-b2c1-17de97a01329" providerId="ADAL" clId="{E7AA05E6-2E3A-4936-92BE-EF366E7850A9}" dt="2026-09-24T20:27:40.439" v="2" actId="6549"/>
        <pc:sldMkLst>
          <pc:docMk/>
          <pc:sldMk cId="3338170645" sldId="1458"/>
        </pc:sldMkLst>
      </pc:sldChg>
      <pc:sldChg chg="modNotesTx">
        <pc:chgData name="Loecha Philion" userId="0f598feb-c4c0-4dda-b2c1-17de97a01329" providerId="ADAL" clId="{E7AA05E6-2E3A-4936-92BE-EF366E7850A9}" dt="2026-09-24T20:28:47.752" v="18" actId="6549"/>
        <pc:sldMkLst>
          <pc:docMk/>
          <pc:sldMk cId="2848444191" sldId="1477"/>
        </pc:sldMkLst>
      </pc:sldChg>
      <pc:sldChg chg="modNotesTx">
        <pc:chgData name="Loecha Philion" userId="0f598feb-c4c0-4dda-b2c1-17de97a01329" providerId="ADAL" clId="{E7AA05E6-2E3A-4936-92BE-EF366E7850A9}" dt="2026-09-24T20:30:52.619" v="75" actId="6549"/>
        <pc:sldMkLst>
          <pc:docMk/>
          <pc:sldMk cId="3112214637" sldId="1489"/>
        </pc:sldMkLst>
      </pc:sldChg>
      <pc:sldChg chg="modNotesTx">
        <pc:chgData name="Loecha Philion" userId="0f598feb-c4c0-4dda-b2c1-17de97a01329" providerId="ADAL" clId="{E7AA05E6-2E3A-4936-92BE-EF366E7850A9}" dt="2026-09-24T20:29:23.105" v="49" actId="6549"/>
        <pc:sldMkLst>
          <pc:docMk/>
          <pc:sldMk cId="1915943812" sldId="1495"/>
        </pc:sldMkLst>
      </pc:sldChg>
      <pc:sldChg chg="modNotesTx">
        <pc:chgData name="Loecha Philion" userId="0f598feb-c4c0-4dda-b2c1-17de97a01329" providerId="ADAL" clId="{E7AA05E6-2E3A-4936-92BE-EF366E7850A9}" dt="2026-09-24T20:28:27.405" v="14" actId="6549"/>
        <pc:sldMkLst>
          <pc:docMk/>
          <pc:sldMk cId="3937163668" sldId="1503"/>
        </pc:sldMkLst>
      </pc:sldChg>
      <pc:sldChg chg="modNotesTx">
        <pc:chgData name="Loecha Philion" userId="0f598feb-c4c0-4dda-b2c1-17de97a01329" providerId="ADAL" clId="{E7AA05E6-2E3A-4936-92BE-EF366E7850A9}" dt="2026-09-24T20:30:36.714" v="68" actId="6549"/>
        <pc:sldMkLst>
          <pc:docMk/>
          <pc:sldMk cId="772985037" sldId="1505"/>
        </pc:sldMkLst>
      </pc:sldChg>
      <pc:sldChg chg="modNotesTx">
        <pc:chgData name="Loecha Philion" userId="0f598feb-c4c0-4dda-b2c1-17de97a01329" providerId="ADAL" clId="{E7AA05E6-2E3A-4936-92BE-EF366E7850A9}" dt="2026-09-24T20:27:48.673" v="3" actId="6549"/>
        <pc:sldMkLst>
          <pc:docMk/>
          <pc:sldMk cId="2055891716" sldId="1512"/>
        </pc:sldMkLst>
      </pc:sldChg>
      <pc:sldChg chg="modNotesTx">
        <pc:chgData name="Loecha Philion" userId="0f598feb-c4c0-4dda-b2c1-17de97a01329" providerId="ADAL" clId="{E7AA05E6-2E3A-4936-92BE-EF366E7850A9}" dt="2026-09-24T20:27:52.366" v="4" actId="6549"/>
        <pc:sldMkLst>
          <pc:docMk/>
          <pc:sldMk cId="548289326" sldId="1513"/>
        </pc:sldMkLst>
      </pc:sldChg>
      <pc:sldChg chg="del">
        <pc:chgData name="Loecha Philion" userId="0f598feb-c4c0-4dda-b2c1-17de97a01329" providerId="ADAL" clId="{E7AA05E6-2E3A-4936-92BE-EF366E7850A9}" dt="2026-09-24T20:28:05.732" v="9" actId="47"/>
        <pc:sldMkLst>
          <pc:docMk/>
          <pc:sldMk cId="1884957776" sldId="1557"/>
        </pc:sldMkLst>
      </pc:sldChg>
      <pc:sldChg chg="modNotesTx">
        <pc:chgData name="Loecha Philion" userId="0f598feb-c4c0-4dda-b2c1-17de97a01329" providerId="ADAL" clId="{E7AA05E6-2E3A-4936-92BE-EF366E7850A9}" dt="2026-09-24T20:28:03.313" v="8" actId="6549"/>
        <pc:sldMkLst>
          <pc:docMk/>
          <pc:sldMk cId="2728178632" sldId="1579"/>
        </pc:sldMkLst>
      </pc:sldChg>
      <pc:sldChg chg="modNotesTx">
        <pc:chgData name="Loecha Philion" userId="0f598feb-c4c0-4dda-b2c1-17de97a01329" providerId="ADAL" clId="{E7AA05E6-2E3A-4936-92BE-EF366E7850A9}" dt="2026-09-24T20:27:58.900" v="7" actId="6549"/>
        <pc:sldMkLst>
          <pc:docMk/>
          <pc:sldMk cId="3049213180" sldId="1581"/>
        </pc:sldMkLst>
      </pc:sldChg>
      <pc:sldChg chg="modNotesTx">
        <pc:chgData name="Loecha Philion" userId="0f598feb-c4c0-4dda-b2c1-17de97a01329" providerId="ADAL" clId="{E7AA05E6-2E3A-4936-92BE-EF366E7850A9}" dt="2026-09-24T20:27:35.650" v="1" actId="6549"/>
        <pc:sldMkLst>
          <pc:docMk/>
          <pc:sldMk cId="2577089367" sldId="1583"/>
        </pc:sldMkLst>
      </pc:sldChg>
      <pc:sldChg chg="modNotesTx">
        <pc:chgData name="Loecha Philion" userId="0f598feb-c4c0-4dda-b2c1-17de97a01329" providerId="ADAL" clId="{E7AA05E6-2E3A-4936-92BE-EF366E7850A9}" dt="2026-09-24T20:28:11.506" v="10" actId="6549"/>
        <pc:sldMkLst>
          <pc:docMk/>
          <pc:sldMk cId="3359253224" sldId="1590"/>
        </pc:sldMkLst>
      </pc:sldChg>
      <pc:sldChg chg="del">
        <pc:chgData name="Loecha Philion" userId="0f598feb-c4c0-4dda-b2c1-17de97a01329" providerId="ADAL" clId="{E7AA05E6-2E3A-4936-92BE-EF366E7850A9}" dt="2026-09-24T20:28:14.260" v="11" actId="47"/>
        <pc:sldMkLst>
          <pc:docMk/>
          <pc:sldMk cId="3241760908" sldId="1592"/>
        </pc:sldMkLst>
      </pc:sldChg>
      <pc:sldChg chg="modNotesTx">
        <pc:chgData name="Loecha Philion" userId="0f598feb-c4c0-4dda-b2c1-17de97a01329" providerId="ADAL" clId="{E7AA05E6-2E3A-4936-92BE-EF366E7850A9}" dt="2026-09-24T20:28:18.675" v="12" actId="6549"/>
        <pc:sldMkLst>
          <pc:docMk/>
          <pc:sldMk cId="1084644983" sldId="1593"/>
        </pc:sldMkLst>
      </pc:sldChg>
      <pc:sldChg chg="modNotesTx">
        <pc:chgData name="Loecha Philion" userId="0f598feb-c4c0-4dda-b2c1-17de97a01329" providerId="ADAL" clId="{E7AA05E6-2E3A-4936-92BE-EF366E7850A9}" dt="2026-09-24T20:28:22.412" v="13" actId="6549"/>
        <pc:sldMkLst>
          <pc:docMk/>
          <pc:sldMk cId="3408411352" sldId="1594"/>
        </pc:sldMkLst>
      </pc:sldChg>
      <pc:sldChg chg="modNotesTx">
        <pc:chgData name="Loecha Philion" userId="0f598feb-c4c0-4dda-b2c1-17de97a01329" providerId="ADAL" clId="{E7AA05E6-2E3A-4936-92BE-EF366E7850A9}" dt="2026-09-24T20:28:57.469" v="20" actId="6549"/>
        <pc:sldMkLst>
          <pc:docMk/>
          <pc:sldMk cId="1549483033" sldId="1599"/>
        </pc:sldMkLst>
      </pc:sldChg>
      <pc:sldChg chg="modNotesTx">
        <pc:chgData name="Loecha Philion" userId="0f598feb-c4c0-4dda-b2c1-17de97a01329" providerId="ADAL" clId="{E7AA05E6-2E3A-4936-92BE-EF366E7850A9}" dt="2026-09-24T20:29:15.208" v="46" actId="6549"/>
        <pc:sldMkLst>
          <pc:docMk/>
          <pc:sldMk cId="2452138321" sldId="1601"/>
        </pc:sldMkLst>
      </pc:sldChg>
      <pc:sldChg chg="modNotesTx">
        <pc:chgData name="Loecha Philion" userId="0f598feb-c4c0-4dda-b2c1-17de97a01329" providerId="ADAL" clId="{E7AA05E6-2E3A-4936-92BE-EF366E7850A9}" dt="2026-09-24T20:29:26.872" v="50" actId="6549"/>
        <pc:sldMkLst>
          <pc:docMk/>
          <pc:sldMk cId="1117188908" sldId="1603"/>
        </pc:sldMkLst>
      </pc:sldChg>
      <pc:sldChg chg="modNotesTx">
        <pc:chgData name="Loecha Philion" userId="0f598feb-c4c0-4dda-b2c1-17de97a01329" providerId="ADAL" clId="{E7AA05E6-2E3A-4936-92BE-EF366E7850A9}" dt="2026-09-24T20:29:41.437" v="55" actId="6549"/>
        <pc:sldMkLst>
          <pc:docMk/>
          <pc:sldMk cId="2153941478" sldId="1605"/>
        </pc:sldMkLst>
      </pc:sldChg>
      <pc:sldChg chg="modNotesTx">
        <pc:chgData name="Loecha Philion" userId="0f598feb-c4c0-4dda-b2c1-17de97a01329" providerId="ADAL" clId="{E7AA05E6-2E3A-4936-92BE-EF366E7850A9}" dt="2026-09-24T20:29:57.458" v="61" actId="6549"/>
        <pc:sldMkLst>
          <pc:docMk/>
          <pc:sldMk cId="1401302317" sldId="1606"/>
        </pc:sldMkLst>
      </pc:sldChg>
      <pc:sldChg chg="modNotesTx">
        <pc:chgData name="Loecha Philion" userId="0f598feb-c4c0-4dda-b2c1-17de97a01329" providerId="ADAL" clId="{E7AA05E6-2E3A-4936-92BE-EF366E7850A9}" dt="2026-09-24T20:30:00.264" v="62" actId="6549"/>
        <pc:sldMkLst>
          <pc:docMk/>
          <pc:sldMk cId="3235862807" sldId="1608"/>
        </pc:sldMkLst>
      </pc:sldChg>
      <pc:sldChg chg="del">
        <pc:chgData name="Loecha Philion" userId="0f598feb-c4c0-4dda-b2c1-17de97a01329" providerId="ADAL" clId="{E7AA05E6-2E3A-4936-92BE-EF366E7850A9}" dt="2026-09-24T20:29:16.903" v="47" actId="47"/>
        <pc:sldMkLst>
          <pc:docMk/>
          <pc:sldMk cId="3266960184" sldId="1611"/>
        </pc:sldMkLst>
      </pc:sldChg>
      <pc:sldChg chg="modNotesTx">
        <pc:chgData name="Loecha Philion" userId="0f598feb-c4c0-4dda-b2c1-17de97a01329" providerId="ADAL" clId="{E7AA05E6-2E3A-4936-92BE-EF366E7850A9}" dt="2026-09-24T20:30:03.023" v="63" actId="6549"/>
        <pc:sldMkLst>
          <pc:docMk/>
          <pc:sldMk cId="1276071080" sldId="1612"/>
        </pc:sldMkLst>
      </pc:sldChg>
      <pc:sldChg chg="modNotesTx">
        <pc:chgData name="Loecha Philion" userId="0f598feb-c4c0-4dda-b2c1-17de97a01329" providerId="ADAL" clId="{E7AA05E6-2E3A-4936-92BE-EF366E7850A9}" dt="2026-09-24T20:30:07.472" v="64" actId="6549"/>
        <pc:sldMkLst>
          <pc:docMk/>
          <pc:sldMk cId="2317065704" sldId="1613"/>
        </pc:sldMkLst>
      </pc:sldChg>
      <pc:sldChg chg="modNotesTx">
        <pc:chgData name="Loecha Philion" userId="0f598feb-c4c0-4dda-b2c1-17de97a01329" providerId="ADAL" clId="{E7AA05E6-2E3A-4936-92BE-EF366E7850A9}" dt="2026-09-24T20:28:54.064" v="19" actId="6549"/>
        <pc:sldMkLst>
          <pc:docMk/>
          <pc:sldMk cId="3782608906" sldId="1614"/>
        </pc:sldMkLst>
      </pc:sldChg>
      <pc:sldChg chg="modNotesTx">
        <pc:chgData name="Loecha Philion" userId="0f598feb-c4c0-4dda-b2c1-17de97a01329" providerId="ADAL" clId="{E7AA05E6-2E3A-4936-92BE-EF366E7850A9}" dt="2026-09-24T20:29:07.555" v="43" actId="20577"/>
        <pc:sldMkLst>
          <pc:docMk/>
          <pc:sldMk cId="1866881096" sldId="1615"/>
        </pc:sldMkLst>
      </pc:sldChg>
      <pc:sldChg chg="del">
        <pc:chgData name="Loecha Philion" userId="0f598feb-c4c0-4dda-b2c1-17de97a01329" providerId="ADAL" clId="{E7AA05E6-2E3A-4936-92BE-EF366E7850A9}" dt="2026-09-24T20:28:59.797" v="21" actId="47"/>
        <pc:sldMkLst>
          <pc:docMk/>
          <pc:sldMk cId="2844769992" sldId="1616"/>
        </pc:sldMkLst>
      </pc:sldChg>
      <pc:sldChg chg="modNotesTx">
        <pc:chgData name="Loecha Philion" userId="0f598feb-c4c0-4dda-b2c1-17de97a01329" providerId="ADAL" clId="{E7AA05E6-2E3A-4936-92BE-EF366E7850A9}" dt="2026-09-24T20:29:33.631" v="53" actId="6549"/>
        <pc:sldMkLst>
          <pc:docMk/>
          <pc:sldMk cId="2041909921" sldId="1617"/>
        </pc:sldMkLst>
      </pc:sldChg>
      <pc:sldChg chg="del">
        <pc:chgData name="Loecha Philion" userId="0f598feb-c4c0-4dda-b2c1-17de97a01329" providerId="ADAL" clId="{E7AA05E6-2E3A-4936-92BE-EF366E7850A9}" dt="2026-09-24T20:29:46.119" v="57" actId="47"/>
        <pc:sldMkLst>
          <pc:docMk/>
          <pc:sldMk cId="499056738" sldId="1618"/>
        </pc:sldMkLst>
      </pc:sldChg>
      <pc:sldChg chg="modNotesTx">
        <pc:chgData name="Loecha Philion" userId="0f598feb-c4c0-4dda-b2c1-17de97a01329" providerId="ADAL" clId="{E7AA05E6-2E3A-4936-92BE-EF366E7850A9}" dt="2026-09-24T20:29:44.302" v="56" actId="6549"/>
        <pc:sldMkLst>
          <pc:docMk/>
          <pc:sldMk cId="342893314" sldId="1619"/>
        </pc:sldMkLst>
      </pc:sldChg>
      <pc:sldChg chg="del">
        <pc:chgData name="Loecha Philion" userId="0f598feb-c4c0-4dda-b2c1-17de97a01329" providerId="ADAL" clId="{E7AA05E6-2E3A-4936-92BE-EF366E7850A9}" dt="2026-09-24T20:29:52.293" v="59" actId="47"/>
        <pc:sldMkLst>
          <pc:docMk/>
          <pc:sldMk cId="1389287510" sldId="1620"/>
        </pc:sldMkLst>
      </pc:sldChg>
      <pc:sldChg chg="modNotesTx">
        <pc:chgData name="Loecha Philion" userId="0f598feb-c4c0-4dda-b2c1-17de97a01329" providerId="ADAL" clId="{E7AA05E6-2E3A-4936-92BE-EF366E7850A9}" dt="2026-09-24T20:30:23.818" v="67" actId="6549"/>
        <pc:sldMkLst>
          <pc:docMk/>
          <pc:sldMk cId="2536335815" sldId="1622"/>
        </pc:sldMkLst>
      </pc:sldChg>
      <pc:sldChg chg="del">
        <pc:chgData name="Loecha Philion" userId="0f598feb-c4c0-4dda-b2c1-17de97a01329" providerId="ADAL" clId="{E7AA05E6-2E3A-4936-92BE-EF366E7850A9}" dt="2026-09-24T20:30:10.034" v="65" actId="47"/>
        <pc:sldMkLst>
          <pc:docMk/>
          <pc:sldMk cId="2380276898" sldId="1623"/>
        </pc:sldMkLst>
      </pc:sldChg>
      <pc:sldChg chg="modNotesTx">
        <pc:chgData name="Loecha Philion" userId="0f598feb-c4c0-4dda-b2c1-17de97a01329" providerId="ADAL" clId="{E7AA05E6-2E3A-4936-92BE-EF366E7850A9}" dt="2026-09-24T20:29:51.353" v="58" actId="6549"/>
        <pc:sldMkLst>
          <pc:docMk/>
          <pc:sldMk cId="648162722" sldId="1624"/>
        </pc:sldMkLst>
      </pc:sldChg>
      <pc:sldChg chg="modNotesTx">
        <pc:chgData name="Loecha Philion" userId="0f598feb-c4c0-4dda-b2c1-17de97a01329" providerId="ADAL" clId="{E7AA05E6-2E3A-4936-92BE-EF366E7850A9}" dt="2026-09-24T20:30:49.628" v="74" actId="20577"/>
        <pc:sldMkLst>
          <pc:docMk/>
          <pc:sldMk cId="975689750" sldId="1625"/>
        </pc:sldMkLst>
      </pc:sldChg>
      <pc:sldChg chg="del">
        <pc:chgData name="Loecha Philion" userId="0f598feb-c4c0-4dda-b2c1-17de97a01329" providerId="ADAL" clId="{E7AA05E6-2E3A-4936-92BE-EF366E7850A9}" dt="2026-09-24T20:29:09.869" v="44" actId="47"/>
        <pc:sldMkLst>
          <pc:docMk/>
          <pc:sldMk cId="1418271683" sldId="16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2"/>
            <a:ext cx="3037840" cy="466434"/>
          </a:xfrm>
          <a:prstGeom prst="rect">
            <a:avLst/>
          </a:prstGeom>
        </p:spPr>
        <p:txBody>
          <a:bodyPr vert="horz" lIns="93177" tIns="46589" rIns="93177" bIns="46589" rtlCol="0"/>
          <a:lstStyle>
            <a:lvl1pPr algn="r">
              <a:defRPr sz="1200"/>
            </a:lvl1pPr>
          </a:lstStyle>
          <a:p>
            <a:fld id="{560A3AAB-47D1-4662-A762-08EA563F584F}" type="datetimeFigureOut">
              <a:rPr lang="fr-CA" smtClean="0"/>
              <a:t>2026-09-24</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CE8287A-0C42-4A4D-92F4-1137A5D8F5F6}" type="slidenum">
              <a:rPr lang="fr-CA" smtClean="0"/>
              <a:t>‹N°›</a:t>
            </a:fld>
            <a:endParaRPr lang="fr-CA"/>
          </a:p>
        </p:txBody>
      </p:sp>
    </p:spTree>
    <p:extLst>
      <p:ext uri="{BB962C8B-B14F-4D97-AF65-F5344CB8AC3E}">
        <p14:creationId xmlns:p14="http://schemas.microsoft.com/office/powerpoint/2010/main" val="41227490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2"/>
            <a:ext cx="3037840" cy="466434"/>
          </a:xfrm>
          <a:prstGeom prst="rect">
            <a:avLst/>
          </a:prstGeom>
        </p:spPr>
        <p:txBody>
          <a:bodyPr vert="horz" lIns="93177" tIns="46589" rIns="93177" bIns="46589" rtlCol="0"/>
          <a:lstStyle>
            <a:lvl1pPr algn="r">
              <a:defRPr sz="1200"/>
            </a:lvl1pPr>
          </a:lstStyle>
          <a:p>
            <a:fld id="{BF7AB90F-F7BC-4700-9960-B769A15787B7}" type="datetimeFigureOut">
              <a:rPr lang="fr-CA" smtClean="0"/>
              <a:t>2026-09-24</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1"/>
            <a:ext cx="5608320" cy="3660459"/>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8756633-E94B-447C-907F-5A907A338167}" type="slidenum">
              <a:rPr lang="fr-CA" smtClean="0"/>
              <a:t>‹N°›</a:t>
            </a:fld>
            <a:endParaRPr lang="fr-CA"/>
          </a:p>
        </p:txBody>
      </p:sp>
    </p:spTree>
    <p:extLst>
      <p:ext uri="{BB962C8B-B14F-4D97-AF65-F5344CB8AC3E}">
        <p14:creationId xmlns:p14="http://schemas.microsoft.com/office/powerpoint/2010/main" val="197038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5D131D5-6477-4BF7-8776-36E89AAF915A}" type="slidenum">
              <a:rPr lang="fr-CA" smtClean="0">
                <a:solidFill>
                  <a:prstClr val="black"/>
                </a:solidFill>
              </a:rPr>
              <a:pPr/>
              <a:t>1</a:t>
            </a:fld>
            <a:endParaRPr lang="fr-CA" dirty="0">
              <a:solidFill>
                <a:prstClr val="black"/>
              </a:solidFill>
            </a:endParaRPr>
          </a:p>
        </p:txBody>
      </p:sp>
    </p:spTree>
    <p:extLst>
      <p:ext uri="{BB962C8B-B14F-4D97-AF65-F5344CB8AC3E}">
        <p14:creationId xmlns:p14="http://schemas.microsoft.com/office/powerpoint/2010/main" val="434826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0" y="4473891"/>
            <a:ext cx="5608320" cy="3796652"/>
          </a:xfrm>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2</a:t>
            </a:fld>
            <a:endParaRPr lang="fr-CA"/>
          </a:p>
        </p:txBody>
      </p:sp>
    </p:spTree>
    <p:extLst>
      <p:ext uri="{BB962C8B-B14F-4D97-AF65-F5344CB8AC3E}">
        <p14:creationId xmlns:p14="http://schemas.microsoft.com/office/powerpoint/2010/main" val="2640176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2FAE9-2D53-0143-AFED-DA4F90E7760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D3D3FC-1AE5-6F7D-D204-BDC1BAF6398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7406B9B-A0F8-2BA8-FA7B-2EE49FF09DDA}"/>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8CAC4947-E31B-F384-9762-7FD2F1FBEA43}"/>
              </a:ext>
            </a:extLst>
          </p:cNvPr>
          <p:cNvSpPr>
            <a:spLocks noGrp="1"/>
          </p:cNvSpPr>
          <p:nvPr>
            <p:ph type="sldNum" sz="quarter" idx="5"/>
          </p:nvPr>
        </p:nvSpPr>
        <p:spPr/>
        <p:txBody>
          <a:bodyPr/>
          <a:lstStyle/>
          <a:p>
            <a:fld id="{D8756633-E94B-447C-907F-5A907A338167}" type="slidenum">
              <a:rPr lang="fr-CA" smtClean="0"/>
              <a:t>3</a:t>
            </a:fld>
            <a:endParaRPr lang="fr-CA"/>
          </a:p>
        </p:txBody>
      </p:sp>
    </p:spTree>
    <p:extLst>
      <p:ext uri="{BB962C8B-B14F-4D97-AF65-F5344CB8AC3E}">
        <p14:creationId xmlns:p14="http://schemas.microsoft.com/office/powerpoint/2010/main" val="512868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16EC-27EC-6A22-CBBD-AF3000F0D9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DC48A6-3A4D-300E-C51C-7589888352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AE9582-8253-8F05-24DE-EA96A794F8F2}"/>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59F5BC5E-5252-0A3B-1397-AA148EAFEF73}"/>
              </a:ext>
            </a:extLst>
          </p:cNvPr>
          <p:cNvSpPr>
            <a:spLocks noGrp="1"/>
          </p:cNvSpPr>
          <p:nvPr>
            <p:ph type="sldNum" sz="quarter" idx="5"/>
          </p:nvPr>
        </p:nvSpPr>
        <p:spPr/>
        <p:txBody>
          <a:bodyPr/>
          <a:lstStyle/>
          <a:p>
            <a:fld id="{D8756633-E94B-447C-907F-5A907A338167}" type="slidenum">
              <a:rPr lang="fr-CA" smtClean="0"/>
              <a:t>4</a:t>
            </a:fld>
            <a:endParaRPr lang="fr-CA"/>
          </a:p>
        </p:txBody>
      </p:sp>
    </p:spTree>
    <p:extLst>
      <p:ext uri="{BB962C8B-B14F-4D97-AF65-F5344CB8AC3E}">
        <p14:creationId xmlns:p14="http://schemas.microsoft.com/office/powerpoint/2010/main" val="4247814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5</a:t>
            </a:fld>
            <a:endParaRPr lang="fr-CA"/>
          </a:p>
        </p:txBody>
      </p:sp>
    </p:spTree>
    <p:extLst>
      <p:ext uri="{BB962C8B-B14F-4D97-AF65-F5344CB8AC3E}">
        <p14:creationId xmlns:p14="http://schemas.microsoft.com/office/powerpoint/2010/main" val="1815560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29FF72-FDAF-42F8-88E7-F2940CB3A5CC}" type="slidenum">
              <a:rPr lang="en-US"/>
              <a:pPr/>
              <a:t>6</a:t>
            </a:fld>
            <a:endParaRPr lang="en-US" dirty="0"/>
          </a:p>
        </p:txBody>
      </p:sp>
      <p:sp>
        <p:nvSpPr>
          <p:cNvPr id="76802" name="Rectangle 2"/>
          <p:cNvSpPr>
            <a:spLocks noGrp="1" noRot="1" noChangeAspect="1" noChangeArrowheads="1" noTextEdit="1"/>
          </p:cNvSpPr>
          <p:nvPr>
            <p:ph type="sldImg"/>
          </p:nvPr>
        </p:nvSpPr>
        <p:spPr>
          <a:xfrm>
            <a:off x="434975" y="685800"/>
            <a:ext cx="6097588" cy="3430588"/>
          </a:xfrm>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473762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055EA0BE-4D36-4E77-A41A-8CB3F59C50BC}" type="slidenum">
              <a:rPr lang="fr-CA" smtClean="0"/>
              <a:t>7</a:t>
            </a:fld>
            <a:endParaRPr lang="fr-CA" dirty="0"/>
          </a:p>
        </p:txBody>
      </p:sp>
    </p:spTree>
    <p:extLst>
      <p:ext uri="{BB962C8B-B14F-4D97-AF65-F5344CB8AC3E}">
        <p14:creationId xmlns:p14="http://schemas.microsoft.com/office/powerpoint/2010/main" val="1207833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a:p>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8</a:t>
            </a:fld>
            <a:endParaRPr lang="fr-CA"/>
          </a:p>
        </p:txBody>
      </p:sp>
    </p:spTree>
    <p:extLst>
      <p:ext uri="{BB962C8B-B14F-4D97-AF65-F5344CB8AC3E}">
        <p14:creationId xmlns:p14="http://schemas.microsoft.com/office/powerpoint/2010/main" val="496065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dirty="0"/>
          </a:p>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9</a:t>
            </a:fld>
            <a:endParaRPr lang="fr-CA"/>
          </a:p>
        </p:txBody>
      </p:sp>
    </p:spTree>
    <p:extLst>
      <p:ext uri="{BB962C8B-B14F-4D97-AF65-F5344CB8AC3E}">
        <p14:creationId xmlns:p14="http://schemas.microsoft.com/office/powerpoint/2010/main" val="4116875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10</a:t>
            </a:fld>
            <a:endParaRPr lang="fr-CA" dirty="0"/>
          </a:p>
        </p:txBody>
      </p:sp>
    </p:spTree>
    <p:extLst>
      <p:ext uri="{BB962C8B-B14F-4D97-AF65-F5344CB8AC3E}">
        <p14:creationId xmlns:p14="http://schemas.microsoft.com/office/powerpoint/2010/main" val="116847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b="0" i="0" dirty="0">
              <a:solidFill>
                <a:srgbClr val="111111"/>
              </a:solidFill>
              <a:effectLst/>
              <a:highlight>
                <a:srgbClr val="F7F7F7"/>
              </a:highlight>
              <a:latin typeface="-apple-system"/>
            </a:endParaRPr>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11</a:t>
            </a:fld>
            <a:endParaRPr lang="fr-CA" dirty="0"/>
          </a:p>
        </p:txBody>
      </p:sp>
    </p:spTree>
    <p:extLst>
      <p:ext uri="{BB962C8B-B14F-4D97-AF65-F5344CB8AC3E}">
        <p14:creationId xmlns:p14="http://schemas.microsoft.com/office/powerpoint/2010/main" val="1954762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25377E-31D5-409D-B397-85B50BF713A9}" type="slidenum">
              <a:rPr lang="en-US"/>
              <a:pPr/>
              <a:t>12</a:t>
            </a:fld>
            <a:endParaRPr lang="en-US" dirty="0"/>
          </a:p>
        </p:txBody>
      </p:sp>
      <p:sp>
        <p:nvSpPr>
          <p:cNvPr id="717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477515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F39B-C716-B9DD-9371-D8E8C18E8D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64829F-C1F6-59BC-D700-B41D005932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FD6BA7B-1739-2441-2C53-FA47F3B17AE7}"/>
              </a:ext>
            </a:extLst>
          </p:cNvPr>
          <p:cNvSpPr>
            <a:spLocks noGrp="1"/>
          </p:cNvSpPr>
          <p:nvPr>
            <p:ph type="body" idx="1"/>
          </p:nvPr>
        </p:nvSpPr>
        <p:spPr/>
        <p:txBody>
          <a:bodyPr/>
          <a:lstStyle/>
          <a:p>
            <a:endParaRPr lang="fr-CA" b="0" dirty="0"/>
          </a:p>
        </p:txBody>
      </p:sp>
      <p:sp>
        <p:nvSpPr>
          <p:cNvPr id="4" name="Espace réservé du numéro de diapositive 3">
            <a:extLst>
              <a:ext uri="{FF2B5EF4-FFF2-40B4-BE49-F238E27FC236}">
                <a16:creationId xmlns:a16="http://schemas.microsoft.com/office/drawing/2014/main" id="{28724B38-8265-5C75-E057-E873DB472CA8}"/>
              </a:ext>
            </a:extLst>
          </p:cNvPr>
          <p:cNvSpPr>
            <a:spLocks noGrp="1"/>
          </p:cNvSpPr>
          <p:nvPr>
            <p:ph type="sldNum" sz="quarter" idx="5"/>
          </p:nvPr>
        </p:nvSpPr>
        <p:spPr/>
        <p:txBody>
          <a:bodyPr/>
          <a:lstStyle/>
          <a:p>
            <a:fld id="{D8756633-E94B-447C-907F-5A907A338167}" type="slidenum">
              <a:rPr lang="fr-CA" smtClean="0"/>
              <a:t>13</a:t>
            </a:fld>
            <a:endParaRPr lang="fr-CA"/>
          </a:p>
        </p:txBody>
      </p:sp>
    </p:spTree>
    <p:extLst>
      <p:ext uri="{BB962C8B-B14F-4D97-AF65-F5344CB8AC3E}">
        <p14:creationId xmlns:p14="http://schemas.microsoft.com/office/powerpoint/2010/main" val="3128218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15</a:t>
            </a:fld>
            <a:endParaRPr lang="fr-CA"/>
          </a:p>
        </p:txBody>
      </p:sp>
    </p:spTree>
    <p:extLst>
      <p:ext uri="{BB962C8B-B14F-4D97-AF65-F5344CB8AC3E}">
        <p14:creationId xmlns:p14="http://schemas.microsoft.com/office/powerpoint/2010/main" val="2256488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17</a:t>
            </a:fld>
            <a:endParaRPr lang="fr-CA"/>
          </a:p>
        </p:txBody>
      </p:sp>
    </p:spTree>
    <p:extLst>
      <p:ext uri="{BB962C8B-B14F-4D97-AF65-F5344CB8AC3E}">
        <p14:creationId xmlns:p14="http://schemas.microsoft.com/office/powerpoint/2010/main" val="158919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18</a:t>
            </a:fld>
            <a:endParaRPr lang="fr-CA"/>
          </a:p>
        </p:txBody>
      </p:sp>
    </p:spTree>
    <p:extLst>
      <p:ext uri="{BB962C8B-B14F-4D97-AF65-F5344CB8AC3E}">
        <p14:creationId xmlns:p14="http://schemas.microsoft.com/office/powerpoint/2010/main" val="2164511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a:p>
            <a:endParaRPr lang="fr-CA" b="1" dirty="0"/>
          </a:p>
          <a:p>
            <a:endParaRPr lang="fr-CA" dirty="0"/>
          </a:p>
          <a:p>
            <a:pPr marL="171450" indent="-171450">
              <a:buFontTx/>
              <a:buChar char="-"/>
            </a:pPr>
            <a:endParaRPr lang="fr-CA" dirty="0"/>
          </a:p>
          <a:p>
            <a:pPr marL="171450" indent="-171450">
              <a:buFontTx/>
              <a:buChar char="-"/>
            </a:pPr>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19</a:t>
            </a:fld>
            <a:endParaRPr lang="fr-CA"/>
          </a:p>
        </p:txBody>
      </p:sp>
    </p:spTree>
    <p:extLst>
      <p:ext uri="{BB962C8B-B14F-4D97-AF65-F5344CB8AC3E}">
        <p14:creationId xmlns:p14="http://schemas.microsoft.com/office/powerpoint/2010/main" val="1114708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B571F2-F849-4509-B4BB-16E5C562AAE8}" type="slidenum">
              <a:rPr lang="en-US"/>
              <a:pPr/>
              <a:t>20</a:t>
            </a:fld>
            <a:endParaRPr lang="en-US" dirty="0"/>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xfrm>
            <a:off x="717550" y="4355975"/>
            <a:ext cx="5575300" cy="4473991"/>
          </a:xfrm>
        </p:spPr>
        <p:txBody>
          <a:bodyPr/>
          <a:lstStyle/>
          <a:p>
            <a:r>
              <a:rPr lang="fr-CA" b="1"/>
              <a:t>Notes à l’enseignant:</a:t>
            </a:r>
          </a:p>
          <a:p>
            <a:endParaRPr lang="fr-CA" b="1"/>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a:t>Les objets de coûts qui passent par un lieu physique doivent absorber une juste part des coûts comptabilisés à cet endroit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b="0" i="0" kern="1200">
                <a:solidFill>
                  <a:schemeClr val="tx1"/>
                </a:solidFill>
                <a:effectLst/>
                <a:latin typeface="+mn-lt"/>
                <a:ea typeface="+mn-ea"/>
                <a:cs typeface="+mn-cs"/>
              </a:rPr>
              <a:t>Plus les produits consomment différemment les ressources de l'entreprise, plus il devient pertinent de créer plusieurs centres de coûts. Cette approche améliore la précision du coût de revient en respectant le principe de causalité : chaque produit supporte uniquement les coûts des activités qu'il consomme réellement.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a:p>
          <a:p>
            <a:endParaRPr lang="fr-CA" dirty="0"/>
          </a:p>
        </p:txBody>
      </p:sp>
    </p:spTree>
    <p:extLst>
      <p:ext uri="{BB962C8B-B14F-4D97-AF65-F5344CB8AC3E}">
        <p14:creationId xmlns:p14="http://schemas.microsoft.com/office/powerpoint/2010/main" val="1178499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21</a:t>
            </a:fld>
            <a:endParaRPr lang="fr-CA"/>
          </a:p>
        </p:txBody>
      </p:sp>
    </p:spTree>
    <p:extLst>
      <p:ext uri="{BB962C8B-B14F-4D97-AF65-F5344CB8AC3E}">
        <p14:creationId xmlns:p14="http://schemas.microsoft.com/office/powerpoint/2010/main" val="10326131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22</a:t>
            </a:fld>
            <a:endParaRPr lang="fr-CA" dirty="0"/>
          </a:p>
        </p:txBody>
      </p:sp>
    </p:spTree>
    <p:extLst>
      <p:ext uri="{BB962C8B-B14F-4D97-AF65-F5344CB8AC3E}">
        <p14:creationId xmlns:p14="http://schemas.microsoft.com/office/powerpoint/2010/main" val="1304374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9247DE-58EC-4E71-9921-D5BAF878C854}" type="slidenum">
              <a:rPr lang="en-US"/>
              <a:pPr/>
              <a:t>23</a:t>
            </a:fld>
            <a:endParaRPr lang="en-US"/>
          </a:p>
        </p:txBody>
      </p:sp>
      <p:sp>
        <p:nvSpPr>
          <p:cNvPr id="75778" name="Rectangle 2"/>
          <p:cNvSpPr>
            <a:spLocks noGrp="1" noRot="1" noChangeAspect="1" noChangeArrowheads="1" noTextEdit="1"/>
          </p:cNvSpPr>
          <p:nvPr>
            <p:ph type="sldImg"/>
          </p:nvPr>
        </p:nvSpPr>
        <p:spPr>
          <a:ln/>
        </p:spPr>
      </p:sp>
      <p:sp>
        <p:nvSpPr>
          <p:cNvPr id="4" name="Espace réservé des notes 3">
            <a:extLst>
              <a:ext uri="{FF2B5EF4-FFF2-40B4-BE49-F238E27FC236}">
                <a16:creationId xmlns:a16="http://schemas.microsoft.com/office/drawing/2014/main" id="{1DDDEFEF-749D-41EF-9C6E-DE02D0D0306E}"/>
              </a:ext>
            </a:extLst>
          </p:cNvPr>
          <p:cNvSpPr>
            <a:spLocks noGrp="1"/>
          </p:cNvSpPr>
          <p:nvPr>
            <p:ph type="body" sz="quarter" idx="3"/>
          </p:nvPr>
        </p:nvSpPr>
        <p:spPr>
          <a:xfrm>
            <a:off x="701040" y="4473891"/>
            <a:ext cx="5608320" cy="4066859"/>
          </a:xfrm>
        </p:spPr>
        <p:txBody>
          <a:bodyPr/>
          <a:lstStyle/>
          <a:p>
            <a:endParaRPr lang="fr-CA" b="0" dirty="0"/>
          </a:p>
        </p:txBody>
      </p:sp>
    </p:spTree>
    <p:extLst>
      <p:ext uri="{BB962C8B-B14F-4D97-AF65-F5344CB8AC3E}">
        <p14:creationId xmlns:p14="http://schemas.microsoft.com/office/powerpoint/2010/main" val="2051733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36727" y="4473891"/>
            <a:ext cx="6237123" cy="4601870"/>
          </a:xfrm>
        </p:spPr>
        <p:txBody>
          <a:bodyPr/>
          <a:lstStyle/>
          <a:p>
            <a:pPr marL="285750" indent="-285750" algn="l">
              <a:buFont typeface="Arial" panose="020B0604020202020204" pitchFamily="34" charset="0"/>
              <a:buChar char="•"/>
            </a:pPr>
            <a:endParaRPr lang="fr-CA" b="0" i="0" dirty="0">
              <a:solidFill>
                <a:srgbClr val="444444"/>
              </a:solidFill>
              <a:effectLst/>
              <a:latin typeface="Calibri" panose="020F0502020204030204" pitchFamily="34" charset="0"/>
            </a:endParaRPr>
          </a:p>
          <a:p>
            <a:pPr marL="0" indent="0" algn="l">
              <a:buFont typeface="Arial" panose="020B0604020202020204" pitchFamily="34" charset="0"/>
              <a:buNone/>
            </a:pPr>
            <a:endParaRPr lang="fr-CA" b="0" i="0" dirty="0">
              <a:solidFill>
                <a:srgbClr val="444444"/>
              </a:solidFill>
              <a:effectLst/>
              <a:latin typeface="Calibri" panose="020F0502020204030204" pitchFamily="34" charset="0"/>
            </a:endParaRPr>
          </a:p>
          <a:p>
            <a:endParaRPr lang="fr-CA" b="1" dirty="0"/>
          </a:p>
        </p:txBody>
      </p:sp>
      <p:sp>
        <p:nvSpPr>
          <p:cNvPr id="4" name="Slide Number Placeholder 3"/>
          <p:cNvSpPr>
            <a:spLocks noGrp="1"/>
          </p:cNvSpPr>
          <p:nvPr>
            <p:ph type="sldNum" sz="quarter" idx="5"/>
          </p:nvPr>
        </p:nvSpPr>
        <p:spPr/>
        <p:txBody>
          <a:bodyPr/>
          <a:lstStyle/>
          <a:p>
            <a:fld id="{D8756633-E94B-447C-907F-5A907A338167}" type="slidenum">
              <a:rPr lang="fr-CA" smtClean="0"/>
              <a:t>24</a:t>
            </a:fld>
            <a:endParaRPr lang="fr-CA"/>
          </a:p>
        </p:txBody>
      </p:sp>
    </p:spTree>
    <p:extLst>
      <p:ext uri="{BB962C8B-B14F-4D97-AF65-F5344CB8AC3E}">
        <p14:creationId xmlns:p14="http://schemas.microsoft.com/office/powerpoint/2010/main" val="2092564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25</a:t>
            </a:fld>
            <a:endParaRPr lang="fr-CA" dirty="0"/>
          </a:p>
        </p:txBody>
      </p:sp>
    </p:spTree>
    <p:extLst>
      <p:ext uri="{BB962C8B-B14F-4D97-AF65-F5344CB8AC3E}">
        <p14:creationId xmlns:p14="http://schemas.microsoft.com/office/powerpoint/2010/main" val="35410598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DB2E-DFF5-DD4B-2124-276A41894FF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2A3B63-D886-B05E-4758-F962BFABAAC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C96A70-809C-9419-771B-1BBAD2228F49}"/>
              </a:ext>
            </a:extLst>
          </p:cNvPr>
          <p:cNvSpPr>
            <a:spLocks noGrp="1"/>
          </p:cNvSpPr>
          <p:nvPr>
            <p:ph type="body" idx="1"/>
          </p:nvPr>
        </p:nvSpPr>
        <p:spPr/>
        <p:txBody>
          <a:bodyPr/>
          <a:lstStyle/>
          <a:p>
            <a:pPr lvl="0" fontAlgn="t"/>
            <a:endParaRPr lang="fr-CA" sz="1200" b="0" i="0" kern="1200" dirty="0">
              <a:solidFill>
                <a:schemeClr val="tx1"/>
              </a:solidFill>
              <a:effectLst/>
              <a:latin typeface="+mn-lt"/>
              <a:ea typeface="+mn-ea"/>
              <a:cs typeface="+mn-cs"/>
            </a:endParaRPr>
          </a:p>
          <a:p>
            <a:endParaRPr lang="fr-CA" dirty="0"/>
          </a:p>
          <a:p>
            <a:endParaRPr lang="fr-CA" dirty="0"/>
          </a:p>
        </p:txBody>
      </p:sp>
      <p:sp>
        <p:nvSpPr>
          <p:cNvPr id="4" name="Espace réservé du numéro de diapositive 3">
            <a:extLst>
              <a:ext uri="{FF2B5EF4-FFF2-40B4-BE49-F238E27FC236}">
                <a16:creationId xmlns:a16="http://schemas.microsoft.com/office/drawing/2014/main" id="{62A721EA-24BF-5E15-4913-D3011A160A85}"/>
              </a:ext>
            </a:extLst>
          </p:cNvPr>
          <p:cNvSpPr>
            <a:spLocks noGrp="1"/>
          </p:cNvSpPr>
          <p:nvPr>
            <p:ph type="sldNum" sz="quarter" idx="5"/>
          </p:nvPr>
        </p:nvSpPr>
        <p:spPr/>
        <p:txBody>
          <a:bodyPr/>
          <a:lstStyle/>
          <a:p>
            <a:fld id="{D8756633-E94B-447C-907F-5A907A338167}" type="slidenum">
              <a:rPr lang="fr-CA" smtClean="0"/>
              <a:t>26</a:t>
            </a:fld>
            <a:endParaRPr lang="fr-CA"/>
          </a:p>
        </p:txBody>
      </p:sp>
    </p:spTree>
    <p:extLst>
      <p:ext uri="{BB962C8B-B14F-4D97-AF65-F5344CB8AC3E}">
        <p14:creationId xmlns:p14="http://schemas.microsoft.com/office/powerpoint/2010/main" val="42409359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89ED8-9D28-0ADD-5074-4F6CA658CE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9064E6-2B8C-6E94-63FF-2FDA7009232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46F90D8-16E3-05B4-9AC5-07C1A027AA6C}"/>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CB2EA707-DDAA-E42F-CDBE-532C67958B5E}"/>
              </a:ext>
            </a:extLst>
          </p:cNvPr>
          <p:cNvSpPr>
            <a:spLocks noGrp="1"/>
          </p:cNvSpPr>
          <p:nvPr>
            <p:ph type="sldNum" sz="quarter" idx="5"/>
          </p:nvPr>
        </p:nvSpPr>
        <p:spPr/>
        <p:txBody>
          <a:bodyPr/>
          <a:lstStyle/>
          <a:p>
            <a:fld id="{D8756633-E94B-447C-907F-5A907A338167}" type="slidenum">
              <a:rPr lang="fr-CA" smtClean="0"/>
              <a:t>27</a:t>
            </a:fld>
            <a:endParaRPr lang="fr-CA"/>
          </a:p>
        </p:txBody>
      </p:sp>
    </p:spTree>
    <p:extLst>
      <p:ext uri="{BB962C8B-B14F-4D97-AF65-F5344CB8AC3E}">
        <p14:creationId xmlns:p14="http://schemas.microsoft.com/office/powerpoint/2010/main" val="2647683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0A010-5589-6520-11D4-2726C59605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E46754-672C-028D-9B82-00C864344A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EC31AE-D17A-071D-70AF-20A89E057CDB}"/>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27E12660-BAFC-ACF0-0F1A-4B9D0F1C44EE}"/>
              </a:ext>
            </a:extLst>
          </p:cNvPr>
          <p:cNvSpPr>
            <a:spLocks noGrp="1"/>
          </p:cNvSpPr>
          <p:nvPr>
            <p:ph type="sldNum" sz="quarter" idx="5"/>
          </p:nvPr>
        </p:nvSpPr>
        <p:spPr/>
        <p:txBody>
          <a:bodyPr/>
          <a:lstStyle/>
          <a:p>
            <a:fld id="{D8756633-E94B-447C-907F-5A907A338167}" type="slidenum">
              <a:rPr lang="fr-CA" smtClean="0"/>
              <a:t>28</a:t>
            </a:fld>
            <a:endParaRPr lang="fr-CA"/>
          </a:p>
        </p:txBody>
      </p:sp>
    </p:spTree>
    <p:extLst>
      <p:ext uri="{BB962C8B-B14F-4D97-AF65-F5344CB8AC3E}">
        <p14:creationId xmlns:p14="http://schemas.microsoft.com/office/powerpoint/2010/main" val="4079915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77E60-1D0D-8119-4446-2B9B221E06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739649A-3155-F0B9-C919-3268C51E362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FEFEF9F-C2F8-89D8-0ADC-4CCFBAC155C4}"/>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8A5E4662-6132-764A-5D60-5EB2EF7D6D4C}"/>
              </a:ext>
            </a:extLst>
          </p:cNvPr>
          <p:cNvSpPr>
            <a:spLocks noGrp="1"/>
          </p:cNvSpPr>
          <p:nvPr>
            <p:ph type="sldNum" sz="quarter" idx="5"/>
          </p:nvPr>
        </p:nvSpPr>
        <p:spPr/>
        <p:txBody>
          <a:bodyPr/>
          <a:lstStyle/>
          <a:p>
            <a:fld id="{D8756633-E94B-447C-907F-5A907A338167}" type="slidenum">
              <a:rPr lang="fr-CA" smtClean="0"/>
              <a:t>29</a:t>
            </a:fld>
            <a:endParaRPr lang="fr-CA"/>
          </a:p>
        </p:txBody>
      </p:sp>
    </p:spTree>
    <p:extLst>
      <p:ext uri="{BB962C8B-B14F-4D97-AF65-F5344CB8AC3E}">
        <p14:creationId xmlns:p14="http://schemas.microsoft.com/office/powerpoint/2010/main" val="16759724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9F70BC-0707-4E3C-B2A6-2525F9B29276}" type="slidenum">
              <a:rPr lang="en-US"/>
              <a:pPr/>
              <a:t>30</a:t>
            </a:fld>
            <a:endParaRPr lang="en-US" dirty="0"/>
          </a:p>
        </p:txBody>
      </p:sp>
      <p:sp>
        <p:nvSpPr>
          <p:cNvPr id="6349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8575550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31</a:t>
            </a:fld>
            <a:endParaRPr lang="fr-CA"/>
          </a:p>
        </p:txBody>
      </p:sp>
    </p:spTree>
    <p:extLst>
      <p:ext uri="{BB962C8B-B14F-4D97-AF65-F5344CB8AC3E}">
        <p14:creationId xmlns:p14="http://schemas.microsoft.com/office/powerpoint/2010/main" val="3878701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33</a:t>
            </a:fld>
            <a:endParaRPr lang="fr-CA"/>
          </a:p>
        </p:txBody>
      </p:sp>
    </p:spTree>
    <p:extLst>
      <p:ext uri="{BB962C8B-B14F-4D97-AF65-F5344CB8AC3E}">
        <p14:creationId xmlns:p14="http://schemas.microsoft.com/office/powerpoint/2010/main" val="1542410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685B-59F0-90D4-22DE-C97583EDEB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D37FC95-86A8-5EF6-397E-555F777497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A5BEE3-998E-5947-01EC-498B31C9DE6B}"/>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4CB775E4-70CD-989F-0D7F-2A9704D07844}"/>
              </a:ext>
            </a:extLst>
          </p:cNvPr>
          <p:cNvSpPr>
            <a:spLocks noGrp="1"/>
          </p:cNvSpPr>
          <p:nvPr>
            <p:ph type="sldNum" sz="quarter" idx="5"/>
          </p:nvPr>
        </p:nvSpPr>
        <p:spPr/>
        <p:txBody>
          <a:bodyPr/>
          <a:lstStyle/>
          <a:p>
            <a:fld id="{D8756633-E94B-447C-907F-5A907A338167}" type="slidenum">
              <a:rPr lang="fr-CA" smtClean="0"/>
              <a:t>34</a:t>
            </a:fld>
            <a:endParaRPr lang="fr-CA"/>
          </a:p>
        </p:txBody>
      </p:sp>
    </p:spTree>
    <p:extLst>
      <p:ext uri="{BB962C8B-B14F-4D97-AF65-F5344CB8AC3E}">
        <p14:creationId xmlns:p14="http://schemas.microsoft.com/office/powerpoint/2010/main" val="1191037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fontAlgn="t"/>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36</a:t>
            </a:fld>
            <a:endParaRPr lang="fr-CA"/>
          </a:p>
        </p:txBody>
      </p:sp>
    </p:spTree>
    <p:extLst>
      <p:ext uri="{BB962C8B-B14F-4D97-AF65-F5344CB8AC3E}">
        <p14:creationId xmlns:p14="http://schemas.microsoft.com/office/powerpoint/2010/main" val="10250010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F04D-5DC1-12E2-7B57-1355523009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801F85-EC65-3C64-E9B7-63D2BF28C2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B64290E-C90F-DF4A-1416-E31DE21B2554}"/>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184D369D-B090-9280-8A99-749E2C576537}"/>
              </a:ext>
            </a:extLst>
          </p:cNvPr>
          <p:cNvSpPr>
            <a:spLocks noGrp="1"/>
          </p:cNvSpPr>
          <p:nvPr>
            <p:ph type="sldNum" sz="quarter" idx="5"/>
          </p:nvPr>
        </p:nvSpPr>
        <p:spPr/>
        <p:txBody>
          <a:bodyPr/>
          <a:lstStyle/>
          <a:p>
            <a:fld id="{D8756633-E94B-447C-907F-5A907A338167}" type="slidenum">
              <a:rPr lang="fr-CA" smtClean="0"/>
              <a:t>37</a:t>
            </a:fld>
            <a:endParaRPr lang="fr-CA"/>
          </a:p>
        </p:txBody>
      </p:sp>
    </p:spTree>
    <p:extLst>
      <p:ext uri="{BB962C8B-B14F-4D97-AF65-F5344CB8AC3E}">
        <p14:creationId xmlns:p14="http://schemas.microsoft.com/office/powerpoint/2010/main" val="1468373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4E24E-50E6-FBB6-3BFD-32737ADF9D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A7FE4C-A4D7-3AF0-066D-3A639567024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480259-8529-33BD-5468-934DBE661859}"/>
              </a:ext>
            </a:extLst>
          </p:cNvPr>
          <p:cNvSpPr>
            <a:spLocks noGrp="1"/>
          </p:cNvSpPr>
          <p:nvPr>
            <p:ph type="body" idx="1"/>
          </p:nvPr>
        </p:nvSpPr>
        <p:spPr/>
        <p:txBody>
          <a:bodyPr/>
          <a:lstStyle/>
          <a:p>
            <a:pPr lvl="0" fontAlgn="t"/>
            <a:endParaRPr lang="fr-CA" dirty="0"/>
          </a:p>
        </p:txBody>
      </p:sp>
      <p:sp>
        <p:nvSpPr>
          <p:cNvPr id="4" name="Espace réservé du numéro de diapositive 3">
            <a:extLst>
              <a:ext uri="{FF2B5EF4-FFF2-40B4-BE49-F238E27FC236}">
                <a16:creationId xmlns:a16="http://schemas.microsoft.com/office/drawing/2014/main" id="{BC6A1A5C-6C33-D30A-471E-623D4858B285}"/>
              </a:ext>
            </a:extLst>
          </p:cNvPr>
          <p:cNvSpPr>
            <a:spLocks noGrp="1"/>
          </p:cNvSpPr>
          <p:nvPr>
            <p:ph type="sldNum" sz="quarter" idx="5"/>
          </p:nvPr>
        </p:nvSpPr>
        <p:spPr/>
        <p:txBody>
          <a:bodyPr/>
          <a:lstStyle/>
          <a:p>
            <a:fld id="{D8756633-E94B-447C-907F-5A907A338167}" type="slidenum">
              <a:rPr lang="fr-CA" smtClean="0"/>
              <a:t>38</a:t>
            </a:fld>
            <a:endParaRPr lang="fr-CA"/>
          </a:p>
        </p:txBody>
      </p:sp>
    </p:spTree>
    <p:extLst>
      <p:ext uri="{BB962C8B-B14F-4D97-AF65-F5344CB8AC3E}">
        <p14:creationId xmlns:p14="http://schemas.microsoft.com/office/powerpoint/2010/main" val="2930757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fontAlgn="t"/>
            <a:endParaRPr lang="fr-CA" sz="1200" b="0" i="0" kern="1200" dirty="0">
              <a:solidFill>
                <a:schemeClr val="tx1"/>
              </a:solidFill>
              <a:effectLst/>
              <a:latin typeface="+mn-lt"/>
              <a:ea typeface="+mn-ea"/>
              <a:cs typeface="+mn-cs"/>
            </a:endParaRPr>
          </a:p>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39</a:t>
            </a:fld>
            <a:endParaRPr lang="fr-CA"/>
          </a:p>
        </p:txBody>
      </p:sp>
    </p:spTree>
    <p:extLst>
      <p:ext uri="{BB962C8B-B14F-4D97-AF65-F5344CB8AC3E}">
        <p14:creationId xmlns:p14="http://schemas.microsoft.com/office/powerpoint/2010/main" val="1401217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40</a:t>
            </a:fld>
            <a:endParaRPr lang="fr-CA"/>
          </a:p>
        </p:txBody>
      </p:sp>
    </p:spTree>
    <p:extLst>
      <p:ext uri="{BB962C8B-B14F-4D97-AF65-F5344CB8AC3E}">
        <p14:creationId xmlns:p14="http://schemas.microsoft.com/office/powerpoint/2010/main" val="10792785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endParaRPr lang="fr-CA" dirty="0"/>
          </a:p>
          <a:p>
            <a:pPr marL="171450" indent="-171450">
              <a:buFontTx/>
              <a:buChar char="-"/>
            </a:pPr>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41</a:t>
            </a:fld>
            <a:endParaRPr lang="fr-CA"/>
          </a:p>
        </p:txBody>
      </p:sp>
    </p:spTree>
    <p:extLst>
      <p:ext uri="{BB962C8B-B14F-4D97-AF65-F5344CB8AC3E}">
        <p14:creationId xmlns:p14="http://schemas.microsoft.com/office/powerpoint/2010/main" val="11147085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9D85-B786-A08B-868D-F5110AF0FD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675534-8204-7B9F-9653-B7804B8598B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63554A-EFDC-48E2-35D9-E1795FA574B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189BC303-C0EB-8F65-EDD5-D04A7A4EBF2D}"/>
              </a:ext>
            </a:extLst>
          </p:cNvPr>
          <p:cNvSpPr>
            <a:spLocks noGrp="1"/>
          </p:cNvSpPr>
          <p:nvPr>
            <p:ph type="sldNum" sz="quarter" idx="5"/>
          </p:nvPr>
        </p:nvSpPr>
        <p:spPr/>
        <p:txBody>
          <a:bodyPr/>
          <a:lstStyle/>
          <a:p>
            <a:fld id="{D8756633-E94B-447C-907F-5A907A338167}" type="slidenum">
              <a:rPr lang="fr-CA" smtClean="0"/>
              <a:t>42</a:t>
            </a:fld>
            <a:endParaRPr lang="fr-CA"/>
          </a:p>
        </p:txBody>
      </p:sp>
    </p:spTree>
    <p:extLst>
      <p:ext uri="{BB962C8B-B14F-4D97-AF65-F5344CB8AC3E}">
        <p14:creationId xmlns:p14="http://schemas.microsoft.com/office/powerpoint/2010/main" val="41637646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77E17-2FBC-1532-1935-C3358D641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35D49-2359-18A6-3588-DC6BB2F63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F6325-A86F-A453-C208-39F6F308293A}"/>
              </a:ext>
            </a:extLst>
          </p:cNvPr>
          <p:cNvSpPr>
            <a:spLocks noGrp="1"/>
          </p:cNvSpPr>
          <p:nvPr>
            <p:ph type="body" idx="1"/>
          </p:nvPr>
        </p:nvSpPr>
        <p:spPr/>
        <p:txBody>
          <a:bodyPr/>
          <a:lstStyle/>
          <a:p>
            <a:endParaRPr lang="fr-CA" dirty="0"/>
          </a:p>
          <a:p>
            <a:pPr algn="l"/>
            <a:endParaRPr lang="fr-CA" sz="1200" u="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Calibri"/>
            </a:endParaRPr>
          </a:p>
          <a:p>
            <a:endParaRPr lang="en-US" dirty="0">
              <a:cs typeface="Calibri"/>
            </a:endParaRPr>
          </a:p>
        </p:txBody>
      </p:sp>
      <p:sp>
        <p:nvSpPr>
          <p:cNvPr id="4" name="Slide Number Placeholder 3">
            <a:extLst>
              <a:ext uri="{FF2B5EF4-FFF2-40B4-BE49-F238E27FC236}">
                <a16:creationId xmlns:a16="http://schemas.microsoft.com/office/drawing/2014/main" id="{5C0AF10B-8D8A-8913-3CDF-23586E6B84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6772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548E-69B3-7A87-BF15-D0D450852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CA4F1-260D-83F1-AECA-918483606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0AE90-E238-7250-542E-4CED93321BC4}"/>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4E8FBA28-C424-CAB7-8681-485702F8B4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624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21B15-B883-DB72-815C-75F73B4CC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60544-7B4C-4982-9D01-E958FDD0C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9BAFB-20D7-EE80-D14D-85A803B5E437}"/>
              </a:ext>
            </a:extLst>
          </p:cNvPr>
          <p:cNvSpPr>
            <a:spLocks noGrp="1"/>
          </p:cNvSpPr>
          <p:nvPr>
            <p:ph type="body" idx="1"/>
          </p:nvPr>
        </p:nvSpPr>
        <p:spPr/>
        <p:txBody>
          <a:bodyPr/>
          <a:lstStyle/>
          <a:p>
            <a:endParaRPr lang="en-US" dirty="0">
              <a:cs typeface="Calibri"/>
            </a:endParaRPr>
          </a:p>
          <a:p>
            <a:endParaRPr lang="en-US" dirty="0">
              <a:cs typeface="Calibri"/>
            </a:endParaRPr>
          </a:p>
        </p:txBody>
      </p:sp>
      <p:sp>
        <p:nvSpPr>
          <p:cNvPr id="4" name="Slide Number Placeholder 3">
            <a:extLst>
              <a:ext uri="{FF2B5EF4-FFF2-40B4-BE49-F238E27FC236}">
                <a16:creationId xmlns:a16="http://schemas.microsoft.com/office/drawing/2014/main" id="{A3B46B1B-6762-059C-D518-F10739BAA5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31223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endParaRPr lang="fr-CA"/>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46</a:t>
            </a:fld>
            <a:endParaRPr lang="fr-CA"/>
          </a:p>
        </p:txBody>
      </p:sp>
    </p:spTree>
    <p:extLst>
      <p:ext uri="{BB962C8B-B14F-4D97-AF65-F5344CB8AC3E}">
        <p14:creationId xmlns:p14="http://schemas.microsoft.com/office/powerpoint/2010/main" val="35584138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47</a:t>
            </a:fld>
            <a:endParaRPr lang="fr-CA"/>
          </a:p>
        </p:txBody>
      </p:sp>
    </p:spTree>
    <p:extLst>
      <p:ext uri="{BB962C8B-B14F-4D97-AF65-F5344CB8AC3E}">
        <p14:creationId xmlns:p14="http://schemas.microsoft.com/office/powerpoint/2010/main" val="26385656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9247DE-58EC-4E71-9921-D5BAF878C854}" type="slidenum">
              <a:rPr lang="en-US"/>
              <a:pPr/>
              <a:t>48</a:t>
            </a:fld>
            <a:endParaRPr lang="en-US"/>
          </a:p>
        </p:txBody>
      </p:sp>
      <p:sp>
        <p:nvSpPr>
          <p:cNvPr id="75778" name="Rectangle 2"/>
          <p:cNvSpPr>
            <a:spLocks noGrp="1" noRot="1" noChangeAspect="1" noChangeArrowheads="1" noTextEdit="1"/>
          </p:cNvSpPr>
          <p:nvPr>
            <p:ph type="sldImg"/>
          </p:nvPr>
        </p:nvSpPr>
        <p:spPr>
          <a:ln/>
        </p:spPr>
      </p:sp>
      <p:sp>
        <p:nvSpPr>
          <p:cNvPr id="4" name="Espace réservé des notes 3">
            <a:extLst>
              <a:ext uri="{FF2B5EF4-FFF2-40B4-BE49-F238E27FC236}">
                <a16:creationId xmlns:a16="http://schemas.microsoft.com/office/drawing/2014/main" id="{1DDDEFEF-749D-41EF-9C6E-DE02D0D0306E}"/>
              </a:ext>
            </a:extLst>
          </p:cNvPr>
          <p:cNvSpPr>
            <a:spLocks noGrp="1"/>
          </p:cNvSpPr>
          <p:nvPr>
            <p:ph type="body" sz="quarter" idx="3"/>
          </p:nvPr>
        </p:nvSpPr>
        <p:spPr/>
        <p:txBody>
          <a:bodyPr/>
          <a:lstStyle/>
          <a:p>
            <a:endParaRPr lang="fr-CA" b="0" dirty="0"/>
          </a:p>
        </p:txBody>
      </p:sp>
    </p:spTree>
    <p:extLst>
      <p:ext uri="{BB962C8B-B14F-4D97-AF65-F5344CB8AC3E}">
        <p14:creationId xmlns:p14="http://schemas.microsoft.com/office/powerpoint/2010/main" val="39489297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r>
              <a:rPr lang="fr-CA" dirty="0"/>
              <a:t> </a:t>
            </a:r>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49</a:t>
            </a:fld>
            <a:endParaRPr lang="fr-CA" dirty="0"/>
          </a:p>
        </p:txBody>
      </p:sp>
    </p:spTree>
    <p:extLst>
      <p:ext uri="{BB962C8B-B14F-4D97-AF65-F5344CB8AC3E}">
        <p14:creationId xmlns:p14="http://schemas.microsoft.com/office/powerpoint/2010/main" val="21170868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50</a:t>
            </a:fld>
            <a:endParaRPr lang="fr-CA" dirty="0"/>
          </a:p>
        </p:txBody>
      </p:sp>
    </p:spTree>
    <p:extLst>
      <p:ext uri="{BB962C8B-B14F-4D97-AF65-F5344CB8AC3E}">
        <p14:creationId xmlns:p14="http://schemas.microsoft.com/office/powerpoint/2010/main" val="36849757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51</a:t>
            </a:fld>
            <a:endParaRPr lang="fr-CA" dirty="0"/>
          </a:p>
        </p:txBody>
      </p:sp>
    </p:spTree>
    <p:extLst>
      <p:ext uri="{BB962C8B-B14F-4D97-AF65-F5344CB8AC3E}">
        <p14:creationId xmlns:p14="http://schemas.microsoft.com/office/powerpoint/2010/main" val="6783620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28E1A-C6F1-1FDE-2E93-51B96672FE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458655-E15F-62C5-2874-B2FD16B5D3E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41BB0F-4447-E2EF-268D-B70506C90219}"/>
              </a:ext>
            </a:extLst>
          </p:cNvPr>
          <p:cNvSpPr>
            <a:spLocks noGrp="1"/>
          </p:cNvSpPr>
          <p:nvPr>
            <p:ph type="body" idx="1"/>
          </p:nvPr>
        </p:nvSpPr>
        <p:spPr>
          <a:xfrm>
            <a:off x="486561" y="4473891"/>
            <a:ext cx="6174298" cy="4619775"/>
          </a:xfrm>
        </p:spPr>
        <p:txBody>
          <a:bodyPr/>
          <a:lstStyle/>
          <a:p>
            <a:endParaRPr lang="fr-CA" dirty="0"/>
          </a:p>
        </p:txBody>
      </p:sp>
      <p:sp>
        <p:nvSpPr>
          <p:cNvPr id="4" name="Espace réservé du numéro de diapositive 3">
            <a:extLst>
              <a:ext uri="{FF2B5EF4-FFF2-40B4-BE49-F238E27FC236}">
                <a16:creationId xmlns:a16="http://schemas.microsoft.com/office/drawing/2014/main" id="{2033922B-5446-A4DA-9795-209547E97356}"/>
              </a:ext>
            </a:extLst>
          </p:cNvPr>
          <p:cNvSpPr>
            <a:spLocks noGrp="1"/>
          </p:cNvSpPr>
          <p:nvPr>
            <p:ph type="sldNum" sz="quarter" idx="5"/>
          </p:nvPr>
        </p:nvSpPr>
        <p:spPr/>
        <p:txBody>
          <a:bodyPr/>
          <a:lstStyle/>
          <a:p>
            <a:fld id="{D8756633-E94B-447C-907F-5A907A338167}" type="slidenum">
              <a:rPr lang="fr-CA" smtClean="0"/>
              <a:t>52</a:t>
            </a:fld>
            <a:endParaRPr lang="fr-CA" dirty="0"/>
          </a:p>
        </p:txBody>
      </p:sp>
    </p:spTree>
    <p:extLst>
      <p:ext uri="{BB962C8B-B14F-4D97-AF65-F5344CB8AC3E}">
        <p14:creationId xmlns:p14="http://schemas.microsoft.com/office/powerpoint/2010/main" val="32726635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CA" dirty="0"/>
          </a:p>
        </p:txBody>
      </p:sp>
      <p:sp>
        <p:nvSpPr>
          <p:cNvPr id="4" name="Espace réservé du numéro de diapositive 3"/>
          <p:cNvSpPr>
            <a:spLocks noGrp="1"/>
          </p:cNvSpPr>
          <p:nvPr>
            <p:ph type="sldNum" sz="quarter" idx="10"/>
          </p:nvPr>
        </p:nvSpPr>
        <p:spPr/>
        <p:txBody>
          <a:bodyPr/>
          <a:lstStyle/>
          <a:p>
            <a:fld id="{C6203257-382C-424D-AAED-938AD3F18826}" type="slidenum">
              <a:rPr lang="fr-CA" smtClean="0"/>
              <a:pPr/>
              <a:t>53</a:t>
            </a:fld>
            <a:endParaRPr lang="fr-CA"/>
          </a:p>
        </p:txBody>
      </p:sp>
    </p:spTree>
    <p:extLst>
      <p:ext uri="{BB962C8B-B14F-4D97-AF65-F5344CB8AC3E}">
        <p14:creationId xmlns:p14="http://schemas.microsoft.com/office/powerpoint/2010/main" val="10274755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54</a:t>
            </a:fld>
            <a:endParaRPr lang="fr-CA" dirty="0"/>
          </a:p>
        </p:txBody>
      </p:sp>
    </p:spTree>
    <p:extLst>
      <p:ext uri="{BB962C8B-B14F-4D97-AF65-F5344CB8AC3E}">
        <p14:creationId xmlns:p14="http://schemas.microsoft.com/office/powerpoint/2010/main" val="2730229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pt-BR"/>
              <a:t>(c) 10904 / S05</a:t>
            </a:r>
            <a:endParaRPr lang="fr-CA"/>
          </a:p>
        </p:txBody>
      </p:sp>
      <p:sp>
        <p:nvSpPr>
          <p:cNvPr id="6" name="Espace réservé du numéro de diapositive 5"/>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828617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pt-BR"/>
              <a:t>(c) 10904 / S05</a:t>
            </a:r>
            <a:endParaRPr lang="fr-CA"/>
          </a:p>
        </p:txBody>
      </p:sp>
      <p:sp>
        <p:nvSpPr>
          <p:cNvPr id="6" name="Espace réservé du numéro de diapositive 5"/>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2493151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pt-BR"/>
              <a:t>(c) 10904 / S05</a:t>
            </a:r>
            <a:endParaRPr lang="fr-CA"/>
          </a:p>
        </p:txBody>
      </p:sp>
      <p:sp>
        <p:nvSpPr>
          <p:cNvPr id="6" name="Espace réservé du numéro de diapositive 5"/>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1000649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endParaRPr lang="fr-CA"/>
          </a:p>
        </p:txBody>
      </p:sp>
      <p:sp>
        <p:nvSpPr>
          <p:cNvPr id="6" name="Espace réservé du pied de page 5"/>
          <p:cNvSpPr>
            <a:spLocks noGrp="1"/>
          </p:cNvSpPr>
          <p:nvPr>
            <p:ph type="ftr" sz="quarter" idx="11"/>
          </p:nvPr>
        </p:nvSpPr>
        <p:spPr/>
        <p:txBody>
          <a:bodyPr/>
          <a:lstStyle/>
          <a:p>
            <a:r>
              <a:rPr lang="pt-BR"/>
              <a:t>(c) 10904 / S05</a:t>
            </a:r>
            <a:endParaRPr lang="fr-CA"/>
          </a:p>
        </p:txBody>
      </p:sp>
      <p:sp>
        <p:nvSpPr>
          <p:cNvPr id="7" name="Espace réservé du numéro de diapositive 6"/>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131724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endParaRPr lang="fr-CA"/>
          </a:p>
        </p:txBody>
      </p:sp>
      <p:sp>
        <p:nvSpPr>
          <p:cNvPr id="8" name="Espace réservé du pied de page 7"/>
          <p:cNvSpPr>
            <a:spLocks noGrp="1"/>
          </p:cNvSpPr>
          <p:nvPr>
            <p:ph type="ftr" sz="quarter" idx="11"/>
          </p:nvPr>
        </p:nvSpPr>
        <p:spPr/>
        <p:txBody>
          <a:bodyPr/>
          <a:lstStyle/>
          <a:p>
            <a:r>
              <a:rPr lang="pt-BR"/>
              <a:t>(c) 10904 / S05</a:t>
            </a:r>
            <a:endParaRPr lang="fr-CA"/>
          </a:p>
        </p:txBody>
      </p:sp>
      <p:sp>
        <p:nvSpPr>
          <p:cNvPr id="9" name="Espace réservé du numéro de diapositive 8"/>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135154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endParaRPr lang="fr-CA"/>
          </a:p>
        </p:txBody>
      </p:sp>
      <p:sp>
        <p:nvSpPr>
          <p:cNvPr id="4" name="Espace réservé du pied de page 3"/>
          <p:cNvSpPr>
            <a:spLocks noGrp="1"/>
          </p:cNvSpPr>
          <p:nvPr>
            <p:ph type="ftr" sz="quarter" idx="11"/>
          </p:nvPr>
        </p:nvSpPr>
        <p:spPr/>
        <p:txBody>
          <a:bodyPr/>
          <a:lstStyle/>
          <a:p>
            <a:r>
              <a:rPr lang="pt-BR"/>
              <a:t>(c) 10904 / S05</a:t>
            </a:r>
            <a:endParaRPr lang="fr-CA"/>
          </a:p>
        </p:txBody>
      </p:sp>
      <p:sp>
        <p:nvSpPr>
          <p:cNvPr id="5" name="Espace réservé du numéro de diapositive 4"/>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4091374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CA"/>
          </a:p>
        </p:txBody>
      </p:sp>
      <p:sp>
        <p:nvSpPr>
          <p:cNvPr id="3" name="Espace réservé du pied de page 2"/>
          <p:cNvSpPr>
            <a:spLocks noGrp="1"/>
          </p:cNvSpPr>
          <p:nvPr>
            <p:ph type="ftr" sz="quarter" idx="11"/>
          </p:nvPr>
        </p:nvSpPr>
        <p:spPr/>
        <p:txBody>
          <a:bodyPr/>
          <a:lstStyle/>
          <a:p>
            <a:r>
              <a:rPr lang="pt-BR"/>
              <a:t>(c) 10904 / S05</a:t>
            </a:r>
            <a:endParaRPr lang="fr-CA"/>
          </a:p>
        </p:txBody>
      </p:sp>
      <p:sp>
        <p:nvSpPr>
          <p:cNvPr id="4" name="Espace réservé du numéro de diapositive 3"/>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2041809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endParaRPr lang="fr-CA"/>
          </a:p>
        </p:txBody>
      </p:sp>
      <p:sp>
        <p:nvSpPr>
          <p:cNvPr id="6" name="Espace réservé du pied de page 5"/>
          <p:cNvSpPr>
            <a:spLocks noGrp="1"/>
          </p:cNvSpPr>
          <p:nvPr>
            <p:ph type="ftr" sz="quarter" idx="11"/>
          </p:nvPr>
        </p:nvSpPr>
        <p:spPr/>
        <p:txBody>
          <a:bodyPr/>
          <a:lstStyle/>
          <a:p>
            <a:r>
              <a:rPr lang="pt-BR"/>
              <a:t>(c) 10904 / S05</a:t>
            </a:r>
            <a:endParaRPr lang="fr-CA"/>
          </a:p>
        </p:txBody>
      </p:sp>
      <p:sp>
        <p:nvSpPr>
          <p:cNvPr id="7" name="Espace réservé du numéro de diapositive 6"/>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936593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endParaRPr lang="fr-CA"/>
          </a:p>
        </p:txBody>
      </p:sp>
      <p:sp>
        <p:nvSpPr>
          <p:cNvPr id="6" name="Espace réservé du pied de page 5"/>
          <p:cNvSpPr>
            <a:spLocks noGrp="1"/>
          </p:cNvSpPr>
          <p:nvPr>
            <p:ph type="ftr" sz="quarter" idx="11"/>
          </p:nvPr>
        </p:nvSpPr>
        <p:spPr/>
        <p:txBody>
          <a:bodyPr/>
          <a:lstStyle/>
          <a:p>
            <a:r>
              <a:rPr lang="pt-BR"/>
              <a:t>(c) 10904 / S05</a:t>
            </a:r>
            <a:endParaRPr lang="fr-CA"/>
          </a:p>
        </p:txBody>
      </p:sp>
      <p:sp>
        <p:nvSpPr>
          <p:cNvPr id="7" name="Espace réservé du numéro de diapositive 6"/>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1400637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pt-BR"/>
              <a:t>(c) 10904 / S05</a:t>
            </a:r>
            <a:endParaRPr lang="fr-CA"/>
          </a:p>
        </p:txBody>
      </p:sp>
      <p:sp>
        <p:nvSpPr>
          <p:cNvPr id="6" name="Espace réservé du numéro de diapositive 5"/>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719520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pt-BR"/>
              <a:t>(c) 10904 / S05</a:t>
            </a:r>
            <a:endParaRPr lang="fr-CA"/>
          </a:p>
        </p:txBody>
      </p:sp>
      <p:sp>
        <p:nvSpPr>
          <p:cNvPr id="6" name="Espace réservé du numéro de diapositive 5"/>
          <p:cNvSpPr>
            <a:spLocks noGrp="1"/>
          </p:cNvSpPr>
          <p:nvPr>
            <p:ph type="sldNum" sz="quarter" idx="12"/>
          </p:nvPr>
        </p:nvSpPr>
        <p:spPr/>
        <p:txBody>
          <a:bodyPr/>
          <a:lstStyle/>
          <a:p>
            <a:fld id="{A48F202B-569C-412E-97E6-A9EDEE529BA6}" type="slidenum">
              <a:rPr lang="fr-CA" smtClean="0"/>
              <a:t>‹N°›</a:t>
            </a:fld>
            <a:endParaRPr lang="fr-CA"/>
          </a:p>
        </p:txBody>
      </p:sp>
    </p:spTree>
    <p:extLst>
      <p:ext uri="{BB962C8B-B14F-4D97-AF65-F5344CB8AC3E}">
        <p14:creationId xmlns:p14="http://schemas.microsoft.com/office/powerpoint/2010/main" val="1242488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9822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
        <p:nvSpPr>
          <p:cNvPr id="5" name="Titre 1"/>
          <p:cNvSpPr>
            <a:spLocks noGrp="1"/>
          </p:cNvSpPr>
          <p:nvPr>
            <p:ph type="title"/>
          </p:nvPr>
        </p:nvSpPr>
        <p:spPr>
          <a:xfrm>
            <a:off x="101081" y="86995"/>
            <a:ext cx="10515600" cy="668785"/>
          </a:xfrm>
        </p:spPr>
        <p:txBody>
          <a:bodyPr/>
          <a:lstStyle/>
          <a:p>
            <a:r>
              <a:rPr lang="fr-FR"/>
              <a:t>Modifiez le style du titre</a:t>
            </a:r>
            <a:endParaRPr lang="fr-CA"/>
          </a:p>
        </p:txBody>
      </p:sp>
    </p:spTree>
    <p:extLst>
      <p:ext uri="{BB962C8B-B14F-4D97-AF65-F5344CB8AC3E}">
        <p14:creationId xmlns:p14="http://schemas.microsoft.com/office/powerpoint/2010/main" val="3005864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296825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1699980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032688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134504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932551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12835121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541184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1998238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5368110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190500"/>
            <a:ext cx="11004206" cy="828675"/>
          </a:xfrm>
        </p:spPr>
        <p:txBody>
          <a:bodyPr/>
          <a:lstStyle/>
          <a:p>
            <a:r>
              <a:rPr lang="fr-FR"/>
              <a:t>Cliquez pour modifier le style du titre</a:t>
            </a:r>
            <a:endParaRPr lang="en-CA"/>
          </a:p>
        </p:txBody>
      </p:sp>
      <p:sp>
        <p:nvSpPr>
          <p:cNvPr id="3" name="Espace réservé du tableau 2"/>
          <p:cNvSpPr>
            <a:spLocks noGrp="1"/>
          </p:cNvSpPr>
          <p:nvPr>
            <p:ph type="tbl" idx="1"/>
          </p:nvPr>
        </p:nvSpPr>
        <p:spPr>
          <a:xfrm>
            <a:off x="685800" y="1133475"/>
            <a:ext cx="11004206" cy="4886325"/>
          </a:xfrm>
        </p:spPr>
        <p:txBody>
          <a:bodyPr/>
          <a:lstStyle/>
          <a:p>
            <a:pPr lvl="0"/>
            <a:endParaRPr lang="en-CA" noProof="0"/>
          </a:p>
        </p:txBody>
      </p:sp>
      <p:cxnSp>
        <p:nvCxnSpPr>
          <p:cNvPr id="11" name="Connecteur droit 10"/>
          <p:cNvCxnSpPr/>
          <p:nvPr userDrawn="1"/>
        </p:nvCxnSpPr>
        <p:spPr>
          <a:xfrm>
            <a:off x="679580" y="1004694"/>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userDrawn="1"/>
        </p:nvCxnSpPr>
        <p:spPr>
          <a:xfrm flipV="1">
            <a:off x="839756" y="1133475"/>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3"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0561189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S05</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
        <p:nvSpPr>
          <p:cNvPr id="5" name="Titre 1"/>
          <p:cNvSpPr>
            <a:spLocks noGrp="1"/>
          </p:cNvSpPr>
          <p:nvPr>
            <p:ph type="title"/>
          </p:nvPr>
        </p:nvSpPr>
        <p:spPr>
          <a:xfrm>
            <a:off x="101081" y="86995"/>
            <a:ext cx="10515600" cy="668785"/>
          </a:xfrm>
        </p:spPr>
        <p:txBody>
          <a:bodyPr/>
          <a:lstStyle/>
          <a:p>
            <a:r>
              <a:rPr lang="fr-FR"/>
              <a:t>Modifiez le style du titre</a:t>
            </a:r>
            <a:endParaRPr lang="fr-CA"/>
          </a:p>
        </p:txBody>
      </p:sp>
    </p:spTree>
    <p:extLst>
      <p:ext uri="{BB962C8B-B14F-4D97-AF65-F5344CB8AC3E}">
        <p14:creationId xmlns:p14="http://schemas.microsoft.com/office/powerpoint/2010/main" val="211605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(c) 10904 / S05</a:t>
            </a:r>
            <a:endParaRPr lang="fr-C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F202B-569C-412E-97E6-A9EDEE529BA6}" type="slidenum">
              <a:rPr lang="fr-CA" smtClean="0"/>
              <a:t>‹N°›</a:t>
            </a:fld>
            <a:endParaRPr lang="fr-CA"/>
          </a:p>
        </p:txBody>
      </p:sp>
    </p:spTree>
    <p:extLst>
      <p:ext uri="{BB962C8B-B14F-4D97-AF65-F5344CB8AC3E}">
        <p14:creationId xmlns:p14="http://schemas.microsoft.com/office/powerpoint/2010/main" val="415162092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707"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pic>
        <p:nvPicPr>
          <p:cNvPr id="10" name="Imag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354906"/>
            <a:ext cx="1821024" cy="368015"/>
          </a:xfrm>
          <a:prstGeom prst="rect">
            <a:avLst/>
          </a:prstGeom>
          <a:noFill/>
          <a:ln>
            <a:noFill/>
          </a:ln>
        </p:spPr>
      </p:pic>
    </p:spTree>
    <p:extLst>
      <p:ext uri="{BB962C8B-B14F-4D97-AF65-F5344CB8AC3E}">
        <p14:creationId xmlns:p14="http://schemas.microsoft.com/office/powerpoint/2010/main" val="20266684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665" r:id="rId11"/>
    <p:sldLayoutId id="2147483666" r:id="rId12"/>
    <p:sldLayoutId id="2147483667"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6.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4.xml"/><Relationship Id="rId7" Type="http://schemas.openxmlformats.org/officeDocument/2006/relationships/slideLayout" Target="../slideLayouts/slideLayout1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s/_rels/slide4.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4.xml"/><Relationship Id="rId5" Type="http://schemas.openxmlformats.org/officeDocument/2006/relationships/slideLayout" Target="../slideLayouts/slideLayout18.xml"/><Relationship Id="rId4" Type="http://schemas.openxmlformats.org/officeDocument/2006/relationships/tags" Target="../tags/tag21.xml"/></Relationships>
</file>

<file path=ppt/slides/_rels/slide5.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image" Target="../media/image2.sv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notesSlide" Target="../notesSlides/notesSlide5.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slideLayout" Target="../slideLayouts/slideLayout15.xml"/><Relationship Id="rId5" Type="http://schemas.openxmlformats.org/officeDocument/2006/relationships/tags" Target="../tags/tag26.xml"/><Relationship Id="rId15" Type="http://schemas.openxmlformats.org/officeDocument/2006/relationships/image" Target="../media/image4.svg"/><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4.xml"/><Relationship Id="rId7" Type="http://schemas.openxmlformats.org/officeDocument/2006/relationships/slideLayout" Target="../slideLayouts/slideLayout15.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s/_rels/slide7.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40.xml"/><Relationship Id="rId7" Type="http://schemas.openxmlformats.org/officeDocument/2006/relationships/tags" Target="../tags/tag43.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video" Target="https://www.youtube.com/embed/s2SuMCo-XNM?feature=oembed" TargetMode="External"/><Relationship Id="rId11" Type="http://schemas.openxmlformats.org/officeDocument/2006/relationships/image" Target="../media/image5.jpeg"/><Relationship Id="rId5" Type="http://schemas.openxmlformats.org/officeDocument/2006/relationships/tags" Target="../tags/tag42.xml"/><Relationship Id="rId10" Type="http://schemas.openxmlformats.org/officeDocument/2006/relationships/notesSlide" Target="../notesSlides/notesSlide7.xml"/><Relationship Id="rId4" Type="http://schemas.openxmlformats.org/officeDocument/2006/relationships/tags" Target="../tags/tag41.xml"/><Relationship Id="rId9"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notesSlide" Target="../notesSlides/notesSlide8.xml"/><Relationship Id="rId5" Type="http://schemas.openxmlformats.org/officeDocument/2006/relationships/slideLayout" Target="../slideLayouts/slideLayout15.xml"/><Relationship Id="rId4" Type="http://schemas.openxmlformats.org/officeDocument/2006/relationships/tags" Target="../tags/tag48.xml"/></Relationships>
</file>

<file path=ppt/slides/_rels/slide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notesSlide" Target="../notesSlides/notesSlide9.xml"/><Relationship Id="rId5" Type="http://schemas.openxmlformats.org/officeDocument/2006/relationships/slideLayout" Target="../slideLayouts/slideLayout15.xml"/><Relationship Id="rId4" Type="http://schemas.openxmlformats.org/officeDocument/2006/relationships/tags" Target="../tags/tag52.xml"/></Relationships>
</file>

<file path=ppt/slides/_rels/slide10.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tags" Target="../tags/tag56.xml"/></Relationships>
</file>

<file path=ppt/slides/_rels/slide1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notesSlide" Target="../notesSlides/notesSlide11.xml"/><Relationship Id="rId5" Type="http://schemas.openxmlformats.org/officeDocument/2006/relationships/slideLayout" Target="../slideLayouts/slideLayout15.xml"/><Relationship Id="rId4" Type="http://schemas.openxmlformats.org/officeDocument/2006/relationships/tags" Target="../tags/tag60.xml"/></Relationships>
</file>

<file path=ppt/slides/_rels/slide12.xml.rels><?xml version="1.0" encoding="UTF-8" standalone="yes"?>
<Relationships xmlns="http://schemas.openxmlformats.org/package/2006/relationships"><Relationship Id="rId3" Type="http://schemas.openxmlformats.org/officeDocument/2006/relationships/tags" Target="../tags/tag63.xml"/><Relationship Id="rId7" Type="http://schemas.openxmlformats.org/officeDocument/2006/relationships/notesSlide" Target="../notesSlides/notesSlide1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Layout" Target="../slideLayouts/slideLayout15.xml"/><Relationship Id="rId5" Type="http://schemas.openxmlformats.org/officeDocument/2006/relationships/tags" Target="../tags/tag65.xml"/><Relationship Id="rId4" Type="http://schemas.openxmlformats.org/officeDocument/2006/relationships/tags" Target="../tags/tag64.xml"/></Relationships>
</file>

<file path=ppt/slides/_rels/slide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notesSlide" Target="../notesSlides/notesSlide13.xml"/><Relationship Id="rId5" Type="http://schemas.openxmlformats.org/officeDocument/2006/relationships/slideLayout" Target="../slideLayouts/slideLayout15.xml"/><Relationship Id="rId4" Type="http://schemas.openxmlformats.org/officeDocument/2006/relationships/tags" Target="../tags/tag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7.xml"/><Relationship Id="rId3" Type="http://schemas.openxmlformats.org/officeDocument/2006/relationships/tags" Target="../tags/tag72.xml"/><Relationship Id="rId7" Type="http://schemas.openxmlformats.org/officeDocument/2006/relationships/slideLayout" Target="../slideLayouts/slideLayout15.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9" Type="http://schemas.openxmlformats.org/officeDocument/2006/relationships/image" Target="../media/image6.sv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78.xml"/><Relationship Id="rId7" Type="http://schemas.openxmlformats.org/officeDocument/2006/relationships/tags" Target="../tags/tag8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9"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3" Type="http://schemas.openxmlformats.org/officeDocument/2006/relationships/tags" Target="../tags/tag95.xml"/><Relationship Id="rId18" Type="http://schemas.openxmlformats.org/officeDocument/2006/relationships/tags" Target="../tags/tag100.xml"/><Relationship Id="rId26" Type="http://schemas.openxmlformats.org/officeDocument/2006/relationships/tags" Target="../tags/tag108.xml"/><Relationship Id="rId39" Type="http://schemas.openxmlformats.org/officeDocument/2006/relationships/tags" Target="../tags/tag121.xml"/><Relationship Id="rId21" Type="http://schemas.openxmlformats.org/officeDocument/2006/relationships/tags" Target="../tags/tag103.xml"/><Relationship Id="rId34" Type="http://schemas.openxmlformats.org/officeDocument/2006/relationships/tags" Target="../tags/tag116.xml"/><Relationship Id="rId7" Type="http://schemas.openxmlformats.org/officeDocument/2006/relationships/tags" Target="../tags/tag89.xml"/><Relationship Id="rId2" Type="http://schemas.openxmlformats.org/officeDocument/2006/relationships/tags" Target="../tags/tag84.xml"/><Relationship Id="rId16" Type="http://schemas.openxmlformats.org/officeDocument/2006/relationships/tags" Target="../tags/tag98.xml"/><Relationship Id="rId20" Type="http://schemas.openxmlformats.org/officeDocument/2006/relationships/tags" Target="../tags/tag102.xml"/><Relationship Id="rId29" Type="http://schemas.openxmlformats.org/officeDocument/2006/relationships/tags" Target="../tags/tag111.xml"/><Relationship Id="rId41" Type="http://schemas.openxmlformats.org/officeDocument/2006/relationships/notesSlide" Target="../notesSlides/notesSlide19.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24" Type="http://schemas.openxmlformats.org/officeDocument/2006/relationships/tags" Target="../tags/tag106.xml"/><Relationship Id="rId32" Type="http://schemas.openxmlformats.org/officeDocument/2006/relationships/tags" Target="../tags/tag114.xml"/><Relationship Id="rId37" Type="http://schemas.openxmlformats.org/officeDocument/2006/relationships/tags" Target="../tags/tag119.xml"/><Relationship Id="rId40" Type="http://schemas.openxmlformats.org/officeDocument/2006/relationships/slideLayout" Target="../slideLayouts/slideLayout20.xml"/><Relationship Id="rId5" Type="http://schemas.openxmlformats.org/officeDocument/2006/relationships/tags" Target="../tags/tag87.xml"/><Relationship Id="rId15" Type="http://schemas.openxmlformats.org/officeDocument/2006/relationships/tags" Target="../tags/tag97.xml"/><Relationship Id="rId23" Type="http://schemas.openxmlformats.org/officeDocument/2006/relationships/tags" Target="../tags/tag105.xml"/><Relationship Id="rId28" Type="http://schemas.openxmlformats.org/officeDocument/2006/relationships/tags" Target="../tags/tag110.xml"/><Relationship Id="rId36" Type="http://schemas.openxmlformats.org/officeDocument/2006/relationships/tags" Target="../tags/tag118.xml"/><Relationship Id="rId10" Type="http://schemas.openxmlformats.org/officeDocument/2006/relationships/tags" Target="../tags/tag92.xml"/><Relationship Id="rId19" Type="http://schemas.openxmlformats.org/officeDocument/2006/relationships/tags" Target="../tags/tag101.xml"/><Relationship Id="rId31" Type="http://schemas.openxmlformats.org/officeDocument/2006/relationships/tags" Target="../tags/tag113.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 Id="rId22" Type="http://schemas.openxmlformats.org/officeDocument/2006/relationships/tags" Target="../tags/tag104.xml"/><Relationship Id="rId27" Type="http://schemas.openxmlformats.org/officeDocument/2006/relationships/tags" Target="../tags/tag109.xml"/><Relationship Id="rId30" Type="http://schemas.openxmlformats.org/officeDocument/2006/relationships/tags" Target="../tags/tag112.xml"/><Relationship Id="rId35" Type="http://schemas.openxmlformats.org/officeDocument/2006/relationships/tags" Target="../tags/tag117.xml"/><Relationship Id="rId8" Type="http://schemas.openxmlformats.org/officeDocument/2006/relationships/tags" Target="../tags/tag90.xml"/><Relationship Id="rId3" Type="http://schemas.openxmlformats.org/officeDocument/2006/relationships/tags" Target="../tags/tag85.xml"/><Relationship Id="rId12" Type="http://schemas.openxmlformats.org/officeDocument/2006/relationships/tags" Target="../tags/tag94.xml"/><Relationship Id="rId17" Type="http://schemas.openxmlformats.org/officeDocument/2006/relationships/tags" Target="../tags/tag99.xml"/><Relationship Id="rId25" Type="http://schemas.openxmlformats.org/officeDocument/2006/relationships/tags" Target="../tags/tag107.xml"/><Relationship Id="rId33" Type="http://schemas.openxmlformats.org/officeDocument/2006/relationships/tags" Target="../tags/tag115.xml"/><Relationship Id="rId38" Type="http://schemas.openxmlformats.org/officeDocument/2006/relationships/tags" Target="../tags/tag120.xml"/></Relationships>
</file>

<file path=ppt/slides/_rels/slide22.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notesSlide" Target="../notesSlides/notesSlide20.xml"/><Relationship Id="rId5" Type="http://schemas.openxmlformats.org/officeDocument/2006/relationships/slideLayout" Target="../slideLayouts/slideLayout15.xml"/><Relationship Id="rId4" Type="http://schemas.openxmlformats.org/officeDocument/2006/relationships/tags" Target="../tags/tag125.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128.xml"/><Relationship Id="rId7" Type="http://schemas.openxmlformats.org/officeDocument/2006/relationships/tags" Target="../tags/tag13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9"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notesSlide" Target="../notesSlides/notesSlide22.xml"/><Relationship Id="rId5" Type="http://schemas.openxmlformats.org/officeDocument/2006/relationships/slideLayout" Target="../slideLayouts/slideLayout15.xml"/><Relationship Id="rId4" Type="http://schemas.openxmlformats.org/officeDocument/2006/relationships/tags" Target="../tags/tag136.xml"/></Relationships>
</file>

<file path=ppt/slides/_rels/slide25.xml.rels><?xml version="1.0" encoding="UTF-8" standalone="yes"?>
<Relationships xmlns="http://schemas.openxmlformats.org/package/2006/relationships"><Relationship Id="rId3" Type="http://schemas.openxmlformats.org/officeDocument/2006/relationships/tags" Target="../tags/tag139.xml"/><Relationship Id="rId7" Type="http://schemas.openxmlformats.org/officeDocument/2006/relationships/notesSlide" Target="../notesSlides/notesSlide2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slideLayout" Target="../slideLayouts/slideLayout15.xml"/><Relationship Id="rId5" Type="http://schemas.openxmlformats.org/officeDocument/2006/relationships/tags" Target="../tags/tag141.xml"/><Relationship Id="rId4" Type="http://schemas.openxmlformats.org/officeDocument/2006/relationships/tags" Target="../tags/tag140.xml"/></Relationships>
</file>

<file path=ppt/slides/_rels/slide26.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tags" Target="../tags/tag154.xml"/><Relationship Id="rId18" Type="http://schemas.openxmlformats.org/officeDocument/2006/relationships/tags" Target="../tags/tag159.xml"/><Relationship Id="rId3" Type="http://schemas.openxmlformats.org/officeDocument/2006/relationships/tags" Target="../tags/tag144.xml"/><Relationship Id="rId21" Type="http://schemas.openxmlformats.org/officeDocument/2006/relationships/slideLayout" Target="../slideLayouts/slideLayout20.xml"/><Relationship Id="rId7" Type="http://schemas.openxmlformats.org/officeDocument/2006/relationships/tags" Target="../tags/tag148.xml"/><Relationship Id="rId12" Type="http://schemas.openxmlformats.org/officeDocument/2006/relationships/tags" Target="../tags/tag153.xml"/><Relationship Id="rId17" Type="http://schemas.openxmlformats.org/officeDocument/2006/relationships/tags" Target="../tags/tag158.xml"/><Relationship Id="rId2" Type="http://schemas.openxmlformats.org/officeDocument/2006/relationships/tags" Target="../tags/tag143.xml"/><Relationship Id="rId16" Type="http://schemas.openxmlformats.org/officeDocument/2006/relationships/tags" Target="../tags/tag157.xml"/><Relationship Id="rId20" Type="http://schemas.openxmlformats.org/officeDocument/2006/relationships/tags" Target="../tags/tag161.xml"/><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tags" Target="../tags/tag152.xml"/><Relationship Id="rId5" Type="http://schemas.openxmlformats.org/officeDocument/2006/relationships/tags" Target="../tags/tag146.xml"/><Relationship Id="rId15" Type="http://schemas.openxmlformats.org/officeDocument/2006/relationships/tags" Target="../tags/tag156.xml"/><Relationship Id="rId10" Type="http://schemas.openxmlformats.org/officeDocument/2006/relationships/tags" Target="../tags/tag151.xml"/><Relationship Id="rId19" Type="http://schemas.openxmlformats.org/officeDocument/2006/relationships/tags" Target="../tags/tag160.xml"/><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tags" Target="../tags/tag155.xml"/><Relationship Id="rId2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tags" Target="../tags/tag164.xml"/><Relationship Id="rId7" Type="http://schemas.openxmlformats.org/officeDocument/2006/relationships/notesSlide" Target="../notesSlides/notesSlide28.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slideLayout" Target="../slideLayouts/slideLayout2.xml"/><Relationship Id="rId5" Type="http://schemas.openxmlformats.org/officeDocument/2006/relationships/tags" Target="../tags/tag166.xml"/><Relationship Id="rId4" Type="http://schemas.openxmlformats.org/officeDocument/2006/relationships/tags" Target="../tags/tag165.xml"/></Relationships>
</file>

<file path=ppt/slides/_rels/slide31.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tags" Target="../tags/tag179.xml"/><Relationship Id="rId18" Type="http://schemas.openxmlformats.org/officeDocument/2006/relationships/tags" Target="../tags/tag184.xml"/><Relationship Id="rId3" Type="http://schemas.openxmlformats.org/officeDocument/2006/relationships/tags" Target="../tags/tag169.xml"/><Relationship Id="rId21" Type="http://schemas.openxmlformats.org/officeDocument/2006/relationships/notesSlide" Target="../notesSlides/notesSlide29.xml"/><Relationship Id="rId7" Type="http://schemas.openxmlformats.org/officeDocument/2006/relationships/tags" Target="../tags/tag173.xml"/><Relationship Id="rId12" Type="http://schemas.openxmlformats.org/officeDocument/2006/relationships/tags" Target="../tags/tag178.xml"/><Relationship Id="rId17" Type="http://schemas.openxmlformats.org/officeDocument/2006/relationships/tags" Target="../tags/tag183.xml"/><Relationship Id="rId2" Type="http://schemas.openxmlformats.org/officeDocument/2006/relationships/tags" Target="../tags/tag168.xml"/><Relationship Id="rId16" Type="http://schemas.openxmlformats.org/officeDocument/2006/relationships/tags" Target="../tags/tag182.xml"/><Relationship Id="rId20" Type="http://schemas.openxmlformats.org/officeDocument/2006/relationships/slideLayout" Target="../slideLayouts/slideLayout17.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5" Type="http://schemas.openxmlformats.org/officeDocument/2006/relationships/tags" Target="../tags/tag171.xml"/><Relationship Id="rId15" Type="http://schemas.openxmlformats.org/officeDocument/2006/relationships/tags" Target="../tags/tag181.xml"/><Relationship Id="rId10" Type="http://schemas.openxmlformats.org/officeDocument/2006/relationships/tags" Target="../tags/tag176.xml"/><Relationship Id="rId19" Type="http://schemas.openxmlformats.org/officeDocument/2006/relationships/tags" Target="../tags/tag185.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tags" Target="../tags/tag18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2.xml"/><Relationship Id="rId7" Type="http://schemas.openxmlformats.org/officeDocument/2006/relationships/image" Target="../media/image10.jpe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9.jpeg"/><Relationship Id="rId5" Type="http://schemas.openxmlformats.org/officeDocument/2006/relationships/hyperlink" Target="https://m.youtube.com/watch?v=ywx0JJD9huY" TargetMode="External"/><Relationship Id="rId4"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slideLayout" Target="../slideLayouts/slideLayout2.xml"/><Relationship Id="rId3" Type="http://schemas.openxmlformats.org/officeDocument/2006/relationships/tags" Target="../tags/tag190.xml"/><Relationship Id="rId21" Type="http://schemas.openxmlformats.org/officeDocument/2006/relationships/image" Target="../media/image12.svg"/><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tags" Target="../tags/tag204.xml"/><Relationship Id="rId25" Type="http://schemas.openxmlformats.org/officeDocument/2006/relationships/image" Target="../media/image14.jpeg"/><Relationship Id="rId2" Type="http://schemas.openxmlformats.org/officeDocument/2006/relationships/tags" Target="../tags/tag189.xml"/><Relationship Id="rId16" Type="http://schemas.openxmlformats.org/officeDocument/2006/relationships/tags" Target="../tags/tag203.xml"/><Relationship Id="rId20" Type="http://schemas.openxmlformats.org/officeDocument/2006/relationships/image" Target="../media/image6.svg"/><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24" Type="http://schemas.openxmlformats.org/officeDocument/2006/relationships/image" Target="../media/image13.svg"/><Relationship Id="rId5" Type="http://schemas.openxmlformats.org/officeDocument/2006/relationships/tags" Target="../tags/tag192.xml"/><Relationship Id="rId15" Type="http://schemas.openxmlformats.org/officeDocument/2006/relationships/tags" Target="../tags/tag202.xml"/><Relationship Id="rId23" Type="http://schemas.openxmlformats.org/officeDocument/2006/relationships/image" Target="../media/image9.jpeg"/><Relationship Id="rId10" Type="http://schemas.openxmlformats.org/officeDocument/2006/relationships/tags" Target="../tags/tag197.xml"/><Relationship Id="rId19" Type="http://schemas.openxmlformats.org/officeDocument/2006/relationships/notesSlide" Target="../notesSlides/notesSlide37.xml"/><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 Id="rId22" Type="http://schemas.openxmlformats.org/officeDocument/2006/relationships/image" Target="../media/image11.jpeg"/></Relationships>
</file>

<file path=ppt/slides/_rels/slide42.xml.rels><?xml version="1.0" encoding="UTF-8" standalone="yes"?>
<Relationships xmlns="http://schemas.openxmlformats.org/package/2006/relationships"><Relationship Id="rId13" Type="http://schemas.openxmlformats.org/officeDocument/2006/relationships/tags" Target="../tags/tag217.xml"/><Relationship Id="rId18" Type="http://schemas.openxmlformats.org/officeDocument/2006/relationships/tags" Target="../tags/tag222.xml"/><Relationship Id="rId26" Type="http://schemas.openxmlformats.org/officeDocument/2006/relationships/tags" Target="../tags/tag230.xml"/><Relationship Id="rId3" Type="http://schemas.openxmlformats.org/officeDocument/2006/relationships/tags" Target="../tags/tag207.xml"/><Relationship Id="rId21" Type="http://schemas.openxmlformats.org/officeDocument/2006/relationships/tags" Target="../tags/tag225.xml"/><Relationship Id="rId34" Type="http://schemas.openxmlformats.org/officeDocument/2006/relationships/slideLayout" Target="../slideLayouts/slideLayout7.xml"/><Relationship Id="rId7" Type="http://schemas.openxmlformats.org/officeDocument/2006/relationships/tags" Target="../tags/tag211.xml"/><Relationship Id="rId12" Type="http://schemas.openxmlformats.org/officeDocument/2006/relationships/tags" Target="../tags/tag216.xml"/><Relationship Id="rId17" Type="http://schemas.openxmlformats.org/officeDocument/2006/relationships/tags" Target="../tags/tag221.xml"/><Relationship Id="rId25" Type="http://schemas.openxmlformats.org/officeDocument/2006/relationships/tags" Target="../tags/tag229.xml"/><Relationship Id="rId33" Type="http://schemas.openxmlformats.org/officeDocument/2006/relationships/tags" Target="../tags/tag237.xml"/><Relationship Id="rId2" Type="http://schemas.openxmlformats.org/officeDocument/2006/relationships/tags" Target="../tags/tag206.xml"/><Relationship Id="rId16" Type="http://schemas.openxmlformats.org/officeDocument/2006/relationships/tags" Target="../tags/tag220.xml"/><Relationship Id="rId20" Type="http://schemas.openxmlformats.org/officeDocument/2006/relationships/tags" Target="../tags/tag224.xml"/><Relationship Id="rId29" Type="http://schemas.openxmlformats.org/officeDocument/2006/relationships/tags" Target="../tags/tag233.xml"/><Relationship Id="rId1" Type="http://schemas.openxmlformats.org/officeDocument/2006/relationships/tags" Target="../tags/tag205.xml"/><Relationship Id="rId6" Type="http://schemas.openxmlformats.org/officeDocument/2006/relationships/tags" Target="../tags/tag210.xml"/><Relationship Id="rId11" Type="http://schemas.openxmlformats.org/officeDocument/2006/relationships/tags" Target="../tags/tag215.xml"/><Relationship Id="rId24" Type="http://schemas.openxmlformats.org/officeDocument/2006/relationships/tags" Target="../tags/tag228.xml"/><Relationship Id="rId32" Type="http://schemas.openxmlformats.org/officeDocument/2006/relationships/tags" Target="../tags/tag236.xml"/><Relationship Id="rId5" Type="http://schemas.openxmlformats.org/officeDocument/2006/relationships/tags" Target="../tags/tag209.xml"/><Relationship Id="rId15" Type="http://schemas.openxmlformats.org/officeDocument/2006/relationships/tags" Target="../tags/tag219.xml"/><Relationship Id="rId23" Type="http://schemas.openxmlformats.org/officeDocument/2006/relationships/tags" Target="../tags/tag227.xml"/><Relationship Id="rId28" Type="http://schemas.openxmlformats.org/officeDocument/2006/relationships/tags" Target="../tags/tag232.xml"/><Relationship Id="rId10" Type="http://schemas.openxmlformats.org/officeDocument/2006/relationships/tags" Target="../tags/tag214.xml"/><Relationship Id="rId19" Type="http://schemas.openxmlformats.org/officeDocument/2006/relationships/tags" Target="../tags/tag223.xml"/><Relationship Id="rId31" Type="http://schemas.openxmlformats.org/officeDocument/2006/relationships/tags" Target="../tags/tag235.xml"/><Relationship Id="rId4" Type="http://schemas.openxmlformats.org/officeDocument/2006/relationships/tags" Target="../tags/tag208.xml"/><Relationship Id="rId9" Type="http://schemas.openxmlformats.org/officeDocument/2006/relationships/tags" Target="../tags/tag213.xml"/><Relationship Id="rId14" Type="http://schemas.openxmlformats.org/officeDocument/2006/relationships/tags" Target="../tags/tag218.xml"/><Relationship Id="rId22" Type="http://schemas.openxmlformats.org/officeDocument/2006/relationships/tags" Target="../tags/tag226.xml"/><Relationship Id="rId27" Type="http://schemas.openxmlformats.org/officeDocument/2006/relationships/tags" Target="../tags/tag231.xml"/><Relationship Id="rId30" Type="http://schemas.openxmlformats.org/officeDocument/2006/relationships/tags" Target="../tags/tag234.xml"/><Relationship Id="rId35" Type="http://schemas.openxmlformats.org/officeDocument/2006/relationships/notesSlide" Target="../notesSlides/notesSlide38.xml"/><Relationship Id="rId8" Type="http://schemas.openxmlformats.org/officeDocument/2006/relationships/tags" Target="../tags/tag212.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9.xml"/><Relationship Id="rId3" Type="http://schemas.openxmlformats.org/officeDocument/2006/relationships/tags" Target="../tags/tag240.xml"/><Relationship Id="rId7" Type="http://schemas.openxmlformats.org/officeDocument/2006/relationships/slideLayout" Target="../slideLayouts/slideLayout2.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5" Type="http://schemas.openxmlformats.org/officeDocument/2006/relationships/tags" Target="../tags/tag242.xml"/><Relationship Id="rId4" Type="http://schemas.openxmlformats.org/officeDocument/2006/relationships/tags" Target="../tags/tag241.xml"/></Relationships>
</file>

<file path=ppt/slides/_rels/slide44.xml.rels><?xml version="1.0" encoding="UTF-8" standalone="yes"?>
<Relationships xmlns="http://schemas.openxmlformats.org/package/2006/relationships"><Relationship Id="rId3" Type="http://schemas.openxmlformats.org/officeDocument/2006/relationships/tags" Target="../tags/tag246.xml"/><Relationship Id="rId7" Type="http://schemas.openxmlformats.org/officeDocument/2006/relationships/notesSlide" Target="../notesSlides/notesSlide4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slideLayout" Target="../slideLayouts/slideLayout2.xml"/><Relationship Id="rId5" Type="http://schemas.openxmlformats.org/officeDocument/2006/relationships/tags" Target="../tags/tag248.xml"/><Relationship Id="rId4" Type="http://schemas.openxmlformats.org/officeDocument/2006/relationships/tags" Target="../tags/tag247.xml"/></Relationships>
</file>

<file path=ppt/slides/_rels/slide45.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tags" Target="../tags/tag252.xml"/></Relationships>
</file>

<file path=ppt/slides/_rels/slide46.xml.rels><?xml version="1.0" encoding="UTF-8" standalone="yes"?>
<Relationships xmlns="http://schemas.openxmlformats.org/package/2006/relationships"><Relationship Id="rId3" Type="http://schemas.openxmlformats.org/officeDocument/2006/relationships/tags" Target="../tags/tag255.xml"/><Relationship Id="rId7" Type="http://schemas.openxmlformats.org/officeDocument/2006/relationships/notesSlide" Target="../notesSlides/notesSlide42.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slideLayout" Target="../slideLayouts/slideLayout13.xml"/><Relationship Id="rId5" Type="http://schemas.openxmlformats.org/officeDocument/2006/relationships/tags" Target="../tags/tag257.xml"/><Relationship Id="rId4" Type="http://schemas.openxmlformats.org/officeDocument/2006/relationships/tags" Target="../tags/tag256.xml"/></Relationships>
</file>

<file path=ppt/slides/_rels/slide47.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notesSlide" Target="../notesSlides/notesSlide43.xml"/><Relationship Id="rId4"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tags" Target="../tags/tag263.xml"/><Relationship Id="rId7" Type="http://schemas.openxmlformats.org/officeDocument/2006/relationships/notesSlide" Target="../notesSlides/notesSlide44.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slideLayout" Target="../slideLayouts/slideLayout15.xml"/><Relationship Id="rId5" Type="http://schemas.openxmlformats.org/officeDocument/2006/relationships/tags" Target="../tags/tag265.xml"/><Relationship Id="rId4" Type="http://schemas.openxmlformats.org/officeDocument/2006/relationships/tags" Target="../tags/tag264.xml"/></Relationships>
</file>

<file path=ppt/slides/_rels/slide49.xml.rels><?xml version="1.0" encoding="UTF-8" standalone="yes"?>
<Relationships xmlns="http://schemas.openxmlformats.org/package/2006/relationships"><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notesSlide" Target="../notesSlides/notesSlide45.xml"/><Relationship Id="rId5" Type="http://schemas.openxmlformats.org/officeDocument/2006/relationships/slideLayout" Target="../slideLayouts/slideLayout25.xml"/><Relationship Id="rId4" Type="http://schemas.openxmlformats.org/officeDocument/2006/relationships/tags" Target="../tags/tag269.xml"/></Relationships>
</file>

<file path=ppt/slides/_rels/slide50.xml.rels><?xml version="1.0" encoding="UTF-8" standalone="yes"?>
<Relationships xmlns="http://schemas.openxmlformats.org/package/2006/relationships"><Relationship Id="rId8" Type="http://schemas.openxmlformats.org/officeDocument/2006/relationships/tags" Target="../tags/tag277.xml"/><Relationship Id="rId13" Type="http://schemas.openxmlformats.org/officeDocument/2006/relationships/slideLayout" Target="../slideLayouts/slideLayout15.xml"/><Relationship Id="rId3" Type="http://schemas.openxmlformats.org/officeDocument/2006/relationships/tags" Target="../tags/tag272.xml"/><Relationship Id="rId7" Type="http://schemas.openxmlformats.org/officeDocument/2006/relationships/tags" Target="../tags/tag276.xml"/><Relationship Id="rId12" Type="http://schemas.openxmlformats.org/officeDocument/2006/relationships/tags" Target="../tags/tag281.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tags" Target="../tags/tag280.xml"/><Relationship Id="rId5" Type="http://schemas.openxmlformats.org/officeDocument/2006/relationships/tags" Target="../tags/tag274.xml"/><Relationship Id="rId10" Type="http://schemas.openxmlformats.org/officeDocument/2006/relationships/tags" Target="../tags/tag279.xml"/><Relationship Id="rId4" Type="http://schemas.openxmlformats.org/officeDocument/2006/relationships/tags" Target="../tags/tag273.xml"/><Relationship Id="rId9" Type="http://schemas.openxmlformats.org/officeDocument/2006/relationships/tags" Target="../tags/tag278.xml"/><Relationship Id="rId14"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18" Type="http://schemas.openxmlformats.org/officeDocument/2006/relationships/tags" Target="../tags/tag299.xml"/><Relationship Id="rId26" Type="http://schemas.openxmlformats.org/officeDocument/2006/relationships/slideLayout" Target="../slideLayouts/slideLayout15.xml"/><Relationship Id="rId3" Type="http://schemas.openxmlformats.org/officeDocument/2006/relationships/tags" Target="../tags/tag284.xml"/><Relationship Id="rId21" Type="http://schemas.openxmlformats.org/officeDocument/2006/relationships/tags" Target="../tags/tag302.xml"/><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tags" Target="../tags/tag298.xml"/><Relationship Id="rId25" Type="http://schemas.openxmlformats.org/officeDocument/2006/relationships/tags" Target="../tags/tag306.xml"/><Relationship Id="rId2" Type="http://schemas.openxmlformats.org/officeDocument/2006/relationships/tags" Target="../tags/tag283.xml"/><Relationship Id="rId16" Type="http://schemas.openxmlformats.org/officeDocument/2006/relationships/tags" Target="../tags/tag297.xml"/><Relationship Id="rId20" Type="http://schemas.openxmlformats.org/officeDocument/2006/relationships/tags" Target="../tags/tag301.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24" Type="http://schemas.openxmlformats.org/officeDocument/2006/relationships/tags" Target="../tags/tag305.xml"/><Relationship Id="rId5" Type="http://schemas.openxmlformats.org/officeDocument/2006/relationships/tags" Target="../tags/tag286.xml"/><Relationship Id="rId15" Type="http://schemas.openxmlformats.org/officeDocument/2006/relationships/tags" Target="../tags/tag296.xml"/><Relationship Id="rId23" Type="http://schemas.openxmlformats.org/officeDocument/2006/relationships/tags" Target="../tags/tag304.xml"/><Relationship Id="rId10" Type="http://schemas.openxmlformats.org/officeDocument/2006/relationships/tags" Target="../tags/tag291.xml"/><Relationship Id="rId19" Type="http://schemas.openxmlformats.org/officeDocument/2006/relationships/tags" Target="../tags/tag300.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 Id="rId22" Type="http://schemas.openxmlformats.org/officeDocument/2006/relationships/tags" Target="../tags/tag303.xml"/><Relationship Id="rId27"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3" Type="http://schemas.openxmlformats.org/officeDocument/2006/relationships/tags" Target="../tags/tag309.xml"/><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notesSlide" Target="../notesSlides/notesSlide48.xml"/><Relationship Id="rId5" Type="http://schemas.openxmlformats.org/officeDocument/2006/relationships/slideLayout" Target="../slideLayouts/slideLayout15.xml"/><Relationship Id="rId4" Type="http://schemas.openxmlformats.org/officeDocument/2006/relationships/tags" Target="../tags/tag310.xml"/></Relationships>
</file>

<file path=ppt/slides/_rels/slide53.xml.rels><?xml version="1.0" encoding="UTF-8" standalone="yes"?>
<Relationships xmlns="http://schemas.openxmlformats.org/package/2006/relationships"><Relationship Id="rId8" Type="http://schemas.openxmlformats.org/officeDocument/2006/relationships/tags" Target="../tags/tag318.xml"/><Relationship Id="rId13" Type="http://schemas.openxmlformats.org/officeDocument/2006/relationships/notesSlide" Target="../notesSlides/notesSlide49.xml"/><Relationship Id="rId3" Type="http://schemas.openxmlformats.org/officeDocument/2006/relationships/tags" Target="../tags/tag313.xml"/><Relationship Id="rId7" Type="http://schemas.openxmlformats.org/officeDocument/2006/relationships/tags" Target="../tags/tag317.xml"/><Relationship Id="rId12" Type="http://schemas.openxmlformats.org/officeDocument/2006/relationships/slideLayout" Target="../slideLayouts/slideLayout15.xml"/><Relationship Id="rId2" Type="http://schemas.openxmlformats.org/officeDocument/2006/relationships/tags" Target="../tags/tag312.xml"/><Relationship Id="rId1" Type="http://schemas.openxmlformats.org/officeDocument/2006/relationships/tags" Target="../tags/tag311.xml"/><Relationship Id="rId6" Type="http://schemas.openxmlformats.org/officeDocument/2006/relationships/tags" Target="../tags/tag316.xml"/><Relationship Id="rId11" Type="http://schemas.openxmlformats.org/officeDocument/2006/relationships/tags" Target="../tags/tag321.xml"/><Relationship Id="rId5" Type="http://schemas.openxmlformats.org/officeDocument/2006/relationships/tags" Target="../tags/tag315.xml"/><Relationship Id="rId10" Type="http://schemas.openxmlformats.org/officeDocument/2006/relationships/tags" Target="../tags/tag320.xml"/><Relationship Id="rId4" Type="http://schemas.openxmlformats.org/officeDocument/2006/relationships/tags" Target="../tags/tag314.xml"/><Relationship Id="rId9" Type="http://schemas.openxmlformats.org/officeDocument/2006/relationships/tags" Target="../tags/tag319.xml"/></Relationships>
</file>

<file path=ppt/slides/_rels/slide54.xml.rels><?xml version="1.0" encoding="UTF-8" standalone="yes"?>
<Relationships xmlns="http://schemas.openxmlformats.org/package/2006/relationships"><Relationship Id="rId3" Type="http://schemas.openxmlformats.org/officeDocument/2006/relationships/tags" Target="../tags/tag324.xml"/><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notesSlide" Target="../notesSlides/notesSlide50.xml"/><Relationship Id="rId5" Type="http://schemas.openxmlformats.org/officeDocument/2006/relationships/slideLayout" Target="../slideLayouts/slideLayout15.xml"/><Relationship Id="rId4" Type="http://schemas.openxmlformats.org/officeDocument/2006/relationships/tags" Target="../tags/tag3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841248" y="1380847"/>
            <a:ext cx="6270964" cy="1807054"/>
          </a:xfr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bodyPr>
          <a:lstStyle/>
          <a:p>
            <a:r>
              <a:rPr lang="en-US" sz="3800" dirty="0" err="1">
                <a:solidFill>
                  <a:schemeClr val="tx1"/>
                </a:solidFill>
                <a:latin typeface="+mj-lt"/>
                <a:ea typeface="+mj-ea"/>
                <a:cs typeface="+mj-cs"/>
              </a:rPr>
              <a:t>Comptabilité</a:t>
            </a:r>
            <a:r>
              <a:rPr lang="en-US" sz="3800" dirty="0">
                <a:solidFill>
                  <a:schemeClr val="tx1"/>
                </a:solidFill>
                <a:latin typeface="+mj-lt"/>
                <a:ea typeface="+mj-ea"/>
                <a:cs typeface="+mj-cs"/>
              </a:rPr>
              <a:t> de gestion</a:t>
            </a:r>
            <a:br>
              <a:rPr lang="en-US" sz="3800" dirty="0">
                <a:latin typeface="+mj-lt"/>
                <a:ea typeface="+mj-ea"/>
                <a:cs typeface="+mj-cs"/>
              </a:rPr>
            </a:br>
            <a:r>
              <a:rPr lang="en-US" sz="3800" dirty="0">
                <a:solidFill>
                  <a:schemeClr val="tx1"/>
                </a:solidFill>
                <a:latin typeface="+mj-lt"/>
                <a:ea typeface="+mj-ea"/>
                <a:cs typeface="+mj-cs"/>
              </a:rPr>
              <a:t>(10904)</a:t>
            </a:r>
            <a:br>
              <a:rPr lang="en-US" sz="3800" dirty="0">
                <a:latin typeface="+mj-lt"/>
                <a:ea typeface="+mj-ea"/>
                <a:cs typeface="+mj-cs"/>
              </a:rPr>
            </a:br>
            <a:r>
              <a:rPr lang="en-US" sz="3800" dirty="0">
                <a:solidFill>
                  <a:schemeClr val="tx1"/>
                </a:solidFill>
                <a:latin typeface="+mj-lt"/>
                <a:ea typeface="+mj-ea"/>
                <a:cs typeface="+mj-cs"/>
              </a:rPr>
              <a:t>Séance 5</a:t>
            </a:r>
          </a:p>
        </p:txBody>
      </p:sp>
      <p:sp>
        <p:nvSpPr>
          <p:cNvPr id="3" name="Sous-titre 2"/>
          <p:cNvSpPr>
            <a:spLocks noGrp="1"/>
          </p:cNvSpPr>
          <p:nvPr>
            <p:ph type="body" idx="1"/>
            <p:custDataLst>
              <p:tags r:id="rId2"/>
            </p:custDataLst>
          </p:nvPr>
        </p:nvSpPr>
        <p:spPr>
          <a:xfrm>
            <a:off x="841248" y="3194857"/>
            <a:ext cx="5808448" cy="911117"/>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rmAutofit/>
          </a:bodyPr>
          <a:lstStyle/>
          <a:p>
            <a:r>
              <a:rPr lang="en-US" sz="2000" dirty="0" err="1">
                <a:solidFill>
                  <a:schemeClr val="tx1"/>
                </a:solidFill>
              </a:rPr>
              <a:t>Département</a:t>
            </a:r>
            <a:r>
              <a:rPr lang="en-US" sz="2000" dirty="0">
                <a:solidFill>
                  <a:schemeClr val="tx1"/>
                </a:solidFill>
              </a:rPr>
              <a:t> de sciences </a:t>
            </a:r>
            <a:r>
              <a:rPr lang="en-US" sz="2000" dirty="0" err="1">
                <a:solidFill>
                  <a:schemeClr val="tx1"/>
                </a:solidFill>
              </a:rPr>
              <a:t>comptables</a:t>
            </a:r>
            <a:endParaRPr lang="en-US" sz="2000" dirty="0">
              <a:solidFill>
                <a:schemeClr val="tx1"/>
              </a:solidFill>
            </a:endParaRPr>
          </a:p>
          <a:p>
            <a:r>
              <a:rPr lang="en-US" sz="2000" dirty="0">
                <a:solidFill>
                  <a:schemeClr val="tx1"/>
                </a:solidFill>
              </a:rPr>
              <a:t>Année </a:t>
            </a:r>
            <a:r>
              <a:rPr lang="en-US" sz="2000" dirty="0" err="1">
                <a:solidFill>
                  <a:schemeClr val="tx1"/>
                </a:solidFill>
              </a:rPr>
              <a:t>universitaire</a:t>
            </a:r>
            <a:r>
              <a:rPr lang="en-US" sz="2000" dirty="0">
                <a:solidFill>
                  <a:schemeClr val="tx1"/>
                </a:solidFill>
              </a:rPr>
              <a:t> 2026-2027</a:t>
            </a:r>
            <a:endParaRPr lang="en-US" sz="2000" dirty="0">
              <a:solidFill>
                <a:schemeClr val="tx1"/>
              </a:solidFill>
              <a:cs typeface="Calibri"/>
            </a:endParaRPr>
          </a:p>
        </p:txBody>
      </p:sp>
      <p:sp>
        <p:nvSpPr>
          <p:cNvPr id="5" name="Espace réservé du numéro de diapositive 4"/>
          <p:cNvSpPr>
            <a:spLocks noGrp="1"/>
          </p:cNvSpPr>
          <p:nvPr>
            <p:ph type="sldNum" sz="quarter" idx="12"/>
            <p:custDataLst>
              <p:tags r:id="rId3"/>
            </p:custDataLst>
          </p:nvPr>
        </p:nvSpPr>
        <p:spPr>
          <a:xfrm>
            <a:off x="7112212" y="5623560"/>
            <a:ext cx="4241588" cy="365125"/>
          </a:xfrm>
        </p:spPr>
        <p:txBody>
          <a:bodyPr vert="horz" lIns="91440" tIns="45720" rIns="91440" bIns="45720" rtlCol="0" anchor="ctr">
            <a:normAutofit/>
          </a:bodyPr>
          <a:lstStyle/>
          <a:p>
            <a:pPr algn="r">
              <a:spcAft>
                <a:spcPts val="600"/>
              </a:spcAft>
              <a:defRPr/>
            </a:pPr>
            <a:fld id="{1F20FBA3-27E4-4E13-841E-B59ED0E8E620}" type="slidenum">
              <a:rPr lang="en-US">
                <a:solidFill>
                  <a:srgbClr val="FFFFFF">
                    <a:alpha val="80000"/>
                  </a:srgbClr>
                </a:solidFill>
                <a:latin typeface="Calibri" panose="020F0502020204030204"/>
              </a:rPr>
              <a:pPr algn="r">
                <a:spcAft>
                  <a:spcPts val="600"/>
                </a:spcAft>
                <a:defRPr/>
              </a:pPr>
              <a:t>1</a:t>
            </a:fld>
            <a:endParaRPr lang="en-US">
              <a:solidFill>
                <a:srgbClr val="FFFFFF">
                  <a:alpha val="80000"/>
                </a:srgbClr>
              </a:solidFill>
              <a:latin typeface="Calibri" panose="020F0502020204030204"/>
            </a:endParaRPr>
          </a:p>
        </p:txBody>
      </p:sp>
      <p:sp>
        <p:nvSpPr>
          <p:cNvPr id="7" name="Espace réservé du pied de page 6">
            <a:extLst>
              <a:ext uri="{FF2B5EF4-FFF2-40B4-BE49-F238E27FC236}">
                <a16:creationId xmlns:a16="http://schemas.microsoft.com/office/drawing/2014/main" id="{2373B49A-CC65-0F5A-09AC-2E6532EDBAC7}"/>
              </a:ext>
            </a:extLst>
          </p:cNvPr>
          <p:cNvSpPr>
            <a:spLocks noGrp="1"/>
          </p:cNvSpPr>
          <p:nvPr>
            <p:ph type="ftr" sz="quarter" idx="11"/>
            <p:custDataLst>
              <p:tags r:id="rId4"/>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91964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BE599E6-8DE8-E7CB-F9D9-592F2E2B42EE}"/>
              </a:ext>
            </a:extLst>
          </p:cNvPr>
          <p:cNvSpPr txBox="1"/>
          <p:nvPr>
            <p:custDataLst>
              <p:tags r:id="rId1"/>
            </p:custDataLst>
          </p:nvPr>
        </p:nvSpPr>
        <p:spPr>
          <a:xfrm>
            <a:off x="128752" y="757320"/>
            <a:ext cx="4603531" cy="5432256"/>
          </a:xfrm>
          <a:prstGeom prst="rect">
            <a:avLst/>
          </a:prstGeom>
          <a:noFill/>
        </p:spPr>
        <p:txBody>
          <a:bodyPr wrap="square" rtlCol="0">
            <a:spAutoFit/>
          </a:bodyPr>
          <a:lstStyle/>
          <a:p>
            <a:r>
              <a:rPr lang="fr-CA" b="1" u="sng" dirty="0"/>
              <a:t>Diriger (analyse d’aide à la prise de décision)</a:t>
            </a:r>
          </a:p>
          <a:p>
            <a:endParaRPr lang="fr-CA" u="sng" dirty="0"/>
          </a:p>
          <a:p>
            <a:r>
              <a:rPr lang="fr-CA" dirty="0">
                <a:solidFill>
                  <a:schemeClr val="bg1">
                    <a:lumMod val="85000"/>
                  </a:schemeClr>
                </a:solidFill>
              </a:rPr>
              <a:t>(S02) L’analyse coût-volume-résultat (CVR)</a:t>
            </a:r>
          </a:p>
          <a:p>
            <a:pPr>
              <a:spcAft>
                <a:spcPts val="600"/>
              </a:spcAft>
            </a:pPr>
            <a:r>
              <a:rPr lang="fr-CA" dirty="0">
                <a:solidFill>
                  <a:schemeClr val="bg1">
                    <a:lumMod val="85000"/>
                  </a:schemeClr>
                </a:solidFill>
              </a:rPr>
              <a:t>(S03-S04) L’analyse différentielle : </a:t>
            </a:r>
            <a:r>
              <a:rPr lang="fr-CA" i="1" dirty="0">
                <a:solidFill>
                  <a:schemeClr val="bg1">
                    <a:lumMod val="85000"/>
                  </a:schemeClr>
                </a:solidFill>
              </a:rPr>
              <a:t>Exemples  de décisions d’exploitation:</a:t>
            </a:r>
          </a:p>
          <a:p>
            <a:pPr marL="742950" lvl="1" indent="-285750">
              <a:buFontTx/>
              <a:buChar char="-"/>
            </a:pPr>
            <a:r>
              <a:rPr lang="fr-CA" dirty="0">
                <a:solidFill>
                  <a:schemeClr val="bg1">
                    <a:lumMod val="85000"/>
                  </a:schemeClr>
                </a:solidFill>
              </a:rPr>
              <a:t>Commande spéciale</a:t>
            </a:r>
          </a:p>
          <a:p>
            <a:pPr marL="742950" lvl="1" indent="-285750">
              <a:buFontTx/>
              <a:buChar char="-"/>
            </a:pPr>
            <a:r>
              <a:rPr lang="fr-CA" dirty="0">
                <a:solidFill>
                  <a:schemeClr val="bg1">
                    <a:lumMod val="85000"/>
                  </a:schemeClr>
                </a:solidFill>
              </a:rPr>
              <a:t>Fabriquer ou sous-traiter un produit</a:t>
            </a:r>
          </a:p>
          <a:p>
            <a:pPr marL="742950" lvl="1" indent="-285750">
              <a:buFontTx/>
              <a:buChar char="-"/>
            </a:pPr>
            <a:r>
              <a:rPr lang="fr-CA" dirty="0">
                <a:solidFill>
                  <a:schemeClr val="bg1">
                    <a:lumMod val="85000"/>
                  </a:schemeClr>
                </a:solidFill>
              </a:rPr>
              <a:t>Continuer ou abandonner un produit</a:t>
            </a:r>
          </a:p>
          <a:p>
            <a:pPr marL="742950" lvl="1" indent="-285750">
              <a:buFontTx/>
              <a:buChar char="-"/>
            </a:pPr>
            <a:endParaRPr lang="fr-CA" dirty="0">
              <a:solidFill>
                <a:schemeClr val="bg1">
                  <a:lumMod val="85000"/>
                </a:schemeClr>
              </a:solidFill>
            </a:endParaRPr>
          </a:p>
          <a:p>
            <a:r>
              <a:rPr lang="fr-CA" dirty="0">
                <a:solidFill>
                  <a:schemeClr val="bg1">
                    <a:lumMod val="85000"/>
                  </a:schemeClr>
                </a:solidFill>
              </a:rPr>
              <a:t>(S04) L’analyse des marges : </a:t>
            </a:r>
            <a:r>
              <a:rPr lang="fr-CA" i="1" dirty="0">
                <a:solidFill>
                  <a:schemeClr val="bg1">
                    <a:lumMod val="85000"/>
                  </a:schemeClr>
                </a:solidFill>
              </a:rPr>
              <a:t>diagnostic financier</a:t>
            </a:r>
            <a:endParaRPr lang="fr-CA" b="1" dirty="0">
              <a:solidFill>
                <a:schemeClr val="bg1">
                  <a:lumMod val="85000"/>
                </a:schemeClr>
              </a:solidFill>
            </a:endParaRPr>
          </a:p>
          <a:p>
            <a:pPr marL="742950" lvl="1" indent="-285750">
              <a:buFontTx/>
              <a:buChar char="-"/>
            </a:pPr>
            <a:r>
              <a:rPr lang="fr-CA" dirty="0">
                <a:solidFill>
                  <a:schemeClr val="bg1">
                    <a:lumMod val="85000"/>
                  </a:schemeClr>
                </a:solidFill>
              </a:rPr>
              <a:t>Choisir parmi une gamme de produits</a:t>
            </a:r>
          </a:p>
          <a:p>
            <a:pPr marL="742950" lvl="1" indent="-285750">
              <a:buFontTx/>
              <a:buChar char="-"/>
            </a:pPr>
            <a:r>
              <a:rPr lang="fr-CA" dirty="0">
                <a:solidFill>
                  <a:schemeClr val="bg1">
                    <a:lumMod val="85000"/>
                  </a:schemeClr>
                </a:solidFill>
              </a:rPr>
              <a:t>Prises de décisions diverses</a:t>
            </a:r>
          </a:p>
          <a:p>
            <a:endParaRPr lang="fr-CA" b="1" dirty="0"/>
          </a:p>
          <a:p>
            <a:r>
              <a:rPr lang="fr-CA" b="1" dirty="0"/>
              <a:t>(S05) Analyser la rentabilité de chaque produit</a:t>
            </a:r>
          </a:p>
          <a:p>
            <a:r>
              <a:rPr lang="fr-CA" i="1" dirty="0"/>
              <a:t>Coût de fabrication unitaire</a:t>
            </a:r>
          </a:p>
          <a:p>
            <a:r>
              <a:rPr lang="fr-CA" dirty="0">
                <a:solidFill>
                  <a:srgbClr val="0070C0"/>
                </a:solidFill>
              </a:rPr>
              <a:t>L’imputation des frais généraux de fabrication (charges indirectes)</a:t>
            </a:r>
          </a:p>
          <a:p>
            <a:endParaRPr lang="fr-CA" dirty="0">
              <a:solidFill>
                <a:srgbClr val="0070C0"/>
              </a:solidFill>
            </a:endParaRPr>
          </a:p>
        </p:txBody>
      </p:sp>
      <p:sp>
        <p:nvSpPr>
          <p:cNvPr id="8" name="ZoneTexte 7">
            <a:extLst>
              <a:ext uri="{FF2B5EF4-FFF2-40B4-BE49-F238E27FC236}">
                <a16:creationId xmlns:a16="http://schemas.microsoft.com/office/drawing/2014/main" id="{279518F0-7F00-9EDE-A4A0-F575EEDA4DB9}"/>
              </a:ext>
            </a:extLst>
          </p:cNvPr>
          <p:cNvSpPr txBox="1"/>
          <p:nvPr>
            <p:custDataLst>
              <p:tags r:id="rId2"/>
            </p:custDataLst>
          </p:nvPr>
        </p:nvSpPr>
        <p:spPr>
          <a:xfrm>
            <a:off x="405309" y="161958"/>
            <a:ext cx="1229711" cy="553998"/>
          </a:xfrm>
          <a:prstGeom prst="rect">
            <a:avLst/>
          </a:prstGeom>
          <a:noFill/>
        </p:spPr>
        <p:txBody>
          <a:bodyPr wrap="square" rtlCol="0">
            <a:spAutoFit/>
          </a:bodyPr>
          <a:lstStyle/>
          <a:p>
            <a:r>
              <a:rPr lang="fr-CA" sz="3000">
                <a:ln w="0"/>
                <a:solidFill>
                  <a:srgbClr val="002060"/>
                </a:solidFill>
                <a:latin typeface="+mj-lt"/>
              </a:rPr>
              <a:t>S05</a:t>
            </a:r>
          </a:p>
        </p:txBody>
      </p:sp>
      <p:graphicFrame>
        <p:nvGraphicFramePr>
          <p:cNvPr id="9" name="Tableau 9">
            <a:extLst>
              <a:ext uri="{FF2B5EF4-FFF2-40B4-BE49-F238E27FC236}">
                <a16:creationId xmlns:a16="http://schemas.microsoft.com/office/drawing/2014/main" id="{34D84F34-291A-AA1D-A63B-256B20790B2B}"/>
              </a:ext>
            </a:extLst>
          </p:cNvPr>
          <p:cNvGraphicFramePr>
            <a:graphicFrameLocks noGrp="1"/>
          </p:cNvGraphicFramePr>
          <p:nvPr>
            <p:custDataLst>
              <p:tags r:id="rId3"/>
            </p:custDataLst>
          </p:nvPr>
        </p:nvGraphicFramePr>
        <p:xfrm>
          <a:off x="4732283" y="3574100"/>
          <a:ext cx="7233182" cy="2656840"/>
        </p:xfrm>
        <a:graphic>
          <a:graphicData uri="http://schemas.openxmlformats.org/drawingml/2006/table">
            <a:tbl>
              <a:tblPr firstRow="1" bandRow="1">
                <a:tableStyleId>{5940675A-B579-460E-94D1-54222C63F5DA}</a:tableStyleId>
              </a:tblPr>
              <a:tblGrid>
                <a:gridCol w="2437282">
                  <a:extLst>
                    <a:ext uri="{9D8B030D-6E8A-4147-A177-3AD203B41FA5}">
                      <a16:colId xmlns:a16="http://schemas.microsoft.com/office/drawing/2014/main" val="3498432828"/>
                    </a:ext>
                  </a:extLst>
                </a:gridCol>
                <a:gridCol w="2137721">
                  <a:extLst>
                    <a:ext uri="{9D8B030D-6E8A-4147-A177-3AD203B41FA5}">
                      <a16:colId xmlns:a16="http://schemas.microsoft.com/office/drawing/2014/main" val="555937702"/>
                    </a:ext>
                  </a:extLst>
                </a:gridCol>
                <a:gridCol w="2658179">
                  <a:extLst>
                    <a:ext uri="{9D8B030D-6E8A-4147-A177-3AD203B41FA5}">
                      <a16:colId xmlns:a16="http://schemas.microsoft.com/office/drawing/2014/main" val="155866701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u="sng" dirty="0"/>
                        <a:t>Méthodes pour la comptabilité de gestion</a:t>
                      </a:r>
                    </a:p>
                  </a:txBody>
                  <a:tcPr/>
                </a:tc>
                <a:tc>
                  <a:txBody>
                    <a:bodyPr/>
                    <a:lstStyle/>
                    <a:p>
                      <a:r>
                        <a:rPr lang="fr-CA" sz="1400" dirty="0"/>
                        <a:t>Classification des coûts</a:t>
                      </a:r>
                    </a:p>
                  </a:txBody>
                  <a:tcPr/>
                </a:tc>
                <a:tc>
                  <a:txBody>
                    <a:bodyPr/>
                    <a:lstStyle/>
                    <a:p>
                      <a:r>
                        <a:rPr lang="fr-CA" sz="1400"/>
                        <a:t>Types de marges calculées</a:t>
                      </a:r>
                    </a:p>
                  </a:txBody>
                  <a:tcPr/>
                </a:tc>
                <a:extLst>
                  <a:ext uri="{0D108BD9-81ED-4DB2-BD59-A6C34878D82A}">
                    <a16:rowId xmlns:a16="http://schemas.microsoft.com/office/drawing/2014/main" val="10258894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solidFill>
                            <a:schemeClr val="bg1">
                              <a:lumMod val="85000"/>
                            </a:schemeClr>
                          </a:solidFill>
                        </a:rPr>
                        <a:t>Méthode des coûts variables</a:t>
                      </a:r>
                    </a:p>
                  </a:txBody>
                  <a:tcPr/>
                </a:tc>
                <a:tc>
                  <a:txBody>
                    <a:bodyPr/>
                    <a:lstStyle/>
                    <a:p>
                      <a:r>
                        <a:rPr lang="fr-CA" sz="1400">
                          <a:solidFill>
                            <a:schemeClr val="bg1">
                              <a:lumMod val="85000"/>
                            </a:schemeClr>
                          </a:solidFill>
                        </a:rPr>
                        <a:t>Variables ou Fixes</a:t>
                      </a:r>
                    </a:p>
                  </a:txBody>
                  <a:tcPr/>
                </a:tc>
                <a:tc>
                  <a:txBody>
                    <a:bodyPr/>
                    <a:lstStyle/>
                    <a:p>
                      <a:r>
                        <a:rPr lang="fr-CA" sz="1400">
                          <a:solidFill>
                            <a:schemeClr val="bg1">
                              <a:lumMod val="85000"/>
                            </a:schemeClr>
                          </a:solidFill>
                        </a:rPr>
                        <a:t>Marge sur coûts variables (MCV)</a:t>
                      </a:r>
                    </a:p>
                    <a:p>
                      <a:r>
                        <a:rPr lang="fr-CA" sz="1400">
                          <a:solidFill>
                            <a:schemeClr val="bg1">
                              <a:lumMod val="85000"/>
                            </a:schemeClr>
                          </a:solidFill>
                        </a:rPr>
                        <a:t>Marge par facteur de production</a:t>
                      </a:r>
                    </a:p>
                  </a:txBody>
                  <a:tcPr/>
                </a:tc>
                <a:extLst>
                  <a:ext uri="{0D108BD9-81ED-4DB2-BD59-A6C34878D82A}">
                    <a16:rowId xmlns:a16="http://schemas.microsoft.com/office/drawing/2014/main" val="28118229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chemeClr val="bg1">
                              <a:lumMod val="85000"/>
                            </a:schemeClr>
                          </a:solidFill>
                        </a:rPr>
                        <a:t>Méthode des coûts spécifiques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solidFill>
                            <a:schemeClr val="bg1">
                              <a:lumMod val="85000"/>
                            </a:schemeClr>
                          </a:solidFill>
                        </a:rPr>
                        <a:t>Variables ou Fixes</a:t>
                      </a:r>
                    </a:p>
                    <a:p>
                      <a:r>
                        <a:rPr lang="fr-CA" sz="1400" dirty="0">
                          <a:solidFill>
                            <a:schemeClr val="bg1">
                              <a:lumMod val="85000"/>
                            </a:schemeClr>
                          </a:solidFill>
                        </a:rPr>
                        <a:t>Fixes : communs ou spécifiques</a:t>
                      </a:r>
                    </a:p>
                  </a:txBody>
                  <a:tcPr/>
                </a:tc>
                <a:tc>
                  <a:txBody>
                    <a:bodyPr/>
                    <a:lstStyle/>
                    <a:p>
                      <a:r>
                        <a:rPr lang="fr-CA" sz="1400">
                          <a:solidFill>
                            <a:schemeClr val="bg1">
                              <a:lumMod val="85000"/>
                            </a:schemeClr>
                          </a:solidFill>
                        </a:rPr>
                        <a:t>Marge sur coûts spécifiques</a:t>
                      </a:r>
                    </a:p>
                  </a:txBody>
                  <a:tcPr/>
                </a:tc>
                <a:extLst>
                  <a:ext uri="{0D108BD9-81ED-4DB2-BD59-A6C34878D82A}">
                    <a16:rowId xmlns:a16="http://schemas.microsoft.com/office/drawing/2014/main" val="37587089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solidFill>
                            <a:srgbClr val="0070C0"/>
                          </a:solidFill>
                        </a:rPr>
                        <a:t>Méthode des coûts complets </a:t>
                      </a:r>
                    </a:p>
                  </a:txBody>
                  <a:tcPr/>
                </a:tc>
                <a:tc>
                  <a:txBody>
                    <a:bodyPr/>
                    <a:lstStyle/>
                    <a:p>
                      <a:r>
                        <a:rPr lang="fr-CA" sz="1400">
                          <a:solidFill>
                            <a:srgbClr val="0070C0"/>
                          </a:solidFill>
                        </a:rPr>
                        <a:t>Coût de fabrication et </a:t>
                      </a:r>
                    </a:p>
                    <a:p>
                      <a:r>
                        <a:rPr lang="fr-CA" sz="1400">
                          <a:solidFill>
                            <a:srgbClr val="0070C0"/>
                          </a:solidFill>
                        </a:rPr>
                        <a:t>frais d’exploitation</a:t>
                      </a:r>
                    </a:p>
                  </a:txBody>
                  <a:tcPr/>
                </a:tc>
                <a:tc>
                  <a:txBody>
                    <a:bodyPr/>
                    <a:lstStyle/>
                    <a:p>
                      <a:r>
                        <a:rPr lang="fr-CA" sz="1400">
                          <a:solidFill>
                            <a:srgbClr val="0070C0"/>
                          </a:solidFill>
                        </a:rPr>
                        <a:t>Marge brute</a:t>
                      </a:r>
                    </a:p>
                  </a:txBody>
                  <a:tcPr/>
                </a:tc>
                <a:extLst>
                  <a:ext uri="{0D108BD9-81ED-4DB2-BD59-A6C34878D82A}">
                    <a16:rowId xmlns:a16="http://schemas.microsoft.com/office/drawing/2014/main" val="27987699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chemeClr val="bg1">
                              <a:lumMod val="85000"/>
                            </a:schemeClr>
                          </a:solidFill>
                        </a:rPr>
                        <a:t>Méthode des coûts standards </a:t>
                      </a:r>
                    </a:p>
                  </a:txBody>
                  <a:tcPr/>
                </a:tc>
                <a:tc>
                  <a:txBody>
                    <a:bodyPr/>
                    <a:lstStyle/>
                    <a:p>
                      <a:endParaRPr lang="fr-CA" sz="1400">
                        <a:solidFill>
                          <a:schemeClr val="bg1">
                            <a:lumMod val="85000"/>
                          </a:schemeClr>
                        </a:solidFill>
                      </a:endParaRPr>
                    </a:p>
                  </a:txBody>
                  <a:tcPr/>
                </a:tc>
                <a:tc>
                  <a:txBody>
                    <a:bodyPr/>
                    <a:lstStyle/>
                    <a:p>
                      <a:endParaRPr lang="fr-CA" sz="1400" dirty="0">
                        <a:solidFill>
                          <a:schemeClr val="bg1">
                            <a:lumMod val="85000"/>
                          </a:schemeClr>
                        </a:solidFill>
                      </a:endParaRPr>
                    </a:p>
                  </a:txBody>
                  <a:tcPr/>
                </a:tc>
                <a:extLst>
                  <a:ext uri="{0D108BD9-81ED-4DB2-BD59-A6C34878D82A}">
                    <a16:rowId xmlns:a16="http://schemas.microsoft.com/office/drawing/2014/main" val="2669136118"/>
                  </a:ext>
                </a:extLst>
              </a:tr>
            </a:tbl>
          </a:graphicData>
        </a:graphic>
      </p:graphicFrame>
      <p:sp>
        <p:nvSpPr>
          <p:cNvPr id="3" name="ZoneTexte 2">
            <a:extLst>
              <a:ext uri="{FF2B5EF4-FFF2-40B4-BE49-F238E27FC236}">
                <a16:creationId xmlns:a16="http://schemas.microsoft.com/office/drawing/2014/main" id="{BB0D1DA0-7EDD-7481-AAF3-A9D6E8F6AC93}"/>
              </a:ext>
            </a:extLst>
          </p:cNvPr>
          <p:cNvSpPr txBox="1"/>
          <p:nvPr>
            <p:custDataLst>
              <p:tags r:id="rId4"/>
            </p:custDataLst>
          </p:nvPr>
        </p:nvSpPr>
        <p:spPr>
          <a:xfrm>
            <a:off x="4732283" y="2102579"/>
            <a:ext cx="3085360" cy="984885"/>
          </a:xfrm>
          <a:prstGeom prst="rect">
            <a:avLst/>
          </a:prstGeom>
          <a:ln w="38100"/>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CA" sz="2400" b="1" dirty="0"/>
              <a:t>Rentabilité </a:t>
            </a:r>
          </a:p>
          <a:p>
            <a:pPr algn="ctr"/>
            <a:r>
              <a:rPr lang="fr-CA" b="1" dirty="0"/>
              <a:t>par produit</a:t>
            </a:r>
          </a:p>
          <a:p>
            <a:pPr algn="ctr"/>
            <a:r>
              <a:rPr lang="fr-CA" sz="1600" i="1" dirty="0"/>
              <a:t>(unitaire)</a:t>
            </a:r>
          </a:p>
        </p:txBody>
      </p:sp>
      <p:sp>
        <p:nvSpPr>
          <p:cNvPr id="2" name="ZoneTexte 1">
            <a:extLst>
              <a:ext uri="{FF2B5EF4-FFF2-40B4-BE49-F238E27FC236}">
                <a16:creationId xmlns:a16="http://schemas.microsoft.com/office/drawing/2014/main" id="{1041BE7A-85C6-D8A0-E91F-3C086D887DE7}"/>
              </a:ext>
            </a:extLst>
          </p:cNvPr>
          <p:cNvSpPr txBox="1"/>
          <p:nvPr>
            <p:custDataLst>
              <p:tags r:id="rId5"/>
            </p:custDataLst>
          </p:nvPr>
        </p:nvSpPr>
        <p:spPr>
          <a:xfrm>
            <a:off x="8274833" y="258901"/>
            <a:ext cx="3828393" cy="2893100"/>
          </a:xfrm>
          <a:prstGeom prst="rect">
            <a:avLst/>
          </a:prstGeom>
          <a:noFill/>
        </p:spPr>
        <p:txBody>
          <a:bodyPr wrap="square" rtlCol="0">
            <a:spAutoFit/>
          </a:bodyPr>
          <a:lstStyle/>
          <a:p>
            <a:pPr>
              <a:spcAft>
                <a:spcPts val="600"/>
              </a:spcAft>
            </a:pPr>
            <a:r>
              <a:rPr lang="fr-CA" b="1" dirty="0">
                <a:solidFill>
                  <a:schemeClr val="bg1">
                    <a:lumMod val="85000"/>
                  </a:schemeClr>
                </a:solidFill>
              </a:rPr>
              <a:t>(S06) Contrôler</a:t>
            </a:r>
            <a:r>
              <a:rPr lang="fr-CA" dirty="0">
                <a:solidFill>
                  <a:schemeClr val="bg1">
                    <a:lumMod val="85000"/>
                  </a:schemeClr>
                </a:solidFill>
              </a:rPr>
              <a:t> la rentabilité dans l’entreprise manufacturière</a:t>
            </a:r>
          </a:p>
          <a:p>
            <a:pPr marL="285750" indent="-180000">
              <a:spcAft>
                <a:spcPts val="600"/>
              </a:spcAft>
              <a:buFont typeface="Arial" panose="020B0604020202020204" pitchFamily="34" charset="0"/>
              <a:buChar char="•"/>
            </a:pPr>
            <a:r>
              <a:rPr lang="fr-CA" i="1" dirty="0">
                <a:solidFill>
                  <a:schemeClr val="bg1">
                    <a:lumMod val="85000"/>
                  </a:schemeClr>
                </a:solidFill>
              </a:rPr>
              <a:t>État des résultats réels </a:t>
            </a:r>
            <a:r>
              <a:rPr lang="fr-CA" dirty="0">
                <a:solidFill>
                  <a:schemeClr val="bg1">
                    <a:lumMod val="85000"/>
                  </a:schemeClr>
                </a:solidFill>
              </a:rPr>
              <a:t>(État du coût de fabrication)</a:t>
            </a:r>
          </a:p>
          <a:p>
            <a:pPr>
              <a:spcAft>
                <a:spcPts val="600"/>
              </a:spcAft>
            </a:pPr>
            <a:r>
              <a:rPr lang="fr-CA" b="1" dirty="0">
                <a:solidFill>
                  <a:schemeClr val="bg1">
                    <a:lumMod val="85000"/>
                  </a:schemeClr>
                </a:solidFill>
              </a:rPr>
              <a:t>(S08-S09) Planification </a:t>
            </a:r>
          </a:p>
          <a:p>
            <a:pPr>
              <a:spcAft>
                <a:spcPts val="600"/>
              </a:spcAft>
            </a:pPr>
            <a:r>
              <a:rPr lang="fr-CA" i="1" dirty="0">
                <a:solidFill>
                  <a:schemeClr val="bg1">
                    <a:lumMod val="85000"/>
                  </a:schemeClr>
                </a:solidFill>
              </a:rPr>
              <a:t>Établir des prévisions</a:t>
            </a:r>
          </a:p>
          <a:p>
            <a:r>
              <a:rPr lang="fr-CA" b="1" dirty="0">
                <a:solidFill>
                  <a:schemeClr val="bg1">
                    <a:lumMod val="85000"/>
                  </a:schemeClr>
                </a:solidFill>
              </a:rPr>
              <a:t>(S10-S11) Contrôle </a:t>
            </a:r>
          </a:p>
          <a:p>
            <a:r>
              <a:rPr lang="fr-CA" i="1" dirty="0">
                <a:solidFill>
                  <a:schemeClr val="bg1">
                    <a:lumMod val="85000"/>
                  </a:schemeClr>
                </a:solidFill>
              </a:rPr>
              <a:t>Mesurer la performance et </a:t>
            </a:r>
          </a:p>
          <a:p>
            <a:r>
              <a:rPr lang="fr-CA" i="1" dirty="0">
                <a:solidFill>
                  <a:schemeClr val="bg1">
                    <a:lumMod val="85000"/>
                  </a:schemeClr>
                </a:solidFill>
              </a:rPr>
              <a:t>calculer les écarts</a:t>
            </a:r>
          </a:p>
        </p:txBody>
      </p:sp>
      <p:sp>
        <p:nvSpPr>
          <p:cNvPr id="6" name="Espace réservé du numéro de diapositive 5">
            <a:extLst>
              <a:ext uri="{FF2B5EF4-FFF2-40B4-BE49-F238E27FC236}">
                <a16:creationId xmlns:a16="http://schemas.microsoft.com/office/drawing/2014/main" id="{33589315-7485-A4D3-0ABA-76FB6A5FD306}"/>
              </a:ext>
            </a:extLst>
          </p:cNvPr>
          <p:cNvSpPr>
            <a:spLocks noGrp="1"/>
          </p:cNvSpPr>
          <p:nvPr>
            <p:ph type="sldNum" sz="quarter" idx="12"/>
            <p:custDataLst>
              <p:tags r:id="rId6"/>
            </p:custDataLst>
          </p:nvPr>
        </p:nvSpPr>
        <p:spPr/>
        <p:txBody>
          <a:bodyPr/>
          <a:lstStyle/>
          <a:p>
            <a:fld id="{1F20FBA3-27E4-4E13-841E-B59ED0E8E620}" type="slidenum">
              <a:rPr lang="fr-CA" smtClean="0">
                <a:solidFill>
                  <a:prstClr val="black">
                    <a:tint val="75000"/>
                  </a:prstClr>
                </a:solidFill>
              </a:rPr>
              <a:pPr/>
              <a:t>2</a:t>
            </a:fld>
            <a:endParaRPr lang="fr-CA" dirty="0">
              <a:solidFill>
                <a:prstClr val="black">
                  <a:tint val="75000"/>
                </a:prstClr>
              </a:solidFill>
            </a:endParaRPr>
          </a:p>
        </p:txBody>
      </p:sp>
      <p:sp>
        <p:nvSpPr>
          <p:cNvPr id="7" name="Espace réservé du pied de page 6">
            <a:extLst>
              <a:ext uri="{FF2B5EF4-FFF2-40B4-BE49-F238E27FC236}">
                <a16:creationId xmlns:a16="http://schemas.microsoft.com/office/drawing/2014/main" id="{C1BEFBC0-0BAD-BA12-BDFA-D4217667785C}"/>
              </a:ext>
            </a:extLst>
          </p:cNvPr>
          <p:cNvSpPr>
            <a:spLocks noGrp="1"/>
          </p:cNvSpPr>
          <p:nvPr>
            <p:ph type="ftr" sz="quarter" idx="11"/>
            <p:custDataLst>
              <p:tags r:id="rId7"/>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76427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0AE3E-D9F1-4CC1-DD0F-9F9DA74ACF4A}"/>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BA9E861-93EC-41AC-3D37-CA5CF52F74C1}"/>
              </a:ext>
            </a:extLst>
          </p:cNvPr>
          <p:cNvSpPr>
            <a:spLocks noGrp="1"/>
          </p:cNvSpPr>
          <p:nvPr>
            <p:ph type="body" idx="1"/>
            <p:custDataLst>
              <p:tags r:id="rId1"/>
            </p:custDataLst>
          </p:nvPr>
        </p:nvSpPr>
        <p:spPr>
          <a:xfrm>
            <a:off x="553697" y="1521923"/>
            <a:ext cx="5157787" cy="471331"/>
          </a:xfrm>
        </p:spPr>
        <p:txBody>
          <a:bodyPr>
            <a:normAutofit fontScale="92500"/>
          </a:bodyPr>
          <a:lstStyle/>
          <a:p>
            <a:r>
              <a:rPr lang="fr-CA" dirty="0"/>
              <a:t>Prise de décisions court terme (S02-S04)</a:t>
            </a:r>
          </a:p>
        </p:txBody>
      </p:sp>
      <p:sp>
        <p:nvSpPr>
          <p:cNvPr id="3" name="Espace réservé du contenu 2">
            <a:extLst>
              <a:ext uri="{FF2B5EF4-FFF2-40B4-BE49-F238E27FC236}">
                <a16:creationId xmlns:a16="http://schemas.microsoft.com/office/drawing/2014/main" id="{6F4F0778-26EB-7159-164A-E4C7DBFAF053}"/>
              </a:ext>
            </a:extLst>
          </p:cNvPr>
          <p:cNvSpPr>
            <a:spLocks noGrp="1"/>
          </p:cNvSpPr>
          <p:nvPr>
            <p:ph sz="half" idx="2"/>
            <p:custDataLst>
              <p:tags r:id="rId2"/>
            </p:custDataLst>
          </p:nvPr>
        </p:nvSpPr>
        <p:spPr>
          <a:xfrm>
            <a:off x="553696" y="2245390"/>
            <a:ext cx="5157787" cy="4236441"/>
          </a:xfrm>
        </p:spPr>
        <p:txBody>
          <a:bodyPr>
            <a:normAutofit fontScale="92500" lnSpcReduction="20000"/>
          </a:bodyPr>
          <a:lstStyle/>
          <a:p>
            <a:pPr marL="0" indent="0" algn="ctr">
              <a:buNone/>
            </a:pPr>
            <a:r>
              <a:rPr lang="fr-CA" sz="2400" u="sng" dirty="0"/>
              <a:t>Résultat d’exploitation</a:t>
            </a:r>
          </a:p>
          <a:p>
            <a:pPr marL="0" lvl="0" indent="0">
              <a:buNone/>
              <a:defRPr/>
            </a:pPr>
            <a:r>
              <a:rPr lang="fr-CA" sz="2000" dirty="0">
                <a:solidFill>
                  <a:prstClr val="black"/>
                </a:solidFill>
              </a:rPr>
              <a:t>Ventes (prix de vente x unités)</a:t>
            </a:r>
          </a:p>
          <a:p>
            <a:pPr marL="0" lvl="0" indent="0">
              <a:buNone/>
              <a:defRPr/>
            </a:pPr>
            <a:r>
              <a:rPr lang="fr-CA" sz="2000" dirty="0">
                <a:solidFill>
                  <a:prstClr val="black"/>
                </a:solidFill>
              </a:rPr>
              <a:t>(-) Coûts variables </a:t>
            </a:r>
          </a:p>
          <a:p>
            <a:pPr marL="457200" lvl="1" indent="0">
              <a:buNone/>
              <a:defRPr/>
            </a:pPr>
            <a:r>
              <a:rPr lang="fr-CA" sz="2000" dirty="0">
                <a:solidFill>
                  <a:prstClr val="black"/>
                </a:solidFill>
              </a:rPr>
              <a:t>MP        (Prix x Qté/u x unités)</a:t>
            </a:r>
          </a:p>
          <a:p>
            <a:pPr marL="457200" lvl="1" indent="0">
              <a:buNone/>
              <a:defRPr/>
            </a:pPr>
            <a:r>
              <a:rPr lang="fr-CA" sz="2000" dirty="0">
                <a:solidFill>
                  <a:prstClr val="black"/>
                </a:solidFill>
              </a:rPr>
              <a:t>MOD     (Taux x </a:t>
            </a:r>
            <a:r>
              <a:rPr lang="fr-CA" sz="2000" dirty="0" err="1">
                <a:solidFill>
                  <a:prstClr val="black"/>
                </a:solidFill>
              </a:rPr>
              <a:t>Hr</a:t>
            </a:r>
            <a:r>
              <a:rPr lang="fr-CA" sz="2000" dirty="0">
                <a:solidFill>
                  <a:prstClr val="black"/>
                </a:solidFill>
              </a:rPr>
              <a:t>/u x unités)</a:t>
            </a:r>
          </a:p>
          <a:p>
            <a:pPr marL="457200" lvl="1" indent="0">
              <a:buNone/>
              <a:defRPr/>
            </a:pPr>
            <a:r>
              <a:rPr lang="fr-CA" sz="2000" dirty="0">
                <a:solidFill>
                  <a:prstClr val="black"/>
                </a:solidFill>
              </a:rPr>
              <a:t>FGF var ($/un x unités)</a:t>
            </a:r>
          </a:p>
          <a:p>
            <a:pPr marL="457200" lvl="1" indent="0">
              <a:buNone/>
              <a:defRPr/>
            </a:pPr>
            <a:r>
              <a:rPr lang="fr-CA" sz="2000" u="sng" dirty="0">
                <a:solidFill>
                  <a:prstClr val="black"/>
                </a:solidFill>
              </a:rPr>
              <a:t>FV var   ($/un x unités) </a:t>
            </a:r>
          </a:p>
          <a:p>
            <a:pPr marL="0" lvl="0" indent="0">
              <a:buNone/>
              <a:defRPr/>
            </a:pPr>
            <a:r>
              <a:rPr lang="fr-CA" sz="2000" b="1" dirty="0">
                <a:solidFill>
                  <a:prstClr val="black"/>
                </a:solidFill>
              </a:rPr>
              <a:t>Marge sur les coûts variables totale (MCV) (MCV/un x unités)</a:t>
            </a:r>
          </a:p>
          <a:p>
            <a:pPr marL="0" lvl="0" indent="0">
              <a:buNone/>
              <a:defRPr/>
            </a:pPr>
            <a:r>
              <a:rPr lang="fr-CA" sz="2000" dirty="0">
                <a:solidFill>
                  <a:prstClr val="black"/>
                </a:solidFill>
              </a:rPr>
              <a:t>(-) Coûts fixes spécifiques (FGF, FVA)</a:t>
            </a:r>
          </a:p>
          <a:p>
            <a:pPr marL="0" lvl="0" indent="0">
              <a:buNone/>
              <a:defRPr/>
            </a:pPr>
            <a:r>
              <a:rPr lang="fr-CA" sz="2000" b="1" dirty="0">
                <a:solidFill>
                  <a:prstClr val="black"/>
                </a:solidFill>
              </a:rPr>
              <a:t>Marge sur coûts spécifiques</a:t>
            </a:r>
          </a:p>
          <a:p>
            <a:pPr marL="0" lvl="0" indent="0">
              <a:buNone/>
              <a:defRPr/>
            </a:pPr>
            <a:r>
              <a:rPr lang="fr-CA" sz="2000" u="sng" dirty="0">
                <a:solidFill>
                  <a:prstClr val="black"/>
                </a:solidFill>
              </a:rPr>
              <a:t>(-) Coûts fixes communs (FGF, FVA)</a:t>
            </a:r>
          </a:p>
          <a:p>
            <a:pPr marL="0" lvl="0" indent="0">
              <a:buNone/>
              <a:defRPr/>
            </a:pPr>
            <a:r>
              <a:rPr lang="fr-CA" sz="2000" b="1" dirty="0">
                <a:solidFill>
                  <a:prstClr val="black"/>
                </a:solidFill>
              </a:rPr>
              <a:t>Résultat d’exploitation</a:t>
            </a:r>
            <a:endParaRPr lang="fr-CA" dirty="0"/>
          </a:p>
        </p:txBody>
      </p:sp>
      <p:sp>
        <p:nvSpPr>
          <p:cNvPr id="6" name="Titre 5">
            <a:extLst>
              <a:ext uri="{FF2B5EF4-FFF2-40B4-BE49-F238E27FC236}">
                <a16:creationId xmlns:a16="http://schemas.microsoft.com/office/drawing/2014/main" id="{89B53277-B303-E82B-401E-69797DA549FE}"/>
              </a:ext>
            </a:extLst>
          </p:cNvPr>
          <p:cNvSpPr>
            <a:spLocks noGrp="1"/>
          </p:cNvSpPr>
          <p:nvPr>
            <p:ph type="title"/>
            <p:custDataLst>
              <p:tags r:id="rId3"/>
            </p:custDataLst>
          </p:nvPr>
        </p:nvSpPr>
        <p:spPr/>
        <p:txBody>
          <a:bodyPr/>
          <a:lstStyle/>
          <a:p>
            <a:r>
              <a:rPr lang="fr-CA" dirty="0"/>
              <a:t>La classification des coûts (étudiants)</a:t>
            </a:r>
          </a:p>
        </p:txBody>
      </p:sp>
      <p:sp>
        <p:nvSpPr>
          <p:cNvPr id="8" name="Espace réservé du numéro de diapositive 7">
            <a:extLst>
              <a:ext uri="{FF2B5EF4-FFF2-40B4-BE49-F238E27FC236}">
                <a16:creationId xmlns:a16="http://schemas.microsoft.com/office/drawing/2014/main" id="{E9AD8FCB-2205-2D10-6CAC-76B66E84ADEB}"/>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3</a:t>
            </a:fld>
            <a:endParaRPr lang="fr-CA" dirty="0">
              <a:solidFill>
                <a:prstClr val="black">
                  <a:tint val="75000"/>
                </a:prstClr>
              </a:solidFill>
            </a:endParaRPr>
          </a:p>
        </p:txBody>
      </p:sp>
      <p:sp>
        <p:nvSpPr>
          <p:cNvPr id="7" name="Espace réservé du pied de page 6">
            <a:extLst>
              <a:ext uri="{FF2B5EF4-FFF2-40B4-BE49-F238E27FC236}">
                <a16:creationId xmlns:a16="http://schemas.microsoft.com/office/drawing/2014/main" id="{F068E01E-AE62-4E69-4017-0D3A25B988A5}"/>
              </a:ext>
            </a:extLst>
          </p:cNvPr>
          <p:cNvSpPr>
            <a:spLocks noGrp="1"/>
          </p:cNvSpPr>
          <p:nvPr>
            <p:ph type="ftr" sz="quarter" idx="11"/>
            <p:custDataLst>
              <p:tags r:id="rId5"/>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14" name="Espace réservé du texte 13">
            <a:extLst>
              <a:ext uri="{FF2B5EF4-FFF2-40B4-BE49-F238E27FC236}">
                <a16:creationId xmlns:a16="http://schemas.microsoft.com/office/drawing/2014/main" id="{CD1C0C74-AC93-46E8-FE6A-8819B82EAE55}"/>
              </a:ext>
            </a:extLst>
          </p:cNvPr>
          <p:cNvSpPr>
            <a:spLocks noGrp="1"/>
          </p:cNvSpPr>
          <p:nvPr>
            <p:ph type="body" sz="quarter" idx="3"/>
          </p:nvPr>
        </p:nvSpPr>
        <p:spPr>
          <a:xfrm>
            <a:off x="6172199" y="1531869"/>
            <a:ext cx="5466103" cy="471331"/>
          </a:xfrm>
        </p:spPr>
        <p:txBody>
          <a:bodyPr>
            <a:noAutofit/>
          </a:bodyPr>
          <a:lstStyle/>
          <a:p>
            <a:r>
              <a:rPr lang="fr-CA" sz="2200" dirty="0"/>
              <a:t>Coût de fabrication d’un produit S01 rappel</a:t>
            </a:r>
          </a:p>
        </p:txBody>
      </p:sp>
      <p:sp>
        <p:nvSpPr>
          <p:cNvPr id="17" name="Espace réservé du contenu 2">
            <a:extLst>
              <a:ext uri="{FF2B5EF4-FFF2-40B4-BE49-F238E27FC236}">
                <a16:creationId xmlns:a16="http://schemas.microsoft.com/office/drawing/2014/main" id="{B5B12AC6-B4F4-DA01-483E-0F110EA213ED}"/>
              </a:ext>
            </a:extLst>
          </p:cNvPr>
          <p:cNvSpPr txBox="1">
            <a:spLocks/>
          </p:cNvSpPr>
          <p:nvPr>
            <p:custDataLst>
              <p:tags r:id="rId6"/>
            </p:custDataLst>
          </p:nvPr>
        </p:nvSpPr>
        <p:spPr>
          <a:xfrm>
            <a:off x="6096000" y="2003200"/>
            <a:ext cx="5157787" cy="4344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CA" sz="2400" u="sng" dirty="0"/>
              <a:t>Classification des coûts</a:t>
            </a:r>
          </a:p>
          <a:p>
            <a:endParaRPr lang="fr-CA" dirty="0"/>
          </a:p>
        </p:txBody>
      </p:sp>
    </p:spTree>
    <p:extLst>
      <p:ext uri="{BB962C8B-B14F-4D97-AF65-F5344CB8AC3E}">
        <p14:creationId xmlns:p14="http://schemas.microsoft.com/office/powerpoint/2010/main" val="2808864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A969-7B94-B00E-1CD8-993B855FA0F9}"/>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BE99214-17C8-3C1A-2904-06889458AD01}"/>
              </a:ext>
            </a:extLst>
          </p:cNvPr>
          <p:cNvSpPr>
            <a:spLocks noGrp="1"/>
          </p:cNvSpPr>
          <p:nvPr>
            <p:ph type="body" idx="1"/>
            <p:custDataLst>
              <p:tags r:id="rId1"/>
            </p:custDataLst>
          </p:nvPr>
        </p:nvSpPr>
        <p:spPr>
          <a:xfrm>
            <a:off x="553697" y="1521923"/>
            <a:ext cx="5157787" cy="471331"/>
          </a:xfrm>
        </p:spPr>
        <p:txBody>
          <a:bodyPr>
            <a:normAutofit fontScale="92500"/>
          </a:bodyPr>
          <a:lstStyle/>
          <a:p>
            <a:r>
              <a:rPr lang="fr-CA" dirty="0"/>
              <a:t>Prise de décisions court terme (S02-S04)</a:t>
            </a:r>
          </a:p>
        </p:txBody>
      </p:sp>
      <p:sp>
        <p:nvSpPr>
          <p:cNvPr id="6" name="Titre 5">
            <a:extLst>
              <a:ext uri="{FF2B5EF4-FFF2-40B4-BE49-F238E27FC236}">
                <a16:creationId xmlns:a16="http://schemas.microsoft.com/office/drawing/2014/main" id="{4D2E78C1-86B8-18B7-66BF-A58B3EFC16FE}"/>
              </a:ext>
            </a:extLst>
          </p:cNvPr>
          <p:cNvSpPr>
            <a:spLocks noGrp="1"/>
          </p:cNvSpPr>
          <p:nvPr>
            <p:ph type="title"/>
            <p:custDataLst>
              <p:tags r:id="rId2"/>
            </p:custDataLst>
          </p:nvPr>
        </p:nvSpPr>
        <p:spPr/>
        <p:txBody>
          <a:bodyPr/>
          <a:lstStyle/>
          <a:p>
            <a:r>
              <a:rPr lang="fr-CA" dirty="0"/>
              <a:t>La classification des coûts (enseignant)</a:t>
            </a:r>
          </a:p>
        </p:txBody>
      </p:sp>
      <p:sp>
        <p:nvSpPr>
          <p:cNvPr id="8" name="Espace réservé du numéro de diapositive 7">
            <a:extLst>
              <a:ext uri="{FF2B5EF4-FFF2-40B4-BE49-F238E27FC236}">
                <a16:creationId xmlns:a16="http://schemas.microsoft.com/office/drawing/2014/main" id="{9A7B0F88-52C6-5A97-7413-0C7C1EA2AE30}"/>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4</a:t>
            </a:fld>
            <a:endParaRPr lang="fr-CA" dirty="0">
              <a:solidFill>
                <a:prstClr val="black">
                  <a:tint val="75000"/>
                </a:prstClr>
              </a:solidFill>
            </a:endParaRPr>
          </a:p>
        </p:txBody>
      </p:sp>
      <p:sp>
        <p:nvSpPr>
          <p:cNvPr id="7" name="Espace réservé du pied de page 6">
            <a:extLst>
              <a:ext uri="{FF2B5EF4-FFF2-40B4-BE49-F238E27FC236}">
                <a16:creationId xmlns:a16="http://schemas.microsoft.com/office/drawing/2014/main" id="{82C59A3A-3792-3F69-9C24-74082FF999F9}"/>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14" name="Espace réservé du texte 13">
            <a:extLst>
              <a:ext uri="{FF2B5EF4-FFF2-40B4-BE49-F238E27FC236}">
                <a16:creationId xmlns:a16="http://schemas.microsoft.com/office/drawing/2014/main" id="{5BBB2DF0-2E19-CC4A-E2A8-9822AD382BD3}"/>
              </a:ext>
            </a:extLst>
          </p:cNvPr>
          <p:cNvSpPr>
            <a:spLocks noGrp="1"/>
          </p:cNvSpPr>
          <p:nvPr>
            <p:ph type="body" sz="quarter" idx="3"/>
          </p:nvPr>
        </p:nvSpPr>
        <p:spPr>
          <a:xfrm>
            <a:off x="6172200" y="1531869"/>
            <a:ext cx="5183188" cy="471331"/>
          </a:xfrm>
        </p:spPr>
        <p:txBody>
          <a:bodyPr>
            <a:noAutofit/>
          </a:bodyPr>
          <a:lstStyle/>
          <a:p>
            <a:r>
              <a:rPr lang="fr-CA" sz="2200" dirty="0"/>
              <a:t>Coût de fabrication d’un produit</a:t>
            </a:r>
          </a:p>
        </p:txBody>
      </p:sp>
      <p:sp>
        <p:nvSpPr>
          <p:cNvPr id="9" name="Espace réservé du contenu 8">
            <a:extLst>
              <a:ext uri="{FF2B5EF4-FFF2-40B4-BE49-F238E27FC236}">
                <a16:creationId xmlns:a16="http://schemas.microsoft.com/office/drawing/2014/main" id="{3BB79509-B3AA-194A-5A3C-B0E6DDCA9987}"/>
              </a:ext>
            </a:extLst>
          </p:cNvPr>
          <p:cNvSpPr>
            <a:spLocks noGrp="1"/>
          </p:cNvSpPr>
          <p:nvPr>
            <p:ph sz="half" idx="2"/>
          </p:nvPr>
        </p:nvSpPr>
        <p:spPr/>
        <p:txBody>
          <a:bodyPr/>
          <a:lstStyle/>
          <a:p>
            <a:r>
              <a:rPr lang="fr-CA" dirty="0"/>
              <a:t>                    </a:t>
            </a:r>
            <a:r>
              <a:rPr lang="fr-CA" u="sng" dirty="0"/>
              <a:t>Coût total</a:t>
            </a:r>
          </a:p>
          <a:p>
            <a:pPr marL="0" indent="0">
              <a:buNone/>
            </a:pPr>
            <a:endParaRPr lang="fr-CA" dirty="0"/>
          </a:p>
          <a:p>
            <a:pPr marL="0" indent="0">
              <a:buNone/>
            </a:pPr>
            <a:r>
              <a:rPr lang="fr-CA" dirty="0"/>
              <a:t>Coûts variables           Coûts fixes</a:t>
            </a:r>
          </a:p>
          <a:p>
            <a:pPr marL="0" indent="0">
              <a:buNone/>
            </a:pPr>
            <a:r>
              <a:rPr lang="fr-CA" dirty="0"/>
              <a:t>MP</a:t>
            </a:r>
          </a:p>
          <a:p>
            <a:pPr marL="0" indent="0">
              <a:buNone/>
            </a:pPr>
            <a:r>
              <a:rPr lang="fr-CA" dirty="0"/>
              <a:t>MOD</a:t>
            </a:r>
          </a:p>
          <a:p>
            <a:pPr marL="0" indent="0">
              <a:buNone/>
            </a:pPr>
            <a:r>
              <a:rPr lang="fr-CA" dirty="0"/>
              <a:t>FGF var                        FGF fixes</a:t>
            </a:r>
          </a:p>
          <a:p>
            <a:pPr marL="0" indent="0">
              <a:buNone/>
            </a:pPr>
            <a:r>
              <a:rPr lang="fr-CA" dirty="0"/>
              <a:t>FV var                          FVA fixes</a:t>
            </a:r>
          </a:p>
        </p:txBody>
      </p:sp>
      <p:cxnSp>
        <p:nvCxnSpPr>
          <p:cNvPr id="11" name="Connecteur droit avec flèche 10">
            <a:extLst>
              <a:ext uri="{FF2B5EF4-FFF2-40B4-BE49-F238E27FC236}">
                <a16:creationId xmlns:a16="http://schemas.microsoft.com/office/drawing/2014/main" id="{01AB4259-2F10-9F8F-D347-733289AEBD95}"/>
              </a:ext>
            </a:extLst>
          </p:cNvPr>
          <p:cNvCxnSpPr/>
          <p:nvPr/>
        </p:nvCxnSpPr>
        <p:spPr>
          <a:xfrm flipH="1">
            <a:off x="2616200" y="2806700"/>
            <a:ext cx="279400" cy="4699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2A95E407-244F-069D-C9AC-0D0D1CD73CA5}"/>
              </a:ext>
            </a:extLst>
          </p:cNvPr>
          <p:cNvCxnSpPr>
            <a:cxnSpLocks/>
          </p:cNvCxnSpPr>
          <p:nvPr/>
        </p:nvCxnSpPr>
        <p:spPr>
          <a:xfrm>
            <a:off x="3924300" y="2806700"/>
            <a:ext cx="317500" cy="4699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Espace réservé du contenu 8">
            <a:extLst>
              <a:ext uri="{FF2B5EF4-FFF2-40B4-BE49-F238E27FC236}">
                <a16:creationId xmlns:a16="http://schemas.microsoft.com/office/drawing/2014/main" id="{44621B64-2061-BDBF-1AE0-71C58FFAAA5B}"/>
              </a:ext>
            </a:extLst>
          </p:cNvPr>
          <p:cNvSpPr txBox="1">
            <a:spLocks/>
          </p:cNvSpPr>
          <p:nvPr/>
        </p:nvSpPr>
        <p:spPr>
          <a:xfrm>
            <a:off x="5997575" y="2260779"/>
            <a:ext cx="5157787" cy="39388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dirty="0"/>
              <a:t>                    </a:t>
            </a:r>
            <a:r>
              <a:rPr lang="fr-CA" u="sng" dirty="0"/>
              <a:t>Coût total</a:t>
            </a:r>
          </a:p>
          <a:p>
            <a:pPr marL="0" indent="0">
              <a:buFont typeface="Arial" panose="020B0604020202020204" pitchFamily="34" charset="0"/>
              <a:buNone/>
            </a:pPr>
            <a:endParaRPr lang="fr-CA" dirty="0"/>
          </a:p>
          <a:p>
            <a:pPr marL="0" indent="0">
              <a:buFont typeface="Arial" panose="020B0604020202020204" pitchFamily="34" charset="0"/>
              <a:buNone/>
            </a:pPr>
            <a:r>
              <a:rPr lang="fr-CA" u="sng" dirty="0"/>
              <a:t>Coût de fabrication</a:t>
            </a:r>
            <a:r>
              <a:rPr lang="fr-CA" dirty="0"/>
              <a:t>             FVA</a:t>
            </a:r>
          </a:p>
          <a:p>
            <a:pPr marL="0" indent="0">
              <a:buFont typeface="Arial" panose="020B0604020202020204" pitchFamily="34" charset="0"/>
              <a:buNone/>
            </a:pPr>
            <a:r>
              <a:rPr lang="fr-CA" dirty="0"/>
              <a:t>MP</a:t>
            </a:r>
          </a:p>
          <a:p>
            <a:pPr marL="0" indent="0">
              <a:buFont typeface="Arial" panose="020B0604020202020204" pitchFamily="34" charset="0"/>
              <a:buNone/>
            </a:pPr>
            <a:r>
              <a:rPr lang="fr-CA" dirty="0"/>
              <a:t>MOD</a:t>
            </a:r>
          </a:p>
          <a:p>
            <a:pPr marL="0" indent="0">
              <a:buFont typeface="Arial" panose="020B0604020202020204" pitchFamily="34" charset="0"/>
              <a:buNone/>
            </a:pPr>
            <a:r>
              <a:rPr lang="fr-CA" dirty="0"/>
              <a:t>FGF var                            FV variable</a:t>
            </a:r>
          </a:p>
          <a:p>
            <a:pPr marL="0" indent="0">
              <a:buFont typeface="Arial" panose="020B0604020202020204" pitchFamily="34" charset="0"/>
              <a:buNone/>
            </a:pPr>
            <a:r>
              <a:rPr lang="fr-CA" dirty="0"/>
              <a:t>FGF fixes                          FVA fixes</a:t>
            </a:r>
          </a:p>
        </p:txBody>
      </p:sp>
    </p:spTree>
    <p:extLst>
      <p:ext uri="{BB962C8B-B14F-4D97-AF65-F5344CB8AC3E}">
        <p14:creationId xmlns:p14="http://schemas.microsoft.com/office/powerpoint/2010/main" val="2577089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4F7C04F3-7CCE-184B-8FEF-62BA96BA43D7}"/>
              </a:ext>
            </a:extLst>
          </p:cNvPr>
          <p:cNvSpPr txBox="1"/>
          <p:nvPr>
            <p:custDataLst>
              <p:tags r:id="rId1"/>
            </p:custDataLst>
          </p:nvPr>
        </p:nvSpPr>
        <p:spPr>
          <a:xfrm>
            <a:off x="230312" y="349341"/>
            <a:ext cx="11731377" cy="707886"/>
          </a:xfrm>
          <a:prstGeom prst="rect">
            <a:avLst/>
          </a:prstGeom>
          <a:noFill/>
        </p:spPr>
        <p:txBody>
          <a:bodyPr wrap="square" lIns="91440" tIns="45720" rIns="91440" bIns="45720" rtlCol="0" anchor="t">
            <a:spAutoFit/>
          </a:bodyPr>
          <a:lstStyle/>
          <a:p>
            <a:pPr algn="ctr"/>
            <a:r>
              <a:rPr lang="fr-CA" sz="4000" dirty="0">
                <a:latin typeface="Calibri Light"/>
                <a:ea typeface="+mn-lt"/>
                <a:cs typeface="+mn-lt"/>
              </a:rPr>
              <a:t>Plan de la séance S05</a:t>
            </a:r>
          </a:p>
        </p:txBody>
      </p:sp>
      <p:sp>
        <p:nvSpPr>
          <p:cNvPr id="3" name="Espace réservé du numéro de diapositive 2">
            <a:extLst>
              <a:ext uri="{FF2B5EF4-FFF2-40B4-BE49-F238E27FC236}">
                <a16:creationId xmlns:a16="http://schemas.microsoft.com/office/drawing/2014/main" id="{4049EE67-9B58-43C9-B63C-35C88F9CF134}"/>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5</a:t>
            </a:fld>
            <a:endParaRPr lang="fr-CA">
              <a:solidFill>
                <a:prstClr val="black">
                  <a:tint val="75000"/>
                </a:prstClr>
              </a:solidFill>
            </a:endParaRPr>
          </a:p>
        </p:txBody>
      </p:sp>
      <p:sp>
        <p:nvSpPr>
          <p:cNvPr id="29" name="Shape 46488">
            <a:extLst>
              <a:ext uri="{FF2B5EF4-FFF2-40B4-BE49-F238E27FC236}">
                <a16:creationId xmlns:a16="http://schemas.microsoft.com/office/drawing/2014/main" id="{10812663-49DB-8544-A992-5B1029F73BD4}"/>
              </a:ext>
            </a:extLst>
          </p:cNvPr>
          <p:cNvSpPr>
            <a:spLocks/>
          </p:cNvSpPr>
          <p:nvPr>
            <p:custDataLst>
              <p:tags r:id="rId3"/>
            </p:custDataLst>
          </p:nvPr>
        </p:nvSpPr>
        <p:spPr>
          <a:xfrm rot="5400000" flipH="1">
            <a:off x="1957872" y="2560498"/>
            <a:ext cx="2224047" cy="2377690"/>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1"/>
          </a:lnRef>
          <a:fillRef idx="1">
            <a:schemeClr val="lt1"/>
          </a:fillRef>
          <a:effectRef idx="0">
            <a:schemeClr val="accent1"/>
          </a:effectRef>
          <a:fontRef idx="minor">
            <a:schemeClr val="dk1"/>
          </a:fontRef>
        </p:style>
        <p:txBody>
          <a:bodyPr vert="vert270" wrap="square" lIns="0" tIns="0" rIns="0" bIns="0" numCol="1" anchor="t">
            <a:noAutofit/>
          </a:bodyPr>
          <a:lstStyle/>
          <a:p>
            <a:pPr algn="ctr"/>
            <a:r>
              <a:rPr lang="fr-CA" sz="2279" dirty="0">
                <a:latin typeface="Lato Light" panose="020F0502020204030203" pitchFamily="34" charset="0"/>
              </a:rPr>
              <a:t>Définir le coût de fabrication unitaire dans un contexte d’imputation par centres de coûts</a:t>
            </a:r>
          </a:p>
        </p:txBody>
      </p:sp>
      <p:sp>
        <p:nvSpPr>
          <p:cNvPr id="25" name="Shape 46493">
            <a:extLst>
              <a:ext uri="{FF2B5EF4-FFF2-40B4-BE49-F238E27FC236}">
                <a16:creationId xmlns:a16="http://schemas.microsoft.com/office/drawing/2014/main" id="{FEE676C4-64DA-8045-83AB-D66EA1A9D4AC}"/>
              </a:ext>
            </a:extLst>
          </p:cNvPr>
          <p:cNvSpPr>
            <a:spLocks/>
          </p:cNvSpPr>
          <p:nvPr>
            <p:custDataLst>
              <p:tags r:id="rId4"/>
            </p:custDataLst>
          </p:nvPr>
        </p:nvSpPr>
        <p:spPr>
          <a:xfrm rot="5400000" flipH="1">
            <a:off x="4841551" y="2477365"/>
            <a:ext cx="2218953" cy="2549049"/>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6"/>
          </a:lnRef>
          <a:fillRef idx="1">
            <a:schemeClr val="lt1"/>
          </a:fillRef>
          <a:effectRef idx="0">
            <a:schemeClr val="accent6"/>
          </a:effectRef>
          <a:fontRef idx="minor">
            <a:schemeClr val="dk1"/>
          </a:fontRef>
        </p:style>
        <p:txBody>
          <a:bodyPr vert="vert270" wrap="square" lIns="0" tIns="0" rIns="0" bIns="0" numCol="1" anchor="t">
            <a:noAutofit/>
          </a:bodyPr>
          <a:lstStyle/>
          <a:p>
            <a:pPr algn="ctr"/>
            <a:r>
              <a:rPr lang="fr-CA" sz="2279" b="1" dirty="0">
                <a:latin typeface="Lato Light" panose="020F0502020204030203" pitchFamily="34" charset="0"/>
              </a:rPr>
              <a:t>Illustration  de l’imputation avec le cas Guerlain</a:t>
            </a:r>
            <a:endParaRPr lang="fr-CA" sz="2279" dirty="0">
              <a:latin typeface="Lato Light" panose="020F0502020204030203" pitchFamily="34" charset="0"/>
            </a:endParaRPr>
          </a:p>
        </p:txBody>
      </p:sp>
      <p:pic>
        <p:nvPicPr>
          <p:cNvPr id="5" name="Graphique 4" descr="Badge 1 contour">
            <a:extLst>
              <a:ext uri="{FF2B5EF4-FFF2-40B4-BE49-F238E27FC236}">
                <a16:creationId xmlns:a16="http://schemas.microsoft.com/office/drawing/2014/main" id="{CCB1879A-CE9A-BF7C-5979-6FAB792BF2EF}"/>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612695" y="4947699"/>
            <a:ext cx="914400" cy="914400"/>
          </a:xfrm>
          <a:prstGeom prst="rect">
            <a:avLst/>
          </a:prstGeom>
        </p:spPr>
      </p:pic>
      <p:pic>
        <p:nvPicPr>
          <p:cNvPr id="7" name="Graphique 6" descr="Badge contour">
            <a:extLst>
              <a:ext uri="{FF2B5EF4-FFF2-40B4-BE49-F238E27FC236}">
                <a16:creationId xmlns:a16="http://schemas.microsoft.com/office/drawing/2014/main" id="{1ADBDBF0-A6E8-741F-E12D-71307E92BB27}"/>
              </a:ext>
            </a:extLst>
          </p:cNvPr>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493827" y="4947699"/>
            <a:ext cx="914400" cy="914400"/>
          </a:xfrm>
          <a:prstGeom prst="rect">
            <a:avLst/>
          </a:prstGeom>
        </p:spPr>
      </p:pic>
      <p:sp>
        <p:nvSpPr>
          <p:cNvPr id="4" name="Espace réservé du pied de page 6">
            <a:extLst>
              <a:ext uri="{FF2B5EF4-FFF2-40B4-BE49-F238E27FC236}">
                <a16:creationId xmlns:a16="http://schemas.microsoft.com/office/drawing/2014/main" id="{DE248382-F922-E109-779F-5271C1238E69}"/>
              </a:ext>
            </a:extLst>
          </p:cNvPr>
          <p:cNvSpPr>
            <a:spLocks noGrp="1"/>
          </p:cNvSpPr>
          <p:nvPr>
            <p:ph type="ftr" sz="quarter" idx="11"/>
            <p:custDataLst>
              <p:tags r:id="rId7"/>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
        <p:nvSpPr>
          <p:cNvPr id="2" name="Shape 46498">
            <a:extLst>
              <a:ext uri="{FF2B5EF4-FFF2-40B4-BE49-F238E27FC236}">
                <a16:creationId xmlns:a16="http://schemas.microsoft.com/office/drawing/2014/main" id="{9F678563-F9EC-2A7D-3151-D98B706D09E3}"/>
              </a:ext>
            </a:extLst>
          </p:cNvPr>
          <p:cNvSpPr>
            <a:spLocks/>
          </p:cNvSpPr>
          <p:nvPr>
            <p:custDataLst>
              <p:tags r:id="rId8"/>
            </p:custDataLst>
          </p:nvPr>
        </p:nvSpPr>
        <p:spPr>
          <a:xfrm rot="5400000" flipH="1">
            <a:off x="7926949" y="2477365"/>
            <a:ext cx="2218952" cy="2549050"/>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dk1"/>
          </a:lnRef>
          <a:fillRef idx="1">
            <a:schemeClr val="lt1"/>
          </a:fillRef>
          <a:effectRef idx="0">
            <a:schemeClr val="dk1"/>
          </a:effectRef>
          <a:fontRef idx="minor">
            <a:schemeClr val="dk1"/>
          </a:fontRef>
        </p:style>
        <p:txBody>
          <a:bodyPr vert="vert270" wrap="square" lIns="0" tIns="0" rIns="0" bIns="0" numCol="1" anchor="ctr">
            <a:noAutofit/>
          </a:bodyPr>
          <a:lstStyle/>
          <a:p>
            <a:pPr algn="ctr"/>
            <a:r>
              <a:rPr lang="en-CA" sz="2279" dirty="0">
                <a:latin typeface="Lato Light" panose="020F0502020204030203" pitchFamily="34" charset="0"/>
              </a:rPr>
              <a:t>Résumé et </a:t>
            </a:r>
            <a:r>
              <a:rPr lang="en-CA" sz="2279" dirty="0" err="1">
                <a:latin typeface="Lato Light" panose="020F0502020204030203" pitchFamily="34" charset="0"/>
              </a:rPr>
              <a:t>période</a:t>
            </a:r>
            <a:r>
              <a:rPr lang="en-CA" sz="2279" dirty="0">
                <a:latin typeface="Lato Light" panose="020F0502020204030203" pitchFamily="34" charset="0"/>
              </a:rPr>
              <a:t> de question</a:t>
            </a:r>
          </a:p>
        </p:txBody>
      </p:sp>
      <p:pic>
        <p:nvPicPr>
          <p:cNvPr id="6" name="Graphique 5" descr="Badge 3 contour">
            <a:extLst>
              <a:ext uri="{FF2B5EF4-FFF2-40B4-BE49-F238E27FC236}">
                <a16:creationId xmlns:a16="http://schemas.microsoft.com/office/drawing/2014/main" id="{F3635CD9-DAB3-56C8-BF21-1543881D747C}"/>
              </a:ext>
            </a:extLst>
          </p:cNvPr>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9225" y="4947699"/>
            <a:ext cx="914400" cy="914400"/>
          </a:xfrm>
          <a:prstGeom prst="rect">
            <a:avLst/>
          </a:prstGeom>
        </p:spPr>
      </p:pic>
      <p:sp>
        <p:nvSpPr>
          <p:cNvPr id="8" name="TextBox 3">
            <a:extLst>
              <a:ext uri="{FF2B5EF4-FFF2-40B4-BE49-F238E27FC236}">
                <a16:creationId xmlns:a16="http://schemas.microsoft.com/office/drawing/2014/main" id="{FB689A92-54CF-1232-58D2-1E6B47DE95D4}"/>
              </a:ext>
            </a:extLst>
          </p:cNvPr>
          <p:cNvSpPr txBox="1"/>
          <p:nvPr>
            <p:custDataLst>
              <p:tags r:id="rId10"/>
            </p:custDataLst>
          </p:nvPr>
        </p:nvSpPr>
        <p:spPr>
          <a:xfrm>
            <a:off x="752354" y="1676959"/>
            <a:ext cx="1088020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mj-lt"/>
                <a:cs typeface="Calibri"/>
              </a:rPr>
              <a:t>Le </a:t>
            </a:r>
            <a:r>
              <a:rPr lang="en-US" sz="3600" b="1" dirty="0" err="1">
                <a:latin typeface="+mj-lt"/>
                <a:cs typeface="Calibri"/>
              </a:rPr>
              <a:t>coût</a:t>
            </a:r>
            <a:r>
              <a:rPr lang="en-US" sz="3600" b="1" dirty="0">
                <a:latin typeface="+mj-lt"/>
                <a:cs typeface="Calibri"/>
              </a:rPr>
              <a:t> de fabrication - Imputation par </a:t>
            </a:r>
            <a:r>
              <a:rPr lang="en-US" sz="3600" b="1" dirty="0" err="1">
                <a:latin typeface="+mj-lt"/>
                <a:cs typeface="Calibri"/>
              </a:rPr>
              <a:t>centres</a:t>
            </a:r>
            <a:r>
              <a:rPr lang="en-US" sz="3600" b="1" dirty="0">
                <a:latin typeface="+mj-lt"/>
                <a:cs typeface="Calibri"/>
              </a:rPr>
              <a:t> de </a:t>
            </a:r>
            <a:r>
              <a:rPr lang="en-US" sz="3600" b="1" dirty="0" err="1">
                <a:latin typeface="+mj-lt"/>
                <a:cs typeface="Calibri"/>
              </a:rPr>
              <a:t>coûts</a:t>
            </a:r>
            <a:endParaRPr lang="en-US" sz="3600" b="1" dirty="0">
              <a:latin typeface="+mj-lt"/>
              <a:cs typeface="Calibri"/>
            </a:endParaRPr>
          </a:p>
        </p:txBody>
      </p:sp>
    </p:spTree>
    <p:extLst>
      <p:ext uri="{BB962C8B-B14F-4D97-AF65-F5344CB8AC3E}">
        <p14:creationId xmlns:p14="http://schemas.microsoft.com/office/powerpoint/2010/main" val="333817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custDataLst>
              <p:tags r:id="rId2"/>
            </p:custDataLst>
          </p:nvPr>
        </p:nvSpPr>
        <p:spPr/>
        <p:txBody>
          <a:bodyPr>
            <a:normAutofit/>
          </a:bodyPr>
          <a:lstStyle/>
          <a:p>
            <a:r>
              <a:rPr lang="fr-CA" sz="4000"/>
              <a:t>Objectifs de la séance</a:t>
            </a:r>
          </a:p>
        </p:txBody>
      </p:sp>
      <p:sp>
        <p:nvSpPr>
          <p:cNvPr id="8" name="Espace réservé du contenu 7"/>
          <p:cNvSpPr>
            <a:spLocks noGrp="1"/>
          </p:cNvSpPr>
          <p:nvPr>
            <p:ph idx="1"/>
            <p:custDataLst>
              <p:tags r:id="rId3"/>
            </p:custDataLst>
          </p:nvPr>
        </p:nvSpPr>
        <p:spPr>
          <a:xfrm>
            <a:off x="838200" y="1806497"/>
            <a:ext cx="10515600" cy="4370465"/>
          </a:xfrm>
        </p:spPr>
        <p:txBody>
          <a:bodyPr vert="horz" lIns="91440" tIns="45720" rIns="91440" bIns="45720" rtlCol="0" anchor="t">
            <a:normAutofit/>
          </a:bodyPr>
          <a:lstStyle/>
          <a:p>
            <a:r>
              <a:rPr lang="fr-CA" dirty="0"/>
              <a:t>Comprendre la complexité du traitement des coûts indirects (FGF) dans le calcul du coût de fabrication;</a:t>
            </a:r>
          </a:p>
          <a:p>
            <a:r>
              <a:rPr lang="fr-CA" dirty="0"/>
              <a:t>Calculer les coûts de fabrication selon la méthode de l'imputation et comprendre le rôle que jouent les centres de coûts dans l'allocation des coûts indirects;</a:t>
            </a:r>
          </a:p>
          <a:p>
            <a:r>
              <a:rPr lang="fr-CA" dirty="0"/>
              <a:t>Comprendre les lacunes de la comptabilité traditionnelle (par centres de coûts) quant au calcul des coûts et à la pertinence des informations pour la prise de décisions.</a:t>
            </a:r>
            <a:endParaRPr lang="fr-CA" dirty="0">
              <a:cs typeface="Calibri"/>
            </a:endParaRPr>
          </a:p>
          <a:p>
            <a:endParaRPr lang="fr-CA" dirty="0"/>
          </a:p>
        </p:txBody>
      </p:sp>
      <p:sp>
        <p:nvSpPr>
          <p:cNvPr id="7" name="ZoneTexte 6"/>
          <p:cNvSpPr txBox="1"/>
          <p:nvPr>
            <p:custDataLst>
              <p:tags r:id="rId4"/>
            </p:custDataLst>
          </p:nvPr>
        </p:nvSpPr>
        <p:spPr>
          <a:xfrm>
            <a:off x="2666977" y="-642966"/>
            <a:ext cx="184731" cy="369332"/>
          </a:xfrm>
          <a:prstGeom prst="rect">
            <a:avLst/>
          </a:prstGeom>
          <a:noFill/>
        </p:spPr>
        <p:txBody>
          <a:bodyPr wrap="none" rtlCol="0">
            <a:spAutoFit/>
          </a:bodyPr>
          <a:lstStyle/>
          <a:p>
            <a:endParaRPr lang="en-CA"/>
          </a:p>
        </p:txBody>
      </p:sp>
      <p:sp>
        <p:nvSpPr>
          <p:cNvPr id="2" name="Espace réservé du pied de page 6">
            <a:extLst>
              <a:ext uri="{FF2B5EF4-FFF2-40B4-BE49-F238E27FC236}">
                <a16:creationId xmlns:a16="http://schemas.microsoft.com/office/drawing/2014/main" id="{EB248ACF-2714-AC86-4490-4652C713B766}"/>
              </a:ext>
            </a:extLst>
          </p:cNvPr>
          <p:cNvSpPr>
            <a:spLocks noGrp="1"/>
          </p:cNvSpPr>
          <p:nvPr>
            <p:ph type="ftr" sz="quarter" idx="11"/>
            <p:custDataLst>
              <p:tags r:id="rId5"/>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3" name="Espace réservé du numéro de diapositive 2">
            <a:extLst>
              <a:ext uri="{FF2B5EF4-FFF2-40B4-BE49-F238E27FC236}">
                <a16:creationId xmlns:a16="http://schemas.microsoft.com/office/drawing/2014/main" id="{837F40EF-4331-9248-EC93-2B7A08097AC2}"/>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6</a:t>
            </a:fld>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334208291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50DDF2-EBC1-4994-A441-8AA511308228}"/>
              </a:ext>
            </a:extLst>
          </p:cNvPr>
          <p:cNvSpPr>
            <a:spLocks noGrp="1"/>
          </p:cNvSpPr>
          <p:nvPr>
            <p:ph type="title"/>
            <p:custDataLst>
              <p:tags r:id="rId1"/>
            </p:custDataLst>
          </p:nvPr>
        </p:nvSpPr>
        <p:spPr/>
        <p:txBody>
          <a:bodyPr>
            <a:normAutofit/>
          </a:bodyPr>
          <a:lstStyle/>
          <a:p>
            <a:pPr algn="ctr"/>
            <a:r>
              <a:rPr lang="fr-CA" dirty="0"/>
              <a:t>« La fabrication d’un objet de coûts»</a:t>
            </a:r>
          </a:p>
        </p:txBody>
      </p:sp>
      <p:sp>
        <p:nvSpPr>
          <p:cNvPr id="4" name="Rectangle 3">
            <a:extLst>
              <a:ext uri="{FF2B5EF4-FFF2-40B4-BE49-F238E27FC236}">
                <a16:creationId xmlns:a16="http://schemas.microsoft.com/office/drawing/2014/main" id="{C7F61C72-44FD-4EF0-A201-F4E269253737}"/>
              </a:ext>
            </a:extLst>
          </p:cNvPr>
          <p:cNvSpPr/>
          <p:nvPr>
            <p:custDataLst>
              <p:tags r:id="rId2"/>
            </p:custDataLst>
          </p:nvPr>
        </p:nvSpPr>
        <p:spPr>
          <a:xfrm>
            <a:off x="175491" y="1671197"/>
            <a:ext cx="11628581" cy="548740"/>
          </a:xfrm>
          <a:prstGeom prst="rect">
            <a:avLst/>
          </a:prstGeom>
        </p:spPr>
        <p:txBody>
          <a:bodyPr wrap="square">
            <a:spAutoFit/>
          </a:bodyPr>
          <a:lstStyle/>
          <a:p>
            <a:pPr algn="ctr">
              <a:lnSpc>
                <a:spcPct val="107000"/>
              </a:lnSpc>
              <a:spcAft>
                <a:spcPts val="800"/>
              </a:spcAft>
            </a:pPr>
            <a:r>
              <a:rPr lang="fr-CA" sz="2900" dirty="0">
                <a:latin typeface="Calibri" panose="020F0502020204030204" pitchFamily="34" charset="0"/>
                <a:ea typeface="Calibri" panose="020F0502020204030204" pitchFamily="34" charset="0"/>
                <a:cs typeface="Times New Roman" panose="02020603050405020304" pitchFamily="18" charset="0"/>
              </a:rPr>
              <a:t>Quelles sont les ressources nécessaires pour fabriquer un produit X?</a:t>
            </a:r>
          </a:p>
        </p:txBody>
      </p:sp>
      <p:sp>
        <p:nvSpPr>
          <p:cNvPr id="5" name="Rectangle 4">
            <a:extLst>
              <a:ext uri="{FF2B5EF4-FFF2-40B4-BE49-F238E27FC236}">
                <a16:creationId xmlns:a16="http://schemas.microsoft.com/office/drawing/2014/main" id="{AF8ADFF0-5FB8-4384-AEC1-A53FB792286F}"/>
              </a:ext>
            </a:extLst>
          </p:cNvPr>
          <p:cNvSpPr/>
          <p:nvPr>
            <p:custDataLst>
              <p:tags r:id="rId3"/>
            </p:custDataLst>
          </p:nvPr>
        </p:nvSpPr>
        <p:spPr>
          <a:xfrm>
            <a:off x="3294844" y="2452975"/>
            <a:ext cx="5602311" cy="470000"/>
          </a:xfrm>
          <a:prstGeom prst="rect">
            <a:avLst/>
          </a:prstGeom>
        </p:spPr>
        <p:txBody>
          <a:bodyPr wrap="square">
            <a:spAutoFit/>
          </a:bodyPr>
          <a:lstStyle/>
          <a:p>
            <a:pPr algn="ctr">
              <a:lnSpc>
                <a:spcPct val="107000"/>
              </a:lnSpc>
              <a:spcAft>
                <a:spcPts val="800"/>
              </a:spcAft>
            </a:pPr>
            <a:r>
              <a:rPr lang="fr-CA" sz="2400" b="1" dirty="0">
                <a:latin typeface="Calibri" panose="020F0502020204030204" pitchFamily="34" charset="0"/>
                <a:ea typeface="Calibri" panose="020F0502020204030204" pitchFamily="34" charset="0"/>
                <a:cs typeface="Times New Roman" panose="02020603050405020304" pitchFamily="18" charset="0"/>
              </a:rPr>
              <a:t>EXEMPLES…</a:t>
            </a:r>
            <a:endParaRPr lang="fr-CA"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3D5668BC-2544-4842-95D7-89A5FF0208B9}"/>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7</a:t>
            </a:fld>
            <a:endParaRPr lang="fr-CA" dirty="0">
              <a:solidFill>
                <a:prstClr val="black">
                  <a:tint val="75000"/>
                </a:prstClr>
              </a:solidFill>
            </a:endParaRPr>
          </a:p>
        </p:txBody>
      </p:sp>
      <p:sp>
        <p:nvSpPr>
          <p:cNvPr id="9" name="Rectangle 8">
            <a:extLst>
              <a:ext uri="{FF2B5EF4-FFF2-40B4-BE49-F238E27FC236}">
                <a16:creationId xmlns:a16="http://schemas.microsoft.com/office/drawing/2014/main" id="{4A503811-AAC4-6759-575D-B43E8D3AD1F1}"/>
              </a:ext>
            </a:extLst>
          </p:cNvPr>
          <p:cNvSpPr/>
          <p:nvPr>
            <p:custDataLst>
              <p:tags r:id="rId5"/>
            </p:custDataLst>
          </p:nvPr>
        </p:nvSpPr>
        <p:spPr>
          <a:xfrm>
            <a:off x="2534607" y="3905728"/>
            <a:ext cx="7122786" cy="461665"/>
          </a:xfrm>
          <a:prstGeom prst="rect">
            <a:avLst/>
          </a:prstGeom>
        </p:spPr>
        <p:txBody>
          <a:bodyPr wrap="square">
            <a:spAutoFit/>
          </a:bodyPr>
          <a:lstStyle/>
          <a:p>
            <a:r>
              <a:rPr lang="fr-CA" sz="2400" b="1" dirty="0"/>
              <a:t>Les étapes de fabrication du Chocolat à la Manufacture</a:t>
            </a:r>
          </a:p>
        </p:txBody>
      </p:sp>
      <p:pic>
        <p:nvPicPr>
          <p:cNvPr id="10" name="Média en ligne 9" title="Les étapes de fabrication du Chocolat à la Manufacture">
            <a:hlinkClick r:id="" action="ppaction://media"/>
            <a:extLst>
              <a:ext uri="{FF2B5EF4-FFF2-40B4-BE49-F238E27FC236}">
                <a16:creationId xmlns:a16="http://schemas.microsoft.com/office/drawing/2014/main" id="{689958C2-12CE-320D-457F-CC5C49C4BFFA}"/>
              </a:ext>
            </a:extLst>
          </p:cNvPr>
          <p:cNvPicPr>
            <a:picLocks noRot="1" noChangeAspect="1"/>
          </p:cNvPicPr>
          <p:nvPr>
            <a:videoFile r:link="rId6"/>
            <p:custDataLst>
              <p:tags r:id="rId7"/>
            </p:custDataLst>
          </p:nvPr>
        </p:nvPicPr>
        <p:blipFill>
          <a:blip r:embed="rId11"/>
          <a:stretch>
            <a:fillRect/>
          </a:stretch>
        </p:blipFill>
        <p:spPr>
          <a:xfrm>
            <a:off x="938718" y="269744"/>
            <a:ext cx="10179290" cy="5775606"/>
          </a:xfrm>
          <a:prstGeom prst="rect">
            <a:avLst/>
          </a:prstGeom>
        </p:spPr>
      </p:pic>
      <p:sp>
        <p:nvSpPr>
          <p:cNvPr id="3" name="Espace réservé du pied de page 6">
            <a:extLst>
              <a:ext uri="{FF2B5EF4-FFF2-40B4-BE49-F238E27FC236}">
                <a16:creationId xmlns:a16="http://schemas.microsoft.com/office/drawing/2014/main" id="{A49FB1E4-F40B-8CFE-46E2-5ADB533EF919}"/>
              </a:ext>
            </a:extLst>
          </p:cNvPr>
          <p:cNvSpPr>
            <a:spLocks noGrp="1"/>
          </p:cNvSpPr>
          <p:nvPr>
            <p:ph type="ftr" sz="quarter" idx="11"/>
            <p:custDataLst>
              <p:tags r:id="rId8"/>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205589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3" fill="hold" display="0">
                  <p:stCondLst>
                    <p:cond delay="indefinite"/>
                  </p:stCondLst>
                </p:cTn>
                <p:tgtEl>
                  <p:spTgt spid="10"/>
                </p:tgtEl>
              </p:cMediaNode>
            </p:video>
            <p:seq concurrent="1" nextAc="seek">
              <p:cTn id="24" restart="whenNotActive" fill="hold" evtFilter="cancelBubble" nodeType="interactiveSeq">
                <p:stCondLst>
                  <p:cond evt="onClick" delay="0">
                    <p:tgtEl>
                      <p:spTgt spid="10"/>
                    </p:tgtEl>
                  </p:cond>
                </p:stCondLst>
                <p:endSync evt="end" delay="0">
                  <p:rtn val="all"/>
                </p:endSync>
                <p:childTnLst>
                  <p:par>
                    <p:cTn id="25" fill="hold">
                      <p:stCondLst>
                        <p:cond delay="0"/>
                      </p:stCondLst>
                      <p:childTnLst>
                        <p:par>
                          <p:cTn id="26" fill="hold">
                            <p:stCondLst>
                              <p:cond delay="0"/>
                            </p:stCondLst>
                            <p:childTnLst>
                              <p:par>
                                <p:cTn id="27" presetID="2" presetClass="mediacall" presetSubtype="0" fill="hold" nodeType="clickEffect">
                                  <p:stCondLst>
                                    <p:cond delay="0"/>
                                  </p:stCondLst>
                                  <p:childTnLst>
                                    <p:cmd type="call" cmd="togglePause">
                                      <p:cBhvr>
                                        <p:cTn id="28" dur="1" fill="hold"/>
                                        <p:tgtEl>
                                          <p:spTgt spid="10"/>
                                        </p:tgtEl>
                                      </p:cBhvr>
                                    </p:cmd>
                                  </p:childTnLst>
                                </p:cTn>
                              </p:par>
                            </p:childTnLst>
                          </p:cTn>
                        </p:par>
                      </p:childTnLst>
                    </p:cTn>
                  </p:par>
                </p:childTnLst>
              </p:cTn>
              <p:nextCondLst>
                <p:cond evt="onClick" delay="0">
                  <p:tgtEl>
                    <p:spTgt spid="10"/>
                  </p:tgtEl>
                </p:cond>
              </p:nextCondLst>
            </p:seq>
          </p:childTnLst>
        </p:cTn>
      </p:par>
    </p:tnLst>
    <p:bldLst>
      <p:bldP spid="2" grpId="0"/>
      <p:bldP spid="4" grpId="0"/>
      <p:bldP spid="5"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7F9532-21B4-45CC-83C6-BEBB723FFA22}"/>
              </a:ext>
            </a:extLst>
          </p:cNvPr>
          <p:cNvSpPr>
            <a:spLocks noGrp="1"/>
          </p:cNvSpPr>
          <p:nvPr>
            <p:ph type="title"/>
            <p:custDataLst>
              <p:tags r:id="rId1"/>
            </p:custDataLst>
          </p:nvPr>
        </p:nvSpPr>
        <p:spPr/>
        <p:txBody>
          <a:bodyPr>
            <a:normAutofit/>
          </a:bodyPr>
          <a:lstStyle/>
          <a:p>
            <a:r>
              <a:rPr lang="fr-CA" sz="4000" dirty="0"/>
              <a:t>Le coût de fabrication - les ressources (1/2)</a:t>
            </a:r>
          </a:p>
        </p:txBody>
      </p:sp>
      <p:sp>
        <p:nvSpPr>
          <p:cNvPr id="3" name="Espace réservé du contenu 2">
            <a:extLst>
              <a:ext uri="{FF2B5EF4-FFF2-40B4-BE49-F238E27FC236}">
                <a16:creationId xmlns:a16="http://schemas.microsoft.com/office/drawing/2014/main" id="{7C7694B0-2F13-45FB-9600-F63DDC51F282}"/>
              </a:ext>
            </a:extLst>
          </p:cNvPr>
          <p:cNvSpPr>
            <a:spLocks noGrp="1"/>
          </p:cNvSpPr>
          <p:nvPr>
            <p:ph idx="1"/>
            <p:custDataLst>
              <p:tags r:id="rId2"/>
            </p:custDataLst>
          </p:nvPr>
        </p:nvSpPr>
        <p:spPr>
          <a:xfrm>
            <a:off x="838200" y="1545910"/>
            <a:ext cx="10515600" cy="4709112"/>
          </a:xfrm>
        </p:spPr>
        <p:txBody>
          <a:bodyPr>
            <a:normAutofit/>
          </a:bodyPr>
          <a:lstStyle/>
          <a:p>
            <a:pPr marL="0" indent="0">
              <a:buNone/>
            </a:pPr>
            <a:r>
              <a:rPr lang="fr-CA" b="1" u="sng" dirty="0"/>
              <a:t>Coûts directs</a:t>
            </a:r>
          </a:p>
          <a:p>
            <a:r>
              <a:rPr lang="fr-CA" b="1" dirty="0"/>
              <a:t>Matières premières </a:t>
            </a:r>
            <a:r>
              <a:rPr lang="fr-CA" b="1" dirty="0">
                <a:solidFill>
                  <a:srgbClr val="C00000"/>
                </a:solidFill>
              </a:rPr>
              <a:t>(MP): </a:t>
            </a:r>
            <a:r>
              <a:rPr lang="fr-CA" dirty="0"/>
              <a:t>comprennent la majeure partie des matériaux, des pièces et des composants utilisés dans la fabrication et l’assemblage d’un produit. </a:t>
            </a:r>
          </a:p>
          <a:p>
            <a:pPr marL="457200" lvl="1" indent="0">
              <a:buNone/>
            </a:pPr>
            <a:r>
              <a:rPr lang="fr-CA" dirty="0"/>
              <a:t> </a:t>
            </a:r>
          </a:p>
          <a:p>
            <a:r>
              <a:rPr lang="fr-CA" b="1" dirty="0"/>
              <a:t>Main-d’œuvre directe </a:t>
            </a:r>
            <a:r>
              <a:rPr lang="fr-CA" b="1" dirty="0">
                <a:solidFill>
                  <a:srgbClr val="C00000"/>
                </a:solidFill>
              </a:rPr>
              <a:t>(MOD)</a:t>
            </a:r>
            <a:r>
              <a:rPr lang="fr-CA" dirty="0"/>
              <a:t>: est le personnel </a:t>
            </a:r>
            <a:r>
              <a:rPr lang="fr-CA" u="sng" dirty="0"/>
              <a:t>directement</a:t>
            </a:r>
            <a:r>
              <a:rPr lang="fr-CA" dirty="0"/>
              <a:t> employé à la fabrication et à l’assemblage d’un produit.</a:t>
            </a:r>
          </a:p>
          <a:p>
            <a:pPr lvl="1"/>
            <a:r>
              <a:rPr lang="fr-CA" dirty="0"/>
              <a:t>La main-d'œuvre directe correspond donc aux salaires des employés qui travaillent (manuellement ou à l’aide de machines) </a:t>
            </a:r>
            <a:r>
              <a:rPr lang="fr-CA" u="sng" dirty="0"/>
              <a:t>directement</a:t>
            </a:r>
            <a:r>
              <a:rPr lang="fr-CA" dirty="0"/>
              <a:t> sur la matière première pour la transformer en produit fini.</a:t>
            </a:r>
          </a:p>
          <a:p>
            <a:pPr marL="0" indent="0">
              <a:buNone/>
            </a:pPr>
            <a:endParaRPr lang="fr-CA" dirty="0"/>
          </a:p>
          <a:p>
            <a:pPr marL="0" indent="0">
              <a:buNone/>
            </a:pPr>
            <a:endParaRPr lang="fr-CA" dirty="0"/>
          </a:p>
        </p:txBody>
      </p:sp>
      <p:sp>
        <p:nvSpPr>
          <p:cNvPr id="5" name="Espace réservé du numéro de diapositive 4">
            <a:extLst>
              <a:ext uri="{FF2B5EF4-FFF2-40B4-BE49-F238E27FC236}">
                <a16:creationId xmlns:a16="http://schemas.microsoft.com/office/drawing/2014/main" id="{EF6275A0-7E16-4891-8C61-3446EA185D6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8</a:t>
            </a:fld>
            <a:endParaRPr lang="fr-CA">
              <a:solidFill>
                <a:prstClr val="black">
                  <a:tint val="75000"/>
                </a:prstClr>
              </a:solidFill>
            </a:endParaRPr>
          </a:p>
        </p:txBody>
      </p:sp>
      <p:sp>
        <p:nvSpPr>
          <p:cNvPr id="4" name="Espace réservé du pied de page 6">
            <a:extLst>
              <a:ext uri="{FF2B5EF4-FFF2-40B4-BE49-F238E27FC236}">
                <a16:creationId xmlns:a16="http://schemas.microsoft.com/office/drawing/2014/main" id="{CBA48095-CADB-3A73-4D83-42A5BC15C09A}"/>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3902069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7F9532-21B4-45CC-83C6-BEBB723FFA22}"/>
              </a:ext>
            </a:extLst>
          </p:cNvPr>
          <p:cNvSpPr>
            <a:spLocks noGrp="1"/>
          </p:cNvSpPr>
          <p:nvPr>
            <p:ph type="title"/>
            <p:custDataLst>
              <p:tags r:id="rId1"/>
            </p:custDataLst>
          </p:nvPr>
        </p:nvSpPr>
        <p:spPr/>
        <p:txBody>
          <a:bodyPr>
            <a:normAutofit/>
          </a:bodyPr>
          <a:lstStyle/>
          <a:p>
            <a:r>
              <a:rPr lang="fr-CA" sz="4000" dirty="0"/>
              <a:t>Le coût de fabrication - les ressources (2/2)</a:t>
            </a:r>
          </a:p>
        </p:txBody>
      </p:sp>
      <p:sp>
        <p:nvSpPr>
          <p:cNvPr id="3" name="Espace réservé du contenu 2">
            <a:extLst>
              <a:ext uri="{FF2B5EF4-FFF2-40B4-BE49-F238E27FC236}">
                <a16:creationId xmlns:a16="http://schemas.microsoft.com/office/drawing/2014/main" id="{7C7694B0-2F13-45FB-9600-F63DDC51F282}"/>
              </a:ext>
            </a:extLst>
          </p:cNvPr>
          <p:cNvSpPr>
            <a:spLocks noGrp="1"/>
          </p:cNvSpPr>
          <p:nvPr>
            <p:ph idx="1"/>
            <p:custDataLst>
              <p:tags r:id="rId2"/>
            </p:custDataLst>
          </p:nvPr>
        </p:nvSpPr>
        <p:spPr>
          <a:xfrm>
            <a:off x="838200" y="1545910"/>
            <a:ext cx="10515600" cy="4709112"/>
          </a:xfrm>
        </p:spPr>
        <p:txBody>
          <a:bodyPr>
            <a:normAutofit fontScale="85000" lnSpcReduction="10000"/>
          </a:bodyPr>
          <a:lstStyle/>
          <a:p>
            <a:pPr marL="0" indent="0">
              <a:buNone/>
            </a:pPr>
            <a:r>
              <a:rPr lang="fr-CA" sz="3000" b="1" u="sng" dirty="0"/>
              <a:t>Coûts indirects</a:t>
            </a:r>
          </a:p>
          <a:p>
            <a:pPr>
              <a:lnSpc>
                <a:spcPct val="110000"/>
              </a:lnSpc>
            </a:pPr>
            <a:r>
              <a:rPr lang="fr-CA" dirty="0"/>
              <a:t>Les </a:t>
            </a:r>
            <a:r>
              <a:rPr lang="fr-CA" b="1" dirty="0"/>
              <a:t>frais généraux de </a:t>
            </a:r>
            <a:r>
              <a:rPr lang="fr-CA" b="1" u="sng" dirty="0"/>
              <a:t>fabrication</a:t>
            </a:r>
            <a:r>
              <a:rPr lang="fr-CA" b="1" dirty="0"/>
              <a:t> </a:t>
            </a:r>
            <a:r>
              <a:rPr lang="fr-CA" b="1" dirty="0">
                <a:solidFill>
                  <a:srgbClr val="C00000"/>
                </a:solidFill>
              </a:rPr>
              <a:t>(FGF): </a:t>
            </a:r>
            <a:r>
              <a:rPr lang="fr-CA" dirty="0"/>
              <a:t>comprennent toutes les autres ressources qui sont indirectement associées à la fabrication d’un produit.</a:t>
            </a:r>
          </a:p>
          <a:p>
            <a:pPr lvl="1">
              <a:lnSpc>
                <a:spcPct val="110000"/>
              </a:lnSpc>
            </a:pPr>
            <a:r>
              <a:rPr lang="fr-CA" sz="2000" dirty="0"/>
              <a:t>Les frais généraux de fabrication correspondent aux frais </a:t>
            </a:r>
            <a:r>
              <a:rPr lang="fr-CA" sz="2000" u="sng" dirty="0"/>
              <a:t>indirects</a:t>
            </a:r>
            <a:r>
              <a:rPr lang="fr-CA" sz="2000" dirty="0"/>
              <a:t> engagés dans la fabrication et qui ne peuvent être classés comme matières premières ou main-d'œuvre directe.</a:t>
            </a:r>
          </a:p>
          <a:p>
            <a:pPr lvl="1">
              <a:lnSpc>
                <a:spcPct val="110000"/>
              </a:lnSpc>
            </a:pPr>
            <a:r>
              <a:rPr lang="fr-CA" dirty="0"/>
              <a:t>Les FGF comprennent :</a:t>
            </a:r>
          </a:p>
          <a:p>
            <a:pPr lvl="2">
              <a:lnSpc>
                <a:spcPct val="110000"/>
              </a:lnSpc>
            </a:pPr>
            <a:r>
              <a:rPr lang="fr-CA" u="sng" dirty="0"/>
              <a:t>Matières indirectes </a:t>
            </a:r>
            <a:r>
              <a:rPr lang="fr-CA" dirty="0"/>
              <a:t>: fournitures d’usine = colle, vis, huiles et graisse, etc.</a:t>
            </a:r>
          </a:p>
          <a:p>
            <a:pPr lvl="2">
              <a:lnSpc>
                <a:spcPct val="110000"/>
              </a:lnSpc>
            </a:pPr>
            <a:r>
              <a:rPr lang="fr-CA" u="sng" dirty="0"/>
              <a:t>Main-d’œuvre indirecte (MOI) </a:t>
            </a:r>
            <a:r>
              <a:rPr lang="fr-CA" dirty="0"/>
              <a:t>: employés qui travaillent dans l’usine, mais qui ne participent pas directement à la fabrication du produit final. Par exemple:  superviseurs, contremaîtres, employés de maintenance, employés d’assurance qualité, salaire du personnel de maintenance, ….</a:t>
            </a:r>
          </a:p>
          <a:p>
            <a:pPr lvl="2">
              <a:lnSpc>
                <a:spcPct val="110000"/>
              </a:lnSpc>
            </a:pPr>
            <a:r>
              <a:rPr lang="fr-CA" u="sng" dirty="0"/>
              <a:t>Autres frais généraux de fabrication indirects </a:t>
            </a:r>
            <a:r>
              <a:rPr lang="fr-CA" dirty="0"/>
              <a:t>: gaz et électricité servant de source d’énergie, amortissement des machines et des équipements, loyer ou amortissement de l’usine, taxes foncières et assurances de l’usine, entretien et réparation - machinerie</a:t>
            </a:r>
          </a:p>
          <a:p>
            <a:pPr lvl="2">
              <a:lnSpc>
                <a:spcPct val="110000"/>
              </a:lnSpc>
            </a:pPr>
            <a:r>
              <a:rPr lang="fr-CA" dirty="0"/>
              <a:t> Etc.</a:t>
            </a:r>
          </a:p>
        </p:txBody>
      </p:sp>
      <p:sp>
        <p:nvSpPr>
          <p:cNvPr id="5" name="Espace réservé du numéro de diapositive 4">
            <a:extLst>
              <a:ext uri="{FF2B5EF4-FFF2-40B4-BE49-F238E27FC236}">
                <a16:creationId xmlns:a16="http://schemas.microsoft.com/office/drawing/2014/main" id="{EF6275A0-7E16-4891-8C61-3446EA185D6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9</a:t>
            </a:fld>
            <a:endParaRPr lang="fr-CA">
              <a:solidFill>
                <a:prstClr val="black">
                  <a:tint val="75000"/>
                </a:prstClr>
              </a:solidFill>
            </a:endParaRPr>
          </a:p>
        </p:txBody>
      </p:sp>
      <p:sp>
        <p:nvSpPr>
          <p:cNvPr id="4" name="Espace réservé du pied de page 6">
            <a:extLst>
              <a:ext uri="{FF2B5EF4-FFF2-40B4-BE49-F238E27FC236}">
                <a16:creationId xmlns:a16="http://schemas.microsoft.com/office/drawing/2014/main" id="{9C74AEAB-A7AF-EB1C-3F72-050BD5BEB63E}"/>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548289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138CFE-E69C-414A-A5EF-B8C07FC1E34D}"/>
              </a:ext>
            </a:extLst>
          </p:cNvPr>
          <p:cNvSpPr>
            <a:spLocks noGrp="1"/>
          </p:cNvSpPr>
          <p:nvPr>
            <p:ph type="title"/>
            <p:custDataLst>
              <p:tags r:id="rId1"/>
            </p:custDataLst>
          </p:nvPr>
        </p:nvSpPr>
        <p:spPr/>
        <p:txBody>
          <a:bodyPr>
            <a:normAutofit fontScale="90000"/>
          </a:bodyPr>
          <a:lstStyle/>
          <a:p>
            <a:pPr algn="ctr"/>
            <a:r>
              <a:rPr lang="fr-CA"/>
              <a:t>Les relations entre </a:t>
            </a:r>
            <a:br>
              <a:rPr lang="fr-CA"/>
            </a:br>
            <a:r>
              <a:rPr lang="fr-CA"/>
              <a:t>les ressources et les objets de coûts</a:t>
            </a:r>
          </a:p>
        </p:txBody>
      </p:sp>
      <p:sp>
        <p:nvSpPr>
          <p:cNvPr id="3" name="Espace réservé du contenu 2">
            <a:extLst>
              <a:ext uri="{FF2B5EF4-FFF2-40B4-BE49-F238E27FC236}">
                <a16:creationId xmlns:a16="http://schemas.microsoft.com/office/drawing/2014/main" id="{7541E1FE-157C-4919-90B5-F60F2B610714}"/>
              </a:ext>
            </a:extLst>
          </p:cNvPr>
          <p:cNvSpPr>
            <a:spLocks noGrp="1"/>
          </p:cNvSpPr>
          <p:nvPr>
            <p:ph idx="1"/>
            <p:custDataLst>
              <p:tags r:id="rId2"/>
            </p:custDataLst>
          </p:nvPr>
        </p:nvSpPr>
        <p:spPr>
          <a:xfrm>
            <a:off x="838200" y="1641275"/>
            <a:ext cx="10515600" cy="4709112"/>
          </a:xfrm>
        </p:spPr>
        <p:txBody>
          <a:bodyPr>
            <a:normAutofit lnSpcReduction="10000"/>
          </a:bodyPr>
          <a:lstStyle/>
          <a:p>
            <a:r>
              <a:rPr lang="fr-CA" b="1" dirty="0"/>
              <a:t>La relation directe</a:t>
            </a:r>
          </a:p>
          <a:p>
            <a:pPr lvl="1"/>
            <a:r>
              <a:rPr lang="fr-CA" dirty="0"/>
              <a:t>La relation est sans intermédiaire et le lien établi entre les ressources et les objets de coûts est évident. </a:t>
            </a:r>
          </a:p>
          <a:p>
            <a:pPr lvl="1"/>
            <a:r>
              <a:rPr lang="fr-CA" dirty="0"/>
              <a:t>« Un coût est dit direct par rapport à un objet de coût s’il peut être affecté sans ambiguïté à cet objet de coût. » </a:t>
            </a:r>
            <a:r>
              <a:rPr lang="fr-CA" sz="2000" i="1" dirty="0"/>
              <a:t>(Malleret et Mendoza, 2018)</a:t>
            </a:r>
          </a:p>
          <a:p>
            <a:endParaRPr lang="fr-CA" dirty="0"/>
          </a:p>
          <a:p>
            <a:r>
              <a:rPr lang="fr-CA" b="1" dirty="0"/>
              <a:t>La relation indirecte</a:t>
            </a:r>
          </a:p>
          <a:p>
            <a:pPr lvl="1"/>
            <a:r>
              <a:rPr lang="fr-CA" dirty="0"/>
              <a:t>Une relation directe ne peut être établie entre les ressources et les objets de coûts. </a:t>
            </a:r>
          </a:p>
          <a:p>
            <a:pPr lvl="1"/>
            <a:r>
              <a:rPr lang="fr-CA" dirty="0"/>
              <a:t>« Un coût est dit indirect par rapport à un objet de coût lorsqu’il correspond à une ressource consommée par plusieurs objets de coût et que l’on ne peut l’allouer aux objets de coût sans poser une hypothèse complémentaire ». </a:t>
            </a:r>
          </a:p>
          <a:p>
            <a:pPr marL="914400" lvl="2" indent="0">
              <a:buNone/>
            </a:pPr>
            <a:r>
              <a:rPr lang="fr-CA" i="1" dirty="0"/>
              <a:t>(Malleret et Mendoza, 2018)</a:t>
            </a:r>
          </a:p>
          <a:p>
            <a:pPr marL="914400" lvl="2" indent="0">
              <a:buNone/>
            </a:pPr>
            <a:endParaRPr lang="fr-CA" dirty="0"/>
          </a:p>
        </p:txBody>
      </p:sp>
      <p:sp>
        <p:nvSpPr>
          <p:cNvPr id="5" name="Espace réservé du numéro de diapositive 4">
            <a:extLst>
              <a:ext uri="{FF2B5EF4-FFF2-40B4-BE49-F238E27FC236}">
                <a16:creationId xmlns:a16="http://schemas.microsoft.com/office/drawing/2014/main" id="{4DE39CCF-C76A-41E2-BE62-BA05E56C2E4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10</a:t>
            </a:fld>
            <a:endParaRPr lang="fr-CA">
              <a:solidFill>
                <a:prstClr val="black">
                  <a:tint val="75000"/>
                </a:prstClr>
              </a:solidFill>
            </a:endParaRPr>
          </a:p>
        </p:txBody>
      </p:sp>
      <p:sp>
        <p:nvSpPr>
          <p:cNvPr id="7" name="Espace réservé du pied de page 1">
            <a:extLst>
              <a:ext uri="{FF2B5EF4-FFF2-40B4-BE49-F238E27FC236}">
                <a16:creationId xmlns:a16="http://schemas.microsoft.com/office/drawing/2014/main" id="{B0A1E833-4683-2434-F394-6CBE4A24C89D}"/>
              </a:ext>
            </a:extLst>
          </p:cNvPr>
          <p:cNvSpPr txBox="1">
            <a:spLocks/>
          </p:cNvSpPr>
          <p:nvPr>
            <p:custDataLst>
              <p:tags r:id="rId4"/>
            </p:custDataLst>
          </p:nvPr>
        </p:nvSpPr>
        <p:spPr>
          <a:xfrm>
            <a:off x="4531315" y="6503436"/>
            <a:ext cx="3129368" cy="300587"/>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sz="1200" dirty="0">
                <a:solidFill>
                  <a:prstClr val="black">
                    <a:tint val="75000"/>
                  </a:prstClr>
                </a:solidFill>
              </a:rPr>
              <a:t>(c) 10904 / S01</a:t>
            </a:r>
            <a:endParaRPr lang="fr-CA" sz="1200" dirty="0">
              <a:solidFill>
                <a:prstClr val="black">
                  <a:tint val="75000"/>
                </a:prstClr>
              </a:solidFill>
            </a:endParaRPr>
          </a:p>
        </p:txBody>
      </p:sp>
    </p:spTree>
    <p:extLst>
      <p:ext uri="{BB962C8B-B14F-4D97-AF65-F5344CB8AC3E}">
        <p14:creationId xmlns:p14="http://schemas.microsoft.com/office/powerpoint/2010/main" val="2105451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138CFE-E69C-414A-A5EF-B8C07FC1E34D}"/>
              </a:ext>
            </a:extLst>
          </p:cNvPr>
          <p:cNvSpPr>
            <a:spLocks noGrp="1"/>
          </p:cNvSpPr>
          <p:nvPr>
            <p:ph type="title"/>
            <p:custDataLst>
              <p:tags r:id="rId1"/>
            </p:custDataLst>
          </p:nvPr>
        </p:nvSpPr>
        <p:spPr/>
        <p:txBody>
          <a:bodyPr>
            <a:normAutofit fontScale="90000"/>
          </a:bodyPr>
          <a:lstStyle/>
          <a:p>
            <a:pPr algn="ctr"/>
            <a:r>
              <a:rPr lang="fr-CA" dirty="0"/>
              <a:t>Exemples de relations entre </a:t>
            </a:r>
            <a:br>
              <a:rPr lang="fr-CA" dirty="0"/>
            </a:br>
            <a:r>
              <a:rPr lang="fr-CA" dirty="0"/>
              <a:t>les ressources et les objets de coûts</a:t>
            </a:r>
          </a:p>
        </p:txBody>
      </p:sp>
      <p:sp>
        <p:nvSpPr>
          <p:cNvPr id="3" name="Espace réservé du contenu 2">
            <a:extLst>
              <a:ext uri="{FF2B5EF4-FFF2-40B4-BE49-F238E27FC236}">
                <a16:creationId xmlns:a16="http://schemas.microsoft.com/office/drawing/2014/main" id="{7541E1FE-157C-4919-90B5-F60F2B610714}"/>
              </a:ext>
            </a:extLst>
          </p:cNvPr>
          <p:cNvSpPr>
            <a:spLocks noGrp="1"/>
          </p:cNvSpPr>
          <p:nvPr>
            <p:ph idx="1"/>
            <p:custDataLst>
              <p:tags r:id="rId2"/>
            </p:custDataLst>
          </p:nvPr>
        </p:nvSpPr>
        <p:spPr>
          <a:xfrm>
            <a:off x="838200" y="1518555"/>
            <a:ext cx="10515600" cy="4984725"/>
          </a:xfrm>
        </p:spPr>
        <p:txBody>
          <a:bodyPr>
            <a:normAutofit fontScale="70000" lnSpcReduction="20000"/>
          </a:bodyPr>
          <a:lstStyle/>
          <a:p>
            <a:r>
              <a:rPr lang="fr-CA" sz="2600" b="1" dirty="0"/>
              <a:t>La relation directe</a:t>
            </a:r>
          </a:p>
          <a:p>
            <a:pPr lvl="1">
              <a:lnSpc>
                <a:spcPct val="120000"/>
              </a:lnSpc>
            </a:pPr>
            <a:r>
              <a:rPr lang="fr-CA" sz="2600" dirty="0"/>
              <a:t>Matières premières (MP): exemples: acier pour la fabrication d’une voiture, farine pour la fabrication de biscuits, etc.)</a:t>
            </a:r>
          </a:p>
          <a:p>
            <a:pPr lvl="1">
              <a:lnSpc>
                <a:spcPct val="120000"/>
              </a:lnSpc>
            </a:pPr>
            <a:r>
              <a:rPr lang="fr-CA" sz="2600" dirty="0"/>
              <a:t>Main-d’œuvre </a:t>
            </a:r>
            <a:r>
              <a:rPr lang="fr-CA" sz="2600" b="1" dirty="0">
                <a:solidFill>
                  <a:schemeClr val="tx2">
                    <a:lumMod val="60000"/>
                    <a:lumOff val="40000"/>
                  </a:schemeClr>
                </a:solidFill>
              </a:rPr>
              <a:t>directe</a:t>
            </a:r>
            <a:r>
              <a:rPr lang="fr-CA" sz="2600" dirty="0"/>
              <a:t> (MOD): les employés qui sont physiquement et directement associés à la transformation des matières premières en produits finis</a:t>
            </a:r>
          </a:p>
          <a:p>
            <a:pPr>
              <a:spcBef>
                <a:spcPts val="1800"/>
              </a:spcBef>
            </a:pPr>
            <a:r>
              <a:rPr lang="fr-CA" sz="2600" b="1" dirty="0"/>
              <a:t>La relation indirecte</a:t>
            </a:r>
          </a:p>
          <a:p>
            <a:pPr lvl="1">
              <a:lnSpc>
                <a:spcPct val="120000"/>
              </a:lnSpc>
            </a:pPr>
            <a:r>
              <a:rPr lang="fr-CA" sz="2600" dirty="0"/>
              <a:t>Matières indirectes: exemple: colle pour la finition d’un produit (ne peut pas être facilement rattachée au produit fini, parce que la quantité est trop faible et représente un coût minime). </a:t>
            </a:r>
          </a:p>
          <a:p>
            <a:pPr lvl="1">
              <a:lnSpc>
                <a:spcPct val="120000"/>
              </a:lnSpc>
              <a:spcBef>
                <a:spcPts val="1200"/>
              </a:spcBef>
            </a:pPr>
            <a:r>
              <a:rPr lang="fr-CA" sz="2600" dirty="0"/>
              <a:t>Main-d’œuvre </a:t>
            </a:r>
            <a:r>
              <a:rPr lang="fr-CA" sz="2600" b="1" dirty="0">
                <a:solidFill>
                  <a:schemeClr val="tx2">
                    <a:lumMod val="60000"/>
                    <a:lumOff val="40000"/>
                  </a:schemeClr>
                </a:solidFill>
              </a:rPr>
              <a:t>indirecte</a:t>
            </a:r>
            <a:r>
              <a:rPr lang="fr-CA" sz="2600" dirty="0"/>
              <a:t> (MOI): les employés qui travaillent dans l'usine de production, mais qui ne sont pas directement impliqués dans la transformation des matières premières en produit fini. (exemples: les superviseurs, les employés de maintenance, etc.) </a:t>
            </a:r>
          </a:p>
          <a:p>
            <a:pPr lvl="1">
              <a:lnSpc>
                <a:spcPct val="120000"/>
              </a:lnSpc>
              <a:spcBef>
                <a:spcPts val="1200"/>
              </a:spcBef>
              <a:spcAft>
                <a:spcPts val="600"/>
              </a:spcAft>
            </a:pPr>
            <a:r>
              <a:rPr lang="fr-CA" sz="2600" dirty="0"/>
              <a:t>Les autres frais généraux de fabrication (FGF): Ce qui est nécessaire à la fabrication, mais qui n’est pas classé dans la MP ou la MOD</a:t>
            </a:r>
          </a:p>
          <a:p>
            <a:pPr marL="0" indent="0">
              <a:buNone/>
            </a:pPr>
            <a:r>
              <a:rPr lang="fr-CA" sz="2600" b="1" i="1" dirty="0"/>
              <a:t>Note: Comme les matières indirectes, la main-d'œuvre indirecte est classée dans les frais généraux de fabrication.</a:t>
            </a:r>
            <a:endParaRPr lang="fr-CA" sz="2600" dirty="0"/>
          </a:p>
        </p:txBody>
      </p:sp>
      <p:sp>
        <p:nvSpPr>
          <p:cNvPr id="5" name="Espace réservé du numéro de diapositive 4">
            <a:extLst>
              <a:ext uri="{FF2B5EF4-FFF2-40B4-BE49-F238E27FC236}">
                <a16:creationId xmlns:a16="http://schemas.microsoft.com/office/drawing/2014/main" id="{4DE39CCF-C76A-41E2-BE62-BA05E56C2E4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11</a:t>
            </a:fld>
            <a:endParaRPr lang="fr-CA">
              <a:solidFill>
                <a:prstClr val="black">
                  <a:tint val="75000"/>
                </a:prstClr>
              </a:solidFill>
            </a:endParaRPr>
          </a:p>
        </p:txBody>
      </p:sp>
      <p:sp>
        <p:nvSpPr>
          <p:cNvPr id="7" name="Espace réservé du pied de page 1">
            <a:extLst>
              <a:ext uri="{FF2B5EF4-FFF2-40B4-BE49-F238E27FC236}">
                <a16:creationId xmlns:a16="http://schemas.microsoft.com/office/drawing/2014/main" id="{B0A1E833-4683-2434-F394-6CBE4A24C89D}"/>
              </a:ext>
            </a:extLst>
          </p:cNvPr>
          <p:cNvSpPr txBox="1">
            <a:spLocks/>
          </p:cNvSpPr>
          <p:nvPr>
            <p:custDataLst>
              <p:tags r:id="rId4"/>
            </p:custDataLst>
          </p:nvPr>
        </p:nvSpPr>
        <p:spPr>
          <a:xfrm>
            <a:off x="4531315" y="6503436"/>
            <a:ext cx="3129368" cy="300587"/>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sz="1200" dirty="0">
                <a:solidFill>
                  <a:prstClr val="black">
                    <a:tint val="75000"/>
                  </a:prstClr>
                </a:solidFill>
              </a:rPr>
              <a:t>(c) 10904 / S01</a:t>
            </a:r>
            <a:endParaRPr lang="fr-CA" sz="1200" dirty="0">
              <a:solidFill>
                <a:prstClr val="black">
                  <a:tint val="75000"/>
                </a:prstClr>
              </a:solidFill>
            </a:endParaRPr>
          </a:p>
        </p:txBody>
      </p:sp>
    </p:spTree>
    <p:extLst>
      <p:ext uri="{BB962C8B-B14F-4D97-AF65-F5344CB8AC3E}">
        <p14:creationId xmlns:p14="http://schemas.microsoft.com/office/powerpoint/2010/main" val="3049213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a:xfrm>
            <a:off x="481263" y="160589"/>
            <a:ext cx="11153274" cy="1042570"/>
          </a:xfrm>
        </p:spPr>
        <p:txBody>
          <a:bodyPr>
            <a:normAutofit fontScale="90000"/>
          </a:bodyPr>
          <a:lstStyle/>
          <a:p>
            <a:r>
              <a:rPr lang="fr-CA" dirty="0"/>
              <a:t>Pourquoi calculer le coût de fabrication des produits?</a:t>
            </a:r>
          </a:p>
        </p:txBody>
      </p:sp>
      <p:sp>
        <p:nvSpPr>
          <p:cNvPr id="6" name="Espace réservé du contenu 5"/>
          <p:cNvSpPr>
            <a:spLocks noGrp="1"/>
          </p:cNvSpPr>
          <p:nvPr>
            <p:ph idx="1"/>
            <p:custDataLst>
              <p:tags r:id="rId3"/>
            </p:custDataLst>
          </p:nvPr>
        </p:nvSpPr>
        <p:spPr>
          <a:xfrm>
            <a:off x="838200" y="1855433"/>
            <a:ext cx="10515600" cy="4321530"/>
          </a:xfrm>
        </p:spPr>
        <p:txBody>
          <a:bodyPr/>
          <a:lstStyle/>
          <a:p>
            <a:r>
              <a:rPr lang="fr-CA" dirty="0"/>
              <a:t>Évaluer les stocks (produits en cours et </a:t>
            </a:r>
            <a:r>
              <a:rPr lang="fr-CA" u="sng" dirty="0"/>
              <a:t>produits finis</a:t>
            </a:r>
            <a:r>
              <a:rPr lang="fr-CA" dirty="0"/>
              <a:t>) </a:t>
            </a:r>
          </a:p>
          <a:p>
            <a:r>
              <a:rPr lang="fr-CA" dirty="0"/>
              <a:t>Calculer le coût des produits vendus</a:t>
            </a:r>
          </a:p>
          <a:p>
            <a:r>
              <a:rPr lang="fr-CA" b="1" dirty="0"/>
              <a:t>Gérer les coûts</a:t>
            </a:r>
          </a:p>
          <a:p>
            <a:r>
              <a:rPr lang="fr-CA" b="1" dirty="0"/>
              <a:t>Établir les prix de vente</a:t>
            </a:r>
          </a:p>
          <a:p>
            <a:r>
              <a:rPr lang="fr-CA" b="1" dirty="0">
                <a:solidFill>
                  <a:srgbClr val="C00000"/>
                </a:solidFill>
              </a:rPr>
              <a:t>Estimer la rentabilité des produits</a:t>
            </a:r>
          </a:p>
          <a:p>
            <a:r>
              <a:rPr lang="fr-CA" dirty="0"/>
              <a:t>Planifier et contrôler les coûts</a:t>
            </a:r>
          </a:p>
          <a:p>
            <a:r>
              <a:rPr lang="fr-CA" dirty="0"/>
              <a:t>(…)</a:t>
            </a:r>
          </a:p>
          <a:p>
            <a:endParaRPr lang="fr-CA" dirty="0"/>
          </a:p>
        </p:txBody>
      </p:sp>
      <p:sp>
        <p:nvSpPr>
          <p:cNvPr id="4" name="Espace réservé du pied de page 6">
            <a:extLst>
              <a:ext uri="{FF2B5EF4-FFF2-40B4-BE49-F238E27FC236}">
                <a16:creationId xmlns:a16="http://schemas.microsoft.com/office/drawing/2014/main" id="{DBC00D6E-6C7B-D354-6CD0-D484D3418BD0}"/>
              </a:ext>
            </a:extLst>
          </p:cNvPr>
          <p:cNvSpPr>
            <a:spLocks noGrp="1"/>
          </p:cNvSpPr>
          <p:nvPr>
            <p:ph type="ftr" sz="quarter" idx="11"/>
            <p:custDataLst>
              <p:tags r:id="rId4"/>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
        <p:nvSpPr>
          <p:cNvPr id="5" name="Espace réservé du numéro de diapositive 2">
            <a:extLst>
              <a:ext uri="{FF2B5EF4-FFF2-40B4-BE49-F238E27FC236}">
                <a16:creationId xmlns:a16="http://schemas.microsoft.com/office/drawing/2014/main" id="{EED959D4-61DD-8E78-3F8C-712BBF53F2CF}"/>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12</a:t>
            </a:fld>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989619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06F3-39D6-6F14-4454-E21C011998F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E184F71-7941-C7DC-6A9E-003B1070258A}"/>
              </a:ext>
            </a:extLst>
          </p:cNvPr>
          <p:cNvSpPr>
            <a:spLocks noGrp="1"/>
          </p:cNvSpPr>
          <p:nvPr>
            <p:ph type="title"/>
            <p:custDataLst>
              <p:tags r:id="rId1"/>
            </p:custDataLst>
          </p:nvPr>
        </p:nvSpPr>
        <p:spPr/>
        <p:txBody>
          <a:bodyPr>
            <a:normAutofit fontScale="90000"/>
          </a:bodyPr>
          <a:lstStyle/>
          <a:p>
            <a:r>
              <a:rPr lang="fr-CA" dirty="0"/>
              <a:t>Principales marges unitaires pour analyser la rentabilité des produits…</a:t>
            </a:r>
            <a:endParaRPr lang="fr-CA" i="1" dirty="0"/>
          </a:p>
        </p:txBody>
      </p:sp>
      <p:sp>
        <p:nvSpPr>
          <p:cNvPr id="5" name="Espace réservé du numéro de diapositive 4">
            <a:extLst>
              <a:ext uri="{FF2B5EF4-FFF2-40B4-BE49-F238E27FC236}">
                <a16:creationId xmlns:a16="http://schemas.microsoft.com/office/drawing/2014/main" id="{06049EAC-6C8E-F8C3-5285-575FE3203398}"/>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13</a:t>
            </a:fld>
            <a:endParaRPr lang="fr-CA">
              <a:solidFill>
                <a:prstClr val="black">
                  <a:tint val="75000"/>
                </a:prstClr>
              </a:solidFill>
            </a:endParaRPr>
          </a:p>
        </p:txBody>
      </p:sp>
      <p:sp>
        <p:nvSpPr>
          <p:cNvPr id="4" name="Espace réservé du contenu 2">
            <a:extLst>
              <a:ext uri="{FF2B5EF4-FFF2-40B4-BE49-F238E27FC236}">
                <a16:creationId xmlns:a16="http://schemas.microsoft.com/office/drawing/2014/main" id="{EAD7B8E3-411A-FF12-8A6C-109BF4DCE562}"/>
              </a:ext>
            </a:extLst>
          </p:cNvPr>
          <p:cNvSpPr txBox="1">
            <a:spLocks/>
          </p:cNvSpPr>
          <p:nvPr>
            <p:custDataLst>
              <p:tags r:id="rId3"/>
            </p:custDataLst>
          </p:nvPr>
        </p:nvSpPr>
        <p:spPr>
          <a:xfrm>
            <a:off x="838200" y="2270947"/>
            <a:ext cx="4751231" cy="392382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fr-CA" b="1" dirty="0"/>
          </a:p>
        </p:txBody>
      </p:sp>
      <p:sp>
        <p:nvSpPr>
          <p:cNvPr id="7" name="Espace réservé du pied de page 6">
            <a:extLst>
              <a:ext uri="{FF2B5EF4-FFF2-40B4-BE49-F238E27FC236}">
                <a16:creationId xmlns:a16="http://schemas.microsoft.com/office/drawing/2014/main" id="{46ACA7BF-77B3-D992-E801-48F3719BD290}"/>
              </a:ext>
            </a:extLst>
          </p:cNvPr>
          <p:cNvSpPr>
            <a:spLocks noGrp="1"/>
          </p:cNvSpPr>
          <p:nvPr>
            <p:ph type="ftr" sz="quarter" idx="11"/>
            <p:custDataLst>
              <p:tags r:id="rId4"/>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
        <p:nvSpPr>
          <p:cNvPr id="12" name="ZoneTexte 11">
            <a:extLst>
              <a:ext uri="{FF2B5EF4-FFF2-40B4-BE49-F238E27FC236}">
                <a16:creationId xmlns:a16="http://schemas.microsoft.com/office/drawing/2014/main" id="{9037F6E4-C254-8963-4965-0069053A9B83}"/>
              </a:ext>
            </a:extLst>
          </p:cNvPr>
          <p:cNvSpPr txBox="1"/>
          <p:nvPr/>
        </p:nvSpPr>
        <p:spPr>
          <a:xfrm>
            <a:off x="1593761" y="1491448"/>
            <a:ext cx="7717664" cy="492443"/>
          </a:xfrm>
          <a:prstGeom prst="rect">
            <a:avLst/>
          </a:prstGeom>
          <a:noFill/>
        </p:spPr>
        <p:txBody>
          <a:bodyPr wrap="square">
            <a:spAutoFit/>
          </a:bodyPr>
          <a:lstStyle/>
          <a:p>
            <a:r>
              <a:rPr lang="fr-CA" sz="2600" i="1" dirty="0"/>
              <a:t>dans le contexte d’une entreprise manufacturière</a:t>
            </a:r>
            <a:endParaRPr lang="fr-CA" sz="2600" dirty="0"/>
          </a:p>
        </p:txBody>
      </p:sp>
    </p:spTree>
    <p:extLst>
      <p:ext uri="{BB962C8B-B14F-4D97-AF65-F5344CB8AC3E}">
        <p14:creationId xmlns:p14="http://schemas.microsoft.com/office/powerpoint/2010/main" val="2728178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6BE0F6-9D34-25BD-A603-76B0CA274959}"/>
              </a:ext>
            </a:extLst>
          </p:cNvPr>
          <p:cNvSpPr>
            <a:spLocks noGrp="1"/>
          </p:cNvSpPr>
          <p:nvPr>
            <p:ph type="title"/>
          </p:nvPr>
        </p:nvSpPr>
        <p:spPr/>
        <p:txBody>
          <a:bodyPr/>
          <a:lstStyle/>
          <a:p>
            <a:r>
              <a:rPr lang="fr-CA" dirty="0"/>
              <a:t>Illustration calcul de la marge brute- 1 produit</a:t>
            </a:r>
          </a:p>
        </p:txBody>
      </p:sp>
      <p:sp>
        <p:nvSpPr>
          <p:cNvPr id="3" name="Espace réservé du contenu 2">
            <a:extLst>
              <a:ext uri="{FF2B5EF4-FFF2-40B4-BE49-F238E27FC236}">
                <a16:creationId xmlns:a16="http://schemas.microsoft.com/office/drawing/2014/main" id="{BB9B143D-85AC-04B8-6DD5-ECFDE8C8CD61}"/>
              </a:ext>
            </a:extLst>
          </p:cNvPr>
          <p:cNvSpPr>
            <a:spLocks noGrp="1"/>
          </p:cNvSpPr>
          <p:nvPr>
            <p:ph idx="1"/>
          </p:nvPr>
        </p:nvSpPr>
        <p:spPr/>
        <p:txBody>
          <a:bodyPr>
            <a:normAutofit lnSpcReduction="10000"/>
          </a:bodyPr>
          <a:lstStyle/>
          <a:p>
            <a:pPr marL="0" indent="0">
              <a:buNone/>
            </a:pPr>
            <a:r>
              <a:rPr lang="fr-CA" dirty="0"/>
              <a:t>L’entreprise </a:t>
            </a:r>
            <a:r>
              <a:rPr lang="fr-CA" dirty="0" err="1"/>
              <a:t>PizzaNord</a:t>
            </a:r>
            <a:r>
              <a:rPr lang="fr-CA" dirty="0"/>
              <a:t> </a:t>
            </a:r>
            <a:r>
              <a:rPr lang="fr-CA" dirty="0" err="1"/>
              <a:t>inc.</a:t>
            </a:r>
            <a:r>
              <a:rPr lang="fr-CA" dirty="0"/>
              <a:t> fabrique des pâtes à pizza destinées aux épiceries locales. Pour le mois de mai, elle prévoit produire et vendre   5 000 unités. Chaque pâte est vendue à un prix de 6,00 $.La direction souhaite analyser la performance de ce produit en calculant la marge brute. </a:t>
            </a:r>
          </a:p>
          <a:p>
            <a:pPr marL="0" indent="0">
              <a:buNone/>
            </a:pPr>
            <a:r>
              <a:rPr lang="fr-CA" dirty="0"/>
              <a:t>La fabrication d’une pâte à pizza nécessite les ingrédients suivants :</a:t>
            </a:r>
          </a:p>
          <a:p>
            <a:pPr marL="0" indent="0">
              <a:buNone/>
            </a:pPr>
            <a:r>
              <a:rPr lang="fr-CA" dirty="0"/>
              <a:t>Farine : 0,70 $</a:t>
            </a:r>
          </a:p>
          <a:p>
            <a:pPr marL="0" indent="0">
              <a:buNone/>
            </a:pPr>
            <a:r>
              <a:rPr lang="fr-CA" dirty="0"/>
              <a:t>Levure : 0,20 $</a:t>
            </a:r>
          </a:p>
          <a:p>
            <a:pPr marL="0" indent="0">
              <a:buNone/>
            </a:pPr>
            <a:r>
              <a:rPr lang="fr-CA" dirty="0"/>
              <a:t>Emballage : 0,30 $</a:t>
            </a:r>
          </a:p>
          <a:p>
            <a:pPr marL="0" indent="0">
              <a:buNone/>
            </a:pPr>
            <a:r>
              <a:rPr lang="fr-CA" dirty="0"/>
              <a:t>Les employés prennent 0,05 h à fabriquer une pâte et sont payés 20$/h.</a:t>
            </a:r>
          </a:p>
        </p:txBody>
      </p:sp>
      <p:sp>
        <p:nvSpPr>
          <p:cNvPr id="4" name="Espace réservé du pied de page 3">
            <a:extLst>
              <a:ext uri="{FF2B5EF4-FFF2-40B4-BE49-F238E27FC236}">
                <a16:creationId xmlns:a16="http://schemas.microsoft.com/office/drawing/2014/main" id="{2A2FF303-0E5E-D39D-5FB5-D02B5E8F24B9}"/>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064B1B68-2F05-4CC9-CF11-EDB927A0D01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14</a:t>
            </a:fld>
            <a:endParaRPr lang="fr-CA">
              <a:solidFill>
                <a:prstClr val="black">
                  <a:tint val="75000"/>
                </a:prstClr>
              </a:solidFill>
            </a:endParaRPr>
          </a:p>
        </p:txBody>
      </p:sp>
    </p:spTree>
    <p:extLst>
      <p:ext uri="{BB962C8B-B14F-4D97-AF65-F5344CB8AC3E}">
        <p14:creationId xmlns:p14="http://schemas.microsoft.com/office/powerpoint/2010/main" val="120697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CC9A3-2A58-1F51-1149-239C25E0373A}"/>
              </a:ext>
            </a:extLst>
          </p:cNvPr>
          <p:cNvSpPr>
            <a:spLocks noGrp="1"/>
          </p:cNvSpPr>
          <p:nvPr>
            <p:ph type="title"/>
          </p:nvPr>
        </p:nvSpPr>
        <p:spPr/>
        <p:txBody>
          <a:bodyPr/>
          <a:lstStyle/>
          <a:p>
            <a:r>
              <a:rPr lang="fr-CA" dirty="0"/>
              <a:t>Illustration (suite)</a:t>
            </a:r>
          </a:p>
        </p:txBody>
      </p:sp>
      <p:sp>
        <p:nvSpPr>
          <p:cNvPr id="3" name="Espace réservé du contenu 2">
            <a:extLst>
              <a:ext uri="{FF2B5EF4-FFF2-40B4-BE49-F238E27FC236}">
                <a16:creationId xmlns:a16="http://schemas.microsoft.com/office/drawing/2014/main" id="{FDD2A623-CA3C-D368-0A55-BDC55897C34D}"/>
              </a:ext>
            </a:extLst>
          </p:cNvPr>
          <p:cNvSpPr>
            <a:spLocks noGrp="1"/>
          </p:cNvSpPr>
          <p:nvPr>
            <p:ph idx="1"/>
          </p:nvPr>
        </p:nvSpPr>
        <p:spPr/>
        <p:txBody>
          <a:bodyPr>
            <a:normAutofit/>
          </a:bodyPr>
          <a:lstStyle/>
          <a:p>
            <a:pPr marL="0" indent="0">
              <a:buNone/>
            </a:pPr>
            <a:r>
              <a:rPr lang="fr-CA" dirty="0"/>
              <a:t>Le comptable vous a sorti la liste des autres frais mensuels:</a:t>
            </a:r>
          </a:p>
          <a:p>
            <a:pPr lvl="1"/>
            <a:r>
              <a:rPr lang="fr-CA" dirty="0"/>
              <a:t>Énergie liée aux machines : 0,40 $/unité</a:t>
            </a:r>
          </a:p>
          <a:p>
            <a:pPr lvl="1"/>
            <a:r>
              <a:rPr lang="fr-CA" dirty="0"/>
              <a:t>Entretien variable : 0,20 $/unité</a:t>
            </a:r>
          </a:p>
          <a:p>
            <a:pPr lvl="1"/>
            <a:r>
              <a:rPr lang="fr-CA" dirty="0"/>
              <a:t>Amortissement des équipements : 2 500 $</a:t>
            </a:r>
          </a:p>
          <a:p>
            <a:pPr lvl="1"/>
            <a:r>
              <a:rPr lang="fr-CA" dirty="0"/>
              <a:t>Salaire du superviseur : 2 000 $</a:t>
            </a:r>
          </a:p>
          <a:p>
            <a:pPr lvl="1"/>
            <a:r>
              <a:rPr lang="fr-CA" dirty="0"/>
              <a:t>Loyer (portion usine) : 1 500 $</a:t>
            </a:r>
          </a:p>
          <a:p>
            <a:pPr lvl="1"/>
            <a:r>
              <a:rPr lang="fr-CA" dirty="0"/>
              <a:t>Frais de livraison : 0,30 $ / unité</a:t>
            </a:r>
          </a:p>
          <a:p>
            <a:pPr lvl="1"/>
            <a:r>
              <a:rPr lang="fr-CA" dirty="0"/>
              <a:t>Commission des vendeurs (5 % du prix de vente)</a:t>
            </a:r>
          </a:p>
          <a:p>
            <a:pPr lvl="1"/>
            <a:r>
              <a:rPr lang="fr-CA" dirty="0"/>
              <a:t>Salaires administratifs : 3 000 $</a:t>
            </a:r>
          </a:p>
          <a:p>
            <a:pPr lvl="1"/>
            <a:r>
              <a:rPr lang="fr-CA" dirty="0"/>
              <a:t>Publicité : 1 200 $</a:t>
            </a:r>
          </a:p>
          <a:p>
            <a:pPr marL="0" indent="0">
              <a:buNone/>
            </a:pPr>
            <a:endParaRPr lang="fr-CA" dirty="0"/>
          </a:p>
          <a:p>
            <a:pPr marL="0" indent="0">
              <a:buNone/>
            </a:pPr>
            <a:endParaRPr lang="fr-CA" dirty="0"/>
          </a:p>
        </p:txBody>
      </p:sp>
      <p:sp>
        <p:nvSpPr>
          <p:cNvPr id="4" name="Espace réservé du pied de page 3">
            <a:extLst>
              <a:ext uri="{FF2B5EF4-FFF2-40B4-BE49-F238E27FC236}">
                <a16:creationId xmlns:a16="http://schemas.microsoft.com/office/drawing/2014/main" id="{929354B9-6C29-BA8C-0F26-9C086B9131FD}"/>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9CFB7C81-70AB-0804-4059-BB10739875C7}"/>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15</a:t>
            </a:fld>
            <a:endParaRPr lang="fr-CA">
              <a:solidFill>
                <a:prstClr val="black">
                  <a:tint val="75000"/>
                </a:prstClr>
              </a:solidFill>
            </a:endParaRPr>
          </a:p>
        </p:txBody>
      </p:sp>
    </p:spTree>
    <p:extLst>
      <p:ext uri="{BB962C8B-B14F-4D97-AF65-F5344CB8AC3E}">
        <p14:creationId xmlns:p14="http://schemas.microsoft.com/office/powerpoint/2010/main" val="3359253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A481E1-50C6-A583-048C-B79940B442B7}"/>
              </a:ext>
            </a:extLst>
          </p:cNvPr>
          <p:cNvSpPr>
            <a:spLocks noGrp="1"/>
          </p:cNvSpPr>
          <p:nvPr>
            <p:ph type="title"/>
          </p:nvPr>
        </p:nvSpPr>
        <p:spPr/>
        <p:txBody>
          <a:bodyPr/>
          <a:lstStyle/>
          <a:p>
            <a:r>
              <a:rPr lang="fr-CA" dirty="0"/>
              <a:t>Illustration (solution)</a:t>
            </a:r>
          </a:p>
        </p:txBody>
      </p:sp>
      <p:sp>
        <p:nvSpPr>
          <p:cNvPr id="3" name="Espace réservé du contenu 2">
            <a:extLst>
              <a:ext uri="{FF2B5EF4-FFF2-40B4-BE49-F238E27FC236}">
                <a16:creationId xmlns:a16="http://schemas.microsoft.com/office/drawing/2014/main" id="{DDF5C086-C28D-4506-45F6-B12E59DDFB8B}"/>
              </a:ext>
            </a:extLst>
          </p:cNvPr>
          <p:cNvSpPr>
            <a:spLocks noGrp="1"/>
          </p:cNvSpPr>
          <p:nvPr>
            <p:ph idx="1"/>
          </p:nvPr>
        </p:nvSpPr>
        <p:spPr/>
        <p:txBody>
          <a:bodyPr/>
          <a:lstStyle/>
          <a:p>
            <a:r>
              <a:rPr lang="fr-CA" dirty="0"/>
              <a:t>Calculez la marge brute d’une pâte à pizza. </a:t>
            </a:r>
          </a:p>
        </p:txBody>
      </p:sp>
      <p:sp>
        <p:nvSpPr>
          <p:cNvPr id="4" name="Espace réservé du pied de page 3">
            <a:extLst>
              <a:ext uri="{FF2B5EF4-FFF2-40B4-BE49-F238E27FC236}">
                <a16:creationId xmlns:a16="http://schemas.microsoft.com/office/drawing/2014/main" id="{6B1BF5AB-B46F-17D4-813F-D4AB57C7D90D}"/>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6F0C20D5-5283-D755-DD9E-AA760D800338}"/>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16</a:t>
            </a:fld>
            <a:endParaRPr lang="fr-CA">
              <a:solidFill>
                <a:prstClr val="black">
                  <a:tint val="75000"/>
                </a:prstClr>
              </a:solidFill>
            </a:endParaRPr>
          </a:p>
        </p:txBody>
      </p:sp>
    </p:spTree>
    <p:extLst>
      <p:ext uri="{BB962C8B-B14F-4D97-AF65-F5344CB8AC3E}">
        <p14:creationId xmlns:p14="http://schemas.microsoft.com/office/powerpoint/2010/main" val="141722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E2BB62-A29E-C8A4-8A5F-9F329AF80B63}"/>
              </a:ext>
            </a:extLst>
          </p:cNvPr>
          <p:cNvSpPr>
            <a:spLocks noGrp="1"/>
          </p:cNvSpPr>
          <p:nvPr>
            <p:ph type="title"/>
          </p:nvPr>
        </p:nvSpPr>
        <p:spPr/>
        <p:txBody>
          <a:bodyPr>
            <a:normAutofit fontScale="90000"/>
          </a:bodyPr>
          <a:lstStyle/>
          <a:p>
            <a:r>
              <a:rPr lang="fr-CA" dirty="0"/>
              <a:t>Illustration calcul de la marge brute- </a:t>
            </a:r>
            <a:br>
              <a:rPr lang="fr-CA" dirty="0"/>
            </a:br>
            <a:r>
              <a:rPr lang="fr-CA" dirty="0"/>
              <a:t>plusieurs produits</a:t>
            </a:r>
          </a:p>
        </p:txBody>
      </p:sp>
      <p:sp>
        <p:nvSpPr>
          <p:cNvPr id="3" name="Espace réservé du contenu 2">
            <a:extLst>
              <a:ext uri="{FF2B5EF4-FFF2-40B4-BE49-F238E27FC236}">
                <a16:creationId xmlns:a16="http://schemas.microsoft.com/office/drawing/2014/main" id="{49C7A3FE-C7F1-6169-792C-3B3E80AD7A24}"/>
              </a:ext>
            </a:extLst>
          </p:cNvPr>
          <p:cNvSpPr>
            <a:spLocks noGrp="1"/>
          </p:cNvSpPr>
          <p:nvPr>
            <p:ph idx="1"/>
          </p:nvPr>
        </p:nvSpPr>
        <p:spPr/>
        <p:txBody>
          <a:bodyPr/>
          <a:lstStyle/>
          <a:p>
            <a:pPr marL="0" indent="0">
              <a:buNone/>
            </a:pPr>
            <a:r>
              <a:rPr lang="fr-CA" dirty="0"/>
              <a:t>L’entreprise </a:t>
            </a:r>
            <a:r>
              <a:rPr lang="fr-CA" dirty="0" err="1"/>
              <a:t>PizzaNord</a:t>
            </a:r>
            <a:r>
              <a:rPr lang="fr-CA" dirty="0"/>
              <a:t> </a:t>
            </a:r>
            <a:r>
              <a:rPr lang="fr-CA" dirty="0" err="1"/>
              <a:t>inc.</a:t>
            </a:r>
            <a:r>
              <a:rPr lang="fr-CA" dirty="0"/>
              <a:t> fabrique et vend trois produits :</a:t>
            </a:r>
          </a:p>
          <a:p>
            <a:r>
              <a:rPr lang="fr-CA" dirty="0"/>
              <a:t>Pâtes fraîches</a:t>
            </a:r>
          </a:p>
          <a:p>
            <a:r>
              <a:rPr lang="fr-CA" dirty="0"/>
              <a:t>Pizza margarita</a:t>
            </a:r>
          </a:p>
          <a:p>
            <a:r>
              <a:rPr lang="fr-CA" dirty="0"/>
              <a:t>Pizza toute-garnie</a:t>
            </a:r>
          </a:p>
          <a:p>
            <a:pPr marL="0" indent="0">
              <a:buNone/>
            </a:pPr>
            <a:r>
              <a:rPr lang="fr-CA" dirty="0"/>
              <a:t>Pour le mois de mai, elle prévoit les volumes de production suivants :</a:t>
            </a:r>
          </a:p>
          <a:p>
            <a:pPr marL="0" indent="0">
              <a:buNone/>
            </a:pPr>
            <a:endParaRPr lang="fr-CA" dirty="0"/>
          </a:p>
        </p:txBody>
      </p:sp>
      <p:sp>
        <p:nvSpPr>
          <p:cNvPr id="4" name="Espace réservé du pied de page 3">
            <a:extLst>
              <a:ext uri="{FF2B5EF4-FFF2-40B4-BE49-F238E27FC236}">
                <a16:creationId xmlns:a16="http://schemas.microsoft.com/office/drawing/2014/main" id="{A8CE2CE4-4F2C-4AFC-BA1E-CC8E47DBE309}"/>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23CBB62-8AA9-1E0E-A35C-AEB54D95DE0E}"/>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17</a:t>
            </a:fld>
            <a:endParaRPr lang="fr-CA">
              <a:solidFill>
                <a:prstClr val="black">
                  <a:tint val="75000"/>
                </a:prstClr>
              </a:solidFill>
            </a:endParaRPr>
          </a:p>
        </p:txBody>
      </p:sp>
      <p:graphicFrame>
        <p:nvGraphicFramePr>
          <p:cNvPr id="8" name="Tableau 7">
            <a:extLst>
              <a:ext uri="{FF2B5EF4-FFF2-40B4-BE49-F238E27FC236}">
                <a16:creationId xmlns:a16="http://schemas.microsoft.com/office/drawing/2014/main" id="{DFD3BE98-382B-925A-BBC3-2A09471B4AD9}"/>
              </a:ext>
            </a:extLst>
          </p:cNvPr>
          <p:cNvGraphicFramePr>
            <a:graphicFrameLocks noGrp="1"/>
          </p:cNvGraphicFramePr>
          <p:nvPr>
            <p:extLst>
              <p:ext uri="{D42A27DB-BD31-4B8C-83A1-F6EECF244321}">
                <p14:modId xmlns:p14="http://schemas.microsoft.com/office/powerpoint/2010/main" val="2711740644"/>
              </p:ext>
            </p:extLst>
          </p:nvPr>
        </p:nvGraphicFramePr>
        <p:xfrm>
          <a:off x="1401885" y="4106227"/>
          <a:ext cx="9170080" cy="2194560"/>
        </p:xfrm>
        <a:graphic>
          <a:graphicData uri="http://schemas.openxmlformats.org/drawingml/2006/table">
            <a:tbl>
              <a:tblPr firstRow="1" bandRow="1">
                <a:tableStyleId>{5940675A-B579-460E-94D1-54222C63F5DA}</a:tableStyleId>
              </a:tblPr>
              <a:tblGrid>
                <a:gridCol w="1834016">
                  <a:extLst>
                    <a:ext uri="{9D8B030D-6E8A-4147-A177-3AD203B41FA5}">
                      <a16:colId xmlns:a16="http://schemas.microsoft.com/office/drawing/2014/main" val="1218085858"/>
                    </a:ext>
                  </a:extLst>
                </a:gridCol>
                <a:gridCol w="1834016">
                  <a:extLst>
                    <a:ext uri="{9D8B030D-6E8A-4147-A177-3AD203B41FA5}">
                      <a16:colId xmlns:a16="http://schemas.microsoft.com/office/drawing/2014/main" val="2526452281"/>
                    </a:ext>
                  </a:extLst>
                </a:gridCol>
                <a:gridCol w="1834016">
                  <a:extLst>
                    <a:ext uri="{9D8B030D-6E8A-4147-A177-3AD203B41FA5}">
                      <a16:colId xmlns:a16="http://schemas.microsoft.com/office/drawing/2014/main" val="3158340079"/>
                    </a:ext>
                  </a:extLst>
                </a:gridCol>
                <a:gridCol w="1988858">
                  <a:extLst>
                    <a:ext uri="{9D8B030D-6E8A-4147-A177-3AD203B41FA5}">
                      <a16:colId xmlns:a16="http://schemas.microsoft.com/office/drawing/2014/main" val="3279313187"/>
                    </a:ext>
                  </a:extLst>
                </a:gridCol>
                <a:gridCol w="1679174">
                  <a:extLst>
                    <a:ext uri="{9D8B030D-6E8A-4147-A177-3AD203B41FA5}">
                      <a16:colId xmlns:a16="http://schemas.microsoft.com/office/drawing/2014/main" val="1710747918"/>
                    </a:ext>
                  </a:extLst>
                </a:gridCol>
              </a:tblGrid>
              <a:tr h="370840">
                <a:tc>
                  <a:txBody>
                    <a:bodyPr/>
                    <a:lstStyle/>
                    <a:p>
                      <a:r>
                        <a:rPr lang="fr-CA" sz="2000" b="1" dirty="0"/>
                        <a:t>Produits (congelé)</a:t>
                      </a:r>
                    </a:p>
                  </a:txBody>
                  <a:tcPr/>
                </a:tc>
                <a:tc>
                  <a:txBody>
                    <a:bodyPr/>
                    <a:lstStyle/>
                    <a:p>
                      <a:r>
                        <a:rPr lang="fr-CA" sz="2000" b="1" dirty="0"/>
                        <a:t>Volume</a:t>
                      </a:r>
                    </a:p>
                  </a:txBody>
                  <a:tcPr/>
                </a:tc>
                <a:tc>
                  <a:txBody>
                    <a:bodyPr/>
                    <a:lstStyle/>
                    <a:p>
                      <a:r>
                        <a:rPr lang="fr-CA" sz="2000" b="1" dirty="0"/>
                        <a:t>Heures </a:t>
                      </a:r>
                    </a:p>
                    <a:p>
                      <a:r>
                        <a:rPr lang="fr-CA" sz="2000" b="1" dirty="0"/>
                        <a:t>machine</a:t>
                      </a:r>
                    </a:p>
                  </a:txBody>
                  <a:tcPr/>
                </a:tc>
                <a:tc>
                  <a:txBody>
                    <a:bodyPr/>
                    <a:lstStyle/>
                    <a:p>
                      <a:r>
                        <a:rPr lang="fr-CA" sz="2000" b="1" dirty="0"/>
                        <a:t>Heures </a:t>
                      </a:r>
                    </a:p>
                    <a:p>
                      <a:r>
                        <a:rPr lang="fr-CA" sz="2000" b="1" dirty="0"/>
                        <a:t>MOD</a:t>
                      </a:r>
                    </a:p>
                  </a:txBody>
                  <a:tcPr/>
                </a:tc>
                <a:tc>
                  <a:txBody>
                    <a:bodyPr/>
                    <a:lstStyle/>
                    <a:p>
                      <a:r>
                        <a:rPr lang="fr-CA" sz="2000" b="1" dirty="0"/>
                        <a:t>Prix de vente</a:t>
                      </a:r>
                    </a:p>
                  </a:txBody>
                  <a:tcPr/>
                </a:tc>
                <a:extLst>
                  <a:ext uri="{0D108BD9-81ED-4DB2-BD59-A6C34878D82A}">
                    <a16:rowId xmlns:a16="http://schemas.microsoft.com/office/drawing/2014/main" val="2198629668"/>
                  </a:ext>
                </a:extLst>
              </a:tr>
              <a:tr h="370840">
                <a:tc>
                  <a:txBody>
                    <a:bodyPr/>
                    <a:lstStyle/>
                    <a:p>
                      <a:r>
                        <a:rPr lang="fr-CA" sz="2000" dirty="0"/>
                        <a:t>Pâtes fraîches</a:t>
                      </a:r>
                    </a:p>
                  </a:txBody>
                  <a:tcPr/>
                </a:tc>
                <a:tc>
                  <a:txBody>
                    <a:bodyPr/>
                    <a:lstStyle/>
                    <a:p>
                      <a:r>
                        <a:rPr lang="fr-CA" sz="2000" dirty="0"/>
                        <a:t>4 000 unités</a:t>
                      </a:r>
                    </a:p>
                  </a:txBody>
                  <a:tcPr/>
                </a:tc>
                <a:tc>
                  <a:txBody>
                    <a:bodyPr/>
                    <a:lstStyle/>
                    <a:p>
                      <a:endParaRPr lang="fr-CA" sz="2000" dirty="0"/>
                    </a:p>
                  </a:txBody>
                  <a:tcPr/>
                </a:tc>
                <a:tc>
                  <a:txBody>
                    <a:bodyPr/>
                    <a:lstStyle/>
                    <a:p>
                      <a:r>
                        <a:rPr lang="fr-CA" sz="2000" dirty="0"/>
                        <a:t>200 h</a:t>
                      </a:r>
                    </a:p>
                  </a:txBody>
                  <a:tcPr/>
                </a:tc>
                <a:tc>
                  <a:txBody>
                    <a:bodyPr/>
                    <a:lstStyle/>
                    <a:p>
                      <a:r>
                        <a:rPr lang="fr-CA" sz="2000" dirty="0"/>
                        <a:t>6,00 $</a:t>
                      </a:r>
                    </a:p>
                  </a:txBody>
                  <a:tcPr/>
                </a:tc>
                <a:extLst>
                  <a:ext uri="{0D108BD9-81ED-4DB2-BD59-A6C34878D82A}">
                    <a16:rowId xmlns:a16="http://schemas.microsoft.com/office/drawing/2014/main" val="1112797490"/>
                  </a:ext>
                </a:extLst>
              </a:tr>
              <a:tr h="370840">
                <a:tc>
                  <a:txBody>
                    <a:bodyPr/>
                    <a:lstStyle/>
                    <a:p>
                      <a:r>
                        <a:rPr lang="fr-CA" sz="2000" dirty="0"/>
                        <a:t>Pizza margarita</a:t>
                      </a:r>
                    </a:p>
                  </a:txBody>
                  <a:tcPr/>
                </a:tc>
                <a:tc>
                  <a:txBody>
                    <a:bodyPr/>
                    <a:lstStyle/>
                    <a:p>
                      <a:r>
                        <a:rPr lang="fr-CA" sz="2000" dirty="0"/>
                        <a:t>3 000 unités</a:t>
                      </a:r>
                    </a:p>
                  </a:txBody>
                  <a:tcPr/>
                </a:tc>
                <a:tc>
                  <a:txBody>
                    <a:bodyPr/>
                    <a:lstStyle/>
                    <a:p>
                      <a:r>
                        <a:rPr lang="fr-CA" sz="2000" dirty="0"/>
                        <a:t>750 h</a:t>
                      </a:r>
                    </a:p>
                  </a:txBody>
                  <a:tcPr/>
                </a:tc>
                <a:tc>
                  <a:txBody>
                    <a:bodyPr/>
                    <a:lstStyle/>
                    <a:p>
                      <a:r>
                        <a:rPr lang="fr-CA" sz="2000" dirty="0"/>
                        <a:t>450 h</a:t>
                      </a:r>
                    </a:p>
                  </a:txBody>
                  <a:tcPr/>
                </a:tc>
                <a:tc>
                  <a:txBody>
                    <a:bodyPr/>
                    <a:lstStyle/>
                    <a:p>
                      <a:r>
                        <a:rPr lang="fr-CA" sz="2000" dirty="0"/>
                        <a:t>12,00 $</a:t>
                      </a:r>
                    </a:p>
                  </a:txBody>
                  <a:tcPr/>
                </a:tc>
                <a:extLst>
                  <a:ext uri="{0D108BD9-81ED-4DB2-BD59-A6C34878D82A}">
                    <a16:rowId xmlns:a16="http://schemas.microsoft.com/office/drawing/2014/main" val="3522961543"/>
                  </a:ext>
                </a:extLst>
              </a:tr>
              <a:tr h="370840">
                <a:tc>
                  <a:txBody>
                    <a:bodyPr/>
                    <a:lstStyle/>
                    <a:p>
                      <a:r>
                        <a:rPr lang="fr-CA" sz="2000" dirty="0"/>
                        <a:t>Pizza toute -garnie</a:t>
                      </a:r>
                    </a:p>
                  </a:txBody>
                  <a:tcPr/>
                </a:tc>
                <a:tc>
                  <a:txBody>
                    <a:bodyPr/>
                    <a:lstStyle/>
                    <a:p>
                      <a:r>
                        <a:rPr lang="fr-CA" sz="2000" dirty="0"/>
                        <a:t>3 000 unités</a:t>
                      </a:r>
                    </a:p>
                  </a:txBody>
                  <a:tcPr/>
                </a:tc>
                <a:tc>
                  <a:txBody>
                    <a:bodyPr/>
                    <a:lstStyle/>
                    <a:p>
                      <a:r>
                        <a:rPr lang="fr-CA" sz="2000" dirty="0"/>
                        <a:t>900 h</a:t>
                      </a:r>
                    </a:p>
                  </a:txBody>
                  <a:tcPr/>
                </a:tc>
                <a:tc>
                  <a:txBody>
                    <a:bodyPr/>
                    <a:lstStyle/>
                    <a:p>
                      <a:r>
                        <a:rPr lang="fr-CA" sz="2000" dirty="0"/>
                        <a:t>525 h</a:t>
                      </a:r>
                    </a:p>
                  </a:txBody>
                  <a:tcPr/>
                </a:tc>
                <a:tc>
                  <a:txBody>
                    <a:bodyPr/>
                    <a:lstStyle/>
                    <a:p>
                      <a:r>
                        <a:rPr lang="fr-CA" sz="2000" dirty="0"/>
                        <a:t>14,00 $</a:t>
                      </a:r>
                    </a:p>
                  </a:txBody>
                  <a:tcPr/>
                </a:tc>
                <a:extLst>
                  <a:ext uri="{0D108BD9-81ED-4DB2-BD59-A6C34878D82A}">
                    <a16:rowId xmlns:a16="http://schemas.microsoft.com/office/drawing/2014/main" val="1255885915"/>
                  </a:ext>
                </a:extLst>
              </a:tr>
            </a:tbl>
          </a:graphicData>
        </a:graphic>
      </p:graphicFrame>
    </p:spTree>
    <p:extLst>
      <p:ext uri="{BB962C8B-B14F-4D97-AF65-F5344CB8AC3E}">
        <p14:creationId xmlns:p14="http://schemas.microsoft.com/office/powerpoint/2010/main" val="1084644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4FB037-1A09-82D8-0B54-B53BC856D3BB}"/>
              </a:ext>
            </a:extLst>
          </p:cNvPr>
          <p:cNvSpPr>
            <a:spLocks noGrp="1"/>
          </p:cNvSpPr>
          <p:nvPr>
            <p:ph type="title"/>
          </p:nvPr>
        </p:nvSpPr>
        <p:spPr/>
        <p:txBody>
          <a:bodyPr>
            <a:normAutofit fontScale="90000"/>
          </a:bodyPr>
          <a:lstStyle/>
          <a:p>
            <a:r>
              <a:rPr lang="fr-CA" dirty="0"/>
              <a:t>Illustration calcul de la marge brute- </a:t>
            </a:r>
            <a:br>
              <a:rPr lang="fr-CA" dirty="0"/>
            </a:br>
            <a:r>
              <a:rPr lang="fr-CA" dirty="0"/>
              <a:t>plusieurs produits</a:t>
            </a:r>
          </a:p>
        </p:txBody>
      </p:sp>
      <p:graphicFrame>
        <p:nvGraphicFramePr>
          <p:cNvPr id="6" name="Espace réservé du contenu 5">
            <a:extLst>
              <a:ext uri="{FF2B5EF4-FFF2-40B4-BE49-F238E27FC236}">
                <a16:creationId xmlns:a16="http://schemas.microsoft.com/office/drawing/2014/main" id="{5429E307-8686-B3C6-B347-BA1E15E4D1B9}"/>
              </a:ext>
            </a:extLst>
          </p:cNvPr>
          <p:cNvGraphicFramePr>
            <a:graphicFrameLocks noGrp="1"/>
          </p:cNvGraphicFramePr>
          <p:nvPr>
            <p:ph idx="1"/>
            <p:extLst>
              <p:ext uri="{D42A27DB-BD31-4B8C-83A1-F6EECF244321}">
                <p14:modId xmlns:p14="http://schemas.microsoft.com/office/powerpoint/2010/main" val="270051630"/>
              </p:ext>
            </p:extLst>
          </p:nvPr>
        </p:nvGraphicFramePr>
        <p:xfrm>
          <a:off x="838200" y="1468438"/>
          <a:ext cx="10515600" cy="4912360"/>
        </p:xfrm>
        <a:graphic>
          <a:graphicData uri="http://schemas.openxmlformats.org/drawingml/2006/table">
            <a:tbl>
              <a:tblPr firstRow="1" bandRow="1">
                <a:tableStyleId>{5940675A-B579-460E-94D1-54222C63F5DA}</a:tableStyleId>
              </a:tblPr>
              <a:tblGrid>
                <a:gridCol w="2768600">
                  <a:extLst>
                    <a:ext uri="{9D8B030D-6E8A-4147-A177-3AD203B41FA5}">
                      <a16:colId xmlns:a16="http://schemas.microsoft.com/office/drawing/2014/main" val="3706092598"/>
                    </a:ext>
                  </a:extLst>
                </a:gridCol>
                <a:gridCol w="2442308">
                  <a:extLst>
                    <a:ext uri="{9D8B030D-6E8A-4147-A177-3AD203B41FA5}">
                      <a16:colId xmlns:a16="http://schemas.microsoft.com/office/drawing/2014/main" val="537410454"/>
                    </a:ext>
                  </a:extLst>
                </a:gridCol>
                <a:gridCol w="2586892">
                  <a:extLst>
                    <a:ext uri="{9D8B030D-6E8A-4147-A177-3AD203B41FA5}">
                      <a16:colId xmlns:a16="http://schemas.microsoft.com/office/drawing/2014/main" val="827082003"/>
                    </a:ext>
                  </a:extLst>
                </a:gridCol>
                <a:gridCol w="2717800">
                  <a:extLst>
                    <a:ext uri="{9D8B030D-6E8A-4147-A177-3AD203B41FA5}">
                      <a16:colId xmlns:a16="http://schemas.microsoft.com/office/drawing/2014/main" val="420115573"/>
                    </a:ext>
                  </a:extLst>
                </a:gridCol>
              </a:tblGrid>
              <a:tr h="370840">
                <a:tc>
                  <a:txBody>
                    <a:bodyPr/>
                    <a:lstStyle/>
                    <a:p>
                      <a:endParaRPr lang="fr-CA" sz="1800" dirty="0"/>
                    </a:p>
                  </a:txBody>
                  <a:tcPr/>
                </a:tc>
                <a:tc>
                  <a:txBody>
                    <a:bodyPr/>
                    <a:lstStyle/>
                    <a:p>
                      <a:r>
                        <a:rPr lang="fr-CA" sz="2000" b="1" dirty="0"/>
                        <a:t>Pâtes fraîches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Pizzas margarita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Pizzas toutes garnis</a:t>
                      </a:r>
                    </a:p>
                  </a:txBody>
                  <a:tcPr/>
                </a:tc>
                <a:extLst>
                  <a:ext uri="{0D108BD9-81ED-4DB2-BD59-A6C34878D82A}">
                    <a16:rowId xmlns:a16="http://schemas.microsoft.com/office/drawing/2014/main" val="1304552256"/>
                  </a:ext>
                </a:extLst>
              </a:tr>
              <a:tr h="370840">
                <a:tc>
                  <a:txBody>
                    <a:bodyPr/>
                    <a:lstStyle/>
                    <a:p>
                      <a:r>
                        <a:rPr lang="fr-CA" dirty="0"/>
                        <a:t>Volume de vente (unités)</a:t>
                      </a:r>
                    </a:p>
                  </a:txBody>
                  <a:tcPr/>
                </a:tc>
                <a:tc>
                  <a:txBody>
                    <a:bodyPr/>
                    <a:lstStyle/>
                    <a:p>
                      <a:r>
                        <a:rPr lang="fr-CA" sz="2000" dirty="0"/>
                        <a:t>4 000 unités</a:t>
                      </a:r>
                    </a:p>
                  </a:txBody>
                  <a:tcPr/>
                </a:tc>
                <a:tc>
                  <a:txBody>
                    <a:bodyPr/>
                    <a:lstStyle/>
                    <a:p>
                      <a:r>
                        <a:rPr lang="fr-CA" sz="2000" dirty="0"/>
                        <a:t>3 000 unités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dirty="0"/>
                        <a:t>3 000 unités</a:t>
                      </a:r>
                    </a:p>
                    <a:p>
                      <a:endParaRPr lang="fr-CA" sz="2000" dirty="0"/>
                    </a:p>
                  </a:txBody>
                  <a:tcPr/>
                </a:tc>
                <a:extLst>
                  <a:ext uri="{0D108BD9-81ED-4DB2-BD59-A6C34878D82A}">
                    <a16:rowId xmlns:a16="http://schemas.microsoft.com/office/drawing/2014/main" val="4141742897"/>
                  </a:ext>
                </a:extLst>
              </a:tr>
              <a:tr h="370840">
                <a:tc>
                  <a:txBody>
                    <a:bodyPr/>
                    <a:lstStyle/>
                    <a:p>
                      <a:r>
                        <a:rPr lang="fr-CA" dirty="0"/>
                        <a:t>Prix de vente</a:t>
                      </a:r>
                    </a:p>
                  </a:txBody>
                  <a:tcPr/>
                </a:tc>
                <a:tc>
                  <a:txBody>
                    <a:bodyPr/>
                    <a:lstStyle/>
                    <a:p>
                      <a:r>
                        <a:rPr lang="fr-CA" sz="2000" dirty="0"/>
                        <a:t>6,00 $</a:t>
                      </a:r>
                    </a:p>
                  </a:txBody>
                  <a:tcPr/>
                </a:tc>
                <a:tc>
                  <a:txBody>
                    <a:bodyPr/>
                    <a:lstStyle/>
                    <a:p>
                      <a:r>
                        <a:rPr lang="fr-CA" sz="2000" dirty="0"/>
                        <a:t>12,00 $</a:t>
                      </a:r>
                    </a:p>
                  </a:txBody>
                  <a:tcPr/>
                </a:tc>
                <a:tc>
                  <a:txBody>
                    <a:bodyPr/>
                    <a:lstStyle/>
                    <a:p>
                      <a:r>
                        <a:rPr lang="fr-CA" sz="2000" dirty="0"/>
                        <a:t>14,00 $</a:t>
                      </a:r>
                    </a:p>
                  </a:txBody>
                  <a:tcPr/>
                </a:tc>
                <a:extLst>
                  <a:ext uri="{0D108BD9-81ED-4DB2-BD59-A6C34878D82A}">
                    <a16:rowId xmlns:a16="http://schemas.microsoft.com/office/drawing/2014/main" val="341555048"/>
                  </a:ext>
                </a:extLst>
              </a:tr>
              <a:tr h="370840">
                <a:tc gridSpan="4">
                  <a:txBody>
                    <a:bodyPr/>
                    <a:lstStyle/>
                    <a:p>
                      <a:r>
                        <a:rPr lang="fr-CA" b="1" dirty="0"/>
                        <a:t>Coût de fabrication</a:t>
                      </a:r>
                    </a:p>
                  </a:txBody>
                  <a:tcPr/>
                </a:tc>
                <a:tc hMerge="1">
                  <a:txBody>
                    <a:bodyPr/>
                    <a:lstStyle/>
                    <a:p>
                      <a:endParaRPr lang="fr-CA" sz="2000" dirty="0"/>
                    </a:p>
                  </a:txBody>
                  <a:tcPr/>
                </a:tc>
                <a:tc hMerge="1">
                  <a:txBody>
                    <a:bodyPr/>
                    <a:lstStyle/>
                    <a:p>
                      <a:endParaRPr lang="fr-CA" sz="2000" dirty="0"/>
                    </a:p>
                  </a:txBody>
                  <a:tcPr/>
                </a:tc>
                <a:tc hMerge="1">
                  <a:txBody>
                    <a:bodyPr/>
                    <a:lstStyle/>
                    <a:p>
                      <a:endParaRPr lang="fr-CA" sz="2000" dirty="0"/>
                    </a:p>
                  </a:txBody>
                  <a:tcPr/>
                </a:tc>
                <a:extLst>
                  <a:ext uri="{0D108BD9-81ED-4DB2-BD59-A6C34878D82A}">
                    <a16:rowId xmlns:a16="http://schemas.microsoft.com/office/drawing/2014/main" val="1475384896"/>
                  </a:ext>
                </a:extLst>
              </a:tr>
              <a:tr h="370840">
                <a:tc>
                  <a:txBody>
                    <a:bodyPr/>
                    <a:lstStyle/>
                    <a:p>
                      <a:r>
                        <a:rPr lang="fr-CA" dirty="0"/>
                        <a:t>Matières premières</a:t>
                      </a:r>
                    </a:p>
                  </a:txBody>
                  <a:tcPr/>
                </a:tc>
                <a:tc>
                  <a:txBody>
                    <a:bodyPr/>
                    <a:lstStyle/>
                    <a:p>
                      <a:r>
                        <a:rPr lang="fr-CA" sz="2000" dirty="0"/>
                        <a:t>1,50 $</a:t>
                      </a:r>
                    </a:p>
                  </a:txBody>
                  <a:tcPr/>
                </a:tc>
                <a:tc>
                  <a:txBody>
                    <a:bodyPr/>
                    <a:lstStyle/>
                    <a:p>
                      <a:r>
                        <a:rPr lang="fr-CA" sz="2000" dirty="0"/>
                        <a:t>4,00 $</a:t>
                      </a:r>
                    </a:p>
                  </a:txBody>
                  <a:tcPr/>
                </a:tc>
                <a:tc>
                  <a:txBody>
                    <a:bodyPr/>
                    <a:lstStyle/>
                    <a:p>
                      <a:r>
                        <a:rPr lang="fr-CA" sz="2000" dirty="0"/>
                        <a:t>5,00 $</a:t>
                      </a:r>
                    </a:p>
                  </a:txBody>
                  <a:tcPr/>
                </a:tc>
                <a:extLst>
                  <a:ext uri="{0D108BD9-81ED-4DB2-BD59-A6C34878D82A}">
                    <a16:rowId xmlns:a16="http://schemas.microsoft.com/office/drawing/2014/main" val="1556886408"/>
                  </a:ext>
                </a:extLst>
              </a:tr>
              <a:tr h="370840">
                <a:tc>
                  <a:txBody>
                    <a:bodyPr/>
                    <a:lstStyle/>
                    <a:p>
                      <a:r>
                        <a:rPr lang="fr-CA" dirty="0"/>
                        <a:t>Main d’œuvre directe</a:t>
                      </a:r>
                    </a:p>
                    <a:p>
                      <a:r>
                        <a:rPr lang="fr-CA" dirty="0"/>
                        <a:t>Taux horaire 20$/h</a:t>
                      </a:r>
                    </a:p>
                  </a:txBody>
                  <a:tcPr/>
                </a:tc>
                <a:tc>
                  <a:txBody>
                    <a:bodyPr/>
                    <a:lstStyle/>
                    <a:p>
                      <a:r>
                        <a:rPr lang="fr-CA" sz="2000" dirty="0"/>
                        <a:t>1,00 $</a:t>
                      </a:r>
                    </a:p>
                    <a:p>
                      <a:endParaRPr lang="fr-CA" sz="2000" dirty="0"/>
                    </a:p>
                  </a:txBody>
                  <a:tcPr/>
                </a:tc>
                <a:tc>
                  <a:txBody>
                    <a:bodyPr/>
                    <a:lstStyle/>
                    <a:p>
                      <a:r>
                        <a:rPr lang="fr-CA" sz="2000" dirty="0"/>
                        <a:t>3,00 $</a:t>
                      </a:r>
                    </a:p>
                  </a:txBody>
                  <a:tcPr/>
                </a:tc>
                <a:tc>
                  <a:txBody>
                    <a:bodyPr/>
                    <a:lstStyle/>
                    <a:p>
                      <a:r>
                        <a:rPr lang="fr-CA" sz="2000" dirty="0"/>
                        <a:t>3,50 $</a:t>
                      </a:r>
                    </a:p>
                  </a:txBody>
                  <a:tcPr/>
                </a:tc>
                <a:extLst>
                  <a:ext uri="{0D108BD9-81ED-4DB2-BD59-A6C34878D82A}">
                    <a16:rowId xmlns:a16="http://schemas.microsoft.com/office/drawing/2014/main" val="2313987691"/>
                  </a:ext>
                </a:extLst>
              </a:tr>
              <a:tr h="370840">
                <a:tc>
                  <a:txBody>
                    <a:bodyPr/>
                    <a:lstStyle/>
                    <a:p>
                      <a:r>
                        <a:rPr lang="fr-CA" b="1" dirty="0"/>
                        <a:t>Total des frais généraux de fabrication</a:t>
                      </a:r>
                    </a:p>
                    <a:p>
                      <a:r>
                        <a:rPr lang="fr-CA" b="1" dirty="0"/>
                        <a:t>10 000 $ / 10 000 unités</a:t>
                      </a:r>
                    </a:p>
                  </a:txBody>
                  <a:tcPr/>
                </a:tc>
                <a:tc>
                  <a:txBody>
                    <a:bodyPr/>
                    <a:lstStyle/>
                    <a:p>
                      <a:r>
                        <a:rPr lang="fr-CA" sz="2000" b="1" dirty="0"/>
                        <a:t>1,00 $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1,00 $</a:t>
                      </a:r>
                    </a:p>
                    <a:p>
                      <a:endParaRPr lang="fr-CA" sz="20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1,00 $</a:t>
                      </a:r>
                    </a:p>
                    <a:p>
                      <a:endParaRPr lang="fr-CA" sz="2000" b="1" dirty="0"/>
                    </a:p>
                  </a:txBody>
                  <a:tcPr/>
                </a:tc>
                <a:extLst>
                  <a:ext uri="{0D108BD9-81ED-4DB2-BD59-A6C34878D82A}">
                    <a16:rowId xmlns:a16="http://schemas.microsoft.com/office/drawing/2014/main" val="3668131643"/>
                  </a:ext>
                </a:extLst>
              </a:tr>
              <a:tr h="370840">
                <a:tc>
                  <a:txBody>
                    <a:bodyPr/>
                    <a:lstStyle/>
                    <a:p>
                      <a:r>
                        <a:rPr lang="fr-CA" dirty="0"/>
                        <a:t>       Coût de fabrication </a:t>
                      </a:r>
                    </a:p>
                  </a:txBody>
                  <a:tcPr/>
                </a:tc>
                <a:tc>
                  <a:txBody>
                    <a:bodyPr/>
                    <a:lstStyle/>
                    <a:p>
                      <a:r>
                        <a:rPr lang="fr-CA" sz="2000" dirty="0"/>
                        <a:t>3,50 $</a:t>
                      </a:r>
                    </a:p>
                  </a:txBody>
                  <a:tcPr/>
                </a:tc>
                <a:tc>
                  <a:txBody>
                    <a:bodyPr/>
                    <a:lstStyle/>
                    <a:p>
                      <a:r>
                        <a:rPr lang="fr-CA" sz="2000" dirty="0"/>
                        <a:t>8,00 $</a:t>
                      </a:r>
                    </a:p>
                  </a:txBody>
                  <a:tcPr/>
                </a:tc>
                <a:tc>
                  <a:txBody>
                    <a:bodyPr/>
                    <a:lstStyle/>
                    <a:p>
                      <a:r>
                        <a:rPr lang="fr-CA" sz="2000" dirty="0"/>
                        <a:t>9,50 $</a:t>
                      </a:r>
                    </a:p>
                  </a:txBody>
                  <a:tcPr/>
                </a:tc>
                <a:extLst>
                  <a:ext uri="{0D108BD9-81ED-4DB2-BD59-A6C34878D82A}">
                    <a16:rowId xmlns:a16="http://schemas.microsoft.com/office/drawing/2014/main" val="1828020136"/>
                  </a:ext>
                </a:extLst>
              </a:tr>
              <a:tr h="370840">
                <a:tc>
                  <a:txBody>
                    <a:bodyPr/>
                    <a:lstStyle/>
                    <a:p>
                      <a:r>
                        <a:rPr lang="fr-CA" b="1" dirty="0"/>
                        <a:t>Marge brute</a:t>
                      </a:r>
                    </a:p>
                    <a:p>
                      <a:endParaRPr lang="fr-CA" dirty="0"/>
                    </a:p>
                  </a:txBody>
                  <a:tcPr/>
                </a:tc>
                <a:tc>
                  <a:txBody>
                    <a:bodyPr/>
                    <a:lstStyle/>
                    <a:p>
                      <a:r>
                        <a:rPr lang="fr-CA" sz="2000" dirty="0"/>
                        <a:t>2,50 $</a:t>
                      </a:r>
                    </a:p>
                  </a:txBody>
                  <a:tcPr/>
                </a:tc>
                <a:tc>
                  <a:txBody>
                    <a:bodyPr/>
                    <a:lstStyle/>
                    <a:p>
                      <a:r>
                        <a:rPr lang="fr-CA" sz="2000" dirty="0"/>
                        <a:t>4,00 $</a:t>
                      </a:r>
                    </a:p>
                  </a:txBody>
                  <a:tcPr/>
                </a:tc>
                <a:tc>
                  <a:txBody>
                    <a:bodyPr/>
                    <a:lstStyle/>
                    <a:p>
                      <a:r>
                        <a:rPr lang="fr-CA" sz="2000" dirty="0"/>
                        <a:t>4,50 $</a:t>
                      </a:r>
                    </a:p>
                  </a:txBody>
                  <a:tcPr/>
                </a:tc>
                <a:extLst>
                  <a:ext uri="{0D108BD9-81ED-4DB2-BD59-A6C34878D82A}">
                    <a16:rowId xmlns:a16="http://schemas.microsoft.com/office/drawing/2014/main" val="4280562153"/>
                  </a:ext>
                </a:extLst>
              </a:tr>
            </a:tbl>
          </a:graphicData>
        </a:graphic>
      </p:graphicFrame>
      <p:sp>
        <p:nvSpPr>
          <p:cNvPr id="4" name="Espace réservé du pied de page 3">
            <a:extLst>
              <a:ext uri="{FF2B5EF4-FFF2-40B4-BE49-F238E27FC236}">
                <a16:creationId xmlns:a16="http://schemas.microsoft.com/office/drawing/2014/main" id="{36097DAA-0111-A07B-F4AC-D901102C66E4}"/>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E71F9154-852F-18C2-4C69-231DB156668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18</a:t>
            </a:fld>
            <a:endParaRPr lang="fr-CA">
              <a:solidFill>
                <a:prstClr val="black">
                  <a:tint val="75000"/>
                </a:prstClr>
              </a:solidFill>
            </a:endParaRPr>
          </a:p>
        </p:txBody>
      </p:sp>
    </p:spTree>
    <p:extLst>
      <p:ext uri="{BB962C8B-B14F-4D97-AF65-F5344CB8AC3E}">
        <p14:creationId xmlns:p14="http://schemas.microsoft.com/office/powerpoint/2010/main" val="3408411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83BBDB-3688-872A-2730-F350B89198FB}"/>
              </a:ext>
            </a:extLst>
          </p:cNvPr>
          <p:cNvSpPr>
            <a:spLocks noGrp="1"/>
          </p:cNvSpPr>
          <p:nvPr>
            <p:ph type="title"/>
            <p:custDataLst>
              <p:tags r:id="rId1"/>
            </p:custDataLst>
          </p:nvPr>
        </p:nvSpPr>
        <p:spPr>
          <a:xfrm>
            <a:off x="838200" y="197506"/>
            <a:ext cx="10515600" cy="1042570"/>
          </a:xfrm>
        </p:spPr>
        <p:txBody>
          <a:bodyPr/>
          <a:lstStyle/>
          <a:p>
            <a:pPr marL="0" indent="0">
              <a:buNone/>
            </a:pPr>
            <a:r>
              <a:rPr lang="fr-CA" sz="4400" strike="noStrike" dirty="0"/>
              <a:t>Identifier le processus de fabrication</a:t>
            </a:r>
          </a:p>
        </p:txBody>
      </p:sp>
      <p:pic>
        <p:nvPicPr>
          <p:cNvPr id="11" name="Espace réservé du contenu 10" descr="Entrepôt contour">
            <a:extLst>
              <a:ext uri="{FF2B5EF4-FFF2-40B4-BE49-F238E27FC236}">
                <a16:creationId xmlns:a16="http://schemas.microsoft.com/office/drawing/2014/main" id="{36E165B5-34B4-1186-C73E-CC565A0CAB17}"/>
              </a:ext>
            </a:extLst>
          </p:cNvPr>
          <p:cNvPicPr>
            <a:picLocks noGrp="1" noChangeAspect="1"/>
          </p:cNvPicPr>
          <p:nvPr>
            <p:ph idx="1"/>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31061" y="2841952"/>
            <a:ext cx="1635760" cy="1635760"/>
          </a:xfrm>
        </p:spPr>
      </p:pic>
      <p:sp>
        <p:nvSpPr>
          <p:cNvPr id="5" name="Espace réservé du numéro de diapositive 4">
            <a:extLst>
              <a:ext uri="{FF2B5EF4-FFF2-40B4-BE49-F238E27FC236}">
                <a16:creationId xmlns:a16="http://schemas.microsoft.com/office/drawing/2014/main" id="{5AE8B499-E5D4-B3CB-D2E3-44452F965254}"/>
              </a:ext>
            </a:extLst>
          </p:cNvPr>
          <p:cNvSpPr>
            <a:spLocks noGrp="1"/>
          </p:cNvSpPr>
          <p:nvPr>
            <p:ph type="sldNum" sz="quarter" idx="12"/>
            <p:custDataLst>
              <p:tags r:id="rId3"/>
            </p:custDataLst>
          </p:nvPr>
        </p:nvSpPr>
        <p:spPr>
          <a:xfrm>
            <a:off x="12090683" y="6365669"/>
            <a:ext cx="530290" cy="300587"/>
          </a:xfrm>
        </p:spPr>
        <p:txBody>
          <a:bodyPr/>
          <a:lstStyle/>
          <a:p>
            <a:fld id="{1F20FBA3-27E4-4E13-841E-B59ED0E8E620}" type="slidenum">
              <a:rPr lang="fr-CA" smtClean="0">
                <a:solidFill>
                  <a:prstClr val="black">
                    <a:tint val="75000"/>
                  </a:prstClr>
                </a:solidFill>
              </a:rPr>
              <a:pPr/>
              <a:t>19</a:t>
            </a:fld>
            <a:endParaRPr lang="fr-CA">
              <a:solidFill>
                <a:prstClr val="black">
                  <a:tint val="75000"/>
                </a:prstClr>
              </a:solidFill>
            </a:endParaRPr>
          </a:p>
        </p:txBody>
      </p:sp>
      <p:sp>
        <p:nvSpPr>
          <p:cNvPr id="3" name="Rectangle : coins arrondis 2">
            <a:extLst>
              <a:ext uri="{FF2B5EF4-FFF2-40B4-BE49-F238E27FC236}">
                <a16:creationId xmlns:a16="http://schemas.microsoft.com/office/drawing/2014/main" id="{D419B990-FCD6-3FCE-5CCD-F3BD4289B233}"/>
              </a:ext>
            </a:extLst>
          </p:cNvPr>
          <p:cNvSpPr/>
          <p:nvPr>
            <p:custDataLst>
              <p:tags r:id="rId4"/>
            </p:custDataLst>
          </p:nvPr>
        </p:nvSpPr>
        <p:spPr>
          <a:xfrm>
            <a:off x="1043059" y="1447204"/>
            <a:ext cx="10923762" cy="5005136"/>
          </a:xfrm>
          <a:prstGeom prst="round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fr-CA"/>
          </a:p>
        </p:txBody>
      </p:sp>
      <p:sp>
        <p:nvSpPr>
          <p:cNvPr id="6" name="ZoneTexte 5">
            <a:extLst>
              <a:ext uri="{FF2B5EF4-FFF2-40B4-BE49-F238E27FC236}">
                <a16:creationId xmlns:a16="http://schemas.microsoft.com/office/drawing/2014/main" id="{FEC22F8D-B764-9A08-B7AC-23F20A958557}"/>
              </a:ext>
            </a:extLst>
          </p:cNvPr>
          <p:cNvSpPr txBox="1"/>
          <p:nvPr>
            <p:custDataLst>
              <p:tags r:id="rId5"/>
            </p:custDataLst>
          </p:nvPr>
        </p:nvSpPr>
        <p:spPr>
          <a:xfrm>
            <a:off x="64656" y="3718939"/>
            <a:ext cx="1104204" cy="461665"/>
          </a:xfrm>
          <a:prstGeom prst="rect">
            <a:avLst/>
          </a:prstGeom>
          <a:noFill/>
        </p:spPr>
        <p:txBody>
          <a:bodyPr wrap="square" rtlCol="0">
            <a:spAutoFit/>
          </a:bodyPr>
          <a:lstStyle/>
          <a:p>
            <a:r>
              <a:rPr lang="fr-CA" sz="2400" b="1" dirty="0"/>
              <a:t>USINE</a:t>
            </a:r>
          </a:p>
        </p:txBody>
      </p:sp>
      <p:sp>
        <p:nvSpPr>
          <p:cNvPr id="7" name="Espace réservé du pied de page 6">
            <a:extLst>
              <a:ext uri="{FF2B5EF4-FFF2-40B4-BE49-F238E27FC236}">
                <a16:creationId xmlns:a16="http://schemas.microsoft.com/office/drawing/2014/main" id="{E6CDD1D3-0EC8-9472-91BA-21FA8413194E}"/>
              </a:ext>
            </a:extLst>
          </p:cNvPr>
          <p:cNvSpPr>
            <a:spLocks noGrp="1"/>
          </p:cNvSpPr>
          <p:nvPr>
            <p:ph type="ftr" sz="quarter" idx="11"/>
            <p:custDataLst>
              <p:tags r:id="rId6"/>
            </p:custDataLst>
          </p:nvPr>
        </p:nvSpPr>
        <p:spPr>
          <a:xfrm>
            <a:off x="10485143" y="6452340"/>
            <a:ext cx="1697855" cy="369332"/>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12" name="ZoneTexte 11">
            <a:extLst>
              <a:ext uri="{FF2B5EF4-FFF2-40B4-BE49-F238E27FC236}">
                <a16:creationId xmlns:a16="http://schemas.microsoft.com/office/drawing/2014/main" id="{D8E53610-5C8B-E60E-FC5B-85269670BB2F}"/>
              </a:ext>
            </a:extLst>
          </p:cNvPr>
          <p:cNvSpPr txBox="1"/>
          <p:nvPr/>
        </p:nvSpPr>
        <p:spPr>
          <a:xfrm>
            <a:off x="1639891" y="1925759"/>
            <a:ext cx="1971377" cy="707886"/>
          </a:xfrm>
          <a:prstGeom prst="rect">
            <a:avLst/>
          </a:prstGeom>
          <a:noFill/>
        </p:spPr>
        <p:txBody>
          <a:bodyPr wrap="square" rtlCol="0">
            <a:spAutoFit/>
          </a:bodyPr>
          <a:lstStyle/>
          <a:p>
            <a:r>
              <a:rPr lang="fr-CA" sz="2000" b="1" dirty="0"/>
              <a:t>Atelier 1: Préparation </a:t>
            </a:r>
          </a:p>
        </p:txBody>
      </p:sp>
      <p:sp>
        <p:nvSpPr>
          <p:cNvPr id="18" name="ZoneTexte 17">
            <a:extLst>
              <a:ext uri="{FF2B5EF4-FFF2-40B4-BE49-F238E27FC236}">
                <a16:creationId xmlns:a16="http://schemas.microsoft.com/office/drawing/2014/main" id="{DE003181-3507-8534-6746-A061F6AF5B7E}"/>
              </a:ext>
            </a:extLst>
          </p:cNvPr>
          <p:cNvSpPr txBox="1"/>
          <p:nvPr/>
        </p:nvSpPr>
        <p:spPr>
          <a:xfrm>
            <a:off x="4587336" y="2656106"/>
            <a:ext cx="3087649" cy="1477328"/>
          </a:xfrm>
          <a:prstGeom prst="rect">
            <a:avLst/>
          </a:prstGeom>
          <a:noFill/>
        </p:spPr>
        <p:txBody>
          <a:bodyPr wrap="square" rtlCol="0">
            <a:spAutoFit/>
          </a:bodyPr>
          <a:lstStyle/>
          <a:p>
            <a:r>
              <a:rPr lang="fr-CA" dirty="0"/>
              <a:t>La pâte à pizza est ensuite mise dans une machine qui fabrique la pizza. Le processus de fabrication est entièrement automatisé.</a:t>
            </a:r>
          </a:p>
        </p:txBody>
      </p:sp>
      <p:sp>
        <p:nvSpPr>
          <p:cNvPr id="33" name="ZoneTexte 32">
            <a:extLst>
              <a:ext uri="{FF2B5EF4-FFF2-40B4-BE49-F238E27FC236}">
                <a16:creationId xmlns:a16="http://schemas.microsoft.com/office/drawing/2014/main" id="{0A9B8542-4A45-CC81-5AD2-6C8E61B898D6}"/>
              </a:ext>
            </a:extLst>
          </p:cNvPr>
          <p:cNvSpPr txBox="1"/>
          <p:nvPr/>
        </p:nvSpPr>
        <p:spPr>
          <a:xfrm>
            <a:off x="7829552" y="2337099"/>
            <a:ext cx="2501509" cy="400110"/>
          </a:xfrm>
          <a:prstGeom prst="rect">
            <a:avLst/>
          </a:prstGeom>
          <a:noFill/>
        </p:spPr>
        <p:txBody>
          <a:bodyPr wrap="square" rtlCol="0">
            <a:spAutoFit/>
          </a:bodyPr>
          <a:lstStyle/>
          <a:p>
            <a:r>
              <a:rPr lang="fr-CA" sz="2000" b="1" dirty="0"/>
              <a:t>Atelier 3: Emballage</a:t>
            </a:r>
          </a:p>
        </p:txBody>
      </p:sp>
      <p:sp>
        <p:nvSpPr>
          <p:cNvPr id="8" name="ZoneTexte 7">
            <a:extLst>
              <a:ext uri="{FF2B5EF4-FFF2-40B4-BE49-F238E27FC236}">
                <a16:creationId xmlns:a16="http://schemas.microsoft.com/office/drawing/2014/main" id="{D0C7E8E2-E30A-7D05-D6A3-AA551DBAA01B}"/>
              </a:ext>
            </a:extLst>
          </p:cNvPr>
          <p:cNvSpPr txBox="1"/>
          <p:nvPr/>
        </p:nvSpPr>
        <p:spPr>
          <a:xfrm>
            <a:off x="1292722" y="2737209"/>
            <a:ext cx="3087649" cy="3416320"/>
          </a:xfrm>
          <a:prstGeom prst="rect">
            <a:avLst/>
          </a:prstGeom>
          <a:noFill/>
        </p:spPr>
        <p:txBody>
          <a:bodyPr wrap="square" rtlCol="0">
            <a:spAutoFit/>
          </a:bodyPr>
          <a:lstStyle/>
          <a:p>
            <a:pPr fontAlgn="t">
              <a:lnSpc>
                <a:spcPct val="100000"/>
              </a:lnSpc>
              <a:buNone/>
            </a:pPr>
            <a:r>
              <a:rPr lang="fr-CA" dirty="0"/>
              <a:t>Les employés mesurent et combinent les matières premières. Les ingrédients sont ensuite introduits dans une machine qui les mélange afin d'obtenir une pâte homogène. Une fois le pétrissage terminé, la pâte est divisée en portions par les employés. Les portions destinées aux pâtes fraîches sont ensuite façonnées selon le produit à fabriquer.</a:t>
            </a:r>
          </a:p>
        </p:txBody>
      </p:sp>
      <p:sp>
        <p:nvSpPr>
          <p:cNvPr id="13" name="ZoneTexte 12">
            <a:extLst>
              <a:ext uri="{FF2B5EF4-FFF2-40B4-BE49-F238E27FC236}">
                <a16:creationId xmlns:a16="http://schemas.microsoft.com/office/drawing/2014/main" id="{49556B25-C140-4D30-1F3F-D3491BD9632A}"/>
              </a:ext>
            </a:extLst>
          </p:cNvPr>
          <p:cNvSpPr txBox="1"/>
          <p:nvPr/>
        </p:nvSpPr>
        <p:spPr>
          <a:xfrm>
            <a:off x="7806521" y="2840773"/>
            <a:ext cx="2680707" cy="2585323"/>
          </a:xfrm>
          <a:prstGeom prst="rect">
            <a:avLst/>
          </a:prstGeom>
          <a:noFill/>
        </p:spPr>
        <p:txBody>
          <a:bodyPr wrap="square" rtlCol="0">
            <a:spAutoFit/>
          </a:bodyPr>
          <a:lstStyle/>
          <a:p>
            <a:r>
              <a:rPr lang="fr-CA" dirty="0"/>
              <a:t>L'atelier d'emballage reçoit les différents types de produits : Les employés effectuent une inspection visuelle, emballent les produits, apposent les étiquettes et préparent les commandes pour l'expédition.</a:t>
            </a:r>
          </a:p>
        </p:txBody>
      </p:sp>
      <p:sp>
        <p:nvSpPr>
          <p:cNvPr id="17" name="ZoneTexte 16">
            <a:extLst>
              <a:ext uri="{FF2B5EF4-FFF2-40B4-BE49-F238E27FC236}">
                <a16:creationId xmlns:a16="http://schemas.microsoft.com/office/drawing/2014/main" id="{DAB9CAF7-9A0E-6C80-2454-0A1F1FC4D49B}"/>
              </a:ext>
            </a:extLst>
          </p:cNvPr>
          <p:cNvSpPr txBox="1"/>
          <p:nvPr/>
        </p:nvSpPr>
        <p:spPr>
          <a:xfrm>
            <a:off x="4610861" y="1925759"/>
            <a:ext cx="2970278" cy="707886"/>
          </a:xfrm>
          <a:prstGeom prst="rect">
            <a:avLst/>
          </a:prstGeom>
          <a:noFill/>
        </p:spPr>
        <p:txBody>
          <a:bodyPr wrap="square" rtlCol="0">
            <a:spAutoFit/>
          </a:bodyPr>
          <a:lstStyle/>
          <a:p>
            <a:r>
              <a:rPr lang="fr-CA" sz="2000" b="1" dirty="0"/>
              <a:t>Atelier 2: </a:t>
            </a:r>
          </a:p>
          <a:p>
            <a:r>
              <a:rPr lang="fr-CA" sz="2000" b="1" dirty="0"/>
              <a:t>Fabrication de la pizza</a:t>
            </a:r>
          </a:p>
        </p:txBody>
      </p:sp>
    </p:spTree>
    <p:extLst>
      <p:ext uri="{BB962C8B-B14F-4D97-AF65-F5344CB8AC3E}">
        <p14:creationId xmlns:p14="http://schemas.microsoft.com/office/powerpoint/2010/main" val="3937163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custDataLst>
              <p:tags r:id="rId2"/>
            </p:custDataLst>
          </p:nvPr>
        </p:nvSpPr>
        <p:spPr/>
        <p:txBody>
          <a:bodyPr>
            <a:normAutofit/>
          </a:bodyPr>
          <a:lstStyle/>
          <a:p>
            <a:r>
              <a:rPr lang="fr-CA" sz="4000" u="sng" dirty="0"/>
              <a:t>Centres de coûts</a:t>
            </a:r>
          </a:p>
        </p:txBody>
      </p:sp>
      <p:sp>
        <p:nvSpPr>
          <p:cNvPr id="3" name="Espace réservé du contenu 2"/>
          <p:cNvSpPr>
            <a:spLocks noGrp="1"/>
          </p:cNvSpPr>
          <p:nvPr>
            <p:ph idx="1"/>
            <p:custDataLst>
              <p:tags r:id="rId3"/>
            </p:custDataLst>
          </p:nvPr>
        </p:nvSpPr>
        <p:spPr>
          <a:xfrm>
            <a:off x="838200" y="1641275"/>
            <a:ext cx="10515600" cy="4709112"/>
          </a:xfrm>
        </p:spPr>
        <p:txBody>
          <a:bodyPr>
            <a:normAutofit fontScale="92500" lnSpcReduction="10000"/>
          </a:bodyPr>
          <a:lstStyle/>
          <a:p>
            <a:r>
              <a:rPr lang="fr-CA" sz="3200" u="sng" dirty="0"/>
              <a:t>Lieu physique </a:t>
            </a:r>
            <a:r>
              <a:rPr lang="fr-CA" sz="3200" dirty="0"/>
              <a:t>où se déroulent les activités : </a:t>
            </a:r>
          </a:p>
          <a:p>
            <a:pPr lvl="2"/>
            <a:r>
              <a:rPr lang="fr-CA" sz="2800" dirty="0"/>
              <a:t>Usine (= un centre de coûts)</a:t>
            </a:r>
          </a:p>
          <a:p>
            <a:pPr lvl="2"/>
            <a:r>
              <a:rPr lang="fr-CA" sz="2800" dirty="0"/>
              <a:t>Ateliers</a:t>
            </a:r>
          </a:p>
          <a:p>
            <a:pPr lvl="2"/>
            <a:r>
              <a:rPr lang="fr-CA" sz="2800" dirty="0"/>
              <a:t>Départements</a:t>
            </a:r>
          </a:p>
          <a:p>
            <a:pPr lvl="2"/>
            <a:r>
              <a:rPr lang="fr-CA" sz="2800" dirty="0"/>
              <a:t>Entrepôts</a:t>
            </a:r>
          </a:p>
          <a:p>
            <a:pPr lvl="2"/>
            <a:r>
              <a:rPr lang="fr-CA" sz="2800" dirty="0"/>
              <a:t>Services, etc.</a:t>
            </a:r>
          </a:p>
          <a:p>
            <a:pPr marL="457200" lvl="1" indent="0">
              <a:buNone/>
            </a:pPr>
            <a:endParaRPr lang="fr-CA" sz="3200" dirty="0"/>
          </a:p>
          <a:p>
            <a:r>
              <a:rPr lang="fr-CA" sz="3200" dirty="0"/>
              <a:t>Les objets de coûts qui passent par un lieu physique doivent absorber une juste part des coûts comptabilisés à cet endroit</a:t>
            </a:r>
          </a:p>
          <a:p>
            <a:r>
              <a:rPr lang="fr-CA" sz="3200" dirty="0"/>
              <a:t>On va attribuer une portion des FGF aux produits en utilisant un taux d’imputation pour chaque centre de coûts </a:t>
            </a:r>
          </a:p>
          <a:p>
            <a:endParaRPr lang="fr-CA" dirty="0"/>
          </a:p>
        </p:txBody>
      </p:sp>
      <p:sp>
        <p:nvSpPr>
          <p:cNvPr id="2" name="Accolade fermante 1">
            <a:extLst>
              <a:ext uri="{FF2B5EF4-FFF2-40B4-BE49-F238E27FC236}">
                <a16:creationId xmlns:a16="http://schemas.microsoft.com/office/drawing/2014/main" id="{0F0B5F7C-FDA0-487E-8679-63F95B839D30}"/>
              </a:ext>
            </a:extLst>
          </p:cNvPr>
          <p:cNvSpPr/>
          <p:nvPr>
            <p:custDataLst>
              <p:tags r:id="rId4"/>
            </p:custDataLst>
          </p:nvPr>
        </p:nvSpPr>
        <p:spPr>
          <a:xfrm>
            <a:off x="3948056" y="2485016"/>
            <a:ext cx="806824" cy="143076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a:p>
        </p:txBody>
      </p:sp>
      <p:sp>
        <p:nvSpPr>
          <p:cNvPr id="4" name="ZoneTexte 3">
            <a:extLst>
              <a:ext uri="{FF2B5EF4-FFF2-40B4-BE49-F238E27FC236}">
                <a16:creationId xmlns:a16="http://schemas.microsoft.com/office/drawing/2014/main" id="{081F1172-5686-4CB5-803C-3A255489B3E8}"/>
              </a:ext>
            </a:extLst>
          </p:cNvPr>
          <p:cNvSpPr txBox="1"/>
          <p:nvPr>
            <p:custDataLst>
              <p:tags r:id="rId5"/>
            </p:custDataLst>
          </p:nvPr>
        </p:nvSpPr>
        <p:spPr>
          <a:xfrm>
            <a:off x="4840941" y="2966838"/>
            <a:ext cx="5787614" cy="369332"/>
          </a:xfrm>
          <a:prstGeom prst="rect">
            <a:avLst/>
          </a:prstGeom>
          <a:noFill/>
        </p:spPr>
        <p:txBody>
          <a:bodyPr wrap="square" rtlCol="0">
            <a:spAutoFit/>
          </a:bodyPr>
          <a:lstStyle/>
          <a:p>
            <a:r>
              <a:rPr lang="fr-CA"/>
              <a:t>Il y a alors plusieurs centres de coûts dans une usine</a:t>
            </a:r>
          </a:p>
        </p:txBody>
      </p:sp>
      <p:sp>
        <p:nvSpPr>
          <p:cNvPr id="7" name="Espace réservé du pied de page 6">
            <a:extLst>
              <a:ext uri="{FF2B5EF4-FFF2-40B4-BE49-F238E27FC236}">
                <a16:creationId xmlns:a16="http://schemas.microsoft.com/office/drawing/2014/main" id="{66562487-E3AF-7853-273E-8646528E5C6F}"/>
              </a:ext>
            </a:extLst>
          </p:cNvPr>
          <p:cNvSpPr>
            <a:spLocks noGrp="1"/>
          </p:cNvSpPr>
          <p:nvPr>
            <p:ph type="ftr" sz="quarter" idx="11"/>
            <p:custDataLst>
              <p:tags r:id="rId6"/>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
        <p:nvSpPr>
          <p:cNvPr id="8" name="Espace réservé du numéro de diapositive 2">
            <a:extLst>
              <a:ext uri="{FF2B5EF4-FFF2-40B4-BE49-F238E27FC236}">
                <a16:creationId xmlns:a16="http://schemas.microsoft.com/office/drawing/2014/main" id="{62C90ADC-5BA5-1503-9444-5ADC6EFAB32B}"/>
              </a:ext>
            </a:extLst>
          </p:cNvPr>
          <p:cNvSpPr>
            <a:spLocks noGrp="1"/>
          </p:cNvSpPr>
          <p:nvPr>
            <p:ph type="sldNum" sz="quarter" idx="12"/>
            <p:custDataLst>
              <p:tags r:id="rId7"/>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20</a:t>
            </a:fld>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2350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custDataLst>
              <p:tags r:id="rId1"/>
            </p:custDataLst>
          </p:nvPr>
        </p:nvSpPr>
        <p:spPr>
          <a:xfrm>
            <a:off x="260220" y="29290"/>
            <a:ext cx="11709400" cy="747713"/>
          </a:xfrm>
          <a:noFill/>
        </p:spPr>
        <p:txBody>
          <a:bodyPr>
            <a:noAutofit/>
          </a:bodyPr>
          <a:lstStyle/>
          <a:p>
            <a:pPr algn="ctr"/>
            <a:r>
              <a:rPr lang="fr-CA" sz="3200" dirty="0">
                <a:ea typeface="+mj-lt"/>
                <a:cs typeface="+mj-lt"/>
              </a:rPr>
              <a:t>Affecter le coût des </a:t>
            </a:r>
            <a:r>
              <a:rPr lang="fr-CA" sz="3200" dirty="0"/>
              <a:t>ressources (FGF) aux objets de coûts (produits)</a:t>
            </a:r>
          </a:p>
        </p:txBody>
      </p:sp>
      <p:sp>
        <p:nvSpPr>
          <p:cNvPr id="23" name="Rectangle 22"/>
          <p:cNvSpPr/>
          <p:nvPr>
            <p:custDataLst>
              <p:tags r:id="rId2"/>
            </p:custDataLst>
          </p:nvPr>
        </p:nvSpPr>
        <p:spPr>
          <a:xfrm>
            <a:off x="222380" y="660932"/>
            <a:ext cx="2534300" cy="598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Ressources (FGF)</a:t>
            </a:r>
          </a:p>
        </p:txBody>
      </p:sp>
      <p:grpSp>
        <p:nvGrpSpPr>
          <p:cNvPr id="12" name="Groupe 11"/>
          <p:cNvGrpSpPr/>
          <p:nvPr>
            <p:custDataLst>
              <p:tags r:id="rId3"/>
            </p:custDataLst>
          </p:nvPr>
        </p:nvGrpSpPr>
        <p:grpSpPr>
          <a:xfrm>
            <a:off x="3984328" y="1277195"/>
            <a:ext cx="1594502" cy="2590174"/>
            <a:chOff x="5042400" y="1171619"/>
            <a:chExt cx="2534300" cy="2139611"/>
          </a:xfrm>
          <a:solidFill>
            <a:schemeClr val="bg1"/>
          </a:solidFill>
        </p:grpSpPr>
        <p:sp>
          <p:nvSpPr>
            <p:cNvPr id="19" name="Rectangle 18"/>
            <p:cNvSpPr/>
            <p:nvPr/>
          </p:nvSpPr>
          <p:spPr>
            <a:xfrm>
              <a:off x="5335903" y="1807919"/>
              <a:ext cx="1854010"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P1</a:t>
              </a:r>
            </a:p>
          </p:txBody>
        </p:sp>
        <p:sp>
          <p:nvSpPr>
            <p:cNvPr id="21" name="Rectangle 20"/>
            <p:cNvSpPr/>
            <p:nvPr/>
          </p:nvSpPr>
          <p:spPr>
            <a:xfrm>
              <a:off x="5333974" y="2708115"/>
              <a:ext cx="1947295"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P2</a:t>
              </a:r>
            </a:p>
            <a:p>
              <a:pPr algn="ctr"/>
              <a:endParaRPr lang="fr-CA" dirty="0">
                <a:cs typeface="Calibri"/>
              </a:endParaRPr>
            </a:p>
          </p:txBody>
        </p:sp>
        <p:sp>
          <p:nvSpPr>
            <p:cNvPr id="24" name="Rectangle 23"/>
            <p:cNvSpPr/>
            <p:nvPr/>
          </p:nvSpPr>
          <p:spPr>
            <a:xfrm>
              <a:off x="5042400" y="1171619"/>
              <a:ext cx="2534300" cy="6031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Objet de coût - Produits</a:t>
              </a:r>
            </a:p>
          </p:txBody>
        </p:sp>
      </p:grpSp>
      <p:sp>
        <p:nvSpPr>
          <p:cNvPr id="18" name="Rectangle 17"/>
          <p:cNvSpPr/>
          <p:nvPr>
            <p:custDataLst>
              <p:tags r:id="rId4"/>
            </p:custDataLst>
          </p:nvPr>
        </p:nvSpPr>
        <p:spPr>
          <a:xfrm>
            <a:off x="6681503" y="4157496"/>
            <a:ext cx="590353" cy="214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9" name="Rectangle 38"/>
          <p:cNvSpPr/>
          <p:nvPr>
            <p:custDataLst>
              <p:tags r:id="rId5"/>
            </p:custDataLst>
          </p:nvPr>
        </p:nvSpPr>
        <p:spPr>
          <a:xfrm>
            <a:off x="504755" y="1259418"/>
            <a:ext cx="1725598" cy="2984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Loyer</a:t>
            </a:r>
          </a:p>
        </p:txBody>
      </p:sp>
      <p:sp>
        <p:nvSpPr>
          <p:cNvPr id="41" name="Rectangle 40"/>
          <p:cNvSpPr/>
          <p:nvPr>
            <p:custDataLst>
              <p:tags r:id="rId6"/>
            </p:custDataLst>
          </p:nvPr>
        </p:nvSpPr>
        <p:spPr>
          <a:xfrm>
            <a:off x="501220" y="2298197"/>
            <a:ext cx="1725598" cy="3542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Électricité</a:t>
            </a:r>
          </a:p>
        </p:txBody>
      </p:sp>
      <p:sp>
        <p:nvSpPr>
          <p:cNvPr id="42" name="Rectangle 41"/>
          <p:cNvSpPr/>
          <p:nvPr>
            <p:custDataLst>
              <p:tags r:id="rId7"/>
            </p:custDataLst>
          </p:nvPr>
        </p:nvSpPr>
        <p:spPr>
          <a:xfrm>
            <a:off x="504755" y="1694288"/>
            <a:ext cx="1725598" cy="45248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Taxes et assurances</a:t>
            </a:r>
          </a:p>
        </p:txBody>
      </p:sp>
      <p:sp>
        <p:nvSpPr>
          <p:cNvPr id="44" name="Rectangle 43"/>
          <p:cNvSpPr/>
          <p:nvPr>
            <p:custDataLst>
              <p:tags r:id="rId8"/>
            </p:custDataLst>
          </p:nvPr>
        </p:nvSpPr>
        <p:spPr>
          <a:xfrm>
            <a:off x="504755" y="2834495"/>
            <a:ext cx="1725598" cy="63156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Amortissement des machines</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Rectangle 46"/>
          <p:cNvSpPr/>
          <p:nvPr>
            <p:custDataLst>
              <p:tags r:id="rId9"/>
            </p:custDataLst>
          </p:nvPr>
        </p:nvSpPr>
        <p:spPr>
          <a:xfrm>
            <a:off x="509412" y="4580394"/>
            <a:ext cx="1725598" cy="5257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Salaires des </a:t>
            </a:r>
            <a:r>
              <a:rPr kumimoji="0" lang="fr-FR" altLang="fr-FR" sz="1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superviseurs</a:t>
            </a:r>
            <a:endParaRPr lang="fr-CA" sz="1400" b="1" dirty="0"/>
          </a:p>
        </p:txBody>
      </p:sp>
      <p:sp>
        <p:nvSpPr>
          <p:cNvPr id="53" name="Rectangle 52"/>
          <p:cNvSpPr/>
          <p:nvPr>
            <p:custDataLst>
              <p:tags r:id="rId10"/>
            </p:custDataLst>
          </p:nvPr>
        </p:nvSpPr>
        <p:spPr>
          <a:xfrm>
            <a:off x="509412" y="5342559"/>
            <a:ext cx="1725598" cy="4872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Fournitures usine</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4" name="Rectangle 53"/>
          <p:cNvSpPr/>
          <p:nvPr>
            <p:custDataLst>
              <p:tags r:id="rId11"/>
            </p:custDataLst>
          </p:nvPr>
        </p:nvSpPr>
        <p:spPr>
          <a:xfrm>
            <a:off x="491899" y="3648068"/>
            <a:ext cx="1725598" cy="70945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Entretien des machines</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61" name="Connecteur droit avec flèche 60"/>
          <p:cNvCxnSpPr>
            <a:cxnSpLocks/>
            <a:endCxn id="19" idx="1"/>
          </p:cNvCxnSpPr>
          <p:nvPr>
            <p:custDataLst>
              <p:tags r:id="rId12"/>
            </p:custDataLst>
          </p:nvPr>
        </p:nvCxnSpPr>
        <p:spPr>
          <a:xfrm flipV="1">
            <a:off x="3293741" y="2412548"/>
            <a:ext cx="875250" cy="900263"/>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8" name="Espace réservé du numéro de diapositive 4">
            <a:extLst>
              <a:ext uri="{FF2B5EF4-FFF2-40B4-BE49-F238E27FC236}">
                <a16:creationId xmlns:a16="http://schemas.microsoft.com/office/drawing/2014/main" id="{C03EDF8E-6AF2-46A2-24A5-47FB8FC4FE94}"/>
              </a:ext>
            </a:extLst>
          </p:cNvPr>
          <p:cNvSpPr>
            <a:spLocks noGrp="1"/>
          </p:cNvSpPr>
          <p:nvPr>
            <p:ph type="sldNum" sz="quarter" idx="12"/>
            <p:custDataLst>
              <p:tags r:id="rId13"/>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21</a:t>
            </a:fld>
            <a:endParaRPr lang="fr-CA" dirty="0">
              <a:solidFill>
                <a:prstClr val="black">
                  <a:tint val="75000"/>
                </a:prstClr>
              </a:solidFill>
            </a:endParaRPr>
          </a:p>
        </p:txBody>
      </p:sp>
      <p:cxnSp>
        <p:nvCxnSpPr>
          <p:cNvPr id="4" name="Connecteur droit avec flèche 3">
            <a:extLst>
              <a:ext uri="{FF2B5EF4-FFF2-40B4-BE49-F238E27FC236}">
                <a16:creationId xmlns:a16="http://schemas.microsoft.com/office/drawing/2014/main" id="{B3C0B799-60AC-B0E4-B73D-FAC6DA95D5C8}"/>
              </a:ext>
            </a:extLst>
          </p:cNvPr>
          <p:cNvCxnSpPr>
            <a:cxnSpLocks/>
            <a:stCxn id="3" idx="3"/>
            <a:endCxn id="21" idx="1"/>
          </p:cNvCxnSpPr>
          <p:nvPr>
            <p:custDataLst>
              <p:tags r:id="rId14"/>
            </p:custDataLst>
          </p:nvPr>
        </p:nvCxnSpPr>
        <p:spPr>
          <a:xfrm>
            <a:off x="3743998" y="3431896"/>
            <a:ext cx="423779" cy="70413"/>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5" name="Espace réservé du pied de page 6">
            <a:extLst>
              <a:ext uri="{FF2B5EF4-FFF2-40B4-BE49-F238E27FC236}">
                <a16:creationId xmlns:a16="http://schemas.microsoft.com/office/drawing/2014/main" id="{BAB00D9A-237F-6237-900D-240FBE7D1DC4}"/>
              </a:ext>
            </a:extLst>
          </p:cNvPr>
          <p:cNvSpPr>
            <a:spLocks noGrp="1"/>
          </p:cNvSpPr>
          <p:nvPr>
            <p:ph type="ftr" sz="quarter" idx="11"/>
            <p:custDataLst>
              <p:tags r:id="rId15"/>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3" name="Rectangle 2">
            <a:extLst>
              <a:ext uri="{FF2B5EF4-FFF2-40B4-BE49-F238E27FC236}">
                <a16:creationId xmlns:a16="http://schemas.microsoft.com/office/drawing/2014/main" id="{F74EE2AB-EB3F-CE36-23D8-C4A0CC1AB4E2}"/>
              </a:ext>
            </a:extLst>
          </p:cNvPr>
          <p:cNvSpPr/>
          <p:nvPr>
            <p:custDataLst>
              <p:tags r:id="rId16"/>
            </p:custDataLst>
          </p:nvPr>
        </p:nvSpPr>
        <p:spPr>
          <a:xfrm>
            <a:off x="2423675" y="2907028"/>
            <a:ext cx="1320323"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USINE</a:t>
            </a:r>
          </a:p>
        </p:txBody>
      </p:sp>
      <p:sp>
        <p:nvSpPr>
          <p:cNvPr id="7" name="Rectangle 6">
            <a:extLst>
              <a:ext uri="{FF2B5EF4-FFF2-40B4-BE49-F238E27FC236}">
                <a16:creationId xmlns:a16="http://schemas.microsoft.com/office/drawing/2014/main" id="{1D4CBE9B-195B-65B8-A037-AE20D6BB709B}"/>
              </a:ext>
            </a:extLst>
          </p:cNvPr>
          <p:cNvSpPr/>
          <p:nvPr>
            <p:custDataLst>
              <p:tags r:id="rId17"/>
            </p:custDataLst>
          </p:nvPr>
        </p:nvSpPr>
        <p:spPr>
          <a:xfrm>
            <a:off x="5775412" y="768181"/>
            <a:ext cx="2534300" cy="598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Ressources (FGF)</a:t>
            </a:r>
          </a:p>
        </p:txBody>
      </p:sp>
      <p:sp>
        <p:nvSpPr>
          <p:cNvPr id="9" name="Rectangle 8">
            <a:extLst>
              <a:ext uri="{FF2B5EF4-FFF2-40B4-BE49-F238E27FC236}">
                <a16:creationId xmlns:a16="http://schemas.microsoft.com/office/drawing/2014/main" id="{92970919-32DA-CFA9-4F63-F3B7CD36F17E}"/>
              </a:ext>
            </a:extLst>
          </p:cNvPr>
          <p:cNvSpPr/>
          <p:nvPr>
            <p:custDataLst>
              <p:tags r:id="rId18"/>
            </p:custDataLst>
          </p:nvPr>
        </p:nvSpPr>
        <p:spPr>
          <a:xfrm>
            <a:off x="6057787" y="1366667"/>
            <a:ext cx="1725598" cy="2984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Loyer</a:t>
            </a:r>
          </a:p>
        </p:txBody>
      </p:sp>
      <p:sp>
        <p:nvSpPr>
          <p:cNvPr id="10" name="Rectangle 9">
            <a:extLst>
              <a:ext uri="{FF2B5EF4-FFF2-40B4-BE49-F238E27FC236}">
                <a16:creationId xmlns:a16="http://schemas.microsoft.com/office/drawing/2014/main" id="{35B22658-3984-79BF-C38C-5B4E9C56DFD4}"/>
              </a:ext>
            </a:extLst>
          </p:cNvPr>
          <p:cNvSpPr/>
          <p:nvPr>
            <p:custDataLst>
              <p:tags r:id="rId19"/>
            </p:custDataLst>
          </p:nvPr>
        </p:nvSpPr>
        <p:spPr>
          <a:xfrm>
            <a:off x="6054252" y="2405446"/>
            <a:ext cx="1725598" cy="3542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Électricité</a:t>
            </a:r>
          </a:p>
        </p:txBody>
      </p:sp>
      <p:sp>
        <p:nvSpPr>
          <p:cNvPr id="11" name="Rectangle 10">
            <a:extLst>
              <a:ext uri="{FF2B5EF4-FFF2-40B4-BE49-F238E27FC236}">
                <a16:creationId xmlns:a16="http://schemas.microsoft.com/office/drawing/2014/main" id="{45B7ACC3-51BE-6376-1B5C-B6CCA837D183}"/>
              </a:ext>
            </a:extLst>
          </p:cNvPr>
          <p:cNvSpPr/>
          <p:nvPr>
            <p:custDataLst>
              <p:tags r:id="rId20"/>
            </p:custDataLst>
          </p:nvPr>
        </p:nvSpPr>
        <p:spPr>
          <a:xfrm>
            <a:off x="6057787" y="1801537"/>
            <a:ext cx="1725598" cy="45248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Taxes et assurances</a:t>
            </a:r>
          </a:p>
        </p:txBody>
      </p:sp>
      <p:sp>
        <p:nvSpPr>
          <p:cNvPr id="13" name="Rectangle 12">
            <a:extLst>
              <a:ext uri="{FF2B5EF4-FFF2-40B4-BE49-F238E27FC236}">
                <a16:creationId xmlns:a16="http://schemas.microsoft.com/office/drawing/2014/main" id="{C8902199-6E4F-01C6-176D-A79868B0614F}"/>
              </a:ext>
            </a:extLst>
          </p:cNvPr>
          <p:cNvSpPr/>
          <p:nvPr>
            <p:custDataLst>
              <p:tags r:id="rId21"/>
            </p:custDataLst>
          </p:nvPr>
        </p:nvSpPr>
        <p:spPr>
          <a:xfrm>
            <a:off x="6057787" y="2941744"/>
            <a:ext cx="1725598" cy="63156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Amortissement des machines</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 name="Rectangle 13">
            <a:extLst>
              <a:ext uri="{FF2B5EF4-FFF2-40B4-BE49-F238E27FC236}">
                <a16:creationId xmlns:a16="http://schemas.microsoft.com/office/drawing/2014/main" id="{42D56CE7-388E-7F6E-F8BD-FB1E9E441D6A}"/>
              </a:ext>
            </a:extLst>
          </p:cNvPr>
          <p:cNvSpPr/>
          <p:nvPr>
            <p:custDataLst>
              <p:tags r:id="rId22"/>
            </p:custDataLst>
          </p:nvPr>
        </p:nvSpPr>
        <p:spPr>
          <a:xfrm>
            <a:off x="6044931" y="4646776"/>
            <a:ext cx="1725598" cy="5257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Salaires des </a:t>
            </a:r>
            <a:r>
              <a:rPr kumimoji="0" lang="fr-FR" altLang="fr-FR" sz="1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superviseurs</a:t>
            </a:r>
            <a:endParaRPr lang="fr-CA" sz="1400" b="1" dirty="0"/>
          </a:p>
        </p:txBody>
      </p:sp>
      <p:sp>
        <p:nvSpPr>
          <p:cNvPr id="16" name="Rectangle 15">
            <a:extLst>
              <a:ext uri="{FF2B5EF4-FFF2-40B4-BE49-F238E27FC236}">
                <a16:creationId xmlns:a16="http://schemas.microsoft.com/office/drawing/2014/main" id="{8B88FF89-9C15-6F56-AAF5-A0CCCD9B9E00}"/>
              </a:ext>
            </a:extLst>
          </p:cNvPr>
          <p:cNvSpPr/>
          <p:nvPr>
            <p:custDataLst>
              <p:tags r:id="rId23"/>
            </p:custDataLst>
          </p:nvPr>
        </p:nvSpPr>
        <p:spPr>
          <a:xfrm>
            <a:off x="6033442" y="5515471"/>
            <a:ext cx="1725598" cy="4872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fr-FR" altLang="fr-FR" sz="1400" dirty="0">
                <a:solidFill>
                  <a:srgbClr val="000000"/>
                </a:solidFill>
                <a:latin typeface="Calibri" panose="020F0502020204030204" pitchFamily="34" charset="0"/>
              </a:rPr>
              <a:t>Fournitures usine</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 name="Rectangle 16">
            <a:extLst>
              <a:ext uri="{FF2B5EF4-FFF2-40B4-BE49-F238E27FC236}">
                <a16:creationId xmlns:a16="http://schemas.microsoft.com/office/drawing/2014/main" id="{80D35C56-7996-201D-0644-2B47A33C1F71}"/>
              </a:ext>
            </a:extLst>
          </p:cNvPr>
          <p:cNvSpPr/>
          <p:nvPr>
            <p:custDataLst>
              <p:tags r:id="rId24"/>
            </p:custDataLst>
          </p:nvPr>
        </p:nvSpPr>
        <p:spPr>
          <a:xfrm>
            <a:off x="6044931" y="3755317"/>
            <a:ext cx="1725598" cy="70945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Entretien des machines</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20" name="Connecteur droit 19">
            <a:extLst>
              <a:ext uri="{FF2B5EF4-FFF2-40B4-BE49-F238E27FC236}">
                <a16:creationId xmlns:a16="http://schemas.microsoft.com/office/drawing/2014/main" id="{6778D255-9D61-1184-AA2A-D8509DE14245}"/>
              </a:ext>
            </a:extLst>
          </p:cNvPr>
          <p:cNvCxnSpPr>
            <a:cxnSpLocks/>
          </p:cNvCxnSpPr>
          <p:nvPr/>
        </p:nvCxnSpPr>
        <p:spPr>
          <a:xfrm>
            <a:off x="5591166" y="812224"/>
            <a:ext cx="3013" cy="5380170"/>
          </a:xfrm>
          <a:prstGeom prst="line">
            <a:avLst/>
          </a:prstGeom>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0723C848-EACD-2FBE-E613-D64CB45DD37E}"/>
              </a:ext>
            </a:extLst>
          </p:cNvPr>
          <p:cNvSpPr/>
          <p:nvPr>
            <p:custDataLst>
              <p:tags r:id="rId25"/>
            </p:custDataLst>
          </p:nvPr>
        </p:nvSpPr>
        <p:spPr>
          <a:xfrm>
            <a:off x="8431920" y="1892008"/>
            <a:ext cx="156065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a:t>
            </a:r>
            <a:endParaRPr lang="fr-CA" dirty="0">
              <a:cs typeface="Calibri"/>
            </a:endParaRPr>
          </a:p>
        </p:txBody>
      </p:sp>
      <p:sp>
        <p:nvSpPr>
          <p:cNvPr id="25" name="Rectangle 24">
            <a:extLst>
              <a:ext uri="{FF2B5EF4-FFF2-40B4-BE49-F238E27FC236}">
                <a16:creationId xmlns:a16="http://schemas.microsoft.com/office/drawing/2014/main" id="{79BA4027-AF29-3175-80BC-92672261F930}"/>
              </a:ext>
            </a:extLst>
          </p:cNvPr>
          <p:cNvSpPr/>
          <p:nvPr>
            <p:custDataLst>
              <p:tags r:id="rId26"/>
            </p:custDataLst>
          </p:nvPr>
        </p:nvSpPr>
        <p:spPr>
          <a:xfrm>
            <a:off x="8431920" y="3477927"/>
            <a:ext cx="156065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a:t>
            </a:r>
            <a:endParaRPr lang="fr-CA" dirty="0">
              <a:cs typeface="Calibri"/>
            </a:endParaRPr>
          </a:p>
        </p:txBody>
      </p:sp>
      <p:grpSp>
        <p:nvGrpSpPr>
          <p:cNvPr id="26" name="Groupe 25">
            <a:extLst>
              <a:ext uri="{FF2B5EF4-FFF2-40B4-BE49-F238E27FC236}">
                <a16:creationId xmlns:a16="http://schemas.microsoft.com/office/drawing/2014/main" id="{B845370D-A5D2-A9F8-5187-B079C13DFE10}"/>
              </a:ext>
            </a:extLst>
          </p:cNvPr>
          <p:cNvGrpSpPr/>
          <p:nvPr>
            <p:custDataLst>
              <p:tags r:id="rId27"/>
            </p:custDataLst>
          </p:nvPr>
        </p:nvGrpSpPr>
        <p:grpSpPr>
          <a:xfrm>
            <a:off x="10069327" y="1519264"/>
            <a:ext cx="2111673" cy="3796498"/>
            <a:chOff x="5042400" y="1171619"/>
            <a:chExt cx="2534300" cy="3231391"/>
          </a:xfrm>
          <a:solidFill>
            <a:schemeClr val="bg1"/>
          </a:solidFill>
        </p:grpSpPr>
        <p:sp>
          <p:nvSpPr>
            <p:cNvPr id="27" name="Rectangle 26">
              <a:extLst>
                <a:ext uri="{FF2B5EF4-FFF2-40B4-BE49-F238E27FC236}">
                  <a16:creationId xmlns:a16="http://schemas.microsoft.com/office/drawing/2014/main" id="{4AFEDBA6-3CEB-514B-DB80-0F1E53A468DA}"/>
                </a:ext>
              </a:extLst>
            </p:cNvPr>
            <p:cNvSpPr/>
            <p:nvPr/>
          </p:nvSpPr>
          <p:spPr>
            <a:xfrm>
              <a:off x="5335903" y="1807919"/>
              <a:ext cx="1854010"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P1</a:t>
              </a:r>
            </a:p>
          </p:txBody>
        </p:sp>
        <p:sp>
          <p:nvSpPr>
            <p:cNvPr id="28" name="Rectangle 27">
              <a:extLst>
                <a:ext uri="{FF2B5EF4-FFF2-40B4-BE49-F238E27FC236}">
                  <a16:creationId xmlns:a16="http://schemas.microsoft.com/office/drawing/2014/main" id="{A82A5458-B70B-722A-EFC8-E281BE932EF8}"/>
                </a:ext>
              </a:extLst>
            </p:cNvPr>
            <p:cNvSpPr/>
            <p:nvPr/>
          </p:nvSpPr>
          <p:spPr>
            <a:xfrm>
              <a:off x="5335903" y="3799895"/>
              <a:ext cx="1947296"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P3</a:t>
              </a:r>
            </a:p>
            <a:p>
              <a:pPr algn="ctr"/>
              <a:endParaRPr lang="fr-CA" dirty="0">
                <a:cs typeface="Calibri"/>
              </a:endParaRPr>
            </a:p>
          </p:txBody>
        </p:sp>
        <p:sp>
          <p:nvSpPr>
            <p:cNvPr id="29" name="Rectangle 28">
              <a:extLst>
                <a:ext uri="{FF2B5EF4-FFF2-40B4-BE49-F238E27FC236}">
                  <a16:creationId xmlns:a16="http://schemas.microsoft.com/office/drawing/2014/main" id="{7217D8E3-E457-2C69-C69E-B403507DA857}"/>
                </a:ext>
              </a:extLst>
            </p:cNvPr>
            <p:cNvSpPr/>
            <p:nvPr/>
          </p:nvSpPr>
          <p:spPr>
            <a:xfrm>
              <a:off x="5042400" y="1171619"/>
              <a:ext cx="2534300" cy="6031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Objet de coût - Produits</a:t>
              </a:r>
            </a:p>
          </p:txBody>
        </p:sp>
      </p:grpSp>
      <p:sp>
        <p:nvSpPr>
          <p:cNvPr id="30" name="Rectangle 29">
            <a:extLst>
              <a:ext uri="{FF2B5EF4-FFF2-40B4-BE49-F238E27FC236}">
                <a16:creationId xmlns:a16="http://schemas.microsoft.com/office/drawing/2014/main" id="{613F3DDA-D257-0ADC-9433-5E3517222624}"/>
              </a:ext>
            </a:extLst>
          </p:cNvPr>
          <p:cNvSpPr/>
          <p:nvPr/>
        </p:nvSpPr>
        <p:spPr>
          <a:xfrm>
            <a:off x="10351331" y="3386315"/>
            <a:ext cx="1612584" cy="708588"/>
          </a:xfrm>
          <a:prstGeom prst="rect">
            <a:avLst/>
          </a:prstGeom>
          <a:solidFill>
            <a:schemeClr val="bg1"/>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P2</a:t>
            </a:r>
          </a:p>
          <a:p>
            <a:pPr algn="ctr"/>
            <a:endParaRPr lang="fr-CA" dirty="0">
              <a:cs typeface="Calibri"/>
            </a:endParaRPr>
          </a:p>
        </p:txBody>
      </p:sp>
      <p:cxnSp>
        <p:nvCxnSpPr>
          <p:cNvPr id="31" name="Connecteur droit avec flèche 30">
            <a:extLst>
              <a:ext uri="{FF2B5EF4-FFF2-40B4-BE49-F238E27FC236}">
                <a16:creationId xmlns:a16="http://schemas.microsoft.com/office/drawing/2014/main" id="{1F9D6AD9-18F0-5E01-36CE-16C18E82E9A6}"/>
              </a:ext>
            </a:extLst>
          </p:cNvPr>
          <p:cNvCxnSpPr>
            <a:cxnSpLocks/>
            <a:stCxn id="22" idx="3"/>
            <a:endCxn id="27" idx="1"/>
          </p:cNvCxnSpPr>
          <p:nvPr>
            <p:custDataLst>
              <p:tags r:id="rId28"/>
            </p:custDataLst>
          </p:nvPr>
        </p:nvCxnSpPr>
        <p:spPr>
          <a:xfrm>
            <a:off x="9992572" y="2416876"/>
            <a:ext cx="321313" cy="204258"/>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33" name="Connecteur droit avec flèche 32">
            <a:extLst>
              <a:ext uri="{FF2B5EF4-FFF2-40B4-BE49-F238E27FC236}">
                <a16:creationId xmlns:a16="http://schemas.microsoft.com/office/drawing/2014/main" id="{E7C2274D-2E8F-ECBE-875A-6DAD0EAEFDEE}"/>
              </a:ext>
            </a:extLst>
          </p:cNvPr>
          <p:cNvCxnSpPr>
            <a:cxnSpLocks/>
            <a:stCxn id="22" idx="3"/>
            <a:endCxn id="30" idx="1"/>
          </p:cNvCxnSpPr>
          <p:nvPr>
            <p:custDataLst>
              <p:tags r:id="rId29"/>
            </p:custDataLst>
          </p:nvPr>
        </p:nvCxnSpPr>
        <p:spPr>
          <a:xfrm>
            <a:off x="9992572" y="2416876"/>
            <a:ext cx="358759" cy="1323733"/>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36" name="Connecteur droit avec flèche 35">
            <a:extLst>
              <a:ext uri="{FF2B5EF4-FFF2-40B4-BE49-F238E27FC236}">
                <a16:creationId xmlns:a16="http://schemas.microsoft.com/office/drawing/2014/main" id="{2819EAA6-10AD-18EE-64D1-6ED4B7E140A9}"/>
              </a:ext>
            </a:extLst>
          </p:cNvPr>
          <p:cNvCxnSpPr>
            <a:cxnSpLocks/>
          </p:cNvCxnSpPr>
          <p:nvPr>
            <p:custDataLst>
              <p:tags r:id="rId30"/>
            </p:custDataLst>
          </p:nvPr>
        </p:nvCxnSpPr>
        <p:spPr>
          <a:xfrm>
            <a:off x="7786920" y="1542452"/>
            <a:ext cx="946381" cy="676819"/>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38" name="Connecteur droit avec flèche 37">
            <a:extLst>
              <a:ext uri="{FF2B5EF4-FFF2-40B4-BE49-F238E27FC236}">
                <a16:creationId xmlns:a16="http://schemas.microsoft.com/office/drawing/2014/main" id="{2B53475E-CA78-719A-FC00-3C9A7CC0823D}"/>
              </a:ext>
            </a:extLst>
          </p:cNvPr>
          <p:cNvCxnSpPr>
            <a:cxnSpLocks/>
            <a:stCxn id="9" idx="3"/>
          </p:cNvCxnSpPr>
          <p:nvPr>
            <p:custDataLst>
              <p:tags r:id="rId31"/>
            </p:custDataLst>
          </p:nvPr>
        </p:nvCxnSpPr>
        <p:spPr>
          <a:xfrm>
            <a:off x="7783385" y="1515895"/>
            <a:ext cx="1307380" cy="2224714"/>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45" name="Connecteur droit avec flèche 44">
            <a:extLst>
              <a:ext uri="{FF2B5EF4-FFF2-40B4-BE49-F238E27FC236}">
                <a16:creationId xmlns:a16="http://schemas.microsoft.com/office/drawing/2014/main" id="{25B98F8B-5445-FA83-15C5-635F1EF04BA4}"/>
              </a:ext>
            </a:extLst>
          </p:cNvPr>
          <p:cNvCxnSpPr>
            <a:cxnSpLocks/>
            <a:stCxn id="13" idx="3"/>
            <a:endCxn id="25" idx="1"/>
          </p:cNvCxnSpPr>
          <p:nvPr>
            <p:custDataLst>
              <p:tags r:id="rId32"/>
            </p:custDataLst>
          </p:nvPr>
        </p:nvCxnSpPr>
        <p:spPr>
          <a:xfrm>
            <a:off x="7783385" y="3257528"/>
            <a:ext cx="648535" cy="745267"/>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48" name="Connecteur droit avec flèche 47">
            <a:extLst>
              <a:ext uri="{FF2B5EF4-FFF2-40B4-BE49-F238E27FC236}">
                <a16:creationId xmlns:a16="http://schemas.microsoft.com/office/drawing/2014/main" id="{A20B74A3-AFD5-DD91-58B3-DC2CAD6B7F06}"/>
              </a:ext>
            </a:extLst>
          </p:cNvPr>
          <p:cNvCxnSpPr>
            <a:cxnSpLocks/>
            <a:endCxn id="25" idx="1"/>
          </p:cNvCxnSpPr>
          <p:nvPr>
            <p:custDataLst>
              <p:tags r:id="rId33"/>
            </p:custDataLst>
          </p:nvPr>
        </p:nvCxnSpPr>
        <p:spPr>
          <a:xfrm flipV="1">
            <a:off x="7771779" y="4002795"/>
            <a:ext cx="660141" cy="96477"/>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5" name="Connecteur droit avec flèche 54">
            <a:extLst>
              <a:ext uri="{FF2B5EF4-FFF2-40B4-BE49-F238E27FC236}">
                <a16:creationId xmlns:a16="http://schemas.microsoft.com/office/drawing/2014/main" id="{DDFAAC09-7F17-8637-FB4F-72048AA61174}"/>
              </a:ext>
            </a:extLst>
          </p:cNvPr>
          <p:cNvCxnSpPr>
            <a:cxnSpLocks/>
            <a:stCxn id="16" idx="3"/>
            <a:endCxn id="35" idx="1"/>
          </p:cNvCxnSpPr>
          <p:nvPr>
            <p:custDataLst>
              <p:tags r:id="rId34"/>
            </p:custDataLst>
          </p:nvPr>
        </p:nvCxnSpPr>
        <p:spPr>
          <a:xfrm flipV="1">
            <a:off x="7759040" y="5342105"/>
            <a:ext cx="682855" cy="416988"/>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7" name="Connecteur droit avec flèche 56">
            <a:extLst>
              <a:ext uri="{FF2B5EF4-FFF2-40B4-BE49-F238E27FC236}">
                <a16:creationId xmlns:a16="http://schemas.microsoft.com/office/drawing/2014/main" id="{215EE5BE-74FA-8929-6303-321299C22A1E}"/>
              </a:ext>
            </a:extLst>
          </p:cNvPr>
          <p:cNvCxnSpPr>
            <a:cxnSpLocks/>
            <a:endCxn id="30" idx="1"/>
          </p:cNvCxnSpPr>
          <p:nvPr>
            <p:custDataLst>
              <p:tags r:id="rId35"/>
            </p:custDataLst>
          </p:nvPr>
        </p:nvCxnSpPr>
        <p:spPr>
          <a:xfrm flipV="1">
            <a:off x="10002547" y="3740609"/>
            <a:ext cx="348784" cy="197546"/>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9" name="Connecteur droit avec flèche 58">
            <a:extLst>
              <a:ext uri="{FF2B5EF4-FFF2-40B4-BE49-F238E27FC236}">
                <a16:creationId xmlns:a16="http://schemas.microsoft.com/office/drawing/2014/main" id="{730EE4EC-D94B-6850-E3C7-87129BA60F58}"/>
              </a:ext>
            </a:extLst>
          </p:cNvPr>
          <p:cNvCxnSpPr>
            <a:cxnSpLocks/>
            <a:endCxn id="28" idx="1"/>
          </p:cNvCxnSpPr>
          <p:nvPr>
            <p:custDataLst>
              <p:tags r:id="rId36"/>
            </p:custDataLst>
          </p:nvPr>
        </p:nvCxnSpPr>
        <p:spPr>
          <a:xfrm>
            <a:off x="9978587" y="4426459"/>
            <a:ext cx="335298" cy="535009"/>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43" name="Rectangle 42">
            <a:extLst>
              <a:ext uri="{FF2B5EF4-FFF2-40B4-BE49-F238E27FC236}">
                <a16:creationId xmlns:a16="http://schemas.microsoft.com/office/drawing/2014/main" id="{8B89AC17-CD43-346A-28CB-7AFFCE91A3D7}"/>
              </a:ext>
            </a:extLst>
          </p:cNvPr>
          <p:cNvSpPr/>
          <p:nvPr/>
        </p:nvSpPr>
        <p:spPr>
          <a:xfrm>
            <a:off x="4223868" y="4164552"/>
            <a:ext cx="1154406" cy="708588"/>
          </a:xfrm>
          <a:prstGeom prst="rect">
            <a:avLst/>
          </a:prstGeom>
          <a:solidFill>
            <a:schemeClr val="bg1"/>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P3</a:t>
            </a:r>
          </a:p>
          <a:p>
            <a:pPr algn="ctr"/>
            <a:endParaRPr lang="fr-CA" dirty="0">
              <a:cs typeface="Calibri"/>
            </a:endParaRPr>
          </a:p>
        </p:txBody>
      </p:sp>
      <p:cxnSp>
        <p:nvCxnSpPr>
          <p:cNvPr id="46" name="Connecteur droit avec flèche 45">
            <a:extLst>
              <a:ext uri="{FF2B5EF4-FFF2-40B4-BE49-F238E27FC236}">
                <a16:creationId xmlns:a16="http://schemas.microsoft.com/office/drawing/2014/main" id="{2166108E-9B8C-E20E-4993-8C1605D5AF64}"/>
              </a:ext>
            </a:extLst>
          </p:cNvPr>
          <p:cNvCxnSpPr>
            <a:cxnSpLocks/>
            <a:endCxn id="43" idx="1"/>
          </p:cNvCxnSpPr>
          <p:nvPr>
            <p:custDataLst>
              <p:tags r:id="rId37"/>
            </p:custDataLst>
          </p:nvPr>
        </p:nvCxnSpPr>
        <p:spPr>
          <a:xfrm>
            <a:off x="3661440" y="3986807"/>
            <a:ext cx="562428" cy="532039"/>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35" name="Rectangle 34">
            <a:extLst>
              <a:ext uri="{FF2B5EF4-FFF2-40B4-BE49-F238E27FC236}">
                <a16:creationId xmlns:a16="http://schemas.microsoft.com/office/drawing/2014/main" id="{528CFA9D-9257-9286-743B-992EFBB943F2}"/>
              </a:ext>
            </a:extLst>
          </p:cNvPr>
          <p:cNvSpPr/>
          <p:nvPr>
            <p:custDataLst>
              <p:tags r:id="rId38"/>
            </p:custDataLst>
          </p:nvPr>
        </p:nvSpPr>
        <p:spPr>
          <a:xfrm>
            <a:off x="8441895" y="4817237"/>
            <a:ext cx="156065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a:t>
            </a:r>
            <a:endParaRPr lang="fr-CA" dirty="0">
              <a:cs typeface="Calibri"/>
            </a:endParaRPr>
          </a:p>
        </p:txBody>
      </p:sp>
      <p:cxnSp>
        <p:nvCxnSpPr>
          <p:cNvPr id="50" name="Connecteur droit avec flèche 49">
            <a:extLst>
              <a:ext uri="{FF2B5EF4-FFF2-40B4-BE49-F238E27FC236}">
                <a16:creationId xmlns:a16="http://schemas.microsoft.com/office/drawing/2014/main" id="{D074EA18-49C4-75A7-D031-61A071225276}"/>
              </a:ext>
            </a:extLst>
          </p:cNvPr>
          <p:cNvCxnSpPr>
            <a:cxnSpLocks/>
          </p:cNvCxnSpPr>
          <p:nvPr>
            <p:custDataLst>
              <p:tags r:id="rId39"/>
            </p:custDataLst>
          </p:nvPr>
        </p:nvCxnSpPr>
        <p:spPr>
          <a:xfrm>
            <a:off x="7751495" y="1555875"/>
            <a:ext cx="1216353" cy="3369933"/>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736631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09692D-3731-ECF0-2BB9-D978620D86FC}"/>
              </a:ext>
            </a:extLst>
          </p:cNvPr>
          <p:cNvSpPr>
            <a:spLocks noGrp="1"/>
          </p:cNvSpPr>
          <p:nvPr>
            <p:ph type="title"/>
            <p:custDataLst>
              <p:tags r:id="rId1"/>
            </p:custDataLst>
          </p:nvPr>
        </p:nvSpPr>
        <p:spPr/>
        <p:txBody>
          <a:bodyPr>
            <a:normAutofit fontScale="90000"/>
          </a:bodyPr>
          <a:lstStyle/>
          <a:p>
            <a:r>
              <a:rPr kumimoji="0" lang="fr-CA" sz="4400" i="0" u="none" strike="noStrike" kern="1200" cap="none" spc="0" normalizeH="0" baseline="0" noProof="0" dirty="0">
                <a:ln>
                  <a:noFill/>
                </a:ln>
                <a:solidFill>
                  <a:prstClr val="black"/>
                </a:solidFill>
                <a:effectLst/>
                <a:uLnTx/>
                <a:uFillTx/>
                <a:latin typeface="+mj-lt"/>
                <a:ea typeface="+mn-ea"/>
                <a:cs typeface="+mn-cs"/>
              </a:rPr>
              <a:t>Étapes pour calculer le coût de fabrication unitaire</a:t>
            </a:r>
            <a:br>
              <a:rPr kumimoji="0" lang="fr-CA" sz="4400" i="0" u="none" strike="noStrike" kern="1200" cap="none" spc="0" normalizeH="0" baseline="0" noProof="0" dirty="0">
                <a:ln>
                  <a:noFill/>
                </a:ln>
                <a:solidFill>
                  <a:prstClr val="black"/>
                </a:solidFill>
                <a:effectLst/>
                <a:uLnTx/>
                <a:uFillTx/>
                <a:latin typeface="+mj-lt"/>
                <a:ea typeface="+mn-ea"/>
                <a:cs typeface="+mn-cs"/>
              </a:rPr>
            </a:br>
            <a:r>
              <a:rPr kumimoji="0" lang="fr-CA" sz="3100" i="1" u="none" strike="noStrike" kern="1200" cap="none" spc="0" normalizeH="0" baseline="0" noProof="0" dirty="0">
                <a:ln>
                  <a:noFill/>
                </a:ln>
                <a:solidFill>
                  <a:prstClr val="black"/>
                </a:solidFill>
                <a:effectLst/>
                <a:uLnTx/>
                <a:uFillTx/>
                <a:latin typeface="+mj-lt"/>
                <a:ea typeface="+mn-ea"/>
                <a:cs typeface="+mn-cs"/>
              </a:rPr>
              <a:t>(dans le cas où nous avons le total des FGF par centres de coûts)</a:t>
            </a:r>
            <a:endParaRPr lang="fr-CA" i="1" dirty="0"/>
          </a:p>
        </p:txBody>
      </p:sp>
      <p:sp>
        <p:nvSpPr>
          <p:cNvPr id="3" name="Espace réservé du contenu 2">
            <a:extLst>
              <a:ext uri="{FF2B5EF4-FFF2-40B4-BE49-F238E27FC236}">
                <a16:creationId xmlns:a16="http://schemas.microsoft.com/office/drawing/2014/main" id="{F26835E8-F56C-11A4-B062-30167B696485}"/>
              </a:ext>
            </a:extLst>
          </p:cNvPr>
          <p:cNvSpPr>
            <a:spLocks noGrp="1"/>
          </p:cNvSpPr>
          <p:nvPr>
            <p:ph idx="1"/>
            <p:custDataLst>
              <p:tags r:id="rId2"/>
            </p:custDataLst>
          </p:nvPr>
        </p:nvSpPr>
        <p:spPr>
          <a:xfrm>
            <a:off x="838200" y="1923723"/>
            <a:ext cx="10515600" cy="4275011"/>
          </a:xfrm>
        </p:spPr>
        <p:txBody>
          <a:bodyPr>
            <a:normAutofit fontScale="92500" lnSpcReduction="10000"/>
          </a:bodyPr>
          <a:lstStyle/>
          <a:p>
            <a:pPr marL="0" indent="0">
              <a:spcAft>
                <a:spcPts val="1200"/>
              </a:spcAft>
              <a:buNone/>
            </a:pPr>
            <a:r>
              <a:rPr lang="fr-CA" b="1" dirty="0"/>
              <a:t>Étape 1 </a:t>
            </a:r>
            <a:r>
              <a:rPr lang="fr-CA" dirty="0"/>
              <a:t>: choisir une base d’imputation </a:t>
            </a:r>
            <a:r>
              <a:rPr lang="fr-CA" u="sng" dirty="0"/>
              <a:t>commune</a:t>
            </a:r>
            <a:r>
              <a:rPr lang="fr-CA" dirty="0"/>
              <a:t> aux produits</a:t>
            </a:r>
          </a:p>
          <a:p>
            <a:pPr marL="0" indent="0">
              <a:spcAft>
                <a:spcPts val="1200"/>
              </a:spcAft>
              <a:buNone/>
            </a:pPr>
            <a:r>
              <a:rPr lang="fr-CA" b="1" dirty="0"/>
              <a:t>Étape 2 </a:t>
            </a:r>
            <a:r>
              <a:rPr lang="fr-CA" dirty="0"/>
              <a:t>: calculer le taux d’imputation (formule générale)</a:t>
            </a:r>
          </a:p>
          <a:p>
            <a:pPr marL="0" indent="0">
              <a:spcAft>
                <a:spcPts val="1200"/>
              </a:spcAft>
              <a:buNone/>
            </a:pPr>
            <a:r>
              <a:rPr lang="fr-CA" dirty="0"/>
              <a:t>	        </a:t>
            </a:r>
            <a:r>
              <a:rPr lang="fr-CA" i="1" dirty="0">
                <a:solidFill>
                  <a:schemeClr val="tx2"/>
                </a:solidFill>
              </a:rPr>
              <a:t>FGF total / Volume total de la base d’imputation</a:t>
            </a:r>
          </a:p>
          <a:p>
            <a:pPr marL="0" indent="0">
              <a:spcAft>
                <a:spcPts val="1200"/>
              </a:spcAft>
              <a:buNone/>
            </a:pPr>
            <a:r>
              <a:rPr lang="fr-CA" b="1" dirty="0"/>
              <a:t>Étape 3</a:t>
            </a:r>
            <a:r>
              <a:rPr lang="fr-CA" dirty="0"/>
              <a:t>: répartir les frais généraux de fabrication (</a:t>
            </a:r>
            <a:r>
              <a:rPr lang="fr-CA" b="1" dirty="0"/>
              <a:t>FGF</a:t>
            </a:r>
            <a:r>
              <a:rPr lang="fr-CA" dirty="0"/>
              <a:t>) aux produits</a:t>
            </a:r>
          </a:p>
          <a:p>
            <a:pPr marL="0" indent="0" algn="ctr">
              <a:spcAft>
                <a:spcPts val="1200"/>
              </a:spcAft>
              <a:buNone/>
            </a:pPr>
            <a:r>
              <a:rPr lang="fr-CA" dirty="0"/>
              <a:t>	</a:t>
            </a:r>
            <a:r>
              <a:rPr lang="fr-CA" i="1" dirty="0">
                <a:solidFill>
                  <a:schemeClr val="tx2"/>
                </a:solidFill>
              </a:rPr>
              <a:t>Taux d’imputation X Volume de la base d’imputation par unité</a:t>
            </a:r>
          </a:p>
          <a:p>
            <a:pPr marL="0" indent="0">
              <a:spcAft>
                <a:spcPts val="1200"/>
              </a:spcAft>
              <a:buNone/>
            </a:pPr>
            <a:r>
              <a:rPr lang="fr-CA" b="1" dirty="0"/>
              <a:t>Étape 4</a:t>
            </a:r>
            <a:r>
              <a:rPr lang="fr-CA" dirty="0"/>
              <a:t>: calculer le </a:t>
            </a:r>
            <a:r>
              <a:rPr lang="fr-CA" b="1" dirty="0"/>
              <a:t>coût de fabrication</a:t>
            </a:r>
            <a:r>
              <a:rPr lang="fr-CA" dirty="0"/>
              <a:t> unitaire de chaque produit </a:t>
            </a:r>
          </a:p>
          <a:p>
            <a:pPr marL="0" indent="0" algn="ctr">
              <a:spcAft>
                <a:spcPts val="1200"/>
              </a:spcAft>
              <a:buNone/>
            </a:pPr>
            <a:r>
              <a:rPr lang="fr-CA" i="1" dirty="0">
                <a:solidFill>
                  <a:schemeClr val="tx2"/>
                </a:solidFill>
              </a:rPr>
              <a:t>(MP + MOD + FGF)</a:t>
            </a:r>
          </a:p>
          <a:p>
            <a:pPr marL="0" indent="0">
              <a:buNone/>
            </a:pPr>
            <a:endParaRPr lang="fr-CA" dirty="0"/>
          </a:p>
        </p:txBody>
      </p:sp>
      <p:sp>
        <p:nvSpPr>
          <p:cNvPr id="5" name="Espace réservé du numéro de diapositive 4">
            <a:extLst>
              <a:ext uri="{FF2B5EF4-FFF2-40B4-BE49-F238E27FC236}">
                <a16:creationId xmlns:a16="http://schemas.microsoft.com/office/drawing/2014/main" id="{27ED9063-E24F-B777-E082-A1E254F1815F}"/>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22</a:t>
            </a:fld>
            <a:endParaRPr lang="fr-CA" dirty="0">
              <a:solidFill>
                <a:prstClr val="black">
                  <a:tint val="75000"/>
                </a:prstClr>
              </a:solidFill>
            </a:endParaRPr>
          </a:p>
        </p:txBody>
      </p:sp>
      <p:sp>
        <p:nvSpPr>
          <p:cNvPr id="6" name="Espace réservé du pied de page 6">
            <a:extLst>
              <a:ext uri="{FF2B5EF4-FFF2-40B4-BE49-F238E27FC236}">
                <a16:creationId xmlns:a16="http://schemas.microsoft.com/office/drawing/2014/main" id="{2D7993FD-5BA8-7DDC-036C-B5C0A52A1C2F}"/>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2858225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custDataLst>
              <p:tags r:id="rId2"/>
            </p:custDataLst>
          </p:nvPr>
        </p:nvSpPr>
        <p:spPr>
          <a:xfrm>
            <a:off x="838200" y="160589"/>
            <a:ext cx="10601130" cy="1042570"/>
          </a:xfrm>
        </p:spPr>
        <p:txBody>
          <a:bodyPr vert="horz" anchor="ctr">
            <a:normAutofit/>
          </a:bodyPr>
          <a:lstStyle/>
          <a:p>
            <a:pPr algn="ctr"/>
            <a:r>
              <a:rPr lang="fr-CA" sz="4000" dirty="0"/>
              <a:t>Les choix de bases d’imputation possibles </a:t>
            </a:r>
            <a:endParaRPr lang="en-CA" sz="4000" dirty="0"/>
          </a:p>
        </p:txBody>
      </p:sp>
      <p:sp>
        <p:nvSpPr>
          <p:cNvPr id="4" name="Espace réservé du contenu 3"/>
          <p:cNvSpPr>
            <a:spLocks noGrp="1"/>
          </p:cNvSpPr>
          <p:nvPr>
            <p:ph idx="1"/>
            <p:custDataLst>
              <p:tags r:id="rId3"/>
            </p:custDataLst>
          </p:nvPr>
        </p:nvSpPr>
        <p:spPr>
          <a:xfrm>
            <a:off x="696433" y="1618479"/>
            <a:ext cx="6651813" cy="4709112"/>
          </a:xfrm>
        </p:spPr>
        <p:txBody>
          <a:bodyPr vert="horz" lIns="91440" tIns="45720" rIns="91440" bIns="45720" rtlCol="0" anchor="t">
            <a:normAutofit fontScale="92500" lnSpcReduction="10000"/>
          </a:bodyPr>
          <a:lstStyle/>
          <a:p>
            <a:pPr marL="0" indent="0">
              <a:lnSpc>
                <a:spcPct val="120000"/>
              </a:lnSpc>
              <a:spcBef>
                <a:spcPts val="0"/>
              </a:spcBef>
              <a:spcAft>
                <a:spcPts val="600"/>
              </a:spcAft>
              <a:buNone/>
            </a:pPr>
            <a:r>
              <a:rPr lang="fr-CA" sz="2500" dirty="0"/>
              <a:t>Les coûts indirects sont rattachés aux objets de coûts </a:t>
            </a:r>
            <a:r>
              <a:rPr lang="fr-CA" sz="2500" b="1" u="sng" dirty="0"/>
              <a:t>en fonction d’une base</a:t>
            </a:r>
            <a:r>
              <a:rPr lang="fr-CA" sz="2500" dirty="0"/>
              <a:t>, dont voici les plus courantes :</a:t>
            </a:r>
          </a:p>
          <a:p>
            <a:pPr lvl="1">
              <a:spcBef>
                <a:spcPts val="1200"/>
              </a:spcBef>
            </a:pPr>
            <a:r>
              <a:rPr lang="fr-CA" sz="2500" dirty="0"/>
              <a:t>Le nombre d’unités fabriquées</a:t>
            </a:r>
          </a:p>
          <a:p>
            <a:pPr lvl="1"/>
            <a:r>
              <a:rPr lang="fr-CA" sz="2500" dirty="0"/>
              <a:t>Le temps de travail (les heures de MOD)</a:t>
            </a:r>
          </a:p>
          <a:p>
            <a:pPr lvl="1"/>
            <a:r>
              <a:rPr lang="fr-CA" sz="2500" dirty="0"/>
              <a:t>Le temps d’utilisation de la machinerie (les heures-machines)</a:t>
            </a:r>
          </a:p>
          <a:p>
            <a:pPr marL="914400" lvl="2" indent="0">
              <a:buNone/>
            </a:pPr>
            <a:endParaRPr lang="fr-CA" sz="2500" dirty="0"/>
          </a:p>
          <a:p>
            <a:pPr lvl="1"/>
            <a:r>
              <a:rPr lang="fr-CA" sz="2500" dirty="0">
                <a:cs typeface="Calibri"/>
              </a:rPr>
              <a:t>Selon d’autres déclencheurs de coûts</a:t>
            </a:r>
          </a:p>
          <a:p>
            <a:pPr lvl="2"/>
            <a:r>
              <a:rPr lang="fr-CA" sz="2500" dirty="0"/>
              <a:t>Le coût de la MOD</a:t>
            </a:r>
          </a:p>
          <a:p>
            <a:pPr lvl="2"/>
            <a:r>
              <a:rPr lang="fr-CA" sz="2500" dirty="0"/>
              <a:t>Le nombre de composants</a:t>
            </a:r>
          </a:p>
          <a:p>
            <a:pPr lvl="2"/>
            <a:r>
              <a:rPr lang="fr-CA" sz="2500" dirty="0"/>
              <a:t>La superficie</a:t>
            </a:r>
          </a:p>
          <a:p>
            <a:pPr lvl="2"/>
            <a:r>
              <a:rPr lang="fr-CA" sz="2500" dirty="0"/>
              <a:t>Etc.</a:t>
            </a:r>
          </a:p>
          <a:p>
            <a:pPr lvl="2"/>
            <a:endParaRPr lang="fr-CA" sz="2500" dirty="0">
              <a:cs typeface="Calibri"/>
            </a:endParaRPr>
          </a:p>
          <a:p>
            <a:pPr lvl="1">
              <a:lnSpc>
                <a:spcPct val="120000"/>
              </a:lnSpc>
            </a:pPr>
            <a:endParaRPr lang="fr-CA" sz="2900" dirty="0"/>
          </a:p>
          <a:p>
            <a:pPr lvl="1">
              <a:lnSpc>
                <a:spcPct val="120000"/>
              </a:lnSpc>
            </a:pPr>
            <a:endParaRPr lang="fr-CA" sz="2900" dirty="0"/>
          </a:p>
        </p:txBody>
      </p:sp>
      <p:sp>
        <p:nvSpPr>
          <p:cNvPr id="3" name="Espace réservé du pied de page 6">
            <a:extLst>
              <a:ext uri="{FF2B5EF4-FFF2-40B4-BE49-F238E27FC236}">
                <a16:creationId xmlns:a16="http://schemas.microsoft.com/office/drawing/2014/main" id="{34ACAD26-965B-DC3B-8B23-D12122E1A3B5}"/>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5" name="Espace réservé du numéro de diapositive 2">
            <a:extLst>
              <a:ext uri="{FF2B5EF4-FFF2-40B4-BE49-F238E27FC236}">
                <a16:creationId xmlns:a16="http://schemas.microsoft.com/office/drawing/2014/main" id="{163FAD37-8D73-56CD-33C9-1181D95BC2FC}"/>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23</a:t>
            </a:fld>
            <a:endParaRPr lang="fr-CA" dirty="0">
              <a:solidFill>
                <a:prstClr val="black">
                  <a:tint val="75000"/>
                </a:prstClr>
              </a:solidFill>
            </a:endParaRPr>
          </a:p>
        </p:txBody>
      </p:sp>
      <p:grpSp>
        <p:nvGrpSpPr>
          <p:cNvPr id="11" name="Groupe 10">
            <a:extLst>
              <a:ext uri="{FF2B5EF4-FFF2-40B4-BE49-F238E27FC236}">
                <a16:creationId xmlns:a16="http://schemas.microsoft.com/office/drawing/2014/main" id="{04BAC447-2E4E-2D5D-FCC4-F59B0EDEF54F}"/>
              </a:ext>
            </a:extLst>
          </p:cNvPr>
          <p:cNvGrpSpPr/>
          <p:nvPr>
            <p:custDataLst>
              <p:tags r:id="rId6"/>
            </p:custDataLst>
          </p:nvPr>
        </p:nvGrpSpPr>
        <p:grpSpPr>
          <a:xfrm>
            <a:off x="7885576" y="1374854"/>
            <a:ext cx="2737535" cy="5196361"/>
            <a:chOff x="4397396" y="1441477"/>
            <a:chExt cx="1594025" cy="4747608"/>
          </a:xfrm>
        </p:grpSpPr>
        <p:sp>
          <p:nvSpPr>
            <p:cNvPr id="12" name="Rectangle 11">
              <a:extLst>
                <a:ext uri="{FF2B5EF4-FFF2-40B4-BE49-F238E27FC236}">
                  <a16:creationId xmlns:a16="http://schemas.microsoft.com/office/drawing/2014/main" id="{03735190-AD09-E398-E632-DC594DF41A45}"/>
                </a:ext>
              </a:extLst>
            </p:cNvPr>
            <p:cNvSpPr/>
            <p:nvPr/>
          </p:nvSpPr>
          <p:spPr>
            <a:xfrm>
              <a:off x="4397396" y="1762067"/>
              <a:ext cx="1594025" cy="4427018"/>
            </a:xfrm>
            <a:prstGeom prst="rect">
              <a:avLst/>
            </a:prstGeom>
            <a:solidFill>
              <a:schemeClr val="accent1">
                <a:lumMod val="20000"/>
                <a:lumOff val="80000"/>
              </a:schemeClr>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tlCol="0" anchor="t"/>
            <a:lstStyle/>
            <a:p>
              <a:pPr algn="ctr"/>
              <a:endParaRPr lang="fr-CA">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82EE8F5C-4CCA-1C86-120A-E9F62A295E31}"/>
                </a:ext>
              </a:extLst>
            </p:cNvPr>
            <p:cNvSpPr/>
            <p:nvPr/>
          </p:nvSpPr>
          <p:spPr>
            <a:xfrm>
              <a:off x="4498547" y="1951323"/>
              <a:ext cx="1418014" cy="2058393"/>
            </a:xfrm>
            <a:prstGeom prst="rect">
              <a:avLst/>
            </a:prstGeom>
            <a:solidFill>
              <a:schemeClr val="bg1">
                <a:lumMod val="95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lIns="91440" tIns="45720" rIns="91440" bIns="45720" rtlCol="0" anchor="t"/>
            <a:lstStyle/>
            <a:p>
              <a:pPr algn="ctr"/>
              <a:r>
                <a:rPr lang="fr-CA" b="1" dirty="0">
                  <a:solidFill>
                    <a:sysClr val="windowText" lastClr="000000"/>
                  </a:solidFill>
                </a:rPr>
                <a:t>Centre de coûts 1</a:t>
              </a:r>
            </a:p>
            <a:p>
              <a:pPr algn="ctr"/>
              <a:r>
                <a:rPr lang="fr-CA" dirty="0">
                  <a:solidFill>
                    <a:sysClr val="windowText" lastClr="000000"/>
                  </a:solidFill>
                </a:rPr>
                <a:t>Processus de fabrication manuel</a:t>
              </a:r>
            </a:p>
          </p:txBody>
        </p:sp>
        <p:sp>
          <p:nvSpPr>
            <p:cNvPr id="14" name="Rectangle 13">
              <a:extLst>
                <a:ext uri="{FF2B5EF4-FFF2-40B4-BE49-F238E27FC236}">
                  <a16:creationId xmlns:a16="http://schemas.microsoft.com/office/drawing/2014/main" id="{5F9BB7ED-7C4A-56A3-B3A2-70D6E342D328}"/>
                </a:ext>
              </a:extLst>
            </p:cNvPr>
            <p:cNvSpPr/>
            <p:nvPr/>
          </p:nvSpPr>
          <p:spPr>
            <a:xfrm>
              <a:off x="4498547" y="1441477"/>
              <a:ext cx="1492873" cy="3965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Fabrication</a:t>
              </a:r>
            </a:p>
          </p:txBody>
        </p:sp>
      </p:grpSp>
      <p:sp>
        <p:nvSpPr>
          <p:cNvPr id="15" name="Rectangle 14">
            <a:extLst>
              <a:ext uri="{FF2B5EF4-FFF2-40B4-BE49-F238E27FC236}">
                <a16:creationId xmlns:a16="http://schemas.microsoft.com/office/drawing/2014/main" id="{B0B1E789-794C-CA91-6D80-46D5A32FF90D}"/>
              </a:ext>
            </a:extLst>
          </p:cNvPr>
          <p:cNvSpPr/>
          <p:nvPr>
            <p:custDataLst>
              <p:tags r:id="rId7"/>
            </p:custDataLst>
          </p:nvPr>
        </p:nvSpPr>
        <p:spPr>
          <a:xfrm>
            <a:off x="8059290" y="4309841"/>
            <a:ext cx="2416886" cy="2085244"/>
          </a:xfrm>
          <a:prstGeom prst="rect">
            <a:avLst/>
          </a:prstGeom>
          <a:solidFill>
            <a:schemeClr val="bg1">
              <a:lumMod val="95000"/>
            </a:schemeClr>
          </a:solidFill>
          <a:ln>
            <a:solidFill>
              <a:schemeClr val="accent3"/>
            </a:solidFill>
          </a:ln>
        </p:spPr>
        <p:style>
          <a:lnRef idx="1">
            <a:schemeClr val="accent3"/>
          </a:lnRef>
          <a:fillRef idx="2">
            <a:schemeClr val="accent3"/>
          </a:fillRef>
          <a:effectRef idx="1">
            <a:schemeClr val="accent3"/>
          </a:effectRef>
          <a:fontRef idx="minor">
            <a:schemeClr val="dk1"/>
          </a:fontRef>
        </p:style>
        <p:txBody>
          <a:bodyPr rtlCol="0" anchor="t"/>
          <a:lstStyle/>
          <a:p>
            <a:pPr algn="ctr"/>
            <a:r>
              <a:rPr lang="fr-CA" b="1" dirty="0">
                <a:solidFill>
                  <a:sysClr val="windowText" lastClr="000000"/>
                </a:solidFill>
              </a:rPr>
              <a:t>Centre de coûts 2</a:t>
            </a:r>
          </a:p>
          <a:p>
            <a:pPr algn="ctr"/>
            <a:r>
              <a:rPr lang="fr-CA" dirty="0">
                <a:solidFill>
                  <a:sysClr val="windowText" lastClr="000000"/>
                </a:solidFill>
              </a:rPr>
              <a:t>Processus de fabrication automatisé</a:t>
            </a:r>
          </a:p>
        </p:txBody>
      </p:sp>
    </p:spTree>
    <p:custDataLst>
      <p:tags r:id="rId1"/>
    </p:custDataLst>
    <p:extLst>
      <p:ext uri="{BB962C8B-B14F-4D97-AF65-F5344CB8AC3E}">
        <p14:creationId xmlns:p14="http://schemas.microsoft.com/office/powerpoint/2010/main" val="2357546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3CF55C-C26D-4869-952C-19E67ADDC1D7}"/>
              </a:ext>
            </a:extLst>
          </p:cNvPr>
          <p:cNvSpPr>
            <a:spLocks noGrp="1"/>
          </p:cNvSpPr>
          <p:nvPr>
            <p:ph type="title"/>
            <p:custDataLst>
              <p:tags r:id="rId1"/>
            </p:custDataLst>
          </p:nvPr>
        </p:nvSpPr>
        <p:spPr>
          <a:xfrm>
            <a:off x="337930" y="160589"/>
            <a:ext cx="11390244" cy="1042570"/>
          </a:xfrm>
        </p:spPr>
        <p:txBody>
          <a:bodyPr>
            <a:normAutofit/>
          </a:bodyPr>
          <a:lstStyle/>
          <a:p>
            <a:r>
              <a:rPr lang="fr-CA" sz="4000" dirty="0"/>
              <a:t>Critères pour choisir la base d’imputation des FGF</a:t>
            </a:r>
          </a:p>
        </p:txBody>
      </p:sp>
      <p:sp>
        <p:nvSpPr>
          <p:cNvPr id="3" name="Espace réservé du contenu 2">
            <a:extLst>
              <a:ext uri="{FF2B5EF4-FFF2-40B4-BE49-F238E27FC236}">
                <a16:creationId xmlns:a16="http://schemas.microsoft.com/office/drawing/2014/main" id="{774D9B85-F542-4E3A-8CAA-37E5A084F6AA}"/>
              </a:ext>
            </a:extLst>
          </p:cNvPr>
          <p:cNvSpPr>
            <a:spLocks noGrp="1"/>
          </p:cNvSpPr>
          <p:nvPr>
            <p:ph idx="1"/>
            <p:custDataLst>
              <p:tags r:id="rId2"/>
            </p:custDataLst>
          </p:nvPr>
        </p:nvSpPr>
        <p:spPr>
          <a:xfrm>
            <a:off x="668482" y="1528139"/>
            <a:ext cx="10515600" cy="4825004"/>
          </a:xfrm>
        </p:spPr>
        <p:txBody>
          <a:bodyPr>
            <a:normAutofit lnSpcReduction="10000"/>
          </a:bodyPr>
          <a:lstStyle/>
          <a:p>
            <a:r>
              <a:rPr lang="fr-CA" dirty="0"/>
              <a:t>Critère : </a:t>
            </a:r>
            <a:r>
              <a:rPr lang="fr-CA" b="1" dirty="0"/>
              <a:t>Base commune </a:t>
            </a:r>
            <a:r>
              <a:rPr lang="fr-CA" dirty="0"/>
              <a:t>à tous les produits du centre de coûts concerné</a:t>
            </a:r>
          </a:p>
          <a:p>
            <a:r>
              <a:rPr lang="fr-CA" sz="2800" strike="noStrike" dirty="0"/>
              <a:t>Critère : Analyse des </a:t>
            </a:r>
            <a:r>
              <a:rPr lang="fr-CA" sz="2800" b="1" strike="noStrike" dirty="0"/>
              <a:t>facteurs de production </a:t>
            </a:r>
          </a:p>
          <a:p>
            <a:pPr lvl="1"/>
            <a:r>
              <a:rPr lang="fr-CA" dirty="0"/>
              <a:t>Voir descriptif du processus de fabrication dans le texte du cas</a:t>
            </a:r>
          </a:p>
          <a:p>
            <a:pPr lvl="2"/>
            <a:r>
              <a:rPr lang="fr-CA" dirty="0"/>
              <a:t>Exemple: le produit est peu complexe à produire et est fabriqué principalement par une machine</a:t>
            </a:r>
          </a:p>
          <a:p>
            <a:pPr lvl="1"/>
            <a:r>
              <a:rPr lang="fr-CA" dirty="0"/>
              <a:t>Et/ ou analyse du tableau des données concernant la fabrication </a:t>
            </a:r>
          </a:p>
          <a:p>
            <a:r>
              <a:rPr lang="fr-CA" dirty="0"/>
              <a:t>Critère : Analyse des </a:t>
            </a:r>
            <a:r>
              <a:rPr lang="fr-CA" b="1" dirty="0"/>
              <a:t>déclencheurs de coûts</a:t>
            </a:r>
            <a:r>
              <a:rPr lang="fr-CA" dirty="0"/>
              <a:t>. Établir des liens entre les FGF et la base d’imputation</a:t>
            </a:r>
          </a:p>
          <a:p>
            <a:r>
              <a:rPr lang="fr-CA" dirty="0"/>
              <a:t>Critère : Données disponibles et compréhensibles</a:t>
            </a:r>
          </a:p>
          <a:p>
            <a:pPr marL="0" indent="0" algn="ctr">
              <a:buNone/>
            </a:pPr>
            <a:r>
              <a:rPr lang="fr-CA" sz="2200" dirty="0">
                <a:solidFill>
                  <a:schemeClr val="tx2"/>
                </a:solidFill>
              </a:rPr>
              <a:t>** D’autres critères peuvent aussi être considérés                                                                                    (ces critères seront étudiés dans les prochains cours de comptabilité) **</a:t>
            </a:r>
          </a:p>
          <a:p>
            <a:endParaRPr lang="fr-CA" dirty="0">
              <a:solidFill>
                <a:schemeClr val="tx2"/>
              </a:solidFill>
            </a:endParaRPr>
          </a:p>
          <a:p>
            <a:endParaRPr lang="fr-CA" dirty="0"/>
          </a:p>
          <a:p>
            <a:pPr marL="514350" indent="-514350">
              <a:buFont typeface="+mj-lt"/>
              <a:buAutoNum type="arabicPeriod"/>
            </a:pPr>
            <a:endParaRPr lang="fr-CA" dirty="0"/>
          </a:p>
          <a:p>
            <a:pPr marL="0" indent="0">
              <a:buNone/>
            </a:pPr>
            <a:endParaRPr lang="fr-CA" dirty="0"/>
          </a:p>
          <a:p>
            <a:pPr marL="0" indent="0">
              <a:buNone/>
            </a:pPr>
            <a:endParaRPr lang="fr-CA" sz="2800" dirty="0"/>
          </a:p>
          <a:p>
            <a:pPr marL="0" indent="0">
              <a:buNone/>
            </a:pPr>
            <a:endParaRPr lang="fr-CA" sz="2800" dirty="0"/>
          </a:p>
          <a:p>
            <a:pPr marL="0" indent="0">
              <a:buNone/>
            </a:pPr>
            <a:endParaRPr lang="fr-CA" dirty="0"/>
          </a:p>
        </p:txBody>
      </p:sp>
      <p:sp>
        <p:nvSpPr>
          <p:cNvPr id="5" name="Espace réservé du numéro de diapositive 4">
            <a:extLst>
              <a:ext uri="{FF2B5EF4-FFF2-40B4-BE49-F238E27FC236}">
                <a16:creationId xmlns:a16="http://schemas.microsoft.com/office/drawing/2014/main" id="{4A38A9AF-27DC-41EC-8852-4C41522A2676}"/>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24</a:t>
            </a:fld>
            <a:endParaRPr lang="fr-CA">
              <a:solidFill>
                <a:prstClr val="black">
                  <a:tint val="75000"/>
                </a:prstClr>
              </a:solidFill>
            </a:endParaRPr>
          </a:p>
        </p:txBody>
      </p:sp>
      <p:sp>
        <p:nvSpPr>
          <p:cNvPr id="10" name="Espace réservé du pied de page 6">
            <a:extLst>
              <a:ext uri="{FF2B5EF4-FFF2-40B4-BE49-F238E27FC236}">
                <a16:creationId xmlns:a16="http://schemas.microsoft.com/office/drawing/2014/main" id="{A9E9CC2B-7DEC-4DB8-F224-A428F0236303}"/>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2848444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2A00C4-1671-481A-B600-B51039CBE18C}"/>
              </a:ext>
            </a:extLst>
          </p:cNvPr>
          <p:cNvSpPr>
            <a:spLocks noGrp="1"/>
          </p:cNvSpPr>
          <p:nvPr>
            <p:ph type="title"/>
            <p:custDataLst>
              <p:tags r:id="rId1"/>
            </p:custDataLst>
          </p:nvPr>
        </p:nvSpPr>
        <p:spPr/>
        <p:txBody>
          <a:bodyPr>
            <a:normAutofit/>
          </a:bodyPr>
          <a:lstStyle/>
          <a:p>
            <a:pPr algn="ctr"/>
            <a:r>
              <a:rPr lang="fr-CA" sz="4000" dirty="0"/>
              <a:t>L’imputation par centre de coûts</a:t>
            </a:r>
          </a:p>
        </p:txBody>
      </p:sp>
      <p:sp>
        <p:nvSpPr>
          <p:cNvPr id="3" name="Espace réservé du contenu 2">
            <a:extLst>
              <a:ext uri="{FF2B5EF4-FFF2-40B4-BE49-F238E27FC236}">
                <a16:creationId xmlns:a16="http://schemas.microsoft.com/office/drawing/2014/main" id="{7E1E3102-2C23-4AE8-BBAD-5C98B5FCF579}"/>
              </a:ext>
            </a:extLst>
          </p:cNvPr>
          <p:cNvSpPr>
            <a:spLocks noGrp="1"/>
          </p:cNvSpPr>
          <p:nvPr>
            <p:ph idx="1"/>
            <p:custDataLst>
              <p:tags r:id="rId2"/>
            </p:custDataLst>
          </p:nvPr>
        </p:nvSpPr>
        <p:spPr>
          <a:xfrm>
            <a:off x="838200" y="1612900"/>
            <a:ext cx="10601130" cy="5040829"/>
          </a:xfrm>
        </p:spPr>
        <p:txBody>
          <a:bodyPr vert="horz" lIns="91440" tIns="45720" rIns="91440" bIns="45720" rtlCol="0" anchor="t">
            <a:normAutofit fontScale="40000" lnSpcReduction="20000"/>
          </a:bodyPr>
          <a:lstStyle/>
          <a:p>
            <a:pPr>
              <a:lnSpc>
                <a:spcPct val="120000"/>
              </a:lnSpc>
            </a:pPr>
            <a:r>
              <a:rPr lang="fr-CA" sz="6200" dirty="0"/>
              <a:t>Les frais généraux de </a:t>
            </a:r>
            <a:r>
              <a:rPr lang="fr-CA" sz="6200" b="1" dirty="0"/>
              <a:t>fabrication (FGF) </a:t>
            </a:r>
            <a:r>
              <a:rPr lang="fr-CA" sz="6200" dirty="0"/>
              <a:t>comprennent les coûts indirects associés à la fabrication de produits finis.</a:t>
            </a:r>
          </a:p>
          <a:p>
            <a:pPr>
              <a:lnSpc>
                <a:spcPct val="120000"/>
              </a:lnSpc>
            </a:pPr>
            <a:r>
              <a:rPr lang="fr-CA" sz="6200" b="1" dirty="0"/>
              <a:t>L’imputation</a:t>
            </a:r>
            <a:r>
              <a:rPr lang="fr-CA" sz="6200" dirty="0"/>
              <a:t> consiste à attribuer une portion des FGF à chaque produit pour pouvoir calculer un coût de fabrication. </a:t>
            </a:r>
          </a:p>
          <a:p>
            <a:pPr>
              <a:lnSpc>
                <a:spcPct val="120000"/>
              </a:lnSpc>
            </a:pPr>
            <a:r>
              <a:rPr lang="fr-CA" sz="6200" b="1" dirty="0"/>
              <a:t>L’objectif de l’imputation </a:t>
            </a:r>
            <a:r>
              <a:rPr lang="fr-CA" sz="6200" dirty="0"/>
              <a:t>est de rattacher les frais indirects (FGF) uniformément dans </a:t>
            </a:r>
            <a:r>
              <a:rPr lang="fr-CA" sz="6200" u="sng" dirty="0"/>
              <a:t>le temps </a:t>
            </a:r>
            <a:r>
              <a:rPr lang="fr-CA" sz="6200" dirty="0"/>
              <a:t>et </a:t>
            </a:r>
            <a:r>
              <a:rPr lang="fr-CA" sz="6200" u="sng" dirty="0"/>
              <a:t>entre les produits.</a:t>
            </a:r>
          </a:p>
          <a:p>
            <a:pPr>
              <a:lnSpc>
                <a:spcPct val="120000"/>
              </a:lnSpc>
            </a:pPr>
            <a:r>
              <a:rPr lang="fr-CA" sz="6200" dirty="0"/>
              <a:t>On utilise un taux d’imputation par </a:t>
            </a:r>
            <a:r>
              <a:rPr lang="fr-CA" sz="6200" b="1" dirty="0"/>
              <a:t>centre de coûts </a:t>
            </a:r>
            <a:r>
              <a:rPr lang="fr-CA" sz="6200" dirty="0"/>
              <a:t>pour une période donnée :</a:t>
            </a:r>
          </a:p>
          <a:p>
            <a:pPr marL="0" indent="0">
              <a:lnSpc>
                <a:spcPct val="120000"/>
              </a:lnSpc>
              <a:buNone/>
            </a:pPr>
            <a:endParaRPr lang="fr-CA" sz="6200" u="sng" dirty="0"/>
          </a:p>
          <a:p>
            <a:pPr marL="914400" lvl="2" indent="0">
              <a:buNone/>
            </a:pPr>
            <a:r>
              <a:rPr lang="fr-CA" sz="6200" dirty="0"/>
              <a:t> Formule =                               FGF totaux par centre de coûts  </a:t>
            </a:r>
          </a:p>
          <a:p>
            <a:pPr marL="0" indent="0">
              <a:buNone/>
            </a:pPr>
            <a:r>
              <a:rPr lang="fr-CA" sz="6200" dirty="0"/>
              <a:t>			    Volume total de la base d’imputation du centre de coût</a:t>
            </a:r>
            <a:endParaRPr lang="fr-CA" sz="6200" u="sng" dirty="0"/>
          </a:p>
          <a:p>
            <a:pPr marL="0" indent="0">
              <a:buNone/>
            </a:pPr>
            <a:endParaRPr lang="fr-CA" dirty="0"/>
          </a:p>
        </p:txBody>
      </p:sp>
      <p:sp>
        <p:nvSpPr>
          <p:cNvPr id="5" name="Espace réservé du numéro de diapositive 4">
            <a:extLst>
              <a:ext uri="{FF2B5EF4-FFF2-40B4-BE49-F238E27FC236}">
                <a16:creationId xmlns:a16="http://schemas.microsoft.com/office/drawing/2014/main" id="{F4A25E77-D0FC-4387-9ECE-EF7B04A6525E}"/>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25</a:t>
            </a:fld>
            <a:endParaRPr lang="fr-CA" dirty="0">
              <a:solidFill>
                <a:prstClr val="black">
                  <a:tint val="75000"/>
                </a:prstClr>
              </a:solidFill>
            </a:endParaRPr>
          </a:p>
        </p:txBody>
      </p:sp>
      <p:cxnSp>
        <p:nvCxnSpPr>
          <p:cNvPr id="7" name="Connecteur droit 6">
            <a:extLst>
              <a:ext uri="{FF2B5EF4-FFF2-40B4-BE49-F238E27FC236}">
                <a16:creationId xmlns:a16="http://schemas.microsoft.com/office/drawing/2014/main" id="{97A7A5E3-5B65-C28C-8577-26D017A41DDE}"/>
              </a:ext>
            </a:extLst>
          </p:cNvPr>
          <p:cNvCxnSpPr/>
          <p:nvPr>
            <p:custDataLst>
              <p:tags r:id="rId4"/>
            </p:custDataLst>
          </p:nvPr>
        </p:nvCxnSpPr>
        <p:spPr>
          <a:xfrm>
            <a:off x="3929744" y="5540828"/>
            <a:ext cx="7108371" cy="0"/>
          </a:xfrm>
          <a:prstGeom prst="line">
            <a:avLst/>
          </a:prstGeom>
        </p:spPr>
        <p:style>
          <a:lnRef idx="1">
            <a:schemeClr val="dk1"/>
          </a:lnRef>
          <a:fillRef idx="0">
            <a:schemeClr val="dk1"/>
          </a:fillRef>
          <a:effectRef idx="0">
            <a:schemeClr val="dk1"/>
          </a:effectRef>
          <a:fontRef idx="minor">
            <a:schemeClr val="tx1"/>
          </a:fontRef>
        </p:style>
      </p:cxnSp>
      <p:sp>
        <p:nvSpPr>
          <p:cNvPr id="6" name="Espace réservé du pied de page 6">
            <a:extLst>
              <a:ext uri="{FF2B5EF4-FFF2-40B4-BE49-F238E27FC236}">
                <a16:creationId xmlns:a16="http://schemas.microsoft.com/office/drawing/2014/main" id="{98C373BD-0B0D-3A6B-0BBE-926D17D6965B}"/>
              </a:ext>
            </a:extLst>
          </p:cNvPr>
          <p:cNvSpPr>
            <a:spLocks noGrp="1"/>
          </p:cNvSpPr>
          <p:nvPr>
            <p:ph type="ftr" sz="quarter" idx="11"/>
            <p:custDataLst>
              <p:tags r:id="rId5"/>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4037666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BF643-3298-B53C-79E8-435B0F61B29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BECB171-DE80-1281-64D5-D5397542A56E}"/>
              </a:ext>
            </a:extLst>
          </p:cNvPr>
          <p:cNvSpPr>
            <a:spLocks noGrp="1"/>
          </p:cNvSpPr>
          <p:nvPr>
            <p:ph type="title" idx="4294967295"/>
            <p:custDataLst>
              <p:tags r:id="rId1"/>
            </p:custDataLst>
          </p:nvPr>
        </p:nvSpPr>
        <p:spPr>
          <a:xfrm>
            <a:off x="233640" y="103995"/>
            <a:ext cx="11709400" cy="747713"/>
          </a:xfrm>
          <a:noFill/>
        </p:spPr>
        <p:txBody>
          <a:bodyPr>
            <a:noAutofit/>
          </a:bodyPr>
          <a:lstStyle/>
          <a:p>
            <a:pPr algn="ctr"/>
            <a:r>
              <a:rPr lang="fr-CA" sz="3200" dirty="0">
                <a:ea typeface="+mj-lt"/>
                <a:cs typeface="+mj-lt"/>
              </a:rPr>
              <a:t>Choisir les bases d’imputation pour les centres de coûts</a:t>
            </a:r>
            <a:endParaRPr lang="fr-CA" sz="3200" dirty="0"/>
          </a:p>
        </p:txBody>
      </p:sp>
      <p:sp>
        <p:nvSpPr>
          <p:cNvPr id="18" name="Rectangle 17">
            <a:extLst>
              <a:ext uri="{FF2B5EF4-FFF2-40B4-BE49-F238E27FC236}">
                <a16:creationId xmlns:a16="http://schemas.microsoft.com/office/drawing/2014/main" id="{7F2883F1-5BCF-788E-B306-ED303F369C9B}"/>
              </a:ext>
            </a:extLst>
          </p:cNvPr>
          <p:cNvSpPr/>
          <p:nvPr>
            <p:custDataLst>
              <p:tags r:id="rId2"/>
            </p:custDataLst>
          </p:nvPr>
        </p:nvSpPr>
        <p:spPr>
          <a:xfrm>
            <a:off x="6681503" y="4157496"/>
            <a:ext cx="590353" cy="214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Espace réservé du numéro de diapositive 4">
            <a:extLst>
              <a:ext uri="{FF2B5EF4-FFF2-40B4-BE49-F238E27FC236}">
                <a16:creationId xmlns:a16="http://schemas.microsoft.com/office/drawing/2014/main" id="{EE799684-061F-A367-891E-099B088D6EE3}"/>
              </a:ext>
            </a:extLst>
          </p:cNvPr>
          <p:cNvSpPr>
            <a:spLocks noGrp="1"/>
          </p:cNvSpPr>
          <p:nvPr>
            <p:ph type="sldNum" sz="quarter" idx="12"/>
            <p:custDataLst>
              <p:tags r:id="rId3"/>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26</a:t>
            </a:fld>
            <a:endParaRPr lang="fr-CA" dirty="0">
              <a:solidFill>
                <a:prstClr val="black">
                  <a:tint val="75000"/>
                </a:prstClr>
              </a:solidFill>
            </a:endParaRPr>
          </a:p>
        </p:txBody>
      </p:sp>
      <p:sp>
        <p:nvSpPr>
          <p:cNvPr id="5" name="Espace réservé du pied de page 6">
            <a:extLst>
              <a:ext uri="{FF2B5EF4-FFF2-40B4-BE49-F238E27FC236}">
                <a16:creationId xmlns:a16="http://schemas.microsoft.com/office/drawing/2014/main" id="{7ACC26CA-7316-5F59-C157-58A5017CF109}"/>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7" name="Rectangle 6">
            <a:extLst>
              <a:ext uri="{FF2B5EF4-FFF2-40B4-BE49-F238E27FC236}">
                <a16:creationId xmlns:a16="http://schemas.microsoft.com/office/drawing/2014/main" id="{17644278-939D-1022-0C60-3AAA6CB59714}"/>
              </a:ext>
            </a:extLst>
          </p:cNvPr>
          <p:cNvSpPr/>
          <p:nvPr>
            <p:custDataLst>
              <p:tags r:id="rId5"/>
            </p:custDataLst>
          </p:nvPr>
        </p:nvSpPr>
        <p:spPr>
          <a:xfrm>
            <a:off x="93205" y="2610376"/>
            <a:ext cx="3441929" cy="2096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Ressources  : total des frais généraux de fabrication pour la période 10 000 $</a:t>
            </a:r>
          </a:p>
          <a:p>
            <a:pPr algn="ctr"/>
            <a:r>
              <a:rPr lang="fr-CA" dirty="0">
                <a:solidFill>
                  <a:sysClr val="windowText" lastClr="000000"/>
                </a:solidFill>
              </a:rPr>
              <a:t>Loyer, taxes et assurances, électricité, 3 500 $ amortissement et entretien de la machine à pizza, etc.</a:t>
            </a:r>
          </a:p>
        </p:txBody>
      </p:sp>
      <p:sp>
        <p:nvSpPr>
          <p:cNvPr id="22" name="Rectangle 21">
            <a:extLst>
              <a:ext uri="{FF2B5EF4-FFF2-40B4-BE49-F238E27FC236}">
                <a16:creationId xmlns:a16="http://schemas.microsoft.com/office/drawing/2014/main" id="{BB0DB375-FF0B-A58A-37EF-2F1336E80EDD}"/>
              </a:ext>
            </a:extLst>
          </p:cNvPr>
          <p:cNvSpPr/>
          <p:nvPr>
            <p:custDataLst>
              <p:tags r:id="rId6"/>
            </p:custDataLst>
          </p:nvPr>
        </p:nvSpPr>
        <p:spPr>
          <a:xfrm>
            <a:off x="4383613" y="1474126"/>
            <a:ext cx="250449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 1: </a:t>
            </a:r>
            <a:r>
              <a:rPr lang="fr-CA" b="1" dirty="0">
                <a:solidFill>
                  <a:srgbClr val="00B050"/>
                </a:solidFill>
                <a:cs typeface="Calibri"/>
              </a:rPr>
              <a:t>4 700 $</a:t>
            </a:r>
          </a:p>
          <a:p>
            <a:pPr algn="ctr"/>
            <a:r>
              <a:rPr lang="fr-CA" dirty="0">
                <a:cs typeface="Calibri"/>
              </a:rPr>
              <a:t>Préparation de la pâte</a:t>
            </a:r>
          </a:p>
          <a:p>
            <a:pPr algn="ctr"/>
            <a:r>
              <a:rPr lang="fr-CA" dirty="0">
                <a:solidFill>
                  <a:schemeClr val="tx1"/>
                </a:solidFill>
                <a:cs typeface="Calibri"/>
              </a:rPr>
              <a:t>Processus manuel </a:t>
            </a:r>
            <a:r>
              <a:rPr lang="fr-CA" b="1" dirty="0">
                <a:cs typeface="Calibri"/>
              </a:rPr>
              <a:t> </a:t>
            </a:r>
            <a:endParaRPr lang="fr-CA" dirty="0">
              <a:cs typeface="Calibri"/>
            </a:endParaRPr>
          </a:p>
        </p:txBody>
      </p:sp>
      <p:sp>
        <p:nvSpPr>
          <p:cNvPr id="25" name="Rectangle 24">
            <a:extLst>
              <a:ext uri="{FF2B5EF4-FFF2-40B4-BE49-F238E27FC236}">
                <a16:creationId xmlns:a16="http://schemas.microsoft.com/office/drawing/2014/main" id="{80C140D9-6034-D97E-88F3-92F9FEBB0FB1}"/>
              </a:ext>
            </a:extLst>
          </p:cNvPr>
          <p:cNvSpPr/>
          <p:nvPr>
            <p:custDataLst>
              <p:tags r:id="rId7"/>
            </p:custDataLst>
          </p:nvPr>
        </p:nvSpPr>
        <p:spPr>
          <a:xfrm>
            <a:off x="4434600" y="2879987"/>
            <a:ext cx="250449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 2 : </a:t>
            </a:r>
            <a:r>
              <a:rPr lang="fr-CA" b="1" dirty="0">
                <a:solidFill>
                  <a:srgbClr val="00B050"/>
                </a:solidFill>
                <a:cs typeface="Calibri"/>
              </a:rPr>
              <a:t>4 125 $</a:t>
            </a:r>
          </a:p>
          <a:p>
            <a:pPr algn="ctr"/>
            <a:r>
              <a:rPr lang="fr-CA" dirty="0">
                <a:cs typeface="Calibri"/>
              </a:rPr>
              <a:t>Fabrication de la pizza </a:t>
            </a:r>
          </a:p>
          <a:p>
            <a:pPr algn="ctr"/>
            <a:r>
              <a:rPr lang="fr-CA" dirty="0">
                <a:cs typeface="Calibri"/>
              </a:rPr>
              <a:t>Processus automatisé</a:t>
            </a:r>
          </a:p>
        </p:txBody>
      </p:sp>
      <p:grpSp>
        <p:nvGrpSpPr>
          <p:cNvPr id="26" name="Groupe 25">
            <a:extLst>
              <a:ext uri="{FF2B5EF4-FFF2-40B4-BE49-F238E27FC236}">
                <a16:creationId xmlns:a16="http://schemas.microsoft.com/office/drawing/2014/main" id="{7E8F6B41-A864-B476-E561-BE151D98B215}"/>
              </a:ext>
            </a:extLst>
          </p:cNvPr>
          <p:cNvGrpSpPr/>
          <p:nvPr>
            <p:custDataLst>
              <p:tags r:id="rId8"/>
            </p:custDataLst>
          </p:nvPr>
        </p:nvGrpSpPr>
        <p:grpSpPr>
          <a:xfrm>
            <a:off x="9592802" y="1290798"/>
            <a:ext cx="2111673" cy="3796498"/>
            <a:chOff x="5042400" y="1171619"/>
            <a:chExt cx="2534300" cy="3231391"/>
          </a:xfrm>
          <a:solidFill>
            <a:schemeClr val="bg1"/>
          </a:solidFill>
        </p:grpSpPr>
        <p:sp>
          <p:nvSpPr>
            <p:cNvPr id="27" name="Rectangle 26">
              <a:extLst>
                <a:ext uri="{FF2B5EF4-FFF2-40B4-BE49-F238E27FC236}">
                  <a16:creationId xmlns:a16="http://schemas.microsoft.com/office/drawing/2014/main" id="{EAE9DF24-A743-3056-ED24-AA4815B9F759}"/>
                </a:ext>
              </a:extLst>
            </p:cNvPr>
            <p:cNvSpPr/>
            <p:nvPr/>
          </p:nvSpPr>
          <p:spPr>
            <a:xfrm>
              <a:off x="5335903" y="1807919"/>
              <a:ext cx="1854010"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Pâtes fraîches</a:t>
              </a:r>
            </a:p>
          </p:txBody>
        </p:sp>
        <p:sp>
          <p:nvSpPr>
            <p:cNvPr id="28" name="Rectangle 27">
              <a:extLst>
                <a:ext uri="{FF2B5EF4-FFF2-40B4-BE49-F238E27FC236}">
                  <a16:creationId xmlns:a16="http://schemas.microsoft.com/office/drawing/2014/main" id="{4A00C6DC-64D7-40A6-F2E0-27271AE51602}"/>
                </a:ext>
              </a:extLst>
            </p:cNvPr>
            <p:cNvSpPr/>
            <p:nvPr/>
          </p:nvSpPr>
          <p:spPr>
            <a:xfrm>
              <a:off x="5335903" y="3799895"/>
              <a:ext cx="1947296"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Pizza toute garnie</a:t>
              </a:r>
            </a:p>
            <a:p>
              <a:pPr algn="ctr"/>
              <a:endParaRPr lang="fr-CA" dirty="0">
                <a:cs typeface="Calibri"/>
              </a:endParaRPr>
            </a:p>
          </p:txBody>
        </p:sp>
        <p:sp>
          <p:nvSpPr>
            <p:cNvPr id="29" name="Rectangle 28">
              <a:extLst>
                <a:ext uri="{FF2B5EF4-FFF2-40B4-BE49-F238E27FC236}">
                  <a16:creationId xmlns:a16="http://schemas.microsoft.com/office/drawing/2014/main" id="{0B46E263-C555-6B2D-E9B6-E9480A3AEBBC}"/>
                </a:ext>
              </a:extLst>
            </p:cNvPr>
            <p:cNvSpPr/>
            <p:nvPr/>
          </p:nvSpPr>
          <p:spPr>
            <a:xfrm>
              <a:off x="5042400" y="1171619"/>
              <a:ext cx="2534300" cy="6031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Objet de coût - Produits</a:t>
              </a:r>
            </a:p>
          </p:txBody>
        </p:sp>
      </p:grpSp>
      <p:sp>
        <p:nvSpPr>
          <p:cNvPr id="30" name="Rectangle 29">
            <a:extLst>
              <a:ext uri="{FF2B5EF4-FFF2-40B4-BE49-F238E27FC236}">
                <a16:creationId xmlns:a16="http://schemas.microsoft.com/office/drawing/2014/main" id="{0234BA40-B1AE-F5A8-5461-46BCCE37ED2C}"/>
              </a:ext>
            </a:extLst>
          </p:cNvPr>
          <p:cNvSpPr/>
          <p:nvPr/>
        </p:nvSpPr>
        <p:spPr>
          <a:xfrm>
            <a:off x="9837361" y="3146671"/>
            <a:ext cx="1544830" cy="609105"/>
          </a:xfrm>
          <a:prstGeom prst="rect">
            <a:avLst/>
          </a:prstGeom>
          <a:solidFill>
            <a:schemeClr val="bg1"/>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Pizza margarita</a:t>
            </a:r>
          </a:p>
          <a:p>
            <a:pPr algn="ctr"/>
            <a:endParaRPr lang="fr-CA" dirty="0">
              <a:cs typeface="Calibri"/>
            </a:endParaRPr>
          </a:p>
        </p:txBody>
      </p:sp>
      <p:cxnSp>
        <p:nvCxnSpPr>
          <p:cNvPr id="31" name="Connecteur droit avec flèche 30">
            <a:extLst>
              <a:ext uri="{FF2B5EF4-FFF2-40B4-BE49-F238E27FC236}">
                <a16:creationId xmlns:a16="http://schemas.microsoft.com/office/drawing/2014/main" id="{6AD50874-10BC-E9F3-9798-3B38C1FF1453}"/>
              </a:ext>
            </a:extLst>
          </p:cNvPr>
          <p:cNvCxnSpPr>
            <a:cxnSpLocks/>
            <a:stCxn id="22" idx="3"/>
            <a:endCxn id="27" idx="1"/>
          </p:cNvCxnSpPr>
          <p:nvPr>
            <p:custDataLst>
              <p:tags r:id="rId9"/>
            </p:custDataLst>
          </p:nvPr>
        </p:nvCxnSpPr>
        <p:spPr>
          <a:xfrm>
            <a:off x="6888105" y="1998994"/>
            <a:ext cx="2949255" cy="393674"/>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33" name="Connecteur droit avec flèche 32">
            <a:extLst>
              <a:ext uri="{FF2B5EF4-FFF2-40B4-BE49-F238E27FC236}">
                <a16:creationId xmlns:a16="http://schemas.microsoft.com/office/drawing/2014/main" id="{56D56457-FE86-D979-D872-D02D7DF055D6}"/>
              </a:ext>
            </a:extLst>
          </p:cNvPr>
          <p:cNvCxnSpPr>
            <a:cxnSpLocks/>
            <a:stCxn id="22" idx="3"/>
            <a:endCxn id="30" idx="1"/>
          </p:cNvCxnSpPr>
          <p:nvPr>
            <p:custDataLst>
              <p:tags r:id="rId10"/>
            </p:custDataLst>
          </p:nvPr>
        </p:nvCxnSpPr>
        <p:spPr>
          <a:xfrm>
            <a:off x="6888105" y="1998994"/>
            <a:ext cx="2949256" cy="1452230"/>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35" name="Rectangle 34">
            <a:extLst>
              <a:ext uri="{FF2B5EF4-FFF2-40B4-BE49-F238E27FC236}">
                <a16:creationId xmlns:a16="http://schemas.microsoft.com/office/drawing/2014/main" id="{9DC2C91A-DDA0-A24C-2726-2337B56D2C4C}"/>
              </a:ext>
            </a:extLst>
          </p:cNvPr>
          <p:cNvSpPr/>
          <p:nvPr>
            <p:custDataLst>
              <p:tags r:id="rId11"/>
            </p:custDataLst>
          </p:nvPr>
        </p:nvSpPr>
        <p:spPr>
          <a:xfrm>
            <a:off x="4466728" y="4415208"/>
            <a:ext cx="2504491"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 3 : </a:t>
            </a:r>
            <a:r>
              <a:rPr lang="fr-CA" b="1" dirty="0">
                <a:solidFill>
                  <a:srgbClr val="00B050"/>
                </a:solidFill>
                <a:cs typeface="Calibri"/>
              </a:rPr>
              <a:t>1 175 $</a:t>
            </a:r>
          </a:p>
          <a:p>
            <a:pPr algn="ctr"/>
            <a:r>
              <a:rPr lang="fr-CA" dirty="0">
                <a:solidFill>
                  <a:schemeClr val="tx1"/>
                </a:solidFill>
                <a:cs typeface="Calibri"/>
              </a:rPr>
              <a:t>Emballage</a:t>
            </a:r>
          </a:p>
          <a:p>
            <a:pPr algn="ctr"/>
            <a:r>
              <a:rPr lang="fr-CA" dirty="0">
                <a:solidFill>
                  <a:schemeClr val="tx1"/>
                </a:solidFill>
                <a:cs typeface="Calibri"/>
              </a:rPr>
              <a:t> </a:t>
            </a:r>
          </a:p>
        </p:txBody>
      </p:sp>
      <p:cxnSp>
        <p:nvCxnSpPr>
          <p:cNvPr id="40" name="Connecteur droit avec flèche 39">
            <a:extLst>
              <a:ext uri="{FF2B5EF4-FFF2-40B4-BE49-F238E27FC236}">
                <a16:creationId xmlns:a16="http://schemas.microsoft.com/office/drawing/2014/main" id="{9B3019BC-BDB4-79E6-50E2-B3D259E129C4}"/>
              </a:ext>
            </a:extLst>
          </p:cNvPr>
          <p:cNvCxnSpPr>
            <a:cxnSpLocks/>
            <a:stCxn id="22" idx="3"/>
            <a:endCxn id="28" idx="1"/>
          </p:cNvCxnSpPr>
          <p:nvPr>
            <p:custDataLst>
              <p:tags r:id="rId12"/>
            </p:custDataLst>
          </p:nvPr>
        </p:nvCxnSpPr>
        <p:spPr>
          <a:xfrm>
            <a:off x="6888105" y="1998994"/>
            <a:ext cx="2949255" cy="2734008"/>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1" name="Connecteur droit avec flèche 50">
            <a:extLst>
              <a:ext uri="{FF2B5EF4-FFF2-40B4-BE49-F238E27FC236}">
                <a16:creationId xmlns:a16="http://schemas.microsoft.com/office/drawing/2014/main" id="{6B555C67-5BF4-4DC2-40D7-8F8D3D618386}"/>
              </a:ext>
            </a:extLst>
          </p:cNvPr>
          <p:cNvCxnSpPr>
            <a:cxnSpLocks/>
          </p:cNvCxnSpPr>
          <p:nvPr>
            <p:custDataLst>
              <p:tags r:id="rId13"/>
            </p:custDataLst>
          </p:nvPr>
        </p:nvCxnSpPr>
        <p:spPr>
          <a:xfrm>
            <a:off x="6920602" y="3405963"/>
            <a:ext cx="2733840" cy="83874"/>
          </a:xfrm>
          <a:prstGeom prst="straightConnector1">
            <a:avLst/>
          </a:prstGeom>
          <a:ln w="12700">
            <a:tailEnd type="triangle"/>
          </a:ln>
        </p:spPr>
        <p:style>
          <a:lnRef idx="1">
            <a:schemeClr val="accent4"/>
          </a:lnRef>
          <a:fillRef idx="0">
            <a:schemeClr val="accent4"/>
          </a:fillRef>
          <a:effectRef idx="0">
            <a:schemeClr val="accent4"/>
          </a:effectRef>
          <a:fontRef idx="minor">
            <a:schemeClr val="tx1"/>
          </a:fontRef>
        </p:style>
      </p:cxnSp>
      <p:cxnSp>
        <p:nvCxnSpPr>
          <p:cNvPr id="58" name="Connecteur droit avec flèche 57">
            <a:extLst>
              <a:ext uri="{FF2B5EF4-FFF2-40B4-BE49-F238E27FC236}">
                <a16:creationId xmlns:a16="http://schemas.microsoft.com/office/drawing/2014/main" id="{57BA6708-770A-5E98-942A-E293D3F130D0}"/>
              </a:ext>
            </a:extLst>
          </p:cNvPr>
          <p:cNvCxnSpPr>
            <a:cxnSpLocks/>
            <a:stCxn id="25" idx="3"/>
            <a:endCxn id="28" idx="1"/>
          </p:cNvCxnSpPr>
          <p:nvPr>
            <p:custDataLst>
              <p:tags r:id="rId14"/>
            </p:custDataLst>
          </p:nvPr>
        </p:nvCxnSpPr>
        <p:spPr>
          <a:xfrm>
            <a:off x="6939092" y="3404855"/>
            <a:ext cx="2898268" cy="132814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64" name="Connecteur droit avec flèche 63">
            <a:extLst>
              <a:ext uri="{FF2B5EF4-FFF2-40B4-BE49-F238E27FC236}">
                <a16:creationId xmlns:a16="http://schemas.microsoft.com/office/drawing/2014/main" id="{B71E5B2A-0F90-6C2F-F7B2-9F93BDD8ED1A}"/>
              </a:ext>
            </a:extLst>
          </p:cNvPr>
          <p:cNvCxnSpPr>
            <a:cxnSpLocks/>
            <a:stCxn id="35" idx="3"/>
          </p:cNvCxnSpPr>
          <p:nvPr>
            <p:custDataLst>
              <p:tags r:id="rId15"/>
            </p:custDataLst>
          </p:nvPr>
        </p:nvCxnSpPr>
        <p:spPr>
          <a:xfrm flipV="1">
            <a:off x="6971219" y="3658412"/>
            <a:ext cx="2774377" cy="128166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6" name="Connecteur droit avec flèche 65">
            <a:extLst>
              <a:ext uri="{FF2B5EF4-FFF2-40B4-BE49-F238E27FC236}">
                <a16:creationId xmlns:a16="http://schemas.microsoft.com/office/drawing/2014/main" id="{D344531A-FF08-336B-9FE3-827E0028EBC8}"/>
              </a:ext>
            </a:extLst>
          </p:cNvPr>
          <p:cNvCxnSpPr>
            <a:cxnSpLocks/>
            <a:stCxn id="35" idx="3"/>
            <a:endCxn id="27" idx="1"/>
          </p:cNvCxnSpPr>
          <p:nvPr>
            <p:custDataLst>
              <p:tags r:id="rId16"/>
            </p:custDataLst>
          </p:nvPr>
        </p:nvCxnSpPr>
        <p:spPr>
          <a:xfrm flipV="1">
            <a:off x="6971219" y="2392668"/>
            <a:ext cx="2866141" cy="254740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9" name="Connecteur droit avec flèche 68">
            <a:extLst>
              <a:ext uri="{FF2B5EF4-FFF2-40B4-BE49-F238E27FC236}">
                <a16:creationId xmlns:a16="http://schemas.microsoft.com/office/drawing/2014/main" id="{E286A622-5DB7-6821-A898-4CEDB1138A3B}"/>
              </a:ext>
            </a:extLst>
          </p:cNvPr>
          <p:cNvCxnSpPr>
            <a:cxnSpLocks/>
            <a:stCxn id="35" idx="3"/>
          </p:cNvCxnSpPr>
          <p:nvPr>
            <p:custDataLst>
              <p:tags r:id="rId17"/>
            </p:custDataLst>
          </p:nvPr>
        </p:nvCxnSpPr>
        <p:spPr>
          <a:xfrm flipV="1">
            <a:off x="6971219" y="4912908"/>
            <a:ext cx="2715350" cy="2716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1" name="Connecteur droit avec flèche 70">
            <a:extLst>
              <a:ext uri="{FF2B5EF4-FFF2-40B4-BE49-F238E27FC236}">
                <a16:creationId xmlns:a16="http://schemas.microsoft.com/office/drawing/2014/main" id="{203B672A-919D-0B07-B542-2ECEF709832F}"/>
              </a:ext>
            </a:extLst>
          </p:cNvPr>
          <p:cNvCxnSpPr>
            <a:cxnSpLocks/>
          </p:cNvCxnSpPr>
          <p:nvPr>
            <p:custDataLst>
              <p:tags r:id="rId18"/>
            </p:custDataLst>
          </p:nvPr>
        </p:nvCxnSpPr>
        <p:spPr>
          <a:xfrm flipV="1">
            <a:off x="3278815" y="2281560"/>
            <a:ext cx="893940" cy="614404"/>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73" name="Connecteur droit avec flèche 72">
            <a:extLst>
              <a:ext uri="{FF2B5EF4-FFF2-40B4-BE49-F238E27FC236}">
                <a16:creationId xmlns:a16="http://schemas.microsoft.com/office/drawing/2014/main" id="{AA55BD8C-95DE-0A77-E5AB-C2242458F8B0}"/>
              </a:ext>
            </a:extLst>
          </p:cNvPr>
          <p:cNvCxnSpPr>
            <a:cxnSpLocks/>
          </p:cNvCxnSpPr>
          <p:nvPr>
            <p:custDataLst>
              <p:tags r:id="rId19"/>
            </p:custDataLst>
          </p:nvPr>
        </p:nvCxnSpPr>
        <p:spPr>
          <a:xfrm>
            <a:off x="3325925" y="3640169"/>
            <a:ext cx="1057688" cy="0"/>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75" name="Connecteur droit avec flèche 74">
            <a:extLst>
              <a:ext uri="{FF2B5EF4-FFF2-40B4-BE49-F238E27FC236}">
                <a16:creationId xmlns:a16="http://schemas.microsoft.com/office/drawing/2014/main" id="{57233C79-8469-382B-C151-AD6CE8254606}"/>
              </a:ext>
            </a:extLst>
          </p:cNvPr>
          <p:cNvCxnSpPr>
            <a:cxnSpLocks/>
          </p:cNvCxnSpPr>
          <p:nvPr>
            <p:custDataLst>
              <p:tags r:id="rId20"/>
            </p:custDataLst>
          </p:nvPr>
        </p:nvCxnSpPr>
        <p:spPr>
          <a:xfrm>
            <a:off x="3409754" y="4350622"/>
            <a:ext cx="1029796" cy="589454"/>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16" name="Nuage 15">
            <a:extLst>
              <a:ext uri="{FF2B5EF4-FFF2-40B4-BE49-F238E27FC236}">
                <a16:creationId xmlns:a16="http://schemas.microsoft.com/office/drawing/2014/main" id="{C547F323-0BE0-8A1A-374F-E62C9EE6F2DA}"/>
              </a:ext>
            </a:extLst>
          </p:cNvPr>
          <p:cNvSpPr/>
          <p:nvPr/>
        </p:nvSpPr>
        <p:spPr>
          <a:xfrm>
            <a:off x="7020273" y="638786"/>
            <a:ext cx="2768031" cy="1256531"/>
          </a:xfrm>
          <a:prstGeom prst="clou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CA" dirty="0"/>
              <a:t>Choisir la base et calculer le taux d’imputation</a:t>
            </a:r>
          </a:p>
        </p:txBody>
      </p:sp>
    </p:spTree>
    <p:extLst>
      <p:ext uri="{BB962C8B-B14F-4D97-AF65-F5344CB8AC3E}">
        <p14:creationId xmlns:p14="http://schemas.microsoft.com/office/powerpoint/2010/main" val="3782608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B9CAD-4630-250D-4726-ED2B929AF79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10E247B-3666-A143-0232-6B802FCA2D35}"/>
              </a:ext>
            </a:extLst>
          </p:cNvPr>
          <p:cNvSpPr>
            <a:spLocks noGrp="1"/>
          </p:cNvSpPr>
          <p:nvPr>
            <p:ph type="title"/>
          </p:nvPr>
        </p:nvSpPr>
        <p:spPr/>
        <p:txBody>
          <a:bodyPr>
            <a:noAutofit/>
          </a:bodyPr>
          <a:lstStyle/>
          <a:p>
            <a:r>
              <a:rPr lang="fr-CA" sz="3600" dirty="0"/>
              <a:t>Illustration calcul de la marge brute- plusieurs produits : calcul </a:t>
            </a:r>
            <a:r>
              <a:rPr lang="fr-CA" sz="3600" b="1" dirty="0"/>
              <a:t>taux d’imputation </a:t>
            </a:r>
            <a:r>
              <a:rPr lang="fr-CA" sz="3600" dirty="0"/>
              <a:t>par centre (étudiants)</a:t>
            </a:r>
          </a:p>
        </p:txBody>
      </p:sp>
      <p:graphicFrame>
        <p:nvGraphicFramePr>
          <p:cNvPr id="6" name="Espace réservé du contenu 5">
            <a:extLst>
              <a:ext uri="{FF2B5EF4-FFF2-40B4-BE49-F238E27FC236}">
                <a16:creationId xmlns:a16="http://schemas.microsoft.com/office/drawing/2014/main" id="{03DAD4D8-172E-FEB8-CCFD-A9F34D298313}"/>
              </a:ext>
            </a:extLst>
          </p:cNvPr>
          <p:cNvGraphicFramePr>
            <a:graphicFrameLocks noGrp="1"/>
          </p:cNvGraphicFramePr>
          <p:nvPr>
            <p:ph idx="1"/>
            <p:extLst>
              <p:ext uri="{D42A27DB-BD31-4B8C-83A1-F6EECF244321}">
                <p14:modId xmlns:p14="http://schemas.microsoft.com/office/powerpoint/2010/main" val="1740181126"/>
              </p:ext>
            </p:extLst>
          </p:nvPr>
        </p:nvGraphicFramePr>
        <p:xfrm>
          <a:off x="838200" y="2060038"/>
          <a:ext cx="10515600" cy="2805765"/>
        </p:xfrm>
        <a:graphic>
          <a:graphicData uri="http://schemas.openxmlformats.org/drawingml/2006/table">
            <a:tbl>
              <a:tblPr firstRow="1" bandRow="1">
                <a:tableStyleId>{5940675A-B579-460E-94D1-54222C63F5DA}</a:tableStyleId>
              </a:tblPr>
              <a:tblGrid>
                <a:gridCol w="3594100">
                  <a:extLst>
                    <a:ext uri="{9D8B030D-6E8A-4147-A177-3AD203B41FA5}">
                      <a16:colId xmlns:a16="http://schemas.microsoft.com/office/drawing/2014/main" val="3706092598"/>
                    </a:ext>
                  </a:extLst>
                </a:gridCol>
                <a:gridCol w="3416300">
                  <a:extLst>
                    <a:ext uri="{9D8B030D-6E8A-4147-A177-3AD203B41FA5}">
                      <a16:colId xmlns:a16="http://schemas.microsoft.com/office/drawing/2014/main" val="537410454"/>
                    </a:ext>
                  </a:extLst>
                </a:gridCol>
                <a:gridCol w="3505200">
                  <a:extLst>
                    <a:ext uri="{9D8B030D-6E8A-4147-A177-3AD203B41FA5}">
                      <a16:colId xmlns:a16="http://schemas.microsoft.com/office/drawing/2014/main" val="827082003"/>
                    </a:ext>
                  </a:extLst>
                </a:gridCol>
              </a:tblGrid>
              <a:tr h="806657">
                <a:tc>
                  <a:txBody>
                    <a:bodyPr/>
                    <a:lstStyle/>
                    <a:p>
                      <a:r>
                        <a:rPr lang="fr-CA" sz="2000" b="1" dirty="0"/>
                        <a:t>Atelier 1 : 4 700 $</a:t>
                      </a:r>
                    </a:p>
                    <a:p>
                      <a:r>
                        <a:rPr lang="fr-CA" sz="2000" b="1" dirty="0"/>
                        <a:t>Préparation de la pâte</a:t>
                      </a:r>
                    </a:p>
                  </a:txBody>
                  <a:tcPr/>
                </a:tc>
                <a:tc>
                  <a:txBody>
                    <a:bodyPr/>
                    <a:lstStyle/>
                    <a:p>
                      <a:r>
                        <a:rPr lang="fr-CA" sz="2000" b="1" dirty="0"/>
                        <a:t>Atelier 2 : 4 125 $</a:t>
                      </a:r>
                    </a:p>
                    <a:p>
                      <a:r>
                        <a:rPr lang="fr-CA" sz="2000" b="1" dirty="0"/>
                        <a:t>Fabrication de la pizza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Atelier 3 : 1 175 $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Emballage</a:t>
                      </a:r>
                    </a:p>
                  </a:txBody>
                  <a:tcPr/>
                </a:tc>
                <a:extLst>
                  <a:ext uri="{0D108BD9-81ED-4DB2-BD59-A6C34878D82A}">
                    <a16:rowId xmlns:a16="http://schemas.microsoft.com/office/drawing/2014/main" val="1304552256"/>
                  </a:ext>
                </a:extLst>
              </a:tr>
              <a:tr h="19991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Choix de base : HMOD</a:t>
                      </a:r>
                    </a:p>
                    <a:p>
                      <a:endParaRPr lang="fr-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Choix de base : HM</a:t>
                      </a:r>
                    </a:p>
                    <a:p>
                      <a:endParaRPr lang="fr-CA" dirty="0"/>
                    </a:p>
                    <a:p>
                      <a:r>
                        <a:rPr lang="fr-CA" dirty="0">
                          <a:solidFill>
                            <a:srgbClr val="0070C0"/>
                          </a:solidFill>
                        </a:rPr>
                        <a:t> </a:t>
                      </a:r>
                      <a:endParaRPr lang="fr-CA" dirty="0"/>
                    </a:p>
                    <a:p>
                      <a:endParaRPr lang="fr-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Choix de base : Unités fabriquées</a:t>
                      </a:r>
                    </a:p>
                    <a:p>
                      <a:endParaRPr lang="fr-CA" dirty="0"/>
                    </a:p>
                  </a:txBody>
                  <a:tcPr/>
                </a:tc>
                <a:extLst>
                  <a:ext uri="{0D108BD9-81ED-4DB2-BD59-A6C34878D82A}">
                    <a16:rowId xmlns:a16="http://schemas.microsoft.com/office/drawing/2014/main" val="4141742897"/>
                  </a:ext>
                </a:extLst>
              </a:tr>
            </a:tbl>
          </a:graphicData>
        </a:graphic>
      </p:graphicFrame>
      <p:sp>
        <p:nvSpPr>
          <p:cNvPr id="4" name="Espace réservé du pied de page 3">
            <a:extLst>
              <a:ext uri="{FF2B5EF4-FFF2-40B4-BE49-F238E27FC236}">
                <a16:creationId xmlns:a16="http://schemas.microsoft.com/office/drawing/2014/main" id="{A6573474-A000-EF0D-FC22-0D27AA521212}"/>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ABB1ED8-8949-35C9-921B-475716BAF96B}"/>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27</a:t>
            </a:fld>
            <a:endParaRPr lang="fr-CA">
              <a:solidFill>
                <a:prstClr val="black">
                  <a:tint val="75000"/>
                </a:prstClr>
              </a:solidFill>
            </a:endParaRPr>
          </a:p>
        </p:txBody>
      </p:sp>
      <p:sp>
        <p:nvSpPr>
          <p:cNvPr id="7" name="ZoneTexte 6">
            <a:extLst>
              <a:ext uri="{FF2B5EF4-FFF2-40B4-BE49-F238E27FC236}">
                <a16:creationId xmlns:a16="http://schemas.microsoft.com/office/drawing/2014/main" id="{90BF5922-9F23-7AAF-95E3-E92EE3228335}"/>
              </a:ext>
            </a:extLst>
          </p:cNvPr>
          <p:cNvSpPr txBox="1"/>
          <p:nvPr/>
        </p:nvSpPr>
        <p:spPr>
          <a:xfrm>
            <a:off x="7625864" y="5089630"/>
            <a:ext cx="4343756" cy="923330"/>
          </a:xfrm>
          <a:prstGeom prst="rect">
            <a:avLst/>
          </a:prstGeom>
          <a:noFill/>
        </p:spPr>
        <p:txBody>
          <a:bodyPr wrap="square">
            <a:spAutoFit/>
          </a:bodyPr>
          <a:lstStyle/>
          <a:p>
            <a:r>
              <a:rPr lang="fr-CA" dirty="0"/>
              <a:t>Les objets de coûts qui passent par un lieu physique doivent absorber une juste part des coûts comptabilisés à cet endroit.</a:t>
            </a:r>
          </a:p>
        </p:txBody>
      </p:sp>
      <p:sp>
        <p:nvSpPr>
          <p:cNvPr id="8" name="ZoneTexte 7">
            <a:extLst>
              <a:ext uri="{FF2B5EF4-FFF2-40B4-BE49-F238E27FC236}">
                <a16:creationId xmlns:a16="http://schemas.microsoft.com/office/drawing/2014/main" id="{1E26BE4F-5323-BA4D-7DCF-37BE02D65705}"/>
              </a:ext>
            </a:extLst>
          </p:cNvPr>
          <p:cNvSpPr txBox="1"/>
          <p:nvPr/>
        </p:nvSpPr>
        <p:spPr>
          <a:xfrm>
            <a:off x="4416669" y="1424354"/>
            <a:ext cx="3358661" cy="430887"/>
          </a:xfrm>
          <a:prstGeom prst="rect">
            <a:avLst/>
          </a:prstGeom>
          <a:noFill/>
        </p:spPr>
        <p:txBody>
          <a:bodyPr wrap="square" rtlCol="0">
            <a:spAutoFit/>
          </a:bodyPr>
          <a:lstStyle/>
          <a:p>
            <a:r>
              <a:rPr lang="fr-CA" sz="2200" b="1" dirty="0"/>
              <a:t>Total des FGF : 10 000 $</a:t>
            </a:r>
          </a:p>
        </p:txBody>
      </p:sp>
      <p:cxnSp>
        <p:nvCxnSpPr>
          <p:cNvPr id="10" name="Connecteur droit avec flèche 9">
            <a:extLst>
              <a:ext uri="{FF2B5EF4-FFF2-40B4-BE49-F238E27FC236}">
                <a16:creationId xmlns:a16="http://schemas.microsoft.com/office/drawing/2014/main" id="{BCACDF48-2060-7B29-63EC-E9D101817DA9}"/>
              </a:ext>
            </a:extLst>
          </p:cNvPr>
          <p:cNvCxnSpPr>
            <a:cxnSpLocks/>
            <a:stCxn id="8" idx="1"/>
          </p:cNvCxnSpPr>
          <p:nvPr/>
        </p:nvCxnSpPr>
        <p:spPr>
          <a:xfrm flipH="1">
            <a:off x="3106455" y="1639798"/>
            <a:ext cx="1310214" cy="4725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C23BFC1B-0655-F63C-882C-59E72B81389A}"/>
              </a:ext>
            </a:extLst>
          </p:cNvPr>
          <p:cNvCxnSpPr>
            <a:cxnSpLocks/>
          </p:cNvCxnSpPr>
          <p:nvPr/>
        </p:nvCxnSpPr>
        <p:spPr>
          <a:xfrm>
            <a:off x="7273566" y="1652944"/>
            <a:ext cx="1811978" cy="31589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95AD771-E128-E1BC-2B5C-71F7F0C8D00F}"/>
              </a:ext>
            </a:extLst>
          </p:cNvPr>
          <p:cNvCxnSpPr>
            <a:cxnSpLocks/>
          </p:cNvCxnSpPr>
          <p:nvPr/>
        </p:nvCxnSpPr>
        <p:spPr>
          <a:xfrm>
            <a:off x="7010043" y="1782488"/>
            <a:ext cx="0" cy="4725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au 14">
            <a:extLst>
              <a:ext uri="{FF2B5EF4-FFF2-40B4-BE49-F238E27FC236}">
                <a16:creationId xmlns:a16="http://schemas.microsoft.com/office/drawing/2014/main" id="{B7741DB4-A447-33F0-5328-23ECB5EEE9F6}"/>
              </a:ext>
            </a:extLst>
          </p:cNvPr>
          <p:cNvGraphicFramePr>
            <a:graphicFrameLocks noGrp="1"/>
          </p:cNvGraphicFramePr>
          <p:nvPr>
            <p:extLst>
              <p:ext uri="{D42A27DB-BD31-4B8C-83A1-F6EECF244321}">
                <p14:modId xmlns:p14="http://schemas.microsoft.com/office/powerpoint/2010/main" val="1394815813"/>
              </p:ext>
            </p:extLst>
          </p:nvPr>
        </p:nvGraphicFramePr>
        <p:xfrm>
          <a:off x="838200" y="5009267"/>
          <a:ext cx="6397653" cy="1341120"/>
        </p:xfrm>
        <a:graphic>
          <a:graphicData uri="http://schemas.openxmlformats.org/drawingml/2006/table">
            <a:tbl>
              <a:tblPr firstRow="1" bandRow="1">
                <a:tableStyleId>{5940675A-B579-460E-94D1-54222C63F5DA}</a:tableStyleId>
              </a:tblPr>
              <a:tblGrid>
                <a:gridCol w="2157865">
                  <a:extLst>
                    <a:ext uri="{9D8B030D-6E8A-4147-A177-3AD203B41FA5}">
                      <a16:colId xmlns:a16="http://schemas.microsoft.com/office/drawing/2014/main" val="1218085858"/>
                    </a:ext>
                  </a:extLst>
                </a:gridCol>
                <a:gridCol w="1421432">
                  <a:extLst>
                    <a:ext uri="{9D8B030D-6E8A-4147-A177-3AD203B41FA5}">
                      <a16:colId xmlns:a16="http://schemas.microsoft.com/office/drawing/2014/main" val="2526452281"/>
                    </a:ext>
                  </a:extLst>
                </a:gridCol>
                <a:gridCol w="1340285">
                  <a:extLst>
                    <a:ext uri="{9D8B030D-6E8A-4147-A177-3AD203B41FA5}">
                      <a16:colId xmlns:a16="http://schemas.microsoft.com/office/drawing/2014/main" val="3158340079"/>
                    </a:ext>
                  </a:extLst>
                </a:gridCol>
                <a:gridCol w="1478071">
                  <a:extLst>
                    <a:ext uri="{9D8B030D-6E8A-4147-A177-3AD203B41FA5}">
                      <a16:colId xmlns:a16="http://schemas.microsoft.com/office/drawing/2014/main" val="3279313187"/>
                    </a:ext>
                  </a:extLst>
                </a:gridCol>
              </a:tblGrid>
              <a:tr h="329553">
                <a:tc>
                  <a:txBody>
                    <a:bodyPr/>
                    <a:lstStyle/>
                    <a:p>
                      <a:r>
                        <a:rPr lang="fr-CA" sz="1600" b="1" dirty="0"/>
                        <a:t>Produits (congelé)</a:t>
                      </a:r>
                    </a:p>
                  </a:txBody>
                  <a:tcPr/>
                </a:tc>
                <a:tc>
                  <a:txBody>
                    <a:bodyPr/>
                    <a:lstStyle/>
                    <a:p>
                      <a:r>
                        <a:rPr lang="fr-CA" sz="1600" b="1" dirty="0"/>
                        <a:t>Volume</a:t>
                      </a:r>
                    </a:p>
                  </a:txBody>
                  <a:tcPr/>
                </a:tc>
                <a:tc>
                  <a:txBody>
                    <a:bodyPr/>
                    <a:lstStyle/>
                    <a:p>
                      <a:r>
                        <a:rPr lang="fr-CA" sz="1600" b="1" dirty="0"/>
                        <a:t>HM</a:t>
                      </a:r>
                    </a:p>
                  </a:txBody>
                  <a:tcPr/>
                </a:tc>
                <a:tc>
                  <a:txBody>
                    <a:bodyPr/>
                    <a:lstStyle/>
                    <a:p>
                      <a:r>
                        <a:rPr lang="fr-CA" sz="1600" b="1" dirty="0"/>
                        <a:t>Heures MOD</a:t>
                      </a:r>
                    </a:p>
                  </a:txBody>
                  <a:tcPr/>
                </a:tc>
                <a:extLst>
                  <a:ext uri="{0D108BD9-81ED-4DB2-BD59-A6C34878D82A}">
                    <a16:rowId xmlns:a16="http://schemas.microsoft.com/office/drawing/2014/main" val="2198629668"/>
                  </a:ext>
                </a:extLst>
              </a:tr>
              <a:tr h="329553">
                <a:tc>
                  <a:txBody>
                    <a:bodyPr/>
                    <a:lstStyle/>
                    <a:p>
                      <a:r>
                        <a:rPr lang="fr-CA" sz="1600" dirty="0"/>
                        <a:t>Pâtes fraîches</a:t>
                      </a:r>
                    </a:p>
                  </a:txBody>
                  <a:tcPr/>
                </a:tc>
                <a:tc>
                  <a:txBody>
                    <a:bodyPr/>
                    <a:lstStyle/>
                    <a:p>
                      <a:r>
                        <a:rPr lang="fr-CA" sz="1600" dirty="0"/>
                        <a:t>4 000 unités</a:t>
                      </a:r>
                    </a:p>
                  </a:txBody>
                  <a:tcPr/>
                </a:tc>
                <a:tc>
                  <a:txBody>
                    <a:bodyPr/>
                    <a:lstStyle/>
                    <a:p>
                      <a:r>
                        <a:rPr lang="fr-CA" sz="1600" dirty="0"/>
                        <a:t>-</a:t>
                      </a:r>
                    </a:p>
                  </a:txBody>
                  <a:tcPr/>
                </a:tc>
                <a:tc>
                  <a:txBody>
                    <a:bodyPr/>
                    <a:lstStyle/>
                    <a:p>
                      <a:r>
                        <a:rPr lang="fr-CA" sz="1600" dirty="0"/>
                        <a:t>200 h</a:t>
                      </a:r>
                    </a:p>
                  </a:txBody>
                  <a:tcPr/>
                </a:tc>
                <a:extLst>
                  <a:ext uri="{0D108BD9-81ED-4DB2-BD59-A6C34878D82A}">
                    <a16:rowId xmlns:a16="http://schemas.microsoft.com/office/drawing/2014/main" val="1112797490"/>
                  </a:ext>
                </a:extLst>
              </a:tr>
              <a:tr h="329553">
                <a:tc>
                  <a:txBody>
                    <a:bodyPr/>
                    <a:lstStyle/>
                    <a:p>
                      <a:r>
                        <a:rPr lang="fr-CA" sz="1600" dirty="0"/>
                        <a:t>Pizza margarita</a:t>
                      </a:r>
                    </a:p>
                  </a:txBody>
                  <a:tcPr/>
                </a:tc>
                <a:tc>
                  <a:txBody>
                    <a:bodyPr/>
                    <a:lstStyle/>
                    <a:p>
                      <a:r>
                        <a:rPr lang="fr-CA" sz="1600" dirty="0"/>
                        <a:t>3 000 unités</a:t>
                      </a:r>
                    </a:p>
                  </a:txBody>
                  <a:tcPr/>
                </a:tc>
                <a:tc>
                  <a:txBody>
                    <a:bodyPr/>
                    <a:lstStyle/>
                    <a:p>
                      <a:r>
                        <a:rPr lang="fr-CA" sz="1600" dirty="0"/>
                        <a:t>750 h</a:t>
                      </a:r>
                    </a:p>
                  </a:txBody>
                  <a:tcPr/>
                </a:tc>
                <a:tc>
                  <a:txBody>
                    <a:bodyPr/>
                    <a:lstStyle/>
                    <a:p>
                      <a:r>
                        <a:rPr lang="fr-CA" sz="1600" dirty="0"/>
                        <a:t>450 h</a:t>
                      </a:r>
                    </a:p>
                  </a:txBody>
                  <a:tcPr/>
                </a:tc>
                <a:extLst>
                  <a:ext uri="{0D108BD9-81ED-4DB2-BD59-A6C34878D82A}">
                    <a16:rowId xmlns:a16="http://schemas.microsoft.com/office/drawing/2014/main" val="3522961543"/>
                  </a:ext>
                </a:extLst>
              </a:tr>
              <a:tr h="329553">
                <a:tc>
                  <a:txBody>
                    <a:bodyPr/>
                    <a:lstStyle/>
                    <a:p>
                      <a:r>
                        <a:rPr lang="fr-CA" sz="1600" dirty="0"/>
                        <a:t>Pizza toute -garnie</a:t>
                      </a:r>
                    </a:p>
                  </a:txBody>
                  <a:tcPr/>
                </a:tc>
                <a:tc>
                  <a:txBody>
                    <a:bodyPr/>
                    <a:lstStyle/>
                    <a:p>
                      <a:r>
                        <a:rPr lang="fr-CA" sz="1600" dirty="0"/>
                        <a:t>3 000 unités</a:t>
                      </a:r>
                    </a:p>
                  </a:txBody>
                  <a:tcPr/>
                </a:tc>
                <a:tc>
                  <a:txBody>
                    <a:bodyPr/>
                    <a:lstStyle/>
                    <a:p>
                      <a:r>
                        <a:rPr lang="fr-CA" sz="1600" dirty="0"/>
                        <a:t>900 h</a:t>
                      </a:r>
                    </a:p>
                  </a:txBody>
                  <a:tcPr/>
                </a:tc>
                <a:tc>
                  <a:txBody>
                    <a:bodyPr/>
                    <a:lstStyle/>
                    <a:p>
                      <a:r>
                        <a:rPr lang="fr-CA" sz="1600" dirty="0"/>
                        <a:t>525 h</a:t>
                      </a:r>
                    </a:p>
                  </a:txBody>
                  <a:tcPr/>
                </a:tc>
                <a:extLst>
                  <a:ext uri="{0D108BD9-81ED-4DB2-BD59-A6C34878D82A}">
                    <a16:rowId xmlns:a16="http://schemas.microsoft.com/office/drawing/2014/main" val="1255885915"/>
                  </a:ext>
                </a:extLst>
              </a:tr>
            </a:tbl>
          </a:graphicData>
        </a:graphic>
      </p:graphicFrame>
    </p:spTree>
    <p:extLst>
      <p:ext uri="{BB962C8B-B14F-4D97-AF65-F5344CB8AC3E}">
        <p14:creationId xmlns:p14="http://schemas.microsoft.com/office/powerpoint/2010/main" val="1549483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9CC6-9B93-4A15-A32E-16CB4346CF6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A159B5-EC35-D8C7-BD78-6589B91D393B}"/>
              </a:ext>
            </a:extLst>
          </p:cNvPr>
          <p:cNvSpPr>
            <a:spLocks noGrp="1"/>
          </p:cNvSpPr>
          <p:nvPr>
            <p:ph type="title"/>
          </p:nvPr>
        </p:nvSpPr>
        <p:spPr/>
        <p:txBody>
          <a:bodyPr>
            <a:noAutofit/>
          </a:bodyPr>
          <a:lstStyle/>
          <a:p>
            <a:r>
              <a:rPr lang="fr-CA" sz="3600" dirty="0"/>
              <a:t>Illustration calcul de la marge brute- plusieurs produits – répartition des FGF aux produits (étudiants)</a:t>
            </a:r>
          </a:p>
        </p:txBody>
      </p:sp>
      <p:graphicFrame>
        <p:nvGraphicFramePr>
          <p:cNvPr id="6" name="Espace réservé du contenu 5">
            <a:extLst>
              <a:ext uri="{FF2B5EF4-FFF2-40B4-BE49-F238E27FC236}">
                <a16:creationId xmlns:a16="http://schemas.microsoft.com/office/drawing/2014/main" id="{9648E6A0-9B22-09B2-6FC6-47A5C7A6C16C}"/>
              </a:ext>
            </a:extLst>
          </p:cNvPr>
          <p:cNvGraphicFramePr>
            <a:graphicFrameLocks noGrp="1"/>
          </p:cNvGraphicFramePr>
          <p:nvPr>
            <p:ph idx="1"/>
            <p:extLst>
              <p:ext uri="{D42A27DB-BD31-4B8C-83A1-F6EECF244321}">
                <p14:modId xmlns:p14="http://schemas.microsoft.com/office/powerpoint/2010/main" val="2394203537"/>
              </p:ext>
            </p:extLst>
          </p:nvPr>
        </p:nvGraphicFramePr>
        <p:xfrm>
          <a:off x="419884" y="1403729"/>
          <a:ext cx="11436263" cy="5099707"/>
        </p:xfrm>
        <a:graphic>
          <a:graphicData uri="http://schemas.openxmlformats.org/drawingml/2006/table">
            <a:tbl>
              <a:tblPr firstRow="1" bandRow="1">
                <a:tableStyleId>{5940675A-B579-460E-94D1-54222C63F5DA}</a:tableStyleId>
              </a:tblPr>
              <a:tblGrid>
                <a:gridCol w="2616977">
                  <a:extLst>
                    <a:ext uri="{9D8B030D-6E8A-4147-A177-3AD203B41FA5}">
                      <a16:colId xmlns:a16="http://schemas.microsoft.com/office/drawing/2014/main" val="3706092598"/>
                    </a:ext>
                  </a:extLst>
                </a:gridCol>
                <a:gridCol w="2851443">
                  <a:extLst>
                    <a:ext uri="{9D8B030D-6E8A-4147-A177-3AD203B41FA5}">
                      <a16:colId xmlns:a16="http://schemas.microsoft.com/office/drawing/2014/main" val="3525454453"/>
                    </a:ext>
                  </a:extLst>
                </a:gridCol>
                <a:gridCol w="3011700">
                  <a:extLst>
                    <a:ext uri="{9D8B030D-6E8A-4147-A177-3AD203B41FA5}">
                      <a16:colId xmlns:a16="http://schemas.microsoft.com/office/drawing/2014/main" val="2890562953"/>
                    </a:ext>
                  </a:extLst>
                </a:gridCol>
                <a:gridCol w="2956143">
                  <a:extLst>
                    <a:ext uri="{9D8B030D-6E8A-4147-A177-3AD203B41FA5}">
                      <a16:colId xmlns:a16="http://schemas.microsoft.com/office/drawing/2014/main" val="4131390026"/>
                    </a:ext>
                  </a:extLst>
                </a:gridCol>
              </a:tblGrid>
              <a:tr h="380901">
                <a:tc>
                  <a:txBody>
                    <a:bodyPr/>
                    <a:lstStyle/>
                    <a:p>
                      <a:endParaRPr lang="fr-CA" sz="1800" dirty="0"/>
                    </a:p>
                  </a:txBody>
                  <a:tcPr/>
                </a:tc>
                <a:tc>
                  <a:txBody>
                    <a:bodyPr/>
                    <a:lstStyle/>
                    <a:p>
                      <a:r>
                        <a:rPr lang="fr-CA" sz="2000" b="1" dirty="0"/>
                        <a:t>Pâtes fraîches</a:t>
                      </a:r>
                      <a:endParaRPr lang="fr-CA" sz="1800" dirty="0"/>
                    </a:p>
                  </a:txBody>
                  <a:tcPr/>
                </a:tc>
                <a:tc>
                  <a:txBody>
                    <a:bodyPr/>
                    <a:lstStyle/>
                    <a:p>
                      <a:r>
                        <a:rPr lang="fr-CA" sz="2000" b="1"/>
                        <a:t>Pizzas margarita</a:t>
                      </a:r>
                      <a:endParaRPr lang="fr-CA"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Pizzas toutes garnis</a:t>
                      </a:r>
                    </a:p>
                  </a:txBody>
                  <a:tcPr/>
                </a:tc>
                <a:extLst>
                  <a:ext uri="{0D108BD9-81ED-4DB2-BD59-A6C34878D82A}">
                    <a16:rowId xmlns:a16="http://schemas.microsoft.com/office/drawing/2014/main" val="1304552256"/>
                  </a:ext>
                </a:extLst>
              </a:tr>
              <a:tr h="351601">
                <a:tc>
                  <a:txBody>
                    <a:bodyPr/>
                    <a:lstStyle/>
                    <a:p>
                      <a:r>
                        <a:rPr lang="fr-CA" dirty="0"/>
                        <a:t>Prix de vente</a:t>
                      </a:r>
                    </a:p>
                  </a:txBody>
                  <a:tcPr/>
                </a:tc>
                <a:tc>
                  <a:txBody>
                    <a:bodyPr/>
                    <a:lstStyle/>
                    <a:p>
                      <a:r>
                        <a:rPr lang="fr-CA" dirty="0"/>
                        <a:t>6,00 $</a:t>
                      </a:r>
                    </a:p>
                  </a:txBody>
                  <a:tcPr/>
                </a:tc>
                <a:tc>
                  <a:txBody>
                    <a:bodyPr/>
                    <a:lstStyle/>
                    <a:p>
                      <a:r>
                        <a:rPr lang="fr-CA" dirty="0"/>
                        <a:t>12,00 $</a:t>
                      </a:r>
                    </a:p>
                  </a:txBody>
                  <a:tcPr/>
                </a:tc>
                <a:tc>
                  <a:txBody>
                    <a:bodyPr/>
                    <a:lstStyle/>
                    <a:p>
                      <a:r>
                        <a:rPr lang="fr-CA" dirty="0"/>
                        <a:t>14,00 $</a:t>
                      </a:r>
                    </a:p>
                  </a:txBody>
                  <a:tcPr/>
                </a:tc>
                <a:extLst>
                  <a:ext uri="{0D108BD9-81ED-4DB2-BD59-A6C34878D82A}">
                    <a16:rowId xmlns:a16="http://schemas.microsoft.com/office/drawing/2014/main" val="341555048"/>
                  </a:ext>
                </a:extLst>
              </a:tr>
              <a:tr h="351601">
                <a:tc gridSpan="4">
                  <a:txBody>
                    <a:bodyPr/>
                    <a:lstStyle/>
                    <a:p>
                      <a:r>
                        <a:rPr lang="fr-CA" b="1" dirty="0"/>
                        <a:t>Coût de fabrication</a:t>
                      </a:r>
                    </a:p>
                  </a:txBody>
                  <a:tcPr/>
                </a:tc>
                <a:tc hMerge="1">
                  <a:txBody>
                    <a:bodyPr/>
                    <a:lstStyle/>
                    <a:p>
                      <a:endParaRPr lang="fr-CA"/>
                    </a:p>
                  </a:txBody>
                  <a:tcPr/>
                </a:tc>
                <a:tc hMerge="1">
                  <a:txBody>
                    <a:bodyPr/>
                    <a:lstStyle/>
                    <a:p>
                      <a:endParaRPr lang="fr-CA"/>
                    </a:p>
                  </a:txBody>
                  <a:tcPr/>
                </a:tc>
                <a:tc hMerge="1">
                  <a:txBody>
                    <a:bodyPr/>
                    <a:lstStyle/>
                    <a:p>
                      <a:endParaRPr lang="fr-CA" b="1" dirty="0"/>
                    </a:p>
                  </a:txBody>
                  <a:tcPr/>
                </a:tc>
                <a:extLst>
                  <a:ext uri="{0D108BD9-81ED-4DB2-BD59-A6C34878D82A}">
                    <a16:rowId xmlns:a16="http://schemas.microsoft.com/office/drawing/2014/main" val="1475384896"/>
                  </a:ext>
                </a:extLst>
              </a:tr>
              <a:tr h="351601">
                <a:tc>
                  <a:txBody>
                    <a:bodyPr/>
                    <a:lstStyle/>
                    <a:p>
                      <a:r>
                        <a:rPr lang="fr-CA" dirty="0"/>
                        <a:t>Matières premières</a:t>
                      </a:r>
                    </a:p>
                  </a:txBody>
                  <a:tcPr/>
                </a:tc>
                <a:tc>
                  <a:txBody>
                    <a:bodyPr/>
                    <a:lstStyle/>
                    <a:p>
                      <a:r>
                        <a:rPr lang="fr-CA" dirty="0"/>
                        <a:t>1,50 $</a:t>
                      </a:r>
                    </a:p>
                  </a:txBody>
                  <a:tcPr/>
                </a:tc>
                <a:tc>
                  <a:txBody>
                    <a:bodyPr/>
                    <a:lstStyle/>
                    <a:p>
                      <a:r>
                        <a:rPr lang="fr-CA"/>
                        <a:t>4,00 $</a:t>
                      </a:r>
                      <a:endParaRPr lang="fr-CA" dirty="0"/>
                    </a:p>
                  </a:txBody>
                  <a:tcPr/>
                </a:tc>
                <a:tc>
                  <a:txBody>
                    <a:bodyPr/>
                    <a:lstStyle/>
                    <a:p>
                      <a:r>
                        <a:rPr lang="fr-CA"/>
                        <a:t>5,00 $</a:t>
                      </a:r>
                      <a:endParaRPr lang="fr-CA" dirty="0"/>
                    </a:p>
                  </a:txBody>
                  <a:tcPr/>
                </a:tc>
                <a:extLst>
                  <a:ext uri="{0D108BD9-81ED-4DB2-BD59-A6C34878D82A}">
                    <a16:rowId xmlns:a16="http://schemas.microsoft.com/office/drawing/2014/main" val="1556886408"/>
                  </a:ext>
                </a:extLst>
              </a:tr>
              <a:tr h="351601">
                <a:tc>
                  <a:txBody>
                    <a:bodyPr/>
                    <a:lstStyle/>
                    <a:p>
                      <a:r>
                        <a:rPr lang="fr-CA" dirty="0"/>
                        <a:t>Main d’œuvre directe</a:t>
                      </a:r>
                    </a:p>
                  </a:txBody>
                  <a:tcPr/>
                </a:tc>
                <a:tc>
                  <a:txBody>
                    <a:bodyPr/>
                    <a:lstStyle/>
                    <a:p>
                      <a:r>
                        <a:rPr lang="fr-CA"/>
                        <a:t>1,00 $</a:t>
                      </a:r>
                      <a:endParaRPr lang="fr-CA" dirty="0"/>
                    </a:p>
                  </a:txBody>
                  <a:tcPr/>
                </a:tc>
                <a:tc>
                  <a:txBody>
                    <a:bodyPr/>
                    <a:lstStyle/>
                    <a:p>
                      <a:r>
                        <a:rPr lang="fr-CA"/>
                        <a:t>3,00 $</a:t>
                      </a:r>
                      <a:endParaRPr lang="fr-CA" dirty="0"/>
                    </a:p>
                  </a:txBody>
                  <a:tcPr/>
                </a:tc>
                <a:tc>
                  <a:txBody>
                    <a:bodyPr/>
                    <a:lstStyle/>
                    <a:p>
                      <a:r>
                        <a:rPr lang="fr-CA"/>
                        <a:t>3,50 $</a:t>
                      </a:r>
                      <a:endParaRPr lang="fr-CA" dirty="0"/>
                    </a:p>
                  </a:txBody>
                  <a:tcPr/>
                </a:tc>
                <a:extLst>
                  <a:ext uri="{0D108BD9-81ED-4DB2-BD59-A6C34878D82A}">
                    <a16:rowId xmlns:a16="http://schemas.microsoft.com/office/drawing/2014/main" val="2313987691"/>
                  </a:ext>
                </a:extLst>
              </a:tr>
              <a:tr h="2844187">
                <a:tc>
                  <a:txBody>
                    <a:bodyPr/>
                    <a:lstStyle/>
                    <a:p>
                      <a:r>
                        <a:rPr lang="fr-CA" dirty="0"/>
                        <a:t>Total des frais généraux de fabrication</a:t>
                      </a:r>
                    </a:p>
                    <a:p>
                      <a:r>
                        <a:rPr lang="fr-CA" dirty="0"/>
                        <a:t>10 000 $</a:t>
                      </a:r>
                    </a:p>
                    <a:p>
                      <a:endParaRPr lang="fr-CA" i="1" dirty="0"/>
                    </a:p>
                    <a:p>
                      <a:r>
                        <a:rPr lang="fr-CA" i="1" dirty="0"/>
                        <a:t>Taux d’imputation</a:t>
                      </a:r>
                    </a:p>
                    <a:p>
                      <a:r>
                        <a:rPr lang="fr-CA" dirty="0"/>
                        <a:t>A1: 4,00 $/</a:t>
                      </a:r>
                      <a:r>
                        <a:rPr lang="fr-CA" dirty="0" err="1"/>
                        <a:t>hmod</a:t>
                      </a:r>
                      <a:endParaRPr lang="fr-CA" dirty="0"/>
                    </a:p>
                    <a:p>
                      <a:r>
                        <a:rPr lang="fr-CA" dirty="0"/>
                        <a:t>A2: 2,50 $/hm</a:t>
                      </a:r>
                    </a:p>
                    <a:p>
                      <a:r>
                        <a:rPr lang="fr-CA" dirty="0"/>
                        <a:t>A3: 0,1175 $</a:t>
                      </a:r>
                    </a:p>
                    <a:p>
                      <a:endParaRPr lang="fr-CA" dirty="0"/>
                    </a:p>
                    <a:p>
                      <a:endParaRPr lang="fr-CA" dirty="0"/>
                    </a:p>
                  </a:txBody>
                  <a:tcPr/>
                </a:tc>
                <a:tc>
                  <a:txBody>
                    <a:bodyPr/>
                    <a:lstStyle/>
                    <a:p>
                      <a:r>
                        <a:rPr lang="fr-CA" dirty="0"/>
                        <a:t>A1-Préparation : </a:t>
                      </a:r>
                      <a:r>
                        <a:rPr lang="fr-CA" sz="1600" kern="1200" dirty="0">
                          <a:solidFill>
                            <a:schemeClr val="tx1"/>
                          </a:solidFill>
                          <a:latin typeface="+mn-lt"/>
                          <a:ea typeface="+mn-ea"/>
                          <a:cs typeface="+mn-cs"/>
                        </a:rPr>
                        <a:t>0,050 </a:t>
                      </a:r>
                      <a:r>
                        <a:rPr lang="fr-CA" sz="1600" kern="1200" dirty="0" err="1">
                          <a:solidFill>
                            <a:schemeClr val="tx1"/>
                          </a:solidFill>
                          <a:latin typeface="+mn-lt"/>
                          <a:ea typeface="+mn-ea"/>
                          <a:cs typeface="+mn-cs"/>
                        </a:rPr>
                        <a:t>hmod</a:t>
                      </a:r>
                      <a:endParaRPr lang="fr-CA" sz="1600" kern="1200" dirty="0">
                        <a:solidFill>
                          <a:schemeClr val="tx1"/>
                        </a:solidFill>
                        <a:latin typeface="+mn-lt"/>
                        <a:ea typeface="+mn-ea"/>
                        <a:cs typeface="+mn-cs"/>
                      </a:endParaRPr>
                    </a:p>
                    <a:p>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A2- Machine à pizza :</a:t>
                      </a:r>
                    </a:p>
                    <a:p>
                      <a:endParaRPr lang="fr-CA" dirty="0"/>
                    </a:p>
                    <a:p>
                      <a:r>
                        <a:rPr lang="fr-CA" dirty="0"/>
                        <a:t>A3- Emballage :</a:t>
                      </a:r>
                      <a:endParaRPr lang="fr-CA"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800" b="1"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CA" sz="1800" b="1" dirty="0">
                          <a:solidFill>
                            <a:schemeClr val="tx1"/>
                          </a:solidFill>
                        </a:rPr>
                        <a:t>Total 0,3175 $</a:t>
                      </a:r>
                      <a:endParaRPr lang="fr-CA" dirty="0"/>
                    </a:p>
                  </a:txBody>
                  <a:tcPr/>
                </a:tc>
                <a:tc>
                  <a:txBody>
                    <a:bodyPr/>
                    <a:lstStyle/>
                    <a:p>
                      <a:r>
                        <a:rPr lang="fr-CA" dirty="0"/>
                        <a:t>Atelier 1: </a:t>
                      </a:r>
                      <a:r>
                        <a:rPr lang="fr-CA" sz="1600" kern="1200" dirty="0">
                          <a:solidFill>
                            <a:schemeClr val="tx1"/>
                          </a:solidFill>
                          <a:latin typeface="+mn-lt"/>
                          <a:ea typeface="+mn-ea"/>
                          <a:cs typeface="+mn-cs"/>
                        </a:rPr>
                        <a:t>0,150 </a:t>
                      </a:r>
                      <a:r>
                        <a:rPr lang="fr-CA" sz="1600" kern="1200" dirty="0" err="1">
                          <a:solidFill>
                            <a:schemeClr val="tx1"/>
                          </a:solidFill>
                          <a:latin typeface="+mn-lt"/>
                          <a:ea typeface="+mn-ea"/>
                          <a:cs typeface="+mn-cs"/>
                        </a:rPr>
                        <a:t>hmod</a:t>
                      </a:r>
                      <a:endParaRPr lang="fr-CA" sz="1600" dirty="0"/>
                    </a:p>
                    <a:p>
                      <a:endParaRPr lang="fr-CA" dirty="0"/>
                    </a:p>
                    <a:p>
                      <a:endParaRPr lang="fr-CA" dirty="0"/>
                    </a:p>
                    <a:p>
                      <a:r>
                        <a:rPr lang="fr-CA" dirty="0"/>
                        <a:t>Atelier 2: </a:t>
                      </a:r>
                      <a:r>
                        <a:rPr lang="fr-CA" sz="1600" dirty="0"/>
                        <a:t>0,25 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Atelier 3:</a:t>
                      </a:r>
                      <a:endParaRPr lang="fr-CA" sz="16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dirty="0">
                        <a:solidFill>
                          <a:srgbClr val="0070C0"/>
                        </a:solidFill>
                      </a:endParaRPr>
                    </a:p>
                    <a:p>
                      <a:endParaRPr lang="fr-CA" b="1" dirty="0"/>
                    </a:p>
                    <a:p>
                      <a:r>
                        <a:rPr lang="fr-CA" b="1" dirty="0"/>
                        <a:t>Total 1,3425$</a:t>
                      </a:r>
                      <a:endParaRPr lang="fr-CA" dirty="0"/>
                    </a:p>
                  </a:txBody>
                  <a:tcPr/>
                </a:tc>
                <a:tc>
                  <a:txBody>
                    <a:bodyPr/>
                    <a:lstStyle/>
                    <a:p>
                      <a:r>
                        <a:rPr lang="fr-CA" dirty="0"/>
                        <a:t>Atelier 1: </a:t>
                      </a:r>
                      <a:r>
                        <a:rPr lang="fr-CA" sz="1800" kern="1200" dirty="0">
                          <a:solidFill>
                            <a:schemeClr val="tx1"/>
                          </a:solidFill>
                          <a:latin typeface="+mn-lt"/>
                          <a:ea typeface="+mn-ea"/>
                          <a:cs typeface="+mn-cs"/>
                        </a:rPr>
                        <a:t>0,175 </a:t>
                      </a:r>
                      <a:r>
                        <a:rPr lang="fr-CA" sz="1600" kern="1200" dirty="0" err="1">
                          <a:solidFill>
                            <a:schemeClr val="tx1"/>
                          </a:solidFill>
                          <a:latin typeface="+mn-lt"/>
                          <a:ea typeface="+mn-ea"/>
                          <a:cs typeface="+mn-cs"/>
                        </a:rPr>
                        <a:t>hmod</a:t>
                      </a:r>
                      <a:endParaRPr lang="fr-CA" sz="1600" dirty="0"/>
                    </a:p>
                    <a:p>
                      <a:endParaRPr lang="fr-CA" dirty="0"/>
                    </a:p>
                    <a:p>
                      <a:r>
                        <a:rPr lang="fr-CA" dirty="0"/>
                        <a:t>Atelier 2: </a:t>
                      </a:r>
                      <a:r>
                        <a:rPr lang="fr-CA" sz="1600" kern="1200" dirty="0">
                          <a:solidFill>
                            <a:schemeClr val="tx1"/>
                          </a:solidFill>
                          <a:latin typeface="+mn-lt"/>
                          <a:ea typeface="+mn-ea"/>
                          <a:cs typeface="+mn-cs"/>
                        </a:rPr>
                        <a:t>0,30 h</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Atelier 3: </a:t>
                      </a:r>
                      <a:endParaRPr lang="fr-CA" b="1" dirty="0"/>
                    </a:p>
                    <a:p>
                      <a:endParaRPr lang="fr-CA" b="1" dirty="0"/>
                    </a:p>
                    <a:p>
                      <a:endParaRPr lang="fr-CA" b="1" dirty="0"/>
                    </a:p>
                    <a:p>
                      <a:r>
                        <a:rPr lang="fr-CA" b="1" dirty="0"/>
                        <a:t>Total 1,5675 $</a:t>
                      </a:r>
                    </a:p>
                  </a:txBody>
                  <a:tcPr/>
                </a:tc>
                <a:extLst>
                  <a:ext uri="{0D108BD9-81ED-4DB2-BD59-A6C34878D82A}">
                    <a16:rowId xmlns:a16="http://schemas.microsoft.com/office/drawing/2014/main" val="3668131643"/>
                  </a:ext>
                </a:extLst>
              </a:tr>
              <a:tr h="380901">
                <a:tc>
                  <a:txBody>
                    <a:bodyPr/>
                    <a:lstStyle/>
                    <a:p>
                      <a:r>
                        <a:rPr lang="fr-CA" sz="2000" b="1" dirty="0"/>
                        <a:t>Marge brute</a:t>
                      </a:r>
                      <a:endParaRPr lang="fr-CA" dirty="0"/>
                    </a:p>
                  </a:txBody>
                  <a:tcPr/>
                </a:tc>
                <a:tc>
                  <a:txBody>
                    <a:bodyPr/>
                    <a:lstStyle/>
                    <a:p>
                      <a:r>
                        <a:rPr lang="fr-CA" sz="2000" b="1" dirty="0"/>
                        <a:t>3,18 $</a:t>
                      </a:r>
                      <a:endParaRPr lang="fr-CA" dirty="0"/>
                    </a:p>
                  </a:txBody>
                  <a:tcPr/>
                </a:tc>
                <a:tc>
                  <a:txBody>
                    <a:bodyPr/>
                    <a:lstStyle/>
                    <a:p>
                      <a:r>
                        <a:rPr lang="fr-CA" sz="2000" b="1" dirty="0"/>
                        <a:t>3,66 $</a:t>
                      </a:r>
                      <a:endParaRPr lang="fr-CA" dirty="0"/>
                    </a:p>
                  </a:txBody>
                  <a:tcPr/>
                </a:tc>
                <a:tc>
                  <a:txBody>
                    <a:bodyPr/>
                    <a:lstStyle/>
                    <a:p>
                      <a:r>
                        <a:rPr lang="fr-CA" sz="2000" b="1" dirty="0"/>
                        <a:t>3,93 $</a:t>
                      </a:r>
                    </a:p>
                  </a:txBody>
                  <a:tcPr/>
                </a:tc>
                <a:extLst>
                  <a:ext uri="{0D108BD9-81ED-4DB2-BD59-A6C34878D82A}">
                    <a16:rowId xmlns:a16="http://schemas.microsoft.com/office/drawing/2014/main" val="4280562153"/>
                  </a:ext>
                </a:extLst>
              </a:tr>
            </a:tbl>
          </a:graphicData>
        </a:graphic>
      </p:graphicFrame>
      <p:sp>
        <p:nvSpPr>
          <p:cNvPr id="4" name="Espace réservé du pied de page 3">
            <a:extLst>
              <a:ext uri="{FF2B5EF4-FFF2-40B4-BE49-F238E27FC236}">
                <a16:creationId xmlns:a16="http://schemas.microsoft.com/office/drawing/2014/main" id="{3AED4FAC-01BB-C1F0-174B-EB5C6B0ECBD2}"/>
              </a:ext>
            </a:extLst>
          </p:cNvPr>
          <p:cNvSpPr>
            <a:spLocks noGrp="1"/>
          </p:cNvSpPr>
          <p:nvPr>
            <p:ph type="ftr" sz="quarter" idx="11"/>
          </p:nvPr>
        </p:nvSpPr>
        <p:spPr>
          <a:xfrm rot="16200000">
            <a:off x="10603901" y="3097232"/>
            <a:ext cx="2504492" cy="303343"/>
          </a:xfrm>
        </p:spPr>
        <p:txBody>
          <a:bodyPr/>
          <a:lstStyle/>
          <a:p>
            <a:r>
              <a:rPr lang="pt-BR" dirty="0">
                <a:solidFill>
                  <a:prstClr val="black">
                    <a:tint val="75000"/>
                  </a:prstClr>
                </a:solidFill>
              </a:rPr>
              <a:t>(c) 10904 / S05</a:t>
            </a:r>
            <a:endParaRPr lang="fr-CA" dirty="0">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81D1935C-9FDB-C830-C8A8-2641EB9D255C}"/>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28</a:t>
            </a:fld>
            <a:endParaRPr lang="fr-CA">
              <a:solidFill>
                <a:prstClr val="black">
                  <a:tint val="75000"/>
                </a:prstClr>
              </a:solidFill>
            </a:endParaRPr>
          </a:p>
        </p:txBody>
      </p:sp>
    </p:spTree>
    <p:extLst>
      <p:ext uri="{BB962C8B-B14F-4D97-AF65-F5344CB8AC3E}">
        <p14:creationId xmlns:p14="http://schemas.microsoft.com/office/powerpoint/2010/main" val="1866881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DA96C-16E8-BD0B-2B7A-0CC3D3455DE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46E819B-CCC7-E400-3520-7388325037D0}"/>
              </a:ext>
            </a:extLst>
          </p:cNvPr>
          <p:cNvSpPr>
            <a:spLocks noGrp="1"/>
          </p:cNvSpPr>
          <p:nvPr>
            <p:ph type="title"/>
          </p:nvPr>
        </p:nvSpPr>
        <p:spPr/>
        <p:txBody>
          <a:bodyPr>
            <a:normAutofit/>
          </a:bodyPr>
          <a:lstStyle/>
          <a:p>
            <a:r>
              <a:rPr lang="fr-CA" dirty="0"/>
              <a:t>Analyse- impact sur la marge brute</a:t>
            </a:r>
          </a:p>
        </p:txBody>
      </p:sp>
      <p:graphicFrame>
        <p:nvGraphicFramePr>
          <p:cNvPr id="6" name="Espace réservé du contenu 5">
            <a:extLst>
              <a:ext uri="{FF2B5EF4-FFF2-40B4-BE49-F238E27FC236}">
                <a16:creationId xmlns:a16="http://schemas.microsoft.com/office/drawing/2014/main" id="{BF89B4AF-CEEC-0648-98F1-12C178B11AAA}"/>
              </a:ext>
            </a:extLst>
          </p:cNvPr>
          <p:cNvGraphicFramePr>
            <a:graphicFrameLocks noGrp="1"/>
          </p:cNvGraphicFramePr>
          <p:nvPr>
            <p:ph idx="1"/>
            <p:extLst>
              <p:ext uri="{D42A27DB-BD31-4B8C-83A1-F6EECF244321}">
                <p14:modId xmlns:p14="http://schemas.microsoft.com/office/powerpoint/2010/main" val="4089018081"/>
              </p:ext>
            </p:extLst>
          </p:nvPr>
        </p:nvGraphicFramePr>
        <p:xfrm>
          <a:off x="853342" y="1822730"/>
          <a:ext cx="9659815" cy="1798320"/>
        </p:xfrm>
        <a:graphic>
          <a:graphicData uri="http://schemas.openxmlformats.org/drawingml/2006/table">
            <a:tbl>
              <a:tblPr firstRow="1" bandRow="1">
                <a:tableStyleId>{5940675A-B579-460E-94D1-54222C63F5DA}</a:tableStyleId>
              </a:tblPr>
              <a:tblGrid>
                <a:gridCol w="3575538">
                  <a:extLst>
                    <a:ext uri="{9D8B030D-6E8A-4147-A177-3AD203B41FA5}">
                      <a16:colId xmlns:a16="http://schemas.microsoft.com/office/drawing/2014/main" val="3706092598"/>
                    </a:ext>
                  </a:extLst>
                </a:gridCol>
                <a:gridCol w="1809262">
                  <a:extLst>
                    <a:ext uri="{9D8B030D-6E8A-4147-A177-3AD203B41FA5}">
                      <a16:colId xmlns:a16="http://schemas.microsoft.com/office/drawing/2014/main" val="537410454"/>
                    </a:ext>
                  </a:extLst>
                </a:gridCol>
                <a:gridCol w="1953846">
                  <a:extLst>
                    <a:ext uri="{9D8B030D-6E8A-4147-A177-3AD203B41FA5}">
                      <a16:colId xmlns:a16="http://schemas.microsoft.com/office/drawing/2014/main" val="827082003"/>
                    </a:ext>
                  </a:extLst>
                </a:gridCol>
                <a:gridCol w="2321169">
                  <a:extLst>
                    <a:ext uri="{9D8B030D-6E8A-4147-A177-3AD203B41FA5}">
                      <a16:colId xmlns:a16="http://schemas.microsoft.com/office/drawing/2014/main" val="420115573"/>
                    </a:ext>
                  </a:extLst>
                </a:gridCol>
              </a:tblGrid>
              <a:tr h="376277">
                <a:tc>
                  <a:txBody>
                    <a:bodyPr/>
                    <a:lstStyle/>
                    <a:p>
                      <a:endParaRPr lang="fr-CA" sz="1800" dirty="0"/>
                    </a:p>
                  </a:txBody>
                  <a:tcPr/>
                </a:tc>
                <a:tc>
                  <a:txBody>
                    <a:bodyPr/>
                    <a:lstStyle/>
                    <a:p>
                      <a:r>
                        <a:rPr lang="fr-CA" sz="2000" b="1" dirty="0"/>
                        <a:t>Pâtes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Pizzas margarita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t>Pizzas toutes garnis</a:t>
                      </a:r>
                    </a:p>
                  </a:txBody>
                  <a:tcPr/>
                </a:tc>
                <a:extLst>
                  <a:ext uri="{0D108BD9-81ED-4DB2-BD59-A6C34878D82A}">
                    <a16:rowId xmlns:a16="http://schemas.microsoft.com/office/drawing/2014/main" val="1304552256"/>
                  </a:ext>
                </a:extLst>
              </a:tr>
              <a:tr h="352156">
                <a:tc>
                  <a:txBody>
                    <a:bodyPr/>
                    <a:lstStyle/>
                    <a:p>
                      <a:r>
                        <a:rPr lang="fr-CA" sz="2000" dirty="0"/>
                        <a:t>Marge brute</a:t>
                      </a:r>
                    </a:p>
                    <a:p>
                      <a:r>
                        <a:rPr lang="fr-CA" sz="2000" dirty="0"/>
                        <a:t>Répartition selon les unités</a:t>
                      </a:r>
                    </a:p>
                  </a:txBody>
                  <a:tcPr/>
                </a:tc>
                <a:tc>
                  <a:txBody>
                    <a:bodyPr/>
                    <a:lstStyle/>
                    <a:p>
                      <a:r>
                        <a:rPr lang="fr-CA" sz="2000" dirty="0"/>
                        <a:t>2,50 $</a:t>
                      </a:r>
                    </a:p>
                  </a:txBody>
                  <a:tcPr/>
                </a:tc>
                <a:tc>
                  <a:txBody>
                    <a:bodyPr/>
                    <a:lstStyle/>
                    <a:p>
                      <a:r>
                        <a:rPr lang="fr-CA" sz="2000" dirty="0"/>
                        <a:t>4,00 $</a:t>
                      </a:r>
                    </a:p>
                  </a:txBody>
                  <a:tcPr/>
                </a:tc>
                <a:tc>
                  <a:txBody>
                    <a:bodyPr/>
                    <a:lstStyle/>
                    <a:p>
                      <a:r>
                        <a:rPr lang="fr-CA" sz="2000" dirty="0"/>
                        <a:t>4,50 $</a:t>
                      </a:r>
                    </a:p>
                  </a:txBody>
                  <a:tcPr/>
                </a:tc>
                <a:extLst>
                  <a:ext uri="{0D108BD9-81ED-4DB2-BD59-A6C34878D82A}">
                    <a16:rowId xmlns:a16="http://schemas.microsoft.com/office/drawing/2014/main" val="341555048"/>
                  </a:ext>
                </a:extLst>
              </a:tr>
              <a:tr h="394592">
                <a:tc>
                  <a:txBody>
                    <a:bodyPr/>
                    <a:lstStyle/>
                    <a:p>
                      <a:r>
                        <a:rPr lang="fr-CA" sz="2000" b="1" dirty="0"/>
                        <a:t>Marge brute</a:t>
                      </a:r>
                    </a:p>
                    <a:p>
                      <a:r>
                        <a:rPr lang="fr-CA" sz="2000" b="1" dirty="0"/>
                        <a:t>Imputation- centres de coûts </a:t>
                      </a:r>
                      <a:endParaRPr lang="fr-CA" dirty="0"/>
                    </a:p>
                  </a:txBody>
                  <a:tcPr/>
                </a:tc>
                <a:tc>
                  <a:txBody>
                    <a:bodyPr/>
                    <a:lstStyle/>
                    <a:p>
                      <a:r>
                        <a:rPr lang="fr-CA" sz="2000" b="1" dirty="0"/>
                        <a:t>3,18 $</a:t>
                      </a:r>
                      <a:endParaRPr lang="fr-CA" dirty="0"/>
                    </a:p>
                  </a:txBody>
                  <a:tcPr/>
                </a:tc>
                <a:tc>
                  <a:txBody>
                    <a:bodyPr/>
                    <a:lstStyle/>
                    <a:p>
                      <a:r>
                        <a:rPr lang="fr-CA" sz="2000" b="1" dirty="0"/>
                        <a:t>3,66 $</a:t>
                      </a:r>
                      <a:endParaRPr lang="fr-CA" dirty="0"/>
                    </a:p>
                  </a:txBody>
                  <a:tcPr/>
                </a:tc>
                <a:tc>
                  <a:txBody>
                    <a:bodyPr/>
                    <a:lstStyle/>
                    <a:p>
                      <a:r>
                        <a:rPr lang="fr-CA" sz="2000" b="1" dirty="0"/>
                        <a:t>3,93 $</a:t>
                      </a:r>
                    </a:p>
                  </a:txBody>
                  <a:tcPr/>
                </a:tc>
                <a:extLst>
                  <a:ext uri="{0D108BD9-81ED-4DB2-BD59-A6C34878D82A}">
                    <a16:rowId xmlns:a16="http://schemas.microsoft.com/office/drawing/2014/main" val="4280562153"/>
                  </a:ext>
                </a:extLst>
              </a:tr>
            </a:tbl>
          </a:graphicData>
        </a:graphic>
      </p:graphicFrame>
      <p:sp>
        <p:nvSpPr>
          <p:cNvPr id="4" name="Espace réservé du pied de page 3">
            <a:extLst>
              <a:ext uri="{FF2B5EF4-FFF2-40B4-BE49-F238E27FC236}">
                <a16:creationId xmlns:a16="http://schemas.microsoft.com/office/drawing/2014/main" id="{1D17D589-7920-4528-12E2-5C6535E431D6}"/>
              </a:ext>
            </a:extLst>
          </p:cNvPr>
          <p:cNvSpPr>
            <a:spLocks noGrp="1"/>
          </p:cNvSpPr>
          <p:nvPr>
            <p:ph type="ftr" sz="quarter" idx="11"/>
          </p:nvPr>
        </p:nvSpPr>
        <p:spPr>
          <a:xfrm rot="16200000">
            <a:off x="10603901" y="3097232"/>
            <a:ext cx="2504492" cy="303343"/>
          </a:xfrm>
        </p:spPr>
        <p:txBody>
          <a:bodyPr/>
          <a:lstStyle/>
          <a:p>
            <a:r>
              <a:rPr lang="pt-BR" dirty="0">
                <a:solidFill>
                  <a:prstClr val="black">
                    <a:tint val="75000"/>
                  </a:prstClr>
                </a:solidFill>
              </a:rPr>
              <a:t>(c) 10904 / S05</a:t>
            </a:r>
            <a:endParaRPr lang="fr-CA" dirty="0">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EC8C0E1C-8458-C30E-271F-D8C23FA9E7AD}"/>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29</a:t>
            </a:fld>
            <a:endParaRPr lang="fr-CA">
              <a:solidFill>
                <a:prstClr val="black">
                  <a:tint val="75000"/>
                </a:prstClr>
              </a:solidFill>
            </a:endParaRPr>
          </a:p>
        </p:txBody>
      </p:sp>
      <p:sp>
        <p:nvSpPr>
          <p:cNvPr id="58" name="ZoneTexte 57">
            <a:extLst>
              <a:ext uri="{FF2B5EF4-FFF2-40B4-BE49-F238E27FC236}">
                <a16:creationId xmlns:a16="http://schemas.microsoft.com/office/drawing/2014/main" id="{7CBEE3B4-9FB2-65A5-451B-5247B193EC02}"/>
              </a:ext>
            </a:extLst>
          </p:cNvPr>
          <p:cNvSpPr txBox="1"/>
          <p:nvPr/>
        </p:nvSpPr>
        <p:spPr>
          <a:xfrm>
            <a:off x="759384" y="4025177"/>
            <a:ext cx="9847729" cy="461665"/>
          </a:xfrm>
          <a:prstGeom prst="rect">
            <a:avLst/>
          </a:prstGeom>
          <a:noFill/>
        </p:spPr>
        <p:txBody>
          <a:bodyPr wrap="square" rtlCol="0">
            <a:spAutoFit/>
          </a:bodyPr>
          <a:lstStyle/>
          <a:p>
            <a:r>
              <a:rPr lang="fr-CA" sz="2400" dirty="0"/>
              <a:t>Comment expliquer l'amélioration de la marge brute des pâtes à pizza ?</a:t>
            </a:r>
          </a:p>
        </p:txBody>
      </p:sp>
      <p:pic>
        <p:nvPicPr>
          <p:cNvPr id="7" name="Graphique 6" descr="Flèche vers le bas avec un remplissage uni">
            <a:extLst>
              <a:ext uri="{FF2B5EF4-FFF2-40B4-BE49-F238E27FC236}">
                <a16:creationId xmlns:a16="http://schemas.microsoft.com/office/drawing/2014/main" id="{BF1F2179-AA3B-16B0-32C3-265F3DA097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4137" y="3081096"/>
            <a:ext cx="461666" cy="461666"/>
          </a:xfrm>
          <a:prstGeom prst="rect">
            <a:avLst/>
          </a:prstGeom>
        </p:spPr>
      </p:pic>
      <p:pic>
        <p:nvPicPr>
          <p:cNvPr id="9" name="Graphique 8" descr="Flèche vers le bas avec un remplissage uni">
            <a:extLst>
              <a:ext uri="{FF2B5EF4-FFF2-40B4-BE49-F238E27FC236}">
                <a16:creationId xmlns:a16="http://schemas.microsoft.com/office/drawing/2014/main" id="{0662F28A-1E96-55F5-E65A-74B05ECD35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85337" y="3081096"/>
            <a:ext cx="461666" cy="461666"/>
          </a:xfrm>
          <a:prstGeom prst="rect">
            <a:avLst/>
          </a:prstGeom>
        </p:spPr>
      </p:pic>
      <p:pic>
        <p:nvPicPr>
          <p:cNvPr id="11" name="Graphique 10" descr="Flèche vers le bas avec un remplissage uni">
            <a:extLst>
              <a:ext uri="{FF2B5EF4-FFF2-40B4-BE49-F238E27FC236}">
                <a16:creationId xmlns:a16="http://schemas.microsoft.com/office/drawing/2014/main" id="{CF1777E2-7AE9-93B0-12B1-4AF3B2B703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5221582" y="3085569"/>
            <a:ext cx="461666" cy="461666"/>
          </a:xfrm>
          <a:prstGeom prst="rect">
            <a:avLst/>
          </a:prstGeom>
        </p:spPr>
      </p:pic>
    </p:spTree>
    <p:extLst>
      <p:ext uri="{BB962C8B-B14F-4D97-AF65-F5344CB8AC3E}">
        <p14:creationId xmlns:p14="http://schemas.microsoft.com/office/powerpoint/2010/main" val="2452138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custDataLst>
              <p:tags r:id="rId2"/>
            </p:custDataLst>
          </p:nvPr>
        </p:nvSpPr>
        <p:spPr/>
        <p:txBody>
          <a:bodyPr vert="horz" anchor="ctr">
            <a:noAutofit/>
          </a:bodyPr>
          <a:lstStyle/>
          <a:p>
            <a:pPr algn="ctr"/>
            <a:r>
              <a:rPr lang="fr-CA" sz="4000"/>
              <a:t>Avantages de calculer un taux d’imputation par </a:t>
            </a:r>
            <a:r>
              <a:rPr lang="fr-CA" sz="4000" u="sng"/>
              <a:t>plusieurs</a:t>
            </a:r>
            <a:r>
              <a:rPr lang="fr-CA" sz="4000"/>
              <a:t> centres de coûts </a:t>
            </a:r>
          </a:p>
        </p:txBody>
      </p:sp>
      <p:sp>
        <p:nvSpPr>
          <p:cNvPr id="4" name="Espace réservé du contenu 3"/>
          <p:cNvSpPr>
            <a:spLocks noGrp="1"/>
          </p:cNvSpPr>
          <p:nvPr>
            <p:ph idx="1"/>
            <p:custDataLst>
              <p:tags r:id="rId3"/>
            </p:custDataLst>
          </p:nvPr>
        </p:nvSpPr>
        <p:spPr>
          <a:xfrm>
            <a:off x="838200" y="1641275"/>
            <a:ext cx="10515600" cy="4546874"/>
          </a:xfrm>
        </p:spPr>
        <p:txBody>
          <a:bodyPr>
            <a:normAutofit fontScale="77500" lnSpcReduction="20000"/>
          </a:bodyPr>
          <a:lstStyle/>
          <a:p>
            <a:pPr>
              <a:lnSpc>
                <a:spcPct val="120000"/>
              </a:lnSpc>
              <a:spcAft>
                <a:spcPts val="600"/>
              </a:spcAft>
            </a:pPr>
            <a:r>
              <a:rPr lang="fr-CA" dirty="0"/>
              <a:t>L’utilisation de plusieurs bases d’imputation (une par centre de coûts) peut permettre le calcul d’un coût de fabrication plus exact, car on cherchera à trouver des liens significatifs entre la fabrication des produits qui passe dans chaque centre de coûts et la consommation des ressources.</a:t>
            </a:r>
          </a:p>
          <a:p>
            <a:pPr>
              <a:lnSpc>
                <a:spcPct val="120000"/>
              </a:lnSpc>
              <a:spcBef>
                <a:spcPts val="0"/>
              </a:spcBef>
              <a:spcAft>
                <a:spcPts val="600"/>
              </a:spcAft>
            </a:pPr>
            <a:r>
              <a:rPr lang="fr-CA" dirty="0"/>
              <a:t>Cette méthode est utile pour:</a:t>
            </a:r>
          </a:p>
          <a:p>
            <a:pPr lvl="1">
              <a:lnSpc>
                <a:spcPct val="120000"/>
              </a:lnSpc>
            </a:pPr>
            <a:r>
              <a:rPr lang="fr-CA" sz="2600" dirty="0"/>
              <a:t>Faciliter le contrôle des coûts par centre de coûts</a:t>
            </a:r>
          </a:p>
          <a:p>
            <a:pPr lvl="1">
              <a:lnSpc>
                <a:spcPct val="120000"/>
              </a:lnSpc>
            </a:pPr>
            <a:r>
              <a:rPr lang="fr-CA" sz="2600" dirty="0"/>
              <a:t>Permettre l’évaluation de la performance de chacun des centres de coûts individuellement</a:t>
            </a:r>
          </a:p>
          <a:p>
            <a:pPr lvl="1">
              <a:lnSpc>
                <a:spcPct val="120000"/>
              </a:lnSpc>
              <a:spcAft>
                <a:spcPts val="600"/>
              </a:spcAft>
            </a:pPr>
            <a:r>
              <a:rPr lang="fr-CA" sz="2600" dirty="0"/>
              <a:t>Améliorer la prise de décisions</a:t>
            </a:r>
          </a:p>
          <a:p>
            <a:pPr marL="265113" lvl="1" indent="-265113">
              <a:lnSpc>
                <a:spcPct val="120000"/>
              </a:lnSpc>
            </a:pPr>
            <a:r>
              <a:rPr lang="fr-CA" sz="2800" dirty="0"/>
              <a:t>Par conséquent, cette façon de procéder peut être envisagée lorsque le lien entre les frais à imputer et la base d’imputation choisie n’est pas le même pour chaque centre de coûts. Cela permet d’améliorer la répartition des FGF.</a:t>
            </a:r>
          </a:p>
          <a:p>
            <a:pPr lvl="1"/>
            <a:endParaRPr lang="fr-CA" sz="2600" dirty="0"/>
          </a:p>
          <a:p>
            <a:endParaRPr lang="fr-CA" dirty="0"/>
          </a:p>
        </p:txBody>
      </p:sp>
      <p:sp>
        <p:nvSpPr>
          <p:cNvPr id="2" name="Espace réservé du pied de page 6">
            <a:extLst>
              <a:ext uri="{FF2B5EF4-FFF2-40B4-BE49-F238E27FC236}">
                <a16:creationId xmlns:a16="http://schemas.microsoft.com/office/drawing/2014/main" id="{29288F49-0138-5662-2E03-C9D2BAC96F81}"/>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3" name="Espace réservé du numéro de diapositive 2">
            <a:extLst>
              <a:ext uri="{FF2B5EF4-FFF2-40B4-BE49-F238E27FC236}">
                <a16:creationId xmlns:a16="http://schemas.microsoft.com/office/drawing/2014/main" id="{26109E85-995A-9379-34EF-6165F000869C}"/>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30</a:t>
            </a:fld>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946653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3D9FF2-4C55-9A60-9B51-B1FC2030C714}"/>
              </a:ext>
            </a:extLst>
          </p:cNvPr>
          <p:cNvSpPr>
            <a:spLocks noGrp="1"/>
          </p:cNvSpPr>
          <p:nvPr>
            <p:ph type="title"/>
            <p:custDataLst>
              <p:tags r:id="rId1"/>
            </p:custDataLst>
          </p:nvPr>
        </p:nvSpPr>
        <p:spPr>
          <a:xfrm>
            <a:off x="556715" y="275253"/>
            <a:ext cx="11230970" cy="1031881"/>
          </a:xfrm>
        </p:spPr>
        <p:txBody>
          <a:bodyPr>
            <a:normAutofit fontScale="90000"/>
          </a:bodyPr>
          <a:lstStyle/>
          <a:p>
            <a:pPr algn="ctr"/>
            <a:r>
              <a:rPr lang="fr-CA" dirty="0"/>
              <a:t>Impact de l’importance relative des charges indirectes</a:t>
            </a:r>
          </a:p>
        </p:txBody>
      </p:sp>
      <p:sp>
        <p:nvSpPr>
          <p:cNvPr id="3" name="Espace réservé du contenu 2">
            <a:extLst>
              <a:ext uri="{FF2B5EF4-FFF2-40B4-BE49-F238E27FC236}">
                <a16:creationId xmlns:a16="http://schemas.microsoft.com/office/drawing/2014/main" id="{D409FFB4-98EB-7178-333B-8430EFDF4908}"/>
              </a:ext>
            </a:extLst>
          </p:cNvPr>
          <p:cNvSpPr>
            <a:spLocks noGrp="1"/>
          </p:cNvSpPr>
          <p:nvPr>
            <p:ph sz="half" idx="1"/>
            <p:custDataLst>
              <p:tags r:id="rId2"/>
            </p:custDataLst>
          </p:nvPr>
        </p:nvSpPr>
        <p:spPr>
          <a:xfrm>
            <a:off x="838200" y="1598769"/>
            <a:ext cx="5334000" cy="4578194"/>
          </a:xfrm>
        </p:spPr>
        <p:txBody>
          <a:bodyPr>
            <a:normAutofit/>
          </a:bodyPr>
          <a:lstStyle/>
          <a:p>
            <a:pPr algn="ctr"/>
            <a:r>
              <a:rPr lang="fr-CA" sz="2400" b="1" dirty="0"/>
              <a:t>Forte</a:t>
            </a:r>
            <a:r>
              <a:rPr lang="fr-CA" sz="2400" dirty="0"/>
              <a:t> proportion de charges indirectes</a:t>
            </a:r>
          </a:p>
        </p:txBody>
      </p:sp>
      <p:sp>
        <p:nvSpPr>
          <p:cNvPr id="4" name="Espace réservé du contenu 3">
            <a:extLst>
              <a:ext uri="{FF2B5EF4-FFF2-40B4-BE49-F238E27FC236}">
                <a16:creationId xmlns:a16="http://schemas.microsoft.com/office/drawing/2014/main" id="{185628FA-9FBA-E20C-F5AC-8148F2AEBC9C}"/>
              </a:ext>
            </a:extLst>
          </p:cNvPr>
          <p:cNvSpPr>
            <a:spLocks noGrp="1"/>
          </p:cNvSpPr>
          <p:nvPr>
            <p:ph sz="half" idx="2"/>
            <p:custDataLst>
              <p:tags r:id="rId3"/>
            </p:custDataLst>
          </p:nvPr>
        </p:nvSpPr>
        <p:spPr>
          <a:xfrm>
            <a:off x="6172200" y="1598769"/>
            <a:ext cx="5668076" cy="4578194"/>
          </a:xfrm>
        </p:spPr>
        <p:txBody>
          <a:bodyPr>
            <a:normAutofit/>
          </a:bodyPr>
          <a:lstStyle/>
          <a:p>
            <a:pPr algn="ctr"/>
            <a:r>
              <a:rPr lang="fr-CA" sz="2400" b="1"/>
              <a:t>Faible</a:t>
            </a:r>
            <a:r>
              <a:rPr lang="fr-CA" sz="2400"/>
              <a:t> proportion de charges indirectes</a:t>
            </a:r>
          </a:p>
        </p:txBody>
      </p:sp>
      <p:sp>
        <p:nvSpPr>
          <p:cNvPr id="6" name="Espace réservé du numéro de diapositive 5">
            <a:extLst>
              <a:ext uri="{FF2B5EF4-FFF2-40B4-BE49-F238E27FC236}">
                <a16:creationId xmlns:a16="http://schemas.microsoft.com/office/drawing/2014/main" id="{5530FBA4-7512-07E4-DF3F-068F8B28A5C3}"/>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31</a:t>
            </a:fld>
            <a:endParaRPr lang="fr-CA">
              <a:solidFill>
                <a:prstClr val="black">
                  <a:tint val="75000"/>
                </a:prstClr>
              </a:solidFill>
            </a:endParaRPr>
          </a:p>
        </p:txBody>
      </p:sp>
      <p:graphicFrame>
        <p:nvGraphicFramePr>
          <p:cNvPr id="8" name="Tableau 8">
            <a:extLst>
              <a:ext uri="{FF2B5EF4-FFF2-40B4-BE49-F238E27FC236}">
                <a16:creationId xmlns:a16="http://schemas.microsoft.com/office/drawing/2014/main" id="{09753B42-FDD5-A50F-1E46-4BDEED1D1AF1}"/>
              </a:ext>
            </a:extLst>
          </p:cNvPr>
          <p:cNvGraphicFramePr>
            <a:graphicFrameLocks noGrp="1"/>
          </p:cNvGraphicFramePr>
          <p:nvPr>
            <p:custDataLst>
              <p:tags r:id="rId5"/>
            </p:custDataLst>
            <p:extLst>
              <p:ext uri="{D42A27DB-BD31-4B8C-83A1-F6EECF244321}">
                <p14:modId xmlns:p14="http://schemas.microsoft.com/office/powerpoint/2010/main" val="2128674331"/>
              </p:ext>
            </p:extLst>
          </p:nvPr>
        </p:nvGraphicFramePr>
        <p:xfrm>
          <a:off x="464947" y="2025138"/>
          <a:ext cx="5631053" cy="1891542"/>
        </p:xfrm>
        <a:graphic>
          <a:graphicData uri="http://schemas.openxmlformats.org/drawingml/2006/table">
            <a:tbl>
              <a:tblPr firstRow="1" bandRow="1">
                <a:tableStyleId>{5C22544A-7EE6-4342-B048-85BDC9FD1C3A}</a:tableStyleId>
              </a:tblPr>
              <a:tblGrid>
                <a:gridCol w="1513248">
                  <a:extLst>
                    <a:ext uri="{9D8B030D-6E8A-4147-A177-3AD203B41FA5}">
                      <a16:colId xmlns:a16="http://schemas.microsoft.com/office/drawing/2014/main" val="3706502125"/>
                    </a:ext>
                  </a:extLst>
                </a:gridCol>
                <a:gridCol w="1961990">
                  <a:extLst>
                    <a:ext uri="{9D8B030D-6E8A-4147-A177-3AD203B41FA5}">
                      <a16:colId xmlns:a16="http://schemas.microsoft.com/office/drawing/2014/main" val="3391621309"/>
                    </a:ext>
                  </a:extLst>
                </a:gridCol>
                <a:gridCol w="2155815">
                  <a:extLst>
                    <a:ext uri="{9D8B030D-6E8A-4147-A177-3AD203B41FA5}">
                      <a16:colId xmlns:a16="http://schemas.microsoft.com/office/drawing/2014/main" val="2369180657"/>
                    </a:ext>
                  </a:extLst>
                </a:gridCol>
              </a:tblGrid>
              <a:tr h="420205">
                <a:tc>
                  <a:txBody>
                    <a:bodyPr/>
                    <a:lstStyle/>
                    <a:p>
                      <a:endParaRPr lang="fr-CA" dirty="0"/>
                    </a:p>
                  </a:txBody>
                  <a:tcPr/>
                </a:tc>
                <a:tc>
                  <a:txBody>
                    <a:bodyPr/>
                    <a:lstStyle/>
                    <a:p>
                      <a:r>
                        <a:rPr lang="fr-CA" dirty="0"/>
                        <a:t>Total</a:t>
                      </a:r>
                    </a:p>
                  </a:txBody>
                  <a:tcPr/>
                </a:tc>
                <a:tc>
                  <a:txBody>
                    <a:bodyPr/>
                    <a:lstStyle/>
                    <a:p>
                      <a:pPr algn="ctr"/>
                      <a:r>
                        <a:rPr lang="fr-CA"/>
                        <a:t>Proportion</a:t>
                      </a:r>
                    </a:p>
                  </a:txBody>
                  <a:tcPr/>
                </a:tc>
                <a:extLst>
                  <a:ext uri="{0D108BD9-81ED-4DB2-BD59-A6C34878D82A}">
                    <a16:rowId xmlns:a16="http://schemas.microsoft.com/office/drawing/2014/main" val="583171138"/>
                  </a:ext>
                </a:extLst>
              </a:tr>
              <a:tr h="343577">
                <a:tc>
                  <a:txBody>
                    <a:bodyPr/>
                    <a:lstStyle/>
                    <a:p>
                      <a:pPr algn="ctr"/>
                      <a:r>
                        <a:rPr lang="fr-CA" dirty="0"/>
                        <a:t>MP</a:t>
                      </a:r>
                    </a:p>
                  </a:txBody>
                  <a:tcPr/>
                </a:tc>
                <a:tc>
                  <a:txBody>
                    <a:bodyPr/>
                    <a:lstStyle/>
                    <a:p>
                      <a:pPr algn="ctr" rtl="0" fontAlgn="ctr"/>
                      <a:r>
                        <a:rPr lang="fr-CA" sz="1800" b="0" i="0" u="none" strike="noStrike" dirty="0">
                          <a:solidFill>
                            <a:srgbClr val="000000"/>
                          </a:solidFill>
                          <a:effectLst/>
                          <a:latin typeface="Calibri" panose="020F0502020204030204" pitchFamily="34" charset="0"/>
                        </a:rPr>
                        <a:t>100 000 $ </a:t>
                      </a:r>
                    </a:p>
                  </a:txBody>
                  <a:tcPr marL="7620" marR="7620" marT="7620" marB="0" anchor="ctr"/>
                </a:tc>
                <a:tc>
                  <a:txBody>
                    <a:bodyPr/>
                    <a:lstStyle/>
                    <a:p>
                      <a:pPr algn="ctr" rtl="0" fontAlgn="ctr"/>
                      <a:r>
                        <a:rPr lang="fr-CA" sz="1800" b="0" i="0" u="none" strike="noStrike" dirty="0">
                          <a:solidFill>
                            <a:srgbClr val="000000"/>
                          </a:solidFill>
                          <a:effectLst/>
                          <a:latin typeface="Calibri" panose="020F0502020204030204" pitchFamily="34" charset="0"/>
                        </a:rPr>
                        <a:t>5 %</a:t>
                      </a:r>
                    </a:p>
                  </a:txBody>
                  <a:tcPr marL="7620" marR="7620" marT="7620" marB="0" anchor="ctr"/>
                </a:tc>
                <a:extLst>
                  <a:ext uri="{0D108BD9-81ED-4DB2-BD59-A6C34878D82A}">
                    <a16:rowId xmlns:a16="http://schemas.microsoft.com/office/drawing/2014/main" val="1709837459"/>
                  </a:ext>
                </a:extLst>
              </a:tr>
              <a:tr h="374057">
                <a:tc>
                  <a:txBody>
                    <a:bodyPr/>
                    <a:lstStyle/>
                    <a:p>
                      <a:pPr algn="ctr"/>
                      <a:r>
                        <a:rPr lang="fr-CA"/>
                        <a:t>MOD</a:t>
                      </a:r>
                    </a:p>
                  </a:txBody>
                  <a:tcPr/>
                </a:tc>
                <a:tc>
                  <a:txBody>
                    <a:bodyPr/>
                    <a:lstStyle/>
                    <a:p>
                      <a:pPr algn="ctr" rtl="0" fontAlgn="ctr"/>
                      <a:r>
                        <a:rPr lang="fr-CA" sz="1800" b="0" i="0" u="none" strike="noStrike" dirty="0">
                          <a:solidFill>
                            <a:srgbClr val="000000"/>
                          </a:solidFill>
                          <a:effectLst/>
                          <a:latin typeface="Calibri" panose="020F0502020204030204" pitchFamily="34" charset="0"/>
                        </a:rPr>
                        <a:t>200 000 $ </a:t>
                      </a:r>
                    </a:p>
                  </a:txBody>
                  <a:tcPr marL="7620" marR="7620" marT="7620" marB="0" anchor="ctr"/>
                </a:tc>
                <a:tc>
                  <a:txBody>
                    <a:bodyPr/>
                    <a:lstStyle/>
                    <a:p>
                      <a:pPr algn="ctr" rtl="0" fontAlgn="ctr"/>
                      <a:r>
                        <a:rPr lang="fr-CA" sz="1800" b="0" i="0" u="none" strike="noStrike" dirty="0">
                          <a:solidFill>
                            <a:srgbClr val="000000"/>
                          </a:solidFill>
                          <a:effectLst/>
                          <a:latin typeface="Calibri" panose="020F0502020204030204" pitchFamily="34" charset="0"/>
                        </a:rPr>
                        <a:t>10 %</a:t>
                      </a:r>
                    </a:p>
                  </a:txBody>
                  <a:tcPr marL="7620" marR="7620" marT="7620" marB="0" anchor="ctr"/>
                </a:tc>
                <a:extLst>
                  <a:ext uri="{0D108BD9-81ED-4DB2-BD59-A6C34878D82A}">
                    <a16:rowId xmlns:a16="http://schemas.microsoft.com/office/drawing/2014/main" val="2993965807"/>
                  </a:ext>
                </a:extLst>
              </a:tr>
              <a:tr h="365760">
                <a:tc>
                  <a:txBody>
                    <a:bodyPr/>
                    <a:lstStyle/>
                    <a:p>
                      <a:pPr algn="ctr"/>
                      <a:r>
                        <a:rPr lang="fr-CA"/>
                        <a:t>FGF</a:t>
                      </a:r>
                    </a:p>
                  </a:txBody>
                  <a:tcPr/>
                </a:tc>
                <a:tc>
                  <a:txBody>
                    <a:bodyPr/>
                    <a:lstStyle/>
                    <a:p>
                      <a:pPr algn="ctr" rtl="0" fontAlgn="ctr"/>
                      <a:r>
                        <a:rPr lang="fr-CA" sz="1800" b="0" i="0" u="sng" strike="noStrike" dirty="0">
                          <a:solidFill>
                            <a:srgbClr val="000000"/>
                          </a:solidFill>
                          <a:effectLst/>
                          <a:latin typeface="Calibri" panose="020F0502020204030204" pitchFamily="34" charset="0"/>
                        </a:rPr>
                        <a:t>1 700 000 $ </a:t>
                      </a:r>
                    </a:p>
                  </a:txBody>
                  <a:tcPr marL="7620" marR="7620" marT="7620" marB="0" anchor="ctr"/>
                </a:tc>
                <a:tc>
                  <a:txBody>
                    <a:bodyPr/>
                    <a:lstStyle/>
                    <a:p>
                      <a:pPr algn="ctr" rtl="0" fontAlgn="ctr"/>
                      <a:r>
                        <a:rPr lang="fr-CA" sz="1800" b="0" i="0" u="none" strike="noStrike" dirty="0">
                          <a:solidFill>
                            <a:srgbClr val="C00000"/>
                          </a:solidFill>
                          <a:effectLst/>
                          <a:latin typeface="Calibri" panose="020F0502020204030204" pitchFamily="34" charset="0"/>
                        </a:rPr>
                        <a:t>85 %</a:t>
                      </a:r>
                    </a:p>
                  </a:txBody>
                  <a:tcPr marL="7620" marR="7620" marT="7620" marB="0" anchor="ctr"/>
                </a:tc>
                <a:extLst>
                  <a:ext uri="{0D108BD9-81ED-4DB2-BD59-A6C34878D82A}">
                    <a16:rowId xmlns:a16="http://schemas.microsoft.com/office/drawing/2014/main" val="1735866916"/>
                  </a:ext>
                </a:extLst>
              </a:tr>
              <a:tr h="198120">
                <a:tc>
                  <a:txBody>
                    <a:bodyPr/>
                    <a:lstStyle/>
                    <a:p>
                      <a:pPr algn="ctr"/>
                      <a:endParaRPr lang="fr-CA"/>
                    </a:p>
                  </a:txBody>
                  <a:tcPr/>
                </a:tc>
                <a:tc>
                  <a:txBody>
                    <a:bodyPr/>
                    <a:lstStyle/>
                    <a:p>
                      <a:pPr algn="ctr" rtl="0" fontAlgn="ctr"/>
                      <a:r>
                        <a:rPr lang="fr-CA" sz="1800" b="0" i="0" u="none" strike="noStrike" dirty="0">
                          <a:solidFill>
                            <a:srgbClr val="000000"/>
                          </a:solidFill>
                          <a:effectLst/>
                          <a:latin typeface="Calibri" panose="020F0502020204030204" pitchFamily="34" charset="0"/>
                        </a:rPr>
                        <a:t>2 000 000 $ </a:t>
                      </a:r>
                    </a:p>
                  </a:txBody>
                  <a:tcPr marL="7620" marR="7620" marT="7620" marB="0" anchor="ctr"/>
                </a:tc>
                <a:tc>
                  <a:txBody>
                    <a:bodyPr/>
                    <a:lstStyle/>
                    <a:p>
                      <a:pPr algn="ctr" fontAlgn="t"/>
                      <a:r>
                        <a:rPr lang="fr-CA" sz="1800" b="0" i="0" u="none" strike="noStrike" dirty="0">
                          <a:solidFill>
                            <a:srgbClr val="000000"/>
                          </a:solidFill>
                          <a:effectLst/>
                          <a:latin typeface="Arial" panose="020B0604020202020204" pitchFamily="34" charset="0"/>
                        </a:rPr>
                        <a:t> </a:t>
                      </a:r>
                    </a:p>
                  </a:txBody>
                  <a:tcPr marL="7620" marR="7620" marT="7620" marB="0"/>
                </a:tc>
                <a:extLst>
                  <a:ext uri="{0D108BD9-81ED-4DB2-BD59-A6C34878D82A}">
                    <a16:rowId xmlns:a16="http://schemas.microsoft.com/office/drawing/2014/main" val="2242772909"/>
                  </a:ext>
                </a:extLst>
              </a:tr>
            </a:tbl>
          </a:graphicData>
        </a:graphic>
      </p:graphicFrame>
      <p:graphicFrame>
        <p:nvGraphicFramePr>
          <p:cNvPr id="9" name="Tableau 8">
            <a:extLst>
              <a:ext uri="{FF2B5EF4-FFF2-40B4-BE49-F238E27FC236}">
                <a16:creationId xmlns:a16="http://schemas.microsoft.com/office/drawing/2014/main" id="{53E114C4-9DED-E047-59FD-07A3B770C58E}"/>
              </a:ext>
            </a:extLst>
          </p:cNvPr>
          <p:cNvGraphicFramePr>
            <a:graphicFrameLocks noGrp="1"/>
          </p:cNvGraphicFramePr>
          <p:nvPr>
            <p:custDataLst>
              <p:tags r:id="rId6"/>
            </p:custDataLst>
            <p:extLst>
              <p:ext uri="{D42A27DB-BD31-4B8C-83A1-F6EECF244321}">
                <p14:modId xmlns:p14="http://schemas.microsoft.com/office/powerpoint/2010/main" val="1871630068"/>
              </p:ext>
            </p:extLst>
          </p:nvPr>
        </p:nvGraphicFramePr>
        <p:xfrm>
          <a:off x="6324600" y="2002896"/>
          <a:ext cx="5716507" cy="1898544"/>
        </p:xfrm>
        <a:graphic>
          <a:graphicData uri="http://schemas.openxmlformats.org/drawingml/2006/table">
            <a:tbl>
              <a:tblPr firstRow="1" bandRow="1">
                <a:tableStyleId>{5C22544A-7EE6-4342-B048-85BDC9FD1C3A}</a:tableStyleId>
              </a:tblPr>
              <a:tblGrid>
                <a:gridCol w="1536212">
                  <a:extLst>
                    <a:ext uri="{9D8B030D-6E8A-4147-A177-3AD203B41FA5}">
                      <a16:colId xmlns:a16="http://schemas.microsoft.com/office/drawing/2014/main" val="3706502125"/>
                    </a:ext>
                  </a:extLst>
                </a:gridCol>
                <a:gridCol w="1991764">
                  <a:extLst>
                    <a:ext uri="{9D8B030D-6E8A-4147-A177-3AD203B41FA5}">
                      <a16:colId xmlns:a16="http://schemas.microsoft.com/office/drawing/2014/main" val="3391621309"/>
                    </a:ext>
                  </a:extLst>
                </a:gridCol>
                <a:gridCol w="2188531">
                  <a:extLst>
                    <a:ext uri="{9D8B030D-6E8A-4147-A177-3AD203B41FA5}">
                      <a16:colId xmlns:a16="http://schemas.microsoft.com/office/drawing/2014/main" val="2369180657"/>
                    </a:ext>
                  </a:extLst>
                </a:gridCol>
              </a:tblGrid>
              <a:tr h="420205">
                <a:tc>
                  <a:txBody>
                    <a:bodyPr/>
                    <a:lstStyle/>
                    <a:p>
                      <a:endParaRPr lang="fr-CA" dirty="0"/>
                    </a:p>
                  </a:txBody>
                  <a:tcPr/>
                </a:tc>
                <a:tc>
                  <a:txBody>
                    <a:bodyPr/>
                    <a:lstStyle/>
                    <a:p>
                      <a:pPr algn="ctr"/>
                      <a:r>
                        <a:rPr lang="fr-CA"/>
                        <a:t>Total</a:t>
                      </a:r>
                    </a:p>
                  </a:txBody>
                  <a:tcPr/>
                </a:tc>
                <a:tc>
                  <a:txBody>
                    <a:bodyPr/>
                    <a:lstStyle/>
                    <a:p>
                      <a:pPr algn="ctr"/>
                      <a:r>
                        <a:rPr lang="fr-CA" dirty="0"/>
                        <a:t>Proportion</a:t>
                      </a:r>
                    </a:p>
                  </a:txBody>
                  <a:tcPr/>
                </a:tc>
                <a:extLst>
                  <a:ext uri="{0D108BD9-81ED-4DB2-BD59-A6C34878D82A}">
                    <a16:rowId xmlns:a16="http://schemas.microsoft.com/office/drawing/2014/main" val="583171138"/>
                  </a:ext>
                </a:extLst>
              </a:tr>
              <a:tr h="381059">
                <a:tc>
                  <a:txBody>
                    <a:bodyPr/>
                    <a:lstStyle/>
                    <a:p>
                      <a:pPr algn="ctr"/>
                      <a:r>
                        <a:rPr lang="fr-CA"/>
                        <a:t>MP</a:t>
                      </a:r>
                    </a:p>
                  </a:txBody>
                  <a:tcPr/>
                </a:tc>
                <a:tc>
                  <a:txBody>
                    <a:bodyPr/>
                    <a:lstStyle/>
                    <a:p>
                      <a:pPr algn="ctr" rtl="0" fontAlgn="ctr"/>
                      <a:r>
                        <a:rPr lang="fr-CA" sz="1800" b="0" i="0" u="none" strike="noStrike" dirty="0">
                          <a:solidFill>
                            <a:srgbClr val="000000"/>
                          </a:solidFill>
                          <a:effectLst/>
                          <a:latin typeface="Calibri" panose="020F0502020204030204" pitchFamily="34" charset="0"/>
                        </a:rPr>
                        <a:t>800 000 $ </a:t>
                      </a:r>
                    </a:p>
                  </a:txBody>
                  <a:tcPr marL="7620" marR="7620" marT="7620" marB="0" anchor="ctr"/>
                </a:tc>
                <a:tc>
                  <a:txBody>
                    <a:bodyPr/>
                    <a:lstStyle/>
                    <a:p>
                      <a:pPr algn="ctr" rtl="0" fontAlgn="ctr"/>
                      <a:r>
                        <a:rPr lang="fr-CA" sz="1800" b="0" i="0" u="none" strike="noStrike" dirty="0">
                          <a:solidFill>
                            <a:srgbClr val="000000"/>
                          </a:solidFill>
                          <a:effectLst/>
                          <a:latin typeface="Calibri" panose="020F0502020204030204" pitchFamily="34" charset="0"/>
                        </a:rPr>
                        <a:t>40 %</a:t>
                      </a:r>
                    </a:p>
                  </a:txBody>
                  <a:tcPr marL="7620" marR="7620" marT="7620" marB="0" anchor="ctr"/>
                </a:tc>
                <a:extLst>
                  <a:ext uri="{0D108BD9-81ED-4DB2-BD59-A6C34878D82A}">
                    <a16:rowId xmlns:a16="http://schemas.microsoft.com/office/drawing/2014/main" val="1709837459"/>
                  </a:ext>
                </a:extLst>
              </a:tr>
              <a:tr h="365760">
                <a:tc>
                  <a:txBody>
                    <a:bodyPr/>
                    <a:lstStyle/>
                    <a:p>
                      <a:pPr algn="ctr"/>
                      <a:r>
                        <a:rPr lang="fr-CA" dirty="0"/>
                        <a:t>MOD</a:t>
                      </a:r>
                    </a:p>
                  </a:txBody>
                  <a:tcPr/>
                </a:tc>
                <a:tc>
                  <a:txBody>
                    <a:bodyPr/>
                    <a:lstStyle/>
                    <a:p>
                      <a:pPr algn="ctr" rtl="0" fontAlgn="ctr"/>
                      <a:r>
                        <a:rPr lang="fr-CA" sz="1800" b="0" i="0" u="none" strike="noStrike">
                          <a:solidFill>
                            <a:srgbClr val="000000"/>
                          </a:solidFill>
                          <a:effectLst/>
                          <a:latin typeface="Calibri" panose="020F0502020204030204" pitchFamily="34" charset="0"/>
                        </a:rPr>
                        <a:t>1 000 000 $ </a:t>
                      </a:r>
                    </a:p>
                  </a:txBody>
                  <a:tcPr marL="7620" marR="7620" marT="7620" marB="0" anchor="ctr"/>
                </a:tc>
                <a:tc>
                  <a:txBody>
                    <a:bodyPr/>
                    <a:lstStyle/>
                    <a:p>
                      <a:pPr algn="ctr" rtl="0" fontAlgn="ctr"/>
                      <a:r>
                        <a:rPr lang="fr-CA" sz="1800" b="0" i="0" u="none" strike="noStrike" dirty="0">
                          <a:solidFill>
                            <a:srgbClr val="000000"/>
                          </a:solidFill>
                          <a:effectLst/>
                          <a:latin typeface="Calibri" panose="020F0502020204030204" pitchFamily="34" charset="0"/>
                        </a:rPr>
                        <a:t>50 %</a:t>
                      </a:r>
                    </a:p>
                  </a:txBody>
                  <a:tcPr marL="7620" marR="7620" marT="7620" marB="0" anchor="ctr"/>
                </a:tc>
                <a:extLst>
                  <a:ext uri="{0D108BD9-81ED-4DB2-BD59-A6C34878D82A}">
                    <a16:rowId xmlns:a16="http://schemas.microsoft.com/office/drawing/2014/main" val="2993965807"/>
                  </a:ext>
                </a:extLst>
              </a:tr>
              <a:tr h="350520">
                <a:tc>
                  <a:txBody>
                    <a:bodyPr/>
                    <a:lstStyle/>
                    <a:p>
                      <a:pPr algn="ctr"/>
                      <a:r>
                        <a:rPr lang="fr-CA" dirty="0"/>
                        <a:t>FGF</a:t>
                      </a:r>
                    </a:p>
                  </a:txBody>
                  <a:tcPr/>
                </a:tc>
                <a:tc>
                  <a:txBody>
                    <a:bodyPr/>
                    <a:lstStyle/>
                    <a:p>
                      <a:pPr algn="ctr" rtl="0" fontAlgn="ctr"/>
                      <a:r>
                        <a:rPr lang="fr-CA" sz="1800" b="0" i="0" u="sng" strike="noStrike" dirty="0">
                          <a:solidFill>
                            <a:srgbClr val="000000"/>
                          </a:solidFill>
                          <a:effectLst/>
                          <a:latin typeface="Calibri" panose="020F0502020204030204" pitchFamily="34" charset="0"/>
                        </a:rPr>
                        <a:t>200 000 $ </a:t>
                      </a:r>
                    </a:p>
                  </a:txBody>
                  <a:tcPr marL="7620" marR="7620" marT="7620" marB="0" anchor="ctr"/>
                </a:tc>
                <a:tc>
                  <a:txBody>
                    <a:bodyPr/>
                    <a:lstStyle/>
                    <a:p>
                      <a:pPr algn="ctr" rtl="0" fontAlgn="ctr"/>
                      <a:r>
                        <a:rPr lang="fr-CA" sz="1800" b="0" i="0" u="none" strike="noStrike" dirty="0">
                          <a:solidFill>
                            <a:srgbClr val="C00000"/>
                          </a:solidFill>
                          <a:effectLst/>
                          <a:latin typeface="Calibri" panose="020F0502020204030204" pitchFamily="34" charset="0"/>
                        </a:rPr>
                        <a:t>10 %</a:t>
                      </a:r>
                    </a:p>
                  </a:txBody>
                  <a:tcPr marL="7620" marR="7620" marT="7620" marB="0" anchor="ctr"/>
                </a:tc>
                <a:extLst>
                  <a:ext uri="{0D108BD9-81ED-4DB2-BD59-A6C34878D82A}">
                    <a16:rowId xmlns:a16="http://schemas.microsoft.com/office/drawing/2014/main" val="1735866916"/>
                  </a:ext>
                </a:extLst>
              </a:tr>
              <a:tr h="335280">
                <a:tc>
                  <a:txBody>
                    <a:bodyPr/>
                    <a:lstStyle/>
                    <a:p>
                      <a:pPr algn="ctr"/>
                      <a:endParaRPr lang="fr-CA"/>
                    </a:p>
                  </a:txBody>
                  <a:tcPr/>
                </a:tc>
                <a:tc>
                  <a:txBody>
                    <a:bodyPr/>
                    <a:lstStyle/>
                    <a:p>
                      <a:pPr algn="ctr" rtl="0" fontAlgn="ctr"/>
                      <a:r>
                        <a:rPr lang="fr-CA" sz="1800" b="0" i="0" u="none" strike="noStrike">
                          <a:solidFill>
                            <a:srgbClr val="000000"/>
                          </a:solidFill>
                          <a:effectLst/>
                          <a:latin typeface="Calibri" panose="020F0502020204030204" pitchFamily="34" charset="0"/>
                        </a:rPr>
                        <a:t>2 000 000 $ </a:t>
                      </a:r>
                    </a:p>
                  </a:txBody>
                  <a:tcPr marL="7620" marR="7620" marT="7620" marB="0" anchor="ctr"/>
                </a:tc>
                <a:tc>
                  <a:txBody>
                    <a:bodyPr/>
                    <a:lstStyle/>
                    <a:p>
                      <a:pPr algn="ctr" fontAlgn="t"/>
                      <a:r>
                        <a:rPr lang="fr-CA" sz="1800" b="0" i="0" u="none" strike="noStrike" dirty="0">
                          <a:solidFill>
                            <a:srgbClr val="000000"/>
                          </a:solidFill>
                          <a:effectLst/>
                          <a:latin typeface="Arial" panose="020B0604020202020204" pitchFamily="34" charset="0"/>
                        </a:rPr>
                        <a:t> </a:t>
                      </a:r>
                    </a:p>
                  </a:txBody>
                  <a:tcPr marL="7620" marR="7620" marT="7620" marB="0"/>
                </a:tc>
                <a:extLst>
                  <a:ext uri="{0D108BD9-81ED-4DB2-BD59-A6C34878D82A}">
                    <a16:rowId xmlns:a16="http://schemas.microsoft.com/office/drawing/2014/main" val="2242772909"/>
                  </a:ext>
                </a:extLst>
              </a:tr>
            </a:tbl>
          </a:graphicData>
        </a:graphic>
      </p:graphicFrame>
      <p:graphicFrame>
        <p:nvGraphicFramePr>
          <p:cNvPr id="11" name="Tableau 11">
            <a:extLst>
              <a:ext uri="{FF2B5EF4-FFF2-40B4-BE49-F238E27FC236}">
                <a16:creationId xmlns:a16="http://schemas.microsoft.com/office/drawing/2014/main" id="{82EE268C-60A3-2034-FF97-03A4E3BF7CC1}"/>
              </a:ext>
            </a:extLst>
          </p:cNvPr>
          <p:cNvGraphicFramePr>
            <a:graphicFrameLocks noGrp="1"/>
          </p:cNvGraphicFramePr>
          <p:nvPr>
            <p:custDataLst>
              <p:tags r:id="rId7"/>
            </p:custDataLst>
            <p:extLst>
              <p:ext uri="{D42A27DB-BD31-4B8C-83A1-F6EECF244321}">
                <p14:modId xmlns:p14="http://schemas.microsoft.com/office/powerpoint/2010/main" val="1977521602"/>
              </p:ext>
            </p:extLst>
          </p:nvPr>
        </p:nvGraphicFramePr>
        <p:xfrm>
          <a:off x="437177" y="4457162"/>
          <a:ext cx="2805196" cy="2118483"/>
        </p:xfrm>
        <a:graphic>
          <a:graphicData uri="http://schemas.openxmlformats.org/drawingml/2006/table">
            <a:tbl>
              <a:tblPr firstRow="1" bandRow="1">
                <a:tableStyleId>{F5AB1C69-6EDB-4FF4-983F-18BD219EF322}</a:tableStyleId>
              </a:tblPr>
              <a:tblGrid>
                <a:gridCol w="860625">
                  <a:extLst>
                    <a:ext uri="{9D8B030D-6E8A-4147-A177-3AD203B41FA5}">
                      <a16:colId xmlns:a16="http://schemas.microsoft.com/office/drawing/2014/main" val="1675343177"/>
                    </a:ext>
                  </a:extLst>
                </a:gridCol>
                <a:gridCol w="899726">
                  <a:extLst>
                    <a:ext uri="{9D8B030D-6E8A-4147-A177-3AD203B41FA5}">
                      <a16:colId xmlns:a16="http://schemas.microsoft.com/office/drawing/2014/main" val="3886641290"/>
                    </a:ext>
                  </a:extLst>
                </a:gridCol>
                <a:gridCol w="1044845">
                  <a:extLst>
                    <a:ext uri="{9D8B030D-6E8A-4147-A177-3AD203B41FA5}">
                      <a16:colId xmlns:a16="http://schemas.microsoft.com/office/drawing/2014/main" val="1479492233"/>
                    </a:ext>
                  </a:extLst>
                </a:gridCol>
              </a:tblGrid>
              <a:tr h="370840">
                <a:tc>
                  <a:txBody>
                    <a:bodyPr/>
                    <a:lstStyle/>
                    <a:p>
                      <a:endParaRPr lang="fr-CA" dirty="0"/>
                    </a:p>
                  </a:txBody>
                  <a:tcPr/>
                </a:tc>
                <a:tc>
                  <a:txBody>
                    <a:bodyPr/>
                    <a:lstStyle/>
                    <a:p>
                      <a:pPr algn="ctr"/>
                      <a:r>
                        <a:rPr lang="fr-CA" dirty="0"/>
                        <a:t>Produit A</a:t>
                      </a:r>
                    </a:p>
                  </a:txBody>
                  <a:tcPr/>
                </a:tc>
                <a:tc>
                  <a:txBody>
                    <a:bodyPr/>
                    <a:lstStyle/>
                    <a:p>
                      <a:pPr algn="ctr"/>
                      <a:r>
                        <a:rPr lang="fr-CA" dirty="0"/>
                        <a:t>Produit B</a:t>
                      </a:r>
                    </a:p>
                  </a:txBody>
                  <a:tcPr/>
                </a:tc>
                <a:extLst>
                  <a:ext uri="{0D108BD9-81ED-4DB2-BD59-A6C34878D82A}">
                    <a16:rowId xmlns:a16="http://schemas.microsoft.com/office/drawing/2014/main" val="1062639376"/>
                  </a:ext>
                </a:extLst>
              </a:tr>
              <a:tr h="370840">
                <a:tc>
                  <a:txBody>
                    <a:bodyPr/>
                    <a:lstStyle/>
                    <a:p>
                      <a:r>
                        <a:rPr lang="fr-CA" dirty="0"/>
                        <a:t>MP</a:t>
                      </a:r>
                    </a:p>
                  </a:txBody>
                  <a:tcPr/>
                </a:tc>
                <a:tc>
                  <a:txBody>
                    <a:bodyPr/>
                    <a:lstStyle/>
                    <a:p>
                      <a:pPr algn="ctr" fontAlgn="b"/>
                      <a:r>
                        <a:rPr lang="fr-CA" sz="1600" b="0" u="none" strike="noStrike">
                          <a:solidFill>
                            <a:srgbClr val="000000"/>
                          </a:solidFill>
                          <a:effectLst/>
                        </a:rPr>
                        <a:t>60 $ </a:t>
                      </a:r>
                      <a:endParaRPr lang="fr-CA"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fr-CA" sz="1600" b="0" u="none" strike="noStrike" dirty="0">
                          <a:solidFill>
                            <a:srgbClr val="000000"/>
                          </a:solidFill>
                          <a:effectLst/>
                        </a:rPr>
                        <a:t>20 $ </a:t>
                      </a:r>
                      <a:endParaRPr lang="fr-CA"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92559259"/>
                  </a:ext>
                </a:extLst>
              </a:tr>
              <a:tr h="370840">
                <a:tc>
                  <a:txBody>
                    <a:bodyPr/>
                    <a:lstStyle/>
                    <a:p>
                      <a:r>
                        <a:rPr lang="fr-CA"/>
                        <a:t>MOD</a:t>
                      </a:r>
                    </a:p>
                  </a:txBody>
                  <a:tcPr/>
                </a:tc>
                <a:tc>
                  <a:txBody>
                    <a:bodyPr/>
                    <a:lstStyle/>
                    <a:p>
                      <a:pPr algn="ctr" fontAlgn="b"/>
                      <a:r>
                        <a:rPr lang="fr-CA" sz="1600" b="0" u="none" strike="noStrike">
                          <a:solidFill>
                            <a:srgbClr val="000000"/>
                          </a:solidFill>
                          <a:effectLst/>
                        </a:rPr>
                        <a:t>120 $ </a:t>
                      </a:r>
                      <a:endParaRPr lang="fr-CA"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fr-CA" sz="1600" b="0" u="none" strike="noStrike" dirty="0">
                          <a:solidFill>
                            <a:srgbClr val="000000"/>
                          </a:solidFill>
                          <a:effectLst/>
                        </a:rPr>
                        <a:t>40 $ </a:t>
                      </a:r>
                      <a:endParaRPr lang="fr-CA"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79119277"/>
                  </a:ext>
                </a:extLst>
              </a:tr>
              <a:tr h="370840">
                <a:tc>
                  <a:txBody>
                    <a:bodyPr/>
                    <a:lstStyle/>
                    <a:p>
                      <a:r>
                        <a:rPr lang="fr-CA"/>
                        <a:t>FGF</a:t>
                      </a:r>
                    </a:p>
                  </a:txBody>
                  <a:tcPr/>
                </a:tc>
                <a:tc>
                  <a:txBody>
                    <a:bodyPr/>
                    <a:lstStyle/>
                    <a:p>
                      <a:pPr algn="ctr" fontAlgn="b"/>
                      <a:r>
                        <a:rPr lang="fr-CA" sz="1600" b="0" i="0" u="sng" strike="noStrike" dirty="0">
                          <a:solidFill>
                            <a:srgbClr val="000000"/>
                          </a:solidFill>
                          <a:effectLst/>
                          <a:latin typeface="Calibri" panose="020F0502020204030204" pitchFamily="34" charset="0"/>
                        </a:rPr>
                        <a:t>567 $ </a:t>
                      </a:r>
                    </a:p>
                  </a:txBody>
                  <a:tcPr marL="7620" marR="7620" marT="7620" marB="0" anchor="b"/>
                </a:tc>
                <a:tc>
                  <a:txBody>
                    <a:bodyPr/>
                    <a:lstStyle/>
                    <a:p>
                      <a:pPr algn="ctr" fontAlgn="b"/>
                      <a:r>
                        <a:rPr lang="fr-CA" sz="1600" b="0" i="0" u="sng" strike="noStrike" dirty="0">
                          <a:solidFill>
                            <a:srgbClr val="000000"/>
                          </a:solidFill>
                          <a:effectLst/>
                          <a:latin typeface="Calibri" panose="020F0502020204030204" pitchFamily="34" charset="0"/>
                        </a:rPr>
                        <a:t>567 $ </a:t>
                      </a:r>
                    </a:p>
                  </a:txBody>
                  <a:tcPr marL="7620" marR="7620" marT="7620" marB="0" anchor="b"/>
                </a:tc>
                <a:extLst>
                  <a:ext uri="{0D108BD9-81ED-4DB2-BD59-A6C34878D82A}">
                    <a16:rowId xmlns:a16="http://schemas.microsoft.com/office/drawing/2014/main" val="1795544072"/>
                  </a:ext>
                </a:extLst>
              </a:tr>
              <a:tr h="365883">
                <a:tc>
                  <a:txBody>
                    <a:bodyPr/>
                    <a:lstStyle/>
                    <a:p>
                      <a:r>
                        <a:rPr lang="fr-CA"/>
                        <a:t>TOTAL</a:t>
                      </a:r>
                    </a:p>
                  </a:txBody>
                  <a:tcPr/>
                </a:tc>
                <a:tc>
                  <a:txBody>
                    <a:bodyPr/>
                    <a:lstStyle/>
                    <a:p>
                      <a:pPr algn="ctr" fontAlgn="b"/>
                      <a:r>
                        <a:rPr lang="fr-CA" sz="1600" b="1" i="0" u="none" strike="noStrike">
                          <a:solidFill>
                            <a:srgbClr val="000000"/>
                          </a:solidFill>
                          <a:effectLst/>
                          <a:latin typeface="Calibri" panose="020F0502020204030204" pitchFamily="34" charset="0"/>
                        </a:rPr>
                        <a:t>747 $ </a:t>
                      </a:r>
                    </a:p>
                  </a:txBody>
                  <a:tcPr marL="7620" marR="7620" marT="7620" marB="0" anchor="b"/>
                </a:tc>
                <a:tc>
                  <a:txBody>
                    <a:bodyPr/>
                    <a:lstStyle/>
                    <a:p>
                      <a:pPr algn="ctr" fontAlgn="b"/>
                      <a:r>
                        <a:rPr lang="fr-CA" sz="1600" b="1" i="0" u="none" strike="noStrike" dirty="0">
                          <a:solidFill>
                            <a:srgbClr val="000000"/>
                          </a:solidFill>
                          <a:effectLst/>
                          <a:latin typeface="Calibri" panose="020F0502020204030204" pitchFamily="34" charset="0"/>
                        </a:rPr>
                        <a:t>627 $ </a:t>
                      </a:r>
                    </a:p>
                  </a:txBody>
                  <a:tcPr marL="7620" marR="7620" marT="7620" marB="0" anchor="b"/>
                </a:tc>
                <a:extLst>
                  <a:ext uri="{0D108BD9-81ED-4DB2-BD59-A6C34878D82A}">
                    <a16:rowId xmlns:a16="http://schemas.microsoft.com/office/drawing/2014/main" val="912899943"/>
                  </a:ext>
                </a:extLst>
              </a:tr>
            </a:tbl>
          </a:graphicData>
        </a:graphic>
      </p:graphicFrame>
      <p:graphicFrame>
        <p:nvGraphicFramePr>
          <p:cNvPr id="13" name="Tableau 11">
            <a:extLst>
              <a:ext uri="{FF2B5EF4-FFF2-40B4-BE49-F238E27FC236}">
                <a16:creationId xmlns:a16="http://schemas.microsoft.com/office/drawing/2014/main" id="{2948039E-A83A-9564-9D85-1142F37A0CF1}"/>
              </a:ext>
            </a:extLst>
          </p:cNvPr>
          <p:cNvGraphicFramePr>
            <a:graphicFrameLocks noGrp="1"/>
          </p:cNvGraphicFramePr>
          <p:nvPr>
            <p:custDataLst>
              <p:tags r:id="rId8"/>
            </p:custDataLst>
            <p:extLst>
              <p:ext uri="{D42A27DB-BD31-4B8C-83A1-F6EECF244321}">
                <p14:modId xmlns:p14="http://schemas.microsoft.com/office/powerpoint/2010/main" val="220021342"/>
              </p:ext>
            </p:extLst>
          </p:nvPr>
        </p:nvGraphicFramePr>
        <p:xfrm>
          <a:off x="3348554" y="4424263"/>
          <a:ext cx="2805196" cy="2123440"/>
        </p:xfrm>
        <a:graphic>
          <a:graphicData uri="http://schemas.openxmlformats.org/drawingml/2006/table">
            <a:tbl>
              <a:tblPr firstRow="1" bandRow="1">
                <a:tableStyleId>{F5AB1C69-6EDB-4FF4-983F-18BD219EF322}</a:tableStyleId>
              </a:tblPr>
              <a:tblGrid>
                <a:gridCol w="860625">
                  <a:extLst>
                    <a:ext uri="{9D8B030D-6E8A-4147-A177-3AD203B41FA5}">
                      <a16:colId xmlns:a16="http://schemas.microsoft.com/office/drawing/2014/main" val="1675343177"/>
                    </a:ext>
                  </a:extLst>
                </a:gridCol>
                <a:gridCol w="899726">
                  <a:extLst>
                    <a:ext uri="{9D8B030D-6E8A-4147-A177-3AD203B41FA5}">
                      <a16:colId xmlns:a16="http://schemas.microsoft.com/office/drawing/2014/main" val="3886641290"/>
                    </a:ext>
                  </a:extLst>
                </a:gridCol>
                <a:gridCol w="1044845">
                  <a:extLst>
                    <a:ext uri="{9D8B030D-6E8A-4147-A177-3AD203B41FA5}">
                      <a16:colId xmlns:a16="http://schemas.microsoft.com/office/drawing/2014/main" val="1479492233"/>
                    </a:ext>
                  </a:extLst>
                </a:gridCol>
              </a:tblGrid>
              <a:tr h="370840">
                <a:tc>
                  <a:txBody>
                    <a:bodyPr/>
                    <a:lstStyle/>
                    <a:p>
                      <a:endParaRPr lang="fr-CA" dirty="0"/>
                    </a:p>
                  </a:txBody>
                  <a:tcPr/>
                </a:tc>
                <a:tc>
                  <a:txBody>
                    <a:bodyPr/>
                    <a:lstStyle/>
                    <a:p>
                      <a:pPr algn="ctr"/>
                      <a:r>
                        <a:rPr lang="fr-CA"/>
                        <a:t>Produit A</a:t>
                      </a:r>
                    </a:p>
                  </a:txBody>
                  <a:tcPr/>
                </a:tc>
                <a:tc>
                  <a:txBody>
                    <a:bodyPr/>
                    <a:lstStyle/>
                    <a:p>
                      <a:pPr algn="ctr"/>
                      <a:r>
                        <a:rPr lang="fr-CA"/>
                        <a:t>Produit B</a:t>
                      </a:r>
                    </a:p>
                  </a:txBody>
                  <a:tcPr/>
                </a:tc>
                <a:extLst>
                  <a:ext uri="{0D108BD9-81ED-4DB2-BD59-A6C34878D82A}">
                    <a16:rowId xmlns:a16="http://schemas.microsoft.com/office/drawing/2014/main" val="1062639376"/>
                  </a:ext>
                </a:extLst>
              </a:tr>
              <a:tr h="370840">
                <a:tc>
                  <a:txBody>
                    <a:bodyPr/>
                    <a:lstStyle/>
                    <a:p>
                      <a:r>
                        <a:rPr lang="fr-CA" dirty="0"/>
                        <a:t>MP</a:t>
                      </a:r>
                    </a:p>
                  </a:txBody>
                  <a:tcPr/>
                </a:tc>
                <a:tc>
                  <a:txBody>
                    <a:bodyPr/>
                    <a:lstStyle/>
                    <a:p>
                      <a:pPr algn="ctr" fontAlgn="b"/>
                      <a:r>
                        <a:rPr lang="fr-CA" sz="1600" b="0" i="0" u="none" strike="noStrike" dirty="0">
                          <a:solidFill>
                            <a:srgbClr val="000000"/>
                          </a:solidFill>
                          <a:effectLst/>
                          <a:latin typeface="Calibri" panose="020F0502020204030204" pitchFamily="34" charset="0"/>
                        </a:rPr>
                        <a:t>60 $ </a:t>
                      </a:r>
                    </a:p>
                  </a:txBody>
                  <a:tcPr marL="7620" marR="7620" marT="7620" marB="0" anchor="b"/>
                </a:tc>
                <a:tc>
                  <a:txBody>
                    <a:bodyPr/>
                    <a:lstStyle/>
                    <a:p>
                      <a:pPr algn="ctr" fontAlgn="b"/>
                      <a:r>
                        <a:rPr lang="fr-CA" sz="1600" b="0" i="0" u="none" strike="noStrike">
                          <a:solidFill>
                            <a:srgbClr val="000000"/>
                          </a:solidFill>
                          <a:effectLst/>
                          <a:latin typeface="Calibri" panose="020F0502020204030204" pitchFamily="34" charset="0"/>
                        </a:rPr>
                        <a:t>20 $ </a:t>
                      </a:r>
                    </a:p>
                  </a:txBody>
                  <a:tcPr marL="7620" marR="7620" marT="7620" marB="0" anchor="b"/>
                </a:tc>
                <a:extLst>
                  <a:ext uri="{0D108BD9-81ED-4DB2-BD59-A6C34878D82A}">
                    <a16:rowId xmlns:a16="http://schemas.microsoft.com/office/drawing/2014/main" val="4292559259"/>
                  </a:ext>
                </a:extLst>
              </a:tr>
              <a:tr h="370840">
                <a:tc>
                  <a:txBody>
                    <a:bodyPr/>
                    <a:lstStyle/>
                    <a:p>
                      <a:r>
                        <a:rPr lang="fr-CA"/>
                        <a:t>MOD</a:t>
                      </a:r>
                    </a:p>
                  </a:txBody>
                  <a:tcPr/>
                </a:tc>
                <a:tc>
                  <a:txBody>
                    <a:bodyPr/>
                    <a:lstStyle/>
                    <a:p>
                      <a:pPr algn="ctr" fontAlgn="b"/>
                      <a:r>
                        <a:rPr lang="fr-CA" sz="1600" b="0" i="0" u="none" strike="noStrike" dirty="0">
                          <a:solidFill>
                            <a:srgbClr val="000000"/>
                          </a:solidFill>
                          <a:effectLst/>
                          <a:latin typeface="Calibri" panose="020F0502020204030204" pitchFamily="34" charset="0"/>
                        </a:rPr>
                        <a:t>120 $ </a:t>
                      </a:r>
                    </a:p>
                  </a:txBody>
                  <a:tcPr marL="7620" marR="7620" marT="7620" marB="0" anchor="b"/>
                </a:tc>
                <a:tc>
                  <a:txBody>
                    <a:bodyPr/>
                    <a:lstStyle/>
                    <a:p>
                      <a:pPr algn="ctr" fontAlgn="b"/>
                      <a:r>
                        <a:rPr lang="fr-CA" sz="1600" b="0" i="0" u="none" strike="noStrike">
                          <a:solidFill>
                            <a:srgbClr val="000000"/>
                          </a:solidFill>
                          <a:effectLst/>
                          <a:latin typeface="Calibri" panose="020F0502020204030204" pitchFamily="34" charset="0"/>
                        </a:rPr>
                        <a:t>40 $ </a:t>
                      </a:r>
                    </a:p>
                  </a:txBody>
                  <a:tcPr marL="7620" marR="7620" marT="7620" marB="0" anchor="b"/>
                </a:tc>
                <a:extLst>
                  <a:ext uri="{0D108BD9-81ED-4DB2-BD59-A6C34878D82A}">
                    <a16:rowId xmlns:a16="http://schemas.microsoft.com/office/drawing/2014/main" val="3979119277"/>
                  </a:ext>
                </a:extLst>
              </a:tr>
              <a:tr h="370840">
                <a:tc>
                  <a:txBody>
                    <a:bodyPr/>
                    <a:lstStyle/>
                    <a:p>
                      <a:r>
                        <a:rPr lang="fr-CA" dirty="0"/>
                        <a:t>FGF</a:t>
                      </a:r>
                    </a:p>
                  </a:txBody>
                  <a:tcPr/>
                </a:tc>
                <a:tc>
                  <a:txBody>
                    <a:bodyPr/>
                    <a:lstStyle/>
                    <a:p>
                      <a:pPr algn="ctr" fontAlgn="b"/>
                      <a:r>
                        <a:rPr lang="fr-CA" sz="1600" b="0" i="0" u="sng" strike="noStrike" dirty="0">
                          <a:solidFill>
                            <a:srgbClr val="000000"/>
                          </a:solidFill>
                          <a:effectLst/>
                          <a:latin typeface="Calibri" panose="020F0502020204030204" pitchFamily="34" charset="0"/>
                        </a:rPr>
                        <a:t>1 133 $ </a:t>
                      </a:r>
                    </a:p>
                  </a:txBody>
                  <a:tcPr marL="7620" marR="7620" marT="7620" marB="0" anchor="b"/>
                </a:tc>
                <a:tc>
                  <a:txBody>
                    <a:bodyPr/>
                    <a:lstStyle/>
                    <a:p>
                      <a:pPr algn="ctr" fontAlgn="b"/>
                      <a:r>
                        <a:rPr lang="fr-CA" sz="1600" b="0" i="0" u="sng" strike="noStrike" dirty="0">
                          <a:solidFill>
                            <a:srgbClr val="000000"/>
                          </a:solidFill>
                          <a:effectLst/>
                          <a:latin typeface="Calibri" panose="020F0502020204030204" pitchFamily="34" charset="0"/>
                        </a:rPr>
                        <a:t>283 $ </a:t>
                      </a:r>
                    </a:p>
                  </a:txBody>
                  <a:tcPr marL="7620" marR="7620" marT="7620" marB="0" anchor="b"/>
                </a:tc>
                <a:extLst>
                  <a:ext uri="{0D108BD9-81ED-4DB2-BD59-A6C34878D82A}">
                    <a16:rowId xmlns:a16="http://schemas.microsoft.com/office/drawing/2014/main" val="1795544072"/>
                  </a:ext>
                </a:extLst>
              </a:tr>
              <a:tr h="370840">
                <a:tc>
                  <a:txBody>
                    <a:bodyPr/>
                    <a:lstStyle/>
                    <a:p>
                      <a:r>
                        <a:rPr lang="fr-CA"/>
                        <a:t>TOTAL</a:t>
                      </a:r>
                    </a:p>
                  </a:txBody>
                  <a:tcPr/>
                </a:tc>
                <a:tc>
                  <a:txBody>
                    <a:bodyPr/>
                    <a:lstStyle/>
                    <a:p>
                      <a:pPr algn="ctr" fontAlgn="b"/>
                      <a:r>
                        <a:rPr lang="fr-CA" sz="1600" b="1" i="0" u="none" strike="noStrike">
                          <a:solidFill>
                            <a:srgbClr val="000000"/>
                          </a:solidFill>
                          <a:effectLst/>
                          <a:latin typeface="Calibri" panose="020F0502020204030204" pitchFamily="34" charset="0"/>
                        </a:rPr>
                        <a:t>1 313 $ </a:t>
                      </a:r>
                    </a:p>
                  </a:txBody>
                  <a:tcPr marL="7620" marR="7620" marT="7620" marB="0" anchor="b"/>
                </a:tc>
                <a:tc>
                  <a:txBody>
                    <a:bodyPr/>
                    <a:lstStyle/>
                    <a:p>
                      <a:pPr algn="ctr" fontAlgn="b"/>
                      <a:r>
                        <a:rPr lang="fr-CA" sz="1600" b="1" i="0" u="none" strike="noStrike" dirty="0">
                          <a:solidFill>
                            <a:srgbClr val="000000"/>
                          </a:solidFill>
                          <a:effectLst/>
                          <a:latin typeface="Calibri" panose="020F0502020204030204" pitchFamily="34" charset="0"/>
                        </a:rPr>
                        <a:t>343 $ </a:t>
                      </a:r>
                    </a:p>
                  </a:txBody>
                  <a:tcPr marL="7620" marR="7620" marT="7620" marB="0" anchor="b"/>
                </a:tc>
                <a:extLst>
                  <a:ext uri="{0D108BD9-81ED-4DB2-BD59-A6C34878D82A}">
                    <a16:rowId xmlns:a16="http://schemas.microsoft.com/office/drawing/2014/main" val="912899943"/>
                  </a:ext>
                </a:extLst>
              </a:tr>
            </a:tbl>
          </a:graphicData>
        </a:graphic>
      </p:graphicFrame>
      <p:graphicFrame>
        <p:nvGraphicFramePr>
          <p:cNvPr id="14" name="Tableau 11">
            <a:extLst>
              <a:ext uri="{FF2B5EF4-FFF2-40B4-BE49-F238E27FC236}">
                <a16:creationId xmlns:a16="http://schemas.microsoft.com/office/drawing/2014/main" id="{54B8A977-BB89-83C7-C464-B881F1533CC1}"/>
              </a:ext>
            </a:extLst>
          </p:cNvPr>
          <p:cNvGraphicFramePr>
            <a:graphicFrameLocks noGrp="1"/>
          </p:cNvGraphicFramePr>
          <p:nvPr>
            <p:custDataLst>
              <p:tags r:id="rId9"/>
            </p:custDataLst>
            <p:extLst>
              <p:ext uri="{D42A27DB-BD31-4B8C-83A1-F6EECF244321}">
                <p14:modId xmlns:p14="http://schemas.microsoft.com/office/powerpoint/2010/main" val="1829515596"/>
              </p:ext>
            </p:extLst>
          </p:nvPr>
        </p:nvGraphicFramePr>
        <p:xfrm>
          <a:off x="6291632" y="4452205"/>
          <a:ext cx="2805196" cy="2123440"/>
        </p:xfrm>
        <a:graphic>
          <a:graphicData uri="http://schemas.openxmlformats.org/drawingml/2006/table">
            <a:tbl>
              <a:tblPr firstRow="1" bandRow="1">
                <a:tableStyleId>{F5AB1C69-6EDB-4FF4-983F-18BD219EF322}</a:tableStyleId>
              </a:tblPr>
              <a:tblGrid>
                <a:gridCol w="860625">
                  <a:extLst>
                    <a:ext uri="{9D8B030D-6E8A-4147-A177-3AD203B41FA5}">
                      <a16:colId xmlns:a16="http://schemas.microsoft.com/office/drawing/2014/main" val="1675343177"/>
                    </a:ext>
                  </a:extLst>
                </a:gridCol>
                <a:gridCol w="899726">
                  <a:extLst>
                    <a:ext uri="{9D8B030D-6E8A-4147-A177-3AD203B41FA5}">
                      <a16:colId xmlns:a16="http://schemas.microsoft.com/office/drawing/2014/main" val="3886641290"/>
                    </a:ext>
                  </a:extLst>
                </a:gridCol>
                <a:gridCol w="1044845">
                  <a:extLst>
                    <a:ext uri="{9D8B030D-6E8A-4147-A177-3AD203B41FA5}">
                      <a16:colId xmlns:a16="http://schemas.microsoft.com/office/drawing/2014/main" val="1479492233"/>
                    </a:ext>
                  </a:extLst>
                </a:gridCol>
              </a:tblGrid>
              <a:tr h="370840">
                <a:tc>
                  <a:txBody>
                    <a:bodyPr/>
                    <a:lstStyle/>
                    <a:p>
                      <a:endParaRPr lang="fr-CA" dirty="0"/>
                    </a:p>
                  </a:txBody>
                  <a:tcPr/>
                </a:tc>
                <a:tc>
                  <a:txBody>
                    <a:bodyPr/>
                    <a:lstStyle/>
                    <a:p>
                      <a:pPr algn="ctr"/>
                      <a:r>
                        <a:rPr lang="fr-CA"/>
                        <a:t>Produit A</a:t>
                      </a:r>
                    </a:p>
                  </a:txBody>
                  <a:tcPr/>
                </a:tc>
                <a:tc>
                  <a:txBody>
                    <a:bodyPr/>
                    <a:lstStyle/>
                    <a:p>
                      <a:pPr algn="ctr"/>
                      <a:r>
                        <a:rPr lang="fr-CA" dirty="0"/>
                        <a:t>Produit B</a:t>
                      </a:r>
                    </a:p>
                  </a:txBody>
                  <a:tcPr/>
                </a:tc>
                <a:extLst>
                  <a:ext uri="{0D108BD9-81ED-4DB2-BD59-A6C34878D82A}">
                    <a16:rowId xmlns:a16="http://schemas.microsoft.com/office/drawing/2014/main" val="1062639376"/>
                  </a:ext>
                </a:extLst>
              </a:tr>
              <a:tr h="370840">
                <a:tc>
                  <a:txBody>
                    <a:bodyPr/>
                    <a:lstStyle/>
                    <a:p>
                      <a:r>
                        <a:rPr lang="fr-CA"/>
                        <a:t>MP</a:t>
                      </a:r>
                    </a:p>
                  </a:txBody>
                  <a:tcPr/>
                </a:tc>
                <a:tc>
                  <a:txBody>
                    <a:bodyPr/>
                    <a:lstStyle/>
                    <a:p>
                      <a:pPr algn="ctr" fontAlgn="b"/>
                      <a:r>
                        <a:rPr lang="fr-CA" sz="1600" b="0" i="0" u="none" strike="noStrike">
                          <a:solidFill>
                            <a:srgbClr val="000000"/>
                          </a:solidFill>
                          <a:effectLst/>
                          <a:latin typeface="Calibri" panose="020F0502020204030204" pitchFamily="34" charset="0"/>
                        </a:rPr>
                        <a:t>240 $ </a:t>
                      </a:r>
                    </a:p>
                  </a:txBody>
                  <a:tcPr marL="7620" marR="7620" marT="7620" marB="0" anchor="b"/>
                </a:tc>
                <a:tc>
                  <a:txBody>
                    <a:bodyPr/>
                    <a:lstStyle/>
                    <a:p>
                      <a:pPr algn="ctr" fontAlgn="b"/>
                      <a:r>
                        <a:rPr lang="fr-CA" sz="1600" b="0" i="0" u="none" strike="noStrike">
                          <a:solidFill>
                            <a:srgbClr val="000000"/>
                          </a:solidFill>
                          <a:effectLst/>
                          <a:latin typeface="Calibri" panose="020F0502020204030204" pitchFamily="34" charset="0"/>
                        </a:rPr>
                        <a:t>80 $ </a:t>
                      </a:r>
                    </a:p>
                  </a:txBody>
                  <a:tcPr marL="7620" marR="7620" marT="7620" marB="0" anchor="b"/>
                </a:tc>
                <a:extLst>
                  <a:ext uri="{0D108BD9-81ED-4DB2-BD59-A6C34878D82A}">
                    <a16:rowId xmlns:a16="http://schemas.microsoft.com/office/drawing/2014/main" val="4292559259"/>
                  </a:ext>
                </a:extLst>
              </a:tr>
              <a:tr h="370840">
                <a:tc>
                  <a:txBody>
                    <a:bodyPr/>
                    <a:lstStyle/>
                    <a:p>
                      <a:r>
                        <a:rPr lang="fr-CA" dirty="0"/>
                        <a:t>MOD</a:t>
                      </a:r>
                    </a:p>
                  </a:txBody>
                  <a:tcPr/>
                </a:tc>
                <a:tc>
                  <a:txBody>
                    <a:bodyPr/>
                    <a:lstStyle/>
                    <a:p>
                      <a:pPr algn="ctr" fontAlgn="b"/>
                      <a:r>
                        <a:rPr lang="fr-CA" sz="1600" b="0" i="0" u="none" strike="noStrike">
                          <a:solidFill>
                            <a:srgbClr val="000000"/>
                          </a:solidFill>
                          <a:effectLst/>
                          <a:latin typeface="Calibri" panose="020F0502020204030204" pitchFamily="34" charset="0"/>
                        </a:rPr>
                        <a:t>300 $ </a:t>
                      </a:r>
                    </a:p>
                  </a:txBody>
                  <a:tcPr marL="7620" marR="7620" marT="7620" marB="0" anchor="b"/>
                </a:tc>
                <a:tc>
                  <a:txBody>
                    <a:bodyPr/>
                    <a:lstStyle/>
                    <a:p>
                      <a:pPr algn="ctr" fontAlgn="b"/>
                      <a:r>
                        <a:rPr lang="fr-CA" sz="1600" b="0" i="0" u="none" strike="noStrike">
                          <a:solidFill>
                            <a:srgbClr val="000000"/>
                          </a:solidFill>
                          <a:effectLst/>
                          <a:latin typeface="Calibri" panose="020F0502020204030204" pitchFamily="34" charset="0"/>
                        </a:rPr>
                        <a:t>100 $ </a:t>
                      </a:r>
                    </a:p>
                  </a:txBody>
                  <a:tcPr marL="7620" marR="7620" marT="7620" marB="0" anchor="b"/>
                </a:tc>
                <a:extLst>
                  <a:ext uri="{0D108BD9-81ED-4DB2-BD59-A6C34878D82A}">
                    <a16:rowId xmlns:a16="http://schemas.microsoft.com/office/drawing/2014/main" val="3979119277"/>
                  </a:ext>
                </a:extLst>
              </a:tr>
              <a:tr h="370840">
                <a:tc>
                  <a:txBody>
                    <a:bodyPr/>
                    <a:lstStyle/>
                    <a:p>
                      <a:r>
                        <a:rPr lang="fr-CA" dirty="0"/>
                        <a:t>FGF</a:t>
                      </a:r>
                    </a:p>
                  </a:txBody>
                  <a:tcPr/>
                </a:tc>
                <a:tc>
                  <a:txBody>
                    <a:bodyPr/>
                    <a:lstStyle/>
                    <a:p>
                      <a:pPr algn="ctr" fontAlgn="b"/>
                      <a:r>
                        <a:rPr lang="fr-CA" sz="1600" b="0" i="0" u="sng" strike="noStrike" dirty="0">
                          <a:solidFill>
                            <a:srgbClr val="000000"/>
                          </a:solidFill>
                          <a:effectLst/>
                          <a:latin typeface="Calibri" panose="020F0502020204030204" pitchFamily="34" charset="0"/>
                        </a:rPr>
                        <a:t>67 $ </a:t>
                      </a:r>
                    </a:p>
                  </a:txBody>
                  <a:tcPr marL="7620" marR="7620" marT="7620" marB="0" anchor="b"/>
                </a:tc>
                <a:tc>
                  <a:txBody>
                    <a:bodyPr/>
                    <a:lstStyle/>
                    <a:p>
                      <a:pPr algn="ctr" fontAlgn="b"/>
                      <a:r>
                        <a:rPr lang="fr-CA" sz="1600" b="0" i="0" u="sng" strike="noStrike" dirty="0">
                          <a:solidFill>
                            <a:srgbClr val="000000"/>
                          </a:solidFill>
                          <a:effectLst/>
                          <a:latin typeface="Calibri" panose="020F0502020204030204" pitchFamily="34" charset="0"/>
                        </a:rPr>
                        <a:t>67 $ </a:t>
                      </a:r>
                    </a:p>
                  </a:txBody>
                  <a:tcPr marL="7620" marR="7620" marT="7620" marB="0" anchor="b"/>
                </a:tc>
                <a:extLst>
                  <a:ext uri="{0D108BD9-81ED-4DB2-BD59-A6C34878D82A}">
                    <a16:rowId xmlns:a16="http://schemas.microsoft.com/office/drawing/2014/main" val="1795544072"/>
                  </a:ext>
                </a:extLst>
              </a:tr>
              <a:tr h="370840">
                <a:tc>
                  <a:txBody>
                    <a:bodyPr/>
                    <a:lstStyle/>
                    <a:p>
                      <a:r>
                        <a:rPr lang="fr-CA"/>
                        <a:t>TOTAL</a:t>
                      </a:r>
                    </a:p>
                  </a:txBody>
                  <a:tcPr/>
                </a:tc>
                <a:tc>
                  <a:txBody>
                    <a:bodyPr/>
                    <a:lstStyle/>
                    <a:p>
                      <a:pPr algn="ctr" fontAlgn="b"/>
                      <a:r>
                        <a:rPr lang="fr-CA" sz="1600" b="1" i="0" u="none" strike="noStrike" dirty="0">
                          <a:solidFill>
                            <a:srgbClr val="000000"/>
                          </a:solidFill>
                          <a:effectLst/>
                          <a:latin typeface="Calibri" panose="020F0502020204030204" pitchFamily="34" charset="0"/>
                        </a:rPr>
                        <a:t>607 $ </a:t>
                      </a:r>
                    </a:p>
                  </a:txBody>
                  <a:tcPr marL="7620" marR="7620" marT="7620" marB="0" anchor="b"/>
                </a:tc>
                <a:tc>
                  <a:txBody>
                    <a:bodyPr/>
                    <a:lstStyle/>
                    <a:p>
                      <a:pPr algn="ctr" fontAlgn="b"/>
                      <a:r>
                        <a:rPr lang="fr-CA" sz="1600" b="1" i="0" u="none" strike="noStrike" dirty="0">
                          <a:solidFill>
                            <a:srgbClr val="000000"/>
                          </a:solidFill>
                          <a:effectLst/>
                          <a:latin typeface="Calibri" panose="020F0502020204030204" pitchFamily="34" charset="0"/>
                        </a:rPr>
                        <a:t>247 $ </a:t>
                      </a:r>
                    </a:p>
                  </a:txBody>
                  <a:tcPr marL="7620" marR="7620" marT="7620" marB="0" anchor="b"/>
                </a:tc>
                <a:extLst>
                  <a:ext uri="{0D108BD9-81ED-4DB2-BD59-A6C34878D82A}">
                    <a16:rowId xmlns:a16="http://schemas.microsoft.com/office/drawing/2014/main" val="912899943"/>
                  </a:ext>
                </a:extLst>
              </a:tr>
            </a:tbl>
          </a:graphicData>
        </a:graphic>
      </p:graphicFrame>
      <p:graphicFrame>
        <p:nvGraphicFramePr>
          <p:cNvPr id="15" name="Tableau 11">
            <a:extLst>
              <a:ext uri="{FF2B5EF4-FFF2-40B4-BE49-F238E27FC236}">
                <a16:creationId xmlns:a16="http://schemas.microsoft.com/office/drawing/2014/main" id="{17BE08DD-C9E7-5A62-924A-4E0A5ECC6FDF}"/>
              </a:ext>
            </a:extLst>
          </p:cNvPr>
          <p:cNvGraphicFramePr>
            <a:graphicFrameLocks noGrp="1"/>
          </p:cNvGraphicFramePr>
          <p:nvPr>
            <p:custDataLst>
              <p:tags r:id="rId10"/>
            </p:custDataLst>
            <p:extLst>
              <p:ext uri="{D42A27DB-BD31-4B8C-83A1-F6EECF244321}">
                <p14:modId xmlns:p14="http://schemas.microsoft.com/office/powerpoint/2010/main" val="1903570917"/>
              </p:ext>
            </p:extLst>
          </p:nvPr>
        </p:nvGraphicFramePr>
        <p:xfrm>
          <a:off x="9235911" y="4454497"/>
          <a:ext cx="2805196" cy="2123440"/>
        </p:xfrm>
        <a:graphic>
          <a:graphicData uri="http://schemas.openxmlformats.org/drawingml/2006/table">
            <a:tbl>
              <a:tblPr firstRow="1" bandRow="1">
                <a:tableStyleId>{F5AB1C69-6EDB-4FF4-983F-18BD219EF322}</a:tableStyleId>
              </a:tblPr>
              <a:tblGrid>
                <a:gridCol w="860625">
                  <a:extLst>
                    <a:ext uri="{9D8B030D-6E8A-4147-A177-3AD203B41FA5}">
                      <a16:colId xmlns:a16="http://schemas.microsoft.com/office/drawing/2014/main" val="1675343177"/>
                    </a:ext>
                  </a:extLst>
                </a:gridCol>
                <a:gridCol w="899726">
                  <a:extLst>
                    <a:ext uri="{9D8B030D-6E8A-4147-A177-3AD203B41FA5}">
                      <a16:colId xmlns:a16="http://schemas.microsoft.com/office/drawing/2014/main" val="3886641290"/>
                    </a:ext>
                  </a:extLst>
                </a:gridCol>
                <a:gridCol w="1044845">
                  <a:extLst>
                    <a:ext uri="{9D8B030D-6E8A-4147-A177-3AD203B41FA5}">
                      <a16:colId xmlns:a16="http://schemas.microsoft.com/office/drawing/2014/main" val="1479492233"/>
                    </a:ext>
                  </a:extLst>
                </a:gridCol>
              </a:tblGrid>
              <a:tr h="370840">
                <a:tc>
                  <a:txBody>
                    <a:bodyPr/>
                    <a:lstStyle/>
                    <a:p>
                      <a:endParaRPr lang="fr-CA" dirty="0"/>
                    </a:p>
                  </a:txBody>
                  <a:tcPr/>
                </a:tc>
                <a:tc>
                  <a:txBody>
                    <a:bodyPr/>
                    <a:lstStyle/>
                    <a:p>
                      <a:pPr algn="ctr"/>
                      <a:r>
                        <a:rPr lang="fr-CA" dirty="0"/>
                        <a:t>Produit A</a:t>
                      </a:r>
                    </a:p>
                  </a:txBody>
                  <a:tcPr/>
                </a:tc>
                <a:tc>
                  <a:txBody>
                    <a:bodyPr/>
                    <a:lstStyle/>
                    <a:p>
                      <a:pPr algn="ctr"/>
                      <a:r>
                        <a:rPr lang="fr-CA"/>
                        <a:t>Produit B</a:t>
                      </a:r>
                    </a:p>
                  </a:txBody>
                  <a:tcPr/>
                </a:tc>
                <a:extLst>
                  <a:ext uri="{0D108BD9-81ED-4DB2-BD59-A6C34878D82A}">
                    <a16:rowId xmlns:a16="http://schemas.microsoft.com/office/drawing/2014/main" val="1062639376"/>
                  </a:ext>
                </a:extLst>
              </a:tr>
              <a:tr h="370840">
                <a:tc>
                  <a:txBody>
                    <a:bodyPr/>
                    <a:lstStyle/>
                    <a:p>
                      <a:r>
                        <a:rPr lang="fr-CA" dirty="0"/>
                        <a:t>MP</a:t>
                      </a:r>
                    </a:p>
                  </a:txBody>
                  <a:tcPr/>
                </a:tc>
                <a:tc>
                  <a:txBody>
                    <a:bodyPr/>
                    <a:lstStyle/>
                    <a:p>
                      <a:pPr algn="ctr" fontAlgn="b"/>
                      <a:r>
                        <a:rPr lang="fr-CA" sz="1600" b="0" i="0" u="none" strike="noStrike">
                          <a:solidFill>
                            <a:srgbClr val="000000"/>
                          </a:solidFill>
                          <a:effectLst/>
                          <a:latin typeface="Calibri" panose="020F0502020204030204" pitchFamily="34" charset="0"/>
                        </a:rPr>
                        <a:t>240 $ </a:t>
                      </a:r>
                    </a:p>
                  </a:txBody>
                  <a:tcPr marL="7620" marR="7620" marT="7620" marB="0" anchor="b"/>
                </a:tc>
                <a:tc>
                  <a:txBody>
                    <a:bodyPr/>
                    <a:lstStyle/>
                    <a:p>
                      <a:pPr algn="ctr" fontAlgn="b"/>
                      <a:r>
                        <a:rPr lang="fr-CA" sz="1600" b="0" i="0" u="none" strike="noStrike">
                          <a:solidFill>
                            <a:srgbClr val="000000"/>
                          </a:solidFill>
                          <a:effectLst/>
                          <a:latin typeface="Calibri" panose="020F0502020204030204" pitchFamily="34" charset="0"/>
                        </a:rPr>
                        <a:t>80 $ </a:t>
                      </a:r>
                    </a:p>
                  </a:txBody>
                  <a:tcPr marL="7620" marR="7620" marT="7620" marB="0" anchor="b"/>
                </a:tc>
                <a:extLst>
                  <a:ext uri="{0D108BD9-81ED-4DB2-BD59-A6C34878D82A}">
                    <a16:rowId xmlns:a16="http://schemas.microsoft.com/office/drawing/2014/main" val="4292559259"/>
                  </a:ext>
                </a:extLst>
              </a:tr>
              <a:tr h="370840">
                <a:tc>
                  <a:txBody>
                    <a:bodyPr/>
                    <a:lstStyle/>
                    <a:p>
                      <a:r>
                        <a:rPr lang="fr-CA" dirty="0"/>
                        <a:t>MOD</a:t>
                      </a:r>
                    </a:p>
                  </a:txBody>
                  <a:tcPr/>
                </a:tc>
                <a:tc>
                  <a:txBody>
                    <a:bodyPr/>
                    <a:lstStyle/>
                    <a:p>
                      <a:pPr algn="ctr" fontAlgn="b"/>
                      <a:r>
                        <a:rPr lang="fr-CA" sz="1600" b="0" i="0" u="none" strike="noStrike" dirty="0">
                          <a:solidFill>
                            <a:srgbClr val="000000"/>
                          </a:solidFill>
                          <a:effectLst/>
                          <a:latin typeface="Calibri" panose="020F0502020204030204" pitchFamily="34" charset="0"/>
                        </a:rPr>
                        <a:t>300 $ </a:t>
                      </a:r>
                    </a:p>
                  </a:txBody>
                  <a:tcPr marL="7620" marR="7620" marT="7620" marB="0" anchor="b"/>
                </a:tc>
                <a:tc>
                  <a:txBody>
                    <a:bodyPr/>
                    <a:lstStyle/>
                    <a:p>
                      <a:pPr algn="ctr" fontAlgn="b"/>
                      <a:r>
                        <a:rPr lang="fr-CA" sz="1600" b="0" i="0" u="none" strike="noStrike" dirty="0">
                          <a:solidFill>
                            <a:srgbClr val="000000"/>
                          </a:solidFill>
                          <a:effectLst/>
                          <a:latin typeface="Calibri" panose="020F0502020204030204" pitchFamily="34" charset="0"/>
                        </a:rPr>
                        <a:t>100 $ </a:t>
                      </a:r>
                    </a:p>
                  </a:txBody>
                  <a:tcPr marL="7620" marR="7620" marT="7620" marB="0" anchor="b"/>
                </a:tc>
                <a:extLst>
                  <a:ext uri="{0D108BD9-81ED-4DB2-BD59-A6C34878D82A}">
                    <a16:rowId xmlns:a16="http://schemas.microsoft.com/office/drawing/2014/main" val="3979119277"/>
                  </a:ext>
                </a:extLst>
              </a:tr>
              <a:tr h="370840">
                <a:tc>
                  <a:txBody>
                    <a:bodyPr/>
                    <a:lstStyle/>
                    <a:p>
                      <a:r>
                        <a:rPr lang="fr-CA"/>
                        <a:t>FGF</a:t>
                      </a:r>
                    </a:p>
                  </a:txBody>
                  <a:tcPr/>
                </a:tc>
                <a:tc>
                  <a:txBody>
                    <a:bodyPr/>
                    <a:lstStyle/>
                    <a:p>
                      <a:pPr algn="ctr" fontAlgn="b"/>
                      <a:r>
                        <a:rPr lang="fr-CA" sz="1600" b="0" i="0" u="sng" strike="noStrike" dirty="0">
                          <a:solidFill>
                            <a:srgbClr val="000000"/>
                          </a:solidFill>
                          <a:effectLst/>
                          <a:latin typeface="Calibri" panose="020F0502020204030204" pitchFamily="34" charset="0"/>
                        </a:rPr>
                        <a:t>133 $ </a:t>
                      </a:r>
                    </a:p>
                  </a:txBody>
                  <a:tcPr marL="7620" marR="7620" marT="7620" marB="0" anchor="b"/>
                </a:tc>
                <a:tc>
                  <a:txBody>
                    <a:bodyPr/>
                    <a:lstStyle/>
                    <a:p>
                      <a:pPr algn="ctr" fontAlgn="b"/>
                      <a:r>
                        <a:rPr lang="fr-CA" sz="1600" b="0" i="0" u="sng" strike="noStrike" dirty="0">
                          <a:solidFill>
                            <a:srgbClr val="000000"/>
                          </a:solidFill>
                          <a:effectLst/>
                          <a:latin typeface="Calibri" panose="020F0502020204030204" pitchFamily="34" charset="0"/>
                        </a:rPr>
                        <a:t>33 $ </a:t>
                      </a:r>
                    </a:p>
                  </a:txBody>
                  <a:tcPr marL="7620" marR="7620" marT="7620" marB="0" anchor="b"/>
                </a:tc>
                <a:extLst>
                  <a:ext uri="{0D108BD9-81ED-4DB2-BD59-A6C34878D82A}">
                    <a16:rowId xmlns:a16="http://schemas.microsoft.com/office/drawing/2014/main" val="1795544072"/>
                  </a:ext>
                </a:extLst>
              </a:tr>
              <a:tr h="370840">
                <a:tc>
                  <a:txBody>
                    <a:bodyPr/>
                    <a:lstStyle/>
                    <a:p>
                      <a:r>
                        <a:rPr lang="fr-CA" dirty="0"/>
                        <a:t>TOTAL</a:t>
                      </a:r>
                    </a:p>
                  </a:txBody>
                  <a:tcPr/>
                </a:tc>
                <a:tc>
                  <a:txBody>
                    <a:bodyPr/>
                    <a:lstStyle/>
                    <a:p>
                      <a:pPr algn="ctr" fontAlgn="b"/>
                      <a:r>
                        <a:rPr lang="fr-CA" sz="1600" b="1" i="0" u="none" strike="noStrike" dirty="0">
                          <a:solidFill>
                            <a:srgbClr val="000000"/>
                          </a:solidFill>
                          <a:effectLst/>
                          <a:latin typeface="Calibri" panose="020F0502020204030204" pitchFamily="34" charset="0"/>
                        </a:rPr>
                        <a:t>673 $ </a:t>
                      </a:r>
                    </a:p>
                  </a:txBody>
                  <a:tcPr marL="7620" marR="7620" marT="7620" marB="0" anchor="b"/>
                </a:tc>
                <a:tc>
                  <a:txBody>
                    <a:bodyPr/>
                    <a:lstStyle/>
                    <a:p>
                      <a:pPr algn="ctr" fontAlgn="b"/>
                      <a:r>
                        <a:rPr lang="fr-CA" sz="1600" b="1" i="0" u="none" strike="noStrike" dirty="0">
                          <a:solidFill>
                            <a:srgbClr val="000000"/>
                          </a:solidFill>
                          <a:effectLst/>
                          <a:latin typeface="Calibri" panose="020F0502020204030204" pitchFamily="34" charset="0"/>
                        </a:rPr>
                        <a:t>213 $ </a:t>
                      </a:r>
                    </a:p>
                  </a:txBody>
                  <a:tcPr marL="7620" marR="7620" marT="7620" marB="0" anchor="b"/>
                </a:tc>
                <a:extLst>
                  <a:ext uri="{0D108BD9-81ED-4DB2-BD59-A6C34878D82A}">
                    <a16:rowId xmlns:a16="http://schemas.microsoft.com/office/drawing/2014/main" val="912899943"/>
                  </a:ext>
                </a:extLst>
              </a:tr>
            </a:tbl>
          </a:graphicData>
        </a:graphic>
      </p:graphicFrame>
      <p:sp>
        <p:nvSpPr>
          <p:cNvPr id="16" name="ZoneTexte 15">
            <a:extLst>
              <a:ext uri="{FF2B5EF4-FFF2-40B4-BE49-F238E27FC236}">
                <a16:creationId xmlns:a16="http://schemas.microsoft.com/office/drawing/2014/main" id="{2BB279DD-282E-E4FC-B8EE-02500D3F2653}"/>
              </a:ext>
            </a:extLst>
          </p:cNvPr>
          <p:cNvSpPr txBox="1"/>
          <p:nvPr>
            <p:custDataLst>
              <p:tags r:id="rId11"/>
            </p:custDataLst>
          </p:nvPr>
        </p:nvSpPr>
        <p:spPr>
          <a:xfrm>
            <a:off x="464947" y="4154749"/>
            <a:ext cx="2805196" cy="307777"/>
          </a:xfrm>
          <a:prstGeom prst="rect">
            <a:avLst/>
          </a:prstGeom>
          <a:noFill/>
        </p:spPr>
        <p:txBody>
          <a:bodyPr wrap="square" rtlCol="0">
            <a:spAutoFit/>
          </a:bodyPr>
          <a:lstStyle/>
          <a:p>
            <a:r>
              <a:rPr lang="fr-CA" sz="1400" dirty="0"/>
              <a:t>Répartition nombre de produits : </a:t>
            </a:r>
          </a:p>
        </p:txBody>
      </p:sp>
      <p:sp>
        <p:nvSpPr>
          <p:cNvPr id="17" name="ZoneTexte 16">
            <a:extLst>
              <a:ext uri="{FF2B5EF4-FFF2-40B4-BE49-F238E27FC236}">
                <a16:creationId xmlns:a16="http://schemas.microsoft.com/office/drawing/2014/main" id="{8DB8411C-B0F3-35C9-130A-4EFDFA7AE709}"/>
              </a:ext>
            </a:extLst>
          </p:cNvPr>
          <p:cNvSpPr txBox="1"/>
          <p:nvPr>
            <p:custDataLst>
              <p:tags r:id="rId12"/>
            </p:custDataLst>
          </p:nvPr>
        </p:nvSpPr>
        <p:spPr>
          <a:xfrm>
            <a:off x="3294897" y="4149385"/>
            <a:ext cx="2805196" cy="307777"/>
          </a:xfrm>
          <a:prstGeom prst="rect">
            <a:avLst/>
          </a:prstGeom>
          <a:noFill/>
        </p:spPr>
        <p:txBody>
          <a:bodyPr wrap="square" rtlCol="0">
            <a:spAutoFit/>
          </a:bodyPr>
          <a:lstStyle/>
          <a:p>
            <a:r>
              <a:rPr lang="fr-CA" sz="1400" dirty="0"/>
              <a:t>Répartition heures-machine : </a:t>
            </a:r>
          </a:p>
        </p:txBody>
      </p:sp>
      <p:sp>
        <p:nvSpPr>
          <p:cNvPr id="18" name="ZoneTexte 17">
            <a:extLst>
              <a:ext uri="{FF2B5EF4-FFF2-40B4-BE49-F238E27FC236}">
                <a16:creationId xmlns:a16="http://schemas.microsoft.com/office/drawing/2014/main" id="{FE53A96C-E37B-10CF-F28A-AD3BD72FB370}"/>
              </a:ext>
            </a:extLst>
          </p:cNvPr>
          <p:cNvSpPr txBox="1"/>
          <p:nvPr>
            <p:custDataLst>
              <p:tags r:id="rId13"/>
            </p:custDataLst>
          </p:nvPr>
        </p:nvSpPr>
        <p:spPr>
          <a:xfrm>
            <a:off x="6253532" y="4186241"/>
            <a:ext cx="2805196" cy="307777"/>
          </a:xfrm>
          <a:prstGeom prst="rect">
            <a:avLst/>
          </a:prstGeom>
          <a:noFill/>
        </p:spPr>
        <p:txBody>
          <a:bodyPr wrap="square" rtlCol="0">
            <a:spAutoFit/>
          </a:bodyPr>
          <a:lstStyle/>
          <a:p>
            <a:r>
              <a:rPr lang="fr-CA" sz="1400" dirty="0"/>
              <a:t>Répartition nombre de produits : </a:t>
            </a:r>
          </a:p>
        </p:txBody>
      </p:sp>
      <p:sp>
        <p:nvSpPr>
          <p:cNvPr id="19" name="ZoneTexte 18">
            <a:extLst>
              <a:ext uri="{FF2B5EF4-FFF2-40B4-BE49-F238E27FC236}">
                <a16:creationId xmlns:a16="http://schemas.microsoft.com/office/drawing/2014/main" id="{0FE4DAD5-7F2D-9A36-5E43-9F3308214230}"/>
              </a:ext>
            </a:extLst>
          </p:cNvPr>
          <p:cNvSpPr txBox="1"/>
          <p:nvPr>
            <p:custDataLst>
              <p:tags r:id="rId14"/>
            </p:custDataLst>
          </p:nvPr>
        </p:nvSpPr>
        <p:spPr>
          <a:xfrm>
            <a:off x="9235911" y="4186241"/>
            <a:ext cx="2805196" cy="307777"/>
          </a:xfrm>
          <a:prstGeom prst="rect">
            <a:avLst/>
          </a:prstGeom>
          <a:noFill/>
        </p:spPr>
        <p:txBody>
          <a:bodyPr wrap="square" rtlCol="0">
            <a:spAutoFit/>
          </a:bodyPr>
          <a:lstStyle/>
          <a:p>
            <a:r>
              <a:rPr lang="fr-CA" sz="1400" dirty="0"/>
              <a:t>Répartition heures-machine : </a:t>
            </a:r>
          </a:p>
        </p:txBody>
      </p:sp>
      <p:sp>
        <p:nvSpPr>
          <p:cNvPr id="21" name="Ellipse 20">
            <a:extLst>
              <a:ext uri="{FF2B5EF4-FFF2-40B4-BE49-F238E27FC236}">
                <a16:creationId xmlns:a16="http://schemas.microsoft.com/office/drawing/2014/main" id="{46CE67EA-A1CC-A8D2-CBB8-F4B56566C8B5}"/>
              </a:ext>
            </a:extLst>
          </p:cNvPr>
          <p:cNvSpPr/>
          <p:nvPr>
            <p:custDataLst>
              <p:tags r:id="rId15"/>
            </p:custDataLst>
          </p:nvPr>
        </p:nvSpPr>
        <p:spPr>
          <a:xfrm>
            <a:off x="4265379" y="6176963"/>
            <a:ext cx="728421" cy="4263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2" name="Ellipse 21">
            <a:extLst>
              <a:ext uri="{FF2B5EF4-FFF2-40B4-BE49-F238E27FC236}">
                <a16:creationId xmlns:a16="http://schemas.microsoft.com/office/drawing/2014/main" id="{DC7DBABA-261B-040A-7E4C-BCEB65BDE4AB}"/>
              </a:ext>
            </a:extLst>
          </p:cNvPr>
          <p:cNvSpPr/>
          <p:nvPr>
            <p:custDataLst>
              <p:tags r:id="rId16"/>
            </p:custDataLst>
          </p:nvPr>
        </p:nvSpPr>
        <p:spPr>
          <a:xfrm>
            <a:off x="1322301" y="6222404"/>
            <a:ext cx="728421" cy="4263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3" name="Ellipse 22">
            <a:extLst>
              <a:ext uri="{FF2B5EF4-FFF2-40B4-BE49-F238E27FC236}">
                <a16:creationId xmlns:a16="http://schemas.microsoft.com/office/drawing/2014/main" id="{256BB927-208B-A145-E3A1-B5E51FCB6EA4}"/>
              </a:ext>
            </a:extLst>
          </p:cNvPr>
          <p:cNvSpPr/>
          <p:nvPr>
            <p:custDataLst>
              <p:tags r:id="rId17"/>
            </p:custDataLst>
          </p:nvPr>
        </p:nvSpPr>
        <p:spPr>
          <a:xfrm>
            <a:off x="7267298" y="6222404"/>
            <a:ext cx="728421" cy="4263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4" name="Ellipse 23">
            <a:extLst>
              <a:ext uri="{FF2B5EF4-FFF2-40B4-BE49-F238E27FC236}">
                <a16:creationId xmlns:a16="http://schemas.microsoft.com/office/drawing/2014/main" id="{85E31F7C-FF45-8CE6-2BC1-6F123A2FB3AF}"/>
              </a:ext>
            </a:extLst>
          </p:cNvPr>
          <p:cNvSpPr/>
          <p:nvPr>
            <p:custDataLst>
              <p:tags r:id="rId18"/>
            </p:custDataLst>
          </p:nvPr>
        </p:nvSpPr>
        <p:spPr>
          <a:xfrm>
            <a:off x="10199138" y="6251330"/>
            <a:ext cx="728421" cy="4263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Espace réservé du pied de page 6">
            <a:extLst>
              <a:ext uri="{FF2B5EF4-FFF2-40B4-BE49-F238E27FC236}">
                <a16:creationId xmlns:a16="http://schemas.microsoft.com/office/drawing/2014/main" id="{02406190-510B-7348-D142-47369801E902}"/>
              </a:ext>
            </a:extLst>
          </p:cNvPr>
          <p:cNvSpPr>
            <a:spLocks noGrp="1"/>
          </p:cNvSpPr>
          <p:nvPr>
            <p:ph type="ftr" sz="quarter" idx="11"/>
            <p:custDataLst>
              <p:tags r:id="rId19"/>
            </p:custDataLst>
          </p:nvPr>
        </p:nvSpPr>
        <p:spPr>
          <a:xfrm rot="16200000">
            <a:off x="-1053270" y="3194634"/>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1915943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F7DF4-8BEE-2048-F3D3-3B8E8D618287}"/>
              </a:ext>
            </a:extLst>
          </p:cNvPr>
          <p:cNvSpPr>
            <a:spLocks noGrp="1"/>
          </p:cNvSpPr>
          <p:nvPr>
            <p:ph type="title"/>
          </p:nvPr>
        </p:nvSpPr>
        <p:spPr/>
        <p:txBody>
          <a:bodyPr/>
          <a:lstStyle/>
          <a:p>
            <a:r>
              <a:rPr lang="fr-CA" dirty="0"/>
              <a:t>Des exemples de mises en situation…</a:t>
            </a:r>
          </a:p>
        </p:txBody>
      </p:sp>
      <p:sp>
        <p:nvSpPr>
          <p:cNvPr id="3" name="Espace réservé du texte 2">
            <a:extLst>
              <a:ext uri="{FF2B5EF4-FFF2-40B4-BE49-F238E27FC236}">
                <a16:creationId xmlns:a16="http://schemas.microsoft.com/office/drawing/2014/main" id="{0B64EFD9-3594-2FA8-BD8F-EFB46AA1D34D}"/>
              </a:ext>
            </a:extLst>
          </p:cNvPr>
          <p:cNvSpPr>
            <a:spLocks noGrp="1"/>
          </p:cNvSpPr>
          <p:nvPr>
            <p:ph type="body" idx="1"/>
          </p:nvPr>
        </p:nvSpPr>
        <p:spPr/>
        <p:txBody>
          <a:bodyPr/>
          <a:lstStyle/>
          <a:p>
            <a:endParaRPr lang="fr-CA"/>
          </a:p>
        </p:txBody>
      </p:sp>
      <p:sp>
        <p:nvSpPr>
          <p:cNvPr id="4" name="Espace réservé du pied de page 3">
            <a:extLst>
              <a:ext uri="{FF2B5EF4-FFF2-40B4-BE49-F238E27FC236}">
                <a16:creationId xmlns:a16="http://schemas.microsoft.com/office/drawing/2014/main" id="{F51FF85C-74BE-E39F-9AA5-7C3C90AA70FC}"/>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55E207E3-505A-A334-864D-C2F5A717E514}"/>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32</a:t>
            </a:fld>
            <a:endParaRPr lang="fr-CA">
              <a:solidFill>
                <a:prstClr val="black">
                  <a:tint val="75000"/>
                </a:prstClr>
              </a:solidFill>
            </a:endParaRPr>
          </a:p>
        </p:txBody>
      </p:sp>
    </p:spTree>
    <p:extLst>
      <p:ext uri="{BB962C8B-B14F-4D97-AF65-F5344CB8AC3E}">
        <p14:creationId xmlns:p14="http://schemas.microsoft.com/office/powerpoint/2010/main" val="2596445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8155DC-BC99-216A-182D-D70CCE25D804}"/>
              </a:ext>
            </a:extLst>
          </p:cNvPr>
          <p:cNvSpPr>
            <a:spLocks noGrp="1"/>
          </p:cNvSpPr>
          <p:nvPr>
            <p:ph type="title"/>
          </p:nvPr>
        </p:nvSpPr>
        <p:spPr>
          <a:xfrm>
            <a:off x="838200" y="136525"/>
            <a:ext cx="10515600" cy="1325563"/>
          </a:xfrm>
        </p:spPr>
        <p:txBody>
          <a:bodyPr>
            <a:normAutofit/>
          </a:bodyPr>
          <a:lstStyle/>
          <a:p>
            <a:r>
              <a:rPr lang="fr-CA" sz="4000" dirty="0"/>
              <a:t>Exemple 1: </a:t>
            </a:r>
            <a:r>
              <a:rPr lang="fr-CA" sz="4000" b="1" dirty="0"/>
              <a:t>plusieurs produits </a:t>
            </a:r>
            <a:r>
              <a:rPr lang="fr-CA" sz="4000" dirty="0"/>
              <a:t>avec processus de fabrication </a:t>
            </a:r>
            <a:r>
              <a:rPr lang="fr-CA" sz="4000" b="1" dirty="0"/>
              <a:t>similaire </a:t>
            </a:r>
            <a:r>
              <a:rPr lang="fr-CA" sz="4000" dirty="0"/>
              <a:t>(base unique)</a:t>
            </a:r>
            <a:endParaRPr lang="fr-CA" sz="4000" b="1" dirty="0"/>
          </a:p>
        </p:txBody>
      </p:sp>
      <p:sp>
        <p:nvSpPr>
          <p:cNvPr id="3" name="Espace réservé du contenu 2">
            <a:extLst>
              <a:ext uri="{FF2B5EF4-FFF2-40B4-BE49-F238E27FC236}">
                <a16:creationId xmlns:a16="http://schemas.microsoft.com/office/drawing/2014/main" id="{5B3A5937-B80F-010A-088B-0FB86D5A517F}"/>
              </a:ext>
            </a:extLst>
          </p:cNvPr>
          <p:cNvSpPr>
            <a:spLocks noGrp="1"/>
          </p:cNvSpPr>
          <p:nvPr>
            <p:ph idx="1"/>
          </p:nvPr>
        </p:nvSpPr>
        <p:spPr>
          <a:xfrm>
            <a:off x="838200" y="1462088"/>
            <a:ext cx="10515600" cy="3135312"/>
          </a:xfrm>
        </p:spPr>
        <p:txBody>
          <a:bodyPr/>
          <a:lstStyle/>
          <a:p>
            <a:r>
              <a:rPr lang="fr-CA" dirty="0"/>
              <a:t>Une biscuiterie propose trois saveurs de biscuits : chocolat, vanille et pépite de chocolat. Elle souhaite calculer la rentabilité de chaque produit. Pour ce faire, elle doit répartir ses frais généraux de fabrication entre les trois saveurs.</a:t>
            </a:r>
          </a:p>
          <a:p>
            <a:pPr marL="0" indent="0">
              <a:buNone/>
            </a:pPr>
            <a:r>
              <a:rPr lang="fr-CA" b="1" dirty="0"/>
              <a:t>Question : </a:t>
            </a:r>
            <a:r>
              <a:rPr lang="fr-CA" dirty="0"/>
              <a:t>Quelle base d’imputation pourrait-elle choisir pour répartir ses frais généraux de fabrication entre les biscuits au chocolat, à la vanille et aux pépites de chocolat ?</a:t>
            </a:r>
          </a:p>
        </p:txBody>
      </p:sp>
      <p:sp>
        <p:nvSpPr>
          <p:cNvPr id="4" name="Espace réservé du pied de page 3">
            <a:extLst>
              <a:ext uri="{FF2B5EF4-FFF2-40B4-BE49-F238E27FC236}">
                <a16:creationId xmlns:a16="http://schemas.microsoft.com/office/drawing/2014/main" id="{28E40AE9-8A15-BFA7-A65C-52C00744AA43}"/>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A293F8F1-CE54-E8E7-D7C0-5275A8F8D844}"/>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33</a:t>
            </a:fld>
            <a:endParaRPr lang="fr-CA">
              <a:solidFill>
                <a:prstClr val="black">
                  <a:tint val="75000"/>
                </a:prstClr>
              </a:solidFill>
            </a:endParaRPr>
          </a:p>
        </p:txBody>
      </p:sp>
      <p:graphicFrame>
        <p:nvGraphicFramePr>
          <p:cNvPr id="6" name="Tableau 5">
            <a:extLst>
              <a:ext uri="{FF2B5EF4-FFF2-40B4-BE49-F238E27FC236}">
                <a16:creationId xmlns:a16="http://schemas.microsoft.com/office/drawing/2014/main" id="{AD1F7036-F755-D1D6-7D6C-03CC384E4703}"/>
              </a:ext>
            </a:extLst>
          </p:cNvPr>
          <p:cNvGraphicFramePr>
            <a:graphicFrameLocks noGrp="1"/>
          </p:cNvGraphicFramePr>
          <p:nvPr>
            <p:extLst>
              <p:ext uri="{D42A27DB-BD31-4B8C-83A1-F6EECF244321}">
                <p14:modId xmlns:p14="http://schemas.microsoft.com/office/powerpoint/2010/main" val="4156231480"/>
              </p:ext>
            </p:extLst>
          </p:nvPr>
        </p:nvGraphicFramePr>
        <p:xfrm>
          <a:off x="1854200" y="4519612"/>
          <a:ext cx="7467600" cy="1752600"/>
        </p:xfrm>
        <a:graphic>
          <a:graphicData uri="http://schemas.openxmlformats.org/drawingml/2006/table">
            <a:tbl>
              <a:tblPr firstRow="1" bandRow="1">
                <a:tableStyleId>{8799B23B-EC83-4686-B30A-512413B5E67A}</a:tableStyleId>
              </a:tblPr>
              <a:tblGrid>
                <a:gridCol w="2336800">
                  <a:extLst>
                    <a:ext uri="{9D8B030D-6E8A-4147-A177-3AD203B41FA5}">
                      <a16:colId xmlns:a16="http://schemas.microsoft.com/office/drawing/2014/main" val="1688275053"/>
                    </a:ext>
                  </a:extLst>
                </a:gridCol>
                <a:gridCol w="1549400">
                  <a:extLst>
                    <a:ext uri="{9D8B030D-6E8A-4147-A177-3AD203B41FA5}">
                      <a16:colId xmlns:a16="http://schemas.microsoft.com/office/drawing/2014/main" val="236394702"/>
                    </a:ext>
                  </a:extLst>
                </a:gridCol>
                <a:gridCol w="1498600">
                  <a:extLst>
                    <a:ext uri="{9D8B030D-6E8A-4147-A177-3AD203B41FA5}">
                      <a16:colId xmlns:a16="http://schemas.microsoft.com/office/drawing/2014/main" val="3000332150"/>
                    </a:ext>
                  </a:extLst>
                </a:gridCol>
                <a:gridCol w="2082800">
                  <a:extLst>
                    <a:ext uri="{9D8B030D-6E8A-4147-A177-3AD203B41FA5}">
                      <a16:colId xmlns:a16="http://schemas.microsoft.com/office/drawing/2014/main" val="2334274193"/>
                    </a:ext>
                  </a:extLst>
                </a:gridCol>
              </a:tblGrid>
              <a:tr h="370840">
                <a:tc>
                  <a:txBody>
                    <a:bodyPr/>
                    <a:lstStyle/>
                    <a:p>
                      <a:endParaRPr lang="fr-CA" dirty="0"/>
                    </a:p>
                  </a:txBody>
                  <a:tcPr/>
                </a:tc>
                <a:tc>
                  <a:txBody>
                    <a:bodyPr/>
                    <a:lstStyle/>
                    <a:p>
                      <a:r>
                        <a:rPr lang="fr-CA" dirty="0"/>
                        <a:t>Chocolat</a:t>
                      </a:r>
                    </a:p>
                  </a:txBody>
                  <a:tcPr/>
                </a:tc>
                <a:tc>
                  <a:txBody>
                    <a:bodyPr/>
                    <a:lstStyle/>
                    <a:p>
                      <a:r>
                        <a:rPr lang="fr-CA" dirty="0"/>
                        <a:t>Vanille</a:t>
                      </a:r>
                    </a:p>
                  </a:txBody>
                  <a:tcPr/>
                </a:tc>
                <a:tc>
                  <a:txBody>
                    <a:bodyPr/>
                    <a:lstStyle/>
                    <a:p>
                      <a:r>
                        <a:rPr lang="fr-CA" dirty="0"/>
                        <a:t>Pépites de chocolat</a:t>
                      </a:r>
                    </a:p>
                  </a:txBody>
                  <a:tcPr/>
                </a:tc>
                <a:extLst>
                  <a:ext uri="{0D108BD9-81ED-4DB2-BD59-A6C34878D82A}">
                    <a16:rowId xmlns:a16="http://schemas.microsoft.com/office/drawing/2014/main" val="1573942672"/>
                  </a:ext>
                </a:extLst>
              </a:tr>
              <a:tr h="370840">
                <a:tc>
                  <a:txBody>
                    <a:bodyPr/>
                    <a:lstStyle/>
                    <a:p>
                      <a:r>
                        <a:rPr lang="fr-CA" dirty="0"/>
                        <a:t>Volume (unités)</a:t>
                      </a:r>
                    </a:p>
                  </a:txBody>
                  <a:tcPr/>
                </a:tc>
                <a:tc>
                  <a:txBody>
                    <a:bodyPr/>
                    <a:lstStyle/>
                    <a:p>
                      <a:r>
                        <a:rPr lang="fr-CA" dirty="0"/>
                        <a:t>10 000 u.</a:t>
                      </a:r>
                    </a:p>
                  </a:txBody>
                  <a:tcPr/>
                </a:tc>
                <a:tc>
                  <a:txBody>
                    <a:bodyPr/>
                    <a:lstStyle/>
                    <a:p>
                      <a:r>
                        <a:rPr lang="fr-CA" dirty="0"/>
                        <a:t>8 000 u.</a:t>
                      </a:r>
                    </a:p>
                  </a:txBody>
                  <a:tcPr/>
                </a:tc>
                <a:tc>
                  <a:txBody>
                    <a:bodyPr/>
                    <a:lstStyle/>
                    <a:p>
                      <a:r>
                        <a:rPr lang="fr-CA" dirty="0"/>
                        <a:t>12 000 u.</a:t>
                      </a:r>
                    </a:p>
                  </a:txBody>
                  <a:tcPr/>
                </a:tc>
                <a:extLst>
                  <a:ext uri="{0D108BD9-81ED-4DB2-BD59-A6C34878D82A}">
                    <a16:rowId xmlns:a16="http://schemas.microsoft.com/office/drawing/2014/main" val="566209860"/>
                  </a:ext>
                </a:extLst>
              </a:tr>
              <a:tr h="370840">
                <a:tc>
                  <a:txBody>
                    <a:bodyPr/>
                    <a:lstStyle/>
                    <a:p>
                      <a:r>
                        <a:rPr lang="fr-CA" dirty="0"/>
                        <a:t>Heures de MOD</a:t>
                      </a:r>
                    </a:p>
                  </a:txBody>
                  <a:tcPr/>
                </a:tc>
                <a:tc>
                  <a:txBody>
                    <a:bodyPr/>
                    <a:lstStyle/>
                    <a:p>
                      <a:r>
                        <a:rPr lang="fr-CA" dirty="0"/>
                        <a:t>0,010 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0,010 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0,011 h</a:t>
                      </a:r>
                    </a:p>
                  </a:txBody>
                  <a:tcPr/>
                </a:tc>
                <a:extLst>
                  <a:ext uri="{0D108BD9-81ED-4DB2-BD59-A6C34878D82A}">
                    <a16:rowId xmlns:a16="http://schemas.microsoft.com/office/drawing/2014/main" val="3616540960"/>
                  </a:ext>
                </a:extLst>
              </a:tr>
              <a:tr h="370840">
                <a:tc>
                  <a:txBody>
                    <a:bodyPr/>
                    <a:lstStyle/>
                    <a:p>
                      <a:r>
                        <a:rPr lang="fr-CA" dirty="0"/>
                        <a:t>Heures machine</a:t>
                      </a:r>
                    </a:p>
                    <a:p>
                      <a:r>
                        <a:rPr lang="fr-CA" dirty="0"/>
                        <a:t>Temps de cuisson</a:t>
                      </a:r>
                    </a:p>
                  </a:txBody>
                  <a:tcPr/>
                </a:tc>
                <a:tc>
                  <a:txBody>
                    <a:bodyPr/>
                    <a:lstStyle/>
                    <a:p>
                      <a:r>
                        <a:rPr lang="fr-CA" dirty="0"/>
                        <a:t>0,8 h</a:t>
                      </a:r>
                    </a:p>
                  </a:txBody>
                  <a:tcPr/>
                </a:tc>
                <a:tc>
                  <a:txBody>
                    <a:bodyPr/>
                    <a:lstStyle/>
                    <a:p>
                      <a:r>
                        <a:rPr lang="fr-CA" dirty="0"/>
                        <a:t>0,8 h</a:t>
                      </a:r>
                    </a:p>
                  </a:txBody>
                  <a:tcPr/>
                </a:tc>
                <a:tc>
                  <a:txBody>
                    <a:bodyPr/>
                    <a:lstStyle/>
                    <a:p>
                      <a:r>
                        <a:rPr lang="fr-CA" dirty="0"/>
                        <a:t>0,8 h</a:t>
                      </a:r>
                    </a:p>
                  </a:txBody>
                  <a:tcPr/>
                </a:tc>
                <a:extLst>
                  <a:ext uri="{0D108BD9-81ED-4DB2-BD59-A6C34878D82A}">
                    <a16:rowId xmlns:a16="http://schemas.microsoft.com/office/drawing/2014/main" val="953730332"/>
                  </a:ext>
                </a:extLst>
              </a:tr>
            </a:tbl>
          </a:graphicData>
        </a:graphic>
      </p:graphicFrame>
    </p:spTree>
    <p:extLst>
      <p:ext uri="{BB962C8B-B14F-4D97-AF65-F5344CB8AC3E}">
        <p14:creationId xmlns:p14="http://schemas.microsoft.com/office/powerpoint/2010/main" val="1117188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F22E-2F7F-8073-ECD5-30358BFBAB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24F113-A85D-16AF-9EB5-3D4B84E58FA7}"/>
              </a:ext>
            </a:extLst>
          </p:cNvPr>
          <p:cNvSpPr>
            <a:spLocks noGrp="1"/>
          </p:cNvSpPr>
          <p:nvPr>
            <p:ph type="title"/>
          </p:nvPr>
        </p:nvSpPr>
        <p:spPr>
          <a:xfrm>
            <a:off x="838200" y="136525"/>
            <a:ext cx="10515600" cy="1325563"/>
          </a:xfrm>
        </p:spPr>
        <p:txBody>
          <a:bodyPr>
            <a:normAutofit/>
          </a:bodyPr>
          <a:lstStyle/>
          <a:p>
            <a:r>
              <a:rPr lang="fr-CA" sz="4000" dirty="0"/>
              <a:t>Exemple 1: </a:t>
            </a:r>
            <a:r>
              <a:rPr lang="fr-CA" sz="4000" b="1" dirty="0"/>
              <a:t>plusieurs produits </a:t>
            </a:r>
            <a:r>
              <a:rPr lang="fr-CA" sz="4000" dirty="0"/>
              <a:t>avec processus de fabrication </a:t>
            </a:r>
            <a:r>
              <a:rPr lang="fr-CA" sz="4000" b="1" dirty="0"/>
              <a:t>similaire </a:t>
            </a:r>
            <a:r>
              <a:rPr lang="fr-CA" sz="4000" dirty="0"/>
              <a:t>(base unique)</a:t>
            </a:r>
            <a:endParaRPr lang="fr-CA" sz="4000" b="1" dirty="0"/>
          </a:p>
        </p:txBody>
      </p:sp>
      <p:sp>
        <p:nvSpPr>
          <p:cNvPr id="4" name="Espace réservé du pied de page 3">
            <a:extLst>
              <a:ext uri="{FF2B5EF4-FFF2-40B4-BE49-F238E27FC236}">
                <a16:creationId xmlns:a16="http://schemas.microsoft.com/office/drawing/2014/main" id="{F45DBADE-E48C-D919-134C-288BCBAF7C6C}"/>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CD26E9E5-EE47-E275-8ECF-9B84F055D5E2}"/>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34</a:t>
            </a:fld>
            <a:endParaRPr lang="fr-CA">
              <a:solidFill>
                <a:prstClr val="black">
                  <a:tint val="75000"/>
                </a:prstClr>
              </a:solidFill>
            </a:endParaRPr>
          </a:p>
        </p:txBody>
      </p:sp>
      <p:graphicFrame>
        <p:nvGraphicFramePr>
          <p:cNvPr id="6" name="Tableau 5">
            <a:extLst>
              <a:ext uri="{FF2B5EF4-FFF2-40B4-BE49-F238E27FC236}">
                <a16:creationId xmlns:a16="http://schemas.microsoft.com/office/drawing/2014/main" id="{12599D3F-F441-5FD6-2E73-B81BB28AE44E}"/>
              </a:ext>
            </a:extLst>
          </p:cNvPr>
          <p:cNvGraphicFramePr>
            <a:graphicFrameLocks noGrp="1"/>
          </p:cNvGraphicFramePr>
          <p:nvPr>
            <p:extLst>
              <p:ext uri="{D42A27DB-BD31-4B8C-83A1-F6EECF244321}">
                <p14:modId xmlns:p14="http://schemas.microsoft.com/office/powerpoint/2010/main" val="1037044028"/>
              </p:ext>
            </p:extLst>
          </p:nvPr>
        </p:nvGraphicFramePr>
        <p:xfrm>
          <a:off x="977378" y="1563143"/>
          <a:ext cx="7467600" cy="1752600"/>
        </p:xfrm>
        <a:graphic>
          <a:graphicData uri="http://schemas.openxmlformats.org/drawingml/2006/table">
            <a:tbl>
              <a:tblPr firstRow="1" bandRow="1">
                <a:tableStyleId>{8799B23B-EC83-4686-B30A-512413B5E67A}</a:tableStyleId>
              </a:tblPr>
              <a:tblGrid>
                <a:gridCol w="2336800">
                  <a:extLst>
                    <a:ext uri="{9D8B030D-6E8A-4147-A177-3AD203B41FA5}">
                      <a16:colId xmlns:a16="http://schemas.microsoft.com/office/drawing/2014/main" val="1688275053"/>
                    </a:ext>
                  </a:extLst>
                </a:gridCol>
                <a:gridCol w="1549400">
                  <a:extLst>
                    <a:ext uri="{9D8B030D-6E8A-4147-A177-3AD203B41FA5}">
                      <a16:colId xmlns:a16="http://schemas.microsoft.com/office/drawing/2014/main" val="236394702"/>
                    </a:ext>
                  </a:extLst>
                </a:gridCol>
                <a:gridCol w="1498600">
                  <a:extLst>
                    <a:ext uri="{9D8B030D-6E8A-4147-A177-3AD203B41FA5}">
                      <a16:colId xmlns:a16="http://schemas.microsoft.com/office/drawing/2014/main" val="3000332150"/>
                    </a:ext>
                  </a:extLst>
                </a:gridCol>
                <a:gridCol w="2082800">
                  <a:extLst>
                    <a:ext uri="{9D8B030D-6E8A-4147-A177-3AD203B41FA5}">
                      <a16:colId xmlns:a16="http://schemas.microsoft.com/office/drawing/2014/main" val="2334274193"/>
                    </a:ext>
                  </a:extLst>
                </a:gridCol>
              </a:tblGrid>
              <a:tr h="370840">
                <a:tc>
                  <a:txBody>
                    <a:bodyPr/>
                    <a:lstStyle/>
                    <a:p>
                      <a:endParaRPr lang="fr-CA" dirty="0"/>
                    </a:p>
                  </a:txBody>
                  <a:tcPr/>
                </a:tc>
                <a:tc>
                  <a:txBody>
                    <a:bodyPr/>
                    <a:lstStyle/>
                    <a:p>
                      <a:r>
                        <a:rPr lang="fr-CA" dirty="0"/>
                        <a:t>Chocolat</a:t>
                      </a:r>
                    </a:p>
                  </a:txBody>
                  <a:tcPr/>
                </a:tc>
                <a:tc>
                  <a:txBody>
                    <a:bodyPr/>
                    <a:lstStyle/>
                    <a:p>
                      <a:r>
                        <a:rPr lang="fr-CA" dirty="0"/>
                        <a:t>Vanille</a:t>
                      </a:r>
                    </a:p>
                  </a:txBody>
                  <a:tcPr/>
                </a:tc>
                <a:tc>
                  <a:txBody>
                    <a:bodyPr/>
                    <a:lstStyle/>
                    <a:p>
                      <a:r>
                        <a:rPr lang="fr-CA" dirty="0"/>
                        <a:t>Pépites de chocolat</a:t>
                      </a:r>
                    </a:p>
                  </a:txBody>
                  <a:tcPr/>
                </a:tc>
                <a:extLst>
                  <a:ext uri="{0D108BD9-81ED-4DB2-BD59-A6C34878D82A}">
                    <a16:rowId xmlns:a16="http://schemas.microsoft.com/office/drawing/2014/main" val="1573942672"/>
                  </a:ext>
                </a:extLst>
              </a:tr>
              <a:tr h="370840">
                <a:tc>
                  <a:txBody>
                    <a:bodyPr/>
                    <a:lstStyle/>
                    <a:p>
                      <a:r>
                        <a:rPr lang="fr-CA" dirty="0"/>
                        <a:t>Volume (unités)</a:t>
                      </a:r>
                    </a:p>
                  </a:txBody>
                  <a:tcPr/>
                </a:tc>
                <a:tc>
                  <a:txBody>
                    <a:bodyPr/>
                    <a:lstStyle/>
                    <a:p>
                      <a:r>
                        <a:rPr lang="fr-CA" dirty="0"/>
                        <a:t>10 000 u.</a:t>
                      </a:r>
                    </a:p>
                  </a:txBody>
                  <a:tcPr/>
                </a:tc>
                <a:tc>
                  <a:txBody>
                    <a:bodyPr/>
                    <a:lstStyle/>
                    <a:p>
                      <a:r>
                        <a:rPr lang="fr-CA" dirty="0"/>
                        <a:t>8 000 u.</a:t>
                      </a:r>
                    </a:p>
                  </a:txBody>
                  <a:tcPr/>
                </a:tc>
                <a:tc>
                  <a:txBody>
                    <a:bodyPr/>
                    <a:lstStyle/>
                    <a:p>
                      <a:r>
                        <a:rPr lang="fr-CA" dirty="0"/>
                        <a:t>12 000 u.</a:t>
                      </a:r>
                    </a:p>
                  </a:txBody>
                  <a:tcPr/>
                </a:tc>
                <a:extLst>
                  <a:ext uri="{0D108BD9-81ED-4DB2-BD59-A6C34878D82A}">
                    <a16:rowId xmlns:a16="http://schemas.microsoft.com/office/drawing/2014/main" val="566209860"/>
                  </a:ext>
                </a:extLst>
              </a:tr>
              <a:tr h="370840">
                <a:tc>
                  <a:txBody>
                    <a:bodyPr/>
                    <a:lstStyle/>
                    <a:p>
                      <a:r>
                        <a:rPr lang="fr-CA" dirty="0"/>
                        <a:t>Heures de MOD</a:t>
                      </a:r>
                    </a:p>
                  </a:txBody>
                  <a:tcPr/>
                </a:tc>
                <a:tc>
                  <a:txBody>
                    <a:bodyPr/>
                    <a:lstStyle/>
                    <a:p>
                      <a:r>
                        <a:rPr lang="fr-CA" dirty="0"/>
                        <a:t>0,010 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0,010 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0,011 h</a:t>
                      </a:r>
                    </a:p>
                  </a:txBody>
                  <a:tcPr/>
                </a:tc>
                <a:extLst>
                  <a:ext uri="{0D108BD9-81ED-4DB2-BD59-A6C34878D82A}">
                    <a16:rowId xmlns:a16="http://schemas.microsoft.com/office/drawing/2014/main" val="3616540960"/>
                  </a:ext>
                </a:extLst>
              </a:tr>
              <a:tr h="370840">
                <a:tc>
                  <a:txBody>
                    <a:bodyPr/>
                    <a:lstStyle/>
                    <a:p>
                      <a:r>
                        <a:rPr lang="fr-CA" dirty="0"/>
                        <a:t>Heures machine</a:t>
                      </a:r>
                    </a:p>
                    <a:p>
                      <a:r>
                        <a:rPr lang="fr-CA" dirty="0"/>
                        <a:t>Temps de cuisson</a:t>
                      </a:r>
                    </a:p>
                  </a:txBody>
                  <a:tcPr/>
                </a:tc>
                <a:tc>
                  <a:txBody>
                    <a:bodyPr/>
                    <a:lstStyle/>
                    <a:p>
                      <a:r>
                        <a:rPr lang="fr-CA" dirty="0"/>
                        <a:t>0,8 h</a:t>
                      </a:r>
                    </a:p>
                  </a:txBody>
                  <a:tcPr/>
                </a:tc>
                <a:tc>
                  <a:txBody>
                    <a:bodyPr/>
                    <a:lstStyle/>
                    <a:p>
                      <a:r>
                        <a:rPr lang="fr-CA" dirty="0"/>
                        <a:t>0,8 h</a:t>
                      </a:r>
                    </a:p>
                  </a:txBody>
                  <a:tcPr/>
                </a:tc>
                <a:tc>
                  <a:txBody>
                    <a:bodyPr/>
                    <a:lstStyle/>
                    <a:p>
                      <a:r>
                        <a:rPr lang="fr-CA" dirty="0"/>
                        <a:t>0,8 h</a:t>
                      </a:r>
                    </a:p>
                  </a:txBody>
                  <a:tcPr/>
                </a:tc>
                <a:extLst>
                  <a:ext uri="{0D108BD9-81ED-4DB2-BD59-A6C34878D82A}">
                    <a16:rowId xmlns:a16="http://schemas.microsoft.com/office/drawing/2014/main" val="953730332"/>
                  </a:ext>
                </a:extLst>
              </a:tr>
            </a:tbl>
          </a:graphicData>
        </a:graphic>
      </p:graphicFrame>
      <p:graphicFrame>
        <p:nvGraphicFramePr>
          <p:cNvPr id="8" name="Objet 7">
            <a:extLst>
              <a:ext uri="{FF2B5EF4-FFF2-40B4-BE49-F238E27FC236}">
                <a16:creationId xmlns:a16="http://schemas.microsoft.com/office/drawing/2014/main" id="{BF1665AA-025A-F5B2-4B1D-539BF7B1F12B}"/>
              </a:ext>
            </a:extLst>
          </p:cNvPr>
          <p:cNvGraphicFramePr>
            <a:graphicFrameLocks noChangeAspect="1"/>
          </p:cNvGraphicFramePr>
          <p:nvPr>
            <p:extLst>
              <p:ext uri="{D42A27DB-BD31-4B8C-83A1-F6EECF244321}">
                <p14:modId xmlns:p14="http://schemas.microsoft.com/office/powerpoint/2010/main" val="3046364097"/>
              </p:ext>
            </p:extLst>
          </p:nvPr>
        </p:nvGraphicFramePr>
        <p:xfrm>
          <a:off x="8610600" y="1754188"/>
          <a:ext cx="3505200" cy="771525"/>
        </p:xfrm>
        <a:graphic>
          <a:graphicData uri="http://schemas.openxmlformats.org/presentationml/2006/ole">
            <mc:AlternateContent xmlns:mc="http://schemas.openxmlformats.org/markup-compatibility/2006">
              <mc:Choice xmlns:v="urn:schemas-microsoft-com:vml" Requires="v">
                <p:oleObj name="Worksheet" r:id="rId3" imgW="3505258" imgH="771525" progId="Excel.Sheet.12">
                  <p:embed/>
                </p:oleObj>
              </mc:Choice>
              <mc:Fallback>
                <p:oleObj name="Worksheet" r:id="rId3" imgW="3505258" imgH="771525" progId="Excel.Sheet.12">
                  <p:embed/>
                  <p:pic>
                    <p:nvPicPr>
                      <p:cNvPr id="8" name="Objet 7">
                        <a:extLst>
                          <a:ext uri="{FF2B5EF4-FFF2-40B4-BE49-F238E27FC236}">
                            <a16:creationId xmlns:a16="http://schemas.microsoft.com/office/drawing/2014/main" id="{BF1665AA-025A-F5B2-4B1D-539BF7B1F12B}"/>
                          </a:ext>
                        </a:extLst>
                      </p:cNvPr>
                      <p:cNvPicPr/>
                      <p:nvPr/>
                    </p:nvPicPr>
                    <p:blipFill>
                      <a:blip r:embed="rId4"/>
                      <a:stretch>
                        <a:fillRect/>
                      </a:stretch>
                    </p:blipFill>
                    <p:spPr>
                      <a:xfrm>
                        <a:off x="8610600" y="1754188"/>
                        <a:ext cx="3505200" cy="771525"/>
                      </a:xfrm>
                      <a:prstGeom prst="rect">
                        <a:avLst/>
                      </a:prstGeom>
                    </p:spPr>
                  </p:pic>
                </p:oleObj>
              </mc:Fallback>
            </mc:AlternateContent>
          </a:graphicData>
        </a:graphic>
      </p:graphicFrame>
      <p:graphicFrame>
        <p:nvGraphicFramePr>
          <p:cNvPr id="10" name="Tableau 9">
            <a:extLst>
              <a:ext uri="{FF2B5EF4-FFF2-40B4-BE49-F238E27FC236}">
                <a16:creationId xmlns:a16="http://schemas.microsoft.com/office/drawing/2014/main" id="{E880E645-1B6C-EFB6-890A-37CB6CB9A2FE}"/>
              </a:ext>
            </a:extLst>
          </p:cNvPr>
          <p:cNvGraphicFramePr>
            <a:graphicFrameLocks noGrp="1"/>
          </p:cNvGraphicFramePr>
          <p:nvPr>
            <p:extLst>
              <p:ext uri="{D42A27DB-BD31-4B8C-83A1-F6EECF244321}">
                <p14:modId xmlns:p14="http://schemas.microsoft.com/office/powerpoint/2010/main" val="51054902"/>
              </p:ext>
            </p:extLst>
          </p:nvPr>
        </p:nvGraphicFramePr>
        <p:xfrm>
          <a:off x="977378" y="3669387"/>
          <a:ext cx="7467600" cy="1752600"/>
        </p:xfrm>
        <a:graphic>
          <a:graphicData uri="http://schemas.openxmlformats.org/drawingml/2006/table">
            <a:tbl>
              <a:tblPr firstRow="1" bandRow="1">
                <a:tableStyleId>{8799B23B-EC83-4686-B30A-512413B5E67A}</a:tableStyleId>
              </a:tblPr>
              <a:tblGrid>
                <a:gridCol w="2336800">
                  <a:extLst>
                    <a:ext uri="{9D8B030D-6E8A-4147-A177-3AD203B41FA5}">
                      <a16:colId xmlns:a16="http://schemas.microsoft.com/office/drawing/2014/main" val="1688275053"/>
                    </a:ext>
                  </a:extLst>
                </a:gridCol>
                <a:gridCol w="1549400">
                  <a:extLst>
                    <a:ext uri="{9D8B030D-6E8A-4147-A177-3AD203B41FA5}">
                      <a16:colId xmlns:a16="http://schemas.microsoft.com/office/drawing/2014/main" val="236394702"/>
                    </a:ext>
                  </a:extLst>
                </a:gridCol>
                <a:gridCol w="1498600">
                  <a:extLst>
                    <a:ext uri="{9D8B030D-6E8A-4147-A177-3AD203B41FA5}">
                      <a16:colId xmlns:a16="http://schemas.microsoft.com/office/drawing/2014/main" val="3000332150"/>
                    </a:ext>
                  </a:extLst>
                </a:gridCol>
                <a:gridCol w="2082800">
                  <a:extLst>
                    <a:ext uri="{9D8B030D-6E8A-4147-A177-3AD203B41FA5}">
                      <a16:colId xmlns:a16="http://schemas.microsoft.com/office/drawing/2014/main" val="2334274193"/>
                    </a:ext>
                  </a:extLst>
                </a:gridCol>
              </a:tblGrid>
              <a:tr h="370840">
                <a:tc>
                  <a:txBody>
                    <a:bodyPr/>
                    <a:lstStyle/>
                    <a:p>
                      <a:r>
                        <a:rPr lang="fr-CA" dirty="0"/>
                        <a:t>Coût unitaire des FGF</a:t>
                      </a:r>
                    </a:p>
                  </a:txBody>
                  <a:tcPr/>
                </a:tc>
                <a:tc>
                  <a:txBody>
                    <a:bodyPr/>
                    <a:lstStyle/>
                    <a:p>
                      <a:r>
                        <a:rPr lang="fr-CA" dirty="0"/>
                        <a:t>Chocolat</a:t>
                      </a:r>
                    </a:p>
                  </a:txBody>
                  <a:tcPr/>
                </a:tc>
                <a:tc>
                  <a:txBody>
                    <a:bodyPr/>
                    <a:lstStyle/>
                    <a:p>
                      <a:r>
                        <a:rPr lang="fr-CA" dirty="0"/>
                        <a:t>Vanille</a:t>
                      </a:r>
                    </a:p>
                  </a:txBody>
                  <a:tcPr/>
                </a:tc>
                <a:tc>
                  <a:txBody>
                    <a:bodyPr/>
                    <a:lstStyle/>
                    <a:p>
                      <a:r>
                        <a:rPr lang="fr-CA" dirty="0"/>
                        <a:t>Pépites de chocolat</a:t>
                      </a:r>
                    </a:p>
                  </a:txBody>
                  <a:tcPr/>
                </a:tc>
                <a:extLst>
                  <a:ext uri="{0D108BD9-81ED-4DB2-BD59-A6C34878D82A}">
                    <a16:rowId xmlns:a16="http://schemas.microsoft.com/office/drawing/2014/main" val="1573942672"/>
                  </a:ext>
                </a:extLst>
              </a:tr>
              <a:tr h="370840">
                <a:tc>
                  <a:txBody>
                    <a:bodyPr/>
                    <a:lstStyle/>
                    <a:p>
                      <a:r>
                        <a:rPr lang="fr-CA" dirty="0"/>
                        <a:t>Volume (unités)</a:t>
                      </a:r>
                    </a:p>
                  </a:txBody>
                  <a:tcPr/>
                </a:tc>
                <a:tc>
                  <a:txBody>
                    <a:bodyPr/>
                    <a:lstStyle/>
                    <a:p>
                      <a:r>
                        <a:rPr lang="fr-CA" dirty="0"/>
                        <a:t>0,50 $</a:t>
                      </a:r>
                    </a:p>
                  </a:txBody>
                  <a:tcPr/>
                </a:tc>
                <a:tc>
                  <a:txBody>
                    <a:bodyPr/>
                    <a:lstStyle/>
                    <a:p>
                      <a:r>
                        <a:rPr lang="fr-CA" dirty="0"/>
                        <a:t>0,50 $</a:t>
                      </a:r>
                    </a:p>
                  </a:txBody>
                  <a:tcPr/>
                </a:tc>
                <a:tc>
                  <a:txBody>
                    <a:bodyPr/>
                    <a:lstStyle/>
                    <a:p>
                      <a:r>
                        <a:rPr lang="fr-CA" dirty="0"/>
                        <a:t>0,50 $</a:t>
                      </a:r>
                    </a:p>
                  </a:txBody>
                  <a:tcPr/>
                </a:tc>
                <a:extLst>
                  <a:ext uri="{0D108BD9-81ED-4DB2-BD59-A6C34878D82A}">
                    <a16:rowId xmlns:a16="http://schemas.microsoft.com/office/drawing/2014/main" val="566209860"/>
                  </a:ext>
                </a:extLst>
              </a:tr>
              <a:tr h="370840">
                <a:tc>
                  <a:txBody>
                    <a:bodyPr/>
                    <a:lstStyle/>
                    <a:p>
                      <a:r>
                        <a:rPr lang="fr-CA" dirty="0"/>
                        <a:t>Heures de MOD</a:t>
                      </a:r>
                    </a:p>
                  </a:txBody>
                  <a:tcPr/>
                </a:tc>
                <a:tc>
                  <a:txBody>
                    <a:bodyPr/>
                    <a:lstStyle/>
                    <a:p>
                      <a:r>
                        <a:rPr lang="fr-CA" dirty="0"/>
                        <a:t>0,48 $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0,48 $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0,53 $</a:t>
                      </a:r>
                    </a:p>
                  </a:txBody>
                  <a:tcPr/>
                </a:tc>
                <a:extLst>
                  <a:ext uri="{0D108BD9-81ED-4DB2-BD59-A6C34878D82A}">
                    <a16:rowId xmlns:a16="http://schemas.microsoft.com/office/drawing/2014/main" val="3616540960"/>
                  </a:ext>
                </a:extLst>
              </a:tr>
              <a:tr h="370840">
                <a:tc>
                  <a:txBody>
                    <a:bodyPr/>
                    <a:lstStyle/>
                    <a:p>
                      <a:r>
                        <a:rPr lang="fr-CA" dirty="0"/>
                        <a:t>Heures machine</a:t>
                      </a:r>
                    </a:p>
                    <a:p>
                      <a:r>
                        <a:rPr lang="fr-CA" dirty="0"/>
                        <a:t>Temps de cuisson</a:t>
                      </a:r>
                    </a:p>
                  </a:txBody>
                  <a:tcPr/>
                </a:tc>
                <a:tc>
                  <a:txBody>
                    <a:bodyPr/>
                    <a:lstStyle/>
                    <a:p>
                      <a:r>
                        <a:rPr lang="fr-CA" dirty="0"/>
                        <a:t>0,50 $</a:t>
                      </a:r>
                    </a:p>
                  </a:txBody>
                  <a:tcPr/>
                </a:tc>
                <a:tc>
                  <a:txBody>
                    <a:bodyPr/>
                    <a:lstStyle/>
                    <a:p>
                      <a:r>
                        <a:rPr lang="fr-CA" dirty="0"/>
                        <a:t>0,50 $</a:t>
                      </a:r>
                    </a:p>
                  </a:txBody>
                  <a:tcPr/>
                </a:tc>
                <a:tc>
                  <a:txBody>
                    <a:bodyPr/>
                    <a:lstStyle/>
                    <a:p>
                      <a:r>
                        <a:rPr lang="fr-CA" dirty="0"/>
                        <a:t>0,50 $</a:t>
                      </a:r>
                    </a:p>
                  </a:txBody>
                  <a:tcPr/>
                </a:tc>
                <a:extLst>
                  <a:ext uri="{0D108BD9-81ED-4DB2-BD59-A6C34878D82A}">
                    <a16:rowId xmlns:a16="http://schemas.microsoft.com/office/drawing/2014/main" val="953730332"/>
                  </a:ext>
                </a:extLst>
              </a:tr>
            </a:tbl>
          </a:graphicData>
        </a:graphic>
      </p:graphicFrame>
    </p:spTree>
    <p:extLst>
      <p:ext uri="{BB962C8B-B14F-4D97-AF65-F5344CB8AC3E}">
        <p14:creationId xmlns:p14="http://schemas.microsoft.com/office/powerpoint/2010/main" val="2041909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9640E4-7CED-C632-AF86-7F57EFB02C2D}"/>
              </a:ext>
            </a:extLst>
          </p:cNvPr>
          <p:cNvSpPr>
            <a:spLocks noGrp="1"/>
          </p:cNvSpPr>
          <p:nvPr>
            <p:ph type="title"/>
          </p:nvPr>
        </p:nvSpPr>
        <p:spPr/>
        <p:txBody>
          <a:bodyPr>
            <a:normAutofit/>
          </a:bodyPr>
          <a:lstStyle/>
          <a:p>
            <a:r>
              <a:rPr lang="fr-CA" dirty="0"/>
              <a:t>Exemple 2: </a:t>
            </a:r>
            <a:r>
              <a:rPr lang="fr-CA" b="1" dirty="0"/>
              <a:t>plusieurs produits </a:t>
            </a:r>
            <a:r>
              <a:rPr lang="fr-CA" dirty="0"/>
              <a:t>avec processus de fabrication </a:t>
            </a:r>
            <a:r>
              <a:rPr lang="fr-CA" b="1" dirty="0"/>
              <a:t>différents</a:t>
            </a:r>
            <a:r>
              <a:rPr lang="fr-CA" dirty="0"/>
              <a:t> (base unique)</a:t>
            </a:r>
          </a:p>
        </p:txBody>
      </p:sp>
      <p:sp>
        <p:nvSpPr>
          <p:cNvPr id="3" name="Espace réservé du contenu 2">
            <a:extLst>
              <a:ext uri="{FF2B5EF4-FFF2-40B4-BE49-F238E27FC236}">
                <a16:creationId xmlns:a16="http://schemas.microsoft.com/office/drawing/2014/main" id="{8E0B24F3-A595-93FA-716B-9697F03B7E8E}"/>
              </a:ext>
            </a:extLst>
          </p:cNvPr>
          <p:cNvSpPr>
            <a:spLocks noGrp="1"/>
          </p:cNvSpPr>
          <p:nvPr>
            <p:ph idx="1"/>
          </p:nvPr>
        </p:nvSpPr>
        <p:spPr/>
        <p:txBody>
          <a:bodyPr/>
          <a:lstStyle/>
          <a:p>
            <a:r>
              <a:rPr lang="fr-CA" dirty="0"/>
              <a:t>Une pâtisserie fabrique trois types de produits : des </a:t>
            </a:r>
            <a:r>
              <a:rPr lang="fr-CA" b="1" dirty="0"/>
              <a:t>biscuits</a:t>
            </a:r>
            <a:r>
              <a:rPr lang="fr-CA" dirty="0"/>
              <a:t>, des </a:t>
            </a:r>
            <a:r>
              <a:rPr lang="fr-CA" b="1" dirty="0"/>
              <a:t>gâteaux</a:t>
            </a:r>
            <a:r>
              <a:rPr lang="fr-CA" dirty="0"/>
              <a:t> et des </a:t>
            </a:r>
            <a:r>
              <a:rPr lang="fr-CA" b="1" dirty="0"/>
              <a:t>tartes</a:t>
            </a:r>
            <a:r>
              <a:rPr lang="fr-CA" dirty="0"/>
              <a:t>. Elle souhaite calculer la rentabilité de chacun de ces produits.</a:t>
            </a:r>
          </a:p>
          <a:p>
            <a:endParaRPr lang="fr-CA" dirty="0"/>
          </a:p>
          <a:p>
            <a:pPr marL="0" indent="0">
              <a:buNone/>
            </a:pPr>
            <a:r>
              <a:rPr lang="fr-CA" b="1" dirty="0"/>
              <a:t>Question : </a:t>
            </a:r>
            <a:r>
              <a:rPr lang="fr-CA" dirty="0"/>
              <a:t>Quelle base d’imputation pourrait-elle choisir pour répartir ses frais généraux de fabrication entre les trois produits ?</a:t>
            </a:r>
          </a:p>
          <a:p>
            <a:pPr marL="0" indent="0">
              <a:buNone/>
            </a:pPr>
            <a:endParaRPr lang="fr-CA" dirty="0"/>
          </a:p>
          <a:p>
            <a:endParaRPr lang="fr-CA" dirty="0"/>
          </a:p>
        </p:txBody>
      </p:sp>
      <p:sp>
        <p:nvSpPr>
          <p:cNvPr id="4" name="Espace réservé du pied de page 3">
            <a:extLst>
              <a:ext uri="{FF2B5EF4-FFF2-40B4-BE49-F238E27FC236}">
                <a16:creationId xmlns:a16="http://schemas.microsoft.com/office/drawing/2014/main" id="{55D2234A-355F-FC7C-AD3D-BBB380837A74}"/>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E988D0CF-2447-FC0E-FF8B-A7152FD5B78E}"/>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35</a:t>
            </a:fld>
            <a:endParaRPr lang="fr-CA">
              <a:solidFill>
                <a:prstClr val="black">
                  <a:tint val="75000"/>
                </a:prstClr>
              </a:solidFill>
            </a:endParaRPr>
          </a:p>
        </p:txBody>
      </p:sp>
    </p:spTree>
    <p:extLst>
      <p:ext uri="{BB962C8B-B14F-4D97-AF65-F5344CB8AC3E}">
        <p14:creationId xmlns:p14="http://schemas.microsoft.com/office/powerpoint/2010/main" val="19562676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22A3-36EA-D3EC-3D99-797D4CE453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BE463B6-564F-EEDC-F425-520AA83AE6B4}"/>
              </a:ext>
            </a:extLst>
          </p:cNvPr>
          <p:cNvSpPr>
            <a:spLocks noGrp="1"/>
          </p:cNvSpPr>
          <p:nvPr>
            <p:ph type="title"/>
          </p:nvPr>
        </p:nvSpPr>
        <p:spPr/>
        <p:txBody>
          <a:bodyPr>
            <a:normAutofit/>
          </a:bodyPr>
          <a:lstStyle/>
          <a:p>
            <a:r>
              <a:rPr lang="fr-CA" dirty="0"/>
              <a:t>Exemple 2: plusieurs produits avec processus de fabrication différents (base unique)</a:t>
            </a:r>
          </a:p>
        </p:txBody>
      </p:sp>
      <p:sp>
        <p:nvSpPr>
          <p:cNvPr id="4" name="Espace réservé du pied de page 3">
            <a:extLst>
              <a:ext uri="{FF2B5EF4-FFF2-40B4-BE49-F238E27FC236}">
                <a16:creationId xmlns:a16="http://schemas.microsoft.com/office/drawing/2014/main" id="{C381FF52-76BB-ED43-557D-30F3B51585E2}"/>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207718F0-20BA-9223-D1B9-BF9329BDAE1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36</a:t>
            </a:fld>
            <a:endParaRPr lang="fr-CA">
              <a:solidFill>
                <a:prstClr val="black">
                  <a:tint val="75000"/>
                </a:prstClr>
              </a:solidFill>
            </a:endParaRPr>
          </a:p>
        </p:txBody>
      </p:sp>
      <p:graphicFrame>
        <p:nvGraphicFramePr>
          <p:cNvPr id="9" name="Tableau 8">
            <a:extLst>
              <a:ext uri="{FF2B5EF4-FFF2-40B4-BE49-F238E27FC236}">
                <a16:creationId xmlns:a16="http://schemas.microsoft.com/office/drawing/2014/main" id="{1F4E98FD-EB69-D552-DC41-86FA3F62D575}"/>
              </a:ext>
            </a:extLst>
          </p:cNvPr>
          <p:cNvGraphicFramePr>
            <a:graphicFrameLocks noGrp="1"/>
          </p:cNvGraphicFramePr>
          <p:nvPr>
            <p:extLst>
              <p:ext uri="{D42A27DB-BD31-4B8C-83A1-F6EECF244321}">
                <p14:modId xmlns:p14="http://schemas.microsoft.com/office/powerpoint/2010/main" val="3013853284"/>
              </p:ext>
            </p:extLst>
          </p:nvPr>
        </p:nvGraphicFramePr>
        <p:xfrm>
          <a:off x="583940" y="2070581"/>
          <a:ext cx="5829300" cy="2844800"/>
        </p:xfrm>
        <a:graphic>
          <a:graphicData uri="http://schemas.openxmlformats.org/drawingml/2006/table">
            <a:tbl>
              <a:tblPr firstRow="1" bandRow="1">
                <a:tableStyleId>{7E9639D4-E3E2-4D34-9284-5A2195B3D0D7}</a:tableStyleId>
              </a:tblPr>
              <a:tblGrid>
                <a:gridCol w="1823980">
                  <a:extLst>
                    <a:ext uri="{9D8B030D-6E8A-4147-A177-3AD203B41FA5}">
                      <a16:colId xmlns:a16="http://schemas.microsoft.com/office/drawing/2014/main" val="212755469"/>
                    </a:ext>
                  </a:extLst>
                </a:gridCol>
                <a:gridCol w="1234440">
                  <a:extLst>
                    <a:ext uri="{9D8B030D-6E8A-4147-A177-3AD203B41FA5}">
                      <a16:colId xmlns:a16="http://schemas.microsoft.com/office/drawing/2014/main" val="2450088520"/>
                    </a:ext>
                  </a:extLst>
                </a:gridCol>
                <a:gridCol w="1348480">
                  <a:extLst>
                    <a:ext uri="{9D8B030D-6E8A-4147-A177-3AD203B41FA5}">
                      <a16:colId xmlns:a16="http://schemas.microsoft.com/office/drawing/2014/main" val="3773960065"/>
                    </a:ext>
                  </a:extLst>
                </a:gridCol>
                <a:gridCol w="1422400">
                  <a:extLst>
                    <a:ext uri="{9D8B030D-6E8A-4147-A177-3AD203B41FA5}">
                      <a16:colId xmlns:a16="http://schemas.microsoft.com/office/drawing/2014/main" val="187006908"/>
                    </a:ext>
                  </a:extLst>
                </a:gridCol>
              </a:tblGrid>
              <a:tr h="370840">
                <a:tc>
                  <a:txBody>
                    <a:bodyPr/>
                    <a:lstStyle/>
                    <a:p>
                      <a:r>
                        <a:rPr lang="fr-CA" dirty="0">
                          <a:solidFill>
                            <a:schemeClr val="tx1"/>
                          </a:solidFill>
                        </a:rPr>
                        <a:t>Données de production mensuelle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Unités fabriquées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solidFill>
                            <a:schemeClr val="tx1"/>
                          </a:solidFill>
                          <a:effectLst/>
                        </a:rPr>
                        <a:t>Heures de main-d'œuvre directe</a:t>
                      </a:r>
                    </a:p>
                    <a:p>
                      <a:endParaRPr lang="fr-C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solidFill>
                            <a:schemeClr val="tx1"/>
                          </a:solidFill>
                          <a:effectLst/>
                        </a:rPr>
                        <a:t>Minutes de cuisson</a:t>
                      </a:r>
                    </a:p>
                    <a:p>
                      <a:endParaRPr lang="fr-C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77773776"/>
                  </a:ext>
                </a:extLst>
              </a:tr>
              <a:tr h="370840">
                <a:tc>
                  <a:txBody>
                    <a:bodyPr/>
                    <a:lstStyle/>
                    <a:p>
                      <a:pPr>
                        <a:buNone/>
                      </a:pPr>
                      <a:r>
                        <a:rPr lang="fr-CA" dirty="0">
                          <a:effectLst/>
                        </a:rPr>
                        <a:t>Biscuits</a:t>
                      </a:r>
                    </a:p>
                    <a:p>
                      <a:pPr>
                        <a:buNone/>
                      </a:pPr>
                      <a:r>
                        <a:rPr lang="fr-CA" dirty="0">
                          <a:effectLst/>
                        </a:rPr>
                        <a:t>1 u = 12 biscuits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2 000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0,02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15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196194"/>
                  </a:ext>
                </a:extLst>
              </a:tr>
              <a:tr h="370840">
                <a:tc>
                  <a:txBody>
                    <a:bodyPr/>
                    <a:lstStyle/>
                    <a:p>
                      <a:pPr>
                        <a:buNone/>
                      </a:pPr>
                      <a:r>
                        <a:rPr lang="fr-CA" dirty="0">
                          <a:effectLst/>
                        </a:rPr>
                        <a:t>Tartes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800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0,35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45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375160"/>
                  </a:ext>
                </a:extLst>
              </a:tr>
              <a:tr h="370840">
                <a:tc>
                  <a:txBody>
                    <a:bodyPr/>
                    <a:lstStyle/>
                    <a:p>
                      <a:pPr>
                        <a:buNone/>
                      </a:pPr>
                      <a:r>
                        <a:rPr lang="fr-CA" dirty="0">
                          <a:effectLst/>
                        </a:rPr>
                        <a:t>Gâteaux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500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0,50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60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118438"/>
                  </a:ext>
                </a:extLst>
              </a:tr>
            </a:tbl>
          </a:graphicData>
        </a:graphic>
      </p:graphicFrame>
      <p:graphicFrame>
        <p:nvGraphicFramePr>
          <p:cNvPr id="10" name="Tableau 9">
            <a:extLst>
              <a:ext uri="{FF2B5EF4-FFF2-40B4-BE49-F238E27FC236}">
                <a16:creationId xmlns:a16="http://schemas.microsoft.com/office/drawing/2014/main" id="{567A0A87-4C8A-5069-AAB2-0A1168268031}"/>
              </a:ext>
            </a:extLst>
          </p:cNvPr>
          <p:cNvGraphicFramePr>
            <a:graphicFrameLocks noGrp="1"/>
          </p:cNvGraphicFramePr>
          <p:nvPr>
            <p:extLst>
              <p:ext uri="{D42A27DB-BD31-4B8C-83A1-F6EECF244321}">
                <p14:modId xmlns:p14="http://schemas.microsoft.com/office/powerpoint/2010/main" val="4177423005"/>
              </p:ext>
            </p:extLst>
          </p:nvPr>
        </p:nvGraphicFramePr>
        <p:xfrm>
          <a:off x="6933940" y="2023350"/>
          <a:ext cx="3848360" cy="4166235"/>
        </p:xfrm>
        <a:graphic>
          <a:graphicData uri="http://schemas.openxmlformats.org/drawingml/2006/table">
            <a:tbl>
              <a:tblPr firstRow="1" bandRow="1">
                <a:tableStyleId>{2D5ABB26-0587-4C30-8999-92F81FD0307C}</a:tableStyleId>
              </a:tblPr>
              <a:tblGrid>
                <a:gridCol w="2508250">
                  <a:extLst>
                    <a:ext uri="{9D8B030D-6E8A-4147-A177-3AD203B41FA5}">
                      <a16:colId xmlns:a16="http://schemas.microsoft.com/office/drawing/2014/main" val="638885221"/>
                    </a:ext>
                  </a:extLst>
                </a:gridCol>
                <a:gridCol w="1340110">
                  <a:extLst>
                    <a:ext uri="{9D8B030D-6E8A-4147-A177-3AD203B41FA5}">
                      <a16:colId xmlns:a16="http://schemas.microsoft.com/office/drawing/2014/main" val="1583613334"/>
                    </a:ext>
                  </a:extLst>
                </a:gridCol>
              </a:tblGrid>
              <a:tr h="370840">
                <a:tc>
                  <a:txBody>
                    <a:bodyPr/>
                    <a:lstStyle/>
                    <a:p>
                      <a:r>
                        <a:rPr lang="fr-CA" b="1" dirty="0"/>
                        <a:t>Frais généraux de fabrication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b="1" dirty="0"/>
                        <a:t>Montant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98017"/>
                  </a:ext>
                </a:extLst>
              </a:tr>
              <a:tr h="370840">
                <a:tc>
                  <a:txBody>
                    <a:bodyPr/>
                    <a:lstStyle/>
                    <a:p>
                      <a:pPr fontAlgn="t">
                        <a:lnSpc>
                          <a:spcPts val="1500"/>
                        </a:lnSpc>
                        <a:buNone/>
                      </a:pPr>
                      <a:endParaRPr lang="fr-CA" sz="1800" kern="1200" dirty="0">
                        <a:solidFill>
                          <a:schemeClr val="tx1"/>
                        </a:solidFill>
                        <a:latin typeface="+mn-lt"/>
                        <a:ea typeface="+mn-ea"/>
                        <a:cs typeface="+mn-cs"/>
                      </a:endParaRPr>
                    </a:p>
                    <a:p>
                      <a:pPr fontAlgn="t">
                        <a:lnSpc>
                          <a:spcPts val="1500"/>
                        </a:lnSpc>
                        <a:buNone/>
                      </a:pPr>
                      <a:r>
                        <a:rPr lang="fr-CA" sz="1800" kern="1200" dirty="0">
                          <a:solidFill>
                            <a:schemeClr val="tx1"/>
                          </a:solidFill>
                          <a:latin typeface="+mn-lt"/>
                          <a:ea typeface="+mn-ea"/>
                          <a:cs typeface="+mn-cs"/>
                        </a:rPr>
                        <a:t>Électricité de l'atelier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943290"/>
                  </a:ext>
                </a:extLst>
              </a:tr>
              <a:tr h="370840">
                <a:tc>
                  <a:txBody>
                    <a:bodyPr/>
                    <a:lstStyle/>
                    <a:p>
                      <a:r>
                        <a:rPr lang="fr-CA" dirty="0"/>
                        <a:t>Amortissement des équipements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5 000 $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976041"/>
                  </a:ext>
                </a:extLst>
              </a:tr>
              <a:tr h="370840">
                <a:tc>
                  <a:txBody>
                    <a:bodyPr/>
                    <a:lstStyle/>
                    <a:p>
                      <a:r>
                        <a:rPr lang="fr-CA" dirty="0"/>
                        <a:t>Entretien des équipements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1 500 $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9002784"/>
                  </a:ext>
                </a:extLst>
              </a:tr>
              <a:tr h="370840">
                <a:tc>
                  <a:txBody>
                    <a:bodyPr/>
                    <a:lstStyle/>
                    <a:p>
                      <a:pPr>
                        <a:buNone/>
                      </a:pPr>
                      <a:r>
                        <a:rPr lang="fr-CA" dirty="0">
                          <a:effectLst/>
                        </a:rPr>
                        <a:t>Loyer de l'usine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721826"/>
                  </a:ext>
                </a:extLst>
              </a:tr>
              <a:tr h="370840">
                <a:tc>
                  <a:txBody>
                    <a:bodyPr/>
                    <a:lstStyle/>
                    <a:p>
                      <a:pPr>
                        <a:buNone/>
                      </a:pPr>
                      <a:r>
                        <a:rPr lang="fr-CA">
                          <a:effectLst/>
                        </a:rPr>
                        <a:t>Assurance de l'usine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800 $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807623"/>
                  </a:ext>
                </a:extLst>
              </a:tr>
              <a:tr h="370840">
                <a:tc>
                  <a:txBody>
                    <a:bodyPr/>
                    <a:lstStyle/>
                    <a:p>
                      <a:pPr>
                        <a:buNone/>
                      </a:pPr>
                      <a:r>
                        <a:rPr lang="fr-CA" dirty="0">
                          <a:effectLst/>
                        </a:rPr>
                        <a:t>Fournitures de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700 $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4834865"/>
                  </a:ext>
                </a:extLst>
              </a:tr>
              <a:tr h="370840">
                <a:tc>
                  <a:txBody>
                    <a:bodyPr/>
                    <a:lstStyle/>
                    <a:p>
                      <a:pPr>
                        <a:buNone/>
                      </a:pPr>
                      <a:r>
                        <a:rPr lang="fr-CA" b="1" dirty="0">
                          <a:effectLst/>
                        </a:rPr>
                        <a:t>Total FGF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b="1" dirty="0"/>
                        <a:t>10 000 $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310095"/>
                  </a:ext>
                </a:extLst>
              </a:tr>
            </a:tbl>
          </a:graphicData>
        </a:graphic>
      </p:graphicFrame>
      <p:sp>
        <p:nvSpPr>
          <p:cNvPr id="3" name="ZoneTexte 2">
            <a:extLst>
              <a:ext uri="{FF2B5EF4-FFF2-40B4-BE49-F238E27FC236}">
                <a16:creationId xmlns:a16="http://schemas.microsoft.com/office/drawing/2014/main" id="{E10BBD46-D984-67F4-5632-BCB79771B7A8}"/>
              </a:ext>
            </a:extLst>
          </p:cNvPr>
          <p:cNvSpPr txBox="1"/>
          <p:nvPr/>
        </p:nvSpPr>
        <p:spPr>
          <a:xfrm>
            <a:off x="583940" y="5173922"/>
            <a:ext cx="4394200" cy="1015663"/>
          </a:xfrm>
          <a:prstGeom prst="rect">
            <a:avLst/>
          </a:prstGeom>
          <a:noFill/>
        </p:spPr>
        <p:txBody>
          <a:bodyPr wrap="square" rtlCol="0">
            <a:spAutoFit/>
          </a:bodyPr>
          <a:lstStyle/>
          <a:p>
            <a:r>
              <a:rPr lang="fr-CA" sz="2000" b="1" dirty="0"/>
              <a:t>Travail à faire: </a:t>
            </a:r>
          </a:p>
          <a:p>
            <a:r>
              <a:rPr lang="fr-CA" sz="2000" dirty="0"/>
              <a:t>Calculez le taux d’imputation selon la base d’imputation choisie. </a:t>
            </a:r>
          </a:p>
        </p:txBody>
      </p:sp>
    </p:spTree>
    <p:extLst>
      <p:ext uri="{BB962C8B-B14F-4D97-AF65-F5344CB8AC3E}">
        <p14:creationId xmlns:p14="http://schemas.microsoft.com/office/powerpoint/2010/main" val="2153941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05AF-DC5F-000E-A93C-3194959289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89D9DFF-0016-AF1A-C716-D50790CA40CA}"/>
              </a:ext>
            </a:extLst>
          </p:cNvPr>
          <p:cNvSpPr>
            <a:spLocks noGrp="1"/>
          </p:cNvSpPr>
          <p:nvPr>
            <p:ph type="title"/>
          </p:nvPr>
        </p:nvSpPr>
        <p:spPr>
          <a:xfrm>
            <a:off x="838200" y="220725"/>
            <a:ext cx="10515600" cy="1325563"/>
          </a:xfrm>
        </p:spPr>
        <p:txBody>
          <a:bodyPr>
            <a:normAutofit fontScale="90000"/>
          </a:bodyPr>
          <a:lstStyle/>
          <a:p>
            <a:r>
              <a:rPr lang="fr-CA" dirty="0"/>
              <a:t>Exemple 2: plusieurs produits avec processus de fabrication différents (base unique) étudiants</a:t>
            </a:r>
          </a:p>
        </p:txBody>
      </p:sp>
      <p:sp>
        <p:nvSpPr>
          <p:cNvPr id="4" name="Espace réservé du pied de page 3">
            <a:extLst>
              <a:ext uri="{FF2B5EF4-FFF2-40B4-BE49-F238E27FC236}">
                <a16:creationId xmlns:a16="http://schemas.microsoft.com/office/drawing/2014/main" id="{7A22FBE3-3DC4-D390-F8B4-F4D05E42EF10}"/>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ECDF0B8-3582-76DD-2A4B-AA812592411F}"/>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37</a:t>
            </a:fld>
            <a:endParaRPr lang="fr-CA">
              <a:solidFill>
                <a:prstClr val="black">
                  <a:tint val="75000"/>
                </a:prstClr>
              </a:solidFill>
            </a:endParaRPr>
          </a:p>
        </p:txBody>
      </p:sp>
      <p:graphicFrame>
        <p:nvGraphicFramePr>
          <p:cNvPr id="9" name="Tableau 8">
            <a:extLst>
              <a:ext uri="{FF2B5EF4-FFF2-40B4-BE49-F238E27FC236}">
                <a16:creationId xmlns:a16="http://schemas.microsoft.com/office/drawing/2014/main" id="{A693D7E0-59A9-9DB3-7F83-1EDB4F773D77}"/>
              </a:ext>
            </a:extLst>
          </p:cNvPr>
          <p:cNvGraphicFramePr>
            <a:graphicFrameLocks noGrp="1"/>
          </p:cNvGraphicFramePr>
          <p:nvPr>
            <p:extLst>
              <p:ext uri="{D42A27DB-BD31-4B8C-83A1-F6EECF244321}">
                <p14:modId xmlns:p14="http://schemas.microsoft.com/office/powerpoint/2010/main" val="395356698"/>
              </p:ext>
            </p:extLst>
          </p:nvPr>
        </p:nvGraphicFramePr>
        <p:xfrm>
          <a:off x="583939" y="2070581"/>
          <a:ext cx="7056938" cy="2834640"/>
        </p:xfrm>
        <a:graphic>
          <a:graphicData uri="http://schemas.openxmlformats.org/drawingml/2006/table">
            <a:tbl>
              <a:tblPr firstRow="1" bandRow="1">
                <a:tableStyleId>{7E9639D4-E3E2-4D34-9284-5A2195B3D0D7}</a:tableStyleId>
              </a:tblPr>
              <a:tblGrid>
                <a:gridCol w="1757083">
                  <a:extLst>
                    <a:ext uri="{9D8B030D-6E8A-4147-A177-3AD203B41FA5}">
                      <a16:colId xmlns:a16="http://schemas.microsoft.com/office/drawing/2014/main" val="212755469"/>
                    </a:ext>
                  </a:extLst>
                </a:gridCol>
                <a:gridCol w="1189165">
                  <a:extLst>
                    <a:ext uri="{9D8B030D-6E8A-4147-A177-3AD203B41FA5}">
                      <a16:colId xmlns:a16="http://schemas.microsoft.com/office/drawing/2014/main" val="2450088520"/>
                    </a:ext>
                  </a:extLst>
                </a:gridCol>
                <a:gridCol w="1370230">
                  <a:extLst>
                    <a:ext uri="{9D8B030D-6E8A-4147-A177-3AD203B41FA5}">
                      <a16:colId xmlns:a16="http://schemas.microsoft.com/office/drawing/2014/main" val="187006908"/>
                    </a:ext>
                  </a:extLst>
                </a:gridCol>
                <a:gridCol w="1370230">
                  <a:extLst>
                    <a:ext uri="{9D8B030D-6E8A-4147-A177-3AD203B41FA5}">
                      <a16:colId xmlns:a16="http://schemas.microsoft.com/office/drawing/2014/main" val="3232591143"/>
                    </a:ext>
                  </a:extLst>
                </a:gridCol>
                <a:gridCol w="1370230">
                  <a:extLst>
                    <a:ext uri="{9D8B030D-6E8A-4147-A177-3AD203B41FA5}">
                      <a16:colId xmlns:a16="http://schemas.microsoft.com/office/drawing/2014/main" val="727020982"/>
                    </a:ext>
                  </a:extLst>
                </a:gridCol>
              </a:tblGrid>
              <a:tr h="370840">
                <a:tc>
                  <a:txBody>
                    <a:bodyPr/>
                    <a:lstStyle/>
                    <a:p>
                      <a:r>
                        <a:rPr lang="fr-CA" dirty="0">
                          <a:solidFill>
                            <a:schemeClr val="tx1"/>
                          </a:solidFill>
                        </a:rPr>
                        <a:t>Données de production mensuelle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Unités fabriquées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solidFill>
                            <a:schemeClr val="tx1"/>
                          </a:solidFill>
                          <a:effectLst/>
                        </a:rPr>
                        <a:t>Minutes de cuisson</a:t>
                      </a:r>
                    </a:p>
                    <a:p>
                      <a:endParaRPr lang="fr-C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Heures de cuisson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HM 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77773776"/>
                  </a:ext>
                </a:extLst>
              </a:tr>
              <a:tr h="370840">
                <a:tc>
                  <a:txBody>
                    <a:bodyPr/>
                    <a:lstStyle/>
                    <a:p>
                      <a:pPr>
                        <a:buNone/>
                      </a:pPr>
                      <a:r>
                        <a:rPr lang="fr-CA" dirty="0">
                          <a:effectLst/>
                        </a:rPr>
                        <a:t>Biscuits</a:t>
                      </a:r>
                    </a:p>
                    <a:p>
                      <a:pPr>
                        <a:buNone/>
                      </a:pPr>
                      <a:r>
                        <a:rPr lang="fr-CA" dirty="0">
                          <a:effectLst/>
                        </a:rPr>
                        <a:t>1 u = 12 biscuits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2 000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15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196194"/>
                  </a:ext>
                </a:extLst>
              </a:tr>
              <a:tr h="370840">
                <a:tc>
                  <a:txBody>
                    <a:bodyPr/>
                    <a:lstStyle/>
                    <a:p>
                      <a:pPr>
                        <a:buNone/>
                      </a:pPr>
                      <a:r>
                        <a:rPr lang="fr-CA" dirty="0">
                          <a:effectLst/>
                        </a:rPr>
                        <a:t>Tartes</a:t>
                      </a:r>
                    </a:p>
                    <a:p>
                      <a:pPr>
                        <a:buNone/>
                      </a:pPr>
                      <a:endParaRPr lang="fr-CA"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800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45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375160"/>
                  </a:ext>
                </a:extLst>
              </a:tr>
              <a:tr h="370840">
                <a:tc>
                  <a:txBody>
                    <a:bodyPr/>
                    <a:lstStyle/>
                    <a:p>
                      <a:pPr>
                        <a:buNone/>
                      </a:pPr>
                      <a:r>
                        <a:rPr lang="fr-CA" dirty="0">
                          <a:effectLst/>
                        </a:rPr>
                        <a:t>Gâteaux</a:t>
                      </a:r>
                    </a:p>
                    <a:p>
                      <a:pPr>
                        <a:buNone/>
                      </a:pPr>
                      <a:endParaRPr lang="fr-CA"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500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60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118438"/>
                  </a:ext>
                </a:extLst>
              </a:tr>
            </a:tbl>
          </a:graphicData>
        </a:graphic>
      </p:graphicFrame>
      <p:graphicFrame>
        <p:nvGraphicFramePr>
          <p:cNvPr id="10" name="Tableau 9">
            <a:extLst>
              <a:ext uri="{FF2B5EF4-FFF2-40B4-BE49-F238E27FC236}">
                <a16:creationId xmlns:a16="http://schemas.microsoft.com/office/drawing/2014/main" id="{5018872B-DB01-9F25-8CD8-08BAB03B7A6E}"/>
              </a:ext>
            </a:extLst>
          </p:cNvPr>
          <p:cNvGraphicFramePr>
            <a:graphicFrameLocks noGrp="1"/>
          </p:cNvGraphicFramePr>
          <p:nvPr>
            <p:extLst>
              <p:ext uri="{D42A27DB-BD31-4B8C-83A1-F6EECF244321}">
                <p14:modId xmlns:p14="http://schemas.microsoft.com/office/powerpoint/2010/main" val="903391623"/>
              </p:ext>
            </p:extLst>
          </p:nvPr>
        </p:nvGraphicFramePr>
        <p:xfrm>
          <a:off x="7795647" y="1690688"/>
          <a:ext cx="4231038" cy="4643755"/>
        </p:xfrm>
        <a:graphic>
          <a:graphicData uri="http://schemas.openxmlformats.org/drawingml/2006/table">
            <a:tbl>
              <a:tblPr firstRow="1" bandRow="1">
                <a:tableStyleId>{2D5ABB26-0587-4C30-8999-92F81FD0307C}</a:tableStyleId>
              </a:tblPr>
              <a:tblGrid>
                <a:gridCol w="2696706">
                  <a:extLst>
                    <a:ext uri="{9D8B030D-6E8A-4147-A177-3AD203B41FA5}">
                      <a16:colId xmlns:a16="http://schemas.microsoft.com/office/drawing/2014/main" val="638885221"/>
                    </a:ext>
                  </a:extLst>
                </a:gridCol>
                <a:gridCol w="1534332">
                  <a:extLst>
                    <a:ext uri="{9D8B030D-6E8A-4147-A177-3AD203B41FA5}">
                      <a16:colId xmlns:a16="http://schemas.microsoft.com/office/drawing/2014/main" val="1583613334"/>
                    </a:ext>
                  </a:extLst>
                </a:gridCol>
              </a:tblGrid>
              <a:tr h="370840">
                <a:tc>
                  <a:txBody>
                    <a:bodyPr/>
                    <a:lstStyle/>
                    <a:p>
                      <a:r>
                        <a:rPr lang="fr-CA" b="1" dirty="0"/>
                        <a:t>FGF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b="1" dirty="0"/>
                        <a:t>Montant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98017"/>
                  </a:ext>
                </a:extLst>
              </a:tr>
              <a:tr h="370840">
                <a:tc>
                  <a:txBody>
                    <a:bodyPr/>
                    <a:lstStyle/>
                    <a:p>
                      <a:pPr fontAlgn="t">
                        <a:lnSpc>
                          <a:spcPts val="1500"/>
                        </a:lnSpc>
                        <a:buNone/>
                      </a:pPr>
                      <a:endParaRPr lang="fr-CA" sz="1800" kern="1200" dirty="0">
                        <a:solidFill>
                          <a:schemeClr val="tx1"/>
                        </a:solidFill>
                        <a:latin typeface="+mn-lt"/>
                        <a:ea typeface="+mn-ea"/>
                        <a:cs typeface="+mn-cs"/>
                      </a:endParaRPr>
                    </a:p>
                    <a:p>
                      <a:pPr fontAlgn="t">
                        <a:lnSpc>
                          <a:spcPts val="1500"/>
                        </a:lnSpc>
                        <a:buNone/>
                      </a:pPr>
                      <a:r>
                        <a:rPr lang="fr-CA" sz="1800" kern="1200" dirty="0">
                          <a:solidFill>
                            <a:schemeClr val="tx1"/>
                          </a:solidFill>
                          <a:latin typeface="+mn-lt"/>
                          <a:ea typeface="+mn-ea"/>
                          <a:cs typeface="+mn-cs"/>
                        </a:rPr>
                        <a:t>Électricité de l'atelier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943290"/>
                  </a:ext>
                </a:extLst>
              </a:tr>
              <a:tr h="370840">
                <a:tc>
                  <a:txBody>
                    <a:bodyPr/>
                    <a:lstStyle/>
                    <a:p>
                      <a:r>
                        <a:rPr lang="fr-CA" dirty="0"/>
                        <a:t>Amortissement </a:t>
                      </a:r>
                    </a:p>
                    <a:p>
                      <a:r>
                        <a:rPr lang="fr-CA" dirty="0"/>
                        <a:t>des équipements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5 000 $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976041"/>
                  </a:ext>
                </a:extLst>
              </a:tr>
              <a:tr h="370840">
                <a:tc>
                  <a:txBody>
                    <a:bodyPr/>
                    <a:lstStyle/>
                    <a:p>
                      <a:r>
                        <a:rPr lang="fr-CA" dirty="0"/>
                        <a:t>Entretien des équipements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1 500 $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9002784"/>
                  </a:ext>
                </a:extLst>
              </a:tr>
              <a:tr h="370840">
                <a:tc>
                  <a:txBody>
                    <a:bodyPr/>
                    <a:lstStyle/>
                    <a:p>
                      <a:pPr>
                        <a:buNone/>
                      </a:pPr>
                      <a:r>
                        <a:rPr lang="fr-CA" dirty="0">
                          <a:effectLst/>
                        </a:rPr>
                        <a:t>Loyer de l'usine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721826"/>
                  </a:ext>
                </a:extLst>
              </a:tr>
              <a:tr h="370840">
                <a:tc>
                  <a:txBody>
                    <a:bodyPr/>
                    <a:lstStyle/>
                    <a:p>
                      <a:pPr>
                        <a:buNone/>
                      </a:pPr>
                      <a:r>
                        <a:rPr lang="fr-CA">
                          <a:effectLst/>
                        </a:rPr>
                        <a:t>Assurance de l'usine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800 $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807623"/>
                  </a:ext>
                </a:extLst>
              </a:tr>
              <a:tr h="370840">
                <a:tc>
                  <a:txBody>
                    <a:bodyPr/>
                    <a:lstStyle/>
                    <a:p>
                      <a:pPr>
                        <a:buNone/>
                      </a:pPr>
                      <a:r>
                        <a:rPr lang="fr-CA" dirty="0">
                          <a:effectLst/>
                        </a:rPr>
                        <a:t>Fournitures de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700 $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4834865"/>
                  </a:ext>
                </a:extLst>
              </a:tr>
              <a:tr h="370840">
                <a:tc>
                  <a:txBody>
                    <a:bodyPr/>
                    <a:lstStyle/>
                    <a:p>
                      <a:pPr>
                        <a:buNone/>
                      </a:pPr>
                      <a:r>
                        <a:rPr lang="fr-CA" b="1" dirty="0">
                          <a:effectLst/>
                        </a:rPr>
                        <a:t>Total FGF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b="1" dirty="0"/>
                        <a:t>10 000 $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310095"/>
                  </a:ext>
                </a:extLst>
              </a:tr>
              <a:tr h="370840">
                <a:tc>
                  <a:txBody>
                    <a:bodyPr/>
                    <a:lstStyle/>
                    <a:p>
                      <a:pPr>
                        <a:buNone/>
                      </a:pPr>
                      <a:r>
                        <a:rPr lang="fr-CA" b="1" dirty="0">
                          <a:effectLst/>
                        </a:rPr>
                        <a:t>HM 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CA"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3740845"/>
                  </a:ext>
                </a:extLst>
              </a:tr>
              <a:tr h="370840">
                <a:tc>
                  <a:txBody>
                    <a:bodyPr/>
                    <a:lstStyle/>
                    <a:p>
                      <a:pPr>
                        <a:buNone/>
                      </a:pPr>
                      <a:r>
                        <a:rPr lang="fr-CA" b="1" dirty="0">
                          <a:effectLst/>
                        </a:rPr>
                        <a:t>Taux d’imputation</a:t>
                      </a:r>
                    </a:p>
                    <a:p>
                      <a:pPr>
                        <a:buNone/>
                      </a:pPr>
                      <a:endParaRPr lang="fr-CA" b="1" dirty="0">
                        <a:effectLst/>
                      </a:endParaRPr>
                    </a:p>
                    <a:p>
                      <a:pPr>
                        <a:buNone/>
                      </a:pPr>
                      <a:endParaRPr lang="fr-CA"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CA"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675338"/>
                  </a:ext>
                </a:extLst>
              </a:tr>
            </a:tbl>
          </a:graphicData>
        </a:graphic>
      </p:graphicFrame>
      <p:sp>
        <p:nvSpPr>
          <p:cNvPr id="3" name="ZoneTexte 2">
            <a:extLst>
              <a:ext uri="{FF2B5EF4-FFF2-40B4-BE49-F238E27FC236}">
                <a16:creationId xmlns:a16="http://schemas.microsoft.com/office/drawing/2014/main" id="{57A79F26-F5F6-F8CB-7055-B50D8052D6A3}"/>
              </a:ext>
            </a:extLst>
          </p:cNvPr>
          <p:cNvSpPr txBox="1"/>
          <p:nvPr/>
        </p:nvSpPr>
        <p:spPr>
          <a:xfrm>
            <a:off x="583940" y="5173922"/>
            <a:ext cx="4394200" cy="1015663"/>
          </a:xfrm>
          <a:prstGeom prst="rect">
            <a:avLst/>
          </a:prstGeom>
          <a:noFill/>
        </p:spPr>
        <p:txBody>
          <a:bodyPr wrap="square" rtlCol="0">
            <a:spAutoFit/>
          </a:bodyPr>
          <a:lstStyle/>
          <a:p>
            <a:r>
              <a:rPr lang="fr-CA" sz="2000" b="1" dirty="0"/>
              <a:t>Travail à faire: </a:t>
            </a:r>
          </a:p>
          <a:p>
            <a:r>
              <a:rPr lang="fr-CA" sz="2000" dirty="0"/>
              <a:t>Calculez le taux d’imputation selon la base d’imputation choisie. </a:t>
            </a:r>
          </a:p>
        </p:txBody>
      </p:sp>
    </p:spTree>
    <p:extLst>
      <p:ext uri="{BB962C8B-B14F-4D97-AF65-F5344CB8AC3E}">
        <p14:creationId xmlns:p14="http://schemas.microsoft.com/office/powerpoint/2010/main" val="342893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EE59-F47B-6524-3698-FD6242F9CF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8983BB-8790-1F97-0607-70D754A91175}"/>
              </a:ext>
            </a:extLst>
          </p:cNvPr>
          <p:cNvSpPr>
            <a:spLocks noGrp="1"/>
          </p:cNvSpPr>
          <p:nvPr>
            <p:ph type="title"/>
          </p:nvPr>
        </p:nvSpPr>
        <p:spPr>
          <a:xfrm>
            <a:off x="838200" y="220725"/>
            <a:ext cx="10515600" cy="1325563"/>
          </a:xfrm>
        </p:spPr>
        <p:txBody>
          <a:bodyPr>
            <a:normAutofit fontScale="90000"/>
          </a:bodyPr>
          <a:lstStyle/>
          <a:p>
            <a:r>
              <a:rPr lang="fr-CA" dirty="0"/>
              <a:t>Exemple 2: plusieurs produits avec processus de fabrication différents (base unique) étudiants</a:t>
            </a:r>
          </a:p>
        </p:txBody>
      </p:sp>
      <p:sp>
        <p:nvSpPr>
          <p:cNvPr id="4" name="Espace réservé du pied de page 3">
            <a:extLst>
              <a:ext uri="{FF2B5EF4-FFF2-40B4-BE49-F238E27FC236}">
                <a16:creationId xmlns:a16="http://schemas.microsoft.com/office/drawing/2014/main" id="{1A8A3333-691E-C8A8-D2C2-F30EF3C42C8A}"/>
              </a:ext>
            </a:extLst>
          </p:cNvPr>
          <p:cNvSpPr>
            <a:spLocks noGrp="1"/>
          </p:cNvSpPr>
          <p:nvPr>
            <p:ph type="ftr" sz="quarter" idx="11"/>
          </p:nvPr>
        </p:nvSpPr>
        <p:spPr/>
        <p:txBody>
          <a:bodyPr/>
          <a:lstStyle/>
          <a:p>
            <a:r>
              <a:rPr lang="pt-BR">
                <a:solidFill>
                  <a:prstClr val="black">
                    <a:tint val="75000"/>
                  </a:prstClr>
                </a:solidFill>
              </a:rPr>
              <a:t>(c) 10904 / S05</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F58077CA-D5DB-800D-B252-FD60B99C5E71}"/>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38</a:t>
            </a:fld>
            <a:endParaRPr lang="fr-CA">
              <a:solidFill>
                <a:prstClr val="black">
                  <a:tint val="75000"/>
                </a:prstClr>
              </a:solidFill>
            </a:endParaRPr>
          </a:p>
        </p:txBody>
      </p:sp>
      <p:graphicFrame>
        <p:nvGraphicFramePr>
          <p:cNvPr id="9" name="Tableau 8">
            <a:extLst>
              <a:ext uri="{FF2B5EF4-FFF2-40B4-BE49-F238E27FC236}">
                <a16:creationId xmlns:a16="http://schemas.microsoft.com/office/drawing/2014/main" id="{1550467F-16D7-E253-F655-507734F5CBE5}"/>
              </a:ext>
            </a:extLst>
          </p:cNvPr>
          <p:cNvGraphicFramePr>
            <a:graphicFrameLocks noGrp="1"/>
          </p:cNvGraphicFramePr>
          <p:nvPr>
            <p:extLst>
              <p:ext uri="{D42A27DB-BD31-4B8C-83A1-F6EECF244321}">
                <p14:modId xmlns:p14="http://schemas.microsoft.com/office/powerpoint/2010/main" val="1530430407"/>
              </p:ext>
            </p:extLst>
          </p:nvPr>
        </p:nvGraphicFramePr>
        <p:xfrm>
          <a:off x="343185" y="1690688"/>
          <a:ext cx="7390829" cy="3512469"/>
        </p:xfrm>
        <a:graphic>
          <a:graphicData uri="http://schemas.openxmlformats.org/drawingml/2006/table">
            <a:tbl>
              <a:tblPr firstRow="1" bandRow="1">
                <a:tableStyleId>{7E9639D4-E3E2-4D34-9284-5A2195B3D0D7}</a:tableStyleId>
              </a:tblPr>
              <a:tblGrid>
                <a:gridCol w="1514684">
                  <a:extLst>
                    <a:ext uri="{9D8B030D-6E8A-4147-A177-3AD203B41FA5}">
                      <a16:colId xmlns:a16="http://schemas.microsoft.com/office/drawing/2014/main" val="212755469"/>
                    </a:ext>
                  </a:extLst>
                </a:gridCol>
                <a:gridCol w="1244183">
                  <a:extLst>
                    <a:ext uri="{9D8B030D-6E8A-4147-A177-3AD203B41FA5}">
                      <a16:colId xmlns:a16="http://schemas.microsoft.com/office/drawing/2014/main" val="2450088520"/>
                    </a:ext>
                  </a:extLst>
                </a:gridCol>
                <a:gridCol w="1004341">
                  <a:extLst>
                    <a:ext uri="{9D8B030D-6E8A-4147-A177-3AD203B41FA5}">
                      <a16:colId xmlns:a16="http://schemas.microsoft.com/office/drawing/2014/main" val="3232591143"/>
                    </a:ext>
                  </a:extLst>
                </a:gridCol>
                <a:gridCol w="2113613">
                  <a:extLst>
                    <a:ext uri="{9D8B030D-6E8A-4147-A177-3AD203B41FA5}">
                      <a16:colId xmlns:a16="http://schemas.microsoft.com/office/drawing/2014/main" val="727020982"/>
                    </a:ext>
                  </a:extLst>
                </a:gridCol>
                <a:gridCol w="1514008">
                  <a:extLst>
                    <a:ext uri="{9D8B030D-6E8A-4147-A177-3AD203B41FA5}">
                      <a16:colId xmlns:a16="http://schemas.microsoft.com/office/drawing/2014/main" val="4113774145"/>
                    </a:ext>
                  </a:extLst>
                </a:gridCol>
              </a:tblGrid>
              <a:tr h="988547">
                <a:tc>
                  <a:txBody>
                    <a:bodyPr/>
                    <a:lstStyle/>
                    <a:p>
                      <a:r>
                        <a:rPr lang="fr-CA" dirty="0">
                          <a:solidFill>
                            <a:schemeClr val="tx1"/>
                          </a:solidFill>
                        </a:rPr>
                        <a:t>Données de production mensuelle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solidFill>
                            <a:schemeClr val="tx1"/>
                          </a:solidFill>
                        </a:rPr>
                        <a:t>Unités fabriquées</a:t>
                      </a:r>
                    </a:p>
                    <a:p>
                      <a:endParaRPr lang="fr-C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Heures de cuisson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Coût unitaire FGF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fr-CA" dirty="0">
                          <a:solidFill>
                            <a:schemeClr val="tx1"/>
                          </a:solidFill>
                        </a:rPr>
                        <a:t>Coût total FGF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77773776"/>
                  </a:ext>
                </a:extLst>
              </a:tr>
              <a:tr h="828463">
                <a:tc>
                  <a:txBody>
                    <a:bodyPr/>
                    <a:lstStyle/>
                    <a:p>
                      <a:pPr>
                        <a:buNone/>
                      </a:pPr>
                      <a:r>
                        <a:rPr lang="fr-CA" dirty="0">
                          <a:effectLst/>
                        </a:rPr>
                        <a:t>Biscuits</a:t>
                      </a:r>
                    </a:p>
                    <a:p>
                      <a:pPr>
                        <a:buNone/>
                      </a:pPr>
                      <a:r>
                        <a:rPr lang="fr-CA" dirty="0">
                          <a:effectLst/>
                        </a:rPr>
                        <a:t>1 u = 12 biscuits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2 000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196194"/>
                  </a:ext>
                </a:extLst>
              </a:tr>
              <a:tr h="813473">
                <a:tc>
                  <a:txBody>
                    <a:bodyPr/>
                    <a:lstStyle/>
                    <a:p>
                      <a:pPr>
                        <a:buNone/>
                      </a:pPr>
                      <a:r>
                        <a:rPr lang="fr-CA" dirty="0">
                          <a:effectLst/>
                        </a:rPr>
                        <a:t>Tartes</a:t>
                      </a:r>
                    </a:p>
                    <a:p>
                      <a:pPr>
                        <a:buNone/>
                      </a:pPr>
                      <a:endParaRPr lang="fr-CA"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800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375160"/>
                  </a:ext>
                </a:extLst>
              </a:tr>
              <a:tr h="796049">
                <a:tc>
                  <a:txBody>
                    <a:bodyPr/>
                    <a:lstStyle/>
                    <a:p>
                      <a:pPr>
                        <a:buNone/>
                      </a:pPr>
                      <a:r>
                        <a:rPr lang="fr-CA" dirty="0">
                          <a:effectLst/>
                        </a:rPr>
                        <a:t>Gâteaux</a:t>
                      </a:r>
                    </a:p>
                    <a:p>
                      <a:pPr>
                        <a:buNone/>
                      </a:pPr>
                      <a:endParaRPr lang="fr-CA"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CA" dirty="0">
                          <a:effectLst/>
                        </a:rPr>
                        <a:t>500 unités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fr-CA" dirty="0">
                        <a:solidFill>
                          <a:srgbClr val="0070C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118438"/>
                  </a:ext>
                </a:extLst>
              </a:tr>
            </a:tbl>
          </a:graphicData>
        </a:graphic>
      </p:graphicFrame>
      <p:graphicFrame>
        <p:nvGraphicFramePr>
          <p:cNvPr id="10" name="Tableau 9">
            <a:extLst>
              <a:ext uri="{FF2B5EF4-FFF2-40B4-BE49-F238E27FC236}">
                <a16:creationId xmlns:a16="http://schemas.microsoft.com/office/drawing/2014/main" id="{1FE477DC-94F8-27BA-89D4-0CFDA4ED2EF7}"/>
              </a:ext>
            </a:extLst>
          </p:cNvPr>
          <p:cNvGraphicFramePr>
            <a:graphicFrameLocks noGrp="1"/>
          </p:cNvGraphicFramePr>
          <p:nvPr/>
        </p:nvGraphicFramePr>
        <p:xfrm>
          <a:off x="7795647" y="1690688"/>
          <a:ext cx="4231038" cy="3358515"/>
        </p:xfrm>
        <a:graphic>
          <a:graphicData uri="http://schemas.openxmlformats.org/drawingml/2006/table">
            <a:tbl>
              <a:tblPr firstRow="1" bandRow="1">
                <a:tableStyleId>{2D5ABB26-0587-4C30-8999-92F81FD0307C}</a:tableStyleId>
              </a:tblPr>
              <a:tblGrid>
                <a:gridCol w="2696706">
                  <a:extLst>
                    <a:ext uri="{9D8B030D-6E8A-4147-A177-3AD203B41FA5}">
                      <a16:colId xmlns:a16="http://schemas.microsoft.com/office/drawing/2014/main" val="638885221"/>
                    </a:ext>
                  </a:extLst>
                </a:gridCol>
                <a:gridCol w="1534332">
                  <a:extLst>
                    <a:ext uri="{9D8B030D-6E8A-4147-A177-3AD203B41FA5}">
                      <a16:colId xmlns:a16="http://schemas.microsoft.com/office/drawing/2014/main" val="1583613334"/>
                    </a:ext>
                  </a:extLst>
                </a:gridCol>
              </a:tblGrid>
              <a:tr h="370840">
                <a:tc>
                  <a:txBody>
                    <a:bodyPr/>
                    <a:lstStyle/>
                    <a:p>
                      <a:r>
                        <a:rPr lang="fr-CA" b="1" dirty="0"/>
                        <a:t>FGF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b="1" dirty="0"/>
                        <a:t>Montant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98017"/>
                  </a:ext>
                </a:extLst>
              </a:tr>
              <a:tr h="370840">
                <a:tc>
                  <a:txBody>
                    <a:bodyPr/>
                    <a:lstStyle/>
                    <a:p>
                      <a:pPr fontAlgn="t">
                        <a:lnSpc>
                          <a:spcPts val="1500"/>
                        </a:lnSpc>
                        <a:buNone/>
                      </a:pPr>
                      <a:endParaRPr lang="fr-CA" sz="1800" kern="1200" dirty="0">
                        <a:solidFill>
                          <a:schemeClr val="tx1"/>
                        </a:solidFill>
                        <a:latin typeface="+mn-lt"/>
                        <a:ea typeface="+mn-ea"/>
                        <a:cs typeface="+mn-cs"/>
                      </a:endParaRPr>
                    </a:p>
                    <a:p>
                      <a:pPr fontAlgn="t">
                        <a:lnSpc>
                          <a:spcPts val="1500"/>
                        </a:lnSpc>
                        <a:buNone/>
                      </a:pPr>
                      <a:r>
                        <a:rPr lang="fr-CA" sz="1800" kern="1200" dirty="0">
                          <a:solidFill>
                            <a:schemeClr val="tx1"/>
                          </a:solidFill>
                          <a:latin typeface="+mn-lt"/>
                          <a:ea typeface="+mn-ea"/>
                          <a:cs typeface="+mn-cs"/>
                        </a:rPr>
                        <a:t>Électricité de l'atelier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943290"/>
                  </a:ext>
                </a:extLst>
              </a:tr>
              <a:tr h="370840">
                <a:tc>
                  <a:txBody>
                    <a:bodyPr/>
                    <a:lstStyle/>
                    <a:p>
                      <a:r>
                        <a:rPr lang="fr-CA" dirty="0"/>
                        <a:t>Amortissement </a:t>
                      </a:r>
                    </a:p>
                    <a:p>
                      <a:r>
                        <a:rPr lang="fr-CA" dirty="0"/>
                        <a:t>des équipements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5 000 $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976041"/>
                  </a:ext>
                </a:extLst>
              </a:tr>
              <a:tr h="370840">
                <a:tc>
                  <a:txBody>
                    <a:bodyPr/>
                    <a:lstStyle/>
                    <a:p>
                      <a:r>
                        <a:rPr lang="fr-CA" dirty="0"/>
                        <a:t>Entretien des équipements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1 500 $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9002784"/>
                  </a:ext>
                </a:extLst>
              </a:tr>
              <a:tr h="370840">
                <a:tc>
                  <a:txBody>
                    <a:bodyPr/>
                    <a:lstStyle/>
                    <a:p>
                      <a:pPr>
                        <a:buNone/>
                      </a:pPr>
                      <a:r>
                        <a:rPr lang="fr-CA" dirty="0">
                          <a:effectLst/>
                        </a:rPr>
                        <a:t>Loyer de l'usine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1 000 $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721826"/>
                  </a:ext>
                </a:extLst>
              </a:tr>
              <a:tr h="370840">
                <a:tc>
                  <a:txBody>
                    <a:bodyPr/>
                    <a:lstStyle/>
                    <a:p>
                      <a:pPr>
                        <a:buNone/>
                      </a:pPr>
                      <a:r>
                        <a:rPr lang="fr-CA">
                          <a:effectLst/>
                        </a:rPr>
                        <a:t>Assurance de l'usine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800 $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807623"/>
                  </a:ext>
                </a:extLst>
              </a:tr>
              <a:tr h="370840">
                <a:tc>
                  <a:txBody>
                    <a:bodyPr/>
                    <a:lstStyle/>
                    <a:p>
                      <a:pPr>
                        <a:buNone/>
                      </a:pPr>
                      <a:r>
                        <a:rPr lang="fr-CA" dirty="0">
                          <a:effectLst/>
                        </a:rPr>
                        <a:t>Fournitures de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dirty="0"/>
                        <a:t>700 $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4834865"/>
                  </a:ext>
                </a:extLst>
              </a:tr>
              <a:tr h="370840">
                <a:tc>
                  <a:txBody>
                    <a:bodyPr/>
                    <a:lstStyle/>
                    <a:p>
                      <a:pPr>
                        <a:buNone/>
                      </a:pPr>
                      <a:r>
                        <a:rPr lang="fr-CA" b="1" dirty="0">
                          <a:effectLst/>
                        </a:rPr>
                        <a:t>Total FGF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b="1" dirty="0"/>
                        <a:t>10 000 $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310095"/>
                  </a:ext>
                </a:extLst>
              </a:tr>
            </a:tbl>
          </a:graphicData>
        </a:graphic>
      </p:graphicFrame>
      <p:sp>
        <p:nvSpPr>
          <p:cNvPr id="3" name="ZoneTexte 2">
            <a:extLst>
              <a:ext uri="{FF2B5EF4-FFF2-40B4-BE49-F238E27FC236}">
                <a16:creationId xmlns:a16="http://schemas.microsoft.com/office/drawing/2014/main" id="{79940F46-862F-DFE1-E7C3-91159C6DD079}"/>
              </a:ext>
            </a:extLst>
          </p:cNvPr>
          <p:cNvSpPr txBox="1"/>
          <p:nvPr/>
        </p:nvSpPr>
        <p:spPr>
          <a:xfrm>
            <a:off x="343185" y="5379107"/>
            <a:ext cx="4394200" cy="1015663"/>
          </a:xfrm>
          <a:prstGeom prst="rect">
            <a:avLst/>
          </a:prstGeom>
          <a:noFill/>
        </p:spPr>
        <p:txBody>
          <a:bodyPr wrap="square" rtlCol="0">
            <a:spAutoFit/>
          </a:bodyPr>
          <a:lstStyle/>
          <a:p>
            <a:r>
              <a:rPr lang="fr-CA" sz="2000" b="1" dirty="0"/>
              <a:t>Travail à faire: </a:t>
            </a:r>
          </a:p>
          <a:p>
            <a:r>
              <a:rPr lang="fr-CA" sz="2000" dirty="0"/>
              <a:t>Répartir les frais généraux de fabrication (</a:t>
            </a:r>
            <a:r>
              <a:rPr lang="fr-CA" sz="2000" b="1" dirty="0"/>
              <a:t>FGF</a:t>
            </a:r>
            <a:r>
              <a:rPr lang="fr-CA" sz="2000" dirty="0"/>
              <a:t>) aux produits (étape 3)</a:t>
            </a:r>
          </a:p>
        </p:txBody>
      </p:sp>
    </p:spTree>
    <p:extLst>
      <p:ext uri="{BB962C8B-B14F-4D97-AF65-F5344CB8AC3E}">
        <p14:creationId xmlns:p14="http://schemas.microsoft.com/office/powerpoint/2010/main" val="648162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7475B-8BA4-CB8E-E5D7-6990B2622CB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FEC1EA3-B072-A9AC-3023-5D4B8FBCD233}"/>
              </a:ext>
            </a:extLst>
          </p:cNvPr>
          <p:cNvSpPr>
            <a:spLocks noGrp="1"/>
          </p:cNvSpPr>
          <p:nvPr>
            <p:ph type="title"/>
          </p:nvPr>
        </p:nvSpPr>
        <p:spPr>
          <a:xfrm>
            <a:off x="838200" y="365125"/>
            <a:ext cx="10515600" cy="1743075"/>
          </a:xfrm>
        </p:spPr>
        <p:txBody>
          <a:bodyPr>
            <a:normAutofit fontScale="90000"/>
          </a:bodyPr>
          <a:lstStyle/>
          <a:p>
            <a:pPr algn="ctr"/>
            <a:r>
              <a:rPr lang="fr-CA" dirty="0"/>
              <a:t>Exemple 3: plusieurs produits avec processus de fabrication différents </a:t>
            </a:r>
            <a:r>
              <a:rPr lang="fr-CA" sz="4000" dirty="0"/>
              <a:t>(plusieurs bases d’imputation)</a:t>
            </a:r>
            <a:br>
              <a:rPr lang="fr-CA" sz="4000" dirty="0"/>
            </a:br>
            <a:r>
              <a:rPr lang="fr-CA" sz="4000" b="1" dirty="0"/>
              <a:t>Imputation par centres de coûts</a:t>
            </a:r>
          </a:p>
        </p:txBody>
      </p:sp>
      <p:sp>
        <p:nvSpPr>
          <p:cNvPr id="3" name="Espace réservé du contenu 2">
            <a:extLst>
              <a:ext uri="{FF2B5EF4-FFF2-40B4-BE49-F238E27FC236}">
                <a16:creationId xmlns:a16="http://schemas.microsoft.com/office/drawing/2014/main" id="{6E763ED8-B13C-8841-C50E-898218E7ED31}"/>
              </a:ext>
            </a:extLst>
          </p:cNvPr>
          <p:cNvSpPr>
            <a:spLocks noGrp="1"/>
          </p:cNvSpPr>
          <p:nvPr>
            <p:ph idx="1"/>
          </p:nvPr>
        </p:nvSpPr>
        <p:spPr>
          <a:xfrm>
            <a:off x="838200" y="2641599"/>
            <a:ext cx="10515600" cy="3535363"/>
          </a:xfrm>
        </p:spPr>
        <p:txBody>
          <a:bodyPr>
            <a:normAutofit/>
          </a:bodyPr>
          <a:lstStyle/>
          <a:p>
            <a:r>
              <a:rPr lang="fr-CA" dirty="0"/>
              <a:t>Une pâtisserie fabrique trois types de produits : des </a:t>
            </a:r>
            <a:r>
              <a:rPr lang="fr-CA" b="1" dirty="0"/>
              <a:t>biscuits</a:t>
            </a:r>
            <a:r>
              <a:rPr lang="fr-CA" dirty="0"/>
              <a:t>, des </a:t>
            </a:r>
            <a:r>
              <a:rPr lang="fr-CA" b="1" dirty="0"/>
              <a:t>gâteaux</a:t>
            </a:r>
            <a:r>
              <a:rPr lang="fr-CA" dirty="0"/>
              <a:t> au chocolat et des </a:t>
            </a:r>
            <a:r>
              <a:rPr lang="fr-CA" b="1" dirty="0"/>
              <a:t>gâteaux à la crème glacée</a:t>
            </a:r>
            <a:r>
              <a:rPr lang="fr-CA" dirty="0"/>
              <a:t>. Elle souhaite calculer la rentabilité de chacun de ces produits.</a:t>
            </a:r>
          </a:p>
          <a:p>
            <a:endParaRPr lang="fr-CA" dirty="0"/>
          </a:p>
          <a:p>
            <a:pPr marL="0" indent="0">
              <a:buNone/>
            </a:pPr>
            <a:r>
              <a:rPr lang="fr-CA" b="1" dirty="0"/>
              <a:t>Question : </a:t>
            </a:r>
            <a:r>
              <a:rPr lang="fr-CA" dirty="0"/>
              <a:t>Quelle base d’imputation pourrait-elle choisir pour répartir ses frais généraux de fabrication entre les trois produits ?</a:t>
            </a:r>
          </a:p>
          <a:p>
            <a:pPr marL="0" indent="0">
              <a:buNone/>
            </a:pPr>
            <a:endParaRPr lang="fr-CA" dirty="0"/>
          </a:p>
          <a:p>
            <a:pPr marL="0" indent="0">
              <a:buNone/>
            </a:pPr>
            <a:endParaRPr lang="fr-CA" dirty="0"/>
          </a:p>
        </p:txBody>
      </p:sp>
      <p:sp>
        <p:nvSpPr>
          <p:cNvPr id="4" name="Espace réservé du pied de page 3">
            <a:extLst>
              <a:ext uri="{FF2B5EF4-FFF2-40B4-BE49-F238E27FC236}">
                <a16:creationId xmlns:a16="http://schemas.microsoft.com/office/drawing/2014/main" id="{A819DA44-951D-1C96-96D1-E5BB5F78502C}"/>
              </a:ext>
            </a:extLst>
          </p:cNvPr>
          <p:cNvSpPr>
            <a:spLocks noGrp="1"/>
          </p:cNvSpPr>
          <p:nvPr>
            <p:ph type="ftr" sz="quarter" idx="11"/>
          </p:nvPr>
        </p:nvSpPr>
        <p:spPr/>
        <p:txBody>
          <a:bodyPr/>
          <a:lstStyle/>
          <a:p>
            <a:r>
              <a:rPr lang="pt-BR" dirty="0">
                <a:solidFill>
                  <a:prstClr val="black">
                    <a:tint val="75000"/>
                  </a:prstClr>
                </a:solidFill>
              </a:rPr>
              <a:t>(c) 10904 / S05</a:t>
            </a:r>
            <a:endParaRPr lang="fr-CA" dirty="0">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CDB4C6CB-6A78-A666-AF1D-4B00B79C0C07}"/>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39</a:t>
            </a:fld>
            <a:endParaRPr lang="fr-CA">
              <a:solidFill>
                <a:prstClr val="black">
                  <a:tint val="75000"/>
                </a:prstClr>
              </a:solidFill>
            </a:endParaRPr>
          </a:p>
        </p:txBody>
      </p:sp>
    </p:spTree>
    <p:extLst>
      <p:ext uri="{BB962C8B-B14F-4D97-AF65-F5344CB8AC3E}">
        <p14:creationId xmlns:p14="http://schemas.microsoft.com/office/powerpoint/2010/main" val="1401302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0D8A35-AF89-89C6-EDB3-837632DCEB30}"/>
              </a:ext>
            </a:extLst>
          </p:cNvPr>
          <p:cNvSpPr>
            <a:spLocks noGrp="1"/>
          </p:cNvSpPr>
          <p:nvPr>
            <p:ph type="title"/>
          </p:nvPr>
        </p:nvSpPr>
        <p:spPr/>
        <p:txBody>
          <a:bodyPr>
            <a:normAutofit fontScale="90000"/>
          </a:bodyPr>
          <a:lstStyle/>
          <a:p>
            <a:r>
              <a:rPr lang="fr-CA" dirty="0"/>
              <a:t>Exemple 3: plusieurs produits avec processus de fabrication différents </a:t>
            </a:r>
            <a:r>
              <a:rPr lang="fr-CA" sz="4000" dirty="0"/>
              <a:t>(plusieurs bases d’imputation)</a:t>
            </a:r>
          </a:p>
        </p:txBody>
      </p:sp>
      <p:sp>
        <p:nvSpPr>
          <p:cNvPr id="3" name="Espace réservé du contenu 2">
            <a:extLst>
              <a:ext uri="{FF2B5EF4-FFF2-40B4-BE49-F238E27FC236}">
                <a16:creationId xmlns:a16="http://schemas.microsoft.com/office/drawing/2014/main" id="{41477B21-EC61-5A18-11F0-3B976BF67275}"/>
              </a:ext>
            </a:extLst>
          </p:cNvPr>
          <p:cNvSpPr>
            <a:spLocks noGrp="1"/>
          </p:cNvSpPr>
          <p:nvPr>
            <p:ph idx="1"/>
          </p:nvPr>
        </p:nvSpPr>
        <p:spPr/>
        <p:txBody>
          <a:bodyPr>
            <a:normAutofit/>
          </a:bodyPr>
          <a:lstStyle/>
          <a:p>
            <a:r>
              <a:rPr lang="fr-CA" dirty="0"/>
              <a:t>Imaginons une version simplifiée de l’usine Guerlain d’où sortiraient seulement ces trois parfums…</a:t>
            </a:r>
            <a:r>
              <a:rPr lang="fr-CA" b="1" dirty="0">
                <a:hlinkClick r:id="rId5"/>
              </a:rPr>
              <a:t>VIDÉO</a:t>
            </a:r>
            <a:endParaRPr lang="fr-CA" b="1" dirty="0"/>
          </a:p>
          <a:p>
            <a:pPr marL="0" indent="0">
              <a:buNone/>
            </a:pPr>
            <a:r>
              <a:rPr lang="fr-CA" dirty="0"/>
              <a:t>              </a:t>
            </a:r>
          </a:p>
        </p:txBody>
      </p:sp>
      <p:sp>
        <p:nvSpPr>
          <p:cNvPr id="4" name="Espace réservé du pied de page 3">
            <a:extLst>
              <a:ext uri="{FF2B5EF4-FFF2-40B4-BE49-F238E27FC236}">
                <a16:creationId xmlns:a16="http://schemas.microsoft.com/office/drawing/2014/main" id="{5CB67079-9FF6-806E-E30F-F113204F046A}"/>
              </a:ext>
            </a:extLst>
          </p:cNvPr>
          <p:cNvSpPr>
            <a:spLocks noGrp="1"/>
          </p:cNvSpPr>
          <p:nvPr>
            <p:ph type="ftr" sz="quarter" idx="11"/>
          </p:nvPr>
        </p:nvSpPr>
        <p:spPr>
          <a:xfrm>
            <a:off x="0" y="6356350"/>
            <a:ext cx="2576945" cy="469495"/>
          </a:xfrm>
        </p:spPr>
        <p:txBody>
          <a:bodyPr/>
          <a:lstStyle/>
          <a:p>
            <a:r>
              <a:rPr lang="pt-BR" dirty="0">
                <a:solidFill>
                  <a:prstClr val="black">
                    <a:tint val="75000"/>
                  </a:prstClr>
                </a:solidFill>
              </a:rPr>
              <a:t>(c) 10904 / S05</a:t>
            </a:r>
            <a:endParaRPr lang="fr-CA" dirty="0">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D1E69476-42F0-02ED-09A0-67F3D39CE740}"/>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40</a:t>
            </a:fld>
            <a:endParaRPr lang="fr-CA">
              <a:solidFill>
                <a:prstClr val="black">
                  <a:tint val="75000"/>
                </a:prstClr>
              </a:solidFill>
            </a:endParaRPr>
          </a:p>
        </p:txBody>
      </p:sp>
      <p:pic>
        <p:nvPicPr>
          <p:cNvPr id="17" name="Picture 2" descr="Résultats de recherche d'images pour « Parfums guerlain »">
            <a:extLst>
              <a:ext uri="{FF2B5EF4-FFF2-40B4-BE49-F238E27FC236}">
                <a16:creationId xmlns:a16="http://schemas.microsoft.com/office/drawing/2014/main" id="{E225F85B-79D2-1E8C-3E7E-6490AE03EE40}"/>
              </a:ext>
            </a:extLst>
          </p:cNvPr>
          <p:cNvPicPr/>
          <p:nvPr>
            <p:custDataLst>
              <p:tags r:id="rId1"/>
            </p:custDataLst>
          </p:nvPr>
        </p:nvPicPr>
        <p:blipFill rotWithShape="1">
          <a:blip r:embed="rId6" cstate="print">
            <a:extLst>
              <a:ext uri="{28A0092B-C50C-407E-A947-70E740481C1C}">
                <a14:useLocalDpi xmlns:a14="http://schemas.microsoft.com/office/drawing/2010/main" val="0"/>
              </a:ext>
            </a:extLst>
          </a:blip>
          <a:srcRect l="2509" r="1" b="1"/>
          <a:stretch/>
        </p:blipFill>
        <p:spPr bwMode="auto">
          <a:xfrm>
            <a:off x="1801091" y="3326330"/>
            <a:ext cx="1849029" cy="1793984"/>
          </a:xfrm>
          <a:prstGeom prst="rect">
            <a:avLst/>
          </a:prstGeom>
          <a:noFill/>
        </p:spPr>
      </p:pic>
      <p:pic>
        <p:nvPicPr>
          <p:cNvPr id="20" name="Picture 2">
            <a:extLst>
              <a:ext uri="{FF2B5EF4-FFF2-40B4-BE49-F238E27FC236}">
                <a16:creationId xmlns:a16="http://schemas.microsoft.com/office/drawing/2014/main" id="{5BDC1EFA-4D1C-C6DA-4DC3-93EC89FB619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47620" y="3611190"/>
            <a:ext cx="1509124" cy="1509124"/>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descr="Une image contenant tasse, café, table, verre&#10;&#10;Description générée automatiquement">
            <a:extLst>
              <a:ext uri="{FF2B5EF4-FFF2-40B4-BE49-F238E27FC236}">
                <a16:creationId xmlns:a16="http://schemas.microsoft.com/office/drawing/2014/main" id="{0FB94C23-85CF-8523-2AA3-D012BC010850}"/>
              </a:ext>
            </a:extLst>
          </p:cNvPr>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4468644" y="3429000"/>
            <a:ext cx="1849029" cy="1691314"/>
          </a:xfrm>
          <a:prstGeom prst="rect">
            <a:avLst/>
          </a:prstGeom>
        </p:spPr>
      </p:pic>
      <p:sp>
        <p:nvSpPr>
          <p:cNvPr id="13" name="ZoneTexte 12">
            <a:extLst>
              <a:ext uri="{FF2B5EF4-FFF2-40B4-BE49-F238E27FC236}">
                <a16:creationId xmlns:a16="http://schemas.microsoft.com/office/drawing/2014/main" id="{E707991C-671F-8FE2-C029-AC4245EA0302}"/>
              </a:ext>
            </a:extLst>
          </p:cNvPr>
          <p:cNvSpPr txBox="1"/>
          <p:nvPr/>
        </p:nvSpPr>
        <p:spPr>
          <a:xfrm>
            <a:off x="1166299" y="5414249"/>
            <a:ext cx="9859402" cy="830997"/>
          </a:xfrm>
          <a:prstGeom prst="rect">
            <a:avLst/>
          </a:prstGeom>
          <a:noFill/>
        </p:spPr>
        <p:txBody>
          <a:bodyPr wrap="square">
            <a:spAutoFit/>
          </a:bodyPr>
          <a:lstStyle/>
          <a:p>
            <a:r>
              <a:rPr lang="fr-CA" sz="2400" dirty="0"/>
              <a:t>Comment faire pour répartir les FGF aux produits et calculer le coût de fabrication ?</a:t>
            </a:r>
          </a:p>
        </p:txBody>
      </p:sp>
    </p:spTree>
    <p:extLst>
      <p:ext uri="{BB962C8B-B14F-4D97-AF65-F5344CB8AC3E}">
        <p14:creationId xmlns:p14="http://schemas.microsoft.com/office/powerpoint/2010/main" val="32358628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83BBDB-3688-872A-2730-F350B89198FB}"/>
              </a:ext>
            </a:extLst>
          </p:cNvPr>
          <p:cNvSpPr>
            <a:spLocks noGrp="1"/>
          </p:cNvSpPr>
          <p:nvPr>
            <p:ph type="title"/>
            <p:custDataLst>
              <p:tags r:id="rId1"/>
            </p:custDataLst>
          </p:nvPr>
        </p:nvSpPr>
        <p:spPr>
          <a:xfrm>
            <a:off x="838200" y="197506"/>
            <a:ext cx="10515600" cy="1042570"/>
          </a:xfrm>
        </p:spPr>
        <p:txBody>
          <a:bodyPr>
            <a:normAutofit fontScale="90000"/>
          </a:bodyPr>
          <a:lstStyle/>
          <a:p>
            <a:pPr marL="0" indent="0">
              <a:buNone/>
            </a:pPr>
            <a:r>
              <a:rPr lang="fr-CA" sz="4400" strike="noStrike" dirty="0"/>
              <a:t>Exemple 3: Comprendre le processus et identifier les centres de co</a:t>
            </a:r>
            <a:r>
              <a:rPr lang="fr-CA" dirty="0"/>
              <a:t>ûts</a:t>
            </a:r>
            <a:endParaRPr lang="fr-CA" sz="4400" strike="noStrike" dirty="0"/>
          </a:p>
        </p:txBody>
      </p:sp>
      <p:pic>
        <p:nvPicPr>
          <p:cNvPr id="11" name="Espace réservé du contenu 10" descr="Entrepôt contour">
            <a:extLst>
              <a:ext uri="{FF2B5EF4-FFF2-40B4-BE49-F238E27FC236}">
                <a16:creationId xmlns:a16="http://schemas.microsoft.com/office/drawing/2014/main" id="{36E165B5-34B4-1186-C73E-CC565A0CAB17}"/>
              </a:ext>
            </a:extLst>
          </p:cNvPr>
          <p:cNvPicPr>
            <a:picLocks noGrp="1" noChangeAspect="1"/>
          </p:cNvPicPr>
          <p:nvPr>
            <p:ph idx="1"/>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605707" y="1795910"/>
            <a:ext cx="1635760" cy="1635760"/>
          </a:xfrm>
        </p:spPr>
      </p:pic>
      <p:sp>
        <p:nvSpPr>
          <p:cNvPr id="5" name="Espace réservé du numéro de diapositive 4">
            <a:extLst>
              <a:ext uri="{FF2B5EF4-FFF2-40B4-BE49-F238E27FC236}">
                <a16:creationId xmlns:a16="http://schemas.microsoft.com/office/drawing/2014/main" id="{5AE8B499-E5D4-B3CB-D2E3-44452F965254}"/>
              </a:ext>
            </a:extLst>
          </p:cNvPr>
          <p:cNvSpPr>
            <a:spLocks noGrp="1"/>
          </p:cNvSpPr>
          <p:nvPr>
            <p:ph type="sldNum" sz="quarter" idx="12"/>
            <p:custDataLst>
              <p:tags r:id="rId3"/>
            </p:custDataLst>
          </p:nvPr>
        </p:nvSpPr>
        <p:spPr>
          <a:xfrm>
            <a:off x="12090683" y="6365669"/>
            <a:ext cx="530290" cy="300587"/>
          </a:xfrm>
        </p:spPr>
        <p:txBody>
          <a:bodyPr/>
          <a:lstStyle/>
          <a:p>
            <a:fld id="{1F20FBA3-27E4-4E13-841E-B59ED0E8E620}" type="slidenum">
              <a:rPr lang="fr-CA" smtClean="0">
                <a:solidFill>
                  <a:prstClr val="black">
                    <a:tint val="75000"/>
                  </a:prstClr>
                </a:solidFill>
              </a:rPr>
              <a:pPr/>
              <a:t>41</a:t>
            </a:fld>
            <a:endParaRPr lang="fr-CA">
              <a:solidFill>
                <a:prstClr val="black">
                  <a:tint val="75000"/>
                </a:prstClr>
              </a:solidFill>
            </a:endParaRPr>
          </a:p>
        </p:txBody>
      </p:sp>
      <p:pic>
        <p:nvPicPr>
          <p:cNvPr id="13" name="Graphique 12" descr="Entrepôt avec un remplissage uni">
            <a:extLst>
              <a:ext uri="{FF2B5EF4-FFF2-40B4-BE49-F238E27FC236}">
                <a16:creationId xmlns:a16="http://schemas.microsoft.com/office/drawing/2014/main" id="{6C63FB22-97AE-F003-24C6-62A87FE4B7E5}"/>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363839" y="4322371"/>
            <a:ext cx="1635760" cy="1635760"/>
          </a:xfrm>
          <a:prstGeom prst="rect">
            <a:avLst/>
          </a:prstGeom>
        </p:spPr>
      </p:pic>
      <p:sp>
        <p:nvSpPr>
          <p:cNvPr id="14" name="ZoneTexte 13">
            <a:extLst>
              <a:ext uri="{FF2B5EF4-FFF2-40B4-BE49-F238E27FC236}">
                <a16:creationId xmlns:a16="http://schemas.microsoft.com/office/drawing/2014/main" id="{ABC42F02-F7F9-052C-E90C-BEF123A05D93}"/>
              </a:ext>
            </a:extLst>
          </p:cNvPr>
          <p:cNvSpPr txBox="1"/>
          <p:nvPr>
            <p:custDataLst>
              <p:tags r:id="rId5"/>
            </p:custDataLst>
          </p:nvPr>
        </p:nvSpPr>
        <p:spPr>
          <a:xfrm>
            <a:off x="2487304" y="3419083"/>
            <a:ext cx="4365769" cy="369332"/>
          </a:xfrm>
          <a:prstGeom prst="rect">
            <a:avLst/>
          </a:prstGeom>
          <a:noFill/>
        </p:spPr>
        <p:txBody>
          <a:bodyPr wrap="square" rtlCol="0">
            <a:spAutoFit/>
          </a:bodyPr>
          <a:lstStyle/>
          <a:p>
            <a:r>
              <a:rPr lang="fr-CA" b="1" dirty="0"/>
              <a:t>Centre 1- </a:t>
            </a:r>
            <a:r>
              <a:rPr lang="fr-CA" dirty="0"/>
              <a:t>atelier mécanisé</a:t>
            </a:r>
            <a:endParaRPr lang="fr-CA" dirty="0">
              <a:solidFill>
                <a:srgbClr val="0070C0"/>
              </a:solidFill>
            </a:endParaRPr>
          </a:p>
        </p:txBody>
      </p:sp>
      <p:sp>
        <p:nvSpPr>
          <p:cNvPr id="15" name="ZoneTexte 14">
            <a:extLst>
              <a:ext uri="{FF2B5EF4-FFF2-40B4-BE49-F238E27FC236}">
                <a16:creationId xmlns:a16="http://schemas.microsoft.com/office/drawing/2014/main" id="{B75BB2F1-2578-8126-6649-C352362812AF}"/>
              </a:ext>
            </a:extLst>
          </p:cNvPr>
          <p:cNvSpPr txBox="1"/>
          <p:nvPr>
            <p:custDataLst>
              <p:tags r:id="rId6"/>
            </p:custDataLst>
          </p:nvPr>
        </p:nvSpPr>
        <p:spPr>
          <a:xfrm>
            <a:off x="5893915" y="5852252"/>
            <a:ext cx="3108958" cy="369332"/>
          </a:xfrm>
          <a:prstGeom prst="rect">
            <a:avLst/>
          </a:prstGeom>
          <a:noFill/>
        </p:spPr>
        <p:txBody>
          <a:bodyPr wrap="square" rtlCol="0">
            <a:spAutoFit/>
          </a:bodyPr>
          <a:lstStyle/>
          <a:p>
            <a:r>
              <a:rPr lang="fr-CA" b="1" dirty="0"/>
              <a:t>Centre 2- </a:t>
            </a:r>
            <a:r>
              <a:rPr lang="fr-CA" dirty="0"/>
              <a:t>atelier manuel</a:t>
            </a:r>
          </a:p>
        </p:txBody>
      </p:sp>
      <p:pic>
        <p:nvPicPr>
          <p:cNvPr id="17" name="Image 16" descr="Une image contenant tasse, café, table, verre&#10;&#10;Description générée automatiquement">
            <a:extLst>
              <a:ext uri="{FF2B5EF4-FFF2-40B4-BE49-F238E27FC236}">
                <a16:creationId xmlns:a16="http://schemas.microsoft.com/office/drawing/2014/main" id="{893AA1C0-E67A-C890-B854-4AFD46AF42AE}"/>
              </a:ext>
            </a:extLst>
          </p:cNvPr>
          <p:cNvPicPr/>
          <p:nvPr>
            <p:custDataLst>
              <p:tags r:id="rId7"/>
            </p:custDataLst>
          </p:nvPr>
        </p:nvPicPr>
        <p:blipFill>
          <a:blip r:embed="rId22">
            <a:extLst>
              <a:ext uri="{28A0092B-C50C-407E-A947-70E740481C1C}">
                <a14:useLocalDpi xmlns:a14="http://schemas.microsoft.com/office/drawing/2010/main" val="0"/>
              </a:ext>
            </a:extLst>
          </a:blip>
          <a:stretch>
            <a:fillRect/>
          </a:stretch>
        </p:blipFill>
        <p:spPr>
          <a:xfrm>
            <a:off x="4810172" y="3770450"/>
            <a:ext cx="1155047" cy="1236318"/>
          </a:xfrm>
          <a:prstGeom prst="rect">
            <a:avLst/>
          </a:prstGeom>
        </p:spPr>
      </p:pic>
      <p:pic>
        <p:nvPicPr>
          <p:cNvPr id="20" name="Picture 2" descr="Résultats de recherche d'images pour « Parfums guerlain »">
            <a:extLst>
              <a:ext uri="{FF2B5EF4-FFF2-40B4-BE49-F238E27FC236}">
                <a16:creationId xmlns:a16="http://schemas.microsoft.com/office/drawing/2014/main" id="{45580ED0-C6B0-09FB-2989-EB7B4FD40975}"/>
              </a:ext>
            </a:extLst>
          </p:cNvPr>
          <p:cNvPicPr/>
          <p:nvPr>
            <p:custDataLst>
              <p:tags r:id="rId8"/>
            </p:custDataLst>
          </p:nvPr>
        </p:nvPicPr>
        <p:blipFill rotWithShape="1">
          <a:blip r:embed="rId23">
            <a:extLst>
              <a:ext uri="{28A0092B-C50C-407E-A947-70E740481C1C}">
                <a14:useLocalDpi xmlns:a14="http://schemas.microsoft.com/office/drawing/2010/main" val="0"/>
              </a:ext>
            </a:extLst>
          </a:blip>
          <a:srcRect l="2509" r="1" b="1"/>
          <a:stretch/>
        </p:blipFill>
        <p:spPr bwMode="auto">
          <a:xfrm>
            <a:off x="6293347" y="1690971"/>
            <a:ext cx="1155047" cy="1317413"/>
          </a:xfrm>
          <a:prstGeom prst="rect">
            <a:avLst/>
          </a:prstGeom>
          <a:noFill/>
        </p:spPr>
      </p:pic>
      <p:pic>
        <p:nvPicPr>
          <p:cNvPr id="21" name="Graphique 20" descr="Flèche vers la droite contour">
            <a:extLst>
              <a:ext uri="{FF2B5EF4-FFF2-40B4-BE49-F238E27FC236}">
                <a16:creationId xmlns:a16="http://schemas.microsoft.com/office/drawing/2014/main" id="{9ECE75B6-606C-6A2E-2A8A-E1291951398C}"/>
              </a:ext>
            </a:extLst>
          </p:cNvPr>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161052" y="1968317"/>
            <a:ext cx="2202788" cy="914400"/>
          </a:xfrm>
          <a:prstGeom prst="rect">
            <a:avLst/>
          </a:prstGeom>
        </p:spPr>
      </p:pic>
      <p:pic>
        <p:nvPicPr>
          <p:cNvPr id="23" name="Graphique 22" descr="Flèche vers la droite contour">
            <a:extLst>
              <a:ext uri="{FF2B5EF4-FFF2-40B4-BE49-F238E27FC236}">
                <a16:creationId xmlns:a16="http://schemas.microsoft.com/office/drawing/2014/main" id="{A82F58AE-AB20-4497-31D3-2579670ED15C}"/>
              </a:ext>
            </a:extLst>
          </p:cNvPr>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2898514">
            <a:off x="4949668" y="3433139"/>
            <a:ext cx="2008777" cy="914400"/>
          </a:xfrm>
          <a:prstGeom prst="rect">
            <a:avLst/>
          </a:prstGeom>
        </p:spPr>
      </p:pic>
      <p:pic>
        <p:nvPicPr>
          <p:cNvPr id="24" name="Graphique 23" descr="Flèche vers la droite contour">
            <a:extLst>
              <a:ext uri="{FF2B5EF4-FFF2-40B4-BE49-F238E27FC236}">
                <a16:creationId xmlns:a16="http://schemas.microsoft.com/office/drawing/2014/main" id="{0E4623B0-D1D6-5146-B312-35D3CD287318}"/>
              </a:ext>
            </a:extLst>
          </p:cNvPr>
          <p:cNvPicPr>
            <a:picLocks noChangeAspect="1"/>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871568" y="4058918"/>
            <a:ext cx="1191692" cy="914400"/>
          </a:xfrm>
          <a:prstGeom prst="rect">
            <a:avLst/>
          </a:prstGeom>
        </p:spPr>
      </p:pic>
      <p:pic>
        <p:nvPicPr>
          <p:cNvPr id="25" name="Image 24" descr="Une image contenant tasse, café, table, verre&#10;&#10;Description générée automatiquement">
            <a:extLst>
              <a:ext uri="{FF2B5EF4-FFF2-40B4-BE49-F238E27FC236}">
                <a16:creationId xmlns:a16="http://schemas.microsoft.com/office/drawing/2014/main" id="{A7485FFE-45AC-1A5B-01FB-BF8C8960385F}"/>
              </a:ext>
            </a:extLst>
          </p:cNvPr>
          <p:cNvPicPr/>
          <p:nvPr>
            <p:custDataLst>
              <p:tags r:id="rId12"/>
            </p:custDataLst>
          </p:nvPr>
        </p:nvPicPr>
        <p:blipFill>
          <a:blip r:embed="rId22">
            <a:extLst>
              <a:ext uri="{28A0092B-C50C-407E-A947-70E740481C1C}">
                <a14:useLocalDpi xmlns:a14="http://schemas.microsoft.com/office/drawing/2010/main" val="0"/>
              </a:ext>
            </a:extLst>
          </a:blip>
          <a:stretch>
            <a:fillRect/>
          </a:stretch>
        </p:blipFill>
        <p:spPr>
          <a:xfrm>
            <a:off x="8978547" y="3770450"/>
            <a:ext cx="1155047" cy="1236318"/>
          </a:xfrm>
          <a:prstGeom prst="rect">
            <a:avLst/>
          </a:prstGeom>
        </p:spPr>
      </p:pic>
      <p:pic>
        <p:nvPicPr>
          <p:cNvPr id="28" name="Image 27" descr="C:\Users\11136163\AppData\Local\Microsoft\Windows\INetCache\Content.MSO\4849E14F.tmp">
            <a:extLst>
              <a:ext uri="{FF2B5EF4-FFF2-40B4-BE49-F238E27FC236}">
                <a16:creationId xmlns:a16="http://schemas.microsoft.com/office/drawing/2014/main" id="{8A0C7CFB-D427-8313-0A9F-EAD964ED7F9E}"/>
              </a:ext>
            </a:extLst>
          </p:cNvPr>
          <p:cNvPicPr/>
          <p:nvPr>
            <p:custDataLst>
              <p:tags r:id="rId13"/>
            </p:custDataLst>
          </p:nvPr>
        </p:nvPicPr>
        <p:blipFill rotWithShape="1">
          <a:blip r:embed="rId25" cstate="print">
            <a:extLst>
              <a:ext uri="{28A0092B-C50C-407E-A947-70E740481C1C}">
                <a14:useLocalDpi xmlns:a14="http://schemas.microsoft.com/office/drawing/2010/main" val="0"/>
              </a:ext>
            </a:extLst>
          </a:blip>
          <a:srcRect r="2" b="2"/>
          <a:stretch/>
        </p:blipFill>
        <p:spPr bwMode="auto">
          <a:xfrm>
            <a:off x="9221330" y="5377621"/>
            <a:ext cx="777231" cy="805396"/>
          </a:xfrm>
          <a:prstGeom prst="rect">
            <a:avLst/>
          </a:prstGeom>
          <a:ln w="88900" cap="sq" cmpd="thickThin">
            <a:solidFill>
              <a:srgbClr val="000000"/>
            </a:solidFill>
            <a:prstDash val="solid"/>
            <a:miter lim="800000"/>
          </a:ln>
          <a:effectLst>
            <a:innerShdw blurRad="76200">
              <a:srgbClr val="000000"/>
            </a:innerShdw>
          </a:effectLst>
        </p:spPr>
      </p:pic>
      <p:pic>
        <p:nvPicPr>
          <p:cNvPr id="29" name="Graphique 28" descr="Flèche vers la droite contour">
            <a:extLst>
              <a:ext uri="{FF2B5EF4-FFF2-40B4-BE49-F238E27FC236}">
                <a16:creationId xmlns:a16="http://schemas.microsoft.com/office/drawing/2014/main" id="{D6057124-79CB-4667-AC6A-8286E7E2D036}"/>
              </a:ext>
            </a:extLst>
          </p:cNvPr>
          <p:cNvPicPr>
            <a:picLocks noChangeAspect="1"/>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879952" y="4875530"/>
            <a:ext cx="1189269" cy="914400"/>
          </a:xfrm>
          <a:prstGeom prst="rect">
            <a:avLst/>
          </a:prstGeom>
        </p:spPr>
      </p:pic>
      <p:sp>
        <p:nvSpPr>
          <p:cNvPr id="3" name="Rectangle : coins arrondis 2">
            <a:extLst>
              <a:ext uri="{FF2B5EF4-FFF2-40B4-BE49-F238E27FC236}">
                <a16:creationId xmlns:a16="http://schemas.microsoft.com/office/drawing/2014/main" id="{D419B990-FCD6-3FCE-5CCD-F3BD4289B233}"/>
              </a:ext>
            </a:extLst>
          </p:cNvPr>
          <p:cNvSpPr/>
          <p:nvPr>
            <p:custDataLst>
              <p:tags r:id="rId15"/>
            </p:custDataLst>
          </p:nvPr>
        </p:nvSpPr>
        <p:spPr>
          <a:xfrm>
            <a:off x="2107174" y="1480379"/>
            <a:ext cx="9015783" cy="5005136"/>
          </a:xfrm>
          <a:prstGeom prst="round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fr-CA"/>
          </a:p>
        </p:txBody>
      </p:sp>
      <p:sp>
        <p:nvSpPr>
          <p:cNvPr id="6" name="ZoneTexte 5">
            <a:extLst>
              <a:ext uri="{FF2B5EF4-FFF2-40B4-BE49-F238E27FC236}">
                <a16:creationId xmlns:a16="http://schemas.microsoft.com/office/drawing/2014/main" id="{FEC22F8D-B764-9A08-B7AC-23F20A958557}"/>
              </a:ext>
            </a:extLst>
          </p:cNvPr>
          <p:cNvSpPr txBox="1"/>
          <p:nvPr>
            <p:custDataLst>
              <p:tags r:id="rId16"/>
            </p:custDataLst>
          </p:nvPr>
        </p:nvSpPr>
        <p:spPr>
          <a:xfrm>
            <a:off x="1111486" y="3113323"/>
            <a:ext cx="1104204" cy="461665"/>
          </a:xfrm>
          <a:prstGeom prst="rect">
            <a:avLst/>
          </a:prstGeom>
          <a:noFill/>
        </p:spPr>
        <p:txBody>
          <a:bodyPr wrap="square" rtlCol="0">
            <a:spAutoFit/>
          </a:bodyPr>
          <a:lstStyle/>
          <a:p>
            <a:r>
              <a:rPr lang="fr-CA" sz="2400" b="1" dirty="0"/>
              <a:t>USINE</a:t>
            </a:r>
          </a:p>
        </p:txBody>
      </p:sp>
      <p:sp>
        <p:nvSpPr>
          <p:cNvPr id="7" name="Espace réservé du pied de page 6">
            <a:extLst>
              <a:ext uri="{FF2B5EF4-FFF2-40B4-BE49-F238E27FC236}">
                <a16:creationId xmlns:a16="http://schemas.microsoft.com/office/drawing/2014/main" id="{E6CDD1D3-0EC8-9472-91BA-21FA8413194E}"/>
              </a:ext>
            </a:extLst>
          </p:cNvPr>
          <p:cNvSpPr>
            <a:spLocks noGrp="1"/>
          </p:cNvSpPr>
          <p:nvPr>
            <p:ph type="ftr" sz="quarter" idx="11"/>
            <p:custDataLst>
              <p:tags r:id="rId17"/>
            </p:custDataLst>
          </p:nvPr>
        </p:nvSpPr>
        <p:spPr>
          <a:xfrm>
            <a:off x="10485143" y="6452340"/>
            <a:ext cx="1697855" cy="369332"/>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1276071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DA71C-9D2F-9841-DA5D-CED9CE9CA2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BFB58D-6874-9333-9C0C-5940BA421892}"/>
              </a:ext>
            </a:extLst>
          </p:cNvPr>
          <p:cNvSpPr>
            <a:spLocks noGrp="1"/>
          </p:cNvSpPr>
          <p:nvPr>
            <p:ph type="title" idx="4294967295"/>
            <p:custDataLst>
              <p:tags r:id="rId1"/>
            </p:custDataLst>
          </p:nvPr>
        </p:nvSpPr>
        <p:spPr>
          <a:xfrm>
            <a:off x="260220" y="29290"/>
            <a:ext cx="11709400" cy="747713"/>
          </a:xfrm>
          <a:noFill/>
        </p:spPr>
        <p:txBody>
          <a:bodyPr>
            <a:noAutofit/>
          </a:bodyPr>
          <a:lstStyle/>
          <a:p>
            <a:pPr algn="ctr"/>
            <a:r>
              <a:rPr lang="en-US" sz="3200" dirty="0" err="1"/>
              <a:t>Exemple</a:t>
            </a:r>
            <a:r>
              <a:rPr lang="en-US" sz="3200" dirty="0"/>
              <a:t> 3: Identifier les </a:t>
            </a:r>
            <a:r>
              <a:rPr lang="en-US" sz="3200" dirty="0" err="1"/>
              <a:t>centres</a:t>
            </a:r>
            <a:r>
              <a:rPr lang="en-US" sz="3200" dirty="0"/>
              <a:t> de </a:t>
            </a:r>
            <a:r>
              <a:rPr lang="en-US" sz="3200" dirty="0" err="1"/>
              <a:t>coûts</a:t>
            </a:r>
            <a:endParaRPr lang="fr-CA" sz="3200" dirty="0"/>
          </a:p>
        </p:txBody>
      </p:sp>
      <p:sp>
        <p:nvSpPr>
          <p:cNvPr id="23" name="Rectangle 22">
            <a:extLst>
              <a:ext uri="{FF2B5EF4-FFF2-40B4-BE49-F238E27FC236}">
                <a16:creationId xmlns:a16="http://schemas.microsoft.com/office/drawing/2014/main" id="{7BD72CD8-489D-AE9C-C718-8FDA0ABE0C55}"/>
              </a:ext>
            </a:extLst>
          </p:cNvPr>
          <p:cNvSpPr/>
          <p:nvPr>
            <p:custDataLst>
              <p:tags r:id="rId2"/>
            </p:custDataLst>
          </p:nvPr>
        </p:nvSpPr>
        <p:spPr>
          <a:xfrm>
            <a:off x="-264613" y="2296645"/>
            <a:ext cx="2534300" cy="598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Ressources (FGF)</a:t>
            </a:r>
          </a:p>
        </p:txBody>
      </p:sp>
      <p:grpSp>
        <p:nvGrpSpPr>
          <p:cNvPr id="12" name="Groupe 11">
            <a:extLst>
              <a:ext uri="{FF2B5EF4-FFF2-40B4-BE49-F238E27FC236}">
                <a16:creationId xmlns:a16="http://schemas.microsoft.com/office/drawing/2014/main" id="{607B3DA1-F350-574F-80D4-3EAD7C0277A2}"/>
              </a:ext>
            </a:extLst>
          </p:cNvPr>
          <p:cNvGrpSpPr/>
          <p:nvPr>
            <p:custDataLst>
              <p:tags r:id="rId3"/>
            </p:custDataLst>
          </p:nvPr>
        </p:nvGrpSpPr>
        <p:grpSpPr>
          <a:xfrm>
            <a:off x="3984327" y="1277195"/>
            <a:ext cx="2111673" cy="3796498"/>
            <a:chOff x="5042400" y="1171619"/>
            <a:chExt cx="2534300" cy="3231391"/>
          </a:xfrm>
          <a:solidFill>
            <a:schemeClr val="bg1"/>
          </a:solidFill>
        </p:grpSpPr>
        <p:sp>
          <p:nvSpPr>
            <p:cNvPr id="19" name="Rectangle 18">
              <a:extLst>
                <a:ext uri="{FF2B5EF4-FFF2-40B4-BE49-F238E27FC236}">
                  <a16:creationId xmlns:a16="http://schemas.microsoft.com/office/drawing/2014/main" id="{21A09EB7-C1DA-C793-2923-102893641910}"/>
                </a:ext>
              </a:extLst>
            </p:cNvPr>
            <p:cNvSpPr/>
            <p:nvPr/>
          </p:nvSpPr>
          <p:spPr>
            <a:xfrm>
              <a:off x="5335903" y="1807919"/>
              <a:ext cx="1854010"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Robe Noire</a:t>
              </a:r>
            </a:p>
          </p:txBody>
        </p:sp>
        <p:sp>
          <p:nvSpPr>
            <p:cNvPr id="21" name="Rectangle 20">
              <a:extLst>
                <a:ext uri="{FF2B5EF4-FFF2-40B4-BE49-F238E27FC236}">
                  <a16:creationId xmlns:a16="http://schemas.microsoft.com/office/drawing/2014/main" id="{9F65483B-580D-9485-C79C-48E5BF682632}"/>
                </a:ext>
              </a:extLst>
            </p:cNvPr>
            <p:cNvSpPr/>
            <p:nvPr/>
          </p:nvSpPr>
          <p:spPr>
            <a:xfrm>
              <a:off x="5335903" y="3799895"/>
              <a:ext cx="1947296"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Abeille</a:t>
              </a:r>
            </a:p>
            <a:p>
              <a:pPr algn="ctr"/>
              <a:endParaRPr lang="fr-CA" dirty="0">
                <a:cs typeface="Calibri"/>
              </a:endParaRPr>
            </a:p>
          </p:txBody>
        </p:sp>
        <p:sp>
          <p:nvSpPr>
            <p:cNvPr id="24" name="Rectangle 23">
              <a:extLst>
                <a:ext uri="{FF2B5EF4-FFF2-40B4-BE49-F238E27FC236}">
                  <a16:creationId xmlns:a16="http://schemas.microsoft.com/office/drawing/2014/main" id="{0BD98AD5-FE61-05AE-7850-459BE0BE52B9}"/>
                </a:ext>
              </a:extLst>
            </p:cNvPr>
            <p:cNvSpPr/>
            <p:nvPr/>
          </p:nvSpPr>
          <p:spPr>
            <a:xfrm>
              <a:off x="5042400" y="1171619"/>
              <a:ext cx="2534300" cy="6031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Objet de coût - Produits</a:t>
              </a:r>
            </a:p>
          </p:txBody>
        </p:sp>
      </p:grpSp>
      <p:sp>
        <p:nvSpPr>
          <p:cNvPr id="18" name="Rectangle 17">
            <a:extLst>
              <a:ext uri="{FF2B5EF4-FFF2-40B4-BE49-F238E27FC236}">
                <a16:creationId xmlns:a16="http://schemas.microsoft.com/office/drawing/2014/main" id="{5BE73AF4-78AB-4683-C03E-CD3C84E9A42F}"/>
              </a:ext>
            </a:extLst>
          </p:cNvPr>
          <p:cNvSpPr/>
          <p:nvPr>
            <p:custDataLst>
              <p:tags r:id="rId4"/>
            </p:custDataLst>
          </p:nvPr>
        </p:nvSpPr>
        <p:spPr>
          <a:xfrm>
            <a:off x="6681503" y="4157496"/>
            <a:ext cx="590353" cy="214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cxnSp>
        <p:nvCxnSpPr>
          <p:cNvPr id="61" name="Connecteur droit avec flèche 60">
            <a:extLst>
              <a:ext uri="{FF2B5EF4-FFF2-40B4-BE49-F238E27FC236}">
                <a16:creationId xmlns:a16="http://schemas.microsoft.com/office/drawing/2014/main" id="{1825EADA-A64F-9DE7-F60E-AF8DB4E4917D}"/>
              </a:ext>
            </a:extLst>
          </p:cNvPr>
          <p:cNvCxnSpPr>
            <a:cxnSpLocks/>
            <a:endCxn id="19" idx="1"/>
          </p:cNvCxnSpPr>
          <p:nvPr>
            <p:custDataLst>
              <p:tags r:id="rId5"/>
            </p:custDataLst>
          </p:nvPr>
        </p:nvCxnSpPr>
        <p:spPr>
          <a:xfrm flipV="1">
            <a:off x="3293741" y="2379065"/>
            <a:ext cx="935144" cy="933746"/>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8" name="Espace réservé du numéro de diapositive 4">
            <a:extLst>
              <a:ext uri="{FF2B5EF4-FFF2-40B4-BE49-F238E27FC236}">
                <a16:creationId xmlns:a16="http://schemas.microsoft.com/office/drawing/2014/main" id="{6BC5CA80-95B2-FAD9-647E-C6EDD21D6FDB}"/>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42</a:t>
            </a:fld>
            <a:endParaRPr lang="fr-CA" dirty="0">
              <a:solidFill>
                <a:prstClr val="black">
                  <a:tint val="75000"/>
                </a:prstClr>
              </a:solidFill>
            </a:endParaRPr>
          </a:p>
        </p:txBody>
      </p:sp>
      <p:cxnSp>
        <p:nvCxnSpPr>
          <p:cNvPr id="4" name="Connecteur droit avec flèche 3">
            <a:extLst>
              <a:ext uri="{FF2B5EF4-FFF2-40B4-BE49-F238E27FC236}">
                <a16:creationId xmlns:a16="http://schemas.microsoft.com/office/drawing/2014/main" id="{FD5EC521-D7F4-8DA0-FD33-AA6F085299D1}"/>
              </a:ext>
            </a:extLst>
          </p:cNvPr>
          <p:cNvCxnSpPr>
            <a:cxnSpLocks/>
            <a:endCxn id="21" idx="1"/>
          </p:cNvCxnSpPr>
          <p:nvPr>
            <p:custDataLst>
              <p:tags r:id="rId7"/>
            </p:custDataLst>
          </p:nvPr>
        </p:nvCxnSpPr>
        <p:spPr>
          <a:xfrm>
            <a:off x="3259952" y="3111477"/>
            <a:ext cx="968933" cy="1607922"/>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5" name="Espace réservé du pied de page 6">
            <a:extLst>
              <a:ext uri="{FF2B5EF4-FFF2-40B4-BE49-F238E27FC236}">
                <a16:creationId xmlns:a16="http://schemas.microsoft.com/office/drawing/2014/main" id="{F47F6810-388E-D432-FEF3-3CC5B7F81CF2}"/>
              </a:ext>
            </a:extLst>
          </p:cNvPr>
          <p:cNvSpPr>
            <a:spLocks noGrp="1"/>
          </p:cNvSpPr>
          <p:nvPr>
            <p:ph type="ftr" sz="quarter" idx="11"/>
            <p:custDataLst>
              <p:tags r:id="rId8"/>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3" name="Rectangle 2">
            <a:extLst>
              <a:ext uri="{FF2B5EF4-FFF2-40B4-BE49-F238E27FC236}">
                <a16:creationId xmlns:a16="http://schemas.microsoft.com/office/drawing/2014/main" id="{D6525F9E-1724-E6CE-81D3-171CBEB9A1DB}"/>
              </a:ext>
            </a:extLst>
          </p:cNvPr>
          <p:cNvSpPr/>
          <p:nvPr>
            <p:custDataLst>
              <p:tags r:id="rId9"/>
            </p:custDataLst>
          </p:nvPr>
        </p:nvSpPr>
        <p:spPr>
          <a:xfrm>
            <a:off x="2360630" y="2895130"/>
            <a:ext cx="1324679"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Usine</a:t>
            </a:r>
          </a:p>
        </p:txBody>
      </p:sp>
      <p:sp>
        <p:nvSpPr>
          <p:cNvPr id="7" name="Rectangle 6">
            <a:extLst>
              <a:ext uri="{FF2B5EF4-FFF2-40B4-BE49-F238E27FC236}">
                <a16:creationId xmlns:a16="http://schemas.microsoft.com/office/drawing/2014/main" id="{4AEFD348-966D-701B-A0E6-0F83F5AD5893}"/>
              </a:ext>
            </a:extLst>
          </p:cNvPr>
          <p:cNvSpPr/>
          <p:nvPr>
            <p:custDataLst>
              <p:tags r:id="rId10"/>
            </p:custDataLst>
          </p:nvPr>
        </p:nvSpPr>
        <p:spPr>
          <a:xfrm>
            <a:off x="6227417" y="425318"/>
            <a:ext cx="2534300" cy="598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Ressources (FGF)</a:t>
            </a:r>
          </a:p>
        </p:txBody>
      </p:sp>
      <p:sp>
        <p:nvSpPr>
          <p:cNvPr id="9" name="Rectangle 8">
            <a:extLst>
              <a:ext uri="{FF2B5EF4-FFF2-40B4-BE49-F238E27FC236}">
                <a16:creationId xmlns:a16="http://schemas.microsoft.com/office/drawing/2014/main" id="{EFF0A0A3-BE4B-C275-FEC4-EB0666AA5C5F}"/>
              </a:ext>
            </a:extLst>
          </p:cNvPr>
          <p:cNvSpPr/>
          <p:nvPr>
            <p:custDataLst>
              <p:tags r:id="rId11"/>
            </p:custDataLst>
          </p:nvPr>
        </p:nvSpPr>
        <p:spPr>
          <a:xfrm>
            <a:off x="6509792" y="1023804"/>
            <a:ext cx="1725598" cy="2984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Loyer</a:t>
            </a:r>
          </a:p>
        </p:txBody>
      </p:sp>
      <p:sp>
        <p:nvSpPr>
          <p:cNvPr id="10" name="Rectangle 9">
            <a:extLst>
              <a:ext uri="{FF2B5EF4-FFF2-40B4-BE49-F238E27FC236}">
                <a16:creationId xmlns:a16="http://schemas.microsoft.com/office/drawing/2014/main" id="{AB989E27-4B65-BB8D-5016-56B376D726BA}"/>
              </a:ext>
            </a:extLst>
          </p:cNvPr>
          <p:cNvSpPr/>
          <p:nvPr>
            <p:custDataLst>
              <p:tags r:id="rId12"/>
            </p:custDataLst>
          </p:nvPr>
        </p:nvSpPr>
        <p:spPr>
          <a:xfrm>
            <a:off x="6506257" y="2062583"/>
            <a:ext cx="1725598" cy="3542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Électricité</a:t>
            </a:r>
          </a:p>
        </p:txBody>
      </p:sp>
      <p:sp>
        <p:nvSpPr>
          <p:cNvPr id="11" name="Rectangle 10">
            <a:extLst>
              <a:ext uri="{FF2B5EF4-FFF2-40B4-BE49-F238E27FC236}">
                <a16:creationId xmlns:a16="http://schemas.microsoft.com/office/drawing/2014/main" id="{9F16D5AA-0A6D-C2D2-AE90-B38F78439ECE}"/>
              </a:ext>
            </a:extLst>
          </p:cNvPr>
          <p:cNvSpPr/>
          <p:nvPr>
            <p:custDataLst>
              <p:tags r:id="rId13"/>
            </p:custDataLst>
          </p:nvPr>
        </p:nvSpPr>
        <p:spPr>
          <a:xfrm>
            <a:off x="6509792" y="1458674"/>
            <a:ext cx="1725598" cy="45248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CA" sz="1400" dirty="0"/>
              <a:t>Taxes et assurances</a:t>
            </a:r>
          </a:p>
        </p:txBody>
      </p:sp>
      <p:sp>
        <p:nvSpPr>
          <p:cNvPr id="13" name="Rectangle 12">
            <a:extLst>
              <a:ext uri="{FF2B5EF4-FFF2-40B4-BE49-F238E27FC236}">
                <a16:creationId xmlns:a16="http://schemas.microsoft.com/office/drawing/2014/main" id="{CF7F47DC-5656-50BA-6DF7-63FB458E3BC7}"/>
              </a:ext>
            </a:extLst>
          </p:cNvPr>
          <p:cNvSpPr/>
          <p:nvPr>
            <p:custDataLst>
              <p:tags r:id="rId14"/>
            </p:custDataLst>
          </p:nvPr>
        </p:nvSpPr>
        <p:spPr>
          <a:xfrm>
            <a:off x="6509792" y="2598881"/>
            <a:ext cx="1725598" cy="63156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Amortissement des machines </a:t>
            </a: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de remplissage</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 name="Rectangle 13">
            <a:extLst>
              <a:ext uri="{FF2B5EF4-FFF2-40B4-BE49-F238E27FC236}">
                <a16:creationId xmlns:a16="http://schemas.microsoft.com/office/drawing/2014/main" id="{7DB4A750-1D2C-611F-CC1F-3DE076393624}"/>
              </a:ext>
            </a:extLst>
          </p:cNvPr>
          <p:cNvSpPr/>
          <p:nvPr>
            <p:custDataLst>
              <p:tags r:id="rId15"/>
            </p:custDataLst>
          </p:nvPr>
        </p:nvSpPr>
        <p:spPr>
          <a:xfrm>
            <a:off x="6496936" y="4922225"/>
            <a:ext cx="1725598" cy="5257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Salaires des </a:t>
            </a:r>
            <a:r>
              <a:rPr kumimoji="0" lang="fr-FR" altLang="fr-FR" sz="1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superviseurs</a:t>
            </a:r>
            <a:endParaRPr lang="fr-CA" sz="1400" b="1" dirty="0"/>
          </a:p>
        </p:txBody>
      </p:sp>
      <p:sp>
        <p:nvSpPr>
          <p:cNvPr id="15" name="Rectangle 14">
            <a:extLst>
              <a:ext uri="{FF2B5EF4-FFF2-40B4-BE49-F238E27FC236}">
                <a16:creationId xmlns:a16="http://schemas.microsoft.com/office/drawing/2014/main" id="{27829B6A-B360-F99A-73DC-BCC214E721B6}"/>
              </a:ext>
            </a:extLst>
          </p:cNvPr>
          <p:cNvSpPr/>
          <p:nvPr>
            <p:custDataLst>
              <p:tags r:id="rId16"/>
            </p:custDataLst>
          </p:nvPr>
        </p:nvSpPr>
        <p:spPr>
          <a:xfrm>
            <a:off x="6506257" y="4203553"/>
            <a:ext cx="1725598" cy="6070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Salaires des agents de maintenance</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1DB976E1-154B-0882-27DC-250E25BCF782}"/>
              </a:ext>
            </a:extLst>
          </p:cNvPr>
          <p:cNvSpPr/>
          <p:nvPr>
            <p:custDataLst>
              <p:tags r:id="rId17"/>
            </p:custDataLst>
          </p:nvPr>
        </p:nvSpPr>
        <p:spPr>
          <a:xfrm>
            <a:off x="6506257" y="5619100"/>
            <a:ext cx="1725598" cy="4872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Outillage pour la finition</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 name="Rectangle 16">
            <a:extLst>
              <a:ext uri="{FF2B5EF4-FFF2-40B4-BE49-F238E27FC236}">
                <a16:creationId xmlns:a16="http://schemas.microsoft.com/office/drawing/2014/main" id="{F89CC63E-1A92-1B7C-849E-B65177BDAD8D}"/>
              </a:ext>
            </a:extLst>
          </p:cNvPr>
          <p:cNvSpPr/>
          <p:nvPr>
            <p:custDataLst>
              <p:tags r:id="rId18"/>
            </p:custDataLst>
          </p:nvPr>
        </p:nvSpPr>
        <p:spPr>
          <a:xfrm>
            <a:off x="6496936" y="3412454"/>
            <a:ext cx="1725598" cy="70945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Entretien des machines de remplissage</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20" name="Connecteur droit 19">
            <a:extLst>
              <a:ext uri="{FF2B5EF4-FFF2-40B4-BE49-F238E27FC236}">
                <a16:creationId xmlns:a16="http://schemas.microsoft.com/office/drawing/2014/main" id="{DF099BD7-38BB-171C-73D5-4592595CD494}"/>
              </a:ext>
            </a:extLst>
          </p:cNvPr>
          <p:cNvCxnSpPr>
            <a:cxnSpLocks/>
          </p:cNvCxnSpPr>
          <p:nvPr/>
        </p:nvCxnSpPr>
        <p:spPr>
          <a:xfrm>
            <a:off x="6195211" y="729957"/>
            <a:ext cx="3013" cy="5380170"/>
          </a:xfrm>
          <a:prstGeom prst="line">
            <a:avLst/>
          </a:prstGeom>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47E5F7BF-77C0-2AD1-48C2-DED391026B19}"/>
              </a:ext>
            </a:extLst>
          </p:cNvPr>
          <p:cNvSpPr/>
          <p:nvPr>
            <p:custDataLst>
              <p:tags r:id="rId19"/>
            </p:custDataLst>
          </p:nvPr>
        </p:nvSpPr>
        <p:spPr>
          <a:xfrm>
            <a:off x="8431920" y="1892008"/>
            <a:ext cx="156065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a:t>
            </a:r>
          </a:p>
          <a:p>
            <a:pPr algn="ctr"/>
            <a:endParaRPr lang="fr-CA" b="1" dirty="0">
              <a:cs typeface="Calibri"/>
            </a:endParaRPr>
          </a:p>
        </p:txBody>
      </p:sp>
      <p:sp>
        <p:nvSpPr>
          <p:cNvPr id="25" name="Rectangle 24">
            <a:extLst>
              <a:ext uri="{FF2B5EF4-FFF2-40B4-BE49-F238E27FC236}">
                <a16:creationId xmlns:a16="http://schemas.microsoft.com/office/drawing/2014/main" id="{8DB16B18-94F1-570E-3C78-87343D177B18}"/>
              </a:ext>
            </a:extLst>
          </p:cNvPr>
          <p:cNvSpPr/>
          <p:nvPr>
            <p:custDataLst>
              <p:tags r:id="rId20"/>
            </p:custDataLst>
          </p:nvPr>
        </p:nvSpPr>
        <p:spPr>
          <a:xfrm>
            <a:off x="8431920" y="3477927"/>
            <a:ext cx="1560652" cy="104973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a:t>
            </a:r>
          </a:p>
          <a:p>
            <a:pPr algn="ctr"/>
            <a:endParaRPr lang="fr-CA" b="1" dirty="0">
              <a:cs typeface="Calibri"/>
            </a:endParaRPr>
          </a:p>
        </p:txBody>
      </p:sp>
      <p:cxnSp>
        <p:nvCxnSpPr>
          <p:cNvPr id="31" name="Connecteur droit avec flèche 30">
            <a:extLst>
              <a:ext uri="{FF2B5EF4-FFF2-40B4-BE49-F238E27FC236}">
                <a16:creationId xmlns:a16="http://schemas.microsoft.com/office/drawing/2014/main" id="{7CD72BDC-27B4-48D4-81BF-9CF4037DB846}"/>
              </a:ext>
            </a:extLst>
          </p:cNvPr>
          <p:cNvCxnSpPr>
            <a:cxnSpLocks/>
          </p:cNvCxnSpPr>
          <p:nvPr>
            <p:custDataLst>
              <p:tags r:id="rId21"/>
            </p:custDataLst>
          </p:nvPr>
        </p:nvCxnSpPr>
        <p:spPr>
          <a:xfrm flipV="1">
            <a:off x="9978103" y="2062044"/>
            <a:ext cx="346782" cy="413299"/>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36" name="Connecteur droit avec flèche 35">
            <a:extLst>
              <a:ext uri="{FF2B5EF4-FFF2-40B4-BE49-F238E27FC236}">
                <a16:creationId xmlns:a16="http://schemas.microsoft.com/office/drawing/2014/main" id="{3955C120-E4E0-6ECD-C1D7-A74059A3E7DD}"/>
              </a:ext>
            </a:extLst>
          </p:cNvPr>
          <p:cNvCxnSpPr>
            <a:cxnSpLocks/>
            <a:endCxn id="22" idx="0"/>
          </p:cNvCxnSpPr>
          <p:nvPr>
            <p:custDataLst>
              <p:tags r:id="rId22"/>
            </p:custDataLst>
          </p:nvPr>
        </p:nvCxnSpPr>
        <p:spPr>
          <a:xfrm>
            <a:off x="8265865" y="1215189"/>
            <a:ext cx="946381" cy="676819"/>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38" name="Connecteur droit avec flèche 37">
            <a:extLst>
              <a:ext uri="{FF2B5EF4-FFF2-40B4-BE49-F238E27FC236}">
                <a16:creationId xmlns:a16="http://schemas.microsoft.com/office/drawing/2014/main" id="{0450B70C-33A6-D7A7-3104-08B18C15DF5A}"/>
              </a:ext>
            </a:extLst>
          </p:cNvPr>
          <p:cNvCxnSpPr>
            <a:cxnSpLocks/>
            <a:stCxn id="9" idx="3"/>
          </p:cNvCxnSpPr>
          <p:nvPr>
            <p:custDataLst>
              <p:tags r:id="rId23"/>
            </p:custDataLst>
          </p:nvPr>
        </p:nvCxnSpPr>
        <p:spPr>
          <a:xfrm>
            <a:off x="8235390" y="1173032"/>
            <a:ext cx="588485" cy="2320643"/>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45" name="Connecteur droit avec flèche 44">
            <a:extLst>
              <a:ext uri="{FF2B5EF4-FFF2-40B4-BE49-F238E27FC236}">
                <a16:creationId xmlns:a16="http://schemas.microsoft.com/office/drawing/2014/main" id="{66149EFD-88D9-C6DD-E0AB-ACD9CB3B76A0}"/>
              </a:ext>
            </a:extLst>
          </p:cNvPr>
          <p:cNvCxnSpPr>
            <a:cxnSpLocks/>
          </p:cNvCxnSpPr>
          <p:nvPr>
            <p:custDataLst>
              <p:tags r:id="rId24"/>
            </p:custDataLst>
          </p:nvPr>
        </p:nvCxnSpPr>
        <p:spPr>
          <a:xfrm flipV="1">
            <a:off x="8206599" y="2710862"/>
            <a:ext cx="333289" cy="289014"/>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48" name="Connecteur droit avec flèche 47">
            <a:extLst>
              <a:ext uri="{FF2B5EF4-FFF2-40B4-BE49-F238E27FC236}">
                <a16:creationId xmlns:a16="http://schemas.microsoft.com/office/drawing/2014/main" id="{6546A7C9-433B-E151-56A3-6E9D01B56742}"/>
              </a:ext>
            </a:extLst>
          </p:cNvPr>
          <p:cNvCxnSpPr>
            <a:cxnSpLocks/>
          </p:cNvCxnSpPr>
          <p:nvPr>
            <p:custDataLst>
              <p:tags r:id="rId25"/>
            </p:custDataLst>
          </p:nvPr>
        </p:nvCxnSpPr>
        <p:spPr>
          <a:xfrm flipV="1">
            <a:off x="8208004" y="2770198"/>
            <a:ext cx="807712" cy="666490"/>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5" name="Connecteur droit avec flèche 54">
            <a:extLst>
              <a:ext uri="{FF2B5EF4-FFF2-40B4-BE49-F238E27FC236}">
                <a16:creationId xmlns:a16="http://schemas.microsoft.com/office/drawing/2014/main" id="{0D304631-1E7E-0849-D39E-367DADE015AA}"/>
              </a:ext>
            </a:extLst>
          </p:cNvPr>
          <p:cNvCxnSpPr>
            <a:cxnSpLocks/>
            <a:endCxn id="25" idx="2"/>
          </p:cNvCxnSpPr>
          <p:nvPr>
            <p:custDataLst>
              <p:tags r:id="rId26"/>
            </p:custDataLst>
          </p:nvPr>
        </p:nvCxnSpPr>
        <p:spPr>
          <a:xfrm flipV="1">
            <a:off x="8222534" y="4527663"/>
            <a:ext cx="989712" cy="1289891"/>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7" name="Connecteur droit avec flèche 56">
            <a:extLst>
              <a:ext uri="{FF2B5EF4-FFF2-40B4-BE49-F238E27FC236}">
                <a16:creationId xmlns:a16="http://schemas.microsoft.com/office/drawing/2014/main" id="{88D98F25-DEE7-9277-27D9-A0C47C98BAD7}"/>
              </a:ext>
            </a:extLst>
          </p:cNvPr>
          <p:cNvCxnSpPr>
            <a:cxnSpLocks/>
            <a:stCxn id="22" idx="3"/>
          </p:cNvCxnSpPr>
          <p:nvPr>
            <p:custDataLst>
              <p:tags r:id="rId27"/>
            </p:custDataLst>
          </p:nvPr>
        </p:nvCxnSpPr>
        <p:spPr>
          <a:xfrm>
            <a:off x="9992572" y="2416876"/>
            <a:ext cx="305734" cy="660138"/>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cxnSp>
        <p:nvCxnSpPr>
          <p:cNvPr id="59" name="Connecteur droit avec flèche 58">
            <a:extLst>
              <a:ext uri="{FF2B5EF4-FFF2-40B4-BE49-F238E27FC236}">
                <a16:creationId xmlns:a16="http://schemas.microsoft.com/office/drawing/2014/main" id="{01D5A155-4DC2-0E92-D192-BA9421FE7F3C}"/>
              </a:ext>
            </a:extLst>
          </p:cNvPr>
          <p:cNvCxnSpPr>
            <a:cxnSpLocks/>
          </p:cNvCxnSpPr>
          <p:nvPr>
            <p:custDataLst>
              <p:tags r:id="rId28"/>
            </p:custDataLst>
          </p:nvPr>
        </p:nvCxnSpPr>
        <p:spPr>
          <a:xfrm>
            <a:off x="9989587" y="3867369"/>
            <a:ext cx="335298" cy="535009"/>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6" name="ZoneTexte 5">
            <a:extLst>
              <a:ext uri="{FF2B5EF4-FFF2-40B4-BE49-F238E27FC236}">
                <a16:creationId xmlns:a16="http://schemas.microsoft.com/office/drawing/2014/main" id="{39AF3924-F2E7-3EB4-D1E8-5CF75ADEF137}"/>
              </a:ext>
            </a:extLst>
          </p:cNvPr>
          <p:cNvSpPr txBox="1"/>
          <p:nvPr/>
        </p:nvSpPr>
        <p:spPr>
          <a:xfrm>
            <a:off x="2367952" y="2179196"/>
            <a:ext cx="1560652" cy="646331"/>
          </a:xfrm>
          <a:prstGeom prst="rect">
            <a:avLst/>
          </a:prstGeom>
          <a:noFill/>
        </p:spPr>
        <p:txBody>
          <a:bodyPr wrap="square" rtlCol="0">
            <a:spAutoFit/>
          </a:bodyPr>
          <a:lstStyle/>
          <a:p>
            <a:r>
              <a:rPr lang="fr-CA" b="1" dirty="0"/>
              <a:t>Un taux d’imputation</a:t>
            </a:r>
          </a:p>
        </p:txBody>
      </p:sp>
      <p:sp>
        <p:nvSpPr>
          <p:cNvPr id="32" name="ZoneTexte 31">
            <a:extLst>
              <a:ext uri="{FF2B5EF4-FFF2-40B4-BE49-F238E27FC236}">
                <a16:creationId xmlns:a16="http://schemas.microsoft.com/office/drawing/2014/main" id="{FDF497A8-1621-3DC3-39E5-A443E7969F0E}"/>
              </a:ext>
            </a:extLst>
          </p:cNvPr>
          <p:cNvSpPr txBox="1"/>
          <p:nvPr/>
        </p:nvSpPr>
        <p:spPr>
          <a:xfrm>
            <a:off x="8780704" y="4972307"/>
            <a:ext cx="1560652" cy="646331"/>
          </a:xfrm>
          <a:prstGeom prst="rect">
            <a:avLst/>
          </a:prstGeom>
          <a:noFill/>
        </p:spPr>
        <p:txBody>
          <a:bodyPr wrap="square" rtlCol="0">
            <a:spAutoFit/>
          </a:bodyPr>
          <a:lstStyle/>
          <a:p>
            <a:r>
              <a:rPr lang="fr-CA" b="1" dirty="0"/>
              <a:t>Plusieurs taux d’imputation</a:t>
            </a:r>
          </a:p>
        </p:txBody>
      </p:sp>
      <p:sp>
        <p:nvSpPr>
          <p:cNvPr id="30" name="Rectangle 29">
            <a:extLst>
              <a:ext uri="{FF2B5EF4-FFF2-40B4-BE49-F238E27FC236}">
                <a16:creationId xmlns:a16="http://schemas.microsoft.com/office/drawing/2014/main" id="{DC0F6A88-4E35-0F7F-08B6-EEA604C67A2D}"/>
              </a:ext>
            </a:extLst>
          </p:cNvPr>
          <p:cNvSpPr/>
          <p:nvPr>
            <p:custDataLst>
              <p:tags r:id="rId29"/>
            </p:custDataLst>
          </p:nvPr>
        </p:nvSpPr>
        <p:spPr>
          <a:xfrm>
            <a:off x="183127" y="3065271"/>
            <a:ext cx="1725598" cy="70945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Total des FGF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2 275 000 $</a:t>
            </a:r>
            <a:endParaRPr kumimoji="0" lang="fr-FR" altLang="fr-FR"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33" name="Connecteur droit avec flèche 32">
            <a:extLst>
              <a:ext uri="{FF2B5EF4-FFF2-40B4-BE49-F238E27FC236}">
                <a16:creationId xmlns:a16="http://schemas.microsoft.com/office/drawing/2014/main" id="{64FA924B-B1B4-85B1-A403-05F6A14B5BE0}"/>
              </a:ext>
            </a:extLst>
          </p:cNvPr>
          <p:cNvCxnSpPr>
            <a:cxnSpLocks/>
            <a:stCxn id="30" idx="3"/>
            <a:endCxn id="3" idx="1"/>
          </p:cNvCxnSpPr>
          <p:nvPr>
            <p:custDataLst>
              <p:tags r:id="rId30"/>
            </p:custDataLst>
          </p:nvPr>
        </p:nvCxnSpPr>
        <p:spPr>
          <a:xfrm>
            <a:off x="1908725" y="3419998"/>
            <a:ext cx="451905" cy="0"/>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
        <p:nvSpPr>
          <p:cNvPr id="43" name="Rectangle 42">
            <a:extLst>
              <a:ext uri="{FF2B5EF4-FFF2-40B4-BE49-F238E27FC236}">
                <a16:creationId xmlns:a16="http://schemas.microsoft.com/office/drawing/2014/main" id="{D40DA090-497B-A18C-1EA1-3FBED4432B37}"/>
              </a:ext>
            </a:extLst>
          </p:cNvPr>
          <p:cNvSpPr/>
          <p:nvPr/>
        </p:nvSpPr>
        <p:spPr>
          <a:xfrm>
            <a:off x="4241741" y="3180107"/>
            <a:ext cx="1544830" cy="708588"/>
          </a:xfrm>
          <a:prstGeom prst="rect">
            <a:avLst/>
          </a:prstGeom>
          <a:solidFill>
            <a:schemeClr val="bg1"/>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Fall Flower</a:t>
            </a:r>
          </a:p>
        </p:txBody>
      </p:sp>
      <p:cxnSp>
        <p:nvCxnSpPr>
          <p:cNvPr id="46" name="Connecteur droit avec flèche 45">
            <a:extLst>
              <a:ext uri="{FF2B5EF4-FFF2-40B4-BE49-F238E27FC236}">
                <a16:creationId xmlns:a16="http://schemas.microsoft.com/office/drawing/2014/main" id="{0E1F5DDB-A39D-C451-5435-AC5BD5A60F61}"/>
              </a:ext>
            </a:extLst>
          </p:cNvPr>
          <p:cNvCxnSpPr>
            <a:cxnSpLocks/>
            <a:endCxn id="43" idx="1"/>
          </p:cNvCxnSpPr>
          <p:nvPr>
            <p:custDataLst>
              <p:tags r:id="rId31"/>
            </p:custDataLst>
          </p:nvPr>
        </p:nvCxnSpPr>
        <p:spPr>
          <a:xfrm>
            <a:off x="3685309" y="3534401"/>
            <a:ext cx="556432" cy="0"/>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grpSp>
        <p:nvGrpSpPr>
          <p:cNvPr id="50" name="Groupe 49">
            <a:extLst>
              <a:ext uri="{FF2B5EF4-FFF2-40B4-BE49-F238E27FC236}">
                <a16:creationId xmlns:a16="http://schemas.microsoft.com/office/drawing/2014/main" id="{42087DFC-5222-4EE1-18F1-A168454ECE4A}"/>
              </a:ext>
            </a:extLst>
          </p:cNvPr>
          <p:cNvGrpSpPr/>
          <p:nvPr>
            <p:custDataLst>
              <p:tags r:id="rId32"/>
            </p:custDataLst>
          </p:nvPr>
        </p:nvGrpSpPr>
        <p:grpSpPr>
          <a:xfrm>
            <a:off x="10053748" y="871948"/>
            <a:ext cx="2111673" cy="4296951"/>
            <a:chOff x="5042400" y="1171619"/>
            <a:chExt cx="2534300" cy="3231391"/>
          </a:xfrm>
          <a:solidFill>
            <a:schemeClr val="bg1"/>
          </a:solidFill>
        </p:grpSpPr>
        <p:sp>
          <p:nvSpPr>
            <p:cNvPr id="52" name="Rectangle 51">
              <a:extLst>
                <a:ext uri="{FF2B5EF4-FFF2-40B4-BE49-F238E27FC236}">
                  <a16:creationId xmlns:a16="http://schemas.microsoft.com/office/drawing/2014/main" id="{C166A1D4-9D58-AF6E-819B-DF71D67939D7}"/>
                </a:ext>
              </a:extLst>
            </p:cNvPr>
            <p:cNvSpPr/>
            <p:nvPr/>
          </p:nvSpPr>
          <p:spPr>
            <a:xfrm>
              <a:off x="5335903" y="1807919"/>
              <a:ext cx="1854010"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Robe Noire</a:t>
              </a:r>
            </a:p>
          </p:txBody>
        </p:sp>
        <p:sp>
          <p:nvSpPr>
            <p:cNvPr id="56" name="Rectangle 55">
              <a:extLst>
                <a:ext uri="{FF2B5EF4-FFF2-40B4-BE49-F238E27FC236}">
                  <a16:creationId xmlns:a16="http://schemas.microsoft.com/office/drawing/2014/main" id="{BE25A591-89C1-666E-FEED-E9A78A6ED9D3}"/>
                </a:ext>
              </a:extLst>
            </p:cNvPr>
            <p:cNvSpPr/>
            <p:nvPr/>
          </p:nvSpPr>
          <p:spPr>
            <a:xfrm>
              <a:off x="5335903" y="3799895"/>
              <a:ext cx="1947296" cy="603115"/>
            </a:xfrm>
            <a:prstGeom prst="rect">
              <a:avLst/>
            </a:prstGeom>
            <a:grp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endParaRPr lang="fr-CA" dirty="0"/>
            </a:p>
            <a:p>
              <a:pPr algn="ctr"/>
              <a:r>
                <a:rPr lang="fr-CA" dirty="0"/>
                <a:t>Abeille</a:t>
              </a:r>
            </a:p>
            <a:p>
              <a:pPr algn="ctr"/>
              <a:endParaRPr lang="fr-CA" dirty="0">
                <a:cs typeface="Calibri"/>
              </a:endParaRPr>
            </a:p>
          </p:txBody>
        </p:sp>
        <p:sp>
          <p:nvSpPr>
            <p:cNvPr id="58" name="Rectangle 57">
              <a:extLst>
                <a:ext uri="{FF2B5EF4-FFF2-40B4-BE49-F238E27FC236}">
                  <a16:creationId xmlns:a16="http://schemas.microsoft.com/office/drawing/2014/main" id="{69167A26-C09E-5D66-0CA6-E09A29449137}"/>
                </a:ext>
              </a:extLst>
            </p:cNvPr>
            <p:cNvSpPr/>
            <p:nvPr/>
          </p:nvSpPr>
          <p:spPr>
            <a:xfrm>
              <a:off x="5042400" y="1171619"/>
              <a:ext cx="2534300" cy="6031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ysClr val="windowText" lastClr="000000"/>
                  </a:solidFill>
                </a:rPr>
                <a:t>Objet de coût - Produits</a:t>
              </a:r>
            </a:p>
          </p:txBody>
        </p:sp>
      </p:grpSp>
      <p:sp>
        <p:nvSpPr>
          <p:cNvPr id="66" name="Rectangle 65">
            <a:extLst>
              <a:ext uri="{FF2B5EF4-FFF2-40B4-BE49-F238E27FC236}">
                <a16:creationId xmlns:a16="http://schemas.microsoft.com/office/drawing/2014/main" id="{208969DF-52C6-A819-F0F6-88551E2C8D99}"/>
              </a:ext>
            </a:extLst>
          </p:cNvPr>
          <p:cNvSpPr/>
          <p:nvPr/>
        </p:nvSpPr>
        <p:spPr>
          <a:xfrm>
            <a:off x="10337169" y="3000309"/>
            <a:ext cx="1544830" cy="708588"/>
          </a:xfrm>
          <a:prstGeom prst="rect">
            <a:avLst/>
          </a:prstGeom>
          <a:solidFill>
            <a:schemeClr val="bg1"/>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fr-CA" dirty="0">
                <a:cs typeface="Calibri"/>
              </a:rPr>
              <a:t>Fall Flower</a:t>
            </a:r>
          </a:p>
        </p:txBody>
      </p:sp>
      <p:cxnSp>
        <p:nvCxnSpPr>
          <p:cNvPr id="67" name="Connecteur droit avec flèche 66">
            <a:extLst>
              <a:ext uri="{FF2B5EF4-FFF2-40B4-BE49-F238E27FC236}">
                <a16:creationId xmlns:a16="http://schemas.microsoft.com/office/drawing/2014/main" id="{2DEE22E0-9439-10B9-6626-D6E36D46DF5E}"/>
              </a:ext>
            </a:extLst>
          </p:cNvPr>
          <p:cNvCxnSpPr>
            <a:cxnSpLocks/>
            <a:endCxn id="66" idx="1"/>
          </p:cNvCxnSpPr>
          <p:nvPr>
            <p:custDataLst>
              <p:tags r:id="rId33"/>
            </p:custDataLst>
          </p:nvPr>
        </p:nvCxnSpPr>
        <p:spPr>
          <a:xfrm flipV="1">
            <a:off x="9977790" y="3354603"/>
            <a:ext cx="359379" cy="512766"/>
          </a:xfrm>
          <a:prstGeom prst="straightConnector1">
            <a:avLst/>
          </a:prstGeom>
          <a:ln w="28575">
            <a:solidFill>
              <a:schemeClr val="accent1"/>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026222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90D5-7051-2357-E474-F80FD8CAD4E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A46C5F-2435-5058-1015-1C205EBF3993}"/>
              </a:ext>
            </a:extLst>
          </p:cNvPr>
          <p:cNvSpPr>
            <a:spLocks noGrp="1"/>
          </p:cNvSpPr>
          <p:nvPr>
            <p:ph type="title"/>
            <p:custDataLst>
              <p:tags r:id="rId1"/>
            </p:custDataLst>
          </p:nvPr>
        </p:nvSpPr>
        <p:spPr>
          <a:xfrm>
            <a:off x="838200" y="286871"/>
            <a:ext cx="10515600" cy="916288"/>
          </a:xfrm>
        </p:spPr>
        <p:txBody>
          <a:bodyPr>
            <a:normAutofit/>
          </a:bodyPr>
          <a:lstStyle/>
          <a:p>
            <a:r>
              <a:rPr lang="en-US" sz="3300" dirty="0" err="1"/>
              <a:t>Exemple</a:t>
            </a:r>
            <a:r>
              <a:rPr lang="en-US" sz="3300" dirty="0"/>
              <a:t> 3: </a:t>
            </a:r>
            <a:r>
              <a:rPr lang="en-US" sz="3300" dirty="0" err="1"/>
              <a:t>Critères</a:t>
            </a:r>
            <a:r>
              <a:rPr lang="en-US" sz="3300" dirty="0"/>
              <a:t> choix de base </a:t>
            </a:r>
            <a:r>
              <a:rPr lang="en-US" sz="3300" dirty="0" err="1"/>
              <a:t>d’imputation</a:t>
            </a:r>
            <a:endParaRPr lang="en-US" sz="4000" dirty="0"/>
          </a:p>
        </p:txBody>
      </p:sp>
      <p:sp>
        <p:nvSpPr>
          <p:cNvPr id="8" name="Espace réservé du numéro de diapositive 2">
            <a:extLst>
              <a:ext uri="{FF2B5EF4-FFF2-40B4-BE49-F238E27FC236}">
                <a16:creationId xmlns:a16="http://schemas.microsoft.com/office/drawing/2014/main" id="{FE18C3DC-AB30-6050-66E8-62C88BE33842}"/>
              </a:ext>
            </a:extLst>
          </p:cNvPr>
          <p:cNvSpPr>
            <a:spLocks noGrp="1"/>
          </p:cNvSpPr>
          <p:nvPr>
            <p:ph type="sldNum" sz="quarter" idx="12"/>
            <p:custDataLst>
              <p:tags r:id="rId2"/>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43</a:t>
            </a:fld>
            <a:endParaRPr lang="fr-CA" dirty="0">
              <a:solidFill>
                <a:prstClr val="black">
                  <a:tint val="75000"/>
                </a:prstClr>
              </a:solidFill>
            </a:endParaRPr>
          </a:p>
        </p:txBody>
      </p:sp>
      <p:sp>
        <p:nvSpPr>
          <p:cNvPr id="4" name="Espace réservé du pied de page 6">
            <a:extLst>
              <a:ext uri="{FF2B5EF4-FFF2-40B4-BE49-F238E27FC236}">
                <a16:creationId xmlns:a16="http://schemas.microsoft.com/office/drawing/2014/main" id="{17F6EDFD-5F0D-8D61-60F3-BDF2779B8AFB}"/>
              </a:ext>
            </a:extLst>
          </p:cNvPr>
          <p:cNvSpPr txBox="1">
            <a:spLocks/>
          </p:cNvSpPr>
          <p:nvPr>
            <p:custDataLst>
              <p:tags r:id="rId3"/>
            </p:custDataLst>
          </p:nvPr>
        </p:nvSpPr>
        <p:spPr>
          <a:xfrm>
            <a:off x="4843754" y="6481831"/>
            <a:ext cx="2504492" cy="303343"/>
          </a:xfrm>
          <a:prstGeom prst="rect">
            <a:avLst/>
          </a:prstGeom>
        </p:spPr>
        <p:txBody>
          <a:bodyPr/>
          <a:lstStyle>
            <a:defPPr>
              <a:defRPr lang="fr-FR"/>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a:solidFill>
                  <a:prstClr val="black">
                    <a:tint val="75000"/>
                  </a:prstClr>
                </a:solidFill>
              </a:rPr>
              <a:t>(c) 10904 / S05</a:t>
            </a:r>
            <a:endParaRPr lang="fr-CA" dirty="0">
              <a:solidFill>
                <a:prstClr val="black">
                  <a:tint val="75000"/>
                </a:prstClr>
              </a:solidFill>
            </a:endParaRPr>
          </a:p>
        </p:txBody>
      </p:sp>
      <p:graphicFrame>
        <p:nvGraphicFramePr>
          <p:cNvPr id="9" name="Tableau 7">
            <a:extLst>
              <a:ext uri="{FF2B5EF4-FFF2-40B4-BE49-F238E27FC236}">
                <a16:creationId xmlns:a16="http://schemas.microsoft.com/office/drawing/2014/main" id="{F1355D14-D86F-B4E5-56B3-A3640FEE571A}"/>
              </a:ext>
            </a:extLst>
          </p:cNvPr>
          <p:cNvGraphicFramePr>
            <a:graphicFrameLocks noGrp="1"/>
          </p:cNvGraphicFramePr>
          <p:nvPr>
            <p:custDataLst>
              <p:tags r:id="rId4"/>
            </p:custDataLst>
            <p:extLst>
              <p:ext uri="{D42A27DB-BD31-4B8C-83A1-F6EECF244321}">
                <p14:modId xmlns:p14="http://schemas.microsoft.com/office/powerpoint/2010/main" val="1340975037"/>
              </p:ext>
            </p:extLst>
          </p:nvPr>
        </p:nvGraphicFramePr>
        <p:xfrm>
          <a:off x="838200" y="1547011"/>
          <a:ext cx="4448311" cy="4590968"/>
        </p:xfrm>
        <a:graphic>
          <a:graphicData uri="http://schemas.openxmlformats.org/drawingml/2006/table">
            <a:tbl>
              <a:tblPr firstRow="1" bandRow="1">
                <a:tableStyleId>{3B4B98B0-60AC-42C2-AFA5-B58CD77FA1E5}</a:tableStyleId>
              </a:tblPr>
              <a:tblGrid>
                <a:gridCol w="3116468">
                  <a:extLst>
                    <a:ext uri="{9D8B030D-6E8A-4147-A177-3AD203B41FA5}">
                      <a16:colId xmlns:a16="http://schemas.microsoft.com/office/drawing/2014/main" val="709325320"/>
                    </a:ext>
                  </a:extLst>
                </a:gridCol>
                <a:gridCol w="1331843">
                  <a:extLst>
                    <a:ext uri="{9D8B030D-6E8A-4147-A177-3AD203B41FA5}">
                      <a16:colId xmlns:a16="http://schemas.microsoft.com/office/drawing/2014/main" val="168165902"/>
                    </a:ext>
                  </a:extLst>
                </a:gridCol>
              </a:tblGrid>
              <a:tr h="401366">
                <a:tc gridSpan="2">
                  <a:txBody>
                    <a:bodyPr/>
                    <a:lstStyle/>
                    <a:p>
                      <a:r>
                        <a:rPr lang="fr-CA" dirty="0"/>
                        <a:t>Charges FGF de l’usine</a:t>
                      </a:r>
                    </a:p>
                  </a:txBody>
                  <a:tcPr/>
                </a:tc>
                <a:tc hMerge="1">
                  <a:txBody>
                    <a:bodyPr/>
                    <a:lstStyle/>
                    <a:p>
                      <a:pPr algn="r" fontAlgn="b"/>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1104896343"/>
                  </a:ext>
                </a:extLst>
              </a:tr>
              <a:tr h="401366">
                <a:tc>
                  <a:txBody>
                    <a:bodyPr/>
                    <a:lstStyle/>
                    <a:p>
                      <a:r>
                        <a:rPr lang="fr-CA" sz="1800" b="0" kern="1200" dirty="0">
                          <a:solidFill>
                            <a:schemeClr val="tx1"/>
                          </a:solidFill>
                          <a:effectLst/>
                        </a:rPr>
                        <a:t>Maintenance (pièces, huile)</a:t>
                      </a:r>
                      <a:endParaRPr lang="fr-CA" dirty="0">
                        <a:solidFill>
                          <a:schemeClr val="tx1"/>
                        </a:solidFill>
                      </a:endParaRPr>
                    </a:p>
                  </a:txBody>
                  <a:tcPr/>
                </a:tc>
                <a:tc>
                  <a:txBody>
                    <a:bodyPr/>
                    <a:lstStyle/>
                    <a:p>
                      <a:pPr algn="r" fontAlgn="b"/>
                      <a:r>
                        <a:rPr lang="fr-CA" sz="1800" b="0" kern="1200" dirty="0">
                          <a:solidFill>
                            <a:schemeClr val="dk1"/>
                          </a:solidFill>
                          <a:effectLst/>
                        </a:rPr>
                        <a:t>40 000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1924773181"/>
                  </a:ext>
                </a:extLst>
              </a:tr>
              <a:tr h="401366">
                <a:tc>
                  <a:txBody>
                    <a:bodyPr/>
                    <a:lstStyle/>
                    <a:p>
                      <a:r>
                        <a:rPr lang="fr-CA" sz="1800" b="0" kern="1200" dirty="0">
                          <a:solidFill>
                            <a:schemeClr val="dk1"/>
                          </a:solidFill>
                          <a:effectLst/>
                        </a:rPr>
                        <a:t>Électricité</a:t>
                      </a:r>
                      <a:endParaRPr lang="fr-CA" dirty="0"/>
                    </a:p>
                  </a:txBody>
                  <a:tcPr/>
                </a:tc>
                <a:tc>
                  <a:txBody>
                    <a:bodyPr/>
                    <a:lstStyle/>
                    <a:p>
                      <a:pPr algn="r" fontAlgn="b"/>
                      <a:r>
                        <a:rPr lang="fr-CA" sz="1800" b="0" kern="1200" dirty="0">
                          <a:solidFill>
                            <a:schemeClr val="dk1"/>
                          </a:solidFill>
                          <a:effectLst/>
                        </a:rPr>
                        <a:t> 20 000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1215540733"/>
                  </a:ext>
                </a:extLst>
              </a:tr>
              <a:tr h="692769">
                <a:tc>
                  <a:txBody>
                    <a:bodyPr/>
                    <a:lstStyle/>
                    <a:p>
                      <a:r>
                        <a:rPr lang="fr-CA" sz="1800" b="0" kern="1200" dirty="0">
                          <a:solidFill>
                            <a:schemeClr val="dk1"/>
                          </a:solidFill>
                          <a:effectLst/>
                        </a:rPr>
                        <a:t>Outillage pour la finition </a:t>
                      </a:r>
                    </a:p>
                    <a:p>
                      <a:r>
                        <a:rPr lang="fr-CA" sz="1800" b="0" kern="1200" dirty="0">
                          <a:solidFill>
                            <a:schemeClr val="dk1"/>
                          </a:solidFill>
                          <a:effectLst/>
                        </a:rPr>
                        <a:t>(colle, </a:t>
                      </a:r>
                      <a:r>
                        <a:rPr lang="fr-CA" sz="1800" b="0" kern="1200" dirty="0" err="1">
                          <a:solidFill>
                            <a:schemeClr val="dk1"/>
                          </a:solidFill>
                          <a:effectLst/>
                        </a:rPr>
                        <a:t>outillages,rubans</a:t>
                      </a:r>
                      <a:r>
                        <a:rPr lang="fr-CA" sz="1800" b="0" kern="1200" dirty="0">
                          <a:solidFill>
                            <a:schemeClr val="dk1"/>
                          </a:solidFill>
                          <a:effectLst/>
                        </a:rPr>
                        <a:t>, etc.)</a:t>
                      </a:r>
                      <a:endParaRPr lang="fr-CA" dirty="0"/>
                    </a:p>
                  </a:txBody>
                  <a:tcPr/>
                </a:tc>
                <a:tc>
                  <a:txBody>
                    <a:bodyPr/>
                    <a:lstStyle/>
                    <a:p>
                      <a:pPr algn="r" fontAlgn="b"/>
                      <a:r>
                        <a:rPr lang="fr-CA" sz="1800" b="0" kern="1200" dirty="0">
                          <a:solidFill>
                            <a:schemeClr val="dk1"/>
                          </a:solidFill>
                          <a:effectLst/>
                        </a:rPr>
                        <a:t> 105 000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2451140856"/>
                  </a:ext>
                </a:extLst>
              </a:tr>
              <a:tr h="401366">
                <a:tc>
                  <a:txBody>
                    <a:bodyPr/>
                    <a:lstStyle/>
                    <a:p>
                      <a:r>
                        <a:rPr lang="fr-CA" sz="1800" b="0" kern="1200" dirty="0">
                          <a:solidFill>
                            <a:schemeClr val="dk1"/>
                          </a:solidFill>
                          <a:effectLst/>
                        </a:rPr>
                        <a:t>Loyer</a:t>
                      </a:r>
                      <a:endParaRPr lang="fr-CA" dirty="0"/>
                    </a:p>
                  </a:txBody>
                  <a:tcPr/>
                </a:tc>
                <a:tc>
                  <a:txBody>
                    <a:bodyPr/>
                    <a:lstStyle/>
                    <a:p>
                      <a:pPr algn="r" fontAlgn="b"/>
                      <a:r>
                        <a:rPr lang="fr-CA" sz="1800" b="0" kern="1200" dirty="0">
                          <a:solidFill>
                            <a:schemeClr val="dk1"/>
                          </a:solidFill>
                          <a:effectLst/>
                        </a:rPr>
                        <a:t>276 000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596638138"/>
                  </a:ext>
                </a:extLst>
              </a:tr>
              <a:tr h="692769">
                <a:tc>
                  <a:txBody>
                    <a:bodyPr/>
                    <a:lstStyle/>
                    <a:p>
                      <a:r>
                        <a:rPr lang="fr-CA" sz="1800" b="0" kern="1200" dirty="0">
                          <a:solidFill>
                            <a:schemeClr val="dk1"/>
                          </a:solidFill>
                          <a:effectLst/>
                        </a:rPr>
                        <a:t>Amortissement – </a:t>
                      </a:r>
                    </a:p>
                    <a:p>
                      <a:r>
                        <a:rPr lang="fr-CA" sz="1800" b="0" kern="1200" dirty="0">
                          <a:solidFill>
                            <a:schemeClr val="dk1"/>
                          </a:solidFill>
                          <a:effectLst/>
                        </a:rPr>
                        <a:t>machine de remplissage</a:t>
                      </a:r>
                      <a:endParaRPr lang="fr-CA" dirty="0"/>
                    </a:p>
                  </a:txBody>
                  <a:tcPr/>
                </a:tc>
                <a:tc>
                  <a:txBody>
                    <a:bodyPr/>
                    <a:lstStyle/>
                    <a:p>
                      <a:pPr algn="r" fontAlgn="b"/>
                      <a:r>
                        <a:rPr lang="fr-CA" sz="1800" b="0" kern="1200" dirty="0">
                          <a:solidFill>
                            <a:schemeClr val="dk1"/>
                          </a:solidFill>
                          <a:effectLst/>
                        </a:rPr>
                        <a:t> 1 275 000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3944644454"/>
                  </a:ext>
                </a:extLst>
              </a:tr>
              <a:tr h="401366">
                <a:tc>
                  <a:txBody>
                    <a:bodyPr/>
                    <a:lstStyle/>
                    <a:p>
                      <a:r>
                        <a:rPr lang="fr-CA" sz="1800" b="0" kern="1200" dirty="0">
                          <a:solidFill>
                            <a:schemeClr val="dk1"/>
                          </a:solidFill>
                          <a:effectLst/>
                        </a:rPr>
                        <a:t>MOI - Salaire maintenance</a:t>
                      </a:r>
                      <a:endParaRPr lang="fr-CA" dirty="0"/>
                    </a:p>
                  </a:txBody>
                  <a:tcPr/>
                </a:tc>
                <a:tc>
                  <a:txBody>
                    <a:bodyPr/>
                    <a:lstStyle/>
                    <a:p>
                      <a:pPr algn="r" fontAlgn="b"/>
                      <a:r>
                        <a:rPr lang="fr-CA" sz="1800" b="0" kern="1200" dirty="0">
                          <a:solidFill>
                            <a:schemeClr val="dk1"/>
                          </a:solidFill>
                          <a:effectLst/>
                        </a:rPr>
                        <a:t> 265 000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2626030943"/>
                  </a:ext>
                </a:extLst>
              </a:tr>
              <a:tr h="401366">
                <a:tc>
                  <a:txBody>
                    <a:bodyPr/>
                    <a:lstStyle/>
                    <a:p>
                      <a:r>
                        <a:rPr lang="fr-CA" sz="1800" b="0" kern="1200" dirty="0">
                          <a:solidFill>
                            <a:schemeClr val="dk1"/>
                          </a:solidFill>
                          <a:effectLst/>
                        </a:rPr>
                        <a:t>MOI - Salaire superviseur</a:t>
                      </a:r>
                      <a:endParaRPr lang="fr-CA" dirty="0"/>
                    </a:p>
                  </a:txBody>
                  <a:tcPr/>
                </a:tc>
                <a:tc>
                  <a:txBody>
                    <a:bodyPr/>
                    <a:lstStyle/>
                    <a:p>
                      <a:pPr algn="r" fontAlgn="b"/>
                      <a:r>
                        <a:rPr lang="fr-CA" sz="1800" b="0" kern="1200" dirty="0">
                          <a:solidFill>
                            <a:schemeClr val="dk1"/>
                          </a:solidFill>
                          <a:effectLst/>
                        </a:rPr>
                        <a:t> 240 000  $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3807762639"/>
                  </a:ext>
                </a:extLst>
              </a:tr>
              <a:tr h="401366">
                <a:tc>
                  <a:txBody>
                    <a:bodyPr/>
                    <a:lstStyle/>
                    <a:p>
                      <a:r>
                        <a:rPr lang="fr-CA" sz="1800" b="0" kern="1200" dirty="0">
                          <a:solidFill>
                            <a:schemeClr val="dk1"/>
                          </a:solidFill>
                          <a:effectLst/>
                        </a:rPr>
                        <a:t>Assurances et taxes</a:t>
                      </a:r>
                      <a:endParaRPr lang="fr-CA" dirty="0"/>
                    </a:p>
                  </a:txBody>
                  <a:tcPr/>
                </a:tc>
                <a:tc>
                  <a:txBody>
                    <a:bodyPr/>
                    <a:lstStyle/>
                    <a:p>
                      <a:pPr algn="r" fontAlgn="b"/>
                      <a:r>
                        <a:rPr lang="fr-CA" sz="1800" b="0" kern="1200" dirty="0">
                          <a:solidFill>
                            <a:schemeClr val="dk1"/>
                          </a:solidFill>
                          <a:effectLst/>
                        </a:rPr>
                        <a:t> </a:t>
                      </a:r>
                      <a:r>
                        <a:rPr lang="fr-CA" sz="1800" b="0" u="sng" kern="1200" dirty="0">
                          <a:solidFill>
                            <a:schemeClr val="dk1"/>
                          </a:solidFill>
                          <a:effectLst/>
                        </a:rPr>
                        <a:t>54 000  $</a:t>
                      </a:r>
                      <a:r>
                        <a:rPr lang="fr-CA" sz="1800" b="0" kern="1200" dirty="0">
                          <a:solidFill>
                            <a:schemeClr val="dk1"/>
                          </a:solidFill>
                          <a:effectLst/>
                        </a:rPr>
                        <a:t> </a:t>
                      </a:r>
                      <a:endParaRPr lang="fr-CA" sz="1800" b="0"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1226929899"/>
                  </a:ext>
                </a:extLst>
              </a:tr>
              <a:tr h="395868">
                <a:tc>
                  <a:txBody>
                    <a:bodyPr/>
                    <a:lstStyle/>
                    <a:p>
                      <a:r>
                        <a:rPr lang="fr-CA" b="1" dirty="0"/>
                        <a:t>Total des FGF</a:t>
                      </a:r>
                    </a:p>
                  </a:txBody>
                  <a:tcPr/>
                </a:tc>
                <a:tc>
                  <a:txBody>
                    <a:bodyPr/>
                    <a:lstStyle/>
                    <a:p>
                      <a:pPr algn="r" fontAlgn="b"/>
                      <a:r>
                        <a:rPr lang="fr-CA" sz="1800" b="1" kern="1200" dirty="0">
                          <a:solidFill>
                            <a:schemeClr val="dk1"/>
                          </a:solidFill>
                          <a:effectLst/>
                        </a:rPr>
                        <a:t>2 275 000 $</a:t>
                      </a:r>
                      <a:endParaRPr lang="fr-CA" sz="1800" b="1" i="0" kern="1200" dirty="0">
                        <a:solidFill>
                          <a:schemeClr val="dk1"/>
                        </a:solidFill>
                        <a:effectLst/>
                        <a:latin typeface="+mn-lt"/>
                        <a:ea typeface="+mn-ea"/>
                        <a:cs typeface="+mn-cs"/>
                      </a:endParaRPr>
                    </a:p>
                  </a:txBody>
                  <a:tcPr marL="6350" marR="6350" marT="6350" anchor="b"/>
                </a:tc>
                <a:extLst>
                  <a:ext uri="{0D108BD9-81ED-4DB2-BD59-A6C34878D82A}">
                    <a16:rowId xmlns:a16="http://schemas.microsoft.com/office/drawing/2014/main" val="783948265"/>
                  </a:ext>
                </a:extLst>
              </a:tr>
            </a:tbl>
          </a:graphicData>
        </a:graphic>
      </p:graphicFrame>
      <p:sp>
        <p:nvSpPr>
          <p:cNvPr id="5" name="Rectangle 4">
            <a:extLst>
              <a:ext uri="{FF2B5EF4-FFF2-40B4-BE49-F238E27FC236}">
                <a16:creationId xmlns:a16="http://schemas.microsoft.com/office/drawing/2014/main" id="{1EDC1B1C-574E-F762-B1B1-76A3F01666C7}"/>
              </a:ext>
            </a:extLst>
          </p:cNvPr>
          <p:cNvSpPr/>
          <p:nvPr>
            <p:custDataLst>
              <p:tags r:id="rId5"/>
            </p:custDataLst>
          </p:nvPr>
        </p:nvSpPr>
        <p:spPr>
          <a:xfrm>
            <a:off x="6777318" y="1547011"/>
            <a:ext cx="4231341" cy="1770616"/>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 1 </a:t>
            </a:r>
          </a:p>
          <a:p>
            <a:pPr algn="ctr"/>
            <a:r>
              <a:rPr lang="fr-CA" b="1" dirty="0">
                <a:cs typeface="Calibri"/>
              </a:rPr>
              <a:t>1 950 000 $</a:t>
            </a:r>
          </a:p>
          <a:p>
            <a:r>
              <a:rPr lang="fr-CA" dirty="0">
                <a:cs typeface="Calibri"/>
              </a:rPr>
              <a:t>Le processus de fabrication est entièrement automatisé. Toutes les activités du processus sont effectuées par des machines.</a:t>
            </a:r>
          </a:p>
        </p:txBody>
      </p:sp>
      <p:sp>
        <p:nvSpPr>
          <p:cNvPr id="10" name="Rectangle 9">
            <a:extLst>
              <a:ext uri="{FF2B5EF4-FFF2-40B4-BE49-F238E27FC236}">
                <a16:creationId xmlns:a16="http://schemas.microsoft.com/office/drawing/2014/main" id="{3F54D802-D518-09CB-6903-1533B12B580B}"/>
              </a:ext>
            </a:extLst>
          </p:cNvPr>
          <p:cNvSpPr/>
          <p:nvPr>
            <p:custDataLst>
              <p:tags r:id="rId6"/>
            </p:custDataLst>
          </p:nvPr>
        </p:nvSpPr>
        <p:spPr>
          <a:xfrm>
            <a:off x="6777318" y="4015809"/>
            <a:ext cx="4231341" cy="1770615"/>
          </a:xfrm>
          <a:prstGeom prst="rect">
            <a:avLst/>
          </a:prstGeom>
          <a:ln w="28575"/>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fr-CA" b="1" dirty="0">
                <a:cs typeface="Calibri"/>
              </a:rPr>
              <a:t>Atelier 2</a:t>
            </a:r>
          </a:p>
          <a:p>
            <a:pPr algn="ctr"/>
            <a:r>
              <a:rPr lang="fr-CA" b="1" dirty="0">
                <a:cs typeface="Calibri"/>
              </a:rPr>
              <a:t>325 000$</a:t>
            </a:r>
          </a:p>
          <a:p>
            <a:r>
              <a:rPr lang="fr-CA" dirty="0">
                <a:cs typeface="Calibri"/>
              </a:rPr>
              <a:t>Le processus de fabrication dans cet atelier est manuel. Les employés réalisent les différentes tâches de fabrication.</a:t>
            </a:r>
          </a:p>
        </p:txBody>
      </p:sp>
      <p:cxnSp>
        <p:nvCxnSpPr>
          <p:cNvPr id="12" name="Connecteur droit avec flèche 11">
            <a:extLst>
              <a:ext uri="{FF2B5EF4-FFF2-40B4-BE49-F238E27FC236}">
                <a16:creationId xmlns:a16="http://schemas.microsoft.com/office/drawing/2014/main" id="{D2698BFE-D9FB-2C42-8C97-AFDB94821330}"/>
              </a:ext>
            </a:extLst>
          </p:cNvPr>
          <p:cNvCxnSpPr/>
          <p:nvPr/>
        </p:nvCxnSpPr>
        <p:spPr>
          <a:xfrm flipV="1">
            <a:off x="5414682" y="2653553"/>
            <a:ext cx="1219200" cy="1595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Ellipse 12">
            <a:extLst>
              <a:ext uri="{FF2B5EF4-FFF2-40B4-BE49-F238E27FC236}">
                <a16:creationId xmlns:a16="http://schemas.microsoft.com/office/drawing/2014/main" id="{9800A32E-FE09-AC35-88BF-58C18AE0921D}"/>
              </a:ext>
            </a:extLst>
          </p:cNvPr>
          <p:cNvSpPr/>
          <p:nvPr/>
        </p:nvSpPr>
        <p:spPr>
          <a:xfrm>
            <a:off x="4052047" y="4015809"/>
            <a:ext cx="1234464" cy="62790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fr-CA"/>
          </a:p>
        </p:txBody>
      </p:sp>
      <p:sp>
        <p:nvSpPr>
          <p:cNvPr id="14" name="Flèche : courbe vers le bas 13">
            <a:extLst>
              <a:ext uri="{FF2B5EF4-FFF2-40B4-BE49-F238E27FC236}">
                <a16:creationId xmlns:a16="http://schemas.microsoft.com/office/drawing/2014/main" id="{ABFBD495-2CE0-CB80-C5CA-78427F6614C5}"/>
              </a:ext>
            </a:extLst>
          </p:cNvPr>
          <p:cNvSpPr/>
          <p:nvPr/>
        </p:nvSpPr>
        <p:spPr>
          <a:xfrm rot="5400000">
            <a:off x="4841985" y="4940060"/>
            <a:ext cx="1691020" cy="54562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solidFill>
                <a:schemeClr val="tx1"/>
              </a:solidFill>
            </a:endParaRPr>
          </a:p>
        </p:txBody>
      </p:sp>
      <p:cxnSp>
        <p:nvCxnSpPr>
          <p:cNvPr id="15" name="Connecteur droit avec flèche 14">
            <a:extLst>
              <a:ext uri="{FF2B5EF4-FFF2-40B4-BE49-F238E27FC236}">
                <a16:creationId xmlns:a16="http://schemas.microsoft.com/office/drawing/2014/main" id="{96077B95-1502-BB75-A202-932F70ED4989}"/>
              </a:ext>
            </a:extLst>
          </p:cNvPr>
          <p:cNvCxnSpPr>
            <a:cxnSpLocks/>
          </p:cNvCxnSpPr>
          <p:nvPr/>
        </p:nvCxnSpPr>
        <p:spPr>
          <a:xfrm flipV="1">
            <a:off x="5286511" y="4918424"/>
            <a:ext cx="1347371" cy="29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Connecteur droit avec flèche 2">
            <a:extLst>
              <a:ext uri="{FF2B5EF4-FFF2-40B4-BE49-F238E27FC236}">
                <a16:creationId xmlns:a16="http://schemas.microsoft.com/office/drawing/2014/main" id="{6F773767-D313-F91B-0331-1D183D55F8C4}"/>
              </a:ext>
            </a:extLst>
          </p:cNvPr>
          <p:cNvCxnSpPr>
            <a:cxnSpLocks/>
          </p:cNvCxnSpPr>
          <p:nvPr/>
        </p:nvCxnSpPr>
        <p:spPr>
          <a:xfrm flipV="1">
            <a:off x="5286511" y="3317627"/>
            <a:ext cx="1490807" cy="1795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065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28916-20F2-1742-7466-F661D79E49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57DC66-1C5B-0650-2155-461A7ABFB685}"/>
              </a:ext>
            </a:extLst>
          </p:cNvPr>
          <p:cNvSpPr>
            <a:spLocks noGrp="1"/>
          </p:cNvSpPr>
          <p:nvPr>
            <p:ph type="title"/>
            <p:custDataLst>
              <p:tags r:id="rId1"/>
            </p:custDataLst>
          </p:nvPr>
        </p:nvSpPr>
        <p:spPr>
          <a:xfrm>
            <a:off x="838200" y="107011"/>
            <a:ext cx="10515600" cy="916288"/>
          </a:xfrm>
        </p:spPr>
        <p:txBody>
          <a:bodyPr>
            <a:normAutofit fontScale="90000"/>
          </a:bodyPr>
          <a:lstStyle/>
          <a:p>
            <a:r>
              <a:rPr lang="en-US" sz="3300" dirty="0" err="1"/>
              <a:t>Exemple</a:t>
            </a:r>
            <a:r>
              <a:rPr lang="en-US" sz="3300" dirty="0"/>
              <a:t> 3: Discussion …</a:t>
            </a:r>
            <a:r>
              <a:rPr lang="en-US" sz="3300" dirty="0" err="1"/>
              <a:t>Rentabilité</a:t>
            </a:r>
            <a:r>
              <a:rPr lang="en-US" sz="3300" dirty="0"/>
              <a:t> du </a:t>
            </a:r>
            <a:r>
              <a:rPr lang="en-US" sz="3300" dirty="0" err="1"/>
              <a:t>produit</a:t>
            </a:r>
            <a:r>
              <a:rPr lang="en-US" sz="3300" dirty="0"/>
              <a:t> Abeille </a:t>
            </a:r>
            <a:br>
              <a:rPr lang="en-US" sz="3300" dirty="0"/>
            </a:br>
            <a:r>
              <a:rPr lang="en-US" sz="3300" dirty="0"/>
              <a:t>(</a:t>
            </a:r>
            <a:r>
              <a:rPr lang="en-US" sz="3300" dirty="0" err="1"/>
              <a:t>fabriqué</a:t>
            </a:r>
            <a:r>
              <a:rPr lang="en-US" sz="3300" dirty="0"/>
              <a:t> </a:t>
            </a:r>
            <a:r>
              <a:rPr lang="en-US" sz="3300" dirty="0" err="1"/>
              <a:t>seulement</a:t>
            </a:r>
            <a:r>
              <a:rPr lang="en-US" sz="3300" dirty="0"/>
              <a:t> par les dames de table) </a:t>
            </a:r>
            <a:r>
              <a:rPr lang="en-US" sz="3300" dirty="0" err="1"/>
              <a:t>étudiants</a:t>
            </a:r>
            <a:endParaRPr lang="en-US" sz="4000" dirty="0"/>
          </a:p>
        </p:txBody>
      </p:sp>
      <p:sp>
        <p:nvSpPr>
          <p:cNvPr id="8" name="Espace réservé du numéro de diapositive 2">
            <a:extLst>
              <a:ext uri="{FF2B5EF4-FFF2-40B4-BE49-F238E27FC236}">
                <a16:creationId xmlns:a16="http://schemas.microsoft.com/office/drawing/2014/main" id="{6F1D0A50-4B15-8BF6-9DAB-02172B458F2A}"/>
              </a:ext>
            </a:extLst>
          </p:cNvPr>
          <p:cNvSpPr>
            <a:spLocks noGrp="1"/>
          </p:cNvSpPr>
          <p:nvPr>
            <p:ph type="sldNum" sz="quarter" idx="12"/>
            <p:custDataLst>
              <p:tags r:id="rId2"/>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44</a:t>
            </a:fld>
            <a:endParaRPr lang="fr-CA" dirty="0">
              <a:solidFill>
                <a:prstClr val="black">
                  <a:tint val="75000"/>
                </a:prstClr>
              </a:solidFill>
            </a:endParaRPr>
          </a:p>
        </p:txBody>
      </p:sp>
      <p:sp>
        <p:nvSpPr>
          <p:cNvPr id="4" name="Espace réservé du pied de page 6">
            <a:extLst>
              <a:ext uri="{FF2B5EF4-FFF2-40B4-BE49-F238E27FC236}">
                <a16:creationId xmlns:a16="http://schemas.microsoft.com/office/drawing/2014/main" id="{A54A5CD0-1C90-246C-B213-F10E32FA35CD}"/>
              </a:ext>
            </a:extLst>
          </p:cNvPr>
          <p:cNvSpPr txBox="1">
            <a:spLocks/>
          </p:cNvSpPr>
          <p:nvPr>
            <p:custDataLst>
              <p:tags r:id="rId3"/>
            </p:custDataLst>
          </p:nvPr>
        </p:nvSpPr>
        <p:spPr>
          <a:xfrm>
            <a:off x="4843754" y="6481831"/>
            <a:ext cx="2504492" cy="303343"/>
          </a:xfrm>
          <a:prstGeom prst="rect">
            <a:avLst/>
          </a:prstGeom>
        </p:spPr>
        <p:txBody>
          <a:bodyPr/>
          <a:lstStyle>
            <a:defPPr>
              <a:defRPr lang="fr-FR"/>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a:solidFill>
                  <a:prstClr val="black">
                    <a:tint val="75000"/>
                  </a:prstClr>
                </a:solidFill>
              </a:rPr>
              <a:t>(c) 10904 / S05</a:t>
            </a:r>
            <a:endParaRPr lang="fr-CA" dirty="0">
              <a:solidFill>
                <a:prstClr val="black">
                  <a:tint val="75000"/>
                </a:prstClr>
              </a:solidFill>
            </a:endParaRPr>
          </a:p>
        </p:txBody>
      </p:sp>
      <p:graphicFrame>
        <p:nvGraphicFramePr>
          <p:cNvPr id="3" name="Tableau 2">
            <a:extLst>
              <a:ext uri="{FF2B5EF4-FFF2-40B4-BE49-F238E27FC236}">
                <a16:creationId xmlns:a16="http://schemas.microsoft.com/office/drawing/2014/main" id="{65BAEC58-59A4-DA8C-5189-282AD5650E09}"/>
              </a:ext>
            </a:extLst>
          </p:cNvPr>
          <p:cNvGraphicFramePr>
            <a:graphicFrameLocks noGrp="1"/>
          </p:cNvGraphicFramePr>
          <p:nvPr>
            <p:extLst>
              <p:ext uri="{D42A27DB-BD31-4B8C-83A1-F6EECF244321}">
                <p14:modId xmlns:p14="http://schemas.microsoft.com/office/powerpoint/2010/main" val="2481769483"/>
              </p:ext>
            </p:extLst>
          </p:nvPr>
        </p:nvGraphicFramePr>
        <p:xfrm>
          <a:off x="6163995" y="2169364"/>
          <a:ext cx="2479610" cy="4484365"/>
        </p:xfrm>
        <a:graphic>
          <a:graphicData uri="http://schemas.openxmlformats.org/drawingml/2006/table">
            <a:tbl>
              <a:tblPr firstRow="1" bandRow="1">
                <a:tableStyleId>{5940675A-B579-460E-94D1-54222C63F5DA}</a:tableStyleId>
              </a:tblPr>
              <a:tblGrid>
                <a:gridCol w="2479610">
                  <a:extLst>
                    <a:ext uri="{9D8B030D-6E8A-4147-A177-3AD203B41FA5}">
                      <a16:colId xmlns:a16="http://schemas.microsoft.com/office/drawing/2014/main" val="1497027943"/>
                    </a:ext>
                  </a:extLst>
                </a:gridCol>
              </a:tblGrid>
              <a:tr h="506559">
                <a:tc>
                  <a:txBody>
                    <a:bodyPr/>
                    <a:lstStyle/>
                    <a:p>
                      <a:r>
                        <a:rPr lang="fr-CA" b="1" dirty="0">
                          <a:solidFill>
                            <a:schemeClr val="tx1"/>
                          </a:solidFill>
                        </a:rPr>
                        <a:t>Plusieurs centres</a:t>
                      </a:r>
                    </a:p>
                  </a:txBody>
                  <a:tcPr/>
                </a:tc>
                <a:extLst>
                  <a:ext uri="{0D108BD9-81ED-4DB2-BD59-A6C34878D82A}">
                    <a16:rowId xmlns:a16="http://schemas.microsoft.com/office/drawing/2014/main" val="3805792425"/>
                  </a:ext>
                </a:extLst>
              </a:tr>
              <a:tr h="1569225">
                <a:tc>
                  <a:txBody>
                    <a:bodyPr/>
                    <a:lstStyle/>
                    <a:p>
                      <a:r>
                        <a:rPr lang="fr-CA" dirty="0"/>
                        <a:t>Atelier 1: </a:t>
                      </a:r>
                      <a:r>
                        <a:rPr lang="fr-CA" b="1" dirty="0"/>
                        <a:t>1 950 000 $</a:t>
                      </a:r>
                    </a:p>
                    <a:p>
                      <a:r>
                        <a:rPr lang="fr-CA" dirty="0"/>
                        <a:t>Total HM </a:t>
                      </a:r>
                      <a:r>
                        <a:rPr lang="fr-CA" b="0" dirty="0">
                          <a:cs typeface="Calibri"/>
                        </a:rPr>
                        <a:t>1 300 heures </a:t>
                      </a:r>
                      <a:endParaRPr lang="fr-CA" dirty="0"/>
                    </a:p>
                  </a:txBody>
                  <a:tcPr/>
                </a:tc>
                <a:extLst>
                  <a:ext uri="{0D108BD9-81ED-4DB2-BD59-A6C34878D82A}">
                    <a16:rowId xmlns:a16="http://schemas.microsoft.com/office/drawing/2014/main" val="1100135749"/>
                  </a:ext>
                </a:extLst>
              </a:tr>
              <a:tr h="2408581">
                <a:tc>
                  <a:txBody>
                    <a:bodyPr/>
                    <a:lstStyle/>
                    <a:p>
                      <a:r>
                        <a:rPr lang="fr-CA" dirty="0"/>
                        <a:t>Atelier 2 : </a:t>
                      </a:r>
                      <a:r>
                        <a:rPr lang="fr-CA" b="1" dirty="0"/>
                        <a:t>325 000 $</a:t>
                      </a:r>
                    </a:p>
                    <a:p>
                      <a:r>
                        <a:rPr lang="fr-CA" dirty="0"/>
                        <a:t>Total des HMOD dans l’atelier 2 pour Abeille et Fall Flower </a:t>
                      </a:r>
                      <a:r>
                        <a:rPr lang="fr-CA" b="0" dirty="0">
                          <a:cs typeface="Calibri"/>
                        </a:rPr>
                        <a:t>6 500 h</a:t>
                      </a:r>
                      <a:endParaRPr lang="fr-CA" dirty="0"/>
                    </a:p>
                  </a:txBody>
                  <a:tcPr/>
                </a:tc>
                <a:extLst>
                  <a:ext uri="{0D108BD9-81ED-4DB2-BD59-A6C34878D82A}">
                    <a16:rowId xmlns:a16="http://schemas.microsoft.com/office/drawing/2014/main" val="2050159015"/>
                  </a:ext>
                </a:extLst>
              </a:tr>
            </a:tbl>
          </a:graphicData>
        </a:graphic>
      </p:graphicFrame>
      <p:sp>
        <p:nvSpPr>
          <p:cNvPr id="5" name="ZoneTexte 4">
            <a:extLst>
              <a:ext uri="{FF2B5EF4-FFF2-40B4-BE49-F238E27FC236}">
                <a16:creationId xmlns:a16="http://schemas.microsoft.com/office/drawing/2014/main" id="{20B723F1-E60F-A8D5-0891-D51DAF4E63B1}"/>
              </a:ext>
            </a:extLst>
          </p:cNvPr>
          <p:cNvSpPr txBox="1"/>
          <p:nvPr/>
        </p:nvSpPr>
        <p:spPr>
          <a:xfrm>
            <a:off x="222380" y="1083160"/>
            <a:ext cx="11747240" cy="769441"/>
          </a:xfrm>
          <a:prstGeom prst="rect">
            <a:avLst/>
          </a:prstGeom>
          <a:noFill/>
        </p:spPr>
        <p:txBody>
          <a:bodyPr wrap="square" rtlCol="0">
            <a:spAutoFit/>
          </a:bodyPr>
          <a:lstStyle/>
          <a:p>
            <a:r>
              <a:rPr lang="fr-CA" sz="2200" b="1" dirty="0"/>
              <a:t>Travail à faire: </a:t>
            </a:r>
            <a:r>
              <a:rPr lang="fr-CA" sz="2200" dirty="0"/>
              <a:t>Calculer le coût unitaire des FGF pour le produit Abeille, sachant que les dames prennent 2,5 h a fabriquer une unité. </a:t>
            </a:r>
          </a:p>
        </p:txBody>
      </p:sp>
      <p:graphicFrame>
        <p:nvGraphicFramePr>
          <p:cNvPr id="9" name="Tableau 8">
            <a:extLst>
              <a:ext uri="{FF2B5EF4-FFF2-40B4-BE49-F238E27FC236}">
                <a16:creationId xmlns:a16="http://schemas.microsoft.com/office/drawing/2014/main" id="{DE2E8565-3CE6-DD0E-D509-8A5AA0CFF6F8}"/>
              </a:ext>
            </a:extLst>
          </p:cNvPr>
          <p:cNvGraphicFramePr>
            <a:graphicFrameLocks noGrp="1"/>
          </p:cNvGraphicFramePr>
          <p:nvPr>
            <p:extLst>
              <p:ext uri="{D42A27DB-BD31-4B8C-83A1-F6EECF244321}">
                <p14:modId xmlns:p14="http://schemas.microsoft.com/office/powerpoint/2010/main" val="986708289"/>
              </p:ext>
            </p:extLst>
          </p:nvPr>
        </p:nvGraphicFramePr>
        <p:xfrm>
          <a:off x="333544" y="2132865"/>
          <a:ext cx="2479610" cy="4524710"/>
        </p:xfrm>
        <a:graphic>
          <a:graphicData uri="http://schemas.openxmlformats.org/drawingml/2006/table">
            <a:tbl>
              <a:tblPr firstRow="1" bandRow="1">
                <a:tableStyleId>{5940675A-B579-460E-94D1-54222C63F5DA}</a:tableStyleId>
              </a:tblPr>
              <a:tblGrid>
                <a:gridCol w="2479610">
                  <a:extLst>
                    <a:ext uri="{9D8B030D-6E8A-4147-A177-3AD203B41FA5}">
                      <a16:colId xmlns:a16="http://schemas.microsoft.com/office/drawing/2014/main" val="788969176"/>
                    </a:ext>
                  </a:extLst>
                </a:gridCol>
              </a:tblGrid>
              <a:tr h="1184875">
                <a:tc>
                  <a:txBody>
                    <a:bodyPr/>
                    <a:lstStyle/>
                    <a:p>
                      <a:r>
                        <a:rPr lang="fr-CA" b="1" dirty="0">
                          <a:solidFill>
                            <a:schemeClr val="tx1"/>
                          </a:solidFill>
                        </a:rPr>
                        <a:t>1 centre : </a:t>
                      </a:r>
                    </a:p>
                    <a:p>
                      <a:pPr algn="ctr"/>
                      <a:r>
                        <a:rPr lang="fr-CA" sz="1800" b="1" dirty="0"/>
                        <a:t>Un taux d’imputation</a:t>
                      </a:r>
                    </a:p>
                    <a:p>
                      <a:pPr algn="ctr"/>
                      <a:r>
                        <a:rPr lang="fr-CA" sz="1800" b="1" dirty="0"/>
                        <a:t>Base commune</a:t>
                      </a:r>
                    </a:p>
                    <a:p>
                      <a:pPr algn="ctr"/>
                      <a:r>
                        <a:rPr lang="fr-CA" sz="1800" b="1" dirty="0"/>
                        <a:t>(heures MOD )</a:t>
                      </a:r>
                    </a:p>
                  </a:txBody>
                  <a:tcPr/>
                </a:tc>
                <a:extLst>
                  <a:ext uri="{0D108BD9-81ED-4DB2-BD59-A6C34878D82A}">
                    <a16:rowId xmlns:a16="http://schemas.microsoft.com/office/drawing/2014/main" val="3805792425"/>
                  </a:ext>
                </a:extLst>
              </a:tr>
              <a:tr h="3335990">
                <a:tc>
                  <a:txBody>
                    <a:bodyPr/>
                    <a:lstStyle/>
                    <a:p>
                      <a:r>
                        <a:rPr lang="fr-CA" dirty="0"/>
                        <a:t>Total des FGF:</a:t>
                      </a:r>
                    </a:p>
                    <a:p>
                      <a:r>
                        <a:rPr lang="fr-CA" dirty="0"/>
                        <a:t>2 275 000 $</a:t>
                      </a:r>
                    </a:p>
                    <a:p>
                      <a:endParaRPr lang="fr-CA" dirty="0"/>
                    </a:p>
                    <a:p>
                      <a:r>
                        <a:rPr lang="fr-CA" dirty="0"/>
                        <a:t>Total des </a:t>
                      </a:r>
                      <a:r>
                        <a:rPr lang="fr-CA" dirty="0" err="1"/>
                        <a:t>Hmod</a:t>
                      </a:r>
                      <a:r>
                        <a:rPr lang="fr-CA" dirty="0"/>
                        <a:t> pour les trois produits 11 375 h</a:t>
                      </a:r>
                    </a:p>
                    <a:p>
                      <a:endParaRPr lang="fr-CA" dirty="0"/>
                    </a:p>
                  </a:txBody>
                  <a:tcPr/>
                </a:tc>
                <a:extLst>
                  <a:ext uri="{0D108BD9-81ED-4DB2-BD59-A6C34878D82A}">
                    <a16:rowId xmlns:a16="http://schemas.microsoft.com/office/drawing/2014/main" val="1100135749"/>
                  </a:ext>
                </a:extLst>
              </a:tr>
            </a:tbl>
          </a:graphicData>
        </a:graphic>
      </p:graphicFrame>
      <p:graphicFrame>
        <p:nvGraphicFramePr>
          <p:cNvPr id="11" name="Tableau 7">
            <a:extLst>
              <a:ext uri="{FF2B5EF4-FFF2-40B4-BE49-F238E27FC236}">
                <a16:creationId xmlns:a16="http://schemas.microsoft.com/office/drawing/2014/main" id="{F69C0B32-EA05-FAFB-987F-3B7B807DDDA5}"/>
              </a:ext>
            </a:extLst>
          </p:cNvPr>
          <p:cNvGraphicFramePr>
            <a:graphicFrameLocks noGrp="1"/>
          </p:cNvGraphicFramePr>
          <p:nvPr>
            <p:custDataLst>
              <p:tags r:id="rId4"/>
            </p:custDataLst>
            <p:extLst>
              <p:ext uri="{D42A27DB-BD31-4B8C-83A1-F6EECF244321}">
                <p14:modId xmlns:p14="http://schemas.microsoft.com/office/powerpoint/2010/main" val="2090301546"/>
              </p:ext>
            </p:extLst>
          </p:nvPr>
        </p:nvGraphicFramePr>
        <p:xfrm>
          <a:off x="3027653" y="2132864"/>
          <a:ext cx="2479609" cy="4520866"/>
        </p:xfrm>
        <a:graphic>
          <a:graphicData uri="http://schemas.openxmlformats.org/drawingml/2006/table">
            <a:tbl>
              <a:tblPr firstRow="1" bandRow="1">
                <a:tableStyleId>{5940675A-B579-460E-94D1-54222C63F5DA}</a:tableStyleId>
              </a:tblPr>
              <a:tblGrid>
                <a:gridCol w="2479609">
                  <a:extLst>
                    <a:ext uri="{9D8B030D-6E8A-4147-A177-3AD203B41FA5}">
                      <a16:colId xmlns:a16="http://schemas.microsoft.com/office/drawing/2014/main" val="3537449214"/>
                    </a:ext>
                  </a:extLst>
                </a:gridCol>
              </a:tblGrid>
              <a:tr h="970027">
                <a:tc>
                  <a:txBody>
                    <a:bodyPr/>
                    <a:lstStyle/>
                    <a:p>
                      <a:pPr algn="ctr"/>
                      <a:r>
                        <a:rPr lang="fr-CA" sz="1800" b="1" dirty="0"/>
                        <a:t>Marge brute</a:t>
                      </a:r>
                    </a:p>
                    <a:p>
                      <a:pPr algn="ctr"/>
                      <a:r>
                        <a:rPr lang="fr-CA" sz="1800" b="1" dirty="0"/>
                        <a:t>1 taux d’imputation</a:t>
                      </a:r>
                    </a:p>
                  </a:txBody>
                  <a:tcPr/>
                </a:tc>
                <a:extLst>
                  <a:ext uri="{0D108BD9-81ED-4DB2-BD59-A6C34878D82A}">
                    <a16:rowId xmlns:a16="http://schemas.microsoft.com/office/drawing/2014/main" val="1332119508"/>
                  </a:ext>
                </a:extLst>
              </a:tr>
              <a:tr h="3550839">
                <a:tc>
                  <a:txBody>
                    <a:bodyPr/>
                    <a:lstStyle/>
                    <a:p>
                      <a:pPr algn="l"/>
                      <a:r>
                        <a:rPr lang="fr-CA" sz="2000" dirty="0"/>
                        <a:t>Prix vente  3 000 $</a:t>
                      </a:r>
                    </a:p>
                    <a:p>
                      <a:pPr algn="ctr"/>
                      <a:endParaRPr lang="fr-CA" sz="2000" b="0" dirty="0">
                        <a:solidFill>
                          <a:schemeClr val="tx1"/>
                        </a:solidFill>
                      </a:endParaRPr>
                    </a:p>
                    <a:p>
                      <a:pPr algn="l"/>
                      <a:r>
                        <a:rPr lang="fr-CA" sz="2000" b="0" dirty="0">
                          <a:solidFill>
                            <a:schemeClr val="tx1"/>
                          </a:solidFill>
                        </a:rPr>
                        <a:t>MP                      100 $</a:t>
                      </a:r>
                    </a:p>
                    <a:p>
                      <a:pPr algn="l"/>
                      <a:r>
                        <a:rPr lang="fr-CA" sz="2000" b="0" dirty="0">
                          <a:solidFill>
                            <a:schemeClr val="tx1"/>
                          </a:solidFill>
                        </a:rPr>
                        <a:t>MOD                   150 $</a:t>
                      </a:r>
                    </a:p>
                  </a:txBody>
                  <a:tcPr/>
                </a:tc>
                <a:extLst>
                  <a:ext uri="{0D108BD9-81ED-4DB2-BD59-A6C34878D82A}">
                    <a16:rowId xmlns:a16="http://schemas.microsoft.com/office/drawing/2014/main" val="1311317421"/>
                  </a:ext>
                </a:extLst>
              </a:tr>
            </a:tbl>
          </a:graphicData>
        </a:graphic>
      </p:graphicFrame>
      <p:graphicFrame>
        <p:nvGraphicFramePr>
          <p:cNvPr id="13" name="Tableau 7">
            <a:extLst>
              <a:ext uri="{FF2B5EF4-FFF2-40B4-BE49-F238E27FC236}">
                <a16:creationId xmlns:a16="http://schemas.microsoft.com/office/drawing/2014/main" id="{744D4B5B-312A-AA92-B15C-44CD47CD75BC}"/>
              </a:ext>
            </a:extLst>
          </p:cNvPr>
          <p:cNvGraphicFramePr>
            <a:graphicFrameLocks noGrp="1"/>
          </p:cNvGraphicFramePr>
          <p:nvPr>
            <p:custDataLst>
              <p:tags r:id="rId5"/>
            </p:custDataLst>
            <p:extLst>
              <p:ext uri="{D42A27DB-BD31-4B8C-83A1-F6EECF244321}">
                <p14:modId xmlns:p14="http://schemas.microsoft.com/office/powerpoint/2010/main" val="1189709304"/>
              </p:ext>
            </p:extLst>
          </p:nvPr>
        </p:nvGraphicFramePr>
        <p:xfrm>
          <a:off x="8904158" y="2132864"/>
          <a:ext cx="2800318" cy="4520866"/>
        </p:xfrm>
        <a:graphic>
          <a:graphicData uri="http://schemas.openxmlformats.org/drawingml/2006/table">
            <a:tbl>
              <a:tblPr firstRow="1" bandRow="1">
                <a:tableStyleId>{5940675A-B579-460E-94D1-54222C63F5DA}</a:tableStyleId>
              </a:tblPr>
              <a:tblGrid>
                <a:gridCol w="2800318">
                  <a:extLst>
                    <a:ext uri="{9D8B030D-6E8A-4147-A177-3AD203B41FA5}">
                      <a16:colId xmlns:a16="http://schemas.microsoft.com/office/drawing/2014/main" val="3537449214"/>
                    </a:ext>
                  </a:extLst>
                </a:gridCol>
              </a:tblGrid>
              <a:tr h="970027">
                <a:tc>
                  <a:txBody>
                    <a:bodyPr/>
                    <a:lstStyle/>
                    <a:p>
                      <a:pPr algn="ctr"/>
                      <a:r>
                        <a:rPr lang="fr-CA" sz="1800" b="1" dirty="0"/>
                        <a:t>Marge brute</a:t>
                      </a:r>
                    </a:p>
                    <a:p>
                      <a:pPr algn="ctr"/>
                      <a:r>
                        <a:rPr lang="fr-CA" sz="1800" b="1" dirty="0"/>
                        <a:t>Plusieurs taux d’imputation</a:t>
                      </a:r>
                    </a:p>
                  </a:txBody>
                  <a:tcPr/>
                </a:tc>
                <a:extLst>
                  <a:ext uri="{0D108BD9-81ED-4DB2-BD59-A6C34878D82A}">
                    <a16:rowId xmlns:a16="http://schemas.microsoft.com/office/drawing/2014/main" val="1332119508"/>
                  </a:ext>
                </a:extLst>
              </a:tr>
              <a:tr h="3550839">
                <a:tc>
                  <a:txBody>
                    <a:bodyPr/>
                    <a:lstStyle/>
                    <a:p>
                      <a:pPr algn="l"/>
                      <a:r>
                        <a:rPr lang="fr-CA" sz="2000" dirty="0"/>
                        <a:t>Prix vente       3 000 $</a:t>
                      </a:r>
                    </a:p>
                    <a:p>
                      <a:pPr algn="ctr"/>
                      <a:endParaRPr lang="fr-CA" sz="2000" b="0" dirty="0">
                        <a:solidFill>
                          <a:schemeClr val="tx1"/>
                        </a:solidFill>
                      </a:endParaRPr>
                    </a:p>
                    <a:p>
                      <a:pPr algn="l"/>
                      <a:r>
                        <a:rPr lang="fr-CA" sz="2000" b="0" dirty="0">
                          <a:solidFill>
                            <a:schemeClr val="tx1"/>
                          </a:solidFill>
                        </a:rPr>
                        <a:t>MP                      100 $</a:t>
                      </a:r>
                    </a:p>
                    <a:p>
                      <a:pPr algn="l"/>
                      <a:r>
                        <a:rPr lang="fr-CA" sz="2000" b="0" dirty="0">
                          <a:solidFill>
                            <a:schemeClr val="tx1"/>
                          </a:solidFill>
                        </a:rPr>
                        <a:t>MOD                   150 $</a:t>
                      </a:r>
                    </a:p>
                    <a:p>
                      <a:pPr algn="l"/>
                      <a:endParaRPr lang="fr-CA" sz="2000" b="0" dirty="0">
                        <a:solidFill>
                          <a:srgbClr val="0070C0"/>
                        </a:solidFill>
                      </a:endParaRPr>
                    </a:p>
                    <a:p>
                      <a:pPr algn="l"/>
                      <a:endParaRPr lang="fr-CA" sz="2000" b="0" dirty="0">
                        <a:solidFill>
                          <a:srgbClr val="0070C0"/>
                        </a:solidFill>
                      </a:endParaRPr>
                    </a:p>
                    <a:p>
                      <a:pPr algn="l"/>
                      <a:endParaRPr lang="fr-CA" sz="2000" b="0" dirty="0">
                        <a:solidFill>
                          <a:srgbClr val="0070C0"/>
                        </a:solidFill>
                      </a:endParaRPr>
                    </a:p>
                  </a:txBody>
                  <a:tcPr/>
                </a:tc>
                <a:extLst>
                  <a:ext uri="{0D108BD9-81ED-4DB2-BD59-A6C34878D82A}">
                    <a16:rowId xmlns:a16="http://schemas.microsoft.com/office/drawing/2014/main" val="1311317421"/>
                  </a:ext>
                </a:extLst>
              </a:tr>
            </a:tbl>
          </a:graphicData>
        </a:graphic>
      </p:graphicFrame>
    </p:spTree>
    <p:extLst>
      <p:ext uri="{BB962C8B-B14F-4D97-AF65-F5344CB8AC3E}">
        <p14:creationId xmlns:p14="http://schemas.microsoft.com/office/powerpoint/2010/main" val="6129737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C5BD-677B-F392-39E2-3395EEC1C19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FC6DFAF-8BD2-5615-D4C3-A0AFCC75A10A}"/>
              </a:ext>
            </a:extLst>
          </p:cNvPr>
          <p:cNvSpPr>
            <a:spLocks noGrp="1"/>
          </p:cNvSpPr>
          <p:nvPr>
            <p:ph type="title"/>
            <p:custDataLst>
              <p:tags r:id="rId1"/>
            </p:custDataLst>
          </p:nvPr>
        </p:nvSpPr>
        <p:spPr>
          <a:xfrm>
            <a:off x="838200" y="107011"/>
            <a:ext cx="10515600" cy="916288"/>
          </a:xfrm>
        </p:spPr>
        <p:txBody>
          <a:bodyPr>
            <a:normAutofit fontScale="90000"/>
          </a:bodyPr>
          <a:lstStyle/>
          <a:p>
            <a:r>
              <a:rPr lang="en-US" sz="3300" dirty="0" err="1"/>
              <a:t>Exemple</a:t>
            </a:r>
            <a:r>
              <a:rPr lang="en-US" sz="3300" dirty="0"/>
              <a:t> 3: Discussion …</a:t>
            </a:r>
            <a:r>
              <a:rPr lang="en-US" sz="3300" dirty="0" err="1"/>
              <a:t>Rentabilité</a:t>
            </a:r>
            <a:r>
              <a:rPr lang="en-US" sz="3300" dirty="0"/>
              <a:t> du </a:t>
            </a:r>
            <a:r>
              <a:rPr lang="en-US" sz="3300" dirty="0" err="1"/>
              <a:t>produit</a:t>
            </a:r>
            <a:r>
              <a:rPr lang="en-US" sz="3300" dirty="0"/>
              <a:t> Abeille </a:t>
            </a:r>
            <a:br>
              <a:rPr lang="en-US" sz="3300" dirty="0"/>
            </a:br>
            <a:r>
              <a:rPr lang="en-US" sz="3300" dirty="0"/>
              <a:t>(</a:t>
            </a:r>
            <a:r>
              <a:rPr lang="en-US" sz="3300" dirty="0" err="1"/>
              <a:t>fabriqué</a:t>
            </a:r>
            <a:r>
              <a:rPr lang="en-US" sz="3300" dirty="0"/>
              <a:t> </a:t>
            </a:r>
            <a:r>
              <a:rPr lang="en-US" sz="3300" dirty="0" err="1"/>
              <a:t>seulement</a:t>
            </a:r>
            <a:r>
              <a:rPr lang="en-US" sz="3300" dirty="0"/>
              <a:t> par les dames de table)</a:t>
            </a:r>
            <a:endParaRPr lang="en-US" sz="4000" dirty="0"/>
          </a:p>
        </p:txBody>
      </p:sp>
      <p:graphicFrame>
        <p:nvGraphicFramePr>
          <p:cNvPr id="7" name="Tableau 7">
            <a:extLst>
              <a:ext uri="{FF2B5EF4-FFF2-40B4-BE49-F238E27FC236}">
                <a16:creationId xmlns:a16="http://schemas.microsoft.com/office/drawing/2014/main" id="{2BE5C8A6-3A2D-F732-AC7C-531C3BA7567F}"/>
              </a:ext>
            </a:extLst>
          </p:cNvPr>
          <p:cNvGraphicFramePr>
            <a:graphicFrameLocks noGrp="1"/>
          </p:cNvGraphicFramePr>
          <p:nvPr>
            <p:custDataLst>
              <p:tags r:id="rId2"/>
            </p:custDataLst>
            <p:extLst>
              <p:ext uri="{D42A27DB-BD31-4B8C-83A1-F6EECF244321}">
                <p14:modId xmlns:p14="http://schemas.microsoft.com/office/powerpoint/2010/main" val="2392158920"/>
              </p:ext>
            </p:extLst>
          </p:nvPr>
        </p:nvGraphicFramePr>
        <p:xfrm>
          <a:off x="267350" y="1647741"/>
          <a:ext cx="6371203" cy="4514447"/>
        </p:xfrm>
        <a:graphic>
          <a:graphicData uri="http://schemas.openxmlformats.org/drawingml/2006/table">
            <a:tbl>
              <a:tblPr firstRow="1" bandRow="1">
                <a:tableStyleId>{5940675A-B579-460E-94D1-54222C63F5DA}</a:tableStyleId>
              </a:tblPr>
              <a:tblGrid>
                <a:gridCol w="2256403">
                  <a:extLst>
                    <a:ext uri="{9D8B030D-6E8A-4147-A177-3AD203B41FA5}">
                      <a16:colId xmlns:a16="http://schemas.microsoft.com/office/drawing/2014/main" val="2447747523"/>
                    </a:ext>
                  </a:extLst>
                </a:gridCol>
                <a:gridCol w="1816100">
                  <a:extLst>
                    <a:ext uri="{9D8B030D-6E8A-4147-A177-3AD203B41FA5}">
                      <a16:colId xmlns:a16="http://schemas.microsoft.com/office/drawing/2014/main" val="3537449214"/>
                    </a:ext>
                  </a:extLst>
                </a:gridCol>
                <a:gridCol w="2298700">
                  <a:extLst>
                    <a:ext uri="{9D8B030D-6E8A-4147-A177-3AD203B41FA5}">
                      <a16:colId xmlns:a16="http://schemas.microsoft.com/office/drawing/2014/main" val="3202849489"/>
                    </a:ext>
                  </a:extLst>
                </a:gridCol>
              </a:tblGrid>
              <a:tr h="892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b="1" dirty="0">
                          <a:solidFill>
                            <a:schemeClr val="tx1"/>
                          </a:solidFill>
                        </a:rPr>
                        <a:t>Méthode de répartition…</a:t>
                      </a:r>
                    </a:p>
                    <a:p>
                      <a:r>
                        <a:rPr lang="fr-CA" dirty="0"/>
                        <a:t>des frais généraux de fabrication</a:t>
                      </a:r>
                    </a:p>
                  </a:txBody>
                  <a:tcPr/>
                </a:tc>
                <a:tc>
                  <a:txBody>
                    <a:bodyPr/>
                    <a:lstStyle/>
                    <a:p>
                      <a:pPr algn="ctr"/>
                      <a:r>
                        <a:rPr lang="fr-CA" sz="1800" b="1" dirty="0"/>
                        <a:t>Un taux d’imputation</a:t>
                      </a:r>
                    </a:p>
                    <a:p>
                      <a:pPr algn="ctr"/>
                      <a:r>
                        <a:rPr lang="fr-CA" sz="1800" b="1" dirty="0"/>
                        <a:t>Base commune</a:t>
                      </a:r>
                    </a:p>
                    <a:p>
                      <a:pPr algn="ctr"/>
                      <a:r>
                        <a:rPr lang="fr-CA" sz="1800" b="1" dirty="0"/>
                        <a:t>(heures MOD )</a:t>
                      </a:r>
                    </a:p>
                  </a:txBody>
                  <a:tcPr/>
                </a:tc>
                <a:tc>
                  <a:txBody>
                    <a:bodyPr/>
                    <a:lstStyle/>
                    <a:p>
                      <a:pPr algn="ctr"/>
                      <a:r>
                        <a:rPr lang="fr-CA" sz="1800" b="1" dirty="0"/>
                        <a:t>Plusieurs centres</a:t>
                      </a:r>
                    </a:p>
                  </a:txBody>
                  <a:tcPr/>
                </a:tc>
                <a:extLst>
                  <a:ext uri="{0D108BD9-81ED-4DB2-BD59-A6C34878D82A}">
                    <a16:rowId xmlns:a16="http://schemas.microsoft.com/office/drawing/2014/main" val="1332119508"/>
                  </a:ext>
                </a:extLst>
              </a:tr>
              <a:tr h="481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dirty="0"/>
                        <a:t>Prix de vente</a:t>
                      </a:r>
                    </a:p>
                  </a:txBody>
                  <a:tcPr/>
                </a:tc>
                <a:tc>
                  <a:txBody>
                    <a:bodyPr/>
                    <a:lstStyle/>
                    <a:p>
                      <a:pPr algn="l"/>
                      <a:r>
                        <a:rPr lang="fr-CA" sz="2000" dirty="0"/>
                        <a:t>3 000 $</a:t>
                      </a:r>
                    </a:p>
                  </a:txBody>
                  <a:tcPr/>
                </a:tc>
                <a:tc>
                  <a:txBody>
                    <a:bodyPr/>
                    <a:lstStyle/>
                    <a:p>
                      <a:pPr algn="l"/>
                      <a:r>
                        <a:rPr lang="fr-CA" sz="2000" dirty="0"/>
                        <a:t>3 000 $</a:t>
                      </a:r>
                    </a:p>
                  </a:txBody>
                  <a:tcPr/>
                </a:tc>
                <a:extLst>
                  <a:ext uri="{0D108BD9-81ED-4DB2-BD59-A6C34878D82A}">
                    <a16:rowId xmlns:a16="http://schemas.microsoft.com/office/drawing/2014/main" val="1311317421"/>
                  </a:ext>
                </a:extLst>
              </a:tr>
              <a:tr h="558126">
                <a:tc>
                  <a:txBody>
                    <a:bodyPr/>
                    <a:lstStyle/>
                    <a:p>
                      <a:r>
                        <a:rPr lang="fr-CA" sz="2000" b="0" dirty="0"/>
                        <a:t>Coût de fabrication unitaire            MP      </a:t>
                      </a:r>
                    </a:p>
                    <a:p>
                      <a:r>
                        <a:rPr lang="fr-CA" sz="2000" b="0" dirty="0">
                          <a:solidFill>
                            <a:srgbClr val="0070C0"/>
                          </a:solidFill>
                        </a:rPr>
                        <a:t>                          </a:t>
                      </a:r>
                      <a:r>
                        <a:rPr lang="fr-CA" sz="2000" b="0" dirty="0">
                          <a:solidFill>
                            <a:schemeClr val="tx1"/>
                          </a:solidFill>
                        </a:rPr>
                        <a:t>MOD</a:t>
                      </a:r>
                    </a:p>
                    <a:p>
                      <a:r>
                        <a:rPr lang="fr-CA" sz="2000" b="0" dirty="0">
                          <a:solidFill>
                            <a:schemeClr val="tx1"/>
                          </a:solidFill>
                        </a:rPr>
                        <a:t>                          FGF</a:t>
                      </a:r>
                    </a:p>
                    <a:p>
                      <a:r>
                        <a:rPr lang="fr-CA" sz="2000" b="0" dirty="0">
                          <a:solidFill>
                            <a:srgbClr val="0070C0"/>
                          </a:solidFill>
                        </a:rPr>
                        <a:t>                         </a:t>
                      </a:r>
                      <a:endParaRPr lang="fr-CA" sz="2000" b="1" dirty="0">
                        <a:solidFill>
                          <a:srgbClr val="0070C0"/>
                        </a:solidFill>
                      </a:endParaRPr>
                    </a:p>
                    <a:p>
                      <a:endParaRPr lang="fr-CA" sz="2000" b="0" dirty="0">
                        <a:solidFill>
                          <a:srgbClr val="0070C0"/>
                        </a:solidFill>
                      </a:endParaRPr>
                    </a:p>
                  </a:txBody>
                  <a:tcPr/>
                </a:tc>
                <a:tc>
                  <a:txBody>
                    <a:bodyPr/>
                    <a:lstStyle/>
                    <a:p>
                      <a:pPr algn="ctr"/>
                      <a:endParaRPr lang="fr-CA" sz="2000" b="0" dirty="0">
                        <a:solidFill>
                          <a:schemeClr val="tx1"/>
                        </a:solidFill>
                      </a:endParaRPr>
                    </a:p>
                    <a:p>
                      <a:pPr algn="ctr"/>
                      <a:r>
                        <a:rPr lang="fr-CA" sz="2000" b="0" dirty="0">
                          <a:solidFill>
                            <a:schemeClr val="tx1"/>
                          </a:solidFill>
                        </a:rPr>
                        <a:t>100 $</a:t>
                      </a:r>
                    </a:p>
                    <a:p>
                      <a:pPr algn="ctr"/>
                      <a:r>
                        <a:rPr lang="fr-CA" sz="2000" b="0" dirty="0">
                          <a:solidFill>
                            <a:schemeClr val="tx1"/>
                          </a:solidFill>
                        </a:rPr>
                        <a:t>150 $</a:t>
                      </a:r>
                    </a:p>
                    <a:p>
                      <a:pPr algn="ctr"/>
                      <a:r>
                        <a:rPr lang="fr-CA" sz="2000" b="0" dirty="0">
                          <a:solidFill>
                            <a:schemeClr val="tx1"/>
                          </a:solidFill>
                        </a:rPr>
                        <a:t>500$</a:t>
                      </a:r>
                    </a:p>
                  </a:txBody>
                  <a:tcPr/>
                </a:tc>
                <a:tc>
                  <a:txBody>
                    <a:bodyPr/>
                    <a:lstStyle/>
                    <a:p>
                      <a:pPr algn="ctr"/>
                      <a:endParaRPr lang="fr-CA" sz="2000" b="0" dirty="0">
                        <a:solidFill>
                          <a:schemeClr val="tx1"/>
                        </a:solidFill>
                      </a:endParaRPr>
                    </a:p>
                    <a:p>
                      <a:pPr algn="ctr"/>
                      <a:r>
                        <a:rPr lang="fr-CA" sz="2000" b="0" dirty="0">
                          <a:solidFill>
                            <a:schemeClr val="tx1"/>
                          </a:solidFill>
                        </a:rPr>
                        <a:t>100 $</a:t>
                      </a:r>
                    </a:p>
                    <a:p>
                      <a:pPr algn="ctr"/>
                      <a:r>
                        <a:rPr lang="fr-CA" sz="2000" b="0" dirty="0">
                          <a:solidFill>
                            <a:schemeClr val="tx1"/>
                          </a:solidFill>
                        </a:rPr>
                        <a:t>150 $</a:t>
                      </a:r>
                    </a:p>
                    <a:p>
                      <a:pPr algn="l"/>
                      <a:r>
                        <a:rPr lang="fr-CA" sz="2000" b="0" dirty="0">
                          <a:solidFill>
                            <a:schemeClr val="tx1"/>
                          </a:solidFill>
                        </a:rPr>
                        <a:t>   Atelier 1: 0 $</a:t>
                      </a:r>
                    </a:p>
                    <a:p>
                      <a:pPr algn="l"/>
                      <a:r>
                        <a:rPr lang="fr-CA" sz="2000" b="0" dirty="0">
                          <a:solidFill>
                            <a:schemeClr val="tx1"/>
                          </a:solidFill>
                        </a:rPr>
                        <a:t>   Atelier 2: 125 $ </a:t>
                      </a:r>
                    </a:p>
                    <a:p>
                      <a:pPr algn="ctr"/>
                      <a:endParaRPr lang="fr-CA" sz="2000" b="0" dirty="0">
                        <a:solidFill>
                          <a:schemeClr val="tx1"/>
                        </a:solidFill>
                      </a:endParaRPr>
                    </a:p>
                    <a:p>
                      <a:pPr algn="ctr"/>
                      <a:endParaRPr lang="fr-CA" sz="2000" b="0" dirty="0">
                        <a:solidFill>
                          <a:schemeClr val="tx1"/>
                        </a:solidFill>
                      </a:endParaRPr>
                    </a:p>
                  </a:txBody>
                  <a:tcPr/>
                </a:tc>
                <a:extLst>
                  <a:ext uri="{0D108BD9-81ED-4DB2-BD59-A6C34878D82A}">
                    <a16:rowId xmlns:a16="http://schemas.microsoft.com/office/drawing/2014/main" val="594436985"/>
                  </a:ext>
                </a:extLst>
              </a:tr>
              <a:tr h="558126">
                <a:tc>
                  <a:txBody>
                    <a:bodyPr/>
                    <a:lstStyle/>
                    <a:p>
                      <a:r>
                        <a:rPr lang="fr-CA" sz="2000" b="1" dirty="0"/>
                        <a:t>Marge brute (%)</a:t>
                      </a:r>
                    </a:p>
                  </a:txBody>
                  <a:tcPr/>
                </a:tc>
                <a:tc>
                  <a:txBody>
                    <a:bodyPr/>
                    <a:lstStyle/>
                    <a:p>
                      <a:pPr algn="ctr"/>
                      <a:r>
                        <a:rPr lang="fr-CA" sz="2000" b="1" dirty="0">
                          <a:solidFill>
                            <a:schemeClr val="tx1"/>
                          </a:solidFill>
                        </a:rPr>
                        <a:t>2 250 $   (75 %)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2000" b="1" dirty="0">
                          <a:solidFill>
                            <a:schemeClr val="tx1"/>
                          </a:solidFill>
                        </a:rPr>
                        <a:t>2 625 $  (88%)</a:t>
                      </a:r>
                    </a:p>
                  </a:txBody>
                  <a:tcPr/>
                </a:tc>
                <a:extLst>
                  <a:ext uri="{0D108BD9-81ED-4DB2-BD59-A6C34878D82A}">
                    <a16:rowId xmlns:a16="http://schemas.microsoft.com/office/drawing/2014/main" val="1718103590"/>
                  </a:ext>
                </a:extLst>
              </a:tr>
            </a:tbl>
          </a:graphicData>
        </a:graphic>
      </p:graphicFrame>
      <p:sp>
        <p:nvSpPr>
          <p:cNvPr id="8" name="Espace réservé du numéro de diapositive 2">
            <a:extLst>
              <a:ext uri="{FF2B5EF4-FFF2-40B4-BE49-F238E27FC236}">
                <a16:creationId xmlns:a16="http://schemas.microsoft.com/office/drawing/2014/main" id="{026D23FE-CC98-C1CD-50DA-854366CB2FCB}"/>
              </a:ext>
            </a:extLst>
          </p:cNvPr>
          <p:cNvSpPr>
            <a:spLocks noGrp="1"/>
          </p:cNvSpPr>
          <p:nvPr>
            <p:ph type="sldNum" sz="quarter" idx="12"/>
            <p:custDataLst>
              <p:tags r:id="rId3"/>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45</a:t>
            </a:fld>
            <a:endParaRPr lang="fr-CA" dirty="0">
              <a:solidFill>
                <a:prstClr val="black">
                  <a:tint val="75000"/>
                </a:prstClr>
              </a:solidFill>
            </a:endParaRPr>
          </a:p>
        </p:txBody>
      </p:sp>
      <p:sp>
        <p:nvSpPr>
          <p:cNvPr id="4" name="Espace réservé du pied de page 6">
            <a:extLst>
              <a:ext uri="{FF2B5EF4-FFF2-40B4-BE49-F238E27FC236}">
                <a16:creationId xmlns:a16="http://schemas.microsoft.com/office/drawing/2014/main" id="{C90F060A-EC93-B1C5-4FDD-3ECE9F0AED7D}"/>
              </a:ext>
            </a:extLst>
          </p:cNvPr>
          <p:cNvSpPr txBox="1">
            <a:spLocks/>
          </p:cNvSpPr>
          <p:nvPr>
            <p:custDataLst>
              <p:tags r:id="rId4"/>
            </p:custDataLst>
          </p:nvPr>
        </p:nvSpPr>
        <p:spPr>
          <a:xfrm>
            <a:off x="4843754" y="6481831"/>
            <a:ext cx="2504492" cy="303343"/>
          </a:xfrm>
          <a:prstGeom prst="rect">
            <a:avLst/>
          </a:prstGeom>
        </p:spPr>
        <p:txBody>
          <a:bodyPr/>
          <a:lstStyle>
            <a:defPPr>
              <a:defRPr lang="fr-FR"/>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a:solidFill>
                  <a:prstClr val="black">
                    <a:tint val="75000"/>
                  </a:prstClr>
                </a:solidFill>
              </a:rPr>
              <a:t>(c) 10904 / S05</a:t>
            </a:r>
            <a:endParaRPr lang="fr-CA" dirty="0">
              <a:solidFill>
                <a:prstClr val="black">
                  <a:tint val="75000"/>
                </a:prstClr>
              </a:solidFill>
            </a:endParaRPr>
          </a:p>
        </p:txBody>
      </p:sp>
      <p:sp>
        <p:nvSpPr>
          <p:cNvPr id="5" name="ZoneTexte 4">
            <a:extLst>
              <a:ext uri="{FF2B5EF4-FFF2-40B4-BE49-F238E27FC236}">
                <a16:creationId xmlns:a16="http://schemas.microsoft.com/office/drawing/2014/main" id="{C8A8E7F5-AA06-8BB6-06BB-2124182BD461}"/>
              </a:ext>
            </a:extLst>
          </p:cNvPr>
          <p:cNvSpPr txBox="1"/>
          <p:nvPr/>
        </p:nvSpPr>
        <p:spPr>
          <a:xfrm>
            <a:off x="7095248" y="2218841"/>
            <a:ext cx="4714158" cy="1692771"/>
          </a:xfrm>
          <a:prstGeom prst="rect">
            <a:avLst/>
          </a:prstGeom>
          <a:noFill/>
        </p:spPr>
        <p:txBody>
          <a:bodyPr wrap="square" rtlCol="0">
            <a:spAutoFit/>
          </a:bodyPr>
          <a:lstStyle/>
          <a:p>
            <a:r>
              <a:rPr lang="fr-CA" sz="2200" b="1" dirty="0"/>
              <a:t>Question : </a:t>
            </a:r>
            <a:r>
              <a:rPr lang="fr-CA" sz="2600" dirty="0"/>
              <a:t>Quels sont les avantages de calculer un taux d’imputation à plusieurs centres de coûts dans le cas de Guerlain ? </a:t>
            </a:r>
          </a:p>
        </p:txBody>
      </p:sp>
    </p:spTree>
    <p:extLst>
      <p:ext uri="{BB962C8B-B14F-4D97-AF65-F5344CB8AC3E}">
        <p14:creationId xmlns:p14="http://schemas.microsoft.com/office/powerpoint/2010/main" val="25363358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ZoneTexte 2"/>
          <p:cNvSpPr txBox="1"/>
          <p:nvPr>
            <p:custDataLst>
              <p:tags r:id="rId1"/>
            </p:custDataLst>
          </p:nvPr>
        </p:nvSpPr>
        <p:spPr>
          <a:xfrm>
            <a:off x="957280" y="31595"/>
            <a:ext cx="10071276" cy="1200329"/>
          </a:xfrm>
          <a:prstGeom prst="rect">
            <a:avLst/>
          </a:prstGeom>
          <a:noFill/>
        </p:spPr>
        <p:txBody>
          <a:bodyPr wrap="square" rtlCol="0">
            <a:spAutoFit/>
          </a:bodyPr>
          <a:lstStyle/>
          <a:p>
            <a:pPr algn="ctr"/>
            <a:r>
              <a:rPr lang="fr-CA" sz="3600"/>
              <a:t>Imputation des frais généraux d’administration et de ventes : quelle pertinence ?</a:t>
            </a:r>
          </a:p>
        </p:txBody>
      </p:sp>
      <p:sp>
        <p:nvSpPr>
          <p:cNvPr id="9" name="Rectangle 8">
            <a:extLst>
              <a:ext uri="{FF2B5EF4-FFF2-40B4-BE49-F238E27FC236}">
                <a16:creationId xmlns:a16="http://schemas.microsoft.com/office/drawing/2014/main" id="{2301CB94-6533-9344-A1AB-FA638E38289D}"/>
              </a:ext>
            </a:extLst>
          </p:cNvPr>
          <p:cNvSpPr/>
          <p:nvPr>
            <p:custDataLst>
              <p:tags r:id="rId2"/>
            </p:custDataLst>
          </p:nvPr>
        </p:nvSpPr>
        <p:spPr>
          <a:xfrm>
            <a:off x="289560" y="1178958"/>
            <a:ext cx="11612880" cy="4154984"/>
          </a:xfrm>
          <a:prstGeom prst="rect">
            <a:avLst/>
          </a:prstGeom>
        </p:spPr>
        <p:txBody>
          <a:bodyPr wrap="square">
            <a:spAutoFit/>
          </a:bodyPr>
          <a:lstStyle/>
          <a:p>
            <a:pPr marL="914400" lvl="1" indent="-457200">
              <a:spcAft>
                <a:spcPts val="1200"/>
              </a:spcAft>
              <a:buFont typeface="Arial" panose="020B0604020202020204" pitchFamily="34" charset="0"/>
              <a:buChar char="•"/>
            </a:pPr>
            <a:r>
              <a:rPr lang="fr-CA" sz="2000" dirty="0"/>
              <a:t>Si l’information sert uniquement pour calculer la valeur des stocks, il n’est pas pertinent (il est même interdit !) d’inclure les frais de vente et d’administration dans le périmètre de charges.</a:t>
            </a:r>
          </a:p>
          <a:p>
            <a:pPr marL="914400" lvl="1" indent="-457200">
              <a:spcAft>
                <a:spcPts val="1200"/>
              </a:spcAft>
              <a:buFont typeface="Arial" panose="020B0604020202020204" pitchFamily="34" charset="0"/>
              <a:buChar char="•"/>
            </a:pPr>
            <a:r>
              <a:rPr lang="fr-CA" sz="2000" dirty="0"/>
              <a:t>Pour des besoins de gestion, le calcul d’un coût de revient complet (incluant les frais généraux d’administration et de vente) pourrait être pertinent, notamment si : </a:t>
            </a:r>
          </a:p>
          <a:p>
            <a:pPr marL="1371600" lvl="2" indent="-457200">
              <a:spcAft>
                <a:spcPts val="1200"/>
              </a:spcAft>
              <a:buFont typeface="Arial" panose="020B0604020202020204" pitchFamily="34" charset="0"/>
              <a:buChar char="•"/>
            </a:pPr>
            <a:r>
              <a:rPr lang="fr-CA" sz="1600" dirty="0"/>
              <a:t>Les parfums consomment les frais généraux d’administration et de vente dans des proportions différentes</a:t>
            </a:r>
          </a:p>
          <a:p>
            <a:pPr marL="1371600" lvl="2" indent="-457200">
              <a:spcAft>
                <a:spcPts val="1200"/>
              </a:spcAft>
              <a:buFont typeface="Arial" panose="020B0604020202020204" pitchFamily="34" charset="0"/>
              <a:buChar char="•"/>
            </a:pPr>
            <a:r>
              <a:rPr lang="fr-CA" sz="1600" dirty="0"/>
              <a:t>On veut mieux comprendre la composition des frais d’administration et de vente</a:t>
            </a:r>
          </a:p>
          <a:p>
            <a:pPr marL="1371600" lvl="2" indent="-457200">
              <a:spcAft>
                <a:spcPts val="1200"/>
              </a:spcAft>
              <a:buFont typeface="Arial" panose="020B0604020202020204" pitchFamily="34" charset="0"/>
              <a:buChar char="•"/>
            </a:pPr>
            <a:r>
              <a:rPr lang="fr-CA" sz="1600" dirty="0"/>
              <a:t>On s’interroge sur le résultat net dégagé par certains de nos produits</a:t>
            </a:r>
            <a:endParaRPr lang="fr-CA" sz="2000" dirty="0"/>
          </a:p>
          <a:p>
            <a:pPr marL="914400" lvl="1" indent="-457200">
              <a:spcAft>
                <a:spcPts val="1200"/>
              </a:spcAft>
              <a:buFont typeface="Arial" panose="020B0604020202020204" pitchFamily="34" charset="0"/>
              <a:buChar char="•"/>
            </a:pPr>
            <a:r>
              <a:rPr lang="fr-CA" sz="2000" dirty="0"/>
              <a:t>Par exemple, dans l’industrie du luxe, la valeur ajoutée du produit passe aussi par le service à la clientèle et est soutenue par d’importantes campagnes publicitaires. Les coûts associés ne sont donc pas pris en compte si on se limite à calculer le coût de fabrication.</a:t>
            </a:r>
          </a:p>
          <a:p>
            <a:pPr lvl="1">
              <a:spcAft>
                <a:spcPts val="1200"/>
              </a:spcAft>
            </a:pPr>
            <a:endParaRPr lang="fr-CA" sz="1600" dirty="0"/>
          </a:p>
        </p:txBody>
      </p:sp>
      <p:sp>
        <p:nvSpPr>
          <p:cNvPr id="2" name="ZoneTexte 1">
            <a:extLst>
              <a:ext uri="{FF2B5EF4-FFF2-40B4-BE49-F238E27FC236}">
                <a16:creationId xmlns:a16="http://schemas.microsoft.com/office/drawing/2014/main" id="{327D68F4-5C9F-43A4-9FAD-85CE2E7042DB}"/>
              </a:ext>
            </a:extLst>
          </p:cNvPr>
          <p:cNvSpPr txBox="1"/>
          <p:nvPr>
            <p:custDataLst>
              <p:tags r:id="rId3"/>
            </p:custDataLst>
          </p:nvPr>
        </p:nvSpPr>
        <p:spPr>
          <a:xfrm>
            <a:off x="670560" y="4884774"/>
            <a:ext cx="11115040" cy="1477328"/>
          </a:xfrm>
          <a:prstGeom prst="rect">
            <a:avLst/>
          </a:prstGeom>
          <a:noFill/>
        </p:spPr>
        <p:txBody>
          <a:bodyPr wrap="square" rtlCol="0">
            <a:spAutoFit/>
          </a:bodyPr>
          <a:lstStyle/>
          <a:p>
            <a:pPr algn="just"/>
            <a:r>
              <a:rPr lang="fr-CA" b="1">
                <a:latin typeface="Arial" panose="020B0604020202020204" pitchFamily="34" charset="0"/>
                <a:cs typeface="Arial" panose="020B0604020202020204" pitchFamily="34" charset="0"/>
              </a:rPr>
              <a:t>► Les frais de vente et d’administration peuvent constituer une part importante des charges d’une organisation. Une connaissance approfondie de ces coûts peut être tout aussi utile que la connaissance des coûts de fabrication.</a:t>
            </a:r>
          </a:p>
          <a:p>
            <a:pPr algn="just"/>
            <a:r>
              <a:rPr lang="fr-CA" b="1">
                <a:latin typeface="Arial" panose="020B0604020202020204" pitchFamily="34" charset="0"/>
                <a:cs typeface="Arial" panose="020B0604020202020204" pitchFamily="34" charset="0"/>
              </a:rPr>
              <a:t>► En pratique, on peut appliquer les règles de l’imputation vues pour les FGF aux FVA pour calculer des coûts de revient. </a:t>
            </a:r>
            <a:endParaRPr lang="fr-CA" b="1"/>
          </a:p>
        </p:txBody>
      </p:sp>
      <p:sp>
        <p:nvSpPr>
          <p:cNvPr id="6" name="Espace réservé du pied de page 6">
            <a:extLst>
              <a:ext uri="{FF2B5EF4-FFF2-40B4-BE49-F238E27FC236}">
                <a16:creationId xmlns:a16="http://schemas.microsoft.com/office/drawing/2014/main" id="{7C78F987-425C-6716-A67F-008A89B991CE}"/>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8" name="Espace réservé du numéro de diapositive 2">
            <a:extLst>
              <a:ext uri="{FF2B5EF4-FFF2-40B4-BE49-F238E27FC236}">
                <a16:creationId xmlns:a16="http://schemas.microsoft.com/office/drawing/2014/main" id="{BA40CF99-D902-8541-E67D-10B5B463A30F}"/>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46</a:t>
            </a:fld>
            <a:endParaRPr lang="fr-CA" dirty="0">
              <a:solidFill>
                <a:prstClr val="black">
                  <a:tint val="75000"/>
                </a:prstClr>
              </a:solidFill>
            </a:endParaRPr>
          </a:p>
        </p:txBody>
      </p:sp>
    </p:spTree>
    <p:extLst>
      <p:ext uri="{BB962C8B-B14F-4D97-AF65-F5344CB8AC3E}">
        <p14:creationId xmlns:p14="http://schemas.microsoft.com/office/powerpoint/2010/main" val="3793877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E04D9E-0230-EFBC-0E5D-405ADE0F60B3}"/>
              </a:ext>
            </a:extLst>
          </p:cNvPr>
          <p:cNvSpPr>
            <a:spLocks noGrp="1"/>
          </p:cNvSpPr>
          <p:nvPr>
            <p:ph type="title"/>
            <p:custDataLst>
              <p:tags r:id="rId1"/>
            </p:custDataLst>
          </p:nvPr>
        </p:nvSpPr>
        <p:spPr/>
        <p:txBody>
          <a:bodyPr/>
          <a:lstStyle/>
          <a:p>
            <a:r>
              <a:rPr lang="fr-CA" dirty="0"/>
              <a:t>Résumé de la séance</a:t>
            </a:r>
          </a:p>
        </p:txBody>
      </p:sp>
      <p:sp>
        <p:nvSpPr>
          <p:cNvPr id="5" name="Espace réservé du numéro de diapositive 4">
            <a:extLst>
              <a:ext uri="{FF2B5EF4-FFF2-40B4-BE49-F238E27FC236}">
                <a16:creationId xmlns:a16="http://schemas.microsoft.com/office/drawing/2014/main" id="{38AB7815-B5C2-D5EA-37A2-5F0BAFB81CFE}"/>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47</a:t>
            </a:fld>
            <a:endParaRPr lang="fr-CA">
              <a:solidFill>
                <a:prstClr val="black">
                  <a:tint val="75000"/>
                </a:prstClr>
              </a:solidFill>
            </a:endParaRPr>
          </a:p>
        </p:txBody>
      </p:sp>
      <p:sp>
        <p:nvSpPr>
          <p:cNvPr id="6" name="Espace réservé du pied de page 6">
            <a:extLst>
              <a:ext uri="{FF2B5EF4-FFF2-40B4-BE49-F238E27FC236}">
                <a16:creationId xmlns:a16="http://schemas.microsoft.com/office/drawing/2014/main" id="{118207EE-9A1B-41C3-71A9-708252FBAE52}"/>
              </a:ext>
            </a:extLst>
          </p:cNvPr>
          <p:cNvSpPr>
            <a:spLocks noGrp="1"/>
          </p:cNvSpPr>
          <p:nvPr>
            <p:ph type="ftr" sz="quarter" idx="11"/>
            <p:custDataLst>
              <p:tags r:id="rId3"/>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1589293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custDataLst>
              <p:tags r:id="rId2"/>
            </p:custDataLst>
          </p:nvPr>
        </p:nvSpPr>
        <p:spPr/>
        <p:txBody>
          <a:bodyPr vert="horz" anchor="ctr">
            <a:normAutofit fontScale="90000"/>
          </a:bodyPr>
          <a:lstStyle/>
          <a:p>
            <a:pPr algn="ctr"/>
            <a:r>
              <a:rPr lang="fr-CA" sz="4000" b="1" dirty="0"/>
              <a:t>Sommaire</a:t>
            </a:r>
            <a:r>
              <a:rPr lang="fr-CA" sz="4000" dirty="0"/>
              <a:t>: Les choix de bases d’imputation possibles </a:t>
            </a:r>
            <a:endParaRPr lang="en-CA" sz="4000" dirty="0"/>
          </a:p>
        </p:txBody>
      </p:sp>
      <p:sp>
        <p:nvSpPr>
          <p:cNvPr id="4" name="Espace réservé du contenu 3"/>
          <p:cNvSpPr>
            <a:spLocks noGrp="1"/>
          </p:cNvSpPr>
          <p:nvPr>
            <p:ph idx="1"/>
            <p:custDataLst>
              <p:tags r:id="rId3"/>
            </p:custDataLst>
          </p:nvPr>
        </p:nvSpPr>
        <p:spPr>
          <a:xfrm>
            <a:off x="696433" y="1618479"/>
            <a:ext cx="9498654" cy="4709112"/>
          </a:xfrm>
        </p:spPr>
        <p:txBody>
          <a:bodyPr vert="horz" lIns="91440" tIns="45720" rIns="91440" bIns="45720" rtlCol="0" anchor="t">
            <a:normAutofit fontScale="70000" lnSpcReduction="20000"/>
          </a:bodyPr>
          <a:lstStyle/>
          <a:p>
            <a:r>
              <a:rPr lang="fr-CA" sz="3300" dirty="0"/>
              <a:t>Lorsqu’il y a </a:t>
            </a:r>
            <a:r>
              <a:rPr lang="fr-CA" sz="3300" b="1" u="sng" dirty="0"/>
              <a:t>un seul produit :</a:t>
            </a:r>
          </a:p>
          <a:p>
            <a:pPr lvl="1">
              <a:spcBef>
                <a:spcPts val="1200"/>
              </a:spcBef>
            </a:pPr>
            <a:r>
              <a:rPr lang="fr-CA" sz="2900" dirty="0"/>
              <a:t>Le nombre d’unités fabriquées</a:t>
            </a:r>
          </a:p>
          <a:p>
            <a:pPr>
              <a:lnSpc>
                <a:spcPct val="120000"/>
              </a:lnSpc>
            </a:pPr>
            <a:r>
              <a:rPr lang="fr-CA" sz="3300" dirty="0"/>
              <a:t>Lorsque l’on a </a:t>
            </a:r>
            <a:r>
              <a:rPr lang="fr-CA" sz="3300" b="1" dirty="0"/>
              <a:t>plusieurs produits</a:t>
            </a:r>
            <a:r>
              <a:rPr lang="fr-CA" sz="3300" dirty="0"/>
              <a:t>, qui consomment les ressources (FGF) de manière </a:t>
            </a:r>
            <a:r>
              <a:rPr lang="fr-CA" sz="3300" b="1" u="sng" dirty="0"/>
              <a:t>similaire</a:t>
            </a:r>
            <a:r>
              <a:rPr lang="fr-CA" sz="3300" u="sng" dirty="0"/>
              <a:t> </a:t>
            </a:r>
            <a:r>
              <a:rPr lang="fr-CA" sz="3300" dirty="0"/>
              <a:t>(</a:t>
            </a:r>
            <a:r>
              <a:rPr lang="fr-CA" sz="3300" i="1" dirty="0"/>
              <a:t>par exemple</a:t>
            </a:r>
            <a:r>
              <a:rPr lang="fr-CA" sz="3300" dirty="0"/>
              <a:t>, </a:t>
            </a:r>
            <a:r>
              <a:rPr lang="fr-CA" sz="3300" i="1" dirty="0"/>
              <a:t>tous les produits prennent le même temps d’utilisation de la machinerie, le même temps de MOD, etc.</a:t>
            </a:r>
            <a:r>
              <a:rPr lang="fr-CA" sz="3300" dirty="0"/>
              <a:t>), la base d’imputation peut être:</a:t>
            </a:r>
          </a:p>
          <a:p>
            <a:pPr lvl="1">
              <a:lnSpc>
                <a:spcPct val="120000"/>
              </a:lnSpc>
            </a:pPr>
            <a:r>
              <a:rPr lang="fr-CA" sz="2900" dirty="0"/>
              <a:t> le nombre d’unités fabriquées</a:t>
            </a:r>
          </a:p>
          <a:p>
            <a:pPr>
              <a:lnSpc>
                <a:spcPct val="120000"/>
              </a:lnSpc>
            </a:pPr>
            <a:r>
              <a:rPr lang="fr-CA" sz="3300" dirty="0"/>
              <a:t>Lorsque l’on a </a:t>
            </a:r>
            <a:r>
              <a:rPr lang="fr-CA" sz="3300" b="1" dirty="0"/>
              <a:t>plusieurs produits</a:t>
            </a:r>
            <a:r>
              <a:rPr lang="fr-CA" sz="3300" dirty="0"/>
              <a:t>, qui consomment les ressources (FGF) de manière </a:t>
            </a:r>
            <a:r>
              <a:rPr lang="fr-CA" sz="3300" b="1" u="sng" dirty="0"/>
              <a:t>différente</a:t>
            </a:r>
            <a:r>
              <a:rPr lang="fr-CA" sz="3300" dirty="0"/>
              <a:t>, (</a:t>
            </a:r>
            <a:r>
              <a:rPr lang="fr-CA" sz="3300" i="1" dirty="0"/>
              <a:t>par exemple on fabrique des gâteaux et des biscuits qui n’ont pas le même temps de cuisson</a:t>
            </a:r>
            <a:r>
              <a:rPr lang="fr-CA" sz="3300" dirty="0"/>
              <a:t>) on utilisera d’autres bases d’imputation pour refléter cette réalité (par exemple, les heures machine).</a:t>
            </a:r>
            <a:endParaRPr lang="fr-CA" sz="2500" dirty="0"/>
          </a:p>
          <a:p>
            <a:pPr marL="914400" lvl="2" indent="0">
              <a:buNone/>
            </a:pPr>
            <a:endParaRPr lang="fr-CA" sz="2500" dirty="0">
              <a:cs typeface="Calibri"/>
            </a:endParaRPr>
          </a:p>
          <a:p>
            <a:pPr lvl="1">
              <a:lnSpc>
                <a:spcPct val="120000"/>
              </a:lnSpc>
            </a:pPr>
            <a:endParaRPr lang="fr-CA" sz="2900" dirty="0"/>
          </a:p>
          <a:p>
            <a:pPr lvl="1">
              <a:lnSpc>
                <a:spcPct val="120000"/>
              </a:lnSpc>
            </a:pPr>
            <a:endParaRPr lang="fr-CA" sz="2900" dirty="0"/>
          </a:p>
        </p:txBody>
      </p:sp>
      <p:sp>
        <p:nvSpPr>
          <p:cNvPr id="3" name="Espace réservé du pied de page 6">
            <a:extLst>
              <a:ext uri="{FF2B5EF4-FFF2-40B4-BE49-F238E27FC236}">
                <a16:creationId xmlns:a16="http://schemas.microsoft.com/office/drawing/2014/main" id="{8656A999-2F39-D6F4-4D5B-5B8A94584FD6}"/>
              </a:ext>
            </a:extLst>
          </p:cNvPr>
          <p:cNvSpPr>
            <a:spLocks noGrp="1"/>
          </p:cNvSpPr>
          <p:nvPr>
            <p:ph type="ftr" sz="quarter" idx="11"/>
            <p:custDataLst>
              <p:tags r:id="rId4"/>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5" name="Espace réservé du numéro de diapositive 2">
            <a:extLst>
              <a:ext uri="{FF2B5EF4-FFF2-40B4-BE49-F238E27FC236}">
                <a16:creationId xmlns:a16="http://schemas.microsoft.com/office/drawing/2014/main" id="{DB01E196-0659-5020-AE65-A52906A327DD}"/>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48</a:t>
            </a:fld>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7729850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custDataLst>
              <p:tags r:id="rId1"/>
            </p:custDataLst>
          </p:nvPr>
        </p:nvSpPr>
        <p:spPr>
          <a:xfrm>
            <a:off x="957280" y="76565"/>
            <a:ext cx="10071276" cy="1261884"/>
          </a:xfrm>
          <a:prstGeom prst="rect">
            <a:avLst/>
          </a:prstGeom>
          <a:noFill/>
        </p:spPr>
        <p:txBody>
          <a:bodyPr wrap="square" rtlCol="0">
            <a:spAutoFit/>
          </a:bodyPr>
          <a:lstStyle/>
          <a:p>
            <a:pPr algn="ctr"/>
            <a:r>
              <a:rPr lang="fr-CA" sz="4000" dirty="0"/>
              <a:t>Imputation des charges indirectes </a:t>
            </a:r>
            <a:r>
              <a:rPr lang="fr-CA" sz="3600" dirty="0"/>
              <a:t>: </a:t>
            </a:r>
          </a:p>
          <a:p>
            <a:pPr algn="ctr"/>
            <a:r>
              <a:rPr lang="fr-CA" sz="3600" dirty="0"/>
              <a:t>un ou plusieurs centres de coûts ?  </a:t>
            </a:r>
          </a:p>
        </p:txBody>
      </p:sp>
      <p:sp>
        <p:nvSpPr>
          <p:cNvPr id="9" name="Rectangle 8">
            <a:extLst>
              <a:ext uri="{FF2B5EF4-FFF2-40B4-BE49-F238E27FC236}">
                <a16:creationId xmlns:a16="http://schemas.microsoft.com/office/drawing/2014/main" id="{2301CB94-6533-9344-A1AB-FA638E38289D}"/>
              </a:ext>
            </a:extLst>
          </p:cNvPr>
          <p:cNvSpPr/>
          <p:nvPr>
            <p:custDataLst>
              <p:tags r:id="rId2"/>
            </p:custDataLst>
          </p:nvPr>
        </p:nvSpPr>
        <p:spPr>
          <a:xfrm>
            <a:off x="660710" y="1306193"/>
            <a:ext cx="11308910" cy="5293757"/>
          </a:xfrm>
          <a:prstGeom prst="rect">
            <a:avLst/>
          </a:prstGeom>
        </p:spPr>
        <p:txBody>
          <a:bodyPr wrap="square">
            <a:spAutoFit/>
          </a:bodyPr>
          <a:lstStyle/>
          <a:p>
            <a:pPr marL="457200" indent="-457200">
              <a:spcAft>
                <a:spcPts val="1200"/>
              </a:spcAft>
              <a:buFont typeface="Arial" panose="020B0604020202020204" pitchFamily="34" charset="0"/>
              <a:buChar char="•"/>
            </a:pPr>
            <a:r>
              <a:rPr lang="fr-CA" sz="2600" dirty="0"/>
              <a:t>Comprendre le </a:t>
            </a:r>
            <a:r>
              <a:rPr lang="fr-CA" sz="2600" b="1" dirty="0"/>
              <a:t>processus de fabrication </a:t>
            </a:r>
            <a:r>
              <a:rPr lang="fr-CA" sz="2600" dirty="0"/>
              <a:t>des produits</a:t>
            </a:r>
          </a:p>
          <a:p>
            <a:pPr marL="914400" lvl="1" indent="-457200">
              <a:spcAft>
                <a:spcPts val="1200"/>
              </a:spcAft>
              <a:buFont typeface="Arial" panose="020B0604020202020204" pitchFamily="34" charset="0"/>
              <a:buChar char="•"/>
            </a:pPr>
            <a:r>
              <a:rPr lang="fr-CA" sz="2000" dirty="0"/>
              <a:t>Est-ce que le processus de fabrication est </a:t>
            </a:r>
            <a:r>
              <a:rPr lang="fr-CA" sz="2000" u="sng" dirty="0"/>
              <a:t>similaire</a:t>
            </a:r>
            <a:r>
              <a:rPr lang="fr-CA" sz="2000" dirty="0"/>
              <a:t> ou </a:t>
            </a:r>
            <a:r>
              <a:rPr lang="fr-CA" sz="2000" u="sng" dirty="0"/>
              <a:t>différent </a:t>
            </a:r>
            <a:r>
              <a:rPr lang="fr-CA" sz="2000" dirty="0"/>
              <a:t>(par exemple, passe par des centres de coûts différents?) </a:t>
            </a:r>
          </a:p>
          <a:p>
            <a:pPr marL="457200" indent="-457200">
              <a:spcAft>
                <a:spcPts val="1200"/>
              </a:spcAft>
              <a:buFont typeface="Arial" panose="020B0604020202020204" pitchFamily="34" charset="0"/>
              <a:buChar char="•"/>
            </a:pPr>
            <a:r>
              <a:rPr lang="fr-CA" sz="2600" dirty="0"/>
              <a:t>Analyser la liste des FGF (FGF spécifiques ou communs)</a:t>
            </a:r>
          </a:p>
          <a:p>
            <a:pPr>
              <a:spcAft>
                <a:spcPts val="1200"/>
              </a:spcAft>
            </a:pPr>
            <a:r>
              <a:rPr lang="fr-CA" sz="2000" dirty="0">
                <a:solidFill>
                  <a:prstClr val="black"/>
                </a:solidFill>
              </a:rPr>
              <a:t>→ Analyser le </a:t>
            </a:r>
            <a:r>
              <a:rPr lang="fr-CA" sz="2000" b="1" dirty="0">
                <a:solidFill>
                  <a:prstClr val="black"/>
                </a:solidFill>
              </a:rPr>
              <a:t>processus de production </a:t>
            </a:r>
            <a:r>
              <a:rPr lang="fr-CA" sz="2000" dirty="0">
                <a:solidFill>
                  <a:prstClr val="black"/>
                </a:solidFill>
              </a:rPr>
              <a:t>et le </a:t>
            </a:r>
            <a:r>
              <a:rPr lang="fr-CA" sz="2000" b="1" dirty="0">
                <a:solidFill>
                  <a:prstClr val="black"/>
                </a:solidFill>
              </a:rPr>
              <a:t>détail des postes de charges </a:t>
            </a:r>
            <a:r>
              <a:rPr lang="fr-CA" sz="2000" dirty="0">
                <a:solidFill>
                  <a:prstClr val="black"/>
                </a:solidFill>
              </a:rPr>
              <a:t>est </a:t>
            </a:r>
            <a:r>
              <a:rPr lang="fr-CA" sz="2000" b="1" u="sng" dirty="0">
                <a:solidFill>
                  <a:prstClr val="black"/>
                </a:solidFill>
              </a:rPr>
              <a:t>essentiel</a:t>
            </a:r>
            <a:r>
              <a:rPr lang="fr-CA" sz="2000" dirty="0">
                <a:solidFill>
                  <a:prstClr val="black"/>
                </a:solidFill>
              </a:rPr>
              <a:t> pour déterminer la base d’imputation. Le choix de la base d’imputation aura un impact sur le coût de fabrication.</a:t>
            </a:r>
          </a:p>
          <a:p>
            <a:pPr marL="457200" indent="-457200">
              <a:spcAft>
                <a:spcPts val="1200"/>
              </a:spcAft>
              <a:buFont typeface="Arial" panose="020B0604020202020204" pitchFamily="34" charset="0"/>
              <a:buChar char="•"/>
            </a:pPr>
            <a:r>
              <a:rPr lang="fr-CA" sz="2600" dirty="0"/>
              <a:t>Identifier </a:t>
            </a:r>
            <a:r>
              <a:rPr lang="fr-CA" sz="2600" b="1" dirty="0"/>
              <a:t>les risques </a:t>
            </a:r>
            <a:r>
              <a:rPr lang="fr-CA" sz="2600" dirty="0"/>
              <a:t>associés à une mauvaise imputation (lien avec la prise de décision)</a:t>
            </a:r>
          </a:p>
          <a:p>
            <a:pPr marL="800100" lvl="1" indent="-342900">
              <a:buFont typeface="Arial" panose="020B0604020202020204" pitchFamily="34" charset="0"/>
              <a:buChar char="•"/>
            </a:pPr>
            <a:r>
              <a:rPr lang="fr-CA" sz="2000" dirty="0"/>
              <a:t>Exemples: établir les prix de vente, estimer la rentabilité des produits/services </a:t>
            </a:r>
          </a:p>
          <a:p>
            <a:pPr marL="800100" lvl="1" indent="-342900">
              <a:buFont typeface="Arial" panose="020B0604020202020204" pitchFamily="34" charset="0"/>
              <a:buChar char="•"/>
            </a:pPr>
            <a:r>
              <a:rPr lang="fr-CA" sz="2000" dirty="0">
                <a:solidFill>
                  <a:prstClr val="black"/>
                </a:solidFill>
              </a:rPr>
              <a:t>Attribuer les charges indirectes avec </a:t>
            </a:r>
            <a:r>
              <a:rPr lang="fr-CA" sz="2000" u="sng" dirty="0">
                <a:solidFill>
                  <a:prstClr val="black"/>
                </a:solidFill>
              </a:rPr>
              <a:t>une seule base d’imputation </a:t>
            </a:r>
            <a:r>
              <a:rPr lang="fr-CA" sz="2000" dirty="0">
                <a:solidFill>
                  <a:prstClr val="black"/>
                </a:solidFill>
              </a:rPr>
              <a:t>(un seul centre de coûts) peut conduire à </a:t>
            </a:r>
            <a:r>
              <a:rPr lang="fr-CA" sz="2000" u="sng" dirty="0">
                <a:solidFill>
                  <a:prstClr val="black"/>
                </a:solidFill>
              </a:rPr>
              <a:t>biaiser l’information </a:t>
            </a:r>
            <a:r>
              <a:rPr lang="fr-CA" sz="2000" dirty="0">
                <a:solidFill>
                  <a:prstClr val="black"/>
                </a:solidFill>
              </a:rPr>
              <a:t>sur les coûts et donc </a:t>
            </a:r>
            <a:r>
              <a:rPr lang="fr-CA" sz="2000" u="sng" dirty="0">
                <a:solidFill>
                  <a:prstClr val="black"/>
                </a:solidFill>
              </a:rPr>
              <a:t>la prise de décision</a:t>
            </a:r>
            <a:r>
              <a:rPr lang="fr-CA" sz="2000" dirty="0">
                <a:solidFill>
                  <a:prstClr val="black"/>
                </a:solidFill>
              </a:rPr>
              <a:t>. </a:t>
            </a:r>
          </a:p>
          <a:p>
            <a:r>
              <a:rPr lang="fr-CA" sz="2000" dirty="0">
                <a:solidFill>
                  <a:prstClr val="black"/>
                </a:solidFill>
              </a:rPr>
              <a:t>→ Plus la proportion de charges indirectes est importante, plus le risque est 	grand d’introduire des biais dans le calcul.</a:t>
            </a:r>
            <a:endParaRPr lang="fr-CA" sz="2800" dirty="0"/>
          </a:p>
        </p:txBody>
      </p:sp>
      <p:sp>
        <p:nvSpPr>
          <p:cNvPr id="4" name="Espace réservé du pied de page 6">
            <a:extLst>
              <a:ext uri="{FF2B5EF4-FFF2-40B4-BE49-F238E27FC236}">
                <a16:creationId xmlns:a16="http://schemas.microsoft.com/office/drawing/2014/main" id="{40FC9C7C-0BA7-D590-37E8-54E56AE906F0}"/>
              </a:ext>
            </a:extLst>
          </p:cNvPr>
          <p:cNvSpPr>
            <a:spLocks noGrp="1"/>
          </p:cNvSpPr>
          <p:nvPr>
            <p:ph type="ftr" sz="quarter" idx="11"/>
            <p:custDataLst>
              <p:tags r:id="rId3"/>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6" name="Espace réservé du numéro de diapositive 2">
            <a:extLst>
              <a:ext uri="{FF2B5EF4-FFF2-40B4-BE49-F238E27FC236}">
                <a16:creationId xmlns:a16="http://schemas.microsoft.com/office/drawing/2014/main" id="{B42CCDA4-0DE7-CD18-FA90-905E44F8D3DB}"/>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49</a:t>
            </a:fld>
            <a:endParaRPr lang="fr-CA" dirty="0">
              <a:solidFill>
                <a:prstClr val="black">
                  <a:tint val="75000"/>
                </a:prstClr>
              </a:solidFill>
            </a:endParaRPr>
          </a:p>
        </p:txBody>
      </p:sp>
    </p:spTree>
    <p:extLst>
      <p:ext uri="{BB962C8B-B14F-4D97-AF65-F5344CB8AC3E}">
        <p14:creationId xmlns:p14="http://schemas.microsoft.com/office/powerpoint/2010/main" val="497870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custDataLst>
              <p:tags r:id="rId1"/>
            </p:custDataLst>
          </p:nvPr>
        </p:nvSpPr>
        <p:spPr/>
        <p:txBody>
          <a:bodyPr>
            <a:normAutofit/>
          </a:bodyPr>
          <a:lstStyle/>
          <a:p>
            <a:r>
              <a:rPr lang="fr-CA" dirty="0"/>
              <a:t>IMPUTATION </a:t>
            </a:r>
            <a:r>
              <a:rPr lang="fr-CA" sz="4000" dirty="0"/>
              <a:t>(un seul taux d’imputation)</a:t>
            </a:r>
            <a:endParaRPr lang="fr-CA" dirty="0"/>
          </a:p>
        </p:txBody>
      </p:sp>
      <p:sp>
        <p:nvSpPr>
          <p:cNvPr id="5" name="Arrondir un rectangle avec un coin diagonal 4"/>
          <p:cNvSpPr/>
          <p:nvPr>
            <p:custDataLst>
              <p:tags r:id="rId2"/>
            </p:custDataLst>
          </p:nvPr>
        </p:nvSpPr>
        <p:spPr>
          <a:xfrm>
            <a:off x="1163221" y="1701147"/>
            <a:ext cx="2906949" cy="1118681"/>
          </a:xfrm>
          <a:prstGeom prst="round2Diag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800" b="1" dirty="0">
                <a:solidFill>
                  <a:prstClr val="black"/>
                </a:solidFill>
              </a:rPr>
              <a:t>Charges directes</a:t>
            </a:r>
          </a:p>
          <a:p>
            <a:pPr algn="ctr"/>
            <a:r>
              <a:rPr lang="fr-CA" sz="2800" dirty="0">
                <a:solidFill>
                  <a:prstClr val="black"/>
                </a:solidFill>
              </a:rPr>
              <a:t>MP et MOD</a:t>
            </a:r>
          </a:p>
        </p:txBody>
      </p:sp>
      <p:sp>
        <p:nvSpPr>
          <p:cNvPr id="6" name="Arrondir un rectangle avec un coin diagonal 5"/>
          <p:cNvSpPr/>
          <p:nvPr>
            <p:custDataLst>
              <p:tags r:id="rId3"/>
            </p:custDataLst>
          </p:nvPr>
        </p:nvSpPr>
        <p:spPr>
          <a:xfrm>
            <a:off x="4258272" y="1701146"/>
            <a:ext cx="3090118" cy="1118681"/>
          </a:xfrm>
          <a:prstGeom prst="round2Diag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800" b="1" dirty="0">
                <a:solidFill>
                  <a:prstClr val="black"/>
                </a:solidFill>
              </a:rPr>
              <a:t>Charges indirectes</a:t>
            </a:r>
          </a:p>
          <a:p>
            <a:pPr algn="ctr"/>
            <a:r>
              <a:rPr lang="fr-CA" sz="2800" dirty="0">
                <a:solidFill>
                  <a:prstClr val="black"/>
                </a:solidFill>
              </a:rPr>
              <a:t>FGF</a:t>
            </a:r>
          </a:p>
        </p:txBody>
      </p:sp>
      <p:sp>
        <p:nvSpPr>
          <p:cNvPr id="7" name="Rectangle à coins arrondis 6"/>
          <p:cNvSpPr/>
          <p:nvPr>
            <p:custDataLst>
              <p:tags r:id="rId4"/>
            </p:custDataLst>
          </p:nvPr>
        </p:nvSpPr>
        <p:spPr>
          <a:xfrm>
            <a:off x="4258272" y="4332049"/>
            <a:ext cx="3090118" cy="793547"/>
          </a:xfrm>
          <a:prstGeom prst="round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r>
              <a:rPr lang="fr-CA" sz="2800" dirty="0">
                <a:solidFill>
                  <a:prstClr val="black"/>
                </a:solidFill>
              </a:rPr>
              <a:t>Taux d’imputation</a:t>
            </a:r>
          </a:p>
        </p:txBody>
      </p:sp>
      <p:sp>
        <p:nvSpPr>
          <p:cNvPr id="8" name="Rectangle à coins arrondis 7"/>
          <p:cNvSpPr/>
          <p:nvPr>
            <p:custDataLst>
              <p:tags r:id="rId5"/>
            </p:custDataLst>
          </p:nvPr>
        </p:nvSpPr>
        <p:spPr>
          <a:xfrm>
            <a:off x="7440269" y="3575938"/>
            <a:ext cx="4250987" cy="928788"/>
          </a:xfrm>
          <a:prstGeom prst="wedgeRoundRectCallout">
            <a:avLst>
              <a:gd name="adj1" fmla="val -63815"/>
              <a:gd name="adj2" fmla="val 51573"/>
              <a:gd name="adj3" fmla="val 16667"/>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r>
              <a:rPr lang="fr-CA" sz="2000" dirty="0">
                <a:ln w="0"/>
                <a:solidFill>
                  <a:prstClr val="black"/>
                </a:solidFill>
              </a:rPr>
              <a:t>Total FGF</a:t>
            </a:r>
          </a:p>
          <a:p>
            <a:pPr algn="ctr">
              <a:lnSpc>
                <a:spcPct val="150000"/>
              </a:lnSpc>
            </a:pPr>
            <a:r>
              <a:rPr lang="fr-CA" sz="2000" dirty="0">
                <a:ln w="0"/>
                <a:solidFill>
                  <a:prstClr val="black"/>
                </a:solidFill>
              </a:rPr>
              <a:t>Volume de base d’imputation (total)</a:t>
            </a:r>
          </a:p>
        </p:txBody>
      </p:sp>
      <p:cxnSp>
        <p:nvCxnSpPr>
          <p:cNvPr id="9" name="Connecteur droit 8"/>
          <p:cNvCxnSpPr>
            <a:cxnSpLocks/>
          </p:cNvCxnSpPr>
          <p:nvPr>
            <p:custDataLst>
              <p:tags r:id="rId6"/>
            </p:custDataLst>
          </p:nvPr>
        </p:nvCxnSpPr>
        <p:spPr>
          <a:xfrm>
            <a:off x="7615825" y="4040332"/>
            <a:ext cx="382350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Rogner un rectangle avec un coin du même côté 10"/>
          <p:cNvSpPr/>
          <p:nvPr>
            <p:custDataLst>
              <p:tags r:id="rId7"/>
            </p:custDataLst>
          </p:nvPr>
        </p:nvSpPr>
        <p:spPr>
          <a:xfrm>
            <a:off x="1152464" y="5522402"/>
            <a:ext cx="6185169" cy="530018"/>
          </a:xfrm>
          <a:prstGeom prst="snip2SameRect">
            <a:avLst/>
          </a:prstGeom>
          <a:ln w="28575">
            <a:solidFill>
              <a:schemeClr val="accent4">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2800" dirty="0">
                <a:solidFill>
                  <a:prstClr val="black"/>
                </a:solidFill>
              </a:rPr>
              <a:t>PRODUITS</a:t>
            </a:r>
          </a:p>
        </p:txBody>
      </p:sp>
      <p:cxnSp>
        <p:nvCxnSpPr>
          <p:cNvPr id="12" name="Connecteur droit 11"/>
          <p:cNvCxnSpPr>
            <a:stCxn id="6" idx="1"/>
            <a:endCxn id="7" idx="0"/>
          </p:cNvCxnSpPr>
          <p:nvPr>
            <p:custDataLst>
              <p:tags r:id="rId8"/>
            </p:custDataLst>
          </p:nvPr>
        </p:nvCxnSpPr>
        <p:spPr>
          <a:xfrm>
            <a:off x="5803331" y="2819827"/>
            <a:ext cx="0" cy="1512222"/>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cxnSp>
        <p:nvCxnSpPr>
          <p:cNvPr id="13" name="Connecteur droit avec flèche 12"/>
          <p:cNvCxnSpPr>
            <a:stCxn id="7" idx="2"/>
          </p:cNvCxnSpPr>
          <p:nvPr>
            <p:custDataLst>
              <p:tags r:id="rId9"/>
            </p:custDataLst>
          </p:nvPr>
        </p:nvCxnSpPr>
        <p:spPr>
          <a:xfrm>
            <a:off x="5803331" y="5125596"/>
            <a:ext cx="0" cy="384036"/>
          </a:xfrm>
          <a:prstGeom prst="straightConnector1">
            <a:avLst/>
          </a:prstGeom>
          <a:ln w="28575">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14" name="Connecteur droit avec flèche 13"/>
          <p:cNvCxnSpPr/>
          <p:nvPr>
            <p:custDataLst>
              <p:tags r:id="rId10"/>
            </p:custDataLst>
          </p:nvPr>
        </p:nvCxnSpPr>
        <p:spPr>
          <a:xfrm flipH="1">
            <a:off x="2616695" y="2819828"/>
            <a:ext cx="2" cy="2689804"/>
          </a:xfrm>
          <a:prstGeom prst="straightConnector1">
            <a:avLst/>
          </a:prstGeom>
          <a:ln w="28575">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2" name="Espace réservé du pied de page 6">
            <a:extLst>
              <a:ext uri="{FF2B5EF4-FFF2-40B4-BE49-F238E27FC236}">
                <a16:creationId xmlns:a16="http://schemas.microsoft.com/office/drawing/2014/main" id="{BBABC58F-3B15-6798-6C51-5386F0C40E73}"/>
              </a:ext>
            </a:extLst>
          </p:cNvPr>
          <p:cNvSpPr>
            <a:spLocks noGrp="1"/>
          </p:cNvSpPr>
          <p:nvPr>
            <p:ph type="ftr" sz="quarter" idx="11"/>
            <p:custDataLst>
              <p:tags r:id="rId11"/>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15" name="Espace réservé du numéro de diapositive 2">
            <a:extLst>
              <a:ext uri="{FF2B5EF4-FFF2-40B4-BE49-F238E27FC236}">
                <a16:creationId xmlns:a16="http://schemas.microsoft.com/office/drawing/2014/main" id="{CF9AFC18-0F38-8F4D-FE9A-49A446E9039F}"/>
              </a:ext>
            </a:extLst>
          </p:cNvPr>
          <p:cNvSpPr>
            <a:spLocks noGrp="1"/>
          </p:cNvSpPr>
          <p:nvPr>
            <p:ph type="sldNum" sz="quarter" idx="12"/>
            <p:custDataLst>
              <p:tags r:id="rId12"/>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50</a:t>
            </a:fld>
            <a:endParaRPr lang="fr-CA" dirty="0">
              <a:solidFill>
                <a:prstClr val="black">
                  <a:tint val="75000"/>
                </a:prstClr>
              </a:solidFill>
            </a:endParaRPr>
          </a:p>
        </p:txBody>
      </p:sp>
    </p:spTree>
    <p:extLst>
      <p:ext uri="{BB962C8B-B14F-4D97-AF65-F5344CB8AC3E}">
        <p14:creationId xmlns:p14="http://schemas.microsoft.com/office/powerpoint/2010/main" val="11993708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custDataLst>
              <p:tags r:id="rId1"/>
            </p:custDataLst>
          </p:nvPr>
        </p:nvSpPr>
        <p:spPr/>
        <p:txBody>
          <a:bodyPr>
            <a:normAutofit fontScale="90000"/>
          </a:bodyPr>
          <a:lstStyle/>
          <a:p>
            <a:r>
              <a:rPr lang="fr-CA" dirty="0"/>
              <a:t>IMPUTATION AVEC PLUSIEURS CENTRES DE COÛTS</a:t>
            </a:r>
            <a:br>
              <a:rPr lang="fr-CA" dirty="0"/>
            </a:br>
            <a:r>
              <a:rPr lang="fr-CA" sz="4000" dirty="0"/>
              <a:t>(plusieurs taux d’imputation)</a:t>
            </a:r>
            <a:endParaRPr lang="fr-CA" dirty="0"/>
          </a:p>
        </p:txBody>
      </p:sp>
      <p:sp>
        <p:nvSpPr>
          <p:cNvPr id="6" name="Arrondir un rectangle avec un coin diagonal 5"/>
          <p:cNvSpPr/>
          <p:nvPr>
            <p:custDataLst>
              <p:tags r:id="rId2"/>
            </p:custDataLst>
          </p:nvPr>
        </p:nvSpPr>
        <p:spPr>
          <a:xfrm>
            <a:off x="3775408" y="1457613"/>
            <a:ext cx="3090118" cy="1118681"/>
          </a:xfrm>
          <a:prstGeom prst="round2Diag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800" dirty="0">
                <a:solidFill>
                  <a:prstClr val="black"/>
                </a:solidFill>
              </a:rPr>
              <a:t>Charges indirectes</a:t>
            </a:r>
          </a:p>
          <a:p>
            <a:pPr algn="ctr"/>
            <a:r>
              <a:rPr lang="fr-CA" sz="2800" dirty="0">
                <a:solidFill>
                  <a:prstClr val="black"/>
                </a:solidFill>
              </a:rPr>
              <a:t>FGF</a:t>
            </a:r>
          </a:p>
        </p:txBody>
      </p:sp>
      <p:sp>
        <p:nvSpPr>
          <p:cNvPr id="7" name="Rectangle à coins arrondis 6"/>
          <p:cNvSpPr/>
          <p:nvPr>
            <p:custDataLst>
              <p:tags r:id="rId3"/>
            </p:custDataLst>
          </p:nvPr>
        </p:nvSpPr>
        <p:spPr>
          <a:xfrm>
            <a:off x="2926243" y="4430324"/>
            <a:ext cx="2233724" cy="793547"/>
          </a:xfrm>
          <a:prstGeom prst="round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r>
              <a:rPr lang="fr-CA" sz="2800" dirty="0">
                <a:solidFill>
                  <a:prstClr val="black"/>
                </a:solidFill>
              </a:rPr>
              <a:t>Taux d’imputation</a:t>
            </a:r>
          </a:p>
        </p:txBody>
      </p:sp>
      <p:sp>
        <p:nvSpPr>
          <p:cNvPr id="8" name="Rectangle à coins arrondis 7"/>
          <p:cNvSpPr/>
          <p:nvPr>
            <p:custDataLst>
              <p:tags r:id="rId4"/>
            </p:custDataLst>
          </p:nvPr>
        </p:nvSpPr>
        <p:spPr>
          <a:xfrm>
            <a:off x="10199147" y="3200400"/>
            <a:ext cx="1942554" cy="1571131"/>
          </a:xfrm>
          <a:prstGeom prst="wedgeRoundRectCallout">
            <a:avLst>
              <a:gd name="adj1" fmla="val -64859"/>
              <a:gd name="adj2" fmla="val 29625"/>
              <a:gd name="adj3" fmla="val 16667"/>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ln w="0"/>
                <a:solidFill>
                  <a:prstClr val="black"/>
                </a:solidFill>
              </a:rPr>
              <a:t>Un taux d’imputation sera calculé pour chaque centre de coûts</a:t>
            </a:r>
            <a:endParaRPr lang="fr-CA" dirty="0">
              <a:ln w="0"/>
              <a:solidFill>
                <a:prstClr val="black"/>
              </a:solidFill>
            </a:endParaRPr>
          </a:p>
        </p:txBody>
      </p:sp>
      <p:sp>
        <p:nvSpPr>
          <p:cNvPr id="9" name="Rogner un rectangle avec un coin du même côté 8"/>
          <p:cNvSpPr/>
          <p:nvPr>
            <p:custDataLst>
              <p:tags r:id="rId5"/>
            </p:custDataLst>
          </p:nvPr>
        </p:nvSpPr>
        <p:spPr>
          <a:xfrm>
            <a:off x="2815974" y="5618914"/>
            <a:ext cx="2504493" cy="567060"/>
          </a:xfrm>
          <a:prstGeom prst="snip2SameRect">
            <a:avLst/>
          </a:prstGeom>
          <a:ln w="28575">
            <a:solidFill>
              <a:schemeClr val="accent4">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2800" dirty="0">
                <a:solidFill>
                  <a:prstClr val="black"/>
                </a:solidFill>
              </a:rPr>
              <a:t>PRODUITS</a:t>
            </a:r>
          </a:p>
        </p:txBody>
      </p:sp>
      <p:sp>
        <p:nvSpPr>
          <p:cNvPr id="11" name="Rectangle 10"/>
          <p:cNvSpPr/>
          <p:nvPr>
            <p:custDataLst>
              <p:tags r:id="rId6"/>
            </p:custDataLst>
          </p:nvPr>
        </p:nvSpPr>
        <p:spPr>
          <a:xfrm>
            <a:off x="3434054" y="3290809"/>
            <a:ext cx="1725913" cy="782217"/>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fr-CA" sz="2800" dirty="0">
                <a:solidFill>
                  <a:prstClr val="black"/>
                </a:solidFill>
              </a:rPr>
              <a:t>Centre de coûts A</a:t>
            </a:r>
          </a:p>
        </p:txBody>
      </p:sp>
      <p:sp>
        <p:nvSpPr>
          <p:cNvPr id="12" name="Rectangle 11"/>
          <p:cNvSpPr/>
          <p:nvPr>
            <p:custDataLst>
              <p:tags r:id="rId7"/>
            </p:custDataLst>
          </p:nvPr>
        </p:nvSpPr>
        <p:spPr>
          <a:xfrm>
            <a:off x="5518280" y="3290809"/>
            <a:ext cx="1771011" cy="782217"/>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fr-CA" sz="2800" dirty="0">
                <a:solidFill>
                  <a:prstClr val="black"/>
                </a:solidFill>
              </a:rPr>
              <a:t>Centre de coûts B</a:t>
            </a:r>
          </a:p>
        </p:txBody>
      </p:sp>
      <p:cxnSp>
        <p:nvCxnSpPr>
          <p:cNvPr id="13" name="Connecteur droit avec flèche 12"/>
          <p:cNvCxnSpPr>
            <a:cxnSpLocks/>
            <a:stCxn id="6" idx="1"/>
            <a:endCxn id="11" idx="0"/>
          </p:cNvCxnSpPr>
          <p:nvPr>
            <p:custDataLst>
              <p:tags r:id="rId8"/>
            </p:custDataLst>
          </p:nvPr>
        </p:nvCxnSpPr>
        <p:spPr>
          <a:xfrm flipH="1">
            <a:off x="4297011" y="2576294"/>
            <a:ext cx="1023456" cy="71451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4" name="Connecteur droit avec flèche 13"/>
          <p:cNvCxnSpPr>
            <a:cxnSpLocks/>
            <a:stCxn id="6" idx="1"/>
          </p:cNvCxnSpPr>
          <p:nvPr>
            <p:custDataLst>
              <p:tags r:id="rId9"/>
            </p:custDataLst>
          </p:nvPr>
        </p:nvCxnSpPr>
        <p:spPr>
          <a:xfrm>
            <a:off x="5320467" y="2576294"/>
            <a:ext cx="775533" cy="62410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 name="Rectangle à coins arrondis 14"/>
          <p:cNvSpPr/>
          <p:nvPr>
            <p:custDataLst>
              <p:tags r:id="rId10"/>
            </p:custDataLst>
          </p:nvPr>
        </p:nvSpPr>
        <p:spPr>
          <a:xfrm>
            <a:off x="5320467" y="4430323"/>
            <a:ext cx="2233724" cy="793547"/>
          </a:xfrm>
          <a:prstGeom prst="round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r>
              <a:rPr lang="fr-CA" sz="2800" dirty="0">
                <a:solidFill>
                  <a:prstClr val="black"/>
                </a:solidFill>
              </a:rPr>
              <a:t>Taux d’imputation</a:t>
            </a:r>
          </a:p>
        </p:txBody>
      </p:sp>
      <p:cxnSp>
        <p:nvCxnSpPr>
          <p:cNvPr id="16" name="Connecteur droit 15"/>
          <p:cNvCxnSpPr/>
          <p:nvPr>
            <p:custDataLst>
              <p:tags r:id="rId11"/>
            </p:custDataLst>
          </p:nvPr>
        </p:nvCxnSpPr>
        <p:spPr>
          <a:xfrm>
            <a:off x="4166319" y="5239281"/>
            <a:ext cx="0" cy="357297"/>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Connecteur droit 16"/>
          <p:cNvCxnSpPr/>
          <p:nvPr>
            <p:custDataLst>
              <p:tags r:id="rId12"/>
            </p:custDataLst>
          </p:nvPr>
        </p:nvCxnSpPr>
        <p:spPr>
          <a:xfrm>
            <a:off x="6499162" y="5217650"/>
            <a:ext cx="0" cy="357297"/>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Connecteur droit 17"/>
          <p:cNvCxnSpPr/>
          <p:nvPr>
            <p:custDataLst>
              <p:tags r:id="rId13"/>
            </p:custDataLst>
          </p:nvPr>
        </p:nvCxnSpPr>
        <p:spPr>
          <a:xfrm>
            <a:off x="5807667" y="4073026"/>
            <a:ext cx="0" cy="357297"/>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Connecteur droit 18"/>
          <p:cNvCxnSpPr/>
          <p:nvPr>
            <p:custDataLst>
              <p:tags r:id="rId14"/>
            </p:custDataLst>
          </p:nvPr>
        </p:nvCxnSpPr>
        <p:spPr>
          <a:xfrm>
            <a:off x="3596798" y="4073026"/>
            <a:ext cx="0" cy="357297"/>
          </a:xfrm>
          <a:prstGeom prst="line">
            <a:avLst/>
          </a:prstGeom>
          <a:ln w="19050"/>
        </p:spPr>
        <p:style>
          <a:lnRef idx="1">
            <a:schemeClr val="dk1"/>
          </a:lnRef>
          <a:fillRef idx="0">
            <a:schemeClr val="dk1"/>
          </a:fillRef>
          <a:effectRef idx="0">
            <a:schemeClr val="dk1"/>
          </a:effectRef>
          <a:fontRef idx="minor">
            <a:schemeClr val="tx1"/>
          </a:fontRef>
        </p:style>
      </p:cxnSp>
      <p:sp>
        <p:nvSpPr>
          <p:cNvPr id="20" name="Rectangle 19"/>
          <p:cNvSpPr/>
          <p:nvPr>
            <p:custDataLst>
              <p:tags r:id="rId15"/>
            </p:custDataLst>
          </p:nvPr>
        </p:nvSpPr>
        <p:spPr>
          <a:xfrm>
            <a:off x="7554191" y="3290809"/>
            <a:ext cx="1771011" cy="782217"/>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fr-CA" sz="2800" dirty="0">
                <a:solidFill>
                  <a:prstClr val="black"/>
                </a:solidFill>
              </a:rPr>
              <a:t>Centre de coûts ….</a:t>
            </a:r>
          </a:p>
        </p:txBody>
      </p:sp>
      <p:cxnSp>
        <p:nvCxnSpPr>
          <p:cNvPr id="21" name="Connecteur droit avec flèche 20"/>
          <p:cNvCxnSpPr>
            <a:cxnSpLocks/>
            <a:stCxn id="6" idx="1"/>
          </p:cNvCxnSpPr>
          <p:nvPr>
            <p:custDataLst>
              <p:tags r:id="rId16"/>
            </p:custDataLst>
          </p:nvPr>
        </p:nvCxnSpPr>
        <p:spPr>
          <a:xfrm>
            <a:off x="5320467" y="2576294"/>
            <a:ext cx="2744033" cy="64345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Connecteur droit 21"/>
          <p:cNvCxnSpPr/>
          <p:nvPr>
            <p:custDataLst>
              <p:tags r:id="rId17"/>
            </p:custDataLst>
          </p:nvPr>
        </p:nvCxnSpPr>
        <p:spPr>
          <a:xfrm>
            <a:off x="8185696" y="4073026"/>
            <a:ext cx="0" cy="357297"/>
          </a:xfrm>
          <a:prstGeom prst="line">
            <a:avLst/>
          </a:prstGeom>
          <a:ln w="19050"/>
        </p:spPr>
        <p:style>
          <a:lnRef idx="1">
            <a:schemeClr val="dk1"/>
          </a:lnRef>
          <a:fillRef idx="0">
            <a:schemeClr val="dk1"/>
          </a:fillRef>
          <a:effectRef idx="0">
            <a:schemeClr val="dk1"/>
          </a:effectRef>
          <a:fontRef idx="minor">
            <a:schemeClr val="tx1"/>
          </a:fontRef>
        </p:style>
      </p:cxnSp>
      <p:sp>
        <p:nvSpPr>
          <p:cNvPr id="23" name="Rectangle à coins arrondis 14">
            <a:extLst>
              <a:ext uri="{FF2B5EF4-FFF2-40B4-BE49-F238E27FC236}">
                <a16:creationId xmlns:a16="http://schemas.microsoft.com/office/drawing/2014/main" id="{8F116AB7-AB96-48E5-B307-DD01F77FA450}"/>
              </a:ext>
            </a:extLst>
          </p:cNvPr>
          <p:cNvSpPr/>
          <p:nvPr>
            <p:custDataLst>
              <p:tags r:id="rId18"/>
            </p:custDataLst>
          </p:nvPr>
        </p:nvSpPr>
        <p:spPr>
          <a:xfrm>
            <a:off x="7702966" y="4430322"/>
            <a:ext cx="2233724" cy="793547"/>
          </a:xfrm>
          <a:prstGeom prst="round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r>
              <a:rPr lang="fr-CA" sz="2800" dirty="0">
                <a:solidFill>
                  <a:prstClr val="black"/>
                </a:solidFill>
              </a:rPr>
              <a:t>Taux d’imputation</a:t>
            </a:r>
          </a:p>
        </p:txBody>
      </p:sp>
      <p:cxnSp>
        <p:nvCxnSpPr>
          <p:cNvPr id="24" name="Connecteur droit 23">
            <a:extLst>
              <a:ext uri="{FF2B5EF4-FFF2-40B4-BE49-F238E27FC236}">
                <a16:creationId xmlns:a16="http://schemas.microsoft.com/office/drawing/2014/main" id="{910155AA-DD1B-4815-9A3C-258FE161E30C}"/>
              </a:ext>
            </a:extLst>
          </p:cNvPr>
          <p:cNvCxnSpPr/>
          <p:nvPr>
            <p:custDataLst>
              <p:tags r:id="rId19"/>
            </p:custDataLst>
          </p:nvPr>
        </p:nvCxnSpPr>
        <p:spPr>
          <a:xfrm>
            <a:off x="8702689" y="5239281"/>
            <a:ext cx="0" cy="357297"/>
          </a:xfrm>
          <a:prstGeom prst="line">
            <a:avLst/>
          </a:prstGeom>
          <a:ln w="19050"/>
        </p:spPr>
        <p:style>
          <a:lnRef idx="1">
            <a:schemeClr val="dk1"/>
          </a:lnRef>
          <a:fillRef idx="0">
            <a:schemeClr val="dk1"/>
          </a:fillRef>
          <a:effectRef idx="0">
            <a:schemeClr val="dk1"/>
          </a:effectRef>
          <a:fontRef idx="minor">
            <a:schemeClr val="tx1"/>
          </a:fontRef>
        </p:style>
      </p:cxnSp>
      <p:sp>
        <p:nvSpPr>
          <p:cNvPr id="2" name="Espace réservé du pied de page 6">
            <a:extLst>
              <a:ext uri="{FF2B5EF4-FFF2-40B4-BE49-F238E27FC236}">
                <a16:creationId xmlns:a16="http://schemas.microsoft.com/office/drawing/2014/main" id="{9419C33C-8A5A-DE44-41BA-1B1ADAE4DCCE}"/>
              </a:ext>
            </a:extLst>
          </p:cNvPr>
          <p:cNvSpPr>
            <a:spLocks noGrp="1"/>
          </p:cNvSpPr>
          <p:nvPr>
            <p:ph type="ftr" sz="quarter" idx="11"/>
            <p:custDataLst>
              <p:tags r:id="rId20"/>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30" name="Espace réservé du numéro de diapositive 2">
            <a:extLst>
              <a:ext uri="{FF2B5EF4-FFF2-40B4-BE49-F238E27FC236}">
                <a16:creationId xmlns:a16="http://schemas.microsoft.com/office/drawing/2014/main" id="{23AAA8BA-D0D9-A783-8670-0029B4F1E4FC}"/>
              </a:ext>
            </a:extLst>
          </p:cNvPr>
          <p:cNvSpPr>
            <a:spLocks noGrp="1"/>
          </p:cNvSpPr>
          <p:nvPr>
            <p:ph type="sldNum" sz="quarter" idx="12"/>
            <p:custDataLst>
              <p:tags r:id="rId21"/>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51</a:t>
            </a:fld>
            <a:endParaRPr lang="fr-CA" dirty="0">
              <a:solidFill>
                <a:prstClr val="black">
                  <a:tint val="75000"/>
                </a:prstClr>
              </a:solidFill>
            </a:endParaRPr>
          </a:p>
        </p:txBody>
      </p:sp>
      <p:sp>
        <p:nvSpPr>
          <p:cNvPr id="29" name="Rectangle à coins arrondis 7">
            <a:extLst>
              <a:ext uri="{FF2B5EF4-FFF2-40B4-BE49-F238E27FC236}">
                <a16:creationId xmlns:a16="http://schemas.microsoft.com/office/drawing/2014/main" id="{BB71C0E4-A986-82DE-CF3B-8B9454EFE069}"/>
              </a:ext>
            </a:extLst>
          </p:cNvPr>
          <p:cNvSpPr/>
          <p:nvPr>
            <p:custDataLst>
              <p:tags r:id="rId22"/>
            </p:custDataLst>
          </p:nvPr>
        </p:nvSpPr>
        <p:spPr>
          <a:xfrm>
            <a:off x="7214418" y="1503870"/>
            <a:ext cx="3787471" cy="993394"/>
          </a:xfrm>
          <a:prstGeom prst="wedgeRoundRectCallout">
            <a:avLst>
              <a:gd name="adj1" fmla="val -58470"/>
              <a:gd name="adj2" fmla="val 8781"/>
              <a:gd name="adj3" fmla="val 16667"/>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ln w="0"/>
                <a:solidFill>
                  <a:prstClr val="black"/>
                </a:solidFill>
              </a:rPr>
              <a:t>Analyser les charges FGF et le processus pour évaluer les bases d’imputation pour chaque centre</a:t>
            </a:r>
            <a:endParaRPr lang="fr-CA" dirty="0">
              <a:ln w="0"/>
              <a:solidFill>
                <a:prstClr val="black"/>
              </a:solidFill>
            </a:endParaRPr>
          </a:p>
        </p:txBody>
      </p:sp>
      <p:sp>
        <p:nvSpPr>
          <p:cNvPr id="31" name="Rectangle à coins arrondis 7">
            <a:extLst>
              <a:ext uri="{FF2B5EF4-FFF2-40B4-BE49-F238E27FC236}">
                <a16:creationId xmlns:a16="http://schemas.microsoft.com/office/drawing/2014/main" id="{7F547CEA-AD3A-52C9-A9C9-F54C4877182E}"/>
              </a:ext>
            </a:extLst>
          </p:cNvPr>
          <p:cNvSpPr/>
          <p:nvPr>
            <p:custDataLst>
              <p:tags r:id="rId23"/>
            </p:custDataLst>
          </p:nvPr>
        </p:nvSpPr>
        <p:spPr>
          <a:xfrm>
            <a:off x="10199147" y="5062371"/>
            <a:ext cx="1942554" cy="1064225"/>
          </a:xfrm>
          <a:prstGeom prst="wedgeRoundRectCallout">
            <a:avLst>
              <a:gd name="adj1" fmla="val -57668"/>
              <a:gd name="adj2" fmla="val 22928"/>
              <a:gd name="adj3" fmla="val 16667"/>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CA" b="1" dirty="0">
                <a:solidFill>
                  <a:schemeClr val="tx1"/>
                </a:solidFill>
              </a:rPr>
              <a:t>Répartition des FGF par produit</a:t>
            </a:r>
          </a:p>
        </p:txBody>
      </p:sp>
      <p:sp>
        <p:nvSpPr>
          <p:cNvPr id="4" name="Rogner un rectangle avec un coin du même côté 8">
            <a:extLst>
              <a:ext uri="{FF2B5EF4-FFF2-40B4-BE49-F238E27FC236}">
                <a16:creationId xmlns:a16="http://schemas.microsoft.com/office/drawing/2014/main" id="{673A8649-4E51-8BA6-CD51-BCCA046C192A}"/>
              </a:ext>
            </a:extLst>
          </p:cNvPr>
          <p:cNvSpPr/>
          <p:nvPr>
            <p:custDataLst>
              <p:tags r:id="rId24"/>
            </p:custDataLst>
          </p:nvPr>
        </p:nvSpPr>
        <p:spPr>
          <a:xfrm>
            <a:off x="5518280" y="5597626"/>
            <a:ext cx="3806922" cy="567060"/>
          </a:xfrm>
          <a:prstGeom prst="snip2SameRect">
            <a:avLst/>
          </a:prstGeom>
          <a:ln w="28575">
            <a:solidFill>
              <a:schemeClr val="accent4">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2800" dirty="0">
                <a:solidFill>
                  <a:prstClr val="black"/>
                </a:solidFill>
              </a:rPr>
              <a:t>PRODUITS</a:t>
            </a:r>
          </a:p>
        </p:txBody>
      </p:sp>
      <p:cxnSp>
        <p:nvCxnSpPr>
          <p:cNvPr id="25" name="Connecteur droit 24">
            <a:extLst>
              <a:ext uri="{FF2B5EF4-FFF2-40B4-BE49-F238E27FC236}">
                <a16:creationId xmlns:a16="http://schemas.microsoft.com/office/drawing/2014/main" id="{34C362FF-8C69-6BE1-BAC4-39DD74380881}"/>
              </a:ext>
            </a:extLst>
          </p:cNvPr>
          <p:cNvCxnSpPr>
            <a:cxnSpLocks/>
          </p:cNvCxnSpPr>
          <p:nvPr>
            <p:custDataLst>
              <p:tags r:id="rId25"/>
            </p:custDataLst>
          </p:nvPr>
        </p:nvCxnSpPr>
        <p:spPr>
          <a:xfrm flipH="1">
            <a:off x="5249411" y="5182684"/>
            <a:ext cx="169962" cy="477416"/>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381943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2DA9A-FB1A-6CBC-7401-4E6A7BB8F1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052B5F-9867-0F4E-602A-3DE44EAD5365}"/>
              </a:ext>
            </a:extLst>
          </p:cNvPr>
          <p:cNvSpPr>
            <a:spLocks noGrp="1"/>
          </p:cNvSpPr>
          <p:nvPr>
            <p:ph type="title"/>
            <p:custDataLst>
              <p:tags r:id="rId1"/>
            </p:custDataLst>
          </p:nvPr>
        </p:nvSpPr>
        <p:spPr/>
        <p:txBody>
          <a:bodyPr/>
          <a:lstStyle/>
          <a:p>
            <a:r>
              <a:rPr lang="fr-CA" dirty="0"/>
              <a:t>Sommaire S01 à S05</a:t>
            </a:r>
          </a:p>
        </p:txBody>
      </p:sp>
      <p:graphicFrame>
        <p:nvGraphicFramePr>
          <p:cNvPr id="4" name="Tableau 4">
            <a:extLst>
              <a:ext uri="{FF2B5EF4-FFF2-40B4-BE49-F238E27FC236}">
                <a16:creationId xmlns:a16="http://schemas.microsoft.com/office/drawing/2014/main" id="{6C75B355-C29B-3225-501E-25044D627179}"/>
              </a:ext>
            </a:extLst>
          </p:cNvPr>
          <p:cNvGraphicFramePr>
            <a:graphicFrameLocks noGrp="1"/>
          </p:cNvGraphicFramePr>
          <p:nvPr>
            <p:ph idx="1"/>
            <p:custDataLst>
              <p:tags r:id="rId2"/>
            </p:custDataLst>
          </p:nvPr>
        </p:nvGraphicFramePr>
        <p:xfrm>
          <a:off x="270457" y="1590427"/>
          <a:ext cx="11699165" cy="4206240"/>
        </p:xfrm>
        <a:graphic>
          <a:graphicData uri="http://schemas.openxmlformats.org/drawingml/2006/table">
            <a:tbl>
              <a:tblPr firstRow="1" bandRow="1">
                <a:tableStyleId>{5940675A-B579-460E-94D1-54222C63F5DA}</a:tableStyleId>
              </a:tblPr>
              <a:tblGrid>
                <a:gridCol w="1913943">
                  <a:extLst>
                    <a:ext uri="{9D8B030D-6E8A-4147-A177-3AD203B41FA5}">
                      <a16:colId xmlns:a16="http://schemas.microsoft.com/office/drawing/2014/main" val="4232113173"/>
                    </a:ext>
                  </a:extLst>
                </a:gridCol>
                <a:gridCol w="2362200">
                  <a:extLst>
                    <a:ext uri="{9D8B030D-6E8A-4147-A177-3AD203B41FA5}">
                      <a16:colId xmlns:a16="http://schemas.microsoft.com/office/drawing/2014/main" val="193873504"/>
                    </a:ext>
                  </a:extLst>
                </a:gridCol>
                <a:gridCol w="2336800">
                  <a:extLst>
                    <a:ext uri="{9D8B030D-6E8A-4147-A177-3AD203B41FA5}">
                      <a16:colId xmlns:a16="http://schemas.microsoft.com/office/drawing/2014/main" val="2452030595"/>
                    </a:ext>
                  </a:extLst>
                </a:gridCol>
                <a:gridCol w="2565400">
                  <a:extLst>
                    <a:ext uri="{9D8B030D-6E8A-4147-A177-3AD203B41FA5}">
                      <a16:colId xmlns:a16="http://schemas.microsoft.com/office/drawing/2014/main" val="1333501163"/>
                    </a:ext>
                  </a:extLst>
                </a:gridCol>
                <a:gridCol w="2520822">
                  <a:extLst>
                    <a:ext uri="{9D8B030D-6E8A-4147-A177-3AD203B41FA5}">
                      <a16:colId xmlns:a16="http://schemas.microsoft.com/office/drawing/2014/main" val="4217672787"/>
                    </a:ext>
                  </a:extLst>
                </a:gridCol>
              </a:tblGrid>
              <a:tr h="370840">
                <a:tc>
                  <a:txBody>
                    <a:bodyPr/>
                    <a:lstStyle/>
                    <a:p>
                      <a:r>
                        <a:rPr lang="fr-CA" sz="1400" b="1" dirty="0"/>
                        <a:t>S01</a:t>
                      </a:r>
                    </a:p>
                  </a:txBody>
                  <a:tcPr/>
                </a:tc>
                <a:tc>
                  <a:txBody>
                    <a:bodyPr/>
                    <a:lstStyle/>
                    <a:p>
                      <a:r>
                        <a:rPr lang="fr-CA" sz="1400" b="1" dirty="0"/>
                        <a:t>S02</a:t>
                      </a:r>
                    </a:p>
                  </a:txBody>
                  <a:tcPr/>
                </a:tc>
                <a:tc>
                  <a:txBody>
                    <a:bodyPr/>
                    <a:lstStyle/>
                    <a:p>
                      <a:r>
                        <a:rPr lang="fr-CA" sz="1400" b="1" dirty="0"/>
                        <a:t>S03</a:t>
                      </a:r>
                    </a:p>
                  </a:txBody>
                  <a:tcPr/>
                </a:tc>
                <a:tc>
                  <a:txBody>
                    <a:bodyPr/>
                    <a:lstStyle/>
                    <a:p>
                      <a:r>
                        <a:rPr lang="fr-CA" sz="1400" b="1" dirty="0"/>
                        <a:t>S04</a:t>
                      </a:r>
                    </a:p>
                  </a:txBody>
                  <a:tcPr/>
                </a:tc>
                <a:tc>
                  <a:txBody>
                    <a:bodyPr/>
                    <a:lstStyle/>
                    <a:p>
                      <a:r>
                        <a:rPr lang="fr-CA" sz="1400" b="1" dirty="0"/>
                        <a:t>S05</a:t>
                      </a:r>
                    </a:p>
                    <a:p>
                      <a:r>
                        <a:rPr lang="fr-CA" sz="1400" b="1" dirty="0"/>
                        <a:t>(entreprise manufacturière)</a:t>
                      </a:r>
                    </a:p>
                  </a:txBody>
                  <a:tcPr/>
                </a:tc>
                <a:extLst>
                  <a:ext uri="{0D108BD9-81ED-4DB2-BD59-A6C34878D82A}">
                    <a16:rowId xmlns:a16="http://schemas.microsoft.com/office/drawing/2014/main" val="2775332856"/>
                  </a:ext>
                </a:extLst>
              </a:tr>
              <a:tr h="392746">
                <a:tc>
                  <a:txBody>
                    <a:bodyPr/>
                    <a:lstStyle/>
                    <a:p>
                      <a:r>
                        <a:rPr lang="fr-CA" sz="1400" dirty="0"/>
                        <a:t>Ventes </a:t>
                      </a:r>
                    </a:p>
                    <a:p>
                      <a:r>
                        <a:rPr lang="fr-CA" sz="1400" dirty="0"/>
                        <a:t>(-)  </a:t>
                      </a:r>
                      <a:r>
                        <a:rPr lang="fr-CA" sz="1400" b="1" dirty="0"/>
                        <a:t>Coûts</a:t>
                      </a:r>
                      <a:r>
                        <a:rPr lang="fr-CA" sz="1400" dirty="0"/>
                        <a:t> </a:t>
                      </a:r>
                    </a:p>
                    <a:p>
                      <a:r>
                        <a:rPr lang="fr-CA" sz="1400" dirty="0"/>
                        <a:t>        Variables</a:t>
                      </a:r>
                    </a:p>
                    <a:p>
                      <a:r>
                        <a:rPr lang="fr-CA" sz="1400" dirty="0"/>
                        <a:t>        Fixes</a:t>
                      </a:r>
                    </a:p>
                    <a:p>
                      <a:r>
                        <a:rPr lang="fr-CA" sz="1400" dirty="0"/>
                        <a:t>(=) Résultat d’exploitation</a:t>
                      </a:r>
                    </a:p>
                  </a:txBody>
                  <a:tcPr/>
                </a:tc>
                <a:tc>
                  <a:txBody>
                    <a:bodyPr/>
                    <a:lstStyle/>
                    <a:p>
                      <a:r>
                        <a:rPr lang="fr-CA" sz="1400" dirty="0"/>
                        <a:t>Ventes </a:t>
                      </a:r>
                    </a:p>
                    <a:p>
                      <a:r>
                        <a:rPr lang="fr-CA" sz="1400" dirty="0"/>
                        <a:t>(-)  </a:t>
                      </a:r>
                      <a:r>
                        <a:rPr lang="fr-CA" sz="1400" b="0" dirty="0"/>
                        <a:t>Coûts variables</a:t>
                      </a:r>
                    </a:p>
                    <a:p>
                      <a:r>
                        <a:rPr lang="fr-CA" sz="1400" b="1" dirty="0"/>
                        <a:t>(=) Marge sur coûts variables </a:t>
                      </a:r>
                    </a:p>
                    <a:p>
                      <a:r>
                        <a:rPr lang="fr-CA" sz="1400" b="0" dirty="0"/>
                        <a:t>(-) Coûts fixes </a:t>
                      </a:r>
                    </a:p>
                    <a:p>
                      <a:r>
                        <a:rPr lang="fr-CA" sz="1400" dirty="0"/>
                        <a:t>(=) Résultat d’exploitation</a:t>
                      </a:r>
                    </a:p>
                    <a:p>
                      <a:r>
                        <a:rPr lang="fr-CA" sz="1400" dirty="0"/>
                        <a:t> </a:t>
                      </a:r>
                    </a:p>
                  </a:txBody>
                  <a:tcPr/>
                </a:tc>
                <a:tc>
                  <a:txBody>
                    <a:bodyPr/>
                    <a:lstStyle/>
                    <a:p>
                      <a:r>
                        <a:rPr lang="fr-CA" sz="1400" dirty="0"/>
                        <a:t>Ventes </a:t>
                      </a:r>
                    </a:p>
                    <a:p>
                      <a:r>
                        <a:rPr lang="fr-CA" sz="1400" dirty="0"/>
                        <a:t>(-)  </a:t>
                      </a:r>
                      <a:r>
                        <a:rPr lang="fr-CA" sz="1400" b="0" dirty="0"/>
                        <a:t>Coûts variables</a:t>
                      </a:r>
                    </a:p>
                    <a:p>
                      <a:r>
                        <a:rPr lang="fr-CA" sz="1400" b="1" dirty="0"/>
                        <a:t>(=) MCV</a:t>
                      </a:r>
                    </a:p>
                    <a:p>
                      <a:r>
                        <a:rPr lang="fr-CA" sz="1400" b="1" dirty="0"/>
                        <a:t>(-) Coûts fixes</a:t>
                      </a:r>
                      <a:r>
                        <a:rPr lang="fr-CA" sz="1400" dirty="0"/>
                        <a:t> (FGF + FVA)</a:t>
                      </a:r>
                    </a:p>
                    <a:p>
                      <a:r>
                        <a:rPr lang="fr-CA" sz="1400" dirty="0"/>
                        <a:t>       Coûts fixes spécifiques</a:t>
                      </a:r>
                    </a:p>
                    <a:p>
                      <a:r>
                        <a:rPr lang="fr-CA" sz="1400" dirty="0"/>
                        <a:t>       Coûts fixes communs</a:t>
                      </a:r>
                    </a:p>
                    <a:p>
                      <a:r>
                        <a:rPr lang="fr-CA" sz="1400" dirty="0"/>
                        <a:t>(=) Résultat d’exploitation</a:t>
                      </a:r>
                    </a:p>
                  </a:txBody>
                  <a:tcPr/>
                </a:tc>
                <a:tc>
                  <a:txBody>
                    <a:bodyPr/>
                    <a:lstStyle/>
                    <a:p>
                      <a:r>
                        <a:rPr lang="fr-CA" sz="1400" b="0" dirty="0"/>
                        <a:t>MCV unitaire</a:t>
                      </a:r>
                    </a:p>
                    <a:p>
                      <a:r>
                        <a:rPr lang="fr-CA" sz="1400" b="0" dirty="0"/>
                        <a:t>MCV totale </a:t>
                      </a:r>
                    </a:p>
                    <a:p>
                      <a:r>
                        <a:rPr lang="fr-CA" sz="1400" b="0" dirty="0"/>
                        <a:t>MCV pondérée</a:t>
                      </a:r>
                    </a:p>
                    <a:p>
                      <a:r>
                        <a:rPr lang="fr-CA" sz="1400" b="1" dirty="0"/>
                        <a:t>Marge sur coûts spécifiques</a:t>
                      </a:r>
                    </a:p>
                    <a:p>
                      <a:r>
                        <a:rPr lang="fr-CA" sz="1400" b="0" dirty="0"/>
                        <a:t>Résultat d’exploitation</a:t>
                      </a:r>
                    </a:p>
                    <a:p>
                      <a:r>
                        <a:rPr lang="fr-CA" sz="1400" b="1" dirty="0"/>
                        <a:t>Marge par facteur de production contraignant </a:t>
                      </a:r>
                      <a:r>
                        <a:rPr lang="fr-CA" sz="1400" dirty="0"/>
                        <a:t>(contexte ressources limitées) </a:t>
                      </a:r>
                      <a:endParaRPr lang="fr-CA" sz="1400" b="1" dirty="0"/>
                    </a:p>
                  </a:txBody>
                  <a:tcPr/>
                </a:tc>
                <a:tc>
                  <a:txBody>
                    <a:bodyPr/>
                    <a:lstStyle/>
                    <a:p>
                      <a:r>
                        <a:rPr lang="fr-CA" sz="1400" dirty="0"/>
                        <a:t>Prix de vente</a:t>
                      </a:r>
                    </a:p>
                    <a:p>
                      <a:r>
                        <a:rPr lang="fr-CA" sz="1400" dirty="0"/>
                        <a:t>(-) Coût de fabrication unitaire</a:t>
                      </a:r>
                    </a:p>
                    <a:p>
                      <a:r>
                        <a:rPr lang="fr-CA" sz="1400" dirty="0"/>
                        <a:t>      MP     (prix x quantité)</a:t>
                      </a:r>
                    </a:p>
                    <a:p>
                      <a:r>
                        <a:rPr lang="fr-CA" sz="1400" dirty="0"/>
                        <a:t>      MOD  (taux x heure)</a:t>
                      </a:r>
                    </a:p>
                    <a:p>
                      <a:r>
                        <a:rPr lang="fr-CA" sz="1400" dirty="0"/>
                        <a:t>      FGF    </a:t>
                      </a:r>
                    </a:p>
                    <a:p>
                      <a:r>
                        <a:rPr lang="fr-CA" sz="1400" dirty="0"/>
                        <a:t>(=) </a:t>
                      </a:r>
                      <a:r>
                        <a:rPr lang="fr-CA" sz="1400" b="1" dirty="0"/>
                        <a:t>Marge brute </a:t>
                      </a:r>
                      <a:r>
                        <a:rPr lang="fr-CA" sz="1400" dirty="0"/>
                        <a:t>(par unité)</a:t>
                      </a:r>
                    </a:p>
                    <a:p>
                      <a:endParaRPr lang="fr-CA" sz="1400" dirty="0"/>
                    </a:p>
                  </a:txBody>
                  <a:tcPr/>
                </a:tc>
                <a:extLst>
                  <a:ext uri="{0D108BD9-81ED-4DB2-BD59-A6C34878D82A}">
                    <a16:rowId xmlns:a16="http://schemas.microsoft.com/office/drawing/2014/main" val="922402623"/>
                  </a:ext>
                </a:extLst>
              </a:tr>
              <a:tr h="370840">
                <a:tc>
                  <a:txBody>
                    <a:bodyPr/>
                    <a:lstStyle/>
                    <a:p>
                      <a:r>
                        <a:rPr lang="fr-CA" sz="1400" dirty="0"/>
                        <a:t>Terminologie des coûts</a:t>
                      </a:r>
                    </a:p>
                  </a:txBody>
                  <a:tcPr/>
                </a:tc>
                <a:tc>
                  <a:txBody>
                    <a:bodyPr/>
                    <a:lstStyle/>
                    <a:p>
                      <a:r>
                        <a:rPr lang="fr-CA" sz="1400" b="1" dirty="0">
                          <a:solidFill>
                            <a:srgbClr val="0070C0"/>
                          </a:solidFill>
                        </a:rPr>
                        <a:t>Analyse CVR</a:t>
                      </a:r>
                    </a:p>
                    <a:p>
                      <a:r>
                        <a:rPr lang="fr-CA" sz="1400" dirty="0"/>
                        <a:t>MCV (unitaire)  pondérée</a:t>
                      </a:r>
                    </a:p>
                  </a:txBody>
                  <a:tcPr/>
                </a:tc>
                <a:tc>
                  <a:txBody>
                    <a:bodyPr/>
                    <a:lstStyle/>
                    <a:p>
                      <a:r>
                        <a:rPr lang="fr-CA" sz="1400" b="1" dirty="0">
                          <a:solidFill>
                            <a:srgbClr val="0070C0"/>
                          </a:solidFill>
                        </a:rPr>
                        <a:t>Analyse différentielle</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t>Identifier les coûts pertinents</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t>Coût de renonciation</a:t>
                      </a:r>
                    </a:p>
                  </a:txBody>
                  <a:tcPr/>
                </a:tc>
                <a:tc>
                  <a:txBody>
                    <a:bodyPr/>
                    <a:lstStyle/>
                    <a:p>
                      <a:r>
                        <a:rPr lang="fr-CA" sz="1400" b="1" dirty="0">
                          <a:solidFill>
                            <a:srgbClr val="0070C0"/>
                          </a:solidFill>
                        </a:rPr>
                        <a:t>Analyse des marges</a:t>
                      </a:r>
                    </a:p>
                  </a:txBody>
                  <a:tcPr/>
                </a:tc>
                <a:tc>
                  <a:txBody>
                    <a:bodyPr/>
                    <a:lstStyle/>
                    <a:p>
                      <a:r>
                        <a:rPr lang="fr-CA" sz="1400" dirty="0"/>
                        <a:t>Calculer le </a:t>
                      </a:r>
                      <a:r>
                        <a:rPr lang="fr-CA" sz="1400" b="1" dirty="0">
                          <a:solidFill>
                            <a:srgbClr val="0070C0"/>
                          </a:solidFill>
                        </a:rPr>
                        <a:t>cout de fabrication </a:t>
                      </a:r>
                      <a:r>
                        <a:rPr lang="fr-CA" sz="1400" dirty="0"/>
                        <a:t>unitaire</a:t>
                      </a:r>
                    </a:p>
                    <a:p>
                      <a:r>
                        <a:rPr lang="fr-CA" sz="1400" dirty="0"/>
                        <a:t>Imputation par centres (FGF)</a:t>
                      </a:r>
                    </a:p>
                  </a:txBody>
                  <a:tcPr/>
                </a:tc>
                <a:extLst>
                  <a:ext uri="{0D108BD9-81ED-4DB2-BD59-A6C34878D82A}">
                    <a16:rowId xmlns:a16="http://schemas.microsoft.com/office/drawing/2014/main" val="2666826896"/>
                  </a:ext>
                </a:extLst>
              </a:tr>
              <a:tr h="370840">
                <a:tc>
                  <a:txBody>
                    <a:bodyPr/>
                    <a:lstStyle/>
                    <a:p>
                      <a:r>
                        <a:rPr lang="fr-CA" sz="1400" dirty="0"/>
                        <a:t>Coûts variables et fixes</a:t>
                      </a:r>
                    </a:p>
                    <a:p>
                      <a:r>
                        <a:rPr lang="fr-CA" sz="1400" dirty="0"/>
                        <a:t>Coûts directs et indirects</a:t>
                      </a:r>
                    </a:p>
                    <a:p>
                      <a:r>
                        <a:rPr lang="fr-CA" sz="1400" dirty="0"/>
                        <a:t>Coûts de fabrication</a:t>
                      </a:r>
                    </a:p>
                  </a:txBody>
                  <a:tcPr/>
                </a:tc>
                <a:tc>
                  <a:txBody>
                    <a:bodyPr/>
                    <a:lstStyle/>
                    <a:p>
                      <a:r>
                        <a:rPr lang="fr-CA" sz="1400" dirty="0"/>
                        <a:t>Prise de décision</a:t>
                      </a:r>
                    </a:p>
                    <a:p>
                      <a:r>
                        <a:rPr lang="fr-CA" sz="1400" dirty="0"/>
                        <a:t>- Modification: coûts fixes, coûts variables, prix de vente, quantité vendue (volume)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t>Prise de décision</a:t>
                      </a:r>
                    </a:p>
                    <a:p>
                      <a:pPr marL="342900" indent="-342900">
                        <a:buAutoNum type="arabicParenBoth"/>
                      </a:pPr>
                      <a:r>
                        <a:rPr lang="fr-CA" sz="1400" dirty="0"/>
                        <a:t>Commande spéciale</a:t>
                      </a:r>
                    </a:p>
                    <a:p>
                      <a:pPr marL="0" indent="0">
                        <a:buFontTx/>
                        <a:buNone/>
                      </a:pPr>
                      <a:r>
                        <a:rPr lang="fr-CA" sz="1400" dirty="0"/>
                        <a:t>(2) Fabriquer ou sous-traiter</a:t>
                      </a:r>
                    </a:p>
                    <a:p>
                      <a:pPr marL="0" indent="0">
                        <a:buFontTx/>
                        <a:buNone/>
                      </a:pPr>
                      <a:r>
                        <a:rPr lang="fr-CA" sz="1400" dirty="0"/>
                        <a:t>(3) Abandonner ou continuer</a:t>
                      </a:r>
                    </a:p>
                    <a:p>
                      <a:pPr marL="0" indent="0">
                        <a:buNone/>
                      </a:pPr>
                      <a:endParaRPr lang="fr-C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t>Prise de décision</a:t>
                      </a:r>
                    </a:p>
                    <a:p>
                      <a:pPr marL="0" indent="0">
                        <a:buFontTx/>
                        <a:buNone/>
                      </a:pPr>
                      <a:r>
                        <a:rPr lang="fr-CA" sz="1400" dirty="0"/>
                        <a:t>(4) Plan de production</a:t>
                      </a:r>
                    </a:p>
                  </a:txBody>
                  <a:tcPr/>
                </a:tc>
                <a:tc>
                  <a:txBody>
                    <a:bodyPr/>
                    <a:lstStyle/>
                    <a:p>
                      <a:r>
                        <a:rPr lang="fr-CA" sz="1400" dirty="0"/>
                        <a:t>Analyse de la rentabilité par produit</a:t>
                      </a:r>
                    </a:p>
                    <a:p>
                      <a:r>
                        <a:rPr lang="fr-CA" sz="1400" dirty="0"/>
                        <a:t>(marge brute unitaire)</a:t>
                      </a:r>
                    </a:p>
                    <a:p>
                      <a:pPr marL="0" indent="0">
                        <a:buFontTx/>
                        <a:buNone/>
                      </a:pPr>
                      <a:endParaRPr lang="fr-CA" sz="1400" dirty="0"/>
                    </a:p>
                  </a:txBody>
                  <a:tcPr/>
                </a:tc>
                <a:extLst>
                  <a:ext uri="{0D108BD9-81ED-4DB2-BD59-A6C34878D82A}">
                    <a16:rowId xmlns:a16="http://schemas.microsoft.com/office/drawing/2014/main" val="3225032516"/>
                  </a:ext>
                </a:extLst>
              </a:tr>
            </a:tbl>
          </a:graphicData>
        </a:graphic>
      </p:graphicFrame>
      <p:sp>
        <p:nvSpPr>
          <p:cNvPr id="6" name="Espace réservé du pied de page 6">
            <a:extLst>
              <a:ext uri="{FF2B5EF4-FFF2-40B4-BE49-F238E27FC236}">
                <a16:creationId xmlns:a16="http://schemas.microsoft.com/office/drawing/2014/main" id="{2F02CAC0-FA8F-65F8-9287-0A88F930E6FE}"/>
              </a:ext>
            </a:extLst>
          </p:cNvPr>
          <p:cNvSpPr>
            <a:spLocks noGrp="1"/>
          </p:cNvSpPr>
          <p:nvPr>
            <p:ph type="ftr" sz="quarter" idx="11"/>
            <p:custDataLst>
              <p:tags r:id="rId3"/>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
        <p:nvSpPr>
          <p:cNvPr id="7" name="Espace réservé du numéro de diapositive 2">
            <a:extLst>
              <a:ext uri="{FF2B5EF4-FFF2-40B4-BE49-F238E27FC236}">
                <a16:creationId xmlns:a16="http://schemas.microsoft.com/office/drawing/2014/main" id="{CFB05EF4-F810-021F-75E7-EC64717481BD}"/>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52</a:t>
            </a:fld>
            <a:endParaRPr lang="fr-CA" dirty="0">
              <a:solidFill>
                <a:prstClr val="black">
                  <a:tint val="75000"/>
                </a:prstClr>
              </a:solidFill>
            </a:endParaRPr>
          </a:p>
        </p:txBody>
      </p:sp>
    </p:spTree>
    <p:extLst>
      <p:ext uri="{BB962C8B-B14F-4D97-AF65-F5344CB8AC3E}">
        <p14:creationId xmlns:p14="http://schemas.microsoft.com/office/powerpoint/2010/main" val="9756897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p:txBody>
          <a:bodyPr>
            <a:normAutofit/>
          </a:bodyPr>
          <a:lstStyle/>
          <a:p>
            <a:r>
              <a:rPr lang="fr-CA" sz="4000" dirty="0"/>
              <a:t>Conclusion – Séance 5</a:t>
            </a:r>
          </a:p>
        </p:txBody>
      </p:sp>
      <p:sp>
        <p:nvSpPr>
          <p:cNvPr id="6" name="Rectangle à coins arrondis 5"/>
          <p:cNvSpPr/>
          <p:nvPr>
            <p:custDataLst>
              <p:tags r:id="rId3"/>
            </p:custDataLst>
          </p:nvPr>
        </p:nvSpPr>
        <p:spPr>
          <a:xfrm>
            <a:off x="1790711" y="2974032"/>
            <a:ext cx="2520280" cy="1944216"/>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b="1">
                <a:solidFill>
                  <a:schemeClr val="tx1"/>
                </a:solidFill>
              </a:rPr>
              <a:t>Le coût de revient d’un produit</a:t>
            </a:r>
          </a:p>
        </p:txBody>
      </p:sp>
      <p:cxnSp>
        <p:nvCxnSpPr>
          <p:cNvPr id="8" name="Connecteur droit avec flèche 7"/>
          <p:cNvCxnSpPr>
            <a:stCxn id="6" idx="3"/>
            <a:endCxn id="19" idx="1"/>
          </p:cNvCxnSpPr>
          <p:nvPr>
            <p:custDataLst>
              <p:tags r:id="rId4"/>
            </p:custDataLst>
          </p:nvPr>
        </p:nvCxnSpPr>
        <p:spPr>
          <a:xfrm>
            <a:off x="4310991" y="3946140"/>
            <a:ext cx="1405662" cy="69636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 name="ZoneTexte 8"/>
          <p:cNvSpPr txBox="1"/>
          <p:nvPr>
            <p:custDataLst>
              <p:tags r:id="rId5"/>
            </p:custDataLst>
          </p:nvPr>
        </p:nvSpPr>
        <p:spPr>
          <a:xfrm>
            <a:off x="4310991" y="2528315"/>
            <a:ext cx="936104" cy="369332"/>
          </a:xfrm>
          <a:prstGeom prst="rect">
            <a:avLst/>
          </a:prstGeom>
          <a:noFill/>
        </p:spPr>
        <p:txBody>
          <a:bodyPr wrap="square" rtlCol="0">
            <a:spAutoFit/>
          </a:bodyPr>
          <a:lstStyle/>
          <a:p>
            <a:r>
              <a:rPr lang="fr-CA"/>
              <a:t>Pour  </a:t>
            </a:r>
          </a:p>
        </p:txBody>
      </p:sp>
      <p:cxnSp>
        <p:nvCxnSpPr>
          <p:cNvPr id="14" name="Connecteur droit avec flèche 13"/>
          <p:cNvCxnSpPr>
            <a:cxnSpLocks/>
          </p:cNvCxnSpPr>
          <p:nvPr>
            <p:custDataLst>
              <p:tags r:id="rId6"/>
            </p:custDataLst>
          </p:nvPr>
        </p:nvCxnSpPr>
        <p:spPr>
          <a:xfrm flipV="1">
            <a:off x="4310991" y="2113928"/>
            <a:ext cx="1278895" cy="161294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8" name="ZoneTexte 17"/>
          <p:cNvSpPr txBox="1"/>
          <p:nvPr>
            <p:custDataLst>
              <p:tags r:id="rId7"/>
            </p:custDataLst>
          </p:nvPr>
        </p:nvSpPr>
        <p:spPr>
          <a:xfrm>
            <a:off x="4310991" y="4800862"/>
            <a:ext cx="1152128" cy="369332"/>
          </a:xfrm>
          <a:prstGeom prst="rect">
            <a:avLst/>
          </a:prstGeom>
          <a:noFill/>
        </p:spPr>
        <p:txBody>
          <a:bodyPr wrap="square" rtlCol="0">
            <a:spAutoFit/>
          </a:bodyPr>
          <a:lstStyle/>
          <a:p>
            <a:pPr algn="ctr"/>
            <a:r>
              <a:rPr lang="fr-CA" dirty="0"/>
              <a:t>Comment  </a:t>
            </a:r>
          </a:p>
        </p:txBody>
      </p:sp>
      <p:sp>
        <p:nvSpPr>
          <p:cNvPr id="19" name="ZoneTexte 18"/>
          <p:cNvSpPr txBox="1"/>
          <p:nvPr>
            <p:custDataLst>
              <p:tags r:id="rId8"/>
            </p:custDataLst>
          </p:nvPr>
        </p:nvSpPr>
        <p:spPr>
          <a:xfrm>
            <a:off x="5716653" y="3303678"/>
            <a:ext cx="5246621" cy="2677656"/>
          </a:xfrm>
          <a:prstGeom prst="rect">
            <a:avLst/>
          </a:prstGeom>
          <a:noFill/>
        </p:spPr>
        <p:txBody>
          <a:bodyPr wrap="square" rtlCol="0">
            <a:spAutoFit/>
          </a:bodyPr>
          <a:lstStyle/>
          <a:p>
            <a:r>
              <a:rPr lang="fr-CA" sz="2400" b="1" dirty="0"/>
              <a:t>Comprendre le comportement des coûts indirects (FGF) </a:t>
            </a:r>
          </a:p>
          <a:p>
            <a:endParaRPr lang="fr-CA" sz="2400" dirty="0"/>
          </a:p>
          <a:p>
            <a:r>
              <a:rPr lang="fr-CA" sz="2400" b="1" dirty="0"/>
              <a:t>Méthode de l’imputation </a:t>
            </a:r>
          </a:p>
          <a:p>
            <a:r>
              <a:rPr lang="fr-CA" sz="2400" dirty="0"/>
              <a:t>Repose sur la notion de centres de coûts</a:t>
            </a:r>
          </a:p>
          <a:p>
            <a:pPr marL="342900" indent="-342900">
              <a:buFont typeface="Arial" panose="020B0604020202020204" pitchFamily="34" charset="0"/>
              <a:buChar char="•"/>
            </a:pPr>
            <a:r>
              <a:rPr lang="fr-CA" sz="2400" dirty="0"/>
              <a:t>Un seul centre de coûts</a:t>
            </a:r>
          </a:p>
          <a:p>
            <a:pPr marL="342900" indent="-342900">
              <a:buFont typeface="Arial" panose="020B0604020202020204" pitchFamily="34" charset="0"/>
              <a:buChar char="•"/>
            </a:pPr>
            <a:r>
              <a:rPr lang="fr-CA" sz="2400" dirty="0"/>
              <a:t>Plusieurs centres de coûts</a:t>
            </a:r>
          </a:p>
        </p:txBody>
      </p:sp>
      <p:sp>
        <p:nvSpPr>
          <p:cNvPr id="12" name="ZoneTexte 11"/>
          <p:cNvSpPr txBox="1"/>
          <p:nvPr>
            <p:custDataLst>
              <p:tags r:id="rId9"/>
            </p:custDataLst>
          </p:nvPr>
        </p:nvSpPr>
        <p:spPr>
          <a:xfrm>
            <a:off x="5716653" y="1725261"/>
            <a:ext cx="4752528" cy="830997"/>
          </a:xfrm>
          <a:prstGeom prst="rect">
            <a:avLst/>
          </a:prstGeom>
          <a:noFill/>
        </p:spPr>
        <p:txBody>
          <a:bodyPr wrap="square" rtlCol="0">
            <a:spAutoFit/>
          </a:bodyPr>
          <a:lstStyle/>
          <a:p>
            <a:r>
              <a:rPr lang="fr-CA" sz="2400" dirty="0"/>
              <a:t>Calculer la rentabilité des produits</a:t>
            </a:r>
          </a:p>
          <a:p>
            <a:r>
              <a:rPr lang="fr-CA" sz="2400" dirty="0"/>
              <a:t>Gérer les coûts</a:t>
            </a:r>
          </a:p>
        </p:txBody>
      </p:sp>
      <p:sp>
        <p:nvSpPr>
          <p:cNvPr id="4" name="Espace réservé du pied de page 6">
            <a:extLst>
              <a:ext uri="{FF2B5EF4-FFF2-40B4-BE49-F238E27FC236}">
                <a16:creationId xmlns:a16="http://schemas.microsoft.com/office/drawing/2014/main" id="{C2639378-FA94-E127-EE2A-771BF3BB77A3}"/>
              </a:ext>
            </a:extLst>
          </p:cNvPr>
          <p:cNvSpPr>
            <a:spLocks noGrp="1"/>
          </p:cNvSpPr>
          <p:nvPr>
            <p:ph type="ftr" sz="quarter" idx="11"/>
            <p:custDataLst>
              <p:tags r:id="rId10"/>
            </p:custDataLst>
          </p:nvPr>
        </p:nvSpPr>
        <p:spPr>
          <a:xfrm>
            <a:off x="4843754" y="6481831"/>
            <a:ext cx="2504492" cy="303343"/>
          </a:xfrm>
        </p:spPr>
        <p:txBody>
          <a:bodyPr/>
          <a:lstStyle/>
          <a:p>
            <a:pPr algn="ctr"/>
            <a:r>
              <a:rPr lang="pt-BR">
                <a:solidFill>
                  <a:prstClr val="black">
                    <a:tint val="75000"/>
                  </a:prstClr>
                </a:solidFill>
              </a:rPr>
              <a:t>(c) 10904 / S05</a:t>
            </a:r>
            <a:endParaRPr lang="fr-CA" dirty="0">
              <a:solidFill>
                <a:prstClr val="black">
                  <a:tint val="75000"/>
                </a:prstClr>
              </a:solidFill>
            </a:endParaRPr>
          </a:p>
        </p:txBody>
      </p:sp>
      <p:sp>
        <p:nvSpPr>
          <p:cNvPr id="5" name="Espace réservé du numéro de diapositive 2">
            <a:extLst>
              <a:ext uri="{FF2B5EF4-FFF2-40B4-BE49-F238E27FC236}">
                <a16:creationId xmlns:a16="http://schemas.microsoft.com/office/drawing/2014/main" id="{72D84A65-A83A-7F7D-814B-EBC66019C9A4}"/>
              </a:ext>
            </a:extLst>
          </p:cNvPr>
          <p:cNvSpPr>
            <a:spLocks noGrp="1"/>
          </p:cNvSpPr>
          <p:nvPr>
            <p:ph type="sldNum" sz="quarter" idx="12"/>
            <p:custDataLst>
              <p:tags r:id="rId11"/>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53</a:t>
            </a:fld>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31122146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3AE72-BED2-3AE5-07BC-EF476306249A}"/>
              </a:ext>
            </a:extLst>
          </p:cNvPr>
          <p:cNvSpPr>
            <a:spLocks noGrp="1"/>
          </p:cNvSpPr>
          <p:nvPr>
            <p:ph type="title"/>
            <p:custDataLst>
              <p:tags r:id="rId1"/>
            </p:custDataLst>
          </p:nvPr>
        </p:nvSpPr>
        <p:spPr/>
        <p:txBody>
          <a:bodyPr>
            <a:normAutofit/>
          </a:bodyPr>
          <a:lstStyle/>
          <a:p>
            <a:r>
              <a:rPr lang="en-US" sz="4400">
                <a:solidFill>
                  <a:schemeClr val="tx2"/>
                </a:solidFill>
                <a:cs typeface="Poppins" pitchFamily="2" charset="77"/>
              </a:rPr>
              <a:t>QUESTIONS…</a:t>
            </a:r>
            <a:endParaRPr lang="fr-CA"/>
          </a:p>
        </p:txBody>
      </p:sp>
      <p:grpSp>
        <p:nvGrpSpPr>
          <p:cNvPr id="6" name="Group 138">
            <a:extLst>
              <a:ext uri="{FF2B5EF4-FFF2-40B4-BE49-F238E27FC236}">
                <a16:creationId xmlns:a16="http://schemas.microsoft.com/office/drawing/2014/main" id="{65046B40-4C17-4CB6-AFE9-AB12062D9A63}"/>
              </a:ext>
            </a:extLst>
          </p:cNvPr>
          <p:cNvGrpSpPr/>
          <p:nvPr>
            <p:custDataLst>
              <p:tags r:id="rId2"/>
            </p:custDataLst>
          </p:nvPr>
        </p:nvGrpSpPr>
        <p:grpSpPr>
          <a:xfrm>
            <a:off x="9280493" y="2303889"/>
            <a:ext cx="2068927" cy="2939891"/>
            <a:chOff x="8704441" y="2571694"/>
            <a:chExt cx="7028256" cy="10385705"/>
          </a:xfrm>
        </p:grpSpPr>
        <p:sp>
          <p:nvSpPr>
            <p:cNvPr id="7" name="Shape 34173">
              <a:extLst>
                <a:ext uri="{FF2B5EF4-FFF2-40B4-BE49-F238E27FC236}">
                  <a16:creationId xmlns:a16="http://schemas.microsoft.com/office/drawing/2014/main" id="{976C004C-1D4C-6265-7CAA-36D0B3554743}"/>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8" name="Shape 34174">
              <a:extLst>
                <a:ext uri="{FF2B5EF4-FFF2-40B4-BE49-F238E27FC236}">
                  <a16:creationId xmlns:a16="http://schemas.microsoft.com/office/drawing/2014/main" id="{C4BF05D4-B682-FD65-42DA-A04AFFE28DC3}"/>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 name="Shape 34175">
              <a:extLst>
                <a:ext uri="{FF2B5EF4-FFF2-40B4-BE49-F238E27FC236}">
                  <a16:creationId xmlns:a16="http://schemas.microsoft.com/office/drawing/2014/main" id="{C9712020-E217-2295-A8BA-E42FE748FCC5}"/>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0" name="Shape 34176">
              <a:extLst>
                <a:ext uri="{FF2B5EF4-FFF2-40B4-BE49-F238E27FC236}">
                  <a16:creationId xmlns:a16="http://schemas.microsoft.com/office/drawing/2014/main" id="{AAF18868-B068-9C4F-8960-CB0D5A467E25}"/>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1" name="Shape 34177">
              <a:extLst>
                <a:ext uri="{FF2B5EF4-FFF2-40B4-BE49-F238E27FC236}">
                  <a16:creationId xmlns:a16="http://schemas.microsoft.com/office/drawing/2014/main" id="{E801DEDF-A984-AAEF-46E7-EC60B0FDD754}"/>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2" name="Shape 34178">
              <a:extLst>
                <a:ext uri="{FF2B5EF4-FFF2-40B4-BE49-F238E27FC236}">
                  <a16:creationId xmlns:a16="http://schemas.microsoft.com/office/drawing/2014/main" id="{BD91ED27-C937-F3A7-A98F-9F30D5337FE1}"/>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3" name="Shape 34179">
              <a:extLst>
                <a:ext uri="{FF2B5EF4-FFF2-40B4-BE49-F238E27FC236}">
                  <a16:creationId xmlns:a16="http://schemas.microsoft.com/office/drawing/2014/main" id="{CE42E4FB-FD68-9A56-DB60-45D4D1F6DEE8}"/>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4" name="Shape 34180">
              <a:extLst>
                <a:ext uri="{FF2B5EF4-FFF2-40B4-BE49-F238E27FC236}">
                  <a16:creationId xmlns:a16="http://schemas.microsoft.com/office/drawing/2014/main" id="{0FD9EA42-B916-E428-7847-39A0ED7419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5" name="Shape 34181">
              <a:extLst>
                <a:ext uri="{FF2B5EF4-FFF2-40B4-BE49-F238E27FC236}">
                  <a16:creationId xmlns:a16="http://schemas.microsoft.com/office/drawing/2014/main" id="{E8D68D33-D5CF-E622-C836-662EFC5E2A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6" name="Shape 34182">
              <a:extLst>
                <a:ext uri="{FF2B5EF4-FFF2-40B4-BE49-F238E27FC236}">
                  <a16:creationId xmlns:a16="http://schemas.microsoft.com/office/drawing/2014/main" id="{8CFECFFB-6EA8-A430-AED5-7E65407DD4A5}"/>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7" name="Shape 34183">
              <a:extLst>
                <a:ext uri="{FF2B5EF4-FFF2-40B4-BE49-F238E27FC236}">
                  <a16:creationId xmlns:a16="http://schemas.microsoft.com/office/drawing/2014/main" id="{617F6296-7E21-A175-05EE-8707F53A6F39}"/>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8" name="Shape 34184">
              <a:extLst>
                <a:ext uri="{FF2B5EF4-FFF2-40B4-BE49-F238E27FC236}">
                  <a16:creationId xmlns:a16="http://schemas.microsoft.com/office/drawing/2014/main" id="{4F91F915-B70C-3DFB-2DED-CD2D0C36EDD4}"/>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9" name="Shape 34185">
              <a:extLst>
                <a:ext uri="{FF2B5EF4-FFF2-40B4-BE49-F238E27FC236}">
                  <a16:creationId xmlns:a16="http://schemas.microsoft.com/office/drawing/2014/main" id="{F029D3C9-BD86-97DA-B294-D36F5FDE4428}"/>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0" name="Shape 34186">
              <a:extLst>
                <a:ext uri="{FF2B5EF4-FFF2-40B4-BE49-F238E27FC236}">
                  <a16:creationId xmlns:a16="http://schemas.microsoft.com/office/drawing/2014/main" id="{F5B7275A-6FAF-B24A-A685-47C4A6EE1FA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1" name="Shape 34187">
              <a:extLst>
                <a:ext uri="{FF2B5EF4-FFF2-40B4-BE49-F238E27FC236}">
                  <a16:creationId xmlns:a16="http://schemas.microsoft.com/office/drawing/2014/main" id="{EAAF3EFF-FA3D-D6EE-8564-5186B15CA88F}"/>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2" name="Shape 34188">
              <a:extLst>
                <a:ext uri="{FF2B5EF4-FFF2-40B4-BE49-F238E27FC236}">
                  <a16:creationId xmlns:a16="http://schemas.microsoft.com/office/drawing/2014/main" id="{749F9356-4688-F55D-7BA7-4D414600925A}"/>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3" name="Shape 34189">
              <a:extLst>
                <a:ext uri="{FF2B5EF4-FFF2-40B4-BE49-F238E27FC236}">
                  <a16:creationId xmlns:a16="http://schemas.microsoft.com/office/drawing/2014/main" id="{ACF42464-8277-7FE7-BFF9-60BD9A71C304}"/>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4" name="Shape 34190">
              <a:extLst>
                <a:ext uri="{FF2B5EF4-FFF2-40B4-BE49-F238E27FC236}">
                  <a16:creationId xmlns:a16="http://schemas.microsoft.com/office/drawing/2014/main" id="{1CB0601C-E813-F143-49E8-AF8089764FF4}"/>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5" name="Shape 34191">
              <a:extLst>
                <a:ext uri="{FF2B5EF4-FFF2-40B4-BE49-F238E27FC236}">
                  <a16:creationId xmlns:a16="http://schemas.microsoft.com/office/drawing/2014/main" id="{AC9455CF-AF30-DE16-2774-5F4D082B38B0}"/>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6" name="Shape 34192">
              <a:extLst>
                <a:ext uri="{FF2B5EF4-FFF2-40B4-BE49-F238E27FC236}">
                  <a16:creationId xmlns:a16="http://schemas.microsoft.com/office/drawing/2014/main" id="{7C569921-7480-9A44-8C2E-A5B0ED448F0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7" name="Shape 34193">
              <a:extLst>
                <a:ext uri="{FF2B5EF4-FFF2-40B4-BE49-F238E27FC236}">
                  <a16:creationId xmlns:a16="http://schemas.microsoft.com/office/drawing/2014/main" id="{A5E3F977-180A-3643-419D-57AED242F69C}"/>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28" name="Shape 34194">
              <a:extLst>
                <a:ext uri="{FF2B5EF4-FFF2-40B4-BE49-F238E27FC236}">
                  <a16:creationId xmlns:a16="http://schemas.microsoft.com/office/drawing/2014/main" id="{8654F068-3931-E6FE-A770-5E45CA727A66}"/>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9" name="Shape 34195">
              <a:extLst>
                <a:ext uri="{FF2B5EF4-FFF2-40B4-BE49-F238E27FC236}">
                  <a16:creationId xmlns:a16="http://schemas.microsoft.com/office/drawing/2014/main" id="{F32529DE-7723-A9F9-7F05-07E940417709}"/>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0" name="Shape 34196">
              <a:extLst>
                <a:ext uri="{FF2B5EF4-FFF2-40B4-BE49-F238E27FC236}">
                  <a16:creationId xmlns:a16="http://schemas.microsoft.com/office/drawing/2014/main" id="{99B49F4A-C995-B73F-E19A-B307302678CD}"/>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31" name="Shape 34197">
              <a:extLst>
                <a:ext uri="{FF2B5EF4-FFF2-40B4-BE49-F238E27FC236}">
                  <a16:creationId xmlns:a16="http://schemas.microsoft.com/office/drawing/2014/main" id="{E619B2D8-F6BD-8A7E-5EDA-D68C2CA0C3AC}"/>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2" name="Shape 34198">
              <a:extLst>
                <a:ext uri="{FF2B5EF4-FFF2-40B4-BE49-F238E27FC236}">
                  <a16:creationId xmlns:a16="http://schemas.microsoft.com/office/drawing/2014/main" id="{288C06A0-5E60-7FBA-5163-8D0A4E6E9A8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3" name="Shape 34199">
              <a:extLst>
                <a:ext uri="{FF2B5EF4-FFF2-40B4-BE49-F238E27FC236}">
                  <a16:creationId xmlns:a16="http://schemas.microsoft.com/office/drawing/2014/main" id="{49A32E76-801E-A843-8779-81977240544F}"/>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4" name="Shape 34200">
              <a:extLst>
                <a:ext uri="{FF2B5EF4-FFF2-40B4-BE49-F238E27FC236}">
                  <a16:creationId xmlns:a16="http://schemas.microsoft.com/office/drawing/2014/main" id="{3E5F91B2-B048-5BFE-5A85-82F92FA7CB84}"/>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5" name="Shape 34201">
              <a:extLst>
                <a:ext uri="{FF2B5EF4-FFF2-40B4-BE49-F238E27FC236}">
                  <a16:creationId xmlns:a16="http://schemas.microsoft.com/office/drawing/2014/main" id="{84AE006D-A898-C300-EAA5-3A5274B9B64F}"/>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6" name="Shape 34202">
              <a:extLst>
                <a:ext uri="{FF2B5EF4-FFF2-40B4-BE49-F238E27FC236}">
                  <a16:creationId xmlns:a16="http://schemas.microsoft.com/office/drawing/2014/main" id="{3627F16C-6922-1C8F-7FFA-A69F5B9480C3}"/>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7" name="Shape 34203">
              <a:extLst>
                <a:ext uri="{FF2B5EF4-FFF2-40B4-BE49-F238E27FC236}">
                  <a16:creationId xmlns:a16="http://schemas.microsoft.com/office/drawing/2014/main" id="{C0A6D04B-B571-CC97-4DA2-9B277FA71F2B}"/>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8" name="Shape 34204">
              <a:extLst>
                <a:ext uri="{FF2B5EF4-FFF2-40B4-BE49-F238E27FC236}">
                  <a16:creationId xmlns:a16="http://schemas.microsoft.com/office/drawing/2014/main" id="{B63486CF-8FD4-F19D-BEE7-B03A257609F9}"/>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9" name="Shape 34205">
              <a:extLst>
                <a:ext uri="{FF2B5EF4-FFF2-40B4-BE49-F238E27FC236}">
                  <a16:creationId xmlns:a16="http://schemas.microsoft.com/office/drawing/2014/main" id="{9B6154D4-4161-7162-8EA2-5A7C854A42F3}"/>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0" name="Shape 34206">
              <a:extLst>
                <a:ext uri="{FF2B5EF4-FFF2-40B4-BE49-F238E27FC236}">
                  <a16:creationId xmlns:a16="http://schemas.microsoft.com/office/drawing/2014/main" id="{4817CE05-AE16-2CD7-A719-FF48D57D7109}"/>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1" name="Shape 34207">
              <a:extLst>
                <a:ext uri="{FF2B5EF4-FFF2-40B4-BE49-F238E27FC236}">
                  <a16:creationId xmlns:a16="http://schemas.microsoft.com/office/drawing/2014/main" id="{9C0589CC-1AA8-EC0E-98E1-6EEF8B13A41E}"/>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2" name="Shape 34208">
              <a:extLst>
                <a:ext uri="{FF2B5EF4-FFF2-40B4-BE49-F238E27FC236}">
                  <a16:creationId xmlns:a16="http://schemas.microsoft.com/office/drawing/2014/main" id="{2B002F80-8F42-1F8C-9D53-E0E308DF3F05}"/>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3" name="Shape 34209">
              <a:extLst>
                <a:ext uri="{FF2B5EF4-FFF2-40B4-BE49-F238E27FC236}">
                  <a16:creationId xmlns:a16="http://schemas.microsoft.com/office/drawing/2014/main" id="{E04824C3-FDEF-BB7D-0D7D-4B2DEBD11EDA}"/>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4" name="Shape 34210">
              <a:extLst>
                <a:ext uri="{FF2B5EF4-FFF2-40B4-BE49-F238E27FC236}">
                  <a16:creationId xmlns:a16="http://schemas.microsoft.com/office/drawing/2014/main" id="{60A3E3D8-357B-9865-5ED6-C9C8DD99A5EB}"/>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5" name="Shape 34211">
              <a:extLst>
                <a:ext uri="{FF2B5EF4-FFF2-40B4-BE49-F238E27FC236}">
                  <a16:creationId xmlns:a16="http://schemas.microsoft.com/office/drawing/2014/main" id="{76DFA2CB-312D-1730-47C1-A020896FA28B}"/>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6" name="Shape 34212">
              <a:extLst>
                <a:ext uri="{FF2B5EF4-FFF2-40B4-BE49-F238E27FC236}">
                  <a16:creationId xmlns:a16="http://schemas.microsoft.com/office/drawing/2014/main" id="{36B98C3B-D0DC-9180-4848-8BA8BF1F5BD6}"/>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7" name="Shape 34213">
              <a:extLst>
                <a:ext uri="{FF2B5EF4-FFF2-40B4-BE49-F238E27FC236}">
                  <a16:creationId xmlns:a16="http://schemas.microsoft.com/office/drawing/2014/main" id="{B2A1DF19-68C4-B39F-A4E7-2413452CD57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8" name="Shape 34214">
              <a:extLst>
                <a:ext uri="{FF2B5EF4-FFF2-40B4-BE49-F238E27FC236}">
                  <a16:creationId xmlns:a16="http://schemas.microsoft.com/office/drawing/2014/main" id="{C07477F5-13C2-0059-175D-4F8386F20BBA}"/>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9" name="Shape 34215">
              <a:extLst>
                <a:ext uri="{FF2B5EF4-FFF2-40B4-BE49-F238E27FC236}">
                  <a16:creationId xmlns:a16="http://schemas.microsoft.com/office/drawing/2014/main" id="{BF6C8EC1-4101-C1F3-59E6-2E204FC0CA3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50" name="Shape 34216">
              <a:extLst>
                <a:ext uri="{FF2B5EF4-FFF2-40B4-BE49-F238E27FC236}">
                  <a16:creationId xmlns:a16="http://schemas.microsoft.com/office/drawing/2014/main" id="{22BE5295-7E6B-EBE3-6379-0FE69A700146}"/>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51" name="Shape 34217">
              <a:extLst>
                <a:ext uri="{FF2B5EF4-FFF2-40B4-BE49-F238E27FC236}">
                  <a16:creationId xmlns:a16="http://schemas.microsoft.com/office/drawing/2014/main" id="{7669BB95-B65F-80FF-F5E3-D558A71D186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2" name="Shape 34218">
              <a:extLst>
                <a:ext uri="{FF2B5EF4-FFF2-40B4-BE49-F238E27FC236}">
                  <a16:creationId xmlns:a16="http://schemas.microsoft.com/office/drawing/2014/main" id="{ECD0EFAE-D165-C2EA-4152-E736B90B1620}"/>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3" name="Shape 34219">
              <a:extLst>
                <a:ext uri="{FF2B5EF4-FFF2-40B4-BE49-F238E27FC236}">
                  <a16:creationId xmlns:a16="http://schemas.microsoft.com/office/drawing/2014/main" id="{0C66A6C3-63D2-F0BA-F015-61AAA11211DC}"/>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4" name="Shape 34220">
              <a:extLst>
                <a:ext uri="{FF2B5EF4-FFF2-40B4-BE49-F238E27FC236}">
                  <a16:creationId xmlns:a16="http://schemas.microsoft.com/office/drawing/2014/main" id="{23AEB80C-7CCE-CCB6-29CA-778624C78CFC}"/>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5" name="Shape 34221">
              <a:extLst>
                <a:ext uri="{FF2B5EF4-FFF2-40B4-BE49-F238E27FC236}">
                  <a16:creationId xmlns:a16="http://schemas.microsoft.com/office/drawing/2014/main" id="{81701DFC-595E-9A3F-2738-AAA1A24AA083}"/>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6" name="Shape 34222">
              <a:extLst>
                <a:ext uri="{FF2B5EF4-FFF2-40B4-BE49-F238E27FC236}">
                  <a16:creationId xmlns:a16="http://schemas.microsoft.com/office/drawing/2014/main" id="{513F8701-84F3-14BA-ACF0-EF60A80D05EA}"/>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7" name="Shape 34223">
              <a:extLst>
                <a:ext uri="{FF2B5EF4-FFF2-40B4-BE49-F238E27FC236}">
                  <a16:creationId xmlns:a16="http://schemas.microsoft.com/office/drawing/2014/main" id="{669F5F77-ADD6-B162-0166-D72EC8E7733A}"/>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8" name="Shape 34224">
              <a:extLst>
                <a:ext uri="{FF2B5EF4-FFF2-40B4-BE49-F238E27FC236}">
                  <a16:creationId xmlns:a16="http://schemas.microsoft.com/office/drawing/2014/main" id="{2A34FEB1-6A68-6F25-3685-1694CE12D101}"/>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9" name="Shape 34225">
              <a:extLst>
                <a:ext uri="{FF2B5EF4-FFF2-40B4-BE49-F238E27FC236}">
                  <a16:creationId xmlns:a16="http://schemas.microsoft.com/office/drawing/2014/main" id="{3490BBCE-C5D5-7B6E-7A00-797D8846355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0" name="Shape 34226">
              <a:extLst>
                <a:ext uri="{FF2B5EF4-FFF2-40B4-BE49-F238E27FC236}">
                  <a16:creationId xmlns:a16="http://schemas.microsoft.com/office/drawing/2014/main" id="{040F01A4-33AF-01A6-4535-A8F83A4719EC}"/>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1" name="Shape 34227">
              <a:extLst>
                <a:ext uri="{FF2B5EF4-FFF2-40B4-BE49-F238E27FC236}">
                  <a16:creationId xmlns:a16="http://schemas.microsoft.com/office/drawing/2014/main" id="{593658B6-C5DC-4C6D-EC98-B91FDF4F85E8}"/>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62" name="Shape 34228">
              <a:extLst>
                <a:ext uri="{FF2B5EF4-FFF2-40B4-BE49-F238E27FC236}">
                  <a16:creationId xmlns:a16="http://schemas.microsoft.com/office/drawing/2014/main" id="{F6804CB1-81F7-5B73-8ADE-F08C0DD65D63}"/>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3" name="Shape 34229">
              <a:extLst>
                <a:ext uri="{FF2B5EF4-FFF2-40B4-BE49-F238E27FC236}">
                  <a16:creationId xmlns:a16="http://schemas.microsoft.com/office/drawing/2014/main" id="{31B00120-41F5-991C-5B45-38DCF9E6593E}"/>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4" name="Shape 34230">
              <a:extLst>
                <a:ext uri="{FF2B5EF4-FFF2-40B4-BE49-F238E27FC236}">
                  <a16:creationId xmlns:a16="http://schemas.microsoft.com/office/drawing/2014/main" id="{F21EEEC0-ED3C-D255-F30B-AFF4394368E9}"/>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5" name="Shape 34231">
              <a:extLst>
                <a:ext uri="{FF2B5EF4-FFF2-40B4-BE49-F238E27FC236}">
                  <a16:creationId xmlns:a16="http://schemas.microsoft.com/office/drawing/2014/main" id="{35403DDE-DDDF-A4A3-8574-550FC2348FA0}"/>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6" name="Shape 34232">
              <a:extLst>
                <a:ext uri="{FF2B5EF4-FFF2-40B4-BE49-F238E27FC236}">
                  <a16:creationId xmlns:a16="http://schemas.microsoft.com/office/drawing/2014/main" id="{8F61DD08-9B59-C4E5-5769-A748751A1BA9}"/>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7" name="Shape 34233">
              <a:extLst>
                <a:ext uri="{FF2B5EF4-FFF2-40B4-BE49-F238E27FC236}">
                  <a16:creationId xmlns:a16="http://schemas.microsoft.com/office/drawing/2014/main" id="{F426EA7D-907F-BA9B-E5E7-313BEA0B053D}"/>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8" name="Shape 34234">
              <a:extLst>
                <a:ext uri="{FF2B5EF4-FFF2-40B4-BE49-F238E27FC236}">
                  <a16:creationId xmlns:a16="http://schemas.microsoft.com/office/drawing/2014/main" id="{5C22217F-FD1E-F18B-FF4B-82567CE5DCA1}"/>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9" name="Shape 34235">
              <a:extLst>
                <a:ext uri="{FF2B5EF4-FFF2-40B4-BE49-F238E27FC236}">
                  <a16:creationId xmlns:a16="http://schemas.microsoft.com/office/drawing/2014/main" id="{BCDA1780-5369-5563-0622-D61A54BEC2DF}"/>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0" name="Shape 34236">
              <a:extLst>
                <a:ext uri="{FF2B5EF4-FFF2-40B4-BE49-F238E27FC236}">
                  <a16:creationId xmlns:a16="http://schemas.microsoft.com/office/drawing/2014/main" id="{E9CF551E-55FB-2B85-2131-C5F843088F7F}"/>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1" name="Shape 34237">
              <a:extLst>
                <a:ext uri="{FF2B5EF4-FFF2-40B4-BE49-F238E27FC236}">
                  <a16:creationId xmlns:a16="http://schemas.microsoft.com/office/drawing/2014/main" id="{FFACF437-3B44-946E-27E7-90C32C4D78CF}"/>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2" name="Shape 34238">
              <a:extLst>
                <a:ext uri="{FF2B5EF4-FFF2-40B4-BE49-F238E27FC236}">
                  <a16:creationId xmlns:a16="http://schemas.microsoft.com/office/drawing/2014/main" id="{46C4E1FE-4F6F-924C-4B5B-0696E855EB77}"/>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3" name="Shape 34239">
              <a:extLst>
                <a:ext uri="{FF2B5EF4-FFF2-40B4-BE49-F238E27FC236}">
                  <a16:creationId xmlns:a16="http://schemas.microsoft.com/office/drawing/2014/main" id="{D185878E-FF18-4A20-B9EE-176068B979C5}"/>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4" name="Shape 34240">
              <a:extLst>
                <a:ext uri="{FF2B5EF4-FFF2-40B4-BE49-F238E27FC236}">
                  <a16:creationId xmlns:a16="http://schemas.microsoft.com/office/drawing/2014/main" id="{D93BD9D1-EEA1-0D4F-8600-3F3153A93B6C}"/>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5" name="Shape 34241">
              <a:extLst>
                <a:ext uri="{FF2B5EF4-FFF2-40B4-BE49-F238E27FC236}">
                  <a16:creationId xmlns:a16="http://schemas.microsoft.com/office/drawing/2014/main" id="{D7E296EA-B791-A4EA-1153-80795F3A152B}"/>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6" name="Shape 34242">
              <a:extLst>
                <a:ext uri="{FF2B5EF4-FFF2-40B4-BE49-F238E27FC236}">
                  <a16:creationId xmlns:a16="http://schemas.microsoft.com/office/drawing/2014/main" id="{7BD1DB59-0745-31CF-1150-1C2BA96B3818}"/>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7" name="Shape 34243">
              <a:extLst>
                <a:ext uri="{FF2B5EF4-FFF2-40B4-BE49-F238E27FC236}">
                  <a16:creationId xmlns:a16="http://schemas.microsoft.com/office/drawing/2014/main" id="{859A2A30-578E-E0CF-9B88-4D0BBC19E5F0}"/>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8" name="Shape 34244">
              <a:extLst>
                <a:ext uri="{FF2B5EF4-FFF2-40B4-BE49-F238E27FC236}">
                  <a16:creationId xmlns:a16="http://schemas.microsoft.com/office/drawing/2014/main" id="{829F2089-03A8-EB09-9794-C58301A25377}"/>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9" name="Shape 34245">
              <a:extLst>
                <a:ext uri="{FF2B5EF4-FFF2-40B4-BE49-F238E27FC236}">
                  <a16:creationId xmlns:a16="http://schemas.microsoft.com/office/drawing/2014/main" id="{5EF4459E-AC23-C524-D870-8EAA6CA4506F}"/>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0" name="Shape 34246">
              <a:extLst>
                <a:ext uri="{FF2B5EF4-FFF2-40B4-BE49-F238E27FC236}">
                  <a16:creationId xmlns:a16="http://schemas.microsoft.com/office/drawing/2014/main" id="{A49966BE-49C2-2E0B-DF00-BE6046DA1688}"/>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1" name="Shape 34247">
              <a:extLst>
                <a:ext uri="{FF2B5EF4-FFF2-40B4-BE49-F238E27FC236}">
                  <a16:creationId xmlns:a16="http://schemas.microsoft.com/office/drawing/2014/main" id="{55D230AC-EDAC-D177-985F-928BDF840C57}"/>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82" name="Shape 34248">
              <a:extLst>
                <a:ext uri="{FF2B5EF4-FFF2-40B4-BE49-F238E27FC236}">
                  <a16:creationId xmlns:a16="http://schemas.microsoft.com/office/drawing/2014/main" id="{1F148CBC-8AA1-BE4E-E118-503C7C297140}"/>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3" name="Shape 34249">
              <a:extLst>
                <a:ext uri="{FF2B5EF4-FFF2-40B4-BE49-F238E27FC236}">
                  <a16:creationId xmlns:a16="http://schemas.microsoft.com/office/drawing/2014/main" id="{A6803C7B-FD14-9001-B985-748E17C421AA}"/>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4" name="Shape 34250">
              <a:extLst>
                <a:ext uri="{FF2B5EF4-FFF2-40B4-BE49-F238E27FC236}">
                  <a16:creationId xmlns:a16="http://schemas.microsoft.com/office/drawing/2014/main" id="{F54ECFE8-A0DD-BE50-2B8A-AEC375164636}"/>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5" name="Shape 34251">
              <a:extLst>
                <a:ext uri="{FF2B5EF4-FFF2-40B4-BE49-F238E27FC236}">
                  <a16:creationId xmlns:a16="http://schemas.microsoft.com/office/drawing/2014/main" id="{F5DA6B52-A364-0343-A021-D1AD7A5B786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6" name="Shape 34252">
              <a:extLst>
                <a:ext uri="{FF2B5EF4-FFF2-40B4-BE49-F238E27FC236}">
                  <a16:creationId xmlns:a16="http://schemas.microsoft.com/office/drawing/2014/main" id="{E909B32D-5C04-1B0F-7C40-8D0410B8717A}"/>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87" name="Shape 34253">
              <a:extLst>
                <a:ext uri="{FF2B5EF4-FFF2-40B4-BE49-F238E27FC236}">
                  <a16:creationId xmlns:a16="http://schemas.microsoft.com/office/drawing/2014/main" id="{904C6508-E6C5-9FAB-06BA-F3F504B95C0E}"/>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8" name="Shape 34254">
              <a:extLst>
                <a:ext uri="{FF2B5EF4-FFF2-40B4-BE49-F238E27FC236}">
                  <a16:creationId xmlns:a16="http://schemas.microsoft.com/office/drawing/2014/main" id="{7C11C3C3-50EF-CD38-713D-3B82765597C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9" name="Shape 34255">
              <a:extLst>
                <a:ext uri="{FF2B5EF4-FFF2-40B4-BE49-F238E27FC236}">
                  <a16:creationId xmlns:a16="http://schemas.microsoft.com/office/drawing/2014/main" id="{DD0B73BB-9B23-85D1-08F0-A1083002F1EE}"/>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0" name="Shape 34256">
              <a:extLst>
                <a:ext uri="{FF2B5EF4-FFF2-40B4-BE49-F238E27FC236}">
                  <a16:creationId xmlns:a16="http://schemas.microsoft.com/office/drawing/2014/main" id="{DB198D26-C5BC-0B60-61A6-114E53BEA476}"/>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1" name="Shape 34257">
              <a:extLst>
                <a:ext uri="{FF2B5EF4-FFF2-40B4-BE49-F238E27FC236}">
                  <a16:creationId xmlns:a16="http://schemas.microsoft.com/office/drawing/2014/main" id="{C495D662-E4AD-8FDF-FC9F-7D24BA960269}"/>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2" name="Shape 34258">
              <a:extLst>
                <a:ext uri="{FF2B5EF4-FFF2-40B4-BE49-F238E27FC236}">
                  <a16:creationId xmlns:a16="http://schemas.microsoft.com/office/drawing/2014/main" id="{782B38B6-7885-E0FB-6B35-5977C84E5125}"/>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3" name="Shape 34259">
              <a:extLst>
                <a:ext uri="{FF2B5EF4-FFF2-40B4-BE49-F238E27FC236}">
                  <a16:creationId xmlns:a16="http://schemas.microsoft.com/office/drawing/2014/main" id="{ACEA1985-C96B-D18C-1DB4-3239D01C5DBD}"/>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4" name="Shape 34260">
              <a:extLst>
                <a:ext uri="{FF2B5EF4-FFF2-40B4-BE49-F238E27FC236}">
                  <a16:creationId xmlns:a16="http://schemas.microsoft.com/office/drawing/2014/main" id="{E2E15F41-8745-DF54-7A98-5CCD82B4B0A9}"/>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5" name="Shape 34261">
              <a:extLst>
                <a:ext uri="{FF2B5EF4-FFF2-40B4-BE49-F238E27FC236}">
                  <a16:creationId xmlns:a16="http://schemas.microsoft.com/office/drawing/2014/main" id="{2854AF16-1899-28BD-ECE5-3F50BF094ACE}"/>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6" name="Shape 34262">
              <a:extLst>
                <a:ext uri="{FF2B5EF4-FFF2-40B4-BE49-F238E27FC236}">
                  <a16:creationId xmlns:a16="http://schemas.microsoft.com/office/drawing/2014/main" id="{CBDEFF28-A355-BD1E-9EC9-71CA5C467CE0}"/>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7" name="Shape 34263">
              <a:extLst>
                <a:ext uri="{FF2B5EF4-FFF2-40B4-BE49-F238E27FC236}">
                  <a16:creationId xmlns:a16="http://schemas.microsoft.com/office/drawing/2014/main" id="{F604FEFF-8D13-1B9F-D241-E7D2AFA9209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8" name="Shape 34264">
              <a:extLst>
                <a:ext uri="{FF2B5EF4-FFF2-40B4-BE49-F238E27FC236}">
                  <a16:creationId xmlns:a16="http://schemas.microsoft.com/office/drawing/2014/main" id="{29642944-FCFB-9027-DBEB-A3DE374E30A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9" name="Shape 34265">
              <a:extLst>
                <a:ext uri="{FF2B5EF4-FFF2-40B4-BE49-F238E27FC236}">
                  <a16:creationId xmlns:a16="http://schemas.microsoft.com/office/drawing/2014/main" id="{B4AE4AFC-DE57-6193-7D6C-068A638F5DC0}"/>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grpSp>
      <p:sp>
        <p:nvSpPr>
          <p:cNvPr id="3" name="Espace réservé du numéro de diapositive 2">
            <a:extLst>
              <a:ext uri="{FF2B5EF4-FFF2-40B4-BE49-F238E27FC236}">
                <a16:creationId xmlns:a16="http://schemas.microsoft.com/office/drawing/2014/main" id="{B6974731-811D-EC37-1C72-6EAD9ADC0D9D}"/>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54</a:t>
            </a:fld>
            <a:endParaRPr lang="fr-CA" dirty="0">
              <a:solidFill>
                <a:prstClr val="black">
                  <a:tint val="75000"/>
                </a:prstClr>
              </a:solidFill>
            </a:endParaRPr>
          </a:p>
        </p:txBody>
      </p:sp>
      <p:sp>
        <p:nvSpPr>
          <p:cNvPr id="4" name="Espace réservé du pied de page 6">
            <a:extLst>
              <a:ext uri="{FF2B5EF4-FFF2-40B4-BE49-F238E27FC236}">
                <a16:creationId xmlns:a16="http://schemas.microsoft.com/office/drawing/2014/main" id="{170F5F75-F2F7-8AAE-C685-64D6E31F1DBA}"/>
              </a:ext>
            </a:extLst>
          </p:cNvPr>
          <p:cNvSpPr>
            <a:spLocks noGrp="1"/>
          </p:cNvSpPr>
          <p:nvPr>
            <p:ph type="ftr" sz="quarter" idx="11"/>
            <p:custDataLst>
              <p:tags r:id="rId4"/>
            </p:custDataLst>
          </p:nvPr>
        </p:nvSpPr>
        <p:spPr>
          <a:xfrm>
            <a:off x="4843754" y="6481831"/>
            <a:ext cx="2504492" cy="303343"/>
          </a:xfrm>
        </p:spPr>
        <p:txBody>
          <a:bodyPr/>
          <a:lstStyle/>
          <a:p>
            <a:pPr algn="ctr"/>
            <a:r>
              <a:rPr lang="pt-BR" dirty="0">
                <a:solidFill>
                  <a:prstClr val="black">
                    <a:tint val="75000"/>
                  </a:prstClr>
                </a:solidFill>
              </a:rPr>
              <a:t>(c) 10904 / S05</a:t>
            </a:r>
            <a:endParaRPr lang="fr-CA" dirty="0">
              <a:solidFill>
                <a:prstClr val="black">
                  <a:tint val="75000"/>
                </a:prstClr>
              </a:solidFill>
            </a:endParaRPr>
          </a:p>
        </p:txBody>
      </p:sp>
    </p:spTree>
    <p:extLst>
      <p:ext uri="{BB962C8B-B14F-4D97-AF65-F5344CB8AC3E}">
        <p14:creationId xmlns:p14="http://schemas.microsoft.com/office/powerpoint/2010/main" val="3099429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5"/>
</p:tagLst>
</file>

<file path=ppt/tags/tag10.xml><?xml version="1.0" encoding="utf-8"?>
<p:tagLst xmlns:a="http://schemas.openxmlformats.org/drawingml/2006/main" xmlns:r="http://schemas.openxmlformats.org/officeDocument/2006/relationships" xmlns:p="http://schemas.openxmlformats.org/presentationml/2006/main">
  <p:tag name="NUM" val="6"/>
</p:tagLst>
</file>

<file path=ppt/tags/tag11.xml><?xml version="1.0" encoding="utf-8"?>
<p:tagLst xmlns:a="http://schemas.openxmlformats.org/drawingml/2006/main" xmlns:r="http://schemas.openxmlformats.org/officeDocument/2006/relationships" xmlns:p="http://schemas.openxmlformats.org/presentationml/2006/main">
  <p:tag name="NUM" val="7"/>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5"/>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NUM" val="11"/>
</p:tagLst>
</file>

<file path=ppt/tags/tag17.xml><?xml version="1.0" encoding="utf-8"?>
<p:tagLst xmlns:a="http://schemas.openxmlformats.org/drawingml/2006/main" xmlns:r="http://schemas.openxmlformats.org/officeDocument/2006/relationships" xmlns:p="http://schemas.openxmlformats.org/presentationml/2006/main">
  <p:tag name="NUM" val="7"/>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5"/>
</p:tagLst>
</file>

<file path=ppt/tags/tag20.xml><?xml version="1.0" encoding="utf-8"?>
<p:tagLst xmlns:a="http://schemas.openxmlformats.org/drawingml/2006/main" xmlns:r="http://schemas.openxmlformats.org/officeDocument/2006/relationships" xmlns:p="http://schemas.openxmlformats.org/presentationml/2006/main">
  <p:tag name="NUM" val="6"/>
</p:tagLst>
</file>

<file path=ppt/tags/tag21.xml><?xml version="1.0" encoding="utf-8"?>
<p:tagLst xmlns:a="http://schemas.openxmlformats.org/drawingml/2006/main" xmlns:r="http://schemas.openxmlformats.org/officeDocument/2006/relationships" xmlns:p="http://schemas.openxmlformats.org/presentationml/2006/main">
  <p:tag name="NUM" val="11"/>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3"/>
</p:tagLst>
</file>

<file path=ppt/tags/tag25.xml><?xml version="1.0" encoding="utf-8"?>
<p:tagLst xmlns:a="http://schemas.openxmlformats.org/drawingml/2006/main" xmlns:r="http://schemas.openxmlformats.org/officeDocument/2006/relationships" xmlns:p="http://schemas.openxmlformats.org/presentationml/2006/main">
  <p:tag name="NUM" val="4"/>
</p:tagLst>
</file>

<file path=ppt/tags/tag26.xml><?xml version="1.0" encoding="utf-8"?>
<p:tagLst xmlns:a="http://schemas.openxmlformats.org/drawingml/2006/main" xmlns:r="http://schemas.openxmlformats.org/officeDocument/2006/relationships" xmlns:p="http://schemas.openxmlformats.org/presentationml/2006/main">
  <p:tag name="NUM" val="5"/>
</p:tagLst>
</file>

<file path=ppt/tags/tag27.xml><?xml version="1.0" encoding="utf-8"?>
<p:tagLst xmlns:a="http://schemas.openxmlformats.org/drawingml/2006/main" xmlns:r="http://schemas.openxmlformats.org/officeDocument/2006/relationships" xmlns:p="http://schemas.openxmlformats.org/presentationml/2006/main">
  <p:tag name="NUM" val="6"/>
</p:tagLst>
</file>

<file path=ppt/tags/tag28.xml><?xml version="1.0" encoding="utf-8"?>
<p:tagLst xmlns:a="http://schemas.openxmlformats.org/drawingml/2006/main" xmlns:r="http://schemas.openxmlformats.org/officeDocument/2006/relationships" xmlns:p="http://schemas.openxmlformats.org/presentationml/2006/main">
  <p:tag name="NUM" val="7"/>
</p:tagLst>
</file>

<file path=ppt/tags/tag29.xml><?xml version="1.0" encoding="utf-8"?>
<p:tagLst xmlns:a="http://schemas.openxmlformats.org/drawingml/2006/main" xmlns:r="http://schemas.openxmlformats.org/officeDocument/2006/relationships" xmlns:p="http://schemas.openxmlformats.org/presentationml/2006/main">
  <p:tag name="NUM" val="8"/>
</p:tagLst>
</file>

<file path=ppt/tags/tag30.xml><?xml version="1.0" encoding="utf-8"?>
<p:tagLst xmlns:a="http://schemas.openxmlformats.org/drawingml/2006/main" xmlns:r="http://schemas.openxmlformats.org/officeDocument/2006/relationships" xmlns:p="http://schemas.openxmlformats.org/presentationml/2006/main">
  <p:tag name="NUM" val="9"/>
</p:tagLst>
</file>

<file path=ppt/tags/tag31.xml><?xml version="1.0" encoding="utf-8"?>
<p:tagLst xmlns:a="http://schemas.openxmlformats.org/drawingml/2006/main" xmlns:r="http://schemas.openxmlformats.org/officeDocument/2006/relationships" xmlns:p="http://schemas.openxmlformats.org/presentationml/2006/main">
  <p:tag name="NUM" val="10"/>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4"/>
</p:tagLst>
</file>

<file path=ppt/tags/tag37.xml><?xml version="1.0" encoding="utf-8"?>
<p:tagLst xmlns:a="http://schemas.openxmlformats.org/drawingml/2006/main" xmlns:r="http://schemas.openxmlformats.org/officeDocument/2006/relationships" xmlns:p="http://schemas.openxmlformats.org/presentationml/2006/main">
  <p:tag name="NUM" val="5"/>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4"/>
</p:tagLst>
</file>

<file path=ppt/tags/tag42.xml><?xml version="1.0" encoding="utf-8"?>
<p:tagLst xmlns:a="http://schemas.openxmlformats.org/drawingml/2006/main" xmlns:r="http://schemas.openxmlformats.org/officeDocument/2006/relationships" xmlns:p="http://schemas.openxmlformats.org/presentationml/2006/main">
  <p:tag name="NUM" val="5"/>
</p:tagLst>
</file>

<file path=ppt/tags/tag43.xml><?xml version="1.0" encoding="utf-8"?>
<p:tagLst xmlns:a="http://schemas.openxmlformats.org/drawingml/2006/main" xmlns:r="http://schemas.openxmlformats.org/officeDocument/2006/relationships" xmlns:p="http://schemas.openxmlformats.org/presentationml/2006/main">
  <p:tag name="NUM" val="6"/>
</p:tagLst>
</file>

<file path=ppt/tags/tag44.xml><?xml version="1.0" encoding="utf-8"?>
<p:tagLst xmlns:a="http://schemas.openxmlformats.org/drawingml/2006/main" xmlns:r="http://schemas.openxmlformats.org/officeDocument/2006/relationships" xmlns:p="http://schemas.openxmlformats.org/presentationml/2006/main">
  <p:tag name="NUM" val="7"/>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2"/>
</p:tagLst>
</file>

<file path=ppt/tags/tag47.xml><?xml version="1.0" encoding="utf-8"?>
<p:tagLst xmlns:a="http://schemas.openxmlformats.org/drawingml/2006/main" xmlns:r="http://schemas.openxmlformats.org/officeDocument/2006/relationships" xmlns:p="http://schemas.openxmlformats.org/presentationml/2006/main">
  <p:tag name="NUM" val="3"/>
</p:tagLst>
</file>

<file path=ppt/tags/tag48.xml><?xml version="1.0" encoding="utf-8"?>
<p:tagLst xmlns:a="http://schemas.openxmlformats.org/drawingml/2006/main" xmlns:r="http://schemas.openxmlformats.org/officeDocument/2006/relationships" xmlns:p="http://schemas.openxmlformats.org/presentationml/2006/main">
  <p:tag name="NUM" val="4"/>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4"/>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2"/>
</p:tagLst>
</file>

<file path=ppt/tags/tag55.xml><?xml version="1.0" encoding="utf-8"?>
<p:tagLst xmlns:a="http://schemas.openxmlformats.org/drawingml/2006/main" xmlns:r="http://schemas.openxmlformats.org/officeDocument/2006/relationships" xmlns:p="http://schemas.openxmlformats.org/presentationml/2006/main">
  <p:tag name="NUM" val="3"/>
</p:tagLst>
</file>

<file path=ppt/tags/tag56.xml><?xml version="1.0" encoding="utf-8"?>
<p:tagLst xmlns:a="http://schemas.openxmlformats.org/drawingml/2006/main" xmlns:r="http://schemas.openxmlformats.org/officeDocument/2006/relationships" xmlns:p="http://schemas.openxmlformats.org/presentationml/2006/main">
  <p:tag name="NUM" val="4"/>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OPREFERENCE" val="False"/>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4"/>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4"/>
</p:tagLst>
</file>

<file path=ppt/tags/tag69.xml><?xml version="1.0" encoding="utf-8"?>
<p:tagLst xmlns:a="http://schemas.openxmlformats.org/drawingml/2006/main" xmlns:r="http://schemas.openxmlformats.org/officeDocument/2006/relationships" xmlns:p="http://schemas.openxmlformats.org/presentationml/2006/main">
  <p:tag name="NUM" val="6"/>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3"/>
</p:tagLst>
</file>

<file path=ppt/tags/tag73.xml><?xml version="1.0" encoding="utf-8"?>
<p:tagLst xmlns:a="http://schemas.openxmlformats.org/drawingml/2006/main" xmlns:r="http://schemas.openxmlformats.org/officeDocument/2006/relationships" xmlns:p="http://schemas.openxmlformats.org/presentationml/2006/main">
  <p:tag name="NUM" val="20"/>
</p:tagLst>
</file>

<file path=ppt/tags/tag74.xml><?xml version="1.0" encoding="utf-8"?>
<p:tagLst xmlns:a="http://schemas.openxmlformats.org/drawingml/2006/main" xmlns:r="http://schemas.openxmlformats.org/officeDocument/2006/relationships" xmlns:p="http://schemas.openxmlformats.org/presentationml/2006/main">
  <p:tag name="NUM" val="21"/>
</p:tagLst>
</file>

<file path=ppt/tags/tag75.xml><?xml version="1.0" encoding="utf-8"?>
<p:tagLst xmlns:a="http://schemas.openxmlformats.org/drawingml/2006/main" xmlns:r="http://schemas.openxmlformats.org/officeDocument/2006/relationships" xmlns:p="http://schemas.openxmlformats.org/presentationml/2006/main">
  <p:tag name="NUM" val="22"/>
</p:tagLst>
</file>

<file path=ppt/tags/tag76.xml><?xml version="1.0" encoding="utf-8"?>
<p:tagLst xmlns:a="http://schemas.openxmlformats.org/drawingml/2006/main" xmlns:r="http://schemas.openxmlformats.org/officeDocument/2006/relationships" xmlns:p="http://schemas.openxmlformats.org/presentationml/2006/main">
  <p:tag name="NOPREFERENCE" val="False"/>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4"/>
</p:tagLst>
</file>

<file path=ppt/tags/tag81.xml><?xml version="1.0" encoding="utf-8"?>
<p:tagLst xmlns:a="http://schemas.openxmlformats.org/drawingml/2006/main" xmlns:r="http://schemas.openxmlformats.org/officeDocument/2006/relationships" xmlns:p="http://schemas.openxmlformats.org/presentationml/2006/main">
  <p:tag name="NUM" val="5"/>
</p:tagLst>
</file>

<file path=ppt/tags/tag82.xml><?xml version="1.0" encoding="utf-8"?>
<p:tagLst xmlns:a="http://schemas.openxmlformats.org/drawingml/2006/main" xmlns:r="http://schemas.openxmlformats.org/officeDocument/2006/relationships" xmlns:p="http://schemas.openxmlformats.org/presentationml/2006/main">
  <p:tag name="NUM" val="6"/>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3"/>
</p:tagLst>
</file>

<file path=ppt/tags/tag86.xml><?xml version="1.0" encoding="utf-8"?>
<p:tagLst xmlns:a="http://schemas.openxmlformats.org/drawingml/2006/main" xmlns:r="http://schemas.openxmlformats.org/officeDocument/2006/relationships" xmlns:p="http://schemas.openxmlformats.org/presentationml/2006/main">
  <p:tag name="NUM" val="4"/>
</p:tagLst>
</file>

<file path=ppt/tags/tag87.xml><?xml version="1.0" encoding="utf-8"?>
<p:tagLst xmlns:a="http://schemas.openxmlformats.org/drawingml/2006/main" xmlns:r="http://schemas.openxmlformats.org/officeDocument/2006/relationships" xmlns:p="http://schemas.openxmlformats.org/presentationml/2006/main">
  <p:tag name="NUM" val="5"/>
</p:tagLst>
</file>

<file path=ppt/tags/tag88.xml><?xml version="1.0" encoding="utf-8"?>
<p:tagLst xmlns:a="http://schemas.openxmlformats.org/drawingml/2006/main" xmlns:r="http://schemas.openxmlformats.org/officeDocument/2006/relationships" xmlns:p="http://schemas.openxmlformats.org/presentationml/2006/main">
  <p:tag name="NUM" val="6"/>
</p:tagLst>
</file>

<file path=ppt/tags/tag89.xml><?xml version="1.0" encoding="utf-8"?>
<p:tagLst xmlns:a="http://schemas.openxmlformats.org/drawingml/2006/main" xmlns:r="http://schemas.openxmlformats.org/officeDocument/2006/relationships" xmlns:p="http://schemas.openxmlformats.org/presentationml/2006/main">
  <p:tag name="NUM" val="7"/>
</p:tagLst>
</file>

<file path=ppt/tags/tag90.xml><?xml version="1.0" encoding="utf-8"?>
<p:tagLst xmlns:a="http://schemas.openxmlformats.org/drawingml/2006/main" xmlns:r="http://schemas.openxmlformats.org/officeDocument/2006/relationships" xmlns:p="http://schemas.openxmlformats.org/presentationml/2006/main">
  <p:tag name="NUM" val="8"/>
</p:tagLst>
</file>

<file path=ppt/tags/tag91.xml><?xml version="1.0" encoding="utf-8"?>
<p:tagLst xmlns:a="http://schemas.openxmlformats.org/drawingml/2006/main" xmlns:r="http://schemas.openxmlformats.org/officeDocument/2006/relationships" xmlns:p="http://schemas.openxmlformats.org/presentationml/2006/main">
  <p:tag name="NUM" val="9"/>
</p:tagLst>
</file>

<file path=ppt/tags/tag92.xml><?xml version="1.0" encoding="utf-8"?>
<p:tagLst xmlns:a="http://schemas.openxmlformats.org/drawingml/2006/main" xmlns:r="http://schemas.openxmlformats.org/officeDocument/2006/relationships" xmlns:p="http://schemas.openxmlformats.org/presentationml/2006/main">
  <p:tag name="NUM" val="11"/>
</p:tagLst>
</file>

<file path=ppt/tags/tag93.xml><?xml version="1.0" encoding="utf-8"?>
<p:tagLst xmlns:a="http://schemas.openxmlformats.org/drawingml/2006/main" xmlns:r="http://schemas.openxmlformats.org/officeDocument/2006/relationships" xmlns:p="http://schemas.openxmlformats.org/presentationml/2006/main">
  <p:tag name="NUM" val="12"/>
</p:tagLst>
</file>

<file path=ppt/tags/tag94.xml><?xml version="1.0" encoding="utf-8"?>
<p:tagLst xmlns:a="http://schemas.openxmlformats.org/drawingml/2006/main" xmlns:r="http://schemas.openxmlformats.org/officeDocument/2006/relationships" xmlns:p="http://schemas.openxmlformats.org/presentationml/2006/main">
  <p:tag name="NUM" val="13"/>
</p:tagLst>
</file>

<file path=ppt/tags/tag95.xml><?xml version="1.0" encoding="utf-8"?>
<p:tagLst xmlns:a="http://schemas.openxmlformats.org/drawingml/2006/main" xmlns:r="http://schemas.openxmlformats.org/officeDocument/2006/relationships" xmlns:p="http://schemas.openxmlformats.org/presentationml/2006/main">
  <p:tag name="NUM" val="15"/>
</p:tagLst>
</file>

<file path=ppt/tags/tag96.xml><?xml version="1.0" encoding="utf-8"?>
<p:tagLst xmlns:a="http://schemas.openxmlformats.org/drawingml/2006/main" xmlns:r="http://schemas.openxmlformats.org/officeDocument/2006/relationships" xmlns:p="http://schemas.openxmlformats.org/presentationml/2006/main">
  <p:tag name="NUM" val="16"/>
</p:tagLst>
</file>

<file path=ppt/tags/tag97.xml><?xml version="1.0" encoding="utf-8"?>
<p:tagLst xmlns:a="http://schemas.openxmlformats.org/drawingml/2006/main" xmlns:r="http://schemas.openxmlformats.org/officeDocument/2006/relationships" xmlns:p="http://schemas.openxmlformats.org/presentationml/2006/main">
  <p:tag name="NUM" val="17"/>
</p:tagLst>
</file>

<file path=ppt/tags/tag98.xml><?xml version="1.0" encoding="utf-8"?>
<p:tagLst xmlns:a="http://schemas.openxmlformats.org/drawingml/2006/main" xmlns:r="http://schemas.openxmlformats.org/officeDocument/2006/relationships" xmlns:p="http://schemas.openxmlformats.org/presentationml/2006/main">
  <p:tag name="NUM" val="18"/>
</p:tagLst>
</file>

<file path=ppt/tags/tag99.xml><?xml version="1.0" encoding="utf-8"?>
<p:tagLst xmlns:a="http://schemas.openxmlformats.org/drawingml/2006/main" xmlns:r="http://schemas.openxmlformats.org/officeDocument/2006/relationships" xmlns:p="http://schemas.openxmlformats.org/presentationml/2006/main">
  <p:tag name="NUM" val="2"/>
</p:tagLst>
</file>

<file path=ppt/tags/tag100.xml><?xml version="1.0" encoding="utf-8"?>
<p:tagLst xmlns:a="http://schemas.openxmlformats.org/drawingml/2006/main" xmlns:r="http://schemas.openxmlformats.org/officeDocument/2006/relationships" xmlns:p="http://schemas.openxmlformats.org/presentationml/2006/main">
  <p:tag name="NUM" val="5"/>
</p:tagLst>
</file>

<file path=ppt/tags/tag101.xml><?xml version="1.0" encoding="utf-8"?>
<p:tagLst xmlns:a="http://schemas.openxmlformats.org/drawingml/2006/main" xmlns:r="http://schemas.openxmlformats.org/officeDocument/2006/relationships" xmlns:p="http://schemas.openxmlformats.org/presentationml/2006/main">
  <p:tag name="NUM" val="6"/>
</p:tagLst>
</file>

<file path=ppt/tags/tag102.xml><?xml version="1.0" encoding="utf-8"?>
<p:tagLst xmlns:a="http://schemas.openxmlformats.org/drawingml/2006/main" xmlns:r="http://schemas.openxmlformats.org/officeDocument/2006/relationships" xmlns:p="http://schemas.openxmlformats.org/presentationml/2006/main">
  <p:tag name="NUM" val="7"/>
</p:tagLst>
</file>

<file path=ppt/tags/tag103.xml><?xml version="1.0" encoding="utf-8"?>
<p:tagLst xmlns:a="http://schemas.openxmlformats.org/drawingml/2006/main" xmlns:r="http://schemas.openxmlformats.org/officeDocument/2006/relationships" xmlns:p="http://schemas.openxmlformats.org/presentationml/2006/main">
  <p:tag name="NUM" val="8"/>
</p:tagLst>
</file>

<file path=ppt/tags/tag104.xml><?xml version="1.0" encoding="utf-8"?>
<p:tagLst xmlns:a="http://schemas.openxmlformats.org/drawingml/2006/main" xmlns:r="http://schemas.openxmlformats.org/officeDocument/2006/relationships" xmlns:p="http://schemas.openxmlformats.org/presentationml/2006/main">
  <p:tag name="NUM" val="9"/>
</p:tagLst>
</file>

<file path=ppt/tags/tag105.xml><?xml version="1.0" encoding="utf-8"?>
<p:tagLst xmlns:a="http://schemas.openxmlformats.org/drawingml/2006/main" xmlns:r="http://schemas.openxmlformats.org/officeDocument/2006/relationships" xmlns:p="http://schemas.openxmlformats.org/presentationml/2006/main">
  <p:tag name="NUM" val="11"/>
</p:tagLst>
</file>

<file path=ppt/tags/tag106.xml><?xml version="1.0" encoding="utf-8"?>
<p:tagLst xmlns:a="http://schemas.openxmlformats.org/drawingml/2006/main" xmlns:r="http://schemas.openxmlformats.org/officeDocument/2006/relationships" xmlns:p="http://schemas.openxmlformats.org/presentationml/2006/main">
  <p:tag name="NUM" val="12"/>
</p:tagLst>
</file>

<file path=ppt/tags/tag107.xml><?xml version="1.0" encoding="utf-8"?>
<p:tagLst xmlns:a="http://schemas.openxmlformats.org/drawingml/2006/main" xmlns:r="http://schemas.openxmlformats.org/officeDocument/2006/relationships" xmlns:p="http://schemas.openxmlformats.org/presentationml/2006/main">
  <p:tag name="NUM" val="18"/>
</p:tagLst>
</file>

<file path=ppt/tags/tag108.xml><?xml version="1.0" encoding="utf-8"?>
<p:tagLst xmlns:a="http://schemas.openxmlformats.org/drawingml/2006/main" xmlns:r="http://schemas.openxmlformats.org/officeDocument/2006/relationships" xmlns:p="http://schemas.openxmlformats.org/presentationml/2006/main">
  <p:tag name="NUM" val="18"/>
</p:tagLst>
</file>

<file path=ppt/tags/tag109.xml><?xml version="1.0" encoding="utf-8"?>
<p:tagLst xmlns:a="http://schemas.openxmlformats.org/drawingml/2006/main" xmlns:r="http://schemas.openxmlformats.org/officeDocument/2006/relationships" xmlns:p="http://schemas.openxmlformats.org/presentationml/2006/main">
  <p:tag name="NUM" val="3"/>
</p:tagLst>
</file>

<file path=ppt/tags/tag110.xml><?xml version="1.0" encoding="utf-8"?>
<p:tagLst xmlns:a="http://schemas.openxmlformats.org/drawingml/2006/main" xmlns:r="http://schemas.openxmlformats.org/officeDocument/2006/relationships" xmlns:p="http://schemas.openxmlformats.org/presentationml/2006/main">
  <p:tag name="NUM" val="13"/>
</p:tagLst>
</file>

<file path=ppt/tags/tag111.xml><?xml version="1.0" encoding="utf-8"?>
<p:tagLst xmlns:a="http://schemas.openxmlformats.org/drawingml/2006/main" xmlns:r="http://schemas.openxmlformats.org/officeDocument/2006/relationships" xmlns:p="http://schemas.openxmlformats.org/presentationml/2006/main">
  <p:tag name="NUM" val="13"/>
</p:tagLst>
</file>

<file path=ppt/tags/tag112.xml><?xml version="1.0" encoding="utf-8"?>
<p:tagLst xmlns:a="http://schemas.openxmlformats.org/drawingml/2006/main" xmlns:r="http://schemas.openxmlformats.org/officeDocument/2006/relationships" xmlns:p="http://schemas.openxmlformats.org/presentationml/2006/main">
  <p:tag name="NUM" val="13"/>
</p:tagLst>
</file>

<file path=ppt/tags/tag113.xml><?xml version="1.0" encoding="utf-8"?>
<p:tagLst xmlns:a="http://schemas.openxmlformats.org/drawingml/2006/main" xmlns:r="http://schemas.openxmlformats.org/officeDocument/2006/relationships" xmlns:p="http://schemas.openxmlformats.org/presentationml/2006/main">
  <p:tag name="NUM" val="13"/>
</p:tagLst>
</file>

<file path=ppt/tags/tag114.xml><?xml version="1.0" encoding="utf-8"?>
<p:tagLst xmlns:a="http://schemas.openxmlformats.org/drawingml/2006/main" xmlns:r="http://schemas.openxmlformats.org/officeDocument/2006/relationships" xmlns:p="http://schemas.openxmlformats.org/presentationml/2006/main">
  <p:tag name="NUM" val="13"/>
</p:tagLst>
</file>

<file path=ppt/tags/tag115.xml><?xml version="1.0" encoding="utf-8"?>
<p:tagLst xmlns:a="http://schemas.openxmlformats.org/drawingml/2006/main" xmlns:r="http://schemas.openxmlformats.org/officeDocument/2006/relationships" xmlns:p="http://schemas.openxmlformats.org/presentationml/2006/main">
  <p:tag name="NUM" val="13"/>
</p:tagLst>
</file>

<file path=ppt/tags/tag116.xml><?xml version="1.0" encoding="utf-8"?>
<p:tagLst xmlns:a="http://schemas.openxmlformats.org/drawingml/2006/main" xmlns:r="http://schemas.openxmlformats.org/officeDocument/2006/relationships" xmlns:p="http://schemas.openxmlformats.org/presentationml/2006/main">
  <p:tag name="NUM" val="13"/>
</p:tagLst>
</file>

<file path=ppt/tags/tag117.xml><?xml version="1.0" encoding="utf-8"?>
<p:tagLst xmlns:a="http://schemas.openxmlformats.org/drawingml/2006/main" xmlns:r="http://schemas.openxmlformats.org/officeDocument/2006/relationships" xmlns:p="http://schemas.openxmlformats.org/presentationml/2006/main">
  <p:tag name="NUM" val="13"/>
</p:tagLst>
</file>

<file path=ppt/tags/tag118.xml><?xml version="1.0" encoding="utf-8"?>
<p:tagLst xmlns:a="http://schemas.openxmlformats.org/drawingml/2006/main" xmlns:r="http://schemas.openxmlformats.org/officeDocument/2006/relationships" xmlns:p="http://schemas.openxmlformats.org/presentationml/2006/main">
  <p:tag name="NUM" val="13"/>
</p:tagLst>
</file>

<file path=ppt/tags/tag119.xml><?xml version="1.0" encoding="utf-8"?>
<p:tagLst xmlns:a="http://schemas.openxmlformats.org/drawingml/2006/main" xmlns:r="http://schemas.openxmlformats.org/officeDocument/2006/relationships" xmlns:p="http://schemas.openxmlformats.org/presentationml/2006/main">
  <p:tag name="NUM" val="13"/>
</p:tagLst>
</file>

<file path=ppt/tags/tag120.xml><?xml version="1.0" encoding="utf-8"?>
<p:tagLst xmlns:a="http://schemas.openxmlformats.org/drawingml/2006/main" xmlns:r="http://schemas.openxmlformats.org/officeDocument/2006/relationships" xmlns:p="http://schemas.openxmlformats.org/presentationml/2006/main">
  <p:tag name="NUM" val="18"/>
</p:tagLst>
</file>

<file path=ppt/tags/tag121.xml><?xml version="1.0" encoding="utf-8"?>
<p:tagLst xmlns:a="http://schemas.openxmlformats.org/drawingml/2006/main" xmlns:r="http://schemas.openxmlformats.org/officeDocument/2006/relationships" xmlns:p="http://schemas.openxmlformats.org/presentationml/2006/main">
  <p:tag name="NUM" val="13"/>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OPREFERENCE" val="False"/>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4"/>
</p:tagLst>
</file>

<file path=ppt/tags/tag131.xml><?xml version="1.0" encoding="utf-8"?>
<p:tagLst xmlns:a="http://schemas.openxmlformats.org/drawingml/2006/main" xmlns:r="http://schemas.openxmlformats.org/officeDocument/2006/relationships" xmlns:p="http://schemas.openxmlformats.org/presentationml/2006/main">
  <p:tag name="NUM" val="5"/>
</p:tagLst>
</file>

<file path=ppt/tags/tag132.xml><?xml version="1.0" encoding="utf-8"?>
<p:tagLst xmlns:a="http://schemas.openxmlformats.org/drawingml/2006/main" xmlns:r="http://schemas.openxmlformats.org/officeDocument/2006/relationships" xmlns:p="http://schemas.openxmlformats.org/presentationml/2006/main">
  <p:tag name="NUM" val="6"/>
</p:tagLst>
</file>

<file path=ppt/tags/tag133.xml><?xml version="1.0" encoding="utf-8"?>
<p:tagLst xmlns:a="http://schemas.openxmlformats.org/drawingml/2006/main" xmlns:r="http://schemas.openxmlformats.org/officeDocument/2006/relationships" xmlns:p="http://schemas.openxmlformats.org/presentationml/2006/main">
  <p:tag name="NUM" val="1"/>
</p:tagLst>
</file>

<file path=ppt/tags/tag134.xml><?xml version="1.0" encoding="utf-8"?>
<p:tagLst xmlns:a="http://schemas.openxmlformats.org/drawingml/2006/main" xmlns:r="http://schemas.openxmlformats.org/officeDocument/2006/relationships" xmlns:p="http://schemas.openxmlformats.org/presentationml/2006/main">
  <p:tag name="NUM" val="2"/>
</p:tagLst>
</file>

<file path=ppt/tags/tag135.xml><?xml version="1.0" encoding="utf-8"?>
<p:tagLst xmlns:a="http://schemas.openxmlformats.org/drawingml/2006/main" xmlns:r="http://schemas.openxmlformats.org/officeDocument/2006/relationships" xmlns:p="http://schemas.openxmlformats.org/presentationml/2006/main">
  <p:tag name="NUM" val="3"/>
</p:tagLst>
</file>

<file path=ppt/tags/tag136.xml><?xml version="1.0" encoding="utf-8"?>
<p:tagLst xmlns:a="http://schemas.openxmlformats.org/drawingml/2006/main" xmlns:r="http://schemas.openxmlformats.org/officeDocument/2006/relationships" xmlns:p="http://schemas.openxmlformats.org/presentationml/2006/main">
  <p:tag name="NUM" val="4"/>
</p:tagLst>
</file>

<file path=ppt/tags/tag137.xml><?xml version="1.0" encoding="utf-8"?>
<p:tagLst xmlns:a="http://schemas.openxmlformats.org/drawingml/2006/main" xmlns:r="http://schemas.openxmlformats.org/officeDocument/2006/relationships" xmlns:p="http://schemas.openxmlformats.org/presentationml/2006/main">
  <p:tag name="NUM" val="1"/>
</p:tagLst>
</file>

<file path=ppt/tags/tag138.xml><?xml version="1.0" encoding="utf-8"?>
<p:tagLst xmlns:a="http://schemas.openxmlformats.org/drawingml/2006/main" xmlns:r="http://schemas.openxmlformats.org/officeDocument/2006/relationships" xmlns:p="http://schemas.openxmlformats.org/presentationml/2006/main">
  <p:tag name="NUM" val="2"/>
</p:tagLst>
</file>

<file path=ppt/tags/tag139.xml><?xml version="1.0" encoding="utf-8"?>
<p:tagLst xmlns:a="http://schemas.openxmlformats.org/drawingml/2006/main" xmlns:r="http://schemas.openxmlformats.org/officeDocument/2006/relationships" xmlns:p="http://schemas.openxmlformats.org/presentationml/2006/main">
  <p:tag name="NUM" val="3"/>
</p:tagLst>
</file>

<file path=ppt/tags/tag140.xml><?xml version="1.0" encoding="utf-8"?>
<p:tagLst xmlns:a="http://schemas.openxmlformats.org/drawingml/2006/main" xmlns:r="http://schemas.openxmlformats.org/officeDocument/2006/relationships" xmlns:p="http://schemas.openxmlformats.org/presentationml/2006/main">
  <p:tag name="NUM" val="4"/>
</p:tagLst>
</file>

<file path=ppt/tags/tag141.xml><?xml version="1.0" encoding="utf-8"?>
<p:tagLst xmlns:a="http://schemas.openxmlformats.org/drawingml/2006/main" xmlns:r="http://schemas.openxmlformats.org/officeDocument/2006/relationships" xmlns:p="http://schemas.openxmlformats.org/presentationml/2006/main">
  <p:tag name="NUM" val="5"/>
</p:tagLst>
</file>

<file path=ppt/tags/tag142.xml><?xml version="1.0" encoding="utf-8"?>
<p:tagLst xmlns:a="http://schemas.openxmlformats.org/drawingml/2006/main" xmlns:r="http://schemas.openxmlformats.org/officeDocument/2006/relationships" xmlns:p="http://schemas.openxmlformats.org/presentationml/2006/main">
  <p:tag name="NUM" val="1"/>
</p:tagLst>
</file>

<file path=ppt/tags/tag143.xml><?xml version="1.0" encoding="utf-8"?>
<p:tagLst xmlns:a="http://schemas.openxmlformats.org/drawingml/2006/main" xmlns:r="http://schemas.openxmlformats.org/officeDocument/2006/relationships" xmlns:p="http://schemas.openxmlformats.org/presentationml/2006/main">
  <p:tag name="NUM" val="4"/>
</p:tagLst>
</file>

<file path=ppt/tags/tag144.xml><?xml version="1.0" encoding="utf-8"?>
<p:tagLst xmlns:a="http://schemas.openxmlformats.org/drawingml/2006/main" xmlns:r="http://schemas.openxmlformats.org/officeDocument/2006/relationships" xmlns:p="http://schemas.openxmlformats.org/presentationml/2006/main">
  <p:tag name="NUM" val="15"/>
</p:tagLst>
</file>

<file path=ppt/tags/tag145.xml><?xml version="1.0" encoding="utf-8"?>
<p:tagLst xmlns:a="http://schemas.openxmlformats.org/drawingml/2006/main" xmlns:r="http://schemas.openxmlformats.org/officeDocument/2006/relationships" xmlns:p="http://schemas.openxmlformats.org/presentationml/2006/main">
  <p:tag name="NUM" val="17"/>
</p:tagLst>
</file>

<file path=ppt/tags/tag146.xml><?xml version="1.0" encoding="utf-8"?>
<p:tagLst xmlns:a="http://schemas.openxmlformats.org/drawingml/2006/main" xmlns:r="http://schemas.openxmlformats.org/officeDocument/2006/relationships" xmlns:p="http://schemas.openxmlformats.org/presentationml/2006/main">
  <p:tag name="NUM" val="2"/>
</p:tagLst>
</file>

<file path=ppt/tags/tag147.xml><?xml version="1.0" encoding="utf-8"?>
<p:tagLst xmlns:a="http://schemas.openxmlformats.org/drawingml/2006/main" xmlns:r="http://schemas.openxmlformats.org/officeDocument/2006/relationships" xmlns:p="http://schemas.openxmlformats.org/presentationml/2006/main">
  <p:tag name="NUM" val="18"/>
</p:tagLst>
</file>

<file path=ppt/tags/tag148.xml><?xml version="1.0" encoding="utf-8"?>
<p:tagLst xmlns:a="http://schemas.openxmlformats.org/drawingml/2006/main" xmlns:r="http://schemas.openxmlformats.org/officeDocument/2006/relationships" xmlns:p="http://schemas.openxmlformats.org/presentationml/2006/main">
  <p:tag name="NUM" val="18"/>
</p:tagLst>
</file>

<file path=ppt/tags/tag149.xml><?xml version="1.0" encoding="utf-8"?>
<p:tagLst xmlns:a="http://schemas.openxmlformats.org/drawingml/2006/main" xmlns:r="http://schemas.openxmlformats.org/officeDocument/2006/relationships" xmlns:p="http://schemas.openxmlformats.org/presentationml/2006/main">
  <p:tag name="NUM" val="3"/>
</p:tagLst>
</file>

<file path=ppt/tags/tag150.xml><?xml version="1.0" encoding="utf-8"?>
<p:tagLst xmlns:a="http://schemas.openxmlformats.org/drawingml/2006/main" xmlns:r="http://schemas.openxmlformats.org/officeDocument/2006/relationships" xmlns:p="http://schemas.openxmlformats.org/presentationml/2006/main">
  <p:tag name="NUM" val="13"/>
</p:tagLst>
</file>

<file path=ppt/tags/tag151.xml><?xml version="1.0" encoding="utf-8"?>
<p:tagLst xmlns:a="http://schemas.openxmlformats.org/drawingml/2006/main" xmlns:r="http://schemas.openxmlformats.org/officeDocument/2006/relationships" xmlns:p="http://schemas.openxmlformats.org/presentationml/2006/main">
  <p:tag name="NUM" val="13"/>
</p:tagLst>
</file>

<file path=ppt/tags/tag152.xml><?xml version="1.0" encoding="utf-8"?>
<p:tagLst xmlns:a="http://schemas.openxmlformats.org/drawingml/2006/main" xmlns:r="http://schemas.openxmlformats.org/officeDocument/2006/relationships" xmlns:p="http://schemas.openxmlformats.org/presentationml/2006/main">
  <p:tag name="NUM" val="18"/>
</p:tagLst>
</file>

<file path=ppt/tags/tag153.xml><?xml version="1.0" encoding="utf-8"?>
<p:tagLst xmlns:a="http://schemas.openxmlformats.org/drawingml/2006/main" xmlns:r="http://schemas.openxmlformats.org/officeDocument/2006/relationships" xmlns:p="http://schemas.openxmlformats.org/presentationml/2006/main">
  <p:tag name="NUM" val="13"/>
</p:tagLst>
</file>

<file path=ppt/tags/tag154.xml><?xml version="1.0" encoding="utf-8"?>
<p:tagLst xmlns:a="http://schemas.openxmlformats.org/drawingml/2006/main" xmlns:r="http://schemas.openxmlformats.org/officeDocument/2006/relationships" xmlns:p="http://schemas.openxmlformats.org/presentationml/2006/main">
  <p:tag name="NUM" val="13"/>
</p:tagLst>
</file>

<file path=ppt/tags/tag155.xml><?xml version="1.0" encoding="utf-8"?>
<p:tagLst xmlns:a="http://schemas.openxmlformats.org/drawingml/2006/main" xmlns:r="http://schemas.openxmlformats.org/officeDocument/2006/relationships" xmlns:p="http://schemas.openxmlformats.org/presentationml/2006/main">
  <p:tag name="NUM" val="13"/>
</p:tagLst>
</file>

<file path=ppt/tags/tag156.xml><?xml version="1.0" encoding="utf-8"?>
<p:tagLst xmlns:a="http://schemas.openxmlformats.org/drawingml/2006/main" xmlns:r="http://schemas.openxmlformats.org/officeDocument/2006/relationships" xmlns:p="http://schemas.openxmlformats.org/presentationml/2006/main">
  <p:tag name="NUM" val="13"/>
</p:tagLst>
</file>

<file path=ppt/tags/tag157.xml><?xml version="1.0" encoding="utf-8"?>
<p:tagLst xmlns:a="http://schemas.openxmlformats.org/drawingml/2006/main" xmlns:r="http://schemas.openxmlformats.org/officeDocument/2006/relationships" xmlns:p="http://schemas.openxmlformats.org/presentationml/2006/main">
  <p:tag name="NUM" val="13"/>
</p:tagLst>
</file>

<file path=ppt/tags/tag158.xml><?xml version="1.0" encoding="utf-8"?>
<p:tagLst xmlns:a="http://schemas.openxmlformats.org/drawingml/2006/main" xmlns:r="http://schemas.openxmlformats.org/officeDocument/2006/relationships" xmlns:p="http://schemas.openxmlformats.org/presentationml/2006/main">
  <p:tag name="NUM" val="13"/>
</p:tagLst>
</file>

<file path=ppt/tags/tag159.xml><?xml version="1.0" encoding="utf-8"?>
<p:tagLst xmlns:a="http://schemas.openxmlformats.org/drawingml/2006/main" xmlns:r="http://schemas.openxmlformats.org/officeDocument/2006/relationships" xmlns:p="http://schemas.openxmlformats.org/presentationml/2006/main">
  <p:tag name="NUM" val="13"/>
</p:tagLst>
</file>

<file path=ppt/tags/tag160.xml><?xml version="1.0" encoding="utf-8"?>
<p:tagLst xmlns:a="http://schemas.openxmlformats.org/drawingml/2006/main" xmlns:r="http://schemas.openxmlformats.org/officeDocument/2006/relationships" xmlns:p="http://schemas.openxmlformats.org/presentationml/2006/main">
  <p:tag name="NUM" val="13"/>
</p:tagLst>
</file>

<file path=ppt/tags/tag161.xml><?xml version="1.0" encoding="utf-8"?>
<p:tagLst xmlns:a="http://schemas.openxmlformats.org/drawingml/2006/main" xmlns:r="http://schemas.openxmlformats.org/officeDocument/2006/relationships" xmlns:p="http://schemas.openxmlformats.org/presentationml/2006/main">
  <p:tag name="NUM" val="13"/>
</p:tagLst>
</file>

<file path=ppt/tags/tag162.xml><?xml version="1.0" encoding="utf-8"?>
<p:tagLst xmlns:a="http://schemas.openxmlformats.org/drawingml/2006/main" xmlns:r="http://schemas.openxmlformats.org/officeDocument/2006/relationships" xmlns:p="http://schemas.openxmlformats.org/presentationml/2006/main">
  <p:tag name="NOPREFERENCE" val="False"/>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3"/>
</p:tagLst>
</file>

<file path=ppt/tags/tag166.xml><?xml version="1.0" encoding="utf-8"?>
<p:tagLst xmlns:a="http://schemas.openxmlformats.org/drawingml/2006/main" xmlns:r="http://schemas.openxmlformats.org/officeDocument/2006/relationships" xmlns:p="http://schemas.openxmlformats.org/presentationml/2006/main">
  <p:tag name="NUM" val="4"/>
</p:tagLst>
</file>

<file path=ppt/tags/tag167.xml><?xml version="1.0" encoding="utf-8"?>
<p:tagLst xmlns:a="http://schemas.openxmlformats.org/drawingml/2006/main" xmlns:r="http://schemas.openxmlformats.org/officeDocument/2006/relationships" xmlns:p="http://schemas.openxmlformats.org/presentationml/2006/main">
  <p:tag name="NUM" val="1"/>
</p:tagLst>
</file>

<file path=ppt/tags/tag168.xml><?xml version="1.0" encoding="utf-8"?>
<p:tagLst xmlns:a="http://schemas.openxmlformats.org/drawingml/2006/main" xmlns:r="http://schemas.openxmlformats.org/officeDocument/2006/relationships" xmlns:p="http://schemas.openxmlformats.org/presentationml/2006/main">
  <p:tag name="NUM" val="2"/>
</p:tagLst>
</file>

<file path=ppt/tags/tag169.xml><?xml version="1.0" encoding="utf-8"?>
<p:tagLst xmlns:a="http://schemas.openxmlformats.org/drawingml/2006/main" xmlns:r="http://schemas.openxmlformats.org/officeDocument/2006/relationships" xmlns:p="http://schemas.openxmlformats.org/presentationml/2006/main">
  <p:tag name="NUM" val="3"/>
</p:tagLst>
</file>

<file path=ppt/tags/tag170.xml><?xml version="1.0" encoding="utf-8"?>
<p:tagLst xmlns:a="http://schemas.openxmlformats.org/drawingml/2006/main" xmlns:r="http://schemas.openxmlformats.org/officeDocument/2006/relationships" xmlns:p="http://schemas.openxmlformats.org/presentationml/2006/main">
  <p:tag name="NUM" val="4"/>
</p:tagLst>
</file>

<file path=ppt/tags/tag171.xml><?xml version="1.0" encoding="utf-8"?>
<p:tagLst xmlns:a="http://schemas.openxmlformats.org/drawingml/2006/main" xmlns:r="http://schemas.openxmlformats.org/officeDocument/2006/relationships" xmlns:p="http://schemas.openxmlformats.org/presentationml/2006/main">
  <p:tag name="NUM" val="5"/>
</p:tagLst>
</file>

<file path=ppt/tags/tag172.xml><?xml version="1.0" encoding="utf-8"?>
<p:tagLst xmlns:a="http://schemas.openxmlformats.org/drawingml/2006/main" xmlns:r="http://schemas.openxmlformats.org/officeDocument/2006/relationships" xmlns:p="http://schemas.openxmlformats.org/presentationml/2006/main">
  <p:tag name="NUM" val="6"/>
</p:tagLst>
</file>

<file path=ppt/tags/tag173.xml><?xml version="1.0" encoding="utf-8"?>
<p:tagLst xmlns:a="http://schemas.openxmlformats.org/drawingml/2006/main" xmlns:r="http://schemas.openxmlformats.org/officeDocument/2006/relationships" xmlns:p="http://schemas.openxmlformats.org/presentationml/2006/main">
  <p:tag name="NUM" val="7"/>
</p:tagLst>
</file>

<file path=ppt/tags/tag174.xml><?xml version="1.0" encoding="utf-8"?>
<p:tagLst xmlns:a="http://schemas.openxmlformats.org/drawingml/2006/main" xmlns:r="http://schemas.openxmlformats.org/officeDocument/2006/relationships" xmlns:p="http://schemas.openxmlformats.org/presentationml/2006/main">
  <p:tag name="NUM" val="8"/>
</p:tagLst>
</file>

<file path=ppt/tags/tag175.xml><?xml version="1.0" encoding="utf-8"?>
<p:tagLst xmlns:a="http://schemas.openxmlformats.org/drawingml/2006/main" xmlns:r="http://schemas.openxmlformats.org/officeDocument/2006/relationships" xmlns:p="http://schemas.openxmlformats.org/presentationml/2006/main">
  <p:tag name="NUM" val="9"/>
</p:tagLst>
</file>

<file path=ppt/tags/tag176.xml><?xml version="1.0" encoding="utf-8"?>
<p:tagLst xmlns:a="http://schemas.openxmlformats.org/drawingml/2006/main" xmlns:r="http://schemas.openxmlformats.org/officeDocument/2006/relationships" xmlns:p="http://schemas.openxmlformats.org/presentationml/2006/main">
  <p:tag name="NUM" val="10"/>
</p:tagLst>
</file>

<file path=ppt/tags/tag177.xml><?xml version="1.0" encoding="utf-8"?>
<p:tagLst xmlns:a="http://schemas.openxmlformats.org/drawingml/2006/main" xmlns:r="http://schemas.openxmlformats.org/officeDocument/2006/relationships" xmlns:p="http://schemas.openxmlformats.org/presentationml/2006/main">
  <p:tag name="NUM" val="11"/>
</p:tagLst>
</file>

<file path=ppt/tags/tag178.xml><?xml version="1.0" encoding="utf-8"?>
<p:tagLst xmlns:a="http://schemas.openxmlformats.org/drawingml/2006/main" xmlns:r="http://schemas.openxmlformats.org/officeDocument/2006/relationships" xmlns:p="http://schemas.openxmlformats.org/presentationml/2006/main">
  <p:tag name="NUM" val="12"/>
</p:tagLst>
</file>

<file path=ppt/tags/tag179.xml><?xml version="1.0" encoding="utf-8"?>
<p:tagLst xmlns:a="http://schemas.openxmlformats.org/drawingml/2006/main" xmlns:r="http://schemas.openxmlformats.org/officeDocument/2006/relationships" xmlns:p="http://schemas.openxmlformats.org/presentationml/2006/main">
  <p:tag name="NUM" val="13"/>
</p:tagLst>
</file>

<file path=ppt/tags/tag180.xml><?xml version="1.0" encoding="utf-8"?>
<p:tagLst xmlns:a="http://schemas.openxmlformats.org/drawingml/2006/main" xmlns:r="http://schemas.openxmlformats.org/officeDocument/2006/relationships" xmlns:p="http://schemas.openxmlformats.org/presentationml/2006/main">
  <p:tag name="NUM" val="14"/>
</p:tagLst>
</file>

<file path=ppt/tags/tag181.xml><?xml version="1.0" encoding="utf-8"?>
<p:tagLst xmlns:a="http://schemas.openxmlformats.org/drawingml/2006/main" xmlns:r="http://schemas.openxmlformats.org/officeDocument/2006/relationships" xmlns:p="http://schemas.openxmlformats.org/presentationml/2006/main">
  <p:tag name="NUM" val="15"/>
</p:tagLst>
</file>

<file path=ppt/tags/tag182.xml><?xml version="1.0" encoding="utf-8"?>
<p:tagLst xmlns:a="http://schemas.openxmlformats.org/drawingml/2006/main" xmlns:r="http://schemas.openxmlformats.org/officeDocument/2006/relationships" xmlns:p="http://schemas.openxmlformats.org/presentationml/2006/main">
  <p:tag name="NUM" val="16"/>
</p:tagLst>
</file>

<file path=ppt/tags/tag183.xml><?xml version="1.0" encoding="utf-8"?>
<p:tagLst xmlns:a="http://schemas.openxmlformats.org/drawingml/2006/main" xmlns:r="http://schemas.openxmlformats.org/officeDocument/2006/relationships" xmlns:p="http://schemas.openxmlformats.org/presentationml/2006/main">
  <p:tag name="NUM" val="17"/>
</p:tagLst>
</file>

<file path=ppt/tags/tag184.xml><?xml version="1.0" encoding="utf-8"?>
<p:tagLst xmlns:a="http://schemas.openxmlformats.org/drawingml/2006/main" xmlns:r="http://schemas.openxmlformats.org/officeDocument/2006/relationships" xmlns:p="http://schemas.openxmlformats.org/presentationml/2006/main">
  <p:tag name="NUM" val="18"/>
</p:tagLst>
</file>

<file path=ppt/tags/tag185.xml><?xml version="1.0" encoding="utf-8"?>
<p:tagLst xmlns:a="http://schemas.openxmlformats.org/drawingml/2006/main" xmlns:r="http://schemas.openxmlformats.org/officeDocument/2006/relationships" xmlns:p="http://schemas.openxmlformats.org/presentationml/2006/main">
  <p:tag name="NUM" val="21"/>
</p:tagLst>
</file>

<file path=ppt/tags/tag186.xml><?xml version="1.0" encoding="utf-8"?>
<p:tagLst xmlns:a="http://schemas.openxmlformats.org/drawingml/2006/main" xmlns:r="http://schemas.openxmlformats.org/officeDocument/2006/relationships" xmlns:p="http://schemas.openxmlformats.org/presentationml/2006/main">
  <p:tag name="NUM" val="5"/>
</p:tagLst>
</file>

<file path=ppt/tags/tag187.xml><?xml version="1.0" encoding="utf-8"?>
<p:tagLst xmlns:a="http://schemas.openxmlformats.org/drawingml/2006/main" xmlns:r="http://schemas.openxmlformats.org/officeDocument/2006/relationships" xmlns:p="http://schemas.openxmlformats.org/presentationml/2006/main">
  <p:tag name="NUM" val="8"/>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2"/>
</p:tagLst>
</file>

<file path=ppt/tags/tag190.xml><?xml version="1.0" encoding="utf-8"?>
<p:tagLst xmlns:a="http://schemas.openxmlformats.org/drawingml/2006/main" xmlns:r="http://schemas.openxmlformats.org/officeDocument/2006/relationships" xmlns:p="http://schemas.openxmlformats.org/presentationml/2006/main">
  <p:tag name="NUM" val="3"/>
</p:tagLst>
</file>

<file path=ppt/tags/tag191.xml><?xml version="1.0" encoding="utf-8"?>
<p:tagLst xmlns:a="http://schemas.openxmlformats.org/drawingml/2006/main" xmlns:r="http://schemas.openxmlformats.org/officeDocument/2006/relationships" xmlns:p="http://schemas.openxmlformats.org/presentationml/2006/main">
  <p:tag name="NUM" val="4"/>
</p:tagLst>
</file>

<file path=ppt/tags/tag192.xml><?xml version="1.0" encoding="utf-8"?>
<p:tagLst xmlns:a="http://schemas.openxmlformats.org/drawingml/2006/main" xmlns:r="http://schemas.openxmlformats.org/officeDocument/2006/relationships" xmlns:p="http://schemas.openxmlformats.org/presentationml/2006/main">
  <p:tag name="NUM" val="5"/>
</p:tagLst>
</file>

<file path=ppt/tags/tag193.xml><?xml version="1.0" encoding="utf-8"?>
<p:tagLst xmlns:a="http://schemas.openxmlformats.org/drawingml/2006/main" xmlns:r="http://schemas.openxmlformats.org/officeDocument/2006/relationships" xmlns:p="http://schemas.openxmlformats.org/presentationml/2006/main">
  <p:tag name="NUM" val="6"/>
</p:tagLst>
</file>

<file path=ppt/tags/tag194.xml><?xml version="1.0" encoding="utf-8"?>
<p:tagLst xmlns:a="http://schemas.openxmlformats.org/drawingml/2006/main" xmlns:r="http://schemas.openxmlformats.org/officeDocument/2006/relationships" xmlns:p="http://schemas.openxmlformats.org/presentationml/2006/main">
  <p:tag name="NUM" val="8"/>
</p:tagLst>
</file>

<file path=ppt/tags/tag195.xml><?xml version="1.0" encoding="utf-8"?>
<p:tagLst xmlns:a="http://schemas.openxmlformats.org/drawingml/2006/main" xmlns:r="http://schemas.openxmlformats.org/officeDocument/2006/relationships" xmlns:p="http://schemas.openxmlformats.org/presentationml/2006/main">
  <p:tag name="NUM" val="10"/>
</p:tagLst>
</file>

<file path=ppt/tags/tag196.xml><?xml version="1.0" encoding="utf-8"?>
<p:tagLst xmlns:a="http://schemas.openxmlformats.org/drawingml/2006/main" xmlns:r="http://schemas.openxmlformats.org/officeDocument/2006/relationships" xmlns:p="http://schemas.openxmlformats.org/presentationml/2006/main">
  <p:tag name="NUM" val="11"/>
</p:tagLst>
</file>

<file path=ppt/tags/tag197.xml><?xml version="1.0" encoding="utf-8"?>
<p:tagLst xmlns:a="http://schemas.openxmlformats.org/drawingml/2006/main" xmlns:r="http://schemas.openxmlformats.org/officeDocument/2006/relationships" xmlns:p="http://schemas.openxmlformats.org/presentationml/2006/main">
  <p:tag name="NUM" val="13"/>
</p:tagLst>
</file>

<file path=ppt/tags/tag198.xml><?xml version="1.0" encoding="utf-8"?>
<p:tagLst xmlns:a="http://schemas.openxmlformats.org/drawingml/2006/main" xmlns:r="http://schemas.openxmlformats.org/officeDocument/2006/relationships" xmlns:p="http://schemas.openxmlformats.org/presentationml/2006/main">
  <p:tag name="NUM" val="14"/>
</p:tagLst>
</file>

<file path=ppt/tags/tag199.xml><?xml version="1.0" encoding="utf-8"?>
<p:tagLst xmlns:a="http://schemas.openxmlformats.org/drawingml/2006/main" xmlns:r="http://schemas.openxmlformats.org/officeDocument/2006/relationships" xmlns:p="http://schemas.openxmlformats.org/presentationml/2006/main">
  <p:tag name="NUM" val="15"/>
</p:tagLst>
</file>

<file path=ppt/tags/tag200.xml><?xml version="1.0" encoding="utf-8"?>
<p:tagLst xmlns:a="http://schemas.openxmlformats.org/drawingml/2006/main" xmlns:r="http://schemas.openxmlformats.org/officeDocument/2006/relationships" xmlns:p="http://schemas.openxmlformats.org/presentationml/2006/main">
  <p:tag name="NUM" val="18"/>
</p:tagLst>
</file>

<file path=ppt/tags/tag201.xml><?xml version="1.0" encoding="utf-8"?>
<p:tagLst xmlns:a="http://schemas.openxmlformats.org/drawingml/2006/main" xmlns:r="http://schemas.openxmlformats.org/officeDocument/2006/relationships" xmlns:p="http://schemas.openxmlformats.org/presentationml/2006/main">
  <p:tag name="NUM" val="19"/>
</p:tagLst>
</file>

<file path=ppt/tags/tag202.xml><?xml version="1.0" encoding="utf-8"?>
<p:tagLst xmlns:a="http://schemas.openxmlformats.org/drawingml/2006/main" xmlns:r="http://schemas.openxmlformats.org/officeDocument/2006/relationships" xmlns:p="http://schemas.openxmlformats.org/presentationml/2006/main">
  <p:tag name="NUM" val="20"/>
</p:tagLst>
</file>

<file path=ppt/tags/tag203.xml><?xml version="1.0" encoding="utf-8"?>
<p:tagLst xmlns:a="http://schemas.openxmlformats.org/drawingml/2006/main" xmlns:r="http://schemas.openxmlformats.org/officeDocument/2006/relationships" xmlns:p="http://schemas.openxmlformats.org/presentationml/2006/main">
  <p:tag name="NUM" val="21"/>
</p:tagLst>
</file>

<file path=ppt/tags/tag204.xml><?xml version="1.0" encoding="utf-8"?>
<p:tagLst xmlns:a="http://schemas.openxmlformats.org/drawingml/2006/main" xmlns:r="http://schemas.openxmlformats.org/officeDocument/2006/relationships" xmlns:p="http://schemas.openxmlformats.org/presentationml/2006/main">
  <p:tag name="NUM" val="22"/>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UM" val="3"/>
</p:tagLst>
</file>

<file path=ppt/tags/tag208.xml><?xml version="1.0" encoding="utf-8"?>
<p:tagLst xmlns:a="http://schemas.openxmlformats.org/drawingml/2006/main" xmlns:r="http://schemas.openxmlformats.org/officeDocument/2006/relationships" xmlns:p="http://schemas.openxmlformats.org/presentationml/2006/main">
  <p:tag name="NUM" val="4"/>
</p:tagLst>
</file>

<file path=ppt/tags/tag209.xml><?xml version="1.0" encoding="utf-8"?>
<p:tagLst xmlns:a="http://schemas.openxmlformats.org/drawingml/2006/main" xmlns:r="http://schemas.openxmlformats.org/officeDocument/2006/relationships" xmlns:p="http://schemas.openxmlformats.org/presentationml/2006/main">
  <p:tag name="NUM" val="13"/>
</p:tagLst>
</file>

<file path=ppt/tags/tag210.xml><?xml version="1.0" encoding="utf-8"?>
<p:tagLst xmlns:a="http://schemas.openxmlformats.org/drawingml/2006/main" xmlns:r="http://schemas.openxmlformats.org/officeDocument/2006/relationships" xmlns:p="http://schemas.openxmlformats.org/presentationml/2006/main">
  <p:tag name="NUM" val="15"/>
</p:tagLst>
</file>

<file path=ppt/tags/tag211.xml><?xml version="1.0" encoding="utf-8"?>
<p:tagLst xmlns:a="http://schemas.openxmlformats.org/drawingml/2006/main" xmlns:r="http://schemas.openxmlformats.org/officeDocument/2006/relationships" xmlns:p="http://schemas.openxmlformats.org/presentationml/2006/main">
  <p:tag name="NUM" val="16"/>
</p:tagLst>
</file>

<file path=ppt/tags/tag212.xml><?xml version="1.0" encoding="utf-8"?>
<p:tagLst xmlns:a="http://schemas.openxmlformats.org/drawingml/2006/main" xmlns:r="http://schemas.openxmlformats.org/officeDocument/2006/relationships" xmlns:p="http://schemas.openxmlformats.org/presentationml/2006/main">
  <p:tag name="NUM" val="17"/>
</p:tagLst>
</file>

<file path=ppt/tags/tag213.xml><?xml version="1.0" encoding="utf-8"?>
<p:tagLst xmlns:a="http://schemas.openxmlformats.org/drawingml/2006/main" xmlns:r="http://schemas.openxmlformats.org/officeDocument/2006/relationships" xmlns:p="http://schemas.openxmlformats.org/presentationml/2006/main">
  <p:tag name="NUM" val="18"/>
</p:tagLst>
</file>

<file path=ppt/tags/tag214.xml><?xml version="1.0" encoding="utf-8"?>
<p:tagLst xmlns:a="http://schemas.openxmlformats.org/drawingml/2006/main" xmlns:r="http://schemas.openxmlformats.org/officeDocument/2006/relationships" xmlns:p="http://schemas.openxmlformats.org/presentationml/2006/main">
  <p:tag name="NUM" val="2"/>
</p:tagLst>
</file>

<file path=ppt/tags/tag215.xml><?xml version="1.0" encoding="utf-8"?>
<p:tagLst xmlns:a="http://schemas.openxmlformats.org/drawingml/2006/main" xmlns:r="http://schemas.openxmlformats.org/officeDocument/2006/relationships" xmlns:p="http://schemas.openxmlformats.org/presentationml/2006/main">
  <p:tag name="NUM" val="5"/>
</p:tagLst>
</file>

<file path=ppt/tags/tag216.xml><?xml version="1.0" encoding="utf-8"?>
<p:tagLst xmlns:a="http://schemas.openxmlformats.org/drawingml/2006/main" xmlns:r="http://schemas.openxmlformats.org/officeDocument/2006/relationships" xmlns:p="http://schemas.openxmlformats.org/presentationml/2006/main">
  <p:tag name="NUM" val="6"/>
</p:tagLst>
</file>

<file path=ppt/tags/tag217.xml><?xml version="1.0" encoding="utf-8"?>
<p:tagLst xmlns:a="http://schemas.openxmlformats.org/drawingml/2006/main" xmlns:r="http://schemas.openxmlformats.org/officeDocument/2006/relationships" xmlns:p="http://schemas.openxmlformats.org/presentationml/2006/main">
  <p:tag name="NUM" val="7"/>
</p:tagLst>
</file>

<file path=ppt/tags/tag218.xml><?xml version="1.0" encoding="utf-8"?>
<p:tagLst xmlns:a="http://schemas.openxmlformats.org/drawingml/2006/main" xmlns:r="http://schemas.openxmlformats.org/officeDocument/2006/relationships" xmlns:p="http://schemas.openxmlformats.org/presentationml/2006/main">
  <p:tag name="NUM" val="8"/>
</p:tagLst>
</file>

<file path=ppt/tags/tag219.xml><?xml version="1.0" encoding="utf-8"?>
<p:tagLst xmlns:a="http://schemas.openxmlformats.org/drawingml/2006/main" xmlns:r="http://schemas.openxmlformats.org/officeDocument/2006/relationships" xmlns:p="http://schemas.openxmlformats.org/presentationml/2006/main">
  <p:tag name="NUM" val="9"/>
</p:tagLst>
</file>

<file path=ppt/tags/tag220.xml><?xml version="1.0" encoding="utf-8"?>
<p:tagLst xmlns:a="http://schemas.openxmlformats.org/drawingml/2006/main" xmlns:r="http://schemas.openxmlformats.org/officeDocument/2006/relationships" xmlns:p="http://schemas.openxmlformats.org/presentationml/2006/main">
  <p:tag name="NUM" val="10"/>
</p:tagLst>
</file>

<file path=ppt/tags/tag221.xml><?xml version="1.0" encoding="utf-8"?>
<p:tagLst xmlns:a="http://schemas.openxmlformats.org/drawingml/2006/main" xmlns:r="http://schemas.openxmlformats.org/officeDocument/2006/relationships" xmlns:p="http://schemas.openxmlformats.org/presentationml/2006/main">
  <p:tag name="NUM" val="11"/>
</p:tagLst>
</file>

<file path=ppt/tags/tag222.xml><?xml version="1.0" encoding="utf-8"?>
<p:tagLst xmlns:a="http://schemas.openxmlformats.org/drawingml/2006/main" xmlns:r="http://schemas.openxmlformats.org/officeDocument/2006/relationships" xmlns:p="http://schemas.openxmlformats.org/presentationml/2006/main">
  <p:tag name="NUM" val="12"/>
</p:tagLst>
</file>

<file path=ppt/tags/tag223.xml><?xml version="1.0" encoding="utf-8"?>
<p:tagLst xmlns:a="http://schemas.openxmlformats.org/drawingml/2006/main" xmlns:r="http://schemas.openxmlformats.org/officeDocument/2006/relationships" xmlns:p="http://schemas.openxmlformats.org/presentationml/2006/main">
  <p:tag name="NUM" val="18"/>
</p:tagLst>
</file>

<file path=ppt/tags/tag224.xml><?xml version="1.0" encoding="utf-8"?>
<p:tagLst xmlns:a="http://schemas.openxmlformats.org/drawingml/2006/main" xmlns:r="http://schemas.openxmlformats.org/officeDocument/2006/relationships" xmlns:p="http://schemas.openxmlformats.org/presentationml/2006/main">
  <p:tag name="NUM" val="18"/>
</p:tagLst>
</file>

<file path=ppt/tags/tag225.xml><?xml version="1.0" encoding="utf-8"?>
<p:tagLst xmlns:a="http://schemas.openxmlformats.org/drawingml/2006/main" xmlns:r="http://schemas.openxmlformats.org/officeDocument/2006/relationships" xmlns:p="http://schemas.openxmlformats.org/presentationml/2006/main">
  <p:tag name="NUM" val="13"/>
</p:tagLst>
</file>

<file path=ppt/tags/tag226.xml><?xml version="1.0" encoding="utf-8"?>
<p:tagLst xmlns:a="http://schemas.openxmlformats.org/drawingml/2006/main" xmlns:r="http://schemas.openxmlformats.org/officeDocument/2006/relationships" xmlns:p="http://schemas.openxmlformats.org/presentationml/2006/main">
  <p:tag name="NUM" val="13"/>
</p:tagLst>
</file>

<file path=ppt/tags/tag227.xml><?xml version="1.0" encoding="utf-8"?>
<p:tagLst xmlns:a="http://schemas.openxmlformats.org/drawingml/2006/main" xmlns:r="http://schemas.openxmlformats.org/officeDocument/2006/relationships" xmlns:p="http://schemas.openxmlformats.org/presentationml/2006/main">
  <p:tag name="NUM" val="13"/>
</p:tagLst>
</file>

<file path=ppt/tags/tag228.xml><?xml version="1.0" encoding="utf-8"?>
<p:tagLst xmlns:a="http://schemas.openxmlformats.org/drawingml/2006/main" xmlns:r="http://schemas.openxmlformats.org/officeDocument/2006/relationships" xmlns:p="http://schemas.openxmlformats.org/presentationml/2006/main">
  <p:tag name="NUM" val="13"/>
</p:tagLst>
</file>

<file path=ppt/tags/tag229.xml><?xml version="1.0" encoding="utf-8"?>
<p:tagLst xmlns:a="http://schemas.openxmlformats.org/drawingml/2006/main" xmlns:r="http://schemas.openxmlformats.org/officeDocument/2006/relationships" xmlns:p="http://schemas.openxmlformats.org/presentationml/2006/main">
  <p:tag name="NUM" val="13"/>
</p:tagLst>
</file>

<file path=ppt/tags/tag230.xml><?xml version="1.0" encoding="utf-8"?>
<p:tagLst xmlns:a="http://schemas.openxmlformats.org/drawingml/2006/main" xmlns:r="http://schemas.openxmlformats.org/officeDocument/2006/relationships" xmlns:p="http://schemas.openxmlformats.org/presentationml/2006/main">
  <p:tag name="NUM" val="13"/>
</p:tagLst>
</file>

<file path=ppt/tags/tag231.xml><?xml version="1.0" encoding="utf-8"?>
<p:tagLst xmlns:a="http://schemas.openxmlformats.org/drawingml/2006/main" xmlns:r="http://schemas.openxmlformats.org/officeDocument/2006/relationships" xmlns:p="http://schemas.openxmlformats.org/presentationml/2006/main">
  <p:tag name="NUM" val="13"/>
</p:tagLst>
</file>

<file path=ppt/tags/tag232.xml><?xml version="1.0" encoding="utf-8"?>
<p:tagLst xmlns:a="http://schemas.openxmlformats.org/drawingml/2006/main" xmlns:r="http://schemas.openxmlformats.org/officeDocument/2006/relationships" xmlns:p="http://schemas.openxmlformats.org/presentationml/2006/main">
  <p:tag name="NUM" val="13"/>
</p:tagLst>
</file>

<file path=ppt/tags/tag233.xml><?xml version="1.0" encoding="utf-8"?>
<p:tagLst xmlns:a="http://schemas.openxmlformats.org/drawingml/2006/main" xmlns:r="http://schemas.openxmlformats.org/officeDocument/2006/relationships" xmlns:p="http://schemas.openxmlformats.org/presentationml/2006/main">
  <p:tag name="NUM" val="12"/>
</p:tagLst>
</file>

<file path=ppt/tags/tag234.xml><?xml version="1.0" encoding="utf-8"?>
<p:tagLst xmlns:a="http://schemas.openxmlformats.org/drawingml/2006/main" xmlns:r="http://schemas.openxmlformats.org/officeDocument/2006/relationships" xmlns:p="http://schemas.openxmlformats.org/presentationml/2006/main">
  <p:tag name="NUM" val="16"/>
</p:tagLst>
</file>

<file path=ppt/tags/tag235.xml><?xml version="1.0" encoding="utf-8"?>
<p:tagLst xmlns:a="http://schemas.openxmlformats.org/drawingml/2006/main" xmlns:r="http://schemas.openxmlformats.org/officeDocument/2006/relationships" xmlns:p="http://schemas.openxmlformats.org/presentationml/2006/main">
  <p:tag name="NUM" val="13"/>
</p:tagLst>
</file>

<file path=ppt/tags/tag236.xml><?xml version="1.0" encoding="utf-8"?>
<p:tagLst xmlns:a="http://schemas.openxmlformats.org/drawingml/2006/main" xmlns:r="http://schemas.openxmlformats.org/officeDocument/2006/relationships" xmlns:p="http://schemas.openxmlformats.org/presentationml/2006/main">
  <p:tag name="NUM" val="3"/>
</p:tagLst>
</file>

<file path=ppt/tags/tag237.xml><?xml version="1.0" encoding="utf-8"?>
<p:tagLst xmlns:a="http://schemas.openxmlformats.org/drawingml/2006/main" xmlns:r="http://schemas.openxmlformats.org/officeDocument/2006/relationships" xmlns:p="http://schemas.openxmlformats.org/presentationml/2006/main">
  <p:tag name="NUM" val="13"/>
</p:tagLst>
</file>

<file path=ppt/tags/tag238.xml><?xml version="1.0" encoding="utf-8"?>
<p:tagLst xmlns:a="http://schemas.openxmlformats.org/drawingml/2006/main" xmlns:r="http://schemas.openxmlformats.org/officeDocument/2006/relationships" xmlns:p="http://schemas.openxmlformats.org/presentationml/2006/main">
  <p:tag name="NUM" val="1"/>
</p:tagLst>
</file>

<file path=ppt/tags/tag239.xml><?xml version="1.0" encoding="utf-8"?>
<p:tagLst xmlns:a="http://schemas.openxmlformats.org/drawingml/2006/main" xmlns:r="http://schemas.openxmlformats.org/officeDocument/2006/relationships" xmlns:p="http://schemas.openxmlformats.org/presentationml/2006/main">
  <p:tag name="NUM" val="4"/>
</p:tagLst>
</file>

<file path=ppt/tags/tag240.xml><?xml version="1.0" encoding="utf-8"?>
<p:tagLst xmlns:a="http://schemas.openxmlformats.org/drawingml/2006/main" xmlns:r="http://schemas.openxmlformats.org/officeDocument/2006/relationships" xmlns:p="http://schemas.openxmlformats.org/presentationml/2006/main">
  <p:tag name="NUM" val="6"/>
</p:tagLst>
</file>

<file path=ppt/tags/tag241.xml><?xml version="1.0" encoding="utf-8"?>
<p:tagLst xmlns:a="http://schemas.openxmlformats.org/drawingml/2006/main" xmlns:r="http://schemas.openxmlformats.org/officeDocument/2006/relationships" xmlns:p="http://schemas.openxmlformats.org/presentationml/2006/main">
  <p:tag name="NUM" val="3"/>
</p:tagLst>
</file>

<file path=ppt/tags/tag242.xml><?xml version="1.0" encoding="utf-8"?>
<p:tagLst xmlns:a="http://schemas.openxmlformats.org/drawingml/2006/main" xmlns:r="http://schemas.openxmlformats.org/officeDocument/2006/relationships" xmlns:p="http://schemas.openxmlformats.org/presentationml/2006/main">
  <p:tag name="NUM" val="18"/>
</p:tagLst>
</file>

<file path=ppt/tags/tag243.xml><?xml version="1.0" encoding="utf-8"?>
<p:tagLst xmlns:a="http://schemas.openxmlformats.org/drawingml/2006/main" xmlns:r="http://schemas.openxmlformats.org/officeDocument/2006/relationships" xmlns:p="http://schemas.openxmlformats.org/presentationml/2006/main">
  <p:tag name="NUM" val="18"/>
</p:tagLst>
</file>

<file path=ppt/tags/tag244.xml><?xml version="1.0" encoding="utf-8"?>
<p:tagLst xmlns:a="http://schemas.openxmlformats.org/drawingml/2006/main" xmlns:r="http://schemas.openxmlformats.org/officeDocument/2006/relationships" xmlns:p="http://schemas.openxmlformats.org/presentationml/2006/main">
  <p:tag name="NUM" val="1"/>
</p:tagLst>
</file>

<file path=ppt/tags/tag245.xml><?xml version="1.0" encoding="utf-8"?>
<p:tagLst xmlns:a="http://schemas.openxmlformats.org/drawingml/2006/main" xmlns:r="http://schemas.openxmlformats.org/officeDocument/2006/relationships" xmlns:p="http://schemas.openxmlformats.org/presentationml/2006/main">
  <p:tag name="NUM" val="4"/>
</p:tagLst>
</file>

<file path=ppt/tags/tag246.xml><?xml version="1.0" encoding="utf-8"?>
<p:tagLst xmlns:a="http://schemas.openxmlformats.org/drawingml/2006/main" xmlns:r="http://schemas.openxmlformats.org/officeDocument/2006/relationships" xmlns:p="http://schemas.openxmlformats.org/presentationml/2006/main">
  <p:tag name="NUM" val="6"/>
</p:tagLst>
</file>

<file path=ppt/tags/tag247.xml><?xml version="1.0" encoding="utf-8"?>
<p:tagLst xmlns:a="http://schemas.openxmlformats.org/drawingml/2006/main" xmlns:r="http://schemas.openxmlformats.org/officeDocument/2006/relationships" xmlns:p="http://schemas.openxmlformats.org/presentationml/2006/main">
  <p:tag name="NUM" val="2"/>
</p:tagLst>
</file>

<file path=ppt/tags/tag248.xml><?xml version="1.0" encoding="utf-8"?>
<p:tagLst xmlns:a="http://schemas.openxmlformats.org/drawingml/2006/main" xmlns:r="http://schemas.openxmlformats.org/officeDocument/2006/relationships" xmlns:p="http://schemas.openxmlformats.org/presentationml/2006/main">
  <p:tag name="NUM" val="2"/>
</p:tagLst>
</file>

<file path=ppt/tags/tag249.xml><?xml version="1.0" encoding="utf-8"?>
<p:tagLst xmlns:a="http://schemas.openxmlformats.org/drawingml/2006/main" xmlns:r="http://schemas.openxmlformats.org/officeDocument/2006/relationships" xmlns:p="http://schemas.openxmlformats.org/presentationml/2006/main">
  <p:tag name="NUM" val="1"/>
</p:tagLst>
</file>

<file path=ppt/tags/tag250.xml><?xml version="1.0" encoding="utf-8"?>
<p:tagLst xmlns:a="http://schemas.openxmlformats.org/drawingml/2006/main" xmlns:r="http://schemas.openxmlformats.org/officeDocument/2006/relationships" xmlns:p="http://schemas.openxmlformats.org/presentationml/2006/main">
  <p:tag name="NUM" val="2"/>
</p:tagLst>
</file>

<file path=ppt/tags/tag251.xml><?xml version="1.0" encoding="utf-8"?>
<p:tagLst xmlns:a="http://schemas.openxmlformats.org/drawingml/2006/main" xmlns:r="http://schemas.openxmlformats.org/officeDocument/2006/relationships" xmlns:p="http://schemas.openxmlformats.org/presentationml/2006/main">
  <p:tag name="NUM" val="4"/>
</p:tagLst>
</file>

<file path=ppt/tags/tag252.xml><?xml version="1.0" encoding="utf-8"?>
<p:tagLst xmlns:a="http://schemas.openxmlformats.org/drawingml/2006/main" xmlns:r="http://schemas.openxmlformats.org/officeDocument/2006/relationships" xmlns:p="http://schemas.openxmlformats.org/presentationml/2006/main">
  <p:tag name="NUM" val="6"/>
</p:tagLst>
</file>

<file path=ppt/tags/tag253.xml><?xml version="1.0" encoding="utf-8"?>
<p:tagLst xmlns:a="http://schemas.openxmlformats.org/drawingml/2006/main" xmlns:r="http://schemas.openxmlformats.org/officeDocument/2006/relationships" xmlns:p="http://schemas.openxmlformats.org/presentationml/2006/main">
  <p:tag name="NUM" val="1"/>
</p:tagLst>
</file>

<file path=ppt/tags/tag254.xml><?xml version="1.0" encoding="utf-8"?>
<p:tagLst xmlns:a="http://schemas.openxmlformats.org/drawingml/2006/main" xmlns:r="http://schemas.openxmlformats.org/officeDocument/2006/relationships" xmlns:p="http://schemas.openxmlformats.org/presentationml/2006/main">
  <p:tag name="NUM" val="2"/>
</p:tagLst>
</file>

<file path=ppt/tags/tag255.xml><?xml version="1.0" encoding="utf-8"?>
<p:tagLst xmlns:a="http://schemas.openxmlformats.org/drawingml/2006/main" xmlns:r="http://schemas.openxmlformats.org/officeDocument/2006/relationships" xmlns:p="http://schemas.openxmlformats.org/presentationml/2006/main">
  <p:tag name="NUM" val="3"/>
</p:tagLst>
</file>

<file path=ppt/tags/tag256.xml><?xml version="1.0" encoding="utf-8"?>
<p:tagLst xmlns:a="http://schemas.openxmlformats.org/drawingml/2006/main" xmlns:r="http://schemas.openxmlformats.org/officeDocument/2006/relationships" xmlns:p="http://schemas.openxmlformats.org/presentationml/2006/main">
  <p:tag name="NUM" val="4"/>
</p:tagLst>
</file>

<file path=ppt/tags/tag257.xml><?xml version="1.0" encoding="utf-8"?>
<p:tagLst xmlns:a="http://schemas.openxmlformats.org/drawingml/2006/main" xmlns:r="http://schemas.openxmlformats.org/officeDocument/2006/relationships" xmlns:p="http://schemas.openxmlformats.org/presentationml/2006/main">
  <p:tag name="NUM" val="5"/>
</p:tagLst>
</file>

<file path=ppt/tags/tag258.xml><?xml version="1.0" encoding="utf-8"?>
<p:tagLst xmlns:a="http://schemas.openxmlformats.org/drawingml/2006/main" xmlns:r="http://schemas.openxmlformats.org/officeDocument/2006/relationships" xmlns:p="http://schemas.openxmlformats.org/presentationml/2006/main">
  <p:tag name="NUM" val="1"/>
</p:tagLst>
</file>

<file path=ppt/tags/tag259.xml><?xml version="1.0" encoding="utf-8"?>
<p:tagLst xmlns:a="http://schemas.openxmlformats.org/drawingml/2006/main" xmlns:r="http://schemas.openxmlformats.org/officeDocument/2006/relationships" xmlns:p="http://schemas.openxmlformats.org/presentationml/2006/main">
  <p:tag name="NUM" val="2"/>
</p:tagLst>
</file>

<file path=ppt/tags/tag260.xml><?xml version="1.0" encoding="utf-8"?>
<p:tagLst xmlns:a="http://schemas.openxmlformats.org/drawingml/2006/main" xmlns:r="http://schemas.openxmlformats.org/officeDocument/2006/relationships" xmlns:p="http://schemas.openxmlformats.org/presentationml/2006/main">
  <p:tag name="NUM" val="3"/>
</p:tagLst>
</file>

<file path=ppt/tags/tag261.xml><?xml version="1.0" encoding="utf-8"?>
<p:tagLst xmlns:a="http://schemas.openxmlformats.org/drawingml/2006/main" xmlns:r="http://schemas.openxmlformats.org/officeDocument/2006/relationships" xmlns:p="http://schemas.openxmlformats.org/presentationml/2006/main">
  <p:tag name="NOPREFERENCE" val="False"/>
</p:tagLst>
</file>

<file path=ppt/tags/tag262.xml><?xml version="1.0" encoding="utf-8"?>
<p:tagLst xmlns:a="http://schemas.openxmlformats.org/drawingml/2006/main" xmlns:r="http://schemas.openxmlformats.org/officeDocument/2006/relationships" xmlns:p="http://schemas.openxmlformats.org/presentationml/2006/main">
  <p:tag name="NUM" val="1"/>
</p:tagLst>
</file>

<file path=ppt/tags/tag263.xml><?xml version="1.0" encoding="utf-8"?>
<p:tagLst xmlns:a="http://schemas.openxmlformats.org/drawingml/2006/main" xmlns:r="http://schemas.openxmlformats.org/officeDocument/2006/relationships" xmlns:p="http://schemas.openxmlformats.org/presentationml/2006/main">
  <p:tag name="NUM" val="2"/>
</p:tagLst>
</file>

<file path=ppt/tags/tag264.xml><?xml version="1.0" encoding="utf-8"?>
<p:tagLst xmlns:a="http://schemas.openxmlformats.org/drawingml/2006/main" xmlns:r="http://schemas.openxmlformats.org/officeDocument/2006/relationships" xmlns:p="http://schemas.openxmlformats.org/presentationml/2006/main">
  <p:tag name="NUM" val="3"/>
</p:tagLst>
</file>

<file path=ppt/tags/tag265.xml><?xml version="1.0" encoding="utf-8"?>
<p:tagLst xmlns:a="http://schemas.openxmlformats.org/drawingml/2006/main" xmlns:r="http://schemas.openxmlformats.org/officeDocument/2006/relationships" xmlns:p="http://schemas.openxmlformats.org/presentationml/2006/main">
  <p:tag name="NUM" val="4"/>
</p:tagLst>
</file>

<file path=ppt/tags/tag266.xml><?xml version="1.0" encoding="utf-8"?>
<p:tagLst xmlns:a="http://schemas.openxmlformats.org/drawingml/2006/main" xmlns:r="http://schemas.openxmlformats.org/officeDocument/2006/relationships" xmlns:p="http://schemas.openxmlformats.org/presentationml/2006/main">
  <p:tag name="NUM" val="1"/>
</p:tagLst>
</file>

<file path=ppt/tags/tag267.xml><?xml version="1.0" encoding="utf-8"?>
<p:tagLst xmlns:a="http://schemas.openxmlformats.org/drawingml/2006/main" xmlns:r="http://schemas.openxmlformats.org/officeDocument/2006/relationships" xmlns:p="http://schemas.openxmlformats.org/presentationml/2006/main">
  <p:tag name="NUM" val="2"/>
</p:tagLst>
</file>

<file path=ppt/tags/tag268.xml><?xml version="1.0" encoding="utf-8"?>
<p:tagLst xmlns:a="http://schemas.openxmlformats.org/drawingml/2006/main" xmlns:r="http://schemas.openxmlformats.org/officeDocument/2006/relationships" xmlns:p="http://schemas.openxmlformats.org/presentationml/2006/main">
  <p:tag name="NUM" val="3"/>
</p:tagLst>
</file>

<file path=ppt/tags/tag269.xml><?xml version="1.0" encoding="utf-8"?>
<p:tagLst xmlns:a="http://schemas.openxmlformats.org/drawingml/2006/main" xmlns:r="http://schemas.openxmlformats.org/officeDocument/2006/relationships" xmlns:p="http://schemas.openxmlformats.org/presentationml/2006/main">
  <p:tag name="NUM" val="4"/>
</p:tagLst>
</file>

<file path=ppt/tags/tag270.xml><?xml version="1.0" encoding="utf-8"?>
<p:tagLst xmlns:a="http://schemas.openxmlformats.org/drawingml/2006/main" xmlns:r="http://schemas.openxmlformats.org/officeDocument/2006/relationships" xmlns:p="http://schemas.openxmlformats.org/presentationml/2006/main">
  <p:tag name="NUM" val="1"/>
</p:tagLst>
</file>

<file path=ppt/tags/tag271.xml><?xml version="1.0" encoding="utf-8"?>
<p:tagLst xmlns:a="http://schemas.openxmlformats.org/drawingml/2006/main" xmlns:r="http://schemas.openxmlformats.org/officeDocument/2006/relationships" xmlns:p="http://schemas.openxmlformats.org/presentationml/2006/main">
  <p:tag name="NUM" val="2"/>
</p:tagLst>
</file>

<file path=ppt/tags/tag272.xml><?xml version="1.0" encoding="utf-8"?>
<p:tagLst xmlns:a="http://schemas.openxmlformats.org/drawingml/2006/main" xmlns:r="http://schemas.openxmlformats.org/officeDocument/2006/relationships" xmlns:p="http://schemas.openxmlformats.org/presentationml/2006/main">
  <p:tag name="NUM" val="3"/>
</p:tagLst>
</file>

<file path=ppt/tags/tag273.xml><?xml version="1.0" encoding="utf-8"?>
<p:tagLst xmlns:a="http://schemas.openxmlformats.org/drawingml/2006/main" xmlns:r="http://schemas.openxmlformats.org/officeDocument/2006/relationships" xmlns:p="http://schemas.openxmlformats.org/presentationml/2006/main">
  <p:tag name="NUM" val="4"/>
</p:tagLst>
</file>

<file path=ppt/tags/tag274.xml><?xml version="1.0" encoding="utf-8"?>
<p:tagLst xmlns:a="http://schemas.openxmlformats.org/drawingml/2006/main" xmlns:r="http://schemas.openxmlformats.org/officeDocument/2006/relationships" xmlns:p="http://schemas.openxmlformats.org/presentationml/2006/main">
  <p:tag name="NUM" val="5"/>
</p:tagLst>
</file>

<file path=ppt/tags/tag275.xml><?xml version="1.0" encoding="utf-8"?>
<p:tagLst xmlns:a="http://schemas.openxmlformats.org/drawingml/2006/main" xmlns:r="http://schemas.openxmlformats.org/officeDocument/2006/relationships" xmlns:p="http://schemas.openxmlformats.org/presentationml/2006/main">
  <p:tag name="NUM" val="6"/>
</p:tagLst>
</file>

<file path=ppt/tags/tag276.xml><?xml version="1.0" encoding="utf-8"?>
<p:tagLst xmlns:a="http://schemas.openxmlformats.org/drawingml/2006/main" xmlns:r="http://schemas.openxmlformats.org/officeDocument/2006/relationships" xmlns:p="http://schemas.openxmlformats.org/presentationml/2006/main">
  <p:tag name="NUM" val="7"/>
</p:tagLst>
</file>

<file path=ppt/tags/tag277.xml><?xml version="1.0" encoding="utf-8"?>
<p:tagLst xmlns:a="http://schemas.openxmlformats.org/drawingml/2006/main" xmlns:r="http://schemas.openxmlformats.org/officeDocument/2006/relationships" xmlns:p="http://schemas.openxmlformats.org/presentationml/2006/main">
  <p:tag name="NUM" val="8"/>
</p:tagLst>
</file>

<file path=ppt/tags/tag278.xml><?xml version="1.0" encoding="utf-8"?>
<p:tagLst xmlns:a="http://schemas.openxmlformats.org/drawingml/2006/main" xmlns:r="http://schemas.openxmlformats.org/officeDocument/2006/relationships" xmlns:p="http://schemas.openxmlformats.org/presentationml/2006/main">
  <p:tag name="NUM" val="9"/>
</p:tagLst>
</file>

<file path=ppt/tags/tag279.xml><?xml version="1.0" encoding="utf-8"?>
<p:tagLst xmlns:a="http://schemas.openxmlformats.org/drawingml/2006/main" xmlns:r="http://schemas.openxmlformats.org/officeDocument/2006/relationships" xmlns:p="http://schemas.openxmlformats.org/presentationml/2006/main">
  <p:tag name="NUM" val="10"/>
</p:tagLst>
</file>

<file path=ppt/tags/tag280.xml><?xml version="1.0" encoding="utf-8"?>
<p:tagLst xmlns:a="http://schemas.openxmlformats.org/drawingml/2006/main" xmlns:r="http://schemas.openxmlformats.org/officeDocument/2006/relationships" xmlns:p="http://schemas.openxmlformats.org/presentationml/2006/main">
  <p:tag name="NUM" val="11"/>
</p:tagLst>
</file>

<file path=ppt/tags/tag281.xml><?xml version="1.0" encoding="utf-8"?>
<p:tagLst xmlns:a="http://schemas.openxmlformats.org/drawingml/2006/main" xmlns:r="http://schemas.openxmlformats.org/officeDocument/2006/relationships" xmlns:p="http://schemas.openxmlformats.org/presentationml/2006/main">
  <p:tag name="NUM" val="12"/>
</p:tagLst>
</file>

<file path=ppt/tags/tag282.xml><?xml version="1.0" encoding="utf-8"?>
<p:tagLst xmlns:a="http://schemas.openxmlformats.org/drawingml/2006/main" xmlns:r="http://schemas.openxmlformats.org/officeDocument/2006/relationships" xmlns:p="http://schemas.openxmlformats.org/presentationml/2006/main">
  <p:tag name="NUM" val="1"/>
</p:tagLst>
</file>

<file path=ppt/tags/tag283.xml><?xml version="1.0" encoding="utf-8"?>
<p:tagLst xmlns:a="http://schemas.openxmlformats.org/drawingml/2006/main" xmlns:r="http://schemas.openxmlformats.org/officeDocument/2006/relationships" xmlns:p="http://schemas.openxmlformats.org/presentationml/2006/main">
  <p:tag name="NUM" val="3"/>
</p:tagLst>
</file>

<file path=ppt/tags/tag284.xml><?xml version="1.0" encoding="utf-8"?>
<p:tagLst xmlns:a="http://schemas.openxmlformats.org/drawingml/2006/main" xmlns:r="http://schemas.openxmlformats.org/officeDocument/2006/relationships" xmlns:p="http://schemas.openxmlformats.org/presentationml/2006/main">
  <p:tag name="NUM" val="4"/>
</p:tagLst>
</file>

<file path=ppt/tags/tag285.xml><?xml version="1.0" encoding="utf-8"?>
<p:tagLst xmlns:a="http://schemas.openxmlformats.org/drawingml/2006/main" xmlns:r="http://schemas.openxmlformats.org/officeDocument/2006/relationships" xmlns:p="http://schemas.openxmlformats.org/presentationml/2006/main">
  <p:tag name="NUM" val="5"/>
</p:tagLst>
</file>

<file path=ppt/tags/tag286.xml><?xml version="1.0" encoding="utf-8"?>
<p:tagLst xmlns:a="http://schemas.openxmlformats.org/drawingml/2006/main" xmlns:r="http://schemas.openxmlformats.org/officeDocument/2006/relationships" xmlns:p="http://schemas.openxmlformats.org/presentationml/2006/main">
  <p:tag name="NUM" val="6"/>
</p:tagLst>
</file>

<file path=ppt/tags/tag287.xml><?xml version="1.0" encoding="utf-8"?>
<p:tagLst xmlns:a="http://schemas.openxmlformats.org/drawingml/2006/main" xmlns:r="http://schemas.openxmlformats.org/officeDocument/2006/relationships" xmlns:p="http://schemas.openxmlformats.org/presentationml/2006/main">
  <p:tag name="NUM" val="8"/>
</p:tagLst>
</file>

<file path=ppt/tags/tag288.xml><?xml version="1.0" encoding="utf-8"?>
<p:tagLst xmlns:a="http://schemas.openxmlformats.org/drawingml/2006/main" xmlns:r="http://schemas.openxmlformats.org/officeDocument/2006/relationships" xmlns:p="http://schemas.openxmlformats.org/presentationml/2006/main">
  <p:tag name="NUM" val="9"/>
</p:tagLst>
</file>

<file path=ppt/tags/tag289.xml><?xml version="1.0" encoding="utf-8"?>
<p:tagLst xmlns:a="http://schemas.openxmlformats.org/drawingml/2006/main" xmlns:r="http://schemas.openxmlformats.org/officeDocument/2006/relationships" xmlns:p="http://schemas.openxmlformats.org/presentationml/2006/main">
  <p:tag name="NUM" val="10"/>
</p:tagLst>
</file>

<file path=ppt/tags/tag290.xml><?xml version="1.0" encoding="utf-8"?>
<p:tagLst xmlns:a="http://schemas.openxmlformats.org/drawingml/2006/main" xmlns:r="http://schemas.openxmlformats.org/officeDocument/2006/relationships" xmlns:p="http://schemas.openxmlformats.org/presentationml/2006/main">
  <p:tag name="NUM" val="11"/>
</p:tagLst>
</file>

<file path=ppt/tags/tag291.xml><?xml version="1.0" encoding="utf-8"?>
<p:tagLst xmlns:a="http://schemas.openxmlformats.org/drawingml/2006/main" xmlns:r="http://schemas.openxmlformats.org/officeDocument/2006/relationships" xmlns:p="http://schemas.openxmlformats.org/presentationml/2006/main">
  <p:tag name="NUM" val="12"/>
</p:tagLst>
</file>

<file path=ppt/tags/tag292.xml><?xml version="1.0" encoding="utf-8"?>
<p:tagLst xmlns:a="http://schemas.openxmlformats.org/drawingml/2006/main" xmlns:r="http://schemas.openxmlformats.org/officeDocument/2006/relationships" xmlns:p="http://schemas.openxmlformats.org/presentationml/2006/main">
  <p:tag name="NUM" val="13"/>
</p:tagLst>
</file>

<file path=ppt/tags/tag293.xml><?xml version="1.0" encoding="utf-8"?>
<p:tagLst xmlns:a="http://schemas.openxmlformats.org/drawingml/2006/main" xmlns:r="http://schemas.openxmlformats.org/officeDocument/2006/relationships" xmlns:p="http://schemas.openxmlformats.org/presentationml/2006/main">
  <p:tag name="NUM" val="14"/>
</p:tagLst>
</file>

<file path=ppt/tags/tag294.xml><?xml version="1.0" encoding="utf-8"?>
<p:tagLst xmlns:a="http://schemas.openxmlformats.org/drawingml/2006/main" xmlns:r="http://schemas.openxmlformats.org/officeDocument/2006/relationships" xmlns:p="http://schemas.openxmlformats.org/presentationml/2006/main">
  <p:tag name="NUM" val="15"/>
</p:tagLst>
</file>

<file path=ppt/tags/tag295.xml><?xml version="1.0" encoding="utf-8"?>
<p:tagLst xmlns:a="http://schemas.openxmlformats.org/drawingml/2006/main" xmlns:r="http://schemas.openxmlformats.org/officeDocument/2006/relationships" xmlns:p="http://schemas.openxmlformats.org/presentationml/2006/main">
  <p:tag name="NUM" val="16"/>
</p:tagLst>
</file>

<file path=ppt/tags/tag296.xml><?xml version="1.0" encoding="utf-8"?>
<p:tagLst xmlns:a="http://schemas.openxmlformats.org/drawingml/2006/main" xmlns:r="http://schemas.openxmlformats.org/officeDocument/2006/relationships" xmlns:p="http://schemas.openxmlformats.org/presentationml/2006/main">
  <p:tag name="NUM" val="17"/>
</p:tagLst>
</file>

<file path=ppt/tags/tag297.xml><?xml version="1.0" encoding="utf-8"?>
<p:tagLst xmlns:a="http://schemas.openxmlformats.org/drawingml/2006/main" xmlns:r="http://schemas.openxmlformats.org/officeDocument/2006/relationships" xmlns:p="http://schemas.openxmlformats.org/presentationml/2006/main">
  <p:tag name="NUM" val="18"/>
</p:tagLst>
</file>

<file path=ppt/tags/tag298.xml><?xml version="1.0" encoding="utf-8"?>
<p:tagLst xmlns:a="http://schemas.openxmlformats.org/drawingml/2006/main" xmlns:r="http://schemas.openxmlformats.org/officeDocument/2006/relationships" xmlns:p="http://schemas.openxmlformats.org/presentationml/2006/main">
  <p:tag name="NUM" val="19"/>
</p:tagLst>
</file>

<file path=ppt/tags/tag299.xml><?xml version="1.0" encoding="utf-8"?>
<p:tagLst xmlns:a="http://schemas.openxmlformats.org/drawingml/2006/main" xmlns:r="http://schemas.openxmlformats.org/officeDocument/2006/relationships" xmlns:p="http://schemas.openxmlformats.org/presentationml/2006/main">
  <p:tag name="NUM" val="20"/>
</p:tagLst>
</file>

<file path=ppt/tags/tag300.xml><?xml version="1.0" encoding="utf-8"?>
<p:tagLst xmlns:a="http://schemas.openxmlformats.org/drawingml/2006/main" xmlns:r="http://schemas.openxmlformats.org/officeDocument/2006/relationships" xmlns:p="http://schemas.openxmlformats.org/presentationml/2006/main">
  <p:tag name="NUM" val="21"/>
</p:tagLst>
</file>

<file path=ppt/tags/tag301.xml><?xml version="1.0" encoding="utf-8"?>
<p:tagLst xmlns:a="http://schemas.openxmlformats.org/drawingml/2006/main" xmlns:r="http://schemas.openxmlformats.org/officeDocument/2006/relationships" xmlns:p="http://schemas.openxmlformats.org/presentationml/2006/main">
  <p:tag name="NUM" val="22"/>
</p:tagLst>
</file>

<file path=ppt/tags/tag302.xml><?xml version="1.0" encoding="utf-8"?>
<p:tagLst xmlns:a="http://schemas.openxmlformats.org/drawingml/2006/main" xmlns:r="http://schemas.openxmlformats.org/officeDocument/2006/relationships" xmlns:p="http://schemas.openxmlformats.org/presentationml/2006/main">
  <p:tag name="NUM" val="23"/>
</p:tagLst>
</file>

<file path=ppt/tags/tag303.xml><?xml version="1.0" encoding="utf-8"?>
<p:tagLst xmlns:a="http://schemas.openxmlformats.org/drawingml/2006/main" xmlns:r="http://schemas.openxmlformats.org/officeDocument/2006/relationships" xmlns:p="http://schemas.openxmlformats.org/presentationml/2006/main">
  <p:tag name="NUM" val="5"/>
</p:tagLst>
</file>

<file path=ppt/tags/tag304.xml><?xml version="1.0" encoding="utf-8"?>
<p:tagLst xmlns:a="http://schemas.openxmlformats.org/drawingml/2006/main" xmlns:r="http://schemas.openxmlformats.org/officeDocument/2006/relationships" xmlns:p="http://schemas.openxmlformats.org/presentationml/2006/main">
  <p:tag name="NUM" val="5"/>
</p:tagLst>
</file>

<file path=ppt/tags/tag305.xml><?xml version="1.0" encoding="utf-8"?>
<p:tagLst xmlns:a="http://schemas.openxmlformats.org/drawingml/2006/main" xmlns:r="http://schemas.openxmlformats.org/officeDocument/2006/relationships" xmlns:p="http://schemas.openxmlformats.org/presentationml/2006/main">
  <p:tag name="NUM" val="6"/>
</p:tagLst>
</file>

<file path=ppt/tags/tag306.xml><?xml version="1.0" encoding="utf-8"?>
<p:tagLst xmlns:a="http://schemas.openxmlformats.org/drawingml/2006/main" xmlns:r="http://schemas.openxmlformats.org/officeDocument/2006/relationships" xmlns:p="http://schemas.openxmlformats.org/presentationml/2006/main">
  <p:tag name="NUM" val="14"/>
</p:tagLst>
</file>

<file path=ppt/tags/tag307.xml><?xml version="1.0" encoding="utf-8"?>
<p:tagLst xmlns:a="http://schemas.openxmlformats.org/drawingml/2006/main" xmlns:r="http://schemas.openxmlformats.org/officeDocument/2006/relationships" xmlns:p="http://schemas.openxmlformats.org/presentationml/2006/main">
  <p:tag name="NUM" val="1"/>
</p:tagLst>
</file>

<file path=ppt/tags/tag308.xml><?xml version="1.0" encoding="utf-8"?>
<p:tagLst xmlns:a="http://schemas.openxmlformats.org/drawingml/2006/main" xmlns:r="http://schemas.openxmlformats.org/officeDocument/2006/relationships" xmlns:p="http://schemas.openxmlformats.org/presentationml/2006/main">
  <p:tag name="NUM" val="2"/>
</p:tagLst>
</file>

<file path=ppt/tags/tag309.xml><?xml version="1.0" encoding="utf-8"?>
<p:tagLst xmlns:a="http://schemas.openxmlformats.org/drawingml/2006/main" xmlns:r="http://schemas.openxmlformats.org/officeDocument/2006/relationships" xmlns:p="http://schemas.openxmlformats.org/presentationml/2006/main">
  <p:tag name="NUM" val="3"/>
</p:tagLst>
</file>

<file path=ppt/tags/tag310.xml><?xml version="1.0" encoding="utf-8"?>
<p:tagLst xmlns:a="http://schemas.openxmlformats.org/drawingml/2006/main" xmlns:r="http://schemas.openxmlformats.org/officeDocument/2006/relationships" xmlns:p="http://schemas.openxmlformats.org/presentationml/2006/main">
  <p:tag name="NUM" val="4"/>
</p:tagLst>
</file>

<file path=ppt/tags/tag311.xml><?xml version="1.0" encoding="utf-8"?>
<p:tagLst xmlns:a="http://schemas.openxmlformats.org/drawingml/2006/main" xmlns:r="http://schemas.openxmlformats.org/officeDocument/2006/relationships" xmlns:p="http://schemas.openxmlformats.org/presentationml/2006/main">
  <p:tag name="NOPREFERENCE" val="False"/>
</p:tagLst>
</file>

<file path=ppt/tags/tag312.xml><?xml version="1.0" encoding="utf-8"?>
<p:tagLst xmlns:a="http://schemas.openxmlformats.org/drawingml/2006/main" xmlns:r="http://schemas.openxmlformats.org/officeDocument/2006/relationships" xmlns:p="http://schemas.openxmlformats.org/presentationml/2006/main">
  <p:tag name="NUM" val="1"/>
</p:tagLst>
</file>

<file path=ppt/tags/tag313.xml><?xml version="1.0" encoding="utf-8"?>
<p:tagLst xmlns:a="http://schemas.openxmlformats.org/drawingml/2006/main" xmlns:r="http://schemas.openxmlformats.org/officeDocument/2006/relationships" xmlns:p="http://schemas.openxmlformats.org/presentationml/2006/main">
  <p:tag name="NUM" val="2"/>
</p:tagLst>
</file>

<file path=ppt/tags/tag314.xml><?xml version="1.0" encoding="utf-8"?>
<p:tagLst xmlns:a="http://schemas.openxmlformats.org/drawingml/2006/main" xmlns:r="http://schemas.openxmlformats.org/officeDocument/2006/relationships" xmlns:p="http://schemas.openxmlformats.org/presentationml/2006/main">
  <p:tag name="NUM" val="3"/>
</p:tagLst>
</file>

<file path=ppt/tags/tag315.xml><?xml version="1.0" encoding="utf-8"?>
<p:tagLst xmlns:a="http://schemas.openxmlformats.org/drawingml/2006/main" xmlns:r="http://schemas.openxmlformats.org/officeDocument/2006/relationships" xmlns:p="http://schemas.openxmlformats.org/presentationml/2006/main">
  <p:tag name="NUM" val="4"/>
</p:tagLst>
</file>

<file path=ppt/tags/tag316.xml><?xml version="1.0" encoding="utf-8"?>
<p:tagLst xmlns:a="http://schemas.openxmlformats.org/drawingml/2006/main" xmlns:r="http://schemas.openxmlformats.org/officeDocument/2006/relationships" xmlns:p="http://schemas.openxmlformats.org/presentationml/2006/main">
  <p:tag name="NUM" val="5"/>
</p:tagLst>
</file>

<file path=ppt/tags/tag317.xml><?xml version="1.0" encoding="utf-8"?>
<p:tagLst xmlns:a="http://schemas.openxmlformats.org/drawingml/2006/main" xmlns:r="http://schemas.openxmlformats.org/officeDocument/2006/relationships" xmlns:p="http://schemas.openxmlformats.org/presentationml/2006/main">
  <p:tag name="NUM" val="6"/>
</p:tagLst>
</file>

<file path=ppt/tags/tag318.xml><?xml version="1.0" encoding="utf-8"?>
<p:tagLst xmlns:a="http://schemas.openxmlformats.org/drawingml/2006/main" xmlns:r="http://schemas.openxmlformats.org/officeDocument/2006/relationships" xmlns:p="http://schemas.openxmlformats.org/presentationml/2006/main">
  <p:tag name="NUM" val="7"/>
</p:tagLst>
</file>

<file path=ppt/tags/tag319.xml><?xml version="1.0" encoding="utf-8"?>
<p:tagLst xmlns:a="http://schemas.openxmlformats.org/drawingml/2006/main" xmlns:r="http://schemas.openxmlformats.org/officeDocument/2006/relationships" xmlns:p="http://schemas.openxmlformats.org/presentationml/2006/main">
  <p:tag name="NUM" val="8"/>
</p:tagLst>
</file>

<file path=ppt/tags/tag320.xml><?xml version="1.0" encoding="utf-8"?>
<p:tagLst xmlns:a="http://schemas.openxmlformats.org/drawingml/2006/main" xmlns:r="http://schemas.openxmlformats.org/officeDocument/2006/relationships" xmlns:p="http://schemas.openxmlformats.org/presentationml/2006/main">
  <p:tag name="NUM" val="9"/>
</p:tagLst>
</file>

<file path=ppt/tags/tag321.xml><?xml version="1.0" encoding="utf-8"?>
<p:tagLst xmlns:a="http://schemas.openxmlformats.org/drawingml/2006/main" xmlns:r="http://schemas.openxmlformats.org/officeDocument/2006/relationships" xmlns:p="http://schemas.openxmlformats.org/presentationml/2006/main">
  <p:tag name="NUM" val="10"/>
</p:tagLst>
</file>

<file path=ppt/tags/tag322.xml><?xml version="1.0" encoding="utf-8"?>
<p:tagLst xmlns:a="http://schemas.openxmlformats.org/drawingml/2006/main" xmlns:r="http://schemas.openxmlformats.org/officeDocument/2006/relationships" xmlns:p="http://schemas.openxmlformats.org/presentationml/2006/main">
  <p:tag name="NUM" val="1"/>
</p:tagLst>
</file>

<file path=ppt/tags/tag323.xml><?xml version="1.0" encoding="utf-8"?>
<p:tagLst xmlns:a="http://schemas.openxmlformats.org/drawingml/2006/main" xmlns:r="http://schemas.openxmlformats.org/officeDocument/2006/relationships" xmlns:p="http://schemas.openxmlformats.org/presentationml/2006/main">
  <p:tag name="NUM" val="2"/>
</p:tagLst>
</file>

<file path=ppt/tags/tag324.xml><?xml version="1.0" encoding="utf-8"?>
<p:tagLst xmlns:a="http://schemas.openxmlformats.org/drawingml/2006/main" xmlns:r="http://schemas.openxmlformats.org/officeDocument/2006/relationships" xmlns:p="http://schemas.openxmlformats.org/presentationml/2006/main">
  <p:tag name="NUM" val="3"/>
</p:tagLst>
</file>

<file path=ppt/tags/tag325.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2_Thème Office">
  <a:themeElements>
    <a:clrScheme name="Personnalisé 46">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ED7D31"/>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Thème Office">
  <a:themeElements>
    <a:clrScheme name="Personnalisé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1F497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438F92-38E3-47FD-A5D6-03982A10D997}">
  <we:reference id="wa104187975" version="1.0.0.1" store="fr-FR" storeType="OMEX"/>
  <we:alternateReferences>
    <we:reference id="WA104187975" version="1.0.0.1" store="WA104187975"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b797739-e8dc-4491-9318-4a619ee9b15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F210C906DD6AF4AAA0745DA7F7D668C" ma:contentTypeVersion="15" ma:contentTypeDescription="Create a new document." ma:contentTypeScope="" ma:versionID="df8c6bf1b3776aaf815babffb289b315">
  <xsd:schema xmlns:xsd="http://www.w3.org/2001/XMLSchema" xmlns:xs="http://www.w3.org/2001/XMLSchema" xmlns:p="http://schemas.microsoft.com/office/2006/metadata/properties" xmlns:ns3="9b797739-e8dc-4491-9318-4a619ee9b153" xmlns:ns4="08c3be05-7986-4e38-b56c-c7c4a964138c" targetNamespace="http://schemas.microsoft.com/office/2006/metadata/properties" ma:root="true" ma:fieldsID="8f410bbdc3bd09a6240e7086f90a58bc" ns3:_="" ns4:_="">
    <xsd:import namespace="9b797739-e8dc-4491-9318-4a619ee9b153"/>
    <xsd:import namespace="08c3be05-7986-4e38-b56c-c7c4a964138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Location"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797739-e8dc-4491-9318-4a619ee9b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c3be05-7986-4e38-b56c-c7c4a96413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CC7453-70EC-456A-B421-4690EF8464AE}">
  <ds:schemaRefs>
    <ds:schemaRef ds:uri="http://schemas.microsoft.com/sharepoint/v3/contenttype/forms"/>
  </ds:schemaRefs>
</ds:datastoreItem>
</file>

<file path=customXml/itemProps2.xml><?xml version="1.0" encoding="utf-8"?>
<ds:datastoreItem xmlns:ds="http://schemas.openxmlformats.org/officeDocument/2006/customXml" ds:itemID="{BDFE4A36-709D-4CE7-BA6D-3659A24EBF64}">
  <ds:schemaRefs>
    <ds:schemaRef ds:uri="http://schemas.microsoft.com/office/infopath/2007/PartnerControls"/>
    <ds:schemaRef ds:uri="http://purl.org/dc/dcmitype/"/>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elements/1.1/"/>
    <ds:schemaRef ds:uri="08c3be05-7986-4e38-b56c-c7c4a964138c"/>
    <ds:schemaRef ds:uri="9b797739-e8dc-4491-9318-4a619ee9b153"/>
    <ds:schemaRef ds:uri="http://www.w3.org/XML/1998/namespace"/>
  </ds:schemaRefs>
</ds:datastoreItem>
</file>

<file path=customXml/itemProps3.xml><?xml version="1.0" encoding="utf-8"?>
<ds:datastoreItem xmlns:ds="http://schemas.openxmlformats.org/officeDocument/2006/customXml" ds:itemID="{CE32ABE7-C8E2-4B6C-BF36-18259C2EF1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797739-e8dc-4491-9318-4a619ee9b153"/>
    <ds:schemaRef ds:uri="08c3be05-7986-4e38-b56c-c7c4a96413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46936</TotalTime>
  <Words>5572</Words>
  <Application>Microsoft Office PowerPoint</Application>
  <PresentationFormat>Grand écran</PresentationFormat>
  <Paragraphs>1118</Paragraphs>
  <Slides>54</Slides>
  <Notes>50</Notes>
  <HiddenSlides>0</HiddenSlides>
  <MMClips>1</MMClips>
  <ScaleCrop>false</ScaleCrop>
  <HeadingPairs>
    <vt:vector size="8" baseType="variant">
      <vt:variant>
        <vt:lpstr>Polices utilisées</vt:lpstr>
      </vt:variant>
      <vt:variant>
        <vt:i4>6</vt:i4>
      </vt:variant>
      <vt:variant>
        <vt:lpstr>Thème</vt:lpstr>
      </vt:variant>
      <vt:variant>
        <vt:i4>2</vt:i4>
      </vt:variant>
      <vt:variant>
        <vt:lpstr>Serveurs OLE incorporés</vt:lpstr>
      </vt:variant>
      <vt:variant>
        <vt:i4>1</vt:i4>
      </vt:variant>
      <vt:variant>
        <vt:lpstr>Titres des diapositives</vt:lpstr>
      </vt:variant>
      <vt:variant>
        <vt:i4>54</vt:i4>
      </vt:variant>
    </vt:vector>
  </HeadingPairs>
  <TitlesOfParts>
    <vt:vector size="63" baseType="lpstr">
      <vt:lpstr>-apple-system</vt:lpstr>
      <vt:lpstr>Arial</vt:lpstr>
      <vt:lpstr>Calibri</vt:lpstr>
      <vt:lpstr>Calibri Light</vt:lpstr>
      <vt:lpstr>Lato Light</vt:lpstr>
      <vt:lpstr>Poppins</vt:lpstr>
      <vt:lpstr>2_Thème Office</vt:lpstr>
      <vt:lpstr>3_Thème Office</vt:lpstr>
      <vt:lpstr>Worksheet</vt:lpstr>
      <vt:lpstr>Comptabilité de gestion (10904) Séance 5</vt:lpstr>
      <vt:lpstr>Présentation PowerPoint</vt:lpstr>
      <vt:lpstr>La classification des coûts (étudiants)</vt:lpstr>
      <vt:lpstr>La classification des coûts (enseignant)</vt:lpstr>
      <vt:lpstr>Présentation PowerPoint</vt:lpstr>
      <vt:lpstr>Objectifs de la séance</vt:lpstr>
      <vt:lpstr>« La fabrication d’un objet de coûts»</vt:lpstr>
      <vt:lpstr>Le coût de fabrication - les ressources (1/2)</vt:lpstr>
      <vt:lpstr>Le coût de fabrication - les ressources (2/2)</vt:lpstr>
      <vt:lpstr>Les relations entre  les ressources et les objets de coûts</vt:lpstr>
      <vt:lpstr>Exemples de relations entre  les ressources et les objets de coûts</vt:lpstr>
      <vt:lpstr>Pourquoi calculer le coût de fabrication des produits?</vt:lpstr>
      <vt:lpstr>Principales marges unitaires pour analyser la rentabilité des produits…</vt:lpstr>
      <vt:lpstr>Illustration calcul de la marge brute- 1 produit</vt:lpstr>
      <vt:lpstr>Illustration (suite)</vt:lpstr>
      <vt:lpstr>Illustration (solution)</vt:lpstr>
      <vt:lpstr>Illustration calcul de la marge brute-  plusieurs produits</vt:lpstr>
      <vt:lpstr>Illustration calcul de la marge brute-  plusieurs produits</vt:lpstr>
      <vt:lpstr>Identifier le processus de fabrication</vt:lpstr>
      <vt:lpstr>Centres de coûts</vt:lpstr>
      <vt:lpstr>Affecter le coût des ressources (FGF) aux objets de coûts (produits)</vt:lpstr>
      <vt:lpstr>Étapes pour calculer le coût de fabrication unitaire (dans le cas où nous avons le total des FGF par centres de coûts)</vt:lpstr>
      <vt:lpstr>Les choix de bases d’imputation possibles </vt:lpstr>
      <vt:lpstr>Critères pour choisir la base d’imputation des FGF</vt:lpstr>
      <vt:lpstr>L’imputation par centre de coûts</vt:lpstr>
      <vt:lpstr>Choisir les bases d’imputation pour les centres de coûts</vt:lpstr>
      <vt:lpstr>Illustration calcul de la marge brute- plusieurs produits : calcul taux d’imputation par centre (étudiants)</vt:lpstr>
      <vt:lpstr>Illustration calcul de la marge brute- plusieurs produits – répartition des FGF aux produits (étudiants)</vt:lpstr>
      <vt:lpstr>Analyse- impact sur la marge brute</vt:lpstr>
      <vt:lpstr>Avantages de calculer un taux d’imputation par plusieurs centres de coûts </vt:lpstr>
      <vt:lpstr>Impact de l’importance relative des charges indirectes</vt:lpstr>
      <vt:lpstr>Des exemples de mises en situation…</vt:lpstr>
      <vt:lpstr>Exemple 1: plusieurs produits avec processus de fabrication similaire (base unique)</vt:lpstr>
      <vt:lpstr>Exemple 1: plusieurs produits avec processus de fabrication similaire (base unique)</vt:lpstr>
      <vt:lpstr>Exemple 2: plusieurs produits avec processus de fabrication différents (base unique)</vt:lpstr>
      <vt:lpstr>Exemple 2: plusieurs produits avec processus de fabrication différents (base unique)</vt:lpstr>
      <vt:lpstr>Exemple 2: plusieurs produits avec processus de fabrication différents (base unique) étudiants</vt:lpstr>
      <vt:lpstr>Exemple 2: plusieurs produits avec processus de fabrication différents (base unique) étudiants</vt:lpstr>
      <vt:lpstr>Exemple 3: plusieurs produits avec processus de fabrication différents (plusieurs bases d’imputation) Imputation par centres de coûts</vt:lpstr>
      <vt:lpstr>Exemple 3: plusieurs produits avec processus de fabrication différents (plusieurs bases d’imputation)</vt:lpstr>
      <vt:lpstr>Exemple 3: Comprendre le processus et identifier les centres de coûts</vt:lpstr>
      <vt:lpstr>Exemple 3: Identifier les centres de coûts</vt:lpstr>
      <vt:lpstr>Exemple 3: Critères choix de base d’imputation</vt:lpstr>
      <vt:lpstr>Exemple 3: Discussion …Rentabilité du produit Abeille  (fabriqué seulement par les dames de table) étudiants</vt:lpstr>
      <vt:lpstr>Exemple 3: Discussion …Rentabilité du produit Abeille  (fabriqué seulement par les dames de table)</vt:lpstr>
      <vt:lpstr>Présentation PowerPoint</vt:lpstr>
      <vt:lpstr>Résumé de la séance</vt:lpstr>
      <vt:lpstr>Sommaire: Les choix de bases d’imputation possibles </vt:lpstr>
      <vt:lpstr>Présentation PowerPoint</vt:lpstr>
      <vt:lpstr>IMPUTATION (un seul taux d’imputation)</vt:lpstr>
      <vt:lpstr>IMPUTATION AVEC PLUSIEURS CENTRES DE COÛTS (plusieurs taux d’imputation)</vt:lpstr>
      <vt:lpstr>Sommaire S01 à S05</vt:lpstr>
      <vt:lpstr>Conclusion – Séance 5</vt:lpstr>
      <vt:lpstr>QUESTIONS…</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gestion des coûts (3-929-13)</dc:title>
  <dc:creator>denise landry</dc:creator>
  <cp:lastModifiedBy>Loecha Philion</cp:lastModifiedBy>
  <cp:revision>175</cp:revision>
  <cp:lastPrinted>2018-06-20T15:17:28Z</cp:lastPrinted>
  <dcterms:created xsi:type="dcterms:W3CDTF">2018-05-11T17:44:51Z</dcterms:created>
  <dcterms:modified xsi:type="dcterms:W3CDTF">2026-09-24T20:30:56Z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0x0101003F210C906DD6AF4AAA0745DA7F7D668C</vt:lpwstr>
  </property>
</Properties>
</file>