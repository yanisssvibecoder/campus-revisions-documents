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257" r:id="rId5"/>
    <p:sldId id="348" r:id="rId6"/>
    <p:sldId id="410" r:id="rId7"/>
    <p:sldId id="303" r:id="rId8"/>
    <p:sldId id="591" r:id="rId9"/>
    <p:sldId id="451" r:id="rId10"/>
    <p:sldId id="412" r:id="rId11"/>
    <p:sldId id="598" r:id="rId12"/>
    <p:sldId id="298" r:id="rId13"/>
    <p:sldId id="279" r:id="rId14"/>
    <p:sldId id="575" r:id="rId15"/>
    <p:sldId id="576" r:id="rId16"/>
    <p:sldId id="537" r:id="rId17"/>
    <p:sldId id="584" r:id="rId18"/>
    <p:sldId id="384" r:id="rId19"/>
    <p:sldId id="577" r:id="rId20"/>
    <p:sldId id="411" r:id="rId21"/>
    <p:sldId id="592" r:id="rId22"/>
    <p:sldId id="389" r:id="rId23"/>
    <p:sldId id="578" r:id="rId24"/>
    <p:sldId id="415" r:id="rId25"/>
    <p:sldId id="393" r:id="rId26"/>
    <p:sldId id="394" r:id="rId27"/>
    <p:sldId id="395" r:id="rId28"/>
    <p:sldId id="408" r:id="rId29"/>
    <p:sldId id="579" r:id="rId30"/>
    <p:sldId id="540" r:id="rId31"/>
    <p:sldId id="399" r:id="rId32"/>
    <p:sldId id="580" r:id="rId33"/>
    <p:sldId id="401" r:id="rId34"/>
    <p:sldId id="541" r:id="rId35"/>
    <p:sldId id="372" r:id="rId36"/>
    <p:sldId id="379" r:id="rId37"/>
    <p:sldId id="423" r:id="rId38"/>
  </p:sldIdLst>
  <p:sldSz cx="10160000" cy="5715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ire poitras" initials="cp" lastIdx="1" clrIdx="0">
    <p:extLst>
      <p:ext uri="{19B8F6BF-5375-455C-9EA6-DF929625EA0E}">
        <p15:presenceInfo xmlns:p15="http://schemas.microsoft.com/office/powerpoint/2012/main" userId="S::claire.poitras@hec.ca::e8718bf4-9404-4a5b-b757-f555a9335c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40F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078D07-D43D-4B66-9858-14BF38E8547D}" v="2" dt="2025-06-26T17:05:08.89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83392" autoAdjust="0"/>
  </p:normalViewPr>
  <p:slideViewPr>
    <p:cSldViewPr snapToGrid="0" snapToObjects="1" showGuides="1">
      <p:cViewPr varScale="1">
        <p:scale>
          <a:sx n="111" d="100"/>
          <a:sy n="111" d="100"/>
        </p:scale>
        <p:origin x="1056" y="96"/>
      </p:cViewPr>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ire Poitras" userId="e8718bf4-9404-4a5b-b757-f555a9335c73" providerId="ADAL" clId="{03202CFA-AC63-4092-BDF9-BCF8CA68777F}"/>
    <pc:docChg chg="custSel addSld delSld modSld">
      <pc:chgData name="Claire Poitras" userId="e8718bf4-9404-4a5b-b757-f555a9335c73" providerId="ADAL" clId="{03202CFA-AC63-4092-BDF9-BCF8CA68777F}" dt="2024-06-27T16:47:13.195" v="16" actId="6549"/>
      <pc:docMkLst>
        <pc:docMk/>
      </pc:docMkLst>
      <pc:sldChg chg="modSp mod">
        <pc:chgData name="Claire Poitras" userId="e8718bf4-9404-4a5b-b757-f555a9335c73" providerId="ADAL" clId="{03202CFA-AC63-4092-BDF9-BCF8CA68777F}" dt="2024-06-27T15:46:31.398" v="1" actId="20577"/>
        <pc:sldMkLst>
          <pc:docMk/>
          <pc:sldMk cId="1857756970" sldId="257"/>
        </pc:sldMkLst>
      </pc:sldChg>
      <pc:sldChg chg="add del modNotesTx">
        <pc:chgData name="Claire Poitras" userId="e8718bf4-9404-4a5b-b757-f555a9335c73" providerId="ADAL" clId="{03202CFA-AC63-4092-BDF9-BCF8CA68777F}" dt="2024-06-27T16:47:08.987" v="15" actId="6549"/>
        <pc:sldMkLst>
          <pc:docMk/>
          <pc:sldMk cId="0" sldId="372"/>
        </pc:sldMkLst>
      </pc:sldChg>
      <pc:sldChg chg="add del modNotesTx">
        <pc:chgData name="Claire Poitras" userId="e8718bf4-9404-4a5b-b757-f555a9335c73" providerId="ADAL" clId="{03202CFA-AC63-4092-BDF9-BCF8CA68777F}" dt="2024-06-27T16:47:13.195" v="16" actId="6549"/>
        <pc:sldMkLst>
          <pc:docMk/>
          <pc:sldMk cId="14997950" sldId="379"/>
        </pc:sldMkLst>
      </pc:sldChg>
      <pc:sldChg chg="del">
        <pc:chgData name="Claire Poitras" userId="e8718bf4-9404-4a5b-b757-f555a9335c73" providerId="ADAL" clId="{03202CFA-AC63-4092-BDF9-BCF8CA68777F}" dt="2024-06-27T16:46:09.427" v="10" actId="47"/>
        <pc:sldMkLst>
          <pc:docMk/>
          <pc:sldMk cId="982427095" sldId="388"/>
        </pc:sldMkLst>
      </pc:sldChg>
      <pc:sldChg chg="del">
        <pc:chgData name="Claire Poitras" userId="e8718bf4-9404-4a5b-b757-f555a9335c73" providerId="ADAL" clId="{03202CFA-AC63-4092-BDF9-BCF8CA68777F}" dt="2024-06-27T16:46:45.598" v="11" actId="47"/>
        <pc:sldMkLst>
          <pc:docMk/>
          <pc:sldMk cId="2832123577" sldId="581"/>
        </pc:sldMkLst>
      </pc:sldChg>
      <pc:sldChg chg="del">
        <pc:chgData name="Claire Poitras" userId="e8718bf4-9404-4a5b-b757-f555a9335c73" providerId="ADAL" clId="{03202CFA-AC63-4092-BDF9-BCF8CA68777F}" dt="2024-06-27T16:46:45.598" v="11" actId="47"/>
        <pc:sldMkLst>
          <pc:docMk/>
          <pc:sldMk cId="3158123768" sldId="582"/>
        </pc:sldMkLst>
      </pc:sldChg>
      <pc:sldChg chg="del">
        <pc:chgData name="Claire Poitras" userId="e8718bf4-9404-4a5b-b757-f555a9335c73" providerId="ADAL" clId="{03202CFA-AC63-4092-BDF9-BCF8CA68777F}" dt="2024-06-27T16:46:45.598" v="11" actId="47"/>
        <pc:sldMkLst>
          <pc:docMk/>
          <pc:sldMk cId="0" sldId="583"/>
        </pc:sldMkLst>
      </pc:sldChg>
      <pc:sldChg chg="add del modNotesTx">
        <pc:chgData name="Claire Poitras" userId="e8718bf4-9404-4a5b-b757-f555a9335c73" providerId="ADAL" clId="{03202CFA-AC63-4092-BDF9-BCF8CA68777F}" dt="2024-06-27T16:45:39.171" v="6" actId="6549"/>
        <pc:sldMkLst>
          <pc:docMk/>
          <pc:sldMk cId="3155209394" sldId="584"/>
        </pc:sldMkLst>
      </pc:sldChg>
      <pc:sldChg chg="del">
        <pc:chgData name="Claire Poitras" userId="e8718bf4-9404-4a5b-b757-f555a9335c73" providerId="ADAL" clId="{03202CFA-AC63-4092-BDF9-BCF8CA68777F}" dt="2024-06-27T16:45:22.031" v="2" actId="47"/>
        <pc:sldMkLst>
          <pc:docMk/>
          <pc:sldMk cId="578664474" sldId="590"/>
        </pc:sldMkLst>
      </pc:sldChg>
      <pc:sldChg chg="add del">
        <pc:chgData name="Claire Poitras" userId="e8718bf4-9404-4a5b-b757-f555a9335c73" providerId="ADAL" clId="{03202CFA-AC63-4092-BDF9-BCF8CA68777F}" dt="2024-06-27T16:46:05.703" v="8"/>
        <pc:sldMkLst>
          <pc:docMk/>
          <pc:sldMk cId="2875635827" sldId="592"/>
        </pc:sldMkLst>
      </pc:sldChg>
      <pc:sldChg chg="add">
        <pc:chgData name="Claire Poitras" userId="e8718bf4-9404-4a5b-b757-f555a9335c73" providerId="ADAL" clId="{03202CFA-AC63-4092-BDF9-BCF8CA68777F}" dt="2024-06-27T16:46:05.728" v="9"/>
        <pc:sldMkLst>
          <pc:docMk/>
          <pc:sldMk cId="3463278758" sldId="592"/>
        </pc:sldMkLst>
      </pc:sldChg>
    </pc:docChg>
  </pc:docChgLst>
  <pc:docChgLst>
    <pc:chgData name="Claire Poitras" userId="e8718bf4-9404-4a5b-b757-f555a9335c73" providerId="ADAL" clId="{29078D07-D43D-4B66-9858-14BF38E8547D}"/>
    <pc:docChg chg="custSel addSld modSld">
      <pc:chgData name="Claire Poitras" userId="e8718bf4-9404-4a5b-b757-f555a9335c73" providerId="ADAL" clId="{29078D07-D43D-4B66-9858-14BF38E8547D}" dt="2025-06-26T17:13:28.874" v="43" actId="20577"/>
      <pc:docMkLst>
        <pc:docMk/>
      </pc:docMkLst>
      <pc:sldChg chg="modSp mod">
        <pc:chgData name="Claire Poitras" userId="e8718bf4-9404-4a5b-b757-f555a9335c73" providerId="ADAL" clId="{29078D07-D43D-4B66-9858-14BF38E8547D}" dt="2025-06-23T17:11:26.483" v="1" actId="20577"/>
        <pc:sldMkLst>
          <pc:docMk/>
          <pc:sldMk cId="1857756970" sldId="257"/>
        </pc:sldMkLst>
        <pc:spChg chg="mod">
          <ac:chgData name="Claire Poitras" userId="e8718bf4-9404-4a5b-b757-f555a9335c73" providerId="ADAL" clId="{29078D07-D43D-4B66-9858-14BF38E8547D}" dt="2025-06-23T17:11:26.483" v="1" actId="20577"/>
          <ac:spMkLst>
            <pc:docMk/>
            <pc:sldMk cId="1857756970" sldId="257"/>
            <ac:spMk id="5" creationId="{00000000-0000-0000-0000-000000000000}"/>
          </ac:spMkLst>
        </pc:spChg>
      </pc:sldChg>
      <pc:sldChg chg="modSp mod">
        <pc:chgData name="Claire Poitras" userId="e8718bf4-9404-4a5b-b757-f555a9335c73" providerId="ADAL" clId="{29078D07-D43D-4B66-9858-14BF38E8547D}" dt="2025-06-26T17:04:45.947" v="39" actId="20577"/>
        <pc:sldMkLst>
          <pc:docMk/>
          <pc:sldMk cId="3836854881" sldId="412"/>
        </pc:sldMkLst>
        <pc:spChg chg="mod">
          <ac:chgData name="Claire Poitras" userId="e8718bf4-9404-4a5b-b757-f555a9335c73" providerId="ADAL" clId="{29078D07-D43D-4B66-9858-14BF38E8547D}" dt="2025-06-26T17:04:45.947" v="39" actId="20577"/>
          <ac:spMkLst>
            <pc:docMk/>
            <pc:sldMk cId="3836854881" sldId="412"/>
            <ac:spMk id="2" creationId="{33E73E0C-AC40-4239-A8FC-8422133565E9}"/>
          </ac:spMkLst>
        </pc:spChg>
      </pc:sldChg>
      <pc:sldChg chg="add">
        <pc:chgData name="Claire Poitras" userId="e8718bf4-9404-4a5b-b757-f555a9335c73" providerId="ADAL" clId="{29078D07-D43D-4B66-9858-14BF38E8547D}" dt="2025-06-26T17:01:33.545" v="2"/>
        <pc:sldMkLst>
          <pc:docMk/>
          <pc:sldMk cId="0" sldId="451"/>
        </pc:sldMkLst>
      </pc:sldChg>
      <pc:sldChg chg="modSp mod">
        <pc:chgData name="Claire Poitras" userId="e8718bf4-9404-4a5b-b757-f555a9335c73" providerId="ADAL" clId="{29078D07-D43D-4B66-9858-14BF38E8547D}" dt="2025-06-26T17:04:35.370" v="15" actId="14100"/>
        <pc:sldMkLst>
          <pc:docMk/>
          <pc:sldMk cId="0" sldId="591"/>
        </pc:sldMkLst>
        <pc:spChg chg="mod">
          <ac:chgData name="Claire Poitras" userId="e8718bf4-9404-4a5b-b757-f555a9335c73" providerId="ADAL" clId="{29078D07-D43D-4B66-9858-14BF38E8547D}" dt="2025-06-26T17:04:35.370" v="15" actId="14100"/>
          <ac:spMkLst>
            <pc:docMk/>
            <pc:sldMk cId="0" sldId="591"/>
            <ac:spMk id="7" creationId="{00000000-0000-0000-0000-000000000000}"/>
          </ac:spMkLst>
        </pc:spChg>
      </pc:sldChg>
      <pc:sldChg chg="modSp add mod modNotesTx">
        <pc:chgData name="Claire Poitras" userId="e8718bf4-9404-4a5b-b757-f555a9335c73" providerId="ADAL" clId="{29078D07-D43D-4B66-9858-14BF38E8547D}" dt="2025-06-26T17:13:28.874" v="43" actId="20577"/>
        <pc:sldMkLst>
          <pc:docMk/>
          <pc:sldMk cId="608746998" sldId="598"/>
        </pc:sldMkLst>
        <pc:graphicFrameChg chg="modGraphic">
          <ac:chgData name="Claire Poitras" userId="e8718bf4-9404-4a5b-b757-f555a9335c73" providerId="ADAL" clId="{29078D07-D43D-4B66-9858-14BF38E8547D}" dt="2025-06-26T17:13:26.553" v="42" actId="20577"/>
          <ac:graphicFrameMkLst>
            <pc:docMk/>
            <pc:sldMk cId="608746998" sldId="598"/>
            <ac:graphicFrameMk id="11" creationId="{655B974A-38DF-E524-50B4-9E41685045CB}"/>
          </ac:graphicFrameMkLst>
        </pc:graphicFrameChg>
        <pc:graphicFrameChg chg="modGraphic">
          <ac:chgData name="Claire Poitras" userId="e8718bf4-9404-4a5b-b757-f555a9335c73" providerId="ADAL" clId="{29078D07-D43D-4B66-9858-14BF38E8547D}" dt="2025-06-26T17:13:28.874" v="43" actId="20577"/>
          <ac:graphicFrameMkLst>
            <pc:docMk/>
            <pc:sldMk cId="608746998" sldId="598"/>
            <ac:graphicFrameMk id="12" creationId="{2B5CAECA-4427-3724-1946-51A81EDB71DB}"/>
          </ac:graphicFrameMkLst>
        </pc:graphicFrameChg>
      </pc:sldChg>
    </pc:docChg>
  </pc:docChgLst>
</pc:chgInfo>
</file>

<file path=ppt/diagrams/_rels/data4.xml.rels><?xml version="1.0" encoding="UTF-8" standalone="yes"?>
<Relationships xmlns="http://schemas.openxmlformats.org/package/2006/relationships"><Relationship Id="rId1" Type="http://schemas.openxmlformats.org/officeDocument/2006/relationships/image" Target="../media/image23.png"/></Relationships>
</file>

<file path=ppt/diagrams/_rels/drawing4.xml.rels><?xml version="1.0" encoding="UTF-8" standalone="yes"?>
<Relationships xmlns="http://schemas.openxmlformats.org/package/2006/relationships"><Relationship Id="rId1" Type="http://schemas.openxmlformats.org/officeDocument/2006/relationships/image" Target="../media/image23.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5CCEB5-9A41-4085-8122-6C199E09E520}" type="doc">
      <dgm:prSet loTypeId="urn:microsoft.com/office/officeart/2005/8/layout/chart3" loCatId="cycle" qsTypeId="urn:microsoft.com/office/officeart/2005/8/quickstyle/simple1" qsCatId="simple" csTypeId="urn:microsoft.com/office/officeart/2005/8/colors/colorful1" csCatId="colorful" phldr="1"/>
      <dgm:spPr/>
    </dgm:pt>
    <dgm:pt modelId="{B4946966-4EFD-4123-9763-0D6B37ADB3A8}">
      <dgm:prSet phldrT="[Texte]"/>
      <dgm:spPr/>
      <dgm:t>
        <a:bodyPr/>
        <a:lstStyle/>
        <a:p>
          <a:r>
            <a:rPr lang="fr-CA" noProof="0" dirty="0"/>
            <a:t>Détermination des quantités à commander et à stocker</a:t>
          </a:r>
        </a:p>
      </dgm:t>
    </dgm:pt>
    <dgm:pt modelId="{97EFB6BE-C1D2-4F66-952C-12C92B161F4C}" type="parTrans" cxnId="{54BE4028-0305-44BC-9334-2AF36A7FB9C6}">
      <dgm:prSet/>
      <dgm:spPr/>
      <dgm:t>
        <a:bodyPr/>
        <a:lstStyle/>
        <a:p>
          <a:endParaRPr lang="en-CA"/>
        </a:p>
      </dgm:t>
    </dgm:pt>
    <dgm:pt modelId="{EB00188B-AAEC-44FE-99C6-108703318599}" type="sibTrans" cxnId="{54BE4028-0305-44BC-9334-2AF36A7FB9C6}">
      <dgm:prSet/>
      <dgm:spPr/>
      <dgm:t>
        <a:bodyPr/>
        <a:lstStyle/>
        <a:p>
          <a:endParaRPr lang="en-CA"/>
        </a:p>
      </dgm:t>
    </dgm:pt>
    <dgm:pt modelId="{7FFB5974-8209-4703-A7DF-24C9851630BF}">
      <dgm:prSet phldrT="[Texte]"/>
      <dgm:spPr/>
      <dgm:t>
        <a:bodyPr/>
        <a:lstStyle/>
        <a:p>
          <a:r>
            <a:rPr lang="fr-CA" dirty="0"/>
            <a:t>Gestion des retours aux fournisseurs</a:t>
          </a:r>
        </a:p>
      </dgm:t>
    </dgm:pt>
    <dgm:pt modelId="{E35D4029-47CE-4509-A7BD-B7031D419C6C}" type="parTrans" cxnId="{EE5E343C-B6A8-49A5-BDC9-FE9C2DB6FCA4}">
      <dgm:prSet/>
      <dgm:spPr/>
      <dgm:t>
        <a:bodyPr/>
        <a:lstStyle/>
        <a:p>
          <a:endParaRPr lang="en-CA"/>
        </a:p>
      </dgm:t>
    </dgm:pt>
    <dgm:pt modelId="{0520DEA7-9C43-4DB5-B33C-A4DB85F61858}" type="sibTrans" cxnId="{EE5E343C-B6A8-49A5-BDC9-FE9C2DB6FCA4}">
      <dgm:prSet/>
      <dgm:spPr/>
      <dgm:t>
        <a:bodyPr/>
        <a:lstStyle/>
        <a:p>
          <a:endParaRPr lang="en-CA"/>
        </a:p>
      </dgm:t>
    </dgm:pt>
    <dgm:pt modelId="{6A2F48E6-DD49-4F0C-B1F1-1535F14B650B}">
      <dgm:prSet phldrT="[Texte]"/>
      <dgm:spPr/>
      <dgm:t>
        <a:bodyPr/>
        <a:lstStyle/>
        <a:p>
          <a:r>
            <a:rPr lang="fr-CA" noProof="0" dirty="0"/>
            <a:t>Sélection des fournisseurs</a:t>
          </a:r>
        </a:p>
      </dgm:t>
    </dgm:pt>
    <dgm:pt modelId="{A0B9586E-0316-4258-B577-B6BEB5ECEC19}" type="parTrans" cxnId="{09FAF2CF-D1D0-41F7-87B0-A70BE3D2A1FE}">
      <dgm:prSet/>
      <dgm:spPr/>
      <dgm:t>
        <a:bodyPr/>
        <a:lstStyle/>
        <a:p>
          <a:endParaRPr lang="en-CA"/>
        </a:p>
      </dgm:t>
    </dgm:pt>
    <dgm:pt modelId="{B2AEE92B-AFE5-44B6-ABF6-6802229C0A72}" type="sibTrans" cxnId="{09FAF2CF-D1D0-41F7-87B0-A70BE3D2A1FE}">
      <dgm:prSet/>
      <dgm:spPr/>
      <dgm:t>
        <a:bodyPr/>
        <a:lstStyle/>
        <a:p>
          <a:endParaRPr lang="en-CA"/>
        </a:p>
      </dgm:t>
    </dgm:pt>
    <dgm:pt modelId="{72E39712-8B3F-4365-84C7-0DC07F3F353C}">
      <dgm:prSet phldrT="[Texte]"/>
      <dgm:spPr/>
      <dgm:t>
        <a:bodyPr/>
        <a:lstStyle/>
        <a:p>
          <a:r>
            <a:rPr lang="fr-CA" noProof="0" dirty="0"/>
            <a:t>Acquisition de produits et de services</a:t>
          </a:r>
        </a:p>
      </dgm:t>
    </dgm:pt>
    <dgm:pt modelId="{F51FB5F7-1CBA-453A-BDBE-0923E7C18790}" type="parTrans" cxnId="{4820F63B-9F91-4C81-8D51-0F83311D8A60}">
      <dgm:prSet/>
      <dgm:spPr/>
      <dgm:t>
        <a:bodyPr/>
        <a:lstStyle/>
        <a:p>
          <a:endParaRPr lang="en-CA"/>
        </a:p>
      </dgm:t>
    </dgm:pt>
    <dgm:pt modelId="{D1212820-DB65-416E-8C92-5021A2DACBA8}" type="sibTrans" cxnId="{4820F63B-9F91-4C81-8D51-0F83311D8A60}">
      <dgm:prSet/>
      <dgm:spPr/>
      <dgm:t>
        <a:bodyPr/>
        <a:lstStyle/>
        <a:p>
          <a:endParaRPr lang="en-CA"/>
        </a:p>
      </dgm:t>
    </dgm:pt>
    <dgm:pt modelId="{3876F676-1D12-4C12-8762-F41F6BE87F66}" type="pres">
      <dgm:prSet presAssocID="{A25CCEB5-9A41-4085-8122-6C199E09E520}" presName="compositeShape" presStyleCnt="0">
        <dgm:presLayoutVars>
          <dgm:chMax val="7"/>
          <dgm:dir/>
          <dgm:resizeHandles val="exact"/>
        </dgm:presLayoutVars>
      </dgm:prSet>
      <dgm:spPr/>
    </dgm:pt>
    <dgm:pt modelId="{C9239687-7855-4473-9FC5-0E8C57327C0E}" type="pres">
      <dgm:prSet presAssocID="{A25CCEB5-9A41-4085-8122-6C199E09E520}" presName="wedge1" presStyleLbl="node1" presStyleIdx="0" presStyleCnt="4" custLinFactNeighborX="-4402" custLinFactNeighborY="4383"/>
      <dgm:spPr/>
    </dgm:pt>
    <dgm:pt modelId="{7A76F433-3D55-414D-9B08-1F97479CA4D2}" type="pres">
      <dgm:prSet presAssocID="{A25CCEB5-9A41-4085-8122-6C199E09E520}" presName="wedge1Tx" presStyleLbl="node1" presStyleIdx="0" presStyleCnt="4">
        <dgm:presLayoutVars>
          <dgm:chMax val="0"/>
          <dgm:chPref val="0"/>
          <dgm:bulletEnabled val="1"/>
        </dgm:presLayoutVars>
      </dgm:prSet>
      <dgm:spPr/>
    </dgm:pt>
    <dgm:pt modelId="{3C3E5A34-206A-4273-86BE-1F5BB41AB566}" type="pres">
      <dgm:prSet presAssocID="{A25CCEB5-9A41-4085-8122-6C199E09E520}" presName="wedge2" presStyleLbl="node1" presStyleIdx="1" presStyleCnt="4"/>
      <dgm:spPr/>
    </dgm:pt>
    <dgm:pt modelId="{0B8D590E-DB64-4228-807B-9CF66574FC9F}" type="pres">
      <dgm:prSet presAssocID="{A25CCEB5-9A41-4085-8122-6C199E09E520}" presName="wedge2Tx" presStyleLbl="node1" presStyleIdx="1" presStyleCnt="4">
        <dgm:presLayoutVars>
          <dgm:chMax val="0"/>
          <dgm:chPref val="0"/>
          <dgm:bulletEnabled val="1"/>
        </dgm:presLayoutVars>
      </dgm:prSet>
      <dgm:spPr/>
    </dgm:pt>
    <dgm:pt modelId="{F512CF5D-2CE4-455A-932B-76DA487CB7E1}" type="pres">
      <dgm:prSet presAssocID="{A25CCEB5-9A41-4085-8122-6C199E09E520}" presName="wedge3" presStyleLbl="node1" presStyleIdx="2" presStyleCnt="4"/>
      <dgm:spPr/>
    </dgm:pt>
    <dgm:pt modelId="{56BFE04E-0326-4EE9-8000-76A4E0591588}" type="pres">
      <dgm:prSet presAssocID="{A25CCEB5-9A41-4085-8122-6C199E09E520}" presName="wedge3Tx" presStyleLbl="node1" presStyleIdx="2" presStyleCnt="4">
        <dgm:presLayoutVars>
          <dgm:chMax val="0"/>
          <dgm:chPref val="0"/>
          <dgm:bulletEnabled val="1"/>
        </dgm:presLayoutVars>
      </dgm:prSet>
      <dgm:spPr/>
    </dgm:pt>
    <dgm:pt modelId="{C7A44A9D-4343-4293-8387-081DF1C858E5}" type="pres">
      <dgm:prSet presAssocID="{A25CCEB5-9A41-4085-8122-6C199E09E520}" presName="wedge4" presStyleLbl="node1" presStyleIdx="3" presStyleCnt="4"/>
      <dgm:spPr/>
    </dgm:pt>
    <dgm:pt modelId="{EB6E31B6-1068-4DE9-A9DB-C427C68F7C1A}" type="pres">
      <dgm:prSet presAssocID="{A25CCEB5-9A41-4085-8122-6C199E09E520}" presName="wedge4Tx" presStyleLbl="node1" presStyleIdx="3" presStyleCnt="4">
        <dgm:presLayoutVars>
          <dgm:chMax val="0"/>
          <dgm:chPref val="0"/>
          <dgm:bulletEnabled val="1"/>
        </dgm:presLayoutVars>
      </dgm:prSet>
      <dgm:spPr/>
    </dgm:pt>
  </dgm:ptLst>
  <dgm:cxnLst>
    <dgm:cxn modelId="{9A44871F-FE3C-4429-A0EF-46CD8AD2BCE0}" type="presOf" srcId="{B4946966-4EFD-4123-9763-0D6B37ADB3A8}" destId="{7A76F433-3D55-414D-9B08-1F97479CA4D2}" srcOrd="1" destOrd="0" presId="urn:microsoft.com/office/officeart/2005/8/layout/chart3"/>
    <dgm:cxn modelId="{54BE4028-0305-44BC-9334-2AF36A7FB9C6}" srcId="{A25CCEB5-9A41-4085-8122-6C199E09E520}" destId="{B4946966-4EFD-4123-9763-0D6B37ADB3A8}" srcOrd="0" destOrd="0" parTransId="{97EFB6BE-C1D2-4F66-952C-12C92B161F4C}" sibTransId="{EB00188B-AAEC-44FE-99C6-108703318599}"/>
    <dgm:cxn modelId="{4820F63B-9F91-4C81-8D51-0F83311D8A60}" srcId="{A25CCEB5-9A41-4085-8122-6C199E09E520}" destId="{72E39712-8B3F-4365-84C7-0DC07F3F353C}" srcOrd="1" destOrd="0" parTransId="{F51FB5F7-1CBA-453A-BDBE-0923E7C18790}" sibTransId="{D1212820-DB65-416E-8C92-5021A2DACBA8}"/>
    <dgm:cxn modelId="{EE5E343C-B6A8-49A5-BDC9-FE9C2DB6FCA4}" srcId="{A25CCEB5-9A41-4085-8122-6C199E09E520}" destId="{7FFB5974-8209-4703-A7DF-24C9851630BF}" srcOrd="2" destOrd="0" parTransId="{E35D4029-47CE-4509-A7BD-B7031D419C6C}" sibTransId="{0520DEA7-9C43-4DB5-B33C-A4DB85F61858}"/>
    <dgm:cxn modelId="{070DFB3F-D783-4037-A42E-B666ECC0F1ED}" type="presOf" srcId="{6A2F48E6-DD49-4F0C-B1F1-1535F14B650B}" destId="{C7A44A9D-4343-4293-8387-081DF1C858E5}" srcOrd="0" destOrd="0" presId="urn:microsoft.com/office/officeart/2005/8/layout/chart3"/>
    <dgm:cxn modelId="{2B23A64A-6BE7-4A64-B857-04BE48D3ABEF}" type="presOf" srcId="{6A2F48E6-DD49-4F0C-B1F1-1535F14B650B}" destId="{EB6E31B6-1068-4DE9-A9DB-C427C68F7C1A}" srcOrd="1" destOrd="0" presId="urn:microsoft.com/office/officeart/2005/8/layout/chart3"/>
    <dgm:cxn modelId="{14F15871-473D-484B-9A2B-D7CF4685DD24}" type="presOf" srcId="{72E39712-8B3F-4365-84C7-0DC07F3F353C}" destId="{0B8D590E-DB64-4228-807B-9CF66574FC9F}" srcOrd="1" destOrd="0" presId="urn:microsoft.com/office/officeart/2005/8/layout/chart3"/>
    <dgm:cxn modelId="{D0559C7A-9DD3-4017-ABE3-2DC49FCC953F}" type="presOf" srcId="{7FFB5974-8209-4703-A7DF-24C9851630BF}" destId="{F512CF5D-2CE4-455A-932B-76DA487CB7E1}" srcOrd="0" destOrd="0" presId="urn:microsoft.com/office/officeart/2005/8/layout/chart3"/>
    <dgm:cxn modelId="{DC2367C5-B5AB-4CAC-8F8D-8A07C8FCB5B9}" type="presOf" srcId="{A25CCEB5-9A41-4085-8122-6C199E09E520}" destId="{3876F676-1D12-4C12-8762-F41F6BE87F66}" srcOrd="0" destOrd="0" presId="urn:microsoft.com/office/officeart/2005/8/layout/chart3"/>
    <dgm:cxn modelId="{09FAF2CF-D1D0-41F7-87B0-A70BE3D2A1FE}" srcId="{A25CCEB5-9A41-4085-8122-6C199E09E520}" destId="{6A2F48E6-DD49-4F0C-B1F1-1535F14B650B}" srcOrd="3" destOrd="0" parTransId="{A0B9586E-0316-4258-B577-B6BEB5ECEC19}" sibTransId="{B2AEE92B-AFE5-44B6-ABF6-6802229C0A72}"/>
    <dgm:cxn modelId="{86D74FE8-ECD7-40A2-9E47-5A1385AB4798}" type="presOf" srcId="{7FFB5974-8209-4703-A7DF-24C9851630BF}" destId="{56BFE04E-0326-4EE9-8000-76A4E0591588}" srcOrd="1" destOrd="0" presId="urn:microsoft.com/office/officeart/2005/8/layout/chart3"/>
    <dgm:cxn modelId="{68ADA1EA-76CA-4A78-8334-C51BA734D299}" type="presOf" srcId="{72E39712-8B3F-4365-84C7-0DC07F3F353C}" destId="{3C3E5A34-206A-4273-86BE-1F5BB41AB566}" srcOrd="0" destOrd="0" presId="urn:microsoft.com/office/officeart/2005/8/layout/chart3"/>
    <dgm:cxn modelId="{5AA28CF7-B20A-42BD-82BD-C739605F2783}" type="presOf" srcId="{B4946966-4EFD-4123-9763-0D6B37ADB3A8}" destId="{C9239687-7855-4473-9FC5-0E8C57327C0E}" srcOrd="0" destOrd="0" presId="urn:microsoft.com/office/officeart/2005/8/layout/chart3"/>
    <dgm:cxn modelId="{B27F68EC-0E68-470D-B626-1AB32D699526}" type="presParOf" srcId="{3876F676-1D12-4C12-8762-F41F6BE87F66}" destId="{C9239687-7855-4473-9FC5-0E8C57327C0E}" srcOrd="0" destOrd="0" presId="urn:microsoft.com/office/officeart/2005/8/layout/chart3"/>
    <dgm:cxn modelId="{37C75113-748A-430F-A4CA-86334784C415}" type="presParOf" srcId="{3876F676-1D12-4C12-8762-F41F6BE87F66}" destId="{7A76F433-3D55-414D-9B08-1F97479CA4D2}" srcOrd="1" destOrd="0" presId="urn:microsoft.com/office/officeart/2005/8/layout/chart3"/>
    <dgm:cxn modelId="{DD3E6110-446B-4343-BAB9-2D3F39291148}" type="presParOf" srcId="{3876F676-1D12-4C12-8762-F41F6BE87F66}" destId="{3C3E5A34-206A-4273-86BE-1F5BB41AB566}" srcOrd="2" destOrd="0" presId="urn:microsoft.com/office/officeart/2005/8/layout/chart3"/>
    <dgm:cxn modelId="{02784639-E419-4FC8-8675-245F24039682}" type="presParOf" srcId="{3876F676-1D12-4C12-8762-F41F6BE87F66}" destId="{0B8D590E-DB64-4228-807B-9CF66574FC9F}" srcOrd="3" destOrd="0" presId="urn:microsoft.com/office/officeart/2005/8/layout/chart3"/>
    <dgm:cxn modelId="{7BD501D8-9EFD-45B2-ADB7-41C8551F4D0C}" type="presParOf" srcId="{3876F676-1D12-4C12-8762-F41F6BE87F66}" destId="{F512CF5D-2CE4-455A-932B-76DA487CB7E1}" srcOrd="4" destOrd="0" presId="urn:microsoft.com/office/officeart/2005/8/layout/chart3"/>
    <dgm:cxn modelId="{1FA4ABD9-170E-44DD-B799-3EAA4FA6C00C}" type="presParOf" srcId="{3876F676-1D12-4C12-8762-F41F6BE87F66}" destId="{56BFE04E-0326-4EE9-8000-76A4E0591588}" srcOrd="5" destOrd="0" presId="urn:microsoft.com/office/officeart/2005/8/layout/chart3"/>
    <dgm:cxn modelId="{AEA2B392-7FCF-4234-AC83-019598ED866F}" type="presParOf" srcId="{3876F676-1D12-4C12-8762-F41F6BE87F66}" destId="{C7A44A9D-4343-4293-8387-081DF1C858E5}" srcOrd="6" destOrd="0" presId="urn:microsoft.com/office/officeart/2005/8/layout/chart3"/>
    <dgm:cxn modelId="{06EEFABD-74E2-44EC-95DE-7518D837EBC8}" type="presParOf" srcId="{3876F676-1D12-4C12-8762-F41F6BE87F66}" destId="{EB6E31B6-1068-4DE9-A9DB-C427C68F7C1A}" srcOrd="7"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3FCFC6-460D-48BA-BD9C-7CE03C150ECC}" type="doc">
      <dgm:prSet loTypeId="urn:microsoft.com/office/officeart/2005/8/layout/cycle3" loCatId="cycle" qsTypeId="urn:microsoft.com/office/officeart/2005/8/quickstyle/simple1" qsCatId="simple" csTypeId="urn:microsoft.com/office/officeart/2005/8/colors/colorful5" csCatId="colorful" phldr="1"/>
      <dgm:spPr/>
      <dgm:t>
        <a:bodyPr/>
        <a:lstStyle/>
        <a:p>
          <a:endParaRPr lang="en-CA"/>
        </a:p>
      </dgm:t>
    </dgm:pt>
    <dgm:pt modelId="{2C80FADF-498B-4AFC-8F3A-CADC4E49EF9D}">
      <dgm:prSet phldrT="[Texte]" custT="1"/>
      <dgm:spPr/>
      <dgm:t>
        <a:bodyPr/>
        <a:lstStyle/>
        <a:p>
          <a:r>
            <a:rPr lang="fr-CA" sz="1400" noProof="0" dirty="0"/>
            <a:t>1. Besoin</a:t>
          </a:r>
        </a:p>
      </dgm:t>
    </dgm:pt>
    <dgm:pt modelId="{E35BC4FA-39FE-4C93-8FDE-D457AAA4BE66}" type="parTrans" cxnId="{08CCC4C1-FDE6-47C6-B642-00A7E025C4C9}">
      <dgm:prSet/>
      <dgm:spPr/>
      <dgm:t>
        <a:bodyPr/>
        <a:lstStyle/>
        <a:p>
          <a:endParaRPr lang="en-CA" sz="2000"/>
        </a:p>
      </dgm:t>
    </dgm:pt>
    <dgm:pt modelId="{358F08A9-F688-48B3-863B-9E8EBE8BB101}" type="sibTrans" cxnId="{08CCC4C1-FDE6-47C6-B642-00A7E025C4C9}">
      <dgm:prSet/>
      <dgm:spPr/>
      <dgm:t>
        <a:bodyPr/>
        <a:lstStyle/>
        <a:p>
          <a:endParaRPr lang="en-CA" sz="2000"/>
        </a:p>
      </dgm:t>
    </dgm:pt>
    <dgm:pt modelId="{FEB45AE4-DE03-40D7-B138-21246695FDEF}">
      <dgm:prSet phldrT="[Texte]" custT="1"/>
      <dgm:spPr/>
      <dgm:t>
        <a:bodyPr/>
        <a:lstStyle/>
        <a:p>
          <a:r>
            <a:rPr lang="fr-CA" sz="1400" noProof="0" dirty="0"/>
            <a:t>2. Objet</a:t>
          </a:r>
        </a:p>
      </dgm:t>
    </dgm:pt>
    <dgm:pt modelId="{50E77833-E9AF-4DB9-8BB9-21C124676586}" type="parTrans" cxnId="{D44BC329-9DB6-409A-A841-28DDC918C363}">
      <dgm:prSet/>
      <dgm:spPr/>
      <dgm:t>
        <a:bodyPr/>
        <a:lstStyle/>
        <a:p>
          <a:endParaRPr lang="en-CA" sz="2000"/>
        </a:p>
      </dgm:t>
    </dgm:pt>
    <dgm:pt modelId="{26A7F9FC-F44E-4ABE-A3B4-03BC014FB397}" type="sibTrans" cxnId="{D44BC329-9DB6-409A-A841-28DDC918C363}">
      <dgm:prSet/>
      <dgm:spPr/>
      <dgm:t>
        <a:bodyPr/>
        <a:lstStyle/>
        <a:p>
          <a:endParaRPr lang="en-CA" sz="2000"/>
        </a:p>
      </dgm:t>
    </dgm:pt>
    <dgm:pt modelId="{F381226C-CB71-4A01-B5D3-ED64F5C3D5C2}">
      <dgm:prSet phldrT="[Texte]" custT="1"/>
      <dgm:spPr/>
      <dgm:t>
        <a:bodyPr/>
        <a:lstStyle/>
        <a:p>
          <a:r>
            <a:rPr lang="en-CA" sz="1400" dirty="0"/>
            <a:t>3. Sources</a:t>
          </a:r>
        </a:p>
      </dgm:t>
    </dgm:pt>
    <dgm:pt modelId="{FC9808B2-47AB-4338-9F9B-6F50B0DEC85C}" type="parTrans" cxnId="{F61DC0F6-3CD1-4375-9AFF-46B36654D3C0}">
      <dgm:prSet/>
      <dgm:spPr/>
      <dgm:t>
        <a:bodyPr/>
        <a:lstStyle/>
        <a:p>
          <a:endParaRPr lang="en-CA" sz="2000"/>
        </a:p>
      </dgm:t>
    </dgm:pt>
    <dgm:pt modelId="{13F62BBE-A270-4813-8C02-63E787A96220}" type="sibTrans" cxnId="{F61DC0F6-3CD1-4375-9AFF-46B36654D3C0}">
      <dgm:prSet/>
      <dgm:spPr/>
      <dgm:t>
        <a:bodyPr/>
        <a:lstStyle/>
        <a:p>
          <a:endParaRPr lang="en-CA" sz="2000"/>
        </a:p>
      </dgm:t>
    </dgm:pt>
    <dgm:pt modelId="{FD09A201-C598-43A8-856D-8CB42A8CE938}">
      <dgm:prSet phldrT="[Texte]" custT="1"/>
      <dgm:spPr/>
      <dgm:t>
        <a:bodyPr/>
        <a:lstStyle/>
        <a:p>
          <a:r>
            <a:rPr lang="en-CA" sz="1400" dirty="0"/>
            <a:t>4. Analyse</a:t>
          </a:r>
        </a:p>
      </dgm:t>
    </dgm:pt>
    <dgm:pt modelId="{1CC29EA8-38CD-4D4B-A646-E2B9CDC57910}" type="parTrans" cxnId="{B2933B12-8623-4AEA-9F8F-6BBCE1B4C5C6}">
      <dgm:prSet/>
      <dgm:spPr/>
      <dgm:t>
        <a:bodyPr/>
        <a:lstStyle/>
        <a:p>
          <a:endParaRPr lang="en-CA" sz="2000"/>
        </a:p>
      </dgm:t>
    </dgm:pt>
    <dgm:pt modelId="{4B4CEEBF-F4C2-4860-BE91-2C7F8801CCCC}" type="sibTrans" cxnId="{B2933B12-8623-4AEA-9F8F-6BBCE1B4C5C6}">
      <dgm:prSet/>
      <dgm:spPr/>
      <dgm:t>
        <a:bodyPr/>
        <a:lstStyle/>
        <a:p>
          <a:endParaRPr lang="en-CA" sz="2000"/>
        </a:p>
      </dgm:t>
    </dgm:pt>
    <dgm:pt modelId="{6D4B1947-9ABA-4A8A-A328-B9109A54404D}">
      <dgm:prSet phldrT="[Texte]" custT="1"/>
      <dgm:spPr/>
      <dgm:t>
        <a:bodyPr/>
        <a:lstStyle/>
        <a:p>
          <a:r>
            <a:rPr lang="fr-CA" sz="1400" noProof="0" dirty="0"/>
            <a:t>5. Commande</a:t>
          </a:r>
        </a:p>
      </dgm:t>
    </dgm:pt>
    <dgm:pt modelId="{075905A3-13BA-481C-8A03-92E6F8AB0C8C}" type="parTrans" cxnId="{E8E87851-AA30-4C0D-A4F3-F9533FAC3B0A}">
      <dgm:prSet/>
      <dgm:spPr/>
      <dgm:t>
        <a:bodyPr/>
        <a:lstStyle/>
        <a:p>
          <a:endParaRPr lang="en-CA" sz="2000"/>
        </a:p>
      </dgm:t>
    </dgm:pt>
    <dgm:pt modelId="{548FF097-3CCB-4C40-B13B-6E2202910A83}" type="sibTrans" cxnId="{E8E87851-AA30-4C0D-A4F3-F9533FAC3B0A}">
      <dgm:prSet/>
      <dgm:spPr/>
      <dgm:t>
        <a:bodyPr/>
        <a:lstStyle/>
        <a:p>
          <a:endParaRPr lang="en-CA" sz="2000"/>
        </a:p>
      </dgm:t>
    </dgm:pt>
    <dgm:pt modelId="{71C549AE-1EBB-499B-BE51-72769BE2B95C}">
      <dgm:prSet phldrT="[Texte]" custT="1"/>
      <dgm:spPr/>
      <dgm:t>
        <a:bodyPr/>
        <a:lstStyle/>
        <a:p>
          <a:r>
            <a:rPr lang="fr-CA" sz="1400" noProof="0" dirty="0"/>
            <a:t>6. Suivi</a:t>
          </a:r>
        </a:p>
      </dgm:t>
    </dgm:pt>
    <dgm:pt modelId="{BAF6102A-453D-46AE-B429-B90C2E2087E2}" type="parTrans" cxnId="{04CCC1C3-9C51-4A86-A263-2DB34EED27AB}">
      <dgm:prSet/>
      <dgm:spPr/>
      <dgm:t>
        <a:bodyPr/>
        <a:lstStyle/>
        <a:p>
          <a:endParaRPr lang="en-CA" sz="2000"/>
        </a:p>
      </dgm:t>
    </dgm:pt>
    <dgm:pt modelId="{95FD0EE8-5683-4BCD-97D6-94E3C72B15A4}" type="sibTrans" cxnId="{04CCC1C3-9C51-4A86-A263-2DB34EED27AB}">
      <dgm:prSet/>
      <dgm:spPr/>
      <dgm:t>
        <a:bodyPr/>
        <a:lstStyle/>
        <a:p>
          <a:endParaRPr lang="en-CA" sz="2000"/>
        </a:p>
      </dgm:t>
    </dgm:pt>
    <dgm:pt modelId="{4A9378BE-21C9-4E1C-8058-4210E3D398DE}">
      <dgm:prSet phldrT="[Texte]" custT="1"/>
      <dgm:spPr/>
      <dgm:t>
        <a:bodyPr/>
        <a:lstStyle/>
        <a:p>
          <a:r>
            <a:rPr lang="fr-CA" sz="1400" noProof="0" dirty="0"/>
            <a:t>7. Réception</a:t>
          </a:r>
        </a:p>
      </dgm:t>
    </dgm:pt>
    <dgm:pt modelId="{5E9C734D-B5F0-4570-B10D-96478170BBCB}" type="parTrans" cxnId="{A3588A92-9BD4-4D40-ABD5-AC7DAAA96ABA}">
      <dgm:prSet/>
      <dgm:spPr/>
      <dgm:t>
        <a:bodyPr/>
        <a:lstStyle/>
        <a:p>
          <a:endParaRPr lang="en-CA" sz="2000"/>
        </a:p>
      </dgm:t>
    </dgm:pt>
    <dgm:pt modelId="{180C23FE-DBCC-4753-A481-BC40862D1AD2}" type="sibTrans" cxnId="{A3588A92-9BD4-4D40-ABD5-AC7DAAA96ABA}">
      <dgm:prSet/>
      <dgm:spPr/>
      <dgm:t>
        <a:bodyPr/>
        <a:lstStyle/>
        <a:p>
          <a:endParaRPr lang="en-CA" sz="2000"/>
        </a:p>
      </dgm:t>
    </dgm:pt>
    <dgm:pt modelId="{556392AA-ACFB-41D0-8D67-B9E97A584846}">
      <dgm:prSet phldrT="[Texte]" custT="1"/>
      <dgm:spPr/>
      <dgm:t>
        <a:bodyPr/>
        <a:lstStyle/>
        <a:p>
          <a:r>
            <a:rPr lang="fr-CA" sz="1400" noProof="0" dirty="0"/>
            <a:t>8. Paiement</a:t>
          </a:r>
        </a:p>
      </dgm:t>
    </dgm:pt>
    <dgm:pt modelId="{B5E223D5-7E0B-4409-B4FA-CD5890B97E11}" type="parTrans" cxnId="{6B059F98-A40C-4C76-884B-E3B857BEEF83}">
      <dgm:prSet/>
      <dgm:spPr/>
      <dgm:t>
        <a:bodyPr/>
        <a:lstStyle/>
        <a:p>
          <a:endParaRPr lang="en-CA" sz="2000"/>
        </a:p>
      </dgm:t>
    </dgm:pt>
    <dgm:pt modelId="{1E0CBE7F-3535-482C-94CA-B093411DE7D4}" type="sibTrans" cxnId="{6B059F98-A40C-4C76-884B-E3B857BEEF83}">
      <dgm:prSet/>
      <dgm:spPr/>
      <dgm:t>
        <a:bodyPr/>
        <a:lstStyle/>
        <a:p>
          <a:endParaRPr lang="en-CA" sz="2000"/>
        </a:p>
      </dgm:t>
    </dgm:pt>
    <dgm:pt modelId="{27FBD8A8-D6CA-4ABB-A152-96F03BA24406}">
      <dgm:prSet phldrT="[Texte]" custT="1"/>
      <dgm:spPr/>
      <dgm:t>
        <a:bodyPr/>
        <a:lstStyle/>
        <a:p>
          <a:r>
            <a:rPr lang="fr-CA" sz="1400" noProof="0" dirty="0"/>
            <a:t>9. Rétroaction</a:t>
          </a:r>
        </a:p>
      </dgm:t>
    </dgm:pt>
    <dgm:pt modelId="{F61E6723-A245-4AC4-8CB9-3D0A1F8B50C5}" type="parTrans" cxnId="{E4D2B27F-8E29-47EA-9C6D-83CEC10772CA}">
      <dgm:prSet/>
      <dgm:spPr/>
      <dgm:t>
        <a:bodyPr/>
        <a:lstStyle/>
        <a:p>
          <a:endParaRPr lang="en-CA" sz="2000"/>
        </a:p>
      </dgm:t>
    </dgm:pt>
    <dgm:pt modelId="{75F1ED92-9F1A-429C-BB47-DE029374E671}" type="sibTrans" cxnId="{E4D2B27F-8E29-47EA-9C6D-83CEC10772CA}">
      <dgm:prSet/>
      <dgm:spPr/>
      <dgm:t>
        <a:bodyPr/>
        <a:lstStyle/>
        <a:p>
          <a:endParaRPr lang="en-CA" sz="2000"/>
        </a:p>
      </dgm:t>
    </dgm:pt>
    <dgm:pt modelId="{C9C22F35-554A-4C7E-BD5F-D3CDAC12FA15}" type="pres">
      <dgm:prSet presAssocID="{EE3FCFC6-460D-48BA-BD9C-7CE03C150ECC}" presName="Name0" presStyleCnt="0">
        <dgm:presLayoutVars>
          <dgm:dir/>
          <dgm:resizeHandles val="exact"/>
        </dgm:presLayoutVars>
      </dgm:prSet>
      <dgm:spPr/>
    </dgm:pt>
    <dgm:pt modelId="{1558AE04-5E3E-452E-82ED-F2F9C4647EA2}" type="pres">
      <dgm:prSet presAssocID="{EE3FCFC6-460D-48BA-BD9C-7CE03C150ECC}" presName="cycle" presStyleCnt="0"/>
      <dgm:spPr/>
    </dgm:pt>
    <dgm:pt modelId="{EDDFFEBD-B8D0-4E45-845B-D028FEAE0BB5}" type="pres">
      <dgm:prSet presAssocID="{2C80FADF-498B-4AFC-8F3A-CADC4E49EF9D}" presName="nodeFirstNode" presStyleLbl="node1" presStyleIdx="0" presStyleCnt="9">
        <dgm:presLayoutVars>
          <dgm:bulletEnabled val="1"/>
        </dgm:presLayoutVars>
      </dgm:prSet>
      <dgm:spPr/>
    </dgm:pt>
    <dgm:pt modelId="{8EA3F9C6-CB0C-4979-9C76-15FC13D7097B}" type="pres">
      <dgm:prSet presAssocID="{358F08A9-F688-48B3-863B-9E8EBE8BB101}" presName="sibTransFirstNode" presStyleLbl="bgShp" presStyleIdx="0" presStyleCnt="1"/>
      <dgm:spPr/>
    </dgm:pt>
    <dgm:pt modelId="{A67A52F9-0B7C-430E-917B-80289E3BF227}" type="pres">
      <dgm:prSet presAssocID="{FEB45AE4-DE03-40D7-B138-21246695FDEF}" presName="nodeFollowingNodes" presStyleLbl="node1" presStyleIdx="1" presStyleCnt="9">
        <dgm:presLayoutVars>
          <dgm:bulletEnabled val="1"/>
        </dgm:presLayoutVars>
      </dgm:prSet>
      <dgm:spPr/>
    </dgm:pt>
    <dgm:pt modelId="{D9EF1E7D-2913-4A2E-9F8F-B606802EE786}" type="pres">
      <dgm:prSet presAssocID="{F381226C-CB71-4A01-B5D3-ED64F5C3D5C2}" presName="nodeFollowingNodes" presStyleLbl="node1" presStyleIdx="2" presStyleCnt="9">
        <dgm:presLayoutVars>
          <dgm:bulletEnabled val="1"/>
        </dgm:presLayoutVars>
      </dgm:prSet>
      <dgm:spPr/>
    </dgm:pt>
    <dgm:pt modelId="{C3755C42-9871-4E1B-8ACE-BF5FE1994A0C}" type="pres">
      <dgm:prSet presAssocID="{FD09A201-C598-43A8-856D-8CB42A8CE938}" presName="nodeFollowingNodes" presStyleLbl="node1" presStyleIdx="3" presStyleCnt="9">
        <dgm:presLayoutVars>
          <dgm:bulletEnabled val="1"/>
        </dgm:presLayoutVars>
      </dgm:prSet>
      <dgm:spPr/>
    </dgm:pt>
    <dgm:pt modelId="{B325CE75-E45D-4992-A793-3ECC0BFD7496}" type="pres">
      <dgm:prSet presAssocID="{6D4B1947-9ABA-4A8A-A328-B9109A54404D}" presName="nodeFollowingNodes" presStyleLbl="node1" presStyleIdx="4" presStyleCnt="9" custScaleX="136666" custRadScaleRad="104353" custRadScaleInc="-15388">
        <dgm:presLayoutVars>
          <dgm:bulletEnabled val="1"/>
        </dgm:presLayoutVars>
      </dgm:prSet>
      <dgm:spPr/>
    </dgm:pt>
    <dgm:pt modelId="{D069F6D5-DF1E-4077-8A28-5633FC03B7FC}" type="pres">
      <dgm:prSet presAssocID="{71C549AE-1EBB-499B-BE51-72769BE2B95C}" presName="nodeFollowingNodes" presStyleLbl="node1" presStyleIdx="5" presStyleCnt="9">
        <dgm:presLayoutVars>
          <dgm:bulletEnabled val="1"/>
        </dgm:presLayoutVars>
      </dgm:prSet>
      <dgm:spPr/>
    </dgm:pt>
    <dgm:pt modelId="{4D80EF9D-1FF2-4A45-B8C2-1F6ADF7608AB}" type="pres">
      <dgm:prSet presAssocID="{4A9378BE-21C9-4E1C-8058-4210E3D398DE}" presName="nodeFollowingNodes" presStyleLbl="node1" presStyleIdx="6" presStyleCnt="9" custScaleX="121619">
        <dgm:presLayoutVars>
          <dgm:bulletEnabled val="1"/>
        </dgm:presLayoutVars>
      </dgm:prSet>
      <dgm:spPr/>
    </dgm:pt>
    <dgm:pt modelId="{06C9A339-FDFB-4C58-B9E2-5143C66ADC3E}" type="pres">
      <dgm:prSet presAssocID="{556392AA-ACFB-41D0-8D67-B9E97A584846}" presName="nodeFollowingNodes" presStyleLbl="node1" presStyleIdx="7" presStyleCnt="9" custScaleX="126795">
        <dgm:presLayoutVars>
          <dgm:bulletEnabled val="1"/>
        </dgm:presLayoutVars>
      </dgm:prSet>
      <dgm:spPr/>
    </dgm:pt>
    <dgm:pt modelId="{C27C9478-B42F-4ABA-896F-CB5540A5CFE1}" type="pres">
      <dgm:prSet presAssocID="{27FBD8A8-D6CA-4ABB-A152-96F03BA24406}" presName="nodeFollowingNodes" presStyleLbl="node1" presStyleIdx="8" presStyleCnt="9" custScaleX="138342" custRadScaleRad="103435" custRadScaleInc="-14732">
        <dgm:presLayoutVars>
          <dgm:bulletEnabled val="1"/>
        </dgm:presLayoutVars>
      </dgm:prSet>
      <dgm:spPr/>
    </dgm:pt>
  </dgm:ptLst>
  <dgm:cxnLst>
    <dgm:cxn modelId="{B2933B12-8623-4AEA-9F8F-6BBCE1B4C5C6}" srcId="{EE3FCFC6-460D-48BA-BD9C-7CE03C150ECC}" destId="{FD09A201-C598-43A8-856D-8CB42A8CE938}" srcOrd="3" destOrd="0" parTransId="{1CC29EA8-38CD-4D4B-A646-E2B9CDC57910}" sibTransId="{4B4CEEBF-F4C2-4860-BE91-2C7F8801CCCC}"/>
    <dgm:cxn modelId="{C033C920-235A-45E7-9C35-10DF62474DAE}" type="presOf" srcId="{FD09A201-C598-43A8-856D-8CB42A8CE938}" destId="{C3755C42-9871-4E1B-8ACE-BF5FE1994A0C}" srcOrd="0" destOrd="0" presId="urn:microsoft.com/office/officeart/2005/8/layout/cycle3"/>
    <dgm:cxn modelId="{D44BC329-9DB6-409A-A841-28DDC918C363}" srcId="{EE3FCFC6-460D-48BA-BD9C-7CE03C150ECC}" destId="{FEB45AE4-DE03-40D7-B138-21246695FDEF}" srcOrd="1" destOrd="0" parTransId="{50E77833-E9AF-4DB9-8BB9-21C124676586}" sibTransId="{26A7F9FC-F44E-4ABE-A3B4-03BC014FB397}"/>
    <dgm:cxn modelId="{D3333634-4D78-486B-BF80-BE289E94A9C0}" type="presOf" srcId="{71C549AE-1EBB-499B-BE51-72769BE2B95C}" destId="{D069F6D5-DF1E-4077-8A28-5633FC03B7FC}" srcOrd="0" destOrd="0" presId="urn:microsoft.com/office/officeart/2005/8/layout/cycle3"/>
    <dgm:cxn modelId="{78F5F361-AC43-4961-BAEA-105B087D232C}" type="presOf" srcId="{27FBD8A8-D6CA-4ABB-A152-96F03BA24406}" destId="{C27C9478-B42F-4ABA-896F-CB5540A5CFE1}" srcOrd="0" destOrd="0" presId="urn:microsoft.com/office/officeart/2005/8/layout/cycle3"/>
    <dgm:cxn modelId="{601B6C63-4485-489B-ABA5-FA0BB482825D}" type="presOf" srcId="{358F08A9-F688-48B3-863B-9E8EBE8BB101}" destId="{8EA3F9C6-CB0C-4979-9C76-15FC13D7097B}" srcOrd="0" destOrd="0" presId="urn:microsoft.com/office/officeart/2005/8/layout/cycle3"/>
    <dgm:cxn modelId="{0902646D-4A95-47F5-A123-993D1707B362}" type="presOf" srcId="{F381226C-CB71-4A01-B5D3-ED64F5C3D5C2}" destId="{D9EF1E7D-2913-4A2E-9F8F-B606802EE786}" srcOrd="0" destOrd="0" presId="urn:microsoft.com/office/officeart/2005/8/layout/cycle3"/>
    <dgm:cxn modelId="{E8E87851-AA30-4C0D-A4F3-F9533FAC3B0A}" srcId="{EE3FCFC6-460D-48BA-BD9C-7CE03C150ECC}" destId="{6D4B1947-9ABA-4A8A-A328-B9109A54404D}" srcOrd="4" destOrd="0" parTransId="{075905A3-13BA-481C-8A03-92E6F8AB0C8C}" sibTransId="{548FF097-3CCB-4C40-B13B-6E2202910A83}"/>
    <dgm:cxn modelId="{8DCEC45A-DDD6-4593-8D66-10E6F0BC10F2}" type="presOf" srcId="{4A9378BE-21C9-4E1C-8058-4210E3D398DE}" destId="{4D80EF9D-1FF2-4A45-B8C2-1F6ADF7608AB}" srcOrd="0" destOrd="0" presId="urn:microsoft.com/office/officeart/2005/8/layout/cycle3"/>
    <dgm:cxn modelId="{E4D2B27F-8E29-47EA-9C6D-83CEC10772CA}" srcId="{EE3FCFC6-460D-48BA-BD9C-7CE03C150ECC}" destId="{27FBD8A8-D6CA-4ABB-A152-96F03BA24406}" srcOrd="8" destOrd="0" parTransId="{F61E6723-A245-4AC4-8CB9-3D0A1F8B50C5}" sibTransId="{75F1ED92-9F1A-429C-BB47-DE029374E671}"/>
    <dgm:cxn modelId="{A3588A92-9BD4-4D40-ABD5-AC7DAAA96ABA}" srcId="{EE3FCFC6-460D-48BA-BD9C-7CE03C150ECC}" destId="{4A9378BE-21C9-4E1C-8058-4210E3D398DE}" srcOrd="6" destOrd="0" parTransId="{5E9C734D-B5F0-4570-B10D-96478170BBCB}" sibTransId="{180C23FE-DBCC-4753-A481-BC40862D1AD2}"/>
    <dgm:cxn modelId="{6B059F98-A40C-4C76-884B-E3B857BEEF83}" srcId="{EE3FCFC6-460D-48BA-BD9C-7CE03C150ECC}" destId="{556392AA-ACFB-41D0-8D67-B9E97A584846}" srcOrd="7" destOrd="0" parTransId="{B5E223D5-7E0B-4409-B4FA-CD5890B97E11}" sibTransId="{1E0CBE7F-3535-482C-94CA-B093411DE7D4}"/>
    <dgm:cxn modelId="{4A5E409E-16F5-46BB-AE0F-7D5D4A95E0EA}" type="presOf" srcId="{FEB45AE4-DE03-40D7-B138-21246695FDEF}" destId="{A67A52F9-0B7C-430E-917B-80289E3BF227}" srcOrd="0" destOrd="0" presId="urn:microsoft.com/office/officeart/2005/8/layout/cycle3"/>
    <dgm:cxn modelId="{08CCC4C1-FDE6-47C6-B642-00A7E025C4C9}" srcId="{EE3FCFC6-460D-48BA-BD9C-7CE03C150ECC}" destId="{2C80FADF-498B-4AFC-8F3A-CADC4E49EF9D}" srcOrd="0" destOrd="0" parTransId="{E35BC4FA-39FE-4C93-8FDE-D457AAA4BE66}" sibTransId="{358F08A9-F688-48B3-863B-9E8EBE8BB101}"/>
    <dgm:cxn modelId="{04CCC1C3-9C51-4A86-A263-2DB34EED27AB}" srcId="{EE3FCFC6-460D-48BA-BD9C-7CE03C150ECC}" destId="{71C549AE-1EBB-499B-BE51-72769BE2B95C}" srcOrd="5" destOrd="0" parTransId="{BAF6102A-453D-46AE-B429-B90C2E2087E2}" sibTransId="{95FD0EE8-5683-4BCD-97D6-94E3C72B15A4}"/>
    <dgm:cxn modelId="{B08E38D2-956F-427D-B4F2-B02C419F4C25}" type="presOf" srcId="{2C80FADF-498B-4AFC-8F3A-CADC4E49EF9D}" destId="{EDDFFEBD-B8D0-4E45-845B-D028FEAE0BB5}" srcOrd="0" destOrd="0" presId="urn:microsoft.com/office/officeart/2005/8/layout/cycle3"/>
    <dgm:cxn modelId="{3EA6CDEB-5B35-44A7-B834-E9A9873FEB11}" type="presOf" srcId="{556392AA-ACFB-41D0-8D67-B9E97A584846}" destId="{06C9A339-FDFB-4C58-B9E2-5143C66ADC3E}" srcOrd="0" destOrd="0" presId="urn:microsoft.com/office/officeart/2005/8/layout/cycle3"/>
    <dgm:cxn modelId="{F61DC0F6-3CD1-4375-9AFF-46B36654D3C0}" srcId="{EE3FCFC6-460D-48BA-BD9C-7CE03C150ECC}" destId="{F381226C-CB71-4A01-B5D3-ED64F5C3D5C2}" srcOrd="2" destOrd="0" parTransId="{FC9808B2-47AB-4338-9F9B-6F50B0DEC85C}" sibTransId="{13F62BBE-A270-4813-8C02-63E787A96220}"/>
    <dgm:cxn modelId="{02EE67FA-15D2-4FAE-8050-D64962C814A9}" type="presOf" srcId="{EE3FCFC6-460D-48BA-BD9C-7CE03C150ECC}" destId="{C9C22F35-554A-4C7E-BD5F-D3CDAC12FA15}" srcOrd="0" destOrd="0" presId="urn:microsoft.com/office/officeart/2005/8/layout/cycle3"/>
    <dgm:cxn modelId="{DBA912FB-3DF1-46CD-8914-C0ECEED72284}" type="presOf" srcId="{6D4B1947-9ABA-4A8A-A328-B9109A54404D}" destId="{B325CE75-E45D-4992-A793-3ECC0BFD7496}" srcOrd="0" destOrd="0" presId="urn:microsoft.com/office/officeart/2005/8/layout/cycle3"/>
    <dgm:cxn modelId="{34FF15F3-3DAA-47E2-9FAE-554A1875D2B5}" type="presParOf" srcId="{C9C22F35-554A-4C7E-BD5F-D3CDAC12FA15}" destId="{1558AE04-5E3E-452E-82ED-F2F9C4647EA2}" srcOrd="0" destOrd="0" presId="urn:microsoft.com/office/officeart/2005/8/layout/cycle3"/>
    <dgm:cxn modelId="{A981758F-AA04-4CE5-AF36-A3A14595C457}" type="presParOf" srcId="{1558AE04-5E3E-452E-82ED-F2F9C4647EA2}" destId="{EDDFFEBD-B8D0-4E45-845B-D028FEAE0BB5}" srcOrd="0" destOrd="0" presId="urn:microsoft.com/office/officeart/2005/8/layout/cycle3"/>
    <dgm:cxn modelId="{FDE2E188-DBB0-4F9D-801B-7E74E7CD8BDB}" type="presParOf" srcId="{1558AE04-5E3E-452E-82ED-F2F9C4647EA2}" destId="{8EA3F9C6-CB0C-4979-9C76-15FC13D7097B}" srcOrd="1" destOrd="0" presId="urn:microsoft.com/office/officeart/2005/8/layout/cycle3"/>
    <dgm:cxn modelId="{D6763D7E-4DAF-48AB-AF0F-A70F9E99E971}" type="presParOf" srcId="{1558AE04-5E3E-452E-82ED-F2F9C4647EA2}" destId="{A67A52F9-0B7C-430E-917B-80289E3BF227}" srcOrd="2" destOrd="0" presId="urn:microsoft.com/office/officeart/2005/8/layout/cycle3"/>
    <dgm:cxn modelId="{DEEE4AE4-429B-4FC3-88F2-005CFDBE0CCB}" type="presParOf" srcId="{1558AE04-5E3E-452E-82ED-F2F9C4647EA2}" destId="{D9EF1E7D-2913-4A2E-9F8F-B606802EE786}" srcOrd="3" destOrd="0" presId="urn:microsoft.com/office/officeart/2005/8/layout/cycle3"/>
    <dgm:cxn modelId="{996AC537-ED97-4B60-AEB2-7172DE052ED6}" type="presParOf" srcId="{1558AE04-5E3E-452E-82ED-F2F9C4647EA2}" destId="{C3755C42-9871-4E1B-8ACE-BF5FE1994A0C}" srcOrd="4" destOrd="0" presId="urn:microsoft.com/office/officeart/2005/8/layout/cycle3"/>
    <dgm:cxn modelId="{F6E6D145-FCD6-446F-A220-52DFDCB0D18B}" type="presParOf" srcId="{1558AE04-5E3E-452E-82ED-F2F9C4647EA2}" destId="{B325CE75-E45D-4992-A793-3ECC0BFD7496}" srcOrd="5" destOrd="0" presId="urn:microsoft.com/office/officeart/2005/8/layout/cycle3"/>
    <dgm:cxn modelId="{75ED58C8-4E07-4C51-9F28-C565D494899F}" type="presParOf" srcId="{1558AE04-5E3E-452E-82ED-F2F9C4647EA2}" destId="{D069F6D5-DF1E-4077-8A28-5633FC03B7FC}" srcOrd="6" destOrd="0" presId="urn:microsoft.com/office/officeart/2005/8/layout/cycle3"/>
    <dgm:cxn modelId="{9249EC6E-FB25-4D5E-B7B2-2E9832CC1134}" type="presParOf" srcId="{1558AE04-5E3E-452E-82ED-F2F9C4647EA2}" destId="{4D80EF9D-1FF2-4A45-B8C2-1F6ADF7608AB}" srcOrd="7" destOrd="0" presId="urn:microsoft.com/office/officeart/2005/8/layout/cycle3"/>
    <dgm:cxn modelId="{E2432715-7096-453E-B004-8F3B23BD596C}" type="presParOf" srcId="{1558AE04-5E3E-452E-82ED-F2F9C4647EA2}" destId="{06C9A339-FDFB-4C58-B9E2-5143C66ADC3E}" srcOrd="8" destOrd="0" presId="urn:microsoft.com/office/officeart/2005/8/layout/cycle3"/>
    <dgm:cxn modelId="{B0D24FE2-E07E-4A86-A069-2BE14548A8FD}" type="presParOf" srcId="{1558AE04-5E3E-452E-82ED-F2F9C4647EA2}" destId="{C27C9478-B42F-4ABA-896F-CB5540A5CFE1}" srcOrd="9"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3FCFC6-460D-48BA-BD9C-7CE03C150ECC}" type="doc">
      <dgm:prSet loTypeId="urn:microsoft.com/office/officeart/2005/8/layout/cycle3" loCatId="cycle" qsTypeId="urn:microsoft.com/office/officeart/2005/8/quickstyle/simple1" qsCatId="simple" csTypeId="urn:microsoft.com/office/officeart/2005/8/colors/colorful5" csCatId="colorful" phldr="1"/>
      <dgm:spPr/>
      <dgm:t>
        <a:bodyPr/>
        <a:lstStyle/>
        <a:p>
          <a:endParaRPr lang="en-CA"/>
        </a:p>
      </dgm:t>
    </dgm:pt>
    <dgm:pt modelId="{2C80FADF-498B-4AFC-8F3A-CADC4E49EF9D}">
      <dgm:prSet phldrT="[Texte]" custT="1"/>
      <dgm:spPr/>
      <dgm:t>
        <a:bodyPr/>
        <a:lstStyle/>
        <a:p>
          <a:r>
            <a:rPr lang="fr-CA" sz="1400" noProof="0" dirty="0"/>
            <a:t>1. Besoin</a:t>
          </a:r>
        </a:p>
      </dgm:t>
    </dgm:pt>
    <dgm:pt modelId="{E35BC4FA-39FE-4C93-8FDE-D457AAA4BE66}" type="parTrans" cxnId="{08CCC4C1-FDE6-47C6-B642-00A7E025C4C9}">
      <dgm:prSet/>
      <dgm:spPr/>
      <dgm:t>
        <a:bodyPr/>
        <a:lstStyle/>
        <a:p>
          <a:endParaRPr lang="en-CA" sz="2000"/>
        </a:p>
      </dgm:t>
    </dgm:pt>
    <dgm:pt modelId="{358F08A9-F688-48B3-863B-9E8EBE8BB101}" type="sibTrans" cxnId="{08CCC4C1-FDE6-47C6-B642-00A7E025C4C9}">
      <dgm:prSet/>
      <dgm:spPr/>
      <dgm:t>
        <a:bodyPr/>
        <a:lstStyle/>
        <a:p>
          <a:endParaRPr lang="en-CA" sz="2000"/>
        </a:p>
      </dgm:t>
    </dgm:pt>
    <dgm:pt modelId="{FEB45AE4-DE03-40D7-B138-21246695FDEF}">
      <dgm:prSet phldrT="[Texte]" custT="1"/>
      <dgm:spPr/>
      <dgm:t>
        <a:bodyPr/>
        <a:lstStyle/>
        <a:p>
          <a:r>
            <a:rPr lang="fr-CA" sz="1400" noProof="0" dirty="0"/>
            <a:t>2. Objet</a:t>
          </a:r>
        </a:p>
      </dgm:t>
    </dgm:pt>
    <dgm:pt modelId="{50E77833-E9AF-4DB9-8BB9-21C124676586}" type="parTrans" cxnId="{D44BC329-9DB6-409A-A841-28DDC918C363}">
      <dgm:prSet/>
      <dgm:spPr/>
      <dgm:t>
        <a:bodyPr/>
        <a:lstStyle/>
        <a:p>
          <a:endParaRPr lang="en-CA" sz="2000"/>
        </a:p>
      </dgm:t>
    </dgm:pt>
    <dgm:pt modelId="{26A7F9FC-F44E-4ABE-A3B4-03BC014FB397}" type="sibTrans" cxnId="{D44BC329-9DB6-409A-A841-28DDC918C363}">
      <dgm:prSet/>
      <dgm:spPr/>
      <dgm:t>
        <a:bodyPr/>
        <a:lstStyle/>
        <a:p>
          <a:endParaRPr lang="en-CA" sz="2000"/>
        </a:p>
      </dgm:t>
    </dgm:pt>
    <dgm:pt modelId="{F381226C-CB71-4A01-B5D3-ED64F5C3D5C2}">
      <dgm:prSet phldrT="[Texte]" custT="1"/>
      <dgm:spPr/>
      <dgm:t>
        <a:bodyPr/>
        <a:lstStyle/>
        <a:p>
          <a:r>
            <a:rPr lang="en-CA" sz="1400" dirty="0"/>
            <a:t>3. Sources</a:t>
          </a:r>
        </a:p>
      </dgm:t>
    </dgm:pt>
    <dgm:pt modelId="{FC9808B2-47AB-4338-9F9B-6F50B0DEC85C}" type="parTrans" cxnId="{F61DC0F6-3CD1-4375-9AFF-46B36654D3C0}">
      <dgm:prSet/>
      <dgm:spPr/>
      <dgm:t>
        <a:bodyPr/>
        <a:lstStyle/>
        <a:p>
          <a:endParaRPr lang="en-CA" sz="2000"/>
        </a:p>
      </dgm:t>
    </dgm:pt>
    <dgm:pt modelId="{13F62BBE-A270-4813-8C02-63E787A96220}" type="sibTrans" cxnId="{F61DC0F6-3CD1-4375-9AFF-46B36654D3C0}">
      <dgm:prSet/>
      <dgm:spPr/>
      <dgm:t>
        <a:bodyPr/>
        <a:lstStyle/>
        <a:p>
          <a:endParaRPr lang="en-CA" sz="2000"/>
        </a:p>
      </dgm:t>
    </dgm:pt>
    <dgm:pt modelId="{FD09A201-C598-43A8-856D-8CB42A8CE938}">
      <dgm:prSet phldrT="[Texte]" custT="1"/>
      <dgm:spPr/>
      <dgm:t>
        <a:bodyPr/>
        <a:lstStyle/>
        <a:p>
          <a:r>
            <a:rPr lang="en-CA" sz="1400" dirty="0"/>
            <a:t>4. Analyse</a:t>
          </a:r>
        </a:p>
      </dgm:t>
    </dgm:pt>
    <dgm:pt modelId="{1CC29EA8-38CD-4D4B-A646-E2B9CDC57910}" type="parTrans" cxnId="{B2933B12-8623-4AEA-9F8F-6BBCE1B4C5C6}">
      <dgm:prSet/>
      <dgm:spPr/>
      <dgm:t>
        <a:bodyPr/>
        <a:lstStyle/>
        <a:p>
          <a:endParaRPr lang="en-CA" sz="2000"/>
        </a:p>
      </dgm:t>
    </dgm:pt>
    <dgm:pt modelId="{4B4CEEBF-F4C2-4860-BE91-2C7F8801CCCC}" type="sibTrans" cxnId="{B2933B12-8623-4AEA-9F8F-6BBCE1B4C5C6}">
      <dgm:prSet/>
      <dgm:spPr/>
      <dgm:t>
        <a:bodyPr/>
        <a:lstStyle/>
        <a:p>
          <a:endParaRPr lang="en-CA" sz="2000"/>
        </a:p>
      </dgm:t>
    </dgm:pt>
    <dgm:pt modelId="{6D4B1947-9ABA-4A8A-A328-B9109A54404D}">
      <dgm:prSet phldrT="[Texte]" custT="1"/>
      <dgm:spPr/>
      <dgm:t>
        <a:bodyPr/>
        <a:lstStyle/>
        <a:p>
          <a:r>
            <a:rPr lang="fr-CA" sz="1400" noProof="0" dirty="0"/>
            <a:t>5. Commande</a:t>
          </a:r>
        </a:p>
      </dgm:t>
    </dgm:pt>
    <dgm:pt modelId="{075905A3-13BA-481C-8A03-92E6F8AB0C8C}" type="parTrans" cxnId="{E8E87851-AA30-4C0D-A4F3-F9533FAC3B0A}">
      <dgm:prSet/>
      <dgm:spPr/>
      <dgm:t>
        <a:bodyPr/>
        <a:lstStyle/>
        <a:p>
          <a:endParaRPr lang="en-CA" sz="2000"/>
        </a:p>
      </dgm:t>
    </dgm:pt>
    <dgm:pt modelId="{548FF097-3CCB-4C40-B13B-6E2202910A83}" type="sibTrans" cxnId="{E8E87851-AA30-4C0D-A4F3-F9533FAC3B0A}">
      <dgm:prSet/>
      <dgm:spPr/>
      <dgm:t>
        <a:bodyPr/>
        <a:lstStyle/>
        <a:p>
          <a:endParaRPr lang="en-CA" sz="2000"/>
        </a:p>
      </dgm:t>
    </dgm:pt>
    <dgm:pt modelId="{71C549AE-1EBB-499B-BE51-72769BE2B95C}">
      <dgm:prSet phldrT="[Texte]" custT="1"/>
      <dgm:spPr/>
      <dgm:t>
        <a:bodyPr/>
        <a:lstStyle/>
        <a:p>
          <a:r>
            <a:rPr lang="fr-CA" sz="1400" noProof="0" dirty="0"/>
            <a:t>6. Suivi</a:t>
          </a:r>
        </a:p>
      </dgm:t>
    </dgm:pt>
    <dgm:pt modelId="{BAF6102A-453D-46AE-B429-B90C2E2087E2}" type="parTrans" cxnId="{04CCC1C3-9C51-4A86-A263-2DB34EED27AB}">
      <dgm:prSet/>
      <dgm:spPr/>
      <dgm:t>
        <a:bodyPr/>
        <a:lstStyle/>
        <a:p>
          <a:endParaRPr lang="en-CA" sz="2000"/>
        </a:p>
      </dgm:t>
    </dgm:pt>
    <dgm:pt modelId="{95FD0EE8-5683-4BCD-97D6-94E3C72B15A4}" type="sibTrans" cxnId="{04CCC1C3-9C51-4A86-A263-2DB34EED27AB}">
      <dgm:prSet/>
      <dgm:spPr/>
      <dgm:t>
        <a:bodyPr/>
        <a:lstStyle/>
        <a:p>
          <a:endParaRPr lang="en-CA" sz="2000"/>
        </a:p>
      </dgm:t>
    </dgm:pt>
    <dgm:pt modelId="{4A9378BE-21C9-4E1C-8058-4210E3D398DE}">
      <dgm:prSet phldrT="[Texte]" custT="1"/>
      <dgm:spPr/>
      <dgm:t>
        <a:bodyPr/>
        <a:lstStyle/>
        <a:p>
          <a:r>
            <a:rPr lang="fr-CA" sz="1400" noProof="0" dirty="0"/>
            <a:t>7. Réception</a:t>
          </a:r>
        </a:p>
      </dgm:t>
    </dgm:pt>
    <dgm:pt modelId="{5E9C734D-B5F0-4570-B10D-96478170BBCB}" type="parTrans" cxnId="{A3588A92-9BD4-4D40-ABD5-AC7DAAA96ABA}">
      <dgm:prSet/>
      <dgm:spPr/>
      <dgm:t>
        <a:bodyPr/>
        <a:lstStyle/>
        <a:p>
          <a:endParaRPr lang="en-CA" sz="2000"/>
        </a:p>
      </dgm:t>
    </dgm:pt>
    <dgm:pt modelId="{180C23FE-DBCC-4753-A481-BC40862D1AD2}" type="sibTrans" cxnId="{A3588A92-9BD4-4D40-ABD5-AC7DAAA96ABA}">
      <dgm:prSet/>
      <dgm:spPr/>
      <dgm:t>
        <a:bodyPr/>
        <a:lstStyle/>
        <a:p>
          <a:endParaRPr lang="en-CA" sz="2000"/>
        </a:p>
      </dgm:t>
    </dgm:pt>
    <dgm:pt modelId="{556392AA-ACFB-41D0-8D67-B9E97A584846}">
      <dgm:prSet phldrT="[Texte]" custT="1"/>
      <dgm:spPr/>
      <dgm:t>
        <a:bodyPr/>
        <a:lstStyle/>
        <a:p>
          <a:r>
            <a:rPr lang="fr-CA" sz="1400" noProof="0" dirty="0"/>
            <a:t>8. Paiement</a:t>
          </a:r>
        </a:p>
      </dgm:t>
    </dgm:pt>
    <dgm:pt modelId="{B5E223D5-7E0B-4409-B4FA-CD5890B97E11}" type="parTrans" cxnId="{6B059F98-A40C-4C76-884B-E3B857BEEF83}">
      <dgm:prSet/>
      <dgm:spPr/>
      <dgm:t>
        <a:bodyPr/>
        <a:lstStyle/>
        <a:p>
          <a:endParaRPr lang="en-CA" sz="2000"/>
        </a:p>
      </dgm:t>
    </dgm:pt>
    <dgm:pt modelId="{1E0CBE7F-3535-482C-94CA-B093411DE7D4}" type="sibTrans" cxnId="{6B059F98-A40C-4C76-884B-E3B857BEEF83}">
      <dgm:prSet/>
      <dgm:spPr/>
      <dgm:t>
        <a:bodyPr/>
        <a:lstStyle/>
        <a:p>
          <a:endParaRPr lang="en-CA" sz="2000"/>
        </a:p>
      </dgm:t>
    </dgm:pt>
    <dgm:pt modelId="{27FBD8A8-D6CA-4ABB-A152-96F03BA24406}">
      <dgm:prSet phldrT="[Texte]" custT="1"/>
      <dgm:spPr/>
      <dgm:t>
        <a:bodyPr/>
        <a:lstStyle/>
        <a:p>
          <a:r>
            <a:rPr lang="fr-CA" sz="1400" noProof="0" dirty="0"/>
            <a:t>9. Rétroaction</a:t>
          </a:r>
        </a:p>
      </dgm:t>
    </dgm:pt>
    <dgm:pt modelId="{F61E6723-A245-4AC4-8CB9-3D0A1F8B50C5}" type="parTrans" cxnId="{E4D2B27F-8E29-47EA-9C6D-83CEC10772CA}">
      <dgm:prSet/>
      <dgm:spPr/>
      <dgm:t>
        <a:bodyPr/>
        <a:lstStyle/>
        <a:p>
          <a:endParaRPr lang="en-CA" sz="2000"/>
        </a:p>
      </dgm:t>
    </dgm:pt>
    <dgm:pt modelId="{75F1ED92-9F1A-429C-BB47-DE029374E671}" type="sibTrans" cxnId="{E4D2B27F-8E29-47EA-9C6D-83CEC10772CA}">
      <dgm:prSet/>
      <dgm:spPr/>
      <dgm:t>
        <a:bodyPr/>
        <a:lstStyle/>
        <a:p>
          <a:endParaRPr lang="en-CA" sz="2000"/>
        </a:p>
      </dgm:t>
    </dgm:pt>
    <dgm:pt modelId="{C9C22F35-554A-4C7E-BD5F-D3CDAC12FA15}" type="pres">
      <dgm:prSet presAssocID="{EE3FCFC6-460D-48BA-BD9C-7CE03C150ECC}" presName="Name0" presStyleCnt="0">
        <dgm:presLayoutVars>
          <dgm:dir/>
          <dgm:resizeHandles val="exact"/>
        </dgm:presLayoutVars>
      </dgm:prSet>
      <dgm:spPr/>
    </dgm:pt>
    <dgm:pt modelId="{1558AE04-5E3E-452E-82ED-F2F9C4647EA2}" type="pres">
      <dgm:prSet presAssocID="{EE3FCFC6-460D-48BA-BD9C-7CE03C150ECC}" presName="cycle" presStyleCnt="0"/>
      <dgm:spPr/>
    </dgm:pt>
    <dgm:pt modelId="{EDDFFEBD-B8D0-4E45-845B-D028FEAE0BB5}" type="pres">
      <dgm:prSet presAssocID="{2C80FADF-498B-4AFC-8F3A-CADC4E49EF9D}" presName="nodeFirstNode" presStyleLbl="node1" presStyleIdx="0" presStyleCnt="9">
        <dgm:presLayoutVars>
          <dgm:bulletEnabled val="1"/>
        </dgm:presLayoutVars>
      </dgm:prSet>
      <dgm:spPr/>
    </dgm:pt>
    <dgm:pt modelId="{8EA3F9C6-CB0C-4979-9C76-15FC13D7097B}" type="pres">
      <dgm:prSet presAssocID="{358F08A9-F688-48B3-863B-9E8EBE8BB101}" presName="sibTransFirstNode" presStyleLbl="bgShp" presStyleIdx="0" presStyleCnt="1"/>
      <dgm:spPr/>
    </dgm:pt>
    <dgm:pt modelId="{A67A52F9-0B7C-430E-917B-80289E3BF227}" type="pres">
      <dgm:prSet presAssocID="{FEB45AE4-DE03-40D7-B138-21246695FDEF}" presName="nodeFollowingNodes" presStyleLbl="node1" presStyleIdx="1" presStyleCnt="9">
        <dgm:presLayoutVars>
          <dgm:bulletEnabled val="1"/>
        </dgm:presLayoutVars>
      </dgm:prSet>
      <dgm:spPr/>
    </dgm:pt>
    <dgm:pt modelId="{D9EF1E7D-2913-4A2E-9F8F-B606802EE786}" type="pres">
      <dgm:prSet presAssocID="{F381226C-CB71-4A01-B5D3-ED64F5C3D5C2}" presName="nodeFollowingNodes" presStyleLbl="node1" presStyleIdx="2" presStyleCnt="9">
        <dgm:presLayoutVars>
          <dgm:bulletEnabled val="1"/>
        </dgm:presLayoutVars>
      </dgm:prSet>
      <dgm:spPr/>
    </dgm:pt>
    <dgm:pt modelId="{C3755C42-9871-4E1B-8ACE-BF5FE1994A0C}" type="pres">
      <dgm:prSet presAssocID="{FD09A201-C598-43A8-856D-8CB42A8CE938}" presName="nodeFollowingNodes" presStyleLbl="node1" presStyleIdx="3" presStyleCnt="9">
        <dgm:presLayoutVars>
          <dgm:bulletEnabled val="1"/>
        </dgm:presLayoutVars>
      </dgm:prSet>
      <dgm:spPr/>
    </dgm:pt>
    <dgm:pt modelId="{B325CE75-E45D-4992-A793-3ECC0BFD7496}" type="pres">
      <dgm:prSet presAssocID="{6D4B1947-9ABA-4A8A-A328-B9109A54404D}" presName="nodeFollowingNodes" presStyleLbl="node1" presStyleIdx="4" presStyleCnt="9" custScaleX="136666" custRadScaleRad="104353" custRadScaleInc="-15388">
        <dgm:presLayoutVars>
          <dgm:bulletEnabled val="1"/>
        </dgm:presLayoutVars>
      </dgm:prSet>
      <dgm:spPr/>
    </dgm:pt>
    <dgm:pt modelId="{D069F6D5-DF1E-4077-8A28-5633FC03B7FC}" type="pres">
      <dgm:prSet presAssocID="{71C549AE-1EBB-499B-BE51-72769BE2B95C}" presName="nodeFollowingNodes" presStyleLbl="node1" presStyleIdx="5" presStyleCnt="9">
        <dgm:presLayoutVars>
          <dgm:bulletEnabled val="1"/>
        </dgm:presLayoutVars>
      </dgm:prSet>
      <dgm:spPr/>
    </dgm:pt>
    <dgm:pt modelId="{4D80EF9D-1FF2-4A45-B8C2-1F6ADF7608AB}" type="pres">
      <dgm:prSet presAssocID="{4A9378BE-21C9-4E1C-8058-4210E3D398DE}" presName="nodeFollowingNodes" presStyleLbl="node1" presStyleIdx="6" presStyleCnt="9" custScaleX="120003">
        <dgm:presLayoutVars>
          <dgm:bulletEnabled val="1"/>
        </dgm:presLayoutVars>
      </dgm:prSet>
      <dgm:spPr/>
    </dgm:pt>
    <dgm:pt modelId="{06C9A339-FDFB-4C58-B9E2-5143C66ADC3E}" type="pres">
      <dgm:prSet presAssocID="{556392AA-ACFB-41D0-8D67-B9E97A584846}" presName="nodeFollowingNodes" presStyleLbl="node1" presStyleIdx="7" presStyleCnt="9" custScaleX="126795">
        <dgm:presLayoutVars>
          <dgm:bulletEnabled val="1"/>
        </dgm:presLayoutVars>
      </dgm:prSet>
      <dgm:spPr/>
    </dgm:pt>
    <dgm:pt modelId="{C27C9478-B42F-4ABA-896F-CB5540A5CFE1}" type="pres">
      <dgm:prSet presAssocID="{27FBD8A8-D6CA-4ABB-A152-96F03BA24406}" presName="nodeFollowingNodes" presStyleLbl="node1" presStyleIdx="8" presStyleCnt="9" custScaleX="138342" custRadScaleRad="103435" custRadScaleInc="-14732">
        <dgm:presLayoutVars>
          <dgm:bulletEnabled val="1"/>
        </dgm:presLayoutVars>
      </dgm:prSet>
      <dgm:spPr/>
    </dgm:pt>
  </dgm:ptLst>
  <dgm:cxnLst>
    <dgm:cxn modelId="{B2933B12-8623-4AEA-9F8F-6BBCE1B4C5C6}" srcId="{EE3FCFC6-460D-48BA-BD9C-7CE03C150ECC}" destId="{FD09A201-C598-43A8-856D-8CB42A8CE938}" srcOrd="3" destOrd="0" parTransId="{1CC29EA8-38CD-4D4B-A646-E2B9CDC57910}" sibTransId="{4B4CEEBF-F4C2-4860-BE91-2C7F8801CCCC}"/>
    <dgm:cxn modelId="{C033C920-235A-45E7-9C35-10DF62474DAE}" type="presOf" srcId="{FD09A201-C598-43A8-856D-8CB42A8CE938}" destId="{C3755C42-9871-4E1B-8ACE-BF5FE1994A0C}" srcOrd="0" destOrd="0" presId="urn:microsoft.com/office/officeart/2005/8/layout/cycle3"/>
    <dgm:cxn modelId="{D44BC329-9DB6-409A-A841-28DDC918C363}" srcId="{EE3FCFC6-460D-48BA-BD9C-7CE03C150ECC}" destId="{FEB45AE4-DE03-40D7-B138-21246695FDEF}" srcOrd="1" destOrd="0" parTransId="{50E77833-E9AF-4DB9-8BB9-21C124676586}" sibTransId="{26A7F9FC-F44E-4ABE-A3B4-03BC014FB397}"/>
    <dgm:cxn modelId="{D3333634-4D78-486B-BF80-BE289E94A9C0}" type="presOf" srcId="{71C549AE-1EBB-499B-BE51-72769BE2B95C}" destId="{D069F6D5-DF1E-4077-8A28-5633FC03B7FC}" srcOrd="0" destOrd="0" presId="urn:microsoft.com/office/officeart/2005/8/layout/cycle3"/>
    <dgm:cxn modelId="{78F5F361-AC43-4961-BAEA-105B087D232C}" type="presOf" srcId="{27FBD8A8-D6CA-4ABB-A152-96F03BA24406}" destId="{C27C9478-B42F-4ABA-896F-CB5540A5CFE1}" srcOrd="0" destOrd="0" presId="urn:microsoft.com/office/officeart/2005/8/layout/cycle3"/>
    <dgm:cxn modelId="{601B6C63-4485-489B-ABA5-FA0BB482825D}" type="presOf" srcId="{358F08A9-F688-48B3-863B-9E8EBE8BB101}" destId="{8EA3F9C6-CB0C-4979-9C76-15FC13D7097B}" srcOrd="0" destOrd="0" presId="urn:microsoft.com/office/officeart/2005/8/layout/cycle3"/>
    <dgm:cxn modelId="{0902646D-4A95-47F5-A123-993D1707B362}" type="presOf" srcId="{F381226C-CB71-4A01-B5D3-ED64F5C3D5C2}" destId="{D9EF1E7D-2913-4A2E-9F8F-B606802EE786}" srcOrd="0" destOrd="0" presId="urn:microsoft.com/office/officeart/2005/8/layout/cycle3"/>
    <dgm:cxn modelId="{E8E87851-AA30-4C0D-A4F3-F9533FAC3B0A}" srcId="{EE3FCFC6-460D-48BA-BD9C-7CE03C150ECC}" destId="{6D4B1947-9ABA-4A8A-A328-B9109A54404D}" srcOrd="4" destOrd="0" parTransId="{075905A3-13BA-481C-8A03-92E6F8AB0C8C}" sibTransId="{548FF097-3CCB-4C40-B13B-6E2202910A83}"/>
    <dgm:cxn modelId="{8DCEC45A-DDD6-4593-8D66-10E6F0BC10F2}" type="presOf" srcId="{4A9378BE-21C9-4E1C-8058-4210E3D398DE}" destId="{4D80EF9D-1FF2-4A45-B8C2-1F6ADF7608AB}" srcOrd="0" destOrd="0" presId="urn:microsoft.com/office/officeart/2005/8/layout/cycle3"/>
    <dgm:cxn modelId="{E4D2B27F-8E29-47EA-9C6D-83CEC10772CA}" srcId="{EE3FCFC6-460D-48BA-BD9C-7CE03C150ECC}" destId="{27FBD8A8-D6CA-4ABB-A152-96F03BA24406}" srcOrd="8" destOrd="0" parTransId="{F61E6723-A245-4AC4-8CB9-3D0A1F8B50C5}" sibTransId="{75F1ED92-9F1A-429C-BB47-DE029374E671}"/>
    <dgm:cxn modelId="{A3588A92-9BD4-4D40-ABD5-AC7DAAA96ABA}" srcId="{EE3FCFC6-460D-48BA-BD9C-7CE03C150ECC}" destId="{4A9378BE-21C9-4E1C-8058-4210E3D398DE}" srcOrd="6" destOrd="0" parTransId="{5E9C734D-B5F0-4570-B10D-96478170BBCB}" sibTransId="{180C23FE-DBCC-4753-A481-BC40862D1AD2}"/>
    <dgm:cxn modelId="{6B059F98-A40C-4C76-884B-E3B857BEEF83}" srcId="{EE3FCFC6-460D-48BA-BD9C-7CE03C150ECC}" destId="{556392AA-ACFB-41D0-8D67-B9E97A584846}" srcOrd="7" destOrd="0" parTransId="{B5E223D5-7E0B-4409-B4FA-CD5890B97E11}" sibTransId="{1E0CBE7F-3535-482C-94CA-B093411DE7D4}"/>
    <dgm:cxn modelId="{4A5E409E-16F5-46BB-AE0F-7D5D4A95E0EA}" type="presOf" srcId="{FEB45AE4-DE03-40D7-B138-21246695FDEF}" destId="{A67A52F9-0B7C-430E-917B-80289E3BF227}" srcOrd="0" destOrd="0" presId="urn:microsoft.com/office/officeart/2005/8/layout/cycle3"/>
    <dgm:cxn modelId="{08CCC4C1-FDE6-47C6-B642-00A7E025C4C9}" srcId="{EE3FCFC6-460D-48BA-BD9C-7CE03C150ECC}" destId="{2C80FADF-498B-4AFC-8F3A-CADC4E49EF9D}" srcOrd="0" destOrd="0" parTransId="{E35BC4FA-39FE-4C93-8FDE-D457AAA4BE66}" sibTransId="{358F08A9-F688-48B3-863B-9E8EBE8BB101}"/>
    <dgm:cxn modelId="{04CCC1C3-9C51-4A86-A263-2DB34EED27AB}" srcId="{EE3FCFC6-460D-48BA-BD9C-7CE03C150ECC}" destId="{71C549AE-1EBB-499B-BE51-72769BE2B95C}" srcOrd="5" destOrd="0" parTransId="{BAF6102A-453D-46AE-B429-B90C2E2087E2}" sibTransId="{95FD0EE8-5683-4BCD-97D6-94E3C72B15A4}"/>
    <dgm:cxn modelId="{B08E38D2-956F-427D-B4F2-B02C419F4C25}" type="presOf" srcId="{2C80FADF-498B-4AFC-8F3A-CADC4E49EF9D}" destId="{EDDFFEBD-B8D0-4E45-845B-D028FEAE0BB5}" srcOrd="0" destOrd="0" presId="urn:microsoft.com/office/officeart/2005/8/layout/cycle3"/>
    <dgm:cxn modelId="{3EA6CDEB-5B35-44A7-B834-E9A9873FEB11}" type="presOf" srcId="{556392AA-ACFB-41D0-8D67-B9E97A584846}" destId="{06C9A339-FDFB-4C58-B9E2-5143C66ADC3E}" srcOrd="0" destOrd="0" presId="urn:microsoft.com/office/officeart/2005/8/layout/cycle3"/>
    <dgm:cxn modelId="{F61DC0F6-3CD1-4375-9AFF-46B36654D3C0}" srcId="{EE3FCFC6-460D-48BA-BD9C-7CE03C150ECC}" destId="{F381226C-CB71-4A01-B5D3-ED64F5C3D5C2}" srcOrd="2" destOrd="0" parTransId="{FC9808B2-47AB-4338-9F9B-6F50B0DEC85C}" sibTransId="{13F62BBE-A270-4813-8C02-63E787A96220}"/>
    <dgm:cxn modelId="{02EE67FA-15D2-4FAE-8050-D64962C814A9}" type="presOf" srcId="{EE3FCFC6-460D-48BA-BD9C-7CE03C150ECC}" destId="{C9C22F35-554A-4C7E-BD5F-D3CDAC12FA15}" srcOrd="0" destOrd="0" presId="urn:microsoft.com/office/officeart/2005/8/layout/cycle3"/>
    <dgm:cxn modelId="{DBA912FB-3DF1-46CD-8914-C0ECEED72284}" type="presOf" srcId="{6D4B1947-9ABA-4A8A-A328-B9109A54404D}" destId="{B325CE75-E45D-4992-A793-3ECC0BFD7496}" srcOrd="0" destOrd="0" presId="urn:microsoft.com/office/officeart/2005/8/layout/cycle3"/>
    <dgm:cxn modelId="{34FF15F3-3DAA-47E2-9FAE-554A1875D2B5}" type="presParOf" srcId="{C9C22F35-554A-4C7E-BD5F-D3CDAC12FA15}" destId="{1558AE04-5E3E-452E-82ED-F2F9C4647EA2}" srcOrd="0" destOrd="0" presId="urn:microsoft.com/office/officeart/2005/8/layout/cycle3"/>
    <dgm:cxn modelId="{A981758F-AA04-4CE5-AF36-A3A14595C457}" type="presParOf" srcId="{1558AE04-5E3E-452E-82ED-F2F9C4647EA2}" destId="{EDDFFEBD-B8D0-4E45-845B-D028FEAE0BB5}" srcOrd="0" destOrd="0" presId="urn:microsoft.com/office/officeart/2005/8/layout/cycle3"/>
    <dgm:cxn modelId="{FDE2E188-DBB0-4F9D-801B-7E74E7CD8BDB}" type="presParOf" srcId="{1558AE04-5E3E-452E-82ED-F2F9C4647EA2}" destId="{8EA3F9C6-CB0C-4979-9C76-15FC13D7097B}" srcOrd="1" destOrd="0" presId="urn:microsoft.com/office/officeart/2005/8/layout/cycle3"/>
    <dgm:cxn modelId="{D6763D7E-4DAF-48AB-AF0F-A70F9E99E971}" type="presParOf" srcId="{1558AE04-5E3E-452E-82ED-F2F9C4647EA2}" destId="{A67A52F9-0B7C-430E-917B-80289E3BF227}" srcOrd="2" destOrd="0" presId="urn:microsoft.com/office/officeart/2005/8/layout/cycle3"/>
    <dgm:cxn modelId="{DEEE4AE4-429B-4FC3-88F2-005CFDBE0CCB}" type="presParOf" srcId="{1558AE04-5E3E-452E-82ED-F2F9C4647EA2}" destId="{D9EF1E7D-2913-4A2E-9F8F-B606802EE786}" srcOrd="3" destOrd="0" presId="urn:microsoft.com/office/officeart/2005/8/layout/cycle3"/>
    <dgm:cxn modelId="{996AC537-ED97-4B60-AEB2-7172DE052ED6}" type="presParOf" srcId="{1558AE04-5E3E-452E-82ED-F2F9C4647EA2}" destId="{C3755C42-9871-4E1B-8ACE-BF5FE1994A0C}" srcOrd="4" destOrd="0" presId="urn:microsoft.com/office/officeart/2005/8/layout/cycle3"/>
    <dgm:cxn modelId="{F6E6D145-FCD6-446F-A220-52DFDCB0D18B}" type="presParOf" srcId="{1558AE04-5E3E-452E-82ED-F2F9C4647EA2}" destId="{B325CE75-E45D-4992-A793-3ECC0BFD7496}" srcOrd="5" destOrd="0" presId="urn:microsoft.com/office/officeart/2005/8/layout/cycle3"/>
    <dgm:cxn modelId="{75ED58C8-4E07-4C51-9F28-C565D494899F}" type="presParOf" srcId="{1558AE04-5E3E-452E-82ED-F2F9C4647EA2}" destId="{D069F6D5-DF1E-4077-8A28-5633FC03B7FC}" srcOrd="6" destOrd="0" presId="urn:microsoft.com/office/officeart/2005/8/layout/cycle3"/>
    <dgm:cxn modelId="{9249EC6E-FB25-4D5E-B7B2-2E9832CC1134}" type="presParOf" srcId="{1558AE04-5E3E-452E-82ED-F2F9C4647EA2}" destId="{4D80EF9D-1FF2-4A45-B8C2-1F6ADF7608AB}" srcOrd="7" destOrd="0" presId="urn:microsoft.com/office/officeart/2005/8/layout/cycle3"/>
    <dgm:cxn modelId="{E2432715-7096-453E-B004-8F3B23BD596C}" type="presParOf" srcId="{1558AE04-5E3E-452E-82ED-F2F9C4647EA2}" destId="{06C9A339-FDFB-4C58-B9E2-5143C66ADC3E}" srcOrd="8" destOrd="0" presId="urn:microsoft.com/office/officeart/2005/8/layout/cycle3"/>
    <dgm:cxn modelId="{B0D24FE2-E07E-4A86-A069-2BE14548A8FD}" type="presParOf" srcId="{1558AE04-5E3E-452E-82ED-F2F9C4647EA2}" destId="{C27C9478-B42F-4ABA-896F-CB5540A5CFE1}" srcOrd="9"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6522F6-94FA-4DC5-8DB4-32AE6FFC129E}" type="doc">
      <dgm:prSet loTypeId="urn:microsoft.com/office/officeart/2005/8/layout/hProcess9" loCatId="process" qsTypeId="urn:microsoft.com/office/officeart/2005/8/quickstyle/simple1" qsCatId="simple" csTypeId="urn:microsoft.com/office/officeart/2005/8/colors/accent1_2" csCatId="accent1" phldr="1"/>
      <dgm:spPr/>
    </dgm:pt>
    <dgm:pt modelId="{3E67636B-4793-4F00-B55E-5EFA2E49E661}">
      <dgm:prSet phldrT="[Texte]"/>
      <dgm:spPr>
        <a:solidFill>
          <a:schemeClr val="accent1">
            <a:lumMod val="75000"/>
          </a:schemeClr>
        </a:solidFill>
      </dgm:spPr>
      <dgm:t>
        <a:bodyPr/>
        <a:lstStyle/>
        <a:p>
          <a:r>
            <a:rPr lang="fr-CA" dirty="0"/>
            <a:t>Approvisionnement</a:t>
          </a:r>
        </a:p>
      </dgm:t>
    </dgm:pt>
    <dgm:pt modelId="{BDEE56E3-E00D-406D-8030-491230B4A4ED}" type="parTrans" cxnId="{17F9515F-E58E-445C-823E-508305CA3044}">
      <dgm:prSet/>
      <dgm:spPr/>
      <dgm:t>
        <a:bodyPr/>
        <a:lstStyle/>
        <a:p>
          <a:endParaRPr lang="fr-CA"/>
        </a:p>
      </dgm:t>
    </dgm:pt>
    <dgm:pt modelId="{52839C32-C0E7-4CE1-9277-FA373428C707}" type="sibTrans" cxnId="{17F9515F-E58E-445C-823E-508305CA3044}">
      <dgm:prSet/>
      <dgm:spPr/>
      <dgm:t>
        <a:bodyPr/>
        <a:lstStyle/>
        <a:p>
          <a:endParaRPr lang="fr-CA"/>
        </a:p>
      </dgm:t>
    </dgm:pt>
    <dgm:pt modelId="{742E1EA7-409B-4CFB-BED6-9D56DA96F6D5}">
      <dgm:prSet phldrT="[Texte]"/>
      <dgm:spPr>
        <a:solidFill>
          <a:schemeClr val="accent1">
            <a:lumMod val="75000"/>
          </a:schemeClr>
        </a:solidFill>
      </dgm:spPr>
      <dgm:t>
        <a:bodyPr/>
        <a:lstStyle/>
        <a:p>
          <a:r>
            <a:rPr lang="fr-CA" dirty="0"/>
            <a:t>Planification de production</a:t>
          </a:r>
        </a:p>
      </dgm:t>
    </dgm:pt>
    <dgm:pt modelId="{92858F2E-8891-4013-B07C-B8F4441C35DC}" type="parTrans" cxnId="{501B4135-572F-4270-AABD-2FF63A069091}">
      <dgm:prSet/>
      <dgm:spPr/>
      <dgm:t>
        <a:bodyPr/>
        <a:lstStyle/>
        <a:p>
          <a:endParaRPr lang="fr-CA"/>
        </a:p>
      </dgm:t>
    </dgm:pt>
    <dgm:pt modelId="{6296FDA2-5EF4-4AFC-A606-63B840218CCA}" type="sibTrans" cxnId="{501B4135-572F-4270-AABD-2FF63A069091}">
      <dgm:prSet/>
      <dgm:spPr/>
      <dgm:t>
        <a:bodyPr/>
        <a:lstStyle/>
        <a:p>
          <a:endParaRPr lang="fr-CA"/>
        </a:p>
      </dgm:t>
    </dgm:pt>
    <dgm:pt modelId="{968E26DB-1C79-4BDA-8A98-184D78CFACCD}">
      <dgm:prSet phldrT="[Texte]"/>
      <dgm:spPr>
        <a:solidFill>
          <a:schemeClr val="accent1">
            <a:lumMod val="75000"/>
          </a:schemeClr>
        </a:solidFill>
      </dgm:spPr>
      <dgm:t>
        <a:bodyPr/>
        <a:lstStyle/>
        <a:p>
          <a:r>
            <a:rPr lang="fr-CA" dirty="0"/>
            <a:t>Distribution</a:t>
          </a:r>
        </a:p>
      </dgm:t>
    </dgm:pt>
    <dgm:pt modelId="{F6233A84-9654-4CB7-BF1E-C0CECB17E8AD}" type="parTrans" cxnId="{DE4556AE-EB3F-4728-8F9E-74E6F6F76D73}">
      <dgm:prSet/>
      <dgm:spPr/>
      <dgm:t>
        <a:bodyPr/>
        <a:lstStyle/>
        <a:p>
          <a:endParaRPr lang="fr-CA"/>
        </a:p>
      </dgm:t>
    </dgm:pt>
    <dgm:pt modelId="{DE9ED137-56A0-48F9-8C8C-168BBB93DC79}" type="sibTrans" cxnId="{DE4556AE-EB3F-4728-8F9E-74E6F6F76D73}">
      <dgm:prSet/>
      <dgm:spPr/>
      <dgm:t>
        <a:bodyPr/>
        <a:lstStyle/>
        <a:p>
          <a:endParaRPr lang="fr-CA"/>
        </a:p>
      </dgm:t>
    </dgm:pt>
    <dgm:pt modelId="{A6B50577-9AB8-4375-AB9C-F31711192A28}" type="pres">
      <dgm:prSet presAssocID="{B56522F6-94FA-4DC5-8DB4-32AE6FFC129E}" presName="CompostProcess" presStyleCnt="0">
        <dgm:presLayoutVars>
          <dgm:dir/>
          <dgm:resizeHandles val="exact"/>
        </dgm:presLayoutVars>
      </dgm:prSet>
      <dgm:spPr/>
    </dgm:pt>
    <dgm:pt modelId="{FDF605A9-FD90-4123-83F3-994EDA406DE9}" type="pres">
      <dgm:prSet presAssocID="{B56522F6-94FA-4DC5-8DB4-32AE6FFC129E}" presName="arrow" presStyleLbl="bgShp" presStyleIdx="0" presStyleCnt="1" custLinFactNeighborX="-140" custLinFactNeighborY="-6337"/>
      <dgm:spPr>
        <a:blipFill rotWithShape="0">
          <a:blip xmlns:r="http://schemas.openxmlformats.org/officeDocument/2006/relationships" r:embed="rId1"/>
          <a:stretch>
            <a:fillRect/>
          </a:stretch>
        </a:blipFill>
      </dgm:spPr>
    </dgm:pt>
    <dgm:pt modelId="{3B1DCF15-FE97-4A40-9BE6-1126EB7A10B9}" type="pres">
      <dgm:prSet presAssocID="{B56522F6-94FA-4DC5-8DB4-32AE6FFC129E}" presName="linearProcess" presStyleCnt="0"/>
      <dgm:spPr/>
    </dgm:pt>
    <dgm:pt modelId="{13F10BC0-174A-418A-B1D8-BBEF06937C26}" type="pres">
      <dgm:prSet presAssocID="{3E67636B-4793-4F00-B55E-5EFA2E49E661}" presName="textNode" presStyleLbl="node1" presStyleIdx="0" presStyleCnt="3">
        <dgm:presLayoutVars>
          <dgm:bulletEnabled val="1"/>
        </dgm:presLayoutVars>
      </dgm:prSet>
      <dgm:spPr/>
    </dgm:pt>
    <dgm:pt modelId="{435B6F6E-BAB1-4558-8F85-C425A6014AFA}" type="pres">
      <dgm:prSet presAssocID="{52839C32-C0E7-4CE1-9277-FA373428C707}" presName="sibTrans" presStyleCnt="0"/>
      <dgm:spPr/>
    </dgm:pt>
    <dgm:pt modelId="{AE8CCF3A-3388-472E-8587-B757B63B94C9}" type="pres">
      <dgm:prSet presAssocID="{742E1EA7-409B-4CFB-BED6-9D56DA96F6D5}" presName="textNode" presStyleLbl="node1" presStyleIdx="1" presStyleCnt="3">
        <dgm:presLayoutVars>
          <dgm:bulletEnabled val="1"/>
        </dgm:presLayoutVars>
      </dgm:prSet>
      <dgm:spPr/>
    </dgm:pt>
    <dgm:pt modelId="{86C297A7-C31D-4394-83EF-057417F25237}" type="pres">
      <dgm:prSet presAssocID="{6296FDA2-5EF4-4AFC-A606-63B840218CCA}" presName="sibTrans" presStyleCnt="0"/>
      <dgm:spPr/>
    </dgm:pt>
    <dgm:pt modelId="{44CDD666-B2DB-4669-86B9-33B6E44895F2}" type="pres">
      <dgm:prSet presAssocID="{968E26DB-1C79-4BDA-8A98-184D78CFACCD}" presName="textNode" presStyleLbl="node1" presStyleIdx="2" presStyleCnt="3">
        <dgm:presLayoutVars>
          <dgm:bulletEnabled val="1"/>
        </dgm:presLayoutVars>
      </dgm:prSet>
      <dgm:spPr/>
    </dgm:pt>
  </dgm:ptLst>
  <dgm:cxnLst>
    <dgm:cxn modelId="{63F3502D-A72B-4397-BAD2-84B1AFD74D49}" type="presOf" srcId="{B56522F6-94FA-4DC5-8DB4-32AE6FFC129E}" destId="{A6B50577-9AB8-4375-AB9C-F31711192A28}" srcOrd="0" destOrd="0" presId="urn:microsoft.com/office/officeart/2005/8/layout/hProcess9"/>
    <dgm:cxn modelId="{501B4135-572F-4270-AABD-2FF63A069091}" srcId="{B56522F6-94FA-4DC5-8DB4-32AE6FFC129E}" destId="{742E1EA7-409B-4CFB-BED6-9D56DA96F6D5}" srcOrd="1" destOrd="0" parTransId="{92858F2E-8891-4013-B07C-B8F4441C35DC}" sibTransId="{6296FDA2-5EF4-4AFC-A606-63B840218CCA}"/>
    <dgm:cxn modelId="{48B2543A-7079-4273-B45E-B81D8DA258A4}" type="presOf" srcId="{3E67636B-4793-4F00-B55E-5EFA2E49E661}" destId="{13F10BC0-174A-418A-B1D8-BBEF06937C26}" srcOrd="0" destOrd="0" presId="urn:microsoft.com/office/officeart/2005/8/layout/hProcess9"/>
    <dgm:cxn modelId="{77C8343C-6920-46A6-A822-3FFDFA18BA53}" type="presOf" srcId="{968E26DB-1C79-4BDA-8A98-184D78CFACCD}" destId="{44CDD666-B2DB-4669-86B9-33B6E44895F2}" srcOrd="0" destOrd="0" presId="urn:microsoft.com/office/officeart/2005/8/layout/hProcess9"/>
    <dgm:cxn modelId="{17F9515F-E58E-445C-823E-508305CA3044}" srcId="{B56522F6-94FA-4DC5-8DB4-32AE6FFC129E}" destId="{3E67636B-4793-4F00-B55E-5EFA2E49E661}" srcOrd="0" destOrd="0" parTransId="{BDEE56E3-E00D-406D-8030-491230B4A4ED}" sibTransId="{52839C32-C0E7-4CE1-9277-FA373428C707}"/>
    <dgm:cxn modelId="{DE4556AE-EB3F-4728-8F9E-74E6F6F76D73}" srcId="{B56522F6-94FA-4DC5-8DB4-32AE6FFC129E}" destId="{968E26DB-1C79-4BDA-8A98-184D78CFACCD}" srcOrd="2" destOrd="0" parTransId="{F6233A84-9654-4CB7-BF1E-C0CECB17E8AD}" sibTransId="{DE9ED137-56A0-48F9-8C8C-168BBB93DC79}"/>
    <dgm:cxn modelId="{112C1ABE-EB01-42F5-AD00-FA6F18A53D48}" type="presOf" srcId="{742E1EA7-409B-4CFB-BED6-9D56DA96F6D5}" destId="{AE8CCF3A-3388-472E-8587-B757B63B94C9}" srcOrd="0" destOrd="0" presId="urn:microsoft.com/office/officeart/2005/8/layout/hProcess9"/>
    <dgm:cxn modelId="{2F431E1C-5E4A-4117-AB91-4419A680DE76}" type="presParOf" srcId="{A6B50577-9AB8-4375-AB9C-F31711192A28}" destId="{FDF605A9-FD90-4123-83F3-994EDA406DE9}" srcOrd="0" destOrd="0" presId="urn:microsoft.com/office/officeart/2005/8/layout/hProcess9"/>
    <dgm:cxn modelId="{135D4A21-19C1-49D5-BFA1-699B10D4287E}" type="presParOf" srcId="{A6B50577-9AB8-4375-AB9C-F31711192A28}" destId="{3B1DCF15-FE97-4A40-9BE6-1126EB7A10B9}" srcOrd="1" destOrd="0" presId="urn:microsoft.com/office/officeart/2005/8/layout/hProcess9"/>
    <dgm:cxn modelId="{FF662D62-1B38-4882-882F-3233AEC02902}" type="presParOf" srcId="{3B1DCF15-FE97-4A40-9BE6-1126EB7A10B9}" destId="{13F10BC0-174A-418A-B1D8-BBEF06937C26}" srcOrd="0" destOrd="0" presId="urn:microsoft.com/office/officeart/2005/8/layout/hProcess9"/>
    <dgm:cxn modelId="{64976562-0456-4610-963B-60B66EAC3E20}" type="presParOf" srcId="{3B1DCF15-FE97-4A40-9BE6-1126EB7A10B9}" destId="{435B6F6E-BAB1-4558-8F85-C425A6014AFA}" srcOrd="1" destOrd="0" presId="urn:microsoft.com/office/officeart/2005/8/layout/hProcess9"/>
    <dgm:cxn modelId="{3EE412F3-B561-4A16-A92E-332F95B0C116}" type="presParOf" srcId="{3B1DCF15-FE97-4A40-9BE6-1126EB7A10B9}" destId="{AE8CCF3A-3388-472E-8587-B757B63B94C9}" srcOrd="2" destOrd="0" presId="urn:microsoft.com/office/officeart/2005/8/layout/hProcess9"/>
    <dgm:cxn modelId="{A5B65E58-EF54-4D83-9082-8D953B8E181B}" type="presParOf" srcId="{3B1DCF15-FE97-4A40-9BE6-1126EB7A10B9}" destId="{86C297A7-C31D-4394-83EF-057417F25237}" srcOrd="3" destOrd="0" presId="urn:microsoft.com/office/officeart/2005/8/layout/hProcess9"/>
    <dgm:cxn modelId="{A1B90E95-DE0A-4EE8-B939-079ABD0C2DD7}" type="presParOf" srcId="{3B1DCF15-FE97-4A40-9BE6-1126EB7A10B9}" destId="{44CDD666-B2DB-4669-86B9-33B6E44895F2}"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39687-7855-4473-9FC5-0E8C57327C0E}">
      <dsp:nvSpPr>
        <dsp:cNvPr id="0" name=""/>
        <dsp:cNvSpPr/>
      </dsp:nvSpPr>
      <dsp:spPr>
        <a:xfrm>
          <a:off x="1403087" y="447569"/>
          <a:ext cx="3793067" cy="3793067"/>
        </a:xfrm>
        <a:prstGeom prst="pie">
          <a:avLst>
            <a:gd name="adj1" fmla="val 16200000"/>
            <a:gd name="adj2" fmla="val 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r-CA" sz="1700" kern="1200" noProof="0" dirty="0"/>
            <a:t>Détermination des quantités à commander et à stocker</a:t>
          </a:r>
        </a:p>
      </dsp:txBody>
      <dsp:txXfrm>
        <a:off x="3342970" y="1149286"/>
        <a:ext cx="1399822" cy="1128889"/>
      </dsp:txXfrm>
    </dsp:sp>
    <dsp:sp modelId="{3C3E5A34-206A-4273-86BE-1F5BB41AB566}">
      <dsp:nvSpPr>
        <dsp:cNvPr id="0" name=""/>
        <dsp:cNvSpPr/>
      </dsp:nvSpPr>
      <dsp:spPr>
        <a:xfrm>
          <a:off x="1410207" y="441169"/>
          <a:ext cx="3793067" cy="3793067"/>
        </a:xfrm>
        <a:prstGeom prst="pie">
          <a:avLst>
            <a:gd name="adj1" fmla="val 0"/>
            <a:gd name="adj2" fmla="val 540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r-CA" sz="1700" kern="1200" noProof="0" dirty="0"/>
            <a:t>Acquisition de produits et de services</a:t>
          </a:r>
        </a:p>
      </dsp:txBody>
      <dsp:txXfrm>
        <a:off x="3374474" y="2405436"/>
        <a:ext cx="1399822" cy="1128889"/>
      </dsp:txXfrm>
    </dsp:sp>
    <dsp:sp modelId="{F512CF5D-2CE4-455A-932B-76DA487CB7E1}">
      <dsp:nvSpPr>
        <dsp:cNvPr id="0" name=""/>
        <dsp:cNvSpPr/>
      </dsp:nvSpPr>
      <dsp:spPr>
        <a:xfrm>
          <a:off x="1410207" y="441169"/>
          <a:ext cx="3793067" cy="3793067"/>
        </a:xfrm>
        <a:prstGeom prst="pie">
          <a:avLst>
            <a:gd name="adj1" fmla="val 5400000"/>
            <a:gd name="adj2" fmla="val 1080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r-CA" sz="1700" kern="1200" dirty="0"/>
            <a:t>Gestion des retours aux fournisseurs</a:t>
          </a:r>
        </a:p>
      </dsp:txBody>
      <dsp:txXfrm>
        <a:off x="1839185" y="2405436"/>
        <a:ext cx="1399822" cy="1128889"/>
      </dsp:txXfrm>
    </dsp:sp>
    <dsp:sp modelId="{C7A44A9D-4343-4293-8387-081DF1C858E5}">
      <dsp:nvSpPr>
        <dsp:cNvPr id="0" name=""/>
        <dsp:cNvSpPr/>
      </dsp:nvSpPr>
      <dsp:spPr>
        <a:xfrm>
          <a:off x="1410207" y="441169"/>
          <a:ext cx="3793067" cy="3793067"/>
        </a:xfrm>
        <a:prstGeom prst="pie">
          <a:avLst>
            <a:gd name="adj1" fmla="val 10800000"/>
            <a:gd name="adj2" fmla="val 1620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r-CA" sz="1700" kern="1200" noProof="0" dirty="0"/>
            <a:t>Sélection des fournisseurs</a:t>
          </a:r>
        </a:p>
      </dsp:txBody>
      <dsp:txXfrm>
        <a:off x="1839185" y="1141081"/>
        <a:ext cx="1399822" cy="11288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A3F9C6-CB0C-4979-9C76-15FC13D7097B}">
      <dsp:nvSpPr>
        <dsp:cNvPr id="0" name=""/>
        <dsp:cNvSpPr/>
      </dsp:nvSpPr>
      <dsp:spPr>
        <a:xfrm>
          <a:off x="1196042" y="-47068"/>
          <a:ext cx="4280918" cy="4280918"/>
        </a:xfrm>
        <a:prstGeom prst="circularArrow">
          <a:avLst>
            <a:gd name="adj1" fmla="val 5544"/>
            <a:gd name="adj2" fmla="val 330680"/>
            <a:gd name="adj3" fmla="val 14771386"/>
            <a:gd name="adj4" fmla="val 16805245"/>
            <a:gd name="adj5" fmla="val 5757"/>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DFFEBD-B8D0-4E45-845B-D028FEAE0BB5}">
      <dsp:nvSpPr>
        <dsp:cNvPr id="0" name=""/>
        <dsp:cNvSpPr/>
      </dsp:nvSpPr>
      <dsp:spPr>
        <a:xfrm>
          <a:off x="2792304" y="2382"/>
          <a:ext cx="1088395" cy="54419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1. Besoin</a:t>
          </a:r>
        </a:p>
      </dsp:txBody>
      <dsp:txXfrm>
        <a:off x="2818870" y="28948"/>
        <a:ext cx="1035263" cy="491065"/>
      </dsp:txXfrm>
    </dsp:sp>
    <dsp:sp modelId="{A67A52F9-0B7C-430E-917B-80289E3BF227}">
      <dsp:nvSpPr>
        <dsp:cNvPr id="0" name=""/>
        <dsp:cNvSpPr/>
      </dsp:nvSpPr>
      <dsp:spPr>
        <a:xfrm>
          <a:off x="3965746" y="429480"/>
          <a:ext cx="1088395" cy="544197"/>
        </a:xfrm>
        <a:prstGeom prst="roundRect">
          <a:avLst/>
        </a:prstGeom>
        <a:solidFill>
          <a:schemeClr val="accent5">
            <a:hueOff val="177858"/>
            <a:satOff val="0"/>
            <a:lumOff val="-7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2. Objet</a:t>
          </a:r>
        </a:p>
      </dsp:txBody>
      <dsp:txXfrm>
        <a:off x="3992312" y="456046"/>
        <a:ext cx="1035263" cy="491065"/>
      </dsp:txXfrm>
    </dsp:sp>
    <dsp:sp modelId="{D9EF1E7D-2913-4A2E-9F8F-B606802EE786}">
      <dsp:nvSpPr>
        <dsp:cNvPr id="0" name=""/>
        <dsp:cNvSpPr/>
      </dsp:nvSpPr>
      <dsp:spPr>
        <a:xfrm>
          <a:off x="4590122" y="1510930"/>
          <a:ext cx="1088395" cy="544197"/>
        </a:xfrm>
        <a:prstGeom prst="roundRect">
          <a:avLst/>
        </a:prstGeom>
        <a:solidFill>
          <a:schemeClr val="accent5">
            <a:hueOff val="355716"/>
            <a:satOff val="0"/>
            <a:lumOff val="-14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dirty="0"/>
            <a:t>3. Sources</a:t>
          </a:r>
        </a:p>
      </dsp:txBody>
      <dsp:txXfrm>
        <a:off x="4616688" y="1537496"/>
        <a:ext cx="1035263" cy="491065"/>
      </dsp:txXfrm>
    </dsp:sp>
    <dsp:sp modelId="{C3755C42-9871-4E1B-8ACE-BF5FE1994A0C}">
      <dsp:nvSpPr>
        <dsp:cNvPr id="0" name=""/>
        <dsp:cNvSpPr/>
      </dsp:nvSpPr>
      <dsp:spPr>
        <a:xfrm>
          <a:off x="4373278" y="2740710"/>
          <a:ext cx="1088395" cy="544197"/>
        </a:xfrm>
        <a:prstGeom prst="roundRect">
          <a:avLst/>
        </a:prstGeom>
        <a:solidFill>
          <a:schemeClr val="accent5">
            <a:hueOff val="533574"/>
            <a:satOff val="0"/>
            <a:lumOff val="-213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dirty="0"/>
            <a:t>4. Analyse</a:t>
          </a:r>
        </a:p>
      </dsp:txBody>
      <dsp:txXfrm>
        <a:off x="4399844" y="2767276"/>
        <a:ext cx="1035263" cy="491065"/>
      </dsp:txXfrm>
    </dsp:sp>
    <dsp:sp modelId="{B325CE75-E45D-4992-A793-3ECC0BFD7496}">
      <dsp:nvSpPr>
        <dsp:cNvPr id="0" name=""/>
        <dsp:cNvSpPr/>
      </dsp:nvSpPr>
      <dsp:spPr>
        <a:xfrm>
          <a:off x="3414090" y="3545774"/>
          <a:ext cx="1487466" cy="544197"/>
        </a:xfrm>
        <a:prstGeom prst="roundRect">
          <a:avLst/>
        </a:prstGeom>
        <a:solidFill>
          <a:schemeClr val="accent5">
            <a:hueOff val="711432"/>
            <a:satOff val="0"/>
            <a:lumOff val="-28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5. Commande</a:t>
          </a:r>
        </a:p>
      </dsp:txBody>
      <dsp:txXfrm>
        <a:off x="3440656" y="3572340"/>
        <a:ext cx="1434334" cy="491065"/>
      </dsp:txXfrm>
    </dsp:sp>
    <dsp:sp modelId="{D069F6D5-DF1E-4077-8A28-5633FC03B7FC}">
      <dsp:nvSpPr>
        <dsp:cNvPr id="0" name=""/>
        <dsp:cNvSpPr/>
      </dsp:nvSpPr>
      <dsp:spPr>
        <a:xfrm>
          <a:off x="2167929" y="3543391"/>
          <a:ext cx="1088395" cy="544197"/>
        </a:xfrm>
        <a:prstGeom prst="roundRect">
          <a:avLst/>
        </a:prstGeom>
        <a:solidFill>
          <a:schemeClr val="accent5">
            <a:hueOff val="889290"/>
            <a:satOff val="0"/>
            <a:lumOff val="-355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6. Suivi</a:t>
          </a:r>
        </a:p>
      </dsp:txBody>
      <dsp:txXfrm>
        <a:off x="2194495" y="3569957"/>
        <a:ext cx="1035263" cy="491065"/>
      </dsp:txXfrm>
    </dsp:sp>
    <dsp:sp modelId="{4D80EF9D-1FF2-4A45-B8C2-1F6ADF7608AB}">
      <dsp:nvSpPr>
        <dsp:cNvPr id="0" name=""/>
        <dsp:cNvSpPr/>
      </dsp:nvSpPr>
      <dsp:spPr>
        <a:xfrm>
          <a:off x="1093680" y="2740710"/>
          <a:ext cx="1323695" cy="544197"/>
        </a:xfrm>
        <a:prstGeom prst="roundRect">
          <a:avLst/>
        </a:prstGeom>
        <a:solidFill>
          <a:schemeClr val="accent5">
            <a:hueOff val="1067148"/>
            <a:satOff val="0"/>
            <a:lumOff val="-42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7. Réception</a:t>
          </a:r>
        </a:p>
      </dsp:txBody>
      <dsp:txXfrm>
        <a:off x="1120246" y="2767276"/>
        <a:ext cx="1270563" cy="491065"/>
      </dsp:txXfrm>
    </dsp:sp>
    <dsp:sp modelId="{06C9A339-FDFB-4C58-B9E2-5143C66ADC3E}">
      <dsp:nvSpPr>
        <dsp:cNvPr id="0" name=""/>
        <dsp:cNvSpPr/>
      </dsp:nvSpPr>
      <dsp:spPr>
        <a:xfrm>
          <a:off x="848669" y="1510930"/>
          <a:ext cx="1380031" cy="544197"/>
        </a:xfrm>
        <a:prstGeom prst="roundRect">
          <a:avLst/>
        </a:prstGeom>
        <a:solidFill>
          <a:schemeClr val="accent5">
            <a:hueOff val="1245006"/>
            <a:satOff val="0"/>
            <a:lumOff val="-49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8. Paiement</a:t>
          </a:r>
        </a:p>
      </dsp:txBody>
      <dsp:txXfrm>
        <a:off x="875235" y="1537496"/>
        <a:ext cx="1326899" cy="491065"/>
      </dsp:txXfrm>
    </dsp:sp>
    <dsp:sp modelId="{C27C9478-B42F-4ABA-896F-CB5540A5CFE1}">
      <dsp:nvSpPr>
        <dsp:cNvPr id="0" name=""/>
        <dsp:cNvSpPr/>
      </dsp:nvSpPr>
      <dsp:spPr>
        <a:xfrm>
          <a:off x="1241392" y="499824"/>
          <a:ext cx="1505708" cy="544197"/>
        </a:xfrm>
        <a:prstGeom prst="roundRect">
          <a:avLst/>
        </a:prstGeom>
        <a:solidFill>
          <a:schemeClr val="accent5">
            <a:hueOff val="1422864"/>
            <a:satOff val="0"/>
            <a:lumOff val="-56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9. Rétroaction</a:t>
          </a:r>
        </a:p>
      </dsp:txBody>
      <dsp:txXfrm>
        <a:off x="1267958" y="526390"/>
        <a:ext cx="1452576" cy="4910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A3F9C6-CB0C-4979-9C76-15FC13D7097B}">
      <dsp:nvSpPr>
        <dsp:cNvPr id="0" name=""/>
        <dsp:cNvSpPr/>
      </dsp:nvSpPr>
      <dsp:spPr>
        <a:xfrm>
          <a:off x="1196042" y="-47068"/>
          <a:ext cx="4280918" cy="4280918"/>
        </a:xfrm>
        <a:prstGeom prst="circularArrow">
          <a:avLst>
            <a:gd name="adj1" fmla="val 5544"/>
            <a:gd name="adj2" fmla="val 330680"/>
            <a:gd name="adj3" fmla="val 14771386"/>
            <a:gd name="adj4" fmla="val 16805245"/>
            <a:gd name="adj5" fmla="val 5757"/>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DFFEBD-B8D0-4E45-845B-D028FEAE0BB5}">
      <dsp:nvSpPr>
        <dsp:cNvPr id="0" name=""/>
        <dsp:cNvSpPr/>
      </dsp:nvSpPr>
      <dsp:spPr>
        <a:xfrm>
          <a:off x="2792304" y="2382"/>
          <a:ext cx="1088395" cy="54419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1. Besoin</a:t>
          </a:r>
        </a:p>
      </dsp:txBody>
      <dsp:txXfrm>
        <a:off x="2818870" y="28948"/>
        <a:ext cx="1035263" cy="491065"/>
      </dsp:txXfrm>
    </dsp:sp>
    <dsp:sp modelId="{A67A52F9-0B7C-430E-917B-80289E3BF227}">
      <dsp:nvSpPr>
        <dsp:cNvPr id="0" name=""/>
        <dsp:cNvSpPr/>
      </dsp:nvSpPr>
      <dsp:spPr>
        <a:xfrm>
          <a:off x="3965746" y="429480"/>
          <a:ext cx="1088395" cy="544197"/>
        </a:xfrm>
        <a:prstGeom prst="roundRect">
          <a:avLst/>
        </a:prstGeom>
        <a:solidFill>
          <a:schemeClr val="accent5">
            <a:hueOff val="177858"/>
            <a:satOff val="0"/>
            <a:lumOff val="-7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2. Objet</a:t>
          </a:r>
        </a:p>
      </dsp:txBody>
      <dsp:txXfrm>
        <a:off x="3992312" y="456046"/>
        <a:ext cx="1035263" cy="491065"/>
      </dsp:txXfrm>
    </dsp:sp>
    <dsp:sp modelId="{D9EF1E7D-2913-4A2E-9F8F-B606802EE786}">
      <dsp:nvSpPr>
        <dsp:cNvPr id="0" name=""/>
        <dsp:cNvSpPr/>
      </dsp:nvSpPr>
      <dsp:spPr>
        <a:xfrm>
          <a:off x="4590122" y="1510930"/>
          <a:ext cx="1088395" cy="544197"/>
        </a:xfrm>
        <a:prstGeom prst="roundRect">
          <a:avLst/>
        </a:prstGeom>
        <a:solidFill>
          <a:schemeClr val="accent5">
            <a:hueOff val="355716"/>
            <a:satOff val="0"/>
            <a:lumOff val="-14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dirty="0"/>
            <a:t>3. Sources</a:t>
          </a:r>
        </a:p>
      </dsp:txBody>
      <dsp:txXfrm>
        <a:off x="4616688" y="1537496"/>
        <a:ext cx="1035263" cy="491065"/>
      </dsp:txXfrm>
    </dsp:sp>
    <dsp:sp modelId="{C3755C42-9871-4E1B-8ACE-BF5FE1994A0C}">
      <dsp:nvSpPr>
        <dsp:cNvPr id="0" name=""/>
        <dsp:cNvSpPr/>
      </dsp:nvSpPr>
      <dsp:spPr>
        <a:xfrm>
          <a:off x="4373278" y="2740710"/>
          <a:ext cx="1088395" cy="544197"/>
        </a:xfrm>
        <a:prstGeom prst="roundRect">
          <a:avLst/>
        </a:prstGeom>
        <a:solidFill>
          <a:schemeClr val="accent5">
            <a:hueOff val="533574"/>
            <a:satOff val="0"/>
            <a:lumOff val="-213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dirty="0"/>
            <a:t>4. Analyse</a:t>
          </a:r>
        </a:p>
      </dsp:txBody>
      <dsp:txXfrm>
        <a:off x="4399844" y="2767276"/>
        <a:ext cx="1035263" cy="491065"/>
      </dsp:txXfrm>
    </dsp:sp>
    <dsp:sp modelId="{B325CE75-E45D-4992-A793-3ECC0BFD7496}">
      <dsp:nvSpPr>
        <dsp:cNvPr id="0" name=""/>
        <dsp:cNvSpPr/>
      </dsp:nvSpPr>
      <dsp:spPr>
        <a:xfrm>
          <a:off x="3414090" y="3545774"/>
          <a:ext cx="1487466" cy="544197"/>
        </a:xfrm>
        <a:prstGeom prst="roundRect">
          <a:avLst/>
        </a:prstGeom>
        <a:solidFill>
          <a:schemeClr val="accent5">
            <a:hueOff val="711432"/>
            <a:satOff val="0"/>
            <a:lumOff val="-28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5. Commande</a:t>
          </a:r>
        </a:p>
      </dsp:txBody>
      <dsp:txXfrm>
        <a:off x="3440656" y="3572340"/>
        <a:ext cx="1434334" cy="491065"/>
      </dsp:txXfrm>
    </dsp:sp>
    <dsp:sp modelId="{D069F6D5-DF1E-4077-8A28-5633FC03B7FC}">
      <dsp:nvSpPr>
        <dsp:cNvPr id="0" name=""/>
        <dsp:cNvSpPr/>
      </dsp:nvSpPr>
      <dsp:spPr>
        <a:xfrm>
          <a:off x="2167929" y="3543391"/>
          <a:ext cx="1088395" cy="544197"/>
        </a:xfrm>
        <a:prstGeom prst="roundRect">
          <a:avLst/>
        </a:prstGeom>
        <a:solidFill>
          <a:schemeClr val="accent5">
            <a:hueOff val="889290"/>
            <a:satOff val="0"/>
            <a:lumOff val="-355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6. Suivi</a:t>
          </a:r>
        </a:p>
      </dsp:txBody>
      <dsp:txXfrm>
        <a:off x="2194495" y="3569957"/>
        <a:ext cx="1035263" cy="491065"/>
      </dsp:txXfrm>
    </dsp:sp>
    <dsp:sp modelId="{4D80EF9D-1FF2-4A45-B8C2-1F6ADF7608AB}">
      <dsp:nvSpPr>
        <dsp:cNvPr id="0" name=""/>
        <dsp:cNvSpPr/>
      </dsp:nvSpPr>
      <dsp:spPr>
        <a:xfrm>
          <a:off x="1102474" y="2740710"/>
          <a:ext cx="1306107" cy="544197"/>
        </a:xfrm>
        <a:prstGeom prst="roundRect">
          <a:avLst/>
        </a:prstGeom>
        <a:solidFill>
          <a:schemeClr val="accent5">
            <a:hueOff val="1067148"/>
            <a:satOff val="0"/>
            <a:lumOff val="-42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7. Réception</a:t>
          </a:r>
        </a:p>
      </dsp:txBody>
      <dsp:txXfrm>
        <a:off x="1129040" y="2767276"/>
        <a:ext cx="1252975" cy="491065"/>
      </dsp:txXfrm>
    </dsp:sp>
    <dsp:sp modelId="{06C9A339-FDFB-4C58-B9E2-5143C66ADC3E}">
      <dsp:nvSpPr>
        <dsp:cNvPr id="0" name=""/>
        <dsp:cNvSpPr/>
      </dsp:nvSpPr>
      <dsp:spPr>
        <a:xfrm>
          <a:off x="848669" y="1510930"/>
          <a:ext cx="1380031" cy="544197"/>
        </a:xfrm>
        <a:prstGeom prst="roundRect">
          <a:avLst/>
        </a:prstGeom>
        <a:solidFill>
          <a:schemeClr val="accent5">
            <a:hueOff val="1245006"/>
            <a:satOff val="0"/>
            <a:lumOff val="-49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8. Paiement</a:t>
          </a:r>
        </a:p>
      </dsp:txBody>
      <dsp:txXfrm>
        <a:off x="875235" y="1537496"/>
        <a:ext cx="1326899" cy="491065"/>
      </dsp:txXfrm>
    </dsp:sp>
    <dsp:sp modelId="{C27C9478-B42F-4ABA-896F-CB5540A5CFE1}">
      <dsp:nvSpPr>
        <dsp:cNvPr id="0" name=""/>
        <dsp:cNvSpPr/>
      </dsp:nvSpPr>
      <dsp:spPr>
        <a:xfrm>
          <a:off x="1241392" y="499824"/>
          <a:ext cx="1505708" cy="544197"/>
        </a:xfrm>
        <a:prstGeom prst="roundRect">
          <a:avLst/>
        </a:prstGeom>
        <a:solidFill>
          <a:schemeClr val="accent5">
            <a:hueOff val="1422864"/>
            <a:satOff val="0"/>
            <a:lumOff val="-56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noProof="0" dirty="0"/>
            <a:t>9. Rétroaction</a:t>
          </a:r>
        </a:p>
      </dsp:txBody>
      <dsp:txXfrm>
        <a:off x="1267958" y="526390"/>
        <a:ext cx="1452576" cy="4910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605A9-FD90-4123-83F3-994EDA406DE9}">
      <dsp:nvSpPr>
        <dsp:cNvPr id="0" name=""/>
        <dsp:cNvSpPr/>
      </dsp:nvSpPr>
      <dsp:spPr>
        <a:xfrm>
          <a:off x="604145" y="0"/>
          <a:ext cx="6957377" cy="3187700"/>
        </a:xfrm>
        <a:prstGeom prst="rightArrow">
          <a:avLst/>
        </a:prstGeom>
        <a:blipFill rotWithShape="0">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sp>
    <dsp:sp modelId="{13F10BC0-174A-418A-B1D8-BBEF06937C26}">
      <dsp:nvSpPr>
        <dsp:cNvPr id="0" name=""/>
        <dsp:cNvSpPr/>
      </dsp:nvSpPr>
      <dsp:spPr>
        <a:xfrm>
          <a:off x="8792" y="956310"/>
          <a:ext cx="2634595" cy="1275080"/>
        </a:xfrm>
        <a:prstGeom prst="roundRect">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CA" sz="2100" kern="1200" dirty="0"/>
            <a:t>Approvisionnement</a:t>
          </a:r>
        </a:p>
      </dsp:txBody>
      <dsp:txXfrm>
        <a:off x="71036" y="1018554"/>
        <a:ext cx="2510107" cy="1150592"/>
      </dsp:txXfrm>
    </dsp:sp>
    <dsp:sp modelId="{AE8CCF3A-3388-472E-8587-B757B63B94C9}">
      <dsp:nvSpPr>
        <dsp:cNvPr id="0" name=""/>
        <dsp:cNvSpPr/>
      </dsp:nvSpPr>
      <dsp:spPr>
        <a:xfrm>
          <a:off x="2775277" y="956310"/>
          <a:ext cx="2634595" cy="1275080"/>
        </a:xfrm>
        <a:prstGeom prst="roundRect">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CA" sz="2100" kern="1200" dirty="0"/>
            <a:t>Planification de production</a:t>
          </a:r>
        </a:p>
      </dsp:txBody>
      <dsp:txXfrm>
        <a:off x="2837521" y="1018554"/>
        <a:ext cx="2510107" cy="1150592"/>
      </dsp:txXfrm>
    </dsp:sp>
    <dsp:sp modelId="{44CDD666-B2DB-4669-86B9-33B6E44895F2}">
      <dsp:nvSpPr>
        <dsp:cNvPr id="0" name=""/>
        <dsp:cNvSpPr/>
      </dsp:nvSpPr>
      <dsp:spPr>
        <a:xfrm>
          <a:off x="5541762" y="956310"/>
          <a:ext cx="2634595" cy="1275080"/>
        </a:xfrm>
        <a:prstGeom prst="roundRect">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CA" sz="2100" kern="1200" dirty="0"/>
            <a:t>Distribution</a:t>
          </a:r>
        </a:p>
      </dsp:txBody>
      <dsp:txXfrm>
        <a:off x="5604006" y="1018554"/>
        <a:ext cx="2510107" cy="1150592"/>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2025-06-26</a:t>
            </a:fld>
            <a:endParaRPr lang="fr-CA"/>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a:t>
            </a:fld>
            <a:endParaRPr lang="fr-CA"/>
          </a:p>
        </p:txBody>
      </p:sp>
    </p:spTree>
    <p:extLst>
      <p:ext uri="{BB962C8B-B14F-4D97-AF65-F5344CB8AC3E}">
        <p14:creationId xmlns:p14="http://schemas.microsoft.com/office/powerpoint/2010/main" val="2054187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notes 2"/>
          <p:cNvSpPr>
            <a:spLocks noGrp="1"/>
          </p:cNvSpPr>
          <p:nvPr>
            <p:ph type="body" idx="1"/>
          </p:nvPr>
        </p:nvSpPr>
        <p:spPr/>
        <p:txBody>
          <a:bodyPr/>
          <a:lstStyle/>
          <a:p>
            <a:endParaRPr lang="fr-CA" sz="160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30356955-E7F5-4C62-9A91-B450AF802881}" type="slidenum">
              <a:rPr lang="fr-CA" smtClean="0"/>
              <a:pPr/>
              <a:t>2</a:t>
            </a:fld>
            <a:endParaRPr lang="fr-CA"/>
          </a:p>
        </p:txBody>
      </p:sp>
    </p:spTree>
    <p:extLst>
      <p:ext uri="{BB962C8B-B14F-4D97-AF65-F5344CB8AC3E}">
        <p14:creationId xmlns:p14="http://schemas.microsoft.com/office/powerpoint/2010/main" val="900966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4013" y="703263"/>
            <a:ext cx="6173787" cy="3473450"/>
          </a:xfrm>
        </p:spPr>
      </p:sp>
      <p:sp>
        <p:nvSpPr>
          <p:cNvPr id="3" name="Espace réservé des commentaires 2"/>
          <p:cNvSpPr>
            <a:spLocks noGrp="1"/>
          </p:cNvSpPr>
          <p:nvPr>
            <p:ph type="body" idx="1"/>
          </p:nvPr>
        </p:nvSpPr>
        <p:spPr/>
        <p:txBody>
          <a:bodyPr>
            <a:normAutofit/>
          </a:bodyPr>
          <a:lstStyle/>
          <a:p>
            <a:endParaRPr lang="fr-CA" sz="160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94D93E-3EEA-4831-AF93-258CBD329D39}"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66860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659049-61BB-4527-8CBF-031E6E2020E8}" type="slidenum">
              <a:rPr kumimoji="0" lang="fr-CA"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
        <p:nvSpPr>
          <p:cNvPr id="307202" name="Rectangle 2"/>
          <p:cNvSpPr>
            <a:spLocks noGrp="1" noRot="1" noChangeAspect="1" noChangeArrowheads="1" noTextEdit="1"/>
          </p:cNvSpPr>
          <p:nvPr>
            <p:ph type="sldImg"/>
          </p:nvPr>
        </p:nvSpPr>
        <p:spPr>
          <a:xfrm>
            <a:off x="354013" y="703263"/>
            <a:ext cx="6173787" cy="3473450"/>
          </a:xfrm>
          <a:ln/>
        </p:spPr>
      </p:sp>
      <p:sp>
        <p:nvSpPr>
          <p:cNvPr id="307203" name="Rectangle 3"/>
          <p:cNvSpPr>
            <a:spLocks noGrp="1" noChangeArrowheads="1"/>
          </p:cNvSpPr>
          <p:nvPr>
            <p:ph type="body" idx="1"/>
          </p:nvPr>
        </p:nvSpPr>
        <p:spPr/>
        <p:txBody>
          <a:bodyPr/>
          <a:lstStyle/>
          <a:p>
            <a:endParaRPr lang="fr-CA" sz="1600" dirty="0">
              <a:latin typeface="Arial" pitchFamily="34" charset="0"/>
              <a:cs typeface="Arial" pitchFamily="34" charset="0"/>
            </a:endParaRPr>
          </a:p>
        </p:txBody>
      </p:sp>
    </p:spTree>
    <p:extLst>
      <p:ext uri="{BB962C8B-B14F-4D97-AF65-F5344CB8AC3E}">
        <p14:creationId xmlns:p14="http://schemas.microsoft.com/office/powerpoint/2010/main" val="2593273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sz="160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8</a:t>
            </a:fld>
            <a:endParaRPr lang="fr-CA"/>
          </a:p>
        </p:txBody>
      </p:sp>
      <p:graphicFrame>
        <p:nvGraphicFramePr>
          <p:cNvPr id="5" name="Tableau 4">
            <a:extLst>
              <a:ext uri="{FF2B5EF4-FFF2-40B4-BE49-F238E27FC236}">
                <a16:creationId xmlns:a16="http://schemas.microsoft.com/office/drawing/2014/main" id="{18B5025D-0999-31D7-CA2D-137806F949A9}"/>
              </a:ext>
            </a:extLst>
          </p:cNvPr>
          <p:cNvGraphicFramePr>
            <a:graphicFrameLocks noGrp="1"/>
          </p:cNvGraphicFramePr>
          <p:nvPr>
            <p:extLst>
              <p:ext uri="{D42A27DB-BD31-4B8C-83A1-F6EECF244321}">
                <p14:modId xmlns:p14="http://schemas.microsoft.com/office/powerpoint/2010/main" val="2360332149"/>
              </p:ext>
            </p:extLst>
          </p:nvPr>
        </p:nvGraphicFramePr>
        <p:xfrm>
          <a:off x="826977" y="5360306"/>
          <a:ext cx="4734984" cy="1112520"/>
        </p:xfrm>
        <a:graphic>
          <a:graphicData uri="http://schemas.openxmlformats.org/drawingml/2006/table">
            <a:tbl>
              <a:tblPr firstRow="1" bandRow="1">
                <a:tableStyleId>{2D5ABB26-0587-4C30-8999-92F81FD0307C}</a:tableStyleId>
              </a:tblPr>
              <a:tblGrid>
                <a:gridCol w="1578328">
                  <a:extLst>
                    <a:ext uri="{9D8B030D-6E8A-4147-A177-3AD203B41FA5}">
                      <a16:colId xmlns:a16="http://schemas.microsoft.com/office/drawing/2014/main" val="3477108400"/>
                    </a:ext>
                  </a:extLst>
                </a:gridCol>
                <a:gridCol w="1578328">
                  <a:extLst>
                    <a:ext uri="{9D8B030D-6E8A-4147-A177-3AD203B41FA5}">
                      <a16:colId xmlns:a16="http://schemas.microsoft.com/office/drawing/2014/main" val="3828528531"/>
                    </a:ext>
                  </a:extLst>
                </a:gridCol>
                <a:gridCol w="1578328">
                  <a:extLst>
                    <a:ext uri="{9D8B030D-6E8A-4147-A177-3AD203B41FA5}">
                      <a16:colId xmlns:a16="http://schemas.microsoft.com/office/drawing/2014/main" val="691589713"/>
                    </a:ext>
                  </a:extLst>
                </a:gridCol>
              </a:tblGrid>
              <a:tr h="370840">
                <a:tc>
                  <a:txBody>
                    <a:bodyPr/>
                    <a:lstStyle/>
                    <a:p>
                      <a:pPr algn="ctr"/>
                      <a:r>
                        <a:rPr lang="fr-CA" noProof="0" dirty="0"/>
                        <a:t>Coûts des 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CA" noProof="0" dirty="0"/>
                        <a:t>12,60 $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CA" noProof="0" dirty="0"/>
                        <a:t>185 850,00 $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289458"/>
                  </a:ext>
                </a:extLst>
              </a:tr>
              <a:tr h="370840">
                <a:tc>
                  <a:txBody>
                    <a:bodyPr/>
                    <a:lstStyle/>
                    <a:p>
                      <a:pPr algn="ctr"/>
                      <a:r>
                        <a:rPr lang="fr-CA" noProof="0" dirty="0"/>
                        <a:t>Profit 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CA" noProof="0" dirty="0"/>
                        <a:t>4,15$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CA" noProof="0" dirty="0"/>
                        <a:t>61 212,50 $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6523303"/>
                  </a:ext>
                </a:extLst>
              </a:tr>
              <a:tr h="370840">
                <a:tc>
                  <a:txBody>
                    <a:bodyPr/>
                    <a:lstStyle/>
                    <a:p>
                      <a:pPr algn="ctr"/>
                      <a:r>
                        <a:rPr lang="fr-CA" noProof="0" dirty="0"/>
                        <a:t>% des ventes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fr-CA"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CA" noProof="0" dirty="0"/>
                        <a:t>20,75 %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493316"/>
                  </a:ext>
                </a:extLst>
              </a:tr>
            </a:tbl>
          </a:graphicData>
        </a:graphic>
      </p:graphicFrame>
    </p:spTree>
    <p:extLst>
      <p:ext uri="{BB962C8B-B14F-4D97-AF65-F5344CB8AC3E}">
        <p14:creationId xmlns:p14="http://schemas.microsoft.com/office/powerpoint/2010/main" val="558997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A9599325-A024-46BF-904D-69E42C64EB82}" type="slidenum">
              <a:rPr lang="fr-CA"/>
              <a:pPr/>
              <a:t>9</a:t>
            </a:fld>
            <a:endParaRPr lang="fr-CA" dirty="0"/>
          </a:p>
        </p:txBody>
      </p:sp>
      <p:sp>
        <p:nvSpPr>
          <p:cNvPr id="305154" name="Rectangle 2"/>
          <p:cNvSpPr>
            <a:spLocks noGrp="1" noRot="1" noChangeAspect="1" noChangeArrowheads="1" noTextEdit="1"/>
          </p:cNvSpPr>
          <p:nvPr>
            <p:ph type="sldImg"/>
          </p:nvPr>
        </p:nvSpPr>
        <p:spPr>
          <a:xfrm>
            <a:off x="354013" y="703263"/>
            <a:ext cx="6173787" cy="3473450"/>
          </a:xfrm>
          <a:ln/>
        </p:spPr>
      </p:sp>
      <p:sp>
        <p:nvSpPr>
          <p:cNvPr id="305155" name="Rectangle 3"/>
          <p:cNvSpPr>
            <a:spLocks noGrp="1" noChangeArrowheads="1"/>
          </p:cNvSpPr>
          <p:nvPr>
            <p:ph type="body" idx="1"/>
          </p:nvPr>
        </p:nvSpPr>
        <p:spPr/>
        <p:txBody>
          <a:bodyPr/>
          <a:lstStyle/>
          <a:p>
            <a:endParaRPr lang="fr-CA" sz="1400" b="0" dirty="0">
              <a:latin typeface="Arial" pitchFamily="34" charset="0"/>
              <a:cs typeface="Arial" pitchFamily="34" charset="0"/>
            </a:endParaRPr>
          </a:p>
        </p:txBody>
      </p:sp>
    </p:spTree>
    <p:extLst>
      <p:ext uri="{BB962C8B-B14F-4D97-AF65-F5344CB8AC3E}">
        <p14:creationId xmlns:p14="http://schemas.microsoft.com/office/powerpoint/2010/main" val="2380441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076780DB-CEBA-4BBF-B069-6F742B1C7315}" type="slidenum">
              <a:rPr lang="fr-CA"/>
              <a:pPr/>
              <a:t>10</a:t>
            </a:fld>
            <a:endParaRPr lang="fr-CA"/>
          </a:p>
        </p:txBody>
      </p:sp>
      <p:sp>
        <p:nvSpPr>
          <p:cNvPr id="308226" name="Rectangle 2"/>
          <p:cNvSpPr>
            <a:spLocks noGrp="1" noRot="1" noChangeAspect="1" noChangeArrowheads="1" noTextEdit="1"/>
          </p:cNvSpPr>
          <p:nvPr>
            <p:ph type="sldImg"/>
          </p:nvPr>
        </p:nvSpPr>
        <p:spPr>
          <a:xfrm>
            <a:off x="354013" y="703263"/>
            <a:ext cx="6173787" cy="3473450"/>
          </a:xfrm>
          <a:ln/>
        </p:spPr>
      </p:sp>
      <p:sp>
        <p:nvSpPr>
          <p:cNvPr id="308227" name="Rectangle 3"/>
          <p:cNvSpPr>
            <a:spLocks noGrp="1" noChangeArrowheads="1"/>
          </p:cNvSpPr>
          <p:nvPr>
            <p:ph type="body" idx="1"/>
          </p:nvPr>
        </p:nvSpPr>
        <p:spPr/>
        <p:txBody>
          <a:bodyPr/>
          <a:lstStyle/>
          <a:p>
            <a:endParaRPr lang="en-US" dirty="0">
              <a:latin typeface="Arial" pitchFamily="34" charset="0"/>
              <a:cs typeface="Arial" pitchFamily="34" charset="0"/>
            </a:endParaRPr>
          </a:p>
        </p:txBody>
      </p:sp>
    </p:spTree>
    <p:extLst>
      <p:ext uri="{BB962C8B-B14F-4D97-AF65-F5344CB8AC3E}">
        <p14:creationId xmlns:p14="http://schemas.microsoft.com/office/powerpoint/2010/main" val="3434299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B9D7B3-518A-4DA0-981F-3D8FEC73DB33}" type="slidenum">
              <a:rPr lang="en-US"/>
              <a:pPr/>
              <a:t>11</a:t>
            </a:fld>
            <a:endParaRPr lang="en-US"/>
          </a:p>
        </p:txBody>
      </p:sp>
      <p:sp>
        <p:nvSpPr>
          <p:cNvPr id="153602" name="Rectangle 2"/>
          <p:cNvSpPr>
            <a:spLocks noGrp="1" noRot="1" noChangeAspect="1" noChangeArrowheads="1" noTextEdit="1"/>
          </p:cNvSpPr>
          <p:nvPr>
            <p:ph type="sldImg"/>
          </p:nvPr>
        </p:nvSpPr>
        <p:spPr>
          <a:xfrm>
            <a:off x="422275" y="703263"/>
            <a:ext cx="5638800" cy="3173412"/>
          </a:xfrm>
          <a:ln/>
        </p:spPr>
      </p:sp>
      <p:sp>
        <p:nvSpPr>
          <p:cNvPr id="153603" name="Rectangle 3"/>
          <p:cNvSpPr>
            <a:spLocks noGrp="1" noChangeArrowheads="1"/>
          </p:cNvSpPr>
          <p:nvPr>
            <p:ph type="body" idx="1"/>
          </p:nvPr>
        </p:nvSpPr>
        <p:spPr>
          <a:xfrm>
            <a:off x="551544" y="4020457"/>
            <a:ext cx="5412696" cy="4611002"/>
          </a:xfrm>
        </p:spPr>
        <p:txBody>
          <a:bodyPr/>
          <a:lstStyle/>
          <a:p>
            <a:pPr marL="230181" indent="-230181" defTabSz="767270"/>
            <a:endParaRPr lang="fr-CA" dirty="0">
              <a:latin typeface="Arial" pitchFamily="34" charset="0"/>
              <a:cs typeface="Arial" pitchFamily="34" charset="0"/>
            </a:endParaRPr>
          </a:p>
        </p:txBody>
      </p:sp>
    </p:spTree>
    <p:extLst>
      <p:ext uri="{BB962C8B-B14F-4D97-AF65-F5344CB8AC3E}">
        <p14:creationId xmlns:p14="http://schemas.microsoft.com/office/powerpoint/2010/main" val="9282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B9D7B3-518A-4DA0-981F-3D8FEC73DB33}" type="slidenum">
              <a:rPr lang="en-US"/>
              <a:pPr/>
              <a:t>12</a:t>
            </a:fld>
            <a:endParaRPr lang="en-US"/>
          </a:p>
        </p:txBody>
      </p:sp>
      <p:sp>
        <p:nvSpPr>
          <p:cNvPr id="153602" name="Rectangle 2"/>
          <p:cNvSpPr>
            <a:spLocks noGrp="1" noRot="1" noChangeAspect="1" noChangeArrowheads="1" noTextEdit="1"/>
          </p:cNvSpPr>
          <p:nvPr>
            <p:ph type="sldImg"/>
          </p:nvPr>
        </p:nvSpPr>
        <p:spPr>
          <a:xfrm>
            <a:off x="422275" y="703263"/>
            <a:ext cx="5638800" cy="3173412"/>
          </a:xfrm>
          <a:ln/>
        </p:spPr>
      </p:sp>
      <p:sp>
        <p:nvSpPr>
          <p:cNvPr id="153603" name="Rectangle 3"/>
          <p:cNvSpPr>
            <a:spLocks noGrp="1" noChangeArrowheads="1"/>
          </p:cNvSpPr>
          <p:nvPr>
            <p:ph type="body" idx="1"/>
          </p:nvPr>
        </p:nvSpPr>
        <p:spPr>
          <a:xfrm>
            <a:off x="551544" y="4020457"/>
            <a:ext cx="5412696" cy="4611002"/>
          </a:xfrm>
        </p:spPr>
        <p:txBody>
          <a:bodyPr/>
          <a:lstStyle/>
          <a:p>
            <a:pPr marL="230181" indent="-230181" defTabSz="767270"/>
            <a:endParaRPr lang="fr-CA" dirty="0">
              <a:latin typeface="Arial" pitchFamily="34" charset="0"/>
              <a:cs typeface="Arial" pitchFamily="34" charset="0"/>
            </a:endParaRPr>
          </a:p>
        </p:txBody>
      </p:sp>
    </p:spTree>
    <p:extLst>
      <p:ext uri="{BB962C8B-B14F-4D97-AF65-F5344CB8AC3E}">
        <p14:creationId xmlns:p14="http://schemas.microsoft.com/office/powerpoint/2010/main" val="946258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sz="1600" noProof="0" dirty="0">
              <a:latin typeface="Arial" panose="020B0604020202020204" pitchFamily="34" charset="0"/>
              <a:cs typeface="Arial" panose="020B0604020202020204" pitchFamily="34" charset="0"/>
            </a:endParaRPr>
          </a:p>
          <a:p>
            <a:endParaRPr lang="fr-CA" sz="1600" noProof="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BC42A-5C03-431D-B855-CCCF13E3B37E}"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4947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4013" y="703263"/>
            <a:ext cx="6173787" cy="3473450"/>
          </a:xfrm>
        </p:spPr>
      </p:sp>
      <p:sp>
        <p:nvSpPr>
          <p:cNvPr id="3" name="Espace réservé des commentaires 2"/>
          <p:cNvSpPr>
            <a:spLocks noGrp="1"/>
          </p:cNvSpPr>
          <p:nvPr>
            <p:ph type="body" idx="1"/>
          </p:nvPr>
        </p:nvSpPr>
        <p:spPr/>
        <p:txBody>
          <a:bodyPr>
            <a:normAutofit/>
          </a:bodyPr>
          <a:lstStyle/>
          <a:p>
            <a:endParaRPr lang="fr-CA" dirty="0"/>
          </a:p>
        </p:txBody>
      </p:sp>
      <p:sp>
        <p:nvSpPr>
          <p:cNvPr id="4" name="Espace réservé du numéro de diapositive 3"/>
          <p:cNvSpPr>
            <a:spLocks noGrp="1"/>
          </p:cNvSpPr>
          <p:nvPr>
            <p:ph type="sldNum" sz="quarter" idx="10"/>
          </p:nvPr>
        </p:nvSpPr>
        <p:spPr/>
        <p:txBody>
          <a:bodyPr/>
          <a:lstStyle/>
          <a:p>
            <a:fld id="{3EB5C29C-4082-41B2-ACBE-34DEBDBE39AE}" type="slidenum">
              <a:rPr lang="fr-CA" smtClean="0"/>
              <a:pPr/>
              <a:t>15</a:t>
            </a:fld>
            <a:endParaRPr lang="fr-CA"/>
          </a:p>
        </p:txBody>
      </p:sp>
    </p:spTree>
    <p:extLst>
      <p:ext uri="{BB962C8B-B14F-4D97-AF65-F5344CB8AC3E}">
        <p14:creationId xmlns:p14="http://schemas.microsoft.com/office/powerpoint/2010/main" val="4020571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EEA51294-EF0E-4383-B8D2-BEC077E99901}" type="slidenum">
              <a:rPr lang="fr-CA"/>
              <a:pPr/>
              <a:t>16</a:t>
            </a:fld>
            <a:endParaRPr lang="fr-CA"/>
          </a:p>
        </p:txBody>
      </p:sp>
      <p:sp>
        <p:nvSpPr>
          <p:cNvPr id="312322" name="Rectangle 2"/>
          <p:cNvSpPr>
            <a:spLocks noGrp="1" noRot="1" noChangeAspect="1" noChangeArrowheads="1" noTextEdit="1"/>
          </p:cNvSpPr>
          <p:nvPr>
            <p:ph type="sldImg"/>
          </p:nvPr>
        </p:nvSpPr>
        <p:spPr>
          <a:xfrm>
            <a:off x="354013" y="703263"/>
            <a:ext cx="6173787" cy="3473450"/>
          </a:xfrm>
          <a:ln/>
        </p:spPr>
      </p:sp>
      <p:sp>
        <p:nvSpPr>
          <p:cNvPr id="312323" name="Rectangle 3"/>
          <p:cNvSpPr>
            <a:spLocks noGrp="1" noChangeArrowheads="1"/>
          </p:cNvSpPr>
          <p:nvPr>
            <p:ph type="body" idx="1"/>
          </p:nvPr>
        </p:nvSpPr>
        <p:spPr/>
        <p:txBody>
          <a:bodyPr/>
          <a:lstStyle/>
          <a:p>
            <a:endParaRPr lang="fr-CA" sz="1400" dirty="0">
              <a:latin typeface="Arial" pitchFamily="34" charset="0"/>
              <a:cs typeface="Arial" pitchFamily="34" charset="0"/>
            </a:endParaRPr>
          </a:p>
        </p:txBody>
      </p:sp>
    </p:spTree>
    <p:extLst>
      <p:ext uri="{BB962C8B-B14F-4D97-AF65-F5344CB8AC3E}">
        <p14:creationId xmlns:p14="http://schemas.microsoft.com/office/powerpoint/2010/main" val="2016579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Espace réservé de l'image des diapositives 1"/>
          <p:cNvSpPr>
            <a:spLocks noGrp="1" noRot="1" noChangeAspect="1" noTextEdit="1"/>
          </p:cNvSpPr>
          <p:nvPr>
            <p:ph type="sldImg"/>
          </p:nvPr>
        </p:nvSpPr>
        <p:spPr>
          <a:xfrm>
            <a:off x="512763" y="695325"/>
            <a:ext cx="6102350" cy="3432175"/>
          </a:xfrm>
          <a:ln/>
        </p:spPr>
      </p:sp>
      <p:sp>
        <p:nvSpPr>
          <p:cNvPr id="38915" name="Espace réservé des commentaires 2"/>
          <p:cNvSpPr>
            <a:spLocks noGrp="1"/>
          </p:cNvSpPr>
          <p:nvPr>
            <p:ph type="body" idx="1"/>
          </p:nvPr>
        </p:nvSpPr>
        <p:spPr>
          <a:noFill/>
          <a:ln/>
        </p:spPr>
        <p:txBody>
          <a:bodyPr/>
          <a:lstStyle/>
          <a:p>
            <a:endParaRPr lang="fr-FR" sz="1600" dirty="0">
              <a:latin typeface="Arial" pitchFamily="34" charset="0"/>
              <a:cs typeface="Arial" pitchFamily="34" charset="0"/>
            </a:endParaRPr>
          </a:p>
        </p:txBody>
      </p:sp>
      <p:sp>
        <p:nvSpPr>
          <p:cNvPr id="38916" name="Espace réservé du numéro de diapositive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C40390-2E99-4BB3-A491-8FC7A12FA92C}"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57915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CA" dirty="0"/>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20</a:t>
            </a:fld>
            <a:endParaRPr lang="fr-CA"/>
          </a:p>
        </p:txBody>
      </p:sp>
    </p:spTree>
    <p:extLst>
      <p:ext uri="{BB962C8B-B14F-4D97-AF65-F5344CB8AC3E}">
        <p14:creationId xmlns:p14="http://schemas.microsoft.com/office/powerpoint/2010/main" val="3354424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CA" sz="1600" i="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pPr>
              <a:defRPr/>
            </a:pPr>
            <a:fld id="{04282998-05F4-4EA7-8AEE-1A81CA26A297}" type="slidenum">
              <a:rPr lang="fr-CA" smtClean="0"/>
              <a:pPr>
                <a:defRPr/>
              </a:pPr>
              <a:t>21</a:t>
            </a:fld>
            <a:endParaRPr lang="fr-CA"/>
          </a:p>
        </p:txBody>
      </p:sp>
    </p:spTree>
    <p:extLst>
      <p:ext uri="{BB962C8B-B14F-4D97-AF65-F5344CB8AC3E}">
        <p14:creationId xmlns:p14="http://schemas.microsoft.com/office/powerpoint/2010/main" val="3897159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4013" y="703263"/>
            <a:ext cx="6173787" cy="3473450"/>
          </a:xfrm>
        </p:spPr>
      </p:sp>
      <p:sp>
        <p:nvSpPr>
          <p:cNvPr id="3" name="Espace réservé des commentaires 2"/>
          <p:cNvSpPr>
            <a:spLocks noGrp="1"/>
          </p:cNvSpPr>
          <p:nvPr>
            <p:ph type="body" idx="1"/>
          </p:nvPr>
        </p:nvSpPr>
        <p:spPr/>
        <p:txBody>
          <a:bodyPr>
            <a:normAutofit/>
          </a:bodyPr>
          <a:lstStyle/>
          <a:p>
            <a:endParaRPr lang="fr-CA" sz="160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fld id="{1194D93E-3EEA-4831-AF93-258CBD329D39}" type="slidenum">
              <a:rPr lang="fr-CA" smtClean="0"/>
              <a:pPr/>
              <a:t>22</a:t>
            </a:fld>
            <a:endParaRPr lang="fr-CA"/>
          </a:p>
        </p:txBody>
      </p:sp>
    </p:spTree>
    <p:extLst>
      <p:ext uri="{BB962C8B-B14F-4D97-AF65-F5344CB8AC3E}">
        <p14:creationId xmlns:p14="http://schemas.microsoft.com/office/powerpoint/2010/main" val="3409304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4013" y="703263"/>
            <a:ext cx="6173787" cy="3473450"/>
          </a:xfrm>
        </p:spPr>
      </p:sp>
      <p:sp>
        <p:nvSpPr>
          <p:cNvPr id="3" name="Espace réservé des commentaires 2"/>
          <p:cNvSpPr>
            <a:spLocks noGrp="1"/>
          </p:cNvSpPr>
          <p:nvPr>
            <p:ph type="body" idx="1"/>
          </p:nvPr>
        </p:nvSpPr>
        <p:spPr/>
        <p:txBody>
          <a:bodyPr/>
          <a:lstStyle/>
          <a:p>
            <a:endParaRPr lang="fr-CA" sz="160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pPr>
              <a:defRPr/>
            </a:pPr>
            <a:fld id="{04282998-05F4-4EA7-8AEE-1A81CA26A297}" type="slidenum">
              <a:rPr lang="fr-CA" smtClean="0"/>
              <a:pPr>
                <a:defRPr/>
              </a:pPr>
              <a:t>23</a:t>
            </a:fld>
            <a:endParaRPr lang="fr-CA"/>
          </a:p>
        </p:txBody>
      </p:sp>
    </p:spTree>
    <p:extLst>
      <p:ext uri="{BB962C8B-B14F-4D97-AF65-F5344CB8AC3E}">
        <p14:creationId xmlns:p14="http://schemas.microsoft.com/office/powerpoint/2010/main" val="3131503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4013" y="703263"/>
            <a:ext cx="6173787" cy="3473450"/>
          </a:xfrm>
        </p:spPr>
      </p:sp>
      <p:sp>
        <p:nvSpPr>
          <p:cNvPr id="3" name="Espace réservé des commentaires 2"/>
          <p:cNvSpPr>
            <a:spLocks noGrp="1"/>
          </p:cNvSpPr>
          <p:nvPr>
            <p:ph type="body" idx="1"/>
          </p:nvPr>
        </p:nvSpPr>
        <p:spPr/>
        <p:txBody>
          <a:bodyPr>
            <a:normAutofit/>
          </a:bodyPr>
          <a:lstStyle/>
          <a:p>
            <a:pPr>
              <a:buFont typeface="Arial" pitchFamily="34" charset="0"/>
              <a:buNone/>
            </a:pPr>
            <a:endParaRPr lang="fr-CA" sz="160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fld id="{1194D93E-3EEA-4831-AF93-258CBD329D39}" type="slidenum">
              <a:rPr lang="fr-CA" smtClean="0"/>
              <a:pPr/>
              <a:t>24</a:t>
            </a:fld>
            <a:endParaRPr lang="fr-CA"/>
          </a:p>
        </p:txBody>
      </p:sp>
    </p:spTree>
    <p:extLst>
      <p:ext uri="{BB962C8B-B14F-4D97-AF65-F5344CB8AC3E}">
        <p14:creationId xmlns:p14="http://schemas.microsoft.com/office/powerpoint/2010/main" val="489748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4013" y="703263"/>
            <a:ext cx="6173787" cy="3473450"/>
          </a:xfrm>
        </p:spPr>
      </p:sp>
      <p:sp>
        <p:nvSpPr>
          <p:cNvPr id="3" name="Espace réservé des commentaires 2"/>
          <p:cNvSpPr>
            <a:spLocks noGrp="1"/>
          </p:cNvSpPr>
          <p:nvPr>
            <p:ph type="body" idx="1"/>
          </p:nvPr>
        </p:nvSpPr>
        <p:spPr/>
        <p:txBody>
          <a:bodyPr>
            <a:normAutofit/>
          </a:bodyPr>
          <a:lstStyle/>
          <a:p>
            <a:endParaRPr lang="fr-CA" sz="160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1194D93E-3EEA-4831-AF93-258CBD329D39}" type="slidenum">
              <a:rPr lang="fr-CA" smtClean="0"/>
              <a:pPr/>
              <a:t>25</a:t>
            </a:fld>
            <a:endParaRPr lang="fr-CA"/>
          </a:p>
        </p:txBody>
      </p:sp>
    </p:spTree>
    <p:extLst>
      <p:ext uri="{BB962C8B-B14F-4D97-AF65-F5344CB8AC3E}">
        <p14:creationId xmlns:p14="http://schemas.microsoft.com/office/powerpoint/2010/main" val="298457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FAFB570D-00A3-457E-8976-F633630474EF}" type="slidenum">
              <a:rPr lang="fr-CA" smtClean="0"/>
              <a:pPr/>
              <a:t>26</a:t>
            </a:fld>
            <a:endParaRPr lang="fr-CA"/>
          </a:p>
        </p:txBody>
      </p:sp>
      <p:sp>
        <p:nvSpPr>
          <p:cNvPr id="35843" name="Rectangle 2"/>
          <p:cNvSpPr>
            <a:spLocks noGrp="1" noRot="1" noChangeAspect="1" noChangeArrowheads="1" noTextEdit="1"/>
          </p:cNvSpPr>
          <p:nvPr>
            <p:ph type="sldImg"/>
          </p:nvPr>
        </p:nvSpPr>
        <p:spPr>
          <a:xfrm>
            <a:off x="344488" y="698500"/>
            <a:ext cx="6196012" cy="3486150"/>
          </a:xfrm>
          <a:ln/>
        </p:spPr>
      </p:sp>
      <p:sp>
        <p:nvSpPr>
          <p:cNvPr id="35844" name="Rectangle 3"/>
          <p:cNvSpPr>
            <a:spLocks noGrp="1" noChangeArrowheads="1"/>
          </p:cNvSpPr>
          <p:nvPr>
            <p:ph type="body" idx="1"/>
          </p:nvPr>
        </p:nvSpPr>
        <p:spPr>
          <a:xfrm>
            <a:off x="917576" y="4416426"/>
            <a:ext cx="5046663" cy="4181475"/>
          </a:xfrm>
          <a:noFill/>
          <a:ln/>
        </p:spPr>
        <p:txBody>
          <a:bodyPr/>
          <a:lstStyle/>
          <a:p>
            <a:pPr defTabSz="920724"/>
            <a:endParaRPr lang="fr-CA" dirty="0"/>
          </a:p>
        </p:txBody>
      </p:sp>
    </p:spTree>
    <p:extLst>
      <p:ext uri="{BB962C8B-B14F-4D97-AF65-F5344CB8AC3E}">
        <p14:creationId xmlns:p14="http://schemas.microsoft.com/office/powerpoint/2010/main" val="21862339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FAFB570D-00A3-457E-8976-F633630474EF}" type="slidenum">
              <a:rPr lang="fr-CA" smtClean="0"/>
              <a:pPr/>
              <a:t>27</a:t>
            </a:fld>
            <a:endParaRPr lang="fr-CA"/>
          </a:p>
        </p:txBody>
      </p:sp>
      <p:sp>
        <p:nvSpPr>
          <p:cNvPr id="35843" name="Rectangle 2"/>
          <p:cNvSpPr>
            <a:spLocks noGrp="1" noRot="1" noChangeAspect="1" noChangeArrowheads="1" noTextEdit="1"/>
          </p:cNvSpPr>
          <p:nvPr>
            <p:ph type="sldImg"/>
          </p:nvPr>
        </p:nvSpPr>
        <p:spPr>
          <a:xfrm>
            <a:off x="344488" y="698500"/>
            <a:ext cx="6196012" cy="3486150"/>
          </a:xfrm>
          <a:ln/>
        </p:spPr>
      </p:sp>
      <p:sp>
        <p:nvSpPr>
          <p:cNvPr id="35844" name="Rectangle 3"/>
          <p:cNvSpPr>
            <a:spLocks noGrp="1" noChangeArrowheads="1"/>
          </p:cNvSpPr>
          <p:nvPr>
            <p:ph type="body" idx="1"/>
          </p:nvPr>
        </p:nvSpPr>
        <p:spPr>
          <a:xfrm>
            <a:off x="917576" y="4416426"/>
            <a:ext cx="5046663" cy="4181475"/>
          </a:xfrm>
          <a:noFill/>
          <a:ln/>
        </p:spPr>
        <p:txBody>
          <a:bodyPr/>
          <a:lstStyle/>
          <a:p>
            <a:pPr defTabSz="920724"/>
            <a:endParaRPr lang="fr-CA"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8935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54013" y="703263"/>
            <a:ext cx="6173787" cy="3473450"/>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194D93E-3EEA-4831-AF93-258CBD329D39}" type="slidenum">
              <a:rPr lang="fr-CA" smtClean="0"/>
              <a:pPr/>
              <a:t>28</a:t>
            </a:fld>
            <a:endParaRPr lang="fr-CA"/>
          </a:p>
        </p:txBody>
      </p:sp>
    </p:spTree>
    <p:extLst>
      <p:ext uri="{BB962C8B-B14F-4D97-AF65-F5344CB8AC3E}">
        <p14:creationId xmlns:p14="http://schemas.microsoft.com/office/powerpoint/2010/main" val="1677162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C3B9749F-5468-4ABA-BABC-2524F73077E1}" type="slidenum">
              <a:rPr lang="en-US" smtClean="0"/>
              <a:pPr/>
              <a:t>29</a:t>
            </a:fld>
            <a:endParaRPr lang="en-US"/>
          </a:p>
        </p:txBody>
      </p:sp>
      <p:sp>
        <p:nvSpPr>
          <p:cNvPr id="39939" name="Rectangle 2"/>
          <p:cNvSpPr>
            <a:spLocks noGrp="1" noRot="1" noChangeAspect="1" noChangeArrowheads="1" noTextEdit="1"/>
          </p:cNvSpPr>
          <p:nvPr>
            <p:ph type="sldImg"/>
          </p:nvPr>
        </p:nvSpPr>
        <p:spPr>
          <a:xfrm>
            <a:off x="354013" y="701675"/>
            <a:ext cx="6175375" cy="3475038"/>
          </a:xfrm>
          <a:ln cap="flat"/>
        </p:spPr>
      </p:sp>
      <p:sp>
        <p:nvSpPr>
          <p:cNvPr id="39940" name="Rectangle 3"/>
          <p:cNvSpPr>
            <a:spLocks noGrp="1" noChangeArrowheads="1"/>
          </p:cNvSpPr>
          <p:nvPr>
            <p:ph type="body" idx="1"/>
          </p:nvPr>
        </p:nvSpPr>
        <p:spPr>
          <a:xfrm>
            <a:off x="580572" y="4418013"/>
            <a:ext cx="5386854" cy="4181475"/>
          </a:xfrm>
          <a:noFill/>
          <a:ln/>
        </p:spPr>
        <p:txBody>
          <a:bodyPr lIns="96694" tIns="48350" rIns="96694" bIns="48350"/>
          <a:lstStyle/>
          <a:p>
            <a:pPr marL="381000" indent="-381000"/>
            <a:endParaRPr lang="en-US" dirty="0"/>
          </a:p>
        </p:txBody>
      </p:sp>
    </p:spTree>
    <p:extLst>
      <p:ext uri="{BB962C8B-B14F-4D97-AF65-F5344CB8AC3E}">
        <p14:creationId xmlns:p14="http://schemas.microsoft.com/office/powerpoint/2010/main" val="1139479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F26BA62B-718C-40AB-A22B-BEC7ABAD09BD}" type="slidenum">
              <a:rPr lang="en-US" smtClean="0"/>
              <a:pPr/>
              <a:t>30</a:t>
            </a:fld>
            <a:endParaRPr lang="en-US"/>
          </a:p>
        </p:txBody>
      </p:sp>
      <p:sp>
        <p:nvSpPr>
          <p:cNvPr id="44035" name="Rectangle 2"/>
          <p:cNvSpPr>
            <a:spLocks noGrp="1" noRot="1" noChangeAspect="1" noChangeArrowheads="1" noTextEdit="1"/>
          </p:cNvSpPr>
          <p:nvPr>
            <p:ph type="sldImg"/>
          </p:nvPr>
        </p:nvSpPr>
        <p:spPr>
          <a:xfrm>
            <a:off x="354013" y="703263"/>
            <a:ext cx="6172200" cy="3473450"/>
          </a:xfrm>
          <a:ln/>
        </p:spPr>
      </p:sp>
      <p:sp>
        <p:nvSpPr>
          <p:cNvPr id="44036" name="Rectangle 3"/>
          <p:cNvSpPr>
            <a:spLocks noGrp="1" noChangeArrowheads="1"/>
          </p:cNvSpPr>
          <p:nvPr>
            <p:ph type="body" idx="1"/>
          </p:nvPr>
        </p:nvSpPr>
        <p:spPr>
          <a:xfrm>
            <a:off x="914390" y="4416427"/>
            <a:ext cx="5053035" cy="4183063"/>
          </a:xfrm>
          <a:noFill/>
          <a:ln/>
        </p:spPr>
        <p:txBody>
          <a:bodyPr lIns="92924" tIns="46461" rIns="92924" bIns="46461"/>
          <a:lstStyle/>
          <a:p>
            <a:pPr>
              <a:buFontTx/>
              <a:buNone/>
            </a:pPr>
            <a:endParaRPr lang="fr-CA" dirty="0">
              <a:latin typeface="Arial" pitchFamily="34" charset="0"/>
              <a:cs typeface="Arial" pitchFamily="34" charset="0"/>
            </a:endParaRPr>
          </a:p>
        </p:txBody>
      </p:sp>
    </p:spTree>
    <p:extLst>
      <p:ext uri="{BB962C8B-B14F-4D97-AF65-F5344CB8AC3E}">
        <p14:creationId xmlns:p14="http://schemas.microsoft.com/office/powerpoint/2010/main" val="4091431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C3B9749F-5468-4ABA-BABC-2524F73077E1}" type="slidenum">
              <a:rPr lang="en-US" smtClean="0"/>
              <a:pPr/>
              <a:t>31</a:t>
            </a:fld>
            <a:endParaRPr lang="en-US"/>
          </a:p>
        </p:txBody>
      </p:sp>
      <p:sp>
        <p:nvSpPr>
          <p:cNvPr id="39939" name="Rectangle 2"/>
          <p:cNvSpPr>
            <a:spLocks noGrp="1" noRot="1" noChangeAspect="1" noChangeArrowheads="1" noTextEdit="1"/>
          </p:cNvSpPr>
          <p:nvPr>
            <p:ph type="sldImg"/>
          </p:nvPr>
        </p:nvSpPr>
        <p:spPr>
          <a:xfrm>
            <a:off x="354013" y="701675"/>
            <a:ext cx="6175375" cy="3475038"/>
          </a:xfrm>
          <a:ln cap="flat"/>
        </p:spPr>
      </p:sp>
      <p:sp>
        <p:nvSpPr>
          <p:cNvPr id="39940" name="Rectangle 3"/>
          <p:cNvSpPr>
            <a:spLocks noGrp="1" noChangeArrowheads="1"/>
          </p:cNvSpPr>
          <p:nvPr>
            <p:ph type="body" idx="1"/>
          </p:nvPr>
        </p:nvSpPr>
        <p:spPr>
          <a:xfrm>
            <a:off x="580572" y="4418013"/>
            <a:ext cx="5386854" cy="4181475"/>
          </a:xfrm>
          <a:noFill/>
          <a:ln/>
        </p:spPr>
        <p:txBody>
          <a:bodyPr lIns="96694" tIns="48350" rIns="96694" bIns="48350"/>
          <a:lstStyle/>
          <a:p>
            <a:endParaRPr lang="fr-CA" dirty="0">
              <a:latin typeface="Arial" pitchFamily="34" charset="0"/>
              <a:cs typeface="Arial" pitchFamily="34" charset="0"/>
            </a:endParaRPr>
          </a:p>
        </p:txBody>
      </p:sp>
    </p:spTree>
    <p:extLst>
      <p:ext uri="{BB962C8B-B14F-4D97-AF65-F5344CB8AC3E}">
        <p14:creationId xmlns:p14="http://schemas.microsoft.com/office/powerpoint/2010/main" val="3175293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79438" y="695325"/>
            <a:ext cx="6100762" cy="3432175"/>
          </a:xfrm>
        </p:spPr>
      </p:sp>
      <p:sp>
        <p:nvSpPr>
          <p:cNvPr id="3" name="Espace réservé des commentaires 2"/>
          <p:cNvSpPr>
            <a:spLocks noGrp="1"/>
          </p:cNvSpPr>
          <p:nvPr>
            <p:ph type="body" idx="1"/>
          </p:nvPr>
        </p:nvSpPr>
        <p:spPr/>
        <p:txBody>
          <a:bodyPr>
            <a:normAutofit/>
          </a:bodyPr>
          <a:lstStyle/>
          <a:p>
            <a:endParaRPr lang="fr-CA" sz="1600" i="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94D93E-3EEA-4831-AF93-258CBD329D39}"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95564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79438" y="695325"/>
            <a:ext cx="6100762" cy="3432175"/>
          </a:xfrm>
        </p:spPr>
      </p:sp>
      <p:sp>
        <p:nvSpPr>
          <p:cNvPr id="3" name="Espace réservé des commentaires 2"/>
          <p:cNvSpPr>
            <a:spLocks noGrp="1"/>
          </p:cNvSpPr>
          <p:nvPr>
            <p:ph type="body" idx="1"/>
          </p:nvPr>
        </p:nvSpPr>
        <p:spPr/>
        <p:txBody>
          <a:bodyPr>
            <a:normAutofit/>
          </a:bodyPr>
          <a:lstStyle/>
          <a:p>
            <a:endParaRPr lang="fr-CA" sz="1600" i="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94D93E-3EEA-4831-AF93-258CBD329D39}"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05222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615" y="1432838"/>
            <a:ext cx="9096771" cy="3795257"/>
          </a:xfrm>
          <a:prstGeom prst="rect">
            <a:avLst/>
          </a:prstGeom>
        </p:spPr>
      </p:pic>
      <p:sp>
        <p:nvSpPr>
          <p:cNvPr id="2" name="Titre 1"/>
          <p:cNvSpPr>
            <a:spLocks noGrp="1"/>
          </p:cNvSpPr>
          <p:nvPr>
            <p:ph type="ctrTitle"/>
          </p:nvPr>
        </p:nvSpPr>
        <p:spPr>
          <a:xfrm>
            <a:off x="532000" y="1429200"/>
            <a:ext cx="5860000" cy="1458000"/>
          </a:xfrm>
          <a:solidFill>
            <a:schemeClr val="accent5">
              <a:alpha val="80000"/>
            </a:schemeClr>
          </a:solidFill>
        </p:spPr>
        <p:txBody>
          <a:bodyPr bIns="72000">
            <a:normAutofit/>
          </a:bodyPr>
          <a:lstStyle>
            <a:lvl1pPr>
              <a:defRPr sz="3600">
                <a:solidFill>
                  <a:schemeClr val="accent2"/>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532000" y="2962656"/>
            <a:ext cx="5852000" cy="402336"/>
          </a:xfrm>
          <a:solidFill>
            <a:schemeClr val="accent5">
              <a:alpha val="80000"/>
            </a:schemeClr>
          </a:solidFill>
        </p:spPr>
        <p:txBody>
          <a:bodyPr anchor="ctr" anchorCtr="0">
            <a:normAutofit/>
          </a:bodyPr>
          <a:lstStyle>
            <a:lvl1pPr marL="0" indent="0" algn="l">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Modifiez le style des sous-titres du masque</a:t>
            </a:r>
            <a:endParaRPr lang="fr-CA" noProof="0" dirty="0"/>
          </a:p>
        </p:txBody>
      </p:sp>
      <p:sp>
        <p:nvSpPr>
          <p:cNvPr id="6" name="Espace réservé du numéro de diapositive 5"/>
          <p:cNvSpPr>
            <a:spLocks noGrp="1"/>
          </p:cNvSpPr>
          <p:nvPr>
            <p:ph type="sldNum" sz="quarter" idx="12"/>
          </p:nvPr>
        </p:nvSpPr>
        <p:spPr>
          <a:xfrm>
            <a:off x="9112000" y="5385600"/>
            <a:ext cx="516000" cy="136800"/>
          </a:xfrm>
        </p:spPr>
        <p:txBody>
          <a:bodyPr vert="horz" lIns="91440" tIns="45720" rIns="91440" bIns="45720" rtlCol="0" anchor="ctr"/>
          <a:lstStyle>
            <a:lvl1pPr marL="0" algn="r" defTabSz="914400" rtl="0" eaLnBrk="1" latinLnBrk="0" hangingPunct="1">
              <a:defRPr lang="fr-CA" sz="670" kern="1200" smtClean="0">
                <a:solidFill>
                  <a:schemeClr val="accent2"/>
                </a:solidFill>
                <a:latin typeface="+mn-lt"/>
                <a:ea typeface="+mn-ea"/>
                <a:cs typeface="+mn-cs"/>
              </a:defRPr>
            </a:lvl1pPr>
          </a:lstStyle>
          <a:p>
            <a:fld id="{77B8E65F-5E3F-4E73-B056-4D0181456FB2}" type="slidenum">
              <a:rPr lang="fr-CA" noProof="0" smtClean="0"/>
              <a:pPr/>
              <a:t>‹N°›</a:t>
            </a:fld>
            <a:endParaRPr lang="fr-CA" noProof="0" dirty="0"/>
          </a:p>
        </p:txBody>
      </p:sp>
      <p:pic>
        <p:nvPicPr>
          <p:cNvPr id="7"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9909" y="234063"/>
            <a:ext cx="5869748" cy="815723"/>
          </a:xfrm>
          <a:prstGeom prst="rect">
            <a:avLst/>
          </a:prstGeom>
        </p:spPr>
      </p:pic>
      <p:sp>
        <p:nvSpPr>
          <p:cNvPr id="11" name="Espace réservé du pied de page 10"/>
          <p:cNvSpPr>
            <a:spLocks noGrp="1"/>
          </p:cNvSpPr>
          <p:nvPr>
            <p:ph type="ftr" sz="quarter" idx="14"/>
          </p:nvPr>
        </p:nvSpPr>
        <p:spPr>
          <a:xfrm>
            <a:off x="531615" y="5028295"/>
            <a:ext cx="2387999" cy="200055"/>
          </a:xfrm>
          <a:solidFill>
            <a:schemeClr val="accent5"/>
          </a:solidFill>
        </p:spPr>
        <p:txBody>
          <a:bodyPr/>
          <a:lstStyle>
            <a:lvl1pPr algn="l">
              <a:defRPr sz="1300" cap="all" baseline="0">
                <a:solidFill>
                  <a:schemeClr val="bg1"/>
                </a:solidFill>
              </a:defRPr>
            </a:lvl1pPr>
          </a:lstStyle>
          <a:p>
            <a:endParaRPr lang="fr-CA" noProof="0" dirty="0"/>
          </a:p>
        </p:txBody>
      </p:sp>
      <p:sp>
        <p:nvSpPr>
          <p:cNvPr id="13" name="Espace réservé de la date 12"/>
          <p:cNvSpPr>
            <a:spLocks noGrp="1"/>
          </p:cNvSpPr>
          <p:nvPr>
            <p:ph type="dt" sz="half" idx="15"/>
          </p:nvPr>
        </p:nvSpPr>
        <p:spPr/>
        <p:txBody>
          <a:bodyPr/>
          <a:lstStyle/>
          <a:p>
            <a:fld id="{98FD3BE9-B61A-496B-9E53-6BE29CAA7F7D}" type="datetime3">
              <a:rPr lang="fr-CA" noProof="0" smtClean="0"/>
              <a:pPr/>
              <a:t>25/06/26</a:t>
            </a:fld>
            <a:endParaRPr lang="fr-CA"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532000" y="479686"/>
            <a:ext cx="9096000" cy="822960"/>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532000" y="1577687"/>
            <a:ext cx="9096000" cy="3187989"/>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B8AEE98D-278E-4B48-81DC-1D1D6F61A9AE}" type="datetime3">
              <a:rPr lang="fr-CA" noProof="0" smtClean="0"/>
              <a:pPr/>
              <a:t>25/06/26</a:t>
            </a:fld>
            <a:endParaRPr lang="fr-CA" noProof="0" dirty="0"/>
          </a:p>
        </p:txBody>
      </p:sp>
      <p:sp>
        <p:nvSpPr>
          <p:cNvPr id="5" name="Espace réservé du pied de page 4"/>
          <p:cNvSpPr>
            <a:spLocks noGrp="1"/>
          </p:cNvSpPr>
          <p:nvPr>
            <p:ph type="ftr" sz="quarter" idx="11"/>
          </p:nvPr>
        </p:nvSpPr>
        <p:spPr/>
        <p:txBody>
          <a:bodyPr/>
          <a:lstStyle/>
          <a:p>
            <a:endParaRPr lang="fr-CA" noProof="0" dirty="0"/>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7" name="TextBox 6"/>
          <p:cNvSpPr txBox="1"/>
          <p:nvPr userDrawn="1"/>
        </p:nvSpPr>
        <p:spPr>
          <a:xfrm>
            <a:off x="384528" y="4765675"/>
            <a:ext cx="1016000" cy="914400"/>
          </a:xfrm>
          <a:prstGeom prst="rect">
            <a:avLst/>
          </a:prstGeom>
        </p:spPr>
        <p:txBody>
          <a:bodyPr vert="horz" wrap="non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noProof="0" dirty="0"/>
          </a:p>
        </p:txBody>
      </p:sp>
    </p:spTree>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userDrawn="1"/>
        </p:nvSpPr>
        <p:spPr>
          <a:xfrm>
            <a:off x="2291183" y="3453140"/>
            <a:ext cx="7336817" cy="14447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8" name="Imag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3863" t="-901" b="1413"/>
          <a:stretch/>
        </p:blipFill>
        <p:spPr>
          <a:xfrm>
            <a:off x="6489959" y="1404500"/>
            <a:ext cx="3138424" cy="1973183"/>
          </a:xfrm>
          <a:prstGeom prst="rect">
            <a:avLst/>
          </a:prstGeom>
        </p:spPr>
      </p:pic>
      <p:sp>
        <p:nvSpPr>
          <p:cNvPr id="2" name="Titre 1"/>
          <p:cNvSpPr>
            <a:spLocks noGrp="1"/>
          </p:cNvSpPr>
          <p:nvPr>
            <p:ph type="title"/>
          </p:nvPr>
        </p:nvSpPr>
        <p:spPr>
          <a:xfrm>
            <a:off x="532000" y="1429199"/>
            <a:ext cx="5860000" cy="1458000"/>
          </a:xfrm>
          <a:solidFill>
            <a:schemeClr val="accent5"/>
          </a:solidFill>
        </p:spPr>
        <p:txBody>
          <a:bodyPr vert="horz" lIns="91440" tIns="45720" rIns="91440" bIns="72000" rtlCol="0" anchor="ctr">
            <a:normAutofit/>
          </a:bodyPr>
          <a:lstStyle>
            <a:lvl1pPr algn="l" defTabSz="914400" rtl="0" eaLnBrk="1" latinLnBrk="0" hangingPunct="1">
              <a:spcBef>
                <a:spcPct val="0"/>
              </a:spcBef>
              <a:buNone/>
              <a:defRPr lang="fr-CA" sz="3600" b="1" kern="1200" dirty="0">
                <a:solidFill>
                  <a:schemeClr val="accent2"/>
                </a:solidFill>
                <a:latin typeface="+mj-lt"/>
                <a:ea typeface="+mj-ea"/>
                <a:cs typeface="+mj-cs"/>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32000" y="2962656"/>
            <a:ext cx="5852000" cy="402336"/>
          </a:xfrm>
          <a:solidFill>
            <a:schemeClr val="accent5"/>
          </a:solidFill>
        </p:spPr>
        <p:txBody>
          <a:bodyPr vert="horz" lIns="91440" tIns="45720" rIns="91440" bIns="45720" rtlCol="0" anchor="ctr" anchorCtr="0">
            <a:normAutofit/>
          </a:bodyPr>
          <a:lstStyle>
            <a:lvl1pPr marL="0" indent="0" algn="l" defTabSz="914400" rtl="0" eaLnBrk="1" latinLnBrk="0" hangingPunct="1">
              <a:spcBef>
                <a:spcPct val="20000"/>
              </a:spcBef>
              <a:buClr>
                <a:schemeClr val="accent2"/>
              </a:buClr>
              <a:buSzPct val="125000"/>
              <a:buFont typeface="Arial" pitchFamily="34" charset="0"/>
              <a:buNone/>
              <a:defRPr lang="fr-FR" sz="2000" kern="1200" smtClean="0">
                <a:solidFill>
                  <a:schemeClr val="accent2"/>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10" name="Espace réservé de la date 9"/>
          <p:cNvSpPr>
            <a:spLocks noGrp="1"/>
          </p:cNvSpPr>
          <p:nvPr>
            <p:ph type="dt" sz="half" idx="13"/>
          </p:nvPr>
        </p:nvSpPr>
        <p:spPr/>
        <p:txBody>
          <a:bodyPr/>
          <a:lstStyle/>
          <a:p>
            <a:fld id="{77279209-565D-4FE5-A4C8-60294C4337D1}" type="datetime3">
              <a:rPr lang="fr-CA" noProof="0" smtClean="0"/>
              <a:pPr/>
              <a:t>25/06/26</a:t>
            </a:fld>
            <a:endParaRPr lang="fr-CA" noProof="0" dirty="0"/>
          </a:p>
        </p:txBody>
      </p:sp>
      <p:sp>
        <p:nvSpPr>
          <p:cNvPr id="11" name="Espace réservé du pied de page 10"/>
          <p:cNvSpPr>
            <a:spLocks noGrp="1"/>
          </p:cNvSpPr>
          <p:nvPr>
            <p:ph type="ftr" sz="quarter" idx="14"/>
          </p:nvPr>
        </p:nvSpPr>
        <p:spPr/>
        <p:txBody>
          <a:bodyPr/>
          <a:lstStyle/>
          <a:p>
            <a:endParaRPr lang="fr-CA" noProof="0" dirty="0"/>
          </a:p>
        </p:txBody>
      </p:sp>
      <p:pic>
        <p:nvPicPr>
          <p:cNvPr id="13" name="Image 7"/>
          <p:cNvPicPr>
            <a:picLocks noChangeAspect="1"/>
          </p:cNvPicPr>
          <p:nvPr userDrawn="1"/>
        </p:nvPicPr>
        <p:blipFill rotWithShape="1">
          <a:blip r:embed="rId3">
            <a:extLst>
              <a:ext uri="{28A0092B-C50C-407E-A947-70E740481C1C}">
                <a14:useLocalDpi xmlns:a14="http://schemas.microsoft.com/office/drawing/2010/main" val="0"/>
              </a:ext>
            </a:extLst>
          </a:blip>
          <a:srcRect l="32451" r="1"/>
          <a:stretch/>
        </p:blipFill>
        <p:spPr>
          <a:xfrm>
            <a:off x="6479592" y="1432838"/>
            <a:ext cx="3148793" cy="1944845"/>
          </a:xfrm>
          <a:prstGeom prst="rect">
            <a:avLst/>
          </a:prstGeom>
        </p:spPr>
      </p:pic>
      <p:sp>
        <p:nvSpPr>
          <p:cNvPr id="5" name="Rectangle 4"/>
          <p:cNvSpPr/>
          <p:nvPr userDrawn="1"/>
        </p:nvSpPr>
        <p:spPr>
          <a:xfrm>
            <a:off x="532000" y="3453139"/>
            <a:ext cx="1686613" cy="1454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12" name="Imag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23361"/>
          </a:xfrm>
        </p:spPr>
        <p:txBody>
          <a:bodyPr/>
          <a:lstStyle/>
          <a:p>
            <a:r>
              <a:rPr lang="fr-FR" noProof="0"/>
              <a:t>Modifiez le style du titre</a:t>
            </a:r>
            <a:endParaRPr lang="fr-CA" noProof="0" dirty="0"/>
          </a:p>
        </p:txBody>
      </p:sp>
      <p:sp>
        <p:nvSpPr>
          <p:cNvPr id="3" name="Espace réservé du contenu 2"/>
          <p:cNvSpPr>
            <a:spLocks noGrp="1"/>
          </p:cNvSpPr>
          <p:nvPr>
            <p:ph sz="half" idx="1"/>
          </p:nvPr>
        </p:nvSpPr>
        <p:spPr>
          <a:xfrm>
            <a:off x="508000"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5164667"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F21CA514-E663-440D-A703-C1929B51DE22}"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532000" y="478701"/>
            <a:ext cx="9096000" cy="820499"/>
          </a:xfrm>
        </p:spPr>
        <p:txBody>
          <a:bodyPr/>
          <a:lstStyle>
            <a:lvl1pPr>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08000" y="1511301"/>
            <a:ext cx="4489098"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508000" y="2044436"/>
            <a:ext cx="4489098"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5161141" y="1511301"/>
            <a:ext cx="4490861"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5161141" y="2044436"/>
            <a:ext cx="4490861"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225616E7-490B-4714-8F6A-CB8983A282D6}" type="datetime3">
              <a:rPr lang="fr-CA" noProof="0" smtClean="0"/>
              <a:pPr/>
              <a:t>25/06/26</a:t>
            </a:fld>
            <a:endParaRPr lang="fr-CA" noProof="0" dirty="0"/>
          </a:p>
        </p:txBody>
      </p:sp>
      <p:sp>
        <p:nvSpPr>
          <p:cNvPr id="8" name="Espace réservé du pied de page 7"/>
          <p:cNvSpPr>
            <a:spLocks noGrp="1"/>
          </p:cNvSpPr>
          <p:nvPr>
            <p:ph type="ftr" sz="quarter" idx="11"/>
          </p:nvPr>
        </p:nvSpPr>
        <p:spPr/>
        <p:txBody>
          <a:bodyPr/>
          <a:lstStyle/>
          <a:p>
            <a:endParaRPr lang="fr-CA" noProof="0" dirty="0"/>
          </a:p>
        </p:txBody>
      </p:sp>
      <p:sp>
        <p:nvSpPr>
          <p:cNvPr id="9" name="Espace réservé du numéro de diapositive 8"/>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19775"/>
          </a:xfrm>
        </p:spPr>
        <p:txBody>
          <a:bodyPr/>
          <a:lstStyle/>
          <a:p>
            <a:r>
              <a:rPr lang="fr-FR" noProof="0"/>
              <a:t>Modifiez le style du titre</a:t>
            </a:r>
            <a:endParaRPr lang="fr-CA" noProof="0" dirty="0"/>
          </a:p>
        </p:txBody>
      </p:sp>
      <p:sp>
        <p:nvSpPr>
          <p:cNvPr id="3" name="Espace réservé de la date 2"/>
          <p:cNvSpPr>
            <a:spLocks noGrp="1"/>
          </p:cNvSpPr>
          <p:nvPr>
            <p:ph type="dt" sz="half" idx="10"/>
          </p:nvPr>
        </p:nvSpPr>
        <p:spPr/>
        <p:txBody>
          <a:bodyPr/>
          <a:lstStyle/>
          <a:p>
            <a:fld id="{0009B762-E697-4018-87D8-E18EB218C2D2}" type="datetime3">
              <a:rPr lang="fr-CA" noProof="0" smtClean="0"/>
              <a:pPr/>
              <a:t>25/06/26</a:t>
            </a:fld>
            <a:endParaRPr lang="fr-CA" noProof="0" dirty="0"/>
          </a:p>
        </p:txBody>
      </p:sp>
      <p:sp>
        <p:nvSpPr>
          <p:cNvPr id="4" name="Espace réservé du pied de page 3"/>
          <p:cNvSpPr>
            <a:spLocks noGrp="1"/>
          </p:cNvSpPr>
          <p:nvPr>
            <p:ph type="ftr" sz="quarter" idx="11"/>
          </p:nvPr>
        </p:nvSpPr>
        <p:spPr/>
        <p:txBody>
          <a:bodyPr/>
          <a:lstStyle/>
          <a:p>
            <a:endParaRPr lang="fr-CA" noProof="0" dirty="0"/>
          </a:p>
        </p:txBody>
      </p:sp>
      <p:sp>
        <p:nvSpPr>
          <p:cNvPr id="5" name="Espace réservé du numéro de diapositive 4"/>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9190E55-1E82-4F9D-9A31-87D72CF5D459}" type="datetime3">
              <a:rPr lang="fr-CA" noProof="0" smtClean="0"/>
              <a:pPr/>
              <a:t>25/06/26</a:t>
            </a:fld>
            <a:endParaRPr lang="fr-CA" noProof="0" dirty="0"/>
          </a:p>
        </p:txBody>
      </p:sp>
      <p:sp>
        <p:nvSpPr>
          <p:cNvPr id="3" name="Espace réservé du pied de page 2"/>
          <p:cNvSpPr>
            <a:spLocks noGrp="1"/>
          </p:cNvSpPr>
          <p:nvPr>
            <p:ph type="ftr" sz="quarter" idx="11"/>
          </p:nvPr>
        </p:nvSpPr>
        <p:spPr/>
        <p:txBody>
          <a:bodyPr/>
          <a:lstStyle/>
          <a:p>
            <a:endParaRPr lang="fr-CA" noProof="0" dirty="0"/>
          </a:p>
        </p:txBody>
      </p:sp>
      <p:sp>
        <p:nvSpPr>
          <p:cNvPr id="4" name="Espace réservé du numéro de diapositive 3"/>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32000" y="477193"/>
            <a:ext cx="9096000" cy="822008"/>
          </a:xfrm>
        </p:spPr>
        <p:txBody>
          <a:bodyPr anchor="ctr" anchorCtr="0"/>
          <a:lstStyle>
            <a:lvl1pPr algn="l">
              <a:defRPr sz="2600" b="1"/>
            </a:lvl1pPr>
          </a:lstStyle>
          <a:p>
            <a:r>
              <a:rPr lang="fr-FR" noProof="0"/>
              <a:t>Modifiez le style du titre</a:t>
            </a:r>
            <a:endParaRPr lang="fr-CA" noProof="0" dirty="0"/>
          </a:p>
        </p:txBody>
      </p:sp>
      <p:sp>
        <p:nvSpPr>
          <p:cNvPr id="3" name="Espace réservé du contenu 2"/>
          <p:cNvSpPr>
            <a:spLocks noGrp="1"/>
          </p:cNvSpPr>
          <p:nvPr>
            <p:ph idx="1"/>
          </p:nvPr>
        </p:nvSpPr>
        <p:spPr>
          <a:xfrm>
            <a:off x="3956000" y="1504401"/>
            <a:ext cx="5664000" cy="3261275"/>
          </a:xfrm>
        </p:spPr>
        <p:txBody>
          <a:bodyPr>
            <a:normAutofit/>
          </a:bodyPr>
          <a:lstStyle>
            <a:lvl1pPr>
              <a:defRPr sz="1670"/>
            </a:lvl1pPr>
            <a:lvl2pPr>
              <a:defRPr sz="1670"/>
            </a:lvl2pPr>
            <a:lvl3pPr>
              <a:defRPr sz="1670"/>
            </a:lvl3pPr>
            <a:lvl4pPr>
              <a:defRPr sz="1670"/>
            </a:lvl4pPr>
            <a:lvl5pPr>
              <a:defRPr sz="1670"/>
            </a:lvl5pPr>
            <a:lvl6pPr>
              <a:defRPr sz="2000"/>
            </a:lvl6pPr>
            <a:lvl7pPr>
              <a:defRPr sz="2000"/>
            </a:lvl7pPr>
            <a:lvl8pPr>
              <a:defRPr sz="2000"/>
            </a:lvl8pPr>
            <a:lvl9pPr>
              <a:defRPr sz="20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532000" y="1504401"/>
            <a:ext cx="3320000" cy="3261275"/>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B84D5D3E-5FA6-4B80-B8ED-591F9019CE46}"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532000" y="489727"/>
            <a:ext cx="9096000" cy="822950"/>
          </a:xfrm>
        </p:spPr>
        <p:txBody>
          <a:bodyPr anchor="ctr" anchorCtr="0"/>
          <a:lstStyle>
            <a:lvl1pPr algn="l">
              <a:defRPr sz="2600" b="1"/>
            </a:lvl1pPr>
          </a:lstStyle>
          <a:p>
            <a:r>
              <a:rPr lang="fr-FR" noProof="0"/>
              <a:t>Modifiez le style du titre</a:t>
            </a:r>
            <a:endParaRPr lang="fr-CA" noProof="0" dirty="0"/>
          </a:p>
        </p:txBody>
      </p:sp>
      <p:sp>
        <p:nvSpPr>
          <p:cNvPr id="3" name="Espace réservé pour une image  2"/>
          <p:cNvSpPr>
            <a:spLocks noGrp="1"/>
          </p:cNvSpPr>
          <p:nvPr>
            <p:ph type="pic" idx="1"/>
          </p:nvPr>
        </p:nvSpPr>
        <p:spPr>
          <a:xfrm>
            <a:off x="532000" y="2065077"/>
            <a:ext cx="9088000" cy="2700598"/>
          </a:xfrm>
        </p:spPr>
        <p:txBody>
          <a:bodyPr>
            <a:normAutofit/>
          </a:bodyPr>
          <a:lstStyle>
            <a:lvl1pPr marL="0" indent="0">
              <a:buNone/>
              <a:defRPr sz="167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noProof="0"/>
              <a:t>Cliquez sur l'icône pour ajouter une image</a:t>
            </a:r>
            <a:endParaRPr lang="fr-CA" noProof="0" dirty="0"/>
          </a:p>
        </p:txBody>
      </p:sp>
      <p:sp>
        <p:nvSpPr>
          <p:cNvPr id="4" name="Espace réservé du texte 3"/>
          <p:cNvSpPr>
            <a:spLocks noGrp="1"/>
          </p:cNvSpPr>
          <p:nvPr>
            <p:ph type="body" sz="half" idx="2"/>
          </p:nvPr>
        </p:nvSpPr>
        <p:spPr>
          <a:xfrm>
            <a:off x="532000" y="1517877"/>
            <a:ext cx="9088000" cy="522000"/>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0845B85D-2B3C-4B71-8CBC-BB628A84F8F8}"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0F50AF-7441-4134-B26A-ECC8A96B607C}"/>
              </a:ext>
            </a:extLst>
          </p:cNvPr>
          <p:cNvSpPr>
            <a:spLocks noGrp="1"/>
          </p:cNvSpPr>
          <p:nvPr>
            <p:ph type="title"/>
          </p:nvPr>
        </p:nvSpPr>
        <p:spPr>
          <a:xfrm>
            <a:off x="531999" y="485192"/>
            <a:ext cx="8058197" cy="827486"/>
          </a:xfrm>
          <a:solidFill>
            <a:schemeClr val="accent6"/>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9644377D-FC82-4902-BD97-53EC40396BDF}"/>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D63FF39F-B286-4C16-8269-F7A81DA1463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CF187C17-F2E3-4902-9E3A-65B783B49BE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0D1CDB22-3B0B-4322-9BBB-9F2293122B4E}"/>
              </a:ext>
            </a:extLst>
          </p:cNvPr>
          <p:cNvGrpSpPr/>
          <p:nvPr userDrawn="1"/>
        </p:nvGrpSpPr>
        <p:grpSpPr>
          <a:xfrm>
            <a:off x="8688000" y="495353"/>
            <a:ext cx="940000" cy="847331"/>
            <a:chOff x="9122160" y="387054"/>
            <a:chExt cx="846000" cy="847331"/>
          </a:xfrm>
        </p:grpSpPr>
        <p:pic>
          <p:nvPicPr>
            <p:cNvPr id="7" name="Graphique 6" descr="Crayon">
              <a:extLst>
                <a:ext uri="{FF2B5EF4-FFF2-40B4-BE49-F238E27FC236}">
                  <a16:creationId xmlns:a16="http://schemas.microsoft.com/office/drawing/2014/main" id="{DDBF18FB-FE66-423A-A7D4-B79FBBBC42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1578" y="527500"/>
              <a:ext cx="566438" cy="566438"/>
            </a:xfrm>
            <a:prstGeom prst="rect">
              <a:avLst/>
            </a:prstGeom>
          </p:spPr>
        </p:pic>
        <p:sp>
          <p:nvSpPr>
            <p:cNvPr id="8" name="Ellipse 7">
              <a:extLst>
                <a:ext uri="{FF2B5EF4-FFF2-40B4-BE49-F238E27FC236}">
                  <a16:creationId xmlns:a16="http://schemas.microsoft.com/office/drawing/2014/main" id="{B57AEEEB-351B-4025-8578-96B183CF9D99}"/>
                </a:ext>
              </a:extLst>
            </p:cNvPr>
            <p:cNvSpPr/>
            <p:nvPr/>
          </p:nvSpPr>
          <p:spPr>
            <a:xfrm>
              <a:off x="9122160" y="387054"/>
              <a:ext cx="846000" cy="847331"/>
            </a:xfrm>
            <a:prstGeom prst="ellipse">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grpSp>
    </p:spTree>
    <p:extLst>
      <p:ext uri="{BB962C8B-B14F-4D97-AF65-F5344CB8AC3E}">
        <p14:creationId xmlns:p14="http://schemas.microsoft.com/office/powerpoint/2010/main" val="358465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D5027F-A0D3-4AB9-84F3-FB2D41690CCB}"/>
              </a:ext>
            </a:extLst>
          </p:cNvPr>
          <p:cNvSpPr>
            <a:spLocks noGrp="1"/>
          </p:cNvSpPr>
          <p:nvPr>
            <p:ph type="title"/>
          </p:nvPr>
        </p:nvSpPr>
        <p:spPr>
          <a:xfrm>
            <a:off x="532000" y="485192"/>
            <a:ext cx="8067000" cy="827486"/>
          </a:xfrm>
          <a:solidFill>
            <a:schemeClr val="accent3"/>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1B9717D0-6BE4-4CEC-B56A-8B457758BF8D}"/>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D2524FFF-475C-4BFE-954F-C687108D0532}"/>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DE87481D-310A-4B06-B0A3-60770912D53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C38B7538-B649-4420-B53D-0893556BF313}"/>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7339A3EF-4528-46A0-8103-1D4A72CB11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28460B3C-4E63-4A6E-B367-A95CD1A637BD}"/>
                </a:ext>
              </a:extLst>
            </p:cNvPr>
            <p:cNvSpPr/>
            <p:nvPr/>
          </p:nvSpPr>
          <p:spPr>
            <a:xfrm>
              <a:off x="7604369" y="476463"/>
              <a:ext cx="846000" cy="847331"/>
            </a:xfrm>
            <a:prstGeom prst="ellipse">
              <a:avLst/>
            </a:prstGeom>
            <a:noFill/>
            <a:ln w="57150">
              <a:solidFill>
                <a:schemeClr val="accent3"/>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1740170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94F1F0-0C83-423A-9627-7F4F21B4D532}"/>
              </a:ext>
            </a:extLst>
          </p:cNvPr>
          <p:cNvSpPr>
            <a:spLocks noGrp="1"/>
          </p:cNvSpPr>
          <p:nvPr>
            <p:ph type="title"/>
          </p:nvPr>
        </p:nvSpPr>
        <p:spPr>
          <a:xfrm>
            <a:off x="532000" y="485192"/>
            <a:ext cx="8067000" cy="827486"/>
          </a:xfrm>
          <a:solidFill>
            <a:schemeClr val="accent4"/>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46605483-8545-43AB-9D82-BECBE68AC0CA}"/>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669B70E9-B1BE-4B33-BD97-A586440461A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F3A96B83-5363-4969-8925-62B9E6BDCA5E}"/>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9152BD61-BE8A-45EF-9990-8B54915CF287}"/>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EB97E7FB-98CD-4166-9B66-C5C7DFC94F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704B6938-F664-404B-A6FB-3ED61F28D7B0}"/>
                </a:ext>
              </a:extLst>
            </p:cNvPr>
            <p:cNvSpPr/>
            <p:nvPr/>
          </p:nvSpPr>
          <p:spPr>
            <a:xfrm>
              <a:off x="7604369" y="476463"/>
              <a:ext cx="846000" cy="847331"/>
            </a:xfrm>
            <a:prstGeom prst="ellipse">
              <a:avLst/>
            </a:prstGeom>
            <a:noFill/>
            <a:ln w="57150">
              <a:solidFill>
                <a:schemeClr val="accent4"/>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294457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737645" y="0"/>
            <a:ext cx="7907177" cy="897698"/>
          </a:xfrm>
        </p:spPr>
        <p:txBody>
          <a:bodyPr/>
          <a:lstStyle/>
          <a:p>
            <a:r>
              <a:rPr lang="fr-FR" dirty="0"/>
              <a:t>Cliquez pour modifier le style du titre</a:t>
            </a:r>
            <a:endParaRPr lang="fr-CA" dirty="0"/>
          </a:p>
        </p:txBody>
      </p:sp>
      <p:sp>
        <p:nvSpPr>
          <p:cNvPr id="3" name="Espace réservé du texte 2"/>
          <p:cNvSpPr>
            <a:spLocks noGrp="1"/>
          </p:cNvSpPr>
          <p:nvPr>
            <p:ph type="body" sz="half" idx="1"/>
          </p:nvPr>
        </p:nvSpPr>
        <p:spPr>
          <a:xfrm>
            <a:off x="1425224" y="1508125"/>
            <a:ext cx="4102806"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5697363" y="1508125"/>
            <a:ext cx="4102806"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456408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re et contenu sur texte">
    <p:spTree>
      <p:nvGrpSpPr>
        <p:cNvPr id="1" name=""/>
        <p:cNvGrpSpPr/>
        <p:nvPr/>
      </p:nvGrpSpPr>
      <p:grpSpPr>
        <a:xfrm>
          <a:off x="0" y="0"/>
          <a:ext cx="0" cy="0"/>
          <a:chOff x="0" y="0"/>
          <a:chExt cx="0" cy="0"/>
        </a:xfrm>
      </p:grpSpPr>
      <p:sp>
        <p:nvSpPr>
          <p:cNvPr id="2" name="Titre 1"/>
          <p:cNvSpPr>
            <a:spLocks noGrp="1"/>
          </p:cNvSpPr>
          <p:nvPr>
            <p:ph type="title"/>
          </p:nvPr>
        </p:nvSpPr>
        <p:spPr>
          <a:xfrm>
            <a:off x="795516" y="1"/>
            <a:ext cx="7849306" cy="877094"/>
          </a:xfrm>
        </p:spPr>
        <p:txBody>
          <a:bodyPr/>
          <a:lstStyle/>
          <a:p>
            <a:r>
              <a:rPr lang="fr-FR"/>
              <a:t>Cliquez pour modifier le style du titre</a:t>
            </a:r>
            <a:endParaRPr lang="fr-CA"/>
          </a:p>
        </p:txBody>
      </p:sp>
      <p:sp>
        <p:nvSpPr>
          <p:cNvPr id="3" name="Espace réservé du contenu 2"/>
          <p:cNvSpPr>
            <a:spLocks noGrp="1"/>
          </p:cNvSpPr>
          <p:nvPr>
            <p:ph sz="half" idx="1"/>
          </p:nvPr>
        </p:nvSpPr>
        <p:spPr>
          <a:xfrm>
            <a:off x="1095377" y="1205180"/>
            <a:ext cx="8704791" cy="19923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1095377" y="3324491"/>
            <a:ext cx="8704791" cy="199363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794908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re, 4 contenus et légendes">
    <p:spTree>
      <p:nvGrpSpPr>
        <p:cNvPr id="1" name=""/>
        <p:cNvGrpSpPr/>
        <p:nvPr/>
      </p:nvGrpSpPr>
      <p:grpSpPr>
        <a:xfrm>
          <a:off x="0" y="0"/>
          <a:ext cx="0" cy="0"/>
          <a:chOff x="0" y="0"/>
          <a:chExt cx="0" cy="0"/>
        </a:xfrm>
      </p:grpSpPr>
      <p:sp>
        <p:nvSpPr>
          <p:cNvPr id="15" name="Espace réservé du contenu 3"/>
          <p:cNvSpPr>
            <a:spLocks noGrp="1"/>
          </p:cNvSpPr>
          <p:nvPr>
            <p:ph sz="quarter" idx="22"/>
          </p:nvPr>
        </p:nvSpPr>
        <p:spPr>
          <a:xfrm>
            <a:off x="530932" y="3204153"/>
            <a:ext cx="4467930" cy="165735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8" name="Espace réservé du contenu 3"/>
          <p:cNvSpPr>
            <a:spLocks noGrp="1"/>
          </p:cNvSpPr>
          <p:nvPr>
            <p:ph sz="quarter" idx="23"/>
          </p:nvPr>
        </p:nvSpPr>
        <p:spPr>
          <a:xfrm>
            <a:off x="5152029" y="3213678"/>
            <a:ext cx="4467930" cy="165735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quarter" idx="20"/>
          </p:nvPr>
        </p:nvSpPr>
        <p:spPr>
          <a:xfrm>
            <a:off x="530932" y="1022350"/>
            <a:ext cx="4467930" cy="165735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3" name="Espace réservé du contenu 3"/>
          <p:cNvSpPr>
            <a:spLocks noGrp="1"/>
          </p:cNvSpPr>
          <p:nvPr>
            <p:ph sz="quarter" idx="21"/>
          </p:nvPr>
        </p:nvSpPr>
        <p:spPr>
          <a:xfrm>
            <a:off x="5141446" y="1012825"/>
            <a:ext cx="4467930" cy="165735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Titre 1"/>
          <p:cNvSpPr>
            <a:spLocks noGrp="1"/>
          </p:cNvSpPr>
          <p:nvPr>
            <p:ph type="title" hasCustomPrompt="1"/>
          </p:nvPr>
        </p:nvSpPr>
        <p:spPr>
          <a:xfrm>
            <a:off x="532000" y="481014"/>
            <a:ext cx="9096000" cy="411680"/>
          </a:xfrm>
        </p:spPr>
        <p:txBody>
          <a:bodyPr/>
          <a:lstStyle>
            <a:lvl1pPr>
              <a:defRPr sz="2000"/>
            </a:lvl1pPr>
          </a:lstStyle>
          <a:p>
            <a:r>
              <a:rPr lang="fr-FR" dirty="0"/>
              <a:t>Espace titre, sous-titre, légende…</a:t>
            </a:r>
            <a:endParaRPr lang="fr-CA" dirty="0"/>
          </a:p>
        </p:txBody>
      </p:sp>
      <p:sp>
        <p:nvSpPr>
          <p:cNvPr id="3" name="Espace réservé du texte 2"/>
          <p:cNvSpPr>
            <a:spLocks noGrp="1"/>
          </p:cNvSpPr>
          <p:nvPr>
            <p:ph type="body" sz="quarter" idx="16" hasCustomPrompt="1"/>
          </p:nvPr>
        </p:nvSpPr>
        <p:spPr>
          <a:xfrm>
            <a:off x="530929" y="2650498"/>
            <a:ext cx="4467931" cy="404813"/>
          </a:xfrm>
          <a:solidFill>
            <a:schemeClr val="accent2"/>
          </a:solidFill>
          <a:ln>
            <a:noFill/>
          </a:ln>
        </p:spPr>
        <p:txBody>
          <a:bodyPr anchor="ctr">
            <a:normAutofit/>
          </a:bodyPr>
          <a:lstStyle>
            <a:lvl1pPr marL="0" indent="0">
              <a:buNone/>
              <a:defRPr sz="1200">
                <a:solidFill>
                  <a:schemeClr val="bg1"/>
                </a:solidFill>
              </a:defRPr>
            </a:lvl1pPr>
          </a:lstStyle>
          <a:p>
            <a:pPr lvl="0"/>
            <a:r>
              <a:rPr lang="fr-FR" dirty="0"/>
              <a:t>Ajoutez une légende</a:t>
            </a:r>
            <a:endParaRPr lang="fr-CA" dirty="0"/>
          </a:p>
        </p:txBody>
      </p:sp>
      <p:sp>
        <p:nvSpPr>
          <p:cNvPr id="14" name="Espace réservé du texte 2"/>
          <p:cNvSpPr>
            <a:spLocks noGrp="1"/>
          </p:cNvSpPr>
          <p:nvPr>
            <p:ph type="body" sz="quarter" idx="17" hasCustomPrompt="1"/>
          </p:nvPr>
        </p:nvSpPr>
        <p:spPr>
          <a:xfrm>
            <a:off x="5148502" y="2650497"/>
            <a:ext cx="4467931" cy="404813"/>
          </a:xfrm>
          <a:solidFill>
            <a:schemeClr val="accent2"/>
          </a:solidFill>
          <a:ln>
            <a:noFill/>
          </a:ln>
        </p:spPr>
        <p:txBody>
          <a:bodyPr anchor="ctr">
            <a:normAutofit/>
          </a:bodyPr>
          <a:lstStyle>
            <a:lvl1pPr marL="0" indent="0">
              <a:buNone/>
              <a:defRPr sz="1200">
                <a:solidFill>
                  <a:schemeClr val="bg1"/>
                </a:solidFill>
              </a:defRPr>
            </a:lvl1pPr>
          </a:lstStyle>
          <a:p>
            <a:pPr lvl="0"/>
            <a:r>
              <a:rPr lang="fr-FR" dirty="0"/>
              <a:t>Ajoutez une légende</a:t>
            </a:r>
            <a:endParaRPr lang="fr-CA" dirty="0"/>
          </a:p>
        </p:txBody>
      </p:sp>
      <p:sp>
        <p:nvSpPr>
          <p:cNvPr id="16" name="Espace réservé du texte 2"/>
          <p:cNvSpPr>
            <a:spLocks noGrp="1"/>
          </p:cNvSpPr>
          <p:nvPr>
            <p:ph type="body" sz="quarter" idx="18" hasCustomPrompt="1"/>
          </p:nvPr>
        </p:nvSpPr>
        <p:spPr>
          <a:xfrm>
            <a:off x="530929" y="4842454"/>
            <a:ext cx="4467931" cy="404813"/>
          </a:xfrm>
          <a:solidFill>
            <a:schemeClr val="accent2"/>
          </a:solidFill>
          <a:ln>
            <a:noFill/>
          </a:ln>
        </p:spPr>
        <p:txBody>
          <a:bodyPr anchor="ctr">
            <a:normAutofit/>
          </a:bodyPr>
          <a:lstStyle>
            <a:lvl1pPr marL="0" indent="0">
              <a:buNone/>
              <a:defRPr sz="1200">
                <a:solidFill>
                  <a:schemeClr val="bg1"/>
                </a:solidFill>
              </a:defRPr>
            </a:lvl1pPr>
          </a:lstStyle>
          <a:p>
            <a:pPr lvl="0"/>
            <a:r>
              <a:rPr lang="fr-FR" dirty="0"/>
              <a:t>Ajoutez une légende</a:t>
            </a:r>
            <a:endParaRPr lang="fr-CA" dirty="0"/>
          </a:p>
        </p:txBody>
      </p:sp>
      <p:sp>
        <p:nvSpPr>
          <p:cNvPr id="17" name="Espace réservé du texte 2"/>
          <p:cNvSpPr>
            <a:spLocks noGrp="1"/>
          </p:cNvSpPr>
          <p:nvPr>
            <p:ph type="body" sz="quarter" idx="19" hasCustomPrompt="1"/>
          </p:nvPr>
        </p:nvSpPr>
        <p:spPr>
          <a:xfrm>
            <a:off x="5148502" y="4842453"/>
            <a:ext cx="4467931" cy="404813"/>
          </a:xfrm>
          <a:solidFill>
            <a:schemeClr val="accent2"/>
          </a:solidFill>
          <a:ln>
            <a:noFill/>
          </a:ln>
        </p:spPr>
        <p:txBody>
          <a:bodyPr anchor="ctr">
            <a:normAutofit/>
          </a:bodyPr>
          <a:lstStyle>
            <a:lvl1pPr marL="0" indent="0">
              <a:buNone/>
              <a:defRPr sz="1200">
                <a:solidFill>
                  <a:schemeClr val="bg1"/>
                </a:solidFill>
              </a:defRPr>
            </a:lvl1pPr>
          </a:lstStyle>
          <a:p>
            <a:pPr lvl="0"/>
            <a:r>
              <a:rPr lang="fr-FR" dirty="0"/>
              <a:t>Ajoutez une légende</a:t>
            </a:r>
            <a:endParaRPr lang="fr-CA" dirty="0"/>
          </a:p>
        </p:txBody>
      </p:sp>
    </p:spTree>
    <p:extLst>
      <p:ext uri="{BB962C8B-B14F-4D97-AF65-F5344CB8AC3E}">
        <p14:creationId xmlns:p14="http://schemas.microsoft.com/office/powerpoint/2010/main" val="173013499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32000" y="485192"/>
            <a:ext cx="9096000" cy="827486"/>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532000" y="1517877"/>
            <a:ext cx="9096000" cy="324779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544000" y="5384996"/>
            <a:ext cx="2370667" cy="136800"/>
          </a:xfrm>
          <a:prstGeom prst="rect">
            <a:avLst/>
          </a:prstGeom>
        </p:spPr>
        <p:txBody>
          <a:bodyPr vert="horz" lIns="91440" tIns="45720" rIns="91440" bIns="45720" rtlCol="0" anchor="ctr"/>
          <a:lstStyle>
            <a:lvl1pPr algn="l">
              <a:defRPr sz="670">
                <a:solidFill>
                  <a:schemeClr val="accent2"/>
                </a:solidFill>
              </a:defRPr>
            </a:lvl1pPr>
          </a:lstStyle>
          <a:p>
            <a:fld id="{98FD3BE9-B61A-496B-9E53-6BE29CAA7F7D}" type="datetime3">
              <a:rPr lang="fr-CA" noProof="0" smtClean="0"/>
              <a:pPr/>
              <a:t>25/06/26</a:t>
            </a:fld>
            <a:endParaRPr lang="fr-CA" noProof="0" dirty="0"/>
          </a:p>
        </p:txBody>
      </p:sp>
      <p:sp>
        <p:nvSpPr>
          <p:cNvPr id="5" name="Espace réservé du pied de page 4"/>
          <p:cNvSpPr>
            <a:spLocks noGrp="1"/>
          </p:cNvSpPr>
          <p:nvPr>
            <p:ph type="ftr" sz="quarter" idx="3"/>
          </p:nvPr>
        </p:nvSpPr>
        <p:spPr>
          <a:xfrm>
            <a:off x="3471334" y="5384996"/>
            <a:ext cx="3217333" cy="136800"/>
          </a:xfrm>
          <a:prstGeom prst="rect">
            <a:avLst/>
          </a:prstGeom>
        </p:spPr>
        <p:txBody>
          <a:bodyPr vert="horz" lIns="91440" tIns="45720" rIns="91440" bIns="45720" rtlCol="0" anchor="ctr"/>
          <a:lstStyle>
            <a:lvl1pPr algn="ctr">
              <a:defRPr sz="670">
                <a:solidFill>
                  <a:schemeClr val="accent2"/>
                </a:solidFill>
              </a:defRPr>
            </a:lvl1pPr>
          </a:lstStyle>
          <a:p>
            <a:endParaRPr lang="fr-CA" noProof="0" dirty="0"/>
          </a:p>
        </p:txBody>
      </p:sp>
      <p:sp>
        <p:nvSpPr>
          <p:cNvPr id="6" name="Espace réservé du numéro de diapositive 5"/>
          <p:cNvSpPr>
            <a:spLocks noGrp="1"/>
          </p:cNvSpPr>
          <p:nvPr>
            <p:ph type="sldNum" sz="quarter" idx="4"/>
          </p:nvPr>
        </p:nvSpPr>
        <p:spPr>
          <a:xfrm>
            <a:off x="9112000" y="5384996"/>
            <a:ext cx="516000" cy="136800"/>
          </a:xfrm>
          <a:prstGeom prst="rect">
            <a:avLst/>
          </a:prstGeom>
        </p:spPr>
        <p:txBody>
          <a:bodyPr vert="horz" lIns="91440" tIns="45720" rIns="91440" bIns="45720" rtlCol="0" anchor="ctr"/>
          <a:lstStyle>
            <a:lvl1pPr algn="r">
              <a:defRPr sz="670">
                <a:solidFill>
                  <a:schemeClr val="accent2"/>
                </a:solidFill>
              </a:defRPr>
            </a:lvl1pPr>
          </a:lstStyle>
          <a:p>
            <a:fld id="{77B8E65F-5E3F-4E73-B056-4D0181456FB2}" type="slidenum">
              <a:rPr lang="fr-CA" noProof="0" smtClean="0"/>
              <a:pPr/>
              <a:t>‹N°›</a:t>
            </a:fld>
            <a:endParaRPr lang="fr-CA" noProof="0" dirty="0"/>
          </a:p>
        </p:txBody>
      </p:sp>
      <p:pic>
        <p:nvPicPr>
          <p:cNvPr id="7" name="Image 6"/>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7" r:id="rId10"/>
    <p:sldLayoutId id="2147483668" r:id="rId11"/>
    <p:sldLayoutId id="2147483669" r:id="rId12"/>
    <p:sldLayoutId id="2147483670" r:id="rId13"/>
    <p:sldLayoutId id="2147483673" r:id="rId14"/>
    <p:sldLayoutId id="2147483674" r:id="rId15"/>
  </p:sldLayoutIdLst>
  <p:hf hdr="0"/>
  <p:txStyles>
    <p:titleStyle>
      <a:lvl1pPr algn="l" defTabSz="914400" rtl="0" eaLnBrk="1" latinLnBrk="0" hangingPunct="1">
        <a:spcBef>
          <a:spcPct val="0"/>
        </a:spcBef>
        <a:buNone/>
        <a:defRPr sz="2600" b="1" kern="1200">
          <a:solidFill>
            <a:schemeClr val="bg1"/>
          </a:solidFill>
          <a:latin typeface="+mj-lt"/>
          <a:ea typeface="+mj-ea"/>
          <a:cs typeface="+mj-cs"/>
        </a:defRPr>
      </a:lvl1pPr>
    </p:titleStyle>
    <p:bodyStyle>
      <a:lvl1pPr marL="1548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1pPr>
      <a:lvl2pPr marL="453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2pPr>
      <a:lvl3pPr marL="752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3pPr>
      <a:lvl4pPr marL="1047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4pPr>
      <a:lvl5pPr marL="1346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20.png"/><Relationship Id="rId5" Type="http://schemas.openxmlformats.org/officeDocument/2006/relationships/slide" Target="slide3.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3.xml"/><Relationship Id="rId5" Type="http://schemas.openxmlformats.org/officeDocument/2006/relationships/tags" Target="../tags/tag5.xml"/><Relationship Id="rId4" Type="http://schemas.openxmlformats.org/officeDocument/2006/relationships/tags" Target="../tags/tag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notesSlide" Target="../notesSlides/notesSlide5.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11.xml"/><Relationship Id="rId5" Type="http://schemas.openxmlformats.org/officeDocument/2006/relationships/tags" Target="../tags/tag10.xml"/><Relationship Id="rId4"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hyperlink" Target="https://ventor.tech/warehouse-management/overview-of-picking-optimization-methods-for-your-warehous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hyperlink" Target="https://www.porttechnology.org/news/wef_selects_warehouse_automation_technology_pioneer/"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3.wmf"/></Relationships>
</file>

<file path=ppt/slides/_rels/slide3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CA" dirty="0"/>
              <a:t>OPER10500</a:t>
            </a:r>
            <a:br>
              <a:rPr lang="fr-CA" dirty="0"/>
            </a:br>
            <a:r>
              <a:rPr lang="fr-CA" dirty="0"/>
              <a:t>Gestion des opérations</a:t>
            </a:r>
          </a:p>
        </p:txBody>
      </p:sp>
      <p:sp>
        <p:nvSpPr>
          <p:cNvPr id="3" name="Subtitle 2"/>
          <p:cNvSpPr>
            <a:spLocks noGrp="1"/>
          </p:cNvSpPr>
          <p:nvPr>
            <p:ph type="subTitle" idx="1"/>
          </p:nvPr>
        </p:nvSpPr>
        <p:spPr/>
        <p:txBody>
          <a:bodyPr>
            <a:normAutofit/>
          </a:bodyPr>
          <a:lstStyle/>
          <a:p>
            <a:r>
              <a:rPr lang="fr-CA" dirty="0"/>
              <a:t>Approvisionnement et logistique</a:t>
            </a:r>
          </a:p>
        </p:txBody>
      </p:sp>
      <p:sp>
        <p:nvSpPr>
          <p:cNvPr id="5" name="Footer Placeholder 4"/>
          <p:cNvSpPr>
            <a:spLocks noGrp="1"/>
          </p:cNvSpPr>
          <p:nvPr>
            <p:ph type="ftr" sz="quarter" idx="14"/>
          </p:nvPr>
        </p:nvSpPr>
        <p:spPr>
          <a:xfrm>
            <a:off x="532000" y="5027390"/>
            <a:ext cx="5353729" cy="200055"/>
          </a:xfrm>
        </p:spPr>
        <p:txBody>
          <a:bodyPr/>
          <a:lstStyle/>
          <a:p>
            <a:r>
              <a:rPr lang="fr-CA" sz="1050" dirty="0"/>
              <a:t>© 2025 Département de gestion des opérations et de la logistique</a:t>
            </a:r>
          </a:p>
        </p:txBody>
      </p:sp>
    </p:spTree>
    <p:extLst>
      <p:ext uri="{BB962C8B-B14F-4D97-AF65-F5344CB8AC3E}">
        <p14:creationId xmlns:p14="http://schemas.microsoft.com/office/powerpoint/2010/main" val="1857756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Carte conceptuelle</a:t>
            </a:r>
          </a:p>
        </p:txBody>
      </p:sp>
      <p:pic>
        <p:nvPicPr>
          <p:cNvPr id="9" name="Image 8" descr="Une image contenant capture d’écran&#10;&#10;Description générée automatiquement">
            <a:extLst>
              <a:ext uri="{FF2B5EF4-FFF2-40B4-BE49-F238E27FC236}">
                <a16:creationId xmlns:a16="http://schemas.microsoft.com/office/drawing/2014/main" id="{8906C563-E5F2-4CC7-9AC3-305B64E401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2587" y="1395839"/>
            <a:ext cx="6404372" cy="3961223"/>
          </a:xfrm>
          <a:prstGeom prst="rect">
            <a:avLst/>
          </a:prstGeom>
        </p:spPr>
      </p:pic>
      <mc:AlternateContent xmlns:mc="http://schemas.openxmlformats.org/markup-compatibility/2006" xmlns:pslz="http://schemas.microsoft.com/office/powerpoint/2016/slidezoom">
        <mc:Choice Requires="pslz">
          <p:graphicFrame>
            <p:nvGraphicFramePr>
              <p:cNvPr id="5" name="Zoom de diapositive 4">
                <a:extLst>
                  <a:ext uri="{FF2B5EF4-FFF2-40B4-BE49-F238E27FC236}">
                    <a16:creationId xmlns:a16="http://schemas.microsoft.com/office/drawing/2014/main" id="{49F2BED5-F837-4330-B8CE-792162E4C6D1}"/>
                  </a:ext>
                </a:extLst>
              </p:cNvPr>
              <p:cNvGraphicFramePr>
                <a:graphicFrameLocks noChangeAspect="1"/>
              </p:cNvGraphicFramePr>
              <p:nvPr>
                <p:extLst>
                  <p:ext uri="{D42A27DB-BD31-4B8C-83A1-F6EECF244321}">
                    <p14:modId xmlns:p14="http://schemas.microsoft.com/office/powerpoint/2010/main" val="3042826851"/>
                  </p:ext>
                </p:extLst>
              </p:nvPr>
            </p:nvGraphicFramePr>
            <p:xfrm>
              <a:off x="7162373" y="4194851"/>
              <a:ext cx="1859537" cy="1162211"/>
            </p:xfrm>
            <a:graphic>
              <a:graphicData uri="http://schemas.microsoft.com/office/powerpoint/2016/slidezoom">
                <pslz:sldZm>
                  <pslz:sldZmObj sldId="410" cId="2896622695">
                    <pslz:zmPr id="{7221AACA-9E2B-418A-9E63-566169D7457C}" returnToParent="0" transitionDur="1000">
                      <p166:blipFill xmlns:p166="http://schemas.microsoft.com/office/powerpoint/2016/6/main">
                        <a:blip r:embed="rId4"/>
                        <a:stretch>
                          <a:fillRect/>
                        </a:stretch>
                      </p166:blipFill>
                      <p166:spPr xmlns:p166="http://schemas.microsoft.com/office/powerpoint/2016/6/main">
                        <a:xfrm>
                          <a:off x="0" y="0"/>
                          <a:ext cx="1859537" cy="1162211"/>
                        </a:xfrm>
                        <a:prstGeom prst="rect">
                          <a:avLst/>
                        </a:prstGeom>
                        <a:ln w="3175">
                          <a:solidFill>
                            <a:prstClr val="ltGray"/>
                          </a:solidFill>
                        </a:ln>
                      </p166:spPr>
                    </pslz:zmPr>
                  </pslz:sldZmObj>
                </pslz:sldZm>
              </a:graphicData>
            </a:graphic>
          </p:graphicFrame>
        </mc:Choice>
        <mc:Fallback xmlns="">
          <p:pic>
            <p:nvPicPr>
              <p:cNvPr id="5" name="Zoom de diapositive 4">
                <a:hlinkClick r:id="rId5" action="ppaction://hlinksldjump"/>
                <a:extLst>
                  <a:ext uri="{FF2B5EF4-FFF2-40B4-BE49-F238E27FC236}">
                    <a16:creationId xmlns:a16="http://schemas.microsoft.com/office/drawing/2014/main" id="{49F2BED5-F837-4330-B8CE-792162E4C6D1}"/>
                  </a:ext>
                </a:extLst>
              </p:cNvPr>
              <p:cNvPicPr>
                <a:picLocks noGrp="1" noRot="1" noChangeAspect="1" noMove="1" noResize="1" noEditPoints="1" noAdjustHandles="1" noChangeArrowheads="1" noChangeShapeType="1"/>
              </p:cNvPicPr>
              <p:nvPr/>
            </p:nvPicPr>
            <p:blipFill>
              <a:blip r:embed="rId6"/>
              <a:stretch>
                <a:fillRect/>
              </a:stretch>
            </p:blipFill>
            <p:spPr>
              <a:xfrm>
                <a:off x="7162373" y="4194851"/>
                <a:ext cx="1859537" cy="1162211"/>
              </a:xfrm>
              <a:prstGeom prst="rect">
                <a:avLst/>
              </a:prstGeom>
              <a:ln w="3175">
                <a:solidFill>
                  <a:prstClr val="ltGray"/>
                </a:solidFill>
              </a:ln>
            </p:spPr>
          </p:pic>
        </mc:Fallback>
      </mc:AlternateContent>
    </p:spTree>
    <p:extLst>
      <p:ext uri="{BB962C8B-B14F-4D97-AF65-F5344CB8AC3E}">
        <p14:creationId xmlns:p14="http://schemas.microsoft.com/office/powerpoint/2010/main" val="2269215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4294967295"/>
          </p:nvPr>
        </p:nvPicPr>
        <p:blipFill rotWithShape="1">
          <a:blip r:embed="rId2" cstate="print">
            <a:extLst>
              <a:ext uri="{28A0092B-C50C-407E-A947-70E740481C1C}">
                <a14:useLocalDpi xmlns:a14="http://schemas.microsoft.com/office/drawing/2010/main" val="0"/>
              </a:ext>
            </a:extLst>
          </a:blip>
          <a:srcRect l="3030" t="26841" r="2643" b="25627"/>
          <a:stretch/>
        </p:blipFill>
        <p:spPr>
          <a:xfrm>
            <a:off x="591128" y="1514476"/>
            <a:ext cx="8869395" cy="3454052"/>
          </a:xfrm>
        </p:spPr>
      </p:pic>
      <p:sp>
        <p:nvSpPr>
          <p:cNvPr id="5" name="Titre 4">
            <a:extLst>
              <a:ext uri="{FF2B5EF4-FFF2-40B4-BE49-F238E27FC236}">
                <a16:creationId xmlns:a16="http://schemas.microsoft.com/office/drawing/2014/main" id="{469C6636-75A8-495A-9717-888F1D6B8F6F}"/>
              </a:ext>
            </a:extLst>
          </p:cNvPr>
          <p:cNvSpPr>
            <a:spLocks noGrp="1"/>
          </p:cNvSpPr>
          <p:nvPr>
            <p:ph type="title"/>
          </p:nvPr>
        </p:nvSpPr>
        <p:spPr/>
        <p:txBody>
          <a:bodyPr/>
          <a:lstStyle/>
          <a:p>
            <a:r>
              <a:rPr lang="fr-CA" dirty="0"/>
              <a:t>Carte conceptuelle</a:t>
            </a:r>
          </a:p>
        </p:txBody>
      </p:sp>
    </p:spTree>
    <p:extLst>
      <p:ext uri="{BB962C8B-B14F-4D97-AF65-F5344CB8AC3E}">
        <p14:creationId xmlns:p14="http://schemas.microsoft.com/office/powerpoint/2010/main" val="2896622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p:txBody>
          <a:bodyPr/>
          <a:lstStyle/>
          <a:p>
            <a:r>
              <a:rPr lang="fr-CA" dirty="0"/>
              <a:t>La fonction approvisionnement</a:t>
            </a:r>
          </a:p>
        </p:txBody>
      </p:sp>
      <p:graphicFrame>
        <p:nvGraphicFramePr>
          <p:cNvPr id="11" name="Diagramme 10">
            <a:extLst>
              <a:ext uri="{FF2B5EF4-FFF2-40B4-BE49-F238E27FC236}">
                <a16:creationId xmlns:a16="http://schemas.microsoft.com/office/drawing/2014/main" id="{A557E25E-F3B9-4455-953F-3BC3930A6BAE}"/>
              </a:ext>
            </a:extLst>
          </p:cNvPr>
          <p:cNvGraphicFramePr/>
          <p:nvPr/>
        </p:nvGraphicFramePr>
        <p:xfrm>
          <a:off x="1693333" y="1005122"/>
          <a:ext cx="6773333" cy="45155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 coins arrondis 2">
            <a:extLst>
              <a:ext uri="{FF2B5EF4-FFF2-40B4-BE49-F238E27FC236}">
                <a16:creationId xmlns:a16="http://schemas.microsoft.com/office/drawing/2014/main" id="{492A6875-6A9A-3CE6-0056-F3F678A4FA21}"/>
              </a:ext>
            </a:extLst>
          </p:cNvPr>
          <p:cNvSpPr/>
          <p:nvPr/>
        </p:nvSpPr>
        <p:spPr>
          <a:xfrm>
            <a:off x="7368881" y="2987999"/>
            <a:ext cx="2195570" cy="9822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En fonction des besoins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359831" y="239151"/>
            <a:ext cx="8221461" cy="897698"/>
          </a:xfrm>
        </p:spPr>
        <p:txBody>
          <a:bodyPr anchor="ctr">
            <a:normAutofit/>
          </a:bodyPr>
          <a:lstStyle/>
          <a:p>
            <a:r>
              <a:rPr lang="fr-CA" dirty="0"/>
              <a:t>L’importance stratégique de l’approvisionnement</a:t>
            </a:r>
          </a:p>
        </p:txBody>
      </p:sp>
      <p:sp>
        <p:nvSpPr>
          <p:cNvPr id="277507" name="Rectangle 3"/>
          <p:cNvSpPr>
            <a:spLocks noGrp="1" noChangeArrowheads="1"/>
          </p:cNvSpPr>
          <p:nvPr>
            <p:ph type="body" sz="half" idx="1"/>
          </p:nvPr>
        </p:nvSpPr>
        <p:spPr>
          <a:xfrm>
            <a:off x="359831" y="1350498"/>
            <a:ext cx="5576735" cy="3967627"/>
          </a:xfrm>
        </p:spPr>
        <p:txBody>
          <a:bodyPr>
            <a:normAutofit/>
          </a:bodyPr>
          <a:lstStyle/>
          <a:p>
            <a:pPr marL="0" indent="0">
              <a:buNone/>
            </a:pPr>
            <a:r>
              <a:rPr lang="fr-CA" sz="1800" dirty="0"/>
              <a:t>Une importance croissante :</a:t>
            </a:r>
          </a:p>
          <a:p>
            <a:pPr marL="538163" lvl="1" indent="-239713">
              <a:spcBef>
                <a:spcPts val="332"/>
              </a:spcBef>
            </a:pPr>
            <a:r>
              <a:rPr lang="fr-CA" sz="1800" dirty="0"/>
              <a:t>1950 : Un produit fini était composé de 20 % de coûts d’approvisionnement et de 80 % de coûts de fabrication (main d’œuvre).</a:t>
            </a:r>
          </a:p>
          <a:p>
            <a:pPr marL="298450" lvl="1" indent="0">
              <a:spcBef>
                <a:spcPts val="332"/>
              </a:spcBef>
              <a:buNone/>
            </a:pPr>
            <a:endParaRPr lang="fr-CA" sz="1800" dirty="0"/>
          </a:p>
          <a:p>
            <a:pPr marL="538163" lvl="1" indent="-239713">
              <a:spcBef>
                <a:spcPts val="332"/>
              </a:spcBef>
            </a:pPr>
            <a:r>
              <a:rPr lang="fr-CA" sz="1800" dirty="0"/>
              <a:t>Aujourd’hui : Un produit fini est composé de 60 à 80 % de coûts d’approvisionnement et de 20 à 40 % de coûts de fabrication (automatisation).</a:t>
            </a:r>
          </a:p>
          <a:p>
            <a:pPr lvl="1"/>
            <a:endParaRPr lang="fr-CA" sz="1800" dirty="0"/>
          </a:p>
          <a:p>
            <a:pPr marL="0" indent="0" algn="ctr">
              <a:buNone/>
            </a:pPr>
            <a:r>
              <a:rPr lang="fr-CA" sz="1800" b="1" dirty="0">
                <a:solidFill>
                  <a:schemeClr val="accent2"/>
                </a:solidFill>
              </a:rPr>
              <a:t>On a réduit les coûts de main-d’œuvre et augmenté les coûts d’achat et de sous-traitance.</a:t>
            </a:r>
          </a:p>
        </p:txBody>
      </p:sp>
      <p:pic>
        <p:nvPicPr>
          <p:cNvPr id="1026" name="Picture 2" descr="Acheteur, Matières Premières">
            <a:extLst>
              <a:ext uri="{FF2B5EF4-FFF2-40B4-BE49-F238E27FC236}">
                <a16:creationId xmlns:a16="http://schemas.microsoft.com/office/drawing/2014/main" id="{ADF50C96-5856-C501-280B-EDBB35731A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15" r="28899" b="3"/>
          <a:stretch/>
        </p:blipFill>
        <p:spPr bwMode="auto">
          <a:xfrm>
            <a:off x="6161649" y="1508125"/>
            <a:ext cx="3638520" cy="3378849"/>
          </a:xfrm>
          <a:prstGeom prst="rect">
            <a:avLst/>
          </a:prstGeom>
          <a:solidFill>
            <a:srgbClr val="FFFFFF"/>
          </a:solid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3401278-A1E9-4E30-9B26-7DA73FFEDA03}"/>
              </a:ext>
            </a:extLst>
          </p:cNvPr>
          <p:cNvPicPr>
            <a:picLocks noChangeAspect="1"/>
          </p:cNvPicPr>
          <p:nvPr>
            <p:custDataLst>
              <p:tags r:id="rId1"/>
            </p:custDataLst>
          </p:nvPr>
        </p:nvPicPr>
        <p:blipFill>
          <a:blip r:embed="rId7">
            <a:alphaModFix amt="42000"/>
          </a:blip>
          <a:stretch>
            <a:fillRect/>
          </a:stretch>
        </p:blipFill>
        <p:spPr>
          <a:xfrm>
            <a:off x="0" y="0"/>
            <a:ext cx="10160000" cy="5715000"/>
          </a:xfrm>
          <a:prstGeom prst="rect">
            <a:avLst/>
          </a:prstGeom>
        </p:spPr>
      </p:pic>
      <p:sp>
        <p:nvSpPr>
          <p:cNvPr id="13314" name="Rectangle 2"/>
          <p:cNvSpPr>
            <a:spLocks noGrp="1" noChangeArrowheads="1"/>
          </p:cNvSpPr>
          <p:nvPr>
            <p:ph type="title"/>
            <p:custDataLst>
              <p:tags r:id="rId2"/>
            </p:custDataLst>
          </p:nvPr>
        </p:nvSpPr>
        <p:spPr>
          <a:xfrm>
            <a:off x="699448" y="322026"/>
            <a:ext cx="8961282" cy="611424"/>
          </a:xfrm>
          <a:solidFill>
            <a:schemeClr val="accent1"/>
          </a:solidFill>
        </p:spPr>
        <p:txBody>
          <a:bodyPr vert="horz" lIns="76200" tIns="38100" rIns="76200" bIns="38100" rtlCol="0" anchor="ctr">
            <a:noAutofit/>
          </a:bodyPr>
          <a:lstStyle/>
          <a:p>
            <a:r>
              <a:rPr lang="fr-CA" altLang="fr-FR" sz="2667" dirty="0"/>
              <a:t>L’importance stratégique de l’approvisionnement</a:t>
            </a:r>
          </a:p>
        </p:txBody>
      </p:sp>
      <p:sp>
        <p:nvSpPr>
          <p:cNvPr id="326659" name="Rectangle 3"/>
          <p:cNvSpPr>
            <a:spLocks noGrp="1" noChangeArrowheads="1"/>
          </p:cNvSpPr>
          <p:nvPr>
            <p:ph type="body" sz="half" idx="1"/>
            <p:custDataLst>
              <p:tags r:id="rId3"/>
            </p:custDataLst>
          </p:nvPr>
        </p:nvSpPr>
        <p:spPr>
          <a:xfrm>
            <a:off x="1952625" y="1205174"/>
            <a:ext cx="3848100" cy="2867023"/>
          </a:xfrm>
        </p:spPr>
        <p:txBody>
          <a:bodyPr>
            <a:noAutofit/>
          </a:bodyPr>
          <a:lstStyle/>
          <a:p>
            <a:pPr marL="0" indent="0" algn="ctr">
              <a:buNone/>
              <a:defRPr/>
            </a:pPr>
            <a:r>
              <a:rPr lang="fr-CA" sz="2333" b="1" dirty="0">
                <a:solidFill>
                  <a:schemeClr val="accent6"/>
                </a:solidFill>
              </a:rPr>
              <a:t>L’effet de levier de l’approvisionnement</a:t>
            </a:r>
          </a:p>
          <a:p>
            <a:pPr marL="0" indent="0" algn="ctr">
              <a:buNone/>
              <a:defRPr/>
            </a:pPr>
            <a:endParaRPr lang="fr-CA" sz="1667" dirty="0">
              <a:solidFill>
                <a:schemeClr val="accent6"/>
              </a:solidFill>
            </a:endParaRPr>
          </a:p>
          <a:p>
            <a:pPr marL="0" indent="0">
              <a:buNone/>
              <a:defRPr/>
            </a:pPr>
            <a:r>
              <a:rPr lang="fr-CA" sz="1667" dirty="0"/>
              <a:t>Les coûts des achats peuvent représenter une proportion importante, entre </a:t>
            </a:r>
            <a:r>
              <a:rPr lang="fr-CA" sz="1667" b="1" dirty="0"/>
              <a:t>60 et 80%, </a:t>
            </a:r>
            <a:r>
              <a:rPr lang="fr-CA" sz="1667" dirty="0"/>
              <a:t>du </a:t>
            </a:r>
            <a:r>
              <a:rPr lang="fr-CA" sz="1667" b="1" dirty="0"/>
              <a:t>coût de revient total </a:t>
            </a:r>
            <a:r>
              <a:rPr lang="fr-CA" sz="1667" dirty="0"/>
              <a:t>d’un produit fini. </a:t>
            </a:r>
          </a:p>
          <a:p>
            <a:pPr marL="227533" indent="-227533">
              <a:defRPr/>
            </a:pPr>
            <a:endParaRPr lang="fr-CA" sz="1667" dirty="0"/>
          </a:p>
          <a:p>
            <a:pPr marL="333362" lvl="1" indent="-181233">
              <a:buNone/>
              <a:defRPr/>
            </a:pPr>
            <a:endParaRPr lang="fr-CA" sz="1667" b="1" dirty="0"/>
          </a:p>
        </p:txBody>
      </p:sp>
      <p:sp>
        <p:nvSpPr>
          <p:cNvPr id="11" name="ZoneTexte 10">
            <a:extLst>
              <a:ext uri="{FF2B5EF4-FFF2-40B4-BE49-F238E27FC236}">
                <a16:creationId xmlns:a16="http://schemas.microsoft.com/office/drawing/2014/main" id="{B3F3F444-8FA7-47A9-A97A-9DA5EAF8FD24}"/>
              </a:ext>
            </a:extLst>
          </p:cNvPr>
          <p:cNvSpPr txBox="1"/>
          <p:nvPr>
            <p:custDataLst>
              <p:tags r:id="rId4"/>
            </p:custDataLst>
          </p:nvPr>
        </p:nvSpPr>
        <p:spPr>
          <a:xfrm>
            <a:off x="4829175" y="3997673"/>
            <a:ext cx="4831556" cy="707886"/>
          </a:xfrm>
          <a:prstGeom prst="rect">
            <a:avLst/>
          </a:prstGeom>
          <a:noFill/>
        </p:spPr>
        <p:txBody>
          <a:bodyPr wrap="square">
            <a:spAutoFit/>
          </a:bodyPr>
          <a:lstStyle/>
          <a:p>
            <a:pPr marL="227533" indent="-227533">
              <a:defRPr/>
            </a:pPr>
            <a:r>
              <a:rPr lang="fr-CA" sz="2000" dirty="0"/>
              <a:t>Les variations de coûts d’achat ont donc des impacts directs sur les bénéfices.</a:t>
            </a:r>
          </a:p>
        </p:txBody>
      </p:sp>
      <p:sp>
        <p:nvSpPr>
          <p:cNvPr id="12" name="ZoneTexte 11">
            <a:extLst>
              <a:ext uri="{FF2B5EF4-FFF2-40B4-BE49-F238E27FC236}">
                <a16:creationId xmlns:a16="http://schemas.microsoft.com/office/drawing/2014/main" id="{08650BDD-0EDF-4887-8A9B-C5962D438DEC}"/>
              </a:ext>
            </a:extLst>
          </p:cNvPr>
          <p:cNvSpPr txBox="1"/>
          <p:nvPr>
            <p:custDataLst>
              <p:tags r:id="rId5"/>
            </p:custDataLst>
          </p:nvPr>
        </p:nvSpPr>
        <p:spPr>
          <a:xfrm>
            <a:off x="1" y="5535463"/>
            <a:ext cx="932509" cy="194990"/>
          </a:xfrm>
          <a:prstGeom prst="rect">
            <a:avLst/>
          </a:prstGeom>
          <a:noFill/>
        </p:spPr>
        <p:txBody>
          <a:bodyPr wrap="square">
            <a:spAutoFit/>
          </a:bodyPr>
          <a:lstStyle/>
          <a:p>
            <a:r>
              <a:rPr lang="fr-CA" sz="667" dirty="0">
                <a:latin typeface="Calibri" panose="020F0502020204030204" pitchFamily="34" charset="0"/>
                <a:ea typeface="Calibri" panose="020F0502020204030204" pitchFamily="34" charset="0"/>
              </a:rPr>
              <a:t>Image : Adobe Stock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73E0C-AC40-4239-A8FC-8422133565E9}"/>
              </a:ext>
            </a:extLst>
          </p:cNvPr>
          <p:cNvSpPr>
            <a:spLocks noGrp="1"/>
          </p:cNvSpPr>
          <p:nvPr>
            <p:ph type="title"/>
          </p:nvPr>
        </p:nvSpPr>
        <p:spPr/>
        <p:txBody>
          <a:bodyPr/>
          <a:lstStyle/>
          <a:p>
            <a:r>
              <a:rPr lang="fr-CA" dirty="0"/>
              <a:t>Effet de levier de l’approvisionnement</a:t>
            </a:r>
          </a:p>
        </p:txBody>
      </p:sp>
      <p:graphicFrame>
        <p:nvGraphicFramePr>
          <p:cNvPr id="3" name="Tableau 3">
            <a:extLst>
              <a:ext uri="{FF2B5EF4-FFF2-40B4-BE49-F238E27FC236}">
                <a16:creationId xmlns:a16="http://schemas.microsoft.com/office/drawing/2014/main" id="{A8966093-2842-4DC0-83B2-6C9E17E5F1D5}"/>
              </a:ext>
            </a:extLst>
          </p:cNvPr>
          <p:cNvGraphicFramePr>
            <a:graphicFrameLocks noGrp="1"/>
          </p:cNvGraphicFramePr>
          <p:nvPr>
            <p:extLst>
              <p:ext uri="{D42A27DB-BD31-4B8C-83A1-F6EECF244321}">
                <p14:modId xmlns:p14="http://schemas.microsoft.com/office/powerpoint/2010/main" val="362333092"/>
              </p:ext>
            </p:extLst>
          </p:nvPr>
        </p:nvGraphicFramePr>
        <p:xfrm>
          <a:off x="532000" y="1802784"/>
          <a:ext cx="4378760" cy="2382353"/>
        </p:xfrm>
        <a:graphic>
          <a:graphicData uri="http://schemas.openxmlformats.org/drawingml/2006/table">
            <a:tbl>
              <a:tblPr firstRow="1" bandRow="1">
                <a:tableStyleId>{C4B1156A-380E-4F78-BDF5-A606A8083BF9}</a:tableStyleId>
              </a:tblPr>
              <a:tblGrid>
                <a:gridCol w="1456994">
                  <a:extLst>
                    <a:ext uri="{9D8B030D-6E8A-4147-A177-3AD203B41FA5}">
                      <a16:colId xmlns:a16="http://schemas.microsoft.com/office/drawing/2014/main" val="1754718538"/>
                    </a:ext>
                  </a:extLst>
                </a:gridCol>
                <a:gridCol w="901217">
                  <a:extLst>
                    <a:ext uri="{9D8B030D-6E8A-4147-A177-3AD203B41FA5}">
                      <a16:colId xmlns:a16="http://schemas.microsoft.com/office/drawing/2014/main" val="2622098656"/>
                    </a:ext>
                  </a:extLst>
                </a:gridCol>
                <a:gridCol w="927302">
                  <a:extLst>
                    <a:ext uri="{9D8B030D-6E8A-4147-A177-3AD203B41FA5}">
                      <a16:colId xmlns:a16="http://schemas.microsoft.com/office/drawing/2014/main" val="1262064708"/>
                    </a:ext>
                  </a:extLst>
                </a:gridCol>
                <a:gridCol w="1093247">
                  <a:extLst>
                    <a:ext uri="{9D8B030D-6E8A-4147-A177-3AD203B41FA5}">
                      <a16:colId xmlns:a16="http://schemas.microsoft.com/office/drawing/2014/main" val="1519463965"/>
                    </a:ext>
                  </a:extLst>
                </a:gridCol>
              </a:tblGrid>
              <a:tr h="335090">
                <a:tc>
                  <a:txBody>
                    <a:bodyPr/>
                    <a:lstStyle/>
                    <a:p>
                      <a:endParaRPr lang="fr-CA" sz="1400" dirty="0"/>
                    </a:p>
                  </a:txBody>
                  <a:tcPr marL="68580" marR="68580" marT="34290" marB="34290">
                    <a:solidFill>
                      <a:schemeClr val="accent2">
                        <a:lumMod val="50000"/>
                      </a:schemeClr>
                    </a:solidFill>
                  </a:tcPr>
                </a:tc>
                <a:tc>
                  <a:txBody>
                    <a:bodyPr/>
                    <a:lstStyle/>
                    <a:p>
                      <a:pPr algn="ctr"/>
                      <a:r>
                        <a:rPr lang="fr-CA" sz="800" dirty="0"/>
                        <a:t>Coût unitaire</a:t>
                      </a:r>
                    </a:p>
                  </a:txBody>
                  <a:tcPr marL="68580" marR="68580" marT="34290" marB="34290" anchor="ctr">
                    <a:solidFill>
                      <a:srgbClr val="DEF1F2"/>
                    </a:solidFill>
                  </a:tcPr>
                </a:tc>
                <a:tc>
                  <a:txBody>
                    <a:bodyPr/>
                    <a:lstStyle/>
                    <a:p>
                      <a:pPr algn="ctr"/>
                      <a:r>
                        <a:rPr lang="fr-CA" sz="800" dirty="0"/>
                        <a:t>Total</a:t>
                      </a:r>
                    </a:p>
                  </a:txBody>
                  <a:tcPr marL="68580" marR="68580" marT="34290" marB="34290" anchor="ctr">
                    <a:solidFill>
                      <a:srgbClr val="DEF1F2"/>
                    </a:solidFill>
                  </a:tcPr>
                </a:tc>
                <a:tc>
                  <a:txBody>
                    <a:bodyPr/>
                    <a:lstStyle/>
                    <a:p>
                      <a:pPr algn="ctr"/>
                      <a:r>
                        <a:rPr lang="fr-CA" sz="800" dirty="0"/>
                        <a:t>Ratio</a:t>
                      </a:r>
                    </a:p>
                  </a:txBody>
                  <a:tcPr marL="68580" marR="68580" marT="34290" marB="34290" anchor="ctr">
                    <a:solidFill>
                      <a:srgbClr val="DEF1F2"/>
                    </a:solidFill>
                  </a:tcPr>
                </a:tc>
                <a:extLst>
                  <a:ext uri="{0D108BD9-81ED-4DB2-BD59-A6C34878D82A}">
                    <a16:rowId xmlns:a16="http://schemas.microsoft.com/office/drawing/2014/main" val="819439574"/>
                  </a:ext>
                </a:extLst>
              </a:tr>
              <a:tr h="335090">
                <a:tc>
                  <a:txBody>
                    <a:bodyPr/>
                    <a:lstStyle/>
                    <a:p>
                      <a:r>
                        <a:rPr lang="fr-CA" sz="800" dirty="0"/>
                        <a:t>Ventes</a:t>
                      </a:r>
                    </a:p>
                  </a:txBody>
                  <a:tcPr marL="68580" marR="68580" marT="34290" marB="34290" anchor="ctr">
                    <a:solidFill>
                      <a:srgbClr val="FFFFCC"/>
                    </a:solidFill>
                  </a:tcPr>
                </a:tc>
                <a:tc>
                  <a:txBody>
                    <a:bodyPr/>
                    <a:lstStyle/>
                    <a:p>
                      <a:pPr algn="ctr"/>
                      <a:r>
                        <a:rPr lang="fr-CA" sz="800" dirty="0"/>
                        <a:t>6,00 $</a:t>
                      </a:r>
                    </a:p>
                  </a:txBody>
                  <a:tcPr marL="68580" marR="68580" marT="34290" marB="34290" anchor="ctr">
                    <a:noFill/>
                  </a:tcPr>
                </a:tc>
                <a:tc>
                  <a:txBody>
                    <a:bodyPr/>
                    <a:lstStyle/>
                    <a:p>
                      <a:pPr algn="ctr"/>
                      <a:r>
                        <a:rPr lang="fr-CA" sz="800" dirty="0"/>
                        <a:t>600 000 $</a:t>
                      </a:r>
                    </a:p>
                  </a:txBody>
                  <a:tcPr marL="68580" marR="68580" marT="34290" marB="34290" anchor="ctr">
                    <a:noFill/>
                  </a:tcPr>
                </a:tc>
                <a:tc>
                  <a:txBody>
                    <a:bodyPr/>
                    <a:lstStyle/>
                    <a:p>
                      <a:pPr algn="ctr"/>
                      <a:endParaRPr lang="fr-CA" sz="800" dirty="0"/>
                    </a:p>
                  </a:txBody>
                  <a:tcPr marL="68580" marR="68580" marT="34290" marB="34290" anchor="ctr">
                    <a:noFill/>
                  </a:tcPr>
                </a:tc>
                <a:extLst>
                  <a:ext uri="{0D108BD9-81ED-4DB2-BD59-A6C34878D82A}">
                    <a16:rowId xmlns:a16="http://schemas.microsoft.com/office/drawing/2014/main" val="520589872"/>
                  </a:ext>
                </a:extLst>
              </a:tr>
              <a:tr h="335090">
                <a:tc>
                  <a:txBody>
                    <a:bodyPr/>
                    <a:lstStyle/>
                    <a:p>
                      <a:r>
                        <a:rPr lang="fr-CA" sz="800" dirty="0"/>
                        <a:t>Achat de casquettes</a:t>
                      </a:r>
                    </a:p>
                  </a:txBody>
                  <a:tcPr marL="68580" marR="68580" marT="34290" marB="34290" anchor="ctr">
                    <a:solidFill>
                      <a:srgbClr val="FFFFCC"/>
                    </a:solidFill>
                  </a:tcPr>
                </a:tc>
                <a:tc>
                  <a:txBody>
                    <a:bodyPr/>
                    <a:lstStyle/>
                    <a:p>
                      <a:pPr algn="ctr"/>
                      <a:r>
                        <a:rPr lang="fr-CA" sz="800" dirty="0"/>
                        <a:t>(3,00 $)</a:t>
                      </a:r>
                    </a:p>
                  </a:txBody>
                  <a:tcPr marL="68580" marR="68580" marT="34290" marB="34290" anchor="ctr">
                    <a:noFill/>
                  </a:tcPr>
                </a:tc>
                <a:tc>
                  <a:txBody>
                    <a:bodyPr/>
                    <a:lstStyle/>
                    <a:p>
                      <a:pPr algn="ctr"/>
                      <a:r>
                        <a:rPr lang="fr-CA" sz="800" dirty="0"/>
                        <a:t>(300 000 $)</a:t>
                      </a:r>
                    </a:p>
                  </a:txBody>
                  <a:tcPr marL="68580" marR="68580" marT="34290" marB="34290" anchor="ctr">
                    <a:noFill/>
                  </a:tcPr>
                </a:tc>
                <a:tc>
                  <a:txBody>
                    <a:bodyPr/>
                    <a:lstStyle/>
                    <a:p>
                      <a:pPr algn="ctr"/>
                      <a:r>
                        <a:rPr lang="fr-CA" sz="800" dirty="0"/>
                        <a:t>(50 %)</a:t>
                      </a:r>
                    </a:p>
                  </a:txBody>
                  <a:tcPr marL="68580" marR="68580" marT="34290" marB="34290" anchor="ctr">
                    <a:noFill/>
                  </a:tcPr>
                </a:tc>
                <a:extLst>
                  <a:ext uri="{0D108BD9-81ED-4DB2-BD59-A6C34878D82A}">
                    <a16:rowId xmlns:a16="http://schemas.microsoft.com/office/drawing/2014/main" val="3894892712"/>
                  </a:ext>
                </a:extLst>
              </a:tr>
              <a:tr h="371813">
                <a:tc>
                  <a:txBody>
                    <a:bodyPr/>
                    <a:lstStyle/>
                    <a:p>
                      <a:r>
                        <a:rPr lang="fr-CA" sz="800" dirty="0"/>
                        <a:t>Coûts d’impression / de broderie</a:t>
                      </a:r>
                    </a:p>
                  </a:txBody>
                  <a:tcPr marL="68580" marR="68580" marT="34290" marB="34290" anchor="ctr">
                    <a:solidFill>
                      <a:srgbClr val="FFFFCC"/>
                    </a:solidFill>
                  </a:tcPr>
                </a:tc>
                <a:tc>
                  <a:txBody>
                    <a:bodyPr/>
                    <a:lstStyle/>
                    <a:p>
                      <a:pPr algn="ctr"/>
                      <a:r>
                        <a:rPr lang="fr-CA" sz="800" dirty="0"/>
                        <a:t>(0,60 $)</a:t>
                      </a:r>
                    </a:p>
                  </a:txBody>
                  <a:tcPr marL="68580" marR="68580" marT="34290" marB="34290" anchor="ctr">
                    <a:noFill/>
                  </a:tcPr>
                </a:tc>
                <a:tc>
                  <a:txBody>
                    <a:bodyPr/>
                    <a:lstStyle/>
                    <a:p>
                      <a:pPr algn="ctr"/>
                      <a:r>
                        <a:rPr lang="fr-CA" sz="800" dirty="0"/>
                        <a:t>(60 000 $)</a:t>
                      </a:r>
                    </a:p>
                  </a:txBody>
                  <a:tcPr marL="68580" marR="68580" marT="34290" marB="34290" anchor="ctr">
                    <a:noFill/>
                  </a:tcPr>
                </a:tc>
                <a:tc>
                  <a:txBody>
                    <a:bodyPr/>
                    <a:lstStyle/>
                    <a:p>
                      <a:pPr algn="ctr"/>
                      <a:r>
                        <a:rPr lang="fr-CA" sz="800" dirty="0"/>
                        <a:t>(10 %)</a:t>
                      </a:r>
                    </a:p>
                  </a:txBody>
                  <a:tcPr marL="68580" marR="68580" marT="34290" marB="34290" anchor="ctr">
                    <a:noFill/>
                  </a:tcPr>
                </a:tc>
                <a:extLst>
                  <a:ext uri="{0D108BD9-81ED-4DB2-BD59-A6C34878D82A}">
                    <a16:rowId xmlns:a16="http://schemas.microsoft.com/office/drawing/2014/main" val="3402460911"/>
                  </a:ext>
                </a:extLst>
              </a:tr>
              <a:tr h="335090">
                <a:tc>
                  <a:txBody>
                    <a:bodyPr/>
                    <a:lstStyle/>
                    <a:p>
                      <a:r>
                        <a:rPr lang="fr-CA" sz="800" dirty="0"/>
                        <a:t>Bénéfice brut</a:t>
                      </a:r>
                    </a:p>
                  </a:txBody>
                  <a:tcPr marL="68580" marR="68580" marT="34290" marB="34290" anchor="ctr">
                    <a:solidFill>
                      <a:srgbClr val="FFFFCC"/>
                    </a:solidFill>
                  </a:tcPr>
                </a:tc>
                <a:tc>
                  <a:txBody>
                    <a:bodyPr/>
                    <a:lstStyle/>
                    <a:p>
                      <a:pPr algn="ctr"/>
                      <a:r>
                        <a:rPr lang="fr-CA" sz="800" dirty="0"/>
                        <a:t>2,40 $</a:t>
                      </a:r>
                    </a:p>
                  </a:txBody>
                  <a:tcPr marL="68580" marR="68580" marT="34290" marB="34290" anchor="ctr">
                    <a:noFill/>
                  </a:tcPr>
                </a:tc>
                <a:tc>
                  <a:txBody>
                    <a:bodyPr/>
                    <a:lstStyle/>
                    <a:p>
                      <a:pPr algn="ctr"/>
                      <a:r>
                        <a:rPr lang="fr-CA" sz="800" dirty="0"/>
                        <a:t>240 000 $</a:t>
                      </a:r>
                    </a:p>
                  </a:txBody>
                  <a:tcPr marL="68580" marR="68580" marT="34290" marB="34290" anchor="ctr">
                    <a:noFill/>
                  </a:tcPr>
                </a:tc>
                <a:tc>
                  <a:txBody>
                    <a:bodyPr/>
                    <a:lstStyle/>
                    <a:p>
                      <a:pPr algn="ctr"/>
                      <a:r>
                        <a:rPr lang="fr-CA" sz="800" dirty="0"/>
                        <a:t>40 %</a:t>
                      </a:r>
                    </a:p>
                  </a:txBody>
                  <a:tcPr marL="68580" marR="68580" marT="34290" marB="34290" anchor="ctr">
                    <a:noFill/>
                  </a:tcPr>
                </a:tc>
                <a:extLst>
                  <a:ext uri="{0D108BD9-81ED-4DB2-BD59-A6C34878D82A}">
                    <a16:rowId xmlns:a16="http://schemas.microsoft.com/office/drawing/2014/main" val="1375142288"/>
                  </a:ext>
                </a:extLst>
              </a:tr>
              <a:tr h="335090">
                <a:tc>
                  <a:txBody>
                    <a:bodyPr/>
                    <a:lstStyle/>
                    <a:p>
                      <a:r>
                        <a:rPr lang="fr-CA" sz="800" dirty="0"/>
                        <a:t>Frais d’exploitation</a:t>
                      </a:r>
                    </a:p>
                  </a:txBody>
                  <a:tcPr marL="68580" marR="68580" marT="34290" marB="34290" anchor="ctr">
                    <a:solidFill>
                      <a:srgbClr val="FFFFCC"/>
                    </a:solidFill>
                  </a:tcPr>
                </a:tc>
                <a:tc>
                  <a:txBody>
                    <a:bodyPr/>
                    <a:lstStyle/>
                    <a:p>
                      <a:pPr algn="ctr"/>
                      <a:r>
                        <a:rPr lang="fr-CA" sz="800" dirty="0"/>
                        <a:t>(1,30 $)</a:t>
                      </a:r>
                    </a:p>
                  </a:txBody>
                  <a:tcPr marL="68580" marR="68580" marT="34290" marB="34290" anchor="ctr">
                    <a:noFill/>
                  </a:tcPr>
                </a:tc>
                <a:tc>
                  <a:txBody>
                    <a:bodyPr/>
                    <a:lstStyle/>
                    <a:p>
                      <a:pPr algn="ctr"/>
                      <a:r>
                        <a:rPr lang="fr-CA" sz="800" dirty="0"/>
                        <a:t>(130 000 $)</a:t>
                      </a:r>
                    </a:p>
                  </a:txBody>
                  <a:tcPr marL="68580" marR="68580" marT="34290" marB="34290" anchor="ctr">
                    <a:noFill/>
                  </a:tcPr>
                </a:tc>
                <a:tc>
                  <a:txBody>
                    <a:bodyPr/>
                    <a:lstStyle/>
                    <a:p>
                      <a:pPr algn="ctr"/>
                      <a:r>
                        <a:rPr lang="fr-CA" sz="800" dirty="0"/>
                        <a:t>(21,7 %)</a:t>
                      </a:r>
                    </a:p>
                  </a:txBody>
                  <a:tcPr marL="68580" marR="68580" marT="34290" marB="34290" anchor="ctr">
                    <a:noFill/>
                  </a:tcPr>
                </a:tc>
                <a:extLst>
                  <a:ext uri="{0D108BD9-81ED-4DB2-BD59-A6C34878D82A}">
                    <a16:rowId xmlns:a16="http://schemas.microsoft.com/office/drawing/2014/main" val="1187584214"/>
                  </a:ext>
                </a:extLst>
              </a:tr>
              <a:tr h="335090">
                <a:tc>
                  <a:txBody>
                    <a:bodyPr/>
                    <a:lstStyle/>
                    <a:p>
                      <a:r>
                        <a:rPr lang="fr-CA" sz="800" dirty="0"/>
                        <a:t>Profit net avant impôts</a:t>
                      </a:r>
                    </a:p>
                  </a:txBody>
                  <a:tcPr marL="68580" marR="68580" marT="34290" marB="34290" anchor="ctr">
                    <a:solidFill>
                      <a:srgbClr val="FFFFCC"/>
                    </a:solidFill>
                  </a:tcPr>
                </a:tc>
                <a:tc>
                  <a:txBody>
                    <a:bodyPr/>
                    <a:lstStyle/>
                    <a:p>
                      <a:pPr algn="ctr"/>
                      <a:r>
                        <a:rPr lang="fr-CA" sz="800" dirty="0"/>
                        <a:t>1,10 $</a:t>
                      </a:r>
                    </a:p>
                  </a:txBody>
                  <a:tcPr marL="68580" marR="68580" marT="34290" marB="34290" anchor="ctr">
                    <a:noFill/>
                  </a:tcPr>
                </a:tc>
                <a:tc>
                  <a:txBody>
                    <a:bodyPr/>
                    <a:lstStyle/>
                    <a:p>
                      <a:pPr algn="ctr"/>
                      <a:r>
                        <a:rPr lang="fr-CA" sz="800" dirty="0"/>
                        <a:t>110 000 $</a:t>
                      </a:r>
                    </a:p>
                  </a:txBody>
                  <a:tcPr marL="68580" marR="68580" marT="34290" marB="34290" anchor="ctr">
                    <a:noFill/>
                  </a:tcPr>
                </a:tc>
                <a:tc>
                  <a:txBody>
                    <a:bodyPr/>
                    <a:lstStyle/>
                    <a:p>
                      <a:pPr algn="ctr"/>
                      <a:r>
                        <a:rPr lang="fr-CA" sz="800" dirty="0"/>
                        <a:t>18,3 %</a:t>
                      </a:r>
                    </a:p>
                  </a:txBody>
                  <a:tcPr marL="68580" marR="68580" marT="34290" marB="34290" anchor="ctr">
                    <a:noFill/>
                  </a:tcPr>
                </a:tc>
                <a:extLst>
                  <a:ext uri="{0D108BD9-81ED-4DB2-BD59-A6C34878D82A}">
                    <a16:rowId xmlns:a16="http://schemas.microsoft.com/office/drawing/2014/main" val="3567885268"/>
                  </a:ext>
                </a:extLst>
              </a:tr>
            </a:tbl>
          </a:graphicData>
        </a:graphic>
      </p:graphicFrame>
      <p:graphicFrame>
        <p:nvGraphicFramePr>
          <p:cNvPr id="7" name="Tableau 3">
            <a:extLst>
              <a:ext uri="{FF2B5EF4-FFF2-40B4-BE49-F238E27FC236}">
                <a16:creationId xmlns:a16="http://schemas.microsoft.com/office/drawing/2014/main" id="{FD7963DF-F98A-4C8D-B3B3-B48818CEA16A}"/>
              </a:ext>
            </a:extLst>
          </p:cNvPr>
          <p:cNvGraphicFramePr>
            <a:graphicFrameLocks noGrp="1"/>
          </p:cNvGraphicFramePr>
          <p:nvPr>
            <p:extLst>
              <p:ext uri="{D42A27DB-BD31-4B8C-83A1-F6EECF244321}">
                <p14:modId xmlns:p14="http://schemas.microsoft.com/office/powerpoint/2010/main" val="2063876015"/>
              </p:ext>
            </p:extLst>
          </p:nvPr>
        </p:nvGraphicFramePr>
        <p:xfrm>
          <a:off x="5249239" y="1802785"/>
          <a:ext cx="4255245" cy="2382353"/>
        </p:xfrm>
        <a:graphic>
          <a:graphicData uri="http://schemas.openxmlformats.org/drawingml/2006/table">
            <a:tbl>
              <a:tblPr firstRow="1" bandRow="1">
                <a:tableStyleId>{C4B1156A-380E-4F78-BDF5-A606A8083BF9}</a:tableStyleId>
              </a:tblPr>
              <a:tblGrid>
                <a:gridCol w="1415895">
                  <a:extLst>
                    <a:ext uri="{9D8B030D-6E8A-4147-A177-3AD203B41FA5}">
                      <a16:colId xmlns:a16="http://schemas.microsoft.com/office/drawing/2014/main" val="1754718538"/>
                    </a:ext>
                  </a:extLst>
                </a:gridCol>
                <a:gridCol w="875796">
                  <a:extLst>
                    <a:ext uri="{9D8B030D-6E8A-4147-A177-3AD203B41FA5}">
                      <a16:colId xmlns:a16="http://schemas.microsoft.com/office/drawing/2014/main" val="2622098656"/>
                    </a:ext>
                  </a:extLst>
                </a:gridCol>
                <a:gridCol w="901145">
                  <a:extLst>
                    <a:ext uri="{9D8B030D-6E8A-4147-A177-3AD203B41FA5}">
                      <a16:colId xmlns:a16="http://schemas.microsoft.com/office/drawing/2014/main" val="1262064708"/>
                    </a:ext>
                  </a:extLst>
                </a:gridCol>
                <a:gridCol w="1062409">
                  <a:extLst>
                    <a:ext uri="{9D8B030D-6E8A-4147-A177-3AD203B41FA5}">
                      <a16:colId xmlns:a16="http://schemas.microsoft.com/office/drawing/2014/main" val="1519463965"/>
                    </a:ext>
                  </a:extLst>
                </a:gridCol>
              </a:tblGrid>
              <a:tr h="335090">
                <a:tc>
                  <a:txBody>
                    <a:bodyPr/>
                    <a:lstStyle/>
                    <a:p>
                      <a:endParaRPr lang="fr-CA" sz="1400" dirty="0"/>
                    </a:p>
                  </a:txBody>
                  <a:tcPr marL="68580" marR="68580" marT="34290" marB="34290">
                    <a:solidFill>
                      <a:schemeClr val="accent2">
                        <a:lumMod val="50000"/>
                      </a:schemeClr>
                    </a:solidFill>
                  </a:tcPr>
                </a:tc>
                <a:tc>
                  <a:txBody>
                    <a:bodyPr/>
                    <a:lstStyle/>
                    <a:p>
                      <a:pPr algn="ctr"/>
                      <a:r>
                        <a:rPr lang="fr-CA" sz="800" dirty="0"/>
                        <a:t>Coût unitaire</a:t>
                      </a:r>
                    </a:p>
                  </a:txBody>
                  <a:tcPr marL="68580" marR="68580" marT="34290" marB="34290" anchor="ctr">
                    <a:solidFill>
                      <a:srgbClr val="DEF1F2"/>
                    </a:solidFill>
                  </a:tcPr>
                </a:tc>
                <a:tc>
                  <a:txBody>
                    <a:bodyPr/>
                    <a:lstStyle/>
                    <a:p>
                      <a:pPr algn="ctr"/>
                      <a:r>
                        <a:rPr lang="fr-CA" sz="800" dirty="0"/>
                        <a:t>Total</a:t>
                      </a:r>
                    </a:p>
                  </a:txBody>
                  <a:tcPr marL="68580" marR="68580" marT="34290" marB="34290" anchor="ctr">
                    <a:solidFill>
                      <a:srgbClr val="DEF1F2"/>
                    </a:solidFill>
                  </a:tcPr>
                </a:tc>
                <a:tc>
                  <a:txBody>
                    <a:bodyPr/>
                    <a:lstStyle/>
                    <a:p>
                      <a:pPr algn="ctr"/>
                      <a:r>
                        <a:rPr lang="fr-CA" sz="800" dirty="0"/>
                        <a:t>Ratio</a:t>
                      </a:r>
                    </a:p>
                  </a:txBody>
                  <a:tcPr marL="68580" marR="68580" marT="34290" marB="34290" anchor="ctr">
                    <a:solidFill>
                      <a:srgbClr val="DEF1F2"/>
                    </a:solidFill>
                  </a:tcPr>
                </a:tc>
                <a:extLst>
                  <a:ext uri="{0D108BD9-81ED-4DB2-BD59-A6C34878D82A}">
                    <a16:rowId xmlns:a16="http://schemas.microsoft.com/office/drawing/2014/main" val="819439574"/>
                  </a:ext>
                </a:extLst>
              </a:tr>
              <a:tr h="335090">
                <a:tc>
                  <a:txBody>
                    <a:bodyPr/>
                    <a:lstStyle/>
                    <a:p>
                      <a:r>
                        <a:rPr lang="fr-CA" sz="800" dirty="0"/>
                        <a:t>Ventes</a:t>
                      </a:r>
                    </a:p>
                  </a:txBody>
                  <a:tcPr marL="68580" marR="68580" marT="34290" marB="34290" anchor="ctr">
                    <a:solidFill>
                      <a:srgbClr val="FFFFCC"/>
                    </a:solidFill>
                  </a:tcPr>
                </a:tc>
                <a:tc>
                  <a:txBody>
                    <a:bodyPr/>
                    <a:lstStyle/>
                    <a:p>
                      <a:pPr algn="ctr"/>
                      <a:r>
                        <a:rPr lang="fr-CA" sz="800" dirty="0"/>
                        <a:t>6,00 $</a:t>
                      </a:r>
                    </a:p>
                  </a:txBody>
                  <a:tcPr marL="68580" marR="68580" marT="34290" marB="34290" anchor="ctr">
                    <a:noFill/>
                  </a:tcPr>
                </a:tc>
                <a:tc>
                  <a:txBody>
                    <a:bodyPr/>
                    <a:lstStyle/>
                    <a:p>
                      <a:pPr algn="ctr"/>
                      <a:r>
                        <a:rPr lang="fr-CA" sz="800" dirty="0"/>
                        <a:t>600 000 $</a:t>
                      </a:r>
                    </a:p>
                  </a:txBody>
                  <a:tcPr marL="68580" marR="68580" marT="34290" marB="34290" anchor="ctr">
                    <a:noFill/>
                  </a:tcPr>
                </a:tc>
                <a:tc>
                  <a:txBody>
                    <a:bodyPr/>
                    <a:lstStyle/>
                    <a:p>
                      <a:pPr algn="ctr"/>
                      <a:endParaRPr lang="fr-CA" sz="800" dirty="0"/>
                    </a:p>
                  </a:txBody>
                  <a:tcPr marL="68580" marR="68580" marT="34290" marB="34290" anchor="ctr">
                    <a:noFill/>
                  </a:tcPr>
                </a:tc>
                <a:extLst>
                  <a:ext uri="{0D108BD9-81ED-4DB2-BD59-A6C34878D82A}">
                    <a16:rowId xmlns:a16="http://schemas.microsoft.com/office/drawing/2014/main" val="520589872"/>
                  </a:ext>
                </a:extLst>
              </a:tr>
              <a:tr h="335090">
                <a:tc>
                  <a:txBody>
                    <a:bodyPr/>
                    <a:lstStyle/>
                    <a:p>
                      <a:r>
                        <a:rPr lang="fr-CA" sz="800" dirty="0"/>
                        <a:t>Achat de casquettes</a:t>
                      </a:r>
                    </a:p>
                  </a:txBody>
                  <a:tcPr marL="68580" marR="68580" marT="34290" marB="34290" anchor="ctr">
                    <a:solidFill>
                      <a:srgbClr val="FFFFCC"/>
                    </a:solidFill>
                  </a:tcPr>
                </a:tc>
                <a:tc>
                  <a:txBody>
                    <a:bodyPr/>
                    <a:lstStyle/>
                    <a:p>
                      <a:pPr algn="ctr"/>
                      <a:r>
                        <a:rPr lang="fr-CA" sz="800" dirty="0"/>
                        <a:t>(2,85 $)</a:t>
                      </a:r>
                    </a:p>
                  </a:txBody>
                  <a:tcPr marL="68580" marR="68580" marT="34290" marB="34290" anchor="ctr">
                    <a:noFill/>
                  </a:tcPr>
                </a:tc>
                <a:tc>
                  <a:txBody>
                    <a:bodyPr/>
                    <a:lstStyle/>
                    <a:p>
                      <a:pPr algn="ctr"/>
                      <a:r>
                        <a:rPr lang="fr-CA" sz="800" dirty="0"/>
                        <a:t>(285 000 $)</a:t>
                      </a:r>
                    </a:p>
                  </a:txBody>
                  <a:tcPr marL="68580" marR="68580" marT="34290" marB="34290" anchor="ctr">
                    <a:noFill/>
                  </a:tcPr>
                </a:tc>
                <a:tc>
                  <a:txBody>
                    <a:bodyPr/>
                    <a:lstStyle/>
                    <a:p>
                      <a:pPr algn="ctr"/>
                      <a:r>
                        <a:rPr lang="fr-CA" sz="800" dirty="0"/>
                        <a:t>(47,5 %)</a:t>
                      </a:r>
                    </a:p>
                  </a:txBody>
                  <a:tcPr marL="68580" marR="68580" marT="34290" marB="34290" anchor="ctr">
                    <a:noFill/>
                  </a:tcPr>
                </a:tc>
                <a:extLst>
                  <a:ext uri="{0D108BD9-81ED-4DB2-BD59-A6C34878D82A}">
                    <a16:rowId xmlns:a16="http://schemas.microsoft.com/office/drawing/2014/main" val="3894892712"/>
                  </a:ext>
                </a:extLst>
              </a:tr>
              <a:tr h="371813">
                <a:tc>
                  <a:txBody>
                    <a:bodyPr/>
                    <a:lstStyle/>
                    <a:p>
                      <a:r>
                        <a:rPr lang="fr-CA" sz="800" dirty="0"/>
                        <a:t>Coûts d’impression / de broderie</a:t>
                      </a:r>
                    </a:p>
                  </a:txBody>
                  <a:tcPr marL="68580" marR="68580" marT="34290" marB="34290" anchor="ctr">
                    <a:solidFill>
                      <a:srgbClr val="FFFFCC"/>
                    </a:solidFill>
                  </a:tcPr>
                </a:tc>
                <a:tc>
                  <a:txBody>
                    <a:bodyPr/>
                    <a:lstStyle/>
                    <a:p>
                      <a:pPr algn="ctr"/>
                      <a:r>
                        <a:rPr lang="fr-CA" sz="800" dirty="0"/>
                        <a:t>(0,60 $)</a:t>
                      </a:r>
                    </a:p>
                  </a:txBody>
                  <a:tcPr marL="68580" marR="68580" marT="34290" marB="34290" anchor="ctr">
                    <a:noFill/>
                  </a:tcPr>
                </a:tc>
                <a:tc>
                  <a:txBody>
                    <a:bodyPr/>
                    <a:lstStyle/>
                    <a:p>
                      <a:pPr algn="ctr"/>
                      <a:r>
                        <a:rPr lang="fr-CA" sz="800" dirty="0"/>
                        <a:t>(60 000 $)</a:t>
                      </a:r>
                    </a:p>
                  </a:txBody>
                  <a:tcPr marL="68580" marR="68580" marT="34290" marB="34290" anchor="ctr">
                    <a:noFill/>
                  </a:tcPr>
                </a:tc>
                <a:tc>
                  <a:txBody>
                    <a:bodyPr/>
                    <a:lstStyle/>
                    <a:p>
                      <a:pPr algn="ctr"/>
                      <a:r>
                        <a:rPr lang="fr-CA" sz="800" dirty="0"/>
                        <a:t>(10 %)</a:t>
                      </a:r>
                    </a:p>
                  </a:txBody>
                  <a:tcPr marL="68580" marR="68580" marT="34290" marB="34290" anchor="ctr">
                    <a:noFill/>
                  </a:tcPr>
                </a:tc>
                <a:extLst>
                  <a:ext uri="{0D108BD9-81ED-4DB2-BD59-A6C34878D82A}">
                    <a16:rowId xmlns:a16="http://schemas.microsoft.com/office/drawing/2014/main" val="3402460911"/>
                  </a:ext>
                </a:extLst>
              </a:tr>
              <a:tr h="335090">
                <a:tc>
                  <a:txBody>
                    <a:bodyPr/>
                    <a:lstStyle/>
                    <a:p>
                      <a:r>
                        <a:rPr lang="fr-CA" sz="800" dirty="0"/>
                        <a:t>Bénéfice brut</a:t>
                      </a:r>
                    </a:p>
                  </a:txBody>
                  <a:tcPr marL="68580" marR="68580" marT="34290" marB="34290" anchor="ctr">
                    <a:solidFill>
                      <a:srgbClr val="FFFFCC"/>
                    </a:solidFill>
                  </a:tcPr>
                </a:tc>
                <a:tc>
                  <a:txBody>
                    <a:bodyPr/>
                    <a:lstStyle/>
                    <a:p>
                      <a:pPr algn="ctr"/>
                      <a:r>
                        <a:rPr lang="fr-CA" sz="800" dirty="0"/>
                        <a:t>2,55 $</a:t>
                      </a:r>
                    </a:p>
                  </a:txBody>
                  <a:tcPr marL="68580" marR="68580" marT="34290" marB="34290" anchor="ctr">
                    <a:noFill/>
                  </a:tcPr>
                </a:tc>
                <a:tc>
                  <a:txBody>
                    <a:bodyPr/>
                    <a:lstStyle/>
                    <a:p>
                      <a:pPr algn="ctr"/>
                      <a:r>
                        <a:rPr lang="fr-CA" sz="800" dirty="0"/>
                        <a:t>255 000 $</a:t>
                      </a:r>
                    </a:p>
                  </a:txBody>
                  <a:tcPr marL="68580" marR="68580" marT="34290" marB="34290" anchor="ctr">
                    <a:noFill/>
                  </a:tcPr>
                </a:tc>
                <a:tc>
                  <a:txBody>
                    <a:bodyPr/>
                    <a:lstStyle/>
                    <a:p>
                      <a:pPr algn="ctr"/>
                      <a:r>
                        <a:rPr lang="fr-CA" sz="800" dirty="0"/>
                        <a:t>42,5 %</a:t>
                      </a:r>
                    </a:p>
                  </a:txBody>
                  <a:tcPr marL="68580" marR="68580" marT="34290" marB="34290" anchor="ctr">
                    <a:noFill/>
                  </a:tcPr>
                </a:tc>
                <a:extLst>
                  <a:ext uri="{0D108BD9-81ED-4DB2-BD59-A6C34878D82A}">
                    <a16:rowId xmlns:a16="http://schemas.microsoft.com/office/drawing/2014/main" val="1375142288"/>
                  </a:ext>
                </a:extLst>
              </a:tr>
              <a:tr h="335090">
                <a:tc>
                  <a:txBody>
                    <a:bodyPr/>
                    <a:lstStyle/>
                    <a:p>
                      <a:r>
                        <a:rPr lang="fr-CA" sz="800" dirty="0"/>
                        <a:t>Frais d’exploitation</a:t>
                      </a:r>
                    </a:p>
                  </a:txBody>
                  <a:tcPr marL="68580" marR="68580" marT="34290" marB="34290" anchor="ctr">
                    <a:solidFill>
                      <a:srgbClr val="FFFFCC"/>
                    </a:solidFill>
                  </a:tcPr>
                </a:tc>
                <a:tc>
                  <a:txBody>
                    <a:bodyPr/>
                    <a:lstStyle/>
                    <a:p>
                      <a:pPr algn="ctr"/>
                      <a:r>
                        <a:rPr lang="fr-CA" sz="800" dirty="0"/>
                        <a:t>(1,30 $)</a:t>
                      </a:r>
                    </a:p>
                  </a:txBody>
                  <a:tcPr marL="68580" marR="68580" marT="34290" marB="34290" anchor="ctr">
                    <a:noFill/>
                  </a:tcPr>
                </a:tc>
                <a:tc>
                  <a:txBody>
                    <a:bodyPr/>
                    <a:lstStyle/>
                    <a:p>
                      <a:pPr algn="ctr"/>
                      <a:r>
                        <a:rPr lang="fr-CA" sz="800" dirty="0"/>
                        <a:t>(130 000 $)</a:t>
                      </a:r>
                    </a:p>
                  </a:txBody>
                  <a:tcPr marL="68580" marR="68580" marT="34290" marB="34290" anchor="ctr">
                    <a:noFill/>
                  </a:tcPr>
                </a:tc>
                <a:tc>
                  <a:txBody>
                    <a:bodyPr/>
                    <a:lstStyle/>
                    <a:p>
                      <a:pPr algn="ctr"/>
                      <a:r>
                        <a:rPr lang="fr-CA" sz="800" dirty="0"/>
                        <a:t>(21,7 %)</a:t>
                      </a:r>
                    </a:p>
                  </a:txBody>
                  <a:tcPr marL="68580" marR="68580" marT="34290" marB="34290" anchor="ctr">
                    <a:noFill/>
                  </a:tcPr>
                </a:tc>
                <a:extLst>
                  <a:ext uri="{0D108BD9-81ED-4DB2-BD59-A6C34878D82A}">
                    <a16:rowId xmlns:a16="http://schemas.microsoft.com/office/drawing/2014/main" val="1187584214"/>
                  </a:ext>
                </a:extLst>
              </a:tr>
              <a:tr h="335090">
                <a:tc>
                  <a:txBody>
                    <a:bodyPr/>
                    <a:lstStyle/>
                    <a:p>
                      <a:r>
                        <a:rPr lang="fr-CA" sz="800" dirty="0"/>
                        <a:t>Profit net avant impôts</a:t>
                      </a:r>
                    </a:p>
                  </a:txBody>
                  <a:tcPr marL="68580" marR="68580" marT="34290" marB="34290" anchor="ctr">
                    <a:solidFill>
                      <a:srgbClr val="FFFFCC"/>
                    </a:solidFill>
                  </a:tcPr>
                </a:tc>
                <a:tc>
                  <a:txBody>
                    <a:bodyPr/>
                    <a:lstStyle/>
                    <a:p>
                      <a:pPr algn="ctr"/>
                      <a:r>
                        <a:rPr lang="fr-CA" sz="800" dirty="0"/>
                        <a:t>1,25 $</a:t>
                      </a:r>
                    </a:p>
                  </a:txBody>
                  <a:tcPr marL="68580" marR="68580" marT="34290" marB="34290" anchor="ctr">
                    <a:noFill/>
                  </a:tcPr>
                </a:tc>
                <a:tc>
                  <a:txBody>
                    <a:bodyPr/>
                    <a:lstStyle/>
                    <a:p>
                      <a:pPr algn="ctr"/>
                      <a:r>
                        <a:rPr lang="fr-CA" sz="800" dirty="0"/>
                        <a:t>125 000 $</a:t>
                      </a:r>
                    </a:p>
                  </a:txBody>
                  <a:tcPr marL="68580" marR="68580" marT="34290" marB="34290" anchor="ctr">
                    <a:noFill/>
                  </a:tcPr>
                </a:tc>
                <a:tc>
                  <a:txBody>
                    <a:bodyPr/>
                    <a:lstStyle/>
                    <a:p>
                      <a:pPr algn="ctr"/>
                      <a:r>
                        <a:rPr lang="fr-CA" sz="800" dirty="0"/>
                        <a:t>20,8 %</a:t>
                      </a:r>
                    </a:p>
                  </a:txBody>
                  <a:tcPr marL="68580" marR="68580" marT="34290" marB="34290" anchor="ctr">
                    <a:noFill/>
                  </a:tcPr>
                </a:tc>
                <a:extLst>
                  <a:ext uri="{0D108BD9-81ED-4DB2-BD59-A6C34878D82A}">
                    <a16:rowId xmlns:a16="http://schemas.microsoft.com/office/drawing/2014/main" val="3567885268"/>
                  </a:ext>
                </a:extLst>
              </a:tr>
            </a:tbl>
          </a:graphicData>
        </a:graphic>
      </p:graphicFrame>
    </p:spTree>
    <p:extLst>
      <p:ext uri="{BB962C8B-B14F-4D97-AF65-F5344CB8AC3E}">
        <p14:creationId xmlns:p14="http://schemas.microsoft.com/office/powerpoint/2010/main" val="3836854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621556-28FA-2EA0-8A70-AF73786EA4B5}"/>
              </a:ext>
            </a:extLst>
          </p:cNvPr>
          <p:cNvSpPr>
            <a:spLocks noGrp="1"/>
          </p:cNvSpPr>
          <p:nvPr>
            <p:ph type="title"/>
            <p:custDataLst>
              <p:tags r:id="rId1"/>
            </p:custDataLst>
          </p:nvPr>
        </p:nvSpPr>
        <p:spPr/>
        <p:txBody>
          <a:bodyPr/>
          <a:lstStyle/>
          <a:p>
            <a:r>
              <a:rPr lang="fr-CA"/>
              <a:t>Exercice : Effet de levier de l’approvisionnement</a:t>
            </a:r>
          </a:p>
        </p:txBody>
      </p:sp>
      <p:sp>
        <p:nvSpPr>
          <p:cNvPr id="5" name="Espace réservé du numéro de diapositive 4">
            <a:extLst>
              <a:ext uri="{FF2B5EF4-FFF2-40B4-BE49-F238E27FC236}">
                <a16:creationId xmlns:a16="http://schemas.microsoft.com/office/drawing/2014/main" id="{30B9A1F7-0C35-6113-0289-864C48489328}"/>
              </a:ext>
            </a:extLst>
          </p:cNvPr>
          <p:cNvSpPr>
            <a:spLocks noGrp="1"/>
          </p:cNvSpPr>
          <p:nvPr>
            <p:ph type="sldNum" sz="quarter" idx="12"/>
            <p:custDataLst>
              <p:tags r:id="rId2"/>
            </p:custDataLst>
          </p:nvPr>
        </p:nvSpPr>
        <p:spPr/>
        <p:txBody>
          <a:bodyPr/>
          <a:lstStyle/>
          <a:p>
            <a:fld id="{77B8E65F-5E3F-4E73-B056-4D0181456FB2}" type="slidenum">
              <a:rPr lang="fr-CA" noProof="0" smtClean="0"/>
              <a:pPr/>
              <a:t>8</a:t>
            </a:fld>
            <a:endParaRPr lang="fr-CA" noProof="0" dirty="0"/>
          </a:p>
        </p:txBody>
      </p:sp>
      <p:sp>
        <p:nvSpPr>
          <p:cNvPr id="9" name="ZoneTexte 8">
            <a:extLst>
              <a:ext uri="{FF2B5EF4-FFF2-40B4-BE49-F238E27FC236}">
                <a16:creationId xmlns:a16="http://schemas.microsoft.com/office/drawing/2014/main" id="{80030496-443C-EC7F-DF05-AA4534AD1C99}"/>
              </a:ext>
            </a:extLst>
          </p:cNvPr>
          <p:cNvSpPr txBox="1"/>
          <p:nvPr>
            <p:custDataLst>
              <p:tags r:id="rId3"/>
            </p:custDataLst>
          </p:nvPr>
        </p:nvSpPr>
        <p:spPr>
          <a:xfrm>
            <a:off x="532000" y="1368825"/>
            <a:ext cx="8067000" cy="830997"/>
          </a:xfrm>
          <a:prstGeom prst="rect">
            <a:avLst/>
          </a:prstGeom>
          <a:noFill/>
        </p:spPr>
        <p:txBody>
          <a:bodyPr wrap="square">
            <a:spAutoFit/>
          </a:bodyPr>
          <a:lstStyle/>
          <a:p>
            <a:pPr marL="0" marR="0" lvl="0" indent="0" algn="just" defTabSz="914400" rtl="0" eaLnBrk="1" fontAlgn="auto" latinLnBrk="0" hangingPunct="1">
              <a:spcBef>
                <a:spcPts val="0"/>
              </a:spcBef>
              <a:spcAft>
                <a:spcPts val="0"/>
              </a:spcAft>
              <a:buClrTx/>
              <a:buSzTx/>
              <a:buFontTx/>
              <a:buNone/>
              <a:tabLst/>
              <a:defRPr/>
            </a:pPr>
            <a:r>
              <a:rPr kumimoji="0" lang="fr-CA" sz="1200" b="0" i="0" u="none" strike="noStrike" kern="1200" cap="none" spc="0" normalizeH="0" baseline="0" noProof="0" dirty="0">
                <a:ln>
                  <a:noFill/>
                </a:ln>
                <a:solidFill>
                  <a:srgbClr val="000000"/>
                </a:solidFill>
                <a:effectLst/>
                <a:uLnTx/>
                <a:uFillTx/>
                <a:latin typeface="Arial" panose="020B0604020202020204"/>
                <a:ea typeface="+mn-ea"/>
                <a:cs typeface="+mn-cs"/>
              </a:rPr>
              <a:t>La production annuelle du produit X est de 14 750 unités.  On demande au gestionnaire des approvisionnements de négocier des réductions de coûts avec les fournisseurs de matières premières (MP) afin d’augmenter la marge bénéficiaire. </a:t>
            </a:r>
            <a:r>
              <a:rPr lang="fr-CA" sz="1200" dirty="0">
                <a:solidFill>
                  <a:srgbClr val="000000"/>
                </a:solidFill>
                <a:latin typeface="Arial" panose="020B0604020202020204"/>
              </a:rPr>
              <a:t>Calculez l</a:t>
            </a:r>
            <a:r>
              <a:rPr kumimoji="0" lang="fr-CA" sz="1200" b="0" i="0" u="none" strike="noStrike" kern="1200" cap="none" spc="0" normalizeH="0" baseline="0" noProof="0" dirty="0">
                <a:ln>
                  <a:noFill/>
                </a:ln>
                <a:solidFill>
                  <a:srgbClr val="000000"/>
                </a:solidFill>
                <a:effectLst/>
                <a:uLnTx/>
                <a:uFillTx/>
                <a:latin typeface="Arial" panose="020B0604020202020204"/>
                <a:ea typeface="+mn-ea"/>
                <a:cs typeface="+mn-cs"/>
              </a:rPr>
              <a:t>'impact d’une </a:t>
            </a:r>
            <a:r>
              <a:rPr kumimoji="0" lang="fr-CA" sz="1200" b="1" i="0" u="none" strike="noStrike" kern="1200" cap="none" spc="0" normalizeH="0" baseline="0" noProof="0" dirty="0">
                <a:ln>
                  <a:noFill/>
                </a:ln>
                <a:solidFill>
                  <a:srgbClr val="000000"/>
                </a:solidFill>
                <a:effectLst/>
                <a:uLnTx/>
                <a:uFillTx/>
                <a:latin typeface="Arial" panose="020B0604020202020204"/>
                <a:ea typeface="+mn-ea"/>
                <a:cs typeface="+mn-cs"/>
              </a:rPr>
              <a:t>réduction de 10% du coûts des matières premières </a:t>
            </a:r>
            <a:r>
              <a:rPr kumimoji="0" lang="fr-CA" sz="1200" b="0" i="0" u="none" strike="noStrike" kern="1200" cap="none" spc="0" normalizeH="0" baseline="0" noProof="0" dirty="0">
                <a:ln>
                  <a:noFill/>
                </a:ln>
                <a:solidFill>
                  <a:srgbClr val="000000"/>
                </a:solidFill>
                <a:effectLst/>
                <a:uLnTx/>
                <a:uFillTx/>
                <a:latin typeface="Arial" panose="020B0604020202020204"/>
                <a:ea typeface="+mn-ea"/>
                <a:cs typeface="+mn-cs"/>
              </a:rPr>
              <a:t>sur la valeur annuelle du profit net avant impôts.</a:t>
            </a:r>
          </a:p>
        </p:txBody>
      </p:sp>
      <p:graphicFrame>
        <p:nvGraphicFramePr>
          <p:cNvPr id="11" name="Tableau 3">
            <a:extLst>
              <a:ext uri="{FF2B5EF4-FFF2-40B4-BE49-F238E27FC236}">
                <a16:creationId xmlns:a16="http://schemas.microsoft.com/office/drawing/2014/main" id="{655B974A-38DF-E524-50B4-9E41685045CB}"/>
              </a:ext>
            </a:extLst>
          </p:cNvPr>
          <p:cNvGraphicFramePr>
            <a:graphicFrameLocks noGrp="1"/>
          </p:cNvGraphicFramePr>
          <p:nvPr>
            <p:custDataLst>
              <p:tags r:id="rId4"/>
            </p:custDataLst>
            <p:extLst>
              <p:ext uri="{D42A27DB-BD31-4B8C-83A1-F6EECF244321}">
                <p14:modId xmlns:p14="http://schemas.microsoft.com/office/powerpoint/2010/main" val="2607762238"/>
              </p:ext>
            </p:extLst>
          </p:nvPr>
        </p:nvGraphicFramePr>
        <p:xfrm>
          <a:off x="216568" y="2304460"/>
          <a:ext cx="4355432" cy="2854079"/>
        </p:xfrm>
        <a:graphic>
          <a:graphicData uri="http://schemas.openxmlformats.org/drawingml/2006/table">
            <a:tbl>
              <a:tblPr firstRow="1" bandRow="1">
                <a:tableStyleId>{C4B1156A-380E-4F78-BDF5-A606A8083BF9}</a:tableStyleId>
              </a:tblPr>
              <a:tblGrid>
                <a:gridCol w="1931461">
                  <a:extLst>
                    <a:ext uri="{9D8B030D-6E8A-4147-A177-3AD203B41FA5}">
                      <a16:colId xmlns:a16="http://schemas.microsoft.com/office/drawing/2014/main" val="1754718538"/>
                    </a:ext>
                  </a:extLst>
                </a:gridCol>
                <a:gridCol w="1194695">
                  <a:extLst>
                    <a:ext uri="{9D8B030D-6E8A-4147-A177-3AD203B41FA5}">
                      <a16:colId xmlns:a16="http://schemas.microsoft.com/office/drawing/2014/main" val="2622098656"/>
                    </a:ext>
                  </a:extLst>
                </a:gridCol>
                <a:gridCol w="1229276">
                  <a:extLst>
                    <a:ext uri="{9D8B030D-6E8A-4147-A177-3AD203B41FA5}">
                      <a16:colId xmlns:a16="http://schemas.microsoft.com/office/drawing/2014/main" val="1262064708"/>
                    </a:ext>
                  </a:extLst>
                </a:gridCol>
              </a:tblGrid>
              <a:tr h="405388">
                <a:tc>
                  <a:txBody>
                    <a:bodyPr/>
                    <a:lstStyle/>
                    <a:p>
                      <a:pPr algn="ctr"/>
                      <a:r>
                        <a:rPr lang="fr-CA" sz="1400" dirty="0">
                          <a:solidFill>
                            <a:schemeClr val="bg1"/>
                          </a:solidFill>
                        </a:rPr>
                        <a:t>Situation initiale</a:t>
                      </a:r>
                    </a:p>
                  </a:txBody>
                  <a:tcPr marL="68580" marR="68580" marT="34290" marB="34290" anchor="ctr">
                    <a:solidFill>
                      <a:schemeClr val="accent2">
                        <a:lumMod val="50000"/>
                      </a:schemeClr>
                    </a:solidFill>
                  </a:tcPr>
                </a:tc>
                <a:tc>
                  <a:txBody>
                    <a:bodyPr/>
                    <a:lstStyle/>
                    <a:p>
                      <a:pPr algn="ctr"/>
                      <a:r>
                        <a:rPr lang="fr-CA" sz="1200" dirty="0"/>
                        <a:t>Coût unitaire</a:t>
                      </a:r>
                    </a:p>
                  </a:txBody>
                  <a:tcPr marL="68580" marR="68580" marT="34290" marB="34290" anchor="ctr">
                    <a:solidFill>
                      <a:srgbClr val="DEF1F2"/>
                    </a:solidFill>
                  </a:tcPr>
                </a:tc>
                <a:tc>
                  <a:txBody>
                    <a:bodyPr/>
                    <a:lstStyle/>
                    <a:p>
                      <a:pPr algn="ctr"/>
                      <a:r>
                        <a:rPr lang="fr-CA" sz="1200" dirty="0"/>
                        <a:t>Total</a:t>
                      </a:r>
                    </a:p>
                  </a:txBody>
                  <a:tcPr marL="68580" marR="68580" marT="34290" marB="34290" anchor="ctr">
                    <a:solidFill>
                      <a:srgbClr val="DEF1F2"/>
                    </a:solidFill>
                  </a:tcPr>
                </a:tc>
                <a:extLst>
                  <a:ext uri="{0D108BD9-81ED-4DB2-BD59-A6C34878D82A}">
                    <a16:rowId xmlns:a16="http://schemas.microsoft.com/office/drawing/2014/main" val="819439574"/>
                  </a:ext>
                </a:extLst>
              </a:tr>
              <a:tr h="393232">
                <a:tc>
                  <a:txBody>
                    <a:bodyPr/>
                    <a:lstStyle/>
                    <a:p>
                      <a:r>
                        <a:rPr lang="fr-CA" sz="1200" dirty="0"/>
                        <a:t>Ventes</a:t>
                      </a:r>
                    </a:p>
                  </a:txBody>
                  <a:tcPr marL="68580" marR="68580" marT="34290" marB="34290" anchor="ctr">
                    <a:solidFill>
                      <a:srgbClr val="FFFFCC"/>
                    </a:solidFill>
                  </a:tcPr>
                </a:tc>
                <a:tc>
                  <a:txBody>
                    <a:bodyPr/>
                    <a:lstStyle/>
                    <a:p>
                      <a:pPr algn="ctr"/>
                      <a:r>
                        <a:rPr lang="fr-CA" sz="1200" dirty="0"/>
                        <a:t>20,00 $</a:t>
                      </a:r>
                    </a:p>
                  </a:txBody>
                  <a:tcPr marL="68580" marR="68580" marT="34290" marB="34290" anchor="ctr">
                    <a:noFill/>
                  </a:tcPr>
                </a:tc>
                <a:tc>
                  <a:txBody>
                    <a:bodyPr/>
                    <a:lstStyle/>
                    <a:p>
                      <a:pPr algn="ctr"/>
                      <a:r>
                        <a:rPr lang="fr-CA" sz="1200" dirty="0"/>
                        <a:t>295 000,00 $</a:t>
                      </a:r>
                    </a:p>
                  </a:txBody>
                  <a:tcPr marL="68580" marR="68580" marT="34290" marB="34290" anchor="ctr">
                    <a:noFill/>
                  </a:tcPr>
                </a:tc>
                <a:extLst>
                  <a:ext uri="{0D108BD9-81ED-4DB2-BD59-A6C34878D82A}">
                    <a16:rowId xmlns:a16="http://schemas.microsoft.com/office/drawing/2014/main" val="520589872"/>
                  </a:ext>
                </a:extLst>
              </a:tr>
              <a:tr h="393232">
                <a:tc>
                  <a:txBody>
                    <a:bodyPr/>
                    <a:lstStyle/>
                    <a:p>
                      <a:r>
                        <a:rPr lang="fr-CA" sz="1200" dirty="0"/>
                        <a:t>Coût des matières premières </a:t>
                      </a:r>
                      <a:r>
                        <a:rPr lang="fr-CA" sz="800" dirty="0"/>
                        <a:t>(70 % du prix de vente)</a:t>
                      </a:r>
                      <a:endParaRPr lang="fr-CA" sz="1200" dirty="0"/>
                    </a:p>
                  </a:txBody>
                  <a:tcPr marL="68580" marR="68580" marT="34290" marB="34290" anchor="ctr">
                    <a:solidFill>
                      <a:srgbClr val="FFFFCC"/>
                    </a:solidFill>
                  </a:tcPr>
                </a:tc>
                <a:tc>
                  <a:txBody>
                    <a:bodyPr/>
                    <a:lstStyle/>
                    <a:p>
                      <a:pPr algn="ctr"/>
                      <a:r>
                        <a:rPr lang="fr-CA" sz="1200" dirty="0"/>
                        <a:t>14,00 $</a:t>
                      </a:r>
                    </a:p>
                  </a:txBody>
                  <a:tcPr marL="68580" marR="68580" marT="34290" marB="34290" anchor="ctr">
                    <a:noFill/>
                  </a:tcPr>
                </a:tc>
                <a:tc>
                  <a:txBody>
                    <a:bodyPr/>
                    <a:lstStyle/>
                    <a:p>
                      <a:pPr algn="ctr"/>
                      <a:r>
                        <a:rPr lang="fr-CA" sz="1200" dirty="0"/>
                        <a:t>206 500,00 $</a:t>
                      </a:r>
                    </a:p>
                  </a:txBody>
                  <a:tcPr marL="68580" marR="68580" marT="34290" marB="34290" anchor="ctr">
                    <a:noFill/>
                  </a:tcPr>
                </a:tc>
                <a:extLst>
                  <a:ext uri="{0D108BD9-81ED-4DB2-BD59-A6C34878D82A}">
                    <a16:rowId xmlns:a16="http://schemas.microsoft.com/office/drawing/2014/main" val="3894892712"/>
                  </a:ext>
                </a:extLst>
              </a:tr>
              <a:tr h="441423">
                <a:tc>
                  <a:txBody>
                    <a:bodyPr/>
                    <a:lstStyle/>
                    <a:p>
                      <a:r>
                        <a:rPr lang="fr-CA" sz="1200" dirty="0"/>
                        <a:t>Coûts de main d’œuvre</a:t>
                      </a:r>
                    </a:p>
                  </a:txBody>
                  <a:tcPr marL="68580" marR="68580" marT="34290" marB="34290" anchor="ctr">
                    <a:solidFill>
                      <a:srgbClr val="FFFFCC"/>
                    </a:solidFill>
                  </a:tcPr>
                </a:tc>
                <a:tc>
                  <a:txBody>
                    <a:bodyPr/>
                    <a:lstStyle/>
                    <a:p>
                      <a:pPr algn="ctr"/>
                      <a:r>
                        <a:rPr lang="fr-CA" sz="1200" dirty="0"/>
                        <a:t>2,00 $</a:t>
                      </a:r>
                    </a:p>
                  </a:txBody>
                  <a:tcPr marL="68580" marR="68580" marT="34290" marB="34290" anchor="ctr">
                    <a:noFill/>
                  </a:tcPr>
                </a:tc>
                <a:tc>
                  <a:txBody>
                    <a:bodyPr/>
                    <a:lstStyle/>
                    <a:p>
                      <a:pPr algn="ctr"/>
                      <a:r>
                        <a:rPr lang="fr-CA" sz="1200" dirty="0"/>
                        <a:t>29 500,00 $</a:t>
                      </a:r>
                    </a:p>
                  </a:txBody>
                  <a:tcPr marL="68580" marR="68580" marT="34290" marB="34290" anchor="ctr">
                    <a:noFill/>
                  </a:tcPr>
                </a:tc>
                <a:extLst>
                  <a:ext uri="{0D108BD9-81ED-4DB2-BD59-A6C34878D82A}">
                    <a16:rowId xmlns:a16="http://schemas.microsoft.com/office/drawing/2014/main" val="3402460911"/>
                  </a:ext>
                </a:extLst>
              </a:tr>
              <a:tr h="393232">
                <a:tc>
                  <a:txBody>
                    <a:bodyPr/>
                    <a:lstStyle/>
                    <a:p>
                      <a:r>
                        <a:rPr lang="fr-CA" sz="1200" dirty="0"/>
                        <a:t>Coûts indirects</a:t>
                      </a:r>
                    </a:p>
                  </a:txBody>
                  <a:tcPr marL="68580" marR="68580" marT="34290" marB="34290" anchor="ctr">
                    <a:solidFill>
                      <a:srgbClr val="FFFFCC"/>
                    </a:solidFill>
                  </a:tcPr>
                </a:tc>
                <a:tc>
                  <a:txBody>
                    <a:bodyPr/>
                    <a:lstStyle/>
                    <a:p>
                      <a:pPr algn="ctr"/>
                      <a:r>
                        <a:rPr lang="fr-CA" sz="1200" dirty="0"/>
                        <a:t>1,25 $</a:t>
                      </a:r>
                    </a:p>
                  </a:txBody>
                  <a:tcPr marL="68580" marR="68580" marT="34290" marB="34290" anchor="ctr">
                    <a:noFill/>
                  </a:tcPr>
                </a:tc>
                <a:tc>
                  <a:txBody>
                    <a:bodyPr/>
                    <a:lstStyle/>
                    <a:p>
                      <a:pPr algn="ctr"/>
                      <a:r>
                        <a:rPr lang="fr-CA" sz="1200" dirty="0"/>
                        <a:t>18 437,50 $</a:t>
                      </a:r>
                    </a:p>
                  </a:txBody>
                  <a:tcPr marL="68580" marR="68580" marT="34290" marB="34290" anchor="ctr">
                    <a:noFill/>
                  </a:tcPr>
                </a:tc>
                <a:extLst>
                  <a:ext uri="{0D108BD9-81ED-4DB2-BD59-A6C34878D82A}">
                    <a16:rowId xmlns:a16="http://schemas.microsoft.com/office/drawing/2014/main" val="1375142288"/>
                  </a:ext>
                </a:extLst>
              </a:tr>
              <a:tr h="393232">
                <a:tc>
                  <a:txBody>
                    <a:bodyPr/>
                    <a:lstStyle/>
                    <a:p>
                      <a:r>
                        <a:rPr lang="fr-CA" sz="1200" dirty="0"/>
                        <a:t>Profit net avant impôts</a:t>
                      </a:r>
                    </a:p>
                  </a:txBody>
                  <a:tcPr marL="68580" marR="68580" marT="34290" marB="34290" anchor="ctr">
                    <a:solidFill>
                      <a:srgbClr val="FFFFCC"/>
                    </a:solidFill>
                  </a:tcPr>
                </a:tc>
                <a:tc>
                  <a:txBody>
                    <a:bodyPr/>
                    <a:lstStyle/>
                    <a:p>
                      <a:pPr algn="ctr"/>
                      <a:r>
                        <a:rPr lang="fr-CA" sz="1200" dirty="0"/>
                        <a:t>2,75 $</a:t>
                      </a:r>
                    </a:p>
                  </a:txBody>
                  <a:tcPr marL="68580" marR="68580" marT="34290" marB="34290" anchor="ctr">
                    <a:noFill/>
                  </a:tcPr>
                </a:tc>
                <a:tc>
                  <a:txBody>
                    <a:bodyPr/>
                    <a:lstStyle/>
                    <a:p>
                      <a:pPr algn="ctr"/>
                      <a:r>
                        <a:rPr lang="fr-CA" sz="1200" dirty="0"/>
                        <a:t>40 562,50 $</a:t>
                      </a:r>
                    </a:p>
                  </a:txBody>
                  <a:tcPr marL="68580" marR="68580" marT="34290" marB="34290" anchor="ctr">
                    <a:noFill/>
                  </a:tcPr>
                </a:tc>
                <a:extLst>
                  <a:ext uri="{0D108BD9-81ED-4DB2-BD59-A6C34878D82A}">
                    <a16:rowId xmlns:a16="http://schemas.microsoft.com/office/drawing/2014/main" val="1187584214"/>
                  </a:ext>
                </a:extLst>
              </a:tr>
              <a:tr h="393232">
                <a:tc>
                  <a:txBody>
                    <a:bodyPr/>
                    <a:lstStyle/>
                    <a:p>
                      <a:r>
                        <a:rPr lang="fr-CA" sz="1200" dirty="0"/>
                        <a:t>Pourcentage des ventes</a:t>
                      </a:r>
                    </a:p>
                  </a:txBody>
                  <a:tcPr marL="68580" marR="68580" marT="34290" marB="34290" anchor="ctr">
                    <a:solidFill>
                      <a:srgbClr val="FFFFCC"/>
                    </a:solidFill>
                  </a:tcPr>
                </a:tc>
                <a:tc>
                  <a:txBody>
                    <a:bodyPr/>
                    <a:lstStyle/>
                    <a:p>
                      <a:pPr algn="ctr"/>
                      <a:endParaRPr lang="fr-CA" sz="1200" dirty="0"/>
                    </a:p>
                  </a:txBody>
                  <a:tcPr marL="68580" marR="68580" marT="34290" marB="34290" anchor="ctr">
                    <a:noFill/>
                  </a:tcPr>
                </a:tc>
                <a:tc>
                  <a:txBody>
                    <a:bodyPr/>
                    <a:lstStyle/>
                    <a:p>
                      <a:pPr algn="ctr"/>
                      <a:r>
                        <a:rPr lang="fr-CA" sz="1200" dirty="0"/>
                        <a:t>13,75 %</a:t>
                      </a:r>
                    </a:p>
                  </a:txBody>
                  <a:tcPr marL="68580" marR="68580" marT="34290" marB="34290" anchor="ctr">
                    <a:noFill/>
                  </a:tcPr>
                </a:tc>
                <a:extLst>
                  <a:ext uri="{0D108BD9-81ED-4DB2-BD59-A6C34878D82A}">
                    <a16:rowId xmlns:a16="http://schemas.microsoft.com/office/drawing/2014/main" val="3567885268"/>
                  </a:ext>
                </a:extLst>
              </a:tr>
            </a:tbl>
          </a:graphicData>
        </a:graphic>
      </p:graphicFrame>
      <p:graphicFrame>
        <p:nvGraphicFramePr>
          <p:cNvPr id="12" name="Tableau 3">
            <a:extLst>
              <a:ext uri="{FF2B5EF4-FFF2-40B4-BE49-F238E27FC236}">
                <a16:creationId xmlns:a16="http://schemas.microsoft.com/office/drawing/2014/main" id="{2B5CAECA-4427-3724-1946-51A81EDB71DB}"/>
              </a:ext>
            </a:extLst>
          </p:cNvPr>
          <p:cNvGraphicFramePr>
            <a:graphicFrameLocks noGrp="1"/>
          </p:cNvGraphicFramePr>
          <p:nvPr>
            <p:custDataLst>
              <p:tags r:id="rId5"/>
            </p:custDataLst>
            <p:extLst>
              <p:ext uri="{D42A27DB-BD31-4B8C-83A1-F6EECF244321}">
                <p14:modId xmlns:p14="http://schemas.microsoft.com/office/powerpoint/2010/main" val="2909274091"/>
              </p:ext>
            </p:extLst>
          </p:nvPr>
        </p:nvGraphicFramePr>
        <p:xfrm>
          <a:off x="4844717" y="2279002"/>
          <a:ext cx="4356000" cy="2857872"/>
        </p:xfrm>
        <a:graphic>
          <a:graphicData uri="http://schemas.openxmlformats.org/drawingml/2006/table">
            <a:tbl>
              <a:tblPr firstRow="1" bandRow="1">
                <a:tableStyleId>{C4B1156A-380E-4F78-BDF5-A606A8083BF9}</a:tableStyleId>
              </a:tblPr>
              <a:tblGrid>
                <a:gridCol w="1931712">
                  <a:extLst>
                    <a:ext uri="{9D8B030D-6E8A-4147-A177-3AD203B41FA5}">
                      <a16:colId xmlns:a16="http://schemas.microsoft.com/office/drawing/2014/main" val="1754718538"/>
                    </a:ext>
                  </a:extLst>
                </a:gridCol>
                <a:gridCol w="1194852">
                  <a:extLst>
                    <a:ext uri="{9D8B030D-6E8A-4147-A177-3AD203B41FA5}">
                      <a16:colId xmlns:a16="http://schemas.microsoft.com/office/drawing/2014/main" val="2622098656"/>
                    </a:ext>
                  </a:extLst>
                </a:gridCol>
                <a:gridCol w="1229436">
                  <a:extLst>
                    <a:ext uri="{9D8B030D-6E8A-4147-A177-3AD203B41FA5}">
                      <a16:colId xmlns:a16="http://schemas.microsoft.com/office/drawing/2014/main" val="1262064708"/>
                    </a:ext>
                  </a:extLst>
                </a:gridCol>
              </a:tblGrid>
              <a:tr h="435628">
                <a:tc>
                  <a:txBody>
                    <a:bodyPr/>
                    <a:lstStyle/>
                    <a:p>
                      <a:pPr algn="ctr"/>
                      <a:r>
                        <a:rPr lang="fr-CA" sz="1400" dirty="0">
                          <a:solidFill>
                            <a:schemeClr val="bg1"/>
                          </a:solidFill>
                        </a:rPr>
                        <a:t>Après négociation</a:t>
                      </a:r>
                    </a:p>
                  </a:txBody>
                  <a:tcPr marL="68580" marR="68580" marT="34290" marB="34290" anchor="ctr">
                    <a:solidFill>
                      <a:schemeClr val="accent2">
                        <a:lumMod val="50000"/>
                      </a:schemeClr>
                    </a:solidFill>
                  </a:tcPr>
                </a:tc>
                <a:tc>
                  <a:txBody>
                    <a:bodyPr/>
                    <a:lstStyle/>
                    <a:p>
                      <a:pPr algn="ctr"/>
                      <a:r>
                        <a:rPr lang="fr-CA" sz="1200" dirty="0"/>
                        <a:t>Coût unitaire</a:t>
                      </a:r>
                    </a:p>
                  </a:txBody>
                  <a:tcPr marL="68580" marR="68580" marT="34290" marB="34290" anchor="ctr">
                    <a:solidFill>
                      <a:srgbClr val="DEF1F2"/>
                    </a:solidFill>
                  </a:tcPr>
                </a:tc>
                <a:tc>
                  <a:txBody>
                    <a:bodyPr/>
                    <a:lstStyle/>
                    <a:p>
                      <a:pPr algn="ctr"/>
                      <a:r>
                        <a:rPr lang="fr-CA" sz="1200" dirty="0"/>
                        <a:t>Total</a:t>
                      </a:r>
                    </a:p>
                  </a:txBody>
                  <a:tcPr marL="68580" marR="68580" marT="34290" marB="34290" anchor="ctr">
                    <a:solidFill>
                      <a:srgbClr val="DEF1F2"/>
                    </a:solidFill>
                  </a:tcPr>
                </a:tc>
                <a:extLst>
                  <a:ext uri="{0D108BD9-81ED-4DB2-BD59-A6C34878D82A}">
                    <a16:rowId xmlns:a16="http://schemas.microsoft.com/office/drawing/2014/main" val="819439574"/>
                  </a:ext>
                </a:extLst>
              </a:tr>
              <a:tr h="388069">
                <a:tc>
                  <a:txBody>
                    <a:bodyPr/>
                    <a:lstStyle/>
                    <a:p>
                      <a:r>
                        <a:rPr lang="fr-CA" sz="1200" dirty="0"/>
                        <a:t>Ventes</a:t>
                      </a:r>
                    </a:p>
                  </a:txBody>
                  <a:tcPr marL="68580" marR="68580" marT="34290" marB="34290" anchor="ctr">
                    <a:solidFill>
                      <a:srgbClr val="FFFFCC"/>
                    </a:solidFill>
                  </a:tcPr>
                </a:tc>
                <a:tc>
                  <a:txBody>
                    <a:bodyPr/>
                    <a:lstStyle/>
                    <a:p>
                      <a:pPr algn="ctr"/>
                      <a:r>
                        <a:rPr lang="fr-CA" sz="1200" dirty="0"/>
                        <a:t>20,00 $</a:t>
                      </a:r>
                    </a:p>
                  </a:txBody>
                  <a:tcPr marL="68580" marR="68580" marT="34290" marB="34290" anchor="ctr">
                    <a:noFill/>
                  </a:tcPr>
                </a:tc>
                <a:tc>
                  <a:txBody>
                    <a:bodyPr/>
                    <a:lstStyle/>
                    <a:p>
                      <a:pPr algn="ctr"/>
                      <a:r>
                        <a:rPr lang="fr-CA" sz="1200"/>
                        <a:t>295 000,00 $</a:t>
                      </a:r>
                      <a:endParaRPr lang="fr-CA" sz="1200" dirty="0"/>
                    </a:p>
                  </a:txBody>
                  <a:tcPr marL="68580" marR="68580" marT="34290" marB="34290" anchor="ctr">
                    <a:noFill/>
                  </a:tcPr>
                </a:tc>
                <a:extLst>
                  <a:ext uri="{0D108BD9-81ED-4DB2-BD59-A6C34878D82A}">
                    <a16:rowId xmlns:a16="http://schemas.microsoft.com/office/drawing/2014/main" val="520589872"/>
                  </a:ext>
                </a:extLst>
              </a:tr>
              <a:tr h="388069">
                <a:tc>
                  <a:txBody>
                    <a:bodyPr/>
                    <a:lstStyle/>
                    <a:p>
                      <a:r>
                        <a:rPr lang="fr-CA" sz="1200" dirty="0"/>
                        <a:t>Coût des matières premières</a:t>
                      </a:r>
                    </a:p>
                  </a:txBody>
                  <a:tcPr marL="68580" marR="68580" marT="34290" marB="34290" anchor="ctr">
                    <a:solidFill>
                      <a:srgbClr val="FFFFCC"/>
                    </a:solidFill>
                  </a:tcPr>
                </a:tc>
                <a:tc>
                  <a:txBody>
                    <a:bodyPr/>
                    <a:lstStyle/>
                    <a:p>
                      <a:pPr algn="ctr"/>
                      <a:endParaRPr lang="fr-CA" sz="1200" dirty="0"/>
                    </a:p>
                  </a:txBody>
                  <a:tcPr marL="68580" marR="68580" marT="34290" marB="34290" anchor="ctr">
                    <a:noFill/>
                  </a:tcPr>
                </a:tc>
                <a:tc>
                  <a:txBody>
                    <a:bodyPr/>
                    <a:lstStyle/>
                    <a:p>
                      <a:pPr algn="ctr"/>
                      <a:endParaRPr lang="fr-CA" sz="1200" dirty="0"/>
                    </a:p>
                  </a:txBody>
                  <a:tcPr marL="68580" marR="68580" marT="34290" marB="34290" anchor="ctr">
                    <a:noFill/>
                  </a:tcPr>
                </a:tc>
                <a:extLst>
                  <a:ext uri="{0D108BD9-81ED-4DB2-BD59-A6C34878D82A}">
                    <a16:rowId xmlns:a16="http://schemas.microsoft.com/office/drawing/2014/main" val="3894892712"/>
                  </a:ext>
                </a:extLst>
              </a:tr>
              <a:tr h="435628">
                <a:tc>
                  <a:txBody>
                    <a:bodyPr/>
                    <a:lstStyle/>
                    <a:p>
                      <a:r>
                        <a:rPr lang="fr-CA" sz="1200" dirty="0"/>
                        <a:t>Coûts de main d’œuvre</a:t>
                      </a:r>
                    </a:p>
                  </a:txBody>
                  <a:tcPr marL="68580" marR="68580" marT="34290" marB="34290" anchor="ctr">
                    <a:solidFill>
                      <a:srgbClr val="FFFFCC"/>
                    </a:solidFill>
                  </a:tcPr>
                </a:tc>
                <a:tc>
                  <a:txBody>
                    <a:bodyPr/>
                    <a:lstStyle/>
                    <a:p>
                      <a:pPr algn="ctr"/>
                      <a:r>
                        <a:rPr lang="fr-CA" sz="1200" dirty="0"/>
                        <a:t>2,00 $</a:t>
                      </a:r>
                    </a:p>
                  </a:txBody>
                  <a:tcPr marL="68580" marR="68580" marT="34290" marB="34290" anchor="ctr">
                    <a:noFill/>
                  </a:tcPr>
                </a:tc>
                <a:tc>
                  <a:txBody>
                    <a:bodyPr/>
                    <a:lstStyle/>
                    <a:p>
                      <a:pPr algn="ctr"/>
                      <a:r>
                        <a:rPr lang="fr-CA" sz="1200" dirty="0"/>
                        <a:t>29 500,00 $</a:t>
                      </a:r>
                    </a:p>
                  </a:txBody>
                  <a:tcPr marL="68580" marR="68580" marT="34290" marB="34290" anchor="ctr">
                    <a:noFill/>
                  </a:tcPr>
                </a:tc>
                <a:extLst>
                  <a:ext uri="{0D108BD9-81ED-4DB2-BD59-A6C34878D82A}">
                    <a16:rowId xmlns:a16="http://schemas.microsoft.com/office/drawing/2014/main" val="3402460911"/>
                  </a:ext>
                </a:extLst>
              </a:tr>
              <a:tr h="388069">
                <a:tc>
                  <a:txBody>
                    <a:bodyPr/>
                    <a:lstStyle/>
                    <a:p>
                      <a:r>
                        <a:rPr lang="fr-CA" sz="1200" dirty="0"/>
                        <a:t>Coûts indirects</a:t>
                      </a:r>
                    </a:p>
                  </a:txBody>
                  <a:tcPr marL="68580" marR="68580" marT="34290" marB="34290" anchor="ctr">
                    <a:solidFill>
                      <a:srgbClr val="FFFFCC"/>
                    </a:solidFill>
                  </a:tcPr>
                </a:tc>
                <a:tc>
                  <a:txBody>
                    <a:bodyPr/>
                    <a:lstStyle/>
                    <a:p>
                      <a:pPr algn="ctr"/>
                      <a:r>
                        <a:rPr lang="fr-CA" sz="1200" dirty="0"/>
                        <a:t>1,25 $</a:t>
                      </a:r>
                    </a:p>
                  </a:txBody>
                  <a:tcPr marL="68580" marR="68580" marT="34290" marB="34290" anchor="ctr">
                    <a:noFill/>
                  </a:tcPr>
                </a:tc>
                <a:tc>
                  <a:txBody>
                    <a:bodyPr/>
                    <a:lstStyle/>
                    <a:p>
                      <a:pPr algn="ctr"/>
                      <a:r>
                        <a:rPr lang="fr-CA" sz="1200" dirty="0"/>
                        <a:t>18 437,50 $</a:t>
                      </a:r>
                    </a:p>
                  </a:txBody>
                  <a:tcPr marL="68580" marR="68580" marT="34290" marB="34290" anchor="ctr">
                    <a:noFill/>
                  </a:tcPr>
                </a:tc>
                <a:extLst>
                  <a:ext uri="{0D108BD9-81ED-4DB2-BD59-A6C34878D82A}">
                    <a16:rowId xmlns:a16="http://schemas.microsoft.com/office/drawing/2014/main" val="1375142288"/>
                  </a:ext>
                </a:extLst>
              </a:tr>
              <a:tr h="388069">
                <a:tc>
                  <a:txBody>
                    <a:bodyPr/>
                    <a:lstStyle/>
                    <a:p>
                      <a:r>
                        <a:rPr lang="fr-CA" sz="1200" dirty="0"/>
                        <a:t>Profit net avant impôts</a:t>
                      </a:r>
                    </a:p>
                  </a:txBody>
                  <a:tcPr marL="68580" marR="68580" marT="34290" marB="34290" anchor="ctr">
                    <a:solidFill>
                      <a:srgbClr val="FFFFCC"/>
                    </a:solidFill>
                  </a:tcPr>
                </a:tc>
                <a:tc>
                  <a:txBody>
                    <a:bodyPr/>
                    <a:lstStyle/>
                    <a:p>
                      <a:pPr algn="ctr"/>
                      <a:endParaRPr lang="fr-CA" sz="1200" dirty="0"/>
                    </a:p>
                  </a:txBody>
                  <a:tcPr marL="68580" marR="68580" marT="34290" marB="34290" anchor="ctr">
                    <a:noFill/>
                  </a:tcPr>
                </a:tc>
                <a:tc>
                  <a:txBody>
                    <a:bodyPr/>
                    <a:lstStyle/>
                    <a:p>
                      <a:pPr algn="ctr"/>
                      <a:endParaRPr lang="fr-CA" sz="1200" dirty="0"/>
                    </a:p>
                  </a:txBody>
                  <a:tcPr marL="68580" marR="68580" marT="34290" marB="34290" anchor="ctr">
                    <a:noFill/>
                  </a:tcPr>
                </a:tc>
                <a:extLst>
                  <a:ext uri="{0D108BD9-81ED-4DB2-BD59-A6C34878D82A}">
                    <a16:rowId xmlns:a16="http://schemas.microsoft.com/office/drawing/2014/main" val="1187584214"/>
                  </a:ext>
                </a:extLst>
              </a:tr>
              <a:tr h="388069">
                <a:tc>
                  <a:txBody>
                    <a:bodyPr/>
                    <a:lstStyle/>
                    <a:p>
                      <a:r>
                        <a:rPr lang="fr-CA" sz="1200" dirty="0"/>
                        <a:t>Pourcentage des ventes</a:t>
                      </a:r>
                    </a:p>
                  </a:txBody>
                  <a:tcPr marL="68580" marR="68580" marT="34290" marB="34290" anchor="ctr">
                    <a:solidFill>
                      <a:srgbClr val="FFFFCC"/>
                    </a:solidFill>
                  </a:tcPr>
                </a:tc>
                <a:tc>
                  <a:txBody>
                    <a:bodyPr/>
                    <a:lstStyle/>
                    <a:p>
                      <a:pPr algn="ctr"/>
                      <a:endParaRPr lang="fr-CA" sz="1200" dirty="0"/>
                    </a:p>
                  </a:txBody>
                  <a:tcPr marL="68580" marR="68580" marT="34290" marB="34290" anchor="ctr">
                    <a:noFill/>
                  </a:tcPr>
                </a:tc>
                <a:tc>
                  <a:txBody>
                    <a:bodyPr/>
                    <a:lstStyle/>
                    <a:p>
                      <a:pPr algn="ctr"/>
                      <a:endParaRPr lang="fr-CA" sz="1200" dirty="0"/>
                    </a:p>
                  </a:txBody>
                  <a:tcPr marL="68580" marR="68580" marT="34290" marB="34290" anchor="ctr">
                    <a:noFill/>
                  </a:tcPr>
                </a:tc>
                <a:extLst>
                  <a:ext uri="{0D108BD9-81ED-4DB2-BD59-A6C34878D82A}">
                    <a16:rowId xmlns:a16="http://schemas.microsoft.com/office/drawing/2014/main" val="3567885268"/>
                  </a:ext>
                </a:extLst>
              </a:tr>
            </a:tbl>
          </a:graphicData>
        </a:graphic>
      </p:graphicFrame>
      <p:sp>
        <p:nvSpPr>
          <p:cNvPr id="17" name="ZoneTexte 16">
            <a:extLst>
              <a:ext uri="{FF2B5EF4-FFF2-40B4-BE49-F238E27FC236}">
                <a16:creationId xmlns:a16="http://schemas.microsoft.com/office/drawing/2014/main" id="{4B7D7136-1C76-F53D-62C6-8D5B02C23BC9}"/>
              </a:ext>
            </a:extLst>
          </p:cNvPr>
          <p:cNvSpPr txBox="1"/>
          <p:nvPr/>
        </p:nvSpPr>
        <p:spPr>
          <a:xfrm>
            <a:off x="216568" y="5229808"/>
            <a:ext cx="4355432" cy="425034"/>
          </a:xfrm>
          <a:prstGeom prst="rect">
            <a:avLst/>
          </a:prstGeom>
        </p:spPr>
        <p:txBody>
          <a:bodyPr vert="horz" wrap="square" lIns="91440" tIns="45720" rIns="91440" bIns="45720" rtlCol="0">
            <a:normAutofit/>
          </a:bodyPr>
          <a:lstStyle/>
          <a:p>
            <a:pPr>
              <a:buClr>
                <a:schemeClr val="accent2"/>
              </a:buClr>
              <a:buSzPct val="125000"/>
            </a:pPr>
            <a:r>
              <a:rPr lang="fr-CA" sz="1670" dirty="0"/>
              <a:t>Augmentation du profit net avant impôts : </a:t>
            </a:r>
          </a:p>
        </p:txBody>
      </p:sp>
    </p:spTree>
    <p:extLst>
      <p:ext uri="{BB962C8B-B14F-4D97-AF65-F5344CB8AC3E}">
        <p14:creationId xmlns:p14="http://schemas.microsoft.com/office/powerpoint/2010/main" val="608746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532000" y="481014"/>
            <a:ext cx="9096000" cy="823361"/>
          </a:xfrm>
        </p:spPr>
        <p:txBody>
          <a:bodyPr anchor="ctr">
            <a:normAutofit/>
          </a:bodyPr>
          <a:lstStyle/>
          <a:p>
            <a:r>
              <a:rPr lang="fr-CA" dirty="0"/>
              <a:t>Objectifs de la fonction approvisionnement</a:t>
            </a:r>
          </a:p>
        </p:txBody>
      </p:sp>
      <p:sp>
        <p:nvSpPr>
          <p:cNvPr id="299012" name="Rectangle 4"/>
          <p:cNvSpPr>
            <a:spLocks noGrp="1" noChangeArrowheads="1"/>
          </p:cNvSpPr>
          <p:nvPr>
            <p:ph sz="half" idx="1"/>
          </p:nvPr>
        </p:nvSpPr>
        <p:spPr>
          <a:xfrm>
            <a:off x="508000" y="1517735"/>
            <a:ext cx="4487333" cy="3247941"/>
          </a:xfrm>
        </p:spPr>
        <p:txBody>
          <a:bodyPr>
            <a:normAutofit/>
          </a:bodyPr>
          <a:lstStyle/>
          <a:p>
            <a:pPr marL="0" indent="0">
              <a:lnSpc>
                <a:spcPct val="90000"/>
              </a:lnSpc>
              <a:buNone/>
            </a:pPr>
            <a:r>
              <a:rPr lang="fr-CH" sz="1500" dirty="0"/>
              <a:t>La gestion des approvisionnements vise à satisfaire les besoins en biens et en services des demandeurs au sein de l’entreprise, selon :</a:t>
            </a:r>
          </a:p>
          <a:p>
            <a:pPr>
              <a:lnSpc>
                <a:spcPct val="90000"/>
              </a:lnSpc>
            </a:pPr>
            <a:endParaRPr lang="fr-CH" sz="1500" dirty="0"/>
          </a:p>
          <a:p>
            <a:pPr marL="538163" lvl="1" indent="-239713">
              <a:lnSpc>
                <a:spcPct val="90000"/>
              </a:lnSpc>
            </a:pPr>
            <a:r>
              <a:rPr lang="fr-CH" sz="1500" dirty="0"/>
              <a:t>Le niveau de </a:t>
            </a:r>
            <a:r>
              <a:rPr lang="fr-CH" sz="1500" b="1" dirty="0"/>
              <a:t>qualité</a:t>
            </a:r>
            <a:r>
              <a:rPr lang="fr-CH" sz="1500" dirty="0"/>
              <a:t> exigé;</a:t>
            </a:r>
          </a:p>
          <a:p>
            <a:pPr marL="538163" lvl="1" indent="-239713">
              <a:lnSpc>
                <a:spcPct val="90000"/>
              </a:lnSpc>
            </a:pPr>
            <a:r>
              <a:rPr lang="fr-CH" sz="1500" dirty="0"/>
              <a:t>La </a:t>
            </a:r>
            <a:r>
              <a:rPr lang="fr-CH" sz="1500" b="1" dirty="0"/>
              <a:t>quantité</a:t>
            </a:r>
            <a:r>
              <a:rPr lang="fr-CH" sz="1500" dirty="0"/>
              <a:t> requise;</a:t>
            </a:r>
          </a:p>
          <a:p>
            <a:pPr marL="538163" lvl="1" indent="-239713">
              <a:lnSpc>
                <a:spcPct val="90000"/>
              </a:lnSpc>
            </a:pPr>
            <a:r>
              <a:rPr lang="fr-CH" sz="1500" dirty="0"/>
              <a:t>Le </a:t>
            </a:r>
            <a:r>
              <a:rPr lang="fr-CH" sz="1500" b="1" dirty="0"/>
              <a:t>délai</a:t>
            </a:r>
            <a:r>
              <a:rPr lang="fr-CH" sz="1500" dirty="0"/>
              <a:t> ou le temps fixé;</a:t>
            </a:r>
          </a:p>
          <a:p>
            <a:pPr marL="538163" lvl="1" indent="-239713">
              <a:lnSpc>
                <a:spcPct val="90000"/>
              </a:lnSpc>
            </a:pPr>
            <a:r>
              <a:rPr lang="fr-CH" sz="1500" dirty="0"/>
              <a:t>L’endroit ou le</a:t>
            </a:r>
            <a:r>
              <a:rPr lang="fr-CH" sz="1500" b="1" dirty="0"/>
              <a:t> lieu </a:t>
            </a:r>
            <a:r>
              <a:rPr lang="fr-CH" sz="1500" dirty="0"/>
              <a:t>voulu;</a:t>
            </a:r>
          </a:p>
          <a:p>
            <a:pPr marL="538163" lvl="1" indent="-239713">
              <a:lnSpc>
                <a:spcPct val="90000"/>
              </a:lnSpc>
            </a:pPr>
            <a:r>
              <a:rPr lang="fr-CH" sz="1500" dirty="0"/>
              <a:t>Au moindre</a:t>
            </a:r>
            <a:r>
              <a:rPr lang="fr-CH" sz="1500" b="1" dirty="0"/>
              <a:t> coût </a:t>
            </a:r>
            <a:r>
              <a:rPr lang="fr-CH" sz="1500" dirty="0"/>
              <a:t>possible. </a:t>
            </a:r>
          </a:p>
          <a:p>
            <a:pPr lvl="1">
              <a:lnSpc>
                <a:spcPct val="90000"/>
              </a:lnSpc>
            </a:pPr>
            <a:endParaRPr lang="fr-CH" sz="1500" dirty="0"/>
          </a:p>
          <a:p>
            <a:pPr marL="0" indent="0">
              <a:lnSpc>
                <a:spcPct val="90000"/>
              </a:lnSpc>
              <a:buNone/>
            </a:pPr>
            <a:r>
              <a:rPr lang="fr-CH" sz="1500" dirty="0"/>
              <a:t>La fonction approvisionnement a ainsi une dimension stratégique et couvre diverses activités tactiques et opérationnelles. </a:t>
            </a:r>
          </a:p>
          <a:p>
            <a:pPr>
              <a:lnSpc>
                <a:spcPct val="90000"/>
              </a:lnSpc>
            </a:pPr>
            <a:endParaRPr lang="fr-CH" sz="1500" dirty="0"/>
          </a:p>
          <a:p>
            <a:pPr>
              <a:lnSpc>
                <a:spcPct val="90000"/>
              </a:lnSpc>
            </a:pPr>
            <a:endParaRPr lang="fr-CA" sz="1500" dirty="0"/>
          </a:p>
        </p:txBody>
      </p:sp>
      <p:pic>
        <p:nvPicPr>
          <p:cNvPr id="4" name="Picture 2" descr="Une image contenant personne, bouteille, homme, femme&#10;&#10;Description générée automatiquement">
            <a:extLst>
              <a:ext uri="{FF2B5EF4-FFF2-40B4-BE49-F238E27FC236}">
                <a16:creationId xmlns:a16="http://schemas.microsoft.com/office/drawing/2014/main" id="{8CCE3768-C0C3-4176-91C0-09D0305FE1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467" b="-3"/>
          <a:stretch/>
        </p:blipFill>
        <p:spPr bwMode="auto">
          <a:xfrm>
            <a:off x="5164667" y="1517735"/>
            <a:ext cx="4487333" cy="3247941"/>
          </a:xfrm>
          <a:prstGeom prst="rect">
            <a:avLst/>
          </a:prstGeom>
          <a:solidFill>
            <a:srgbClr val="FFFFFF"/>
          </a:solid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1364" name="Group 4"/>
          <p:cNvGrpSpPr>
            <a:grpSpLocks/>
          </p:cNvGrpSpPr>
          <p:nvPr/>
        </p:nvGrpSpPr>
        <p:grpSpPr bwMode="auto">
          <a:xfrm>
            <a:off x="3497597" y="1537691"/>
            <a:ext cx="4505325" cy="3886200"/>
            <a:chOff x="2016" y="480"/>
            <a:chExt cx="3784" cy="3264"/>
          </a:xfrm>
        </p:grpSpPr>
        <p:sp>
          <p:nvSpPr>
            <p:cNvPr id="271365" name="Oval 5"/>
            <p:cNvSpPr>
              <a:spLocks noChangeArrowheads="1"/>
            </p:cNvSpPr>
            <p:nvPr/>
          </p:nvSpPr>
          <p:spPr bwMode="auto">
            <a:xfrm>
              <a:off x="3928" y="480"/>
              <a:ext cx="637" cy="658"/>
            </a:xfrm>
            <a:prstGeom prst="ellipse">
              <a:avLst/>
            </a:prstGeom>
            <a:solidFill>
              <a:srgbClr val="A0D2C5"/>
            </a:solidFill>
            <a:ln w="12700">
              <a:solidFill>
                <a:schemeClr val="tx1"/>
              </a:solidFill>
              <a:round/>
              <a:headEnd/>
              <a:tailEnd/>
            </a:ln>
            <a:effectLst/>
          </p:spPr>
          <p:txBody>
            <a:bodyPr wrap="none" anchor="ctr"/>
            <a:lstStyle/>
            <a:p>
              <a:endParaRPr lang="fr-CA" sz="1350"/>
            </a:p>
          </p:txBody>
        </p:sp>
        <p:sp>
          <p:nvSpPr>
            <p:cNvPr id="271366" name="Oval 6"/>
            <p:cNvSpPr>
              <a:spLocks noChangeArrowheads="1"/>
            </p:cNvSpPr>
            <p:nvPr/>
          </p:nvSpPr>
          <p:spPr bwMode="auto">
            <a:xfrm>
              <a:off x="3928" y="2945"/>
              <a:ext cx="637" cy="657"/>
            </a:xfrm>
            <a:prstGeom prst="ellipse">
              <a:avLst/>
            </a:prstGeom>
            <a:solidFill>
              <a:srgbClr val="A0D2C5"/>
            </a:solidFill>
            <a:ln w="12700">
              <a:solidFill>
                <a:schemeClr val="tx1"/>
              </a:solidFill>
              <a:round/>
              <a:headEnd/>
              <a:tailEnd/>
            </a:ln>
            <a:effectLst/>
          </p:spPr>
          <p:txBody>
            <a:bodyPr wrap="none" anchor="ctr"/>
            <a:lstStyle/>
            <a:p>
              <a:endParaRPr lang="fr-CA" sz="1350"/>
            </a:p>
          </p:txBody>
        </p:sp>
        <p:sp>
          <p:nvSpPr>
            <p:cNvPr id="271367" name="Oval 7"/>
            <p:cNvSpPr>
              <a:spLocks noChangeArrowheads="1"/>
            </p:cNvSpPr>
            <p:nvPr/>
          </p:nvSpPr>
          <p:spPr bwMode="auto">
            <a:xfrm>
              <a:off x="5048" y="1720"/>
              <a:ext cx="634" cy="657"/>
            </a:xfrm>
            <a:prstGeom prst="ellipse">
              <a:avLst/>
            </a:prstGeom>
            <a:solidFill>
              <a:srgbClr val="A0D2C5"/>
            </a:solidFill>
            <a:ln w="12700">
              <a:solidFill>
                <a:schemeClr val="tx1"/>
              </a:solidFill>
              <a:round/>
              <a:headEnd/>
              <a:tailEnd/>
            </a:ln>
            <a:effectLst/>
          </p:spPr>
          <p:txBody>
            <a:bodyPr wrap="none" anchor="ctr"/>
            <a:lstStyle/>
            <a:p>
              <a:endParaRPr lang="fr-CA" sz="1350"/>
            </a:p>
          </p:txBody>
        </p:sp>
        <p:sp>
          <p:nvSpPr>
            <p:cNvPr id="271368" name="Oval 8"/>
            <p:cNvSpPr>
              <a:spLocks noChangeArrowheads="1"/>
            </p:cNvSpPr>
            <p:nvPr/>
          </p:nvSpPr>
          <p:spPr bwMode="auto">
            <a:xfrm>
              <a:off x="4791" y="890"/>
              <a:ext cx="637" cy="658"/>
            </a:xfrm>
            <a:prstGeom prst="ellipse">
              <a:avLst/>
            </a:prstGeom>
            <a:solidFill>
              <a:srgbClr val="A0D2C5"/>
            </a:solidFill>
            <a:ln w="12700">
              <a:solidFill>
                <a:schemeClr val="tx1"/>
              </a:solidFill>
              <a:round/>
              <a:headEnd/>
              <a:tailEnd/>
            </a:ln>
            <a:effectLst/>
          </p:spPr>
          <p:txBody>
            <a:bodyPr wrap="none" anchor="ctr"/>
            <a:lstStyle/>
            <a:p>
              <a:endParaRPr lang="fr-CA" sz="1350"/>
            </a:p>
          </p:txBody>
        </p:sp>
        <p:sp>
          <p:nvSpPr>
            <p:cNvPr id="271369" name="Oval 9"/>
            <p:cNvSpPr>
              <a:spLocks noChangeArrowheads="1"/>
            </p:cNvSpPr>
            <p:nvPr/>
          </p:nvSpPr>
          <p:spPr bwMode="auto">
            <a:xfrm>
              <a:off x="4757" y="2573"/>
              <a:ext cx="634" cy="657"/>
            </a:xfrm>
            <a:prstGeom prst="ellipse">
              <a:avLst/>
            </a:prstGeom>
            <a:solidFill>
              <a:srgbClr val="A0D2C5"/>
            </a:solidFill>
            <a:ln w="12700">
              <a:solidFill>
                <a:schemeClr val="tx1"/>
              </a:solidFill>
              <a:round/>
              <a:headEnd/>
              <a:tailEnd/>
            </a:ln>
            <a:effectLst/>
          </p:spPr>
          <p:txBody>
            <a:bodyPr wrap="none" anchor="ctr"/>
            <a:lstStyle/>
            <a:p>
              <a:endParaRPr lang="fr-CA" sz="1350"/>
            </a:p>
          </p:txBody>
        </p:sp>
        <p:sp>
          <p:nvSpPr>
            <p:cNvPr id="271370" name="Oval 10"/>
            <p:cNvSpPr>
              <a:spLocks noChangeArrowheads="1"/>
            </p:cNvSpPr>
            <p:nvPr/>
          </p:nvSpPr>
          <p:spPr bwMode="auto">
            <a:xfrm>
              <a:off x="3148" y="839"/>
              <a:ext cx="637" cy="659"/>
            </a:xfrm>
            <a:prstGeom prst="ellipse">
              <a:avLst/>
            </a:prstGeom>
            <a:solidFill>
              <a:srgbClr val="A0D2C5"/>
            </a:solidFill>
            <a:ln w="12700">
              <a:solidFill>
                <a:schemeClr val="tx1"/>
              </a:solidFill>
              <a:round/>
              <a:headEnd/>
              <a:tailEnd/>
            </a:ln>
            <a:effectLst/>
          </p:spPr>
          <p:txBody>
            <a:bodyPr wrap="none" anchor="ctr"/>
            <a:lstStyle/>
            <a:p>
              <a:endParaRPr lang="fr-CA" sz="1350"/>
            </a:p>
          </p:txBody>
        </p:sp>
        <p:sp>
          <p:nvSpPr>
            <p:cNvPr id="271371" name="Oval 11"/>
            <p:cNvSpPr>
              <a:spLocks noChangeArrowheads="1"/>
            </p:cNvSpPr>
            <p:nvPr/>
          </p:nvSpPr>
          <p:spPr bwMode="auto">
            <a:xfrm>
              <a:off x="2016" y="3086"/>
              <a:ext cx="636" cy="658"/>
            </a:xfrm>
            <a:prstGeom prst="ellipse">
              <a:avLst/>
            </a:prstGeom>
            <a:solidFill>
              <a:srgbClr val="A0D2C5"/>
            </a:solidFill>
            <a:ln w="12700">
              <a:solidFill>
                <a:schemeClr val="tx1"/>
              </a:solidFill>
              <a:round/>
              <a:headEnd/>
              <a:tailEnd/>
            </a:ln>
            <a:effectLst/>
          </p:spPr>
          <p:txBody>
            <a:bodyPr wrap="none" anchor="ctr"/>
            <a:lstStyle/>
            <a:p>
              <a:endParaRPr lang="fr-CA" sz="1350"/>
            </a:p>
          </p:txBody>
        </p:sp>
        <p:sp>
          <p:nvSpPr>
            <p:cNvPr id="271372" name="Oval 12"/>
            <p:cNvSpPr>
              <a:spLocks noChangeArrowheads="1"/>
            </p:cNvSpPr>
            <p:nvPr/>
          </p:nvSpPr>
          <p:spPr bwMode="auto">
            <a:xfrm>
              <a:off x="3816" y="1612"/>
              <a:ext cx="855" cy="881"/>
            </a:xfrm>
            <a:prstGeom prst="ellipse">
              <a:avLst/>
            </a:prstGeom>
            <a:solidFill>
              <a:schemeClr val="accent1"/>
            </a:solidFill>
            <a:ln w="12700">
              <a:solidFill>
                <a:schemeClr val="tx1"/>
              </a:solidFill>
              <a:round/>
              <a:headEnd/>
              <a:tailEnd/>
            </a:ln>
            <a:effectLst/>
          </p:spPr>
          <p:txBody>
            <a:bodyPr wrap="none" anchor="ctr"/>
            <a:lstStyle/>
            <a:p>
              <a:endParaRPr lang="fr-CA" sz="1350"/>
            </a:p>
          </p:txBody>
        </p:sp>
        <p:sp>
          <p:nvSpPr>
            <p:cNvPr id="271373" name="Rectangle 13"/>
            <p:cNvSpPr>
              <a:spLocks noChangeArrowheads="1"/>
            </p:cNvSpPr>
            <p:nvPr/>
          </p:nvSpPr>
          <p:spPr bwMode="auto">
            <a:xfrm>
              <a:off x="3798" y="1971"/>
              <a:ext cx="924" cy="166"/>
            </a:xfrm>
            <a:prstGeom prst="rect">
              <a:avLst/>
            </a:prstGeom>
            <a:noFill/>
            <a:ln w="12700">
              <a:noFill/>
              <a:miter lim="800000"/>
              <a:headEnd/>
              <a:tailEnd/>
            </a:ln>
            <a:effectLst/>
          </p:spPr>
          <p:txBody>
            <a:bodyPr lIns="34529" tIns="17859" rIns="34529" bIns="17859">
              <a:spAutoFit/>
            </a:bodyPr>
            <a:lstStyle/>
            <a:p>
              <a:pPr algn="ctr" defTabSz="171450" eaLnBrk="0" hangingPunct="0"/>
              <a:endParaRPr lang="en-US" sz="1050" b="1">
                <a:solidFill>
                  <a:srgbClr val="CE2700"/>
                </a:solidFill>
              </a:endParaRPr>
            </a:p>
          </p:txBody>
        </p:sp>
        <p:sp>
          <p:nvSpPr>
            <p:cNvPr id="271374" name="Rectangle 14"/>
            <p:cNvSpPr>
              <a:spLocks noChangeArrowheads="1"/>
            </p:cNvSpPr>
            <p:nvPr/>
          </p:nvSpPr>
          <p:spPr bwMode="auto">
            <a:xfrm>
              <a:off x="4063" y="726"/>
              <a:ext cx="570" cy="166"/>
            </a:xfrm>
            <a:prstGeom prst="rect">
              <a:avLst/>
            </a:prstGeom>
            <a:noFill/>
            <a:ln w="12700">
              <a:noFill/>
              <a:miter lim="800000"/>
              <a:headEnd/>
              <a:tailEnd/>
            </a:ln>
            <a:effectLst/>
          </p:spPr>
          <p:txBody>
            <a:bodyPr lIns="34529" tIns="17859" rIns="34529" bIns="17859">
              <a:spAutoFit/>
            </a:bodyPr>
            <a:lstStyle/>
            <a:p>
              <a:pPr defTabSz="171450" eaLnBrk="0" hangingPunct="0"/>
              <a:endParaRPr lang="en-US" sz="1050" b="1">
                <a:solidFill>
                  <a:srgbClr val="CE2700"/>
                </a:solidFill>
              </a:endParaRPr>
            </a:p>
          </p:txBody>
        </p:sp>
        <p:sp>
          <p:nvSpPr>
            <p:cNvPr id="271375" name="Rectangle 15"/>
            <p:cNvSpPr>
              <a:spLocks noChangeArrowheads="1"/>
            </p:cNvSpPr>
            <p:nvPr/>
          </p:nvSpPr>
          <p:spPr bwMode="auto">
            <a:xfrm>
              <a:off x="4776" y="1151"/>
              <a:ext cx="818" cy="166"/>
            </a:xfrm>
            <a:prstGeom prst="rect">
              <a:avLst/>
            </a:prstGeom>
            <a:noFill/>
            <a:ln w="12700">
              <a:noFill/>
              <a:miter lim="800000"/>
              <a:headEnd/>
              <a:tailEnd/>
            </a:ln>
            <a:effectLst/>
          </p:spPr>
          <p:txBody>
            <a:bodyPr lIns="34529" tIns="17859" rIns="34529" bIns="17859">
              <a:spAutoFit/>
            </a:bodyPr>
            <a:lstStyle/>
            <a:p>
              <a:pPr defTabSz="171450" eaLnBrk="0" hangingPunct="0"/>
              <a:endParaRPr lang="en-US" sz="1050" b="1">
                <a:solidFill>
                  <a:srgbClr val="CE2700"/>
                </a:solidFill>
              </a:endParaRPr>
            </a:p>
          </p:txBody>
        </p:sp>
        <p:sp>
          <p:nvSpPr>
            <p:cNvPr id="271376" name="Rectangle 16"/>
            <p:cNvSpPr>
              <a:spLocks noChangeArrowheads="1"/>
            </p:cNvSpPr>
            <p:nvPr/>
          </p:nvSpPr>
          <p:spPr bwMode="auto">
            <a:xfrm>
              <a:off x="3135" y="1065"/>
              <a:ext cx="704" cy="166"/>
            </a:xfrm>
            <a:prstGeom prst="rect">
              <a:avLst/>
            </a:prstGeom>
            <a:noFill/>
            <a:ln w="12700">
              <a:noFill/>
              <a:miter lim="800000"/>
              <a:headEnd/>
              <a:tailEnd/>
            </a:ln>
            <a:effectLst/>
          </p:spPr>
          <p:txBody>
            <a:bodyPr lIns="34529" tIns="17859" rIns="34529" bIns="17859">
              <a:spAutoFit/>
            </a:bodyPr>
            <a:lstStyle/>
            <a:p>
              <a:pPr defTabSz="171450" eaLnBrk="0" hangingPunct="0"/>
              <a:endParaRPr lang="en-US" sz="1050" b="1">
                <a:solidFill>
                  <a:srgbClr val="CE2700"/>
                </a:solidFill>
              </a:endParaRPr>
            </a:p>
          </p:txBody>
        </p:sp>
        <p:sp>
          <p:nvSpPr>
            <p:cNvPr id="271377" name="Rectangle 17"/>
            <p:cNvSpPr>
              <a:spLocks noChangeArrowheads="1"/>
            </p:cNvSpPr>
            <p:nvPr/>
          </p:nvSpPr>
          <p:spPr bwMode="auto">
            <a:xfrm>
              <a:off x="5134" y="1821"/>
              <a:ext cx="666" cy="166"/>
            </a:xfrm>
            <a:prstGeom prst="rect">
              <a:avLst/>
            </a:prstGeom>
            <a:noFill/>
            <a:ln w="12700">
              <a:noFill/>
              <a:miter lim="800000"/>
              <a:headEnd/>
              <a:tailEnd/>
            </a:ln>
            <a:effectLst/>
          </p:spPr>
          <p:txBody>
            <a:bodyPr lIns="34529" tIns="17859" rIns="34529" bIns="17859">
              <a:spAutoFit/>
            </a:bodyPr>
            <a:lstStyle/>
            <a:p>
              <a:pPr defTabSz="171450" eaLnBrk="0" hangingPunct="0"/>
              <a:endParaRPr lang="en-US" sz="1050" b="1">
                <a:solidFill>
                  <a:srgbClr val="CE2700"/>
                </a:solidFill>
              </a:endParaRPr>
            </a:p>
          </p:txBody>
        </p:sp>
        <p:sp>
          <p:nvSpPr>
            <p:cNvPr id="271378" name="Rectangle 18"/>
            <p:cNvSpPr>
              <a:spLocks noChangeArrowheads="1"/>
            </p:cNvSpPr>
            <p:nvPr/>
          </p:nvSpPr>
          <p:spPr bwMode="auto">
            <a:xfrm>
              <a:off x="4858" y="2816"/>
              <a:ext cx="614" cy="166"/>
            </a:xfrm>
            <a:prstGeom prst="rect">
              <a:avLst/>
            </a:prstGeom>
            <a:noFill/>
            <a:ln w="12700">
              <a:noFill/>
              <a:miter lim="800000"/>
              <a:headEnd/>
              <a:tailEnd/>
            </a:ln>
            <a:effectLst/>
          </p:spPr>
          <p:txBody>
            <a:bodyPr lIns="34529" tIns="17859" rIns="34529" bIns="17859">
              <a:spAutoFit/>
            </a:bodyPr>
            <a:lstStyle/>
            <a:p>
              <a:pPr defTabSz="171450" eaLnBrk="0" hangingPunct="0"/>
              <a:endParaRPr lang="en-US" sz="1050" b="1">
                <a:solidFill>
                  <a:srgbClr val="CE2700"/>
                </a:solidFill>
              </a:endParaRPr>
            </a:p>
          </p:txBody>
        </p:sp>
        <p:sp>
          <p:nvSpPr>
            <p:cNvPr id="271379" name="Rectangle 19"/>
            <p:cNvSpPr>
              <a:spLocks noChangeArrowheads="1"/>
            </p:cNvSpPr>
            <p:nvPr/>
          </p:nvSpPr>
          <p:spPr bwMode="auto">
            <a:xfrm>
              <a:off x="3950" y="3178"/>
              <a:ext cx="703" cy="166"/>
            </a:xfrm>
            <a:prstGeom prst="rect">
              <a:avLst/>
            </a:prstGeom>
            <a:noFill/>
            <a:ln w="12700">
              <a:noFill/>
              <a:miter lim="800000"/>
              <a:headEnd/>
              <a:tailEnd/>
            </a:ln>
            <a:effectLst/>
          </p:spPr>
          <p:txBody>
            <a:bodyPr lIns="34529" tIns="17859" rIns="34529" bIns="17859">
              <a:spAutoFit/>
            </a:bodyPr>
            <a:lstStyle/>
            <a:p>
              <a:pPr defTabSz="171450" eaLnBrk="0" hangingPunct="0"/>
              <a:endParaRPr lang="en-US" sz="1050" b="1">
                <a:solidFill>
                  <a:srgbClr val="CE2700"/>
                </a:solidFill>
              </a:endParaRPr>
            </a:p>
          </p:txBody>
        </p:sp>
        <p:sp>
          <p:nvSpPr>
            <p:cNvPr id="271380" name="Rectangle 20"/>
            <p:cNvSpPr>
              <a:spLocks noChangeArrowheads="1"/>
            </p:cNvSpPr>
            <p:nvPr/>
          </p:nvSpPr>
          <p:spPr bwMode="auto">
            <a:xfrm>
              <a:off x="2044" y="3340"/>
              <a:ext cx="615" cy="166"/>
            </a:xfrm>
            <a:prstGeom prst="rect">
              <a:avLst/>
            </a:prstGeom>
            <a:noFill/>
            <a:ln w="12700">
              <a:noFill/>
              <a:miter lim="800000"/>
              <a:headEnd/>
              <a:tailEnd/>
            </a:ln>
            <a:effectLst/>
          </p:spPr>
          <p:txBody>
            <a:bodyPr lIns="34529" tIns="17859" rIns="34529" bIns="17859">
              <a:spAutoFit/>
            </a:bodyPr>
            <a:lstStyle/>
            <a:p>
              <a:pPr defTabSz="171450" eaLnBrk="0" hangingPunct="0"/>
              <a:endParaRPr lang="en-US" sz="1050" b="1">
                <a:solidFill>
                  <a:srgbClr val="CE2700"/>
                </a:solidFill>
              </a:endParaRPr>
            </a:p>
          </p:txBody>
        </p:sp>
        <p:sp>
          <p:nvSpPr>
            <p:cNvPr id="271381" name="Line 21"/>
            <p:cNvSpPr>
              <a:spLocks noChangeShapeType="1"/>
            </p:cNvSpPr>
            <p:nvPr/>
          </p:nvSpPr>
          <p:spPr bwMode="auto">
            <a:xfrm flipV="1">
              <a:off x="2576" y="2337"/>
              <a:ext cx="1318" cy="876"/>
            </a:xfrm>
            <a:prstGeom prst="line">
              <a:avLst/>
            </a:prstGeom>
            <a:noFill/>
            <a:ln w="12700">
              <a:solidFill>
                <a:schemeClr val="tx1"/>
              </a:solidFill>
              <a:round/>
              <a:headEnd type="triangle" w="med" len="med"/>
              <a:tailEnd type="triangle" w="med" len="med"/>
            </a:ln>
            <a:effectLst/>
          </p:spPr>
          <p:txBody>
            <a:bodyPr wrap="none" anchor="ctr"/>
            <a:lstStyle/>
            <a:p>
              <a:endParaRPr lang="fr-CA" sz="1350"/>
            </a:p>
          </p:txBody>
        </p:sp>
        <p:sp>
          <p:nvSpPr>
            <p:cNvPr id="271382" name="Line 22"/>
            <p:cNvSpPr>
              <a:spLocks noChangeShapeType="1"/>
            </p:cNvSpPr>
            <p:nvPr/>
          </p:nvSpPr>
          <p:spPr bwMode="auto">
            <a:xfrm>
              <a:off x="4261" y="1180"/>
              <a:ext cx="0" cy="381"/>
            </a:xfrm>
            <a:prstGeom prst="line">
              <a:avLst/>
            </a:prstGeom>
            <a:noFill/>
            <a:ln w="12700">
              <a:solidFill>
                <a:schemeClr val="tx1"/>
              </a:solidFill>
              <a:round/>
              <a:headEnd type="triangle" w="med" len="med"/>
              <a:tailEnd type="triangle" w="med" len="med"/>
            </a:ln>
            <a:effectLst/>
          </p:spPr>
          <p:txBody>
            <a:bodyPr wrap="none" anchor="ctr"/>
            <a:lstStyle/>
            <a:p>
              <a:endParaRPr lang="fr-CA" sz="1350"/>
            </a:p>
          </p:txBody>
        </p:sp>
        <p:sp>
          <p:nvSpPr>
            <p:cNvPr id="271383" name="Line 23"/>
            <p:cNvSpPr>
              <a:spLocks noChangeShapeType="1"/>
            </p:cNvSpPr>
            <p:nvPr/>
          </p:nvSpPr>
          <p:spPr bwMode="auto">
            <a:xfrm flipH="1">
              <a:off x="4585" y="1481"/>
              <a:ext cx="334" cy="290"/>
            </a:xfrm>
            <a:prstGeom prst="line">
              <a:avLst/>
            </a:prstGeom>
            <a:noFill/>
            <a:ln w="12700">
              <a:solidFill>
                <a:schemeClr val="tx1"/>
              </a:solidFill>
              <a:round/>
              <a:headEnd type="triangle" w="med" len="med"/>
              <a:tailEnd type="triangle" w="med" len="med"/>
            </a:ln>
            <a:effectLst/>
          </p:spPr>
          <p:txBody>
            <a:bodyPr wrap="none" anchor="ctr"/>
            <a:lstStyle/>
            <a:p>
              <a:endParaRPr lang="fr-CA" sz="1350"/>
            </a:p>
          </p:txBody>
        </p:sp>
        <p:sp>
          <p:nvSpPr>
            <p:cNvPr id="271384" name="Line 24"/>
            <p:cNvSpPr>
              <a:spLocks noChangeShapeType="1"/>
            </p:cNvSpPr>
            <p:nvPr/>
          </p:nvSpPr>
          <p:spPr bwMode="auto">
            <a:xfrm>
              <a:off x="3705" y="1428"/>
              <a:ext cx="257" cy="266"/>
            </a:xfrm>
            <a:prstGeom prst="line">
              <a:avLst/>
            </a:prstGeom>
            <a:noFill/>
            <a:ln w="12700">
              <a:solidFill>
                <a:schemeClr val="tx1"/>
              </a:solidFill>
              <a:round/>
              <a:headEnd type="triangle" w="med" len="med"/>
              <a:tailEnd type="triangle" w="med" len="med"/>
            </a:ln>
            <a:effectLst/>
          </p:spPr>
          <p:txBody>
            <a:bodyPr wrap="none" anchor="ctr"/>
            <a:lstStyle/>
            <a:p>
              <a:endParaRPr lang="fr-CA" sz="1350"/>
            </a:p>
          </p:txBody>
        </p:sp>
        <p:sp>
          <p:nvSpPr>
            <p:cNvPr id="271385" name="Line 25"/>
            <p:cNvSpPr>
              <a:spLocks noChangeShapeType="1"/>
            </p:cNvSpPr>
            <p:nvPr/>
          </p:nvSpPr>
          <p:spPr bwMode="auto">
            <a:xfrm>
              <a:off x="4677" y="2038"/>
              <a:ext cx="376" cy="0"/>
            </a:xfrm>
            <a:prstGeom prst="line">
              <a:avLst/>
            </a:prstGeom>
            <a:noFill/>
            <a:ln w="12700">
              <a:solidFill>
                <a:schemeClr val="tx1"/>
              </a:solidFill>
              <a:round/>
              <a:headEnd type="triangle" w="med" len="med"/>
              <a:tailEnd type="triangle" w="med" len="med"/>
            </a:ln>
            <a:effectLst/>
          </p:spPr>
          <p:txBody>
            <a:bodyPr wrap="none" anchor="ctr"/>
            <a:lstStyle/>
            <a:p>
              <a:endParaRPr lang="fr-CA" sz="1350"/>
            </a:p>
          </p:txBody>
        </p:sp>
        <p:sp>
          <p:nvSpPr>
            <p:cNvPr id="271386" name="Line 26"/>
            <p:cNvSpPr>
              <a:spLocks noChangeShapeType="1"/>
            </p:cNvSpPr>
            <p:nvPr/>
          </p:nvSpPr>
          <p:spPr bwMode="auto">
            <a:xfrm>
              <a:off x="4259" y="2530"/>
              <a:ext cx="0" cy="372"/>
            </a:xfrm>
            <a:prstGeom prst="line">
              <a:avLst/>
            </a:prstGeom>
            <a:noFill/>
            <a:ln w="12700">
              <a:solidFill>
                <a:schemeClr val="tx1"/>
              </a:solidFill>
              <a:round/>
              <a:headEnd type="triangle" w="med" len="med"/>
              <a:tailEnd type="triangle" w="med" len="med"/>
            </a:ln>
            <a:effectLst/>
          </p:spPr>
          <p:txBody>
            <a:bodyPr wrap="none" anchor="ctr"/>
            <a:lstStyle/>
            <a:p>
              <a:endParaRPr lang="fr-CA" sz="1350"/>
            </a:p>
          </p:txBody>
        </p:sp>
        <p:sp>
          <p:nvSpPr>
            <p:cNvPr id="271387" name="Line 27"/>
            <p:cNvSpPr>
              <a:spLocks noChangeShapeType="1"/>
            </p:cNvSpPr>
            <p:nvPr/>
          </p:nvSpPr>
          <p:spPr bwMode="auto">
            <a:xfrm>
              <a:off x="4565" y="2390"/>
              <a:ext cx="254" cy="262"/>
            </a:xfrm>
            <a:prstGeom prst="line">
              <a:avLst/>
            </a:prstGeom>
            <a:noFill/>
            <a:ln w="12700">
              <a:solidFill>
                <a:schemeClr val="tx1"/>
              </a:solidFill>
              <a:round/>
              <a:headEnd type="triangle" w="med" len="med"/>
              <a:tailEnd type="triangle" w="med" len="med"/>
            </a:ln>
            <a:effectLst/>
          </p:spPr>
          <p:txBody>
            <a:bodyPr wrap="none" anchor="ctr"/>
            <a:lstStyle/>
            <a:p>
              <a:endParaRPr lang="fr-CA" sz="1350"/>
            </a:p>
          </p:txBody>
        </p:sp>
      </p:grpSp>
      <p:sp>
        <p:nvSpPr>
          <p:cNvPr id="271388" name="Text Box 28"/>
          <p:cNvSpPr txBox="1">
            <a:spLocks noChangeArrowheads="1"/>
          </p:cNvSpPr>
          <p:nvPr/>
        </p:nvSpPr>
        <p:spPr bwMode="auto">
          <a:xfrm>
            <a:off x="5810981" y="1693869"/>
            <a:ext cx="802480" cy="415498"/>
          </a:xfrm>
          <a:prstGeom prst="rect">
            <a:avLst/>
          </a:prstGeom>
          <a:noFill/>
          <a:ln w="12700">
            <a:noFill/>
            <a:miter lim="800000"/>
            <a:headEnd type="none" w="sm" len="sm"/>
            <a:tailEnd type="none" w="sm" len="sm"/>
          </a:ln>
          <a:effectLst/>
        </p:spPr>
        <p:txBody>
          <a:bodyPr wrap="square">
            <a:spAutoFit/>
          </a:bodyPr>
          <a:lstStyle/>
          <a:p>
            <a:pPr>
              <a:spcBef>
                <a:spcPct val="50000"/>
              </a:spcBef>
            </a:pPr>
            <a:r>
              <a:rPr lang="fr-CA" sz="1050" b="1" dirty="0"/>
              <a:t>Service juridique</a:t>
            </a:r>
          </a:p>
        </p:txBody>
      </p:sp>
      <p:sp>
        <p:nvSpPr>
          <p:cNvPr id="271389" name="Text Box 29"/>
          <p:cNvSpPr txBox="1">
            <a:spLocks noChangeArrowheads="1"/>
          </p:cNvSpPr>
          <p:nvPr/>
        </p:nvSpPr>
        <p:spPr bwMode="auto">
          <a:xfrm>
            <a:off x="4797760" y="2202060"/>
            <a:ext cx="895347" cy="253916"/>
          </a:xfrm>
          <a:prstGeom prst="rect">
            <a:avLst/>
          </a:prstGeom>
          <a:noFill/>
          <a:ln w="12700">
            <a:noFill/>
            <a:miter lim="800000"/>
            <a:headEnd type="none" w="sm" len="sm"/>
            <a:tailEnd type="none" w="sm" len="sm"/>
          </a:ln>
          <a:effectLst/>
        </p:spPr>
        <p:txBody>
          <a:bodyPr wrap="square">
            <a:spAutoFit/>
          </a:bodyPr>
          <a:lstStyle/>
          <a:p>
            <a:pPr>
              <a:spcBef>
                <a:spcPct val="50000"/>
              </a:spcBef>
            </a:pPr>
            <a:r>
              <a:rPr lang="fr-CA" sz="1050" b="1" dirty="0"/>
              <a:t>Opérations</a:t>
            </a:r>
          </a:p>
        </p:txBody>
      </p:sp>
      <p:sp>
        <p:nvSpPr>
          <p:cNvPr id="271390" name="Text Box 30"/>
          <p:cNvSpPr txBox="1">
            <a:spLocks noChangeArrowheads="1"/>
          </p:cNvSpPr>
          <p:nvPr/>
        </p:nvSpPr>
        <p:spPr bwMode="auto">
          <a:xfrm>
            <a:off x="6823013" y="2290604"/>
            <a:ext cx="894159" cy="253916"/>
          </a:xfrm>
          <a:prstGeom prst="rect">
            <a:avLst/>
          </a:prstGeom>
          <a:noFill/>
          <a:ln w="12700">
            <a:noFill/>
            <a:miter lim="800000"/>
            <a:headEnd type="none" w="sm" len="sm"/>
            <a:tailEnd type="none" w="sm" len="sm"/>
          </a:ln>
          <a:effectLst/>
        </p:spPr>
        <p:txBody>
          <a:bodyPr wrap="square">
            <a:spAutoFit/>
          </a:bodyPr>
          <a:lstStyle/>
          <a:p>
            <a:pPr>
              <a:spcBef>
                <a:spcPct val="50000"/>
              </a:spcBef>
            </a:pPr>
            <a:r>
              <a:rPr lang="fr-CA" sz="1050" b="1" dirty="0"/>
              <a:t>Finances</a:t>
            </a:r>
          </a:p>
        </p:txBody>
      </p:sp>
      <p:sp>
        <p:nvSpPr>
          <p:cNvPr id="271391" name="Text Box 31"/>
          <p:cNvSpPr txBox="1">
            <a:spLocks noChangeArrowheads="1"/>
          </p:cNvSpPr>
          <p:nvPr/>
        </p:nvSpPr>
        <p:spPr bwMode="auto">
          <a:xfrm>
            <a:off x="7055186" y="3164084"/>
            <a:ext cx="1062037" cy="415498"/>
          </a:xfrm>
          <a:prstGeom prst="rect">
            <a:avLst/>
          </a:prstGeom>
          <a:noFill/>
          <a:ln w="12700">
            <a:noFill/>
            <a:miter lim="800000"/>
            <a:headEnd type="none" w="sm" len="sm"/>
            <a:tailEnd type="none" w="sm" len="sm"/>
          </a:ln>
          <a:effectLst/>
        </p:spPr>
        <p:txBody>
          <a:bodyPr wrap="square">
            <a:spAutoFit/>
          </a:bodyPr>
          <a:lstStyle/>
          <a:p>
            <a:pPr>
              <a:spcBef>
                <a:spcPct val="50000"/>
              </a:spcBef>
            </a:pPr>
            <a:r>
              <a:rPr lang="fr-CA" sz="1050" b="1" dirty="0"/>
              <a:t>Système d’information</a:t>
            </a:r>
          </a:p>
        </p:txBody>
      </p:sp>
      <p:sp>
        <p:nvSpPr>
          <p:cNvPr id="271392" name="Text Box 32"/>
          <p:cNvSpPr txBox="1">
            <a:spLocks noChangeArrowheads="1"/>
          </p:cNvSpPr>
          <p:nvPr/>
        </p:nvSpPr>
        <p:spPr bwMode="auto">
          <a:xfrm>
            <a:off x="6700377" y="4302322"/>
            <a:ext cx="952500" cy="253916"/>
          </a:xfrm>
          <a:prstGeom prst="rect">
            <a:avLst/>
          </a:prstGeom>
          <a:noFill/>
          <a:ln w="12700">
            <a:noFill/>
            <a:miter lim="800000"/>
            <a:headEnd type="none" w="sm" len="sm"/>
            <a:tailEnd type="none" w="sm" len="sm"/>
          </a:ln>
          <a:effectLst/>
        </p:spPr>
        <p:txBody>
          <a:bodyPr>
            <a:spAutoFit/>
          </a:bodyPr>
          <a:lstStyle/>
          <a:p>
            <a:pPr>
              <a:spcBef>
                <a:spcPct val="50000"/>
              </a:spcBef>
            </a:pPr>
            <a:r>
              <a:rPr lang="fr-CA" sz="1050" b="1" dirty="0"/>
              <a:t>Conception</a:t>
            </a:r>
          </a:p>
        </p:txBody>
      </p:sp>
      <p:sp>
        <p:nvSpPr>
          <p:cNvPr id="271393" name="Text Box 33"/>
          <p:cNvSpPr txBox="1">
            <a:spLocks noChangeArrowheads="1"/>
          </p:cNvSpPr>
          <p:nvPr/>
        </p:nvSpPr>
        <p:spPr bwMode="auto">
          <a:xfrm>
            <a:off x="5755633" y="4727465"/>
            <a:ext cx="953689" cy="253916"/>
          </a:xfrm>
          <a:prstGeom prst="rect">
            <a:avLst/>
          </a:prstGeom>
          <a:noFill/>
          <a:ln w="12700">
            <a:noFill/>
            <a:miter lim="800000"/>
            <a:headEnd type="none" w="sm" len="sm"/>
            <a:tailEnd type="none" w="sm" len="sm"/>
          </a:ln>
          <a:effectLst/>
        </p:spPr>
        <p:txBody>
          <a:bodyPr wrap="square">
            <a:spAutoFit/>
          </a:bodyPr>
          <a:lstStyle/>
          <a:p>
            <a:pPr>
              <a:spcBef>
                <a:spcPct val="50000"/>
              </a:spcBef>
            </a:pPr>
            <a:r>
              <a:rPr lang="fr-CA" sz="1050" b="1" dirty="0"/>
              <a:t>Réception</a:t>
            </a:r>
          </a:p>
        </p:txBody>
      </p:sp>
      <p:sp>
        <p:nvSpPr>
          <p:cNvPr id="271394" name="Text Box 34"/>
          <p:cNvSpPr txBox="1">
            <a:spLocks noChangeArrowheads="1"/>
          </p:cNvSpPr>
          <p:nvPr/>
        </p:nvSpPr>
        <p:spPr bwMode="auto">
          <a:xfrm>
            <a:off x="3480728" y="4914743"/>
            <a:ext cx="1089791" cy="253916"/>
          </a:xfrm>
          <a:prstGeom prst="rect">
            <a:avLst/>
          </a:prstGeom>
          <a:noFill/>
          <a:ln w="12700">
            <a:noFill/>
            <a:miter lim="800000"/>
            <a:headEnd type="none" w="sm" len="sm"/>
            <a:tailEnd type="none" w="sm" len="sm"/>
          </a:ln>
          <a:effectLst/>
        </p:spPr>
        <p:txBody>
          <a:bodyPr wrap="square">
            <a:spAutoFit/>
          </a:bodyPr>
          <a:lstStyle/>
          <a:p>
            <a:pPr>
              <a:spcBef>
                <a:spcPct val="50000"/>
              </a:spcBef>
            </a:pPr>
            <a:r>
              <a:rPr lang="fr-CA" sz="1050" b="1" dirty="0"/>
              <a:t>Fournisseurs</a:t>
            </a:r>
          </a:p>
        </p:txBody>
      </p:sp>
      <p:sp>
        <p:nvSpPr>
          <p:cNvPr id="271395" name="Text Box 35"/>
          <p:cNvSpPr txBox="1">
            <a:spLocks noChangeArrowheads="1"/>
          </p:cNvSpPr>
          <p:nvPr/>
        </p:nvSpPr>
        <p:spPr bwMode="auto">
          <a:xfrm>
            <a:off x="4953973" y="3282991"/>
            <a:ext cx="1693069" cy="253916"/>
          </a:xfrm>
          <a:prstGeom prst="rect">
            <a:avLst/>
          </a:prstGeom>
          <a:noFill/>
          <a:ln w="12700">
            <a:noFill/>
            <a:miter lim="800000"/>
            <a:headEnd type="none" w="sm" len="sm"/>
            <a:tailEnd type="none" w="sm" len="sm"/>
          </a:ln>
          <a:effectLst/>
        </p:spPr>
        <p:txBody>
          <a:bodyPr>
            <a:spAutoFit/>
          </a:bodyPr>
          <a:lstStyle/>
          <a:p>
            <a:pPr>
              <a:spcBef>
                <a:spcPct val="50000"/>
              </a:spcBef>
            </a:pPr>
            <a:r>
              <a:rPr lang="fr-CA" sz="1050" b="1" dirty="0"/>
              <a:t>APPROVISIONNEMENT</a:t>
            </a:r>
          </a:p>
        </p:txBody>
      </p:sp>
      <p:sp>
        <p:nvSpPr>
          <p:cNvPr id="271396" name="Oval 36"/>
          <p:cNvSpPr>
            <a:spLocks noChangeArrowheads="1"/>
          </p:cNvSpPr>
          <p:nvPr/>
        </p:nvSpPr>
        <p:spPr bwMode="auto">
          <a:xfrm>
            <a:off x="4004803" y="1506737"/>
            <a:ext cx="4170760" cy="3861197"/>
          </a:xfrm>
          <a:prstGeom prst="ellipse">
            <a:avLst/>
          </a:prstGeom>
          <a:noFill/>
          <a:ln w="12700">
            <a:solidFill>
              <a:schemeClr val="tx1"/>
            </a:solidFill>
            <a:round/>
            <a:headEnd type="none" w="sm" len="sm"/>
            <a:tailEnd type="none" w="sm" len="sm"/>
          </a:ln>
          <a:effectLst/>
        </p:spPr>
        <p:txBody>
          <a:bodyPr wrap="none" anchor="ctr"/>
          <a:lstStyle/>
          <a:p>
            <a:endParaRPr lang="fr-CA" sz="1350"/>
          </a:p>
        </p:txBody>
      </p:sp>
      <p:sp>
        <p:nvSpPr>
          <p:cNvPr id="271397" name="Text Box 37"/>
          <p:cNvSpPr txBox="1">
            <a:spLocks noChangeArrowheads="1"/>
          </p:cNvSpPr>
          <p:nvPr/>
        </p:nvSpPr>
        <p:spPr bwMode="auto">
          <a:xfrm>
            <a:off x="4067072" y="3684932"/>
            <a:ext cx="1390650" cy="369332"/>
          </a:xfrm>
          <a:prstGeom prst="rect">
            <a:avLst/>
          </a:prstGeom>
          <a:noFill/>
          <a:ln w="12700">
            <a:noFill/>
            <a:miter lim="800000"/>
            <a:headEnd type="none" w="sm" len="sm"/>
            <a:tailEnd type="none" w="sm" len="sm"/>
          </a:ln>
          <a:effectLst/>
        </p:spPr>
        <p:txBody>
          <a:bodyPr>
            <a:spAutoFit/>
          </a:bodyPr>
          <a:lstStyle/>
          <a:p>
            <a:pPr>
              <a:spcBef>
                <a:spcPct val="50000"/>
              </a:spcBef>
            </a:pPr>
            <a:r>
              <a:rPr lang="fr-CA" dirty="0"/>
              <a:t>L’entreprise</a:t>
            </a:r>
          </a:p>
        </p:txBody>
      </p:sp>
      <p:sp>
        <p:nvSpPr>
          <p:cNvPr id="271398" name="Text Box 38"/>
          <p:cNvSpPr txBox="1">
            <a:spLocks noChangeArrowheads="1"/>
          </p:cNvSpPr>
          <p:nvPr/>
        </p:nvSpPr>
        <p:spPr bwMode="auto">
          <a:xfrm>
            <a:off x="986801" y="5057178"/>
            <a:ext cx="2592951" cy="369332"/>
          </a:xfrm>
          <a:prstGeom prst="rect">
            <a:avLst/>
          </a:prstGeom>
          <a:noFill/>
          <a:ln w="12700">
            <a:noFill/>
            <a:miter lim="800000"/>
            <a:headEnd type="none" w="sm" len="sm"/>
            <a:tailEnd type="none" w="sm" len="sm"/>
          </a:ln>
          <a:effectLst/>
        </p:spPr>
        <p:txBody>
          <a:bodyPr wrap="square">
            <a:spAutoFit/>
          </a:bodyPr>
          <a:lstStyle/>
          <a:p>
            <a:pPr>
              <a:spcBef>
                <a:spcPct val="50000"/>
              </a:spcBef>
            </a:pPr>
            <a:r>
              <a:rPr lang="fr-CA" sz="900" dirty="0"/>
              <a:t>Source :Adapté de Stevenson W., Benedetti C., (2001), p 595</a:t>
            </a:r>
          </a:p>
        </p:txBody>
      </p:sp>
      <p:sp>
        <p:nvSpPr>
          <p:cNvPr id="39" name="Rectangle 2"/>
          <p:cNvSpPr>
            <a:spLocks noGrp="1" noChangeArrowheads="1"/>
          </p:cNvSpPr>
          <p:nvPr>
            <p:ph type="title"/>
          </p:nvPr>
        </p:nvSpPr>
        <p:spPr/>
        <p:txBody>
          <a:bodyPr/>
          <a:lstStyle/>
          <a:p>
            <a:r>
              <a:rPr lang="fr-CA" dirty="0"/>
              <a:t>La place de l’approvisionnement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p:txBody>
          <a:bodyPr/>
          <a:lstStyle/>
          <a:p>
            <a:r>
              <a:rPr lang="fr-CA" dirty="0"/>
              <a:t>Le cycle d’approvisionnement</a:t>
            </a:r>
          </a:p>
        </p:txBody>
      </p:sp>
      <p:graphicFrame>
        <p:nvGraphicFramePr>
          <p:cNvPr id="11" name="Diagramme 10">
            <a:extLst>
              <a:ext uri="{FF2B5EF4-FFF2-40B4-BE49-F238E27FC236}">
                <a16:creationId xmlns:a16="http://schemas.microsoft.com/office/drawing/2014/main" id="{BC8DD603-5CCF-4641-B23B-FEA22B8E3785}"/>
              </a:ext>
            </a:extLst>
          </p:cNvPr>
          <p:cNvGraphicFramePr/>
          <p:nvPr>
            <p:extLst>
              <p:ext uri="{D42A27DB-BD31-4B8C-83A1-F6EECF244321}">
                <p14:modId xmlns:p14="http://schemas.microsoft.com/office/powerpoint/2010/main" val="1639260398"/>
              </p:ext>
            </p:extLst>
          </p:nvPr>
        </p:nvGraphicFramePr>
        <p:xfrm>
          <a:off x="-214449" y="1415089"/>
          <a:ext cx="6527187" cy="40899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Légende : flèche courbée à une bordure 11">
            <a:extLst>
              <a:ext uri="{FF2B5EF4-FFF2-40B4-BE49-F238E27FC236}">
                <a16:creationId xmlns:a16="http://schemas.microsoft.com/office/drawing/2014/main" id="{7AC84BE8-B53D-458E-AFF5-64F0C91071A8}"/>
              </a:ext>
            </a:extLst>
          </p:cNvPr>
          <p:cNvSpPr/>
          <p:nvPr/>
        </p:nvSpPr>
        <p:spPr>
          <a:xfrm>
            <a:off x="5945521" y="1446857"/>
            <a:ext cx="3809092" cy="2661241"/>
          </a:xfrm>
          <a:prstGeom prst="accentCallout2">
            <a:avLst>
              <a:gd name="adj1" fmla="val 21880"/>
              <a:gd name="adj2" fmla="val -1059"/>
              <a:gd name="adj3" fmla="val 4888"/>
              <a:gd name="adj4" fmla="val -17758"/>
              <a:gd name="adj5" fmla="val 3838"/>
              <a:gd name="adj6" fmla="val -59034"/>
            </a:avLst>
          </a:prstGeom>
          <a:ln w="38100">
            <a:solidFill>
              <a:schemeClr val="accent4"/>
            </a:solidFill>
          </a:ln>
        </p:spPr>
        <p:txBody>
          <a:bodyPr wrap="square">
            <a:spAutoFit/>
          </a:bodyPr>
          <a:lstStyle/>
          <a:p>
            <a:pPr marL="179388" indent="-179388">
              <a:spcAft>
                <a:spcPts val="1000"/>
              </a:spcAft>
              <a:buFont typeface="Arial" panose="020B0604020202020204" pitchFamily="34" charset="0"/>
              <a:buChar char="•"/>
            </a:pPr>
            <a:r>
              <a:rPr lang="fr-CA" sz="1670" dirty="0"/>
              <a:t>Système PBM (MRP)</a:t>
            </a:r>
          </a:p>
          <a:p>
            <a:pPr marL="179388" indent="-179388">
              <a:spcAft>
                <a:spcPts val="1000"/>
              </a:spcAft>
              <a:buFont typeface="Arial" panose="020B0604020202020204" pitchFamily="34" charset="0"/>
              <a:buChar char="•"/>
            </a:pPr>
            <a:r>
              <a:rPr lang="fr-CA" sz="1670" dirty="0"/>
              <a:t>Système à point de commande</a:t>
            </a:r>
          </a:p>
          <a:p>
            <a:pPr marL="179388" indent="-179388">
              <a:spcAft>
                <a:spcPts val="1000"/>
              </a:spcAft>
              <a:buFont typeface="Arial" panose="020B0604020202020204" pitchFamily="34" charset="0"/>
              <a:buChar char="•"/>
            </a:pPr>
            <a:r>
              <a:rPr lang="fr-CA" sz="1670" dirty="0"/>
              <a:t>Demande non-reliée à la production (fournitures, services, immobilisations)</a:t>
            </a:r>
          </a:p>
          <a:p>
            <a:pPr marL="179388" indent="-179388">
              <a:spcAft>
                <a:spcPts val="1000"/>
              </a:spcAft>
              <a:buFont typeface="Arial" panose="020B0604020202020204" pitchFamily="34" charset="0"/>
              <a:buChar char="•"/>
            </a:pPr>
            <a:r>
              <a:rPr lang="fr-CA" sz="1670" dirty="0"/>
              <a:t>Sous-traitance (reliée à la production)</a:t>
            </a:r>
          </a:p>
          <a:p>
            <a:pPr marL="179388" indent="-179388">
              <a:spcAft>
                <a:spcPts val="1000"/>
              </a:spcAft>
              <a:buFont typeface="Arial" panose="020B0604020202020204" pitchFamily="34" charset="0"/>
              <a:buChar char="•"/>
            </a:pPr>
            <a:r>
              <a:rPr lang="fr-CA" sz="1670" dirty="0"/>
              <a:t>Nouvelle pièce</a:t>
            </a:r>
          </a:p>
        </p:txBody>
      </p:sp>
    </p:spTree>
    <p:extLst>
      <p:ext uri="{BB962C8B-B14F-4D97-AF65-F5344CB8AC3E}">
        <p14:creationId xmlns:p14="http://schemas.microsoft.com/office/powerpoint/2010/main" val="3509724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p:txBody>
          <a:bodyPr/>
          <a:lstStyle/>
          <a:p>
            <a:r>
              <a:rPr lang="fr-CA" dirty="0"/>
              <a:t>Le cycle d’approvisionnement</a:t>
            </a:r>
          </a:p>
        </p:txBody>
      </p:sp>
      <p:graphicFrame>
        <p:nvGraphicFramePr>
          <p:cNvPr id="11" name="Diagramme 10">
            <a:extLst>
              <a:ext uri="{FF2B5EF4-FFF2-40B4-BE49-F238E27FC236}">
                <a16:creationId xmlns:a16="http://schemas.microsoft.com/office/drawing/2014/main" id="{BC8DD603-5CCF-4641-B23B-FEA22B8E3785}"/>
              </a:ext>
            </a:extLst>
          </p:cNvPr>
          <p:cNvGraphicFramePr/>
          <p:nvPr>
            <p:extLst>
              <p:ext uri="{D42A27DB-BD31-4B8C-83A1-F6EECF244321}">
                <p14:modId xmlns:p14="http://schemas.microsoft.com/office/powerpoint/2010/main" val="1728422949"/>
              </p:ext>
            </p:extLst>
          </p:nvPr>
        </p:nvGraphicFramePr>
        <p:xfrm>
          <a:off x="-214449" y="1415089"/>
          <a:ext cx="6527187" cy="40899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Légende : flèche courbée à une bordure 6">
            <a:extLst>
              <a:ext uri="{FF2B5EF4-FFF2-40B4-BE49-F238E27FC236}">
                <a16:creationId xmlns:a16="http://schemas.microsoft.com/office/drawing/2014/main" id="{081957F1-FF63-440C-96A8-3BC3C1636D6E}"/>
              </a:ext>
            </a:extLst>
          </p:cNvPr>
          <p:cNvSpPr/>
          <p:nvPr/>
        </p:nvSpPr>
        <p:spPr>
          <a:xfrm>
            <a:off x="5818909" y="1654863"/>
            <a:ext cx="3809092" cy="2405274"/>
          </a:xfrm>
          <a:prstGeom prst="accentCallout2">
            <a:avLst>
              <a:gd name="adj1" fmla="val 21880"/>
              <a:gd name="adj2" fmla="val -1059"/>
              <a:gd name="adj3" fmla="val 22328"/>
              <a:gd name="adj4" fmla="val -18485"/>
              <a:gd name="adj5" fmla="val 49896"/>
              <a:gd name="adj6" fmla="val -21934"/>
            </a:avLst>
          </a:prstGeom>
          <a:ln w="38100">
            <a:solidFill>
              <a:schemeClr val="accent4"/>
            </a:solidFill>
          </a:ln>
        </p:spPr>
        <p:txBody>
          <a:bodyPr wrap="square">
            <a:spAutoFit/>
          </a:bodyPr>
          <a:lstStyle/>
          <a:p>
            <a:pPr marL="179388" indent="-179388">
              <a:buClr>
                <a:schemeClr val="accent2"/>
              </a:buClr>
              <a:buFont typeface="Arial" panose="020B0604020202020204" pitchFamily="34" charset="0"/>
              <a:buChar char="•"/>
            </a:pPr>
            <a:r>
              <a:rPr lang="fr-CA" sz="1670" dirty="0"/>
              <a:t>Prix,</a:t>
            </a:r>
          </a:p>
          <a:p>
            <a:pPr marL="179388" indent="-179388">
              <a:buClr>
                <a:schemeClr val="accent2"/>
              </a:buClr>
              <a:buFont typeface="Arial" panose="020B0604020202020204" pitchFamily="34" charset="0"/>
              <a:buChar char="•"/>
            </a:pPr>
            <a:r>
              <a:rPr lang="fr-CA" sz="1670" dirty="0"/>
              <a:t>Qualité et assurance qualité,</a:t>
            </a:r>
          </a:p>
          <a:p>
            <a:pPr marL="179388" indent="-179388">
              <a:buClr>
                <a:schemeClr val="accent2"/>
              </a:buClr>
              <a:buFont typeface="Arial" panose="020B0604020202020204" pitchFamily="34" charset="0"/>
              <a:buChar char="•"/>
            </a:pPr>
            <a:r>
              <a:rPr lang="fr-CA" sz="1670" dirty="0"/>
              <a:t>Délais de livraison et respect des délais</a:t>
            </a:r>
          </a:p>
          <a:p>
            <a:pPr marL="179388" indent="-179388">
              <a:buClr>
                <a:schemeClr val="accent2"/>
              </a:buClr>
              <a:buFont typeface="Arial" panose="020B0604020202020204" pitchFamily="34" charset="0"/>
              <a:buChar char="•"/>
            </a:pPr>
            <a:endParaRPr lang="fr-CA" sz="1670" dirty="0"/>
          </a:p>
          <a:p>
            <a:pPr marL="179388" indent="-179388">
              <a:buClr>
                <a:schemeClr val="accent2"/>
              </a:buClr>
              <a:buFont typeface="Arial" panose="020B0604020202020204" pitchFamily="34" charset="0"/>
              <a:buChar char="•"/>
            </a:pPr>
            <a:r>
              <a:rPr lang="fr-CA" sz="1670" dirty="0"/>
              <a:t>Flexibilité à l’égard du client,</a:t>
            </a:r>
          </a:p>
          <a:p>
            <a:pPr marL="179388" indent="-179388">
              <a:buClr>
                <a:schemeClr val="accent2"/>
              </a:buClr>
              <a:buFont typeface="Arial" panose="020B0604020202020204" pitchFamily="34" charset="0"/>
              <a:buChar char="•"/>
            </a:pPr>
            <a:r>
              <a:rPr lang="fr-CA" sz="1670" dirty="0"/>
              <a:t>Localisation,</a:t>
            </a:r>
          </a:p>
          <a:p>
            <a:pPr marL="179388" indent="-179388">
              <a:buClr>
                <a:schemeClr val="accent2"/>
              </a:buClr>
              <a:buFont typeface="Arial" panose="020B0604020202020204" pitchFamily="34" charset="0"/>
              <a:buChar char="•"/>
            </a:pPr>
            <a:r>
              <a:rPr lang="fr-CA" sz="1670" dirty="0"/>
              <a:t>Réputation et stabilité financière,</a:t>
            </a:r>
          </a:p>
          <a:p>
            <a:pPr marL="179388" indent="-179388">
              <a:buClr>
                <a:schemeClr val="accent2"/>
              </a:buClr>
              <a:buFont typeface="Arial" panose="020B0604020202020204" pitchFamily="34" charset="0"/>
              <a:buChar char="•"/>
            </a:pPr>
            <a:r>
              <a:rPr lang="fr-CA" sz="1670" dirty="0"/>
              <a:t>etc.</a:t>
            </a:r>
          </a:p>
        </p:txBody>
      </p:sp>
    </p:spTree>
    <p:extLst>
      <p:ext uri="{BB962C8B-B14F-4D97-AF65-F5344CB8AC3E}">
        <p14:creationId xmlns:p14="http://schemas.microsoft.com/office/powerpoint/2010/main" val="227475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4393FB1-8D15-4E5B-BAFB-ECE349F86309}"/>
              </a:ext>
            </a:extLst>
          </p:cNvPr>
          <p:cNvSpPr>
            <a:spLocks noGrp="1"/>
          </p:cNvSpPr>
          <p:nvPr>
            <p:ph type="title"/>
          </p:nvPr>
        </p:nvSpPr>
        <p:spPr>
          <a:xfrm>
            <a:off x="532000" y="479686"/>
            <a:ext cx="9096000" cy="822960"/>
          </a:xfrm>
        </p:spPr>
        <p:txBody>
          <a:bodyPr/>
          <a:lstStyle/>
          <a:p>
            <a:r>
              <a:rPr lang="fr-CA"/>
              <a:t>L’approvisionnement à différents niveaux</a:t>
            </a:r>
          </a:p>
        </p:txBody>
      </p:sp>
      <p:grpSp>
        <p:nvGrpSpPr>
          <p:cNvPr id="7" name="Groupe 6">
            <a:extLst>
              <a:ext uri="{FF2B5EF4-FFF2-40B4-BE49-F238E27FC236}">
                <a16:creationId xmlns:a16="http://schemas.microsoft.com/office/drawing/2014/main" id="{4C9447D7-6CC7-4FA0-B38E-9DBE2614DFEA}"/>
              </a:ext>
            </a:extLst>
          </p:cNvPr>
          <p:cNvGrpSpPr/>
          <p:nvPr/>
        </p:nvGrpSpPr>
        <p:grpSpPr>
          <a:xfrm>
            <a:off x="531999" y="1577967"/>
            <a:ext cx="5951928" cy="3187428"/>
            <a:chOff x="531999" y="1577967"/>
            <a:chExt cx="5951928" cy="3187428"/>
          </a:xfrm>
        </p:grpSpPr>
        <p:sp>
          <p:nvSpPr>
            <p:cNvPr id="8" name="Forme libre : forme 7">
              <a:extLst>
                <a:ext uri="{FF2B5EF4-FFF2-40B4-BE49-F238E27FC236}">
                  <a16:creationId xmlns:a16="http://schemas.microsoft.com/office/drawing/2014/main" id="{F156AB7F-A961-4C02-B607-D90A54BFE9F1}"/>
                </a:ext>
              </a:extLst>
            </p:cNvPr>
            <p:cNvSpPr/>
            <p:nvPr/>
          </p:nvSpPr>
          <p:spPr>
            <a:xfrm>
              <a:off x="2212527" y="1577967"/>
              <a:ext cx="4271399" cy="1547295"/>
            </a:xfrm>
            <a:custGeom>
              <a:avLst/>
              <a:gdLst>
                <a:gd name="connsiteX0" fmla="*/ 0 w 5903156"/>
                <a:gd name="connsiteY0" fmla="*/ 0 h 1547295"/>
                <a:gd name="connsiteX1" fmla="*/ 5903156 w 5903156"/>
                <a:gd name="connsiteY1" fmla="*/ 0 h 1547295"/>
                <a:gd name="connsiteX2" fmla="*/ 5903156 w 5903156"/>
                <a:gd name="connsiteY2" fmla="*/ 1547295 h 1547295"/>
                <a:gd name="connsiteX3" fmla="*/ 0 w 5903156"/>
                <a:gd name="connsiteY3" fmla="*/ 1547295 h 1547295"/>
                <a:gd name="connsiteX4" fmla="*/ 0 w 5903156"/>
                <a:gd name="connsiteY4" fmla="*/ 0 h 154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3156" h="1547295">
                  <a:moveTo>
                    <a:pt x="0" y="0"/>
                  </a:moveTo>
                  <a:lnTo>
                    <a:pt x="5903156" y="0"/>
                  </a:lnTo>
                  <a:lnTo>
                    <a:pt x="5903156" y="1547295"/>
                  </a:lnTo>
                  <a:lnTo>
                    <a:pt x="0" y="1547295"/>
                  </a:lnTo>
                  <a:lnTo>
                    <a:pt x="0" y="0"/>
                  </a:lnTo>
                  <a:close/>
                </a:path>
              </a:pathLst>
            </a:cu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14538" tIns="393013" rIns="114538" bIns="393013" numCol="1" spcCol="1270" anchor="ctr" anchorCtr="0">
              <a:noAutofit/>
            </a:bodyPr>
            <a:lstStyle/>
            <a:p>
              <a:pPr marL="0" lvl="0" indent="0" algn="l" defTabSz="711200">
                <a:lnSpc>
                  <a:spcPct val="90000"/>
                </a:lnSpc>
                <a:spcBef>
                  <a:spcPct val="0"/>
                </a:spcBef>
                <a:spcAft>
                  <a:spcPct val="35000"/>
                </a:spcAft>
                <a:buNone/>
              </a:pPr>
              <a:r>
                <a:rPr lang="fr-CA" sz="1600"/>
                <a:t>Politiques d’approvisionnement</a:t>
              </a:r>
              <a:endParaRPr lang="fr-CA" sz="1600" kern="1200"/>
            </a:p>
            <a:p>
              <a:pPr marL="0" lvl="0" indent="0" algn="l" defTabSz="711200">
                <a:lnSpc>
                  <a:spcPct val="90000"/>
                </a:lnSpc>
                <a:spcBef>
                  <a:spcPct val="0"/>
                </a:spcBef>
                <a:spcAft>
                  <a:spcPct val="35000"/>
                </a:spcAft>
                <a:buNone/>
              </a:pPr>
              <a:r>
                <a:rPr lang="fr-CA" sz="1600" kern="1200"/>
                <a:t>Prévision de la demande</a:t>
              </a:r>
            </a:p>
            <a:p>
              <a:pPr marL="0" lvl="0" indent="0" algn="l" defTabSz="711200">
                <a:lnSpc>
                  <a:spcPct val="90000"/>
                </a:lnSpc>
                <a:spcBef>
                  <a:spcPct val="0"/>
                </a:spcBef>
                <a:spcAft>
                  <a:spcPct val="35000"/>
                </a:spcAft>
                <a:buNone/>
              </a:pPr>
              <a:r>
                <a:rPr lang="fr-CA" sz="1600"/>
                <a:t>Niveau de centralisation</a:t>
              </a:r>
              <a:endParaRPr lang="fr-CA" sz="1600" kern="1200"/>
            </a:p>
            <a:p>
              <a:pPr marL="0" lvl="0" indent="0" algn="l" defTabSz="711200">
                <a:lnSpc>
                  <a:spcPct val="90000"/>
                </a:lnSpc>
                <a:spcBef>
                  <a:spcPct val="0"/>
                </a:spcBef>
                <a:spcAft>
                  <a:spcPct val="35000"/>
                </a:spcAft>
                <a:buNone/>
              </a:pPr>
              <a:r>
                <a:rPr lang="fr-CA" sz="1600" kern="1200"/>
                <a:t>Fabriquer ou acheter (Make or Buy)</a:t>
              </a:r>
            </a:p>
            <a:p>
              <a:pPr marL="0" lvl="0" indent="0" algn="l" defTabSz="711200">
                <a:lnSpc>
                  <a:spcPct val="90000"/>
                </a:lnSpc>
                <a:spcBef>
                  <a:spcPct val="0"/>
                </a:spcBef>
                <a:spcAft>
                  <a:spcPct val="35000"/>
                </a:spcAft>
                <a:buNone/>
              </a:pPr>
              <a:r>
                <a:rPr lang="fr-CA" sz="1600" kern="1200"/>
                <a:t>Standardisation et critères de qualité</a:t>
              </a:r>
            </a:p>
          </p:txBody>
        </p:sp>
        <p:sp>
          <p:nvSpPr>
            <p:cNvPr id="9" name="Forme libre : forme 8">
              <a:extLst>
                <a:ext uri="{FF2B5EF4-FFF2-40B4-BE49-F238E27FC236}">
                  <a16:creationId xmlns:a16="http://schemas.microsoft.com/office/drawing/2014/main" id="{5E778425-8D97-4351-B4B1-282F7B8CE2B9}"/>
                </a:ext>
              </a:extLst>
            </p:cNvPr>
            <p:cNvSpPr/>
            <p:nvPr/>
          </p:nvSpPr>
          <p:spPr>
            <a:xfrm>
              <a:off x="531999" y="1577967"/>
              <a:ext cx="1601601" cy="1547295"/>
            </a:xfrm>
            <a:custGeom>
              <a:avLst/>
              <a:gdLst>
                <a:gd name="connsiteX0" fmla="*/ 0 w 1475789"/>
                <a:gd name="connsiteY0" fmla="*/ 0 h 1547295"/>
                <a:gd name="connsiteX1" fmla="*/ 1475789 w 1475789"/>
                <a:gd name="connsiteY1" fmla="*/ 0 h 1547295"/>
                <a:gd name="connsiteX2" fmla="*/ 1475789 w 1475789"/>
                <a:gd name="connsiteY2" fmla="*/ 1547295 h 1547295"/>
                <a:gd name="connsiteX3" fmla="*/ 0 w 1475789"/>
                <a:gd name="connsiteY3" fmla="*/ 1547295 h 1547295"/>
                <a:gd name="connsiteX4" fmla="*/ 0 w 1475789"/>
                <a:gd name="connsiteY4" fmla="*/ 0 h 154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5789" h="1547295">
                  <a:moveTo>
                    <a:pt x="0" y="0"/>
                  </a:moveTo>
                  <a:lnTo>
                    <a:pt x="1475789" y="0"/>
                  </a:lnTo>
                  <a:lnTo>
                    <a:pt x="1475789" y="1547295"/>
                  </a:lnTo>
                  <a:lnTo>
                    <a:pt x="0" y="1547295"/>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78094" tIns="152838" rIns="78094" bIns="152838" numCol="1" spcCol="1270" anchor="ctr" anchorCtr="0">
              <a:noAutofit/>
            </a:bodyPr>
            <a:lstStyle/>
            <a:p>
              <a:pPr marL="0" lvl="0" indent="0" algn="ctr" defTabSz="889000">
                <a:lnSpc>
                  <a:spcPct val="90000"/>
                </a:lnSpc>
                <a:spcBef>
                  <a:spcPct val="0"/>
                </a:spcBef>
                <a:spcAft>
                  <a:spcPct val="35000"/>
                </a:spcAft>
                <a:buNone/>
              </a:pPr>
              <a:r>
                <a:rPr lang="fr-CA" kern="1200"/>
                <a:t>Décisions stratégiques</a:t>
              </a:r>
            </a:p>
          </p:txBody>
        </p:sp>
        <p:sp>
          <p:nvSpPr>
            <p:cNvPr id="10" name="Forme libre : forme 9">
              <a:extLst>
                <a:ext uri="{FF2B5EF4-FFF2-40B4-BE49-F238E27FC236}">
                  <a16:creationId xmlns:a16="http://schemas.microsoft.com/office/drawing/2014/main" id="{4899825B-C1A2-442C-A317-59F69EB4B0F3}"/>
                </a:ext>
              </a:extLst>
            </p:cNvPr>
            <p:cNvSpPr/>
            <p:nvPr/>
          </p:nvSpPr>
          <p:spPr>
            <a:xfrm>
              <a:off x="2212527" y="3218100"/>
              <a:ext cx="4271400" cy="1547295"/>
            </a:xfrm>
            <a:custGeom>
              <a:avLst/>
              <a:gdLst>
                <a:gd name="connsiteX0" fmla="*/ 0 w 5903156"/>
                <a:gd name="connsiteY0" fmla="*/ 0 h 1547295"/>
                <a:gd name="connsiteX1" fmla="*/ 5903156 w 5903156"/>
                <a:gd name="connsiteY1" fmla="*/ 0 h 1547295"/>
                <a:gd name="connsiteX2" fmla="*/ 5903156 w 5903156"/>
                <a:gd name="connsiteY2" fmla="*/ 1547295 h 1547295"/>
                <a:gd name="connsiteX3" fmla="*/ 0 w 5903156"/>
                <a:gd name="connsiteY3" fmla="*/ 1547295 h 1547295"/>
                <a:gd name="connsiteX4" fmla="*/ 0 w 5903156"/>
                <a:gd name="connsiteY4" fmla="*/ 0 h 154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3156" h="1547295">
                  <a:moveTo>
                    <a:pt x="0" y="0"/>
                  </a:moveTo>
                  <a:lnTo>
                    <a:pt x="5903156" y="0"/>
                  </a:lnTo>
                  <a:lnTo>
                    <a:pt x="5903156" y="1547295"/>
                  </a:lnTo>
                  <a:lnTo>
                    <a:pt x="0" y="1547295"/>
                  </a:lnTo>
                  <a:lnTo>
                    <a:pt x="0" y="0"/>
                  </a:lnTo>
                  <a:close/>
                </a:path>
              </a:pathLst>
            </a:cu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14538" tIns="393013" rIns="114538" bIns="393013" numCol="1" spcCol="1270" anchor="ctr" anchorCtr="0">
              <a:noAutofit/>
            </a:bodyPr>
            <a:lstStyle/>
            <a:p>
              <a:pPr marL="0" lvl="0" indent="0" algn="l" defTabSz="711200">
                <a:lnSpc>
                  <a:spcPct val="90000"/>
                </a:lnSpc>
                <a:spcBef>
                  <a:spcPct val="0"/>
                </a:spcBef>
                <a:spcAft>
                  <a:spcPct val="35000"/>
                </a:spcAft>
                <a:buNone/>
              </a:pPr>
              <a:r>
                <a:rPr lang="fr-CA" sz="1600" kern="1200"/>
                <a:t>Maintien des listes de produits et de fournisseurs</a:t>
              </a:r>
            </a:p>
            <a:p>
              <a:pPr marL="0" lvl="0" indent="0" algn="l" defTabSz="711200">
                <a:lnSpc>
                  <a:spcPct val="90000"/>
                </a:lnSpc>
                <a:spcBef>
                  <a:spcPct val="0"/>
                </a:spcBef>
                <a:spcAft>
                  <a:spcPct val="35000"/>
                </a:spcAft>
                <a:buNone/>
              </a:pPr>
              <a:r>
                <a:rPr lang="fr-CA" sz="1600" kern="1200"/>
                <a:t>Analyse des demandes d’achat</a:t>
              </a:r>
            </a:p>
            <a:p>
              <a:pPr marL="0" lvl="0" indent="0" algn="l" defTabSz="711200">
                <a:lnSpc>
                  <a:spcPct val="90000"/>
                </a:lnSpc>
                <a:spcBef>
                  <a:spcPct val="0"/>
                </a:spcBef>
                <a:spcAft>
                  <a:spcPct val="35000"/>
                </a:spcAft>
                <a:buNone/>
              </a:pPr>
              <a:r>
                <a:rPr lang="fr-CA" sz="1600" kern="1200"/>
                <a:t>Traitement des bons de commande</a:t>
              </a:r>
            </a:p>
            <a:p>
              <a:pPr marL="0" lvl="0" indent="0" algn="l" defTabSz="711200">
                <a:lnSpc>
                  <a:spcPct val="90000"/>
                </a:lnSpc>
                <a:spcBef>
                  <a:spcPct val="0"/>
                </a:spcBef>
                <a:spcAft>
                  <a:spcPct val="35000"/>
                </a:spcAft>
                <a:buNone/>
              </a:pPr>
              <a:r>
                <a:rPr lang="fr-CA" sz="1600" kern="1200"/>
                <a:t>Approbation des factures</a:t>
              </a:r>
            </a:p>
          </p:txBody>
        </p:sp>
        <p:sp>
          <p:nvSpPr>
            <p:cNvPr id="12" name="Forme libre : forme 11">
              <a:extLst>
                <a:ext uri="{FF2B5EF4-FFF2-40B4-BE49-F238E27FC236}">
                  <a16:creationId xmlns:a16="http://schemas.microsoft.com/office/drawing/2014/main" id="{3EE3B1EE-7A9E-4DC8-A6A9-2A61502D2EC0}"/>
                </a:ext>
              </a:extLst>
            </p:cNvPr>
            <p:cNvSpPr/>
            <p:nvPr/>
          </p:nvSpPr>
          <p:spPr>
            <a:xfrm>
              <a:off x="531999" y="3218100"/>
              <a:ext cx="1601601" cy="1547295"/>
            </a:xfrm>
            <a:custGeom>
              <a:avLst/>
              <a:gdLst>
                <a:gd name="connsiteX0" fmla="*/ 0 w 1475789"/>
                <a:gd name="connsiteY0" fmla="*/ 0 h 1547295"/>
                <a:gd name="connsiteX1" fmla="*/ 1475789 w 1475789"/>
                <a:gd name="connsiteY1" fmla="*/ 0 h 1547295"/>
                <a:gd name="connsiteX2" fmla="*/ 1475789 w 1475789"/>
                <a:gd name="connsiteY2" fmla="*/ 1547295 h 1547295"/>
                <a:gd name="connsiteX3" fmla="*/ 0 w 1475789"/>
                <a:gd name="connsiteY3" fmla="*/ 1547295 h 1547295"/>
                <a:gd name="connsiteX4" fmla="*/ 0 w 1475789"/>
                <a:gd name="connsiteY4" fmla="*/ 0 h 154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5789" h="1547295">
                  <a:moveTo>
                    <a:pt x="0" y="0"/>
                  </a:moveTo>
                  <a:lnTo>
                    <a:pt x="1475789" y="0"/>
                  </a:lnTo>
                  <a:lnTo>
                    <a:pt x="1475789" y="1547295"/>
                  </a:lnTo>
                  <a:lnTo>
                    <a:pt x="0" y="1547295"/>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78094" tIns="152838" rIns="78094" bIns="152838" numCol="1" spcCol="1270" anchor="ctr" anchorCtr="0">
              <a:noAutofit/>
            </a:bodyPr>
            <a:lstStyle/>
            <a:p>
              <a:pPr marL="0" lvl="0" indent="0" algn="ctr" defTabSz="889000">
                <a:lnSpc>
                  <a:spcPct val="90000"/>
                </a:lnSpc>
                <a:spcBef>
                  <a:spcPct val="0"/>
                </a:spcBef>
                <a:spcAft>
                  <a:spcPct val="35000"/>
                </a:spcAft>
                <a:buNone/>
              </a:pPr>
              <a:r>
                <a:rPr lang="fr-CA" sz="1600" kern="1200"/>
                <a:t>Tactiques et opérationnelles</a:t>
              </a:r>
            </a:p>
          </p:txBody>
        </p:sp>
      </p:grpSp>
      <p:pic>
        <p:nvPicPr>
          <p:cNvPr id="6" name="Image 5" descr="Une image contenant intérieur, portable, ordinateur, personne&#10;&#10;Description générée automatiquement">
            <a:extLst>
              <a:ext uri="{FF2B5EF4-FFF2-40B4-BE49-F238E27FC236}">
                <a16:creationId xmlns:a16="http://schemas.microsoft.com/office/drawing/2014/main" id="{00652987-4CE8-43CD-9063-365E8C17BD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62853" y="2118776"/>
            <a:ext cx="3297691" cy="2198648"/>
          </a:xfrm>
          <a:prstGeom prst="rect">
            <a:avLst/>
          </a:prstGeom>
        </p:spPr>
      </p:pic>
    </p:spTree>
    <p:extLst>
      <p:ext uri="{BB962C8B-B14F-4D97-AF65-F5344CB8AC3E}">
        <p14:creationId xmlns:p14="http://schemas.microsoft.com/office/powerpoint/2010/main" val="1077050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EFC97A-A656-1A21-E41E-D6A8E89D66F0}"/>
              </a:ext>
            </a:extLst>
          </p:cNvPr>
          <p:cNvSpPr>
            <a:spLocks noGrp="1"/>
          </p:cNvSpPr>
          <p:nvPr>
            <p:ph type="title"/>
          </p:nvPr>
        </p:nvSpPr>
        <p:spPr/>
        <p:txBody>
          <a:bodyPr/>
          <a:lstStyle/>
          <a:p>
            <a:r>
              <a:rPr lang="fr-CA" dirty="0"/>
              <a:t>Gestion de crise en approvisionnement</a:t>
            </a:r>
          </a:p>
        </p:txBody>
      </p:sp>
      <p:sp>
        <p:nvSpPr>
          <p:cNvPr id="3" name="Espace réservé du contenu 2">
            <a:extLst>
              <a:ext uri="{FF2B5EF4-FFF2-40B4-BE49-F238E27FC236}">
                <a16:creationId xmlns:a16="http://schemas.microsoft.com/office/drawing/2014/main" id="{A8C38A32-D9AF-14A7-9632-A22EC53F2F4D}"/>
              </a:ext>
            </a:extLst>
          </p:cNvPr>
          <p:cNvSpPr>
            <a:spLocks noGrp="1"/>
          </p:cNvSpPr>
          <p:nvPr>
            <p:ph idx="1"/>
          </p:nvPr>
        </p:nvSpPr>
        <p:spPr/>
        <p:txBody>
          <a:bodyPr>
            <a:normAutofit lnSpcReduction="10000"/>
          </a:bodyPr>
          <a:lstStyle/>
          <a:p>
            <a:pPr>
              <a:lnSpc>
                <a:spcPct val="150000"/>
              </a:lnSpc>
            </a:pPr>
            <a:r>
              <a:rPr lang="fr-CA" sz="1800" dirty="0"/>
              <a:t>Augmentation des coûts des matières premières</a:t>
            </a:r>
          </a:p>
          <a:p>
            <a:pPr>
              <a:lnSpc>
                <a:spcPct val="150000"/>
              </a:lnSpc>
            </a:pPr>
            <a:r>
              <a:rPr lang="fr-CA" sz="1800" dirty="0"/>
              <a:t>Augmentation des coûts de transport et de logistique</a:t>
            </a:r>
          </a:p>
          <a:p>
            <a:pPr>
              <a:lnSpc>
                <a:spcPct val="150000"/>
              </a:lnSpc>
            </a:pPr>
            <a:r>
              <a:rPr lang="fr-CA" sz="1800" dirty="0"/>
              <a:t>Accroissement majeur des délais de livraison des intrants</a:t>
            </a:r>
          </a:p>
          <a:p>
            <a:pPr>
              <a:lnSpc>
                <a:spcPct val="150000"/>
              </a:lnSpc>
            </a:pPr>
            <a:r>
              <a:rPr lang="fr-CA" sz="1800" dirty="0"/>
              <a:t>Imprévisibilité des livraisons</a:t>
            </a:r>
          </a:p>
          <a:p>
            <a:pPr>
              <a:lnSpc>
                <a:spcPct val="150000"/>
              </a:lnSpc>
            </a:pPr>
            <a:r>
              <a:rPr lang="fr-CA" sz="1800" dirty="0"/>
              <a:t>Pénuries de certaines matières</a:t>
            </a:r>
          </a:p>
          <a:p>
            <a:pPr>
              <a:lnSpc>
                <a:spcPct val="150000"/>
              </a:lnSpc>
            </a:pPr>
            <a:r>
              <a:rPr lang="fr-CA" sz="1800" dirty="0"/>
              <a:t>Augmentation des inventaires</a:t>
            </a:r>
          </a:p>
          <a:p>
            <a:pPr>
              <a:lnSpc>
                <a:spcPct val="150000"/>
              </a:lnSpc>
            </a:pPr>
            <a:r>
              <a:rPr lang="fr-CA" sz="1800" dirty="0"/>
              <a:t>Délestage des plus petits clients par des fournisseurs </a:t>
            </a:r>
          </a:p>
          <a:p>
            <a:pPr marL="0" indent="0">
              <a:buNone/>
            </a:pPr>
            <a:endParaRPr lang="fr-CA" dirty="0"/>
          </a:p>
        </p:txBody>
      </p:sp>
      <p:sp>
        <p:nvSpPr>
          <p:cNvPr id="5" name="Espace réservé du pied de page 4">
            <a:extLst>
              <a:ext uri="{FF2B5EF4-FFF2-40B4-BE49-F238E27FC236}">
                <a16:creationId xmlns:a16="http://schemas.microsoft.com/office/drawing/2014/main" id="{D402E60E-17DB-302C-E0EA-0970CDBC3F9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670" b="0" i="0" u="none" strike="noStrike" kern="1200" cap="none" spc="0" normalizeH="0" baseline="0" noProof="0" dirty="0">
              <a:ln>
                <a:noFill/>
              </a:ln>
              <a:solidFill>
                <a:srgbClr val="003C71"/>
              </a:solidFill>
              <a:effectLst/>
              <a:uLnTx/>
              <a:uFillTx/>
              <a:latin typeface="Arial" panose="020B0604020202020204"/>
              <a:ea typeface="+mn-ea"/>
              <a:cs typeface="+mn-cs"/>
            </a:endParaRPr>
          </a:p>
        </p:txBody>
      </p:sp>
      <p:sp>
        <p:nvSpPr>
          <p:cNvPr id="6" name="Espace réservé du numéro de diapositive 5">
            <a:extLst>
              <a:ext uri="{FF2B5EF4-FFF2-40B4-BE49-F238E27FC236}">
                <a16:creationId xmlns:a16="http://schemas.microsoft.com/office/drawing/2014/main" id="{92A7ACD0-8731-A47E-1DEC-E043BDE025A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B8E65F-5E3F-4E73-B056-4D0181456FB2}" type="slidenum">
              <a:rPr kumimoji="0" lang="fr-CA" sz="670" b="0" i="0" u="none" strike="noStrike" kern="1200" cap="none" spc="0" normalizeH="0" baseline="0" noProof="0" smtClean="0">
                <a:ln>
                  <a:noFill/>
                </a:ln>
                <a:solidFill>
                  <a:srgbClr val="003C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CA" sz="670" b="0" i="0" u="none" strike="noStrike" kern="1200" cap="none" spc="0" normalizeH="0" baseline="0" noProof="0" dirty="0">
              <a:ln>
                <a:noFill/>
              </a:ln>
              <a:solidFill>
                <a:srgbClr val="003C71"/>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DC6098A2-61A9-38A9-E519-85CC7BE9F4E3}"/>
              </a:ext>
            </a:extLst>
          </p:cNvPr>
          <p:cNvSpPr/>
          <p:nvPr>
            <p:custDataLst>
              <p:tags r:id="rId1"/>
            </p:custDataLst>
          </p:nvPr>
        </p:nvSpPr>
        <p:spPr>
          <a:xfrm>
            <a:off x="882013" y="4707290"/>
            <a:ext cx="7533762"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dirty="0">
                <a:ln>
                  <a:noFill/>
                </a:ln>
                <a:solidFill>
                  <a:srgbClr val="011D71"/>
                </a:solidFill>
                <a:effectLst/>
                <a:uLnTx/>
                <a:uFillTx/>
                <a:latin typeface="Arial" panose="020B0604020202020204"/>
                <a:ea typeface="+mn-ea"/>
                <a:cs typeface="+mn-cs"/>
              </a:rPr>
              <a:t>La fonction d’approvisionnement et de gestion des achats est devenue stratégique.</a:t>
            </a:r>
          </a:p>
        </p:txBody>
      </p:sp>
    </p:spTree>
    <p:extLst>
      <p:ext uri="{BB962C8B-B14F-4D97-AF65-F5344CB8AC3E}">
        <p14:creationId xmlns:p14="http://schemas.microsoft.com/office/powerpoint/2010/main" val="3155209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fr-FR" dirty="0"/>
              <a:t>Tendances Lean en approvisionnement</a:t>
            </a:r>
          </a:p>
        </p:txBody>
      </p:sp>
      <p:sp>
        <p:nvSpPr>
          <p:cNvPr id="724995" name="Rectangle 3"/>
          <p:cNvSpPr>
            <a:spLocks noGrp="1" noChangeArrowheads="1"/>
          </p:cNvSpPr>
          <p:nvPr>
            <p:ph type="body" idx="1"/>
          </p:nvPr>
        </p:nvSpPr>
        <p:spPr/>
        <p:txBody>
          <a:bodyPr>
            <a:normAutofit/>
          </a:bodyPr>
          <a:lstStyle/>
          <a:p>
            <a:pPr marL="268288" indent="-268288">
              <a:lnSpc>
                <a:spcPct val="150000"/>
              </a:lnSpc>
            </a:pPr>
            <a:r>
              <a:rPr lang="fr-FR" sz="2000" dirty="0"/>
              <a:t>Relations à long terme </a:t>
            </a:r>
          </a:p>
          <a:p>
            <a:pPr marL="268288" indent="-268288">
              <a:lnSpc>
                <a:spcPct val="150000"/>
              </a:lnSpc>
            </a:pPr>
            <a:r>
              <a:rPr lang="fr-FR" sz="2000" dirty="0"/>
              <a:t>Critères de sélection autre que le prix </a:t>
            </a:r>
          </a:p>
          <a:p>
            <a:pPr marL="268288" indent="-268288">
              <a:lnSpc>
                <a:spcPct val="150000"/>
              </a:lnSpc>
            </a:pPr>
            <a:r>
              <a:rPr lang="fr-FR" sz="2000" dirty="0"/>
              <a:t>Emphase sur le coût total de possession </a:t>
            </a:r>
          </a:p>
          <a:p>
            <a:pPr marL="268288" indent="-268288">
              <a:lnSpc>
                <a:spcPct val="150000"/>
              </a:lnSpc>
            </a:pPr>
            <a:r>
              <a:rPr lang="fr-FR" sz="2000" dirty="0"/>
              <a:t>Inspection de la qualité à la source</a:t>
            </a:r>
          </a:p>
          <a:p>
            <a:pPr marL="268288" indent="-268288">
              <a:lnSpc>
                <a:spcPct val="150000"/>
              </a:lnSpc>
            </a:pPr>
            <a:r>
              <a:rPr lang="fr-FR" sz="2000" dirty="0"/>
              <a:t>Automatisation des processus et partage d’information</a:t>
            </a:r>
          </a:p>
          <a:p>
            <a:pPr marL="0" indent="0">
              <a:lnSpc>
                <a:spcPct val="150000"/>
              </a:lnSpc>
              <a:buNone/>
            </a:pPr>
            <a:endParaRPr lang="fr-FR" sz="2000" dirty="0"/>
          </a:p>
        </p:txBody>
      </p:sp>
    </p:spTree>
    <p:extLst>
      <p:ext uri="{BB962C8B-B14F-4D97-AF65-F5344CB8AC3E}">
        <p14:creationId xmlns:p14="http://schemas.microsoft.com/office/powerpoint/2010/main" val="555666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F2E56569-54C9-4567-9A48-17AFFE5D0A1F}"/>
              </a:ext>
            </a:extLst>
          </p:cNvPr>
          <p:cNvSpPr txBox="1">
            <a:spLocks noChangeArrowheads="1"/>
          </p:cNvSpPr>
          <p:nvPr/>
        </p:nvSpPr>
        <p:spPr>
          <a:xfrm>
            <a:off x="530932" y="3204153"/>
            <a:ext cx="4467930" cy="1657350"/>
          </a:xfrm>
          <a:prstGeom prst="rect">
            <a:avLst/>
          </a:prstGeom>
        </p:spPr>
        <p:txBody>
          <a:bodyPr vert="horz" lIns="91440" tIns="45720" rIns="91440" bIns="45720" rtlCol="0">
            <a:noAutofit/>
          </a:bodyPr>
          <a:lstStyle>
            <a:lvl1pPr marL="1548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1pPr>
            <a:lvl2pPr marL="453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2pPr>
            <a:lvl3pPr marL="752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3pPr>
            <a:lvl4pPr marL="1047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4pPr>
            <a:lvl5pPr marL="1346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2438" lvl="1" indent="-276225"/>
            <a:r>
              <a:rPr lang="fr-CA" sz="1500" dirty="0"/>
              <a:t>Réduire les coûts</a:t>
            </a:r>
          </a:p>
          <a:p>
            <a:pPr marL="452438" lvl="1" indent="-276225"/>
            <a:r>
              <a:rPr lang="fr-CA" sz="1500" dirty="0"/>
              <a:t>Absence de fournisseurs compétents</a:t>
            </a:r>
          </a:p>
          <a:p>
            <a:pPr marL="452438" lvl="1" indent="-276225"/>
            <a:r>
              <a:rPr lang="fr-CA" sz="1500" dirty="0"/>
              <a:t>Garder le contrôle sur la qualité et les délais</a:t>
            </a:r>
          </a:p>
          <a:p>
            <a:pPr marL="452438" lvl="1" indent="-276225"/>
            <a:r>
              <a:rPr lang="fr-CA" sz="1500" dirty="0"/>
              <a:t>Préserver des secrets technologiques </a:t>
            </a:r>
          </a:p>
          <a:p>
            <a:pPr marL="452438" lvl="1" indent="-276225"/>
            <a:r>
              <a:rPr lang="fr-CA" sz="1500" dirty="0"/>
              <a:t>Garder l’expertise à l’interne</a:t>
            </a:r>
          </a:p>
        </p:txBody>
      </p:sp>
      <p:sp>
        <p:nvSpPr>
          <p:cNvPr id="8" name="Rectangle 2">
            <a:extLst>
              <a:ext uri="{FF2B5EF4-FFF2-40B4-BE49-F238E27FC236}">
                <a16:creationId xmlns:a16="http://schemas.microsoft.com/office/drawing/2014/main" id="{8383D6F4-5222-47DE-AEEF-C0509AF96900}"/>
              </a:ext>
            </a:extLst>
          </p:cNvPr>
          <p:cNvSpPr txBox="1">
            <a:spLocks noChangeArrowheads="1"/>
          </p:cNvSpPr>
          <p:nvPr/>
        </p:nvSpPr>
        <p:spPr>
          <a:xfrm>
            <a:off x="5141446" y="1012825"/>
            <a:ext cx="4467930" cy="1657350"/>
          </a:xfrm>
          <a:prstGeom prst="rect">
            <a:avLst/>
          </a:prstGeom>
        </p:spPr>
        <p:txBody>
          <a:bodyPr vert="horz" lIns="91440" tIns="45720" rIns="91440" bIns="45720" rtlCol="0">
            <a:normAutofit fontScale="92500"/>
          </a:bodyPr>
          <a:lstStyle>
            <a:lvl1pPr marL="1548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1pPr>
            <a:lvl2pPr marL="453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2pPr>
            <a:lvl3pPr marL="752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3pPr>
            <a:lvl4pPr marL="1047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4pPr>
            <a:lvl5pPr marL="1346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46088" lvl="1" indent="-269875"/>
            <a:r>
              <a:rPr lang="fr-CA" dirty="0"/>
              <a:t>Réduction des coûts</a:t>
            </a:r>
          </a:p>
          <a:p>
            <a:pPr marL="446088" lvl="1" indent="-269875"/>
            <a:r>
              <a:rPr lang="fr-CA" dirty="0"/>
              <a:t>Se concentrer sur ses activités stratégiques</a:t>
            </a:r>
          </a:p>
          <a:p>
            <a:pPr marL="446088" lvl="1" indent="-269875"/>
            <a:r>
              <a:rPr lang="fr-CA" dirty="0"/>
              <a:t>Manque d’expertise à l’interne</a:t>
            </a:r>
          </a:p>
          <a:p>
            <a:pPr marL="446088" lvl="1" indent="-269875"/>
            <a:r>
              <a:rPr lang="fr-CA" dirty="0"/>
              <a:t>Manque de capacité</a:t>
            </a:r>
          </a:p>
          <a:p>
            <a:pPr marL="446088" lvl="1" indent="-269875"/>
            <a:r>
              <a:rPr lang="fr-CA" dirty="0"/>
              <a:t>Plus de flexibilité</a:t>
            </a:r>
          </a:p>
        </p:txBody>
      </p:sp>
      <p:sp>
        <p:nvSpPr>
          <p:cNvPr id="6" name="Rectangle 2"/>
          <p:cNvSpPr>
            <a:spLocks noGrp="1" noChangeArrowheads="1"/>
          </p:cNvSpPr>
          <p:nvPr>
            <p:ph type="title"/>
          </p:nvPr>
        </p:nvSpPr>
        <p:spPr>
          <a:xfrm>
            <a:off x="532000" y="481014"/>
            <a:ext cx="9096000" cy="411680"/>
          </a:xfrm>
        </p:spPr>
        <p:txBody>
          <a:bodyPr vert="horz" lIns="91440" tIns="45720" rIns="91440" bIns="45720" rtlCol="0" anchor="ctr">
            <a:normAutofit/>
          </a:bodyPr>
          <a:lstStyle/>
          <a:p>
            <a:r>
              <a:rPr lang="fr-CA" dirty="0"/>
              <a:t>Faire, faire faire ou acheter?</a:t>
            </a:r>
          </a:p>
        </p:txBody>
      </p:sp>
      <p:sp>
        <p:nvSpPr>
          <p:cNvPr id="36" name="Text Placeholder 7">
            <a:extLst>
              <a:ext uri="{FF2B5EF4-FFF2-40B4-BE49-F238E27FC236}">
                <a16:creationId xmlns:a16="http://schemas.microsoft.com/office/drawing/2014/main" id="{6CBECDA3-840B-404F-B731-D79AA31C02D0}"/>
              </a:ext>
            </a:extLst>
          </p:cNvPr>
          <p:cNvSpPr>
            <a:spLocks noGrp="1"/>
          </p:cNvSpPr>
          <p:nvPr>
            <p:ph type="body" sz="quarter" idx="17"/>
          </p:nvPr>
        </p:nvSpPr>
        <p:spPr>
          <a:xfrm>
            <a:off x="5148502" y="2650497"/>
            <a:ext cx="4467931" cy="404813"/>
          </a:xfrm>
        </p:spPr>
        <p:txBody>
          <a:bodyPr>
            <a:noAutofit/>
          </a:bodyPr>
          <a:lstStyle/>
          <a:p>
            <a:pPr algn="ctr"/>
            <a:r>
              <a:rPr lang="fr-CA" sz="1800" dirty="0"/>
              <a:t>SOUS-CONTRACTER et/ou ACHETER</a:t>
            </a:r>
          </a:p>
        </p:txBody>
      </p:sp>
      <p:sp>
        <p:nvSpPr>
          <p:cNvPr id="38" name="Text Placeholder 8">
            <a:extLst>
              <a:ext uri="{FF2B5EF4-FFF2-40B4-BE49-F238E27FC236}">
                <a16:creationId xmlns:a16="http://schemas.microsoft.com/office/drawing/2014/main" id="{F60E9086-DB68-49F8-B19F-9F30F0907679}"/>
              </a:ext>
            </a:extLst>
          </p:cNvPr>
          <p:cNvSpPr>
            <a:spLocks noGrp="1"/>
          </p:cNvSpPr>
          <p:nvPr>
            <p:ph type="body" sz="quarter" idx="18"/>
          </p:nvPr>
        </p:nvSpPr>
        <p:spPr>
          <a:xfrm>
            <a:off x="530929" y="4842454"/>
            <a:ext cx="4467931" cy="404813"/>
          </a:xfrm>
        </p:spPr>
        <p:txBody>
          <a:bodyPr>
            <a:normAutofit/>
          </a:bodyPr>
          <a:lstStyle/>
          <a:p>
            <a:pPr algn="ctr"/>
            <a:r>
              <a:rPr lang="en-US" sz="1800" dirty="0"/>
              <a:t>FAIRE</a:t>
            </a:r>
          </a:p>
        </p:txBody>
      </p:sp>
      <p:pic>
        <p:nvPicPr>
          <p:cNvPr id="4" name="Espace réservé du contenu 3" descr="Une image contenant intérieur, table, camion, assis&#10;&#10;Description générée automatiquement">
            <a:extLst>
              <a:ext uri="{FF2B5EF4-FFF2-40B4-BE49-F238E27FC236}">
                <a16:creationId xmlns:a16="http://schemas.microsoft.com/office/drawing/2014/main" id="{CB0F485A-E788-49D4-8835-8BC2177445A8}"/>
              </a:ext>
            </a:extLst>
          </p:cNvPr>
          <p:cNvPicPr>
            <a:picLocks noGrp="1" noChangeAspect="1"/>
          </p:cNvPicPr>
          <p:nvPr>
            <p:ph sz="quarter" idx="20"/>
          </p:nvPr>
        </p:nvPicPr>
        <p:blipFill>
          <a:blip r:embed="rId3" cstate="print">
            <a:extLst>
              <a:ext uri="{28A0092B-C50C-407E-A947-70E740481C1C}">
                <a14:useLocalDpi xmlns:a14="http://schemas.microsoft.com/office/drawing/2010/main" val="0"/>
              </a:ext>
            </a:extLst>
          </a:blip>
          <a:stretch>
            <a:fillRect/>
          </a:stretch>
        </p:blipFill>
        <p:spPr>
          <a:xfrm>
            <a:off x="795131" y="1022350"/>
            <a:ext cx="3211804" cy="2142426"/>
          </a:xfrm>
        </p:spPr>
      </p:pic>
      <p:pic>
        <p:nvPicPr>
          <p:cNvPr id="11" name="Espace réservé du contenu 10">
            <a:extLst>
              <a:ext uri="{FF2B5EF4-FFF2-40B4-BE49-F238E27FC236}">
                <a16:creationId xmlns:a16="http://schemas.microsoft.com/office/drawing/2014/main" id="{9FB4EAB2-B2E6-4372-BB8D-ECFF332BEDEA}"/>
              </a:ext>
            </a:extLst>
          </p:cNvPr>
          <p:cNvPicPr>
            <a:picLocks noGrp="1" noChangeAspect="1"/>
          </p:cNvPicPr>
          <p:nvPr>
            <p:ph sz="quarter" idx="23"/>
          </p:nvPr>
        </p:nvPicPr>
        <p:blipFill>
          <a:blip r:embed="rId4" cstate="print">
            <a:extLst>
              <a:ext uri="{28A0092B-C50C-407E-A947-70E740481C1C}">
                <a14:useLocalDpi xmlns:a14="http://schemas.microsoft.com/office/drawing/2010/main" val="0"/>
              </a:ext>
            </a:extLst>
          </a:blip>
          <a:stretch>
            <a:fillRect/>
          </a:stretch>
        </p:blipFill>
        <p:spPr>
          <a:xfrm>
            <a:off x="6012893" y="3204153"/>
            <a:ext cx="3596483" cy="2247801"/>
          </a:xfrm>
        </p:spPr>
      </p:pic>
    </p:spTree>
    <p:extLst>
      <p:ext uri="{BB962C8B-B14F-4D97-AF65-F5344CB8AC3E}">
        <p14:creationId xmlns:p14="http://schemas.microsoft.com/office/powerpoint/2010/main" val="381070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6" grpId="0" uiExpand="1" build="p" animBg="1"/>
      <p:bldP spid="38"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Carte conceptuelle</a:t>
            </a:r>
          </a:p>
        </p:txBody>
      </p:sp>
      <p:pic>
        <p:nvPicPr>
          <p:cNvPr id="4" name="Espace réservé du contenu 3"/>
          <p:cNvPicPr>
            <a:picLocks noGrp="1" noChangeAspect="1"/>
          </p:cNvPicPr>
          <p:nvPr>
            <p:ph idx="4294967295"/>
          </p:nvPr>
        </p:nvPicPr>
        <p:blipFill rotWithShape="1">
          <a:blip r:embed="rId2" cstate="print">
            <a:extLst>
              <a:ext uri="{28A0092B-C50C-407E-A947-70E740481C1C}">
                <a14:useLocalDpi xmlns:a14="http://schemas.microsoft.com/office/drawing/2010/main" val="0"/>
              </a:ext>
            </a:extLst>
          </a:blip>
          <a:srcRect l="2645" t="27592" r="2643" b="26878"/>
          <a:stretch/>
        </p:blipFill>
        <p:spPr>
          <a:xfrm>
            <a:off x="986801" y="1694824"/>
            <a:ext cx="8207375" cy="3048000"/>
          </a:xfrm>
        </p:spPr>
      </p:pic>
    </p:spTree>
    <p:extLst>
      <p:ext uri="{BB962C8B-B14F-4D97-AF65-F5344CB8AC3E}">
        <p14:creationId xmlns:p14="http://schemas.microsoft.com/office/powerpoint/2010/main" val="1380207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Grp="1" noChangeArrowheads="1"/>
          </p:cNvSpPr>
          <p:nvPr>
            <p:ph type="title"/>
          </p:nvPr>
        </p:nvSpPr>
        <p:spPr/>
        <p:txBody>
          <a:bodyPr/>
          <a:lstStyle/>
          <a:p>
            <a:r>
              <a:rPr lang="fr-CA" dirty="0"/>
              <a:t>Logistique</a:t>
            </a:r>
          </a:p>
        </p:txBody>
      </p:sp>
      <p:sp>
        <p:nvSpPr>
          <p:cNvPr id="11267" name="Rectangle 13"/>
          <p:cNvSpPr>
            <a:spLocks noGrp="1" noChangeArrowheads="1"/>
          </p:cNvSpPr>
          <p:nvPr>
            <p:ph type="body" idx="1"/>
          </p:nvPr>
        </p:nvSpPr>
        <p:spPr>
          <a:xfrm>
            <a:off x="532000" y="1577686"/>
            <a:ext cx="9096000" cy="3386200"/>
          </a:xfrm>
        </p:spPr>
        <p:txBody>
          <a:bodyPr>
            <a:noAutofit/>
          </a:bodyPr>
          <a:lstStyle/>
          <a:p>
            <a:pPr marL="0" indent="0">
              <a:buNone/>
            </a:pPr>
            <a:r>
              <a:rPr lang="fr-CH" b="1" dirty="0"/>
              <a:t>Définition : </a:t>
            </a:r>
            <a:r>
              <a:rPr lang="fr-CA" dirty="0"/>
              <a:t>Ensemble des méthodes et des techniques ayant pour objet d’assurer le flux efficient des matières premières, des produits en cours et des produits finis, depuis leur source d’approvisionnement jusqu’au service après-vente, en passant par l’ensemble des points d’entreposage et de distribution.</a:t>
            </a:r>
          </a:p>
          <a:p>
            <a:pPr marL="0" indent="0">
              <a:buNone/>
            </a:pPr>
            <a:endParaRPr lang="fr-CH" dirty="0"/>
          </a:p>
          <a:p>
            <a:endParaRPr lang="fr-CA" dirty="0"/>
          </a:p>
          <a:p>
            <a:pPr marL="0" indent="0">
              <a:buNone/>
            </a:pPr>
            <a:r>
              <a:rPr lang="fr-CA" dirty="0"/>
              <a:t>Objectifs de livrer (5 </a:t>
            </a:r>
            <a:r>
              <a:rPr lang="fr-CA" dirty="0" err="1"/>
              <a:t>B’s</a:t>
            </a:r>
            <a:r>
              <a:rPr lang="fr-CA" dirty="0"/>
              <a:t>) :</a:t>
            </a:r>
          </a:p>
          <a:p>
            <a:pPr marL="538163" lvl="1" indent="-269875"/>
            <a:r>
              <a:rPr lang="fr-CA" dirty="0"/>
              <a:t>Le bon produit;</a:t>
            </a:r>
          </a:p>
          <a:p>
            <a:pPr marL="538163" lvl="1" indent="-269875"/>
            <a:r>
              <a:rPr lang="fr-CA" dirty="0"/>
              <a:t>Au bon endroit;</a:t>
            </a:r>
          </a:p>
          <a:p>
            <a:pPr marL="538163" lvl="1" indent="-269875"/>
            <a:r>
              <a:rPr lang="fr-CA" dirty="0"/>
              <a:t>Au bon moment;</a:t>
            </a:r>
          </a:p>
          <a:p>
            <a:pPr marL="538163" lvl="1" indent="-269875"/>
            <a:r>
              <a:rPr lang="fr-CA" dirty="0"/>
              <a:t>En bon état;</a:t>
            </a:r>
          </a:p>
          <a:p>
            <a:pPr marL="538163" lvl="1" indent="-269875"/>
            <a:r>
              <a:rPr lang="fr-CA" dirty="0"/>
              <a:t>Au bon prix.</a:t>
            </a:r>
          </a:p>
          <a:p>
            <a:endParaRPr lang="fr-CH" dirty="0"/>
          </a:p>
        </p:txBody>
      </p:sp>
      <p:pic>
        <p:nvPicPr>
          <p:cNvPr id="6" name="Image 5" descr="Une image contenant ciel, nuage, plein air, route&#10;&#10;Description générée automatiquement">
            <a:extLst>
              <a:ext uri="{FF2B5EF4-FFF2-40B4-BE49-F238E27FC236}">
                <a16:creationId xmlns:a16="http://schemas.microsoft.com/office/drawing/2014/main" id="{BBE57FB7-839F-9CED-5847-F32EC523F0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1878" y="3685524"/>
            <a:ext cx="2930962" cy="1953974"/>
          </a:xfrm>
          <a:prstGeom prst="rect">
            <a:avLst/>
          </a:prstGeom>
        </p:spPr>
      </p:pic>
      <p:pic>
        <p:nvPicPr>
          <p:cNvPr id="8" name="Image 7" descr="Une image contenant intérieur, inventaire, allée centrale, Rayonnage&#10;&#10;Description générée automatiquement">
            <a:extLst>
              <a:ext uri="{FF2B5EF4-FFF2-40B4-BE49-F238E27FC236}">
                <a16:creationId xmlns:a16="http://schemas.microsoft.com/office/drawing/2014/main" id="{5B5280D4-76F1-0B6F-CCE5-60338D2B8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1335" y="2498321"/>
            <a:ext cx="3040543" cy="1824326"/>
          </a:xfrm>
          <a:prstGeom prst="rect">
            <a:avLst/>
          </a:prstGeom>
        </p:spPr>
      </p:pic>
    </p:spTree>
    <p:extLst>
      <p:ext uri="{BB962C8B-B14F-4D97-AF65-F5344CB8AC3E}">
        <p14:creationId xmlns:p14="http://schemas.microsoft.com/office/powerpoint/2010/main" val="3463278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Flèche gauche 18"/>
          <p:cNvSpPr/>
          <p:nvPr/>
        </p:nvSpPr>
        <p:spPr bwMode="auto">
          <a:xfrm>
            <a:off x="6059182" y="3921939"/>
            <a:ext cx="1304642" cy="1130482"/>
          </a:xfrm>
          <a:prstGeom prst="leftArrow">
            <a:avLst/>
          </a:prstGeom>
          <a:solidFill>
            <a:schemeClr val="accent5"/>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t" anchorCtr="0" compatLnSpc="1">
            <a:prstTxWarp prst="textNoShape">
              <a:avLst/>
            </a:prstTxWarp>
          </a:bodyPr>
          <a:lstStyle/>
          <a:p>
            <a:endParaRPr lang="fr-CA" sz="1350"/>
          </a:p>
        </p:txBody>
      </p:sp>
      <p:sp>
        <p:nvSpPr>
          <p:cNvPr id="6" name="Titre 4"/>
          <p:cNvSpPr>
            <a:spLocks noGrp="1"/>
          </p:cNvSpPr>
          <p:nvPr>
            <p:ph type="title"/>
          </p:nvPr>
        </p:nvSpPr>
        <p:spPr/>
        <p:txBody>
          <a:bodyPr/>
          <a:lstStyle/>
          <a:p>
            <a:r>
              <a:rPr lang="fr-CA" dirty="0"/>
              <a:t>Les activités de la logistique</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3001937469"/>
              </p:ext>
            </p:extLst>
          </p:nvPr>
        </p:nvGraphicFramePr>
        <p:xfrm>
          <a:off x="986800" y="837253"/>
          <a:ext cx="8185150" cy="3187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à coins arrondis 7"/>
          <p:cNvSpPr/>
          <p:nvPr/>
        </p:nvSpPr>
        <p:spPr bwMode="auto">
          <a:xfrm>
            <a:off x="1979954" y="1355777"/>
            <a:ext cx="5949297" cy="422753"/>
          </a:xfrm>
          <a:prstGeom prst="roundRect">
            <a:avLst/>
          </a:prstGeom>
          <a:solidFill>
            <a:schemeClr val="accent1">
              <a:lumMod val="75000"/>
            </a:schemeClr>
          </a:solidFill>
          <a:ln w="12700" cap="flat" cmpd="sng" algn="ctr">
            <a:solidFill>
              <a:schemeClr val="bg1"/>
            </a:solidFill>
            <a:prstDash val="solid"/>
            <a:round/>
            <a:headEnd type="none" w="sm" len="sm"/>
            <a:tailEnd type="none" w="sm" len="sm"/>
          </a:ln>
          <a:effectLst/>
        </p:spPr>
        <p:txBody>
          <a:bodyPr vert="horz" wrap="square" lIns="68580" tIns="34290" rIns="68580" bIns="34290" numCol="1" rtlCol="0" anchor="t" anchorCtr="0" compatLnSpc="1">
            <a:prstTxWarp prst="textNoShape">
              <a:avLst/>
            </a:prstTxWarp>
          </a:bodyPr>
          <a:lstStyle/>
          <a:p>
            <a:pPr algn="ctr"/>
            <a:r>
              <a:rPr lang="fr-CA" b="1" dirty="0">
                <a:solidFill>
                  <a:schemeClr val="bg1"/>
                </a:solidFill>
              </a:rPr>
              <a:t>Entreposage et transport</a:t>
            </a:r>
          </a:p>
        </p:txBody>
      </p:sp>
      <p:sp>
        <p:nvSpPr>
          <p:cNvPr id="9" name="Rectangle à coins arrondis 8"/>
          <p:cNvSpPr/>
          <p:nvPr/>
        </p:nvSpPr>
        <p:spPr bwMode="auto">
          <a:xfrm>
            <a:off x="4018365" y="3117912"/>
            <a:ext cx="2202294" cy="371466"/>
          </a:xfrm>
          <a:prstGeom prst="roundRect">
            <a:avLst/>
          </a:prstGeom>
          <a:solidFill>
            <a:srgbClr val="FB8815"/>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ctr" anchorCtr="0" compatLnSpc="1">
            <a:prstTxWarp prst="textNoShape">
              <a:avLst/>
            </a:prstTxWarp>
          </a:bodyPr>
          <a:lstStyle/>
          <a:p>
            <a:pPr algn="ctr" eaLnBrk="1" hangingPunct="1">
              <a:buSzPct val="100000"/>
            </a:pPr>
            <a:r>
              <a:rPr lang="fr-CA" sz="1350" dirty="0">
                <a:solidFill>
                  <a:schemeClr val="bg1"/>
                </a:solidFill>
              </a:rPr>
              <a:t>Prévision de la demande</a:t>
            </a:r>
          </a:p>
        </p:txBody>
      </p:sp>
      <p:sp>
        <p:nvSpPr>
          <p:cNvPr id="10" name="Rectangle à coins arrondis 9"/>
          <p:cNvSpPr/>
          <p:nvPr/>
        </p:nvSpPr>
        <p:spPr bwMode="auto">
          <a:xfrm>
            <a:off x="4018365" y="3551313"/>
            <a:ext cx="2202294" cy="329712"/>
          </a:xfrm>
          <a:prstGeom prst="roundRect">
            <a:avLst/>
          </a:prstGeom>
          <a:solidFill>
            <a:srgbClr val="FB8815"/>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ctr" anchorCtr="0" compatLnSpc="1">
            <a:prstTxWarp prst="textNoShape">
              <a:avLst/>
            </a:prstTxWarp>
          </a:bodyPr>
          <a:lstStyle/>
          <a:p>
            <a:pPr algn="ctr" eaLnBrk="1" hangingPunct="1">
              <a:buSzPct val="100000"/>
            </a:pPr>
            <a:r>
              <a:rPr lang="fr-CA" sz="1350" dirty="0">
                <a:solidFill>
                  <a:schemeClr val="bg1"/>
                </a:solidFill>
              </a:rPr>
              <a:t>Plan global</a:t>
            </a:r>
          </a:p>
        </p:txBody>
      </p:sp>
      <p:sp>
        <p:nvSpPr>
          <p:cNvPr id="11" name="Rectangle à coins arrondis 10"/>
          <p:cNvSpPr/>
          <p:nvPr/>
        </p:nvSpPr>
        <p:spPr bwMode="auto">
          <a:xfrm>
            <a:off x="4018365" y="3942961"/>
            <a:ext cx="2202294" cy="367286"/>
          </a:xfrm>
          <a:prstGeom prst="roundRect">
            <a:avLst/>
          </a:prstGeom>
          <a:solidFill>
            <a:srgbClr val="FB8815"/>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ctr" anchorCtr="0" compatLnSpc="1">
            <a:prstTxWarp prst="textNoShape">
              <a:avLst/>
            </a:prstTxWarp>
          </a:bodyPr>
          <a:lstStyle/>
          <a:p>
            <a:pPr algn="ctr" eaLnBrk="1" hangingPunct="1">
              <a:buSzPct val="100000"/>
            </a:pPr>
            <a:r>
              <a:rPr lang="fr-CA" sz="1350" dirty="0">
                <a:solidFill>
                  <a:schemeClr val="bg1"/>
                </a:solidFill>
              </a:rPr>
              <a:t>Plan directeur</a:t>
            </a:r>
          </a:p>
        </p:txBody>
      </p:sp>
      <p:sp>
        <p:nvSpPr>
          <p:cNvPr id="14" name="Rectangle à coins arrondis 13"/>
          <p:cNvSpPr/>
          <p:nvPr/>
        </p:nvSpPr>
        <p:spPr bwMode="auto">
          <a:xfrm>
            <a:off x="2278288" y="4876617"/>
            <a:ext cx="5815874" cy="469726"/>
          </a:xfrm>
          <a:prstGeom prst="roundRect">
            <a:avLst/>
          </a:prstGeom>
          <a:solidFill>
            <a:schemeClr val="accent1">
              <a:lumMod val="75000"/>
            </a:schemeClr>
          </a:solidFill>
          <a:ln w="12700" cap="flat" cmpd="sng" algn="ctr">
            <a:solidFill>
              <a:schemeClr val="bg1"/>
            </a:solidFill>
            <a:prstDash val="solid"/>
            <a:round/>
            <a:headEnd type="none" w="sm" len="sm"/>
            <a:tailEnd type="none" w="sm" len="sm"/>
          </a:ln>
          <a:effectLst/>
        </p:spPr>
        <p:txBody>
          <a:bodyPr vert="horz" wrap="square" lIns="68580" tIns="34290" rIns="68580" bIns="34290" numCol="1" rtlCol="0" anchor="t" anchorCtr="0" compatLnSpc="1">
            <a:prstTxWarp prst="textNoShape">
              <a:avLst/>
            </a:prstTxWarp>
          </a:bodyPr>
          <a:lstStyle/>
          <a:p>
            <a:pPr algn="ctr"/>
            <a:r>
              <a:rPr lang="fr-CA" b="1" dirty="0">
                <a:solidFill>
                  <a:schemeClr val="bg1"/>
                </a:solidFill>
              </a:rPr>
              <a:t>Gestion des stocks / Emballage / Manutention</a:t>
            </a:r>
          </a:p>
        </p:txBody>
      </p:sp>
      <p:sp>
        <p:nvSpPr>
          <p:cNvPr id="15" name="Rectangle à coins arrondis 14"/>
          <p:cNvSpPr/>
          <p:nvPr/>
        </p:nvSpPr>
        <p:spPr bwMode="auto">
          <a:xfrm>
            <a:off x="2585937" y="4378824"/>
            <a:ext cx="2236097" cy="413507"/>
          </a:xfrm>
          <a:prstGeom prst="roundRect">
            <a:avLst/>
          </a:prstGeom>
          <a:solidFill>
            <a:srgbClr val="FB8815"/>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ctr" anchorCtr="0" compatLnSpc="1">
            <a:prstTxWarp prst="textNoShape">
              <a:avLst/>
            </a:prstTxWarp>
          </a:bodyPr>
          <a:lstStyle/>
          <a:p>
            <a:pPr algn="ctr">
              <a:buSzPct val="100000"/>
            </a:pPr>
            <a:r>
              <a:rPr lang="fr-CA" sz="1350" dirty="0">
                <a:solidFill>
                  <a:schemeClr val="bg1"/>
                </a:solidFill>
              </a:rPr>
              <a:t>Plan des besoins-matières</a:t>
            </a:r>
          </a:p>
        </p:txBody>
      </p:sp>
      <p:sp>
        <p:nvSpPr>
          <p:cNvPr id="16" name="Rectangle à coins arrondis 15"/>
          <p:cNvSpPr/>
          <p:nvPr/>
        </p:nvSpPr>
        <p:spPr bwMode="auto">
          <a:xfrm>
            <a:off x="6764909" y="3189874"/>
            <a:ext cx="1472285" cy="449378"/>
          </a:xfrm>
          <a:prstGeom prst="roundRect">
            <a:avLst/>
          </a:prstGeom>
          <a:solidFill>
            <a:schemeClr val="accent1">
              <a:lumMod val="75000"/>
            </a:schemeClr>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ctr" anchorCtr="0" compatLnSpc="1">
            <a:prstTxWarp prst="textNoShape">
              <a:avLst/>
            </a:prstTxWarp>
          </a:bodyPr>
          <a:lstStyle/>
          <a:p>
            <a:pPr algn="ctr">
              <a:buSzPct val="100000"/>
            </a:pPr>
            <a:r>
              <a:rPr lang="fr-CA" sz="1350" dirty="0">
                <a:solidFill>
                  <a:schemeClr val="bg1"/>
                </a:solidFill>
              </a:rPr>
              <a:t>Traitement des commandes</a:t>
            </a:r>
          </a:p>
        </p:txBody>
      </p:sp>
      <p:sp>
        <p:nvSpPr>
          <p:cNvPr id="17" name="Rectangle à coins arrondis 16"/>
          <p:cNvSpPr/>
          <p:nvPr/>
        </p:nvSpPr>
        <p:spPr bwMode="auto">
          <a:xfrm>
            <a:off x="6769937" y="3717925"/>
            <a:ext cx="1467257" cy="436836"/>
          </a:xfrm>
          <a:prstGeom prst="roundRect">
            <a:avLst/>
          </a:prstGeom>
          <a:solidFill>
            <a:schemeClr val="accent1">
              <a:lumMod val="75000"/>
            </a:schemeClr>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ctr" anchorCtr="0" compatLnSpc="1">
            <a:prstTxWarp prst="textNoShape">
              <a:avLst/>
            </a:prstTxWarp>
          </a:bodyPr>
          <a:lstStyle/>
          <a:p>
            <a:pPr algn="ctr">
              <a:buSzPct val="100000"/>
            </a:pPr>
            <a:r>
              <a:rPr lang="fr-CA" sz="1350" dirty="0">
                <a:solidFill>
                  <a:schemeClr val="bg1"/>
                </a:solidFill>
              </a:rPr>
              <a:t>Service à la clientèle</a:t>
            </a:r>
          </a:p>
        </p:txBody>
      </p:sp>
      <p:sp>
        <p:nvSpPr>
          <p:cNvPr id="18" name="Rectangle à coins arrondis 17"/>
          <p:cNvSpPr/>
          <p:nvPr/>
        </p:nvSpPr>
        <p:spPr bwMode="auto">
          <a:xfrm>
            <a:off x="6303726" y="4280427"/>
            <a:ext cx="1532366" cy="413507"/>
          </a:xfrm>
          <a:prstGeom prst="roundRect">
            <a:avLst/>
          </a:prstGeom>
          <a:solidFill>
            <a:schemeClr val="accent1">
              <a:lumMod val="75000"/>
            </a:schemeClr>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ctr" anchorCtr="0" compatLnSpc="1">
            <a:prstTxWarp prst="textNoShape">
              <a:avLst/>
            </a:prstTxWarp>
          </a:bodyPr>
          <a:lstStyle/>
          <a:p>
            <a:pPr algn="ctr" eaLnBrk="1" hangingPunct="1">
              <a:buSzPct val="100000"/>
            </a:pPr>
            <a:r>
              <a:rPr lang="fr-CA" sz="1350" dirty="0">
                <a:solidFill>
                  <a:schemeClr val="bg1"/>
                </a:solidFill>
              </a:rPr>
              <a:t>Retours</a:t>
            </a:r>
          </a:p>
        </p:txBody>
      </p:sp>
      <p:sp>
        <p:nvSpPr>
          <p:cNvPr id="20" name="Flèche vers le haut 19"/>
          <p:cNvSpPr/>
          <p:nvPr/>
        </p:nvSpPr>
        <p:spPr bwMode="auto">
          <a:xfrm rot="19963711">
            <a:off x="2713424" y="3111300"/>
            <a:ext cx="800313" cy="1082438"/>
          </a:xfrm>
          <a:prstGeom prst="upArrow">
            <a:avLst/>
          </a:prstGeom>
          <a:solidFill>
            <a:srgbClr val="FFE9A3"/>
          </a:solidFill>
          <a:ln w="12700" cap="flat" cmpd="sng" algn="ctr">
            <a:solidFill>
              <a:schemeClr val="accent3"/>
            </a:solidFill>
            <a:prstDash val="solid"/>
            <a:round/>
            <a:headEnd type="none" w="sm" len="sm"/>
            <a:tailEnd type="none" w="sm" len="sm"/>
          </a:ln>
          <a:effectLst/>
        </p:spPr>
        <p:txBody>
          <a:bodyPr vert="horz" wrap="square" lIns="68580" tIns="34290" rIns="68580" bIns="34290" numCol="1" rtlCol="0" anchor="t" anchorCtr="0" compatLnSpc="1">
            <a:prstTxWarp prst="textNoShape">
              <a:avLst/>
            </a:prstTxWarp>
          </a:bodyPr>
          <a:lstStyle/>
          <a:p>
            <a:endParaRPr lang="fr-CA" sz="1350"/>
          </a:p>
        </p:txBody>
      </p:sp>
    </p:spTree>
    <p:extLst>
      <p:ext uri="{BB962C8B-B14F-4D97-AF65-F5344CB8AC3E}">
        <p14:creationId xmlns:p14="http://schemas.microsoft.com/office/powerpoint/2010/main" val="339437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Graphic spid="4" grpId="0">
        <p:bldAsOne/>
      </p:bldGraphic>
      <p:bldP spid="8" grpId="0" animBg="1"/>
      <p:bldP spid="9" grpId="0" animBg="1"/>
      <p:bldP spid="10" grpId="0" animBg="1"/>
      <p:bldP spid="11" grpId="0" animBg="1"/>
      <p:bldP spid="14" grpId="0" animBg="1"/>
      <p:bldP spid="15" grpId="0" animBg="1"/>
      <p:bldP spid="16" grpId="0" animBg="1"/>
      <p:bldP spid="17" grpId="0" animBg="1"/>
      <p:bldP spid="18"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6187" y="2802088"/>
            <a:ext cx="3578022" cy="2165645"/>
          </a:xfrm>
          <a:prstGeom prst="rect">
            <a:avLst/>
          </a:prstGeom>
        </p:spPr>
      </p:pic>
      <p:sp>
        <p:nvSpPr>
          <p:cNvPr id="2" name="Titre 1"/>
          <p:cNvSpPr>
            <a:spLocks noGrp="1"/>
          </p:cNvSpPr>
          <p:nvPr>
            <p:ph type="title"/>
          </p:nvPr>
        </p:nvSpPr>
        <p:spPr/>
        <p:txBody>
          <a:bodyPr/>
          <a:lstStyle/>
          <a:p>
            <a:r>
              <a:rPr lang="fr-CA" dirty="0"/>
              <a:t>Entreposage</a:t>
            </a:r>
            <a:endParaRPr lang="fr-CA" i="1" dirty="0"/>
          </a:p>
        </p:txBody>
      </p:sp>
      <p:sp>
        <p:nvSpPr>
          <p:cNvPr id="5" name="Espace réservé du contenu 4"/>
          <p:cNvSpPr>
            <a:spLocks noGrp="1"/>
          </p:cNvSpPr>
          <p:nvPr>
            <p:ph idx="1"/>
          </p:nvPr>
        </p:nvSpPr>
        <p:spPr>
          <a:xfrm>
            <a:off x="3764280" y="1388684"/>
            <a:ext cx="5863720" cy="1964116"/>
          </a:xfrm>
        </p:spPr>
        <p:txBody>
          <a:bodyPr>
            <a:noAutofit/>
          </a:bodyPr>
          <a:lstStyle/>
          <a:p>
            <a:r>
              <a:rPr lang="fr-CA" dirty="0"/>
              <a:t>Choix des technologies d’entreposage</a:t>
            </a:r>
          </a:p>
          <a:p>
            <a:r>
              <a:rPr lang="fr-CA" dirty="0"/>
              <a:t>Choix des technologies de manutention</a:t>
            </a:r>
          </a:p>
          <a:p>
            <a:pPr marL="0" indent="0">
              <a:buNone/>
            </a:pPr>
            <a:r>
              <a:rPr lang="fr-CA" i="1" dirty="0"/>
              <a:t>Exemple: </a:t>
            </a:r>
            <a:r>
              <a:rPr lang="fr-CA" dirty="0">
                <a:hlinkClick r:id="rId4"/>
              </a:rPr>
              <a:t>https://www.porttechnology.org/news/wef_selects_warehouse_automation_technology_pioneer/</a:t>
            </a:r>
            <a:endParaRPr lang="fr-CA" dirty="0"/>
          </a:p>
          <a:p>
            <a:endParaRPr lang="fr-CA" dirty="0"/>
          </a:p>
        </p:txBody>
      </p:sp>
      <p:pic>
        <p:nvPicPr>
          <p:cNvPr id="4100" name="Picture 4">
            <a:extLst>
              <a:ext uri="{FF2B5EF4-FFF2-40B4-BE49-F238E27FC236}">
                <a16:creationId xmlns:a16="http://schemas.microsoft.com/office/drawing/2014/main" id="{7194DB9F-A514-4D83-9F46-E1329FA772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 y="1365477"/>
            <a:ext cx="3093720" cy="206248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B4BA1B4-2A61-475C-9325-2A8EF9380A78}"/>
              </a:ext>
            </a:extLst>
          </p:cNvPr>
          <p:cNvSpPr/>
          <p:nvPr/>
        </p:nvSpPr>
        <p:spPr>
          <a:xfrm>
            <a:off x="3764280" y="3352800"/>
            <a:ext cx="5472560" cy="349326"/>
          </a:xfrm>
          <a:prstGeom prst="rect">
            <a:avLst/>
          </a:prstGeom>
        </p:spPr>
        <p:txBody>
          <a:bodyPr wrap="square">
            <a:spAutoFit/>
          </a:bodyPr>
          <a:lstStyle/>
          <a:p>
            <a:pPr marL="182563" indent="-182563">
              <a:buFont typeface="Arial" panose="020B0604020202020204" pitchFamily="34" charset="0"/>
              <a:buChar char="•"/>
            </a:pPr>
            <a:r>
              <a:rPr lang="fr-CA" sz="1670" dirty="0"/>
              <a:t>Cycle de commande</a:t>
            </a:r>
          </a:p>
        </p:txBody>
      </p:sp>
      <p:sp>
        <p:nvSpPr>
          <p:cNvPr id="8" name="Rectangle 7">
            <a:extLst>
              <a:ext uri="{FF2B5EF4-FFF2-40B4-BE49-F238E27FC236}">
                <a16:creationId xmlns:a16="http://schemas.microsoft.com/office/drawing/2014/main" id="{3322D445-74B7-4C40-B11B-247CA5061CA8}"/>
              </a:ext>
            </a:extLst>
          </p:cNvPr>
          <p:cNvSpPr/>
          <p:nvPr/>
        </p:nvSpPr>
        <p:spPr>
          <a:xfrm>
            <a:off x="3764280" y="4016910"/>
            <a:ext cx="5080000" cy="863313"/>
          </a:xfrm>
          <a:prstGeom prst="rect">
            <a:avLst/>
          </a:prstGeom>
        </p:spPr>
        <p:txBody>
          <a:bodyPr>
            <a:spAutoFit/>
          </a:bodyPr>
          <a:lstStyle/>
          <a:p>
            <a:pPr marL="268288" indent="-268288"/>
            <a:r>
              <a:rPr lang="fr-CA" sz="1670" dirty="0"/>
              <a:t>Gestion des retours</a:t>
            </a:r>
          </a:p>
          <a:p>
            <a:pPr marL="268288" indent="-268288"/>
            <a:r>
              <a:rPr lang="fr-CA" sz="1670" dirty="0"/>
              <a:t>Gestion de la main-d’œuvre</a:t>
            </a:r>
          </a:p>
          <a:p>
            <a:pPr marL="268288" indent="-268288"/>
            <a:r>
              <a:rPr lang="fr-CA" sz="1670" dirty="0"/>
              <a:t>Contrôle des stocks</a:t>
            </a:r>
          </a:p>
        </p:txBody>
      </p:sp>
      <p:pic>
        <p:nvPicPr>
          <p:cNvPr id="4102" name="Picture 6">
            <a:extLst>
              <a:ext uri="{FF2B5EF4-FFF2-40B4-BE49-F238E27FC236}">
                <a16:creationId xmlns:a16="http://schemas.microsoft.com/office/drawing/2014/main" id="{89489F05-8941-4472-9217-69424AB4F82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4130" y="3513067"/>
            <a:ext cx="3163470" cy="196209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2E6ADFA-5F8E-4C65-8810-8D440F0805A2}"/>
              </a:ext>
            </a:extLst>
          </p:cNvPr>
          <p:cNvSpPr/>
          <p:nvPr/>
        </p:nvSpPr>
        <p:spPr>
          <a:xfrm>
            <a:off x="483285" y="5322441"/>
            <a:ext cx="3163470" cy="153888"/>
          </a:xfrm>
          <a:prstGeom prst="rect">
            <a:avLst/>
          </a:prstGeom>
        </p:spPr>
        <p:txBody>
          <a:bodyPr wrap="square">
            <a:spAutoFit/>
          </a:bodyPr>
          <a:lstStyle/>
          <a:p>
            <a:r>
              <a:rPr lang="fr-CA" sz="400" dirty="0">
                <a:solidFill>
                  <a:schemeClr val="tx1">
                    <a:lumMod val="95000"/>
                    <a:lumOff val="5000"/>
                  </a:schemeClr>
                </a:solidFill>
                <a:hlinkClick r:id="rId7">
                  <a:extLst>
                    <a:ext uri="{A12FA001-AC4F-418D-AE19-62706E023703}">
                      <ahyp:hlinkClr xmlns:ahyp="http://schemas.microsoft.com/office/drawing/2018/hyperlinkcolor" val="tx"/>
                    </a:ext>
                  </a:extLst>
                </a:hlinkClick>
              </a:rPr>
              <a:t>https://ventor.tech/warehouse-management/overview-of-picking-optimization-methods-for-your-warehouse/</a:t>
            </a:r>
            <a:endParaRPr lang="en-CA" sz="400" dirty="0">
              <a:solidFill>
                <a:schemeClr val="tx1">
                  <a:lumMod val="95000"/>
                  <a:lumOff val="5000"/>
                </a:schemeClr>
              </a:solidFill>
            </a:endParaRPr>
          </a:p>
        </p:txBody>
      </p:sp>
    </p:spTree>
    <p:extLst>
      <p:ext uri="{BB962C8B-B14F-4D97-AF65-F5344CB8AC3E}">
        <p14:creationId xmlns:p14="http://schemas.microsoft.com/office/powerpoint/2010/main" val="327966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4"/>
          <p:cNvSpPr>
            <a:spLocks noGrp="1" noChangeArrowheads="1"/>
          </p:cNvSpPr>
          <p:nvPr>
            <p:ph type="title"/>
          </p:nvPr>
        </p:nvSpPr>
        <p:spPr>
          <a:xfrm>
            <a:off x="532000" y="481014"/>
            <a:ext cx="9096000" cy="823361"/>
          </a:xfrm>
        </p:spPr>
        <p:txBody>
          <a:bodyPr anchor="ctr">
            <a:normAutofit/>
          </a:bodyPr>
          <a:lstStyle/>
          <a:p>
            <a:r>
              <a:rPr lang="fr-CA" dirty="0"/>
              <a:t>Transport</a:t>
            </a:r>
          </a:p>
        </p:txBody>
      </p:sp>
      <p:sp>
        <p:nvSpPr>
          <p:cNvPr id="177154" name="Rectangle 5"/>
          <p:cNvSpPr>
            <a:spLocks noGrp="1" noChangeArrowheads="1"/>
          </p:cNvSpPr>
          <p:nvPr>
            <p:ph sz="half" idx="1"/>
          </p:nvPr>
        </p:nvSpPr>
        <p:spPr>
          <a:xfrm>
            <a:off x="508000" y="1517735"/>
            <a:ext cx="4487333" cy="3247941"/>
          </a:xfrm>
        </p:spPr>
        <p:txBody>
          <a:bodyPr>
            <a:normAutofit/>
          </a:bodyPr>
          <a:lstStyle/>
          <a:p>
            <a:pPr marL="268288" indent="-268288"/>
            <a:r>
              <a:rPr lang="fr-CA" dirty="0"/>
              <a:t>Sélection des modes de transport</a:t>
            </a:r>
          </a:p>
          <a:p>
            <a:pPr marL="268288" indent="-268288"/>
            <a:r>
              <a:rPr lang="fr-CA" dirty="0"/>
              <a:t>Gestion de notre propre flotte ou impartition</a:t>
            </a:r>
          </a:p>
          <a:p>
            <a:pPr marL="268288" indent="-268288"/>
            <a:r>
              <a:rPr lang="fr-CA" dirty="0"/>
              <a:t>Sélection du transporteur ou planification des routes de livraisons</a:t>
            </a:r>
          </a:p>
          <a:p>
            <a:pPr marL="268288" indent="-268288"/>
            <a:r>
              <a:rPr lang="fr-CA" dirty="0"/>
              <a:t>Consolidation des marchandises</a:t>
            </a:r>
          </a:p>
          <a:p>
            <a:pPr marL="268288" indent="-268288"/>
            <a:r>
              <a:rPr lang="fr-CA" dirty="0"/>
              <a:t>Programmation des rendez-vous</a:t>
            </a:r>
          </a:p>
          <a:p>
            <a:pPr marL="268288" indent="-268288"/>
            <a:r>
              <a:rPr lang="fr-CA" dirty="0"/>
              <a:t>Suivi des expéditions</a:t>
            </a:r>
          </a:p>
          <a:p>
            <a:pPr marL="268288" indent="-268288"/>
            <a:r>
              <a:rPr lang="fr-CA" dirty="0"/>
              <a:t>Mesure de performance</a:t>
            </a:r>
          </a:p>
        </p:txBody>
      </p:sp>
      <p:pic>
        <p:nvPicPr>
          <p:cNvPr id="8" name="Picture 6" descr="What to Expect in Transportation in 2019 – Summit ...">
            <a:extLst>
              <a:ext uri="{FF2B5EF4-FFF2-40B4-BE49-F238E27FC236}">
                <a16:creationId xmlns:a16="http://schemas.microsoft.com/office/drawing/2014/main" id="{8566AAF7-0886-46B7-9D81-B278A18570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782" b="4"/>
          <a:stretch/>
        </p:blipFill>
        <p:spPr bwMode="auto">
          <a:xfrm>
            <a:off x="5164667" y="1517735"/>
            <a:ext cx="4487333" cy="3247941"/>
          </a:xfrm>
          <a:prstGeom prst="rect">
            <a:avLst/>
          </a:prstGeom>
          <a:noFill/>
        </p:spPr>
      </p:pic>
    </p:spTree>
    <p:extLst>
      <p:ext uri="{BB962C8B-B14F-4D97-AF65-F5344CB8AC3E}">
        <p14:creationId xmlns:p14="http://schemas.microsoft.com/office/powerpoint/2010/main" val="3602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15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715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715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715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715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715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2902" y="2579798"/>
            <a:ext cx="2617631" cy="2460574"/>
          </a:xfrm>
          <a:prstGeom prst="rect">
            <a:avLst/>
          </a:prstGeom>
        </p:spPr>
      </p:pic>
      <p:sp>
        <p:nvSpPr>
          <p:cNvPr id="2" name="Titre 1"/>
          <p:cNvSpPr>
            <a:spLocks noGrp="1"/>
          </p:cNvSpPr>
          <p:nvPr>
            <p:ph type="title"/>
          </p:nvPr>
        </p:nvSpPr>
        <p:spPr/>
        <p:txBody>
          <a:bodyPr/>
          <a:lstStyle/>
          <a:p>
            <a:r>
              <a:rPr lang="fr-CA" dirty="0"/>
              <a:t>La logistique à rebours </a:t>
            </a:r>
            <a:br>
              <a:rPr lang="fr-CA" dirty="0"/>
            </a:br>
            <a:r>
              <a:rPr lang="fr-CA" i="1" dirty="0"/>
              <a:t>Reverse </a:t>
            </a:r>
            <a:r>
              <a:rPr lang="fr-CA" i="1" dirty="0" err="1"/>
              <a:t>logistics</a:t>
            </a:r>
            <a:endParaRPr lang="fr-CA" i="1" dirty="0"/>
          </a:p>
        </p:txBody>
      </p:sp>
      <p:sp>
        <p:nvSpPr>
          <p:cNvPr id="3" name="Espace réservé du contenu 2"/>
          <p:cNvSpPr>
            <a:spLocks noGrp="1"/>
          </p:cNvSpPr>
          <p:nvPr>
            <p:ph idx="1"/>
          </p:nvPr>
        </p:nvSpPr>
        <p:spPr/>
        <p:txBody>
          <a:bodyPr/>
          <a:lstStyle/>
          <a:p>
            <a:pPr marL="0" indent="0">
              <a:buNone/>
            </a:pPr>
            <a:r>
              <a:rPr lang="fr-CA" dirty="0"/>
              <a:t>Retours de marchandises :</a:t>
            </a:r>
          </a:p>
          <a:p>
            <a:pPr lvl="1"/>
            <a:r>
              <a:rPr lang="fr-CA" dirty="0"/>
              <a:t>Peuvent coûter de 4 à 5 fois plus cher que la logistique régulière;</a:t>
            </a:r>
          </a:p>
          <a:p>
            <a:pPr lvl="1"/>
            <a:r>
              <a:rPr lang="fr-CA" dirty="0"/>
              <a:t>Peuvent nécessiter jusqu’à 12 étapes supplémentaires au processus.</a:t>
            </a:r>
          </a:p>
          <a:p>
            <a:pPr lvl="1"/>
            <a:endParaRPr lang="fr-CA" dirty="0"/>
          </a:p>
        </p:txBody>
      </p:sp>
      <p:sp>
        <p:nvSpPr>
          <p:cNvPr id="5" name="Rectangle 4"/>
          <p:cNvSpPr/>
          <p:nvPr/>
        </p:nvSpPr>
        <p:spPr>
          <a:xfrm>
            <a:off x="1560475" y="3614337"/>
            <a:ext cx="5264943" cy="854080"/>
          </a:xfrm>
          <a:prstGeom prst="rect">
            <a:avLst/>
          </a:prstGeom>
        </p:spPr>
        <p:txBody>
          <a:bodyPr wrap="square">
            <a:spAutoFit/>
          </a:bodyPr>
          <a:lstStyle/>
          <a:p>
            <a:pPr>
              <a:buSzPct val="100000"/>
            </a:pPr>
            <a:r>
              <a:rPr lang="fr-CA" sz="1650" dirty="0">
                <a:solidFill>
                  <a:srgbClr val="185FAB"/>
                </a:solidFill>
              </a:rPr>
              <a:t>Si bien intégrée, cette information peut permettre d’identifier les causes des problèmes et de les régler rapidement.</a:t>
            </a:r>
          </a:p>
        </p:txBody>
      </p:sp>
    </p:spTree>
    <p:extLst>
      <p:ext uri="{BB962C8B-B14F-4D97-AF65-F5344CB8AC3E}">
        <p14:creationId xmlns:p14="http://schemas.microsoft.com/office/powerpoint/2010/main" val="1314954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ChangeArrowheads="1"/>
          </p:cNvSpPr>
          <p:nvPr/>
        </p:nvSpPr>
        <p:spPr bwMode="auto">
          <a:xfrm>
            <a:off x="2959304" y="1579822"/>
            <a:ext cx="1727597" cy="2700338"/>
          </a:xfrm>
          <a:prstGeom prst="rect">
            <a:avLst/>
          </a:prstGeom>
          <a:solidFill>
            <a:srgbClr val="CC99FF"/>
          </a:solidFill>
          <a:ln w="28575" algn="ctr">
            <a:solidFill>
              <a:schemeClr val="tx1"/>
            </a:solidFill>
            <a:miter lim="800000"/>
            <a:headEnd type="none" w="sm" len="sm"/>
            <a:tailEnd type="none" w="sm" len="sm"/>
          </a:ln>
        </p:spPr>
        <p:txBody>
          <a:bodyPr wrap="none" anchor="ctr"/>
          <a:lstStyle/>
          <a:p>
            <a:endParaRPr lang="fr-FR" sz="1350"/>
          </a:p>
        </p:txBody>
      </p:sp>
      <p:sp>
        <p:nvSpPr>
          <p:cNvPr id="176130" name="Rectangle 3"/>
          <p:cNvSpPr>
            <a:spLocks noChangeArrowheads="1"/>
          </p:cNvSpPr>
          <p:nvPr/>
        </p:nvSpPr>
        <p:spPr bwMode="auto">
          <a:xfrm>
            <a:off x="5335791" y="1579822"/>
            <a:ext cx="1727597" cy="2700338"/>
          </a:xfrm>
          <a:prstGeom prst="rect">
            <a:avLst/>
          </a:prstGeom>
          <a:solidFill>
            <a:srgbClr val="CC99FF"/>
          </a:solidFill>
          <a:ln w="28575" algn="ctr">
            <a:solidFill>
              <a:schemeClr val="tx1"/>
            </a:solidFill>
            <a:miter lim="800000"/>
            <a:headEnd type="none" w="sm" len="sm"/>
            <a:tailEnd type="none" w="sm" len="sm"/>
          </a:ln>
        </p:spPr>
        <p:txBody>
          <a:bodyPr wrap="none" anchor="ctr"/>
          <a:lstStyle/>
          <a:p>
            <a:endParaRPr lang="fr-FR" sz="1350"/>
          </a:p>
        </p:txBody>
      </p:sp>
      <p:sp>
        <p:nvSpPr>
          <p:cNvPr id="176132" name="Rectangle 5"/>
          <p:cNvSpPr>
            <a:spLocks noChangeArrowheads="1"/>
          </p:cNvSpPr>
          <p:nvPr/>
        </p:nvSpPr>
        <p:spPr bwMode="auto">
          <a:xfrm>
            <a:off x="3121227" y="1796517"/>
            <a:ext cx="1243013" cy="809625"/>
          </a:xfrm>
          <a:prstGeom prst="rect">
            <a:avLst/>
          </a:prstGeom>
          <a:solidFill>
            <a:srgbClr val="CCCCFF"/>
          </a:solidFill>
          <a:ln w="28575" algn="ctr">
            <a:solidFill>
              <a:schemeClr val="tx1"/>
            </a:solidFill>
            <a:miter lim="800000"/>
            <a:headEnd type="none" w="sm" len="sm"/>
            <a:tailEnd type="none" w="sm" len="sm"/>
          </a:ln>
        </p:spPr>
        <p:txBody>
          <a:bodyPr wrap="none" anchor="ctr"/>
          <a:lstStyle/>
          <a:p>
            <a:pPr algn="ctr"/>
            <a:r>
              <a:rPr lang="fr-CA" sz="2100" b="1" i="1" dirty="0"/>
              <a:t>ERP</a:t>
            </a:r>
          </a:p>
          <a:p>
            <a:pPr algn="ctr"/>
            <a:r>
              <a:rPr lang="fr-CA" sz="1350" b="1" dirty="0"/>
              <a:t>Gestion des </a:t>
            </a:r>
          </a:p>
          <a:p>
            <a:pPr algn="ctr"/>
            <a:r>
              <a:rPr lang="fr-CA" sz="1350" b="1" dirty="0"/>
              <a:t>commandes</a:t>
            </a:r>
          </a:p>
        </p:txBody>
      </p:sp>
      <p:sp>
        <p:nvSpPr>
          <p:cNvPr id="176133" name="Rectangle 6"/>
          <p:cNvSpPr>
            <a:spLocks noChangeArrowheads="1"/>
          </p:cNvSpPr>
          <p:nvPr/>
        </p:nvSpPr>
        <p:spPr bwMode="auto">
          <a:xfrm>
            <a:off x="5577487" y="1796517"/>
            <a:ext cx="1243013" cy="809625"/>
          </a:xfrm>
          <a:prstGeom prst="rect">
            <a:avLst/>
          </a:prstGeom>
          <a:solidFill>
            <a:srgbClr val="CCCCFF"/>
          </a:solidFill>
          <a:ln w="28575" algn="ctr">
            <a:solidFill>
              <a:schemeClr val="tx1"/>
            </a:solidFill>
            <a:miter lim="800000"/>
            <a:headEnd type="none" w="sm" len="sm"/>
            <a:tailEnd type="none" w="sm" len="sm"/>
          </a:ln>
        </p:spPr>
        <p:txBody>
          <a:bodyPr wrap="none" anchor="ctr"/>
          <a:lstStyle/>
          <a:p>
            <a:pPr algn="ctr"/>
            <a:r>
              <a:rPr lang="fr-CA" sz="1500" b="1" dirty="0"/>
              <a:t>WMS</a:t>
            </a:r>
          </a:p>
          <a:p>
            <a:pPr algn="ctr"/>
            <a:r>
              <a:rPr lang="fr-CA" sz="1350" b="1" dirty="0"/>
              <a:t>Gestion de </a:t>
            </a:r>
          </a:p>
          <a:p>
            <a:pPr algn="ctr"/>
            <a:r>
              <a:rPr lang="fr-CA" sz="1350" b="1" dirty="0"/>
              <a:t>l’entreposage</a:t>
            </a:r>
          </a:p>
        </p:txBody>
      </p:sp>
      <p:sp>
        <p:nvSpPr>
          <p:cNvPr id="176134" name="Rectangle 7"/>
          <p:cNvSpPr>
            <a:spLocks noChangeArrowheads="1"/>
          </p:cNvSpPr>
          <p:nvPr/>
        </p:nvSpPr>
        <p:spPr bwMode="auto">
          <a:xfrm>
            <a:off x="5577487" y="3200265"/>
            <a:ext cx="1243013" cy="809625"/>
          </a:xfrm>
          <a:prstGeom prst="rect">
            <a:avLst/>
          </a:prstGeom>
          <a:solidFill>
            <a:srgbClr val="CCCCFF"/>
          </a:solidFill>
          <a:ln w="28575" algn="ctr">
            <a:solidFill>
              <a:schemeClr val="tx1"/>
            </a:solidFill>
            <a:miter lim="800000"/>
            <a:headEnd type="none" w="sm" len="sm"/>
            <a:tailEnd type="none" w="sm" len="sm"/>
          </a:ln>
        </p:spPr>
        <p:txBody>
          <a:bodyPr wrap="none" anchor="ctr"/>
          <a:lstStyle/>
          <a:p>
            <a:pPr algn="ctr"/>
            <a:r>
              <a:rPr lang="fr-CA" sz="1500" b="1" dirty="0"/>
              <a:t>TMS</a:t>
            </a:r>
          </a:p>
          <a:p>
            <a:pPr algn="ctr"/>
            <a:r>
              <a:rPr lang="fr-CA" sz="1350" b="1" dirty="0"/>
              <a:t>Gestion du </a:t>
            </a:r>
          </a:p>
          <a:p>
            <a:pPr algn="ctr"/>
            <a:r>
              <a:rPr lang="fr-CA" sz="1350" b="1" dirty="0"/>
              <a:t>transport</a:t>
            </a:r>
          </a:p>
        </p:txBody>
      </p:sp>
      <p:cxnSp>
        <p:nvCxnSpPr>
          <p:cNvPr id="176135" name="AutoShape 8"/>
          <p:cNvCxnSpPr>
            <a:cxnSpLocks noChangeShapeType="1"/>
            <a:stCxn id="176132" idx="2"/>
            <a:endCxn id="176134" idx="1"/>
          </p:cNvCxnSpPr>
          <p:nvPr/>
        </p:nvCxnSpPr>
        <p:spPr bwMode="auto">
          <a:xfrm rot="16200000" flipH="1">
            <a:off x="4160644" y="2198948"/>
            <a:ext cx="988219" cy="1824038"/>
          </a:xfrm>
          <a:prstGeom prst="bentConnector2">
            <a:avLst/>
          </a:prstGeom>
          <a:noFill/>
          <a:ln w="76200">
            <a:solidFill>
              <a:srgbClr val="FF0000"/>
            </a:solidFill>
            <a:miter lim="800000"/>
            <a:headEnd type="triangle" w="sm" len="sm"/>
            <a:tailEnd type="triangle" w="sm" len="sm"/>
          </a:ln>
        </p:spPr>
      </p:cxnSp>
      <p:cxnSp>
        <p:nvCxnSpPr>
          <p:cNvPr id="176136" name="AutoShape 9"/>
          <p:cNvCxnSpPr>
            <a:cxnSpLocks noChangeShapeType="1"/>
            <a:stCxn id="176132" idx="3"/>
            <a:endCxn id="176133" idx="1"/>
          </p:cNvCxnSpPr>
          <p:nvPr/>
        </p:nvCxnSpPr>
        <p:spPr bwMode="auto">
          <a:xfrm>
            <a:off x="4374957" y="2201329"/>
            <a:ext cx="1191815" cy="0"/>
          </a:xfrm>
          <a:prstGeom prst="straightConnector1">
            <a:avLst/>
          </a:prstGeom>
          <a:noFill/>
          <a:ln w="76200">
            <a:solidFill>
              <a:srgbClr val="FF0000"/>
            </a:solidFill>
            <a:round/>
            <a:headEnd type="triangle" w="sm" len="sm"/>
            <a:tailEnd type="triangle" w="sm" len="sm"/>
          </a:ln>
        </p:spPr>
      </p:cxnSp>
      <p:cxnSp>
        <p:nvCxnSpPr>
          <p:cNvPr id="176137" name="AutoShape 10"/>
          <p:cNvCxnSpPr>
            <a:cxnSpLocks noChangeShapeType="1"/>
            <a:stCxn id="176133" idx="2"/>
            <a:endCxn id="176134" idx="0"/>
          </p:cNvCxnSpPr>
          <p:nvPr/>
        </p:nvCxnSpPr>
        <p:spPr bwMode="auto">
          <a:xfrm>
            <a:off x="6198993" y="2616859"/>
            <a:ext cx="0" cy="572690"/>
          </a:xfrm>
          <a:prstGeom prst="straightConnector1">
            <a:avLst/>
          </a:prstGeom>
          <a:noFill/>
          <a:ln w="76200">
            <a:solidFill>
              <a:srgbClr val="FF0000"/>
            </a:solidFill>
            <a:round/>
            <a:headEnd type="triangle" w="sm" len="sm"/>
            <a:tailEnd type="triangle" w="sm" len="sm"/>
          </a:ln>
        </p:spPr>
      </p:cxnSp>
      <p:sp>
        <p:nvSpPr>
          <p:cNvPr id="2" name="ZoneTexte 1"/>
          <p:cNvSpPr txBox="1"/>
          <p:nvPr/>
        </p:nvSpPr>
        <p:spPr>
          <a:xfrm>
            <a:off x="1186658" y="4445355"/>
            <a:ext cx="7162637" cy="923330"/>
          </a:xfrm>
          <a:prstGeom prst="rect">
            <a:avLst/>
          </a:prstGeom>
          <a:noFill/>
        </p:spPr>
        <p:txBody>
          <a:bodyPr wrap="square" rtlCol="0">
            <a:spAutoFit/>
          </a:bodyPr>
          <a:lstStyle/>
          <a:p>
            <a:r>
              <a:rPr lang="fr-CA" sz="1350" u="sng" dirty="0"/>
              <a:t>Progiciels</a:t>
            </a:r>
          </a:p>
          <a:p>
            <a:r>
              <a:rPr lang="fr-CA" sz="1350" dirty="0"/>
              <a:t>ERP : Enterprise Resource Planning</a:t>
            </a:r>
          </a:p>
          <a:p>
            <a:r>
              <a:rPr lang="fr-CA" sz="1350" dirty="0"/>
              <a:t>WMS : </a:t>
            </a:r>
            <a:r>
              <a:rPr lang="fr-CA" sz="1350" dirty="0" err="1"/>
              <a:t>Warehouse</a:t>
            </a:r>
            <a:r>
              <a:rPr lang="fr-CA" sz="1350" dirty="0"/>
              <a:t> Management System</a:t>
            </a:r>
          </a:p>
          <a:p>
            <a:r>
              <a:rPr lang="fr-CA" sz="1350" dirty="0"/>
              <a:t>TMS : Transportation Management System</a:t>
            </a:r>
          </a:p>
        </p:txBody>
      </p:sp>
      <p:sp>
        <p:nvSpPr>
          <p:cNvPr id="3" name="Titre 2">
            <a:extLst>
              <a:ext uri="{FF2B5EF4-FFF2-40B4-BE49-F238E27FC236}">
                <a16:creationId xmlns:a16="http://schemas.microsoft.com/office/drawing/2014/main" id="{082167E6-E94D-4736-8310-21B5040CD37C}"/>
              </a:ext>
            </a:extLst>
          </p:cNvPr>
          <p:cNvSpPr>
            <a:spLocks noGrp="1"/>
          </p:cNvSpPr>
          <p:nvPr>
            <p:ph type="title"/>
          </p:nvPr>
        </p:nvSpPr>
        <p:spPr/>
        <p:txBody>
          <a:bodyPr/>
          <a:lstStyle/>
          <a:p>
            <a:r>
              <a:rPr lang="fr-CA" dirty="0"/>
              <a:t>La logistique et les T.I.</a:t>
            </a:r>
          </a:p>
        </p:txBody>
      </p:sp>
    </p:spTree>
    <p:extLst>
      <p:ext uri="{BB962C8B-B14F-4D97-AF65-F5344CB8AC3E}">
        <p14:creationId xmlns:p14="http://schemas.microsoft.com/office/powerpoint/2010/main" val="2418628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1"/>
          <p:cNvSpPr>
            <a:spLocks noGrp="1" noChangeArrowheads="1"/>
          </p:cNvSpPr>
          <p:nvPr>
            <p:ph type="title"/>
          </p:nvPr>
        </p:nvSpPr>
        <p:spPr/>
        <p:txBody>
          <a:bodyPr/>
          <a:lstStyle/>
          <a:p>
            <a:r>
              <a:rPr lang="fr-CA" dirty="0"/>
              <a:t>Chaîne logistique</a:t>
            </a:r>
          </a:p>
        </p:txBody>
      </p:sp>
      <p:sp>
        <p:nvSpPr>
          <p:cNvPr id="14339" name="Rectangle 13"/>
          <p:cNvSpPr>
            <a:spLocks noGrp="1" noChangeArrowheads="1"/>
          </p:cNvSpPr>
          <p:nvPr>
            <p:ph type="body" idx="1"/>
          </p:nvPr>
        </p:nvSpPr>
        <p:spPr/>
        <p:txBody>
          <a:bodyPr>
            <a:normAutofit/>
          </a:bodyPr>
          <a:lstStyle/>
          <a:p>
            <a:pPr marL="0" indent="0">
              <a:buNone/>
            </a:pPr>
            <a:r>
              <a:rPr lang="fr-CH" b="1" dirty="0"/>
              <a:t>Définition : </a:t>
            </a:r>
            <a:r>
              <a:rPr lang="fr-CH" dirty="0"/>
              <a:t>Réseau d’organisations qui, d’amont en aval, sont engagées dans des activités et des processus créateurs de valeurs qui prennent la forme de produits et de services acheminés au consommateur final.</a:t>
            </a:r>
          </a:p>
          <a:p>
            <a:endParaRPr lang="fr-CH" dirty="0"/>
          </a:p>
          <a:p>
            <a:pPr marL="0" indent="0">
              <a:buNone/>
            </a:pPr>
            <a:r>
              <a:rPr lang="fr-CA" dirty="0"/>
              <a:t>Gestion intégrée de la chaîne : Coordination de l'ensemble des actions de tous les partenaires du réseau logistique pour éliminer toutes activités qui n'ajoutent aucune valeur au produit.</a:t>
            </a:r>
          </a:p>
          <a:p>
            <a:endParaRPr lang="fr-CA" dirty="0"/>
          </a:p>
          <a:p>
            <a:pPr marL="452438" lvl="1" indent="-276225"/>
            <a:r>
              <a:rPr lang="fr-CA" b="1" dirty="0"/>
              <a:t>Flux d’informations efficaces</a:t>
            </a:r>
          </a:p>
          <a:p>
            <a:pPr marL="452438" lvl="1" indent="-276225"/>
            <a:r>
              <a:rPr lang="fr-CA" b="1" dirty="0"/>
              <a:t>Flux des matières efficaces</a:t>
            </a:r>
          </a:p>
          <a:p>
            <a:pPr marL="452438" lvl="1" indent="-276225"/>
            <a:r>
              <a:rPr lang="fr-CA" b="1" dirty="0"/>
              <a:t>Flux monétaires efficaces</a:t>
            </a:r>
          </a:p>
          <a:p>
            <a:endParaRPr lang="fr-CH" dirty="0"/>
          </a:p>
          <a:p>
            <a:endParaRPr lang="fr-CA" dirty="0"/>
          </a:p>
        </p:txBody>
      </p:sp>
    </p:spTree>
    <p:extLst>
      <p:ext uri="{BB962C8B-B14F-4D97-AF65-F5344CB8AC3E}">
        <p14:creationId xmlns:p14="http://schemas.microsoft.com/office/powerpoint/2010/main" val="1539104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 name="Rectangle 79"/>
          <p:cNvSpPr>
            <a:spLocks noGrp="1" noChangeArrowheads="1"/>
          </p:cNvSpPr>
          <p:nvPr>
            <p:ph type="title"/>
          </p:nvPr>
        </p:nvSpPr>
        <p:spPr/>
        <p:txBody>
          <a:bodyPr/>
          <a:lstStyle/>
          <a:p>
            <a:r>
              <a:rPr lang="fr-CA" dirty="0"/>
              <a:t>Chaîne logistique</a:t>
            </a:r>
          </a:p>
        </p:txBody>
      </p:sp>
      <p:pic>
        <p:nvPicPr>
          <p:cNvPr id="15" name="Image 14"/>
          <p:cNvPicPr>
            <a:picLocks noChangeAspect="1"/>
          </p:cNvPicPr>
          <p:nvPr/>
        </p:nvPicPr>
        <p:blipFill>
          <a:blip r:embed="rId3"/>
          <a:stretch>
            <a:fillRect/>
          </a:stretch>
        </p:blipFill>
        <p:spPr>
          <a:xfrm>
            <a:off x="1824691" y="1403863"/>
            <a:ext cx="6197613" cy="3584894"/>
          </a:xfrm>
          <a:prstGeom prst="rect">
            <a:avLst/>
          </a:prstGeom>
        </p:spPr>
      </p:pic>
      <p:sp>
        <p:nvSpPr>
          <p:cNvPr id="16" name="ZoneTexte 15"/>
          <p:cNvSpPr txBox="1"/>
          <p:nvPr/>
        </p:nvSpPr>
        <p:spPr>
          <a:xfrm rot="5400000">
            <a:off x="7738268" y="3140131"/>
            <a:ext cx="822960" cy="253916"/>
          </a:xfrm>
          <a:prstGeom prst="rect">
            <a:avLst/>
          </a:prstGeom>
          <a:solidFill>
            <a:srgbClr val="FFCC00"/>
          </a:solidFill>
        </p:spPr>
        <p:txBody>
          <a:bodyPr wrap="square" rtlCol="0">
            <a:spAutoFit/>
          </a:bodyPr>
          <a:lstStyle/>
          <a:p>
            <a:r>
              <a:rPr lang="fr-CA" sz="1050" b="1" dirty="0"/>
              <a:t>logistique</a:t>
            </a:r>
          </a:p>
        </p:txBody>
      </p:sp>
    </p:spTree>
    <p:extLst>
      <p:ext uri="{BB962C8B-B14F-4D97-AF65-F5344CB8AC3E}">
        <p14:creationId xmlns:p14="http://schemas.microsoft.com/office/powerpoint/2010/main" val="4045562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2403546-DB1D-4916-9067-F9686DD0C3EC}"/>
              </a:ext>
            </a:extLst>
          </p:cNvPr>
          <p:cNvSpPr>
            <a:spLocks noGrp="1"/>
          </p:cNvSpPr>
          <p:nvPr>
            <p:ph type="title"/>
          </p:nvPr>
        </p:nvSpPr>
        <p:spPr/>
        <p:txBody>
          <a:bodyPr vert="horz" lIns="91440" tIns="45720" rIns="91440" bIns="45720" rtlCol="0" anchor="ctr">
            <a:normAutofit/>
          </a:bodyPr>
          <a:lstStyle/>
          <a:p>
            <a:r>
              <a:rPr lang="en-CA" dirty="0"/>
              <a:t>La localisation</a:t>
            </a:r>
          </a:p>
        </p:txBody>
      </p:sp>
      <p:sp>
        <p:nvSpPr>
          <p:cNvPr id="8196" name="Rectangle 6"/>
          <p:cNvSpPr>
            <a:spLocks noGrp="1" noChangeArrowheads="1"/>
          </p:cNvSpPr>
          <p:nvPr>
            <p:ph sz="half" idx="2"/>
          </p:nvPr>
        </p:nvSpPr>
        <p:spPr>
          <a:xfrm>
            <a:off x="590902" y="1631403"/>
            <a:ext cx="4489098" cy="2721240"/>
          </a:xfrm>
        </p:spPr>
        <p:txBody>
          <a:bodyPr vert="horz" lIns="91440" tIns="45720" rIns="91440" bIns="45720" rtlCol="0">
            <a:normAutofit/>
          </a:bodyPr>
          <a:lstStyle/>
          <a:p>
            <a:pPr marL="0" indent="0">
              <a:buNone/>
            </a:pPr>
            <a:r>
              <a:rPr lang="en-CA" b="1" dirty="0"/>
              <a:t>Focus on COSTS</a:t>
            </a:r>
          </a:p>
          <a:p>
            <a:pPr marL="177800" indent="-177800"/>
            <a:r>
              <a:rPr lang="en-CA" sz="1400" dirty="0"/>
              <a:t>Revenues vary little between locations</a:t>
            </a:r>
            <a:r>
              <a:rPr lang="en-CA" sz="1400" b="1" dirty="0"/>
              <a:t>, but</a:t>
            </a:r>
          </a:p>
          <a:p>
            <a:pPr marL="177800" indent="-177800"/>
            <a:r>
              <a:rPr lang="en-CA" sz="1400" dirty="0"/>
              <a:t>Shipping costs up to 25 %of total cost</a:t>
            </a:r>
          </a:p>
          <a:p>
            <a:pPr marL="177800" indent="-177800"/>
            <a:r>
              <a:rPr lang="en-CA" sz="1400" dirty="0"/>
              <a:t>Labor costs</a:t>
            </a:r>
          </a:p>
          <a:p>
            <a:pPr marL="177800" indent="-177800"/>
            <a:r>
              <a:rPr lang="en-CA" sz="1400" dirty="0"/>
              <a:t>Costs vary greatly between locations</a:t>
            </a:r>
            <a:endParaRPr lang="en-CA" sz="1400" b="1" dirty="0"/>
          </a:p>
        </p:txBody>
      </p:sp>
      <p:pic>
        <p:nvPicPr>
          <p:cNvPr id="6146" name="Picture 2">
            <a:extLst>
              <a:ext uri="{FF2B5EF4-FFF2-40B4-BE49-F238E27FC236}">
                <a16:creationId xmlns:a16="http://schemas.microsoft.com/office/drawing/2014/main" id="{6DAC8B93-7BE2-4815-8CC8-F219961474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000" y="1362357"/>
            <a:ext cx="4489098" cy="387394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BA0984AB-FCD9-478B-9792-1F9B926C79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8905" y="1370917"/>
            <a:ext cx="4489096" cy="3873942"/>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01025913-1F29-435A-A602-AC2227E7B0CE}"/>
              </a:ext>
            </a:extLst>
          </p:cNvPr>
          <p:cNvSpPr txBox="1"/>
          <p:nvPr/>
        </p:nvSpPr>
        <p:spPr>
          <a:xfrm>
            <a:off x="532000" y="5299456"/>
            <a:ext cx="4489098" cy="415544"/>
          </a:xfrm>
          <a:prstGeom prst="rect">
            <a:avLst/>
          </a:prstGeom>
        </p:spPr>
        <p:txBody>
          <a:bodyPr vert="horz" wrap="none" lIns="91440" tIns="45720" rIns="91440" bIns="45720" rtlCol="0">
            <a:normAutofit/>
          </a:bodyPr>
          <a:lstStyle/>
          <a:p>
            <a:pPr algn="ctr">
              <a:buClr>
                <a:schemeClr val="accent2"/>
              </a:buClr>
              <a:buSzPct val="125000"/>
            </a:pPr>
            <a:r>
              <a:rPr lang="fr-CA" b="1"/>
              <a:t>Usine Lego à Billund, Denmark</a:t>
            </a:r>
          </a:p>
        </p:txBody>
      </p:sp>
      <p:sp>
        <p:nvSpPr>
          <p:cNvPr id="22" name="ZoneTexte 21">
            <a:extLst>
              <a:ext uri="{FF2B5EF4-FFF2-40B4-BE49-F238E27FC236}">
                <a16:creationId xmlns:a16="http://schemas.microsoft.com/office/drawing/2014/main" id="{DB62648D-A7A4-4458-BF76-AC47110CF051}"/>
              </a:ext>
            </a:extLst>
          </p:cNvPr>
          <p:cNvSpPr txBox="1"/>
          <p:nvPr/>
        </p:nvSpPr>
        <p:spPr>
          <a:xfrm>
            <a:off x="5173498" y="5299456"/>
            <a:ext cx="4489098" cy="415544"/>
          </a:xfrm>
          <a:prstGeom prst="rect">
            <a:avLst/>
          </a:prstGeom>
        </p:spPr>
        <p:txBody>
          <a:bodyPr vert="horz" wrap="none" lIns="91440" tIns="45720" rIns="91440" bIns="45720" rtlCol="0">
            <a:normAutofit/>
          </a:bodyPr>
          <a:lstStyle/>
          <a:p>
            <a:pPr algn="ctr">
              <a:buClr>
                <a:schemeClr val="accent2"/>
              </a:buClr>
              <a:buSzPct val="125000"/>
            </a:pPr>
            <a:r>
              <a:rPr lang="fr-CA" b="1"/>
              <a:t>Magasin official Lego à Queensland, Australia</a:t>
            </a:r>
          </a:p>
        </p:txBody>
      </p:sp>
    </p:spTree>
    <p:extLst>
      <p:ext uri="{BB962C8B-B14F-4D97-AF65-F5344CB8AC3E}">
        <p14:creationId xmlns:p14="http://schemas.microsoft.com/office/powerpoint/2010/main" val="799282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a:extLst>
              <a:ext uri="{FF2B5EF4-FFF2-40B4-BE49-F238E27FC236}">
                <a16:creationId xmlns:a16="http://schemas.microsoft.com/office/drawing/2014/main" id="{BA0984AB-FCD9-478B-9792-1F9B926C79E4}"/>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5138905" y="1370917"/>
            <a:ext cx="4489096" cy="3873942"/>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6DAC8B93-7BE2-4815-8CC8-F21996147474}"/>
              </a:ext>
            </a:extLst>
          </p:cNvPr>
          <p:cNvPicPr>
            <a:picLocks noChangeAspect="1" noChangeArrowheads="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532000" y="1362357"/>
            <a:ext cx="4489098" cy="3873942"/>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a:extLst>
              <a:ext uri="{FF2B5EF4-FFF2-40B4-BE49-F238E27FC236}">
                <a16:creationId xmlns:a16="http://schemas.microsoft.com/office/drawing/2014/main" id="{22403546-DB1D-4916-9067-F9686DD0C3EC}"/>
              </a:ext>
            </a:extLst>
          </p:cNvPr>
          <p:cNvSpPr>
            <a:spLocks noGrp="1"/>
          </p:cNvSpPr>
          <p:nvPr>
            <p:ph type="title"/>
          </p:nvPr>
        </p:nvSpPr>
        <p:spPr/>
        <p:txBody>
          <a:bodyPr vert="horz" lIns="91440" tIns="45720" rIns="91440" bIns="45720" rtlCol="0" anchor="ctr">
            <a:normAutofit/>
          </a:bodyPr>
          <a:lstStyle/>
          <a:p>
            <a:r>
              <a:rPr lang="fr-CA"/>
              <a:t>La localisation des secteurs industriels et des services</a:t>
            </a:r>
          </a:p>
        </p:txBody>
      </p:sp>
      <p:sp>
        <p:nvSpPr>
          <p:cNvPr id="8196" name="Rectangle 6"/>
          <p:cNvSpPr>
            <a:spLocks noGrp="1" noChangeArrowheads="1"/>
          </p:cNvSpPr>
          <p:nvPr>
            <p:ph sz="half" idx="2"/>
          </p:nvPr>
        </p:nvSpPr>
        <p:spPr>
          <a:xfrm>
            <a:off x="590902" y="1631403"/>
            <a:ext cx="4489098" cy="2721240"/>
          </a:xfrm>
        </p:spPr>
        <p:txBody>
          <a:bodyPr vert="horz" lIns="91440" tIns="45720" rIns="91440" bIns="45720" rtlCol="0">
            <a:normAutofit/>
          </a:bodyPr>
          <a:lstStyle/>
          <a:p>
            <a:pPr marL="0" indent="0">
              <a:buNone/>
            </a:pPr>
            <a:r>
              <a:rPr lang="fr-CA" b="1" dirty="0"/>
              <a:t>Emphase sur les COÛTS :</a:t>
            </a:r>
          </a:p>
          <a:p>
            <a:pPr marL="0" indent="0">
              <a:buNone/>
            </a:pPr>
            <a:endParaRPr lang="fr-CA" dirty="0"/>
          </a:p>
          <a:p>
            <a:pPr marL="177800" indent="-177800"/>
            <a:r>
              <a:rPr lang="fr-CA" dirty="0"/>
              <a:t>Les revenues ne sont par influences par la localisation</a:t>
            </a:r>
            <a:r>
              <a:rPr lang="fr-CA" b="1" dirty="0"/>
              <a:t>, mais</a:t>
            </a:r>
          </a:p>
          <a:p>
            <a:pPr marL="666750" lvl="1" indent="-329804"/>
            <a:r>
              <a:rPr lang="fr-CA" kern="0" dirty="0"/>
              <a:t>Coût du transport (jusqu’à 25 % du prix).</a:t>
            </a:r>
          </a:p>
          <a:p>
            <a:pPr marL="666750" lvl="1" indent="-329804"/>
            <a:r>
              <a:rPr lang="fr-CA" kern="0" dirty="0"/>
              <a:t>Coût de la main-d'œuvre.</a:t>
            </a:r>
          </a:p>
          <a:p>
            <a:pPr marL="666750" lvl="1" indent="-329804"/>
            <a:r>
              <a:rPr lang="fr-CA" kern="0" dirty="0"/>
              <a:t>Les coûts peuvent varier beaucoup d’un endroit à l’autre.</a:t>
            </a:r>
          </a:p>
        </p:txBody>
      </p:sp>
      <p:sp>
        <p:nvSpPr>
          <p:cNvPr id="7" name="Espace réservé du contenu 6">
            <a:extLst>
              <a:ext uri="{FF2B5EF4-FFF2-40B4-BE49-F238E27FC236}">
                <a16:creationId xmlns:a16="http://schemas.microsoft.com/office/drawing/2014/main" id="{446A10D4-4527-41AF-A3BF-7215813EE65D}"/>
              </a:ext>
            </a:extLst>
          </p:cNvPr>
          <p:cNvSpPr>
            <a:spLocks noGrp="1"/>
          </p:cNvSpPr>
          <p:nvPr>
            <p:ph sz="quarter" idx="4"/>
          </p:nvPr>
        </p:nvSpPr>
        <p:spPr>
          <a:xfrm>
            <a:off x="5197807" y="1635352"/>
            <a:ext cx="4490861" cy="2721240"/>
          </a:xfrm>
        </p:spPr>
        <p:txBody>
          <a:bodyPr/>
          <a:lstStyle/>
          <a:p>
            <a:pPr marL="0" indent="0">
              <a:buNone/>
            </a:pPr>
            <a:r>
              <a:rPr lang="fr-CA" b="1" dirty="0"/>
              <a:t>Emphase sur les REVENUS : </a:t>
            </a:r>
          </a:p>
          <a:p>
            <a:pPr marL="0" indent="0">
              <a:buNone/>
            </a:pPr>
            <a:r>
              <a:rPr lang="fr-CA" b="1" dirty="0"/>
              <a:t> </a:t>
            </a:r>
          </a:p>
          <a:p>
            <a:pPr marL="177800" indent="-177800"/>
            <a:r>
              <a:rPr lang="fr-CA" dirty="0"/>
              <a:t>Les coûts varient peu d’un secteur de marché à l’autre,</a:t>
            </a:r>
            <a:r>
              <a:rPr lang="fr-CA" b="1" dirty="0"/>
              <a:t> mais</a:t>
            </a:r>
          </a:p>
          <a:p>
            <a:pPr lvl="1"/>
            <a:r>
              <a:rPr lang="fr-CA" kern="0" dirty="0"/>
              <a:t>La localisation influence le nombre de contacts potentiels avec les clients et le volume des activités</a:t>
            </a:r>
          </a:p>
          <a:p>
            <a:pPr marL="476600" lvl="1" indent="-177800"/>
            <a:endParaRPr lang="fr-CA" sz="1400" b="1" dirty="0"/>
          </a:p>
        </p:txBody>
      </p:sp>
      <p:sp>
        <p:nvSpPr>
          <p:cNvPr id="15" name="ZoneTexte 14">
            <a:extLst>
              <a:ext uri="{FF2B5EF4-FFF2-40B4-BE49-F238E27FC236}">
                <a16:creationId xmlns:a16="http://schemas.microsoft.com/office/drawing/2014/main" id="{01025913-1F29-435A-A602-AC2227E7B0CE}"/>
              </a:ext>
            </a:extLst>
          </p:cNvPr>
          <p:cNvSpPr txBox="1"/>
          <p:nvPr/>
        </p:nvSpPr>
        <p:spPr>
          <a:xfrm>
            <a:off x="532000" y="5299456"/>
            <a:ext cx="4489098" cy="415544"/>
          </a:xfrm>
          <a:prstGeom prst="rect">
            <a:avLst/>
          </a:prstGeom>
        </p:spPr>
        <p:txBody>
          <a:bodyPr vert="horz" wrap="none" lIns="91440" tIns="45720" rIns="91440" bIns="45720" rtlCol="0">
            <a:normAutofit/>
          </a:bodyPr>
          <a:lstStyle/>
          <a:p>
            <a:pPr algn="ctr">
              <a:buClr>
                <a:schemeClr val="accent2"/>
              </a:buClr>
              <a:buSzPct val="125000"/>
            </a:pPr>
            <a:r>
              <a:rPr lang="fr-CA" b="1">
                <a:solidFill>
                  <a:schemeClr val="bg1">
                    <a:lumMod val="75000"/>
                  </a:schemeClr>
                </a:solidFill>
              </a:rPr>
              <a:t>Usine LEGO à Billund, Denmark</a:t>
            </a:r>
          </a:p>
        </p:txBody>
      </p:sp>
      <p:sp>
        <p:nvSpPr>
          <p:cNvPr id="22" name="ZoneTexte 21">
            <a:extLst>
              <a:ext uri="{FF2B5EF4-FFF2-40B4-BE49-F238E27FC236}">
                <a16:creationId xmlns:a16="http://schemas.microsoft.com/office/drawing/2014/main" id="{DB62648D-A7A4-4458-BF76-AC47110CF051}"/>
              </a:ext>
            </a:extLst>
          </p:cNvPr>
          <p:cNvSpPr txBox="1"/>
          <p:nvPr/>
        </p:nvSpPr>
        <p:spPr>
          <a:xfrm>
            <a:off x="5173498" y="5299456"/>
            <a:ext cx="4489098" cy="415544"/>
          </a:xfrm>
          <a:prstGeom prst="rect">
            <a:avLst/>
          </a:prstGeom>
        </p:spPr>
        <p:txBody>
          <a:bodyPr vert="horz" wrap="none" lIns="91440" tIns="45720" rIns="91440" bIns="45720" rtlCol="0">
            <a:normAutofit/>
          </a:bodyPr>
          <a:lstStyle/>
          <a:p>
            <a:pPr algn="ctr">
              <a:buClr>
                <a:schemeClr val="accent2"/>
              </a:buClr>
              <a:buSzPct val="125000"/>
            </a:pPr>
            <a:r>
              <a:rPr lang="fr-CA" b="1">
                <a:solidFill>
                  <a:schemeClr val="bg1">
                    <a:lumMod val="75000"/>
                  </a:schemeClr>
                </a:solidFill>
              </a:rPr>
              <a:t>Magasin LEGO à Queensland, Australia</a:t>
            </a:r>
          </a:p>
        </p:txBody>
      </p:sp>
    </p:spTree>
    <p:extLst>
      <p:ext uri="{BB962C8B-B14F-4D97-AF65-F5344CB8AC3E}">
        <p14:creationId xmlns:p14="http://schemas.microsoft.com/office/powerpoint/2010/main" val="89408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Groupe 10"/>
          <p:cNvGrpSpPr/>
          <p:nvPr/>
        </p:nvGrpSpPr>
        <p:grpSpPr>
          <a:xfrm>
            <a:off x="4162514" y="2396103"/>
            <a:ext cx="1564784" cy="1253607"/>
            <a:chOff x="3554926" y="2904637"/>
            <a:chExt cx="2086378" cy="1671476"/>
          </a:xfrm>
        </p:grpSpPr>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7408" y="3366302"/>
              <a:ext cx="1261414" cy="1209811"/>
            </a:xfrm>
            <a:prstGeom prst="rect">
              <a:avLst/>
            </a:prstGeom>
          </p:spPr>
        </p:pic>
        <p:sp>
          <p:nvSpPr>
            <p:cNvPr id="6" name="ZoneTexte 5"/>
            <p:cNvSpPr txBox="1"/>
            <p:nvPr/>
          </p:nvSpPr>
          <p:spPr>
            <a:xfrm>
              <a:off x="3554926" y="2904637"/>
              <a:ext cx="2086378" cy="492443"/>
            </a:xfrm>
            <a:prstGeom prst="rect">
              <a:avLst/>
            </a:prstGeom>
            <a:noFill/>
          </p:spPr>
          <p:txBody>
            <a:bodyPr wrap="square" rtlCol="0">
              <a:spAutoFit/>
            </a:bodyPr>
            <a:lstStyle/>
            <a:p>
              <a:pPr algn="ctr"/>
              <a:r>
                <a:rPr lang="fr-CA" b="1" dirty="0">
                  <a:solidFill>
                    <a:srgbClr val="185FAB"/>
                  </a:solidFill>
                </a:rPr>
                <a:t>Localisation </a:t>
              </a:r>
            </a:p>
          </p:txBody>
        </p:sp>
      </p:grpSp>
      <p:sp>
        <p:nvSpPr>
          <p:cNvPr id="8" name="Rectangle à coins arrondis 7"/>
          <p:cNvSpPr/>
          <p:nvPr/>
        </p:nvSpPr>
        <p:spPr bwMode="auto">
          <a:xfrm>
            <a:off x="1863502" y="1347971"/>
            <a:ext cx="2069205" cy="1159099"/>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Source d’approvisionnement</a:t>
            </a:r>
          </a:p>
          <a:p>
            <a:pPr defTabSz="571500" eaLnBrk="0" hangingPunct="0"/>
            <a:r>
              <a:rPr lang="fr-CH" sz="1350" dirty="0">
                <a:solidFill>
                  <a:srgbClr val="185FAB"/>
                </a:solidFill>
              </a:rPr>
              <a:t>-  poids des matières</a:t>
            </a:r>
          </a:p>
          <a:p>
            <a:pPr defTabSz="571500" eaLnBrk="0" hangingPunct="0"/>
            <a:r>
              <a:rPr lang="fr-CH" sz="1350" dirty="0">
                <a:solidFill>
                  <a:srgbClr val="185FAB"/>
                </a:solidFill>
              </a:rPr>
              <a:t>-  diversité et dispersion</a:t>
            </a:r>
          </a:p>
          <a:p>
            <a:pPr defTabSz="571500" eaLnBrk="0" hangingPunct="0"/>
            <a:r>
              <a:rPr lang="fr-CH" sz="1350" dirty="0">
                <a:solidFill>
                  <a:srgbClr val="185FAB"/>
                </a:solidFill>
              </a:rPr>
              <a:t>   des sources</a:t>
            </a:r>
          </a:p>
          <a:p>
            <a:pPr algn="ctr"/>
            <a:endParaRPr lang="fr-CA" sz="1350" b="1" dirty="0">
              <a:solidFill>
                <a:schemeClr val="tx1"/>
              </a:solidFill>
              <a:latin typeface="Arial" pitchFamily="34" charset="0"/>
            </a:endParaRPr>
          </a:p>
        </p:txBody>
      </p:sp>
      <p:sp>
        <p:nvSpPr>
          <p:cNvPr id="9" name="Rectangle à coins arrondis 8"/>
          <p:cNvSpPr/>
          <p:nvPr/>
        </p:nvSpPr>
        <p:spPr bwMode="auto">
          <a:xfrm>
            <a:off x="4082520" y="1347969"/>
            <a:ext cx="2034135" cy="989726"/>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Transport</a:t>
            </a:r>
          </a:p>
          <a:p>
            <a:pPr defTabSz="571500" eaLnBrk="0" hangingPunct="0"/>
            <a:r>
              <a:rPr lang="fr-CH" sz="1350" dirty="0">
                <a:solidFill>
                  <a:srgbClr val="185FAB"/>
                </a:solidFill>
              </a:rPr>
              <a:t>-  moyens de transport</a:t>
            </a:r>
          </a:p>
          <a:p>
            <a:pPr defTabSz="571500" eaLnBrk="0" hangingPunct="0"/>
            <a:r>
              <a:rPr lang="fr-CH" sz="1350" dirty="0">
                <a:solidFill>
                  <a:srgbClr val="185FAB"/>
                </a:solidFill>
              </a:rPr>
              <a:t>-  coût du transport</a:t>
            </a:r>
          </a:p>
          <a:p>
            <a:pPr defTabSz="571500" eaLnBrk="0" hangingPunct="0"/>
            <a:r>
              <a:rPr lang="fr-CH" sz="1350" dirty="0">
                <a:solidFill>
                  <a:srgbClr val="185FAB"/>
                </a:solidFill>
              </a:rPr>
              <a:t>-  routes et autoroutes</a:t>
            </a:r>
          </a:p>
          <a:p>
            <a:pPr algn="ctr"/>
            <a:endParaRPr lang="fr-CA" sz="1350" b="1" dirty="0">
              <a:solidFill>
                <a:schemeClr val="tx1"/>
              </a:solidFill>
              <a:latin typeface="Arial" pitchFamily="34" charset="0"/>
            </a:endParaRPr>
          </a:p>
        </p:txBody>
      </p:sp>
      <p:sp>
        <p:nvSpPr>
          <p:cNvPr id="10" name="Rectangle à coins arrondis 9"/>
          <p:cNvSpPr/>
          <p:nvPr/>
        </p:nvSpPr>
        <p:spPr bwMode="auto">
          <a:xfrm>
            <a:off x="6266467" y="1347970"/>
            <a:ext cx="2099379" cy="989726"/>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Marché</a:t>
            </a:r>
          </a:p>
          <a:p>
            <a:pPr defTabSz="571500" eaLnBrk="0" hangingPunct="0"/>
            <a:r>
              <a:rPr lang="fr-CH" sz="1350" dirty="0">
                <a:solidFill>
                  <a:srgbClr val="185FAB"/>
                </a:solidFill>
              </a:rPr>
              <a:t>-  potentiel</a:t>
            </a:r>
          </a:p>
          <a:p>
            <a:pPr defTabSz="571500" eaLnBrk="0" hangingPunct="0"/>
            <a:r>
              <a:rPr lang="fr-CH" sz="1350" dirty="0">
                <a:solidFill>
                  <a:srgbClr val="185FAB"/>
                </a:solidFill>
              </a:rPr>
              <a:t>-  centralisé ou dispersé</a:t>
            </a:r>
          </a:p>
          <a:p>
            <a:pPr defTabSz="571500" eaLnBrk="0" hangingPunct="0"/>
            <a:r>
              <a:rPr lang="fr-CH" sz="1350" dirty="0">
                <a:solidFill>
                  <a:srgbClr val="185FAB"/>
                </a:solidFill>
              </a:rPr>
              <a:t>-  concurrence</a:t>
            </a:r>
          </a:p>
          <a:p>
            <a:pPr algn="ctr"/>
            <a:endParaRPr lang="fr-CA" sz="1350" b="1" dirty="0">
              <a:solidFill>
                <a:schemeClr val="tx1"/>
              </a:solidFill>
              <a:latin typeface="Arial" pitchFamily="34" charset="0"/>
            </a:endParaRPr>
          </a:p>
        </p:txBody>
      </p:sp>
      <p:sp>
        <p:nvSpPr>
          <p:cNvPr id="12" name="Rectangle à coins arrondis 11"/>
          <p:cNvSpPr/>
          <p:nvPr/>
        </p:nvSpPr>
        <p:spPr bwMode="auto">
          <a:xfrm>
            <a:off x="6266467" y="2396103"/>
            <a:ext cx="2099379" cy="1397493"/>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Main d’</a:t>
            </a:r>
            <a:r>
              <a:rPr lang="fr-CA" sz="1350" b="1" dirty="0" err="1">
                <a:solidFill>
                  <a:schemeClr val="tx1"/>
                </a:solidFill>
                <a:latin typeface="Arial" pitchFamily="34" charset="0"/>
              </a:rPr>
              <a:t>oeuvre</a:t>
            </a:r>
            <a:endParaRPr lang="fr-CA" sz="1350" b="1" dirty="0">
              <a:solidFill>
                <a:schemeClr val="tx1"/>
              </a:solidFill>
              <a:latin typeface="Arial" pitchFamily="34" charset="0"/>
            </a:endParaRPr>
          </a:p>
          <a:p>
            <a:pPr defTabSz="571500" eaLnBrk="0" hangingPunct="0"/>
            <a:r>
              <a:rPr lang="fr-CH" sz="1350" dirty="0">
                <a:solidFill>
                  <a:srgbClr val="185FAB"/>
                </a:solidFill>
              </a:rPr>
              <a:t>-  qualification</a:t>
            </a:r>
          </a:p>
          <a:p>
            <a:pPr defTabSz="571500" eaLnBrk="0" hangingPunct="0"/>
            <a:r>
              <a:rPr lang="fr-CH" sz="1350" dirty="0">
                <a:solidFill>
                  <a:srgbClr val="185FAB"/>
                </a:solidFill>
              </a:rPr>
              <a:t>-  disponibilité</a:t>
            </a:r>
          </a:p>
          <a:p>
            <a:pPr defTabSz="571500" eaLnBrk="0" hangingPunct="0"/>
            <a:r>
              <a:rPr lang="fr-CH" sz="1350" dirty="0">
                <a:solidFill>
                  <a:srgbClr val="185FAB"/>
                </a:solidFill>
              </a:rPr>
              <a:t>-  coûts</a:t>
            </a:r>
          </a:p>
          <a:p>
            <a:pPr defTabSz="571500" eaLnBrk="0" hangingPunct="0"/>
            <a:r>
              <a:rPr lang="fr-CH" sz="1350" dirty="0">
                <a:solidFill>
                  <a:srgbClr val="185FAB"/>
                </a:solidFill>
              </a:rPr>
              <a:t>-  productivité</a:t>
            </a:r>
          </a:p>
          <a:p>
            <a:pPr defTabSz="571500" eaLnBrk="0" hangingPunct="0"/>
            <a:r>
              <a:rPr lang="fr-CH" sz="1350" dirty="0">
                <a:solidFill>
                  <a:srgbClr val="185FAB"/>
                </a:solidFill>
              </a:rPr>
              <a:t>-  stabilité</a:t>
            </a:r>
          </a:p>
          <a:p>
            <a:pPr algn="ctr"/>
            <a:endParaRPr lang="fr-CA" sz="1350" b="1" dirty="0">
              <a:solidFill>
                <a:schemeClr val="tx1"/>
              </a:solidFill>
              <a:latin typeface="Arial" pitchFamily="34" charset="0"/>
            </a:endParaRPr>
          </a:p>
        </p:txBody>
      </p:sp>
      <p:sp>
        <p:nvSpPr>
          <p:cNvPr id="13" name="Rectangle à coins arrondis 12"/>
          <p:cNvSpPr/>
          <p:nvPr/>
        </p:nvSpPr>
        <p:spPr bwMode="auto">
          <a:xfrm>
            <a:off x="3932706" y="3724072"/>
            <a:ext cx="2249192" cy="1581017"/>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Étude du milieu</a:t>
            </a:r>
          </a:p>
          <a:p>
            <a:pPr defTabSz="571500" eaLnBrk="0" hangingPunct="0"/>
            <a:r>
              <a:rPr lang="fr-CH" sz="1350" dirty="0">
                <a:solidFill>
                  <a:srgbClr val="185FAB"/>
                </a:solidFill>
              </a:rPr>
              <a:t>-  taxes foncières</a:t>
            </a:r>
          </a:p>
          <a:p>
            <a:pPr defTabSz="571500" eaLnBrk="0" hangingPunct="0"/>
            <a:r>
              <a:rPr lang="fr-CH" sz="1350" dirty="0">
                <a:solidFill>
                  <a:srgbClr val="185FAB"/>
                </a:solidFill>
              </a:rPr>
              <a:t>-  aides financières</a:t>
            </a:r>
          </a:p>
          <a:p>
            <a:pPr defTabSz="571500" eaLnBrk="0" hangingPunct="0"/>
            <a:r>
              <a:rPr lang="fr-CH" sz="1350" dirty="0">
                <a:solidFill>
                  <a:srgbClr val="185FAB"/>
                </a:solidFill>
              </a:rPr>
              <a:t>-  services publics</a:t>
            </a:r>
          </a:p>
          <a:p>
            <a:pPr defTabSz="571500" eaLnBrk="0" hangingPunct="0"/>
            <a:r>
              <a:rPr lang="fr-CH" sz="1350" dirty="0">
                <a:solidFill>
                  <a:srgbClr val="185FAB"/>
                </a:solidFill>
              </a:rPr>
              <a:t>-  écoles, logements, </a:t>
            </a:r>
          </a:p>
          <a:p>
            <a:pPr defTabSz="571500" eaLnBrk="0" hangingPunct="0"/>
            <a:r>
              <a:rPr lang="fr-CH" sz="1350" dirty="0">
                <a:solidFill>
                  <a:srgbClr val="185FAB"/>
                </a:solidFill>
              </a:rPr>
              <a:t>   hôpitaux,</a:t>
            </a:r>
          </a:p>
          <a:p>
            <a:pPr defTabSz="571500" eaLnBrk="0" hangingPunct="0"/>
            <a:r>
              <a:rPr lang="fr-CH" sz="1350" dirty="0">
                <a:solidFill>
                  <a:srgbClr val="185FAB"/>
                </a:solidFill>
              </a:rPr>
              <a:t>-  contraintes juridiques</a:t>
            </a:r>
          </a:p>
          <a:p>
            <a:pPr algn="ctr"/>
            <a:endParaRPr lang="fr-CA" sz="1350" b="1" dirty="0">
              <a:solidFill>
                <a:schemeClr val="tx1"/>
              </a:solidFill>
              <a:latin typeface="Arial" pitchFamily="34" charset="0"/>
            </a:endParaRPr>
          </a:p>
        </p:txBody>
      </p:sp>
      <p:sp>
        <p:nvSpPr>
          <p:cNvPr id="14" name="Rectangle à coins arrondis 13"/>
          <p:cNvSpPr/>
          <p:nvPr/>
        </p:nvSpPr>
        <p:spPr bwMode="auto">
          <a:xfrm>
            <a:off x="6266467" y="3898265"/>
            <a:ext cx="2099379" cy="1406822"/>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International</a:t>
            </a:r>
          </a:p>
          <a:p>
            <a:pPr defTabSz="571500" eaLnBrk="0" hangingPunct="0"/>
            <a:r>
              <a:rPr lang="fr-CH" sz="1350" dirty="0">
                <a:solidFill>
                  <a:srgbClr val="185FAB"/>
                </a:solidFill>
              </a:rPr>
              <a:t>-  technologie</a:t>
            </a:r>
          </a:p>
          <a:p>
            <a:pPr defTabSz="571500" eaLnBrk="0" hangingPunct="0"/>
            <a:r>
              <a:rPr lang="fr-CH" sz="1350" dirty="0">
                <a:solidFill>
                  <a:srgbClr val="185FAB"/>
                </a:solidFill>
              </a:rPr>
              <a:t>-  fiscalité</a:t>
            </a:r>
          </a:p>
          <a:p>
            <a:pPr defTabSz="571500" eaLnBrk="0" hangingPunct="0"/>
            <a:r>
              <a:rPr lang="fr-CH" sz="1350" dirty="0">
                <a:solidFill>
                  <a:srgbClr val="185FAB"/>
                </a:solidFill>
              </a:rPr>
              <a:t>-  communication</a:t>
            </a:r>
          </a:p>
          <a:p>
            <a:pPr defTabSz="571500" eaLnBrk="0" hangingPunct="0"/>
            <a:r>
              <a:rPr lang="fr-CH" sz="1350" dirty="0">
                <a:solidFill>
                  <a:srgbClr val="185FAB"/>
                </a:solidFill>
              </a:rPr>
              <a:t>-  stabilité sociale</a:t>
            </a:r>
          </a:p>
          <a:p>
            <a:pPr defTabSz="571500" eaLnBrk="0" hangingPunct="0"/>
            <a:r>
              <a:rPr lang="fr-CH" sz="1350" dirty="0">
                <a:solidFill>
                  <a:srgbClr val="185FAB"/>
                </a:solidFill>
              </a:rPr>
              <a:t>-  stabilité politique</a:t>
            </a:r>
          </a:p>
          <a:p>
            <a:pPr algn="ctr"/>
            <a:endParaRPr lang="fr-CA" sz="1350" dirty="0">
              <a:solidFill>
                <a:srgbClr val="185FAB"/>
              </a:solidFill>
            </a:endParaRPr>
          </a:p>
        </p:txBody>
      </p:sp>
      <p:sp>
        <p:nvSpPr>
          <p:cNvPr id="15" name="Rectangle à coins arrondis 14"/>
          <p:cNvSpPr/>
          <p:nvPr/>
        </p:nvSpPr>
        <p:spPr bwMode="auto">
          <a:xfrm>
            <a:off x="1833327" y="2565476"/>
            <a:ext cx="1790018" cy="730508"/>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Eau</a:t>
            </a:r>
          </a:p>
          <a:p>
            <a:pPr defTabSz="571500" eaLnBrk="0" hangingPunct="0"/>
            <a:r>
              <a:rPr lang="fr-CH" sz="1350" dirty="0">
                <a:solidFill>
                  <a:srgbClr val="185FAB"/>
                </a:solidFill>
              </a:rPr>
              <a:t>-  de service</a:t>
            </a:r>
          </a:p>
          <a:p>
            <a:pPr defTabSz="571500" eaLnBrk="0" hangingPunct="0"/>
            <a:r>
              <a:rPr lang="fr-CH" sz="1350" dirty="0">
                <a:solidFill>
                  <a:srgbClr val="185FAB"/>
                </a:solidFill>
              </a:rPr>
              <a:t>-  potable</a:t>
            </a:r>
          </a:p>
          <a:p>
            <a:pPr algn="ctr"/>
            <a:endParaRPr lang="fr-CA" sz="1350" b="1" dirty="0">
              <a:solidFill>
                <a:schemeClr val="tx1"/>
              </a:solidFill>
              <a:latin typeface="Arial" pitchFamily="34" charset="0"/>
            </a:endParaRPr>
          </a:p>
        </p:txBody>
      </p:sp>
      <p:sp>
        <p:nvSpPr>
          <p:cNvPr id="16" name="Rectangle à coins arrondis 15"/>
          <p:cNvSpPr/>
          <p:nvPr/>
        </p:nvSpPr>
        <p:spPr bwMode="auto">
          <a:xfrm>
            <a:off x="1833327" y="3354392"/>
            <a:ext cx="1790018" cy="798123"/>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Climat</a:t>
            </a:r>
          </a:p>
          <a:p>
            <a:pPr defTabSz="571500" eaLnBrk="0" hangingPunct="0"/>
            <a:r>
              <a:rPr lang="fr-CH" sz="1350" dirty="0">
                <a:solidFill>
                  <a:srgbClr val="185FAB"/>
                </a:solidFill>
              </a:rPr>
              <a:t>-  température</a:t>
            </a:r>
          </a:p>
          <a:p>
            <a:pPr defTabSz="571500" eaLnBrk="0" hangingPunct="0"/>
            <a:r>
              <a:rPr lang="fr-CH" sz="1350" dirty="0">
                <a:solidFill>
                  <a:srgbClr val="185FAB"/>
                </a:solidFill>
              </a:rPr>
              <a:t>-  précipitation</a:t>
            </a:r>
          </a:p>
          <a:p>
            <a:pPr algn="ctr"/>
            <a:endParaRPr lang="fr-CA" sz="1350" b="1" dirty="0">
              <a:solidFill>
                <a:schemeClr val="tx1"/>
              </a:solidFill>
              <a:latin typeface="Arial" pitchFamily="34" charset="0"/>
            </a:endParaRPr>
          </a:p>
        </p:txBody>
      </p:sp>
      <p:sp>
        <p:nvSpPr>
          <p:cNvPr id="17" name="Rectangle à coins arrondis 16"/>
          <p:cNvSpPr/>
          <p:nvPr/>
        </p:nvSpPr>
        <p:spPr bwMode="auto">
          <a:xfrm>
            <a:off x="1833328" y="4210923"/>
            <a:ext cx="1984637" cy="1355403"/>
          </a:xfrm>
          <a:prstGeom prst="roundRect">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vert="horz" wrap="square" lIns="68580" tIns="34290" rIns="68580" bIns="34290" numCol="1" rtlCol="0" anchor="t" anchorCtr="0" compatLnSpc="1">
            <a:prstTxWarp prst="textNoShape">
              <a:avLst/>
            </a:prstTxWarp>
          </a:bodyPr>
          <a:lstStyle/>
          <a:p>
            <a:pPr algn="ctr"/>
            <a:r>
              <a:rPr lang="fr-CA" sz="1350" b="1" dirty="0">
                <a:solidFill>
                  <a:schemeClr val="tx1"/>
                </a:solidFill>
                <a:latin typeface="Arial" pitchFamily="34" charset="0"/>
              </a:rPr>
              <a:t>Énergie</a:t>
            </a:r>
          </a:p>
          <a:p>
            <a:pPr defTabSz="571500" eaLnBrk="0" hangingPunct="0"/>
            <a:r>
              <a:rPr lang="fr-CH" sz="1350" dirty="0">
                <a:solidFill>
                  <a:srgbClr val="185FAB"/>
                </a:solidFill>
              </a:rPr>
              <a:t>-  types d’énergie</a:t>
            </a:r>
          </a:p>
          <a:p>
            <a:pPr defTabSz="571500" eaLnBrk="0" hangingPunct="0"/>
            <a:r>
              <a:rPr lang="fr-CH" sz="1350" dirty="0">
                <a:solidFill>
                  <a:srgbClr val="185FAB"/>
                </a:solidFill>
              </a:rPr>
              <a:t>-  types de services</a:t>
            </a:r>
          </a:p>
          <a:p>
            <a:pPr marL="135731" indent="-135731" defTabSz="571500" eaLnBrk="0" hangingPunct="0"/>
            <a:r>
              <a:rPr lang="fr-CH" sz="1350" dirty="0">
                <a:solidFill>
                  <a:srgbClr val="185FAB"/>
                </a:solidFill>
              </a:rPr>
              <a:t>-  fiabilité des sources</a:t>
            </a:r>
          </a:p>
          <a:p>
            <a:pPr defTabSz="571500" eaLnBrk="0" hangingPunct="0"/>
            <a:r>
              <a:rPr lang="fr-CH" sz="1350" dirty="0">
                <a:solidFill>
                  <a:srgbClr val="185FAB"/>
                </a:solidFill>
              </a:rPr>
              <a:t>-  capacité</a:t>
            </a:r>
          </a:p>
          <a:p>
            <a:pPr defTabSz="571500" eaLnBrk="0" hangingPunct="0"/>
            <a:r>
              <a:rPr lang="fr-CH" sz="1350" dirty="0">
                <a:solidFill>
                  <a:srgbClr val="185FAB"/>
                </a:solidFill>
              </a:rPr>
              <a:t>-  coûts</a:t>
            </a:r>
          </a:p>
          <a:p>
            <a:pPr algn="ctr"/>
            <a:endParaRPr lang="fr-CA" sz="1350" b="1" dirty="0">
              <a:solidFill>
                <a:schemeClr val="tx1"/>
              </a:solidFill>
              <a:latin typeface="Arial" pitchFamily="34" charset="0"/>
            </a:endParaRPr>
          </a:p>
        </p:txBody>
      </p:sp>
      <p:sp>
        <p:nvSpPr>
          <p:cNvPr id="2" name="Titre 1">
            <a:extLst>
              <a:ext uri="{FF2B5EF4-FFF2-40B4-BE49-F238E27FC236}">
                <a16:creationId xmlns:a16="http://schemas.microsoft.com/office/drawing/2014/main" id="{29BE3E21-8EA9-4DB0-A5B1-9254C6ED7379}"/>
              </a:ext>
            </a:extLst>
          </p:cNvPr>
          <p:cNvSpPr>
            <a:spLocks noGrp="1"/>
          </p:cNvSpPr>
          <p:nvPr>
            <p:ph type="title"/>
          </p:nvPr>
        </p:nvSpPr>
        <p:spPr/>
        <p:txBody>
          <a:bodyPr/>
          <a:lstStyle/>
          <a:p>
            <a:r>
              <a:rPr lang="fr-CA" dirty="0"/>
              <a:t>Principaux critères de localisation</a:t>
            </a:r>
          </a:p>
        </p:txBody>
      </p:sp>
    </p:spTree>
    <p:extLst>
      <p:ext uri="{BB962C8B-B14F-4D97-AF65-F5344CB8AC3E}">
        <p14:creationId xmlns:p14="http://schemas.microsoft.com/office/powerpoint/2010/main" val="263280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P spid="14" grpId="0" animBg="1"/>
      <p:bldP spid="15" grpId="0" animBg="1"/>
      <p:bldP spid="16" grpId="0" animBg="1"/>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AutoShape 3">
            <a:extLst>
              <a:ext uri="{FF2B5EF4-FFF2-40B4-BE49-F238E27FC236}">
                <a16:creationId xmlns:a16="http://schemas.microsoft.com/office/drawing/2014/main" id="{22940A5D-578B-4395-B185-B3340E95D90E}"/>
              </a:ext>
            </a:extLst>
          </p:cNvPr>
          <p:cNvSpPr>
            <a:spLocks noChangeArrowheads="1"/>
          </p:cNvSpPr>
          <p:nvPr/>
        </p:nvSpPr>
        <p:spPr bwMode="auto">
          <a:xfrm>
            <a:off x="1867242" y="1712375"/>
            <a:ext cx="1368271" cy="609600"/>
          </a:xfrm>
          <a:prstGeom prst="rightArrow">
            <a:avLst>
              <a:gd name="adj1" fmla="val 50000"/>
              <a:gd name="adj2" fmla="val 75000"/>
            </a:avLst>
          </a:prstGeom>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r>
              <a:rPr lang="fr-FR" sz="1600" b="1" dirty="0">
                <a:solidFill>
                  <a:srgbClr val="000000"/>
                </a:solidFill>
              </a:rPr>
              <a:t>Produits </a:t>
            </a:r>
          </a:p>
        </p:txBody>
      </p:sp>
      <p:sp>
        <p:nvSpPr>
          <p:cNvPr id="32" name="AutoShape 4">
            <a:extLst>
              <a:ext uri="{FF2B5EF4-FFF2-40B4-BE49-F238E27FC236}">
                <a16:creationId xmlns:a16="http://schemas.microsoft.com/office/drawing/2014/main" id="{E0EC5B91-0FBC-4F95-8463-57B3ABD07264}"/>
              </a:ext>
            </a:extLst>
          </p:cNvPr>
          <p:cNvSpPr>
            <a:spLocks noChangeArrowheads="1"/>
          </p:cNvSpPr>
          <p:nvPr/>
        </p:nvSpPr>
        <p:spPr bwMode="auto">
          <a:xfrm>
            <a:off x="2208400" y="4491953"/>
            <a:ext cx="1144588" cy="381000"/>
          </a:xfrm>
          <a:prstGeom prst="rightArrow">
            <a:avLst>
              <a:gd name="adj1" fmla="val 50000"/>
              <a:gd name="adj2" fmla="val 75104"/>
            </a:avLst>
          </a:prstGeom>
          <a:solidFill>
            <a:schemeClr val="accent1"/>
          </a:solidFill>
          <a:ln w="9525">
            <a:solidFill>
              <a:schemeClr val="accent2"/>
            </a:solidFill>
            <a:miter lim="800000"/>
            <a:headEnd/>
            <a:tailEnd/>
          </a:ln>
        </p:spPr>
        <p:txBody>
          <a:bodyPr wrap="none" anchor="ctr"/>
          <a:lstStyle/>
          <a:p>
            <a:r>
              <a:rPr lang="fr-FR" sz="1200" b="1" dirty="0">
                <a:solidFill>
                  <a:schemeClr val="bg1"/>
                </a:solidFill>
              </a:rPr>
              <a:t>Factures</a:t>
            </a:r>
          </a:p>
        </p:txBody>
      </p:sp>
      <p:sp>
        <p:nvSpPr>
          <p:cNvPr id="33" name="AutoShape 5">
            <a:extLst>
              <a:ext uri="{FF2B5EF4-FFF2-40B4-BE49-F238E27FC236}">
                <a16:creationId xmlns:a16="http://schemas.microsoft.com/office/drawing/2014/main" id="{70A40D8B-0F06-43FE-B267-1FE00B9473D0}"/>
              </a:ext>
            </a:extLst>
          </p:cNvPr>
          <p:cNvSpPr>
            <a:spLocks noChangeArrowheads="1"/>
          </p:cNvSpPr>
          <p:nvPr/>
        </p:nvSpPr>
        <p:spPr bwMode="auto">
          <a:xfrm>
            <a:off x="3848129" y="1712375"/>
            <a:ext cx="1370172" cy="609600"/>
          </a:xfrm>
          <a:prstGeom prst="rightArrow">
            <a:avLst>
              <a:gd name="adj1" fmla="val 50000"/>
              <a:gd name="adj2" fmla="val 75104"/>
            </a:avLst>
          </a:prstGeom>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r>
              <a:rPr lang="fr-FR" sz="1600" b="1" dirty="0">
                <a:solidFill>
                  <a:srgbClr val="000000"/>
                </a:solidFill>
              </a:rPr>
              <a:t>Produits </a:t>
            </a:r>
          </a:p>
        </p:txBody>
      </p:sp>
      <p:sp>
        <p:nvSpPr>
          <p:cNvPr id="34" name="AutoShape 7">
            <a:extLst>
              <a:ext uri="{FF2B5EF4-FFF2-40B4-BE49-F238E27FC236}">
                <a16:creationId xmlns:a16="http://schemas.microsoft.com/office/drawing/2014/main" id="{CFAF5824-ED5A-4747-A1B4-C20ED646484E}"/>
              </a:ext>
            </a:extLst>
          </p:cNvPr>
          <p:cNvSpPr>
            <a:spLocks noChangeArrowheads="1"/>
          </p:cNvSpPr>
          <p:nvPr/>
        </p:nvSpPr>
        <p:spPr bwMode="auto">
          <a:xfrm>
            <a:off x="5827742" y="1712375"/>
            <a:ext cx="1370171" cy="609600"/>
          </a:xfrm>
          <a:prstGeom prst="rightArrow">
            <a:avLst>
              <a:gd name="adj1" fmla="val 50000"/>
              <a:gd name="adj2" fmla="val 75104"/>
            </a:avLst>
          </a:prstGeom>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r>
              <a:rPr lang="fr-FR" sz="1600" b="1" dirty="0">
                <a:solidFill>
                  <a:srgbClr val="000000"/>
                </a:solidFill>
              </a:rPr>
              <a:t>Produits </a:t>
            </a:r>
          </a:p>
        </p:txBody>
      </p:sp>
      <p:sp>
        <p:nvSpPr>
          <p:cNvPr id="35" name="AutoShape 13">
            <a:extLst>
              <a:ext uri="{FF2B5EF4-FFF2-40B4-BE49-F238E27FC236}">
                <a16:creationId xmlns:a16="http://schemas.microsoft.com/office/drawing/2014/main" id="{F7F8FA87-9C6D-467C-A610-01A82F4D0C62}"/>
              </a:ext>
            </a:extLst>
          </p:cNvPr>
          <p:cNvSpPr>
            <a:spLocks noChangeArrowheads="1"/>
          </p:cNvSpPr>
          <p:nvPr/>
        </p:nvSpPr>
        <p:spPr bwMode="auto">
          <a:xfrm flipH="1">
            <a:off x="1903600" y="4968203"/>
            <a:ext cx="1143000" cy="381000"/>
          </a:xfrm>
          <a:prstGeom prst="rightArrow">
            <a:avLst>
              <a:gd name="adj1" fmla="val 50000"/>
              <a:gd name="adj2" fmla="val 75000"/>
            </a:avLst>
          </a:prstGeom>
          <a:solidFill>
            <a:schemeClr val="accent1"/>
          </a:solidFill>
          <a:ln w="9525">
            <a:solidFill>
              <a:schemeClr val="accent2"/>
            </a:solidFill>
            <a:miter lim="800000"/>
            <a:headEnd/>
            <a:tailEnd/>
          </a:ln>
        </p:spPr>
        <p:txBody>
          <a:bodyPr wrap="none" anchor="ctr"/>
          <a:lstStyle/>
          <a:p>
            <a:r>
              <a:rPr lang="fr-FR" sz="1200" b="1" dirty="0">
                <a:solidFill>
                  <a:schemeClr val="bg1"/>
                </a:solidFill>
              </a:rPr>
              <a:t>Paiement</a:t>
            </a:r>
          </a:p>
        </p:txBody>
      </p:sp>
      <p:sp>
        <p:nvSpPr>
          <p:cNvPr id="36" name="AutoShape 14">
            <a:extLst>
              <a:ext uri="{FF2B5EF4-FFF2-40B4-BE49-F238E27FC236}">
                <a16:creationId xmlns:a16="http://schemas.microsoft.com/office/drawing/2014/main" id="{38A68D9B-BFEB-481F-9CC5-2E5F0B368F4C}"/>
              </a:ext>
            </a:extLst>
          </p:cNvPr>
          <p:cNvSpPr>
            <a:spLocks noChangeArrowheads="1"/>
          </p:cNvSpPr>
          <p:nvPr/>
        </p:nvSpPr>
        <p:spPr bwMode="auto">
          <a:xfrm flipH="1">
            <a:off x="1903600" y="4110953"/>
            <a:ext cx="1143000" cy="381000"/>
          </a:xfrm>
          <a:prstGeom prst="rightArrow">
            <a:avLst>
              <a:gd name="adj1" fmla="val 50000"/>
              <a:gd name="adj2" fmla="val 75000"/>
            </a:avLst>
          </a:prstGeom>
          <a:solidFill>
            <a:schemeClr val="accent1"/>
          </a:solidFill>
          <a:ln w="9525">
            <a:solidFill>
              <a:schemeClr val="accent2"/>
            </a:solidFill>
            <a:miter lim="800000"/>
            <a:headEnd/>
            <a:tailEnd/>
          </a:ln>
        </p:spPr>
        <p:txBody>
          <a:bodyPr wrap="none" anchor="ctr"/>
          <a:lstStyle/>
          <a:p>
            <a:pPr algn="ctr"/>
            <a:r>
              <a:rPr lang="fr-FR" sz="1200" b="1" dirty="0">
                <a:solidFill>
                  <a:schemeClr val="bg1"/>
                </a:solidFill>
              </a:rPr>
              <a:t>Commandes</a:t>
            </a:r>
          </a:p>
        </p:txBody>
      </p:sp>
      <p:sp>
        <p:nvSpPr>
          <p:cNvPr id="37" name="Oval 15">
            <a:extLst>
              <a:ext uri="{FF2B5EF4-FFF2-40B4-BE49-F238E27FC236}">
                <a16:creationId xmlns:a16="http://schemas.microsoft.com/office/drawing/2014/main" id="{5CB4D78F-02EF-45D3-89DA-92A1B8EF97AB}"/>
              </a:ext>
            </a:extLst>
          </p:cNvPr>
          <p:cNvSpPr>
            <a:spLocks noChangeArrowheads="1"/>
          </p:cNvSpPr>
          <p:nvPr/>
        </p:nvSpPr>
        <p:spPr bwMode="auto">
          <a:xfrm>
            <a:off x="6629588" y="2429728"/>
            <a:ext cx="1598612" cy="1601788"/>
          </a:xfrm>
          <a:prstGeom prst="ellipse">
            <a:avLst/>
          </a:prstGeom>
          <a:ln/>
        </p:spPr>
        <p:style>
          <a:lnRef idx="0">
            <a:schemeClr val="accent4"/>
          </a:lnRef>
          <a:fillRef idx="3">
            <a:schemeClr val="accent4"/>
          </a:fillRef>
          <a:effectRef idx="3">
            <a:schemeClr val="accent4"/>
          </a:effectRef>
          <a:fontRef idx="minor">
            <a:schemeClr val="lt1"/>
          </a:fontRef>
        </p:style>
        <p:txBody>
          <a:bodyPr wrap="none" anchor="ctr"/>
          <a:lstStyle/>
          <a:p>
            <a:pPr algn="ctr">
              <a:defRPr/>
            </a:pPr>
            <a:r>
              <a:rPr lang="fr-CA" sz="1600" b="1" dirty="0">
                <a:solidFill>
                  <a:schemeClr val="bg1"/>
                </a:solidFill>
                <a:effectLst>
                  <a:outerShdw blurRad="38100" dist="38100" dir="2700000" algn="tl">
                    <a:srgbClr val="000000"/>
                  </a:outerShdw>
                </a:effectLst>
              </a:rPr>
              <a:t>Détaillant</a:t>
            </a:r>
          </a:p>
        </p:txBody>
      </p:sp>
      <p:sp>
        <p:nvSpPr>
          <p:cNvPr id="38" name="Rectangle 17">
            <a:extLst>
              <a:ext uri="{FF2B5EF4-FFF2-40B4-BE49-F238E27FC236}">
                <a16:creationId xmlns:a16="http://schemas.microsoft.com/office/drawing/2014/main" id="{7A7507A7-60CE-4D65-9F91-AC382F2D8CF6}"/>
              </a:ext>
            </a:extLst>
          </p:cNvPr>
          <p:cNvSpPr>
            <a:spLocks noChangeArrowheads="1"/>
          </p:cNvSpPr>
          <p:nvPr/>
        </p:nvSpPr>
        <p:spPr bwMode="auto">
          <a:xfrm>
            <a:off x="7093138" y="1591528"/>
            <a:ext cx="530594" cy="770084"/>
          </a:xfrm>
          <a:prstGeom prst="rect">
            <a:avLst/>
          </a:prstGeom>
          <a:noFill/>
          <a:ln w="9525">
            <a:noFill/>
            <a:miter lim="800000"/>
            <a:headEnd/>
            <a:tailEnd/>
          </a:ln>
        </p:spPr>
        <p:txBody>
          <a:bodyPr wrap="none" lIns="92075" tIns="46038" rIns="92075" bIns="46038">
            <a:spAutoFit/>
          </a:bodyPr>
          <a:lstStyle/>
          <a:p>
            <a:r>
              <a:rPr lang="en-US" sz="4400" b="1" i="1" dirty="0">
                <a:solidFill>
                  <a:srgbClr val="FF0000"/>
                </a:solidFill>
              </a:rPr>
              <a:t>?</a:t>
            </a:r>
          </a:p>
        </p:txBody>
      </p:sp>
      <p:sp>
        <p:nvSpPr>
          <p:cNvPr id="39" name="Rectangle 18">
            <a:extLst>
              <a:ext uri="{FF2B5EF4-FFF2-40B4-BE49-F238E27FC236}">
                <a16:creationId xmlns:a16="http://schemas.microsoft.com/office/drawing/2014/main" id="{43FCE0A9-8731-47FD-92E7-EDA6FD8D19BA}"/>
              </a:ext>
            </a:extLst>
          </p:cNvPr>
          <p:cNvSpPr>
            <a:spLocks noChangeArrowheads="1"/>
          </p:cNvSpPr>
          <p:nvPr/>
        </p:nvSpPr>
        <p:spPr bwMode="auto">
          <a:xfrm>
            <a:off x="5218300" y="1591528"/>
            <a:ext cx="530594" cy="770084"/>
          </a:xfrm>
          <a:prstGeom prst="rect">
            <a:avLst/>
          </a:prstGeom>
          <a:noFill/>
          <a:ln w="9525">
            <a:noFill/>
            <a:miter lim="800000"/>
            <a:headEnd/>
            <a:tailEnd/>
          </a:ln>
        </p:spPr>
        <p:txBody>
          <a:bodyPr wrap="none" lIns="92075" tIns="46038" rIns="92075" bIns="46038">
            <a:spAutoFit/>
          </a:bodyPr>
          <a:lstStyle/>
          <a:p>
            <a:r>
              <a:rPr lang="en-US" sz="4400" b="1" i="1" dirty="0">
                <a:solidFill>
                  <a:srgbClr val="FF0000"/>
                </a:solidFill>
              </a:rPr>
              <a:t>?</a:t>
            </a:r>
          </a:p>
        </p:txBody>
      </p:sp>
      <p:sp>
        <p:nvSpPr>
          <p:cNvPr id="40" name="Rectangle 19">
            <a:extLst>
              <a:ext uri="{FF2B5EF4-FFF2-40B4-BE49-F238E27FC236}">
                <a16:creationId xmlns:a16="http://schemas.microsoft.com/office/drawing/2014/main" id="{02EA0934-DB3A-4FEC-97BC-7CC02BE89577}"/>
              </a:ext>
            </a:extLst>
          </p:cNvPr>
          <p:cNvSpPr>
            <a:spLocks noChangeArrowheads="1"/>
          </p:cNvSpPr>
          <p:nvPr/>
        </p:nvSpPr>
        <p:spPr bwMode="auto">
          <a:xfrm>
            <a:off x="3235513" y="1591528"/>
            <a:ext cx="530594" cy="770084"/>
          </a:xfrm>
          <a:prstGeom prst="rect">
            <a:avLst/>
          </a:prstGeom>
          <a:noFill/>
          <a:ln w="9525">
            <a:noFill/>
            <a:miter lim="800000"/>
            <a:headEnd/>
            <a:tailEnd/>
          </a:ln>
        </p:spPr>
        <p:txBody>
          <a:bodyPr wrap="none" lIns="92075" tIns="46038" rIns="92075" bIns="46038">
            <a:spAutoFit/>
          </a:bodyPr>
          <a:lstStyle/>
          <a:p>
            <a:r>
              <a:rPr lang="en-US" sz="4400" b="1" i="1" dirty="0">
                <a:solidFill>
                  <a:srgbClr val="FF0000"/>
                </a:solidFill>
              </a:rPr>
              <a:t>?</a:t>
            </a:r>
          </a:p>
        </p:txBody>
      </p:sp>
      <p:sp>
        <p:nvSpPr>
          <p:cNvPr id="41" name="Rectangle 20">
            <a:extLst>
              <a:ext uri="{FF2B5EF4-FFF2-40B4-BE49-F238E27FC236}">
                <a16:creationId xmlns:a16="http://schemas.microsoft.com/office/drawing/2014/main" id="{FC61F969-43CE-4BC7-A1A5-EA36510F91C2}"/>
              </a:ext>
            </a:extLst>
          </p:cNvPr>
          <p:cNvSpPr>
            <a:spLocks noChangeArrowheads="1"/>
          </p:cNvSpPr>
          <p:nvPr/>
        </p:nvSpPr>
        <p:spPr bwMode="auto">
          <a:xfrm>
            <a:off x="1294000" y="1591528"/>
            <a:ext cx="530594" cy="770084"/>
          </a:xfrm>
          <a:prstGeom prst="rect">
            <a:avLst/>
          </a:prstGeom>
          <a:noFill/>
          <a:ln w="9525">
            <a:noFill/>
            <a:miter lim="800000"/>
            <a:headEnd/>
            <a:tailEnd/>
          </a:ln>
        </p:spPr>
        <p:txBody>
          <a:bodyPr wrap="none" lIns="92075" tIns="46038" rIns="92075" bIns="46038">
            <a:spAutoFit/>
          </a:bodyPr>
          <a:lstStyle/>
          <a:p>
            <a:r>
              <a:rPr lang="en-US" sz="4400" b="1" i="1" dirty="0">
                <a:solidFill>
                  <a:srgbClr val="FF0000"/>
                </a:solidFill>
              </a:rPr>
              <a:t>?</a:t>
            </a:r>
          </a:p>
        </p:txBody>
      </p:sp>
      <p:graphicFrame>
        <p:nvGraphicFramePr>
          <p:cNvPr id="42" name="Object 2">
            <a:extLst>
              <a:ext uri="{FF2B5EF4-FFF2-40B4-BE49-F238E27FC236}">
                <a16:creationId xmlns:a16="http://schemas.microsoft.com/office/drawing/2014/main" id="{696AD4CC-EAC8-4F2F-98D1-DD555FB8A480}"/>
              </a:ext>
            </a:extLst>
          </p:cNvPr>
          <p:cNvGraphicFramePr>
            <a:graphicFrameLocks/>
          </p:cNvGraphicFramePr>
          <p:nvPr>
            <p:extLst>
              <p:ext uri="{D42A27DB-BD31-4B8C-83A1-F6EECF244321}">
                <p14:modId xmlns:p14="http://schemas.microsoft.com/office/powerpoint/2010/main" val="4205052928"/>
              </p:ext>
            </p:extLst>
          </p:nvPr>
        </p:nvGraphicFramePr>
        <p:xfrm>
          <a:off x="6102538" y="2444016"/>
          <a:ext cx="754062" cy="1738312"/>
        </p:xfrm>
        <a:graphic>
          <a:graphicData uri="http://schemas.openxmlformats.org/presentationml/2006/ole">
            <mc:AlternateContent xmlns:mc="http://schemas.openxmlformats.org/markup-compatibility/2006">
              <mc:Choice xmlns:v="urn:schemas-microsoft-com:vml" Requires="v">
                <p:oleObj name="Clip" r:id="rId3" imgW="1529338" imgH="2286801" progId="">
                  <p:embed/>
                </p:oleObj>
              </mc:Choice>
              <mc:Fallback>
                <p:oleObj name="Clip" r:id="rId3" imgW="1529338" imgH="2286801" progId="">
                  <p:embed/>
                  <p:pic>
                    <p:nvPicPr>
                      <p:cNvPr id="42" name="Object 2">
                        <a:extLst>
                          <a:ext uri="{FF2B5EF4-FFF2-40B4-BE49-F238E27FC236}">
                            <a16:creationId xmlns:a16="http://schemas.microsoft.com/office/drawing/2014/main" id="{696AD4CC-EAC8-4F2F-98D1-DD555FB8A48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2538" y="2444016"/>
                        <a:ext cx="754062" cy="173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43" name="Oval 22">
            <a:extLst>
              <a:ext uri="{FF2B5EF4-FFF2-40B4-BE49-F238E27FC236}">
                <a16:creationId xmlns:a16="http://schemas.microsoft.com/office/drawing/2014/main" id="{3F9A8399-A250-4759-B275-012FF58F408C}"/>
              </a:ext>
            </a:extLst>
          </p:cNvPr>
          <p:cNvSpPr>
            <a:spLocks noChangeArrowheads="1"/>
          </p:cNvSpPr>
          <p:nvPr/>
        </p:nvSpPr>
        <p:spPr bwMode="auto">
          <a:xfrm>
            <a:off x="4646800" y="2429728"/>
            <a:ext cx="1600200" cy="1601788"/>
          </a:xfrm>
          <a:prstGeom prst="ellipse">
            <a:avLst/>
          </a:prstGeom>
          <a:ln/>
        </p:spPr>
        <p:style>
          <a:lnRef idx="0">
            <a:schemeClr val="accent3"/>
          </a:lnRef>
          <a:fillRef idx="3">
            <a:schemeClr val="accent3"/>
          </a:fillRef>
          <a:effectRef idx="3">
            <a:schemeClr val="accent3"/>
          </a:effectRef>
          <a:fontRef idx="minor">
            <a:schemeClr val="lt1"/>
          </a:fontRef>
        </p:style>
        <p:txBody>
          <a:bodyPr wrap="none" anchor="ctr"/>
          <a:lstStyle/>
          <a:p>
            <a:pPr algn="ctr">
              <a:defRPr/>
            </a:pPr>
            <a:r>
              <a:rPr lang="fr-CA" sz="1600" b="1" dirty="0">
                <a:solidFill>
                  <a:schemeClr val="bg1"/>
                </a:solidFill>
                <a:effectLst>
                  <a:outerShdw blurRad="38100" dist="38100" dir="2700000" algn="tl">
                    <a:srgbClr val="000000"/>
                  </a:outerShdw>
                </a:effectLst>
              </a:rPr>
              <a:t>Distributeur</a:t>
            </a:r>
          </a:p>
        </p:txBody>
      </p:sp>
      <p:graphicFrame>
        <p:nvGraphicFramePr>
          <p:cNvPr id="44" name="Object 3">
            <a:extLst>
              <a:ext uri="{FF2B5EF4-FFF2-40B4-BE49-F238E27FC236}">
                <a16:creationId xmlns:a16="http://schemas.microsoft.com/office/drawing/2014/main" id="{01E8F938-8EA7-42E6-9ED4-C3A9A79826A2}"/>
              </a:ext>
            </a:extLst>
          </p:cNvPr>
          <p:cNvGraphicFramePr>
            <a:graphicFrameLocks/>
          </p:cNvGraphicFramePr>
          <p:nvPr>
            <p:extLst>
              <p:ext uri="{D42A27DB-BD31-4B8C-83A1-F6EECF244321}">
                <p14:modId xmlns:p14="http://schemas.microsoft.com/office/powerpoint/2010/main" val="2705235460"/>
              </p:ext>
            </p:extLst>
          </p:nvPr>
        </p:nvGraphicFramePr>
        <p:xfrm>
          <a:off x="4121338" y="2444016"/>
          <a:ext cx="754062" cy="1738312"/>
        </p:xfrm>
        <a:graphic>
          <a:graphicData uri="http://schemas.openxmlformats.org/presentationml/2006/ole">
            <mc:AlternateContent xmlns:mc="http://schemas.openxmlformats.org/markup-compatibility/2006">
              <mc:Choice xmlns:v="urn:schemas-microsoft-com:vml" Requires="v">
                <p:oleObj name="Clip" r:id="rId3" imgW="1529338" imgH="2286801" progId="">
                  <p:embed/>
                </p:oleObj>
              </mc:Choice>
              <mc:Fallback>
                <p:oleObj name="Clip" r:id="rId3" imgW="1529338" imgH="2286801" progId="">
                  <p:embed/>
                  <p:pic>
                    <p:nvPicPr>
                      <p:cNvPr id="44" name="Object 3">
                        <a:extLst>
                          <a:ext uri="{FF2B5EF4-FFF2-40B4-BE49-F238E27FC236}">
                            <a16:creationId xmlns:a16="http://schemas.microsoft.com/office/drawing/2014/main" id="{01E8F938-8EA7-42E6-9ED4-C3A9A79826A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1338" y="2444016"/>
                        <a:ext cx="754062" cy="173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45" name="Oval 24">
            <a:extLst>
              <a:ext uri="{FF2B5EF4-FFF2-40B4-BE49-F238E27FC236}">
                <a16:creationId xmlns:a16="http://schemas.microsoft.com/office/drawing/2014/main" id="{F65C9CA0-4AE0-47CF-AD07-C9B1161E5AF5}"/>
              </a:ext>
            </a:extLst>
          </p:cNvPr>
          <p:cNvSpPr>
            <a:spLocks noChangeArrowheads="1"/>
          </p:cNvSpPr>
          <p:nvPr/>
        </p:nvSpPr>
        <p:spPr bwMode="auto">
          <a:xfrm>
            <a:off x="2665600" y="2429728"/>
            <a:ext cx="1598613" cy="1601788"/>
          </a:xfrm>
          <a:prstGeom prst="ellipse">
            <a:avLst/>
          </a:prstGeom>
          <a:ln/>
        </p:spPr>
        <p:style>
          <a:lnRef idx="0">
            <a:schemeClr val="accent5"/>
          </a:lnRef>
          <a:fillRef idx="3">
            <a:schemeClr val="accent5"/>
          </a:fillRef>
          <a:effectRef idx="3">
            <a:schemeClr val="accent5"/>
          </a:effectRef>
          <a:fontRef idx="minor">
            <a:schemeClr val="lt1"/>
          </a:fontRef>
        </p:style>
        <p:txBody>
          <a:bodyPr wrap="none" anchor="ctr"/>
          <a:lstStyle/>
          <a:p>
            <a:pPr indent="92075" algn="ctr">
              <a:defRPr/>
            </a:pPr>
            <a:r>
              <a:rPr lang="fr-CA" sz="1600" b="1" dirty="0">
                <a:solidFill>
                  <a:schemeClr val="bg1"/>
                </a:solidFill>
                <a:effectLst>
                  <a:outerShdw blurRad="38100" dist="38100" dir="2700000" algn="tl">
                    <a:srgbClr val="000000"/>
                  </a:outerShdw>
                </a:effectLst>
              </a:rPr>
              <a:t>Manufacturier</a:t>
            </a:r>
          </a:p>
        </p:txBody>
      </p:sp>
      <p:graphicFrame>
        <p:nvGraphicFramePr>
          <p:cNvPr id="46" name="Object 4">
            <a:extLst>
              <a:ext uri="{FF2B5EF4-FFF2-40B4-BE49-F238E27FC236}">
                <a16:creationId xmlns:a16="http://schemas.microsoft.com/office/drawing/2014/main" id="{9E3CEAD8-6193-417B-B5BF-A1314648FB67}"/>
              </a:ext>
            </a:extLst>
          </p:cNvPr>
          <p:cNvGraphicFramePr>
            <a:graphicFrameLocks/>
          </p:cNvGraphicFramePr>
          <p:nvPr>
            <p:extLst>
              <p:ext uri="{D42A27DB-BD31-4B8C-83A1-F6EECF244321}">
                <p14:modId xmlns:p14="http://schemas.microsoft.com/office/powerpoint/2010/main" val="3156155429"/>
              </p:ext>
            </p:extLst>
          </p:nvPr>
        </p:nvGraphicFramePr>
        <p:xfrm>
          <a:off x="2140138" y="2444016"/>
          <a:ext cx="754062" cy="1738312"/>
        </p:xfrm>
        <a:graphic>
          <a:graphicData uri="http://schemas.openxmlformats.org/presentationml/2006/ole">
            <mc:AlternateContent xmlns:mc="http://schemas.openxmlformats.org/markup-compatibility/2006">
              <mc:Choice xmlns:v="urn:schemas-microsoft-com:vml" Requires="v">
                <p:oleObj name="Clip" r:id="rId3" imgW="1529338" imgH="2286801" progId="">
                  <p:embed/>
                </p:oleObj>
              </mc:Choice>
              <mc:Fallback>
                <p:oleObj name="Clip" r:id="rId3" imgW="1529338" imgH="2286801" progId="">
                  <p:embed/>
                  <p:pic>
                    <p:nvPicPr>
                      <p:cNvPr id="46" name="Object 4">
                        <a:extLst>
                          <a:ext uri="{FF2B5EF4-FFF2-40B4-BE49-F238E27FC236}">
                            <a16:creationId xmlns:a16="http://schemas.microsoft.com/office/drawing/2014/main" id="{9E3CEAD8-6193-417B-B5BF-A1314648FB6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138" y="2444016"/>
                        <a:ext cx="754062" cy="173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47" name="Oval 26">
            <a:extLst>
              <a:ext uri="{FF2B5EF4-FFF2-40B4-BE49-F238E27FC236}">
                <a16:creationId xmlns:a16="http://schemas.microsoft.com/office/drawing/2014/main" id="{901A8D58-E4DF-4D82-A5D3-5BBA044C9145}"/>
              </a:ext>
            </a:extLst>
          </p:cNvPr>
          <p:cNvSpPr>
            <a:spLocks noChangeArrowheads="1"/>
          </p:cNvSpPr>
          <p:nvPr/>
        </p:nvSpPr>
        <p:spPr bwMode="auto">
          <a:xfrm>
            <a:off x="684400" y="2429728"/>
            <a:ext cx="1600200" cy="1601788"/>
          </a:xfrm>
          <a:prstGeom prst="ellipse">
            <a:avLst/>
          </a:prstGeom>
          <a:ln/>
        </p:spPr>
        <p:style>
          <a:lnRef idx="0">
            <a:schemeClr val="accent2"/>
          </a:lnRef>
          <a:fillRef idx="3">
            <a:schemeClr val="accent2"/>
          </a:fillRef>
          <a:effectRef idx="3">
            <a:schemeClr val="accent2"/>
          </a:effectRef>
          <a:fontRef idx="minor">
            <a:schemeClr val="lt1"/>
          </a:fontRef>
        </p:style>
        <p:txBody>
          <a:bodyPr wrap="none" anchor="ctr"/>
          <a:lstStyle/>
          <a:p>
            <a:pPr algn="ctr">
              <a:defRPr/>
            </a:pPr>
            <a:r>
              <a:rPr lang="fr-CA" sz="1600" b="1" dirty="0">
                <a:solidFill>
                  <a:schemeClr val="bg1"/>
                </a:solidFill>
                <a:effectLst>
                  <a:outerShdw blurRad="38100" dist="38100" dir="2700000" algn="tl">
                    <a:srgbClr val="000000"/>
                  </a:outerShdw>
                </a:effectLst>
              </a:rPr>
              <a:t>Fournisseur</a:t>
            </a:r>
          </a:p>
        </p:txBody>
      </p:sp>
      <p:sp>
        <p:nvSpPr>
          <p:cNvPr id="48" name="Rectangle 27">
            <a:extLst>
              <a:ext uri="{FF2B5EF4-FFF2-40B4-BE49-F238E27FC236}">
                <a16:creationId xmlns:a16="http://schemas.microsoft.com/office/drawing/2014/main" id="{4F4EB6B0-8112-4B6C-BE7A-63B14C8E26EC}"/>
              </a:ext>
            </a:extLst>
          </p:cNvPr>
          <p:cNvSpPr>
            <a:spLocks noChangeArrowheads="1"/>
          </p:cNvSpPr>
          <p:nvPr/>
        </p:nvSpPr>
        <p:spPr bwMode="auto">
          <a:xfrm>
            <a:off x="8837800" y="2124928"/>
            <a:ext cx="609600" cy="2209800"/>
          </a:xfrm>
          <a:prstGeom prst="rect">
            <a:avLst/>
          </a:prstGeom>
          <a:solidFill>
            <a:schemeClr val="accent2">
              <a:lumMod val="60000"/>
              <a:lumOff val="40000"/>
            </a:schemeClr>
          </a:solidFill>
          <a:ln w="38100">
            <a:solidFill>
              <a:schemeClr val="accent1"/>
            </a:solidFill>
            <a:miter lim="800000"/>
            <a:headEnd/>
            <a:tailEnd/>
          </a:ln>
          <a:effectLst/>
          <a:scene3d>
            <a:camera prst="orthographicFront"/>
            <a:lightRig rig="threePt" dir="t"/>
          </a:scene3d>
          <a:sp3d>
            <a:bevelT w="165100" prst="coolSlant"/>
          </a:sp3d>
        </p:spPr>
        <p:txBody>
          <a:bodyPr vert="eaVert" wrap="none" anchor="ctr"/>
          <a:lstStyle/>
          <a:p>
            <a:pPr algn="ctr">
              <a:defRPr/>
            </a:pPr>
            <a:r>
              <a:rPr lang="fr-CA" sz="1600" b="1" dirty="0">
                <a:solidFill>
                  <a:schemeClr val="bg1"/>
                </a:solidFill>
              </a:rPr>
              <a:t>CONSOMMATEUR</a:t>
            </a:r>
          </a:p>
        </p:txBody>
      </p:sp>
      <p:sp>
        <p:nvSpPr>
          <p:cNvPr id="49" name="AutoShape 14">
            <a:extLst>
              <a:ext uri="{FF2B5EF4-FFF2-40B4-BE49-F238E27FC236}">
                <a16:creationId xmlns:a16="http://schemas.microsoft.com/office/drawing/2014/main" id="{6AFEF583-F0A8-4A3F-841C-F8C026977515}"/>
              </a:ext>
            </a:extLst>
          </p:cNvPr>
          <p:cNvSpPr>
            <a:spLocks noChangeArrowheads="1"/>
          </p:cNvSpPr>
          <p:nvPr/>
        </p:nvSpPr>
        <p:spPr bwMode="auto">
          <a:xfrm flipH="1">
            <a:off x="5999350" y="4206203"/>
            <a:ext cx="1143000" cy="381000"/>
          </a:xfrm>
          <a:prstGeom prst="rightArrow">
            <a:avLst>
              <a:gd name="adj1" fmla="val 50000"/>
              <a:gd name="adj2" fmla="val 75000"/>
            </a:avLst>
          </a:prstGeom>
          <a:solidFill>
            <a:schemeClr val="accent1"/>
          </a:solidFill>
          <a:ln w="9525">
            <a:solidFill>
              <a:schemeClr val="accent2"/>
            </a:solidFill>
            <a:miter lim="800000"/>
            <a:headEnd/>
            <a:tailEnd/>
          </a:ln>
        </p:spPr>
        <p:txBody>
          <a:bodyPr wrap="none" anchor="ctr"/>
          <a:lstStyle/>
          <a:p>
            <a:pPr algn="ctr"/>
            <a:r>
              <a:rPr lang="fr-FR" sz="1200" b="1" dirty="0">
                <a:solidFill>
                  <a:schemeClr val="bg1"/>
                </a:solidFill>
              </a:rPr>
              <a:t>Commandes</a:t>
            </a:r>
          </a:p>
        </p:txBody>
      </p:sp>
      <p:sp>
        <p:nvSpPr>
          <p:cNvPr id="50" name="AutoShape 14">
            <a:extLst>
              <a:ext uri="{FF2B5EF4-FFF2-40B4-BE49-F238E27FC236}">
                <a16:creationId xmlns:a16="http://schemas.microsoft.com/office/drawing/2014/main" id="{A1E9E292-AFA8-46CF-98E1-1BF469DE97C2}"/>
              </a:ext>
            </a:extLst>
          </p:cNvPr>
          <p:cNvSpPr>
            <a:spLocks noChangeArrowheads="1"/>
          </p:cNvSpPr>
          <p:nvPr/>
        </p:nvSpPr>
        <p:spPr bwMode="auto">
          <a:xfrm flipH="1">
            <a:off x="4018150" y="4130003"/>
            <a:ext cx="1143000" cy="381000"/>
          </a:xfrm>
          <a:prstGeom prst="rightArrow">
            <a:avLst>
              <a:gd name="adj1" fmla="val 50000"/>
              <a:gd name="adj2" fmla="val 75000"/>
            </a:avLst>
          </a:prstGeom>
          <a:solidFill>
            <a:schemeClr val="accent1"/>
          </a:solidFill>
          <a:ln w="9525">
            <a:solidFill>
              <a:schemeClr val="accent2"/>
            </a:solidFill>
            <a:miter lim="800000"/>
            <a:headEnd/>
            <a:tailEnd/>
          </a:ln>
        </p:spPr>
        <p:txBody>
          <a:bodyPr wrap="none" anchor="ctr"/>
          <a:lstStyle/>
          <a:p>
            <a:pPr algn="ctr"/>
            <a:r>
              <a:rPr lang="fr-FR" sz="1200" b="1" dirty="0">
                <a:solidFill>
                  <a:schemeClr val="bg1"/>
                </a:solidFill>
              </a:rPr>
              <a:t>Commandes</a:t>
            </a:r>
          </a:p>
        </p:txBody>
      </p:sp>
      <p:sp>
        <p:nvSpPr>
          <p:cNvPr id="51" name="AutoShape 4">
            <a:extLst>
              <a:ext uri="{FF2B5EF4-FFF2-40B4-BE49-F238E27FC236}">
                <a16:creationId xmlns:a16="http://schemas.microsoft.com/office/drawing/2014/main" id="{E4FFCC34-214E-4BDC-8FCB-0A4EB5A97A10}"/>
              </a:ext>
            </a:extLst>
          </p:cNvPr>
          <p:cNvSpPr>
            <a:spLocks noChangeArrowheads="1"/>
          </p:cNvSpPr>
          <p:nvPr/>
        </p:nvSpPr>
        <p:spPr bwMode="auto">
          <a:xfrm>
            <a:off x="6056500" y="4625303"/>
            <a:ext cx="1144588" cy="381000"/>
          </a:xfrm>
          <a:prstGeom prst="rightArrow">
            <a:avLst>
              <a:gd name="adj1" fmla="val 50000"/>
              <a:gd name="adj2" fmla="val 75104"/>
            </a:avLst>
          </a:prstGeom>
          <a:solidFill>
            <a:schemeClr val="accent1"/>
          </a:solidFill>
          <a:ln w="9525">
            <a:solidFill>
              <a:schemeClr val="accent2"/>
            </a:solidFill>
            <a:miter lim="800000"/>
            <a:headEnd/>
            <a:tailEnd/>
          </a:ln>
        </p:spPr>
        <p:txBody>
          <a:bodyPr wrap="none" anchor="ctr"/>
          <a:lstStyle/>
          <a:p>
            <a:r>
              <a:rPr lang="fr-FR" sz="1200" b="1" dirty="0">
                <a:solidFill>
                  <a:schemeClr val="bg1"/>
                </a:solidFill>
              </a:rPr>
              <a:t>Factures</a:t>
            </a:r>
          </a:p>
        </p:txBody>
      </p:sp>
      <p:sp>
        <p:nvSpPr>
          <p:cNvPr id="52" name="AutoShape 4">
            <a:extLst>
              <a:ext uri="{FF2B5EF4-FFF2-40B4-BE49-F238E27FC236}">
                <a16:creationId xmlns:a16="http://schemas.microsoft.com/office/drawing/2014/main" id="{CF9D1177-CAB8-4DA7-9D09-1E5DE534A01C}"/>
              </a:ext>
            </a:extLst>
          </p:cNvPr>
          <p:cNvSpPr>
            <a:spLocks noChangeArrowheads="1"/>
          </p:cNvSpPr>
          <p:nvPr/>
        </p:nvSpPr>
        <p:spPr bwMode="auto">
          <a:xfrm>
            <a:off x="4189600" y="4606253"/>
            <a:ext cx="1144588" cy="381000"/>
          </a:xfrm>
          <a:prstGeom prst="rightArrow">
            <a:avLst>
              <a:gd name="adj1" fmla="val 50000"/>
              <a:gd name="adj2" fmla="val 75104"/>
            </a:avLst>
          </a:prstGeom>
          <a:solidFill>
            <a:schemeClr val="accent1"/>
          </a:solidFill>
          <a:ln w="9525">
            <a:solidFill>
              <a:schemeClr val="accent2"/>
            </a:solidFill>
            <a:miter lim="800000"/>
            <a:headEnd/>
            <a:tailEnd/>
          </a:ln>
        </p:spPr>
        <p:txBody>
          <a:bodyPr wrap="none" anchor="ctr"/>
          <a:lstStyle/>
          <a:p>
            <a:r>
              <a:rPr lang="fr-FR" sz="1200" b="1" dirty="0">
                <a:solidFill>
                  <a:schemeClr val="bg1"/>
                </a:solidFill>
              </a:rPr>
              <a:t>Factures</a:t>
            </a:r>
          </a:p>
        </p:txBody>
      </p:sp>
      <p:sp>
        <p:nvSpPr>
          <p:cNvPr id="53" name="AutoShape 13">
            <a:extLst>
              <a:ext uri="{FF2B5EF4-FFF2-40B4-BE49-F238E27FC236}">
                <a16:creationId xmlns:a16="http://schemas.microsoft.com/office/drawing/2014/main" id="{5E451897-49C1-4804-843D-945A35E4FE71}"/>
              </a:ext>
            </a:extLst>
          </p:cNvPr>
          <p:cNvSpPr>
            <a:spLocks noChangeArrowheads="1"/>
          </p:cNvSpPr>
          <p:nvPr/>
        </p:nvSpPr>
        <p:spPr bwMode="auto">
          <a:xfrm flipH="1">
            <a:off x="5980300" y="5025353"/>
            <a:ext cx="1143000" cy="381000"/>
          </a:xfrm>
          <a:prstGeom prst="rightArrow">
            <a:avLst>
              <a:gd name="adj1" fmla="val 50000"/>
              <a:gd name="adj2" fmla="val 75000"/>
            </a:avLst>
          </a:prstGeom>
          <a:solidFill>
            <a:schemeClr val="accent1"/>
          </a:solidFill>
          <a:ln w="9525">
            <a:solidFill>
              <a:schemeClr val="accent2"/>
            </a:solidFill>
            <a:miter lim="800000"/>
            <a:headEnd/>
            <a:tailEnd/>
          </a:ln>
        </p:spPr>
        <p:txBody>
          <a:bodyPr wrap="none" anchor="ctr"/>
          <a:lstStyle/>
          <a:p>
            <a:r>
              <a:rPr lang="fr-FR" sz="1200" b="1" dirty="0">
                <a:solidFill>
                  <a:schemeClr val="bg1"/>
                </a:solidFill>
              </a:rPr>
              <a:t>Paiement</a:t>
            </a:r>
          </a:p>
        </p:txBody>
      </p:sp>
      <p:sp>
        <p:nvSpPr>
          <p:cNvPr id="54" name="AutoShape 13">
            <a:extLst>
              <a:ext uri="{FF2B5EF4-FFF2-40B4-BE49-F238E27FC236}">
                <a16:creationId xmlns:a16="http://schemas.microsoft.com/office/drawing/2014/main" id="{4BBCDCB0-1F58-4E62-814C-B539C2FA49B9}"/>
              </a:ext>
            </a:extLst>
          </p:cNvPr>
          <p:cNvSpPr>
            <a:spLocks noChangeArrowheads="1"/>
          </p:cNvSpPr>
          <p:nvPr/>
        </p:nvSpPr>
        <p:spPr bwMode="auto">
          <a:xfrm flipH="1">
            <a:off x="4094350" y="4987253"/>
            <a:ext cx="1143000" cy="381000"/>
          </a:xfrm>
          <a:prstGeom prst="rightArrow">
            <a:avLst>
              <a:gd name="adj1" fmla="val 50000"/>
              <a:gd name="adj2" fmla="val 75000"/>
            </a:avLst>
          </a:prstGeom>
          <a:solidFill>
            <a:schemeClr val="accent1"/>
          </a:solidFill>
          <a:ln w="9525">
            <a:solidFill>
              <a:schemeClr val="accent2"/>
            </a:solidFill>
            <a:miter lim="800000"/>
            <a:headEnd/>
            <a:tailEnd/>
          </a:ln>
        </p:spPr>
        <p:txBody>
          <a:bodyPr wrap="none" anchor="ctr"/>
          <a:lstStyle/>
          <a:p>
            <a:r>
              <a:rPr lang="fr-FR" sz="1200" b="1" dirty="0">
                <a:solidFill>
                  <a:schemeClr val="bg1"/>
                </a:solidFill>
              </a:rPr>
              <a:t>Paiement</a:t>
            </a:r>
          </a:p>
        </p:txBody>
      </p:sp>
      <p:sp>
        <p:nvSpPr>
          <p:cNvPr id="4" name="Titre 3">
            <a:extLst>
              <a:ext uri="{FF2B5EF4-FFF2-40B4-BE49-F238E27FC236}">
                <a16:creationId xmlns:a16="http://schemas.microsoft.com/office/drawing/2014/main" id="{ED390FD3-D8DB-480D-B74A-A1DF0A1CC99D}"/>
              </a:ext>
            </a:extLst>
          </p:cNvPr>
          <p:cNvSpPr>
            <a:spLocks noGrp="1"/>
          </p:cNvSpPr>
          <p:nvPr>
            <p:ph type="title"/>
          </p:nvPr>
        </p:nvSpPr>
        <p:spPr/>
        <p:txBody>
          <a:bodyPr/>
          <a:lstStyle/>
          <a:p>
            <a:r>
              <a:rPr lang="fr-CA" dirty="0"/>
              <a:t>Chaîne logistique traditionnelle – non intégrée</a:t>
            </a:r>
          </a:p>
        </p:txBody>
      </p:sp>
    </p:spTree>
    <p:extLst>
      <p:ext uri="{BB962C8B-B14F-4D97-AF65-F5344CB8AC3E}">
        <p14:creationId xmlns:p14="http://schemas.microsoft.com/office/powerpoint/2010/main" val="24852938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down)">
                                      <p:cBhvr>
                                        <p:cTn id="11" dur="500"/>
                                        <p:tgtEl>
                                          <p:spTgt spid="44"/>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500"/>
                                        <p:tgtEl>
                                          <p:spTgt spid="46"/>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blinds(horizontal)">
                                      <p:cBhvr>
                                        <p:cTn id="19" dur="500"/>
                                        <p:tgtEl>
                                          <p:spTgt spid="38"/>
                                        </p:tgtEl>
                                      </p:cBhvr>
                                    </p:animEffect>
                                  </p:childTnLst>
                                </p:cTn>
                              </p:par>
                            </p:childTnLst>
                          </p:cTn>
                        </p:par>
                        <p:par>
                          <p:cTn id="20" fill="hold">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linds(horizontal)">
                                      <p:cBhvr>
                                        <p:cTn id="23" dur="500"/>
                                        <p:tgtEl>
                                          <p:spTgt spid="39"/>
                                        </p:tgtEl>
                                      </p:cBhvr>
                                    </p:animEffect>
                                  </p:childTnLst>
                                </p:cTn>
                              </p:par>
                            </p:childTnLst>
                          </p:cTn>
                        </p:par>
                        <p:par>
                          <p:cTn id="24" fill="hold">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blinds(horizontal)">
                                      <p:cBhvr>
                                        <p:cTn id="27" dur="500"/>
                                        <p:tgtEl>
                                          <p:spTgt spid="40"/>
                                        </p:tgtEl>
                                      </p:cBhvr>
                                    </p:animEffect>
                                  </p:childTnLst>
                                </p:cTn>
                              </p:par>
                            </p:childTnLst>
                          </p:cTn>
                        </p:par>
                        <p:par>
                          <p:cTn id="28" fill="hold">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blinds(horizontal)">
                                      <p:cBhvr>
                                        <p:cTn id="3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39" grpId="0" autoUpdateAnimBg="0"/>
      <p:bldP spid="40" grpId="0" autoUpdateAnimBg="0"/>
      <p:bldP spid="41"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fr-CA" dirty="0"/>
              <a:t>Comment intégrer la chaîne logistique?</a:t>
            </a:r>
          </a:p>
        </p:txBody>
      </p:sp>
      <p:sp>
        <p:nvSpPr>
          <p:cNvPr id="314371" name="Rectangle 3"/>
          <p:cNvSpPr>
            <a:spLocks noGrp="1" noChangeArrowheads="1"/>
          </p:cNvSpPr>
          <p:nvPr>
            <p:ph type="body" idx="1"/>
          </p:nvPr>
        </p:nvSpPr>
        <p:spPr/>
        <p:txBody>
          <a:bodyPr>
            <a:normAutofit/>
          </a:bodyPr>
          <a:lstStyle/>
          <a:p>
            <a:pPr marL="265113" indent="-265113"/>
            <a:r>
              <a:rPr lang="fr-CA" dirty="0"/>
              <a:t>Engagements à long terme</a:t>
            </a:r>
          </a:p>
          <a:p>
            <a:pPr marL="265113" indent="-265113"/>
            <a:r>
              <a:rPr lang="fr-CA" dirty="0"/>
              <a:t>Mise en commun de l’information </a:t>
            </a:r>
          </a:p>
          <a:p>
            <a:pPr marL="265113" indent="-265113"/>
            <a:r>
              <a:rPr lang="fr-CA" dirty="0"/>
              <a:t>Saisies au point de consommation (POS) </a:t>
            </a:r>
          </a:p>
          <a:p>
            <a:pPr marL="265113" indent="-265113"/>
            <a:r>
              <a:rPr lang="fr-CA" dirty="0"/>
              <a:t>Élimination d’intermédiaires (maillons)</a:t>
            </a:r>
          </a:p>
          <a:p>
            <a:pPr marL="265113" indent="-265113"/>
            <a:r>
              <a:rPr lang="fr-CA" dirty="0"/>
              <a:t>Réduction des délais</a:t>
            </a:r>
          </a:p>
          <a:p>
            <a:pPr marL="265113" indent="-265113"/>
            <a:r>
              <a:rPr lang="fr-CA" dirty="0"/>
              <a:t>Optimisation des transports</a:t>
            </a:r>
          </a:p>
          <a:p>
            <a:endParaRPr lang="fr-CA" dirty="0"/>
          </a:p>
          <a:p>
            <a:endParaRPr lang="fr-CA" dirty="0"/>
          </a:p>
          <a:p>
            <a:endParaRPr lang="fr-CA" dirty="0"/>
          </a:p>
          <a:p>
            <a:endParaRPr lang="fr-CA" dirty="0"/>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3400" y="1325789"/>
            <a:ext cx="2865975" cy="1922977"/>
          </a:xfrm>
          <a:prstGeom prst="rect">
            <a:avLst/>
          </a:prstGeom>
        </p:spPr>
      </p:pic>
      <p:pic>
        <p:nvPicPr>
          <p:cNvPr id="4" name="Imag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3400" y="2998745"/>
            <a:ext cx="2865975" cy="2300854"/>
          </a:xfrm>
          <a:prstGeom prst="rect">
            <a:avLst/>
          </a:prstGeom>
        </p:spPr>
      </p:pic>
    </p:spTree>
    <p:extLst>
      <p:ext uri="{BB962C8B-B14F-4D97-AF65-F5344CB8AC3E}">
        <p14:creationId xmlns:p14="http://schemas.microsoft.com/office/powerpoint/2010/main" val="1427027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4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4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43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43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43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4371">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27">
            <a:extLst>
              <a:ext uri="{FF2B5EF4-FFF2-40B4-BE49-F238E27FC236}">
                <a16:creationId xmlns:a16="http://schemas.microsoft.com/office/drawing/2014/main" id="{93290C33-025F-4D3D-8380-299417978690}"/>
              </a:ext>
            </a:extLst>
          </p:cNvPr>
          <p:cNvSpPr>
            <a:spLocks noChangeArrowheads="1"/>
          </p:cNvSpPr>
          <p:nvPr/>
        </p:nvSpPr>
        <p:spPr bwMode="auto">
          <a:xfrm>
            <a:off x="8146699" y="2310587"/>
            <a:ext cx="609600" cy="2362200"/>
          </a:xfrm>
          <a:prstGeom prst="rect">
            <a:avLst/>
          </a:prstGeom>
          <a:solidFill>
            <a:schemeClr val="accent2">
              <a:lumMod val="60000"/>
              <a:lumOff val="40000"/>
            </a:schemeClr>
          </a:solidFill>
          <a:ln w="38100">
            <a:solidFill>
              <a:schemeClr val="accent1"/>
            </a:solidFill>
            <a:miter lim="800000"/>
            <a:headEnd/>
            <a:tailEnd/>
          </a:ln>
          <a:effectLst/>
          <a:scene3d>
            <a:camera prst="orthographicFront"/>
            <a:lightRig rig="threePt" dir="t"/>
          </a:scene3d>
          <a:sp3d>
            <a:bevelT w="165100" prst="coolSlant"/>
          </a:sp3d>
        </p:spPr>
        <p:txBody>
          <a:bodyPr vert="eaVert" wrap="none" anchor="ctr"/>
          <a:lstStyle/>
          <a:p>
            <a:pPr lvl="1">
              <a:defRPr/>
            </a:pPr>
            <a:r>
              <a:rPr lang="fr-CA" sz="1600" b="1" dirty="0">
                <a:solidFill>
                  <a:schemeClr val="bg1"/>
                </a:solidFill>
              </a:rPr>
              <a:t>CONSOMMATEUR</a:t>
            </a:r>
          </a:p>
        </p:txBody>
      </p:sp>
      <p:sp>
        <p:nvSpPr>
          <p:cNvPr id="75" name="Oval 15">
            <a:extLst>
              <a:ext uri="{FF2B5EF4-FFF2-40B4-BE49-F238E27FC236}">
                <a16:creationId xmlns:a16="http://schemas.microsoft.com/office/drawing/2014/main" id="{5E426530-F6E9-49F9-BCA2-CC13098C37BD}"/>
              </a:ext>
            </a:extLst>
          </p:cNvPr>
          <p:cNvSpPr>
            <a:spLocks noChangeArrowheads="1"/>
          </p:cNvSpPr>
          <p:nvPr/>
        </p:nvSpPr>
        <p:spPr bwMode="auto">
          <a:xfrm>
            <a:off x="6154905" y="2564948"/>
            <a:ext cx="1633410" cy="1648310"/>
          </a:xfrm>
          <a:prstGeom prst="ellipse">
            <a:avLst/>
          </a:prstGeom>
          <a:ln/>
        </p:spPr>
        <p:style>
          <a:lnRef idx="0">
            <a:schemeClr val="accent4"/>
          </a:lnRef>
          <a:fillRef idx="3">
            <a:schemeClr val="accent4"/>
          </a:fillRef>
          <a:effectRef idx="3">
            <a:schemeClr val="accent4"/>
          </a:effectRef>
          <a:fontRef idx="minor">
            <a:schemeClr val="lt1"/>
          </a:fontRef>
        </p:style>
        <p:txBody>
          <a:bodyPr wrap="none" anchor="ctr"/>
          <a:lstStyle/>
          <a:p>
            <a:pPr algn="ctr">
              <a:defRPr/>
            </a:pPr>
            <a:r>
              <a:rPr lang="fr-CA" sz="1600" b="1" dirty="0">
                <a:solidFill>
                  <a:schemeClr val="bg1"/>
                </a:solidFill>
                <a:effectLst>
                  <a:outerShdw blurRad="38100" dist="38100" dir="2700000" algn="tl">
                    <a:srgbClr val="000000"/>
                  </a:outerShdw>
                </a:effectLst>
              </a:rPr>
              <a:t>Détaillant</a:t>
            </a:r>
          </a:p>
        </p:txBody>
      </p:sp>
      <p:sp>
        <p:nvSpPr>
          <p:cNvPr id="76" name="Oval 22">
            <a:extLst>
              <a:ext uri="{FF2B5EF4-FFF2-40B4-BE49-F238E27FC236}">
                <a16:creationId xmlns:a16="http://schemas.microsoft.com/office/drawing/2014/main" id="{A4ADA63A-CD89-4228-B4EA-AF43C0EED6B2}"/>
              </a:ext>
            </a:extLst>
          </p:cNvPr>
          <p:cNvSpPr>
            <a:spLocks noChangeArrowheads="1"/>
          </p:cNvSpPr>
          <p:nvPr/>
        </p:nvSpPr>
        <p:spPr bwMode="auto">
          <a:xfrm>
            <a:off x="4619062" y="2555200"/>
            <a:ext cx="1594584" cy="1604735"/>
          </a:xfrm>
          <a:prstGeom prst="ellipse">
            <a:avLst/>
          </a:prstGeom>
          <a:ln/>
        </p:spPr>
        <p:style>
          <a:lnRef idx="0">
            <a:schemeClr val="accent3"/>
          </a:lnRef>
          <a:fillRef idx="3">
            <a:schemeClr val="accent3"/>
          </a:fillRef>
          <a:effectRef idx="3">
            <a:schemeClr val="accent3"/>
          </a:effectRef>
          <a:fontRef idx="minor">
            <a:schemeClr val="lt1"/>
          </a:fontRef>
        </p:style>
        <p:txBody>
          <a:bodyPr wrap="none" anchor="ctr"/>
          <a:lstStyle/>
          <a:p>
            <a:pPr algn="ctr">
              <a:defRPr/>
            </a:pPr>
            <a:r>
              <a:rPr lang="fr-CA" sz="1600" b="1" dirty="0">
                <a:solidFill>
                  <a:schemeClr val="bg1"/>
                </a:solidFill>
                <a:effectLst>
                  <a:outerShdw blurRad="38100" dist="38100" dir="2700000" algn="tl">
                    <a:srgbClr val="000000"/>
                  </a:outerShdw>
                </a:effectLst>
              </a:rPr>
              <a:t>Distributeur</a:t>
            </a:r>
          </a:p>
        </p:txBody>
      </p:sp>
      <p:sp>
        <p:nvSpPr>
          <p:cNvPr id="77" name="Oval 24">
            <a:extLst>
              <a:ext uri="{FF2B5EF4-FFF2-40B4-BE49-F238E27FC236}">
                <a16:creationId xmlns:a16="http://schemas.microsoft.com/office/drawing/2014/main" id="{E71857B0-0753-4B6C-89FA-8CD4BA30DC02}"/>
              </a:ext>
            </a:extLst>
          </p:cNvPr>
          <p:cNvSpPr>
            <a:spLocks noChangeArrowheads="1"/>
          </p:cNvSpPr>
          <p:nvPr/>
        </p:nvSpPr>
        <p:spPr bwMode="auto">
          <a:xfrm>
            <a:off x="3179312" y="2555200"/>
            <a:ext cx="1593003" cy="1604735"/>
          </a:xfrm>
          <a:prstGeom prst="ellipse">
            <a:avLst/>
          </a:prstGeom>
          <a:ln/>
        </p:spPr>
        <p:style>
          <a:lnRef idx="0">
            <a:schemeClr val="accent5"/>
          </a:lnRef>
          <a:fillRef idx="3">
            <a:schemeClr val="accent5"/>
          </a:fillRef>
          <a:effectRef idx="3">
            <a:schemeClr val="accent5"/>
          </a:effectRef>
          <a:fontRef idx="minor">
            <a:schemeClr val="lt1"/>
          </a:fontRef>
        </p:style>
        <p:txBody>
          <a:bodyPr wrap="none" anchor="ctr"/>
          <a:lstStyle/>
          <a:p>
            <a:pPr indent="92075" algn="ctr"/>
            <a:r>
              <a:rPr lang="fr-CA" sz="1600" b="1" dirty="0">
                <a:solidFill>
                  <a:schemeClr val="bg1"/>
                </a:solidFill>
                <a:effectLst>
                  <a:outerShdw blurRad="38100" dist="38100" dir="2700000" algn="tl">
                    <a:srgbClr val="000000"/>
                  </a:outerShdw>
                </a:effectLst>
              </a:rPr>
              <a:t>Manufacturier</a:t>
            </a:r>
          </a:p>
        </p:txBody>
      </p:sp>
      <p:sp>
        <p:nvSpPr>
          <p:cNvPr id="78" name="Oval 26">
            <a:extLst>
              <a:ext uri="{FF2B5EF4-FFF2-40B4-BE49-F238E27FC236}">
                <a16:creationId xmlns:a16="http://schemas.microsoft.com/office/drawing/2014/main" id="{F4258BA7-55FF-40F9-8219-3ECED36FF018}"/>
              </a:ext>
            </a:extLst>
          </p:cNvPr>
          <p:cNvSpPr>
            <a:spLocks noChangeArrowheads="1"/>
          </p:cNvSpPr>
          <p:nvPr/>
        </p:nvSpPr>
        <p:spPr bwMode="auto">
          <a:xfrm>
            <a:off x="1708501" y="2555200"/>
            <a:ext cx="1594584" cy="1604735"/>
          </a:xfrm>
          <a:prstGeom prst="ellipse">
            <a:avLst/>
          </a:prstGeom>
          <a:ln/>
        </p:spPr>
        <p:style>
          <a:lnRef idx="0">
            <a:schemeClr val="accent2"/>
          </a:lnRef>
          <a:fillRef idx="3">
            <a:schemeClr val="accent2"/>
          </a:fillRef>
          <a:effectRef idx="3">
            <a:schemeClr val="accent2"/>
          </a:effectRef>
          <a:fontRef idx="minor">
            <a:schemeClr val="lt1"/>
          </a:fontRef>
        </p:style>
        <p:txBody>
          <a:bodyPr wrap="none" anchor="ctr"/>
          <a:lstStyle/>
          <a:p>
            <a:pPr algn="ctr">
              <a:defRPr/>
            </a:pPr>
            <a:r>
              <a:rPr lang="fr-CA" sz="1600" b="1" dirty="0">
                <a:solidFill>
                  <a:schemeClr val="bg1"/>
                </a:solidFill>
                <a:effectLst>
                  <a:outerShdw blurRad="38100" dist="38100" dir="2700000" algn="tl">
                    <a:srgbClr val="000000"/>
                  </a:outerShdw>
                </a:effectLst>
              </a:rPr>
              <a:t>Fournisseur</a:t>
            </a:r>
          </a:p>
        </p:txBody>
      </p:sp>
      <p:sp>
        <p:nvSpPr>
          <p:cNvPr id="3" name="Titre 2">
            <a:extLst>
              <a:ext uri="{FF2B5EF4-FFF2-40B4-BE49-F238E27FC236}">
                <a16:creationId xmlns:a16="http://schemas.microsoft.com/office/drawing/2014/main" id="{C71FE4EE-B0A3-4651-A725-86FB616C33F7}"/>
              </a:ext>
            </a:extLst>
          </p:cNvPr>
          <p:cNvSpPr>
            <a:spLocks noGrp="1"/>
          </p:cNvSpPr>
          <p:nvPr>
            <p:ph type="title"/>
          </p:nvPr>
        </p:nvSpPr>
        <p:spPr>
          <a:xfrm>
            <a:off x="471920" y="139693"/>
            <a:ext cx="9096000" cy="819775"/>
          </a:xfrm>
        </p:spPr>
        <p:txBody>
          <a:bodyPr/>
          <a:lstStyle/>
          <a:p>
            <a:r>
              <a:rPr lang="fr-CA"/>
              <a:t>Chaîne logistique traditionnelle - INTÉGRATION</a:t>
            </a:r>
          </a:p>
        </p:txBody>
      </p:sp>
      <p:sp>
        <p:nvSpPr>
          <p:cNvPr id="28" name="Rectangle 2">
            <a:extLst>
              <a:ext uri="{FF2B5EF4-FFF2-40B4-BE49-F238E27FC236}">
                <a16:creationId xmlns:a16="http://schemas.microsoft.com/office/drawing/2014/main" id="{18ACAE90-D08A-44D6-8C43-C1319F33F4CA}"/>
              </a:ext>
            </a:extLst>
          </p:cNvPr>
          <p:cNvSpPr>
            <a:spLocks noChangeArrowheads="1"/>
          </p:cNvSpPr>
          <p:nvPr/>
        </p:nvSpPr>
        <p:spPr bwMode="auto">
          <a:xfrm>
            <a:off x="6692900" y="1758137"/>
            <a:ext cx="527050" cy="762000"/>
          </a:xfrm>
          <a:prstGeom prst="rect">
            <a:avLst/>
          </a:prstGeom>
          <a:noFill/>
          <a:ln w="9525">
            <a:noFill/>
            <a:miter lim="800000"/>
            <a:headEnd/>
            <a:tailEnd/>
          </a:ln>
        </p:spPr>
        <p:txBody>
          <a:bodyPr wrap="none" lIns="92075" tIns="46038" rIns="92075" bIns="46038">
            <a:spAutoFit/>
          </a:bodyPr>
          <a:lstStyle/>
          <a:p>
            <a:r>
              <a:rPr lang="fr-CA" sz="4400" b="1" i="1" dirty="0">
                <a:solidFill>
                  <a:srgbClr val="FF0000"/>
                </a:solidFill>
              </a:rPr>
              <a:t>?</a:t>
            </a:r>
          </a:p>
        </p:txBody>
      </p:sp>
      <p:sp>
        <p:nvSpPr>
          <p:cNvPr id="29" name="Rectangle 3">
            <a:extLst>
              <a:ext uri="{FF2B5EF4-FFF2-40B4-BE49-F238E27FC236}">
                <a16:creationId xmlns:a16="http://schemas.microsoft.com/office/drawing/2014/main" id="{0B6F0EC3-553B-4D32-8438-6635E18355BF}"/>
              </a:ext>
            </a:extLst>
          </p:cNvPr>
          <p:cNvSpPr>
            <a:spLocks noChangeArrowheads="1"/>
          </p:cNvSpPr>
          <p:nvPr/>
        </p:nvSpPr>
        <p:spPr bwMode="auto">
          <a:xfrm>
            <a:off x="5170488" y="1758137"/>
            <a:ext cx="525462" cy="762000"/>
          </a:xfrm>
          <a:prstGeom prst="rect">
            <a:avLst/>
          </a:prstGeom>
          <a:noFill/>
          <a:ln w="9525">
            <a:noFill/>
            <a:miter lim="800000"/>
            <a:headEnd/>
            <a:tailEnd/>
          </a:ln>
        </p:spPr>
        <p:txBody>
          <a:bodyPr wrap="none" lIns="92075" tIns="46038" rIns="92075" bIns="46038">
            <a:spAutoFit/>
          </a:bodyPr>
          <a:lstStyle/>
          <a:p>
            <a:r>
              <a:rPr lang="fr-CA" sz="4400" b="1" i="1" dirty="0">
                <a:solidFill>
                  <a:srgbClr val="FF0000"/>
                </a:solidFill>
              </a:rPr>
              <a:t>?</a:t>
            </a:r>
          </a:p>
        </p:txBody>
      </p:sp>
      <p:sp>
        <p:nvSpPr>
          <p:cNvPr id="55" name="Rectangle 4">
            <a:extLst>
              <a:ext uri="{FF2B5EF4-FFF2-40B4-BE49-F238E27FC236}">
                <a16:creationId xmlns:a16="http://schemas.microsoft.com/office/drawing/2014/main" id="{DC7C08FA-E12F-45E3-BE5A-E10685D576E6}"/>
              </a:ext>
            </a:extLst>
          </p:cNvPr>
          <p:cNvSpPr>
            <a:spLocks noChangeArrowheads="1"/>
          </p:cNvSpPr>
          <p:nvPr/>
        </p:nvSpPr>
        <p:spPr bwMode="auto">
          <a:xfrm>
            <a:off x="3644900" y="1758137"/>
            <a:ext cx="523875" cy="762000"/>
          </a:xfrm>
          <a:prstGeom prst="rect">
            <a:avLst/>
          </a:prstGeom>
          <a:noFill/>
          <a:ln w="9525">
            <a:noFill/>
            <a:miter lim="800000"/>
            <a:headEnd/>
            <a:tailEnd/>
          </a:ln>
        </p:spPr>
        <p:txBody>
          <a:bodyPr wrap="none" lIns="92075" tIns="46038" rIns="92075" bIns="46038">
            <a:spAutoFit/>
          </a:bodyPr>
          <a:lstStyle/>
          <a:p>
            <a:r>
              <a:rPr lang="fr-CA" sz="4400" b="1" i="1" dirty="0">
                <a:solidFill>
                  <a:srgbClr val="FF0000"/>
                </a:solidFill>
              </a:rPr>
              <a:t>?</a:t>
            </a:r>
          </a:p>
        </p:txBody>
      </p:sp>
      <p:sp>
        <p:nvSpPr>
          <p:cNvPr id="56" name="Rectangle 5">
            <a:extLst>
              <a:ext uri="{FF2B5EF4-FFF2-40B4-BE49-F238E27FC236}">
                <a16:creationId xmlns:a16="http://schemas.microsoft.com/office/drawing/2014/main" id="{BDED8602-5FBB-48AC-B56D-1C92570F3D62}"/>
              </a:ext>
            </a:extLst>
          </p:cNvPr>
          <p:cNvSpPr>
            <a:spLocks noChangeArrowheads="1"/>
          </p:cNvSpPr>
          <p:nvPr/>
        </p:nvSpPr>
        <p:spPr bwMode="auto">
          <a:xfrm>
            <a:off x="2117725" y="1758137"/>
            <a:ext cx="527050" cy="762000"/>
          </a:xfrm>
          <a:prstGeom prst="rect">
            <a:avLst/>
          </a:prstGeom>
          <a:noFill/>
          <a:ln w="9525">
            <a:noFill/>
            <a:miter lim="800000"/>
            <a:headEnd/>
            <a:tailEnd/>
          </a:ln>
        </p:spPr>
        <p:txBody>
          <a:bodyPr wrap="none" lIns="92075" tIns="46038" rIns="92075" bIns="46038">
            <a:spAutoFit/>
          </a:bodyPr>
          <a:lstStyle/>
          <a:p>
            <a:r>
              <a:rPr lang="fr-CA" sz="4400" b="1" i="1" dirty="0">
                <a:solidFill>
                  <a:srgbClr val="FF0000"/>
                </a:solidFill>
              </a:rPr>
              <a:t>?</a:t>
            </a:r>
          </a:p>
        </p:txBody>
      </p:sp>
      <p:sp>
        <p:nvSpPr>
          <p:cNvPr id="57" name="Rectangle 6">
            <a:extLst>
              <a:ext uri="{FF2B5EF4-FFF2-40B4-BE49-F238E27FC236}">
                <a16:creationId xmlns:a16="http://schemas.microsoft.com/office/drawing/2014/main" id="{4F845721-0D06-4D3D-B8AB-2E16152EFE2B}"/>
              </a:ext>
            </a:extLst>
          </p:cNvPr>
          <p:cNvSpPr>
            <a:spLocks noChangeArrowheads="1"/>
          </p:cNvSpPr>
          <p:nvPr/>
        </p:nvSpPr>
        <p:spPr bwMode="auto">
          <a:xfrm>
            <a:off x="5170488" y="1681937"/>
            <a:ext cx="523875" cy="823913"/>
          </a:xfrm>
          <a:prstGeom prst="rect">
            <a:avLst/>
          </a:prstGeom>
          <a:noFill/>
          <a:ln w="9525">
            <a:noFill/>
            <a:miter lim="800000"/>
            <a:headEnd/>
            <a:tailEnd/>
          </a:ln>
        </p:spPr>
        <p:txBody>
          <a:bodyPr wrap="none" lIns="92075" tIns="46038" rIns="92075" bIns="46038">
            <a:spAutoFit/>
          </a:bodyPr>
          <a:lstStyle/>
          <a:p>
            <a:r>
              <a:rPr lang="fr-CA" sz="4800" b="1" i="1" dirty="0">
                <a:solidFill>
                  <a:srgbClr val="FFCC00"/>
                </a:solidFill>
              </a:rPr>
              <a:t>x</a:t>
            </a:r>
          </a:p>
        </p:txBody>
      </p:sp>
      <p:sp>
        <p:nvSpPr>
          <p:cNvPr id="58" name="Rectangle 7">
            <a:extLst>
              <a:ext uri="{FF2B5EF4-FFF2-40B4-BE49-F238E27FC236}">
                <a16:creationId xmlns:a16="http://schemas.microsoft.com/office/drawing/2014/main" id="{E49BA1CA-CCFA-4BDC-A1B6-7748D0388F61}"/>
              </a:ext>
            </a:extLst>
          </p:cNvPr>
          <p:cNvSpPr>
            <a:spLocks noChangeArrowheads="1"/>
          </p:cNvSpPr>
          <p:nvPr/>
        </p:nvSpPr>
        <p:spPr bwMode="auto">
          <a:xfrm>
            <a:off x="3648075" y="1681937"/>
            <a:ext cx="523875" cy="823913"/>
          </a:xfrm>
          <a:prstGeom prst="rect">
            <a:avLst/>
          </a:prstGeom>
          <a:noFill/>
          <a:ln w="9525">
            <a:noFill/>
            <a:miter lim="800000"/>
            <a:headEnd/>
            <a:tailEnd/>
          </a:ln>
        </p:spPr>
        <p:txBody>
          <a:bodyPr wrap="none" lIns="92075" tIns="46038" rIns="92075" bIns="46038">
            <a:spAutoFit/>
          </a:bodyPr>
          <a:lstStyle/>
          <a:p>
            <a:r>
              <a:rPr lang="fr-CA" sz="4800" b="1" i="1" dirty="0">
                <a:solidFill>
                  <a:srgbClr val="FFCC00"/>
                </a:solidFill>
              </a:rPr>
              <a:t>x</a:t>
            </a:r>
          </a:p>
        </p:txBody>
      </p:sp>
      <p:sp>
        <p:nvSpPr>
          <p:cNvPr id="59" name="Rectangle 8">
            <a:extLst>
              <a:ext uri="{FF2B5EF4-FFF2-40B4-BE49-F238E27FC236}">
                <a16:creationId xmlns:a16="http://schemas.microsoft.com/office/drawing/2014/main" id="{90E7ADFF-4A33-4185-8D51-C63BD6BF43F1}"/>
              </a:ext>
            </a:extLst>
          </p:cNvPr>
          <p:cNvSpPr>
            <a:spLocks noChangeArrowheads="1"/>
          </p:cNvSpPr>
          <p:nvPr/>
        </p:nvSpPr>
        <p:spPr bwMode="auto">
          <a:xfrm>
            <a:off x="2124075" y="1681937"/>
            <a:ext cx="525463" cy="823913"/>
          </a:xfrm>
          <a:prstGeom prst="rect">
            <a:avLst/>
          </a:prstGeom>
          <a:noFill/>
          <a:ln w="9525">
            <a:noFill/>
            <a:miter lim="800000"/>
            <a:headEnd/>
            <a:tailEnd/>
          </a:ln>
        </p:spPr>
        <p:txBody>
          <a:bodyPr wrap="none" lIns="92075" tIns="46038" rIns="92075" bIns="46038">
            <a:spAutoFit/>
          </a:bodyPr>
          <a:lstStyle/>
          <a:p>
            <a:r>
              <a:rPr lang="fr-CA" sz="4800" b="1" i="1" dirty="0">
                <a:solidFill>
                  <a:srgbClr val="FFCC00"/>
                </a:solidFill>
              </a:rPr>
              <a:t>x</a:t>
            </a:r>
          </a:p>
        </p:txBody>
      </p:sp>
      <p:sp>
        <p:nvSpPr>
          <p:cNvPr id="60" name="Text Box 9">
            <a:extLst>
              <a:ext uri="{FF2B5EF4-FFF2-40B4-BE49-F238E27FC236}">
                <a16:creationId xmlns:a16="http://schemas.microsoft.com/office/drawing/2014/main" id="{CF3F17EA-29BD-43AE-B453-0DB82483B36C}"/>
              </a:ext>
            </a:extLst>
          </p:cNvPr>
          <p:cNvSpPr txBox="1">
            <a:spLocks noChangeArrowheads="1"/>
          </p:cNvSpPr>
          <p:nvPr/>
        </p:nvSpPr>
        <p:spPr bwMode="auto">
          <a:xfrm>
            <a:off x="2038350" y="1015187"/>
            <a:ext cx="4799013" cy="707886"/>
          </a:xfrm>
          <a:prstGeom prst="rect">
            <a:avLst/>
          </a:prstGeom>
          <a:ln>
            <a:solidFill>
              <a:schemeClr val="accent3">
                <a:lumMod val="60000"/>
                <a:lumOff val="40000"/>
              </a:schemeClr>
            </a:solidFill>
            <a:headEnd/>
            <a:tailEnd/>
          </a:ln>
          <a:effectLst>
            <a:glow rad="228600">
              <a:schemeClr val="accent3">
                <a:satMod val="175000"/>
                <a:alpha val="40000"/>
              </a:schemeClr>
            </a:glow>
          </a:effectLst>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algn="ctr">
              <a:defRPr/>
            </a:pPr>
            <a:r>
              <a:rPr lang="fr-CA" sz="2000" b="1" i="1" dirty="0">
                <a:solidFill>
                  <a:schemeClr val="bg1"/>
                </a:solidFill>
              </a:rPr>
              <a:t>Prévisions</a:t>
            </a:r>
            <a:br>
              <a:rPr lang="fr-CA" sz="2000" b="1" dirty="0">
                <a:solidFill>
                  <a:schemeClr val="bg1"/>
                </a:solidFill>
              </a:rPr>
            </a:br>
            <a:r>
              <a:rPr lang="fr-CA" sz="2000" b="1" dirty="0">
                <a:solidFill>
                  <a:schemeClr val="bg1"/>
                </a:solidFill>
              </a:rPr>
              <a:t>Demande indépendante</a:t>
            </a:r>
          </a:p>
        </p:txBody>
      </p:sp>
      <p:sp>
        <p:nvSpPr>
          <p:cNvPr id="61" name="Text Box 10">
            <a:extLst>
              <a:ext uri="{FF2B5EF4-FFF2-40B4-BE49-F238E27FC236}">
                <a16:creationId xmlns:a16="http://schemas.microsoft.com/office/drawing/2014/main" id="{FC86A5B5-C55F-42B8-80E9-137A0B5B526A}"/>
              </a:ext>
            </a:extLst>
          </p:cNvPr>
          <p:cNvSpPr txBox="1">
            <a:spLocks noChangeArrowheads="1"/>
          </p:cNvSpPr>
          <p:nvPr/>
        </p:nvSpPr>
        <p:spPr bwMode="auto">
          <a:xfrm>
            <a:off x="2190750" y="4672787"/>
            <a:ext cx="4800600" cy="707886"/>
          </a:xfrm>
          <a:prstGeom prst="rect">
            <a:avLst/>
          </a:prstGeom>
          <a:solidFill>
            <a:schemeClr val="accent5"/>
          </a:solidFill>
          <a:ln w="57150">
            <a:solidFill>
              <a:schemeClr val="accent5">
                <a:lumMod val="40000"/>
                <a:lumOff val="60000"/>
              </a:schemeClr>
            </a:solidFill>
            <a:headEnd/>
            <a:tailEnd/>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defRPr/>
            </a:pPr>
            <a:r>
              <a:rPr lang="fr-CA" sz="2000" b="1" i="1" dirty="0">
                <a:solidFill>
                  <a:schemeClr val="bg1"/>
                </a:solidFill>
              </a:rPr>
              <a:t>Flux intégrés</a:t>
            </a:r>
            <a:br>
              <a:rPr lang="fr-CA" sz="2000" b="1" dirty="0">
                <a:solidFill>
                  <a:schemeClr val="bg1"/>
                </a:solidFill>
              </a:rPr>
            </a:br>
            <a:r>
              <a:rPr lang="fr-CA" sz="2000" b="1" dirty="0">
                <a:solidFill>
                  <a:schemeClr val="bg1"/>
                </a:solidFill>
              </a:rPr>
              <a:t>Demande dépendante</a:t>
            </a:r>
          </a:p>
        </p:txBody>
      </p:sp>
      <p:cxnSp>
        <p:nvCxnSpPr>
          <p:cNvPr id="62" name="AutoShape 11">
            <a:extLst>
              <a:ext uri="{FF2B5EF4-FFF2-40B4-BE49-F238E27FC236}">
                <a16:creationId xmlns:a16="http://schemas.microsoft.com/office/drawing/2014/main" id="{1A34409E-91A5-46AF-87FE-4A200285E0C4}"/>
              </a:ext>
            </a:extLst>
          </p:cNvPr>
          <p:cNvCxnSpPr>
            <a:cxnSpLocks noChangeShapeType="1"/>
            <a:stCxn id="60" idx="3"/>
            <a:endCxn id="73" idx="0"/>
          </p:cNvCxnSpPr>
          <p:nvPr/>
        </p:nvCxnSpPr>
        <p:spPr bwMode="auto">
          <a:xfrm>
            <a:off x="6837363" y="1369130"/>
            <a:ext cx="1106487" cy="1703457"/>
          </a:xfrm>
          <a:prstGeom prst="bentConnector2">
            <a:avLst/>
          </a:prstGeom>
          <a:ln w="57150">
            <a:headEnd type="triangle" w="med" len="med"/>
            <a:tailEnd/>
          </a:ln>
        </p:spPr>
        <p:style>
          <a:lnRef idx="2">
            <a:schemeClr val="accent3">
              <a:shade val="50000"/>
            </a:schemeClr>
          </a:lnRef>
          <a:fillRef idx="1">
            <a:schemeClr val="accent3"/>
          </a:fillRef>
          <a:effectRef idx="0">
            <a:schemeClr val="accent3"/>
          </a:effectRef>
          <a:fontRef idx="minor">
            <a:schemeClr val="lt1"/>
          </a:fontRef>
        </p:style>
      </p:cxnSp>
      <p:grpSp>
        <p:nvGrpSpPr>
          <p:cNvPr id="63" name="Group 12">
            <a:extLst>
              <a:ext uri="{FF2B5EF4-FFF2-40B4-BE49-F238E27FC236}">
                <a16:creationId xmlns:a16="http://schemas.microsoft.com/office/drawing/2014/main" id="{14E081E6-40C2-442F-B33E-FBC4B703E74B}"/>
              </a:ext>
            </a:extLst>
          </p:cNvPr>
          <p:cNvGrpSpPr>
            <a:grpSpLocks/>
          </p:cNvGrpSpPr>
          <p:nvPr/>
        </p:nvGrpSpPr>
        <p:grpSpPr bwMode="auto">
          <a:xfrm>
            <a:off x="3067050" y="4063191"/>
            <a:ext cx="3048000" cy="611188"/>
            <a:chOff x="1932" y="2559"/>
            <a:chExt cx="1920" cy="385"/>
          </a:xfrm>
          <a:solidFill>
            <a:srgbClr val="92D050"/>
          </a:solidFill>
        </p:grpSpPr>
        <p:cxnSp>
          <p:nvCxnSpPr>
            <p:cNvPr id="64" name="AutoShape 13">
              <a:extLst>
                <a:ext uri="{FF2B5EF4-FFF2-40B4-BE49-F238E27FC236}">
                  <a16:creationId xmlns:a16="http://schemas.microsoft.com/office/drawing/2014/main" id="{939E8CED-200F-4EEB-A550-606EAE566A0F}"/>
                </a:ext>
              </a:extLst>
            </p:cNvPr>
            <p:cNvCxnSpPr>
              <a:cxnSpLocks noChangeShapeType="1"/>
              <a:stCxn id="61" idx="0"/>
            </p:cNvCxnSpPr>
            <p:nvPr/>
          </p:nvCxnSpPr>
          <p:spPr bwMode="auto">
            <a:xfrm rot="16200000" flipV="1">
              <a:off x="2220" y="2271"/>
              <a:ext cx="384" cy="960"/>
            </a:xfrm>
            <a:prstGeom prst="bentConnector2">
              <a:avLst/>
            </a:prstGeom>
            <a:grpFill/>
            <a:ln w="57150">
              <a:solidFill>
                <a:srgbClr val="92D050"/>
              </a:solidFill>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5" name="AutoShape 14">
              <a:extLst>
                <a:ext uri="{FF2B5EF4-FFF2-40B4-BE49-F238E27FC236}">
                  <a16:creationId xmlns:a16="http://schemas.microsoft.com/office/drawing/2014/main" id="{8FC86716-09AF-4D5B-AFF8-44B622CD4DCC}"/>
                </a:ext>
              </a:extLst>
            </p:cNvPr>
            <p:cNvCxnSpPr>
              <a:cxnSpLocks noChangeShapeType="1"/>
              <a:stCxn id="61" idx="0"/>
            </p:cNvCxnSpPr>
            <p:nvPr/>
          </p:nvCxnSpPr>
          <p:spPr bwMode="auto">
            <a:xfrm rot="5400000" flipH="1" flipV="1">
              <a:off x="2700" y="2751"/>
              <a:ext cx="384" cy="1"/>
            </a:xfrm>
            <a:prstGeom prst="straightConnector1">
              <a:avLst/>
            </a:prstGeom>
            <a:grpFill/>
            <a:ln w="57150">
              <a:solidFill>
                <a:srgbClr val="92D050"/>
              </a:solidFill>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6" name="AutoShape 15">
              <a:extLst>
                <a:ext uri="{FF2B5EF4-FFF2-40B4-BE49-F238E27FC236}">
                  <a16:creationId xmlns:a16="http://schemas.microsoft.com/office/drawing/2014/main" id="{C820F02A-C24A-4262-9C4C-CD9795115CE7}"/>
                </a:ext>
              </a:extLst>
            </p:cNvPr>
            <p:cNvCxnSpPr>
              <a:cxnSpLocks noChangeShapeType="1"/>
              <a:stCxn id="61" idx="0"/>
            </p:cNvCxnSpPr>
            <p:nvPr/>
          </p:nvCxnSpPr>
          <p:spPr bwMode="auto">
            <a:xfrm rot="5400000" flipH="1" flipV="1">
              <a:off x="3180" y="2271"/>
              <a:ext cx="384" cy="960"/>
            </a:xfrm>
            <a:prstGeom prst="bentConnector2">
              <a:avLst/>
            </a:prstGeom>
            <a:grpFill/>
            <a:ln w="57150">
              <a:solidFill>
                <a:srgbClr val="92D050"/>
              </a:solidFill>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cxnSp>
        <p:nvCxnSpPr>
          <p:cNvPr id="67" name="AutoShape 16">
            <a:extLst>
              <a:ext uri="{FF2B5EF4-FFF2-40B4-BE49-F238E27FC236}">
                <a16:creationId xmlns:a16="http://schemas.microsoft.com/office/drawing/2014/main" id="{82C6AE4E-FA90-4E60-BDC5-135F531A395D}"/>
              </a:ext>
            </a:extLst>
          </p:cNvPr>
          <p:cNvCxnSpPr>
            <a:cxnSpLocks noChangeShapeType="1"/>
            <a:stCxn id="61" idx="1"/>
            <a:endCxn id="60" idx="1"/>
          </p:cNvCxnSpPr>
          <p:nvPr/>
        </p:nvCxnSpPr>
        <p:spPr bwMode="auto">
          <a:xfrm rot="10800000">
            <a:off x="2038350" y="1369130"/>
            <a:ext cx="152400" cy="3657600"/>
          </a:xfrm>
          <a:prstGeom prst="bentConnector3">
            <a:avLst>
              <a:gd name="adj1" fmla="val 523418"/>
            </a:avLst>
          </a:prstGeom>
          <a:ln w="57150">
            <a:headEnd type="triangle" w="med" len="med"/>
            <a:tailEnd/>
          </a:ln>
        </p:spPr>
        <p:style>
          <a:lnRef idx="2">
            <a:schemeClr val="accent3">
              <a:shade val="50000"/>
            </a:schemeClr>
          </a:lnRef>
          <a:fillRef idx="1">
            <a:schemeClr val="accent3"/>
          </a:fillRef>
          <a:effectRef idx="0">
            <a:schemeClr val="accent3"/>
          </a:effectRef>
          <a:fontRef idx="minor">
            <a:schemeClr val="lt1"/>
          </a:fontRef>
        </p:style>
      </p:cxnSp>
      <p:sp>
        <p:nvSpPr>
          <p:cNvPr id="73" name="Oval 22">
            <a:extLst>
              <a:ext uri="{FF2B5EF4-FFF2-40B4-BE49-F238E27FC236}">
                <a16:creationId xmlns:a16="http://schemas.microsoft.com/office/drawing/2014/main" id="{A14D47BF-C2CB-4CE0-960A-2207B3A066FB}"/>
              </a:ext>
            </a:extLst>
          </p:cNvPr>
          <p:cNvSpPr>
            <a:spLocks noChangeArrowheads="1"/>
          </p:cNvSpPr>
          <p:nvPr/>
        </p:nvSpPr>
        <p:spPr bwMode="auto">
          <a:xfrm>
            <a:off x="7524750" y="3072587"/>
            <a:ext cx="838200" cy="685800"/>
          </a:xfrm>
          <a:prstGeom prst="ellipse">
            <a:avLst/>
          </a:prstGeom>
          <a:noFill/>
          <a:ln w="57150">
            <a:solidFill>
              <a:schemeClr val="accent3"/>
            </a:solidFill>
            <a:prstDash val="sysDot"/>
            <a:round/>
            <a:headEnd/>
            <a:tailEnd/>
          </a:ln>
        </p:spPr>
        <p:txBody>
          <a:bodyPr wrap="none" anchor="ctr"/>
          <a:lstStyle/>
          <a:p>
            <a:endParaRPr lang="fr-FR" dirty="0"/>
          </a:p>
        </p:txBody>
      </p:sp>
      <p:sp>
        <p:nvSpPr>
          <p:cNvPr id="74" name="Rectangle 24">
            <a:extLst>
              <a:ext uri="{FF2B5EF4-FFF2-40B4-BE49-F238E27FC236}">
                <a16:creationId xmlns:a16="http://schemas.microsoft.com/office/drawing/2014/main" id="{C4B18CFB-F03E-4EEA-9E89-60FB853244EB}"/>
              </a:ext>
            </a:extLst>
          </p:cNvPr>
          <p:cNvSpPr>
            <a:spLocks noChangeArrowheads="1"/>
          </p:cNvSpPr>
          <p:nvPr/>
        </p:nvSpPr>
        <p:spPr bwMode="auto">
          <a:xfrm>
            <a:off x="1103313" y="1920285"/>
            <a:ext cx="7772400" cy="1162050"/>
          </a:xfrm>
          <a:prstGeom prst="rect">
            <a:avLst/>
          </a:prstGeom>
          <a:solidFill>
            <a:srgbClr val="FFC000"/>
          </a:solidFill>
          <a:ln>
            <a:solidFill>
              <a:srgbClr val="FFC000"/>
            </a:solidFill>
          </a:ln>
          <a:effectLst>
            <a:glow rad="228600">
              <a:schemeClr val="accent4">
                <a:satMod val="175000"/>
                <a:alpha val="40000"/>
              </a:schemeClr>
            </a:glow>
          </a:effectLst>
        </p:spPr>
        <p:style>
          <a:lnRef idx="0">
            <a:scrgbClr r="0" g="0" b="0"/>
          </a:lnRef>
          <a:fillRef idx="0">
            <a:scrgbClr r="0" g="0" b="0"/>
          </a:fillRef>
          <a:effectRef idx="0">
            <a:scrgbClr r="0" g="0" b="0"/>
          </a:effectRef>
          <a:fontRef idx="minor">
            <a:schemeClr val="lt1"/>
          </a:fontRef>
        </p:style>
        <p:txBody>
          <a:bodyPr lIns="92075" tIns="46038" rIns="92075" bIns="46038" anchor="ctr"/>
          <a:lstStyle/>
          <a:p>
            <a:pPr algn="ctr">
              <a:lnSpc>
                <a:spcPct val="80000"/>
              </a:lnSpc>
            </a:pPr>
            <a:r>
              <a:rPr lang="fr-CA" sz="3800" b="1" dirty="0">
                <a:solidFill>
                  <a:schemeClr val="tx1"/>
                </a:solidFill>
              </a:rPr>
              <a:t>Information remplace les stocks</a:t>
            </a:r>
            <a:endParaRPr lang="fr-CA" sz="3800" dirty="0">
              <a:solidFill>
                <a:schemeClr val="tx1"/>
              </a:solidFill>
            </a:endParaRPr>
          </a:p>
        </p:txBody>
      </p:sp>
    </p:spTree>
    <p:extLst>
      <p:ext uri="{BB962C8B-B14F-4D97-AF65-F5344CB8AC3E}">
        <p14:creationId xmlns:p14="http://schemas.microsoft.com/office/powerpoint/2010/main" val="23734694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arn(outVertical)">
                                      <p:cBhvr>
                                        <p:cTn id="7" dur="500"/>
                                        <p:tgtEl>
                                          <p:spTgt spid="57"/>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barn(outVertical)">
                                      <p:cBhvr>
                                        <p:cTn id="11" dur="500"/>
                                        <p:tgtEl>
                                          <p:spTgt spid="58"/>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barn(outVertical)">
                                      <p:cBhvr>
                                        <p:cTn id="15" dur="500"/>
                                        <p:tgtEl>
                                          <p:spTgt spid="59"/>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dissolve">
                                      <p:cBhvr>
                                        <p:cTn id="19" dur="500"/>
                                        <p:tgtEl>
                                          <p:spTgt spid="73"/>
                                        </p:tgtEl>
                                      </p:cBhvr>
                                    </p:animEffect>
                                  </p:childTnLst>
                                </p:cTn>
                              </p:par>
                              <p:par>
                                <p:cTn id="20" presetID="17" presetClass="entr" presetSubtype="4" fill="hold" nodeType="withEffect">
                                  <p:stCondLst>
                                    <p:cond delay="0"/>
                                  </p:stCondLst>
                                  <p:childTnLst>
                                    <p:set>
                                      <p:cBhvr>
                                        <p:cTn id="21" dur="1" fill="hold">
                                          <p:stCondLst>
                                            <p:cond delay="0"/>
                                          </p:stCondLst>
                                        </p:cTn>
                                        <p:tgtEl>
                                          <p:spTgt spid="62"/>
                                        </p:tgtEl>
                                        <p:attrNameLst>
                                          <p:attrName>style.visibility</p:attrName>
                                        </p:attrNameLst>
                                      </p:cBhvr>
                                      <p:to>
                                        <p:strVal val="visible"/>
                                      </p:to>
                                    </p:set>
                                    <p:anim calcmode="lin" valueType="num">
                                      <p:cBhvr>
                                        <p:cTn id="22" dur="500" fill="hold"/>
                                        <p:tgtEl>
                                          <p:spTgt spid="62"/>
                                        </p:tgtEl>
                                        <p:attrNameLst>
                                          <p:attrName>ppt_x</p:attrName>
                                        </p:attrNameLst>
                                      </p:cBhvr>
                                      <p:tavLst>
                                        <p:tav tm="0">
                                          <p:val>
                                            <p:strVal val="#ppt_x"/>
                                          </p:val>
                                        </p:tav>
                                        <p:tav tm="100000">
                                          <p:val>
                                            <p:strVal val="#ppt_x"/>
                                          </p:val>
                                        </p:tav>
                                      </p:tavLst>
                                    </p:anim>
                                    <p:anim calcmode="lin" valueType="num">
                                      <p:cBhvr>
                                        <p:cTn id="23" dur="500" fill="hold"/>
                                        <p:tgtEl>
                                          <p:spTgt spid="62"/>
                                        </p:tgtEl>
                                        <p:attrNameLst>
                                          <p:attrName>ppt_y</p:attrName>
                                        </p:attrNameLst>
                                      </p:cBhvr>
                                      <p:tavLst>
                                        <p:tav tm="0">
                                          <p:val>
                                            <p:strVal val="#ppt_y+#ppt_h/2"/>
                                          </p:val>
                                        </p:tav>
                                        <p:tav tm="100000">
                                          <p:val>
                                            <p:strVal val="#ppt_y"/>
                                          </p:val>
                                        </p:tav>
                                      </p:tavLst>
                                    </p:anim>
                                    <p:anim calcmode="lin" valueType="num">
                                      <p:cBhvr>
                                        <p:cTn id="24" dur="500" fill="hold"/>
                                        <p:tgtEl>
                                          <p:spTgt spid="62"/>
                                        </p:tgtEl>
                                        <p:attrNameLst>
                                          <p:attrName>ppt_w</p:attrName>
                                        </p:attrNameLst>
                                      </p:cBhvr>
                                      <p:tavLst>
                                        <p:tav tm="0">
                                          <p:val>
                                            <p:strVal val="#ppt_w"/>
                                          </p:val>
                                        </p:tav>
                                        <p:tav tm="100000">
                                          <p:val>
                                            <p:strVal val="#ppt_w"/>
                                          </p:val>
                                        </p:tav>
                                      </p:tavLst>
                                    </p:anim>
                                    <p:anim calcmode="lin" valueType="num">
                                      <p:cBhvr>
                                        <p:cTn id="25" dur="500" fill="hold"/>
                                        <p:tgtEl>
                                          <p:spTgt spid="62"/>
                                        </p:tgtEl>
                                        <p:attrNameLst>
                                          <p:attrName>ppt_h</p:attrName>
                                        </p:attrNameLst>
                                      </p:cBhvr>
                                      <p:tavLst>
                                        <p:tav tm="0">
                                          <p:val>
                                            <p:fltVal val="0"/>
                                          </p:val>
                                        </p:tav>
                                        <p:tav tm="100000">
                                          <p:val>
                                            <p:strVal val="#ppt_h"/>
                                          </p:val>
                                        </p:tav>
                                      </p:tavLst>
                                    </p:anim>
                                  </p:childTnLst>
                                </p:cTn>
                              </p:par>
                              <p:par>
                                <p:cTn id="26" presetID="9" presetClass="entr" presetSubtype="0" fill="hold" grpId="0" nodeType="with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dissolve">
                                      <p:cBhvr>
                                        <p:cTn id="28" dur="500"/>
                                        <p:tgtEl>
                                          <p:spTgt spid="60"/>
                                        </p:tgtEl>
                                      </p:cBhvr>
                                    </p:animEffect>
                                  </p:childTnLst>
                                </p:cTn>
                              </p:par>
                              <p:par>
                                <p:cTn id="29" presetID="17" presetClass="entr" presetSubtype="1" fill="hold" nodeType="withEffect">
                                  <p:stCondLst>
                                    <p:cond delay="0"/>
                                  </p:stCondLst>
                                  <p:childTnLst>
                                    <p:set>
                                      <p:cBhvr>
                                        <p:cTn id="30" dur="1" fill="hold">
                                          <p:stCondLst>
                                            <p:cond delay="0"/>
                                          </p:stCondLst>
                                        </p:cTn>
                                        <p:tgtEl>
                                          <p:spTgt spid="67"/>
                                        </p:tgtEl>
                                        <p:attrNameLst>
                                          <p:attrName>style.visibility</p:attrName>
                                        </p:attrNameLst>
                                      </p:cBhvr>
                                      <p:to>
                                        <p:strVal val="visible"/>
                                      </p:to>
                                    </p:set>
                                    <p:anim calcmode="lin" valueType="num">
                                      <p:cBhvr>
                                        <p:cTn id="31" dur="500" fill="hold"/>
                                        <p:tgtEl>
                                          <p:spTgt spid="67"/>
                                        </p:tgtEl>
                                        <p:attrNameLst>
                                          <p:attrName>ppt_x</p:attrName>
                                        </p:attrNameLst>
                                      </p:cBhvr>
                                      <p:tavLst>
                                        <p:tav tm="0">
                                          <p:val>
                                            <p:strVal val="#ppt_x"/>
                                          </p:val>
                                        </p:tav>
                                        <p:tav tm="100000">
                                          <p:val>
                                            <p:strVal val="#ppt_x"/>
                                          </p:val>
                                        </p:tav>
                                      </p:tavLst>
                                    </p:anim>
                                    <p:anim calcmode="lin" valueType="num">
                                      <p:cBhvr>
                                        <p:cTn id="32" dur="500" fill="hold"/>
                                        <p:tgtEl>
                                          <p:spTgt spid="67"/>
                                        </p:tgtEl>
                                        <p:attrNameLst>
                                          <p:attrName>ppt_y</p:attrName>
                                        </p:attrNameLst>
                                      </p:cBhvr>
                                      <p:tavLst>
                                        <p:tav tm="0">
                                          <p:val>
                                            <p:strVal val="#ppt_y-#ppt_h/2"/>
                                          </p:val>
                                        </p:tav>
                                        <p:tav tm="100000">
                                          <p:val>
                                            <p:strVal val="#ppt_y"/>
                                          </p:val>
                                        </p:tav>
                                      </p:tavLst>
                                    </p:anim>
                                    <p:anim calcmode="lin" valueType="num">
                                      <p:cBhvr>
                                        <p:cTn id="33" dur="500" fill="hold"/>
                                        <p:tgtEl>
                                          <p:spTgt spid="67"/>
                                        </p:tgtEl>
                                        <p:attrNameLst>
                                          <p:attrName>ppt_w</p:attrName>
                                        </p:attrNameLst>
                                      </p:cBhvr>
                                      <p:tavLst>
                                        <p:tav tm="0">
                                          <p:val>
                                            <p:strVal val="#ppt_w"/>
                                          </p:val>
                                        </p:tav>
                                        <p:tav tm="100000">
                                          <p:val>
                                            <p:strVal val="#ppt_w"/>
                                          </p:val>
                                        </p:tav>
                                      </p:tavLst>
                                    </p:anim>
                                    <p:anim calcmode="lin" valueType="num">
                                      <p:cBhvr>
                                        <p:cTn id="34" dur="500" fill="hold"/>
                                        <p:tgtEl>
                                          <p:spTgt spid="67"/>
                                        </p:tgtEl>
                                        <p:attrNameLst>
                                          <p:attrName>ppt_h</p:attrName>
                                        </p:attrNameLst>
                                      </p:cBhvr>
                                      <p:tavLst>
                                        <p:tav tm="0">
                                          <p:val>
                                            <p:fltVal val="0"/>
                                          </p:val>
                                        </p:tav>
                                        <p:tav tm="100000">
                                          <p:val>
                                            <p:strVal val="#ppt_h"/>
                                          </p:val>
                                        </p:tav>
                                      </p:tavLst>
                                    </p:anim>
                                  </p:childTnLst>
                                </p:cTn>
                              </p:par>
                              <p:par>
                                <p:cTn id="35" presetID="9" presetClass="entr" presetSubtype="0" fill="hold" grpId="0" nodeType="with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dissolve">
                                      <p:cBhvr>
                                        <p:cTn id="37" dur="500"/>
                                        <p:tgtEl>
                                          <p:spTgt spid="61"/>
                                        </p:tgtEl>
                                      </p:cBhvr>
                                    </p:animEffect>
                                  </p:childTnLst>
                                </p:cTn>
                              </p:par>
                              <p:par>
                                <p:cTn id="38" presetID="17" presetClass="entr" presetSubtype="4" fill="hold" nodeType="withEffect">
                                  <p:stCondLst>
                                    <p:cond delay="0"/>
                                  </p:stCondLst>
                                  <p:childTnLst>
                                    <p:set>
                                      <p:cBhvr>
                                        <p:cTn id="39" dur="1" fill="hold">
                                          <p:stCondLst>
                                            <p:cond delay="0"/>
                                          </p:stCondLst>
                                        </p:cTn>
                                        <p:tgtEl>
                                          <p:spTgt spid="63"/>
                                        </p:tgtEl>
                                        <p:attrNameLst>
                                          <p:attrName>style.visibility</p:attrName>
                                        </p:attrNameLst>
                                      </p:cBhvr>
                                      <p:to>
                                        <p:strVal val="visible"/>
                                      </p:to>
                                    </p:set>
                                    <p:anim calcmode="lin" valueType="num">
                                      <p:cBhvr>
                                        <p:cTn id="40" dur="500" fill="hold"/>
                                        <p:tgtEl>
                                          <p:spTgt spid="63"/>
                                        </p:tgtEl>
                                        <p:attrNameLst>
                                          <p:attrName>ppt_x</p:attrName>
                                        </p:attrNameLst>
                                      </p:cBhvr>
                                      <p:tavLst>
                                        <p:tav tm="0">
                                          <p:val>
                                            <p:strVal val="#ppt_x"/>
                                          </p:val>
                                        </p:tav>
                                        <p:tav tm="100000">
                                          <p:val>
                                            <p:strVal val="#ppt_x"/>
                                          </p:val>
                                        </p:tav>
                                      </p:tavLst>
                                    </p:anim>
                                    <p:anim calcmode="lin" valueType="num">
                                      <p:cBhvr>
                                        <p:cTn id="41" dur="500" fill="hold"/>
                                        <p:tgtEl>
                                          <p:spTgt spid="63"/>
                                        </p:tgtEl>
                                        <p:attrNameLst>
                                          <p:attrName>ppt_y</p:attrName>
                                        </p:attrNameLst>
                                      </p:cBhvr>
                                      <p:tavLst>
                                        <p:tav tm="0">
                                          <p:val>
                                            <p:strVal val="#ppt_y+#ppt_h/2"/>
                                          </p:val>
                                        </p:tav>
                                        <p:tav tm="100000">
                                          <p:val>
                                            <p:strVal val="#ppt_y"/>
                                          </p:val>
                                        </p:tav>
                                      </p:tavLst>
                                    </p:anim>
                                    <p:anim calcmode="lin" valueType="num">
                                      <p:cBhvr>
                                        <p:cTn id="42" dur="500" fill="hold"/>
                                        <p:tgtEl>
                                          <p:spTgt spid="63"/>
                                        </p:tgtEl>
                                        <p:attrNameLst>
                                          <p:attrName>ppt_w</p:attrName>
                                        </p:attrNameLst>
                                      </p:cBhvr>
                                      <p:tavLst>
                                        <p:tav tm="0">
                                          <p:val>
                                            <p:strVal val="#ppt_w"/>
                                          </p:val>
                                        </p:tav>
                                        <p:tav tm="100000">
                                          <p:val>
                                            <p:strVal val="#ppt_w"/>
                                          </p:val>
                                        </p:tav>
                                      </p:tavLst>
                                    </p:anim>
                                    <p:anim calcmode="lin" valueType="num">
                                      <p:cBhvr>
                                        <p:cTn id="43"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1" fill="hold" grpId="0" nodeType="clickEffect">
                                  <p:stCondLst>
                                    <p:cond delay="0"/>
                                  </p:stCondLst>
                                  <p:childTnLst>
                                    <p:set>
                                      <p:cBhvr>
                                        <p:cTn id="47" dur="1" fill="hold">
                                          <p:stCondLst>
                                            <p:cond delay="0"/>
                                          </p:stCondLst>
                                        </p:cTn>
                                        <p:tgtEl>
                                          <p:spTgt spid="74"/>
                                        </p:tgtEl>
                                        <p:attrNameLst>
                                          <p:attrName>style.visibility</p:attrName>
                                        </p:attrNameLst>
                                      </p:cBhvr>
                                      <p:to>
                                        <p:strVal val="visible"/>
                                      </p:to>
                                    </p:set>
                                    <p:anim calcmode="lin" valueType="num">
                                      <p:cBhvr additive="base">
                                        <p:cTn id="48" dur="500" fill="hold"/>
                                        <p:tgtEl>
                                          <p:spTgt spid="74"/>
                                        </p:tgtEl>
                                        <p:attrNameLst>
                                          <p:attrName>ppt_x</p:attrName>
                                        </p:attrNameLst>
                                      </p:cBhvr>
                                      <p:tavLst>
                                        <p:tav tm="0">
                                          <p:val>
                                            <p:strVal val="#ppt_x"/>
                                          </p:val>
                                        </p:tav>
                                        <p:tav tm="100000">
                                          <p:val>
                                            <p:strVal val="#ppt_x"/>
                                          </p:val>
                                        </p:tav>
                                      </p:tavLst>
                                    </p:anim>
                                    <p:anim calcmode="lin" valueType="num">
                                      <p:cBhvr additive="base">
                                        <p:cTn id="49" dur="500" fill="hold"/>
                                        <p:tgtEl>
                                          <p:spTgt spid="7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utoUpdateAnimBg="0"/>
      <p:bldP spid="58" grpId="0" autoUpdateAnimBg="0"/>
      <p:bldP spid="59" grpId="0" autoUpdateAnimBg="0"/>
      <p:bldP spid="60" grpId="0" animBg="1" autoUpdateAnimBg="0"/>
      <p:bldP spid="61" grpId="0" animBg="1" autoUpdateAnimBg="0"/>
      <p:bldP spid="73" grpId="0" animBg="1"/>
      <p:bldP spid="74"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1600" i="1" dirty="0"/>
              <a:t>Exercice</a:t>
            </a:r>
            <a:br>
              <a:rPr lang="fr-CA" dirty="0"/>
            </a:br>
            <a:r>
              <a:rPr lang="fr-CA" dirty="0"/>
              <a:t>Griffin </a:t>
            </a:r>
            <a:r>
              <a:rPr lang="fr-CA" dirty="0" err="1"/>
              <a:t>Manufacturing</a:t>
            </a:r>
            <a:r>
              <a:rPr lang="fr-CA" dirty="0"/>
              <a:t> (p. 294)</a:t>
            </a:r>
          </a:p>
        </p:txBody>
      </p:sp>
      <p:pic>
        <p:nvPicPr>
          <p:cNvPr id="1026" name="Picture 2" descr="Champion Logo - Télécharger PNG et vecteur">
            <a:extLst>
              <a:ext uri="{FF2B5EF4-FFF2-40B4-BE49-F238E27FC236}">
                <a16:creationId xmlns:a16="http://schemas.microsoft.com/office/drawing/2014/main" id="{C9788F1F-82C4-D867-265F-376AD6669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829" y="4955886"/>
            <a:ext cx="3403599" cy="651470"/>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 14">
            <a:extLst>
              <a:ext uri="{FF2B5EF4-FFF2-40B4-BE49-F238E27FC236}">
                <a16:creationId xmlns:a16="http://schemas.microsoft.com/office/drawing/2014/main" id="{F308DE56-9C45-99B2-297F-81DC512BF368}"/>
              </a:ext>
            </a:extLst>
          </p:cNvPr>
          <p:cNvPicPr>
            <a:picLocks noChangeAspect="1"/>
          </p:cNvPicPr>
          <p:nvPr/>
        </p:nvPicPr>
        <p:blipFill>
          <a:blip r:embed="rId4"/>
          <a:stretch>
            <a:fillRect/>
          </a:stretch>
        </p:blipFill>
        <p:spPr>
          <a:xfrm>
            <a:off x="366485" y="1885286"/>
            <a:ext cx="9427029" cy="256475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1600" i="1" dirty="0"/>
              <a:t>Exercice</a:t>
            </a:r>
            <a:br>
              <a:rPr lang="fr-CA" dirty="0"/>
            </a:br>
            <a:r>
              <a:rPr lang="fr-CA" dirty="0"/>
              <a:t>Griffin </a:t>
            </a:r>
            <a:r>
              <a:rPr lang="fr-CA" dirty="0" err="1"/>
              <a:t>Manufacturing</a:t>
            </a:r>
            <a:r>
              <a:rPr lang="fr-CA" dirty="0"/>
              <a:t> (p. 294)</a:t>
            </a:r>
          </a:p>
        </p:txBody>
      </p:sp>
      <p:pic>
        <p:nvPicPr>
          <p:cNvPr id="5" name="Image 4">
            <a:extLst>
              <a:ext uri="{FF2B5EF4-FFF2-40B4-BE49-F238E27FC236}">
                <a16:creationId xmlns:a16="http://schemas.microsoft.com/office/drawing/2014/main" id="{47D6E0EE-0BCF-4A78-CE08-FB2EA8787664}"/>
              </a:ext>
            </a:extLst>
          </p:cNvPr>
          <p:cNvPicPr>
            <a:picLocks noChangeAspect="1"/>
          </p:cNvPicPr>
          <p:nvPr/>
        </p:nvPicPr>
        <p:blipFill>
          <a:blip r:embed="rId3"/>
          <a:stretch>
            <a:fillRect/>
          </a:stretch>
        </p:blipFill>
        <p:spPr>
          <a:xfrm>
            <a:off x="125835" y="2206256"/>
            <a:ext cx="10160000" cy="2393058"/>
          </a:xfrm>
          <a:prstGeom prst="rect">
            <a:avLst/>
          </a:prstGeom>
        </p:spPr>
      </p:pic>
    </p:spTree>
    <p:extLst>
      <p:ext uri="{BB962C8B-B14F-4D97-AF65-F5344CB8AC3E}">
        <p14:creationId xmlns:p14="http://schemas.microsoft.com/office/powerpoint/2010/main" val="14997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471BBC-F5ED-4112-A171-F72B495AB789}"/>
              </a:ext>
            </a:extLst>
          </p:cNvPr>
          <p:cNvSpPr>
            <a:spLocks noGrp="1"/>
          </p:cNvSpPr>
          <p:nvPr>
            <p:ph type="title"/>
          </p:nvPr>
        </p:nvSpPr>
        <p:spPr/>
        <p:txBody>
          <a:bodyPr/>
          <a:lstStyle/>
          <a:p>
            <a:r>
              <a:rPr lang="fr-CA" dirty="0"/>
              <a:t>Questions…</a:t>
            </a:r>
          </a:p>
        </p:txBody>
      </p:sp>
      <p:grpSp>
        <p:nvGrpSpPr>
          <p:cNvPr id="5" name="Group 138">
            <a:extLst>
              <a:ext uri="{FF2B5EF4-FFF2-40B4-BE49-F238E27FC236}">
                <a16:creationId xmlns:a16="http://schemas.microsoft.com/office/drawing/2014/main" id="{58B95182-4054-43D5-805D-EA019D19B037}"/>
              </a:ext>
            </a:extLst>
          </p:cNvPr>
          <p:cNvGrpSpPr/>
          <p:nvPr/>
        </p:nvGrpSpPr>
        <p:grpSpPr>
          <a:xfrm>
            <a:off x="4374561" y="1844623"/>
            <a:ext cx="1977212" cy="2921741"/>
            <a:chOff x="8704441" y="2571694"/>
            <a:chExt cx="7028256" cy="10385705"/>
          </a:xfrm>
        </p:grpSpPr>
        <p:sp>
          <p:nvSpPr>
            <p:cNvPr id="6" name="Shape 34173">
              <a:extLst>
                <a:ext uri="{FF2B5EF4-FFF2-40B4-BE49-F238E27FC236}">
                  <a16:creationId xmlns:a16="http://schemas.microsoft.com/office/drawing/2014/main" id="{54F8AFD0-226B-45AF-A0F9-4E5B60DD3D2D}"/>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7" name="Shape 34174">
              <a:extLst>
                <a:ext uri="{FF2B5EF4-FFF2-40B4-BE49-F238E27FC236}">
                  <a16:creationId xmlns:a16="http://schemas.microsoft.com/office/drawing/2014/main" id="{68128151-2760-45B8-97EA-5230D64C08CC}"/>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 name="Shape 34175">
              <a:extLst>
                <a:ext uri="{FF2B5EF4-FFF2-40B4-BE49-F238E27FC236}">
                  <a16:creationId xmlns:a16="http://schemas.microsoft.com/office/drawing/2014/main" id="{1D7F4211-594B-47C9-8DCD-A4BCD12E586A}"/>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 name="Shape 34176">
              <a:extLst>
                <a:ext uri="{FF2B5EF4-FFF2-40B4-BE49-F238E27FC236}">
                  <a16:creationId xmlns:a16="http://schemas.microsoft.com/office/drawing/2014/main" id="{E160DC46-78C8-4C98-9610-BC7760A49598}"/>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0" name="Shape 34177">
              <a:extLst>
                <a:ext uri="{FF2B5EF4-FFF2-40B4-BE49-F238E27FC236}">
                  <a16:creationId xmlns:a16="http://schemas.microsoft.com/office/drawing/2014/main" id="{78E9A327-153C-4224-85C0-1ACC89739B8D}"/>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1" name="Shape 34178">
              <a:extLst>
                <a:ext uri="{FF2B5EF4-FFF2-40B4-BE49-F238E27FC236}">
                  <a16:creationId xmlns:a16="http://schemas.microsoft.com/office/drawing/2014/main" id="{4F678B15-F002-4E8B-9DFF-E999A7B29C8E}"/>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12" name="Shape 34179">
              <a:extLst>
                <a:ext uri="{FF2B5EF4-FFF2-40B4-BE49-F238E27FC236}">
                  <a16:creationId xmlns:a16="http://schemas.microsoft.com/office/drawing/2014/main" id="{B640C1FD-64C6-481E-8CA6-1F579DB7BF97}"/>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3" name="Shape 34180">
              <a:extLst>
                <a:ext uri="{FF2B5EF4-FFF2-40B4-BE49-F238E27FC236}">
                  <a16:creationId xmlns:a16="http://schemas.microsoft.com/office/drawing/2014/main" id="{FC0527D6-D884-408F-BA36-9B4D6D2454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14" name="Shape 34181">
              <a:extLst>
                <a:ext uri="{FF2B5EF4-FFF2-40B4-BE49-F238E27FC236}">
                  <a16:creationId xmlns:a16="http://schemas.microsoft.com/office/drawing/2014/main" id="{D20E22D0-E6B4-4E74-BCC9-D24F167314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5" name="Shape 34182">
              <a:extLst>
                <a:ext uri="{FF2B5EF4-FFF2-40B4-BE49-F238E27FC236}">
                  <a16:creationId xmlns:a16="http://schemas.microsoft.com/office/drawing/2014/main" id="{32FA501B-5962-4484-8A0B-34C400BFD48A}"/>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6" name="Shape 34183">
              <a:extLst>
                <a:ext uri="{FF2B5EF4-FFF2-40B4-BE49-F238E27FC236}">
                  <a16:creationId xmlns:a16="http://schemas.microsoft.com/office/drawing/2014/main" id="{742CAAEB-DCDA-49D9-BEDF-A0DEC236B988}"/>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7" name="Shape 34184">
              <a:extLst>
                <a:ext uri="{FF2B5EF4-FFF2-40B4-BE49-F238E27FC236}">
                  <a16:creationId xmlns:a16="http://schemas.microsoft.com/office/drawing/2014/main" id="{E69921C6-AB16-4677-B9C6-0FA4349CB779}"/>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8" name="Shape 34185">
              <a:extLst>
                <a:ext uri="{FF2B5EF4-FFF2-40B4-BE49-F238E27FC236}">
                  <a16:creationId xmlns:a16="http://schemas.microsoft.com/office/drawing/2014/main" id="{915AC7A9-5EEC-49B9-8FB0-0DE814528FC9}"/>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9" name="Shape 34186">
              <a:extLst>
                <a:ext uri="{FF2B5EF4-FFF2-40B4-BE49-F238E27FC236}">
                  <a16:creationId xmlns:a16="http://schemas.microsoft.com/office/drawing/2014/main" id="{01F8225B-CB5F-44AD-8D3C-936834D1EE0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0" name="Shape 34187">
              <a:extLst>
                <a:ext uri="{FF2B5EF4-FFF2-40B4-BE49-F238E27FC236}">
                  <a16:creationId xmlns:a16="http://schemas.microsoft.com/office/drawing/2014/main" id="{508E7D9F-4C55-4457-9A82-9323CFD93CC4}"/>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1" name="Shape 34188">
              <a:extLst>
                <a:ext uri="{FF2B5EF4-FFF2-40B4-BE49-F238E27FC236}">
                  <a16:creationId xmlns:a16="http://schemas.microsoft.com/office/drawing/2014/main" id="{AF834B20-31C8-4541-8AFF-BE903C61AFB9}"/>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2" name="Shape 34189">
              <a:extLst>
                <a:ext uri="{FF2B5EF4-FFF2-40B4-BE49-F238E27FC236}">
                  <a16:creationId xmlns:a16="http://schemas.microsoft.com/office/drawing/2014/main" id="{5949C4E4-0034-4793-B722-E118F56CE1EB}"/>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3" name="Shape 34190">
              <a:extLst>
                <a:ext uri="{FF2B5EF4-FFF2-40B4-BE49-F238E27FC236}">
                  <a16:creationId xmlns:a16="http://schemas.microsoft.com/office/drawing/2014/main" id="{FD9E14DF-FF37-4D75-8894-9782E6DCA385}"/>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4" name="Shape 34191">
              <a:extLst>
                <a:ext uri="{FF2B5EF4-FFF2-40B4-BE49-F238E27FC236}">
                  <a16:creationId xmlns:a16="http://schemas.microsoft.com/office/drawing/2014/main" id="{F4942482-7233-443A-AAB6-CA040D8409AD}"/>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5" name="Shape 34192">
              <a:extLst>
                <a:ext uri="{FF2B5EF4-FFF2-40B4-BE49-F238E27FC236}">
                  <a16:creationId xmlns:a16="http://schemas.microsoft.com/office/drawing/2014/main" id="{07714D24-2224-4987-B8A2-EC92E8A8742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6" name="Shape 34193">
              <a:extLst>
                <a:ext uri="{FF2B5EF4-FFF2-40B4-BE49-F238E27FC236}">
                  <a16:creationId xmlns:a16="http://schemas.microsoft.com/office/drawing/2014/main" id="{DDF36766-BCCB-459F-B724-146EF781845E}"/>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27" name="Shape 34194">
              <a:extLst>
                <a:ext uri="{FF2B5EF4-FFF2-40B4-BE49-F238E27FC236}">
                  <a16:creationId xmlns:a16="http://schemas.microsoft.com/office/drawing/2014/main" id="{C5400AA8-A391-44FC-8823-49C108D41F3D}"/>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8" name="Shape 34195">
              <a:extLst>
                <a:ext uri="{FF2B5EF4-FFF2-40B4-BE49-F238E27FC236}">
                  <a16:creationId xmlns:a16="http://schemas.microsoft.com/office/drawing/2014/main" id="{89493208-37CF-4438-8A6C-1355E00BDC30}"/>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9" name="Shape 34196">
              <a:extLst>
                <a:ext uri="{FF2B5EF4-FFF2-40B4-BE49-F238E27FC236}">
                  <a16:creationId xmlns:a16="http://schemas.microsoft.com/office/drawing/2014/main" id="{ADE7D283-5173-4665-AF59-5196E59E95AE}"/>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30" name="Shape 34197">
              <a:extLst>
                <a:ext uri="{FF2B5EF4-FFF2-40B4-BE49-F238E27FC236}">
                  <a16:creationId xmlns:a16="http://schemas.microsoft.com/office/drawing/2014/main" id="{23CCC0A9-B271-4803-AC68-EABB90218338}"/>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1" name="Shape 34198">
              <a:extLst>
                <a:ext uri="{FF2B5EF4-FFF2-40B4-BE49-F238E27FC236}">
                  <a16:creationId xmlns:a16="http://schemas.microsoft.com/office/drawing/2014/main" id="{9C7DEE4C-4587-42CB-AB87-BB05A9F7F65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2" name="Shape 34199">
              <a:extLst>
                <a:ext uri="{FF2B5EF4-FFF2-40B4-BE49-F238E27FC236}">
                  <a16:creationId xmlns:a16="http://schemas.microsoft.com/office/drawing/2014/main" id="{9A6BA983-5334-41C3-8D36-D4793119FC43}"/>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rgbClr val="00B0F0"/>
            </a:solidFill>
            <a:ln w="12700" cap="flat">
              <a:solidFill>
                <a:schemeClr val="bg1"/>
              </a:solid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3" name="Shape 34200">
              <a:extLst>
                <a:ext uri="{FF2B5EF4-FFF2-40B4-BE49-F238E27FC236}">
                  <a16:creationId xmlns:a16="http://schemas.microsoft.com/office/drawing/2014/main" id="{443ECE95-13D9-4034-8245-4A83768A0116}"/>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4" name="Shape 34201">
              <a:extLst>
                <a:ext uri="{FF2B5EF4-FFF2-40B4-BE49-F238E27FC236}">
                  <a16:creationId xmlns:a16="http://schemas.microsoft.com/office/drawing/2014/main" id="{FF4B6CEF-AE43-490A-BE31-6AF6D492B235}"/>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5" name="Shape 34202">
              <a:extLst>
                <a:ext uri="{FF2B5EF4-FFF2-40B4-BE49-F238E27FC236}">
                  <a16:creationId xmlns:a16="http://schemas.microsoft.com/office/drawing/2014/main" id="{0A6FDF2A-C25B-4F2A-B306-406E04B24058}"/>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6" name="Shape 34203">
              <a:extLst>
                <a:ext uri="{FF2B5EF4-FFF2-40B4-BE49-F238E27FC236}">
                  <a16:creationId xmlns:a16="http://schemas.microsoft.com/office/drawing/2014/main" id="{431603F6-8459-4931-A432-DD60F1AF30A1}"/>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7" name="Shape 34204">
              <a:extLst>
                <a:ext uri="{FF2B5EF4-FFF2-40B4-BE49-F238E27FC236}">
                  <a16:creationId xmlns:a16="http://schemas.microsoft.com/office/drawing/2014/main" id="{9665CD0A-DDE4-46A5-B551-E7F148138D88}"/>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8" name="Shape 34205">
              <a:extLst>
                <a:ext uri="{FF2B5EF4-FFF2-40B4-BE49-F238E27FC236}">
                  <a16:creationId xmlns:a16="http://schemas.microsoft.com/office/drawing/2014/main" id="{CC09C2DA-6F17-41BE-9A24-0BF1A400F0D4}"/>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9" name="Shape 34206">
              <a:extLst>
                <a:ext uri="{FF2B5EF4-FFF2-40B4-BE49-F238E27FC236}">
                  <a16:creationId xmlns:a16="http://schemas.microsoft.com/office/drawing/2014/main" id="{D54A38B7-B7A3-4D26-B18D-D2F9E1DEF86E}"/>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0" name="Shape 34207">
              <a:extLst>
                <a:ext uri="{FF2B5EF4-FFF2-40B4-BE49-F238E27FC236}">
                  <a16:creationId xmlns:a16="http://schemas.microsoft.com/office/drawing/2014/main" id="{900B87C9-6CD9-41B0-A616-57EC0EC0FAB9}"/>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1" name="Shape 34208">
              <a:extLst>
                <a:ext uri="{FF2B5EF4-FFF2-40B4-BE49-F238E27FC236}">
                  <a16:creationId xmlns:a16="http://schemas.microsoft.com/office/drawing/2014/main" id="{FF9E974C-3C6B-48EE-9765-B1BD62EDEBBB}"/>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2" name="Shape 34209">
              <a:extLst>
                <a:ext uri="{FF2B5EF4-FFF2-40B4-BE49-F238E27FC236}">
                  <a16:creationId xmlns:a16="http://schemas.microsoft.com/office/drawing/2014/main" id="{195891F6-456F-487D-9A31-3205CFC000A0}"/>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3" name="Shape 34210">
              <a:extLst>
                <a:ext uri="{FF2B5EF4-FFF2-40B4-BE49-F238E27FC236}">
                  <a16:creationId xmlns:a16="http://schemas.microsoft.com/office/drawing/2014/main" id="{CFD870BB-6E85-41C6-B8B8-07CBF8452CDC}"/>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4" name="Shape 34211">
              <a:extLst>
                <a:ext uri="{FF2B5EF4-FFF2-40B4-BE49-F238E27FC236}">
                  <a16:creationId xmlns:a16="http://schemas.microsoft.com/office/drawing/2014/main" id="{2D449E41-EBF7-496F-9601-C0F4A60948A8}"/>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5" name="Shape 34212">
              <a:extLst>
                <a:ext uri="{FF2B5EF4-FFF2-40B4-BE49-F238E27FC236}">
                  <a16:creationId xmlns:a16="http://schemas.microsoft.com/office/drawing/2014/main" id="{813003F3-1906-4BE1-B321-391211951EE5}"/>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6" name="Shape 34213">
              <a:extLst>
                <a:ext uri="{FF2B5EF4-FFF2-40B4-BE49-F238E27FC236}">
                  <a16:creationId xmlns:a16="http://schemas.microsoft.com/office/drawing/2014/main" id="{705BA8CC-9DB8-4EEE-803C-5584FEF8DA66}"/>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7" name="Shape 34214">
              <a:extLst>
                <a:ext uri="{FF2B5EF4-FFF2-40B4-BE49-F238E27FC236}">
                  <a16:creationId xmlns:a16="http://schemas.microsoft.com/office/drawing/2014/main" id="{F73E10A1-09BB-4382-9807-86674549F2EF}"/>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8" name="Shape 34215">
              <a:extLst>
                <a:ext uri="{FF2B5EF4-FFF2-40B4-BE49-F238E27FC236}">
                  <a16:creationId xmlns:a16="http://schemas.microsoft.com/office/drawing/2014/main" id="{C7403A64-F206-4EFB-AC82-F990191C5DB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49" name="Shape 34216">
              <a:extLst>
                <a:ext uri="{FF2B5EF4-FFF2-40B4-BE49-F238E27FC236}">
                  <a16:creationId xmlns:a16="http://schemas.microsoft.com/office/drawing/2014/main" id="{D88BDF44-FEE4-455C-AAD3-62E2FB068989}"/>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15073" tIns="15073" rIns="15073" bIns="15073" numCol="1" anchor="b">
              <a:noAutofit/>
            </a:bodyPr>
            <a:lstStyle/>
            <a:p>
              <a:endParaRPr sz="1424" dirty="0">
                <a:latin typeface="Lato Light" panose="020F0502020204030203" pitchFamily="34" charset="0"/>
              </a:endParaRPr>
            </a:p>
          </p:txBody>
        </p:sp>
        <p:sp>
          <p:nvSpPr>
            <p:cNvPr id="50" name="Shape 34217">
              <a:extLst>
                <a:ext uri="{FF2B5EF4-FFF2-40B4-BE49-F238E27FC236}">
                  <a16:creationId xmlns:a16="http://schemas.microsoft.com/office/drawing/2014/main" id="{3DCB4754-CE12-46B7-B86D-0A5938FF2A8F}"/>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rgbClr val="00B0F0"/>
            </a:solidFill>
            <a:ln w="12700" cap="flat">
              <a:solidFill>
                <a:srgbClr val="00B0F0"/>
              </a:solid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1" name="Shape 34218">
              <a:extLst>
                <a:ext uri="{FF2B5EF4-FFF2-40B4-BE49-F238E27FC236}">
                  <a16:creationId xmlns:a16="http://schemas.microsoft.com/office/drawing/2014/main" id="{BC37F305-5646-434C-862F-6783D8F478A1}"/>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2" name="Shape 34219">
              <a:extLst>
                <a:ext uri="{FF2B5EF4-FFF2-40B4-BE49-F238E27FC236}">
                  <a16:creationId xmlns:a16="http://schemas.microsoft.com/office/drawing/2014/main" id="{922F1F8A-EC21-4CFE-94AA-B0C57664A87E}"/>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3" name="Shape 34220">
              <a:extLst>
                <a:ext uri="{FF2B5EF4-FFF2-40B4-BE49-F238E27FC236}">
                  <a16:creationId xmlns:a16="http://schemas.microsoft.com/office/drawing/2014/main" id="{C67FEBAC-4FDA-4888-A68E-EE1855533665}"/>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4" name="Shape 34221">
              <a:extLst>
                <a:ext uri="{FF2B5EF4-FFF2-40B4-BE49-F238E27FC236}">
                  <a16:creationId xmlns:a16="http://schemas.microsoft.com/office/drawing/2014/main" id="{3E7BA551-B06D-4FE4-97F8-7688D8648651}"/>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5" name="Shape 34222">
              <a:extLst>
                <a:ext uri="{FF2B5EF4-FFF2-40B4-BE49-F238E27FC236}">
                  <a16:creationId xmlns:a16="http://schemas.microsoft.com/office/drawing/2014/main" id="{D6D14C92-6CC7-48B7-A0E5-5801F672CBDF}"/>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6" name="Shape 34223">
              <a:extLst>
                <a:ext uri="{FF2B5EF4-FFF2-40B4-BE49-F238E27FC236}">
                  <a16:creationId xmlns:a16="http://schemas.microsoft.com/office/drawing/2014/main" id="{1A04EC51-D36E-4884-9F09-10AC368049F1}"/>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7" name="Shape 34224">
              <a:extLst>
                <a:ext uri="{FF2B5EF4-FFF2-40B4-BE49-F238E27FC236}">
                  <a16:creationId xmlns:a16="http://schemas.microsoft.com/office/drawing/2014/main" id="{1FF48417-26E8-4025-81A5-3900579BFBBB}"/>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8" name="Shape 34225">
              <a:extLst>
                <a:ext uri="{FF2B5EF4-FFF2-40B4-BE49-F238E27FC236}">
                  <a16:creationId xmlns:a16="http://schemas.microsoft.com/office/drawing/2014/main" id="{2F2CADE7-1EB8-4540-8168-345A18DC2482}"/>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9" name="Shape 34226">
              <a:extLst>
                <a:ext uri="{FF2B5EF4-FFF2-40B4-BE49-F238E27FC236}">
                  <a16:creationId xmlns:a16="http://schemas.microsoft.com/office/drawing/2014/main" id="{2626E289-3644-4D89-A632-9A06B07D991F}"/>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0" name="Shape 34227">
              <a:extLst>
                <a:ext uri="{FF2B5EF4-FFF2-40B4-BE49-F238E27FC236}">
                  <a16:creationId xmlns:a16="http://schemas.microsoft.com/office/drawing/2014/main" id="{DF3AE396-2033-4E23-B1B0-2CB074260361}"/>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61" name="Shape 34228">
              <a:extLst>
                <a:ext uri="{FF2B5EF4-FFF2-40B4-BE49-F238E27FC236}">
                  <a16:creationId xmlns:a16="http://schemas.microsoft.com/office/drawing/2014/main" id="{C31D1EDA-4B16-4A91-88B3-5D0C5BEBD26F}"/>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2" name="Shape 34229">
              <a:extLst>
                <a:ext uri="{FF2B5EF4-FFF2-40B4-BE49-F238E27FC236}">
                  <a16:creationId xmlns:a16="http://schemas.microsoft.com/office/drawing/2014/main" id="{69D257C2-090D-40ED-8AE6-C1A0794F3FF5}"/>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3" name="Shape 34230">
              <a:extLst>
                <a:ext uri="{FF2B5EF4-FFF2-40B4-BE49-F238E27FC236}">
                  <a16:creationId xmlns:a16="http://schemas.microsoft.com/office/drawing/2014/main" id="{6668CDD0-0005-4AFC-9032-C6544BF09D80}"/>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4" name="Shape 34231">
              <a:extLst>
                <a:ext uri="{FF2B5EF4-FFF2-40B4-BE49-F238E27FC236}">
                  <a16:creationId xmlns:a16="http://schemas.microsoft.com/office/drawing/2014/main" id="{B6EB95AD-2468-4AA4-9F51-2FC437664451}"/>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5" name="Shape 34232">
              <a:extLst>
                <a:ext uri="{FF2B5EF4-FFF2-40B4-BE49-F238E27FC236}">
                  <a16:creationId xmlns:a16="http://schemas.microsoft.com/office/drawing/2014/main" id="{32DCAC3A-6B36-419D-9893-889513F0ACBF}"/>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6" name="Shape 34233">
              <a:extLst>
                <a:ext uri="{FF2B5EF4-FFF2-40B4-BE49-F238E27FC236}">
                  <a16:creationId xmlns:a16="http://schemas.microsoft.com/office/drawing/2014/main" id="{8236CA81-388B-4908-9685-8D6BC8E70187}"/>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7" name="Shape 34234">
              <a:extLst>
                <a:ext uri="{FF2B5EF4-FFF2-40B4-BE49-F238E27FC236}">
                  <a16:creationId xmlns:a16="http://schemas.microsoft.com/office/drawing/2014/main" id="{3B7B2670-A08D-473B-89ED-542ECD1FDE80}"/>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8" name="Shape 34235">
              <a:extLst>
                <a:ext uri="{FF2B5EF4-FFF2-40B4-BE49-F238E27FC236}">
                  <a16:creationId xmlns:a16="http://schemas.microsoft.com/office/drawing/2014/main" id="{4BA7DD70-A383-473C-B36B-451C12022852}"/>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9" name="Shape 34236">
              <a:extLst>
                <a:ext uri="{FF2B5EF4-FFF2-40B4-BE49-F238E27FC236}">
                  <a16:creationId xmlns:a16="http://schemas.microsoft.com/office/drawing/2014/main" id="{7CE95E47-26B3-4B10-A35F-2AB76B3F6165}"/>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0" name="Shape 34237">
              <a:extLst>
                <a:ext uri="{FF2B5EF4-FFF2-40B4-BE49-F238E27FC236}">
                  <a16:creationId xmlns:a16="http://schemas.microsoft.com/office/drawing/2014/main" id="{8FAEF7C4-DB17-4314-80F9-A102E8ED182B}"/>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1" name="Shape 34238">
              <a:extLst>
                <a:ext uri="{FF2B5EF4-FFF2-40B4-BE49-F238E27FC236}">
                  <a16:creationId xmlns:a16="http://schemas.microsoft.com/office/drawing/2014/main" id="{640C6937-306B-447A-8DC0-B0D6D74C2BCA}"/>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2" name="Shape 34239">
              <a:extLst>
                <a:ext uri="{FF2B5EF4-FFF2-40B4-BE49-F238E27FC236}">
                  <a16:creationId xmlns:a16="http://schemas.microsoft.com/office/drawing/2014/main" id="{99CEE80A-7F00-4293-BBB6-2810E8A7DE26}"/>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3" name="Shape 34240">
              <a:extLst>
                <a:ext uri="{FF2B5EF4-FFF2-40B4-BE49-F238E27FC236}">
                  <a16:creationId xmlns:a16="http://schemas.microsoft.com/office/drawing/2014/main" id="{47BBC576-B99B-4896-9350-9E0032E033DB}"/>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4" name="Shape 34241">
              <a:extLst>
                <a:ext uri="{FF2B5EF4-FFF2-40B4-BE49-F238E27FC236}">
                  <a16:creationId xmlns:a16="http://schemas.microsoft.com/office/drawing/2014/main" id="{C6DE098D-CE5C-4690-81B9-34D96F672299}"/>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5" name="Shape 34242">
              <a:extLst>
                <a:ext uri="{FF2B5EF4-FFF2-40B4-BE49-F238E27FC236}">
                  <a16:creationId xmlns:a16="http://schemas.microsoft.com/office/drawing/2014/main" id="{7217F174-CAAA-43B8-8A42-D40B135E6E3C}"/>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6" name="Shape 34243">
              <a:extLst>
                <a:ext uri="{FF2B5EF4-FFF2-40B4-BE49-F238E27FC236}">
                  <a16:creationId xmlns:a16="http://schemas.microsoft.com/office/drawing/2014/main" id="{89A5EEC1-EBD9-4A73-B7EC-FF284BAE4498}"/>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7" name="Shape 34244">
              <a:extLst>
                <a:ext uri="{FF2B5EF4-FFF2-40B4-BE49-F238E27FC236}">
                  <a16:creationId xmlns:a16="http://schemas.microsoft.com/office/drawing/2014/main" id="{54A5EF33-7E56-41CA-B616-7F1B31064651}"/>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8" name="Shape 34245">
              <a:extLst>
                <a:ext uri="{FF2B5EF4-FFF2-40B4-BE49-F238E27FC236}">
                  <a16:creationId xmlns:a16="http://schemas.microsoft.com/office/drawing/2014/main" id="{75A900EB-E2B9-4767-958A-ABFAC1BE4FFB}"/>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9" name="Shape 34246">
              <a:extLst>
                <a:ext uri="{FF2B5EF4-FFF2-40B4-BE49-F238E27FC236}">
                  <a16:creationId xmlns:a16="http://schemas.microsoft.com/office/drawing/2014/main" id="{D0CA7D6C-1605-43BC-A5D7-30245A4E3E15}"/>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0" name="Shape 34247">
              <a:extLst>
                <a:ext uri="{FF2B5EF4-FFF2-40B4-BE49-F238E27FC236}">
                  <a16:creationId xmlns:a16="http://schemas.microsoft.com/office/drawing/2014/main" id="{F97FF99F-4D44-4A9A-9493-DBA96D29F4A6}"/>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81" name="Shape 34248">
              <a:extLst>
                <a:ext uri="{FF2B5EF4-FFF2-40B4-BE49-F238E27FC236}">
                  <a16:creationId xmlns:a16="http://schemas.microsoft.com/office/drawing/2014/main" id="{921D2600-46C5-4D4C-875E-7FAC4712F6B9}"/>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2" name="Shape 34249">
              <a:extLst>
                <a:ext uri="{FF2B5EF4-FFF2-40B4-BE49-F238E27FC236}">
                  <a16:creationId xmlns:a16="http://schemas.microsoft.com/office/drawing/2014/main" id="{2E297742-8436-4B1D-83F9-B322E470EDB3}"/>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3" name="Shape 34250">
              <a:extLst>
                <a:ext uri="{FF2B5EF4-FFF2-40B4-BE49-F238E27FC236}">
                  <a16:creationId xmlns:a16="http://schemas.microsoft.com/office/drawing/2014/main" id="{6A445B98-1EEC-41F4-B065-B41FB9F82629}"/>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4" name="Shape 34251">
              <a:extLst>
                <a:ext uri="{FF2B5EF4-FFF2-40B4-BE49-F238E27FC236}">
                  <a16:creationId xmlns:a16="http://schemas.microsoft.com/office/drawing/2014/main" id="{D9B75CBB-A660-45E9-A6E9-E7F886743FB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5" name="Shape 34252">
              <a:extLst>
                <a:ext uri="{FF2B5EF4-FFF2-40B4-BE49-F238E27FC236}">
                  <a16:creationId xmlns:a16="http://schemas.microsoft.com/office/drawing/2014/main" id="{EB3225E0-6AFE-461C-ABA8-9D4F5329F9F4}"/>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15073" tIns="15073" rIns="15073" bIns="15073" numCol="1" anchor="b">
              <a:noAutofit/>
            </a:bodyPr>
            <a:lstStyle/>
            <a:p>
              <a:endParaRPr sz="1424" dirty="0">
                <a:latin typeface="Lato Light" panose="020F0502020204030203" pitchFamily="34" charset="0"/>
              </a:endParaRPr>
            </a:p>
          </p:txBody>
        </p:sp>
        <p:sp>
          <p:nvSpPr>
            <p:cNvPr id="86" name="Shape 34253">
              <a:extLst>
                <a:ext uri="{FF2B5EF4-FFF2-40B4-BE49-F238E27FC236}">
                  <a16:creationId xmlns:a16="http://schemas.microsoft.com/office/drawing/2014/main" id="{A48F55E1-9CD4-4666-931D-DFEE4D6DD513}"/>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7" name="Shape 34254">
              <a:extLst>
                <a:ext uri="{FF2B5EF4-FFF2-40B4-BE49-F238E27FC236}">
                  <a16:creationId xmlns:a16="http://schemas.microsoft.com/office/drawing/2014/main" id="{9FF1B98D-EBFA-4074-9BEB-EC0303F621D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8" name="Shape 34255">
              <a:extLst>
                <a:ext uri="{FF2B5EF4-FFF2-40B4-BE49-F238E27FC236}">
                  <a16:creationId xmlns:a16="http://schemas.microsoft.com/office/drawing/2014/main" id="{D773A29D-861D-43FE-8FE4-BBB5F5905674}"/>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9" name="Shape 34256">
              <a:extLst>
                <a:ext uri="{FF2B5EF4-FFF2-40B4-BE49-F238E27FC236}">
                  <a16:creationId xmlns:a16="http://schemas.microsoft.com/office/drawing/2014/main" id="{D76959AE-132F-4981-BD16-EE589C36875C}"/>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0" name="Shape 34257">
              <a:extLst>
                <a:ext uri="{FF2B5EF4-FFF2-40B4-BE49-F238E27FC236}">
                  <a16:creationId xmlns:a16="http://schemas.microsoft.com/office/drawing/2014/main" id="{1914A737-B8BC-436C-9A54-50BADCB330BF}"/>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1" name="Shape 34258">
              <a:extLst>
                <a:ext uri="{FF2B5EF4-FFF2-40B4-BE49-F238E27FC236}">
                  <a16:creationId xmlns:a16="http://schemas.microsoft.com/office/drawing/2014/main" id="{15904CCB-F416-4933-9199-2F070BEA3087}"/>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2" name="Shape 34259">
              <a:extLst>
                <a:ext uri="{FF2B5EF4-FFF2-40B4-BE49-F238E27FC236}">
                  <a16:creationId xmlns:a16="http://schemas.microsoft.com/office/drawing/2014/main" id="{499C2926-2CC8-41B2-9F52-BC1725F5A17B}"/>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3" name="Shape 34260">
              <a:extLst>
                <a:ext uri="{FF2B5EF4-FFF2-40B4-BE49-F238E27FC236}">
                  <a16:creationId xmlns:a16="http://schemas.microsoft.com/office/drawing/2014/main" id="{AF681DAF-BC28-42F0-9D15-B39D1F3255CB}"/>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4" name="Shape 34261">
              <a:extLst>
                <a:ext uri="{FF2B5EF4-FFF2-40B4-BE49-F238E27FC236}">
                  <a16:creationId xmlns:a16="http://schemas.microsoft.com/office/drawing/2014/main" id="{0D4667A9-0E1F-4CF9-BF13-2339E272571F}"/>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5" name="Shape 34262">
              <a:extLst>
                <a:ext uri="{FF2B5EF4-FFF2-40B4-BE49-F238E27FC236}">
                  <a16:creationId xmlns:a16="http://schemas.microsoft.com/office/drawing/2014/main" id="{A7D50D99-4E6F-46B6-8F2A-EE8715A11793}"/>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6" name="Shape 34263">
              <a:extLst>
                <a:ext uri="{FF2B5EF4-FFF2-40B4-BE49-F238E27FC236}">
                  <a16:creationId xmlns:a16="http://schemas.microsoft.com/office/drawing/2014/main" id="{CC6CBBC0-A0AD-4F61-A966-5DCAE30ADA62}"/>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7" name="Shape 34264">
              <a:extLst>
                <a:ext uri="{FF2B5EF4-FFF2-40B4-BE49-F238E27FC236}">
                  <a16:creationId xmlns:a16="http://schemas.microsoft.com/office/drawing/2014/main" id="{108A8CEB-6669-4CA1-B5E8-CD388E3D8CB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8" name="Shape 34265">
              <a:extLst>
                <a:ext uri="{FF2B5EF4-FFF2-40B4-BE49-F238E27FC236}">
                  <a16:creationId xmlns:a16="http://schemas.microsoft.com/office/drawing/2014/main" id="{4050123F-E21A-418F-A53F-07F524E8194C}"/>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grpSp>
    </p:spTree>
    <p:extLst>
      <p:ext uri="{BB962C8B-B14F-4D97-AF65-F5344CB8AC3E}">
        <p14:creationId xmlns:p14="http://schemas.microsoft.com/office/powerpoint/2010/main" val="21332257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6"/>
</p:tagLst>
</file>

<file path=ppt/tags/tag10.xml><?xml version="1.0" encoding="utf-8"?>
<p:tagLst xmlns:a="http://schemas.openxmlformats.org/drawingml/2006/main" xmlns:r="http://schemas.openxmlformats.org/officeDocument/2006/relationships" xmlns:p="http://schemas.openxmlformats.org/presentationml/2006/main">
  <p:tag name="NUM" val="7"/>
</p:tagLst>
</file>

<file path=ppt/tags/tag11.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5" id="{674E6988-9F81-9C4F-A395-617E099076A1}" vid="{7BA8343F-A308-F34A-AE1C-33F4B935B6F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CBA47EBC066B745A5CD7C315910EB78" ma:contentTypeVersion="3" ma:contentTypeDescription="Crée un document." ma:contentTypeScope="" ma:versionID="b311b5323907d863f9510970e841e24f">
  <xsd:schema xmlns:xsd="http://www.w3.org/2001/XMLSchema" xmlns:xs="http://www.w3.org/2001/XMLSchema" xmlns:p="http://schemas.microsoft.com/office/2006/metadata/properties" xmlns:ns2="abcda3d6-2d03-49e1-9293-8daf0cc773fd" targetNamespace="http://schemas.microsoft.com/office/2006/metadata/properties" ma:root="true" ma:fieldsID="c9731b60f146babbce85d7d615846029" ns2:_="">
    <xsd:import namespace="abcda3d6-2d03-49e1-9293-8daf0cc773f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cda3d6-2d03-49e1-9293-8daf0cc77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6EE6A5-05F5-4C81-A42C-0F9513314438}">
  <ds:schemaRefs>
    <ds:schemaRef ds:uri="http://schemas.microsoft.com/sharepoint/v3/contenttype/forms"/>
  </ds:schemaRefs>
</ds:datastoreItem>
</file>

<file path=customXml/itemProps2.xml><?xml version="1.0" encoding="utf-8"?>
<ds:datastoreItem xmlns:ds="http://schemas.openxmlformats.org/officeDocument/2006/customXml" ds:itemID="{0D28761C-13DD-4550-8FF9-B02C949500C4}"/>
</file>

<file path=customXml/itemProps3.xml><?xml version="1.0" encoding="utf-8"?>
<ds:datastoreItem xmlns:ds="http://schemas.openxmlformats.org/officeDocument/2006/customXml" ds:itemID="{582FF2FE-B250-4BDA-890C-DFD84829D9F5}">
  <ds:schemaRefs>
    <ds:schemaRef ds:uri="5b446652-b7a6-491a-a629-08742e0ae113"/>
    <ds:schemaRef ds:uri="http://purl.org/dc/dcmitype/"/>
    <ds:schemaRef ds:uri="http://schemas.openxmlformats.org/package/2006/metadata/core-properties"/>
    <ds:schemaRef ds:uri="http://schemas.microsoft.com/office/2006/documentManagement/types"/>
    <ds:schemaRef ds:uri="http://purl.org/dc/terms/"/>
    <ds:schemaRef ds:uri="http://purl.org/dc/elements/1.1/"/>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151</TotalTime>
  <Words>1704</Words>
  <Application>Microsoft Office PowerPoint</Application>
  <PresentationFormat>Personnalisé</PresentationFormat>
  <Paragraphs>432</Paragraphs>
  <Slides>34</Slides>
  <Notes>27</Notes>
  <HiddenSlides>0</HiddenSlides>
  <MMClips>0</MMClips>
  <ScaleCrop>false</ScaleCrop>
  <HeadingPairs>
    <vt:vector size="8" baseType="variant">
      <vt:variant>
        <vt:lpstr>Polices utilisées</vt:lpstr>
      </vt:variant>
      <vt:variant>
        <vt:i4>4</vt:i4>
      </vt:variant>
      <vt:variant>
        <vt:lpstr>Thème</vt:lpstr>
      </vt:variant>
      <vt:variant>
        <vt:i4>1</vt:i4>
      </vt:variant>
      <vt:variant>
        <vt:lpstr>Serveurs OLE incorporés</vt:lpstr>
      </vt:variant>
      <vt:variant>
        <vt:i4>1</vt:i4>
      </vt:variant>
      <vt:variant>
        <vt:lpstr>Titres des diapositives</vt:lpstr>
      </vt:variant>
      <vt:variant>
        <vt:i4>34</vt:i4>
      </vt:variant>
    </vt:vector>
  </HeadingPairs>
  <TitlesOfParts>
    <vt:vector size="40" baseType="lpstr">
      <vt:lpstr>Arial</vt:lpstr>
      <vt:lpstr>Arial Black</vt:lpstr>
      <vt:lpstr>Calibri</vt:lpstr>
      <vt:lpstr>Lato Light</vt:lpstr>
      <vt:lpstr>Thème HEC</vt:lpstr>
      <vt:lpstr>Clip</vt:lpstr>
      <vt:lpstr>OPER10500 Gestion des opérations</vt:lpstr>
      <vt:lpstr>Carte conceptuelle</vt:lpstr>
      <vt:lpstr>Carte conceptuelle</vt:lpstr>
      <vt:lpstr>La fonction approvisionnement</vt:lpstr>
      <vt:lpstr>L’importance stratégique de l’approvisionnement</vt:lpstr>
      <vt:lpstr>L’importance stratégique de l’approvisionnement</vt:lpstr>
      <vt:lpstr>Effet de levier de l’approvisionnement</vt:lpstr>
      <vt:lpstr>Exercice : Effet de levier de l’approvisionnement</vt:lpstr>
      <vt:lpstr>Objectifs de la fonction approvisionnement</vt:lpstr>
      <vt:lpstr>La place de l’approvisionnement</vt:lpstr>
      <vt:lpstr>Le cycle d’approvisionnement</vt:lpstr>
      <vt:lpstr>Le cycle d’approvisionnement</vt:lpstr>
      <vt:lpstr>L’approvisionnement à différents niveaux</vt:lpstr>
      <vt:lpstr>Gestion de crise en approvisionnement</vt:lpstr>
      <vt:lpstr>Tendances Lean en approvisionnement</vt:lpstr>
      <vt:lpstr>Faire, faire faire ou acheter?</vt:lpstr>
      <vt:lpstr>Carte conceptuelle</vt:lpstr>
      <vt:lpstr>Logistique</vt:lpstr>
      <vt:lpstr>Les activités de la logistique</vt:lpstr>
      <vt:lpstr>Entreposage</vt:lpstr>
      <vt:lpstr>Transport</vt:lpstr>
      <vt:lpstr>La logistique à rebours  Reverse logistics</vt:lpstr>
      <vt:lpstr>La logistique et les T.I.</vt:lpstr>
      <vt:lpstr>Chaîne logistique</vt:lpstr>
      <vt:lpstr>Chaîne logistique</vt:lpstr>
      <vt:lpstr>La localisation</vt:lpstr>
      <vt:lpstr>La localisation des secteurs industriels et des services</vt:lpstr>
      <vt:lpstr>Principaux critères de localisation</vt:lpstr>
      <vt:lpstr>Chaîne logistique traditionnelle – non intégrée</vt:lpstr>
      <vt:lpstr>Comment intégrer la chaîne logistique?</vt:lpstr>
      <vt:lpstr>Chaîne logistique traditionnelle - INTÉGRATION</vt:lpstr>
      <vt:lpstr>Exercice Griffin Manufacturing (p. 294)</vt:lpstr>
      <vt:lpstr>Exercice Griffin Manufacturing (p. 294)</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OPER10500 Gestion des opérations</dc:title>
  <dc:creator>claire poitras</dc:creator>
  <cp:lastModifiedBy>Claire Poitras</cp:lastModifiedBy>
  <cp:revision>24</cp:revision>
  <dcterms:created xsi:type="dcterms:W3CDTF">2020-08-13T17:10:44Z</dcterms:created>
  <dcterms:modified xsi:type="dcterms:W3CDTF">2025-06-26T17:13:29Z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0x0101001CBA47EBC066B745A5CD7C315910EB78</vt:lpwstr>
  </property>
</Properties>
</file>