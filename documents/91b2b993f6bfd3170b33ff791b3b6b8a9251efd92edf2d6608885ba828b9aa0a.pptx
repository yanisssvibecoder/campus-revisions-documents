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7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9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3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4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7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8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9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20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21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22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3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24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25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26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27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28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29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30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31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32.xml" ContentType="application/vnd.openxmlformats-officedocument.presentationml.notesSlide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33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34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35.xml" ContentType="application/vnd.openxmlformats-officedocument.presentationml.notesSlide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notesSlides/notesSlide36.xml" ContentType="application/vnd.openxmlformats-officedocument.presentationml.notesSlid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37.xml" ContentType="application/vnd.openxmlformats-officedocument.presentationml.notesSlid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38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notesSlides/notesSlide39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40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notesSlides/notesSlide41.xml" ContentType="application/vnd.openxmlformats-officedocument.presentationml.notesSlide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09" r:id="rId5"/>
  </p:sldMasterIdLst>
  <p:notesMasterIdLst>
    <p:notesMasterId r:id="rId48"/>
  </p:notesMasterIdLst>
  <p:handoutMasterIdLst>
    <p:handoutMasterId r:id="rId49"/>
  </p:handoutMasterIdLst>
  <p:sldIdLst>
    <p:sldId id="542" r:id="rId6"/>
    <p:sldId id="1470" r:id="rId7"/>
    <p:sldId id="259" r:id="rId8"/>
    <p:sldId id="1458" r:id="rId9"/>
    <p:sldId id="499" r:id="rId10"/>
    <p:sldId id="500" r:id="rId11"/>
    <p:sldId id="1462" r:id="rId12"/>
    <p:sldId id="501" r:id="rId13"/>
    <p:sldId id="505" r:id="rId14"/>
    <p:sldId id="1475" r:id="rId15"/>
    <p:sldId id="1476" r:id="rId16"/>
    <p:sldId id="313" r:id="rId17"/>
    <p:sldId id="504" r:id="rId18"/>
    <p:sldId id="502" r:id="rId19"/>
    <p:sldId id="432" r:id="rId20"/>
    <p:sldId id="492" r:id="rId21"/>
    <p:sldId id="267" r:id="rId22"/>
    <p:sldId id="274" r:id="rId23"/>
    <p:sldId id="507" r:id="rId24"/>
    <p:sldId id="506" r:id="rId25"/>
    <p:sldId id="520" r:id="rId26"/>
    <p:sldId id="287" r:id="rId27"/>
    <p:sldId id="511" r:id="rId28"/>
    <p:sldId id="1471" r:id="rId29"/>
    <p:sldId id="1466" r:id="rId30"/>
    <p:sldId id="288" r:id="rId31"/>
    <p:sldId id="471" r:id="rId32"/>
    <p:sldId id="497" r:id="rId33"/>
    <p:sldId id="1460" r:id="rId34"/>
    <p:sldId id="1472" r:id="rId35"/>
    <p:sldId id="1473" r:id="rId36"/>
    <p:sldId id="515" r:id="rId37"/>
    <p:sldId id="1468" r:id="rId38"/>
    <p:sldId id="468" r:id="rId39"/>
    <p:sldId id="512" r:id="rId40"/>
    <p:sldId id="513" r:id="rId41"/>
    <p:sldId id="514" r:id="rId42"/>
    <p:sldId id="385" r:id="rId43"/>
    <p:sldId id="490" r:id="rId44"/>
    <p:sldId id="519" r:id="rId45"/>
    <p:sldId id="285" r:id="rId46"/>
    <p:sldId id="1457" r:id="rId47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éance 2" id="{29F2F948-010D-4051-BD4E-77C7EB96EF33}">
          <p14:sldIdLst>
            <p14:sldId id="542"/>
            <p14:sldId id="1470"/>
            <p14:sldId id="259"/>
            <p14:sldId id="1458"/>
            <p14:sldId id="499"/>
            <p14:sldId id="500"/>
            <p14:sldId id="1462"/>
            <p14:sldId id="501"/>
            <p14:sldId id="505"/>
            <p14:sldId id="1475"/>
            <p14:sldId id="1476"/>
            <p14:sldId id="313"/>
            <p14:sldId id="504"/>
            <p14:sldId id="502"/>
            <p14:sldId id="432"/>
            <p14:sldId id="492"/>
            <p14:sldId id="267"/>
            <p14:sldId id="274"/>
            <p14:sldId id="507"/>
            <p14:sldId id="506"/>
            <p14:sldId id="520"/>
            <p14:sldId id="287"/>
            <p14:sldId id="511"/>
            <p14:sldId id="1471"/>
            <p14:sldId id="1466"/>
            <p14:sldId id="288"/>
            <p14:sldId id="471"/>
            <p14:sldId id="497"/>
            <p14:sldId id="1460"/>
            <p14:sldId id="1472"/>
            <p14:sldId id="1473"/>
            <p14:sldId id="515"/>
            <p14:sldId id="1468"/>
            <p14:sldId id="468"/>
            <p14:sldId id="512"/>
            <p14:sldId id="513"/>
            <p14:sldId id="514"/>
            <p14:sldId id="385"/>
            <p14:sldId id="490"/>
            <p14:sldId id="519"/>
            <p14:sldId id="285"/>
            <p14:sldId id="14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0B87E3-A2EA-47CD-FCC0-CF7D499A439E}" name="Katherine Dooling" initials="KD" userId="S::katherine.dooling@hec.ca::899682fa-3a3e-4e2f-bb63-3b35aa76622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odie allain" initials="ea" lastIdx="2" clrIdx="0">
    <p:extLst>
      <p:ext uri="{19B8F6BF-5375-455C-9EA6-DF929625EA0E}">
        <p15:presenceInfo xmlns:p15="http://schemas.microsoft.com/office/powerpoint/2012/main" userId="S::elodie.allain@hec.ca::2b943744-3621-400b-bbf1-9af4902ca6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" dt="2026-08-27T14:20:36.704"/>
    <p1510:client id="{745986AA-2FFC-490C-AE35-1CB8E8E773E4}" v="2" dt="2026-08-27T14:33:35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2" autoAdjust="0"/>
    <p:restoredTop sz="73245" autoAdjust="0"/>
  </p:normalViewPr>
  <p:slideViewPr>
    <p:cSldViewPr snapToGrid="0">
      <p:cViewPr varScale="1">
        <p:scale>
          <a:sx n="81" d="100"/>
          <a:sy n="81" d="100"/>
        </p:scale>
        <p:origin x="12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56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Relationship Id="rId57" Type="http://schemas.microsoft.com/office/2018/10/relationships/authors" Target="author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echa Philion" userId="S::loecha.philion@hec.ca::0f598feb-c4c0-4dda-b2c1-17de97a01329" providerId="AD" clId="Web-{00000000-0000-0000-0000-000000000000}"/>
    <pc:docChg chg="modSld sldOrd">
      <pc:chgData name="Loecha Philion" userId="S::loecha.philion@hec.ca::0f598feb-c4c0-4dda-b2c1-17de97a01329" providerId="AD" clId="Web-{00000000-0000-0000-0000-000000000000}" dt="2026-08-27T14:20:36.704" v="5"/>
      <pc:docMkLst>
        <pc:docMk/>
      </pc:docMkLst>
      <pc:sldChg chg="addSp delSp modSp">
        <pc:chgData name="Loecha Philion" userId="S::loecha.philion@hec.ca::0f598feb-c4c0-4dda-b2c1-17de97a01329" providerId="AD" clId="Web-{00000000-0000-0000-0000-000000000000}" dt="2026-08-27T14:19:14.203" v="1"/>
        <pc:sldMkLst>
          <pc:docMk/>
          <pc:sldMk cId="3722982972" sldId="503"/>
        </pc:sldMkLst>
        <pc:picChg chg="add del mod">
          <ac:chgData name="Loecha Philion" userId="S::loecha.philion@hec.ca::0f598feb-c4c0-4dda-b2c1-17de97a01329" providerId="AD" clId="Web-{00000000-0000-0000-0000-000000000000}" dt="2026-08-27T14:19:14.203" v="1"/>
          <ac:picMkLst>
            <pc:docMk/>
            <pc:sldMk cId="3722982972" sldId="503"/>
            <ac:picMk id="5" creationId="{63ECDFF5-BE9B-2609-D499-5628BF0B997F}"/>
          </ac:picMkLst>
        </pc:picChg>
      </pc:sldChg>
      <pc:sldChg chg="addSp delSp modSp ord">
        <pc:chgData name="Loecha Philion" userId="S::loecha.philion@hec.ca::0f598feb-c4c0-4dda-b2c1-17de97a01329" providerId="AD" clId="Web-{00000000-0000-0000-0000-000000000000}" dt="2026-08-27T14:20:36.704" v="5"/>
        <pc:sldMkLst>
          <pc:docMk/>
          <pc:sldMk cId="206035662" sldId="505"/>
        </pc:sldMkLst>
        <pc:picChg chg="add del mod">
          <ac:chgData name="Loecha Philion" userId="S::loecha.philion@hec.ca::0f598feb-c4c0-4dda-b2c1-17de97a01329" providerId="AD" clId="Web-{00000000-0000-0000-0000-000000000000}" dt="2026-08-27T14:20:36.704" v="5"/>
          <ac:picMkLst>
            <pc:docMk/>
            <pc:sldMk cId="206035662" sldId="505"/>
            <ac:picMk id="5" creationId="{91FC24C7-D5B8-1244-6ACD-A544536372B4}"/>
          </ac:picMkLst>
        </pc:picChg>
      </pc:sldChg>
    </pc:docChg>
  </pc:docChgLst>
  <pc:docChgLst>
    <pc:chgData name="Loecha Philion" userId="0f598feb-c4c0-4dda-b2c1-17de97a01329" providerId="ADAL" clId="{E7AA05E6-2E3A-4936-92BE-EF366E7850A9}"/>
    <pc:docChg chg="addSld delSld modSld sldOrd modSection">
      <pc:chgData name="Loecha Philion" userId="0f598feb-c4c0-4dda-b2c1-17de97a01329" providerId="ADAL" clId="{E7AA05E6-2E3A-4936-92BE-EF366E7850A9}" dt="2026-08-27T14:34:12.904" v="48" actId="6549"/>
      <pc:docMkLst>
        <pc:docMk/>
      </pc:docMkLst>
      <pc:sldChg chg="modNotesTx">
        <pc:chgData name="Loecha Philion" userId="0f598feb-c4c0-4dda-b2c1-17de97a01329" providerId="ADAL" clId="{E7AA05E6-2E3A-4936-92BE-EF366E7850A9}" dt="2026-08-27T12:56:38.334" v="10" actId="6549"/>
        <pc:sldMkLst>
          <pc:docMk/>
          <pc:sldMk cId="2896167483" sldId="267"/>
        </pc:sldMkLst>
      </pc:sldChg>
      <pc:sldChg chg="modNotesTx">
        <pc:chgData name="Loecha Philion" userId="0f598feb-c4c0-4dda-b2c1-17de97a01329" providerId="ADAL" clId="{E7AA05E6-2E3A-4936-92BE-EF366E7850A9}" dt="2026-08-27T12:58:52.255" v="40" actId="6549"/>
        <pc:sldMkLst>
          <pc:docMk/>
          <pc:sldMk cId="3961774157" sldId="285"/>
        </pc:sldMkLst>
      </pc:sldChg>
      <pc:sldChg chg="modNotesTx">
        <pc:chgData name="Loecha Philion" userId="0f598feb-c4c0-4dda-b2c1-17de97a01329" providerId="ADAL" clId="{E7AA05E6-2E3A-4936-92BE-EF366E7850A9}" dt="2026-08-27T12:56:57.368" v="13" actId="6549"/>
        <pc:sldMkLst>
          <pc:docMk/>
          <pc:sldMk cId="542957376" sldId="287"/>
        </pc:sldMkLst>
      </pc:sldChg>
      <pc:sldChg chg="modNotesTx">
        <pc:chgData name="Loecha Philion" userId="0f598feb-c4c0-4dda-b2c1-17de97a01329" providerId="ADAL" clId="{E7AA05E6-2E3A-4936-92BE-EF366E7850A9}" dt="2026-08-27T12:57:23.280" v="16" actId="6549"/>
        <pc:sldMkLst>
          <pc:docMk/>
          <pc:sldMk cId="1253481134" sldId="288"/>
        </pc:sldMkLst>
      </pc:sldChg>
      <pc:sldChg chg="modNotesTx">
        <pc:chgData name="Loecha Philion" userId="0f598feb-c4c0-4dda-b2c1-17de97a01329" providerId="ADAL" clId="{E7AA05E6-2E3A-4936-92BE-EF366E7850A9}" dt="2026-08-27T12:56:17.056" v="5" actId="6549"/>
        <pc:sldMkLst>
          <pc:docMk/>
          <pc:sldMk cId="4193125205" sldId="313"/>
        </pc:sldMkLst>
      </pc:sldChg>
      <pc:sldChg chg="modNotesTx">
        <pc:chgData name="Loecha Philion" userId="0f598feb-c4c0-4dda-b2c1-17de97a01329" providerId="ADAL" clId="{E7AA05E6-2E3A-4936-92BE-EF366E7850A9}" dt="2026-08-27T12:58:43.323" v="38" actId="6549"/>
        <pc:sldMkLst>
          <pc:docMk/>
          <pc:sldMk cId="968887431" sldId="385"/>
        </pc:sldMkLst>
      </pc:sldChg>
      <pc:sldChg chg="modNotesTx">
        <pc:chgData name="Loecha Philion" userId="0f598feb-c4c0-4dda-b2c1-17de97a01329" providerId="ADAL" clId="{E7AA05E6-2E3A-4936-92BE-EF366E7850A9}" dt="2026-08-27T12:56:27.677" v="7" actId="6549"/>
        <pc:sldMkLst>
          <pc:docMk/>
          <pc:sldMk cId="1248048793" sldId="432"/>
        </pc:sldMkLst>
      </pc:sldChg>
      <pc:sldChg chg="modNotesTx">
        <pc:chgData name="Loecha Philion" userId="0f598feb-c4c0-4dda-b2c1-17de97a01329" providerId="ADAL" clId="{E7AA05E6-2E3A-4936-92BE-EF366E7850A9}" dt="2026-08-27T12:58:23.061" v="31" actId="6549"/>
        <pc:sldMkLst>
          <pc:docMk/>
          <pc:sldMk cId="1462720325" sldId="468"/>
        </pc:sldMkLst>
      </pc:sldChg>
      <pc:sldChg chg="del">
        <pc:chgData name="Loecha Philion" userId="0f598feb-c4c0-4dda-b2c1-17de97a01329" providerId="ADAL" clId="{E7AA05E6-2E3A-4936-92BE-EF366E7850A9}" dt="2026-08-27T12:58:35.078" v="36" actId="47"/>
        <pc:sldMkLst>
          <pc:docMk/>
          <pc:sldMk cId="1955536063" sldId="480"/>
        </pc:sldMkLst>
      </pc:sldChg>
      <pc:sldChg chg="del">
        <pc:chgData name="Loecha Philion" userId="0f598feb-c4c0-4dda-b2c1-17de97a01329" providerId="ADAL" clId="{E7AA05E6-2E3A-4936-92BE-EF366E7850A9}" dt="2026-08-27T12:58:30.148" v="34" actId="47"/>
        <pc:sldMkLst>
          <pc:docMk/>
          <pc:sldMk cId="3392799741" sldId="482"/>
        </pc:sldMkLst>
      </pc:sldChg>
      <pc:sldChg chg="modNotesTx">
        <pc:chgData name="Loecha Philion" userId="0f598feb-c4c0-4dda-b2c1-17de97a01329" providerId="ADAL" clId="{E7AA05E6-2E3A-4936-92BE-EF366E7850A9}" dt="2026-08-27T12:58:47.492" v="39" actId="6549"/>
        <pc:sldMkLst>
          <pc:docMk/>
          <pc:sldMk cId="1856132683" sldId="490"/>
        </pc:sldMkLst>
      </pc:sldChg>
      <pc:sldChg chg="modNotesTx">
        <pc:chgData name="Loecha Philion" userId="0f598feb-c4c0-4dda-b2c1-17de97a01329" providerId="ADAL" clId="{E7AA05E6-2E3A-4936-92BE-EF366E7850A9}" dt="2026-08-27T12:56:32.919" v="8" actId="6549"/>
        <pc:sldMkLst>
          <pc:docMk/>
          <pc:sldMk cId="3714387529" sldId="492"/>
        </pc:sldMkLst>
      </pc:sldChg>
      <pc:sldChg chg="modNotesTx">
        <pc:chgData name="Loecha Philion" userId="0f598feb-c4c0-4dda-b2c1-17de97a01329" providerId="ADAL" clId="{E7AA05E6-2E3A-4936-92BE-EF366E7850A9}" dt="2026-08-27T12:57:29.636" v="17" actId="6549"/>
        <pc:sldMkLst>
          <pc:docMk/>
          <pc:sldMk cId="3532882602" sldId="497"/>
        </pc:sldMkLst>
      </pc:sldChg>
      <pc:sldChg chg="del">
        <pc:chgData name="Loecha Philion" userId="0f598feb-c4c0-4dda-b2c1-17de97a01329" providerId="ADAL" clId="{E7AA05E6-2E3A-4936-92BE-EF366E7850A9}" dt="2026-08-27T12:57:32.362" v="18" actId="47"/>
        <pc:sldMkLst>
          <pc:docMk/>
          <pc:sldMk cId="2980622651" sldId="498"/>
        </pc:sldMkLst>
      </pc:sldChg>
      <pc:sldChg chg="modNotesTx">
        <pc:chgData name="Loecha Philion" userId="0f598feb-c4c0-4dda-b2c1-17de97a01329" providerId="ADAL" clId="{E7AA05E6-2E3A-4936-92BE-EF366E7850A9}" dt="2026-08-27T12:55:59.038" v="2" actId="6549"/>
        <pc:sldMkLst>
          <pc:docMk/>
          <pc:sldMk cId="3927212233" sldId="500"/>
        </pc:sldMkLst>
      </pc:sldChg>
      <pc:sldChg chg="modNotesTx">
        <pc:chgData name="Loecha Philion" userId="0f598feb-c4c0-4dda-b2c1-17de97a01329" providerId="ADAL" clId="{E7AA05E6-2E3A-4936-92BE-EF366E7850A9}" dt="2026-08-27T12:56:23.328" v="6" actId="6549"/>
        <pc:sldMkLst>
          <pc:docMk/>
          <pc:sldMk cId="337884764" sldId="502"/>
        </pc:sldMkLst>
      </pc:sldChg>
      <pc:sldChg chg="del modNotesTx">
        <pc:chgData name="Loecha Philion" userId="0f598feb-c4c0-4dda-b2c1-17de97a01329" providerId="ADAL" clId="{E7AA05E6-2E3A-4936-92BE-EF366E7850A9}" dt="2026-08-27T14:33:38.647" v="46" actId="47"/>
        <pc:sldMkLst>
          <pc:docMk/>
          <pc:sldMk cId="3722982972" sldId="503"/>
        </pc:sldMkLst>
      </pc:sldChg>
      <pc:sldChg chg="ord">
        <pc:chgData name="Loecha Philion" userId="0f598feb-c4c0-4dda-b2c1-17de97a01329" providerId="ADAL" clId="{E7AA05E6-2E3A-4936-92BE-EF366E7850A9}" dt="2026-08-27T14:21:25.603" v="43"/>
        <pc:sldMkLst>
          <pc:docMk/>
          <pc:sldMk cId="206035662" sldId="505"/>
        </pc:sldMkLst>
      </pc:sldChg>
      <pc:sldChg chg="modNotesTx">
        <pc:chgData name="Loecha Philion" userId="0f598feb-c4c0-4dda-b2c1-17de97a01329" providerId="ADAL" clId="{E7AA05E6-2E3A-4936-92BE-EF366E7850A9}" dt="2026-08-27T12:56:43.991" v="11" actId="6549"/>
        <pc:sldMkLst>
          <pc:docMk/>
          <pc:sldMk cId="2924353928" sldId="507"/>
        </pc:sldMkLst>
      </pc:sldChg>
      <pc:sldChg chg="modNotesTx">
        <pc:chgData name="Loecha Philion" userId="0f598feb-c4c0-4dda-b2c1-17de97a01329" providerId="ADAL" clId="{E7AA05E6-2E3A-4936-92BE-EF366E7850A9}" dt="2026-08-27T12:57:03.472" v="14" actId="6549"/>
        <pc:sldMkLst>
          <pc:docMk/>
          <pc:sldMk cId="1720465573" sldId="511"/>
        </pc:sldMkLst>
      </pc:sldChg>
      <pc:sldChg chg="modNotesTx">
        <pc:chgData name="Loecha Philion" userId="0f598feb-c4c0-4dda-b2c1-17de97a01329" providerId="ADAL" clId="{E7AA05E6-2E3A-4936-92BE-EF366E7850A9}" dt="2026-08-27T12:58:27.586" v="32" actId="6549"/>
        <pc:sldMkLst>
          <pc:docMk/>
          <pc:sldMk cId="2696874780" sldId="512"/>
        </pc:sldMkLst>
      </pc:sldChg>
      <pc:sldChg chg="modNotesTx">
        <pc:chgData name="Loecha Philion" userId="0f598feb-c4c0-4dda-b2c1-17de97a01329" providerId="ADAL" clId="{E7AA05E6-2E3A-4936-92BE-EF366E7850A9}" dt="2026-08-27T12:58:33.194" v="35" actId="6549"/>
        <pc:sldMkLst>
          <pc:docMk/>
          <pc:sldMk cId="1334076730" sldId="513"/>
        </pc:sldMkLst>
      </pc:sldChg>
      <pc:sldChg chg="modNotesTx">
        <pc:chgData name="Loecha Philion" userId="0f598feb-c4c0-4dda-b2c1-17de97a01329" providerId="ADAL" clId="{E7AA05E6-2E3A-4936-92BE-EF366E7850A9}" dt="2026-08-27T12:58:38.525" v="37" actId="6549"/>
        <pc:sldMkLst>
          <pc:docMk/>
          <pc:sldMk cId="4120925530" sldId="514"/>
        </pc:sldMkLst>
      </pc:sldChg>
      <pc:sldChg chg="modNotesTx">
        <pc:chgData name="Loecha Philion" userId="0f598feb-c4c0-4dda-b2c1-17de97a01329" providerId="ADAL" clId="{E7AA05E6-2E3A-4936-92BE-EF366E7850A9}" dt="2026-08-27T12:56:52.391" v="12" actId="6549"/>
        <pc:sldMkLst>
          <pc:docMk/>
          <pc:sldMk cId="2350665731" sldId="520"/>
        </pc:sldMkLst>
      </pc:sldChg>
      <pc:sldChg chg="del">
        <pc:chgData name="Loecha Philion" userId="0f598feb-c4c0-4dda-b2c1-17de97a01329" providerId="ADAL" clId="{E7AA05E6-2E3A-4936-92BE-EF366E7850A9}" dt="2026-08-27T12:55:49.866" v="0" actId="47"/>
        <pc:sldMkLst>
          <pc:docMk/>
          <pc:sldMk cId="3249555274" sldId="953"/>
        </pc:sldMkLst>
      </pc:sldChg>
      <pc:sldChg chg="del">
        <pc:chgData name="Loecha Philion" userId="0f598feb-c4c0-4dda-b2c1-17de97a01329" providerId="ADAL" clId="{E7AA05E6-2E3A-4936-92BE-EF366E7850A9}" dt="2026-08-27T12:56:35.518" v="9" actId="47"/>
        <pc:sldMkLst>
          <pc:docMk/>
          <pc:sldMk cId="3930794159" sldId="1459"/>
        </pc:sldMkLst>
      </pc:sldChg>
      <pc:sldChg chg="modNotesTx">
        <pc:chgData name="Loecha Philion" userId="0f598feb-c4c0-4dda-b2c1-17de97a01329" providerId="ADAL" clId="{E7AA05E6-2E3A-4936-92BE-EF366E7850A9}" dt="2026-08-27T12:56:03.788" v="3" actId="6549"/>
        <pc:sldMkLst>
          <pc:docMk/>
          <pc:sldMk cId="2076784517" sldId="1462"/>
        </pc:sldMkLst>
      </pc:sldChg>
      <pc:sldChg chg="del">
        <pc:chgData name="Loecha Philion" userId="0f598feb-c4c0-4dda-b2c1-17de97a01329" providerId="ADAL" clId="{E7AA05E6-2E3A-4936-92BE-EF366E7850A9}" dt="2026-08-27T12:55:51.623" v="1" actId="47"/>
        <pc:sldMkLst>
          <pc:docMk/>
          <pc:sldMk cId="4290021353" sldId="1464"/>
        </pc:sldMkLst>
      </pc:sldChg>
      <pc:sldChg chg="modNotesTx">
        <pc:chgData name="Loecha Philion" userId="0f598feb-c4c0-4dda-b2c1-17de97a01329" providerId="ADAL" clId="{E7AA05E6-2E3A-4936-92BE-EF366E7850A9}" dt="2026-08-27T12:57:17.812" v="15" actId="6549"/>
        <pc:sldMkLst>
          <pc:docMk/>
          <pc:sldMk cId="528559684" sldId="1466"/>
        </pc:sldMkLst>
      </pc:sldChg>
      <pc:sldChg chg="del">
        <pc:chgData name="Loecha Philion" userId="0f598feb-c4c0-4dda-b2c1-17de97a01329" providerId="ADAL" clId="{E7AA05E6-2E3A-4936-92BE-EF366E7850A9}" dt="2026-08-27T12:58:29.259" v="33" actId="47"/>
        <pc:sldMkLst>
          <pc:docMk/>
          <pc:sldMk cId="759811035" sldId="1469"/>
        </pc:sldMkLst>
      </pc:sldChg>
      <pc:sldChg chg="modNotesTx">
        <pc:chgData name="Loecha Philion" userId="0f598feb-c4c0-4dda-b2c1-17de97a01329" providerId="ADAL" clId="{E7AA05E6-2E3A-4936-92BE-EF366E7850A9}" dt="2026-08-27T12:57:38.292" v="19" actId="6549"/>
        <pc:sldMkLst>
          <pc:docMk/>
          <pc:sldMk cId="4177833943" sldId="1472"/>
        </pc:sldMkLst>
      </pc:sldChg>
      <pc:sldChg chg="modSp mod modNotesTx">
        <pc:chgData name="Loecha Philion" userId="0f598feb-c4c0-4dda-b2c1-17de97a01329" providerId="ADAL" clId="{E7AA05E6-2E3A-4936-92BE-EF366E7850A9}" dt="2026-08-27T12:58:06.223" v="30" actId="6549"/>
        <pc:sldMkLst>
          <pc:docMk/>
          <pc:sldMk cId="372737475" sldId="1473"/>
        </pc:sldMkLst>
        <pc:spChg chg="mod">
          <ac:chgData name="Loecha Philion" userId="0f598feb-c4c0-4dda-b2c1-17de97a01329" providerId="ADAL" clId="{E7AA05E6-2E3A-4936-92BE-EF366E7850A9}" dt="2026-08-27T12:58:06.223" v="30" actId="6549"/>
          <ac:spMkLst>
            <pc:docMk/>
            <pc:sldMk cId="372737475" sldId="1473"/>
            <ac:spMk id="4" creationId="{49B893D0-354A-7B3F-6E9B-2B86E7B1C74D}"/>
          </ac:spMkLst>
        </pc:spChg>
        <pc:graphicFrameChg chg="modGraphic">
          <ac:chgData name="Loecha Philion" userId="0f598feb-c4c0-4dda-b2c1-17de97a01329" providerId="ADAL" clId="{E7AA05E6-2E3A-4936-92BE-EF366E7850A9}" dt="2026-08-27T12:58:01.131" v="29" actId="20577"/>
          <ac:graphicFrameMkLst>
            <pc:docMk/>
            <pc:sldMk cId="372737475" sldId="1473"/>
            <ac:graphicFrameMk id="3" creationId="{9FC80777-84A3-541D-8C43-4661626686E4}"/>
          </ac:graphicFrameMkLst>
        </pc:graphicFrameChg>
      </pc:sldChg>
      <pc:sldChg chg="add del">
        <pc:chgData name="Loecha Philion" userId="0f598feb-c4c0-4dda-b2c1-17de97a01329" providerId="ADAL" clId="{E7AA05E6-2E3A-4936-92BE-EF366E7850A9}" dt="2026-08-27T14:33:37.919" v="45" actId="47"/>
        <pc:sldMkLst>
          <pc:docMk/>
          <pc:sldMk cId="4193744417" sldId="1474"/>
        </pc:sldMkLst>
      </pc:sldChg>
      <pc:sldChg chg="add modNotesTx">
        <pc:chgData name="Loecha Philion" userId="0f598feb-c4c0-4dda-b2c1-17de97a01329" providerId="ADAL" clId="{E7AA05E6-2E3A-4936-92BE-EF366E7850A9}" dt="2026-08-27T14:34:04.968" v="47" actId="6549"/>
        <pc:sldMkLst>
          <pc:docMk/>
          <pc:sldMk cId="2762182322" sldId="1475"/>
        </pc:sldMkLst>
      </pc:sldChg>
      <pc:sldChg chg="add modNotesTx">
        <pc:chgData name="Loecha Philion" userId="0f598feb-c4c0-4dda-b2c1-17de97a01329" providerId="ADAL" clId="{E7AA05E6-2E3A-4936-92BE-EF366E7850A9}" dt="2026-08-27T14:34:12.904" v="48" actId="6549"/>
        <pc:sldMkLst>
          <pc:docMk/>
          <pc:sldMk cId="1760540364" sldId="14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70938" y="2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60A3AAB-47D1-4662-A762-08EA563F584F}" type="datetimeFigureOut">
              <a:rPr lang="fr-CA" smtClean="0"/>
              <a:t>2026-08-27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CE8287A-0C42-4A4D-92F4-1137A5D8F5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2749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2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F7AB90F-F7BC-4700-9960-B769A15787B7}" type="datetimeFigureOut">
              <a:rPr lang="fr-CA" smtClean="0"/>
              <a:t>2026-08-27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040" y="4473891"/>
            <a:ext cx="5608320" cy="366045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8756633-E94B-447C-907F-5A907A33816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038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D131D5-6477-4BF7-8776-36E89AAF915A}" type="slidenum">
              <a:rPr lang="fr-CA" smtClean="0">
                <a:solidFill>
                  <a:prstClr val="black"/>
                </a:solidFill>
              </a:rPr>
              <a:pPr/>
              <a:t>1</a:t>
            </a:fld>
            <a:endParaRPr lang="fr-C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224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519034"/>
          </a:xfrm>
        </p:spPr>
        <p:txBody>
          <a:bodyPr/>
          <a:lstStyle/>
          <a:p>
            <a:endParaRPr lang="fr-CA"/>
          </a:p>
          <a:p>
            <a:endParaRPr lang="fr-CA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0835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5373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5560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1E2DCE-001F-4C46-8BA9-C06BBA81F5CB}" type="slidenum">
              <a:rPr lang="en-US"/>
              <a:pPr/>
              <a:t>5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9258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03A76A-3206-4654-BBAF-824A59062F4F}" type="slidenum">
              <a:rPr lang="en-US"/>
              <a:pPr/>
              <a:t>6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>
          <a:xfrm>
            <a:off x="701040" y="4473891"/>
            <a:ext cx="5608320" cy="3974784"/>
          </a:xfrm>
        </p:spPr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63061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0AA914-AD7F-48C5-984E-7279F826AC0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>
          <a:xfrm>
            <a:off x="701040" y="4473891"/>
            <a:ext cx="5608320" cy="458120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3193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7CB750-BEE3-4293-87E6-7C4B5E31E411}" type="slidenum">
              <a:rPr lang="en-US"/>
              <a:pPr/>
              <a:t>8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59336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B057F4-50A9-47D2-AF6A-5B10F3918FE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72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B898-408B-E68C-188F-A59D7813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B6FAB38-175D-C782-5AE8-493032451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17A510-4D0A-402E-AFF1-95E0EBFA2200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15E97958-F989-936C-EB01-60529026B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>
            <a:extLst>
              <a:ext uri="{FF2B5EF4-FFF2-40B4-BE49-F238E27FC236}">
                <a16:creationId xmlns:a16="http://schemas.microsoft.com/office/drawing/2014/main" id="{946EFFBA-5043-1740-264E-602433E45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00628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17A510-4D0A-402E-AFF1-95E0EBFA2200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11729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17A510-4D0A-402E-AFF1-95E0EBFA2200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38518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52475" y="1162050"/>
            <a:ext cx="5575300" cy="3136900"/>
          </a:xfrm>
        </p:spPr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167F39-D79D-4B0B-BCBE-410D657E1073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es commentaires 4">
            <a:extLst>
              <a:ext uri="{FF2B5EF4-FFF2-40B4-BE49-F238E27FC236}">
                <a16:creationId xmlns:a16="http://schemas.microsoft.com/office/drawing/2014/main" id="{9D135120-58A8-A974-B9C5-0FADD9FC53C1}"/>
              </a:ext>
            </a:extLst>
          </p:cNvPr>
          <p:cNvSpPr txBox="1">
            <a:spLocks/>
          </p:cNvSpPr>
          <p:nvPr/>
        </p:nvSpPr>
        <p:spPr>
          <a:xfrm>
            <a:off x="752475" y="4473891"/>
            <a:ext cx="5608320" cy="4130359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b="1"/>
              <a:t>Notes à l’enseignant:</a:t>
            </a:r>
          </a:p>
          <a:p>
            <a:r>
              <a:rPr lang="fr-CA"/>
              <a:t>						           	 </a:t>
            </a:r>
            <a:r>
              <a:rPr lang="fr-CA" u="sng"/>
              <a:t>Unité</a:t>
            </a:r>
            <a:r>
              <a:rPr lang="fr-CA"/>
              <a:t>	          </a:t>
            </a:r>
            <a:r>
              <a:rPr lang="fr-CA" u="sng"/>
              <a:t>Total (15 000 unités)</a:t>
            </a:r>
          </a:p>
          <a:p>
            <a:r>
              <a:rPr lang="fr-CA"/>
              <a:t>Prix de vente 	          	   50 $    	                   750 000 $</a:t>
            </a:r>
          </a:p>
          <a:p>
            <a:r>
              <a:rPr lang="fr-CA"/>
              <a:t>(-) Coûts variables:	</a:t>
            </a:r>
          </a:p>
          <a:p>
            <a:r>
              <a:rPr lang="fr-CA"/>
              <a:t>        MP	              	    6 $                                      90 000 $</a:t>
            </a:r>
          </a:p>
          <a:p>
            <a:r>
              <a:rPr lang="fr-CA"/>
              <a:t>        MOD    	               	    8 $                                    120 000 $</a:t>
            </a:r>
          </a:p>
          <a:p>
            <a:r>
              <a:rPr lang="fr-CA"/>
              <a:t>        </a:t>
            </a:r>
            <a:r>
              <a:rPr lang="fr-CA" err="1"/>
              <a:t>FGFvar</a:t>
            </a:r>
            <a:r>
              <a:rPr lang="fr-CA"/>
              <a:t> 	             	    1 $ 	                     15 000 $</a:t>
            </a:r>
          </a:p>
          <a:p>
            <a:r>
              <a:rPr lang="fr-CA"/>
              <a:t>        </a:t>
            </a:r>
            <a:r>
              <a:rPr lang="fr-CA" err="1"/>
              <a:t>FVvar</a:t>
            </a:r>
            <a:r>
              <a:rPr lang="fr-CA"/>
              <a:t> (note)             	    </a:t>
            </a:r>
            <a:r>
              <a:rPr lang="fr-CA" u="sng"/>
              <a:t>3 $</a:t>
            </a:r>
            <a:r>
              <a:rPr lang="fr-CA"/>
              <a:t>	                    </a:t>
            </a:r>
            <a:r>
              <a:rPr lang="fr-CA" u="sng"/>
              <a:t> 45 000</a:t>
            </a:r>
            <a:r>
              <a:rPr lang="fr-CA"/>
              <a:t> $     </a:t>
            </a:r>
            <a:endParaRPr lang="fr-CA" u="sng"/>
          </a:p>
          <a:p>
            <a:r>
              <a:rPr lang="fr-CA" b="1"/>
              <a:t>= Marge sur coûts variables      32 $                                   480 000 $</a:t>
            </a:r>
          </a:p>
          <a:p>
            <a:r>
              <a:rPr lang="fr-CA" b="1"/>
              <a:t>   </a:t>
            </a:r>
          </a:p>
          <a:p>
            <a:r>
              <a:rPr lang="fr-CA" b="1" i="1"/>
              <a:t>= MCV en %                                  64 %                                      64 %</a:t>
            </a:r>
            <a:endParaRPr lang="fr-CA" i="1"/>
          </a:p>
          <a:p>
            <a:endParaRPr lang="fr-CA"/>
          </a:p>
          <a:p>
            <a:r>
              <a:rPr lang="fr-CA" b="1" i="1"/>
              <a:t>Note</a:t>
            </a:r>
            <a:r>
              <a:rPr lang="fr-CA"/>
              <a:t>: </a:t>
            </a:r>
            <a:r>
              <a:rPr lang="fr-CA" err="1"/>
              <a:t>FVvar</a:t>
            </a:r>
            <a:r>
              <a:rPr lang="fr-CA"/>
              <a:t> = (112 500 $ x 0,4 = 45 000 $ / 15 000 u. = 3 $)</a:t>
            </a:r>
          </a:p>
          <a:p>
            <a:endParaRPr lang="fr-CA"/>
          </a:p>
          <a:p>
            <a:r>
              <a:rPr lang="fr-CA" b="1"/>
              <a:t>Coûts fixes totaux</a:t>
            </a:r>
          </a:p>
          <a:p>
            <a:r>
              <a:rPr lang="fr-CA"/>
              <a:t>FGF fixes 	                                  140 000 $</a:t>
            </a:r>
          </a:p>
          <a:p>
            <a:r>
              <a:rPr lang="fr-CA"/>
              <a:t>FV fixes	(112 500 $ x 0,6) </a:t>
            </a:r>
            <a:r>
              <a:rPr lang="fr-CA" u="sng"/>
              <a:t>=    67 500 $</a:t>
            </a:r>
          </a:p>
          <a:p>
            <a:r>
              <a:rPr lang="fr-CA"/>
              <a:t>		        207 500 $</a:t>
            </a:r>
          </a:p>
        </p:txBody>
      </p:sp>
    </p:spTree>
    <p:extLst>
      <p:ext uri="{BB962C8B-B14F-4D97-AF65-F5344CB8AC3E}">
        <p14:creationId xmlns:p14="http://schemas.microsoft.com/office/powerpoint/2010/main" val="1904323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0890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3375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cs typeface="Calibri" panose="020F0502020204030204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EA0BE-4D36-4E77-A41A-8CB3F59C50BC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0773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21925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2711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4E0AD9-40F1-4F31-9082-9383C39CF7CB}" type="slidenum">
              <a:rPr lang="en-US"/>
              <a:pPr/>
              <a:t>17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b="0" dirty="0"/>
          </a:p>
        </p:txBody>
      </p:sp>
    </p:spTree>
    <p:extLst>
      <p:ext uri="{BB962C8B-B14F-4D97-AF65-F5344CB8AC3E}">
        <p14:creationId xmlns:p14="http://schemas.microsoft.com/office/powerpoint/2010/main" val="3323517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B6086-3900-4F86-A31C-2240B6AC5EA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7563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EC88F8-338A-4323-93F2-984AFFBF83F6}" type="slidenum">
              <a:rPr lang="en-US"/>
              <a:pPr/>
              <a:t>19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62075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55F7EF-3CB2-4B66-9D05-A4B139ED9149}" type="slidenum">
              <a:rPr lang="en-US"/>
              <a:pPr/>
              <a:t>20</a:t>
            </a:fld>
            <a:endParaRPr 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3858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73995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0743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  <a:p>
            <a:endParaRPr lang="fr-CA" dirty="0"/>
          </a:p>
          <a:p>
            <a:r>
              <a:rPr lang="fr-CA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24162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667CA4-803D-4757-958D-253A6303574A}" type="slidenum">
              <a:rPr lang="en-US"/>
              <a:pPr/>
              <a:t>23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73891"/>
            <a:ext cx="5608320" cy="4168459"/>
          </a:xfrm>
        </p:spPr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5525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667CA4-803D-4757-958D-253A6303574A}" type="slidenum">
              <a:rPr lang="en-US"/>
              <a:pPr/>
              <a:t>24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62292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718810" cy="473360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43868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718810" cy="473360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0370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>
              <a:cs typeface="Calibri"/>
            </a:endParaRPr>
          </a:p>
          <a:p>
            <a:endParaRPr lang="fr-CA"/>
          </a:p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6872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785079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6736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A64D-EB6D-3F3F-4BC5-57BE2CB8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9045A3-7C32-A6E0-DEE7-644D10629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272E7B-EAE3-D8A3-86D4-897C76183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18115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21662-500D-5B60-9705-D6360150D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49259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62A5-0222-7208-A3BF-9BD42B6B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0E3575-33A6-2E0F-2924-26A277486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CF96B2-0410-244F-ECD9-A28603DD0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18115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44C6F6-9529-D6D2-CED8-C73254327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587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47A35D-525D-44ED-81AB-CC6D4F592AB1}" type="slidenum">
              <a:rPr lang="en-US"/>
              <a:pPr/>
              <a:t>32</a:t>
            </a:fld>
            <a:endParaRPr 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68694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774291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17468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64153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6478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149409"/>
          </a:xfrm>
        </p:spPr>
        <p:txBody>
          <a:bodyPr/>
          <a:lstStyle/>
          <a:p>
            <a:pPr>
              <a:defRPr/>
            </a:pPr>
            <a:endParaRPr lang="fr-CA" dirty="0"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98048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17550" y="4473891"/>
            <a:ext cx="5591810" cy="4356076"/>
          </a:xfrm>
        </p:spPr>
        <p:txBody>
          <a:bodyPr/>
          <a:lstStyle/>
          <a:p>
            <a:pPr marL="228600" indent="-228600">
              <a:buAutoNum type="arabicPeriod"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56633-E94B-447C-907F-5A907A338167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7153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0AA914-AD7F-48C5-984E-7279F826AC0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>
          <a:xfrm>
            <a:off x="701040" y="4473891"/>
            <a:ext cx="5608320" cy="4454209"/>
          </a:xfrm>
        </p:spPr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238181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02666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346C6-3B47-4DAC-9CBD-BFD6472A7C54}" type="slidenum">
              <a:rPr lang="fr-CA" smtClean="0"/>
              <a:t>40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85937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203257-382C-424D-AAED-938AD3F18826}" type="slidenum">
              <a:rPr lang="fr-CA" smtClean="0"/>
              <a:pPr/>
              <a:t>41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95385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031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765111" y="348065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 userDrawn="1"/>
        </p:nvCxnSpPr>
        <p:spPr>
          <a:xfrm>
            <a:off x="951722" y="359094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57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98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36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838200" y="22380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/>
          <p:cNvCxnSpPr/>
          <p:nvPr userDrawn="1"/>
        </p:nvCxnSpPr>
        <p:spPr>
          <a:xfrm>
            <a:off x="989046" y="238198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47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93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58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0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9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15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11004206" cy="82867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85800" y="1133475"/>
            <a:ext cx="11004206" cy="4886325"/>
          </a:xfrm>
        </p:spPr>
        <p:txBody>
          <a:bodyPr/>
          <a:lstStyle/>
          <a:p>
            <a:pPr lvl="0"/>
            <a:endParaRPr lang="en-CA" noProof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679580" y="1004694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 flipV="1">
            <a:off x="839756" y="1133475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45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839" y="369690"/>
            <a:ext cx="10553700" cy="9017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839" y="1435942"/>
            <a:ext cx="3449255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8839" y="2361745"/>
            <a:ext cx="3449255" cy="3673784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9084" y="1435942"/>
            <a:ext cx="3101854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42893" y="2361745"/>
            <a:ext cx="3101854" cy="3673784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43121" y="1435942"/>
            <a:ext cx="3401154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92707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9936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  5"/>
          <p:cNvSpPr>
            <a:spLocks noGrp="1"/>
          </p:cNvSpPr>
          <p:nvPr>
            <p:ph type="pic" sz="quarter" idx="18"/>
          </p:nvPr>
        </p:nvSpPr>
        <p:spPr>
          <a:xfrm>
            <a:off x="7960468" y="2361743"/>
            <a:ext cx="3382071" cy="367378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628663" y="1298249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 userDrawn="1"/>
        </p:nvCxnSpPr>
        <p:spPr>
          <a:xfrm flipV="1">
            <a:off x="788839" y="1427030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918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3292CD-2331-41BD-95EA-A1988440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824291-2540-4210-9FCC-AAFEB993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A456F8-1359-4B85-9F2E-BC4C681A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520133-7095-4C1B-AA0A-06B1B37D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(c) 10904 / S02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8C4214-C59A-481F-850C-A8D15C7F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9B6F-7984-48A3-9A47-56A72CAD0B3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4468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604935" y="3467101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 userDrawn="1"/>
        </p:nvCxnSpPr>
        <p:spPr>
          <a:xfrm>
            <a:off x="765111" y="3602038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573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980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369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938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58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5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05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960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156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11004206" cy="82867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85800" y="1133475"/>
            <a:ext cx="11004206" cy="4886325"/>
          </a:xfrm>
        </p:spPr>
        <p:txBody>
          <a:bodyPr/>
          <a:lstStyle/>
          <a:p>
            <a:pPr lvl="0"/>
            <a:endParaRPr lang="en-CA" noProof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679580" y="1004694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 flipV="1">
            <a:off x="839756" y="1133475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457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604935" y="3467101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 userDrawn="1"/>
        </p:nvCxnSpPr>
        <p:spPr>
          <a:xfrm>
            <a:off x="765111" y="3602038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104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12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5967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706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99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7243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5962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5866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407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11004206" cy="82867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85800" y="1133475"/>
            <a:ext cx="11004206" cy="4886325"/>
          </a:xfrm>
        </p:spPr>
        <p:txBody>
          <a:bodyPr/>
          <a:lstStyle/>
          <a:p>
            <a:pPr lvl="0"/>
            <a:endParaRPr lang="en-CA" noProof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679580" y="1004694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 flipV="1">
            <a:off x="839756" y="1133475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26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4906"/>
            <a:ext cx="1821024" cy="368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54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673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72" r:id="rId12"/>
    <p:sldLayoutId id="2147483687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1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4906"/>
            <a:ext cx="1821024" cy="368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08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2.sv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15" Type="http://schemas.openxmlformats.org/officeDocument/2006/relationships/image" Target="../media/image4.svg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notesSlide" Target="../notesSlides/notesSlide9.xml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3" Type="http://schemas.openxmlformats.org/officeDocument/2006/relationships/tags" Target="../tags/tag55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7.xml"/><Relationship Id="rId4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83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90.xml"/><Relationship Id="rId10" Type="http://schemas.openxmlformats.org/officeDocument/2006/relationships/slideLayout" Target="../slideLayouts/slideLayout17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99.xml"/><Relationship Id="rId10" Type="http://schemas.openxmlformats.org/officeDocument/2006/relationships/slideLayout" Target="../slideLayouts/slideLayout17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106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notesSlide" Target="../notesSlides/notesSlide20.xml"/><Relationship Id="rId5" Type="http://schemas.openxmlformats.org/officeDocument/2006/relationships/tags" Target="../tags/tag114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13.xml"/><Relationship Id="rId9" Type="http://schemas.openxmlformats.org/officeDocument/2006/relationships/tags" Target="../tags/tag1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7" Type="http://schemas.openxmlformats.org/officeDocument/2006/relationships/notesSlide" Target="../notesSlides/notesSlide2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notesSlide" Target="../notesSlides/notesSlide24.xml"/><Relationship Id="rId5" Type="http://schemas.openxmlformats.org/officeDocument/2006/relationships/tags" Target="../tags/tag136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35.xml"/><Relationship Id="rId9" Type="http://schemas.openxmlformats.org/officeDocument/2006/relationships/tags" Target="../tags/tag14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5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155.xml"/><Relationship Id="rId7" Type="http://schemas.openxmlformats.org/officeDocument/2006/relationships/notesSlide" Target="../notesSlides/notesSlide28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7.xml"/><Relationship Id="rId4" Type="http://schemas.openxmlformats.org/officeDocument/2006/relationships/tags" Target="../tags/tag1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7" Type="http://schemas.openxmlformats.org/officeDocument/2006/relationships/notesSlide" Target="../notesSlides/notesSlide29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2.xml"/><Relationship Id="rId4" Type="http://schemas.openxmlformats.org/officeDocument/2006/relationships/tags" Target="../tags/tag16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16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3" Type="http://schemas.openxmlformats.org/officeDocument/2006/relationships/tags" Target="../tags/tag17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notesSlide" Target="../notesSlides/notesSlide32.xml"/><Relationship Id="rId5" Type="http://schemas.openxmlformats.org/officeDocument/2006/relationships/tags" Target="../tags/tag17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8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9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3" Type="http://schemas.openxmlformats.org/officeDocument/2006/relationships/tags" Target="../tags/tag19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9" Type="http://schemas.openxmlformats.org/officeDocument/2006/relationships/image" Target="../media/image5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3" Type="http://schemas.openxmlformats.org/officeDocument/2006/relationships/tags" Target="../tags/tag20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9" Type="http://schemas.openxmlformats.org/officeDocument/2006/relationships/image" Target="../media/image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206.xml"/><Relationship Id="rId7" Type="http://schemas.openxmlformats.org/officeDocument/2006/relationships/notesSlide" Target="../notesSlides/notesSlide37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8.xml"/><Relationship Id="rId4" Type="http://schemas.openxmlformats.org/officeDocument/2006/relationships/tags" Target="../tags/tag20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18" Type="http://schemas.openxmlformats.org/officeDocument/2006/relationships/tags" Target="../tags/tag230.xml"/><Relationship Id="rId3" Type="http://schemas.openxmlformats.org/officeDocument/2006/relationships/tags" Target="../tags/tag215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notesSlide" Target="../notesSlides/notesSlide39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10" Type="http://schemas.openxmlformats.org/officeDocument/2006/relationships/tags" Target="../tags/tag222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2" Type="http://schemas.openxmlformats.org/officeDocument/2006/relationships/tags" Target="../tags/tag236.xml"/><Relationship Id="rId16" Type="http://schemas.openxmlformats.org/officeDocument/2006/relationships/notesSlide" Target="../notesSlides/notesSlide41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slideLayout" Target="../slideLayouts/slideLayout19.xml"/><Relationship Id="rId10" Type="http://schemas.openxmlformats.org/officeDocument/2006/relationships/tags" Target="../tags/tag244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841248" y="3194857"/>
            <a:ext cx="5808448" cy="91111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Département de sciences </a:t>
            </a:r>
            <a:r>
              <a:rPr lang="en-US" sz="2000" dirty="0" err="1">
                <a:solidFill>
                  <a:schemeClr val="tx1"/>
                </a:solidFill>
              </a:rPr>
              <a:t>comptables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Année </a:t>
            </a:r>
            <a:r>
              <a:rPr lang="en-US" sz="2000" dirty="0" err="1">
                <a:solidFill>
                  <a:schemeClr val="tx1"/>
                </a:solidFill>
              </a:rPr>
              <a:t>universitaire</a:t>
            </a:r>
            <a:r>
              <a:rPr lang="en-US" sz="2000" dirty="0">
                <a:solidFill>
                  <a:schemeClr val="tx1"/>
                </a:solidFill>
              </a:rPr>
              <a:t> 2026 – 2027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41248" y="1380847"/>
            <a:ext cx="6270964" cy="180705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Comptabilité</a:t>
            </a:r>
            <a:r>
              <a:rPr lang="en-US" sz="3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gestion</a:t>
            </a:r>
            <a:br>
              <a:rPr lang="en-US" sz="3800">
                <a:latin typeface="+mj-lt"/>
                <a:ea typeface="+mj-ea"/>
                <a:cs typeface="+mj-cs"/>
              </a:rPr>
            </a:br>
            <a:r>
              <a:rPr lang="en-US" sz="3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(10904) – Séance 2</a:t>
            </a:r>
            <a:br>
              <a:rPr lang="en-US" sz="3800">
                <a:latin typeface="+mj-lt"/>
                <a:ea typeface="+mj-ea"/>
                <a:cs typeface="+mj-cs"/>
              </a:rPr>
            </a:br>
            <a:r>
              <a:rPr lang="en-US" sz="3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Séance </a:t>
            </a:r>
            <a:r>
              <a:rPr lang="en-US" sz="38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classe</a:t>
            </a:r>
            <a:endParaRPr lang="en-US" sz="38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334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81BEB-A767-425C-846D-62B45938D60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42277" y="159752"/>
            <a:ext cx="10106555" cy="1042570"/>
          </a:xfrm>
        </p:spPr>
        <p:txBody>
          <a:bodyPr>
            <a:noAutofit/>
          </a:bodyPr>
          <a:lstStyle/>
          <a:p>
            <a:r>
              <a:rPr lang="fr-CA" sz="3600"/>
              <a:t>Révision séance 1: </a:t>
            </a:r>
            <a:br>
              <a:rPr lang="fr-CA" sz="4000"/>
            </a:br>
            <a:r>
              <a:rPr lang="fr-CA" sz="4000"/>
              <a:t>Classez les coûts </a:t>
            </a:r>
            <a:r>
              <a:rPr lang="fr-CA" sz="2400"/>
              <a:t>(</a:t>
            </a:r>
            <a:r>
              <a:rPr lang="fr-CA" sz="2400" b="1"/>
              <a:t>variables</a:t>
            </a:r>
            <a:r>
              <a:rPr lang="fr-CA" sz="2400"/>
              <a:t>, </a:t>
            </a:r>
            <a:r>
              <a:rPr lang="fr-CA" sz="2400" b="1"/>
              <a:t>fixes ou mixtes) (MP, MOD, FGF, FVA) </a:t>
            </a:r>
            <a:endParaRPr lang="fr-CA" sz="2400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920A05-6A76-4235-9D5D-0820168B91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A" i="1"/>
              <a:t>Exemple : pour une entreprise manufacturière qui fabrique des vélos</a:t>
            </a:r>
          </a:p>
          <a:p>
            <a:pPr marL="431800"/>
            <a:r>
              <a:rPr lang="fr-CA">
                <a:ea typeface="+mn-lt"/>
                <a:cs typeface="+mn-lt"/>
              </a:rPr>
              <a:t>Cadres en aluminium </a:t>
            </a:r>
          </a:p>
          <a:p>
            <a:pPr marL="431800"/>
            <a:r>
              <a:rPr lang="fr-CA">
                <a:ea typeface="+mn-lt"/>
                <a:cs typeface="+mn-lt"/>
              </a:rPr>
              <a:t>Pneus en caoutchouc </a:t>
            </a:r>
          </a:p>
          <a:p>
            <a:pPr marL="431800"/>
            <a:r>
              <a:rPr lang="fr-CA">
                <a:ea typeface="+mn-lt"/>
                <a:cs typeface="+mn-lt"/>
              </a:rPr>
              <a:t>Amortissement des équipements de production </a:t>
            </a:r>
          </a:p>
          <a:p>
            <a:pPr marL="431800"/>
            <a:r>
              <a:rPr lang="fr-CA"/>
              <a:t>Commissions des vendeurs </a:t>
            </a:r>
          </a:p>
          <a:p>
            <a:pPr marL="431800"/>
            <a:r>
              <a:rPr lang="fr-CA"/>
              <a:t>Salaire du directeur d'usine </a:t>
            </a:r>
          </a:p>
          <a:p>
            <a:pPr marL="431800"/>
            <a:r>
              <a:rPr lang="fr-CA">
                <a:ea typeface="+mn-lt"/>
                <a:cs typeface="+mn-lt"/>
              </a:rPr>
              <a:t>Salaire des ouvriers sur la chaîne de montage </a:t>
            </a:r>
          </a:p>
          <a:p>
            <a:pPr marL="431800"/>
            <a:r>
              <a:rPr lang="fr-CA">
                <a:ea typeface="+mn-lt"/>
                <a:cs typeface="+mn-lt"/>
              </a:rPr>
              <a:t>Entretien et réparation des équipements de production </a:t>
            </a:r>
          </a:p>
          <a:p>
            <a:pPr marL="431800"/>
            <a:r>
              <a:rPr lang="fr-CA">
                <a:ea typeface="+mn-lt"/>
                <a:cs typeface="+mn-lt"/>
              </a:rPr>
              <a:t>Électricité utilisée pour l'éclairage et les machines</a:t>
            </a:r>
            <a:r>
              <a:rPr lang="fr-CA">
                <a:solidFill>
                  <a:srgbClr val="0070C0"/>
                </a:solidFill>
                <a:ea typeface="+mn-lt"/>
                <a:cs typeface="+mn-lt"/>
              </a:rPr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B81601-7B4F-4470-A377-92A1B52293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B1F0E3C7-9DA5-FDCC-883D-6598B9F6308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01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BE599E6-8DE8-E7CB-F9D9-592F2E2B42E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14674" y="916128"/>
            <a:ext cx="4603531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200" b="1" u="sng"/>
              <a:t>Diriger </a:t>
            </a:r>
            <a:r>
              <a:rPr lang="fr-CA" u="sng"/>
              <a:t>(analyse d’aide à la prise de décision)</a:t>
            </a:r>
          </a:p>
          <a:p>
            <a:endParaRPr lang="fr-CA"/>
          </a:p>
          <a:p>
            <a:r>
              <a:rPr lang="fr-CA"/>
              <a:t>Analyser la rentabilité globale de l’entreprise</a:t>
            </a:r>
            <a:endParaRPr lang="fr-CA" u="sng"/>
          </a:p>
          <a:p>
            <a:r>
              <a:rPr lang="fr-CA">
                <a:solidFill>
                  <a:srgbClr val="0070C0"/>
                </a:solidFill>
              </a:rPr>
              <a:t>(S02) L’analyse coût-volume-résultat (CVR) </a:t>
            </a:r>
            <a:r>
              <a:rPr lang="fr-CA"/>
              <a:t>- </a:t>
            </a:r>
            <a:r>
              <a:rPr lang="fr-CA" i="1"/>
              <a:t>analyse que subit le résultat par suite de changements</a:t>
            </a:r>
          </a:p>
          <a:p>
            <a:pPr marL="742950" lvl="1" indent="-285750">
              <a:buFontTx/>
              <a:buChar char="-"/>
            </a:pPr>
            <a:r>
              <a:rPr lang="fr-CA"/>
              <a:t>Coûts fixes</a:t>
            </a:r>
          </a:p>
          <a:p>
            <a:pPr marL="742950" lvl="1" indent="-285750">
              <a:buFontTx/>
              <a:buChar char="-"/>
            </a:pPr>
            <a:r>
              <a:rPr lang="fr-CA"/>
              <a:t>Coûts variables</a:t>
            </a:r>
          </a:p>
          <a:p>
            <a:pPr marL="742950" lvl="1" indent="-285750">
              <a:buFontTx/>
              <a:buChar char="-"/>
            </a:pPr>
            <a:r>
              <a:rPr lang="fr-CA"/>
              <a:t>Quantité vendue (volume)</a:t>
            </a:r>
          </a:p>
          <a:p>
            <a:pPr marL="742950" lvl="1" indent="-285750">
              <a:buFontTx/>
              <a:buChar char="-"/>
            </a:pPr>
            <a:r>
              <a:rPr lang="fr-CA"/>
              <a:t>Prix de vente</a:t>
            </a:r>
          </a:p>
          <a:p>
            <a:pPr lvl="1"/>
            <a:r>
              <a:rPr lang="fr-CA" b="1"/>
              <a:t>Concept</a:t>
            </a:r>
            <a:r>
              <a:rPr lang="fr-CA"/>
              <a:t> : Équation du résultat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/>
          </a:p>
          <a:p>
            <a:pPr>
              <a:spcAft>
                <a:spcPts val="600"/>
              </a:spcAft>
            </a:pPr>
            <a:r>
              <a:rPr lang="fr-CA">
                <a:solidFill>
                  <a:schemeClr val="bg1">
                    <a:lumMod val="85000"/>
                  </a:schemeClr>
                </a:solidFill>
              </a:rPr>
              <a:t>(S03-S04) Prendre des décisions à court terme 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>
                <a:solidFill>
                  <a:schemeClr val="bg1">
                    <a:lumMod val="85000"/>
                  </a:schemeClr>
                </a:solidFill>
              </a:rPr>
              <a:t>L’analyse différentielle et calculs de marges</a:t>
            </a:r>
          </a:p>
          <a:p>
            <a:r>
              <a:rPr lang="fr-CA">
                <a:solidFill>
                  <a:schemeClr val="bg1">
                    <a:lumMod val="85000"/>
                  </a:schemeClr>
                </a:solidFill>
              </a:rPr>
              <a:t>(S05) Analyse la rentabilité par produit</a:t>
            </a:r>
          </a:p>
          <a:p>
            <a:pPr marL="285750" indent="-180000">
              <a:buFont typeface="Arial" panose="020B0604020202020204" pitchFamily="34" charset="0"/>
              <a:buChar char="•"/>
            </a:pPr>
            <a:r>
              <a:rPr lang="fr-CA">
                <a:solidFill>
                  <a:schemeClr val="bg1">
                    <a:lumMod val="85000"/>
                  </a:schemeClr>
                </a:solidFill>
              </a:rPr>
              <a:t>Coût de fabrication unitaire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B40286-696B-7A13-68DA-D5AB015768E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74833" y="258901"/>
            <a:ext cx="38283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</a:rPr>
              <a:t>(S08) Contrôler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</a:rPr>
              <a:t> la rentabilité dans l’entreprise manufacturière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>
                <a:solidFill>
                  <a:schemeClr val="bg1">
                    <a:lumMod val="85000"/>
                  </a:schemeClr>
                </a:solidFill>
              </a:rPr>
              <a:t>État des résultats réels </a:t>
            </a:r>
            <a:r>
              <a:rPr lang="fr-CA" dirty="0">
                <a:solidFill>
                  <a:schemeClr val="bg1">
                    <a:lumMod val="85000"/>
                  </a:schemeClr>
                </a:solidFill>
              </a:rPr>
              <a:t>(État du coût de fabrication)</a:t>
            </a:r>
          </a:p>
          <a:p>
            <a:pPr>
              <a:spcAft>
                <a:spcPts val="600"/>
              </a:spcAft>
            </a:pPr>
            <a:r>
              <a:rPr lang="fr-CA" b="1" dirty="0">
                <a:solidFill>
                  <a:schemeClr val="bg1">
                    <a:lumMod val="85000"/>
                  </a:schemeClr>
                </a:solidFill>
              </a:rPr>
              <a:t>(S08-S09) Planifier </a:t>
            </a:r>
          </a:p>
          <a:p>
            <a:pPr>
              <a:spcAft>
                <a:spcPts val="600"/>
              </a:spcAft>
            </a:pPr>
            <a:r>
              <a:rPr lang="fr-CA" i="1" dirty="0">
                <a:solidFill>
                  <a:schemeClr val="bg1">
                    <a:lumMod val="85000"/>
                  </a:schemeClr>
                </a:solidFill>
              </a:rPr>
              <a:t>Établir des prévisions</a:t>
            </a:r>
          </a:p>
          <a:p>
            <a:endParaRPr lang="fr-CA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CA" b="1" dirty="0">
                <a:solidFill>
                  <a:schemeClr val="bg1">
                    <a:lumMod val="85000"/>
                  </a:schemeClr>
                </a:solidFill>
              </a:rPr>
              <a:t>(S10) Contrôler </a:t>
            </a:r>
          </a:p>
          <a:p>
            <a:r>
              <a:rPr lang="fr-CA" i="1" dirty="0">
                <a:solidFill>
                  <a:schemeClr val="bg1">
                    <a:lumMod val="85000"/>
                  </a:schemeClr>
                </a:solidFill>
              </a:rPr>
              <a:t>Mesurer la performance et </a:t>
            </a:r>
          </a:p>
          <a:p>
            <a:r>
              <a:rPr lang="fr-CA" i="1" dirty="0">
                <a:solidFill>
                  <a:schemeClr val="bg1">
                    <a:lumMod val="85000"/>
                  </a:schemeClr>
                </a:solidFill>
              </a:rPr>
              <a:t>calculer les écarts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4BBD32-11CC-298E-8470-72964E6575D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6841" y="228600"/>
            <a:ext cx="12297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000">
                <a:ln w="0"/>
                <a:solidFill>
                  <a:srgbClr val="002060"/>
                </a:solidFill>
                <a:latin typeface="+mj-lt"/>
              </a:rPr>
              <a:t>S02</a:t>
            </a:r>
          </a:p>
        </p:txBody>
      </p:sp>
      <p:graphicFrame>
        <p:nvGraphicFramePr>
          <p:cNvPr id="9" name="Tableau 9">
            <a:extLst>
              <a:ext uri="{FF2B5EF4-FFF2-40B4-BE49-F238E27FC236}">
                <a16:creationId xmlns:a16="http://schemas.microsoft.com/office/drawing/2014/main" id="{C81B4254-A623-6933-EBB5-E2E947E16717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658242" y="3548918"/>
          <a:ext cx="7233182" cy="265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7282">
                  <a:extLst>
                    <a:ext uri="{9D8B030D-6E8A-4147-A177-3AD203B41FA5}">
                      <a16:colId xmlns:a16="http://schemas.microsoft.com/office/drawing/2014/main" val="3498432828"/>
                    </a:ext>
                  </a:extLst>
                </a:gridCol>
                <a:gridCol w="2170940">
                  <a:extLst>
                    <a:ext uri="{9D8B030D-6E8A-4147-A177-3AD203B41FA5}">
                      <a16:colId xmlns:a16="http://schemas.microsoft.com/office/drawing/2014/main" val="555937702"/>
                    </a:ext>
                  </a:extLst>
                </a:gridCol>
                <a:gridCol w="2624960">
                  <a:extLst>
                    <a:ext uri="{9D8B030D-6E8A-4147-A177-3AD203B41FA5}">
                      <a16:colId xmlns:a16="http://schemas.microsoft.com/office/drawing/2014/main" val="1558667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u="sng"/>
                        <a:t>Méthodes pour la comptabilité de 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Classification des coûts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Types de marges calculées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889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>
                          <a:solidFill>
                            <a:srgbClr val="0070C0"/>
                          </a:solidFill>
                        </a:rPr>
                        <a:t>Méthode des coûts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solidFill>
                            <a:srgbClr val="0070C0"/>
                          </a:solidFill>
                        </a:rPr>
                        <a:t>Variables ou Fixes</a:t>
                      </a:r>
                      <a:endParaRPr lang="fr-CA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solidFill>
                            <a:srgbClr val="0070C0"/>
                          </a:solidFill>
                        </a:rPr>
                        <a:t>Marge sur coûts variables (MCV)</a:t>
                      </a:r>
                    </a:p>
                    <a:p>
                      <a:r>
                        <a:rPr lang="fr-CA" sz="14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Marge par facteur de production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822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Méthode des coûts spécifiques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Variables ou Fixes</a:t>
                      </a:r>
                    </a:p>
                    <a:p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Fixes : communs ou spécifiques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Marge sur coûts spécifiques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708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Méthode des coûts complets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Coût de fabrication et frais d’exploitation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Marge brute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6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Méthode des coûts standards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40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40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136118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0BFDD97C-AEF2-05D4-C24A-E6D9601705C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077828" y="1786247"/>
            <a:ext cx="2612394" cy="892552"/>
          </a:xfrm>
          <a:prstGeom prst="rect">
            <a:avLst/>
          </a:prstGeom>
          <a:ln w="38100"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CA" b="1"/>
              <a:t>Ventes – Coûts = </a:t>
            </a:r>
          </a:p>
          <a:p>
            <a:pPr algn="ctr"/>
            <a:r>
              <a:rPr lang="fr-CA" b="1"/>
              <a:t>Résultat d’exploitation</a:t>
            </a:r>
          </a:p>
          <a:p>
            <a:pPr algn="ctr"/>
            <a:r>
              <a:rPr lang="fr-CA" sz="1600" i="1"/>
              <a:t>Total ou unitaire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C5F1D-ABE3-6EDD-3827-0288C476A8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4D6103-67D9-7BF4-F45E-1023962B36F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45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049EE67-9B58-43C9-B63C-35C88F9CF13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9628C8-3D2A-D54F-B963-0C782B8D3F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8579" y="1533998"/>
            <a:ext cx="1078992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CA" sz="3600"/>
              <a:t>Analyse coût-volume-résultat (CVR) et prise de décision</a:t>
            </a:r>
            <a:endParaRPr lang="en-US" sz="3600" spc="136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Poppins Light" pitchFamily="2" charset="77"/>
            </a:endParaRPr>
          </a:p>
        </p:txBody>
      </p:sp>
      <p:sp>
        <p:nvSpPr>
          <p:cNvPr id="29" name="Shape 46488">
            <a:extLst>
              <a:ext uri="{FF2B5EF4-FFF2-40B4-BE49-F238E27FC236}">
                <a16:creationId xmlns:a16="http://schemas.microsoft.com/office/drawing/2014/main" id="{10812663-49DB-8544-A992-5B1029F73BD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 rot="5400000" flipH="1">
            <a:off x="2884518" y="2397959"/>
            <a:ext cx="1744297" cy="16794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0" tIns="0" rIns="0" bIns="0" numCol="1" anchor="t">
            <a:noAutofit/>
          </a:bodyPr>
          <a:lstStyle/>
          <a:p>
            <a:pPr algn="ctr"/>
            <a:r>
              <a:rPr lang="fr-CA" sz="2279">
                <a:latin typeface="Lato Light" panose="020F0502020204030203" pitchFamily="34" charset="0"/>
              </a:rPr>
              <a:t>Définition Analyse CVR</a:t>
            </a:r>
          </a:p>
          <a:p>
            <a:pPr algn="ctr"/>
            <a:r>
              <a:rPr lang="fr-CA" sz="2279">
                <a:latin typeface="Lato Light" panose="020F0502020204030203" pitchFamily="34" charset="0"/>
              </a:rPr>
              <a:t>(théorie)</a:t>
            </a:r>
          </a:p>
        </p:txBody>
      </p:sp>
      <p:sp>
        <p:nvSpPr>
          <p:cNvPr id="25" name="Shape 46493">
            <a:extLst>
              <a:ext uri="{FF2B5EF4-FFF2-40B4-BE49-F238E27FC236}">
                <a16:creationId xmlns:a16="http://schemas.microsoft.com/office/drawing/2014/main" id="{FEE676C4-64DA-8045-83AB-D66EA1A9D4AC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 rot="5400000" flipH="1">
            <a:off x="5271391" y="2397959"/>
            <a:ext cx="1744296" cy="1679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wrap="square" lIns="0" tIns="0" rIns="0" bIns="0" numCol="1" anchor="t">
            <a:noAutofit/>
          </a:bodyPr>
          <a:lstStyle/>
          <a:p>
            <a:pPr algn="ctr"/>
            <a:r>
              <a:rPr lang="fr-CA" sz="2279">
                <a:latin typeface="Lato Light" panose="020F0502020204030203" pitchFamily="34" charset="0"/>
              </a:rPr>
              <a:t>Illustration Organisation d’un party</a:t>
            </a:r>
            <a:endParaRPr sz="2279">
              <a:latin typeface="Lato Light" panose="020F0502020204030203" pitchFamily="34" charset="0"/>
            </a:endParaRPr>
          </a:p>
        </p:txBody>
      </p:sp>
      <p:sp>
        <p:nvSpPr>
          <p:cNvPr id="21" name="Shape 46498">
            <a:extLst>
              <a:ext uri="{FF2B5EF4-FFF2-40B4-BE49-F238E27FC236}">
                <a16:creationId xmlns:a16="http://schemas.microsoft.com/office/drawing/2014/main" id="{53AAEBB2-B12E-A84F-8523-B894E8AC61D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 rot="5400000" flipH="1">
            <a:off x="7658263" y="2397959"/>
            <a:ext cx="1744296" cy="1679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wrap="square" lIns="0" tIns="0" rIns="0" bIns="0" numCol="1" anchor="t">
            <a:noAutofit/>
          </a:bodyPr>
          <a:lstStyle/>
          <a:p>
            <a:pPr algn="ctr"/>
            <a:r>
              <a:rPr lang="fr-CA" sz="2279">
                <a:latin typeface="Lato Light" panose="020F0502020204030203" pitchFamily="34" charset="0"/>
              </a:rPr>
              <a:t>Prise de décision et l’analyse CVR</a:t>
            </a:r>
            <a:endParaRPr sz="2279">
              <a:latin typeface="Lato Light" panose="020F0502020204030203" pitchFamily="34" charset="0"/>
            </a:endParaRPr>
          </a:p>
        </p:txBody>
      </p:sp>
      <p:pic>
        <p:nvPicPr>
          <p:cNvPr id="5" name="Graphique 4" descr="Badge 1 contour">
            <a:extLst>
              <a:ext uri="{FF2B5EF4-FFF2-40B4-BE49-F238E27FC236}">
                <a16:creationId xmlns:a16="http://schemas.microsoft.com/office/drawing/2014/main" id="{CCB1879A-CE9A-BF7C-5979-6FAB792BF2E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99466" y="4264298"/>
            <a:ext cx="914400" cy="914400"/>
          </a:xfrm>
          <a:prstGeom prst="rect">
            <a:avLst/>
          </a:prstGeom>
        </p:spPr>
      </p:pic>
      <p:pic>
        <p:nvPicPr>
          <p:cNvPr id="7" name="Graphique 6" descr="Badge contour">
            <a:extLst>
              <a:ext uri="{FF2B5EF4-FFF2-40B4-BE49-F238E27FC236}">
                <a16:creationId xmlns:a16="http://schemas.microsoft.com/office/drawing/2014/main" id="{1ADBDBF0-A6E8-741F-E12D-71307E92BB2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73357" y="4264298"/>
            <a:ext cx="914400" cy="914400"/>
          </a:xfrm>
          <a:prstGeom prst="rect">
            <a:avLst/>
          </a:prstGeom>
        </p:spPr>
      </p:pic>
      <p:pic>
        <p:nvPicPr>
          <p:cNvPr id="9" name="Graphique 8" descr="Badge 3 contour">
            <a:extLst>
              <a:ext uri="{FF2B5EF4-FFF2-40B4-BE49-F238E27FC236}">
                <a16:creationId xmlns:a16="http://schemas.microsoft.com/office/drawing/2014/main" id="{E10C9AFC-F527-89D6-165E-3987436498A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73211" y="4260887"/>
            <a:ext cx="914400" cy="914400"/>
          </a:xfrm>
          <a:prstGeom prst="rect">
            <a:avLst/>
          </a:prstGeom>
        </p:spPr>
      </p:pic>
      <p:sp>
        <p:nvSpPr>
          <p:cNvPr id="4" name="TextBox 40">
            <a:extLst>
              <a:ext uri="{FF2B5EF4-FFF2-40B4-BE49-F238E27FC236}">
                <a16:creationId xmlns:a16="http://schemas.microsoft.com/office/drawing/2014/main" id="{8576DB46-3222-4622-FA78-360C9204192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9410" y="318247"/>
            <a:ext cx="1078992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spc="136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Poppins Light" pitchFamily="2" charset="77"/>
              </a:rPr>
              <a:t>PLAN DE LA SÉANCE 2</a:t>
            </a: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C507533A-3897-0FE3-F975-0E8E031E18E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17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Objectifs de la séance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7851"/>
            <a:ext cx="10515600" cy="488529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CA"/>
              <a:t>Comprendre la structure de coûts (coûts variables et coûts fixes) et son importance dans l’évaluation du résultat</a:t>
            </a:r>
          </a:p>
          <a:p>
            <a:r>
              <a:rPr lang="fr-CA"/>
              <a:t>Calculer la marge sur coûts variables (MCV)</a:t>
            </a:r>
          </a:p>
          <a:p>
            <a:r>
              <a:rPr lang="fr-CA"/>
              <a:t>Calculer, à l’aide de l’analyse coût / volume / résultat (CVR)</a:t>
            </a:r>
          </a:p>
          <a:p>
            <a:pPr lvl="1"/>
            <a:r>
              <a:rPr lang="fr-CA"/>
              <a:t>le point mort (seuil de rentabilité)</a:t>
            </a:r>
          </a:p>
          <a:p>
            <a:pPr lvl="1"/>
            <a:r>
              <a:rPr lang="fr-CA"/>
              <a:t>la marge de sécurité</a:t>
            </a:r>
          </a:p>
          <a:p>
            <a:pPr lvl="1"/>
            <a:r>
              <a:rPr lang="fr-CA"/>
              <a:t>le résultat potentiel</a:t>
            </a:r>
          </a:p>
          <a:p>
            <a:pPr lvl="1"/>
            <a:r>
              <a:rPr lang="fr-CA"/>
              <a:t>le résultat cible </a:t>
            </a:r>
          </a:p>
          <a:p>
            <a:r>
              <a:rPr lang="fr-CA"/>
              <a:t>Établir le seuil d’indifférence entre deux propositions affectant la structure des coûts d’une entreprise</a:t>
            </a:r>
          </a:p>
          <a:p>
            <a:r>
              <a:rPr lang="fr-CA"/>
              <a:t>Analyser, interpréter et utiliser les résultats obtenus en fonction du volume d’extrants dans un contexte de prise de décisions</a:t>
            </a:r>
          </a:p>
          <a:p>
            <a:pPr marL="0" indent="0">
              <a:buNone/>
            </a:pPr>
            <a:endParaRPr lang="fr-CA">
              <a:cs typeface="Calibri"/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0932009F-F5DE-0079-42AB-96FDBDA0583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7957D246-DF42-F3B6-427C-EF7EFE32329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200740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rmAutofit/>
          </a:bodyPr>
          <a:lstStyle/>
          <a:p>
            <a:r>
              <a:rPr lang="fr-FR" sz="4000"/>
              <a:t>Définition de l’analyse CVR</a:t>
            </a:r>
            <a:endParaRPr lang="en-CA" sz="400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Permet l’analyse du comportement des revenus et des coûts en fonction du volume d’activité afin de mesurer l’effet des variations des différentes composantes sur le résultat d’exploitation</a:t>
            </a:r>
          </a:p>
          <a:p>
            <a:r>
              <a:rPr lang="fr-CA"/>
              <a:t>Est fondée sur la classification des coûts fixes et des coûts variables</a:t>
            </a:r>
          </a:p>
          <a:p>
            <a:r>
              <a:rPr lang="fr-CA"/>
              <a:t>Informe sur la rentabilité globale actuelle et permet de déterminer la rentabilité future en fonction de l’évolution du volume d’activité (rentabilité VS risque de pertes)</a:t>
            </a:r>
          </a:p>
        </p:txBody>
      </p: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1678675" y="5219700"/>
            <a:ext cx="9503675" cy="60007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3200" b="1">
                <a:solidFill>
                  <a:srgbClr val="C00000"/>
                </a:solidFill>
              </a:rPr>
              <a:t>Doit être adaptée au contexte de chaque entreprise…</a:t>
            </a: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608BBE38-7B07-F463-6364-3F94AB41AEB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44E31F84-A21B-8B36-9FC8-9397C7C4C84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72122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>
            <a:normAutofit/>
          </a:bodyPr>
          <a:lstStyle/>
          <a:p>
            <a:r>
              <a:rPr lang="fr-FR" sz="4000"/>
              <a:t>Les hypothèses de l’analyse CVR</a:t>
            </a:r>
            <a:endParaRPr lang="fr-FR" sz="4000">
              <a:cs typeface="Calibri Light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sz="2400"/>
              <a:t>Le changement d'activité est le seul facteur qui affecte les coûts totaux. </a:t>
            </a:r>
            <a:endParaRPr lang="en-US" sz="2400"/>
          </a:p>
          <a:p>
            <a:r>
              <a:rPr lang="fr-CA" sz="2400"/>
              <a:t>Tous les coûts peuvent être classés comme étant soit variables, soit fixes.</a:t>
            </a:r>
          </a:p>
          <a:p>
            <a:pPr marL="171450" indent="-171450"/>
            <a:r>
              <a:rPr lang="fr-CA" sz="2400"/>
              <a:t>Le volume d'activité est compris à l'intérieur du segment significatif. </a:t>
            </a:r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defRPr/>
            </a:pPr>
            <a:r>
              <a:rPr lang="fr-CA"/>
              <a:t>Coûts fixes = insensibles à la variation du volume (coût fixe total est identique quel que soit le volume d’activité)</a:t>
            </a:r>
            <a:br>
              <a:rPr lang="fr-CA"/>
            </a:br>
            <a:r>
              <a:rPr lang="fr-CA"/>
              <a:t>Coûts variables = proportionnels au volume d’activité</a:t>
            </a:r>
          </a:p>
          <a:p>
            <a:r>
              <a:rPr lang="fr-CA" sz="2400"/>
              <a:t>Le niveau des stocks reste constant - toutes les unités produites sont vendues.</a:t>
            </a:r>
          </a:p>
          <a:p>
            <a:r>
              <a:rPr lang="fr-CA" sz="2400">
                <a:cs typeface="Calibri"/>
              </a:rPr>
              <a:t>Les ventes sont proportionnelles au volume d’activité à l’intérieur du segment significatif</a:t>
            </a:r>
          </a:p>
          <a:p>
            <a:r>
              <a:rPr lang="en-US" sz="2400"/>
              <a:t>Le mix de ventes </a:t>
            </a:r>
            <a:r>
              <a:rPr lang="en-US" sz="2400" err="1"/>
              <a:t>demeure</a:t>
            </a:r>
            <a:r>
              <a:rPr lang="en-US" sz="2400"/>
              <a:t> constant. </a:t>
            </a:r>
            <a:endParaRPr lang="fr-CA" sz="2400"/>
          </a:p>
          <a:p>
            <a:pPr marL="0" indent="0">
              <a:buNone/>
            </a:pPr>
            <a:endParaRPr lang="fr-CA" sz="2400">
              <a:highlight>
                <a:srgbClr val="FFFF00"/>
              </a:highlight>
              <a:cs typeface="Calibri"/>
            </a:endParaRPr>
          </a:p>
          <a:p>
            <a:pPr marL="0" indent="0">
              <a:buNone/>
            </a:pPr>
            <a:endParaRPr lang="fr-CA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41699-7B2E-48F4-8B6F-2C73D1F59F3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928B5479-432F-0708-32C1-03E062BC16B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6784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rmAutofit/>
          </a:bodyPr>
          <a:lstStyle/>
          <a:p>
            <a:r>
              <a:rPr lang="fr-FR" sz="4000"/>
              <a:t>Utilisation de l’analyse CVR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782308"/>
            <a:ext cx="10277475" cy="47091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dirty="0"/>
              <a:t>Permet d’analyser l’effet sur le </a:t>
            </a:r>
            <a:r>
              <a:rPr lang="fr-FR" b="1" dirty="0"/>
              <a:t>résultat d’exploitation</a:t>
            </a:r>
            <a:r>
              <a:rPr lang="fr-FR" dirty="0"/>
              <a:t>…</a:t>
            </a:r>
          </a:p>
          <a:p>
            <a:pPr lvl="1"/>
            <a:r>
              <a:rPr lang="fr-CA" sz="2800" dirty="0"/>
              <a:t>D’une modification de la structure de coûts</a:t>
            </a:r>
            <a:endParaRPr lang="fr-CA" sz="2800" dirty="0">
              <a:cs typeface="Calibri"/>
            </a:endParaRPr>
          </a:p>
          <a:p>
            <a:pPr lvl="2"/>
            <a:r>
              <a:rPr lang="fr-CA" sz="2800" dirty="0"/>
              <a:t>% des </a:t>
            </a:r>
            <a:r>
              <a:rPr lang="fr-CA" sz="2800" b="1" dirty="0"/>
              <a:t>coûts fixes </a:t>
            </a:r>
            <a:r>
              <a:rPr lang="fr-CA" sz="2800" dirty="0"/>
              <a:t>vs % des </a:t>
            </a:r>
            <a:r>
              <a:rPr lang="fr-CA" sz="2800" b="1" dirty="0"/>
              <a:t>coûts variables</a:t>
            </a:r>
            <a:endParaRPr lang="fr-CA" sz="2800" b="1" dirty="0">
              <a:cs typeface="Calibri"/>
            </a:endParaRPr>
          </a:p>
          <a:p>
            <a:pPr lvl="2"/>
            <a:r>
              <a:rPr lang="fr-CA" sz="2800" dirty="0">
                <a:cs typeface="Calibri"/>
              </a:rPr>
              <a:t>Exemple : investissement dans de nouveaux équipements</a:t>
            </a:r>
          </a:p>
          <a:p>
            <a:pPr lvl="1"/>
            <a:r>
              <a:rPr lang="fr-CA" sz="2800" dirty="0"/>
              <a:t>D’une variation du </a:t>
            </a:r>
            <a:r>
              <a:rPr lang="fr-CA" sz="2800" b="1" dirty="0"/>
              <a:t>volume</a:t>
            </a:r>
            <a:r>
              <a:rPr lang="fr-CA" sz="2800" dirty="0"/>
              <a:t> d’extrants</a:t>
            </a:r>
          </a:p>
          <a:p>
            <a:pPr lvl="1"/>
            <a:r>
              <a:rPr lang="fr-CA" sz="2800" dirty="0">
                <a:cs typeface="Calibri"/>
              </a:rPr>
              <a:t>D’une modification du </a:t>
            </a:r>
            <a:r>
              <a:rPr lang="fr-CA" sz="2800" b="1" dirty="0">
                <a:cs typeface="Calibri"/>
              </a:rPr>
              <a:t>prix de vente</a:t>
            </a:r>
          </a:p>
          <a:p>
            <a:pPr lvl="1"/>
            <a:r>
              <a:rPr lang="fr-CA" sz="2800" dirty="0"/>
              <a:t>D’un changement dans la combinaison du volume d’extrants</a:t>
            </a:r>
            <a:endParaRPr lang="fr-CA" sz="2800" dirty="0">
              <a:cs typeface="Calibri"/>
            </a:endParaRPr>
          </a:p>
          <a:p>
            <a:pPr lvl="2"/>
            <a:r>
              <a:rPr lang="fr-CA" sz="2800" dirty="0"/>
              <a:t>Exemple: si l’entreprise fabrique plusieurs produits</a:t>
            </a:r>
            <a:endParaRPr lang="fr-CA" sz="2800" dirty="0">
              <a:cs typeface="Calibri"/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80060482-E03B-5C4E-D799-DC9A2CDD7BE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D476580F-D9F9-84A8-DCC5-9627FBE7F83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825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798490" y="188913"/>
            <a:ext cx="11032928" cy="1143000"/>
          </a:xfrm>
        </p:spPr>
        <p:txBody>
          <a:bodyPr vert="horz" anchor="ctr">
            <a:normAutofit/>
          </a:bodyPr>
          <a:lstStyle/>
          <a:p>
            <a:r>
              <a:rPr lang="fr-CA" sz="4000" dirty="0"/>
              <a:t>Équation du résultat (</a:t>
            </a:r>
            <a:r>
              <a:rPr lang="fr-CA" sz="3600" dirty="0"/>
              <a:t>une autre façon de visualiser</a:t>
            </a:r>
            <a:r>
              <a:rPr lang="fr-CA" sz="4000" dirty="0"/>
              <a:t>)</a:t>
            </a:r>
            <a:endParaRPr lang="en-CA" sz="4000" dirty="0">
              <a:highlight>
                <a:srgbClr val="FFFF00"/>
              </a:highlight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06400" y="1571425"/>
            <a:ext cx="11276084" cy="453707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80000"/>
              </a:spcBef>
              <a:buFont typeface="Wingdings" pitchFamily="2" charset="2"/>
              <a:buNone/>
            </a:pPr>
            <a:r>
              <a:rPr lang="fr-CA" sz="3200" dirty="0"/>
              <a:t>Sert de base à l’analyse CVR</a:t>
            </a:r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r>
              <a:rPr lang="fr-CA" sz="2800" b="1" dirty="0"/>
              <a:t>Résultat d’exploitation </a:t>
            </a:r>
            <a:r>
              <a:rPr lang="fr-CA" sz="2800" dirty="0"/>
              <a:t>= Ventes – Coûts</a:t>
            </a:r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r>
              <a:rPr lang="fr-CA" sz="2800" dirty="0"/>
              <a:t>Résultat d’exploitation = Ventes –  (coûts variables + coûts fixes)</a:t>
            </a:r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r>
              <a:rPr lang="fr-CA" sz="2800" dirty="0"/>
              <a:t>Résultat d’exploitation = </a:t>
            </a:r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r>
              <a:rPr lang="fr-CA" sz="2800" dirty="0"/>
              <a:t>((Prix vente unitaire -  coûts variables unitaires) x </a:t>
            </a:r>
            <a:r>
              <a:rPr lang="fr-CA" sz="2800" dirty="0">
                <a:solidFill>
                  <a:srgbClr val="FF0000"/>
                </a:solidFill>
              </a:rPr>
              <a:t>Volume</a:t>
            </a:r>
            <a:r>
              <a:rPr lang="fr-CA" sz="2800" dirty="0"/>
              <a:t> ) – coûts fixes totaux</a:t>
            </a:r>
          </a:p>
          <a:p>
            <a:pPr lvl="1">
              <a:spcBef>
                <a:spcPct val="80000"/>
              </a:spcBef>
              <a:buNone/>
            </a:pPr>
            <a:r>
              <a:rPr lang="fr-CA" sz="2800" dirty="0"/>
              <a:t>Résultat d’exploitation = (MCV unitaire x </a:t>
            </a:r>
            <a:r>
              <a:rPr lang="fr-CA" sz="2800" dirty="0">
                <a:solidFill>
                  <a:srgbClr val="FF0000"/>
                </a:solidFill>
              </a:rPr>
              <a:t>Volume</a:t>
            </a:r>
            <a:r>
              <a:rPr lang="fr-CA" sz="2800" dirty="0"/>
              <a:t>)  – coûts fixes totaux</a:t>
            </a:r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r>
              <a:rPr lang="fr-CA" sz="2800" dirty="0"/>
              <a:t>Résultat d’exploitation = MCV totale – coûts fixes</a:t>
            </a:r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endParaRPr lang="fr-CA" dirty="0"/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endParaRPr lang="fr-CA" dirty="0"/>
          </a:p>
          <a:p>
            <a:pPr lvl="1">
              <a:spcBef>
                <a:spcPct val="80000"/>
              </a:spcBef>
              <a:buFont typeface="Wingdings" pitchFamily="2" charset="2"/>
              <a:buNone/>
            </a:pPr>
            <a:endParaRPr lang="ru-RU" dirty="0"/>
          </a:p>
        </p:txBody>
      </p:sp>
      <p:sp>
        <p:nvSpPr>
          <p:cNvPr id="3" name="Accolade ouvrante 2"/>
          <p:cNvSpPr/>
          <p:nvPr>
            <p:custDataLst>
              <p:tags r:id="rId4"/>
            </p:custDataLst>
          </p:nvPr>
        </p:nvSpPr>
        <p:spPr>
          <a:xfrm rot="5400000">
            <a:off x="7343723" y="645319"/>
            <a:ext cx="325891" cy="4175413"/>
          </a:xfrm>
          <a:prstGeom prst="leftBrace">
            <a:avLst>
              <a:gd name="adj1" fmla="val 8333"/>
              <a:gd name="adj2" fmla="val 89546"/>
            </a:avLst>
          </a:prstGeom>
          <a:ln w="28575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ccolade ouvrante 9">
            <a:extLst>
              <a:ext uri="{FF2B5EF4-FFF2-40B4-BE49-F238E27FC236}">
                <a16:creationId xmlns:a16="http://schemas.microsoft.com/office/drawing/2014/main" id="{34BAB092-279D-4A22-B8E6-EEF506A6DD8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16200000">
            <a:off x="5735611" y="3566104"/>
            <a:ext cx="317834" cy="3469148"/>
          </a:xfrm>
          <a:prstGeom prst="leftBrace">
            <a:avLst>
              <a:gd name="adj1" fmla="val 8333"/>
              <a:gd name="adj2" fmla="val 18598"/>
            </a:avLst>
          </a:prstGeom>
          <a:ln w="28575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A9D6A1AD-564D-4C2F-A8B4-55C2C0D52D9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16200000">
            <a:off x="4709800" y="708409"/>
            <a:ext cx="317832" cy="7758997"/>
          </a:xfrm>
          <a:prstGeom prst="leftBrace">
            <a:avLst>
              <a:gd name="adj1" fmla="val 8333"/>
              <a:gd name="adj2" fmla="val 63424"/>
            </a:avLst>
          </a:prstGeom>
          <a:ln w="28575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E7F321BD-B453-F7CD-CFC4-4AB26C33A0B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5F91B546-4A93-5419-C085-0B85D4A7FC3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3566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1E69-D8FC-58AB-B2E3-D5D9B37F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5B609F4-130A-E98B-4ADB-0048BE5B403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r>
              <a:rPr lang="fr-FR" sz="4000" dirty="0"/>
              <a:t>Équation du résultat </a:t>
            </a:r>
            <a:r>
              <a:rPr lang="fr-FR" sz="3000" dirty="0"/>
              <a:t>(coûts variables vs cout de fabrication)</a:t>
            </a:r>
            <a:endParaRPr lang="fr-CA" sz="3000" dirty="0">
              <a:cs typeface="Calibri Light"/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E45110A2-3436-00C4-AA50-4FA4ABE98D7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 rot="16200000">
            <a:off x="10603901" y="3619412"/>
            <a:ext cx="2504492" cy="303343"/>
          </a:xfrm>
        </p:spPr>
        <p:txBody>
          <a:bodyPr/>
          <a:lstStyle/>
          <a:p>
            <a:pPr algn="ctr"/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691916B8-D96D-7639-BE34-465961543E2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Espace réservé du contenu 3">
            <a:extLst>
              <a:ext uri="{FF2B5EF4-FFF2-40B4-BE49-F238E27FC236}">
                <a16:creationId xmlns:a16="http://schemas.microsoft.com/office/drawing/2014/main" id="{7AEE8836-D3EA-9D44-4FC5-F32698735050}"/>
              </a:ext>
            </a:extLst>
          </p:cNvPr>
          <p:cNvGraphicFramePr>
            <a:graphicFrameLocks/>
          </p:cNvGraphicFramePr>
          <p:nvPr>
            <p:custDataLst>
              <p:tags r:id="rId5"/>
            </p:custDataLst>
          </p:nvPr>
        </p:nvGraphicFramePr>
        <p:xfrm>
          <a:off x="5815175" y="1327748"/>
          <a:ext cx="5713962" cy="5291044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22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373">
                <a:tc>
                  <a:txBody>
                    <a:bodyPr/>
                    <a:lstStyle/>
                    <a:p>
                      <a:r>
                        <a:rPr lang="fr-CA" sz="2000" b="1" dirty="0"/>
                        <a:t>Ventes </a:t>
                      </a:r>
                      <a:endParaRPr lang="fr-CA" sz="2000" b="0" dirty="0"/>
                    </a:p>
                  </a:txBody>
                  <a:tcPr marL="203050" marR="20305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sz="2000"/>
                        <a:t>                  800 </a:t>
                      </a:r>
                      <a:r>
                        <a:rPr lang="fr-CA" sz="2000" dirty="0"/>
                        <a:t>000 $</a:t>
                      </a:r>
                    </a:p>
                  </a:txBody>
                  <a:tcPr marL="203050" marR="20305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09">
                <a:tc gridSpan="3">
                  <a:txBody>
                    <a:bodyPr/>
                    <a:lstStyle/>
                    <a:p>
                      <a:r>
                        <a:rPr lang="fr-CA" sz="2000" b="1" u="sng" dirty="0"/>
                        <a:t>Moins</a:t>
                      </a:r>
                      <a:r>
                        <a:rPr lang="fr-CA" sz="2000" b="1" baseline="0" dirty="0"/>
                        <a:t> : </a:t>
                      </a:r>
                      <a:r>
                        <a:rPr lang="fr-CA" sz="2000" b="1" i="0" baseline="0" dirty="0"/>
                        <a:t>Coût des produits vendus (simplifié)</a:t>
                      </a:r>
                    </a:p>
                    <a:p>
                      <a:r>
                        <a:rPr lang="fr-CA" sz="2000" b="1" i="0" baseline="0" dirty="0"/>
                        <a:t>Aucun stock de produits finis</a:t>
                      </a:r>
                      <a:endParaRPr lang="fr-CA" sz="2000" b="1" i="0" dirty="0"/>
                    </a:p>
                  </a:txBody>
                  <a:tcPr marL="203050" marR="20305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203050" marR="20305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Matières premières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296 000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5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Main-d’œuvre directe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120 000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FGF variables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24 000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FGF fixes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60 000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500 000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293">
                <a:tc>
                  <a:txBody>
                    <a:bodyPr/>
                    <a:lstStyle/>
                    <a:p>
                      <a:r>
                        <a:rPr lang="fr-CA" sz="2000" b="1" dirty="0"/>
                        <a:t>Marge brute</a:t>
                      </a:r>
                    </a:p>
                  </a:txBody>
                  <a:tcPr marL="0" marR="0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</a:txBody>
                  <a:tcPr marL="0" marR="0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1" u="none" dirty="0"/>
                        <a:t>300 000</a:t>
                      </a:r>
                    </a:p>
                  </a:txBody>
                  <a:tcPr marL="0" marR="0" marT="0" marB="0" anchor="ctr"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013">
                <a:tc gridSpan="3">
                  <a:txBody>
                    <a:bodyPr/>
                    <a:lstStyle/>
                    <a:p>
                      <a:r>
                        <a:rPr lang="fr-CA" sz="2000" b="1" dirty="0"/>
                        <a:t>Moins: Frais de vente et d’administration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</a:txBody>
                  <a:tcPr marL="203050" marR="20305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687450557"/>
                  </a:ext>
                </a:extLst>
              </a:tr>
              <a:tr h="344154">
                <a:tc>
                  <a:txBody>
                    <a:bodyPr/>
                    <a:lstStyle/>
                    <a:p>
                      <a:r>
                        <a:rPr lang="fr-CA" sz="2000" b="0" dirty="0"/>
                        <a:t> Frais de vente variable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0" dirty="0"/>
                        <a:t>40 000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2208683"/>
                  </a:ext>
                </a:extLst>
              </a:tr>
              <a:tr h="487478">
                <a:tc>
                  <a:txBody>
                    <a:bodyPr/>
                    <a:lstStyle/>
                    <a:p>
                      <a:r>
                        <a:rPr lang="fr-CA" sz="2000" b="0" dirty="0"/>
                        <a:t> Frais de vente et d’administration fixes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0" dirty="0"/>
                        <a:t>160 000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2593622"/>
                  </a:ext>
                </a:extLst>
              </a:tr>
              <a:tr h="594200">
                <a:tc>
                  <a:txBody>
                    <a:bodyPr/>
                    <a:lstStyle/>
                    <a:p>
                      <a:r>
                        <a:rPr lang="fr-CA" sz="2000" b="1" dirty="0"/>
                        <a:t>Résultat d’exploitation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1" u="none" dirty="0"/>
                        <a:t>100 000 $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251929"/>
                  </a:ext>
                </a:extLst>
              </a:tr>
            </a:tbl>
          </a:graphicData>
        </a:graphic>
      </p:graphicFrame>
      <p:graphicFrame>
        <p:nvGraphicFramePr>
          <p:cNvPr id="8" name="Espace réservé du contenu 3">
            <a:extLst>
              <a:ext uri="{FF2B5EF4-FFF2-40B4-BE49-F238E27FC236}">
                <a16:creationId xmlns:a16="http://schemas.microsoft.com/office/drawing/2014/main" id="{98741B0B-10A1-B303-0A70-4C8137E8C417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378327" y="1452003"/>
          <a:ext cx="5261510" cy="5175688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73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373">
                <a:tc>
                  <a:txBody>
                    <a:bodyPr/>
                    <a:lstStyle/>
                    <a:p>
                      <a:r>
                        <a:rPr lang="fr-CA" sz="2000" b="1" dirty="0"/>
                        <a:t>Ventes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800 000 $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09">
                <a:tc>
                  <a:txBody>
                    <a:bodyPr/>
                    <a:lstStyle/>
                    <a:p>
                      <a:r>
                        <a:rPr lang="fr-CA" sz="2000" b="1" u="sng" dirty="0"/>
                        <a:t>Moins</a:t>
                      </a:r>
                      <a:r>
                        <a:rPr lang="fr-CA" sz="2000" b="1" baseline="0" dirty="0"/>
                        <a:t> : </a:t>
                      </a:r>
                      <a:r>
                        <a:rPr lang="fr-CA" sz="2000" b="1" i="0" baseline="0" dirty="0"/>
                        <a:t>Coûts variables</a:t>
                      </a:r>
                      <a:endParaRPr lang="fr-CA" sz="2000" b="1" i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Matières premières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296 000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5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Main-d’œuvre directe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120 000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FGF variables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24 000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Frais de vente variables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40 000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480 000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fr-CA" sz="2000" b="1" dirty="0"/>
                        <a:t>Marge sur coûts variables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1" u="none" dirty="0"/>
                        <a:t>320 000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013">
                <a:tc gridSpan="3">
                  <a:txBody>
                    <a:bodyPr/>
                    <a:lstStyle/>
                    <a:p>
                      <a:r>
                        <a:rPr lang="fr-CA" sz="2000" b="1"/>
                        <a:t>Moins: Coûts fixes (par année)</a:t>
                      </a:r>
                      <a:endParaRPr lang="fr-CA" sz="2000" b="1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7450557"/>
                  </a:ext>
                </a:extLst>
              </a:tr>
              <a:tr h="344154">
                <a:tc>
                  <a:txBody>
                    <a:bodyPr/>
                    <a:lstStyle/>
                    <a:p>
                      <a:r>
                        <a:rPr lang="fr-CA" sz="2000" b="0" dirty="0"/>
                        <a:t>      FGF fixes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0" dirty="0"/>
                        <a:t>60 000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2208683"/>
                  </a:ext>
                </a:extLst>
              </a:tr>
              <a:tr h="487478">
                <a:tc>
                  <a:txBody>
                    <a:bodyPr/>
                    <a:lstStyle/>
                    <a:p>
                      <a:r>
                        <a:rPr lang="fr-CA" sz="2000" b="0" dirty="0"/>
                        <a:t>      Frais de vente et d’administration fixes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0" dirty="0"/>
                        <a:t>160 000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2593622"/>
                  </a:ext>
                </a:extLst>
              </a:tr>
              <a:tr h="594200">
                <a:tc>
                  <a:txBody>
                    <a:bodyPr/>
                    <a:lstStyle/>
                    <a:p>
                      <a:r>
                        <a:rPr lang="fr-CA" sz="2000" b="1" dirty="0"/>
                        <a:t>Résultat d’exploitation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1" u="none" dirty="0"/>
                        <a:t>100 000 $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25192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62182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r>
              <a:rPr lang="fr-FR" sz="4000" dirty="0"/>
              <a:t>Calcul de la marge sur coûts variables (MCV)</a:t>
            </a:r>
            <a:endParaRPr lang="fr-CA" sz="4000" dirty="0">
              <a:cs typeface="Calibri Light"/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3"/>
            </p:custDataLst>
          </p:nvPr>
        </p:nvGraphicFramePr>
        <p:xfrm>
          <a:off x="4059995" y="1364668"/>
          <a:ext cx="7909625" cy="513739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4988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166">
                  <a:extLst>
                    <a:ext uri="{9D8B030D-6E8A-4147-A177-3AD203B41FA5}">
                      <a16:colId xmlns:a16="http://schemas.microsoft.com/office/drawing/2014/main" val="484343304"/>
                    </a:ext>
                  </a:extLst>
                </a:gridCol>
                <a:gridCol w="1413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73">
                <a:tc>
                  <a:txBody>
                    <a:bodyPr/>
                    <a:lstStyle/>
                    <a:p>
                      <a:r>
                        <a:rPr lang="fr-CA" sz="2000" b="1" dirty="0"/>
                        <a:t>Ventes </a:t>
                      </a:r>
                      <a:r>
                        <a:rPr lang="fr-CA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(1 600 unités x 500 $)</a:t>
                      </a:r>
                    </a:p>
                  </a:txBody>
                  <a:tcPr marL="203050" marR="203050" anchor="ctr"/>
                </a:tc>
                <a:tc gridSpan="2">
                  <a:txBody>
                    <a:bodyPr/>
                    <a:lstStyle/>
                    <a:p>
                      <a:r>
                        <a:rPr lang="fr-CA" sz="2000"/>
                        <a:t>                       800 000 $</a:t>
                      </a:r>
                      <a:endParaRPr lang="fr-C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3050" marR="20305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93">
                <a:tc>
                  <a:txBody>
                    <a:bodyPr/>
                    <a:lstStyle/>
                    <a:p>
                      <a:r>
                        <a:rPr lang="fr-CA" sz="2000" b="1" u="sng" dirty="0"/>
                        <a:t>Moins</a:t>
                      </a:r>
                      <a:r>
                        <a:rPr lang="fr-CA" sz="2000" b="1" baseline="0" dirty="0"/>
                        <a:t> : </a:t>
                      </a:r>
                      <a:r>
                        <a:rPr lang="fr-CA" sz="2000" b="1" i="0" baseline="0" dirty="0"/>
                        <a:t>Coûts variables</a:t>
                      </a:r>
                      <a:endParaRPr lang="fr-CA" sz="2000" b="1" i="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endParaRPr lang="fr-CA" sz="2000" b="1" i="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Matières premières (1 600 x 185 $)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/>
                        <a:t>296 000$</a:t>
                      </a:r>
                      <a:endParaRPr lang="fr-CA" sz="200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5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Main-d’œuvre directe (1 600 x 75 $)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/>
                        <a:t>120 000</a:t>
                      </a:r>
                      <a:endParaRPr lang="fr-CA" sz="200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FGF variables (1 600 x 15 $)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/>
                        <a:t>24 000 </a:t>
                      </a:r>
                      <a:endParaRPr lang="fr-CA" sz="200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    Frais de vente variables (1 600 x 25 $)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u="sng" dirty="0"/>
                        <a:t>40 000</a:t>
                      </a:r>
                      <a:endParaRPr lang="fr-CA" sz="200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480 000</a:t>
                      </a:r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764">
                <a:tc gridSpan="2">
                  <a:txBody>
                    <a:bodyPr/>
                    <a:lstStyle/>
                    <a:p>
                      <a:r>
                        <a:rPr lang="fr-CA" sz="2000" b="1" dirty="0"/>
                        <a:t>Marge sur coûts variables (1 600 u. x MCV unitaire)</a:t>
                      </a:r>
                    </a:p>
                  </a:txBody>
                  <a:tcPr marL="203050" marR="203050" anchor="ctr"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1" u="none" dirty="0"/>
                        <a:t>320 000 $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496">
                <a:tc>
                  <a:txBody>
                    <a:bodyPr/>
                    <a:lstStyle/>
                    <a:p>
                      <a:r>
                        <a:rPr lang="fr-CA" sz="2000" b="1" dirty="0"/>
                        <a:t>Moins: Coûts fixes (par période)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endParaRPr lang="fr-CA" sz="2000" b="1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687450557"/>
                  </a:ext>
                </a:extLst>
              </a:tr>
              <a:tr h="403327">
                <a:tc>
                  <a:txBody>
                    <a:bodyPr/>
                    <a:lstStyle/>
                    <a:p>
                      <a:r>
                        <a:rPr lang="fr-CA" sz="2000" b="0" dirty="0"/>
                        <a:t>      FGF fixes </a:t>
                      </a:r>
                      <a:r>
                        <a:rPr lang="fr-CA" sz="1600" b="0" dirty="0"/>
                        <a:t>(amort. équipement, loyer etc..)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r>
                        <a:rPr lang="fr-CA" sz="2000" b="0"/>
                        <a:t>60 000</a:t>
                      </a:r>
                      <a:endParaRPr lang="fr-CA" sz="2000" b="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662208683"/>
                  </a:ext>
                </a:extLst>
              </a:tr>
              <a:tr h="487478">
                <a:tc>
                  <a:txBody>
                    <a:bodyPr/>
                    <a:lstStyle/>
                    <a:p>
                      <a:r>
                        <a:rPr lang="fr-CA" sz="2000" b="0" dirty="0"/>
                        <a:t>      Frais de vente et d’administration fixes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r>
                        <a:rPr lang="fr-CA" sz="2000" b="0"/>
                        <a:t>160 000</a:t>
                      </a:r>
                      <a:endParaRPr lang="fr-CA" sz="2000" b="0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u="sng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1792593622"/>
                  </a:ext>
                </a:extLst>
              </a:tr>
              <a:tr h="594200">
                <a:tc>
                  <a:txBody>
                    <a:bodyPr/>
                    <a:lstStyle/>
                    <a:p>
                      <a:r>
                        <a:rPr lang="fr-CA" sz="2000" b="1" dirty="0"/>
                        <a:t>Résultat d’exploitation</a:t>
                      </a:r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endParaRPr lang="fr-CA" sz="2000" b="1" dirty="0"/>
                    </a:p>
                  </a:txBody>
                  <a:tcPr marL="203050" marR="203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b="1" u="none" dirty="0"/>
                        <a:t>100 000 $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251929"/>
                  </a:ext>
                </a:extLst>
              </a:tr>
            </a:tbl>
          </a:graphicData>
        </a:graphic>
      </p:graphicFrame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DBC38F26-E33F-F126-C620-8E4176667AA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C8D16C3B-3773-6521-2F6D-CBBB596CCF5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2718C84-0146-0D78-752F-DC4B905CE5CB}"/>
              </a:ext>
            </a:extLst>
          </p:cNvPr>
          <p:cNvGraphicFramePr>
            <a:graphicFrameLocks noGrp="1"/>
          </p:cNvGraphicFramePr>
          <p:nvPr/>
        </p:nvGraphicFramePr>
        <p:xfrm>
          <a:off x="398815" y="1364668"/>
          <a:ext cx="3425040" cy="3105889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425040">
                  <a:extLst>
                    <a:ext uri="{9D8B030D-6E8A-4147-A177-3AD203B41FA5}">
                      <a16:colId xmlns:a16="http://schemas.microsoft.com/office/drawing/2014/main" val="1174332442"/>
                    </a:ext>
                  </a:extLst>
                </a:gridCol>
              </a:tblGrid>
              <a:tr h="464873">
                <a:tc>
                  <a:txBody>
                    <a:bodyPr/>
                    <a:lstStyle/>
                    <a:p>
                      <a:pPr algn="l"/>
                      <a:r>
                        <a:rPr lang="fr-CA" sz="2000" b="1" dirty="0"/>
                        <a:t>Prix de vente</a:t>
                      </a:r>
                      <a:r>
                        <a:rPr lang="fr-CA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500 $</a:t>
                      </a:r>
                    </a:p>
                  </a:txBody>
                  <a:tcPr marL="72000" marR="0" anchor="ctr"/>
                </a:tc>
                <a:extLst>
                  <a:ext uri="{0D108BD9-81ED-4DB2-BD59-A6C34878D82A}">
                    <a16:rowId xmlns:a16="http://schemas.microsoft.com/office/drawing/2014/main" val="2311530776"/>
                  </a:ext>
                </a:extLst>
              </a:tr>
              <a:tr h="414393">
                <a:tc>
                  <a:txBody>
                    <a:bodyPr/>
                    <a:lstStyle/>
                    <a:p>
                      <a:r>
                        <a:rPr lang="fr-CA" sz="2000" b="1" u="sng" dirty="0"/>
                        <a:t>Moins</a:t>
                      </a:r>
                      <a:r>
                        <a:rPr lang="fr-CA" sz="2000" b="1" baseline="0" dirty="0"/>
                        <a:t> : </a:t>
                      </a:r>
                      <a:r>
                        <a:rPr lang="fr-CA" sz="2000" b="1" i="0" baseline="0" dirty="0"/>
                        <a:t>Coûts variables</a:t>
                      </a:r>
                      <a:endParaRPr lang="fr-CA" sz="2000" b="1" i="0" dirty="0"/>
                    </a:p>
                  </a:txBody>
                  <a:tcPr marL="203050" marR="203050" anchor="ctr"/>
                </a:tc>
                <a:extLst>
                  <a:ext uri="{0D108BD9-81ED-4DB2-BD59-A6C34878D82A}">
                    <a16:rowId xmlns:a16="http://schemas.microsoft.com/office/drawing/2014/main" val="27236736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MP                                  185 $</a:t>
                      </a:r>
                    </a:p>
                  </a:txBody>
                  <a:tcPr marL="203050" marR="0" anchor="ctr"/>
                </a:tc>
                <a:extLst>
                  <a:ext uri="{0D108BD9-81ED-4DB2-BD59-A6C34878D82A}">
                    <a16:rowId xmlns:a16="http://schemas.microsoft.com/office/drawing/2014/main" val="2106515742"/>
                  </a:ext>
                </a:extLst>
              </a:tr>
              <a:tr h="45205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MOD                                 75 $</a:t>
                      </a:r>
                    </a:p>
                  </a:txBody>
                  <a:tcPr marL="203050" marR="0" anchor="ctr"/>
                </a:tc>
                <a:extLst>
                  <a:ext uri="{0D108BD9-81ED-4DB2-BD59-A6C34878D82A}">
                    <a16:rowId xmlns:a16="http://schemas.microsoft.com/office/drawing/2014/main" val="65260778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FGF var.                            15 $</a:t>
                      </a:r>
                    </a:p>
                  </a:txBody>
                  <a:tcPr marL="203050" marR="0" anchor="ctr"/>
                </a:tc>
                <a:extLst>
                  <a:ext uri="{0D108BD9-81ED-4DB2-BD59-A6C34878D82A}">
                    <a16:rowId xmlns:a16="http://schemas.microsoft.com/office/drawing/2014/main" val="2564632532"/>
                  </a:ext>
                </a:extLst>
              </a:tr>
              <a:tr h="4639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2000" dirty="0"/>
                        <a:t>  Frais de vente var.          25 $</a:t>
                      </a:r>
                    </a:p>
                  </a:txBody>
                  <a:tcPr marL="203050" marR="0" anchor="ctr"/>
                </a:tc>
                <a:extLst>
                  <a:ext uri="{0D108BD9-81ED-4DB2-BD59-A6C34878D82A}">
                    <a16:rowId xmlns:a16="http://schemas.microsoft.com/office/drawing/2014/main" val="3397256639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fr-CA" sz="2000" b="1" dirty="0"/>
                        <a:t>MCV unitaire                  200 $</a:t>
                      </a:r>
                    </a:p>
                  </a:txBody>
                  <a:tcPr marL="203050" marR="203050" anchor="ctr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804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6054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r>
              <a:rPr lang="fr-FR" sz="4000"/>
              <a:t>Calcul de la MCV – Exemple</a:t>
            </a:r>
            <a:endParaRPr lang="fr-CA" sz="400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18279" y="1672728"/>
            <a:ext cx="9160240" cy="47516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CA" sz="2400"/>
              <a:t>La société XYZ produit des tables en plastique qu’elle vend au prix de 50 $ l’unité. </a:t>
            </a:r>
          </a:p>
          <a:p>
            <a:pPr lvl="0"/>
            <a:r>
              <a:rPr lang="fr-CA" sz="2400"/>
              <a:t>Chaque table nécessite 6 $ de matière première (MP) et 8 $ de main-d’œuvre directe (MOD).</a:t>
            </a:r>
            <a:endParaRPr lang="fr-CA" sz="2400">
              <a:cs typeface="Calibri"/>
            </a:endParaRPr>
          </a:p>
          <a:p>
            <a:r>
              <a:rPr lang="fr-CA" sz="2400"/>
              <a:t>Les frais généraux de fabrication (FGF) fixes totaux sont de 140 000 $. </a:t>
            </a:r>
          </a:p>
          <a:p>
            <a:r>
              <a:rPr lang="fr-CA" sz="2400">
                <a:cs typeface="Calibri"/>
              </a:rPr>
              <a:t>Les frais généraux de fabrication variables sont de 1 $ par unité. </a:t>
            </a:r>
          </a:p>
          <a:p>
            <a:pPr lvl="0"/>
            <a:r>
              <a:rPr lang="fr-CA" sz="2400"/>
              <a:t>Les frais de vente totaux, pour un volume de vente de 15 000 unités, sont de 112 500 $, dont 40 % sont variables.</a:t>
            </a:r>
            <a:endParaRPr lang="fr-CA" sz="2400">
              <a:cs typeface="Calibri"/>
            </a:endParaRPr>
          </a:p>
          <a:p>
            <a:pPr lvl="0"/>
            <a:r>
              <a:rPr lang="fr-CA" sz="2400" b="1">
                <a:solidFill>
                  <a:srgbClr val="C00000"/>
                </a:solidFill>
              </a:rPr>
              <a:t>Quelle est la marge sur coûts variables (MCV unitaire) d’une table?</a:t>
            </a:r>
            <a:endParaRPr lang="fr-CA" sz="2400">
              <a:solidFill>
                <a:srgbClr val="C00000"/>
              </a:solidFill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5D83D1A5-A9BD-815A-707B-105DB87D62A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6FD91E14-BF35-7ECD-D109-F53A745514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12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fr-CA" sz="4000"/>
              <a:t>Calcul de la MCV – Exemple (solution)</a:t>
            </a: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80985446-B96D-D3DF-0FFD-C25A291973E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C5197485-E391-331B-18CF-DCDC67DFE82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8792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La marge sur coûts variables (MCV) </a:t>
            </a:r>
            <a:endParaRPr lang="fr-CA" sz="4000">
              <a:highlight>
                <a:srgbClr val="FFFF00"/>
              </a:highlight>
              <a:cs typeface="Calibri Ligh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1015071" y="1637731"/>
            <a:ext cx="10689404" cy="458377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lang="fr-CA" sz="3200"/>
              <a:t>Excédent du prix de vente sur </a:t>
            </a:r>
            <a:r>
              <a:rPr lang="fr-CA" sz="3200" u="sng"/>
              <a:t>tous</a:t>
            </a:r>
            <a:r>
              <a:rPr lang="fr-CA" sz="3200"/>
              <a:t> les coûts variables :</a:t>
            </a:r>
          </a:p>
          <a:p>
            <a:pPr marL="0" lvl="0" indent="0">
              <a:buNone/>
            </a:pPr>
            <a:endParaRPr lang="fr-CA" sz="3200"/>
          </a:p>
          <a:p>
            <a:pPr lvl="1"/>
            <a:r>
              <a:rPr lang="fr-CA" sz="3000"/>
              <a:t>Marge sur coûts variables </a:t>
            </a:r>
            <a:r>
              <a:rPr lang="fr-CA" sz="3000" b="1" u="sng"/>
              <a:t>unitaire</a:t>
            </a:r>
            <a:r>
              <a:rPr lang="fr-CA" sz="3000" u="sng"/>
              <a:t> </a:t>
            </a:r>
            <a:r>
              <a:rPr lang="fr-CA" sz="3000"/>
              <a:t>:</a:t>
            </a:r>
          </a:p>
          <a:p>
            <a:pPr marL="457200" lvl="1" indent="0">
              <a:buNone/>
            </a:pPr>
            <a:r>
              <a:rPr lang="fr-CA" sz="3000"/>
              <a:t>	Formule = Prix de vente unitaire – Coûts variables unitaires</a:t>
            </a:r>
          </a:p>
          <a:p>
            <a:pPr marL="457200" lvl="1" indent="0">
              <a:buNone/>
            </a:pPr>
            <a:endParaRPr lang="fr-CA" sz="3000"/>
          </a:p>
          <a:p>
            <a:pPr lvl="1"/>
            <a:r>
              <a:rPr lang="fr-CA" sz="3000"/>
              <a:t>Marge sur coûts variables </a:t>
            </a:r>
            <a:r>
              <a:rPr lang="fr-CA" sz="3000" b="1" u="sng"/>
              <a:t>totale</a:t>
            </a:r>
            <a:r>
              <a:rPr lang="fr-CA" sz="3000" u="sng"/>
              <a:t>: </a:t>
            </a:r>
          </a:p>
          <a:p>
            <a:pPr marL="914400" lvl="2" indent="0">
              <a:buNone/>
            </a:pPr>
            <a:r>
              <a:rPr lang="fr-CA" sz="3000"/>
              <a:t>Formule = MCV unitaire x Volume de vente</a:t>
            </a:r>
          </a:p>
          <a:p>
            <a:pPr marL="914400" lvl="2" indent="0">
              <a:buNone/>
            </a:pPr>
            <a:r>
              <a:rPr lang="fr-CA" sz="3000"/>
              <a:t>                = Ventes totales - Coûts variables totaux</a:t>
            </a:r>
            <a:endParaRPr lang="fr-CA" sz="3000">
              <a:cs typeface="Calibri"/>
            </a:endParaRPr>
          </a:p>
          <a:p>
            <a:pPr marL="914400" lvl="2" indent="0">
              <a:buNone/>
            </a:pPr>
            <a:endParaRPr lang="fr-CA" sz="3000"/>
          </a:p>
          <a:p>
            <a:pPr lvl="1"/>
            <a:r>
              <a:rPr lang="fr-CA" sz="3000"/>
              <a:t>Marge sur coûts variables </a:t>
            </a:r>
            <a:r>
              <a:rPr lang="fr-CA" sz="3000" b="1" u="sng"/>
              <a:t>en %</a:t>
            </a:r>
            <a:r>
              <a:rPr lang="fr-CA" sz="3000"/>
              <a:t>  du prix de vente </a:t>
            </a:r>
          </a:p>
          <a:p>
            <a:pPr marL="457200" lvl="1" indent="0">
              <a:buNone/>
            </a:pPr>
            <a:r>
              <a:rPr lang="fr-CA" sz="3000"/>
              <a:t>	Formule 	= MCV unitaire / Prix de vente unitaire</a:t>
            </a:r>
          </a:p>
          <a:p>
            <a:pPr marL="457200" lvl="1" indent="0">
              <a:buNone/>
            </a:pPr>
            <a:r>
              <a:rPr lang="fr-CA" sz="3000"/>
              <a:t>			= MCV totale / Ventes totales</a:t>
            </a:r>
          </a:p>
          <a:p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6A946F-6C08-F21E-1E7B-1AE333C7B64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587A56-1D44-DCAC-DCE2-095FD20B0AA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1439330" y="6375177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8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1E5FC-C04E-4448-BE73-3ED74CE1A9D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57015" y="0"/>
            <a:ext cx="11295857" cy="1325563"/>
          </a:xfrm>
        </p:spPr>
        <p:txBody>
          <a:bodyPr>
            <a:normAutofit/>
          </a:bodyPr>
          <a:lstStyle/>
          <a:p>
            <a:r>
              <a:rPr lang="fr-CA" sz="4000"/>
              <a:t>Illustration Analyse CVR: organisation d’un party</a:t>
            </a:r>
            <a:endParaRPr lang="en-US" sz="400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04BFB3F-494A-4EAC-9ED3-E7636DC1BEF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79296" y="1626918"/>
            <a:ext cx="10461639" cy="446439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dirty="0"/>
              <a:t>Avec votre association, vous organisez un party. Après avoir fait plusieurs recherches, vous avez sélectionné deux options qui vous semblent intéressantes :</a:t>
            </a:r>
          </a:p>
          <a:p>
            <a:pPr marL="0" indent="0">
              <a:buNone/>
            </a:pPr>
            <a:r>
              <a:rPr lang="fr-CA" i="1" dirty="0"/>
              <a:t>Option 1 :</a:t>
            </a:r>
            <a:endParaRPr lang="fr-CA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fr-CA" dirty="0"/>
              <a:t>Vous pouvez louer une salle pas trop dispendieuse (400 $) et commander des combos snacks et boissons pour 20 $ par personne. C’est une salle que vous connaissez bien pour y avoir déjà organisé plusieurs partys. Les propriétaires sont habitués aux partys d’étudiants et l’association n’a jamais eu de plaintes post-évènements (comme cela a pu être le cas ailleurs…) L’appréciation du lieu est généralement bonne, même si beaucoup se plaignent de son éloignement.</a:t>
            </a:r>
          </a:p>
          <a:p>
            <a:pPr marL="0" indent="0">
              <a:buNone/>
            </a:pPr>
            <a:r>
              <a:rPr lang="fr-CA" i="1" dirty="0"/>
              <a:t>Option 2 :</a:t>
            </a:r>
            <a:endParaRPr lang="fr-CA" dirty="0"/>
          </a:p>
          <a:p>
            <a:r>
              <a:rPr lang="fr-CA" dirty="0"/>
              <a:t>Vous pouvez louer une salle privée pour 1 000 $. Le locataire vous propose alors une formule snacks et boissons pour 15 $ par personne. Cette salle a été vivement recommandée par un des amis du trésorier de l’asso, elle est selon ses dires « plus belle, plus grande et surtout plus centrale ! ».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b="1" dirty="0"/>
              <a:t>Répondez aux questions suivantes sachant que vous avez choisi </a:t>
            </a:r>
            <a:r>
              <a:rPr lang="fr-CA" b="1" u="sng" dirty="0"/>
              <a:t>l’option 1 </a:t>
            </a:r>
            <a:r>
              <a:rPr lang="fr-CA" b="1" dirty="0"/>
              <a:t>et que le prix du billet d’entrée est de 25 $ par personne :</a:t>
            </a:r>
            <a:endParaRPr lang="fr-CA" dirty="0"/>
          </a:p>
          <a:p>
            <a:pPr marL="457200" lvl="1" indent="0" fontAlgn="base">
              <a:buNone/>
            </a:pPr>
            <a:endParaRPr lang="fr-CA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endParaRPr lang="fr-CA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914973-6869-484C-B275-BAE33D54CD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9B210395-86B9-6F94-FA8A-A2ABD6E6B1F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048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1F961-2940-40D2-B9B7-6E72AD59AA0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4000"/>
              <a:t>Questions- Organisation d’un party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01F6D9-5C03-4F27-919C-25EE29F8A5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80060" y="1554563"/>
            <a:ext cx="8210797" cy="428809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/>
              <a:t>Combien de billets devez-vous vendre au minimum pour ne pas faire de perte ?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Si 150 personnes sont présentes (le maximum selon vos prévisions), quel sera votre profit ? 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Si vous souhaitez dégager 200 $ de profit, combien de billets devez-vous vendre ?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Vous estimez, en étant réaliste, que 100 étudiants seront présents, quelle marge d’erreur (en nombre d’étudiants) sur cette estimation pouvez-vous supporter sans subir de perte ?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4E07F7-A8FE-407B-87A8-1D9ED61003E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AD754F56-54CA-4879-A4A6-0D1D5D147E5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191750" y="-2381"/>
            <a:ext cx="2000250" cy="1123950"/>
          </a:xfrm>
          <a:prstGeom prst="rect">
            <a:avLst/>
          </a:prstGeom>
        </p:spPr>
      </p:pic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BFA7DFED-0E30-231B-746C-8594F7496ED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387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rmAutofit/>
          </a:bodyPr>
          <a:lstStyle/>
          <a:p>
            <a:r>
              <a:rPr lang="fr-CA" sz="4000"/>
              <a:t>Point mort (PM) (seuil de rentabilité)</a:t>
            </a:r>
            <a:endParaRPr lang="en-CA" sz="400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39437" y="1631448"/>
            <a:ext cx="5115792" cy="3960367"/>
          </a:xfrm>
        </p:spPr>
        <p:txBody>
          <a:bodyPr>
            <a:noAutofit/>
          </a:bodyPr>
          <a:lstStyle/>
          <a:p>
            <a:pPr lvl="0" rtl="0"/>
            <a:r>
              <a:rPr lang="fr-CA" dirty="0"/>
              <a:t>Volume d’activité où les</a:t>
            </a:r>
          </a:p>
          <a:p>
            <a:pPr marL="0" lvl="0" indent="0" rtl="0">
              <a:buNone/>
            </a:pPr>
            <a:r>
              <a:rPr lang="fr-CA" dirty="0"/>
              <a:t>   </a:t>
            </a:r>
            <a:r>
              <a:rPr lang="fr-CA" b="1" dirty="0"/>
              <a:t>ventes = coûts</a:t>
            </a:r>
            <a:endParaRPr lang="fr-CA" dirty="0"/>
          </a:p>
          <a:p>
            <a:r>
              <a:rPr lang="fr-CA" dirty="0"/>
              <a:t>Point de profit nul (ni profit, ni perte)</a:t>
            </a:r>
          </a:p>
          <a:p>
            <a:pPr lvl="0" rtl="0"/>
            <a:r>
              <a:rPr lang="fr-CA" dirty="0"/>
              <a:t>Volume d’activité à partir duquel l’entreprise commence à faire du profit</a:t>
            </a:r>
          </a:p>
          <a:p>
            <a:pPr lvl="0" rtl="0"/>
            <a:r>
              <a:rPr lang="fr-CA" dirty="0"/>
              <a:t>Peut être exprimé en </a:t>
            </a:r>
            <a:r>
              <a:rPr lang="fr-CA" u="sng" dirty="0"/>
              <a:t>UNITÉ</a:t>
            </a:r>
            <a:r>
              <a:rPr lang="fr-CA" dirty="0"/>
              <a:t> ou en dollars </a:t>
            </a:r>
            <a:r>
              <a:rPr lang="fr-CA" u="sng" dirty="0"/>
              <a:t>de ventes</a:t>
            </a:r>
            <a:endParaRPr lang="fr-CA" sz="2800" u="sng" dirty="0"/>
          </a:p>
        </p:txBody>
      </p:sp>
      <p:sp>
        <p:nvSpPr>
          <p:cNvPr id="9" name="Rectangle à coins arrondis 8"/>
          <p:cNvSpPr/>
          <p:nvPr>
            <p:custDataLst>
              <p:tags r:id="rId4"/>
            </p:custDataLst>
          </p:nvPr>
        </p:nvSpPr>
        <p:spPr>
          <a:xfrm>
            <a:off x="5621361" y="1523964"/>
            <a:ext cx="6231201" cy="1479990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ln w="0"/>
                <a:solidFill>
                  <a:srgbClr val="0070C0"/>
                </a:solidFill>
              </a:rPr>
              <a:t>Formule du point mort (PM) en unité</a:t>
            </a:r>
          </a:p>
          <a:p>
            <a:pPr algn="ctr"/>
            <a:r>
              <a:rPr lang="fr-CA" sz="2400" u="sng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CA" sz="2400" b="1" u="sng" dirty="0">
                <a:ln w="0"/>
                <a:solidFill>
                  <a:schemeClr val="tx1"/>
                </a:solidFill>
              </a:rPr>
              <a:t>Coûts fixes_</a:t>
            </a:r>
            <a:r>
              <a:rPr lang="fr-CA" sz="2400" b="1" dirty="0">
                <a:ln w="0"/>
                <a:solidFill>
                  <a:schemeClr val="tx1"/>
                </a:solidFill>
              </a:rPr>
              <a:t>   =  point mort unités d’unités</a:t>
            </a:r>
          </a:p>
          <a:p>
            <a:r>
              <a:rPr lang="fr-CA" sz="2400" b="1" dirty="0">
                <a:ln w="0"/>
                <a:solidFill>
                  <a:schemeClr val="tx1"/>
                </a:solidFill>
              </a:rPr>
              <a:t>  MCV unitaire</a:t>
            </a:r>
          </a:p>
        </p:txBody>
      </p:sp>
      <p:sp>
        <p:nvSpPr>
          <p:cNvPr id="10" name="Rectangle à coins arrondis 9"/>
          <p:cNvSpPr/>
          <p:nvPr>
            <p:custDataLst>
              <p:tags r:id="rId5"/>
            </p:custDataLst>
          </p:nvPr>
        </p:nvSpPr>
        <p:spPr>
          <a:xfrm>
            <a:off x="5621362" y="3200204"/>
            <a:ext cx="6348258" cy="1315210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2400" b="1" dirty="0">
                <a:ln w="0"/>
                <a:solidFill>
                  <a:srgbClr val="C00000"/>
                </a:solidFill>
              </a:rPr>
              <a:t>      </a:t>
            </a:r>
            <a:r>
              <a:rPr lang="fr-CA" sz="2400" b="1" dirty="0">
                <a:ln w="0"/>
                <a:solidFill>
                  <a:srgbClr val="0070C0"/>
                </a:solidFill>
              </a:rPr>
              <a:t>Formule du point mort en dollars de vente</a:t>
            </a:r>
            <a:endParaRPr lang="fr-CA" sz="2400" b="1" dirty="0">
              <a:ln w="0"/>
              <a:solidFill>
                <a:srgbClr val="C00000"/>
              </a:solidFill>
            </a:endParaRPr>
          </a:p>
          <a:p>
            <a:pPr algn="ctr"/>
            <a:r>
              <a:rPr lang="fr-CA" sz="2400" b="1" dirty="0">
                <a:ln w="0"/>
                <a:solidFill>
                  <a:schemeClr val="tx1"/>
                </a:solidFill>
              </a:rPr>
              <a:t>PM en unités x prix de vente unitaire = PM en $</a:t>
            </a:r>
          </a:p>
          <a:p>
            <a:pPr algn="ctr"/>
            <a:r>
              <a:rPr lang="fr-CA" sz="2400" b="1" u="sng" dirty="0">
                <a:ln w="0"/>
                <a:solidFill>
                  <a:schemeClr val="tx1"/>
                </a:solidFill>
              </a:rPr>
              <a:t>OU</a:t>
            </a:r>
            <a:r>
              <a:rPr lang="fr-CA" sz="2400" b="1" dirty="0">
                <a:ln w="0"/>
                <a:solidFill>
                  <a:schemeClr val="tx1"/>
                </a:solidFill>
              </a:rPr>
              <a:t>    Coûts fixes / MCV en % = PM en $</a:t>
            </a:r>
            <a:r>
              <a:rPr lang="fr-CA" sz="2400" b="1" dirty="0">
                <a:ln w="0"/>
                <a:solidFill>
                  <a:srgbClr val="C00000"/>
                </a:solidFill>
              </a:rPr>
              <a:t>      </a:t>
            </a:r>
          </a:p>
        </p:txBody>
      </p:sp>
      <p:sp>
        <p:nvSpPr>
          <p:cNvPr id="12" name="Rectangle à coins arrondis 8">
            <a:extLst>
              <a:ext uri="{FF2B5EF4-FFF2-40B4-BE49-F238E27FC236}">
                <a16:creationId xmlns:a16="http://schemas.microsoft.com/office/drawing/2014/main" id="{4B8CA4E2-6093-4E2A-A0BB-F5A0A913714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69306" y="4851820"/>
            <a:ext cx="6400313" cy="1479990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CA" sz="2200" b="1" dirty="0">
                <a:ln w="0"/>
                <a:solidFill>
                  <a:srgbClr val="C00000"/>
                </a:solidFill>
              </a:rPr>
              <a:t>Équation du Résultat </a:t>
            </a:r>
          </a:p>
          <a:p>
            <a:pPr algn="ctr"/>
            <a:endParaRPr lang="fr-CA" sz="2400" b="1" dirty="0">
              <a:ln w="0"/>
              <a:solidFill>
                <a:srgbClr val="C00000"/>
              </a:solidFill>
            </a:endParaRPr>
          </a:p>
          <a:p>
            <a:pPr algn="ctr"/>
            <a:endParaRPr lang="fr-CA" sz="2400" b="1" dirty="0">
              <a:ln w="0"/>
              <a:solidFill>
                <a:srgbClr val="C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A8E96-517F-BA82-A80D-45A5EC282B8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672476" y="5394181"/>
            <a:ext cx="6193971" cy="6822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b="1" dirty="0"/>
              <a:t>Ventes = Coûts variables + Coûts fixes + Résultat d’exploitation</a:t>
            </a:r>
          </a:p>
          <a:p>
            <a:r>
              <a:rPr lang="fr-CA" b="1" dirty="0"/>
              <a:t>500 $ x V = 300 $x V          + 200 000 $   + 0$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413CDB-9624-690E-5B84-634F3FDF27F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75772E-DE4E-B281-DFA6-FB57A7A529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616748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199" y="125974"/>
            <a:ext cx="10177976" cy="1325563"/>
          </a:xfrm>
        </p:spPr>
        <p:txBody>
          <a:bodyPr vert="horz" anchor="ctr">
            <a:normAutofit/>
          </a:bodyPr>
          <a:lstStyle/>
          <a:p>
            <a:r>
              <a:rPr lang="fr-CA" sz="4000"/>
              <a:t>Le résultat (bénéfice) cible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199" y="1598769"/>
            <a:ext cx="10866276" cy="1749870"/>
          </a:xfrm>
        </p:spPr>
        <p:txBody>
          <a:bodyPr>
            <a:normAutofit fontScale="92500" lnSpcReduction="10000"/>
          </a:bodyPr>
          <a:lstStyle/>
          <a:p>
            <a:pPr lvl="0" rtl="0"/>
            <a:r>
              <a:rPr lang="fr-CA" sz="2400"/>
              <a:t>Le résultat (bénéfice) cible représente le résultat (bénéfice) que l’on </a:t>
            </a:r>
            <a:r>
              <a:rPr lang="fr-CA" sz="2400" u="sng"/>
              <a:t>veut</a:t>
            </a:r>
            <a:r>
              <a:rPr lang="fr-CA" sz="2400"/>
              <a:t> atteindre</a:t>
            </a:r>
          </a:p>
          <a:p>
            <a:pPr lvl="1" rtl="0"/>
            <a:r>
              <a:rPr lang="fr-CA" sz="2200"/>
              <a:t>Celui-ci peut être présenté avant ou après impôts</a:t>
            </a:r>
          </a:p>
          <a:p>
            <a:pPr lvl="0" rtl="0"/>
            <a:r>
              <a:rPr lang="fr-CA" sz="2400"/>
              <a:t>Nous pouvons aussi vouloir calculer le </a:t>
            </a:r>
            <a:r>
              <a:rPr lang="fr-CA" sz="2400" u="sng"/>
              <a:t>nombre d’unités </a:t>
            </a:r>
            <a:r>
              <a:rPr lang="fr-CA" sz="2400"/>
              <a:t>que l’on doit vendre pour </a:t>
            </a:r>
            <a:r>
              <a:rPr lang="fr-CA" sz="2400" u="sng"/>
              <a:t>atteindre</a:t>
            </a:r>
            <a:r>
              <a:rPr lang="fr-CA" sz="2400"/>
              <a:t> le résultat (bénéfice) cible</a:t>
            </a:r>
          </a:p>
          <a:p>
            <a:pPr lvl="1" rtl="0"/>
            <a:r>
              <a:rPr lang="fr-CA" sz="2200"/>
              <a:t>Dans ce cas, les formules suivantes peuvent être utilisées</a:t>
            </a:r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0EC5B0F-1426-478F-9E78-0A4CEE3A64C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51280" y="3509362"/>
            <a:ext cx="5880794" cy="1479990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CA" sz="2400" b="1" dirty="0">
                <a:ln w="0"/>
                <a:solidFill>
                  <a:srgbClr val="C00000"/>
                </a:solidFill>
              </a:rPr>
              <a:t>FORMULE</a:t>
            </a:r>
            <a:endParaRPr lang="fr-CA" sz="2400" b="1" dirty="0">
              <a:ln w="0"/>
              <a:solidFill>
                <a:schemeClr val="tx1"/>
              </a:solidFill>
            </a:endParaRPr>
          </a:p>
        </p:txBody>
      </p:sp>
      <p:graphicFrame>
        <p:nvGraphicFramePr>
          <p:cNvPr id="11" name="Tableau 11">
            <a:extLst>
              <a:ext uri="{FF2B5EF4-FFF2-40B4-BE49-F238E27FC236}">
                <a16:creationId xmlns:a16="http://schemas.microsoft.com/office/drawing/2014/main" id="{577A7AA9-7B65-45FA-ADB1-3F3ED56B8275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38550818"/>
              </p:ext>
            </p:extLst>
          </p:nvPr>
        </p:nvGraphicFramePr>
        <p:xfrm>
          <a:off x="1641124" y="4027931"/>
          <a:ext cx="5425423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7904">
                  <a:extLst>
                    <a:ext uri="{9D8B030D-6E8A-4147-A177-3AD203B41FA5}">
                      <a16:colId xmlns:a16="http://schemas.microsoft.com/office/drawing/2014/main" val="412709393"/>
                    </a:ext>
                  </a:extLst>
                </a:gridCol>
                <a:gridCol w="1747519">
                  <a:extLst>
                    <a:ext uri="{9D8B030D-6E8A-4147-A177-3AD203B41FA5}">
                      <a16:colId xmlns:a16="http://schemas.microsoft.com/office/drawing/2014/main" val="1130067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2400" b="1" u="sng" kern="1200" dirty="0">
                          <a:ln w="0"/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Coûts fixes + Résultat cible </a:t>
                      </a:r>
                    </a:p>
                    <a:p>
                      <a:r>
                        <a:rPr lang="fr-CA" sz="2400" b="1" u="none" kern="1200" dirty="0">
                          <a:ln w="0"/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MCV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3525" indent="-263525"/>
                      <a:r>
                        <a:rPr lang="fr-CA" sz="2400" b="1" u="none" kern="1200" dirty="0">
                          <a:ln w="0"/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Nombre d’unités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046847"/>
                  </a:ext>
                </a:extLst>
              </a:tr>
            </a:tbl>
          </a:graphicData>
        </a:graphic>
      </p:graphicFrame>
      <p:sp>
        <p:nvSpPr>
          <p:cNvPr id="16" name="Rectangle à coins arrondis 8">
            <a:extLst>
              <a:ext uri="{FF2B5EF4-FFF2-40B4-BE49-F238E27FC236}">
                <a16:creationId xmlns:a16="http://schemas.microsoft.com/office/drawing/2014/main" id="{5F0001FF-A1D1-4736-8E4A-1C501633C89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51280" y="5114226"/>
            <a:ext cx="9042400" cy="1314423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CA" sz="2000" b="1">
                <a:ln w="0"/>
                <a:solidFill>
                  <a:srgbClr val="C00000"/>
                </a:solidFill>
              </a:rPr>
              <a:t>Équation du Résultat </a:t>
            </a:r>
          </a:p>
          <a:p>
            <a:pPr algn="ctr"/>
            <a:endParaRPr lang="fr-CA" sz="2400" b="1">
              <a:ln w="0"/>
              <a:solidFill>
                <a:srgbClr val="C00000"/>
              </a:solidFill>
            </a:endParaRPr>
          </a:p>
          <a:p>
            <a:pPr algn="ctr"/>
            <a:endParaRPr lang="fr-CA" sz="2400" b="1">
              <a:ln w="0"/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5E8D3-C309-F483-B5A1-C7C8023E88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641124" y="5508424"/>
            <a:ext cx="8508779" cy="730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/>
              <a:t>[(Prix de vente x Volume) (-) (Coûts variables x Volume)]   =   [Coûts fixes + </a:t>
            </a:r>
            <a:r>
              <a:rPr lang="fr-CA">
                <a:solidFill>
                  <a:srgbClr val="C00000"/>
                </a:solidFill>
              </a:rPr>
              <a:t>Résultat cible</a:t>
            </a:r>
            <a:r>
              <a:rPr lang="fr-CA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3B268D-CFB0-9A22-1653-FCE7C9F2A56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F2CFED-40FC-D7BE-5C22-65935E5D2A6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6554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rmAutofit/>
          </a:bodyPr>
          <a:lstStyle/>
          <a:p>
            <a:r>
              <a:rPr lang="fr-CA" sz="4000"/>
              <a:t>Le résultat (bénéfice) potentiel</a:t>
            </a:r>
            <a:endParaRPr lang="en-CA" sz="400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1" y="1598769"/>
            <a:ext cx="10610850" cy="2333180"/>
          </a:xfrm>
        </p:spPr>
        <p:txBody>
          <a:bodyPr>
            <a:normAutofit/>
          </a:bodyPr>
          <a:lstStyle/>
          <a:p>
            <a:pPr lvl="0" rtl="0"/>
            <a:r>
              <a:rPr lang="fr-CA"/>
              <a:t>Représente le résultat (bénéfice) </a:t>
            </a:r>
            <a:r>
              <a:rPr lang="fr-CA" u="sng"/>
              <a:t>maximal</a:t>
            </a:r>
            <a:r>
              <a:rPr lang="fr-CA"/>
              <a:t> que peut atteindre l’entreprise si elle fonctionne à pleine capacité </a:t>
            </a:r>
          </a:p>
          <a:p>
            <a:pPr lvl="0" rtl="0"/>
            <a:r>
              <a:rPr lang="fr-CA"/>
              <a:t>Mesure l’espérance de gain</a:t>
            </a:r>
          </a:p>
          <a:p>
            <a:pPr lvl="0" rtl="0"/>
            <a:r>
              <a:rPr lang="fr-CA"/>
              <a:t>Point de repère sur le </a:t>
            </a:r>
            <a:r>
              <a:rPr lang="fr-CA" u="sng"/>
              <a:t>maximum</a:t>
            </a:r>
            <a:r>
              <a:rPr lang="fr-CA"/>
              <a:t> de résultat (bénéfice) espéré </a:t>
            </a:r>
            <a:r>
              <a:rPr lang="fr-CA">
                <a:sym typeface="Wingdings" panose="05000000000000000000" pitchFamily="2" charset="2"/>
              </a:rPr>
              <a:t> </a:t>
            </a:r>
            <a:r>
              <a:rPr lang="fr-CA"/>
              <a:t>IDÉAL</a:t>
            </a:r>
          </a:p>
        </p:txBody>
      </p:sp>
      <p:sp>
        <p:nvSpPr>
          <p:cNvPr id="8" name="Rectangle à coins arrondis 7"/>
          <p:cNvSpPr/>
          <p:nvPr>
            <p:custDataLst>
              <p:tags r:id="rId4"/>
            </p:custDataLst>
          </p:nvPr>
        </p:nvSpPr>
        <p:spPr>
          <a:xfrm>
            <a:off x="608868" y="4318536"/>
            <a:ext cx="10830462" cy="992070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CA" sz="2800" b="1" dirty="0">
                <a:ln w="0"/>
                <a:solidFill>
                  <a:srgbClr val="C00000"/>
                </a:solidFill>
              </a:rPr>
              <a:t>FORMULE</a:t>
            </a:r>
            <a:endParaRPr lang="fr-CA" sz="2800" b="1" dirty="0">
              <a:ln w="0"/>
              <a:solidFill>
                <a:schemeClr val="tx1"/>
              </a:solidFill>
            </a:endParaRPr>
          </a:p>
          <a:p>
            <a:pPr algn="ctr"/>
            <a:r>
              <a:rPr lang="fr-CA" sz="2800" dirty="0">
                <a:ln w="0"/>
                <a:solidFill>
                  <a:schemeClr val="tx1"/>
                </a:solidFill>
              </a:rPr>
              <a:t>(MCV unitaire x volume pleine capacité) – coûts fixes = Résultat potentiel</a:t>
            </a:r>
          </a:p>
          <a:p>
            <a:pPr algn="ctr"/>
            <a:endParaRPr lang="fr-CA" sz="2400" dirty="0">
              <a:ln w="0"/>
              <a:solidFill>
                <a:schemeClr val="tx1"/>
              </a:solidFill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DCED4EFC-88D5-04D9-8C26-9F55C004BF2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560CB67C-BF61-82F3-CBD3-3876E080A82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435392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rmAutofit/>
          </a:bodyPr>
          <a:lstStyle/>
          <a:p>
            <a:r>
              <a:rPr lang="fr-CA" sz="4000"/>
              <a:t>Marge de sécurité </a:t>
            </a:r>
            <a:endParaRPr lang="en-CA" sz="400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598769"/>
            <a:ext cx="10267950" cy="1754031"/>
          </a:xfrm>
        </p:spPr>
        <p:txBody>
          <a:bodyPr>
            <a:normAutofit lnSpcReduction="10000"/>
          </a:bodyPr>
          <a:lstStyle/>
          <a:p>
            <a:pPr lvl="0"/>
            <a:r>
              <a:rPr lang="fr-CA"/>
              <a:t>Différence entre le volume d’activité atteint (réel) ou prévu et le volume d’activité correspondant au point mort</a:t>
            </a:r>
          </a:p>
          <a:p>
            <a:pPr lvl="0"/>
            <a:r>
              <a:rPr lang="fr-CA"/>
              <a:t>Indique la diminution du volume d’activité que l’entreprise pourrait absorber sans subir de perte</a:t>
            </a:r>
          </a:p>
          <a:p>
            <a:endParaRPr lang="fr-CA"/>
          </a:p>
        </p:txBody>
      </p:sp>
      <p:sp>
        <p:nvSpPr>
          <p:cNvPr id="9" name="Rectangle à coins arrondis 8"/>
          <p:cNvSpPr/>
          <p:nvPr>
            <p:custDataLst>
              <p:tags r:id="rId4"/>
            </p:custDataLst>
          </p:nvPr>
        </p:nvSpPr>
        <p:spPr>
          <a:xfrm>
            <a:off x="1638299" y="3352800"/>
            <a:ext cx="8667752" cy="857879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sz="2400" b="1">
              <a:ln w="0"/>
              <a:solidFill>
                <a:srgbClr val="C00000"/>
              </a:solidFill>
            </a:endParaRPr>
          </a:p>
          <a:p>
            <a:pPr lvl="0"/>
            <a:r>
              <a:rPr lang="fr-CA" sz="2400" b="1"/>
              <a:t>En unité:</a:t>
            </a:r>
          </a:p>
          <a:p>
            <a:pPr lvl="1"/>
            <a:r>
              <a:rPr lang="fr-CA" sz="2200"/>
              <a:t>Ventes prévues ou réelles (en unités) – Point mort (en unités)</a:t>
            </a:r>
          </a:p>
          <a:p>
            <a:pPr algn="ctr"/>
            <a:r>
              <a:rPr lang="fr-CA" sz="2400" b="1">
                <a:ln w="0"/>
                <a:solidFill>
                  <a:srgbClr val="C00000"/>
                </a:solidFill>
              </a:rPr>
              <a:t>      </a:t>
            </a:r>
          </a:p>
        </p:txBody>
      </p:sp>
      <p:sp>
        <p:nvSpPr>
          <p:cNvPr id="10" name="Rectangle à coins arrondis 9"/>
          <p:cNvSpPr/>
          <p:nvPr>
            <p:custDataLst>
              <p:tags r:id="rId5"/>
            </p:custDataLst>
          </p:nvPr>
        </p:nvSpPr>
        <p:spPr>
          <a:xfrm>
            <a:off x="1638299" y="4286303"/>
            <a:ext cx="8667752" cy="1104899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sz="2400" b="1">
              <a:ln w="0"/>
              <a:solidFill>
                <a:srgbClr val="C00000"/>
              </a:solidFill>
            </a:endParaRPr>
          </a:p>
          <a:p>
            <a:pPr lvl="0"/>
            <a:r>
              <a:rPr lang="fr-CA" sz="2400" b="1"/>
              <a:t>En $$:</a:t>
            </a:r>
          </a:p>
          <a:p>
            <a:pPr lvl="1"/>
            <a:r>
              <a:rPr lang="fr-CA" sz="2200"/>
              <a:t>Ventes prévues ou réelles (en $$) – Point mort (en $$)</a:t>
            </a:r>
          </a:p>
          <a:p>
            <a:pPr lvl="1"/>
            <a:r>
              <a:rPr lang="fr-CA" sz="2200" u="sng"/>
              <a:t>Ou</a:t>
            </a:r>
            <a:r>
              <a:rPr lang="fr-CA" sz="2200"/>
              <a:t> MS en unités x prix de vente unitaire</a:t>
            </a:r>
          </a:p>
          <a:p>
            <a:pPr algn="ctr"/>
            <a:r>
              <a:rPr lang="fr-CA" sz="2400" b="1">
                <a:ln w="0"/>
                <a:solidFill>
                  <a:srgbClr val="C00000"/>
                </a:solidFill>
              </a:rPr>
              <a:t>      </a:t>
            </a:r>
          </a:p>
        </p:txBody>
      </p:sp>
      <p:sp>
        <p:nvSpPr>
          <p:cNvPr id="11" name="Rectangle à coins arrondis 10"/>
          <p:cNvSpPr/>
          <p:nvPr>
            <p:custDataLst>
              <p:tags r:id="rId6"/>
            </p:custDataLst>
          </p:nvPr>
        </p:nvSpPr>
        <p:spPr>
          <a:xfrm>
            <a:off x="1638298" y="5495264"/>
            <a:ext cx="8667753" cy="857879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sz="2400" b="1">
              <a:ln w="0"/>
              <a:solidFill>
                <a:srgbClr val="C00000"/>
              </a:solidFill>
            </a:endParaRPr>
          </a:p>
          <a:p>
            <a:pPr lvl="0"/>
            <a:r>
              <a:rPr lang="fr-CA" sz="2400" b="1"/>
              <a:t>En %:  </a:t>
            </a:r>
          </a:p>
          <a:p>
            <a:pPr lvl="1"/>
            <a:r>
              <a:rPr lang="fr-CA" sz="2200"/>
              <a:t>Marge de sécurité / Ventes </a:t>
            </a:r>
          </a:p>
          <a:p>
            <a:pPr algn="ctr"/>
            <a:r>
              <a:rPr lang="fr-CA" sz="2400" b="1">
                <a:ln w="0"/>
                <a:solidFill>
                  <a:srgbClr val="C00000"/>
                </a:solidFill>
              </a:rPr>
              <a:t>    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8B9E79-F4C0-4398-9BD0-B4C01D4A89B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186985" y="5601037"/>
            <a:ext cx="26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MS (un) / Ventes (un)</a:t>
            </a:r>
          </a:p>
          <a:p>
            <a:r>
              <a:rPr lang="fr-CA"/>
              <a:t>MS ($) / Ventes ($)</a:t>
            </a: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25F6A3-BCAE-D903-0E36-E9B455E37EC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23B196AB-3064-3680-32EF-BB5C3B0CDB5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997803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7DE281-CA6B-4EA8-A40E-0DBE6E6DF21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CA"/>
              <a:t>Illustration – Organisation d’un party</a:t>
            </a:r>
            <a:br>
              <a:rPr lang="fr-CA"/>
            </a:br>
            <a:r>
              <a:rPr lang="fr-CA"/>
              <a:t>Sommaire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9929FE-DA4B-4490-8C80-DFD55561FA1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40204D2E-3575-47A0-95FA-46FFD51DE0EB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07374079"/>
              </p:ext>
            </p:extLst>
          </p:nvPr>
        </p:nvGraphicFramePr>
        <p:xfrm>
          <a:off x="703004" y="1449196"/>
          <a:ext cx="10650796" cy="49742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436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09">
                  <a:extLst>
                    <a:ext uri="{9D8B030D-6E8A-4147-A177-3AD203B41FA5}">
                      <a16:colId xmlns:a16="http://schemas.microsoft.com/office/drawing/2014/main" val="1736910763"/>
                    </a:ext>
                  </a:extLst>
                </a:gridCol>
                <a:gridCol w="2952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010">
                <a:tc>
                  <a:txBody>
                    <a:bodyPr/>
                    <a:lstStyle/>
                    <a:p>
                      <a:endParaRPr lang="fr-CA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/>
                        <a:t>Structure</a:t>
                      </a:r>
                      <a:r>
                        <a:rPr lang="fr-CA" sz="2400" baseline="0"/>
                        <a:t> de coûts # 1</a:t>
                      </a:r>
                      <a:endParaRPr lang="fr-CA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/>
                        <a:t>Structure de coûts #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40410"/>
                  </a:ext>
                </a:extLst>
              </a:tr>
              <a:tr h="528014">
                <a:tc>
                  <a:txBody>
                    <a:bodyPr/>
                    <a:lstStyle/>
                    <a:p>
                      <a:r>
                        <a:rPr lang="fr-CA" sz="2400"/>
                        <a:t>Demande prévue (billets)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unités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unités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592">
                <a:tc>
                  <a:txBody>
                    <a:bodyPr/>
                    <a:lstStyle/>
                    <a:p>
                      <a:r>
                        <a:rPr lang="fr-CA" sz="2400"/>
                        <a:t>MCV unitaire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25 – 20 = </a:t>
                      </a:r>
                      <a:r>
                        <a:rPr lang="fr-CA" sz="2400" b="1"/>
                        <a:t>5 $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/>
                        <a:t>Prix de vente - coûts variables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25 – 15 = </a:t>
                      </a:r>
                      <a:r>
                        <a:rPr lang="fr-CA" sz="2400" b="1"/>
                        <a:t>10 $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14">
                <a:tc>
                  <a:txBody>
                    <a:bodyPr/>
                    <a:lstStyle/>
                    <a:p>
                      <a:r>
                        <a:rPr lang="fr-CA" sz="2400"/>
                        <a:t>Coûts fixes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400 $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 b="1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1 000 $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540998"/>
                  </a:ext>
                </a:extLst>
              </a:tr>
              <a:tr h="528014">
                <a:tc>
                  <a:txBody>
                    <a:bodyPr/>
                    <a:lstStyle/>
                    <a:p>
                      <a:r>
                        <a:rPr lang="fr-CA" sz="2400" b="1"/>
                        <a:t>Résultat d’exploitation 100 unités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>
                          <a:solidFill>
                            <a:schemeClr val="tx1"/>
                          </a:solidFill>
                        </a:rPr>
                        <a:t>(100 x 5 $) - 400 $</a:t>
                      </a:r>
                    </a:p>
                    <a:p>
                      <a:pPr algn="ctr"/>
                      <a:r>
                        <a:rPr lang="fr-CA" sz="2400" b="1">
                          <a:solidFill>
                            <a:srgbClr val="0070C0"/>
                          </a:solidFill>
                        </a:rPr>
                        <a:t>100 $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 b="1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 b="0">
                          <a:solidFill>
                            <a:schemeClr val="tx1"/>
                          </a:solidFill>
                        </a:rPr>
                        <a:t>(100 x 10 $) – 1 000 $</a:t>
                      </a:r>
                    </a:p>
                    <a:p>
                      <a:pPr algn="ctr"/>
                      <a:r>
                        <a:rPr lang="fr-CA" sz="2400" b="1">
                          <a:solidFill>
                            <a:srgbClr val="0070C0"/>
                          </a:solidFill>
                        </a:rPr>
                        <a:t>0 $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92377"/>
                  </a:ext>
                </a:extLst>
              </a:tr>
              <a:tr h="528014">
                <a:tc>
                  <a:txBody>
                    <a:bodyPr/>
                    <a:lstStyle/>
                    <a:p>
                      <a:r>
                        <a:rPr lang="fr-CA" sz="2400"/>
                        <a:t>Point mort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80 billets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billets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592">
                <a:tc>
                  <a:txBody>
                    <a:bodyPr/>
                    <a:lstStyle/>
                    <a:p>
                      <a:r>
                        <a:rPr lang="fr-CA" sz="2400"/>
                        <a:t>Marge de sécurité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– 80 = 20 billets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– 100 = 0 billet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852874"/>
                  </a:ext>
                </a:extLst>
              </a:tr>
              <a:tr h="528014">
                <a:tc>
                  <a:txBody>
                    <a:bodyPr/>
                    <a:lstStyle/>
                    <a:p>
                      <a:r>
                        <a:rPr lang="fr-CA" sz="2400"/>
                        <a:t>Résultat potentiel (150 billets)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350 $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500 $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E980B4C1-4B75-0179-92AE-CDD67E467DC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665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 sz="4000"/>
              <a:t>Seuil d’indifférence – Illustration</a:t>
            </a:r>
            <a:endParaRPr lang="fr-CA" sz="4000">
              <a:ea typeface="+mj-lt"/>
              <a:cs typeface="+mj-lt"/>
            </a:endParaRPr>
          </a:p>
        </p:txBody>
      </p:sp>
      <p:graphicFrame>
        <p:nvGraphicFramePr>
          <p:cNvPr id="7" name="Espace réservé du contenu 6"/>
          <p:cNvGraphicFramePr>
            <a:graphicFrameLocks noGrp="1"/>
          </p:cNvGraphicFramePr>
          <p:nvPr>
            <p:ph sz="half"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4698822"/>
              </p:ext>
            </p:extLst>
          </p:nvPr>
        </p:nvGraphicFramePr>
        <p:xfrm>
          <a:off x="1442651" y="1716034"/>
          <a:ext cx="8554843" cy="303434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5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812">
                <a:tc gridSpan="2">
                  <a:txBody>
                    <a:bodyPr/>
                    <a:lstStyle/>
                    <a:p>
                      <a:pPr algn="ctr"/>
                      <a:r>
                        <a:rPr lang="fr-CA" sz="2800"/>
                        <a:t>Option </a:t>
                      </a:r>
                      <a:r>
                        <a:rPr lang="fr-CA" sz="2800" baseline="0"/>
                        <a:t># 1</a:t>
                      </a:r>
                      <a:endParaRPr lang="fr-CA" sz="28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CA" sz="28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endParaRPr lang="fr-CA" sz="28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sz="2800"/>
                        <a:t>Option # 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CA" sz="28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r>
                        <a:rPr lang="fr-CA" sz="2800"/>
                        <a:t>Prix de vente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/>
                        <a:t>25 $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fr-CA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2800"/>
                        <a:t>Prix de vente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/>
                        <a:t>25 $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r>
                        <a:rPr lang="fr-CA" sz="2800"/>
                        <a:t>Coûts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 u="sng"/>
                        <a:t>20 $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fr-CA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2800"/>
                        <a:t>Coûts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 u="sng"/>
                        <a:t>15 $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r>
                        <a:rPr lang="fr-CA" sz="2800"/>
                        <a:t>MCV unitaire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 b="1"/>
                        <a:t>5 $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fr-CA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800"/>
                        <a:t>MCV unitaire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 b="1"/>
                        <a:t>10 $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36402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r>
                        <a:rPr lang="fr-CA" sz="2800"/>
                        <a:t>Coûts fixes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/>
                        <a:t>400 $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fr-CA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2800"/>
                        <a:t>Coûts fixes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sz="2800"/>
                        <a:t>1 000 $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8200" y="5064930"/>
            <a:ext cx="10715513" cy="6786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A" b="1"/>
              <a:t>Question:</a:t>
            </a:r>
            <a:r>
              <a:rPr lang="fr-CA"/>
              <a:t> </a:t>
            </a:r>
            <a:r>
              <a:rPr lang="fr-CA" i="1"/>
              <a:t>Selon vous, quelle salle l’association devrait-elle choisir ?</a:t>
            </a:r>
            <a:endParaRPr lang="fr-CA" i="1">
              <a:cs typeface="Calibri"/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E009C030-4478-5DE6-5404-CE1214B8E4E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6606C3-D4EF-C45B-7806-F5653FF1A05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95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 sz="4000"/>
              <a:t>Seuil d’indifférence – Illustration (solution)</a:t>
            </a:r>
          </a:p>
        </p:txBody>
      </p:sp>
      <p:sp>
        <p:nvSpPr>
          <p:cNvPr id="13" name="Espace réservé du contenu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81000" y="1478868"/>
            <a:ext cx="11315700" cy="4709112"/>
          </a:xfr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CA">
                <a:solidFill>
                  <a:srgbClr val="C00000"/>
                </a:solidFill>
              </a:rPr>
              <a:t>À combien d’unité le résultat d’exploitation sera le même entre les 2 structures de coût (options)?</a:t>
            </a:r>
          </a:p>
          <a:p>
            <a:pPr marL="0" indent="0" algn="ctr">
              <a:buNone/>
            </a:pPr>
            <a:r>
              <a:rPr lang="fr-CA" sz="2400">
                <a:solidFill>
                  <a:schemeClr val="tx1"/>
                </a:solidFill>
              </a:rPr>
              <a:t>Résultat d’exploitation (option 1) = Résultat d’exploitation (option 2)</a:t>
            </a:r>
          </a:p>
          <a:p>
            <a:pPr marL="0" indent="0" algn="just">
              <a:buNone/>
            </a:pPr>
            <a:endParaRPr lang="fr-CA">
              <a:solidFill>
                <a:srgbClr val="C00000"/>
              </a:solidFill>
            </a:endParaRPr>
          </a:p>
          <a:p>
            <a:pPr marL="0" indent="0" algn="just">
              <a:buNone/>
            </a:pPr>
            <a:endParaRPr lang="fr-CA">
              <a:solidFill>
                <a:srgbClr val="C00000"/>
              </a:solidFill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15343CE4-ADF5-37BE-4B1A-642538BF5D9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FA6DF3C-E71E-F688-E1F9-0D24556751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46557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Le seuil d'indifférence</a:t>
            </a:r>
            <a:endParaRPr lang="fr-CA" sz="4000">
              <a:cs typeface="Calibri Ligh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598769"/>
            <a:ext cx="10439400" cy="17071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fr-CA" sz="2400" dirty="0"/>
              <a:t>Représente le </a:t>
            </a:r>
            <a:r>
              <a:rPr lang="fr-CA" sz="2400" u="sng" dirty="0"/>
              <a:t>niveau d'activité </a:t>
            </a:r>
            <a:r>
              <a:rPr lang="fr-CA" sz="2400" dirty="0"/>
              <a:t>auquel </a:t>
            </a:r>
            <a:r>
              <a:rPr lang="fr-CA" sz="2400" u="sng" dirty="0"/>
              <a:t>deux</a:t>
            </a:r>
            <a:r>
              <a:rPr lang="fr-CA" sz="2400" dirty="0"/>
              <a:t> propositions portant sur la </a:t>
            </a:r>
            <a:r>
              <a:rPr lang="fr-CA" sz="2400" u="sng" dirty="0"/>
              <a:t>structure</a:t>
            </a:r>
            <a:r>
              <a:rPr lang="fr-CA" sz="2400" dirty="0"/>
              <a:t> des coûts produisent le </a:t>
            </a:r>
            <a:r>
              <a:rPr lang="fr-CA" sz="2400" u="sng" dirty="0"/>
              <a:t>même résultat d’exploitation</a:t>
            </a:r>
            <a:endParaRPr lang="en-US" dirty="0"/>
          </a:p>
          <a:p>
            <a:pPr lvl="0" rtl="0"/>
            <a:r>
              <a:rPr lang="fr-CA" sz="2400" dirty="0"/>
              <a:t>D’un point de vue quantitatif </a:t>
            </a:r>
            <a:r>
              <a:rPr lang="fr-CA" sz="2400" dirty="0">
                <a:sym typeface="Wingdings" panose="05000000000000000000" pitchFamily="2" charset="2"/>
              </a:rPr>
              <a:t></a:t>
            </a:r>
            <a:r>
              <a:rPr lang="fr-CA" sz="2400" dirty="0"/>
              <a:t> indifférent entre les deux propositions à ce volume d’activité</a:t>
            </a:r>
          </a:p>
          <a:p>
            <a:pPr lvl="0" rtl="0"/>
            <a:endParaRPr lang="fr-CA" sz="2000" dirty="0"/>
          </a:p>
        </p:txBody>
      </p:sp>
      <p:sp>
        <p:nvSpPr>
          <p:cNvPr id="6042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64746" y="4409728"/>
            <a:ext cx="777240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110000"/>
              </a:lnSpc>
              <a:spcBef>
                <a:spcPct val="100000"/>
              </a:spcBef>
              <a:buClr>
                <a:schemeClr val="tx1"/>
              </a:buClr>
              <a:buSzPct val="70000"/>
            </a:pPr>
            <a:endParaRPr lang="fr-CA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  <a:sym typeface="Wingdings 3" pitchFamily="18" charset="2"/>
            </a:endParaRPr>
          </a:p>
        </p:txBody>
      </p:sp>
      <p:sp>
        <p:nvSpPr>
          <p:cNvPr id="9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3270065"/>
            <a:ext cx="7581207" cy="2219075"/>
          </a:xfrm>
          <a:prstGeom prst="rect">
            <a:avLst/>
          </a:prstGeom>
          <a:ln w="2857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FORMULES:</a:t>
            </a:r>
          </a:p>
          <a:p>
            <a:pPr algn="ctr"/>
            <a:r>
              <a:rPr lang="en-US" sz="2400" dirty="0" err="1"/>
              <a:t>Résultat</a:t>
            </a:r>
            <a:r>
              <a:rPr lang="en-US" sz="2400" dirty="0"/>
              <a:t> </a:t>
            </a:r>
            <a:r>
              <a:rPr lang="en-US" sz="2400" dirty="0" err="1"/>
              <a:t>d’exploitation</a:t>
            </a:r>
            <a:r>
              <a:rPr lang="en-US" sz="2400" dirty="0"/>
              <a:t> </a:t>
            </a:r>
            <a:r>
              <a:rPr lang="en-US" sz="2400" baseline="-25000" dirty="0"/>
              <a:t>1</a:t>
            </a:r>
            <a:r>
              <a:rPr lang="en-US" sz="2400" dirty="0"/>
              <a:t> = </a:t>
            </a:r>
            <a:r>
              <a:rPr lang="en-US" sz="2400" dirty="0" err="1"/>
              <a:t>Résultat</a:t>
            </a:r>
            <a:r>
              <a:rPr lang="en-US" sz="2400" dirty="0"/>
              <a:t> </a:t>
            </a:r>
            <a:r>
              <a:rPr lang="en-US" sz="2400" dirty="0" err="1"/>
              <a:t>d’exploitation</a:t>
            </a:r>
            <a:r>
              <a:rPr lang="en-US" sz="2400" dirty="0"/>
              <a:t> </a:t>
            </a:r>
            <a:r>
              <a:rPr lang="en-US" sz="2400" baseline="-25000" dirty="0"/>
              <a:t>2</a:t>
            </a:r>
          </a:p>
          <a:p>
            <a:pPr algn="ctr"/>
            <a:r>
              <a:rPr lang="en-US" sz="2400" dirty="0"/>
              <a:t>[(Prix</a:t>
            </a:r>
            <a:r>
              <a:rPr lang="en-US" sz="2400" baseline="-25000" dirty="0"/>
              <a:t>1</a:t>
            </a:r>
            <a:r>
              <a:rPr lang="en-US" sz="2400" dirty="0"/>
              <a:t> – CV</a:t>
            </a:r>
            <a:r>
              <a:rPr lang="en-US" sz="2400" baseline="-25000" dirty="0"/>
              <a:t>1</a:t>
            </a:r>
            <a:r>
              <a:rPr lang="en-US" sz="2400" dirty="0"/>
              <a:t>) x Volume] - CF</a:t>
            </a:r>
            <a:r>
              <a:rPr lang="en-US" sz="2400" baseline="-25000" dirty="0"/>
              <a:t>1 </a:t>
            </a:r>
            <a:r>
              <a:rPr lang="en-US" sz="2400" dirty="0"/>
              <a:t>= [(Prix</a:t>
            </a:r>
            <a:r>
              <a:rPr lang="en-US" sz="2400" baseline="-25000" dirty="0"/>
              <a:t>2</a:t>
            </a:r>
            <a:r>
              <a:rPr lang="en-US" sz="2400" dirty="0"/>
              <a:t> – CV</a:t>
            </a:r>
            <a:r>
              <a:rPr lang="en-US" sz="2400" baseline="-25000" dirty="0"/>
              <a:t>2</a:t>
            </a:r>
            <a:r>
              <a:rPr lang="en-US" sz="2400" dirty="0"/>
              <a:t>) x Volume] - CF</a:t>
            </a:r>
            <a:r>
              <a:rPr lang="en-US" sz="2400" baseline="-25000" dirty="0"/>
              <a:t>2</a:t>
            </a:r>
            <a:endParaRPr lang="en-US" sz="2400" dirty="0"/>
          </a:p>
          <a:p>
            <a:pPr algn="ctr"/>
            <a:r>
              <a:rPr lang="en-US" sz="2400" dirty="0"/>
              <a:t>(MCV</a:t>
            </a:r>
            <a:r>
              <a:rPr lang="en-US" sz="2400" baseline="-25000" dirty="0"/>
              <a:t>1 </a:t>
            </a:r>
            <a:r>
              <a:rPr lang="en-US" sz="2400" baseline="-25000" dirty="0" err="1"/>
              <a:t>unitaire</a:t>
            </a:r>
            <a:r>
              <a:rPr lang="en-US" sz="2400" dirty="0"/>
              <a:t> x Volume) - CF</a:t>
            </a:r>
            <a:r>
              <a:rPr lang="en-US" sz="2400" baseline="-25000" dirty="0"/>
              <a:t>1</a:t>
            </a:r>
            <a:r>
              <a:rPr lang="en-US" sz="2400" dirty="0"/>
              <a:t> = (MCV</a:t>
            </a:r>
            <a:r>
              <a:rPr lang="en-US" sz="2400" baseline="-25000" dirty="0"/>
              <a:t>2 </a:t>
            </a:r>
            <a:r>
              <a:rPr lang="en-US" sz="2400" baseline="-25000" dirty="0" err="1"/>
              <a:t>unitaire</a:t>
            </a:r>
            <a:r>
              <a:rPr lang="en-US" sz="2400" dirty="0"/>
              <a:t> x Volume) - CF</a:t>
            </a:r>
            <a:r>
              <a:rPr lang="en-US" sz="2400" baseline="-25000" dirty="0"/>
              <a:t>2</a:t>
            </a:r>
          </a:p>
          <a:p>
            <a:pPr algn="ctr"/>
            <a:r>
              <a:rPr lang="en-US" sz="2400" dirty="0"/>
              <a:t>CF</a:t>
            </a:r>
            <a:r>
              <a:rPr lang="en-US" sz="2400" baseline="-25000" dirty="0"/>
              <a:t>1</a:t>
            </a:r>
            <a:r>
              <a:rPr lang="en-US" sz="2400" dirty="0"/>
              <a:t> - </a:t>
            </a:r>
            <a:r>
              <a:rPr lang="en-US" sz="2400" baseline="-25000" dirty="0"/>
              <a:t> </a:t>
            </a:r>
            <a:r>
              <a:rPr lang="en-US" sz="2400" dirty="0"/>
              <a:t>CF</a:t>
            </a:r>
            <a:r>
              <a:rPr lang="en-US" sz="2400" baseline="-25000" dirty="0"/>
              <a:t>2</a:t>
            </a:r>
            <a:r>
              <a:rPr lang="en-US" sz="2400" dirty="0"/>
              <a:t> / MCV</a:t>
            </a:r>
            <a:r>
              <a:rPr lang="en-US" sz="2000" dirty="0"/>
              <a:t>unitaire</a:t>
            </a:r>
            <a:r>
              <a:rPr lang="en-US" sz="2400" baseline="-25000" dirty="0"/>
              <a:t>1 </a:t>
            </a:r>
            <a:r>
              <a:rPr lang="en-US" sz="2400" dirty="0"/>
              <a:t>- MCV</a:t>
            </a:r>
            <a:r>
              <a:rPr lang="en-US" sz="2000" dirty="0"/>
              <a:t>unitaire</a:t>
            </a:r>
            <a:r>
              <a:rPr lang="en-US" sz="2400" baseline="-25000" dirty="0"/>
              <a:t>2 </a:t>
            </a:r>
            <a:r>
              <a:rPr lang="en-US" sz="2400" dirty="0"/>
              <a:t>= </a:t>
            </a:r>
            <a:r>
              <a:rPr lang="en-US" sz="2400" b="1" dirty="0"/>
              <a:t>Volume</a:t>
            </a:r>
            <a:endParaRPr lang="en-US" sz="2400" b="1" baseline="-25000" dirty="0">
              <a:cs typeface="Calibri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1E85578-0C1E-48B5-A820-50A61FF70C7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640362" y="3429000"/>
            <a:ext cx="3329258" cy="13335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800" b="1" dirty="0"/>
              <a:t>Termes et abréviations utilisés:</a:t>
            </a:r>
          </a:p>
          <a:p>
            <a:r>
              <a:rPr lang="fr-CA" sz="1800" dirty="0"/>
              <a:t>MCV: marge sur coûts variables unitaire</a:t>
            </a:r>
          </a:p>
          <a:p>
            <a:r>
              <a:rPr lang="fr-CA" sz="1800" dirty="0"/>
              <a:t>CF: coûts fixes totaux</a:t>
            </a:r>
          </a:p>
          <a:p>
            <a:r>
              <a:rPr lang="fr-CA" sz="1800" dirty="0"/>
              <a:t>CV: coûts variables unitaires</a:t>
            </a:r>
          </a:p>
          <a:p>
            <a:endParaRPr lang="fr-CA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9332E9-B911-F3AC-9D82-9DCCA856BE74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132016" y="5567544"/>
            <a:ext cx="7363591" cy="857489"/>
          </a:xfrm>
          <a:prstGeom prst="rect">
            <a:avLst/>
          </a:prstGeom>
          <a:ln w="2857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FORMULE alternative </a:t>
            </a:r>
            <a:r>
              <a:rPr lang="en-US" sz="2400" b="1" dirty="0" err="1">
                <a:solidFill>
                  <a:srgbClr val="C00000"/>
                </a:solidFill>
              </a:rPr>
              <a:t>si</a:t>
            </a:r>
            <a:r>
              <a:rPr lang="en-US" sz="2400" b="1" dirty="0">
                <a:solidFill>
                  <a:srgbClr val="C00000"/>
                </a:solidFill>
              </a:rPr>
              <a:t> le prix ne change pas:</a:t>
            </a:r>
          </a:p>
          <a:p>
            <a:pPr algn="ctr"/>
            <a:r>
              <a:rPr lang="en-US" sz="2400" dirty="0"/>
              <a:t>CF</a:t>
            </a:r>
            <a:r>
              <a:rPr lang="en-US" sz="2400" baseline="-25000" dirty="0"/>
              <a:t>1</a:t>
            </a:r>
            <a:r>
              <a:rPr lang="en-US" sz="2400" dirty="0"/>
              <a:t> - CF</a:t>
            </a:r>
            <a:r>
              <a:rPr lang="en-US" sz="2400" baseline="-25000" dirty="0"/>
              <a:t>2</a:t>
            </a:r>
            <a:r>
              <a:rPr lang="en-US" sz="2400" dirty="0"/>
              <a:t> / </a:t>
            </a:r>
            <a:r>
              <a:rPr lang="en-US" sz="2400" dirty="0" err="1"/>
              <a:t>CV</a:t>
            </a:r>
            <a:r>
              <a:rPr lang="en-US" sz="2000" dirty="0" err="1"/>
              <a:t>unitaire</a:t>
            </a:r>
            <a:r>
              <a:rPr lang="en-US" sz="2400" dirty="0"/>
              <a:t> </a:t>
            </a:r>
            <a:r>
              <a:rPr lang="en-US" sz="2400" baseline="-25000" dirty="0"/>
              <a:t>2</a:t>
            </a:r>
            <a:r>
              <a:rPr lang="en-US" sz="2400" dirty="0"/>
              <a:t> - CV</a:t>
            </a:r>
            <a:r>
              <a:rPr lang="en-US" sz="2000" dirty="0"/>
              <a:t>unitaire</a:t>
            </a:r>
            <a:r>
              <a:rPr lang="en-US" sz="2400" baseline="-25000" dirty="0"/>
              <a:t>1</a:t>
            </a:r>
            <a:endParaRPr lang="en-US" sz="2400" dirty="0">
              <a:cs typeface="Calibri"/>
            </a:endParaRP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E9406735-C615-EE16-CE51-EC40CD95D16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B508DC6F-9062-9B2C-6C83-AF226C2A79B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299363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CA" dirty="0"/>
              <a:t>Seuil d’indifférence - Interprétation</a:t>
            </a:r>
            <a:br>
              <a:rPr lang="fr-CA" dirty="0"/>
            </a:br>
            <a:r>
              <a:rPr lang="fr-CA" sz="4000" i="1" dirty="0"/>
              <a:t>Si la demande prévue est + de 120 unités</a:t>
            </a:r>
            <a:r>
              <a:rPr lang="fr-CA" i="1" dirty="0"/>
              <a:t>….</a:t>
            </a:r>
            <a:endParaRPr lang="en-US" i="1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0458294"/>
              </p:ext>
            </p:extLst>
          </p:nvPr>
        </p:nvGraphicFramePr>
        <p:xfrm>
          <a:off x="929148" y="1363375"/>
          <a:ext cx="10424652" cy="510974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95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984">
                  <a:extLst>
                    <a:ext uri="{9D8B030D-6E8A-4147-A177-3AD203B41FA5}">
                      <a16:colId xmlns:a16="http://schemas.microsoft.com/office/drawing/2014/main" val="2942651536"/>
                    </a:ext>
                  </a:extLst>
                </a:gridCol>
                <a:gridCol w="1220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6910763"/>
                    </a:ext>
                  </a:extLst>
                </a:gridCol>
                <a:gridCol w="156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429">
                  <a:extLst>
                    <a:ext uri="{9D8B030D-6E8A-4147-A177-3AD203B41FA5}">
                      <a16:colId xmlns:a16="http://schemas.microsoft.com/office/drawing/2014/main" val="3496321126"/>
                    </a:ext>
                  </a:extLst>
                </a:gridCol>
                <a:gridCol w="1516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658">
                <a:tc>
                  <a:txBody>
                    <a:bodyPr/>
                    <a:lstStyle/>
                    <a:p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/>
                        <a:t>Structure</a:t>
                      </a:r>
                      <a:r>
                        <a:rPr lang="fr-CA" sz="2400" baseline="0"/>
                        <a:t> de coûts # 1</a:t>
                      </a:r>
                      <a:endParaRPr lang="fr-CA" sz="24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24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/>
                        <a:t>Structure de coûts # 2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42540410"/>
                  </a:ext>
                </a:extLst>
              </a:tr>
              <a:tr h="853449">
                <a:tc>
                  <a:txBody>
                    <a:bodyPr/>
                    <a:lstStyle/>
                    <a:p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120 unités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+1 unité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121 </a:t>
                      </a:r>
                    </a:p>
                    <a:p>
                      <a:pPr algn="ctr"/>
                      <a:r>
                        <a:rPr lang="fr-CA" sz="2400"/>
                        <a:t>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120 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+1</a:t>
                      </a:r>
                    </a:p>
                    <a:p>
                      <a:pPr algn="ctr"/>
                      <a:r>
                        <a:rPr lang="fr-CA" sz="2400" b="1"/>
                        <a:t>unité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121 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5558970"/>
                  </a:ext>
                </a:extLst>
              </a:tr>
              <a:tr h="736199">
                <a:tc>
                  <a:txBody>
                    <a:bodyPr/>
                    <a:lstStyle/>
                    <a:p>
                      <a:r>
                        <a:rPr lang="fr-CA" sz="2400"/>
                        <a:t>Ventes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/>
                        <a:t>3 000 $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/>
                        <a:t>25 $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 b="0"/>
                        <a:t>3 025 $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 b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/>
                        <a:t>3 000 $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/>
                        <a:t>25 $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 b="0"/>
                        <a:t>3 025 $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240">
                <a:tc>
                  <a:txBody>
                    <a:bodyPr/>
                    <a:lstStyle/>
                    <a:p>
                      <a:r>
                        <a:rPr lang="fr-CA" sz="2400"/>
                        <a:t>(-) Coûts variables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2 400 $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20 $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2 420 $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1 800 $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1 815 $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088">
                <a:tc>
                  <a:txBody>
                    <a:bodyPr/>
                    <a:lstStyle/>
                    <a:p>
                      <a:r>
                        <a:rPr lang="fr-CA" sz="2400"/>
                        <a:t>MCV</a:t>
                      </a:r>
                      <a:r>
                        <a:rPr lang="fr-CA" sz="2400" baseline="0"/>
                        <a:t> totale</a:t>
                      </a:r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600 $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+ 5 $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605 $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1 200 $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+ 10 $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1 210 $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lang="fr-CA" sz="2400"/>
                        <a:t>(-) Coûts fixes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400 $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---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400 $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1 000 $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---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1 000 $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9">
                <a:tc>
                  <a:txBody>
                    <a:bodyPr/>
                    <a:lstStyle/>
                    <a:p>
                      <a:r>
                        <a:rPr lang="fr-CA" sz="2400" b="1"/>
                        <a:t>Résultat  d’exploitation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>
                          <a:highlight>
                            <a:srgbClr val="FFFF00"/>
                          </a:highlight>
                        </a:rPr>
                        <a:t>200 $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+ 5 $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205 $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>
                          <a:highlight>
                            <a:srgbClr val="FFFF00"/>
                          </a:highlight>
                        </a:rPr>
                        <a:t>200 $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+ 10 $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210 $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3BE07F49-DEC0-FF43-A6DB-251D582721A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559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CA" dirty="0"/>
              <a:t>Seuil d’indifférence - Interprétation</a:t>
            </a:r>
            <a:br>
              <a:rPr lang="fr-CA" dirty="0"/>
            </a:br>
            <a:r>
              <a:rPr lang="fr-CA" i="1" dirty="0"/>
              <a:t>Si la demande prévue est de….</a:t>
            </a:r>
            <a:endParaRPr lang="en-US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93209383"/>
              </p:ext>
            </p:extLst>
          </p:nvPr>
        </p:nvGraphicFramePr>
        <p:xfrm>
          <a:off x="929148" y="1363375"/>
          <a:ext cx="10424652" cy="3549072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43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598">
                  <a:extLst>
                    <a:ext uri="{9D8B030D-6E8A-4147-A177-3AD203B41FA5}">
                      <a16:colId xmlns:a16="http://schemas.microsoft.com/office/drawing/2014/main" val="2942651536"/>
                    </a:ext>
                  </a:extLst>
                </a:gridCol>
                <a:gridCol w="108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6910763"/>
                    </a:ext>
                  </a:extLst>
                </a:gridCol>
                <a:gridCol w="156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429">
                  <a:extLst>
                    <a:ext uri="{9D8B030D-6E8A-4147-A177-3AD203B41FA5}">
                      <a16:colId xmlns:a16="http://schemas.microsoft.com/office/drawing/2014/main" val="3496321126"/>
                    </a:ext>
                  </a:extLst>
                </a:gridCol>
                <a:gridCol w="1516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658">
                <a:tc>
                  <a:txBody>
                    <a:bodyPr/>
                    <a:lstStyle/>
                    <a:p>
                      <a:r>
                        <a:rPr lang="fr-CA" sz="2400" dirty="0"/>
                        <a:t>                    Salle 1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 dirty="0"/>
                        <a:t>: Structure</a:t>
                      </a:r>
                      <a:r>
                        <a:rPr lang="fr-CA" sz="2400" baseline="0" dirty="0"/>
                        <a:t> de coûts</a:t>
                      </a:r>
                      <a:endParaRPr lang="fr-CA" sz="24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24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400" dirty="0"/>
                        <a:t>   Salle 2    : Structure de coûts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42540410"/>
                  </a:ext>
                </a:extLst>
              </a:tr>
              <a:tr h="853449">
                <a:tc>
                  <a:txBody>
                    <a:bodyPr/>
                    <a:lstStyle/>
                    <a:p>
                      <a:r>
                        <a:rPr lang="fr-CA" sz="2400"/>
                        <a:t>Demande (billets)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unités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 dirty="0"/>
                        <a:t>120 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dirty="0"/>
                        <a:t>150 </a:t>
                      </a:r>
                    </a:p>
                    <a:p>
                      <a:pPr algn="ctr"/>
                      <a:r>
                        <a:rPr lang="fr-CA" sz="2400" dirty="0"/>
                        <a:t>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100 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0" dirty="0"/>
                        <a:t>120 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150 unités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578">
                <a:tc>
                  <a:txBody>
                    <a:bodyPr/>
                    <a:lstStyle/>
                    <a:p>
                      <a:r>
                        <a:rPr lang="fr-CA" sz="2400" dirty="0"/>
                        <a:t>MCV unitaire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dirty="0"/>
                        <a:t> 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5 $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dirty="0"/>
                        <a:t> 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lang="fr-CA" sz="2400"/>
                        <a:t>(-) Coûts fixes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400 $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400 $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400 $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1 000</a:t>
                      </a:r>
                      <a:r>
                        <a:rPr lang="fr-CA" sz="2400" baseline="0"/>
                        <a:t> $</a:t>
                      </a:r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1 000</a:t>
                      </a:r>
                      <a:r>
                        <a:rPr lang="fr-CA" sz="2400" baseline="0"/>
                        <a:t> $</a:t>
                      </a:r>
                      <a:endParaRPr lang="fr-CA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dirty="0"/>
                        <a:t>1 000 $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9">
                <a:tc>
                  <a:txBody>
                    <a:bodyPr/>
                    <a:lstStyle/>
                    <a:p>
                      <a:r>
                        <a:rPr lang="fr-CA" sz="2400" b="1"/>
                        <a:t>Résultat  d’exploitation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100 $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200 $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350 $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24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/>
                        <a:t>200 $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 b="1" dirty="0"/>
                        <a:t>500 $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3BE07F49-DEC0-FF43-A6DB-251D582721A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A3A737-A766-D225-DC33-D2FC578F66A8}"/>
              </a:ext>
            </a:extLst>
          </p:cNvPr>
          <p:cNvSpPr/>
          <p:nvPr/>
        </p:nvSpPr>
        <p:spPr>
          <a:xfrm>
            <a:off x="3381554" y="3429000"/>
            <a:ext cx="1035170" cy="69011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7F53ADA-234C-73D9-7EBC-D078DED39C17}"/>
              </a:ext>
            </a:extLst>
          </p:cNvPr>
          <p:cNvSpPr/>
          <p:nvPr/>
        </p:nvSpPr>
        <p:spPr>
          <a:xfrm>
            <a:off x="10055524" y="2818578"/>
            <a:ext cx="1035170" cy="69011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C6B821A-A693-FF90-D230-FAE894998140}"/>
              </a:ext>
            </a:extLst>
          </p:cNvPr>
          <p:cNvSpPr txBox="1"/>
          <p:nvPr/>
        </p:nvSpPr>
        <p:spPr>
          <a:xfrm>
            <a:off x="929148" y="5141342"/>
            <a:ext cx="104246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200" dirty="0"/>
              <a:t>Si la </a:t>
            </a:r>
            <a:r>
              <a:rPr lang="fr-CA" sz="2200" b="1" dirty="0"/>
              <a:t>demande prévue est de 100 unités</a:t>
            </a:r>
            <a:r>
              <a:rPr lang="fr-CA" sz="2200" dirty="0"/>
              <a:t>, quelle salle devrait être louée afin de maximiser le résultat d’exploitation ? </a:t>
            </a:r>
          </a:p>
          <a:p>
            <a:r>
              <a:rPr lang="fr-CA" sz="2200" dirty="0"/>
              <a:t>Et si la demande était de </a:t>
            </a:r>
            <a:r>
              <a:rPr lang="fr-CA" sz="2200" b="1" dirty="0"/>
              <a:t>150 unités </a:t>
            </a:r>
            <a:r>
              <a:rPr lang="fr-CA" sz="2200" dirty="0"/>
              <a:t>? Justifier votre réponse. </a:t>
            </a:r>
          </a:p>
        </p:txBody>
      </p:sp>
    </p:spTree>
    <p:extLst>
      <p:ext uri="{BB962C8B-B14F-4D97-AF65-F5344CB8AC3E}">
        <p14:creationId xmlns:p14="http://schemas.microsoft.com/office/powerpoint/2010/main" val="1253481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3D6A59-5206-4C6B-8C30-D016BFB050D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Arguments qualitatifs (non-financiers)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09D6AB-C258-4C3A-997E-B44FF17C726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>
                <a:ea typeface="+mn-lt"/>
                <a:cs typeface="+mn-lt"/>
              </a:rPr>
              <a:t>Un argument qualitatif doit s’appuyer sur des </a:t>
            </a:r>
            <a:r>
              <a:rPr lang="fr-FR" b="1">
                <a:ea typeface="+mn-lt"/>
                <a:cs typeface="+mn-lt"/>
              </a:rPr>
              <a:t>éléments non comptables (autres que les calculs effectués)</a:t>
            </a:r>
            <a:r>
              <a:rPr lang="fr-FR">
                <a:ea typeface="+mn-lt"/>
                <a:cs typeface="+mn-lt"/>
              </a:rPr>
              <a:t>, mais étroitement </a:t>
            </a:r>
            <a:r>
              <a:rPr lang="fr-FR" b="1" u="sng">
                <a:ea typeface="+mn-lt"/>
                <a:cs typeface="+mn-lt"/>
              </a:rPr>
              <a:t>liés au contexte du cas</a:t>
            </a:r>
            <a:r>
              <a:rPr lang="fr-FR">
                <a:ea typeface="+mn-lt"/>
                <a:cs typeface="+mn-lt"/>
              </a:rPr>
              <a:t>.</a:t>
            </a:r>
            <a:endParaRPr lang="fr-CA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CA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>
                <a:ea typeface="+mn-lt"/>
                <a:cs typeface="+mn-lt"/>
              </a:rPr>
              <a:t>Les facteurs qualitatifs font référence aux </a:t>
            </a:r>
            <a:r>
              <a:rPr lang="fr-CA" u="sng">
                <a:ea typeface="+mn-lt"/>
                <a:cs typeface="+mn-lt"/>
              </a:rPr>
              <a:t>aspects non financiers </a:t>
            </a:r>
            <a:r>
              <a:rPr lang="fr-CA">
                <a:ea typeface="+mn-lt"/>
                <a:cs typeface="+mn-lt"/>
              </a:rPr>
              <a:t>de l'entreprise ou de l'organisation, qui sont un peu </a:t>
            </a:r>
            <a:r>
              <a:rPr lang="fr-CA" u="sng">
                <a:ea typeface="+mn-lt"/>
                <a:cs typeface="+mn-lt"/>
              </a:rPr>
              <a:t>plus intangibles</a:t>
            </a:r>
            <a:r>
              <a:rPr lang="fr-CA">
                <a:ea typeface="+mn-lt"/>
                <a:cs typeface="+mn-lt"/>
              </a:rPr>
              <a:t>, mais qui influencent néanmoins les décisions. Parmi les exemples de facteurs qualitatifs dans les entreprises, on peut citer la satisfaction des clients à l'égard des produits de l'entreprise, le moral des employés, etc.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CA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>
                <a:ea typeface="+mn-lt"/>
                <a:cs typeface="+mn-lt"/>
              </a:rPr>
              <a:t>Comment la prise en compte des facteurs qualitatifs pourrait-elle améliorer les décisions prises par les managers ?</a:t>
            </a:r>
            <a:endParaRPr lang="fr-CA"/>
          </a:p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5C3835-E823-4727-88C9-00321D75810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8485A4A3-687A-CDFA-FFA1-DB59339474D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12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1F961-2940-40D2-B9B7-6E72AD59AA0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Questions - Organisation d’un party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4E07F7-A8FE-407B-87A8-1D9ED61003E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AD754F56-54CA-4879-A4A6-0D1D5D147E5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191750" y="-2381"/>
            <a:ext cx="2000250" cy="1123950"/>
          </a:xfrm>
          <a:prstGeom prst="rect">
            <a:avLst/>
          </a:prstGeom>
        </p:spPr>
      </p:pic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3B4D26E4-4230-4A72-BC14-A201369ECE88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923730" y="1781299"/>
            <a:ext cx="10515600" cy="2398815"/>
          </a:xfrm>
        </p:spPr>
        <p:txBody>
          <a:bodyPr/>
          <a:lstStyle/>
          <a:p>
            <a:pPr marL="539750" lvl="2" indent="-176213"/>
            <a:r>
              <a:rPr lang="fr-CA" sz="2800"/>
              <a:t>Existe-t-il des risques/enjeux associés à votre décision ?    </a:t>
            </a:r>
            <a:endParaRPr lang="fr-CA" sz="2800">
              <a:cs typeface="Calibri"/>
            </a:endParaRPr>
          </a:p>
          <a:p>
            <a:pPr marL="539750" lvl="2" indent="-176213">
              <a:buFont typeface="Arial"/>
              <a:buChar char="•"/>
            </a:pPr>
            <a:r>
              <a:rPr lang="fr-CA" sz="2800"/>
              <a:t>Quelle peut être la réaction des étudiants de choisir une nouvelle salle ?  </a:t>
            </a:r>
          </a:p>
          <a:p>
            <a:pPr marL="539750" lvl="2" indent="-176213">
              <a:buFont typeface="Arial"/>
              <a:buChar char="•"/>
            </a:pPr>
            <a:r>
              <a:rPr lang="fr-CA" sz="2800"/>
              <a:t>Est-ce que vous pourriez envisager des alternatives pour augmenter la rentabilité?  </a:t>
            </a:r>
            <a:endParaRPr lang="fr-CA" sz="2800">
              <a:cs typeface="Calibri"/>
            </a:endParaRPr>
          </a:p>
          <a:p>
            <a:endParaRPr lang="fr-CA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2FB60F01-2946-138C-7689-2F32283D940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82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C3459-55A0-9E88-7DB3-6F1C2787297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Analyse CVR – plusieurs produits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237ECE-CEBB-84CB-C2BA-700DFBF92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3091CBF-301F-97D6-1696-7BEBC1BFA2E3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8438"/>
            <a:ext cx="10515600" cy="4708525"/>
          </a:xfrm>
        </p:spPr>
        <p:txBody>
          <a:bodyPr/>
          <a:lstStyle/>
          <a:p>
            <a:r>
              <a:rPr lang="fr-CA"/>
              <a:t>Que se passe-t-il quand une organisation propose plusieurs produits/services ?</a:t>
            </a:r>
          </a:p>
          <a:p>
            <a:r>
              <a:rPr lang="fr-CA"/>
              <a:t>Comment faire une analyse CVR ?</a:t>
            </a:r>
          </a:p>
          <a:p>
            <a:endParaRPr lang="fr-CA"/>
          </a:p>
          <a:p>
            <a:r>
              <a:rPr lang="fr-CA"/>
              <a:t>Par exemple : </a:t>
            </a:r>
          </a:p>
          <a:p>
            <a:endParaRPr lang="fr-CA"/>
          </a:p>
          <a:p>
            <a:r>
              <a:rPr lang="fr-CA"/>
              <a:t>Point mort = </a:t>
            </a:r>
            <a:r>
              <a:rPr lang="fr-CA" u="sng"/>
              <a:t>Coûts fixes</a:t>
            </a:r>
          </a:p>
          <a:p>
            <a:pPr marL="0" indent="0">
              <a:buNone/>
            </a:pPr>
            <a:r>
              <a:rPr lang="fr-CA"/>
              <a:t>		       </a:t>
            </a:r>
            <a:r>
              <a:rPr lang="fr-CA" err="1">
                <a:solidFill>
                  <a:srgbClr val="FF0000"/>
                </a:solidFill>
              </a:rPr>
              <a:t>MCVu</a:t>
            </a:r>
            <a:endParaRPr lang="fr-CA">
              <a:solidFill>
                <a:srgbClr val="FF0000"/>
              </a:solidFill>
            </a:endParaRPr>
          </a:p>
        </p:txBody>
      </p:sp>
      <p:sp>
        <p:nvSpPr>
          <p:cNvPr id="7" name="Phylactère : pensées 6">
            <a:extLst>
              <a:ext uri="{FF2B5EF4-FFF2-40B4-BE49-F238E27FC236}">
                <a16:creationId xmlns:a16="http://schemas.microsoft.com/office/drawing/2014/main" id="{7446BC10-DB65-F199-6820-C5FDEF905BC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05948" y="3291840"/>
            <a:ext cx="3861995" cy="1617309"/>
          </a:xfrm>
          <a:prstGeom prst="cloudCallout">
            <a:avLst>
              <a:gd name="adj1" fmla="val -84064"/>
              <a:gd name="adj2" fmla="val 6473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/>
              <a:t>On n’a pas seulement une </a:t>
            </a:r>
            <a:r>
              <a:rPr lang="fr-CA" err="1"/>
              <a:t>MCVu</a:t>
            </a:r>
            <a:r>
              <a:rPr lang="fr-CA"/>
              <a:t>, mais autant de </a:t>
            </a:r>
            <a:r>
              <a:rPr lang="fr-CA" err="1"/>
              <a:t>MCVu</a:t>
            </a:r>
            <a:r>
              <a:rPr lang="fr-CA"/>
              <a:t> qu’il y a de produits/services.</a:t>
            </a: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0AF7E1A1-62DA-F7E7-5044-09960AAECBD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547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4A46-061B-1084-6704-79822E55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1F1B5-0AAD-03B0-A833-246F9ECCE4D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81000" y="119019"/>
            <a:ext cx="11430000" cy="1042570"/>
          </a:xfrm>
        </p:spPr>
        <p:txBody>
          <a:bodyPr>
            <a:noAutofit/>
          </a:bodyPr>
          <a:lstStyle/>
          <a:p>
            <a:pPr algn="ctr"/>
            <a:r>
              <a:rPr lang="fr-CA" sz="4000" dirty="0"/>
              <a:t>Analyse CVR avec une </a:t>
            </a:r>
            <a:r>
              <a:rPr lang="fr-CA" sz="4000" b="1" dirty="0"/>
              <a:t>MCV Pondérée </a:t>
            </a:r>
            <a:r>
              <a:rPr lang="fr-CA" sz="4000" dirty="0"/>
              <a:t>- Illustration</a:t>
            </a:r>
            <a:endParaRPr lang="fr-CA" sz="4000" dirty="0">
              <a:cs typeface="Calibri Light"/>
            </a:endParaRPr>
          </a:p>
        </p:txBody>
      </p:sp>
      <p:graphicFrame>
        <p:nvGraphicFramePr>
          <p:cNvPr id="3" name="Tableau 6">
            <a:extLst>
              <a:ext uri="{FF2B5EF4-FFF2-40B4-BE49-F238E27FC236}">
                <a16:creationId xmlns:a16="http://schemas.microsoft.com/office/drawing/2014/main" id="{EE7F021B-B6BD-5696-C5BC-E3EAD9EFF13B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25324944"/>
              </p:ext>
            </p:extLst>
          </p:nvPr>
        </p:nvGraphicFramePr>
        <p:xfrm>
          <a:off x="896974" y="1922840"/>
          <a:ext cx="8954392" cy="329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196557">
                  <a:extLst>
                    <a:ext uri="{9D8B030D-6E8A-4147-A177-3AD203B41FA5}">
                      <a16:colId xmlns:a16="http://schemas.microsoft.com/office/drawing/2014/main" val="830997608"/>
                    </a:ext>
                  </a:extLst>
                </a:gridCol>
                <a:gridCol w="1618742">
                  <a:extLst>
                    <a:ext uri="{9D8B030D-6E8A-4147-A177-3AD203B41FA5}">
                      <a16:colId xmlns:a16="http://schemas.microsoft.com/office/drawing/2014/main" val="3348847475"/>
                    </a:ext>
                  </a:extLst>
                </a:gridCol>
                <a:gridCol w="1605688">
                  <a:extLst>
                    <a:ext uri="{9D8B030D-6E8A-4147-A177-3AD203B41FA5}">
                      <a16:colId xmlns:a16="http://schemas.microsoft.com/office/drawing/2014/main" val="41290847"/>
                    </a:ext>
                  </a:extLst>
                </a:gridCol>
                <a:gridCol w="1533405">
                  <a:extLst>
                    <a:ext uri="{9D8B030D-6E8A-4147-A177-3AD203B41FA5}">
                      <a16:colId xmlns:a16="http://schemas.microsoft.com/office/drawing/2014/main" val="203139525"/>
                    </a:ext>
                  </a:extLst>
                </a:gridCol>
              </a:tblGrid>
              <a:tr h="362262">
                <a:tc>
                  <a:txBody>
                    <a:bodyPr/>
                    <a:lstStyle/>
                    <a:p>
                      <a:pPr algn="ctr"/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Tartes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Gâteaux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Biscuits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085975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Volume en (unités)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8182091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l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Prix de vente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41,00 $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3622491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l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</a:rPr>
                        <a:t>Coûts variables</a:t>
                      </a:r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224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   Matières premières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6,00 $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10,00 $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0,50$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0216121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l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   Main d’œuvre directe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3,50$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6,00 $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0,50$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08125084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l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   Frais généraux de fabrication variables 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800" b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0,20$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47056099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l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   Frais de vente variables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sng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u="sng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800" b="0" u="sng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0,30$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253011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</a:rPr>
                        <a:t>Marge sur coûts variables </a:t>
                      </a: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28645664"/>
                  </a:ext>
                </a:extLst>
              </a:tr>
            </a:tbl>
          </a:graphicData>
        </a:graphic>
      </p:graphicFrame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EA3A1A05-65E8-9822-168B-FFBE3BF0A3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96974" y="1487787"/>
            <a:ext cx="10542356" cy="43505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 b="1" dirty="0"/>
              <a:t>Question </a:t>
            </a:r>
            <a:r>
              <a:rPr lang="fr-CA" sz="2000" dirty="0"/>
              <a:t> : L’entreprise ABC fabrique 3 produits. Voici les données du dernier mois:</a:t>
            </a: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7944B73A-DDFB-AF8D-2975-16D2AB6D78D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D5FE8C40-30FC-D53E-A9EA-CD0A44431D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981B50-5FD2-9E1D-9C68-B212F903511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755390" y="5346954"/>
            <a:ext cx="9683940" cy="13067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800" b="1" u="sng" dirty="0"/>
              <a:t>Les coûts fixes </a:t>
            </a:r>
            <a:r>
              <a:rPr lang="fr-CA" sz="1800" dirty="0"/>
              <a:t>sont composés de deux catégories : des frais généraux de fabrication (</a:t>
            </a:r>
            <a:r>
              <a:rPr lang="fr-CA" sz="1800" b="1" dirty="0"/>
              <a:t>FGF</a:t>
            </a:r>
            <a:r>
              <a:rPr lang="fr-CA" sz="1800" dirty="0"/>
              <a:t>), tels que l’amortissement des équipements et le salaire du superviseur, pour un total de 3 500 $ ;</a:t>
            </a:r>
          </a:p>
          <a:p>
            <a:pPr marL="0" indent="0">
              <a:buNone/>
            </a:pPr>
            <a:r>
              <a:rPr lang="fr-CA" sz="1800" dirty="0"/>
              <a:t>des frais de vente et d’administration (</a:t>
            </a:r>
            <a:r>
              <a:rPr lang="fr-CA" sz="1800" b="1" dirty="0"/>
              <a:t>FVA</a:t>
            </a:r>
            <a:r>
              <a:rPr lang="fr-CA" sz="1800" dirty="0"/>
              <a:t>), tels que les salaires administratifs, la publicité, etc., pour un total de 2 000 $.</a:t>
            </a:r>
          </a:p>
        </p:txBody>
      </p:sp>
    </p:spTree>
    <p:extLst>
      <p:ext uri="{BB962C8B-B14F-4D97-AF65-F5344CB8AC3E}">
        <p14:creationId xmlns:p14="http://schemas.microsoft.com/office/powerpoint/2010/main" val="41778339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D4F7-5D40-FBC6-3B4B-AD216B7B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1ABDB-0E67-B669-3D57-65748E668EC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81000" y="119019"/>
            <a:ext cx="11430000" cy="1042570"/>
          </a:xfrm>
        </p:spPr>
        <p:txBody>
          <a:bodyPr>
            <a:noAutofit/>
          </a:bodyPr>
          <a:lstStyle/>
          <a:p>
            <a:pPr algn="ctr"/>
            <a:r>
              <a:rPr lang="fr-CA" sz="4000" dirty="0"/>
              <a:t>Analyse CVR avec une MCV Pondérée - Illustration</a:t>
            </a:r>
            <a:endParaRPr lang="fr-CA" sz="4000" dirty="0">
              <a:cs typeface="Calibri Light"/>
            </a:endParaRPr>
          </a:p>
        </p:txBody>
      </p:sp>
      <p:graphicFrame>
        <p:nvGraphicFramePr>
          <p:cNvPr id="3" name="Tableau 6">
            <a:extLst>
              <a:ext uri="{FF2B5EF4-FFF2-40B4-BE49-F238E27FC236}">
                <a16:creationId xmlns:a16="http://schemas.microsoft.com/office/drawing/2014/main" id="{9FC80777-84A3-541D-8C43-4661626686E4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5470386"/>
              </p:ext>
            </p:extLst>
          </p:nvPr>
        </p:nvGraphicFramePr>
        <p:xfrm>
          <a:off x="896973" y="1922840"/>
          <a:ext cx="9972309" cy="3200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90291">
                  <a:extLst>
                    <a:ext uri="{9D8B030D-6E8A-4147-A177-3AD203B41FA5}">
                      <a16:colId xmlns:a16="http://schemas.microsoft.com/office/drawing/2014/main" val="830997608"/>
                    </a:ext>
                  </a:extLst>
                </a:gridCol>
                <a:gridCol w="1539179">
                  <a:extLst>
                    <a:ext uri="{9D8B030D-6E8A-4147-A177-3AD203B41FA5}">
                      <a16:colId xmlns:a16="http://schemas.microsoft.com/office/drawing/2014/main" val="3348847475"/>
                    </a:ext>
                  </a:extLst>
                </a:gridCol>
                <a:gridCol w="1526767">
                  <a:extLst>
                    <a:ext uri="{9D8B030D-6E8A-4147-A177-3AD203B41FA5}">
                      <a16:colId xmlns:a16="http://schemas.microsoft.com/office/drawing/2014/main" val="41290847"/>
                    </a:ext>
                  </a:extLst>
                </a:gridCol>
                <a:gridCol w="1458036">
                  <a:extLst>
                    <a:ext uri="{9D8B030D-6E8A-4147-A177-3AD203B41FA5}">
                      <a16:colId xmlns:a16="http://schemas.microsoft.com/office/drawing/2014/main" val="203139525"/>
                    </a:ext>
                  </a:extLst>
                </a:gridCol>
                <a:gridCol w="1458036">
                  <a:extLst>
                    <a:ext uri="{9D8B030D-6E8A-4147-A177-3AD203B41FA5}">
                      <a16:colId xmlns:a16="http://schemas.microsoft.com/office/drawing/2014/main" val="3941212818"/>
                    </a:ext>
                  </a:extLst>
                </a:gridCol>
              </a:tblGrid>
              <a:tr h="362262">
                <a:tc>
                  <a:txBody>
                    <a:bodyPr/>
                    <a:lstStyle/>
                    <a:p>
                      <a:pPr algn="ctr"/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Tartes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Gâteaux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Biscuits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085975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algn="ctr"/>
                      <a:r>
                        <a:rPr lang="fr-CA" sz="1800" kern="1200" baseline="0" dirty="0">
                          <a:solidFill>
                            <a:schemeClr val="tx1"/>
                          </a:solidFill>
                        </a:rPr>
                        <a:t>Volume en (unités)</a:t>
                      </a:r>
                      <a:endParaRPr lang="fr-CA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 kern="1200" baseline="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3 600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8182091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</a:rPr>
                        <a:t>Marge sur coûts variables unitaire</a:t>
                      </a: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1,50 $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28645664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47749036"/>
                  </a:ext>
                </a:extLst>
              </a:tr>
              <a:tr h="316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MCV pondérée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endParaRPr lang="fr-CA" sz="1800" b="1" kern="1200" baseline="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67116518"/>
                  </a:ext>
                </a:extLst>
              </a:tr>
            </a:tbl>
          </a:graphicData>
        </a:graphic>
      </p:graphicFrame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B27983FB-B22C-CA9A-88BF-95ACEC26A92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96974" y="1487787"/>
            <a:ext cx="10542356" cy="43505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 b="1" dirty="0"/>
              <a:t>Question </a:t>
            </a:r>
            <a:r>
              <a:rPr lang="fr-CA" sz="2000" dirty="0"/>
              <a:t> : L’entreprise ABC fabrique 3 produits. Voici les données du dernier mois:</a:t>
            </a: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B91979AA-0794-4466-4FD8-DCDABF35023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4F44966A-37A4-1D35-C5CF-CD7F4E9D28A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B893D0-354A-7B3F-6E9B-2B86E7B1C74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96973" y="5283973"/>
            <a:ext cx="10213850" cy="90774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800" b="1" u="sng" dirty="0"/>
              <a:t>Calcul du point mort:</a:t>
            </a:r>
            <a:endParaRPr lang="fr-CA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37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80109" y="101058"/>
            <a:ext cx="11914909" cy="104257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fr-CA" sz="4000">
                <a:ea typeface="+mn-ea"/>
              </a:rPr>
              <a:t>Analyse CVR lorsque l’entreprise offre </a:t>
            </a:r>
            <a:br>
              <a:rPr lang="fr-CA" sz="4000">
                <a:ea typeface="+mn-ea"/>
              </a:rPr>
            </a:br>
            <a:r>
              <a:rPr lang="fr-CA" sz="4000" u="sng">
                <a:ea typeface="+mn-ea"/>
              </a:rPr>
              <a:t>plusieurs produits/services</a:t>
            </a:r>
            <a:r>
              <a:rPr lang="fr-CA" sz="4000">
                <a:ea typeface="+mn-ea"/>
              </a:rPr>
              <a:t>  </a:t>
            </a:r>
            <a:endParaRPr lang="fr-CA" sz="4000">
              <a:ea typeface="+mn-ea"/>
              <a:cs typeface="Calibri Light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524000"/>
            <a:ext cx="10515600" cy="467208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80000"/>
              </a:lnSpc>
              <a:spcBef>
                <a:spcPct val="80000"/>
              </a:spcBef>
            </a:pPr>
            <a:r>
              <a:rPr lang="fr-CA" sz="2500">
                <a:latin typeface="Calibri"/>
                <a:cs typeface="Calibri"/>
              </a:rPr>
              <a:t>La plupart des entreprises manufacturières produisent aujourd’hui une vaste gamme de produits qui requièrent des ressources différentes et qui génèrent une marge sur coûts variables différente.</a:t>
            </a:r>
          </a:p>
          <a:p>
            <a:pPr>
              <a:lnSpc>
                <a:spcPct val="80000"/>
              </a:lnSpc>
              <a:spcBef>
                <a:spcPct val="80000"/>
              </a:spcBef>
            </a:pPr>
            <a:r>
              <a:rPr lang="fr-CA" sz="2500">
                <a:latin typeface="Calibri"/>
                <a:cs typeface="Calibri"/>
              </a:rPr>
              <a:t>Lorsqu’on a plusieurs produits, l’analyse CVR peut se faire avec la </a:t>
            </a:r>
            <a:r>
              <a:rPr lang="fr-CA" sz="2500" b="1">
                <a:latin typeface="Calibri"/>
                <a:cs typeface="Calibri"/>
              </a:rPr>
              <a:t>MCV pondérée</a:t>
            </a:r>
          </a:p>
          <a:p>
            <a:pPr marL="0" indent="0" algn="ctr">
              <a:lnSpc>
                <a:spcPct val="80000"/>
              </a:lnSpc>
              <a:spcBef>
                <a:spcPct val="80000"/>
              </a:spcBef>
              <a:buNone/>
            </a:pPr>
            <a:r>
              <a:rPr lang="fr-CA" sz="2000">
                <a:latin typeface="Calibri"/>
                <a:cs typeface="Calibri"/>
              </a:rPr>
              <a:t>MCV</a:t>
            </a:r>
            <a:r>
              <a:rPr lang="fr-CA" sz="2000" baseline="-25000">
                <a:latin typeface="Calibri"/>
                <a:cs typeface="Calibri"/>
              </a:rPr>
              <a:t>1</a:t>
            </a:r>
            <a:r>
              <a:rPr lang="fr-CA" sz="2000">
                <a:latin typeface="Calibri"/>
                <a:cs typeface="Calibri"/>
              </a:rPr>
              <a:t> x Volume</a:t>
            </a:r>
            <a:r>
              <a:rPr lang="fr-CA" sz="2000" baseline="-25000">
                <a:latin typeface="Calibri"/>
                <a:cs typeface="Calibri"/>
              </a:rPr>
              <a:t>1</a:t>
            </a:r>
            <a:r>
              <a:rPr lang="fr-CA" sz="2000">
                <a:latin typeface="Calibri"/>
                <a:cs typeface="Calibri"/>
              </a:rPr>
              <a:t> = MCV</a:t>
            </a:r>
            <a:r>
              <a:rPr lang="fr-CA" sz="2000" baseline="-25000">
                <a:latin typeface="Calibri"/>
                <a:cs typeface="Calibri"/>
              </a:rPr>
              <a:t>Total1</a:t>
            </a:r>
          </a:p>
          <a:p>
            <a:pPr marL="0" indent="0" algn="ctr">
              <a:lnSpc>
                <a:spcPct val="80000"/>
              </a:lnSpc>
              <a:spcBef>
                <a:spcPct val="80000"/>
              </a:spcBef>
              <a:buNone/>
            </a:pPr>
            <a:r>
              <a:rPr lang="fr-CA" sz="2000">
                <a:latin typeface="Calibri"/>
                <a:cs typeface="Calibri"/>
              </a:rPr>
              <a:t>MCV</a:t>
            </a:r>
            <a:r>
              <a:rPr lang="fr-CA" sz="2000" baseline="-25000">
                <a:latin typeface="Calibri"/>
                <a:cs typeface="Calibri"/>
              </a:rPr>
              <a:t>2</a:t>
            </a:r>
            <a:r>
              <a:rPr lang="fr-CA" sz="2000">
                <a:latin typeface="Calibri"/>
                <a:cs typeface="Calibri"/>
              </a:rPr>
              <a:t> x Volume</a:t>
            </a:r>
            <a:r>
              <a:rPr lang="fr-CA" sz="2000" baseline="-25000">
                <a:latin typeface="Calibri"/>
                <a:cs typeface="Calibri"/>
              </a:rPr>
              <a:t>2</a:t>
            </a:r>
            <a:r>
              <a:rPr lang="fr-CA" sz="2000">
                <a:latin typeface="Calibri"/>
                <a:cs typeface="Calibri"/>
              </a:rPr>
              <a:t> = MCV</a:t>
            </a:r>
            <a:r>
              <a:rPr lang="fr-CA" sz="2000" baseline="-25000">
                <a:latin typeface="Calibri"/>
                <a:cs typeface="Calibri"/>
              </a:rPr>
              <a:t>Total2</a:t>
            </a:r>
          </a:p>
          <a:p>
            <a:pPr marL="0" indent="0" algn="ctr">
              <a:lnSpc>
                <a:spcPct val="80000"/>
              </a:lnSpc>
              <a:spcBef>
                <a:spcPct val="80000"/>
              </a:spcBef>
              <a:buNone/>
            </a:pPr>
            <a:r>
              <a:rPr lang="fr-CA" sz="2000">
                <a:latin typeface="Calibri"/>
                <a:cs typeface="Calibri"/>
              </a:rPr>
              <a:t>MCV</a:t>
            </a:r>
            <a:r>
              <a:rPr lang="fr-CA" sz="2000" baseline="-25000">
                <a:latin typeface="Calibri"/>
                <a:cs typeface="Calibri"/>
              </a:rPr>
              <a:t>3</a:t>
            </a:r>
            <a:r>
              <a:rPr lang="fr-CA" sz="2000">
                <a:latin typeface="Calibri"/>
                <a:cs typeface="Calibri"/>
              </a:rPr>
              <a:t> x Volume</a:t>
            </a:r>
            <a:r>
              <a:rPr lang="fr-CA" sz="2000" baseline="-25000">
                <a:latin typeface="Calibri"/>
                <a:cs typeface="Calibri"/>
              </a:rPr>
              <a:t>3</a:t>
            </a:r>
            <a:r>
              <a:rPr lang="fr-CA" sz="2000">
                <a:latin typeface="Calibri"/>
                <a:cs typeface="Calibri"/>
              </a:rPr>
              <a:t> = MCV</a:t>
            </a:r>
            <a:r>
              <a:rPr lang="fr-CA" sz="2000" baseline="-25000">
                <a:latin typeface="Calibri"/>
                <a:cs typeface="Calibri"/>
              </a:rPr>
              <a:t>Total3</a:t>
            </a:r>
          </a:p>
          <a:p>
            <a:pPr marL="0" indent="0">
              <a:lnSpc>
                <a:spcPct val="80000"/>
              </a:lnSpc>
              <a:spcBef>
                <a:spcPct val="80000"/>
              </a:spcBef>
              <a:buNone/>
              <a:tabLst>
                <a:tab pos="2332038" algn="l"/>
                <a:tab pos="4306888" algn="l"/>
              </a:tabLst>
            </a:pPr>
            <a:r>
              <a:rPr lang="fr-CA" sz="2000">
                <a:latin typeface="Calibri"/>
                <a:cs typeface="Calibri"/>
              </a:rPr>
              <a:t>			                    MCV Totale / Volume Total</a:t>
            </a:r>
          </a:p>
          <a:p>
            <a:pPr>
              <a:lnSpc>
                <a:spcPct val="80000"/>
              </a:lnSpc>
              <a:spcBef>
                <a:spcPct val="80000"/>
              </a:spcBef>
            </a:pPr>
            <a:r>
              <a:rPr lang="fr-CA" sz="2500">
                <a:latin typeface="Calibri"/>
                <a:cs typeface="Calibri"/>
              </a:rPr>
              <a:t>La MCV pondérée permet de prendre en considération l’importance relative de chacun des produits</a:t>
            </a:r>
          </a:p>
          <a:p>
            <a:pPr>
              <a:lnSpc>
                <a:spcPct val="80000"/>
              </a:lnSpc>
              <a:spcBef>
                <a:spcPct val="80000"/>
              </a:spcBef>
            </a:pPr>
            <a:r>
              <a:rPr lang="fr-CA" sz="2500" b="1">
                <a:solidFill>
                  <a:srgbClr val="C00000"/>
                </a:solidFill>
                <a:latin typeface="Calibri"/>
                <a:cs typeface="Calibri"/>
              </a:rPr>
              <a:t>À ne pas confondre </a:t>
            </a:r>
            <a:r>
              <a:rPr lang="fr-CA" sz="2500">
                <a:latin typeface="Calibri"/>
                <a:cs typeface="Calibri"/>
              </a:rPr>
              <a:t>avec la moyenne </a:t>
            </a:r>
            <a:r>
              <a:rPr lang="fr-CA" sz="2400">
                <a:latin typeface="Calibri"/>
                <a:cs typeface="Calibri"/>
              </a:rPr>
              <a:t>arithmétique (MCV</a:t>
            </a:r>
            <a:r>
              <a:rPr lang="fr-CA" sz="2400" baseline="-25000">
                <a:latin typeface="Calibri"/>
                <a:cs typeface="Calibri"/>
              </a:rPr>
              <a:t>1</a:t>
            </a:r>
            <a:r>
              <a:rPr lang="fr-CA" sz="2400">
                <a:latin typeface="Calibri"/>
                <a:cs typeface="Calibri"/>
              </a:rPr>
              <a:t>+MCV</a:t>
            </a:r>
            <a:r>
              <a:rPr lang="fr-CA" sz="2400" baseline="-25000">
                <a:latin typeface="Calibri"/>
                <a:cs typeface="Calibri"/>
              </a:rPr>
              <a:t>2</a:t>
            </a:r>
            <a:r>
              <a:rPr lang="fr-CA" sz="2400">
                <a:latin typeface="Calibri"/>
                <a:cs typeface="Calibri"/>
              </a:rPr>
              <a:t>+MCV</a:t>
            </a:r>
            <a:r>
              <a:rPr lang="fr-CA" sz="2400" baseline="-25000">
                <a:latin typeface="Calibri"/>
                <a:cs typeface="Calibri"/>
              </a:rPr>
              <a:t>3</a:t>
            </a:r>
            <a:r>
              <a:rPr lang="fr-CA" sz="2400">
                <a:latin typeface="Calibri"/>
                <a:cs typeface="Calibri"/>
              </a:rPr>
              <a:t>)/3</a:t>
            </a:r>
          </a:p>
          <a:p>
            <a:pPr>
              <a:lnSpc>
                <a:spcPct val="80000"/>
              </a:lnSpc>
              <a:spcBef>
                <a:spcPct val="80000"/>
              </a:spcBef>
            </a:pPr>
            <a:endParaRPr lang="fr-CA" sz="2500">
              <a:latin typeface="Calibri"/>
              <a:cs typeface="Calibri"/>
            </a:endParaRPr>
          </a:p>
        </p:txBody>
      </p:sp>
      <p:cxnSp>
        <p:nvCxnSpPr>
          <p:cNvPr id="8" name="Connecteur droit 7"/>
          <p:cNvCxnSpPr/>
          <p:nvPr>
            <p:custDataLst>
              <p:tags r:id="rId4"/>
            </p:custDataLst>
          </p:nvPr>
        </p:nvCxnSpPr>
        <p:spPr>
          <a:xfrm>
            <a:off x="4534842" y="4229536"/>
            <a:ext cx="4786346" cy="158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/>
          <p:cNvGrpSpPr/>
          <p:nvPr>
            <p:custDataLst>
              <p:tags r:id="rId5"/>
            </p:custDataLst>
          </p:nvPr>
        </p:nvGrpSpPr>
        <p:grpSpPr>
          <a:xfrm>
            <a:off x="7288335" y="5506030"/>
            <a:ext cx="2701593" cy="451443"/>
            <a:chOff x="7760914" y="5030133"/>
            <a:chExt cx="2701593" cy="209880"/>
          </a:xfrm>
        </p:grpSpPr>
        <p:cxnSp>
          <p:nvCxnSpPr>
            <p:cNvPr id="9" name="Connecteur droit 8"/>
            <p:cNvCxnSpPr/>
            <p:nvPr>
              <p:custDataLst>
                <p:tags r:id="rId8"/>
              </p:custDataLst>
            </p:nvPr>
          </p:nvCxnSpPr>
          <p:spPr>
            <a:xfrm>
              <a:off x="7760914" y="5030133"/>
              <a:ext cx="2701593" cy="1997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/>
            <p:cNvCxnSpPr/>
            <p:nvPr>
              <p:custDataLst>
                <p:tags r:id="rId9"/>
              </p:custDataLst>
            </p:nvPr>
          </p:nvCxnSpPr>
          <p:spPr>
            <a:xfrm flipV="1">
              <a:off x="7760914" y="5040297"/>
              <a:ext cx="2701593" cy="1997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95CDD6AB-802F-27D0-AF55-70D363385A5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DD5FB91-077B-E749-A04C-51C95C2436B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514383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7B505-0FB3-BAD4-86F1-042A05053EE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Questions de révision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905250-BA0B-FC6E-A684-EF0093CDABD9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1A8FE5-68BB-3BDC-060C-9B8E3B1B6B7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4FF9AEE5-25BE-4906-CA80-C4808285D79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480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34B75-FE65-4F93-BF93-11BF142E4A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4000"/>
              <a:t>Prise de décisions et analyse CVR 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C9043A-2A17-4A99-97DC-93BAB6422AB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771650"/>
            <a:ext cx="10515600" cy="39212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CA"/>
          </a:p>
          <a:p>
            <a:r>
              <a:rPr lang="fr-CA"/>
              <a:t>Situation 1: Investissement – Achat d’une nouvelle machine</a:t>
            </a:r>
          </a:p>
          <a:p>
            <a:endParaRPr lang="fr-CA"/>
          </a:p>
          <a:p>
            <a:r>
              <a:rPr lang="fr-CA"/>
              <a:t>Situation 2: Rabais sur le prix de vente</a:t>
            </a:r>
          </a:p>
          <a:p>
            <a:endParaRPr lang="fr-CA">
              <a:cs typeface="Calibri" panose="020F0502020204030204"/>
            </a:endParaRPr>
          </a:p>
          <a:p>
            <a:r>
              <a:rPr lang="fr-CA"/>
              <a:t>Situation 3 : Augmentation des coûts de MP</a:t>
            </a:r>
            <a:endParaRPr lang="fr-CA">
              <a:cs typeface="Calibri" panose="020F0502020204030204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4A1F63-2FA2-4C01-8D2C-139CECA517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450ECF5A-9E40-59B4-1221-7DFE08EDB6D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720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D635CC-3C0C-4A49-BA01-4A4BA0D618D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/>
              <a:t>Situation 1 - Projet d’investissement</a:t>
            </a:r>
            <a:br>
              <a:rPr lang="fr-CA"/>
            </a:br>
            <a:r>
              <a:rPr lang="fr-CA"/>
              <a:t>Achat d’une nouvelle machine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123A40-DD27-46C6-B9C3-1CA3030D75D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3560763"/>
            <a:ext cx="10515600" cy="27896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/>
              <a:t>La nouvelle machine permettrait d’automatiser une activité de finition, qui est actuellement réalisée à la main. La nouvelle machine engendrerait des coûts fixes annuels de 125 000 $ et une économie de 50 $ l’unité sur le coût de la MOD.</a:t>
            </a:r>
          </a:p>
          <a:p>
            <a:pPr marL="0" indent="0">
              <a:buNone/>
            </a:pPr>
            <a:endParaRPr lang="fr-CA"/>
          </a:p>
          <a:p>
            <a:pPr marL="0" indent="0">
              <a:buNone/>
            </a:pPr>
            <a:r>
              <a:rPr lang="fr-CA" b="1"/>
              <a:t>Question </a:t>
            </a:r>
            <a:r>
              <a:rPr lang="fr-CA"/>
              <a:t>: </a:t>
            </a:r>
            <a:r>
              <a:rPr lang="fr-CA" i="1"/>
              <a:t>À partir de quel volume de ventes, l’acquisition de la nouvelle machine serait-elle plus rentable que ce qui est généré avec la structure de coûts actuelle?</a:t>
            </a:r>
          </a:p>
          <a:p>
            <a:pPr marL="0" indent="0">
              <a:buNone/>
            </a:pPr>
            <a:r>
              <a:rPr lang="fr-CA" i="1">
                <a:cs typeface="Calibri"/>
              </a:rPr>
              <a:t>Est-ce que l’entreprise devrait faire l’achat de la nouvelle machine si la demande prévue est de 3 000 unités?</a:t>
            </a:r>
          </a:p>
          <a:p>
            <a:pPr marL="0" indent="0">
              <a:buNone/>
            </a:pPr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04426D-DDC4-4FA2-BEA0-B79D3A7C5AA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35BE1401-79A5-42D3-AC58-4EAD12E735BA}"/>
              </a:ext>
            </a:extLst>
          </p:cNvPr>
          <p:cNvGraphicFramePr>
            <a:graphicFrameLocks/>
          </p:cNvGraphicFramePr>
          <p:nvPr>
            <p:custDataLst>
              <p:tags r:id="rId4"/>
            </p:custDataLst>
          </p:nvPr>
        </p:nvGraphicFramePr>
        <p:xfrm>
          <a:off x="838200" y="1468438"/>
          <a:ext cx="105156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589937679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937074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Prix de vente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800 $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71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Coûts variables unitaires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300 $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2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Coûts fixes totaux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300 000 $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62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Point mort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480 000 $     ou      600 unités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18103"/>
                  </a:ext>
                </a:extLst>
              </a:tr>
            </a:tbl>
          </a:graphicData>
        </a:graphic>
      </p:graphicFrame>
      <p:pic>
        <p:nvPicPr>
          <p:cNvPr id="8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F3E15124-ED6D-4A35-A3E0-0A9B95E5CAC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191750" y="-2381"/>
            <a:ext cx="2000250" cy="1123950"/>
          </a:xfrm>
          <a:prstGeom prst="rect">
            <a:avLst/>
          </a:prstGeom>
        </p:spPr>
      </p:pic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766F59D-B497-5CFB-E6F5-87110AE448C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874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DFE3E-0CC4-41C4-8C35-B418FC773C6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Situation 2 - Rabais sur le prix de vente</a:t>
            </a: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5CD4DF5A-ACD9-46B7-8D11-C54F4B491C10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9146722"/>
              </p:ext>
            </p:extLst>
          </p:nvPr>
        </p:nvGraphicFramePr>
        <p:xfrm>
          <a:off x="838200" y="1468438"/>
          <a:ext cx="105156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589937679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937074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Prix de vente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800 $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71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Coûts variables unitaires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300 $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2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Coûts fixes totaux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300 000 $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62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400"/>
                        <a:t>Point mort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480 000 $     ou      600 unités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18103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39C5F4-654F-4700-93D7-C8FF1906F4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43C477E-34A5-4913-BB39-6FC4CDC6D21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38200" y="3698542"/>
            <a:ext cx="10515600" cy="247841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/>
              <a:t>L’un des concurrents de l’entreprise offre un rabais de 10 % sur le prix de vente. L’entreprise se questionne à savoir si elle devrait offrir un rabais similaire à ses clients. </a:t>
            </a:r>
          </a:p>
          <a:p>
            <a:pPr marL="0" indent="0">
              <a:buNone/>
            </a:pPr>
            <a:r>
              <a:rPr lang="fr-CA" b="1"/>
              <a:t>Question:</a:t>
            </a:r>
            <a:r>
              <a:rPr lang="fr-CA"/>
              <a:t> Quel effet une remise de 10 % sur le prix de vente aura-t-elle sur le seuil de rentabilité (point mort)? </a:t>
            </a:r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6D8E7A44-AC65-4D7E-A504-F91061EBDEE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191750" y="-2381"/>
            <a:ext cx="2000250" cy="1123950"/>
          </a:xfrm>
          <a:prstGeom prst="rect">
            <a:avLst/>
          </a:prstGeom>
        </p:spPr>
      </p:pic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978B19F6-C486-2089-EDFC-6C8BA07CDD6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076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DFE3E-0CC4-41C4-8C35-B418FC773C6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Situation 3 - Augmentation du coût des MP</a:t>
            </a: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5CD4DF5A-ACD9-46B7-8D11-C54F4B491C10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145007"/>
              </p:ext>
            </p:extLst>
          </p:nvPr>
        </p:nvGraphicFramePr>
        <p:xfrm>
          <a:off x="838200" y="1468437"/>
          <a:ext cx="10515600" cy="2384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589937679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937074646"/>
                    </a:ext>
                  </a:extLst>
                </a:gridCol>
              </a:tblGrid>
              <a:tr h="476951">
                <a:tc>
                  <a:txBody>
                    <a:bodyPr/>
                    <a:lstStyle/>
                    <a:p>
                      <a:r>
                        <a:rPr lang="fr-CA" sz="2400"/>
                        <a:t>Prix de vente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800 $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710181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r>
                        <a:rPr lang="fr-CA" sz="2400"/>
                        <a:t>Coûts variables unitaires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300 $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21560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r>
                        <a:rPr lang="fr-CA" sz="2400"/>
                        <a:t>Coûts fixes totaux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300 000 $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623146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r>
                        <a:rPr lang="fr-CA" sz="2400"/>
                        <a:t>Point mort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480 000 $     ou      600 unités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18103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r>
                        <a:rPr lang="fr-CA" sz="2400"/>
                        <a:t>Niveau de vente actuel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/>
                        <a:t>1 300 unités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39888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39C5F4-654F-4700-93D7-C8FF1906F4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0FBA3-27E4-4E13-841E-B59ED0E8E620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43C477E-34A5-4913-BB39-6FC4CDC6D21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38200" y="4131550"/>
            <a:ext cx="10515600" cy="19404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fr-CA" sz="2400">
                <a:latin typeface="Calibri" panose="020F0502020204030204"/>
              </a:rPr>
              <a:t>Dû à la forte demande, le prix de la matière première utilisée dans la fabrication de notre produit a subi une </a:t>
            </a:r>
            <a:r>
              <a:rPr lang="fr-CA" sz="2400"/>
              <a:t>forte hausse. Les coûts variables unitaires seront désormais de 320 $. La direction souhaite conserver le même prix de vente</a:t>
            </a: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indent="0">
              <a:buNone/>
              <a:defRPr/>
            </a:pPr>
            <a:r>
              <a:rPr kumimoji="0" lang="fr-CA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Question:</a:t>
            </a:r>
            <a:r>
              <a:rPr kumimoji="0" lang="fr-CA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fr-CA" sz="2400">
                <a:latin typeface="Calibri" panose="020F0502020204030204"/>
              </a:rPr>
              <a:t>Combien d’unités additionnelles l’entreprise devra-t-elle vendre pour maintenir le même niveau de rentabilité ? </a:t>
            </a:r>
            <a:endParaRPr lang="fr-CA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74922640-AE2B-A7BD-E7F9-177CF30267A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925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>
            <a:normAutofit/>
          </a:bodyPr>
          <a:lstStyle/>
          <a:p>
            <a:r>
              <a:rPr lang="fr-FR" sz="4000"/>
              <a:t>Sommaire - Concepts clés de l’analyse CVR</a:t>
            </a:r>
            <a:endParaRPr lang="fr-FR" sz="4000"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41699-7B2E-48F4-8B6F-2C73D1F59F3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764C91C4-84A5-26A8-5510-FC52FB23029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888743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5EEED728-0E01-4A4D-B2BA-93E76B294B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53407" y="4361793"/>
            <a:ext cx="1818290" cy="1366345"/>
          </a:xfrm>
          <a:custGeom>
            <a:avLst/>
            <a:gdLst>
              <a:gd name="connsiteX0" fmla="*/ 1818290 w 1818290"/>
              <a:gd name="connsiteY0" fmla="*/ 0 h 1366345"/>
              <a:gd name="connsiteX1" fmla="*/ 10510 w 1818290"/>
              <a:gd name="connsiteY1" fmla="*/ 525517 h 1366345"/>
              <a:gd name="connsiteX2" fmla="*/ 0 w 1818290"/>
              <a:gd name="connsiteY2" fmla="*/ 1366345 h 1366345"/>
              <a:gd name="connsiteX3" fmla="*/ 1818290 w 1818290"/>
              <a:gd name="connsiteY3" fmla="*/ 0 h 1366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8290" h="1366345">
                <a:moveTo>
                  <a:pt x="1818290" y="0"/>
                </a:moveTo>
                <a:lnTo>
                  <a:pt x="10510" y="525517"/>
                </a:lnTo>
                <a:lnTo>
                  <a:pt x="0" y="1366345"/>
                </a:lnTo>
                <a:lnTo>
                  <a:pt x="181829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solidFill>
              <a:schemeClr val="accent2">
                <a:shade val="50000"/>
                <a:alpha val="76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AD4092FF-3E2F-467C-B45C-E56ACD51D3A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118538" y="2942897"/>
            <a:ext cx="1713186" cy="1271751"/>
          </a:xfrm>
          <a:custGeom>
            <a:avLst/>
            <a:gdLst>
              <a:gd name="connsiteX0" fmla="*/ 84083 w 1713186"/>
              <a:gd name="connsiteY0" fmla="*/ 1198179 h 1271751"/>
              <a:gd name="connsiteX1" fmla="*/ 1702676 w 1713186"/>
              <a:gd name="connsiteY1" fmla="*/ 0 h 1271751"/>
              <a:gd name="connsiteX2" fmla="*/ 1713186 w 1713186"/>
              <a:gd name="connsiteY2" fmla="*/ 767255 h 1271751"/>
              <a:gd name="connsiteX3" fmla="*/ 0 w 1713186"/>
              <a:gd name="connsiteY3" fmla="*/ 1271751 h 1271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86" h="1271751">
                <a:moveTo>
                  <a:pt x="84083" y="1198179"/>
                </a:moveTo>
                <a:lnTo>
                  <a:pt x="1702676" y="0"/>
                </a:lnTo>
                <a:lnTo>
                  <a:pt x="1713186" y="767255"/>
                </a:lnTo>
                <a:lnTo>
                  <a:pt x="0" y="1271751"/>
                </a:lnTo>
              </a:path>
            </a:pathLst>
          </a:cu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04193" y="258480"/>
            <a:ext cx="11347270" cy="898753"/>
          </a:xfrm>
        </p:spPr>
        <p:txBody>
          <a:bodyPr>
            <a:noAutofit/>
          </a:bodyPr>
          <a:lstStyle/>
          <a:p>
            <a:r>
              <a:rPr lang="fr-CA" sz="4000"/>
              <a:t>Graphique analyse CVR (synthèse)</a:t>
            </a:r>
          </a:p>
        </p:txBody>
      </p:sp>
      <p:grpSp>
        <p:nvGrpSpPr>
          <p:cNvPr id="67" name="Groupe 66"/>
          <p:cNvGrpSpPr/>
          <p:nvPr>
            <p:custDataLst>
              <p:tags r:id="rId4"/>
            </p:custDataLst>
          </p:nvPr>
        </p:nvGrpSpPr>
        <p:grpSpPr>
          <a:xfrm>
            <a:off x="2407923" y="1486196"/>
            <a:ext cx="8849178" cy="4750118"/>
            <a:chOff x="1203916" y="951063"/>
            <a:chExt cx="7126303" cy="4047503"/>
          </a:xfrm>
        </p:grpSpPr>
        <p:cxnSp>
          <p:nvCxnSpPr>
            <p:cNvPr id="6" name="Connecteur droit avec flèche 5"/>
            <p:cNvCxnSpPr>
              <a:cxnSpLocks/>
            </p:cNvCxnSpPr>
            <p:nvPr/>
          </p:nvCxnSpPr>
          <p:spPr>
            <a:xfrm flipV="1">
              <a:off x="1627344" y="1075820"/>
              <a:ext cx="26071" cy="355823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necteur droit avec flèche 8"/>
            <p:cNvCxnSpPr>
              <a:cxnSpLocks/>
            </p:cNvCxnSpPr>
            <p:nvPr/>
          </p:nvCxnSpPr>
          <p:spPr>
            <a:xfrm flipV="1">
              <a:off x="1635559" y="4585106"/>
              <a:ext cx="4980819" cy="4193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>
              <a:cxnSpLocks/>
            </p:cNvCxnSpPr>
            <p:nvPr/>
          </p:nvCxnSpPr>
          <p:spPr>
            <a:xfrm flipV="1">
              <a:off x="1644702" y="1075820"/>
              <a:ext cx="4520289" cy="353025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>
              <a:cxnSpLocks/>
            </p:cNvCxnSpPr>
            <p:nvPr/>
          </p:nvCxnSpPr>
          <p:spPr>
            <a:xfrm flipV="1">
              <a:off x="1653415" y="2362844"/>
              <a:ext cx="4827465" cy="1441888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>
              <a:cxnSpLocks/>
            </p:cNvCxnSpPr>
            <p:nvPr/>
          </p:nvCxnSpPr>
          <p:spPr>
            <a:xfrm flipV="1">
              <a:off x="1627344" y="3734639"/>
              <a:ext cx="4673217" cy="91395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Accolade fermante 24"/>
            <p:cNvSpPr/>
            <p:nvPr/>
          </p:nvSpPr>
          <p:spPr>
            <a:xfrm>
              <a:off x="6535917" y="2515140"/>
              <a:ext cx="291830" cy="1238258"/>
            </a:xfrm>
            <a:prstGeom prst="rightBrace">
              <a:avLst>
                <a:gd name="adj1" fmla="val 31666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6" name="Accolade fermante 25"/>
            <p:cNvSpPr/>
            <p:nvPr/>
          </p:nvSpPr>
          <p:spPr>
            <a:xfrm>
              <a:off x="6716948" y="3804731"/>
              <a:ext cx="291830" cy="712172"/>
            </a:xfrm>
            <a:prstGeom prst="rightBrace">
              <a:avLst>
                <a:gd name="adj1" fmla="val 31666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089200" y="4541366"/>
              <a:ext cx="2023354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b="1">
                  <a:solidFill>
                    <a:sysClr val="windowText" lastClr="000000"/>
                  </a:solidFill>
                </a:rPr>
                <a:t>Niveau d’activité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03916" y="951063"/>
              <a:ext cx="52529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b="1">
                  <a:solidFill>
                    <a:sysClr val="windowText" lastClr="000000"/>
                  </a:solidFill>
                </a:rPr>
                <a:t>$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716237" y="2854937"/>
              <a:ext cx="1613982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>
                  <a:solidFill>
                    <a:sysClr val="windowText" lastClr="000000"/>
                  </a:solidFill>
                </a:rPr>
                <a:t>Coûts variables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943336" y="3968627"/>
              <a:ext cx="125406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>
                  <a:solidFill>
                    <a:sysClr val="windowText" lastClr="000000"/>
                  </a:solidFill>
                </a:rPr>
                <a:t>Coûts fixes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BD106-744A-4D15-9DF6-7E5E054C3BF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985517" y="2771887"/>
            <a:ext cx="1879151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b="1">
                <a:solidFill>
                  <a:srgbClr val="7030A0"/>
                </a:solidFill>
              </a:rPr>
              <a:t>Coûts totaux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2A25B2-BFF4-4DC9-B17D-6ACEDD7C017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985517" y="1518366"/>
            <a:ext cx="2335883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b="1">
                <a:solidFill>
                  <a:srgbClr val="00B050"/>
                </a:solidFill>
              </a:rPr>
              <a:t>Ventes (en $)</a:t>
            </a:r>
          </a:p>
        </p:txBody>
      </p:sp>
      <p:sp>
        <p:nvSpPr>
          <p:cNvPr id="7" name="Organigramme : Connecteur 6">
            <a:extLst>
              <a:ext uri="{FF2B5EF4-FFF2-40B4-BE49-F238E27FC236}">
                <a16:creationId xmlns:a16="http://schemas.microsoft.com/office/drawing/2014/main" id="{5BA4D1A8-68AC-47D0-A5A8-1929C0589D9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2055" y="4145965"/>
            <a:ext cx="298939" cy="317571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80FA3C4-D210-4426-BE17-DC2EA3D0901C}"/>
              </a:ext>
            </a:extLst>
          </p:cNvPr>
          <p:cNvCxnSpPr>
            <a:cxnSpLocks/>
            <a:endCxn id="36" idx="0"/>
          </p:cNvCxnSpPr>
          <p:nvPr>
            <p:custDataLst>
              <p:tags r:id="rId8"/>
            </p:custDataLst>
          </p:nvPr>
        </p:nvCxnSpPr>
        <p:spPr>
          <a:xfrm>
            <a:off x="4920984" y="4324137"/>
            <a:ext cx="0" cy="1506514"/>
          </a:xfrm>
          <a:prstGeom prst="line">
            <a:avLst/>
          </a:prstGeom>
          <a:ln>
            <a:prstDash val="sysDot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8E3E160-F5BD-4413-B3D7-617E84835DA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621723" y="3584224"/>
            <a:ext cx="2004212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>
                <a:solidFill>
                  <a:sysClr val="windowText" lastClr="000000"/>
                </a:solidFill>
              </a:rPr>
              <a:t>Point mort (PM)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042BD0-B414-404C-AB5D-5C6633DB74A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18878" y="5830651"/>
            <a:ext cx="2004212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>
                <a:solidFill>
                  <a:sysClr val="windowText" lastClr="000000"/>
                </a:solidFill>
              </a:rPr>
              <a:t>Volume d’activité au PM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54BC38-3AEA-4AD6-8CDC-3552A5F79AF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677767" y="5830651"/>
            <a:ext cx="2004212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>
                <a:solidFill>
                  <a:sysClr val="windowText" lastClr="000000"/>
                </a:solidFill>
              </a:rPr>
              <a:t>Volume au </a:t>
            </a:r>
          </a:p>
          <a:p>
            <a:pPr algn="ctr"/>
            <a:r>
              <a:rPr lang="fr-CA">
                <a:solidFill>
                  <a:sysClr val="windowText" lastClr="000000"/>
                </a:solidFill>
              </a:rPr>
              <a:t>résultat cible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E14AF9-4771-4039-A5E0-D708E442CB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204434" y="3348514"/>
            <a:ext cx="2004212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>
                <a:solidFill>
                  <a:sysClr val="windowText" lastClr="000000"/>
                </a:solidFill>
              </a:rPr>
              <a:t>Zone de profit</a:t>
            </a: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8DC0E6FC-4B3D-48BC-9A6D-2D0E0BF335EE}"/>
              </a:ext>
            </a:extLst>
          </p:cNvPr>
          <p:cNvCxnSpPr>
            <a:cxnSpLocks/>
            <a:stCxn id="54" idx="1"/>
          </p:cNvCxnSpPr>
          <p:nvPr>
            <p:custDataLst>
              <p:tags r:id="rId13"/>
            </p:custDataLst>
          </p:nvPr>
        </p:nvCxnSpPr>
        <p:spPr>
          <a:xfrm>
            <a:off x="6821214" y="2942897"/>
            <a:ext cx="32103" cy="2832787"/>
          </a:xfrm>
          <a:prstGeom prst="line">
            <a:avLst/>
          </a:prstGeom>
          <a:ln w="190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07F1A66-79FD-4208-860E-D276E99A17B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712737" y="4797816"/>
            <a:ext cx="2004212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>
                <a:solidFill>
                  <a:sysClr val="windowText" lastClr="000000"/>
                </a:solidFill>
              </a:rPr>
              <a:t>Zone de perte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B26A16-FA3E-4894-83F6-A045C15E0C04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57887" y="5130300"/>
            <a:ext cx="2004212" cy="536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>
                <a:solidFill>
                  <a:sysClr val="windowText" lastClr="000000"/>
                </a:solidFill>
              </a:rPr>
              <a:t>Marge de sécurité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29328FB4-CE91-4DF6-AA4D-4163AB04349F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 flipH="1">
            <a:off x="4920984" y="5027586"/>
            <a:ext cx="1932334" cy="1737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F5123E-4937-801A-919C-80B14031853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98EFF999-76E5-F109-F628-C9E6835C382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132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6139" y="0"/>
            <a:ext cx="11178132" cy="78235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sz="4000"/>
              <a:t>Sommaire analyse CVR - 1 produit ou multiproduits  </a:t>
            </a:r>
            <a:endParaRPr lang="fr-CA" sz="4000">
              <a:cs typeface="Calibri Light"/>
            </a:endParaRP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6437311"/>
              </p:ext>
            </p:extLst>
          </p:nvPr>
        </p:nvGraphicFramePr>
        <p:xfrm>
          <a:off x="95970" y="796387"/>
          <a:ext cx="11998470" cy="565110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911047">
                  <a:extLst>
                    <a:ext uri="{9D8B030D-6E8A-4147-A177-3AD203B41FA5}">
                      <a16:colId xmlns:a16="http://schemas.microsoft.com/office/drawing/2014/main" val="2070774022"/>
                    </a:ext>
                  </a:extLst>
                </a:gridCol>
                <a:gridCol w="2237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2400"/>
                        <a:t>Situations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Utilisations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Exemples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400"/>
                        <a:t>Outils/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fr-CA" sz="2400"/>
                        <a:t>concepts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428">
                <a:tc rowSpan="6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800" b="0" i="0" u="none" strike="noStrike" baseline="0" noProof="0">
                          <a:latin typeface="Calibri"/>
                        </a:rPr>
                        <a:t>Produit unique </a:t>
                      </a:r>
                      <a:endParaRPr lang="en-US" sz="1800" b="0" i="0" u="none" strike="noStrike" baseline="0" noProof="0"/>
                    </a:p>
                    <a:p>
                      <a:pPr lvl="0">
                        <a:buNone/>
                      </a:pPr>
                      <a:r>
                        <a:rPr lang="fr-CA" sz="1800" b="0" i="0" u="none" strike="noStrike" baseline="0" noProof="0">
                          <a:solidFill>
                            <a:srgbClr val="FF0000"/>
                          </a:solidFill>
                          <a:latin typeface="Calibri"/>
                        </a:rPr>
                        <a:t>(MCV unitaire)</a:t>
                      </a:r>
                      <a:endParaRPr lang="fr-CA" sz="1800" b="0" i="0" u="none" strike="noStrike" baseline="0" noProof="0"/>
                    </a:p>
                    <a:p>
                      <a:pPr lvl="0">
                        <a:buNone/>
                      </a:pPr>
                      <a:endParaRPr lang="fr-CA" sz="1800" b="0" i="0" u="none" strike="noStrike" baseline="0" noProof="0"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 b="0" i="0" u="none" strike="noStrike" baseline="0" noProof="0">
                          <a:latin typeface="Calibri"/>
                        </a:rPr>
                        <a:t>Plusieurs produits</a:t>
                      </a:r>
                      <a:endParaRPr lang="en-US" sz="1800" b="0" i="0" u="none" strike="noStrike" baseline="0" noProof="0"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 b="0" i="0" u="none" strike="noStrike" baseline="0" noProof="0">
                          <a:solidFill>
                            <a:srgbClr val="FF0000"/>
                          </a:solidFill>
                          <a:latin typeface="Calibri"/>
                        </a:rPr>
                        <a:t>(MCV pondérée)</a:t>
                      </a:r>
                      <a:endParaRPr lang="en-US" sz="1800" b="0" i="0" u="none" strike="noStrike" baseline="0" noProof="0">
                        <a:latin typeface="Calibri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fr-CA" sz="1800" baseline="0">
                        <a:solidFill>
                          <a:srgbClr val="FF0000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fr-CA" sz="1800" b="0" i="0" u="none" strike="noStrike" baseline="0" noProof="0">
                        <a:latin typeface="Calibri"/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CA" sz="1600" baseline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800" baseline="0"/>
                        <a:t>Analyse du risque et de la rentabilité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800" baseline="0"/>
                        <a:t>Fixation du prix de vente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800"/>
                        <a:t>À partir de quel </a:t>
                      </a:r>
                      <a:r>
                        <a:rPr lang="fr-CA" sz="1800" b="1"/>
                        <a:t>volume</a:t>
                      </a:r>
                      <a:r>
                        <a:rPr lang="fr-CA" sz="1800" baseline="0"/>
                        <a:t> l’entreprise va-t-elle faire du profit? </a:t>
                      </a:r>
                      <a:endParaRPr lang="fr-CA" sz="1800" b="1" baseline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Seuil</a:t>
                      </a:r>
                      <a:r>
                        <a:rPr lang="fr-CA" sz="2000" baseline="0"/>
                        <a:t> de rentabilité </a:t>
                      </a:r>
                      <a:r>
                        <a:rPr lang="fr-CA" sz="1800" baseline="0"/>
                        <a:t> </a:t>
                      </a:r>
                    </a:p>
                    <a:p>
                      <a:pPr algn="ctr"/>
                      <a:r>
                        <a:rPr lang="fr-CA" sz="1800" baseline="0"/>
                        <a:t>ou Point Mort (PM) </a:t>
                      </a:r>
                    </a:p>
                    <a:p>
                      <a:pPr algn="ctr"/>
                      <a:r>
                        <a:rPr lang="fr-CA" sz="1800" b="1" baseline="0"/>
                        <a:t>En unités, $, %, H-M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75745"/>
                  </a:ext>
                </a:extLst>
              </a:tr>
              <a:tr h="61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fr-CA" sz="140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/>
                        <a:t>Combien faut</a:t>
                      </a:r>
                      <a:r>
                        <a:rPr lang="fr-CA" sz="1800" baseline="0"/>
                        <a:t>-il vendre de produits P pour que l’entreprise réalise un </a:t>
                      </a:r>
                      <a:r>
                        <a:rPr lang="fr-CA" sz="1800" baseline="0">
                          <a:solidFill>
                            <a:schemeClr val="tx1"/>
                          </a:solidFill>
                        </a:rPr>
                        <a:t>bénéfice (après impôt) </a:t>
                      </a:r>
                      <a:r>
                        <a:rPr lang="fr-CA" sz="1800" baseline="0"/>
                        <a:t>de X ?</a:t>
                      </a:r>
                      <a:endParaRPr lang="fr-CA" sz="18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A" sz="2000"/>
                        <a:t>Résultat cible</a:t>
                      </a:r>
                    </a:p>
                    <a:p>
                      <a:pPr algn="ctr"/>
                      <a:r>
                        <a:rPr lang="fr-CA" sz="2000" b="1"/>
                        <a:t>(volume ou résultat $)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A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/>
                        <a:t>Quel sera le résultat d’exploitation si l’entreprise prévoit vendre</a:t>
                      </a:r>
                      <a:r>
                        <a:rPr lang="fr-CA" sz="1800" baseline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CA" sz="1800" baseline="0"/>
                        <a:t>XXX unités du produit P ?</a:t>
                      </a:r>
                      <a:endParaRPr lang="fr-CA" sz="1800"/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CA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800"/>
                        <a:t>On</a:t>
                      </a:r>
                      <a:r>
                        <a:rPr lang="fr-CA" sz="1800" baseline="0"/>
                        <a:t> prévoit XXX ventes. De combien d’unités peut-on diminuer notre cible avant de subir une perte ? </a:t>
                      </a:r>
                      <a:endParaRPr lang="fr-CA" sz="1800"/>
                    </a:p>
                  </a:txBody>
                  <a:tcPr anchor="ctr"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Marge de sécurité</a:t>
                      </a:r>
                    </a:p>
                    <a:p>
                      <a:pPr algn="ctr"/>
                      <a:r>
                        <a:rPr lang="fr-CA" sz="1800" b="1" baseline="0"/>
                        <a:t>En unités, $</a:t>
                      </a:r>
                      <a:endParaRPr lang="fr-CA" sz="1800" b="1"/>
                    </a:p>
                  </a:txBody>
                  <a:tcPr anchor="ctr"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>
                      <a:solidFill>
                        <a:srgbClr val="002060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800" baseline="0"/>
                        <a:t>Comparaison de structures de coûts</a:t>
                      </a:r>
                      <a:endParaRPr lang="fr-CA" sz="1800"/>
                    </a:p>
                  </a:txBody>
                  <a:tcPr anchor="ctr"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800"/>
                        <a:t>Choisir parmi différentes options, quelle structure de coûts choisir selon le volume de ventes prévues?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A" sz="2000"/>
                        <a:t>Seuil d’indifférence</a:t>
                      </a:r>
                      <a:endParaRPr lang="fr-CA" sz="2000" b="1"/>
                    </a:p>
                  </a:txBody>
                  <a:tcPr anchor="ctr"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3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/>
                        <a:t>Décision d’investissement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aseline="0"/>
                        <a:t>Compte tenu de nos prévisions de volumes, a-t-on intérêt à investir dans ce nouvel équipement ? </a:t>
                      </a:r>
                      <a:r>
                        <a:rPr lang="fr-CA" sz="1600" baseline="0">
                          <a:solidFill>
                            <a:srgbClr val="FF0000"/>
                          </a:solidFill>
                        </a:rPr>
                        <a:t>MCV + CF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600" b="0" i="0" u="none" strike="noStrike" baseline="0" noProof="0">
                          <a:latin typeface="Calibri"/>
                        </a:rPr>
                        <a:t>Est-ce que je devrais automatiser une partie de mon activité ?</a:t>
                      </a:r>
                      <a:endParaRPr lang="fr-CA" sz="16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CA" sz="2000" b="1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2253429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2F9960-7233-459D-B369-AC73EBEF914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564150" y="6461524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CA53818F-8FCB-95CD-AB7A-0E16CBA0D4E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133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Conclusion – Séance 2</a:t>
            </a:r>
          </a:p>
        </p:txBody>
      </p:sp>
      <p:sp>
        <p:nvSpPr>
          <p:cNvPr id="6" name="Rectangle à coins arrondis 5"/>
          <p:cNvSpPr/>
          <p:nvPr>
            <p:custDataLst>
              <p:tags r:id="rId3"/>
            </p:custDataLst>
          </p:nvPr>
        </p:nvSpPr>
        <p:spPr>
          <a:xfrm>
            <a:off x="2063552" y="3439041"/>
            <a:ext cx="2520280" cy="10156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800" b="1">
                <a:solidFill>
                  <a:schemeClr val="tx1"/>
                </a:solidFill>
              </a:rPr>
              <a:t>Analyse CVR</a:t>
            </a:r>
          </a:p>
        </p:txBody>
      </p:sp>
      <p:cxnSp>
        <p:nvCxnSpPr>
          <p:cNvPr id="8" name="Connecteur droit avec flèche 7"/>
          <p:cNvCxnSpPr>
            <a:stCxn id="6" idx="3"/>
            <a:endCxn id="13" idx="1"/>
          </p:cNvCxnSpPr>
          <p:nvPr>
            <p:custDataLst>
              <p:tags r:id="rId4"/>
            </p:custDataLst>
          </p:nvPr>
        </p:nvCxnSpPr>
        <p:spPr>
          <a:xfrm>
            <a:off x="4583832" y="3946873"/>
            <a:ext cx="19367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6" idx="3"/>
            <a:endCxn id="15" idx="1"/>
          </p:cNvCxnSpPr>
          <p:nvPr>
            <p:custDataLst>
              <p:tags r:id="rId5"/>
            </p:custDataLst>
          </p:nvPr>
        </p:nvCxnSpPr>
        <p:spPr>
          <a:xfrm flipV="1">
            <a:off x="4583832" y="2745117"/>
            <a:ext cx="1936731" cy="1201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>
            <p:custDataLst>
              <p:tags r:id="rId6"/>
            </p:custDataLst>
          </p:nvPr>
        </p:nvSpPr>
        <p:spPr>
          <a:xfrm>
            <a:off x="5130269" y="2538388"/>
            <a:ext cx="776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/>
              <a:t>Idée  </a:t>
            </a:r>
          </a:p>
        </p:txBody>
      </p:sp>
      <p:sp>
        <p:nvSpPr>
          <p:cNvPr id="12" name="ZoneTexte 11"/>
          <p:cNvSpPr txBox="1"/>
          <p:nvPr>
            <p:custDataLst>
              <p:tags r:id="rId7"/>
            </p:custDataLst>
          </p:nvPr>
        </p:nvSpPr>
        <p:spPr>
          <a:xfrm>
            <a:off x="4957931" y="3559591"/>
            <a:ext cx="1606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000"/>
              <a:t>Informations pertinentes</a:t>
            </a:r>
          </a:p>
        </p:txBody>
      </p:sp>
      <p:sp>
        <p:nvSpPr>
          <p:cNvPr id="13" name="ZoneTexte 12"/>
          <p:cNvSpPr txBox="1"/>
          <p:nvPr>
            <p:custDataLst>
              <p:tags r:id="rId8"/>
            </p:custDataLst>
          </p:nvPr>
        </p:nvSpPr>
        <p:spPr>
          <a:xfrm>
            <a:off x="6520564" y="3439041"/>
            <a:ext cx="430945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2000"/>
              <a:t>Équation du résultat</a:t>
            </a:r>
            <a:endParaRPr lang="fr-CA" sz="2000">
              <a:latin typeface="Gill Sans 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2000"/>
              <a:t>Différents concepts clés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sz="2000"/>
              <a:t>point mort, marge de sécurité…</a:t>
            </a:r>
          </a:p>
        </p:txBody>
      </p:sp>
      <p:sp>
        <p:nvSpPr>
          <p:cNvPr id="15" name="ZoneTexte 14"/>
          <p:cNvSpPr txBox="1"/>
          <p:nvPr>
            <p:custDataLst>
              <p:tags r:id="rId9"/>
            </p:custDataLst>
          </p:nvPr>
        </p:nvSpPr>
        <p:spPr>
          <a:xfrm>
            <a:off x="6520563" y="2237285"/>
            <a:ext cx="430053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/>
              <a:t>Mesurer l’impact d’une variation du volume d’activité sur la rentabilité et le risque de perte</a:t>
            </a:r>
          </a:p>
        </p:txBody>
      </p:sp>
      <p:sp>
        <p:nvSpPr>
          <p:cNvPr id="16" name="ZoneTexte 15"/>
          <p:cNvSpPr txBox="1"/>
          <p:nvPr>
            <p:custDataLst>
              <p:tags r:id="rId10"/>
            </p:custDataLst>
          </p:nvPr>
        </p:nvSpPr>
        <p:spPr>
          <a:xfrm>
            <a:off x="4871608" y="4802379"/>
            <a:ext cx="1361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000"/>
              <a:t>Préalable</a:t>
            </a:r>
          </a:p>
        </p:txBody>
      </p:sp>
      <p:cxnSp>
        <p:nvCxnSpPr>
          <p:cNvPr id="17" name="Connecteur droit avec flèche 16"/>
          <p:cNvCxnSpPr>
            <a:stCxn id="6" idx="3"/>
            <a:endCxn id="19" idx="1"/>
          </p:cNvCxnSpPr>
          <p:nvPr>
            <p:custDataLst>
              <p:tags r:id="rId11"/>
            </p:custDataLst>
          </p:nvPr>
        </p:nvCxnSpPr>
        <p:spPr>
          <a:xfrm>
            <a:off x="4583832" y="3946873"/>
            <a:ext cx="1936732" cy="10478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>
            <p:custDataLst>
              <p:tags r:id="rId12"/>
            </p:custDataLst>
          </p:nvPr>
        </p:nvSpPr>
        <p:spPr>
          <a:xfrm>
            <a:off x="6520564" y="4640797"/>
            <a:ext cx="4302946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>
                <a:latin typeface="Gill Sans MT"/>
              </a:rPr>
              <a:t>∙ </a:t>
            </a:r>
            <a:r>
              <a:rPr lang="fr-CA" sz="2000"/>
              <a:t>Est basée sur la classification des coûts fixes et des coûts variables</a:t>
            </a: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98D45B7B-8935-61C0-F9C9-FFCF87B037C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83F35B9-74D5-7E92-A236-3F2857717A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7741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A3AE72-BED2-3AE5-07BC-EF476306249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>
                <a:solidFill>
                  <a:schemeClr val="tx2"/>
                </a:solidFill>
                <a:cs typeface="Poppins" pitchFamily="2" charset="77"/>
              </a:rPr>
              <a:t>QUESTIONS…</a:t>
            </a:r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763D5A-079D-3823-9C30-05D24855557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65046B40-4C17-4CB6-AFE9-AB12062D9A6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9280493" y="2303889"/>
            <a:ext cx="2068927" cy="2939891"/>
            <a:chOff x="8704441" y="2571694"/>
            <a:chExt cx="7028256" cy="10385705"/>
          </a:xfrm>
        </p:grpSpPr>
        <p:sp>
          <p:nvSpPr>
            <p:cNvPr id="7" name="Shape 34173">
              <a:extLst>
                <a:ext uri="{FF2B5EF4-FFF2-40B4-BE49-F238E27FC236}">
                  <a16:creationId xmlns:a16="http://schemas.microsoft.com/office/drawing/2014/main" id="{976C004C-1D4C-6265-7CAA-36D0B3554743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" name="Shape 34174">
              <a:extLst>
                <a:ext uri="{FF2B5EF4-FFF2-40B4-BE49-F238E27FC236}">
                  <a16:creationId xmlns:a16="http://schemas.microsoft.com/office/drawing/2014/main" id="{C4BF05D4-B682-FD65-42DA-A04AFFE28DC3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" name="Shape 34175">
              <a:extLst>
                <a:ext uri="{FF2B5EF4-FFF2-40B4-BE49-F238E27FC236}">
                  <a16:creationId xmlns:a16="http://schemas.microsoft.com/office/drawing/2014/main" id="{C9712020-E217-2295-A8BA-E42FE748FCC5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0" name="Shape 34176">
              <a:extLst>
                <a:ext uri="{FF2B5EF4-FFF2-40B4-BE49-F238E27FC236}">
                  <a16:creationId xmlns:a16="http://schemas.microsoft.com/office/drawing/2014/main" id="{AAF18868-B068-9C4F-8960-CB0D5A467E25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1" name="Shape 34177">
              <a:extLst>
                <a:ext uri="{FF2B5EF4-FFF2-40B4-BE49-F238E27FC236}">
                  <a16:creationId xmlns:a16="http://schemas.microsoft.com/office/drawing/2014/main" id="{E801DEDF-A984-AAEF-46E7-EC60B0FDD754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2" name="Shape 34178">
              <a:extLst>
                <a:ext uri="{FF2B5EF4-FFF2-40B4-BE49-F238E27FC236}">
                  <a16:creationId xmlns:a16="http://schemas.microsoft.com/office/drawing/2014/main" id="{BD91ED27-C937-F3A7-A98F-9F30D5337FE1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3" name="Shape 34179">
              <a:extLst>
                <a:ext uri="{FF2B5EF4-FFF2-40B4-BE49-F238E27FC236}">
                  <a16:creationId xmlns:a16="http://schemas.microsoft.com/office/drawing/2014/main" id="{CE42E4FB-FD68-9A56-DB60-45D4D1F6DEE8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4" name="Shape 34180">
              <a:extLst>
                <a:ext uri="{FF2B5EF4-FFF2-40B4-BE49-F238E27FC236}">
                  <a16:creationId xmlns:a16="http://schemas.microsoft.com/office/drawing/2014/main" id="{0FD9EA42-B916-E428-7847-39A0ED7419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5" name="Shape 34181">
              <a:extLst>
                <a:ext uri="{FF2B5EF4-FFF2-40B4-BE49-F238E27FC236}">
                  <a16:creationId xmlns:a16="http://schemas.microsoft.com/office/drawing/2014/main" id="{E8D68D33-D5CF-E622-C836-662EFC5E2A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6" name="Shape 34182">
              <a:extLst>
                <a:ext uri="{FF2B5EF4-FFF2-40B4-BE49-F238E27FC236}">
                  <a16:creationId xmlns:a16="http://schemas.microsoft.com/office/drawing/2014/main" id="{8CFECFFB-6EA8-A430-AED5-7E65407DD4A5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7" name="Shape 34183">
              <a:extLst>
                <a:ext uri="{FF2B5EF4-FFF2-40B4-BE49-F238E27FC236}">
                  <a16:creationId xmlns:a16="http://schemas.microsoft.com/office/drawing/2014/main" id="{617F6296-7E21-A175-05EE-8707F53A6F39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8" name="Shape 34184">
              <a:extLst>
                <a:ext uri="{FF2B5EF4-FFF2-40B4-BE49-F238E27FC236}">
                  <a16:creationId xmlns:a16="http://schemas.microsoft.com/office/drawing/2014/main" id="{4F91F915-B70C-3DFB-2DED-CD2D0C36EDD4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9" name="Shape 34185">
              <a:extLst>
                <a:ext uri="{FF2B5EF4-FFF2-40B4-BE49-F238E27FC236}">
                  <a16:creationId xmlns:a16="http://schemas.microsoft.com/office/drawing/2014/main" id="{F029D3C9-BD86-97DA-B294-D36F5FDE4428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0" name="Shape 34186">
              <a:extLst>
                <a:ext uri="{FF2B5EF4-FFF2-40B4-BE49-F238E27FC236}">
                  <a16:creationId xmlns:a16="http://schemas.microsoft.com/office/drawing/2014/main" id="{F5B7275A-6FAF-B24A-A685-47C4A6EE1FA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1" name="Shape 34187">
              <a:extLst>
                <a:ext uri="{FF2B5EF4-FFF2-40B4-BE49-F238E27FC236}">
                  <a16:creationId xmlns:a16="http://schemas.microsoft.com/office/drawing/2014/main" id="{EAAF3EFF-FA3D-D6EE-8564-5186B15CA88F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2" name="Shape 34188">
              <a:extLst>
                <a:ext uri="{FF2B5EF4-FFF2-40B4-BE49-F238E27FC236}">
                  <a16:creationId xmlns:a16="http://schemas.microsoft.com/office/drawing/2014/main" id="{749F9356-4688-F55D-7BA7-4D414600925A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3" name="Shape 34189">
              <a:extLst>
                <a:ext uri="{FF2B5EF4-FFF2-40B4-BE49-F238E27FC236}">
                  <a16:creationId xmlns:a16="http://schemas.microsoft.com/office/drawing/2014/main" id="{ACF42464-8277-7FE7-BFF9-60BD9A71C304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4" name="Shape 34190">
              <a:extLst>
                <a:ext uri="{FF2B5EF4-FFF2-40B4-BE49-F238E27FC236}">
                  <a16:creationId xmlns:a16="http://schemas.microsoft.com/office/drawing/2014/main" id="{1CB0601C-E813-F143-49E8-AF8089764FF4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5" name="Shape 34191">
              <a:extLst>
                <a:ext uri="{FF2B5EF4-FFF2-40B4-BE49-F238E27FC236}">
                  <a16:creationId xmlns:a16="http://schemas.microsoft.com/office/drawing/2014/main" id="{AC9455CF-AF30-DE16-2774-5F4D082B38B0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6" name="Shape 34192">
              <a:extLst>
                <a:ext uri="{FF2B5EF4-FFF2-40B4-BE49-F238E27FC236}">
                  <a16:creationId xmlns:a16="http://schemas.microsoft.com/office/drawing/2014/main" id="{7C569921-7480-9A44-8C2E-A5B0ED448F0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7" name="Shape 34193">
              <a:extLst>
                <a:ext uri="{FF2B5EF4-FFF2-40B4-BE49-F238E27FC236}">
                  <a16:creationId xmlns:a16="http://schemas.microsoft.com/office/drawing/2014/main" id="{A5E3F977-180A-3643-419D-57AED242F69C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8" name="Shape 34194">
              <a:extLst>
                <a:ext uri="{FF2B5EF4-FFF2-40B4-BE49-F238E27FC236}">
                  <a16:creationId xmlns:a16="http://schemas.microsoft.com/office/drawing/2014/main" id="{8654F068-3931-E6FE-A770-5E45CA727A66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9" name="Shape 34195">
              <a:extLst>
                <a:ext uri="{FF2B5EF4-FFF2-40B4-BE49-F238E27FC236}">
                  <a16:creationId xmlns:a16="http://schemas.microsoft.com/office/drawing/2014/main" id="{F32529DE-7723-A9F9-7F05-07E940417709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0" name="Shape 34196">
              <a:extLst>
                <a:ext uri="{FF2B5EF4-FFF2-40B4-BE49-F238E27FC236}">
                  <a16:creationId xmlns:a16="http://schemas.microsoft.com/office/drawing/2014/main" id="{99B49F4A-C995-B73F-E19A-B307302678CD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1" name="Shape 34197">
              <a:extLst>
                <a:ext uri="{FF2B5EF4-FFF2-40B4-BE49-F238E27FC236}">
                  <a16:creationId xmlns:a16="http://schemas.microsoft.com/office/drawing/2014/main" id="{E619B2D8-F6BD-8A7E-5EDA-D68C2CA0C3AC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2" name="Shape 34198">
              <a:extLst>
                <a:ext uri="{FF2B5EF4-FFF2-40B4-BE49-F238E27FC236}">
                  <a16:creationId xmlns:a16="http://schemas.microsoft.com/office/drawing/2014/main" id="{288C06A0-5E60-7FBA-5163-8D0A4E6E9A8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3" name="Shape 34199">
              <a:extLst>
                <a:ext uri="{FF2B5EF4-FFF2-40B4-BE49-F238E27FC236}">
                  <a16:creationId xmlns:a16="http://schemas.microsoft.com/office/drawing/2014/main" id="{49A32E76-801E-A843-8779-81977240544F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4" name="Shape 34200">
              <a:extLst>
                <a:ext uri="{FF2B5EF4-FFF2-40B4-BE49-F238E27FC236}">
                  <a16:creationId xmlns:a16="http://schemas.microsoft.com/office/drawing/2014/main" id="{3E5F91B2-B048-5BFE-5A85-82F92FA7CB84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5" name="Shape 34201">
              <a:extLst>
                <a:ext uri="{FF2B5EF4-FFF2-40B4-BE49-F238E27FC236}">
                  <a16:creationId xmlns:a16="http://schemas.microsoft.com/office/drawing/2014/main" id="{84AE006D-A898-C300-EAA5-3A5274B9B64F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6" name="Shape 34202">
              <a:extLst>
                <a:ext uri="{FF2B5EF4-FFF2-40B4-BE49-F238E27FC236}">
                  <a16:creationId xmlns:a16="http://schemas.microsoft.com/office/drawing/2014/main" id="{3627F16C-6922-1C8F-7FFA-A69F5B9480C3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7" name="Shape 34203">
              <a:extLst>
                <a:ext uri="{FF2B5EF4-FFF2-40B4-BE49-F238E27FC236}">
                  <a16:creationId xmlns:a16="http://schemas.microsoft.com/office/drawing/2014/main" id="{C0A6D04B-B571-CC97-4DA2-9B277FA71F2B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8" name="Shape 34204">
              <a:extLst>
                <a:ext uri="{FF2B5EF4-FFF2-40B4-BE49-F238E27FC236}">
                  <a16:creationId xmlns:a16="http://schemas.microsoft.com/office/drawing/2014/main" id="{B63486CF-8FD4-F19D-BEE7-B03A257609F9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9" name="Shape 34205">
              <a:extLst>
                <a:ext uri="{FF2B5EF4-FFF2-40B4-BE49-F238E27FC236}">
                  <a16:creationId xmlns:a16="http://schemas.microsoft.com/office/drawing/2014/main" id="{9B6154D4-4161-7162-8EA2-5A7C854A42F3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0" name="Shape 34206">
              <a:extLst>
                <a:ext uri="{FF2B5EF4-FFF2-40B4-BE49-F238E27FC236}">
                  <a16:creationId xmlns:a16="http://schemas.microsoft.com/office/drawing/2014/main" id="{4817CE05-AE16-2CD7-A719-FF48D57D7109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1" name="Shape 34207">
              <a:extLst>
                <a:ext uri="{FF2B5EF4-FFF2-40B4-BE49-F238E27FC236}">
                  <a16:creationId xmlns:a16="http://schemas.microsoft.com/office/drawing/2014/main" id="{9C0589CC-1AA8-EC0E-98E1-6EEF8B13A41E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2" name="Shape 34208">
              <a:extLst>
                <a:ext uri="{FF2B5EF4-FFF2-40B4-BE49-F238E27FC236}">
                  <a16:creationId xmlns:a16="http://schemas.microsoft.com/office/drawing/2014/main" id="{2B002F80-8F42-1F8C-9D53-E0E308DF3F05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3" name="Shape 34209">
              <a:extLst>
                <a:ext uri="{FF2B5EF4-FFF2-40B4-BE49-F238E27FC236}">
                  <a16:creationId xmlns:a16="http://schemas.microsoft.com/office/drawing/2014/main" id="{E04824C3-FDEF-BB7D-0D7D-4B2DEBD11EDA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4" name="Shape 34210">
              <a:extLst>
                <a:ext uri="{FF2B5EF4-FFF2-40B4-BE49-F238E27FC236}">
                  <a16:creationId xmlns:a16="http://schemas.microsoft.com/office/drawing/2014/main" id="{60A3E3D8-357B-9865-5ED6-C9C8DD99A5EB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5" name="Shape 34211">
              <a:extLst>
                <a:ext uri="{FF2B5EF4-FFF2-40B4-BE49-F238E27FC236}">
                  <a16:creationId xmlns:a16="http://schemas.microsoft.com/office/drawing/2014/main" id="{76DFA2CB-312D-1730-47C1-A020896FA28B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6" name="Shape 34212">
              <a:extLst>
                <a:ext uri="{FF2B5EF4-FFF2-40B4-BE49-F238E27FC236}">
                  <a16:creationId xmlns:a16="http://schemas.microsoft.com/office/drawing/2014/main" id="{36B98C3B-D0DC-9180-4848-8BA8BF1F5BD6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7" name="Shape 34213">
              <a:extLst>
                <a:ext uri="{FF2B5EF4-FFF2-40B4-BE49-F238E27FC236}">
                  <a16:creationId xmlns:a16="http://schemas.microsoft.com/office/drawing/2014/main" id="{B2A1DF19-68C4-B39F-A4E7-2413452CD571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8" name="Shape 34214">
              <a:extLst>
                <a:ext uri="{FF2B5EF4-FFF2-40B4-BE49-F238E27FC236}">
                  <a16:creationId xmlns:a16="http://schemas.microsoft.com/office/drawing/2014/main" id="{C07477F5-13C2-0059-175D-4F8386F20BBA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9" name="Shape 34215">
              <a:extLst>
                <a:ext uri="{FF2B5EF4-FFF2-40B4-BE49-F238E27FC236}">
                  <a16:creationId xmlns:a16="http://schemas.microsoft.com/office/drawing/2014/main" id="{BF6C8EC1-4101-C1F3-59E6-2E204FC0CA3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0" name="Shape 34216">
              <a:extLst>
                <a:ext uri="{FF2B5EF4-FFF2-40B4-BE49-F238E27FC236}">
                  <a16:creationId xmlns:a16="http://schemas.microsoft.com/office/drawing/2014/main" id="{22BE5295-7E6B-EBE3-6379-0FE69A700146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1" name="Shape 34217">
              <a:extLst>
                <a:ext uri="{FF2B5EF4-FFF2-40B4-BE49-F238E27FC236}">
                  <a16:creationId xmlns:a16="http://schemas.microsoft.com/office/drawing/2014/main" id="{7669BB95-B65F-80FF-F5E3-D558A71D1868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2" name="Shape 34218">
              <a:extLst>
                <a:ext uri="{FF2B5EF4-FFF2-40B4-BE49-F238E27FC236}">
                  <a16:creationId xmlns:a16="http://schemas.microsoft.com/office/drawing/2014/main" id="{ECD0EFAE-D165-C2EA-4152-E736B90B1620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3" name="Shape 34219">
              <a:extLst>
                <a:ext uri="{FF2B5EF4-FFF2-40B4-BE49-F238E27FC236}">
                  <a16:creationId xmlns:a16="http://schemas.microsoft.com/office/drawing/2014/main" id="{0C66A6C3-63D2-F0BA-F015-61AAA11211DC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4" name="Shape 34220">
              <a:extLst>
                <a:ext uri="{FF2B5EF4-FFF2-40B4-BE49-F238E27FC236}">
                  <a16:creationId xmlns:a16="http://schemas.microsoft.com/office/drawing/2014/main" id="{23AEB80C-7CCE-CCB6-29CA-778624C78CFC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5" name="Shape 34221">
              <a:extLst>
                <a:ext uri="{FF2B5EF4-FFF2-40B4-BE49-F238E27FC236}">
                  <a16:creationId xmlns:a16="http://schemas.microsoft.com/office/drawing/2014/main" id="{81701DFC-595E-9A3F-2738-AAA1A24AA083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6" name="Shape 34222">
              <a:extLst>
                <a:ext uri="{FF2B5EF4-FFF2-40B4-BE49-F238E27FC236}">
                  <a16:creationId xmlns:a16="http://schemas.microsoft.com/office/drawing/2014/main" id="{513F8701-84F3-14BA-ACF0-EF60A80D05EA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7" name="Shape 34223">
              <a:extLst>
                <a:ext uri="{FF2B5EF4-FFF2-40B4-BE49-F238E27FC236}">
                  <a16:creationId xmlns:a16="http://schemas.microsoft.com/office/drawing/2014/main" id="{669F5F77-ADD6-B162-0166-D72EC8E7733A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8" name="Shape 34224">
              <a:extLst>
                <a:ext uri="{FF2B5EF4-FFF2-40B4-BE49-F238E27FC236}">
                  <a16:creationId xmlns:a16="http://schemas.microsoft.com/office/drawing/2014/main" id="{2A34FEB1-6A68-6F25-3685-1694CE12D101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9" name="Shape 34225">
              <a:extLst>
                <a:ext uri="{FF2B5EF4-FFF2-40B4-BE49-F238E27FC236}">
                  <a16:creationId xmlns:a16="http://schemas.microsoft.com/office/drawing/2014/main" id="{3490BBCE-C5D5-7B6E-7A00-797D8846355F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0" name="Shape 34226">
              <a:extLst>
                <a:ext uri="{FF2B5EF4-FFF2-40B4-BE49-F238E27FC236}">
                  <a16:creationId xmlns:a16="http://schemas.microsoft.com/office/drawing/2014/main" id="{040F01A4-33AF-01A6-4535-A8F83A4719EC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1" name="Shape 34227">
              <a:extLst>
                <a:ext uri="{FF2B5EF4-FFF2-40B4-BE49-F238E27FC236}">
                  <a16:creationId xmlns:a16="http://schemas.microsoft.com/office/drawing/2014/main" id="{593658B6-C5DC-4C6D-EC98-B91FDF4F85E8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2" name="Shape 34228">
              <a:extLst>
                <a:ext uri="{FF2B5EF4-FFF2-40B4-BE49-F238E27FC236}">
                  <a16:creationId xmlns:a16="http://schemas.microsoft.com/office/drawing/2014/main" id="{F6804CB1-81F7-5B73-8ADE-F08C0DD65D63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3" name="Shape 34229">
              <a:extLst>
                <a:ext uri="{FF2B5EF4-FFF2-40B4-BE49-F238E27FC236}">
                  <a16:creationId xmlns:a16="http://schemas.microsoft.com/office/drawing/2014/main" id="{31B00120-41F5-991C-5B45-38DCF9E6593E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4" name="Shape 34230">
              <a:extLst>
                <a:ext uri="{FF2B5EF4-FFF2-40B4-BE49-F238E27FC236}">
                  <a16:creationId xmlns:a16="http://schemas.microsoft.com/office/drawing/2014/main" id="{F21EEEC0-ED3C-D255-F30B-AFF4394368E9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5" name="Shape 34231">
              <a:extLst>
                <a:ext uri="{FF2B5EF4-FFF2-40B4-BE49-F238E27FC236}">
                  <a16:creationId xmlns:a16="http://schemas.microsoft.com/office/drawing/2014/main" id="{35403DDE-DDDF-A4A3-8574-550FC2348FA0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6" name="Shape 34232">
              <a:extLst>
                <a:ext uri="{FF2B5EF4-FFF2-40B4-BE49-F238E27FC236}">
                  <a16:creationId xmlns:a16="http://schemas.microsoft.com/office/drawing/2014/main" id="{8F61DD08-9B59-C4E5-5769-A748751A1BA9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7" name="Shape 34233">
              <a:extLst>
                <a:ext uri="{FF2B5EF4-FFF2-40B4-BE49-F238E27FC236}">
                  <a16:creationId xmlns:a16="http://schemas.microsoft.com/office/drawing/2014/main" id="{F426EA7D-907F-BA9B-E5E7-313BEA0B053D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8" name="Shape 34234">
              <a:extLst>
                <a:ext uri="{FF2B5EF4-FFF2-40B4-BE49-F238E27FC236}">
                  <a16:creationId xmlns:a16="http://schemas.microsoft.com/office/drawing/2014/main" id="{5C22217F-FD1E-F18B-FF4B-82567CE5DCA1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9" name="Shape 34235">
              <a:extLst>
                <a:ext uri="{FF2B5EF4-FFF2-40B4-BE49-F238E27FC236}">
                  <a16:creationId xmlns:a16="http://schemas.microsoft.com/office/drawing/2014/main" id="{BCDA1780-5369-5563-0622-D61A54BEC2DF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0" name="Shape 34236">
              <a:extLst>
                <a:ext uri="{FF2B5EF4-FFF2-40B4-BE49-F238E27FC236}">
                  <a16:creationId xmlns:a16="http://schemas.microsoft.com/office/drawing/2014/main" id="{E9CF551E-55FB-2B85-2131-C5F843088F7F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1" name="Shape 34237">
              <a:extLst>
                <a:ext uri="{FF2B5EF4-FFF2-40B4-BE49-F238E27FC236}">
                  <a16:creationId xmlns:a16="http://schemas.microsoft.com/office/drawing/2014/main" id="{FFACF437-3B44-946E-27E7-90C32C4D78CF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2" name="Shape 34238">
              <a:extLst>
                <a:ext uri="{FF2B5EF4-FFF2-40B4-BE49-F238E27FC236}">
                  <a16:creationId xmlns:a16="http://schemas.microsoft.com/office/drawing/2014/main" id="{46C4E1FE-4F6F-924C-4B5B-0696E855EB77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3" name="Shape 34239">
              <a:extLst>
                <a:ext uri="{FF2B5EF4-FFF2-40B4-BE49-F238E27FC236}">
                  <a16:creationId xmlns:a16="http://schemas.microsoft.com/office/drawing/2014/main" id="{D185878E-FF18-4A20-B9EE-176068B979C5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4" name="Shape 34240">
              <a:extLst>
                <a:ext uri="{FF2B5EF4-FFF2-40B4-BE49-F238E27FC236}">
                  <a16:creationId xmlns:a16="http://schemas.microsoft.com/office/drawing/2014/main" id="{D93BD9D1-EEA1-0D4F-8600-3F3153A93B6C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5" name="Shape 34241">
              <a:extLst>
                <a:ext uri="{FF2B5EF4-FFF2-40B4-BE49-F238E27FC236}">
                  <a16:creationId xmlns:a16="http://schemas.microsoft.com/office/drawing/2014/main" id="{D7E296EA-B791-A4EA-1153-80795F3A152B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6" name="Shape 34242">
              <a:extLst>
                <a:ext uri="{FF2B5EF4-FFF2-40B4-BE49-F238E27FC236}">
                  <a16:creationId xmlns:a16="http://schemas.microsoft.com/office/drawing/2014/main" id="{7BD1DB59-0745-31CF-1150-1C2BA96B3818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7" name="Shape 34243">
              <a:extLst>
                <a:ext uri="{FF2B5EF4-FFF2-40B4-BE49-F238E27FC236}">
                  <a16:creationId xmlns:a16="http://schemas.microsoft.com/office/drawing/2014/main" id="{859A2A30-578E-E0CF-9B88-4D0BBC19E5F0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8" name="Shape 34244">
              <a:extLst>
                <a:ext uri="{FF2B5EF4-FFF2-40B4-BE49-F238E27FC236}">
                  <a16:creationId xmlns:a16="http://schemas.microsoft.com/office/drawing/2014/main" id="{829F2089-03A8-EB09-9794-C58301A25377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9" name="Shape 34245">
              <a:extLst>
                <a:ext uri="{FF2B5EF4-FFF2-40B4-BE49-F238E27FC236}">
                  <a16:creationId xmlns:a16="http://schemas.microsoft.com/office/drawing/2014/main" id="{5EF4459E-AC23-C524-D870-8EAA6CA4506F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0" name="Shape 34246">
              <a:extLst>
                <a:ext uri="{FF2B5EF4-FFF2-40B4-BE49-F238E27FC236}">
                  <a16:creationId xmlns:a16="http://schemas.microsoft.com/office/drawing/2014/main" id="{A49966BE-49C2-2E0B-DF00-BE6046DA1688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1" name="Shape 34247">
              <a:extLst>
                <a:ext uri="{FF2B5EF4-FFF2-40B4-BE49-F238E27FC236}">
                  <a16:creationId xmlns:a16="http://schemas.microsoft.com/office/drawing/2014/main" id="{55D230AC-EDAC-D177-985F-928BDF840C57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2" name="Shape 34248">
              <a:extLst>
                <a:ext uri="{FF2B5EF4-FFF2-40B4-BE49-F238E27FC236}">
                  <a16:creationId xmlns:a16="http://schemas.microsoft.com/office/drawing/2014/main" id="{1F148CBC-8AA1-BE4E-E118-503C7C297140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3" name="Shape 34249">
              <a:extLst>
                <a:ext uri="{FF2B5EF4-FFF2-40B4-BE49-F238E27FC236}">
                  <a16:creationId xmlns:a16="http://schemas.microsoft.com/office/drawing/2014/main" id="{A6803C7B-FD14-9001-B985-748E17C421AA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4" name="Shape 34250">
              <a:extLst>
                <a:ext uri="{FF2B5EF4-FFF2-40B4-BE49-F238E27FC236}">
                  <a16:creationId xmlns:a16="http://schemas.microsoft.com/office/drawing/2014/main" id="{F54ECFE8-A0DD-BE50-2B8A-AEC375164636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5" name="Shape 34251">
              <a:extLst>
                <a:ext uri="{FF2B5EF4-FFF2-40B4-BE49-F238E27FC236}">
                  <a16:creationId xmlns:a16="http://schemas.microsoft.com/office/drawing/2014/main" id="{F5DA6B52-A364-0343-A021-D1AD7A5B786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6" name="Shape 34252">
              <a:extLst>
                <a:ext uri="{FF2B5EF4-FFF2-40B4-BE49-F238E27FC236}">
                  <a16:creationId xmlns:a16="http://schemas.microsoft.com/office/drawing/2014/main" id="{E909B32D-5C04-1B0F-7C40-8D0410B8717A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7" name="Shape 34253">
              <a:extLst>
                <a:ext uri="{FF2B5EF4-FFF2-40B4-BE49-F238E27FC236}">
                  <a16:creationId xmlns:a16="http://schemas.microsoft.com/office/drawing/2014/main" id="{904C6508-E6C5-9FAB-06BA-F3F504B95C0E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8" name="Shape 34254">
              <a:extLst>
                <a:ext uri="{FF2B5EF4-FFF2-40B4-BE49-F238E27FC236}">
                  <a16:creationId xmlns:a16="http://schemas.microsoft.com/office/drawing/2014/main" id="{7C11C3C3-50EF-CD38-713D-3B82765597C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9" name="Shape 34255">
              <a:extLst>
                <a:ext uri="{FF2B5EF4-FFF2-40B4-BE49-F238E27FC236}">
                  <a16:creationId xmlns:a16="http://schemas.microsoft.com/office/drawing/2014/main" id="{DD0B73BB-9B23-85D1-08F0-A1083002F1EE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0" name="Shape 34256">
              <a:extLst>
                <a:ext uri="{FF2B5EF4-FFF2-40B4-BE49-F238E27FC236}">
                  <a16:creationId xmlns:a16="http://schemas.microsoft.com/office/drawing/2014/main" id="{DB198D26-C5BC-0B60-61A6-114E53BEA476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1" name="Shape 34257">
              <a:extLst>
                <a:ext uri="{FF2B5EF4-FFF2-40B4-BE49-F238E27FC236}">
                  <a16:creationId xmlns:a16="http://schemas.microsoft.com/office/drawing/2014/main" id="{C495D662-E4AD-8FDF-FC9F-7D24BA960269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2" name="Shape 34258">
              <a:extLst>
                <a:ext uri="{FF2B5EF4-FFF2-40B4-BE49-F238E27FC236}">
                  <a16:creationId xmlns:a16="http://schemas.microsoft.com/office/drawing/2014/main" id="{782B38B6-7885-E0FB-6B35-5977C84E5125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3" name="Shape 34259">
              <a:extLst>
                <a:ext uri="{FF2B5EF4-FFF2-40B4-BE49-F238E27FC236}">
                  <a16:creationId xmlns:a16="http://schemas.microsoft.com/office/drawing/2014/main" id="{ACEA1985-C96B-D18C-1DB4-3239D01C5DBD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4" name="Shape 34260">
              <a:extLst>
                <a:ext uri="{FF2B5EF4-FFF2-40B4-BE49-F238E27FC236}">
                  <a16:creationId xmlns:a16="http://schemas.microsoft.com/office/drawing/2014/main" id="{E2E15F41-8745-DF54-7A98-5CCD82B4B0A9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5" name="Shape 34261">
              <a:extLst>
                <a:ext uri="{FF2B5EF4-FFF2-40B4-BE49-F238E27FC236}">
                  <a16:creationId xmlns:a16="http://schemas.microsoft.com/office/drawing/2014/main" id="{2854AF16-1899-28BD-ECE5-3F50BF094ACE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6" name="Shape 34262">
              <a:extLst>
                <a:ext uri="{FF2B5EF4-FFF2-40B4-BE49-F238E27FC236}">
                  <a16:creationId xmlns:a16="http://schemas.microsoft.com/office/drawing/2014/main" id="{CBDEFF28-A355-BD1E-9EC9-71CA5C467CE0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7" name="Shape 34263">
              <a:extLst>
                <a:ext uri="{FF2B5EF4-FFF2-40B4-BE49-F238E27FC236}">
                  <a16:creationId xmlns:a16="http://schemas.microsoft.com/office/drawing/2014/main" id="{F604FEFF-8D13-1B9F-D241-E7D2AFA9209B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8" name="Shape 34264">
              <a:extLst>
                <a:ext uri="{FF2B5EF4-FFF2-40B4-BE49-F238E27FC236}">
                  <a16:creationId xmlns:a16="http://schemas.microsoft.com/office/drawing/2014/main" id="{29642944-FCFB-9027-DBEB-A3DE374E30A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9" name="Shape 34265">
              <a:extLst>
                <a:ext uri="{FF2B5EF4-FFF2-40B4-BE49-F238E27FC236}">
                  <a16:creationId xmlns:a16="http://schemas.microsoft.com/office/drawing/2014/main" id="{B4AE4AFC-DE57-6193-7D6C-068A638F5DC0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</p:grp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4EF64ACD-E8BA-1C49-BB0B-60A20D97F05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843754" y="6502058"/>
            <a:ext cx="2504492" cy="303343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S02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429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1_Thème Office">
  <a:themeElements>
    <a:clrScheme name="Personnalisé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1F497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hème Office">
  <a:themeElements>
    <a:clrScheme name="Personnalisé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1F497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797739-e8dc-4491-9318-4a619ee9b15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210C906DD6AF4AAA0745DA7F7D668C" ma:contentTypeVersion="16" ma:contentTypeDescription="Create a new document." ma:contentTypeScope="" ma:versionID="31d8dd37800a71d9fe15f22dc000f6c5">
  <xsd:schema xmlns:xsd="http://www.w3.org/2001/XMLSchema" xmlns:xs="http://www.w3.org/2001/XMLSchema" xmlns:p="http://schemas.microsoft.com/office/2006/metadata/properties" xmlns:ns3="9b797739-e8dc-4491-9318-4a619ee9b153" xmlns:ns4="08c3be05-7986-4e38-b56c-c7c4a964138c" targetNamespace="http://schemas.microsoft.com/office/2006/metadata/properties" ma:root="true" ma:fieldsID="bc972a2e58901271c97d4b95cef24859" ns3:_="" ns4:_="">
    <xsd:import namespace="9b797739-e8dc-4491-9318-4a619ee9b153"/>
    <xsd:import namespace="08c3be05-7986-4e38-b56c-c7c4a964138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797739-e8dc-4491-9318-4a619ee9b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3be05-7986-4e38-b56c-c7c4a96413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786BAE-F4FA-49A8-9BF1-3D65257F029C}">
  <ds:schemaRefs>
    <ds:schemaRef ds:uri="9b797739-e8dc-4491-9318-4a619ee9b153"/>
    <ds:schemaRef ds:uri="http://purl.org/dc/terms/"/>
    <ds:schemaRef ds:uri="http://schemas.microsoft.com/office/2006/documentManagement/types"/>
    <ds:schemaRef ds:uri="08c3be05-7986-4e38-b56c-c7c4a964138c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238980E-74A0-4889-84D7-64099799E796}">
  <ds:schemaRefs>
    <ds:schemaRef ds:uri="08c3be05-7986-4e38-b56c-c7c4a964138c"/>
    <ds:schemaRef ds:uri="9b797739-e8dc-4491-9318-4a619ee9b1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D7789C-B03A-4009-98F7-40A429E92E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4162</Words>
  <Application>Microsoft Office PowerPoint</Application>
  <PresentationFormat>Grand écran</PresentationFormat>
  <Paragraphs>736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42</vt:i4>
      </vt:variant>
    </vt:vector>
  </HeadingPairs>
  <TitlesOfParts>
    <vt:vector size="52" baseType="lpstr">
      <vt:lpstr>Arial</vt:lpstr>
      <vt:lpstr>Calibri</vt:lpstr>
      <vt:lpstr>Calibri Light</vt:lpstr>
      <vt:lpstr>Gill Sans MT</vt:lpstr>
      <vt:lpstr>Lato Light</vt:lpstr>
      <vt:lpstr>Poppins</vt:lpstr>
      <vt:lpstr>Times New Roman</vt:lpstr>
      <vt:lpstr>Wingdings</vt:lpstr>
      <vt:lpstr>1_Thème Office</vt:lpstr>
      <vt:lpstr>2_Thème Office</vt:lpstr>
      <vt:lpstr>Comptabilité de gestion (10904) – Séance 2 Séance en classe</vt:lpstr>
      <vt:lpstr>Révision séance 1:  Classez les coûts (variables, fixes ou mixtes) (MP, MOD, FGF, FVA) </vt:lpstr>
      <vt:lpstr>Présentation PowerPoint</vt:lpstr>
      <vt:lpstr>Présentation PowerPoint</vt:lpstr>
      <vt:lpstr>Objectifs de la séance</vt:lpstr>
      <vt:lpstr>Définition de l’analyse CVR</vt:lpstr>
      <vt:lpstr>Les hypothèses de l’analyse CVR</vt:lpstr>
      <vt:lpstr>Utilisation de l’analyse CVR</vt:lpstr>
      <vt:lpstr>Équation du résultat (une autre façon de visualiser)</vt:lpstr>
      <vt:lpstr>Équation du résultat (coûts variables vs cout de fabrication)</vt:lpstr>
      <vt:lpstr>Calcul de la marge sur coûts variables (MCV)</vt:lpstr>
      <vt:lpstr>Calcul de la MCV – Exemple</vt:lpstr>
      <vt:lpstr>Calcul de la MCV – Exemple (solution)</vt:lpstr>
      <vt:lpstr>La marge sur coûts variables (MCV) </vt:lpstr>
      <vt:lpstr>Illustration Analyse CVR: organisation d’un party</vt:lpstr>
      <vt:lpstr>Questions- Organisation d’un party</vt:lpstr>
      <vt:lpstr>Point mort (PM) (seuil de rentabilité)</vt:lpstr>
      <vt:lpstr>Le résultat (bénéfice) cible</vt:lpstr>
      <vt:lpstr>Le résultat (bénéfice) potentiel</vt:lpstr>
      <vt:lpstr>Marge de sécurité </vt:lpstr>
      <vt:lpstr>Illustration – Organisation d’un party Sommaire</vt:lpstr>
      <vt:lpstr>Seuil d’indifférence – Illustration</vt:lpstr>
      <vt:lpstr>Seuil d’indifférence – Illustration (solution)</vt:lpstr>
      <vt:lpstr>Le seuil d'indifférence</vt:lpstr>
      <vt:lpstr>Seuil d’indifférence - Interprétation Si la demande prévue est + de 120 unités….</vt:lpstr>
      <vt:lpstr>Seuil d’indifférence - Interprétation Si la demande prévue est de….</vt:lpstr>
      <vt:lpstr>Arguments qualitatifs (non-financiers)</vt:lpstr>
      <vt:lpstr>Questions - Organisation d’un party</vt:lpstr>
      <vt:lpstr>Analyse CVR – plusieurs produits</vt:lpstr>
      <vt:lpstr>Analyse CVR avec une MCV Pondérée - Illustration</vt:lpstr>
      <vt:lpstr>Analyse CVR avec une MCV Pondérée - Illustration</vt:lpstr>
      <vt:lpstr>Analyse CVR lorsque l’entreprise offre  plusieurs produits/services  </vt:lpstr>
      <vt:lpstr>Questions de révision</vt:lpstr>
      <vt:lpstr>Prise de décisions et analyse CVR </vt:lpstr>
      <vt:lpstr>Situation 1 - Projet d’investissement Achat d’une nouvelle machine</vt:lpstr>
      <vt:lpstr>Situation 2 - Rabais sur le prix de vente</vt:lpstr>
      <vt:lpstr>Situation 3 - Augmentation du coût des MP</vt:lpstr>
      <vt:lpstr>Sommaire - Concepts clés de l’analyse CVR</vt:lpstr>
      <vt:lpstr>Graphique analyse CVR (synthèse)</vt:lpstr>
      <vt:lpstr>Sommaire analyse CVR - 1 produit ou multiproduits  </vt:lpstr>
      <vt:lpstr>Conclusion – Séance 2</vt:lpstr>
      <vt:lpstr>QUESTIONS…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gestion des coûts (3-929-13)</dc:title>
  <dc:creator>denise landry</dc:creator>
  <cp:lastModifiedBy>Loecha Philion</cp:lastModifiedBy>
  <cp:revision>12</cp:revision>
  <cp:lastPrinted>2018-06-20T15:17:28Z</cp:lastPrinted>
  <dcterms:created xsi:type="dcterms:W3CDTF">2018-05-11T17:44:51Z</dcterms:created>
  <dcterms:modified xsi:type="dcterms:W3CDTF">2026-08-27T14:34:14Z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0x0101003F210C906DD6AF4AAA0745DA7F7D668C</vt:lpwstr>
  </property>
</Properties>
</file>