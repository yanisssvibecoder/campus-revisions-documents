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5.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6.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7.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8.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9.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0.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1.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2.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13.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14.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15.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16.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17.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18.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19.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20.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21.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22.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23.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24.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25.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26.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27.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notesSlides/notesSlide28.xml" ContentType="application/vnd.openxmlformats-officedocument.presentationml.notesSlid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29.xml" ContentType="application/vnd.openxmlformats-officedocument.presentationml.notesSlide+xml"/>
  <Override PartName="/ppt/tags/tag162.xml" ContentType="application/vnd.openxmlformats-officedocument.presentationml.tags+xml"/>
  <Override PartName="/ppt/notesSlides/notesSlide30.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notesSlides/notesSlide31.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32.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notesSlides/notesSlide33.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34.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35.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36.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notesSlides/notesSlide37.xml" ContentType="application/vnd.openxmlformats-officedocument.presentationml.notesSlide+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38.xml" ContentType="application/vnd.openxmlformats-officedocument.presentationml.notesSlide+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39.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40.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41.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notesSlides/notesSlide4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notesSlides/notesSlide43.xml" ContentType="application/vnd.openxmlformats-officedocument.presentationml.notesSlide+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4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notesSlides/notesSlide45.xml" ContentType="application/vnd.openxmlformats-officedocument.presentationml.notesSlide+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51"/>
  </p:notesMasterIdLst>
  <p:handoutMasterIdLst>
    <p:handoutMasterId r:id="rId52"/>
  </p:handoutMasterIdLst>
  <p:sldIdLst>
    <p:sldId id="542" r:id="rId5"/>
    <p:sldId id="1568" r:id="rId6"/>
    <p:sldId id="1559" r:id="rId7"/>
    <p:sldId id="261" r:id="rId8"/>
    <p:sldId id="1506" r:id="rId9"/>
    <p:sldId id="1507" r:id="rId10"/>
    <p:sldId id="1508" r:id="rId11"/>
    <p:sldId id="1509" r:id="rId12"/>
    <p:sldId id="1514" r:id="rId13"/>
    <p:sldId id="1510" r:id="rId14"/>
    <p:sldId id="1511" r:id="rId15"/>
    <p:sldId id="1512" r:id="rId16"/>
    <p:sldId id="1513" r:id="rId17"/>
    <p:sldId id="1551" r:id="rId18"/>
    <p:sldId id="1515" r:id="rId19"/>
    <p:sldId id="1570" r:id="rId20"/>
    <p:sldId id="1517" r:id="rId21"/>
    <p:sldId id="1571" r:id="rId22"/>
    <p:sldId id="1519" r:id="rId23"/>
    <p:sldId id="1520" r:id="rId24"/>
    <p:sldId id="1521" r:id="rId25"/>
    <p:sldId id="1553" r:id="rId26"/>
    <p:sldId id="1572" r:id="rId27"/>
    <p:sldId id="1573" r:id="rId28"/>
    <p:sldId id="1574" r:id="rId29"/>
    <p:sldId id="1529" r:id="rId30"/>
    <p:sldId id="1525" r:id="rId31"/>
    <p:sldId id="1526" r:id="rId32"/>
    <p:sldId id="1531" r:id="rId33"/>
    <p:sldId id="1567" r:id="rId34"/>
    <p:sldId id="1565" r:id="rId35"/>
    <p:sldId id="1532" r:id="rId36"/>
    <p:sldId id="1533" r:id="rId37"/>
    <p:sldId id="1534" r:id="rId38"/>
    <p:sldId id="1576" r:id="rId39"/>
    <p:sldId id="1540" r:id="rId40"/>
    <p:sldId id="1539" r:id="rId41"/>
    <p:sldId id="1538" r:id="rId42"/>
    <p:sldId id="1542" r:id="rId43"/>
    <p:sldId id="1561" r:id="rId44"/>
    <p:sldId id="1544" r:id="rId45"/>
    <p:sldId id="1546" r:id="rId46"/>
    <p:sldId id="1545" r:id="rId47"/>
    <p:sldId id="1547" r:id="rId48"/>
    <p:sldId id="1548" r:id="rId49"/>
    <p:sldId id="1549" r:id="rId50"/>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éance 4" id="{29F2F948-010D-4051-BD4E-77C7EB96EF33}">
          <p14:sldIdLst>
            <p14:sldId id="542"/>
            <p14:sldId id="1568"/>
            <p14:sldId id="1559"/>
            <p14:sldId id="261"/>
            <p14:sldId id="1506"/>
            <p14:sldId id="1507"/>
            <p14:sldId id="1508"/>
            <p14:sldId id="1509"/>
            <p14:sldId id="1514"/>
            <p14:sldId id="1510"/>
            <p14:sldId id="1511"/>
            <p14:sldId id="1512"/>
            <p14:sldId id="1513"/>
            <p14:sldId id="1551"/>
            <p14:sldId id="1515"/>
            <p14:sldId id="1570"/>
            <p14:sldId id="1517"/>
            <p14:sldId id="1571"/>
            <p14:sldId id="1519"/>
            <p14:sldId id="1520"/>
            <p14:sldId id="1521"/>
            <p14:sldId id="1553"/>
            <p14:sldId id="1572"/>
            <p14:sldId id="1573"/>
            <p14:sldId id="1574"/>
            <p14:sldId id="1529"/>
            <p14:sldId id="1525"/>
            <p14:sldId id="1526"/>
            <p14:sldId id="1531"/>
            <p14:sldId id="1567"/>
            <p14:sldId id="1565"/>
            <p14:sldId id="1532"/>
            <p14:sldId id="1533"/>
            <p14:sldId id="1534"/>
            <p14:sldId id="1576"/>
            <p14:sldId id="1540"/>
            <p14:sldId id="1539"/>
            <p14:sldId id="1538"/>
            <p14:sldId id="1542"/>
            <p14:sldId id="1561"/>
            <p14:sldId id="1544"/>
            <p14:sldId id="1546"/>
            <p14:sldId id="1545"/>
            <p14:sldId id="1547"/>
            <p14:sldId id="1548"/>
            <p14:sldId id="154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echa philion" initials="lp" lastIdx="2" clrIdx="0">
    <p:extLst>
      <p:ext uri="{19B8F6BF-5375-455C-9EA6-DF929625EA0E}">
        <p15:presenceInfo xmlns:p15="http://schemas.microsoft.com/office/powerpoint/2012/main" userId="S::loecha.philion@hec.ca::0f598feb-c4c0-4dda-b2c1-17de97a013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7EF"/>
    <a:srgbClr val="FFF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DD1BF8-7EE6-44C1-8C7E-34B57D887184}" v="14" dt="2026-01-22T13:16:59.02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Style léger 1 - Accentuation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146" autoAdjust="0"/>
  </p:normalViewPr>
  <p:slideViewPr>
    <p:cSldViewPr snapToGrid="0">
      <p:cViewPr varScale="1">
        <p:scale>
          <a:sx n="60" d="100"/>
          <a:sy n="60" d="100"/>
        </p:scale>
        <p:origin x="90" y="426"/>
      </p:cViewPr>
      <p:guideLst/>
    </p:cSldViewPr>
  </p:slideViewPr>
  <p:notesTextViewPr>
    <p:cViewPr>
      <p:scale>
        <a:sx n="1" d="1"/>
        <a:sy n="1" d="1"/>
      </p:scale>
      <p:origin x="0" y="0"/>
    </p:cViewPr>
  </p:notesTextViewPr>
  <p:notesViewPr>
    <p:cSldViewPr snapToGrid="0">
      <p:cViewPr varScale="1">
        <p:scale>
          <a:sx n="46" d="100"/>
          <a:sy n="46" d="100"/>
        </p:scale>
        <p:origin x="2708" y="2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echa Philion" userId="0f598feb-c4c0-4dda-b2c1-17de97a01329" providerId="ADAL" clId="{E7AA05E6-2E3A-4936-92BE-EF366E7850A9}"/>
    <pc:docChg chg="custSel addSld delSld modSld sldOrd modSection">
      <pc:chgData name="Loecha Philion" userId="0f598feb-c4c0-4dda-b2c1-17de97a01329" providerId="ADAL" clId="{E7AA05E6-2E3A-4936-92BE-EF366E7850A9}" dt="2026-01-22T13:18:39.413" v="31"/>
      <pc:docMkLst>
        <pc:docMk/>
      </pc:docMkLst>
      <pc:sldChg chg="del">
        <pc:chgData name="Loecha Philion" userId="0f598feb-c4c0-4dda-b2c1-17de97a01329" providerId="ADAL" clId="{E7AA05E6-2E3A-4936-92BE-EF366E7850A9}" dt="2026-01-22T13:18:08.219" v="27" actId="47"/>
        <pc:sldMkLst>
          <pc:docMk/>
          <pc:sldMk cId="2714129301" sldId="1530"/>
        </pc:sldMkLst>
      </pc:sldChg>
      <pc:sldChg chg="add modNotesTx">
        <pc:chgData name="Loecha Philion" userId="0f598feb-c4c0-4dda-b2c1-17de97a01329" providerId="ADAL" clId="{E7AA05E6-2E3A-4936-92BE-EF366E7850A9}" dt="2026-01-22T13:15:51.286" v="9" actId="6549"/>
        <pc:sldMkLst>
          <pc:docMk/>
          <pc:sldMk cId="806275977" sldId="1531"/>
        </pc:sldMkLst>
      </pc:sldChg>
      <pc:sldChg chg="modSp mod ord">
        <pc:chgData name="Loecha Philion" userId="0f598feb-c4c0-4dda-b2c1-17de97a01329" providerId="ADAL" clId="{E7AA05E6-2E3A-4936-92BE-EF366E7850A9}" dt="2026-01-22T13:16:50.403" v="17" actId="20577"/>
        <pc:sldMkLst>
          <pc:docMk/>
          <pc:sldMk cId="240280417" sldId="1534"/>
        </pc:sldMkLst>
        <pc:spChg chg="mod">
          <ac:chgData name="Loecha Philion" userId="0f598feb-c4c0-4dda-b2c1-17de97a01329" providerId="ADAL" clId="{E7AA05E6-2E3A-4936-92BE-EF366E7850A9}" dt="2026-01-22T13:16:50.403" v="17" actId="20577"/>
          <ac:spMkLst>
            <pc:docMk/>
            <pc:sldMk cId="240280417" sldId="1534"/>
            <ac:spMk id="3" creationId="{67824612-124B-9FEC-B9EB-6ED44435E668}"/>
          </ac:spMkLst>
        </pc:spChg>
      </pc:sldChg>
      <pc:sldChg chg="del">
        <pc:chgData name="Loecha Philion" userId="0f598feb-c4c0-4dda-b2c1-17de97a01329" providerId="ADAL" clId="{E7AA05E6-2E3A-4936-92BE-EF366E7850A9}" dt="2026-01-22T13:17:19.982" v="24" actId="47"/>
        <pc:sldMkLst>
          <pc:docMk/>
          <pc:sldMk cId="3174009172" sldId="1535"/>
        </pc:sldMkLst>
      </pc:sldChg>
      <pc:sldChg chg="del">
        <pc:chgData name="Loecha Philion" userId="0f598feb-c4c0-4dda-b2c1-17de97a01329" providerId="ADAL" clId="{E7AA05E6-2E3A-4936-92BE-EF366E7850A9}" dt="2026-01-22T13:17:22.661" v="25" actId="47"/>
        <pc:sldMkLst>
          <pc:docMk/>
          <pc:sldMk cId="431922778" sldId="1536"/>
        </pc:sldMkLst>
      </pc:sldChg>
      <pc:sldChg chg="ord">
        <pc:chgData name="Loecha Philion" userId="0f598feb-c4c0-4dda-b2c1-17de97a01329" providerId="ADAL" clId="{E7AA05E6-2E3A-4936-92BE-EF366E7850A9}" dt="2026-01-22T13:17:15.826" v="23"/>
        <pc:sldMkLst>
          <pc:docMk/>
          <pc:sldMk cId="2297374642" sldId="1539"/>
        </pc:sldMkLst>
      </pc:sldChg>
      <pc:sldChg chg="ord">
        <pc:chgData name="Loecha Philion" userId="0f598feb-c4c0-4dda-b2c1-17de97a01329" providerId="ADAL" clId="{E7AA05E6-2E3A-4936-92BE-EF366E7850A9}" dt="2026-01-22T13:17:11.741" v="21"/>
        <pc:sldMkLst>
          <pc:docMk/>
          <pc:sldMk cId="314605786" sldId="1540"/>
        </pc:sldMkLst>
      </pc:sldChg>
      <pc:sldChg chg="ord">
        <pc:chgData name="Loecha Philion" userId="0f598feb-c4c0-4dda-b2c1-17de97a01329" providerId="ADAL" clId="{E7AA05E6-2E3A-4936-92BE-EF366E7850A9}" dt="2026-01-22T13:18:39.413" v="31"/>
        <pc:sldMkLst>
          <pc:docMk/>
          <pc:sldMk cId="426018184" sldId="1546"/>
        </pc:sldMkLst>
      </pc:sldChg>
      <pc:sldChg chg="del">
        <pc:chgData name="Loecha Philion" userId="0f598feb-c4c0-4dda-b2c1-17de97a01329" providerId="ADAL" clId="{E7AA05E6-2E3A-4936-92BE-EF366E7850A9}" dt="2026-01-22T13:15:55.170" v="10" actId="47"/>
        <pc:sldMkLst>
          <pc:docMk/>
          <pc:sldMk cId="1017540138" sldId="1558"/>
        </pc:sldMkLst>
      </pc:sldChg>
      <pc:sldChg chg="add modNotesTx">
        <pc:chgData name="Loecha Philion" userId="0f598feb-c4c0-4dda-b2c1-17de97a01329" providerId="ADAL" clId="{E7AA05E6-2E3A-4936-92BE-EF366E7850A9}" dt="2026-01-22T13:10:33.372" v="4" actId="6549"/>
        <pc:sldMkLst>
          <pc:docMk/>
          <pc:sldMk cId="1616020794" sldId="1559"/>
        </pc:sldMkLst>
      </pc:sldChg>
      <pc:sldChg chg="ord">
        <pc:chgData name="Loecha Philion" userId="0f598feb-c4c0-4dda-b2c1-17de97a01329" providerId="ADAL" clId="{E7AA05E6-2E3A-4936-92BE-EF366E7850A9}" dt="2026-01-22T13:18:14.648" v="29"/>
        <pc:sldMkLst>
          <pc:docMk/>
          <pc:sldMk cId="33177861" sldId="1561"/>
        </pc:sldMkLst>
      </pc:sldChg>
      <pc:sldChg chg="del">
        <pc:chgData name="Loecha Philion" userId="0f598feb-c4c0-4dda-b2c1-17de97a01329" providerId="ADAL" clId="{E7AA05E6-2E3A-4936-92BE-EF366E7850A9}" dt="2026-01-22T13:16:08.355" v="12" actId="47"/>
        <pc:sldMkLst>
          <pc:docMk/>
          <pc:sldMk cId="3074037697" sldId="1563"/>
        </pc:sldMkLst>
      </pc:sldChg>
      <pc:sldChg chg="add">
        <pc:chgData name="Loecha Philion" userId="0f598feb-c4c0-4dda-b2c1-17de97a01329" providerId="ADAL" clId="{E7AA05E6-2E3A-4936-92BE-EF366E7850A9}" dt="2026-01-22T13:16:06.771" v="11"/>
        <pc:sldMkLst>
          <pc:docMk/>
          <pc:sldMk cId="605476515" sldId="1565"/>
        </pc:sldMkLst>
      </pc:sldChg>
      <pc:sldChg chg="add modNotesTx">
        <pc:chgData name="Loecha Philion" userId="0f598feb-c4c0-4dda-b2c1-17de97a01329" providerId="ADAL" clId="{E7AA05E6-2E3A-4936-92BE-EF366E7850A9}" dt="2026-01-22T13:10:04.245" v="2" actId="6549"/>
        <pc:sldMkLst>
          <pc:docMk/>
          <pc:sldMk cId="1111727314" sldId="1568"/>
        </pc:sldMkLst>
      </pc:sldChg>
      <pc:sldChg chg="del">
        <pc:chgData name="Loecha Philion" userId="0f598feb-c4c0-4dda-b2c1-17de97a01329" providerId="ADAL" clId="{E7AA05E6-2E3A-4936-92BE-EF366E7850A9}" dt="2026-01-22T13:09:59.953" v="1" actId="47"/>
        <pc:sldMkLst>
          <pc:docMk/>
          <pc:sldMk cId="57497407" sldId="1569"/>
        </pc:sldMkLst>
      </pc:sldChg>
      <pc:sldChg chg="addSp modSp mod">
        <pc:chgData name="Loecha Philion" userId="0f598feb-c4c0-4dda-b2c1-17de97a01329" providerId="ADAL" clId="{E7AA05E6-2E3A-4936-92BE-EF366E7850A9}" dt="2026-01-22T13:15:34.808" v="7" actId="1076"/>
        <pc:sldMkLst>
          <pc:docMk/>
          <pc:sldMk cId="382183367" sldId="1574"/>
        </pc:sldMkLst>
        <pc:spChg chg="add mod">
          <ac:chgData name="Loecha Philion" userId="0f598feb-c4c0-4dda-b2c1-17de97a01329" providerId="ADAL" clId="{E7AA05E6-2E3A-4936-92BE-EF366E7850A9}" dt="2026-01-22T13:15:34.808" v="7" actId="1076"/>
          <ac:spMkLst>
            <pc:docMk/>
            <pc:sldMk cId="382183367" sldId="1574"/>
            <ac:spMk id="3" creationId="{EA84C355-B900-5C51-EAE7-6E44B58E5BD7}"/>
          </ac:spMkLst>
        </pc:spChg>
        <pc:spChg chg="mod">
          <ac:chgData name="Loecha Philion" userId="0f598feb-c4c0-4dda-b2c1-17de97a01329" providerId="ADAL" clId="{E7AA05E6-2E3A-4936-92BE-EF366E7850A9}" dt="2026-01-22T13:13:41.848" v="5" actId="1076"/>
          <ac:spMkLst>
            <pc:docMk/>
            <pc:sldMk cId="382183367" sldId="1574"/>
            <ac:spMk id="4" creationId="{0941CDEA-1178-F4C3-4B6A-EE8E69F3DADA}"/>
          </ac:spMkLst>
        </pc:spChg>
      </pc:sldChg>
      <pc:sldChg chg="del">
        <pc:chgData name="Loecha Philion" userId="0f598feb-c4c0-4dda-b2c1-17de97a01329" providerId="ADAL" clId="{E7AA05E6-2E3A-4936-92BE-EF366E7850A9}" dt="2026-01-22T13:17:57.123" v="26" actId="47"/>
        <pc:sldMkLst>
          <pc:docMk/>
          <pc:sldMk cId="2591896286" sldId="1575"/>
        </pc:sldMkLst>
      </pc:sldChg>
      <pc:sldChg chg="add modNotesTx">
        <pc:chgData name="Loecha Philion" userId="0f598feb-c4c0-4dda-b2c1-17de97a01329" providerId="ADAL" clId="{E7AA05E6-2E3A-4936-92BE-EF366E7850A9}" dt="2026-01-22T13:17:01.778" v="19" actId="6549"/>
        <pc:sldMkLst>
          <pc:docMk/>
          <pc:sldMk cId="4028275690" sldId="157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36EB81-95E4-4BB5-9E45-70AEEBC6431F}" type="doc">
      <dgm:prSet loTypeId="urn:microsoft.com/office/officeart/2005/8/layout/lProcess1" loCatId="process" qsTypeId="urn:microsoft.com/office/officeart/2005/8/quickstyle/simple1" qsCatId="simple" csTypeId="urn:microsoft.com/office/officeart/2005/8/colors/accent0_1" csCatId="mainScheme" phldr="1"/>
      <dgm:spPr/>
      <dgm:t>
        <a:bodyPr/>
        <a:lstStyle/>
        <a:p>
          <a:endParaRPr lang="fr-CA"/>
        </a:p>
      </dgm:t>
    </dgm:pt>
    <dgm:pt modelId="{577DC259-8B5B-4F6B-8A77-B485C7D4CAF3}">
      <dgm:prSet phldrT="[Texte]" custT="1"/>
      <dgm:spPr>
        <a:ln w="28575">
          <a:solidFill>
            <a:schemeClr val="accent3"/>
          </a:solidFill>
        </a:ln>
      </dgm:spPr>
      <dgm:t>
        <a:bodyPr/>
        <a:lstStyle/>
        <a:p>
          <a:r>
            <a:rPr lang="fr-CA" sz="2400" b="1"/>
            <a:t>MCV </a:t>
          </a:r>
        </a:p>
        <a:p>
          <a:r>
            <a:rPr lang="fr-CA" sz="2400" b="1"/>
            <a:t>unitaire</a:t>
          </a:r>
        </a:p>
      </dgm:t>
    </dgm:pt>
    <dgm:pt modelId="{DAC60362-BD5D-4574-B892-37A3E674AA52}" type="parTrans" cxnId="{30107166-F015-4A40-B0C1-1D20781C0DF9}">
      <dgm:prSet/>
      <dgm:spPr/>
      <dgm:t>
        <a:bodyPr/>
        <a:lstStyle/>
        <a:p>
          <a:endParaRPr lang="fr-CA" sz="2000">
            <a:solidFill>
              <a:schemeClr val="tx1"/>
            </a:solidFill>
          </a:endParaRPr>
        </a:p>
      </dgm:t>
    </dgm:pt>
    <dgm:pt modelId="{FAE70B79-3E70-4AF6-8192-2BCCA0F64353}" type="sibTrans" cxnId="{30107166-F015-4A40-B0C1-1D20781C0DF9}">
      <dgm:prSet/>
      <dgm:spPr/>
      <dgm:t>
        <a:bodyPr/>
        <a:lstStyle/>
        <a:p>
          <a:endParaRPr lang="fr-CA" sz="2000">
            <a:solidFill>
              <a:schemeClr val="tx1"/>
            </a:solidFill>
          </a:endParaRPr>
        </a:p>
      </dgm:t>
    </dgm:pt>
    <dgm:pt modelId="{BCCCE91C-30B6-4DAE-9DB9-467B40AA1D6C}">
      <dgm:prSet custT="1"/>
      <dgm:spPr>
        <a:ln>
          <a:solidFill>
            <a:schemeClr val="accent6">
              <a:alpha val="90000"/>
            </a:schemeClr>
          </a:solidFill>
        </a:ln>
      </dgm:spPr>
      <dgm:t>
        <a:bodyPr/>
        <a:lstStyle/>
        <a:p>
          <a:r>
            <a:rPr lang="fr-CA" sz="2400" b="0">
              <a:latin typeface="+mn-lt"/>
              <a:cs typeface="Arial" pitchFamily="34" charset="0"/>
            </a:rPr>
            <a:t>Prix de vente</a:t>
          </a:r>
        </a:p>
        <a:p>
          <a:r>
            <a:rPr lang="fr-CA" sz="2400" b="0">
              <a:latin typeface="+mn-lt"/>
              <a:cs typeface="Arial" pitchFamily="34" charset="0"/>
            </a:rPr>
            <a:t>(-)</a:t>
          </a:r>
        </a:p>
        <a:p>
          <a:r>
            <a:rPr lang="fr-CA" sz="2400" b="0">
              <a:latin typeface="+mn-lt"/>
              <a:cs typeface="Arial" pitchFamily="34" charset="0"/>
            </a:rPr>
            <a:t>Coûts variables unitaires</a:t>
          </a:r>
        </a:p>
      </dgm:t>
    </dgm:pt>
    <dgm:pt modelId="{A911E701-44BA-46C5-82DF-5D1CC9CA246D}" type="parTrans" cxnId="{2FD923D9-05C4-46C8-9E6D-7B2AF405F2B5}">
      <dgm:prSet/>
      <dgm:spPr/>
      <dgm:t>
        <a:bodyPr/>
        <a:lstStyle/>
        <a:p>
          <a:endParaRPr lang="fr-CA" sz="2000">
            <a:solidFill>
              <a:schemeClr val="tx1"/>
            </a:solidFill>
          </a:endParaRPr>
        </a:p>
      </dgm:t>
    </dgm:pt>
    <dgm:pt modelId="{FDD2CBEC-4898-400A-9A80-3618D0A3CA29}" type="sibTrans" cxnId="{2FD923D9-05C4-46C8-9E6D-7B2AF405F2B5}">
      <dgm:prSet/>
      <dgm:spPr/>
      <dgm:t>
        <a:bodyPr/>
        <a:lstStyle/>
        <a:p>
          <a:endParaRPr lang="fr-CA" sz="2000">
            <a:solidFill>
              <a:schemeClr val="tx1"/>
            </a:solidFill>
          </a:endParaRPr>
        </a:p>
      </dgm:t>
    </dgm:pt>
    <dgm:pt modelId="{14D9E070-D577-43F0-9121-B967034A3A84}">
      <dgm:prSet custT="1"/>
      <dgm:spPr>
        <a:ln w="28575">
          <a:solidFill>
            <a:schemeClr val="accent3"/>
          </a:solidFill>
        </a:ln>
      </dgm:spPr>
      <dgm:t>
        <a:bodyPr/>
        <a:lstStyle/>
        <a:p>
          <a:r>
            <a:rPr lang="fr-CA" sz="2400" b="1"/>
            <a:t>MCV totale</a:t>
          </a:r>
        </a:p>
      </dgm:t>
    </dgm:pt>
    <dgm:pt modelId="{B1F1046A-8E65-4146-B8DF-FBC0B5DAC8EB}" type="parTrans" cxnId="{CB27E4DD-033D-4ADC-9958-93F725E0397C}">
      <dgm:prSet/>
      <dgm:spPr/>
      <dgm:t>
        <a:bodyPr/>
        <a:lstStyle/>
        <a:p>
          <a:endParaRPr lang="fr-CA" sz="2000">
            <a:solidFill>
              <a:schemeClr val="tx1"/>
            </a:solidFill>
          </a:endParaRPr>
        </a:p>
      </dgm:t>
    </dgm:pt>
    <dgm:pt modelId="{BFDEB8DD-B9D9-45A6-B40F-A4B09E8E6145}" type="sibTrans" cxnId="{CB27E4DD-033D-4ADC-9958-93F725E0397C}">
      <dgm:prSet/>
      <dgm:spPr/>
      <dgm:t>
        <a:bodyPr/>
        <a:lstStyle/>
        <a:p>
          <a:endParaRPr lang="fr-CA" sz="2000">
            <a:solidFill>
              <a:schemeClr val="tx1"/>
            </a:solidFill>
          </a:endParaRPr>
        </a:p>
      </dgm:t>
    </dgm:pt>
    <dgm:pt modelId="{A3EA7B6A-596D-4285-B61E-D6EA83173311}">
      <dgm:prSet custT="1">
        <dgm:style>
          <a:lnRef idx="2">
            <a:schemeClr val="accent1"/>
          </a:lnRef>
          <a:fillRef idx="1">
            <a:schemeClr val="lt1"/>
          </a:fillRef>
          <a:effectRef idx="0">
            <a:schemeClr val="accent1"/>
          </a:effectRef>
          <a:fontRef idx="minor">
            <a:schemeClr val="dk1"/>
          </a:fontRef>
        </dgm:style>
      </dgm:prSet>
      <dgm:spPr>
        <a:ln/>
      </dgm:spPr>
      <dgm:t>
        <a:bodyPr/>
        <a:lstStyle/>
        <a:p>
          <a:r>
            <a:rPr lang="fr-CA" sz="2400" b="0"/>
            <a:t>Chiffre d’affaires</a:t>
          </a:r>
        </a:p>
        <a:p>
          <a:r>
            <a:rPr lang="fr-CA" sz="2400" b="0"/>
            <a:t>(-)</a:t>
          </a:r>
        </a:p>
        <a:p>
          <a:r>
            <a:rPr lang="fr-CA" sz="2400" b="0"/>
            <a:t>Coûts variables totaux</a:t>
          </a:r>
        </a:p>
      </dgm:t>
    </dgm:pt>
    <dgm:pt modelId="{43E739FA-940A-404E-97C3-CCFB25A354FB}" type="parTrans" cxnId="{6C6EBFD4-04F5-4971-A77F-1E328C705F1A}">
      <dgm:prSet/>
      <dgm:spPr/>
      <dgm:t>
        <a:bodyPr/>
        <a:lstStyle/>
        <a:p>
          <a:endParaRPr lang="fr-CA"/>
        </a:p>
      </dgm:t>
    </dgm:pt>
    <dgm:pt modelId="{98CBAB7F-7877-4749-B8A0-8A45E8D6050C}" type="sibTrans" cxnId="{6C6EBFD4-04F5-4971-A77F-1E328C705F1A}">
      <dgm:prSet/>
      <dgm:spPr/>
      <dgm:t>
        <a:bodyPr/>
        <a:lstStyle/>
        <a:p>
          <a:endParaRPr lang="fr-CA"/>
        </a:p>
      </dgm:t>
    </dgm:pt>
    <dgm:pt modelId="{35BFFA50-95CD-4E66-BF51-EFCBDC7D9D65}">
      <dgm:prSet custT="1">
        <dgm:style>
          <a:lnRef idx="2">
            <a:schemeClr val="accent1"/>
          </a:lnRef>
          <a:fillRef idx="1">
            <a:schemeClr val="lt1"/>
          </a:fillRef>
          <a:effectRef idx="0">
            <a:schemeClr val="accent1"/>
          </a:effectRef>
          <a:fontRef idx="minor">
            <a:schemeClr val="dk1"/>
          </a:fontRef>
        </dgm:style>
      </dgm:prSet>
      <dgm:spPr>
        <a:ln/>
      </dgm:spPr>
      <dgm:t>
        <a:bodyPr/>
        <a:lstStyle/>
        <a:p>
          <a:r>
            <a:rPr lang="fr-CA" sz="2400" b="0"/>
            <a:t>MCV unitaire</a:t>
          </a:r>
        </a:p>
        <a:p>
          <a:r>
            <a:rPr lang="fr-CA" sz="2400" b="0"/>
            <a:t>x</a:t>
          </a:r>
        </a:p>
        <a:p>
          <a:r>
            <a:rPr lang="fr-CA" sz="2400" b="0"/>
            <a:t>Nombre d’unités</a:t>
          </a:r>
        </a:p>
      </dgm:t>
    </dgm:pt>
    <dgm:pt modelId="{92084625-697C-443D-A3BC-F4EDCDD14C44}" type="parTrans" cxnId="{3DBFCD99-8694-4453-9C1C-9C53F500BE6A}">
      <dgm:prSet/>
      <dgm:spPr/>
      <dgm:t>
        <a:bodyPr/>
        <a:lstStyle/>
        <a:p>
          <a:endParaRPr lang="fr-CA"/>
        </a:p>
      </dgm:t>
    </dgm:pt>
    <dgm:pt modelId="{0C5ABEF9-F6DB-481E-9891-125F69D969BD}" type="sibTrans" cxnId="{3DBFCD99-8694-4453-9C1C-9C53F500BE6A}">
      <dgm:prSet/>
      <dgm:spPr/>
      <dgm:t>
        <a:bodyPr/>
        <a:lstStyle/>
        <a:p>
          <a:endParaRPr lang="fr-CA"/>
        </a:p>
      </dgm:t>
    </dgm:pt>
    <dgm:pt modelId="{325A358D-07A2-4133-8F35-A2044C84F314}">
      <dgm:prSet phldrT="[Texte]" custT="1"/>
      <dgm:spPr>
        <a:ln w="28575">
          <a:solidFill>
            <a:schemeClr val="accent3"/>
          </a:solidFill>
        </a:ln>
      </dgm:spPr>
      <dgm:t>
        <a:bodyPr/>
        <a:lstStyle/>
        <a:p>
          <a:r>
            <a:rPr lang="fr-CA" sz="2400" b="1"/>
            <a:t>MCV </a:t>
          </a:r>
        </a:p>
        <a:p>
          <a:r>
            <a:rPr lang="fr-CA" sz="2400" b="1"/>
            <a:t>par unité d’un facteur de production</a:t>
          </a:r>
        </a:p>
      </dgm:t>
    </dgm:pt>
    <dgm:pt modelId="{4D4A460C-BCB8-4202-838D-2A54C2B25275}" type="parTrans" cxnId="{BF88BE3C-899B-4FBE-A768-DA9101C06202}">
      <dgm:prSet/>
      <dgm:spPr/>
      <dgm:t>
        <a:bodyPr/>
        <a:lstStyle/>
        <a:p>
          <a:endParaRPr lang="fr-CA"/>
        </a:p>
      </dgm:t>
    </dgm:pt>
    <dgm:pt modelId="{584A782F-EDF3-4DBF-AF52-27BDC5B72736}" type="sibTrans" cxnId="{BF88BE3C-899B-4FBE-A768-DA9101C06202}">
      <dgm:prSet/>
      <dgm:spPr/>
      <dgm:t>
        <a:bodyPr/>
        <a:lstStyle/>
        <a:p>
          <a:endParaRPr lang="fr-CA"/>
        </a:p>
      </dgm:t>
    </dgm:pt>
    <dgm:pt modelId="{C5BBAAD1-0F5D-4A5D-AD2E-D41C3F6FB990}">
      <dgm:prSet custT="1"/>
      <dgm:spPr>
        <a:ln>
          <a:solidFill>
            <a:schemeClr val="accent6">
              <a:alpha val="90000"/>
            </a:schemeClr>
          </a:solidFill>
        </a:ln>
      </dgm:spPr>
      <dgm:t>
        <a:bodyPr/>
        <a:lstStyle/>
        <a:p>
          <a:r>
            <a:rPr lang="fr-CA" sz="1800"/>
            <a:t>MCV unitaire d’un produit</a:t>
          </a:r>
        </a:p>
        <a:p>
          <a:r>
            <a:rPr lang="fr-CA" sz="1800"/>
            <a:t>____________________</a:t>
          </a:r>
        </a:p>
        <a:p>
          <a:r>
            <a:rPr lang="fr-CA" sz="1800"/>
            <a:t>Nombre d’unités de facteur de production requises pour fabriquer le produit</a:t>
          </a:r>
        </a:p>
      </dgm:t>
    </dgm:pt>
    <dgm:pt modelId="{B9D8FA50-D786-40C6-9343-AFB0EE24179D}" type="parTrans" cxnId="{2F2B3A87-7370-460B-9025-D3C1A55A9B1F}">
      <dgm:prSet/>
      <dgm:spPr/>
      <dgm:t>
        <a:bodyPr/>
        <a:lstStyle/>
        <a:p>
          <a:endParaRPr lang="fr-CA"/>
        </a:p>
      </dgm:t>
    </dgm:pt>
    <dgm:pt modelId="{B10CCC21-8B3C-4EE8-9192-94AA1A8DD3F0}" type="sibTrans" cxnId="{2F2B3A87-7370-460B-9025-D3C1A55A9B1F}">
      <dgm:prSet/>
      <dgm:spPr/>
      <dgm:t>
        <a:bodyPr/>
        <a:lstStyle/>
        <a:p>
          <a:endParaRPr lang="fr-CA"/>
        </a:p>
      </dgm:t>
    </dgm:pt>
    <dgm:pt modelId="{51E5CBE9-72C8-4C9D-961C-A08B57CA0D30}">
      <dgm:prSet custT="1"/>
      <dgm:spPr>
        <a:ln w="28575">
          <a:solidFill>
            <a:schemeClr val="accent3"/>
          </a:solidFill>
        </a:ln>
      </dgm:spPr>
      <dgm:t>
        <a:bodyPr/>
        <a:lstStyle/>
        <a:p>
          <a:r>
            <a:rPr lang="fr-CA" sz="2400" b="1"/>
            <a:t>Marge sur coûts spécifiques</a:t>
          </a:r>
        </a:p>
      </dgm:t>
    </dgm:pt>
    <dgm:pt modelId="{47D6F1B9-E284-418D-946C-92E9D4BAF9CA}" type="parTrans" cxnId="{3656B79C-A057-41B9-9E97-0CCF97F72826}">
      <dgm:prSet/>
      <dgm:spPr/>
      <dgm:t>
        <a:bodyPr/>
        <a:lstStyle/>
        <a:p>
          <a:endParaRPr lang="fr-CA"/>
        </a:p>
      </dgm:t>
    </dgm:pt>
    <dgm:pt modelId="{027D79AD-772C-4D6C-AB4C-5944F908FF98}" type="sibTrans" cxnId="{3656B79C-A057-41B9-9E97-0CCF97F72826}">
      <dgm:prSet/>
      <dgm:spPr/>
      <dgm:t>
        <a:bodyPr/>
        <a:lstStyle/>
        <a:p>
          <a:endParaRPr lang="fr-CA"/>
        </a:p>
      </dgm:t>
    </dgm:pt>
    <dgm:pt modelId="{0154F673-0B13-4636-B0E8-E75F7322E8DF}">
      <dgm:prSet>
        <dgm:style>
          <a:lnRef idx="2">
            <a:schemeClr val="accent5"/>
          </a:lnRef>
          <a:fillRef idx="1">
            <a:schemeClr val="lt1"/>
          </a:fillRef>
          <a:effectRef idx="0">
            <a:schemeClr val="accent5"/>
          </a:effectRef>
          <a:fontRef idx="minor">
            <a:schemeClr val="dk1"/>
          </a:fontRef>
        </dgm:style>
      </dgm:prSet>
      <dgm:spPr>
        <a:ln/>
      </dgm:spPr>
      <dgm:t>
        <a:bodyPr/>
        <a:lstStyle/>
        <a:p>
          <a:r>
            <a:rPr lang="fr-CA"/>
            <a:t> MCV totale</a:t>
          </a:r>
        </a:p>
        <a:p>
          <a:r>
            <a:rPr lang="fr-CA"/>
            <a:t>(-)</a:t>
          </a:r>
        </a:p>
        <a:p>
          <a:r>
            <a:rPr lang="fr-CA"/>
            <a:t>Coûts fixes spécifiques</a:t>
          </a:r>
        </a:p>
      </dgm:t>
    </dgm:pt>
    <dgm:pt modelId="{3D476D33-75AD-4E53-8F0F-C3CCF57F39C4}" type="parTrans" cxnId="{0F8FF5DC-A234-4DE9-ADDA-7ABC7CA5AA4D}">
      <dgm:prSet/>
      <dgm:spPr/>
      <dgm:t>
        <a:bodyPr/>
        <a:lstStyle/>
        <a:p>
          <a:endParaRPr lang="fr-CA"/>
        </a:p>
      </dgm:t>
    </dgm:pt>
    <dgm:pt modelId="{47FD2705-F7A1-4878-9A67-0C43B6CCAEB3}" type="sibTrans" cxnId="{0F8FF5DC-A234-4DE9-ADDA-7ABC7CA5AA4D}">
      <dgm:prSet/>
      <dgm:spPr/>
      <dgm:t>
        <a:bodyPr/>
        <a:lstStyle/>
        <a:p>
          <a:endParaRPr lang="fr-CA"/>
        </a:p>
      </dgm:t>
    </dgm:pt>
    <dgm:pt modelId="{EFF9DF4F-CC1F-4199-9DFE-738BAADAA8A3}" type="pres">
      <dgm:prSet presAssocID="{DC36EB81-95E4-4BB5-9E45-70AEEBC6431F}" presName="Name0" presStyleCnt="0">
        <dgm:presLayoutVars>
          <dgm:dir/>
          <dgm:animLvl val="lvl"/>
          <dgm:resizeHandles val="exact"/>
        </dgm:presLayoutVars>
      </dgm:prSet>
      <dgm:spPr/>
    </dgm:pt>
    <dgm:pt modelId="{4465ACC2-887C-41FA-92D6-C3E33BA52573}" type="pres">
      <dgm:prSet presAssocID="{577DC259-8B5B-4F6B-8A77-B485C7D4CAF3}" presName="vertFlow" presStyleCnt="0"/>
      <dgm:spPr/>
    </dgm:pt>
    <dgm:pt modelId="{775ABA71-E8F3-4EF3-86D0-4DFB8D0AB459}" type="pres">
      <dgm:prSet presAssocID="{577DC259-8B5B-4F6B-8A77-B485C7D4CAF3}" presName="header" presStyleLbl="node1" presStyleIdx="0" presStyleCnt="4" custScaleY="244795"/>
      <dgm:spPr/>
    </dgm:pt>
    <dgm:pt modelId="{1AF0B4FE-E2AE-4371-B378-EC21F851B286}" type="pres">
      <dgm:prSet presAssocID="{A911E701-44BA-46C5-82DF-5D1CC9CA246D}" presName="parTrans" presStyleLbl="sibTrans2D1" presStyleIdx="0" presStyleCnt="5"/>
      <dgm:spPr/>
    </dgm:pt>
    <dgm:pt modelId="{E72ED684-3058-4FF4-AFFB-CD3B061CECFB}" type="pres">
      <dgm:prSet presAssocID="{BCCCE91C-30B6-4DAE-9DB9-467B40AA1D6C}" presName="child" presStyleLbl="alignAccFollowNode1" presStyleIdx="0" presStyleCnt="5" custScaleY="300435">
        <dgm:presLayoutVars>
          <dgm:chMax val="0"/>
          <dgm:bulletEnabled val="1"/>
        </dgm:presLayoutVars>
      </dgm:prSet>
      <dgm:spPr/>
    </dgm:pt>
    <dgm:pt modelId="{33009C5C-0A08-4BAF-A03F-D2B2BEC3D88F}" type="pres">
      <dgm:prSet presAssocID="{577DC259-8B5B-4F6B-8A77-B485C7D4CAF3}" presName="hSp" presStyleCnt="0"/>
      <dgm:spPr/>
    </dgm:pt>
    <dgm:pt modelId="{A70FFCDA-9C18-4C66-87F1-B4EC017F549D}" type="pres">
      <dgm:prSet presAssocID="{14D9E070-D577-43F0-9121-B967034A3A84}" presName="vertFlow" presStyleCnt="0"/>
      <dgm:spPr/>
    </dgm:pt>
    <dgm:pt modelId="{79090174-B539-4881-8393-FBB08523B9BD}" type="pres">
      <dgm:prSet presAssocID="{14D9E070-D577-43F0-9121-B967034A3A84}" presName="header" presStyleLbl="node1" presStyleIdx="1" presStyleCnt="4"/>
      <dgm:spPr/>
    </dgm:pt>
    <dgm:pt modelId="{5270E538-E3CA-497D-B7AD-E51E461C7235}" type="pres">
      <dgm:prSet presAssocID="{43E739FA-940A-404E-97C3-CCFB25A354FB}" presName="parTrans" presStyleLbl="sibTrans2D1" presStyleIdx="1" presStyleCnt="5"/>
      <dgm:spPr/>
    </dgm:pt>
    <dgm:pt modelId="{AA54581E-CB62-4712-BBD6-D7E70A1AFAF6}" type="pres">
      <dgm:prSet presAssocID="{A3EA7B6A-596D-4285-B61E-D6EA83173311}" presName="child" presStyleLbl="alignAccFollowNode1" presStyleIdx="1" presStyleCnt="5" custScaleY="285657">
        <dgm:presLayoutVars>
          <dgm:chMax val="0"/>
          <dgm:bulletEnabled val="1"/>
        </dgm:presLayoutVars>
      </dgm:prSet>
      <dgm:spPr/>
    </dgm:pt>
    <dgm:pt modelId="{D7D4BF2B-7102-4FDD-A967-EF29A1B76771}" type="pres">
      <dgm:prSet presAssocID="{98CBAB7F-7877-4749-B8A0-8A45E8D6050C}" presName="sibTrans" presStyleLbl="sibTrans2D1" presStyleIdx="2" presStyleCnt="5"/>
      <dgm:spPr/>
    </dgm:pt>
    <dgm:pt modelId="{727FBB2E-B4FB-4C45-9C70-3ACEEABCE12C}" type="pres">
      <dgm:prSet presAssocID="{35BFFA50-95CD-4E66-BF51-EFCBDC7D9D65}" presName="child" presStyleLbl="alignAccFollowNode1" presStyleIdx="2" presStyleCnt="5" custScaleY="285657">
        <dgm:presLayoutVars>
          <dgm:chMax val="0"/>
          <dgm:bulletEnabled val="1"/>
        </dgm:presLayoutVars>
      </dgm:prSet>
      <dgm:spPr/>
    </dgm:pt>
    <dgm:pt modelId="{9135BA5D-99F8-4E2E-B395-D06C8707647C}" type="pres">
      <dgm:prSet presAssocID="{14D9E070-D577-43F0-9121-B967034A3A84}" presName="hSp" presStyleCnt="0"/>
      <dgm:spPr/>
    </dgm:pt>
    <dgm:pt modelId="{8035C512-CC5C-4125-B3DE-C40669ECAFBC}" type="pres">
      <dgm:prSet presAssocID="{51E5CBE9-72C8-4C9D-961C-A08B57CA0D30}" presName="vertFlow" presStyleCnt="0"/>
      <dgm:spPr/>
    </dgm:pt>
    <dgm:pt modelId="{FFAAFBE8-2D78-4D94-86AA-9700A980B051}" type="pres">
      <dgm:prSet presAssocID="{51E5CBE9-72C8-4C9D-961C-A08B57CA0D30}" presName="header" presStyleLbl="node1" presStyleIdx="2" presStyleCnt="4"/>
      <dgm:spPr/>
    </dgm:pt>
    <dgm:pt modelId="{3A7BD9BF-E912-4A1D-8EF4-45AD43452D45}" type="pres">
      <dgm:prSet presAssocID="{3D476D33-75AD-4E53-8F0F-C3CCF57F39C4}" presName="parTrans" presStyleLbl="sibTrans2D1" presStyleIdx="3" presStyleCnt="5"/>
      <dgm:spPr/>
    </dgm:pt>
    <dgm:pt modelId="{3432F93D-0154-4661-8AE6-B40203BC6239}" type="pres">
      <dgm:prSet presAssocID="{0154F673-0B13-4636-B0E8-E75F7322E8DF}" presName="child" presStyleLbl="alignAccFollowNode1" presStyleIdx="3" presStyleCnt="5" custScaleY="198898">
        <dgm:presLayoutVars>
          <dgm:chMax val="0"/>
          <dgm:bulletEnabled val="1"/>
        </dgm:presLayoutVars>
      </dgm:prSet>
      <dgm:spPr/>
    </dgm:pt>
    <dgm:pt modelId="{34799F8A-8DB7-4422-BE65-55724655DB93}" type="pres">
      <dgm:prSet presAssocID="{51E5CBE9-72C8-4C9D-961C-A08B57CA0D30}" presName="hSp" presStyleCnt="0"/>
      <dgm:spPr/>
    </dgm:pt>
    <dgm:pt modelId="{71D1C096-1EB8-4680-8B91-693F598FBF55}" type="pres">
      <dgm:prSet presAssocID="{325A358D-07A2-4133-8F35-A2044C84F314}" presName="vertFlow" presStyleCnt="0"/>
      <dgm:spPr/>
    </dgm:pt>
    <dgm:pt modelId="{7E2D695A-2A72-427A-A771-DAAD88B69296}" type="pres">
      <dgm:prSet presAssocID="{325A358D-07A2-4133-8F35-A2044C84F314}" presName="header" presStyleLbl="node1" presStyleIdx="3" presStyleCnt="4" custScaleY="253155"/>
      <dgm:spPr/>
    </dgm:pt>
    <dgm:pt modelId="{CBDFCC0C-990C-4AF6-98C6-321EE586763B}" type="pres">
      <dgm:prSet presAssocID="{B9D8FA50-D786-40C6-9343-AFB0EE24179D}" presName="parTrans" presStyleLbl="sibTrans2D1" presStyleIdx="4" presStyleCnt="5"/>
      <dgm:spPr/>
    </dgm:pt>
    <dgm:pt modelId="{05F9500D-19EA-45A1-96BD-DC680B3B5D5D}" type="pres">
      <dgm:prSet presAssocID="{C5BBAAD1-0F5D-4A5D-AD2E-D41C3F6FB990}" presName="child" presStyleLbl="alignAccFollowNode1" presStyleIdx="4" presStyleCnt="5" custScaleY="455092">
        <dgm:presLayoutVars>
          <dgm:chMax val="0"/>
          <dgm:bulletEnabled val="1"/>
        </dgm:presLayoutVars>
      </dgm:prSet>
      <dgm:spPr/>
    </dgm:pt>
  </dgm:ptLst>
  <dgm:cxnLst>
    <dgm:cxn modelId="{BADEFE05-094B-4EE9-A1E7-FA8FF94F0C9D}" type="presOf" srcId="{3D476D33-75AD-4E53-8F0F-C3CCF57F39C4}" destId="{3A7BD9BF-E912-4A1D-8EF4-45AD43452D45}" srcOrd="0" destOrd="0" presId="urn:microsoft.com/office/officeart/2005/8/layout/lProcess1"/>
    <dgm:cxn modelId="{E94B6807-5ACD-4A3F-A895-5E5DE26B42B7}" type="presOf" srcId="{98CBAB7F-7877-4749-B8A0-8A45E8D6050C}" destId="{D7D4BF2B-7102-4FDD-A967-EF29A1B76771}" srcOrd="0" destOrd="0" presId="urn:microsoft.com/office/officeart/2005/8/layout/lProcess1"/>
    <dgm:cxn modelId="{F53D270E-FBAF-4315-8436-A750A79518D1}" type="presOf" srcId="{43E739FA-940A-404E-97C3-CCFB25A354FB}" destId="{5270E538-E3CA-497D-B7AD-E51E461C7235}" srcOrd="0" destOrd="0" presId="urn:microsoft.com/office/officeart/2005/8/layout/lProcess1"/>
    <dgm:cxn modelId="{9A27EF13-9186-4ED2-9961-EB48EF813F44}" type="presOf" srcId="{0154F673-0B13-4636-B0E8-E75F7322E8DF}" destId="{3432F93D-0154-4661-8AE6-B40203BC6239}" srcOrd="0" destOrd="0" presId="urn:microsoft.com/office/officeart/2005/8/layout/lProcess1"/>
    <dgm:cxn modelId="{7445B42C-F8DC-4050-983F-5BD8085065B5}" type="presOf" srcId="{A911E701-44BA-46C5-82DF-5D1CC9CA246D}" destId="{1AF0B4FE-E2AE-4371-B378-EC21F851B286}" srcOrd="0" destOrd="0" presId="urn:microsoft.com/office/officeart/2005/8/layout/lProcess1"/>
    <dgm:cxn modelId="{BF88BE3C-899B-4FBE-A768-DA9101C06202}" srcId="{DC36EB81-95E4-4BB5-9E45-70AEEBC6431F}" destId="{325A358D-07A2-4133-8F35-A2044C84F314}" srcOrd="3" destOrd="0" parTransId="{4D4A460C-BCB8-4202-838D-2A54C2B25275}" sibTransId="{584A782F-EDF3-4DBF-AF52-27BDC5B72736}"/>
    <dgm:cxn modelId="{FD82A83E-36C8-4906-989E-0985E3D5D867}" type="presOf" srcId="{577DC259-8B5B-4F6B-8A77-B485C7D4CAF3}" destId="{775ABA71-E8F3-4EF3-86D0-4DFB8D0AB459}" srcOrd="0" destOrd="0" presId="urn:microsoft.com/office/officeart/2005/8/layout/lProcess1"/>
    <dgm:cxn modelId="{3CCB5745-7CA5-4650-A5FC-03635E518CFE}" type="presOf" srcId="{DC36EB81-95E4-4BB5-9E45-70AEEBC6431F}" destId="{EFF9DF4F-CC1F-4199-9DFE-738BAADAA8A3}" srcOrd="0" destOrd="0" presId="urn:microsoft.com/office/officeart/2005/8/layout/lProcess1"/>
    <dgm:cxn modelId="{30107166-F015-4A40-B0C1-1D20781C0DF9}" srcId="{DC36EB81-95E4-4BB5-9E45-70AEEBC6431F}" destId="{577DC259-8B5B-4F6B-8A77-B485C7D4CAF3}" srcOrd="0" destOrd="0" parTransId="{DAC60362-BD5D-4574-B892-37A3E674AA52}" sibTransId="{FAE70B79-3E70-4AF6-8192-2BCCA0F64353}"/>
    <dgm:cxn modelId="{02C94E6F-B248-41AB-B991-FD2D56D7C49A}" type="presOf" srcId="{B9D8FA50-D786-40C6-9343-AFB0EE24179D}" destId="{CBDFCC0C-990C-4AF6-98C6-321EE586763B}" srcOrd="0" destOrd="0" presId="urn:microsoft.com/office/officeart/2005/8/layout/lProcess1"/>
    <dgm:cxn modelId="{66224B84-134E-4479-AE9C-669DF2F3CF03}" type="presOf" srcId="{BCCCE91C-30B6-4DAE-9DB9-467B40AA1D6C}" destId="{E72ED684-3058-4FF4-AFFB-CD3B061CECFB}" srcOrd="0" destOrd="0" presId="urn:microsoft.com/office/officeart/2005/8/layout/lProcess1"/>
    <dgm:cxn modelId="{2F2B3A87-7370-460B-9025-D3C1A55A9B1F}" srcId="{325A358D-07A2-4133-8F35-A2044C84F314}" destId="{C5BBAAD1-0F5D-4A5D-AD2E-D41C3F6FB990}" srcOrd="0" destOrd="0" parTransId="{B9D8FA50-D786-40C6-9343-AFB0EE24179D}" sibTransId="{B10CCC21-8B3C-4EE8-9192-94AA1A8DD3F0}"/>
    <dgm:cxn modelId="{9357BE8A-E26A-4511-A291-1052281A7815}" type="presOf" srcId="{A3EA7B6A-596D-4285-B61E-D6EA83173311}" destId="{AA54581E-CB62-4712-BBD6-D7E70A1AFAF6}" srcOrd="0" destOrd="0" presId="urn:microsoft.com/office/officeart/2005/8/layout/lProcess1"/>
    <dgm:cxn modelId="{3DBFCD99-8694-4453-9C1C-9C53F500BE6A}" srcId="{14D9E070-D577-43F0-9121-B967034A3A84}" destId="{35BFFA50-95CD-4E66-BF51-EFCBDC7D9D65}" srcOrd="1" destOrd="0" parTransId="{92084625-697C-443D-A3BC-F4EDCDD14C44}" sibTransId="{0C5ABEF9-F6DB-481E-9891-125F69D969BD}"/>
    <dgm:cxn modelId="{3656B79C-A057-41B9-9E97-0CCF97F72826}" srcId="{DC36EB81-95E4-4BB5-9E45-70AEEBC6431F}" destId="{51E5CBE9-72C8-4C9D-961C-A08B57CA0D30}" srcOrd="2" destOrd="0" parTransId="{47D6F1B9-E284-418D-946C-92E9D4BAF9CA}" sibTransId="{027D79AD-772C-4D6C-AB4C-5944F908FF98}"/>
    <dgm:cxn modelId="{54A1A2A5-A1B6-41FC-9A6A-33915FE9AD86}" type="presOf" srcId="{14D9E070-D577-43F0-9121-B967034A3A84}" destId="{79090174-B539-4881-8393-FBB08523B9BD}" srcOrd="0" destOrd="0" presId="urn:microsoft.com/office/officeart/2005/8/layout/lProcess1"/>
    <dgm:cxn modelId="{8A38D3A6-D1BF-4EEA-A8BB-DCAC8B301864}" type="presOf" srcId="{C5BBAAD1-0F5D-4A5D-AD2E-D41C3F6FB990}" destId="{05F9500D-19EA-45A1-96BD-DC680B3B5D5D}" srcOrd="0" destOrd="0" presId="urn:microsoft.com/office/officeart/2005/8/layout/lProcess1"/>
    <dgm:cxn modelId="{3FFDF7A6-88BB-4444-83A0-9025AD5AB45D}" type="presOf" srcId="{325A358D-07A2-4133-8F35-A2044C84F314}" destId="{7E2D695A-2A72-427A-A771-DAAD88B69296}" srcOrd="0" destOrd="0" presId="urn:microsoft.com/office/officeart/2005/8/layout/lProcess1"/>
    <dgm:cxn modelId="{177104B5-077D-413F-BAE1-686CABB9BA69}" type="presOf" srcId="{51E5CBE9-72C8-4C9D-961C-A08B57CA0D30}" destId="{FFAAFBE8-2D78-4D94-86AA-9700A980B051}" srcOrd="0" destOrd="0" presId="urn:microsoft.com/office/officeart/2005/8/layout/lProcess1"/>
    <dgm:cxn modelId="{432B03C0-CD79-450E-BAB2-5CDFC46D38F2}" type="presOf" srcId="{35BFFA50-95CD-4E66-BF51-EFCBDC7D9D65}" destId="{727FBB2E-B4FB-4C45-9C70-3ACEEABCE12C}" srcOrd="0" destOrd="0" presId="urn:microsoft.com/office/officeart/2005/8/layout/lProcess1"/>
    <dgm:cxn modelId="{6C6EBFD4-04F5-4971-A77F-1E328C705F1A}" srcId="{14D9E070-D577-43F0-9121-B967034A3A84}" destId="{A3EA7B6A-596D-4285-B61E-D6EA83173311}" srcOrd="0" destOrd="0" parTransId="{43E739FA-940A-404E-97C3-CCFB25A354FB}" sibTransId="{98CBAB7F-7877-4749-B8A0-8A45E8D6050C}"/>
    <dgm:cxn modelId="{2FD923D9-05C4-46C8-9E6D-7B2AF405F2B5}" srcId="{577DC259-8B5B-4F6B-8A77-B485C7D4CAF3}" destId="{BCCCE91C-30B6-4DAE-9DB9-467B40AA1D6C}" srcOrd="0" destOrd="0" parTransId="{A911E701-44BA-46C5-82DF-5D1CC9CA246D}" sibTransId="{FDD2CBEC-4898-400A-9A80-3618D0A3CA29}"/>
    <dgm:cxn modelId="{0F8FF5DC-A234-4DE9-ADDA-7ABC7CA5AA4D}" srcId="{51E5CBE9-72C8-4C9D-961C-A08B57CA0D30}" destId="{0154F673-0B13-4636-B0E8-E75F7322E8DF}" srcOrd="0" destOrd="0" parTransId="{3D476D33-75AD-4E53-8F0F-C3CCF57F39C4}" sibTransId="{47FD2705-F7A1-4878-9A67-0C43B6CCAEB3}"/>
    <dgm:cxn modelId="{CB27E4DD-033D-4ADC-9958-93F725E0397C}" srcId="{DC36EB81-95E4-4BB5-9E45-70AEEBC6431F}" destId="{14D9E070-D577-43F0-9121-B967034A3A84}" srcOrd="1" destOrd="0" parTransId="{B1F1046A-8E65-4146-B8DF-FBC0B5DAC8EB}" sibTransId="{BFDEB8DD-B9D9-45A6-B40F-A4B09E8E6145}"/>
    <dgm:cxn modelId="{F0B2F2C9-6040-44C3-8489-895C723D573E}" type="presParOf" srcId="{EFF9DF4F-CC1F-4199-9DFE-738BAADAA8A3}" destId="{4465ACC2-887C-41FA-92D6-C3E33BA52573}" srcOrd="0" destOrd="0" presId="urn:microsoft.com/office/officeart/2005/8/layout/lProcess1"/>
    <dgm:cxn modelId="{838034E8-11A7-46E1-8CEF-6FB96184F4E4}" type="presParOf" srcId="{4465ACC2-887C-41FA-92D6-C3E33BA52573}" destId="{775ABA71-E8F3-4EF3-86D0-4DFB8D0AB459}" srcOrd="0" destOrd="0" presId="urn:microsoft.com/office/officeart/2005/8/layout/lProcess1"/>
    <dgm:cxn modelId="{35B9604C-539D-44C4-B6CB-36E828CB489A}" type="presParOf" srcId="{4465ACC2-887C-41FA-92D6-C3E33BA52573}" destId="{1AF0B4FE-E2AE-4371-B378-EC21F851B286}" srcOrd="1" destOrd="0" presId="urn:microsoft.com/office/officeart/2005/8/layout/lProcess1"/>
    <dgm:cxn modelId="{7D6D4EE1-26F9-4F13-83C1-06A1C72CFD8E}" type="presParOf" srcId="{4465ACC2-887C-41FA-92D6-C3E33BA52573}" destId="{E72ED684-3058-4FF4-AFFB-CD3B061CECFB}" srcOrd="2" destOrd="0" presId="urn:microsoft.com/office/officeart/2005/8/layout/lProcess1"/>
    <dgm:cxn modelId="{F82D6463-DDE3-4F45-8F6F-EAA305CB4B15}" type="presParOf" srcId="{EFF9DF4F-CC1F-4199-9DFE-738BAADAA8A3}" destId="{33009C5C-0A08-4BAF-A03F-D2B2BEC3D88F}" srcOrd="1" destOrd="0" presId="urn:microsoft.com/office/officeart/2005/8/layout/lProcess1"/>
    <dgm:cxn modelId="{A8F713EE-9554-45EF-9EB3-4583D76DB8F1}" type="presParOf" srcId="{EFF9DF4F-CC1F-4199-9DFE-738BAADAA8A3}" destId="{A70FFCDA-9C18-4C66-87F1-B4EC017F549D}" srcOrd="2" destOrd="0" presId="urn:microsoft.com/office/officeart/2005/8/layout/lProcess1"/>
    <dgm:cxn modelId="{452CCFCB-5950-413A-AC38-F466E9A1E74F}" type="presParOf" srcId="{A70FFCDA-9C18-4C66-87F1-B4EC017F549D}" destId="{79090174-B539-4881-8393-FBB08523B9BD}" srcOrd="0" destOrd="0" presId="urn:microsoft.com/office/officeart/2005/8/layout/lProcess1"/>
    <dgm:cxn modelId="{FDCDE178-072A-47EC-A683-75C663557585}" type="presParOf" srcId="{A70FFCDA-9C18-4C66-87F1-B4EC017F549D}" destId="{5270E538-E3CA-497D-B7AD-E51E461C7235}" srcOrd="1" destOrd="0" presId="urn:microsoft.com/office/officeart/2005/8/layout/lProcess1"/>
    <dgm:cxn modelId="{35232408-8391-4D43-A7E5-A290B53CFDE5}" type="presParOf" srcId="{A70FFCDA-9C18-4C66-87F1-B4EC017F549D}" destId="{AA54581E-CB62-4712-BBD6-D7E70A1AFAF6}" srcOrd="2" destOrd="0" presId="urn:microsoft.com/office/officeart/2005/8/layout/lProcess1"/>
    <dgm:cxn modelId="{9D0CBBAF-C06E-43EF-A106-9A2EEAFA30EC}" type="presParOf" srcId="{A70FFCDA-9C18-4C66-87F1-B4EC017F549D}" destId="{D7D4BF2B-7102-4FDD-A967-EF29A1B76771}" srcOrd="3" destOrd="0" presId="urn:microsoft.com/office/officeart/2005/8/layout/lProcess1"/>
    <dgm:cxn modelId="{ACBA5A95-9F19-42A9-B011-21FB9AB1AF47}" type="presParOf" srcId="{A70FFCDA-9C18-4C66-87F1-B4EC017F549D}" destId="{727FBB2E-B4FB-4C45-9C70-3ACEEABCE12C}" srcOrd="4" destOrd="0" presId="urn:microsoft.com/office/officeart/2005/8/layout/lProcess1"/>
    <dgm:cxn modelId="{7000B52D-B39D-4596-8179-0275362E3D72}" type="presParOf" srcId="{EFF9DF4F-CC1F-4199-9DFE-738BAADAA8A3}" destId="{9135BA5D-99F8-4E2E-B395-D06C8707647C}" srcOrd="3" destOrd="0" presId="urn:microsoft.com/office/officeart/2005/8/layout/lProcess1"/>
    <dgm:cxn modelId="{5704AE4C-D5F2-4E0F-960E-C62A60B6FB3A}" type="presParOf" srcId="{EFF9DF4F-CC1F-4199-9DFE-738BAADAA8A3}" destId="{8035C512-CC5C-4125-B3DE-C40669ECAFBC}" srcOrd="4" destOrd="0" presId="urn:microsoft.com/office/officeart/2005/8/layout/lProcess1"/>
    <dgm:cxn modelId="{868CEA55-9018-4453-A972-BC4976EEE1F0}" type="presParOf" srcId="{8035C512-CC5C-4125-B3DE-C40669ECAFBC}" destId="{FFAAFBE8-2D78-4D94-86AA-9700A980B051}" srcOrd="0" destOrd="0" presId="urn:microsoft.com/office/officeart/2005/8/layout/lProcess1"/>
    <dgm:cxn modelId="{FDB91F3A-AB21-4C9F-AB0E-8F51D521F158}" type="presParOf" srcId="{8035C512-CC5C-4125-B3DE-C40669ECAFBC}" destId="{3A7BD9BF-E912-4A1D-8EF4-45AD43452D45}" srcOrd="1" destOrd="0" presId="urn:microsoft.com/office/officeart/2005/8/layout/lProcess1"/>
    <dgm:cxn modelId="{4D06EA3D-D617-4A01-A737-8A98FBFA893A}" type="presParOf" srcId="{8035C512-CC5C-4125-B3DE-C40669ECAFBC}" destId="{3432F93D-0154-4661-8AE6-B40203BC6239}" srcOrd="2" destOrd="0" presId="urn:microsoft.com/office/officeart/2005/8/layout/lProcess1"/>
    <dgm:cxn modelId="{9A6B8CD4-2379-44E6-AF7F-CFF30F6C6450}" type="presParOf" srcId="{EFF9DF4F-CC1F-4199-9DFE-738BAADAA8A3}" destId="{34799F8A-8DB7-4422-BE65-55724655DB93}" srcOrd="5" destOrd="0" presId="urn:microsoft.com/office/officeart/2005/8/layout/lProcess1"/>
    <dgm:cxn modelId="{CFCAA28A-FC3E-4CAB-857A-A97887556E22}" type="presParOf" srcId="{EFF9DF4F-CC1F-4199-9DFE-738BAADAA8A3}" destId="{71D1C096-1EB8-4680-8B91-693F598FBF55}" srcOrd="6" destOrd="0" presId="urn:microsoft.com/office/officeart/2005/8/layout/lProcess1"/>
    <dgm:cxn modelId="{8A5C9659-25A2-424D-947F-6E24F0B2E50F}" type="presParOf" srcId="{71D1C096-1EB8-4680-8B91-693F598FBF55}" destId="{7E2D695A-2A72-427A-A771-DAAD88B69296}" srcOrd="0" destOrd="0" presId="urn:microsoft.com/office/officeart/2005/8/layout/lProcess1"/>
    <dgm:cxn modelId="{FBF556C4-2880-4DC7-B58C-0F8EF30DCA29}" type="presParOf" srcId="{71D1C096-1EB8-4680-8B91-693F598FBF55}" destId="{CBDFCC0C-990C-4AF6-98C6-321EE586763B}" srcOrd="1" destOrd="0" presId="urn:microsoft.com/office/officeart/2005/8/layout/lProcess1"/>
    <dgm:cxn modelId="{C356E570-A399-40D6-8720-C8CE6D192B99}" type="presParOf" srcId="{71D1C096-1EB8-4680-8B91-693F598FBF55}" destId="{05F9500D-19EA-45A1-96BD-DC680B3B5D5D}" srcOrd="2" destOrd="0" presId="urn:microsoft.com/office/officeart/2005/8/layout/l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EEA3B5-4CC9-4B7B-8DAD-92E3261A0776}" type="doc">
      <dgm:prSet loTypeId="urn:microsoft.com/office/officeart/2005/8/layout/hierarchy2" loCatId="hierarchy" qsTypeId="urn:microsoft.com/office/officeart/2005/8/quickstyle/simple1" qsCatId="simple" csTypeId="urn:microsoft.com/office/officeart/2005/8/colors/colorful4" csCatId="colorful" phldr="1"/>
      <dgm:spPr/>
      <dgm:t>
        <a:bodyPr/>
        <a:lstStyle/>
        <a:p>
          <a:endParaRPr lang="fr-CA"/>
        </a:p>
      </dgm:t>
    </dgm:pt>
    <dgm:pt modelId="{AC834E19-3D0A-4759-B4D2-FEFBD19FDBCA}">
      <dgm:prSet phldrT="[Texte]"/>
      <dgm:spPr/>
      <dgm:t>
        <a:bodyPr/>
        <a:lstStyle/>
        <a:p>
          <a:r>
            <a:rPr lang="fr-CA"/>
            <a:t>Décision</a:t>
          </a:r>
        </a:p>
      </dgm:t>
    </dgm:pt>
    <dgm:pt modelId="{1C5FA7D7-4067-44E6-87E6-EF747B1B68F6}" type="parTrans" cxnId="{7066B813-E8B6-431D-8E53-376AD684E047}">
      <dgm:prSet/>
      <dgm:spPr/>
      <dgm:t>
        <a:bodyPr/>
        <a:lstStyle/>
        <a:p>
          <a:endParaRPr lang="fr-CA"/>
        </a:p>
      </dgm:t>
    </dgm:pt>
    <dgm:pt modelId="{39AE784C-7E0E-49BA-AC1C-1350EF494DA5}" type="sibTrans" cxnId="{7066B813-E8B6-431D-8E53-376AD684E047}">
      <dgm:prSet/>
      <dgm:spPr/>
      <dgm:t>
        <a:bodyPr/>
        <a:lstStyle/>
        <a:p>
          <a:endParaRPr lang="fr-CA"/>
        </a:p>
      </dgm:t>
    </dgm:pt>
    <dgm:pt modelId="{754D0168-153C-4C8B-9509-56406CF19EF7}">
      <dgm:prSet phldrT="[Texte]"/>
      <dgm:spPr/>
      <dgm:t>
        <a:bodyPr/>
        <a:lstStyle/>
        <a:p>
          <a:r>
            <a:rPr lang="fr-CA" u="sng"/>
            <a:t>Proposition 1 </a:t>
          </a:r>
        </a:p>
        <a:p>
          <a:r>
            <a:rPr lang="fr-CA"/>
            <a:t>Ex: Fabriquer</a:t>
          </a:r>
        </a:p>
      </dgm:t>
    </dgm:pt>
    <dgm:pt modelId="{A269E9CB-A74B-4560-8D1F-612F2013E4F6}" type="parTrans" cxnId="{99730B94-5ED4-4769-A1C0-7B77588C15B4}">
      <dgm:prSet/>
      <dgm:spPr/>
      <dgm:t>
        <a:bodyPr/>
        <a:lstStyle/>
        <a:p>
          <a:endParaRPr lang="fr-CA"/>
        </a:p>
      </dgm:t>
    </dgm:pt>
    <dgm:pt modelId="{868BDB6A-8C4F-4389-9544-F76BDD8A24DB}" type="sibTrans" cxnId="{99730B94-5ED4-4769-A1C0-7B77588C15B4}">
      <dgm:prSet/>
      <dgm:spPr/>
      <dgm:t>
        <a:bodyPr/>
        <a:lstStyle/>
        <a:p>
          <a:endParaRPr lang="fr-CA"/>
        </a:p>
      </dgm:t>
    </dgm:pt>
    <dgm:pt modelId="{13891EE1-CDD1-4D02-87A0-168A0A02258F}">
      <dgm:prSet phldrT="[Texte]"/>
      <dgm:spPr/>
      <dgm:t>
        <a:bodyPr/>
        <a:lstStyle/>
        <a:p>
          <a:r>
            <a:rPr lang="fr-CA"/>
            <a:t>Coûts</a:t>
          </a:r>
          <a:endParaRPr lang="fr-CA">
            <a:solidFill>
              <a:schemeClr val="tx1"/>
            </a:solidFill>
          </a:endParaRPr>
        </a:p>
      </dgm:t>
    </dgm:pt>
    <dgm:pt modelId="{42FE81E6-2128-49BF-BD11-8E4888229791}" type="parTrans" cxnId="{329E20B9-0A3C-458A-87A0-7FADC79E7B26}">
      <dgm:prSet/>
      <dgm:spPr/>
      <dgm:t>
        <a:bodyPr/>
        <a:lstStyle/>
        <a:p>
          <a:endParaRPr lang="fr-CA"/>
        </a:p>
      </dgm:t>
    </dgm:pt>
    <dgm:pt modelId="{9F8F8F59-E44F-4F11-B6A3-FFFBC0C61FA1}" type="sibTrans" cxnId="{329E20B9-0A3C-458A-87A0-7FADC79E7B26}">
      <dgm:prSet/>
      <dgm:spPr/>
      <dgm:t>
        <a:bodyPr/>
        <a:lstStyle/>
        <a:p>
          <a:endParaRPr lang="fr-CA"/>
        </a:p>
      </dgm:t>
    </dgm:pt>
    <dgm:pt modelId="{DD184E2B-5CBC-437C-87A9-8319EADB088E}">
      <dgm:prSet phldrT="[Texte]"/>
      <dgm:spPr>
        <a:solidFill>
          <a:schemeClr val="accent6">
            <a:lumMod val="40000"/>
            <a:lumOff val="60000"/>
          </a:schemeClr>
        </a:solidFill>
      </dgm:spPr>
      <dgm:t>
        <a:bodyPr/>
        <a:lstStyle/>
        <a:p>
          <a:r>
            <a:rPr lang="fr-CA">
              <a:solidFill>
                <a:schemeClr val="tx1"/>
              </a:solidFill>
            </a:rPr>
            <a:t>Arguments qualitatifs</a:t>
          </a:r>
        </a:p>
      </dgm:t>
    </dgm:pt>
    <dgm:pt modelId="{6B76557D-D49E-4796-9B50-890170ABCB8A}" type="parTrans" cxnId="{79DB99C1-868E-4171-ABA1-2F448168E04B}">
      <dgm:prSet/>
      <dgm:spPr/>
      <dgm:t>
        <a:bodyPr/>
        <a:lstStyle/>
        <a:p>
          <a:endParaRPr lang="fr-CA"/>
        </a:p>
      </dgm:t>
    </dgm:pt>
    <dgm:pt modelId="{4A88DA50-4CA0-49C4-BB8F-43EDCCB4C268}" type="sibTrans" cxnId="{79DB99C1-868E-4171-ABA1-2F448168E04B}">
      <dgm:prSet/>
      <dgm:spPr/>
      <dgm:t>
        <a:bodyPr/>
        <a:lstStyle/>
        <a:p>
          <a:endParaRPr lang="fr-CA"/>
        </a:p>
      </dgm:t>
    </dgm:pt>
    <dgm:pt modelId="{B45A8377-00B6-45C8-A4F8-F6E6934E12C7}">
      <dgm:prSet phldrT="[Texte]"/>
      <dgm:spPr/>
      <dgm:t>
        <a:bodyPr/>
        <a:lstStyle/>
        <a:p>
          <a:r>
            <a:rPr lang="fr-CA" u="sng"/>
            <a:t>Proposition 2</a:t>
          </a:r>
        </a:p>
        <a:p>
          <a:r>
            <a:rPr lang="fr-CA"/>
            <a:t>Exemple:</a:t>
          </a:r>
        </a:p>
        <a:p>
          <a:r>
            <a:rPr lang="fr-CA"/>
            <a:t>Acheter</a:t>
          </a:r>
        </a:p>
      </dgm:t>
    </dgm:pt>
    <dgm:pt modelId="{2B34FD49-0FD0-4541-8676-0FC6D4CD6088}" type="parTrans" cxnId="{07FC99C7-1FFD-4452-8E81-F791B94F8898}">
      <dgm:prSet/>
      <dgm:spPr/>
      <dgm:t>
        <a:bodyPr/>
        <a:lstStyle/>
        <a:p>
          <a:endParaRPr lang="fr-CA"/>
        </a:p>
      </dgm:t>
    </dgm:pt>
    <dgm:pt modelId="{83215795-8110-42DB-82AF-59C1795E69BE}" type="sibTrans" cxnId="{07FC99C7-1FFD-4452-8E81-F791B94F8898}">
      <dgm:prSet/>
      <dgm:spPr/>
      <dgm:t>
        <a:bodyPr/>
        <a:lstStyle/>
        <a:p>
          <a:endParaRPr lang="fr-CA"/>
        </a:p>
      </dgm:t>
    </dgm:pt>
    <dgm:pt modelId="{7DB501FC-505B-4D1E-9954-3C30A912069C}">
      <dgm:prSet phldrT="[Texte]"/>
      <dgm:spPr/>
      <dgm:t>
        <a:bodyPr/>
        <a:lstStyle/>
        <a:p>
          <a:r>
            <a:rPr lang="fr-CA"/>
            <a:t>Coûts </a:t>
          </a:r>
          <a:endParaRPr lang="fr-CA">
            <a:solidFill>
              <a:schemeClr val="tx1"/>
            </a:solidFill>
          </a:endParaRPr>
        </a:p>
      </dgm:t>
    </dgm:pt>
    <dgm:pt modelId="{1D74E113-64BB-49AA-A829-9BFB3D8A6B03}" type="parTrans" cxnId="{5A19248C-0AB5-45A5-845F-5DFB2FFFE11A}">
      <dgm:prSet/>
      <dgm:spPr/>
      <dgm:t>
        <a:bodyPr/>
        <a:lstStyle/>
        <a:p>
          <a:endParaRPr lang="fr-CA"/>
        </a:p>
      </dgm:t>
    </dgm:pt>
    <dgm:pt modelId="{FD41E2D4-179E-49D9-A6D0-83C09094195C}" type="sibTrans" cxnId="{5A19248C-0AB5-45A5-845F-5DFB2FFFE11A}">
      <dgm:prSet/>
      <dgm:spPr/>
      <dgm:t>
        <a:bodyPr/>
        <a:lstStyle/>
        <a:p>
          <a:endParaRPr lang="fr-CA"/>
        </a:p>
      </dgm:t>
    </dgm:pt>
    <dgm:pt modelId="{572C01BB-E5D3-4392-9980-0A8BE9E9435F}">
      <dgm:prSet/>
      <dgm:spPr>
        <a:solidFill>
          <a:schemeClr val="accent6">
            <a:lumMod val="40000"/>
            <a:lumOff val="60000"/>
          </a:schemeClr>
        </a:solidFill>
      </dgm:spPr>
      <dgm:t>
        <a:bodyPr/>
        <a:lstStyle/>
        <a:p>
          <a:r>
            <a:rPr lang="fr-CA">
              <a:solidFill>
                <a:schemeClr val="tx1"/>
              </a:solidFill>
            </a:rPr>
            <a:t>Arguments qualitatifs</a:t>
          </a:r>
        </a:p>
      </dgm:t>
    </dgm:pt>
    <dgm:pt modelId="{637FEF58-3C51-4E84-B690-BD63C1A77480}" type="parTrans" cxnId="{46D59645-87BA-4F62-8E72-2F50E9397ADF}">
      <dgm:prSet/>
      <dgm:spPr/>
      <dgm:t>
        <a:bodyPr/>
        <a:lstStyle/>
        <a:p>
          <a:endParaRPr lang="fr-CA"/>
        </a:p>
      </dgm:t>
    </dgm:pt>
    <dgm:pt modelId="{A8CE2FC0-5FF9-45A7-BBD8-EBA0D57A7987}" type="sibTrans" cxnId="{46D59645-87BA-4F62-8E72-2F50E9397ADF}">
      <dgm:prSet/>
      <dgm:spPr/>
      <dgm:t>
        <a:bodyPr/>
        <a:lstStyle/>
        <a:p>
          <a:endParaRPr lang="fr-CA"/>
        </a:p>
      </dgm:t>
    </dgm:pt>
    <dgm:pt modelId="{D0B46A9C-A59F-4519-A249-0D3BC04C7EA6}" type="pres">
      <dgm:prSet presAssocID="{63EEA3B5-4CC9-4B7B-8DAD-92E3261A0776}" presName="diagram" presStyleCnt="0">
        <dgm:presLayoutVars>
          <dgm:chPref val="1"/>
          <dgm:dir/>
          <dgm:animOne val="branch"/>
          <dgm:animLvl val="lvl"/>
          <dgm:resizeHandles val="exact"/>
        </dgm:presLayoutVars>
      </dgm:prSet>
      <dgm:spPr/>
    </dgm:pt>
    <dgm:pt modelId="{0558C367-53A4-4DA5-B5F2-46F82FC0E8A7}" type="pres">
      <dgm:prSet presAssocID="{AC834E19-3D0A-4759-B4D2-FEFBD19FDBCA}" presName="root1" presStyleCnt="0"/>
      <dgm:spPr/>
    </dgm:pt>
    <dgm:pt modelId="{17C9F793-22C4-4508-9213-4A54AA53FE08}" type="pres">
      <dgm:prSet presAssocID="{AC834E19-3D0A-4759-B4D2-FEFBD19FDBCA}" presName="LevelOneTextNode" presStyleLbl="node0" presStyleIdx="0" presStyleCnt="1">
        <dgm:presLayoutVars>
          <dgm:chPref val="3"/>
        </dgm:presLayoutVars>
      </dgm:prSet>
      <dgm:spPr/>
    </dgm:pt>
    <dgm:pt modelId="{085C6826-856D-4AE6-A857-C010459A0A94}" type="pres">
      <dgm:prSet presAssocID="{AC834E19-3D0A-4759-B4D2-FEFBD19FDBCA}" presName="level2hierChild" presStyleCnt="0"/>
      <dgm:spPr/>
    </dgm:pt>
    <dgm:pt modelId="{39A7ECF1-B076-4BF8-82F4-A508A2A60425}" type="pres">
      <dgm:prSet presAssocID="{A269E9CB-A74B-4560-8D1F-612F2013E4F6}" presName="conn2-1" presStyleLbl="parChTrans1D2" presStyleIdx="0" presStyleCnt="2"/>
      <dgm:spPr/>
    </dgm:pt>
    <dgm:pt modelId="{E7B5B5A6-FDBE-436A-9BA8-6B48F82C6A9E}" type="pres">
      <dgm:prSet presAssocID="{A269E9CB-A74B-4560-8D1F-612F2013E4F6}" presName="connTx" presStyleLbl="parChTrans1D2" presStyleIdx="0" presStyleCnt="2"/>
      <dgm:spPr/>
    </dgm:pt>
    <dgm:pt modelId="{48192F06-4F13-48E6-8708-766F037C5AC1}" type="pres">
      <dgm:prSet presAssocID="{754D0168-153C-4C8B-9509-56406CF19EF7}" presName="root2" presStyleCnt="0"/>
      <dgm:spPr/>
    </dgm:pt>
    <dgm:pt modelId="{F7E5F906-637D-44A2-B8D7-4E94B756CFA2}" type="pres">
      <dgm:prSet presAssocID="{754D0168-153C-4C8B-9509-56406CF19EF7}" presName="LevelTwoTextNode" presStyleLbl="node2" presStyleIdx="0" presStyleCnt="2" custScaleY="140573">
        <dgm:presLayoutVars>
          <dgm:chPref val="3"/>
        </dgm:presLayoutVars>
      </dgm:prSet>
      <dgm:spPr/>
    </dgm:pt>
    <dgm:pt modelId="{70FCFD26-A368-4755-B9D3-DF2DF22641BC}" type="pres">
      <dgm:prSet presAssocID="{754D0168-153C-4C8B-9509-56406CF19EF7}" presName="level3hierChild" presStyleCnt="0"/>
      <dgm:spPr/>
    </dgm:pt>
    <dgm:pt modelId="{EB2D36C5-2420-4AC7-9705-1176A26E2C5F}" type="pres">
      <dgm:prSet presAssocID="{42FE81E6-2128-49BF-BD11-8E4888229791}" presName="conn2-1" presStyleLbl="parChTrans1D3" presStyleIdx="0" presStyleCnt="4"/>
      <dgm:spPr/>
    </dgm:pt>
    <dgm:pt modelId="{E9AB4FD0-D259-4C79-BFF3-93674C997DF0}" type="pres">
      <dgm:prSet presAssocID="{42FE81E6-2128-49BF-BD11-8E4888229791}" presName="connTx" presStyleLbl="parChTrans1D3" presStyleIdx="0" presStyleCnt="4"/>
      <dgm:spPr/>
    </dgm:pt>
    <dgm:pt modelId="{53B43544-98A6-462F-98C2-D398D24E6DAE}" type="pres">
      <dgm:prSet presAssocID="{13891EE1-CDD1-4D02-87A0-168A0A02258F}" presName="root2" presStyleCnt="0"/>
      <dgm:spPr/>
    </dgm:pt>
    <dgm:pt modelId="{FF7508DC-C1AB-4A9F-B509-D8AEB4BE65A0}" type="pres">
      <dgm:prSet presAssocID="{13891EE1-CDD1-4D02-87A0-168A0A02258F}" presName="LevelTwoTextNode" presStyleLbl="node3" presStyleIdx="0" presStyleCnt="4">
        <dgm:presLayoutVars>
          <dgm:chPref val="3"/>
        </dgm:presLayoutVars>
      </dgm:prSet>
      <dgm:spPr/>
    </dgm:pt>
    <dgm:pt modelId="{7107E602-5A27-4E68-9D47-B56BFBADE015}" type="pres">
      <dgm:prSet presAssocID="{13891EE1-CDD1-4D02-87A0-168A0A02258F}" presName="level3hierChild" presStyleCnt="0"/>
      <dgm:spPr/>
    </dgm:pt>
    <dgm:pt modelId="{A8817C85-1C64-4FDC-A0E7-33CC8C97B5BB}" type="pres">
      <dgm:prSet presAssocID="{6B76557D-D49E-4796-9B50-890170ABCB8A}" presName="conn2-1" presStyleLbl="parChTrans1D3" presStyleIdx="1" presStyleCnt="4"/>
      <dgm:spPr/>
    </dgm:pt>
    <dgm:pt modelId="{14B608F3-4215-4F46-BF58-4C8F46A7BF4A}" type="pres">
      <dgm:prSet presAssocID="{6B76557D-D49E-4796-9B50-890170ABCB8A}" presName="connTx" presStyleLbl="parChTrans1D3" presStyleIdx="1" presStyleCnt="4"/>
      <dgm:spPr/>
    </dgm:pt>
    <dgm:pt modelId="{7D631285-0E15-4BDC-BA42-5C12822D49B8}" type="pres">
      <dgm:prSet presAssocID="{DD184E2B-5CBC-437C-87A9-8319EADB088E}" presName="root2" presStyleCnt="0"/>
      <dgm:spPr/>
    </dgm:pt>
    <dgm:pt modelId="{ED5BB6B7-2B99-4619-8B08-BEBA5C019575}" type="pres">
      <dgm:prSet presAssocID="{DD184E2B-5CBC-437C-87A9-8319EADB088E}" presName="LevelTwoTextNode" presStyleLbl="node3" presStyleIdx="1" presStyleCnt="4">
        <dgm:presLayoutVars>
          <dgm:chPref val="3"/>
        </dgm:presLayoutVars>
      </dgm:prSet>
      <dgm:spPr/>
    </dgm:pt>
    <dgm:pt modelId="{61111F84-0203-4E19-AB95-698E7111AAE5}" type="pres">
      <dgm:prSet presAssocID="{DD184E2B-5CBC-437C-87A9-8319EADB088E}" presName="level3hierChild" presStyleCnt="0"/>
      <dgm:spPr/>
    </dgm:pt>
    <dgm:pt modelId="{AC177249-25F0-4F61-ABC5-7E5E75C3CC36}" type="pres">
      <dgm:prSet presAssocID="{2B34FD49-0FD0-4541-8676-0FC6D4CD6088}" presName="conn2-1" presStyleLbl="parChTrans1D2" presStyleIdx="1" presStyleCnt="2"/>
      <dgm:spPr/>
    </dgm:pt>
    <dgm:pt modelId="{2D898489-E874-44CB-8476-DDA48506BE83}" type="pres">
      <dgm:prSet presAssocID="{2B34FD49-0FD0-4541-8676-0FC6D4CD6088}" presName="connTx" presStyleLbl="parChTrans1D2" presStyleIdx="1" presStyleCnt="2"/>
      <dgm:spPr/>
    </dgm:pt>
    <dgm:pt modelId="{DC4EF76C-F7FB-44E7-9FEA-B9B0E90AECCB}" type="pres">
      <dgm:prSet presAssocID="{B45A8377-00B6-45C8-A4F8-F6E6934E12C7}" presName="root2" presStyleCnt="0"/>
      <dgm:spPr/>
    </dgm:pt>
    <dgm:pt modelId="{EE05DB02-B4B3-41A2-A912-16CE57532ADD}" type="pres">
      <dgm:prSet presAssocID="{B45A8377-00B6-45C8-A4F8-F6E6934E12C7}" presName="LevelTwoTextNode" presStyleLbl="node2" presStyleIdx="1" presStyleCnt="2" custScaleY="148714">
        <dgm:presLayoutVars>
          <dgm:chPref val="3"/>
        </dgm:presLayoutVars>
      </dgm:prSet>
      <dgm:spPr/>
    </dgm:pt>
    <dgm:pt modelId="{465C41CF-C17F-4A1A-AFBB-860DEF6F6F4A}" type="pres">
      <dgm:prSet presAssocID="{B45A8377-00B6-45C8-A4F8-F6E6934E12C7}" presName="level3hierChild" presStyleCnt="0"/>
      <dgm:spPr/>
    </dgm:pt>
    <dgm:pt modelId="{C436ECC6-7942-4552-9886-F95B0A0A5AC2}" type="pres">
      <dgm:prSet presAssocID="{1D74E113-64BB-49AA-A829-9BFB3D8A6B03}" presName="conn2-1" presStyleLbl="parChTrans1D3" presStyleIdx="2" presStyleCnt="4"/>
      <dgm:spPr/>
    </dgm:pt>
    <dgm:pt modelId="{66168437-1B42-4C75-B2E6-E8A0BDE378E6}" type="pres">
      <dgm:prSet presAssocID="{1D74E113-64BB-49AA-A829-9BFB3D8A6B03}" presName="connTx" presStyleLbl="parChTrans1D3" presStyleIdx="2" presStyleCnt="4"/>
      <dgm:spPr/>
    </dgm:pt>
    <dgm:pt modelId="{951C5DD6-CB6D-4A89-94FC-A3E3E97431A7}" type="pres">
      <dgm:prSet presAssocID="{7DB501FC-505B-4D1E-9954-3C30A912069C}" presName="root2" presStyleCnt="0"/>
      <dgm:spPr/>
    </dgm:pt>
    <dgm:pt modelId="{F7005976-9D34-4860-9D65-3ADF1D22DB7F}" type="pres">
      <dgm:prSet presAssocID="{7DB501FC-505B-4D1E-9954-3C30A912069C}" presName="LevelTwoTextNode" presStyleLbl="node3" presStyleIdx="2" presStyleCnt="4">
        <dgm:presLayoutVars>
          <dgm:chPref val="3"/>
        </dgm:presLayoutVars>
      </dgm:prSet>
      <dgm:spPr/>
    </dgm:pt>
    <dgm:pt modelId="{520EB535-B085-4AC1-A165-C77CEBE503EF}" type="pres">
      <dgm:prSet presAssocID="{7DB501FC-505B-4D1E-9954-3C30A912069C}" presName="level3hierChild" presStyleCnt="0"/>
      <dgm:spPr/>
    </dgm:pt>
    <dgm:pt modelId="{A8AE42AC-D949-4135-93D7-D116D6DCDB51}" type="pres">
      <dgm:prSet presAssocID="{637FEF58-3C51-4E84-B690-BD63C1A77480}" presName="conn2-1" presStyleLbl="parChTrans1D3" presStyleIdx="3" presStyleCnt="4"/>
      <dgm:spPr/>
    </dgm:pt>
    <dgm:pt modelId="{1402D9C1-F4F2-43D0-8A23-EC9CAC057075}" type="pres">
      <dgm:prSet presAssocID="{637FEF58-3C51-4E84-B690-BD63C1A77480}" presName="connTx" presStyleLbl="parChTrans1D3" presStyleIdx="3" presStyleCnt="4"/>
      <dgm:spPr/>
    </dgm:pt>
    <dgm:pt modelId="{79351529-45CC-4E6C-A1F5-494EEAADE25E}" type="pres">
      <dgm:prSet presAssocID="{572C01BB-E5D3-4392-9980-0A8BE9E9435F}" presName="root2" presStyleCnt="0"/>
      <dgm:spPr/>
    </dgm:pt>
    <dgm:pt modelId="{D14E8C20-2B11-4830-AC9B-9F18E934ACC1}" type="pres">
      <dgm:prSet presAssocID="{572C01BB-E5D3-4392-9980-0A8BE9E9435F}" presName="LevelTwoTextNode" presStyleLbl="node3" presStyleIdx="3" presStyleCnt="4">
        <dgm:presLayoutVars>
          <dgm:chPref val="3"/>
        </dgm:presLayoutVars>
      </dgm:prSet>
      <dgm:spPr/>
    </dgm:pt>
    <dgm:pt modelId="{FB0A3684-0E46-460A-A19B-17A5E214D240}" type="pres">
      <dgm:prSet presAssocID="{572C01BB-E5D3-4392-9980-0A8BE9E9435F}" presName="level3hierChild" presStyleCnt="0"/>
      <dgm:spPr/>
    </dgm:pt>
  </dgm:ptLst>
  <dgm:cxnLst>
    <dgm:cxn modelId="{35302310-7462-4046-8518-BE195C61FD1C}" type="presOf" srcId="{572C01BB-E5D3-4392-9980-0A8BE9E9435F}" destId="{D14E8C20-2B11-4830-AC9B-9F18E934ACC1}" srcOrd="0" destOrd="0" presId="urn:microsoft.com/office/officeart/2005/8/layout/hierarchy2"/>
    <dgm:cxn modelId="{9DABB711-FA7D-4E2B-93C4-610AE0235DA6}" type="presOf" srcId="{1D74E113-64BB-49AA-A829-9BFB3D8A6B03}" destId="{C436ECC6-7942-4552-9886-F95B0A0A5AC2}" srcOrd="0" destOrd="0" presId="urn:microsoft.com/office/officeart/2005/8/layout/hierarchy2"/>
    <dgm:cxn modelId="{7066B813-E8B6-431D-8E53-376AD684E047}" srcId="{63EEA3B5-4CC9-4B7B-8DAD-92E3261A0776}" destId="{AC834E19-3D0A-4759-B4D2-FEFBD19FDBCA}" srcOrd="0" destOrd="0" parTransId="{1C5FA7D7-4067-44E6-87E6-EF747B1B68F6}" sibTransId="{39AE784C-7E0E-49BA-AC1C-1350EF494DA5}"/>
    <dgm:cxn modelId="{F7114E24-A96E-4021-AE91-781CF4786738}" type="presOf" srcId="{AC834E19-3D0A-4759-B4D2-FEFBD19FDBCA}" destId="{17C9F793-22C4-4508-9213-4A54AA53FE08}" srcOrd="0" destOrd="0" presId="urn:microsoft.com/office/officeart/2005/8/layout/hierarchy2"/>
    <dgm:cxn modelId="{73CE0E27-1CFA-4001-83EC-595109473072}" type="presOf" srcId="{13891EE1-CDD1-4D02-87A0-168A0A02258F}" destId="{FF7508DC-C1AB-4A9F-B509-D8AEB4BE65A0}" srcOrd="0" destOrd="0" presId="urn:microsoft.com/office/officeart/2005/8/layout/hierarchy2"/>
    <dgm:cxn modelId="{8B8C4928-2480-46E0-BF81-EE283A3C13AF}" type="presOf" srcId="{A269E9CB-A74B-4560-8D1F-612F2013E4F6}" destId="{39A7ECF1-B076-4BF8-82F4-A508A2A60425}" srcOrd="0" destOrd="0" presId="urn:microsoft.com/office/officeart/2005/8/layout/hierarchy2"/>
    <dgm:cxn modelId="{9EE1812C-5A4A-460A-90DF-DF71B3AFFB35}" type="presOf" srcId="{2B34FD49-0FD0-4541-8676-0FC6D4CD6088}" destId="{2D898489-E874-44CB-8476-DDA48506BE83}" srcOrd="1" destOrd="0" presId="urn:microsoft.com/office/officeart/2005/8/layout/hierarchy2"/>
    <dgm:cxn modelId="{46D59645-87BA-4F62-8E72-2F50E9397ADF}" srcId="{B45A8377-00B6-45C8-A4F8-F6E6934E12C7}" destId="{572C01BB-E5D3-4392-9980-0A8BE9E9435F}" srcOrd="1" destOrd="0" parTransId="{637FEF58-3C51-4E84-B690-BD63C1A77480}" sibTransId="{A8CE2FC0-5FF9-45A7-BBD8-EBA0D57A7987}"/>
    <dgm:cxn modelId="{95415F49-3CB4-47D9-AA5A-4E889819761D}" type="presOf" srcId="{754D0168-153C-4C8B-9509-56406CF19EF7}" destId="{F7E5F906-637D-44A2-B8D7-4E94B756CFA2}" srcOrd="0" destOrd="0" presId="urn:microsoft.com/office/officeart/2005/8/layout/hierarchy2"/>
    <dgm:cxn modelId="{17D0424D-4614-4DA6-B99B-78A2CA11D909}" type="presOf" srcId="{637FEF58-3C51-4E84-B690-BD63C1A77480}" destId="{1402D9C1-F4F2-43D0-8A23-EC9CAC057075}" srcOrd="1" destOrd="0" presId="urn:microsoft.com/office/officeart/2005/8/layout/hierarchy2"/>
    <dgm:cxn modelId="{3D0AAC53-A7D7-4912-BDE2-501E57C095C9}" type="presOf" srcId="{42FE81E6-2128-49BF-BD11-8E4888229791}" destId="{EB2D36C5-2420-4AC7-9705-1176A26E2C5F}" srcOrd="0" destOrd="0" presId="urn:microsoft.com/office/officeart/2005/8/layout/hierarchy2"/>
    <dgm:cxn modelId="{250C0B5A-172A-49E0-88D4-0D8E38BD1C0D}" type="presOf" srcId="{1D74E113-64BB-49AA-A829-9BFB3D8A6B03}" destId="{66168437-1B42-4C75-B2E6-E8A0BDE378E6}" srcOrd="1" destOrd="0" presId="urn:microsoft.com/office/officeart/2005/8/layout/hierarchy2"/>
    <dgm:cxn modelId="{050E0D82-E17E-4695-9292-C786C3124E85}" type="presOf" srcId="{637FEF58-3C51-4E84-B690-BD63C1A77480}" destId="{A8AE42AC-D949-4135-93D7-D116D6DCDB51}" srcOrd="0" destOrd="0" presId="urn:microsoft.com/office/officeart/2005/8/layout/hierarchy2"/>
    <dgm:cxn modelId="{5A19248C-0AB5-45A5-845F-5DFB2FFFE11A}" srcId="{B45A8377-00B6-45C8-A4F8-F6E6934E12C7}" destId="{7DB501FC-505B-4D1E-9954-3C30A912069C}" srcOrd="0" destOrd="0" parTransId="{1D74E113-64BB-49AA-A829-9BFB3D8A6B03}" sibTransId="{FD41E2D4-179E-49D9-A6D0-83C09094195C}"/>
    <dgm:cxn modelId="{DB0C808D-F4F5-4145-94E8-E6CBD5C483F6}" type="presOf" srcId="{7DB501FC-505B-4D1E-9954-3C30A912069C}" destId="{F7005976-9D34-4860-9D65-3ADF1D22DB7F}" srcOrd="0" destOrd="0" presId="urn:microsoft.com/office/officeart/2005/8/layout/hierarchy2"/>
    <dgm:cxn modelId="{E7213A8E-C76E-4D5C-A30E-3138217BDEC4}" type="presOf" srcId="{2B34FD49-0FD0-4541-8676-0FC6D4CD6088}" destId="{AC177249-25F0-4F61-ABC5-7E5E75C3CC36}" srcOrd="0" destOrd="0" presId="urn:microsoft.com/office/officeart/2005/8/layout/hierarchy2"/>
    <dgm:cxn modelId="{99730B94-5ED4-4769-A1C0-7B77588C15B4}" srcId="{AC834E19-3D0A-4759-B4D2-FEFBD19FDBCA}" destId="{754D0168-153C-4C8B-9509-56406CF19EF7}" srcOrd="0" destOrd="0" parTransId="{A269E9CB-A74B-4560-8D1F-612F2013E4F6}" sibTransId="{868BDB6A-8C4F-4389-9544-F76BDD8A24DB}"/>
    <dgm:cxn modelId="{43B79B9E-BC70-45F8-BAC1-7698895D7FBE}" type="presOf" srcId="{6B76557D-D49E-4796-9B50-890170ABCB8A}" destId="{A8817C85-1C64-4FDC-A0E7-33CC8C97B5BB}" srcOrd="0" destOrd="0" presId="urn:microsoft.com/office/officeart/2005/8/layout/hierarchy2"/>
    <dgm:cxn modelId="{218431AD-997F-4E36-8528-46C43C1807CD}" type="presOf" srcId="{63EEA3B5-4CC9-4B7B-8DAD-92E3261A0776}" destId="{D0B46A9C-A59F-4519-A249-0D3BC04C7EA6}" srcOrd="0" destOrd="0" presId="urn:microsoft.com/office/officeart/2005/8/layout/hierarchy2"/>
    <dgm:cxn modelId="{329E20B9-0A3C-458A-87A0-7FADC79E7B26}" srcId="{754D0168-153C-4C8B-9509-56406CF19EF7}" destId="{13891EE1-CDD1-4D02-87A0-168A0A02258F}" srcOrd="0" destOrd="0" parTransId="{42FE81E6-2128-49BF-BD11-8E4888229791}" sibTransId="{9F8F8F59-E44F-4F11-B6A3-FFFBC0C61FA1}"/>
    <dgm:cxn modelId="{9FE7DABF-DEF5-4708-A45F-25C79357EFAC}" type="presOf" srcId="{6B76557D-D49E-4796-9B50-890170ABCB8A}" destId="{14B608F3-4215-4F46-BF58-4C8F46A7BF4A}" srcOrd="1" destOrd="0" presId="urn:microsoft.com/office/officeart/2005/8/layout/hierarchy2"/>
    <dgm:cxn modelId="{79DB99C1-868E-4171-ABA1-2F448168E04B}" srcId="{754D0168-153C-4C8B-9509-56406CF19EF7}" destId="{DD184E2B-5CBC-437C-87A9-8319EADB088E}" srcOrd="1" destOrd="0" parTransId="{6B76557D-D49E-4796-9B50-890170ABCB8A}" sibTransId="{4A88DA50-4CA0-49C4-BB8F-43EDCCB4C268}"/>
    <dgm:cxn modelId="{07FC99C7-1FFD-4452-8E81-F791B94F8898}" srcId="{AC834E19-3D0A-4759-B4D2-FEFBD19FDBCA}" destId="{B45A8377-00B6-45C8-A4F8-F6E6934E12C7}" srcOrd="1" destOrd="0" parTransId="{2B34FD49-0FD0-4541-8676-0FC6D4CD6088}" sibTransId="{83215795-8110-42DB-82AF-59C1795E69BE}"/>
    <dgm:cxn modelId="{97E31CE1-7AD7-4F91-ADEE-5355F0C1EC3E}" type="presOf" srcId="{A269E9CB-A74B-4560-8D1F-612F2013E4F6}" destId="{E7B5B5A6-FDBE-436A-9BA8-6B48F82C6A9E}" srcOrd="1" destOrd="0" presId="urn:microsoft.com/office/officeart/2005/8/layout/hierarchy2"/>
    <dgm:cxn modelId="{6DD480E1-F683-4831-9D9F-D7A4E8319DF2}" type="presOf" srcId="{B45A8377-00B6-45C8-A4F8-F6E6934E12C7}" destId="{EE05DB02-B4B3-41A2-A912-16CE57532ADD}" srcOrd="0" destOrd="0" presId="urn:microsoft.com/office/officeart/2005/8/layout/hierarchy2"/>
    <dgm:cxn modelId="{1A37CCE3-25D5-4D9A-9281-EA1414F55439}" type="presOf" srcId="{42FE81E6-2128-49BF-BD11-8E4888229791}" destId="{E9AB4FD0-D259-4C79-BFF3-93674C997DF0}" srcOrd="1" destOrd="0" presId="urn:microsoft.com/office/officeart/2005/8/layout/hierarchy2"/>
    <dgm:cxn modelId="{D9679CF8-11DB-4F7E-B108-90E4D6277DB0}" type="presOf" srcId="{DD184E2B-5CBC-437C-87A9-8319EADB088E}" destId="{ED5BB6B7-2B99-4619-8B08-BEBA5C019575}" srcOrd="0" destOrd="0" presId="urn:microsoft.com/office/officeart/2005/8/layout/hierarchy2"/>
    <dgm:cxn modelId="{0E1B1BB8-6B28-484F-9A22-CCB615644F4B}" type="presParOf" srcId="{D0B46A9C-A59F-4519-A249-0D3BC04C7EA6}" destId="{0558C367-53A4-4DA5-B5F2-46F82FC0E8A7}" srcOrd="0" destOrd="0" presId="urn:microsoft.com/office/officeart/2005/8/layout/hierarchy2"/>
    <dgm:cxn modelId="{C7FFB0F6-3214-4F55-B9F4-E243353AF17F}" type="presParOf" srcId="{0558C367-53A4-4DA5-B5F2-46F82FC0E8A7}" destId="{17C9F793-22C4-4508-9213-4A54AA53FE08}" srcOrd="0" destOrd="0" presId="urn:microsoft.com/office/officeart/2005/8/layout/hierarchy2"/>
    <dgm:cxn modelId="{CDB6BFF8-2690-42BF-824A-4285FE7AB21C}" type="presParOf" srcId="{0558C367-53A4-4DA5-B5F2-46F82FC0E8A7}" destId="{085C6826-856D-4AE6-A857-C010459A0A94}" srcOrd="1" destOrd="0" presId="urn:microsoft.com/office/officeart/2005/8/layout/hierarchy2"/>
    <dgm:cxn modelId="{739E4EF3-364B-4B2F-AEEE-ED73A0324584}" type="presParOf" srcId="{085C6826-856D-4AE6-A857-C010459A0A94}" destId="{39A7ECF1-B076-4BF8-82F4-A508A2A60425}" srcOrd="0" destOrd="0" presId="urn:microsoft.com/office/officeart/2005/8/layout/hierarchy2"/>
    <dgm:cxn modelId="{F792E87C-EAAF-4069-A512-0BC75D214D56}" type="presParOf" srcId="{39A7ECF1-B076-4BF8-82F4-A508A2A60425}" destId="{E7B5B5A6-FDBE-436A-9BA8-6B48F82C6A9E}" srcOrd="0" destOrd="0" presId="urn:microsoft.com/office/officeart/2005/8/layout/hierarchy2"/>
    <dgm:cxn modelId="{0208F39E-BF37-4BF2-AA2C-BD2EB0E03CEB}" type="presParOf" srcId="{085C6826-856D-4AE6-A857-C010459A0A94}" destId="{48192F06-4F13-48E6-8708-766F037C5AC1}" srcOrd="1" destOrd="0" presId="urn:microsoft.com/office/officeart/2005/8/layout/hierarchy2"/>
    <dgm:cxn modelId="{F8A700A6-0898-4327-BC49-4C8656409F1F}" type="presParOf" srcId="{48192F06-4F13-48E6-8708-766F037C5AC1}" destId="{F7E5F906-637D-44A2-B8D7-4E94B756CFA2}" srcOrd="0" destOrd="0" presId="urn:microsoft.com/office/officeart/2005/8/layout/hierarchy2"/>
    <dgm:cxn modelId="{4347D1E7-4B6A-461A-B810-D5E98AA70F2F}" type="presParOf" srcId="{48192F06-4F13-48E6-8708-766F037C5AC1}" destId="{70FCFD26-A368-4755-B9D3-DF2DF22641BC}" srcOrd="1" destOrd="0" presId="urn:microsoft.com/office/officeart/2005/8/layout/hierarchy2"/>
    <dgm:cxn modelId="{A609B1BA-2368-401B-9F11-A7042454459B}" type="presParOf" srcId="{70FCFD26-A368-4755-B9D3-DF2DF22641BC}" destId="{EB2D36C5-2420-4AC7-9705-1176A26E2C5F}" srcOrd="0" destOrd="0" presId="urn:microsoft.com/office/officeart/2005/8/layout/hierarchy2"/>
    <dgm:cxn modelId="{B06D0EB6-10D2-415D-9C60-CC858B03F0D2}" type="presParOf" srcId="{EB2D36C5-2420-4AC7-9705-1176A26E2C5F}" destId="{E9AB4FD0-D259-4C79-BFF3-93674C997DF0}" srcOrd="0" destOrd="0" presId="urn:microsoft.com/office/officeart/2005/8/layout/hierarchy2"/>
    <dgm:cxn modelId="{EF9E8470-0175-4459-B6E6-E5CEF6C5B296}" type="presParOf" srcId="{70FCFD26-A368-4755-B9D3-DF2DF22641BC}" destId="{53B43544-98A6-462F-98C2-D398D24E6DAE}" srcOrd="1" destOrd="0" presId="urn:microsoft.com/office/officeart/2005/8/layout/hierarchy2"/>
    <dgm:cxn modelId="{D5B2CB28-6BE9-47C6-AE36-CC0E2B1C2615}" type="presParOf" srcId="{53B43544-98A6-462F-98C2-D398D24E6DAE}" destId="{FF7508DC-C1AB-4A9F-B509-D8AEB4BE65A0}" srcOrd="0" destOrd="0" presId="urn:microsoft.com/office/officeart/2005/8/layout/hierarchy2"/>
    <dgm:cxn modelId="{825FD66E-65F4-4C85-AB1A-580952CD2B8A}" type="presParOf" srcId="{53B43544-98A6-462F-98C2-D398D24E6DAE}" destId="{7107E602-5A27-4E68-9D47-B56BFBADE015}" srcOrd="1" destOrd="0" presId="urn:microsoft.com/office/officeart/2005/8/layout/hierarchy2"/>
    <dgm:cxn modelId="{50887137-3B48-421B-BC39-1510DB37E26B}" type="presParOf" srcId="{70FCFD26-A368-4755-B9D3-DF2DF22641BC}" destId="{A8817C85-1C64-4FDC-A0E7-33CC8C97B5BB}" srcOrd="2" destOrd="0" presId="urn:microsoft.com/office/officeart/2005/8/layout/hierarchy2"/>
    <dgm:cxn modelId="{B0EBBFF5-52F5-4B3D-B675-5BDF3AEB4FD7}" type="presParOf" srcId="{A8817C85-1C64-4FDC-A0E7-33CC8C97B5BB}" destId="{14B608F3-4215-4F46-BF58-4C8F46A7BF4A}" srcOrd="0" destOrd="0" presId="urn:microsoft.com/office/officeart/2005/8/layout/hierarchy2"/>
    <dgm:cxn modelId="{0791DB20-044A-4725-9A1D-CBB04D092FD1}" type="presParOf" srcId="{70FCFD26-A368-4755-B9D3-DF2DF22641BC}" destId="{7D631285-0E15-4BDC-BA42-5C12822D49B8}" srcOrd="3" destOrd="0" presId="urn:microsoft.com/office/officeart/2005/8/layout/hierarchy2"/>
    <dgm:cxn modelId="{00AB2A39-5FB6-4455-B9C9-7F09401B17E1}" type="presParOf" srcId="{7D631285-0E15-4BDC-BA42-5C12822D49B8}" destId="{ED5BB6B7-2B99-4619-8B08-BEBA5C019575}" srcOrd="0" destOrd="0" presId="urn:microsoft.com/office/officeart/2005/8/layout/hierarchy2"/>
    <dgm:cxn modelId="{C1B23CFC-BA25-407E-8B55-D354CEC4A2E3}" type="presParOf" srcId="{7D631285-0E15-4BDC-BA42-5C12822D49B8}" destId="{61111F84-0203-4E19-AB95-698E7111AAE5}" srcOrd="1" destOrd="0" presId="urn:microsoft.com/office/officeart/2005/8/layout/hierarchy2"/>
    <dgm:cxn modelId="{991633CC-5A82-426E-A7E4-61B130BCBACA}" type="presParOf" srcId="{085C6826-856D-4AE6-A857-C010459A0A94}" destId="{AC177249-25F0-4F61-ABC5-7E5E75C3CC36}" srcOrd="2" destOrd="0" presId="urn:microsoft.com/office/officeart/2005/8/layout/hierarchy2"/>
    <dgm:cxn modelId="{B4811DE6-2F09-4BB9-96A7-90B84A1BF0DC}" type="presParOf" srcId="{AC177249-25F0-4F61-ABC5-7E5E75C3CC36}" destId="{2D898489-E874-44CB-8476-DDA48506BE83}" srcOrd="0" destOrd="0" presId="urn:microsoft.com/office/officeart/2005/8/layout/hierarchy2"/>
    <dgm:cxn modelId="{3C313687-624C-4228-99C0-474C53810940}" type="presParOf" srcId="{085C6826-856D-4AE6-A857-C010459A0A94}" destId="{DC4EF76C-F7FB-44E7-9FEA-B9B0E90AECCB}" srcOrd="3" destOrd="0" presId="urn:microsoft.com/office/officeart/2005/8/layout/hierarchy2"/>
    <dgm:cxn modelId="{5C255B4B-88AC-4563-AAD3-0A6D6905B505}" type="presParOf" srcId="{DC4EF76C-F7FB-44E7-9FEA-B9B0E90AECCB}" destId="{EE05DB02-B4B3-41A2-A912-16CE57532ADD}" srcOrd="0" destOrd="0" presId="urn:microsoft.com/office/officeart/2005/8/layout/hierarchy2"/>
    <dgm:cxn modelId="{533D064C-F2BE-4AA9-AF2A-F1F7E08DB9DF}" type="presParOf" srcId="{DC4EF76C-F7FB-44E7-9FEA-B9B0E90AECCB}" destId="{465C41CF-C17F-4A1A-AFBB-860DEF6F6F4A}" srcOrd="1" destOrd="0" presId="urn:microsoft.com/office/officeart/2005/8/layout/hierarchy2"/>
    <dgm:cxn modelId="{EAD65DC3-FF08-43BD-843E-DBF641BA6FC9}" type="presParOf" srcId="{465C41CF-C17F-4A1A-AFBB-860DEF6F6F4A}" destId="{C436ECC6-7942-4552-9886-F95B0A0A5AC2}" srcOrd="0" destOrd="0" presId="urn:microsoft.com/office/officeart/2005/8/layout/hierarchy2"/>
    <dgm:cxn modelId="{57A9AF81-93FC-41EF-81E8-406EB6AA4DE9}" type="presParOf" srcId="{C436ECC6-7942-4552-9886-F95B0A0A5AC2}" destId="{66168437-1B42-4C75-B2E6-E8A0BDE378E6}" srcOrd="0" destOrd="0" presId="urn:microsoft.com/office/officeart/2005/8/layout/hierarchy2"/>
    <dgm:cxn modelId="{24A2C627-506F-455B-A7D3-F81D58914A5A}" type="presParOf" srcId="{465C41CF-C17F-4A1A-AFBB-860DEF6F6F4A}" destId="{951C5DD6-CB6D-4A89-94FC-A3E3E97431A7}" srcOrd="1" destOrd="0" presId="urn:microsoft.com/office/officeart/2005/8/layout/hierarchy2"/>
    <dgm:cxn modelId="{5768B1B1-F47D-437E-A3BA-B8F989F54D97}" type="presParOf" srcId="{951C5DD6-CB6D-4A89-94FC-A3E3E97431A7}" destId="{F7005976-9D34-4860-9D65-3ADF1D22DB7F}" srcOrd="0" destOrd="0" presId="urn:microsoft.com/office/officeart/2005/8/layout/hierarchy2"/>
    <dgm:cxn modelId="{3CB03F61-E872-40B5-A5EC-62204871BDE4}" type="presParOf" srcId="{951C5DD6-CB6D-4A89-94FC-A3E3E97431A7}" destId="{520EB535-B085-4AC1-A165-C77CEBE503EF}" srcOrd="1" destOrd="0" presId="urn:microsoft.com/office/officeart/2005/8/layout/hierarchy2"/>
    <dgm:cxn modelId="{7477C2F9-624E-4E1A-B0CB-F22218C5F0E9}" type="presParOf" srcId="{465C41CF-C17F-4A1A-AFBB-860DEF6F6F4A}" destId="{A8AE42AC-D949-4135-93D7-D116D6DCDB51}" srcOrd="2" destOrd="0" presId="urn:microsoft.com/office/officeart/2005/8/layout/hierarchy2"/>
    <dgm:cxn modelId="{4CDBF193-7A51-4AE5-93A1-E7CFD4FFA200}" type="presParOf" srcId="{A8AE42AC-D949-4135-93D7-D116D6DCDB51}" destId="{1402D9C1-F4F2-43D0-8A23-EC9CAC057075}" srcOrd="0" destOrd="0" presId="urn:microsoft.com/office/officeart/2005/8/layout/hierarchy2"/>
    <dgm:cxn modelId="{57E8F1A5-971B-4C04-A1FC-0B3199F2A306}" type="presParOf" srcId="{465C41CF-C17F-4A1A-AFBB-860DEF6F6F4A}" destId="{79351529-45CC-4E6C-A1F5-494EEAADE25E}" srcOrd="3" destOrd="0" presId="urn:microsoft.com/office/officeart/2005/8/layout/hierarchy2"/>
    <dgm:cxn modelId="{8ED5D17A-962C-4A7F-AA95-3F607CDFBE51}" type="presParOf" srcId="{79351529-45CC-4E6C-A1F5-494EEAADE25E}" destId="{D14E8C20-2B11-4830-AC9B-9F18E934ACC1}" srcOrd="0" destOrd="0" presId="urn:microsoft.com/office/officeart/2005/8/layout/hierarchy2"/>
    <dgm:cxn modelId="{38193865-A8B9-4F8B-8D8F-FDE47DA42135}" type="presParOf" srcId="{79351529-45CC-4E6C-A1F5-494EEAADE25E}" destId="{FB0A3684-0E46-460A-A19B-17A5E214D240}" srcOrd="1" destOrd="0" presId="urn:microsoft.com/office/officeart/2005/8/layout/hierarchy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5ABA71-E8F3-4EF3-86D0-4DFB8D0AB459}">
      <dsp:nvSpPr>
        <dsp:cNvPr id="0" name=""/>
        <dsp:cNvSpPr/>
      </dsp:nvSpPr>
      <dsp:spPr>
        <a:xfrm>
          <a:off x="105226" y="411"/>
          <a:ext cx="2561065" cy="1567339"/>
        </a:xfrm>
        <a:prstGeom prst="roundRect">
          <a:avLst>
            <a:gd name="adj" fmla="val 10000"/>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1" kern="1200"/>
            <a:t>MCV </a:t>
          </a:r>
        </a:p>
        <a:p>
          <a:pPr marL="0" lvl="0" indent="0" algn="ctr" defTabSz="1066800">
            <a:lnSpc>
              <a:spcPct val="90000"/>
            </a:lnSpc>
            <a:spcBef>
              <a:spcPct val="0"/>
            </a:spcBef>
            <a:spcAft>
              <a:spcPct val="35000"/>
            </a:spcAft>
            <a:buNone/>
          </a:pPr>
          <a:r>
            <a:rPr lang="fr-CA" sz="2400" b="1" kern="1200"/>
            <a:t>unitaire</a:t>
          </a:r>
        </a:p>
      </dsp:txBody>
      <dsp:txXfrm>
        <a:off x="151132" y="46317"/>
        <a:ext cx="2469253" cy="1475527"/>
      </dsp:txXfrm>
    </dsp:sp>
    <dsp:sp modelId="{1AF0B4FE-E2AE-4371-B378-EC21F851B286}">
      <dsp:nvSpPr>
        <dsp:cNvPr id="0" name=""/>
        <dsp:cNvSpPr/>
      </dsp:nvSpPr>
      <dsp:spPr>
        <a:xfrm rot="5400000">
          <a:off x="1329735" y="1623775"/>
          <a:ext cx="112046" cy="112046"/>
        </a:xfrm>
        <a:prstGeom prst="rightArrow">
          <a:avLst>
            <a:gd name="adj1" fmla="val 667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2ED684-3058-4FF4-AFFB-CD3B061CECFB}">
      <dsp:nvSpPr>
        <dsp:cNvPr id="0" name=""/>
        <dsp:cNvSpPr/>
      </dsp:nvSpPr>
      <dsp:spPr>
        <a:xfrm>
          <a:off x="105226" y="1791845"/>
          <a:ext cx="2561065" cy="1923584"/>
        </a:xfrm>
        <a:prstGeom prst="roundRect">
          <a:avLst>
            <a:gd name="adj" fmla="val 10000"/>
          </a:avLst>
        </a:prstGeom>
        <a:solidFill>
          <a:schemeClr val="lt1">
            <a:alpha val="90000"/>
            <a:tint val="40000"/>
            <a:hueOff val="0"/>
            <a:satOff val="0"/>
            <a:lumOff val="0"/>
            <a:alphaOff val="0"/>
          </a:schemeClr>
        </a:solidFill>
        <a:ln w="12700" cap="flat" cmpd="sng" algn="ctr">
          <a:solidFill>
            <a:schemeClr val="accent6">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0" kern="1200">
              <a:latin typeface="+mn-lt"/>
              <a:cs typeface="Arial" pitchFamily="34" charset="0"/>
            </a:rPr>
            <a:t>Prix de vente</a:t>
          </a:r>
        </a:p>
        <a:p>
          <a:pPr marL="0" lvl="0" indent="0" algn="ctr" defTabSz="1066800">
            <a:lnSpc>
              <a:spcPct val="90000"/>
            </a:lnSpc>
            <a:spcBef>
              <a:spcPct val="0"/>
            </a:spcBef>
            <a:spcAft>
              <a:spcPct val="35000"/>
            </a:spcAft>
            <a:buNone/>
          </a:pPr>
          <a:r>
            <a:rPr lang="fr-CA" sz="2400" b="0" kern="1200">
              <a:latin typeface="+mn-lt"/>
              <a:cs typeface="Arial" pitchFamily="34" charset="0"/>
            </a:rPr>
            <a:t>(-)</a:t>
          </a:r>
        </a:p>
        <a:p>
          <a:pPr marL="0" lvl="0" indent="0" algn="ctr" defTabSz="1066800">
            <a:lnSpc>
              <a:spcPct val="90000"/>
            </a:lnSpc>
            <a:spcBef>
              <a:spcPct val="0"/>
            </a:spcBef>
            <a:spcAft>
              <a:spcPct val="35000"/>
            </a:spcAft>
            <a:buNone/>
          </a:pPr>
          <a:r>
            <a:rPr lang="fr-CA" sz="2400" b="0" kern="1200">
              <a:latin typeface="+mn-lt"/>
              <a:cs typeface="Arial" pitchFamily="34" charset="0"/>
            </a:rPr>
            <a:t>Coûts variables unitaires</a:t>
          </a:r>
        </a:p>
      </dsp:txBody>
      <dsp:txXfrm>
        <a:off x="161566" y="1848185"/>
        <a:ext cx="2448385" cy="1810904"/>
      </dsp:txXfrm>
    </dsp:sp>
    <dsp:sp modelId="{79090174-B539-4881-8393-FBB08523B9BD}">
      <dsp:nvSpPr>
        <dsp:cNvPr id="0" name=""/>
        <dsp:cNvSpPr/>
      </dsp:nvSpPr>
      <dsp:spPr>
        <a:xfrm>
          <a:off x="3024840" y="411"/>
          <a:ext cx="2561065" cy="640266"/>
        </a:xfrm>
        <a:prstGeom prst="roundRect">
          <a:avLst>
            <a:gd name="adj" fmla="val 10000"/>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1" kern="1200"/>
            <a:t>MCV totale</a:t>
          </a:r>
        </a:p>
      </dsp:txBody>
      <dsp:txXfrm>
        <a:off x="3043593" y="19164"/>
        <a:ext cx="2523559" cy="602760"/>
      </dsp:txXfrm>
    </dsp:sp>
    <dsp:sp modelId="{5270E538-E3CA-497D-B7AD-E51E461C7235}">
      <dsp:nvSpPr>
        <dsp:cNvPr id="0" name=""/>
        <dsp:cNvSpPr/>
      </dsp:nvSpPr>
      <dsp:spPr>
        <a:xfrm rot="5400000">
          <a:off x="4249350" y="696701"/>
          <a:ext cx="112046" cy="112046"/>
        </a:xfrm>
        <a:prstGeom prst="rightArrow">
          <a:avLst>
            <a:gd name="adj1" fmla="val 667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A54581E-CB62-4712-BBD6-D7E70A1AFAF6}">
      <dsp:nvSpPr>
        <dsp:cNvPr id="0" name=""/>
        <dsp:cNvSpPr/>
      </dsp:nvSpPr>
      <dsp:spPr>
        <a:xfrm>
          <a:off x="3024840" y="864771"/>
          <a:ext cx="2561065" cy="1828965"/>
        </a:xfrm>
        <a:prstGeom prst="roundRect">
          <a:avLst>
            <a:gd name="adj" fmla="val 10000"/>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0" kern="1200"/>
            <a:t>Chiffre d’affaires</a:t>
          </a:r>
        </a:p>
        <a:p>
          <a:pPr marL="0" lvl="0" indent="0" algn="ctr" defTabSz="1066800">
            <a:lnSpc>
              <a:spcPct val="90000"/>
            </a:lnSpc>
            <a:spcBef>
              <a:spcPct val="0"/>
            </a:spcBef>
            <a:spcAft>
              <a:spcPct val="35000"/>
            </a:spcAft>
            <a:buNone/>
          </a:pPr>
          <a:r>
            <a:rPr lang="fr-CA" sz="2400" b="0" kern="1200"/>
            <a:t>(-)</a:t>
          </a:r>
        </a:p>
        <a:p>
          <a:pPr marL="0" lvl="0" indent="0" algn="ctr" defTabSz="1066800">
            <a:lnSpc>
              <a:spcPct val="90000"/>
            </a:lnSpc>
            <a:spcBef>
              <a:spcPct val="0"/>
            </a:spcBef>
            <a:spcAft>
              <a:spcPct val="35000"/>
            </a:spcAft>
            <a:buNone/>
          </a:pPr>
          <a:r>
            <a:rPr lang="fr-CA" sz="2400" b="0" kern="1200"/>
            <a:t>Coûts variables totaux</a:t>
          </a:r>
        </a:p>
      </dsp:txBody>
      <dsp:txXfrm>
        <a:off x="3078409" y="918340"/>
        <a:ext cx="2453927" cy="1721827"/>
      </dsp:txXfrm>
    </dsp:sp>
    <dsp:sp modelId="{D7D4BF2B-7102-4FDD-A967-EF29A1B76771}">
      <dsp:nvSpPr>
        <dsp:cNvPr id="0" name=""/>
        <dsp:cNvSpPr/>
      </dsp:nvSpPr>
      <dsp:spPr>
        <a:xfrm rot="5400000">
          <a:off x="4249350" y="2749760"/>
          <a:ext cx="112046" cy="112046"/>
        </a:xfrm>
        <a:prstGeom prst="rightArrow">
          <a:avLst>
            <a:gd name="adj1" fmla="val 667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27FBB2E-B4FB-4C45-9C70-3ACEEABCE12C}">
      <dsp:nvSpPr>
        <dsp:cNvPr id="0" name=""/>
        <dsp:cNvSpPr/>
      </dsp:nvSpPr>
      <dsp:spPr>
        <a:xfrm>
          <a:off x="3024840" y="2917830"/>
          <a:ext cx="2561065" cy="1828965"/>
        </a:xfrm>
        <a:prstGeom prst="roundRect">
          <a:avLst>
            <a:gd name="adj" fmla="val 10000"/>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0" kern="1200"/>
            <a:t>MCV unitaire</a:t>
          </a:r>
        </a:p>
        <a:p>
          <a:pPr marL="0" lvl="0" indent="0" algn="ctr" defTabSz="1066800">
            <a:lnSpc>
              <a:spcPct val="90000"/>
            </a:lnSpc>
            <a:spcBef>
              <a:spcPct val="0"/>
            </a:spcBef>
            <a:spcAft>
              <a:spcPct val="35000"/>
            </a:spcAft>
            <a:buNone/>
          </a:pPr>
          <a:r>
            <a:rPr lang="fr-CA" sz="2400" b="0" kern="1200"/>
            <a:t>x</a:t>
          </a:r>
        </a:p>
        <a:p>
          <a:pPr marL="0" lvl="0" indent="0" algn="ctr" defTabSz="1066800">
            <a:lnSpc>
              <a:spcPct val="90000"/>
            </a:lnSpc>
            <a:spcBef>
              <a:spcPct val="0"/>
            </a:spcBef>
            <a:spcAft>
              <a:spcPct val="35000"/>
            </a:spcAft>
            <a:buNone/>
          </a:pPr>
          <a:r>
            <a:rPr lang="fr-CA" sz="2400" b="0" kern="1200"/>
            <a:t>Nombre d’unités</a:t>
          </a:r>
        </a:p>
      </dsp:txBody>
      <dsp:txXfrm>
        <a:off x="3078409" y="2971399"/>
        <a:ext cx="2453927" cy="1721827"/>
      </dsp:txXfrm>
    </dsp:sp>
    <dsp:sp modelId="{FFAAFBE8-2D78-4D94-86AA-9700A980B051}">
      <dsp:nvSpPr>
        <dsp:cNvPr id="0" name=""/>
        <dsp:cNvSpPr/>
      </dsp:nvSpPr>
      <dsp:spPr>
        <a:xfrm>
          <a:off x="5944455" y="411"/>
          <a:ext cx="2561065" cy="640266"/>
        </a:xfrm>
        <a:prstGeom prst="roundRect">
          <a:avLst>
            <a:gd name="adj" fmla="val 10000"/>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1" kern="1200"/>
            <a:t>Marge sur coûts spécifiques</a:t>
          </a:r>
        </a:p>
      </dsp:txBody>
      <dsp:txXfrm>
        <a:off x="5963208" y="19164"/>
        <a:ext cx="2523559" cy="602760"/>
      </dsp:txXfrm>
    </dsp:sp>
    <dsp:sp modelId="{3A7BD9BF-E912-4A1D-8EF4-45AD43452D45}">
      <dsp:nvSpPr>
        <dsp:cNvPr id="0" name=""/>
        <dsp:cNvSpPr/>
      </dsp:nvSpPr>
      <dsp:spPr>
        <a:xfrm rot="5400000">
          <a:off x="7168964" y="696701"/>
          <a:ext cx="112046" cy="112046"/>
        </a:xfrm>
        <a:prstGeom prst="rightArrow">
          <a:avLst>
            <a:gd name="adj1" fmla="val 667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432F93D-0154-4661-8AE6-B40203BC6239}">
      <dsp:nvSpPr>
        <dsp:cNvPr id="0" name=""/>
        <dsp:cNvSpPr/>
      </dsp:nvSpPr>
      <dsp:spPr>
        <a:xfrm>
          <a:off x="5944455" y="864771"/>
          <a:ext cx="2561065" cy="1273476"/>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fr-CA" sz="2000" kern="1200"/>
            <a:t> MCV totale</a:t>
          </a:r>
        </a:p>
        <a:p>
          <a:pPr marL="0" lvl="0" indent="0" algn="ctr" defTabSz="889000">
            <a:lnSpc>
              <a:spcPct val="90000"/>
            </a:lnSpc>
            <a:spcBef>
              <a:spcPct val="0"/>
            </a:spcBef>
            <a:spcAft>
              <a:spcPct val="35000"/>
            </a:spcAft>
            <a:buNone/>
          </a:pPr>
          <a:r>
            <a:rPr lang="fr-CA" sz="2000" kern="1200"/>
            <a:t>(-)</a:t>
          </a:r>
        </a:p>
        <a:p>
          <a:pPr marL="0" lvl="0" indent="0" algn="ctr" defTabSz="889000">
            <a:lnSpc>
              <a:spcPct val="90000"/>
            </a:lnSpc>
            <a:spcBef>
              <a:spcPct val="0"/>
            </a:spcBef>
            <a:spcAft>
              <a:spcPct val="35000"/>
            </a:spcAft>
            <a:buNone/>
          </a:pPr>
          <a:r>
            <a:rPr lang="fr-CA" sz="2000" kern="1200"/>
            <a:t>Coûts fixes spécifiques</a:t>
          </a:r>
        </a:p>
      </dsp:txBody>
      <dsp:txXfrm>
        <a:off x="5981754" y="902070"/>
        <a:ext cx="2486467" cy="1198878"/>
      </dsp:txXfrm>
    </dsp:sp>
    <dsp:sp modelId="{7E2D695A-2A72-427A-A771-DAAD88B69296}">
      <dsp:nvSpPr>
        <dsp:cNvPr id="0" name=""/>
        <dsp:cNvSpPr/>
      </dsp:nvSpPr>
      <dsp:spPr>
        <a:xfrm>
          <a:off x="8864069" y="411"/>
          <a:ext cx="2561065" cy="1620866"/>
        </a:xfrm>
        <a:prstGeom prst="roundRect">
          <a:avLst>
            <a:gd name="adj" fmla="val 10000"/>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fr-CA" sz="2400" b="1" kern="1200"/>
            <a:t>MCV </a:t>
          </a:r>
        </a:p>
        <a:p>
          <a:pPr marL="0" lvl="0" indent="0" algn="ctr" defTabSz="1066800">
            <a:lnSpc>
              <a:spcPct val="90000"/>
            </a:lnSpc>
            <a:spcBef>
              <a:spcPct val="0"/>
            </a:spcBef>
            <a:spcAft>
              <a:spcPct val="35000"/>
            </a:spcAft>
            <a:buNone/>
          </a:pPr>
          <a:r>
            <a:rPr lang="fr-CA" sz="2400" b="1" kern="1200"/>
            <a:t>par unité d’un facteur de production</a:t>
          </a:r>
        </a:p>
      </dsp:txBody>
      <dsp:txXfrm>
        <a:off x="8911543" y="47885"/>
        <a:ext cx="2466117" cy="1525918"/>
      </dsp:txXfrm>
    </dsp:sp>
    <dsp:sp modelId="{CBDFCC0C-990C-4AF6-98C6-321EE586763B}">
      <dsp:nvSpPr>
        <dsp:cNvPr id="0" name=""/>
        <dsp:cNvSpPr/>
      </dsp:nvSpPr>
      <dsp:spPr>
        <a:xfrm rot="5400000">
          <a:off x="10088578" y="1677301"/>
          <a:ext cx="112046" cy="112046"/>
        </a:xfrm>
        <a:prstGeom prst="rightArrow">
          <a:avLst>
            <a:gd name="adj1" fmla="val 667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F9500D-19EA-45A1-96BD-DC680B3B5D5D}">
      <dsp:nvSpPr>
        <dsp:cNvPr id="0" name=""/>
        <dsp:cNvSpPr/>
      </dsp:nvSpPr>
      <dsp:spPr>
        <a:xfrm>
          <a:off x="8864069" y="1845371"/>
          <a:ext cx="2561065" cy="2913800"/>
        </a:xfrm>
        <a:prstGeom prst="roundRect">
          <a:avLst>
            <a:gd name="adj" fmla="val 10000"/>
          </a:avLst>
        </a:prstGeom>
        <a:solidFill>
          <a:schemeClr val="lt1">
            <a:alpha val="90000"/>
            <a:tint val="40000"/>
            <a:hueOff val="0"/>
            <a:satOff val="0"/>
            <a:lumOff val="0"/>
            <a:alphaOff val="0"/>
          </a:schemeClr>
        </a:solidFill>
        <a:ln w="12700" cap="flat" cmpd="sng" algn="ctr">
          <a:solidFill>
            <a:schemeClr val="accent6">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fr-CA" sz="1800" kern="1200"/>
            <a:t>MCV unitaire d’un produit</a:t>
          </a:r>
        </a:p>
        <a:p>
          <a:pPr marL="0" lvl="0" indent="0" algn="ctr" defTabSz="800100">
            <a:lnSpc>
              <a:spcPct val="90000"/>
            </a:lnSpc>
            <a:spcBef>
              <a:spcPct val="0"/>
            </a:spcBef>
            <a:spcAft>
              <a:spcPct val="35000"/>
            </a:spcAft>
            <a:buNone/>
          </a:pPr>
          <a:r>
            <a:rPr lang="fr-CA" sz="1800" kern="1200"/>
            <a:t>____________________</a:t>
          </a:r>
        </a:p>
        <a:p>
          <a:pPr marL="0" lvl="0" indent="0" algn="ctr" defTabSz="800100">
            <a:lnSpc>
              <a:spcPct val="90000"/>
            </a:lnSpc>
            <a:spcBef>
              <a:spcPct val="0"/>
            </a:spcBef>
            <a:spcAft>
              <a:spcPct val="35000"/>
            </a:spcAft>
            <a:buNone/>
          </a:pPr>
          <a:r>
            <a:rPr lang="fr-CA" sz="1800" kern="1200"/>
            <a:t>Nombre d’unités de facteur de production requises pour fabriquer le produit</a:t>
          </a:r>
        </a:p>
      </dsp:txBody>
      <dsp:txXfrm>
        <a:off x="8939080" y="1920382"/>
        <a:ext cx="2411043" cy="27637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C9F793-22C4-4508-9213-4A54AA53FE08}">
      <dsp:nvSpPr>
        <dsp:cNvPr id="0" name=""/>
        <dsp:cNvSpPr/>
      </dsp:nvSpPr>
      <dsp:spPr>
        <a:xfrm>
          <a:off x="1194" y="1860230"/>
          <a:ext cx="2059979" cy="102998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kern="1200"/>
            <a:t>Décision</a:t>
          </a:r>
        </a:p>
      </dsp:txBody>
      <dsp:txXfrm>
        <a:off x="31361" y="1890397"/>
        <a:ext cx="1999645" cy="969655"/>
      </dsp:txXfrm>
    </dsp:sp>
    <dsp:sp modelId="{39A7ECF1-B076-4BF8-82F4-A508A2A60425}">
      <dsp:nvSpPr>
        <dsp:cNvPr id="0" name=""/>
        <dsp:cNvSpPr/>
      </dsp:nvSpPr>
      <dsp:spPr>
        <a:xfrm rot="18261285">
          <a:off x="1743088" y="1752812"/>
          <a:ext cx="1460162" cy="39375"/>
        </a:xfrm>
        <a:custGeom>
          <a:avLst/>
          <a:gdLst/>
          <a:ahLst/>
          <a:cxnLst/>
          <a:rect l="0" t="0" r="0" b="0"/>
          <a:pathLst>
            <a:path>
              <a:moveTo>
                <a:pt x="0" y="19687"/>
              </a:moveTo>
              <a:lnTo>
                <a:pt x="1460162" y="196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436666" y="1735995"/>
        <a:ext cx="73008" cy="73008"/>
      </dsp:txXfrm>
    </dsp:sp>
    <dsp:sp modelId="{F7E5F906-637D-44A2-B8D7-4E94B756CFA2}">
      <dsp:nvSpPr>
        <dsp:cNvPr id="0" name=""/>
        <dsp:cNvSpPr/>
      </dsp:nvSpPr>
      <dsp:spPr>
        <a:xfrm>
          <a:off x="2885166" y="445830"/>
          <a:ext cx="2059979" cy="144788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u="sng" kern="1200"/>
            <a:t>Proposition 1 </a:t>
          </a:r>
        </a:p>
        <a:p>
          <a:pPr marL="0" lvl="0" indent="0" algn="ctr" defTabSz="1111250">
            <a:lnSpc>
              <a:spcPct val="90000"/>
            </a:lnSpc>
            <a:spcBef>
              <a:spcPct val="0"/>
            </a:spcBef>
            <a:spcAft>
              <a:spcPct val="35000"/>
            </a:spcAft>
            <a:buNone/>
          </a:pPr>
          <a:r>
            <a:rPr lang="fr-CA" sz="2500" kern="1200"/>
            <a:t>Ex: Fabriquer</a:t>
          </a:r>
        </a:p>
      </dsp:txBody>
      <dsp:txXfrm>
        <a:off x="2927573" y="488237"/>
        <a:ext cx="1975165" cy="1363073"/>
      </dsp:txXfrm>
    </dsp:sp>
    <dsp:sp modelId="{EB2D36C5-2420-4AC7-9705-1176A26E2C5F}">
      <dsp:nvSpPr>
        <dsp:cNvPr id="0" name=""/>
        <dsp:cNvSpPr/>
      </dsp:nvSpPr>
      <dsp:spPr>
        <a:xfrm rot="19457599">
          <a:off x="4849767" y="853964"/>
          <a:ext cx="1014749" cy="39375"/>
        </a:xfrm>
        <a:custGeom>
          <a:avLst/>
          <a:gdLst/>
          <a:ahLst/>
          <a:cxnLst/>
          <a:rect l="0" t="0" r="0" b="0"/>
          <a:pathLst>
            <a:path>
              <a:moveTo>
                <a:pt x="0" y="19687"/>
              </a:moveTo>
              <a:lnTo>
                <a:pt x="1014749" y="196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331773" y="848283"/>
        <a:ext cx="50737" cy="50737"/>
      </dsp:txXfrm>
    </dsp:sp>
    <dsp:sp modelId="{FF7508DC-C1AB-4A9F-B509-D8AEB4BE65A0}">
      <dsp:nvSpPr>
        <dsp:cNvPr id="0" name=""/>
        <dsp:cNvSpPr/>
      </dsp:nvSpPr>
      <dsp:spPr>
        <a:xfrm>
          <a:off x="5769137" y="62535"/>
          <a:ext cx="2059979" cy="102998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kern="1200"/>
            <a:t>Coûts</a:t>
          </a:r>
          <a:endParaRPr lang="fr-CA" sz="2500" kern="1200">
            <a:solidFill>
              <a:schemeClr val="tx1"/>
            </a:solidFill>
          </a:endParaRPr>
        </a:p>
      </dsp:txBody>
      <dsp:txXfrm>
        <a:off x="5799304" y="92702"/>
        <a:ext cx="1999645" cy="969655"/>
      </dsp:txXfrm>
    </dsp:sp>
    <dsp:sp modelId="{A8817C85-1C64-4FDC-A0E7-33CC8C97B5BB}">
      <dsp:nvSpPr>
        <dsp:cNvPr id="0" name=""/>
        <dsp:cNvSpPr/>
      </dsp:nvSpPr>
      <dsp:spPr>
        <a:xfrm rot="2142401">
          <a:off x="4849767" y="1446208"/>
          <a:ext cx="1014749" cy="39375"/>
        </a:xfrm>
        <a:custGeom>
          <a:avLst/>
          <a:gdLst/>
          <a:ahLst/>
          <a:cxnLst/>
          <a:rect l="0" t="0" r="0" b="0"/>
          <a:pathLst>
            <a:path>
              <a:moveTo>
                <a:pt x="0" y="19687"/>
              </a:moveTo>
              <a:lnTo>
                <a:pt x="1014749" y="196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331773" y="1440527"/>
        <a:ext cx="50737" cy="50737"/>
      </dsp:txXfrm>
    </dsp:sp>
    <dsp:sp modelId="{ED5BB6B7-2B99-4619-8B08-BEBA5C019575}">
      <dsp:nvSpPr>
        <dsp:cNvPr id="0" name=""/>
        <dsp:cNvSpPr/>
      </dsp:nvSpPr>
      <dsp:spPr>
        <a:xfrm>
          <a:off x="5769137" y="1247023"/>
          <a:ext cx="2059979" cy="1029989"/>
        </a:xfrm>
        <a:prstGeom prst="roundRect">
          <a:avLst>
            <a:gd name="adj" fmla="val 10000"/>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kern="1200">
              <a:solidFill>
                <a:schemeClr val="tx1"/>
              </a:solidFill>
            </a:rPr>
            <a:t>Arguments qualitatifs</a:t>
          </a:r>
        </a:p>
      </dsp:txBody>
      <dsp:txXfrm>
        <a:off x="5799304" y="1277190"/>
        <a:ext cx="1999645" cy="969655"/>
      </dsp:txXfrm>
    </dsp:sp>
    <dsp:sp modelId="{AC177249-25F0-4F61-ABC5-7E5E75C3CC36}">
      <dsp:nvSpPr>
        <dsp:cNvPr id="0" name=""/>
        <dsp:cNvSpPr/>
      </dsp:nvSpPr>
      <dsp:spPr>
        <a:xfrm rot="3281666">
          <a:off x="1760296" y="2937300"/>
          <a:ext cx="1425746" cy="39375"/>
        </a:xfrm>
        <a:custGeom>
          <a:avLst/>
          <a:gdLst/>
          <a:ahLst/>
          <a:cxnLst/>
          <a:rect l="0" t="0" r="0" b="0"/>
          <a:pathLst>
            <a:path>
              <a:moveTo>
                <a:pt x="0" y="19687"/>
              </a:moveTo>
              <a:lnTo>
                <a:pt x="1425746" y="196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437526" y="2921344"/>
        <a:ext cx="71287" cy="71287"/>
      </dsp:txXfrm>
    </dsp:sp>
    <dsp:sp modelId="{EE05DB02-B4B3-41A2-A912-16CE57532ADD}">
      <dsp:nvSpPr>
        <dsp:cNvPr id="0" name=""/>
        <dsp:cNvSpPr/>
      </dsp:nvSpPr>
      <dsp:spPr>
        <a:xfrm>
          <a:off x="2885166" y="2772881"/>
          <a:ext cx="2059979" cy="153173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u="sng" kern="1200"/>
            <a:t>Proposition 2</a:t>
          </a:r>
        </a:p>
        <a:p>
          <a:pPr marL="0" lvl="0" indent="0" algn="ctr" defTabSz="1111250">
            <a:lnSpc>
              <a:spcPct val="90000"/>
            </a:lnSpc>
            <a:spcBef>
              <a:spcPct val="0"/>
            </a:spcBef>
            <a:spcAft>
              <a:spcPct val="35000"/>
            </a:spcAft>
            <a:buNone/>
          </a:pPr>
          <a:r>
            <a:rPr lang="fr-CA" sz="2500" kern="1200"/>
            <a:t>Exemple:</a:t>
          </a:r>
        </a:p>
        <a:p>
          <a:pPr marL="0" lvl="0" indent="0" algn="ctr" defTabSz="1111250">
            <a:lnSpc>
              <a:spcPct val="90000"/>
            </a:lnSpc>
            <a:spcBef>
              <a:spcPct val="0"/>
            </a:spcBef>
            <a:spcAft>
              <a:spcPct val="35000"/>
            </a:spcAft>
            <a:buNone/>
          </a:pPr>
          <a:r>
            <a:rPr lang="fr-CA" sz="2500" kern="1200"/>
            <a:t>Acheter</a:t>
          </a:r>
        </a:p>
      </dsp:txBody>
      <dsp:txXfrm>
        <a:off x="2930029" y="2817744"/>
        <a:ext cx="1970253" cy="1442013"/>
      </dsp:txXfrm>
    </dsp:sp>
    <dsp:sp modelId="{C436ECC6-7942-4552-9886-F95B0A0A5AC2}">
      <dsp:nvSpPr>
        <dsp:cNvPr id="0" name=""/>
        <dsp:cNvSpPr/>
      </dsp:nvSpPr>
      <dsp:spPr>
        <a:xfrm rot="19457599">
          <a:off x="4849767" y="3222941"/>
          <a:ext cx="1014749" cy="39375"/>
        </a:xfrm>
        <a:custGeom>
          <a:avLst/>
          <a:gdLst/>
          <a:ahLst/>
          <a:cxnLst/>
          <a:rect l="0" t="0" r="0" b="0"/>
          <a:pathLst>
            <a:path>
              <a:moveTo>
                <a:pt x="0" y="19687"/>
              </a:moveTo>
              <a:lnTo>
                <a:pt x="1014749" y="196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331773" y="3217260"/>
        <a:ext cx="50737" cy="50737"/>
      </dsp:txXfrm>
    </dsp:sp>
    <dsp:sp modelId="{F7005976-9D34-4860-9D65-3ADF1D22DB7F}">
      <dsp:nvSpPr>
        <dsp:cNvPr id="0" name=""/>
        <dsp:cNvSpPr/>
      </dsp:nvSpPr>
      <dsp:spPr>
        <a:xfrm>
          <a:off x="5769137" y="2431511"/>
          <a:ext cx="2059979" cy="102998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kern="1200"/>
            <a:t>Coûts </a:t>
          </a:r>
          <a:endParaRPr lang="fr-CA" sz="2500" kern="1200">
            <a:solidFill>
              <a:schemeClr val="tx1"/>
            </a:solidFill>
          </a:endParaRPr>
        </a:p>
      </dsp:txBody>
      <dsp:txXfrm>
        <a:off x="5799304" y="2461678"/>
        <a:ext cx="1999645" cy="969655"/>
      </dsp:txXfrm>
    </dsp:sp>
    <dsp:sp modelId="{A8AE42AC-D949-4135-93D7-D116D6DCDB51}">
      <dsp:nvSpPr>
        <dsp:cNvPr id="0" name=""/>
        <dsp:cNvSpPr/>
      </dsp:nvSpPr>
      <dsp:spPr>
        <a:xfrm rot="2142401">
          <a:off x="4849767" y="3815185"/>
          <a:ext cx="1014749" cy="39375"/>
        </a:xfrm>
        <a:custGeom>
          <a:avLst/>
          <a:gdLst/>
          <a:ahLst/>
          <a:cxnLst/>
          <a:rect l="0" t="0" r="0" b="0"/>
          <a:pathLst>
            <a:path>
              <a:moveTo>
                <a:pt x="0" y="19687"/>
              </a:moveTo>
              <a:lnTo>
                <a:pt x="1014749" y="196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331773" y="3809504"/>
        <a:ext cx="50737" cy="50737"/>
      </dsp:txXfrm>
    </dsp:sp>
    <dsp:sp modelId="{D14E8C20-2B11-4830-AC9B-9F18E934ACC1}">
      <dsp:nvSpPr>
        <dsp:cNvPr id="0" name=""/>
        <dsp:cNvSpPr/>
      </dsp:nvSpPr>
      <dsp:spPr>
        <a:xfrm>
          <a:off x="5769137" y="3616000"/>
          <a:ext cx="2059979" cy="1029989"/>
        </a:xfrm>
        <a:prstGeom prst="roundRect">
          <a:avLst>
            <a:gd name="adj" fmla="val 10000"/>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CA" sz="2500" kern="1200">
              <a:solidFill>
                <a:schemeClr val="tx1"/>
              </a:solidFill>
            </a:rPr>
            <a:t>Arguments qualitatifs</a:t>
          </a:r>
        </a:p>
      </dsp:txBody>
      <dsp:txXfrm>
        <a:off x="5799304" y="3646167"/>
        <a:ext cx="1999645" cy="969655"/>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2"/>
            <a:ext cx="3037840" cy="466434"/>
          </a:xfrm>
          <a:prstGeom prst="rect">
            <a:avLst/>
          </a:prstGeom>
        </p:spPr>
        <p:txBody>
          <a:bodyPr vert="horz" lIns="93177" tIns="46589" rIns="93177" bIns="46589" rtlCol="0"/>
          <a:lstStyle>
            <a:lvl1pPr algn="r">
              <a:defRPr sz="1200"/>
            </a:lvl1pPr>
          </a:lstStyle>
          <a:p>
            <a:fld id="{560A3AAB-47D1-4662-A762-08EA563F584F}" type="datetimeFigureOut">
              <a:rPr lang="fr-CA" smtClean="0"/>
              <a:t>2026-01-22</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3CE8287A-0C42-4A4D-92F4-1137A5D8F5F6}" type="slidenum">
              <a:rPr lang="fr-CA" smtClean="0"/>
              <a:t>‹N°›</a:t>
            </a:fld>
            <a:endParaRPr lang="fr-CA"/>
          </a:p>
        </p:txBody>
      </p:sp>
    </p:spTree>
    <p:extLst>
      <p:ext uri="{BB962C8B-B14F-4D97-AF65-F5344CB8AC3E}">
        <p14:creationId xmlns:p14="http://schemas.microsoft.com/office/powerpoint/2010/main" val="41227490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idx="1"/>
          </p:nvPr>
        </p:nvSpPr>
        <p:spPr>
          <a:xfrm>
            <a:off x="3970938" y="2"/>
            <a:ext cx="3037840" cy="466434"/>
          </a:xfrm>
          <a:prstGeom prst="rect">
            <a:avLst/>
          </a:prstGeom>
        </p:spPr>
        <p:txBody>
          <a:bodyPr vert="horz" lIns="93177" tIns="46589" rIns="93177" bIns="46589" rtlCol="0"/>
          <a:lstStyle>
            <a:lvl1pPr algn="r">
              <a:defRPr sz="1200"/>
            </a:lvl1pPr>
          </a:lstStyle>
          <a:p>
            <a:fld id="{BF7AB90F-F7BC-4700-9960-B769A15787B7}" type="datetimeFigureOut">
              <a:rPr lang="fr-CA" smtClean="0"/>
              <a:t>2026-01-22</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fr-CA"/>
          </a:p>
        </p:txBody>
      </p:sp>
      <p:sp>
        <p:nvSpPr>
          <p:cNvPr id="5" name="Espace réservé des commentaires 4"/>
          <p:cNvSpPr>
            <a:spLocks noGrp="1"/>
          </p:cNvSpPr>
          <p:nvPr>
            <p:ph type="body" sz="quarter" idx="3"/>
          </p:nvPr>
        </p:nvSpPr>
        <p:spPr>
          <a:xfrm>
            <a:off x="701040" y="4473891"/>
            <a:ext cx="5608320" cy="3660459"/>
          </a:xfrm>
          <a:prstGeom prst="rect">
            <a:avLst/>
          </a:prstGeom>
        </p:spPr>
        <p:txBody>
          <a:bodyPr vert="horz" lIns="93177" tIns="46589" rIns="93177" bIns="46589"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8756633-E94B-447C-907F-5A907A338167}" type="slidenum">
              <a:rPr lang="fr-CA" smtClean="0"/>
              <a:t>‹N°›</a:t>
            </a:fld>
            <a:endParaRPr lang="fr-CA"/>
          </a:p>
        </p:txBody>
      </p:sp>
    </p:spTree>
    <p:extLst>
      <p:ext uri="{BB962C8B-B14F-4D97-AF65-F5344CB8AC3E}">
        <p14:creationId xmlns:p14="http://schemas.microsoft.com/office/powerpoint/2010/main" val="1970382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15D131D5-6477-4BF7-8776-36E89AAF915A}" type="slidenum">
              <a:rPr lang="fr-CA" smtClean="0">
                <a:solidFill>
                  <a:prstClr val="black"/>
                </a:solidFill>
              </a:rPr>
              <a:pPr/>
              <a:t>1</a:t>
            </a:fld>
            <a:endParaRPr lang="fr-CA">
              <a:solidFill>
                <a:prstClr val="black"/>
              </a:solidFill>
            </a:endParaRPr>
          </a:p>
        </p:txBody>
      </p:sp>
    </p:spTree>
    <p:extLst>
      <p:ext uri="{BB962C8B-B14F-4D97-AF65-F5344CB8AC3E}">
        <p14:creationId xmlns:p14="http://schemas.microsoft.com/office/powerpoint/2010/main" val="500224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F80D2-AC6C-BB51-CA4C-57D94F302BD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B709199-1BED-E1B3-C9DB-8A050711D55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35DA5E-DA5D-47F5-3214-47759B6CF016}"/>
              </a:ext>
            </a:extLst>
          </p:cNvPr>
          <p:cNvSpPr>
            <a:spLocks noGrp="1"/>
          </p:cNvSpPr>
          <p:nvPr>
            <p:ph type="body" idx="1"/>
          </p:nvPr>
        </p:nvSpPr>
        <p:spPr/>
        <p:txBody>
          <a:bodyPr/>
          <a:lstStyle/>
          <a:p>
            <a:endParaRPr lang="fr-CA" b="0" dirty="0"/>
          </a:p>
        </p:txBody>
      </p:sp>
      <p:sp>
        <p:nvSpPr>
          <p:cNvPr id="4" name="Espace réservé du numéro de diapositive 3">
            <a:extLst>
              <a:ext uri="{FF2B5EF4-FFF2-40B4-BE49-F238E27FC236}">
                <a16:creationId xmlns:a16="http://schemas.microsoft.com/office/drawing/2014/main" id="{0EFD104F-D545-701B-F586-3AEA37E84251}"/>
              </a:ext>
            </a:extLst>
          </p:cNvPr>
          <p:cNvSpPr>
            <a:spLocks noGrp="1"/>
          </p:cNvSpPr>
          <p:nvPr>
            <p:ph type="sldNum" sz="quarter" idx="5"/>
          </p:nvPr>
        </p:nvSpPr>
        <p:spPr/>
        <p:txBody>
          <a:bodyPr/>
          <a:lstStyle/>
          <a:p>
            <a:fld id="{D8756633-E94B-447C-907F-5A907A338167}" type="slidenum">
              <a:rPr lang="fr-CA" smtClean="0"/>
              <a:t>2</a:t>
            </a:fld>
            <a:endParaRPr lang="fr-CA"/>
          </a:p>
        </p:txBody>
      </p:sp>
    </p:spTree>
    <p:extLst>
      <p:ext uri="{BB962C8B-B14F-4D97-AF65-F5344CB8AC3E}">
        <p14:creationId xmlns:p14="http://schemas.microsoft.com/office/powerpoint/2010/main" val="3328697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endParaRPr lang="fr-CA" b="0"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a:t>
            </a:fld>
            <a:endParaRPr lang="fr-CA"/>
          </a:p>
        </p:txBody>
      </p:sp>
    </p:spTree>
    <p:extLst>
      <p:ext uri="{BB962C8B-B14F-4D97-AF65-F5344CB8AC3E}">
        <p14:creationId xmlns:p14="http://schemas.microsoft.com/office/powerpoint/2010/main" val="1817369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a:t>
            </a:fld>
            <a:endParaRPr lang="fr-CA"/>
          </a:p>
        </p:txBody>
      </p:sp>
    </p:spTree>
    <p:extLst>
      <p:ext uri="{BB962C8B-B14F-4D97-AF65-F5344CB8AC3E}">
        <p14:creationId xmlns:p14="http://schemas.microsoft.com/office/powerpoint/2010/main" val="2455367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48DA6A8B-D89A-46FD-832A-72A49CB14D75}" type="slidenum">
              <a:rPr lang="fr-CA" smtClean="0"/>
              <a:t>5</a:t>
            </a:fld>
            <a:endParaRPr lang="fr-CA"/>
          </a:p>
        </p:txBody>
      </p:sp>
    </p:spTree>
    <p:extLst>
      <p:ext uri="{BB962C8B-B14F-4D97-AF65-F5344CB8AC3E}">
        <p14:creationId xmlns:p14="http://schemas.microsoft.com/office/powerpoint/2010/main" val="3736567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6</a:t>
            </a:fld>
            <a:endParaRPr lang="fr-CA"/>
          </a:p>
        </p:txBody>
      </p:sp>
    </p:spTree>
    <p:extLst>
      <p:ext uri="{BB962C8B-B14F-4D97-AF65-F5344CB8AC3E}">
        <p14:creationId xmlns:p14="http://schemas.microsoft.com/office/powerpoint/2010/main" val="1815560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24239A-3258-4BA2-A3F1-607C310C6FB3}" type="slidenum">
              <a:rPr lang="fr-CA"/>
              <a:pPr/>
              <a:t>7</a:t>
            </a:fld>
            <a:endParaRPr lang="fr-CA"/>
          </a:p>
        </p:txBody>
      </p:sp>
      <p:sp>
        <p:nvSpPr>
          <p:cNvPr id="8194"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358209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8</a:t>
            </a:fld>
            <a:endParaRPr lang="fr-CA"/>
          </a:p>
        </p:txBody>
      </p:sp>
    </p:spTree>
    <p:extLst>
      <p:ext uri="{BB962C8B-B14F-4D97-AF65-F5344CB8AC3E}">
        <p14:creationId xmlns:p14="http://schemas.microsoft.com/office/powerpoint/2010/main" val="4079607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6D0F41-5D59-476F-965B-88EA19BA75D2}"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763" name="Rectangle 3"/>
          <p:cNvSpPr>
            <a:spLocks noGrp="1" noRot="1" noChangeAspect="1" noChangeArrowheads="1" noTextEdit="1"/>
          </p:cNvSpPr>
          <p:nvPr>
            <p:ph type="sldImg"/>
          </p:nvPr>
        </p:nvSpPr>
        <p:spPr>
          <a:xfrm>
            <a:off x="377825" y="715963"/>
            <a:ext cx="6278563" cy="3532187"/>
          </a:xfrm>
          <a:ln w="12700" cap="flat">
            <a:solidFill>
              <a:schemeClr val="tx1"/>
            </a:solidFill>
          </a:ln>
        </p:spPr>
      </p:sp>
      <p:sp>
        <p:nvSpPr>
          <p:cNvPr id="2" name="Espace réservé des commentaires 1"/>
          <p:cNvSpPr>
            <a:spLocks noGrp="1"/>
          </p:cNvSpPr>
          <p:nvPr>
            <p:ph type="body" sz="quarter" idx="10"/>
          </p:nvPr>
        </p:nvSpPr>
        <p:spPr/>
        <p:txBody>
          <a:bodyPr/>
          <a:lstStyle/>
          <a:p>
            <a:r>
              <a:rPr lang="fr-CA" b="0"/>
              <a:t>                                            </a:t>
            </a:r>
          </a:p>
        </p:txBody>
      </p:sp>
    </p:spTree>
    <p:extLst>
      <p:ext uri="{BB962C8B-B14F-4D97-AF65-F5344CB8AC3E}">
        <p14:creationId xmlns:p14="http://schemas.microsoft.com/office/powerpoint/2010/main" val="655746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259292"/>
          </a:xfrm>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10</a:t>
            </a:fld>
            <a:endParaRPr lang="fr-CA"/>
          </a:p>
        </p:txBody>
      </p:sp>
    </p:spTree>
    <p:extLst>
      <p:ext uri="{BB962C8B-B14F-4D97-AF65-F5344CB8AC3E}">
        <p14:creationId xmlns:p14="http://schemas.microsoft.com/office/powerpoint/2010/main" val="2734205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11</a:t>
            </a:fld>
            <a:endParaRPr lang="fr-CA"/>
          </a:p>
        </p:txBody>
      </p:sp>
    </p:spTree>
    <p:extLst>
      <p:ext uri="{BB962C8B-B14F-4D97-AF65-F5344CB8AC3E}">
        <p14:creationId xmlns:p14="http://schemas.microsoft.com/office/powerpoint/2010/main" val="4134995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12</a:t>
            </a:fld>
            <a:endParaRPr lang="fr-CA"/>
          </a:p>
        </p:txBody>
      </p:sp>
    </p:spTree>
    <p:extLst>
      <p:ext uri="{BB962C8B-B14F-4D97-AF65-F5344CB8AC3E}">
        <p14:creationId xmlns:p14="http://schemas.microsoft.com/office/powerpoint/2010/main" val="1524417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70870A11-ED4F-46C5-B7EE-5AD4C7A3CD48}" type="slidenum">
              <a:rPr lang="fr-CA" smtClean="0"/>
              <a:pPr>
                <a:defRPr/>
              </a:pPr>
              <a:t>13</a:t>
            </a:fld>
            <a:endParaRPr lang="fr-CA"/>
          </a:p>
        </p:txBody>
      </p:sp>
      <p:sp>
        <p:nvSpPr>
          <p:cNvPr id="5" name="Espace réservé des commentaires 4"/>
          <p:cNvSpPr>
            <a:spLocks noGrp="1"/>
          </p:cNvSpPr>
          <p:nvPr>
            <p:ph type="body" sz="quarter" idx="11"/>
          </p:nvPr>
        </p:nvSpPr>
        <p:spPr/>
        <p:txBody>
          <a:bodyPr/>
          <a:lstStyle/>
          <a:p>
            <a:endParaRPr lang="fr-CA" b="1"/>
          </a:p>
        </p:txBody>
      </p:sp>
    </p:spTree>
    <p:extLst>
      <p:ext uri="{BB962C8B-B14F-4D97-AF65-F5344CB8AC3E}">
        <p14:creationId xmlns:p14="http://schemas.microsoft.com/office/powerpoint/2010/main" val="3104500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14</a:t>
            </a:fld>
            <a:endParaRPr lang="fr-CA"/>
          </a:p>
        </p:txBody>
      </p:sp>
    </p:spTree>
    <p:extLst>
      <p:ext uri="{BB962C8B-B14F-4D97-AF65-F5344CB8AC3E}">
        <p14:creationId xmlns:p14="http://schemas.microsoft.com/office/powerpoint/2010/main" val="1823188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b="1"/>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15</a:t>
            </a:fld>
            <a:endParaRPr lang="fr-CA"/>
          </a:p>
        </p:txBody>
      </p:sp>
    </p:spTree>
    <p:extLst>
      <p:ext uri="{BB962C8B-B14F-4D97-AF65-F5344CB8AC3E}">
        <p14:creationId xmlns:p14="http://schemas.microsoft.com/office/powerpoint/2010/main" val="4101521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b="1"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16</a:t>
            </a:fld>
            <a:endParaRPr lang="fr-CA"/>
          </a:p>
        </p:txBody>
      </p:sp>
    </p:spTree>
    <p:extLst>
      <p:ext uri="{BB962C8B-B14F-4D97-AF65-F5344CB8AC3E}">
        <p14:creationId xmlns:p14="http://schemas.microsoft.com/office/powerpoint/2010/main" val="23159523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cs typeface="Calibri"/>
            </a:endParaRPr>
          </a:p>
        </p:txBody>
      </p:sp>
      <p:sp>
        <p:nvSpPr>
          <p:cNvPr id="4" name="Slide Number Placeholder 3"/>
          <p:cNvSpPr>
            <a:spLocks noGrp="1"/>
          </p:cNvSpPr>
          <p:nvPr>
            <p:ph type="sldNum" sz="quarter" idx="5"/>
          </p:nvPr>
        </p:nvSpPr>
        <p:spPr/>
        <p:txBody>
          <a:bodyPr/>
          <a:lstStyle/>
          <a:p>
            <a:fld id="{D8756633-E94B-447C-907F-5A907A338167}" type="slidenum">
              <a:rPr lang="fr-CA" smtClean="0"/>
              <a:t>17</a:t>
            </a:fld>
            <a:endParaRPr lang="fr-CA"/>
          </a:p>
        </p:txBody>
      </p:sp>
    </p:spTree>
    <p:extLst>
      <p:ext uri="{BB962C8B-B14F-4D97-AF65-F5344CB8AC3E}">
        <p14:creationId xmlns:p14="http://schemas.microsoft.com/office/powerpoint/2010/main" val="1778469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b="1"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18</a:t>
            </a:fld>
            <a:endParaRPr lang="fr-CA"/>
          </a:p>
        </p:txBody>
      </p:sp>
    </p:spTree>
    <p:extLst>
      <p:ext uri="{BB962C8B-B14F-4D97-AF65-F5344CB8AC3E}">
        <p14:creationId xmlns:p14="http://schemas.microsoft.com/office/powerpoint/2010/main" val="28384861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70870A11-ED4F-46C5-B7EE-5AD4C7A3CD48}" type="slidenum">
              <a:rPr lang="fr-CA" smtClean="0"/>
              <a:pPr>
                <a:defRPr/>
              </a:pPr>
              <a:t>19</a:t>
            </a:fld>
            <a:endParaRPr lang="fr-CA"/>
          </a:p>
        </p:txBody>
      </p:sp>
      <p:sp>
        <p:nvSpPr>
          <p:cNvPr id="5" name="Espace réservé des commentaires 4"/>
          <p:cNvSpPr>
            <a:spLocks noGrp="1"/>
          </p:cNvSpPr>
          <p:nvPr>
            <p:ph type="body" sz="quarter" idx="11"/>
          </p:nvPr>
        </p:nvSpPr>
        <p:spPr/>
        <p:txBody>
          <a:bodyPr/>
          <a:lstStyle/>
          <a:p>
            <a:endParaRPr lang="fr-CA"/>
          </a:p>
        </p:txBody>
      </p:sp>
    </p:spTree>
    <p:extLst>
      <p:ext uri="{BB962C8B-B14F-4D97-AF65-F5344CB8AC3E}">
        <p14:creationId xmlns:p14="http://schemas.microsoft.com/office/powerpoint/2010/main" val="17661451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20</a:t>
            </a:fld>
            <a:endParaRPr lang="fr-CA"/>
          </a:p>
        </p:txBody>
      </p:sp>
    </p:spTree>
    <p:extLst>
      <p:ext uri="{BB962C8B-B14F-4D97-AF65-F5344CB8AC3E}">
        <p14:creationId xmlns:p14="http://schemas.microsoft.com/office/powerpoint/2010/main" val="1286874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356076"/>
          </a:xfrm>
        </p:spPr>
        <p:txBody>
          <a:bodyPr/>
          <a:lstStyle/>
          <a:p>
            <a:endParaRPr lang="fr-CA" b="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21</a:t>
            </a:fld>
            <a:endParaRPr lang="fr-CA"/>
          </a:p>
        </p:txBody>
      </p:sp>
    </p:spTree>
    <p:extLst>
      <p:ext uri="{BB962C8B-B14F-4D97-AF65-F5344CB8AC3E}">
        <p14:creationId xmlns:p14="http://schemas.microsoft.com/office/powerpoint/2010/main" val="11511449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22</a:t>
            </a:fld>
            <a:endParaRPr lang="fr-CA"/>
          </a:p>
        </p:txBody>
      </p:sp>
    </p:spTree>
    <p:extLst>
      <p:ext uri="{BB962C8B-B14F-4D97-AF65-F5344CB8AC3E}">
        <p14:creationId xmlns:p14="http://schemas.microsoft.com/office/powerpoint/2010/main" val="6124581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356076"/>
          </a:xfrm>
        </p:spPr>
        <p:txBody>
          <a:bodyPr/>
          <a:lstStyle/>
          <a:p>
            <a:endParaRPr lang="fr-CA" b="0"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23</a:t>
            </a:fld>
            <a:endParaRPr lang="fr-CA"/>
          </a:p>
        </p:txBody>
      </p:sp>
    </p:spTree>
    <p:extLst>
      <p:ext uri="{BB962C8B-B14F-4D97-AF65-F5344CB8AC3E}">
        <p14:creationId xmlns:p14="http://schemas.microsoft.com/office/powerpoint/2010/main" val="17422957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1EB58-5CD6-86BA-7E45-6EAB10E24C7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01A0396-D3BB-9C38-AB32-DA75FADEEA6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523163F-7E66-9F29-2B2A-994139AD9B03}"/>
              </a:ext>
            </a:extLst>
          </p:cNvPr>
          <p:cNvSpPr>
            <a:spLocks noGrp="1"/>
          </p:cNvSpPr>
          <p:nvPr>
            <p:ph type="body" idx="1"/>
          </p:nvPr>
        </p:nvSpPr>
        <p:spPr>
          <a:xfrm>
            <a:off x="701040" y="4473891"/>
            <a:ext cx="5608320" cy="435607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b="0" dirty="0"/>
              <a:t> </a:t>
            </a:r>
            <a:endParaRPr lang="fr-CA" b="0" dirty="0">
              <a:cs typeface="Calibri"/>
            </a:endParaRPr>
          </a:p>
          <a:p>
            <a:endParaRPr lang="fr-CA" b="0" dirty="0"/>
          </a:p>
        </p:txBody>
      </p:sp>
      <p:sp>
        <p:nvSpPr>
          <p:cNvPr id="4" name="Espace réservé du numéro de diapositive 3">
            <a:extLst>
              <a:ext uri="{FF2B5EF4-FFF2-40B4-BE49-F238E27FC236}">
                <a16:creationId xmlns:a16="http://schemas.microsoft.com/office/drawing/2014/main" id="{3B8351D4-AE03-F863-3AF2-7DAC4585E9D1}"/>
              </a:ext>
            </a:extLst>
          </p:cNvPr>
          <p:cNvSpPr>
            <a:spLocks noGrp="1"/>
          </p:cNvSpPr>
          <p:nvPr>
            <p:ph type="sldNum" sz="quarter" idx="5"/>
          </p:nvPr>
        </p:nvSpPr>
        <p:spPr/>
        <p:txBody>
          <a:bodyPr/>
          <a:lstStyle/>
          <a:p>
            <a:fld id="{D8756633-E94B-447C-907F-5A907A338167}" type="slidenum">
              <a:rPr lang="fr-CA" smtClean="0"/>
              <a:t>24</a:t>
            </a:fld>
            <a:endParaRPr lang="fr-CA"/>
          </a:p>
        </p:txBody>
      </p:sp>
    </p:spTree>
    <p:extLst>
      <p:ext uri="{BB962C8B-B14F-4D97-AF65-F5344CB8AC3E}">
        <p14:creationId xmlns:p14="http://schemas.microsoft.com/office/powerpoint/2010/main" val="25398505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A11E9-1756-7292-EFB5-470277E338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909856-77E3-64C1-F54A-CD1FB0198E1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B339F33-155C-224F-8F1B-2E745F136C18}"/>
              </a:ext>
            </a:extLst>
          </p:cNvPr>
          <p:cNvSpPr>
            <a:spLocks noGrp="1"/>
          </p:cNvSpPr>
          <p:nvPr>
            <p:ph type="body" idx="1"/>
          </p:nvPr>
        </p:nvSpPr>
        <p:spPr>
          <a:xfrm>
            <a:off x="701040" y="4473891"/>
            <a:ext cx="5608320" cy="4356076"/>
          </a:xfrm>
        </p:spPr>
        <p:txBody>
          <a:bodyPr/>
          <a:lstStyle/>
          <a:p>
            <a:endParaRPr lang="fr-CA" b="0" dirty="0"/>
          </a:p>
        </p:txBody>
      </p:sp>
      <p:sp>
        <p:nvSpPr>
          <p:cNvPr id="4" name="Espace réservé du numéro de diapositive 3">
            <a:extLst>
              <a:ext uri="{FF2B5EF4-FFF2-40B4-BE49-F238E27FC236}">
                <a16:creationId xmlns:a16="http://schemas.microsoft.com/office/drawing/2014/main" id="{A15FB021-708B-2F0E-3507-D79024883A9A}"/>
              </a:ext>
            </a:extLst>
          </p:cNvPr>
          <p:cNvSpPr>
            <a:spLocks noGrp="1"/>
          </p:cNvSpPr>
          <p:nvPr>
            <p:ph type="sldNum" sz="quarter" idx="5"/>
          </p:nvPr>
        </p:nvSpPr>
        <p:spPr/>
        <p:txBody>
          <a:bodyPr/>
          <a:lstStyle/>
          <a:p>
            <a:fld id="{D8756633-E94B-447C-907F-5A907A338167}" type="slidenum">
              <a:rPr lang="fr-CA" smtClean="0"/>
              <a:t>25</a:t>
            </a:fld>
            <a:endParaRPr lang="fr-CA"/>
          </a:p>
        </p:txBody>
      </p:sp>
    </p:spTree>
    <p:extLst>
      <p:ext uri="{BB962C8B-B14F-4D97-AF65-F5344CB8AC3E}">
        <p14:creationId xmlns:p14="http://schemas.microsoft.com/office/powerpoint/2010/main" val="18058101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70870A11-ED4F-46C5-B7EE-5AD4C7A3CD48}" type="slidenum">
              <a:rPr lang="fr-CA" smtClean="0"/>
              <a:pPr>
                <a:defRPr/>
              </a:pPr>
              <a:t>26</a:t>
            </a:fld>
            <a:endParaRPr lang="fr-CA"/>
          </a:p>
        </p:txBody>
      </p:sp>
      <p:sp>
        <p:nvSpPr>
          <p:cNvPr id="5" name="Espace réservé des commentaires 4"/>
          <p:cNvSpPr>
            <a:spLocks noGrp="1"/>
          </p:cNvSpPr>
          <p:nvPr>
            <p:ph type="body" sz="quarter" idx="11"/>
          </p:nvPr>
        </p:nvSpPr>
        <p:spPr/>
        <p:txBody>
          <a:bodyPr/>
          <a:lstStyle/>
          <a:p>
            <a:endParaRPr lang="fr-CA"/>
          </a:p>
        </p:txBody>
      </p:sp>
    </p:spTree>
    <p:extLst>
      <p:ext uri="{BB962C8B-B14F-4D97-AF65-F5344CB8AC3E}">
        <p14:creationId xmlns:p14="http://schemas.microsoft.com/office/powerpoint/2010/main" val="2916051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073EB0-869C-45A3-AA57-42E998557050}" type="slidenum">
              <a:rPr lang="fr-CA"/>
              <a:pPr/>
              <a:t>27</a:t>
            </a:fld>
            <a:endParaRPr lang="fr-CA"/>
          </a:p>
        </p:txBody>
      </p:sp>
      <p:sp>
        <p:nvSpPr>
          <p:cNvPr id="31746"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7414090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17A510-4D0A-402E-AFF1-95E0EBFA2200}" type="slidenum">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14"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8117296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3660459"/>
          </a:xfrm>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29</a:t>
            </a:fld>
            <a:endParaRPr lang="fr-CA"/>
          </a:p>
        </p:txBody>
      </p:sp>
    </p:spTree>
    <p:extLst>
      <p:ext uri="{BB962C8B-B14F-4D97-AF65-F5344CB8AC3E}">
        <p14:creationId xmlns:p14="http://schemas.microsoft.com/office/powerpoint/2010/main" val="19238979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1794-A1BC-7F5E-B651-317FA82182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AA54559-4C2B-84F8-72C5-32A51F091EC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B7B5413-AA0C-774B-46D3-17D7F4FDEBB4}"/>
              </a:ext>
            </a:extLst>
          </p:cNvPr>
          <p:cNvSpPr>
            <a:spLocks noGrp="1"/>
          </p:cNvSpPr>
          <p:nvPr>
            <p:ph type="body" idx="1"/>
          </p:nvPr>
        </p:nvSpPr>
        <p:spPr/>
        <p:txBody>
          <a:bodyPr/>
          <a:lstStyle/>
          <a:p>
            <a:endParaRPr lang="fr-CA" b="1" dirty="0"/>
          </a:p>
          <a:p>
            <a:endParaRPr lang="fr-CA" dirty="0"/>
          </a:p>
          <a:p>
            <a:endParaRPr lang="fr-CA" dirty="0"/>
          </a:p>
        </p:txBody>
      </p:sp>
      <p:sp>
        <p:nvSpPr>
          <p:cNvPr id="4" name="Espace réservé du numéro de diapositive 3">
            <a:extLst>
              <a:ext uri="{FF2B5EF4-FFF2-40B4-BE49-F238E27FC236}">
                <a16:creationId xmlns:a16="http://schemas.microsoft.com/office/drawing/2014/main" id="{8B875EFB-3588-857A-4274-88B38DC1554E}"/>
              </a:ext>
            </a:extLst>
          </p:cNvPr>
          <p:cNvSpPr>
            <a:spLocks noGrp="1"/>
          </p:cNvSpPr>
          <p:nvPr>
            <p:ph type="sldNum" sz="quarter" idx="5"/>
          </p:nvPr>
        </p:nvSpPr>
        <p:spPr/>
        <p:txBody>
          <a:bodyPr/>
          <a:lstStyle/>
          <a:p>
            <a:fld id="{D8756633-E94B-447C-907F-5A907A338167}" type="slidenum">
              <a:rPr lang="fr-CA" smtClean="0"/>
              <a:t>30</a:t>
            </a:fld>
            <a:endParaRPr lang="fr-CA"/>
          </a:p>
        </p:txBody>
      </p:sp>
    </p:spTree>
    <p:extLst>
      <p:ext uri="{BB962C8B-B14F-4D97-AF65-F5344CB8AC3E}">
        <p14:creationId xmlns:p14="http://schemas.microsoft.com/office/powerpoint/2010/main" val="20907215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b="1" dirty="0"/>
          </a:p>
          <a:p>
            <a:endParaRPr lang="fr-CA" dirty="0"/>
          </a:p>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31</a:t>
            </a:fld>
            <a:endParaRPr lang="fr-CA"/>
          </a:p>
        </p:txBody>
      </p:sp>
    </p:spTree>
    <p:extLst>
      <p:ext uri="{BB962C8B-B14F-4D97-AF65-F5344CB8AC3E}">
        <p14:creationId xmlns:p14="http://schemas.microsoft.com/office/powerpoint/2010/main" val="3365309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32</a:t>
            </a:fld>
            <a:endParaRPr lang="fr-CA"/>
          </a:p>
        </p:txBody>
      </p:sp>
    </p:spTree>
    <p:extLst>
      <p:ext uri="{BB962C8B-B14F-4D97-AF65-F5344CB8AC3E}">
        <p14:creationId xmlns:p14="http://schemas.microsoft.com/office/powerpoint/2010/main" val="7392554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33</a:t>
            </a:fld>
            <a:endParaRPr lang="fr-CA"/>
          </a:p>
        </p:txBody>
      </p:sp>
    </p:spTree>
    <p:extLst>
      <p:ext uri="{BB962C8B-B14F-4D97-AF65-F5344CB8AC3E}">
        <p14:creationId xmlns:p14="http://schemas.microsoft.com/office/powerpoint/2010/main" val="26263482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34</a:t>
            </a:fld>
            <a:endParaRPr lang="fr-CA"/>
          </a:p>
        </p:txBody>
      </p:sp>
    </p:spTree>
    <p:extLst>
      <p:ext uri="{BB962C8B-B14F-4D97-AF65-F5344CB8AC3E}">
        <p14:creationId xmlns:p14="http://schemas.microsoft.com/office/powerpoint/2010/main" val="28758168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35</a:t>
            </a:fld>
            <a:endParaRPr lang="fr-CA"/>
          </a:p>
        </p:txBody>
      </p:sp>
    </p:spTree>
    <p:extLst>
      <p:ext uri="{BB962C8B-B14F-4D97-AF65-F5344CB8AC3E}">
        <p14:creationId xmlns:p14="http://schemas.microsoft.com/office/powerpoint/2010/main" val="6360903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1B2ECE-6101-4E9E-AFFD-60AFDA6DA76E}" type="slidenum">
              <a:rPr lang="fr-CA"/>
              <a:pPr/>
              <a:t>36</a:t>
            </a:fld>
            <a:endParaRPr lang="fr-CA"/>
          </a:p>
        </p:txBody>
      </p:sp>
      <p:sp>
        <p:nvSpPr>
          <p:cNvPr id="34818"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677924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cs typeface="Calibri"/>
            </a:endParaRPr>
          </a:p>
        </p:txBody>
      </p:sp>
      <p:sp>
        <p:nvSpPr>
          <p:cNvPr id="4" name="Slide Number Placeholder 3"/>
          <p:cNvSpPr>
            <a:spLocks noGrp="1"/>
          </p:cNvSpPr>
          <p:nvPr>
            <p:ph type="sldNum" sz="quarter" idx="5"/>
          </p:nvPr>
        </p:nvSpPr>
        <p:spPr/>
        <p:txBody>
          <a:bodyPr/>
          <a:lstStyle/>
          <a:p>
            <a:fld id="{D8756633-E94B-447C-907F-5A907A338167}" type="slidenum">
              <a:rPr lang="fr-CA" smtClean="0"/>
              <a:t>37</a:t>
            </a:fld>
            <a:endParaRPr lang="fr-CA"/>
          </a:p>
        </p:txBody>
      </p:sp>
    </p:spTree>
    <p:extLst>
      <p:ext uri="{BB962C8B-B14F-4D97-AF65-F5344CB8AC3E}">
        <p14:creationId xmlns:p14="http://schemas.microsoft.com/office/powerpoint/2010/main" val="18885529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701040" y="4473891"/>
            <a:ext cx="5608320" cy="3981089"/>
          </a:xfrm>
        </p:spPr>
        <p:txBody>
          <a:bodyPr/>
          <a:lstStyle/>
          <a:p>
            <a:endParaRPr lang="fr-CA">
              <a:cs typeface="Calibri"/>
            </a:endParaRPr>
          </a:p>
        </p:txBody>
      </p:sp>
      <p:sp>
        <p:nvSpPr>
          <p:cNvPr id="4" name="Espace réservé du numéro de diapositive 3"/>
          <p:cNvSpPr>
            <a:spLocks noGrp="1"/>
          </p:cNvSpPr>
          <p:nvPr>
            <p:ph type="sldNum" sz="quarter" idx="10"/>
          </p:nvPr>
        </p:nvSpPr>
        <p:spPr/>
        <p:txBody>
          <a:bodyPr/>
          <a:lstStyle/>
          <a:p>
            <a:fld id="{7AF7707D-0897-4DF0-B5FE-CC24E17167B5}" type="slidenum">
              <a:rPr lang="fr-CA" smtClean="0"/>
              <a:t>38</a:t>
            </a:fld>
            <a:endParaRPr lang="fr-CA"/>
          </a:p>
        </p:txBody>
      </p:sp>
    </p:spTree>
    <p:extLst>
      <p:ext uri="{BB962C8B-B14F-4D97-AF65-F5344CB8AC3E}">
        <p14:creationId xmlns:p14="http://schemas.microsoft.com/office/powerpoint/2010/main" val="27889385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457608"/>
          </a:xfrm>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39</a:t>
            </a:fld>
            <a:endParaRPr lang="fr-CA"/>
          </a:p>
        </p:txBody>
      </p:sp>
    </p:spTree>
    <p:extLst>
      <p:ext uri="{BB962C8B-B14F-4D97-AF65-F5344CB8AC3E}">
        <p14:creationId xmlns:p14="http://schemas.microsoft.com/office/powerpoint/2010/main" val="21737985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40</a:t>
            </a:fld>
            <a:endParaRPr lang="fr-CA"/>
          </a:p>
        </p:txBody>
      </p:sp>
    </p:spTree>
    <p:extLst>
      <p:ext uri="{BB962C8B-B14F-4D97-AF65-F5344CB8AC3E}">
        <p14:creationId xmlns:p14="http://schemas.microsoft.com/office/powerpoint/2010/main" val="8222115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 typeface="Arial" panose="020B0604020202020204" pitchFamily="34" charset="0"/>
              <a:buNone/>
            </a:pPr>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756633-E94B-447C-907F-5A907A338167}"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97618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756633-E94B-447C-907F-5A907A338167}"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7994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3832982"/>
          </a:xfrm>
        </p:spPr>
        <p:txBody>
          <a:bodyPr/>
          <a:lstStyle/>
          <a:p>
            <a:endParaRPr lang="fr-CA">
              <a:cs typeface="Calibri"/>
            </a:endParaRPr>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43</a:t>
            </a:fld>
            <a:endParaRPr lang="fr-CA"/>
          </a:p>
        </p:txBody>
      </p:sp>
    </p:spTree>
    <p:extLst>
      <p:ext uri="{BB962C8B-B14F-4D97-AF65-F5344CB8AC3E}">
        <p14:creationId xmlns:p14="http://schemas.microsoft.com/office/powerpoint/2010/main" val="6279056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44</a:t>
            </a:fld>
            <a:endParaRPr lang="fr-CA"/>
          </a:p>
        </p:txBody>
      </p:sp>
    </p:spTree>
    <p:extLst>
      <p:ext uri="{BB962C8B-B14F-4D97-AF65-F5344CB8AC3E}">
        <p14:creationId xmlns:p14="http://schemas.microsoft.com/office/powerpoint/2010/main" val="36918145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C6203257-382C-424D-AAED-938AD3F18826}" type="slidenum">
              <a:rPr lang="fr-CA" smtClean="0"/>
              <a:pPr/>
              <a:t>45</a:t>
            </a:fld>
            <a:endParaRPr lang="fr-CA"/>
          </a:p>
        </p:txBody>
      </p:sp>
      <p:sp>
        <p:nvSpPr>
          <p:cNvPr id="5" name="Espace réservé des commentaires 4"/>
          <p:cNvSpPr>
            <a:spLocks noGrp="1"/>
          </p:cNvSpPr>
          <p:nvPr>
            <p:ph type="body" sz="quarter" idx="11"/>
          </p:nvPr>
        </p:nvSpPr>
        <p:spPr/>
        <p:txBody>
          <a:bodyPr/>
          <a:lstStyle/>
          <a:p>
            <a:endParaRPr lang="fr-CA"/>
          </a:p>
        </p:txBody>
      </p:sp>
    </p:spTree>
    <p:extLst>
      <p:ext uri="{BB962C8B-B14F-4D97-AF65-F5344CB8AC3E}">
        <p14:creationId xmlns:p14="http://schemas.microsoft.com/office/powerpoint/2010/main" val="23184608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46</a:t>
            </a:fld>
            <a:endParaRPr lang="fr-CA"/>
          </a:p>
        </p:txBody>
      </p:sp>
    </p:spTree>
    <p:extLst>
      <p:ext uri="{BB962C8B-B14F-4D97-AF65-F5344CB8AC3E}">
        <p14:creationId xmlns:p14="http://schemas.microsoft.com/office/powerpoint/2010/main" val="4202705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en-US">
                <a:solidFill>
                  <a:prstClr val="black">
                    <a:tint val="75000"/>
                  </a:prstClr>
                </a:solidFill>
              </a:rPr>
              <a:t>(c) 10904 / S04 - Version A2024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33212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8" name="Connecteur droit 7"/>
          <p:cNvCxnSpPr/>
          <p:nvPr userDrawn="1"/>
        </p:nvCxnSpPr>
        <p:spPr>
          <a:xfrm>
            <a:off x="765111" y="348065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Connecteur droit 8"/>
          <p:cNvCxnSpPr/>
          <p:nvPr userDrawn="1"/>
        </p:nvCxnSpPr>
        <p:spPr>
          <a:xfrm>
            <a:off x="951722" y="359094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573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endParaRPr lang="fr-CA"/>
          </a:p>
        </p:txBody>
      </p:sp>
      <p:cxnSp>
        <p:nvCxnSpPr>
          <p:cNvPr id="3" name="Connecteur droit 2"/>
          <p:cNvCxnSpPr/>
          <p:nvPr userDrawn="1"/>
        </p:nvCxnSpPr>
        <p:spPr>
          <a:xfrm>
            <a:off x="838200" y="22380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Connecteur droit 3"/>
          <p:cNvCxnSpPr/>
          <p:nvPr userDrawn="1"/>
        </p:nvCxnSpPr>
        <p:spPr>
          <a:xfrm>
            <a:off x="989046" y="238198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4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78938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839788" y="1598769"/>
            <a:ext cx="5157787"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250833"/>
            <a:ext cx="5157787"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598769"/>
            <a:ext cx="5183188"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250833"/>
            <a:ext cx="5183188"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9" name="Connecteur droit 8"/>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5"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48584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1605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37796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792156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685800" y="190500"/>
            <a:ext cx="11004206" cy="828675"/>
          </a:xfrm>
        </p:spPr>
        <p:txBody>
          <a:bodyPr/>
          <a:lstStyle/>
          <a:p>
            <a:r>
              <a:rPr lang="fr-FR"/>
              <a:t>Cliquez pour modifier le style du titre</a:t>
            </a:r>
            <a:endParaRPr lang="en-CA"/>
          </a:p>
        </p:txBody>
      </p:sp>
      <p:sp>
        <p:nvSpPr>
          <p:cNvPr id="3" name="Espace réservé du tableau 2"/>
          <p:cNvSpPr>
            <a:spLocks noGrp="1"/>
          </p:cNvSpPr>
          <p:nvPr>
            <p:ph type="tbl" idx="1"/>
          </p:nvPr>
        </p:nvSpPr>
        <p:spPr>
          <a:xfrm>
            <a:off x="685800" y="1133475"/>
            <a:ext cx="11004206" cy="4886325"/>
          </a:xfrm>
        </p:spPr>
        <p:txBody>
          <a:bodyPr/>
          <a:lstStyle/>
          <a:p>
            <a:pPr lvl="0"/>
            <a:endParaRPr lang="en-CA" noProof="0"/>
          </a:p>
        </p:txBody>
      </p:sp>
      <p:cxnSp>
        <p:nvCxnSpPr>
          <p:cNvPr id="11" name="Connecteur droit 10"/>
          <p:cNvCxnSpPr/>
          <p:nvPr userDrawn="1"/>
        </p:nvCxnSpPr>
        <p:spPr>
          <a:xfrm>
            <a:off x="679580" y="1004694"/>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userDrawn="1"/>
        </p:nvCxnSpPr>
        <p:spPr>
          <a:xfrm flipV="1">
            <a:off x="839756" y="1133475"/>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3"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276457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788839" y="369690"/>
            <a:ext cx="10553700" cy="901700"/>
          </a:xfrm>
        </p:spPr>
        <p:txBody>
          <a:bodyPr/>
          <a:lstStyle>
            <a:lvl1pPr>
              <a:defRPr sz="3200"/>
            </a:lvl1pPr>
          </a:lstStyle>
          <a:p>
            <a:r>
              <a:rPr lang="fr-FR"/>
              <a:t>Modifiez le style du titre</a:t>
            </a:r>
            <a:endParaRPr lang="en-US"/>
          </a:p>
        </p:txBody>
      </p:sp>
      <p:sp>
        <p:nvSpPr>
          <p:cNvPr id="3" name="Text Placeholder 2"/>
          <p:cNvSpPr>
            <a:spLocks noGrp="1"/>
          </p:cNvSpPr>
          <p:nvPr>
            <p:ph type="body" idx="1"/>
          </p:nvPr>
        </p:nvSpPr>
        <p:spPr>
          <a:xfrm>
            <a:off x="788839" y="1435942"/>
            <a:ext cx="3449255"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2" name="Text Placeholder 3"/>
          <p:cNvSpPr>
            <a:spLocks noGrp="1"/>
          </p:cNvSpPr>
          <p:nvPr>
            <p:ph type="body" sz="half" idx="15"/>
          </p:nvPr>
        </p:nvSpPr>
        <p:spPr>
          <a:xfrm>
            <a:off x="788839" y="2361745"/>
            <a:ext cx="3449255" cy="3673784"/>
          </a:xfrm>
        </p:spPr>
        <p:txBody>
          <a:bodyPr anchor="t">
            <a:normAutofit/>
          </a:bodyPr>
          <a:lstStyle>
            <a:lvl1pPr marL="0" indent="0">
              <a:buNone/>
              <a:defRPr sz="2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Text Placeholder 4"/>
          <p:cNvSpPr>
            <a:spLocks noGrp="1"/>
          </p:cNvSpPr>
          <p:nvPr>
            <p:ph type="body" sz="quarter" idx="3"/>
          </p:nvPr>
        </p:nvSpPr>
        <p:spPr>
          <a:xfrm>
            <a:off x="4539084" y="1435942"/>
            <a:ext cx="3101854"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3" name="Text Placeholder 3"/>
          <p:cNvSpPr>
            <a:spLocks noGrp="1"/>
          </p:cNvSpPr>
          <p:nvPr>
            <p:ph type="body" sz="half" idx="16"/>
          </p:nvPr>
        </p:nvSpPr>
        <p:spPr>
          <a:xfrm>
            <a:off x="4542893" y="2361745"/>
            <a:ext cx="3101854" cy="3673784"/>
          </a:xfrm>
        </p:spPr>
        <p:txBody>
          <a:bodyPr anchor="t">
            <a:normAutofit/>
          </a:bodyPr>
          <a:lstStyle>
            <a:lvl1pPr marL="0" indent="0">
              <a:buNone/>
              <a:defRPr sz="2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14" name="Text Placeholder 4"/>
          <p:cNvSpPr>
            <a:spLocks noGrp="1"/>
          </p:cNvSpPr>
          <p:nvPr>
            <p:ph type="body" sz="quarter" idx="13"/>
          </p:nvPr>
        </p:nvSpPr>
        <p:spPr>
          <a:xfrm>
            <a:off x="7943121" y="1435942"/>
            <a:ext cx="3401154"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cxnSp>
        <p:nvCxnSpPr>
          <p:cNvPr id="17" name="Straight Connector 16"/>
          <p:cNvCxnSpPr/>
          <p:nvPr/>
        </p:nvCxnSpPr>
        <p:spPr>
          <a:xfrm>
            <a:off x="4392707"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9936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6" name="Espace réservé pour une image  5"/>
          <p:cNvSpPr>
            <a:spLocks noGrp="1"/>
          </p:cNvSpPr>
          <p:nvPr>
            <p:ph type="pic" sz="quarter" idx="18"/>
          </p:nvPr>
        </p:nvSpPr>
        <p:spPr>
          <a:xfrm>
            <a:off x="7960468" y="2361743"/>
            <a:ext cx="3382071" cy="3673785"/>
          </a:xfrm>
        </p:spPr>
        <p:txBody>
          <a:bodyPr>
            <a:normAutofit/>
          </a:bodyPr>
          <a:lstStyle>
            <a:lvl1pPr marL="0" indent="0">
              <a:buNone/>
              <a:defRPr sz="1600">
                <a:solidFill>
                  <a:schemeClr val="tx1"/>
                </a:solidFill>
              </a:defRPr>
            </a:lvl1pPr>
          </a:lstStyle>
          <a:p>
            <a:endParaRPr lang="fr-CA"/>
          </a:p>
        </p:txBody>
      </p:sp>
      <p:cxnSp>
        <p:nvCxnSpPr>
          <p:cNvPr id="19" name="Connecteur droit 18"/>
          <p:cNvCxnSpPr/>
          <p:nvPr userDrawn="1"/>
        </p:nvCxnSpPr>
        <p:spPr>
          <a:xfrm>
            <a:off x="628663" y="1298249"/>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userDrawn="1"/>
        </p:nvCxnSpPr>
        <p:spPr>
          <a:xfrm flipV="1">
            <a:off x="788839" y="1427030"/>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24"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81918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re et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3292CD-2331-41BD-95EA-A19884406306}"/>
              </a:ext>
            </a:extLst>
          </p:cNvPr>
          <p:cNvSpPr>
            <a:spLocks noGrp="1"/>
          </p:cNvSpPr>
          <p:nvPr>
            <p:ph type="title"/>
          </p:nvPr>
        </p:nvSpPr>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FF824291-2540-4210-9FCC-AAFEB9931174}"/>
              </a:ext>
            </a:extLst>
          </p:cNvPr>
          <p:cNvSpPr>
            <a:spLocks noGrp="1"/>
          </p:cNvSpPr>
          <p:nvPr>
            <p:ph type="body"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D7A456F8-1359-4B85-9F2E-BC4C681A4A98}"/>
              </a:ext>
            </a:extLst>
          </p:cNvPr>
          <p:cNvSpPr>
            <a:spLocks noGrp="1"/>
          </p:cNvSpPr>
          <p:nvPr>
            <p:ph type="dt" sz="half" idx="10"/>
          </p:nvPr>
        </p:nvSpPr>
        <p:spPr/>
        <p:txBody>
          <a:bodyPr/>
          <a:lstStyle/>
          <a:p>
            <a:endParaRPr lang="fr-CA"/>
          </a:p>
        </p:txBody>
      </p:sp>
      <p:sp>
        <p:nvSpPr>
          <p:cNvPr id="5" name="Espace réservé du pied de page 4">
            <a:extLst>
              <a:ext uri="{FF2B5EF4-FFF2-40B4-BE49-F238E27FC236}">
                <a16:creationId xmlns:a16="http://schemas.microsoft.com/office/drawing/2014/main" id="{F8520133-7095-4C1B-AA0A-06B1B37DFAA2}"/>
              </a:ext>
            </a:extLst>
          </p:cNvPr>
          <p:cNvSpPr>
            <a:spLocks noGrp="1"/>
          </p:cNvSpPr>
          <p:nvPr>
            <p:ph type="ftr" sz="quarter" idx="11"/>
          </p:nvPr>
        </p:nvSpPr>
        <p:spPr/>
        <p:txBody>
          <a:bodyPr/>
          <a:lstStyle/>
          <a:p>
            <a:r>
              <a:rPr lang="pt-BR"/>
              <a:t>(c) 10904 / S04 - Version H2024</a:t>
            </a:r>
            <a:endParaRPr lang="fr-CA"/>
          </a:p>
        </p:txBody>
      </p:sp>
      <p:sp>
        <p:nvSpPr>
          <p:cNvPr id="6" name="Espace réservé du numéro de diapositive 5">
            <a:extLst>
              <a:ext uri="{FF2B5EF4-FFF2-40B4-BE49-F238E27FC236}">
                <a16:creationId xmlns:a16="http://schemas.microsoft.com/office/drawing/2014/main" id="{E18C4214-C59A-481F-850C-A8D15C7FBF9F}"/>
              </a:ext>
            </a:extLst>
          </p:cNvPr>
          <p:cNvSpPr>
            <a:spLocks noGrp="1"/>
          </p:cNvSpPr>
          <p:nvPr>
            <p:ph type="sldNum" sz="quarter" idx="12"/>
          </p:nvPr>
        </p:nvSpPr>
        <p:spPr/>
        <p:txBody>
          <a:bodyPr/>
          <a:lstStyle/>
          <a:p>
            <a:fld id="{BB699B6F-7984-48A3-9A47-56A72CAD0B37}" type="slidenum">
              <a:rPr lang="fr-CA" smtClean="0"/>
              <a:t>‹N°›</a:t>
            </a:fld>
            <a:endParaRPr lang="fr-CA"/>
          </a:p>
        </p:txBody>
      </p:sp>
    </p:spTree>
    <p:extLst>
      <p:ext uri="{BB962C8B-B14F-4D97-AF65-F5344CB8AC3E}">
        <p14:creationId xmlns:p14="http://schemas.microsoft.com/office/powerpoint/2010/main" val="504468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37932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cxnSp>
        <p:nvCxnSpPr>
          <p:cNvPr id="4" name="Connecteur droit 3"/>
          <p:cNvCxnSpPr/>
          <p:nvPr userDrawn="1"/>
        </p:nvCxnSpPr>
        <p:spPr>
          <a:xfrm>
            <a:off x="604935" y="3467101"/>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 name="Connecteur droit 4"/>
          <p:cNvCxnSpPr/>
          <p:nvPr userDrawn="1"/>
        </p:nvCxnSpPr>
        <p:spPr>
          <a:xfrm>
            <a:off x="765111" y="3602038"/>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72573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789387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16055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789387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S04 -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pic>
        <p:nvPicPr>
          <p:cNvPr id="10" name="Image 9"/>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0" y="6354906"/>
            <a:ext cx="1821024" cy="368015"/>
          </a:xfrm>
          <a:prstGeom prst="rect">
            <a:avLst/>
          </a:prstGeom>
          <a:noFill/>
          <a:ln>
            <a:noFill/>
          </a:ln>
        </p:spPr>
      </p:pic>
    </p:spTree>
    <p:extLst>
      <p:ext uri="{BB962C8B-B14F-4D97-AF65-F5344CB8AC3E}">
        <p14:creationId xmlns:p14="http://schemas.microsoft.com/office/powerpoint/2010/main" val="1899543394"/>
      </p:ext>
    </p:extLst>
  </p:cSld>
  <p:clrMap bg1="lt1" tx1="dk1" bg2="lt2" tx2="dk2" accent1="accent1" accent2="accent2" accent3="accent3" accent4="accent4" accent5="accent5" accent6="accent6" hlink="hlink" folHlink="folHlink"/>
  <p:sldLayoutIdLst>
    <p:sldLayoutId id="2147483739" r:id="rId1"/>
    <p:sldLayoutId id="2147483674"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688" r:id="rId16"/>
    <p:sldLayoutId id="2147483738" r:id="rId17"/>
    <p:sldLayoutId id="2147483699" r:id="rId18"/>
    <p:sldLayoutId id="2147483700" r:id="rId19"/>
    <p:sldLayoutId id="2147483702" r:id="rId20"/>
    <p:sldLayoutId id="2147483705" r:id="rId21"/>
    <p:sldLayoutId id="2147483662" r:id="rId22"/>
    <p:sldLayoutId id="2147483663" r:id="rId23"/>
    <p:sldLayoutId id="2147483664" r:id="rId24"/>
    <p:sldLayoutId id="2147483666" r:id="rId2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19.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tags" Target="../tags/tag12.xml"/></Relationships>
</file>

<file path=ppt/slides/_rels/slide4.xml.rels><?xml version="1.0" encoding="UTF-8" standalone="yes"?>
<Relationships xmlns="http://schemas.openxmlformats.org/package/2006/relationships"><Relationship Id="rId8" Type="http://schemas.openxmlformats.org/officeDocument/2006/relationships/tags" Target="../tags/tag20.xml"/><Relationship Id="rId3" Type="http://schemas.openxmlformats.org/officeDocument/2006/relationships/tags" Target="../tags/tag15.xml"/><Relationship Id="rId7" Type="http://schemas.openxmlformats.org/officeDocument/2006/relationships/tags" Target="../tags/tag19.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10" Type="http://schemas.openxmlformats.org/officeDocument/2006/relationships/notesSlide" Target="../notesSlides/notesSlide4.xml"/><Relationship Id="rId4" Type="http://schemas.openxmlformats.org/officeDocument/2006/relationships/tags" Target="../tags/tag16.xml"/><Relationship Id="rId9"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notesSlide" Target="../notesSlides/notesSlide5.xml"/><Relationship Id="rId5" Type="http://schemas.openxmlformats.org/officeDocument/2006/relationships/slideLayout" Target="../slideLayouts/slideLayout5.xml"/><Relationship Id="rId4" Type="http://schemas.openxmlformats.org/officeDocument/2006/relationships/tags" Target="../tags/tag24.xml"/></Relationships>
</file>

<file path=ppt/slides/_rels/slide6.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image" Target="../media/image4.sv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3.png"/><Relationship Id="rId17" Type="http://schemas.openxmlformats.org/officeDocument/2006/relationships/image" Target="../media/image8.svg"/><Relationship Id="rId2" Type="http://schemas.openxmlformats.org/officeDocument/2006/relationships/tags" Target="../tags/tag26.xml"/><Relationship Id="rId16" Type="http://schemas.openxmlformats.org/officeDocument/2006/relationships/image" Target="../media/image7.png"/><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notesSlide" Target="../notesSlides/notesSlide6.xml"/><Relationship Id="rId5" Type="http://schemas.openxmlformats.org/officeDocument/2006/relationships/tags" Target="../tags/tag29.xml"/><Relationship Id="rId15" Type="http://schemas.openxmlformats.org/officeDocument/2006/relationships/image" Target="../media/image6.svg"/><Relationship Id="rId10" Type="http://schemas.openxmlformats.org/officeDocument/2006/relationships/slideLayout" Target="../slideLayouts/slideLayout2.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37.xml"/></Relationships>
</file>

<file path=ppt/slides/_rels/slide8.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41.xml"/></Relationships>
</file>

<file path=ppt/slides/_rels/slide9.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18" Type="http://schemas.openxmlformats.org/officeDocument/2006/relationships/tags" Target="../tags/tag59.xml"/><Relationship Id="rId3" Type="http://schemas.openxmlformats.org/officeDocument/2006/relationships/tags" Target="../tags/tag44.xml"/><Relationship Id="rId21" Type="http://schemas.openxmlformats.org/officeDocument/2006/relationships/image" Target="../media/image9.png"/><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tags" Target="../tags/tag58.xml"/><Relationship Id="rId25" Type="http://schemas.openxmlformats.org/officeDocument/2006/relationships/hyperlink" Target="https://pixabay.com/en/check-check-list-hook-bird-mark-1769866/" TargetMode="External"/><Relationship Id="rId2" Type="http://schemas.openxmlformats.org/officeDocument/2006/relationships/tags" Target="../tags/tag43.xml"/><Relationship Id="rId16" Type="http://schemas.openxmlformats.org/officeDocument/2006/relationships/tags" Target="../tags/tag57.xml"/><Relationship Id="rId20" Type="http://schemas.openxmlformats.org/officeDocument/2006/relationships/notesSlide" Target="../notesSlides/notesSlide9.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24" Type="http://schemas.openxmlformats.org/officeDocument/2006/relationships/image" Target="../media/image12.png"/><Relationship Id="rId5" Type="http://schemas.openxmlformats.org/officeDocument/2006/relationships/tags" Target="../tags/tag46.xml"/><Relationship Id="rId15" Type="http://schemas.openxmlformats.org/officeDocument/2006/relationships/tags" Target="../tags/tag56.xml"/><Relationship Id="rId23" Type="http://schemas.openxmlformats.org/officeDocument/2006/relationships/image" Target="../media/image11.png"/><Relationship Id="rId10" Type="http://schemas.openxmlformats.org/officeDocument/2006/relationships/tags" Target="../tags/tag51.xml"/><Relationship Id="rId19" Type="http://schemas.openxmlformats.org/officeDocument/2006/relationships/slideLayout" Target="../slideLayouts/slideLayout2.xml"/><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 Id="rId22"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63.xml"/></Relationships>
</file>

<file path=ppt/slides/_rels/slide11.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notesSlide" Target="../notesSlides/notesSlide11.xml"/><Relationship Id="rId4"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notesSlide" Target="../notesSlides/notesSlide12.xml"/><Relationship Id="rId5" Type="http://schemas.openxmlformats.org/officeDocument/2006/relationships/slideLayout" Target="../slideLayouts/slideLayout3.xml"/><Relationship Id="rId4" Type="http://schemas.openxmlformats.org/officeDocument/2006/relationships/tags" Target="../tags/tag70.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73.xml"/><Relationship Id="rId7" Type="http://schemas.openxmlformats.org/officeDocument/2006/relationships/slideLayout" Target="../slideLayouts/slideLayout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s>
</file>

<file path=ppt/slides/_rels/slide14.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notesSlide" Target="../notesSlides/notesSlide14.xml"/><Relationship Id="rId5" Type="http://schemas.openxmlformats.org/officeDocument/2006/relationships/slideLayout" Target="../slideLayouts/slideLayout4.xml"/><Relationship Id="rId4" Type="http://schemas.openxmlformats.org/officeDocument/2006/relationships/tags" Target="../tags/tag80.xml"/></Relationships>
</file>

<file path=ppt/slides/_rels/slide15.xml.rels><?xml version="1.0" encoding="UTF-8" standalone="yes"?>
<Relationships xmlns="http://schemas.openxmlformats.org/package/2006/relationships"><Relationship Id="rId3" Type="http://schemas.openxmlformats.org/officeDocument/2006/relationships/tags" Target="../tags/tag83.xml"/><Relationship Id="rId7" Type="http://schemas.openxmlformats.org/officeDocument/2006/relationships/notesSlide" Target="../notesSlides/notesSlide15.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slideLayout" Target="../slideLayouts/slideLayout2.xml"/><Relationship Id="rId5" Type="http://schemas.openxmlformats.org/officeDocument/2006/relationships/tags" Target="../tags/tag85.xml"/><Relationship Id="rId4" Type="http://schemas.openxmlformats.org/officeDocument/2006/relationships/tags" Target="../tags/tag84.xml"/></Relationships>
</file>

<file path=ppt/slides/_rels/slide16.xml.rels><?xml version="1.0" encoding="UTF-8" standalone="yes"?>
<Relationships xmlns="http://schemas.openxmlformats.org/package/2006/relationships"><Relationship Id="rId3" Type="http://schemas.openxmlformats.org/officeDocument/2006/relationships/tags" Target="../tags/tag88.xml"/><Relationship Id="rId7" Type="http://schemas.openxmlformats.org/officeDocument/2006/relationships/notesSlide" Target="../notesSlides/notesSlide16.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slideLayout" Target="../slideLayouts/slideLayout1.xml"/><Relationship Id="rId5" Type="http://schemas.openxmlformats.org/officeDocument/2006/relationships/tags" Target="../tags/tag90.xml"/><Relationship Id="rId4" Type="http://schemas.openxmlformats.org/officeDocument/2006/relationships/tags" Target="../tags/tag89.xml"/></Relationships>
</file>

<file path=ppt/slides/_rels/slide17.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94.xml"/></Relationships>
</file>

<file path=ppt/slides/_rels/slide18.xml.rels><?xml version="1.0" encoding="UTF-8" standalone="yes"?>
<Relationships xmlns="http://schemas.openxmlformats.org/package/2006/relationships"><Relationship Id="rId3" Type="http://schemas.openxmlformats.org/officeDocument/2006/relationships/tags" Target="../tags/tag97.xml"/><Relationship Id="rId7" Type="http://schemas.openxmlformats.org/officeDocument/2006/relationships/notesSlide" Target="../notesSlides/notesSlide18.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slideLayout" Target="../slideLayouts/slideLayout1.xml"/><Relationship Id="rId5" Type="http://schemas.openxmlformats.org/officeDocument/2006/relationships/tags" Target="../tags/tag99.xml"/><Relationship Id="rId4" Type="http://schemas.openxmlformats.org/officeDocument/2006/relationships/tags" Target="../tags/tag98.xml"/></Relationships>
</file>

<file path=ppt/slides/_rels/slide19.xml.rels><?xml version="1.0" encoding="UTF-8" standalone="yes"?>
<Relationships xmlns="http://schemas.openxmlformats.org/package/2006/relationships"><Relationship Id="rId3" Type="http://schemas.openxmlformats.org/officeDocument/2006/relationships/tags" Target="../tags/tag102.xml"/><Relationship Id="rId7" Type="http://schemas.openxmlformats.org/officeDocument/2006/relationships/notesSlide" Target="../notesSlides/notesSlide19.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slideLayout" Target="../slideLayouts/slideLayout2.xml"/><Relationship Id="rId5" Type="http://schemas.openxmlformats.org/officeDocument/2006/relationships/tags" Target="../tags/tag104.xml"/><Relationship Id="rId4" Type="http://schemas.openxmlformats.org/officeDocument/2006/relationships/tags" Target="../tags/tag103.xml"/></Relationships>
</file>

<file path=ppt/slides/_rels/slide20.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notesSlide" Target="../notesSlides/notesSlide20.xml"/><Relationship Id="rId5" Type="http://schemas.openxmlformats.org/officeDocument/2006/relationships/slideLayout" Target="../slideLayouts/slideLayout3.xml"/><Relationship Id="rId4" Type="http://schemas.openxmlformats.org/officeDocument/2006/relationships/tags" Target="../tags/tag108.xml"/></Relationships>
</file>

<file path=ppt/slides/_rels/slide21.xml.rels><?xml version="1.0" encoding="UTF-8" standalone="yes"?>
<Relationships xmlns="http://schemas.openxmlformats.org/package/2006/relationships"><Relationship Id="rId3" Type="http://schemas.openxmlformats.org/officeDocument/2006/relationships/tags" Target="../tags/tag111.xml"/><Relationship Id="rId7" Type="http://schemas.openxmlformats.org/officeDocument/2006/relationships/notesSlide" Target="../notesSlides/notesSlide21.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slideLayout" Target="../slideLayouts/slideLayout7.xml"/><Relationship Id="rId5" Type="http://schemas.openxmlformats.org/officeDocument/2006/relationships/tags" Target="../tags/tag113.xml"/><Relationship Id="rId4" Type="http://schemas.openxmlformats.org/officeDocument/2006/relationships/tags" Target="../tags/tag112.xml"/></Relationships>
</file>

<file path=ppt/slides/_rels/slide22.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tags" Target="../tags/tag117.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3" Type="http://schemas.openxmlformats.org/officeDocument/2006/relationships/tags" Target="../tags/tag120.xml"/><Relationship Id="rId7" Type="http://schemas.openxmlformats.org/officeDocument/2006/relationships/slideLayout" Target="../slideLayouts/slideLayout7.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s>
</file>

<file path=ppt/slides/_rels/slide24.xml.rels><?xml version="1.0" encoding="UTF-8" standalone="yes"?>
<Relationships xmlns="http://schemas.openxmlformats.org/package/2006/relationships"><Relationship Id="rId3" Type="http://schemas.openxmlformats.org/officeDocument/2006/relationships/tags" Target="../tags/tag126.xml"/><Relationship Id="rId7" Type="http://schemas.openxmlformats.org/officeDocument/2006/relationships/notesSlide" Target="../notesSlides/notesSlide24.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slideLayout" Target="../slideLayouts/slideLayout7.xml"/><Relationship Id="rId5" Type="http://schemas.openxmlformats.org/officeDocument/2006/relationships/tags" Target="../tags/tag128.xml"/><Relationship Id="rId4" Type="http://schemas.openxmlformats.org/officeDocument/2006/relationships/tags" Target="../tags/tag127.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3" Type="http://schemas.openxmlformats.org/officeDocument/2006/relationships/tags" Target="../tags/tag138.xml"/><Relationship Id="rId7"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s>
</file>

<file path=ppt/slides/_rels/slide27.xml.rels><?xml version="1.0" encoding="UTF-8" standalone="yes"?>
<Relationships xmlns="http://schemas.openxmlformats.org/package/2006/relationships"><Relationship Id="rId8" Type="http://schemas.openxmlformats.org/officeDocument/2006/relationships/tags" Target="../tags/tag149.xml"/><Relationship Id="rId3" Type="http://schemas.openxmlformats.org/officeDocument/2006/relationships/tags" Target="../tags/tag144.xml"/><Relationship Id="rId7" Type="http://schemas.openxmlformats.org/officeDocument/2006/relationships/tags" Target="../tags/tag148.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tags" Target="../tags/tag147.xml"/><Relationship Id="rId5" Type="http://schemas.openxmlformats.org/officeDocument/2006/relationships/tags" Target="../tags/tag146.xml"/><Relationship Id="rId10" Type="http://schemas.openxmlformats.org/officeDocument/2006/relationships/notesSlide" Target="../notesSlides/notesSlide27.xml"/><Relationship Id="rId4" Type="http://schemas.openxmlformats.org/officeDocument/2006/relationships/tags" Target="../tags/tag145.xml"/><Relationship Id="rId9"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3" Type="http://schemas.openxmlformats.org/officeDocument/2006/relationships/tags" Target="../tags/tag152.xml"/><Relationship Id="rId7" Type="http://schemas.openxmlformats.org/officeDocument/2006/relationships/slideLayout" Target="../slideLayouts/slideLayout2.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3" Type="http://schemas.openxmlformats.org/officeDocument/2006/relationships/tags" Target="../tags/tag158.xml"/><Relationship Id="rId7" Type="http://schemas.openxmlformats.org/officeDocument/2006/relationships/slideLayout" Target="../slideLayouts/slideLayout1.xml"/><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tags" Target="../tags/tag15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16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4.xml"/><Relationship Id="rId1" Type="http://schemas.openxmlformats.org/officeDocument/2006/relationships/tags" Target="../tags/tag16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notesSlide" Target="../notesSlides/notesSlide32.xml"/><Relationship Id="rId5" Type="http://schemas.openxmlformats.org/officeDocument/2006/relationships/slideLayout" Target="../slideLayouts/slideLayout3.xml"/><Relationship Id="rId4" Type="http://schemas.openxmlformats.org/officeDocument/2006/relationships/tags" Target="../tags/tag168.xml"/></Relationships>
</file>

<file path=ppt/slides/_rels/slide33.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tags" Target="../tags/tag172.xml"/></Relationships>
</file>

<file path=ppt/slides/_rels/slide3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175.xml"/><Relationship Id="rId7" Type="http://schemas.openxmlformats.org/officeDocument/2006/relationships/notesSlide" Target="../notesSlides/notesSlide34.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slideLayout" Target="../slideLayouts/slideLayout2.xml"/><Relationship Id="rId5" Type="http://schemas.openxmlformats.org/officeDocument/2006/relationships/tags" Target="../tags/tag177.xml"/><Relationship Id="rId4" Type="http://schemas.openxmlformats.org/officeDocument/2006/relationships/tags" Target="../tags/tag176.xml"/><Relationship Id="rId9" Type="http://schemas.openxmlformats.org/officeDocument/2006/relationships/hyperlink" Target="https://www.publicdomainpictures.net/view-image.php?image=79853&amp;picture=empty-electric-light-bulb" TargetMode="External"/></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3" Type="http://schemas.openxmlformats.org/officeDocument/2006/relationships/tags" Target="../tags/tag180.xml"/><Relationship Id="rId7" Type="http://schemas.openxmlformats.org/officeDocument/2006/relationships/slideLayout" Target="../slideLayouts/slideLayout1.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9" Type="http://schemas.openxmlformats.org/officeDocument/2006/relationships/image" Target="../media/image14.png"/></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86.xml"/><Relationship Id="rId7" Type="http://schemas.openxmlformats.org/officeDocument/2006/relationships/tags" Target="../tags/tag190.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9"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7.xml"/><Relationship Id="rId3" Type="http://schemas.openxmlformats.org/officeDocument/2006/relationships/tags" Target="../tags/tag193.xml"/><Relationship Id="rId7" Type="http://schemas.openxmlformats.org/officeDocument/2006/relationships/slideLayout" Target="../slideLayouts/slideLayout2.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s>
</file>

<file path=ppt/slides/_rels/slide38.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tags" Target="../tags/tag199.xml"/><Relationship Id="rId7" Type="http://schemas.openxmlformats.org/officeDocument/2006/relationships/notesSlide" Target="../notesSlides/notesSlide38.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slideLayout" Target="../slideLayouts/slideLayout2.xml"/><Relationship Id="rId5" Type="http://schemas.openxmlformats.org/officeDocument/2006/relationships/tags" Target="../tags/tag201.xml"/><Relationship Id="rId4" Type="http://schemas.openxmlformats.org/officeDocument/2006/relationships/tags" Target="../tags/tag200.xml"/><Relationship Id="rId9" Type="http://schemas.openxmlformats.org/officeDocument/2006/relationships/image" Target="../media/image16.pn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3" Type="http://schemas.openxmlformats.org/officeDocument/2006/relationships/tags" Target="../tags/tag204.xml"/><Relationship Id="rId7" Type="http://schemas.openxmlformats.org/officeDocument/2006/relationships/slideLayout" Target="../slideLayouts/slideLayout2.xml"/><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s>
</file>

<file path=ppt/slides/_rels/slide40.xml.rels><?xml version="1.0" encoding="UTF-8" standalone="yes"?>
<Relationships xmlns="http://schemas.openxmlformats.org/package/2006/relationships"><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 Id="rId5" Type="http://schemas.openxmlformats.org/officeDocument/2006/relationships/notesSlide" Target="../notesSlides/notesSlide40.xml"/><Relationship Id="rId4"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tags" Target="../tags/tag214.xml"/></Relationships>
</file>

<file path=ppt/slides/_rels/slide42.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tags" Target="../tags/tag217.xml"/><Relationship Id="rId7" Type="http://schemas.openxmlformats.org/officeDocument/2006/relationships/diagramData" Target="../diagrams/data1.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notesSlide" Target="../notesSlides/notesSlide42.xml"/><Relationship Id="rId11" Type="http://schemas.microsoft.com/office/2007/relationships/diagramDrawing" Target="../diagrams/drawing1.xml"/><Relationship Id="rId5" Type="http://schemas.openxmlformats.org/officeDocument/2006/relationships/slideLayout" Target="../slideLayouts/slideLayout2.xml"/><Relationship Id="rId10" Type="http://schemas.openxmlformats.org/officeDocument/2006/relationships/diagramColors" Target="../diagrams/colors1.xml"/><Relationship Id="rId4" Type="http://schemas.openxmlformats.org/officeDocument/2006/relationships/tags" Target="../tags/tag218.xml"/><Relationship Id="rId9" Type="http://schemas.openxmlformats.org/officeDocument/2006/relationships/diagramQuickStyle" Target="../diagrams/quickStyle1.xml"/></Relationships>
</file>

<file path=ppt/slides/_rels/slide43.xml.rels><?xml version="1.0" encoding="UTF-8" standalone="yes"?>
<Relationships xmlns="http://schemas.openxmlformats.org/package/2006/relationships"><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notesSlide" Target="../notesSlides/notesSlide43.xml"/><Relationship Id="rId5" Type="http://schemas.openxmlformats.org/officeDocument/2006/relationships/slideLayout" Target="../slideLayouts/slideLayout17.xml"/><Relationship Id="rId4" Type="http://schemas.openxmlformats.org/officeDocument/2006/relationships/tags" Target="../tags/tag222.xml"/></Relationships>
</file>

<file path=ppt/slides/_rels/slide44.xml.rels><?xml version="1.0" encoding="UTF-8" standalone="yes"?>
<Relationships xmlns="http://schemas.openxmlformats.org/package/2006/relationships"><Relationship Id="rId8" Type="http://schemas.openxmlformats.org/officeDocument/2006/relationships/tags" Target="../tags/tag230.xml"/><Relationship Id="rId13" Type="http://schemas.openxmlformats.org/officeDocument/2006/relationships/diagramQuickStyle" Target="../diagrams/quickStyle2.xml"/><Relationship Id="rId3" Type="http://schemas.openxmlformats.org/officeDocument/2006/relationships/tags" Target="../tags/tag225.xml"/><Relationship Id="rId7" Type="http://schemas.openxmlformats.org/officeDocument/2006/relationships/tags" Target="../tags/tag229.xml"/><Relationship Id="rId12" Type="http://schemas.openxmlformats.org/officeDocument/2006/relationships/diagramLayout" Target="../diagrams/layout2.xml"/><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tags" Target="../tags/tag228.xml"/><Relationship Id="rId11" Type="http://schemas.openxmlformats.org/officeDocument/2006/relationships/diagramData" Target="../diagrams/data2.xml"/><Relationship Id="rId5" Type="http://schemas.openxmlformats.org/officeDocument/2006/relationships/tags" Target="../tags/tag227.xml"/><Relationship Id="rId15" Type="http://schemas.microsoft.com/office/2007/relationships/diagramDrawing" Target="../diagrams/drawing2.xml"/><Relationship Id="rId10" Type="http://schemas.openxmlformats.org/officeDocument/2006/relationships/notesSlide" Target="../notesSlides/notesSlide44.xml"/><Relationship Id="rId4" Type="http://schemas.openxmlformats.org/officeDocument/2006/relationships/tags" Target="../tags/tag226.xml"/><Relationship Id="rId9" Type="http://schemas.openxmlformats.org/officeDocument/2006/relationships/slideLayout" Target="../slideLayouts/slideLayout2.xml"/><Relationship Id="rId14" Type="http://schemas.openxmlformats.org/officeDocument/2006/relationships/diagramColors" Target="../diagrams/colors2.xml"/></Relationships>
</file>

<file path=ppt/slides/_rels/slide45.xml.rels><?xml version="1.0" encoding="UTF-8" standalone="yes"?>
<Relationships xmlns="http://schemas.openxmlformats.org/package/2006/relationships"><Relationship Id="rId8" Type="http://schemas.openxmlformats.org/officeDocument/2006/relationships/tags" Target="../tags/tag238.xml"/><Relationship Id="rId13" Type="http://schemas.openxmlformats.org/officeDocument/2006/relationships/tags" Target="../tags/tag243.xml"/><Relationship Id="rId3" Type="http://schemas.openxmlformats.org/officeDocument/2006/relationships/tags" Target="../tags/tag233.xml"/><Relationship Id="rId7" Type="http://schemas.openxmlformats.org/officeDocument/2006/relationships/tags" Target="../tags/tag237.xml"/><Relationship Id="rId12" Type="http://schemas.openxmlformats.org/officeDocument/2006/relationships/tags" Target="../tags/tag242.xml"/><Relationship Id="rId2" Type="http://schemas.openxmlformats.org/officeDocument/2006/relationships/tags" Target="../tags/tag232.xml"/><Relationship Id="rId16" Type="http://schemas.openxmlformats.org/officeDocument/2006/relationships/notesSlide" Target="../notesSlides/notesSlide45.xml"/><Relationship Id="rId1" Type="http://schemas.openxmlformats.org/officeDocument/2006/relationships/tags" Target="../tags/tag231.xml"/><Relationship Id="rId6" Type="http://schemas.openxmlformats.org/officeDocument/2006/relationships/tags" Target="../tags/tag236.xml"/><Relationship Id="rId11" Type="http://schemas.openxmlformats.org/officeDocument/2006/relationships/tags" Target="../tags/tag241.xml"/><Relationship Id="rId5" Type="http://schemas.openxmlformats.org/officeDocument/2006/relationships/tags" Target="../tags/tag235.xml"/><Relationship Id="rId15" Type="http://schemas.openxmlformats.org/officeDocument/2006/relationships/slideLayout" Target="../slideLayouts/slideLayout9.xml"/><Relationship Id="rId10" Type="http://schemas.openxmlformats.org/officeDocument/2006/relationships/tags" Target="../tags/tag240.xml"/><Relationship Id="rId4" Type="http://schemas.openxmlformats.org/officeDocument/2006/relationships/tags" Target="../tags/tag234.xml"/><Relationship Id="rId9" Type="http://schemas.openxmlformats.org/officeDocument/2006/relationships/tags" Target="../tags/tag239.xml"/><Relationship Id="rId14" Type="http://schemas.openxmlformats.org/officeDocument/2006/relationships/tags" Target="../tags/tag244.xml"/></Relationships>
</file>

<file path=ppt/slides/_rels/slide46.xml.rels><?xml version="1.0" encoding="UTF-8" standalone="yes"?>
<Relationships xmlns="http://schemas.openxmlformats.org/package/2006/relationships"><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 Id="rId6" Type="http://schemas.openxmlformats.org/officeDocument/2006/relationships/notesSlide" Target="../notesSlides/notesSlide46.xml"/><Relationship Id="rId5" Type="http://schemas.openxmlformats.org/officeDocument/2006/relationships/slideLayout" Target="../slideLayouts/slideLayout2.xml"/><Relationship Id="rId4" Type="http://schemas.openxmlformats.org/officeDocument/2006/relationships/tags" Target="../tags/tag2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a:extLst>
              <a:ext uri="{FF2B5EF4-FFF2-40B4-BE49-F238E27FC236}">
                <a16:creationId xmlns:a16="http://schemas.microsoft.com/office/drawing/2014/main" id="{70F3C878-B96E-4D5A-B0DA-CEEE814779D7}"/>
              </a:ext>
            </a:extLst>
          </p:cNvPr>
          <p:cNvPicPr>
            <a:picLocks noChangeAspect="1"/>
          </p:cNvPicPr>
          <p:nvPr>
            <p:custDataLst>
              <p:tags r:id="rId1"/>
            </p:custDataLst>
          </p:nvPr>
        </p:nvPicPr>
        <p:blipFill rotWithShape="1">
          <a:blip r:embed="rId7"/>
          <a:srcRect l="19892" r="4116" b="-1"/>
          <a:stretch/>
        </p:blipFill>
        <p:spPr>
          <a:xfrm>
            <a:off x="6355442" y="10"/>
            <a:ext cx="5836558" cy="5130404"/>
          </a:xfrm>
          <a:custGeom>
            <a:avLst/>
            <a:gdLst/>
            <a:ahLst/>
            <a:cxnLst/>
            <a:rect l="l" t="t" r="r" b="b"/>
            <a:pathLst>
              <a:path w="5836558" h="5130414">
                <a:moveTo>
                  <a:pt x="2376055" y="0"/>
                </a:moveTo>
                <a:lnTo>
                  <a:pt x="5836558" y="0"/>
                </a:lnTo>
                <a:lnTo>
                  <a:pt x="5836558" y="5130414"/>
                </a:lnTo>
                <a:lnTo>
                  <a:pt x="0" y="5130414"/>
                </a:lnTo>
                <a:close/>
              </a:path>
            </a:pathLst>
          </a:custGeom>
        </p:spPr>
      </p:pic>
      <p:sp>
        <p:nvSpPr>
          <p:cNvPr id="3" name="Sous-titre 2"/>
          <p:cNvSpPr>
            <a:spLocks noGrp="1"/>
          </p:cNvSpPr>
          <p:nvPr>
            <p:ph type="body" idx="1"/>
            <p:custDataLst>
              <p:tags r:id="rId2"/>
            </p:custDataLst>
          </p:nvPr>
        </p:nvSpPr>
        <p:spPr>
          <a:xfrm>
            <a:off x="841248" y="3194857"/>
            <a:ext cx="5808448" cy="911117"/>
          </a:xfr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r>
              <a:rPr lang="en-US" sz="2000" dirty="0">
                <a:solidFill>
                  <a:schemeClr val="tx1"/>
                </a:solidFill>
              </a:rPr>
              <a:t>Département de sciences </a:t>
            </a:r>
            <a:r>
              <a:rPr lang="en-US" sz="2000" dirty="0" err="1">
                <a:solidFill>
                  <a:schemeClr val="tx1"/>
                </a:solidFill>
              </a:rPr>
              <a:t>comptables</a:t>
            </a:r>
            <a:endParaRPr lang="en-US" sz="2000" dirty="0">
              <a:solidFill>
                <a:schemeClr val="tx1"/>
              </a:solidFill>
            </a:endParaRPr>
          </a:p>
          <a:p>
            <a:r>
              <a:rPr lang="en-US" sz="2000" dirty="0" err="1">
                <a:solidFill>
                  <a:schemeClr val="tx1"/>
                </a:solidFill>
              </a:rPr>
              <a:t>Année</a:t>
            </a:r>
            <a:r>
              <a:rPr lang="en-US" sz="2000" dirty="0">
                <a:solidFill>
                  <a:schemeClr val="tx1"/>
                </a:solidFill>
              </a:rPr>
              <a:t> </a:t>
            </a:r>
            <a:r>
              <a:rPr lang="en-US" sz="2000" dirty="0" err="1">
                <a:solidFill>
                  <a:schemeClr val="tx1"/>
                </a:solidFill>
              </a:rPr>
              <a:t>universitaire</a:t>
            </a:r>
            <a:r>
              <a:rPr lang="en-US" sz="2000">
                <a:solidFill>
                  <a:schemeClr val="tx1"/>
                </a:solidFill>
              </a:rPr>
              <a:t> 2025 – 2026 </a:t>
            </a:r>
          </a:p>
        </p:txBody>
      </p:sp>
      <p:sp>
        <p:nvSpPr>
          <p:cNvPr id="2" name="Titre 1"/>
          <p:cNvSpPr>
            <a:spLocks noGrp="1"/>
          </p:cNvSpPr>
          <p:nvPr>
            <p:ph type="title"/>
            <p:custDataLst>
              <p:tags r:id="rId3"/>
            </p:custDataLst>
          </p:nvPr>
        </p:nvSpPr>
        <p:spPr>
          <a:xfrm>
            <a:off x="841248" y="1380847"/>
            <a:ext cx="6270964" cy="1807054"/>
          </a:xfrm>
        </p:spPr>
        <p:style>
          <a:lnRef idx="2">
            <a:schemeClr val="accent6"/>
          </a:lnRef>
          <a:fillRef idx="1">
            <a:schemeClr val="lt1"/>
          </a:fillRef>
          <a:effectRef idx="0">
            <a:schemeClr val="accent6"/>
          </a:effectRef>
          <a:fontRef idx="minor">
            <a:schemeClr val="dk1"/>
          </a:fontRef>
        </p:style>
        <p:txBody>
          <a:bodyPr vert="horz" lIns="91440" tIns="45720" rIns="91440" bIns="45720" rtlCol="0" anchor="b">
            <a:normAutofit/>
          </a:bodyPr>
          <a:lstStyle/>
          <a:p>
            <a:r>
              <a:rPr lang="en-US" sz="3800" dirty="0" err="1">
                <a:solidFill>
                  <a:schemeClr val="tx1"/>
                </a:solidFill>
                <a:latin typeface="+mj-lt"/>
                <a:ea typeface="+mj-ea"/>
                <a:cs typeface="+mj-cs"/>
              </a:rPr>
              <a:t>Comptabilité</a:t>
            </a:r>
            <a:r>
              <a:rPr lang="en-US" sz="3800" dirty="0">
                <a:solidFill>
                  <a:schemeClr val="tx1"/>
                </a:solidFill>
                <a:latin typeface="+mj-lt"/>
                <a:ea typeface="+mj-ea"/>
                <a:cs typeface="+mj-cs"/>
              </a:rPr>
              <a:t> de gestion</a:t>
            </a:r>
            <a:br>
              <a:rPr lang="en-US" sz="3800" dirty="0">
                <a:latin typeface="+mj-lt"/>
                <a:ea typeface="+mj-ea"/>
                <a:cs typeface="+mj-cs"/>
              </a:rPr>
            </a:br>
            <a:r>
              <a:rPr lang="en-US" sz="3800" dirty="0">
                <a:solidFill>
                  <a:schemeClr val="tx1"/>
                </a:solidFill>
                <a:latin typeface="+mj-lt"/>
                <a:ea typeface="+mj-ea"/>
                <a:cs typeface="+mj-cs"/>
              </a:rPr>
              <a:t>(10904) – Séance 4</a:t>
            </a:r>
            <a:br>
              <a:rPr lang="en-US" sz="3800" dirty="0">
                <a:latin typeface="+mj-lt"/>
                <a:ea typeface="+mj-ea"/>
                <a:cs typeface="+mj-cs"/>
              </a:rPr>
            </a:br>
            <a:r>
              <a:rPr lang="en-US" sz="3800" dirty="0">
                <a:solidFill>
                  <a:schemeClr val="tx1"/>
                </a:solidFill>
                <a:latin typeface="+mj-lt"/>
                <a:ea typeface="+mj-ea"/>
                <a:cs typeface="+mj-cs"/>
              </a:rPr>
              <a:t>Séance </a:t>
            </a:r>
            <a:r>
              <a:rPr lang="en-US" sz="3800" dirty="0" err="1">
                <a:solidFill>
                  <a:schemeClr val="tx1"/>
                </a:solidFill>
                <a:latin typeface="+mj-lt"/>
                <a:ea typeface="+mj-ea"/>
                <a:cs typeface="+mj-cs"/>
              </a:rPr>
              <a:t>en</a:t>
            </a:r>
            <a:r>
              <a:rPr lang="en-US" sz="3800" dirty="0">
                <a:solidFill>
                  <a:schemeClr val="tx1"/>
                </a:solidFill>
                <a:latin typeface="+mj-lt"/>
                <a:ea typeface="+mj-ea"/>
                <a:cs typeface="+mj-cs"/>
              </a:rPr>
              <a:t> </a:t>
            </a:r>
            <a:r>
              <a:rPr lang="en-US" sz="3800" dirty="0" err="1">
                <a:solidFill>
                  <a:schemeClr val="tx1"/>
                </a:solidFill>
                <a:latin typeface="+mj-lt"/>
                <a:ea typeface="+mj-ea"/>
                <a:cs typeface="+mj-cs"/>
              </a:rPr>
              <a:t>classe</a:t>
            </a:r>
            <a:endParaRPr lang="en-US" sz="3800" dirty="0">
              <a:solidFill>
                <a:schemeClr val="tx1"/>
              </a:solidFill>
              <a:latin typeface="+mj-lt"/>
              <a:ea typeface="+mj-ea"/>
              <a:cs typeface="+mj-cs"/>
            </a:endParaRPr>
          </a:p>
        </p:txBody>
      </p:sp>
      <p:sp>
        <p:nvSpPr>
          <p:cNvPr id="5" name="Espace réservé du numéro de diapositive 4"/>
          <p:cNvSpPr>
            <a:spLocks noGrp="1"/>
          </p:cNvSpPr>
          <p:nvPr>
            <p:ph type="sldNum" sz="quarter" idx="12"/>
            <p:custDataLst>
              <p:tags r:id="rId4"/>
            </p:custDataLst>
          </p:nvPr>
        </p:nvSpPr>
        <p:spPr>
          <a:xfrm>
            <a:off x="7112212" y="5623560"/>
            <a:ext cx="4241588" cy="365125"/>
          </a:xfrm>
        </p:spPr>
        <p:txBody>
          <a:bodyPr vert="horz" lIns="91440" tIns="45720" rIns="91440" bIns="45720" rtlCol="0" anchor="ctr">
            <a:normAutofit/>
          </a:bodyPr>
          <a:lstStyle/>
          <a:p>
            <a:pPr algn="r">
              <a:spcAft>
                <a:spcPts val="600"/>
              </a:spcAft>
              <a:defRPr/>
            </a:pPr>
            <a:fld id="{1F20FBA3-27E4-4E13-841E-B59ED0E8E620}" type="slidenum">
              <a:rPr lang="en-US">
                <a:solidFill>
                  <a:srgbClr val="FFFFFF">
                    <a:alpha val="80000"/>
                  </a:srgbClr>
                </a:solidFill>
                <a:latin typeface="Calibri" panose="020F0502020204030204"/>
              </a:rPr>
              <a:pPr algn="r">
                <a:spcAft>
                  <a:spcPts val="600"/>
                </a:spcAft>
                <a:defRPr/>
              </a:pPr>
              <a:t>1</a:t>
            </a:fld>
            <a:endParaRPr lang="en-US">
              <a:solidFill>
                <a:srgbClr val="FFFFFF">
                  <a:alpha val="80000"/>
                </a:srgbClr>
              </a:solidFill>
              <a:latin typeface="Calibri" panose="020F0502020204030204"/>
            </a:endParaRPr>
          </a:p>
        </p:txBody>
      </p:sp>
    </p:spTree>
    <p:extLst>
      <p:ext uri="{BB962C8B-B14F-4D97-AF65-F5344CB8AC3E}">
        <p14:creationId xmlns:p14="http://schemas.microsoft.com/office/powerpoint/2010/main" val="21514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61D11-18EA-B97C-C3B0-28EC88EE9B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D034E9-91C8-CDE5-BCCD-F03137FD08EB}"/>
              </a:ext>
            </a:extLst>
          </p:cNvPr>
          <p:cNvSpPr>
            <a:spLocks noGrp="1"/>
          </p:cNvSpPr>
          <p:nvPr>
            <p:ph type="title"/>
            <p:custDataLst>
              <p:tags r:id="rId1"/>
            </p:custDataLst>
          </p:nvPr>
        </p:nvSpPr>
        <p:spPr>
          <a:xfrm>
            <a:off x="838200" y="160589"/>
            <a:ext cx="10889974" cy="1042570"/>
          </a:xfrm>
        </p:spPr>
        <p:txBody>
          <a:bodyPr>
            <a:normAutofit fontScale="90000"/>
          </a:bodyPr>
          <a:lstStyle/>
          <a:p>
            <a:r>
              <a:rPr lang="fr-CA" dirty="0"/>
              <a:t>Retour séance 3 - L’analyse différentielle </a:t>
            </a:r>
            <a:br>
              <a:rPr lang="fr-CA" dirty="0"/>
            </a:br>
            <a:r>
              <a:rPr lang="fr-CA" dirty="0"/>
              <a:t>Le cas de la commande spéciale</a:t>
            </a:r>
            <a:endParaRPr lang="fr-CA" sz="3300" dirty="0"/>
          </a:p>
        </p:txBody>
      </p:sp>
      <p:sp>
        <p:nvSpPr>
          <p:cNvPr id="3" name="Espace réservé du contenu 2">
            <a:extLst>
              <a:ext uri="{FF2B5EF4-FFF2-40B4-BE49-F238E27FC236}">
                <a16:creationId xmlns:a16="http://schemas.microsoft.com/office/drawing/2014/main" id="{3594B2BF-C25B-204C-195E-C52DD9537C66}"/>
              </a:ext>
            </a:extLst>
          </p:cNvPr>
          <p:cNvSpPr>
            <a:spLocks noGrp="1"/>
          </p:cNvSpPr>
          <p:nvPr>
            <p:ph idx="1"/>
            <p:custDataLst>
              <p:tags r:id="rId2"/>
            </p:custDataLst>
          </p:nvPr>
        </p:nvSpPr>
        <p:spPr>
          <a:xfrm>
            <a:off x="838200" y="1467851"/>
            <a:ext cx="10889974" cy="4709112"/>
          </a:xfrm>
        </p:spPr>
        <p:txBody>
          <a:bodyPr/>
          <a:lstStyle/>
          <a:p>
            <a:pPr fontAlgn="base"/>
            <a:r>
              <a:rPr lang="fr-CA" dirty="0"/>
              <a:t>L’entreprise </a:t>
            </a:r>
            <a:r>
              <a:rPr lang="fr-CA" dirty="0" err="1"/>
              <a:t>PommeD'or</a:t>
            </a:r>
            <a:r>
              <a:rPr lang="fr-CA" dirty="0"/>
              <a:t> vend 200 000 unités par année d’ours géants en peluche au prix de 45 $. Le coût de fabrication de chaque ours est composé de 12 $ de coûts variables et de 9 $ de coûts fixes. Un grossiste propose d’acheter 8 000 unités à 20 $ chacune. </a:t>
            </a:r>
            <a:r>
              <a:rPr lang="fr-CA" dirty="0" err="1"/>
              <a:t>PommeD'or</a:t>
            </a:r>
            <a:r>
              <a:rPr lang="fr-CA" dirty="0"/>
              <a:t> devra supporter des frais de livraison supplémentaires de 1,25 $ par ours.  </a:t>
            </a:r>
          </a:p>
          <a:p>
            <a:pPr marL="0" indent="0" fontAlgn="base">
              <a:buNone/>
            </a:pPr>
            <a:endParaRPr lang="fr-CA" dirty="0"/>
          </a:p>
          <a:p>
            <a:pPr fontAlgn="base"/>
            <a:r>
              <a:rPr lang="fr-CA" b="1" dirty="0"/>
              <a:t>Travail à faire : </a:t>
            </a:r>
            <a:r>
              <a:rPr lang="fr-CA" dirty="0"/>
              <a:t>Sachant que l’entreprise dispose de la capacité de production nécessaire pour produire les 8 000 unités, déterminez le résultat différentiel que l’entreprise réalisera en acceptant la commande spéciale. </a:t>
            </a:r>
          </a:p>
          <a:p>
            <a:pPr marL="0" indent="0">
              <a:buNone/>
            </a:pPr>
            <a:endParaRPr lang="fr-CA" dirty="0"/>
          </a:p>
        </p:txBody>
      </p:sp>
      <p:sp>
        <p:nvSpPr>
          <p:cNvPr id="5" name="Espace réservé du numéro de diapositive 4">
            <a:extLst>
              <a:ext uri="{FF2B5EF4-FFF2-40B4-BE49-F238E27FC236}">
                <a16:creationId xmlns:a16="http://schemas.microsoft.com/office/drawing/2014/main" id="{CF9EEE28-4925-EF8B-C5C3-C968FDE02964}"/>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3B9E6650-22BA-C804-7C44-383304E67162}"/>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Tree>
    <p:extLst>
      <p:ext uri="{BB962C8B-B14F-4D97-AF65-F5344CB8AC3E}">
        <p14:creationId xmlns:p14="http://schemas.microsoft.com/office/powerpoint/2010/main" val="1111727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264BA5-BA95-BA87-394D-950AF4A29E5F}"/>
              </a:ext>
            </a:extLst>
          </p:cNvPr>
          <p:cNvSpPr>
            <a:spLocks noGrp="1"/>
          </p:cNvSpPr>
          <p:nvPr>
            <p:ph type="title"/>
            <p:custDataLst>
              <p:tags r:id="rId1"/>
            </p:custDataLst>
          </p:nvPr>
        </p:nvSpPr>
        <p:spPr>
          <a:xfrm>
            <a:off x="838200" y="160589"/>
            <a:ext cx="10889974" cy="1042570"/>
          </a:xfrm>
        </p:spPr>
        <p:txBody>
          <a:bodyPr>
            <a:normAutofit fontScale="90000"/>
          </a:bodyPr>
          <a:lstStyle/>
          <a:p>
            <a:r>
              <a:rPr lang="fr-CA" dirty="0"/>
              <a:t>Retour séance 3 - L’analyse différentielle </a:t>
            </a:r>
            <a:br>
              <a:rPr lang="fr-CA" dirty="0"/>
            </a:br>
            <a:r>
              <a:rPr lang="fr-CA" dirty="0"/>
              <a:t>Le cas de la </a:t>
            </a:r>
            <a:r>
              <a:rPr lang="fr-CA"/>
              <a:t>commande spéciale</a:t>
            </a:r>
            <a:endParaRPr lang="fr-CA" sz="3300" dirty="0"/>
          </a:p>
        </p:txBody>
      </p:sp>
      <p:sp>
        <p:nvSpPr>
          <p:cNvPr id="3" name="Espace réservé du contenu 2">
            <a:extLst>
              <a:ext uri="{FF2B5EF4-FFF2-40B4-BE49-F238E27FC236}">
                <a16:creationId xmlns:a16="http://schemas.microsoft.com/office/drawing/2014/main" id="{E1D9D803-4DE9-754A-5508-FE9B6A04AA43}"/>
              </a:ext>
            </a:extLst>
          </p:cNvPr>
          <p:cNvSpPr>
            <a:spLocks noGrp="1"/>
          </p:cNvSpPr>
          <p:nvPr>
            <p:ph idx="1"/>
            <p:custDataLst>
              <p:tags r:id="rId2"/>
            </p:custDataLst>
          </p:nvPr>
        </p:nvSpPr>
        <p:spPr>
          <a:xfrm>
            <a:off x="353568" y="2401823"/>
            <a:ext cx="11704320" cy="3775139"/>
          </a:xfrm>
        </p:spPr>
        <p:txBody>
          <a:bodyPr>
            <a:normAutofit/>
          </a:bodyPr>
          <a:lstStyle/>
          <a:p>
            <a:pPr marL="0" indent="0">
              <a:buNone/>
            </a:pPr>
            <a:r>
              <a:rPr lang="fr-CA" sz="2600" u="sng" dirty="0"/>
              <a:t>Situation A </a:t>
            </a:r>
            <a:r>
              <a:rPr lang="fr-CA" sz="2600" dirty="0"/>
              <a:t>(statu quo)	</a:t>
            </a:r>
            <a:r>
              <a:rPr lang="fr-CA" sz="2600" u="sng" dirty="0"/>
              <a:t>Situation B</a:t>
            </a:r>
            <a:r>
              <a:rPr lang="fr-CA" sz="2600" dirty="0"/>
              <a:t> (accepter la commande)   Analyse différentielle</a:t>
            </a:r>
          </a:p>
        </p:txBody>
      </p:sp>
      <p:sp>
        <p:nvSpPr>
          <p:cNvPr id="5" name="Espace réservé du numéro de diapositive 4">
            <a:extLst>
              <a:ext uri="{FF2B5EF4-FFF2-40B4-BE49-F238E27FC236}">
                <a16:creationId xmlns:a16="http://schemas.microsoft.com/office/drawing/2014/main" id="{5E115E49-0941-77C8-EEB4-4C6EC5DAFB5E}"/>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3</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888355FC-8EF2-919F-1C31-1320DC0CF451}"/>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ZoneTexte 3">
            <a:extLst>
              <a:ext uri="{FF2B5EF4-FFF2-40B4-BE49-F238E27FC236}">
                <a16:creationId xmlns:a16="http://schemas.microsoft.com/office/drawing/2014/main" id="{FCC23E18-F916-9B1B-638C-0B61F6725947}"/>
              </a:ext>
            </a:extLst>
          </p:cNvPr>
          <p:cNvSpPr txBox="1"/>
          <p:nvPr/>
        </p:nvSpPr>
        <p:spPr>
          <a:xfrm>
            <a:off x="835822" y="1529633"/>
            <a:ext cx="5257800" cy="830997"/>
          </a:xfrm>
          <a:prstGeom prst="rect">
            <a:avLst/>
          </a:prstGeom>
          <a:noFill/>
        </p:spPr>
        <p:txBody>
          <a:bodyPr wrap="square" rtlCol="0">
            <a:spAutoFit/>
          </a:bodyPr>
          <a:lstStyle/>
          <a:p>
            <a:pPr marL="457200" indent="-457200">
              <a:buAutoNum type="arabicPeriod"/>
            </a:pPr>
            <a:r>
              <a:rPr lang="fr-CA" sz="2400" dirty="0"/>
              <a:t>Analyse de la capacité de production</a:t>
            </a:r>
          </a:p>
          <a:p>
            <a:pPr marL="457200" indent="-457200">
              <a:buAutoNum type="arabicPeriod"/>
            </a:pPr>
            <a:r>
              <a:rPr lang="fr-CA" sz="2400" dirty="0"/>
              <a:t>Calcul du résultat différentiel</a:t>
            </a:r>
            <a:r>
              <a:rPr lang="fr-CA" dirty="0"/>
              <a:t>	</a:t>
            </a:r>
          </a:p>
        </p:txBody>
      </p:sp>
    </p:spTree>
    <p:extLst>
      <p:ext uri="{BB962C8B-B14F-4D97-AF65-F5344CB8AC3E}">
        <p14:creationId xmlns:p14="http://schemas.microsoft.com/office/powerpoint/2010/main" val="1616020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4BE599E6-8DE8-E7CB-F9D9-592F2E2B42EE}"/>
              </a:ext>
            </a:extLst>
          </p:cNvPr>
          <p:cNvSpPr txBox="1"/>
          <p:nvPr>
            <p:custDataLst>
              <p:tags r:id="rId1"/>
            </p:custDataLst>
          </p:nvPr>
        </p:nvSpPr>
        <p:spPr>
          <a:xfrm>
            <a:off x="117442" y="578000"/>
            <a:ext cx="4603531" cy="6078587"/>
          </a:xfrm>
          <a:prstGeom prst="rect">
            <a:avLst/>
          </a:prstGeom>
          <a:noFill/>
        </p:spPr>
        <p:txBody>
          <a:bodyPr wrap="square" rtlCol="0">
            <a:spAutoFit/>
          </a:bodyPr>
          <a:lstStyle/>
          <a:p>
            <a:r>
              <a:rPr lang="fr-CA" sz="2200" b="1" u="sng"/>
              <a:t>Diriger</a:t>
            </a:r>
            <a:r>
              <a:rPr lang="fr-CA" u="sng"/>
              <a:t> (analyse d’aide à la prise de décision)</a:t>
            </a:r>
          </a:p>
          <a:p>
            <a:pPr>
              <a:spcAft>
                <a:spcPts val="600"/>
              </a:spcAft>
            </a:pPr>
            <a:r>
              <a:rPr lang="fr-CA">
                <a:solidFill>
                  <a:schemeClr val="bg1">
                    <a:lumMod val="85000"/>
                  </a:schemeClr>
                </a:solidFill>
              </a:rPr>
              <a:t>(S02) L’analyse coût-volume-résultat (CVR)</a:t>
            </a:r>
          </a:p>
          <a:p>
            <a:pPr>
              <a:spcAft>
                <a:spcPts val="600"/>
              </a:spcAft>
            </a:pPr>
            <a:r>
              <a:rPr lang="fr-CA" b="1"/>
              <a:t>Prise de décision à court terme</a:t>
            </a:r>
          </a:p>
          <a:p>
            <a:pPr>
              <a:spcAft>
                <a:spcPts val="600"/>
              </a:spcAft>
            </a:pPr>
            <a:r>
              <a:rPr lang="fr-CA" b="1"/>
              <a:t>(S03-S04) L’analyse différentielle </a:t>
            </a:r>
            <a:r>
              <a:rPr lang="fr-CA"/>
              <a:t>: </a:t>
            </a:r>
            <a:r>
              <a:rPr lang="fr-CA" i="1">
                <a:solidFill>
                  <a:srgbClr val="0070C0"/>
                </a:solidFill>
              </a:rPr>
              <a:t>consiste à faire ressortir les divers éléments de revenu et de coûts sur lesquels influe chaque décision et permet de la comparer à une situation de référence.</a:t>
            </a:r>
          </a:p>
          <a:p>
            <a:pPr marL="285750" indent="-285750">
              <a:buFont typeface="Arial" panose="020B0604020202020204" pitchFamily="34" charset="0"/>
              <a:buChar char="•"/>
            </a:pPr>
            <a:r>
              <a:rPr lang="fr-CA" i="1"/>
              <a:t>Exemples de décisions d’exploitation:</a:t>
            </a:r>
          </a:p>
          <a:p>
            <a:pPr marL="742950" lvl="1" indent="-285750">
              <a:buFontTx/>
              <a:buChar char="-"/>
            </a:pPr>
            <a:r>
              <a:rPr lang="fr-CA"/>
              <a:t>Commande spéciale</a:t>
            </a:r>
          </a:p>
          <a:p>
            <a:pPr marL="742950" lvl="1" indent="-285750">
              <a:buFontTx/>
              <a:buChar char="-"/>
            </a:pPr>
            <a:r>
              <a:rPr lang="fr-CA" u="sng">
                <a:solidFill>
                  <a:schemeClr val="tx2">
                    <a:lumMod val="60000"/>
                    <a:lumOff val="40000"/>
                  </a:schemeClr>
                </a:solidFill>
              </a:rPr>
              <a:t>Fabriquer ou sous-traiter un produit</a:t>
            </a:r>
          </a:p>
          <a:p>
            <a:pPr marL="742950" lvl="1" indent="-285750">
              <a:buFontTx/>
              <a:buChar char="-"/>
            </a:pPr>
            <a:r>
              <a:rPr lang="fr-CA" u="sng">
                <a:solidFill>
                  <a:schemeClr val="tx2">
                    <a:lumMod val="60000"/>
                    <a:lumOff val="40000"/>
                  </a:schemeClr>
                </a:solidFill>
              </a:rPr>
              <a:t>Continuer ou abandonner un produit</a:t>
            </a:r>
          </a:p>
          <a:p>
            <a:pPr marL="742950" lvl="1" indent="-285750">
              <a:buFontTx/>
              <a:buChar char="-"/>
            </a:pPr>
            <a:endParaRPr lang="fr-CA"/>
          </a:p>
          <a:p>
            <a:r>
              <a:rPr lang="fr-CA" b="1"/>
              <a:t>(S04) L’analyse des marges : </a:t>
            </a:r>
            <a:r>
              <a:rPr lang="fr-CA" i="1">
                <a:solidFill>
                  <a:srgbClr val="0070C0"/>
                </a:solidFill>
              </a:rPr>
              <a:t>diagnostic financier</a:t>
            </a:r>
            <a:endParaRPr lang="fr-CA" b="1"/>
          </a:p>
          <a:p>
            <a:pPr marL="742950" lvl="1" indent="-285750">
              <a:spcAft>
                <a:spcPts val="600"/>
              </a:spcAft>
              <a:buFontTx/>
              <a:buChar char="-"/>
            </a:pPr>
            <a:r>
              <a:rPr lang="fr-CA" u="sng">
                <a:solidFill>
                  <a:schemeClr val="tx2">
                    <a:lumMod val="60000"/>
                    <a:lumOff val="40000"/>
                  </a:schemeClr>
                </a:solidFill>
              </a:rPr>
              <a:t>Choisir parmi une gamme de produits </a:t>
            </a:r>
            <a:r>
              <a:rPr lang="fr-CA"/>
              <a:t>(plan de production optimal) contexte ressources limitées</a:t>
            </a:r>
          </a:p>
          <a:p>
            <a:pPr marL="742950" lvl="1" indent="-285750">
              <a:spcAft>
                <a:spcPts val="600"/>
              </a:spcAft>
              <a:buFontTx/>
              <a:buChar char="-"/>
            </a:pPr>
            <a:r>
              <a:rPr lang="fr-CA">
                <a:solidFill>
                  <a:srgbClr val="0070C0"/>
                </a:solidFill>
              </a:rPr>
              <a:t>Prises de décisions diverses</a:t>
            </a:r>
          </a:p>
          <a:p>
            <a:r>
              <a:rPr lang="fr-CA">
                <a:solidFill>
                  <a:schemeClr val="bg1">
                    <a:lumMod val="85000"/>
                  </a:schemeClr>
                </a:solidFill>
              </a:rPr>
              <a:t>(</a:t>
            </a:r>
          </a:p>
        </p:txBody>
      </p:sp>
      <p:sp>
        <p:nvSpPr>
          <p:cNvPr id="8" name="ZoneTexte 7">
            <a:extLst>
              <a:ext uri="{FF2B5EF4-FFF2-40B4-BE49-F238E27FC236}">
                <a16:creationId xmlns:a16="http://schemas.microsoft.com/office/drawing/2014/main" id="{279518F0-7F00-9EDE-A4A0-F575EEDA4DB9}"/>
              </a:ext>
            </a:extLst>
          </p:cNvPr>
          <p:cNvSpPr txBox="1"/>
          <p:nvPr>
            <p:custDataLst>
              <p:tags r:id="rId2"/>
            </p:custDataLst>
          </p:nvPr>
        </p:nvSpPr>
        <p:spPr>
          <a:xfrm>
            <a:off x="277724" y="127378"/>
            <a:ext cx="1229711" cy="553998"/>
          </a:xfrm>
          <a:prstGeom prst="rect">
            <a:avLst/>
          </a:prstGeom>
          <a:noFill/>
        </p:spPr>
        <p:txBody>
          <a:bodyPr wrap="square" rtlCol="0">
            <a:spAutoFit/>
          </a:bodyPr>
          <a:lstStyle/>
          <a:p>
            <a:r>
              <a:rPr lang="fr-CA" sz="3000">
                <a:ln w="0"/>
                <a:solidFill>
                  <a:srgbClr val="002060"/>
                </a:solidFill>
                <a:latin typeface="+mj-lt"/>
              </a:rPr>
              <a:t>S04</a:t>
            </a:r>
          </a:p>
        </p:txBody>
      </p:sp>
      <p:graphicFrame>
        <p:nvGraphicFramePr>
          <p:cNvPr id="9" name="Tableau 9">
            <a:extLst>
              <a:ext uri="{FF2B5EF4-FFF2-40B4-BE49-F238E27FC236}">
                <a16:creationId xmlns:a16="http://schemas.microsoft.com/office/drawing/2014/main" id="{34D84F34-291A-AA1D-A63B-256B20790B2B}"/>
              </a:ext>
            </a:extLst>
          </p:cNvPr>
          <p:cNvGraphicFramePr>
            <a:graphicFrameLocks noGrp="1"/>
          </p:cNvGraphicFramePr>
          <p:nvPr>
            <p:custDataLst>
              <p:tags r:id="rId3"/>
            </p:custDataLst>
          </p:nvPr>
        </p:nvGraphicFramePr>
        <p:xfrm>
          <a:off x="4841376" y="3317418"/>
          <a:ext cx="7233182" cy="2656840"/>
        </p:xfrm>
        <a:graphic>
          <a:graphicData uri="http://schemas.openxmlformats.org/drawingml/2006/table">
            <a:tbl>
              <a:tblPr firstRow="1" bandRow="1">
                <a:tableStyleId>{5940675A-B579-460E-94D1-54222C63F5DA}</a:tableStyleId>
              </a:tblPr>
              <a:tblGrid>
                <a:gridCol w="2437282">
                  <a:extLst>
                    <a:ext uri="{9D8B030D-6E8A-4147-A177-3AD203B41FA5}">
                      <a16:colId xmlns:a16="http://schemas.microsoft.com/office/drawing/2014/main" val="3498432828"/>
                    </a:ext>
                  </a:extLst>
                </a:gridCol>
                <a:gridCol w="2137721">
                  <a:extLst>
                    <a:ext uri="{9D8B030D-6E8A-4147-A177-3AD203B41FA5}">
                      <a16:colId xmlns:a16="http://schemas.microsoft.com/office/drawing/2014/main" val="555937702"/>
                    </a:ext>
                  </a:extLst>
                </a:gridCol>
                <a:gridCol w="2658179">
                  <a:extLst>
                    <a:ext uri="{9D8B030D-6E8A-4147-A177-3AD203B41FA5}">
                      <a16:colId xmlns:a16="http://schemas.microsoft.com/office/drawing/2014/main" val="155866701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u="sng"/>
                        <a:t>Méthodes pour la comptabilité de gestion</a:t>
                      </a:r>
                    </a:p>
                  </a:txBody>
                  <a:tcPr/>
                </a:tc>
                <a:tc>
                  <a:txBody>
                    <a:bodyPr/>
                    <a:lstStyle/>
                    <a:p>
                      <a:r>
                        <a:rPr lang="fr-CA" sz="1400"/>
                        <a:t>Classification des coûts</a:t>
                      </a:r>
                    </a:p>
                  </a:txBody>
                  <a:tcPr/>
                </a:tc>
                <a:tc>
                  <a:txBody>
                    <a:bodyPr/>
                    <a:lstStyle/>
                    <a:p>
                      <a:r>
                        <a:rPr lang="fr-CA" sz="1400"/>
                        <a:t>Types de marges calculées</a:t>
                      </a:r>
                    </a:p>
                  </a:txBody>
                  <a:tcPr/>
                </a:tc>
                <a:extLst>
                  <a:ext uri="{0D108BD9-81ED-4DB2-BD59-A6C34878D82A}">
                    <a16:rowId xmlns:a16="http://schemas.microsoft.com/office/drawing/2014/main" val="10258894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solidFill>
                            <a:srgbClr val="0070C0"/>
                          </a:solidFill>
                        </a:rPr>
                        <a:t>Méthode des coûts variables</a:t>
                      </a:r>
                    </a:p>
                  </a:txBody>
                  <a:tcPr/>
                </a:tc>
                <a:tc>
                  <a:txBody>
                    <a:bodyPr/>
                    <a:lstStyle/>
                    <a:p>
                      <a:r>
                        <a:rPr lang="fr-CA" sz="1400">
                          <a:solidFill>
                            <a:srgbClr val="0070C0"/>
                          </a:solidFill>
                        </a:rPr>
                        <a:t>Variables ou Fixes</a:t>
                      </a:r>
                      <a:endParaRPr lang="fr-CA" sz="1400"/>
                    </a:p>
                  </a:txBody>
                  <a:tcPr/>
                </a:tc>
                <a:tc>
                  <a:txBody>
                    <a:bodyPr/>
                    <a:lstStyle/>
                    <a:p>
                      <a:r>
                        <a:rPr lang="fr-CA" sz="1400">
                          <a:solidFill>
                            <a:srgbClr val="0070C0"/>
                          </a:solidFill>
                        </a:rPr>
                        <a:t>Marge sur coûts variables (MCV)</a:t>
                      </a:r>
                    </a:p>
                    <a:p>
                      <a:r>
                        <a:rPr lang="fr-CA" sz="1400">
                          <a:solidFill>
                            <a:srgbClr val="0070C0"/>
                          </a:solidFill>
                        </a:rPr>
                        <a:t>Marge par facteur de production</a:t>
                      </a:r>
                    </a:p>
                  </a:txBody>
                  <a:tcPr/>
                </a:tc>
                <a:extLst>
                  <a:ext uri="{0D108BD9-81ED-4DB2-BD59-A6C34878D82A}">
                    <a16:rowId xmlns:a16="http://schemas.microsoft.com/office/drawing/2014/main" val="28118229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solidFill>
                            <a:srgbClr val="0070C0"/>
                          </a:solidFill>
                        </a:rPr>
                        <a:t>Méthode des coûts spécifiques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solidFill>
                            <a:srgbClr val="0070C0"/>
                          </a:solidFill>
                        </a:rPr>
                        <a:t>Variables ou Fixes</a:t>
                      </a:r>
                    </a:p>
                    <a:p>
                      <a:r>
                        <a:rPr lang="fr-CA" sz="1400">
                          <a:solidFill>
                            <a:srgbClr val="0070C0"/>
                          </a:solidFill>
                        </a:rPr>
                        <a:t>Fixes : communs ou spécifiques</a:t>
                      </a:r>
                    </a:p>
                  </a:txBody>
                  <a:tcPr/>
                </a:tc>
                <a:tc>
                  <a:txBody>
                    <a:bodyPr/>
                    <a:lstStyle/>
                    <a:p>
                      <a:r>
                        <a:rPr lang="fr-CA" sz="1400">
                          <a:solidFill>
                            <a:srgbClr val="0070C0"/>
                          </a:solidFill>
                        </a:rPr>
                        <a:t>Marge sur coûts spécifiques</a:t>
                      </a:r>
                    </a:p>
                  </a:txBody>
                  <a:tcPr/>
                </a:tc>
                <a:extLst>
                  <a:ext uri="{0D108BD9-81ED-4DB2-BD59-A6C34878D82A}">
                    <a16:rowId xmlns:a16="http://schemas.microsoft.com/office/drawing/2014/main" val="37587089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solidFill>
                            <a:schemeClr val="bg1">
                              <a:lumMod val="85000"/>
                            </a:schemeClr>
                          </a:solidFill>
                        </a:rPr>
                        <a:t>Méthode des coûts complets </a:t>
                      </a:r>
                    </a:p>
                  </a:txBody>
                  <a:tcPr/>
                </a:tc>
                <a:tc>
                  <a:txBody>
                    <a:bodyPr/>
                    <a:lstStyle/>
                    <a:p>
                      <a:r>
                        <a:rPr lang="fr-CA" sz="1400">
                          <a:solidFill>
                            <a:schemeClr val="bg1">
                              <a:lumMod val="85000"/>
                            </a:schemeClr>
                          </a:solidFill>
                        </a:rPr>
                        <a:t>Coût de fabrication et frais d’exploitation</a:t>
                      </a:r>
                    </a:p>
                  </a:txBody>
                  <a:tcPr/>
                </a:tc>
                <a:tc>
                  <a:txBody>
                    <a:bodyPr/>
                    <a:lstStyle/>
                    <a:p>
                      <a:r>
                        <a:rPr lang="fr-CA" sz="1400">
                          <a:solidFill>
                            <a:schemeClr val="bg1">
                              <a:lumMod val="85000"/>
                            </a:schemeClr>
                          </a:solidFill>
                        </a:rPr>
                        <a:t>Marge brute</a:t>
                      </a:r>
                    </a:p>
                  </a:txBody>
                  <a:tcPr/>
                </a:tc>
                <a:extLst>
                  <a:ext uri="{0D108BD9-81ED-4DB2-BD59-A6C34878D82A}">
                    <a16:rowId xmlns:a16="http://schemas.microsoft.com/office/drawing/2014/main" val="27987699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solidFill>
                            <a:schemeClr val="bg1">
                              <a:lumMod val="85000"/>
                            </a:schemeClr>
                          </a:solidFill>
                        </a:rPr>
                        <a:t>Méthode des coûts standards </a:t>
                      </a:r>
                    </a:p>
                  </a:txBody>
                  <a:tcPr/>
                </a:tc>
                <a:tc>
                  <a:txBody>
                    <a:bodyPr/>
                    <a:lstStyle/>
                    <a:p>
                      <a:endParaRPr lang="fr-CA" sz="1400">
                        <a:solidFill>
                          <a:schemeClr val="bg1">
                            <a:lumMod val="85000"/>
                          </a:schemeClr>
                        </a:solidFill>
                      </a:endParaRPr>
                    </a:p>
                  </a:txBody>
                  <a:tcPr/>
                </a:tc>
                <a:tc>
                  <a:txBody>
                    <a:bodyPr/>
                    <a:lstStyle/>
                    <a:p>
                      <a:endParaRPr lang="fr-CA" sz="1400">
                        <a:solidFill>
                          <a:schemeClr val="bg1">
                            <a:lumMod val="85000"/>
                          </a:schemeClr>
                        </a:solidFill>
                      </a:endParaRPr>
                    </a:p>
                  </a:txBody>
                  <a:tcPr/>
                </a:tc>
                <a:extLst>
                  <a:ext uri="{0D108BD9-81ED-4DB2-BD59-A6C34878D82A}">
                    <a16:rowId xmlns:a16="http://schemas.microsoft.com/office/drawing/2014/main" val="2669136118"/>
                  </a:ext>
                </a:extLst>
              </a:tr>
            </a:tbl>
          </a:graphicData>
        </a:graphic>
      </p:graphicFrame>
      <p:sp>
        <p:nvSpPr>
          <p:cNvPr id="10" name="ZoneTexte 9">
            <a:extLst>
              <a:ext uri="{FF2B5EF4-FFF2-40B4-BE49-F238E27FC236}">
                <a16:creationId xmlns:a16="http://schemas.microsoft.com/office/drawing/2014/main" id="{855C0995-5A58-2EAC-32EA-C6C2F0575F06}"/>
              </a:ext>
            </a:extLst>
          </p:cNvPr>
          <p:cNvSpPr txBox="1"/>
          <p:nvPr>
            <p:custDataLst>
              <p:tags r:id="rId4"/>
            </p:custDataLst>
          </p:nvPr>
        </p:nvSpPr>
        <p:spPr>
          <a:xfrm>
            <a:off x="4841376" y="1891154"/>
            <a:ext cx="3085360" cy="1015663"/>
          </a:xfrm>
          <a:prstGeom prst="rect">
            <a:avLst/>
          </a:prstGeom>
          <a:ln w="38100"/>
          <a:effectLst>
            <a:glow rad="635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CA" sz="2000"/>
              <a:t>Gestionnaire veut agir sur</a:t>
            </a:r>
          </a:p>
          <a:p>
            <a:pPr algn="ctr"/>
            <a:r>
              <a:rPr lang="fr-CA" sz="2000" b="1"/>
              <a:t>Résultat d’exploitation</a:t>
            </a:r>
          </a:p>
          <a:p>
            <a:pPr algn="ctr"/>
            <a:r>
              <a:rPr lang="fr-CA" sz="2000" i="1"/>
              <a:t>Total ou unitaire</a:t>
            </a:r>
          </a:p>
        </p:txBody>
      </p:sp>
      <p:sp>
        <p:nvSpPr>
          <p:cNvPr id="2" name="ZoneTexte 1">
            <a:extLst>
              <a:ext uri="{FF2B5EF4-FFF2-40B4-BE49-F238E27FC236}">
                <a16:creationId xmlns:a16="http://schemas.microsoft.com/office/drawing/2014/main" id="{08DCD267-1793-3F3D-F08D-1B3AF40E99D4}"/>
              </a:ext>
            </a:extLst>
          </p:cNvPr>
          <p:cNvSpPr txBox="1"/>
          <p:nvPr>
            <p:custDataLst>
              <p:tags r:id="rId5"/>
            </p:custDataLst>
          </p:nvPr>
        </p:nvSpPr>
        <p:spPr>
          <a:xfrm>
            <a:off x="8274833" y="258901"/>
            <a:ext cx="3828393" cy="2893100"/>
          </a:xfrm>
          <a:prstGeom prst="rect">
            <a:avLst/>
          </a:prstGeom>
          <a:noFill/>
        </p:spPr>
        <p:txBody>
          <a:bodyPr wrap="square" rtlCol="0">
            <a:spAutoFit/>
          </a:bodyPr>
          <a:lstStyle/>
          <a:p>
            <a:pPr>
              <a:spcAft>
                <a:spcPts val="600"/>
              </a:spcAft>
            </a:pPr>
            <a:r>
              <a:rPr lang="fr-CA" b="1">
                <a:solidFill>
                  <a:schemeClr val="bg1">
                    <a:lumMod val="85000"/>
                  </a:schemeClr>
                </a:solidFill>
              </a:rPr>
              <a:t>(S06) Contrôler</a:t>
            </a:r>
            <a:r>
              <a:rPr lang="fr-CA">
                <a:solidFill>
                  <a:schemeClr val="bg1">
                    <a:lumMod val="85000"/>
                  </a:schemeClr>
                </a:solidFill>
              </a:rPr>
              <a:t> la rentabilité dans l’entreprise manufacturière</a:t>
            </a:r>
          </a:p>
          <a:p>
            <a:pPr marL="285750" indent="-180000">
              <a:spcAft>
                <a:spcPts val="600"/>
              </a:spcAft>
              <a:buFont typeface="Arial" panose="020B0604020202020204" pitchFamily="34" charset="0"/>
              <a:buChar char="•"/>
            </a:pPr>
            <a:r>
              <a:rPr lang="fr-CA" i="1">
                <a:solidFill>
                  <a:schemeClr val="bg1">
                    <a:lumMod val="85000"/>
                  </a:schemeClr>
                </a:solidFill>
              </a:rPr>
              <a:t>État des résultats réels </a:t>
            </a:r>
            <a:r>
              <a:rPr lang="fr-CA">
                <a:solidFill>
                  <a:schemeClr val="bg1">
                    <a:lumMod val="85000"/>
                  </a:schemeClr>
                </a:solidFill>
              </a:rPr>
              <a:t>(État du coût de fabrication)</a:t>
            </a:r>
          </a:p>
          <a:p>
            <a:pPr>
              <a:spcAft>
                <a:spcPts val="600"/>
              </a:spcAft>
            </a:pPr>
            <a:r>
              <a:rPr lang="fr-CA" b="1">
                <a:solidFill>
                  <a:schemeClr val="bg1">
                    <a:lumMod val="85000"/>
                  </a:schemeClr>
                </a:solidFill>
              </a:rPr>
              <a:t>(S08-S09) </a:t>
            </a:r>
            <a:r>
              <a:rPr lang="fr-CA" b="1"/>
              <a:t>Planification </a:t>
            </a:r>
          </a:p>
          <a:p>
            <a:pPr>
              <a:spcAft>
                <a:spcPts val="600"/>
              </a:spcAft>
            </a:pPr>
            <a:r>
              <a:rPr lang="fr-CA" i="1">
                <a:solidFill>
                  <a:schemeClr val="bg1">
                    <a:lumMod val="85000"/>
                  </a:schemeClr>
                </a:solidFill>
              </a:rPr>
              <a:t>Établir des prévisions</a:t>
            </a:r>
          </a:p>
          <a:p>
            <a:r>
              <a:rPr lang="fr-CA" b="1">
                <a:solidFill>
                  <a:schemeClr val="bg1">
                    <a:lumMod val="85000"/>
                  </a:schemeClr>
                </a:solidFill>
              </a:rPr>
              <a:t>(S10-S11) </a:t>
            </a:r>
            <a:r>
              <a:rPr lang="fr-CA" b="1"/>
              <a:t>Contrôle </a:t>
            </a:r>
          </a:p>
          <a:p>
            <a:r>
              <a:rPr lang="fr-CA" i="1">
                <a:solidFill>
                  <a:schemeClr val="bg1">
                    <a:lumMod val="85000"/>
                  </a:schemeClr>
                </a:solidFill>
              </a:rPr>
              <a:t>Mesurer la performance et </a:t>
            </a:r>
          </a:p>
          <a:p>
            <a:r>
              <a:rPr lang="fr-CA" i="1">
                <a:solidFill>
                  <a:schemeClr val="bg1">
                    <a:lumMod val="85000"/>
                  </a:schemeClr>
                </a:solidFill>
              </a:rPr>
              <a:t>calculer les écarts</a:t>
            </a:r>
          </a:p>
        </p:txBody>
      </p:sp>
      <p:sp>
        <p:nvSpPr>
          <p:cNvPr id="4" name="ZoneTexte 3">
            <a:extLst>
              <a:ext uri="{FF2B5EF4-FFF2-40B4-BE49-F238E27FC236}">
                <a16:creationId xmlns:a16="http://schemas.microsoft.com/office/drawing/2014/main" id="{E749864F-58DF-C3FC-4CFA-0EC9BAB3C545}"/>
              </a:ext>
            </a:extLst>
          </p:cNvPr>
          <p:cNvSpPr txBox="1"/>
          <p:nvPr>
            <p:custDataLst>
              <p:tags r:id="rId6"/>
            </p:custDataLst>
          </p:nvPr>
        </p:nvSpPr>
        <p:spPr>
          <a:xfrm>
            <a:off x="1828832" y="6251296"/>
            <a:ext cx="6097904" cy="646331"/>
          </a:xfrm>
          <a:prstGeom prst="rect">
            <a:avLst/>
          </a:prstGeom>
          <a:noFill/>
        </p:spPr>
        <p:txBody>
          <a:bodyPr wrap="square">
            <a:spAutoFit/>
          </a:bodyPr>
          <a:lstStyle/>
          <a:p>
            <a:r>
              <a:rPr lang="fr-CA">
                <a:solidFill>
                  <a:schemeClr val="bg1">
                    <a:lumMod val="85000"/>
                  </a:schemeClr>
                </a:solidFill>
              </a:rPr>
              <a:t>(S05) Analyse la rentabilité par produit</a:t>
            </a:r>
          </a:p>
          <a:p>
            <a:pPr marL="285750" indent="-180000">
              <a:buFont typeface="Arial" panose="020B0604020202020204" pitchFamily="34" charset="0"/>
              <a:buChar char="•"/>
            </a:pPr>
            <a:r>
              <a:rPr lang="fr-CA">
                <a:solidFill>
                  <a:schemeClr val="bg1">
                    <a:lumMod val="85000"/>
                  </a:schemeClr>
                </a:solidFill>
              </a:rPr>
              <a:t>Coût de fabrication unitaire</a:t>
            </a:r>
          </a:p>
        </p:txBody>
      </p:sp>
      <p:sp>
        <p:nvSpPr>
          <p:cNvPr id="6" name="Espace réservé du numéro de diapositive 5">
            <a:extLst>
              <a:ext uri="{FF2B5EF4-FFF2-40B4-BE49-F238E27FC236}">
                <a16:creationId xmlns:a16="http://schemas.microsoft.com/office/drawing/2014/main" id="{123DCEC1-637F-622F-B2F0-1CDEC7579A8A}"/>
              </a:ext>
            </a:extLst>
          </p:cNvPr>
          <p:cNvSpPr>
            <a:spLocks noGrp="1"/>
          </p:cNvSpPr>
          <p:nvPr>
            <p:ph type="sldNum" sz="quarter" idx="12"/>
            <p:custDataLst>
              <p:tags r:id="rId7"/>
            </p:custDataLst>
          </p:nvPr>
        </p:nvSpPr>
        <p:spPr/>
        <p:txBody>
          <a:bodyPr/>
          <a:lstStyle/>
          <a:p>
            <a:fld id="{1F20FBA3-27E4-4E13-841E-B59ED0E8E620}" type="slidenum">
              <a:rPr lang="fr-CA" smtClean="0">
                <a:solidFill>
                  <a:prstClr val="black">
                    <a:tint val="75000"/>
                  </a:prstClr>
                </a:solidFill>
              </a:rPr>
              <a:pPr/>
              <a:t>4</a:t>
            </a:fld>
            <a:endParaRPr lang="fr-CA">
              <a:solidFill>
                <a:prstClr val="black">
                  <a:tint val="75000"/>
                </a:prstClr>
              </a:solidFill>
            </a:endParaRPr>
          </a:p>
        </p:txBody>
      </p:sp>
      <p:sp>
        <p:nvSpPr>
          <p:cNvPr id="11" name="Espace réservé du pied de page 3">
            <a:extLst>
              <a:ext uri="{FF2B5EF4-FFF2-40B4-BE49-F238E27FC236}">
                <a16:creationId xmlns:a16="http://schemas.microsoft.com/office/drawing/2014/main" id="{7BA61F34-839D-B242-6560-F93A57B39327}"/>
              </a:ext>
            </a:extLst>
          </p:cNvPr>
          <p:cNvSpPr>
            <a:spLocks noGrp="1"/>
          </p:cNvSpPr>
          <p:nvPr>
            <p:ph type="ftr" sz="quarter" idx="11"/>
            <p:custDataLst>
              <p:tags r:id="rId8"/>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Tree>
    <p:extLst>
      <p:ext uri="{BB962C8B-B14F-4D97-AF65-F5344CB8AC3E}">
        <p14:creationId xmlns:p14="http://schemas.microsoft.com/office/powerpoint/2010/main" val="4097259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normAutofit/>
          </a:bodyPr>
          <a:lstStyle/>
          <a:p>
            <a:pPr algn="ctr"/>
            <a:r>
              <a:rPr lang="fr-CA"/>
              <a:t>La prise de décision d’exploitation </a:t>
            </a:r>
            <a:br>
              <a:rPr lang="fr-CA"/>
            </a:br>
            <a:r>
              <a:rPr lang="fr-CA"/>
              <a:t>et les marges</a:t>
            </a:r>
          </a:p>
        </p:txBody>
      </p:sp>
      <p:sp>
        <p:nvSpPr>
          <p:cNvPr id="6" name="Espace réservé du texte 5"/>
          <p:cNvSpPr>
            <a:spLocks noGrp="1"/>
          </p:cNvSpPr>
          <p:nvPr>
            <p:ph type="body" idx="1"/>
            <p:custDataLst>
              <p:tags r:id="rId2"/>
            </p:custDataLst>
          </p:nvPr>
        </p:nvSpPr>
        <p:spPr>
          <a:xfrm>
            <a:off x="831850" y="4665663"/>
            <a:ext cx="10515600" cy="1500187"/>
          </a:xfrm>
        </p:spPr>
        <p:txBody>
          <a:bodyPr>
            <a:normAutofit/>
          </a:bodyPr>
          <a:lstStyle/>
          <a:p>
            <a:pPr algn="ctr"/>
            <a:r>
              <a:rPr lang="fr-CA" sz="4800">
                <a:solidFill>
                  <a:schemeClr val="tx1"/>
                </a:solidFill>
              </a:rPr>
              <a:t>Séance 4</a:t>
            </a:r>
          </a:p>
        </p:txBody>
      </p:sp>
      <p:sp>
        <p:nvSpPr>
          <p:cNvPr id="4" name="Espace réservé du pied de page 3">
            <a:extLst>
              <a:ext uri="{FF2B5EF4-FFF2-40B4-BE49-F238E27FC236}">
                <a16:creationId xmlns:a16="http://schemas.microsoft.com/office/drawing/2014/main" id="{ADCF1CC9-A82C-6585-36F0-48BC7DB9ECC2}"/>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7" name="Espace réservé du numéro de diapositive 4">
            <a:extLst>
              <a:ext uri="{FF2B5EF4-FFF2-40B4-BE49-F238E27FC236}">
                <a16:creationId xmlns:a16="http://schemas.microsoft.com/office/drawing/2014/main" id="{993F744E-FAE3-B718-34C9-103242B25F8F}"/>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5</a:t>
            </a:fld>
            <a:endParaRPr lang="fr-CA">
              <a:solidFill>
                <a:prstClr val="black">
                  <a:tint val="75000"/>
                </a:prstClr>
              </a:solidFill>
            </a:endParaRPr>
          </a:p>
        </p:txBody>
      </p:sp>
    </p:spTree>
    <p:extLst>
      <p:ext uri="{BB962C8B-B14F-4D97-AF65-F5344CB8AC3E}">
        <p14:creationId xmlns:p14="http://schemas.microsoft.com/office/powerpoint/2010/main" val="3481455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D19628C8-3D2A-D54F-B963-0C782B8D3F95}"/>
              </a:ext>
            </a:extLst>
          </p:cNvPr>
          <p:cNvSpPr txBox="1"/>
          <p:nvPr>
            <p:custDataLst>
              <p:tags r:id="rId1"/>
            </p:custDataLst>
          </p:nvPr>
        </p:nvSpPr>
        <p:spPr>
          <a:xfrm>
            <a:off x="3344380" y="429324"/>
            <a:ext cx="5378445" cy="707886"/>
          </a:xfrm>
          <a:prstGeom prst="rect">
            <a:avLst/>
          </a:prstGeom>
          <a:noFill/>
        </p:spPr>
        <p:txBody>
          <a:bodyPr wrap="square" lIns="91440" tIns="45720" rIns="91440" bIns="45720" rtlCol="0" anchor="t">
            <a:spAutoFit/>
          </a:bodyPr>
          <a:lstStyle/>
          <a:p>
            <a:pPr algn="ctr"/>
            <a:r>
              <a:rPr lang="en-US" sz="4000" spc="136">
                <a:solidFill>
                  <a:schemeClr val="tx1">
                    <a:lumMod val="95000"/>
                    <a:lumOff val="5000"/>
                  </a:schemeClr>
                </a:solidFill>
                <a:latin typeface="+mj-lt"/>
                <a:cs typeface="Poppins Light" pitchFamily="2" charset="77"/>
              </a:rPr>
              <a:t>PLAN DE LA SÉANCE 4</a:t>
            </a:r>
          </a:p>
        </p:txBody>
      </p:sp>
      <p:sp>
        <p:nvSpPr>
          <p:cNvPr id="29" name="Shape 46488">
            <a:extLst>
              <a:ext uri="{FF2B5EF4-FFF2-40B4-BE49-F238E27FC236}">
                <a16:creationId xmlns:a16="http://schemas.microsoft.com/office/drawing/2014/main" id="{10812663-49DB-8544-A992-5B1029F73BD4}"/>
              </a:ext>
            </a:extLst>
          </p:cNvPr>
          <p:cNvSpPr>
            <a:spLocks/>
          </p:cNvSpPr>
          <p:nvPr>
            <p:custDataLst>
              <p:tags r:id="rId2"/>
            </p:custDataLst>
          </p:nvPr>
        </p:nvSpPr>
        <p:spPr>
          <a:xfrm rot="5400000" flipH="1">
            <a:off x="1250617" y="1423898"/>
            <a:ext cx="2198625" cy="3802512"/>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accent1"/>
          </a:lnRef>
          <a:fillRef idx="1">
            <a:schemeClr val="lt1"/>
          </a:fillRef>
          <a:effectRef idx="0">
            <a:schemeClr val="accent1"/>
          </a:effectRef>
          <a:fontRef idx="minor">
            <a:schemeClr val="dk1"/>
          </a:fontRef>
        </p:style>
        <p:txBody>
          <a:bodyPr vert="vert270" wrap="square" lIns="0" tIns="0" rIns="0" bIns="0" numCol="1" anchor="t">
            <a:noAutofit/>
          </a:bodyPr>
          <a:lstStyle/>
          <a:p>
            <a:pPr algn="ctr"/>
            <a:r>
              <a:rPr lang="fr-CA" sz="2279">
                <a:latin typeface="Lato Light" panose="020F0502020204030203" pitchFamily="34" charset="0"/>
              </a:rPr>
              <a:t>(Suite) Prise de décision d’exploitation</a:t>
            </a:r>
          </a:p>
          <a:p>
            <a:pPr algn="ctr"/>
            <a:r>
              <a:rPr lang="fr-CA" sz="2279" b="1">
                <a:latin typeface="Lato Light" panose="020F0502020204030203" pitchFamily="34" charset="0"/>
              </a:rPr>
              <a:t>Analyse différentielle</a:t>
            </a:r>
          </a:p>
          <a:p>
            <a:pPr algn="ctr"/>
            <a:r>
              <a:rPr lang="fr-CA">
                <a:latin typeface="Lato Light" panose="020F0502020204030203" pitchFamily="34" charset="0"/>
              </a:rPr>
              <a:t>Sous-traiter</a:t>
            </a:r>
            <a:r>
              <a:rPr lang="fr-CA" sz="2279">
                <a:latin typeface="Lato Light" panose="020F0502020204030203" pitchFamily="34" charset="0"/>
              </a:rPr>
              <a:t> </a:t>
            </a:r>
            <a:r>
              <a:rPr lang="fr-CA">
                <a:latin typeface="Lato Light" panose="020F0502020204030203" pitchFamily="34" charset="0"/>
              </a:rPr>
              <a:t>ou fabriquer un produit</a:t>
            </a:r>
          </a:p>
          <a:p>
            <a:pPr algn="ctr"/>
            <a:r>
              <a:rPr lang="fr-CA" sz="1800">
                <a:latin typeface="Lato Light" panose="020F0502020204030203" pitchFamily="34" charset="0"/>
              </a:rPr>
              <a:t>Continuer ou abandonner un produit</a:t>
            </a:r>
          </a:p>
          <a:p>
            <a:pPr algn="ctr"/>
            <a:r>
              <a:rPr lang="fr-CA" b="1">
                <a:latin typeface="Lato Light" panose="020F0502020204030203" pitchFamily="34" charset="0"/>
              </a:rPr>
              <a:t>Marge sur coûts spécifiques</a:t>
            </a:r>
            <a:endParaRPr lang="fr-CA" sz="1800" b="1">
              <a:latin typeface="Lato Light" panose="020F0502020204030203" pitchFamily="34" charset="0"/>
            </a:endParaRPr>
          </a:p>
          <a:p>
            <a:pPr algn="ctr"/>
            <a:endParaRPr lang="fr-CA">
              <a:latin typeface="Lato Light" panose="020F0502020204030203" pitchFamily="34" charset="0"/>
            </a:endParaRPr>
          </a:p>
        </p:txBody>
      </p:sp>
      <p:sp>
        <p:nvSpPr>
          <p:cNvPr id="25" name="Shape 46493">
            <a:extLst>
              <a:ext uri="{FF2B5EF4-FFF2-40B4-BE49-F238E27FC236}">
                <a16:creationId xmlns:a16="http://schemas.microsoft.com/office/drawing/2014/main" id="{FEE676C4-64DA-8045-83AB-D66EA1A9D4AC}"/>
              </a:ext>
            </a:extLst>
          </p:cNvPr>
          <p:cNvSpPr>
            <a:spLocks/>
          </p:cNvSpPr>
          <p:nvPr>
            <p:custDataLst>
              <p:tags r:id="rId3"/>
            </p:custDataLst>
          </p:nvPr>
        </p:nvSpPr>
        <p:spPr>
          <a:xfrm rot="5400000" flipH="1">
            <a:off x="5323465" y="1575426"/>
            <a:ext cx="1951610" cy="3746469"/>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accent6"/>
          </a:lnRef>
          <a:fillRef idx="1">
            <a:schemeClr val="lt1"/>
          </a:fillRef>
          <a:effectRef idx="0">
            <a:schemeClr val="accent6"/>
          </a:effectRef>
          <a:fontRef idx="minor">
            <a:schemeClr val="dk1"/>
          </a:fontRef>
        </p:style>
        <p:txBody>
          <a:bodyPr vert="vert270" wrap="square" lIns="0" tIns="0" rIns="0" bIns="0" numCol="1" anchor="t">
            <a:noAutofit/>
          </a:bodyPr>
          <a:lstStyle/>
          <a:p>
            <a:pPr algn="ctr"/>
            <a:r>
              <a:rPr lang="fr-CA" sz="2279">
                <a:latin typeface="Lato Light" panose="020F0502020204030203" pitchFamily="34" charset="0"/>
              </a:rPr>
              <a:t>Situation ressources limitées</a:t>
            </a:r>
          </a:p>
          <a:p>
            <a:pPr algn="ctr"/>
            <a:r>
              <a:rPr lang="fr-CA" sz="2279" b="1">
                <a:latin typeface="Lato Light" panose="020F0502020204030203" pitchFamily="34" charset="0"/>
              </a:rPr>
              <a:t>MCV vs Marge</a:t>
            </a:r>
            <a:r>
              <a:rPr lang="fr-CA" sz="2279">
                <a:latin typeface="Lato Light" panose="020F0502020204030203" pitchFamily="34" charset="0"/>
              </a:rPr>
              <a:t> par facteur de production contraignant</a:t>
            </a:r>
          </a:p>
          <a:p>
            <a:pPr algn="ctr"/>
            <a:r>
              <a:rPr lang="fr-CA">
                <a:latin typeface="Lato Light" panose="020F0502020204030203" pitchFamily="34" charset="0"/>
              </a:rPr>
              <a:t>Illustration </a:t>
            </a:r>
            <a:r>
              <a:rPr lang="fr-CA" err="1">
                <a:latin typeface="Lato Light" panose="020F0502020204030203" pitchFamily="34" charset="0"/>
              </a:rPr>
              <a:t>Eléctrolux</a:t>
            </a:r>
            <a:endParaRPr>
              <a:latin typeface="Lato Light" panose="020F0502020204030203" pitchFamily="34" charset="0"/>
            </a:endParaRPr>
          </a:p>
        </p:txBody>
      </p:sp>
      <p:sp>
        <p:nvSpPr>
          <p:cNvPr id="21" name="Shape 46498">
            <a:extLst>
              <a:ext uri="{FF2B5EF4-FFF2-40B4-BE49-F238E27FC236}">
                <a16:creationId xmlns:a16="http://schemas.microsoft.com/office/drawing/2014/main" id="{53AAEBB2-B12E-A84F-8523-B894E8AC61DC}"/>
              </a:ext>
            </a:extLst>
          </p:cNvPr>
          <p:cNvSpPr>
            <a:spLocks/>
          </p:cNvSpPr>
          <p:nvPr>
            <p:custDataLst>
              <p:tags r:id="rId4"/>
            </p:custDataLst>
          </p:nvPr>
        </p:nvSpPr>
        <p:spPr>
          <a:xfrm rot="5400000" flipH="1">
            <a:off x="8801919" y="2018288"/>
            <a:ext cx="1951612" cy="2860743"/>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dk1"/>
          </a:lnRef>
          <a:fillRef idx="1">
            <a:schemeClr val="lt1"/>
          </a:fillRef>
          <a:effectRef idx="0">
            <a:schemeClr val="dk1"/>
          </a:effectRef>
          <a:fontRef idx="minor">
            <a:schemeClr val="dk1"/>
          </a:fontRef>
        </p:style>
        <p:txBody>
          <a:bodyPr vert="vert270" wrap="square" lIns="0" tIns="0" rIns="0" bIns="0" numCol="1" anchor="t">
            <a:noAutofit/>
          </a:bodyPr>
          <a:lstStyle/>
          <a:p>
            <a:pPr algn="ctr"/>
            <a:r>
              <a:rPr lang="fr-CA" sz="2279">
                <a:latin typeface="Lato Light" panose="020F0502020204030203" pitchFamily="34" charset="0"/>
              </a:rPr>
              <a:t>Prises de décisions diverses</a:t>
            </a:r>
          </a:p>
          <a:p>
            <a:pPr algn="ctr"/>
            <a:r>
              <a:rPr lang="fr-CA" sz="2279">
                <a:latin typeface="Lato Light" panose="020F0502020204030203" pitchFamily="34" charset="0"/>
              </a:rPr>
              <a:t>Analyse de marges</a:t>
            </a:r>
          </a:p>
          <a:p>
            <a:pPr algn="ctr"/>
            <a:r>
              <a:rPr lang="fr-CA" sz="2279">
                <a:latin typeface="Lato Light" panose="020F0502020204030203" pitchFamily="34" charset="0"/>
              </a:rPr>
              <a:t>Exercice 10B.1 </a:t>
            </a:r>
          </a:p>
        </p:txBody>
      </p:sp>
      <p:pic>
        <p:nvPicPr>
          <p:cNvPr id="5" name="Graphique 4" descr="Badge 1 contour">
            <a:extLst>
              <a:ext uri="{FF2B5EF4-FFF2-40B4-BE49-F238E27FC236}">
                <a16:creationId xmlns:a16="http://schemas.microsoft.com/office/drawing/2014/main" id="{CCB1879A-CE9A-BF7C-5979-6FAB792BF2EF}"/>
              </a:ext>
            </a:extLst>
          </p:cNvPr>
          <p:cNvPicPr>
            <a:picLocks noChangeAspect="1"/>
          </p:cNvPicPr>
          <p:nvPr>
            <p:custDataLst>
              <p:tags r:id="rId5"/>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864312" y="4537781"/>
            <a:ext cx="914400" cy="914400"/>
          </a:xfrm>
          <a:prstGeom prst="rect">
            <a:avLst/>
          </a:prstGeom>
        </p:spPr>
      </p:pic>
      <p:pic>
        <p:nvPicPr>
          <p:cNvPr id="7" name="Graphique 6" descr="Badge contour">
            <a:extLst>
              <a:ext uri="{FF2B5EF4-FFF2-40B4-BE49-F238E27FC236}">
                <a16:creationId xmlns:a16="http://schemas.microsoft.com/office/drawing/2014/main" id="{1ADBDBF0-A6E8-741F-E12D-71307E92BB27}"/>
              </a:ext>
            </a:extLst>
          </p:cNvPr>
          <p:cNvPicPr>
            <a:picLocks noChangeAspect="1"/>
          </p:cNvPicPr>
          <p:nvPr>
            <p:custDataLst>
              <p:tags r:id="rId6"/>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842070" y="4537781"/>
            <a:ext cx="914400" cy="914400"/>
          </a:xfrm>
          <a:prstGeom prst="rect">
            <a:avLst/>
          </a:prstGeom>
        </p:spPr>
      </p:pic>
      <p:pic>
        <p:nvPicPr>
          <p:cNvPr id="9" name="Graphique 8" descr="Badge 3 contour">
            <a:extLst>
              <a:ext uri="{FF2B5EF4-FFF2-40B4-BE49-F238E27FC236}">
                <a16:creationId xmlns:a16="http://schemas.microsoft.com/office/drawing/2014/main" id="{E10C9AFC-F527-89D6-165E-3987436498A2}"/>
              </a:ext>
            </a:extLst>
          </p:cNvPr>
          <p:cNvPicPr>
            <a:picLocks noChangeAspect="1"/>
          </p:cNvPicPr>
          <p:nvPr>
            <p:custDataLst>
              <p:tags r:id="rId7"/>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20525" y="4537781"/>
            <a:ext cx="914400" cy="914400"/>
          </a:xfrm>
          <a:prstGeom prst="rect">
            <a:avLst/>
          </a:prstGeom>
        </p:spPr>
      </p:pic>
      <p:sp>
        <p:nvSpPr>
          <p:cNvPr id="2" name="Espace réservé du pied de page 3">
            <a:extLst>
              <a:ext uri="{FF2B5EF4-FFF2-40B4-BE49-F238E27FC236}">
                <a16:creationId xmlns:a16="http://schemas.microsoft.com/office/drawing/2014/main" id="{6D5C81CB-F62E-6252-9903-75D77F2FB889}"/>
              </a:ext>
            </a:extLst>
          </p:cNvPr>
          <p:cNvSpPr>
            <a:spLocks noGrp="1"/>
          </p:cNvSpPr>
          <p:nvPr>
            <p:ph type="ftr" sz="quarter" idx="11"/>
            <p:custDataLst>
              <p:tags r:id="rId8"/>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space réservé du numéro de diapositive 4">
            <a:extLst>
              <a:ext uri="{FF2B5EF4-FFF2-40B4-BE49-F238E27FC236}">
                <a16:creationId xmlns:a16="http://schemas.microsoft.com/office/drawing/2014/main" id="{AD815FE7-C091-3004-A9B2-F56A6CFA3027}"/>
              </a:ext>
            </a:extLst>
          </p:cNvPr>
          <p:cNvSpPr>
            <a:spLocks noGrp="1"/>
          </p:cNvSpPr>
          <p:nvPr>
            <p:ph type="sldNum" sz="quarter" idx="12"/>
            <p:custDataLst>
              <p:tags r:id="rId9"/>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6</a:t>
            </a:fld>
            <a:endParaRPr lang="fr-CA">
              <a:solidFill>
                <a:prstClr val="black">
                  <a:tint val="75000"/>
                </a:prstClr>
              </a:solidFill>
            </a:endParaRPr>
          </a:p>
        </p:txBody>
      </p:sp>
    </p:spTree>
    <p:extLst>
      <p:ext uri="{BB962C8B-B14F-4D97-AF65-F5344CB8AC3E}">
        <p14:creationId xmlns:p14="http://schemas.microsoft.com/office/powerpoint/2010/main" val="2962068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custDataLst>
              <p:tags r:id="rId1"/>
            </p:custDataLst>
          </p:nvPr>
        </p:nvSpPr>
        <p:spPr/>
        <p:txBody>
          <a:bodyPr>
            <a:normAutofit/>
          </a:bodyPr>
          <a:lstStyle/>
          <a:p>
            <a:r>
              <a:rPr lang="fr-CA" sz="4000"/>
              <a:t>Objectifs de la séance</a:t>
            </a:r>
          </a:p>
        </p:txBody>
      </p:sp>
      <p:sp>
        <p:nvSpPr>
          <p:cNvPr id="7" name="Espace réservé du contenu 6"/>
          <p:cNvSpPr>
            <a:spLocks noGrp="1"/>
          </p:cNvSpPr>
          <p:nvPr>
            <p:ph idx="1"/>
            <p:custDataLst>
              <p:tags r:id="rId2"/>
            </p:custDataLst>
          </p:nvPr>
        </p:nvSpPr>
        <p:spPr>
          <a:xfrm>
            <a:off x="838200" y="1506415"/>
            <a:ext cx="10515600" cy="4271962"/>
          </a:xfrm>
        </p:spPr>
        <p:txBody>
          <a:bodyPr/>
          <a:lstStyle/>
          <a:p>
            <a:r>
              <a:rPr lang="fr-CA"/>
              <a:t>Utiliser l’approche différentielle pour analyser des décisions d’exploitation. </a:t>
            </a:r>
          </a:p>
          <a:p>
            <a:pPr lvl="1"/>
            <a:r>
              <a:rPr lang="fr-CA"/>
              <a:t>Fabriquer ou sous-traiter un produit, </a:t>
            </a:r>
          </a:p>
          <a:p>
            <a:pPr lvl="1"/>
            <a:r>
              <a:rPr lang="fr-CA"/>
              <a:t>Continuer ou abandonner un produit</a:t>
            </a:r>
          </a:p>
          <a:p>
            <a:r>
              <a:rPr lang="fr-CA"/>
              <a:t>Être en mesure de supporter les prises de décision associées au plan de production dans un contexte de ressources limitées.  </a:t>
            </a:r>
          </a:p>
          <a:p>
            <a:r>
              <a:rPr lang="fr-CA"/>
              <a:t>Savoir calculer et interpréter les différentes marges pour suivre la rentabilité.</a:t>
            </a:r>
          </a:p>
          <a:p>
            <a:pPr lvl="1"/>
            <a:endParaRPr lang="fr-CA">
              <a:highlight>
                <a:srgbClr val="FFFF00"/>
              </a:highlight>
            </a:endParaRPr>
          </a:p>
          <a:p>
            <a:endParaRPr lang="fr-CA"/>
          </a:p>
        </p:txBody>
      </p:sp>
      <p:sp>
        <p:nvSpPr>
          <p:cNvPr id="2" name="Espace réservé du pied de page 3">
            <a:extLst>
              <a:ext uri="{FF2B5EF4-FFF2-40B4-BE49-F238E27FC236}">
                <a16:creationId xmlns:a16="http://schemas.microsoft.com/office/drawing/2014/main" id="{956402EA-CC66-1040-2C2E-5C5A5E073443}"/>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space réservé du numéro de diapositive 4">
            <a:extLst>
              <a:ext uri="{FF2B5EF4-FFF2-40B4-BE49-F238E27FC236}">
                <a16:creationId xmlns:a16="http://schemas.microsoft.com/office/drawing/2014/main" id="{10528513-B59D-4C48-84EC-5654ADE2E805}"/>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7</a:t>
            </a:fld>
            <a:endParaRPr lang="fr-CA">
              <a:solidFill>
                <a:prstClr val="black">
                  <a:tint val="75000"/>
                </a:prstClr>
              </a:solidFill>
            </a:endParaRPr>
          </a:p>
        </p:txBody>
      </p:sp>
    </p:spTree>
    <p:extLst>
      <p:ext uri="{BB962C8B-B14F-4D97-AF65-F5344CB8AC3E}">
        <p14:creationId xmlns:p14="http://schemas.microsoft.com/office/powerpoint/2010/main" val="215853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6F70C8-E187-8FCA-367B-100B0F46AE3B}"/>
              </a:ext>
            </a:extLst>
          </p:cNvPr>
          <p:cNvSpPr>
            <a:spLocks noGrp="1"/>
          </p:cNvSpPr>
          <p:nvPr>
            <p:ph type="title"/>
            <p:custDataLst>
              <p:tags r:id="rId1"/>
            </p:custDataLst>
          </p:nvPr>
        </p:nvSpPr>
        <p:spPr/>
        <p:txBody>
          <a:bodyPr/>
          <a:lstStyle/>
          <a:p>
            <a:r>
              <a:rPr lang="fr-CA"/>
              <a:t>Les décisions d’exploitation</a:t>
            </a:r>
          </a:p>
        </p:txBody>
      </p:sp>
      <p:sp>
        <p:nvSpPr>
          <p:cNvPr id="3" name="Espace réservé du contenu 2">
            <a:extLst>
              <a:ext uri="{FF2B5EF4-FFF2-40B4-BE49-F238E27FC236}">
                <a16:creationId xmlns:a16="http://schemas.microsoft.com/office/drawing/2014/main" id="{1B4B9C0E-1571-F453-8DC9-8E867D31DB7F}"/>
              </a:ext>
            </a:extLst>
          </p:cNvPr>
          <p:cNvSpPr>
            <a:spLocks noGrp="1"/>
          </p:cNvSpPr>
          <p:nvPr>
            <p:ph idx="1"/>
            <p:custDataLst>
              <p:tags r:id="rId2"/>
            </p:custDataLst>
          </p:nvPr>
        </p:nvSpPr>
        <p:spPr>
          <a:xfrm>
            <a:off x="838200" y="1467850"/>
            <a:ext cx="10515600" cy="4981717"/>
          </a:xfrm>
        </p:spPr>
        <p:txBody>
          <a:bodyPr vert="horz" lIns="91440" tIns="45720" rIns="91440" bIns="45720" rtlCol="0" anchor="t">
            <a:normAutofit lnSpcReduction="10000"/>
          </a:bodyPr>
          <a:lstStyle/>
          <a:p>
            <a:pPr>
              <a:spcAft>
                <a:spcPts val="600"/>
              </a:spcAft>
            </a:pPr>
            <a:r>
              <a:rPr lang="fr-CA"/>
              <a:t>Les décisions d’exploitation:</a:t>
            </a:r>
          </a:p>
          <a:p>
            <a:pPr lvl="1">
              <a:lnSpc>
                <a:spcPct val="120000"/>
              </a:lnSpc>
              <a:spcAft>
                <a:spcPts val="600"/>
              </a:spcAft>
            </a:pPr>
            <a:r>
              <a:rPr lang="fr-CA"/>
              <a:t>sont généralement liées à des opérations courantes</a:t>
            </a:r>
          </a:p>
          <a:p>
            <a:pPr lvl="1">
              <a:lnSpc>
                <a:spcPct val="120000"/>
              </a:lnSpc>
              <a:spcAft>
                <a:spcPts val="600"/>
              </a:spcAft>
            </a:pPr>
            <a:r>
              <a:rPr lang="fr-CA"/>
              <a:t>les décisions de ce type se présentent sous forme d’un choix entre deux ou plusieurs </a:t>
            </a:r>
            <a:r>
              <a:rPr lang="fr-CA" b="1"/>
              <a:t>propositions</a:t>
            </a:r>
            <a:r>
              <a:rPr lang="fr-CA"/>
              <a:t>. </a:t>
            </a:r>
          </a:p>
          <a:p>
            <a:pPr lvl="1">
              <a:lnSpc>
                <a:spcPct val="120000"/>
              </a:lnSpc>
              <a:spcAft>
                <a:spcPts val="600"/>
              </a:spcAft>
            </a:pPr>
            <a:r>
              <a:rPr lang="fr-CA"/>
              <a:t>l’analyse différentielle permet d’analyser rapidement l’effet sur le résultat d’exploitation en identifiant seulement les coûts pertinents. </a:t>
            </a:r>
          </a:p>
          <a:p>
            <a:pPr lvl="1">
              <a:lnSpc>
                <a:spcPct val="120000"/>
              </a:lnSpc>
              <a:spcAft>
                <a:spcPts val="600"/>
              </a:spcAft>
            </a:pPr>
            <a:r>
              <a:rPr lang="fr-CA">
                <a:cs typeface="Calibri"/>
              </a:rPr>
              <a:t>utiliser la méthode des coûts variables qui classe les coûts comme étant variables ou fixes.</a:t>
            </a:r>
            <a:endParaRPr lang="fr-CA"/>
          </a:p>
          <a:p>
            <a:pPr lvl="1">
              <a:lnSpc>
                <a:spcPct val="120000"/>
              </a:lnSpc>
            </a:pPr>
            <a:r>
              <a:rPr lang="fr-CA"/>
              <a:t>les facteurs </a:t>
            </a:r>
            <a:r>
              <a:rPr lang="fr-CA" u="sng"/>
              <a:t>qualitatifs </a:t>
            </a:r>
            <a:r>
              <a:rPr lang="fr-CA"/>
              <a:t>doivent également être considérés lors de la prise de décision</a:t>
            </a:r>
          </a:p>
          <a:p>
            <a:pPr marL="457200" lvl="1" indent="0">
              <a:buNone/>
            </a:pPr>
            <a:endParaRPr lang="fr-CA" u="sng"/>
          </a:p>
          <a:p>
            <a:endParaRPr lang="fr-CA"/>
          </a:p>
        </p:txBody>
      </p:sp>
      <p:sp>
        <p:nvSpPr>
          <p:cNvPr id="4" name="Espace réservé du pied de page 3">
            <a:extLst>
              <a:ext uri="{FF2B5EF4-FFF2-40B4-BE49-F238E27FC236}">
                <a16:creationId xmlns:a16="http://schemas.microsoft.com/office/drawing/2014/main" id="{E6E511F4-598B-F7C8-1269-0FC809391381}"/>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3D240FB3-DD76-A636-BFD5-496932548AF2}"/>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8</a:t>
            </a:fld>
            <a:endParaRPr lang="fr-CA">
              <a:solidFill>
                <a:prstClr val="black">
                  <a:tint val="75000"/>
                </a:prstClr>
              </a:solidFill>
            </a:endParaRPr>
          </a:p>
        </p:txBody>
      </p:sp>
    </p:spTree>
    <p:extLst>
      <p:ext uri="{BB962C8B-B14F-4D97-AF65-F5344CB8AC3E}">
        <p14:creationId xmlns:p14="http://schemas.microsoft.com/office/powerpoint/2010/main" val="2754301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Espace réservé du contenu 5"/>
          <p:cNvSpPr>
            <a:spLocks noGrp="1"/>
          </p:cNvSpPr>
          <p:nvPr>
            <p:ph idx="1"/>
            <p:custDataLst>
              <p:tags r:id="rId2"/>
            </p:custDataLst>
          </p:nvPr>
        </p:nvSpPr>
        <p:spPr>
          <a:xfrm>
            <a:off x="838200" y="1478844"/>
            <a:ext cx="10515600" cy="4998156"/>
          </a:xfrm>
        </p:spPr>
        <p:txBody>
          <a:bodyPr>
            <a:noAutofit/>
          </a:bodyPr>
          <a:lstStyle/>
          <a:p>
            <a:pPr marL="0" indent="0">
              <a:buNone/>
            </a:pPr>
            <a:r>
              <a:rPr lang="fr-CA" b="1"/>
              <a:t>Coûts spécifiques</a:t>
            </a:r>
          </a:p>
          <a:p>
            <a:pPr lvl="1"/>
            <a:r>
              <a:rPr lang="fr-CA" sz="2200"/>
              <a:t>Coûts pouvant être associés spécifiquement à un objet de coûts.</a:t>
            </a:r>
          </a:p>
          <a:p>
            <a:pPr marL="457200" lvl="1" indent="0">
              <a:buNone/>
            </a:pPr>
            <a:endParaRPr lang="fr-CA" sz="2200"/>
          </a:p>
          <a:p>
            <a:endParaRPr lang="fr-CA" sz="2400" b="1"/>
          </a:p>
          <a:p>
            <a:endParaRPr lang="fr-CA" sz="2400" b="1"/>
          </a:p>
          <a:p>
            <a:endParaRPr lang="fr-CA" sz="2400" b="1"/>
          </a:p>
          <a:p>
            <a:pPr marL="0" indent="0">
              <a:buNone/>
            </a:pPr>
            <a:r>
              <a:rPr lang="fr-CA" b="1"/>
              <a:t>Coûts communs</a:t>
            </a:r>
          </a:p>
          <a:p>
            <a:pPr lvl="1"/>
            <a:r>
              <a:rPr lang="fr-CA" sz="2200"/>
              <a:t>Coûts </a:t>
            </a:r>
            <a:r>
              <a:rPr lang="fr-CA" sz="2200" b="1" u="sng"/>
              <a:t>ne </a:t>
            </a:r>
            <a:r>
              <a:rPr lang="fr-CA" sz="2200" u="sng"/>
              <a:t>pouvant</a:t>
            </a:r>
            <a:r>
              <a:rPr lang="fr-CA" sz="2200" b="1" u="sng"/>
              <a:t> pas </a:t>
            </a:r>
            <a:r>
              <a:rPr lang="fr-CA" sz="2200"/>
              <a:t>être associés spécifiquement à un seul objet de coûts .</a:t>
            </a:r>
          </a:p>
        </p:txBody>
      </p:sp>
      <p:sp>
        <p:nvSpPr>
          <p:cNvPr id="116738" name="Rectangle 2"/>
          <p:cNvSpPr>
            <a:spLocks noChangeArrowheads="1"/>
          </p:cNvSpPr>
          <p:nvPr>
            <p:custDataLst>
              <p:tags r:id="rId3"/>
            </p:custDataLst>
          </p:nvPr>
        </p:nvSpPr>
        <p:spPr bwMode="auto">
          <a:xfrm>
            <a:off x="2209800" y="6248400"/>
            <a:ext cx="1905000" cy="457200"/>
          </a:xfrm>
          <a:prstGeom prst="rect">
            <a:avLst/>
          </a:prstGeom>
          <a:noFill/>
          <a:ln w="9525">
            <a:no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739" name="Rectangle 3"/>
          <p:cNvSpPr>
            <a:spLocks noChangeArrowheads="1"/>
          </p:cNvSpPr>
          <p:nvPr>
            <p:custDataLst>
              <p:tags r:id="rId4"/>
            </p:custDataLst>
          </p:nvPr>
        </p:nvSpPr>
        <p:spPr bwMode="auto">
          <a:xfrm>
            <a:off x="4690533" y="6555315"/>
            <a:ext cx="2895600" cy="298451"/>
          </a:xfrm>
          <a:prstGeom prst="rect">
            <a:avLst/>
          </a:prstGeom>
          <a:noFill/>
          <a:ln w="9525">
            <a:no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 name="Image 1"/>
          <p:cNvPicPr>
            <a:picLocks noChangeAspect="1"/>
          </p:cNvPicPr>
          <p:nvPr>
            <p:custDataLst>
              <p:tags r:id="rId5"/>
            </p:custDataLst>
          </p:nvPr>
        </p:nvPicPr>
        <p:blipFill>
          <a:blip r:embed="rId21"/>
          <a:stretch>
            <a:fillRect/>
          </a:stretch>
        </p:blipFill>
        <p:spPr>
          <a:xfrm>
            <a:off x="1091283" y="2420249"/>
            <a:ext cx="2150632" cy="1614161"/>
          </a:xfrm>
          <a:prstGeom prst="rect">
            <a:avLst/>
          </a:prstGeom>
        </p:spPr>
      </p:pic>
      <p:pic>
        <p:nvPicPr>
          <p:cNvPr id="5" name="Image 4"/>
          <p:cNvPicPr>
            <a:picLocks noChangeAspect="1"/>
          </p:cNvPicPr>
          <p:nvPr>
            <p:custDataLst>
              <p:tags r:id="rId6"/>
            </p:custDataLst>
          </p:nvPr>
        </p:nvPicPr>
        <p:blipFill>
          <a:blip r:embed="rId22"/>
          <a:stretch>
            <a:fillRect/>
          </a:stretch>
        </p:blipFill>
        <p:spPr>
          <a:xfrm>
            <a:off x="3921926" y="2437405"/>
            <a:ext cx="1684751" cy="1614161"/>
          </a:xfrm>
          <a:prstGeom prst="rect">
            <a:avLst/>
          </a:prstGeom>
        </p:spPr>
      </p:pic>
      <p:pic>
        <p:nvPicPr>
          <p:cNvPr id="7" name="Image 6"/>
          <p:cNvPicPr>
            <a:picLocks noChangeAspect="1"/>
          </p:cNvPicPr>
          <p:nvPr>
            <p:custDataLst>
              <p:tags r:id="rId7"/>
            </p:custDataLst>
          </p:nvPr>
        </p:nvPicPr>
        <p:blipFill>
          <a:blip r:embed="rId23"/>
          <a:stretch>
            <a:fillRect/>
          </a:stretch>
        </p:blipFill>
        <p:spPr>
          <a:xfrm>
            <a:off x="1964168" y="4975814"/>
            <a:ext cx="2967318" cy="1614160"/>
          </a:xfrm>
          <a:prstGeom prst="rect">
            <a:avLst/>
          </a:prstGeom>
        </p:spPr>
      </p:pic>
      <p:sp>
        <p:nvSpPr>
          <p:cNvPr id="10" name="ZoneTexte 9"/>
          <p:cNvSpPr txBox="1"/>
          <p:nvPr>
            <p:custDataLst>
              <p:tags r:id="rId8"/>
            </p:custDataLst>
          </p:nvPr>
        </p:nvSpPr>
        <p:spPr>
          <a:xfrm>
            <a:off x="6867646" y="2452176"/>
            <a:ext cx="437477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2000" b="0" i="0" u="none" strike="noStrike" kern="1200" cap="none" spc="0" normalizeH="0" baseline="0" noProof="0">
                <a:ln>
                  <a:noFill/>
                </a:ln>
                <a:solidFill>
                  <a:prstClr val="black"/>
                </a:solidFill>
                <a:effectLst/>
                <a:uLnTx/>
                <a:uFillTx/>
                <a:latin typeface="Calibri" panose="020F0502020204030204"/>
                <a:ea typeface="+mn-ea"/>
                <a:cs typeface="+mn-cs"/>
              </a:rPr>
              <a:t>SUPPRESSION DES </a:t>
            </a:r>
            <a:r>
              <a:rPr kumimoji="0" lang="fr-CA" sz="2000" b="1" i="0" u="none" strike="noStrike" kern="1200" cap="none" spc="0" normalizeH="0" baseline="0" noProof="0">
                <a:ln>
                  <a:noFill/>
                </a:ln>
                <a:solidFill>
                  <a:prstClr val="black"/>
                </a:solidFill>
                <a:effectLst/>
                <a:uLnTx/>
                <a:uFillTx/>
                <a:latin typeface="Calibri" panose="020F0502020204030204"/>
                <a:ea typeface="+mn-ea"/>
                <a:cs typeface="+mn-cs"/>
              </a:rPr>
              <a:t>COÛTS SPÉCIFIQUES</a:t>
            </a:r>
          </a:p>
        </p:txBody>
      </p:sp>
      <p:sp>
        <p:nvSpPr>
          <p:cNvPr id="14" name="ZoneTexte 13"/>
          <p:cNvSpPr txBox="1"/>
          <p:nvPr>
            <p:custDataLst>
              <p:tags r:id="rId9"/>
            </p:custDataLst>
          </p:nvPr>
        </p:nvSpPr>
        <p:spPr>
          <a:xfrm>
            <a:off x="5826246" y="5208166"/>
            <a:ext cx="37696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prstClr val="black"/>
                </a:solidFill>
                <a:effectLst/>
                <a:uLnTx/>
                <a:uFillTx/>
                <a:latin typeface="Calibri" panose="020F0502020204030204"/>
                <a:ea typeface="+mn-ea"/>
                <a:cs typeface="+mn-cs"/>
              </a:rPr>
              <a:t> MAINTIEN DES </a:t>
            </a:r>
            <a:r>
              <a:rPr kumimoji="0" lang="fr-CA" sz="2000" b="1" i="0" u="none" strike="noStrike" kern="1200" cap="none" spc="0" normalizeH="0" baseline="0" noProof="0">
                <a:ln>
                  <a:noFill/>
                </a:ln>
                <a:solidFill>
                  <a:prstClr val="black"/>
                </a:solidFill>
                <a:effectLst/>
                <a:uLnTx/>
                <a:uFillTx/>
                <a:latin typeface="Calibri" panose="020F0502020204030204"/>
                <a:ea typeface="+mn-ea"/>
                <a:cs typeface="+mn-cs"/>
              </a:rPr>
              <a:t>COÛTS COMMUNS</a:t>
            </a:r>
            <a:endParaRPr kumimoji="0" lang="fr-CA"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9" name="Connecteur droit 18"/>
          <p:cNvCxnSpPr>
            <a:cxnSpLocks/>
            <a:stCxn id="10" idx="0"/>
          </p:cNvCxnSpPr>
          <p:nvPr>
            <p:custDataLst>
              <p:tags r:id="rId10"/>
            </p:custDataLst>
          </p:nvPr>
        </p:nvCxnSpPr>
        <p:spPr>
          <a:xfrm>
            <a:off x="9055034" y="2452176"/>
            <a:ext cx="1569321" cy="40011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106B56E3-3C15-6A42-A802-4816BCB26A84}"/>
              </a:ext>
            </a:extLst>
          </p:cNvPr>
          <p:cNvSpPr txBox="1"/>
          <p:nvPr>
            <p:custDataLst>
              <p:tags r:id="rId11"/>
            </p:custDataLst>
          </p:nvPr>
        </p:nvSpPr>
        <p:spPr>
          <a:xfrm>
            <a:off x="5896325" y="3442371"/>
            <a:ext cx="3077512" cy="400110"/>
          </a:xfrm>
          <a:prstGeom prst="rect">
            <a:avLst/>
          </a:prstGeom>
          <a:no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2000" b="0" i="0" u="none" strike="noStrike" kern="1200" cap="none" spc="0" normalizeH="0" baseline="0" noProof="0">
                <a:ln>
                  <a:noFill/>
                </a:ln>
                <a:solidFill>
                  <a:srgbClr val="C00000"/>
                </a:solidFill>
                <a:effectLst/>
                <a:uLnTx/>
                <a:uFillTx/>
                <a:latin typeface="Avenir Next" panose="020B0503020202020204" pitchFamily="34" charset="0"/>
                <a:ea typeface="+mn-ea"/>
                <a:cs typeface="+mn-cs"/>
              </a:rPr>
              <a:t>SI ARRÊT de </a:t>
            </a:r>
            <a:r>
              <a:rPr kumimoji="0" lang="fr-CA" sz="2000" b="1" i="0" u="none" strike="noStrike" kern="1200" cap="none" spc="0" normalizeH="0" baseline="0" noProof="0">
                <a:ln>
                  <a:noFill/>
                </a:ln>
                <a:solidFill>
                  <a:srgbClr val="C00000"/>
                </a:solidFill>
                <a:effectLst/>
                <a:uLnTx/>
                <a:uFillTx/>
                <a:latin typeface="Avenir Next" panose="020B0503020202020204" pitchFamily="34" charset="0"/>
                <a:ea typeface="+mn-ea"/>
                <a:cs typeface="+mn-cs"/>
              </a:rPr>
              <a:t>L’ACTIVITÉ…</a:t>
            </a:r>
            <a:endParaRPr kumimoji="0" lang="fr-CA" sz="2000" b="0" i="0" u="none" strike="noStrike" kern="1200" cap="none" spc="0" normalizeH="0" baseline="0" noProof="0">
              <a:ln>
                <a:noFill/>
              </a:ln>
              <a:solidFill>
                <a:srgbClr val="C00000"/>
              </a:solidFill>
              <a:effectLst/>
              <a:uLnTx/>
              <a:uFillTx/>
              <a:latin typeface="Avenir Next" panose="020B0503020202020204" pitchFamily="34" charset="0"/>
              <a:ea typeface="+mn-ea"/>
              <a:cs typeface="+mn-cs"/>
            </a:endParaRPr>
          </a:p>
        </p:txBody>
      </p:sp>
      <p:sp>
        <p:nvSpPr>
          <p:cNvPr id="26" name="Interdiction 25">
            <a:extLst>
              <a:ext uri="{FF2B5EF4-FFF2-40B4-BE49-F238E27FC236}">
                <a16:creationId xmlns:a16="http://schemas.microsoft.com/office/drawing/2014/main" id="{562154AB-30CD-224E-9EF6-BC5BA9B938A7}"/>
              </a:ext>
            </a:extLst>
          </p:cNvPr>
          <p:cNvSpPr/>
          <p:nvPr>
            <p:custDataLst>
              <p:tags r:id="rId12"/>
            </p:custDataLst>
          </p:nvPr>
        </p:nvSpPr>
        <p:spPr>
          <a:xfrm>
            <a:off x="3698147" y="2278887"/>
            <a:ext cx="1976075" cy="1896884"/>
          </a:xfrm>
          <a:prstGeom prst="noSmoking">
            <a:avLst>
              <a:gd name="adj" fmla="val 9814"/>
            </a:avLst>
          </a:prstGeom>
          <a:solidFill>
            <a:srgbClr val="FF0000">
              <a:alpha val="6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Image 32">
            <a:extLst>
              <a:ext uri="{FF2B5EF4-FFF2-40B4-BE49-F238E27FC236}">
                <a16:creationId xmlns:a16="http://schemas.microsoft.com/office/drawing/2014/main" id="{9355C301-4CEF-1143-B52B-FEF639DB3AED}"/>
              </a:ext>
            </a:extLst>
          </p:cNvPr>
          <p:cNvPicPr>
            <a:picLocks noChangeAspect="1"/>
          </p:cNvPicPr>
          <p:nvPr>
            <p:custDataLst>
              <p:tags r:id="rId13"/>
            </p:custDataLst>
          </p:nvPr>
        </p:nvPicPr>
        <p:blipFill>
          <a:blip r:embed="rId24" cstate="print">
            <a:extLst>
              <a:ext uri="{28A0092B-C50C-407E-A947-70E740481C1C}">
                <a14:useLocalDpi xmlns:a14="http://schemas.microsoft.com/office/drawing/2010/main" val="0"/>
              </a:ext>
              <a:ext uri="{837473B0-CC2E-450A-ABE3-18F120FF3D39}">
                <a1611:picAttrSrcUrl xmlns:a1611="http://schemas.microsoft.com/office/drawing/2016/11/main" r:id="rId25"/>
              </a:ext>
            </a:extLst>
          </a:blip>
          <a:stretch>
            <a:fillRect/>
          </a:stretch>
        </p:blipFill>
        <p:spPr>
          <a:xfrm>
            <a:off x="9516367" y="4894396"/>
            <a:ext cx="858873" cy="928512"/>
          </a:xfrm>
          <a:prstGeom prst="rect">
            <a:avLst/>
          </a:prstGeom>
        </p:spPr>
      </p:pic>
      <p:cxnSp>
        <p:nvCxnSpPr>
          <p:cNvPr id="9" name="Connecteur droit avec flèche 8"/>
          <p:cNvCxnSpPr>
            <a:cxnSpLocks/>
          </p:cNvCxnSpPr>
          <p:nvPr>
            <p:custDataLst>
              <p:tags r:id="rId14"/>
            </p:custDataLst>
          </p:nvPr>
        </p:nvCxnSpPr>
        <p:spPr>
          <a:xfrm flipV="1">
            <a:off x="6188765" y="2691857"/>
            <a:ext cx="656453" cy="72377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itre 3">
            <a:extLst>
              <a:ext uri="{FF2B5EF4-FFF2-40B4-BE49-F238E27FC236}">
                <a16:creationId xmlns:a16="http://schemas.microsoft.com/office/drawing/2014/main" id="{8D48F5FA-0346-47FC-86BD-F0B45093920C}"/>
              </a:ext>
            </a:extLst>
          </p:cNvPr>
          <p:cNvSpPr>
            <a:spLocks noGrp="1"/>
          </p:cNvSpPr>
          <p:nvPr>
            <p:ph type="title"/>
            <p:custDataLst>
              <p:tags r:id="rId15"/>
            </p:custDataLst>
          </p:nvPr>
        </p:nvSpPr>
        <p:spPr>
          <a:xfrm>
            <a:off x="661416" y="215453"/>
            <a:ext cx="11106912" cy="1042570"/>
          </a:xfrm>
        </p:spPr>
        <p:txBody>
          <a:bodyPr>
            <a:noAutofit/>
          </a:bodyPr>
          <a:lstStyle/>
          <a:p>
            <a:r>
              <a:rPr lang="fr-CA" sz="4000" dirty="0"/>
              <a:t>Coûts spécifiques et Coûts communs  (rappel)</a:t>
            </a:r>
            <a:endParaRPr lang="fr-CA" sz="3600" dirty="0">
              <a:highlight>
                <a:srgbClr val="FFFF00"/>
              </a:highlight>
              <a:cs typeface="Calibri Light" panose="020F0302020204030204"/>
            </a:endParaRPr>
          </a:p>
        </p:txBody>
      </p:sp>
      <p:cxnSp>
        <p:nvCxnSpPr>
          <p:cNvPr id="23" name="Connecteur droit avec flèche 22">
            <a:extLst>
              <a:ext uri="{FF2B5EF4-FFF2-40B4-BE49-F238E27FC236}">
                <a16:creationId xmlns:a16="http://schemas.microsoft.com/office/drawing/2014/main" id="{B58018B4-6D13-471F-9F65-91441A34BBE5}"/>
              </a:ext>
            </a:extLst>
          </p:cNvPr>
          <p:cNvCxnSpPr>
            <a:cxnSpLocks/>
          </p:cNvCxnSpPr>
          <p:nvPr>
            <p:custDataLst>
              <p:tags r:id="rId16"/>
            </p:custDataLst>
          </p:nvPr>
        </p:nvCxnSpPr>
        <p:spPr>
          <a:xfrm>
            <a:off x="6188766" y="3935896"/>
            <a:ext cx="678880" cy="127227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Espace réservé du pied de page 3">
            <a:extLst>
              <a:ext uri="{FF2B5EF4-FFF2-40B4-BE49-F238E27FC236}">
                <a16:creationId xmlns:a16="http://schemas.microsoft.com/office/drawing/2014/main" id="{75FA176E-913A-F033-35D5-775B683701AA}"/>
              </a:ext>
            </a:extLst>
          </p:cNvPr>
          <p:cNvSpPr>
            <a:spLocks noGrp="1"/>
          </p:cNvSpPr>
          <p:nvPr>
            <p:ph type="ftr" sz="quarter" idx="11"/>
            <p:custDataLst>
              <p:tags r:id="rId17"/>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11" name="Espace réservé du numéro de diapositive 4">
            <a:extLst>
              <a:ext uri="{FF2B5EF4-FFF2-40B4-BE49-F238E27FC236}">
                <a16:creationId xmlns:a16="http://schemas.microsoft.com/office/drawing/2014/main" id="{E8D212EE-7CF5-3CE3-7D2F-71A7C08B8EC8}"/>
              </a:ext>
            </a:extLst>
          </p:cNvPr>
          <p:cNvSpPr>
            <a:spLocks noGrp="1"/>
          </p:cNvSpPr>
          <p:nvPr>
            <p:ph type="sldNum" sz="quarter" idx="12"/>
            <p:custDataLst>
              <p:tags r:id="rId18"/>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9</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207460479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24" grpId="0" animBg="1"/>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D22B47-9AC1-46BF-94D9-0BA448613B3C}"/>
              </a:ext>
            </a:extLst>
          </p:cNvPr>
          <p:cNvSpPr>
            <a:spLocks noGrp="1"/>
          </p:cNvSpPr>
          <p:nvPr>
            <p:ph type="title"/>
            <p:custDataLst>
              <p:tags r:id="rId1"/>
            </p:custDataLst>
          </p:nvPr>
        </p:nvSpPr>
        <p:spPr/>
        <p:txBody>
          <a:bodyPr>
            <a:normAutofit/>
          </a:bodyPr>
          <a:lstStyle/>
          <a:p>
            <a:r>
              <a:rPr lang="fr-CA" sz="4000"/>
              <a:t>Concepts clés (rappel)</a:t>
            </a:r>
          </a:p>
        </p:txBody>
      </p:sp>
      <p:sp>
        <p:nvSpPr>
          <p:cNvPr id="3" name="Espace réservé du contenu 2">
            <a:extLst>
              <a:ext uri="{FF2B5EF4-FFF2-40B4-BE49-F238E27FC236}">
                <a16:creationId xmlns:a16="http://schemas.microsoft.com/office/drawing/2014/main" id="{C0A38514-7B9B-4505-84FB-50639B654601}"/>
              </a:ext>
            </a:extLst>
          </p:cNvPr>
          <p:cNvSpPr>
            <a:spLocks noGrp="1"/>
          </p:cNvSpPr>
          <p:nvPr>
            <p:ph idx="1"/>
            <p:custDataLst>
              <p:tags r:id="rId2"/>
            </p:custDataLst>
          </p:nvPr>
        </p:nvSpPr>
        <p:spPr/>
        <p:txBody>
          <a:bodyPr/>
          <a:lstStyle/>
          <a:p>
            <a:r>
              <a:rPr lang="fr-CA"/>
              <a:t>Coûts irrécupérables</a:t>
            </a:r>
          </a:p>
          <a:p>
            <a:r>
              <a:rPr lang="fr-CA"/>
              <a:t>Coûts fixes </a:t>
            </a:r>
            <a:r>
              <a:rPr lang="fr-CA" b="1"/>
              <a:t>communs</a:t>
            </a:r>
            <a:r>
              <a:rPr lang="fr-CA"/>
              <a:t> - intervient dans la production de plusieurs biens ou services. Coût </a:t>
            </a:r>
            <a:r>
              <a:rPr lang="fr-CA" u="sng"/>
              <a:t>non-pertinent</a:t>
            </a:r>
            <a:r>
              <a:rPr lang="fr-CA"/>
              <a:t> pour la prise de décision. </a:t>
            </a:r>
          </a:p>
          <a:p>
            <a:pPr marL="0" indent="0">
              <a:buNone/>
            </a:pPr>
            <a:endParaRPr lang="fr-CA"/>
          </a:p>
          <a:p>
            <a:r>
              <a:rPr lang="fr-CA"/>
              <a:t>Coûts pertinents</a:t>
            </a:r>
          </a:p>
          <a:p>
            <a:pPr lvl="1"/>
            <a:r>
              <a:rPr lang="fr-CA"/>
              <a:t>Coûts variables (MP, MOD, FGF variables, FV variables)</a:t>
            </a:r>
          </a:p>
          <a:p>
            <a:pPr lvl="1"/>
            <a:r>
              <a:rPr lang="fr-CA"/>
              <a:t>Coûts </a:t>
            </a:r>
            <a:r>
              <a:rPr lang="fr-CA" b="1"/>
              <a:t>fixes spécifiques </a:t>
            </a:r>
            <a:r>
              <a:rPr lang="fr-CA"/>
              <a:t>– coût </a:t>
            </a:r>
            <a:r>
              <a:rPr lang="fr-CA" u="sng"/>
              <a:t>pertinent</a:t>
            </a:r>
            <a:r>
              <a:rPr lang="fr-CA"/>
              <a:t> à la prise de décision, car ces coûts sont directement imputables à la production d'un bien ou service donné</a:t>
            </a:r>
          </a:p>
          <a:p>
            <a:pPr lvl="1"/>
            <a:r>
              <a:rPr lang="fr-CA"/>
              <a:t>Coût de renonciation</a:t>
            </a:r>
          </a:p>
          <a:p>
            <a:pPr marL="457200" lvl="1" indent="0">
              <a:buNone/>
            </a:pPr>
            <a:endParaRPr lang="fr-CA"/>
          </a:p>
        </p:txBody>
      </p:sp>
      <p:sp>
        <p:nvSpPr>
          <p:cNvPr id="4" name="Espace réservé du pied de page 3">
            <a:extLst>
              <a:ext uri="{FF2B5EF4-FFF2-40B4-BE49-F238E27FC236}">
                <a16:creationId xmlns:a16="http://schemas.microsoft.com/office/drawing/2014/main" id="{226DBED1-A0A9-0FE3-CFB4-EFF012693C9B}"/>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9D72087D-E996-AA8D-6032-94033CE04296}"/>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10</a:t>
            </a:fld>
            <a:endParaRPr lang="fr-CA">
              <a:solidFill>
                <a:prstClr val="black">
                  <a:tint val="75000"/>
                </a:prstClr>
              </a:solidFill>
            </a:endParaRPr>
          </a:p>
        </p:txBody>
      </p:sp>
    </p:spTree>
    <p:extLst>
      <p:ext uri="{BB962C8B-B14F-4D97-AF65-F5344CB8AC3E}">
        <p14:creationId xmlns:p14="http://schemas.microsoft.com/office/powerpoint/2010/main" val="3315959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normAutofit/>
          </a:bodyPr>
          <a:lstStyle/>
          <a:p>
            <a:pPr algn="ctr"/>
            <a:r>
              <a:rPr lang="en-CA" sz="5400"/>
              <a:t>Des </a:t>
            </a:r>
            <a:r>
              <a:rPr lang="en-CA" sz="5400" err="1"/>
              <a:t>exemples</a:t>
            </a:r>
            <a:r>
              <a:rPr lang="en-CA" sz="5400"/>
              <a:t> de </a:t>
            </a:r>
            <a:br>
              <a:rPr lang="en-CA" sz="5400"/>
            </a:br>
            <a:r>
              <a:rPr lang="en-CA" sz="5400" err="1"/>
              <a:t>décisions</a:t>
            </a:r>
            <a:r>
              <a:rPr lang="en-CA" sz="5400"/>
              <a:t> </a:t>
            </a:r>
            <a:r>
              <a:rPr lang="en-CA" sz="5400" err="1"/>
              <a:t>d’exploitation</a:t>
            </a:r>
            <a:endParaRPr lang="fr-CA" sz="5400" strike="sngStrike"/>
          </a:p>
        </p:txBody>
      </p:sp>
      <p:sp>
        <p:nvSpPr>
          <p:cNvPr id="4" name="Espace réservé du pied de page 3">
            <a:extLst>
              <a:ext uri="{FF2B5EF4-FFF2-40B4-BE49-F238E27FC236}">
                <a16:creationId xmlns:a16="http://schemas.microsoft.com/office/drawing/2014/main" id="{EE59075F-C56C-B156-A96B-60F0A0897DFF}"/>
              </a:ext>
            </a:extLst>
          </p:cNvPr>
          <p:cNvSpPr>
            <a:spLocks noGrp="1"/>
          </p:cNvSpPr>
          <p:nvPr>
            <p:ph type="ftr" sz="quarter" idx="11"/>
            <p:custDataLst>
              <p:tags r:id="rId2"/>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6" name="Espace réservé du numéro de diapositive 4">
            <a:extLst>
              <a:ext uri="{FF2B5EF4-FFF2-40B4-BE49-F238E27FC236}">
                <a16:creationId xmlns:a16="http://schemas.microsoft.com/office/drawing/2014/main" id="{A638A378-7BA0-FA4C-D8A9-59726861C726}"/>
              </a:ext>
            </a:extLst>
          </p:cNvPr>
          <p:cNvSpPr>
            <a:spLocks noGrp="1"/>
          </p:cNvSpPr>
          <p:nvPr>
            <p:ph type="sldNum" sz="quarter" idx="12"/>
            <p:custDataLst>
              <p:tags r:id="rId3"/>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11</a:t>
            </a:fld>
            <a:endParaRPr lang="fr-CA">
              <a:solidFill>
                <a:prstClr val="black">
                  <a:tint val="75000"/>
                </a:prstClr>
              </a:solidFill>
            </a:endParaRPr>
          </a:p>
        </p:txBody>
      </p:sp>
    </p:spTree>
    <p:extLst>
      <p:ext uri="{BB962C8B-B14F-4D97-AF65-F5344CB8AC3E}">
        <p14:creationId xmlns:p14="http://schemas.microsoft.com/office/powerpoint/2010/main" val="2773131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9D64B1-CCAF-006D-F457-2E496A8824F6}"/>
              </a:ext>
            </a:extLst>
          </p:cNvPr>
          <p:cNvSpPr>
            <a:spLocks noGrp="1"/>
          </p:cNvSpPr>
          <p:nvPr>
            <p:ph type="ctrTitle"/>
            <p:custDataLst>
              <p:tags r:id="rId1"/>
            </p:custDataLst>
          </p:nvPr>
        </p:nvSpPr>
        <p:spPr/>
        <p:txBody>
          <a:bodyPr/>
          <a:lstStyle/>
          <a:p>
            <a:r>
              <a:rPr lang="fr-CA"/>
              <a:t>Exemple 1: </a:t>
            </a:r>
          </a:p>
        </p:txBody>
      </p:sp>
      <p:sp>
        <p:nvSpPr>
          <p:cNvPr id="3" name="Sous-titre 2">
            <a:extLst>
              <a:ext uri="{FF2B5EF4-FFF2-40B4-BE49-F238E27FC236}">
                <a16:creationId xmlns:a16="http://schemas.microsoft.com/office/drawing/2014/main" id="{4C67F49F-DA2C-CFE2-5941-63E00D3B2C97}"/>
              </a:ext>
            </a:extLst>
          </p:cNvPr>
          <p:cNvSpPr>
            <a:spLocks noGrp="1"/>
          </p:cNvSpPr>
          <p:nvPr>
            <p:ph type="subTitle" idx="1"/>
            <p:custDataLst>
              <p:tags r:id="rId2"/>
            </p:custDataLst>
          </p:nvPr>
        </p:nvSpPr>
        <p:spPr/>
        <p:txBody>
          <a:bodyPr>
            <a:normAutofit/>
          </a:bodyPr>
          <a:lstStyle/>
          <a:p>
            <a:r>
              <a:rPr lang="fr-CA" sz="3200" dirty="0"/>
              <a:t>Fabriquer ou acheter (sous-traiter) un produit</a:t>
            </a:r>
            <a:br>
              <a:rPr lang="fr-CA" sz="2800" dirty="0"/>
            </a:br>
            <a:endParaRPr lang="fr-CA" sz="3200" dirty="0"/>
          </a:p>
        </p:txBody>
      </p:sp>
      <p:sp>
        <p:nvSpPr>
          <p:cNvPr id="4" name="Espace réservé du pied de page 3">
            <a:extLst>
              <a:ext uri="{FF2B5EF4-FFF2-40B4-BE49-F238E27FC236}">
                <a16:creationId xmlns:a16="http://schemas.microsoft.com/office/drawing/2014/main" id="{659D750D-AE83-D9A0-0EE2-825B9F91CAC7}"/>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F3135BC9-D7E8-FCD8-5840-1BE9A3DE4F8C}"/>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12</a:t>
            </a:fld>
            <a:endParaRPr lang="fr-CA">
              <a:solidFill>
                <a:prstClr val="black">
                  <a:tint val="75000"/>
                </a:prstClr>
              </a:solidFill>
            </a:endParaRPr>
          </a:p>
        </p:txBody>
      </p:sp>
    </p:spTree>
    <p:extLst>
      <p:ext uri="{BB962C8B-B14F-4D97-AF65-F5344CB8AC3E}">
        <p14:creationId xmlns:p14="http://schemas.microsoft.com/office/powerpoint/2010/main" val="2174679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p:custDataLst>
              <p:tags r:id="rId2"/>
            </p:custDataLst>
          </p:nvPr>
        </p:nvSpPr>
        <p:spPr>
          <a:xfrm>
            <a:off x="838200" y="180301"/>
            <a:ext cx="10600266" cy="1031881"/>
          </a:xfrm>
        </p:spPr>
        <p:txBody>
          <a:bodyPr anchor="ctr">
            <a:noAutofit/>
          </a:bodyPr>
          <a:lstStyle/>
          <a:p>
            <a:pPr lvl="0">
              <a:lnSpc>
                <a:spcPct val="90000"/>
              </a:lnSpc>
            </a:pPr>
            <a:r>
              <a:rPr lang="fr-CA" sz="4000" dirty="0"/>
              <a:t>Fabriquer ou acheter (sous-traiter) un produit</a:t>
            </a:r>
          </a:p>
        </p:txBody>
      </p:sp>
      <p:graphicFrame>
        <p:nvGraphicFramePr>
          <p:cNvPr id="7" name="Espace réservé du contenu 6"/>
          <p:cNvGraphicFramePr>
            <a:graphicFrameLocks noGrp="1"/>
          </p:cNvGraphicFramePr>
          <p:nvPr>
            <p:ph sz="half" idx="2"/>
            <p:custDataLst>
              <p:tags r:id="rId3"/>
            </p:custDataLst>
            <p:extLst>
              <p:ext uri="{D42A27DB-BD31-4B8C-83A1-F6EECF244321}">
                <p14:modId xmlns:p14="http://schemas.microsoft.com/office/powerpoint/2010/main" val="1477279191"/>
              </p:ext>
            </p:extLst>
          </p:nvPr>
        </p:nvGraphicFramePr>
        <p:xfrm>
          <a:off x="5816906" y="1598769"/>
          <a:ext cx="5491174" cy="4784604"/>
        </p:xfrm>
        <a:graphic>
          <a:graphicData uri="http://schemas.openxmlformats.org/drawingml/2006/table">
            <a:tbl>
              <a:tblPr bandRow="1">
                <a:tableStyleId>{BC89EF96-8CEA-46FF-86C4-4CE0E7609802}</a:tableStyleId>
              </a:tblPr>
              <a:tblGrid>
                <a:gridCol w="4119574">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94436">
                <a:tc gridSpan="2">
                  <a:txBody>
                    <a:bodyPr/>
                    <a:lstStyle/>
                    <a:p>
                      <a:r>
                        <a:rPr lang="fr-CA" sz="2200" b="1"/>
                        <a:t>Coût total pour 50 000 unités du BK200</a:t>
                      </a:r>
                    </a:p>
                  </a:txBody>
                  <a:tcPr marL="118766" marR="118766" anchor="ctr"/>
                </a:tc>
                <a:tc hMerge="1">
                  <a:txBody>
                    <a:bodyPr/>
                    <a:lstStyle/>
                    <a:p>
                      <a:pPr algn="r"/>
                      <a:endParaRPr lang="fr-CA" sz="2400"/>
                    </a:p>
                  </a:txBody>
                  <a:tcPr marL="118766" marR="118766" anchor="ctr"/>
                </a:tc>
                <a:extLst>
                  <a:ext uri="{0D108BD9-81ED-4DB2-BD59-A6C34878D82A}">
                    <a16:rowId xmlns:a16="http://schemas.microsoft.com/office/drawing/2014/main" val="3985371385"/>
                  </a:ext>
                </a:extLst>
              </a:tr>
              <a:tr h="490937">
                <a:tc>
                  <a:txBody>
                    <a:bodyPr/>
                    <a:lstStyle/>
                    <a:p>
                      <a:r>
                        <a:rPr lang="fr-CA" sz="2200"/>
                        <a:t>Matières premières (MP)</a:t>
                      </a:r>
                    </a:p>
                  </a:txBody>
                  <a:tcPr marL="118766" marR="118766" anchor="ctr"/>
                </a:tc>
                <a:tc>
                  <a:txBody>
                    <a:bodyPr/>
                    <a:lstStyle/>
                    <a:p>
                      <a:pPr algn="r"/>
                      <a:r>
                        <a:rPr lang="fr-CA" sz="2200"/>
                        <a:t>125 000 $</a:t>
                      </a:r>
                    </a:p>
                  </a:txBody>
                  <a:tcPr marL="118766" marR="118766" anchor="ctr"/>
                </a:tc>
                <a:extLst>
                  <a:ext uri="{0D108BD9-81ED-4DB2-BD59-A6C34878D82A}">
                    <a16:rowId xmlns:a16="http://schemas.microsoft.com/office/drawing/2014/main" val="10000"/>
                  </a:ext>
                </a:extLst>
              </a:tr>
              <a:tr h="530472">
                <a:tc>
                  <a:txBody>
                    <a:bodyPr/>
                    <a:lstStyle/>
                    <a:p>
                      <a:r>
                        <a:rPr lang="fr-CA" sz="2200"/>
                        <a:t>Salaires des employés de production (MOD)</a:t>
                      </a:r>
                    </a:p>
                  </a:txBody>
                  <a:tcPr marL="118766" marR="118766" anchor="ctr"/>
                </a:tc>
                <a:tc>
                  <a:txBody>
                    <a:bodyPr/>
                    <a:lstStyle/>
                    <a:p>
                      <a:pPr algn="r"/>
                      <a:r>
                        <a:rPr lang="fr-CA" sz="2200"/>
                        <a:t>62 500 $</a:t>
                      </a:r>
                    </a:p>
                  </a:txBody>
                  <a:tcPr marL="118766" marR="118766" anchor="ctr"/>
                </a:tc>
                <a:extLst>
                  <a:ext uri="{0D108BD9-81ED-4DB2-BD59-A6C34878D82A}">
                    <a16:rowId xmlns:a16="http://schemas.microsoft.com/office/drawing/2014/main" val="10001"/>
                  </a:ext>
                </a:extLst>
              </a:tr>
              <a:tr h="598410">
                <a:tc>
                  <a:txBody>
                    <a:bodyPr/>
                    <a:lstStyle/>
                    <a:p>
                      <a:r>
                        <a:rPr lang="fr-CA" sz="2200"/>
                        <a:t>Frais généraux de fabrication </a:t>
                      </a:r>
                      <a:r>
                        <a:rPr lang="fr-CA" sz="2200" b="1"/>
                        <a:t>variables</a:t>
                      </a:r>
                    </a:p>
                  </a:txBody>
                  <a:tcPr marL="118766" marR="118766" anchor="ctr"/>
                </a:tc>
                <a:tc>
                  <a:txBody>
                    <a:bodyPr/>
                    <a:lstStyle/>
                    <a:p>
                      <a:pPr algn="r"/>
                      <a:r>
                        <a:rPr lang="fr-CA" sz="2200"/>
                        <a:t>87 500 $</a:t>
                      </a:r>
                    </a:p>
                  </a:txBody>
                  <a:tcPr marL="118766" marR="118766" anchor="ctr"/>
                </a:tc>
                <a:extLst>
                  <a:ext uri="{0D108BD9-81ED-4DB2-BD59-A6C34878D82A}">
                    <a16:rowId xmlns:a16="http://schemas.microsoft.com/office/drawing/2014/main" val="10002"/>
                  </a:ext>
                </a:extLst>
              </a:tr>
              <a:tr h="598410">
                <a:tc>
                  <a:txBody>
                    <a:bodyPr/>
                    <a:lstStyle/>
                    <a:p>
                      <a:r>
                        <a:rPr lang="fr-CA" sz="2200"/>
                        <a:t>Frais généraux de fabrication </a:t>
                      </a:r>
                      <a:r>
                        <a:rPr lang="fr-CA" sz="2200" b="1"/>
                        <a:t>fixes</a:t>
                      </a:r>
                    </a:p>
                  </a:txBody>
                  <a:tcPr marL="118766" marR="118766" anchor="ctr"/>
                </a:tc>
                <a:tc>
                  <a:txBody>
                    <a:bodyPr/>
                    <a:lstStyle/>
                    <a:p>
                      <a:pPr algn="r"/>
                      <a:r>
                        <a:rPr lang="fr-CA" sz="2200" u="sng"/>
                        <a:t>175 000 $</a:t>
                      </a:r>
                    </a:p>
                  </a:txBody>
                  <a:tcPr marL="118766" marR="118766" anchor="ctr"/>
                </a:tc>
                <a:extLst>
                  <a:ext uri="{0D108BD9-81ED-4DB2-BD59-A6C34878D82A}">
                    <a16:rowId xmlns:a16="http://schemas.microsoft.com/office/drawing/2014/main" val="10003"/>
                  </a:ext>
                </a:extLst>
              </a:tr>
              <a:tr h="598410">
                <a:tc>
                  <a:txBody>
                    <a:bodyPr/>
                    <a:lstStyle/>
                    <a:p>
                      <a:r>
                        <a:rPr lang="fr-CA" sz="2200" b="1"/>
                        <a:t>Coût</a:t>
                      </a:r>
                      <a:r>
                        <a:rPr lang="fr-CA" sz="2200" b="1" baseline="0"/>
                        <a:t> t</a:t>
                      </a:r>
                      <a:r>
                        <a:rPr lang="fr-CA" sz="2200" b="1"/>
                        <a:t>otal</a:t>
                      </a:r>
                    </a:p>
                  </a:txBody>
                  <a:tcPr marL="118766" marR="118766" anchor="ctr"/>
                </a:tc>
                <a:tc>
                  <a:txBody>
                    <a:bodyPr/>
                    <a:lstStyle/>
                    <a:p>
                      <a:pPr algn="r"/>
                      <a:r>
                        <a:rPr lang="fr-CA" sz="2200"/>
                        <a:t>450 000 $</a:t>
                      </a:r>
                    </a:p>
                  </a:txBody>
                  <a:tcPr marL="118766" marR="118766" anchor="ctr"/>
                </a:tc>
                <a:extLst>
                  <a:ext uri="{0D108BD9-81ED-4DB2-BD59-A6C34878D82A}">
                    <a16:rowId xmlns:a16="http://schemas.microsoft.com/office/drawing/2014/main" val="10004"/>
                  </a:ext>
                </a:extLst>
              </a:tr>
              <a:tr h="598410">
                <a:tc>
                  <a:txBody>
                    <a:bodyPr/>
                    <a:lstStyle/>
                    <a:p>
                      <a:r>
                        <a:rPr lang="fr-CA" sz="2200"/>
                        <a:t>Nombre d’unités du BK200</a:t>
                      </a:r>
                    </a:p>
                  </a:txBody>
                  <a:tcPr marL="118766" marR="118766" anchor="ctr"/>
                </a:tc>
                <a:tc>
                  <a:txBody>
                    <a:bodyPr/>
                    <a:lstStyle/>
                    <a:p>
                      <a:pPr algn="r"/>
                      <a:r>
                        <a:rPr lang="fr-CA" sz="2200" u="sng"/>
                        <a:t> ÷ 50 000</a:t>
                      </a:r>
                    </a:p>
                  </a:txBody>
                  <a:tcPr marL="118766" marR="118766" anchor="ctr"/>
                </a:tc>
                <a:extLst>
                  <a:ext uri="{0D108BD9-81ED-4DB2-BD59-A6C34878D82A}">
                    <a16:rowId xmlns:a16="http://schemas.microsoft.com/office/drawing/2014/main" val="4199834883"/>
                  </a:ext>
                </a:extLst>
              </a:tr>
              <a:tr h="480001">
                <a:tc>
                  <a:txBody>
                    <a:bodyPr/>
                    <a:lstStyle/>
                    <a:p>
                      <a:r>
                        <a:rPr lang="fr-CA" sz="2200"/>
                        <a:t>Coût unitaire </a:t>
                      </a:r>
                      <a:r>
                        <a:rPr lang="fr-CA" sz="2000"/>
                        <a:t>450 000 $ / 50 000 u</a:t>
                      </a:r>
                      <a:r>
                        <a:rPr lang="fr-CA" sz="2200"/>
                        <a:t>.</a:t>
                      </a:r>
                    </a:p>
                  </a:txBody>
                  <a:tcPr marL="118766" marR="118766" anchor="ctr"/>
                </a:tc>
                <a:tc>
                  <a:txBody>
                    <a:bodyPr/>
                    <a:lstStyle/>
                    <a:p>
                      <a:pPr algn="r"/>
                      <a:r>
                        <a:rPr lang="fr-CA" sz="2200" b="1"/>
                        <a:t>9,00 $</a:t>
                      </a:r>
                    </a:p>
                  </a:txBody>
                  <a:tcPr marL="118766" marR="118766" anchor="ctr"/>
                </a:tc>
                <a:extLst>
                  <a:ext uri="{0D108BD9-81ED-4DB2-BD59-A6C34878D82A}">
                    <a16:rowId xmlns:a16="http://schemas.microsoft.com/office/drawing/2014/main" val="520056235"/>
                  </a:ext>
                </a:extLst>
              </a:tr>
            </a:tbl>
          </a:graphicData>
        </a:graphic>
      </p:graphicFrame>
      <p:sp>
        <p:nvSpPr>
          <p:cNvPr id="6" name="Espace réservé du contenu 5"/>
          <p:cNvSpPr>
            <a:spLocks noGrp="1"/>
          </p:cNvSpPr>
          <p:nvPr>
            <p:ph sz="half" idx="1"/>
            <p:custDataLst>
              <p:tags r:id="rId4"/>
            </p:custDataLst>
          </p:nvPr>
        </p:nvSpPr>
        <p:spPr>
          <a:xfrm>
            <a:off x="625151" y="1598769"/>
            <a:ext cx="5191755" cy="4578194"/>
          </a:xfrm>
        </p:spPr>
        <p:txBody>
          <a:bodyPr>
            <a:normAutofit/>
          </a:bodyPr>
          <a:lstStyle/>
          <a:p>
            <a:pPr lvl="0" rtl="0"/>
            <a:r>
              <a:rPr lang="fr-CA" sz="2400"/>
              <a:t>Le détail du coût complet unitaire pour la production du BK200 par ABC est présenté dans le tableau ci-contre</a:t>
            </a:r>
          </a:p>
          <a:p>
            <a:pPr lvl="0" rtl="0"/>
            <a:r>
              <a:rPr lang="fr-CA" sz="2400"/>
              <a:t>Un fournisseur externe offre à ABC de lui vendre ce produit à un prix de 7,75 $ l’unité</a:t>
            </a:r>
          </a:p>
          <a:p>
            <a:pPr lvl="0" rtl="0"/>
            <a:r>
              <a:rPr lang="fr-CA" sz="2400"/>
              <a:t>Le directeur de production pense à sous-traiter la production du BK200 pour l’acheter de ce fournisseur</a:t>
            </a:r>
          </a:p>
          <a:p>
            <a:pPr lvl="0" rtl="0"/>
            <a:r>
              <a:rPr lang="fr-CA" sz="2400" b="1">
                <a:solidFill>
                  <a:srgbClr val="C00000"/>
                </a:solidFill>
              </a:rPr>
              <a:t>Qu’en pensez-vous ? </a:t>
            </a:r>
          </a:p>
        </p:txBody>
      </p:sp>
      <p:sp>
        <p:nvSpPr>
          <p:cNvPr id="4" name="Espace réservé du pied de page 3">
            <a:extLst>
              <a:ext uri="{FF2B5EF4-FFF2-40B4-BE49-F238E27FC236}">
                <a16:creationId xmlns:a16="http://schemas.microsoft.com/office/drawing/2014/main" id="{A33DD527-FD7A-9B66-2F64-4ED6B2665B1D}"/>
              </a:ext>
            </a:extLst>
          </p:cNvPr>
          <p:cNvSpPr>
            <a:spLocks noGrp="1"/>
          </p:cNvSpPr>
          <p:nvPr>
            <p:ph type="ftr" sz="quarter" idx="11"/>
            <p:custDataLst>
              <p:tags r:id="rId5"/>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8" name="Espace réservé du numéro de diapositive 4">
            <a:extLst>
              <a:ext uri="{FF2B5EF4-FFF2-40B4-BE49-F238E27FC236}">
                <a16:creationId xmlns:a16="http://schemas.microsoft.com/office/drawing/2014/main" id="{028F1451-836D-45DA-5E4B-DE3EEFA89988}"/>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13</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884192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086879-432F-7237-706D-0DF58B0ACAF3}"/>
              </a:ext>
            </a:extLst>
          </p:cNvPr>
          <p:cNvSpPr>
            <a:spLocks noGrp="1"/>
          </p:cNvSpPr>
          <p:nvPr>
            <p:ph type="title"/>
            <p:custDataLst>
              <p:tags r:id="rId1"/>
            </p:custDataLst>
          </p:nvPr>
        </p:nvSpPr>
        <p:spPr/>
        <p:txBody>
          <a:bodyPr/>
          <a:lstStyle/>
          <a:p>
            <a:r>
              <a:rPr lang="fr-CA"/>
              <a:t>Éléments à prendre en considération</a:t>
            </a:r>
          </a:p>
        </p:txBody>
      </p:sp>
      <p:sp>
        <p:nvSpPr>
          <p:cNvPr id="3" name="Espace réservé du contenu 2">
            <a:extLst>
              <a:ext uri="{FF2B5EF4-FFF2-40B4-BE49-F238E27FC236}">
                <a16:creationId xmlns:a16="http://schemas.microsoft.com/office/drawing/2014/main" id="{70A1D39A-6EBC-11C8-546B-A0E5C1FDF949}"/>
              </a:ext>
            </a:extLst>
          </p:cNvPr>
          <p:cNvSpPr>
            <a:spLocks noGrp="1"/>
          </p:cNvSpPr>
          <p:nvPr>
            <p:ph idx="1"/>
            <p:custDataLst>
              <p:tags r:id="rId2"/>
            </p:custDataLst>
          </p:nvPr>
        </p:nvSpPr>
        <p:spPr/>
        <p:txBody>
          <a:bodyPr/>
          <a:lstStyle/>
          <a:p>
            <a:pPr marL="0" indent="0">
              <a:buNone/>
            </a:pPr>
            <a:r>
              <a:rPr lang="fr-CA" b="1"/>
              <a:t>Situation 1</a:t>
            </a:r>
            <a:r>
              <a:rPr lang="fr-CA"/>
              <a:t>: Les coûts fixes sont </a:t>
            </a:r>
            <a:r>
              <a:rPr lang="fr-CA" b="1"/>
              <a:t>communs</a:t>
            </a:r>
          </a:p>
          <a:p>
            <a:pPr marL="0" indent="0">
              <a:buNone/>
            </a:pPr>
            <a:r>
              <a:rPr lang="fr-CA" i="1"/>
              <a:t>Comment nos coûts variables se comparent-ils aux coûts de sous-traitance (prix proposé par le fournisseur = coût variable) ? </a:t>
            </a:r>
          </a:p>
          <a:p>
            <a:pPr marL="0" indent="0">
              <a:buNone/>
            </a:pPr>
            <a:endParaRPr lang="fr-CA"/>
          </a:p>
          <a:p>
            <a:pPr marL="0" indent="0">
              <a:buNone/>
            </a:pPr>
            <a:r>
              <a:rPr lang="fr-CA" b="1"/>
              <a:t>Situation 2</a:t>
            </a:r>
            <a:r>
              <a:rPr lang="fr-CA"/>
              <a:t>: Les coûts fixes sont </a:t>
            </a:r>
            <a:r>
              <a:rPr lang="fr-CA" b="1"/>
              <a:t>communs</a:t>
            </a:r>
            <a:r>
              <a:rPr lang="fr-CA"/>
              <a:t> et </a:t>
            </a:r>
            <a:r>
              <a:rPr lang="fr-CA" b="1"/>
              <a:t>spécifiques</a:t>
            </a:r>
          </a:p>
          <a:p>
            <a:pPr marL="0" indent="0">
              <a:buNone/>
            </a:pPr>
            <a:r>
              <a:rPr lang="fr-CA" i="1"/>
              <a:t>Certains coûts fixes sont-ils des coûts fixes spécifiques à l’objet de coût?</a:t>
            </a:r>
          </a:p>
          <a:p>
            <a:pPr marL="0" indent="0">
              <a:buNone/>
            </a:pPr>
            <a:endParaRPr lang="fr-CA"/>
          </a:p>
          <a:p>
            <a:pPr marL="0" indent="0">
              <a:buNone/>
            </a:pPr>
            <a:r>
              <a:rPr lang="fr-CA" b="1"/>
              <a:t>Situation 3</a:t>
            </a:r>
            <a:r>
              <a:rPr lang="fr-CA"/>
              <a:t>: Calcul d’un </a:t>
            </a:r>
            <a:r>
              <a:rPr lang="fr-CA" b="1"/>
              <a:t>coût de renonciation</a:t>
            </a:r>
          </a:p>
          <a:p>
            <a:pPr marL="0" indent="0">
              <a:buNone/>
            </a:pPr>
            <a:r>
              <a:rPr lang="fr-CA" i="1"/>
              <a:t>Que pourrions-nous faire avec la capacité de production libérée ?</a:t>
            </a:r>
          </a:p>
        </p:txBody>
      </p:sp>
      <p:sp>
        <p:nvSpPr>
          <p:cNvPr id="5" name="Espace réservé du numéro de diapositive 4">
            <a:extLst>
              <a:ext uri="{FF2B5EF4-FFF2-40B4-BE49-F238E27FC236}">
                <a16:creationId xmlns:a16="http://schemas.microsoft.com/office/drawing/2014/main" id="{81205B16-E713-266F-A742-6A8AAC47386D}"/>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14</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F14FB1DE-AF2E-C9EB-1759-B816CF286314}"/>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Tree>
    <p:extLst>
      <p:ext uri="{BB962C8B-B14F-4D97-AF65-F5344CB8AC3E}">
        <p14:creationId xmlns:p14="http://schemas.microsoft.com/office/powerpoint/2010/main" val="2740142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65ABC-C344-42C7-B624-82031417585B}"/>
              </a:ext>
            </a:extLst>
          </p:cNvPr>
          <p:cNvSpPr>
            <a:spLocks noGrp="1"/>
          </p:cNvSpPr>
          <p:nvPr>
            <p:ph type="title"/>
            <p:custDataLst>
              <p:tags r:id="rId1"/>
            </p:custDataLst>
          </p:nvPr>
        </p:nvSpPr>
        <p:spPr>
          <a:xfrm>
            <a:off x="838200" y="160589"/>
            <a:ext cx="10712116" cy="1042570"/>
          </a:xfrm>
        </p:spPr>
        <p:txBody>
          <a:bodyPr vert="horz" lIns="91440" tIns="45720" rIns="91440" bIns="45720" rtlCol="0" anchor="ctr">
            <a:noAutofit/>
          </a:bodyPr>
          <a:lstStyle/>
          <a:p>
            <a:r>
              <a:rPr lang="fr-CA" sz="4000"/>
              <a:t>Acheter (sous-traiter) ou fabriquer un produit </a:t>
            </a:r>
            <a:br>
              <a:rPr lang="fr-CA" sz="4000"/>
            </a:br>
            <a:r>
              <a:rPr lang="fr-CA" sz="4000" b="1"/>
              <a:t>Analyse différentielle (situation 1)</a:t>
            </a:r>
            <a:endParaRPr lang="fr-CA" sz="4000" b="1">
              <a:highlight>
                <a:srgbClr val="FFFF00"/>
              </a:highlight>
            </a:endParaRPr>
          </a:p>
        </p:txBody>
      </p:sp>
      <p:graphicFrame>
        <p:nvGraphicFramePr>
          <p:cNvPr id="6" name="Tableau 6">
            <a:extLst>
              <a:ext uri="{FF2B5EF4-FFF2-40B4-BE49-F238E27FC236}">
                <a16:creationId xmlns:a16="http://schemas.microsoft.com/office/drawing/2014/main" id="{D73F9948-D4F1-4BB4-8391-FF8FD33CA06C}"/>
              </a:ext>
            </a:extLst>
          </p:cNvPr>
          <p:cNvGraphicFramePr>
            <a:graphicFrameLocks noGrp="1"/>
          </p:cNvGraphicFramePr>
          <p:nvPr>
            <p:custDataLst>
              <p:tags r:id="rId2"/>
            </p:custDataLst>
            <p:extLst>
              <p:ext uri="{D42A27DB-BD31-4B8C-83A1-F6EECF244321}">
                <p14:modId xmlns:p14="http://schemas.microsoft.com/office/powerpoint/2010/main" val="2186689234"/>
              </p:ext>
            </p:extLst>
          </p:nvPr>
        </p:nvGraphicFramePr>
        <p:xfrm>
          <a:off x="573024" y="1799486"/>
          <a:ext cx="10003169" cy="4440198"/>
        </p:xfrm>
        <a:graphic>
          <a:graphicData uri="http://schemas.openxmlformats.org/drawingml/2006/table">
            <a:tbl>
              <a:tblPr firstRow="1" bandRow="1">
                <a:tableStyleId>{9D7B26C5-4107-4FEC-AEDC-1716B250A1EF}</a:tableStyleId>
              </a:tblPr>
              <a:tblGrid>
                <a:gridCol w="3106610">
                  <a:extLst>
                    <a:ext uri="{9D8B030D-6E8A-4147-A177-3AD203B41FA5}">
                      <a16:colId xmlns:a16="http://schemas.microsoft.com/office/drawing/2014/main" val="3526071591"/>
                    </a:ext>
                  </a:extLst>
                </a:gridCol>
                <a:gridCol w="1839817">
                  <a:extLst>
                    <a:ext uri="{9D8B030D-6E8A-4147-A177-3AD203B41FA5}">
                      <a16:colId xmlns:a16="http://schemas.microsoft.com/office/drawing/2014/main" val="3073064839"/>
                    </a:ext>
                  </a:extLst>
                </a:gridCol>
                <a:gridCol w="1746698">
                  <a:extLst>
                    <a:ext uri="{9D8B030D-6E8A-4147-A177-3AD203B41FA5}">
                      <a16:colId xmlns:a16="http://schemas.microsoft.com/office/drawing/2014/main" val="2611129504"/>
                    </a:ext>
                  </a:extLst>
                </a:gridCol>
                <a:gridCol w="3310044">
                  <a:extLst>
                    <a:ext uri="{9D8B030D-6E8A-4147-A177-3AD203B41FA5}">
                      <a16:colId xmlns:a16="http://schemas.microsoft.com/office/drawing/2014/main" val="3612815205"/>
                    </a:ext>
                  </a:extLst>
                </a:gridCol>
              </a:tblGrid>
              <a:tr h="1001703">
                <a:tc>
                  <a:txBody>
                    <a:bodyPr/>
                    <a:lstStyle/>
                    <a:p>
                      <a:endParaRPr lang="fr-CA" u="sng" dirty="0">
                        <a:solidFill>
                          <a:srgbClr val="FF0000"/>
                        </a:solidFill>
                      </a:endParaRPr>
                    </a:p>
                  </a:txBody>
                  <a:tcPr anchor="ctr"/>
                </a:tc>
                <a:tc>
                  <a:txBody>
                    <a:bodyPr/>
                    <a:lstStyle/>
                    <a:p>
                      <a:r>
                        <a:rPr lang="fr-CA" sz="2000" dirty="0"/>
                        <a:t>Alternative A</a:t>
                      </a:r>
                    </a:p>
                    <a:p>
                      <a:r>
                        <a:rPr lang="fr-CA" sz="2000" b="0" dirty="0"/>
                        <a:t>Fabriquer</a:t>
                      </a:r>
                    </a:p>
                  </a:txBody>
                  <a:tcPr anchor="ctr"/>
                </a:tc>
                <a:tc>
                  <a:txBody>
                    <a:bodyPr/>
                    <a:lstStyle/>
                    <a:p>
                      <a:r>
                        <a:rPr lang="fr-CA" sz="2000" b="1" dirty="0"/>
                        <a:t>Alternative B</a:t>
                      </a:r>
                    </a:p>
                    <a:p>
                      <a:r>
                        <a:rPr lang="fr-CA" sz="2000" b="0" dirty="0"/>
                        <a:t>Acheter</a:t>
                      </a:r>
                    </a:p>
                  </a:txBody>
                  <a:tcPr anchor="ctr"/>
                </a:tc>
                <a:tc>
                  <a:txBody>
                    <a:bodyPr/>
                    <a:lstStyle/>
                    <a:p>
                      <a:pPr algn="ctr"/>
                      <a:r>
                        <a:rPr lang="fr-CA" dirty="0"/>
                        <a:t>Analyse Différentielle</a:t>
                      </a:r>
                    </a:p>
                    <a:p>
                      <a:pPr algn="ctr"/>
                      <a:r>
                        <a:rPr lang="fr-CA" dirty="0"/>
                        <a:t>Impact sur le résultat si </a:t>
                      </a:r>
                      <a:r>
                        <a:rPr lang="fr-CA" u="sng" dirty="0"/>
                        <a:t>achat</a:t>
                      </a:r>
                      <a:r>
                        <a:rPr lang="fr-CA" dirty="0"/>
                        <a:t>: </a:t>
                      </a:r>
                    </a:p>
                    <a:p>
                      <a:pPr algn="ctr"/>
                      <a:r>
                        <a:rPr lang="fr-CA" dirty="0"/>
                        <a:t>Augmentation ou (diminution)</a:t>
                      </a:r>
                    </a:p>
                  </a:txBody>
                  <a:tcPr/>
                </a:tc>
                <a:extLst>
                  <a:ext uri="{0D108BD9-81ED-4DB2-BD59-A6C34878D82A}">
                    <a16:rowId xmlns:a16="http://schemas.microsoft.com/office/drawing/2014/main" val="4155510371"/>
                  </a:ext>
                </a:extLst>
              </a:tr>
              <a:tr h="4062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Matières premières</a:t>
                      </a:r>
                    </a:p>
                  </a:txBody>
                  <a:tcPr>
                    <a:solidFill>
                      <a:schemeClr val="bg1">
                        <a:lumMod val="75000"/>
                        <a:alpha val="20000"/>
                      </a:schemeClr>
                    </a:solidFill>
                  </a:tcPr>
                </a:tc>
                <a:tc>
                  <a:txBody>
                    <a:bodyPr/>
                    <a:lstStyle/>
                    <a:p>
                      <a:endParaRPr lang="fr-CA" dirty="0"/>
                    </a:p>
                  </a:txBody>
                  <a:tcPr>
                    <a:solidFill>
                      <a:schemeClr val="bg1">
                        <a:lumMod val="75000"/>
                        <a:alpha val="20000"/>
                      </a:schemeClr>
                    </a:solidFill>
                  </a:tcPr>
                </a:tc>
                <a:tc>
                  <a:txBody>
                    <a:bodyPr/>
                    <a:lstStyle/>
                    <a:p>
                      <a:endParaRPr lang="fr-CA" sz="1600"/>
                    </a:p>
                  </a:txBody>
                  <a:tcPr>
                    <a:solidFill>
                      <a:schemeClr val="bg1">
                        <a:lumMod val="75000"/>
                        <a:alpha val="20000"/>
                      </a:schemeClr>
                    </a:solidFill>
                  </a:tcPr>
                </a:tc>
                <a:tc>
                  <a:txBody>
                    <a:bodyPr/>
                    <a:lstStyle/>
                    <a:p>
                      <a:endParaRPr lang="fr-CA" dirty="0"/>
                    </a:p>
                  </a:txBody>
                  <a:tcPr>
                    <a:solidFill>
                      <a:schemeClr val="bg1">
                        <a:lumMod val="75000"/>
                        <a:alpha val="20000"/>
                      </a:schemeClr>
                    </a:solidFill>
                  </a:tcPr>
                </a:tc>
                <a:extLst>
                  <a:ext uri="{0D108BD9-81ED-4DB2-BD59-A6C34878D82A}">
                    <a16:rowId xmlns:a16="http://schemas.microsoft.com/office/drawing/2014/main" val="1303404451"/>
                  </a:ext>
                </a:extLst>
              </a:tr>
              <a:tr h="701192">
                <a:tc>
                  <a:txBody>
                    <a:bodyPr/>
                    <a:lstStyle/>
                    <a:p>
                      <a:r>
                        <a:rPr lang="fr-CA" dirty="0"/>
                        <a:t>Salaires des employés de production</a:t>
                      </a:r>
                      <a:endParaRPr lang="fr-CA" sz="1600" kern="1200" dirty="0">
                        <a:solidFill>
                          <a:schemeClr val="tx1"/>
                        </a:solidFill>
                        <a:latin typeface="+mn-lt"/>
                        <a:ea typeface="+mn-ea"/>
                        <a:cs typeface="+mn-cs"/>
                      </a:endParaRPr>
                    </a:p>
                  </a:txBody>
                  <a:tcPr/>
                </a:tc>
                <a:tc>
                  <a:txBody>
                    <a:bodyPr/>
                    <a:lstStyle/>
                    <a:p>
                      <a:endParaRPr lang="fr-CA" dirty="0"/>
                    </a:p>
                  </a:txBody>
                  <a:tcPr/>
                </a:tc>
                <a:tc>
                  <a:txBody>
                    <a:bodyPr/>
                    <a:lstStyle/>
                    <a:p>
                      <a:endParaRPr lang="fr-CA" sz="1600"/>
                    </a:p>
                  </a:txBody>
                  <a:tcPr/>
                </a:tc>
                <a:tc>
                  <a:txBody>
                    <a:bodyPr/>
                    <a:lstStyle/>
                    <a:p>
                      <a:endParaRPr lang="fr-CA" dirty="0"/>
                    </a:p>
                  </a:txBody>
                  <a:tcPr/>
                </a:tc>
                <a:extLst>
                  <a:ext uri="{0D108BD9-81ED-4DB2-BD59-A6C34878D82A}">
                    <a16:rowId xmlns:a16="http://schemas.microsoft.com/office/drawing/2014/main" val="220123461"/>
                  </a:ext>
                </a:extLst>
              </a:tr>
              <a:tr h="413690">
                <a:tc>
                  <a:txBody>
                    <a:bodyPr/>
                    <a:lstStyle/>
                    <a:p>
                      <a:r>
                        <a:rPr lang="fr-CA" dirty="0"/>
                        <a:t>FGF variables</a:t>
                      </a:r>
                    </a:p>
                  </a:txBody>
                  <a:tcPr>
                    <a:solidFill>
                      <a:schemeClr val="bg1">
                        <a:lumMod val="75000"/>
                        <a:alpha val="20000"/>
                      </a:schemeClr>
                    </a:solidFill>
                  </a:tcPr>
                </a:tc>
                <a:tc>
                  <a:txBody>
                    <a:bodyPr/>
                    <a:lstStyle/>
                    <a:p>
                      <a:endParaRPr lang="fr-CA" u="none" dirty="0"/>
                    </a:p>
                  </a:txBody>
                  <a:tcPr>
                    <a:solidFill>
                      <a:schemeClr val="bg1">
                        <a:lumMod val="75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600" kern="1200">
                        <a:solidFill>
                          <a:schemeClr val="tx1"/>
                        </a:solidFill>
                        <a:latin typeface="+mn-lt"/>
                        <a:ea typeface="+mn-ea"/>
                        <a:cs typeface="+mn-cs"/>
                      </a:endParaRPr>
                    </a:p>
                  </a:txBody>
                  <a:tcPr>
                    <a:solidFill>
                      <a:schemeClr val="bg1">
                        <a:lumMod val="75000"/>
                        <a:alpha val="20000"/>
                      </a:schemeClr>
                    </a:solidFill>
                  </a:tcPr>
                </a:tc>
                <a:tc>
                  <a:txBody>
                    <a:bodyPr/>
                    <a:lstStyle/>
                    <a:p>
                      <a:endParaRPr lang="fr-CA" u="none" dirty="0"/>
                    </a:p>
                  </a:txBody>
                  <a:tcPr>
                    <a:solidFill>
                      <a:schemeClr val="bg1">
                        <a:lumMod val="75000"/>
                        <a:alpha val="20000"/>
                      </a:schemeClr>
                    </a:solidFill>
                  </a:tcPr>
                </a:tc>
                <a:extLst>
                  <a:ext uri="{0D108BD9-81ED-4DB2-BD59-A6C34878D82A}">
                    <a16:rowId xmlns:a16="http://schemas.microsoft.com/office/drawing/2014/main" val="3030540745"/>
                  </a:ext>
                </a:extLst>
              </a:tr>
              <a:tr h="4062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Achat du fournisseur</a:t>
                      </a:r>
                    </a:p>
                  </a:txBody>
                  <a:tcPr>
                    <a:noFill/>
                  </a:tcPr>
                </a:tc>
                <a:tc>
                  <a:txBody>
                    <a:bodyPr/>
                    <a:lstStyle/>
                    <a:p>
                      <a:endParaRPr lang="fr-CA" sz="1600" u="sng"/>
                    </a:p>
                  </a:txBody>
                  <a:tcPr>
                    <a:noFill/>
                  </a:tcPr>
                </a:tc>
                <a:tc>
                  <a:txBody>
                    <a:bodyPr/>
                    <a:lstStyle/>
                    <a:p>
                      <a:endParaRPr lang="fr-CA" sz="1600" u="sng"/>
                    </a:p>
                  </a:txBody>
                  <a:tcPr>
                    <a:noFill/>
                  </a:tcPr>
                </a:tc>
                <a:tc>
                  <a:txBody>
                    <a:bodyPr/>
                    <a:lstStyle/>
                    <a:p>
                      <a:endParaRPr lang="fr-CA" u="sng">
                        <a:solidFill>
                          <a:schemeClr val="tx1"/>
                        </a:solidFill>
                      </a:endParaRPr>
                    </a:p>
                  </a:txBody>
                  <a:tcPr>
                    <a:noFill/>
                  </a:tcPr>
                </a:tc>
                <a:extLst>
                  <a:ext uri="{0D108BD9-81ED-4DB2-BD59-A6C34878D82A}">
                    <a16:rowId xmlns:a16="http://schemas.microsoft.com/office/drawing/2014/main" val="2801821692"/>
                  </a:ext>
                </a:extLst>
              </a:tr>
              <a:tr h="4062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b="0" dirty="0"/>
                        <a:t>     (</a:t>
                      </a:r>
                      <a:r>
                        <a:rPr lang="fr-CA" sz="1800" b="1" dirty="0"/>
                        <a:t>7,75 $</a:t>
                      </a:r>
                      <a:r>
                        <a:rPr lang="fr-CA" sz="1800" dirty="0"/>
                        <a:t> x 50 000 unités)</a:t>
                      </a:r>
                      <a:endParaRPr lang="fr-CA" sz="1800" u="sng" dirty="0"/>
                    </a:p>
                  </a:txBody>
                  <a:tcPr>
                    <a:noFill/>
                  </a:tcPr>
                </a:tc>
                <a:tc>
                  <a:txBody>
                    <a:bodyPr/>
                    <a:lstStyle/>
                    <a:p>
                      <a:endParaRPr lang="fr-CA" sz="1600" u="sng"/>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800" u="none" kern="1200" dirty="0">
                        <a:solidFill>
                          <a:schemeClr val="tx1"/>
                        </a:solidFill>
                        <a:latin typeface="+mn-lt"/>
                        <a:ea typeface="+mn-ea"/>
                        <a:cs typeface="+mn-cs"/>
                      </a:endParaRPr>
                    </a:p>
                  </a:txBody>
                  <a:tcPr>
                    <a:noFill/>
                  </a:tcPr>
                </a:tc>
                <a:tc>
                  <a:txBody>
                    <a:bodyPr/>
                    <a:lstStyle/>
                    <a:p>
                      <a:endParaRPr lang="fr-CA" u="none" dirty="0"/>
                    </a:p>
                  </a:txBody>
                  <a:tcPr>
                    <a:noFill/>
                  </a:tcPr>
                </a:tc>
                <a:extLst>
                  <a:ext uri="{0D108BD9-81ED-4DB2-BD59-A6C34878D82A}">
                    <a16:rowId xmlns:a16="http://schemas.microsoft.com/office/drawing/2014/main" val="3563043164"/>
                  </a:ext>
                </a:extLst>
              </a:tr>
              <a:tr h="464795">
                <a:tc>
                  <a:txBody>
                    <a:bodyPr/>
                    <a:lstStyle/>
                    <a:p>
                      <a:pPr algn="l"/>
                      <a:r>
                        <a:rPr lang="fr-CA" dirty="0"/>
                        <a:t>FGF fixes</a:t>
                      </a:r>
                    </a:p>
                    <a:p>
                      <a:pPr algn="l"/>
                      <a:endParaRPr lang="fr-CA" dirty="0"/>
                    </a:p>
                  </a:txBody>
                  <a:tcPr>
                    <a:solidFill>
                      <a:schemeClr val="bg1">
                        <a:lumMod val="95000"/>
                      </a:schemeClr>
                    </a:solidFill>
                  </a:tcPr>
                </a:tc>
                <a:tc>
                  <a:txBody>
                    <a:bodyPr/>
                    <a:lstStyle/>
                    <a:p>
                      <a:endParaRPr lang="fr-CA" sz="1800" u="none" kern="1200" dirty="0">
                        <a:solidFill>
                          <a:schemeClr val="tx1"/>
                        </a:solidFill>
                        <a:latin typeface="+mn-lt"/>
                        <a:ea typeface="+mn-ea"/>
                        <a:cs typeface="+mn-cs"/>
                      </a:endParaRPr>
                    </a:p>
                  </a:txBody>
                  <a:tcPr>
                    <a:solidFill>
                      <a:schemeClr val="bg1">
                        <a:lumMod val="95000"/>
                      </a:schemeClr>
                    </a:solidFill>
                  </a:tcPr>
                </a:tc>
                <a:tc>
                  <a:txBody>
                    <a:bodyPr/>
                    <a:lstStyle/>
                    <a:p>
                      <a:endParaRPr lang="fr-CA" sz="1800" u="none" kern="1200" dirty="0">
                        <a:solidFill>
                          <a:schemeClr val="tx1"/>
                        </a:solidFill>
                        <a:latin typeface="+mn-lt"/>
                        <a:ea typeface="+mn-ea"/>
                        <a:cs typeface="+mn-cs"/>
                      </a:endParaRPr>
                    </a:p>
                  </a:txBody>
                  <a:tcPr>
                    <a:solidFill>
                      <a:schemeClr val="bg1">
                        <a:lumMod val="95000"/>
                      </a:schemeClr>
                    </a:solidFill>
                  </a:tcPr>
                </a:tc>
                <a:tc>
                  <a:txBody>
                    <a:bodyPr/>
                    <a:lstStyle/>
                    <a:p>
                      <a:endParaRPr lang="fr-CA" u="none" dirty="0">
                        <a:solidFill>
                          <a:schemeClr val="tx1"/>
                        </a:solidFill>
                      </a:endParaRPr>
                    </a:p>
                  </a:txBody>
                  <a:tcPr>
                    <a:solidFill>
                      <a:schemeClr val="bg1">
                        <a:lumMod val="95000"/>
                      </a:schemeClr>
                    </a:solidFill>
                  </a:tcPr>
                </a:tc>
                <a:extLst>
                  <a:ext uri="{0D108BD9-81ED-4DB2-BD59-A6C34878D82A}">
                    <a16:rowId xmlns:a16="http://schemas.microsoft.com/office/drawing/2014/main" val="4205565519"/>
                  </a:ext>
                </a:extLst>
              </a:tr>
              <a:tr h="464795">
                <a:tc>
                  <a:txBody>
                    <a:bodyPr/>
                    <a:lstStyle/>
                    <a:p>
                      <a:r>
                        <a:rPr lang="fr-CA" b="1" dirty="0"/>
                        <a:t>Coût total du BK200</a:t>
                      </a:r>
                    </a:p>
                  </a:txBody>
                  <a:tcPr anchor="ctr">
                    <a:noFill/>
                  </a:tcPr>
                </a:tc>
                <a:tc>
                  <a:txBody>
                    <a:bodyPr/>
                    <a:lstStyle/>
                    <a:p>
                      <a:r>
                        <a:rPr lang="fr-CA" b="1" dirty="0"/>
                        <a:t>450 000 $</a:t>
                      </a:r>
                    </a:p>
                  </a:txBody>
                  <a:tcPr anchor="ctr">
                    <a:noFill/>
                  </a:tcPr>
                </a:tc>
                <a:tc>
                  <a:txBody>
                    <a:bodyPr/>
                    <a:lstStyle/>
                    <a:p>
                      <a:r>
                        <a:rPr lang="fr-CA" b="1" dirty="0"/>
                        <a:t>562 500 $</a:t>
                      </a:r>
                    </a:p>
                  </a:txBody>
                  <a:tcPr anchor="ctr">
                    <a:noFill/>
                  </a:tcPr>
                </a:tc>
                <a:tc>
                  <a:txBody>
                    <a:bodyPr/>
                    <a:lstStyle/>
                    <a:p>
                      <a:r>
                        <a:rPr lang="fr-CA" b="1" dirty="0"/>
                        <a:t>(112 500) $</a:t>
                      </a:r>
                      <a:endParaRPr lang="fr-CA" b="1" dirty="0">
                        <a:solidFill>
                          <a:srgbClr val="C00000"/>
                        </a:solidFill>
                      </a:endParaRPr>
                    </a:p>
                  </a:txBody>
                  <a:tcPr anchor="ctr">
                    <a:noFill/>
                  </a:tcPr>
                </a:tc>
                <a:extLst>
                  <a:ext uri="{0D108BD9-81ED-4DB2-BD59-A6C34878D82A}">
                    <a16:rowId xmlns:a16="http://schemas.microsoft.com/office/drawing/2014/main" val="3413345020"/>
                  </a:ext>
                </a:extLst>
              </a:tr>
            </a:tbl>
          </a:graphicData>
        </a:graphic>
      </p:graphicFrame>
      <p:sp>
        <p:nvSpPr>
          <p:cNvPr id="7" name="ZoneTexte 6">
            <a:extLst>
              <a:ext uri="{FF2B5EF4-FFF2-40B4-BE49-F238E27FC236}">
                <a16:creationId xmlns:a16="http://schemas.microsoft.com/office/drawing/2014/main" id="{7EA7BC78-8359-9638-E55C-07B4B72C3411}"/>
              </a:ext>
            </a:extLst>
          </p:cNvPr>
          <p:cNvSpPr txBox="1"/>
          <p:nvPr>
            <p:custDataLst>
              <p:tags r:id="rId3"/>
            </p:custDataLst>
          </p:nvPr>
        </p:nvSpPr>
        <p:spPr>
          <a:xfrm>
            <a:off x="573024" y="1270490"/>
            <a:ext cx="10255787" cy="461665"/>
          </a:xfrm>
          <a:prstGeom prst="rect">
            <a:avLst/>
          </a:prstGeom>
          <a:noFill/>
        </p:spPr>
        <p:txBody>
          <a:bodyPr wrap="square" rtlCol="0">
            <a:spAutoFit/>
          </a:bodyPr>
          <a:lstStyle/>
          <a:p>
            <a:r>
              <a:rPr lang="fr-CA" sz="2400" dirty="0"/>
              <a:t>Si les coûts fixes sont </a:t>
            </a:r>
            <a:r>
              <a:rPr lang="fr-CA" sz="2400" b="1" u="sng" dirty="0"/>
              <a:t>communs</a:t>
            </a:r>
            <a:r>
              <a:rPr lang="fr-CA" sz="2400" dirty="0"/>
              <a:t>, comment réaliser une analyse différentielle ?</a:t>
            </a:r>
          </a:p>
        </p:txBody>
      </p:sp>
      <p:sp>
        <p:nvSpPr>
          <p:cNvPr id="3" name="Espace réservé du pied de page 3">
            <a:extLst>
              <a:ext uri="{FF2B5EF4-FFF2-40B4-BE49-F238E27FC236}">
                <a16:creationId xmlns:a16="http://schemas.microsoft.com/office/drawing/2014/main" id="{4FC0EA1A-D202-1C57-57FB-FF9E5D4F3A1E}"/>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12F8C3CC-3AE1-83FC-7F78-EE497BD26B8D}"/>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15</a:t>
            </a:fld>
            <a:endParaRPr lang="fr-CA">
              <a:solidFill>
                <a:prstClr val="black">
                  <a:tint val="75000"/>
                </a:prstClr>
              </a:solidFill>
            </a:endParaRPr>
          </a:p>
        </p:txBody>
      </p:sp>
    </p:spTree>
    <p:extLst>
      <p:ext uri="{BB962C8B-B14F-4D97-AF65-F5344CB8AC3E}">
        <p14:creationId xmlns:p14="http://schemas.microsoft.com/office/powerpoint/2010/main" val="3377706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65ABC-C344-42C7-B624-82031417585B}"/>
              </a:ext>
            </a:extLst>
          </p:cNvPr>
          <p:cNvSpPr>
            <a:spLocks noGrp="1"/>
          </p:cNvSpPr>
          <p:nvPr>
            <p:ph type="title"/>
            <p:custDataLst>
              <p:tags r:id="rId1"/>
            </p:custDataLst>
          </p:nvPr>
        </p:nvSpPr>
        <p:spPr>
          <a:xfrm>
            <a:off x="838200" y="160589"/>
            <a:ext cx="10712116" cy="1042570"/>
          </a:xfrm>
        </p:spPr>
        <p:txBody>
          <a:bodyPr vert="horz" lIns="91440" tIns="45720" rIns="91440" bIns="45720" rtlCol="0" anchor="ctr">
            <a:noAutofit/>
          </a:bodyPr>
          <a:lstStyle/>
          <a:p>
            <a:r>
              <a:rPr lang="fr-CA" sz="4000" dirty="0"/>
              <a:t>Fabriquer ou acheter (sous-traiter) un produit</a:t>
            </a:r>
            <a:br>
              <a:rPr lang="fr-CA" sz="4000" dirty="0"/>
            </a:br>
            <a:r>
              <a:rPr lang="fr-CA" sz="4000" b="1" dirty="0"/>
              <a:t>Analyse différentielle (situation 2)</a:t>
            </a:r>
            <a:endParaRPr lang="fr-CA" sz="4000" b="1" dirty="0">
              <a:highlight>
                <a:srgbClr val="FFFF00"/>
              </a:highlight>
            </a:endParaRPr>
          </a:p>
        </p:txBody>
      </p:sp>
      <p:graphicFrame>
        <p:nvGraphicFramePr>
          <p:cNvPr id="6" name="Tableau 6">
            <a:extLst>
              <a:ext uri="{FF2B5EF4-FFF2-40B4-BE49-F238E27FC236}">
                <a16:creationId xmlns:a16="http://schemas.microsoft.com/office/drawing/2014/main" id="{D73F9948-D4F1-4BB4-8391-FF8FD33CA06C}"/>
              </a:ext>
            </a:extLst>
          </p:cNvPr>
          <p:cNvGraphicFramePr>
            <a:graphicFrameLocks noGrp="1"/>
          </p:cNvGraphicFramePr>
          <p:nvPr>
            <p:custDataLst>
              <p:tags r:id="rId2"/>
            </p:custDataLst>
          </p:nvPr>
        </p:nvGraphicFramePr>
        <p:xfrm>
          <a:off x="838200" y="1694551"/>
          <a:ext cx="10003169" cy="4383321"/>
        </p:xfrm>
        <a:graphic>
          <a:graphicData uri="http://schemas.openxmlformats.org/drawingml/2006/table">
            <a:tbl>
              <a:tblPr firstRow="1" bandRow="1">
                <a:tableStyleId>{9D7B26C5-4107-4FEC-AEDC-1716B250A1EF}</a:tableStyleId>
              </a:tblPr>
              <a:tblGrid>
                <a:gridCol w="3106610">
                  <a:extLst>
                    <a:ext uri="{9D8B030D-6E8A-4147-A177-3AD203B41FA5}">
                      <a16:colId xmlns:a16="http://schemas.microsoft.com/office/drawing/2014/main" val="3526071591"/>
                    </a:ext>
                  </a:extLst>
                </a:gridCol>
                <a:gridCol w="1839817">
                  <a:extLst>
                    <a:ext uri="{9D8B030D-6E8A-4147-A177-3AD203B41FA5}">
                      <a16:colId xmlns:a16="http://schemas.microsoft.com/office/drawing/2014/main" val="3073064839"/>
                    </a:ext>
                  </a:extLst>
                </a:gridCol>
                <a:gridCol w="1746698">
                  <a:extLst>
                    <a:ext uri="{9D8B030D-6E8A-4147-A177-3AD203B41FA5}">
                      <a16:colId xmlns:a16="http://schemas.microsoft.com/office/drawing/2014/main" val="2611129504"/>
                    </a:ext>
                  </a:extLst>
                </a:gridCol>
                <a:gridCol w="3310044">
                  <a:extLst>
                    <a:ext uri="{9D8B030D-6E8A-4147-A177-3AD203B41FA5}">
                      <a16:colId xmlns:a16="http://schemas.microsoft.com/office/drawing/2014/main" val="3612815205"/>
                    </a:ext>
                  </a:extLst>
                </a:gridCol>
              </a:tblGrid>
              <a:tr h="491156">
                <a:tc>
                  <a:txBody>
                    <a:bodyPr/>
                    <a:lstStyle/>
                    <a:p>
                      <a:endParaRPr lang="fr-CA" u="sng">
                        <a:solidFill>
                          <a:srgbClr val="FF0000"/>
                        </a:solidFill>
                      </a:endParaRPr>
                    </a:p>
                  </a:txBody>
                  <a:tcPr anchor="ctr"/>
                </a:tc>
                <a:tc>
                  <a:txBody>
                    <a:bodyPr/>
                    <a:lstStyle/>
                    <a:p>
                      <a:r>
                        <a:rPr lang="fr-CA" sz="2000" dirty="0"/>
                        <a:t>Alternative A</a:t>
                      </a:r>
                    </a:p>
                    <a:p>
                      <a:r>
                        <a:rPr lang="fr-CA" sz="2000" b="0" dirty="0"/>
                        <a:t>Fabriquer</a:t>
                      </a:r>
                    </a:p>
                  </a:txBody>
                  <a:tcPr anchor="ctr"/>
                </a:tc>
                <a:tc>
                  <a:txBody>
                    <a:bodyPr/>
                    <a:lstStyle/>
                    <a:p>
                      <a:r>
                        <a:rPr lang="fr-CA" sz="2000" b="1"/>
                        <a:t>Alternative B</a:t>
                      </a:r>
                    </a:p>
                    <a:p>
                      <a:r>
                        <a:rPr lang="fr-CA" sz="2000" b="0"/>
                        <a:t>Acheter</a:t>
                      </a:r>
                    </a:p>
                  </a:txBody>
                  <a:tcPr anchor="ctr"/>
                </a:tc>
                <a:tc>
                  <a:txBody>
                    <a:bodyPr/>
                    <a:lstStyle/>
                    <a:p>
                      <a:pPr algn="ctr"/>
                      <a:r>
                        <a:rPr lang="fr-CA"/>
                        <a:t>Analyse Différentielle</a:t>
                      </a:r>
                    </a:p>
                    <a:p>
                      <a:pPr algn="ctr"/>
                      <a:r>
                        <a:rPr lang="fr-CA"/>
                        <a:t>Impact sur le résultat si </a:t>
                      </a:r>
                      <a:r>
                        <a:rPr lang="fr-CA" u="sng"/>
                        <a:t>achat</a:t>
                      </a:r>
                      <a:r>
                        <a:rPr lang="fr-CA"/>
                        <a:t>: </a:t>
                      </a:r>
                    </a:p>
                    <a:p>
                      <a:pPr algn="ctr"/>
                      <a:r>
                        <a:rPr lang="fr-CA"/>
                        <a:t>Augmentation ou (diminution)</a:t>
                      </a:r>
                    </a:p>
                  </a:txBody>
                  <a:tcPr/>
                </a:tc>
                <a:extLst>
                  <a:ext uri="{0D108BD9-81ED-4DB2-BD59-A6C34878D82A}">
                    <a16:rowId xmlns:a16="http://schemas.microsoft.com/office/drawing/2014/main" val="41555103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Matières premières</a:t>
                      </a:r>
                    </a:p>
                  </a:txBody>
                  <a:tcPr>
                    <a:solidFill>
                      <a:schemeClr val="bg1">
                        <a:lumMod val="75000"/>
                        <a:alpha val="20000"/>
                      </a:schemeClr>
                    </a:solidFill>
                  </a:tcPr>
                </a:tc>
                <a:tc>
                  <a:txBody>
                    <a:bodyPr/>
                    <a:lstStyle/>
                    <a:p>
                      <a:r>
                        <a:rPr lang="fr-CA"/>
                        <a:t>125 000 $</a:t>
                      </a:r>
                      <a:endParaRPr lang="fr-CA">
                        <a:solidFill>
                          <a:schemeClr val="tx1"/>
                        </a:solidFill>
                      </a:endParaRPr>
                    </a:p>
                  </a:txBody>
                  <a:tcPr>
                    <a:solidFill>
                      <a:schemeClr val="bg1">
                        <a:lumMod val="75000"/>
                        <a:alpha val="20000"/>
                      </a:schemeClr>
                    </a:solidFill>
                  </a:tcPr>
                </a:tc>
                <a:tc>
                  <a:txBody>
                    <a:bodyPr/>
                    <a:lstStyle/>
                    <a:p>
                      <a:endParaRPr lang="fr-CA" sz="1600"/>
                    </a:p>
                  </a:txBody>
                  <a:tcPr>
                    <a:solidFill>
                      <a:schemeClr val="bg1">
                        <a:lumMod val="75000"/>
                        <a:alpha val="20000"/>
                      </a:schemeClr>
                    </a:solidFill>
                  </a:tcPr>
                </a:tc>
                <a:tc>
                  <a:txBody>
                    <a:bodyPr/>
                    <a:lstStyle/>
                    <a:p>
                      <a:r>
                        <a:rPr lang="fr-CA"/>
                        <a:t>125 000 $</a:t>
                      </a:r>
                      <a:endParaRPr lang="fr-CA">
                        <a:solidFill>
                          <a:schemeClr val="tx1"/>
                        </a:solidFill>
                      </a:endParaRPr>
                    </a:p>
                  </a:txBody>
                  <a:tcPr>
                    <a:solidFill>
                      <a:schemeClr val="bg1">
                        <a:lumMod val="75000"/>
                        <a:alpha val="20000"/>
                      </a:schemeClr>
                    </a:solidFill>
                  </a:tcPr>
                </a:tc>
                <a:extLst>
                  <a:ext uri="{0D108BD9-81ED-4DB2-BD59-A6C34878D82A}">
                    <a16:rowId xmlns:a16="http://schemas.microsoft.com/office/drawing/2014/main" val="1303404451"/>
                  </a:ext>
                </a:extLst>
              </a:tr>
              <a:tr h="370840">
                <a:tc>
                  <a:txBody>
                    <a:bodyPr/>
                    <a:lstStyle/>
                    <a:p>
                      <a:r>
                        <a:rPr lang="fr-CA"/>
                        <a:t>Salaires des employés de production</a:t>
                      </a:r>
                      <a:endParaRPr lang="fr-CA" sz="1600" kern="1200">
                        <a:solidFill>
                          <a:schemeClr val="tx1"/>
                        </a:solidFill>
                        <a:latin typeface="+mn-lt"/>
                        <a:ea typeface="+mn-ea"/>
                        <a:cs typeface="+mn-cs"/>
                      </a:endParaRPr>
                    </a:p>
                  </a:txBody>
                  <a:tcPr/>
                </a:tc>
                <a:tc>
                  <a:txBody>
                    <a:bodyPr/>
                    <a:lstStyle/>
                    <a:p>
                      <a:r>
                        <a:rPr lang="fr-CA"/>
                        <a:t>  62 500 $</a:t>
                      </a:r>
                      <a:endParaRPr lang="fr-CA">
                        <a:solidFill>
                          <a:schemeClr val="tx1"/>
                        </a:solidFill>
                      </a:endParaRPr>
                    </a:p>
                  </a:txBody>
                  <a:tcPr/>
                </a:tc>
                <a:tc>
                  <a:txBody>
                    <a:bodyPr/>
                    <a:lstStyle/>
                    <a:p>
                      <a:endParaRPr lang="fr-CA" sz="1600"/>
                    </a:p>
                  </a:txBody>
                  <a:tcPr/>
                </a:tc>
                <a:tc>
                  <a:txBody>
                    <a:bodyPr/>
                    <a:lstStyle/>
                    <a:p>
                      <a:r>
                        <a:rPr lang="fr-CA"/>
                        <a:t>  62 500 $</a:t>
                      </a:r>
                      <a:endParaRPr lang="fr-CA">
                        <a:solidFill>
                          <a:schemeClr val="tx1"/>
                        </a:solidFill>
                      </a:endParaRPr>
                    </a:p>
                  </a:txBody>
                  <a:tcPr/>
                </a:tc>
                <a:extLst>
                  <a:ext uri="{0D108BD9-81ED-4DB2-BD59-A6C34878D82A}">
                    <a16:rowId xmlns:a16="http://schemas.microsoft.com/office/drawing/2014/main" val="220123461"/>
                  </a:ext>
                </a:extLst>
              </a:tr>
              <a:tr h="377635">
                <a:tc>
                  <a:txBody>
                    <a:bodyPr/>
                    <a:lstStyle/>
                    <a:p>
                      <a:r>
                        <a:rPr lang="fr-CA"/>
                        <a:t>FGF variables</a:t>
                      </a:r>
                    </a:p>
                  </a:txBody>
                  <a:tcPr>
                    <a:solidFill>
                      <a:schemeClr val="bg1">
                        <a:lumMod val="75000"/>
                        <a:alpha val="20000"/>
                      </a:schemeClr>
                    </a:solidFill>
                  </a:tcPr>
                </a:tc>
                <a:tc>
                  <a:txBody>
                    <a:bodyPr/>
                    <a:lstStyle/>
                    <a:p>
                      <a:r>
                        <a:rPr lang="fr-CA" u="none"/>
                        <a:t>  87 500 $</a:t>
                      </a:r>
                    </a:p>
                  </a:txBody>
                  <a:tcPr>
                    <a:solidFill>
                      <a:schemeClr val="bg1">
                        <a:lumMod val="75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600" kern="1200">
                        <a:solidFill>
                          <a:schemeClr val="tx1"/>
                        </a:solidFill>
                        <a:latin typeface="+mn-lt"/>
                        <a:ea typeface="+mn-ea"/>
                        <a:cs typeface="+mn-cs"/>
                      </a:endParaRPr>
                    </a:p>
                  </a:txBody>
                  <a:tcPr>
                    <a:solidFill>
                      <a:schemeClr val="bg1">
                        <a:lumMod val="75000"/>
                        <a:alpha val="20000"/>
                      </a:schemeClr>
                    </a:solidFill>
                  </a:tcPr>
                </a:tc>
                <a:tc>
                  <a:txBody>
                    <a:bodyPr/>
                    <a:lstStyle/>
                    <a:p>
                      <a:r>
                        <a:rPr lang="fr-CA" u="none"/>
                        <a:t>  87 500 $</a:t>
                      </a:r>
                    </a:p>
                  </a:txBody>
                  <a:tcPr>
                    <a:solidFill>
                      <a:schemeClr val="bg1">
                        <a:lumMod val="75000"/>
                        <a:alpha val="20000"/>
                      </a:schemeClr>
                    </a:solidFill>
                  </a:tcPr>
                </a:tc>
                <a:extLst>
                  <a:ext uri="{0D108BD9-81ED-4DB2-BD59-A6C34878D82A}">
                    <a16:rowId xmlns:a16="http://schemas.microsoft.com/office/drawing/2014/main" val="30305407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Achat du fournisseur</a:t>
                      </a:r>
                    </a:p>
                  </a:txBody>
                  <a:tcPr>
                    <a:noFill/>
                  </a:tcPr>
                </a:tc>
                <a:tc>
                  <a:txBody>
                    <a:bodyPr/>
                    <a:lstStyle/>
                    <a:p>
                      <a:endParaRPr lang="fr-CA" sz="1600" u="sng"/>
                    </a:p>
                  </a:txBody>
                  <a:tcPr>
                    <a:noFill/>
                  </a:tcPr>
                </a:tc>
                <a:tc>
                  <a:txBody>
                    <a:bodyPr/>
                    <a:lstStyle/>
                    <a:p>
                      <a:endParaRPr lang="fr-CA" sz="1600" u="sng"/>
                    </a:p>
                  </a:txBody>
                  <a:tcPr>
                    <a:noFill/>
                  </a:tcPr>
                </a:tc>
                <a:tc>
                  <a:txBody>
                    <a:bodyPr/>
                    <a:lstStyle/>
                    <a:p>
                      <a:endParaRPr lang="fr-CA" u="sng">
                        <a:solidFill>
                          <a:schemeClr val="tx1"/>
                        </a:solidFill>
                      </a:endParaRPr>
                    </a:p>
                  </a:txBody>
                  <a:tcPr>
                    <a:noFill/>
                  </a:tcPr>
                </a:tc>
                <a:extLst>
                  <a:ext uri="{0D108BD9-81ED-4DB2-BD59-A6C34878D82A}">
                    <a16:rowId xmlns:a16="http://schemas.microsoft.com/office/drawing/2014/main" val="28018216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b="0"/>
                        <a:t>     (</a:t>
                      </a:r>
                      <a:r>
                        <a:rPr lang="fr-CA" sz="1800" b="1"/>
                        <a:t>7,75 $</a:t>
                      </a:r>
                      <a:r>
                        <a:rPr lang="fr-CA" sz="1800"/>
                        <a:t> x 50 000 unités)</a:t>
                      </a:r>
                      <a:endParaRPr lang="fr-CA" sz="1800" u="sng"/>
                    </a:p>
                  </a:txBody>
                  <a:tcPr>
                    <a:noFill/>
                  </a:tcPr>
                </a:tc>
                <a:tc>
                  <a:txBody>
                    <a:bodyPr/>
                    <a:lstStyle/>
                    <a:p>
                      <a:endParaRPr lang="fr-CA" sz="1600" u="sng"/>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u="none" kern="1200">
                          <a:solidFill>
                            <a:schemeClr val="tx1"/>
                          </a:solidFill>
                          <a:latin typeface="+mn-lt"/>
                          <a:ea typeface="+mn-ea"/>
                          <a:cs typeface="+mn-cs"/>
                        </a:rPr>
                        <a:t>387 500 $</a:t>
                      </a:r>
                    </a:p>
                  </a:txBody>
                  <a:tcPr>
                    <a:noFill/>
                  </a:tcPr>
                </a:tc>
                <a:tc>
                  <a:txBody>
                    <a:bodyPr/>
                    <a:lstStyle/>
                    <a:p>
                      <a:r>
                        <a:rPr lang="fr-CA" u="none"/>
                        <a:t>(387 500) $</a:t>
                      </a:r>
                      <a:endParaRPr lang="fr-CA" u="none">
                        <a:solidFill>
                          <a:schemeClr val="tx1"/>
                        </a:solidFill>
                      </a:endParaRPr>
                    </a:p>
                  </a:txBody>
                  <a:tcPr>
                    <a:noFill/>
                  </a:tcPr>
                </a:tc>
                <a:extLst>
                  <a:ext uri="{0D108BD9-81ED-4DB2-BD59-A6C34878D82A}">
                    <a16:rowId xmlns:a16="http://schemas.microsoft.com/office/drawing/2014/main" val="3563043164"/>
                  </a:ext>
                </a:extLst>
              </a:tr>
              <a:tr h="4242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FGF fixes spécifiques</a:t>
                      </a:r>
                    </a:p>
                    <a:p>
                      <a:pPr algn="l"/>
                      <a:endParaRPr lang="fr-CA" dirty="0"/>
                    </a:p>
                    <a:p>
                      <a:pPr algn="l"/>
                      <a:r>
                        <a:rPr lang="fr-CA" dirty="0"/>
                        <a:t>FGF fixes communs</a:t>
                      </a:r>
                    </a:p>
                  </a:txBody>
                  <a:tcPr>
                    <a:solidFill>
                      <a:schemeClr val="bg1">
                        <a:lumMod val="95000"/>
                      </a:schemeClr>
                    </a:solidFill>
                  </a:tcPr>
                </a:tc>
                <a:tc>
                  <a:txBody>
                    <a:bodyPr/>
                    <a:lstStyle/>
                    <a:p>
                      <a:r>
                        <a:rPr lang="fr-CA" sz="1800" u="none" kern="1200" dirty="0">
                          <a:solidFill>
                            <a:schemeClr val="tx1"/>
                          </a:solidFill>
                          <a:latin typeface="+mn-lt"/>
                          <a:ea typeface="+mn-ea"/>
                          <a:cs typeface="+mn-cs"/>
                        </a:rPr>
                        <a:t>25 000 $</a:t>
                      </a:r>
                    </a:p>
                    <a:p>
                      <a:endParaRPr lang="fr-CA" sz="1800" u="none" kern="1200" dirty="0">
                        <a:solidFill>
                          <a:schemeClr val="tx1"/>
                        </a:solidFill>
                        <a:latin typeface="+mn-lt"/>
                        <a:ea typeface="+mn-ea"/>
                        <a:cs typeface="+mn-cs"/>
                      </a:endParaRPr>
                    </a:p>
                    <a:p>
                      <a:r>
                        <a:rPr lang="fr-CA" sz="1800" u="none" kern="1200" dirty="0">
                          <a:solidFill>
                            <a:schemeClr val="tx1"/>
                          </a:solidFill>
                          <a:latin typeface="+mn-lt"/>
                          <a:ea typeface="+mn-ea"/>
                          <a:cs typeface="+mn-cs"/>
                        </a:rPr>
                        <a:t>150 000 $</a:t>
                      </a:r>
                    </a:p>
                  </a:txBody>
                  <a:tcPr>
                    <a:solidFill>
                      <a:schemeClr val="bg1">
                        <a:lumMod val="95000"/>
                      </a:schemeClr>
                    </a:solidFill>
                  </a:tcPr>
                </a:tc>
                <a:tc>
                  <a:txBody>
                    <a:bodyPr/>
                    <a:lstStyle/>
                    <a:p>
                      <a:r>
                        <a:rPr lang="fr-CA" sz="1800" u="none" kern="1200" dirty="0">
                          <a:solidFill>
                            <a:schemeClr val="tx1"/>
                          </a:solidFill>
                          <a:latin typeface="+mn-lt"/>
                          <a:ea typeface="+mn-ea"/>
                          <a:cs typeface="+mn-cs"/>
                        </a:rPr>
                        <a:t>0 $</a:t>
                      </a:r>
                    </a:p>
                    <a:p>
                      <a:endParaRPr lang="fr-CA" sz="1800" u="none" kern="1200" dirty="0">
                        <a:solidFill>
                          <a:schemeClr val="tx1"/>
                        </a:solidFill>
                        <a:latin typeface="+mn-lt"/>
                        <a:ea typeface="+mn-ea"/>
                        <a:cs typeface="+mn-cs"/>
                      </a:endParaRPr>
                    </a:p>
                    <a:p>
                      <a:r>
                        <a:rPr lang="fr-CA" sz="1800" u="none" kern="1200" dirty="0">
                          <a:solidFill>
                            <a:schemeClr val="tx1"/>
                          </a:solidFill>
                          <a:latin typeface="+mn-lt"/>
                          <a:ea typeface="+mn-ea"/>
                          <a:cs typeface="+mn-cs"/>
                        </a:rPr>
                        <a:t>150 000 $</a:t>
                      </a:r>
                    </a:p>
                  </a:txBody>
                  <a:tcPr>
                    <a:solidFill>
                      <a:schemeClr val="bg1">
                        <a:lumMod val="95000"/>
                      </a:schemeClr>
                    </a:solidFill>
                  </a:tcPr>
                </a:tc>
                <a:tc>
                  <a:txBody>
                    <a:bodyPr/>
                    <a:lstStyle/>
                    <a:p>
                      <a:r>
                        <a:rPr lang="fr-CA" u="none" dirty="0">
                          <a:solidFill>
                            <a:schemeClr val="tx1"/>
                          </a:solidFill>
                        </a:rPr>
                        <a:t>  25 000 $</a:t>
                      </a:r>
                    </a:p>
                    <a:p>
                      <a:r>
                        <a:rPr lang="fr-CA" u="none" dirty="0">
                          <a:solidFill>
                            <a:schemeClr val="tx1"/>
                          </a:solidFill>
                        </a:rPr>
                        <a:t>  </a:t>
                      </a:r>
                    </a:p>
                    <a:p>
                      <a:r>
                        <a:rPr lang="fr-CA" u="none" dirty="0">
                          <a:solidFill>
                            <a:schemeClr val="tx1"/>
                          </a:solidFill>
                        </a:rPr>
                        <a:t>0 $</a:t>
                      </a:r>
                    </a:p>
                  </a:txBody>
                  <a:tcPr>
                    <a:solidFill>
                      <a:schemeClr val="bg1">
                        <a:lumMod val="95000"/>
                      </a:schemeClr>
                    </a:solidFill>
                  </a:tcPr>
                </a:tc>
                <a:extLst>
                  <a:ext uri="{0D108BD9-81ED-4DB2-BD59-A6C34878D82A}">
                    <a16:rowId xmlns:a16="http://schemas.microsoft.com/office/drawing/2014/main" val="97909308"/>
                  </a:ext>
                </a:extLst>
              </a:tr>
              <a:tr h="424286">
                <a:tc>
                  <a:txBody>
                    <a:bodyPr/>
                    <a:lstStyle/>
                    <a:p>
                      <a:r>
                        <a:rPr lang="fr-CA" b="1" dirty="0"/>
                        <a:t>Coût total du BK200</a:t>
                      </a:r>
                    </a:p>
                  </a:txBody>
                  <a:tcPr anchor="ctr">
                    <a:noFill/>
                  </a:tcPr>
                </a:tc>
                <a:tc>
                  <a:txBody>
                    <a:bodyPr/>
                    <a:lstStyle/>
                    <a:p>
                      <a:r>
                        <a:rPr lang="fr-CA" b="1"/>
                        <a:t>450 000 $</a:t>
                      </a:r>
                    </a:p>
                  </a:txBody>
                  <a:tcPr anchor="ctr">
                    <a:noFill/>
                  </a:tcPr>
                </a:tc>
                <a:tc>
                  <a:txBody>
                    <a:bodyPr/>
                    <a:lstStyle/>
                    <a:p>
                      <a:r>
                        <a:rPr lang="fr-CA" b="1"/>
                        <a:t>537 500 $</a:t>
                      </a:r>
                    </a:p>
                  </a:txBody>
                  <a:tcPr anchor="ctr">
                    <a:noFill/>
                  </a:tcPr>
                </a:tc>
                <a:tc>
                  <a:txBody>
                    <a:bodyPr/>
                    <a:lstStyle/>
                    <a:p>
                      <a:r>
                        <a:rPr lang="fr-CA" b="1" dirty="0"/>
                        <a:t>(87 500) $</a:t>
                      </a:r>
                      <a:endParaRPr lang="fr-CA" b="1" dirty="0">
                        <a:solidFill>
                          <a:srgbClr val="C00000"/>
                        </a:solidFill>
                      </a:endParaRPr>
                    </a:p>
                  </a:txBody>
                  <a:tcPr anchor="ctr">
                    <a:noFill/>
                  </a:tcPr>
                </a:tc>
                <a:extLst>
                  <a:ext uri="{0D108BD9-81ED-4DB2-BD59-A6C34878D82A}">
                    <a16:rowId xmlns:a16="http://schemas.microsoft.com/office/drawing/2014/main" val="3413345020"/>
                  </a:ext>
                </a:extLst>
              </a:tr>
            </a:tbl>
          </a:graphicData>
        </a:graphic>
      </p:graphicFrame>
      <p:sp>
        <p:nvSpPr>
          <p:cNvPr id="3" name="Phylactère : pensées 2">
            <a:extLst>
              <a:ext uri="{FF2B5EF4-FFF2-40B4-BE49-F238E27FC236}">
                <a16:creationId xmlns:a16="http://schemas.microsoft.com/office/drawing/2014/main" id="{520C454A-5DE2-82FB-0044-BE4311F768A8}"/>
              </a:ext>
            </a:extLst>
          </p:cNvPr>
          <p:cNvSpPr/>
          <p:nvPr>
            <p:custDataLst>
              <p:tags r:id="rId3"/>
            </p:custDataLst>
          </p:nvPr>
        </p:nvSpPr>
        <p:spPr>
          <a:xfrm>
            <a:off x="9606920" y="3613267"/>
            <a:ext cx="2585080" cy="1939234"/>
          </a:xfrm>
          <a:prstGeom prst="cloudCallout">
            <a:avLst>
              <a:gd name="adj1" fmla="val -87257"/>
              <a:gd name="adj2" fmla="val 19610"/>
            </a:avLst>
          </a:prstGeom>
          <a:solidFill>
            <a:schemeClr val="accent6">
              <a:lumMod val="20000"/>
              <a:lumOff val="80000"/>
            </a:schemeClr>
          </a:solidFill>
        </p:spPr>
        <p:style>
          <a:lnRef idx="1">
            <a:schemeClr val="accent6"/>
          </a:lnRef>
          <a:fillRef idx="2">
            <a:schemeClr val="accent6"/>
          </a:fillRef>
          <a:effectRef idx="1">
            <a:schemeClr val="accent6"/>
          </a:effectRef>
          <a:fontRef idx="minor">
            <a:schemeClr val="dk1"/>
          </a:fontRef>
        </p:style>
        <p:txBody>
          <a:bodyPr rtlCol="0" anchor="ctr"/>
          <a:lstStyle/>
          <a:p>
            <a:pPr lvl="0"/>
            <a:r>
              <a:rPr lang="fr-CA" sz="1600" b="0" i="1" u="none"/>
              <a:t>Amortissement de la machinerie utilisée seulement pour la production du BK200</a:t>
            </a:r>
          </a:p>
        </p:txBody>
      </p:sp>
      <p:sp>
        <p:nvSpPr>
          <p:cNvPr id="4" name="Espace réservé du pied de page 3">
            <a:extLst>
              <a:ext uri="{FF2B5EF4-FFF2-40B4-BE49-F238E27FC236}">
                <a16:creationId xmlns:a16="http://schemas.microsoft.com/office/drawing/2014/main" id="{5D459834-58F1-2656-F0B3-20F38FFB3CE0}"/>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3DC10570-AD69-436B-46B0-F5465BDC939D}"/>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16</a:t>
            </a:fld>
            <a:endParaRPr lang="fr-CA">
              <a:solidFill>
                <a:prstClr val="black">
                  <a:tint val="75000"/>
                </a:prstClr>
              </a:solidFill>
            </a:endParaRPr>
          </a:p>
        </p:txBody>
      </p:sp>
    </p:spTree>
    <p:extLst>
      <p:ext uri="{BB962C8B-B14F-4D97-AF65-F5344CB8AC3E}">
        <p14:creationId xmlns:p14="http://schemas.microsoft.com/office/powerpoint/2010/main" val="2832653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CF82DD-CE65-4D62-A0C8-5B053DA83286}"/>
              </a:ext>
            </a:extLst>
          </p:cNvPr>
          <p:cNvSpPr>
            <a:spLocks noGrp="1"/>
          </p:cNvSpPr>
          <p:nvPr>
            <p:ph type="title"/>
            <p:custDataLst>
              <p:tags r:id="rId1"/>
            </p:custDataLst>
          </p:nvPr>
        </p:nvSpPr>
        <p:spPr/>
        <p:txBody>
          <a:bodyPr vert="horz" lIns="91440" tIns="45720" rIns="91440" bIns="45720" rtlCol="0" anchor="ctr">
            <a:noAutofit/>
          </a:bodyPr>
          <a:lstStyle/>
          <a:p>
            <a:r>
              <a:rPr lang="fr-CA" sz="3600" dirty="0"/>
              <a:t>Fabriquer ou acheter (sous-traiter) un produit</a:t>
            </a:r>
            <a:br>
              <a:rPr lang="fr-CA" sz="3600" dirty="0"/>
            </a:br>
            <a:r>
              <a:rPr lang="fr-CA" sz="3600" dirty="0"/>
              <a:t>Situation 3 avec un </a:t>
            </a:r>
            <a:r>
              <a:rPr lang="fr-CA" sz="3600" b="1" dirty="0"/>
              <a:t>Coût de renonciation</a:t>
            </a:r>
            <a:endParaRPr lang="fr-CA" sz="4000" b="1" dirty="0">
              <a:highlight>
                <a:srgbClr val="FFFF00"/>
              </a:highlight>
              <a:cs typeface="Calibri Light" panose="020F0302020204030204"/>
            </a:endParaRPr>
          </a:p>
        </p:txBody>
      </p:sp>
      <p:sp>
        <p:nvSpPr>
          <p:cNvPr id="3" name="Espace réservé du contenu 2">
            <a:extLst>
              <a:ext uri="{FF2B5EF4-FFF2-40B4-BE49-F238E27FC236}">
                <a16:creationId xmlns:a16="http://schemas.microsoft.com/office/drawing/2014/main" id="{DD8A8FE6-C7ED-46D3-992B-1380607B4F82}"/>
              </a:ext>
            </a:extLst>
          </p:cNvPr>
          <p:cNvSpPr>
            <a:spLocks noGrp="1"/>
          </p:cNvSpPr>
          <p:nvPr>
            <p:ph idx="1"/>
            <p:custDataLst>
              <p:tags r:id="rId2"/>
            </p:custDataLst>
          </p:nvPr>
        </p:nvSpPr>
        <p:spPr>
          <a:xfrm>
            <a:off x="795435" y="1612901"/>
            <a:ext cx="10601130" cy="3242012"/>
          </a:xfrm>
        </p:spPr>
        <p:txBody>
          <a:bodyPr vert="horz" lIns="91440" tIns="45720" rIns="91440" bIns="45720" rtlCol="0" anchor="t">
            <a:normAutofit/>
          </a:bodyPr>
          <a:lstStyle/>
          <a:p>
            <a:pPr marL="0" indent="0">
              <a:buNone/>
            </a:pPr>
            <a:r>
              <a:rPr lang="fr-CA" sz="2400"/>
              <a:t>S'il existe une autre opportunité d'utiliser la capacité de production dégagée par le fait que nous avons sous-traité une partie de la production, alors il faut considérer un coût de renonciation dans notre prise de décision. </a:t>
            </a:r>
          </a:p>
          <a:p>
            <a:pPr marL="0" indent="0">
              <a:buNone/>
            </a:pPr>
            <a:r>
              <a:rPr lang="fr-CA" sz="2400">
                <a:ea typeface="+mn-lt"/>
                <a:cs typeface="+mn-lt"/>
              </a:rPr>
              <a:t>Dans le cas où ABC achète le BK200 du fournisseur, l'entreprise pourrait utiliser la capacité de production libérée pour générer un résultat additionnel de 100 000 $ en produisant 50 000 unités du L900, un autre produit qu’elle fabrique déjà.</a:t>
            </a:r>
          </a:p>
          <a:p>
            <a:pPr marL="0" indent="0">
              <a:buNone/>
            </a:pPr>
            <a:r>
              <a:rPr lang="fr-CA" sz="2400" i="1">
                <a:ea typeface="+mn-lt"/>
                <a:cs typeface="+mn-lt"/>
              </a:rPr>
              <a:t>Rappel : un </a:t>
            </a:r>
            <a:r>
              <a:rPr lang="fr-CA" sz="2400" b="1" i="1">
                <a:ea typeface="+mn-lt"/>
                <a:cs typeface="+mn-lt"/>
              </a:rPr>
              <a:t>coût de renonciation </a:t>
            </a:r>
            <a:r>
              <a:rPr lang="fr-CA" sz="2400" i="1">
                <a:ea typeface="+mn-lt"/>
                <a:cs typeface="+mn-lt"/>
              </a:rPr>
              <a:t>est un manque à gagner causé par la renonciation à une option considérée comme la meilleure après celle qui a été choisie.</a:t>
            </a:r>
            <a:endParaRPr lang="fr-CA" sz="2400"/>
          </a:p>
          <a:p>
            <a:pPr marL="0" indent="0">
              <a:buNone/>
            </a:pPr>
            <a:endParaRPr lang="fr-CA" sz="2000" i="1"/>
          </a:p>
        </p:txBody>
      </p:sp>
      <p:sp>
        <p:nvSpPr>
          <p:cNvPr id="4" name="Espace réservé du pied de page 3">
            <a:extLst>
              <a:ext uri="{FF2B5EF4-FFF2-40B4-BE49-F238E27FC236}">
                <a16:creationId xmlns:a16="http://schemas.microsoft.com/office/drawing/2014/main" id="{28CB4094-4FCF-B492-22D3-856DA4D6F165}"/>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DDDD16A2-D87C-CB0C-8983-222C83AFD758}"/>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17</a:t>
            </a:fld>
            <a:endParaRPr lang="fr-CA">
              <a:solidFill>
                <a:prstClr val="black">
                  <a:tint val="75000"/>
                </a:prstClr>
              </a:solidFill>
            </a:endParaRPr>
          </a:p>
        </p:txBody>
      </p:sp>
    </p:spTree>
    <p:extLst>
      <p:ext uri="{BB962C8B-B14F-4D97-AF65-F5344CB8AC3E}">
        <p14:creationId xmlns:p14="http://schemas.microsoft.com/office/powerpoint/2010/main" val="485183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65ABC-C344-42C7-B624-82031417585B}"/>
              </a:ext>
            </a:extLst>
          </p:cNvPr>
          <p:cNvSpPr>
            <a:spLocks noGrp="1"/>
          </p:cNvSpPr>
          <p:nvPr>
            <p:ph type="title"/>
            <p:custDataLst>
              <p:tags r:id="rId1"/>
            </p:custDataLst>
          </p:nvPr>
        </p:nvSpPr>
        <p:spPr>
          <a:xfrm>
            <a:off x="838200" y="160589"/>
            <a:ext cx="10712116" cy="1042570"/>
          </a:xfrm>
        </p:spPr>
        <p:txBody>
          <a:bodyPr vert="horz" lIns="91440" tIns="45720" rIns="91440" bIns="45720" rtlCol="0" anchor="ctr">
            <a:noAutofit/>
          </a:bodyPr>
          <a:lstStyle/>
          <a:p>
            <a:r>
              <a:rPr lang="fr-CA" sz="4000" dirty="0"/>
              <a:t>Fabriquer ou acheter (sous-traiter) un produit</a:t>
            </a:r>
            <a:br>
              <a:rPr lang="fr-CA" sz="4000" dirty="0"/>
            </a:br>
            <a:r>
              <a:rPr lang="fr-CA" sz="4000" b="1" dirty="0"/>
              <a:t>Analyse différentielle (situation 3)</a:t>
            </a:r>
            <a:endParaRPr lang="fr-CA" sz="3000" b="1" dirty="0">
              <a:highlight>
                <a:srgbClr val="FFFF00"/>
              </a:highlight>
            </a:endParaRPr>
          </a:p>
        </p:txBody>
      </p:sp>
      <p:graphicFrame>
        <p:nvGraphicFramePr>
          <p:cNvPr id="6" name="Tableau 6">
            <a:extLst>
              <a:ext uri="{FF2B5EF4-FFF2-40B4-BE49-F238E27FC236}">
                <a16:creationId xmlns:a16="http://schemas.microsoft.com/office/drawing/2014/main" id="{D73F9948-D4F1-4BB4-8391-FF8FD33CA06C}"/>
              </a:ext>
            </a:extLst>
          </p:cNvPr>
          <p:cNvGraphicFramePr>
            <a:graphicFrameLocks noGrp="1"/>
          </p:cNvGraphicFramePr>
          <p:nvPr>
            <p:custDataLst>
              <p:tags r:id="rId2"/>
            </p:custDataLst>
          </p:nvPr>
        </p:nvGraphicFramePr>
        <p:xfrm>
          <a:off x="838200" y="1880581"/>
          <a:ext cx="10003169" cy="4533287"/>
        </p:xfrm>
        <a:graphic>
          <a:graphicData uri="http://schemas.openxmlformats.org/drawingml/2006/table">
            <a:tbl>
              <a:tblPr firstRow="1" bandRow="1">
                <a:tableStyleId>{9D7B26C5-4107-4FEC-AEDC-1716B250A1EF}</a:tableStyleId>
              </a:tblPr>
              <a:tblGrid>
                <a:gridCol w="3106610">
                  <a:extLst>
                    <a:ext uri="{9D8B030D-6E8A-4147-A177-3AD203B41FA5}">
                      <a16:colId xmlns:a16="http://schemas.microsoft.com/office/drawing/2014/main" val="3526071591"/>
                    </a:ext>
                  </a:extLst>
                </a:gridCol>
                <a:gridCol w="1839817">
                  <a:extLst>
                    <a:ext uri="{9D8B030D-6E8A-4147-A177-3AD203B41FA5}">
                      <a16:colId xmlns:a16="http://schemas.microsoft.com/office/drawing/2014/main" val="3073064839"/>
                    </a:ext>
                  </a:extLst>
                </a:gridCol>
                <a:gridCol w="1746698">
                  <a:extLst>
                    <a:ext uri="{9D8B030D-6E8A-4147-A177-3AD203B41FA5}">
                      <a16:colId xmlns:a16="http://schemas.microsoft.com/office/drawing/2014/main" val="2611129504"/>
                    </a:ext>
                  </a:extLst>
                </a:gridCol>
                <a:gridCol w="3310044">
                  <a:extLst>
                    <a:ext uri="{9D8B030D-6E8A-4147-A177-3AD203B41FA5}">
                      <a16:colId xmlns:a16="http://schemas.microsoft.com/office/drawing/2014/main" val="3612815205"/>
                    </a:ext>
                  </a:extLst>
                </a:gridCol>
              </a:tblGrid>
              <a:tr h="491156">
                <a:tc>
                  <a:txBody>
                    <a:bodyPr/>
                    <a:lstStyle/>
                    <a:p>
                      <a:endParaRPr lang="fr-CA" u="sng" dirty="0">
                        <a:solidFill>
                          <a:srgbClr val="FF0000"/>
                        </a:solidFill>
                      </a:endParaRPr>
                    </a:p>
                  </a:txBody>
                  <a:tcPr anchor="ctr"/>
                </a:tc>
                <a:tc>
                  <a:txBody>
                    <a:bodyPr/>
                    <a:lstStyle/>
                    <a:p>
                      <a:r>
                        <a:rPr lang="fr-CA" sz="2000"/>
                        <a:t>Alternative A</a:t>
                      </a:r>
                    </a:p>
                    <a:p>
                      <a:r>
                        <a:rPr lang="fr-CA" sz="2000" b="0"/>
                        <a:t>Fabriquer</a:t>
                      </a:r>
                    </a:p>
                  </a:txBody>
                  <a:tcPr anchor="ctr"/>
                </a:tc>
                <a:tc>
                  <a:txBody>
                    <a:bodyPr/>
                    <a:lstStyle/>
                    <a:p>
                      <a:r>
                        <a:rPr lang="fr-CA" sz="2000" b="1"/>
                        <a:t>Alternative B</a:t>
                      </a:r>
                    </a:p>
                    <a:p>
                      <a:r>
                        <a:rPr lang="fr-CA" sz="2000" b="0"/>
                        <a:t>Acheter</a:t>
                      </a:r>
                    </a:p>
                  </a:txBody>
                  <a:tcPr anchor="ctr"/>
                </a:tc>
                <a:tc>
                  <a:txBody>
                    <a:bodyPr/>
                    <a:lstStyle/>
                    <a:p>
                      <a:pPr algn="ctr"/>
                      <a:r>
                        <a:rPr lang="fr-CA"/>
                        <a:t>Analyse Différentielle</a:t>
                      </a:r>
                    </a:p>
                    <a:p>
                      <a:pPr algn="ctr"/>
                      <a:r>
                        <a:rPr lang="fr-CA"/>
                        <a:t>Impact sur le résultat si </a:t>
                      </a:r>
                      <a:r>
                        <a:rPr lang="fr-CA" u="sng"/>
                        <a:t>achat</a:t>
                      </a:r>
                      <a:r>
                        <a:rPr lang="fr-CA"/>
                        <a:t>: </a:t>
                      </a:r>
                    </a:p>
                    <a:p>
                      <a:pPr algn="ctr"/>
                      <a:r>
                        <a:rPr lang="fr-CA"/>
                        <a:t>Augmentation ou (diminution)</a:t>
                      </a:r>
                    </a:p>
                  </a:txBody>
                  <a:tcPr/>
                </a:tc>
                <a:extLst>
                  <a:ext uri="{0D108BD9-81ED-4DB2-BD59-A6C34878D82A}">
                    <a16:rowId xmlns:a16="http://schemas.microsoft.com/office/drawing/2014/main" val="41555103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Matières premières</a:t>
                      </a:r>
                    </a:p>
                  </a:txBody>
                  <a:tcPr>
                    <a:solidFill>
                      <a:schemeClr val="bg1">
                        <a:lumMod val="75000"/>
                        <a:alpha val="20000"/>
                      </a:schemeClr>
                    </a:solidFill>
                  </a:tcPr>
                </a:tc>
                <a:tc>
                  <a:txBody>
                    <a:bodyPr/>
                    <a:lstStyle/>
                    <a:p>
                      <a:r>
                        <a:rPr lang="fr-CA"/>
                        <a:t>125 000 $</a:t>
                      </a:r>
                      <a:endParaRPr lang="fr-CA">
                        <a:solidFill>
                          <a:schemeClr val="tx1"/>
                        </a:solidFill>
                      </a:endParaRPr>
                    </a:p>
                  </a:txBody>
                  <a:tcPr>
                    <a:solidFill>
                      <a:schemeClr val="bg1">
                        <a:lumMod val="75000"/>
                        <a:alpha val="20000"/>
                      </a:schemeClr>
                    </a:solidFill>
                  </a:tcPr>
                </a:tc>
                <a:tc>
                  <a:txBody>
                    <a:bodyPr/>
                    <a:lstStyle/>
                    <a:p>
                      <a:endParaRPr lang="fr-CA" sz="1600"/>
                    </a:p>
                  </a:txBody>
                  <a:tcPr>
                    <a:solidFill>
                      <a:schemeClr val="bg1">
                        <a:lumMod val="75000"/>
                        <a:alpha val="20000"/>
                      </a:schemeClr>
                    </a:solidFill>
                  </a:tcPr>
                </a:tc>
                <a:tc>
                  <a:txBody>
                    <a:bodyPr/>
                    <a:lstStyle/>
                    <a:p>
                      <a:r>
                        <a:rPr lang="fr-CA"/>
                        <a:t>125 000 $</a:t>
                      </a:r>
                      <a:endParaRPr lang="fr-CA">
                        <a:solidFill>
                          <a:schemeClr val="tx1"/>
                        </a:solidFill>
                      </a:endParaRPr>
                    </a:p>
                  </a:txBody>
                  <a:tcPr>
                    <a:solidFill>
                      <a:schemeClr val="bg1">
                        <a:lumMod val="75000"/>
                        <a:alpha val="20000"/>
                      </a:schemeClr>
                    </a:solidFill>
                  </a:tcPr>
                </a:tc>
                <a:extLst>
                  <a:ext uri="{0D108BD9-81ED-4DB2-BD59-A6C34878D82A}">
                    <a16:rowId xmlns:a16="http://schemas.microsoft.com/office/drawing/2014/main" val="1303404451"/>
                  </a:ext>
                </a:extLst>
              </a:tr>
              <a:tr h="370840">
                <a:tc>
                  <a:txBody>
                    <a:bodyPr/>
                    <a:lstStyle/>
                    <a:p>
                      <a:r>
                        <a:rPr lang="fr-CA"/>
                        <a:t>Salaires des employés de production</a:t>
                      </a:r>
                      <a:endParaRPr lang="fr-CA" sz="1600" kern="1200">
                        <a:solidFill>
                          <a:schemeClr val="tx1"/>
                        </a:solidFill>
                        <a:latin typeface="+mn-lt"/>
                        <a:ea typeface="+mn-ea"/>
                        <a:cs typeface="+mn-cs"/>
                      </a:endParaRPr>
                    </a:p>
                  </a:txBody>
                  <a:tcPr/>
                </a:tc>
                <a:tc>
                  <a:txBody>
                    <a:bodyPr/>
                    <a:lstStyle/>
                    <a:p>
                      <a:r>
                        <a:rPr lang="fr-CA"/>
                        <a:t>  62 500 $</a:t>
                      </a:r>
                      <a:endParaRPr lang="fr-CA">
                        <a:solidFill>
                          <a:schemeClr val="tx1"/>
                        </a:solidFill>
                      </a:endParaRPr>
                    </a:p>
                  </a:txBody>
                  <a:tcPr/>
                </a:tc>
                <a:tc>
                  <a:txBody>
                    <a:bodyPr/>
                    <a:lstStyle/>
                    <a:p>
                      <a:endParaRPr lang="fr-CA" sz="1600"/>
                    </a:p>
                  </a:txBody>
                  <a:tcPr/>
                </a:tc>
                <a:tc>
                  <a:txBody>
                    <a:bodyPr/>
                    <a:lstStyle/>
                    <a:p>
                      <a:r>
                        <a:rPr lang="fr-CA"/>
                        <a:t>  62 500 $</a:t>
                      </a:r>
                      <a:endParaRPr lang="fr-CA">
                        <a:solidFill>
                          <a:schemeClr val="tx1"/>
                        </a:solidFill>
                      </a:endParaRPr>
                    </a:p>
                  </a:txBody>
                  <a:tcPr/>
                </a:tc>
                <a:extLst>
                  <a:ext uri="{0D108BD9-81ED-4DB2-BD59-A6C34878D82A}">
                    <a16:rowId xmlns:a16="http://schemas.microsoft.com/office/drawing/2014/main" val="220123461"/>
                  </a:ext>
                </a:extLst>
              </a:tr>
              <a:tr h="377635">
                <a:tc>
                  <a:txBody>
                    <a:bodyPr/>
                    <a:lstStyle/>
                    <a:p>
                      <a:r>
                        <a:rPr lang="fr-CA"/>
                        <a:t>FGF variables</a:t>
                      </a:r>
                    </a:p>
                  </a:txBody>
                  <a:tcPr>
                    <a:solidFill>
                      <a:schemeClr val="bg1">
                        <a:lumMod val="75000"/>
                        <a:alpha val="20000"/>
                      </a:schemeClr>
                    </a:solidFill>
                  </a:tcPr>
                </a:tc>
                <a:tc>
                  <a:txBody>
                    <a:bodyPr/>
                    <a:lstStyle/>
                    <a:p>
                      <a:r>
                        <a:rPr lang="fr-CA" u="none"/>
                        <a:t>  87 500 $</a:t>
                      </a:r>
                    </a:p>
                  </a:txBody>
                  <a:tcPr>
                    <a:solidFill>
                      <a:schemeClr val="bg1">
                        <a:lumMod val="75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600" kern="1200">
                        <a:solidFill>
                          <a:schemeClr val="tx1"/>
                        </a:solidFill>
                        <a:latin typeface="+mn-lt"/>
                        <a:ea typeface="+mn-ea"/>
                        <a:cs typeface="+mn-cs"/>
                      </a:endParaRPr>
                    </a:p>
                  </a:txBody>
                  <a:tcPr>
                    <a:solidFill>
                      <a:schemeClr val="bg1">
                        <a:lumMod val="75000"/>
                        <a:alpha val="20000"/>
                      </a:schemeClr>
                    </a:solidFill>
                  </a:tcPr>
                </a:tc>
                <a:tc>
                  <a:txBody>
                    <a:bodyPr/>
                    <a:lstStyle/>
                    <a:p>
                      <a:r>
                        <a:rPr lang="fr-CA" u="none"/>
                        <a:t>  87 500 $</a:t>
                      </a:r>
                    </a:p>
                  </a:txBody>
                  <a:tcPr>
                    <a:solidFill>
                      <a:schemeClr val="bg1">
                        <a:lumMod val="75000"/>
                        <a:alpha val="20000"/>
                      </a:schemeClr>
                    </a:solidFill>
                  </a:tcPr>
                </a:tc>
                <a:extLst>
                  <a:ext uri="{0D108BD9-81ED-4DB2-BD59-A6C34878D82A}">
                    <a16:rowId xmlns:a16="http://schemas.microsoft.com/office/drawing/2014/main" val="30305407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Achat du fournisseur</a:t>
                      </a:r>
                    </a:p>
                  </a:txBody>
                  <a:tcPr>
                    <a:noFill/>
                  </a:tcPr>
                </a:tc>
                <a:tc>
                  <a:txBody>
                    <a:bodyPr/>
                    <a:lstStyle/>
                    <a:p>
                      <a:endParaRPr lang="fr-CA" sz="1600" u="sng"/>
                    </a:p>
                  </a:txBody>
                  <a:tcPr>
                    <a:noFill/>
                  </a:tcPr>
                </a:tc>
                <a:tc>
                  <a:txBody>
                    <a:bodyPr/>
                    <a:lstStyle/>
                    <a:p>
                      <a:endParaRPr lang="fr-CA" sz="1600" u="sng"/>
                    </a:p>
                  </a:txBody>
                  <a:tcPr>
                    <a:noFill/>
                  </a:tcPr>
                </a:tc>
                <a:tc>
                  <a:txBody>
                    <a:bodyPr/>
                    <a:lstStyle/>
                    <a:p>
                      <a:endParaRPr lang="fr-CA" u="sng">
                        <a:solidFill>
                          <a:schemeClr val="tx1"/>
                        </a:solidFill>
                      </a:endParaRPr>
                    </a:p>
                  </a:txBody>
                  <a:tcPr>
                    <a:noFill/>
                  </a:tcPr>
                </a:tc>
                <a:extLst>
                  <a:ext uri="{0D108BD9-81ED-4DB2-BD59-A6C34878D82A}">
                    <a16:rowId xmlns:a16="http://schemas.microsoft.com/office/drawing/2014/main" val="28018216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b="0"/>
                        <a:t>     (</a:t>
                      </a:r>
                      <a:r>
                        <a:rPr lang="fr-CA" sz="1800" b="1"/>
                        <a:t>7,75 $</a:t>
                      </a:r>
                      <a:r>
                        <a:rPr lang="fr-CA" sz="1800"/>
                        <a:t> x 50 000 unités)</a:t>
                      </a:r>
                      <a:endParaRPr lang="fr-CA" sz="1800" u="sng"/>
                    </a:p>
                  </a:txBody>
                  <a:tcPr>
                    <a:noFill/>
                  </a:tcPr>
                </a:tc>
                <a:tc>
                  <a:txBody>
                    <a:bodyPr/>
                    <a:lstStyle/>
                    <a:p>
                      <a:endParaRPr lang="fr-CA" sz="1600" u="sng"/>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u="none" kern="1200">
                          <a:solidFill>
                            <a:schemeClr val="tx1"/>
                          </a:solidFill>
                          <a:latin typeface="+mn-lt"/>
                          <a:ea typeface="+mn-ea"/>
                          <a:cs typeface="+mn-cs"/>
                        </a:rPr>
                        <a:t>387 500 $</a:t>
                      </a:r>
                    </a:p>
                  </a:txBody>
                  <a:tcPr>
                    <a:noFill/>
                  </a:tcPr>
                </a:tc>
                <a:tc>
                  <a:txBody>
                    <a:bodyPr/>
                    <a:lstStyle/>
                    <a:p>
                      <a:r>
                        <a:rPr lang="fr-CA" u="none" dirty="0"/>
                        <a:t>(387 500) $</a:t>
                      </a:r>
                      <a:endParaRPr lang="fr-CA" u="none" dirty="0">
                        <a:solidFill>
                          <a:schemeClr val="tx1"/>
                        </a:solidFill>
                      </a:endParaRPr>
                    </a:p>
                  </a:txBody>
                  <a:tcPr>
                    <a:noFill/>
                  </a:tcPr>
                </a:tc>
                <a:extLst>
                  <a:ext uri="{0D108BD9-81ED-4DB2-BD59-A6C34878D82A}">
                    <a16:rowId xmlns:a16="http://schemas.microsoft.com/office/drawing/2014/main" val="3563043164"/>
                  </a:ext>
                </a:extLst>
              </a:tr>
              <a:tr h="424286">
                <a:tc>
                  <a:txBody>
                    <a:bodyPr/>
                    <a:lstStyle/>
                    <a:p>
                      <a:pPr algn="l"/>
                      <a:r>
                        <a:rPr lang="fr-CA" dirty="0"/>
                        <a:t>FGF fixes spécifiques</a:t>
                      </a:r>
                    </a:p>
                    <a:p>
                      <a:pPr algn="l"/>
                      <a:r>
                        <a:rPr lang="fr-CA" dirty="0"/>
                        <a:t>FGF fixes communs </a:t>
                      </a:r>
                    </a:p>
                  </a:txBody>
                  <a:tcPr>
                    <a:solidFill>
                      <a:schemeClr val="bg1">
                        <a:lumMod val="95000"/>
                      </a:schemeClr>
                    </a:solidFill>
                  </a:tcPr>
                </a:tc>
                <a:tc>
                  <a:txBody>
                    <a:bodyPr/>
                    <a:lstStyle/>
                    <a:p>
                      <a:r>
                        <a:rPr lang="fr-CA" sz="1800" u="none" kern="1200" dirty="0">
                          <a:solidFill>
                            <a:schemeClr val="tx1"/>
                          </a:solidFill>
                          <a:latin typeface="+mn-lt"/>
                          <a:ea typeface="+mn-ea"/>
                          <a:cs typeface="+mn-cs"/>
                        </a:rPr>
                        <a:t>25 000 $</a:t>
                      </a:r>
                    </a:p>
                    <a:p>
                      <a:r>
                        <a:rPr lang="fr-CA" sz="1800" u="none" kern="1200" dirty="0">
                          <a:solidFill>
                            <a:schemeClr val="tx1"/>
                          </a:solidFill>
                          <a:latin typeface="+mn-lt"/>
                          <a:ea typeface="+mn-ea"/>
                          <a:cs typeface="+mn-cs"/>
                        </a:rPr>
                        <a:t>150 000 $</a:t>
                      </a:r>
                    </a:p>
                  </a:txBody>
                  <a:tcPr>
                    <a:solidFill>
                      <a:schemeClr val="bg1">
                        <a:lumMod val="95000"/>
                      </a:schemeClr>
                    </a:solidFill>
                  </a:tcPr>
                </a:tc>
                <a:tc>
                  <a:txBody>
                    <a:bodyPr/>
                    <a:lstStyle/>
                    <a:p>
                      <a:r>
                        <a:rPr lang="fr-CA" sz="1800" u="none" kern="1200" dirty="0">
                          <a:solidFill>
                            <a:schemeClr val="tx1"/>
                          </a:solidFill>
                          <a:latin typeface="+mn-lt"/>
                          <a:ea typeface="+mn-ea"/>
                          <a:cs typeface="+mn-cs"/>
                        </a:rPr>
                        <a:t>0 $</a:t>
                      </a:r>
                    </a:p>
                    <a:p>
                      <a:r>
                        <a:rPr lang="fr-CA" sz="1800" u="none" kern="1200" dirty="0">
                          <a:solidFill>
                            <a:schemeClr val="tx1"/>
                          </a:solidFill>
                          <a:latin typeface="+mn-lt"/>
                          <a:ea typeface="+mn-ea"/>
                          <a:cs typeface="+mn-cs"/>
                        </a:rPr>
                        <a:t>150 000 $</a:t>
                      </a:r>
                    </a:p>
                  </a:txBody>
                  <a:tcPr>
                    <a:solidFill>
                      <a:schemeClr val="bg1">
                        <a:lumMod val="95000"/>
                      </a:schemeClr>
                    </a:solidFill>
                  </a:tcPr>
                </a:tc>
                <a:tc>
                  <a:txBody>
                    <a:bodyPr/>
                    <a:lstStyle/>
                    <a:p>
                      <a:r>
                        <a:rPr lang="fr-CA" u="none" dirty="0">
                          <a:solidFill>
                            <a:schemeClr val="tx1"/>
                          </a:solidFill>
                        </a:rPr>
                        <a:t>  25 000 $</a:t>
                      </a:r>
                    </a:p>
                    <a:p>
                      <a:r>
                        <a:rPr lang="fr-CA" u="none" dirty="0">
                          <a:solidFill>
                            <a:schemeClr val="tx1"/>
                          </a:solidFill>
                        </a:rPr>
                        <a:t>  0 $</a:t>
                      </a:r>
                    </a:p>
                  </a:txBody>
                  <a:tcPr>
                    <a:solidFill>
                      <a:schemeClr val="bg1">
                        <a:lumMod val="95000"/>
                      </a:schemeClr>
                    </a:solidFill>
                  </a:tcPr>
                </a:tc>
                <a:extLst>
                  <a:ext uri="{0D108BD9-81ED-4DB2-BD59-A6C34878D82A}">
                    <a16:rowId xmlns:a16="http://schemas.microsoft.com/office/drawing/2014/main" val="97909308"/>
                  </a:ext>
                </a:extLst>
              </a:tr>
              <a:tr h="424286">
                <a:tc>
                  <a:txBody>
                    <a:bodyPr/>
                    <a:lstStyle/>
                    <a:p>
                      <a:r>
                        <a:rPr lang="fr-CA" b="1"/>
                        <a:t>Coût de renonciation </a:t>
                      </a:r>
                    </a:p>
                  </a:txBody>
                  <a:tcPr anchor="ctr">
                    <a:noFill/>
                  </a:tcPr>
                </a:tc>
                <a:tc>
                  <a:txBody>
                    <a:bodyPr/>
                    <a:lstStyle/>
                    <a:p>
                      <a:r>
                        <a:rPr lang="fr-CA" b="1">
                          <a:solidFill>
                            <a:srgbClr val="C00000"/>
                          </a:solidFill>
                        </a:rPr>
                        <a:t>100 000 $</a:t>
                      </a:r>
                    </a:p>
                  </a:txBody>
                  <a:tcPr anchor="ctr">
                    <a:noFill/>
                  </a:tcPr>
                </a:tc>
                <a:tc>
                  <a:txBody>
                    <a:bodyPr/>
                    <a:lstStyle/>
                    <a:p>
                      <a:r>
                        <a:rPr lang="fr-CA" b="1"/>
                        <a:t>-</a:t>
                      </a:r>
                    </a:p>
                  </a:txBody>
                  <a:tcPr anchor="ctr">
                    <a:noFill/>
                  </a:tcPr>
                </a:tc>
                <a:tc>
                  <a:txBody>
                    <a:bodyPr/>
                    <a:lstStyle/>
                    <a:p>
                      <a:r>
                        <a:rPr lang="fr-CA" b="0">
                          <a:solidFill>
                            <a:schemeClr val="tx1"/>
                          </a:solidFill>
                        </a:rPr>
                        <a:t> 100 000 $</a:t>
                      </a:r>
                    </a:p>
                  </a:txBody>
                  <a:tcPr anchor="ctr">
                    <a:noFill/>
                  </a:tcPr>
                </a:tc>
                <a:extLst>
                  <a:ext uri="{0D108BD9-81ED-4DB2-BD59-A6C34878D82A}">
                    <a16:rowId xmlns:a16="http://schemas.microsoft.com/office/drawing/2014/main" val="1085066553"/>
                  </a:ext>
                </a:extLst>
              </a:tr>
              <a:tr h="424286">
                <a:tc>
                  <a:txBody>
                    <a:bodyPr/>
                    <a:lstStyle/>
                    <a:p>
                      <a:r>
                        <a:rPr lang="fr-CA" b="1"/>
                        <a:t>Coût total du BK200</a:t>
                      </a:r>
                    </a:p>
                  </a:txBody>
                  <a:tcPr anchor="ctr">
                    <a:noFill/>
                  </a:tcPr>
                </a:tc>
                <a:tc>
                  <a:txBody>
                    <a:bodyPr/>
                    <a:lstStyle/>
                    <a:p>
                      <a:r>
                        <a:rPr lang="fr-CA" b="1"/>
                        <a:t>550 000 $</a:t>
                      </a:r>
                    </a:p>
                  </a:txBody>
                  <a:tcPr anchor="ctr">
                    <a:noFill/>
                  </a:tcPr>
                </a:tc>
                <a:tc>
                  <a:txBody>
                    <a:bodyPr/>
                    <a:lstStyle/>
                    <a:p>
                      <a:r>
                        <a:rPr lang="fr-CA" b="1"/>
                        <a:t>537 500 $</a:t>
                      </a:r>
                    </a:p>
                  </a:txBody>
                  <a:tcPr anchor="ctr">
                    <a:noFill/>
                  </a:tcPr>
                </a:tc>
                <a:tc>
                  <a:txBody>
                    <a:bodyPr/>
                    <a:lstStyle/>
                    <a:p>
                      <a:r>
                        <a:rPr lang="fr-CA" b="1" dirty="0"/>
                        <a:t>12 500 $</a:t>
                      </a:r>
                      <a:endParaRPr lang="fr-CA" b="1" dirty="0">
                        <a:solidFill>
                          <a:srgbClr val="C00000"/>
                        </a:solidFill>
                      </a:endParaRPr>
                    </a:p>
                  </a:txBody>
                  <a:tcPr anchor="ctr">
                    <a:noFill/>
                  </a:tcPr>
                </a:tc>
                <a:extLst>
                  <a:ext uri="{0D108BD9-81ED-4DB2-BD59-A6C34878D82A}">
                    <a16:rowId xmlns:a16="http://schemas.microsoft.com/office/drawing/2014/main" val="3413345020"/>
                  </a:ext>
                </a:extLst>
              </a:tr>
            </a:tbl>
          </a:graphicData>
        </a:graphic>
      </p:graphicFrame>
      <p:sp>
        <p:nvSpPr>
          <p:cNvPr id="7" name="ZoneTexte 6">
            <a:extLst>
              <a:ext uri="{FF2B5EF4-FFF2-40B4-BE49-F238E27FC236}">
                <a16:creationId xmlns:a16="http://schemas.microsoft.com/office/drawing/2014/main" id="{7EA7BC78-8359-9638-E55C-07B4B72C3411}"/>
              </a:ext>
            </a:extLst>
          </p:cNvPr>
          <p:cNvSpPr txBox="1"/>
          <p:nvPr>
            <p:custDataLst>
              <p:tags r:id="rId3"/>
            </p:custDataLst>
          </p:nvPr>
        </p:nvSpPr>
        <p:spPr>
          <a:xfrm>
            <a:off x="667900" y="1418916"/>
            <a:ext cx="10601130" cy="461665"/>
          </a:xfrm>
          <a:prstGeom prst="rect">
            <a:avLst/>
          </a:prstGeom>
          <a:noFill/>
        </p:spPr>
        <p:txBody>
          <a:bodyPr wrap="square" rtlCol="0">
            <a:spAutoFit/>
          </a:bodyPr>
          <a:lstStyle/>
          <a:p>
            <a:r>
              <a:rPr lang="fr-CA" sz="2400"/>
              <a:t>Comment réaliser une analyse différentielle si nous avons un </a:t>
            </a:r>
            <a:r>
              <a:rPr lang="fr-CA" sz="2400" b="1"/>
              <a:t>coût de renonciation </a:t>
            </a:r>
            <a:r>
              <a:rPr lang="fr-CA" sz="2400"/>
              <a:t>? </a:t>
            </a:r>
          </a:p>
        </p:txBody>
      </p:sp>
      <p:sp>
        <p:nvSpPr>
          <p:cNvPr id="3" name="Espace réservé du pied de page 3">
            <a:extLst>
              <a:ext uri="{FF2B5EF4-FFF2-40B4-BE49-F238E27FC236}">
                <a16:creationId xmlns:a16="http://schemas.microsoft.com/office/drawing/2014/main" id="{FFEAFAA4-2589-A3B7-B16F-2A412F96BAC0}"/>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A80A5E05-1DCF-013A-58F9-905E51331873}"/>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18</a:t>
            </a:fld>
            <a:endParaRPr lang="fr-CA">
              <a:solidFill>
                <a:prstClr val="black">
                  <a:tint val="75000"/>
                </a:prstClr>
              </a:solidFill>
            </a:endParaRPr>
          </a:p>
        </p:txBody>
      </p:sp>
    </p:spTree>
    <p:extLst>
      <p:ext uri="{BB962C8B-B14F-4D97-AF65-F5344CB8AC3E}">
        <p14:creationId xmlns:p14="http://schemas.microsoft.com/office/powerpoint/2010/main" val="2284697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custDataLst>
              <p:tags r:id="rId2"/>
            </p:custDataLst>
          </p:nvPr>
        </p:nvSpPr>
        <p:spPr>
          <a:xfrm>
            <a:off x="838200" y="160589"/>
            <a:ext cx="10684932" cy="1042570"/>
          </a:xfrm>
        </p:spPr>
        <p:txBody>
          <a:bodyPr>
            <a:noAutofit/>
          </a:bodyPr>
          <a:lstStyle/>
          <a:p>
            <a:br>
              <a:rPr lang="fr-CA" sz="3600" dirty="0"/>
            </a:br>
            <a:r>
              <a:rPr lang="fr-CA" sz="4000" dirty="0"/>
              <a:t>Fabriquer ou acheter (sous-traiter) un produit</a:t>
            </a:r>
            <a:br>
              <a:rPr lang="fr-CA" sz="3600" dirty="0"/>
            </a:br>
            <a:endParaRPr lang="fr-CA" sz="3200" dirty="0"/>
          </a:p>
        </p:txBody>
      </p:sp>
      <p:sp>
        <p:nvSpPr>
          <p:cNvPr id="6" name="Espace réservé du contenu 5"/>
          <p:cNvSpPr>
            <a:spLocks noGrp="1"/>
          </p:cNvSpPr>
          <p:nvPr>
            <p:ph idx="1"/>
            <p:custDataLst>
              <p:tags r:id="rId3"/>
            </p:custDataLst>
          </p:nvPr>
        </p:nvSpPr>
        <p:spPr/>
        <p:txBody>
          <a:bodyPr>
            <a:normAutofit/>
          </a:bodyPr>
          <a:lstStyle/>
          <a:p>
            <a:pPr marL="0" indent="0">
              <a:buNone/>
            </a:pPr>
            <a:r>
              <a:rPr lang="fr-CA" sz="3600"/>
              <a:t>À noter : </a:t>
            </a:r>
          </a:p>
          <a:p>
            <a:r>
              <a:rPr lang="fr-CA"/>
              <a:t>Évidemment, les facteurs</a:t>
            </a:r>
            <a:r>
              <a:rPr lang="fr-CA" b="1"/>
              <a:t> qualitatifs </a:t>
            </a:r>
            <a:r>
              <a:rPr lang="fr-CA"/>
              <a:t>doivent toujours être considérés pour prendre une décision éclairée</a:t>
            </a:r>
          </a:p>
          <a:p>
            <a:pPr lvl="1"/>
            <a:r>
              <a:rPr lang="fr-CA"/>
              <a:t>Par exemple: </a:t>
            </a:r>
          </a:p>
          <a:p>
            <a:pPr lvl="2"/>
            <a:r>
              <a:rPr lang="fr-CA"/>
              <a:t>Est-ce que le fournisseur sera en mesure de fabriquer avec le  même niveau de qualité</a:t>
            </a:r>
            <a:r>
              <a:rPr lang="fr-CA" u="sng"/>
              <a:t> </a:t>
            </a:r>
            <a:r>
              <a:rPr lang="fr-CA"/>
              <a:t>que si nous fabriquons nous-mêmes ?</a:t>
            </a:r>
          </a:p>
          <a:p>
            <a:pPr lvl="2"/>
            <a:r>
              <a:rPr lang="fr-CA"/>
              <a:t>Est-ce que le fournisseur sera en mesure de livrer dans les délais nécessaires à notre production?</a:t>
            </a:r>
          </a:p>
          <a:p>
            <a:pPr lvl="2"/>
            <a:r>
              <a:rPr lang="fr-CA"/>
              <a:t>(…)</a:t>
            </a:r>
          </a:p>
          <a:p>
            <a:pPr lvl="2"/>
            <a:endParaRPr lang="fr-CA"/>
          </a:p>
          <a:p>
            <a:pPr lvl="2"/>
            <a:endParaRPr lang="fr-CA"/>
          </a:p>
          <a:p>
            <a:endParaRPr lang="fr-CA"/>
          </a:p>
        </p:txBody>
      </p:sp>
      <p:sp>
        <p:nvSpPr>
          <p:cNvPr id="2" name="Espace réservé du pied de page 3">
            <a:extLst>
              <a:ext uri="{FF2B5EF4-FFF2-40B4-BE49-F238E27FC236}">
                <a16:creationId xmlns:a16="http://schemas.microsoft.com/office/drawing/2014/main" id="{23EDFB5B-40C4-4D5C-894A-FBF7667ACE5B}"/>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space réservé du numéro de diapositive 4">
            <a:extLst>
              <a:ext uri="{FF2B5EF4-FFF2-40B4-BE49-F238E27FC236}">
                <a16:creationId xmlns:a16="http://schemas.microsoft.com/office/drawing/2014/main" id="{F3DA0B27-EAED-0F4B-F8A6-77816502CD46}"/>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19</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1210915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18F704-F955-BCA3-B43E-E0F01D5676D2}"/>
              </a:ext>
            </a:extLst>
          </p:cNvPr>
          <p:cNvSpPr>
            <a:spLocks noGrp="1"/>
          </p:cNvSpPr>
          <p:nvPr>
            <p:ph type="ctrTitle"/>
            <p:custDataLst>
              <p:tags r:id="rId1"/>
            </p:custDataLst>
          </p:nvPr>
        </p:nvSpPr>
        <p:spPr/>
        <p:txBody>
          <a:bodyPr/>
          <a:lstStyle/>
          <a:p>
            <a:r>
              <a:rPr lang="fr-CA"/>
              <a:t>Exemple 2:</a:t>
            </a:r>
          </a:p>
        </p:txBody>
      </p:sp>
      <p:sp>
        <p:nvSpPr>
          <p:cNvPr id="3" name="Sous-titre 2">
            <a:extLst>
              <a:ext uri="{FF2B5EF4-FFF2-40B4-BE49-F238E27FC236}">
                <a16:creationId xmlns:a16="http://schemas.microsoft.com/office/drawing/2014/main" id="{F0796C61-E063-3163-9507-77401DF69F5E}"/>
              </a:ext>
            </a:extLst>
          </p:cNvPr>
          <p:cNvSpPr>
            <a:spLocks noGrp="1"/>
          </p:cNvSpPr>
          <p:nvPr>
            <p:ph type="subTitle" idx="1"/>
            <p:custDataLst>
              <p:tags r:id="rId2"/>
            </p:custDataLst>
          </p:nvPr>
        </p:nvSpPr>
        <p:spPr/>
        <p:txBody>
          <a:bodyPr>
            <a:normAutofit/>
          </a:bodyPr>
          <a:lstStyle/>
          <a:p>
            <a:r>
              <a:rPr lang="fr-CA" sz="3200"/>
              <a:t>Continuer (ajouter) ou abandonner un produit</a:t>
            </a:r>
          </a:p>
        </p:txBody>
      </p:sp>
      <p:sp>
        <p:nvSpPr>
          <p:cNvPr id="4" name="Espace réservé du pied de page 3">
            <a:extLst>
              <a:ext uri="{FF2B5EF4-FFF2-40B4-BE49-F238E27FC236}">
                <a16:creationId xmlns:a16="http://schemas.microsoft.com/office/drawing/2014/main" id="{C599FCFE-DE2D-D747-A620-FF99EAFE5716}"/>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DED89C8C-368C-98B9-02E6-A64F49DC2D62}"/>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20</a:t>
            </a:fld>
            <a:endParaRPr lang="fr-CA">
              <a:solidFill>
                <a:prstClr val="black">
                  <a:tint val="75000"/>
                </a:prstClr>
              </a:solidFill>
            </a:endParaRPr>
          </a:p>
        </p:txBody>
      </p:sp>
    </p:spTree>
    <p:extLst>
      <p:ext uri="{BB962C8B-B14F-4D97-AF65-F5344CB8AC3E}">
        <p14:creationId xmlns:p14="http://schemas.microsoft.com/office/powerpoint/2010/main" val="4110040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838200" y="180301"/>
            <a:ext cx="10780183" cy="1031881"/>
          </a:xfrm>
        </p:spPr>
        <p:txBody>
          <a:bodyPr>
            <a:noAutofit/>
          </a:bodyPr>
          <a:lstStyle/>
          <a:p>
            <a:r>
              <a:rPr lang="fr-CA" sz="4000"/>
              <a:t>Continuer (ajouter) ou abandonner un produit</a:t>
            </a:r>
          </a:p>
        </p:txBody>
      </p:sp>
      <p:graphicFrame>
        <p:nvGraphicFramePr>
          <p:cNvPr id="7" name="Espace réservé du contenu 6"/>
          <p:cNvGraphicFramePr>
            <a:graphicFrameLocks noGrp="1"/>
          </p:cNvGraphicFramePr>
          <p:nvPr>
            <p:ph sz="half" idx="2"/>
            <p:custDataLst>
              <p:tags r:id="rId2"/>
            </p:custDataLst>
          </p:nvPr>
        </p:nvGraphicFramePr>
        <p:xfrm>
          <a:off x="1948070" y="3550534"/>
          <a:ext cx="8515565" cy="2626330"/>
        </p:xfrm>
        <a:graphic>
          <a:graphicData uri="http://schemas.openxmlformats.org/drawingml/2006/table">
            <a:tbl>
              <a:tblPr firstRow="1" bandRow="1">
                <a:tableStyleId>{9D7B26C5-4107-4FEC-AEDC-1716B250A1EF}</a:tableStyleId>
              </a:tblPr>
              <a:tblGrid>
                <a:gridCol w="3090360">
                  <a:extLst>
                    <a:ext uri="{9D8B030D-6E8A-4147-A177-3AD203B41FA5}">
                      <a16:colId xmlns:a16="http://schemas.microsoft.com/office/drawing/2014/main" val="20000"/>
                    </a:ext>
                  </a:extLst>
                </a:gridCol>
                <a:gridCol w="1410556">
                  <a:extLst>
                    <a:ext uri="{9D8B030D-6E8A-4147-A177-3AD203B41FA5}">
                      <a16:colId xmlns:a16="http://schemas.microsoft.com/office/drawing/2014/main" val="20001"/>
                    </a:ext>
                  </a:extLst>
                </a:gridCol>
                <a:gridCol w="1400885">
                  <a:extLst>
                    <a:ext uri="{9D8B030D-6E8A-4147-A177-3AD203B41FA5}">
                      <a16:colId xmlns:a16="http://schemas.microsoft.com/office/drawing/2014/main" val="20002"/>
                    </a:ext>
                  </a:extLst>
                </a:gridCol>
                <a:gridCol w="1387990">
                  <a:extLst>
                    <a:ext uri="{9D8B030D-6E8A-4147-A177-3AD203B41FA5}">
                      <a16:colId xmlns:a16="http://schemas.microsoft.com/office/drawing/2014/main" val="20003"/>
                    </a:ext>
                  </a:extLst>
                </a:gridCol>
                <a:gridCol w="1225774">
                  <a:extLst>
                    <a:ext uri="{9D8B030D-6E8A-4147-A177-3AD203B41FA5}">
                      <a16:colId xmlns:a16="http://schemas.microsoft.com/office/drawing/2014/main" val="20004"/>
                    </a:ext>
                  </a:extLst>
                </a:gridCol>
              </a:tblGrid>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En $</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Produit X</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Produit Y</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Produit Z</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Total</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extLst>
                  <a:ext uri="{0D108BD9-81ED-4DB2-BD59-A6C34878D82A}">
                    <a16:rowId xmlns:a16="http://schemas.microsoft.com/office/drawing/2014/main" val="10000"/>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Ventes</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32 000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50 000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45 000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u="none" strike="noStrike" cap="none" normalizeH="0" baseline="0">
                          <a:ln>
                            <a:noFill/>
                          </a:ln>
                          <a:effectLst/>
                        </a:rPr>
                        <a:t>127 000</a:t>
                      </a:r>
                      <a:endParaRPr kumimoji="0" lang="fr-CA" sz="2400" b="1"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1"/>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Coûts variables</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(24 000)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(25 000)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(23 000)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u="none" strike="noStrike" cap="none" normalizeH="0" baseline="0">
                          <a:ln>
                            <a:noFill/>
                          </a:ln>
                          <a:effectLst/>
                        </a:rPr>
                        <a:t>(72 000)</a:t>
                      </a:r>
                      <a:endParaRPr kumimoji="0" lang="fr-CA" sz="2400" b="1" i="0" u="none" strike="noStrike" cap="none" normalizeH="0" baseline="0">
                        <a:ln>
                          <a:noFill/>
                        </a:ln>
                        <a:solidFill>
                          <a:schemeClr val="tx1"/>
                        </a:solidFill>
                        <a:effectLst/>
                        <a:latin typeface="Tw Cen MT" pitchFamily="34" charset="0"/>
                      </a:endParaRPr>
                    </a:p>
                  </a:txBody>
                  <a:tcPr marL="65466" marR="65466" anchor="ctr" horzOverflow="overflow"/>
                </a:tc>
                <a:extLst>
                  <a:ext uri="{0D108BD9-81ED-4DB2-BD59-A6C34878D82A}">
                    <a16:rowId xmlns:a16="http://schemas.microsoft.com/office/drawing/2014/main" val="10002"/>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Coûts fixes</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sng" strike="noStrike" cap="none" normalizeH="0" baseline="0">
                          <a:ln>
                            <a:noFill/>
                          </a:ln>
                          <a:effectLst/>
                        </a:rPr>
                        <a:t>(12 000)</a:t>
                      </a:r>
                      <a:endParaRPr kumimoji="0" lang="fr-CA" sz="2400" b="0" i="0" u="sng"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sng" strike="noStrike" cap="none" normalizeH="0" baseline="0">
                          <a:ln>
                            <a:noFill/>
                          </a:ln>
                          <a:effectLst/>
                        </a:rPr>
                        <a:t>(13 000)</a:t>
                      </a:r>
                      <a:endParaRPr kumimoji="0" lang="fr-CA" sz="2400" b="0" i="0" u="sng"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sng" strike="noStrike" cap="none" normalizeH="0" baseline="0">
                          <a:ln>
                            <a:noFill/>
                          </a:ln>
                          <a:effectLst/>
                        </a:rPr>
                        <a:t>(11 000)</a:t>
                      </a:r>
                      <a:endParaRPr kumimoji="0" lang="fr-CA" sz="2400" b="0" i="0" u="sng"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u="sng" strike="noStrike" cap="none" normalizeH="0" baseline="0">
                          <a:ln>
                            <a:noFill/>
                          </a:ln>
                          <a:effectLst/>
                        </a:rPr>
                        <a:t>(36 000)</a:t>
                      </a:r>
                      <a:endParaRPr kumimoji="0" lang="fr-CA" sz="2400" b="1" i="0" u="sng"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3"/>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Résultat d’exploitation </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(4 000)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12 000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11 000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u="none" strike="noStrike" cap="none" normalizeH="0" baseline="0">
                          <a:ln>
                            <a:noFill/>
                          </a:ln>
                          <a:effectLst/>
                        </a:rPr>
                        <a:t>19 000</a:t>
                      </a:r>
                      <a:endParaRPr kumimoji="0" lang="fr-CA" sz="2400" b="1" i="0" u="none" strike="noStrike" cap="none" normalizeH="0" baseline="0">
                        <a:ln>
                          <a:noFill/>
                        </a:ln>
                        <a:solidFill>
                          <a:schemeClr val="tx1"/>
                        </a:solidFill>
                        <a:effectLst/>
                        <a:latin typeface="Tw Cen MT" pitchFamily="34" charset="0"/>
                      </a:endParaRPr>
                    </a:p>
                  </a:txBody>
                  <a:tcPr marL="65466" marR="65466" anchor="ctr" horzOverflow="overflow"/>
                </a:tc>
                <a:extLst>
                  <a:ext uri="{0D108BD9-81ED-4DB2-BD59-A6C34878D82A}">
                    <a16:rowId xmlns:a16="http://schemas.microsoft.com/office/drawing/2014/main" val="10004"/>
                  </a:ext>
                </a:extLst>
              </a:tr>
            </a:tbl>
          </a:graphicData>
        </a:graphic>
      </p:graphicFrame>
      <p:sp>
        <p:nvSpPr>
          <p:cNvPr id="3" name="Espace réservé du contenu 2"/>
          <p:cNvSpPr>
            <a:spLocks noGrp="1"/>
          </p:cNvSpPr>
          <p:nvPr>
            <p:ph sz="half" idx="1"/>
            <p:custDataLst>
              <p:tags r:id="rId3"/>
            </p:custDataLst>
          </p:nvPr>
        </p:nvSpPr>
        <p:spPr>
          <a:xfrm>
            <a:off x="838199" y="1598769"/>
            <a:ext cx="10106026" cy="1807776"/>
          </a:xfrm>
        </p:spPr>
        <p:txBody>
          <a:bodyPr/>
          <a:lstStyle/>
          <a:p>
            <a:pPr lvl="0"/>
            <a:r>
              <a:rPr lang="fr-CA" sz="2400"/>
              <a:t>Une entreprise fabrique trois produits dont les résultats sont présentés dans le tableau ci-contre.</a:t>
            </a:r>
          </a:p>
          <a:p>
            <a:pPr lvl="0"/>
            <a:r>
              <a:rPr lang="fr-CA" sz="2400"/>
              <a:t>Le directeur de production veut arrêter la production du produit X</a:t>
            </a:r>
          </a:p>
          <a:p>
            <a:pPr lvl="0"/>
            <a:r>
              <a:rPr lang="fr-CA" sz="2400" b="1">
                <a:solidFill>
                  <a:srgbClr val="C00000"/>
                </a:solidFill>
              </a:rPr>
              <a:t>Qu’en pensez-vous ? </a:t>
            </a:r>
          </a:p>
          <a:p>
            <a:pPr lvl="0" rtl="0"/>
            <a:endParaRPr lang="fr-CA" sz="2400"/>
          </a:p>
        </p:txBody>
      </p:sp>
      <p:sp>
        <p:nvSpPr>
          <p:cNvPr id="5" name="Espace réservé du pied de page 3">
            <a:extLst>
              <a:ext uri="{FF2B5EF4-FFF2-40B4-BE49-F238E27FC236}">
                <a16:creationId xmlns:a16="http://schemas.microsoft.com/office/drawing/2014/main" id="{F6B4127E-61E4-16BB-DCD0-FBC9A441D1A4}"/>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8" name="Espace réservé du numéro de diapositive 4">
            <a:extLst>
              <a:ext uri="{FF2B5EF4-FFF2-40B4-BE49-F238E27FC236}">
                <a16:creationId xmlns:a16="http://schemas.microsoft.com/office/drawing/2014/main" id="{7F571130-69B4-6C3A-836E-F8F7691B8A17}"/>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21</a:t>
            </a:fld>
            <a:endParaRPr lang="fr-CA">
              <a:solidFill>
                <a:prstClr val="black">
                  <a:tint val="75000"/>
                </a:prstClr>
              </a:solidFill>
            </a:endParaRPr>
          </a:p>
        </p:txBody>
      </p:sp>
    </p:spTree>
    <p:extLst>
      <p:ext uri="{BB962C8B-B14F-4D97-AF65-F5344CB8AC3E}">
        <p14:creationId xmlns:p14="http://schemas.microsoft.com/office/powerpoint/2010/main" val="534418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086879-432F-7237-706D-0DF58B0ACAF3}"/>
              </a:ext>
            </a:extLst>
          </p:cNvPr>
          <p:cNvSpPr>
            <a:spLocks noGrp="1"/>
          </p:cNvSpPr>
          <p:nvPr>
            <p:ph type="title"/>
            <p:custDataLst>
              <p:tags r:id="rId1"/>
            </p:custDataLst>
          </p:nvPr>
        </p:nvSpPr>
        <p:spPr/>
        <p:txBody>
          <a:bodyPr/>
          <a:lstStyle/>
          <a:p>
            <a:r>
              <a:rPr lang="fr-CA"/>
              <a:t>Éléments à prendre en considération</a:t>
            </a:r>
          </a:p>
        </p:txBody>
      </p:sp>
      <p:sp>
        <p:nvSpPr>
          <p:cNvPr id="3" name="Espace réservé du contenu 2">
            <a:extLst>
              <a:ext uri="{FF2B5EF4-FFF2-40B4-BE49-F238E27FC236}">
                <a16:creationId xmlns:a16="http://schemas.microsoft.com/office/drawing/2014/main" id="{70A1D39A-6EBC-11C8-546B-A0E5C1FDF949}"/>
              </a:ext>
            </a:extLst>
          </p:cNvPr>
          <p:cNvSpPr>
            <a:spLocks noGrp="1"/>
          </p:cNvSpPr>
          <p:nvPr>
            <p:ph idx="1"/>
            <p:custDataLst>
              <p:tags r:id="rId2"/>
            </p:custDataLst>
          </p:nvPr>
        </p:nvSpPr>
        <p:spPr/>
        <p:txBody>
          <a:bodyPr>
            <a:normAutofit/>
          </a:bodyPr>
          <a:lstStyle/>
          <a:p>
            <a:pPr marL="0" indent="0">
              <a:buNone/>
            </a:pPr>
            <a:r>
              <a:rPr lang="fr-CA" b="1"/>
              <a:t>Situation 1: </a:t>
            </a:r>
            <a:r>
              <a:rPr lang="fr-CA"/>
              <a:t>Les coûts fixes sont </a:t>
            </a:r>
            <a:r>
              <a:rPr lang="fr-CA" b="1"/>
              <a:t>communs</a:t>
            </a:r>
          </a:p>
          <a:p>
            <a:r>
              <a:rPr lang="fr-CA" i="1"/>
              <a:t>Est-ce que le produit dégage une marge sur coûts variables positive ? </a:t>
            </a:r>
          </a:p>
          <a:p>
            <a:r>
              <a:rPr lang="fr-CA" i="1"/>
              <a:t>Les coûts fixes continueront-ils d'exister même si nous abandonnons le produit ? </a:t>
            </a:r>
          </a:p>
          <a:p>
            <a:pPr marL="0" indent="0">
              <a:buNone/>
            </a:pPr>
            <a:endParaRPr lang="fr-CA"/>
          </a:p>
          <a:p>
            <a:pPr marL="0" indent="0">
              <a:buNone/>
            </a:pPr>
            <a:r>
              <a:rPr lang="fr-CA" b="1"/>
              <a:t>Situation 2: </a:t>
            </a:r>
            <a:r>
              <a:rPr lang="fr-CA"/>
              <a:t>Les coûts fixes sont </a:t>
            </a:r>
            <a:r>
              <a:rPr lang="fr-CA" b="1"/>
              <a:t>communs</a:t>
            </a:r>
            <a:r>
              <a:rPr lang="fr-CA"/>
              <a:t> et </a:t>
            </a:r>
            <a:r>
              <a:rPr lang="fr-CA" b="1"/>
              <a:t>spécifiques</a:t>
            </a:r>
          </a:p>
          <a:p>
            <a:r>
              <a:rPr lang="fr-CA" i="1"/>
              <a:t>Est-ce que le produit dégage une marge sur coûts variables positive ? </a:t>
            </a:r>
          </a:p>
          <a:p>
            <a:r>
              <a:rPr lang="fr-CA" i="1"/>
              <a:t>Certains coûts fixes sont-ils des coûts fixes spécifiques au produit ?</a:t>
            </a:r>
          </a:p>
          <a:p>
            <a:pPr marL="0" indent="0">
              <a:buNone/>
            </a:pPr>
            <a:endParaRPr lang="fr-CA"/>
          </a:p>
        </p:txBody>
      </p:sp>
      <p:sp>
        <p:nvSpPr>
          <p:cNvPr id="4" name="Espace réservé du pied de page 3">
            <a:extLst>
              <a:ext uri="{FF2B5EF4-FFF2-40B4-BE49-F238E27FC236}">
                <a16:creationId xmlns:a16="http://schemas.microsoft.com/office/drawing/2014/main" id="{9CDC04B7-1E82-BE3E-A835-01F8EE5944EB}"/>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1DB8EF42-19A5-177A-00C7-4BFCBBFA16EE}"/>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22</a:t>
            </a:fld>
            <a:endParaRPr lang="fr-CA">
              <a:solidFill>
                <a:prstClr val="black">
                  <a:tint val="75000"/>
                </a:prstClr>
              </a:solidFill>
            </a:endParaRPr>
          </a:p>
        </p:txBody>
      </p:sp>
    </p:spTree>
    <p:extLst>
      <p:ext uri="{BB962C8B-B14F-4D97-AF65-F5344CB8AC3E}">
        <p14:creationId xmlns:p14="http://schemas.microsoft.com/office/powerpoint/2010/main" val="2687325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838200" y="180301"/>
            <a:ext cx="10780183" cy="1031881"/>
          </a:xfrm>
        </p:spPr>
        <p:txBody>
          <a:bodyPr>
            <a:noAutofit/>
          </a:bodyPr>
          <a:lstStyle/>
          <a:p>
            <a:r>
              <a:rPr lang="fr-CA" sz="4000"/>
              <a:t>Continuer (ajouter) ou abandonner un produit</a:t>
            </a:r>
            <a:br>
              <a:rPr lang="fr-CA" sz="4000"/>
            </a:br>
            <a:r>
              <a:rPr lang="fr-CA" sz="4000" b="1"/>
              <a:t>Situation 1</a:t>
            </a:r>
          </a:p>
        </p:txBody>
      </p:sp>
      <p:graphicFrame>
        <p:nvGraphicFramePr>
          <p:cNvPr id="7" name="Espace réservé du contenu 6"/>
          <p:cNvGraphicFramePr>
            <a:graphicFrameLocks noGrp="1"/>
          </p:cNvGraphicFramePr>
          <p:nvPr>
            <p:ph sz="half" idx="2"/>
            <p:custDataLst>
              <p:tags r:id="rId2"/>
            </p:custDataLst>
          </p:nvPr>
        </p:nvGraphicFramePr>
        <p:xfrm>
          <a:off x="184405" y="2260761"/>
          <a:ext cx="4038460" cy="3153651"/>
        </p:xfrm>
        <a:graphic>
          <a:graphicData uri="http://schemas.openxmlformats.org/drawingml/2006/table">
            <a:tbl>
              <a:tblPr firstRow="1" bandRow="1">
                <a:tableStyleId>{9D7B26C5-4107-4FEC-AEDC-1716B250A1EF}</a:tableStyleId>
              </a:tblPr>
              <a:tblGrid>
                <a:gridCol w="2486892">
                  <a:extLst>
                    <a:ext uri="{9D8B030D-6E8A-4147-A177-3AD203B41FA5}">
                      <a16:colId xmlns:a16="http://schemas.microsoft.com/office/drawing/2014/main" val="20000"/>
                    </a:ext>
                  </a:extLst>
                </a:gridCol>
                <a:gridCol w="1551568">
                  <a:extLst>
                    <a:ext uri="{9D8B030D-6E8A-4147-A177-3AD203B41FA5}">
                      <a16:colId xmlns:a16="http://schemas.microsoft.com/office/drawing/2014/main" val="1225929688"/>
                    </a:ext>
                  </a:extLst>
                </a:gridCol>
              </a:tblGrid>
              <a:tr h="7889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a:ln>
                            <a:noFill/>
                          </a:ln>
                          <a:effectLst/>
                        </a:rPr>
                        <a:t>En $</a:t>
                      </a:r>
                      <a:endParaRPr kumimoji="0" lang="fr-CA" sz="20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a:ln>
                            <a:noFill/>
                          </a:ln>
                          <a:effectLst/>
                        </a:rPr>
                        <a:t>Total entreprise</a:t>
                      </a:r>
                      <a:endParaRPr kumimoji="0" lang="fr-CA" sz="2000" b="0" i="0" u="none" strike="noStrike" cap="none" normalizeH="0" baseline="0">
                        <a:ln>
                          <a:noFill/>
                        </a:ln>
                        <a:solidFill>
                          <a:schemeClr val="tx1"/>
                        </a:solidFill>
                        <a:effectLst/>
                        <a:latin typeface="Tw Cen MT" pitchFamily="34" charset="0"/>
                      </a:endParaRPr>
                    </a:p>
                  </a:txBody>
                  <a:tcPr marL="65466" marR="65466" anchor="ctr" horzOverflow="overflow"/>
                </a:tc>
                <a:extLst>
                  <a:ext uri="{0D108BD9-81ED-4DB2-BD59-A6C34878D82A}">
                    <a16:rowId xmlns:a16="http://schemas.microsoft.com/office/drawing/2014/main" val="10000"/>
                  </a:ext>
                </a:extLst>
              </a:tr>
              <a:tr h="59116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a:ln>
                            <a:noFill/>
                          </a:ln>
                          <a:effectLst/>
                          <a:latin typeface="+mn-lt"/>
                        </a:rPr>
                        <a:t>Ventes</a:t>
                      </a:r>
                      <a:endParaRPr kumimoji="0" lang="fr-CA" sz="2000" b="0" i="0" u="none" strike="noStrike" cap="none" normalizeH="0" baseline="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u="none" strike="noStrike" cap="none" normalizeH="0" baseline="0" dirty="0">
                          <a:ln>
                            <a:noFill/>
                          </a:ln>
                          <a:effectLst/>
                          <a:latin typeface="+mn-lt"/>
                        </a:rPr>
                        <a:t>127 000 $</a:t>
                      </a:r>
                      <a:endParaRPr kumimoji="0" lang="fr-CA" sz="2000" b="1"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1"/>
                  </a:ext>
                </a:extLst>
              </a:tr>
              <a:tr h="59116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a:ln>
                            <a:noFill/>
                          </a:ln>
                          <a:effectLst/>
                          <a:latin typeface="+mn-lt"/>
                        </a:rPr>
                        <a:t>Coûts variables</a:t>
                      </a:r>
                      <a:endParaRPr kumimoji="0" lang="fr-CA" sz="2000" b="0" i="0" u="none" strike="noStrike" cap="none" normalizeH="0" baseline="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u="none" strike="noStrike" cap="none" normalizeH="0" baseline="0">
                          <a:ln>
                            <a:noFill/>
                          </a:ln>
                          <a:effectLst/>
                          <a:latin typeface="+mn-lt"/>
                        </a:rPr>
                        <a:t>(72 000 $)</a:t>
                      </a:r>
                      <a:endParaRPr kumimoji="0" lang="fr-CA" sz="2000" b="1" i="0" u="none" strike="noStrike" cap="none" normalizeH="0" baseline="0">
                        <a:ln>
                          <a:noFill/>
                        </a:ln>
                        <a:solidFill>
                          <a:schemeClr val="tx1"/>
                        </a:solidFill>
                        <a:effectLst/>
                        <a:latin typeface="+mn-lt"/>
                      </a:endParaRPr>
                    </a:p>
                  </a:txBody>
                  <a:tcPr marL="65466" marR="65466" anchor="ctr" horzOverflow="overflow"/>
                </a:tc>
                <a:extLst>
                  <a:ext uri="{0D108BD9-81ED-4DB2-BD59-A6C34878D82A}">
                    <a16:rowId xmlns:a16="http://schemas.microsoft.com/office/drawing/2014/main" val="10002"/>
                  </a:ext>
                </a:extLst>
              </a:tr>
              <a:tr h="59116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a:ln>
                            <a:noFill/>
                          </a:ln>
                          <a:effectLst/>
                          <a:latin typeface="+mn-lt"/>
                        </a:rPr>
                        <a:t>Coûts fixes communs</a:t>
                      </a:r>
                      <a:endParaRPr kumimoji="0" lang="fr-CA" sz="2000" b="0" i="0" u="none" strike="noStrike" cap="none" normalizeH="0" baseline="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u="sng" strike="noStrike" cap="none" normalizeH="0" baseline="0">
                          <a:ln>
                            <a:noFill/>
                          </a:ln>
                          <a:effectLst/>
                          <a:latin typeface="+mn-lt"/>
                        </a:rPr>
                        <a:t>(36 000 $)</a:t>
                      </a:r>
                      <a:endParaRPr kumimoji="0" lang="fr-CA" sz="2000" b="1" i="0" u="sng" strike="noStrike" cap="none" normalizeH="0" baseline="0">
                        <a:ln>
                          <a:noFill/>
                        </a:ln>
                        <a:solidFill>
                          <a:schemeClr val="tx1"/>
                        </a:solidFill>
                        <a:effectLst/>
                        <a:latin typeface="+mn-lt"/>
                      </a:endParaRP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3"/>
                  </a:ext>
                </a:extLst>
              </a:tr>
              <a:tr h="59116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b="0" u="none" strike="noStrike" cap="none" normalizeH="0" baseline="0">
                          <a:ln>
                            <a:noFill/>
                          </a:ln>
                          <a:effectLst/>
                          <a:latin typeface="+mn-lt"/>
                        </a:rPr>
                        <a:t>Résultat d’exploitation </a:t>
                      </a:r>
                      <a:endParaRPr kumimoji="0" lang="fr-CA" sz="2000" b="0" i="0" u="none" strike="noStrike" cap="none" normalizeH="0" baseline="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u="none" strike="noStrike" cap="none" normalizeH="0" baseline="0" dirty="0">
                          <a:ln>
                            <a:noFill/>
                          </a:ln>
                          <a:effectLst/>
                          <a:latin typeface="+mn-lt"/>
                        </a:rPr>
                        <a:t>19 000 $</a:t>
                      </a:r>
                      <a:endParaRPr kumimoji="0" lang="fr-CA" sz="2000" b="1" i="0" u="none" strike="noStrike" cap="none" normalizeH="0" baseline="0" dirty="0">
                        <a:ln>
                          <a:noFill/>
                        </a:ln>
                        <a:solidFill>
                          <a:schemeClr val="tx1"/>
                        </a:solidFill>
                        <a:effectLst/>
                        <a:latin typeface="+mn-lt"/>
                      </a:endParaRPr>
                    </a:p>
                  </a:txBody>
                  <a:tcPr marL="65466" marR="65466" anchor="ctr" horzOverflow="overflow"/>
                </a:tc>
                <a:extLst>
                  <a:ext uri="{0D108BD9-81ED-4DB2-BD59-A6C34878D82A}">
                    <a16:rowId xmlns:a16="http://schemas.microsoft.com/office/drawing/2014/main" val="10004"/>
                  </a:ext>
                </a:extLst>
              </a:tr>
            </a:tbl>
          </a:graphicData>
        </a:graphic>
      </p:graphicFrame>
      <p:sp>
        <p:nvSpPr>
          <p:cNvPr id="3" name="Espace réservé du contenu 2"/>
          <p:cNvSpPr>
            <a:spLocks noGrp="1"/>
          </p:cNvSpPr>
          <p:nvPr>
            <p:ph sz="half" idx="1"/>
            <p:custDataLst>
              <p:tags r:id="rId3"/>
            </p:custDataLst>
          </p:nvPr>
        </p:nvSpPr>
        <p:spPr>
          <a:xfrm>
            <a:off x="838199" y="1598769"/>
            <a:ext cx="10106026" cy="705519"/>
          </a:xfrm>
        </p:spPr>
        <p:txBody>
          <a:bodyPr/>
          <a:lstStyle/>
          <a:p>
            <a:pPr lvl="0" rtl="0"/>
            <a:r>
              <a:rPr lang="fr-CA" sz="2400"/>
              <a:t>Analyse différentielle (coûts communs)</a:t>
            </a:r>
          </a:p>
        </p:txBody>
      </p:sp>
      <p:sp>
        <p:nvSpPr>
          <p:cNvPr id="4" name="Espace réservé du pied de page 3">
            <a:extLst>
              <a:ext uri="{FF2B5EF4-FFF2-40B4-BE49-F238E27FC236}">
                <a16:creationId xmlns:a16="http://schemas.microsoft.com/office/drawing/2014/main" id="{735A0045-9FBC-5A6A-F462-16FD36C477DB}"/>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EDFFD6E3-DCE8-FD2F-6444-A164E7E7063E}"/>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23</a:t>
            </a:fld>
            <a:endParaRPr lang="fr-CA">
              <a:solidFill>
                <a:prstClr val="black">
                  <a:tint val="75000"/>
                </a:prstClr>
              </a:solidFill>
            </a:endParaRPr>
          </a:p>
        </p:txBody>
      </p:sp>
      <p:graphicFrame>
        <p:nvGraphicFramePr>
          <p:cNvPr id="6" name="Espace réservé du contenu 6">
            <a:extLst>
              <a:ext uri="{FF2B5EF4-FFF2-40B4-BE49-F238E27FC236}">
                <a16:creationId xmlns:a16="http://schemas.microsoft.com/office/drawing/2014/main" id="{99C49E3B-36C2-D68C-540E-7077187DEF7C}"/>
              </a:ext>
            </a:extLst>
          </p:cNvPr>
          <p:cNvGraphicFramePr>
            <a:graphicFrameLocks/>
          </p:cNvGraphicFramePr>
          <p:nvPr>
            <p:custDataLst>
              <p:tags r:id="rId6"/>
            </p:custDataLst>
          </p:nvPr>
        </p:nvGraphicFramePr>
        <p:xfrm>
          <a:off x="4567552" y="2282524"/>
          <a:ext cx="6803169" cy="3153652"/>
        </p:xfrm>
        <a:graphic>
          <a:graphicData uri="http://schemas.openxmlformats.org/drawingml/2006/table">
            <a:tbl>
              <a:tblPr firstRow="1" bandRow="1">
                <a:tableStyleId>{9D7B26C5-4107-4FEC-AEDC-1716B250A1EF}</a:tableStyleId>
              </a:tblPr>
              <a:tblGrid>
                <a:gridCol w="1946935">
                  <a:extLst>
                    <a:ext uri="{9D8B030D-6E8A-4147-A177-3AD203B41FA5}">
                      <a16:colId xmlns:a16="http://schemas.microsoft.com/office/drawing/2014/main" val="20000"/>
                    </a:ext>
                  </a:extLst>
                </a:gridCol>
                <a:gridCol w="1184818">
                  <a:extLst>
                    <a:ext uri="{9D8B030D-6E8A-4147-A177-3AD203B41FA5}">
                      <a16:colId xmlns:a16="http://schemas.microsoft.com/office/drawing/2014/main" val="20001"/>
                    </a:ext>
                  </a:extLst>
                </a:gridCol>
                <a:gridCol w="1534035">
                  <a:extLst>
                    <a:ext uri="{9D8B030D-6E8A-4147-A177-3AD203B41FA5}">
                      <a16:colId xmlns:a16="http://schemas.microsoft.com/office/drawing/2014/main" val="1225929688"/>
                    </a:ext>
                  </a:extLst>
                </a:gridCol>
                <a:gridCol w="2137381">
                  <a:extLst>
                    <a:ext uri="{9D8B030D-6E8A-4147-A177-3AD203B41FA5}">
                      <a16:colId xmlns:a16="http://schemas.microsoft.com/office/drawing/2014/main" val="2790434245"/>
                    </a:ext>
                  </a:extLst>
                </a:gridCol>
              </a:tblGrid>
              <a:tr h="2043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a:ln>
                            <a:noFill/>
                          </a:ln>
                          <a:effectLst/>
                        </a:rPr>
                        <a:t>En $</a:t>
                      </a:r>
                      <a:endParaRPr kumimoji="0" lang="fr-CA" sz="20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rPr>
                        <a:t>Continue</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CA" sz="2000" b="0" i="0" u="none" strike="noStrike" cap="none" normalizeH="0" baseline="0" dirty="0">
                          <a:ln>
                            <a:noFill/>
                          </a:ln>
                          <a:solidFill>
                            <a:schemeClr val="tx1"/>
                          </a:solidFill>
                          <a:effectLst/>
                          <a:latin typeface="Tw Cen MT" pitchFamily="34" charset="0"/>
                        </a:rPr>
                        <a:t>Produit x</a:t>
                      </a: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rPr>
                        <a:t>Abandonne</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CA" sz="2000" b="0" i="0" u="none" strike="noStrike" cap="none" normalizeH="0" baseline="0" dirty="0">
                          <a:ln>
                            <a:noFill/>
                          </a:ln>
                          <a:solidFill>
                            <a:schemeClr val="tx1"/>
                          </a:solidFill>
                          <a:effectLst/>
                          <a:latin typeface="Tw Cen MT" pitchFamily="34" charset="0"/>
                        </a:rPr>
                        <a:t>Produit x</a:t>
                      </a: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CA" sz="2000" b="0" dirty="0"/>
                        <a:t>Analyse différentielle</a:t>
                      </a:r>
                      <a:endParaRPr kumimoji="0" lang="fr-CA" sz="2000" b="0" i="0" u="none" strike="noStrike" cap="none" normalizeH="0" baseline="0" dirty="0">
                        <a:ln>
                          <a:noFill/>
                        </a:ln>
                        <a:solidFill>
                          <a:schemeClr val="tx1"/>
                        </a:solidFill>
                        <a:effectLst/>
                        <a:latin typeface="Tw Cen MT" pitchFamily="34" charset="0"/>
                      </a:endParaRPr>
                    </a:p>
                  </a:txBody>
                  <a:tcPr marL="65466" marR="65466" anchor="ctr" horzOverflow="overflow"/>
                </a:tc>
                <a:extLst>
                  <a:ext uri="{0D108BD9-81ED-4DB2-BD59-A6C34878D82A}">
                    <a16:rowId xmlns:a16="http://schemas.microsoft.com/office/drawing/2014/main" val="10000"/>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Ventes</a:t>
                      </a:r>
                      <a:endParaRPr kumimoji="0" lang="fr-CA" sz="20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a:ln>
                            <a:noFill/>
                          </a:ln>
                          <a:effectLst/>
                          <a:latin typeface="+mn-lt"/>
                        </a:rPr>
                        <a:t>32 000 $</a:t>
                      </a:r>
                      <a:endParaRPr kumimoji="0" lang="fr-CA" sz="2000" b="0" i="0" u="none" strike="noStrike" cap="none" normalizeH="0" baseline="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u="none" strike="noStrike" cap="none" normalizeH="0" baseline="0" dirty="0">
                          <a:ln>
                            <a:noFill/>
                          </a:ln>
                          <a:effectLst/>
                          <a:latin typeface="+mn-lt"/>
                        </a:rPr>
                        <a:t>0 $</a:t>
                      </a:r>
                      <a:endParaRPr kumimoji="0" lang="fr-CA" sz="2000" b="1"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(32 000)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1"/>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 Coûts variables</a:t>
                      </a:r>
                      <a:endParaRPr kumimoji="0" lang="fr-CA" sz="2000" b="0"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24 000 $</a:t>
                      </a:r>
                      <a:endParaRPr kumimoji="0" lang="fr-CA" sz="2000" b="0"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0 $</a:t>
                      </a: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24 000  $</a:t>
                      </a:r>
                    </a:p>
                  </a:txBody>
                  <a:tcPr marL="65466" marR="65466" anchor="ctr" horzOverflow="overflow"/>
                </a:tc>
                <a:extLst>
                  <a:ext uri="{0D108BD9-81ED-4DB2-BD59-A6C34878D82A}">
                    <a16:rowId xmlns:a16="http://schemas.microsoft.com/office/drawing/2014/main" val="10002"/>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 Coûts fixes communs</a:t>
                      </a:r>
                      <a:endParaRPr kumimoji="0" lang="fr-CA" sz="20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u="sng" strike="noStrike" cap="none" normalizeH="0" baseline="0" dirty="0">
                          <a:ln>
                            <a:noFill/>
                          </a:ln>
                          <a:effectLst/>
                          <a:latin typeface="+mn-lt"/>
                        </a:rPr>
                        <a:t>12 000 $</a:t>
                      </a:r>
                      <a:endParaRPr kumimoji="0" lang="fr-CA" sz="2000" b="0" i="0" u="sng"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sng" strike="noStrike" cap="none" normalizeH="0" baseline="0" dirty="0">
                          <a:ln>
                            <a:noFill/>
                          </a:ln>
                          <a:solidFill>
                            <a:schemeClr val="tx1"/>
                          </a:solidFill>
                          <a:effectLst/>
                          <a:latin typeface="+mn-lt"/>
                        </a:rPr>
                        <a:t>12 000 $</a:t>
                      </a: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3"/>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b="0" u="none" strike="noStrike" cap="none" normalizeH="0" baseline="0">
                          <a:ln>
                            <a:noFill/>
                          </a:ln>
                          <a:effectLst/>
                          <a:latin typeface="+mn-lt"/>
                        </a:rPr>
                        <a:t>Résultat d’exploitation </a:t>
                      </a:r>
                      <a:endParaRPr kumimoji="0" lang="fr-CA" sz="2000" b="0" i="0" u="none" strike="noStrike" cap="none" normalizeH="0" baseline="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a:ln>
                            <a:noFill/>
                          </a:ln>
                          <a:effectLst/>
                          <a:latin typeface="+mn-lt"/>
                        </a:rPr>
                        <a:t>(4 000 $)</a:t>
                      </a:r>
                      <a:endParaRPr kumimoji="0" lang="fr-CA" sz="2000" b="0" i="0" u="none" strike="noStrike" cap="none" normalizeH="0" baseline="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u="none" strike="noStrike" cap="none" normalizeH="0" baseline="0" dirty="0">
                          <a:ln>
                            <a:noFill/>
                          </a:ln>
                          <a:effectLst/>
                          <a:latin typeface="+mn-lt"/>
                        </a:rPr>
                        <a:t>(12 000) $</a:t>
                      </a:r>
                      <a:endParaRPr kumimoji="0" lang="fr-CA" sz="2000" b="1"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(8 000) $</a:t>
                      </a:r>
                    </a:p>
                  </a:txBody>
                  <a:tcPr marL="65466" marR="65466" anchor="ctr"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61477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33523-2C3A-BBC2-66FD-683F4493154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AD5DD66-6E0B-305E-651E-664AFC5A5883}"/>
              </a:ext>
            </a:extLst>
          </p:cNvPr>
          <p:cNvSpPr>
            <a:spLocks noGrp="1"/>
          </p:cNvSpPr>
          <p:nvPr>
            <p:ph type="title"/>
            <p:custDataLst>
              <p:tags r:id="rId1"/>
            </p:custDataLst>
          </p:nvPr>
        </p:nvSpPr>
        <p:spPr>
          <a:xfrm>
            <a:off x="838200" y="180301"/>
            <a:ext cx="10780183" cy="1031881"/>
          </a:xfrm>
        </p:spPr>
        <p:txBody>
          <a:bodyPr>
            <a:noAutofit/>
          </a:bodyPr>
          <a:lstStyle/>
          <a:p>
            <a:r>
              <a:rPr lang="fr-CA" sz="4000" dirty="0"/>
              <a:t>Continuer (ajouter) ou abandonner un produit</a:t>
            </a:r>
            <a:br>
              <a:rPr lang="fr-CA" sz="4000" dirty="0"/>
            </a:br>
            <a:r>
              <a:rPr lang="fr-CA" sz="4000" b="1" dirty="0"/>
              <a:t>Situation 2</a:t>
            </a:r>
          </a:p>
        </p:txBody>
      </p:sp>
      <p:sp>
        <p:nvSpPr>
          <p:cNvPr id="3" name="Espace réservé du contenu 2">
            <a:extLst>
              <a:ext uri="{FF2B5EF4-FFF2-40B4-BE49-F238E27FC236}">
                <a16:creationId xmlns:a16="http://schemas.microsoft.com/office/drawing/2014/main" id="{4D26EFF9-23EC-D566-927B-3198B47B7C5C}"/>
              </a:ext>
            </a:extLst>
          </p:cNvPr>
          <p:cNvSpPr>
            <a:spLocks noGrp="1"/>
          </p:cNvSpPr>
          <p:nvPr>
            <p:ph sz="half" idx="1"/>
            <p:custDataLst>
              <p:tags r:id="rId2"/>
            </p:custDataLst>
          </p:nvPr>
        </p:nvSpPr>
        <p:spPr>
          <a:xfrm>
            <a:off x="838199" y="1598769"/>
            <a:ext cx="10106026" cy="705519"/>
          </a:xfrm>
        </p:spPr>
        <p:txBody>
          <a:bodyPr/>
          <a:lstStyle/>
          <a:p>
            <a:pPr lvl="0"/>
            <a:r>
              <a:rPr lang="fr-CA" sz="2400" dirty="0"/>
              <a:t>Analyse différentielle (coûts spécifiques et communs)</a:t>
            </a:r>
          </a:p>
        </p:txBody>
      </p:sp>
      <p:sp>
        <p:nvSpPr>
          <p:cNvPr id="4" name="Espace réservé du pied de page 3">
            <a:extLst>
              <a:ext uri="{FF2B5EF4-FFF2-40B4-BE49-F238E27FC236}">
                <a16:creationId xmlns:a16="http://schemas.microsoft.com/office/drawing/2014/main" id="{D0765105-CAD5-7F3C-588A-FD0FC14416CA}"/>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DC9AEBAB-7133-B1D8-4A12-01D2D76D4FF3}"/>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24</a:t>
            </a:fld>
            <a:endParaRPr lang="fr-CA">
              <a:solidFill>
                <a:prstClr val="black">
                  <a:tint val="75000"/>
                </a:prstClr>
              </a:solidFill>
            </a:endParaRPr>
          </a:p>
        </p:txBody>
      </p:sp>
      <p:graphicFrame>
        <p:nvGraphicFramePr>
          <p:cNvPr id="6" name="Espace réservé du contenu 6">
            <a:extLst>
              <a:ext uri="{FF2B5EF4-FFF2-40B4-BE49-F238E27FC236}">
                <a16:creationId xmlns:a16="http://schemas.microsoft.com/office/drawing/2014/main" id="{94D3ECFF-548F-0C4C-4EAA-132F1F316678}"/>
              </a:ext>
            </a:extLst>
          </p:cNvPr>
          <p:cNvGraphicFramePr>
            <a:graphicFrameLocks/>
          </p:cNvGraphicFramePr>
          <p:nvPr>
            <p:custDataLst>
              <p:tags r:id="rId5"/>
            </p:custDataLst>
          </p:nvPr>
        </p:nvGraphicFramePr>
        <p:xfrm>
          <a:off x="1040609" y="2271377"/>
          <a:ext cx="10106025" cy="3632170"/>
        </p:xfrm>
        <a:graphic>
          <a:graphicData uri="http://schemas.openxmlformats.org/drawingml/2006/table">
            <a:tbl>
              <a:tblPr firstRow="1" bandRow="1">
                <a:tableStyleId>{9D7B26C5-4107-4FEC-AEDC-1716B250A1EF}</a:tableStyleId>
              </a:tblPr>
              <a:tblGrid>
                <a:gridCol w="2892148">
                  <a:extLst>
                    <a:ext uri="{9D8B030D-6E8A-4147-A177-3AD203B41FA5}">
                      <a16:colId xmlns:a16="http://schemas.microsoft.com/office/drawing/2014/main" val="20000"/>
                    </a:ext>
                  </a:extLst>
                </a:gridCol>
                <a:gridCol w="1760033">
                  <a:extLst>
                    <a:ext uri="{9D8B030D-6E8A-4147-A177-3AD203B41FA5}">
                      <a16:colId xmlns:a16="http://schemas.microsoft.com/office/drawing/2014/main" val="20001"/>
                    </a:ext>
                  </a:extLst>
                </a:gridCol>
                <a:gridCol w="2278790">
                  <a:extLst>
                    <a:ext uri="{9D8B030D-6E8A-4147-A177-3AD203B41FA5}">
                      <a16:colId xmlns:a16="http://schemas.microsoft.com/office/drawing/2014/main" val="1225929688"/>
                    </a:ext>
                  </a:extLst>
                </a:gridCol>
                <a:gridCol w="3175054">
                  <a:extLst>
                    <a:ext uri="{9D8B030D-6E8A-4147-A177-3AD203B41FA5}">
                      <a16:colId xmlns:a16="http://schemas.microsoft.com/office/drawing/2014/main" val="2790434245"/>
                    </a:ext>
                  </a:extLst>
                </a:gridCol>
              </a:tblGrid>
              <a:tr h="2043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rPr>
                        <a:t>En $</a:t>
                      </a:r>
                      <a:endParaRPr kumimoji="0" lang="fr-CA" sz="2000" b="0" i="0" u="none" strike="noStrike" cap="none" normalizeH="0" baseline="0" dirty="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rPr>
                        <a:t>Continue</a:t>
                      </a:r>
                      <a:endParaRPr kumimoji="0" lang="fr-CA" sz="2200" b="0" i="0" u="none" strike="noStrike" cap="none" normalizeH="0" baseline="0" dirty="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rPr>
                        <a:t>Abandonne</a:t>
                      </a:r>
                      <a:endParaRPr kumimoji="0" lang="fr-CA" sz="2200" b="0" i="0" u="none" strike="noStrike" cap="none" normalizeH="0" baseline="0" dirty="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CA" sz="2000" b="0" dirty="0"/>
                        <a:t>Analyse différentielle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CA" sz="2000" b="0" i="0" u="none" strike="noStrike" cap="none" normalizeH="0" baseline="0" dirty="0">
                          <a:ln>
                            <a:noFill/>
                          </a:ln>
                          <a:solidFill>
                            <a:schemeClr val="tx1"/>
                          </a:solidFill>
                          <a:effectLst/>
                          <a:latin typeface="Tw Cen MT" pitchFamily="34" charset="0"/>
                        </a:rPr>
                        <a:t>Augmentation ou diminution du résultat d’exploitation</a:t>
                      </a:r>
                    </a:p>
                  </a:txBody>
                  <a:tcPr marL="65466" marR="65466" anchor="ctr" horzOverflow="overflow"/>
                </a:tc>
                <a:extLst>
                  <a:ext uri="{0D108BD9-81ED-4DB2-BD59-A6C34878D82A}">
                    <a16:rowId xmlns:a16="http://schemas.microsoft.com/office/drawing/2014/main" val="10000"/>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latin typeface="+mn-lt"/>
                        </a:rPr>
                        <a:t>Ventes</a:t>
                      </a:r>
                      <a:endParaRPr kumimoji="0" lang="fr-CA" sz="22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a:ln>
                            <a:noFill/>
                          </a:ln>
                          <a:effectLst/>
                          <a:latin typeface="+mn-lt"/>
                        </a:rPr>
                        <a:t>32 000 $</a:t>
                      </a:r>
                      <a:endParaRPr kumimoji="0" lang="fr-CA" sz="2200" b="0" i="0" u="none" strike="noStrike" cap="none" normalizeH="0" baseline="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1" u="none" strike="noStrike" cap="none" normalizeH="0" baseline="0" dirty="0">
                          <a:ln>
                            <a:noFill/>
                          </a:ln>
                          <a:effectLst/>
                          <a:latin typeface="+mn-lt"/>
                        </a:rPr>
                        <a:t>0 $</a:t>
                      </a:r>
                      <a:endParaRPr kumimoji="0" lang="fr-CA" sz="2200" b="1"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1" i="0" u="none" strike="noStrike" cap="none" normalizeH="0" baseline="0" dirty="0">
                          <a:ln>
                            <a:noFill/>
                          </a:ln>
                          <a:solidFill>
                            <a:schemeClr val="tx1"/>
                          </a:solidFill>
                          <a:effectLst/>
                          <a:latin typeface="+mn-lt"/>
                        </a:rPr>
                        <a:t>(32 000)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1"/>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latin typeface="+mn-lt"/>
                        </a:rPr>
                        <a:t>- Coûts variables</a:t>
                      </a:r>
                      <a:endParaRPr kumimoji="0" lang="fr-CA" sz="2200" b="0"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latin typeface="+mn-lt"/>
                        </a:rPr>
                        <a:t>24 000 $</a:t>
                      </a:r>
                      <a:endParaRPr kumimoji="0" lang="fr-CA" sz="2200" b="0"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1" i="0" u="none" strike="noStrike" cap="none" normalizeH="0" baseline="0" dirty="0">
                          <a:ln>
                            <a:noFill/>
                          </a:ln>
                          <a:solidFill>
                            <a:schemeClr val="tx1"/>
                          </a:solidFill>
                          <a:effectLst/>
                          <a:latin typeface="+mn-lt"/>
                        </a:rPr>
                        <a:t>0 $</a:t>
                      </a: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1" i="0" u="none" strike="noStrike" cap="none" normalizeH="0" baseline="0" dirty="0">
                          <a:ln>
                            <a:noFill/>
                          </a:ln>
                          <a:solidFill>
                            <a:schemeClr val="tx1"/>
                          </a:solidFill>
                          <a:effectLst/>
                          <a:latin typeface="+mn-lt"/>
                        </a:rPr>
                        <a:t>24 000  $</a:t>
                      </a:r>
                    </a:p>
                  </a:txBody>
                  <a:tcPr marL="65466" marR="65466" anchor="ctr" horzOverflow="overflow"/>
                </a:tc>
                <a:extLst>
                  <a:ext uri="{0D108BD9-81ED-4DB2-BD59-A6C34878D82A}">
                    <a16:rowId xmlns:a16="http://schemas.microsoft.com/office/drawing/2014/main" val="10002"/>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latin typeface="+mn-lt"/>
                        </a:rPr>
                        <a:t>- Coûts fixes spécifiques</a:t>
                      </a:r>
                      <a:endParaRPr kumimoji="0" lang="fr-CA" sz="22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latin typeface="+mn-lt"/>
                        </a:rPr>
                        <a:t>3 900 $</a:t>
                      </a:r>
                      <a:endParaRPr kumimoji="0" lang="fr-CA" sz="22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1" i="0" u="none" strike="noStrike" cap="none" normalizeH="0" baseline="0" dirty="0">
                          <a:ln>
                            <a:noFill/>
                          </a:ln>
                          <a:solidFill>
                            <a:schemeClr val="tx1"/>
                          </a:solidFill>
                          <a:effectLst/>
                          <a:latin typeface="+mn-lt"/>
                        </a:rPr>
                        <a:t>0 $</a:t>
                      </a: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1" i="0" u="none" strike="noStrike" cap="none" normalizeH="0" baseline="0" dirty="0">
                          <a:ln>
                            <a:noFill/>
                          </a:ln>
                          <a:solidFill>
                            <a:schemeClr val="tx1"/>
                          </a:solidFill>
                          <a:effectLst/>
                          <a:latin typeface="+mn-lt"/>
                        </a:rPr>
                        <a:t>3 900 $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3"/>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latin typeface="+mn-lt"/>
                        </a:rPr>
                        <a:t>- Coûts fixes communs</a:t>
                      </a:r>
                      <a:endParaRPr kumimoji="0" lang="fr-CA" sz="22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u="sng" strike="noStrike" cap="none" normalizeH="0" baseline="0" dirty="0">
                          <a:ln>
                            <a:noFill/>
                          </a:ln>
                          <a:effectLst/>
                          <a:latin typeface="+mn-lt"/>
                        </a:rPr>
                        <a:t>8 100 $</a:t>
                      </a:r>
                      <a:endParaRPr kumimoji="0" lang="fr-CA" sz="2200" b="0" i="0" u="sng"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1" i="0" u="sng" strike="noStrike" cap="none" normalizeH="0" baseline="0" dirty="0">
                          <a:ln>
                            <a:noFill/>
                          </a:ln>
                          <a:solidFill>
                            <a:schemeClr val="tx1"/>
                          </a:solidFill>
                          <a:effectLst/>
                          <a:latin typeface="+mn-lt"/>
                        </a:rPr>
                        <a:t>8 100 $</a:t>
                      </a: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1" i="0" u="none" strike="noStrike" cap="none" normalizeH="0" baseline="0" dirty="0">
                          <a:ln>
                            <a:noFill/>
                          </a:ln>
                          <a:solidFill>
                            <a:schemeClr val="tx1"/>
                          </a:solidFill>
                          <a:effectLst/>
                          <a:latin typeface="+mn-lt"/>
                        </a:rPr>
                        <a:t>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2289185362"/>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200" b="0" u="none" strike="noStrike" cap="none" normalizeH="0" baseline="0">
                          <a:ln>
                            <a:noFill/>
                          </a:ln>
                          <a:effectLst/>
                          <a:latin typeface="+mn-lt"/>
                        </a:rPr>
                        <a:t>Résultat d’exploitation </a:t>
                      </a:r>
                      <a:endParaRPr kumimoji="0" lang="fr-CA" sz="2200" b="0" i="0" u="none" strike="noStrike" cap="none" normalizeH="0" baseline="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a:ln>
                            <a:noFill/>
                          </a:ln>
                          <a:effectLst/>
                          <a:latin typeface="+mn-lt"/>
                        </a:rPr>
                        <a:t>(4 000 $)</a:t>
                      </a:r>
                      <a:endParaRPr kumimoji="0" lang="fr-CA" sz="2200" b="0" i="0" u="none" strike="noStrike" cap="none" normalizeH="0" baseline="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1" u="none" strike="noStrike" cap="none" normalizeH="0" baseline="0" dirty="0">
                          <a:ln>
                            <a:noFill/>
                          </a:ln>
                          <a:effectLst/>
                          <a:latin typeface="+mn-lt"/>
                        </a:rPr>
                        <a:t>(8 100) $</a:t>
                      </a:r>
                      <a:endParaRPr kumimoji="0" lang="fr-CA" sz="2200" b="1"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1" i="0" u="none" strike="noStrike" cap="none" normalizeH="0" baseline="0" dirty="0">
                          <a:ln>
                            <a:noFill/>
                          </a:ln>
                          <a:solidFill>
                            <a:schemeClr val="tx1"/>
                          </a:solidFill>
                          <a:effectLst/>
                          <a:latin typeface="+mn-lt"/>
                        </a:rPr>
                        <a:t>(4 100) $</a:t>
                      </a:r>
                    </a:p>
                  </a:txBody>
                  <a:tcPr marL="65466" marR="65466" anchor="ctr"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32029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4A1DB-68A8-D1D6-4BE5-D6B6D873D6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B294935-BC42-1985-036A-33A7B92F5414}"/>
              </a:ext>
            </a:extLst>
          </p:cNvPr>
          <p:cNvSpPr>
            <a:spLocks noGrp="1"/>
          </p:cNvSpPr>
          <p:nvPr>
            <p:ph type="title"/>
            <p:custDataLst>
              <p:tags r:id="rId1"/>
            </p:custDataLst>
          </p:nvPr>
        </p:nvSpPr>
        <p:spPr>
          <a:xfrm>
            <a:off x="838200" y="180301"/>
            <a:ext cx="10780183" cy="1031881"/>
          </a:xfrm>
        </p:spPr>
        <p:txBody>
          <a:bodyPr>
            <a:noAutofit/>
          </a:bodyPr>
          <a:lstStyle/>
          <a:p>
            <a:r>
              <a:rPr lang="fr-CA" sz="4000" dirty="0"/>
              <a:t>Continuer (ajouter) ou abandonner un produit</a:t>
            </a:r>
            <a:br>
              <a:rPr lang="fr-CA" sz="4000" dirty="0"/>
            </a:br>
            <a:r>
              <a:rPr lang="fr-CA" sz="4000" b="1" dirty="0"/>
              <a:t>Analyse de rentabilité (les marges)</a:t>
            </a:r>
          </a:p>
        </p:txBody>
      </p:sp>
      <p:sp>
        <p:nvSpPr>
          <p:cNvPr id="4" name="Espace réservé du pied de page 3">
            <a:extLst>
              <a:ext uri="{FF2B5EF4-FFF2-40B4-BE49-F238E27FC236}">
                <a16:creationId xmlns:a16="http://schemas.microsoft.com/office/drawing/2014/main" id="{0941CDEA-1178-F4C3-4B6A-EE8E69F3DADA}"/>
              </a:ext>
            </a:extLst>
          </p:cNvPr>
          <p:cNvSpPr>
            <a:spLocks noGrp="1"/>
          </p:cNvSpPr>
          <p:nvPr>
            <p:ph type="ftr" sz="quarter" idx="11"/>
            <p:custDataLst>
              <p:tags r:id="rId2"/>
            </p:custDataLst>
          </p:nvPr>
        </p:nvSpPr>
        <p:spPr>
          <a:xfrm>
            <a:off x="1780542" y="6483227"/>
            <a:ext cx="2504492" cy="303343"/>
          </a:xfrm>
        </p:spPr>
        <p:txBody>
          <a:bodyPr/>
          <a:lstStyle/>
          <a:p>
            <a:pPr algn="ctr"/>
            <a:r>
              <a:rPr lang="pt-BR" dirty="0">
                <a:solidFill>
                  <a:prstClr val="black">
                    <a:tint val="75000"/>
                  </a:prstClr>
                </a:solidFill>
              </a:rPr>
              <a:t>(c) 10904 / S04 </a:t>
            </a:r>
            <a:endParaRPr lang="fr-CA" dirty="0">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A1C13BDB-BDA1-2AD2-DC5E-EB5D31A7944C}"/>
              </a:ext>
            </a:extLst>
          </p:cNvPr>
          <p:cNvSpPr>
            <a:spLocks noGrp="1"/>
          </p:cNvSpPr>
          <p:nvPr>
            <p:ph type="sldNum" sz="quarter" idx="12"/>
            <p:custDataLst>
              <p:tags r:id="rId3"/>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25</a:t>
            </a:fld>
            <a:endParaRPr lang="fr-CA">
              <a:solidFill>
                <a:prstClr val="black">
                  <a:tint val="75000"/>
                </a:prstClr>
              </a:solidFill>
            </a:endParaRPr>
          </a:p>
        </p:txBody>
      </p:sp>
      <p:graphicFrame>
        <p:nvGraphicFramePr>
          <p:cNvPr id="6" name="Espace réservé du contenu 6">
            <a:extLst>
              <a:ext uri="{FF2B5EF4-FFF2-40B4-BE49-F238E27FC236}">
                <a16:creationId xmlns:a16="http://schemas.microsoft.com/office/drawing/2014/main" id="{2FC3720E-B210-CAB5-CC0E-72ADF173556A}"/>
              </a:ext>
            </a:extLst>
          </p:cNvPr>
          <p:cNvGraphicFramePr>
            <a:graphicFrameLocks/>
          </p:cNvGraphicFramePr>
          <p:nvPr>
            <p:custDataLst>
              <p:tags r:id="rId4"/>
            </p:custDataLst>
            <p:extLst>
              <p:ext uri="{D42A27DB-BD31-4B8C-83A1-F6EECF244321}">
                <p14:modId xmlns:p14="http://schemas.microsoft.com/office/powerpoint/2010/main" val="1817263792"/>
              </p:ext>
            </p:extLst>
          </p:nvPr>
        </p:nvGraphicFramePr>
        <p:xfrm>
          <a:off x="573617" y="1524403"/>
          <a:ext cx="6214136" cy="4296928"/>
        </p:xfrm>
        <a:graphic>
          <a:graphicData uri="http://schemas.openxmlformats.org/drawingml/2006/table">
            <a:tbl>
              <a:tblPr firstRow="1" bandRow="1">
                <a:tableStyleId>{9D7B26C5-4107-4FEC-AEDC-1716B250A1EF}</a:tableStyleId>
              </a:tblPr>
              <a:tblGrid>
                <a:gridCol w="2052984">
                  <a:extLst>
                    <a:ext uri="{9D8B030D-6E8A-4147-A177-3AD203B41FA5}">
                      <a16:colId xmlns:a16="http://schemas.microsoft.com/office/drawing/2014/main" val="20000"/>
                    </a:ext>
                  </a:extLst>
                </a:gridCol>
                <a:gridCol w="1369713">
                  <a:extLst>
                    <a:ext uri="{9D8B030D-6E8A-4147-A177-3AD203B41FA5}">
                      <a16:colId xmlns:a16="http://schemas.microsoft.com/office/drawing/2014/main" val="20001"/>
                    </a:ext>
                  </a:extLst>
                </a:gridCol>
                <a:gridCol w="1283021">
                  <a:extLst>
                    <a:ext uri="{9D8B030D-6E8A-4147-A177-3AD203B41FA5}">
                      <a16:colId xmlns:a16="http://schemas.microsoft.com/office/drawing/2014/main" val="1225929688"/>
                    </a:ext>
                  </a:extLst>
                </a:gridCol>
                <a:gridCol w="1508418">
                  <a:extLst>
                    <a:ext uri="{9D8B030D-6E8A-4147-A177-3AD203B41FA5}">
                      <a16:colId xmlns:a16="http://schemas.microsoft.com/office/drawing/2014/main" val="2790434245"/>
                    </a:ext>
                  </a:extLst>
                </a:gridCol>
              </a:tblGrid>
              <a:tr h="7814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rPr>
                        <a:t>En $</a:t>
                      </a:r>
                      <a:endParaRPr kumimoji="0" lang="fr-CA" sz="2000" b="0" i="0" u="none" strike="noStrike" cap="none" normalizeH="0" baseline="0" dirty="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rPr>
                        <a:t>Continue</a:t>
                      </a:r>
                      <a:endParaRPr kumimoji="0" lang="fr-CA" sz="2000" b="0" i="0" u="none" strike="noStrike" cap="none" normalizeH="0" baseline="0" dirty="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rPr>
                        <a:t>Abandon</a:t>
                      </a:r>
                      <a:endParaRPr kumimoji="0" lang="fr-CA" sz="2000" b="0" i="0" u="none" strike="noStrike" cap="none" normalizeH="0" baseline="0" dirty="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CA" sz="2000" b="0" dirty="0"/>
                        <a:t>Analyse différentielle</a:t>
                      </a:r>
                    </a:p>
                  </a:txBody>
                  <a:tcPr marL="65466" marR="65466" anchor="ctr" horzOverflow="overflow"/>
                </a:tc>
                <a:extLst>
                  <a:ext uri="{0D108BD9-81ED-4DB2-BD59-A6C34878D82A}">
                    <a16:rowId xmlns:a16="http://schemas.microsoft.com/office/drawing/2014/main" val="10000"/>
                  </a:ext>
                </a:extLst>
              </a:tr>
              <a:tr h="5855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Ventes</a:t>
                      </a:r>
                      <a:endParaRPr kumimoji="0" lang="fr-CA" sz="20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32 000 $</a:t>
                      </a:r>
                      <a:endParaRPr kumimoji="0" lang="fr-CA" sz="20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u="none" strike="noStrike" cap="none" normalizeH="0" baseline="0" dirty="0">
                          <a:ln>
                            <a:noFill/>
                          </a:ln>
                          <a:effectLst/>
                          <a:latin typeface="+mn-lt"/>
                        </a:rPr>
                        <a:t>0 $</a:t>
                      </a:r>
                      <a:endParaRPr kumimoji="0" lang="fr-CA" sz="2000" b="1"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(32 000)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1"/>
                  </a:ext>
                </a:extLst>
              </a:tr>
              <a:tr h="5855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 Coûts variables</a:t>
                      </a:r>
                      <a:endParaRPr kumimoji="0" lang="fr-CA" sz="2000" b="0"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24 000 $</a:t>
                      </a:r>
                      <a:endParaRPr kumimoji="0" lang="fr-CA" sz="2000" b="0"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0 $</a:t>
                      </a: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24 000  $</a:t>
                      </a:r>
                    </a:p>
                  </a:txBody>
                  <a:tcPr marL="65466" marR="65466" anchor="ctr" horzOverflow="overflow"/>
                </a:tc>
                <a:extLst>
                  <a:ext uri="{0D108BD9-81ED-4DB2-BD59-A6C34878D82A}">
                    <a16:rowId xmlns:a16="http://schemas.microsoft.com/office/drawing/2014/main" val="10002"/>
                  </a:ext>
                </a:extLst>
              </a:tr>
              <a:tr h="7814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 Coûts fixes spécifiques</a:t>
                      </a:r>
                      <a:endParaRPr kumimoji="0" lang="fr-CA" sz="20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3 900 $</a:t>
                      </a:r>
                      <a:endParaRPr kumimoji="0" lang="fr-CA" sz="20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0 $</a:t>
                      </a: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3 900 $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3"/>
                  </a:ext>
                </a:extLst>
              </a:tr>
              <a:tr h="7814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 Coûts fixes communs</a:t>
                      </a:r>
                      <a:endParaRPr kumimoji="0" lang="fr-CA" sz="20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u="sng" strike="noStrike" cap="none" normalizeH="0" baseline="0" dirty="0">
                          <a:ln>
                            <a:noFill/>
                          </a:ln>
                          <a:effectLst/>
                          <a:latin typeface="+mn-lt"/>
                        </a:rPr>
                        <a:t>8 100 $</a:t>
                      </a:r>
                      <a:endParaRPr kumimoji="0" lang="fr-CA" sz="2000" b="0" i="0" u="sng"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sng" strike="noStrike" cap="none" normalizeH="0" baseline="0" dirty="0">
                          <a:ln>
                            <a:noFill/>
                          </a:ln>
                          <a:solidFill>
                            <a:schemeClr val="tx1"/>
                          </a:solidFill>
                          <a:effectLst/>
                          <a:latin typeface="+mn-lt"/>
                        </a:rPr>
                        <a:t>8 100 $</a:t>
                      </a: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2289185362"/>
                  </a:ext>
                </a:extLst>
              </a:tr>
              <a:tr h="7814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b="0" u="none" strike="noStrike" cap="none" normalizeH="0" baseline="0">
                          <a:ln>
                            <a:noFill/>
                          </a:ln>
                          <a:effectLst/>
                          <a:latin typeface="+mn-lt"/>
                        </a:rPr>
                        <a:t>Résultat d’exploitation </a:t>
                      </a:r>
                      <a:endParaRPr kumimoji="0" lang="fr-CA" sz="2000" b="0" i="0" u="none" strike="noStrike" cap="none" normalizeH="0" baseline="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a:ln>
                            <a:noFill/>
                          </a:ln>
                          <a:effectLst/>
                          <a:latin typeface="+mn-lt"/>
                        </a:rPr>
                        <a:t>(4 000 $)</a:t>
                      </a:r>
                      <a:endParaRPr kumimoji="0" lang="fr-CA" sz="2000" b="0" i="0" u="none" strike="noStrike" cap="none" normalizeH="0" baseline="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u="none" strike="noStrike" cap="none" normalizeH="0" baseline="0" dirty="0">
                          <a:ln>
                            <a:noFill/>
                          </a:ln>
                          <a:effectLst/>
                          <a:latin typeface="+mn-lt"/>
                        </a:rPr>
                        <a:t>(8 100) $</a:t>
                      </a:r>
                      <a:endParaRPr kumimoji="0" lang="fr-CA" sz="2000" b="1"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(4 100) $</a:t>
                      </a:r>
                    </a:p>
                  </a:txBody>
                  <a:tcPr marL="65466" marR="65466" anchor="ctr" horzOverflow="overflow"/>
                </a:tc>
                <a:extLst>
                  <a:ext uri="{0D108BD9-81ED-4DB2-BD59-A6C34878D82A}">
                    <a16:rowId xmlns:a16="http://schemas.microsoft.com/office/drawing/2014/main" val="10004"/>
                  </a:ext>
                </a:extLst>
              </a:tr>
            </a:tbl>
          </a:graphicData>
        </a:graphic>
      </p:graphicFrame>
      <p:graphicFrame>
        <p:nvGraphicFramePr>
          <p:cNvPr id="7" name="Espace réservé du contenu 6">
            <a:extLst>
              <a:ext uri="{FF2B5EF4-FFF2-40B4-BE49-F238E27FC236}">
                <a16:creationId xmlns:a16="http://schemas.microsoft.com/office/drawing/2014/main" id="{4F61EDC1-C82B-E0E0-CF5A-79D2FBAB8C0B}"/>
              </a:ext>
            </a:extLst>
          </p:cNvPr>
          <p:cNvGraphicFramePr>
            <a:graphicFrameLocks/>
          </p:cNvGraphicFramePr>
          <p:nvPr>
            <p:custDataLst>
              <p:tags r:id="rId5"/>
            </p:custDataLst>
          </p:nvPr>
        </p:nvGraphicFramePr>
        <p:xfrm>
          <a:off x="6960641" y="1524403"/>
          <a:ext cx="4657742" cy="4516518"/>
        </p:xfrm>
        <a:graphic>
          <a:graphicData uri="http://schemas.openxmlformats.org/drawingml/2006/table">
            <a:tbl>
              <a:tblPr firstRow="1" bandRow="1">
                <a:tableStyleId>{9D7B26C5-4107-4FEC-AEDC-1716B250A1EF}</a:tableStyleId>
              </a:tblPr>
              <a:tblGrid>
                <a:gridCol w="3075708">
                  <a:extLst>
                    <a:ext uri="{9D8B030D-6E8A-4147-A177-3AD203B41FA5}">
                      <a16:colId xmlns:a16="http://schemas.microsoft.com/office/drawing/2014/main" val="20000"/>
                    </a:ext>
                  </a:extLst>
                </a:gridCol>
                <a:gridCol w="1582034">
                  <a:extLst>
                    <a:ext uri="{9D8B030D-6E8A-4147-A177-3AD203B41FA5}">
                      <a16:colId xmlns:a16="http://schemas.microsoft.com/office/drawing/2014/main" val="2790434245"/>
                    </a:ext>
                  </a:extLst>
                </a:gridCol>
              </a:tblGrid>
              <a:tr h="67561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rPr>
                        <a:t>En $</a:t>
                      </a:r>
                      <a:endParaRPr kumimoji="0" lang="fr-CA" sz="2000" b="0" i="0" u="none" strike="noStrike" cap="none" normalizeH="0" baseline="0" dirty="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CA" sz="2000" b="0" dirty="0"/>
                        <a:t>Analyse Rentabilité</a:t>
                      </a:r>
                    </a:p>
                  </a:txBody>
                  <a:tcPr marL="65466" marR="65466" anchor="ctr" horzOverflow="overflow"/>
                </a:tc>
                <a:extLst>
                  <a:ext uri="{0D108BD9-81ED-4DB2-BD59-A6C34878D82A}">
                    <a16:rowId xmlns:a16="http://schemas.microsoft.com/office/drawing/2014/main" val="10000"/>
                  </a:ext>
                </a:extLst>
              </a:tr>
              <a:tr h="5062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Ventes</a:t>
                      </a:r>
                      <a:endParaRPr kumimoji="0" lang="fr-CA" sz="20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0" i="0" u="none" strike="noStrike" cap="none" normalizeH="0" baseline="0" dirty="0">
                          <a:ln>
                            <a:noFill/>
                          </a:ln>
                          <a:solidFill>
                            <a:schemeClr val="tx1"/>
                          </a:solidFill>
                          <a:effectLst/>
                          <a:latin typeface="+mn-lt"/>
                        </a:rPr>
                        <a:t>32 000 $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1"/>
                  </a:ext>
                </a:extLst>
              </a:tr>
              <a:tr h="5062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 Coûts variables</a:t>
                      </a:r>
                      <a:endParaRPr kumimoji="0" lang="fr-CA" sz="2000" b="0"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0" i="0" u="sng" strike="noStrike" cap="none" normalizeH="0" baseline="0" dirty="0">
                          <a:ln>
                            <a:noFill/>
                          </a:ln>
                          <a:solidFill>
                            <a:schemeClr val="tx1"/>
                          </a:solidFill>
                          <a:effectLst/>
                          <a:latin typeface="+mn-lt"/>
                        </a:rPr>
                        <a:t>24 000 $</a:t>
                      </a:r>
                    </a:p>
                  </a:txBody>
                  <a:tcPr marL="65466" marR="65466" anchor="ctr" horzOverflow="overflow"/>
                </a:tc>
                <a:extLst>
                  <a:ext uri="{0D108BD9-81ED-4DB2-BD59-A6C34878D82A}">
                    <a16:rowId xmlns:a16="http://schemas.microsoft.com/office/drawing/2014/main" val="10002"/>
                  </a:ext>
                </a:extLst>
              </a:tr>
              <a:tr h="67561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chemeClr val="accent6">
                              <a:lumMod val="75000"/>
                            </a:schemeClr>
                          </a:solidFill>
                          <a:effectLst/>
                          <a:latin typeface="+mn-lt"/>
                        </a:rPr>
                        <a:t>Marge sur coûts variables (MCV) </a:t>
                      </a: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8 000 $</a:t>
                      </a:r>
                    </a:p>
                  </a:txBody>
                  <a:tcPr marL="65466" marR="65466" anchor="ctr" horzOverflow="overflow"/>
                </a:tc>
                <a:extLst>
                  <a:ext uri="{0D108BD9-81ED-4DB2-BD59-A6C34878D82A}">
                    <a16:rowId xmlns:a16="http://schemas.microsoft.com/office/drawing/2014/main" val="3446902836"/>
                  </a:ext>
                </a:extLst>
              </a:tr>
              <a:tr h="5062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 Coûts fixes spécifiques</a:t>
                      </a:r>
                      <a:endParaRPr kumimoji="0" lang="fr-CA" sz="20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0" i="0" u="none" strike="noStrike" cap="none" normalizeH="0" baseline="0" dirty="0">
                          <a:ln>
                            <a:noFill/>
                          </a:ln>
                          <a:solidFill>
                            <a:schemeClr val="tx1"/>
                          </a:solidFill>
                          <a:effectLst/>
                          <a:latin typeface="+mn-lt"/>
                        </a:rPr>
                        <a:t>3 900 $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3"/>
                  </a:ext>
                </a:extLst>
              </a:tr>
              <a:tr h="6087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0070C0"/>
                          </a:solidFill>
                          <a:effectLst/>
                          <a:latin typeface="+mn-lt"/>
                        </a:rPr>
                        <a:t>Marge sur coûts spécifiques</a:t>
                      </a: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sng" strike="noStrike" cap="none" normalizeH="0" baseline="0" dirty="0">
                          <a:ln>
                            <a:noFill/>
                          </a:ln>
                          <a:solidFill>
                            <a:schemeClr val="tx1"/>
                          </a:solidFill>
                          <a:effectLst/>
                          <a:latin typeface="+mn-lt"/>
                        </a:rPr>
                        <a:t>4 100 $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3542868080"/>
                  </a:ext>
                </a:extLst>
              </a:tr>
              <a:tr h="5062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latin typeface="+mn-lt"/>
                        </a:rPr>
                        <a:t>- Coûts fixes communs</a:t>
                      </a:r>
                      <a:endParaRPr kumimoji="0" lang="fr-CA" sz="20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0" i="0" u="none" strike="noStrike" cap="none" normalizeH="0" baseline="0" dirty="0">
                          <a:ln>
                            <a:noFill/>
                          </a:ln>
                          <a:solidFill>
                            <a:schemeClr val="tx1"/>
                          </a:solidFill>
                          <a:effectLst/>
                          <a:latin typeface="+mn-lt"/>
                        </a:rPr>
                        <a:t>8 100 $</a:t>
                      </a:r>
                    </a:p>
                  </a:txBody>
                  <a:tcPr marL="65466" marR="65466" anchor="ctr" horzOverflow="overflow">
                    <a:solidFill>
                      <a:schemeClr val="bg1">
                        <a:lumMod val="85000"/>
                        <a:alpha val="20000"/>
                      </a:schemeClr>
                    </a:solidFill>
                  </a:tcPr>
                </a:tc>
                <a:extLst>
                  <a:ext uri="{0D108BD9-81ED-4DB2-BD59-A6C34878D82A}">
                    <a16:rowId xmlns:a16="http://schemas.microsoft.com/office/drawing/2014/main" val="2289185362"/>
                  </a:ext>
                </a:extLst>
              </a:tr>
              <a:tr h="5062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b="1" u="none" strike="noStrike" cap="none" normalizeH="0" baseline="0" dirty="0">
                          <a:ln>
                            <a:noFill/>
                          </a:ln>
                          <a:effectLst/>
                          <a:latin typeface="+mn-lt"/>
                        </a:rPr>
                        <a:t>Résultat d’exploitation </a:t>
                      </a:r>
                      <a:endParaRPr kumimoji="0" lang="fr-CA" sz="2000" b="1"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chemeClr val="tx1"/>
                          </a:solidFill>
                          <a:effectLst/>
                          <a:latin typeface="+mn-lt"/>
                        </a:rPr>
                        <a:t>(4 000) $</a:t>
                      </a:r>
                    </a:p>
                  </a:txBody>
                  <a:tcPr marL="65466" marR="65466" anchor="ctr" horzOverflow="overflow"/>
                </a:tc>
                <a:extLst>
                  <a:ext uri="{0D108BD9-81ED-4DB2-BD59-A6C34878D82A}">
                    <a16:rowId xmlns:a16="http://schemas.microsoft.com/office/drawing/2014/main" val="10004"/>
                  </a:ext>
                </a:extLst>
              </a:tr>
            </a:tbl>
          </a:graphicData>
        </a:graphic>
      </p:graphicFrame>
      <p:sp>
        <p:nvSpPr>
          <p:cNvPr id="10" name="ZoneTexte 9">
            <a:extLst>
              <a:ext uri="{FF2B5EF4-FFF2-40B4-BE49-F238E27FC236}">
                <a16:creationId xmlns:a16="http://schemas.microsoft.com/office/drawing/2014/main" id="{82E80EFD-AA89-0306-4F3D-4ABEB37290D5}"/>
              </a:ext>
            </a:extLst>
          </p:cNvPr>
          <p:cNvSpPr txBox="1"/>
          <p:nvPr>
            <p:custDataLst>
              <p:tags r:id="rId6"/>
            </p:custDataLst>
          </p:nvPr>
        </p:nvSpPr>
        <p:spPr>
          <a:xfrm>
            <a:off x="6501587" y="6160062"/>
            <a:ext cx="4802300" cy="646331"/>
          </a:xfrm>
          <a:prstGeom prst="rect">
            <a:avLst/>
          </a:prstGeom>
          <a:noFill/>
        </p:spPr>
        <p:txBody>
          <a:bodyPr wrap="square" rtlCol="0">
            <a:spAutoFit/>
          </a:bodyPr>
          <a:lstStyle/>
          <a:p>
            <a:pPr algn="ctr"/>
            <a:r>
              <a:rPr lang="fr-CA" b="1" dirty="0"/>
              <a:t>Continue</a:t>
            </a:r>
            <a:r>
              <a:rPr lang="fr-CA" dirty="0"/>
              <a:t>  car le produit X contribue à payer les coûts fixes communs</a:t>
            </a:r>
          </a:p>
        </p:txBody>
      </p:sp>
      <p:sp>
        <p:nvSpPr>
          <p:cNvPr id="3" name="ZoneTexte 2">
            <a:extLst>
              <a:ext uri="{FF2B5EF4-FFF2-40B4-BE49-F238E27FC236}">
                <a16:creationId xmlns:a16="http://schemas.microsoft.com/office/drawing/2014/main" id="{EA84C355-B900-5C51-EAE7-6E44B58E5BD7}"/>
              </a:ext>
            </a:extLst>
          </p:cNvPr>
          <p:cNvSpPr txBox="1"/>
          <p:nvPr>
            <p:custDataLst>
              <p:tags r:id="rId7"/>
            </p:custDataLst>
          </p:nvPr>
        </p:nvSpPr>
        <p:spPr>
          <a:xfrm>
            <a:off x="400729" y="5821800"/>
            <a:ext cx="6214135" cy="646331"/>
          </a:xfrm>
          <a:prstGeom prst="rect">
            <a:avLst/>
          </a:prstGeom>
          <a:noFill/>
        </p:spPr>
        <p:txBody>
          <a:bodyPr wrap="square" rtlCol="0">
            <a:spAutoFit/>
          </a:bodyPr>
          <a:lstStyle/>
          <a:p>
            <a:pPr algn="ctr"/>
            <a:r>
              <a:rPr lang="fr-CA" b="1" dirty="0"/>
              <a:t>Continue…</a:t>
            </a:r>
            <a:r>
              <a:rPr lang="fr-CA" dirty="0"/>
              <a:t>  car si on abandonne, le résultat d’exploitation diminuera de 4 100 $.</a:t>
            </a:r>
          </a:p>
        </p:txBody>
      </p:sp>
    </p:spTree>
    <p:extLst>
      <p:ext uri="{BB962C8B-B14F-4D97-AF65-F5344CB8AC3E}">
        <p14:creationId xmlns:p14="http://schemas.microsoft.com/office/powerpoint/2010/main" val="382183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custDataLst>
              <p:tags r:id="rId2"/>
            </p:custDataLst>
          </p:nvPr>
        </p:nvSpPr>
        <p:spPr>
          <a:xfrm>
            <a:off x="723899" y="160589"/>
            <a:ext cx="10829925" cy="1042570"/>
          </a:xfrm>
        </p:spPr>
        <p:txBody>
          <a:bodyPr>
            <a:noAutofit/>
          </a:bodyPr>
          <a:lstStyle/>
          <a:p>
            <a:r>
              <a:rPr lang="fr-CA" sz="4000"/>
              <a:t>Continuer (ajouter) ou abandonner un produit</a:t>
            </a:r>
            <a:endParaRPr lang="fr-CA" sz="4000">
              <a:highlight>
                <a:srgbClr val="FFFF00"/>
              </a:highlight>
            </a:endParaRPr>
          </a:p>
        </p:txBody>
      </p:sp>
      <p:sp>
        <p:nvSpPr>
          <p:cNvPr id="6" name="Espace réservé du contenu 5"/>
          <p:cNvSpPr>
            <a:spLocks noGrp="1"/>
          </p:cNvSpPr>
          <p:nvPr>
            <p:ph idx="1"/>
            <p:custDataLst>
              <p:tags r:id="rId3"/>
            </p:custDataLst>
          </p:nvPr>
        </p:nvSpPr>
        <p:spPr/>
        <p:txBody>
          <a:bodyPr vert="horz" lIns="91440" tIns="45720" rIns="91440" bIns="45720" rtlCol="0" anchor="t">
            <a:normAutofit/>
          </a:bodyPr>
          <a:lstStyle/>
          <a:p>
            <a:pPr marL="0" indent="0">
              <a:buNone/>
            </a:pPr>
            <a:r>
              <a:rPr lang="fr-CA" sz="3600"/>
              <a:t>À noter :</a:t>
            </a:r>
          </a:p>
          <a:p>
            <a:r>
              <a:rPr lang="fr-CA"/>
              <a:t>Évidemment, les </a:t>
            </a:r>
            <a:r>
              <a:rPr lang="fr-CA" b="1"/>
              <a:t>facteurs qualitatifs </a:t>
            </a:r>
            <a:r>
              <a:rPr lang="fr-CA"/>
              <a:t>doivent toujours être considérés pour prendre une décision éclairée</a:t>
            </a:r>
            <a:endParaRPr lang="fr-CA">
              <a:cs typeface="Calibri"/>
            </a:endParaRPr>
          </a:p>
          <a:p>
            <a:pPr lvl="1"/>
            <a:r>
              <a:rPr lang="fr-CA"/>
              <a:t>Quel sera l’effet sur les employés qui resteront à leur poste ?</a:t>
            </a:r>
            <a:endParaRPr lang="fr-CA">
              <a:cs typeface="Calibri"/>
            </a:endParaRPr>
          </a:p>
          <a:p>
            <a:pPr lvl="1"/>
            <a:r>
              <a:rPr lang="fr-CA"/>
              <a:t>Est-ce que le produit est lié aux ventes d’un autre produit ? </a:t>
            </a:r>
          </a:p>
          <a:p>
            <a:pPr lvl="1"/>
            <a:r>
              <a:rPr lang="fr-CA"/>
              <a:t>Pourrons-nous récupérer les ventes perdues par les autres produits offerts ?</a:t>
            </a:r>
          </a:p>
          <a:p>
            <a:pPr lvl="1"/>
            <a:r>
              <a:rPr lang="fr-CA">
                <a:cs typeface="Calibri"/>
              </a:rPr>
              <a:t>(…)</a:t>
            </a:r>
          </a:p>
          <a:p>
            <a:endParaRPr lang="fr-CA"/>
          </a:p>
        </p:txBody>
      </p:sp>
      <p:sp>
        <p:nvSpPr>
          <p:cNvPr id="54307" name="Rectangle 35"/>
          <p:cNvSpPr>
            <a:spLocks noChangeArrowheads="1"/>
          </p:cNvSpPr>
          <p:nvPr>
            <p:custDataLst>
              <p:tags r:id="rId4"/>
            </p:custDataLst>
          </p:nvPr>
        </p:nvSpPr>
        <p:spPr bwMode="auto">
          <a:xfrm>
            <a:off x="2711624" y="4005264"/>
            <a:ext cx="7704856" cy="2592089"/>
          </a:xfrm>
          <a:prstGeom prst="rect">
            <a:avLst/>
          </a:prstGeom>
          <a:noFill/>
          <a:ln w="9525">
            <a:noFill/>
            <a:miter lim="800000"/>
            <a:headEnd/>
            <a:tailEnd/>
          </a:ln>
          <a:effectLst/>
        </p:spPr>
        <p:txBody>
          <a:bodyPr/>
          <a:lstStyle/>
          <a:p>
            <a:pPr marL="319088" indent="-319088">
              <a:spcBef>
                <a:spcPts val="700"/>
              </a:spcBef>
              <a:buClr>
                <a:schemeClr val="accent2"/>
              </a:buClr>
              <a:buSzPct val="60000"/>
            </a:pPr>
            <a:endParaRPr lang="fr-CA" sz="1900">
              <a:latin typeface="Tw Cen MT" pitchFamily="34" charset="0"/>
            </a:endParaRPr>
          </a:p>
        </p:txBody>
      </p:sp>
      <p:sp>
        <p:nvSpPr>
          <p:cNvPr id="2" name="Espace réservé du pied de page 3">
            <a:extLst>
              <a:ext uri="{FF2B5EF4-FFF2-40B4-BE49-F238E27FC236}">
                <a16:creationId xmlns:a16="http://schemas.microsoft.com/office/drawing/2014/main" id="{984D139C-DD33-25DF-C810-E41F8A84BFCE}"/>
              </a:ext>
            </a:extLst>
          </p:cNvPr>
          <p:cNvSpPr>
            <a:spLocks noGrp="1"/>
          </p:cNvSpPr>
          <p:nvPr>
            <p:ph type="ftr" sz="quarter" idx="11"/>
            <p:custDataLst>
              <p:tags r:id="rId5"/>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space réservé du numéro de diapositive 4">
            <a:extLst>
              <a:ext uri="{FF2B5EF4-FFF2-40B4-BE49-F238E27FC236}">
                <a16:creationId xmlns:a16="http://schemas.microsoft.com/office/drawing/2014/main" id="{188C5C40-88DE-5076-7B5F-E526D9A9FDAE}"/>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26</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3556304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p:cNvGrpSpPr/>
        <p:nvPr/>
      </p:nvGrpSpPr>
      <p:grpSpPr>
        <a:xfrm>
          <a:off x="0" y="0"/>
          <a:ext cx="0" cy="0"/>
          <a:chOff x="0" y="0"/>
          <a:chExt cx="0" cy="0"/>
        </a:xfrm>
      </p:grpSpPr>
      <p:sp>
        <p:nvSpPr>
          <p:cNvPr id="6" name="Titre 5"/>
          <p:cNvSpPr>
            <a:spLocks noGrp="1"/>
          </p:cNvSpPr>
          <p:nvPr>
            <p:ph type="title"/>
            <p:custDataLst>
              <p:tags r:id="rId2"/>
            </p:custDataLst>
          </p:nvPr>
        </p:nvSpPr>
        <p:spPr/>
        <p:txBody>
          <a:bodyPr>
            <a:normAutofit/>
          </a:bodyPr>
          <a:lstStyle/>
          <a:p>
            <a:r>
              <a:rPr lang="fr-CA" sz="3800"/>
              <a:t>La marge sur coûts spécifiques d’un objet de coût</a:t>
            </a:r>
          </a:p>
        </p:txBody>
      </p:sp>
      <p:sp>
        <p:nvSpPr>
          <p:cNvPr id="4" name="Espace réservé du contenu 3"/>
          <p:cNvSpPr>
            <a:spLocks noGrp="1"/>
          </p:cNvSpPr>
          <p:nvPr>
            <p:ph idx="1"/>
            <p:custDataLst>
              <p:tags r:id="rId3"/>
            </p:custDataLst>
          </p:nvPr>
        </p:nvSpPr>
        <p:spPr>
          <a:xfrm>
            <a:off x="838200" y="1467850"/>
            <a:ext cx="10515600" cy="4885293"/>
          </a:xfrm>
        </p:spPr>
        <p:txBody>
          <a:bodyPr>
            <a:normAutofit/>
          </a:bodyPr>
          <a:lstStyle/>
          <a:p>
            <a:endParaRPr lang="fr-CA" b="1">
              <a:solidFill>
                <a:srgbClr val="C00000"/>
              </a:solidFill>
            </a:endParaRPr>
          </a:p>
          <a:p>
            <a:endParaRPr lang="fr-CA" b="1">
              <a:solidFill>
                <a:srgbClr val="C00000"/>
              </a:solidFill>
            </a:endParaRPr>
          </a:p>
          <a:p>
            <a:pPr marL="0" indent="0">
              <a:buNone/>
            </a:pPr>
            <a:endParaRPr lang="fr-CA"/>
          </a:p>
          <a:p>
            <a:pPr marL="0" indent="0">
              <a:buNone/>
            </a:pPr>
            <a:endParaRPr lang="fr-CA"/>
          </a:p>
          <a:p>
            <a:pPr marL="0" indent="0">
              <a:buNone/>
            </a:pPr>
            <a:r>
              <a:rPr lang="fr-CA"/>
              <a:t>Sont considérés comme des coûts fixes spécifiques, seulement les coûts fixes pouvant être reliés à un objet de coût précis</a:t>
            </a:r>
          </a:p>
          <a:p>
            <a:pPr lvl="1"/>
            <a:r>
              <a:rPr lang="fr-CA"/>
              <a:t>Il ne doit pas y avoir de répartition arbitraire, car dans un tel cas, on parlera plutôt de coûts fixes communs.</a:t>
            </a:r>
          </a:p>
          <a:p>
            <a:pPr lvl="1"/>
            <a:r>
              <a:rPr lang="fr-CA"/>
              <a:t>Théoriquement, si l’objet de coût disparaît, les coûts fixes spécifiques disparaissent.</a:t>
            </a:r>
          </a:p>
          <a:p>
            <a:pPr marL="457200" lvl="1" indent="0">
              <a:buNone/>
            </a:pPr>
            <a:endParaRPr lang="fr-CA"/>
          </a:p>
        </p:txBody>
      </p:sp>
      <p:sp>
        <p:nvSpPr>
          <p:cNvPr id="7" name="Rectangle 6"/>
          <p:cNvSpPr/>
          <p:nvPr>
            <p:custDataLst>
              <p:tags r:id="rId4"/>
            </p:custDataLst>
          </p:nvPr>
        </p:nvSpPr>
        <p:spPr>
          <a:xfrm>
            <a:off x="838200" y="1467850"/>
            <a:ext cx="10050382" cy="1034717"/>
          </a:xfrm>
          <a:prstGeom prst="rect">
            <a:avLst/>
          </a:prstGeom>
          <a:solidFill>
            <a:schemeClr val="bg1">
              <a:lumMod val="95000"/>
            </a:schemeClr>
          </a:solidFill>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CA" sz="3200" b="1">
                <a:solidFill>
                  <a:schemeClr val="tx1"/>
                </a:solidFill>
              </a:rPr>
              <a:t>Marge sur coûts spécifiques = </a:t>
            </a:r>
          </a:p>
          <a:p>
            <a:pPr algn="ctr"/>
            <a:r>
              <a:rPr lang="fr-CA" sz="3200" b="1">
                <a:solidFill>
                  <a:schemeClr val="tx1"/>
                </a:solidFill>
              </a:rPr>
              <a:t>MCV totale – Coûts fixes spécifiques</a:t>
            </a:r>
          </a:p>
        </p:txBody>
      </p:sp>
      <p:sp>
        <p:nvSpPr>
          <p:cNvPr id="12" name="ZoneTexte 11">
            <a:extLst>
              <a:ext uri="{FF2B5EF4-FFF2-40B4-BE49-F238E27FC236}">
                <a16:creationId xmlns:a16="http://schemas.microsoft.com/office/drawing/2014/main" id="{84A390C1-BCDD-65F0-330A-B6B56211BF07}"/>
              </a:ext>
            </a:extLst>
          </p:cNvPr>
          <p:cNvSpPr txBox="1"/>
          <p:nvPr>
            <p:custDataLst>
              <p:tags r:id="rId5"/>
            </p:custDataLst>
          </p:nvPr>
        </p:nvSpPr>
        <p:spPr>
          <a:xfrm>
            <a:off x="838200" y="2767258"/>
            <a:ext cx="10050381"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fr-CA" b="0" i="1" u="none" strike="noStrike">
                <a:solidFill>
                  <a:srgbClr val="000000"/>
                </a:solidFill>
                <a:effectLst/>
                <a:latin typeface="Calibri" panose="020F0502020204030204" pitchFamily="34" charset="0"/>
              </a:rPr>
              <a:t>Déterminer la contribution d’un objet de coûts (produit, activité, service, projet…) à la couverture des coûts fixes </a:t>
            </a:r>
            <a:r>
              <a:rPr lang="fr-CA" b="0" i="1" u="none" strike="noStrike">
                <a:solidFill>
                  <a:srgbClr val="C00000"/>
                </a:solidFill>
                <a:effectLst/>
                <a:latin typeface="Calibri" panose="020F0502020204030204" pitchFamily="34" charset="0"/>
              </a:rPr>
              <a:t>communs</a:t>
            </a:r>
            <a:r>
              <a:rPr lang="fr-CA" b="0" i="1" u="none" strike="noStrike">
                <a:solidFill>
                  <a:srgbClr val="000000"/>
                </a:solidFill>
                <a:effectLst/>
                <a:latin typeface="Calibri" panose="020F0502020204030204" pitchFamily="34" charset="0"/>
              </a:rPr>
              <a:t> et au résultat</a:t>
            </a:r>
            <a:r>
              <a:rPr lang="fr-CA" b="0" i="0">
                <a:solidFill>
                  <a:srgbClr val="000000"/>
                </a:solidFill>
                <a:effectLst/>
                <a:latin typeface="Calibri" panose="020F0502020204030204" pitchFamily="34" charset="0"/>
              </a:rPr>
              <a:t>​</a:t>
            </a:r>
            <a:endParaRPr lang="fr-CA"/>
          </a:p>
        </p:txBody>
      </p:sp>
      <p:sp>
        <p:nvSpPr>
          <p:cNvPr id="5" name="ZoneTexte 4">
            <a:extLst>
              <a:ext uri="{FF2B5EF4-FFF2-40B4-BE49-F238E27FC236}">
                <a16:creationId xmlns:a16="http://schemas.microsoft.com/office/drawing/2014/main" id="{9BFF0155-9772-9256-AFDA-2ED6BC462FDC}"/>
              </a:ext>
            </a:extLst>
          </p:cNvPr>
          <p:cNvSpPr txBox="1"/>
          <p:nvPr>
            <p:custDataLst>
              <p:tags r:id="rId6"/>
            </p:custDataLst>
          </p:nvPr>
        </p:nvSpPr>
        <p:spPr>
          <a:xfrm>
            <a:off x="2442990" y="5983811"/>
            <a:ext cx="7802696" cy="369332"/>
          </a:xfrm>
          <a:prstGeom prst="rect">
            <a:avLst/>
          </a:prstGeom>
          <a:noFill/>
        </p:spPr>
        <p:txBody>
          <a:bodyPr wrap="square">
            <a:spAutoFit/>
          </a:bodyPr>
          <a:lstStyle/>
          <a:p>
            <a:pPr marL="0" indent="0">
              <a:buNone/>
            </a:pPr>
            <a:r>
              <a:rPr lang="fr-CA" sz="1800"/>
              <a:t>* </a:t>
            </a:r>
            <a:r>
              <a:rPr lang="fr-CA" sz="1800" i="1"/>
              <a:t>La marge sur coûts spécifiques </a:t>
            </a:r>
            <a:r>
              <a:rPr lang="fr-CA" sz="1800"/>
              <a:t>est nommée « </a:t>
            </a:r>
            <a:r>
              <a:rPr lang="fr-CA" sz="1800" b="1"/>
              <a:t>marge nette </a:t>
            </a:r>
            <a:r>
              <a:rPr lang="fr-CA" sz="1800"/>
              <a:t>» dans le manuel. </a:t>
            </a:r>
          </a:p>
        </p:txBody>
      </p:sp>
      <p:sp>
        <p:nvSpPr>
          <p:cNvPr id="2" name="Espace réservé du pied de page 3">
            <a:extLst>
              <a:ext uri="{FF2B5EF4-FFF2-40B4-BE49-F238E27FC236}">
                <a16:creationId xmlns:a16="http://schemas.microsoft.com/office/drawing/2014/main" id="{74BE0BFA-DFE4-BFDF-4F31-DFE069C233A0}"/>
              </a:ext>
            </a:extLst>
          </p:cNvPr>
          <p:cNvSpPr>
            <a:spLocks noGrp="1"/>
          </p:cNvSpPr>
          <p:nvPr>
            <p:ph type="ftr" sz="quarter" idx="11"/>
            <p:custDataLst>
              <p:tags r:id="rId7"/>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space réservé du numéro de diapositive 4">
            <a:extLst>
              <a:ext uri="{FF2B5EF4-FFF2-40B4-BE49-F238E27FC236}">
                <a16:creationId xmlns:a16="http://schemas.microsoft.com/office/drawing/2014/main" id="{2DC1EF39-FACB-0EFE-029E-7DF83788317B}"/>
              </a:ext>
            </a:extLst>
          </p:cNvPr>
          <p:cNvSpPr>
            <a:spLocks noGrp="1"/>
          </p:cNvSpPr>
          <p:nvPr>
            <p:ph type="sldNum" sz="quarter" idx="12"/>
            <p:custDataLst>
              <p:tags r:id="rId8"/>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27</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622259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custDataLst>
              <p:tags r:id="rId2"/>
            </p:custDataLst>
          </p:nvPr>
        </p:nvSpPr>
        <p:spPr/>
        <p:txBody>
          <a:bodyPr vert="horz" anchor="ctr">
            <a:noAutofit/>
          </a:bodyPr>
          <a:lstStyle/>
          <a:p>
            <a:r>
              <a:rPr lang="fr-FR" sz="4000"/>
              <a:t>Calcul </a:t>
            </a:r>
            <a:r>
              <a:rPr lang="fr-CA" sz="4000"/>
              <a:t>de la marge sur coûts spécifiques</a:t>
            </a:r>
            <a:endParaRPr lang="fr-CA" sz="4000">
              <a:cs typeface="Calibri Light"/>
            </a:endParaRPr>
          </a:p>
        </p:txBody>
      </p:sp>
      <p:graphicFrame>
        <p:nvGraphicFramePr>
          <p:cNvPr id="4" name="Espace réservé du contenu 3"/>
          <p:cNvGraphicFramePr>
            <a:graphicFrameLocks noGrp="1"/>
          </p:cNvGraphicFramePr>
          <p:nvPr>
            <p:ph idx="1"/>
            <p:custDataLst>
              <p:tags r:id="rId3"/>
            </p:custDataLst>
            <p:extLst>
              <p:ext uri="{D42A27DB-BD31-4B8C-83A1-F6EECF244321}">
                <p14:modId xmlns:p14="http://schemas.microsoft.com/office/powerpoint/2010/main" val="2481735394"/>
              </p:ext>
            </p:extLst>
          </p:nvPr>
        </p:nvGraphicFramePr>
        <p:xfrm>
          <a:off x="576943" y="1462200"/>
          <a:ext cx="8923317" cy="4663440"/>
        </p:xfrm>
        <a:graphic>
          <a:graphicData uri="http://schemas.openxmlformats.org/drawingml/2006/table">
            <a:tbl>
              <a:tblPr bandRow="1">
                <a:tableStyleId>{69012ECD-51FC-41F1-AA8D-1B2483CD663E}</a:tableStyleId>
              </a:tblPr>
              <a:tblGrid>
                <a:gridCol w="6298870">
                  <a:extLst>
                    <a:ext uri="{9D8B030D-6E8A-4147-A177-3AD203B41FA5}">
                      <a16:colId xmlns:a16="http://schemas.microsoft.com/office/drawing/2014/main" val="20000"/>
                    </a:ext>
                  </a:extLst>
                </a:gridCol>
                <a:gridCol w="1611632">
                  <a:extLst>
                    <a:ext uri="{9D8B030D-6E8A-4147-A177-3AD203B41FA5}">
                      <a16:colId xmlns:a16="http://schemas.microsoft.com/office/drawing/2014/main" val="20001"/>
                    </a:ext>
                  </a:extLst>
                </a:gridCol>
                <a:gridCol w="1012815">
                  <a:extLst>
                    <a:ext uri="{9D8B030D-6E8A-4147-A177-3AD203B41FA5}">
                      <a16:colId xmlns:a16="http://schemas.microsoft.com/office/drawing/2014/main" val="20002"/>
                    </a:ext>
                  </a:extLst>
                </a:gridCol>
              </a:tblGrid>
              <a:tr h="504000">
                <a:tc>
                  <a:txBody>
                    <a:bodyPr/>
                    <a:lstStyle/>
                    <a:p>
                      <a:r>
                        <a:rPr lang="fr-CA" sz="2800" b="1"/>
                        <a:t>Ventes</a:t>
                      </a:r>
                    </a:p>
                  </a:txBody>
                  <a:tcPr marL="203050" marR="203050" anchor="ctr"/>
                </a:tc>
                <a:tc>
                  <a:txBody>
                    <a:bodyPr/>
                    <a:lstStyle/>
                    <a:p>
                      <a:pPr algn="ctr"/>
                      <a:endParaRPr lang="fr-CA" sz="2800"/>
                    </a:p>
                  </a:txBody>
                  <a:tcPr marL="203050" marR="203050" anchor="ctr"/>
                </a:tc>
                <a:tc>
                  <a:txBody>
                    <a:bodyPr/>
                    <a:lstStyle/>
                    <a:p>
                      <a:pPr algn="ctr"/>
                      <a:r>
                        <a:rPr lang="fr-CA" sz="2800"/>
                        <a:t>XX</a:t>
                      </a:r>
                    </a:p>
                  </a:txBody>
                  <a:tcPr marL="203050" marR="203050" anchor="ctr"/>
                </a:tc>
                <a:extLst>
                  <a:ext uri="{0D108BD9-81ED-4DB2-BD59-A6C34878D82A}">
                    <a16:rowId xmlns:a16="http://schemas.microsoft.com/office/drawing/2014/main" val="10000"/>
                  </a:ext>
                </a:extLst>
              </a:tr>
              <a:tr h="504000">
                <a:tc>
                  <a:txBody>
                    <a:bodyPr/>
                    <a:lstStyle/>
                    <a:p>
                      <a:r>
                        <a:rPr lang="fr-CA" sz="2800" u="sng"/>
                        <a:t>Moins</a:t>
                      </a:r>
                      <a:r>
                        <a:rPr lang="fr-CA" sz="2800" baseline="0"/>
                        <a:t> : </a:t>
                      </a:r>
                      <a:r>
                        <a:rPr lang="fr-CA" sz="2800" i="0" baseline="0"/>
                        <a:t>Coûts variables totaux</a:t>
                      </a:r>
                      <a:endParaRPr lang="fr-CA" sz="2800" b="1" i="0"/>
                    </a:p>
                  </a:txBody>
                  <a:tcPr marL="203050" marR="203050" anchor="ctr"/>
                </a:tc>
                <a:tc>
                  <a:txBody>
                    <a:bodyPr/>
                    <a:lstStyle/>
                    <a:p>
                      <a:pPr algn="ctr"/>
                      <a:endParaRPr lang="fr-CA" sz="2800"/>
                    </a:p>
                  </a:txBody>
                  <a:tcPr marL="203050" marR="203050" anchor="ctr"/>
                </a:tc>
                <a:tc>
                  <a:txBody>
                    <a:bodyPr/>
                    <a:lstStyle/>
                    <a:p>
                      <a:pPr algn="ctr"/>
                      <a:r>
                        <a:rPr lang="fr-CA" sz="2800"/>
                        <a:t>(XX)</a:t>
                      </a:r>
                    </a:p>
                  </a:txBody>
                  <a:tcPr marL="203050" marR="203050" anchor="ctr"/>
                </a:tc>
                <a:extLst>
                  <a:ext uri="{0D108BD9-81ED-4DB2-BD59-A6C34878D82A}">
                    <a16:rowId xmlns:a16="http://schemas.microsoft.com/office/drawing/2014/main" val="10001"/>
                  </a:ext>
                </a:extLst>
              </a:tr>
              <a:tr h="504000">
                <a:tc>
                  <a:txBody>
                    <a:bodyPr/>
                    <a:lstStyle/>
                    <a:p>
                      <a:pPr marL="0" indent="0">
                        <a:buFont typeface="Arial" panose="020B0604020202020204" pitchFamily="34" charset="0"/>
                        <a:buNone/>
                      </a:pPr>
                      <a:r>
                        <a:rPr lang="fr-CA" sz="2800"/>
                        <a:t>      Matières premières</a:t>
                      </a:r>
                    </a:p>
                  </a:txBody>
                  <a:tcPr marL="203050" marR="203050" anchor="ctr"/>
                </a:tc>
                <a:tc>
                  <a:txBody>
                    <a:bodyPr/>
                    <a:lstStyle/>
                    <a:p>
                      <a:pPr algn="ctr"/>
                      <a:r>
                        <a:rPr lang="fr-CA" sz="2800"/>
                        <a:t>XX</a:t>
                      </a:r>
                    </a:p>
                  </a:txBody>
                  <a:tcPr marL="203050" marR="203050" anchor="ctr"/>
                </a:tc>
                <a:tc>
                  <a:txBody>
                    <a:bodyPr/>
                    <a:lstStyle/>
                    <a:p>
                      <a:pPr algn="ctr"/>
                      <a:endParaRPr lang="fr-CA" sz="2800"/>
                    </a:p>
                  </a:txBody>
                  <a:tcPr marL="203050" marR="203050" anchor="ctr"/>
                </a:tc>
                <a:extLst>
                  <a:ext uri="{0D108BD9-81ED-4DB2-BD59-A6C34878D82A}">
                    <a16:rowId xmlns:a16="http://schemas.microsoft.com/office/drawing/2014/main" val="10002"/>
                  </a:ext>
                </a:extLst>
              </a:tr>
              <a:tr h="504000">
                <a:tc>
                  <a:txBody>
                    <a:bodyPr/>
                    <a:lstStyle/>
                    <a:p>
                      <a:pPr marL="0" indent="0">
                        <a:buFont typeface="Arial" panose="020B0604020202020204" pitchFamily="34" charset="0"/>
                        <a:buNone/>
                      </a:pPr>
                      <a:r>
                        <a:rPr lang="fr-CA" sz="2800"/>
                        <a:t>      Main-d’œuvre directe</a:t>
                      </a:r>
                    </a:p>
                  </a:txBody>
                  <a:tcPr marL="203050" marR="203050" anchor="ctr"/>
                </a:tc>
                <a:tc>
                  <a:txBody>
                    <a:bodyPr/>
                    <a:lstStyle/>
                    <a:p>
                      <a:pPr algn="ctr"/>
                      <a:r>
                        <a:rPr lang="fr-CA" sz="2800"/>
                        <a:t>XX</a:t>
                      </a:r>
                    </a:p>
                  </a:txBody>
                  <a:tcPr marL="203050" marR="203050" anchor="ctr"/>
                </a:tc>
                <a:tc>
                  <a:txBody>
                    <a:bodyPr/>
                    <a:lstStyle/>
                    <a:p>
                      <a:pPr algn="ctr"/>
                      <a:endParaRPr lang="fr-CA" sz="2800"/>
                    </a:p>
                  </a:txBody>
                  <a:tcPr marL="203050" marR="203050" anchor="ctr"/>
                </a:tc>
                <a:extLst>
                  <a:ext uri="{0D108BD9-81ED-4DB2-BD59-A6C34878D82A}">
                    <a16:rowId xmlns:a16="http://schemas.microsoft.com/office/drawing/2014/main" val="10003"/>
                  </a:ext>
                </a:extLst>
              </a:tr>
              <a:tr h="504000">
                <a:tc>
                  <a:txBody>
                    <a:bodyPr/>
                    <a:lstStyle/>
                    <a:p>
                      <a:pPr marL="0" indent="0">
                        <a:buFont typeface="Arial" panose="020B0604020202020204" pitchFamily="34" charset="0"/>
                        <a:buNone/>
                      </a:pPr>
                      <a:r>
                        <a:rPr lang="fr-CA" sz="2800"/>
                        <a:t>      FGF variables</a:t>
                      </a:r>
                    </a:p>
                  </a:txBody>
                  <a:tcPr marL="203050" marR="203050" anchor="ctr"/>
                </a:tc>
                <a:tc>
                  <a:txBody>
                    <a:bodyPr/>
                    <a:lstStyle/>
                    <a:p>
                      <a:pPr algn="ctr"/>
                      <a:r>
                        <a:rPr lang="fr-CA" sz="2800"/>
                        <a:t>XX</a:t>
                      </a:r>
                    </a:p>
                  </a:txBody>
                  <a:tcPr marL="203050" marR="203050" anchor="ctr"/>
                </a:tc>
                <a:tc>
                  <a:txBody>
                    <a:bodyPr/>
                    <a:lstStyle/>
                    <a:p>
                      <a:pPr algn="ctr"/>
                      <a:endParaRPr lang="fr-CA" sz="2800"/>
                    </a:p>
                  </a:txBody>
                  <a:tcPr marL="203050" marR="203050" anchor="ctr"/>
                </a:tc>
                <a:extLst>
                  <a:ext uri="{0D108BD9-81ED-4DB2-BD59-A6C34878D82A}">
                    <a16:rowId xmlns:a16="http://schemas.microsoft.com/office/drawing/2014/main" val="10004"/>
                  </a:ext>
                </a:extLst>
              </a:tr>
              <a:tr h="504000">
                <a:tc>
                  <a:txBody>
                    <a:bodyPr/>
                    <a:lstStyle/>
                    <a:p>
                      <a:pPr marL="0" indent="0">
                        <a:buFont typeface="Arial" panose="020B0604020202020204" pitchFamily="34" charset="0"/>
                        <a:buNone/>
                      </a:pPr>
                      <a:r>
                        <a:rPr lang="fr-CA" sz="2800"/>
                        <a:t>      Frais de vente variables</a:t>
                      </a:r>
                    </a:p>
                  </a:txBody>
                  <a:tcPr marL="203050" marR="203050" anchor="ctr"/>
                </a:tc>
                <a:tc>
                  <a:txBody>
                    <a:bodyPr/>
                    <a:lstStyle/>
                    <a:p>
                      <a:pPr algn="ctr"/>
                      <a:r>
                        <a:rPr lang="fr-CA" sz="2800" u="sng"/>
                        <a:t>XX</a:t>
                      </a:r>
                    </a:p>
                  </a:txBody>
                  <a:tcPr marL="203050" marR="203050" anchor="ctr"/>
                </a:tc>
                <a:tc>
                  <a:txBody>
                    <a:bodyPr/>
                    <a:lstStyle/>
                    <a:p>
                      <a:pPr algn="ctr"/>
                      <a:r>
                        <a:rPr lang="fr-CA" sz="2800" u="sng"/>
                        <a:t>(XX)</a:t>
                      </a:r>
                    </a:p>
                  </a:txBody>
                  <a:tcPr marL="203050" marR="203050" anchor="ctr"/>
                </a:tc>
                <a:extLst>
                  <a:ext uri="{0D108BD9-81ED-4DB2-BD59-A6C34878D82A}">
                    <a16:rowId xmlns:a16="http://schemas.microsoft.com/office/drawing/2014/main" val="10005"/>
                  </a:ext>
                </a:extLst>
              </a:tr>
              <a:tr h="504000">
                <a:tc>
                  <a:txBody>
                    <a:bodyPr/>
                    <a:lstStyle/>
                    <a:p>
                      <a:r>
                        <a:rPr lang="fr-CA" sz="2800" b="1"/>
                        <a:t>Marge sur coûts variables totale</a:t>
                      </a:r>
                    </a:p>
                  </a:txBody>
                  <a:tcPr marL="203050" marR="203050" anchor="ctr"/>
                </a:tc>
                <a:tc>
                  <a:txBody>
                    <a:bodyPr/>
                    <a:lstStyle/>
                    <a:p>
                      <a:pPr algn="ctr"/>
                      <a:endParaRPr lang="fr-CA" sz="2800" b="1"/>
                    </a:p>
                  </a:txBody>
                  <a:tcPr marL="203050" marR="203050" anchor="ctr"/>
                </a:tc>
                <a:tc>
                  <a:txBody>
                    <a:bodyPr/>
                    <a:lstStyle/>
                    <a:p>
                      <a:pPr algn="ctr"/>
                      <a:r>
                        <a:rPr lang="fr-CA" sz="2800" b="1" u="none"/>
                        <a:t>XX</a:t>
                      </a:r>
                    </a:p>
                  </a:txBody>
                  <a:tcPr marL="203050" marR="203050" anchor="ctr"/>
                </a:tc>
                <a:extLst>
                  <a:ext uri="{0D108BD9-81ED-4DB2-BD59-A6C34878D82A}">
                    <a16:rowId xmlns:a16="http://schemas.microsoft.com/office/drawing/2014/main" val="10006"/>
                  </a:ext>
                </a:extLst>
              </a:tr>
              <a:tr h="504000">
                <a:tc>
                  <a:txBody>
                    <a:bodyPr/>
                    <a:lstStyle/>
                    <a:p>
                      <a:r>
                        <a:rPr lang="fr-CA" sz="2800" b="0" u="sng"/>
                        <a:t>Moins</a:t>
                      </a:r>
                      <a:r>
                        <a:rPr lang="fr-CA" sz="2800" b="0"/>
                        <a:t>: Coûts fixes spécifiques</a:t>
                      </a:r>
                    </a:p>
                  </a:txBody>
                  <a:tcPr marL="203050" marR="203050" anchor="ctr"/>
                </a:tc>
                <a:tc>
                  <a:txBody>
                    <a:bodyPr/>
                    <a:lstStyle/>
                    <a:p>
                      <a:pPr algn="ctr"/>
                      <a:endParaRPr lang="fr-CA" sz="2800" b="1"/>
                    </a:p>
                  </a:txBody>
                  <a:tcPr marL="203050" marR="203050" anchor="ctr"/>
                </a:tc>
                <a:tc>
                  <a:txBody>
                    <a:bodyPr/>
                    <a:lstStyle/>
                    <a:p>
                      <a:pPr algn="ctr"/>
                      <a:r>
                        <a:rPr lang="fr-CA" sz="2800" b="0" u="sng"/>
                        <a:t>(XX)</a:t>
                      </a:r>
                    </a:p>
                  </a:txBody>
                  <a:tcPr marL="203050" marR="203050" anchor="ctr"/>
                </a:tc>
                <a:extLst>
                  <a:ext uri="{0D108BD9-81ED-4DB2-BD59-A6C34878D82A}">
                    <a16:rowId xmlns:a16="http://schemas.microsoft.com/office/drawing/2014/main" val="195445530"/>
                  </a:ext>
                </a:extLst>
              </a:tr>
              <a:tr h="504000">
                <a:tc>
                  <a:txBody>
                    <a:bodyPr/>
                    <a:lstStyle/>
                    <a:p>
                      <a:r>
                        <a:rPr lang="fr-CA" sz="2800" b="1"/>
                        <a:t>Marge sur coûts spécifiques</a:t>
                      </a:r>
                    </a:p>
                  </a:txBody>
                  <a:tcPr marL="203050" marR="203050" anchor="ctr"/>
                </a:tc>
                <a:tc>
                  <a:txBody>
                    <a:bodyPr/>
                    <a:lstStyle/>
                    <a:p>
                      <a:pPr algn="ctr"/>
                      <a:endParaRPr lang="fr-CA" sz="2800" b="1"/>
                    </a:p>
                  </a:txBody>
                  <a:tcPr marL="203050" marR="203050" anchor="ctr"/>
                </a:tc>
                <a:tc>
                  <a:txBody>
                    <a:bodyPr/>
                    <a:lstStyle/>
                    <a:p>
                      <a:pPr algn="ctr"/>
                      <a:r>
                        <a:rPr lang="fr-CA" sz="2800" b="1" u="sng"/>
                        <a:t>XX</a:t>
                      </a:r>
                    </a:p>
                  </a:txBody>
                  <a:tcPr marL="203050" marR="203050" anchor="ctr"/>
                </a:tc>
                <a:extLst>
                  <a:ext uri="{0D108BD9-81ED-4DB2-BD59-A6C34878D82A}">
                    <a16:rowId xmlns:a16="http://schemas.microsoft.com/office/drawing/2014/main" val="1707305034"/>
                  </a:ext>
                </a:extLst>
              </a:tr>
            </a:tbl>
          </a:graphicData>
        </a:graphic>
      </p:graphicFrame>
      <p:sp>
        <p:nvSpPr>
          <p:cNvPr id="3" name="Bulle narrative : ronde 2">
            <a:extLst>
              <a:ext uri="{FF2B5EF4-FFF2-40B4-BE49-F238E27FC236}">
                <a16:creationId xmlns:a16="http://schemas.microsoft.com/office/drawing/2014/main" id="{62529812-A7AA-060F-CB08-6A6659F5C555}"/>
              </a:ext>
            </a:extLst>
          </p:cNvPr>
          <p:cNvSpPr/>
          <p:nvPr>
            <p:custDataLst>
              <p:tags r:id="rId4"/>
            </p:custDataLst>
          </p:nvPr>
        </p:nvSpPr>
        <p:spPr>
          <a:xfrm>
            <a:off x="9500261" y="4693920"/>
            <a:ext cx="2691740" cy="1809516"/>
          </a:xfrm>
          <a:prstGeom prst="wedgeEllipseCallout">
            <a:avLst>
              <a:gd name="adj1" fmla="val -57763"/>
              <a:gd name="adj2" fmla="val 11840"/>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0" i="1" u="none" strike="noStrike">
                <a:solidFill>
                  <a:srgbClr val="000000"/>
                </a:solidFill>
                <a:effectLst/>
                <a:latin typeface="Calibri" panose="020F0502020204030204" pitchFamily="34" charset="0"/>
              </a:rPr>
              <a:t>Cette marge contribuera à la couverture des coûts fixes </a:t>
            </a:r>
            <a:r>
              <a:rPr lang="fr-CA" sz="1600" b="0" i="1" u="none" strike="noStrike">
                <a:solidFill>
                  <a:srgbClr val="00B050"/>
                </a:solidFill>
                <a:effectLst/>
                <a:latin typeface="Calibri" panose="020F0502020204030204" pitchFamily="34" charset="0"/>
              </a:rPr>
              <a:t>communs </a:t>
            </a:r>
            <a:r>
              <a:rPr lang="fr-CA" sz="1600" b="0" i="1" u="none" strike="noStrike">
                <a:solidFill>
                  <a:srgbClr val="000000"/>
                </a:solidFill>
                <a:effectLst/>
                <a:latin typeface="Calibri" panose="020F0502020204030204" pitchFamily="34" charset="0"/>
              </a:rPr>
              <a:t>et au résultat</a:t>
            </a:r>
            <a:r>
              <a:rPr lang="fr-CA" sz="1600" b="0" i="0">
                <a:solidFill>
                  <a:srgbClr val="000000"/>
                </a:solidFill>
                <a:effectLst/>
                <a:latin typeface="Calibri" panose="020F0502020204030204" pitchFamily="34" charset="0"/>
              </a:rPr>
              <a:t>​</a:t>
            </a:r>
            <a:endParaRPr lang="fr-CA" sz="1600"/>
          </a:p>
        </p:txBody>
      </p:sp>
      <p:sp>
        <p:nvSpPr>
          <p:cNvPr id="2" name="Espace réservé du pied de page 3">
            <a:extLst>
              <a:ext uri="{FF2B5EF4-FFF2-40B4-BE49-F238E27FC236}">
                <a16:creationId xmlns:a16="http://schemas.microsoft.com/office/drawing/2014/main" id="{ABEBB462-89C4-B8A5-02D2-F35443A52C1A}"/>
              </a:ext>
            </a:extLst>
          </p:cNvPr>
          <p:cNvSpPr>
            <a:spLocks noGrp="1"/>
          </p:cNvSpPr>
          <p:nvPr>
            <p:ph type="ftr" sz="quarter" idx="11"/>
            <p:custDataLst>
              <p:tags r:id="rId5"/>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661CB83A-BF65-48F9-E8E7-6A8A9D82677B}"/>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28</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1630098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29EE44-C2FE-0D9A-5556-1D81D4FF38F8}"/>
              </a:ext>
            </a:extLst>
          </p:cNvPr>
          <p:cNvSpPr>
            <a:spLocks noGrp="1"/>
          </p:cNvSpPr>
          <p:nvPr>
            <p:ph type="title"/>
            <p:custDataLst>
              <p:tags r:id="rId1"/>
            </p:custDataLst>
          </p:nvPr>
        </p:nvSpPr>
        <p:spPr>
          <a:xfrm>
            <a:off x="774915" y="160589"/>
            <a:ext cx="10578885" cy="1042570"/>
          </a:xfrm>
        </p:spPr>
        <p:txBody>
          <a:bodyPr>
            <a:normAutofit fontScale="90000"/>
          </a:bodyPr>
          <a:lstStyle/>
          <a:p>
            <a:r>
              <a:rPr lang="en-CA" dirty="0"/>
              <a:t>Question de </a:t>
            </a:r>
            <a:r>
              <a:rPr lang="en-CA" dirty="0" err="1"/>
              <a:t>révision</a:t>
            </a:r>
            <a:r>
              <a:rPr lang="en-CA" dirty="0"/>
              <a:t> – analyse </a:t>
            </a:r>
            <a:r>
              <a:rPr lang="en-CA" dirty="0" err="1"/>
              <a:t>différentielle</a:t>
            </a:r>
            <a:r>
              <a:rPr lang="en-CA" dirty="0"/>
              <a:t> et analyse de </a:t>
            </a:r>
            <a:r>
              <a:rPr lang="en-CA" dirty="0" err="1"/>
              <a:t>rentabilité</a:t>
            </a:r>
            <a:r>
              <a:rPr lang="en-CA" dirty="0"/>
              <a:t> (les </a:t>
            </a:r>
            <a:r>
              <a:rPr lang="en-CA" dirty="0" err="1"/>
              <a:t>marges</a:t>
            </a:r>
            <a:r>
              <a:rPr lang="en-CA" dirty="0"/>
              <a:t>)</a:t>
            </a:r>
            <a:endParaRPr lang="en-CA" dirty="0">
              <a:cs typeface="Calibri Light"/>
            </a:endParaRPr>
          </a:p>
        </p:txBody>
      </p:sp>
      <p:sp>
        <p:nvSpPr>
          <p:cNvPr id="3" name="Espace réservé du contenu 2">
            <a:extLst>
              <a:ext uri="{FF2B5EF4-FFF2-40B4-BE49-F238E27FC236}">
                <a16:creationId xmlns:a16="http://schemas.microsoft.com/office/drawing/2014/main" id="{7FF28D5F-0DCB-9D7F-E8F2-D652A9BD5AE6}"/>
              </a:ext>
            </a:extLst>
          </p:cNvPr>
          <p:cNvSpPr>
            <a:spLocks noGrp="1"/>
          </p:cNvSpPr>
          <p:nvPr>
            <p:ph idx="1"/>
            <p:custDataLst>
              <p:tags r:id="rId2"/>
            </p:custDataLst>
          </p:nvPr>
        </p:nvSpPr>
        <p:spPr>
          <a:xfrm>
            <a:off x="350729" y="1452881"/>
            <a:ext cx="5225823" cy="4897506"/>
          </a:xfrm>
        </p:spPr>
        <p:txBody>
          <a:bodyPr vert="horz" lIns="91440" tIns="45720" rIns="91440" bIns="45720" rtlCol="0" anchor="t">
            <a:normAutofit/>
          </a:bodyPr>
          <a:lstStyle/>
          <a:p>
            <a:pPr marL="0" indent="0">
              <a:buNone/>
            </a:pPr>
            <a:r>
              <a:rPr lang="fr-CA" sz="2200"/>
              <a:t>La ferme Deschamps et Fils est une entreprise agricole qui cultive les champs l'été et fait du déneigement pour les cours des particuliers l'hiver. La ferme possède 4 tracteurs qui sont utilisés été comme hiver et entreposés dans les bâtiments de l'entreprise. De plus, l'entreprise possède des équipements utilisés uniquement pendant la saison d'hiver (souffleuse à neige) et d'autres qui servent uniquement lors des travaux d'été. </a:t>
            </a:r>
          </a:p>
          <a:p>
            <a:pPr marL="0" indent="0">
              <a:buNone/>
            </a:pPr>
            <a:r>
              <a:rPr lang="fr-CA" sz="2200"/>
              <a:t>Voici trouverez dans le tableau ci-contre, quelques informations sur les revenus et les coûts de la ferme.</a:t>
            </a:r>
            <a:endParaRPr lang="en-CA" sz="2200"/>
          </a:p>
          <a:p>
            <a:pPr marL="0" indent="0">
              <a:buNone/>
            </a:pPr>
            <a:endParaRPr lang="en-CA" sz="2400"/>
          </a:p>
        </p:txBody>
      </p:sp>
      <p:graphicFrame>
        <p:nvGraphicFramePr>
          <p:cNvPr id="6" name="Tableau 6">
            <a:extLst>
              <a:ext uri="{FF2B5EF4-FFF2-40B4-BE49-F238E27FC236}">
                <a16:creationId xmlns:a16="http://schemas.microsoft.com/office/drawing/2014/main" id="{B61DE2C0-B48A-A595-CA02-E0B260067F17}"/>
              </a:ext>
            </a:extLst>
          </p:cNvPr>
          <p:cNvGraphicFramePr>
            <a:graphicFrameLocks noGrp="1"/>
          </p:cNvGraphicFramePr>
          <p:nvPr>
            <p:custDataLst>
              <p:tags r:id="rId3"/>
            </p:custDataLst>
          </p:nvPr>
        </p:nvGraphicFramePr>
        <p:xfrm>
          <a:off x="5576552" y="1542641"/>
          <a:ext cx="6393067" cy="3864560"/>
        </p:xfrm>
        <a:graphic>
          <a:graphicData uri="http://schemas.openxmlformats.org/drawingml/2006/table">
            <a:tbl>
              <a:tblPr firstRow="1" bandRow="1">
                <a:tableStyleId>{5940675A-B579-460E-94D1-54222C63F5DA}</a:tableStyleId>
              </a:tblPr>
              <a:tblGrid>
                <a:gridCol w="2659026">
                  <a:extLst>
                    <a:ext uri="{9D8B030D-6E8A-4147-A177-3AD203B41FA5}">
                      <a16:colId xmlns:a16="http://schemas.microsoft.com/office/drawing/2014/main" val="605514192"/>
                    </a:ext>
                  </a:extLst>
                </a:gridCol>
                <a:gridCol w="1210517">
                  <a:extLst>
                    <a:ext uri="{9D8B030D-6E8A-4147-A177-3AD203B41FA5}">
                      <a16:colId xmlns:a16="http://schemas.microsoft.com/office/drawing/2014/main" val="1680050039"/>
                    </a:ext>
                  </a:extLst>
                </a:gridCol>
                <a:gridCol w="1261762">
                  <a:extLst>
                    <a:ext uri="{9D8B030D-6E8A-4147-A177-3AD203B41FA5}">
                      <a16:colId xmlns:a16="http://schemas.microsoft.com/office/drawing/2014/main" val="3301273123"/>
                    </a:ext>
                  </a:extLst>
                </a:gridCol>
                <a:gridCol w="1261762">
                  <a:extLst>
                    <a:ext uri="{9D8B030D-6E8A-4147-A177-3AD203B41FA5}">
                      <a16:colId xmlns:a16="http://schemas.microsoft.com/office/drawing/2014/main" val="572534412"/>
                    </a:ext>
                  </a:extLst>
                </a:gridCol>
              </a:tblGrid>
              <a:tr h="347435">
                <a:tc>
                  <a:txBody>
                    <a:bodyPr/>
                    <a:lstStyle/>
                    <a:p>
                      <a:endParaRPr lang="en-CA" noProof="0"/>
                    </a:p>
                  </a:txBody>
                  <a:tcPr/>
                </a:tc>
                <a:tc>
                  <a:txBody>
                    <a:bodyPr/>
                    <a:lstStyle/>
                    <a:p>
                      <a:r>
                        <a:rPr lang="en-CA" b="1" noProof="0" err="1"/>
                        <a:t>Été</a:t>
                      </a:r>
                      <a:endParaRPr lang="en-CA" b="1" noProof="0"/>
                    </a:p>
                  </a:txBody>
                  <a:tcPr/>
                </a:tc>
                <a:tc>
                  <a:txBody>
                    <a:bodyPr/>
                    <a:lstStyle/>
                    <a:p>
                      <a:r>
                        <a:rPr lang="en-CA" b="1" noProof="0" dirty="0"/>
                        <a:t>Hiver</a:t>
                      </a:r>
                    </a:p>
                  </a:txBody>
                  <a:tcPr/>
                </a:tc>
                <a:tc>
                  <a:txBody>
                    <a:bodyPr/>
                    <a:lstStyle/>
                    <a:p>
                      <a:r>
                        <a:rPr lang="en-CA" b="1" noProof="0" dirty="0"/>
                        <a:t>Total </a:t>
                      </a:r>
                    </a:p>
                  </a:txBody>
                  <a:tcPr/>
                </a:tc>
                <a:extLst>
                  <a:ext uri="{0D108BD9-81ED-4DB2-BD59-A6C34878D82A}">
                    <a16:rowId xmlns:a16="http://schemas.microsoft.com/office/drawing/2014/main" val="2506990494"/>
                  </a:ext>
                </a:extLst>
              </a:tr>
              <a:tr h="345138">
                <a:tc>
                  <a:txBody>
                    <a:bodyPr/>
                    <a:lstStyle/>
                    <a:p>
                      <a:r>
                        <a:rPr lang="en-CA" b="1" noProof="0"/>
                        <a:t>Ventes</a:t>
                      </a:r>
                    </a:p>
                  </a:txBody>
                  <a:tcPr/>
                </a:tc>
                <a:tc>
                  <a:txBody>
                    <a:bodyPr/>
                    <a:lstStyle/>
                    <a:p>
                      <a:r>
                        <a:rPr lang="en-CA" noProof="0"/>
                        <a:t>415 000 $</a:t>
                      </a:r>
                    </a:p>
                  </a:txBody>
                  <a:tcPr/>
                </a:tc>
                <a:tc>
                  <a:txBody>
                    <a:bodyPr/>
                    <a:lstStyle/>
                    <a:p>
                      <a:r>
                        <a:rPr lang="en-CA" noProof="0"/>
                        <a:t>130 000 $</a:t>
                      </a:r>
                    </a:p>
                  </a:txBody>
                  <a:tcPr/>
                </a:tc>
                <a:tc>
                  <a:txBody>
                    <a:bodyPr/>
                    <a:lstStyle/>
                    <a:p>
                      <a:r>
                        <a:rPr lang="en-CA" noProof="0" dirty="0"/>
                        <a:t>545 000 $</a:t>
                      </a:r>
                    </a:p>
                  </a:txBody>
                  <a:tcPr/>
                </a:tc>
                <a:extLst>
                  <a:ext uri="{0D108BD9-81ED-4DB2-BD59-A6C34878D82A}">
                    <a16:rowId xmlns:a16="http://schemas.microsoft.com/office/drawing/2014/main" val="3390228602"/>
                  </a:ext>
                </a:extLst>
              </a:tr>
              <a:tr h="963831">
                <a:tc>
                  <a:txBody>
                    <a:bodyPr/>
                    <a:lstStyle/>
                    <a:p>
                      <a:r>
                        <a:rPr lang="en-CA" b="1" noProof="0"/>
                        <a:t>Coûts variables</a:t>
                      </a:r>
                    </a:p>
                    <a:p>
                      <a:pPr marL="179705"/>
                      <a:r>
                        <a:rPr lang="en-CA" noProof="0"/>
                        <a:t>Pesticides, engrais, etc.</a:t>
                      </a:r>
                    </a:p>
                    <a:p>
                      <a:pPr marL="179705"/>
                      <a:r>
                        <a:rPr lang="en-CA" noProof="0"/>
                        <a:t>MOD</a:t>
                      </a:r>
                    </a:p>
                    <a:p>
                      <a:pPr marL="180000"/>
                      <a:r>
                        <a:rPr lang="en-CA" noProof="0"/>
                        <a:t>Essence</a:t>
                      </a:r>
                    </a:p>
                  </a:txBody>
                  <a:tcPr/>
                </a:tc>
                <a:tc>
                  <a:txBody>
                    <a:bodyPr/>
                    <a:lstStyle/>
                    <a:p>
                      <a:endParaRPr lang="en-CA" noProof="0"/>
                    </a:p>
                    <a:p>
                      <a:r>
                        <a:rPr lang="en-CA" noProof="0"/>
                        <a:t>  50 000 $</a:t>
                      </a:r>
                    </a:p>
                    <a:p>
                      <a:r>
                        <a:rPr lang="en-CA" noProof="0"/>
                        <a:t>  75 000 $</a:t>
                      </a:r>
                    </a:p>
                    <a:p>
                      <a:r>
                        <a:rPr lang="en-CA" noProof="0"/>
                        <a:t>100 000 $</a:t>
                      </a:r>
                    </a:p>
                  </a:txBody>
                  <a:tcPr/>
                </a:tc>
                <a:tc>
                  <a:txBody>
                    <a:bodyPr/>
                    <a:lstStyle/>
                    <a:p>
                      <a:endParaRPr lang="en-CA" noProof="0"/>
                    </a:p>
                    <a:p>
                      <a:endParaRPr lang="en-CA" noProof="0"/>
                    </a:p>
                    <a:p>
                      <a:r>
                        <a:rPr lang="en-CA" noProof="0"/>
                        <a:t>  75 000 $</a:t>
                      </a:r>
                    </a:p>
                    <a:p>
                      <a:r>
                        <a:rPr lang="en-CA" noProof="0"/>
                        <a:t>  30 000 $</a:t>
                      </a:r>
                    </a:p>
                  </a:txBody>
                  <a:tcPr/>
                </a:tc>
                <a:tc>
                  <a:txBody>
                    <a:bodyPr/>
                    <a:lstStyle/>
                    <a:p>
                      <a:endParaRPr lang="en-CA" noProof="0" dirty="0"/>
                    </a:p>
                    <a:p>
                      <a:endParaRPr lang="en-CA" noProof="0" dirty="0"/>
                    </a:p>
                    <a:p>
                      <a:r>
                        <a:rPr lang="en-CA" noProof="0" dirty="0"/>
                        <a:t>330 000 $</a:t>
                      </a:r>
                    </a:p>
                  </a:txBody>
                  <a:tcPr/>
                </a:tc>
                <a:extLst>
                  <a:ext uri="{0D108BD9-81ED-4DB2-BD59-A6C34878D82A}">
                    <a16:rowId xmlns:a16="http://schemas.microsoft.com/office/drawing/2014/main" val="2268729115"/>
                  </a:ext>
                </a:extLst>
              </a:tr>
              <a:tr h="1186253">
                <a:tc>
                  <a:txBody>
                    <a:bodyPr/>
                    <a:lstStyle/>
                    <a:p>
                      <a:r>
                        <a:rPr lang="en-CA" b="1" noProof="0" err="1"/>
                        <a:t>Coûts</a:t>
                      </a:r>
                      <a:r>
                        <a:rPr lang="en-CA" b="1" noProof="0"/>
                        <a:t> fixes</a:t>
                      </a:r>
                    </a:p>
                    <a:p>
                      <a:pPr marL="180000" lvl="1"/>
                      <a:r>
                        <a:rPr lang="en-CA" noProof="0" err="1"/>
                        <a:t>Bâtiment</a:t>
                      </a:r>
                      <a:endParaRPr lang="en-CA" noProof="0"/>
                    </a:p>
                    <a:p>
                      <a:pPr marL="179705" lvl="1"/>
                      <a:r>
                        <a:rPr lang="en-CA" noProof="0" err="1"/>
                        <a:t>Tracteurs</a:t>
                      </a:r>
                      <a:endParaRPr lang="en-CA" noProof="0"/>
                    </a:p>
                    <a:p>
                      <a:pPr marL="179705" lvl="1"/>
                      <a:r>
                        <a:rPr lang="en-CA" noProof="0" err="1"/>
                        <a:t>Équipement</a:t>
                      </a:r>
                      <a:r>
                        <a:rPr lang="en-CA" noProof="0"/>
                        <a:t> - </a:t>
                      </a:r>
                      <a:r>
                        <a:rPr lang="en-CA" noProof="0" err="1"/>
                        <a:t>été</a:t>
                      </a:r>
                      <a:endParaRPr lang="en-CA" noProof="0"/>
                    </a:p>
                    <a:p>
                      <a:pPr marL="179705" lvl="1"/>
                      <a:r>
                        <a:rPr lang="en-CA" noProof="0" err="1"/>
                        <a:t>Équipement</a:t>
                      </a:r>
                      <a:r>
                        <a:rPr lang="en-CA" noProof="0"/>
                        <a:t> - hiver</a:t>
                      </a:r>
                    </a:p>
                  </a:txBody>
                  <a:tcPr/>
                </a:tc>
                <a:tc>
                  <a:txBody>
                    <a:bodyPr/>
                    <a:lstStyle/>
                    <a:p>
                      <a:endParaRPr lang="en-CA" noProof="0"/>
                    </a:p>
                    <a:p>
                      <a:r>
                        <a:rPr lang="en-CA" noProof="0"/>
                        <a:t>  20 000 $</a:t>
                      </a:r>
                    </a:p>
                    <a:p>
                      <a:r>
                        <a:rPr lang="en-CA" noProof="0"/>
                        <a:t>  24 000 $</a:t>
                      </a:r>
                    </a:p>
                    <a:p>
                      <a:r>
                        <a:rPr lang="en-CA" noProof="0"/>
                        <a:t>  10 000 $</a:t>
                      </a:r>
                    </a:p>
                    <a:p>
                      <a:r>
                        <a:rPr lang="en-CA" noProof="0"/>
                        <a:t>          -</a:t>
                      </a:r>
                    </a:p>
                  </a:txBody>
                  <a:tcPr/>
                </a:tc>
                <a:tc>
                  <a:txBody>
                    <a:bodyPr/>
                    <a:lstStyle/>
                    <a:p>
                      <a:endParaRPr lang="en-CA" noProof="0"/>
                    </a:p>
                    <a:p>
                      <a:r>
                        <a:rPr lang="en-CA" noProof="0"/>
                        <a:t>  20 000 $</a:t>
                      </a:r>
                    </a:p>
                    <a:p>
                      <a:r>
                        <a:rPr lang="en-CA" noProof="0"/>
                        <a:t>  24 000 $</a:t>
                      </a:r>
                    </a:p>
                    <a:p>
                      <a:r>
                        <a:rPr lang="en-CA" noProof="0"/>
                        <a:t>         -</a:t>
                      </a:r>
                    </a:p>
                    <a:p>
                      <a:r>
                        <a:rPr lang="en-CA" noProof="0"/>
                        <a:t>  12 000 $</a:t>
                      </a:r>
                    </a:p>
                  </a:txBody>
                  <a:tcPr/>
                </a:tc>
                <a:tc>
                  <a:txBody>
                    <a:bodyPr/>
                    <a:lstStyle/>
                    <a:p>
                      <a:endParaRPr lang="en-CA" noProof="0" dirty="0"/>
                    </a:p>
                    <a:p>
                      <a:r>
                        <a:rPr lang="en-CA" noProof="0" dirty="0"/>
                        <a:t>110 000 $</a:t>
                      </a:r>
                    </a:p>
                  </a:txBody>
                  <a:tcPr/>
                </a:tc>
                <a:extLst>
                  <a:ext uri="{0D108BD9-81ED-4DB2-BD59-A6C34878D82A}">
                    <a16:rowId xmlns:a16="http://schemas.microsoft.com/office/drawing/2014/main" val="2512256763"/>
                  </a:ext>
                </a:extLst>
              </a:tr>
              <a:tr h="481280">
                <a:tc>
                  <a:txBody>
                    <a:bodyPr/>
                    <a:lstStyle/>
                    <a:p>
                      <a:pPr marL="0" lvl="0" indent="-277495"/>
                      <a:r>
                        <a:rPr lang="en-CA" b="1" noProof="0" err="1"/>
                        <a:t>Résultat</a:t>
                      </a:r>
                      <a:r>
                        <a:rPr lang="en-CA" b="1" noProof="0"/>
                        <a:t> </a:t>
                      </a:r>
                      <a:r>
                        <a:rPr lang="en-CA" b="1" noProof="0" err="1"/>
                        <a:t>d’exploitation</a:t>
                      </a:r>
                      <a:endParaRPr lang="en-CA" b="1" noProof="0"/>
                    </a:p>
                  </a:txBody>
                  <a:tcPr/>
                </a:tc>
                <a:tc>
                  <a:txBody>
                    <a:bodyPr/>
                    <a:lstStyle/>
                    <a:p>
                      <a:r>
                        <a:rPr lang="en-CA" noProof="0"/>
                        <a:t>136 000 $</a:t>
                      </a:r>
                    </a:p>
                  </a:txBody>
                  <a:tcPr/>
                </a:tc>
                <a:tc>
                  <a:txBody>
                    <a:bodyPr/>
                    <a:lstStyle/>
                    <a:p>
                      <a:r>
                        <a:rPr lang="en-CA" noProof="0" dirty="0"/>
                        <a:t>(31 000)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1" noProof="0" dirty="0"/>
                        <a:t>105 000 $</a:t>
                      </a:r>
                    </a:p>
                  </a:txBody>
                  <a:tcPr/>
                </a:tc>
                <a:extLst>
                  <a:ext uri="{0D108BD9-81ED-4DB2-BD59-A6C34878D82A}">
                    <a16:rowId xmlns:a16="http://schemas.microsoft.com/office/drawing/2014/main" val="3137109018"/>
                  </a:ext>
                </a:extLst>
              </a:tr>
            </a:tbl>
          </a:graphicData>
        </a:graphic>
      </p:graphicFrame>
      <p:sp>
        <p:nvSpPr>
          <p:cNvPr id="4" name="Espace réservé du contenu 2">
            <a:extLst>
              <a:ext uri="{FF2B5EF4-FFF2-40B4-BE49-F238E27FC236}">
                <a16:creationId xmlns:a16="http://schemas.microsoft.com/office/drawing/2014/main" id="{72CFA9E3-1925-192A-05FE-E16DFABE88EB}"/>
              </a:ext>
            </a:extLst>
          </p:cNvPr>
          <p:cNvSpPr txBox="1">
            <a:spLocks/>
          </p:cNvSpPr>
          <p:nvPr>
            <p:custDataLst>
              <p:tags r:id="rId4"/>
            </p:custDataLst>
          </p:nvPr>
        </p:nvSpPr>
        <p:spPr>
          <a:xfrm>
            <a:off x="1940284" y="5895134"/>
            <a:ext cx="9183796" cy="867193"/>
          </a:xfrm>
          <a:prstGeom prst="rect">
            <a:avLst/>
          </a:prstGeom>
          <a:no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400">
                <a:solidFill>
                  <a:srgbClr val="C00000"/>
                </a:solidFill>
                <a:effectLst/>
              </a:rPr>
              <a:t>Monsieur Deschamps se demande s’il devrait continuer d’offrir le service de déneigement l’hiver. </a:t>
            </a:r>
            <a:r>
              <a:rPr lang="fr-CA" sz="2400">
                <a:solidFill>
                  <a:srgbClr val="C00000"/>
                </a:solidFill>
              </a:rPr>
              <a:t>Qu’en pensez-vous?</a:t>
            </a:r>
            <a:endParaRPr lang="fr-CA" sz="2400">
              <a:solidFill>
                <a:srgbClr val="C00000"/>
              </a:solidFill>
              <a:effectLst/>
            </a:endParaRPr>
          </a:p>
        </p:txBody>
      </p:sp>
      <p:sp>
        <p:nvSpPr>
          <p:cNvPr id="5" name="Espace réservé du pied de page 3">
            <a:extLst>
              <a:ext uri="{FF2B5EF4-FFF2-40B4-BE49-F238E27FC236}">
                <a16:creationId xmlns:a16="http://schemas.microsoft.com/office/drawing/2014/main" id="{11DF1728-234C-1679-4C06-406F687AFBAC}"/>
              </a:ext>
            </a:extLst>
          </p:cNvPr>
          <p:cNvSpPr>
            <a:spLocks noGrp="1"/>
          </p:cNvSpPr>
          <p:nvPr>
            <p:ph type="ftr" sz="quarter" idx="11"/>
            <p:custDataLst>
              <p:tags r:id="rId5"/>
            </p:custDataLst>
          </p:nvPr>
        </p:nvSpPr>
        <p:spPr>
          <a:xfrm>
            <a:off x="7509031" y="6394068"/>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7" name="Espace réservé du numéro de diapositive 4">
            <a:extLst>
              <a:ext uri="{FF2B5EF4-FFF2-40B4-BE49-F238E27FC236}">
                <a16:creationId xmlns:a16="http://schemas.microsoft.com/office/drawing/2014/main" id="{68FF31DA-7881-2646-91AC-5653E7B49816}"/>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29</a:t>
            </a:fld>
            <a:endParaRPr lang="fr-CA">
              <a:solidFill>
                <a:prstClr val="black">
                  <a:tint val="75000"/>
                </a:prstClr>
              </a:solidFill>
            </a:endParaRPr>
          </a:p>
        </p:txBody>
      </p:sp>
    </p:spTree>
    <p:extLst>
      <p:ext uri="{BB962C8B-B14F-4D97-AF65-F5344CB8AC3E}">
        <p14:creationId xmlns:p14="http://schemas.microsoft.com/office/powerpoint/2010/main" val="806275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42269-3D30-EED5-C458-D94C113D0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F01B6-D47E-E3A5-2E5E-D9C5880CCE33}"/>
              </a:ext>
            </a:extLst>
          </p:cNvPr>
          <p:cNvSpPr>
            <a:spLocks noGrp="1"/>
          </p:cNvSpPr>
          <p:nvPr>
            <p:ph type="title"/>
            <p:custDataLst>
              <p:tags r:id="rId1"/>
            </p:custDataLst>
          </p:nvPr>
        </p:nvSpPr>
        <p:spPr/>
        <p:txBody>
          <a:bodyPr/>
          <a:lstStyle/>
          <a:p>
            <a:r>
              <a:rPr lang="en-US" err="1">
                <a:cs typeface="Calibri Light"/>
              </a:rPr>
              <a:t>Piste</a:t>
            </a:r>
            <a:r>
              <a:rPr lang="en-US">
                <a:cs typeface="Calibri Light"/>
              </a:rPr>
              <a:t> de solution (étudiant)</a:t>
            </a:r>
            <a:endParaRPr lang="en-US" dirty="0"/>
          </a:p>
        </p:txBody>
      </p:sp>
    </p:spTree>
    <p:extLst>
      <p:ext uri="{BB962C8B-B14F-4D97-AF65-F5344CB8AC3E}">
        <p14:creationId xmlns:p14="http://schemas.microsoft.com/office/powerpoint/2010/main" val="2258351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1F631-5660-B6FC-70BE-2E46D1340521}"/>
              </a:ext>
            </a:extLst>
          </p:cNvPr>
          <p:cNvSpPr>
            <a:spLocks noGrp="1"/>
          </p:cNvSpPr>
          <p:nvPr>
            <p:ph type="title"/>
            <p:custDataLst>
              <p:tags r:id="rId1"/>
            </p:custDataLst>
          </p:nvPr>
        </p:nvSpPr>
        <p:spPr/>
        <p:txBody>
          <a:bodyPr/>
          <a:lstStyle/>
          <a:p>
            <a:r>
              <a:rPr lang="en-US" err="1">
                <a:cs typeface="Calibri Light"/>
              </a:rPr>
              <a:t>Piste</a:t>
            </a:r>
            <a:r>
              <a:rPr lang="en-US">
                <a:cs typeface="Calibri Light"/>
              </a:rPr>
              <a:t> de solution (étudiant)</a:t>
            </a:r>
            <a:endParaRPr lang="en-US" dirty="0"/>
          </a:p>
        </p:txBody>
      </p:sp>
      <p:graphicFrame>
        <p:nvGraphicFramePr>
          <p:cNvPr id="5" name="Tableau 6">
            <a:extLst>
              <a:ext uri="{FF2B5EF4-FFF2-40B4-BE49-F238E27FC236}">
                <a16:creationId xmlns:a16="http://schemas.microsoft.com/office/drawing/2014/main" id="{70A68E0E-229B-9541-5689-322D13CED70B}"/>
              </a:ext>
            </a:extLst>
          </p:cNvPr>
          <p:cNvGraphicFramePr>
            <a:graphicFrameLocks noGrp="1"/>
          </p:cNvGraphicFramePr>
          <p:nvPr>
            <p:custDataLst>
              <p:tags r:id="rId2"/>
            </p:custDataLst>
          </p:nvPr>
        </p:nvGraphicFramePr>
        <p:xfrm>
          <a:off x="528302" y="1571216"/>
          <a:ext cx="11102865" cy="4291280"/>
        </p:xfrm>
        <a:graphic>
          <a:graphicData uri="http://schemas.openxmlformats.org/drawingml/2006/table">
            <a:tbl>
              <a:tblPr firstRow="1" bandRow="1">
                <a:tableStyleId>{5940675A-B579-460E-94D1-54222C63F5DA}</a:tableStyleId>
              </a:tblPr>
              <a:tblGrid>
                <a:gridCol w="2361202">
                  <a:extLst>
                    <a:ext uri="{9D8B030D-6E8A-4147-A177-3AD203B41FA5}">
                      <a16:colId xmlns:a16="http://schemas.microsoft.com/office/drawing/2014/main" val="605514192"/>
                    </a:ext>
                  </a:extLst>
                </a:gridCol>
                <a:gridCol w="1219200">
                  <a:extLst>
                    <a:ext uri="{9D8B030D-6E8A-4147-A177-3AD203B41FA5}">
                      <a16:colId xmlns:a16="http://schemas.microsoft.com/office/drawing/2014/main" val="3301273123"/>
                    </a:ext>
                  </a:extLst>
                </a:gridCol>
                <a:gridCol w="2889504">
                  <a:extLst>
                    <a:ext uri="{9D8B030D-6E8A-4147-A177-3AD203B41FA5}">
                      <a16:colId xmlns:a16="http://schemas.microsoft.com/office/drawing/2014/main" val="915431833"/>
                    </a:ext>
                  </a:extLst>
                </a:gridCol>
                <a:gridCol w="4632959">
                  <a:extLst>
                    <a:ext uri="{9D8B030D-6E8A-4147-A177-3AD203B41FA5}">
                      <a16:colId xmlns:a16="http://schemas.microsoft.com/office/drawing/2014/main" val="1828467240"/>
                    </a:ext>
                  </a:extLst>
                </a:gridCol>
              </a:tblGrid>
              <a:tr h="347435">
                <a:tc>
                  <a:txBody>
                    <a:bodyPr/>
                    <a:lstStyle/>
                    <a:p>
                      <a:endParaRPr lang="en-CA" noProof="0" dirty="0"/>
                    </a:p>
                  </a:txBody>
                  <a:tcPr/>
                </a:tc>
                <a:tc>
                  <a:txBody>
                    <a:bodyPr/>
                    <a:lstStyle/>
                    <a:p>
                      <a:r>
                        <a:rPr lang="en-CA" b="1" noProof="0" dirty="0"/>
                        <a:t>Hiver</a:t>
                      </a:r>
                    </a:p>
                  </a:txBody>
                  <a:tcPr/>
                </a:tc>
                <a:tc>
                  <a:txBody>
                    <a:bodyPr/>
                    <a:lstStyle/>
                    <a:p>
                      <a:pPr lvl="0">
                        <a:buNone/>
                      </a:pPr>
                      <a:r>
                        <a:rPr lang="en-CA" b="1" noProof="0" dirty="0"/>
                        <a:t>Analyse de </a:t>
                      </a:r>
                      <a:r>
                        <a:rPr lang="en-CA" b="1" noProof="0" dirty="0" err="1"/>
                        <a:t>rentabilité</a:t>
                      </a:r>
                      <a:r>
                        <a:rPr lang="en-CA" b="1" noProof="0" dirty="0"/>
                        <a:t> (</a:t>
                      </a:r>
                      <a:r>
                        <a:rPr lang="en-CA" b="1" noProof="0" dirty="0" err="1"/>
                        <a:t>marges</a:t>
                      </a:r>
                      <a:r>
                        <a:rPr lang="en-CA" b="1" noProof="0" dirty="0"/>
                        <a:t>) </a:t>
                      </a:r>
                      <a:r>
                        <a:rPr lang="en-CA" b="0" noProof="0" dirty="0" err="1"/>
                        <a:t>Activité</a:t>
                      </a:r>
                      <a:r>
                        <a:rPr lang="en-CA" b="0" noProof="0" dirty="0"/>
                        <a:t> hiver</a:t>
                      </a:r>
                    </a:p>
                  </a:txBody>
                  <a:tcPr/>
                </a:tc>
                <a:tc>
                  <a:txBody>
                    <a:bodyPr/>
                    <a:lstStyle/>
                    <a:p>
                      <a:pPr lvl="0">
                        <a:buNone/>
                      </a:pPr>
                      <a:r>
                        <a:rPr lang="en-CA" b="1" noProof="0" dirty="0"/>
                        <a:t>Analyse </a:t>
                      </a:r>
                      <a:r>
                        <a:rPr lang="en-CA" b="1" noProof="0" err="1"/>
                        <a:t>différentielle</a:t>
                      </a:r>
                    </a:p>
                  </a:txBody>
                  <a:tcPr/>
                </a:tc>
                <a:extLst>
                  <a:ext uri="{0D108BD9-81ED-4DB2-BD59-A6C34878D82A}">
                    <a16:rowId xmlns:a16="http://schemas.microsoft.com/office/drawing/2014/main" val="2506990494"/>
                  </a:ext>
                </a:extLst>
              </a:tr>
              <a:tr h="345138">
                <a:tc>
                  <a:txBody>
                    <a:bodyPr/>
                    <a:lstStyle/>
                    <a:p>
                      <a:r>
                        <a:rPr lang="en-CA" b="1" noProof="0" dirty="0"/>
                        <a:t>Ventes</a:t>
                      </a:r>
                    </a:p>
                  </a:txBody>
                  <a:tcPr/>
                </a:tc>
                <a:tc>
                  <a:txBody>
                    <a:bodyPr/>
                    <a:lstStyle/>
                    <a:p>
                      <a:r>
                        <a:rPr lang="en-CA" noProof="0" dirty="0"/>
                        <a:t>130 000 $</a:t>
                      </a:r>
                    </a:p>
                  </a:txBody>
                  <a:tcPr/>
                </a:tc>
                <a:tc rowSpan="4">
                  <a:txBody>
                    <a:bodyPr/>
                    <a:lstStyle/>
                    <a:p>
                      <a:pPr lvl="0">
                        <a:buNone/>
                      </a:pPr>
                      <a:endParaRPr lang="en-CA" noProof="0" dirty="0"/>
                    </a:p>
                  </a:txBody>
                  <a:tcPr/>
                </a:tc>
                <a:tc rowSpan="4">
                  <a:txBody>
                    <a:bodyPr/>
                    <a:lstStyle/>
                    <a:p>
                      <a:pPr lvl="0">
                        <a:buNone/>
                      </a:pPr>
                      <a:r>
                        <a:rPr lang="en-CA" noProof="0" dirty="0"/>
                        <a:t>Continue    Abandon                   </a:t>
                      </a:r>
                      <a:r>
                        <a:rPr lang="en-CA" noProof="0" dirty="0" err="1"/>
                        <a:t>Différentiel</a:t>
                      </a:r>
                      <a:endParaRPr lang="en-CA" noProof="0" dirty="0"/>
                    </a:p>
                  </a:txBody>
                  <a:tcPr/>
                </a:tc>
                <a:extLst>
                  <a:ext uri="{0D108BD9-81ED-4DB2-BD59-A6C34878D82A}">
                    <a16:rowId xmlns:a16="http://schemas.microsoft.com/office/drawing/2014/main" val="3390228602"/>
                  </a:ext>
                </a:extLst>
              </a:tr>
              <a:tr h="963831">
                <a:tc>
                  <a:txBody>
                    <a:bodyPr/>
                    <a:lstStyle/>
                    <a:p>
                      <a:r>
                        <a:rPr lang="en-CA" b="1" noProof="0" dirty="0" err="1"/>
                        <a:t>Coûts</a:t>
                      </a:r>
                      <a:r>
                        <a:rPr lang="en-CA" b="1" noProof="0" dirty="0"/>
                        <a:t> variables</a:t>
                      </a:r>
                    </a:p>
                    <a:p>
                      <a:pPr marL="179705"/>
                      <a:r>
                        <a:rPr lang="en-CA" sz="1600" noProof="0" dirty="0"/>
                        <a:t>Pesticides, </a:t>
                      </a:r>
                      <a:r>
                        <a:rPr lang="en-CA" sz="1600" noProof="0" dirty="0" err="1"/>
                        <a:t>engrais</a:t>
                      </a:r>
                      <a:r>
                        <a:rPr lang="en-CA" sz="1600" noProof="0" dirty="0"/>
                        <a:t>, ...</a:t>
                      </a:r>
                    </a:p>
                    <a:p>
                      <a:pPr marL="179705"/>
                      <a:r>
                        <a:rPr lang="en-CA" sz="1600" noProof="0" dirty="0"/>
                        <a:t>MOD</a:t>
                      </a:r>
                    </a:p>
                    <a:p>
                      <a:pPr marL="179705"/>
                      <a:r>
                        <a:rPr lang="en-CA" sz="1600" noProof="0" dirty="0"/>
                        <a:t>Essence</a:t>
                      </a:r>
                    </a:p>
                  </a:txBody>
                  <a:tcPr/>
                </a:tc>
                <a:tc>
                  <a:txBody>
                    <a:bodyPr/>
                    <a:lstStyle/>
                    <a:p>
                      <a:endParaRPr lang="en-CA" noProof="0" dirty="0"/>
                    </a:p>
                    <a:p>
                      <a:endParaRPr lang="en-CA" noProof="0" dirty="0"/>
                    </a:p>
                    <a:p>
                      <a:r>
                        <a:rPr lang="en-CA" noProof="0" dirty="0"/>
                        <a:t>  75 000 $</a:t>
                      </a:r>
                    </a:p>
                    <a:p>
                      <a:r>
                        <a:rPr lang="en-CA" noProof="0" dirty="0"/>
                        <a:t>  30 000 $</a:t>
                      </a:r>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268729115"/>
                  </a:ext>
                </a:extLst>
              </a:tr>
              <a:tr h="1186253">
                <a:tc>
                  <a:txBody>
                    <a:bodyPr/>
                    <a:lstStyle/>
                    <a:p>
                      <a:r>
                        <a:rPr lang="en-CA" b="1" noProof="0" dirty="0" err="1"/>
                        <a:t>Coûts</a:t>
                      </a:r>
                      <a:r>
                        <a:rPr lang="en-CA" b="1" noProof="0" dirty="0"/>
                        <a:t> fixes</a:t>
                      </a:r>
                    </a:p>
                    <a:p>
                      <a:pPr marL="179705" lvl="1">
                        <a:buNone/>
                      </a:pPr>
                      <a:r>
                        <a:rPr lang="en-CA" sz="1600" b="0" i="0" u="none" strike="noStrike" noProof="0" dirty="0">
                          <a:solidFill>
                            <a:srgbClr val="000000"/>
                          </a:solidFill>
                          <a:latin typeface="Calibri"/>
                        </a:rPr>
                        <a:t>Équipement - </a:t>
                      </a:r>
                      <a:r>
                        <a:rPr lang="en-CA" sz="1600" b="0" i="0" u="none" strike="noStrike" noProof="0" dirty="0" err="1">
                          <a:solidFill>
                            <a:srgbClr val="000000"/>
                          </a:solidFill>
                          <a:latin typeface="Calibri"/>
                        </a:rPr>
                        <a:t>été</a:t>
                      </a:r>
                      <a:endParaRPr lang="en-CA" sz="1600" b="0" i="0" u="none" strike="noStrike" noProof="0" dirty="0">
                        <a:solidFill>
                          <a:srgbClr val="000000"/>
                        </a:solidFill>
                        <a:latin typeface="Calibri"/>
                      </a:endParaRPr>
                    </a:p>
                    <a:p>
                      <a:pPr marL="179705" lvl="1">
                        <a:buNone/>
                      </a:pPr>
                      <a:r>
                        <a:rPr lang="en-CA" sz="1600" b="0" i="0" u="none" strike="noStrike" noProof="0" dirty="0">
                          <a:solidFill>
                            <a:srgbClr val="000000"/>
                          </a:solidFill>
                          <a:latin typeface="Calibri"/>
                        </a:rPr>
                        <a:t>Équipement - hiver</a:t>
                      </a:r>
                      <a:endParaRPr lang="en-US" sz="1600" b="0" i="0" u="none" strike="noStrike" noProof="0" dirty="0">
                        <a:solidFill>
                          <a:srgbClr val="000000"/>
                        </a:solidFill>
                        <a:latin typeface="Calibri"/>
                      </a:endParaRPr>
                    </a:p>
                    <a:p>
                      <a:pPr marL="179705" lvl="1">
                        <a:buNone/>
                      </a:pPr>
                      <a:r>
                        <a:rPr lang="en-CA" sz="1600" noProof="0" dirty="0" err="1"/>
                        <a:t>Bâtiment</a:t>
                      </a:r>
                      <a:endParaRPr lang="en-CA" sz="1600" noProof="0" dirty="0"/>
                    </a:p>
                    <a:p>
                      <a:pPr marL="179705" lvl="1"/>
                      <a:r>
                        <a:rPr lang="en-CA" sz="1600" noProof="0" dirty="0" err="1"/>
                        <a:t>Tracteurs</a:t>
                      </a:r>
                      <a:endParaRPr lang="en-CA" sz="1600" noProof="0" dirty="0"/>
                    </a:p>
                    <a:p>
                      <a:pPr marL="179705" lvl="1"/>
                      <a:endParaRPr lang="en-CA" noProof="0" dirty="0"/>
                    </a:p>
                  </a:txBody>
                  <a:tcPr/>
                </a:tc>
                <a:tc>
                  <a:txBody>
                    <a:bodyPr/>
                    <a:lstStyle/>
                    <a:p>
                      <a:endParaRPr lang="en-CA" noProof="0" dirty="0"/>
                    </a:p>
                    <a:p>
                      <a:r>
                        <a:rPr lang="en-CA" noProof="0" dirty="0"/>
                        <a:t>         -</a:t>
                      </a:r>
                    </a:p>
                    <a:p>
                      <a:r>
                        <a:rPr lang="en-CA" noProof="0" dirty="0"/>
                        <a:t>12 000 $</a:t>
                      </a:r>
                    </a:p>
                    <a:p>
                      <a:pPr lvl="0">
                        <a:buNone/>
                      </a:pPr>
                      <a:r>
                        <a:rPr lang="en-CA" sz="1800" b="0" i="0" u="none" strike="noStrike" noProof="0" dirty="0">
                          <a:solidFill>
                            <a:srgbClr val="000000"/>
                          </a:solidFill>
                          <a:latin typeface="Calibri"/>
                        </a:rPr>
                        <a:t>20 000 $</a:t>
                      </a:r>
                      <a:endParaRPr lang="en-US" sz="1800" b="0" i="0" u="none" strike="noStrike" noProof="0" dirty="0">
                        <a:solidFill>
                          <a:srgbClr val="000000"/>
                        </a:solidFill>
                        <a:latin typeface="Calibri"/>
                      </a:endParaRPr>
                    </a:p>
                    <a:p>
                      <a:pPr lvl="0">
                        <a:buNone/>
                      </a:pPr>
                      <a:r>
                        <a:rPr lang="en-CA" sz="1800" b="0" i="0" u="none" strike="noStrike" noProof="0" dirty="0">
                          <a:solidFill>
                            <a:srgbClr val="000000"/>
                          </a:solidFill>
                          <a:latin typeface="Calibri"/>
                        </a:rPr>
                        <a:t>24 000 $</a:t>
                      </a:r>
                      <a:endParaRPr lang="en-CA" dirty="0"/>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512256763"/>
                  </a:ext>
                </a:extLst>
              </a:tr>
              <a:tr h="481280">
                <a:tc>
                  <a:txBody>
                    <a:bodyPr/>
                    <a:lstStyle/>
                    <a:p>
                      <a:pPr marL="0" lvl="0" indent="-277495"/>
                      <a:r>
                        <a:rPr lang="en-CA" b="1" noProof="0" err="1"/>
                        <a:t>Résultat</a:t>
                      </a:r>
                      <a:r>
                        <a:rPr lang="en-CA" b="1" noProof="0" dirty="0"/>
                        <a:t> </a:t>
                      </a:r>
                      <a:r>
                        <a:rPr lang="en-CA" b="1" noProof="0" err="1"/>
                        <a:t>d’exploitation</a:t>
                      </a:r>
                      <a:endParaRPr lang="en-CA" b="1" noProof="0"/>
                    </a:p>
                  </a:txBody>
                  <a:tcPr/>
                </a:tc>
                <a:tc>
                  <a:txBody>
                    <a:bodyPr/>
                    <a:lstStyle/>
                    <a:p>
                      <a:r>
                        <a:rPr lang="en-CA" noProof="0" dirty="0"/>
                        <a:t>(31 000) $</a:t>
                      </a:r>
                    </a:p>
                  </a:txBody>
                  <a:tcPr/>
                </a:tc>
                <a:tc vMerge="1">
                  <a:txBody>
                    <a:bodyPr/>
                    <a:lstStyle/>
                    <a:p>
                      <a:pPr lvl="0">
                        <a:buNone/>
                      </a:pPr>
                      <a:endParaRPr lang="en-CA" b="1" noProof="0" dirty="0"/>
                    </a:p>
                  </a:txBody>
                  <a:tcPr/>
                </a:tc>
                <a:tc vMerge="1">
                  <a:txBody>
                    <a:bodyPr/>
                    <a:lstStyle/>
                    <a:p>
                      <a:pPr lvl="0">
                        <a:buNone/>
                      </a:pPr>
                      <a:endParaRPr lang="en-CA" b="1" noProof="0" dirty="0"/>
                    </a:p>
                  </a:txBody>
                  <a:tcPr/>
                </a:tc>
                <a:extLst>
                  <a:ext uri="{0D108BD9-81ED-4DB2-BD59-A6C34878D82A}">
                    <a16:rowId xmlns:a16="http://schemas.microsoft.com/office/drawing/2014/main" val="3137109018"/>
                  </a:ext>
                </a:extLst>
              </a:tr>
            </a:tbl>
          </a:graphicData>
        </a:graphic>
      </p:graphicFrame>
    </p:spTree>
    <p:extLst>
      <p:ext uri="{BB962C8B-B14F-4D97-AF65-F5344CB8AC3E}">
        <p14:creationId xmlns:p14="http://schemas.microsoft.com/office/powerpoint/2010/main" val="6054765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FB939F-186C-2A9D-35C8-E4AC0B43ED55}"/>
              </a:ext>
            </a:extLst>
          </p:cNvPr>
          <p:cNvSpPr>
            <a:spLocks noGrp="1"/>
          </p:cNvSpPr>
          <p:nvPr>
            <p:ph type="ctrTitle"/>
            <p:custDataLst>
              <p:tags r:id="rId1"/>
            </p:custDataLst>
          </p:nvPr>
        </p:nvSpPr>
        <p:spPr/>
        <p:txBody>
          <a:bodyPr/>
          <a:lstStyle/>
          <a:p>
            <a:r>
              <a:rPr lang="fr-CA"/>
              <a:t>Exemple 3: </a:t>
            </a:r>
          </a:p>
        </p:txBody>
      </p:sp>
      <p:sp>
        <p:nvSpPr>
          <p:cNvPr id="3" name="Sous-titre 2">
            <a:extLst>
              <a:ext uri="{FF2B5EF4-FFF2-40B4-BE49-F238E27FC236}">
                <a16:creationId xmlns:a16="http://schemas.microsoft.com/office/drawing/2014/main" id="{2D225BC7-C466-74E8-AED7-D7C1E7834CF1}"/>
              </a:ext>
            </a:extLst>
          </p:cNvPr>
          <p:cNvSpPr>
            <a:spLocks noGrp="1"/>
          </p:cNvSpPr>
          <p:nvPr>
            <p:ph type="subTitle" idx="1"/>
            <p:custDataLst>
              <p:tags r:id="rId2"/>
            </p:custDataLst>
          </p:nvPr>
        </p:nvSpPr>
        <p:spPr/>
        <p:txBody>
          <a:bodyPr>
            <a:normAutofit/>
          </a:bodyPr>
          <a:lstStyle/>
          <a:p>
            <a:r>
              <a:rPr lang="fr-CA" sz="3600" dirty="0"/>
              <a:t>Choisir parmi une gamme de produits</a:t>
            </a:r>
            <a:endParaRPr lang="fr-CA" sz="3200" dirty="0"/>
          </a:p>
        </p:txBody>
      </p:sp>
      <p:sp>
        <p:nvSpPr>
          <p:cNvPr id="4" name="Espace réservé du pied de page 3">
            <a:extLst>
              <a:ext uri="{FF2B5EF4-FFF2-40B4-BE49-F238E27FC236}">
                <a16:creationId xmlns:a16="http://schemas.microsoft.com/office/drawing/2014/main" id="{49E1B7A1-0327-8496-39C6-614B4A467BF4}"/>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273AE8BF-726A-DAA4-4CA8-5D44DD99DBF4}"/>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32</a:t>
            </a:fld>
            <a:endParaRPr lang="fr-CA">
              <a:solidFill>
                <a:prstClr val="black">
                  <a:tint val="75000"/>
                </a:prstClr>
              </a:solidFill>
            </a:endParaRPr>
          </a:p>
        </p:txBody>
      </p:sp>
    </p:spTree>
    <p:extLst>
      <p:ext uri="{BB962C8B-B14F-4D97-AF65-F5344CB8AC3E}">
        <p14:creationId xmlns:p14="http://schemas.microsoft.com/office/powerpoint/2010/main" val="3389612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D5673A-9E03-4C2C-9112-60384DFC332C}"/>
              </a:ext>
            </a:extLst>
          </p:cNvPr>
          <p:cNvSpPr>
            <a:spLocks noGrp="1"/>
          </p:cNvSpPr>
          <p:nvPr>
            <p:ph type="title"/>
            <p:custDataLst>
              <p:tags r:id="rId1"/>
            </p:custDataLst>
          </p:nvPr>
        </p:nvSpPr>
        <p:spPr/>
        <p:txBody>
          <a:bodyPr>
            <a:normAutofit/>
          </a:bodyPr>
          <a:lstStyle/>
          <a:p>
            <a:r>
              <a:rPr lang="fr-CA" sz="4000"/>
              <a:t>Choisir parmi une gamme de produits</a:t>
            </a:r>
          </a:p>
        </p:txBody>
      </p:sp>
      <p:sp>
        <p:nvSpPr>
          <p:cNvPr id="3" name="Espace réservé du contenu 2">
            <a:extLst>
              <a:ext uri="{FF2B5EF4-FFF2-40B4-BE49-F238E27FC236}">
                <a16:creationId xmlns:a16="http://schemas.microsoft.com/office/drawing/2014/main" id="{36634FAB-BA4B-4F96-8E35-8B7FC1ED55DC}"/>
              </a:ext>
            </a:extLst>
          </p:cNvPr>
          <p:cNvSpPr>
            <a:spLocks noGrp="1"/>
          </p:cNvSpPr>
          <p:nvPr>
            <p:ph idx="1"/>
            <p:custDataLst>
              <p:tags r:id="rId2"/>
            </p:custDataLst>
          </p:nvPr>
        </p:nvSpPr>
        <p:spPr/>
        <p:txBody>
          <a:bodyPr vert="horz" lIns="91440" tIns="45720" rIns="91440" bIns="45720" rtlCol="0" anchor="t">
            <a:normAutofit/>
          </a:bodyPr>
          <a:lstStyle/>
          <a:p>
            <a:pPr marL="0" indent="0">
              <a:buNone/>
            </a:pPr>
            <a:r>
              <a:rPr lang="fr-CA" sz="3600"/>
              <a:t>Contexte :</a:t>
            </a:r>
          </a:p>
          <a:p>
            <a:r>
              <a:rPr lang="fr-CA"/>
              <a:t>Dans une entreprise, il peut arriver que la demande finisse par dépasser la capacité de production disponible (facteur contraignant). </a:t>
            </a:r>
          </a:p>
          <a:p>
            <a:pPr marL="0" indent="0">
              <a:buNone/>
            </a:pPr>
            <a:r>
              <a:rPr lang="fr-CA"/>
              <a:t>   (exemple: une entreprise en croissance). </a:t>
            </a:r>
          </a:p>
          <a:p>
            <a:r>
              <a:rPr lang="fr-CA"/>
              <a:t>On peut alors : </a:t>
            </a:r>
          </a:p>
          <a:p>
            <a:pPr lvl="1"/>
            <a:r>
              <a:rPr lang="fr-CA"/>
              <a:t>Prioriser certains produits / services pour maximiser le résultat (contexte de ressources limitées) = décision court terme</a:t>
            </a:r>
          </a:p>
          <a:p>
            <a:pPr lvl="1"/>
            <a:r>
              <a:rPr lang="fr-CA"/>
              <a:t>Accroître la capacité de production = décision long terme</a:t>
            </a:r>
          </a:p>
          <a:p>
            <a:r>
              <a:rPr lang="fr-CA"/>
              <a:t>Lorsque l’on décide de prioriser, d’un point de vue financier, comment établir l’ordre de priorité ? </a:t>
            </a:r>
          </a:p>
          <a:p>
            <a:pPr marL="0" indent="0">
              <a:buNone/>
            </a:pPr>
            <a:endParaRPr lang="fr-CA"/>
          </a:p>
        </p:txBody>
      </p:sp>
      <p:sp>
        <p:nvSpPr>
          <p:cNvPr id="4" name="Espace réservé du pied de page 3">
            <a:extLst>
              <a:ext uri="{FF2B5EF4-FFF2-40B4-BE49-F238E27FC236}">
                <a16:creationId xmlns:a16="http://schemas.microsoft.com/office/drawing/2014/main" id="{154A2D5D-B4E9-D5DC-E796-FB2C1836F9C0}"/>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3DBB8B7D-9C64-E77B-4F9E-8B7829DA69A2}"/>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33</a:t>
            </a:fld>
            <a:endParaRPr lang="fr-CA">
              <a:solidFill>
                <a:prstClr val="black">
                  <a:tint val="75000"/>
                </a:prstClr>
              </a:solidFill>
            </a:endParaRPr>
          </a:p>
        </p:txBody>
      </p:sp>
    </p:spTree>
    <p:extLst>
      <p:ext uri="{BB962C8B-B14F-4D97-AF65-F5344CB8AC3E}">
        <p14:creationId xmlns:p14="http://schemas.microsoft.com/office/powerpoint/2010/main" val="2599813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321CB8-09A9-5DF4-E27C-CFD201D96485}"/>
              </a:ext>
            </a:extLst>
          </p:cNvPr>
          <p:cNvSpPr>
            <a:spLocks noGrp="1"/>
          </p:cNvSpPr>
          <p:nvPr>
            <p:ph type="title"/>
            <p:custDataLst>
              <p:tags r:id="rId1"/>
            </p:custDataLst>
          </p:nvPr>
        </p:nvSpPr>
        <p:spPr/>
        <p:txBody>
          <a:bodyPr/>
          <a:lstStyle/>
          <a:p>
            <a:r>
              <a:rPr lang="fr-CA"/>
              <a:t>Illustration </a:t>
            </a:r>
            <a:r>
              <a:rPr lang="fr-CA" err="1"/>
              <a:t>Eléctroflux</a:t>
            </a:r>
            <a:endParaRPr lang="fr-CA"/>
          </a:p>
        </p:txBody>
      </p:sp>
      <p:sp>
        <p:nvSpPr>
          <p:cNvPr id="3" name="Espace réservé du contenu 2">
            <a:extLst>
              <a:ext uri="{FF2B5EF4-FFF2-40B4-BE49-F238E27FC236}">
                <a16:creationId xmlns:a16="http://schemas.microsoft.com/office/drawing/2014/main" id="{67824612-124B-9FEC-B9EB-6ED44435E668}"/>
              </a:ext>
            </a:extLst>
          </p:cNvPr>
          <p:cNvSpPr>
            <a:spLocks noGrp="1"/>
          </p:cNvSpPr>
          <p:nvPr>
            <p:ph idx="1"/>
            <p:custDataLst>
              <p:tags r:id="rId2"/>
            </p:custDataLst>
          </p:nvPr>
        </p:nvSpPr>
        <p:spPr/>
        <p:txBody>
          <a:bodyPr>
            <a:normAutofit fontScale="85000" lnSpcReduction="20000"/>
          </a:bodyPr>
          <a:lstStyle/>
          <a:p>
            <a:pPr marL="0" indent="0">
              <a:buNone/>
            </a:pPr>
            <a:r>
              <a:rPr lang="fr-CA" sz="2800" dirty="0" err="1">
                <a:solidFill>
                  <a:srgbClr val="000000"/>
                </a:solidFill>
              </a:rPr>
              <a:t>Eléctroflux</a:t>
            </a:r>
            <a:r>
              <a:rPr lang="fr-CA" sz="2800" dirty="0">
                <a:solidFill>
                  <a:srgbClr val="000000"/>
                </a:solidFill>
              </a:rPr>
              <a:t> fabrique et commercialise des « solutions éclairantes ». Sa ligne de production de Sainte-Dorothée est la seule à pouvoir fabriquer des néons et des ampoules incandescentes. </a:t>
            </a:r>
          </a:p>
          <a:p>
            <a:pPr marL="0" indent="0">
              <a:buNone/>
            </a:pPr>
            <a:r>
              <a:rPr lang="fr-CA" sz="2800" dirty="0">
                <a:solidFill>
                  <a:srgbClr val="000000"/>
                </a:solidFill>
              </a:rPr>
              <a:t>Le service marketing a établi les prévisions de ventes suivantes : 41 000 boîtes de néons et 164 000 boîtes d’ampoules.</a:t>
            </a:r>
            <a:r>
              <a:rPr lang="fr-CA" sz="2800" b="1" dirty="0">
                <a:solidFill>
                  <a:srgbClr val="000000"/>
                </a:solidFill>
              </a:rPr>
              <a:t> </a:t>
            </a:r>
            <a:endParaRPr lang="fr-CA" sz="2800" b="1" dirty="0">
              <a:solidFill>
                <a:srgbClr val="000000"/>
              </a:solidFill>
              <a:cs typeface="Calibri"/>
            </a:endParaRPr>
          </a:p>
          <a:p>
            <a:pPr marL="0" indent="0">
              <a:buNone/>
            </a:pPr>
            <a:r>
              <a:rPr lang="fr-CA" sz="2800" dirty="0">
                <a:solidFill>
                  <a:srgbClr val="000000"/>
                </a:solidFill>
              </a:rPr>
              <a:t>La direction de la production nous indique qu’il faut 2 heures de MOD pour fabriquer une boîte de néons et 1 heure de MOD pour fabriquer une boîte d’ampoules.</a:t>
            </a:r>
            <a:endParaRPr lang="fr-CA" sz="2800" b="1" dirty="0">
              <a:solidFill>
                <a:srgbClr val="000000"/>
              </a:solidFill>
            </a:endParaRPr>
          </a:p>
          <a:p>
            <a:pPr marL="0" indent="0">
              <a:buNone/>
            </a:pPr>
            <a:r>
              <a:rPr lang="fr-CA" sz="2800" dirty="0">
                <a:solidFill>
                  <a:srgbClr val="000000"/>
                </a:solidFill>
              </a:rPr>
              <a:t>Après discussion avec la direction et les RH, on arrive au constat suivant : en période de pénurie de MOD au Québec, il sera difficile d’embaucher des employés additionnels.</a:t>
            </a:r>
            <a:endParaRPr lang="fr-CA" sz="2800" b="1" dirty="0">
              <a:solidFill>
                <a:srgbClr val="000000"/>
              </a:solidFill>
            </a:endParaRPr>
          </a:p>
          <a:p>
            <a:pPr marL="0" indent="0">
              <a:buNone/>
            </a:pPr>
            <a:r>
              <a:rPr lang="fr-CA" dirty="0">
                <a:solidFill>
                  <a:srgbClr val="000000"/>
                </a:solidFill>
              </a:rPr>
              <a:t>Pour l’année à venir, 240 000 heures de MOD (incluant les heures supplémentaires) seront disponibles. </a:t>
            </a:r>
            <a:r>
              <a:rPr lang="fr-CA" dirty="0" err="1">
                <a:solidFill>
                  <a:srgbClr val="000000"/>
                </a:solidFill>
              </a:rPr>
              <a:t>Électroflux</a:t>
            </a:r>
            <a:r>
              <a:rPr lang="fr-CA" dirty="0">
                <a:solidFill>
                  <a:srgbClr val="000000"/>
                </a:solidFill>
              </a:rPr>
              <a:t> aura toutefois besoin de 246 000 heures pour répondre à la demande prévue. L’entreprise fait donc face à un manque de capacité de 6 000 heures de MOD.</a:t>
            </a:r>
            <a:endParaRPr lang="fr-CA" dirty="0"/>
          </a:p>
        </p:txBody>
      </p:sp>
      <p:pic>
        <p:nvPicPr>
          <p:cNvPr id="6" name="Image 5">
            <a:extLst>
              <a:ext uri="{FF2B5EF4-FFF2-40B4-BE49-F238E27FC236}">
                <a16:creationId xmlns:a16="http://schemas.microsoft.com/office/drawing/2014/main" id="{DD7A8EA1-CDCF-CA62-6BC5-92298A0723E7}"/>
              </a:ext>
            </a:extLst>
          </p:cNvPr>
          <p:cNvPicPr>
            <a:picLocks noChangeAspect="1"/>
          </p:cNvPicPr>
          <p:nvPr>
            <p:custDataLst>
              <p:tags r:id="rId3"/>
            </p:custDataLst>
          </p:nvPr>
        </p:nvPicPr>
        <p:blipFill rotWithShape="1">
          <a:blip r:embed="rId8" cstate="print">
            <a:alphaModFix/>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18950" r="17751" b="-2"/>
          <a:stretch/>
        </p:blipFill>
        <p:spPr>
          <a:xfrm>
            <a:off x="10840204" y="53959"/>
            <a:ext cx="1198251" cy="1254155"/>
          </a:xfrm>
          <a:custGeom>
            <a:avLst/>
            <a:gdLst/>
            <a:ahLst/>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effectLst>
            <a:softEdge rad="0"/>
          </a:effectLst>
        </p:spPr>
      </p:pic>
      <p:sp>
        <p:nvSpPr>
          <p:cNvPr id="4" name="Espace réservé du pied de page 3">
            <a:extLst>
              <a:ext uri="{FF2B5EF4-FFF2-40B4-BE49-F238E27FC236}">
                <a16:creationId xmlns:a16="http://schemas.microsoft.com/office/drawing/2014/main" id="{1435D0F4-31B2-909B-BAC3-3FF262D0C9B8}"/>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BE54BB69-279B-CA45-68F9-CCBDF2B1385C}"/>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34</a:t>
            </a:fld>
            <a:endParaRPr lang="fr-CA">
              <a:solidFill>
                <a:prstClr val="black">
                  <a:tint val="75000"/>
                </a:prstClr>
              </a:solidFill>
            </a:endParaRPr>
          </a:p>
        </p:txBody>
      </p:sp>
    </p:spTree>
    <p:extLst>
      <p:ext uri="{BB962C8B-B14F-4D97-AF65-F5344CB8AC3E}">
        <p14:creationId xmlns:p14="http://schemas.microsoft.com/office/powerpoint/2010/main" val="2402804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A5CD4D-4583-8426-9C69-733E8E74DCB5}"/>
              </a:ext>
            </a:extLst>
          </p:cNvPr>
          <p:cNvSpPr>
            <a:spLocks noGrp="1"/>
          </p:cNvSpPr>
          <p:nvPr>
            <p:ph type="title"/>
            <p:custDataLst>
              <p:tags r:id="rId1"/>
            </p:custDataLst>
          </p:nvPr>
        </p:nvSpPr>
        <p:spPr>
          <a:xfrm>
            <a:off x="928379" y="198918"/>
            <a:ext cx="6615545" cy="1042570"/>
          </a:xfrm>
        </p:spPr>
        <p:txBody>
          <a:bodyPr/>
          <a:lstStyle/>
          <a:p>
            <a:r>
              <a:rPr lang="fr-CA" dirty="0"/>
              <a:t>QUESTIONS : </a:t>
            </a:r>
          </a:p>
        </p:txBody>
      </p:sp>
      <p:sp>
        <p:nvSpPr>
          <p:cNvPr id="3" name="Espace réservé du contenu 2">
            <a:extLst>
              <a:ext uri="{FF2B5EF4-FFF2-40B4-BE49-F238E27FC236}">
                <a16:creationId xmlns:a16="http://schemas.microsoft.com/office/drawing/2014/main" id="{7C3CC262-E147-513F-9550-23559BD1E10C}"/>
              </a:ext>
            </a:extLst>
          </p:cNvPr>
          <p:cNvSpPr>
            <a:spLocks noGrp="1"/>
          </p:cNvSpPr>
          <p:nvPr>
            <p:ph idx="1"/>
            <p:custDataLst>
              <p:tags r:id="rId2"/>
            </p:custDataLst>
          </p:nvPr>
        </p:nvSpPr>
        <p:spPr>
          <a:xfrm>
            <a:off x="455586" y="1567961"/>
            <a:ext cx="6981534" cy="4569836"/>
          </a:xfrm>
        </p:spPr>
        <p:txBody>
          <a:bodyPr>
            <a:normAutofit/>
          </a:bodyPr>
          <a:lstStyle/>
          <a:p>
            <a:pPr marL="0" indent="0">
              <a:buNone/>
            </a:pPr>
            <a:r>
              <a:rPr lang="fr-CA" sz="2600" dirty="0"/>
              <a:t>Si on souhaite </a:t>
            </a:r>
            <a:r>
              <a:rPr lang="fr-CA" sz="2600" b="1" u="sng" dirty="0"/>
              <a:t>réduire l’impact du manque de capacité (6 000 </a:t>
            </a:r>
            <a:r>
              <a:rPr lang="fr-CA" sz="2600" b="1" u="sng" dirty="0" err="1"/>
              <a:t>hrs</a:t>
            </a:r>
            <a:r>
              <a:rPr lang="fr-CA" sz="2600" b="1" u="sng" dirty="0"/>
              <a:t> MOD) sur notre profit  :</a:t>
            </a:r>
            <a:r>
              <a:rPr lang="fr-CA" sz="2600" dirty="0"/>
              <a:t> </a:t>
            </a:r>
          </a:p>
          <a:p>
            <a:pPr marL="0" indent="0">
              <a:buNone/>
            </a:pPr>
            <a:r>
              <a:rPr lang="fr-CA" sz="2600" dirty="0"/>
              <a:t>Quelle production doit-on réduire (néons ou ampoules) ? </a:t>
            </a:r>
          </a:p>
          <a:p>
            <a:pPr marL="0" indent="0">
              <a:buNone/>
            </a:pPr>
            <a:r>
              <a:rPr lang="fr-CA" sz="2600" dirty="0"/>
              <a:t>Combien de chaque produit devrait-on produire ?</a:t>
            </a:r>
          </a:p>
          <a:p>
            <a:pPr marL="0" indent="0">
              <a:buNone/>
            </a:pPr>
            <a:r>
              <a:rPr lang="fr-CA" sz="2600" dirty="0"/>
              <a:t>Quel sera le plan de production optimal ? </a:t>
            </a:r>
          </a:p>
          <a:p>
            <a:pPr marL="0" indent="0">
              <a:buNone/>
            </a:pPr>
            <a:r>
              <a:rPr lang="fr-CA" sz="2600" dirty="0"/>
              <a:t>Compte tenu des MCV unitaires des deux produits, le contrôleur propose de </a:t>
            </a:r>
            <a:r>
              <a:rPr lang="fr-CA" sz="2600" u="sng" dirty="0"/>
              <a:t>diminuer</a:t>
            </a:r>
            <a:r>
              <a:rPr lang="fr-CA" sz="2600" dirty="0"/>
              <a:t> la production de boîtes d’ampoules. </a:t>
            </a:r>
          </a:p>
          <a:p>
            <a:r>
              <a:rPr lang="fr-CA" sz="2600" b="1" dirty="0">
                <a:solidFill>
                  <a:srgbClr val="C00000"/>
                </a:solidFill>
                <a:latin typeface="Calibri Light" panose="020F0302020204030204"/>
              </a:rPr>
              <a:t>Qu’en pensez-vous ?  </a:t>
            </a:r>
            <a:endParaRPr lang="fr-CA" sz="2600" dirty="0">
              <a:solidFill>
                <a:srgbClr val="C00000"/>
              </a:solidFill>
              <a:latin typeface="Calibri Light" panose="020F0302020204030204"/>
            </a:endParaRPr>
          </a:p>
          <a:p>
            <a:pPr marL="0" indent="0">
              <a:buNone/>
            </a:pPr>
            <a:endParaRPr lang="fr-CA" sz="2800" dirty="0"/>
          </a:p>
          <a:p>
            <a:endParaRPr lang="fr-CA" dirty="0"/>
          </a:p>
        </p:txBody>
      </p:sp>
      <p:pic>
        <p:nvPicPr>
          <p:cNvPr id="6" name="Image 5">
            <a:extLst>
              <a:ext uri="{FF2B5EF4-FFF2-40B4-BE49-F238E27FC236}">
                <a16:creationId xmlns:a16="http://schemas.microsoft.com/office/drawing/2014/main" id="{9DF63EF7-0A87-A974-1EB7-93D8D6D32710}"/>
              </a:ext>
            </a:extLst>
          </p:cNvPr>
          <p:cNvPicPr>
            <a:picLocks noChangeAspect="1"/>
          </p:cNvPicPr>
          <p:nvPr>
            <p:custDataLst>
              <p:tags r:id="rId3"/>
            </p:custDataLst>
          </p:nvPr>
        </p:nvPicPr>
        <p:blipFill rotWithShape="1">
          <a:blip r:embed="rId9">
            <a:extLst>
              <a:ext uri="{28A0092B-C50C-407E-A947-70E740481C1C}">
                <a14:useLocalDpi xmlns:a14="http://schemas.microsoft.com/office/drawing/2010/main" val="0"/>
              </a:ext>
            </a:extLst>
          </a:blip>
          <a:srcRect r="-2" b="12342"/>
          <a:stretch/>
        </p:blipFill>
        <p:spPr>
          <a:xfrm>
            <a:off x="10802112" y="1"/>
            <a:ext cx="1389888" cy="2056238"/>
          </a:xfrm>
          <a:prstGeom prst="rect">
            <a:avLst/>
          </a:prstGeom>
          <a:effectLst/>
        </p:spPr>
      </p:pic>
      <p:sp>
        <p:nvSpPr>
          <p:cNvPr id="4" name="Espace réservé du pied de page 3">
            <a:extLst>
              <a:ext uri="{FF2B5EF4-FFF2-40B4-BE49-F238E27FC236}">
                <a16:creationId xmlns:a16="http://schemas.microsoft.com/office/drawing/2014/main" id="{3EEE552B-DEDF-3294-1BC7-F06C1286C38E}"/>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3B36D4BE-BCAE-F399-6B6D-4F224D21D1E3}"/>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35</a:t>
            </a:fld>
            <a:endParaRPr lang="fr-CA">
              <a:solidFill>
                <a:prstClr val="black">
                  <a:tint val="75000"/>
                </a:prstClr>
              </a:solidFill>
            </a:endParaRPr>
          </a:p>
        </p:txBody>
      </p:sp>
      <p:graphicFrame>
        <p:nvGraphicFramePr>
          <p:cNvPr id="7" name="Tableau 4">
            <a:extLst>
              <a:ext uri="{FF2B5EF4-FFF2-40B4-BE49-F238E27FC236}">
                <a16:creationId xmlns:a16="http://schemas.microsoft.com/office/drawing/2014/main" id="{ABD47669-EA10-0326-107F-04DCF2C7D06E}"/>
              </a:ext>
            </a:extLst>
          </p:cNvPr>
          <p:cNvGraphicFramePr>
            <a:graphicFrameLocks noGrp="1"/>
          </p:cNvGraphicFramePr>
          <p:nvPr>
            <p:custDataLst>
              <p:tags r:id="rId6"/>
            </p:custDataLst>
          </p:nvPr>
        </p:nvGraphicFramePr>
        <p:xfrm>
          <a:off x="7543924" y="2241192"/>
          <a:ext cx="4425696" cy="2682240"/>
        </p:xfrm>
        <a:graphic>
          <a:graphicData uri="http://schemas.openxmlformats.org/drawingml/2006/table">
            <a:tbl>
              <a:tblPr firstRow="1" bandRow="1">
                <a:tableStyleId>{BDBED569-4797-4DF1-A0F4-6AAB3CD982D8}</a:tableStyleId>
              </a:tblPr>
              <a:tblGrid>
                <a:gridCol w="2080542">
                  <a:extLst>
                    <a:ext uri="{9D8B030D-6E8A-4147-A177-3AD203B41FA5}">
                      <a16:colId xmlns:a16="http://schemas.microsoft.com/office/drawing/2014/main" val="2783611626"/>
                    </a:ext>
                  </a:extLst>
                </a:gridCol>
                <a:gridCol w="1058958">
                  <a:extLst>
                    <a:ext uri="{9D8B030D-6E8A-4147-A177-3AD203B41FA5}">
                      <a16:colId xmlns:a16="http://schemas.microsoft.com/office/drawing/2014/main" val="962317974"/>
                    </a:ext>
                  </a:extLst>
                </a:gridCol>
                <a:gridCol w="1286196">
                  <a:extLst>
                    <a:ext uri="{9D8B030D-6E8A-4147-A177-3AD203B41FA5}">
                      <a16:colId xmlns:a16="http://schemas.microsoft.com/office/drawing/2014/main" val="1486159043"/>
                    </a:ext>
                  </a:extLst>
                </a:gridCol>
              </a:tblGrid>
              <a:tr h="370840">
                <a:tc>
                  <a:txBody>
                    <a:bodyPr/>
                    <a:lstStyle/>
                    <a:p>
                      <a:endParaRPr lang="fr-CA" sz="2000" dirty="0"/>
                    </a:p>
                  </a:txBody>
                  <a:tcPr/>
                </a:tc>
                <a:tc>
                  <a:txBody>
                    <a:bodyPr/>
                    <a:lstStyle/>
                    <a:p>
                      <a:r>
                        <a:rPr lang="fr-CA" sz="2000"/>
                        <a:t>Néons</a:t>
                      </a:r>
                    </a:p>
                  </a:txBody>
                  <a:tcPr/>
                </a:tc>
                <a:tc>
                  <a:txBody>
                    <a:bodyPr/>
                    <a:lstStyle/>
                    <a:p>
                      <a:r>
                        <a:rPr lang="fr-CA" sz="2000"/>
                        <a:t>Ampoules</a:t>
                      </a:r>
                    </a:p>
                  </a:txBody>
                  <a:tcPr/>
                </a:tc>
                <a:extLst>
                  <a:ext uri="{0D108BD9-81ED-4DB2-BD59-A6C34878D82A}">
                    <a16:rowId xmlns:a16="http://schemas.microsoft.com/office/drawing/2014/main" val="1284534325"/>
                  </a:ext>
                </a:extLst>
              </a:tr>
              <a:tr h="370840">
                <a:tc>
                  <a:txBody>
                    <a:bodyPr/>
                    <a:lstStyle/>
                    <a:p>
                      <a:r>
                        <a:rPr lang="fr-CA" sz="2000" dirty="0"/>
                        <a:t>Volume</a:t>
                      </a:r>
                    </a:p>
                  </a:txBody>
                  <a:tcPr/>
                </a:tc>
                <a:tc>
                  <a:txBody>
                    <a:bodyPr/>
                    <a:lstStyle/>
                    <a:p>
                      <a:r>
                        <a:rPr lang="fr-CA" sz="2000" dirty="0"/>
                        <a:t>41 000</a:t>
                      </a:r>
                    </a:p>
                  </a:txBody>
                  <a:tcPr/>
                </a:tc>
                <a:tc>
                  <a:txBody>
                    <a:bodyPr/>
                    <a:lstStyle/>
                    <a:p>
                      <a:r>
                        <a:rPr lang="fr-CA" sz="2000" dirty="0"/>
                        <a:t>164 000</a:t>
                      </a:r>
                    </a:p>
                  </a:txBody>
                  <a:tcPr/>
                </a:tc>
                <a:extLst>
                  <a:ext uri="{0D108BD9-81ED-4DB2-BD59-A6C34878D82A}">
                    <a16:rowId xmlns:a16="http://schemas.microsoft.com/office/drawing/2014/main" val="2849102131"/>
                  </a:ext>
                </a:extLst>
              </a:tr>
              <a:tr h="370840">
                <a:tc>
                  <a:txBody>
                    <a:bodyPr/>
                    <a:lstStyle/>
                    <a:p>
                      <a:r>
                        <a:rPr lang="fr-CA" sz="2000" dirty="0"/>
                        <a:t>Heures MOD</a:t>
                      </a:r>
                    </a:p>
                  </a:txBody>
                  <a:tcPr/>
                </a:tc>
                <a:tc>
                  <a:txBody>
                    <a:bodyPr/>
                    <a:lstStyle/>
                    <a:p>
                      <a:r>
                        <a:rPr lang="fr-CA" sz="2000" dirty="0"/>
                        <a:t>2 </a:t>
                      </a:r>
                      <a:r>
                        <a:rPr lang="fr-CA" sz="2000" dirty="0" err="1"/>
                        <a:t>hrs</a:t>
                      </a:r>
                      <a:endParaRPr lang="fr-CA" sz="2000" dirty="0"/>
                    </a:p>
                  </a:txBody>
                  <a:tcPr/>
                </a:tc>
                <a:tc>
                  <a:txBody>
                    <a:bodyPr/>
                    <a:lstStyle/>
                    <a:p>
                      <a:r>
                        <a:rPr lang="fr-CA" sz="2000" dirty="0"/>
                        <a:t>1 </a:t>
                      </a:r>
                      <a:r>
                        <a:rPr lang="fr-CA" sz="2000" dirty="0" err="1"/>
                        <a:t>hr</a:t>
                      </a:r>
                      <a:endParaRPr lang="fr-CA" sz="2000" dirty="0"/>
                    </a:p>
                  </a:txBody>
                  <a:tcPr/>
                </a:tc>
                <a:extLst>
                  <a:ext uri="{0D108BD9-81ED-4DB2-BD59-A6C34878D82A}">
                    <a16:rowId xmlns:a16="http://schemas.microsoft.com/office/drawing/2014/main" val="1001054917"/>
                  </a:ext>
                </a:extLst>
              </a:tr>
              <a:tr h="370840">
                <a:tc>
                  <a:txBody>
                    <a:bodyPr/>
                    <a:lstStyle/>
                    <a:p>
                      <a:r>
                        <a:rPr lang="fr-CA" sz="2000" dirty="0"/>
                        <a:t>Prix de vente</a:t>
                      </a:r>
                    </a:p>
                  </a:txBody>
                  <a:tcPr/>
                </a:tc>
                <a:tc>
                  <a:txBody>
                    <a:bodyPr/>
                    <a:lstStyle/>
                    <a:p>
                      <a:r>
                        <a:rPr lang="fr-CA" sz="2000"/>
                        <a:t>325 $</a:t>
                      </a:r>
                    </a:p>
                  </a:txBody>
                  <a:tcPr/>
                </a:tc>
                <a:tc>
                  <a:txBody>
                    <a:bodyPr/>
                    <a:lstStyle/>
                    <a:p>
                      <a:r>
                        <a:rPr lang="fr-CA" sz="2000"/>
                        <a:t>250 $</a:t>
                      </a:r>
                    </a:p>
                  </a:txBody>
                  <a:tcPr/>
                </a:tc>
                <a:extLst>
                  <a:ext uri="{0D108BD9-81ED-4DB2-BD59-A6C34878D82A}">
                    <a16:rowId xmlns:a16="http://schemas.microsoft.com/office/drawing/2014/main" val="1108576763"/>
                  </a:ext>
                </a:extLst>
              </a:tr>
              <a:tr h="370840">
                <a:tc>
                  <a:txBody>
                    <a:bodyPr/>
                    <a:lstStyle/>
                    <a:p>
                      <a:r>
                        <a:rPr lang="fr-CA" sz="2000" dirty="0"/>
                        <a:t>Coûts variables</a:t>
                      </a:r>
                    </a:p>
                  </a:txBody>
                  <a:tcPr/>
                </a:tc>
                <a:tc>
                  <a:txBody>
                    <a:bodyPr/>
                    <a:lstStyle/>
                    <a:p>
                      <a:r>
                        <a:rPr lang="fr-CA" sz="2000" u="sng" dirty="0"/>
                        <a:t>175 $</a:t>
                      </a:r>
                    </a:p>
                  </a:txBody>
                  <a:tcPr/>
                </a:tc>
                <a:tc>
                  <a:txBody>
                    <a:bodyPr/>
                    <a:lstStyle/>
                    <a:p>
                      <a:r>
                        <a:rPr lang="fr-CA" sz="2000" u="sng" dirty="0"/>
                        <a:t>130 $</a:t>
                      </a:r>
                    </a:p>
                  </a:txBody>
                  <a:tcPr/>
                </a:tc>
                <a:extLst>
                  <a:ext uri="{0D108BD9-81ED-4DB2-BD59-A6C34878D82A}">
                    <a16:rowId xmlns:a16="http://schemas.microsoft.com/office/drawing/2014/main" val="671937147"/>
                  </a:ext>
                </a:extLst>
              </a:tr>
              <a:tr h="370840">
                <a:tc>
                  <a:txBody>
                    <a:bodyPr/>
                    <a:lstStyle/>
                    <a:p>
                      <a:r>
                        <a:rPr lang="fr-CA" sz="2000" b="1"/>
                        <a:t>Marge sur coûts variables</a:t>
                      </a:r>
                    </a:p>
                  </a:txBody>
                  <a:tcPr/>
                </a:tc>
                <a:tc>
                  <a:txBody>
                    <a:bodyPr/>
                    <a:lstStyle/>
                    <a:p>
                      <a:r>
                        <a:rPr lang="fr-CA" sz="2000" b="1"/>
                        <a:t>150 $</a:t>
                      </a:r>
                    </a:p>
                  </a:txBody>
                  <a:tcPr/>
                </a:tc>
                <a:tc>
                  <a:txBody>
                    <a:bodyPr/>
                    <a:lstStyle/>
                    <a:p>
                      <a:r>
                        <a:rPr lang="fr-CA" sz="2000" b="1" dirty="0"/>
                        <a:t>120 $</a:t>
                      </a:r>
                    </a:p>
                  </a:txBody>
                  <a:tcPr/>
                </a:tc>
                <a:extLst>
                  <a:ext uri="{0D108BD9-81ED-4DB2-BD59-A6C34878D82A}">
                    <a16:rowId xmlns:a16="http://schemas.microsoft.com/office/drawing/2014/main" val="1267955351"/>
                  </a:ext>
                </a:extLst>
              </a:tr>
            </a:tbl>
          </a:graphicData>
        </a:graphic>
      </p:graphicFrame>
    </p:spTree>
    <p:extLst>
      <p:ext uri="{BB962C8B-B14F-4D97-AF65-F5344CB8AC3E}">
        <p14:creationId xmlns:p14="http://schemas.microsoft.com/office/powerpoint/2010/main" val="4028275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custDataLst>
              <p:tags r:id="rId2"/>
            </p:custDataLst>
          </p:nvPr>
        </p:nvSpPr>
        <p:spPr>
          <a:xfrm>
            <a:off x="838200" y="160589"/>
            <a:ext cx="10632016" cy="1042570"/>
          </a:xfrm>
        </p:spPr>
        <p:txBody>
          <a:bodyPr vert="horz" anchor="ctr">
            <a:noAutofit/>
          </a:bodyPr>
          <a:lstStyle/>
          <a:p>
            <a:r>
              <a:rPr lang="fr-CA" sz="4000"/>
              <a:t>La marge par unité d’un facteur de production contraignant</a:t>
            </a:r>
          </a:p>
        </p:txBody>
      </p:sp>
      <p:sp>
        <p:nvSpPr>
          <p:cNvPr id="7" name="Espace réservé du contenu 6"/>
          <p:cNvSpPr>
            <a:spLocks noGrp="1"/>
          </p:cNvSpPr>
          <p:nvPr>
            <p:ph idx="1"/>
            <p:custDataLst>
              <p:tags r:id="rId3"/>
            </p:custDataLst>
          </p:nvPr>
        </p:nvSpPr>
        <p:spPr>
          <a:xfrm>
            <a:off x="838200" y="1524000"/>
            <a:ext cx="10045995" cy="4717585"/>
          </a:xfrm>
        </p:spPr>
        <p:txBody>
          <a:bodyPr>
            <a:normAutofit/>
          </a:bodyPr>
          <a:lstStyle/>
          <a:p>
            <a:r>
              <a:rPr lang="fr-CA"/>
              <a:t>Marge par facteur de production (formule générale) </a:t>
            </a:r>
          </a:p>
          <a:p>
            <a:endParaRPr lang="fr-CA"/>
          </a:p>
          <a:p>
            <a:endParaRPr lang="fr-CA"/>
          </a:p>
          <a:p>
            <a:pPr marL="0" indent="0">
              <a:buNone/>
            </a:pPr>
            <a:endParaRPr lang="fr-CA"/>
          </a:p>
          <a:p>
            <a:endParaRPr lang="fr-CA"/>
          </a:p>
          <a:p>
            <a:pPr marL="0" indent="0">
              <a:buNone/>
            </a:pPr>
            <a:endParaRPr lang="fr-CA"/>
          </a:p>
        </p:txBody>
      </p:sp>
      <p:graphicFrame>
        <p:nvGraphicFramePr>
          <p:cNvPr id="3" name="Tableau 4">
            <a:extLst>
              <a:ext uri="{FF2B5EF4-FFF2-40B4-BE49-F238E27FC236}">
                <a16:creationId xmlns:a16="http://schemas.microsoft.com/office/drawing/2014/main" id="{4D9E0545-457A-5E83-B5C7-66509F4CDEAD}"/>
              </a:ext>
            </a:extLst>
          </p:cNvPr>
          <p:cNvGraphicFramePr>
            <a:graphicFrameLocks noGrp="1"/>
          </p:cNvGraphicFramePr>
          <p:nvPr>
            <p:custDataLst>
              <p:tags r:id="rId4"/>
            </p:custDataLst>
            <p:extLst>
              <p:ext uri="{D42A27DB-BD31-4B8C-83A1-F6EECF244321}">
                <p14:modId xmlns:p14="http://schemas.microsoft.com/office/powerpoint/2010/main" val="3893650880"/>
              </p:ext>
            </p:extLst>
          </p:nvPr>
        </p:nvGraphicFramePr>
        <p:xfrm>
          <a:off x="1073532" y="2273044"/>
          <a:ext cx="8698428" cy="2950726"/>
        </p:xfrm>
        <a:graphic>
          <a:graphicData uri="http://schemas.openxmlformats.org/drawingml/2006/table">
            <a:tbl>
              <a:tblPr firstRow="1" bandRow="1">
                <a:tableStyleId>{BDBED569-4797-4DF1-A0F4-6AAB3CD982D8}</a:tableStyleId>
              </a:tblPr>
              <a:tblGrid>
                <a:gridCol w="4137446">
                  <a:extLst>
                    <a:ext uri="{9D8B030D-6E8A-4147-A177-3AD203B41FA5}">
                      <a16:colId xmlns:a16="http://schemas.microsoft.com/office/drawing/2014/main" val="2783611626"/>
                    </a:ext>
                  </a:extLst>
                </a:gridCol>
                <a:gridCol w="2258458">
                  <a:extLst>
                    <a:ext uri="{9D8B030D-6E8A-4147-A177-3AD203B41FA5}">
                      <a16:colId xmlns:a16="http://schemas.microsoft.com/office/drawing/2014/main" val="962317974"/>
                    </a:ext>
                  </a:extLst>
                </a:gridCol>
                <a:gridCol w="2302524">
                  <a:extLst>
                    <a:ext uri="{9D8B030D-6E8A-4147-A177-3AD203B41FA5}">
                      <a16:colId xmlns:a16="http://schemas.microsoft.com/office/drawing/2014/main" val="1486159043"/>
                    </a:ext>
                  </a:extLst>
                </a:gridCol>
              </a:tblGrid>
              <a:tr h="370840">
                <a:tc>
                  <a:txBody>
                    <a:bodyPr/>
                    <a:lstStyle/>
                    <a:p>
                      <a:endParaRPr lang="fr-CA" sz="2400"/>
                    </a:p>
                  </a:txBody>
                  <a:tcPr/>
                </a:tc>
                <a:tc>
                  <a:txBody>
                    <a:bodyPr/>
                    <a:lstStyle/>
                    <a:p>
                      <a:r>
                        <a:rPr lang="fr-CA" sz="2400"/>
                        <a:t>Néons</a:t>
                      </a:r>
                    </a:p>
                  </a:txBody>
                  <a:tcPr/>
                </a:tc>
                <a:tc>
                  <a:txBody>
                    <a:bodyPr/>
                    <a:lstStyle/>
                    <a:p>
                      <a:r>
                        <a:rPr lang="fr-CA" sz="2400"/>
                        <a:t>Ampoules</a:t>
                      </a:r>
                    </a:p>
                  </a:txBody>
                  <a:tcPr/>
                </a:tc>
                <a:extLst>
                  <a:ext uri="{0D108BD9-81ED-4DB2-BD59-A6C34878D82A}">
                    <a16:rowId xmlns:a16="http://schemas.microsoft.com/office/drawing/2014/main" val="1284534325"/>
                  </a:ext>
                </a:extLst>
              </a:tr>
              <a:tr h="370840">
                <a:tc>
                  <a:txBody>
                    <a:bodyPr/>
                    <a:lstStyle/>
                    <a:p>
                      <a:r>
                        <a:rPr lang="fr-CA" sz="2400"/>
                        <a:t>Prix de vente</a:t>
                      </a:r>
                    </a:p>
                  </a:txBody>
                  <a:tcPr/>
                </a:tc>
                <a:tc>
                  <a:txBody>
                    <a:bodyPr/>
                    <a:lstStyle/>
                    <a:p>
                      <a:r>
                        <a:rPr lang="fr-CA" sz="2400"/>
                        <a:t>325 $</a:t>
                      </a:r>
                    </a:p>
                  </a:txBody>
                  <a:tcPr/>
                </a:tc>
                <a:tc>
                  <a:txBody>
                    <a:bodyPr/>
                    <a:lstStyle/>
                    <a:p>
                      <a:r>
                        <a:rPr lang="fr-CA" sz="2400"/>
                        <a:t>250 $</a:t>
                      </a:r>
                    </a:p>
                  </a:txBody>
                  <a:tcPr/>
                </a:tc>
                <a:extLst>
                  <a:ext uri="{0D108BD9-81ED-4DB2-BD59-A6C34878D82A}">
                    <a16:rowId xmlns:a16="http://schemas.microsoft.com/office/drawing/2014/main" val="1108576763"/>
                  </a:ext>
                </a:extLst>
              </a:tr>
              <a:tr h="370840">
                <a:tc>
                  <a:txBody>
                    <a:bodyPr/>
                    <a:lstStyle/>
                    <a:p>
                      <a:r>
                        <a:rPr lang="fr-CA" sz="2400"/>
                        <a:t>Moins : Coûts variables</a:t>
                      </a:r>
                    </a:p>
                  </a:txBody>
                  <a:tcPr/>
                </a:tc>
                <a:tc>
                  <a:txBody>
                    <a:bodyPr/>
                    <a:lstStyle/>
                    <a:p>
                      <a:r>
                        <a:rPr lang="fr-CA" sz="2400" u="sng"/>
                        <a:t>175 $</a:t>
                      </a:r>
                    </a:p>
                  </a:txBody>
                  <a:tcPr/>
                </a:tc>
                <a:tc>
                  <a:txBody>
                    <a:bodyPr/>
                    <a:lstStyle/>
                    <a:p>
                      <a:r>
                        <a:rPr lang="fr-CA" sz="2400" u="sng"/>
                        <a:t>130 $</a:t>
                      </a:r>
                    </a:p>
                  </a:txBody>
                  <a:tcPr/>
                </a:tc>
                <a:extLst>
                  <a:ext uri="{0D108BD9-81ED-4DB2-BD59-A6C34878D82A}">
                    <a16:rowId xmlns:a16="http://schemas.microsoft.com/office/drawing/2014/main" val="671937147"/>
                  </a:ext>
                </a:extLst>
              </a:tr>
              <a:tr h="370840">
                <a:tc>
                  <a:txBody>
                    <a:bodyPr/>
                    <a:lstStyle/>
                    <a:p>
                      <a:r>
                        <a:rPr lang="fr-CA" sz="2400" b="1"/>
                        <a:t>Marge sur coûts variables</a:t>
                      </a:r>
                    </a:p>
                  </a:txBody>
                  <a:tcPr/>
                </a:tc>
                <a:tc>
                  <a:txBody>
                    <a:bodyPr/>
                    <a:lstStyle/>
                    <a:p>
                      <a:r>
                        <a:rPr lang="fr-CA" sz="2400" b="1"/>
                        <a:t>150 $</a:t>
                      </a:r>
                    </a:p>
                  </a:txBody>
                  <a:tcPr/>
                </a:tc>
                <a:tc>
                  <a:txBody>
                    <a:bodyPr/>
                    <a:lstStyle/>
                    <a:p>
                      <a:r>
                        <a:rPr lang="fr-CA" sz="2400" b="1"/>
                        <a:t>120 $</a:t>
                      </a:r>
                    </a:p>
                  </a:txBody>
                  <a:tcPr/>
                </a:tc>
                <a:extLst>
                  <a:ext uri="{0D108BD9-81ED-4DB2-BD59-A6C34878D82A}">
                    <a16:rowId xmlns:a16="http://schemas.microsoft.com/office/drawing/2014/main" val="1267955351"/>
                  </a:ext>
                </a:extLst>
              </a:tr>
              <a:tr h="370840">
                <a:tc>
                  <a:txBody>
                    <a:bodyPr/>
                    <a:lstStyle/>
                    <a:p>
                      <a:r>
                        <a:rPr lang="fr-CA" sz="2400" b="0"/>
                        <a:t>Heures de MOD par unité</a:t>
                      </a:r>
                    </a:p>
                  </a:txBody>
                  <a:tcPr/>
                </a:tc>
                <a:tc>
                  <a:txBody>
                    <a:bodyPr/>
                    <a:lstStyle/>
                    <a:p>
                      <a:r>
                        <a:rPr lang="fr-CA" sz="2400" b="0"/>
                        <a:t>÷  2 h</a:t>
                      </a:r>
                    </a:p>
                  </a:txBody>
                  <a:tcPr/>
                </a:tc>
                <a:tc>
                  <a:txBody>
                    <a:bodyPr/>
                    <a:lstStyle/>
                    <a:p>
                      <a:r>
                        <a:rPr lang="fr-CA" sz="2400" b="0"/>
                        <a:t>÷ 1 h</a:t>
                      </a:r>
                    </a:p>
                  </a:txBody>
                  <a:tcPr/>
                </a:tc>
                <a:extLst>
                  <a:ext uri="{0D108BD9-81ED-4DB2-BD59-A6C34878D82A}">
                    <a16:rowId xmlns:a16="http://schemas.microsoft.com/office/drawing/2014/main" val="3552804354"/>
                  </a:ext>
                </a:extLst>
              </a:tr>
              <a:tr h="664726">
                <a:tc>
                  <a:txBody>
                    <a:bodyPr/>
                    <a:lstStyle/>
                    <a:p>
                      <a:r>
                        <a:rPr lang="fr-CA" sz="2400" b="1"/>
                        <a:t>MCV par facteur de production</a:t>
                      </a:r>
                    </a:p>
                  </a:txBody>
                  <a:tcPr/>
                </a:tc>
                <a:tc>
                  <a:txBody>
                    <a:bodyPr/>
                    <a:lstStyle/>
                    <a:p>
                      <a:endParaRPr lang="fr-CA" sz="2400" b="0"/>
                    </a:p>
                  </a:txBody>
                  <a:tcPr/>
                </a:tc>
                <a:tc>
                  <a:txBody>
                    <a:bodyPr/>
                    <a:lstStyle/>
                    <a:p>
                      <a:endParaRPr lang="fr-CA" sz="2400" b="0"/>
                    </a:p>
                  </a:txBody>
                  <a:tcPr/>
                </a:tc>
                <a:extLst>
                  <a:ext uri="{0D108BD9-81ED-4DB2-BD59-A6C34878D82A}">
                    <a16:rowId xmlns:a16="http://schemas.microsoft.com/office/drawing/2014/main" val="1470363188"/>
                  </a:ext>
                </a:extLst>
              </a:tr>
            </a:tbl>
          </a:graphicData>
        </a:graphic>
      </p:graphicFrame>
      <p:sp>
        <p:nvSpPr>
          <p:cNvPr id="9" name="ZoneTexte 8">
            <a:extLst>
              <a:ext uri="{FF2B5EF4-FFF2-40B4-BE49-F238E27FC236}">
                <a16:creationId xmlns:a16="http://schemas.microsoft.com/office/drawing/2014/main" id="{DDD953F5-51E3-1CAB-9C02-3F5A5C5D9C10}"/>
              </a:ext>
            </a:extLst>
          </p:cNvPr>
          <p:cNvSpPr txBox="1"/>
          <p:nvPr>
            <p:custDataLst>
              <p:tags r:id="rId5"/>
            </p:custDataLst>
          </p:nvPr>
        </p:nvSpPr>
        <p:spPr>
          <a:xfrm>
            <a:off x="1073532" y="5511149"/>
            <a:ext cx="10396684" cy="830997"/>
          </a:xfrm>
          <a:prstGeom prst="rect">
            <a:avLst/>
          </a:prstGeom>
          <a:noFill/>
        </p:spPr>
        <p:txBody>
          <a:bodyPr wrap="square">
            <a:spAutoFit/>
          </a:bodyPr>
          <a:lstStyle/>
          <a:p>
            <a:r>
              <a:rPr lang="fr-CA" sz="2400"/>
              <a:t>Il faut prioriser le produit avec la marge sur coûts variables par facteur de production contraignant (MCV/heure de MOD) la plus élevée. </a:t>
            </a:r>
          </a:p>
        </p:txBody>
      </p:sp>
      <p:sp>
        <p:nvSpPr>
          <p:cNvPr id="2" name="Espace réservé du pied de page 3">
            <a:extLst>
              <a:ext uri="{FF2B5EF4-FFF2-40B4-BE49-F238E27FC236}">
                <a16:creationId xmlns:a16="http://schemas.microsoft.com/office/drawing/2014/main" id="{13937B7A-092B-FEB4-BAE2-27664BD5C381}"/>
              </a:ext>
            </a:extLst>
          </p:cNvPr>
          <p:cNvSpPr>
            <a:spLocks noGrp="1"/>
          </p:cNvSpPr>
          <p:nvPr>
            <p:ph type="ftr" sz="quarter" idx="11"/>
            <p:custDataLst>
              <p:tags r:id="rId6"/>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BCDA2708-D41B-83DE-3CB5-2D575036BF7B}"/>
              </a:ext>
            </a:extLst>
          </p:cNvPr>
          <p:cNvSpPr>
            <a:spLocks noGrp="1"/>
          </p:cNvSpPr>
          <p:nvPr>
            <p:ph type="sldNum" sz="quarter" idx="12"/>
            <p:custDataLst>
              <p:tags r:id="rId7"/>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36</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3146057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8CE5A3-1349-46A6-B630-91AC1E3BFC97}"/>
              </a:ext>
            </a:extLst>
          </p:cNvPr>
          <p:cNvSpPr>
            <a:spLocks noGrp="1"/>
          </p:cNvSpPr>
          <p:nvPr>
            <p:ph type="title"/>
            <p:custDataLst>
              <p:tags r:id="rId1"/>
            </p:custDataLst>
          </p:nvPr>
        </p:nvSpPr>
        <p:spPr/>
        <p:txBody>
          <a:bodyPr>
            <a:normAutofit fontScale="90000"/>
          </a:bodyPr>
          <a:lstStyle/>
          <a:p>
            <a:r>
              <a:rPr lang="fr-CA"/>
              <a:t>La marge par unité d’un </a:t>
            </a:r>
            <a:br>
              <a:rPr lang="fr-CA"/>
            </a:br>
            <a:r>
              <a:rPr lang="fr-CA"/>
              <a:t>facteur de production contraignant</a:t>
            </a:r>
          </a:p>
        </p:txBody>
      </p:sp>
      <p:sp>
        <p:nvSpPr>
          <p:cNvPr id="3" name="Espace réservé du contenu 2">
            <a:extLst>
              <a:ext uri="{FF2B5EF4-FFF2-40B4-BE49-F238E27FC236}">
                <a16:creationId xmlns:a16="http://schemas.microsoft.com/office/drawing/2014/main" id="{4F7E5AF8-1AFF-49A9-A175-A3101B55008F}"/>
              </a:ext>
            </a:extLst>
          </p:cNvPr>
          <p:cNvSpPr>
            <a:spLocks noGrp="1"/>
          </p:cNvSpPr>
          <p:nvPr>
            <p:ph idx="1"/>
            <p:custDataLst>
              <p:tags r:id="rId2"/>
            </p:custDataLst>
          </p:nvPr>
        </p:nvSpPr>
        <p:spPr>
          <a:xfrm>
            <a:off x="838200" y="1483360"/>
            <a:ext cx="10515600" cy="5214051"/>
          </a:xfrm>
        </p:spPr>
        <p:txBody>
          <a:bodyPr vert="horz" lIns="91440" tIns="45720" rIns="91440" bIns="45720" rtlCol="0" anchor="t">
            <a:normAutofit/>
          </a:bodyPr>
          <a:lstStyle/>
          <a:p>
            <a:r>
              <a:rPr lang="fr-CA"/>
              <a:t>Marge utilisée dans </a:t>
            </a:r>
            <a:r>
              <a:rPr lang="fr-CA">
                <a:cs typeface="Calibri"/>
              </a:rPr>
              <a:t>une situation où il existe </a:t>
            </a:r>
            <a:r>
              <a:rPr lang="fr-CA" b="1">
                <a:cs typeface="Calibri"/>
              </a:rPr>
              <a:t>plusieurs produits </a:t>
            </a:r>
            <a:r>
              <a:rPr lang="fr-CA">
                <a:cs typeface="Calibri"/>
              </a:rPr>
              <a:t>et où l'entreprise dispose d’une </a:t>
            </a:r>
            <a:r>
              <a:rPr lang="fr-CA" b="1">
                <a:cs typeface="Calibri"/>
              </a:rPr>
              <a:t>ressource limitée </a:t>
            </a:r>
            <a:r>
              <a:rPr lang="fr-CA">
                <a:cs typeface="Calibri"/>
              </a:rPr>
              <a:t>en matière de production (capacité de production </a:t>
            </a:r>
            <a:r>
              <a:rPr lang="fr-CA"/>
              <a:t>limitée)</a:t>
            </a:r>
          </a:p>
          <a:p>
            <a:r>
              <a:rPr lang="fr-CA"/>
              <a:t>Marge par facteur de production (formule générale) :</a:t>
            </a:r>
          </a:p>
          <a:p>
            <a:pPr marL="0" indent="0">
              <a:buNone/>
            </a:pPr>
            <a:endParaRPr lang="fr-CA">
              <a:cs typeface="Calibri"/>
            </a:endParaRPr>
          </a:p>
          <a:p>
            <a:pPr marL="0" indent="0">
              <a:buNone/>
            </a:pPr>
            <a:endParaRPr lang="fr-CA">
              <a:cs typeface="Calibri"/>
            </a:endParaRPr>
          </a:p>
          <a:p>
            <a:r>
              <a:rPr lang="fr-CA">
                <a:cs typeface="Calibri"/>
              </a:rPr>
              <a:t>Les facteurs de production sont les ressources utilisées pour la production. (kg de MP, heures de MOD, heures- machine, etc.)</a:t>
            </a:r>
            <a:endParaRPr lang="fr-CA"/>
          </a:p>
          <a:p>
            <a:r>
              <a:rPr lang="fr-CA"/>
              <a:t>Dans ce cas, d’un point de vue quantitatif, le produit qui rapporte la plus grande marge par unité du facteur de production contraignant est celui qui sera favorisé pour optimiser le résultat.</a:t>
            </a:r>
          </a:p>
        </p:txBody>
      </p:sp>
      <p:sp>
        <p:nvSpPr>
          <p:cNvPr id="4" name="Rectangle 3">
            <a:extLst>
              <a:ext uri="{FF2B5EF4-FFF2-40B4-BE49-F238E27FC236}">
                <a16:creationId xmlns:a16="http://schemas.microsoft.com/office/drawing/2014/main" id="{D0E31D35-AA30-E3EE-7DEE-053B97458E91}"/>
              </a:ext>
            </a:extLst>
          </p:cNvPr>
          <p:cNvSpPr/>
          <p:nvPr>
            <p:custDataLst>
              <p:tags r:id="rId3"/>
            </p:custDataLst>
          </p:nvPr>
        </p:nvSpPr>
        <p:spPr>
          <a:xfrm>
            <a:off x="1219670" y="3247000"/>
            <a:ext cx="7782568" cy="9678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a:solidFill>
                  <a:schemeClr val="tx1"/>
                </a:solidFill>
              </a:rPr>
              <a:t>Marge sur coûts variables du produit   </a:t>
            </a:r>
          </a:p>
          <a:p>
            <a:pPr algn="ctr"/>
            <a:r>
              <a:rPr lang="fr-CA" sz="2400" b="1">
                <a:solidFill>
                  <a:schemeClr val="tx1"/>
                </a:solidFill>
              </a:rPr>
              <a:t>Nombre d’unités requises de ce facteur de production</a:t>
            </a:r>
          </a:p>
        </p:txBody>
      </p:sp>
      <p:cxnSp>
        <p:nvCxnSpPr>
          <p:cNvPr id="6" name="Connecteur droit 5">
            <a:extLst>
              <a:ext uri="{FF2B5EF4-FFF2-40B4-BE49-F238E27FC236}">
                <a16:creationId xmlns:a16="http://schemas.microsoft.com/office/drawing/2014/main" id="{B560CBB4-DF3B-FE96-1353-7DD78B67AD29}"/>
              </a:ext>
            </a:extLst>
          </p:cNvPr>
          <p:cNvCxnSpPr/>
          <p:nvPr>
            <p:custDataLst>
              <p:tags r:id="rId4"/>
            </p:custDataLst>
          </p:nvPr>
        </p:nvCxnSpPr>
        <p:spPr>
          <a:xfrm>
            <a:off x="1728216" y="3758184"/>
            <a:ext cx="6784848" cy="0"/>
          </a:xfrm>
          <a:prstGeom prst="line">
            <a:avLst/>
          </a:prstGeom>
        </p:spPr>
        <p:style>
          <a:lnRef idx="1">
            <a:schemeClr val="dk1"/>
          </a:lnRef>
          <a:fillRef idx="0">
            <a:schemeClr val="dk1"/>
          </a:fillRef>
          <a:effectRef idx="0">
            <a:schemeClr val="dk1"/>
          </a:effectRef>
          <a:fontRef idx="minor">
            <a:schemeClr val="tx1"/>
          </a:fontRef>
        </p:style>
      </p:cxnSp>
      <p:sp>
        <p:nvSpPr>
          <p:cNvPr id="5" name="Espace réservé du pied de page 3">
            <a:extLst>
              <a:ext uri="{FF2B5EF4-FFF2-40B4-BE49-F238E27FC236}">
                <a16:creationId xmlns:a16="http://schemas.microsoft.com/office/drawing/2014/main" id="{C13C4209-4040-9B5B-8F3F-4520552A4D8E}"/>
              </a:ext>
            </a:extLst>
          </p:cNvPr>
          <p:cNvSpPr>
            <a:spLocks noGrp="1"/>
          </p:cNvSpPr>
          <p:nvPr>
            <p:ph type="ftr" sz="quarter" idx="11"/>
            <p:custDataLst>
              <p:tags r:id="rId5"/>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7" name="Espace réservé du numéro de diapositive 4">
            <a:extLst>
              <a:ext uri="{FF2B5EF4-FFF2-40B4-BE49-F238E27FC236}">
                <a16:creationId xmlns:a16="http://schemas.microsoft.com/office/drawing/2014/main" id="{0664EABB-794D-8808-80B9-F46D0B5A00E4}"/>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37</a:t>
            </a:fld>
            <a:endParaRPr lang="fr-CA">
              <a:solidFill>
                <a:prstClr val="black">
                  <a:tint val="75000"/>
                </a:prstClr>
              </a:solidFill>
            </a:endParaRPr>
          </a:p>
        </p:txBody>
      </p:sp>
    </p:spTree>
    <p:extLst>
      <p:ext uri="{BB962C8B-B14F-4D97-AF65-F5344CB8AC3E}">
        <p14:creationId xmlns:p14="http://schemas.microsoft.com/office/powerpoint/2010/main" val="229737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673208" y="204270"/>
            <a:ext cx="10766122" cy="1325563"/>
          </a:xfrm>
        </p:spPr>
        <p:txBody>
          <a:bodyPr>
            <a:normAutofit/>
          </a:bodyPr>
          <a:lstStyle/>
          <a:p>
            <a:pPr algn="ctr"/>
            <a:r>
              <a:rPr lang="fr-CA" sz="4000" i="1"/>
              <a:t>Exemples de facteurs contraignants </a:t>
            </a:r>
          </a:p>
        </p:txBody>
      </p:sp>
      <p:pic>
        <p:nvPicPr>
          <p:cNvPr id="9218" name="Picture 2" descr="Fruit, Negozio Di, Vendre, Stand, Vente"/>
          <p:cNvPicPr>
            <a:picLocks noChangeAspect="1" noChangeArrowheads="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838199" y="2200863"/>
            <a:ext cx="4793411" cy="2907834"/>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custDataLst>
              <p:tags r:id="rId3"/>
            </p:custDataLst>
          </p:nvPr>
        </p:nvPicPr>
        <p:blipFill>
          <a:blip r:embed="rId9"/>
          <a:stretch>
            <a:fillRect/>
          </a:stretch>
        </p:blipFill>
        <p:spPr>
          <a:xfrm>
            <a:off x="6560392" y="2200863"/>
            <a:ext cx="4908674" cy="2907834"/>
          </a:xfrm>
          <a:prstGeom prst="rect">
            <a:avLst/>
          </a:prstGeom>
        </p:spPr>
      </p:pic>
      <p:sp>
        <p:nvSpPr>
          <p:cNvPr id="3" name="Espace réservé du pied de page 3">
            <a:extLst>
              <a:ext uri="{FF2B5EF4-FFF2-40B4-BE49-F238E27FC236}">
                <a16:creationId xmlns:a16="http://schemas.microsoft.com/office/drawing/2014/main" id="{083AA156-BFD9-7B73-950B-8DE6CC745345}"/>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5B06D366-D545-F64B-6105-C22260E56274}"/>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38</a:t>
            </a:fld>
            <a:endParaRPr lang="fr-CA">
              <a:solidFill>
                <a:prstClr val="black">
                  <a:tint val="75000"/>
                </a:prstClr>
              </a:solidFill>
            </a:endParaRPr>
          </a:p>
        </p:txBody>
      </p:sp>
    </p:spTree>
    <p:extLst>
      <p:ext uri="{BB962C8B-B14F-4D97-AF65-F5344CB8AC3E}">
        <p14:creationId xmlns:p14="http://schemas.microsoft.com/office/powerpoint/2010/main" val="4133819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AECBC9-A00A-C031-3D70-F04539A41F9E}"/>
              </a:ext>
            </a:extLst>
          </p:cNvPr>
          <p:cNvSpPr>
            <a:spLocks noGrp="1"/>
          </p:cNvSpPr>
          <p:nvPr>
            <p:ph type="title"/>
            <p:custDataLst>
              <p:tags r:id="rId1"/>
            </p:custDataLst>
          </p:nvPr>
        </p:nvSpPr>
        <p:spPr/>
        <p:txBody>
          <a:bodyPr>
            <a:normAutofit/>
          </a:bodyPr>
          <a:lstStyle/>
          <a:p>
            <a:r>
              <a:rPr kumimoji="0" lang="fr-CA" sz="4000" i="0" u="none" strike="noStrike" kern="1200" cap="none" spc="0" normalizeH="0" baseline="0" noProof="0">
                <a:ln>
                  <a:noFill/>
                </a:ln>
                <a:solidFill>
                  <a:prstClr val="black"/>
                </a:solidFill>
                <a:effectLst/>
                <a:uLnTx/>
                <a:uFillTx/>
                <a:latin typeface="Calibri Light" panose="020F0302020204030204"/>
                <a:ea typeface="+mn-ea"/>
                <a:cs typeface="+mn-cs"/>
              </a:rPr>
              <a:t>Établir le plan de production optimal </a:t>
            </a:r>
            <a:r>
              <a:rPr kumimoji="0" lang="fr-CA" sz="3200" i="0" u="none" strike="noStrike" kern="1200" cap="none" spc="0" normalizeH="0" baseline="0" noProof="0">
                <a:ln>
                  <a:noFill/>
                </a:ln>
                <a:effectLst/>
                <a:uLnTx/>
                <a:uFillTx/>
                <a:latin typeface="Calibri Light" panose="020F0302020204030204"/>
                <a:ea typeface="+mn-ea"/>
                <a:cs typeface="+mn-cs"/>
              </a:rPr>
              <a:t>(en unités)</a:t>
            </a:r>
            <a:endParaRPr lang="fr-CA"/>
          </a:p>
        </p:txBody>
      </p:sp>
      <p:graphicFrame>
        <p:nvGraphicFramePr>
          <p:cNvPr id="6" name="Tableau 5">
            <a:extLst>
              <a:ext uri="{FF2B5EF4-FFF2-40B4-BE49-F238E27FC236}">
                <a16:creationId xmlns:a16="http://schemas.microsoft.com/office/drawing/2014/main" id="{E8C59DBF-D1E5-39C1-7B94-4BCAE3FB4FB0}"/>
              </a:ext>
            </a:extLst>
          </p:cNvPr>
          <p:cNvGraphicFramePr>
            <a:graphicFrameLocks noGrp="1"/>
          </p:cNvGraphicFramePr>
          <p:nvPr>
            <p:custDataLst>
              <p:tags r:id="rId2"/>
            </p:custDataLst>
            <p:extLst>
              <p:ext uri="{D42A27DB-BD31-4B8C-83A1-F6EECF244321}">
                <p14:modId xmlns:p14="http://schemas.microsoft.com/office/powerpoint/2010/main" val="2137990636"/>
              </p:ext>
            </p:extLst>
          </p:nvPr>
        </p:nvGraphicFramePr>
        <p:xfrm>
          <a:off x="333923" y="1395998"/>
          <a:ext cx="8710441" cy="2597483"/>
        </p:xfrm>
        <a:graphic>
          <a:graphicData uri="http://schemas.openxmlformats.org/drawingml/2006/table">
            <a:tbl>
              <a:tblPr firstRow="1" firstCol="1" bandRow="1">
                <a:tableStyleId>{2D5ABB26-0587-4C30-8999-92F81FD0307C}</a:tableStyleId>
              </a:tblPr>
              <a:tblGrid>
                <a:gridCol w="4077111">
                  <a:extLst>
                    <a:ext uri="{9D8B030D-6E8A-4147-A177-3AD203B41FA5}">
                      <a16:colId xmlns:a16="http://schemas.microsoft.com/office/drawing/2014/main" val="2074495121"/>
                    </a:ext>
                  </a:extLst>
                </a:gridCol>
                <a:gridCol w="2348904">
                  <a:extLst>
                    <a:ext uri="{9D8B030D-6E8A-4147-A177-3AD203B41FA5}">
                      <a16:colId xmlns:a16="http://schemas.microsoft.com/office/drawing/2014/main" val="1371522335"/>
                    </a:ext>
                  </a:extLst>
                </a:gridCol>
                <a:gridCol w="2284426">
                  <a:extLst>
                    <a:ext uri="{9D8B030D-6E8A-4147-A177-3AD203B41FA5}">
                      <a16:colId xmlns:a16="http://schemas.microsoft.com/office/drawing/2014/main" val="1657544449"/>
                    </a:ext>
                  </a:extLst>
                </a:gridCol>
              </a:tblGrid>
              <a:tr h="459075">
                <a:tc>
                  <a:txBody>
                    <a:bodyPr/>
                    <a:lstStyle/>
                    <a:p>
                      <a:pPr>
                        <a:lnSpc>
                          <a:spcPct val="107000"/>
                        </a:lnSpc>
                      </a:pPr>
                      <a:endParaRPr lang="fr-CA" sz="2400">
                        <a:solidFill>
                          <a:schemeClr val="tx1"/>
                        </a:solidFill>
                        <a:effectLst/>
                        <a:latin typeface="Calibri" panose="020F0502020204030204" pitchFamily="34" charset="0"/>
                        <a:cs typeface="Times New Roman" panose="02020603050405020304" pitchFamily="18" charset="0"/>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fr-CA" sz="2400" b="1" u="sng">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Ampoules</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fr-CA" sz="2400" b="1" u="sng">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Néons</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8794717"/>
                  </a:ext>
                </a:extLst>
              </a:tr>
              <a:tr h="459075">
                <a:tc>
                  <a:txBody>
                    <a:bodyPr/>
                    <a:lstStyle/>
                    <a:p>
                      <a:pPr>
                        <a:lnSpc>
                          <a:spcPct val="107000"/>
                        </a:lnSpc>
                      </a:pPr>
                      <a:r>
                        <a:rPr lang="fr-CA" sz="2400">
                          <a:solidFill>
                            <a:schemeClr val="tx1"/>
                          </a:solidFill>
                          <a:effectLst/>
                          <a:latin typeface="Calibri" panose="020F0502020204030204" pitchFamily="34" charset="0"/>
                          <a:cs typeface="Times New Roman" panose="02020603050405020304" pitchFamily="18" charset="0"/>
                        </a:rPr>
                        <a:t>Demande (boîtes)</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fr-CA" sz="2400" b="0" u="none">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164 000 u.</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fr-CA" sz="2400" b="0" u="none">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41 000 u.</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2744703"/>
                  </a:ext>
                </a:extLst>
              </a:tr>
              <a:tr h="459075">
                <a:tc>
                  <a:txBody>
                    <a:bodyPr/>
                    <a:lstStyle/>
                    <a:p>
                      <a:pPr algn="just">
                        <a:lnSpc>
                          <a:spcPct val="107000"/>
                        </a:lnSpc>
                        <a:spcAft>
                          <a:spcPts val="0"/>
                        </a:spcAft>
                      </a:pPr>
                      <a:r>
                        <a:rPr lang="fr-CA" sz="2400" b="0">
                          <a:solidFill>
                            <a:schemeClr val="tx1"/>
                          </a:solidFill>
                          <a:effectLst/>
                          <a:latin typeface="Calibri"/>
                          <a:ea typeface="Calibri" panose="020F0502020204030204" pitchFamily="34" charset="0"/>
                          <a:cs typeface="Times New Roman"/>
                        </a:rPr>
                        <a:t>HMOD / boîte d’ampoules</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fr-CA" sz="2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 heure</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fr-CA" sz="2400" b="0" u="none">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 heures</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2413736"/>
                  </a:ext>
                </a:extLst>
              </a:tr>
              <a:tr h="470435">
                <a:tc>
                  <a:txBody>
                    <a:bodyPr/>
                    <a:lstStyle/>
                    <a:p>
                      <a:pPr algn="just">
                        <a:lnSpc>
                          <a:spcPct val="107000"/>
                        </a:lnSpc>
                        <a:spcAft>
                          <a:spcPts val="0"/>
                        </a:spcAft>
                      </a:pPr>
                      <a:r>
                        <a:rPr lang="fr-CA" sz="2400" b="1">
                          <a:solidFill>
                            <a:schemeClr val="tx1"/>
                          </a:solidFill>
                          <a:effectLst/>
                          <a:latin typeface="Calibri"/>
                          <a:ea typeface="Calibri" panose="020F0502020204030204" pitchFamily="34" charset="0"/>
                          <a:cs typeface="Times New Roman"/>
                        </a:rPr>
                        <a:t>Priorité de production</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fr-CA" sz="2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fr-CA" sz="2400" b="0" u="none">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1785345"/>
                  </a:ext>
                </a:extLst>
              </a:tr>
              <a:tr h="749823">
                <a:tc>
                  <a:txBody>
                    <a:bodyPr/>
                    <a:lstStyle/>
                    <a:p>
                      <a:pPr algn="just">
                        <a:lnSpc>
                          <a:spcPct val="107000"/>
                        </a:lnSpc>
                        <a:spcAft>
                          <a:spcPts val="0"/>
                        </a:spcAft>
                      </a:pPr>
                      <a:r>
                        <a:rPr lang="fr-CA" sz="2400" b="1">
                          <a:solidFill>
                            <a:schemeClr val="tx1"/>
                          </a:solidFill>
                          <a:effectLst/>
                          <a:latin typeface="Calibri"/>
                          <a:ea typeface="Calibri" panose="020F0502020204030204" pitchFamily="34" charset="0"/>
                          <a:cs typeface="Times New Roman"/>
                        </a:rPr>
                        <a:t>Plan de production (en unités)</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endParaRPr lang="fr-CA" sz="2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endParaRPr lang="fr-CA" sz="2400" b="0" u="none">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3712159"/>
                  </a:ext>
                </a:extLst>
              </a:tr>
            </a:tbl>
          </a:graphicData>
        </a:graphic>
      </p:graphicFrame>
      <p:sp>
        <p:nvSpPr>
          <p:cNvPr id="7" name="Bulle narrative : rectangle à coins arrondis 6">
            <a:extLst>
              <a:ext uri="{FF2B5EF4-FFF2-40B4-BE49-F238E27FC236}">
                <a16:creationId xmlns:a16="http://schemas.microsoft.com/office/drawing/2014/main" id="{29DD2E97-BF9A-C403-EE3F-E7AE2EB31B52}"/>
              </a:ext>
            </a:extLst>
          </p:cNvPr>
          <p:cNvSpPr/>
          <p:nvPr>
            <p:custDataLst>
              <p:tags r:id="rId3"/>
            </p:custDataLst>
          </p:nvPr>
        </p:nvSpPr>
        <p:spPr>
          <a:xfrm>
            <a:off x="10306384" y="5209302"/>
            <a:ext cx="1809750" cy="1141085"/>
          </a:xfrm>
          <a:prstGeom prst="wedgeRoundRectCallout">
            <a:avLst>
              <a:gd name="adj1" fmla="val -65550"/>
              <a:gd name="adj2" fmla="val 1106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CA"/>
              <a:t>3 000 boîtes de néons ne seront pas produites</a:t>
            </a:r>
          </a:p>
        </p:txBody>
      </p:sp>
      <p:graphicFrame>
        <p:nvGraphicFramePr>
          <p:cNvPr id="8" name="Tableau 7">
            <a:extLst>
              <a:ext uri="{FF2B5EF4-FFF2-40B4-BE49-F238E27FC236}">
                <a16:creationId xmlns:a16="http://schemas.microsoft.com/office/drawing/2014/main" id="{DEE0414F-4AC0-C635-12B9-0878A92BC94B}"/>
              </a:ext>
            </a:extLst>
          </p:cNvPr>
          <p:cNvGraphicFramePr>
            <a:graphicFrameLocks noGrp="1"/>
          </p:cNvGraphicFramePr>
          <p:nvPr>
            <p:custDataLst>
              <p:tags r:id="rId4"/>
            </p:custDataLst>
            <p:extLst>
              <p:ext uri="{D42A27DB-BD31-4B8C-83A1-F6EECF244321}">
                <p14:modId xmlns:p14="http://schemas.microsoft.com/office/powerpoint/2010/main" val="332944552"/>
              </p:ext>
            </p:extLst>
          </p:nvPr>
        </p:nvGraphicFramePr>
        <p:xfrm>
          <a:off x="333923" y="4163260"/>
          <a:ext cx="9736669" cy="2056255"/>
        </p:xfrm>
        <a:graphic>
          <a:graphicData uri="http://schemas.openxmlformats.org/drawingml/2006/table">
            <a:tbl>
              <a:tblPr firstRow="1" firstCol="1" bandRow="1">
                <a:tableStyleId>{2D5ABB26-0587-4C30-8999-92F81FD0307C}</a:tableStyleId>
              </a:tblPr>
              <a:tblGrid>
                <a:gridCol w="5643168">
                  <a:extLst>
                    <a:ext uri="{9D8B030D-6E8A-4147-A177-3AD203B41FA5}">
                      <a16:colId xmlns:a16="http://schemas.microsoft.com/office/drawing/2014/main" val="2074495121"/>
                    </a:ext>
                  </a:extLst>
                </a:gridCol>
                <a:gridCol w="4093501">
                  <a:extLst>
                    <a:ext uri="{9D8B030D-6E8A-4147-A177-3AD203B41FA5}">
                      <a16:colId xmlns:a16="http://schemas.microsoft.com/office/drawing/2014/main" val="1371522335"/>
                    </a:ext>
                  </a:extLst>
                </a:gridCol>
              </a:tblGrid>
              <a:tr h="0">
                <a:tc>
                  <a:txBody>
                    <a:bodyPr/>
                    <a:lstStyle/>
                    <a:p>
                      <a:pPr algn="just">
                        <a:lnSpc>
                          <a:spcPct val="107000"/>
                        </a:lnSpc>
                        <a:spcAft>
                          <a:spcPts val="0"/>
                        </a:spcAft>
                      </a:pPr>
                      <a:r>
                        <a:rPr lang="fr-CA" sz="2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Heures totales disponibles</a:t>
                      </a:r>
                    </a:p>
                  </a:txBody>
                  <a:tcPr marL="44450" marR="44450" marT="0" marB="0" anchor="b"/>
                </a:tc>
                <a:tc>
                  <a:txBody>
                    <a:bodyPr/>
                    <a:lstStyle/>
                    <a:p>
                      <a:pPr algn="ctr">
                        <a:lnSpc>
                          <a:spcPct val="107000"/>
                        </a:lnSpc>
                        <a:spcAft>
                          <a:spcPts val="0"/>
                        </a:spcAft>
                      </a:pPr>
                      <a:r>
                        <a:rPr lang="fr-CA"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240 000 heures</a:t>
                      </a:r>
                    </a:p>
                  </a:txBody>
                  <a:tcPr marL="44450" marR="44450" marT="0" marB="0" anchor="b">
                    <a:lnB w="28575" cap="flat" cmpd="sng" algn="ctr">
                      <a:noFill/>
                      <a:prstDash val="solid"/>
                      <a:round/>
                      <a:headEnd type="none" w="med" len="med"/>
                      <a:tailEnd type="none" w="med" len="med"/>
                    </a:lnB>
                  </a:tcPr>
                </a:tc>
                <a:extLst>
                  <a:ext uri="{0D108BD9-81ED-4DB2-BD59-A6C34878D82A}">
                    <a16:rowId xmlns:a16="http://schemas.microsoft.com/office/drawing/2014/main" val="2306678996"/>
                  </a:ext>
                </a:extLst>
              </a:tr>
              <a:tr h="459075">
                <a:tc>
                  <a:txBody>
                    <a:bodyPr/>
                    <a:lstStyle/>
                    <a:p>
                      <a:pPr algn="just">
                        <a:lnSpc>
                          <a:spcPct val="107000"/>
                        </a:lnSpc>
                        <a:spcAft>
                          <a:spcPts val="0"/>
                        </a:spcAft>
                      </a:pPr>
                      <a:r>
                        <a:rPr lang="fr-CA" sz="2400" b="0">
                          <a:effectLst/>
                        </a:rPr>
                        <a:t>Heures pour produire </a:t>
                      </a:r>
                      <a:r>
                        <a:rPr lang="fr-CA" sz="2400" b="1">
                          <a:effectLst/>
                        </a:rPr>
                        <a:t>164 000 ampoules</a:t>
                      </a:r>
                      <a:endParaRPr lang="fr-CA" sz="24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lnR>
                      <a:noFill/>
                    </a:lnR>
                  </a:tcPr>
                </a:tc>
                <a:tc>
                  <a:txBody>
                    <a:bodyPr/>
                    <a:lstStyle/>
                    <a:p>
                      <a:pPr marL="0" algn="ctr" defTabSz="914400" rtl="0" eaLnBrk="1" latinLnBrk="0" hangingPunct="1">
                        <a:lnSpc>
                          <a:spcPct val="107000"/>
                        </a:lnSpc>
                        <a:spcAft>
                          <a:spcPts val="0"/>
                        </a:spcAft>
                      </a:pPr>
                      <a:endParaRPr lang="fr-CA" sz="2400" b="1" kern="120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lnL>
                      <a:noFill/>
                    </a:lnL>
                    <a:lnR w="28575" cap="flat" cmpd="sng" algn="ctr">
                      <a:noFill/>
                      <a:prstDash val="sysDot"/>
                      <a:round/>
                      <a:headEnd type="none" w="med" len="med"/>
                      <a:tailEnd type="none" w="med" len="med"/>
                    </a:lnR>
                    <a:lnT w="28575"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2409336"/>
                  </a:ext>
                </a:extLst>
              </a:tr>
              <a:tr h="631598">
                <a:tc>
                  <a:txBody>
                    <a:bodyPr/>
                    <a:lstStyle/>
                    <a:p>
                      <a:pPr algn="just">
                        <a:lnSpc>
                          <a:spcPct val="107000"/>
                        </a:lnSpc>
                        <a:spcAft>
                          <a:spcPts val="0"/>
                        </a:spcAft>
                      </a:pPr>
                      <a:r>
                        <a:rPr lang="fr-CA" sz="2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Heures disponibles pour produire les néons</a:t>
                      </a:r>
                    </a:p>
                  </a:txBody>
                  <a:tcPr marL="44450" marR="44450" marT="0" marB="0" anchor="b">
                    <a:lnR>
                      <a:noFill/>
                    </a:lnR>
                    <a:lnB>
                      <a:noFill/>
                    </a:lnB>
                  </a:tcPr>
                </a:tc>
                <a:tc>
                  <a:txBody>
                    <a:bodyPr/>
                    <a:lstStyle/>
                    <a:p>
                      <a:pPr algn="ctr">
                        <a:lnSpc>
                          <a:spcPct val="107000"/>
                        </a:lnSpc>
                        <a:spcAft>
                          <a:spcPts val="0"/>
                        </a:spcAft>
                      </a:pPr>
                      <a:endParaRPr lang="fr-CA" sz="2400" b="1">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lnL>
                      <a:noFill/>
                    </a:lnL>
                    <a:lnR w="28575" cap="flat" cmpd="sng" algn="ctr">
                      <a:no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2351636"/>
                  </a:ext>
                </a:extLst>
              </a:tr>
              <a:tr h="591567">
                <a:tc>
                  <a:txBody>
                    <a:bodyPr/>
                    <a:lstStyle/>
                    <a:p>
                      <a:pPr algn="just">
                        <a:lnSpc>
                          <a:spcPct val="107000"/>
                        </a:lnSpc>
                        <a:spcAft>
                          <a:spcPts val="0"/>
                        </a:spcAft>
                      </a:pPr>
                      <a:r>
                        <a:rPr lang="fr-CA" sz="2400" b="0">
                          <a:solidFill>
                            <a:schemeClr val="tx1"/>
                          </a:solidFill>
                          <a:effectLst/>
                          <a:latin typeface="Calibri"/>
                          <a:ea typeface="Calibri" panose="020F0502020204030204" pitchFamily="34" charset="0"/>
                          <a:cs typeface="Times New Roman"/>
                        </a:rPr>
                        <a:t>Boîtes de Néons produites</a:t>
                      </a:r>
                    </a:p>
                  </a:txBody>
                  <a:tcPr marL="44450" marR="44450" marT="0" marB="0" anchor="b">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0"/>
                        </a:spcAft>
                      </a:pPr>
                      <a:endParaRPr lang="fr-CA" sz="2400" b="1">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lnL>
                      <a:noFill/>
                    </a:lnL>
                    <a:lnR w="28575" cap="flat" cmpd="sng" algn="ctr">
                      <a:no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1553"/>
                  </a:ext>
                </a:extLst>
              </a:tr>
            </a:tbl>
          </a:graphicData>
        </a:graphic>
      </p:graphicFrame>
      <p:sp>
        <p:nvSpPr>
          <p:cNvPr id="3" name="Espace réservé du pied de page 3">
            <a:extLst>
              <a:ext uri="{FF2B5EF4-FFF2-40B4-BE49-F238E27FC236}">
                <a16:creationId xmlns:a16="http://schemas.microsoft.com/office/drawing/2014/main" id="{A022F03C-78A5-BB6C-5FF6-78D6F84BBAF6}"/>
              </a:ext>
            </a:extLst>
          </p:cNvPr>
          <p:cNvSpPr>
            <a:spLocks noGrp="1"/>
          </p:cNvSpPr>
          <p:nvPr>
            <p:ph type="ftr" sz="quarter" idx="11"/>
            <p:custDataLst>
              <p:tags r:id="rId5"/>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D8E0056D-54B6-9FCD-87D6-5BA8E06709BF}"/>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39</a:t>
            </a:fld>
            <a:endParaRPr lang="fr-CA">
              <a:solidFill>
                <a:prstClr val="black">
                  <a:tint val="75000"/>
                </a:prstClr>
              </a:solidFill>
            </a:endParaRPr>
          </a:p>
        </p:txBody>
      </p:sp>
    </p:spTree>
    <p:extLst>
      <p:ext uri="{BB962C8B-B14F-4D97-AF65-F5344CB8AC3E}">
        <p14:creationId xmlns:p14="http://schemas.microsoft.com/office/powerpoint/2010/main" val="1136467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19BD51-C250-CD76-9207-86680EF45988}"/>
              </a:ext>
            </a:extLst>
          </p:cNvPr>
          <p:cNvSpPr>
            <a:spLocks noGrp="1"/>
          </p:cNvSpPr>
          <p:nvPr>
            <p:ph type="ctrTitle"/>
            <p:custDataLst>
              <p:tags r:id="rId1"/>
            </p:custDataLst>
          </p:nvPr>
        </p:nvSpPr>
        <p:spPr/>
        <p:txBody>
          <a:bodyPr/>
          <a:lstStyle/>
          <a:p>
            <a:r>
              <a:rPr lang="fr-CA"/>
              <a:t>Les marges et la prise de décision</a:t>
            </a:r>
          </a:p>
        </p:txBody>
      </p:sp>
      <p:sp>
        <p:nvSpPr>
          <p:cNvPr id="4" name="Espace réservé du pied de page 3">
            <a:extLst>
              <a:ext uri="{FF2B5EF4-FFF2-40B4-BE49-F238E27FC236}">
                <a16:creationId xmlns:a16="http://schemas.microsoft.com/office/drawing/2014/main" id="{0120D4B4-CCB3-F54C-D2B0-D627524EFCBA}"/>
              </a:ext>
            </a:extLst>
          </p:cNvPr>
          <p:cNvSpPr>
            <a:spLocks noGrp="1"/>
          </p:cNvSpPr>
          <p:nvPr>
            <p:ph type="ftr" sz="quarter" idx="11"/>
            <p:custDataLst>
              <p:tags r:id="rId2"/>
            </p:custDataLst>
          </p:nvPr>
        </p:nvSpPr>
        <p:spPr/>
        <p:txBody>
          <a:bodyPr/>
          <a:lstStyle/>
          <a:p>
            <a:r>
              <a:rPr lang="en-US">
                <a:solidFill>
                  <a:prstClr val="black">
                    <a:tint val="75000"/>
                  </a:prstClr>
                </a:solidFill>
              </a:rPr>
              <a:t>(c) 10904 / S04 - Version A2024</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B60DA778-DAD4-B62B-D41C-7E2774793E60}"/>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40</a:t>
            </a:fld>
            <a:endParaRPr lang="fr-CA">
              <a:solidFill>
                <a:prstClr val="black">
                  <a:tint val="75000"/>
                </a:prstClr>
              </a:solidFill>
            </a:endParaRPr>
          </a:p>
        </p:txBody>
      </p:sp>
    </p:spTree>
    <p:extLst>
      <p:ext uri="{BB962C8B-B14F-4D97-AF65-F5344CB8AC3E}">
        <p14:creationId xmlns:p14="http://schemas.microsoft.com/office/powerpoint/2010/main" val="331778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7A99E5-95CB-49CD-94D7-4AD201E0A3EB}"/>
              </a:ext>
            </a:extLst>
          </p:cNvPr>
          <p:cNvSpPr>
            <a:spLocks noGrp="1"/>
          </p:cNvSpPr>
          <p:nvPr>
            <p:ph type="title"/>
            <p:custDataLst>
              <p:tags r:id="rId1"/>
            </p:custDataLst>
          </p:nvPr>
        </p:nvSpPr>
        <p:spPr/>
        <p:txBody>
          <a:bodyPr>
            <a:normAutofit/>
          </a:bodyPr>
          <a:lstStyle/>
          <a:p>
            <a:pPr algn="ctr"/>
            <a:r>
              <a:rPr lang="fr-CA" sz="4000"/>
              <a:t>Analyse des marges - objectifs</a:t>
            </a:r>
          </a:p>
        </p:txBody>
      </p:sp>
      <p:sp>
        <p:nvSpPr>
          <p:cNvPr id="3" name="Espace réservé du contenu 2">
            <a:extLst>
              <a:ext uri="{FF2B5EF4-FFF2-40B4-BE49-F238E27FC236}">
                <a16:creationId xmlns:a16="http://schemas.microsoft.com/office/drawing/2014/main" id="{4A87EBB0-5227-4F7D-932D-E33A1B3D8A45}"/>
              </a:ext>
            </a:extLst>
          </p:cNvPr>
          <p:cNvSpPr>
            <a:spLocks noGrp="1"/>
          </p:cNvSpPr>
          <p:nvPr>
            <p:ph idx="1"/>
            <p:custDataLst>
              <p:tags r:id="rId2"/>
            </p:custDataLst>
          </p:nvPr>
        </p:nvSpPr>
        <p:spPr>
          <a:xfrm>
            <a:off x="710215" y="1677879"/>
            <a:ext cx="10830756" cy="4499083"/>
          </a:xfrm>
        </p:spPr>
        <p:txBody>
          <a:bodyPr vert="horz" lIns="91440" tIns="45720" rIns="91440" bIns="45720" rtlCol="0" anchor="t">
            <a:normAutofit fontScale="92500" lnSpcReduction="10000"/>
          </a:bodyPr>
          <a:lstStyle/>
          <a:p>
            <a:r>
              <a:rPr lang="fr-CA"/>
              <a:t>Jusqu`à présent nous avons étudié comment les marges peuvent être utilisées </a:t>
            </a:r>
            <a:r>
              <a:rPr lang="fr-CA" u="sng"/>
              <a:t>dans le cadre d’une décision d’exploitation</a:t>
            </a:r>
            <a:r>
              <a:rPr lang="fr-CA"/>
              <a:t>.</a:t>
            </a:r>
          </a:p>
          <a:p>
            <a:endParaRPr lang="fr-CA"/>
          </a:p>
          <a:p>
            <a:r>
              <a:rPr lang="fr-CA"/>
              <a:t>Une organisation peut calculer des marges pour </a:t>
            </a:r>
            <a:r>
              <a:rPr lang="fr-CA" u="sng"/>
              <a:t>mener une analyse complète de la profitabilité de ses objets de coûts</a:t>
            </a:r>
            <a:r>
              <a:rPr lang="fr-CA"/>
              <a:t> (produits/services ou gammes de produits/services, unités d’exploitation, divisions, secteurs géographiques…)</a:t>
            </a:r>
          </a:p>
          <a:p>
            <a:pPr lvl="1"/>
            <a:r>
              <a:rPr lang="fr-CA"/>
              <a:t>Ce calcul peut être récurrent et constituer un système de veille.</a:t>
            </a:r>
          </a:p>
          <a:p>
            <a:pPr lvl="1"/>
            <a:r>
              <a:rPr lang="fr-CA"/>
              <a:t>Ce calcul peut être ponctuel pour analyser la contribution des différents objets de coûts à la rentabilité de l’entreprise, revoir le mix de vente, aider à la révision de la politique tarifaire (fixation du prix de vente).</a:t>
            </a:r>
          </a:p>
          <a:p>
            <a:pPr lvl="1"/>
            <a:r>
              <a:rPr lang="fr-CA"/>
              <a:t>Ce calcul peut permettre de faire des analyses prédictives permettant de voir rapidement l’impact d’une variation du volume d’activité sur le résultat.</a:t>
            </a:r>
          </a:p>
          <a:p>
            <a:pPr lvl="1"/>
            <a:r>
              <a:rPr lang="fr-CA"/>
              <a:t>(….)</a:t>
            </a:r>
          </a:p>
          <a:p>
            <a:endParaRPr lang="fr-CA"/>
          </a:p>
        </p:txBody>
      </p:sp>
      <p:sp>
        <p:nvSpPr>
          <p:cNvPr id="4" name="Espace réservé du pied de page 3">
            <a:extLst>
              <a:ext uri="{FF2B5EF4-FFF2-40B4-BE49-F238E27FC236}">
                <a16:creationId xmlns:a16="http://schemas.microsoft.com/office/drawing/2014/main" id="{72DBE939-03A0-76E9-E953-DAEA674EBB34}"/>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4E395C10-7541-0BDD-ED2A-2269E1C6FCCC}"/>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41</a:t>
            </a:fld>
            <a:endParaRPr lang="fr-CA">
              <a:solidFill>
                <a:prstClr val="black">
                  <a:tint val="75000"/>
                </a:prstClr>
              </a:solidFill>
            </a:endParaRPr>
          </a:p>
        </p:txBody>
      </p:sp>
    </p:spTree>
    <p:extLst>
      <p:ext uri="{BB962C8B-B14F-4D97-AF65-F5344CB8AC3E}">
        <p14:creationId xmlns:p14="http://schemas.microsoft.com/office/powerpoint/2010/main" val="254967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412433" y="166213"/>
            <a:ext cx="10941367" cy="912197"/>
          </a:xfrm>
        </p:spPr>
        <p:txBody>
          <a:bodyPr>
            <a:normAutofit/>
          </a:bodyPr>
          <a:lstStyle/>
          <a:p>
            <a:pPr algn="ctr"/>
            <a:r>
              <a:rPr lang="fr-CA" sz="4000"/>
              <a:t>Les marges étudiées jusqu’à présent (sommaire)</a:t>
            </a:r>
          </a:p>
        </p:txBody>
      </p:sp>
      <p:graphicFrame>
        <p:nvGraphicFramePr>
          <p:cNvPr id="6" name="Espace réservé du contenu 5"/>
          <p:cNvGraphicFramePr>
            <a:graphicFrameLocks noGrp="1"/>
          </p:cNvGraphicFramePr>
          <p:nvPr>
            <p:ph idx="1"/>
            <p:custDataLst>
              <p:tags r:id="rId2"/>
            </p:custDataLst>
            <p:extLst>
              <p:ext uri="{D42A27DB-BD31-4B8C-83A1-F6EECF244321}">
                <p14:modId xmlns:p14="http://schemas.microsoft.com/office/powerpoint/2010/main" val="1724445914"/>
              </p:ext>
            </p:extLst>
          </p:nvPr>
        </p:nvGraphicFramePr>
        <p:xfrm>
          <a:off x="439259" y="1593559"/>
          <a:ext cx="11530361" cy="475958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Espace réservé du pied de page 3">
            <a:extLst>
              <a:ext uri="{FF2B5EF4-FFF2-40B4-BE49-F238E27FC236}">
                <a16:creationId xmlns:a16="http://schemas.microsoft.com/office/drawing/2014/main" id="{C9ACF8AC-346C-B362-F9DA-A1B164B14BC8}"/>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C00E5A9E-CB4D-5E87-7FF3-739693ADEE6F}"/>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42</a:t>
            </a:fld>
            <a:endParaRPr lang="fr-CA">
              <a:solidFill>
                <a:prstClr val="black">
                  <a:tint val="75000"/>
                </a:prstClr>
              </a:solidFill>
            </a:endParaRPr>
          </a:p>
        </p:txBody>
      </p:sp>
    </p:spTree>
    <p:extLst>
      <p:ext uri="{BB962C8B-B14F-4D97-AF65-F5344CB8AC3E}">
        <p14:creationId xmlns:p14="http://schemas.microsoft.com/office/powerpoint/2010/main" val="4260181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EA931E-7551-4E30-9260-E219E27CF93C}"/>
              </a:ext>
            </a:extLst>
          </p:cNvPr>
          <p:cNvSpPr>
            <a:spLocks noGrp="1"/>
          </p:cNvSpPr>
          <p:nvPr>
            <p:ph type="ctrTitle"/>
            <p:custDataLst>
              <p:tags r:id="rId1"/>
            </p:custDataLst>
          </p:nvPr>
        </p:nvSpPr>
        <p:spPr/>
        <p:txBody>
          <a:bodyPr/>
          <a:lstStyle/>
          <a:p>
            <a:r>
              <a:rPr lang="fr-CA"/>
              <a:t>Exercice Pub du plateau 10B.1</a:t>
            </a:r>
          </a:p>
        </p:txBody>
      </p:sp>
      <p:sp>
        <p:nvSpPr>
          <p:cNvPr id="3" name="Sous-titre 2">
            <a:extLst>
              <a:ext uri="{FF2B5EF4-FFF2-40B4-BE49-F238E27FC236}">
                <a16:creationId xmlns:a16="http://schemas.microsoft.com/office/drawing/2014/main" id="{E42AB52E-E331-4310-A4B0-C36CA406496B}"/>
              </a:ext>
            </a:extLst>
          </p:cNvPr>
          <p:cNvSpPr>
            <a:spLocks noGrp="1"/>
          </p:cNvSpPr>
          <p:nvPr>
            <p:ph type="subTitle" idx="1"/>
            <p:custDataLst>
              <p:tags r:id="rId2"/>
            </p:custDataLst>
          </p:nvPr>
        </p:nvSpPr>
        <p:spPr>
          <a:xfrm>
            <a:off x="1524000" y="3736974"/>
            <a:ext cx="9144000" cy="850633"/>
          </a:xfrm>
        </p:spPr>
        <p:txBody>
          <a:bodyPr/>
          <a:lstStyle/>
          <a:p>
            <a:r>
              <a:rPr lang="fr-CA"/>
              <a:t>Analyse de marges pour </a:t>
            </a:r>
            <a:r>
              <a:rPr lang="fr-CA" u="sng"/>
              <a:t>mener une analyse complète de la profitabilité de ses objets de coûts</a:t>
            </a:r>
            <a:endParaRPr lang="fr-CA"/>
          </a:p>
        </p:txBody>
      </p:sp>
      <p:sp>
        <p:nvSpPr>
          <p:cNvPr id="6" name="Espace réservé du pied de page 3">
            <a:extLst>
              <a:ext uri="{FF2B5EF4-FFF2-40B4-BE49-F238E27FC236}">
                <a16:creationId xmlns:a16="http://schemas.microsoft.com/office/drawing/2014/main" id="{B7DA74C7-4D4C-3A74-B729-0359B523973F}"/>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8" name="Espace réservé du numéro de diapositive 4">
            <a:extLst>
              <a:ext uri="{FF2B5EF4-FFF2-40B4-BE49-F238E27FC236}">
                <a16:creationId xmlns:a16="http://schemas.microsoft.com/office/drawing/2014/main" id="{3AAA35A2-7980-0A79-E8C7-95DD60CC2D51}"/>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43</a:t>
            </a:fld>
            <a:endParaRPr lang="fr-CA">
              <a:solidFill>
                <a:prstClr val="black">
                  <a:tint val="75000"/>
                </a:prstClr>
              </a:solidFill>
            </a:endParaRPr>
          </a:p>
        </p:txBody>
      </p:sp>
    </p:spTree>
    <p:extLst>
      <p:ext uri="{BB962C8B-B14F-4D97-AF65-F5344CB8AC3E}">
        <p14:creationId xmlns:p14="http://schemas.microsoft.com/office/powerpoint/2010/main" val="31810083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77230C-01C3-C2C3-BF1C-0EEC03A9853B}"/>
              </a:ext>
            </a:extLst>
          </p:cNvPr>
          <p:cNvSpPr>
            <a:spLocks noGrp="1"/>
          </p:cNvSpPr>
          <p:nvPr>
            <p:ph type="title"/>
            <p:custDataLst>
              <p:tags r:id="rId1"/>
            </p:custDataLst>
          </p:nvPr>
        </p:nvSpPr>
        <p:spPr/>
        <p:txBody>
          <a:bodyPr/>
          <a:lstStyle/>
          <a:p>
            <a:r>
              <a:rPr lang="fr-CA"/>
              <a:t>Les décisions d’exploitation (sommaire)</a:t>
            </a:r>
          </a:p>
        </p:txBody>
      </p:sp>
      <p:graphicFrame>
        <p:nvGraphicFramePr>
          <p:cNvPr id="6" name="Espace réservé du contenu 5">
            <a:extLst>
              <a:ext uri="{FF2B5EF4-FFF2-40B4-BE49-F238E27FC236}">
                <a16:creationId xmlns:a16="http://schemas.microsoft.com/office/drawing/2014/main" id="{305935D5-E686-B923-C2D7-DE474D7DA52A}"/>
              </a:ext>
            </a:extLst>
          </p:cNvPr>
          <p:cNvGraphicFramePr>
            <a:graphicFrameLocks noGrp="1"/>
          </p:cNvGraphicFramePr>
          <p:nvPr>
            <p:ph idx="1"/>
            <p:custDataLst>
              <p:tags r:id="rId2"/>
            </p:custDataLst>
            <p:extLst>
              <p:ext uri="{D42A27DB-BD31-4B8C-83A1-F6EECF244321}">
                <p14:modId xmlns:p14="http://schemas.microsoft.com/office/powerpoint/2010/main" val="2793984123"/>
              </p:ext>
            </p:extLst>
          </p:nvPr>
        </p:nvGraphicFramePr>
        <p:xfrm>
          <a:off x="435864" y="1422510"/>
          <a:ext cx="7830312" cy="470852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7" name="Parenthèse fermante 6">
            <a:extLst>
              <a:ext uri="{FF2B5EF4-FFF2-40B4-BE49-F238E27FC236}">
                <a16:creationId xmlns:a16="http://schemas.microsoft.com/office/drawing/2014/main" id="{4DF8C836-C8C1-900E-EDD2-7EA6AC98608B}"/>
              </a:ext>
            </a:extLst>
          </p:cNvPr>
          <p:cNvSpPr/>
          <p:nvPr>
            <p:custDataLst>
              <p:tags r:id="rId3"/>
            </p:custDataLst>
          </p:nvPr>
        </p:nvSpPr>
        <p:spPr>
          <a:xfrm>
            <a:off x="8266176" y="2197608"/>
            <a:ext cx="438912" cy="2462784"/>
          </a:xfrm>
          <a:prstGeom prst="rightBracke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a:p>
        </p:txBody>
      </p:sp>
      <p:sp>
        <p:nvSpPr>
          <p:cNvPr id="9" name="ZoneTexte 8">
            <a:extLst>
              <a:ext uri="{FF2B5EF4-FFF2-40B4-BE49-F238E27FC236}">
                <a16:creationId xmlns:a16="http://schemas.microsoft.com/office/drawing/2014/main" id="{F25CCD9B-9C1A-67B3-E1D5-DB193DA3A4E2}"/>
              </a:ext>
            </a:extLst>
          </p:cNvPr>
          <p:cNvSpPr txBox="1"/>
          <p:nvPr>
            <p:custDataLst>
              <p:tags r:id="rId4"/>
            </p:custDataLst>
          </p:nvPr>
        </p:nvSpPr>
        <p:spPr>
          <a:xfrm>
            <a:off x="8705088" y="1883943"/>
            <a:ext cx="3051048" cy="1477328"/>
          </a:xfrm>
          <a:prstGeom prst="rect">
            <a:avLst/>
          </a:prstGeom>
          <a:noFill/>
        </p:spPr>
        <p:txBody>
          <a:bodyPr wrap="square" rtlCol="0">
            <a:spAutoFit/>
          </a:bodyPr>
          <a:lstStyle/>
          <a:p>
            <a:r>
              <a:rPr lang="fr-CA" b="1"/>
              <a:t>Résultat différentiel</a:t>
            </a:r>
          </a:p>
          <a:p>
            <a:r>
              <a:rPr lang="fr-CA"/>
              <a:t>La différence entre les deux propositions. </a:t>
            </a:r>
          </a:p>
          <a:p>
            <a:r>
              <a:rPr lang="fr-CA"/>
              <a:t>- Augmentation ou diminution du résultat. </a:t>
            </a:r>
          </a:p>
        </p:txBody>
      </p:sp>
      <p:sp>
        <p:nvSpPr>
          <p:cNvPr id="10" name="Bulle narrative : ronde 9">
            <a:extLst>
              <a:ext uri="{FF2B5EF4-FFF2-40B4-BE49-F238E27FC236}">
                <a16:creationId xmlns:a16="http://schemas.microsoft.com/office/drawing/2014/main" id="{BF30628B-2766-C933-DB8A-23AD078A6530}"/>
              </a:ext>
            </a:extLst>
          </p:cNvPr>
          <p:cNvSpPr/>
          <p:nvPr>
            <p:custDataLst>
              <p:tags r:id="rId5"/>
            </p:custDataLst>
          </p:nvPr>
        </p:nvSpPr>
        <p:spPr>
          <a:xfrm>
            <a:off x="435864" y="4843907"/>
            <a:ext cx="2504492" cy="1590308"/>
          </a:xfrm>
          <a:prstGeom prst="wedgeEllipseCallout">
            <a:avLst>
              <a:gd name="adj1" fmla="val 59591"/>
              <a:gd name="adj2" fmla="val -231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a:t>Calcul de marges pour effectuer l’analyse</a:t>
            </a:r>
          </a:p>
        </p:txBody>
      </p:sp>
      <p:sp>
        <p:nvSpPr>
          <p:cNvPr id="11" name="Bulle narrative : ronde 10">
            <a:extLst>
              <a:ext uri="{FF2B5EF4-FFF2-40B4-BE49-F238E27FC236}">
                <a16:creationId xmlns:a16="http://schemas.microsoft.com/office/drawing/2014/main" id="{D218B46D-3869-32CC-0B43-4A6161AA8088}"/>
              </a:ext>
            </a:extLst>
          </p:cNvPr>
          <p:cNvSpPr/>
          <p:nvPr>
            <p:custDataLst>
              <p:tags r:id="rId6"/>
            </p:custDataLst>
          </p:nvPr>
        </p:nvSpPr>
        <p:spPr>
          <a:xfrm>
            <a:off x="8918572" y="3638270"/>
            <a:ext cx="3051048" cy="1306398"/>
          </a:xfrm>
          <a:prstGeom prst="wedgeEllipseCallout">
            <a:avLst>
              <a:gd name="adj1" fmla="val -4891"/>
              <a:gd name="adj2" fmla="val -681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a:t>Coûts directs = coûts variables + coûts fixes spécifiques</a:t>
            </a:r>
          </a:p>
        </p:txBody>
      </p:sp>
      <p:sp>
        <p:nvSpPr>
          <p:cNvPr id="3" name="Espace réservé du pied de page 3">
            <a:extLst>
              <a:ext uri="{FF2B5EF4-FFF2-40B4-BE49-F238E27FC236}">
                <a16:creationId xmlns:a16="http://schemas.microsoft.com/office/drawing/2014/main" id="{D7DEB8C0-1184-7295-2538-3DE57F12A8AA}"/>
              </a:ext>
            </a:extLst>
          </p:cNvPr>
          <p:cNvSpPr>
            <a:spLocks noGrp="1"/>
          </p:cNvSpPr>
          <p:nvPr>
            <p:ph type="ftr" sz="quarter" idx="11"/>
            <p:custDataLst>
              <p:tags r:id="rId7"/>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24742A19-B363-EF4A-C68B-F8961F1F307D}"/>
              </a:ext>
            </a:extLst>
          </p:cNvPr>
          <p:cNvSpPr>
            <a:spLocks noGrp="1"/>
          </p:cNvSpPr>
          <p:nvPr>
            <p:ph type="sldNum" sz="quarter" idx="12"/>
            <p:custDataLst>
              <p:tags r:id="rId8"/>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44</a:t>
            </a:fld>
            <a:endParaRPr lang="fr-CA">
              <a:solidFill>
                <a:prstClr val="black">
                  <a:tint val="75000"/>
                </a:prstClr>
              </a:solidFill>
            </a:endParaRPr>
          </a:p>
        </p:txBody>
      </p:sp>
    </p:spTree>
    <p:extLst>
      <p:ext uri="{BB962C8B-B14F-4D97-AF65-F5344CB8AC3E}">
        <p14:creationId xmlns:p14="http://schemas.microsoft.com/office/powerpoint/2010/main" val="587739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2"/>
            </p:custDataLst>
          </p:nvPr>
        </p:nvSpPr>
        <p:spPr/>
        <p:txBody>
          <a:bodyPr>
            <a:normAutofit/>
          </a:bodyPr>
          <a:lstStyle/>
          <a:p>
            <a:r>
              <a:rPr lang="fr-CA" sz="4000"/>
              <a:t>Conclusion – Séance 4</a:t>
            </a:r>
            <a:endParaRPr lang="fr-CA" sz="4000">
              <a:highlight>
                <a:srgbClr val="FF00FF"/>
              </a:highlight>
            </a:endParaRPr>
          </a:p>
        </p:txBody>
      </p:sp>
      <p:sp>
        <p:nvSpPr>
          <p:cNvPr id="6" name="Rectangle à coins arrondis 5"/>
          <p:cNvSpPr/>
          <p:nvPr>
            <p:custDataLst>
              <p:tags r:id="rId3"/>
            </p:custDataLst>
          </p:nvPr>
        </p:nvSpPr>
        <p:spPr>
          <a:xfrm>
            <a:off x="2063552" y="3160194"/>
            <a:ext cx="2520280" cy="1573388"/>
          </a:xfrm>
          <a:prstGeom prst="round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fr-CA" sz="2400" b="1">
                <a:solidFill>
                  <a:schemeClr val="tx1"/>
                </a:solidFill>
              </a:rPr>
              <a:t>Prise de décision d’exploitation et analyse de marges</a:t>
            </a:r>
          </a:p>
        </p:txBody>
      </p:sp>
      <p:cxnSp>
        <p:nvCxnSpPr>
          <p:cNvPr id="8" name="Connecteur droit avec flèche 7"/>
          <p:cNvCxnSpPr>
            <a:cxnSpLocks/>
            <a:stCxn id="6" idx="3"/>
            <a:endCxn id="12" idx="3"/>
          </p:cNvCxnSpPr>
          <p:nvPr>
            <p:custDataLst>
              <p:tags r:id="rId4"/>
            </p:custDataLst>
          </p:nvPr>
        </p:nvCxnSpPr>
        <p:spPr>
          <a:xfrm>
            <a:off x="4583832" y="3946888"/>
            <a:ext cx="1920497" cy="200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a:cxnSpLocks/>
            <a:stCxn id="6" idx="3"/>
            <a:endCxn id="15" idx="1"/>
          </p:cNvCxnSpPr>
          <p:nvPr>
            <p:custDataLst>
              <p:tags r:id="rId5"/>
            </p:custDataLst>
          </p:nvPr>
        </p:nvCxnSpPr>
        <p:spPr>
          <a:xfrm flipV="1">
            <a:off x="4583832" y="2307592"/>
            <a:ext cx="1919135" cy="16392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ZoneTexte 10"/>
          <p:cNvSpPr txBox="1"/>
          <p:nvPr>
            <p:custDataLst>
              <p:tags r:id="rId6"/>
            </p:custDataLst>
          </p:nvPr>
        </p:nvSpPr>
        <p:spPr>
          <a:xfrm>
            <a:off x="5154912" y="2519907"/>
            <a:ext cx="776975" cy="400110"/>
          </a:xfrm>
          <a:prstGeom prst="rect">
            <a:avLst/>
          </a:prstGeom>
          <a:noFill/>
        </p:spPr>
        <p:txBody>
          <a:bodyPr wrap="square" rtlCol="0">
            <a:spAutoFit/>
          </a:bodyPr>
          <a:lstStyle/>
          <a:p>
            <a:r>
              <a:rPr lang="fr-CA" sz="2000"/>
              <a:t>Idée  </a:t>
            </a:r>
          </a:p>
        </p:txBody>
      </p:sp>
      <p:sp>
        <p:nvSpPr>
          <p:cNvPr id="12" name="ZoneTexte 11"/>
          <p:cNvSpPr txBox="1"/>
          <p:nvPr>
            <p:custDataLst>
              <p:tags r:id="rId7"/>
            </p:custDataLst>
          </p:nvPr>
        </p:nvSpPr>
        <p:spPr>
          <a:xfrm>
            <a:off x="4897942" y="3613007"/>
            <a:ext cx="1606387" cy="707886"/>
          </a:xfrm>
          <a:prstGeom prst="rect">
            <a:avLst/>
          </a:prstGeom>
          <a:noFill/>
        </p:spPr>
        <p:txBody>
          <a:bodyPr wrap="square" rtlCol="0">
            <a:spAutoFit/>
          </a:bodyPr>
          <a:lstStyle/>
          <a:p>
            <a:pPr algn="ctr"/>
            <a:r>
              <a:rPr lang="fr-CA" sz="2000"/>
              <a:t>Informations pertinentes</a:t>
            </a:r>
          </a:p>
        </p:txBody>
      </p:sp>
      <p:sp>
        <p:nvSpPr>
          <p:cNvPr id="13" name="ZoneTexte 12"/>
          <p:cNvSpPr txBox="1"/>
          <p:nvPr>
            <p:custDataLst>
              <p:tags r:id="rId8"/>
            </p:custDataLst>
          </p:nvPr>
        </p:nvSpPr>
        <p:spPr>
          <a:xfrm>
            <a:off x="6500244" y="3393086"/>
            <a:ext cx="4231707" cy="923330"/>
          </a:xfrm>
          <a:prstGeom prst="rect">
            <a:avLst/>
          </a:prstGeom>
          <a:noFill/>
          <a:ln>
            <a:solidFill>
              <a:schemeClr val="accent1"/>
            </a:solidFill>
          </a:ln>
        </p:spPr>
        <p:txBody>
          <a:bodyPr wrap="square" rtlCol="0">
            <a:spAutoFit/>
          </a:bodyPr>
          <a:lstStyle/>
          <a:p>
            <a:r>
              <a:rPr lang="fr-CA">
                <a:latin typeface="Gill Sans MT"/>
              </a:rPr>
              <a:t>coût pertinent</a:t>
            </a:r>
          </a:p>
          <a:p>
            <a:r>
              <a:rPr lang="fr-CA">
                <a:latin typeface="Gill Sans MT"/>
              </a:rPr>
              <a:t>coût de renonciation</a:t>
            </a:r>
          </a:p>
          <a:p>
            <a:r>
              <a:rPr lang="fr-CA">
                <a:latin typeface="Gill Sans MT"/>
              </a:rPr>
              <a:t>résultat différentiel</a:t>
            </a:r>
          </a:p>
        </p:txBody>
      </p:sp>
      <p:sp>
        <p:nvSpPr>
          <p:cNvPr id="15" name="ZoneTexte 14"/>
          <p:cNvSpPr txBox="1"/>
          <p:nvPr>
            <p:custDataLst>
              <p:tags r:id="rId9"/>
            </p:custDataLst>
          </p:nvPr>
        </p:nvSpPr>
        <p:spPr>
          <a:xfrm>
            <a:off x="6502967" y="1568928"/>
            <a:ext cx="4228984" cy="1477328"/>
          </a:xfrm>
          <a:prstGeom prst="rect">
            <a:avLst/>
          </a:prstGeom>
          <a:noFill/>
          <a:ln>
            <a:solidFill>
              <a:schemeClr val="accent1"/>
            </a:solidFill>
          </a:ln>
        </p:spPr>
        <p:txBody>
          <a:bodyPr wrap="square" rtlCol="0">
            <a:spAutoFit/>
          </a:bodyPr>
          <a:lstStyle/>
          <a:p>
            <a:r>
              <a:rPr lang="fr-CA">
                <a:latin typeface="Gill Sans MT"/>
              </a:rPr>
              <a:t>∙ </a:t>
            </a:r>
            <a:r>
              <a:rPr lang="fr-CA"/>
              <a:t>Produire l’information pertinente pour prendre certaines décisions d’exploitation</a:t>
            </a:r>
          </a:p>
          <a:p>
            <a:r>
              <a:rPr lang="fr-CA">
                <a:latin typeface="Gill Sans MT"/>
              </a:rPr>
              <a:t>∙ </a:t>
            </a:r>
            <a:r>
              <a:rPr lang="fr-CA"/>
              <a:t>Comprendre la contribution de différents objets de coûts à la profitabilité de l’organisation </a:t>
            </a:r>
            <a:endParaRPr lang="fr-CA" sz="2000"/>
          </a:p>
        </p:txBody>
      </p:sp>
      <p:sp>
        <p:nvSpPr>
          <p:cNvPr id="16" name="ZoneTexte 15"/>
          <p:cNvSpPr txBox="1"/>
          <p:nvPr>
            <p:custDataLst>
              <p:tags r:id="rId10"/>
            </p:custDataLst>
          </p:nvPr>
        </p:nvSpPr>
        <p:spPr>
          <a:xfrm>
            <a:off x="4474321" y="4826153"/>
            <a:ext cx="1361181" cy="400110"/>
          </a:xfrm>
          <a:prstGeom prst="rect">
            <a:avLst/>
          </a:prstGeom>
          <a:noFill/>
        </p:spPr>
        <p:txBody>
          <a:bodyPr wrap="square" rtlCol="0">
            <a:spAutoFit/>
          </a:bodyPr>
          <a:lstStyle/>
          <a:p>
            <a:pPr algn="r"/>
            <a:r>
              <a:rPr lang="fr-CA" sz="2000"/>
              <a:t>Comment</a:t>
            </a:r>
          </a:p>
        </p:txBody>
      </p:sp>
      <p:cxnSp>
        <p:nvCxnSpPr>
          <p:cNvPr id="17" name="Connecteur droit avec flèche 16"/>
          <p:cNvCxnSpPr>
            <a:cxnSpLocks/>
            <a:stCxn id="6" idx="3"/>
            <a:endCxn id="19" idx="1"/>
          </p:cNvCxnSpPr>
          <p:nvPr>
            <p:custDataLst>
              <p:tags r:id="rId11"/>
            </p:custDataLst>
          </p:nvPr>
        </p:nvCxnSpPr>
        <p:spPr>
          <a:xfrm>
            <a:off x="4583832" y="3946888"/>
            <a:ext cx="1916412" cy="16241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ZoneTexte 18"/>
          <p:cNvSpPr txBox="1"/>
          <p:nvPr>
            <p:custDataLst>
              <p:tags r:id="rId12"/>
            </p:custDataLst>
          </p:nvPr>
        </p:nvSpPr>
        <p:spPr>
          <a:xfrm>
            <a:off x="6500244" y="4755383"/>
            <a:ext cx="4231707" cy="1631216"/>
          </a:xfrm>
          <a:prstGeom prst="rect">
            <a:avLst/>
          </a:prstGeom>
          <a:noFill/>
          <a:ln>
            <a:solidFill>
              <a:schemeClr val="accent1"/>
            </a:solidFill>
          </a:ln>
        </p:spPr>
        <p:txBody>
          <a:bodyPr wrap="square" rtlCol="0">
            <a:spAutoFit/>
          </a:bodyPr>
          <a:lstStyle/>
          <a:p>
            <a:r>
              <a:rPr lang="fr-CA" sz="2000">
                <a:latin typeface="Gill Sans MT"/>
              </a:rPr>
              <a:t>∙ </a:t>
            </a:r>
            <a:r>
              <a:rPr lang="fr-CA" sz="2000"/>
              <a:t>Analyse différentielle</a:t>
            </a:r>
          </a:p>
          <a:p>
            <a:r>
              <a:rPr lang="fr-CA" sz="2000">
                <a:latin typeface="Gill Sans MT"/>
              </a:rPr>
              <a:t>∙ </a:t>
            </a:r>
            <a:r>
              <a:rPr lang="fr-CA" sz="2000"/>
              <a:t>Calcul de marges selon la prise de décision : MCV unitaire, MCV totale, marge sur coûts spécifiques, marge par facteur de production contraignant … </a:t>
            </a:r>
          </a:p>
        </p:txBody>
      </p:sp>
      <p:sp>
        <p:nvSpPr>
          <p:cNvPr id="4" name="Espace réservé du pied de page 3">
            <a:extLst>
              <a:ext uri="{FF2B5EF4-FFF2-40B4-BE49-F238E27FC236}">
                <a16:creationId xmlns:a16="http://schemas.microsoft.com/office/drawing/2014/main" id="{9A66BF87-65B7-1DC9-7B04-01F598B05903}"/>
              </a:ext>
            </a:extLst>
          </p:cNvPr>
          <p:cNvSpPr>
            <a:spLocks noGrp="1"/>
          </p:cNvSpPr>
          <p:nvPr>
            <p:ph type="ftr" sz="quarter" idx="11"/>
            <p:custDataLst>
              <p:tags r:id="rId1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7" name="Espace réservé du numéro de diapositive 4">
            <a:extLst>
              <a:ext uri="{FF2B5EF4-FFF2-40B4-BE49-F238E27FC236}">
                <a16:creationId xmlns:a16="http://schemas.microsoft.com/office/drawing/2014/main" id="{D28DD164-32E7-3A0F-13FB-0B01E92BB570}"/>
              </a:ext>
            </a:extLst>
          </p:cNvPr>
          <p:cNvSpPr>
            <a:spLocks noGrp="1"/>
          </p:cNvSpPr>
          <p:nvPr>
            <p:ph type="sldNum" sz="quarter" idx="12"/>
            <p:custDataLst>
              <p:tags r:id="rId1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45</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16493305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3AE72-BED2-3AE5-07BC-EF476306249A}"/>
              </a:ext>
            </a:extLst>
          </p:cNvPr>
          <p:cNvSpPr>
            <a:spLocks noGrp="1"/>
          </p:cNvSpPr>
          <p:nvPr>
            <p:ph type="title"/>
            <p:custDataLst>
              <p:tags r:id="rId1"/>
            </p:custDataLst>
          </p:nvPr>
        </p:nvSpPr>
        <p:spPr/>
        <p:txBody>
          <a:bodyPr>
            <a:normAutofit/>
          </a:bodyPr>
          <a:lstStyle/>
          <a:p>
            <a:r>
              <a:rPr lang="en-US" sz="4400">
                <a:solidFill>
                  <a:schemeClr val="tx2"/>
                </a:solidFill>
                <a:cs typeface="Poppins" pitchFamily="2" charset="77"/>
              </a:rPr>
              <a:t>QUESTIONS…</a:t>
            </a:r>
            <a:endParaRPr lang="fr-CA"/>
          </a:p>
        </p:txBody>
      </p:sp>
      <p:grpSp>
        <p:nvGrpSpPr>
          <p:cNvPr id="6" name="Group 138">
            <a:extLst>
              <a:ext uri="{FF2B5EF4-FFF2-40B4-BE49-F238E27FC236}">
                <a16:creationId xmlns:a16="http://schemas.microsoft.com/office/drawing/2014/main" id="{65046B40-4C17-4CB6-AFE9-AB12062D9A63}"/>
              </a:ext>
            </a:extLst>
          </p:cNvPr>
          <p:cNvGrpSpPr/>
          <p:nvPr>
            <p:custDataLst>
              <p:tags r:id="rId2"/>
            </p:custDataLst>
          </p:nvPr>
        </p:nvGrpSpPr>
        <p:grpSpPr>
          <a:xfrm>
            <a:off x="9280494" y="2303888"/>
            <a:ext cx="2068928" cy="2939885"/>
            <a:chOff x="8704441" y="2571694"/>
            <a:chExt cx="7028256" cy="10385705"/>
          </a:xfrm>
        </p:grpSpPr>
        <p:sp>
          <p:nvSpPr>
            <p:cNvPr id="7" name="Shape 34173">
              <a:extLst>
                <a:ext uri="{FF2B5EF4-FFF2-40B4-BE49-F238E27FC236}">
                  <a16:creationId xmlns:a16="http://schemas.microsoft.com/office/drawing/2014/main" id="{976C004C-1D4C-6265-7CAA-36D0B3554743}"/>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8" name="Shape 34174">
              <a:extLst>
                <a:ext uri="{FF2B5EF4-FFF2-40B4-BE49-F238E27FC236}">
                  <a16:creationId xmlns:a16="http://schemas.microsoft.com/office/drawing/2014/main" id="{C4BF05D4-B682-FD65-42DA-A04AFFE28DC3}"/>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 name="Shape 34175">
              <a:extLst>
                <a:ext uri="{FF2B5EF4-FFF2-40B4-BE49-F238E27FC236}">
                  <a16:creationId xmlns:a16="http://schemas.microsoft.com/office/drawing/2014/main" id="{C9712020-E217-2295-A8BA-E42FE748FCC5}"/>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0" name="Shape 34176">
              <a:extLst>
                <a:ext uri="{FF2B5EF4-FFF2-40B4-BE49-F238E27FC236}">
                  <a16:creationId xmlns:a16="http://schemas.microsoft.com/office/drawing/2014/main" id="{AAF18868-B068-9C4F-8960-CB0D5A467E25}"/>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1" name="Shape 34177">
              <a:extLst>
                <a:ext uri="{FF2B5EF4-FFF2-40B4-BE49-F238E27FC236}">
                  <a16:creationId xmlns:a16="http://schemas.microsoft.com/office/drawing/2014/main" id="{E801DEDF-A984-AAEF-46E7-EC60B0FDD754}"/>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2" name="Shape 34178">
              <a:extLst>
                <a:ext uri="{FF2B5EF4-FFF2-40B4-BE49-F238E27FC236}">
                  <a16:creationId xmlns:a16="http://schemas.microsoft.com/office/drawing/2014/main" id="{BD91ED27-C937-F3A7-A98F-9F30D5337FE1}"/>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3" name="Shape 34179">
              <a:extLst>
                <a:ext uri="{FF2B5EF4-FFF2-40B4-BE49-F238E27FC236}">
                  <a16:creationId xmlns:a16="http://schemas.microsoft.com/office/drawing/2014/main" id="{CE42E4FB-FD68-9A56-DB60-45D4D1F6DEE8}"/>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4" name="Shape 34180">
              <a:extLst>
                <a:ext uri="{FF2B5EF4-FFF2-40B4-BE49-F238E27FC236}">
                  <a16:creationId xmlns:a16="http://schemas.microsoft.com/office/drawing/2014/main" id="{0FD9EA42-B916-E428-7847-39A0ED7419E1}"/>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5" name="Shape 34181">
              <a:extLst>
                <a:ext uri="{FF2B5EF4-FFF2-40B4-BE49-F238E27FC236}">
                  <a16:creationId xmlns:a16="http://schemas.microsoft.com/office/drawing/2014/main" id="{E8D68D33-D5CF-E622-C836-662EFC5E2A57}"/>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6" name="Shape 34182">
              <a:extLst>
                <a:ext uri="{FF2B5EF4-FFF2-40B4-BE49-F238E27FC236}">
                  <a16:creationId xmlns:a16="http://schemas.microsoft.com/office/drawing/2014/main" id="{8CFECFFB-6EA8-A430-AED5-7E65407DD4A5}"/>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7" name="Shape 34183">
              <a:extLst>
                <a:ext uri="{FF2B5EF4-FFF2-40B4-BE49-F238E27FC236}">
                  <a16:creationId xmlns:a16="http://schemas.microsoft.com/office/drawing/2014/main" id="{617F6296-7E21-A175-05EE-8707F53A6F39}"/>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8" name="Shape 34184">
              <a:extLst>
                <a:ext uri="{FF2B5EF4-FFF2-40B4-BE49-F238E27FC236}">
                  <a16:creationId xmlns:a16="http://schemas.microsoft.com/office/drawing/2014/main" id="{4F91F915-B70C-3DFB-2DED-CD2D0C36EDD4}"/>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9" name="Shape 34185">
              <a:extLst>
                <a:ext uri="{FF2B5EF4-FFF2-40B4-BE49-F238E27FC236}">
                  <a16:creationId xmlns:a16="http://schemas.microsoft.com/office/drawing/2014/main" id="{F029D3C9-BD86-97DA-B294-D36F5FDE4428}"/>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0" name="Shape 34186">
              <a:extLst>
                <a:ext uri="{FF2B5EF4-FFF2-40B4-BE49-F238E27FC236}">
                  <a16:creationId xmlns:a16="http://schemas.microsoft.com/office/drawing/2014/main" id="{F5B7275A-6FAF-B24A-A685-47C4A6EE1FA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1" name="Shape 34187">
              <a:extLst>
                <a:ext uri="{FF2B5EF4-FFF2-40B4-BE49-F238E27FC236}">
                  <a16:creationId xmlns:a16="http://schemas.microsoft.com/office/drawing/2014/main" id="{EAAF3EFF-FA3D-D6EE-8564-5186B15CA88F}"/>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2" name="Shape 34188">
              <a:extLst>
                <a:ext uri="{FF2B5EF4-FFF2-40B4-BE49-F238E27FC236}">
                  <a16:creationId xmlns:a16="http://schemas.microsoft.com/office/drawing/2014/main" id="{749F9356-4688-F55D-7BA7-4D414600925A}"/>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3" name="Shape 34189">
              <a:extLst>
                <a:ext uri="{FF2B5EF4-FFF2-40B4-BE49-F238E27FC236}">
                  <a16:creationId xmlns:a16="http://schemas.microsoft.com/office/drawing/2014/main" id="{ACF42464-8277-7FE7-BFF9-60BD9A71C304}"/>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4" name="Shape 34190">
              <a:extLst>
                <a:ext uri="{FF2B5EF4-FFF2-40B4-BE49-F238E27FC236}">
                  <a16:creationId xmlns:a16="http://schemas.microsoft.com/office/drawing/2014/main" id="{1CB0601C-E813-F143-49E8-AF8089764FF4}"/>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5" name="Shape 34191">
              <a:extLst>
                <a:ext uri="{FF2B5EF4-FFF2-40B4-BE49-F238E27FC236}">
                  <a16:creationId xmlns:a16="http://schemas.microsoft.com/office/drawing/2014/main" id="{AC9455CF-AF30-DE16-2774-5F4D082B38B0}"/>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6" name="Shape 34192">
              <a:extLst>
                <a:ext uri="{FF2B5EF4-FFF2-40B4-BE49-F238E27FC236}">
                  <a16:creationId xmlns:a16="http://schemas.microsoft.com/office/drawing/2014/main" id="{7C569921-7480-9A44-8C2E-A5B0ED448F0E}"/>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7" name="Shape 34193">
              <a:extLst>
                <a:ext uri="{FF2B5EF4-FFF2-40B4-BE49-F238E27FC236}">
                  <a16:creationId xmlns:a16="http://schemas.microsoft.com/office/drawing/2014/main" id="{A5E3F977-180A-3643-419D-57AED242F69C}"/>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28" name="Shape 34194">
              <a:extLst>
                <a:ext uri="{FF2B5EF4-FFF2-40B4-BE49-F238E27FC236}">
                  <a16:creationId xmlns:a16="http://schemas.microsoft.com/office/drawing/2014/main" id="{8654F068-3931-E6FE-A770-5E45CA727A66}"/>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9" name="Shape 34195">
              <a:extLst>
                <a:ext uri="{FF2B5EF4-FFF2-40B4-BE49-F238E27FC236}">
                  <a16:creationId xmlns:a16="http://schemas.microsoft.com/office/drawing/2014/main" id="{F32529DE-7723-A9F9-7F05-07E940417709}"/>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0" name="Shape 34196">
              <a:extLst>
                <a:ext uri="{FF2B5EF4-FFF2-40B4-BE49-F238E27FC236}">
                  <a16:creationId xmlns:a16="http://schemas.microsoft.com/office/drawing/2014/main" id="{99B49F4A-C995-B73F-E19A-B307302678CD}"/>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31" name="Shape 34197">
              <a:extLst>
                <a:ext uri="{FF2B5EF4-FFF2-40B4-BE49-F238E27FC236}">
                  <a16:creationId xmlns:a16="http://schemas.microsoft.com/office/drawing/2014/main" id="{E619B2D8-F6BD-8A7E-5EDA-D68C2CA0C3AC}"/>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2" name="Shape 34198">
              <a:extLst>
                <a:ext uri="{FF2B5EF4-FFF2-40B4-BE49-F238E27FC236}">
                  <a16:creationId xmlns:a16="http://schemas.microsoft.com/office/drawing/2014/main" id="{288C06A0-5E60-7FBA-5163-8D0A4E6E9A8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3" name="Shape 34199">
              <a:extLst>
                <a:ext uri="{FF2B5EF4-FFF2-40B4-BE49-F238E27FC236}">
                  <a16:creationId xmlns:a16="http://schemas.microsoft.com/office/drawing/2014/main" id="{49A32E76-801E-A843-8779-81977240544F}"/>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4" name="Shape 34200">
              <a:extLst>
                <a:ext uri="{FF2B5EF4-FFF2-40B4-BE49-F238E27FC236}">
                  <a16:creationId xmlns:a16="http://schemas.microsoft.com/office/drawing/2014/main" id="{3E5F91B2-B048-5BFE-5A85-82F92FA7CB84}"/>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5" name="Shape 34201">
              <a:extLst>
                <a:ext uri="{FF2B5EF4-FFF2-40B4-BE49-F238E27FC236}">
                  <a16:creationId xmlns:a16="http://schemas.microsoft.com/office/drawing/2014/main" id="{84AE006D-A898-C300-EAA5-3A5274B9B64F}"/>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6" name="Shape 34202">
              <a:extLst>
                <a:ext uri="{FF2B5EF4-FFF2-40B4-BE49-F238E27FC236}">
                  <a16:creationId xmlns:a16="http://schemas.microsoft.com/office/drawing/2014/main" id="{3627F16C-6922-1C8F-7FFA-A69F5B9480C3}"/>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7" name="Shape 34203">
              <a:extLst>
                <a:ext uri="{FF2B5EF4-FFF2-40B4-BE49-F238E27FC236}">
                  <a16:creationId xmlns:a16="http://schemas.microsoft.com/office/drawing/2014/main" id="{C0A6D04B-B571-CC97-4DA2-9B277FA71F2B}"/>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8" name="Shape 34204">
              <a:extLst>
                <a:ext uri="{FF2B5EF4-FFF2-40B4-BE49-F238E27FC236}">
                  <a16:creationId xmlns:a16="http://schemas.microsoft.com/office/drawing/2014/main" id="{B63486CF-8FD4-F19D-BEE7-B03A257609F9}"/>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9" name="Shape 34205">
              <a:extLst>
                <a:ext uri="{FF2B5EF4-FFF2-40B4-BE49-F238E27FC236}">
                  <a16:creationId xmlns:a16="http://schemas.microsoft.com/office/drawing/2014/main" id="{9B6154D4-4161-7162-8EA2-5A7C854A42F3}"/>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0" name="Shape 34206">
              <a:extLst>
                <a:ext uri="{FF2B5EF4-FFF2-40B4-BE49-F238E27FC236}">
                  <a16:creationId xmlns:a16="http://schemas.microsoft.com/office/drawing/2014/main" id="{4817CE05-AE16-2CD7-A719-FF48D57D7109}"/>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1" name="Shape 34207">
              <a:extLst>
                <a:ext uri="{FF2B5EF4-FFF2-40B4-BE49-F238E27FC236}">
                  <a16:creationId xmlns:a16="http://schemas.microsoft.com/office/drawing/2014/main" id="{9C0589CC-1AA8-EC0E-98E1-6EEF8B13A41E}"/>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2" name="Shape 34208">
              <a:extLst>
                <a:ext uri="{FF2B5EF4-FFF2-40B4-BE49-F238E27FC236}">
                  <a16:creationId xmlns:a16="http://schemas.microsoft.com/office/drawing/2014/main" id="{2B002F80-8F42-1F8C-9D53-E0E308DF3F05}"/>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3" name="Shape 34209">
              <a:extLst>
                <a:ext uri="{FF2B5EF4-FFF2-40B4-BE49-F238E27FC236}">
                  <a16:creationId xmlns:a16="http://schemas.microsoft.com/office/drawing/2014/main" id="{E04824C3-FDEF-BB7D-0D7D-4B2DEBD11EDA}"/>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4" name="Shape 34210">
              <a:extLst>
                <a:ext uri="{FF2B5EF4-FFF2-40B4-BE49-F238E27FC236}">
                  <a16:creationId xmlns:a16="http://schemas.microsoft.com/office/drawing/2014/main" id="{60A3E3D8-357B-9865-5ED6-C9C8DD99A5EB}"/>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5" name="Shape 34211">
              <a:extLst>
                <a:ext uri="{FF2B5EF4-FFF2-40B4-BE49-F238E27FC236}">
                  <a16:creationId xmlns:a16="http://schemas.microsoft.com/office/drawing/2014/main" id="{76DFA2CB-312D-1730-47C1-A020896FA28B}"/>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6" name="Shape 34212">
              <a:extLst>
                <a:ext uri="{FF2B5EF4-FFF2-40B4-BE49-F238E27FC236}">
                  <a16:creationId xmlns:a16="http://schemas.microsoft.com/office/drawing/2014/main" id="{36B98C3B-D0DC-9180-4848-8BA8BF1F5BD6}"/>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7" name="Shape 34213">
              <a:extLst>
                <a:ext uri="{FF2B5EF4-FFF2-40B4-BE49-F238E27FC236}">
                  <a16:creationId xmlns:a16="http://schemas.microsoft.com/office/drawing/2014/main" id="{B2A1DF19-68C4-B39F-A4E7-2413452CD571}"/>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8" name="Shape 34214">
              <a:extLst>
                <a:ext uri="{FF2B5EF4-FFF2-40B4-BE49-F238E27FC236}">
                  <a16:creationId xmlns:a16="http://schemas.microsoft.com/office/drawing/2014/main" id="{C07477F5-13C2-0059-175D-4F8386F20BBA}"/>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9" name="Shape 34215">
              <a:extLst>
                <a:ext uri="{FF2B5EF4-FFF2-40B4-BE49-F238E27FC236}">
                  <a16:creationId xmlns:a16="http://schemas.microsoft.com/office/drawing/2014/main" id="{BF6C8EC1-4101-C1F3-59E6-2E204FC0CA32}"/>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50" name="Shape 34216">
              <a:extLst>
                <a:ext uri="{FF2B5EF4-FFF2-40B4-BE49-F238E27FC236}">
                  <a16:creationId xmlns:a16="http://schemas.microsoft.com/office/drawing/2014/main" id="{22BE5295-7E6B-EBE3-6379-0FE69A700146}"/>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51" name="Shape 34217">
              <a:extLst>
                <a:ext uri="{FF2B5EF4-FFF2-40B4-BE49-F238E27FC236}">
                  <a16:creationId xmlns:a16="http://schemas.microsoft.com/office/drawing/2014/main" id="{7669BB95-B65F-80FF-F5E3-D558A71D1868}"/>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accent1"/>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2" name="Shape 34218">
              <a:extLst>
                <a:ext uri="{FF2B5EF4-FFF2-40B4-BE49-F238E27FC236}">
                  <a16:creationId xmlns:a16="http://schemas.microsoft.com/office/drawing/2014/main" id="{ECD0EFAE-D165-C2EA-4152-E736B90B1620}"/>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3" name="Shape 34219">
              <a:extLst>
                <a:ext uri="{FF2B5EF4-FFF2-40B4-BE49-F238E27FC236}">
                  <a16:creationId xmlns:a16="http://schemas.microsoft.com/office/drawing/2014/main" id="{0C66A6C3-63D2-F0BA-F015-61AAA11211DC}"/>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4" name="Shape 34220">
              <a:extLst>
                <a:ext uri="{FF2B5EF4-FFF2-40B4-BE49-F238E27FC236}">
                  <a16:creationId xmlns:a16="http://schemas.microsoft.com/office/drawing/2014/main" id="{23AEB80C-7CCE-CCB6-29CA-778624C78CFC}"/>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5" name="Shape 34221">
              <a:extLst>
                <a:ext uri="{FF2B5EF4-FFF2-40B4-BE49-F238E27FC236}">
                  <a16:creationId xmlns:a16="http://schemas.microsoft.com/office/drawing/2014/main" id="{81701DFC-595E-9A3F-2738-AAA1A24AA083}"/>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6" name="Shape 34222">
              <a:extLst>
                <a:ext uri="{FF2B5EF4-FFF2-40B4-BE49-F238E27FC236}">
                  <a16:creationId xmlns:a16="http://schemas.microsoft.com/office/drawing/2014/main" id="{513F8701-84F3-14BA-ACF0-EF60A80D05EA}"/>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7" name="Shape 34223">
              <a:extLst>
                <a:ext uri="{FF2B5EF4-FFF2-40B4-BE49-F238E27FC236}">
                  <a16:creationId xmlns:a16="http://schemas.microsoft.com/office/drawing/2014/main" id="{669F5F77-ADD6-B162-0166-D72EC8E7733A}"/>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8" name="Shape 34224">
              <a:extLst>
                <a:ext uri="{FF2B5EF4-FFF2-40B4-BE49-F238E27FC236}">
                  <a16:creationId xmlns:a16="http://schemas.microsoft.com/office/drawing/2014/main" id="{2A34FEB1-6A68-6F25-3685-1694CE12D101}"/>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9" name="Shape 34225">
              <a:extLst>
                <a:ext uri="{FF2B5EF4-FFF2-40B4-BE49-F238E27FC236}">
                  <a16:creationId xmlns:a16="http://schemas.microsoft.com/office/drawing/2014/main" id="{3490BBCE-C5D5-7B6E-7A00-797D8846355F}"/>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0" name="Shape 34226">
              <a:extLst>
                <a:ext uri="{FF2B5EF4-FFF2-40B4-BE49-F238E27FC236}">
                  <a16:creationId xmlns:a16="http://schemas.microsoft.com/office/drawing/2014/main" id="{040F01A4-33AF-01A6-4535-A8F83A4719EC}"/>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1" name="Shape 34227">
              <a:extLst>
                <a:ext uri="{FF2B5EF4-FFF2-40B4-BE49-F238E27FC236}">
                  <a16:creationId xmlns:a16="http://schemas.microsoft.com/office/drawing/2014/main" id="{593658B6-C5DC-4C6D-EC98-B91FDF4F85E8}"/>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62" name="Shape 34228">
              <a:extLst>
                <a:ext uri="{FF2B5EF4-FFF2-40B4-BE49-F238E27FC236}">
                  <a16:creationId xmlns:a16="http://schemas.microsoft.com/office/drawing/2014/main" id="{F6804CB1-81F7-5B73-8ADE-F08C0DD65D63}"/>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3" name="Shape 34229">
              <a:extLst>
                <a:ext uri="{FF2B5EF4-FFF2-40B4-BE49-F238E27FC236}">
                  <a16:creationId xmlns:a16="http://schemas.microsoft.com/office/drawing/2014/main" id="{31B00120-41F5-991C-5B45-38DCF9E6593E}"/>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4" name="Shape 34230">
              <a:extLst>
                <a:ext uri="{FF2B5EF4-FFF2-40B4-BE49-F238E27FC236}">
                  <a16:creationId xmlns:a16="http://schemas.microsoft.com/office/drawing/2014/main" id="{F21EEEC0-ED3C-D255-F30B-AFF4394368E9}"/>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5" name="Shape 34231">
              <a:extLst>
                <a:ext uri="{FF2B5EF4-FFF2-40B4-BE49-F238E27FC236}">
                  <a16:creationId xmlns:a16="http://schemas.microsoft.com/office/drawing/2014/main" id="{35403DDE-DDDF-A4A3-8574-550FC2348FA0}"/>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6" name="Shape 34232">
              <a:extLst>
                <a:ext uri="{FF2B5EF4-FFF2-40B4-BE49-F238E27FC236}">
                  <a16:creationId xmlns:a16="http://schemas.microsoft.com/office/drawing/2014/main" id="{8F61DD08-9B59-C4E5-5769-A748751A1BA9}"/>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7" name="Shape 34233">
              <a:extLst>
                <a:ext uri="{FF2B5EF4-FFF2-40B4-BE49-F238E27FC236}">
                  <a16:creationId xmlns:a16="http://schemas.microsoft.com/office/drawing/2014/main" id="{F426EA7D-907F-BA9B-E5E7-313BEA0B053D}"/>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8" name="Shape 34234">
              <a:extLst>
                <a:ext uri="{FF2B5EF4-FFF2-40B4-BE49-F238E27FC236}">
                  <a16:creationId xmlns:a16="http://schemas.microsoft.com/office/drawing/2014/main" id="{5C22217F-FD1E-F18B-FF4B-82567CE5DCA1}"/>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9" name="Shape 34235">
              <a:extLst>
                <a:ext uri="{FF2B5EF4-FFF2-40B4-BE49-F238E27FC236}">
                  <a16:creationId xmlns:a16="http://schemas.microsoft.com/office/drawing/2014/main" id="{BCDA1780-5369-5563-0622-D61A54BEC2DF}"/>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0" name="Shape 34236">
              <a:extLst>
                <a:ext uri="{FF2B5EF4-FFF2-40B4-BE49-F238E27FC236}">
                  <a16:creationId xmlns:a16="http://schemas.microsoft.com/office/drawing/2014/main" id="{E9CF551E-55FB-2B85-2131-C5F843088F7F}"/>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1" name="Shape 34237">
              <a:extLst>
                <a:ext uri="{FF2B5EF4-FFF2-40B4-BE49-F238E27FC236}">
                  <a16:creationId xmlns:a16="http://schemas.microsoft.com/office/drawing/2014/main" id="{FFACF437-3B44-946E-27E7-90C32C4D78CF}"/>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2" name="Shape 34238">
              <a:extLst>
                <a:ext uri="{FF2B5EF4-FFF2-40B4-BE49-F238E27FC236}">
                  <a16:creationId xmlns:a16="http://schemas.microsoft.com/office/drawing/2014/main" id="{46C4E1FE-4F6F-924C-4B5B-0696E855EB77}"/>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3" name="Shape 34239">
              <a:extLst>
                <a:ext uri="{FF2B5EF4-FFF2-40B4-BE49-F238E27FC236}">
                  <a16:creationId xmlns:a16="http://schemas.microsoft.com/office/drawing/2014/main" id="{D185878E-FF18-4A20-B9EE-176068B979C5}"/>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4" name="Shape 34240">
              <a:extLst>
                <a:ext uri="{FF2B5EF4-FFF2-40B4-BE49-F238E27FC236}">
                  <a16:creationId xmlns:a16="http://schemas.microsoft.com/office/drawing/2014/main" id="{D93BD9D1-EEA1-0D4F-8600-3F3153A93B6C}"/>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5" name="Shape 34241">
              <a:extLst>
                <a:ext uri="{FF2B5EF4-FFF2-40B4-BE49-F238E27FC236}">
                  <a16:creationId xmlns:a16="http://schemas.microsoft.com/office/drawing/2014/main" id="{D7E296EA-B791-A4EA-1153-80795F3A152B}"/>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6" name="Shape 34242">
              <a:extLst>
                <a:ext uri="{FF2B5EF4-FFF2-40B4-BE49-F238E27FC236}">
                  <a16:creationId xmlns:a16="http://schemas.microsoft.com/office/drawing/2014/main" id="{7BD1DB59-0745-31CF-1150-1C2BA96B3818}"/>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7" name="Shape 34243">
              <a:extLst>
                <a:ext uri="{FF2B5EF4-FFF2-40B4-BE49-F238E27FC236}">
                  <a16:creationId xmlns:a16="http://schemas.microsoft.com/office/drawing/2014/main" id="{859A2A30-578E-E0CF-9B88-4D0BBC19E5F0}"/>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8" name="Shape 34244">
              <a:extLst>
                <a:ext uri="{FF2B5EF4-FFF2-40B4-BE49-F238E27FC236}">
                  <a16:creationId xmlns:a16="http://schemas.microsoft.com/office/drawing/2014/main" id="{829F2089-03A8-EB09-9794-C58301A25377}"/>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9" name="Shape 34245">
              <a:extLst>
                <a:ext uri="{FF2B5EF4-FFF2-40B4-BE49-F238E27FC236}">
                  <a16:creationId xmlns:a16="http://schemas.microsoft.com/office/drawing/2014/main" id="{5EF4459E-AC23-C524-D870-8EAA6CA4506F}"/>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0" name="Shape 34246">
              <a:extLst>
                <a:ext uri="{FF2B5EF4-FFF2-40B4-BE49-F238E27FC236}">
                  <a16:creationId xmlns:a16="http://schemas.microsoft.com/office/drawing/2014/main" id="{A49966BE-49C2-2E0B-DF00-BE6046DA1688}"/>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1" name="Shape 34247">
              <a:extLst>
                <a:ext uri="{FF2B5EF4-FFF2-40B4-BE49-F238E27FC236}">
                  <a16:creationId xmlns:a16="http://schemas.microsoft.com/office/drawing/2014/main" id="{55D230AC-EDAC-D177-985F-928BDF840C57}"/>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82" name="Shape 34248">
              <a:extLst>
                <a:ext uri="{FF2B5EF4-FFF2-40B4-BE49-F238E27FC236}">
                  <a16:creationId xmlns:a16="http://schemas.microsoft.com/office/drawing/2014/main" id="{1F148CBC-8AA1-BE4E-E118-503C7C297140}"/>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3" name="Shape 34249">
              <a:extLst>
                <a:ext uri="{FF2B5EF4-FFF2-40B4-BE49-F238E27FC236}">
                  <a16:creationId xmlns:a16="http://schemas.microsoft.com/office/drawing/2014/main" id="{A6803C7B-FD14-9001-B985-748E17C421AA}"/>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4" name="Shape 34250">
              <a:extLst>
                <a:ext uri="{FF2B5EF4-FFF2-40B4-BE49-F238E27FC236}">
                  <a16:creationId xmlns:a16="http://schemas.microsoft.com/office/drawing/2014/main" id="{F54ECFE8-A0DD-BE50-2B8A-AEC375164636}"/>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5" name="Shape 34251">
              <a:extLst>
                <a:ext uri="{FF2B5EF4-FFF2-40B4-BE49-F238E27FC236}">
                  <a16:creationId xmlns:a16="http://schemas.microsoft.com/office/drawing/2014/main" id="{F5DA6B52-A364-0343-A021-D1AD7A5B7867}"/>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6" name="Shape 34252">
              <a:extLst>
                <a:ext uri="{FF2B5EF4-FFF2-40B4-BE49-F238E27FC236}">
                  <a16:creationId xmlns:a16="http://schemas.microsoft.com/office/drawing/2014/main" id="{E909B32D-5C04-1B0F-7C40-8D0410B8717A}"/>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87" name="Shape 34253">
              <a:extLst>
                <a:ext uri="{FF2B5EF4-FFF2-40B4-BE49-F238E27FC236}">
                  <a16:creationId xmlns:a16="http://schemas.microsoft.com/office/drawing/2014/main" id="{904C6508-E6C5-9FAB-06BA-F3F504B95C0E}"/>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8" name="Shape 34254">
              <a:extLst>
                <a:ext uri="{FF2B5EF4-FFF2-40B4-BE49-F238E27FC236}">
                  <a16:creationId xmlns:a16="http://schemas.microsoft.com/office/drawing/2014/main" id="{7C11C3C3-50EF-CD38-713D-3B82765597CF}"/>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9" name="Shape 34255">
              <a:extLst>
                <a:ext uri="{FF2B5EF4-FFF2-40B4-BE49-F238E27FC236}">
                  <a16:creationId xmlns:a16="http://schemas.microsoft.com/office/drawing/2014/main" id="{DD0B73BB-9B23-85D1-08F0-A1083002F1EE}"/>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0" name="Shape 34256">
              <a:extLst>
                <a:ext uri="{FF2B5EF4-FFF2-40B4-BE49-F238E27FC236}">
                  <a16:creationId xmlns:a16="http://schemas.microsoft.com/office/drawing/2014/main" id="{DB198D26-C5BC-0B60-61A6-114E53BEA476}"/>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1" name="Shape 34257">
              <a:extLst>
                <a:ext uri="{FF2B5EF4-FFF2-40B4-BE49-F238E27FC236}">
                  <a16:creationId xmlns:a16="http://schemas.microsoft.com/office/drawing/2014/main" id="{C495D662-E4AD-8FDF-FC9F-7D24BA960269}"/>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2" name="Shape 34258">
              <a:extLst>
                <a:ext uri="{FF2B5EF4-FFF2-40B4-BE49-F238E27FC236}">
                  <a16:creationId xmlns:a16="http://schemas.microsoft.com/office/drawing/2014/main" id="{782B38B6-7885-E0FB-6B35-5977C84E5125}"/>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3" name="Shape 34259">
              <a:extLst>
                <a:ext uri="{FF2B5EF4-FFF2-40B4-BE49-F238E27FC236}">
                  <a16:creationId xmlns:a16="http://schemas.microsoft.com/office/drawing/2014/main" id="{ACEA1985-C96B-D18C-1DB4-3239D01C5DBD}"/>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4" name="Shape 34260">
              <a:extLst>
                <a:ext uri="{FF2B5EF4-FFF2-40B4-BE49-F238E27FC236}">
                  <a16:creationId xmlns:a16="http://schemas.microsoft.com/office/drawing/2014/main" id="{E2E15F41-8745-DF54-7A98-5CCD82B4B0A9}"/>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5" name="Shape 34261">
              <a:extLst>
                <a:ext uri="{FF2B5EF4-FFF2-40B4-BE49-F238E27FC236}">
                  <a16:creationId xmlns:a16="http://schemas.microsoft.com/office/drawing/2014/main" id="{2854AF16-1899-28BD-ECE5-3F50BF094ACE}"/>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6" name="Shape 34262">
              <a:extLst>
                <a:ext uri="{FF2B5EF4-FFF2-40B4-BE49-F238E27FC236}">
                  <a16:creationId xmlns:a16="http://schemas.microsoft.com/office/drawing/2014/main" id="{CBDEFF28-A355-BD1E-9EC9-71CA5C467CE0}"/>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7" name="Shape 34263">
              <a:extLst>
                <a:ext uri="{FF2B5EF4-FFF2-40B4-BE49-F238E27FC236}">
                  <a16:creationId xmlns:a16="http://schemas.microsoft.com/office/drawing/2014/main" id="{F604FEFF-8D13-1B9F-D241-E7D2AFA9209B}"/>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8" name="Shape 34264">
              <a:extLst>
                <a:ext uri="{FF2B5EF4-FFF2-40B4-BE49-F238E27FC236}">
                  <a16:creationId xmlns:a16="http://schemas.microsoft.com/office/drawing/2014/main" id="{29642944-FCFB-9027-DBEB-A3DE374E30A7}"/>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9" name="Shape 34265">
              <a:extLst>
                <a:ext uri="{FF2B5EF4-FFF2-40B4-BE49-F238E27FC236}">
                  <a16:creationId xmlns:a16="http://schemas.microsoft.com/office/drawing/2014/main" id="{B4AE4AFC-DE57-6193-7D6C-068A638F5DC0}"/>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grpSp>
      <p:sp>
        <p:nvSpPr>
          <p:cNvPr id="3" name="Espace réservé du pied de page 3">
            <a:extLst>
              <a:ext uri="{FF2B5EF4-FFF2-40B4-BE49-F238E27FC236}">
                <a16:creationId xmlns:a16="http://schemas.microsoft.com/office/drawing/2014/main" id="{CC363A49-0EDC-6260-AB97-8AE4948793DF}"/>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433B877D-9773-6A5C-8CB2-BA149399FD4A}"/>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46</a:t>
            </a:fld>
            <a:endParaRPr lang="fr-CA">
              <a:solidFill>
                <a:prstClr val="black">
                  <a:tint val="75000"/>
                </a:prstClr>
              </a:solidFill>
            </a:endParaRPr>
          </a:p>
        </p:txBody>
      </p:sp>
    </p:spTree>
    <p:extLst>
      <p:ext uri="{BB962C8B-B14F-4D97-AF65-F5344CB8AC3E}">
        <p14:creationId xmlns:p14="http://schemas.microsoft.com/office/powerpoint/2010/main" val="38827406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4"/>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4"/>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4"/>
</p:tagLst>
</file>

<file path=ppt/tags/tag17.xml><?xml version="1.0" encoding="utf-8"?>
<p:tagLst xmlns:a="http://schemas.openxmlformats.org/drawingml/2006/main" xmlns:r="http://schemas.openxmlformats.org/officeDocument/2006/relationships" xmlns:p="http://schemas.openxmlformats.org/presentationml/2006/main">
  <p:tag name="NUM" val="5"/>
</p:tagLst>
</file>

<file path=ppt/tags/tag18.xml><?xml version="1.0" encoding="utf-8"?>
<p:tagLst xmlns:a="http://schemas.openxmlformats.org/drawingml/2006/main" xmlns:r="http://schemas.openxmlformats.org/officeDocument/2006/relationships" xmlns:p="http://schemas.openxmlformats.org/presentationml/2006/main">
  <p:tag name="NUM" val="6"/>
</p:tagLst>
</file>

<file path=ppt/tags/tag19.xml><?xml version="1.0" encoding="utf-8"?>
<p:tagLst xmlns:a="http://schemas.openxmlformats.org/drawingml/2006/main" xmlns:r="http://schemas.openxmlformats.org/officeDocument/2006/relationships" xmlns:p="http://schemas.openxmlformats.org/presentationml/2006/main">
  <p:tag name="NUM" val="7"/>
</p:tagLst>
</file>

<file path=ppt/tags/tag20.xml><?xml version="1.0" encoding="utf-8"?>
<p:tagLst xmlns:a="http://schemas.openxmlformats.org/drawingml/2006/main" xmlns:r="http://schemas.openxmlformats.org/officeDocument/2006/relationships" xmlns:p="http://schemas.openxmlformats.org/presentationml/2006/main">
  <p:tag name="NUM" val="8"/>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4"/>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3"/>
</p:tagLst>
</file>

<file path=ppt/tags/tag28.xml><?xml version="1.0" encoding="utf-8"?>
<p:tagLst xmlns:a="http://schemas.openxmlformats.org/drawingml/2006/main" xmlns:r="http://schemas.openxmlformats.org/officeDocument/2006/relationships" xmlns:p="http://schemas.openxmlformats.org/presentationml/2006/main">
  <p:tag name="NUM" val="4"/>
</p:tagLst>
</file>

<file path=ppt/tags/tag29.xml><?xml version="1.0" encoding="utf-8"?>
<p:tagLst xmlns:a="http://schemas.openxmlformats.org/drawingml/2006/main" xmlns:r="http://schemas.openxmlformats.org/officeDocument/2006/relationships" xmlns:p="http://schemas.openxmlformats.org/presentationml/2006/main">
  <p:tag name="NUM" val="5"/>
</p:tagLst>
</file>

<file path=ppt/tags/tag30.xml><?xml version="1.0" encoding="utf-8"?>
<p:tagLst xmlns:a="http://schemas.openxmlformats.org/drawingml/2006/main" xmlns:r="http://schemas.openxmlformats.org/officeDocument/2006/relationships" xmlns:p="http://schemas.openxmlformats.org/presentationml/2006/main">
  <p:tag name="NUM" val="6"/>
</p:tagLst>
</file>

<file path=ppt/tags/tag31.xml><?xml version="1.0" encoding="utf-8"?>
<p:tagLst xmlns:a="http://schemas.openxmlformats.org/drawingml/2006/main" xmlns:r="http://schemas.openxmlformats.org/officeDocument/2006/relationships" xmlns:p="http://schemas.openxmlformats.org/presentationml/2006/main">
  <p:tag name="NUM" val="7"/>
</p:tagLst>
</file>

<file path=ppt/tags/tag32.xml><?xml version="1.0" encoding="utf-8"?>
<p:tagLst xmlns:a="http://schemas.openxmlformats.org/drawingml/2006/main" xmlns:r="http://schemas.openxmlformats.org/officeDocument/2006/relationships" xmlns:p="http://schemas.openxmlformats.org/presentationml/2006/main">
  <p:tag name="NUM" val="8"/>
</p:tagLst>
</file>

<file path=ppt/tags/tag33.xml><?xml version="1.0" encoding="utf-8"?>
<p:tagLst xmlns:a="http://schemas.openxmlformats.org/drawingml/2006/main" xmlns:r="http://schemas.openxmlformats.org/officeDocument/2006/relationships" xmlns:p="http://schemas.openxmlformats.org/presentationml/2006/main">
  <p:tag name="NUM" val="9"/>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2"/>
</p:tagLst>
</file>

<file path=ppt/tags/tag36.xml><?xml version="1.0" encoding="utf-8"?>
<p:tagLst xmlns:a="http://schemas.openxmlformats.org/drawingml/2006/main" xmlns:r="http://schemas.openxmlformats.org/officeDocument/2006/relationships" xmlns:p="http://schemas.openxmlformats.org/presentationml/2006/main">
  <p:tag name="NUM" val="3"/>
</p:tagLst>
</file>

<file path=ppt/tags/tag37.xml><?xml version="1.0" encoding="utf-8"?>
<p:tagLst xmlns:a="http://schemas.openxmlformats.org/drawingml/2006/main" xmlns:r="http://schemas.openxmlformats.org/officeDocument/2006/relationships" xmlns:p="http://schemas.openxmlformats.org/presentationml/2006/main">
  <p:tag name="NUM" val="4"/>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UM" val="4"/>
</p:tagLst>
</file>

<file path=ppt/tags/tag42.xml><?xml version="1.0" encoding="utf-8"?>
<p:tagLst xmlns:a="http://schemas.openxmlformats.org/drawingml/2006/main" xmlns:r="http://schemas.openxmlformats.org/officeDocument/2006/relationships" xmlns:p="http://schemas.openxmlformats.org/presentationml/2006/main">
  <p:tag name="NOPREFERENCE" val="False"/>
</p:tagLst>
</file>

<file path=ppt/tags/tag43.xml><?xml version="1.0" encoding="utf-8"?>
<p:tagLst xmlns:a="http://schemas.openxmlformats.org/drawingml/2006/main" xmlns:r="http://schemas.openxmlformats.org/officeDocument/2006/relationships" xmlns:p="http://schemas.openxmlformats.org/presentationml/2006/main">
  <p:tag name="NUM" val="1"/>
</p:tagLst>
</file>

<file path=ppt/tags/tag44.xml><?xml version="1.0" encoding="utf-8"?>
<p:tagLst xmlns:a="http://schemas.openxmlformats.org/drawingml/2006/main" xmlns:r="http://schemas.openxmlformats.org/officeDocument/2006/relationships" xmlns:p="http://schemas.openxmlformats.org/presentationml/2006/main">
  <p:tag name="NUM" val="2"/>
</p:tagLst>
</file>

<file path=ppt/tags/tag45.xml><?xml version="1.0" encoding="utf-8"?>
<p:tagLst xmlns:a="http://schemas.openxmlformats.org/drawingml/2006/main" xmlns:r="http://schemas.openxmlformats.org/officeDocument/2006/relationships" xmlns:p="http://schemas.openxmlformats.org/presentationml/2006/main">
  <p:tag name="NUM" val="3"/>
</p:tagLst>
</file>

<file path=ppt/tags/tag46.xml><?xml version="1.0" encoding="utf-8"?>
<p:tagLst xmlns:a="http://schemas.openxmlformats.org/drawingml/2006/main" xmlns:r="http://schemas.openxmlformats.org/officeDocument/2006/relationships" xmlns:p="http://schemas.openxmlformats.org/presentationml/2006/main">
  <p:tag name="NUM" val="4"/>
</p:tagLst>
</file>

<file path=ppt/tags/tag47.xml><?xml version="1.0" encoding="utf-8"?>
<p:tagLst xmlns:a="http://schemas.openxmlformats.org/drawingml/2006/main" xmlns:r="http://schemas.openxmlformats.org/officeDocument/2006/relationships" xmlns:p="http://schemas.openxmlformats.org/presentationml/2006/main">
  <p:tag name="NUM" val="5"/>
</p:tagLst>
</file>

<file path=ppt/tags/tag48.xml><?xml version="1.0" encoding="utf-8"?>
<p:tagLst xmlns:a="http://schemas.openxmlformats.org/drawingml/2006/main" xmlns:r="http://schemas.openxmlformats.org/officeDocument/2006/relationships" xmlns:p="http://schemas.openxmlformats.org/presentationml/2006/main">
  <p:tag name="NUM" val="6"/>
</p:tagLst>
</file>

<file path=ppt/tags/tag49.xml><?xml version="1.0" encoding="utf-8"?>
<p:tagLst xmlns:a="http://schemas.openxmlformats.org/drawingml/2006/main" xmlns:r="http://schemas.openxmlformats.org/officeDocument/2006/relationships" xmlns:p="http://schemas.openxmlformats.org/presentationml/2006/main">
  <p:tag name="NUM" val="7"/>
</p:tagLst>
</file>

<file path=ppt/tags/tag50.xml><?xml version="1.0" encoding="utf-8"?>
<p:tagLst xmlns:a="http://schemas.openxmlformats.org/drawingml/2006/main" xmlns:r="http://schemas.openxmlformats.org/officeDocument/2006/relationships" xmlns:p="http://schemas.openxmlformats.org/presentationml/2006/main">
  <p:tag name="NUM" val="8"/>
</p:tagLst>
</file>

<file path=ppt/tags/tag51.xml><?xml version="1.0" encoding="utf-8"?>
<p:tagLst xmlns:a="http://schemas.openxmlformats.org/drawingml/2006/main" xmlns:r="http://schemas.openxmlformats.org/officeDocument/2006/relationships" xmlns:p="http://schemas.openxmlformats.org/presentationml/2006/main">
  <p:tag name="NUM" val="9"/>
</p:tagLst>
</file>

<file path=ppt/tags/tag52.xml><?xml version="1.0" encoding="utf-8"?>
<p:tagLst xmlns:a="http://schemas.openxmlformats.org/drawingml/2006/main" xmlns:r="http://schemas.openxmlformats.org/officeDocument/2006/relationships" xmlns:p="http://schemas.openxmlformats.org/presentationml/2006/main">
  <p:tag name="NUM" val="10"/>
</p:tagLst>
</file>

<file path=ppt/tags/tag53.xml><?xml version="1.0" encoding="utf-8"?>
<p:tagLst xmlns:a="http://schemas.openxmlformats.org/drawingml/2006/main" xmlns:r="http://schemas.openxmlformats.org/officeDocument/2006/relationships" xmlns:p="http://schemas.openxmlformats.org/presentationml/2006/main">
  <p:tag name="NUM" val="11"/>
</p:tagLst>
</file>

<file path=ppt/tags/tag54.xml><?xml version="1.0" encoding="utf-8"?>
<p:tagLst xmlns:a="http://schemas.openxmlformats.org/drawingml/2006/main" xmlns:r="http://schemas.openxmlformats.org/officeDocument/2006/relationships" xmlns:p="http://schemas.openxmlformats.org/presentationml/2006/main">
  <p:tag name="NUM" val="12"/>
</p:tagLst>
</file>

<file path=ppt/tags/tag55.xml><?xml version="1.0" encoding="utf-8"?>
<p:tagLst xmlns:a="http://schemas.openxmlformats.org/drawingml/2006/main" xmlns:r="http://schemas.openxmlformats.org/officeDocument/2006/relationships" xmlns:p="http://schemas.openxmlformats.org/presentationml/2006/main">
  <p:tag name="NUM" val="13"/>
</p:tagLst>
</file>

<file path=ppt/tags/tag56.xml><?xml version="1.0" encoding="utf-8"?>
<p:tagLst xmlns:a="http://schemas.openxmlformats.org/drawingml/2006/main" xmlns:r="http://schemas.openxmlformats.org/officeDocument/2006/relationships" xmlns:p="http://schemas.openxmlformats.org/presentationml/2006/main">
  <p:tag name="NUM" val="14"/>
</p:tagLst>
</file>

<file path=ppt/tags/tag57.xml><?xml version="1.0" encoding="utf-8"?>
<p:tagLst xmlns:a="http://schemas.openxmlformats.org/drawingml/2006/main" xmlns:r="http://schemas.openxmlformats.org/officeDocument/2006/relationships" xmlns:p="http://schemas.openxmlformats.org/presentationml/2006/main">
  <p:tag name="NUM" val="15"/>
</p:tagLst>
</file>

<file path=ppt/tags/tag58.xml><?xml version="1.0" encoding="utf-8"?>
<p:tagLst xmlns:a="http://schemas.openxmlformats.org/drawingml/2006/main" xmlns:r="http://schemas.openxmlformats.org/officeDocument/2006/relationships" xmlns:p="http://schemas.openxmlformats.org/presentationml/2006/main">
  <p:tag name="NUM" val="16"/>
</p:tagLst>
</file>

<file path=ppt/tags/tag59.xml><?xml version="1.0" encoding="utf-8"?>
<p:tagLst xmlns:a="http://schemas.openxmlformats.org/drawingml/2006/main" xmlns:r="http://schemas.openxmlformats.org/officeDocument/2006/relationships" xmlns:p="http://schemas.openxmlformats.org/presentationml/2006/main">
  <p:tag name="NUM" val="17"/>
</p:tagLst>
</file>

<file path=ppt/tags/tag60.xml><?xml version="1.0" encoding="utf-8"?>
<p:tagLst xmlns:a="http://schemas.openxmlformats.org/drawingml/2006/main" xmlns:r="http://schemas.openxmlformats.org/officeDocument/2006/relationships" xmlns:p="http://schemas.openxmlformats.org/presentationml/2006/main">
  <p:tag name="NUM" val="1"/>
</p:tagLst>
</file>

<file path=ppt/tags/tag61.xml><?xml version="1.0" encoding="utf-8"?>
<p:tagLst xmlns:a="http://schemas.openxmlformats.org/drawingml/2006/main" xmlns:r="http://schemas.openxmlformats.org/officeDocument/2006/relationships" xmlns:p="http://schemas.openxmlformats.org/presentationml/2006/main">
  <p:tag name="NUM" val="2"/>
</p:tagLst>
</file>

<file path=ppt/tags/tag62.xml><?xml version="1.0" encoding="utf-8"?>
<p:tagLst xmlns:a="http://schemas.openxmlformats.org/drawingml/2006/main" xmlns:r="http://schemas.openxmlformats.org/officeDocument/2006/relationships" xmlns:p="http://schemas.openxmlformats.org/presentationml/2006/main">
  <p:tag name="NUM" val="3"/>
</p:tagLst>
</file>

<file path=ppt/tags/tag63.xml><?xml version="1.0" encoding="utf-8"?>
<p:tagLst xmlns:a="http://schemas.openxmlformats.org/drawingml/2006/main" xmlns:r="http://schemas.openxmlformats.org/officeDocument/2006/relationships" xmlns:p="http://schemas.openxmlformats.org/presentationml/2006/main">
  <p:tag name="NUM" val="4"/>
</p:tagLst>
</file>

<file path=ppt/tags/tag64.xml><?xml version="1.0" encoding="utf-8"?>
<p:tagLst xmlns:a="http://schemas.openxmlformats.org/drawingml/2006/main" xmlns:r="http://schemas.openxmlformats.org/officeDocument/2006/relationships" xmlns:p="http://schemas.openxmlformats.org/presentationml/2006/main">
  <p:tag name="NUM" val="1"/>
</p:tagLst>
</file>

<file path=ppt/tags/tag65.xml><?xml version="1.0" encoding="utf-8"?>
<p:tagLst xmlns:a="http://schemas.openxmlformats.org/drawingml/2006/main" xmlns:r="http://schemas.openxmlformats.org/officeDocument/2006/relationships" xmlns:p="http://schemas.openxmlformats.org/presentationml/2006/main">
  <p:tag name="NUM" val="2"/>
</p:tagLst>
</file>

<file path=ppt/tags/tag66.xml><?xml version="1.0" encoding="utf-8"?>
<p:tagLst xmlns:a="http://schemas.openxmlformats.org/drawingml/2006/main" xmlns:r="http://schemas.openxmlformats.org/officeDocument/2006/relationships" xmlns:p="http://schemas.openxmlformats.org/presentationml/2006/main">
  <p:tag name="NUM" val="3"/>
</p:tagLst>
</file>

<file path=ppt/tags/tag67.xml><?xml version="1.0" encoding="utf-8"?>
<p:tagLst xmlns:a="http://schemas.openxmlformats.org/drawingml/2006/main" xmlns:r="http://schemas.openxmlformats.org/officeDocument/2006/relationships" xmlns:p="http://schemas.openxmlformats.org/presentationml/2006/main">
  <p:tag name="NUM" val="1"/>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4"/>
</p:tagLst>
</file>

<file path=ppt/tags/tag71.xml><?xml version="1.0" encoding="utf-8"?>
<p:tagLst xmlns:a="http://schemas.openxmlformats.org/drawingml/2006/main" xmlns:r="http://schemas.openxmlformats.org/officeDocument/2006/relationships" xmlns:p="http://schemas.openxmlformats.org/presentationml/2006/main">
  <p:tag name="SLIDEGUID" val="EA3710E50829472F9FBAD62887D547C4"/>
  <p:tag name="SLIDEID" val="EA3710E50829472F9FBAD62887D547C4"/>
  <p:tag name="SLIDEORDER" val="1"/>
  <p:tag name="SLIDETYPE" val="Q"/>
  <p:tag name="DEMOGRAPHIC" val="False"/>
  <p:tag name="TEAMASSIGN" val="False"/>
  <p:tag name="SPEEDSCORING" val="False"/>
  <p:tag name="CORRECTPOINTVALUE" val="100"/>
  <p:tag name="INCORRECTPOINTVALUE" val="0"/>
  <p:tag name="ZEROBASED" val="False"/>
  <p:tag name="NUMRESPONSES" val="1"/>
  <p:tag name="AUTOADVANCE" val="False"/>
  <p:tag name="DELIMITERS" val="3.1"/>
  <p:tag name="VALUEFORMAT" val="0%"/>
  <p:tag name="ANSWERSALIAS" val="Oui, on devrait arrêter la production du produit BK200|smicln|Non, on ne devrait pas arrêter la production du produit BK200|smicln|Nous ne disposons pas de  l’information nécessaire pour répondre à cette question."/>
  <p:tag name="VALUES" val="No Value|smicln|No Value|smicln|No Value"/>
  <p:tag name="QUESTIONALIAS" val=" Acheter ou fabriquer un produit (1/2) Le coût complet de production du BK 200, au niveau actuel de 50 000 unités, est calculé ainsi (en $) :  Matières   2,50  MOD   1,25  FGF variables   1,75  FGF fixes  3,50  Total   9,00 Un fournisseur offre de nous vendre ce produit à un prix de 7,75 $.  Le directeur de production veut arrêter la production du BK200 pour l’acheter à ce fournisseur, qu’en pensez-vous ?    "/>
  <p:tag name="TOTALRESPONSES" val="0"/>
  <p:tag name="ANONYMOUSTEMP" val="False"/>
  <p:tag name="TYPE" val="MultiChoiceSlide"/>
  <p:tag name="LIVECHARTING" val="False"/>
  <p:tag name="TPQUESTIONXML" val="﻿&lt;?xml version=&quot;1.0&quot; encoding=&quot;utf-8&quot;?&gt;&#10;&lt;questionlist&gt;&#10;    &lt;properties&gt;&#10;        &lt;guid&gt;45AA044C9F5641648F32C121306505AA&lt;/guid&gt;&#10;        &lt;description /&gt;&#10;        &lt;date&gt;5/9/2014 10:34:37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93E571A3C3A4C7DB38663EF2140A3B6&lt;/guid&gt;&#10;            &lt;repollguid&gt;5981C9791C7C4607BA8577B5F46968C8&lt;/repollguid&gt;&#10;            &lt;sourceid&gt;9301E53B3D2F492CACCA0FB89A2CFBB3&lt;/sourceid&gt;&#10;            &lt;questiontext&gt;Acheter ou fabriquer un produit (1/2)&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04463188F0DB48859750256B5BB8D092&lt;/guid&gt;&#10;                    &lt;answertext&gt;Oui, on devrait sous-traiter la production du produit BK200&lt;/answertext&gt;&#10;                    &lt;valuetype&gt;0&lt;/valuetype&gt;&#10;                &lt;/answer&gt;&#10;                &lt;answer&gt;&#10;                    &lt;guid&gt;E050FCCF3C5644D6B5CBF4B1567624F7&lt;/guid&gt;&#10;                    &lt;answertext&gt;Non, on ne devrait pas sous-traiter la production du produit BK200&lt;/answertext&gt;&#10;                    &lt;valuetype&gt;0&lt;/valuetype&gt;&#10;                &lt;/answer&gt;&#10;            &lt;/answers&gt;&#10;        &lt;/multichoice&gt;&#10;    &lt;/questions&gt;&#10;&lt;/questionlist&gt;"/>
  <p:tag name="AUTOOPENPOLL" val="True"/>
  <p:tag name="AUTOFORMATCHART" val="True"/>
</p:tagLst>
</file>

<file path=ppt/tags/tag72.xml><?xml version="1.0" encoding="utf-8"?>
<p:tagLst xmlns:a="http://schemas.openxmlformats.org/drawingml/2006/main" xmlns:r="http://schemas.openxmlformats.org/officeDocument/2006/relationships" xmlns:p="http://schemas.openxmlformats.org/presentationml/2006/main">
  <p:tag name="NUM" val="1"/>
</p:tagLst>
</file>

<file path=ppt/tags/tag73.xml><?xml version="1.0" encoding="utf-8"?>
<p:tagLst xmlns:a="http://schemas.openxmlformats.org/drawingml/2006/main" xmlns:r="http://schemas.openxmlformats.org/officeDocument/2006/relationships" xmlns:p="http://schemas.openxmlformats.org/presentationml/2006/main">
  <p:tag name="NUM" val="2"/>
</p:tagLst>
</file>

<file path=ppt/tags/tag74.xml><?xml version="1.0" encoding="utf-8"?>
<p:tagLst xmlns:a="http://schemas.openxmlformats.org/drawingml/2006/main" xmlns:r="http://schemas.openxmlformats.org/officeDocument/2006/relationships" xmlns:p="http://schemas.openxmlformats.org/presentationml/2006/main">
  <p:tag name="NUM" val="3"/>
</p:tagLst>
</file>

<file path=ppt/tags/tag75.xml><?xml version="1.0" encoding="utf-8"?>
<p:tagLst xmlns:a="http://schemas.openxmlformats.org/drawingml/2006/main" xmlns:r="http://schemas.openxmlformats.org/officeDocument/2006/relationships" xmlns:p="http://schemas.openxmlformats.org/presentationml/2006/main">
  <p:tag name="NUM" val="4"/>
</p:tagLst>
</file>

<file path=ppt/tags/tag76.xml><?xml version="1.0" encoding="utf-8"?>
<p:tagLst xmlns:a="http://schemas.openxmlformats.org/drawingml/2006/main" xmlns:r="http://schemas.openxmlformats.org/officeDocument/2006/relationships" xmlns:p="http://schemas.openxmlformats.org/presentationml/2006/main">
  <p:tag name="NUM" val="5"/>
</p:tagLst>
</file>

<file path=ppt/tags/tag77.xml><?xml version="1.0" encoding="utf-8"?>
<p:tagLst xmlns:a="http://schemas.openxmlformats.org/drawingml/2006/main" xmlns:r="http://schemas.openxmlformats.org/officeDocument/2006/relationships" xmlns:p="http://schemas.openxmlformats.org/presentationml/2006/main">
  <p:tag name="NUM" val="1"/>
</p:tagLst>
</file>

<file path=ppt/tags/tag78.xml><?xml version="1.0" encoding="utf-8"?>
<p:tagLst xmlns:a="http://schemas.openxmlformats.org/drawingml/2006/main" xmlns:r="http://schemas.openxmlformats.org/officeDocument/2006/relationships" xmlns:p="http://schemas.openxmlformats.org/presentationml/2006/main">
  <p:tag name="NUM" val="2"/>
</p:tagLst>
</file>

<file path=ppt/tags/tag79.xml><?xml version="1.0" encoding="utf-8"?>
<p:tagLst xmlns:a="http://schemas.openxmlformats.org/drawingml/2006/main" xmlns:r="http://schemas.openxmlformats.org/officeDocument/2006/relationships" xmlns:p="http://schemas.openxmlformats.org/presentationml/2006/main">
  <p:tag name="NUM" val="3"/>
</p:tagLst>
</file>

<file path=ppt/tags/tag80.xml><?xml version="1.0" encoding="utf-8"?>
<p:tagLst xmlns:a="http://schemas.openxmlformats.org/drawingml/2006/main" xmlns:r="http://schemas.openxmlformats.org/officeDocument/2006/relationships" xmlns:p="http://schemas.openxmlformats.org/presentationml/2006/main">
  <p:tag name="NUM" val="4"/>
</p:tagLst>
</file>

<file path=ppt/tags/tag81.xml><?xml version="1.0" encoding="utf-8"?>
<p:tagLst xmlns:a="http://schemas.openxmlformats.org/drawingml/2006/main" xmlns:r="http://schemas.openxmlformats.org/officeDocument/2006/relationships" xmlns:p="http://schemas.openxmlformats.org/presentationml/2006/main">
  <p:tag name="NUM" val="1"/>
</p:tagLst>
</file>

<file path=ppt/tags/tag82.xml><?xml version="1.0" encoding="utf-8"?>
<p:tagLst xmlns:a="http://schemas.openxmlformats.org/drawingml/2006/main" xmlns:r="http://schemas.openxmlformats.org/officeDocument/2006/relationships" xmlns:p="http://schemas.openxmlformats.org/presentationml/2006/main">
  <p:tag name="NUM" val="2"/>
</p:tagLst>
</file>

<file path=ppt/tags/tag83.xml><?xml version="1.0" encoding="utf-8"?>
<p:tagLst xmlns:a="http://schemas.openxmlformats.org/drawingml/2006/main" xmlns:r="http://schemas.openxmlformats.org/officeDocument/2006/relationships" xmlns:p="http://schemas.openxmlformats.org/presentationml/2006/main">
  <p:tag name="NUM" val="3"/>
</p:tagLst>
</file>

<file path=ppt/tags/tag84.xml><?xml version="1.0" encoding="utf-8"?>
<p:tagLst xmlns:a="http://schemas.openxmlformats.org/drawingml/2006/main" xmlns:r="http://schemas.openxmlformats.org/officeDocument/2006/relationships" xmlns:p="http://schemas.openxmlformats.org/presentationml/2006/main">
  <p:tag name="NUM" val="4"/>
</p:tagLst>
</file>

<file path=ppt/tags/tag85.xml><?xml version="1.0" encoding="utf-8"?>
<p:tagLst xmlns:a="http://schemas.openxmlformats.org/drawingml/2006/main" xmlns:r="http://schemas.openxmlformats.org/officeDocument/2006/relationships" xmlns:p="http://schemas.openxmlformats.org/presentationml/2006/main">
  <p:tag name="NUM" val="5"/>
</p:tagLst>
</file>

<file path=ppt/tags/tag86.xml><?xml version="1.0" encoding="utf-8"?>
<p:tagLst xmlns:a="http://schemas.openxmlformats.org/drawingml/2006/main" xmlns:r="http://schemas.openxmlformats.org/officeDocument/2006/relationships" xmlns:p="http://schemas.openxmlformats.org/presentationml/2006/main">
  <p:tag name="NUM" val="1"/>
</p:tagLst>
</file>

<file path=ppt/tags/tag87.xml><?xml version="1.0" encoding="utf-8"?>
<p:tagLst xmlns:a="http://schemas.openxmlformats.org/drawingml/2006/main" xmlns:r="http://schemas.openxmlformats.org/officeDocument/2006/relationships" xmlns:p="http://schemas.openxmlformats.org/presentationml/2006/main">
  <p:tag name="NUM" val="2"/>
</p:tagLst>
</file>

<file path=ppt/tags/tag88.xml><?xml version="1.0" encoding="utf-8"?>
<p:tagLst xmlns:a="http://schemas.openxmlformats.org/drawingml/2006/main" xmlns:r="http://schemas.openxmlformats.org/officeDocument/2006/relationships" xmlns:p="http://schemas.openxmlformats.org/presentationml/2006/main">
  <p:tag name="NUM" val="4"/>
</p:tagLst>
</file>

<file path=ppt/tags/tag89.xml><?xml version="1.0" encoding="utf-8"?>
<p:tagLst xmlns:a="http://schemas.openxmlformats.org/drawingml/2006/main" xmlns:r="http://schemas.openxmlformats.org/officeDocument/2006/relationships" xmlns:p="http://schemas.openxmlformats.org/presentationml/2006/main">
  <p:tag name="NUM" val="5"/>
</p:tagLst>
</file>

<file path=ppt/tags/tag90.xml><?xml version="1.0" encoding="utf-8"?>
<p:tagLst xmlns:a="http://schemas.openxmlformats.org/drawingml/2006/main" xmlns:r="http://schemas.openxmlformats.org/officeDocument/2006/relationships" xmlns:p="http://schemas.openxmlformats.org/presentationml/2006/main">
  <p:tag name="NUM" val="6"/>
</p:tagLst>
</file>

<file path=ppt/tags/tag91.xml><?xml version="1.0" encoding="utf-8"?>
<p:tagLst xmlns:a="http://schemas.openxmlformats.org/drawingml/2006/main" xmlns:r="http://schemas.openxmlformats.org/officeDocument/2006/relationships" xmlns:p="http://schemas.openxmlformats.org/presentationml/2006/main">
  <p:tag name="NUM" val="1"/>
</p:tagLst>
</file>

<file path=ppt/tags/tag92.xml><?xml version="1.0" encoding="utf-8"?>
<p:tagLst xmlns:a="http://schemas.openxmlformats.org/drawingml/2006/main" xmlns:r="http://schemas.openxmlformats.org/officeDocument/2006/relationships" xmlns:p="http://schemas.openxmlformats.org/presentationml/2006/main">
  <p:tag name="NUM" val="2"/>
</p:tagLst>
</file>

<file path=ppt/tags/tag93.xml><?xml version="1.0" encoding="utf-8"?>
<p:tagLst xmlns:a="http://schemas.openxmlformats.org/drawingml/2006/main" xmlns:r="http://schemas.openxmlformats.org/officeDocument/2006/relationships" xmlns:p="http://schemas.openxmlformats.org/presentationml/2006/main">
  <p:tag name="NUM" val="3"/>
</p:tagLst>
</file>

<file path=ppt/tags/tag94.xml><?xml version="1.0" encoding="utf-8"?>
<p:tagLst xmlns:a="http://schemas.openxmlformats.org/drawingml/2006/main" xmlns:r="http://schemas.openxmlformats.org/officeDocument/2006/relationships" xmlns:p="http://schemas.openxmlformats.org/presentationml/2006/main">
  <p:tag name="NUM" val="4"/>
</p:tagLst>
</file>

<file path=ppt/tags/tag95.xml><?xml version="1.0" encoding="utf-8"?>
<p:tagLst xmlns:a="http://schemas.openxmlformats.org/drawingml/2006/main" xmlns:r="http://schemas.openxmlformats.org/officeDocument/2006/relationships" xmlns:p="http://schemas.openxmlformats.org/presentationml/2006/main">
  <p:tag name="NUM" val="1"/>
</p:tagLst>
</file>

<file path=ppt/tags/tag96.xml><?xml version="1.0" encoding="utf-8"?>
<p:tagLst xmlns:a="http://schemas.openxmlformats.org/drawingml/2006/main" xmlns:r="http://schemas.openxmlformats.org/officeDocument/2006/relationships" xmlns:p="http://schemas.openxmlformats.org/presentationml/2006/main">
  <p:tag name="NUM" val="2"/>
</p:tagLst>
</file>

<file path=ppt/tags/tag97.xml><?xml version="1.0" encoding="utf-8"?>
<p:tagLst xmlns:a="http://schemas.openxmlformats.org/drawingml/2006/main" xmlns:r="http://schemas.openxmlformats.org/officeDocument/2006/relationships" xmlns:p="http://schemas.openxmlformats.org/presentationml/2006/main">
  <p:tag name="NUM" val="3"/>
</p:tagLst>
</file>

<file path=ppt/tags/tag98.xml><?xml version="1.0" encoding="utf-8"?>
<p:tagLst xmlns:a="http://schemas.openxmlformats.org/drawingml/2006/main" xmlns:r="http://schemas.openxmlformats.org/officeDocument/2006/relationships" xmlns:p="http://schemas.openxmlformats.org/presentationml/2006/main">
  <p:tag name="NUM" val="4"/>
</p:tagLst>
</file>

<file path=ppt/tags/tag99.xml><?xml version="1.0" encoding="utf-8"?>
<p:tagLst xmlns:a="http://schemas.openxmlformats.org/drawingml/2006/main" xmlns:r="http://schemas.openxmlformats.org/officeDocument/2006/relationships" xmlns:p="http://schemas.openxmlformats.org/presentationml/2006/main">
  <p:tag name="NUM" val="5"/>
</p:tagLst>
</file>

<file path=ppt/tags/tag100.xml><?xml version="1.0" encoding="utf-8"?>
<p:tagLst xmlns:a="http://schemas.openxmlformats.org/drawingml/2006/main" xmlns:r="http://schemas.openxmlformats.org/officeDocument/2006/relationships" xmlns:p="http://schemas.openxmlformats.org/presentationml/2006/main">
  <p:tag name="NOPREFERENCE" val="False"/>
</p:tagLst>
</file>

<file path=ppt/tags/tag101.xml><?xml version="1.0" encoding="utf-8"?>
<p:tagLst xmlns:a="http://schemas.openxmlformats.org/drawingml/2006/main" xmlns:r="http://schemas.openxmlformats.org/officeDocument/2006/relationships" xmlns:p="http://schemas.openxmlformats.org/presentationml/2006/main">
  <p:tag name="NUM" val="1"/>
</p:tagLst>
</file>

<file path=ppt/tags/tag102.xml><?xml version="1.0" encoding="utf-8"?>
<p:tagLst xmlns:a="http://schemas.openxmlformats.org/drawingml/2006/main" xmlns:r="http://schemas.openxmlformats.org/officeDocument/2006/relationships" xmlns:p="http://schemas.openxmlformats.org/presentationml/2006/main">
  <p:tag name="NUM" val="2"/>
</p:tagLst>
</file>

<file path=ppt/tags/tag103.xml><?xml version="1.0" encoding="utf-8"?>
<p:tagLst xmlns:a="http://schemas.openxmlformats.org/drawingml/2006/main" xmlns:r="http://schemas.openxmlformats.org/officeDocument/2006/relationships" xmlns:p="http://schemas.openxmlformats.org/presentationml/2006/main">
  <p:tag name="NUM" val="3"/>
</p:tagLst>
</file>

<file path=ppt/tags/tag104.xml><?xml version="1.0" encoding="utf-8"?>
<p:tagLst xmlns:a="http://schemas.openxmlformats.org/drawingml/2006/main" xmlns:r="http://schemas.openxmlformats.org/officeDocument/2006/relationships" xmlns:p="http://schemas.openxmlformats.org/presentationml/2006/main">
  <p:tag name="NUM" val="4"/>
</p:tagLst>
</file>

<file path=ppt/tags/tag105.xml><?xml version="1.0" encoding="utf-8"?>
<p:tagLst xmlns:a="http://schemas.openxmlformats.org/drawingml/2006/main" xmlns:r="http://schemas.openxmlformats.org/officeDocument/2006/relationships" xmlns:p="http://schemas.openxmlformats.org/presentationml/2006/main">
  <p:tag name="NUM" val="1"/>
</p:tagLst>
</file>

<file path=ppt/tags/tag106.xml><?xml version="1.0" encoding="utf-8"?>
<p:tagLst xmlns:a="http://schemas.openxmlformats.org/drawingml/2006/main" xmlns:r="http://schemas.openxmlformats.org/officeDocument/2006/relationships" xmlns:p="http://schemas.openxmlformats.org/presentationml/2006/main">
  <p:tag name="NUM" val="2"/>
</p:tagLst>
</file>

<file path=ppt/tags/tag107.xml><?xml version="1.0" encoding="utf-8"?>
<p:tagLst xmlns:a="http://schemas.openxmlformats.org/drawingml/2006/main" xmlns:r="http://schemas.openxmlformats.org/officeDocument/2006/relationships" xmlns:p="http://schemas.openxmlformats.org/presentationml/2006/main">
  <p:tag name="NUM" val="3"/>
</p:tagLst>
</file>

<file path=ppt/tags/tag108.xml><?xml version="1.0" encoding="utf-8"?>
<p:tagLst xmlns:a="http://schemas.openxmlformats.org/drawingml/2006/main" xmlns:r="http://schemas.openxmlformats.org/officeDocument/2006/relationships" xmlns:p="http://schemas.openxmlformats.org/presentationml/2006/main">
  <p:tag name="NUM" val="4"/>
</p:tagLst>
</file>

<file path=ppt/tags/tag109.xml><?xml version="1.0" encoding="utf-8"?>
<p:tagLst xmlns:a="http://schemas.openxmlformats.org/drawingml/2006/main" xmlns:r="http://schemas.openxmlformats.org/officeDocument/2006/relationships" xmlns:p="http://schemas.openxmlformats.org/presentationml/2006/main">
  <p:tag name="NUM" val="1"/>
</p:tagLst>
</file>

<file path=ppt/tags/tag110.xml><?xml version="1.0" encoding="utf-8"?>
<p:tagLst xmlns:a="http://schemas.openxmlformats.org/drawingml/2006/main" xmlns:r="http://schemas.openxmlformats.org/officeDocument/2006/relationships" xmlns:p="http://schemas.openxmlformats.org/presentationml/2006/main">
  <p:tag name="NUM" val="2"/>
</p:tagLst>
</file>

<file path=ppt/tags/tag111.xml><?xml version="1.0" encoding="utf-8"?>
<p:tagLst xmlns:a="http://schemas.openxmlformats.org/drawingml/2006/main" xmlns:r="http://schemas.openxmlformats.org/officeDocument/2006/relationships" xmlns:p="http://schemas.openxmlformats.org/presentationml/2006/main">
  <p:tag name="NUM" val="3"/>
</p:tagLst>
</file>

<file path=ppt/tags/tag112.xml><?xml version="1.0" encoding="utf-8"?>
<p:tagLst xmlns:a="http://schemas.openxmlformats.org/drawingml/2006/main" xmlns:r="http://schemas.openxmlformats.org/officeDocument/2006/relationships" xmlns:p="http://schemas.openxmlformats.org/presentationml/2006/main">
  <p:tag name="NUM" val="4"/>
</p:tagLst>
</file>

<file path=ppt/tags/tag113.xml><?xml version="1.0" encoding="utf-8"?>
<p:tagLst xmlns:a="http://schemas.openxmlformats.org/drawingml/2006/main" xmlns:r="http://schemas.openxmlformats.org/officeDocument/2006/relationships" xmlns:p="http://schemas.openxmlformats.org/presentationml/2006/main">
  <p:tag name="NUM" val="5"/>
</p:tagLst>
</file>

<file path=ppt/tags/tag114.xml><?xml version="1.0" encoding="utf-8"?>
<p:tagLst xmlns:a="http://schemas.openxmlformats.org/drawingml/2006/main" xmlns:r="http://schemas.openxmlformats.org/officeDocument/2006/relationships" xmlns:p="http://schemas.openxmlformats.org/presentationml/2006/main">
  <p:tag name="NUM" val="1"/>
</p:tagLst>
</file>

<file path=ppt/tags/tag115.xml><?xml version="1.0" encoding="utf-8"?>
<p:tagLst xmlns:a="http://schemas.openxmlformats.org/drawingml/2006/main" xmlns:r="http://schemas.openxmlformats.org/officeDocument/2006/relationships" xmlns:p="http://schemas.openxmlformats.org/presentationml/2006/main">
  <p:tag name="NUM" val="2"/>
</p:tagLst>
</file>

<file path=ppt/tags/tag116.xml><?xml version="1.0" encoding="utf-8"?>
<p:tagLst xmlns:a="http://schemas.openxmlformats.org/drawingml/2006/main" xmlns:r="http://schemas.openxmlformats.org/officeDocument/2006/relationships" xmlns:p="http://schemas.openxmlformats.org/presentationml/2006/main">
  <p:tag name="NUM" val="3"/>
</p:tagLst>
</file>

<file path=ppt/tags/tag117.xml><?xml version="1.0" encoding="utf-8"?>
<p:tagLst xmlns:a="http://schemas.openxmlformats.org/drawingml/2006/main" xmlns:r="http://schemas.openxmlformats.org/officeDocument/2006/relationships" xmlns:p="http://schemas.openxmlformats.org/presentationml/2006/main">
  <p:tag name="NUM" val="4"/>
</p:tagLst>
</file>

<file path=ppt/tags/tag118.xml><?xml version="1.0" encoding="utf-8"?>
<p:tagLst xmlns:a="http://schemas.openxmlformats.org/drawingml/2006/main" xmlns:r="http://schemas.openxmlformats.org/officeDocument/2006/relationships" xmlns:p="http://schemas.openxmlformats.org/presentationml/2006/main">
  <p:tag name="NUM" val="1"/>
</p:tagLst>
</file>

<file path=ppt/tags/tag119.xml><?xml version="1.0" encoding="utf-8"?>
<p:tagLst xmlns:a="http://schemas.openxmlformats.org/drawingml/2006/main" xmlns:r="http://schemas.openxmlformats.org/officeDocument/2006/relationships" xmlns:p="http://schemas.openxmlformats.org/presentationml/2006/main">
  <p:tag name="NUM" val="2"/>
</p:tagLst>
</file>

<file path=ppt/tags/tag120.xml><?xml version="1.0" encoding="utf-8"?>
<p:tagLst xmlns:a="http://schemas.openxmlformats.org/drawingml/2006/main" xmlns:r="http://schemas.openxmlformats.org/officeDocument/2006/relationships" xmlns:p="http://schemas.openxmlformats.org/presentationml/2006/main">
  <p:tag name="NUM" val="3"/>
</p:tagLst>
</file>

<file path=ppt/tags/tag121.xml><?xml version="1.0" encoding="utf-8"?>
<p:tagLst xmlns:a="http://schemas.openxmlformats.org/drawingml/2006/main" xmlns:r="http://schemas.openxmlformats.org/officeDocument/2006/relationships" xmlns:p="http://schemas.openxmlformats.org/presentationml/2006/main">
  <p:tag name="NUM" val="4"/>
</p:tagLst>
</file>

<file path=ppt/tags/tag122.xml><?xml version="1.0" encoding="utf-8"?>
<p:tagLst xmlns:a="http://schemas.openxmlformats.org/drawingml/2006/main" xmlns:r="http://schemas.openxmlformats.org/officeDocument/2006/relationships" xmlns:p="http://schemas.openxmlformats.org/presentationml/2006/main">
  <p:tag name="NUM" val="5"/>
</p:tagLst>
</file>

<file path=ppt/tags/tag123.xml><?xml version="1.0" encoding="utf-8"?>
<p:tagLst xmlns:a="http://schemas.openxmlformats.org/drawingml/2006/main" xmlns:r="http://schemas.openxmlformats.org/officeDocument/2006/relationships" xmlns:p="http://schemas.openxmlformats.org/presentationml/2006/main">
  <p:tag name="NUM" val="2"/>
</p:tagLst>
</file>

<file path=ppt/tags/tag124.xml><?xml version="1.0" encoding="utf-8"?>
<p:tagLst xmlns:a="http://schemas.openxmlformats.org/drawingml/2006/main" xmlns:r="http://schemas.openxmlformats.org/officeDocument/2006/relationships" xmlns:p="http://schemas.openxmlformats.org/presentationml/2006/main">
  <p:tag name="NUM" val="1"/>
</p:tagLst>
</file>

<file path=ppt/tags/tag125.xml><?xml version="1.0" encoding="utf-8"?>
<p:tagLst xmlns:a="http://schemas.openxmlformats.org/drawingml/2006/main" xmlns:r="http://schemas.openxmlformats.org/officeDocument/2006/relationships" xmlns:p="http://schemas.openxmlformats.org/presentationml/2006/main">
  <p:tag name="NUM" val="3"/>
</p:tagLst>
</file>

<file path=ppt/tags/tag126.xml><?xml version="1.0" encoding="utf-8"?>
<p:tagLst xmlns:a="http://schemas.openxmlformats.org/drawingml/2006/main" xmlns:r="http://schemas.openxmlformats.org/officeDocument/2006/relationships" xmlns:p="http://schemas.openxmlformats.org/presentationml/2006/main">
  <p:tag name="NUM" val="4"/>
</p:tagLst>
</file>

<file path=ppt/tags/tag127.xml><?xml version="1.0" encoding="utf-8"?>
<p:tagLst xmlns:a="http://schemas.openxmlformats.org/drawingml/2006/main" xmlns:r="http://schemas.openxmlformats.org/officeDocument/2006/relationships" xmlns:p="http://schemas.openxmlformats.org/presentationml/2006/main">
  <p:tag name="NUM" val="5"/>
</p:tagLst>
</file>

<file path=ppt/tags/tag128.xml><?xml version="1.0" encoding="utf-8"?>
<p:tagLst xmlns:a="http://schemas.openxmlformats.org/drawingml/2006/main" xmlns:r="http://schemas.openxmlformats.org/officeDocument/2006/relationships" xmlns:p="http://schemas.openxmlformats.org/presentationml/2006/main">
  <p:tag name="NUM" val="2"/>
</p:tagLst>
</file>

<file path=ppt/tags/tag129.xml><?xml version="1.0" encoding="utf-8"?>
<p:tagLst xmlns:a="http://schemas.openxmlformats.org/drawingml/2006/main" xmlns:r="http://schemas.openxmlformats.org/officeDocument/2006/relationships" xmlns:p="http://schemas.openxmlformats.org/presentationml/2006/main">
  <p:tag name="NUM" val="1"/>
</p:tagLst>
</file>

<file path=ppt/tags/tag130.xml><?xml version="1.0" encoding="utf-8"?>
<p:tagLst xmlns:a="http://schemas.openxmlformats.org/drawingml/2006/main" xmlns:r="http://schemas.openxmlformats.org/officeDocument/2006/relationships" xmlns:p="http://schemas.openxmlformats.org/presentationml/2006/main">
  <p:tag name="NUM" val="4"/>
</p:tagLst>
</file>

<file path=ppt/tags/tag131.xml><?xml version="1.0" encoding="utf-8"?>
<p:tagLst xmlns:a="http://schemas.openxmlformats.org/drawingml/2006/main" xmlns:r="http://schemas.openxmlformats.org/officeDocument/2006/relationships" xmlns:p="http://schemas.openxmlformats.org/presentationml/2006/main">
  <p:tag name="NUM" val="5"/>
</p:tagLst>
</file>

<file path=ppt/tags/tag132.xml><?xml version="1.0" encoding="utf-8"?>
<p:tagLst xmlns:a="http://schemas.openxmlformats.org/drawingml/2006/main" xmlns:r="http://schemas.openxmlformats.org/officeDocument/2006/relationships" xmlns:p="http://schemas.openxmlformats.org/presentationml/2006/main">
  <p:tag name="NUM" val="2"/>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6"/>
</p:tagLst>
</file>

<file path=ppt/tags/tag135.xml><?xml version="1.0" encoding="utf-8"?>
<p:tagLst xmlns:a="http://schemas.openxmlformats.org/drawingml/2006/main" xmlns:r="http://schemas.openxmlformats.org/officeDocument/2006/relationships" xmlns:p="http://schemas.openxmlformats.org/presentationml/2006/main">
  <p:tag name="NUM" val="6"/>
</p:tagLst>
</file>

<file path=ppt/tags/tag136.xml><?xml version="1.0" encoding="utf-8"?>
<p:tagLst xmlns:a="http://schemas.openxmlformats.org/drawingml/2006/main" xmlns:r="http://schemas.openxmlformats.org/officeDocument/2006/relationships" xmlns:p="http://schemas.openxmlformats.org/presentationml/2006/main">
  <p:tag name="NOPREFERENCE" val="False"/>
</p:tagLst>
</file>

<file path=ppt/tags/tag137.xml><?xml version="1.0" encoding="utf-8"?>
<p:tagLst xmlns:a="http://schemas.openxmlformats.org/drawingml/2006/main" xmlns:r="http://schemas.openxmlformats.org/officeDocument/2006/relationships" xmlns:p="http://schemas.openxmlformats.org/presentationml/2006/main">
  <p:tag name="NUM" val="1"/>
</p:tagLst>
</file>

<file path=ppt/tags/tag138.xml><?xml version="1.0" encoding="utf-8"?>
<p:tagLst xmlns:a="http://schemas.openxmlformats.org/drawingml/2006/main" xmlns:r="http://schemas.openxmlformats.org/officeDocument/2006/relationships" xmlns:p="http://schemas.openxmlformats.org/presentationml/2006/main">
  <p:tag name="NUM" val="2"/>
</p:tagLst>
</file>

<file path=ppt/tags/tag139.xml><?xml version="1.0" encoding="utf-8"?>
<p:tagLst xmlns:a="http://schemas.openxmlformats.org/drawingml/2006/main" xmlns:r="http://schemas.openxmlformats.org/officeDocument/2006/relationships" xmlns:p="http://schemas.openxmlformats.org/presentationml/2006/main">
  <p:tag name="NUM" val="3"/>
</p:tagLst>
</file>

<file path=ppt/tags/tag140.xml><?xml version="1.0" encoding="utf-8"?>
<p:tagLst xmlns:a="http://schemas.openxmlformats.org/drawingml/2006/main" xmlns:r="http://schemas.openxmlformats.org/officeDocument/2006/relationships" xmlns:p="http://schemas.openxmlformats.org/presentationml/2006/main">
  <p:tag name="NUM" val="4"/>
</p:tagLst>
</file>

<file path=ppt/tags/tag141.xml><?xml version="1.0" encoding="utf-8"?>
<p:tagLst xmlns:a="http://schemas.openxmlformats.org/drawingml/2006/main" xmlns:r="http://schemas.openxmlformats.org/officeDocument/2006/relationships" xmlns:p="http://schemas.openxmlformats.org/presentationml/2006/main">
  <p:tag name="NUM" val="5"/>
</p:tagLst>
</file>

<file path=ppt/tags/tag142.xml><?xml version="1.0" encoding="utf-8"?>
<p:tagLst xmlns:a="http://schemas.openxmlformats.org/drawingml/2006/main" xmlns:r="http://schemas.openxmlformats.org/officeDocument/2006/relationships" xmlns:p="http://schemas.openxmlformats.org/presentationml/2006/main">
  <p:tag name="NOPREFERENCE" val="False"/>
</p:tagLst>
</file>

<file path=ppt/tags/tag143.xml><?xml version="1.0" encoding="utf-8"?>
<p:tagLst xmlns:a="http://schemas.openxmlformats.org/drawingml/2006/main" xmlns:r="http://schemas.openxmlformats.org/officeDocument/2006/relationships" xmlns:p="http://schemas.openxmlformats.org/presentationml/2006/main">
  <p:tag name="NUM" val="1"/>
</p:tagLst>
</file>

<file path=ppt/tags/tag144.xml><?xml version="1.0" encoding="utf-8"?>
<p:tagLst xmlns:a="http://schemas.openxmlformats.org/drawingml/2006/main" xmlns:r="http://schemas.openxmlformats.org/officeDocument/2006/relationships" xmlns:p="http://schemas.openxmlformats.org/presentationml/2006/main">
  <p:tag name="NUM" val="2"/>
</p:tagLst>
</file>

<file path=ppt/tags/tag145.xml><?xml version="1.0" encoding="utf-8"?>
<p:tagLst xmlns:a="http://schemas.openxmlformats.org/drawingml/2006/main" xmlns:r="http://schemas.openxmlformats.org/officeDocument/2006/relationships" xmlns:p="http://schemas.openxmlformats.org/presentationml/2006/main">
  <p:tag name="NUM" val="3"/>
</p:tagLst>
</file>

<file path=ppt/tags/tag146.xml><?xml version="1.0" encoding="utf-8"?>
<p:tagLst xmlns:a="http://schemas.openxmlformats.org/drawingml/2006/main" xmlns:r="http://schemas.openxmlformats.org/officeDocument/2006/relationships" xmlns:p="http://schemas.openxmlformats.org/presentationml/2006/main">
  <p:tag name="NUM" val="4"/>
</p:tagLst>
</file>

<file path=ppt/tags/tag147.xml><?xml version="1.0" encoding="utf-8"?>
<p:tagLst xmlns:a="http://schemas.openxmlformats.org/drawingml/2006/main" xmlns:r="http://schemas.openxmlformats.org/officeDocument/2006/relationships" xmlns:p="http://schemas.openxmlformats.org/presentationml/2006/main">
  <p:tag name="NUM" val="5"/>
</p:tagLst>
</file>

<file path=ppt/tags/tag148.xml><?xml version="1.0" encoding="utf-8"?>
<p:tagLst xmlns:a="http://schemas.openxmlformats.org/drawingml/2006/main" xmlns:r="http://schemas.openxmlformats.org/officeDocument/2006/relationships" xmlns:p="http://schemas.openxmlformats.org/presentationml/2006/main">
  <p:tag name="NUM" val="6"/>
</p:tagLst>
</file>

<file path=ppt/tags/tag149.xml><?xml version="1.0" encoding="utf-8"?>
<p:tagLst xmlns:a="http://schemas.openxmlformats.org/drawingml/2006/main" xmlns:r="http://schemas.openxmlformats.org/officeDocument/2006/relationships" xmlns:p="http://schemas.openxmlformats.org/presentationml/2006/main">
  <p:tag name="NUM" val="7"/>
</p:tagLst>
</file>

<file path=ppt/tags/tag150.xml><?xml version="1.0" encoding="utf-8"?>
<p:tagLst xmlns:a="http://schemas.openxmlformats.org/drawingml/2006/main" xmlns:r="http://schemas.openxmlformats.org/officeDocument/2006/relationships" xmlns:p="http://schemas.openxmlformats.org/presentationml/2006/main">
  <p:tag name="NOPREFERENCE" val="False"/>
</p:tagLst>
</file>

<file path=ppt/tags/tag151.xml><?xml version="1.0" encoding="utf-8"?>
<p:tagLst xmlns:a="http://schemas.openxmlformats.org/drawingml/2006/main" xmlns:r="http://schemas.openxmlformats.org/officeDocument/2006/relationships" xmlns:p="http://schemas.openxmlformats.org/presentationml/2006/main">
  <p:tag name="NUM" val="1"/>
</p:tagLst>
</file>

<file path=ppt/tags/tag152.xml><?xml version="1.0" encoding="utf-8"?>
<p:tagLst xmlns:a="http://schemas.openxmlformats.org/drawingml/2006/main" xmlns:r="http://schemas.openxmlformats.org/officeDocument/2006/relationships" xmlns:p="http://schemas.openxmlformats.org/presentationml/2006/main">
  <p:tag name="NUM" val="2"/>
</p:tagLst>
</file>

<file path=ppt/tags/tag153.xml><?xml version="1.0" encoding="utf-8"?>
<p:tagLst xmlns:a="http://schemas.openxmlformats.org/drawingml/2006/main" xmlns:r="http://schemas.openxmlformats.org/officeDocument/2006/relationships" xmlns:p="http://schemas.openxmlformats.org/presentationml/2006/main">
  <p:tag name="NUM" val="3"/>
</p:tagLst>
</file>

<file path=ppt/tags/tag154.xml><?xml version="1.0" encoding="utf-8"?>
<p:tagLst xmlns:a="http://schemas.openxmlformats.org/drawingml/2006/main" xmlns:r="http://schemas.openxmlformats.org/officeDocument/2006/relationships" xmlns:p="http://schemas.openxmlformats.org/presentationml/2006/main">
  <p:tag name="NUM" val="4"/>
</p:tagLst>
</file>

<file path=ppt/tags/tag155.xml><?xml version="1.0" encoding="utf-8"?>
<p:tagLst xmlns:a="http://schemas.openxmlformats.org/drawingml/2006/main" xmlns:r="http://schemas.openxmlformats.org/officeDocument/2006/relationships" xmlns:p="http://schemas.openxmlformats.org/presentationml/2006/main">
  <p:tag name="NUM" val="5"/>
</p:tagLst>
</file>

<file path=ppt/tags/tag156.xml><?xml version="1.0" encoding="utf-8"?>
<p:tagLst xmlns:a="http://schemas.openxmlformats.org/drawingml/2006/main" xmlns:r="http://schemas.openxmlformats.org/officeDocument/2006/relationships" xmlns:p="http://schemas.openxmlformats.org/presentationml/2006/main">
  <p:tag name="NUM" val="1"/>
</p:tagLst>
</file>

<file path=ppt/tags/tag157.xml><?xml version="1.0" encoding="utf-8"?>
<p:tagLst xmlns:a="http://schemas.openxmlformats.org/drawingml/2006/main" xmlns:r="http://schemas.openxmlformats.org/officeDocument/2006/relationships" xmlns:p="http://schemas.openxmlformats.org/presentationml/2006/main">
  <p:tag name="NUM" val="2"/>
</p:tagLst>
</file>

<file path=ppt/tags/tag158.xml><?xml version="1.0" encoding="utf-8"?>
<p:tagLst xmlns:a="http://schemas.openxmlformats.org/drawingml/2006/main" xmlns:r="http://schemas.openxmlformats.org/officeDocument/2006/relationships" xmlns:p="http://schemas.openxmlformats.org/presentationml/2006/main">
  <p:tag name="NUM" val="3"/>
</p:tagLst>
</file>

<file path=ppt/tags/tag159.xml><?xml version="1.0" encoding="utf-8"?>
<p:tagLst xmlns:a="http://schemas.openxmlformats.org/drawingml/2006/main" xmlns:r="http://schemas.openxmlformats.org/officeDocument/2006/relationships" xmlns:p="http://schemas.openxmlformats.org/presentationml/2006/main">
  <p:tag name="NUM" val="4"/>
</p:tagLst>
</file>

<file path=ppt/tags/tag160.xml><?xml version="1.0" encoding="utf-8"?>
<p:tagLst xmlns:a="http://schemas.openxmlformats.org/drawingml/2006/main" xmlns:r="http://schemas.openxmlformats.org/officeDocument/2006/relationships" xmlns:p="http://schemas.openxmlformats.org/presentationml/2006/main">
  <p:tag name="NUM" val="5"/>
</p:tagLst>
</file>

<file path=ppt/tags/tag161.xml><?xml version="1.0" encoding="utf-8"?>
<p:tagLst xmlns:a="http://schemas.openxmlformats.org/drawingml/2006/main" xmlns:r="http://schemas.openxmlformats.org/officeDocument/2006/relationships" xmlns:p="http://schemas.openxmlformats.org/presentationml/2006/main">
  <p:tag name="NUM" val="6"/>
</p:tagLst>
</file>

<file path=ppt/tags/tag162.xml><?xml version="1.0" encoding="utf-8"?>
<p:tagLst xmlns:a="http://schemas.openxmlformats.org/drawingml/2006/main" xmlns:r="http://schemas.openxmlformats.org/officeDocument/2006/relationships" xmlns:p="http://schemas.openxmlformats.org/presentationml/2006/main">
  <p:tag name="NUM" val="1"/>
</p:tagLst>
</file>

<file path=ppt/tags/tag163.xml><?xml version="1.0" encoding="utf-8"?>
<p:tagLst xmlns:a="http://schemas.openxmlformats.org/drawingml/2006/main" xmlns:r="http://schemas.openxmlformats.org/officeDocument/2006/relationships" xmlns:p="http://schemas.openxmlformats.org/presentationml/2006/main">
  <p:tag name="NUM" val="1"/>
</p:tagLst>
</file>

<file path=ppt/tags/tag164.xml><?xml version="1.0" encoding="utf-8"?>
<p:tagLst xmlns:a="http://schemas.openxmlformats.org/drawingml/2006/main" xmlns:r="http://schemas.openxmlformats.org/officeDocument/2006/relationships" xmlns:p="http://schemas.openxmlformats.org/presentationml/2006/main">
  <p:tag name="NUM" val="2"/>
</p:tagLst>
</file>

<file path=ppt/tags/tag165.xml><?xml version="1.0" encoding="utf-8"?>
<p:tagLst xmlns:a="http://schemas.openxmlformats.org/drawingml/2006/main" xmlns:r="http://schemas.openxmlformats.org/officeDocument/2006/relationships" xmlns:p="http://schemas.openxmlformats.org/presentationml/2006/main">
  <p:tag name="NUM" val="1"/>
</p:tagLst>
</file>

<file path=ppt/tags/tag166.xml><?xml version="1.0" encoding="utf-8"?>
<p:tagLst xmlns:a="http://schemas.openxmlformats.org/drawingml/2006/main" xmlns:r="http://schemas.openxmlformats.org/officeDocument/2006/relationships" xmlns:p="http://schemas.openxmlformats.org/presentationml/2006/main">
  <p:tag name="NUM" val="2"/>
</p:tagLst>
</file>

<file path=ppt/tags/tag167.xml><?xml version="1.0" encoding="utf-8"?>
<p:tagLst xmlns:a="http://schemas.openxmlformats.org/drawingml/2006/main" xmlns:r="http://schemas.openxmlformats.org/officeDocument/2006/relationships" xmlns:p="http://schemas.openxmlformats.org/presentationml/2006/main">
  <p:tag name="NUM" val="3"/>
</p:tagLst>
</file>

<file path=ppt/tags/tag168.xml><?xml version="1.0" encoding="utf-8"?>
<p:tagLst xmlns:a="http://schemas.openxmlformats.org/drawingml/2006/main" xmlns:r="http://schemas.openxmlformats.org/officeDocument/2006/relationships" xmlns:p="http://schemas.openxmlformats.org/presentationml/2006/main">
  <p:tag name="NUM" val="4"/>
</p:tagLst>
</file>

<file path=ppt/tags/tag169.xml><?xml version="1.0" encoding="utf-8"?>
<p:tagLst xmlns:a="http://schemas.openxmlformats.org/drawingml/2006/main" xmlns:r="http://schemas.openxmlformats.org/officeDocument/2006/relationships" xmlns:p="http://schemas.openxmlformats.org/presentationml/2006/main">
  <p:tag name="NUM" val="1"/>
</p:tagLst>
</file>

<file path=ppt/tags/tag170.xml><?xml version="1.0" encoding="utf-8"?>
<p:tagLst xmlns:a="http://schemas.openxmlformats.org/drawingml/2006/main" xmlns:r="http://schemas.openxmlformats.org/officeDocument/2006/relationships" xmlns:p="http://schemas.openxmlformats.org/presentationml/2006/main">
  <p:tag name="NUM" val="2"/>
</p:tagLst>
</file>

<file path=ppt/tags/tag171.xml><?xml version="1.0" encoding="utf-8"?>
<p:tagLst xmlns:a="http://schemas.openxmlformats.org/drawingml/2006/main" xmlns:r="http://schemas.openxmlformats.org/officeDocument/2006/relationships" xmlns:p="http://schemas.openxmlformats.org/presentationml/2006/main">
  <p:tag name="NUM" val="3"/>
</p:tagLst>
</file>

<file path=ppt/tags/tag172.xml><?xml version="1.0" encoding="utf-8"?>
<p:tagLst xmlns:a="http://schemas.openxmlformats.org/drawingml/2006/main" xmlns:r="http://schemas.openxmlformats.org/officeDocument/2006/relationships" xmlns:p="http://schemas.openxmlformats.org/presentationml/2006/main">
  <p:tag name="NUM" val="4"/>
</p:tagLst>
</file>

<file path=ppt/tags/tag173.xml><?xml version="1.0" encoding="utf-8"?>
<p:tagLst xmlns:a="http://schemas.openxmlformats.org/drawingml/2006/main" xmlns:r="http://schemas.openxmlformats.org/officeDocument/2006/relationships" xmlns:p="http://schemas.openxmlformats.org/presentationml/2006/main">
  <p:tag name="NUM" val="1"/>
</p:tagLst>
</file>

<file path=ppt/tags/tag174.xml><?xml version="1.0" encoding="utf-8"?>
<p:tagLst xmlns:a="http://schemas.openxmlformats.org/drawingml/2006/main" xmlns:r="http://schemas.openxmlformats.org/officeDocument/2006/relationships" xmlns:p="http://schemas.openxmlformats.org/presentationml/2006/main">
  <p:tag name="NUM" val="2"/>
</p:tagLst>
</file>

<file path=ppt/tags/tag175.xml><?xml version="1.0" encoding="utf-8"?>
<p:tagLst xmlns:a="http://schemas.openxmlformats.org/drawingml/2006/main" xmlns:r="http://schemas.openxmlformats.org/officeDocument/2006/relationships" xmlns:p="http://schemas.openxmlformats.org/presentationml/2006/main">
  <p:tag name="NUM" val="3"/>
</p:tagLst>
</file>

<file path=ppt/tags/tag176.xml><?xml version="1.0" encoding="utf-8"?>
<p:tagLst xmlns:a="http://schemas.openxmlformats.org/drawingml/2006/main" xmlns:r="http://schemas.openxmlformats.org/officeDocument/2006/relationships" xmlns:p="http://schemas.openxmlformats.org/presentationml/2006/main">
  <p:tag name="NUM" val="4"/>
</p:tagLst>
</file>

<file path=ppt/tags/tag177.xml><?xml version="1.0" encoding="utf-8"?>
<p:tagLst xmlns:a="http://schemas.openxmlformats.org/drawingml/2006/main" xmlns:r="http://schemas.openxmlformats.org/officeDocument/2006/relationships" xmlns:p="http://schemas.openxmlformats.org/presentationml/2006/main">
  <p:tag name="NUM" val="5"/>
</p:tagLst>
</file>

<file path=ppt/tags/tag178.xml><?xml version="1.0" encoding="utf-8"?>
<p:tagLst xmlns:a="http://schemas.openxmlformats.org/drawingml/2006/main" xmlns:r="http://schemas.openxmlformats.org/officeDocument/2006/relationships" xmlns:p="http://schemas.openxmlformats.org/presentationml/2006/main">
  <p:tag name="NUM" val="1"/>
</p:tagLst>
</file>

<file path=ppt/tags/tag179.xml><?xml version="1.0" encoding="utf-8"?>
<p:tagLst xmlns:a="http://schemas.openxmlformats.org/drawingml/2006/main" xmlns:r="http://schemas.openxmlformats.org/officeDocument/2006/relationships" xmlns:p="http://schemas.openxmlformats.org/presentationml/2006/main">
  <p:tag name="NUM" val="2"/>
</p:tagLst>
</file>

<file path=ppt/tags/tag180.xml><?xml version="1.0" encoding="utf-8"?>
<p:tagLst xmlns:a="http://schemas.openxmlformats.org/drawingml/2006/main" xmlns:r="http://schemas.openxmlformats.org/officeDocument/2006/relationships" xmlns:p="http://schemas.openxmlformats.org/presentationml/2006/main">
  <p:tag name="NUM" val="3"/>
</p:tagLst>
</file>

<file path=ppt/tags/tag181.xml><?xml version="1.0" encoding="utf-8"?>
<p:tagLst xmlns:a="http://schemas.openxmlformats.org/drawingml/2006/main" xmlns:r="http://schemas.openxmlformats.org/officeDocument/2006/relationships" xmlns:p="http://schemas.openxmlformats.org/presentationml/2006/main">
  <p:tag name="NUM" val="4"/>
</p:tagLst>
</file>

<file path=ppt/tags/tag182.xml><?xml version="1.0" encoding="utf-8"?>
<p:tagLst xmlns:a="http://schemas.openxmlformats.org/drawingml/2006/main" xmlns:r="http://schemas.openxmlformats.org/officeDocument/2006/relationships" xmlns:p="http://schemas.openxmlformats.org/presentationml/2006/main">
  <p:tag name="NUM" val="5"/>
</p:tagLst>
</file>

<file path=ppt/tags/tag183.xml><?xml version="1.0" encoding="utf-8"?>
<p:tagLst xmlns:a="http://schemas.openxmlformats.org/drawingml/2006/main" xmlns:r="http://schemas.openxmlformats.org/officeDocument/2006/relationships" xmlns:p="http://schemas.openxmlformats.org/presentationml/2006/main">
  <p:tag name="NUM" val="3"/>
</p:tagLst>
</file>

<file path=ppt/tags/tag184.xml><?xml version="1.0" encoding="utf-8"?>
<p:tagLst xmlns:a="http://schemas.openxmlformats.org/drawingml/2006/main" xmlns:r="http://schemas.openxmlformats.org/officeDocument/2006/relationships" xmlns:p="http://schemas.openxmlformats.org/presentationml/2006/main">
  <p:tag name="NOPREFERENCE" val="False"/>
</p:tagLst>
</file>

<file path=ppt/tags/tag185.xml><?xml version="1.0" encoding="utf-8"?>
<p:tagLst xmlns:a="http://schemas.openxmlformats.org/drawingml/2006/main" xmlns:r="http://schemas.openxmlformats.org/officeDocument/2006/relationships" xmlns:p="http://schemas.openxmlformats.org/presentationml/2006/main">
  <p:tag name="NUM" val="1"/>
</p:tagLst>
</file>

<file path=ppt/tags/tag186.xml><?xml version="1.0" encoding="utf-8"?>
<p:tagLst xmlns:a="http://schemas.openxmlformats.org/drawingml/2006/main" xmlns:r="http://schemas.openxmlformats.org/officeDocument/2006/relationships" xmlns:p="http://schemas.openxmlformats.org/presentationml/2006/main">
  <p:tag name="NUM" val="2"/>
</p:tagLst>
</file>

<file path=ppt/tags/tag187.xml><?xml version="1.0" encoding="utf-8"?>
<p:tagLst xmlns:a="http://schemas.openxmlformats.org/drawingml/2006/main" xmlns:r="http://schemas.openxmlformats.org/officeDocument/2006/relationships" xmlns:p="http://schemas.openxmlformats.org/presentationml/2006/main">
  <p:tag name="NUM" val="3"/>
</p:tagLst>
</file>

<file path=ppt/tags/tag188.xml><?xml version="1.0" encoding="utf-8"?>
<p:tagLst xmlns:a="http://schemas.openxmlformats.org/drawingml/2006/main" xmlns:r="http://schemas.openxmlformats.org/officeDocument/2006/relationships" xmlns:p="http://schemas.openxmlformats.org/presentationml/2006/main">
  <p:tag name="NUM" val="4"/>
</p:tagLst>
</file>

<file path=ppt/tags/tag189.xml><?xml version="1.0" encoding="utf-8"?>
<p:tagLst xmlns:a="http://schemas.openxmlformats.org/drawingml/2006/main" xmlns:r="http://schemas.openxmlformats.org/officeDocument/2006/relationships" xmlns:p="http://schemas.openxmlformats.org/presentationml/2006/main">
  <p:tag name="NUM" val="5"/>
</p:tagLst>
</file>

<file path=ppt/tags/tag190.xml><?xml version="1.0" encoding="utf-8"?>
<p:tagLst xmlns:a="http://schemas.openxmlformats.org/drawingml/2006/main" xmlns:r="http://schemas.openxmlformats.org/officeDocument/2006/relationships" xmlns:p="http://schemas.openxmlformats.org/presentationml/2006/main">
  <p:tag name="NUM" val="6"/>
</p:tagLst>
</file>

<file path=ppt/tags/tag191.xml><?xml version="1.0" encoding="utf-8"?>
<p:tagLst xmlns:a="http://schemas.openxmlformats.org/drawingml/2006/main" xmlns:r="http://schemas.openxmlformats.org/officeDocument/2006/relationships" xmlns:p="http://schemas.openxmlformats.org/presentationml/2006/main">
  <p:tag name="NUM" val="1"/>
</p:tagLst>
</file>

<file path=ppt/tags/tag192.xml><?xml version="1.0" encoding="utf-8"?>
<p:tagLst xmlns:a="http://schemas.openxmlformats.org/drawingml/2006/main" xmlns:r="http://schemas.openxmlformats.org/officeDocument/2006/relationships" xmlns:p="http://schemas.openxmlformats.org/presentationml/2006/main">
  <p:tag name="NUM" val="2"/>
</p:tagLst>
</file>

<file path=ppt/tags/tag193.xml><?xml version="1.0" encoding="utf-8"?>
<p:tagLst xmlns:a="http://schemas.openxmlformats.org/drawingml/2006/main" xmlns:r="http://schemas.openxmlformats.org/officeDocument/2006/relationships" xmlns:p="http://schemas.openxmlformats.org/presentationml/2006/main">
  <p:tag name="NUM" val="3"/>
</p:tagLst>
</file>

<file path=ppt/tags/tag194.xml><?xml version="1.0" encoding="utf-8"?>
<p:tagLst xmlns:a="http://schemas.openxmlformats.org/drawingml/2006/main" xmlns:r="http://schemas.openxmlformats.org/officeDocument/2006/relationships" xmlns:p="http://schemas.openxmlformats.org/presentationml/2006/main">
  <p:tag name="NUM" val="4"/>
</p:tagLst>
</file>

<file path=ppt/tags/tag195.xml><?xml version="1.0" encoding="utf-8"?>
<p:tagLst xmlns:a="http://schemas.openxmlformats.org/drawingml/2006/main" xmlns:r="http://schemas.openxmlformats.org/officeDocument/2006/relationships" xmlns:p="http://schemas.openxmlformats.org/presentationml/2006/main">
  <p:tag name="NUM" val="5"/>
</p:tagLst>
</file>

<file path=ppt/tags/tag196.xml><?xml version="1.0" encoding="utf-8"?>
<p:tagLst xmlns:a="http://schemas.openxmlformats.org/drawingml/2006/main" xmlns:r="http://schemas.openxmlformats.org/officeDocument/2006/relationships" xmlns:p="http://schemas.openxmlformats.org/presentationml/2006/main">
  <p:tag name="NUM" val="6"/>
</p:tagLst>
</file>

<file path=ppt/tags/tag197.xml><?xml version="1.0" encoding="utf-8"?>
<p:tagLst xmlns:a="http://schemas.openxmlformats.org/drawingml/2006/main" xmlns:r="http://schemas.openxmlformats.org/officeDocument/2006/relationships" xmlns:p="http://schemas.openxmlformats.org/presentationml/2006/main">
  <p:tag name="NUM" val="1"/>
</p:tagLst>
</file>

<file path=ppt/tags/tag198.xml><?xml version="1.0" encoding="utf-8"?>
<p:tagLst xmlns:a="http://schemas.openxmlformats.org/drawingml/2006/main" xmlns:r="http://schemas.openxmlformats.org/officeDocument/2006/relationships" xmlns:p="http://schemas.openxmlformats.org/presentationml/2006/main">
  <p:tag name="NUM" val="2"/>
</p:tagLst>
</file>

<file path=ppt/tags/tag199.xml><?xml version="1.0" encoding="utf-8"?>
<p:tagLst xmlns:a="http://schemas.openxmlformats.org/drawingml/2006/main" xmlns:r="http://schemas.openxmlformats.org/officeDocument/2006/relationships" xmlns:p="http://schemas.openxmlformats.org/presentationml/2006/main">
  <p:tag name="NUM" val="3"/>
</p:tagLst>
</file>

<file path=ppt/tags/tag200.xml><?xml version="1.0" encoding="utf-8"?>
<p:tagLst xmlns:a="http://schemas.openxmlformats.org/drawingml/2006/main" xmlns:r="http://schemas.openxmlformats.org/officeDocument/2006/relationships" xmlns:p="http://schemas.openxmlformats.org/presentationml/2006/main">
  <p:tag name="NUM" val="4"/>
</p:tagLst>
</file>

<file path=ppt/tags/tag201.xml><?xml version="1.0" encoding="utf-8"?>
<p:tagLst xmlns:a="http://schemas.openxmlformats.org/drawingml/2006/main" xmlns:r="http://schemas.openxmlformats.org/officeDocument/2006/relationships" xmlns:p="http://schemas.openxmlformats.org/presentationml/2006/main">
  <p:tag name="NUM" val="5"/>
</p:tagLst>
</file>

<file path=ppt/tags/tag202.xml><?xml version="1.0" encoding="utf-8"?>
<p:tagLst xmlns:a="http://schemas.openxmlformats.org/drawingml/2006/main" xmlns:r="http://schemas.openxmlformats.org/officeDocument/2006/relationships" xmlns:p="http://schemas.openxmlformats.org/presentationml/2006/main">
  <p:tag name="NUM" val="1"/>
</p:tagLst>
</file>

<file path=ppt/tags/tag203.xml><?xml version="1.0" encoding="utf-8"?>
<p:tagLst xmlns:a="http://schemas.openxmlformats.org/drawingml/2006/main" xmlns:r="http://schemas.openxmlformats.org/officeDocument/2006/relationships" xmlns:p="http://schemas.openxmlformats.org/presentationml/2006/main">
  <p:tag name="NUM" val="2"/>
</p:tagLst>
</file>

<file path=ppt/tags/tag204.xml><?xml version="1.0" encoding="utf-8"?>
<p:tagLst xmlns:a="http://schemas.openxmlformats.org/drawingml/2006/main" xmlns:r="http://schemas.openxmlformats.org/officeDocument/2006/relationships" xmlns:p="http://schemas.openxmlformats.org/presentationml/2006/main">
  <p:tag name="NUM" val="3"/>
</p:tagLst>
</file>

<file path=ppt/tags/tag205.xml><?xml version="1.0" encoding="utf-8"?>
<p:tagLst xmlns:a="http://schemas.openxmlformats.org/drawingml/2006/main" xmlns:r="http://schemas.openxmlformats.org/officeDocument/2006/relationships" xmlns:p="http://schemas.openxmlformats.org/presentationml/2006/main">
  <p:tag name="NUM" val="4"/>
</p:tagLst>
</file>

<file path=ppt/tags/tag206.xml><?xml version="1.0" encoding="utf-8"?>
<p:tagLst xmlns:a="http://schemas.openxmlformats.org/drawingml/2006/main" xmlns:r="http://schemas.openxmlformats.org/officeDocument/2006/relationships" xmlns:p="http://schemas.openxmlformats.org/presentationml/2006/main">
  <p:tag name="NUM" val="5"/>
</p:tagLst>
</file>

<file path=ppt/tags/tag207.xml><?xml version="1.0" encoding="utf-8"?>
<p:tagLst xmlns:a="http://schemas.openxmlformats.org/drawingml/2006/main" xmlns:r="http://schemas.openxmlformats.org/officeDocument/2006/relationships" xmlns:p="http://schemas.openxmlformats.org/presentationml/2006/main">
  <p:tag name="NUM" val="6"/>
</p:tagLst>
</file>

<file path=ppt/tags/tag208.xml><?xml version="1.0" encoding="utf-8"?>
<p:tagLst xmlns:a="http://schemas.openxmlformats.org/drawingml/2006/main" xmlns:r="http://schemas.openxmlformats.org/officeDocument/2006/relationships" xmlns:p="http://schemas.openxmlformats.org/presentationml/2006/main">
  <p:tag name="NUM" val="1"/>
</p:tagLst>
</file>

<file path=ppt/tags/tag209.xml><?xml version="1.0" encoding="utf-8"?>
<p:tagLst xmlns:a="http://schemas.openxmlformats.org/drawingml/2006/main" xmlns:r="http://schemas.openxmlformats.org/officeDocument/2006/relationships" xmlns:p="http://schemas.openxmlformats.org/presentationml/2006/main">
  <p:tag name="NUM" val="2"/>
</p:tagLst>
</file>

<file path=ppt/tags/tag210.xml><?xml version="1.0" encoding="utf-8"?>
<p:tagLst xmlns:a="http://schemas.openxmlformats.org/drawingml/2006/main" xmlns:r="http://schemas.openxmlformats.org/officeDocument/2006/relationships" xmlns:p="http://schemas.openxmlformats.org/presentationml/2006/main">
  <p:tag name="NUM" val="3"/>
</p:tagLst>
</file>

<file path=ppt/tags/tag211.xml><?xml version="1.0" encoding="utf-8"?>
<p:tagLst xmlns:a="http://schemas.openxmlformats.org/drawingml/2006/main" xmlns:r="http://schemas.openxmlformats.org/officeDocument/2006/relationships" xmlns:p="http://schemas.openxmlformats.org/presentationml/2006/main">
  <p:tag name="NUM" val="1"/>
</p:tagLst>
</file>

<file path=ppt/tags/tag212.xml><?xml version="1.0" encoding="utf-8"?>
<p:tagLst xmlns:a="http://schemas.openxmlformats.org/drawingml/2006/main" xmlns:r="http://schemas.openxmlformats.org/officeDocument/2006/relationships" xmlns:p="http://schemas.openxmlformats.org/presentationml/2006/main">
  <p:tag name="NUM" val="2"/>
</p:tagLst>
</file>

<file path=ppt/tags/tag213.xml><?xml version="1.0" encoding="utf-8"?>
<p:tagLst xmlns:a="http://schemas.openxmlformats.org/drawingml/2006/main" xmlns:r="http://schemas.openxmlformats.org/officeDocument/2006/relationships" xmlns:p="http://schemas.openxmlformats.org/presentationml/2006/main">
  <p:tag name="NUM" val="3"/>
</p:tagLst>
</file>

<file path=ppt/tags/tag214.xml><?xml version="1.0" encoding="utf-8"?>
<p:tagLst xmlns:a="http://schemas.openxmlformats.org/drawingml/2006/main" xmlns:r="http://schemas.openxmlformats.org/officeDocument/2006/relationships" xmlns:p="http://schemas.openxmlformats.org/presentationml/2006/main">
  <p:tag name="NUM" val="4"/>
</p:tagLst>
</file>

<file path=ppt/tags/tag215.xml><?xml version="1.0" encoding="utf-8"?>
<p:tagLst xmlns:a="http://schemas.openxmlformats.org/drawingml/2006/main" xmlns:r="http://schemas.openxmlformats.org/officeDocument/2006/relationships" xmlns:p="http://schemas.openxmlformats.org/presentationml/2006/main">
  <p:tag name="NUM" val="1"/>
</p:tagLst>
</file>

<file path=ppt/tags/tag216.xml><?xml version="1.0" encoding="utf-8"?>
<p:tagLst xmlns:a="http://schemas.openxmlformats.org/drawingml/2006/main" xmlns:r="http://schemas.openxmlformats.org/officeDocument/2006/relationships" xmlns:p="http://schemas.openxmlformats.org/presentationml/2006/main">
  <p:tag name="NUM" val="2"/>
</p:tagLst>
</file>

<file path=ppt/tags/tag217.xml><?xml version="1.0" encoding="utf-8"?>
<p:tagLst xmlns:a="http://schemas.openxmlformats.org/drawingml/2006/main" xmlns:r="http://schemas.openxmlformats.org/officeDocument/2006/relationships" xmlns:p="http://schemas.openxmlformats.org/presentationml/2006/main">
  <p:tag name="NUM" val="3"/>
</p:tagLst>
</file>

<file path=ppt/tags/tag218.xml><?xml version="1.0" encoding="utf-8"?>
<p:tagLst xmlns:a="http://schemas.openxmlformats.org/drawingml/2006/main" xmlns:r="http://schemas.openxmlformats.org/officeDocument/2006/relationships" xmlns:p="http://schemas.openxmlformats.org/presentationml/2006/main">
  <p:tag name="NUM" val="4"/>
</p:tagLst>
</file>

<file path=ppt/tags/tag219.xml><?xml version="1.0" encoding="utf-8"?>
<p:tagLst xmlns:a="http://schemas.openxmlformats.org/drawingml/2006/main" xmlns:r="http://schemas.openxmlformats.org/officeDocument/2006/relationships" xmlns:p="http://schemas.openxmlformats.org/presentationml/2006/main">
  <p:tag name="NUM" val="1"/>
</p:tagLst>
</file>

<file path=ppt/tags/tag220.xml><?xml version="1.0" encoding="utf-8"?>
<p:tagLst xmlns:a="http://schemas.openxmlformats.org/drawingml/2006/main" xmlns:r="http://schemas.openxmlformats.org/officeDocument/2006/relationships" xmlns:p="http://schemas.openxmlformats.org/presentationml/2006/main">
  <p:tag name="NUM" val="2"/>
</p:tagLst>
</file>

<file path=ppt/tags/tag221.xml><?xml version="1.0" encoding="utf-8"?>
<p:tagLst xmlns:a="http://schemas.openxmlformats.org/drawingml/2006/main" xmlns:r="http://schemas.openxmlformats.org/officeDocument/2006/relationships" xmlns:p="http://schemas.openxmlformats.org/presentationml/2006/main">
  <p:tag name="NUM" val="3"/>
</p:tagLst>
</file>

<file path=ppt/tags/tag222.xml><?xml version="1.0" encoding="utf-8"?>
<p:tagLst xmlns:a="http://schemas.openxmlformats.org/drawingml/2006/main" xmlns:r="http://schemas.openxmlformats.org/officeDocument/2006/relationships" xmlns:p="http://schemas.openxmlformats.org/presentationml/2006/main">
  <p:tag name="NUM" val="4"/>
</p:tagLst>
</file>

<file path=ppt/tags/tag223.xml><?xml version="1.0" encoding="utf-8"?>
<p:tagLst xmlns:a="http://schemas.openxmlformats.org/drawingml/2006/main" xmlns:r="http://schemas.openxmlformats.org/officeDocument/2006/relationships" xmlns:p="http://schemas.openxmlformats.org/presentationml/2006/main">
  <p:tag name="NUM" val="1"/>
</p:tagLst>
</file>

<file path=ppt/tags/tag224.xml><?xml version="1.0" encoding="utf-8"?>
<p:tagLst xmlns:a="http://schemas.openxmlformats.org/drawingml/2006/main" xmlns:r="http://schemas.openxmlformats.org/officeDocument/2006/relationships" xmlns:p="http://schemas.openxmlformats.org/presentationml/2006/main">
  <p:tag name="NUM" val="2"/>
</p:tagLst>
</file>

<file path=ppt/tags/tag225.xml><?xml version="1.0" encoding="utf-8"?>
<p:tagLst xmlns:a="http://schemas.openxmlformats.org/drawingml/2006/main" xmlns:r="http://schemas.openxmlformats.org/officeDocument/2006/relationships" xmlns:p="http://schemas.openxmlformats.org/presentationml/2006/main">
  <p:tag name="NUM" val="3"/>
</p:tagLst>
</file>

<file path=ppt/tags/tag226.xml><?xml version="1.0" encoding="utf-8"?>
<p:tagLst xmlns:a="http://schemas.openxmlformats.org/drawingml/2006/main" xmlns:r="http://schemas.openxmlformats.org/officeDocument/2006/relationships" xmlns:p="http://schemas.openxmlformats.org/presentationml/2006/main">
  <p:tag name="NUM" val="4"/>
</p:tagLst>
</file>

<file path=ppt/tags/tag227.xml><?xml version="1.0" encoding="utf-8"?>
<p:tagLst xmlns:a="http://schemas.openxmlformats.org/drawingml/2006/main" xmlns:r="http://schemas.openxmlformats.org/officeDocument/2006/relationships" xmlns:p="http://schemas.openxmlformats.org/presentationml/2006/main">
  <p:tag name="NUM" val="5"/>
</p:tagLst>
</file>

<file path=ppt/tags/tag228.xml><?xml version="1.0" encoding="utf-8"?>
<p:tagLst xmlns:a="http://schemas.openxmlformats.org/drawingml/2006/main" xmlns:r="http://schemas.openxmlformats.org/officeDocument/2006/relationships" xmlns:p="http://schemas.openxmlformats.org/presentationml/2006/main">
  <p:tag name="NUM" val="6"/>
</p:tagLst>
</file>

<file path=ppt/tags/tag229.xml><?xml version="1.0" encoding="utf-8"?>
<p:tagLst xmlns:a="http://schemas.openxmlformats.org/drawingml/2006/main" xmlns:r="http://schemas.openxmlformats.org/officeDocument/2006/relationships" xmlns:p="http://schemas.openxmlformats.org/presentationml/2006/main">
  <p:tag name="NUM" val="7"/>
</p:tagLst>
</file>

<file path=ppt/tags/tag230.xml><?xml version="1.0" encoding="utf-8"?>
<p:tagLst xmlns:a="http://schemas.openxmlformats.org/drawingml/2006/main" xmlns:r="http://schemas.openxmlformats.org/officeDocument/2006/relationships" xmlns:p="http://schemas.openxmlformats.org/presentationml/2006/main">
  <p:tag name="NUM" val="8"/>
</p:tagLst>
</file>

<file path=ppt/tags/tag231.xml><?xml version="1.0" encoding="utf-8"?>
<p:tagLst xmlns:a="http://schemas.openxmlformats.org/drawingml/2006/main" xmlns:r="http://schemas.openxmlformats.org/officeDocument/2006/relationships" xmlns:p="http://schemas.openxmlformats.org/presentationml/2006/main">
  <p:tag name="NOPREFERENCE" val="False"/>
</p:tagLst>
</file>

<file path=ppt/tags/tag232.xml><?xml version="1.0" encoding="utf-8"?>
<p:tagLst xmlns:a="http://schemas.openxmlformats.org/drawingml/2006/main" xmlns:r="http://schemas.openxmlformats.org/officeDocument/2006/relationships" xmlns:p="http://schemas.openxmlformats.org/presentationml/2006/main">
  <p:tag name="NUM" val="1"/>
</p:tagLst>
</file>

<file path=ppt/tags/tag233.xml><?xml version="1.0" encoding="utf-8"?>
<p:tagLst xmlns:a="http://schemas.openxmlformats.org/drawingml/2006/main" xmlns:r="http://schemas.openxmlformats.org/officeDocument/2006/relationships" xmlns:p="http://schemas.openxmlformats.org/presentationml/2006/main">
  <p:tag name="NUM" val="2"/>
</p:tagLst>
</file>

<file path=ppt/tags/tag234.xml><?xml version="1.0" encoding="utf-8"?>
<p:tagLst xmlns:a="http://schemas.openxmlformats.org/drawingml/2006/main" xmlns:r="http://schemas.openxmlformats.org/officeDocument/2006/relationships" xmlns:p="http://schemas.openxmlformats.org/presentationml/2006/main">
  <p:tag name="NUM" val="3"/>
</p:tagLst>
</file>

<file path=ppt/tags/tag235.xml><?xml version="1.0" encoding="utf-8"?>
<p:tagLst xmlns:a="http://schemas.openxmlformats.org/drawingml/2006/main" xmlns:r="http://schemas.openxmlformats.org/officeDocument/2006/relationships" xmlns:p="http://schemas.openxmlformats.org/presentationml/2006/main">
  <p:tag name="NUM" val="4"/>
</p:tagLst>
</file>

<file path=ppt/tags/tag236.xml><?xml version="1.0" encoding="utf-8"?>
<p:tagLst xmlns:a="http://schemas.openxmlformats.org/drawingml/2006/main" xmlns:r="http://schemas.openxmlformats.org/officeDocument/2006/relationships" xmlns:p="http://schemas.openxmlformats.org/presentationml/2006/main">
  <p:tag name="NUM" val="5"/>
</p:tagLst>
</file>

<file path=ppt/tags/tag237.xml><?xml version="1.0" encoding="utf-8"?>
<p:tagLst xmlns:a="http://schemas.openxmlformats.org/drawingml/2006/main" xmlns:r="http://schemas.openxmlformats.org/officeDocument/2006/relationships" xmlns:p="http://schemas.openxmlformats.org/presentationml/2006/main">
  <p:tag name="NUM" val="6"/>
</p:tagLst>
</file>

<file path=ppt/tags/tag238.xml><?xml version="1.0" encoding="utf-8"?>
<p:tagLst xmlns:a="http://schemas.openxmlformats.org/drawingml/2006/main" xmlns:r="http://schemas.openxmlformats.org/officeDocument/2006/relationships" xmlns:p="http://schemas.openxmlformats.org/presentationml/2006/main">
  <p:tag name="NUM" val="7"/>
</p:tagLst>
</file>

<file path=ppt/tags/tag239.xml><?xml version="1.0" encoding="utf-8"?>
<p:tagLst xmlns:a="http://schemas.openxmlformats.org/drawingml/2006/main" xmlns:r="http://schemas.openxmlformats.org/officeDocument/2006/relationships" xmlns:p="http://schemas.openxmlformats.org/presentationml/2006/main">
  <p:tag name="NUM" val="8"/>
</p:tagLst>
</file>

<file path=ppt/tags/tag240.xml><?xml version="1.0" encoding="utf-8"?>
<p:tagLst xmlns:a="http://schemas.openxmlformats.org/drawingml/2006/main" xmlns:r="http://schemas.openxmlformats.org/officeDocument/2006/relationships" xmlns:p="http://schemas.openxmlformats.org/presentationml/2006/main">
  <p:tag name="NUM" val="9"/>
</p:tagLst>
</file>

<file path=ppt/tags/tag241.xml><?xml version="1.0" encoding="utf-8"?>
<p:tagLst xmlns:a="http://schemas.openxmlformats.org/drawingml/2006/main" xmlns:r="http://schemas.openxmlformats.org/officeDocument/2006/relationships" xmlns:p="http://schemas.openxmlformats.org/presentationml/2006/main">
  <p:tag name="NUM" val="10"/>
</p:tagLst>
</file>

<file path=ppt/tags/tag242.xml><?xml version="1.0" encoding="utf-8"?>
<p:tagLst xmlns:a="http://schemas.openxmlformats.org/drawingml/2006/main" xmlns:r="http://schemas.openxmlformats.org/officeDocument/2006/relationships" xmlns:p="http://schemas.openxmlformats.org/presentationml/2006/main">
  <p:tag name="NUM" val="11"/>
</p:tagLst>
</file>

<file path=ppt/tags/tag243.xml><?xml version="1.0" encoding="utf-8"?>
<p:tagLst xmlns:a="http://schemas.openxmlformats.org/drawingml/2006/main" xmlns:r="http://schemas.openxmlformats.org/officeDocument/2006/relationships" xmlns:p="http://schemas.openxmlformats.org/presentationml/2006/main">
  <p:tag name="NUM" val="12"/>
</p:tagLst>
</file>

<file path=ppt/tags/tag244.xml><?xml version="1.0" encoding="utf-8"?>
<p:tagLst xmlns:a="http://schemas.openxmlformats.org/drawingml/2006/main" xmlns:r="http://schemas.openxmlformats.org/officeDocument/2006/relationships" xmlns:p="http://schemas.openxmlformats.org/presentationml/2006/main">
  <p:tag name="NUM" val="13"/>
</p:tagLst>
</file>

<file path=ppt/tags/tag245.xml><?xml version="1.0" encoding="utf-8"?>
<p:tagLst xmlns:a="http://schemas.openxmlformats.org/drawingml/2006/main" xmlns:r="http://schemas.openxmlformats.org/officeDocument/2006/relationships" xmlns:p="http://schemas.openxmlformats.org/presentationml/2006/main">
  <p:tag name="NUM" val="1"/>
</p:tagLst>
</file>

<file path=ppt/tags/tag246.xml><?xml version="1.0" encoding="utf-8"?>
<p:tagLst xmlns:a="http://schemas.openxmlformats.org/drawingml/2006/main" xmlns:r="http://schemas.openxmlformats.org/officeDocument/2006/relationships" xmlns:p="http://schemas.openxmlformats.org/presentationml/2006/main">
  <p:tag name="NUM" val="2"/>
</p:tagLst>
</file>

<file path=ppt/tags/tag247.xml><?xml version="1.0" encoding="utf-8"?>
<p:tagLst xmlns:a="http://schemas.openxmlformats.org/drawingml/2006/main" xmlns:r="http://schemas.openxmlformats.org/officeDocument/2006/relationships" xmlns:p="http://schemas.openxmlformats.org/presentationml/2006/main">
  <p:tag name="NUM" val="3"/>
</p:tagLst>
</file>

<file path=ppt/tags/tag248.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1_Thème Office">
  <a:themeElements>
    <a:clrScheme name="Personnalisé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1F497D"/>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F210C906DD6AF4AAA0745DA7F7D668C" ma:contentTypeVersion="14" ma:contentTypeDescription="Create a new document." ma:contentTypeScope="" ma:versionID="8eeb7237fdd22a0de4de2b9852178c43">
  <xsd:schema xmlns:xsd="http://www.w3.org/2001/XMLSchema" xmlns:xs="http://www.w3.org/2001/XMLSchema" xmlns:p="http://schemas.microsoft.com/office/2006/metadata/properties" xmlns:ns3="9b797739-e8dc-4491-9318-4a619ee9b153" xmlns:ns4="08c3be05-7986-4e38-b56c-c7c4a964138c" targetNamespace="http://schemas.microsoft.com/office/2006/metadata/properties" ma:root="true" ma:fieldsID="59d0b6306d32e823f67d091a518c4f3f" ns3:_="" ns4:_="">
    <xsd:import namespace="9b797739-e8dc-4491-9318-4a619ee9b153"/>
    <xsd:import namespace="08c3be05-7986-4e38-b56c-c7c4a964138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797739-e8dc-4491-9318-4a619ee9b1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8c3be05-7986-4e38-b56c-c7c4a96413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27AAB36-7FB4-4AF5-BFDD-5CFD1C5E6A1F}">
  <ds:schemaRefs>
    <ds:schemaRef ds:uri="08c3be05-7986-4e38-b56c-c7c4a964138c"/>
    <ds:schemaRef ds:uri="9b797739-e8dc-4491-9318-4a619ee9b15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2890E73-5699-4BB9-A57A-10C6FB977C7F}">
  <ds:schemaRefs>
    <ds:schemaRef ds:uri="http://schemas.microsoft.com/sharepoint/v3/contenttype/forms"/>
  </ds:schemaRefs>
</ds:datastoreItem>
</file>

<file path=customXml/itemProps3.xml><?xml version="1.0" encoding="utf-8"?>
<ds:datastoreItem xmlns:ds="http://schemas.openxmlformats.org/officeDocument/2006/customXml" ds:itemID="{5E26450F-9A8B-4D95-8D4A-8B710673398C}">
  <ds:schemaRefs>
    <ds:schemaRef ds:uri="http://schemas.microsoft.com/office/2006/metadata/properties"/>
    <ds:schemaRef ds:uri="9b797739-e8dc-4491-9318-4a619ee9b153"/>
    <ds:schemaRef ds:uri="http://schemas.microsoft.com/office/2006/documentManagement/types"/>
    <ds:schemaRef ds:uri="http://purl.org/dc/elements/1.1/"/>
    <ds:schemaRef ds:uri="http://purl.org/dc/terms/"/>
    <ds:schemaRef ds:uri="08c3be05-7986-4e38-b56c-c7c4a964138c"/>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4008</TotalTime>
  <Words>3976</Words>
  <Application>Microsoft Office PowerPoint</Application>
  <PresentationFormat>Grand écran</PresentationFormat>
  <Paragraphs>785</Paragraphs>
  <Slides>46</Slides>
  <Notes>46</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46</vt:i4>
      </vt:variant>
    </vt:vector>
  </HeadingPairs>
  <TitlesOfParts>
    <vt:vector size="55" baseType="lpstr">
      <vt:lpstr>Arial</vt:lpstr>
      <vt:lpstr>Avenir Next</vt:lpstr>
      <vt:lpstr>Calibri</vt:lpstr>
      <vt:lpstr>Calibri Light</vt:lpstr>
      <vt:lpstr>Gill Sans MT</vt:lpstr>
      <vt:lpstr>Lato Light</vt:lpstr>
      <vt:lpstr>Poppins</vt:lpstr>
      <vt:lpstr>Tw Cen MT</vt:lpstr>
      <vt:lpstr>1_Thème Office</vt:lpstr>
      <vt:lpstr>Comptabilité de gestion (10904) – Séance 4 Séance en classe</vt:lpstr>
      <vt:lpstr>Retour séance 3 - L’analyse différentielle  Le cas de la commande spéciale</vt:lpstr>
      <vt:lpstr>Retour séance 3 - L’analyse différentielle  Le cas de la commande spéciale</vt:lpstr>
      <vt:lpstr>Présentation PowerPoint</vt:lpstr>
      <vt:lpstr>La prise de décision d’exploitation  et les marges</vt:lpstr>
      <vt:lpstr>Présentation PowerPoint</vt:lpstr>
      <vt:lpstr>Objectifs de la séance</vt:lpstr>
      <vt:lpstr>Les décisions d’exploitation</vt:lpstr>
      <vt:lpstr>Coûts spécifiques et Coûts communs  (rappel)</vt:lpstr>
      <vt:lpstr>Concepts clés (rappel)</vt:lpstr>
      <vt:lpstr>Des exemples de  décisions d’exploitation</vt:lpstr>
      <vt:lpstr>Exemple 1: </vt:lpstr>
      <vt:lpstr>Fabriquer ou acheter (sous-traiter) un produit</vt:lpstr>
      <vt:lpstr>Éléments à prendre en considération</vt:lpstr>
      <vt:lpstr>Acheter (sous-traiter) ou fabriquer un produit  Analyse différentielle (situation 1)</vt:lpstr>
      <vt:lpstr>Fabriquer ou acheter (sous-traiter) un produit Analyse différentielle (situation 2)</vt:lpstr>
      <vt:lpstr>Fabriquer ou acheter (sous-traiter) un produit Situation 3 avec un Coût de renonciation</vt:lpstr>
      <vt:lpstr>Fabriquer ou acheter (sous-traiter) un produit Analyse différentielle (situation 3)</vt:lpstr>
      <vt:lpstr> Fabriquer ou acheter (sous-traiter) un produit </vt:lpstr>
      <vt:lpstr>Exemple 2:</vt:lpstr>
      <vt:lpstr>Continuer (ajouter) ou abandonner un produit</vt:lpstr>
      <vt:lpstr>Éléments à prendre en considération</vt:lpstr>
      <vt:lpstr>Continuer (ajouter) ou abandonner un produit Situation 1</vt:lpstr>
      <vt:lpstr>Continuer (ajouter) ou abandonner un produit Situation 2</vt:lpstr>
      <vt:lpstr>Continuer (ajouter) ou abandonner un produit Analyse de rentabilité (les marges)</vt:lpstr>
      <vt:lpstr>Continuer (ajouter) ou abandonner un produit</vt:lpstr>
      <vt:lpstr>La marge sur coûts spécifiques d’un objet de coût</vt:lpstr>
      <vt:lpstr>Calcul de la marge sur coûts spécifiques</vt:lpstr>
      <vt:lpstr>Question de révision – analyse différentielle et analyse de rentabilité (les marges)</vt:lpstr>
      <vt:lpstr>Piste de solution (étudiant)</vt:lpstr>
      <vt:lpstr>Piste de solution (étudiant)</vt:lpstr>
      <vt:lpstr>Exemple 3: </vt:lpstr>
      <vt:lpstr>Choisir parmi une gamme de produits</vt:lpstr>
      <vt:lpstr>Illustration Eléctroflux</vt:lpstr>
      <vt:lpstr>QUESTIONS : </vt:lpstr>
      <vt:lpstr>La marge par unité d’un facteur de production contraignant</vt:lpstr>
      <vt:lpstr>La marge par unité d’un  facteur de production contraignant</vt:lpstr>
      <vt:lpstr>Exemples de facteurs contraignants </vt:lpstr>
      <vt:lpstr>Établir le plan de production optimal (en unités)</vt:lpstr>
      <vt:lpstr>Les marges et la prise de décision</vt:lpstr>
      <vt:lpstr>Analyse des marges - objectifs</vt:lpstr>
      <vt:lpstr>Les marges étudiées jusqu’à présent (sommaire)</vt:lpstr>
      <vt:lpstr>Exercice Pub du plateau 10B.1</vt:lpstr>
      <vt:lpstr>Les décisions d’exploitation (sommaire)</vt:lpstr>
      <vt:lpstr>Conclusion – Séance 4</vt:lpstr>
      <vt:lpstr>QUESTIONS…</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gestion des coûts (3-929-13)</dc:title>
  <dc:creator>denise landry</dc:creator>
  <cp:lastModifiedBy>Loecha Philion</cp:lastModifiedBy>
  <cp:revision>56</cp:revision>
  <cp:lastPrinted>2018-06-20T15:17:28Z</cp:lastPrinted>
  <dcterms:created xsi:type="dcterms:W3CDTF">2018-05-11T17:44:51Z</dcterms:created>
  <dcterms:modified xsi:type="dcterms:W3CDTF">2026-01-22T13:18:50Z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0x0101003F210C906DD6AF4AAA0745DA7F7D668C</vt:lpwstr>
  </property>
</Properties>
</file>