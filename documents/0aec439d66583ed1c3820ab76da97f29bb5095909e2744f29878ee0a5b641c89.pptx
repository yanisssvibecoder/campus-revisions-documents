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7" r:id="rId5"/>
    <p:sldId id="348" r:id="rId6"/>
    <p:sldId id="421" r:id="rId7"/>
    <p:sldId id="391" r:id="rId8"/>
    <p:sldId id="325" r:id="rId9"/>
    <p:sldId id="411" r:id="rId10"/>
    <p:sldId id="478" r:id="rId11"/>
    <p:sldId id="291" r:id="rId12"/>
    <p:sldId id="470" r:id="rId13"/>
    <p:sldId id="426" r:id="rId14"/>
    <p:sldId id="296" r:id="rId15"/>
    <p:sldId id="295" r:id="rId16"/>
    <p:sldId id="403" r:id="rId17"/>
    <p:sldId id="427" r:id="rId18"/>
    <p:sldId id="404" r:id="rId19"/>
    <p:sldId id="428" r:id="rId20"/>
    <p:sldId id="395" r:id="rId21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24F90A-9040-46AB-8144-7456BAD5B834}" v="1" dt="2026-08-03T18:32:37.2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187" autoAdjust="0"/>
  </p:normalViewPr>
  <p:slideViewPr>
    <p:cSldViewPr snapToGrid="0" snapToObjects="1" showGuides="1">
      <p:cViewPr varScale="1">
        <p:scale>
          <a:sx n="116" d="100"/>
          <a:sy n="116" d="100"/>
        </p:scale>
        <p:origin x="99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éronique Poirier" userId="f47eddeb-fe18-424a-aaf6-a2a397d1abf5" providerId="ADAL" clId="{0572368F-0385-4CB3-8215-CD863FFEE4C6}"/>
    <pc:docChg chg="addSld modSld">
      <pc:chgData name="Véronique Poirier" userId="f47eddeb-fe18-424a-aaf6-a2a397d1abf5" providerId="ADAL" clId="{0572368F-0385-4CB3-8215-CD863FFEE4C6}" dt="2026-08-03T18:32:37.220" v="0"/>
      <pc:docMkLst>
        <pc:docMk/>
      </pc:docMkLst>
      <pc:sldChg chg="add">
        <pc:chgData name="Véronique Poirier" userId="f47eddeb-fe18-424a-aaf6-a2a397d1abf5" providerId="ADAL" clId="{0572368F-0385-4CB3-8215-CD863FFEE4C6}" dt="2026-08-03T18:32:37.220" v="0"/>
        <pc:sldMkLst>
          <pc:docMk/>
          <pc:sldMk cId="4112647955" sldId="4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2026-08-03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09946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95852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790826-D90E-4A37-A94F-5762D5AE026D}" type="slidenum">
              <a:rPr lang="fr-CA" smtClean="0"/>
              <a:pPr>
                <a:defRPr/>
              </a:pPr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86885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790826-D90E-4A37-A94F-5762D5AE026D}" type="slidenum">
              <a:rPr lang="fr-CA" smtClean="0"/>
              <a:pPr>
                <a:defRPr/>
              </a:pPr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041600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5439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790826-D90E-4A37-A94F-5762D5AE026D}" type="slidenum">
              <a:rPr lang="fr-CA" smtClean="0"/>
              <a:pPr>
                <a:defRPr/>
              </a:pPr>
              <a:t>8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0381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41115B-A0BB-425A-BACA-BB0A16C93221}" type="slidenum">
              <a:rPr lang="fr-CA"/>
              <a:pPr/>
              <a:t>9</a:t>
            </a:fld>
            <a:endParaRPr lang="fr-CA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34722" y="4427088"/>
            <a:ext cx="5140960" cy="4415790"/>
          </a:xfrm>
          <a:ln/>
        </p:spPr>
        <p:txBody>
          <a:bodyPr lIns="91480" tIns="44938" rIns="91480" bIns="44938"/>
          <a:lstStyle/>
          <a:p>
            <a:endParaRPr lang="en-US"/>
          </a:p>
        </p:txBody>
      </p:sp>
      <p:sp>
        <p:nvSpPr>
          <p:cNvPr id="23449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3738"/>
            <a:ext cx="6191250" cy="3482975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73783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790826-D90E-4A37-A94F-5762D5AE026D}" type="slidenum">
              <a:rPr lang="fr-CA" smtClean="0"/>
              <a:pPr>
                <a:defRPr/>
              </a:pPr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90634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BFDEE4-0D18-4F72-BE63-EBC53A0C28FC}" type="slidenum">
              <a:rPr lang="fr-CA" smtClean="0"/>
              <a:pPr/>
              <a:t>11</a:t>
            </a:fld>
            <a:endParaRPr lang="fr-CA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3788" cy="3473450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6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790826-D90E-4A37-A94F-5762D5AE026D}" type="slidenum">
              <a:rPr lang="fr-CA" smtClean="0"/>
              <a:pPr>
                <a:defRPr/>
              </a:pPr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6461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520934" y="4416428"/>
            <a:ext cx="5554748" cy="4183063"/>
          </a:xfrm>
          <a:noFill/>
          <a:ln/>
        </p:spPr>
        <p:txBody>
          <a:bodyPr/>
          <a:lstStyle/>
          <a:p>
            <a:pPr marL="228589" indent="-228589" eaLnBrk="1" hangingPunct="1"/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D88E0F-1484-49D4-90ED-1E5469401C38}" type="slidenum">
              <a:rPr lang="fr-CA" smtClean="0"/>
              <a:pPr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18912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07666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739775" y="703263"/>
            <a:ext cx="3622675" cy="20383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277831" y="2961071"/>
            <a:ext cx="5797850" cy="5638421"/>
          </a:xfrm>
        </p:spPr>
        <p:txBody>
          <a:bodyPr>
            <a:noAutofit/>
          </a:bodyPr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1A4479-F6F0-41D6-820A-57A10007F44B}" type="slidenum">
              <a:rPr lang="fr-CA" smtClean="0"/>
              <a:pPr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647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71680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68622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7278" y="1"/>
            <a:ext cx="7847542" cy="887678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97139" y="1205179"/>
            <a:ext cx="4266848" cy="411294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533320" y="1205180"/>
            <a:ext cx="4266847" cy="1992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5533320" y="3324491"/>
            <a:ext cx="4266847" cy="19936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177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26/08/03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  <p:sldLayoutId id="2147483670" r:id="rId1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5" Type="http://schemas.openxmlformats.org/officeDocument/2006/relationships/slide" Target="slide3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Gestion des stocks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31366"/>
            <a:ext cx="5353729" cy="200055"/>
          </a:xfrm>
        </p:spPr>
        <p:txBody>
          <a:bodyPr/>
          <a:lstStyle/>
          <a:p>
            <a:r>
              <a:rPr lang="fr-CA" sz="1050" dirty="0"/>
              <a:t>© 2025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623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Zoom de diapositive 5">
                <a:extLst>
                  <a:ext uri="{FF2B5EF4-FFF2-40B4-BE49-F238E27FC236}">
                    <a16:creationId xmlns:a16="http://schemas.microsoft.com/office/drawing/2014/main" id="{E0C0351C-600D-475F-83C4-ED4D75BA15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32462204"/>
                  </p:ext>
                </p:extLst>
              </p:nvPr>
            </p:nvGraphicFramePr>
            <p:xfrm>
              <a:off x="7145677" y="3598215"/>
              <a:ext cx="1311640" cy="819775"/>
            </p:xfrm>
            <a:graphic>
              <a:graphicData uri="http://schemas.microsoft.com/office/powerpoint/2016/slidezoom">
                <pslz:sldZm>
                  <pslz:sldZmObj sldId="421" cId="1068254016">
                    <pslz:zmPr id="{9C882433-3B4C-4298-B4E6-C983871462D1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11640" cy="8197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Zoom de diapositive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E0C0351C-600D-475F-83C4-ED4D75BA15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5677" y="3598215"/>
                <a:ext cx="1311640" cy="8197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" t="32011" r="2741" b="32011"/>
          <a:stretch/>
        </p:blipFill>
        <p:spPr>
          <a:xfrm>
            <a:off x="861070" y="1976148"/>
            <a:ext cx="8437861" cy="2486025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</p:spTree>
    <p:extLst>
      <p:ext uri="{BB962C8B-B14F-4D97-AF65-F5344CB8AC3E}">
        <p14:creationId xmlns:p14="http://schemas.microsoft.com/office/powerpoint/2010/main" val="1068254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Pourquoi et combien?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000" y="1385956"/>
            <a:ext cx="2798975" cy="20985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694" y="3842703"/>
            <a:ext cx="2529472" cy="168591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9468" y="1498290"/>
            <a:ext cx="3386698" cy="22577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710" y="2102878"/>
            <a:ext cx="3373142" cy="2846533"/>
          </a:xfrm>
          <a:prstGeom prst="rect">
            <a:avLst/>
          </a:prstGeom>
        </p:spPr>
      </p:pic>
      <p:pic>
        <p:nvPicPr>
          <p:cNvPr id="115714" name="Image 5" descr="http://airchive.com/blog/wp-content/uploads/2013/06/Renton-737-Moving-Line-Opening-2002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0" y="3567799"/>
            <a:ext cx="3082034" cy="19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925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84" y="451610"/>
            <a:ext cx="8554277" cy="48117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5587E3-0861-455A-AFB0-A7388088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L’analyse ABC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30F396A-1351-4B8E-B17A-7F6B9DAB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19" y="1451488"/>
            <a:ext cx="3721894" cy="22145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AE26C52-067A-4D0D-A3DF-91FC27F37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177" y="1451488"/>
            <a:ext cx="3750469" cy="21574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E8633B-06E7-4D50-AEAB-794622531F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1504" y="3336522"/>
            <a:ext cx="3650456" cy="209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88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7483259-B034-A510-7AC1-038EA947E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49" y="101598"/>
            <a:ext cx="6569261" cy="532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64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A346C307-8B75-44CE-8F68-F05C02BC77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312849"/>
            <a:ext cx="3430400" cy="1929600"/>
          </a:xfrm>
          <a:prstGeom prst="rect">
            <a:avLst/>
          </a:prstGeom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Gestion des stocks : Les coûts en cause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Coût d’acquisition</a:t>
            </a:r>
          </a:p>
          <a:p>
            <a:endParaRPr lang="fr-CA" dirty="0"/>
          </a:p>
          <a:p>
            <a:r>
              <a:rPr lang="fr-CA" dirty="0"/>
              <a:t>Coût de pénurie</a:t>
            </a:r>
          </a:p>
          <a:p>
            <a:endParaRPr lang="fr-CA" dirty="0"/>
          </a:p>
          <a:p>
            <a:r>
              <a:rPr lang="fr-CA" dirty="0"/>
              <a:t>Coût de stockage (entreposage) </a:t>
            </a:r>
          </a:p>
          <a:p>
            <a:endParaRPr lang="fr-CA" dirty="0"/>
          </a:p>
          <a:p>
            <a:r>
              <a:rPr lang="fr-CA" dirty="0"/>
              <a:t>Coût de commande </a:t>
            </a:r>
          </a:p>
          <a:p>
            <a:r>
              <a:rPr lang="fr-CA" dirty="0"/>
              <a:t>    (ou de mise en course)  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17D00455-1EBC-44D7-9EFA-85583F8442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1" y="3437351"/>
            <a:ext cx="3430399" cy="1929600"/>
          </a:xfrm>
          <a:prstGeom prst="rect">
            <a:avLst/>
          </a:prstGeom>
        </p:spPr>
      </p:pic>
      <p:sp>
        <p:nvSpPr>
          <p:cNvPr id="12" name="Accolade fermante 11">
            <a:extLst>
              <a:ext uri="{FF2B5EF4-FFF2-40B4-BE49-F238E27FC236}">
                <a16:creationId xmlns:a16="http://schemas.microsoft.com/office/drawing/2014/main" id="{ED40C3AD-F4BF-4857-B8FE-AE815EF68654}"/>
              </a:ext>
            </a:extLst>
          </p:cNvPr>
          <p:cNvSpPr/>
          <p:nvPr/>
        </p:nvSpPr>
        <p:spPr>
          <a:xfrm>
            <a:off x="3730907" y="2201337"/>
            <a:ext cx="462987" cy="936103"/>
          </a:xfrm>
          <a:prstGeom prst="rightBrac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72C0A17-9A57-4D62-962F-12E0650AFA21}"/>
              </a:ext>
            </a:extLst>
          </p:cNvPr>
          <p:cNvCxnSpPr>
            <a:stCxn id="12" idx="1"/>
            <a:endCxn id="6" idx="1"/>
          </p:cNvCxnSpPr>
          <p:nvPr/>
        </p:nvCxnSpPr>
        <p:spPr>
          <a:xfrm flipV="1">
            <a:off x="4193894" y="2277649"/>
            <a:ext cx="2003706" cy="3917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ccolade fermante 17">
            <a:extLst>
              <a:ext uri="{FF2B5EF4-FFF2-40B4-BE49-F238E27FC236}">
                <a16:creationId xmlns:a16="http://schemas.microsoft.com/office/drawing/2014/main" id="{A5391E61-C315-4BA6-A97C-F2E6807B6463}"/>
              </a:ext>
            </a:extLst>
          </p:cNvPr>
          <p:cNvSpPr/>
          <p:nvPr/>
        </p:nvSpPr>
        <p:spPr>
          <a:xfrm>
            <a:off x="3748586" y="3281894"/>
            <a:ext cx="462987" cy="936103"/>
          </a:xfrm>
          <a:prstGeom prst="rightBrac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D0C6775-5E06-4B2E-9E02-4466A584AFFB}"/>
              </a:ext>
            </a:extLst>
          </p:cNvPr>
          <p:cNvCxnSpPr>
            <a:stCxn id="18" idx="1"/>
          </p:cNvCxnSpPr>
          <p:nvPr/>
        </p:nvCxnSpPr>
        <p:spPr>
          <a:xfrm>
            <a:off x="4211573" y="3749946"/>
            <a:ext cx="1848033" cy="652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04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Combien et quand commander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24002" y="2761348"/>
            <a:ext cx="3160889" cy="7478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Quand commander?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24002" y="1830016"/>
            <a:ext cx="3160889" cy="7478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Combien commander?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24002" y="3691469"/>
            <a:ext cx="6566523" cy="74789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Avoir le bon produit au bon moment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5526" y="1830016"/>
            <a:ext cx="3174999" cy="1679222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000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Tout en minimisant </a:t>
            </a:r>
          </a:p>
          <a:p>
            <a:pPr algn="ctr"/>
            <a:r>
              <a:rPr lang="fr-CA" sz="2000" i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les coûts</a:t>
            </a:r>
            <a:endParaRPr lang="fr-CA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00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445947"/>
              </p:ext>
            </p:extLst>
          </p:nvPr>
        </p:nvGraphicFramePr>
        <p:xfrm>
          <a:off x="3522626" y="2920065"/>
          <a:ext cx="51077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640" imgH="228600" progId="Equation.3">
                  <p:embed/>
                </p:oleObj>
              </mc:Choice>
              <mc:Fallback>
                <p:oleObj name="Equation" r:id="rId3" imgW="215640" imgH="228600" progId="Equation.3">
                  <p:embed/>
                  <p:pic>
                    <p:nvPicPr>
                      <p:cNvPr id="3074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26" y="2920065"/>
                        <a:ext cx="510778" cy="4000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70C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953754"/>
              </p:ext>
            </p:extLst>
          </p:nvPr>
        </p:nvGraphicFramePr>
        <p:xfrm>
          <a:off x="1616386" y="1556300"/>
          <a:ext cx="4836319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68480" imgH="419040" progId="Equation.3">
                  <p:embed/>
                </p:oleObj>
              </mc:Choice>
              <mc:Fallback>
                <p:oleObj name="Equation" r:id="rId5" imgW="1968480" imgH="419040" progId="Equation.3">
                  <p:embed/>
                  <p:pic>
                    <p:nvPicPr>
                      <p:cNvPr id="3075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386" y="1556300"/>
                        <a:ext cx="4836319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AutoShape 14"/>
          <p:cNvSpPr>
            <a:spLocks/>
          </p:cNvSpPr>
          <p:nvPr/>
        </p:nvSpPr>
        <p:spPr bwMode="auto">
          <a:xfrm rot="5400000">
            <a:off x="3563068" y="1529801"/>
            <a:ext cx="381000" cy="2184145"/>
          </a:xfrm>
          <a:prstGeom prst="rightBrace">
            <a:avLst>
              <a:gd name="adj1" fmla="val 27135"/>
              <a:gd name="adj2" fmla="val 50000"/>
            </a:avLst>
          </a:prstGeom>
          <a:noFill/>
          <a:ln w="12700">
            <a:solidFill>
              <a:srgbClr val="0070C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079" name="AutoShape 15"/>
          <p:cNvSpPr>
            <a:spLocks/>
          </p:cNvSpPr>
          <p:nvPr/>
        </p:nvSpPr>
        <p:spPr bwMode="auto">
          <a:xfrm rot="5400000">
            <a:off x="5609485" y="1878233"/>
            <a:ext cx="381000" cy="1435894"/>
          </a:xfrm>
          <a:prstGeom prst="rightBrace">
            <a:avLst>
              <a:gd name="adj1" fmla="val 31406"/>
              <a:gd name="adj2" fmla="val 50000"/>
            </a:avLst>
          </a:prstGeom>
          <a:noFill/>
          <a:ln w="12700">
            <a:solidFill>
              <a:srgbClr val="0070C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graphicFrame>
        <p:nvGraphicFramePr>
          <p:cNvPr id="3076" name="Object 1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834816"/>
              </p:ext>
            </p:extLst>
          </p:nvPr>
        </p:nvGraphicFramePr>
        <p:xfrm>
          <a:off x="5583291" y="2892837"/>
          <a:ext cx="498872" cy="444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228600" progId="Equation.3">
                  <p:embed/>
                </p:oleObj>
              </mc:Choice>
              <mc:Fallback>
                <p:oleObj name="Equation" r:id="rId7" imgW="215640" imgH="228600" progId="Equation.3">
                  <p:embed/>
                  <p:pic>
                    <p:nvPicPr>
                      <p:cNvPr id="3076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91" y="2892837"/>
                        <a:ext cx="498872" cy="44410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70C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Calcul du coût total annuel</a:t>
            </a:r>
          </a:p>
        </p:txBody>
      </p:sp>
      <p:graphicFrame>
        <p:nvGraphicFramePr>
          <p:cNvPr id="3077" name="Object 24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925517854"/>
              </p:ext>
            </p:extLst>
          </p:nvPr>
        </p:nvGraphicFramePr>
        <p:xfrm>
          <a:off x="7207600" y="2871032"/>
          <a:ext cx="4968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228600" progId="Equation.3">
                  <p:embed/>
                </p:oleObj>
              </mc:Choice>
              <mc:Fallback>
                <p:oleObj name="Equation" r:id="rId9" imgW="215640" imgH="228600" progId="Equation.3">
                  <p:embed/>
                  <p:pic>
                    <p:nvPicPr>
                      <p:cNvPr id="3077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600" y="2871032"/>
                        <a:ext cx="496887" cy="4857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>
                            <a:lumMod val="75000"/>
                          </a:schemeClr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AutoShape 23"/>
          <p:cNvSpPr>
            <a:spLocks/>
          </p:cNvSpPr>
          <p:nvPr/>
        </p:nvSpPr>
        <p:spPr bwMode="auto">
          <a:xfrm rot="5400000">
            <a:off x="7265543" y="1903926"/>
            <a:ext cx="381000" cy="1435894"/>
          </a:xfrm>
          <a:prstGeom prst="rightBrace">
            <a:avLst>
              <a:gd name="adj1" fmla="val 31406"/>
              <a:gd name="adj2" fmla="val 50000"/>
            </a:avLst>
          </a:prstGeom>
          <a:noFill/>
          <a:ln w="12700">
            <a:solidFill>
              <a:schemeClr val="accent1">
                <a:lumMod val="75000"/>
              </a:schemeClr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 sz="1350"/>
          </a:p>
        </p:txBody>
      </p:sp>
      <p:sp>
        <p:nvSpPr>
          <p:cNvPr id="3083" name="Text Box 29"/>
          <p:cNvSpPr txBox="1">
            <a:spLocks noChangeArrowheads="1"/>
          </p:cNvSpPr>
          <p:nvPr/>
        </p:nvSpPr>
        <p:spPr bwMode="auto">
          <a:xfrm>
            <a:off x="2142153" y="3630370"/>
            <a:ext cx="3024188" cy="17081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CT : Coût total annuel</a:t>
            </a:r>
          </a:p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DT : Demande annuelle</a:t>
            </a:r>
          </a:p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QC : Quantité commandée</a:t>
            </a:r>
          </a:p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C</a:t>
            </a:r>
            <a:r>
              <a:rPr lang="fr-CA" sz="1500" baseline="-25000" dirty="0">
                <a:latin typeface="Times New Roman" pitchFamily="18" charset="0"/>
              </a:rPr>
              <a:t>e</a:t>
            </a:r>
            <a:r>
              <a:rPr lang="fr-CA" sz="1500" dirty="0">
                <a:latin typeface="Times New Roman" pitchFamily="18" charset="0"/>
              </a:rPr>
              <a:t> : Coût annuel de stockage unitaire</a:t>
            </a:r>
          </a:p>
          <a:p>
            <a:pPr>
              <a:spcBef>
                <a:spcPct val="50000"/>
              </a:spcBef>
            </a:pPr>
            <a:r>
              <a:rPr lang="fr-CA" sz="1500" dirty="0" err="1">
                <a:latin typeface="Times New Roman" pitchFamily="18" charset="0"/>
              </a:rPr>
              <a:t>C</a:t>
            </a:r>
            <a:r>
              <a:rPr lang="fr-CA" sz="1500" baseline="-25000" dirty="0" err="1">
                <a:latin typeface="Times New Roman" pitchFamily="18" charset="0"/>
              </a:rPr>
              <a:t>te</a:t>
            </a:r>
            <a:r>
              <a:rPr lang="fr-CA" sz="1500" dirty="0">
                <a:latin typeface="Times New Roman" pitchFamily="18" charset="0"/>
              </a:rPr>
              <a:t> : Coût annuel de stockage total</a:t>
            </a:r>
          </a:p>
        </p:txBody>
      </p:sp>
      <p:sp>
        <p:nvSpPr>
          <p:cNvPr id="3084" name="Text Box 31"/>
          <p:cNvSpPr txBox="1">
            <a:spLocks noChangeArrowheads="1"/>
          </p:cNvSpPr>
          <p:nvPr/>
        </p:nvSpPr>
        <p:spPr bwMode="auto">
          <a:xfrm>
            <a:off x="5187772" y="3625608"/>
            <a:ext cx="3181350" cy="170816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C</a:t>
            </a:r>
            <a:r>
              <a:rPr lang="fr-CA" sz="1500" baseline="-25000" dirty="0">
                <a:latin typeface="Times New Roman" pitchFamily="18" charset="0"/>
              </a:rPr>
              <a:t>c</a:t>
            </a:r>
            <a:r>
              <a:rPr lang="fr-CA" sz="1500" dirty="0">
                <a:latin typeface="Times New Roman" pitchFamily="18" charset="0"/>
              </a:rPr>
              <a:t> : Coût de commande unitaire</a:t>
            </a:r>
          </a:p>
          <a:p>
            <a:pPr>
              <a:spcBef>
                <a:spcPct val="50000"/>
              </a:spcBef>
            </a:pPr>
            <a:r>
              <a:rPr lang="fr-CA" sz="1500" dirty="0" err="1">
                <a:latin typeface="Times New Roman" pitchFamily="18" charset="0"/>
              </a:rPr>
              <a:t>C</a:t>
            </a:r>
            <a:r>
              <a:rPr lang="fr-CA" sz="1500" baseline="-25000" dirty="0" err="1">
                <a:latin typeface="Times New Roman" pitchFamily="18" charset="0"/>
              </a:rPr>
              <a:t>tc</a:t>
            </a:r>
            <a:r>
              <a:rPr lang="fr-CA" sz="1500" dirty="0">
                <a:latin typeface="Times New Roman" pitchFamily="18" charset="0"/>
              </a:rPr>
              <a:t> : Coût annuel de commande total</a:t>
            </a:r>
          </a:p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C</a:t>
            </a:r>
            <a:r>
              <a:rPr lang="fr-CA" sz="1500" baseline="-25000" dirty="0">
                <a:latin typeface="Times New Roman" pitchFamily="18" charset="0"/>
              </a:rPr>
              <a:t>a</a:t>
            </a:r>
            <a:r>
              <a:rPr lang="fr-CA" sz="1500" dirty="0">
                <a:latin typeface="Times New Roman" pitchFamily="18" charset="0"/>
              </a:rPr>
              <a:t> : Coût d’acquisition unitaire</a:t>
            </a:r>
          </a:p>
          <a:p>
            <a:pPr>
              <a:spcBef>
                <a:spcPct val="50000"/>
              </a:spcBef>
            </a:pPr>
            <a:r>
              <a:rPr lang="fr-CA" sz="1500" dirty="0" err="1">
                <a:latin typeface="Times New Roman" pitchFamily="18" charset="0"/>
              </a:rPr>
              <a:t>C</a:t>
            </a:r>
            <a:r>
              <a:rPr lang="fr-CA" sz="1500" baseline="-25000" dirty="0" err="1">
                <a:latin typeface="Times New Roman" pitchFamily="18" charset="0"/>
              </a:rPr>
              <a:t>ta</a:t>
            </a:r>
            <a:r>
              <a:rPr lang="fr-CA" sz="1500" dirty="0">
                <a:latin typeface="Times New Roman" pitchFamily="18" charset="0"/>
              </a:rPr>
              <a:t> : Coût annuel d’acquisition</a:t>
            </a:r>
          </a:p>
          <a:p>
            <a:pPr>
              <a:spcBef>
                <a:spcPct val="50000"/>
              </a:spcBef>
            </a:pPr>
            <a:r>
              <a:rPr lang="fr-CA" sz="1500" dirty="0">
                <a:latin typeface="Times New Roman" pitchFamily="18" charset="0"/>
              </a:rPr>
              <a:t>SS : Stock de sécurité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6517934" y="1767161"/>
            <a:ext cx="171131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7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DT × C</a:t>
            </a:r>
            <a:r>
              <a:rPr lang="fr-CA" sz="2700" i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CA" sz="2700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03107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6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Graphique des coûts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725" y="1500910"/>
            <a:ext cx="6858000" cy="38576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912" y="3714376"/>
            <a:ext cx="1389170" cy="26112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1675" y="2244924"/>
            <a:ext cx="1271330" cy="2696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2212" name="Object 4"/>
              <p:cNvSpPr txBox="1"/>
              <p:nvPr/>
            </p:nvSpPr>
            <p:spPr bwMode="auto">
              <a:xfrm>
                <a:off x="4169311" y="1725342"/>
                <a:ext cx="4370606" cy="10227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CA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𝑄𝐸𝐶</m:t>
                      </m:r>
                      <m:r>
                        <a:rPr lang="fr-CA" sz="27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fr-CA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fr-CA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2×</m:t>
                              </m:r>
                              <m:r>
                                <a:rPr lang="fr-CA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𝐷𝑇</m:t>
                              </m:r>
                              <m:r>
                                <a:rPr lang="fr-CA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fr-CA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CA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CA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CA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𝐶𝑒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fr-CA" sz="2700" dirty="0"/>
              </a:p>
            </p:txBody>
          </p:sp>
        </mc:Choice>
        <mc:Fallback xmlns="">
          <p:sp>
            <p:nvSpPr>
              <p:cNvPr id="22221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9311" y="1725342"/>
                <a:ext cx="4370606" cy="1022747"/>
              </a:xfrm>
              <a:prstGeom prst="rect">
                <a:avLst/>
              </a:prstGeom>
              <a:blipFill>
                <a:blip r:embed="rId3"/>
                <a:stretch>
                  <a:fillRect b="-232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9" name="Object 13"/>
              <p:cNvSpPr txBox="1"/>
              <p:nvPr/>
            </p:nvSpPr>
            <p:spPr bwMode="auto">
              <a:xfrm>
                <a:off x="4169311" y="3396352"/>
                <a:ext cx="588169" cy="2821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𝐷𝑇</m:t>
                      </m:r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CA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9311" y="3396352"/>
                <a:ext cx="588169" cy="28217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3" name="Rectangle 14"/>
          <p:cNvSpPr>
            <a:spLocks noChangeArrowheads="1"/>
          </p:cNvSpPr>
          <p:nvPr/>
        </p:nvSpPr>
        <p:spPr bwMode="auto">
          <a:xfrm>
            <a:off x="5111094" y="4261938"/>
            <a:ext cx="2872581" cy="30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eaLnBrk="0" hangingPunct="0"/>
            <a:r>
              <a:rPr lang="fr-CA" sz="1500">
                <a:latin typeface="Times New Roman" pitchFamily="18" charset="0"/>
              </a:rPr>
              <a:t>Quantité économique à commander</a:t>
            </a:r>
          </a:p>
        </p:txBody>
      </p:sp>
      <p:sp>
        <p:nvSpPr>
          <p:cNvPr id="4104" name="Rectangle 15"/>
          <p:cNvSpPr>
            <a:spLocks noChangeArrowheads="1"/>
          </p:cNvSpPr>
          <p:nvPr/>
        </p:nvSpPr>
        <p:spPr bwMode="auto">
          <a:xfrm>
            <a:off x="5111095" y="3669006"/>
            <a:ext cx="3290965" cy="30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eaLnBrk="0" hangingPunct="0"/>
            <a:r>
              <a:rPr lang="fr-CA" sz="1500" dirty="0">
                <a:latin typeface="Times New Roman" pitchFamily="18" charset="0"/>
              </a:rPr>
              <a:t>Coût unitaire pour passer une commande</a:t>
            </a:r>
          </a:p>
        </p:txBody>
      </p:sp>
      <p:sp>
        <p:nvSpPr>
          <p:cNvPr id="4105" name="Rectangle 16"/>
          <p:cNvSpPr>
            <a:spLocks noChangeArrowheads="1"/>
          </p:cNvSpPr>
          <p:nvPr/>
        </p:nvSpPr>
        <p:spPr bwMode="auto">
          <a:xfrm>
            <a:off x="5111094" y="3969044"/>
            <a:ext cx="2938304" cy="30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eaLnBrk="0" hangingPunct="0"/>
            <a:r>
              <a:rPr lang="fr-CA" sz="1500">
                <a:latin typeface="Times New Roman" pitchFamily="18" charset="0"/>
              </a:rPr>
              <a:t>Coût de stockage annuel d’une unité</a:t>
            </a:r>
          </a:p>
        </p:txBody>
      </p:sp>
      <p:sp>
        <p:nvSpPr>
          <p:cNvPr id="4106" name="Rectangle 17"/>
          <p:cNvSpPr>
            <a:spLocks noChangeArrowheads="1"/>
          </p:cNvSpPr>
          <p:nvPr/>
        </p:nvSpPr>
        <p:spPr bwMode="auto">
          <a:xfrm>
            <a:off x="5111095" y="3383256"/>
            <a:ext cx="1572545" cy="30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9056" tIns="34529" rIns="69056" bIns="34529">
            <a:spAutoFit/>
          </a:bodyPr>
          <a:lstStyle/>
          <a:p>
            <a:pPr eaLnBrk="0" hangingPunct="0"/>
            <a:r>
              <a:rPr lang="fr-CA" sz="1500">
                <a:latin typeface="Times New Roman" pitchFamily="18" charset="0"/>
              </a:rPr>
              <a:t>Demande annuelle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00" name="Object 18"/>
              <p:cNvSpPr txBox="1"/>
              <p:nvPr/>
            </p:nvSpPr>
            <p:spPr bwMode="auto">
              <a:xfrm>
                <a:off x="4116921" y="4297656"/>
                <a:ext cx="757238" cy="3286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𝑄𝐸𝐶</m:t>
                      </m:r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CA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0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6921" y="4297656"/>
                <a:ext cx="757238" cy="328613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1" name="Object 19"/>
              <p:cNvSpPr txBox="1"/>
              <p:nvPr/>
            </p:nvSpPr>
            <p:spPr bwMode="auto">
              <a:xfrm>
                <a:off x="4159785" y="3669006"/>
                <a:ext cx="619125" cy="371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CA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0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9785" y="3669006"/>
                <a:ext cx="619125" cy="3714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02" name="Object 20"/>
              <p:cNvSpPr txBox="1"/>
              <p:nvPr/>
            </p:nvSpPr>
            <p:spPr bwMode="auto">
              <a:xfrm>
                <a:off x="4159786" y="3979759"/>
                <a:ext cx="620315" cy="371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CA" sz="1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fr-CA" sz="1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</m:oMath>
                  </m:oMathPara>
                </a14:m>
                <a:endParaRPr lang="fr-CA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02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9786" y="3979759"/>
                <a:ext cx="620315" cy="3714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7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Calcul de la QEC</a:t>
            </a:r>
          </a:p>
        </p:txBody>
      </p:sp>
      <p:pic>
        <p:nvPicPr>
          <p:cNvPr id="12" name="Picture 2" descr="Beverages, Beer Box, Beer, Bottle, Beer Bottles, Drink">
            <a:extLst>
              <a:ext uri="{FF2B5EF4-FFF2-40B4-BE49-F238E27FC236}">
                <a16:creationId xmlns:a16="http://schemas.microsoft.com/office/drawing/2014/main" id="{AAFE8A81-C3EC-4980-8DB8-05388F646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0" y="1439536"/>
            <a:ext cx="2609088" cy="391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: Calculs QEC et coût total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2000" y="1577975"/>
            <a:ext cx="8067000" cy="3187700"/>
          </a:xfrm>
        </p:spPr>
        <p:txBody>
          <a:bodyPr/>
          <a:lstStyle/>
          <a:p>
            <a:pPr marL="0" indent="0" algn="just">
              <a:buNone/>
            </a:pPr>
            <a:r>
              <a:rPr lang="fr-CA" dirty="0"/>
              <a:t>Un fabricant de jouets dépense 96 000 $ en morceaux de silicone par année. Les morceaux sont consommés à taux constant pendant les 240 jours de l’année où l’usine est en activité. Le coût annuel de stockage représente 20 % du coût d’acquisition. Le coût de commande est de 24 $. Le coût unitaire d’acquisition est de 3 $.</a:t>
            </a:r>
          </a:p>
          <a:p>
            <a:pPr algn="just"/>
            <a:endParaRPr lang="fr-CA" dirty="0"/>
          </a:p>
          <a:p>
            <a:pPr marL="0" indent="0" algn="just">
              <a:buNone/>
            </a:pPr>
            <a:r>
              <a:rPr lang="fr-CA" dirty="0"/>
              <a:t>Déterminez :</a:t>
            </a:r>
          </a:p>
          <a:p>
            <a:pPr marL="641700" lvl="1" indent="-342900" algn="just">
              <a:buSzPct val="100000"/>
              <a:buFont typeface="+mj-lt"/>
              <a:buAutoNum type="arabicPeriod"/>
            </a:pPr>
            <a:r>
              <a:rPr lang="fr-CA" dirty="0"/>
              <a:t>La quantité économique à commander.</a:t>
            </a:r>
          </a:p>
          <a:p>
            <a:pPr marL="641700" lvl="1" indent="-342900" algn="just">
              <a:buSzPct val="100000"/>
              <a:buFont typeface="+mj-lt"/>
              <a:buAutoNum type="arabicPeriod"/>
            </a:pPr>
            <a:r>
              <a:rPr lang="fr-CA" dirty="0"/>
              <a:t>Le coût total annuel de gestion des stocks lié à cette quantité.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AD5D8475-07AD-435F-8EE8-DC02AEBA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058" y="3277742"/>
            <a:ext cx="2098942" cy="1325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21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97997-0011-4CF2-BBAE-322B220E9F8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fr-CA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11178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Exercice : Calculs QEC et coût total</a:t>
            </a:r>
            <a:endParaRPr lang="en-US" dirty="0"/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2000" y="1577975"/>
            <a:ext cx="8067000" cy="3187700"/>
          </a:xfrm>
        </p:spPr>
        <p:txBody>
          <a:bodyPr/>
          <a:lstStyle/>
          <a:p>
            <a:pPr marL="0" indent="0">
              <a:buNone/>
            </a:pPr>
            <a:r>
              <a:rPr lang="fr-CA" dirty="0"/>
              <a:t>Un distributeur de fruits et de légumes utilise 800 cageots par mois à raison de 10 $ l’unité. La gérante a estimé le coût de possession annuel à 35 % du prix d’achat par cageot et les coûts de commande, à 28 $.  Actuellement, elle place une commande par mois.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Déterminez :</a:t>
            </a:r>
          </a:p>
          <a:p>
            <a:pPr marL="641700" lvl="1" indent="-342900">
              <a:buSzPct val="100000"/>
              <a:buFont typeface="+mj-lt"/>
              <a:buAutoNum type="arabicPeriod"/>
            </a:pPr>
            <a:r>
              <a:rPr lang="fr-FR" dirty="0"/>
              <a:t>Le coût total annuel de gestion des stocks selon la politique actuelle de gestion des cageots.</a:t>
            </a:r>
          </a:p>
          <a:p>
            <a:pPr marL="641700" lvl="1" indent="-342900">
              <a:buSzPct val="100000"/>
              <a:buFont typeface="+mj-lt"/>
              <a:buAutoNum type="arabicPeriod"/>
            </a:pPr>
            <a:r>
              <a:rPr lang="fr-FR" dirty="0"/>
              <a:t>La QEC.</a:t>
            </a:r>
          </a:p>
          <a:p>
            <a:pPr marL="641700" lvl="1" indent="-342900">
              <a:buSzPct val="100000"/>
              <a:buFont typeface="+mj-lt"/>
              <a:buAutoNum type="arabicPeriod"/>
            </a:pPr>
            <a:r>
              <a:rPr lang="fr-FR" dirty="0"/>
              <a:t>Les économies annuelles si elle utilisait la QEC? </a:t>
            </a:r>
            <a:endParaRPr lang="en-US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0540F12E-B059-4FAD-B004-255E315B7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094" y="3995697"/>
            <a:ext cx="2215811" cy="154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9703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97997-0011-4CF2-BBAE-322B220E9F8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fr-CA" dirty="0"/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420725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eate a new document." ma:contentTypeScope="" ma:versionID="3c475ebf5c37c9908ef278591141ee10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f940d8203d3249c8262e44e123d73b5d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E28F2A-DBF2-4DB5-9E20-E721178769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F6BE8F-BE9B-4135-9D88-D4617ACCBA3A}">
  <ds:schemaRefs>
    <ds:schemaRef ds:uri="http://purl.org/dc/dcmitype/"/>
    <ds:schemaRef ds:uri="http://schemas.microsoft.com/office/infopath/2007/PartnerControls"/>
    <ds:schemaRef ds:uri="http://purl.org/dc/terms/"/>
    <ds:schemaRef ds:uri="http://schemas.microsoft.com/office/2006/metadata/properties"/>
    <ds:schemaRef ds:uri="abcda3d6-2d03-49e1-9293-8daf0cc773fd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4B723A3-3BA5-41D4-9401-CD2D2AE877B9}"/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383</Words>
  <Application>Microsoft Office PowerPoint</Application>
  <PresentationFormat>Personnalisé</PresentationFormat>
  <Paragraphs>77</Paragraphs>
  <Slides>17</Slides>
  <Notes>16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Lato Light</vt:lpstr>
      <vt:lpstr>Times New Roman</vt:lpstr>
      <vt:lpstr>Thème HEC</vt:lpstr>
      <vt:lpstr>Equation</vt:lpstr>
      <vt:lpstr>OPER10500 Gestion des opérations</vt:lpstr>
      <vt:lpstr>Carte conceptuelle</vt:lpstr>
      <vt:lpstr>Carte conceptuelle</vt:lpstr>
      <vt:lpstr>Pourquoi et combien?</vt:lpstr>
      <vt:lpstr>Présentation PowerPoint</vt:lpstr>
      <vt:lpstr>L’analyse ABC</vt:lpstr>
      <vt:lpstr>Présentation PowerPoint</vt:lpstr>
      <vt:lpstr>Gestion des stocks : Les coûts en cause</vt:lpstr>
      <vt:lpstr>Combien et quand commander</vt:lpstr>
      <vt:lpstr>Calcul du coût total annuel</vt:lpstr>
      <vt:lpstr>Graphique des coûts</vt:lpstr>
      <vt:lpstr>Calcul de la QEC</vt:lpstr>
      <vt:lpstr>Exercice : Calculs QEC et coût total</vt:lpstr>
      <vt:lpstr>Solution</vt:lpstr>
      <vt:lpstr>Exercice : Calculs QEC et coût total</vt:lpstr>
      <vt:lpstr>Solution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veronique poirier</dc:creator>
  <cp:lastModifiedBy>Véronique Poirier</cp:lastModifiedBy>
  <cp:revision>57</cp:revision>
  <dcterms:created xsi:type="dcterms:W3CDTF">2020-06-30T18:50:58Z</dcterms:created>
  <dcterms:modified xsi:type="dcterms:W3CDTF">2026-08-03T18:32:42Z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