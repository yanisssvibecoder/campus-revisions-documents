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8"/>
  </p:notesMasterIdLst>
  <p:sldIdLst>
    <p:sldId id="291" r:id="rId5"/>
    <p:sldId id="258" r:id="rId6"/>
    <p:sldId id="256" r:id="rId7"/>
    <p:sldId id="2147482465" r:id="rId8"/>
    <p:sldId id="2147482427" r:id="rId9"/>
    <p:sldId id="2147482464" r:id="rId10"/>
    <p:sldId id="2147482468" r:id="rId11"/>
    <p:sldId id="2147482467" r:id="rId12"/>
    <p:sldId id="257" r:id="rId13"/>
    <p:sldId id="2147482466" r:id="rId14"/>
    <p:sldId id="2147482469" r:id="rId15"/>
    <p:sldId id="2147482470" r:id="rId16"/>
    <p:sldId id="324" r:id="rId17"/>
    <p:sldId id="325" r:id="rId18"/>
    <p:sldId id="2147482473" r:id="rId19"/>
    <p:sldId id="2147482450" r:id="rId20"/>
    <p:sldId id="2147482480" r:id="rId21"/>
    <p:sldId id="2147482479" r:id="rId22"/>
    <p:sldId id="2147482481" r:id="rId23"/>
    <p:sldId id="2147482474" r:id="rId24"/>
    <p:sldId id="4133" r:id="rId25"/>
    <p:sldId id="2147482475" r:id="rId26"/>
    <p:sldId id="4137" r:id="rId27"/>
  </p:sldIdLst>
  <p:sldSz cx="9144000" cy="5715000" type="screen16x1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00000"/>
    <a:srgbClr val="F0EB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590"/>
  </p:normalViewPr>
  <p:slideViewPr>
    <p:cSldViewPr snapToGrid="0">
      <p:cViewPr varScale="1">
        <p:scale>
          <a:sx n="93" d="100"/>
          <a:sy n="93" d="100"/>
        </p:scale>
        <p:origin x="1301" y="72"/>
      </p:cViewPr>
      <p:guideLst/>
    </p:cSldViewPr>
  </p:slideViewPr>
  <p:notesTextViewPr>
    <p:cViewPr>
      <p:scale>
        <a:sx n="1" d="1"/>
        <a:sy n="1" d="1"/>
      </p:scale>
      <p:origin x="0" y="0"/>
    </p:cViewPr>
  </p:notesTextViewPr>
  <p:sorterViewPr>
    <p:cViewPr>
      <p:scale>
        <a:sx n="100" d="100"/>
        <a:sy n="100" d="100"/>
      </p:scale>
      <p:origin x="0" y="-11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Christine Albert" userId="92be09ad-f68b-4da4-9d23-5d96f19a2174" providerId="ADAL" clId="{0D4468B7-707B-4BE9-8337-A7AE689FF0DB}"/>
    <pc:docChg chg="delSld">
      <pc:chgData name="Marie-Christine Albert" userId="92be09ad-f68b-4da4-9d23-5d96f19a2174" providerId="ADAL" clId="{0D4468B7-707B-4BE9-8337-A7AE689FF0DB}" dt="2026-09-17T19:08:59.999" v="4" actId="47"/>
      <pc:docMkLst>
        <pc:docMk/>
      </pc:docMkLst>
      <pc:sldChg chg="del">
        <pc:chgData name="Marie-Christine Albert" userId="92be09ad-f68b-4da4-9d23-5d96f19a2174" providerId="ADAL" clId="{0D4468B7-707B-4BE9-8337-A7AE689FF0DB}" dt="2026-09-17T19:08:36.658" v="2" actId="47"/>
        <pc:sldMkLst>
          <pc:docMk/>
          <pc:sldMk cId="2661893996" sldId="326"/>
        </pc:sldMkLst>
      </pc:sldChg>
      <pc:sldChg chg="del">
        <pc:chgData name="Marie-Christine Albert" userId="92be09ad-f68b-4da4-9d23-5d96f19a2174" providerId="ADAL" clId="{0D4468B7-707B-4BE9-8337-A7AE689FF0DB}" dt="2026-09-17T19:08:46.517" v="3" actId="47"/>
        <pc:sldMkLst>
          <pc:docMk/>
          <pc:sldMk cId="1876859413" sldId="4237"/>
        </pc:sldMkLst>
      </pc:sldChg>
      <pc:sldChg chg="del">
        <pc:chgData name="Marie-Christine Albert" userId="92be09ad-f68b-4da4-9d23-5d96f19a2174" providerId="ADAL" clId="{0D4468B7-707B-4BE9-8337-A7AE689FF0DB}" dt="2026-09-17T19:08:24.588" v="0" actId="47"/>
        <pc:sldMkLst>
          <pc:docMk/>
          <pc:sldMk cId="118207929" sldId="2147482461"/>
        </pc:sldMkLst>
      </pc:sldChg>
      <pc:sldChg chg="del">
        <pc:chgData name="Marie-Christine Albert" userId="92be09ad-f68b-4da4-9d23-5d96f19a2174" providerId="ADAL" clId="{0D4468B7-707B-4BE9-8337-A7AE689FF0DB}" dt="2026-09-17T19:08:59.999" v="4" actId="47"/>
        <pc:sldMkLst>
          <pc:docMk/>
          <pc:sldMk cId="0" sldId="2147482482"/>
        </pc:sldMkLst>
      </pc:sldChg>
      <pc:sldChg chg="del">
        <pc:chgData name="Marie-Christine Albert" userId="92be09ad-f68b-4da4-9d23-5d96f19a2174" providerId="ADAL" clId="{0D4468B7-707B-4BE9-8337-A7AE689FF0DB}" dt="2026-09-17T19:08:29.857" v="1" actId="47"/>
        <pc:sldMkLst>
          <pc:docMk/>
          <pc:sldMk cId="3551568380" sldId="2147482483"/>
        </pc:sldMkLst>
      </pc:sldChg>
      <pc:sldMasterChg chg="delSldLayout">
        <pc:chgData name="Marie-Christine Albert" userId="92be09ad-f68b-4da4-9d23-5d96f19a2174" providerId="ADAL" clId="{0D4468B7-707B-4BE9-8337-A7AE689FF0DB}" dt="2026-09-17T19:08:29.857" v="1" actId="47"/>
        <pc:sldMasterMkLst>
          <pc:docMk/>
          <pc:sldMasterMk cId="887047093" sldId="2147483672"/>
        </pc:sldMasterMkLst>
        <pc:sldLayoutChg chg="del">
          <pc:chgData name="Marie-Christine Albert" userId="92be09ad-f68b-4da4-9d23-5d96f19a2174" providerId="ADAL" clId="{0D4468B7-707B-4BE9-8337-A7AE689FF0DB}" dt="2026-09-17T19:08:29.857" v="1" actId="47"/>
          <pc:sldLayoutMkLst>
            <pc:docMk/>
            <pc:sldMasterMk cId="887047093" sldId="2147483672"/>
            <pc:sldLayoutMk cId="744943623" sldId="214748380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44E640-7D2A-42EF-BA39-2B32D5A16C68}" type="datetimeFigureOut">
              <a:rPr lang="fr-CA" smtClean="0"/>
              <a:pPr/>
              <a:t>2026-09-17</a:t>
            </a:fld>
            <a:endParaRPr lang="fr-CA"/>
          </a:p>
        </p:txBody>
      </p:sp>
      <p:sp>
        <p:nvSpPr>
          <p:cNvPr id="4" name="Espace réservé de l'image des diapositives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8BC42A-5C03-431D-B855-CCCF13E3B37E}" type="slidenum">
              <a:rPr lang="fr-CA" smtClean="0"/>
              <a:pPr/>
              <a:t>‹N°›</a:t>
            </a:fld>
            <a:endParaRPr lang="fr-CA"/>
          </a:p>
        </p:txBody>
      </p:sp>
    </p:spTree>
    <p:extLst>
      <p:ext uri="{BB962C8B-B14F-4D97-AF65-F5344CB8AC3E}">
        <p14:creationId xmlns:p14="http://schemas.microsoft.com/office/powerpoint/2010/main" val="42651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descargas.pntic.mec.es/recursos_educativos/It_didac/Leng_ESO/2/09/04_humanisticos/el_ensayo.html"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creativecommons.org/licenses/by-sa/3.0/"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685800"/>
            <a:ext cx="5486400" cy="3429000"/>
          </a:xfrm>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hlinkClick r:id="rId3" tooltip="http://descargas.pntic.mec.es/recursos_educativos/It_didac/Leng_ESO/2/09/04_humanisticos/el_ensayo.html"/>
              </a:rPr>
              <a:t>Cette photo</a:t>
            </a:r>
            <a:r>
              <a:rPr lang="fr-CA" sz="1200" dirty="0"/>
              <a:t> par Auteur inconnu est soumise à la licence </a:t>
            </a:r>
            <a:r>
              <a:rPr lang="fr-CA" sz="1200" dirty="0">
                <a:hlinkClick r:id="rId4" tooltip="https://creativecommons.org/licenses/by-sa/3.0/"/>
              </a:rPr>
              <a:t>CC BY-SA</a:t>
            </a:r>
            <a:endParaRPr lang="fr-CA" sz="1200" dirty="0"/>
          </a:p>
          <a:p>
            <a:endParaRPr lang="fr-CA"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CC7E64-3E68-4CA2-B030-24C1350DDC07}"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9636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CA"/>
          </a:p>
        </p:txBody>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2</a:t>
            </a:fld>
            <a:endParaRPr lang="fr-FR"/>
          </a:p>
        </p:txBody>
      </p:sp>
    </p:spTree>
    <p:extLst>
      <p:ext uri="{BB962C8B-B14F-4D97-AF65-F5344CB8AC3E}">
        <p14:creationId xmlns:p14="http://schemas.microsoft.com/office/powerpoint/2010/main" val="271619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21</a:t>
            </a:fld>
            <a:endParaRPr lang="fr-FR"/>
          </a:p>
        </p:txBody>
      </p:sp>
    </p:spTree>
    <p:extLst>
      <p:ext uri="{BB962C8B-B14F-4D97-AF65-F5344CB8AC3E}">
        <p14:creationId xmlns:p14="http://schemas.microsoft.com/office/powerpoint/2010/main" val="1194665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22</a:t>
            </a:fld>
            <a:endParaRPr lang="fr-CA"/>
          </a:p>
        </p:txBody>
      </p:sp>
    </p:spTree>
    <p:extLst>
      <p:ext uri="{BB962C8B-B14F-4D97-AF65-F5344CB8AC3E}">
        <p14:creationId xmlns:p14="http://schemas.microsoft.com/office/powerpoint/2010/main" val="3827398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pPr>
              <a:defRPr/>
            </a:pPr>
            <a:fld id="{8DB69702-B48F-4BED-821D-FA28669FCFF5}" type="slidenum">
              <a:rPr lang="fr-CA" smtClean="0"/>
              <a:pPr>
                <a:defRPr/>
              </a:pPr>
              <a:t>23</a:t>
            </a:fld>
            <a:endParaRPr lang="fr-CA"/>
          </a:p>
        </p:txBody>
      </p:sp>
    </p:spTree>
    <p:extLst>
      <p:ext uri="{BB962C8B-B14F-4D97-AF65-F5344CB8AC3E}">
        <p14:creationId xmlns:p14="http://schemas.microsoft.com/office/powerpoint/2010/main" val="33001007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leu HEC - Page titre avec image ">
    <p:spTree>
      <p:nvGrpSpPr>
        <p:cNvPr id="1" name=""/>
        <p:cNvGrpSpPr/>
        <p:nvPr/>
      </p:nvGrpSpPr>
      <p:grpSpPr>
        <a:xfrm>
          <a:off x="0" y="0"/>
          <a:ext cx="0" cy="0"/>
          <a:chOff x="0" y="0"/>
          <a:chExt cx="0" cy="0"/>
        </a:xfrm>
      </p:grpSpPr>
      <p:pic>
        <p:nvPicPr>
          <p:cNvPr id="9" name="Imag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453" y="1429407"/>
            <a:ext cx="8187094" cy="3802117"/>
          </a:xfrm>
          <a:prstGeom prst="rect">
            <a:avLst/>
          </a:prstGeom>
        </p:spPr>
      </p:pic>
      <p:sp>
        <p:nvSpPr>
          <p:cNvPr id="2" name="Titre 1"/>
          <p:cNvSpPr>
            <a:spLocks noGrp="1"/>
          </p:cNvSpPr>
          <p:nvPr>
            <p:ph type="ctrTitle" hasCustomPrompt="1"/>
          </p:nvPr>
        </p:nvSpPr>
        <p:spPr>
          <a:xfrm>
            <a:off x="478800" y="1429200"/>
            <a:ext cx="5274000" cy="1458000"/>
          </a:xfrm>
          <a:solidFill>
            <a:schemeClr val="accent1">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1">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11" name="Espace réservé du pied de page 10"/>
          <p:cNvSpPr>
            <a:spLocks noGrp="1"/>
          </p:cNvSpPr>
          <p:nvPr>
            <p:ph type="ftr" sz="quarter" idx="14"/>
          </p:nvPr>
        </p:nvSpPr>
        <p:spPr>
          <a:xfrm>
            <a:off x="478452" y="5029200"/>
            <a:ext cx="7674948" cy="199149"/>
          </a:xfrm>
          <a:prstGeom prst="rect">
            <a:avLst/>
          </a:prstGeom>
          <a:solidFill>
            <a:schemeClr val="accent1"/>
          </a:solidFill>
        </p:spPr>
        <p:txBody>
          <a:bodyPr anchor="ctr"/>
          <a:lstStyle>
            <a:lvl1pPr algn="l">
              <a:defRPr sz="1083" cap="all" baseline="0">
                <a:solidFill>
                  <a:schemeClr val="bg1"/>
                </a:solidFill>
              </a:defRPr>
            </a:lvl1pPr>
          </a:lstStyle>
          <a:p>
            <a:r>
              <a:rPr lang="fr-CA" dirty="0">
                <a:solidFill>
                  <a:srgbClr val="FFFFFF"/>
                </a:solidFill>
              </a:rPr>
              <a:t>@2025. Marie-Christine ALBERT. Tous droits réservés.</a:t>
            </a:r>
          </a:p>
        </p:txBody>
      </p:sp>
    </p:spTree>
    <p:extLst>
      <p:ext uri="{BB962C8B-B14F-4D97-AF65-F5344CB8AC3E}">
        <p14:creationId xmlns:p14="http://schemas.microsoft.com/office/powerpoint/2010/main" val="4107955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Bleu HEC - Page titre avec fond uni">
    <p:spTree>
      <p:nvGrpSpPr>
        <p:cNvPr id="1" name=""/>
        <p:cNvGrpSpPr/>
        <p:nvPr/>
      </p:nvGrpSpPr>
      <p:grpSpPr>
        <a:xfrm>
          <a:off x="0" y="0"/>
          <a:ext cx="0" cy="0"/>
          <a:chOff x="0" y="0"/>
          <a:chExt cx="0" cy="0"/>
        </a:xfrm>
      </p:grpSpPr>
      <p:sp>
        <p:nvSpPr>
          <p:cNvPr id="8" name="Rectangle 7"/>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9FDF"/>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9FDF"/>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12" name="Espace réservé du pied de page 10"/>
          <p:cNvSpPr>
            <a:spLocks noGrp="1"/>
          </p:cNvSpPr>
          <p:nvPr>
            <p:ph type="ftr" sz="quarter" idx="14"/>
          </p:nvPr>
        </p:nvSpPr>
        <p:spPr>
          <a:xfrm>
            <a:off x="478452" y="5028294"/>
            <a:ext cx="2789288" cy="200055"/>
          </a:xfrm>
          <a:prstGeom prst="rect">
            <a:avLst/>
          </a:prstGeom>
          <a:solidFill>
            <a:schemeClr val="accent1"/>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530950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Bleu HEC - Page titre image à ajouter">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chemeClr val="accent1">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1">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1"/>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756406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Bleu HEC - Page section avec images">
    <p:spTree>
      <p:nvGrpSpPr>
        <p:cNvPr id="1" name=""/>
        <p:cNvGrpSpPr/>
        <p:nvPr/>
      </p:nvGrpSpPr>
      <p:grpSpPr>
        <a:xfrm>
          <a:off x="0" y="0"/>
          <a:ext cx="0" cy="0"/>
          <a:chOff x="0" y="0"/>
          <a:chExt cx="0" cy="0"/>
        </a:xfrm>
      </p:grpSpPr>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pic>
        <p:nvPicPr>
          <p:cNvPr id="8" name="Image 7"/>
          <p:cNvPicPr>
            <a:picLocks noChangeAspect="1"/>
          </p:cNvPicPr>
          <p:nvPr/>
        </p:nvPicPr>
        <p:blipFill rotWithShape="1">
          <a:blip r:embed="rId2" cstate="print">
            <a:extLst>
              <a:ext uri="{28A0092B-C50C-407E-A947-70E740481C1C}">
                <a14:useLocalDpi xmlns:a14="http://schemas.microsoft.com/office/drawing/2010/main" val="0"/>
              </a:ext>
            </a:extLst>
          </a:blip>
          <a:srcRect l="39943" t="-818" b="1229"/>
          <a:stretch/>
        </p:blipFill>
        <p:spPr>
          <a:xfrm>
            <a:off x="5840963" y="1410586"/>
            <a:ext cx="2824582" cy="2161954"/>
          </a:xfrm>
          <a:prstGeom prst="rect">
            <a:avLst/>
          </a:prstGeom>
        </p:spPr>
      </p:pic>
      <p:sp>
        <p:nvSpPr>
          <p:cNvPr id="2" name="Titre 1"/>
          <p:cNvSpPr>
            <a:spLocks noGrp="1"/>
          </p:cNvSpPr>
          <p:nvPr>
            <p:ph type="title" hasCustomPrompt="1"/>
          </p:nvPr>
        </p:nvSpPr>
        <p:spPr>
          <a:xfrm>
            <a:off x="478800" y="1429199"/>
            <a:ext cx="5274000" cy="1458000"/>
          </a:xfrm>
          <a:solidFill>
            <a:schemeClr val="accent1"/>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1"/>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500"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pic>
        <p:nvPicPr>
          <p:cNvPr id="13" name="Image 7"/>
          <p:cNvPicPr>
            <a:picLocks noChangeAspect="1"/>
          </p:cNvPicPr>
          <p:nvPr/>
        </p:nvPicPr>
        <p:blipFill rotWithShape="1">
          <a:blip r:embed="rId2" cstate="print">
            <a:extLst>
              <a:ext uri="{28A0092B-C50C-407E-A947-70E740481C1C}">
                <a14:useLocalDpi xmlns:a14="http://schemas.microsoft.com/office/drawing/2010/main" val="0"/>
              </a:ext>
            </a:extLst>
          </a:blip>
          <a:srcRect l="5886" t="33067" r="64658" b="901"/>
          <a:stretch/>
        </p:blipFill>
        <p:spPr>
          <a:xfrm>
            <a:off x="489600" y="3664688"/>
            <a:ext cx="1497820" cy="1566835"/>
          </a:xfrm>
          <a:prstGeom prst="rect">
            <a:avLst/>
          </a:prstGeom>
        </p:spPr>
      </p:pic>
    </p:spTree>
    <p:extLst>
      <p:ext uri="{BB962C8B-B14F-4D97-AF65-F5344CB8AC3E}">
        <p14:creationId xmlns:p14="http://schemas.microsoft.com/office/powerpoint/2010/main" val="427129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Bleu HEC - Page section sans image">
    <p:spTree>
      <p:nvGrpSpPr>
        <p:cNvPr id="1" name=""/>
        <p:cNvGrpSpPr/>
        <p:nvPr/>
      </p:nvGrpSpPr>
      <p:grpSpPr>
        <a:xfrm>
          <a:off x="0" y="0"/>
          <a:ext cx="0" cy="0"/>
          <a:chOff x="0" y="0"/>
          <a:chExt cx="0" cy="0"/>
        </a:xfrm>
      </p:grpSpPr>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1"/>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1"/>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500"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
        <p:nvSpPr>
          <p:cNvPr id="9" name="Rectangle 8"/>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10" name="Rectangle 9"/>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1889566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urquoise - Page titre avec image ">
    <p:spTree>
      <p:nvGrpSpPr>
        <p:cNvPr id="1" name=""/>
        <p:cNvGrpSpPr/>
        <p:nvPr/>
      </p:nvGrpSpPr>
      <p:grpSpPr>
        <a:xfrm>
          <a:off x="0" y="0"/>
          <a:ext cx="0" cy="0"/>
          <a:chOff x="0" y="0"/>
          <a:chExt cx="0" cy="0"/>
        </a:xfrm>
      </p:grpSpPr>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3" y="1432837"/>
            <a:ext cx="8187094"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5">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5">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233063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urquoise - Page titre avec fond uni">
    <p:spTree>
      <p:nvGrpSpPr>
        <p:cNvPr id="1" name=""/>
        <p:cNvGrpSpPr/>
        <p:nvPr/>
      </p:nvGrpSpPr>
      <p:grpSpPr>
        <a:xfrm>
          <a:off x="0" y="0"/>
          <a:ext cx="0" cy="0"/>
          <a:chOff x="0" y="0"/>
          <a:chExt cx="0" cy="0"/>
        </a:xfrm>
      </p:grpSpPr>
      <p:sp>
        <p:nvSpPr>
          <p:cNvPr id="4" name="Rectangle 3"/>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C1D5"/>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C1D5"/>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305174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urquoise - Page titre avec image à ajouter ">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chemeClr val="accent5">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5">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8"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2299194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Turquoise - Page section avec image">
    <p:spTree>
      <p:nvGrpSpPr>
        <p:cNvPr id="1" name=""/>
        <p:cNvGrpSpPr/>
        <p:nvPr/>
      </p:nvGrpSpPr>
      <p:grpSpPr>
        <a:xfrm>
          <a:off x="0" y="0"/>
          <a:ext cx="0" cy="0"/>
          <a:chOff x="0" y="0"/>
          <a:chExt cx="0" cy="0"/>
        </a:xfrm>
      </p:grpSpPr>
      <p:pic>
        <p:nvPicPr>
          <p:cNvPr id="9" name="Image 7"/>
          <p:cNvPicPr>
            <a:picLocks noChangeAspect="1"/>
          </p:cNvPicPr>
          <p:nvPr/>
        </p:nvPicPr>
        <p:blipFill rotWithShape="1">
          <a:blip r:embed="rId2">
            <a:extLst>
              <a:ext uri="{28A0092B-C50C-407E-A947-70E740481C1C}">
                <a14:useLocalDpi xmlns:a14="http://schemas.microsoft.com/office/drawing/2010/main" val="0"/>
              </a:ext>
            </a:extLst>
          </a:blip>
          <a:srcRect l="38370" r="1"/>
          <a:stretch/>
        </p:blipFill>
        <p:spPr>
          <a:xfrm>
            <a:off x="5831633" y="1429200"/>
            <a:ext cx="2833914" cy="2143340"/>
          </a:xfrm>
          <a:prstGeom prst="rect">
            <a:avLst/>
          </a:prstGeom>
        </p:spPr>
      </p:pic>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5"/>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5"/>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178199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urquoise - Page section sans image">
    <p:spTree>
      <p:nvGrpSpPr>
        <p:cNvPr id="1" name=""/>
        <p:cNvGrpSpPr/>
        <p:nvPr/>
      </p:nvGrpSpPr>
      <p:grpSpPr>
        <a:xfrm>
          <a:off x="0" y="0"/>
          <a:ext cx="0" cy="0"/>
          <a:chOff x="0" y="0"/>
          <a:chExt cx="0" cy="0"/>
        </a:xfrm>
      </p:grpSpPr>
      <p:sp>
        <p:nvSpPr>
          <p:cNvPr id="8" name="Rectangle 7"/>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5"/>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5"/>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1854302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Bleu - Page titre avec image">
    <p:spTree>
      <p:nvGrpSpPr>
        <p:cNvPr id="1" name=""/>
        <p:cNvGrpSpPr/>
        <p:nvPr/>
      </p:nvGrpSpPr>
      <p:grpSpPr>
        <a:xfrm>
          <a:off x="0" y="0"/>
          <a:ext cx="0" cy="0"/>
          <a:chOff x="0" y="0"/>
          <a:chExt cx="0" cy="0"/>
        </a:xfrm>
      </p:grpSpPr>
      <p:pic>
        <p:nvPicPr>
          <p:cNvPr id="9"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4" y="1432837"/>
            <a:ext cx="8187092"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6">
              <a:alpha val="80000"/>
            </a:schemeClr>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alpha val="80000"/>
            </a:srgbClr>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8"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44783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Bleu - Page titre avec fond uni">
    <p:spTree>
      <p:nvGrpSpPr>
        <p:cNvPr id="1" name=""/>
        <p:cNvGrpSpPr/>
        <p:nvPr/>
      </p:nvGrpSpPr>
      <p:grpSpPr>
        <a:xfrm>
          <a:off x="0" y="0"/>
          <a:ext cx="0" cy="0"/>
          <a:chOff x="0" y="0"/>
          <a:chExt cx="0" cy="0"/>
        </a:xfrm>
      </p:grpSpPr>
      <p:sp>
        <p:nvSpPr>
          <p:cNvPr id="8" name="Rectangle 7"/>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5EB8"/>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953675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eu - Page titre avec image à ajouter ">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rgbClr val="005EB8">
              <a:alpha val="80000"/>
            </a:srgbClr>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alpha val="80000"/>
            </a:srgbClr>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2814782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Bleu - Page section avec images">
    <p:spTree>
      <p:nvGrpSpPr>
        <p:cNvPr id="1" name=""/>
        <p:cNvGrpSpPr/>
        <p:nvPr/>
      </p:nvGrpSpPr>
      <p:grpSpPr>
        <a:xfrm>
          <a:off x="0" y="0"/>
          <a:ext cx="0" cy="0"/>
          <a:chOff x="0" y="0"/>
          <a:chExt cx="0" cy="0"/>
        </a:xfrm>
      </p:grpSpPr>
      <p:pic>
        <p:nvPicPr>
          <p:cNvPr id="11" name="Image 7"/>
          <p:cNvPicPr>
            <a:picLocks noChangeAspect="1"/>
          </p:cNvPicPr>
          <p:nvPr/>
        </p:nvPicPr>
        <p:blipFill rotWithShape="1">
          <a:blip r:embed="rId2">
            <a:extLst>
              <a:ext uri="{28A0092B-C50C-407E-A947-70E740481C1C}">
                <a14:useLocalDpi xmlns:a14="http://schemas.microsoft.com/office/drawing/2010/main" val="0"/>
              </a:ext>
            </a:extLst>
          </a:blip>
          <a:srcRect l="38468" r="2"/>
          <a:stretch/>
        </p:blipFill>
        <p:spPr>
          <a:xfrm>
            <a:off x="5831636" y="1430373"/>
            <a:ext cx="2833565" cy="2142167"/>
          </a:xfrm>
          <a:prstGeom prst="rect">
            <a:avLst/>
          </a:prstGeom>
        </p:spPr>
      </p:pic>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6"/>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bg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6"/>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bg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l="-1" t="45960" r="75910" b="323"/>
          <a:stretch/>
        </p:blipFill>
        <p:spPr>
          <a:xfrm>
            <a:off x="478801" y="3664688"/>
            <a:ext cx="1508619" cy="1566835"/>
          </a:xfrm>
          <a:prstGeom prst="rect">
            <a:avLst/>
          </a:prstGeom>
        </p:spPr>
      </p:pic>
    </p:spTree>
    <p:extLst>
      <p:ext uri="{BB962C8B-B14F-4D97-AF65-F5344CB8AC3E}">
        <p14:creationId xmlns:p14="http://schemas.microsoft.com/office/powerpoint/2010/main" val="2912661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Bleu - Page section sans image">
    <p:spTree>
      <p:nvGrpSpPr>
        <p:cNvPr id="1" name=""/>
        <p:cNvGrpSpPr/>
        <p:nvPr/>
      </p:nvGrpSpPr>
      <p:grpSpPr>
        <a:xfrm>
          <a:off x="0" y="0"/>
          <a:ext cx="0" cy="0"/>
          <a:chOff x="0" y="0"/>
          <a:chExt cx="0" cy="0"/>
        </a:xfrm>
      </p:grpSpPr>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6"/>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bg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6"/>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bg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
        <p:nvSpPr>
          <p:cNvPr id="12" name="Rectangle 11"/>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36267600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Bleu foncé - Page titre avec image ">
    <p:spTree>
      <p:nvGrpSpPr>
        <p:cNvPr id="1" name=""/>
        <p:cNvGrpSpPr/>
        <p:nvPr/>
      </p:nvGrpSpPr>
      <p:grpSpPr>
        <a:xfrm>
          <a:off x="0" y="0"/>
          <a:ext cx="0" cy="0"/>
          <a:chOff x="0" y="0"/>
          <a:chExt cx="0" cy="0"/>
        </a:xfrm>
      </p:grpSpPr>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4" y="1432837"/>
            <a:ext cx="8187092"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2">
              <a:alpha val="80000"/>
            </a:schemeClr>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2">
              <a:alpha val="80000"/>
            </a:schemeClr>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570344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Bleu foncé - Page titre avec fond uni">
    <p:spTree>
      <p:nvGrpSpPr>
        <p:cNvPr id="1" name=""/>
        <p:cNvGrpSpPr/>
        <p:nvPr/>
      </p:nvGrpSpPr>
      <p:grpSpPr>
        <a:xfrm>
          <a:off x="0" y="0"/>
          <a:ext cx="0" cy="0"/>
          <a:chOff x="0" y="0"/>
          <a:chExt cx="0" cy="0"/>
        </a:xfrm>
      </p:grpSpPr>
      <p:sp>
        <p:nvSpPr>
          <p:cNvPr id="12" name="Rectangle 11"/>
          <p:cNvSpPr/>
          <p:nvPr/>
        </p:nvSpPr>
        <p:spPr>
          <a:xfrm>
            <a:off x="478454" y="1429201"/>
            <a:ext cx="8187095" cy="3799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Titre 1"/>
          <p:cNvSpPr>
            <a:spLocks noGrp="1"/>
          </p:cNvSpPr>
          <p:nvPr>
            <p:ph type="ctrTitle" hasCustomPrompt="1"/>
          </p:nvPr>
        </p:nvSpPr>
        <p:spPr>
          <a:xfrm>
            <a:off x="478800" y="1429200"/>
            <a:ext cx="5274000" cy="1458000"/>
          </a:xfrm>
          <a:solidFill>
            <a:srgbClr val="003C71"/>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10" name="Sous-titre 2"/>
          <p:cNvSpPr>
            <a:spLocks noGrp="1"/>
          </p:cNvSpPr>
          <p:nvPr>
            <p:ph type="subTitle" idx="1" hasCustomPrompt="1"/>
          </p:nvPr>
        </p:nvSpPr>
        <p:spPr>
          <a:xfrm>
            <a:off x="478800" y="2962656"/>
            <a:ext cx="5266800" cy="402336"/>
          </a:xfrm>
          <a:solidFill>
            <a:srgbClr val="003C71"/>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sp>
        <p:nvSpPr>
          <p:cNvPr id="8"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3028274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Bleu foncé - Page titre avec image à ajouter">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Titre 1"/>
          <p:cNvSpPr>
            <a:spLocks noGrp="1"/>
          </p:cNvSpPr>
          <p:nvPr>
            <p:ph type="ctrTitle" hasCustomPrompt="1"/>
          </p:nvPr>
        </p:nvSpPr>
        <p:spPr>
          <a:xfrm>
            <a:off x="478800" y="1429200"/>
            <a:ext cx="5274000" cy="1458000"/>
          </a:xfrm>
          <a:solidFill>
            <a:schemeClr val="accent2">
              <a:alpha val="80000"/>
            </a:schemeClr>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10" name="Sous-titre 2"/>
          <p:cNvSpPr>
            <a:spLocks noGrp="1"/>
          </p:cNvSpPr>
          <p:nvPr>
            <p:ph type="subTitle" idx="1" hasCustomPrompt="1"/>
          </p:nvPr>
        </p:nvSpPr>
        <p:spPr>
          <a:xfrm>
            <a:off x="478800" y="2962656"/>
            <a:ext cx="5266800" cy="402336"/>
          </a:xfrm>
          <a:solidFill>
            <a:schemeClr val="accent2">
              <a:alpha val="80000"/>
            </a:schemeClr>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sp>
        <p:nvSpPr>
          <p:cNvPr id="8"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454926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Bleu foncé - Page section avec image ">
    <p:spTree>
      <p:nvGrpSpPr>
        <p:cNvPr id="1" name=""/>
        <p:cNvGrpSpPr/>
        <p:nvPr/>
      </p:nvGrpSpPr>
      <p:grpSpPr>
        <a:xfrm>
          <a:off x="0" y="0"/>
          <a:ext cx="0" cy="0"/>
          <a:chOff x="0" y="0"/>
          <a:chExt cx="0" cy="0"/>
        </a:xfrm>
      </p:grpSpPr>
      <p:pic>
        <p:nvPicPr>
          <p:cNvPr id="10" name="Image 7"/>
          <p:cNvPicPr>
            <a:picLocks noChangeAspect="1"/>
          </p:cNvPicPr>
          <p:nvPr/>
        </p:nvPicPr>
        <p:blipFill rotWithShape="1">
          <a:blip r:embed="rId2">
            <a:extLst>
              <a:ext uri="{28A0092B-C50C-407E-A947-70E740481C1C}">
                <a14:useLocalDpi xmlns:a14="http://schemas.microsoft.com/office/drawing/2010/main" val="0"/>
              </a:ext>
            </a:extLst>
          </a:blip>
          <a:srcRect l="38916" b="837"/>
          <a:stretch/>
        </p:blipFill>
        <p:spPr>
          <a:xfrm>
            <a:off x="5831635" y="1432838"/>
            <a:ext cx="2833913" cy="2139703"/>
          </a:xfrm>
          <a:prstGeom prst="rect">
            <a:avLst/>
          </a:prstGeom>
        </p:spPr>
      </p:pic>
      <p:sp>
        <p:nvSpPr>
          <p:cNvPr id="5" name="Rectangle 4"/>
          <p:cNvSpPr/>
          <p:nvPr/>
        </p:nvSpPr>
        <p:spPr>
          <a:xfrm>
            <a:off x="478800" y="3664688"/>
            <a:ext cx="1508620" cy="15668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2"/>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2"/>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20803156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Bleu foncé - Page section sans image">
    <p:spTree>
      <p:nvGrpSpPr>
        <p:cNvPr id="1" name=""/>
        <p:cNvGrpSpPr/>
        <p:nvPr/>
      </p:nvGrpSpPr>
      <p:grpSpPr>
        <a:xfrm>
          <a:off x="0" y="0"/>
          <a:ext cx="0" cy="0"/>
          <a:chOff x="0" y="0"/>
          <a:chExt cx="0" cy="0"/>
        </a:xfrm>
      </p:grpSpPr>
      <p:sp>
        <p:nvSpPr>
          <p:cNvPr id="8" name="Rectangle 7"/>
          <p:cNvSpPr/>
          <p:nvPr/>
        </p:nvSpPr>
        <p:spPr>
          <a:xfrm>
            <a:off x="5838833" y="1429200"/>
            <a:ext cx="2826366" cy="2143340"/>
          </a:xfrm>
          <a:prstGeom prst="rect">
            <a:avLst/>
          </a:prstGeom>
          <a:solidFill>
            <a:srgbClr val="009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5" name="Rectangle 4"/>
          <p:cNvSpPr/>
          <p:nvPr/>
        </p:nvSpPr>
        <p:spPr>
          <a:xfrm>
            <a:off x="478800" y="3664688"/>
            <a:ext cx="1508620" cy="15668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2"/>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2"/>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42362816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2"/>
          </p:nvPr>
        </p:nvSpPr>
        <p:spPr>
          <a:xfrm>
            <a:off x="372474" y="5384996"/>
            <a:ext cx="464400" cy="136800"/>
          </a:xfrm>
          <a:prstGeom prst="rect">
            <a:avLst/>
          </a:prstGeom>
        </p:spPr>
        <p:txBody>
          <a:bodyPr anchor="t"/>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a:off x="0" y="0"/>
            <a:ext cx="78232" cy="57150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9" name="Rectangle 8" descr="Marbre liquide blanc et or">
            <a:extLst>
              <a:ext uri="{FF2B5EF4-FFF2-40B4-BE49-F238E27FC236}">
                <a16:creationId xmlns:a16="http://schemas.microsoft.com/office/drawing/2014/main" id="{E3A552FD-B3CA-91CF-AA89-BF8F9B1766AA}"/>
              </a:ext>
            </a:extLst>
          </p:cNvPr>
          <p:cNvSpPr/>
          <p:nvPr userDrawn="1"/>
        </p:nvSpPr>
        <p:spPr>
          <a:xfrm>
            <a:off x="9065766" y="0"/>
            <a:ext cx="78233" cy="57150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Rectangle 9" descr="Marbre liquide blanc et or">
            <a:extLst>
              <a:ext uri="{FF2B5EF4-FFF2-40B4-BE49-F238E27FC236}">
                <a16:creationId xmlns:a16="http://schemas.microsoft.com/office/drawing/2014/main" id="{798E5CFE-F843-59D8-4C60-15BE6AD7A562}"/>
              </a:ext>
            </a:extLst>
          </p:cNvPr>
          <p:cNvSpPr/>
          <p:nvPr userDrawn="1"/>
        </p:nvSpPr>
        <p:spPr>
          <a:xfrm rot="5400000">
            <a:off x="4529582" y="-4490897"/>
            <a:ext cx="45719" cy="9026651"/>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17899256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pic>
        <p:nvPicPr>
          <p:cNvPr id="17" name="Image 16" descr="Une image contenant motif, tissu, girafe&#10;&#10;Le contenu généré par l’IA peut être incorrect.">
            <a:extLst>
              <a:ext uri="{FF2B5EF4-FFF2-40B4-BE49-F238E27FC236}">
                <a16:creationId xmlns:a16="http://schemas.microsoft.com/office/drawing/2014/main" id="{8ABDB5D2-CDDF-EF93-42A1-53DAEA1DBCF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b="5534"/>
          <a:stretch>
            <a:fillRect/>
          </a:stretch>
        </p:blipFill>
        <p:spPr>
          <a:xfrm>
            <a:off x="0" y="-78231"/>
            <a:ext cx="9144001" cy="5758305"/>
          </a:xfrm>
          <a:prstGeom prst="rect">
            <a:avLst/>
          </a:prstGeom>
        </p:spPr>
      </p:pic>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96649246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4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2" name="Image 1" descr="Une image contenant motif, tissu, girafe&#10;&#10;Le contenu généré par l’IA peut être incorrect.">
            <a:extLst>
              <a:ext uri="{FF2B5EF4-FFF2-40B4-BE49-F238E27FC236}">
                <a16:creationId xmlns:a16="http://schemas.microsoft.com/office/drawing/2014/main" id="{8DBB0CB2-4018-A5EF-305D-9C1B5AE0886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r="97638" b="5534"/>
          <a:stretch>
            <a:fillRect/>
          </a:stretch>
        </p:blipFill>
        <p:spPr>
          <a:xfrm>
            <a:off x="0" y="0"/>
            <a:ext cx="215900" cy="5758305"/>
          </a:xfrm>
          <a:prstGeom prst="rect">
            <a:avLst/>
          </a:prstGeom>
        </p:spPr>
      </p:pic>
    </p:spTree>
    <p:extLst>
      <p:ext uri="{BB962C8B-B14F-4D97-AF65-F5344CB8AC3E}">
        <p14:creationId xmlns:p14="http://schemas.microsoft.com/office/powerpoint/2010/main" val="221384318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a:off x="-1" y="17462"/>
            <a:ext cx="9144001" cy="5680075"/>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9620607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rot="5400000">
            <a:off x="-2725738" y="2725738"/>
            <a:ext cx="5680075" cy="228601"/>
          </a:xfrm>
          <a:prstGeom prst="rect">
            <a:avLst/>
          </a:prstGeom>
          <a:blipFill dpi="0" rotWithShape="1">
            <a:blip r:embed="rId2">
              <a:extLst>
                <a:ext uri="{28A0092B-C50C-407E-A947-70E740481C1C}">
                  <a14:useLocalDpi xmlns:a14="http://schemas.microsoft.com/office/drawing/2010/main" val="0"/>
                </a:ext>
              </a:extLst>
            </a:blip>
            <a:srcRect/>
            <a:stretch>
              <a:fillRect t="-467432" r="-60984" b="-6749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0531171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et image">
    <p:spTree>
      <p:nvGrpSpPr>
        <p:cNvPr id="1" name=""/>
        <p:cNvGrpSpPr/>
        <p:nvPr/>
      </p:nvGrpSpPr>
      <p:grpSpPr>
        <a:xfrm>
          <a:off x="0" y="0"/>
          <a:ext cx="0" cy="0"/>
          <a:chOff x="0" y="0"/>
          <a:chExt cx="0" cy="0"/>
        </a:xfrm>
      </p:grpSpPr>
      <p:sp>
        <p:nvSpPr>
          <p:cNvPr id="4" name="Espace réservé pour une image  3"/>
          <p:cNvSpPr>
            <a:spLocks noGrp="1"/>
          </p:cNvSpPr>
          <p:nvPr>
            <p:ph type="pic" sz="quarter" idx="10"/>
          </p:nvPr>
        </p:nvSpPr>
        <p:spPr>
          <a:xfrm>
            <a:off x="479425" y="1224000"/>
            <a:ext cx="8185150" cy="3999600"/>
          </a:xfrm>
        </p:spPr>
        <p:txBody>
          <a:bodyPr anchor="ctr"/>
          <a:lstStyle>
            <a:lvl1pPr marL="0" indent="0" algn="ctr">
              <a:buNone/>
              <a:defRPr/>
            </a:lvl1pPr>
          </a:lstStyle>
          <a:p>
            <a:r>
              <a:rPr lang="fr-FR"/>
              <a:t>Cliquez sur l'icône pour ajouter une image</a:t>
            </a:r>
            <a:endParaRPr lang="fr-CA" dirty="0"/>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427857389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re et 2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78454" y="1224000"/>
            <a:ext cx="4017347" cy="3999600"/>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4" name="Espace réservé du contenu 3"/>
          <p:cNvSpPr>
            <a:spLocks noGrp="1"/>
          </p:cNvSpPr>
          <p:nvPr>
            <p:ph sz="half" idx="2"/>
          </p:nvPr>
        </p:nvSpPr>
        <p:spPr>
          <a:xfrm>
            <a:off x="4648200" y="1224000"/>
            <a:ext cx="4017000" cy="3999600"/>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pied de page 5"/>
          <p:cNvSpPr>
            <a:spLocks noGrp="1"/>
          </p:cNvSpPr>
          <p:nvPr>
            <p:ph type="ftr" sz="quarter" idx="10"/>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Espace réservé du numéro de diapositive 6"/>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2918174419"/>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re et 2 images">
    <p:spTree>
      <p:nvGrpSpPr>
        <p:cNvPr id="1" name=""/>
        <p:cNvGrpSpPr/>
        <p:nvPr/>
      </p:nvGrpSpPr>
      <p:grpSpPr>
        <a:xfrm>
          <a:off x="0" y="0"/>
          <a:ext cx="0" cy="0"/>
          <a:chOff x="0" y="0"/>
          <a:chExt cx="0" cy="0"/>
        </a:xfrm>
      </p:grpSpPr>
      <p:sp>
        <p:nvSpPr>
          <p:cNvPr id="7" name="Espace réservé pour une image  5"/>
          <p:cNvSpPr>
            <a:spLocks noGrp="1"/>
          </p:cNvSpPr>
          <p:nvPr>
            <p:ph type="pic" sz="quarter" idx="11"/>
          </p:nvPr>
        </p:nvSpPr>
        <p:spPr>
          <a:xfrm>
            <a:off x="4647238" y="1224000"/>
            <a:ext cx="4017962" cy="3999600"/>
          </a:xfrm>
        </p:spPr>
        <p:txBody>
          <a:bodyPr anchor="ctr"/>
          <a:lstStyle>
            <a:lvl1pPr marL="0" indent="0" algn="ctr">
              <a:buFontTx/>
              <a:buNone/>
              <a:defRPr/>
            </a:lvl1pPr>
          </a:lstStyle>
          <a:p>
            <a:r>
              <a:rPr lang="fr-FR"/>
              <a:t>Cliquez sur l'icône pour ajouter une image</a:t>
            </a:r>
            <a:endParaRPr lang="fr-CA" dirty="0"/>
          </a:p>
        </p:txBody>
      </p:sp>
      <p:sp>
        <p:nvSpPr>
          <p:cNvPr id="6" name="Espace réservé pour une image  5"/>
          <p:cNvSpPr>
            <a:spLocks noGrp="1"/>
          </p:cNvSpPr>
          <p:nvPr>
            <p:ph type="pic" sz="quarter" idx="10"/>
          </p:nvPr>
        </p:nvSpPr>
        <p:spPr>
          <a:xfrm>
            <a:off x="477838" y="1224000"/>
            <a:ext cx="4017962" cy="3999600"/>
          </a:xfrm>
        </p:spPr>
        <p:txBody>
          <a:bodyPr anchor="ctr"/>
          <a:lstStyle>
            <a:lvl1pPr marL="0" indent="0" algn="ctr">
              <a:buFontTx/>
              <a:buNone/>
              <a:defRPr/>
            </a:lvl1pPr>
          </a:lstStyle>
          <a:p>
            <a:r>
              <a:rPr lang="fr-FR"/>
              <a:t>Cliquez sur l'icône pour ajouter une image</a:t>
            </a:r>
            <a:endParaRPr lang="fr-CA" dirty="0"/>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4" name="Espace réservé du numéro de diapositive 3"/>
          <p:cNvSpPr>
            <a:spLocks noGrp="1"/>
          </p:cNvSpPr>
          <p:nvPr>
            <p:ph type="sldNum" sz="quarter" idx="13"/>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36796621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re et 3 images">
    <p:spTree>
      <p:nvGrpSpPr>
        <p:cNvPr id="1" name=""/>
        <p:cNvGrpSpPr/>
        <p:nvPr/>
      </p:nvGrpSpPr>
      <p:grpSpPr>
        <a:xfrm>
          <a:off x="0" y="0"/>
          <a:ext cx="0" cy="0"/>
          <a:chOff x="0" y="0"/>
          <a:chExt cx="0" cy="0"/>
        </a:xfrm>
      </p:grpSpPr>
      <p:sp>
        <p:nvSpPr>
          <p:cNvPr id="6" name="Espace réservé pour une image  5"/>
          <p:cNvSpPr>
            <a:spLocks noGrp="1"/>
          </p:cNvSpPr>
          <p:nvPr>
            <p:ph type="pic" sz="quarter" idx="10"/>
          </p:nvPr>
        </p:nvSpPr>
        <p:spPr>
          <a:xfrm>
            <a:off x="47783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5" name="Espace réservé pour une image  5"/>
          <p:cNvSpPr>
            <a:spLocks noGrp="1"/>
          </p:cNvSpPr>
          <p:nvPr>
            <p:ph type="pic" sz="quarter" idx="11"/>
          </p:nvPr>
        </p:nvSpPr>
        <p:spPr>
          <a:xfrm>
            <a:off x="324292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8" name="Espace réservé pour une image  5"/>
          <p:cNvSpPr>
            <a:spLocks noGrp="1"/>
          </p:cNvSpPr>
          <p:nvPr>
            <p:ph type="pic" sz="quarter" idx="12"/>
          </p:nvPr>
        </p:nvSpPr>
        <p:spPr>
          <a:xfrm>
            <a:off x="600801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9"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3" name="Espace réservé du numéro de diapositive 2"/>
          <p:cNvSpPr>
            <a:spLocks noGrp="1"/>
          </p:cNvSpPr>
          <p:nvPr>
            <p:ph type="sldNum" sz="quarter" idx="14"/>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70879181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re et 4 images">
    <p:spTree>
      <p:nvGrpSpPr>
        <p:cNvPr id="1" name=""/>
        <p:cNvGrpSpPr/>
        <p:nvPr/>
      </p:nvGrpSpPr>
      <p:grpSpPr>
        <a:xfrm>
          <a:off x="0" y="0"/>
          <a:ext cx="0" cy="0"/>
          <a:chOff x="0" y="0"/>
          <a:chExt cx="0" cy="0"/>
        </a:xfrm>
      </p:grpSpPr>
      <p:sp>
        <p:nvSpPr>
          <p:cNvPr id="6" name="Espace réservé pour une image  5"/>
          <p:cNvSpPr>
            <a:spLocks noGrp="1"/>
          </p:cNvSpPr>
          <p:nvPr>
            <p:ph type="pic" sz="quarter" idx="10"/>
          </p:nvPr>
        </p:nvSpPr>
        <p:spPr>
          <a:xfrm>
            <a:off x="477836" y="1225910"/>
            <a:ext cx="4023280" cy="1944000"/>
          </a:xfrm>
        </p:spPr>
        <p:txBody>
          <a:bodyPr anchor="ctr"/>
          <a:lstStyle>
            <a:lvl1pPr marL="0" indent="0" algn="ctr">
              <a:buFontTx/>
              <a:buNone/>
              <a:defRPr/>
            </a:lvl1pPr>
          </a:lstStyle>
          <a:p>
            <a:r>
              <a:rPr lang="fr-FR"/>
              <a:t>Cliquez sur l'icône pour ajouter une image</a:t>
            </a:r>
            <a:endParaRPr lang="fr-CA" dirty="0"/>
          </a:p>
        </p:txBody>
      </p:sp>
      <p:sp>
        <p:nvSpPr>
          <p:cNvPr id="9" name="Espace réservé pour une image  5"/>
          <p:cNvSpPr>
            <a:spLocks noGrp="1"/>
          </p:cNvSpPr>
          <p:nvPr>
            <p:ph type="pic" sz="quarter" idx="13"/>
          </p:nvPr>
        </p:nvSpPr>
        <p:spPr>
          <a:xfrm>
            <a:off x="4635797" y="1225909"/>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20" name="Espace réservé pour une image  5"/>
          <p:cNvSpPr>
            <a:spLocks noGrp="1"/>
          </p:cNvSpPr>
          <p:nvPr>
            <p:ph type="pic" sz="quarter" idx="14"/>
          </p:nvPr>
        </p:nvSpPr>
        <p:spPr>
          <a:xfrm>
            <a:off x="477836" y="3285738"/>
            <a:ext cx="4023280" cy="1944000"/>
          </a:xfrm>
        </p:spPr>
        <p:txBody>
          <a:bodyPr anchor="ctr"/>
          <a:lstStyle>
            <a:lvl1pPr marL="0" indent="0" algn="ctr">
              <a:buFontTx/>
              <a:buNone/>
              <a:defRPr/>
            </a:lvl1pPr>
          </a:lstStyle>
          <a:p>
            <a:r>
              <a:rPr lang="fr-FR"/>
              <a:t>Cliquez sur l'icône pour ajouter une image</a:t>
            </a:r>
            <a:endParaRPr lang="fr-CA" dirty="0"/>
          </a:p>
        </p:txBody>
      </p:sp>
      <p:sp>
        <p:nvSpPr>
          <p:cNvPr id="21" name="Espace réservé pour une image  5"/>
          <p:cNvSpPr>
            <a:spLocks noGrp="1"/>
          </p:cNvSpPr>
          <p:nvPr>
            <p:ph type="pic" sz="quarter" idx="15"/>
          </p:nvPr>
        </p:nvSpPr>
        <p:spPr>
          <a:xfrm>
            <a:off x="4635797" y="3285737"/>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8"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3" name="Espace réservé du numéro de diapositive 2"/>
          <p:cNvSpPr>
            <a:spLocks noGrp="1"/>
          </p:cNvSpPr>
          <p:nvPr>
            <p:ph type="sldNum" sz="quarter" idx="17"/>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10"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330887965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re, texte et 2 images ">
    <p:spTree>
      <p:nvGrpSpPr>
        <p:cNvPr id="1" name=""/>
        <p:cNvGrpSpPr/>
        <p:nvPr/>
      </p:nvGrpSpPr>
      <p:grpSpPr>
        <a:xfrm>
          <a:off x="0" y="0"/>
          <a:ext cx="0" cy="0"/>
          <a:chOff x="0" y="0"/>
          <a:chExt cx="0" cy="0"/>
        </a:xfrm>
      </p:grpSpPr>
      <p:sp>
        <p:nvSpPr>
          <p:cNvPr id="12" name="Espace réservé du texte 4"/>
          <p:cNvSpPr>
            <a:spLocks noGrp="1"/>
          </p:cNvSpPr>
          <p:nvPr>
            <p:ph type="body" sz="quarter" idx="17"/>
          </p:nvPr>
        </p:nvSpPr>
        <p:spPr>
          <a:xfrm>
            <a:off x="477838" y="3285737"/>
            <a:ext cx="4022725" cy="1954438"/>
          </a:xfrm>
        </p:spPr>
        <p:txBody>
          <a:bodyPr>
            <a:noAutofit/>
          </a:bodyPr>
          <a:lstStyle>
            <a:lvl1pPr>
              <a:defRPr sz="2000"/>
            </a:lvl1pPr>
            <a:lvl2pPr>
              <a:defRPr sz="2000"/>
            </a:lvl2pPr>
            <a:lvl3pPr>
              <a:defRPr sz="2000"/>
            </a:lvl3pPr>
            <a:lvl4pPr>
              <a:defRPr sz="2000"/>
            </a:lvl4pPr>
            <a:lvl5pPr>
              <a:defRPr sz="2000"/>
            </a:lvl5pPr>
          </a:lstStyle>
          <a:p>
            <a:pPr lvl="0"/>
            <a:r>
              <a:rPr lang="fr-FR"/>
              <a:t>Modifiez les styles du texte du masque</a:t>
            </a:r>
          </a:p>
          <a:p>
            <a:pPr lvl="1"/>
            <a:r>
              <a:rPr lang="fr-FR"/>
              <a:t>Deuxième niveau</a:t>
            </a:r>
          </a:p>
          <a:p>
            <a:pPr lvl="2"/>
            <a:r>
              <a:rPr lang="fr-FR"/>
              <a:t>Troisième niveau</a:t>
            </a:r>
          </a:p>
        </p:txBody>
      </p:sp>
      <p:sp>
        <p:nvSpPr>
          <p:cNvPr id="5" name="Espace réservé du texte 4"/>
          <p:cNvSpPr>
            <a:spLocks noGrp="1"/>
          </p:cNvSpPr>
          <p:nvPr>
            <p:ph type="body" sz="quarter" idx="16"/>
          </p:nvPr>
        </p:nvSpPr>
        <p:spPr>
          <a:xfrm>
            <a:off x="477840" y="1225910"/>
            <a:ext cx="4022725" cy="1943999"/>
          </a:xfrm>
        </p:spPr>
        <p:txBody>
          <a:bodyPr>
            <a:noAutofit/>
          </a:bodyPr>
          <a:lstStyle>
            <a:lvl1pPr>
              <a:defRPr sz="2000"/>
            </a:lvl1pPr>
            <a:lvl2pPr>
              <a:defRPr sz="2000"/>
            </a:lvl2pPr>
            <a:lvl3pPr>
              <a:defRPr sz="2000"/>
            </a:lvl3pPr>
            <a:lvl4pPr>
              <a:defRPr sz="2000"/>
            </a:lvl4pPr>
            <a:lvl5pPr>
              <a:defRPr sz="2000"/>
            </a:lvl5pPr>
          </a:lstStyle>
          <a:p>
            <a:pPr lvl="0"/>
            <a:r>
              <a:rPr lang="fr-FR"/>
              <a:t>Modifiez les styles du texte du masque</a:t>
            </a:r>
          </a:p>
          <a:p>
            <a:pPr lvl="1"/>
            <a:r>
              <a:rPr lang="fr-FR"/>
              <a:t>Deuxième niveau</a:t>
            </a:r>
          </a:p>
          <a:p>
            <a:pPr lvl="2"/>
            <a:r>
              <a:rPr lang="fr-FR"/>
              <a:t>Troisième niveau</a:t>
            </a:r>
          </a:p>
        </p:txBody>
      </p:sp>
      <p:sp>
        <p:nvSpPr>
          <p:cNvPr id="8"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10" name="Espace réservé pour une image  5"/>
          <p:cNvSpPr>
            <a:spLocks noGrp="1"/>
          </p:cNvSpPr>
          <p:nvPr>
            <p:ph type="pic" sz="quarter" idx="13"/>
          </p:nvPr>
        </p:nvSpPr>
        <p:spPr>
          <a:xfrm>
            <a:off x="4635797" y="1225909"/>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11" name="Espace réservé pour une image  5"/>
          <p:cNvSpPr>
            <a:spLocks noGrp="1"/>
          </p:cNvSpPr>
          <p:nvPr>
            <p:ph type="pic" sz="quarter" idx="15"/>
          </p:nvPr>
        </p:nvSpPr>
        <p:spPr>
          <a:xfrm>
            <a:off x="4635797" y="3285737"/>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3" name="Espace réservé du numéro de diapositive 2"/>
          <p:cNvSpPr>
            <a:spLocks noGrp="1"/>
          </p:cNvSpPr>
          <p:nvPr>
            <p:ph type="sldNum" sz="quarter" idx="19"/>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9"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6890675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re, sous-titres 2 contenus">
    <p:spTree>
      <p:nvGrpSpPr>
        <p:cNvPr id="1" name=""/>
        <p:cNvGrpSpPr/>
        <p:nvPr/>
      </p:nvGrpSpPr>
      <p:grpSpPr>
        <a:xfrm>
          <a:off x="0" y="0"/>
          <a:ext cx="0" cy="0"/>
          <a:chOff x="0" y="0"/>
          <a:chExt cx="0" cy="0"/>
        </a:xfrm>
      </p:grpSpPr>
      <p:sp>
        <p:nvSpPr>
          <p:cNvPr id="12" name="Espace réservé du contenu 2"/>
          <p:cNvSpPr>
            <a:spLocks noGrp="1"/>
          </p:cNvSpPr>
          <p:nvPr>
            <p:ph sz="half" idx="10"/>
          </p:nvPr>
        </p:nvSpPr>
        <p:spPr>
          <a:xfrm>
            <a:off x="478454" y="1997211"/>
            <a:ext cx="4017347" cy="3227226"/>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3" name="Espace réservé du texte 2"/>
          <p:cNvSpPr>
            <a:spLocks noGrp="1"/>
          </p:cNvSpPr>
          <p:nvPr>
            <p:ph type="body" idx="1"/>
          </p:nvPr>
        </p:nvSpPr>
        <p:spPr>
          <a:xfrm>
            <a:off x="478800" y="1215025"/>
            <a:ext cx="4018588" cy="782186"/>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14" name="Espace réservé du contenu 2"/>
          <p:cNvSpPr>
            <a:spLocks noGrp="1"/>
          </p:cNvSpPr>
          <p:nvPr>
            <p:ph sz="half" idx="11"/>
          </p:nvPr>
        </p:nvSpPr>
        <p:spPr>
          <a:xfrm>
            <a:off x="4646266" y="1997211"/>
            <a:ext cx="4017347" cy="3227227"/>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15" name="Espace réservé du texte 2"/>
          <p:cNvSpPr>
            <a:spLocks noGrp="1"/>
          </p:cNvSpPr>
          <p:nvPr>
            <p:ph type="body" idx="12"/>
          </p:nvPr>
        </p:nvSpPr>
        <p:spPr>
          <a:xfrm>
            <a:off x="4646612" y="1215026"/>
            <a:ext cx="4018588" cy="782185"/>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7"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4" name="Espace réservé du numéro de diapositive 3"/>
          <p:cNvSpPr>
            <a:spLocks noGrp="1"/>
          </p:cNvSpPr>
          <p:nvPr>
            <p:ph type="sldNum" sz="quarter" idx="14"/>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9"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533566771"/>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re, sous-titres 2 images">
    <p:spTree>
      <p:nvGrpSpPr>
        <p:cNvPr id="1" name=""/>
        <p:cNvGrpSpPr/>
        <p:nvPr/>
      </p:nvGrpSpPr>
      <p:grpSpPr>
        <a:xfrm>
          <a:off x="0" y="0"/>
          <a:ext cx="0" cy="0"/>
          <a:chOff x="0" y="0"/>
          <a:chExt cx="0" cy="0"/>
        </a:xfrm>
      </p:grpSpPr>
      <p:sp>
        <p:nvSpPr>
          <p:cNvPr id="4" name="Espace réservé pour une image  3"/>
          <p:cNvSpPr>
            <a:spLocks noGrp="1"/>
          </p:cNvSpPr>
          <p:nvPr>
            <p:ph type="pic" sz="quarter" idx="13"/>
          </p:nvPr>
        </p:nvSpPr>
        <p:spPr>
          <a:xfrm>
            <a:off x="477838" y="1997338"/>
            <a:ext cx="4019550" cy="3227126"/>
          </a:xfrm>
        </p:spPr>
        <p:txBody>
          <a:bodyPr anchor="ctr"/>
          <a:lstStyle>
            <a:lvl1pPr marL="0" indent="0" algn="ctr">
              <a:buNone/>
              <a:defRPr/>
            </a:lvl1pPr>
          </a:lstStyle>
          <a:p>
            <a:r>
              <a:rPr lang="fr-FR"/>
              <a:t>Cliquez sur l'icône pour ajouter une image</a:t>
            </a:r>
            <a:endParaRPr lang="fr-CA" dirty="0"/>
          </a:p>
        </p:txBody>
      </p:sp>
      <p:sp>
        <p:nvSpPr>
          <p:cNvPr id="9" name="Espace réservé pour une image  3"/>
          <p:cNvSpPr>
            <a:spLocks noGrp="1"/>
          </p:cNvSpPr>
          <p:nvPr>
            <p:ph type="pic" sz="quarter" idx="14"/>
          </p:nvPr>
        </p:nvSpPr>
        <p:spPr>
          <a:xfrm>
            <a:off x="4649788" y="1997211"/>
            <a:ext cx="4015412" cy="3227126"/>
          </a:xfrm>
        </p:spPr>
        <p:txBody>
          <a:bodyPr anchor="ctr"/>
          <a:lstStyle>
            <a:lvl1pPr marL="0" indent="0" algn="ctr">
              <a:buNone/>
              <a:defRPr/>
            </a:lvl1pPr>
          </a:lstStyle>
          <a:p>
            <a:r>
              <a:rPr lang="fr-FR"/>
              <a:t>Cliquez sur l'icône pour ajouter une image</a:t>
            </a:r>
            <a:endParaRPr lang="fr-CA"/>
          </a:p>
        </p:txBody>
      </p:sp>
      <p:sp>
        <p:nvSpPr>
          <p:cNvPr id="7" name="Espace réservé du texte 2"/>
          <p:cNvSpPr>
            <a:spLocks noGrp="1"/>
          </p:cNvSpPr>
          <p:nvPr>
            <p:ph type="body" idx="1"/>
          </p:nvPr>
        </p:nvSpPr>
        <p:spPr>
          <a:xfrm>
            <a:off x="478800" y="1215025"/>
            <a:ext cx="4018588" cy="782186"/>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8" name="Espace réservé du texte 2"/>
          <p:cNvSpPr>
            <a:spLocks noGrp="1"/>
          </p:cNvSpPr>
          <p:nvPr>
            <p:ph type="body" idx="12"/>
          </p:nvPr>
        </p:nvSpPr>
        <p:spPr>
          <a:xfrm>
            <a:off x="4646612" y="1215026"/>
            <a:ext cx="4018588" cy="782185"/>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10"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5" name="Espace réservé du numéro de diapositive 4"/>
          <p:cNvSpPr>
            <a:spLocks noGrp="1"/>
          </p:cNvSpPr>
          <p:nvPr>
            <p:ph type="sldNum" sz="quarter" idx="16"/>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11"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76252712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re, text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60400" y="1224000"/>
            <a:ext cx="5097600" cy="3999600"/>
          </a:xfrm>
        </p:spPr>
        <p:txBody>
          <a:bodyPr>
            <a:normAutofit/>
          </a:bodyPr>
          <a:lstStyle>
            <a:lvl1pPr>
              <a:defRPr sz="2000"/>
            </a:lvl1pPr>
            <a:lvl2pPr>
              <a:defRPr sz="2000"/>
            </a:lvl2pPr>
            <a:lvl3pPr>
              <a:defRPr sz="2000"/>
            </a:lvl3pPr>
            <a:lvl4pPr>
              <a:defRPr sz="2000"/>
            </a:lvl4pPr>
            <a:lvl5pPr>
              <a:defRPr sz="2000"/>
            </a:lvl5pPr>
            <a:lvl6pPr>
              <a:defRPr sz="1667"/>
            </a:lvl6pPr>
            <a:lvl7pPr>
              <a:defRPr sz="1667"/>
            </a:lvl7pPr>
            <a:lvl8pPr>
              <a:defRPr sz="1667"/>
            </a:lvl8pPr>
            <a:lvl9pPr>
              <a:defRPr sz="1667"/>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4" name="Espace réservé du texte 3"/>
          <p:cNvSpPr>
            <a:spLocks noGrp="1"/>
          </p:cNvSpPr>
          <p:nvPr>
            <p:ph type="body" sz="half" idx="2"/>
          </p:nvPr>
        </p:nvSpPr>
        <p:spPr>
          <a:xfrm>
            <a:off x="478800" y="1215025"/>
            <a:ext cx="2988000" cy="4009312"/>
          </a:xfrm>
        </p:spPr>
        <p:txBody>
          <a:bodyPr>
            <a:normAutofit/>
          </a:bodyPr>
          <a:lstStyle>
            <a:lvl1pPr marL="0" indent="0">
              <a:spcAft>
                <a:spcPts val="500"/>
              </a:spcAft>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0"/>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8" name="Espace réservé du numéro de diapositive 7"/>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34897636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re, texte et image">
    <p:spTree>
      <p:nvGrpSpPr>
        <p:cNvPr id="1" name=""/>
        <p:cNvGrpSpPr/>
        <p:nvPr/>
      </p:nvGrpSpPr>
      <p:grpSpPr>
        <a:xfrm>
          <a:off x="0" y="0"/>
          <a:ext cx="0" cy="0"/>
          <a:chOff x="0" y="0"/>
          <a:chExt cx="0" cy="0"/>
        </a:xfrm>
      </p:grpSpPr>
      <p:sp>
        <p:nvSpPr>
          <p:cNvPr id="5" name="Espace réservé pour une image  4"/>
          <p:cNvSpPr>
            <a:spLocks noGrp="1"/>
          </p:cNvSpPr>
          <p:nvPr>
            <p:ph type="pic" sz="quarter" idx="10"/>
          </p:nvPr>
        </p:nvSpPr>
        <p:spPr>
          <a:xfrm>
            <a:off x="3560765" y="1224000"/>
            <a:ext cx="5104437" cy="3999600"/>
          </a:xfrm>
        </p:spPr>
        <p:txBody>
          <a:bodyPr anchor="ctr"/>
          <a:lstStyle>
            <a:lvl1pPr marL="0" indent="0" algn="ctr">
              <a:buNone/>
              <a:defRPr/>
            </a:lvl1pPr>
          </a:lstStyle>
          <a:p>
            <a:r>
              <a:rPr lang="fr-FR"/>
              <a:t>Cliquez sur l'icône pour ajouter une image</a:t>
            </a:r>
            <a:endParaRPr lang="fr-CA"/>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7" name="Espace réservé du texte 3"/>
          <p:cNvSpPr>
            <a:spLocks noGrp="1"/>
          </p:cNvSpPr>
          <p:nvPr>
            <p:ph type="body" sz="half" idx="2"/>
          </p:nvPr>
        </p:nvSpPr>
        <p:spPr>
          <a:xfrm>
            <a:off x="478800" y="1224000"/>
            <a:ext cx="2988000" cy="3999600"/>
          </a:xfrm>
        </p:spPr>
        <p:txBody>
          <a:bodyPr>
            <a:normAutofit/>
          </a:bodyPr>
          <a:lstStyle>
            <a:lvl1pPr marL="0" indent="0">
              <a:spcAft>
                <a:spcPts val="500"/>
              </a:spcAft>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45983418"/>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re, sous-titre et imag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478800" y="1833707"/>
            <a:ext cx="8179200" cy="3394553"/>
          </a:xfrm>
        </p:spPr>
        <p:txBody>
          <a:bodyPr anchor="ctr"/>
          <a:lstStyle>
            <a:lvl1pPr marL="0" indent="0" algn="ctr">
              <a:buNone/>
              <a:defRPr sz="1392"/>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r>
              <a:rPr lang="fr-FR"/>
              <a:t>Cliquez sur l'icône pour ajouter une image</a:t>
            </a:r>
            <a:endParaRPr lang="fr-CA" dirty="0"/>
          </a:p>
        </p:txBody>
      </p:sp>
      <p:sp>
        <p:nvSpPr>
          <p:cNvPr id="4" name="Espace réservé du texte 3"/>
          <p:cNvSpPr>
            <a:spLocks noGrp="1"/>
          </p:cNvSpPr>
          <p:nvPr>
            <p:ph type="body" sz="half" idx="2"/>
          </p:nvPr>
        </p:nvSpPr>
        <p:spPr>
          <a:xfrm>
            <a:off x="478800" y="1217631"/>
            <a:ext cx="8179200" cy="522000"/>
          </a:xfrm>
        </p:spPr>
        <p:txBody>
          <a:bodyPr>
            <a:normAutofit/>
          </a:bodyPr>
          <a:lstStyle>
            <a:lvl1pPr marL="0" indent="0">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7"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99756293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re">
    <p:spTree>
      <p:nvGrpSpPr>
        <p:cNvPr id="1" name=""/>
        <p:cNvGrpSpPr/>
        <p:nvPr/>
      </p:nvGrpSpPr>
      <p:grpSpPr>
        <a:xfrm>
          <a:off x="0" y="0"/>
          <a:ext cx="0" cy="0"/>
          <a:chOff x="0" y="0"/>
          <a:chExt cx="0" cy="0"/>
        </a:xfrm>
      </p:grpSpPr>
      <p:sp>
        <p:nvSpPr>
          <p:cNvPr id="3"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5" name="Espace réservé du numéro de diapositive 5"/>
          <p:cNvSpPr>
            <a:spLocks noGrp="1"/>
          </p:cNvSpPr>
          <p:nvPr>
            <p:ph type="sldNum" sz="quarter" idx="11"/>
          </p:nvPr>
        </p:nvSpPr>
        <p:spPr>
          <a:xfrm>
            <a:off x="379562" y="5384996"/>
            <a:ext cx="464400" cy="136800"/>
          </a:xfrm>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6"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66731664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Image pleine écran">
    <p:spTree>
      <p:nvGrpSpPr>
        <p:cNvPr id="1" name=""/>
        <p:cNvGrpSpPr/>
        <p:nvPr/>
      </p:nvGrpSpPr>
      <p:grpSpPr>
        <a:xfrm>
          <a:off x="0" y="0"/>
          <a:ext cx="0" cy="0"/>
          <a:chOff x="0" y="0"/>
          <a:chExt cx="0" cy="0"/>
        </a:xfrm>
      </p:grpSpPr>
      <p:sp>
        <p:nvSpPr>
          <p:cNvPr id="2" name="Rectangle 1"/>
          <p:cNvSpPr/>
          <p:nvPr/>
        </p:nvSpPr>
        <p:spPr>
          <a:xfrm>
            <a:off x="7109927" y="5318450"/>
            <a:ext cx="1716832" cy="3265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3" name="Espace réservé pour une image  2"/>
          <p:cNvSpPr>
            <a:spLocks noGrp="1"/>
          </p:cNvSpPr>
          <p:nvPr>
            <p:ph type="pic" sz="quarter" idx="10"/>
          </p:nvPr>
        </p:nvSpPr>
        <p:spPr>
          <a:xfrm>
            <a:off x="1" y="0"/>
            <a:ext cx="9144000" cy="5715000"/>
          </a:xfrm>
        </p:spPr>
        <p:txBody>
          <a:bodyPr anchor="ctr"/>
          <a:lstStyle>
            <a:lvl1pPr marL="0" indent="0" algn="ctr">
              <a:buFontTx/>
              <a:buNone/>
              <a:defRPr/>
            </a:lvl1pPr>
          </a:lstStyle>
          <a:p>
            <a:r>
              <a:rPr lang="fr-FR"/>
              <a:t>Cliquez sur l'icône pour ajouter une image</a:t>
            </a:r>
            <a:endParaRPr lang="fr-CA"/>
          </a:p>
        </p:txBody>
      </p:sp>
    </p:spTree>
    <p:extLst>
      <p:ext uri="{BB962C8B-B14F-4D97-AF65-F5344CB8AC3E}">
        <p14:creationId xmlns:p14="http://schemas.microsoft.com/office/powerpoint/2010/main" val="511938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re et image (zoom possible)">
    <p:spTree>
      <p:nvGrpSpPr>
        <p:cNvPr id="1" name=""/>
        <p:cNvGrpSpPr/>
        <p:nvPr/>
      </p:nvGrpSpPr>
      <p:grpSpPr>
        <a:xfrm>
          <a:off x="0" y="0"/>
          <a:ext cx="0" cy="0"/>
          <a:chOff x="0" y="0"/>
          <a:chExt cx="0" cy="0"/>
        </a:xfrm>
      </p:grpSpPr>
      <p:sp>
        <p:nvSpPr>
          <p:cNvPr id="4" name="Espace réservé pour une image  3"/>
          <p:cNvSpPr>
            <a:spLocks noGrp="1"/>
          </p:cNvSpPr>
          <p:nvPr>
            <p:ph type="pic" sz="quarter" idx="10"/>
          </p:nvPr>
        </p:nvSpPr>
        <p:spPr>
          <a:xfrm>
            <a:off x="0" y="1245432"/>
            <a:ext cx="9144000" cy="3999600"/>
          </a:xfrm>
        </p:spPr>
        <p:txBody>
          <a:bodyPr anchor="ctr"/>
          <a:lstStyle>
            <a:lvl1pPr marL="0" indent="0" algn="ctr">
              <a:buNone/>
              <a:defRPr/>
            </a:lvl1pPr>
          </a:lstStyle>
          <a:p>
            <a:r>
              <a:rPr lang="fr-FR"/>
              <a:t>Cliquez sur l'icône pour ajouter une image</a:t>
            </a:r>
            <a:endParaRPr lang="fr-CA" dirty="0"/>
          </a:p>
        </p:txBody>
      </p:sp>
      <p:sp>
        <p:nvSpPr>
          <p:cNvPr id="11" name="Espace réservé du graphique SmartArt 10"/>
          <p:cNvSpPr>
            <a:spLocks noGrp="1"/>
          </p:cNvSpPr>
          <p:nvPr>
            <p:ph type="dgm" sz="quarter" idx="14"/>
          </p:nvPr>
        </p:nvSpPr>
        <p:spPr>
          <a:xfrm>
            <a:off x="0" y="38"/>
            <a:ext cx="9144000" cy="1223963"/>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12" name="Espace réservé du graphique SmartArt 10"/>
          <p:cNvSpPr>
            <a:spLocks noGrp="1"/>
          </p:cNvSpPr>
          <p:nvPr>
            <p:ph type="dgm" sz="quarter" idx="15"/>
          </p:nvPr>
        </p:nvSpPr>
        <p:spPr>
          <a:xfrm>
            <a:off x="0" y="5245032"/>
            <a:ext cx="9144000" cy="469969"/>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1"/>
          </p:nvPr>
        </p:nvSpPr>
        <p:spPr>
          <a:xfrm>
            <a:off x="3124200" y="5377376"/>
            <a:ext cx="2895600" cy="200464"/>
          </a:xfrm>
          <a:prstGeom prst="rect">
            <a:avLst/>
          </a:prstGeom>
          <a:solidFill>
            <a:schemeClr val="bg1"/>
          </a:solidFill>
        </p:spPr>
        <p:txBody>
          <a:bodyPr/>
          <a:lstStyle/>
          <a:p>
            <a:r>
              <a:rPr lang="fr-CA">
                <a:solidFill>
                  <a:srgbClr val="003C71"/>
                </a:solidFill>
              </a:rPr>
              <a:t>@2025. Marie-Christine ALBERT. Tous droits réservés.</a:t>
            </a:r>
            <a:endParaRPr lang="fr-CA" dirty="0">
              <a:solidFill>
                <a:srgbClr val="003C71"/>
              </a:solidFill>
            </a:endParaRPr>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64949799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re, sous-titre et image (zoom possibl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0" y="1841327"/>
            <a:ext cx="9144000" cy="3394553"/>
          </a:xfrm>
        </p:spPr>
        <p:txBody>
          <a:bodyPr anchor="ctr"/>
          <a:lstStyle>
            <a:lvl1pPr marL="0" indent="0" algn="ctr">
              <a:buNone/>
              <a:defRPr sz="1392"/>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r>
              <a:rPr lang="fr-FR"/>
              <a:t>Cliquez sur l'icône pour ajouter une image</a:t>
            </a:r>
            <a:endParaRPr lang="fr-CA" dirty="0"/>
          </a:p>
        </p:txBody>
      </p:sp>
      <p:sp>
        <p:nvSpPr>
          <p:cNvPr id="9" name="Espace réservé du graphique SmartArt 10"/>
          <p:cNvSpPr>
            <a:spLocks noGrp="1"/>
          </p:cNvSpPr>
          <p:nvPr>
            <p:ph type="dgm" sz="quarter" idx="16"/>
          </p:nvPr>
        </p:nvSpPr>
        <p:spPr>
          <a:xfrm>
            <a:off x="0" y="5248406"/>
            <a:ext cx="9144000" cy="466595"/>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7" name="Espace réservé du graphique SmartArt 10"/>
          <p:cNvSpPr>
            <a:spLocks noGrp="1"/>
          </p:cNvSpPr>
          <p:nvPr>
            <p:ph type="dgm" sz="quarter" idx="14"/>
          </p:nvPr>
        </p:nvSpPr>
        <p:spPr>
          <a:xfrm>
            <a:off x="0" y="38"/>
            <a:ext cx="9144000" cy="1828763"/>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4" name="Espace réservé du texte 3"/>
          <p:cNvSpPr>
            <a:spLocks noGrp="1"/>
          </p:cNvSpPr>
          <p:nvPr>
            <p:ph type="body" sz="half" idx="2"/>
          </p:nvPr>
        </p:nvSpPr>
        <p:spPr>
          <a:xfrm>
            <a:off x="478800" y="1217631"/>
            <a:ext cx="8179200" cy="522000"/>
          </a:xfrm>
        </p:spPr>
        <p:txBody>
          <a:bodyPr>
            <a:normAutofit/>
          </a:bodyPr>
          <a:lstStyle>
            <a:lvl1pPr marL="0" indent="0">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1"/>
          <p:cNvSpPr>
            <a:spLocks noGrp="1"/>
          </p:cNvSpPr>
          <p:nvPr>
            <p:ph type="ftr" sz="quarter" idx="15"/>
          </p:nvPr>
        </p:nvSpPr>
        <p:spPr>
          <a:xfrm>
            <a:off x="3124200" y="5377376"/>
            <a:ext cx="2895600" cy="200464"/>
          </a:xfrm>
          <a:prstGeom prst="rect">
            <a:avLst/>
          </a:prstGeom>
          <a:solidFill>
            <a:schemeClr val="bg1"/>
          </a:solidFill>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32102119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Vide avec logo">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a:xfrm>
            <a:off x="3124200" y="5384996"/>
            <a:ext cx="2895600" cy="136800"/>
          </a:xfrm>
          <a:prstGeom prst="rect">
            <a:avLst/>
          </a:prstGeom>
        </p:spPr>
        <p:txBody>
          <a:bodyPr/>
          <a:lstStyle/>
          <a:p>
            <a:r>
              <a:rPr lang="fr-CA">
                <a:solidFill>
                  <a:srgbClr val="003C71"/>
                </a:solidFill>
              </a:rPr>
              <a:t>@2025. Marie-Christine ALBERT. Tous droits réservés.</a:t>
            </a:r>
            <a:endParaRPr lang="fr-CA" dirty="0">
              <a:solidFill>
                <a:srgbClr val="003C71"/>
              </a:solidFill>
            </a:endParaRPr>
          </a:p>
        </p:txBody>
      </p:sp>
      <p:sp>
        <p:nvSpPr>
          <p:cNvPr id="4" name="Espace réservé du numéro de diapositive 5"/>
          <p:cNvSpPr>
            <a:spLocks noGrp="1"/>
          </p:cNvSpPr>
          <p:nvPr>
            <p:ph type="sldNum" sz="quarter" idx="11"/>
          </p:nvPr>
        </p:nvSpPr>
        <p:spPr>
          <a:xfrm>
            <a:off x="379562" y="5384996"/>
            <a:ext cx="464400" cy="136800"/>
          </a:xfrm>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4752516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Vide sans logo">
    <p:spTree>
      <p:nvGrpSpPr>
        <p:cNvPr id="1" name=""/>
        <p:cNvGrpSpPr/>
        <p:nvPr/>
      </p:nvGrpSpPr>
      <p:grpSpPr>
        <a:xfrm>
          <a:off x="0" y="0"/>
          <a:ext cx="0" cy="0"/>
          <a:chOff x="0" y="0"/>
          <a:chExt cx="0" cy="0"/>
        </a:xfrm>
      </p:grpSpPr>
      <p:sp>
        <p:nvSpPr>
          <p:cNvPr id="2" name="Rectangle 1"/>
          <p:cNvSpPr/>
          <p:nvPr/>
        </p:nvSpPr>
        <p:spPr>
          <a:xfrm>
            <a:off x="7159257" y="5146159"/>
            <a:ext cx="1729562" cy="4820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28750677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4 Content">
    <p:spTree>
      <p:nvGrpSpPr>
        <p:cNvPr id="1" name=""/>
        <p:cNvGrpSpPr/>
        <p:nvPr/>
      </p:nvGrpSpPr>
      <p:grpSpPr>
        <a:xfrm>
          <a:off x="0" y="0"/>
          <a:ext cx="0" cy="0"/>
          <a:chOff x="0" y="0"/>
          <a:chExt cx="0" cy="0"/>
        </a:xfrm>
      </p:grpSpPr>
      <p:sp>
        <p:nvSpPr>
          <p:cNvPr id="8" name="Rectangle 7"/>
          <p:cNvSpPr/>
          <p:nvPr/>
        </p:nvSpPr>
        <p:spPr>
          <a:xfrm>
            <a:off x="8148923" y="223573"/>
            <a:ext cx="718073"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202" y="762000"/>
            <a:ext cx="7391401" cy="952500"/>
          </a:xfrm>
        </p:spPr>
        <p:txBody>
          <a:bodyPr/>
          <a:lstStyle/>
          <a:p>
            <a:r>
              <a:rPr lang="fr-CA"/>
              <a:t>Click to edit Master title style</a:t>
            </a:r>
            <a:endParaRPr/>
          </a:p>
        </p:txBody>
      </p:sp>
      <p:sp>
        <p:nvSpPr>
          <p:cNvPr id="3" name="Content Placeholder 2"/>
          <p:cNvSpPr>
            <a:spLocks noGrp="1"/>
          </p:cNvSpPr>
          <p:nvPr>
            <p:ph sz="half" idx="1"/>
          </p:nvPr>
        </p:nvSpPr>
        <p:spPr>
          <a:xfrm>
            <a:off x="4282440" y="1845469"/>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9" name="Content Placeholder 2"/>
          <p:cNvSpPr>
            <a:spLocks noGrp="1"/>
          </p:cNvSpPr>
          <p:nvPr>
            <p:ph sz="half" idx="13"/>
          </p:nvPr>
        </p:nvSpPr>
        <p:spPr>
          <a:xfrm>
            <a:off x="4282440" y="3520811"/>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11" name="Content Placeholder 2"/>
          <p:cNvSpPr>
            <a:spLocks noGrp="1"/>
          </p:cNvSpPr>
          <p:nvPr>
            <p:ph sz="half" idx="14"/>
          </p:nvPr>
        </p:nvSpPr>
        <p:spPr>
          <a:xfrm>
            <a:off x="457200" y="1845469"/>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12" name="Content Placeholder 2"/>
          <p:cNvSpPr>
            <a:spLocks noGrp="1"/>
          </p:cNvSpPr>
          <p:nvPr>
            <p:ph sz="half" idx="15"/>
          </p:nvPr>
        </p:nvSpPr>
        <p:spPr>
          <a:xfrm>
            <a:off x="457200" y="3520811"/>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Tree>
    <p:extLst>
      <p:ext uri="{BB962C8B-B14F-4D97-AF65-F5344CB8AC3E}">
        <p14:creationId xmlns:p14="http://schemas.microsoft.com/office/powerpoint/2010/main" val="7108953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8" name="Rectangle 7"/>
          <p:cNvSpPr/>
          <p:nvPr/>
        </p:nvSpPr>
        <p:spPr>
          <a:xfrm>
            <a:off x="4746811" y="223573"/>
            <a:ext cx="4114800" cy="472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199" y="829237"/>
            <a:ext cx="3566160" cy="862853"/>
          </a:xfrm>
        </p:spPr>
        <p:txBody>
          <a:bodyPr anchor="b"/>
          <a:lstStyle>
            <a:lvl1pPr algn="l">
              <a:defRPr sz="1944" b="0"/>
            </a:lvl1pPr>
          </a:lstStyle>
          <a:p>
            <a:r>
              <a:rPr lang="fr-CA"/>
              <a:t>Click to edit Master title style</a:t>
            </a:r>
            <a:endParaRPr/>
          </a:p>
        </p:txBody>
      </p:sp>
      <p:sp>
        <p:nvSpPr>
          <p:cNvPr id="4" name="Text Placeholder 3"/>
          <p:cNvSpPr>
            <a:spLocks noGrp="1"/>
          </p:cNvSpPr>
          <p:nvPr>
            <p:ph type="body" sz="half" idx="2"/>
          </p:nvPr>
        </p:nvSpPr>
        <p:spPr>
          <a:xfrm>
            <a:off x="457199" y="1714502"/>
            <a:ext cx="3566160" cy="3048001"/>
          </a:xfrm>
        </p:spPr>
        <p:txBody>
          <a:bodyPr>
            <a:normAutofit/>
          </a:bodyPr>
          <a:lstStyle>
            <a:lvl1pPr marL="0" indent="0">
              <a:buNone/>
              <a:defRPr sz="1111"/>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a:t>Click to edit Master text styles</a:t>
            </a:r>
          </a:p>
        </p:txBody>
      </p:sp>
      <p:sp>
        <p:nvSpPr>
          <p:cNvPr id="5" name="Date Placeholder 4"/>
          <p:cNvSpPr>
            <a:spLocks noGrp="1"/>
          </p:cNvSpPr>
          <p:nvPr>
            <p:ph type="dt" sz="half" idx="10"/>
          </p:nvPr>
        </p:nvSpPr>
        <p:spPr>
          <a:xfrm>
            <a:off x="161365" y="5103347"/>
            <a:ext cx="1752600" cy="304271"/>
          </a:xfrm>
          <a:prstGeom prst="rect">
            <a:avLst/>
          </a:prstGeom>
        </p:spPr>
        <p:txBody>
          <a:bodyPr/>
          <a:lstStyle>
            <a:lvl1pPr algn="l">
              <a:defRPr/>
            </a:lvl1p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a:xfrm>
            <a:off x="174812" y="5296961"/>
            <a:ext cx="3863788" cy="304271"/>
          </a:xfrm>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10" name="Picture Placeholder 9"/>
          <p:cNvSpPr>
            <a:spLocks noGrp="1"/>
          </p:cNvSpPr>
          <p:nvPr>
            <p:ph type="pic" sz="quarter" idx="13"/>
          </p:nvPr>
        </p:nvSpPr>
        <p:spPr>
          <a:xfrm>
            <a:off x="4760258" y="825501"/>
            <a:ext cx="4096512" cy="4676511"/>
          </a:xfrm>
        </p:spPr>
        <p:txBody>
          <a:bodyPr/>
          <a:lstStyle>
            <a:lvl1pPr>
              <a:buNone/>
              <a:defRPr/>
            </a:lvl1pPr>
          </a:lstStyle>
          <a:p>
            <a:r>
              <a:rPr lang="fr-CA"/>
              <a:t>Click icon to add picture</a:t>
            </a:r>
            <a:endParaRPr/>
          </a:p>
        </p:txBody>
      </p:sp>
    </p:spTree>
    <p:extLst>
      <p:ext uri="{BB962C8B-B14F-4D97-AF65-F5344CB8AC3E}">
        <p14:creationId xmlns:p14="http://schemas.microsoft.com/office/powerpoint/2010/main" val="19612996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3429000"/>
            <a:ext cx="8915400" cy="731520"/>
          </a:xfrm>
        </p:spPr>
        <p:txBody>
          <a:bodyPr tIns="137160" bIns="137160" anchor="b">
            <a:normAutofit/>
          </a:bodyPr>
          <a:lstStyle>
            <a:lvl1pPr>
              <a:defRPr sz="1667"/>
            </a:lvl1pPr>
          </a:lstStyle>
          <a:p>
            <a:r>
              <a:rPr lang="fr-CA"/>
              <a:t>Click to edit Master title style</a:t>
            </a:r>
            <a:endParaRPr/>
          </a:p>
        </p:txBody>
      </p:sp>
      <p:sp>
        <p:nvSpPr>
          <p:cNvPr id="3" name="Subtitle 2"/>
          <p:cNvSpPr>
            <a:spLocks noGrp="1"/>
          </p:cNvSpPr>
          <p:nvPr>
            <p:ph type="subTitle" idx="1"/>
          </p:nvPr>
        </p:nvSpPr>
        <p:spPr>
          <a:xfrm>
            <a:off x="914400" y="4168589"/>
            <a:ext cx="8001000" cy="1546413"/>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ormAutofit/>
          </a:bodyPr>
          <a:lstStyle>
            <a:lvl1pPr marL="0" indent="0" algn="l" defTabSz="634950" rtl="0" eaLnBrk="1" latinLnBrk="0" hangingPunct="1">
              <a:buNone/>
              <a:defRPr sz="1111" kern="1200">
                <a:solidFill>
                  <a:schemeClr val="tx1">
                    <a:lumMod val="65000"/>
                    <a:lumOff val="35000"/>
                  </a:schemeClr>
                </a:solidFill>
                <a:latin typeface="+mn-lt"/>
                <a:ea typeface="+mn-ea"/>
                <a:cs typeface="+mn-cs"/>
              </a:defRPr>
            </a:lvl1pPr>
            <a:lvl2pPr marL="317475" indent="0" algn="ctr">
              <a:buNone/>
              <a:defRPr>
                <a:solidFill>
                  <a:schemeClr val="tx1">
                    <a:tint val="75000"/>
                  </a:schemeClr>
                </a:solidFill>
              </a:defRPr>
            </a:lvl2pPr>
            <a:lvl3pPr marL="634950" indent="0" algn="ctr">
              <a:buNone/>
              <a:defRPr>
                <a:solidFill>
                  <a:schemeClr val="tx1">
                    <a:tint val="75000"/>
                  </a:schemeClr>
                </a:solidFill>
              </a:defRPr>
            </a:lvl3pPr>
            <a:lvl4pPr marL="952424" indent="0" algn="ctr">
              <a:buNone/>
              <a:defRPr>
                <a:solidFill>
                  <a:schemeClr val="tx1">
                    <a:tint val="75000"/>
                  </a:schemeClr>
                </a:solidFill>
              </a:defRPr>
            </a:lvl4pPr>
            <a:lvl5pPr marL="1269898" indent="0" algn="ctr">
              <a:buNone/>
              <a:defRPr>
                <a:solidFill>
                  <a:schemeClr val="tx1">
                    <a:tint val="75000"/>
                  </a:schemeClr>
                </a:solidFill>
              </a:defRPr>
            </a:lvl5pPr>
            <a:lvl6pPr marL="1587373" indent="0" algn="ctr">
              <a:buNone/>
              <a:defRPr>
                <a:solidFill>
                  <a:schemeClr val="tx1">
                    <a:tint val="75000"/>
                  </a:schemeClr>
                </a:solidFill>
              </a:defRPr>
            </a:lvl6pPr>
            <a:lvl7pPr marL="1904848" indent="0" algn="ctr">
              <a:buNone/>
              <a:defRPr>
                <a:solidFill>
                  <a:schemeClr val="tx1">
                    <a:tint val="75000"/>
                  </a:schemeClr>
                </a:solidFill>
              </a:defRPr>
            </a:lvl7pPr>
            <a:lvl8pPr marL="2222322" indent="0" algn="ctr">
              <a:buNone/>
              <a:defRPr>
                <a:solidFill>
                  <a:schemeClr val="tx1">
                    <a:tint val="75000"/>
                  </a:schemeClr>
                </a:solidFill>
              </a:defRPr>
            </a:lvl8pPr>
            <a:lvl9pPr marL="2539797" indent="0" algn="ctr">
              <a:buNone/>
              <a:defRPr>
                <a:solidFill>
                  <a:schemeClr val="tx1">
                    <a:tint val="75000"/>
                  </a:schemeClr>
                </a:solidFill>
              </a:defRPr>
            </a:lvl9pPr>
          </a:lstStyle>
          <a:p>
            <a:r>
              <a:rPr lang="fr-CA"/>
              <a:t>Click to edit Master subtitle style</a:t>
            </a:r>
            <a:endParaRPr/>
          </a:p>
        </p:txBody>
      </p:sp>
      <p:sp>
        <p:nvSpPr>
          <p:cNvPr id="9" name="Picture Placeholder 8"/>
          <p:cNvSpPr>
            <a:spLocks noGrp="1"/>
          </p:cNvSpPr>
          <p:nvPr>
            <p:ph type="pic" sz="quarter" idx="13"/>
          </p:nvPr>
        </p:nvSpPr>
        <p:spPr>
          <a:xfrm>
            <a:off x="927100" y="941294"/>
            <a:ext cx="3986784" cy="2484120"/>
          </a:xfrm>
        </p:spPr>
        <p:txBody>
          <a:bodyPr rtlCol="0">
            <a:normAutofit/>
          </a:bodyPr>
          <a:lstStyle>
            <a:lvl1pPr marL="0" indent="0">
              <a:buNone/>
              <a:defRPr sz="1250"/>
            </a:lvl1pPr>
          </a:lstStyle>
          <a:p>
            <a:pPr lvl="0"/>
            <a:r>
              <a:rPr lang="fr-CA" noProof="0"/>
              <a:t>Click icon to add picture</a:t>
            </a:r>
            <a:endParaRPr noProof="0"/>
          </a:p>
        </p:txBody>
      </p:sp>
      <p:sp>
        <p:nvSpPr>
          <p:cNvPr id="7" name="Picture Placeholder 8"/>
          <p:cNvSpPr>
            <a:spLocks noGrp="1"/>
          </p:cNvSpPr>
          <p:nvPr>
            <p:ph type="pic" sz="quarter" idx="14"/>
          </p:nvPr>
        </p:nvSpPr>
        <p:spPr>
          <a:xfrm>
            <a:off x="4928616" y="941294"/>
            <a:ext cx="3986784" cy="2484120"/>
          </a:xfrm>
        </p:spPr>
        <p:txBody>
          <a:bodyPr rtlCol="0">
            <a:normAutofit/>
          </a:bodyPr>
          <a:lstStyle>
            <a:lvl1pPr marL="0" indent="0">
              <a:buNone/>
              <a:defRPr sz="1250"/>
            </a:lvl1pPr>
          </a:lstStyle>
          <a:p>
            <a:pPr lvl="0"/>
            <a:r>
              <a:rPr lang="fr-CA" noProof="0"/>
              <a:t>Click icon to add picture</a:t>
            </a:r>
            <a:endParaRPr noProof="0"/>
          </a:p>
        </p:txBody>
      </p:sp>
      <p:sp>
        <p:nvSpPr>
          <p:cNvPr id="6" name="Date Placeholder 3"/>
          <p:cNvSpPr>
            <a:spLocks noGrp="1"/>
          </p:cNvSpPr>
          <p:nvPr>
            <p:ph type="dt" sz="half" idx="15"/>
          </p:nvPr>
        </p:nvSpPr>
        <p:spPr>
          <a:xfrm>
            <a:off x="457200" y="5031989"/>
            <a:ext cx="2133600" cy="134948"/>
          </a:xfrm>
          <a:prstGeom prst="rect">
            <a:avLst/>
          </a:prstGeom>
        </p:spPr>
        <p:txBody>
          <a:bodyPr/>
          <a:lstStyle>
            <a:lvl1pPr>
              <a:defRPr/>
            </a:lvl1pPr>
          </a:lstStyle>
          <a:p>
            <a:pPr defTabSz="380985">
              <a:defRPr/>
            </a:pPr>
            <a:endParaRPr lang="fr-CA">
              <a:solidFill>
                <a:srgbClr val="000000"/>
              </a:solidFill>
            </a:endParaRPr>
          </a:p>
        </p:txBody>
      </p:sp>
      <p:sp>
        <p:nvSpPr>
          <p:cNvPr id="8" name="Footer Placeholder 4"/>
          <p:cNvSpPr>
            <a:spLocks noGrp="1"/>
          </p:cNvSpPr>
          <p:nvPr>
            <p:ph type="ftr" sz="quarter" idx="16"/>
          </p:nvPr>
        </p:nvSpPr>
        <p:spPr/>
        <p:txBody>
          <a:bodyPr/>
          <a:lstStyle>
            <a:lvl1pPr>
              <a:defRPr/>
            </a:lvl1pPr>
          </a:lstStyle>
          <a:p>
            <a:pPr>
              <a:defRPr/>
            </a:pPr>
            <a:r>
              <a:rPr lang="fr-CA">
                <a:solidFill>
                  <a:srgbClr val="003C71"/>
                </a:solidFill>
              </a:rPr>
              <a:t>@2025. Marie-Christine ALBERT. Tous droits réservés.</a:t>
            </a:r>
          </a:p>
        </p:txBody>
      </p:sp>
    </p:spTree>
    <p:extLst>
      <p:ext uri="{BB962C8B-B14F-4D97-AF65-F5344CB8AC3E}">
        <p14:creationId xmlns:p14="http://schemas.microsoft.com/office/powerpoint/2010/main" val="41858776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ection with Picture">
    <p:spTree>
      <p:nvGrpSpPr>
        <p:cNvPr id="1" name=""/>
        <p:cNvGrpSpPr/>
        <p:nvPr/>
      </p:nvGrpSpPr>
      <p:grpSpPr>
        <a:xfrm>
          <a:off x="0" y="0"/>
          <a:ext cx="0" cy="0"/>
          <a:chOff x="0" y="0"/>
          <a:chExt cx="0" cy="0"/>
        </a:xfrm>
      </p:grpSpPr>
      <p:sp>
        <p:nvSpPr>
          <p:cNvPr id="7" name="Rectangle 6"/>
          <p:cNvSpPr/>
          <p:nvPr/>
        </p:nvSpPr>
        <p:spPr>
          <a:xfrm>
            <a:off x="269875" y="3978089"/>
            <a:ext cx="2971800" cy="1537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3720354" y="2857503"/>
            <a:ext cx="4966446" cy="1165413"/>
          </a:xfrm>
        </p:spPr>
        <p:txBody>
          <a:bodyPr anchor="b" anchorCtr="0"/>
          <a:lstStyle>
            <a:lvl1pPr algn="r">
              <a:defRPr sz="3194" b="0" cap="none" baseline="0"/>
            </a:lvl1pPr>
          </a:lstStyle>
          <a:p>
            <a:r>
              <a:rPr lang="fr-CA"/>
              <a:t>Click to edit Master title style</a:t>
            </a:r>
            <a:endParaRPr/>
          </a:p>
        </p:txBody>
      </p:sp>
      <p:sp>
        <p:nvSpPr>
          <p:cNvPr id="3" name="Text Placeholder 2"/>
          <p:cNvSpPr>
            <a:spLocks noGrp="1"/>
          </p:cNvSpPr>
          <p:nvPr>
            <p:ph type="body" idx="1"/>
          </p:nvPr>
        </p:nvSpPr>
        <p:spPr>
          <a:xfrm>
            <a:off x="3720354" y="4020345"/>
            <a:ext cx="4966446" cy="1100667"/>
          </a:xfrm>
        </p:spPr>
        <p:txBody>
          <a:bodyPr anchor="t" anchorCtr="0">
            <a:normAutofit/>
          </a:bodyPr>
          <a:lstStyle>
            <a:lvl1pPr marL="0" indent="0" algn="r">
              <a:buNone/>
              <a:defRPr sz="1111">
                <a:solidFill>
                  <a:schemeClr val="tx2"/>
                </a:solidFill>
              </a:defRPr>
            </a:lvl1pPr>
            <a:lvl2pPr marL="317475" indent="0">
              <a:buNone/>
              <a:defRPr sz="1250">
                <a:solidFill>
                  <a:schemeClr val="tx1">
                    <a:tint val="75000"/>
                  </a:schemeClr>
                </a:solidFill>
              </a:defRPr>
            </a:lvl2pPr>
            <a:lvl3pPr marL="634950" indent="0">
              <a:buNone/>
              <a:defRPr sz="1111">
                <a:solidFill>
                  <a:schemeClr val="tx1">
                    <a:tint val="75000"/>
                  </a:schemeClr>
                </a:solidFill>
              </a:defRPr>
            </a:lvl3pPr>
            <a:lvl4pPr marL="952424" indent="0">
              <a:buNone/>
              <a:defRPr sz="972">
                <a:solidFill>
                  <a:schemeClr val="tx1">
                    <a:tint val="75000"/>
                  </a:schemeClr>
                </a:solidFill>
              </a:defRPr>
            </a:lvl4pPr>
            <a:lvl5pPr marL="1269898" indent="0">
              <a:buNone/>
              <a:defRPr sz="972">
                <a:solidFill>
                  <a:schemeClr val="tx1">
                    <a:tint val="75000"/>
                  </a:schemeClr>
                </a:solidFill>
              </a:defRPr>
            </a:lvl5pPr>
            <a:lvl6pPr marL="1587373" indent="0">
              <a:buNone/>
              <a:defRPr sz="972">
                <a:solidFill>
                  <a:schemeClr val="tx1">
                    <a:tint val="75000"/>
                  </a:schemeClr>
                </a:solidFill>
              </a:defRPr>
            </a:lvl6pPr>
            <a:lvl7pPr marL="1904848" indent="0">
              <a:buNone/>
              <a:defRPr sz="972">
                <a:solidFill>
                  <a:schemeClr val="tx1">
                    <a:tint val="75000"/>
                  </a:schemeClr>
                </a:solidFill>
              </a:defRPr>
            </a:lvl7pPr>
            <a:lvl8pPr marL="2222322" indent="0">
              <a:buNone/>
              <a:defRPr sz="972">
                <a:solidFill>
                  <a:schemeClr val="tx1">
                    <a:tint val="75000"/>
                  </a:schemeClr>
                </a:solidFill>
              </a:defRPr>
            </a:lvl8pPr>
            <a:lvl9pPr marL="2539797" indent="0">
              <a:buNone/>
              <a:defRPr sz="972">
                <a:solidFill>
                  <a:schemeClr val="tx1">
                    <a:tint val="75000"/>
                  </a:schemeClr>
                </a:solidFill>
              </a:defRPr>
            </a:lvl9pPr>
          </a:lstStyle>
          <a:p>
            <a:pPr lvl="0"/>
            <a:r>
              <a:rPr lang="fr-CA"/>
              <a:t>Click to edit Master text styles</a:t>
            </a:r>
          </a:p>
        </p:txBody>
      </p:sp>
      <p:sp>
        <p:nvSpPr>
          <p:cNvPr id="6" name="Slide Number Placeholder 5"/>
          <p:cNvSpPr>
            <a:spLocks noGrp="1"/>
          </p:cNvSpPr>
          <p:nvPr>
            <p:ph type="sldNum" sz="quarter" idx="12"/>
          </p:nvPr>
        </p:nvSpPr>
        <p:spPr>
          <a:xfrm>
            <a:off x="351212" y="5087473"/>
            <a:ext cx="506506" cy="304271"/>
          </a:xfrm>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9" name="Picture Placeholder 8"/>
          <p:cNvSpPr>
            <a:spLocks noGrp="1"/>
          </p:cNvSpPr>
          <p:nvPr>
            <p:ph type="pic" sz="quarter" idx="13"/>
          </p:nvPr>
        </p:nvSpPr>
        <p:spPr>
          <a:xfrm>
            <a:off x="269874" y="223574"/>
            <a:ext cx="2971800" cy="3698876"/>
          </a:xfrm>
        </p:spPr>
        <p:txBody>
          <a:bodyPr/>
          <a:lstStyle>
            <a:lvl1pPr>
              <a:buNone/>
              <a:defRPr/>
            </a:lvl1pPr>
          </a:lstStyle>
          <a:p>
            <a:r>
              <a:rPr lang="fr-CA"/>
              <a:t>Click icon to add picture</a:t>
            </a:r>
            <a:endParaRPr/>
          </a:p>
        </p:txBody>
      </p:sp>
    </p:spTree>
    <p:extLst>
      <p:ext uri="{BB962C8B-B14F-4D97-AF65-F5344CB8AC3E}">
        <p14:creationId xmlns:p14="http://schemas.microsoft.com/office/powerpoint/2010/main" val="24871673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p:cNvSpPr/>
          <p:nvPr/>
        </p:nvSpPr>
        <p:spPr>
          <a:xfrm>
            <a:off x="8148923" y="223573"/>
            <a:ext cx="718073"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202" y="762000"/>
            <a:ext cx="7391401" cy="952500"/>
          </a:xfrm>
        </p:spPr>
        <p:txBody>
          <a:bodyPr/>
          <a:lstStyle/>
          <a:p>
            <a:r>
              <a:rPr lang="fr-CA"/>
              <a:t>Click to edit Master title style</a:t>
            </a:r>
            <a:endParaRPr/>
          </a:p>
        </p:txBody>
      </p:sp>
      <p:sp>
        <p:nvSpPr>
          <p:cNvPr id="3" name="Content Placeholder 2"/>
          <p:cNvSpPr>
            <a:spLocks noGrp="1"/>
          </p:cNvSpPr>
          <p:nvPr>
            <p:ph sz="half" idx="1"/>
          </p:nvPr>
        </p:nvSpPr>
        <p:spPr>
          <a:xfrm>
            <a:off x="457200" y="1845470"/>
            <a:ext cx="3566160" cy="3259667"/>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4" name="Content Placeholder 3"/>
          <p:cNvSpPr>
            <a:spLocks noGrp="1"/>
          </p:cNvSpPr>
          <p:nvPr>
            <p:ph sz="half" idx="2"/>
          </p:nvPr>
        </p:nvSpPr>
        <p:spPr>
          <a:xfrm>
            <a:off x="4282440" y="1845470"/>
            <a:ext cx="3566160" cy="3259667"/>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Tree>
    <p:extLst>
      <p:ext uri="{BB962C8B-B14F-4D97-AF65-F5344CB8AC3E}">
        <p14:creationId xmlns:p14="http://schemas.microsoft.com/office/powerpoint/2010/main" val="1332406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Contenu texte">
    <p:spTree>
      <p:nvGrpSpPr>
        <p:cNvPr id="1" name=""/>
        <p:cNvGrpSpPr/>
        <p:nvPr/>
      </p:nvGrpSpPr>
      <p:grpSpPr>
        <a:xfrm>
          <a:off x="0" y="0"/>
          <a:ext cx="0" cy="0"/>
          <a:chOff x="0" y="0"/>
          <a:chExt cx="0" cy="0"/>
        </a:xfrm>
      </p:grpSpPr>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baseline="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10" name="Titre 9"/>
          <p:cNvSpPr>
            <a:spLocks noGrp="1"/>
          </p:cNvSpPr>
          <p:nvPr>
            <p:ph type="title"/>
          </p:nvPr>
        </p:nvSpPr>
        <p:spPr/>
        <p:txBody>
          <a:bodyPr/>
          <a:lstStyle/>
          <a:p>
            <a:r>
              <a:rPr lang="fr-FR"/>
              <a:t>Cliquez pour modifier le style du titre</a:t>
            </a:r>
            <a:endParaRPr lang="fr-CA"/>
          </a:p>
        </p:txBody>
      </p:sp>
      <p:sp>
        <p:nvSpPr>
          <p:cNvPr id="13" name="Content Placeholder 12"/>
          <p:cNvSpPr>
            <a:spLocks noGrp="1"/>
          </p:cNvSpPr>
          <p:nvPr>
            <p:ph sz="quarter" idx="14"/>
          </p:nvPr>
        </p:nvSpPr>
        <p:spPr>
          <a:xfrm>
            <a:off x="457200" y="1731700"/>
            <a:ext cx="8229600" cy="3204104"/>
          </a:xfrm>
        </p:spPr>
        <p:txBody>
          <a:bodyPr/>
          <a:lstStyle>
            <a:lvl1pPr marL="0" indent="0">
              <a:buFont typeface="Arial" panose="020B0604020202020204" pitchFamily="34" charset="0"/>
              <a:buNone/>
              <a:defRPr/>
            </a:lvl1pPr>
            <a:lvl2pPr marL="248027" indent="0">
              <a:buFont typeface="Arial" panose="020B0604020202020204" pitchFamily="34" charset="0"/>
              <a:buNone/>
              <a:defRPr/>
            </a:lvl2pPr>
            <a:lvl3pPr marL="497156" indent="0">
              <a:buFont typeface="Arial" panose="020B0604020202020204" pitchFamily="34" charset="0"/>
              <a:buNone/>
              <a:defRPr/>
            </a:lvl3pPr>
            <a:lvl4pPr marL="745184" indent="0">
              <a:buFont typeface="Arial" panose="020B0604020202020204" pitchFamily="34" charset="0"/>
              <a:buNone/>
              <a:defRPr/>
            </a:lvl4pPr>
            <a:lvl5pPr marL="993210" indent="0">
              <a:buFont typeface="Arial" panose="020B0604020202020204" pitchFamily="34" charse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CA" dirty="0"/>
          </a:p>
        </p:txBody>
      </p:sp>
    </p:spTree>
    <p:extLst>
      <p:ext uri="{BB962C8B-B14F-4D97-AF65-F5344CB8AC3E}">
        <p14:creationId xmlns:p14="http://schemas.microsoft.com/office/powerpoint/2010/main" val="37945513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65320" y="1561939"/>
            <a:ext cx="8213360" cy="3406062"/>
          </a:xfrm>
        </p:spPr>
        <p:txBody>
          <a:bodyPr anchor="ctr"/>
          <a:lstStyle>
            <a:lvl1pPr marL="0" indent="0" algn="ctr">
              <a:buNone/>
              <a:defRPr b="1" i="0">
                <a:solidFill>
                  <a:schemeClr val="tx1"/>
                </a:solidFill>
                <a:latin typeface="Arial"/>
                <a:cs typeface="Arial"/>
              </a:defRPr>
            </a:lvl1pPr>
            <a:lvl2pPr marL="317475" indent="0" algn="ctr">
              <a:buNone/>
              <a:defRPr>
                <a:solidFill>
                  <a:schemeClr val="tx1">
                    <a:tint val="75000"/>
                  </a:schemeClr>
                </a:solidFill>
              </a:defRPr>
            </a:lvl2pPr>
            <a:lvl3pPr marL="634950" indent="0" algn="ctr">
              <a:buNone/>
              <a:defRPr>
                <a:solidFill>
                  <a:schemeClr val="tx1">
                    <a:tint val="75000"/>
                  </a:schemeClr>
                </a:solidFill>
              </a:defRPr>
            </a:lvl3pPr>
            <a:lvl4pPr marL="952424" indent="0" algn="ctr">
              <a:buNone/>
              <a:defRPr>
                <a:solidFill>
                  <a:schemeClr val="tx1">
                    <a:tint val="75000"/>
                  </a:schemeClr>
                </a:solidFill>
              </a:defRPr>
            </a:lvl4pPr>
            <a:lvl5pPr marL="1269898" indent="0" algn="ctr">
              <a:buNone/>
              <a:defRPr>
                <a:solidFill>
                  <a:schemeClr val="tx1">
                    <a:tint val="75000"/>
                  </a:schemeClr>
                </a:solidFill>
              </a:defRPr>
            </a:lvl5pPr>
            <a:lvl6pPr marL="1587373" indent="0" algn="ctr">
              <a:buNone/>
              <a:defRPr>
                <a:solidFill>
                  <a:schemeClr val="tx1">
                    <a:tint val="75000"/>
                  </a:schemeClr>
                </a:solidFill>
              </a:defRPr>
            </a:lvl6pPr>
            <a:lvl7pPr marL="1904848" indent="0" algn="ctr">
              <a:buNone/>
              <a:defRPr>
                <a:solidFill>
                  <a:schemeClr val="tx1">
                    <a:tint val="75000"/>
                  </a:schemeClr>
                </a:solidFill>
              </a:defRPr>
            </a:lvl7pPr>
            <a:lvl8pPr marL="2222322" indent="0" algn="ctr">
              <a:buNone/>
              <a:defRPr>
                <a:solidFill>
                  <a:schemeClr val="tx1">
                    <a:tint val="75000"/>
                  </a:schemeClr>
                </a:solidFill>
              </a:defRPr>
            </a:lvl8pPr>
            <a:lvl9pPr marL="2539797" indent="0" algn="ctr">
              <a:buNone/>
              <a:defRPr>
                <a:solidFill>
                  <a:schemeClr val="tx1">
                    <a:tint val="75000"/>
                  </a:schemeClr>
                </a:solidFill>
              </a:defRPr>
            </a:lvl9pPr>
          </a:lstStyle>
          <a:p>
            <a:r>
              <a:rPr lang="fr-CA" noProof="0" dirty="0"/>
              <a:t>CLICK TO EDIT MASTER SUBTITLE STYLE</a:t>
            </a:r>
          </a:p>
        </p:txBody>
      </p:sp>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AF88E988-FB04-AB4E-BE5A-59F242AF7F7A}" type="slidenum">
              <a:rPr lang="fr-CA" smtClean="0">
                <a:solidFill>
                  <a:srgbClr val="003C71"/>
                </a:solidFill>
              </a:rPr>
              <a:pPr/>
              <a:t>‹N°›</a:t>
            </a:fld>
            <a:endParaRPr lang="fr-CA" dirty="0">
              <a:solidFill>
                <a:srgbClr val="003C71"/>
              </a:solidFill>
            </a:endParaRPr>
          </a:p>
        </p:txBody>
      </p:sp>
      <p:sp>
        <p:nvSpPr>
          <p:cNvPr id="7" name="Titre 6"/>
          <p:cNvSpPr>
            <a:spLocks noGrp="1"/>
          </p:cNvSpPr>
          <p:nvPr>
            <p:ph type="title"/>
          </p:nvPr>
        </p:nvSpPr>
        <p:spPr/>
        <p:txBody>
          <a:bodyPr/>
          <a:lstStyle/>
          <a:p>
            <a:r>
              <a:rPr lang="fr-FR"/>
              <a:t>Cliquez pour modifier le style du titre</a:t>
            </a:r>
            <a:endParaRPr lang="fr-CA"/>
          </a:p>
        </p:txBody>
      </p:sp>
    </p:spTree>
    <p:extLst>
      <p:ext uri="{BB962C8B-B14F-4D97-AF65-F5344CB8AC3E}">
        <p14:creationId xmlns:p14="http://schemas.microsoft.com/office/powerpoint/2010/main" val="34455600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4" name="Footer Placeholder 3"/>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5" name="Slide Number Placeholder 4"/>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6" name="Titre 5"/>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3525467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818"/>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9" name="Chart Placeholder 8"/>
          <p:cNvSpPr>
            <a:spLocks noGrp="1"/>
          </p:cNvSpPr>
          <p:nvPr>
            <p:ph type="chart" sz="quarter" idx="14"/>
          </p:nvPr>
        </p:nvSpPr>
        <p:spPr>
          <a:xfrm>
            <a:off x="457200" y="1732827"/>
            <a:ext cx="8229600" cy="3220773"/>
          </a:xfrm>
        </p:spPr>
        <p:txBody>
          <a:bodyPr/>
          <a:lstStyle>
            <a:lvl1pPr marL="0" indent="0">
              <a:buNone/>
              <a:defRPr/>
            </a:lvl1pPr>
          </a:lstStyle>
          <a:p>
            <a:endParaRPr lang="fr-CA" noProof="0" dirty="0"/>
          </a:p>
        </p:txBody>
      </p:sp>
      <p:sp>
        <p:nvSpPr>
          <p:cNvPr id="10" name="Titre 9"/>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4013490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Contenu list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9" name="Titre 8"/>
          <p:cNvSpPr>
            <a:spLocks noGrp="1"/>
          </p:cNvSpPr>
          <p:nvPr>
            <p:ph type="title" hasCustomPrompt="1"/>
          </p:nvPr>
        </p:nvSpPr>
        <p:spPr/>
        <p:txBody>
          <a:bodyPr/>
          <a:lstStyle>
            <a:lvl1pPr>
              <a:defRPr baseline="0"/>
            </a:lvl1pPr>
          </a:lstStyle>
          <a:p>
            <a:r>
              <a:rPr lang="fr-FR" dirty="0"/>
              <a:t>Cliquez pour modifier le style du titre</a:t>
            </a:r>
            <a:endParaRPr lang="fr-CA"/>
          </a:p>
        </p:txBody>
      </p:sp>
      <p:sp>
        <p:nvSpPr>
          <p:cNvPr id="7" name="Text Placeholder 6"/>
          <p:cNvSpPr>
            <a:spLocks noGrp="1"/>
          </p:cNvSpPr>
          <p:nvPr>
            <p:ph type="body" sz="quarter" idx="14"/>
          </p:nvPr>
        </p:nvSpPr>
        <p:spPr>
          <a:xfrm>
            <a:off x="457200" y="1731700"/>
            <a:ext cx="8229600" cy="3204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Tree>
    <p:extLst>
      <p:ext uri="{BB962C8B-B14F-4D97-AF65-F5344CB8AC3E}">
        <p14:creationId xmlns:p14="http://schemas.microsoft.com/office/powerpoint/2010/main" val="11663150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10" name="Table Placeholder 6"/>
          <p:cNvSpPr>
            <a:spLocks noGrp="1"/>
          </p:cNvSpPr>
          <p:nvPr>
            <p:ph type="tbl" sz="quarter" idx="15"/>
          </p:nvPr>
        </p:nvSpPr>
        <p:spPr>
          <a:xfrm>
            <a:off x="457200" y="1732011"/>
            <a:ext cx="8229600" cy="3198479"/>
          </a:xfrm>
        </p:spPr>
        <p:txBody>
          <a:bodyPr/>
          <a:lstStyle>
            <a:lvl1pPr marL="0" indent="0">
              <a:buNone/>
              <a:defRPr/>
            </a:lvl1pPr>
          </a:lstStyle>
          <a:p>
            <a:endParaRPr lang="fr-CA" noProof="0" dirty="0"/>
          </a:p>
        </p:txBody>
      </p:sp>
      <p:sp>
        <p:nvSpPr>
          <p:cNvPr id="9" name="Titre 8"/>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13355568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575135"/>
            <a:ext cx="4038600" cy="3400067"/>
          </a:xfrm>
        </p:spPr>
        <p:txBody>
          <a:bodyPr>
            <a:normAutofit/>
          </a:bodyPr>
          <a:lstStyle>
            <a:lvl1pPr>
              <a:defRPr sz="1389"/>
            </a:lvl1pPr>
            <a:lvl2pPr>
              <a:defRPr sz="1389"/>
            </a:lvl2pPr>
            <a:lvl3pPr>
              <a:defRPr sz="1389"/>
            </a:lvl3pPr>
            <a:lvl4pPr>
              <a:defRPr sz="1389"/>
            </a:lvl4pPr>
            <a:lvl5pPr>
              <a:defRPr sz="1389"/>
            </a:lvl5pPr>
            <a:lvl6pPr>
              <a:defRPr sz="1250"/>
            </a:lvl6pPr>
            <a:lvl7pPr>
              <a:defRPr sz="1250"/>
            </a:lvl7pPr>
            <a:lvl8pPr>
              <a:defRPr sz="1250"/>
            </a:lvl8pPr>
            <a:lvl9pPr>
              <a:defRPr sz="1250"/>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4" name="Content Placeholder 3"/>
          <p:cNvSpPr>
            <a:spLocks noGrp="1"/>
          </p:cNvSpPr>
          <p:nvPr>
            <p:ph sz="half" idx="2"/>
          </p:nvPr>
        </p:nvSpPr>
        <p:spPr>
          <a:xfrm>
            <a:off x="4648200" y="1575135"/>
            <a:ext cx="4038600" cy="3400067"/>
          </a:xfrm>
        </p:spPr>
        <p:txBody>
          <a:bodyPr>
            <a:normAutofit/>
          </a:bodyPr>
          <a:lstStyle>
            <a:lvl1pPr>
              <a:defRPr sz="1389"/>
            </a:lvl1pPr>
            <a:lvl2pPr>
              <a:defRPr sz="1389"/>
            </a:lvl2pPr>
            <a:lvl3pPr>
              <a:defRPr sz="1389"/>
            </a:lvl3pPr>
            <a:lvl4pPr>
              <a:defRPr sz="1389"/>
            </a:lvl4pPr>
            <a:lvl5pPr>
              <a:defRPr sz="1389"/>
            </a:lvl5pPr>
            <a:lvl6pPr>
              <a:defRPr sz="1250"/>
            </a:lvl6pPr>
            <a:lvl7pPr>
              <a:defRPr sz="1250"/>
            </a:lvl7pPr>
            <a:lvl8pPr>
              <a:defRPr sz="1250"/>
            </a:lvl8pPr>
            <a:lvl9pPr>
              <a:defRPr sz="1250"/>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5" name="Date Placeholder 4"/>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6" name="Footer Placeholder 5"/>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Slide Number Placeholder 6"/>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9" name="Titre 8"/>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16880416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209648"/>
            <a:ext cx="4040188" cy="533135"/>
          </a:xfrm>
        </p:spPr>
        <p:txBody>
          <a:bodyPr anchor="t">
            <a:noAutofit/>
          </a:bodyPr>
          <a:lstStyle>
            <a:lvl1pPr marL="0" indent="0">
              <a:buNone/>
              <a:defRPr sz="1250" b="1" i="0">
                <a:latin typeface="Arial"/>
                <a:cs typeface="Arial"/>
              </a:defRPr>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fr-CA" noProof="0" dirty="0"/>
              <a:t>CLICK TO EDIT MASTER TEXT STYLES</a:t>
            </a:r>
          </a:p>
        </p:txBody>
      </p:sp>
      <p:sp>
        <p:nvSpPr>
          <p:cNvPr id="4" name="Content Placeholder 3"/>
          <p:cNvSpPr>
            <a:spLocks noGrp="1"/>
          </p:cNvSpPr>
          <p:nvPr>
            <p:ph sz="half" idx="2"/>
          </p:nvPr>
        </p:nvSpPr>
        <p:spPr>
          <a:xfrm>
            <a:off x="457200" y="1742782"/>
            <a:ext cx="4040188" cy="3210818"/>
          </a:xfrm>
        </p:spPr>
        <p:txBody>
          <a:bodyPr anchor="t">
            <a:normAutofit/>
          </a:bodyPr>
          <a:lstStyle>
            <a:lvl1pPr>
              <a:defRPr sz="1389"/>
            </a:lvl1pPr>
            <a:lvl2pPr>
              <a:defRPr sz="1389"/>
            </a:lvl2pPr>
            <a:lvl3pPr>
              <a:defRPr sz="1389"/>
            </a:lvl3pPr>
            <a:lvl4pPr>
              <a:defRPr sz="1389"/>
            </a:lvl4pPr>
            <a:lvl5pPr>
              <a:defRPr sz="1389"/>
            </a:lvl5pPr>
            <a:lvl6pPr>
              <a:defRPr sz="1111"/>
            </a:lvl6pPr>
            <a:lvl7pPr>
              <a:defRPr sz="1111"/>
            </a:lvl7pPr>
            <a:lvl8pPr>
              <a:defRPr sz="1111"/>
            </a:lvl8pPr>
            <a:lvl9pPr>
              <a:defRPr sz="1111"/>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5" name="Text Placeholder 4"/>
          <p:cNvSpPr>
            <a:spLocks noGrp="1"/>
          </p:cNvSpPr>
          <p:nvPr>
            <p:ph type="body" sz="quarter" idx="3" hasCustomPrompt="1"/>
          </p:nvPr>
        </p:nvSpPr>
        <p:spPr>
          <a:xfrm>
            <a:off x="4645030" y="1209648"/>
            <a:ext cx="4041775" cy="533135"/>
          </a:xfrm>
        </p:spPr>
        <p:txBody>
          <a:bodyPr anchor="t">
            <a:noAutofit/>
          </a:bodyPr>
          <a:lstStyle>
            <a:lvl1pPr marL="0" indent="0">
              <a:buNone/>
              <a:defRPr sz="1250" b="1" i="0">
                <a:latin typeface="Arial"/>
                <a:cs typeface="Arial"/>
              </a:defRPr>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fr-CA" noProof="0" dirty="0"/>
              <a:t>CLICK TO EDIT MASTER TEXT STYLES</a:t>
            </a:r>
          </a:p>
        </p:txBody>
      </p:sp>
      <p:sp>
        <p:nvSpPr>
          <p:cNvPr id="6" name="Content Placeholder 5"/>
          <p:cNvSpPr>
            <a:spLocks noGrp="1"/>
          </p:cNvSpPr>
          <p:nvPr>
            <p:ph sz="quarter" idx="4"/>
          </p:nvPr>
        </p:nvSpPr>
        <p:spPr>
          <a:xfrm>
            <a:off x="4645030" y="1742782"/>
            <a:ext cx="4041775" cy="3210818"/>
          </a:xfrm>
        </p:spPr>
        <p:txBody>
          <a:bodyPr anchor="t">
            <a:normAutofit/>
          </a:bodyPr>
          <a:lstStyle>
            <a:lvl1pPr>
              <a:defRPr sz="1389"/>
            </a:lvl1pPr>
            <a:lvl2pPr>
              <a:defRPr sz="1389"/>
            </a:lvl2pPr>
            <a:lvl3pPr>
              <a:defRPr sz="1389"/>
            </a:lvl3pPr>
            <a:lvl4pPr>
              <a:defRPr sz="1389"/>
            </a:lvl4pPr>
            <a:lvl5pPr>
              <a:defRPr sz="1389"/>
            </a:lvl5pPr>
            <a:lvl6pPr>
              <a:defRPr sz="1111"/>
            </a:lvl6pPr>
            <a:lvl7pPr>
              <a:defRPr sz="1111"/>
            </a:lvl7pPr>
            <a:lvl8pPr>
              <a:defRPr sz="1111"/>
            </a:lvl8pPr>
            <a:lvl9pPr>
              <a:defRPr sz="1111"/>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7" name="Date Placeholder 6"/>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8" name="Footer Placeholder 7"/>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9" name="Slide Number Placeholder 8"/>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10" name="Titre 9"/>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4894395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57203" y="1727420"/>
            <a:ext cx="8228779" cy="3240580"/>
          </a:xfrm>
        </p:spPr>
        <p:txBody>
          <a:bodyPr/>
          <a:lstStyle>
            <a:lvl1pPr marL="0" indent="0">
              <a:buNone/>
              <a:defRPr sz="2222"/>
            </a:lvl1pPr>
            <a:lvl2pPr marL="317475" indent="0">
              <a:buNone/>
              <a:defRPr sz="1944"/>
            </a:lvl2pPr>
            <a:lvl3pPr marL="634950" indent="0">
              <a:buNone/>
              <a:defRPr sz="1667"/>
            </a:lvl3pPr>
            <a:lvl4pPr marL="952424" indent="0">
              <a:buNone/>
              <a:defRPr sz="1389"/>
            </a:lvl4pPr>
            <a:lvl5pPr marL="1269898" indent="0">
              <a:buNone/>
              <a:defRPr sz="1389"/>
            </a:lvl5pPr>
            <a:lvl6pPr marL="1587373" indent="0">
              <a:buNone/>
              <a:defRPr sz="1389"/>
            </a:lvl6pPr>
            <a:lvl7pPr marL="1904848" indent="0">
              <a:buNone/>
              <a:defRPr sz="1389"/>
            </a:lvl7pPr>
            <a:lvl8pPr marL="2222322" indent="0">
              <a:buNone/>
              <a:defRPr sz="1389"/>
            </a:lvl8pPr>
            <a:lvl9pPr marL="2539797" indent="0">
              <a:buNone/>
              <a:defRPr sz="1389"/>
            </a:lvl9pPr>
          </a:lstStyle>
          <a:p>
            <a:endParaRPr lang="fr-CA" noProof="0" dirty="0"/>
          </a:p>
        </p:txBody>
      </p:sp>
      <p:sp>
        <p:nvSpPr>
          <p:cNvPr id="4" name="Text Placeholder 3"/>
          <p:cNvSpPr>
            <a:spLocks noGrp="1"/>
          </p:cNvSpPr>
          <p:nvPr>
            <p:ph type="body" sz="half" idx="2" hasCustomPrompt="1"/>
          </p:nvPr>
        </p:nvSpPr>
        <p:spPr>
          <a:xfrm>
            <a:off x="457204" y="1209000"/>
            <a:ext cx="8228779" cy="520716"/>
          </a:xfrm>
        </p:spPr>
        <p:txBody>
          <a:bodyPr>
            <a:normAutofit/>
          </a:bodyPr>
          <a:lstStyle>
            <a:lvl1pPr marL="0" indent="0">
              <a:buNone/>
              <a:defRPr sz="1250" b="1" i="0">
                <a:latin typeface="Arial"/>
                <a:cs typeface="Arial"/>
              </a:defRPr>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noProof="0" dirty="0"/>
              <a:t>CLICK TO EDIT MASTER TEXT STYLES</a:t>
            </a:r>
          </a:p>
        </p:txBody>
      </p:sp>
      <p:sp>
        <p:nvSpPr>
          <p:cNvPr id="5" name="Date Placeholder 4"/>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6" name="Footer Placeholder 5"/>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Slide Number Placeholder 6"/>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9" name="Titre 8"/>
          <p:cNvSpPr>
            <a:spLocks noGrp="1"/>
          </p:cNvSpPr>
          <p:nvPr>
            <p:ph type="title"/>
          </p:nvPr>
        </p:nvSpPr>
        <p:spPr/>
        <p:txBody>
          <a:bodyPr/>
          <a:lstStyle/>
          <a:p>
            <a:r>
              <a:rPr lang="fr-FR"/>
              <a:t>Cliquez pour modifier le style du titre</a:t>
            </a:r>
            <a:endParaRPr lang="fr-CA"/>
          </a:p>
        </p:txBody>
      </p:sp>
    </p:spTree>
    <p:extLst>
      <p:ext uri="{BB962C8B-B14F-4D97-AF65-F5344CB8AC3E}">
        <p14:creationId xmlns:p14="http://schemas.microsoft.com/office/powerpoint/2010/main" val="12276465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ontenu seulement">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41392" y="214681"/>
            <a:ext cx="8262000" cy="5220000"/>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e la date 3"/>
          <p:cNvSpPr>
            <a:spLocks noGrp="1"/>
          </p:cNvSpPr>
          <p:nvPr>
            <p:ph type="dt" sz="half" idx="10"/>
          </p:nvPr>
        </p:nvSpPr>
        <p:spPr/>
        <p:txBody>
          <a:bodyPr/>
          <a:lstStyle/>
          <a:p>
            <a:fld id="{A0A5F050-05FB-4864-A384-E438F6D6518E}" type="datetime3">
              <a:rPr lang="fr-CA" noProof="0" smtClean="0"/>
              <a:t>26/09/17</a:t>
            </a:fld>
            <a:endParaRPr lang="fr-CA" noProof="0" dirty="0"/>
          </a:p>
        </p:txBody>
      </p:sp>
      <p:sp>
        <p:nvSpPr>
          <p:cNvPr id="5" name="Espace réservé du pied de page 4"/>
          <p:cNvSpPr>
            <a:spLocks noGrp="1"/>
          </p:cNvSpPr>
          <p:nvPr>
            <p:ph type="ftr" sz="quarter" idx="11"/>
          </p:nvPr>
        </p:nvSpPr>
        <p:spPr/>
        <p:txBody>
          <a:bodyPr/>
          <a:lstStyle/>
          <a:p>
            <a:r>
              <a:rPr lang="fr-CA" noProof="0"/>
              <a:t>© 2024. Estelle M. Morin, Ph. D.  Tous droits réservés.</a:t>
            </a:r>
            <a:endParaRPr lang="fr-CA" noProof="0" dirty="0"/>
          </a:p>
        </p:txBody>
      </p:sp>
      <p:sp>
        <p:nvSpPr>
          <p:cNvPr id="6" name="Espace réservé du numéro de diapositive 5"/>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7" name="TextBox 6"/>
          <p:cNvSpPr txBox="1"/>
          <p:nvPr userDrawn="1"/>
        </p:nvSpPr>
        <p:spPr>
          <a:xfrm>
            <a:off x="346075" y="4765675"/>
            <a:ext cx="914400" cy="914400"/>
          </a:xfrm>
          <a:prstGeom prst="rect">
            <a:avLst/>
          </a:prstGeom>
        </p:spPr>
        <p:txBody>
          <a:bodyPr vert="horz" wrap="none" lIns="91440" tIns="45720" rIns="91440" bIns="45720" rtlCol="0">
            <a:normAutofit/>
          </a:bodyPr>
          <a:lstStyle/>
          <a:p>
            <a:pPr marL="154798" indent="-154798">
              <a:buClr>
                <a:schemeClr val="accent2"/>
              </a:buClr>
              <a:buSzPct val="125000"/>
              <a:buFont typeface="Arial" panose="020B0604020202020204" pitchFamily="34" charset="0"/>
              <a:buChar char="•"/>
            </a:pPr>
            <a:endParaRPr lang="fr-CA" sz="1670" noProof="0" dirty="0"/>
          </a:p>
        </p:txBody>
      </p:sp>
    </p:spTree>
    <p:extLst>
      <p:ext uri="{BB962C8B-B14F-4D97-AF65-F5344CB8AC3E}">
        <p14:creationId xmlns:p14="http://schemas.microsoft.com/office/powerpoint/2010/main" val="1455931370"/>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angle 6"/>
          <p:cNvSpPr/>
          <p:nvPr/>
        </p:nvSpPr>
        <p:spPr>
          <a:xfrm>
            <a:off x="7212106" y="223573"/>
            <a:ext cx="1645920"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sz="1500">
              <a:solidFill>
                <a:prstClr val="white"/>
              </a:solidFill>
            </a:endParaRPr>
          </a:p>
        </p:txBody>
      </p:sp>
      <p:sp>
        <p:nvSpPr>
          <p:cNvPr id="2" name="Title 1"/>
          <p:cNvSpPr>
            <a:spLocks noGrp="1"/>
          </p:cNvSpPr>
          <p:nvPr>
            <p:ph type="title"/>
          </p:nvPr>
        </p:nvSpPr>
        <p:spPr/>
        <p:txBody>
          <a:bodyPr/>
          <a:lstStyle/>
          <a:p>
            <a:r>
              <a:rPr lang="fr-CA"/>
              <a:t>Click to edit Master title style</a:t>
            </a:r>
            <a:endParaRPr/>
          </a:p>
        </p:txBody>
      </p:sp>
      <p:sp>
        <p:nvSpPr>
          <p:cNvPr id="3" name="Content Placeholder 2"/>
          <p:cNvSpPr>
            <a:spLocks noGrp="1"/>
          </p:cNvSpPr>
          <p:nvPr>
            <p:ph idx="1"/>
          </p:nvPr>
        </p:nvSpPr>
        <p:spPr/>
        <p:txBody>
          <a:body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4" name="Date Placeholder 3"/>
          <p:cNvSpPr>
            <a:spLocks noGrp="1"/>
          </p:cNvSpPr>
          <p:nvPr>
            <p:ph type="dt" sz="half" idx="10"/>
          </p:nvPr>
        </p:nvSpPr>
        <p:spPr>
          <a:xfrm>
            <a:off x="7212106" y="5296960"/>
            <a:ext cx="1752600" cy="304271"/>
          </a:xfrm>
        </p:spPr>
        <p:txBody>
          <a:bodyPr/>
          <a:lstStyle/>
          <a:p>
            <a:fld id="{8FEFD1DF-BBF7-9E41-8F40-99481FCE77AB}" type="datetime1">
              <a:rPr lang="en-US" smtClean="0">
                <a:solidFill>
                  <a:srgbClr val="333333">
                    <a:lumMod val="60000"/>
                    <a:lumOff val="40000"/>
                  </a:srgbClr>
                </a:solidFill>
              </a:rPr>
              <a:pPr/>
              <a:t>9/17/2026</a:t>
            </a:fld>
            <a:endParaRPr lang="en-US">
              <a:solidFill>
                <a:srgbClr val="333333">
                  <a:lumMod val="60000"/>
                  <a:lumOff val="40000"/>
                </a:srgbClr>
              </a:solidFill>
            </a:endParaRPr>
          </a:p>
        </p:txBody>
      </p:sp>
      <p:sp>
        <p:nvSpPr>
          <p:cNvPr id="5" name="Footer Placeholder 4"/>
          <p:cNvSpPr>
            <a:spLocks noGrp="1"/>
          </p:cNvSpPr>
          <p:nvPr>
            <p:ph type="ftr" sz="quarter" idx="11"/>
          </p:nvPr>
        </p:nvSpPr>
        <p:spPr/>
        <p:txBody>
          <a:bodyPr/>
          <a:lstStyle/>
          <a:p>
            <a:endParaRPr lang="en-US">
              <a:solidFill>
                <a:srgbClr val="333333">
                  <a:lumMod val="60000"/>
                  <a:lumOff val="40000"/>
                </a:srgbClr>
              </a:solidFill>
            </a:endParaRPr>
          </a:p>
        </p:txBody>
      </p:sp>
      <p:sp>
        <p:nvSpPr>
          <p:cNvPr id="6" name="Slide Number Placeholder 5"/>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Tree>
    <p:extLst>
      <p:ext uri="{BB962C8B-B14F-4D97-AF65-F5344CB8AC3E}">
        <p14:creationId xmlns:p14="http://schemas.microsoft.com/office/powerpoint/2010/main" val="158238525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Ruban bleu droit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7092001" y="0"/>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8">
            <a:extLst>
              <a:ext uri="{FF2B5EF4-FFF2-40B4-BE49-F238E27FC236}">
                <a16:creationId xmlns:a16="http://schemas.microsoft.com/office/drawing/2014/main" id="{39975E0B-A63C-E46F-4BDB-B17AEAF751F9}"/>
              </a:ext>
            </a:extLst>
          </p:cNvPr>
          <p:cNvSpPr>
            <a:spLocks noGrp="1"/>
          </p:cNvSpPr>
          <p:nvPr>
            <p:ph type="title"/>
          </p:nvPr>
        </p:nvSpPr>
        <p:spPr>
          <a:xfrm>
            <a:off x="399191" y="304271"/>
            <a:ext cx="6480000" cy="900000"/>
          </a:xfrm>
        </p:spPr>
        <p:txBody>
          <a:bodyPr/>
          <a:lstStyle/>
          <a:p>
            <a:r>
              <a:rPr lang="fr-FR"/>
              <a:t>Modifiez le style du titre</a:t>
            </a:r>
            <a:endParaRPr lang="en-CA"/>
          </a:p>
        </p:txBody>
      </p:sp>
      <p:sp>
        <p:nvSpPr>
          <p:cNvPr id="11" name="Espace réservé du contenu 10">
            <a:extLst>
              <a:ext uri="{FF2B5EF4-FFF2-40B4-BE49-F238E27FC236}">
                <a16:creationId xmlns:a16="http://schemas.microsoft.com/office/drawing/2014/main" id="{DA03A288-B51A-49AF-061A-37A09F584A21}"/>
              </a:ext>
            </a:extLst>
          </p:cNvPr>
          <p:cNvSpPr>
            <a:spLocks noGrp="1"/>
          </p:cNvSpPr>
          <p:nvPr>
            <p:ph sz="quarter" idx="13"/>
          </p:nvPr>
        </p:nvSpPr>
        <p:spPr>
          <a:xfrm>
            <a:off x="398860" y="1471083"/>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4" name="Espace réservé du pied de page 4">
            <a:extLst>
              <a:ext uri="{FF2B5EF4-FFF2-40B4-BE49-F238E27FC236}">
                <a16:creationId xmlns:a16="http://schemas.microsoft.com/office/drawing/2014/main" id="{FE155C0A-E7E2-D133-60DD-38946DD603E9}"/>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6CDD6402-A2B1-B4CE-0D4B-E5C613CEDF6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bg2"/>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C3437283-87BE-ACE3-8113-25684DCD9E18}"/>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solidFill>
                  <a:schemeClr val="bg1">
                    <a:lumMod val="95000"/>
                  </a:schemeClr>
                </a:solidFill>
              </a:rPr>
              <a:pPr/>
              <a:t>26/09/17</a:t>
            </a:fld>
            <a:endParaRPr lang="fr-FR" sz="900" dirty="0">
              <a:solidFill>
                <a:schemeClr val="bg1">
                  <a:lumMod val="95000"/>
                </a:schemeClr>
              </a:solidFill>
            </a:endParaRPr>
          </a:p>
        </p:txBody>
      </p:sp>
    </p:spTree>
    <p:extLst>
      <p:ext uri="{BB962C8B-B14F-4D97-AF65-F5344CB8AC3E}">
        <p14:creationId xmlns:p14="http://schemas.microsoft.com/office/powerpoint/2010/main" val="289727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Ruban bleu gauche">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1B330D51-E8FF-FCD5-6E13-CD57FBED7B9A}"/>
              </a:ext>
            </a:extLst>
          </p:cNvPr>
          <p:cNvSpPr>
            <a:spLocks noGrp="1"/>
          </p:cNvSpPr>
          <p:nvPr>
            <p:ph type="title" hasCustomPrompt="1"/>
          </p:nvPr>
        </p:nvSpPr>
        <p:spPr>
          <a:xfrm>
            <a:off x="2415354" y="304270"/>
            <a:ext cx="6480000" cy="600000"/>
          </a:xfrm>
        </p:spPr>
        <p:txBody>
          <a:bodyPr>
            <a:normAutofit/>
          </a:bodyPr>
          <a:lstStyle>
            <a:lvl1pPr>
              <a:defRPr sz="2700"/>
            </a:lvl1pPr>
          </a:lstStyle>
          <a:p>
            <a:r>
              <a:rPr lang="fr-CA" dirty="0"/>
              <a:t>Modifier le titre</a:t>
            </a:r>
            <a:endParaRPr lang="fr-FR" dirty="0"/>
          </a:p>
        </p:txBody>
      </p:sp>
      <p:sp>
        <p:nvSpPr>
          <p:cNvPr id="10" name="Espace réservé du texte 14">
            <a:extLst>
              <a:ext uri="{FF2B5EF4-FFF2-40B4-BE49-F238E27FC236}">
                <a16:creationId xmlns:a16="http://schemas.microsoft.com/office/drawing/2014/main" id="{150D21ED-DD4C-C107-7549-72573B209FD3}"/>
              </a:ext>
            </a:extLst>
          </p:cNvPr>
          <p:cNvSpPr>
            <a:spLocks noGrp="1"/>
          </p:cNvSpPr>
          <p:nvPr>
            <p:ph type="body" sz="quarter" idx="15" hasCustomPrompt="1"/>
          </p:nvPr>
        </p:nvSpPr>
        <p:spPr>
          <a:xfrm>
            <a:off x="2415354" y="920672"/>
            <a:ext cx="6480000" cy="300000"/>
          </a:xfrm>
        </p:spPr>
        <p:txBody>
          <a:bodyPr>
            <a:normAutofit/>
          </a:bodyPr>
          <a:lstStyle>
            <a:lvl1pPr marL="0" indent="0">
              <a:buNone/>
              <a:defRPr sz="1500"/>
            </a:lvl1pPr>
          </a:lstStyle>
          <a:p>
            <a:pPr lvl="0"/>
            <a:r>
              <a:rPr lang="fr-CA" dirty="0"/>
              <a:t>Cliquez pour modifier le texte</a:t>
            </a:r>
          </a:p>
        </p:txBody>
      </p:sp>
      <p:sp>
        <p:nvSpPr>
          <p:cNvPr id="3" name="Rectangle 2">
            <a:extLst>
              <a:ext uri="{FF2B5EF4-FFF2-40B4-BE49-F238E27FC236}">
                <a16:creationId xmlns:a16="http://schemas.microsoft.com/office/drawing/2014/main" id="{B56DE1D4-8847-103A-5CEE-74B72EAE4491}"/>
              </a:ext>
            </a:extLst>
          </p:cNvPr>
          <p:cNvSpPr/>
          <p:nvPr userDrawn="1"/>
        </p:nvSpPr>
        <p:spPr>
          <a:xfrm>
            <a:off x="6723" y="14942"/>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pied de page 4">
            <a:extLst>
              <a:ext uri="{FF2B5EF4-FFF2-40B4-BE49-F238E27FC236}">
                <a16:creationId xmlns:a16="http://schemas.microsoft.com/office/drawing/2014/main" id="{3E33666E-7A6D-5749-95F1-DE9451F0CC75}"/>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E070B440-439F-7888-7B2F-794F563E88AC}"/>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11" name="Espace réservé du contenu 10">
            <a:extLst>
              <a:ext uri="{FF2B5EF4-FFF2-40B4-BE49-F238E27FC236}">
                <a16:creationId xmlns:a16="http://schemas.microsoft.com/office/drawing/2014/main" id="{08E4D530-BFA9-82A1-A9D6-AB54902A7193}"/>
              </a:ext>
            </a:extLst>
          </p:cNvPr>
          <p:cNvSpPr>
            <a:spLocks noGrp="1"/>
          </p:cNvSpPr>
          <p:nvPr>
            <p:ph sz="quarter" idx="16"/>
          </p:nvPr>
        </p:nvSpPr>
        <p:spPr>
          <a:xfrm>
            <a:off x="2415779" y="1508982"/>
            <a:ext cx="6479381"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4" name="Espace réservé de la date 3">
            <a:extLst>
              <a:ext uri="{FF2B5EF4-FFF2-40B4-BE49-F238E27FC236}">
                <a16:creationId xmlns:a16="http://schemas.microsoft.com/office/drawing/2014/main" id="{E5A3BDE8-B622-C4AC-EDEA-237BD4884115}"/>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26/09/17</a:t>
            </a:fld>
            <a:endParaRPr lang="fr-FR" sz="900" dirty="0"/>
          </a:p>
        </p:txBody>
      </p:sp>
      <p:pic>
        <p:nvPicPr>
          <p:cNvPr id="9" name="Image 8">
            <a:extLst>
              <a:ext uri="{FF2B5EF4-FFF2-40B4-BE49-F238E27FC236}">
                <a16:creationId xmlns:a16="http://schemas.microsoft.com/office/drawing/2014/main" id="{197F9F53-376C-204F-53BF-BE6958FF6D21}"/>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367228292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Ruban bleu haut conten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50" y="-3777478"/>
            <a:ext cx="1574103" cy="9144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415354" y="330590"/>
            <a:ext cx="64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55493" y="1799943"/>
            <a:ext cx="864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19D23899-5035-67DE-9FF8-7C6918994F5D}"/>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CD87BB6B-1CEF-42B1-0CB7-458381CF8014}"/>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7" name="Espace réservé de la date 3">
            <a:extLst>
              <a:ext uri="{FF2B5EF4-FFF2-40B4-BE49-F238E27FC236}">
                <a16:creationId xmlns:a16="http://schemas.microsoft.com/office/drawing/2014/main" id="{FAACADAE-600C-95A7-5469-B98CA70C0C1E}"/>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8BA80806-DD0A-4277-8F50-7B86BD4BC3ED}" type="datetime3">
              <a:rPr lang="fr-CA" smtClean="0"/>
              <a:t>26/09/17</a:t>
            </a:fld>
            <a:endParaRPr lang="fr-FR" dirty="0"/>
          </a:p>
        </p:txBody>
      </p:sp>
    </p:spTree>
    <p:extLst>
      <p:ext uri="{BB962C8B-B14F-4D97-AF65-F5344CB8AC3E}">
        <p14:creationId xmlns:p14="http://schemas.microsoft.com/office/powerpoint/2010/main" val="39024965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2.jpe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78800" y="485193"/>
            <a:ext cx="8186400" cy="827486"/>
          </a:xfrm>
          <a:prstGeom prst="rect">
            <a:avLst/>
          </a:prstGeom>
          <a:solidFill>
            <a:schemeClr val="accent1"/>
          </a:solidFill>
        </p:spPr>
        <p:txBody>
          <a:bodyPr vert="horz" lIns="91440" tIns="45720" rIns="91440" bIns="45720" rtlCol="0" anchor="ctr">
            <a:noAutofit/>
          </a:bodyPr>
          <a:lstStyle/>
          <a:p>
            <a:r>
              <a:rPr lang="fr-FR" dirty="0"/>
              <a:t>Cliquez pour modifier le style du titre</a:t>
            </a:r>
            <a:endParaRPr lang="fr-CA" dirty="0"/>
          </a:p>
        </p:txBody>
      </p:sp>
      <p:sp>
        <p:nvSpPr>
          <p:cNvPr id="3" name="Espace réservé du texte 2"/>
          <p:cNvSpPr>
            <a:spLocks noGrp="1"/>
          </p:cNvSpPr>
          <p:nvPr>
            <p:ph type="body" idx="1"/>
          </p:nvPr>
        </p:nvSpPr>
        <p:spPr>
          <a:xfrm>
            <a:off x="478800" y="1517877"/>
            <a:ext cx="8186400" cy="324779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pic>
        <p:nvPicPr>
          <p:cNvPr id="7" name="Image 6"/>
          <p:cNvPicPr>
            <a:picLocks noChangeAspect="1"/>
          </p:cNvPicPr>
          <p:nvPr/>
        </p:nvPicPr>
        <p:blipFill>
          <a:blip r:embed="rId63" cstate="print">
            <a:extLst>
              <a:ext uri="{28A0092B-C50C-407E-A947-70E740481C1C}">
                <a14:useLocalDpi xmlns:a14="http://schemas.microsoft.com/office/drawing/2010/main" val="0"/>
              </a:ext>
            </a:extLst>
          </a:blip>
          <a:stretch>
            <a:fillRect/>
          </a:stretch>
        </p:blipFill>
        <p:spPr>
          <a:xfrm>
            <a:off x="7279758" y="5342282"/>
            <a:ext cx="1452692" cy="200779"/>
          </a:xfrm>
          <a:prstGeom prst="rect">
            <a:avLst/>
          </a:prstGeom>
        </p:spPr>
      </p:pic>
      <p:sp>
        <p:nvSpPr>
          <p:cNvPr id="13"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pPr defTabSz="380985"/>
            <a:r>
              <a:rPr lang="fr-CA">
                <a:solidFill>
                  <a:srgbClr val="003C71"/>
                </a:solidFill>
              </a:rPr>
              <a:t>@2025. Marie-Christine ALBERT. Tous droits réservés.</a:t>
            </a:r>
            <a:endParaRPr lang="fr-CA" dirty="0">
              <a:solidFill>
                <a:srgbClr val="003C71"/>
              </a:solidFill>
            </a:endParaRPr>
          </a:p>
        </p:txBody>
      </p:sp>
      <p:sp>
        <p:nvSpPr>
          <p:cNvPr id="14" name="Espace réservé du numéro de diapositive 5"/>
          <p:cNvSpPr>
            <a:spLocks noGrp="1"/>
          </p:cNvSpPr>
          <p:nvPr>
            <p:ph type="sldNum" sz="quarter" idx="4"/>
          </p:nvPr>
        </p:nvSpPr>
        <p:spPr>
          <a:xfrm>
            <a:off x="379562" y="5384996"/>
            <a:ext cx="464400" cy="136800"/>
          </a:xfrm>
          <a:prstGeom prst="rect">
            <a:avLst/>
          </a:prstGeom>
        </p:spPr>
        <p:txBody>
          <a:bodyPr vert="horz" lIns="91440" tIns="45720" rIns="91440" bIns="45720" rtlCol="0" anchor="t"/>
          <a:lstStyle>
            <a:lvl1pPr algn="l">
              <a:defRPr sz="558">
                <a:solidFill>
                  <a:schemeClr val="accent2"/>
                </a:solidFill>
              </a:defRPr>
            </a:lvl1pPr>
          </a:lstStyle>
          <a:p>
            <a:pPr defTabSz="380985"/>
            <a:fld id="{77B8E65F-5E3F-4E73-B056-4D0181456FB2}" type="slidenum">
              <a:rPr lang="fr-CA" smtClean="0">
                <a:solidFill>
                  <a:srgbClr val="003C71"/>
                </a:solidFill>
              </a:rPr>
              <a:pPr defTabSz="380985"/>
              <a:t>‹N°›</a:t>
            </a:fld>
            <a:endParaRPr lang="fr-CA">
              <a:solidFill>
                <a:srgbClr val="003C71"/>
              </a:solidFill>
            </a:endParaRPr>
          </a:p>
        </p:txBody>
      </p:sp>
      <p:sp>
        <p:nvSpPr>
          <p:cNvPr id="4" name="Rectangle 3" descr="Marbre liquide blanc et or">
            <a:extLst>
              <a:ext uri="{FF2B5EF4-FFF2-40B4-BE49-F238E27FC236}">
                <a16:creationId xmlns:a16="http://schemas.microsoft.com/office/drawing/2014/main" id="{7B8D742A-A5AC-A047-222B-6FC3DAAEE899}"/>
              </a:ext>
            </a:extLst>
          </p:cNvPr>
          <p:cNvSpPr/>
          <p:nvPr userDrawn="1"/>
        </p:nvSpPr>
        <p:spPr>
          <a:xfrm>
            <a:off x="0" y="0"/>
            <a:ext cx="78232" cy="5715000"/>
          </a:xfrm>
          <a:prstGeom prst="rect">
            <a:avLst/>
          </a:prstGeom>
          <a:blipFill dpi="0" rotWithShape="1">
            <a:blip r:embed="rId6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 name="Rectangle 4" descr="Marbre liquide blanc et or">
            <a:extLst>
              <a:ext uri="{FF2B5EF4-FFF2-40B4-BE49-F238E27FC236}">
                <a16:creationId xmlns:a16="http://schemas.microsoft.com/office/drawing/2014/main" id="{7C81ED5F-9D21-951F-780B-57ADCAF02B9A}"/>
              </a:ext>
            </a:extLst>
          </p:cNvPr>
          <p:cNvSpPr/>
          <p:nvPr userDrawn="1"/>
        </p:nvSpPr>
        <p:spPr>
          <a:xfrm>
            <a:off x="9065766" y="0"/>
            <a:ext cx="78233" cy="5715000"/>
          </a:xfrm>
          <a:prstGeom prst="rect">
            <a:avLst/>
          </a:prstGeom>
          <a:blipFill dpi="0" rotWithShape="1">
            <a:blip r:embed="rId6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descr="Marbre liquide blanc et or">
            <a:extLst>
              <a:ext uri="{FF2B5EF4-FFF2-40B4-BE49-F238E27FC236}">
                <a16:creationId xmlns:a16="http://schemas.microsoft.com/office/drawing/2014/main" id="{30A57C44-E8B9-D300-4BCC-D73479D45F02}"/>
              </a:ext>
            </a:extLst>
          </p:cNvPr>
          <p:cNvSpPr/>
          <p:nvPr userDrawn="1"/>
        </p:nvSpPr>
        <p:spPr>
          <a:xfrm rot="5400000">
            <a:off x="4529582" y="-4490897"/>
            <a:ext cx="45719" cy="9026651"/>
          </a:xfrm>
          <a:prstGeom prst="rect">
            <a:avLst/>
          </a:prstGeom>
          <a:blipFill dpi="0" rotWithShape="1">
            <a:blip r:embed="rId6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descr="Marbre liquide blanc et or">
            <a:extLst>
              <a:ext uri="{FF2B5EF4-FFF2-40B4-BE49-F238E27FC236}">
                <a16:creationId xmlns:a16="http://schemas.microsoft.com/office/drawing/2014/main" id="{98121458-4E52-7842-0C29-F37FAF326643}"/>
              </a:ext>
            </a:extLst>
          </p:cNvPr>
          <p:cNvSpPr/>
          <p:nvPr userDrawn="1"/>
        </p:nvSpPr>
        <p:spPr>
          <a:xfrm rot="5400000">
            <a:off x="4531855" y="1102856"/>
            <a:ext cx="80287" cy="9144002"/>
          </a:xfrm>
          <a:prstGeom prst="rect">
            <a:avLst/>
          </a:prstGeom>
          <a:blipFill dpi="0" rotWithShape="1">
            <a:blip r:embed="rId6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8870470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734" r:id="rId22"/>
    <p:sldLayoutId id="2147483737" r:id="rId23"/>
    <p:sldLayoutId id="2147483736" r:id="rId24"/>
    <p:sldLayoutId id="2147483735"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 id="2147483713" r:id="rId45"/>
    <p:sldLayoutId id="2147483716" r:id="rId46"/>
    <p:sldLayoutId id="2147483717" r:id="rId47"/>
    <p:sldLayoutId id="2147483718" r:id="rId48"/>
    <p:sldLayoutId id="2147483719" r:id="rId49"/>
    <p:sldLayoutId id="2147483720" r:id="rId50"/>
    <p:sldLayoutId id="2147483721" r:id="rId51"/>
    <p:sldLayoutId id="2147483722" r:id="rId52"/>
    <p:sldLayoutId id="2147483724" r:id="rId53"/>
    <p:sldLayoutId id="2147483725" r:id="rId54"/>
    <p:sldLayoutId id="2147483726" r:id="rId55"/>
    <p:sldLayoutId id="2147483727" r:id="rId56"/>
    <p:sldLayoutId id="2147483749" r:id="rId57"/>
    <p:sldLayoutId id="2147483750" r:id="rId58"/>
    <p:sldLayoutId id="2147483805" r:id="rId59"/>
    <p:sldLayoutId id="2147483807" r:id="rId60"/>
    <p:sldLayoutId id="2147483808" r:id="rId61"/>
  </p:sldLayoutIdLst>
  <p:hf sldNum="0" hdr="0" dt="0"/>
  <p:txStyles>
    <p:titleStyle>
      <a:lvl1pPr algn="l" defTabSz="761970" rtl="0" eaLnBrk="1" latinLnBrk="0" hangingPunct="1">
        <a:spcBef>
          <a:spcPct val="0"/>
        </a:spcBef>
        <a:buNone/>
        <a:defRPr sz="2167" b="1" kern="1200">
          <a:solidFill>
            <a:schemeClr val="bg1"/>
          </a:solidFill>
          <a:latin typeface="+mj-lt"/>
          <a:ea typeface="+mj-ea"/>
          <a:cs typeface="+mj-cs"/>
        </a:defRPr>
      </a:lvl1pPr>
    </p:titleStyle>
    <p:bodyStyle>
      <a:lvl1pPr marL="12899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1pPr>
      <a:lvl2pPr marL="37798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2pPr>
      <a:lvl3pPr marL="62697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3pPr>
      <a:lvl4pPr marL="87296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4pPr>
      <a:lvl5pPr marL="112195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descargas.pntic.mec.es/recursos_educativos/It_didac/Leng_ESO/2/09/04_humanisticos/el_ensayo.html"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ce réservé pour une image  8" descr="Une image contenant habits, personne, Visage humain, homme&#10;&#10;Le contenu généré par l’IA peut être incorrect.">
            <a:extLst>
              <a:ext uri="{FF2B5EF4-FFF2-40B4-BE49-F238E27FC236}">
                <a16:creationId xmlns:a16="http://schemas.microsoft.com/office/drawing/2014/main" id="{84DB3675-3BF7-A689-D754-B2BFCB9FC01D}"/>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5150" b="15150"/>
          <a:stretch>
            <a:fillRect/>
          </a:stretch>
        </p:blipFill>
        <p:spPr/>
      </p:pic>
      <p:sp>
        <p:nvSpPr>
          <p:cNvPr id="5" name="Titre 4"/>
          <p:cNvSpPr>
            <a:spLocks noGrp="1"/>
          </p:cNvSpPr>
          <p:nvPr>
            <p:ph type="ctrTitle"/>
          </p:nvPr>
        </p:nvSpPr>
        <p:spPr>
          <a:xfrm>
            <a:off x="478800" y="1572030"/>
            <a:ext cx="6436350" cy="1312200"/>
          </a:xfrm>
          <a:solidFill>
            <a:schemeClr val="accent2">
              <a:alpha val="57000"/>
            </a:schemeClr>
          </a:solidFill>
        </p:spPr>
        <p:txBody>
          <a:bodyPr>
            <a:noAutofit/>
          </a:bodyPr>
          <a:lstStyle/>
          <a:p>
            <a:r>
              <a:rPr lang="fr-CA" sz="2400">
                <a:solidFill>
                  <a:schemeClr val="bg1"/>
                </a:solidFill>
              </a:rPr>
              <a:t>Comportement organisationnel</a:t>
            </a:r>
            <a:endParaRPr lang="fr-CA" sz="1800" dirty="0">
              <a:solidFill>
                <a:schemeClr val="bg1"/>
              </a:solidFill>
            </a:endParaRPr>
          </a:p>
        </p:txBody>
      </p:sp>
      <p:sp>
        <p:nvSpPr>
          <p:cNvPr id="4" name="Espace réservé du pied de page 3"/>
          <p:cNvSpPr>
            <a:spLocks noGrp="1"/>
          </p:cNvSpPr>
          <p:nvPr>
            <p:ph type="ftr" sz="quarter" idx="14"/>
          </p:nvPr>
        </p:nvSpPr>
        <p:spPr>
          <a:xfrm>
            <a:off x="477840" y="5035718"/>
            <a:ext cx="7522548" cy="190665"/>
          </a:xfrm>
          <a:solidFill>
            <a:schemeClr val="accent2"/>
          </a:solidFill>
        </p:spPr>
        <p:txBody>
          <a:bodyPr/>
          <a:lstStyle/>
          <a:p>
            <a:pPr defTabSz="685800">
              <a:defRPr/>
            </a:pPr>
            <a:r>
              <a:rPr lang="fr-CA" sz="975" cap="none" dirty="0">
                <a:solidFill>
                  <a:srgbClr val="FFFFFF"/>
                </a:solidFill>
                <a:latin typeface="Articulate Light"/>
              </a:rPr>
              <a:t>@2026. Marie-Christine ALBERT à partir de Morin et </a:t>
            </a:r>
            <a:r>
              <a:rPr lang="fr-CA" sz="975" cap="none" dirty="0" err="1">
                <a:solidFill>
                  <a:srgbClr val="FFFFFF"/>
                </a:solidFill>
                <a:latin typeface="Articulate Light"/>
              </a:rPr>
              <a:t>Aubé</a:t>
            </a:r>
            <a:r>
              <a:rPr lang="fr-CA" sz="975" cap="none" dirty="0">
                <a:solidFill>
                  <a:srgbClr val="FFFFFF"/>
                </a:solidFill>
                <a:latin typeface="Articulate Light"/>
              </a:rPr>
              <a:t> (2026). Tous droits réservés.</a:t>
            </a:r>
          </a:p>
        </p:txBody>
      </p:sp>
      <p:sp>
        <p:nvSpPr>
          <p:cNvPr id="2" name="Sous-titre 1"/>
          <p:cNvSpPr>
            <a:spLocks noGrp="1"/>
          </p:cNvSpPr>
          <p:nvPr>
            <p:ph type="subTitle" idx="1"/>
          </p:nvPr>
        </p:nvSpPr>
        <p:spPr>
          <a:xfrm>
            <a:off x="478800" y="2962656"/>
            <a:ext cx="5266800" cy="685800"/>
          </a:xfrm>
          <a:solidFill>
            <a:schemeClr val="accent2">
              <a:alpha val="80000"/>
            </a:schemeClr>
          </a:solidFill>
        </p:spPr>
        <p:txBody>
          <a:bodyPr>
            <a:normAutofit/>
          </a:bodyPr>
          <a:lstStyle/>
          <a:p>
            <a:r>
              <a:rPr lang="fr-CA" dirty="0">
                <a:solidFill>
                  <a:schemeClr val="bg1"/>
                </a:solidFill>
              </a:rPr>
              <a:t>Chapitre 3. La motivation</a:t>
            </a:r>
          </a:p>
          <a:p>
            <a:r>
              <a:rPr lang="fr-CA" dirty="0">
                <a:solidFill>
                  <a:schemeClr val="bg1"/>
                </a:solidFill>
              </a:rPr>
              <a:t>Stimuler l’engagement en donnant un sens au travail</a:t>
            </a:r>
          </a:p>
        </p:txBody>
      </p:sp>
    </p:spTree>
    <p:extLst>
      <p:ext uri="{BB962C8B-B14F-4D97-AF65-F5344CB8AC3E}">
        <p14:creationId xmlns:p14="http://schemas.microsoft.com/office/powerpoint/2010/main" val="14900881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340F96F-40FC-2576-C017-995A4A33B622}"/>
              </a:ext>
            </a:extLst>
          </p:cNvPr>
          <p:cNvSpPr>
            <a:spLocks noGrp="1"/>
          </p:cNvSpPr>
          <p:nvPr>
            <p:ph type="title"/>
          </p:nvPr>
        </p:nvSpPr>
        <p:spPr>
          <a:xfrm>
            <a:off x="244928" y="330590"/>
            <a:ext cx="8650426" cy="900000"/>
          </a:xfrm>
          <a:solidFill>
            <a:srgbClr val="0070C0"/>
          </a:solidFill>
        </p:spPr>
        <p:txBody>
          <a:bodyPr anchor="ctr">
            <a:normAutofit/>
          </a:bodyPr>
          <a:lstStyle/>
          <a:p>
            <a:r>
              <a:rPr lang="fr-CA" noProof="0" dirty="0"/>
              <a:t>Objectifs d’apprentissage</a:t>
            </a:r>
          </a:p>
        </p:txBody>
      </p:sp>
      <p:sp>
        <p:nvSpPr>
          <p:cNvPr id="4" name="Espace réservé du pied de page 3">
            <a:extLst>
              <a:ext uri="{FF2B5EF4-FFF2-40B4-BE49-F238E27FC236}">
                <a16:creationId xmlns:a16="http://schemas.microsoft.com/office/drawing/2014/main" id="{72B2D723-4B61-7D8C-8598-4DBF324129CF}"/>
              </a:ext>
            </a:extLst>
          </p:cNvPr>
          <p:cNvSpPr>
            <a:spLocks noGrp="1"/>
          </p:cNvSpPr>
          <p:nvPr>
            <p:ph type="ftr" sz="quarter" idx="3"/>
          </p:nvPr>
        </p:nvSpPr>
        <p:spPr/>
        <p:txBody>
          <a:bodyPr anchor="ctr">
            <a:normAutofit/>
          </a:bodyPr>
          <a:lstStyle/>
          <a:p>
            <a:pPr>
              <a:spcAft>
                <a:spcPts val="450"/>
              </a:spcAft>
            </a:pPr>
            <a:r>
              <a:rPr lang="fr-CA" dirty="0"/>
              <a:t>© 2026. Estelle M. Morin, Ph. D.  Tous droits réservés.</a:t>
            </a:r>
            <a:endParaRPr lang="fr-FR" dirty="0"/>
          </a:p>
        </p:txBody>
      </p:sp>
      <p:sp>
        <p:nvSpPr>
          <p:cNvPr id="5" name="Espace réservé du numéro de diapositive 4">
            <a:extLst>
              <a:ext uri="{FF2B5EF4-FFF2-40B4-BE49-F238E27FC236}">
                <a16:creationId xmlns:a16="http://schemas.microsoft.com/office/drawing/2014/main" id="{677243E0-EC0D-10CE-0654-95BBA171EC65}"/>
              </a:ext>
            </a:extLst>
          </p:cNvPr>
          <p:cNvSpPr>
            <a:spLocks noGrp="1"/>
          </p:cNvSpPr>
          <p:nvPr>
            <p:ph type="sldNum" sz="quarter" idx="4"/>
          </p:nvPr>
        </p:nvSpPr>
        <p:spPr/>
        <p:txBody>
          <a:bodyPr anchor="ctr">
            <a:normAutofit/>
          </a:bodyPr>
          <a:lstStyle/>
          <a:p>
            <a:pPr>
              <a:spcAft>
                <a:spcPts val="450"/>
              </a:spcAft>
            </a:pPr>
            <a:fld id="{0A5F8BAD-6575-7647-B790-DC8892003398}" type="slidenum">
              <a:rPr lang="fr-FR" smtClean="0"/>
              <a:pPr>
                <a:spcAft>
                  <a:spcPts val="450"/>
                </a:spcAft>
              </a:pPr>
              <a:t>2</a:t>
            </a:fld>
            <a:endParaRPr lang="fr-FR"/>
          </a:p>
        </p:txBody>
      </p:sp>
      <p:sp>
        <p:nvSpPr>
          <p:cNvPr id="11" name="Date Placeholder 5" hidden="1">
            <a:extLst>
              <a:ext uri="{FF2B5EF4-FFF2-40B4-BE49-F238E27FC236}">
                <a16:creationId xmlns:a16="http://schemas.microsoft.com/office/drawing/2014/main" id="{94059FD8-7E5B-D946-B623-84A2F75AB988}"/>
              </a:ext>
            </a:extLst>
          </p:cNvPr>
          <p:cNvSpPr>
            <a:spLocks noGrp="1"/>
          </p:cNvSpPr>
          <p:nvPr>
            <p:ph type="dt" sz="half" idx="2"/>
          </p:nvPr>
        </p:nvSpPr>
        <p:spPr/>
        <p:txBody>
          <a:bodyPr/>
          <a:lstStyle/>
          <a:p>
            <a:pPr>
              <a:spcAft>
                <a:spcPts val="450"/>
              </a:spcAft>
            </a:pPr>
            <a:fld id="{2D3EBF11-491A-4393-8846-475327B40C9F}" type="datetime3">
              <a:rPr lang="fr-CA" smtClean="0"/>
              <a:pPr>
                <a:spcAft>
                  <a:spcPts val="450"/>
                </a:spcAft>
              </a:pPr>
              <a:t>26/09/17</a:t>
            </a:fld>
            <a:endParaRPr lang="fr-FR"/>
          </a:p>
        </p:txBody>
      </p:sp>
      <p:graphicFrame>
        <p:nvGraphicFramePr>
          <p:cNvPr id="2" name="Espace réservé du contenu 1">
            <a:extLst>
              <a:ext uri="{FF2B5EF4-FFF2-40B4-BE49-F238E27FC236}">
                <a16:creationId xmlns:a16="http://schemas.microsoft.com/office/drawing/2014/main" id="{59BE56C9-395F-2668-45FF-57C44E9D658D}"/>
              </a:ext>
            </a:extLst>
          </p:cNvPr>
          <p:cNvGraphicFramePr>
            <a:graphicFrameLocks noGrp="1"/>
          </p:cNvGraphicFramePr>
          <p:nvPr>
            <p:ph sz="quarter" idx="16"/>
            <p:extLst>
              <p:ext uri="{D42A27DB-BD31-4B8C-83A1-F6EECF244321}">
                <p14:modId xmlns:p14="http://schemas.microsoft.com/office/powerpoint/2010/main" val="3279303726"/>
              </p:ext>
            </p:extLst>
          </p:nvPr>
        </p:nvGraphicFramePr>
        <p:xfrm>
          <a:off x="244928" y="1941468"/>
          <a:ext cx="8650426" cy="3337515"/>
        </p:xfrm>
        <a:graphic>
          <a:graphicData uri="http://schemas.openxmlformats.org/drawingml/2006/table">
            <a:tbl>
              <a:tblPr firstRow="1" bandRow="1">
                <a:tableStyleId>{5940675A-B579-460E-94D1-54222C63F5DA}</a:tableStyleId>
              </a:tblPr>
              <a:tblGrid>
                <a:gridCol w="4325213">
                  <a:extLst>
                    <a:ext uri="{9D8B030D-6E8A-4147-A177-3AD203B41FA5}">
                      <a16:colId xmlns:a16="http://schemas.microsoft.com/office/drawing/2014/main" val="643224995"/>
                    </a:ext>
                  </a:extLst>
                </a:gridCol>
                <a:gridCol w="4325213">
                  <a:extLst>
                    <a:ext uri="{9D8B030D-6E8A-4147-A177-3AD203B41FA5}">
                      <a16:colId xmlns:a16="http://schemas.microsoft.com/office/drawing/2014/main" val="1136888292"/>
                    </a:ext>
                  </a:extLst>
                </a:gridCol>
              </a:tblGrid>
              <a:tr h="365715">
                <a:tc>
                  <a:txBody>
                    <a:bodyPr/>
                    <a:lstStyle/>
                    <a:p>
                      <a:pPr algn="ctr">
                        <a:lnSpc>
                          <a:spcPct val="115000"/>
                        </a:lnSpc>
                        <a:spcBef>
                          <a:spcPts val="1200"/>
                        </a:spcBef>
                        <a:spcAft>
                          <a:spcPts val="600"/>
                        </a:spcAft>
                        <a:buNone/>
                      </a:pPr>
                      <a:r>
                        <a:rPr lang="fr-CA" sz="1500" kern="100">
                          <a:effectLst/>
                        </a:rPr>
                        <a:t>Objectifs généraux</a:t>
                      </a:r>
                      <a:endParaRPr lang="fr-CA" sz="15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ctr">
                        <a:lnSpc>
                          <a:spcPct val="115000"/>
                        </a:lnSpc>
                        <a:spcBef>
                          <a:spcPts val="1200"/>
                        </a:spcBef>
                        <a:spcAft>
                          <a:spcPts val="600"/>
                        </a:spcAft>
                        <a:buNone/>
                      </a:pPr>
                      <a:r>
                        <a:rPr lang="fr-CA" sz="1500" kern="100">
                          <a:effectLst/>
                        </a:rPr>
                        <a:t>Objectifs spécifiques</a:t>
                      </a:r>
                      <a:endParaRPr lang="fr-CA" sz="15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3251445311"/>
                  </a:ext>
                </a:extLst>
              </a:tr>
              <a:tr h="2651804">
                <a:tc>
                  <a:txBody>
                    <a:bodyPr/>
                    <a:lstStyle/>
                    <a:p>
                      <a:pPr marL="342900" lvl="0" indent="-342900">
                        <a:lnSpc>
                          <a:spcPct val="115000"/>
                        </a:lnSpc>
                        <a:spcBef>
                          <a:spcPts val="1200"/>
                        </a:spcBef>
                        <a:buFont typeface="+mj-lt"/>
                        <a:buAutoNum type="arabicPeriod"/>
                      </a:pPr>
                      <a:r>
                        <a:rPr lang="fr-FR" sz="1500" kern="100" dirty="0">
                          <a:effectLst/>
                        </a:rPr>
                        <a:t>Analyser les dynamiques qui sous-tendent les comportements organisationnels.</a:t>
                      </a:r>
                      <a:endParaRPr lang="fr-CA" sz="1500" kern="100" dirty="0">
                        <a:effectLst/>
                      </a:endParaRPr>
                    </a:p>
                    <a:p>
                      <a:pPr marL="342900" lvl="0" indent="-342900">
                        <a:lnSpc>
                          <a:spcPct val="115000"/>
                        </a:lnSpc>
                        <a:buFont typeface="+mj-lt"/>
                        <a:buAutoNum type="arabicPeriod"/>
                      </a:pPr>
                      <a:r>
                        <a:rPr lang="fr-FR" sz="1500" kern="100" dirty="0">
                          <a:effectLst/>
                        </a:rPr>
                        <a:t>Donner du sens au travail pour favoriser l’énergie, la santé et l’engagement des collaborateurs.</a:t>
                      </a:r>
                      <a:endParaRPr lang="fr-CA" sz="1500" kern="100" dirty="0">
                        <a:effectLst/>
                      </a:endParaRPr>
                    </a:p>
                    <a:p>
                      <a:pPr marL="342900" lvl="0" indent="-342900">
                        <a:lnSpc>
                          <a:spcPct val="115000"/>
                        </a:lnSpc>
                        <a:buFont typeface="+mj-lt"/>
                        <a:buAutoNum type="arabicPeriod"/>
                      </a:pPr>
                      <a:r>
                        <a:rPr lang="fr-FR" sz="1500" kern="100" dirty="0">
                          <a:effectLst/>
                        </a:rPr>
                        <a:t>Concevoir des conditions de travail et des pratiques de management qui favorisent un engagement durable, tout en respectant les besoins humains fondamentaux.</a:t>
                      </a:r>
                      <a:endParaRPr lang="fr-CA" sz="15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marL="285750" indent="-285750">
                        <a:buFont typeface="Arial" panose="020B0604020202020204" pitchFamily="34" charset="0"/>
                        <a:buChar char="•"/>
                      </a:pPr>
                      <a:r>
                        <a:rPr lang="fr-CA" dirty="0"/>
                        <a:t>Décrire la motivation à partir de la force, de la direction et de la persistance des comportements;</a:t>
                      </a:r>
                    </a:p>
                    <a:p>
                      <a:pPr marL="285750" indent="-285750">
                        <a:buFont typeface="Arial" panose="020B0604020202020204" pitchFamily="34" charset="0"/>
                        <a:buChar char="•"/>
                      </a:pPr>
                      <a:r>
                        <a:rPr lang="fr-CA" dirty="0"/>
                        <a:t>Expliquer la motivation comme régulation de l'énergie, par les mécanismes d'homéostasie et d'allostasie;</a:t>
                      </a:r>
                    </a:p>
                    <a:p>
                      <a:pPr marL="285750" indent="-285750">
                        <a:buFont typeface="Arial" panose="020B0604020202020204" pitchFamily="34" charset="0"/>
                        <a:buChar char="•"/>
                      </a:pPr>
                      <a:r>
                        <a:rPr lang="fr-CA" dirty="0"/>
                        <a:t>Expliquer la théorie des besoins (Maslow) et la théorie de l'autodétermination (</a:t>
                      </a:r>
                      <a:r>
                        <a:rPr lang="fr-CA" dirty="0" err="1"/>
                        <a:t>Deci</a:t>
                      </a:r>
                      <a:r>
                        <a:rPr lang="fr-CA" dirty="0"/>
                        <a:t> et Ryan), et les mobiliser pour éclairer une situation de gestion;</a:t>
                      </a:r>
                    </a:p>
                    <a:p>
                      <a:pPr marL="285750" indent="-285750">
                        <a:buFont typeface="Arial" panose="020B0604020202020204" pitchFamily="34" charset="0"/>
                        <a:buChar char="•"/>
                      </a:pPr>
                      <a:r>
                        <a:rPr lang="fr-CA" dirty="0"/>
                        <a:t>Situer la théorie de Susan Fiske et celle de Carol </a:t>
                      </a:r>
                      <a:r>
                        <a:rPr lang="fr-CA" dirty="0" err="1"/>
                        <a:t>Dweck</a:t>
                      </a:r>
                      <a:r>
                        <a:rPr lang="fr-CA" dirty="0"/>
                        <a:t> parmi les théories de la motivation humaine.</a:t>
                      </a:r>
                      <a:endParaRPr lang="fr-CA" sz="15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3378642235"/>
                  </a:ext>
                </a:extLst>
              </a:tr>
            </a:tbl>
          </a:graphicData>
        </a:graphic>
      </p:graphicFrame>
    </p:spTree>
    <p:extLst>
      <p:ext uri="{BB962C8B-B14F-4D97-AF65-F5344CB8AC3E}">
        <p14:creationId xmlns:p14="http://schemas.microsoft.com/office/powerpoint/2010/main" val="41486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228850" y="1163574"/>
            <a:ext cx="6412230" cy="1200150"/>
          </a:xfrm>
          <a:prstGeom prst="roundRect">
            <a:avLst/>
          </a:prstGeom>
          <a:solidFill>
            <a:srgbClr val="FAF7EF"/>
          </a:solidFill>
          <a:ln w="12700">
            <a:solidFill>
              <a:srgbClr val="EBE1CD"/>
            </a:solidFill>
          </a:ln>
        </p:spPr>
        <p:style>
          <a:lnRef idx="1">
            <a:schemeClr val="accent1"/>
          </a:lnRef>
          <a:fillRef idx="3">
            <a:schemeClr val="accent1"/>
          </a:fillRef>
          <a:effectRef idx="2">
            <a:schemeClr val="accent1"/>
          </a:effectRef>
          <a:fontRef idx="minor">
            <a:schemeClr val="lt1"/>
          </a:fontRef>
        </p:style>
        <p:txBody>
          <a:bodyPr lIns="171450" tIns="96012" rIns="171450" rtlCol="0" anchor="ctr"/>
          <a:lstStyle/>
          <a:p>
            <a:pPr algn="ctr"/>
            <a:r>
              <a:rPr sz="1238" i="1">
                <a:solidFill>
                  <a:srgbClr val="19314F"/>
                </a:solidFill>
                <a:latin typeface="Aptos"/>
              </a:rPr>
              <a:t>La motivation est le processus psychophysiologique responsable du déclenchement, de l’entretien et de la cessation d’un comportement, ainsi que de la valeur appétitive ou aversive conférée aux éléments d’un milieu sur lesquels s’exerce ce comportement.</a:t>
            </a:r>
          </a:p>
          <a:p>
            <a:pPr algn="ctr"/>
            <a:r>
              <a:rPr sz="900">
                <a:solidFill>
                  <a:srgbClr val="5C5C5C"/>
                </a:solidFill>
                <a:latin typeface="Aptos"/>
              </a:rPr>
              <a:t>(Bloch et al., 2002, p. 790)</a:t>
            </a:r>
          </a:p>
        </p:txBody>
      </p:sp>
      <p:sp>
        <p:nvSpPr>
          <p:cNvPr id="7" name="Rounded Rectangle 6"/>
          <p:cNvSpPr/>
          <p:nvPr/>
        </p:nvSpPr>
        <p:spPr>
          <a:xfrm>
            <a:off x="445770" y="2768346"/>
            <a:ext cx="2660904" cy="1817370"/>
          </a:xfrm>
          <a:prstGeom prst="roundRect">
            <a:avLst/>
          </a:prstGeom>
          <a:solidFill>
            <a:srgbClr val="FFFFFF"/>
          </a:solidFill>
          <a:ln w="1270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Oval 7"/>
          <p:cNvSpPr/>
          <p:nvPr/>
        </p:nvSpPr>
        <p:spPr>
          <a:xfrm>
            <a:off x="1426464" y="2507742"/>
            <a:ext cx="699516" cy="699516"/>
          </a:xfrm>
          <a:prstGeom prst="ellipse">
            <a:avLst/>
          </a:prstGeom>
          <a:solidFill>
            <a:srgbClr val="C48E2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TextBox 8"/>
          <p:cNvSpPr txBox="1"/>
          <p:nvPr/>
        </p:nvSpPr>
        <p:spPr>
          <a:xfrm>
            <a:off x="1630989" y="2631186"/>
            <a:ext cx="290464" cy="369332"/>
          </a:xfrm>
          <a:prstGeom prst="rect">
            <a:avLst/>
          </a:prstGeom>
          <a:noFill/>
        </p:spPr>
        <p:txBody>
          <a:bodyPr wrap="none">
            <a:spAutoFit/>
          </a:bodyPr>
          <a:lstStyle/>
          <a:p>
            <a:pPr algn="ctr"/>
            <a:r>
              <a:rPr b="1">
                <a:solidFill>
                  <a:srgbClr val="FFFFFF"/>
                </a:solidFill>
                <a:latin typeface="Segoe UI Symbol"/>
              </a:rPr>
              <a:t>⚡</a:t>
            </a:r>
          </a:p>
        </p:txBody>
      </p:sp>
      <p:sp>
        <p:nvSpPr>
          <p:cNvPr id="10" name="TextBox 9"/>
          <p:cNvSpPr txBox="1"/>
          <p:nvPr/>
        </p:nvSpPr>
        <p:spPr>
          <a:xfrm>
            <a:off x="1018002" y="3268979"/>
            <a:ext cx="1516441" cy="300082"/>
          </a:xfrm>
          <a:prstGeom prst="rect">
            <a:avLst/>
          </a:prstGeom>
          <a:noFill/>
        </p:spPr>
        <p:txBody>
          <a:bodyPr wrap="none">
            <a:spAutoFit/>
          </a:bodyPr>
          <a:lstStyle/>
          <a:p>
            <a:pPr algn="ctr"/>
            <a:r>
              <a:rPr sz="1350" b="1">
                <a:solidFill>
                  <a:srgbClr val="19314F"/>
                </a:solidFill>
                <a:latin typeface="Aptos Display"/>
              </a:rPr>
              <a:t>FORCE / ÉNERGIE</a:t>
            </a:r>
          </a:p>
        </p:txBody>
      </p:sp>
      <p:sp>
        <p:nvSpPr>
          <p:cNvPr id="11" name="Rectangle 10"/>
          <p:cNvSpPr/>
          <p:nvPr/>
        </p:nvSpPr>
        <p:spPr>
          <a:xfrm>
            <a:off x="1522476" y="3591306"/>
            <a:ext cx="507492" cy="24003"/>
          </a:xfrm>
          <a:prstGeom prst="rect">
            <a:avLst/>
          </a:prstGeom>
          <a:solidFill>
            <a:srgbClr val="C48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p:cNvSpPr txBox="1"/>
          <p:nvPr/>
        </p:nvSpPr>
        <p:spPr>
          <a:xfrm>
            <a:off x="637794" y="3701034"/>
            <a:ext cx="2276856" cy="542456"/>
          </a:xfrm>
          <a:prstGeom prst="rect">
            <a:avLst/>
          </a:prstGeom>
          <a:noFill/>
        </p:spPr>
        <p:txBody>
          <a:bodyPr wrap="square">
            <a:spAutoFit/>
          </a:bodyPr>
          <a:lstStyle/>
          <a:p>
            <a:pPr algn="ctr"/>
            <a:r>
              <a:rPr sz="975">
                <a:solidFill>
                  <a:srgbClr val="19314F"/>
                </a:solidFill>
                <a:latin typeface="Aptos"/>
              </a:rPr>
              <a:t>Intensité de l’effort mobilisé
pour initier et réaliser
le comportement.</a:t>
            </a:r>
          </a:p>
        </p:txBody>
      </p:sp>
      <p:sp>
        <p:nvSpPr>
          <p:cNvPr id="13" name="TextBox 12"/>
          <p:cNvSpPr txBox="1"/>
          <p:nvPr/>
        </p:nvSpPr>
        <p:spPr>
          <a:xfrm>
            <a:off x="1217415" y="4277106"/>
            <a:ext cx="1117615" cy="357918"/>
          </a:xfrm>
          <a:prstGeom prst="rect">
            <a:avLst/>
          </a:prstGeom>
          <a:noFill/>
        </p:spPr>
        <p:txBody>
          <a:bodyPr wrap="none">
            <a:spAutoFit/>
          </a:bodyPr>
          <a:lstStyle/>
          <a:p>
            <a:pPr algn="ctr"/>
            <a:r>
              <a:rPr sz="863" i="1">
                <a:solidFill>
                  <a:srgbClr val="5C5C5C"/>
                </a:solidFill>
                <a:latin typeface="Aptos"/>
              </a:rPr>
              <a:t>Avec quelle énergie
je m’y mets ?</a:t>
            </a:r>
          </a:p>
        </p:txBody>
      </p:sp>
      <p:sp>
        <p:nvSpPr>
          <p:cNvPr id="14" name="Rounded Rectangle 13"/>
          <p:cNvSpPr/>
          <p:nvPr/>
        </p:nvSpPr>
        <p:spPr>
          <a:xfrm>
            <a:off x="3236976" y="2768346"/>
            <a:ext cx="2660904" cy="1817370"/>
          </a:xfrm>
          <a:prstGeom prst="roundRect">
            <a:avLst/>
          </a:prstGeom>
          <a:solidFill>
            <a:srgbClr val="FFFFFF"/>
          </a:solidFill>
          <a:ln w="1270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Oval 14"/>
          <p:cNvSpPr/>
          <p:nvPr/>
        </p:nvSpPr>
        <p:spPr>
          <a:xfrm>
            <a:off x="4217669" y="2507742"/>
            <a:ext cx="699516" cy="699516"/>
          </a:xfrm>
          <a:prstGeom prst="ellipse">
            <a:avLst/>
          </a:prstGeom>
          <a:solidFill>
            <a:srgbClr val="1D37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TextBox 15"/>
          <p:cNvSpPr txBox="1"/>
          <p:nvPr/>
        </p:nvSpPr>
        <p:spPr>
          <a:xfrm>
            <a:off x="4375709" y="2631186"/>
            <a:ext cx="383439" cy="369332"/>
          </a:xfrm>
          <a:prstGeom prst="rect">
            <a:avLst/>
          </a:prstGeom>
          <a:noFill/>
        </p:spPr>
        <p:txBody>
          <a:bodyPr wrap="none">
            <a:spAutoFit/>
          </a:bodyPr>
          <a:lstStyle/>
          <a:p>
            <a:pPr algn="ctr"/>
            <a:r>
              <a:rPr b="1">
                <a:solidFill>
                  <a:srgbClr val="FFFFFF"/>
                </a:solidFill>
                <a:latin typeface="Segoe UI Symbol"/>
              </a:rPr>
              <a:t>◎</a:t>
            </a:r>
          </a:p>
        </p:txBody>
      </p:sp>
      <p:sp>
        <p:nvSpPr>
          <p:cNvPr id="17" name="TextBox 16"/>
          <p:cNvSpPr txBox="1"/>
          <p:nvPr/>
        </p:nvSpPr>
        <p:spPr>
          <a:xfrm>
            <a:off x="4049370" y="3268979"/>
            <a:ext cx="1036117" cy="300082"/>
          </a:xfrm>
          <a:prstGeom prst="rect">
            <a:avLst/>
          </a:prstGeom>
          <a:noFill/>
        </p:spPr>
        <p:txBody>
          <a:bodyPr wrap="none">
            <a:spAutoFit/>
          </a:bodyPr>
          <a:lstStyle/>
          <a:p>
            <a:pPr algn="ctr"/>
            <a:r>
              <a:rPr sz="1350" b="1">
                <a:solidFill>
                  <a:srgbClr val="19314F"/>
                </a:solidFill>
                <a:latin typeface="Aptos Display"/>
              </a:rPr>
              <a:t>DIRECTION</a:t>
            </a:r>
          </a:p>
        </p:txBody>
      </p:sp>
      <p:sp>
        <p:nvSpPr>
          <p:cNvPr id="18" name="Rectangle 17"/>
          <p:cNvSpPr/>
          <p:nvPr/>
        </p:nvSpPr>
        <p:spPr>
          <a:xfrm>
            <a:off x="4313682" y="3591306"/>
            <a:ext cx="507492" cy="24003"/>
          </a:xfrm>
          <a:prstGeom prst="rect">
            <a:avLst/>
          </a:prstGeom>
          <a:solidFill>
            <a:srgbClr val="1D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TextBox 18"/>
          <p:cNvSpPr txBox="1"/>
          <p:nvPr/>
        </p:nvSpPr>
        <p:spPr>
          <a:xfrm>
            <a:off x="3429000" y="3701034"/>
            <a:ext cx="2276856" cy="542456"/>
          </a:xfrm>
          <a:prstGeom prst="rect">
            <a:avLst/>
          </a:prstGeom>
          <a:noFill/>
        </p:spPr>
        <p:txBody>
          <a:bodyPr wrap="square">
            <a:spAutoFit/>
          </a:bodyPr>
          <a:lstStyle/>
          <a:p>
            <a:pPr algn="ctr"/>
            <a:r>
              <a:rPr sz="975">
                <a:solidFill>
                  <a:srgbClr val="19314F"/>
                </a:solidFill>
                <a:latin typeface="Aptos"/>
              </a:rPr>
              <a:t>Orientation du comportement
vers un but, un objet ou
une situation spécifique.</a:t>
            </a:r>
          </a:p>
        </p:txBody>
      </p:sp>
      <p:sp>
        <p:nvSpPr>
          <p:cNvPr id="20" name="TextBox 19"/>
          <p:cNvSpPr txBox="1"/>
          <p:nvPr/>
        </p:nvSpPr>
        <p:spPr>
          <a:xfrm>
            <a:off x="3943700" y="4277106"/>
            <a:ext cx="1247457" cy="357918"/>
          </a:xfrm>
          <a:prstGeom prst="rect">
            <a:avLst/>
          </a:prstGeom>
          <a:noFill/>
        </p:spPr>
        <p:txBody>
          <a:bodyPr wrap="none">
            <a:spAutoFit/>
          </a:bodyPr>
          <a:lstStyle/>
          <a:p>
            <a:pPr algn="ctr"/>
            <a:r>
              <a:rPr sz="863" i="1">
                <a:solidFill>
                  <a:srgbClr val="5C5C5C"/>
                </a:solidFill>
                <a:latin typeface="Aptos"/>
              </a:rPr>
              <a:t>Vers quoi mon énergie
est-elle dirigée ?</a:t>
            </a:r>
          </a:p>
        </p:txBody>
      </p:sp>
      <p:sp>
        <p:nvSpPr>
          <p:cNvPr id="21" name="Rounded Rectangle 20"/>
          <p:cNvSpPr/>
          <p:nvPr/>
        </p:nvSpPr>
        <p:spPr>
          <a:xfrm>
            <a:off x="6028181" y="2768346"/>
            <a:ext cx="2660904" cy="1817370"/>
          </a:xfrm>
          <a:prstGeom prst="roundRect">
            <a:avLst/>
          </a:prstGeom>
          <a:solidFill>
            <a:srgbClr val="FFFFFF"/>
          </a:solidFill>
          <a:ln w="1270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Oval 21"/>
          <p:cNvSpPr/>
          <p:nvPr/>
        </p:nvSpPr>
        <p:spPr>
          <a:xfrm>
            <a:off x="7008875" y="2507742"/>
            <a:ext cx="699516" cy="699516"/>
          </a:xfrm>
          <a:prstGeom prst="ellipse">
            <a:avLst/>
          </a:prstGeom>
          <a:solidFill>
            <a:srgbClr val="556B4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TextBox 22"/>
          <p:cNvSpPr txBox="1"/>
          <p:nvPr/>
        </p:nvSpPr>
        <p:spPr>
          <a:xfrm>
            <a:off x="7182143" y="2631186"/>
            <a:ext cx="352982" cy="369332"/>
          </a:xfrm>
          <a:prstGeom prst="rect">
            <a:avLst/>
          </a:prstGeom>
          <a:noFill/>
        </p:spPr>
        <p:txBody>
          <a:bodyPr wrap="none">
            <a:spAutoFit/>
          </a:bodyPr>
          <a:lstStyle/>
          <a:p>
            <a:pPr algn="ctr"/>
            <a:r>
              <a:rPr b="1">
                <a:solidFill>
                  <a:srgbClr val="FFFFFF"/>
                </a:solidFill>
                <a:latin typeface="Segoe UI Symbol"/>
              </a:rPr>
              <a:t>↗</a:t>
            </a:r>
          </a:p>
        </p:txBody>
      </p:sp>
      <p:sp>
        <p:nvSpPr>
          <p:cNvPr id="24" name="TextBox 23"/>
          <p:cNvSpPr txBox="1"/>
          <p:nvPr/>
        </p:nvSpPr>
        <p:spPr>
          <a:xfrm>
            <a:off x="6736540" y="3268979"/>
            <a:ext cx="1244187" cy="300082"/>
          </a:xfrm>
          <a:prstGeom prst="rect">
            <a:avLst/>
          </a:prstGeom>
          <a:noFill/>
        </p:spPr>
        <p:txBody>
          <a:bodyPr wrap="none">
            <a:spAutoFit/>
          </a:bodyPr>
          <a:lstStyle/>
          <a:p>
            <a:pPr algn="ctr"/>
            <a:r>
              <a:rPr sz="1350" b="1">
                <a:solidFill>
                  <a:srgbClr val="19314F"/>
                </a:solidFill>
                <a:latin typeface="Aptos Display"/>
              </a:rPr>
              <a:t>PERSISTANCE</a:t>
            </a:r>
          </a:p>
        </p:txBody>
      </p:sp>
      <p:sp>
        <p:nvSpPr>
          <p:cNvPr id="25" name="Rectangle 24"/>
          <p:cNvSpPr/>
          <p:nvPr/>
        </p:nvSpPr>
        <p:spPr>
          <a:xfrm>
            <a:off x="7104888" y="3591306"/>
            <a:ext cx="507492" cy="24003"/>
          </a:xfrm>
          <a:prstGeom prst="rect">
            <a:avLst/>
          </a:prstGeom>
          <a:solidFill>
            <a:srgbClr val="556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TextBox 25"/>
          <p:cNvSpPr txBox="1"/>
          <p:nvPr/>
        </p:nvSpPr>
        <p:spPr>
          <a:xfrm>
            <a:off x="6220205" y="3701034"/>
            <a:ext cx="2276856" cy="542456"/>
          </a:xfrm>
          <a:prstGeom prst="rect">
            <a:avLst/>
          </a:prstGeom>
          <a:noFill/>
        </p:spPr>
        <p:txBody>
          <a:bodyPr wrap="square">
            <a:spAutoFit/>
          </a:bodyPr>
          <a:lstStyle/>
          <a:p>
            <a:pPr algn="ctr"/>
            <a:r>
              <a:rPr sz="975">
                <a:solidFill>
                  <a:srgbClr val="19314F"/>
                </a:solidFill>
                <a:latin typeface="Aptos"/>
              </a:rPr>
              <a:t>Maintien de l’effort dans le temps,
malgré les obstacles, les difficultés
ou l’absence de résultats immédiats.</a:t>
            </a:r>
          </a:p>
        </p:txBody>
      </p:sp>
      <p:sp>
        <p:nvSpPr>
          <p:cNvPr id="27" name="TextBox 26"/>
          <p:cNvSpPr txBox="1"/>
          <p:nvPr/>
        </p:nvSpPr>
        <p:spPr>
          <a:xfrm>
            <a:off x="6737310" y="4277106"/>
            <a:ext cx="1242648" cy="357918"/>
          </a:xfrm>
          <a:prstGeom prst="rect">
            <a:avLst/>
          </a:prstGeom>
          <a:noFill/>
        </p:spPr>
        <p:txBody>
          <a:bodyPr wrap="none">
            <a:spAutoFit/>
          </a:bodyPr>
          <a:lstStyle/>
          <a:p>
            <a:pPr algn="ctr"/>
            <a:r>
              <a:rPr sz="863" i="1">
                <a:solidFill>
                  <a:srgbClr val="5C5C5C"/>
                </a:solidFill>
                <a:latin typeface="Aptos"/>
              </a:rPr>
              <a:t>Est-ce que je poursuis
mes efforts ?</a:t>
            </a:r>
          </a:p>
        </p:txBody>
      </p:sp>
      <p:sp>
        <p:nvSpPr>
          <p:cNvPr id="28" name="Titre 27">
            <a:extLst>
              <a:ext uri="{FF2B5EF4-FFF2-40B4-BE49-F238E27FC236}">
                <a16:creationId xmlns:a16="http://schemas.microsoft.com/office/drawing/2014/main" id="{5F3A6B88-4B9C-A48F-25AC-034264736D74}"/>
              </a:ext>
            </a:extLst>
          </p:cNvPr>
          <p:cNvSpPr>
            <a:spLocks noGrp="1"/>
          </p:cNvSpPr>
          <p:nvPr>
            <p:ph type="title"/>
          </p:nvPr>
        </p:nvSpPr>
        <p:spPr>
          <a:xfrm>
            <a:off x="318796" y="274116"/>
            <a:ext cx="8186400" cy="622800"/>
          </a:xfrm>
        </p:spPr>
        <p:txBody>
          <a:bodyPr/>
          <a:lstStyle/>
          <a:p>
            <a:r>
              <a:rPr lang="fr-CA" dirty="0">
                <a:solidFill>
                  <a:srgbClr val="FFFFFF"/>
                </a:solidFill>
                <a:latin typeface="Aptos Display"/>
              </a:rPr>
              <a:t>Définition</a:t>
            </a:r>
            <a:endParaRPr lang="fr-CA" dirty="0"/>
          </a:p>
        </p:txBody>
      </p:sp>
      <p:sp>
        <p:nvSpPr>
          <p:cNvPr id="31" name="Espace réservé du pied de page 4">
            <a:extLst>
              <a:ext uri="{FF2B5EF4-FFF2-40B4-BE49-F238E27FC236}">
                <a16:creationId xmlns:a16="http://schemas.microsoft.com/office/drawing/2014/main" id="{434B7E96-FDEB-25F1-402B-EF33058609C1}"/>
              </a:ext>
            </a:extLst>
          </p:cNvPr>
          <p:cNvSpPr>
            <a:spLocks noGrp="1"/>
          </p:cNvSpPr>
          <p:nvPr>
            <p:ph type="ftr" sz="quarter" idx="3"/>
          </p:nvPr>
        </p:nvSpPr>
        <p:spPr>
          <a:xfrm>
            <a:off x="3124200" y="5314792"/>
            <a:ext cx="2895600" cy="185224"/>
          </a:xfrm>
        </p:spPr>
        <p:txBody>
          <a:bodyPr/>
          <a:lstStyle/>
          <a:p>
            <a:r>
              <a:rPr lang="fr-CA" dirty="0">
                <a:solidFill>
                  <a:schemeClr val="tx1"/>
                </a:solidFill>
              </a:rPr>
              <a:t>@2025. Marie-Christine ALBERT. Tous droits réservés.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1" y="505206"/>
            <a:ext cx="6291402" cy="380873"/>
          </a:xfrm>
          <a:prstGeom prst="rect">
            <a:avLst/>
          </a:prstGeom>
          <a:noFill/>
        </p:spPr>
        <p:txBody>
          <a:bodyPr wrap="none">
            <a:spAutoFit/>
          </a:bodyPr>
          <a:lstStyle/>
          <a:p>
            <a:r>
              <a:rPr sz="1875" b="1" dirty="0">
                <a:solidFill>
                  <a:srgbClr val="173D63"/>
                </a:solidFill>
                <a:latin typeface="Aptos Display"/>
              </a:rPr>
              <a:t>Intelligence et </a:t>
            </a:r>
            <a:r>
              <a:rPr sz="1875" b="1" dirty="0" err="1">
                <a:solidFill>
                  <a:srgbClr val="173D63"/>
                </a:solidFill>
                <a:latin typeface="Aptos Display"/>
              </a:rPr>
              <a:t>affectivité</a:t>
            </a:r>
            <a:r>
              <a:rPr sz="1875" b="1" dirty="0">
                <a:solidFill>
                  <a:srgbClr val="173D63"/>
                </a:solidFill>
                <a:latin typeface="Aptos Display"/>
              </a:rPr>
              <a:t> : deux dimensions </a:t>
            </a:r>
            <a:r>
              <a:rPr sz="1875" b="1" dirty="0" err="1">
                <a:solidFill>
                  <a:srgbClr val="173D63"/>
                </a:solidFill>
                <a:latin typeface="Aptos Display"/>
              </a:rPr>
              <a:t>indissociables</a:t>
            </a:r>
            <a:endParaRPr sz="1875" b="1" dirty="0">
              <a:solidFill>
                <a:srgbClr val="173D63"/>
              </a:solidFill>
              <a:latin typeface="Aptos Display"/>
            </a:endParaRPr>
          </a:p>
        </p:txBody>
      </p:sp>
      <p:sp>
        <p:nvSpPr>
          <p:cNvPr id="3" name="TextBox 2"/>
          <p:cNvSpPr txBox="1"/>
          <p:nvPr/>
        </p:nvSpPr>
        <p:spPr>
          <a:xfrm>
            <a:off x="1741600" y="916687"/>
            <a:ext cx="5610510" cy="276999"/>
          </a:xfrm>
          <a:prstGeom prst="rect">
            <a:avLst/>
          </a:prstGeom>
          <a:noFill/>
        </p:spPr>
        <p:txBody>
          <a:bodyPr wrap="none">
            <a:spAutoFit/>
          </a:bodyPr>
          <a:lstStyle/>
          <a:p>
            <a:pPr algn="ctr"/>
            <a:r>
              <a:rPr sz="1200" i="1">
                <a:solidFill>
                  <a:srgbClr val="5A5F64"/>
                </a:solidFill>
                <a:latin typeface="Aptos"/>
              </a:rPr>
              <a:t>L’intelligence donne une structure à la conduite; l’affectivité lui fournit son énergie.</a:t>
            </a:r>
          </a:p>
        </p:txBody>
      </p:sp>
      <p:sp>
        <p:nvSpPr>
          <p:cNvPr id="4" name="Rounded Rectangle 3"/>
          <p:cNvSpPr/>
          <p:nvPr/>
        </p:nvSpPr>
        <p:spPr>
          <a:xfrm>
            <a:off x="445770" y="1348740"/>
            <a:ext cx="2880360" cy="3120390"/>
          </a:xfrm>
          <a:prstGeom prst="roundRect">
            <a:avLst/>
          </a:prstGeom>
          <a:solidFill>
            <a:srgbClr val="EFF7FC"/>
          </a:solidFill>
          <a:ln w="25400">
            <a:solidFill>
              <a:srgbClr val="2977AB"/>
            </a:solidFill>
          </a:ln>
        </p:spPr>
        <p:style>
          <a:lnRef idx="1">
            <a:schemeClr val="accent1"/>
          </a:lnRef>
          <a:fillRef idx="3">
            <a:schemeClr val="accent1"/>
          </a:fillRef>
          <a:effectRef idx="2">
            <a:schemeClr val="accent1"/>
          </a:effectRef>
          <a:fontRef idx="minor">
            <a:schemeClr val="lt1"/>
          </a:fontRef>
        </p:style>
        <p:txBody>
          <a:bodyPr lIns="171450" tIns="137160" rIns="171450" rtlCol="0" anchor="ctr"/>
          <a:lstStyle/>
          <a:p>
            <a:pPr algn="ctr"/>
            <a:r>
              <a:rPr sz="1575" b="1">
                <a:solidFill>
                  <a:srgbClr val="2977AB"/>
                </a:solidFill>
                <a:latin typeface="Aptos Display"/>
              </a:rPr>
              <a:t>INTELLIGENCE</a:t>
            </a:r>
          </a:p>
          <a:p>
            <a:pPr algn="ctr">
              <a:spcBef>
                <a:spcPts val="600"/>
              </a:spcBef>
            </a:pPr>
            <a:r>
              <a:rPr sz="1125" b="1">
                <a:solidFill>
                  <a:srgbClr val="232D37"/>
                </a:solidFill>
                <a:latin typeface="Aptos"/>
              </a:rPr>
              <a:t>Structure / cognition</a:t>
            </a:r>
          </a:p>
          <a:p>
            <a:pPr>
              <a:spcBef>
                <a:spcPts val="525"/>
              </a:spcBef>
              <a:defRPr sz="1350">
                <a:solidFill>
                  <a:srgbClr val="232D37"/>
                </a:solidFill>
                <a:latin typeface="Aptos"/>
              </a:defRPr>
            </a:pPr>
            <a:r>
              <a:rPr sz="1013"/>
              <a:t>Donne un sens à la situation</a:t>
            </a:r>
          </a:p>
          <a:p>
            <a:pPr>
              <a:spcBef>
                <a:spcPts val="525"/>
              </a:spcBef>
              <a:defRPr sz="1350">
                <a:solidFill>
                  <a:srgbClr val="232D37"/>
                </a:solidFill>
                <a:latin typeface="Aptos"/>
              </a:defRPr>
            </a:pPr>
            <a:r>
              <a:rPr sz="1013"/>
              <a:t>Établit les rapports entre moyens, action, but et finalité</a:t>
            </a:r>
          </a:p>
          <a:p>
            <a:pPr>
              <a:spcBef>
                <a:spcPts val="525"/>
              </a:spcBef>
              <a:defRPr sz="1350">
                <a:solidFill>
                  <a:srgbClr val="232D37"/>
                </a:solidFill>
                <a:latin typeface="Aptos"/>
              </a:defRPr>
            </a:pPr>
            <a:r>
              <a:rPr sz="1013"/>
              <a:t>Interprète la réalité à partir des connaissances et croyances</a:t>
            </a:r>
          </a:p>
          <a:p>
            <a:pPr>
              <a:spcBef>
                <a:spcPts val="525"/>
              </a:spcBef>
              <a:defRPr sz="1350">
                <a:solidFill>
                  <a:srgbClr val="232D37"/>
                </a:solidFill>
                <a:latin typeface="Aptos"/>
              </a:defRPr>
            </a:pPr>
            <a:r>
              <a:rPr sz="1013"/>
              <a:t>Contribue à déterminer ce que la personne perçoit comme possible ou pertinent</a:t>
            </a:r>
          </a:p>
        </p:txBody>
      </p:sp>
      <p:sp>
        <p:nvSpPr>
          <p:cNvPr id="5" name="Rounded Rectangle 4"/>
          <p:cNvSpPr/>
          <p:nvPr/>
        </p:nvSpPr>
        <p:spPr>
          <a:xfrm>
            <a:off x="5815584" y="1348740"/>
            <a:ext cx="2880360" cy="3120390"/>
          </a:xfrm>
          <a:prstGeom prst="roundRect">
            <a:avLst/>
          </a:prstGeom>
          <a:solidFill>
            <a:srgbClr val="FCF1F5"/>
          </a:solidFill>
          <a:ln w="25400">
            <a:solidFill>
              <a:srgbClr val="B54866"/>
            </a:solidFill>
          </a:ln>
        </p:spPr>
        <p:style>
          <a:lnRef idx="1">
            <a:schemeClr val="accent1"/>
          </a:lnRef>
          <a:fillRef idx="3">
            <a:schemeClr val="accent1"/>
          </a:fillRef>
          <a:effectRef idx="2">
            <a:schemeClr val="accent1"/>
          </a:effectRef>
          <a:fontRef idx="minor">
            <a:schemeClr val="lt1"/>
          </a:fontRef>
        </p:style>
        <p:txBody>
          <a:bodyPr lIns="171450" tIns="137160" rIns="171450" rtlCol="0" anchor="ctr"/>
          <a:lstStyle/>
          <a:p>
            <a:pPr algn="ctr"/>
            <a:r>
              <a:rPr sz="1575" b="1" dirty="0">
                <a:solidFill>
                  <a:srgbClr val="B54866"/>
                </a:solidFill>
                <a:latin typeface="Aptos Display"/>
              </a:rPr>
              <a:t>AFFECTIVITÉ</a:t>
            </a:r>
          </a:p>
          <a:p>
            <a:pPr algn="ctr">
              <a:spcBef>
                <a:spcPts val="600"/>
              </a:spcBef>
            </a:pPr>
            <a:r>
              <a:rPr sz="1125" b="1" dirty="0" err="1">
                <a:solidFill>
                  <a:srgbClr val="232D37"/>
                </a:solidFill>
                <a:latin typeface="Aptos"/>
              </a:rPr>
              <a:t>Énergie</a:t>
            </a:r>
            <a:r>
              <a:rPr sz="1125" b="1" dirty="0">
                <a:solidFill>
                  <a:srgbClr val="232D37"/>
                </a:solidFill>
                <a:latin typeface="Aptos"/>
              </a:rPr>
              <a:t> / </a:t>
            </a:r>
            <a:r>
              <a:rPr sz="1125" b="1" dirty="0" err="1">
                <a:solidFill>
                  <a:srgbClr val="232D37"/>
                </a:solidFill>
                <a:latin typeface="Aptos"/>
              </a:rPr>
              <a:t>val</a:t>
            </a:r>
            <a:r>
              <a:rPr lang="fr-CA" sz="1125" b="1" dirty="0" err="1">
                <a:solidFill>
                  <a:srgbClr val="232D37"/>
                </a:solidFill>
                <a:latin typeface="Aptos"/>
              </a:rPr>
              <a:t>ence</a:t>
            </a:r>
            <a:endParaRPr sz="1125" b="1" dirty="0">
              <a:solidFill>
                <a:srgbClr val="232D37"/>
              </a:solidFill>
              <a:latin typeface="Aptos"/>
            </a:endParaRPr>
          </a:p>
          <a:p>
            <a:pPr>
              <a:spcBef>
                <a:spcPts val="525"/>
              </a:spcBef>
              <a:defRPr sz="1350">
                <a:solidFill>
                  <a:srgbClr val="232D37"/>
                </a:solidFill>
                <a:latin typeface="Aptos"/>
              </a:defRPr>
            </a:pPr>
            <a:r>
              <a:rPr sz="1013" dirty="0" err="1"/>
              <a:t>Besoins</a:t>
            </a:r>
            <a:r>
              <a:rPr sz="1013" dirty="0"/>
              <a:t>, </a:t>
            </a:r>
            <a:r>
              <a:rPr lang="fr-CA" sz="1013" dirty="0"/>
              <a:t>tendance, </a:t>
            </a:r>
            <a:r>
              <a:rPr sz="1013" dirty="0" err="1"/>
              <a:t>intérêts</a:t>
            </a:r>
            <a:endParaRPr lang="fr-CA" sz="1013" dirty="0"/>
          </a:p>
          <a:p>
            <a:pPr>
              <a:spcBef>
                <a:spcPts val="525"/>
              </a:spcBef>
              <a:defRPr sz="1350">
                <a:solidFill>
                  <a:srgbClr val="232D37"/>
                </a:solidFill>
                <a:latin typeface="Aptos"/>
              </a:defRPr>
            </a:pPr>
            <a:r>
              <a:rPr sz="1013" dirty="0" err="1"/>
              <a:t>Déclenche</a:t>
            </a:r>
            <a:r>
              <a:rPr sz="1013" dirty="0"/>
              <a:t> et </a:t>
            </a:r>
            <a:r>
              <a:rPr sz="1013" dirty="0" err="1"/>
              <a:t>oriente</a:t>
            </a:r>
            <a:r>
              <a:rPr sz="1013" dirty="0"/>
              <a:t> </a:t>
            </a:r>
            <a:r>
              <a:rPr sz="1013" dirty="0" err="1"/>
              <a:t>l’investissement</a:t>
            </a:r>
            <a:r>
              <a:rPr sz="1013" dirty="0"/>
              <a:t> </a:t>
            </a:r>
            <a:r>
              <a:rPr sz="1013" dirty="0" err="1"/>
              <a:t>d’énergie</a:t>
            </a:r>
            <a:endParaRPr sz="1013" dirty="0"/>
          </a:p>
          <a:p>
            <a:pPr>
              <a:spcBef>
                <a:spcPts val="525"/>
              </a:spcBef>
              <a:defRPr sz="1350">
                <a:solidFill>
                  <a:srgbClr val="232D37"/>
                </a:solidFill>
                <a:latin typeface="Aptos"/>
              </a:defRPr>
            </a:pPr>
            <a:r>
              <a:rPr sz="1013" dirty="0" err="1"/>
              <a:t>Confère</a:t>
            </a:r>
            <a:r>
              <a:rPr sz="1013" dirty="0"/>
              <a:t> </a:t>
            </a:r>
            <a:r>
              <a:rPr sz="1013" dirty="0" err="1"/>
              <a:t>une</a:t>
            </a:r>
            <a:r>
              <a:rPr sz="1013" dirty="0"/>
              <a:t> </a:t>
            </a:r>
            <a:r>
              <a:rPr sz="1013" dirty="0" err="1"/>
              <a:t>valeur</a:t>
            </a:r>
            <a:r>
              <a:rPr sz="1013" dirty="0"/>
              <a:t> </a:t>
            </a:r>
            <a:r>
              <a:rPr sz="1013" dirty="0" err="1"/>
              <a:t>appétitive</a:t>
            </a:r>
            <a:r>
              <a:rPr sz="1013" dirty="0"/>
              <a:t> (+) </a:t>
            </a:r>
            <a:r>
              <a:rPr sz="1013" dirty="0" err="1"/>
              <a:t>ou</a:t>
            </a:r>
            <a:r>
              <a:rPr sz="1013" dirty="0"/>
              <a:t> aversive (–) aux </a:t>
            </a:r>
            <a:r>
              <a:rPr sz="1013" dirty="0" err="1"/>
              <a:t>éléments</a:t>
            </a:r>
            <a:r>
              <a:rPr sz="1013" dirty="0"/>
              <a:t> du milieu</a:t>
            </a:r>
          </a:p>
          <a:p>
            <a:pPr>
              <a:spcBef>
                <a:spcPts val="525"/>
              </a:spcBef>
              <a:defRPr sz="1350">
                <a:solidFill>
                  <a:srgbClr val="232D37"/>
                </a:solidFill>
                <a:latin typeface="Aptos"/>
              </a:defRPr>
            </a:pPr>
            <a:r>
              <a:rPr sz="1013" dirty="0"/>
              <a:t>Module </a:t>
            </a:r>
            <a:r>
              <a:rPr sz="1013" dirty="0" err="1"/>
              <a:t>l’attention</a:t>
            </a:r>
            <a:r>
              <a:rPr sz="1013" dirty="0"/>
              <a:t> et </a:t>
            </a:r>
            <a:r>
              <a:rPr sz="1013" dirty="0" err="1"/>
              <a:t>l’intensité</a:t>
            </a:r>
            <a:r>
              <a:rPr sz="1013" dirty="0"/>
              <a:t> de </a:t>
            </a:r>
            <a:r>
              <a:rPr sz="1013" dirty="0" err="1"/>
              <a:t>l’engagement</a:t>
            </a:r>
            <a:endParaRPr sz="1013" dirty="0"/>
          </a:p>
        </p:txBody>
      </p:sp>
      <p:sp>
        <p:nvSpPr>
          <p:cNvPr id="6" name="Oval 5"/>
          <p:cNvSpPr/>
          <p:nvPr/>
        </p:nvSpPr>
        <p:spPr>
          <a:xfrm>
            <a:off x="3463290" y="1897380"/>
            <a:ext cx="2215134" cy="1508760"/>
          </a:xfrm>
          <a:prstGeom prst="ellipse">
            <a:avLst/>
          </a:prstGeom>
          <a:solidFill>
            <a:srgbClr val="FFFFFF"/>
          </a:solidFill>
          <a:ln w="38100">
            <a:solidFill>
              <a:srgbClr val="D29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75" b="1">
                <a:solidFill>
                  <a:srgbClr val="173D63"/>
                </a:solidFill>
                <a:latin typeface="Aptos Display"/>
              </a:rPr>
              <a:t>CONDUITE
MOTIVÉE</a:t>
            </a:r>
          </a:p>
          <a:p>
            <a:pPr algn="ctr"/>
            <a:r>
              <a:rPr sz="938">
                <a:solidFill>
                  <a:srgbClr val="5A5F64"/>
                </a:solidFill>
                <a:latin typeface="Aptos"/>
              </a:rPr>
              <a:t>Ce que je comprends
×
ce qui a de la valeur pour moi</a:t>
            </a:r>
          </a:p>
        </p:txBody>
      </p:sp>
      <p:cxnSp>
        <p:nvCxnSpPr>
          <p:cNvPr id="7" name="Connector 6"/>
          <p:cNvCxnSpPr/>
          <p:nvPr/>
        </p:nvCxnSpPr>
        <p:spPr>
          <a:xfrm>
            <a:off x="3326130" y="2240280"/>
            <a:ext cx="137160" cy="0"/>
          </a:xfrm>
          <a:prstGeom prst="line">
            <a:avLst/>
          </a:prstGeom>
          <a:ln w="25400">
            <a:solidFill>
              <a:srgbClr val="2977A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78424" y="2240280"/>
            <a:ext cx="137161" cy="0"/>
          </a:xfrm>
          <a:prstGeom prst="line">
            <a:avLst/>
          </a:prstGeom>
          <a:ln w="25400">
            <a:solidFill>
              <a:srgbClr val="B548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326130" y="3028950"/>
            <a:ext cx="137160" cy="0"/>
          </a:xfrm>
          <a:prstGeom prst="line">
            <a:avLst/>
          </a:prstGeom>
          <a:ln w="25400">
            <a:solidFill>
              <a:srgbClr val="2977A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678424" y="3028950"/>
            <a:ext cx="137161" cy="0"/>
          </a:xfrm>
          <a:prstGeom prst="line">
            <a:avLst/>
          </a:prstGeom>
          <a:ln w="25400">
            <a:solidFill>
              <a:srgbClr val="B5486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7220" y="4640580"/>
            <a:ext cx="7920990" cy="466344"/>
          </a:xfrm>
          <a:prstGeom prst="roundRect">
            <a:avLst/>
          </a:prstGeom>
          <a:solidFill>
            <a:srgbClr val="173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13" b="1">
                <a:solidFill>
                  <a:srgbClr val="FFFFFF"/>
                </a:solidFill>
                <a:latin typeface="Aptos"/>
              </a:rPr>
              <a:t>Relation de correspondance, non de causalité : cognition et affectivité fonctionnent en parallèle et s’influencent dans toute conduite.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B43B4A73-32EA-5DBD-093E-8CF5225D8ADA}"/>
              </a:ext>
            </a:extLst>
          </p:cNvPr>
          <p:cNvSpPr>
            <a:spLocks noGrp="1"/>
          </p:cNvSpPr>
          <p:nvPr>
            <p:ph idx="1"/>
          </p:nvPr>
        </p:nvSpPr>
        <p:spPr>
          <a:xfrm>
            <a:off x="518160" y="2068776"/>
            <a:ext cx="8199120" cy="1781864"/>
          </a:xfrm>
        </p:spPr>
        <p:style>
          <a:lnRef idx="1">
            <a:schemeClr val="accent1"/>
          </a:lnRef>
          <a:fillRef idx="3">
            <a:schemeClr val="accent1"/>
          </a:fillRef>
          <a:effectRef idx="2">
            <a:schemeClr val="accent1"/>
          </a:effectRef>
          <a:fontRef idx="minor">
            <a:schemeClr val="lt1"/>
          </a:fontRef>
        </p:style>
        <p:txBody>
          <a:bodyPr/>
          <a:lstStyle/>
          <a:p>
            <a:pPr marL="0" indent="0" algn="ctr">
              <a:buNone/>
            </a:pPr>
            <a:r>
              <a:rPr lang="fr-CA" b="1" dirty="0">
                <a:solidFill>
                  <a:schemeClr val="bg1"/>
                </a:solidFill>
              </a:rPr>
              <a:t>Ce que cela nous permet de comprendre</a:t>
            </a:r>
          </a:p>
          <a:p>
            <a:pPr marL="0" indent="0" algn="ctr">
              <a:buNone/>
            </a:pPr>
            <a:endParaRPr lang="fr-CA" dirty="0"/>
          </a:p>
          <a:p>
            <a:pPr marL="0" indent="0" algn="ctr">
              <a:buNone/>
            </a:pPr>
            <a:r>
              <a:rPr lang="fr-CA" i="1" dirty="0"/>
              <a:t>L’intelligence nous indique où aller et l’affectivité nous donne une raison d’y aller. Mais encore faut-il avoir la santé et l’énergie nécessaires pour faire le trajet.</a:t>
            </a:r>
            <a:endParaRPr lang="fr-CA" i="1" dirty="0">
              <a:solidFill>
                <a:schemeClr val="bg1"/>
              </a:solidFill>
            </a:endParaRPr>
          </a:p>
        </p:txBody>
      </p:sp>
      <p:sp>
        <p:nvSpPr>
          <p:cNvPr id="4" name="Espace réservé du pied de page 3">
            <a:extLst>
              <a:ext uri="{FF2B5EF4-FFF2-40B4-BE49-F238E27FC236}">
                <a16:creationId xmlns:a16="http://schemas.microsoft.com/office/drawing/2014/main" id="{EAB4B30C-87AF-E290-2E67-048C23E5F1E8}"/>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338072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1" y="525781"/>
            <a:ext cx="4709815" cy="392415"/>
          </a:xfrm>
          <a:prstGeom prst="rect">
            <a:avLst/>
          </a:prstGeom>
          <a:noFill/>
        </p:spPr>
        <p:txBody>
          <a:bodyPr wrap="none">
            <a:spAutoFit/>
          </a:bodyPr>
          <a:lstStyle/>
          <a:p>
            <a:r>
              <a:rPr sz="1950" b="1">
                <a:solidFill>
                  <a:srgbClr val="124A79"/>
                </a:solidFill>
                <a:latin typeface="Aptos Display"/>
              </a:rPr>
              <a:t>Deux formes de régulation de la motivation</a:t>
            </a:r>
          </a:p>
        </p:txBody>
      </p:sp>
      <p:sp>
        <p:nvSpPr>
          <p:cNvPr id="3" name="Oval 2"/>
          <p:cNvSpPr/>
          <p:nvPr/>
        </p:nvSpPr>
        <p:spPr>
          <a:xfrm>
            <a:off x="617220" y="1417320"/>
            <a:ext cx="2194560" cy="2194560"/>
          </a:xfrm>
          <a:prstGeom prst="ellipse">
            <a:avLst/>
          </a:prstGeom>
          <a:solidFill>
            <a:srgbClr val="1468D2"/>
          </a:solidFill>
          <a:ln w="38100">
            <a:solidFill>
              <a:srgbClr val="0093C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CA" sz="1200" b="1" dirty="0"/>
              <a:t>La motivation</a:t>
            </a:r>
            <a:br>
              <a:rPr lang="fr-CA" sz="1200" dirty="0"/>
            </a:br>
            <a:r>
              <a:rPr lang="fr-CA" sz="1200" dirty="0"/>
              <a:t>Deux fonctions et une finalité: l’équilibre</a:t>
            </a:r>
            <a:endParaRPr sz="1200" dirty="0">
              <a:solidFill>
                <a:srgbClr val="FFFFFF"/>
              </a:solidFill>
              <a:latin typeface="Aptos"/>
            </a:endParaRPr>
          </a:p>
        </p:txBody>
      </p:sp>
      <p:sp>
        <p:nvSpPr>
          <p:cNvPr id="4" name="Rounded Rectangle 3"/>
          <p:cNvSpPr/>
          <p:nvPr/>
        </p:nvSpPr>
        <p:spPr>
          <a:xfrm>
            <a:off x="3429000" y="1143000"/>
            <a:ext cx="5109210" cy="1611630"/>
          </a:xfrm>
          <a:prstGeom prst="roundRect">
            <a:avLst/>
          </a:prstGeom>
          <a:solidFill>
            <a:srgbClr val="F1F8FC"/>
          </a:solidFill>
          <a:ln w="25400">
            <a:solidFill>
              <a:srgbClr val="0093CA"/>
            </a:solidFill>
          </a:ln>
        </p:spPr>
        <p:style>
          <a:lnRef idx="1">
            <a:schemeClr val="accent1"/>
          </a:lnRef>
          <a:fillRef idx="3">
            <a:schemeClr val="accent1"/>
          </a:fillRef>
          <a:effectRef idx="2">
            <a:schemeClr val="accent1"/>
          </a:effectRef>
          <a:fontRef idx="minor">
            <a:schemeClr val="lt1"/>
          </a:fontRef>
        </p:style>
        <p:txBody>
          <a:bodyPr lIns="123444" tIns="82296" rIns="102870" rtlCol="0" anchor="ctr"/>
          <a:lstStyle/>
          <a:p>
            <a:pPr algn="l"/>
            <a:r>
              <a:rPr sz="1425" b="1" dirty="0" err="1">
                <a:solidFill>
                  <a:srgbClr val="124A79"/>
                </a:solidFill>
                <a:latin typeface="Aptos Display"/>
              </a:rPr>
              <a:t>Régulation</a:t>
            </a:r>
            <a:r>
              <a:rPr sz="1425" b="1" dirty="0">
                <a:solidFill>
                  <a:srgbClr val="124A79"/>
                </a:solidFill>
                <a:latin typeface="Aptos Display"/>
              </a:rPr>
              <a:t> de </a:t>
            </a:r>
            <a:r>
              <a:rPr sz="1425" b="1" dirty="0" err="1">
                <a:solidFill>
                  <a:srgbClr val="124A79"/>
                </a:solidFill>
                <a:latin typeface="Aptos Display"/>
              </a:rPr>
              <a:t>l’énergie</a:t>
            </a:r>
            <a:endParaRPr sz="1425" b="1" dirty="0">
              <a:solidFill>
                <a:srgbClr val="124A79"/>
              </a:solidFill>
              <a:latin typeface="Aptos Display"/>
            </a:endParaRPr>
          </a:p>
          <a:p>
            <a:r>
              <a:rPr sz="975" i="1" dirty="0">
                <a:solidFill>
                  <a:srgbClr val="5F6469"/>
                </a:solidFill>
                <a:latin typeface="Aptos"/>
              </a:rPr>
              <a:t>Combien </a:t>
            </a:r>
            <a:r>
              <a:rPr sz="975" i="1" dirty="0" err="1">
                <a:solidFill>
                  <a:srgbClr val="5F6469"/>
                </a:solidFill>
                <a:latin typeface="Aptos"/>
              </a:rPr>
              <a:t>d’énergie</a:t>
            </a:r>
            <a:r>
              <a:rPr sz="975" i="1" dirty="0">
                <a:solidFill>
                  <a:srgbClr val="5F6469"/>
                </a:solidFill>
                <a:latin typeface="Aptos"/>
              </a:rPr>
              <a:t> </a:t>
            </a:r>
            <a:r>
              <a:rPr sz="975" i="1" dirty="0" err="1">
                <a:solidFill>
                  <a:srgbClr val="5F6469"/>
                </a:solidFill>
                <a:latin typeface="Aptos"/>
              </a:rPr>
              <a:t>l’organisme</a:t>
            </a:r>
            <a:r>
              <a:rPr sz="975" i="1" dirty="0">
                <a:solidFill>
                  <a:srgbClr val="5F6469"/>
                </a:solidFill>
                <a:latin typeface="Aptos"/>
              </a:rPr>
              <a:t> </a:t>
            </a:r>
            <a:r>
              <a:rPr sz="975" i="1" dirty="0" err="1">
                <a:solidFill>
                  <a:srgbClr val="5F6469"/>
                </a:solidFill>
                <a:latin typeface="Aptos"/>
              </a:rPr>
              <a:t>peut</a:t>
            </a:r>
            <a:r>
              <a:rPr sz="975" i="1" dirty="0">
                <a:solidFill>
                  <a:srgbClr val="5F6469"/>
                </a:solidFill>
                <a:latin typeface="Aptos"/>
              </a:rPr>
              <a:t>-il mobiliser et </a:t>
            </a:r>
            <a:r>
              <a:rPr sz="975" i="1" dirty="0" err="1">
                <a:solidFill>
                  <a:srgbClr val="5F6469"/>
                </a:solidFill>
                <a:latin typeface="Aptos"/>
              </a:rPr>
              <a:t>maintenir</a:t>
            </a:r>
            <a:r>
              <a:rPr sz="975" i="1" dirty="0">
                <a:solidFill>
                  <a:srgbClr val="5F6469"/>
                </a:solidFill>
                <a:latin typeface="Aptos"/>
              </a:rPr>
              <a:t>?</a:t>
            </a:r>
          </a:p>
          <a:p>
            <a:pPr>
              <a:defRPr sz="1400">
                <a:solidFill>
                  <a:srgbClr val="232D37"/>
                </a:solidFill>
                <a:latin typeface="Aptos"/>
              </a:defRPr>
            </a:pPr>
            <a:r>
              <a:rPr sz="1050" dirty="0" err="1"/>
              <a:t>Équilibration</a:t>
            </a:r>
            <a:r>
              <a:rPr sz="1050" dirty="0"/>
              <a:t> : </a:t>
            </a:r>
            <a:r>
              <a:rPr sz="1050" dirty="0" err="1"/>
              <a:t>homéostasie</a:t>
            </a:r>
            <a:r>
              <a:rPr sz="1050" dirty="0"/>
              <a:t> et </a:t>
            </a:r>
            <a:r>
              <a:rPr sz="1050" dirty="0" err="1"/>
              <a:t>allostasie</a:t>
            </a:r>
            <a:endParaRPr sz="1050" dirty="0"/>
          </a:p>
          <a:p>
            <a:pPr>
              <a:defRPr sz="1400">
                <a:solidFill>
                  <a:srgbClr val="232D37"/>
                </a:solidFill>
                <a:latin typeface="Aptos"/>
              </a:defRPr>
            </a:pPr>
            <a:r>
              <a:rPr sz="1050" dirty="0"/>
              <a:t>Activation et </a:t>
            </a:r>
            <a:r>
              <a:rPr sz="1050" dirty="0" err="1"/>
              <a:t>niveau</a:t>
            </a:r>
            <a:r>
              <a:rPr sz="1050" dirty="0"/>
              <a:t> </a:t>
            </a:r>
            <a:r>
              <a:rPr sz="1050" dirty="0" err="1"/>
              <a:t>d’énergie</a:t>
            </a:r>
            <a:endParaRPr sz="1050" dirty="0"/>
          </a:p>
          <a:p>
            <a:pPr>
              <a:defRPr sz="1400">
                <a:solidFill>
                  <a:srgbClr val="232D37"/>
                </a:solidFill>
                <a:latin typeface="Aptos"/>
              </a:defRPr>
            </a:pPr>
            <a:r>
              <a:rPr sz="1050" dirty="0"/>
              <a:t>Sources et </a:t>
            </a:r>
            <a:r>
              <a:rPr sz="1050" dirty="0" err="1"/>
              <a:t>disponibilité</a:t>
            </a:r>
            <a:r>
              <a:rPr sz="1050" dirty="0"/>
              <a:t> de </a:t>
            </a:r>
            <a:r>
              <a:rPr sz="1050" dirty="0" err="1"/>
              <a:t>l’énergie</a:t>
            </a:r>
            <a:endParaRPr sz="1050" dirty="0"/>
          </a:p>
        </p:txBody>
      </p:sp>
      <p:sp>
        <p:nvSpPr>
          <p:cNvPr id="5" name="Rounded Rectangle 4"/>
          <p:cNvSpPr/>
          <p:nvPr/>
        </p:nvSpPr>
        <p:spPr>
          <a:xfrm>
            <a:off x="3429000" y="3063240"/>
            <a:ext cx="5109210" cy="1611630"/>
          </a:xfrm>
          <a:prstGeom prst="roundRect">
            <a:avLst/>
          </a:prstGeom>
          <a:solidFill>
            <a:srgbClr val="F1F8FC"/>
          </a:solidFill>
          <a:ln w="25400">
            <a:solidFill>
              <a:srgbClr val="0093CA"/>
            </a:solidFill>
          </a:ln>
        </p:spPr>
        <p:style>
          <a:lnRef idx="1">
            <a:schemeClr val="accent1"/>
          </a:lnRef>
          <a:fillRef idx="3">
            <a:schemeClr val="accent1"/>
          </a:fillRef>
          <a:effectRef idx="2">
            <a:schemeClr val="accent1"/>
          </a:effectRef>
          <a:fontRef idx="minor">
            <a:schemeClr val="lt1"/>
          </a:fontRef>
        </p:style>
        <p:txBody>
          <a:bodyPr lIns="123444" tIns="82296" rIns="102870" rtlCol="0" anchor="ctr"/>
          <a:lstStyle/>
          <a:p>
            <a:pPr algn="l"/>
            <a:r>
              <a:rPr sz="1425" b="1">
                <a:solidFill>
                  <a:srgbClr val="124A79"/>
                </a:solidFill>
                <a:latin typeface="Aptos Display"/>
              </a:rPr>
              <a:t>Régulation des comportements motivés</a:t>
            </a:r>
          </a:p>
          <a:p>
            <a:r>
              <a:rPr sz="975" i="1">
                <a:solidFill>
                  <a:srgbClr val="5F6469"/>
                </a:solidFill>
                <a:latin typeface="Aptos"/>
              </a:rPr>
              <a:t>Vers quoi cette énergie est-elle orientée et pourquoi?</a:t>
            </a:r>
          </a:p>
          <a:p>
            <a:pPr>
              <a:defRPr sz="1400">
                <a:solidFill>
                  <a:srgbClr val="232D37"/>
                </a:solidFill>
                <a:latin typeface="Aptos"/>
              </a:defRPr>
            </a:pPr>
            <a:r>
              <a:rPr sz="1050"/>
              <a:t>Instincts, pulsions et besoins</a:t>
            </a:r>
          </a:p>
          <a:p>
            <a:pPr>
              <a:defRPr sz="1400">
                <a:solidFill>
                  <a:srgbClr val="232D37"/>
                </a:solidFill>
                <a:latin typeface="Aptos"/>
              </a:defRPr>
            </a:pPr>
            <a:r>
              <a:rPr sz="1050"/>
              <a:t>Intérêts, désirs et valeurs</a:t>
            </a:r>
          </a:p>
          <a:p>
            <a:pPr>
              <a:defRPr sz="1400">
                <a:solidFill>
                  <a:srgbClr val="232D37"/>
                </a:solidFill>
                <a:latin typeface="Aptos"/>
              </a:defRPr>
            </a:pPr>
            <a:r>
              <a:rPr sz="1050"/>
              <a:t>Sélection et orientation des conduites</a:t>
            </a:r>
          </a:p>
        </p:txBody>
      </p:sp>
      <p:cxnSp>
        <p:nvCxnSpPr>
          <p:cNvPr id="6" name="Connector 5"/>
          <p:cNvCxnSpPr/>
          <p:nvPr/>
        </p:nvCxnSpPr>
        <p:spPr>
          <a:xfrm flipV="1">
            <a:off x="2777490" y="1897380"/>
            <a:ext cx="651510" cy="617220"/>
          </a:xfrm>
          <a:prstGeom prst="line">
            <a:avLst/>
          </a:prstGeom>
          <a:ln w="27940">
            <a:solidFill>
              <a:srgbClr val="0093C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7490" y="2514600"/>
            <a:ext cx="651510" cy="1303020"/>
          </a:xfrm>
          <a:prstGeom prst="line">
            <a:avLst/>
          </a:prstGeom>
          <a:ln w="27940">
            <a:solidFill>
              <a:srgbClr val="0093C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A0481F3-B4C3-77C4-31E3-52CC8DDEA3FB}"/>
              </a:ext>
            </a:extLst>
          </p:cNvPr>
          <p:cNvSpPr>
            <a:spLocks noGrp="1"/>
          </p:cNvSpPr>
          <p:nvPr>
            <p:ph type="title"/>
          </p:nvPr>
        </p:nvSpPr>
        <p:spPr/>
        <p:txBody>
          <a:bodyPr/>
          <a:lstStyle/>
          <a:p>
            <a:r>
              <a:rPr lang="fr-CA" dirty="0"/>
              <a:t>La régulation de l’énergie</a:t>
            </a:r>
          </a:p>
        </p:txBody>
      </p:sp>
      <p:sp>
        <p:nvSpPr>
          <p:cNvPr id="10" name="Espace réservé du texte 9">
            <a:extLst>
              <a:ext uri="{FF2B5EF4-FFF2-40B4-BE49-F238E27FC236}">
                <a16:creationId xmlns:a16="http://schemas.microsoft.com/office/drawing/2014/main" id="{9595EA61-112E-7653-3441-4D4B6B40616D}"/>
              </a:ext>
            </a:extLst>
          </p:cNvPr>
          <p:cNvSpPr>
            <a:spLocks noGrp="1"/>
          </p:cNvSpPr>
          <p:nvPr>
            <p:ph type="body" idx="1"/>
          </p:nvPr>
        </p:nvSpPr>
        <p:spPr/>
        <p:txBody>
          <a:bodyPr/>
          <a:lstStyle/>
          <a:p>
            <a:endParaRPr lang="fr-CA"/>
          </a:p>
        </p:txBody>
      </p:sp>
      <p:sp>
        <p:nvSpPr>
          <p:cNvPr id="4" name="Espace réservé du pied de page 3">
            <a:extLst>
              <a:ext uri="{FF2B5EF4-FFF2-40B4-BE49-F238E27FC236}">
                <a16:creationId xmlns:a16="http://schemas.microsoft.com/office/drawing/2014/main" id="{16C4AF1C-A3AB-6D6D-2832-56B37B1EFEA9}"/>
              </a:ext>
            </a:extLst>
          </p:cNvPr>
          <p:cNvSpPr>
            <a:spLocks noGrp="1"/>
          </p:cNvSpPr>
          <p:nvPr>
            <p:ph type="ftr" sz="quarter" idx="4294967295"/>
          </p:nvPr>
        </p:nvSpPr>
        <p:spPr>
          <a:xfrm>
            <a:off x="0" y="5027613"/>
            <a:ext cx="2789238" cy="200025"/>
          </a:xfrm>
        </p:spPr>
        <p:txBody>
          <a:bodyPr/>
          <a:lstStyle/>
          <a:p>
            <a:r>
              <a:rPr lang="fr-CA">
                <a:solidFill>
                  <a:srgbClr val="003C71"/>
                </a:solidFill>
              </a:rPr>
              <a:t>@2025. Marie-Christine ALBERT. Tous droits réservés.</a:t>
            </a:r>
            <a:endParaRPr lang="fr-CA" dirty="0">
              <a:solidFill>
                <a:srgbClr val="003C71"/>
              </a:solidFill>
            </a:endParaRPr>
          </a:p>
        </p:txBody>
      </p:sp>
      <p:sp>
        <p:nvSpPr>
          <p:cNvPr id="2" name="Rounded Rectangle 3">
            <a:extLst>
              <a:ext uri="{FF2B5EF4-FFF2-40B4-BE49-F238E27FC236}">
                <a16:creationId xmlns:a16="http://schemas.microsoft.com/office/drawing/2014/main" id="{C4013A1E-15CD-D928-46C2-15D7687B146E}"/>
              </a:ext>
            </a:extLst>
          </p:cNvPr>
          <p:cNvSpPr/>
          <p:nvPr/>
        </p:nvSpPr>
        <p:spPr>
          <a:xfrm>
            <a:off x="3601995" y="3647997"/>
            <a:ext cx="5109210" cy="1611630"/>
          </a:xfrm>
          <a:prstGeom prst="roundRect">
            <a:avLst/>
          </a:prstGeom>
          <a:solidFill>
            <a:srgbClr val="F1F8FC"/>
          </a:solidFill>
          <a:ln w="25400">
            <a:solidFill>
              <a:srgbClr val="0093CA"/>
            </a:solidFill>
          </a:ln>
        </p:spPr>
        <p:style>
          <a:lnRef idx="1">
            <a:schemeClr val="accent1"/>
          </a:lnRef>
          <a:fillRef idx="3">
            <a:schemeClr val="accent1"/>
          </a:fillRef>
          <a:effectRef idx="2">
            <a:schemeClr val="accent1"/>
          </a:effectRef>
          <a:fontRef idx="minor">
            <a:schemeClr val="lt1"/>
          </a:fontRef>
        </p:style>
        <p:txBody>
          <a:bodyPr lIns="123444" tIns="82296" rIns="102870" rtlCol="0" anchor="ctr"/>
          <a:lstStyle/>
          <a:p>
            <a:pPr algn="l"/>
            <a:r>
              <a:rPr sz="1425" b="1" dirty="0" err="1">
                <a:solidFill>
                  <a:srgbClr val="124A79"/>
                </a:solidFill>
                <a:latin typeface="Aptos Display"/>
              </a:rPr>
              <a:t>Régulation</a:t>
            </a:r>
            <a:r>
              <a:rPr sz="1425" b="1" dirty="0">
                <a:solidFill>
                  <a:srgbClr val="124A79"/>
                </a:solidFill>
                <a:latin typeface="Aptos Display"/>
              </a:rPr>
              <a:t> de </a:t>
            </a:r>
            <a:r>
              <a:rPr sz="1425" b="1" dirty="0" err="1">
                <a:solidFill>
                  <a:srgbClr val="124A79"/>
                </a:solidFill>
                <a:latin typeface="Aptos Display"/>
              </a:rPr>
              <a:t>l’énergie</a:t>
            </a:r>
            <a:endParaRPr sz="1425" b="1" dirty="0">
              <a:solidFill>
                <a:srgbClr val="124A79"/>
              </a:solidFill>
              <a:latin typeface="Aptos Display"/>
            </a:endParaRPr>
          </a:p>
          <a:p>
            <a:r>
              <a:rPr sz="975" i="1" dirty="0">
                <a:solidFill>
                  <a:srgbClr val="5F6469"/>
                </a:solidFill>
                <a:latin typeface="Aptos"/>
              </a:rPr>
              <a:t>Combien </a:t>
            </a:r>
            <a:r>
              <a:rPr sz="975" i="1" dirty="0" err="1">
                <a:solidFill>
                  <a:srgbClr val="5F6469"/>
                </a:solidFill>
                <a:latin typeface="Aptos"/>
              </a:rPr>
              <a:t>d’énergie</a:t>
            </a:r>
            <a:r>
              <a:rPr sz="975" i="1" dirty="0">
                <a:solidFill>
                  <a:srgbClr val="5F6469"/>
                </a:solidFill>
                <a:latin typeface="Aptos"/>
              </a:rPr>
              <a:t> </a:t>
            </a:r>
            <a:r>
              <a:rPr sz="975" i="1" dirty="0" err="1">
                <a:solidFill>
                  <a:srgbClr val="5F6469"/>
                </a:solidFill>
                <a:latin typeface="Aptos"/>
              </a:rPr>
              <a:t>l’organisme</a:t>
            </a:r>
            <a:r>
              <a:rPr sz="975" i="1" dirty="0">
                <a:solidFill>
                  <a:srgbClr val="5F6469"/>
                </a:solidFill>
                <a:latin typeface="Aptos"/>
              </a:rPr>
              <a:t> </a:t>
            </a:r>
            <a:r>
              <a:rPr sz="975" i="1" dirty="0" err="1">
                <a:solidFill>
                  <a:srgbClr val="5F6469"/>
                </a:solidFill>
                <a:latin typeface="Aptos"/>
              </a:rPr>
              <a:t>peut</a:t>
            </a:r>
            <a:r>
              <a:rPr sz="975" i="1" dirty="0">
                <a:solidFill>
                  <a:srgbClr val="5F6469"/>
                </a:solidFill>
                <a:latin typeface="Aptos"/>
              </a:rPr>
              <a:t>-il mobiliser et </a:t>
            </a:r>
            <a:r>
              <a:rPr sz="975" i="1" dirty="0" err="1">
                <a:solidFill>
                  <a:srgbClr val="5F6469"/>
                </a:solidFill>
                <a:latin typeface="Aptos"/>
              </a:rPr>
              <a:t>maintenir</a:t>
            </a:r>
            <a:r>
              <a:rPr sz="975" i="1" dirty="0">
                <a:solidFill>
                  <a:srgbClr val="5F6469"/>
                </a:solidFill>
                <a:latin typeface="Aptos"/>
              </a:rPr>
              <a:t>?</a:t>
            </a:r>
          </a:p>
          <a:p>
            <a:pPr>
              <a:defRPr sz="1400">
                <a:solidFill>
                  <a:srgbClr val="232D37"/>
                </a:solidFill>
                <a:latin typeface="Aptos"/>
              </a:defRPr>
            </a:pPr>
            <a:r>
              <a:rPr sz="1050" dirty="0" err="1"/>
              <a:t>Équilibration</a:t>
            </a:r>
            <a:r>
              <a:rPr sz="1050" dirty="0"/>
              <a:t> : </a:t>
            </a:r>
            <a:r>
              <a:rPr sz="1050" dirty="0" err="1"/>
              <a:t>homéostasie</a:t>
            </a:r>
            <a:r>
              <a:rPr sz="1050" dirty="0"/>
              <a:t> et </a:t>
            </a:r>
            <a:r>
              <a:rPr sz="1050" dirty="0" err="1"/>
              <a:t>allostasie</a:t>
            </a:r>
            <a:endParaRPr sz="1050" dirty="0"/>
          </a:p>
          <a:p>
            <a:pPr>
              <a:defRPr sz="1400">
                <a:solidFill>
                  <a:srgbClr val="232D37"/>
                </a:solidFill>
                <a:latin typeface="Aptos"/>
              </a:defRPr>
            </a:pPr>
            <a:r>
              <a:rPr sz="1050" dirty="0"/>
              <a:t>Activation et </a:t>
            </a:r>
            <a:r>
              <a:rPr sz="1050" dirty="0" err="1"/>
              <a:t>niveau</a:t>
            </a:r>
            <a:r>
              <a:rPr sz="1050" dirty="0"/>
              <a:t> </a:t>
            </a:r>
            <a:r>
              <a:rPr sz="1050" dirty="0" err="1"/>
              <a:t>d’énergie</a:t>
            </a:r>
            <a:endParaRPr sz="1050" dirty="0"/>
          </a:p>
          <a:p>
            <a:pPr>
              <a:defRPr sz="1400">
                <a:solidFill>
                  <a:srgbClr val="232D37"/>
                </a:solidFill>
                <a:latin typeface="Aptos"/>
              </a:defRPr>
            </a:pPr>
            <a:r>
              <a:rPr sz="1050" dirty="0"/>
              <a:t>Sources et </a:t>
            </a:r>
            <a:r>
              <a:rPr sz="1050" dirty="0" err="1"/>
              <a:t>disponibilité</a:t>
            </a:r>
            <a:r>
              <a:rPr sz="1050" dirty="0"/>
              <a:t> de </a:t>
            </a:r>
            <a:r>
              <a:rPr sz="1050" dirty="0" err="1"/>
              <a:t>l’énergie</a:t>
            </a:r>
            <a:endParaRPr sz="1050" dirty="0"/>
          </a:p>
        </p:txBody>
      </p:sp>
    </p:spTree>
    <p:extLst>
      <p:ext uri="{BB962C8B-B14F-4D97-AF65-F5344CB8AC3E}">
        <p14:creationId xmlns:p14="http://schemas.microsoft.com/office/powerpoint/2010/main" val="3927870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714" y="201775"/>
            <a:ext cx="7852409" cy="369332"/>
          </a:xfrm>
          <a:prstGeom prst="rect">
            <a:avLst/>
          </a:prstGeom>
          <a:noFill/>
        </p:spPr>
        <p:txBody>
          <a:bodyPr wrap="square">
            <a:spAutoFit/>
          </a:bodyPr>
          <a:lstStyle/>
          <a:p>
            <a:r>
              <a:rPr b="1" dirty="0">
                <a:solidFill>
                  <a:srgbClr val="143D67"/>
                </a:solidFill>
                <a:latin typeface="Aptos Display"/>
              </a:rPr>
              <a:t>La recherche de </a:t>
            </a:r>
            <a:r>
              <a:rPr b="1" dirty="0" err="1">
                <a:solidFill>
                  <a:srgbClr val="143D67"/>
                </a:solidFill>
                <a:latin typeface="Aptos Display"/>
              </a:rPr>
              <a:t>l’équilibre</a:t>
            </a:r>
            <a:r>
              <a:rPr b="1" dirty="0">
                <a:solidFill>
                  <a:srgbClr val="143D67"/>
                </a:solidFill>
                <a:latin typeface="Aptos Display"/>
              </a:rPr>
              <a:t> : </a:t>
            </a:r>
            <a:r>
              <a:rPr b="1" dirty="0" err="1">
                <a:solidFill>
                  <a:srgbClr val="143D67"/>
                </a:solidFill>
                <a:latin typeface="Aptos Display"/>
              </a:rPr>
              <a:t>homéostasie</a:t>
            </a:r>
            <a:r>
              <a:rPr b="1" dirty="0">
                <a:solidFill>
                  <a:srgbClr val="143D67"/>
                </a:solidFill>
                <a:latin typeface="Aptos Display"/>
              </a:rPr>
              <a:t> et </a:t>
            </a:r>
            <a:r>
              <a:rPr b="1" dirty="0" err="1">
                <a:solidFill>
                  <a:srgbClr val="143D67"/>
                </a:solidFill>
                <a:latin typeface="Aptos Display"/>
              </a:rPr>
              <a:t>allostasie</a:t>
            </a:r>
            <a:endParaRPr b="1" dirty="0">
              <a:solidFill>
                <a:srgbClr val="143D67"/>
              </a:solidFill>
              <a:latin typeface="Aptos Display"/>
            </a:endParaRPr>
          </a:p>
        </p:txBody>
      </p:sp>
      <p:pic>
        <p:nvPicPr>
          <p:cNvPr id="3" name="Picture 2" descr="acdc65a0-2850-494f-8ed9-3d997c0df1d6.png"/>
          <p:cNvPicPr>
            <a:picLocks noChangeAspect="1"/>
          </p:cNvPicPr>
          <p:nvPr/>
        </p:nvPicPr>
        <p:blipFill>
          <a:blip r:embed="rId2"/>
          <a:stretch>
            <a:fillRect/>
          </a:stretch>
        </p:blipFill>
        <p:spPr>
          <a:xfrm>
            <a:off x="377191" y="848106"/>
            <a:ext cx="5623559" cy="2619756"/>
          </a:xfrm>
          <a:prstGeom prst="rect">
            <a:avLst/>
          </a:prstGeom>
        </p:spPr>
      </p:pic>
      <p:sp>
        <p:nvSpPr>
          <p:cNvPr id="4" name="Rounded Rectangle 3"/>
          <p:cNvSpPr/>
          <p:nvPr/>
        </p:nvSpPr>
        <p:spPr>
          <a:xfrm>
            <a:off x="534924" y="1005840"/>
            <a:ext cx="1543050" cy="425196"/>
          </a:xfrm>
          <a:prstGeom prst="roundRect">
            <a:avLst/>
          </a:prstGeom>
          <a:solidFill>
            <a:srgbClr val="EBF5FA"/>
          </a:solidFill>
          <a:ln w="22860">
            <a:solidFill>
              <a:srgbClr val="306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75" b="1">
                <a:solidFill>
                  <a:srgbClr val="143D67"/>
                </a:solidFill>
                <a:latin typeface="Aptos"/>
              </a:rPr>
              <a:t>HOMÉOSTASIE = CORRIGER</a:t>
            </a:r>
          </a:p>
        </p:txBody>
      </p:sp>
      <p:sp>
        <p:nvSpPr>
          <p:cNvPr id="5" name="Rounded Rectangle 4"/>
          <p:cNvSpPr/>
          <p:nvPr/>
        </p:nvSpPr>
        <p:spPr>
          <a:xfrm>
            <a:off x="6137909" y="937260"/>
            <a:ext cx="2571750" cy="994410"/>
          </a:xfrm>
          <a:prstGeom prst="roundRect">
            <a:avLst/>
          </a:prstGeom>
          <a:solidFill>
            <a:srgbClr val="FFF7E2"/>
          </a:solidFill>
          <a:ln w="25400">
            <a:solidFill>
              <a:srgbClr val="DA9A18"/>
            </a:solidFill>
          </a:ln>
        </p:spPr>
        <p:style>
          <a:lnRef idx="1">
            <a:schemeClr val="accent1"/>
          </a:lnRef>
          <a:fillRef idx="3">
            <a:schemeClr val="accent1"/>
          </a:fillRef>
          <a:effectRef idx="2">
            <a:schemeClr val="accent1"/>
          </a:effectRef>
          <a:fontRef idx="minor">
            <a:schemeClr val="lt1"/>
          </a:fontRef>
        </p:style>
        <p:txBody>
          <a:bodyPr lIns="109728" tIns="68580" rIns="109728" rtlCol="0" anchor="ctr"/>
          <a:lstStyle/>
          <a:p>
            <a:pPr algn="ctr"/>
            <a:r>
              <a:rPr sz="1275" b="1">
                <a:solidFill>
                  <a:srgbClr val="DA9A18"/>
                </a:solidFill>
                <a:latin typeface="Aptos Display"/>
              </a:rPr>
              <a:t>ALLOSTASIE = ANTICIPER</a:t>
            </a:r>
          </a:p>
          <a:p>
            <a:pPr algn="ctr"/>
            <a:r>
              <a:rPr sz="863">
                <a:solidFill>
                  <a:srgbClr val="232B32"/>
                </a:solidFill>
                <a:latin typeface="Aptos"/>
              </a:rPr>
              <a:t>Le contexte et l’expérience permettent d’ajuster la régulation et de mobiliser les ressources avant la demande.</a:t>
            </a:r>
          </a:p>
        </p:txBody>
      </p:sp>
      <p:cxnSp>
        <p:nvCxnSpPr>
          <p:cNvPr id="6" name="Connector 5"/>
          <p:cNvCxnSpPr/>
          <p:nvPr/>
        </p:nvCxnSpPr>
        <p:spPr>
          <a:xfrm flipH="1">
            <a:off x="2777490" y="1760220"/>
            <a:ext cx="3429000" cy="0"/>
          </a:xfrm>
          <a:prstGeom prst="line">
            <a:avLst/>
          </a:prstGeom>
          <a:ln w="27940">
            <a:solidFill>
              <a:srgbClr val="DA9A18"/>
            </a:solidFill>
            <a:prstDash val="dash"/>
          </a:ln>
        </p:spPr>
        <p:style>
          <a:lnRef idx="2">
            <a:schemeClr val="accent1"/>
          </a:lnRef>
          <a:fillRef idx="0">
            <a:schemeClr val="accent1"/>
          </a:fillRef>
          <a:effectRef idx="1">
            <a:schemeClr val="accent1"/>
          </a:effectRef>
          <a:fontRef idx="minor">
            <a:schemeClr val="tx1"/>
          </a:fontRef>
        </p:style>
      </p:cxnSp>
      <p:sp>
        <p:nvSpPr>
          <p:cNvPr id="7" name="Isosceles Triangle 6"/>
          <p:cNvSpPr/>
          <p:nvPr/>
        </p:nvSpPr>
        <p:spPr>
          <a:xfrm rot="16200000">
            <a:off x="2674620" y="1671066"/>
            <a:ext cx="171450" cy="171450"/>
          </a:xfrm>
          <a:prstGeom prst="triangle">
            <a:avLst/>
          </a:prstGeom>
          <a:solidFill>
            <a:srgbClr val="DA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ounded Rectangle 7"/>
          <p:cNvSpPr/>
          <p:nvPr/>
        </p:nvSpPr>
        <p:spPr>
          <a:xfrm>
            <a:off x="445770" y="3680460"/>
            <a:ext cx="3943350" cy="1014984"/>
          </a:xfrm>
          <a:prstGeom prst="roundRect">
            <a:avLst/>
          </a:prstGeom>
          <a:solidFill>
            <a:srgbClr val="EBF5FA"/>
          </a:solidFill>
          <a:ln w="25400">
            <a:solidFill>
              <a:srgbClr val="3069B8"/>
            </a:solidFill>
          </a:ln>
        </p:spPr>
        <p:style>
          <a:lnRef idx="1">
            <a:schemeClr val="accent1"/>
          </a:lnRef>
          <a:fillRef idx="3">
            <a:schemeClr val="accent1"/>
          </a:fillRef>
          <a:effectRef idx="2">
            <a:schemeClr val="accent1"/>
          </a:effectRef>
          <a:fontRef idx="minor">
            <a:schemeClr val="lt1"/>
          </a:fontRef>
        </p:style>
        <p:txBody>
          <a:bodyPr lIns="123444" tIns="68580" rIns="123444" rtlCol="0" anchor="ctr"/>
          <a:lstStyle/>
          <a:p>
            <a:pPr algn="ctr"/>
            <a:r>
              <a:rPr sz="1275" b="1">
                <a:solidFill>
                  <a:srgbClr val="3069B8"/>
                </a:solidFill>
                <a:latin typeface="Aptos Display"/>
              </a:rPr>
              <a:t>HOMÉOSTASIE</a:t>
            </a:r>
          </a:p>
          <a:p>
            <a:r>
              <a:rPr sz="900" b="1">
                <a:solidFill>
                  <a:srgbClr val="232B32"/>
                </a:solidFill>
                <a:latin typeface="Aptos"/>
              </a:rPr>
              <a:t>Réactive — l’écart est déjà présent.</a:t>
            </a:r>
          </a:p>
          <a:p>
            <a:r>
              <a:rPr sz="863">
                <a:solidFill>
                  <a:srgbClr val="232B32"/>
                </a:solidFill>
                <a:latin typeface="Aptos"/>
              </a:rPr>
              <a:t>La perception détecte un écart par rapport à une valeur de référence; les effecteurs réagissent pour le réduire et ramener la variable vers l’équilibre.</a:t>
            </a:r>
          </a:p>
        </p:txBody>
      </p:sp>
      <p:sp>
        <p:nvSpPr>
          <p:cNvPr id="9" name="Rounded Rectangle 8"/>
          <p:cNvSpPr/>
          <p:nvPr/>
        </p:nvSpPr>
        <p:spPr>
          <a:xfrm>
            <a:off x="4752594" y="3680460"/>
            <a:ext cx="3943350" cy="1014984"/>
          </a:xfrm>
          <a:prstGeom prst="roundRect">
            <a:avLst/>
          </a:prstGeom>
          <a:solidFill>
            <a:srgbClr val="FFF7E2"/>
          </a:solidFill>
          <a:ln w="25400">
            <a:solidFill>
              <a:srgbClr val="DA9A18"/>
            </a:solidFill>
          </a:ln>
        </p:spPr>
        <p:style>
          <a:lnRef idx="1">
            <a:schemeClr val="accent1"/>
          </a:lnRef>
          <a:fillRef idx="3">
            <a:schemeClr val="accent1"/>
          </a:fillRef>
          <a:effectRef idx="2">
            <a:schemeClr val="accent1"/>
          </a:effectRef>
          <a:fontRef idx="minor">
            <a:schemeClr val="lt1"/>
          </a:fontRef>
        </p:style>
        <p:txBody>
          <a:bodyPr lIns="123444" tIns="68580" rIns="123444" rtlCol="0" anchor="ctr"/>
          <a:lstStyle/>
          <a:p>
            <a:pPr algn="ctr"/>
            <a:r>
              <a:rPr sz="1275" b="1">
                <a:solidFill>
                  <a:srgbClr val="DA9A18"/>
                </a:solidFill>
                <a:latin typeface="Aptos Display"/>
              </a:rPr>
              <a:t>ALLOSTASIE</a:t>
            </a:r>
          </a:p>
          <a:p>
            <a:r>
              <a:rPr sz="900" b="1">
                <a:solidFill>
                  <a:srgbClr val="232B32"/>
                </a:solidFill>
                <a:latin typeface="Aptos"/>
              </a:rPr>
              <a:t>Prédictive et adaptative — la demande est anticipée.</a:t>
            </a:r>
          </a:p>
          <a:p>
            <a:r>
              <a:rPr sz="863">
                <a:solidFill>
                  <a:srgbClr val="232B32"/>
                </a:solidFill>
                <a:latin typeface="Aptos"/>
              </a:rPr>
              <a:t>L’organisme tient compte du contexte et de l’expérience pour ajuster sa régulation et préparer les ressources nécessaires avant ou pendant la demande.</a:t>
            </a:r>
          </a:p>
        </p:txBody>
      </p:sp>
      <p:sp>
        <p:nvSpPr>
          <p:cNvPr id="10" name="Rounded Rectangle 9"/>
          <p:cNvSpPr/>
          <p:nvPr/>
        </p:nvSpPr>
        <p:spPr>
          <a:xfrm>
            <a:off x="617220" y="4846320"/>
            <a:ext cx="7920990" cy="356616"/>
          </a:xfrm>
          <a:prstGeom prst="roundRect">
            <a:avLst/>
          </a:prstGeom>
          <a:solidFill>
            <a:srgbClr val="143D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13" b="1">
                <a:solidFill>
                  <a:srgbClr val="FFFFFF"/>
                </a:solidFill>
                <a:latin typeface="Aptos"/>
              </a:rPr>
              <a:t>Même finalité : préserver l’équilibre. Deux stratégies complémentaires : corriger l’écart ou anticiper les demandes.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491490"/>
            <a:ext cx="4958602" cy="380873"/>
          </a:xfrm>
          <a:prstGeom prst="rect">
            <a:avLst/>
          </a:prstGeom>
          <a:noFill/>
        </p:spPr>
        <p:txBody>
          <a:bodyPr wrap="none">
            <a:spAutoFit/>
          </a:bodyPr>
          <a:lstStyle/>
          <a:p>
            <a:r>
              <a:rPr sz="1875" b="1" dirty="0">
                <a:solidFill>
                  <a:srgbClr val="174169"/>
                </a:solidFill>
                <a:latin typeface="Aptos Display"/>
              </a:rPr>
              <a:t>De la </a:t>
            </a:r>
            <a:r>
              <a:rPr sz="1875" b="1" dirty="0" err="1">
                <a:solidFill>
                  <a:srgbClr val="174169"/>
                </a:solidFill>
                <a:latin typeface="Aptos Display"/>
              </a:rPr>
              <a:t>régulation</a:t>
            </a:r>
            <a:r>
              <a:rPr sz="1875" b="1" dirty="0">
                <a:solidFill>
                  <a:srgbClr val="174169"/>
                </a:solidFill>
                <a:latin typeface="Aptos Display"/>
              </a:rPr>
              <a:t> de </a:t>
            </a:r>
            <a:r>
              <a:rPr sz="1875" b="1" dirty="0" err="1">
                <a:solidFill>
                  <a:srgbClr val="174169"/>
                </a:solidFill>
                <a:latin typeface="Aptos Display"/>
              </a:rPr>
              <a:t>l’énergie</a:t>
            </a:r>
            <a:r>
              <a:rPr sz="1875" b="1" dirty="0">
                <a:solidFill>
                  <a:srgbClr val="174169"/>
                </a:solidFill>
                <a:latin typeface="Aptos Display"/>
              </a:rPr>
              <a:t> à </a:t>
            </a:r>
            <a:r>
              <a:rPr sz="1875" b="1" dirty="0" err="1">
                <a:solidFill>
                  <a:srgbClr val="174169"/>
                </a:solidFill>
                <a:latin typeface="Aptos Display"/>
              </a:rPr>
              <a:t>l’état</a:t>
            </a:r>
            <a:r>
              <a:rPr sz="1875" b="1" dirty="0">
                <a:solidFill>
                  <a:srgbClr val="174169"/>
                </a:solidFill>
                <a:latin typeface="Aptos Display"/>
              </a:rPr>
              <a:t> </a:t>
            </a:r>
            <a:r>
              <a:rPr sz="1875" b="1" dirty="0" err="1">
                <a:solidFill>
                  <a:srgbClr val="174169"/>
                </a:solidFill>
                <a:latin typeface="Aptos Display"/>
              </a:rPr>
              <a:t>d’activation</a:t>
            </a:r>
            <a:endParaRPr sz="1875" b="1" dirty="0">
              <a:solidFill>
                <a:srgbClr val="174169"/>
              </a:solidFill>
              <a:latin typeface="Aptos Display"/>
            </a:endParaRPr>
          </a:p>
        </p:txBody>
      </p:sp>
      <p:sp>
        <p:nvSpPr>
          <p:cNvPr id="3" name="TextBox 2"/>
          <p:cNvSpPr txBox="1"/>
          <p:nvPr/>
        </p:nvSpPr>
        <p:spPr>
          <a:xfrm>
            <a:off x="1271703" y="931528"/>
            <a:ext cx="6479659" cy="259751"/>
          </a:xfrm>
          <a:prstGeom prst="rect">
            <a:avLst/>
          </a:prstGeom>
          <a:noFill/>
        </p:spPr>
        <p:txBody>
          <a:bodyPr wrap="none">
            <a:spAutoFit/>
          </a:bodyPr>
          <a:lstStyle/>
          <a:p>
            <a:pPr algn="ctr"/>
            <a:r>
              <a:rPr sz="1088" i="1" dirty="0" err="1">
                <a:solidFill>
                  <a:srgbClr val="5A6066"/>
                </a:solidFill>
                <a:latin typeface="Aptos"/>
              </a:rPr>
              <a:t>Homéostasie</a:t>
            </a:r>
            <a:r>
              <a:rPr sz="1088" i="1" dirty="0">
                <a:solidFill>
                  <a:srgbClr val="5A6066"/>
                </a:solidFill>
                <a:latin typeface="Aptos"/>
              </a:rPr>
              <a:t> et </a:t>
            </a:r>
            <a:r>
              <a:rPr sz="1088" i="1" dirty="0" err="1">
                <a:solidFill>
                  <a:srgbClr val="5A6066"/>
                </a:solidFill>
                <a:latin typeface="Aptos"/>
              </a:rPr>
              <a:t>allostasie</a:t>
            </a:r>
            <a:r>
              <a:rPr sz="1088" i="1" dirty="0">
                <a:solidFill>
                  <a:srgbClr val="5A6066"/>
                </a:solidFill>
                <a:latin typeface="Aptos"/>
              </a:rPr>
              <a:t> </a:t>
            </a:r>
            <a:r>
              <a:rPr sz="1088" i="1" dirty="0" err="1">
                <a:solidFill>
                  <a:srgbClr val="5A6066"/>
                </a:solidFill>
                <a:latin typeface="Aptos"/>
              </a:rPr>
              <a:t>régulent</a:t>
            </a:r>
            <a:r>
              <a:rPr sz="1088" i="1" dirty="0">
                <a:solidFill>
                  <a:srgbClr val="5A6066"/>
                </a:solidFill>
                <a:latin typeface="Aptos"/>
              </a:rPr>
              <a:t> les </a:t>
            </a:r>
            <a:r>
              <a:rPr sz="1088" i="1" dirty="0" err="1">
                <a:solidFill>
                  <a:srgbClr val="5A6066"/>
                </a:solidFill>
                <a:latin typeface="Aptos"/>
              </a:rPr>
              <a:t>ressources</a:t>
            </a:r>
            <a:r>
              <a:rPr sz="1088" i="1" dirty="0">
                <a:solidFill>
                  <a:srgbClr val="5A6066"/>
                </a:solidFill>
                <a:latin typeface="Aptos"/>
              </a:rPr>
              <a:t>; les </a:t>
            </a:r>
            <a:r>
              <a:rPr sz="1088" i="1" dirty="0" err="1">
                <a:solidFill>
                  <a:srgbClr val="5A6066"/>
                </a:solidFill>
                <a:latin typeface="Aptos"/>
              </a:rPr>
              <a:t>modèles</a:t>
            </a:r>
            <a:r>
              <a:rPr sz="1088" i="1" dirty="0">
                <a:solidFill>
                  <a:srgbClr val="5A6066"/>
                </a:solidFill>
                <a:latin typeface="Aptos"/>
              </a:rPr>
              <a:t> </a:t>
            </a:r>
            <a:r>
              <a:rPr sz="1088" i="1" dirty="0" err="1">
                <a:solidFill>
                  <a:srgbClr val="5A6066"/>
                </a:solidFill>
                <a:latin typeface="Aptos"/>
              </a:rPr>
              <a:t>d’activation</a:t>
            </a:r>
            <a:r>
              <a:rPr sz="1088" i="1" dirty="0">
                <a:solidFill>
                  <a:srgbClr val="5A6066"/>
                </a:solidFill>
                <a:latin typeface="Aptos"/>
              </a:rPr>
              <a:t> </a:t>
            </a:r>
            <a:r>
              <a:rPr sz="1088" i="1" dirty="0" err="1">
                <a:solidFill>
                  <a:srgbClr val="5A6066"/>
                </a:solidFill>
                <a:latin typeface="Aptos"/>
              </a:rPr>
              <a:t>décrivent</a:t>
            </a:r>
            <a:r>
              <a:rPr sz="1088" i="1" dirty="0">
                <a:solidFill>
                  <a:srgbClr val="5A6066"/>
                </a:solidFill>
                <a:latin typeface="Aptos"/>
              </a:rPr>
              <a:t> </a:t>
            </a:r>
            <a:r>
              <a:rPr sz="1088" i="1" dirty="0" err="1">
                <a:solidFill>
                  <a:srgbClr val="5A6066"/>
                </a:solidFill>
                <a:latin typeface="Aptos"/>
              </a:rPr>
              <a:t>l’état</a:t>
            </a:r>
            <a:r>
              <a:rPr sz="1088" i="1" dirty="0">
                <a:solidFill>
                  <a:srgbClr val="5A6066"/>
                </a:solidFill>
                <a:latin typeface="Aptos"/>
              </a:rPr>
              <a:t> qui </a:t>
            </a:r>
            <a:r>
              <a:rPr sz="1088" i="1" dirty="0" err="1">
                <a:solidFill>
                  <a:srgbClr val="5A6066"/>
                </a:solidFill>
                <a:latin typeface="Aptos"/>
              </a:rPr>
              <a:t>en</a:t>
            </a:r>
            <a:r>
              <a:rPr sz="1088" i="1" dirty="0">
                <a:solidFill>
                  <a:srgbClr val="5A6066"/>
                </a:solidFill>
                <a:latin typeface="Aptos"/>
              </a:rPr>
              <a:t> </a:t>
            </a:r>
            <a:r>
              <a:rPr sz="1088" i="1" dirty="0" err="1">
                <a:solidFill>
                  <a:srgbClr val="5A6066"/>
                </a:solidFill>
                <a:latin typeface="Aptos"/>
              </a:rPr>
              <a:t>résulte</a:t>
            </a:r>
            <a:endParaRPr sz="1088" i="1" dirty="0">
              <a:solidFill>
                <a:srgbClr val="5A6066"/>
              </a:solidFill>
              <a:latin typeface="Aptos"/>
            </a:endParaRPr>
          </a:p>
        </p:txBody>
      </p:sp>
      <p:sp>
        <p:nvSpPr>
          <p:cNvPr id="4" name="Rounded Rectangle 3"/>
          <p:cNvSpPr/>
          <p:nvPr/>
        </p:nvSpPr>
        <p:spPr>
          <a:xfrm>
            <a:off x="1062990" y="1297305"/>
            <a:ext cx="1543050" cy="788670"/>
          </a:xfrm>
          <a:prstGeom prst="roundRect">
            <a:avLst/>
          </a:prstGeom>
          <a:solidFill>
            <a:srgbClr val="FDF8ED"/>
          </a:solidFill>
          <a:ln w="25400">
            <a:solidFill>
              <a:srgbClr val="CC91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222C36"/>
                </a:solidFill>
                <a:latin typeface="Aptos"/>
              </a:rPr>
              <a:t>Demandes
réelles ou anticipées</a:t>
            </a:r>
          </a:p>
        </p:txBody>
      </p:sp>
      <p:sp>
        <p:nvSpPr>
          <p:cNvPr id="5" name="Rounded Rectangle 4"/>
          <p:cNvSpPr/>
          <p:nvPr/>
        </p:nvSpPr>
        <p:spPr>
          <a:xfrm>
            <a:off x="2948940" y="1297305"/>
            <a:ext cx="1543050" cy="788670"/>
          </a:xfrm>
          <a:prstGeom prst="roundRect">
            <a:avLst/>
          </a:prstGeom>
          <a:solidFill>
            <a:srgbClr val="EFF7FC"/>
          </a:solidFill>
          <a:ln w="25400">
            <a:solidFill>
              <a:srgbClr val="248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222C36"/>
                </a:solidFill>
                <a:latin typeface="Aptos"/>
              </a:rPr>
              <a:t>Homéostasie
+
Allostasie</a:t>
            </a:r>
          </a:p>
        </p:txBody>
      </p:sp>
      <p:sp>
        <p:nvSpPr>
          <p:cNvPr id="6" name="Rounded Rectangle 5"/>
          <p:cNvSpPr/>
          <p:nvPr/>
        </p:nvSpPr>
        <p:spPr>
          <a:xfrm>
            <a:off x="4834890" y="1297305"/>
            <a:ext cx="1543050" cy="788670"/>
          </a:xfrm>
          <a:prstGeom prst="roundRect">
            <a:avLst/>
          </a:prstGeom>
          <a:solidFill>
            <a:srgbClr val="F1F7F0"/>
          </a:solidFill>
          <a:ln w="25400">
            <a:solidFill>
              <a:srgbClr val="4C7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222C36"/>
                </a:solidFill>
                <a:latin typeface="Aptos"/>
              </a:rPr>
              <a:t>Mobilisation /
régulation des
ressources</a:t>
            </a:r>
          </a:p>
        </p:txBody>
      </p:sp>
      <p:sp>
        <p:nvSpPr>
          <p:cNvPr id="7" name="Rounded Rectangle 6"/>
          <p:cNvSpPr/>
          <p:nvPr/>
        </p:nvSpPr>
        <p:spPr>
          <a:xfrm>
            <a:off x="6720840" y="1297305"/>
            <a:ext cx="1543050" cy="788670"/>
          </a:xfrm>
          <a:prstGeom prst="roundRect">
            <a:avLst/>
          </a:prstGeom>
          <a:solidFill>
            <a:srgbClr val="FFFFFF"/>
          </a:solidFill>
          <a:ln w="25400">
            <a:solidFill>
              <a:srgbClr val="17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222C36"/>
                </a:solidFill>
                <a:latin typeface="Aptos"/>
              </a:rPr>
              <a:t>Niveau d’activation
et de tension</a:t>
            </a:r>
          </a:p>
        </p:txBody>
      </p:sp>
      <p:cxnSp>
        <p:nvCxnSpPr>
          <p:cNvPr id="8" name="Connector 7"/>
          <p:cNvCxnSpPr/>
          <p:nvPr/>
        </p:nvCxnSpPr>
        <p:spPr>
          <a:xfrm>
            <a:off x="2606040" y="1695069"/>
            <a:ext cx="342900" cy="0"/>
          </a:xfrm>
          <a:prstGeom prst="line">
            <a:avLst/>
          </a:prstGeom>
          <a:ln w="27940">
            <a:solidFill>
              <a:srgbClr val="17416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91990" y="1695069"/>
            <a:ext cx="342900" cy="0"/>
          </a:xfrm>
          <a:prstGeom prst="line">
            <a:avLst/>
          </a:prstGeom>
          <a:ln w="27940">
            <a:solidFill>
              <a:srgbClr val="17416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377940" y="1695069"/>
            <a:ext cx="342900" cy="0"/>
          </a:xfrm>
          <a:prstGeom prst="line">
            <a:avLst/>
          </a:prstGeom>
          <a:ln w="27940">
            <a:solidFill>
              <a:srgbClr val="17416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834890" y="2343150"/>
            <a:ext cx="3840480" cy="1954530"/>
          </a:xfrm>
          <a:prstGeom prst="roundRect">
            <a:avLst/>
          </a:prstGeom>
          <a:solidFill>
            <a:srgbClr val="FFFFFF"/>
          </a:solidFill>
          <a:ln>
            <a:solidFill>
              <a:srgbClr val="D7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174169"/>
                </a:solidFill>
                <a:latin typeface="Aptos Display"/>
              </a:rPr>
              <a:t>THAYER : ÉNERGIE × TENSION</a:t>
            </a:r>
          </a:p>
        </p:txBody>
      </p:sp>
      <p:sp>
        <p:nvSpPr>
          <p:cNvPr id="16" name="Rectangle 15"/>
          <p:cNvSpPr/>
          <p:nvPr/>
        </p:nvSpPr>
        <p:spPr>
          <a:xfrm>
            <a:off x="5246370" y="2857500"/>
            <a:ext cx="1371600" cy="617220"/>
          </a:xfrm>
          <a:prstGeom prst="rect">
            <a:avLst/>
          </a:prstGeom>
          <a:solidFill>
            <a:srgbClr val="B83F3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63" b="1">
                <a:solidFill>
                  <a:srgbClr val="FFFFFF"/>
                </a:solidFill>
                <a:latin typeface="Aptos"/>
              </a:rPr>
              <a:t>ÉPUISEMENT</a:t>
            </a:r>
          </a:p>
          <a:p>
            <a:pPr algn="ctr"/>
            <a:r>
              <a:rPr sz="638">
                <a:solidFill>
                  <a:srgbClr val="FFFFFF"/>
                </a:solidFill>
                <a:latin typeface="Aptos"/>
              </a:rPr>
              <a:t>Énergie faible
Tension élevée</a:t>
            </a:r>
          </a:p>
        </p:txBody>
      </p:sp>
      <p:sp>
        <p:nvSpPr>
          <p:cNvPr id="17" name="Rectangle 16"/>
          <p:cNvSpPr/>
          <p:nvPr/>
        </p:nvSpPr>
        <p:spPr>
          <a:xfrm>
            <a:off x="6823710" y="2857500"/>
            <a:ext cx="1371600" cy="617220"/>
          </a:xfrm>
          <a:prstGeom prst="rect">
            <a:avLst/>
          </a:prstGeom>
          <a:solidFill>
            <a:srgbClr val="DC742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63" b="1">
                <a:solidFill>
                  <a:srgbClr val="FFFFFF"/>
                </a:solidFill>
                <a:latin typeface="Aptos"/>
              </a:rPr>
              <a:t>TENSION
NERVEUSE</a:t>
            </a:r>
          </a:p>
          <a:p>
            <a:pPr algn="ctr"/>
            <a:r>
              <a:rPr sz="638">
                <a:solidFill>
                  <a:srgbClr val="FFFFFF"/>
                </a:solidFill>
                <a:latin typeface="Aptos"/>
              </a:rPr>
              <a:t>Énergie élevée
Tension élevée</a:t>
            </a:r>
          </a:p>
        </p:txBody>
      </p:sp>
      <p:sp>
        <p:nvSpPr>
          <p:cNvPr id="18" name="Rectangle 17"/>
          <p:cNvSpPr/>
          <p:nvPr/>
        </p:nvSpPr>
        <p:spPr>
          <a:xfrm>
            <a:off x="5246370" y="3543300"/>
            <a:ext cx="1371600" cy="617220"/>
          </a:xfrm>
          <a:prstGeom prst="rect">
            <a:avLst/>
          </a:prstGeom>
          <a:solidFill>
            <a:srgbClr val="5A606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63" b="1">
                <a:solidFill>
                  <a:srgbClr val="FFFFFF"/>
                </a:solidFill>
                <a:latin typeface="Aptos"/>
              </a:rPr>
              <a:t>ENDORMISSEMENT</a:t>
            </a:r>
          </a:p>
          <a:p>
            <a:pPr algn="ctr"/>
            <a:r>
              <a:rPr sz="638">
                <a:solidFill>
                  <a:srgbClr val="FFFFFF"/>
                </a:solidFill>
                <a:latin typeface="Aptos"/>
              </a:rPr>
              <a:t>Énergie faible
Tension faible</a:t>
            </a:r>
          </a:p>
        </p:txBody>
      </p:sp>
      <p:sp>
        <p:nvSpPr>
          <p:cNvPr id="19" name="Rectangle 18"/>
          <p:cNvSpPr/>
          <p:nvPr/>
        </p:nvSpPr>
        <p:spPr>
          <a:xfrm>
            <a:off x="6823710" y="3543300"/>
            <a:ext cx="1371600" cy="617220"/>
          </a:xfrm>
          <a:prstGeom prst="rect">
            <a:avLst/>
          </a:prstGeom>
          <a:solidFill>
            <a:srgbClr val="4C704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63" b="1">
                <a:solidFill>
                  <a:srgbClr val="FFFFFF"/>
                </a:solidFill>
                <a:latin typeface="Aptos"/>
              </a:rPr>
              <a:t>ENTRAIN</a:t>
            </a:r>
          </a:p>
          <a:p>
            <a:pPr algn="ctr"/>
            <a:r>
              <a:rPr sz="638">
                <a:solidFill>
                  <a:srgbClr val="FFFFFF"/>
                </a:solidFill>
                <a:latin typeface="Aptos"/>
              </a:rPr>
              <a:t>Énergie élevée
Tension faible</a:t>
            </a:r>
          </a:p>
        </p:txBody>
      </p:sp>
      <p:sp>
        <p:nvSpPr>
          <p:cNvPr id="20" name="Rounded Rectangle 19"/>
          <p:cNvSpPr/>
          <p:nvPr/>
        </p:nvSpPr>
        <p:spPr>
          <a:xfrm>
            <a:off x="582930" y="4523994"/>
            <a:ext cx="7989570" cy="534924"/>
          </a:xfrm>
          <a:prstGeom prst="roundRect">
            <a:avLst/>
          </a:prstGeom>
          <a:solidFill>
            <a:srgbClr val="174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13" b="1" dirty="0" err="1">
                <a:solidFill>
                  <a:srgbClr val="FFFFFF"/>
                </a:solidFill>
                <a:latin typeface="Aptos"/>
              </a:rPr>
              <a:t>L’enjeu</a:t>
            </a:r>
            <a:r>
              <a:rPr sz="1013" b="1" dirty="0">
                <a:solidFill>
                  <a:srgbClr val="FFFFFF"/>
                </a:solidFill>
                <a:latin typeface="Aptos"/>
              </a:rPr>
              <a:t> est </a:t>
            </a:r>
            <a:r>
              <a:rPr sz="1013" b="1" dirty="0" err="1">
                <a:solidFill>
                  <a:srgbClr val="FFFFFF"/>
                </a:solidFill>
                <a:latin typeface="Aptos"/>
              </a:rPr>
              <a:t>l’ajustement</a:t>
            </a:r>
            <a:r>
              <a:rPr sz="1013" b="1" dirty="0">
                <a:solidFill>
                  <a:srgbClr val="FFFFFF"/>
                </a:solidFill>
                <a:latin typeface="Aptos"/>
              </a:rPr>
              <a:t> des </a:t>
            </a:r>
            <a:r>
              <a:rPr sz="1013" b="1" dirty="0" err="1">
                <a:solidFill>
                  <a:srgbClr val="FFFFFF"/>
                </a:solidFill>
                <a:latin typeface="Aptos"/>
              </a:rPr>
              <a:t>ressources</a:t>
            </a:r>
            <a:r>
              <a:rPr sz="1013" b="1" dirty="0">
                <a:solidFill>
                  <a:srgbClr val="FFFFFF"/>
                </a:solidFill>
                <a:latin typeface="Aptos"/>
              </a:rPr>
              <a:t> aux </a:t>
            </a:r>
            <a:r>
              <a:rPr sz="1013" b="1" dirty="0" err="1">
                <a:solidFill>
                  <a:srgbClr val="FFFFFF"/>
                </a:solidFill>
                <a:latin typeface="Aptos"/>
              </a:rPr>
              <a:t>demandes</a:t>
            </a:r>
            <a:r>
              <a:rPr sz="1013" b="1" dirty="0">
                <a:solidFill>
                  <a:srgbClr val="FFFFFF"/>
                </a:solidFill>
                <a:latin typeface="Aptos"/>
              </a:rPr>
              <a:t>, avec un </a:t>
            </a:r>
            <a:r>
              <a:rPr sz="1013" b="1" dirty="0" err="1">
                <a:solidFill>
                  <a:srgbClr val="FFFFFF"/>
                </a:solidFill>
                <a:latin typeface="Aptos"/>
              </a:rPr>
              <a:t>niveau</a:t>
            </a:r>
            <a:r>
              <a:rPr sz="1013" b="1" dirty="0">
                <a:solidFill>
                  <a:srgbClr val="FFFFFF"/>
                </a:solidFill>
                <a:latin typeface="Aptos"/>
              </a:rPr>
              <a:t> de tension compatible avec </a:t>
            </a:r>
            <a:r>
              <a:rPr sz="1013" b="1" dirty="0" err="1">
                <a:solidFill>
                  <a:srgbClr val="FFFFFF"/>
                </a:solidFill>
                <a:latin typeface="Aptos"/>
              </a:rPr>
              <a:t>l’action</a:t>
            </a:r>
            <a:r>
              <a:rPr sz="1013" b="1" dirty="0">
                <a:solidFill>
                  <a:srgbClr val="FFFFFF"/>
                </a:solidFill>
                <a:latin typeface="Aptos"/>
              </a:rPr>
              <a:t>.</a:t>
            </a:r>
          </a:p>
        </p:txBody>
      </p:sp>
      <p:pic>
        <p:nvPicPr>
          <p:cNvPr id="21" name="Espace réservé du contenu 6">
            <a:extLst>
              <a:ext uri="{FF2B5EF4-FFF2-40B4-BE49-F238E27FC236}">
                <a16:creationId xmlns:a16="http://schemas.microsoft.com/office/drawing/2014/main" id="{FFD2FBB4-BD57-4FFD-539F-29F0C7B88CF8}"/>
              </a:ext>
            </a:extLst>
          </p:cNvPr>
          <p:cNvPicPr>
            <a:picLocks noChangeAspect="1"/>
          </p:cNvPicPr>
          <p:nvPr/>
        </p:nvPicPr>
        <p:blipFill>
          <a:blip r:embed="rId2"/>
          <a:srcRect l="19265" t="21184" r="17706" b="27027"/>
          <a:stretch>
            <a:fillRect/>
          </a:stretch>
        </p:blipFill>
        <p:spPr>
          <a:xfrm>
            <a:off x="702946" y="2665476"/>
            <a:ext cx="3234689" cy="1495044"/>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60EE0-7B9D-58A3-8C35-C04FB0E4FCC7}"/>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D10EFE48-0928-FE9B-3EA5-39CC1650BC23}"/>
              </a:ext>
            </a:extLst>
          </p:cNvPr>
          <p:cNvSpPr>
            <a:spLocks noGrp="1"/>
          </p:cNvSpPr>
          <p:nvPr>
            <p:ph idx="1"/>
          </p:nvPr>
        </p:nvSpPr>
        <p:spPr>
          <a:xfrm>
            <a:off x="518160" y="2068776"/>
            <a:ext cx="8199120" cy="1781864"/>
          </a:xfrm>
        </p:spPr>
        <p:style>
          <a:lnRef idx="1">
            <a:schemeClr val="accent1"/>
          </a:lnRef>
          <a:fillRef idx="3">
            <a:schemeClr val="accent1"/>
          </a:fillRef>
          <a:effectRef idx="2">
            <a:schemeClr val="accent1"/>
          </a:effectRef>
          <a:fontRef idx="minor">
            <a:schemeClr val="lt1"/>
          </a:fontRef>
        </p:style>
        <p:txBody>
          <a:bodyPr>
            <a:normAutofit fontScale="92500"/>
          </a:bodyPr>
          <a:lstStyle/>
          <a:p>
            <a:pPr marL="0" indent="0" algn="ctr">
              <a:buNone/>
            </a:pPr>
            <a:r>
              <a:rPr lang="fr-CA" b="1" dirty="0">
                <a:solidFill>
                  <a:schemeClr val="bg1"/>
                </a:solidFill>
              </a:rPr>
              <a:t>Ce que cela nous permet de comprendre</a:t>
            </a:r>
          </a:p>
          <a:p>
            <a:pPr marL="0" indent="0" algn="ctr">
              <a:buNone/>
            </a:pPr>
            <a:endParaRPr lang="fr-CA" b="1" i="1" dirty="0"/>
          </a:p>
          <a:p>
            <a:pPr marL="0" indent="0" algn="ctr">
              <a:buNone/>
            </a:pPr>
            <a:r>
              <a:rPr lang="fr-CA" i="1" dirty="0"/>
              <a:t>Être motivé ne signifie pas disposer d’une énergie illimitée. L’énergie se</a:t>
            </a:r>
            <a:r>
              <a:rPr lang="fr-CA" dirty="0"/>
              <a:t> </a:t>
            </a:r>
            <a:r>
              <a:rPr lang="fr-CA" i="1" dirty="0"/>
              <a:t>mobilise, se dépense et se récupère. Maintenir sa motivation, c’est aussi apprendre à gérer l’énergie nécessaire pour la soutenir dans le temps.</a:t>
            </a:r>
          </a:p>
        </p:txBody>
      </p:sp>
      <p:sp>
        <p:nvSpPr>
          <p:cNvPr id="4" name="Espace réservé du pied de page 3">
            <a:extLst>
              <a:ext uri="{FF2B5EF4-FFF2-40B4-BE49-F238E27FC236}">
                <a16:creationId xmlns:a16="http://schemas.microsoft.com/office/drawing/2014/main" id="{6A630DA8-5E0B-AA9F-B21F-AE3C3D6C8FC4}"/>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711952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4757E-4297-F290-99C5-F6225C6D97C7}"/>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A0F9E2D4-ABCA-E13A-8DD3-52231685F3DE}"/>
              </a:ext>
            </a:extLst>
          </p:cNvPr>
          <p:cNvSpPr>
            <a:spLocks noGrp="1"/>
          </p:cNvSpPr>
          <p:nvPr>
            <p:ph type="title"/>
          </p:nvPr>
        </p:nvSpPr>
        <p:spPr/>
        <p:txBody>
          <a:bodyPr/>
          <a:lstStyle/>
          <a:p>
            <a:r>
              <a:rPr lang="fr-CA" dirty="0"/>
              <a:t>La régulation des comportements motivés</a:t>
            </a:r>
          </a:p>
        </p:txBody>
      </p:sp>
      <p:sp>
        <p:nvSpPr>
          <p:cNvPr id="10" name="Espace réservé du texte 9">
            <a:extLst>
              <a:ext uri="{FF2B5EF4-FFF2-40B4-BE49-F238E27FC236}">
                <a16:creationId xmlns:a16="http://schemas.microsoft.com/office/drawing/2014/main" id="{F2CD6A0B-BDFB-5E18-2963-0302B6629C0B}"/>
              </a:ext>
            </a:extLst>
          </p:cNvPr>
          <p:cNvSpPr>
            <a:spLocks noGrp="1"/>
          </p:cNvSpPr>
          <p:nvPr>
            <p:ph type="body" idx="1"/>
          </p:nvPr>
        </p:nvSpPr>
        <p:spPr/>
        <p:txBody>
          <a:bodyPr/>
          <a:lstStyle/>
          <a:p>
            <a:endParaRPr lang="fr-CA"/>
          </a:p>
        </p:txBody>
      </p:sp>
      <p:sp>
        <p:nvSpPr>
          <p:cNvPr id="4" name="Espace réservé du pied de page 3">
            <a:extLst>
              <a:ext uri="{FF2B5EF4-FFF2-40B4-BE49-F238E27FC236}">
                <a16:creationId xmlns:a16="http://schemas.microsoft.com/office/drawing/2014/main" id="{1524158F-1C66-095C-2E58-F156175DFFB0}"/>
              </a:ext>
            </a:extLst>
          </p:cNvPr>
          <p:cNvSpPr>
            <a:spLocks noGrp="1"/>
          </p:cNvSpPr>
          <p:nvPr>
            <p:ph type="ftr" sz="quarter" idx="4294967295"/>
          </p:nvPr>
        </p:nvSpPr>
        <p:spPr>
          <a:xfrm>
            <a:off x="0" y="5027613"/>
            <a:ext cx="2789238" cy="200025"/>
          </a:xfrm>
        </p:spPr>
        <p:txBody>
          <a:bodyPr/>
          <a:lstStyle/>
          <a:p>
            <a:r>
              <a:rPr lang="fr-CA">
                <a:solidFill>
                  <a:srgbClr val="003C71"/>
                </a:solidFill>
              </a:rPr>
              <a:t>@2025. Marie-Christine ALBERT. Tous droits réservés.</a:t>
            </a:r>
            <a:endParaRPr lang="fr-CA" dirty="0">
              <a:solidFill>
                <a:srgbClr val="003C71"/>
              </a:solidFill>
            </a:endParaRPr>
          </a:p>
        </p:txBody>
      </p:sp>
      <p:sp>
        <p:nvSpPr>
          <p:cNvPr id="2" name="Rounded Rectangle 4">
            <a:extLst>
              <a:ext uri="{FF2B5EF4-FFF2-40B4-BE49-F238E27FC236}">
                <a16:creationId xmlns:a16="http://schemas.microsoft.com/office/drawing/2014/main" id="{29BCE557-7C21-A58A-309A-FBEDD635815C}"/>
              </a:ext>
            </a:extLst>
          </p:cNvPr>
          <p:cNvSpPr/>
          <p:nvPr/>
        </p:nvSpPr>
        <p:spPr>
          <a:xfrm>
            <a:off x="3552568" y="3647997"/>
            <a:ext cx="5109210" cy="1611630"/>
          </a:xfrm>
          <a:prstGeom prst="roundRect">
            <a:avLst/>
          </a:prstGeom>
          <a:solidFill>
            <a:srgbClr val="F1F8FC"/>
          </a:solidFill>
          <a:ln w="25400">
            <a:solidFill>
              <a:srgbClr val="0093CA"/>
            </a:solidFill>
          </a:ln>
        </p:spPr>
        <p:style>
          <a:lnRef idx="1">
            <a:schemeClr val="accent1"/>
          </a:lnRef>
          <a:fillRef idx="3">
            <a:schemeClr val="accent1"/>
          </a:fillRef>
          <a:effectRef idx="2">
            <a:schemeClr val="accent1"/>
          </a:effectRef>
          <a:fontRef idx="minor">
            <a:schemeClr val="lt1"/>
          </a:fontRef>
        </p:style>
        <p:txBody>
          <a:bodyPr lIns="123444" tIns="82296" rIns="102870" rtlCol="0" anchor="ctr"/>
          <a:lstStyle/>
          <a:p>
            <a:pPr algn="l"/>
            <a:r>
              <a:rPr sz="1425" b="1">
                <a:solidFill>
                  <a:srgbClr val="124A79"/>
                </a:solidFill>
                <a:latin typeface="Aptos Display"/>
              </a:rPr>
              <a:t>Régulation des comportements motivés</a:t>
            </a:r>
          </a:p>
          <a:p>
            <a:r>
              <a:rPr sz="975" i="1">
                <a:solidFill>
                  <a:srgbClr val="5F6469"/>
                </a:solidFill>
                <a:latin typeface="Aptos"/>
              </a:rPr>
              <a:t>Vers quoi cette énergie est-elle orientée et pourquoi?</a:t>
            </a:r>
          </a:p>
          <a:p>
            <a:pPr>
              <a:defRPr sz="1400">
                <a:solidFill>
                  <a:srgbClr val="232D37"/>
                </a:solidFill>
                <a:latin typeface="Aptos"/>
              </a:defRPr>
            </a:pPr>
            <a:r>
              <a:rPr sz="1050"/>
              <a:t>Instincts, pulsions et besoins</a:t>
            </a:r>
          </a:p>
          <a:p>
            <a:pPr>
              <a:defRPr sz="1400">
                <a:solidFill>
                  <a:srgbClr val="232D37"/>
                </a:solidFill>
                <a:latin typeface="Aptos"/>
              </a:defRPr>
            </a:pPr>
            <a:r>
              <a:rPr sz="1050"/>
              <a:t>Intérêts, désirs et valeurs</a:t>
            </a:r>
          </a:p>
          <a:p>
            <a:pPr>
              <a:defRPr sz="1400">
                <a:solidFill>
                  <a:srgbClr val="232D37"/>
                </a:solidFill>
                <a:latin typeface="Aptos"/>
              </a:defRPr>
            </a:pPr>
            <a:r>
              <a:rPr sz="1050"/>
              <a:t>Sélection et orientation des conduites</a:t>
            </a:r>
          </a:p>
        </p:txBody>
      </p:sp>
    </p:spTree>
    <p:extLst>
      <p:ext uri="{BB962C8B-B14F-4D97-AF65-F5344CB8AC3E}">
        <p14:creationId xmlns:p14="http://schemas.microsoft.com/office/powerpoint/2010/main" val="2153703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0030" y="303061"/>
            <a:ext cx="8641080" cy="438582"/>
          </a:xfrm>
          <a:prstGeom prst="rect">
            <a:avLst/>
          </a:prstGeom>
          <a:noFill/>
        </p:spPr>
        <p:txBody>
          <a:bodyPr wrap="square" anchor="ctr">
            <a:spAutoFit/>
          </a:bodyPr>
          <a:lstStyle/>
          <a:p>
            <a:pPr algn="l"/>
            <a:r>
              <a:rPr sz="2250" b="1" dirty="0">
                <a:solidFill>
                  <a:srgbClr val="12375C"/>
                </a:solidFill>
                <a:latin typeface="Aptos"/>
              </a:rPr>
              <a:t>La </a:t>
            </a:r>
            <a:r>
              <a:rPr sz="2250" b="1" dirty="0" err="1">
                <a:solidFill>
                  <a:srgbClr val="12375C"/>
                </a:solidFill>
                <a:latin typeface="Aptos"/>
              </a:rPr>
              <a:t>théorie</a:t>
            </a:r>
            <a:r>
              <a:rPr sz="2250" b="1" dirty="0">
                <a:solidFill>
                  <a:srgbClr val="12375C"/>
                </a:solidFill>
                <a:latin typeface="Aptos"/>
              </a:rPr>
              <a:t> des </a:t>
            </a:r>
            <a:r>
              <a:rPr sz="2250" b="1" dirty="0" err="1">
                <a:solidFill>
                  <a:srgbClr val="12375C"/>
                </a:solidFill>
                <a:latin typeface="Aptos"/>
              </a:rPr>
              <a:t>besoins</a:t>
            </a:r>
            <a:r>
              <a:rPr sz="2250" b="1" dirty="0">
                <a:solidFill>
                  <a:srgbClr val="12375C"/>
                </a:solidFill>
                <a:latin typeface="Aptos"/>
              </a:rPr>
              <a:t> de Maslow</a:t>
            </a:r>
          </a:p>
        </p:txBody>
      </p:sp>
      <p:sp>
        <p:nvSpPr>
          <p:cNvPr id="4" name="TextBox 3"/>
          <p:cNvSpPr txBox="1"/>
          <p:nvPr/>
        </p:nvSpPr>
        <p:spPr>
          <a:xfrm>
            <a:off x="102869" y="917438"/>
            <a:ext cx="1281087" cy="553998"/>
          </a:xfrm>
          <a:prstGeom prst="rect">
            <a:avLst/>
          </a:prstGeom>
          <a:noFill/>
        </p:spPr>
        <p:txBody>
          <a:bodyPr wrap="square" anchor="ctr">
            <a:spAutoFit/>
          </a:bodyPr>
          <a:lstStyle/>
          <a:p>
            <a:pPr algn="ctr"/>
            <a:r>
              <a:rPr sz="1000" b="1" dirty="0">
                <a:solidFill>
                  <a:srgbClr val="1A7E5C"/>
                </a:solidFill>
                <a:latin typeface="Aptos"/>
              </a:rPr>
              <a:t>Vers le
</a:t>
            </a:r>
            <a:r>
              <a:rPr sz="1000" b="1" dirty="0" err="1">
                <a:solidFill>
                  <a:srgbClr val="1A7E5C"/>
                </a:solidFill>
                <a:latin typeface="Aptos"/>
              </a:rPr>
              <a:t>développement</a:t>
            </a:r>
            <a:r>
              <a:rPr sz="1000" b="1" dirty="0">
                <a:solidFill>
                  <a:srgbClr val="1A7E5C"/>
                </a:solidFill>
                <a:latin typeface="Aptos"/>
              </a:rPr>
              <a:t>
du plein </a:t>
            </a:r>
            <a:r>
              <a:rPr sz="1000" b="1" dirty="0" err="1">
                <a:solidFill>
                  <a:srgbClr val="1A7E5C"/>
                </a:solidFill>
                <a:latin typeface="Aptos"/>
              </a:rPr>
              <a:t>potentiel</a:t>
            </a:r>
            <a:endParaRPr sz="1000" b="1" dirty="0">
              <a:solidFill>
                <a:srgbClr val="1A7E5C"/>
              </a:solidFill>
              <a:latin typeface="Aptos"/>
            </a:endParaRPr>
          </a:p>
        </p:txBody>
      </p:sp>
      <p:sp>
        <p:nvSpPr>
          <p:cNvPr id="5" name="Up-Down Arrow 4"/>
          <p:cNvSpPr/>
          <p:nvPr/>
        </p:nvSpPr>
        <p:spPr>
          <a:xfrm>
            <a:off x="620649" y="1478875"/>
            <a:ext cx="260604" cy="2914650"/>
          </a:xfrm>
          <a:prstGeom prst="upDownArrow">
            <a:avLst/>
          </a:prstGeom>
          <a:gradFill flip="none" rotWithShape="1">
            <a:gsLst>
              <a:gs pos="0">
                <a:srgbClr val="1A7E5C">
                  <a:tint val="66000"/>
                  <a:satMod val="160000"/>
                </a:srgbClr>
              </a:gs>
              <a:gs pos="50000">
                <a:srgbClr val="1A7E5C">
                  <a:tint val="44500"/>
                  <a:satMod val="160000"/>
                </a:srgbClr>
              </a:gs>
              <a:gs pos="100000">
                <a:srgbClr val="1A7E5C">
                  <a:tint val="23500"/>
                  <a:satMod val="160000"/>
                </a:srgbClr>
              </a:gs>
            </a:gsLst>
            <a:lin ang="5400000" scaled="1"/>
            <a:tileRect/>
          </a:gradFill>
          <a:ln>
            <a:solidFill>
              <a:srgbClr val="1A7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TextBox 5"/>
          <p:cNvSpPr txBox="1"/>
          <p:nvPr/>
        </p:nvSpPr>
        <p:spPr>
          <a:xfrm>
            <a:off x="144069" y="4441361"/>
            <a:ext cx="1213763" cy="542456"/>
          </a:xfrm>
          <a:prstGeom prst="rect">
            <a:avLst/>
          </a:prstGeom>
          <a:noFill/>
        </p:spPr>
        <p:txBody>
          <a:bodyPr wrap="square" anchor="ctr">
            <a:spAutoFit/>
          </a:bodyPr>
          <a:lstStyle/>
          <a:p>
            <a:pPr algn="ctr"/>
            <a:r>
              <a:rPr sz="975" b="1">
                <a:solidFill>
                  <a:srgbClr val="1F67B5"/>
                </a:solidFill>
                <a:latin typeface="Aptos"/>
              </a:rPr>
              <a:t>Soutien des
fondations essentielles</a:t>
            </a:r>
          </a:p>
        </p:txBody>
      </p:sp>
      <p:sp>
        <p:nvSpPr>
          <p:cNvPr id="18" name="Oval 17"/>
          <p:cNvSpPr/>
          <p:nvPr/>
        </p:nvSpPr>
        <p:spPr>
          <a:xfrm>
            <a:off x="3519682" y="1527135"/>
            <a:ext cx="89154" cy="89154"/>
          </a:xfrm>
          <a:prstGeom prst="ellipse">
            <a:avLst/>
          </a:prstGeom>
          <a:solidFill>
            <a:srgbClr val="B01F32"/>
          </a:solidFill>
          <a:ln>
            <a:solidFill>
              <a:srgbClr val="B01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TextBox 18"/>
          <p:cNvSpPr txBox="1"/>
          <p:nvPr/>
        </p:nvSpPr>
        <p:spPr>
          <a:xfrm>
            <a:off x="3677416" y="1431039"/>
            <a:ext cx="2846070" cy="253916"/>
          </a:xfrm>
          <a:prstGeom prst="rect">
            <a:avLst/>
          </a:prstGeom>
          <a:noFill/>
        </p:spPr>
        <p:txBody>
          <a:bodyPr wrap="square" anchor="ctr">
            <a:spAutoFit/>
          </a:bodyPr>
          <a:lstStyle/>
          <a:p>
            <a:pPr algn="l"/>
            <a:r>
              <a:rPr sz="1050" b="1" dirty="0" err="1">
                <a:solidFill>
                  <a:srgbClr val="B01F32"/>
                </a:solidFill>
                <a:latin typeface="Aptos"/>
              </a:rPr>
              <a:t>Métabesoins</a:t>
            </a:r>
            <a:r>
              <a:rPr sz="1050" b="1" dirty="0">
                <a:solidFill>
                  <a:srgbClr val="B01F32"/>
                </a:solidFill>
                <a:latin typeface="Aptos"/>
              </a:rPr>
              <a:t> / </a:t>
            </a:r>
            <a:r>
              <a:rPr sz="1050" b="1" dirty="0" err="1">
                <a:solidFill>
                  <a:srgbClr val="B01F32"/>
                </a:solidFill>
                <a:latin typeface="Aptos"/>
              </a:rPr>
              <a:t>Transcendance</a:t>
            </a:r>
            <a:endParaRPr sz="1050" b="1" dirty="0">
              <a:solidFill>
                <a:srgbClr val="B01F32"/>
              </a:solidFill>
              <a:latin typeface="Aptos"/>
            </a:endParaRPr>
          </a:p>
        </p:txBody>
      </p:sp>
      <p:sp>
        <p:nvSpPr>
          <p:cNvPr id="20" name="TextBox 19"/>
          <p:cNvSpPr txBox="1"/>
          <p:nvPr/>
        </p:nvSpPr>
        <p:spPr>
          <a:xfrm>
            <a:off x="3677416" y="1592890"/>
            <a:ext cx="2846070" cy="334835"/>
          </a:xfrm>
          <a:prstGeom prst="rect">
            <a:avLst/>
          </a:prstGeom>
          <a:noFill/>
        </p:spPr>
        <p:txBody>
          <a:bodyPr wrap="square" anchor="ctr">
            <a:spAutoFit/>
          </a:bodyPr>
          <a:lstStyle/>
          <a:p>
            <a:pPr algn="l"/>
            <a:r>
              <a:rPr sz="788">
                <a:solidFill>
                  <a:srgbClr val="12375C"/>
                </a:solidFill>
                <a:latin typeface="Aptos"/>
              </a:rPr>
              <a:t>Recherche de sens, d’unité, de dépassement de soi et de contribution.</a:t>
            </a:r>
          </a:p>
        </p:txBody>
      </p:sp>
      <p:sp>
        <p:nvSpPr>
          <p:cNvPr id="21" name="Oval 20"/>
          <p:cNvSpPr/>
          <p:nvPr/>
        </p:nvSpPr>
        <p:spPr>
          <a:xfrm>
            <a:off x="3519682" y="1972905"/>
            <a:ext cx="89154" cy="89154"/>
          </a:xfrm>
          <a:prstGeom prst="ellipse">
            <a:avLst/>
          </a:prstGeom>
          <a:solidFill>
            <a:srgbClr val="702D91"/>
          </a:solidFill>
          <a:ln>
            <a:solidFill>
              <a:srgbClr val="702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p:cNvSpPr txBox="1"/>
          <p:nvPr/>
        </p:nvSpPr>
        <p:spPr>
          <a:xfrm>
            <a:off x="3677416" y="1876809"/>
            <a:ext cx="2846070" cy="253916"/>
          </a:xfrm>
          <a:prstGeom prst="rect">
            <a:avLst/>
          </a:prstGeom>
          <a:noFill/>
        </p:spPr>
        <p:txBody>
          <a:bodyPr wrap="square" anchor="ctr">
            <a:spAutoFit/>
          </a:bodyPr>
          <a:lstStyle/>
          <a:p>
            <a:pPr algn="l"/>
            <a:r>
              <a:rPr sz="1050" b="1">
                <a:solidFill>
                  <a:srgbClr val="702D91"/>
                </a:solidFill>
                <a:latin typeface="Aptos"/>
              </a:rPr>
              <a:t>Actualisation de soi</a:t>
            </a:r>
          </a:p>
        </p:txBody>
      </p:sp>
      <p:sp>
        <p:nvSpPr>
          <p:cNvPr id="23" name="TextBox 22"/>
          <p:cNvSpPr txBox="1"/>
          <p:nvPr/>
        </p:nvSpPr>
        <p:spPr>
          <a:xfrm>
            <a:off x="3677416" y="2099285"/>
            <a:ext cx="2846070" cy="213585"/>
          </a:xfrm>
          <a:prstGeom prst="rect">
            <a:avLst/>
          </a:prstGeom>
          <a:noFill/>
        </p:spPr>
        <p:txBody>
          <a:bodyPr wrap="square" anchor="ctr">
            <a:spAutoFit/>
          </a:bodyPr>
          <a:lstStyle/>
          <a:p>
            <a:pPr algn="l"/>
            <a:r>
              <a:rPr sz="788">
                <a:solidFill>
                  <a:srgbClr val="12375C"/>
                </a:solidFill>
                <a:latin typeface="Aptos"/>
              </a:rPr>
              <a:t>Réalisation de son potentiel, de ce que l’on est.</a:t>
            </a:r>
          </a:p>
        </p:txBody>
      </p:sp>
      <p:sp>
        <p:nvSpPr>
          <p:cNvPr id="24" name="Oval 23"/>
          <p:cNvSpPr/>
          <p:nvPr/>
        </p:nvSpPr>
        <p:spPr>
          <a:xfrm>
            <a:off x="3519682" y="2418675"/>
            <a:ext cx="89154" cy="89154"/>
          </a:xfrm>
          <a:prstGeom prst="ellipse">
            <a:avLst/>
          </a:prstGeom>
          <a:solidFill>
            <a:srgbClr val="D22C76"/>
          </a:solidFill>
          <a:ln>
            <a:solidFill>
              <a:srgbClr val="D22C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5" name="TextBox 24"/>
          <p:cNvSpPr txBox="1"/>
          <p:nvPr/>
        </p:nvSpPr>
        <p:spPr>
          <a:xfrm>
            <a:off x="3677416" y="2322579"/>
            <a:ext cx="2846070" cy="253916"/>
          </a:xfrm>
          <a:prstGeom prst="rect">
            <a:avLst/>
          </a:prstGeom>
          <a:noFill/>
        </p:spPr>
        <p:txBody>
          <a:bodyPr wrap="square" anchor="ctr">
            <a:spAutoFit/>
          </a:bodyPr>
          <a:lstStyle/>
          <a:p>
            <a:pPr algn="l"/>
            <a:r>
              <a:rPr sz="1050" b="1">
                <a:solidFill>
                  <a:srgbClr val="D22C76"/>
                </a:solidFill>
                <a:latin typeface="Aptos"/>
              </a:rPr>
              <a:t>Besoin d’accomplissement (estime de soi)</a:t>
            </a:r>
          </a:p>
        </p:txBody>
      </p:sp>
      <p:sp>
        <p:nvSpPr>
          <p:cNvPr id="26" name="TextBox 25"/>
          <p:cNvSpPr txBox="1"/>
          <p:nvPr/>
        </p:nvSpPr>
        <p:spPr>
          <a:xfrm>
            <a:off x="3677416" y="2484430"/>
            <a:ext cx="2846070" cy="334835"/>
          </a:xfrm>
          <a:prstGeom prst="rect">
            <a:avLst/>
          </a:prstGeom>
          <a:noFill/>
        </p:spPr>
        <p:txBody>
          <a:bodyPr wrap="square" anchor="ctr">
            <a:spAutoFit/>
          </a:bodyPr>
          <a:lstStyle/>
          <a:p>
            <a:pPr algn="l"/>
            <a:r>
              <a:rPr sz="788">
                <a:solidFill>
                  <a:srgbClr val="12375C"/>
                </a:solidFill>
                <a:latin typeface="Aptos"/>
              </a:rPr>
              <a:t>Développement de ses capacités, recherche de défis et de réalisation personnelle.</a:t>
            </a:r>
          </a:p>
        </p:txBody>
      </p:sp>
      <p:sp>
        <p:nvSpPr>
          <p:cNvPr id="27" name="Oval 26"/>
          <p:cNvSpPr/>
          <p:nvPr/>
        </p:nvSpPr>
        <p:spPr>
          <a:xfrm>
            <a:off x="3519682" y="2864445"/>
            <a:ext cx="89154" cy="89154"/>
          </a:xfrm>
          <a:prstGeom prst="ellipse">
            <a:avLst/>
          </a:prstGeom>
          <a:solidFill>
            <a:srgbClr val="E07015"/>
          </a:solidFill>
          <a:ln>
            <a:solidFill>
              <a:srgbClr val="E070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8" name="TextBox 27"/>
          <p:cNvSpPr txBox="1"/>
          <p:nvPr/>
        </p:nvSpPr>
        <p:spPr>
          <a:xfrm>
            <a:off x="3677416" y="2768349"/>
            <a:ext cx="2846070" cy="253916"/>
          </a:xfrm>
          <a:prstGeom prst="rect">
            <a:avLst/>
          </a:prstGeom>
          <a:noFill/>
        </p:spPr>
        <p:txBody>
          <a:bodyPr wrap="square" anchor="ctr">
            <a:spAutoFit/>
          </a:bodyPr>
          <a:lstStyle/>
          <a:p>
            <a:pPr algn="l"/>
            <a:r>
              <a:rPr sz="1050" b="1">
                <a:solidFill>
                  <a:srgbClr val="E07015"/>
                </a:solidFill>
                <a:latin typeface="Aptos"/>
              </a:rPr>
              <a:t>Estime (des autres)</a:t>
            </a:r>
          </a:p>
        </p:txBody>
      </p:sp>
      <p:sp>
        <p:nvSpPr>
          <p:cNvPr id="29" name="TextBox 28"/>
          <p:cNvSpPr txBox="1"/>
          <p:nvPr/>
        </p:nvSpPr>
        <p:spPr>
          <a:xfrm>
            <a:off x="3677416" y="2990825"/>
            <a:ext cx="2846070" cy="213585"/>
          </a:xfrm>
          <a:prstGeom prst="rect">
            <a:avLst/>
          </a:prstGeom>
          <a:noFill/>
        </p:spPr>
        <p:txBody>
          <a:bodyPr wrap="square" anchor="ctr">
            <a:spAutoFit/>
          </a:bodyPr>
          <a:lstStyle/>
          <a:p>
            <a:pPr algn="l"/>
            <a:r>
              <a:rPr sz="788">
                <a:solidFill>
                  <a:srgbClr val="12375C"/>
                </a:solidFill>
                <a:latin typeface="Aptos"/>
              </a:rPr>
              <a:t>Respect, reconnaissance, statut, réputation, prestige.</a:t>
            </a:r>
          </a:p>
        </p:txBody>
      </p:sp>
      <p:sp>
        <p:nvSpPr>
          <p:cNvPr id="30" name="Oval 29"/>
          <p:cNvSpPr/>
          <p:nvPr/>
        </p:nvSpPr>
        <p:spPr>
          <a:xfrm>
            <a:off x="3519682" y="3310215"/>
            <a:ext cx="89154" cy="89154"/>
          </a:xfrm>
          <a:prstGeom prst="ellipse">
            <a:avLst/>
          </a:prstGeom>
          <a:solidFill>
            <a:srgbClr val="C99100"/>
          </a:solidFill>
          <a:ln>
            <a:solidFill>
              <a:srgbClr val="C9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3677416" y="3214119"/>
            <a:ext cx="2846070" cy="253916"/>
          </a:xfrm>
          <a:prstGeom prst="rect">
            <a:avLst/>
          </a:prstGeom>
          <a:noFill/>
        </p:spPr>
        <p:txBody>
          <a:bodyPr wrap="square" anchor="ctr">
            <a:spAutoFit/>
          </a:bodyPr>
          <a:lstStyle/>
          <a:p>
            <a:pPr algn="l"/>
            <a:r>
              <a:rPr sz="1050" b="1">
                <a:solidFill>
                  <a:srgbClr val="C99100"/>
                </a:solidFill>
                <a:latin typeface="Aptos"/>
              </a:rPr>
              <a:t>Compétence et efficacité</a:t>
            </a:r>
          </a:p>
        </p:txBody>
      </p:sp>
      <p:sp>
        <p:nvSpPr>
          <p:cNvPr id="32" name="TextBox 31"/>
          <p:cNvSpPr txBox="1"/>
          <p:nvPr/>
        </p:nvSpPr>
        <p:spPr>
          <a:xfrm>
            <a:off x="3677416" y="3375969"/>
            <a:ext cx="2846070" cy="334835"/>
          </a:xfrm>
          <a:prstGeom prst="rect">
            <a:avLst/>
          </a:prstGeom>
          <a:noFill/>
        </p:spPr>
        <p:txBody>
          <a:bodyPr wrap="square" anchor="ctr">
            <a:spAutoFit/>
          </a:bodyPr>
          <a:lstStyle/>
          <a:p>
            <a:pPr algn="l"/>
            <a:r>
              <a:rPr sz="788">
                <a:solidFill>
                  <a:srgbClr val="12375C"/>
                </a:solidFill>
                <a:latin typeface="Aptos"/>
              </a:rPr>
              <a:t>Se sentir capable d’agir, maîtriser son environnement, exercer un contrôle.</a:t>
            </a:r>
          </a:p>
        </p:txBody>
      </p:sp>
      <p:sp>
        <p:nvSpPr>
          <p:cNvPr id="33" name="Oval 32"/>
          <p:cNvSpPr/>
          <p:nvPr/>
        </p:nvSpPr>
        <p:spPr>
          <a:xfrm>
            <a:off x="3519682" y="3755985"/>
            <a:ext cx="89154" cy="89154"/>
          </a:xfrm>
          <a:prstGeom prst="ellipse">
            <a:avLst/>
          </a:prstGeom>
          <a:solidFill>
            <a:srgbClr val="1A7E5C"/>
          </a:solidFill>
          <a:ln>
            <a:solidFill>
              <a:srgbClr val="1A7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4" name="TextBox 33"/>
          <p:cNvSpPr txBox="1"/>
          <p:nvPr/>
        </p:nvSpPr>
        <p:spPr>
          <a:xfrm>
            <a:off x="3677416" y="3659888"/>
            <a:ext cx="2846070" cy="253916"/>
          </a:xfrm>
          <a:prstGeom prst="rect">
            <a:avLst/>
          </a:prstGeom>
          <a:noFill/>
        </p:spPr>
        <p:txBody>
          <a:bodyPr wrap="square" anchor="ctr">
            <a:spAutoFit/>
          </a:bodyPr>
          <a:lstStyle/>
          <a:p>
            <a:pPr algn="l"/>
            <a:r>
              <a:rPr sz="1050" b="1">
                <a:solidFill>
                  <a:srgbClr val="1A7E5C"/>
                </a:solidFill>
                <a:latin typeface="Aptos"/>
              </a:rPr>
              <a:t>Amour et appartenance</a:t>
            </a:r>
          </a:p>
        </p:txBody>
      </p:sp>
      <p:sp>
        <p:nvSpPr>
          <p:cNvPr id="35" name="TextBox 34"/>
          <p:cNvSpPr txBox="1"/>
          <p:nvPr/>
        </p:nvSpPr>
        <p:spPr>
          <a:xfrm>
            <a:off x="3677416" y="3882365"/>
            <a:ext cx="2846070" cy="213585"/>
          </a:xfrm>
          <a:prstGeom prst="rect">
            <a:avLst/>
          </a:prstGeom>
          <a:noFill/>
        </p:spPr>
        <p:txBody>
          <a:bodyPr wrap="square" anchor="ctr">
            <a:spAutoFit/>
          </a:bodyPr>
          <a:lstStyle/>
          <a:p>
            <a:pPr algn="l"/>
            <a:r>
              <a:rPr sz="788">
                <a:solidFill>
                  <a:srgbClr val="12375C"/>
                </a:solidFill>
                <a:latin typeface="Aptos"/>
              </a:rPr>
              <a:t>Être aimé, aimer, créer des liens, faire partie d’un groupe.</a:t>
            </a:r>
          </a:p>
        </p:txBody>
      </p:sp>
      <p:sp>
        <p:nvSpPr>
          <p:cNvPr id="36" name="Oval 35"/>
          <p:cNvSpPr/>
          <p:nvPr/>
        </p:nvSpPr>
        <p:spPr>
          <a:xfrm>
            <a:off x="3519682" y="4201755"/>
            <a:ext cx="89154" cy="89154"/>
          </a:xfrm>
          <a:prstGeom prst="ellipse">
            <a:avLst/>
          </a:prstGeom>
          <a:solidFill>
            <a:srgbClr val="1F67B5"/>
          </a:solidFill>
          <a:ln>
            <a:solidFill>
              <a:srgbClr val="1F67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TextBox 36"/>
          <p:cNvSpPr txBox="1"/>
          <p:nvPr/>
        </p:nvSpPr>
        <p:spPr>
          <a:xfrm>
            <a:off x="3677416" y="4105659"/>
            <a:ext cx="2846070" cy="253916"/>
          </a:xfrm>
          <a:prstGeom prst="rect">
            <a:avLst/>
          </a:prstGeom>
          <a:noFill/>
        </p:spPr>
        <p:txBody>
          <a:bodyPr wrap="square" anchor="ctr">
            <a:spAutoFit/>
          </a:bodyPr>
          <a:lstStyle/>
          <a:p>
            <a:pPr algn="l"/>
            <a:r>
              <a:rPr sz="1050" b="1">
                <a:solidFill>
                  <a:srgbClr val="1F67B5"/>
                </a:solidFill>
                <a:latin typeface="Aptos"/>
              </a:rPr>
              <a:t>Sécurité</a:t>
            </a:r>
          </a:p>
        </p:txBody>
      </p:sp>
      <p:sp>
        <p:nvSpPr>
          <p:cNvPr id="38" name="TextBox 37"/>
          <p:cNvSpPr txBox="1"/>
          <p:nvPr/>
        </p:nvSpPr>
        <p:spPr>
          <a:xfrm>
            <a:off x="3677416" y="4267511"/>
            <a:ext cx="2846070" cy="334835"/>
          </a:xfrm>
          <a:prstGeom prst="rect">
            <a:avLst/>
          </a:prstGeom>
          <a:noFill/>
        </p:spPr>
        <p:txBody>
          <a:bodyPr wrap="square" anchor="ctr">
            <a:spAutoFit/>
          </a:bodyPr>
          <a:lstStyle/>
          <a:p>
            <a:pPr algn="l"/>
            <a:r>
              <a:rPr sz="788">
                <a:solidFill>
                  <a:srgbClr val="12375C"/>
                </a:solidFill>
                <a:latin typeface="Aptos"/>
              </a:rPr>
              <a:t>Se sentir en sécurité physique et psychologique, avoir de la stabilité et de la prévisibilité.</a:t>
            </a:r>
          </a:p>
        </p:txBody>
      </p:sp>
      <p:sp>
        <p:nvSpPr>
          <p:cNvPr id="39" name="Oval 38"/>
          <p:cNvSpPr/>
          <p:nvPr/>
        </p:nvSpPr>
        <p:spPr>
          <a:xfrm>
            <a:off x="3519682" y="4647525"/>
            <a:ext cx="89154" cy="89154"/>
          </a:xfrm>
          <a:prstGeom prst="ellipse">
            <a:avLst/>
          </a:prstGeom>
          <a:solidFill>
            <a:srgbClr val="0F7082"/>
          </a:solidFill>
          <a:ln>
            <a:solidFill>
              <a:srgbClr val="0F7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TextBox 39"/>
          <p:cNvSpPr txBox="1"/>
          <p:nvPr/>
        </p:nvSpPr>
        <p:spPr>
          <a:xfrm>
            <a:off x="3677416" y="4551429"/>
            <a:ext cx="2846070" cy="253916"/>
          </a:xfrm>
          <a:prstGeom prst="rect">
            <a:avLst/>
          </a:prstGeom>
          <a:noFill/>
        </p:spPr>
        <p:txBody>
          <a:bodyPr wrap="square" anchor="ctr">
            <a:spAutoFit/>
          </a:bodyPr>
          <a:lstStyle/>
          <a:p>
            <a:pPr algn="l"/>
            <a:r>
              <a:rPr sz="1050" b="1">
                <a:solidFill>
                  <a:srgbClr val="0F7082"/>
                </a:solidFill>
                <a:latin typeface="Aptos"/>
              </a:rPr>
              <a:t>Besoins physiologiques</a:t>
            </a:r>
          </a:p>
        </p:txBody>
      </p:sp>
      <p:sp>
        <p:nvSpPr>
          <p:cNvPr id="41" name="TextBox 40"/>
          <p:cNvSpPr txBox="1"/>
          <p:nvPr/>
        </p:nvSpPr>
        <p:spPr>
          <a:xfrm>
            <a:off x="3677416" y="4713280"/>
            <a:ext cx="2846070" cy="334835"/>
          </a:xfrm>
          <a:prstGeom prst="rect">
            <a:avLst/>
          </a:prstGeom>
          <a:noFill/>
        </p:spPr>
        <p:txBody>
          <a:bodyPr wrap="square" anchor="ctr">
            <a:spAutoFit/>
          </a:bodyPr>
          <a:lstStyle/>
          <a:p>
            <a:pPr algn="l"/>
            <a:r>
              <a:rPr sz="788">
                <a:solidFill>
                  <a:srgbClr val="12375C"/>
                </a:solidFill>
                <a:latin typeface="Aptos"/>
              </a:rPr>
              <a:t>Répondre aux besoins de base de l’organisme (manger, boire, dormir, etc.).</a:t>
            </a:r>
          </a:p>
        </p:txBody>
      </p:sp>
      <p:sp>
        <p:nvSpPr>
          <p:cNvPr id="42" name="Rounded Rectangle 41"/>
          <p:cNvSpPr/>
          <p:nvPr/>
        </p:nvSpPr>
        <p:spPr>
          <a:xfrm>
            <a:off x="6742942" y="1499703"/>
            <a:ext cx="2091690" cy="1495044"/>
          </a:xfrm>
          <a:prstGeom prst="roundRect">
            <a:avLst/>
          </a:prstGeom>
          <a:solidFill>
            <a:srgbClr val="F7EEFA"/>
          </a:solidFill>
          <a:ln>
            <a:solidFill>
              <a:srgbClr val="702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TextBox 42"/>
          <p:cNvSpPr txBox="1"/>
          <p:nvPr/>
        </p:nvSpPr>
        <p:spPr>
          <a:xfrm>
            <a:off x="6866386" y="1543191"/>
            <a:ext cx="1817370" cy="461665"/>
          </a:xfrm>
          <a:prstGeom prst="rect">
            <a:avLst/>
          </a:prstGeom>
          <a:noFill/>
        </p:spPr>
        <p:txBody>
          <a:bodyPr wrap="square" anchor="ctr">
            <a:spAutoFit/>
          </a:bodyPr>
          <a:lstStyle/>
          <a:p>
            <a:pPr algn="l"/>
            <a:r>
              <a:rPr sz="1200" b="1">
                <a:solidFill>
                  <a:srgbClr val="702D91"/>
                </a:solidFill>
                <a:latin typeface="Aptos"/>
              </a:rPr>
              <a:t>Besoins supérieurs
et métabesoins</a:t>
            </a:r>
          </a:p>
        </p:txBody>
      </p:sp>
      <p:sp>
        <p:nvSpPr>
          <p:cNvPr id="44" name="TextBox 43"/>
          <p:cNvSpPr txBox="1"/>
          <p:nvPr/>
        </p:nvSpPr>
        <p:spPr>
          <a:xfrm>
            <a:off x="6866386" y="2074936"/>
            <a:ext cx="1817370" cy="646331"/>
          </a:xfrm>
          <a:prstGeom prst="rect">
            <a:avLst/>
          </a:prstGeom>
          <a:noFill/>
        </p:spPr>
        <p:txBody>
          <a:bodyPr wrap="square" anchor="ctr">
            <a:spAutoFit/>
          </a:bodyPr>
          <a:lstStyle/>
          <a:p>
            <a:pPr algn="l"/>
            <a:r>
              <a:rPr sz="900">
                <a:solidFill>
                  <a:srgbClr val="12375C"/>
                </a:solidFill>
                <a:latin typeface="Aptos"/>
              </a:rPr>
              <a:t>Motivation par croissance
• Recherche de la croissance
• Augmentation de la tension
• Promotion de la santé</a:t>
            </a:r>
          </a:p>
        </p:txBody>
      </p:sp>
      <p:sp>
        <p:nvSpPr>
          <p:cNvPr id="45" name="Rounded Rectangle 44"/>
          <p:cNvSpPr/>
          <p:nvPr/>
        </p:nvSpPr>
        <p:spPr>
          <a:xfrm>
            <a:off x="6742942" y="3166197"/>
            <a:ext cx="2091690" cy="1748790"/>
          </a:xfrm>
          <a:prstGeom prst="roundRect">
            <a:avLst/>
          </a:prstGeom>
          <a:solidFill>
            <a:srgbClr val="EBF5FD"/>
          </a:solidFill>
          <a:ln>
            <a:solidFill>
              <a:srgbClr val="1F67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6" name="TextBox 45"/>
          <p:cNvSpPr txBox="1"/>
          <p:nvPr/>
        </p:nvSpPr>
        <p:spPr>
          <a:xfrm>
            <a:off x="6866386" y="3268815"/>
            <a:ext cx="1817370" cy="288541"/>
          </a:xfrm>
          <a:prstGeom prst="rect">
            <a:avLst/>
          </a:prstGeom>
          <a:noFill/>
        </p:spPr>
        <p:txBody>
          <a:bodyPr wrap="square" anchor="ctr">
            <a:spAutoFit/>
          </a:bodyPr>
          <a:lstStyle/>
          <a:p>
            <a:pPr algn="l"/>
            <a:r>
              <a:rPr sz="1275" b="1">
                <a:solidFill>
                  <a:srgbClr val="1F67B5"/>
                </a:solidFill>
                <a:latin typeface="Aptos"/>
              </a:rPr>
              <a:t>Besoins de base</a:t>
            </a:r>
          </a:p>
        </p:txBody>
      </p:sp>
      <p:sp>
        <p:nvSpPr>
          <p:cNvPr id="47" name="TextBox 46"/>
          <p:cNvSpPr txBox="1"/>
          <p:nvPr/>
        </p:nvSpPr>
        <p:spPr>
          <a:xfrm>
            <a:off x="6866386" y="3765433"/>
            <a:ext cx="1817370" cy="646331"/>
          </a:xfrm>
          <a:prstGeom prst="rect">
            <a:avLst/>
          </a:prstGeom>
          <a:noFill/>
        </p:spPr>
        <p:txBody>
          <a:bodyPr wrap="square" anchor="ctr">
            <a:spAutoFit/>
          </a:bodyPr>
          <a:lstStyle/>
          <a:p>
            <a:pPr algn="l"/>
            <a:r>
              <a:rPr sz="900">
                <a:solidFill>
                  <a:srgbClr val="12375C"/>
                </a:solidFill>
                <a:latin typeface="Aptos"/>
              </a:rPr>
              <a:t>Motivation par déficience
• Recherche de la sécurité
• Diminution de la tension
• Prévention de la maladie</a:t>
            </a:r>
          </a:p>
        </p:txBody>
      </p:sp>
      <p:pic>
        <p:nvPicPr>
          <p:cNvPr id="10" name="Image 9">
            <a:extLst>
              <a:ext uri="{FF2B5EF4-FFF2-40B4-BE49-F238E27FC236}">
                <a16:creationId xmlns:a16="http://schemas.microsoft.com/office/drawing/2014/main" id="{9AA9DA91-C5EA-D769-EB91-A11CB0F285AE}"/>
              </a:ext>
            </a:extLst>
          </p:cNvPr>
          <p:cNvPicPr>
            <a:picLocks noChangeAspect="1"/>
          </p:cNvPicPr>
          <p:nvPr/>
        </p:nvPicPr>
        <p:blipFill>
          <a:blip r:embed="rId2">
            <a:clrChange>
              <a:clrFrom>
                <a:srgbClr val="FEFEFE"/>
              </a:clrFrom>
              <a:clrTo>
                <a:srgbClr val="FEFEFE">
                  <a:alpha val="0"/>
                </a:srgbClr>
              </a:clrTo>
            </a:clrChange>
          </a:blip>
          <a:stretch>
            <a:fillRect/>
          </a:stretch>
        </p:blipFill>
        <p:spPr>
          <a:xfrm>
            <a:off x="1152144" y="1030926"/>
            <a:ext cx="2244094" cy="42703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p:cNvSpPr>
            <a:spLocks noGrp="1"/>
          </p:cNvSpPr>
          <p:nvPr>
            <p:ph idx="1"/>
          </p:nvPr>
        </p:nvSpPr>
        <p:spPr/>
        <p:txBody>
          <a:bodyPr anchor="ctr">
            <a:normAutofit/>
          </a:bodyPr>
          <a:lstStyle/>
          <a:p>
            <a:pPr marL="0" indent="0" algn="just">
              <a:buNone/>
            </a:pPr>
            <a:r>
              <a:rPr lang="fr-CA" sz="1500" dirty="0"/>
              <a:t>Depuis longtemps, Sabrina rêve d’habiter la Finlande. L’entreprise qui l’emploie connaît une croissance rapide et les administrateurs viennent d’annoncer l’ouverture d’une nouvelle division en Finlande. Un poste de gestion de projets est disponible là-bas et Sabrina estime qu’elle possède les compétences ainsi que l’expérience pour l’occuper. Ce poste est plus important que celui qu’elle occupe présentement et il comporte de plus grandes responsabilités. Il représente une belle opportunité pour elle de faire valoir ses connaissances et de développer sa carrière. Cependant, Sabrina hésite à postuler, car elle vient de s’acheter un joli condominium dans le Vieux-Montréal et sa famille habite sur la Rive-Sud. </a:t>
            </a:r>
          </a:p>
          <a:p>
            <a:pPr marL="0" indent="0">
              <a:buNone/>
            </a:pPr>
            <a:endParaRPr lang="fr-CA" sz="1500" dirty="0"/>
          </a:p>
          <a:p>
            <a:pPr marL="0" indent="0" algn="just">
              <a:buNone/>
            </a:pPr>
            <a:r>
              <a:rPr lang="fr-CA" sz="1500" b="1" u="sng" dirty="0"/>
              <a:t>Question: </a:t>
            </a:r>
            <a:r>
              <a:rPr lang="fr-CA" sz="1500" b="1" dirty="0"/>
              <a:t>à l’aide de la théorie des besoins de Maslow, expliquez ce qui motive Sabrina à poser sa candidature pour le poste de gestion de projet et déterminez ce qui la fait hésiter. Répondez à la question en 1/4 page maximum (autour de 200 mots devraient suffire). Assurez-vous de proposer une explication claire et concise, appuyée par vos lectures.</a:t>
            </a:r>
            <a:endParaRPr lang="fr-CA" sz="1500" dirty="0"/>
          </a:p>
        </p:txBody>
      </p:sp>
      <p:sp>
        <p:nvSpPr>
          <p:cNvPr id="2" name="Titre 1"/>
          <p:cNvSpPr>
            <a:spLocks noGrp="1"/>
          </p:cNvSpPr>
          <p:nvPr>
            <p:ph type="title"/>
          </p:nvPr>
        </p:nvSpPr>
        <p:spPr/>
        <p:txBody>
          <a:bodyPr/>
          <a:lstStyle/>
          <a:p>
            <a:r>
              <a:rPr lang="fr-CA" sz="1500" dirty="0"/>
              <a:t>Exercice</a:t>
            </a:r>
          </a:p>
        </p:txBody>
      </p:sp>
      <p:sp>
        <p:nvSpPr>
          <p:cNvPr id="3" name="Espace réservé du pied de page 2"/>
          <p:cNvSpPr>
            <a:spLocks noGrp="1"/>
          </p:cNvSpPr>
          <p:nvPr>
            <p:ph type="ftr" sz="quarter" idx="3"/>
          </p:nvPr>
        </p:nvSpPr>
        <p:spPr/>
        <p:txBody>
          <a:bodyPr/>
          <a:lstStyle/>
          <a:p>
            <a:r>
              <a:rPr lang="fr-CA"/>
              <a:t>© 2015.  Estelle M. Morin.  Tous droits réservés.</a:t>
            </a:r>
          </a:p>
        </p:txBody>
      </p:sp>
    </p:spTree>
    <p:extLst>
      <p:ext uri="{BB962C8B-B14F-4D97-AF65-F5344CB8AC3E}">
        <p14:creationId xmlns:p14="http://schemas.microsoft.com/office/powerpoint/2010/main" val="692100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85000" lnSpcReduction="20000"/>
          </a:bodyPr>
          <a:lstStyle/>
          <a:p>
            <a:pPr marL="0" indent="0">
              <a:buNone/>
            </a:pPr>
            <a:r>
              <a:rPr lang="fr-CA" b="1" dirty="0"/>
              <a:t>Voici la réponse d’un étudiant: </a:t>
            </a:r>
            <a:r>
              <a:rPr lang="fr-CA" dirty="0"/>
              <a:t>«Selon Maslow, nous devons combler nos besoins selon une échelle de besoin qui au départ sert à combler des besoins de sécurité dans l'ordre suivant : besoins physiques, besoins de sécurité, besoin d'amour et ensuite viennent les besoins de croissance dans l'ordre suivant : d'abord le besoin supérieur, le besoin d'estime, ensuite les </a:t>
            </a:r>
            <a:r>
              <a:rPr lang="fr-CA" dirty="0" err="1"/>
              <a:t>métabesoins</a:t>
            </a:r>
            <a:r>
              <a:rPr lang="fr-CA" dirty="0"/>
              <a:t>, besoin d'actualisation et besoin de transcendance. Les besoins doivent être comblés dans l'ordre de la pyramide. On peut seulement combler le besoin suivant si le précédent l'a été et ainsi de suite. Ce qui motive Sabrina dans son projet est de pouvoir combler ses besoin d'estime et de croissance, mais ce qui la fait hésiter ces sont ses besoins de sécurité, besoins de sécurité et d'amour.»</a:t>
            </a:r>
          </a:p>
          <a:p>
            <a:pPr marL="0" indent="0">
              <a:buNone/>
            </a:pPr>
            <a:endParaRPr lang="fr-CA" dirty="0"/>
          </a:p>
          <a:p>
            <a:pPr marL="0" indent="0">
              <a:buNone/>
            </a:pPr>
            <a:r>
              <a:rPr lang="fr-CA" sz="1575" u="sng" dirty="0"/>
              <a:t>Évaluez la qualité de cette réponse sur 10</a:t>
            </a:r>
          </a:p>
          <a:p>
            <a:pPr lvl="0"/>
            <a:r>
              <a:rPr lang="fr-CA" sz="1575" dirty="0"/>
              <a:t>Est-ce que l’étudiant démontre clairement qu’il comprend la théorie?</a:t>
            </a:r>
          </a:p>
          <a:p>
            <a:pPr lvl="0"/>
            <a:r>
              <a:rPr lang="fr-CA" sz="1575" dirty="0"/>
              <a:t>Est-ce que l’étudiant décrit les besoins qu’il sollicite pour répondre à la question?</a:t>
            </a:r>
          </a:p>
          <a:p>
            <a:pPr lvl="0"/>
            <a:r>
              <a:rPr lang="fr-CA" sz="1575" dirty="0"/>
              <a:t>Est-ce que l’étudiant fait référence à la dynamique de la théorie (i.e. différence entre les besoins de sécurité vs. les besoins de croissance) pour répondre à la question?</a:t>
            </a:r>
          </a:p>
          <a:p>
            <a:pPr lvl="0"/>
            <a:r>
              <a:rPr lang="fr-CA" sz="1575" dirty="0"/>
              <a:t>Est-ce que l’étudiant fait référence à des éléments du cas pour appuyer sa réponse?</a:t>
            </a:r>
          </a:p>
          <a:p>
            <a:pPr lvl="0"/>
            <a:r>
              <a:rPr lang="fr-CA" sz="1575" dirty="0"/>
              <a:t>Est-ce que les liens théorie/application proposés permettent de comprendre la situation? En d’autres termes, est-ce que l’argumentation de l’étudiant va au-delà d’une opinion personnelle?</a:t>
            </a:r>
            <a:endParaRPr lang="fr-CA" dirty="0"/>
          </a:p>
        </p:txBody>
      </p:sp>
      <p:sp>
        <p:nvSpPr>
          <p:cNvPr id="3" name="Titre 2"/>
          <p:cNvSpPr>
            <a:spLocks noGrp="1"/>
          </p:cNvSpPr>
          <p:nvPr>
            <p:ph type="title"/>
          </p:nvPr>
        </p:nvSpPr>
        <p:spPr/>
        <p:txBody>
          <a:bodyPr/>
          <a:lstStyle/>
          <a:p>
            <a:r>
              <a:rPr lang="fr-CA" sz="1500" dirty="0"/>
              <a:t>Exercice (suite)</a:t>
            </a:r>
          </a:p>
        </p:txBody>
      </p:sp>
      <p:sp>
        <p:nvSpPr>
          <p:cNvPr id="4" name="Espace réservé du pied de page 3"/>
          <p:cNvSpPr>
            <a:spLocks noGrp="1"/>
          </p:cNvSpPr>
          <p:nvPr>
            <p:ph type="ftr" sz="quarter" idx="3"/>
          </p:nvPr>
        </p:nvSpPr>
        <p:spPr/>
        <p:txBody>
          <a:bodyPr/>
          <a:lstStyle/>
          <a:p>
            <a:r>
              <a:rPr lang="fr-CA">
                <a:solidFill>
                  <a:srgbClr val="034259"/>
                </a:solidFill>
              </a:rPr>
              <a:t>© 2017. Albert. Tous droits réservés.</a:t>
            </a:r>
            <a:endParaRPr lang="fr-CA" dirty="0">
              <a:solidFill>
                <a:srgbClr val="034259"/>
              </a:solidFill>
            </a:endParaRPr>
          </a:p>
        </p:txBody>
      </p:sp>
    </p:spTree>
    <p:extLst>
      <p:ext uri="{BB962C8B-B14F-4D97-AF65-F5344CB8AC3E}">
        <p14:creationId xmlns:p14="http://schemas.microsoft.com/office/powerpoint/2010/main" val="1423371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7375-6E34-C64F-E88D-D503D6D50DA1}"/>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D2FD3973-792E-828A-EC01-9933AABB8182}"/>
              </a:ext>
            </a:extLst>
          </p:cNvPr>
          <p:cNvSpPr>
            <a:spLocks noGrp="1"/>
          </p:cNvSpPr>
          <p:nvPr>
            <p:ph idx="1"/>
          </p:nvPr>
        </p:nvSpPr>
        <p:spPr>
          <a:xfrm>
            <a:off x="518160" y="2068776"/>
            <a:ext cx="8199120" cy="2214900"/>
          </a:xfrm>
        </p:spPr>
        <p:style>
          <a:lnRef idx="1">
            <a:schemeClr val="accent1"/>
          </a:lnRef>
          <a:fillRef idx="3">
            <a:schemeClr val="accent1"/>
          </a:fillRef>
          <a:effectRef idx="2">
            <a:schemeClr val="accent1"/>
          </a:effectRef>
          <a:fontRef idx="minor">
            <a:schemeClr val="lt1"/>
          </a:fontRef>
        </p:style>
        <p:txBody>
          <a:bodyPr>
            <a:normAutofit fontScale="92500" lnSpcReduction="20000"/>
          </a:bodyPr>
          <a:lstStyle/>
          <a:p>
            <a:pPr marL="0" indent="0" algn="ctr">
              <a:buNone/>
            </a:pPr>
            <a:r>
              <a:rPr lang="fr-CA" b="1" dirty="0">
                <a:solidFill>
                  <a:schemeClr val="bg1"/>
                </a:solidFill>
              </a:rPr>
              <a:t>Ce que cela nous permet de comprendre</a:t>
            </a:r>
          </a:p>
          <a:p>
            <a:pPr marL="0" indent="0" algn="ctr">
              <a:buNone/>
            </a:pPr>
            <a:endParaRPr lang="fr-CA" dirty="0"/>
          </a:p>
          <a:p>
            <a:pPr marL="0" indent="0" algn="ctr">
              <a:buNone/>
            </a:pPr>
            <a:endParaRPr lang="fr-CA" dirty="0"/>
          </a:p>
          <a:p>
            <a:pPr marL="0" indent="0" algn="ctr">
              <a:buNone/>
            </a:pPr>
            <a:r>
              <a:rPr lang="fr-CA" i="1" dirty="0"/>
              <a:t>Maslow nous invite à voir la motivation comme une dynamique fluctuante : parfois notre énergie sert d’abord à nous protéger et à réduire une tension; lorsque nos assises sont suffisamment solides, elle peut davantage être investie dans la croissance et le développement de notre potentiel.</a:t>
            </a:r>
          </a:p>
          <a:p>
            <a:pPr marL="0" indent="0" algn="ctr">
              <a:buNone/>
            </a:pPr>
            <a:endParaRPr lang="fr-CA" b="1" i="1" dirty="0"/>
          </a:p>
        </p:txBody>
      </p:sp>
      <p:sp>
        <p:nvSpPr>
          <p:cNvPr id="4" name="Espace réservé du pied de page 3">
            <a:extLst>
              <a:ext uri="{FF2B5EF4-FFF2-40B4-BE49-F238E27FC236}">
                <a16:creationId xmlns:a16="http://schemas.microsoft.com/office/drawing/2014/main" id="{4F80F05A-F77D-E000-B243-AEF473D806A3}"/>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3258892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1B97C938-F55D-E969-A808-9381C70B14DF}"/>
              </a:ext>
            </a:extLst>
          </p:cNvPr>
          <p:cNvSpPr>
            <a:spLocks noGrp="1"/>
          </p:cNvSpPr>
          <p:nvPr>
            <p:ph type="title"/>
          </p:nvPr>
        </p:nvSpPr>
        <p:spPr>
          <a:xfrm>
            <a:off x="478175" y="293541"/>
            <a:ext cx="8186400" cy="622800"/>
          </a:xfrm>
        </p:spPr>
        <p:txBody>
          <a:bodyPr/>
          <a:lstStyle/>
          <a:p>
            <a:r>
              <a:rPr lang="fr-CA" dirty="0">
                <a:latin typeface="Georgia"/>
              </a:rPr>
              <a:t>L’équation du comportement</a:t>
            </a:r>
            <a:br>
              <a:rPr lang="fr-CA" dirty="0">
                <a:latin typeface="Georgia"/>
              </a:rPr>
            </a:br>
            <a:r>
              <a:rPr lang="fr-CA" dirty="0">
                <a:latin typeface="Georgia"/>
              </a:rPr>
              <a:t>Kurt Lewin</a:t>
            </a:r>
            <a:endParaRPr lang="fr-CA" dirty="0"/>
          </a:p>
        </p:txBody>
      </p:sp>
      <p:sp>
        <p:nvSpPr>
          <p:cNvPr id="4" name="Espace réservé du pied de page 3">
            <a:extLst>
              <a:ext uri="{FF2B5EF4-FFF2-40B4-BE49-F238E27FC236}">
                <a16:creationId xmlns:a16="http://schemas.microsoft.com/office/drawing/2014/main" id="{8A647AD9-139B-4AFB-B88D-A893847E64BC}"/>
              </a:ext>
            </a:extLst>
          </p:cNvPr>
          <p:cNvSpPr>
            <a:spLocks noGrp="1"/>
          </p:cNvSpPr>
          <p:nvPr>
            <p:ph type="ftr" sz="quarter" idx="3"/>
          </p:nvPr>
        </p:nvSpPr>
        <p:spPr>
          <a:xfrm>
            <a:off x="3123575" y="5303138"/>
            <a:ext cx="2895600" cy="185224"/>
          </a:xfrm>
        </p:spPr>
        <p:txBody>
          <a:bodyPr/>
          <a:lstStyle/>
          <a:p>
            <a:r>
              <a:rPr lang="fr-CA">
                <a:solidFill>
                  <a:srgbClr val="003C71"/>
                </a:solidFill>
              </a:rPr>
              <a:t>@2025. Marie-Christine ALBERT. Tous droits réservés.</a:t>
            </a:r>
            <a:endParaRPr lang="fr-CA" dirty="0">
              <a:solidFill>
                <a:srgbClr val="003C71"/>
              </a:solidFill>
            </a:endParaRPr>
          </a:p>
        </p:txBody>
      </p:sp>
      <p:sp>
        <p:nvSpPr>
          <p:cNvPr id="9" name="Rectangle 8">
            <a:extLst>
              <a:ext uri="{FF2B5EF4-FFF2-40B4-BE49-F238E27FC236}">
                <a16:creationId xmlns:a16="http://schemas.microsoft.com/office/drawing/2014/main" id="{8B81348E-FCE7-1C3F-A562-AF47D854E81F}"/>
              </a:ext>
            </a:extLst>
          </p:cNvPr>
          <p:cNvSpPr/>
          <p:nvPr/>
        </p:nvSpPr>
        <p:spPr>
          <a:xfrm>
            <a:off x="477550" y="1077737"/>
            <a:ext cx="8186400" cy="1097127"/>
          </a:xfrm>
          <a:prstGeom prst="rect">
            <a:avLst/>
          </a:prstGeom>
          <a:solidFill>
            <a:srgbClr val="F8F9FA"/>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4000" b="1">
                <a:solidFill>
                  <a:srgbClr val="2B6CB0"/>
                </a:solidFill>
                <a:latin typeface="Georgia"/>
              </a:defRPr>
            </a:pPr>
            <a:r>
              <a:rPr sz="3200" dirty="0">
                <a:solidFill>
                  <a:schemeClr val="tx1"/>
                </a:solidFill>
              </a:rPr>
              <a:t>B = f(P, E)</a:t>
            </a:r>
          </a:p>
          <a:p>
            <a:pPr algn="ctr">
              <a:defRPr sz="1600" i="1">
                <a:solidFill>
                  <a:srgbClr val="212529"/>
                </a:solidFill>
                <a:latin typeface="Arial"/>
              </a:defRPr>
            </a:pPr>
            <a:r>
              <a:rPr dirty="0"/>
              <a:t>« Le </a:t>
            </a:r>
            <a:r>
              <a:rPr dirty="0" err="1"/>
              <a:t>comportement</a:t>
            </a:r>
            <a:r>
              <a:rPr dirty="0"/>
              <a:t> (B) est </a:t>
            </a:r>
            <a:r>
              <a:rPr dirty="0" err="1"/>
              <a:t>fonction</a:t>
            </a:r>
            <a:r>
              <a:rPr dirty="0"/>
              <a:t> de </a:t>
            </a:r>
            <a:r>
              <a:rPr dirty="0" err="1"/>
              <a:t>l'interaction</a:t>
            </a:r>
            <a:r>
              <a:rPr dirty="0"/>
              <a:t> </a:t>
            </a:r>
            <a:r>
              <a:rPr dirty="0" err="1"/>
              <a:t>constante</a:t>
            </a:r>
            <a:r>
              <a:rPr dirty="0"/>
              <a:t> entre la Personne (P) et son Environnement (E) »</a:t>
            </a:r>
          </a:p>
        </p:txBody>
      </p:sp>
      <p:sp>
        <p:nvSpPr>
          <p:cNvPr id="10" name="Rounded Rectangle 3">
            <a:extLst>
              <a:ext uri="{FF2B5EF4-FFF2-40B4-BE49-F238E27FC236}">
                <a16:creationId xmlns:a16="http://schemas.microsoft.com/office/drawing/2014/main" id="{FAF86B61-B400-FF36-8602-0A7657EAA7E7}"/>
              </a:ext>
            </a:extLst>
          </p:cNvPr>
          <p:cNvSpPr/>
          <p:nvPr/>
        </p:nvSpPr>
        <p:spPr>
          <a:xfrm>
            <a:off x="253375" y="2328640"/>
            <a:ext cx="2895600" cy="2137144"/>
          </a:xfrm>
          <a:prstGeom prst="round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600"/>
              </a:spcAft>
              <a:defRPr sz="1600" b="1">
                <a:solidFill>
                  <a:srgbClr val="2B6CB0"/>
                </a:solidFill>
                <a:latin typeface="Georgia"/>
              </a:defRPr>
            </a:pPr>
            <a:r>
              <a:rPr sz="1400" dirty="0"/>
              <a:t>B (Behavior / </a:t>
            </a:r>
            <a:r>
              <a:rPr sz="1400" dirty="0" err="1"/>
              <a:t>Comportement</a:t>
            </a:r>
            <a:r>
              <a:rPr sz="1400" dirty="0"/>
              <a:t>)</a:t>
            </a:r>
          </a:p>
          <a:p>
            <a:pPr>
              <a:spcAft>
                <a:spcPts val="1000"/>
              </a:spcAft>
              <a:defRPr sz="1300" b="1">
                <a:solidFill>
                  <a:srgbClr val="212529"/>
                </a:solidFill>
                <a:latin typeface="Arial"/>
              </a:defRPr>
            </a:pPr>
            <a:r>
              <a:rPr sz="1200" dirty="0"/>
              <a:t>Ce </a:t>
            </a:r>
            <a:r>
              <a:rPr sz="1200" dirty="0" err="1"/>
              <a:t>qu'une</a:t>
            </a:r>
            <a:r>
              <a:rPr sz="1200" dirty="0"/>
              <a:t> </a:t>
            </a:r>
            <a:r>
              <a:rPr sz="1200" dirty="0" err="1"/>
              <a:t>personne</a:t>
            </a:r>
            <a:r>
              <a:rPr sz="1200" dirty="0"/>
              <a:t> fait à un moment </a:t>
            </a:r>
            <a:r>
              <a:rPr sz="1200" dirty="0" err="1"/>
              <a:t>donné</a:t>
            </a:r>
            <a:endParaRPr sz="1200" dirty="0"/>
          </a:p>
          <a:p>
            <a:pPr>
              <a:defRPr sz="1200">
                <a:solidFill>
                  <a:srgbClr val="212529"/>
                </a:solidFill>
                <a:latin typeface="Arial"/>
              </a:defRPr>
            </a:pPr>
            <a:r>
              <a:rPr sz="1100" dirty="0"/>
              <a:t>• </a:t>
            </a:r>
            <a:r>
              <a:rPr sz="1100" dirty="0" err="1"/>
              <a:t>Comprend</a:t>
            </a:r>
            <a:r>
              <a:rPr sz="1100" dirty="0"/>
              <a:t> : </a:t>
            </a:r>
            <a:r>
              <a:rPr sz="1100" dirty="0" err="1"/>
              <a:t>agir</a:t>
            </a:r>
            <a:r>
              <a:rPr sz="1100" dirty="0"/>
              <a:t>, </a:t>
            </a:r>
            <a:r>
              <a:rPr sz="1100" dirty="0" err="1"/>
              <a:t>parler</a:t>
            </a:r>
            <a:r>
              <a:rPr sz="1100" dirty="0"/>
              <a:t>, </a:t>
            </a:r>
            <a:r>
              <a:rPr sz="1100" dirty="0" err="1"/>
              <a:t>penser</a:t>
            </a:r>
            <a:r>
              <a:rPr sz="1100" dirty="0"/>
              <a:t>, </a:t>
            </a:r>
            <a:r>
              <a:rPr sz="1100" dirty="0" err="1"/>
              <a:t>rêver</a:t>
            </a:r>
            <a:r>
              <a:rPr sz="1100" dirty="0"/>
              <a:t>, et </a:t>
            </a:r>
            <a:r>
              <a:rPr sz="1100" dirty="0" err="1"/>
              <a:t>réagir</a:t>
            </a:r>
            <a:r>
              <a:rPr sz="1100" dirty="0"/>
              <a:t> </a:t>
            </a:r>
            <a:r>
              <a:rPr sz="1100" dirty="0" err="1"/>
              <a:t>émotionnellement</a:t>
            </a:r>
            <a:r>
              <a:rPr sz="1100" dirty="0"/>
              <a:t>.</a:t>
            </a:r>
            <a:br>
              <a:rPr sz="1100" dirty="0"/>
            </a:br>
            <a:r>
              <a:rPr sz="1100" dirty="0"/>
              <a:t>• Ne se </a:t>
            </a:r>
            <a:r>
              <a:rPr sz="1100" dirty="0" err="1"/>
              <a:t>limite</a:t>
            </a:r>
            <a:r>
              <a:rPr sz="1100" dirty="0"/>
              <a:t> pas aux actions physiques </a:t>
            </a:r>
            <a:r>
              <a:rPr sz="1100" dirty="0" err="1"/>
              <a:t>mais</a:t>
            </a:r>
            <a:r>
              <a:rPr sz="1100" dirty="0"/>
              <a:t> à </a:t>
            </a:r>
            <a:r>
              <a:rPr sz="1100" dirty="0" err="1"/>
              <a:t>toutes</a:t>
            </a:r>
            <a:r>
              <a:rPr sz="1100" dirty="0"/>
              <a:t> les </a:t>
            </a:r>
            <a:r>
              <a:rPr sz="1100" dirty="0" err="1"/>
              <a:t>réponses</a:t>
            </a:r>
            <a:r>
              <a:rPr sz="1100" dirty="0"/>
              <a:t> </a:t>
            </a:r>
            <a:r>
              <a:rPr sz="1100" dirty="0" err="1"/>
              <a:t>psychologiques</a:t>
            </a:r>
            <a:r>
              <a:rPr sz="1100" dirty="0"/>
              <a:t> et </a:t>
            </a:r>
            <a:r>
              <a:rPr sz="1100" dirty="0" err="1"/>
              <a:t>physiologiques</a:t>
            </a:r>
            <a:r>
              <a:rPr sz="1100" dirty="0"/>
              <a:t>.</a:t>
            </a:r>
          </a:p>
        </p:txBody>
      </p:sp>
      <p:sp>
        <p:nvSpPr>
          <p:cNvPr id="11" name="Rounded Rectangle 4">
            <a:extLst>
              <a:ext uri="{FF2B5EF4-FFF2-40B4-BE49-F238E27FC236}">
                <a16:creationId xmlns:a16="http://schemas.microsoft.com/office/drawing/2014/main" id="{34AC60F5-2E25-9A1A-C687-5FEC1148CEC8}"/>
              </a:ext>
            </a:extLst>
          </p:cNvPr>
          <p:cNvSpPr/>
          <p:nvPr/>
        </p:nvSpPr>
        <p:spPr>
          <a:xfrm>
            <a:off x="3214337" y="2381046"/>
            <a:ext cx="2973659" cy="2015587"/>
          </a:xfrm>
          <a:prstGeom prst="round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600"/>
              </a:spcAft>
              <a:defRPr sz="1600" b="1">
                <a:solidFill>
                  <a:srgbClr val="2B6CB0"/>
                </a:solidFill>
                <a:latin typeface="Georgia"/>
              </a:defRPr>
            </a:pPr>
            <a:r>
              <a:rPr sz="1400" dirty="0"/>
              <a:t>P (Personne / État interne)</a:t>
            </a:r>
          </a:p>
          <a:p>
            <a:pPr>
              <a:spcAft>
                <a:spcPts val="1000"/>
              </a:spcAft>
              <a:defRPr sz="1300" b="1">
                <a:solidFill>
                  <a:srgbClr val="212529"/>
                </a:solidFill>
                <a:latin typeface="Arial"/>
              </a:defRPr>
            </a:pPr>
            <a:r>
              <a:rPr sz="1200" dirty="0"/>
              <a:t>Les </a:t>
            </a:r>
            <a:r>
              <a:rPr sz="1200" dirty="0" err="1"/>
              <a:t>caractéristiques</a:t>
            </a:r>
            <a:r>
              <a:rPr sz="1200" dirty="0"/>
              <a:t> internes de </a:t>
            </a:r>
            <a:r>
              <a:rPr sz="1200" dirty="0" err="1"/>
              <a:t>l'individu</a:t>
            </a:r>
            <a:endParaRPr sz="1200" dirty="0"/>
          </a:p>
          <a:p>
            <a:pPr>
              <a:defRPr sz="1200">
                <a:solidFill>
                  <a:srgbClr val="212529"/>
                </a:solidFill>
                <a:latin typeface="Arial"/>
              </a:defRPr>
            </a:pPr>
            <a:r>
              <a:rPr sz="1100" dirty="0"/>
              <a:t>• </a:t>
            </a:r>
            <a:r>
              <a:rPr sz="1100" dirty="0" err="1"/>
              <a:t>Comprend</a:t>
            </a:r>
            <a:r>
              <a:rPr sz="1100" dirty="0"/>
              <a:t> : les </a:t>
            </a:r>
            <a:r>
              <a:rPr sz="1100" dirty="0" err="1"/>
              <a:t>besoins</a:t>
            </a:r>
            <a:r>
              <a:rPr sz="1100" dirty="0"/>
              <a:t> </a:t>
            </a:r>
            <a:r>
              <a:rPr sz="1100" dirty="0" err="1"/>
              <a:t>profonds</a:t>
            </a:r>
            <a:r>
              <a:rPr sz="1100" dirty="0"/>
              <a:t>, les </a:t>
            </a:r>
            <a:r>
              <a:rPr sz="1100" dirty="0" err="1"/>
              <a:t>valeurs</a:t>
            </a:r>
            <a:r>
              <a:rPr sz="1100" dirty="0"/>
              <a:t>, les </a:t>
            </a:r>
            <a:r>
              <a:rPr sz="1100" dirty="0" err="1"/>
              <a:t>croyances</a:t>
            </a:r>
            <a:r>
              <a:rPr sz="1100" dirty="0"/>
              <a:t>.</a:t>
            </a:r>
            <a:br>
              <a:rPr sz="1100" dirty="0"/>
            </a:br>
            <a:r>
              <a:rPr sz="1100" dirty="0"/>
              <a:t>• </a:t>
            </a:r>
            <a:r>
              <a:rPr sz="1100" dirty="0" err="1"/>
              <a:t>Intègre</a:t>
            </a:r>
            <a:r>
              <a:rPr sz="1100" dirty="0"/>
              <a:t> : le </a:t>
            </a:r>
            <a:r>
              <a:rPr sz="1100" dirty="0" err="1"/>
              <a:t>niveau</a:t>
            </a:r>
            <a:r>
              <a:rPr sz="1100" dirty="0"/>
              <a:t> </a:t>
            </a:r>
            <a:r>
              <a:rPr sz="1100" dirty="0" err="1"/>
              <a:t>d'énergie</a:t>
            </a:r>
            <a:r>
              <a:rPr sz="1100" dirty="0"/>
              <a:t>, les </a:t>
            </a:r>
            <a:r>
              <a:rPr sz="1100" dirty="0" err="1"/>
              <a:t>compétences</a:t>
            </a:r>
            <a:r>
              <a:rPr sz="1100" dirty="0"/>
              <a:t> </a:t>
            </a:r>
            <a:r>
              <a:rPr sz="1100" dirty="0" err="1"/>
              <a:t>acquises</a:t>
            </a:r>
            <a:r>
              <a:rPr sz="1100" dirty="0"/>
              <a:t>, et les dispositions </a:t>
            </a:r>
            <a:r>
              <a:rPr sz="1100" dirty="0" err="1"/>
              <a:t>émotionnelles</a:t>
            </a:r>
            <a:r>
              <a:rPr sz="1100" dirty="0"/>
              <a:t>.</a:t>
            </a:r>
          </a:p>
        </p:txBody>
      </p:sp>
      <p:sp>
        <p:nvSpPr>
          <p:cNvPr id="12" name="Rounded Rectangle 5">
            <a:extLst>
              <a:ext uri="{FF2B5EF4-FFF2-40B4-BE49-F238E27FC236}">
                <a16:creationId xmlns:a16="http://schemas.microsoft.com/office/drawing/2014/main" id="{ACF4F65A-6AD3-87F2-0BCC-8DA6DAE8125E}"/>
              </a:ext>
            </a:extLst>
          </p:cNvPr>
          <p:cNvSpPr/>
          <p:nvPr/>
        </p:nvSpPr>
        <p:spPr>
          <a:xfrm>
            <a:off x="6177836" y="2389418"/>
            <a:ext cx="2835703" cy="2015587"/>
          </a:xfrm>
          <a:prstGeom prst="round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600"/>
              </a:spcAft>
              <a:defRPr sz="1600" b="1">
                <a:solidFill>
                  <a:srgbClr val="2B6CB0"/>
                </a:solidFill>
                <a:latin typeface="Georgia"/>
              </a:defRPr>
            </a:pPr>
            <a:r>
              <a:rPr sz="1400"/>
              <a:t>E (Environnement psychologique)</a:t>
            </a:r>
          </a:p>
          <a:p>
            <a:pPr>
              <a:spcAft>
                <a:spcPts val="1000"/>
              </a:spcAft>
              <a:defRPr sz="1300" b="1">
                <a:solidFill>
                  <a:srgbClr val="212529"/>
                </a:solidFill>
                <a:latin typeface="Arial"/>
              </a:defRPr>
            </a:pPr>
            <a:r>
              <a:rPr sz="1200"/>
              <a:t>La situation telle que la personne la perçoit</a:t>
            </a:r>
          </a:p>
          <a:p>
            <a:pPr>
              <a:defRPr sz="1200">
                <a:solidFill>
                  <a:srgbClr val="212529"/>
                </a:solidFill>
                <a:latin typeface="Arial"/>
              </a:defRPr>
            </a:pPr>
            <a:r>
              <a:rPr sz="1100"/>
              <a:t>• Aspects physiques : lieu, objets, contraintes matérielles.</a:t>
            </a:r>
            <a:br>
              <a:rPr sz="1100"/>
            </a:br>
            <a:r>
              <a:rPr sz="1100"/>
              <a:t>• Aspects sociaux : présence d'autrui, normes de groupe, climat relationnel et organisationnel.</a:t>
            </a:r>
          </a:p>
        </p:txBody>
      </p:sp>
      <p:sp>
        <p:nvSpPr>
          <p:cNvPr id="2" name="Titre 4">
            <a:extLst>
              <a:ext uri="{FF2B5EF4-FFF2-40B4-BE49-F238E27FC236}">
                <a16:creationId xmlns:a16="http://schemas.microsoft.com/office/drawing/2014/main" id="{CD04DCF5-90B3-2302-0C87-EA46A6934598}"/>
              </a:ext>
            </a:extLst>
          </p:cNvPr>
          <p:cNvSpPr txBox="1">
            <a:spLocks/>
          </p:cNvSpPr>
          <p:nvPr/>
        </p:nvSpPr>
        <p:spPr>
          <a:xfrm>
            <a:off x="607966" y="4611187"/>
            <a:ext cx="8186400" cy="622800"/>
          </a:xfrm>
          <a:prstGeom prst="rect">
            <a:avLst/>
          </a:prstGeom>
          <a:solidFill>
            <a:schemeClr val="accent1"/>
          </a:solidFill>
        </p:spPr>
        <p:txBody>
          <a:bodyPr vert="horz" lIns="91440" tIns="45720" rIns="91440" bIns="45720" rtlCol="0" anchor="ctr">
            <a:noAutofit/>
          </a:bodyPr>
          <a:lstStyle>
            <a:lvl1pPr algn="l" defTabSz="761970" rtl="0" eaLnBrk="1" latinLnBrk="0" hangingPunct="1">
              <a:spcBef>
                <a:spcPct val="0"/>
              </a:spcBef>
              <a:buNone/>
              <a:defRPr sz="2000" b="1" kern="1200" baseline="0">
                <a:solidFill>
                  <a:schemeClr val="bg1"/>
                </a:solidFill>
                <a:latin typeface="+mj-lt"/>
                <a:ea typeface="+mj-ea"/>
                <a:cs typeface="+mj-cs"/>
              </a:defRPr>
            </a:lvl1pPr>
          </a:lstStyle>
          <a:p>
            <a:pPr algn="ctr"/>
            <a:r>
              <a:rPr lang="fr-CA" dirty="0"/>
              <a:t>Au travail, qu’est-ce qui peut rendre l’accès aux besoins supérieurs «difficile»?</a:t>
            </a:r>
          </a:p>
        </p:txBody>
      </p:sp>
    </p:spTree>
    <p:extLst>
      <p:ext uri="{BB962C8B-B14F-4D97-AF65-F5344CB8AC3E}">
        <p14:creationId xmlns:p14="http://schemas.microsoft.com/office/powerpoint/2010/main" val="4291739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7190" y="385859"/>
            <a:ext cx="8366760" cy="334707"/>
          </a:xfrm>
          <a:prstGeom prst="rect">
            <a:avLst/>
          </a:prstGeom>
          <a:noFill/>
        </p:spPr>
        <p:txBody>
          <a:bodyPr wrap="square" anchor="ctr">
            <a:spAutoFit/>
          </a:bodyPr>
          <a:lstStyle/>
          <a:p>
            <a:pPr algn="l"/>
            <a:r>
              <a:rPr sz="1575" b="1">
                <a:solidFill>
                  <a:srgbClr val="193D63"/>
                </a:solidFill>
                <a:latin typeface="Aptos"/>
              </a:rPr>
              <a:t>Fiske — Les besoins sociaux au service de l’adaptation</a:t>
            </a:r>
          </a:p>
        </p:txBody>
      </p:sp>
      <p:sp>
        <p:nvSpPr>
          <p:cNvPr id="3" name="TextBox 2"/>
          <p:cNvSpPr txBox="1"/>
          <p:nvPr/>
        </p:nvSpPr>
        <p:spPr>
          <a:xfrm>
            <a:off x="493776" y="723591"/>
            <a:ext cx="8161020" cy="221599"/>
          </a:xfrm>
          <a:prstGeom prst="rect">
            <a:avLst/>
          </a:prstGeom>
          <a:noFill/>
        </p:spPr>
        <p:txBody>
          <a:bodyPr wrap="square" anchor="ctr">
            <a:spAutoFit/>
          </a:bodyPr>
          <a:lstStyle/>
          <a:p>
            <a:pPr algn="ctr"/>
            <a:r>
              <a:rPr sz="840">
                <a:solidFill>
                  <a:srgbClr val="5C636C"/>
                </a:solidFill>
                <a:latin typeface="Aptos"/>
              </a:rPr>
              <a:t>Une perspective sociale de la motivation : nos interactions répondent à des besoins qui soutiennent l’intégration de la personne et le fonctionnement du groupe.</a:t>
            </a:r>
          </a:p>
        </p:txBody>
      </p:sp>
      <p:pic>
        <p:nvPicPr>
          <p:cNvPr id="4" name="Picture 3" descr="fiske_schema_crop.png"/>
          <p:cNvPicPr>
            <a:picLocks noChangeAspect="1"/>
          </p:cNvPicPr>
          <p:nvPr/>
        </p:nvPicPr>
        <p:blipFill>
          <a:blip r:embed="rId2"/>
          <a:stretch>
            <a:fillRect/>
          </a:stretch>
        </p:blipFill>
        <p:spPr>
          <a:xfrm>
            <a:off x="329184" y="1108710"/>
            <a:ext cx="5177790" cy="3429000"/>
          </a:xfrm>
          <a:prstGeom prst="rect">
            <a:avLst/>
          </a:prstGeom>
        </p:spPr>
      </p:pic>
      <p:sp>
        <p:nvSpPr>
          <p:cNvPr id="5" name="Rounded Rectangle 4"/>
          <p:cNvSpPr/>
          <p:nvPr/>
        </p:nvSpPr>
        <p:spPr>
          <a:xfrm>
            <a:off x="5678423" y="1094994"/>
            <a:ext cx="3120390" cy="809244"/>
          </a:xfrm>
          <a:prstGeom prst="roundRect">
            <a:avLst/>
          </a:prstGeom>
          <a:solidFill>
            <a:srgbClr val="EFF6FC"/>
          </a:solidFill>
          <a:ln w="19050">
            <a:solidFill>
              <a:srgbClr val="1A6FC2"/>
            </a:solidFill>
          </a:ln>
        </p:spPr>
        <p:style>
          <a:lnRef idx="1">
            <a:schemeClr val="accent1"/>
          </a:lnRef>
          <a:fillRef idx="3">
            <a:schemeClr val="accent1"/>
          </a:fillRef>
          <a:effectRef idx="2">
            <a:schemeClr val="accent1"/>
          </a:effectRef>
          <a:fontRef idx="minor">
            <a:schemeClr val="lt1"/>
          </a:fontRef>
        </p:style>
        <p:txBody>
          <a:bodyPr wrap="square" lIns="96012" rIns="96012" rtlCol="0" anchor="ctr"/>
          <a:lstStyle/>
          <a:p>
            <a:pPr algn="ctr"/>
            <a:r>
              <a:rPr sz="915" b="1">
                <a:solidFill>
                  <a:srgbClr val="1A6FC2"/>
                </a:solidFill>
                <a:latin typeface="Aptos"/>
              </a:rPr>
              <a:t>APPARTENIR : LA MOTIVATION CENTRALE</a:t>
            </a:r>
          </a:p>
          <a:p>
            <a:pPr>
              <a:spcBef>
                <a:spcPts val="225"/>
              </a:spcBef>
            </a:pPr>
            <a:r>
              <a:rPr sz="698">
                <a:solidFill>
                  <a:srgbClr val="26313F"/>
                </a:solidFill>
                <a:latin typeface="Aptos"/>
              </a:rPr>
              <a:t>Le besoin d’appartenance est au cœur des motivations sociales. Il pousse la personne à s’intégrer et à être acceptée, tout en contribuant à la cohésion et à la pérennité du groupe.</a:t>
            </a:r>
          </a:p>
        </p:txBody>
      </p:sp>
      <p:sp>
        <p:nvSpPr>
          <p:cNvPr id="6" name="Rounded Rectangle 5"/>
          <p:cNvSpPr/>
          <p:nvPr/>
        </p:nvSpPr>
        <p:spPr>
          <a:xfrm>
            <a:off x="5678423" y="2055114"/>
            <a:ext cx="3120390" cy="809244"/>
          </a:xfrm>
          <a:prstGeom prst="roundRect">
            <a:avLst/>
          </a:prstGeom>
          <a:solidFill>
            <a:srgbClr val="EFF6FC"/>
          </a:solidFill>
          <a:ln w="19050">
            <a:solidFill>
              <a:srgbClr val="1A6FC2"/>
            </a:solidFill>
          </a:ln>
        </p:spPr>
        <p:style>
          <a:lnRef idx="1">
            <a:schemeClr val="accent1"/>
          </a:lnRef>
          <a:fillRef idx="3">
            <a:schemeClr val="accent1"/>
          </a:fillRef>
          <a:effectRef idx="2">
            <a:schemeClr val="accent1"/>
          </a:effectRef>
          <a:fontRef idx="minor">
            <a:schemeClr val="lt1"/>
          </a:fontRef>
        </p:style>
        <p:txBody>
          <a:bodyPr wrap="square" lIns="96012" rIns="96012" rtlCol="0" anchor="ctr"/>
          <a:lstStyle/>
          <a:p>
            <a:pPr algn="ctr"/>
            <a:r>
              <a:rPr sz="915" b="1" dirty="0">
                <a:solidFill>
                  <a:srgbClr val="1A6FC2"/>
                </a:solidFill>
                <a:latin typeface="Aptos"/>
              </a:rPr>
              <a:t>S’ADAPTER ET S’ÉPANOUIR</a:t>
            </a:r>
          </a:p>
          <a:p>
            <a:pPr>
              <a:spcBef>
                <a:spcPts val="225"/>
              </a:spcBef>
            </a:pPr>
            <a:r>
              <a:rPr sz="698" dirty="0">
                <a:solidFill>
                  <a:srgbClr val="26313F"/>
                </a:solidFill>
                <a:latin typeface="Aptos"/>
              </a:rPr>
              <a:t>La satisfaction des motivations </a:t>
            </a:r>
            <a:r>
              <a:rPr sz="698" dirty="0" err="1">
                <a:solidFill>
                  <a:srgbClr val="26313F"/>
                </a:solidFill>
                <a:latin typeface="Aptos"/>
              </a:rPr>
              <a:t>sociales</a:t>
            </a:r>
            <a:r>
              <a:rPr sz="698" dirty="0">
                <a:solidFill>
                  <a:srgbClr val="26313F"/>
                </a:solidFill>
                <a:latin typeface="Aptos"/>
              </a:rPr>
              <a:t> </a:t>
            </a:r>
            <a:r>
              <a:rPr sz="698" dirty="0" err="1">
                <a:solidFill>
                  <a:srgbClr val="26313F"/>
                </a:solidFill>
                <a:latin typeface="Aptos"/>
              </a:rPr>
              <a:t>augmente</a:t>
            </a:r>
            <a:r>
              <a:rPr sz="698" dirty="0">
                <a:solidFill>
                  <a:srgbClr val="26313F"/>
                </a:solidFill>
                <a:latin typeface="Aptos"/>
              </a:rPr>
              <a:t> les </a:t>
            </a:r>
            <a:r>
              <a:rPr sz="698" dirty="0" err="1">
                <a:solidFill>
                  <a:srgbClr val="26313F"/>
                </a:solidFill>
                <a:latin typeface="Aptos"/>
              </a:rPr>
              <a:t>possibilités</a:t>
            </a:r>
            <a:r>
              <a:rPr sz="698" dirty="0">
                <a:solidFill>
                  <a:srgbClr val="26313F"/>
                </a:solidFill>
                <a:latin typeface="Aptos"/>
              </a:rPr>
              <a:t> de </a:t>
            </a:r>
            <a:r>
              <a:rPr sz="698" dirty="0" err="1">
                <a:solidFill>
                  <a:srgbClr val="26313F"/>
                </a:solidFill>
                <a:latin typeface="Aptos"/>
              </a:rPr>
              <a:t>s’adapter</a:t>
            </a:r>
            <a:r>
              <a:rPr sz="698" dirty="0">
                <a:solidFill>
                  <a:srgbClr val="26313F"/>
                </a:solidFill>
                <a:latin typeface="Aptos"/>
              </a:rPr>
              <a:t> aux exigences de la vie </a:t>
            </a:r>
            <a:r>
              <a:rPr sz="698" dirty="0" err="1">
                <a:solidFill>
                  <a:srgbClr val="26313F"/>
                </a:solidFill>
                <a:latin typeface="Aptos"/>
              </a:rPr>
              <a:t>en</a:t>
            </a:r>
            <a:r>
              <a:rPr sz="698" dirty="0">
                <a:solidFill>
                  <a:srgbClr val="26313F"/>
                </a:solidFill>
                <a:latin typeface="Aptos"/>
              </a:rPr>
              <a:t> société et de </a:t>
            </a:r>
            <a:r>
              <a:rPr sz="698" dirty="0" err="1">
                <a:solidFill>
                  <a:srgbClr val="26313F"/>
                </a:solidFill>
                <a:latin typeface="Aptos"/>
              </a:rPr>
              <a:t>s’y</a:t>
            </a:r>
            <a:r>
              <a:rPr sz="698" dirty="0">
                <a:solidFill>
                  <a:srgbClr val="26313F"/>
                </a:solidFill>
                <a:latin typeface="Aptos"/>
              </a:rPr>
              <a:t> </a:t>
            </a:r>
            <a:r>
              <a:rPr sz="698" dirty="0" err="1">
                <a:solidFill>
                  <a:srgbClr val="26313F"/>
                </a:solidFill>
                <a:latin typeface="Aptos"/>
              </a:rPr>
              <a:t>épanouir</a:t>
            </a:r>
            <a:r>
              <a:rPr sz="698" dirty="0">
                <a:solidFill>
                  <a:srgbClr val="26313F"/>
                </a:solidFill>
                <a:latin typeface="Aptos"/>
              </a:rPr>
              <a:t>. Les liens </a:t>
            </a:r>
            <a:r>
              <a:rPr sz="698" dirty="0" err="1">
                <a:solidFill>
                  <a:srgbClr val="26313F"/>
                </a:solidFill>
                <a:latin typeface="Aptos"/>
              </a:rPr>
              <a:t>sociaux</a:t>
            </a:r>
            <a:r>
              <a:rPr sz="698" dirty="0">
                <a:solidFill>
                  <a:srgbClr val="26313F"/>
                </a:solidFill>
                <a:latin typeface="Aptos"/>
              </a:rPr>
              <a:t> </a:t>
            </a:r>
            <a:r>
              <a:rPr sz="698" dirty="0" err="1">
                <a:solidFill>
                  <a:srgbClr val="26313F"/>
                </a:solidFill>
                <a:latin typeface="Aptos"/>
              </a:rPr>
              <a:t>participent</a:t>
            </a:r>
            <a:r>
              <a:rPr sz="698" dirty="0">
                <a:solidFill>
                  <a:srgbClr val="26313F"/>
                </a:solidFill>
                <a:latin typeface="Aptos"/>
              </a:rPr>
              <a:t> </a:t>
            </a:r>
            <a:r>
              <a:rPr sz="698" dirty="0" err="1">
                <a:solidFill>
                  <a:srgbClr val="26313F"/>
                </a:solidFill>
                <a:latin typeface="Aptos"/>
              </a:rPr>
              <a:t>ainsi</a:t>
            </a:r>
            <a:r>
              <a:rPr sz="698" dirty="0">
                <a:solidFill>
                  <a:srgbClr val="26313F"/>
                </a:solidFill>
                <a:latin typeface="Aptos"/>
              </a:rPr>
              <a:t> à la </a:t>
            </a:r>
            <a:r>
              <a:rPr sz="698" dirty="0" err="1">
                <a:solidFill>
                  <a:srgbClr val="26313F"/>
                </a:solidFill>
                <a:latin typeface="Aptos"/>
              </a:rPr>
              <a:t>survie</a:t>
            </a:r>
            <a:r>
              <a:rPr sz="698" dirty="0">
                <a:solidFill>
                  <a:srgbClr val="26313F"/>
                </a:solidFill>
                <a:latin typeface="Aptos"/>
              </a:rPr>
              <a:t>, au bien-</a:t>
            </a:r>
            <a:r>
              <a:rPr sz="698" dirty="0" err="1">
                <a:solidFill>
                  <a:srgbClr val="26313F"/>
                </a:solidFill>
                <a:latin typeface="Aptos"/>
              </a:rPr>
              <a:t>être</a:t>
            </a:r>
            <a:r>
              <a:rPr sz="698" dirty="0">
                <a:solidFill>
                  <a:srgbClr val="26313F"/>
                </a:solidFill>
                <a:latin typeface="Aptos"/>
              </a:rPr>
              <a:t> et à la </a:t>
            </a:r>
            <a:r>
              <a:rPr sz="698" dirty="0" err="1">
                <a:solidFill>
                  <a:srgbClr val="26313F"/>
                </a:solidFill>
                <a:latin typeface="Aptos"/>
              </a:rPr>
              <a:t>qualité</a:t>
            </a:r>
            <a:r>
              <a:rPr sz="698" dirty="0">
                <a:solidFill>
                  <a:srgbClr val="26313F"/>
                </a:solidFill>
                <a:latin typeface="Aptos"/>
              </a:rPr>
              <a:t> de la vie collective.</a:t>
            </a:r>
          </a:p>
        </p:txBody>
      </p:sp>
      <p:sp>
        <p:nvSpPr>
          <p:cNvPr id="7" name="Rounded Rectangle 6"/>
          <p:cNvSpPr/>
          <p:nvPr/>
        </p:nvSpPr>
        <p:spPr>
          <a:xfrm>
            <a:off x="5678423" y="3015234"/>
            <a:ext cx="3120390" cy="809244"/>
          </a:xfrm>
          <a:prstGeom prst="roundRect">
            <a:avLst/>
          </a:prstGeom>
          <a:solidFill>
            <a:srgbClr val="EFF6FC"/>
          </a:solidFill>
          <a:ln w="19050">
            <a:solidFill>
              <a:srgbClr val="1A6FC2"/>
            </a:solidFill>
          </a:ln>
        </p:spPr>
        <p:style>
          <a:lnRef idx="1">
            <a:schemeClr val="accent1"/>
          </a:lnRef>
          <a:fillRef idx="3">
            <a:schemeClr val="accent1"/>
          </a:fillRef>
          <a:effectRef idx="2">
            <a:schemeClr val="accent1"/>
          </a:effectRef>
          <a:fontRef idx="minor">
            <a:schemeClr val="lt1"/>
          </a:fontRef>
        </p:style>
        <p:txBody>
          <a:bodyPr wrap="square" lIns="96012" rIns="96012" rtlCol="0" anchor="ctr"/>
          <a:lstStyle/>
          <a:p>
            <a:pPr algn="ctr"/>
            <a:r>
              <a:rPr sz="915" b="1" dirty="0">
                <a:solidFill>
                  <a:srgbClr val="1A6FC2"/>
                </a:solidFill>
                <a:latin typeface="Aptos"/>
              </a:rPr>
              <a:t>DES BESOINS QUI SE RENFORCENT</a:t>
            </a:r>
          </a:p>
          <a:p>
            <a:pPr>
              <a:spcBef>
                <a:spcPts val="225"/>
              </a:spcBef>
            </a:pPr>
            <a:r>
              <a:rPr sz="698" dirty="0">
                <a:solidFill>
                  <a:srgbClr val="26313F"/>
                </a:solidFill>
                <a:latin typeface="Aptos"/>
              </a:rPr>
              <a:t>Les motivations </a:t>
            </a:r>
            <a:r>
              <a:rPr sz="698" dirty="0" err="1">
                <a:solidFill>
                  <a:srgbClr val="26313F"/>
                </a:solidFill>
                <a:latin typeface="Aptos"/>
              </a:rPr>
              <a:t>sociales</a:t>
            </a:r>
            <a:r>
              <a:rPr sz="698" dirty="0">
                <a:solidFill>
                  <a:srgbClr val="26313F"/>
                </a:solidFill>
                <a:latin typeface="Aptos"/>
              </a:rPr>
              <a:t> ne </a:t>
            </a:r>
            <a:r>
              <a:rPr sz="698" dirty="0" err="1">
                <a:solidFill>
                  <a:srgbClr val="26313F"/>
                </a:solidFill>
                <a:latin typeface="Aptos"/>
              </a:rPr>
              <a:t>fonctionnent</a:t>
            </a:r>
            <a:r>
              <a:rPr sz="698" dirty="0">
                <a:solidFill>
                  <a:srgbClr val="26313F"/>
                </a:solidFill>
                <a:latin typeface="Aptos"/>
              </a:rPr>
              <a:t> pas </a:t>
            </a:r>
            <a:r>
              <a:rPr sz="698" dirty="0" err="1">
                <a:solidFill>
                  <a:srgbClr val="26313F"/>
                </a:solidFill>
                <a:latin typeface="Aptos"/>
              </a:rPr>
              <a:t>en</a:t>
            </a:r>
            <a:r>
              <a:rPr sz="698" dirty="0">
                <a:solidFill>
                  <a:srgbClr val="26313F"/>
                </a:solidFill>
                <a:latin typeface="Aptos"/>
              </a:rPr>
              <a:t> vase clos. Par </a:t>
            </a:r>
            <a:r>
              <a:rPr sz="698" dirty="0" err="1">
                <a:solidFill>
                  <a:srgbClr val="26313F"/>
                </a:solidFill>
                <a:latin typeface="Aptos"/>
              </a:rPr>
              <a:t>exemple</a:t>
            </a:r>
            <a:r>
              <a:rPr sz="698" dirty="0">
                <a:solidFill>
                  <a:srgbClr val="26313F"/>
                </a:solidFill>
                <a:latin typeface="Aptos"/>
              </a:rPr>
              <a:t>, </a:t>
            </a:r>
            <a:r>
              <a:rPr sz="698" dirty="0" err="1">
                <a:solidFill>
                  <a:srgbClr val="26313F"/>
                </a:solidFill>
                <a:latin typeface="Aptos"/>
              </a:rPr>
              <a:t>appartenance</a:t>
            </a:r>
            <a:r>
              <a:rPr sz="698" dirty="0">
                <a:solidFill>
                  <a:srgbClr val="26313F"/>
                </a:solidFill>
                <a:latin typeface="Aptos"/>
              </a:rPr>
              <a:t> + </a:t>
            </a:r>
            <a:r>
              <a:rPr sz="698" dirty="0" err="1">
                <a:solidFill>
                  <a:srgbClr val="26313F"/>
                </a:solidFill>
                <a:latin typeface="Aptos"/>
              </a:rPr>
              <a:t>contrôle</a:t>
            </a:r>
            <a:r>
              <a:rPr sz="698" dirty="0">
                <a:solidFill>
                  <a:srgbClr val="26313F"/>
                </a:solidFill>
                <a:latin typeface="Aptos"/>
              </a:rPr>
              <a:t> </a:t>
            </a:r>
            <a:r>
              <a:rPr sz="698" dirty="0" err="1">
                <a:solidFill>
                  <a:srgbClr val="26313F"/>
                </a:solidFill>
                <a:latin typeface="Aptos"/>
              </a:rPr>
              <a:t>peuvent</a:t>
            </a:r>
            <a:r>
              <a:rPr sz="698" dirty="0">
                <a:solidFill>
                  <a:srgbClr val="26313F"/>
                </a:solidFill>
                <a:latin typeface="Aptos"/>
              </a:rPr>
              <a:t> </a:t>
            </a:r>
            <a:r>
              <a:rPr sz="698" dirty="0" err="1">
                <a:solidFill>
                  <a:srgbClr val="26313F"/>
                </a:solidFill>
                <a:latin typeface="Aptos"/>
              </a:rPr>
              <a:t>favoriser</a:t>
            </a:r>
            <a:r>
              <a:rPr sz="698" dirty="0">
                <a:solidFill>
                  <a:srgbClr val="26313F"/>
                </a:solidFill>
                <a:latin typeface="Aptos"/>
              </a:rPr>
              <a:t> </a:t>
            </a:r>
            <a:r>
              <a:rPr sz="698" dirty="0" err="1">
                <a:solidFill>
                  <a:srgbClr val="26313F"/>
                </a:solidFill>
                <a:latin typeface="Aptos"/>
              </a:rPr>
              <a:t>l’interdépendance</a:t>
            </a:r>
            <a:r>
              <a:rPr sz="698" dirty="0">
                <a:solidFill>
                  <a:srgbClr val="26313F"/>
                </a:solidFill>
                <a:latin typeface="Aptos"/>
              </a:rPr>
              <a:t> : chacun conserve </a:t>
            </a:r>
            <a:r>
              <a:rPr sz="698" dirty="0" err="1">
                <a:solidFill>
                  <a:srgbClr val="26313F"/>
                </a:solidFill>
                <a:latin typeface="Aptos"/>
              </a:rPr>
              <a:t>une</a:t>
            </a:r>
            <a:r>
              <a:rPr sz="698" dirty="0">
                <a:solidFill>
                  <a:srgbClr val="26313F"/>
                </a:solidFill>
                <a:latin typeface="Aptos"/>
              </a:rPr>
              <a:t> </a:t>
            </a:r>
            <a:r>
              <a:rPr sz="698" dirty="0" err="1">
                <a:solidFill>
                  <a:srgbClr val="26313F"/>
                </a:solidFill>
                <a:latin typeface="Aptos"/>
              </a:rPr>
              <a:t>capacité</a:t>
            </a:r>
            <a:r>
              <a:rPr sz="698" dirty="0">
                <a:solidFill>
                  <a:srgbClr val="26313F"/>
                </a:solidFill>
                <a:latin typeface="Aptos"/>
              </a:rPr>
              <a:t> </a:t>
            </a:r>
            <a:r>
              <a:rPr sz="698" dirty="0" err="1">
                <a:solidFill>
                  <a:srgbClr val="26313F"/>
                </a:solidFill>
                <a:latin typeface="Aptos"/>
              </a:rPr>
              <a:t>d’agir</a:t>
            </a:r>
            <a:r>
              <a:rPr sz="698" dirty="0">
                <a:solidFill>
                  <a:srgbClr val="26313F"/>
                </a:solidFill>
                <a:latin typeface="Aptos"/>
              </a:rPr>
              <a:t> tout </a:t>
            </a:r>
            <a:r>
              <a:rPr sz="698" dirty="0" err="1">
                <a:solidFill>
                  <a:srgbClr val="26313F"/>
                </a:solidFill>
                <a:latin typeface="Aptos"/>
              </a:rPr>
              <a:t>en</a:t>
            </a:r>
            <a:r>
              <a:rPr sz="698" dirty="0">
                <a:solidFill>
                  <a:srgbClr val="26313F"/>
                </a:solidFill>
                <a:latin typeface="Aptos"/>
              </a:rPr>
              <a:t> </a:t>
            </a:r>
            <a:r>
              <a:rPr sz="698" dirty="0" err="1">
                <a:solidFill>
                  <a:srgbClr val="26313F"/>
                </a:solidFill>
                <a:latin typeface="Aptos"/>
              </a:rPr>
              <a:t>dépendant</a:t>
            </a:r>
            <a:r>
              <a:rPr sz="698" dirty="0">
                <a:solidFill>
                  <a:srgbClr val="26313F"/>
                </a:solidFill>
                <a:latin typeface="Aptos"/>
              </a:rPr>
              <a:t> des contributions des </a:t>
            </a:r>
            <a:r>
              <a:rPr sz="698" dirty="0" err="1">
                <a:solidFill>
                  <a:srgbClr val="26313F"/>
                </a:solidFill>
                <a:latin typeface="Aptos"/>
              </a:rPr>
              <a:t>autres</a:t>
            </a:r>
            <a:r>
              <a:rPr sz="698" dirty="0">
                <a:solidFill>
                  <a:srgbClr val="26313F"/>
                </a:solidFill>
                <a:latin typeface="Aptos"/>
              </a:rPr>
              <a:t>, </a:t>
            </a:r>
            <a:r>
              <a:rPr sz="698" dirty="0" err="1">
                <a:solidFill>
                  <a:srgbClr val="26313F"/>
                </a:solidFill>
                <a:latin typeface="Aptos"/>
              </a:rPr>
              <a:t>ce</a:t>
            </a:r>
            <a:r>
              <a:rPr sz="698" dirty="0">
                <a:solidFill>
                  <a:srgbClr val="26313F"/>
                </a:solidFill>
                <a:latin typeface="Aptos"/>
              </a:rPr>
              <a:t> qui </a:t>
            </a:r>
            <a:r>
              <a:rPr sz="698" dirty="0" err="1">
                <a:solidFill>
                  <a:srgbClr val="26313F"/>
                </a:solidFill>
                <a:latin typeface="Aptos"/>
              </a:rPr>
              <a:t>soutient</a:t>
            </a:r>
            <a:r>
              <a:rPr sz="698" dirty="0">
                <a:solidFill>
                  <a:srgbClr val="26313F"/>
                </a:solidFill>
                <a:latin typeface="Aptos"/>
              </a:rPr>
              <a:t> la </a:t>
            </a:r>
            <a:r>
              <a:rPr sz="698" dirty="0" err="1">
                <a:solidFill>
                  <a:srgbClr val="26313F"/>
                </a:solidFill>
                <a:latin typeface="Aptos"/>
              </a:rPr>
              <a:t>solidarité</a:t>
            </a:r>
            <a:r>
              <a:rPr sz="698" dirty="0">
                <a:solidFill>
                  <a:srgbClr val="26313F"/>
                </a:solidFill>
                <a:latin typeface="Aptos"/>
              </a:rPr>
              <a:t>.</a:t>
            </a:r>
          </a:p>
        </p:txBody>
      </p:sp>
      <p:sp>
        <p:nvSpPr>
          <p:cNvPr id="8" name="Rounded Rectangle 7"/>
          <p:cNvSpPr/>
          <p:nvPr/>
        </p:nvSpPr>
        <p:spPr>
          <a:xfrm>
            <a:off x="445770" y="4661154"/>
            <a:ext cx="8229600" cy="438912"/>
          </a:xfrm>
          <a:prstGeom prst="roundRect">
            <a:avLst/>
          </a:prstGeom>
          <a:solidFill>
            <a:srgbClr val="193D63"/>
          </a:solidFill>
          <a:ln>
            <a:solidFill>
              <a:srgbClr val="193D6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25" b="1" dirty="0">
                <a:solidFill>
                  <a:srgbClr val="FFFFFF"/>
                </a:solidFill>
                <a:latin typeface="Aptos"/>
              </a:rPr>
              <a:t>Fiske montre </a:t>
            </a:r>
            <a:r>
              <a:rPr sz="825" b="1" dirty="0" err="1">
                <a:solidFill>
                  <a:srgbClr val="FFFFFF"/>
                </a:solidFill>
                <a:latin typeface="Aptos"/>
              </a:rPr>
              <a:t>que</a:t>
            </a:r>
            <a:r>
              <a:rPr sz="825" b="1" dirty="0">
                <a:solidFill>
                  <a:srgbClr val="FFFFFF"/>
                </a:solidFill>
                <a:latin typeface="Aptos"/>
              </a:rPr>
              <a:t> </a:t>
            </a:r>
            <a:r>
              <a:rPr sz="825" b="1" dirty="0" err="1">
                <a:solidFill>
                  <a:srgbClr val="FFFFFF"/>
                </a:solidFill>
                <a:latin typeface="Aptos"/>
              </a:rPr>
              <a:t>notre</a:t>
            </a:r>
            <a:r>
              <a:rPr sz="825" b="1" dirty="0">
                <a:solidFill>
                  <a:srgbClr val="FFFFFF"/>
                </a:solidFill>
                <a:latin typeface="Aptos"/>
              </a:rPr>
              <a:t> motivation ne vise pas </a:t>
            </a:r>
            <a:r>
              <a:rPr sz="825" b="1" dirty="0" err="1">
                <a:solidFill>
                  <a:srgbClr val="FFFFFF"/>
                </a:solidFill>
                <a:latin typeface="Aptos"/>
              </a:rPr>
              <a:t>seulement</a:t>
            </a:r>
            <a:r>
              <a:rPr sz="825" b="1" dirty="0">
                <a:solidFill>
                  <a:srgbClr val="FFFFFF"/>
                </a:solidFill>
                <a:latin typeface="Aptos"/>
              </a:rPr>
              <a:t> des buts </a:t>
            </a:r>
            <a:r>
              <a:rPr sz="825" b="1" dirty="0" err="1">
                <a:solidFill>
                  <a:srgbClr val="FFFFFF"/>
                </a:solidFill>
                <a:latin typeface="Aptos"/>
              </a:rPr>
              <a:t>individuels</a:t>
            </a:r>
            <a:r>
              <a:rPr sz="825" b="1" dirty="0">
                <a:solidFill>
                  <a:srgbClr val="FFFFFF"/>
                </a:solidFill>
                <a:latin typeface="Aptos"/>
              </a:rPr>
              <a:t> : </a:t>
            </a:r>
            <a:r>
              <a:rPr sz="825" b="1" dirty="0" err="1">
                <a:solidFill>
                  <a:srgbClr val="FFFFFF"/>
                </a:solidFill>
                <a:latin typeface="Aptos"/>
              </a:rPr>
              <a:t>elle</a:t>
            </a:r>
            <a:r>
              <a:rPr sz="825" b="1" dirty="0">
                <a:solidFill>
                  <a:srgbClr val="FFFFFF"/>
                </a:solidFill>
                <a:latin typeface="Aptos"/>
              </a:rPr>
              <a:t> nous aide </a:t>
            </a:r>
            <a:r>
              <a:rPr sz="825" b="1" dirty="0" err="1">
                <a:solidFill>
                  <a:srgbClr val="FFFFFF"/>
                </a:solidFill>
                <a:latin typeface="Aptos"/>
              </a:rPr>
              <a:t>aussi</a:t>
            </a:r>
            <a:r>
              <a:rPr sz="825" b="1" dirty="0">
                <a:solidFill>
                  <a:srgbClr val="FFFFFF"/>
                </a:solidFill>
                <a:latin typeface="Aptos"/>
              </a:rPr>
              <a:t> à </a:t>
            </a:r>
            <a:r>
              <a:rPr sz="825" b="1" dirty="0" err="1">
                <a:solidFill>
                  <a:srgbClr val="FFFFFF"/>
                </a:solidFill>
                <a:latin typeface="Aptos"/>
              </a:rPr>
              <a:t>trouver</a:t>
            </a:r>
            <a:r>
              <a:rPr sz="825" b="1" dirty="0">
                <a:solidFill>
                  <a:srgbClr val="FFFFFF"/>
                </a:solidFill>
                <a:latin typeface="Aptos"/>
              </a:rPr>
              <a:t> </a:t>
            </a:r>
            <a:r>
              <a:rPr sz="825" b="1" dirty="0" err="1">
                <a:solidFill>
                  <a:srgbClr val="FFFFFF"/>
                </a:solidFill>
                <a:latin typeface="Aptos"/>
              </a:rPr>
              <a:t>notre</a:t>
            </a:r>
            <a:r>
              <a:rPr sz="825" b="1" dirty="0">
                <a:solidFill>
                  <a:srgbClr val="FFFFFF"/>
                </a:solidFill>
                <a:latin typeface="Aptos"/>
              </a:rPr>
              <a:t> place, à </a:t>
            </a:r>
            <a:r>
              <a:rPr sz="825" b="1" dirty="0" err="1">
                <a:solidFill>
                  <a:srgbClr val="FFFFFF"/>
                </a:solidFill>
                <a:latin typeface="Aptos"/>
              </a:rPr>
              <a:t>fonctionner</a:t>
            </a:r>
            <a:r>
              <a:rPr sz="825" b="1" dirty="0">
                <a:solidFill>
                  <a:srgbClr val="FFFFFF"/>
                </a:solidFill>
                <a:latin typeface="Aptos"/>
              </a:rPr>
              <a:t> avec les </a:t>
            </a:r>
            <a:r>
              <a:rPr sz="825" b="1" dirty="0" err="1">
                <a:solidFill>
                  <a:srgbClr val="FFFFFF"/>
                </a:solidFill>
                <a:latin typeface="Aptos"/>
              </a:rPr>
              <a:t>autres</a:t>
            </a:r>
            <a:r>
              <a:rPr sz="825" b="1" dirty="0">
                <a:solidFill>
                  <a:srgbClr val="FFFFFF"/>
                </a:solidFill>
                <a:latin typeface="Aptos"/>
              </a:rPr>
              <a:t> et à nous adapter à la vie </a:t>
            </a:r>
            <a:r>
              <a:rPr sz="825" b="1" dirty="0" err="1">
                <a:solidFill>
                  <a:srgbClr val="FFFFFF"/>
                </a:solidFill>
                <a:latin typeface="Aptos"/>
              </a:rPr>
              <a:t>sociale</a:t>
            </a:r>
            <a:r>
              <a:rPr sz="825" b="1" dirty="0">
                <a:solidFill>
                  <a:srgbClr val="FFFFFF"/>
                </a:solidFill>
                <a:latin typeface="Aptos"/>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7190" y="428462"/>
            <a:ext cx="8366760" cy="270074"/>
          </a:xfrm>
          <a:prstGeom prst="rect">
            <a:avLst/>
          </a:prstGeom>
          <a:noFill/>
        </p:spPr>
        <p:txBody>
          <a:bodyPr wrap="square" lIns="34290" tIns="13716" rIns="34290" bIns="13716" anchor="ctr">
            <a:spAutoFit/>
          </a:bodyPr>
          <a:lstStyle/>
          <a:p>
            <a:pPr algn="l"/>
            <a:r>
              <a:rPr sz="1575" b="1">
                <a:solidFill>
                  <a:srgbClr val="1A3E65"/>
                </a:solidFill>
                <a:latin typeface="Aptos"/>
              </a:rPr>
              <a:t>Dweck — Des besoins fondamentaux aux schémas motivationnels</a:t>
            </a:r>
          </a:p>
        </p:txBody>
      </p:sp>
      <p:sp>
        <p:nvSpPr>
          <p:cNvPr id="3" name="Rounded Rectangle 2"/>
          <p:cNvSpPr/>
          <p:nvPr/>
        </p:nvSpPr>
        <p:spPr>
          <a:xfrm>
            <a:off x="411480" y="835949"/>
            <a:ext cx="8298180" cy="1047513"/>
          </a:xfrm>
          <a:prstGeom prst="roundRect">
            <a:avLst/>
          </a:prstGeom>
          <a:solidFill>
            <a:srgbClr val="EFF6FB"/>
          </a:solidFill>
          <a:ln w="17780">
            <a:solidFill>
              <a:srgbClr val="306EA3"/>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marL="171450" indent="-171450" algn="just">
              <a:buFont typeface="Arial" panose="020B0604020202020204" pitchFamily="34" charset="0"/>
              <a:buChar char="•"/>
            </a:pPr>
            <a:r>
              <a:rPr sz="1000" dirty="0">
                <a:solidFill>
                  <a:srgbClr val="26313F"/>
                </a:solidFill>
                <a:latin typeface="Aptos"/>
              </a:rPr>
              <a:t>La motivation humaine repose sur des </a:t>
            </a:r>
            <a:r>
              <a:rPr sz="1000" dirty="0" err="1">
                <a:solidFill>
                  <a:srgbClr val="26313F"/>
                </a:solidFill>
                <a:latin typeface="Aptos"/>
              </a:rPr>
              <a:t>besoins</a:t>
            </a:r>
            <a:r>
              <a:rPr sz="1000" dirty="0">
                <a:solidFill>
                  <a:srgbClr val="26313F"/>
                </a:solidFill>
                <a:latin typeface="Aptos"/>
              </a:rPr>
              <a:t> </a:t>
            </a:r>
            <a:r>
              <a:rPr sz="1000" dirty="0" err="1">
                <a:solidFill>
                  <a:srgbClr val="26313F"/>
                </a:solidFill>
                <a:latin typeface="Aptos"/>
              </a:rPr>
              <a:t>psychologiques</a:t>
            </a:r>
            <a:r>
              <a:rPr sz="1000" dirty="0">
                <a:solidFill>
                  <a:srgbClr val="26313F"/>
                </a:solidFill>
                <a:latin typeface="Aptos"/>
              </a:rPr>
              <a:t> </a:t>
            </a:r>
            <a:r>
              <a:rPr sz="1000" dirty="0" err="1">
                <a:solidFill>
                  <a:srgbClr val="26313F"/>
                </a:solidFill>
                <a:latin typeface="Aptos"/>
              </a:rPr>
              <a:t>fondamentaux</a:t>
            </a:r>
            <a:r>
              <a:rPr sz="1000" dirty="0">
                <a:solidFill>
                  <a:srgbClr val="26313F"/>
                </a:solidFill>
                <a:latin typeface="Aptos"/>
              </a:rPr>
              <a:t> </a:t>
            </a:r>
            <a:r>
              <a:rPr sz="1000" dirty="0" err="1">
                <a:solidFill>
                  <a:srgbClr val="26313F"/>
                </a:solidFill>
                <a:latin typeface="Aptos"/>
              </a:rPr>
              <a:t>autour</a:t>
            </a:r>
            <a:r>
              <a:rPr sz="1000" dirty="0">
                <a:solidFill>
                  <a:srgbClr val="26313F"/>
                </a:solidFill>
                <a:latin typeface="Aptos"/>
              </a:rPr>
              <a:t> </a:t>
            </a:r>
            <a:r>
              <a:rPr sz="1000" dirty="0" err="1">
                <a:solidFill>
                  <a:srgbClr val="26313F"/>
                </a:solidFill>
                <a:latin typeface="Aptos"/>
              </a:rPr>
              <a:t>desquels</a:t>
            </a:r>
            <a:r>
              <a:rPr sz="1000" dirty="0">
                <a:solidFill>
                  <a:srgbClr val="26313F"/>
                </a:solidFill>
                <a:latin typeface="Aptos"/>
              </a:rPr>
              <a:t> se </a:t>
            </a:r>
            <a:r>
              <a:rPr sz="1000" dirty="0" err="1">
                <a:solidFill>
                  <a:srgbClr val="26313F"/>
                </a:solidFill>
                <a:latin typeface="Aptos"/>
              </a:rPr>
              <a:t>développe</a:t>
            </a:r>
            <a:r>
              <a:rPr sz="1000" dirty="0">
                <a:solidFill>
                  <a:srgbClr val="26313F"/>
                </a:solidFill>
                <a:latin typeface="Aptos"/>
              </a:rPr>
              <a:t> </a:t>
            </a:r>
            <a:r>
              <a:rPr sz="1000" dirty="0" err="1">
                <a:solidFill>
                  <a:srgbClr val="26313F"/>
                </a:solidFill>
                <a:latin typeface="Aptos"/>
              </a:rPr>
              <a:t>aussi</a:t>
            </a:r>
            <a:r>
              <a:rPr sz="1000" dirty="0">
                <a:solidFill>
                  <a:srgbClr val="26313F"/>
                </a:solidFill>
                <a:latin typeface="Aptos"/>
              </a:rPr>
              <a:t> la </a:t>
            </a:r>
            <a:r>
              <a:rPr sz="1000" dirty="0" err="1">
                <a:solidFill>
                  <a:srgbClr val="26313F"/>
                </a:solidFill>
                <a:latin typeface="Aptos"/>
              </a:rPr>
              <a:t>personnalité</a:t>
            </a:r>
            <a:r>
              <a:rPr sz="1000" dirty="0">
                <a:solidFill>
                  <a:srgbClr val="26313F"/>
                </a:solidFill>
                <a:latin typeface="Aptos"/>
              </a:rPr>
              <a:t> et qui, </a:t>
            </a:r>
            <a:r>
              <a:rPr sz="1000" dirty="0" err="1">
                <a:solidFill>
                  <a:srgbClr val="26313F"/>
                </a:solidFill>
                <a:latin typeface="Aptos"/>
              </a:rPr>
              <a:t>selon</a:t>
            </a:r>
            <a:r>
              <a:rPr sz="1000" dirty="0">
                <a:solidFill>
                  <a:srgbClr val="26313F"/>
                </a:solidFill>
                <a:latin typeface="Aptos"/>
              </a:rPr>
              <a:t> les </a:t>
            </a:r>
            <a:r>
              <a:rPr sz="1000" dirty="0" err="1">
                <a:solidFill>
                  <a:srgbClr val="26313F"/>
                </a:solidFill>
                <a:latin typeface="Aptos"/>
              </a:rPr>
              <a:t>expériences</a:t>
            </a:r>
            <a:r>
              <a:rPr sz="1000" dirty="0">
                <a:solidFill>
                  <a:srgbClr val="26313F"/>
                </a:solidFill>
                <a:latin typeface="Aptos"/>
              </a:rPr>
              <a:t> de satisfaction </a:t>
            </a:r>
            <a:r>
              <a:rPr sz="1000" dirty="0" err="1">
                <a:solidFill>
                  <a:srgbClr val="26313F"/>
                </a:solidFill>
                <a:latin typeface="Aptos"/>
              </a:rPr>
              <a:t>ou</a:t>
            </a:r>
            <a:r>
              <a:rPr sz="1000" dirty="0">
                <a:solidFill>
                  <a:srgbClr val="26313F"/>
                </a:solidFill>
                <a:latin typeface="Aptos"/>
              </a:rPr>
              <a:t> de frustration, </a:t>
            </a:r>
            <a:r>
              <a:rPr sz="1000" dirty="0" err="1">
                <a:solidFill>
                  <a:srgbClr val="26313F"/>
                </a:solidFill>
                <a:latin typeface="Aptos"/>
              </a:rPr>
              <a:t>peuvent</a:t>
            </a:r>
            <a:r>
              <a:rPr sz="1000" dirty="0">
                <a:solidFill>
                  <a:srgbClr val="26313F"/>
                </a:solidFill>
                <a:latin typeface="Aptos"/>
              </a:rPr>
              <a:t> </a:t>
            </a:r>
            <a:r>
              <a:rPr sz="1000" dirty="0" err="1">
                <a:solidFill>
                  <a:srgbClr val="26313F"/>
                </a:solidFill>
                <a:latin typeface="Aptos"/>
              </a:rPr>
              <a:t>contribuer</a:t>
            </a:r>
            <a:r>
              <a:rPr sz="1000" dirty="0">
                <a:solidFill>
                  <a:srgbClr val="26313F"/>
                </a:solidFill>
                <a:latin typeface="Aptos"/>
              </a:rPr>
              <a:t> à </a:t>
            </a:r>
            <a:r>
              <a:rPr sz="1000" dirty="0" err="1">
                <a:solidFill>
                  <a:srgbClr val="26313F"/>
                </a:solidFill>
                <a:latin typeface="Aptos"/>
              </a:rPr>
              <a:t>différents</a:t>
            </a:r>
            <a:r>
              <a:rPr sz="1000" dirty="0">
                <a:solidFill>
                  <a:srgbClr val="26313F"/>
                </a:solidFill>
                <a:latin typeface="Aptos"/>
              </a:rPr>
              <a:t> </a:t>
            </a:r>
            <a:r>
              <a:rPr sz="1000" dirty="0" err="1">
                <a:solidFill>
                  <a:srgbClr val="26313F"/>
                </a:solidFill>
                <a:latin typeface="Aptos"/>
              </a:rPr>
              <a:t>schémas</a:t>
            </a:r>
            <a:r>
              <a:rPr sz="1000" dirty="0">
                <a:solidFill>
                  <a:srgbClr val="26313F"/>
                </a:solidFill>
                <a:latin typeface="Aptos"/>
              </a:rPr>
              <a:t>.</a:t>
            </a:r>
            <a:r>
              <a:rPr lang="fr-CA" sz="1000" dirty="0">
                <a:solidFill>
                  <a:srgbClr val="26313F"/>
                </a:solidFill>
                <a:latin typeface="Aptos"/>
              </a:rPr>
              <a:t> </a:t>
            </a:r>
          </a:p>
          <a:p>
            <a:pPr marL="171450" indent="-171450" algn="just">
              <a:buFont typeface="Arial" panose="020B0604020202020204" pitchFamily="34" charset="0"/>
              <a:buChar char="•"/>
            </a:pPr>
            <a:r>
              <a:rPr lang="fr-CA" sz="1000" dirty="0" err="1">
                <a:solidFill>
                  <a:schemeClr val="tx1"/>
                </a:solidFill>
                <a:latin typeface="Aptos"/>
              </a:rPr>
              <a:t>Dweck</a:t>
            </a:r>
            <a:r>
              <a:rPr lang="fr-CA" sz="1000" dirty="0">
                <a:solidFill>
                  <a:schemeClr val="tx1"/>
                </a:solidFill>
                <a:latin typeface="Aptos"/>
              </a:rPr>
              <a:t> aide à comprendre comment la satisfaction ou la frustration des besoins fondamentaux influence la manière dont la personne se développe et poursuit ses objectifs.</a:t>
            </a:r>
          </a:p>
          <a:p>
            <a:pPr algn="ctr"/>
            <a:endParaRPr sz="1000" dirty="0">
              <a:solidFill>
                <a:srgbClr val="26313F"/>
              </a:solidFill>
              <a:latin typeface="Aptos"/>
            </a:endParaRPr>
          </a:p>
        </p:txBody>
      </p:sp>
      <p:pic>
        <p:nvPicPr>
          <p:cNvPr id="4" name="Picture 3" descr="dweck_schema_intact.png"/>
          <p:cNvPicPr>
            <a:picLocks noChangeAspect="1"/>
          </p:cNvPicPr>
          <p:nvPr/>
        </p:nvPicPr>
        <p:blipFill>
          <a:blip r:embed="rId2"/>
          <a:stretch>
            <a:fillRect/>
          </a:stretch>
        </p:blipFill>
        <p:spPr>
          <a:xfrm>
            <a:off x="486918" y="2255575"/>
            <a:ext cx="2777490" cy="2455164"/>
          </a:xfrm>
          <a:prstGeom prst="rect">
            <a:avLst/>
          </a:prstGeom>
        </p:spPr>
      </p:pic>
      <p:sp>
        <p:nvSpPr>
          <p:cNvPr id="5" name="TextBox 4"/>
          <p:cNvSpPr txBox="1"/>
          <p:nvPr/>
        </p:nvSpPr>
        <p:spPr>
          <a:xfrm>
            <a:off x="521208" y="4760012"/>
            <a:ext cx="2708910" cy="335476"/>
          </a:xfrm>
          <a:prstGeom prst="rect">
            <a:avLst/>
          </a:prstGeom>
          <a:noFill/>
        </p:spPr>
        <p:txBody>
          <a:bodyPr wrap="square" lIns="34290" tIns="13716" rIns="34290" bIns="13716" anchor="ctr">
            <a:spAutoFit/>
          </a:bodyPr>
          <a:lstStyle/>
          <a:p>
            <a:pPr algn="ctr"/>
            <a:r>
              <a:rPr sz="1000" b="1">
                <a:solidFill>
                  <a:srgbClr val="C68F2D"/>
                </a:solidFill>
                <a:latin typeface="Aptos"/>
              </a:rPr>
              <a:t>Leur importance évolue au cours de la vie → priorités et comportements évoluent aussi.</a:t>
            </a:r>
          </a:p>
        </p:txBody>
      </p:sp>
      <p:sp>
        <p:nvSpPr>
          <p:cNvPr id="6" name="Rounded Rectangle 5"/>
          <p:cNvSpPr/>
          <p:nvPr/>
        </p:nvSpPr>
        <p:spPr>
          <a:xfrm>
            <a:off x="3470148" y="2255574"/>
            <a:ext cx="2551176" cy="2950409"/>
          </a:xfrm>
          <a:prstGeom prst="roundRect">
            <a:avLst/>
          </a:prstGeom>
          <a:solidFill>
            <a:srgbClr val="F0F7F2"/>
          </a:solidFill>
          <a:ln w="20320">
            <a:solidFill>
              <a:srgbClr val="437452"/>
            </a:solidFill>
          </a:ln>
        </p:spPr>
        <p:style>
          <a:lnRef idx="1">
            <a:schemeClr val="accent1"/>
          </a:lnRef>
          <a:fillRef idx="3">
            <a:schemeClr val="accent1"/>
          </a:fillRef>
          <a:effectRef idx="2">
            <a:schemeClr val="accent1"/>
          </a:effectRef>
          <a:fontRef idx="minor">
            <a:schemeClr val="lt1"/>
          </a:fontRef>
        </p:style>
        <p:txBody>
          <a:bodyPr wrap="square" lIns="96012" tIns="54864" rIns="96012" rtlCol="0" anchor="ctr"/>
          <a:lstStyle/>
          <a:p>
            <a:pPr algn="ctr"/>
            <a:r>
              <a:rPr sz="1200" b="1" dirty="0">
                <a:solidFill>
                  <a:srgbClr val="437452"/>
                </a:solidFill>
                <a:latin typeface="Aptos"/>
              </a:rPr>
              <a:t>SCHÉMA AXÉ SUR LA MAÎTRISE</a:t>
            </a:r>
          </a:p>
          <a:p>
            <a:pPr>
              <a:spcBef>
                <a:spcPts val="375"/>
              </a:spcBef>
            </a:pPr>
            <a:r>
              <a:rPr sz="900" b="1" dirty="0" err="1">
                <a:solidFill>
                  <a:srgbClr val="1A3E65"/>
                </a:solidFill>
                <a:latin typeface="Aptos"/>
              </a:rPr>
              <a:t>Définition</a:t>
            </a:r>
            <a:r>
              <a:rPr sz="900" b="1" dirty="0">
                <a:solidFill>
                  <a:srgbClr val="1A3E65"/>
                </a:solidFill>
                <a:latin typeface="Aptos"/>
              </a:rPr>
              <a:t> : </a:t>
            </a:r>
            <a:r>
              <a:rPr sz="900" dirty="0">
                <a:solidFill>
                  <a:srgbClr val="26313F"/>
                </a:solidFill>
                <a:latin typeface="Aptos"/>
              </a:rPr>
              <a:t>la </a:t>
            </a:r>
            <a:r>
              <a:rPr sz="900" dirty="0" err="1">
                <a:solidFill>
                  <a:srgbClr val="26313F"/>
                </a:solidFill>
                <a:latin typeface="Aptos"/>
              </a:rPr>
              <a:t>difficulté</a:t>
            </a:r>
            <a:r>
              <a:rPr sz="900" dirty="0">
                <a:solidFill>
                  <a:srgbClr val="26313F"/>
                </a:solidFill>
                <a:latin typeface="Aptos"/>
              </a:rPr>
              <a:t> est </a:t>
            </a:r>
            <a:r>
              <a:rPr sz="900" dirty="0" err="1">
                <a:solidFill>
                  <a:srgbClr val="26313F"/>
                </a:solidFill>
                <a:latin typeface="Aptos"/>
              </a:rPr>
              <a:t>une</a:t>
            </a:r>
            <a:r>
              <a:rPr sz="900" dirty="0">
                <a:solidFill>
                  <a:srgbClr val="26313F"/>
                </a:solidFill>
                <a:latin typeface="Aptos"/>
              </a:rPr>
              <a:t> occasion </a:t>
            </a:r>
            <a:r>
              <a:rPr sz="900" dirty="0" err="1">
                <a:solidFill>
                  <a:srgbClr val="26313F"/>
                </a:solidFill>
                <a:latin typeface="Aptos"/>
              </a:rPr>
              <a:t>d’exercer</a:t>
            </a:r>
            <a:r>
              <a:rPr sz="900" dirty="0">
                <a:solidFill>
                  <a:srgbClr val="26313F"/>
                </a:solidFill>
                <a:latin typeface="Aptos"/>
              </a:rPr>
              <a:t> et de </a:t>
            </a:r>
            <a:r>
              <a:rPr sz="900" dirty="0" err="1">
                <a:solidFill>
                  <a:srgbClr val="26313F"/>
                </a:solidFill>
                <a:latin typeface="Aptos"/>
              </a:rPr>
              <a:t>développer</a:t>
            </a:r>
            <a:r>
              <a:rPr sz="900" dirty="0">
                <a:solidFill>
                  <a:srgbClr val="26313F"/>
                </a:solidFill>
                <a:latin typeface="Aptos"/>
              </a:rPr>
              <a:t> </a:t>
            </a:r>
            <a:r>
              <a:rPr sz="900" dirty="0" err="1">
                <a:solidFill>
                  <a:srgbClr val="26313F"/>
                </a:solidFill>
                <a:latin typeface="Aptos"/>
              </a:rPr>
              <a:t>ses</a:t>
            </a:r>
            <a:r>
              <a:rPr sz="900" dirty="0">
                <a:solidFill>
                  <a:srgbClr val="26313F"/>
                </a:solidFill>
                <a:latin typeface="Aptos"/>
              </a:rPr>
              <a:t> </a:t>
            </a:r>
            <a:r>
              <a:rPr sz="900" dirty="0" err="1">
                <a:solidFill>
                  <a:srgbClr val="26313F"/>
                </a:solidFill>
                <a:latin typeface="Aptos"/>
              </a:rPr>
              <a:t>capacités</a:t>
            </a:r>
            <a:r>
              <a:rPr sz="900" dirty="0">
                <a:solidFill>
                  <a:srgbClr val="26313F"/>
                </a:solidFill>
                <a:latin typeface="Aptos"/>
              </a:rPr>
              <a:t>; les revers </a:t>
            </a:r>
            <a:r>
              <a:rPr sz="900" dirty="0" err="1">
                <a:solidFill>
                  <a:srgbClr val="26313F"/>
                </a:solidFill>
                <a:latin typeface="Aptos"/>
              </a:rPr>
              <a:t>sont</a:t>
            </a:r>
            <a:r>
              <a:rPr sz="900" dirty="0">
                <a:solidFill>
                  <a:srgbClr val="26313F"/>
                </a:solidFill>
                <a:latin typeface="Aptos"/>
              </a:rPr>
              <a:t> </a:t>
            </a:r>
            <a:r>
              <a:rPr sz="900" dirty="0" err="1">
                <a:solidFill>
                  <a:srgbClr val="26313F"/>
                </a:solidFill>
                <a:latin typeface="Aptos"/>
              </a:rPr>
              <a:t>davantage</a:t>
            </a:r>
            <a:r>
              <a:rPr sz="900" dirty="0">
                <a:solidFill>
                  <a:srgbClr val="26313F"/>
                </a:solidFill>
                <a:latin typeface="Aptos"/>
              </a:rPr>
              <a:t> </a:t>
            </a:r>
            <a:r>
              <a:rPr sz="900" dirty="0" err="1">
                <a:solidFill>
                  <a:srgbClr val="26313F"/>
                </a:solidFill>
                <a:latin typeface="Aptos"/>
              </a:rPr>
              <a:t>attribués</a:t>
            </a:r>
            <a:r>
              <a:rPr sz="900" dirty="0">
                <a:solidFill>
                  <a:srgbClr val="26313F"/>
                </a:solidFill>
                <a:latin typeface="Aptos"/>
              </a:rPr>
              <a:t> à des </a:t>
            </a:r>
            <a:r>
              <a:rPr sz="900" dirty="0" err="1">
                <a:solidFill>
                  <a:srgbClr val="26313F"/>
                </a:solidFill>
                <a:latin typeface="Aptos"/>
              </a:rPr>
              <a:t>facteurs</a:t>
            </a:r>
            <a:r>
              <a:rPr sz="900" dirty="0">
                <a:solidFill>
                  <a:srgbClr val="26313F"/>
                </a:solidFill>
                <a:latin typeface="Aptos"/>
              </a:rPr>
              <a:t> </a:t>
            </a:r>
            <a:r>
              <a:rPr sz="900" dirty="0" err="1">
                <a:solidFill>
                  <a:srgbClr val="26313F"/>
                </a:solidFill>
                <a:latin typeface="Aptos"/>
              </a:rPr>
              <a:t>temporaires</a:t>
            </a:r>
            <a:r>
              <a:rPr sz="900" dirty="0">
                <a:solidFill>
                  <a:srgbClr val="26313F"/>
                </a:solidFill>
                <a:latin typeface="Aptos"/>
              </a:rPr>
              <a:t> </a:t>
            </a:r>
            <a:r>
              <a:rPr sz="900" dirty="0" err="1">
                <a:solidFill>
                  <a:srgbClr val="26313F"/>
                </a:solidFill>
                <a:latin typeface="Aptos"/>
              </a:rPr>
              <a:t>ou</a:t>
            </a:r>
            <a:r>
              <a:rPr sz="900" dirty="0">
                <a:solidFill>
                  <a:srgbClr val="26313F"/>
                </a:solidFill>
                <a:latin typeface="Aptos"/>
              </a:rPr>
              <a:t> </a:t>
            </a:r>
            <a:r>
              <a:rPr sz="900" dirty="0" err="1">
                <a:solidFill>
                  <a:srgbClr val="26313F"/>
                </a:solidFill>
                <a:latin typeface="Aptos"/>
              </a:rPr>
              <a:t>contrôlables</a:t>
            </a:r>
            <a:r>
              <a:rPr sz="900" dirty="0">
                <a:solidFill>
                  <a:srgbClr val="26313F"/>
                </a:solidFill>
                <a:latin typeface="Aptos"/>
              </a:rPr>
              <a:t>.</a:t>
            </a:r>
          </a:p>
          <a:p>
            <a:pPr>
              <a:spcBef>
                <a:spcPts val="375"/>
              </a:spcBef>
            </a:pPr>
            <a:r>
              <a:rPr sz="900" b="1" dirty="0" err="1">
                <a:solidFill>
                  <a:srgbClr val="1A3E65"/>
                </a:solidFill>
                <a:latin typeface="Aptos"/>
              </a:rPr>
              <a:t>Objectifs</a:t>
            </a:r>
            <a:r>
              <a:rPr sz="900" b="1" dirty="0">
                <a:solidFill>
                  <a:srgbClr val="1A3E65"/>
                </a:solidFill>
                <a:latin typeface="Aptos"/>
              </a:rPr>
              <a:t> : </a:t>
            </a:r>
            <a:r>
              <a:rPr sz="900" dirty="0" err="1">
                <a:solidFill>
                  <a:srgbClr val="26313F"/>
                </a:solidFill>
                <a:latin typeface="Aptos"/>
              </a:rPr>
              <a:t>développer</a:t>
            </a:r>
            <a:r>
              <a:rPr sz="900" dirty="0">
                <a:solidFill>
                  <a:srgbClr val="26313F"/>
                </a:solidFill>
                <a:latin typeface="Aptos"/>
              </a:rPr>
              <a:t> </a:t>
            </a:r>
            <a:r>
              <a:rPr sz="900" dirty="0" err="1">
                <a:solidFill>
                  <a:srgbClr val="26313F"/>
                </a:solidFill>
                <a:latin typeface="Aptos"/>
              </a:rPr>
              <a:t>ses</a:t>
            </a:r>
            <a:r>
              <a:rPr sz="900" dirty="0">
                <a:solidFill>
                  <a:srgbClr val="26313F"/>
                </a:solidFill>
                <a:latin typeface="Aptos"/>
              </a:rPr>
              <a:t> </a:t>
            </a:r>
            <a:r>
              <a:rPr sz="900" dirty="0" err="1">
                <a:solidFill>
                  <a:srgbClr val="26313F"/>
                </a:solidFill>
                <a:latin typeface="Aptos"/>
              </a:rPr>
              <a:t>compétences</a:t>
            </a:r>
            <a:r>
              <a:rPr sz="900" dirty="0">
                <a:solidFill>
                  <a:srgbClr val="26313F"/>
                </a:solidFill>
                <a:latin typeface="Aptos"/>
              </a:rPr>
              <a:t> → </a:t>
            </a:r>
            <a:r>
              <a:rPr sz="900" dirty="0" err="1">
                <a:solidFill>
                  <a:srgbClr val="26313F"/>
                </a:solidFill>
                <a:latin typeface="Aptos"/>
              </a:rPr>
              <a:t>rechercher</a:t>
            </a:r>
            <a:r>
              <a:rPr sz="900" dirty="0">
                <a:solidFill>
                  <a:srgbClr val="26313F"/>
                </a:solidFill>
                <a:latin typeface="Aptos"/>
              </a:rPr>
              <a:t> les </a:t>
            </a:r>
            <a:r>
              <a:rPr sz="900" dirty="0" err="1">
                <a:solidFill>
                  <a:srgbClr val="26313F"/>
                </a:solidFill>
                <a:latin typeface="Aptos"/>
              </a:rPr>
              <a:t>défis</a:t>
            </a:r>
            <a:r>
              <a:rPr sz="900" dirty="0">
                <a:solidFill>
                  <a:srgbClr val="26313F"/>
                </a:solidFill>
                <a:latin typeface="Aptos"/>
              </a:rPr>
              <a:t> et les occasions </a:t>
            </a:r>
            <a:r>
              <a:rPr sz="900" dirty="0" err="1">
                <a:solidFill>
                  <a:srgbClr val="26313F"/>
                </a:solidFill>
                <a:latin typeface="Aptos"/>
              </a:rPr>
              <a:t>d’apprendre</a:t>
            </a:r>
            <a:r>
              <a:rPr sz="900" dirty="0">
                <a:solidFill>
                  <a:srgbClr val="26313F"/>
                </a:solidFill>
                <a:latin typeface="Aptos"/>
              </a:rPr>
              <a:t>.</a:t>
            </a:r>
          </a:p>
          <a:p>
            <a:pPr>
              <a:spcBef>
                <a:spcPts val="375"/>
              </a:spcBef>
            </a:pPr>
            <a:r>
              <a:rPr sz="900" b="1" dirty="0">
                <a:solidFill>
                  <a:srgbClr val="1A3E65"/>
                </a:solidFill>
                <a:latin typeface="Aptos"/>
              </a:rPr>
              <a:t>Intelligence : </a:t>
            </a:r>
            <a:r>
              <a:rPr sz="900" dirty="0" err="1">
                <a:solidFill>
                  <a:srgbClr val="26313F"/>
                </a:solidFill>
                <a:latin typeface="Aptos"/>
              </a:rPr>
              <a:t>davantage</a:t>
            </a:r>
            <a:r>
              <a:rPr sz="900" dirty="0">
                <a:solidFill>
                  <a:srgbClr val="26313F"/>
                </a:solidFill>
                <a:latin typeface="Aptos"/>
              </a:rPr>
              <a:t> </a:t>
            </a:r>
            <a:r>
              <a:rPr sz="900" dirty="0" err="1">
                <a:solidFill>
                  <a:srgbClr val="26313F"/>
                </a:solidFill>
                <a:latin typeface="Aptos"/>
              </a:rPr>
              <a:t>associée</a:t>
            </a:r>
            <a:r>
              <a:rPr sz="900" dirty="0">
                <a:solidFill>
                  <a:srgbClr val="26313F"/>
                </a:solidFill>
                <a:latin typeface="Aptos"/>
              </a:rPr>
              <a:t> à </a:t>
            </a:r>
            <a:r>
              <a:rPr sz="900" dirty="0" err="1">
                <a:solidFill>
                  <a:srgbClr val="26313F"/>
                </a:solidFill>
                <a:latin typeface="Aptos"/>
              </a:rPr>
              <a:t>une</a:t>
            </a:r>
            <a:r>
              <a:rPr sz="900" dirty="0">
                <a:solidFill>
                  <a:srgbClr val="26313F"/>
                </a:solidFill>
                <a:latin typeface="Aptos"/>
              </a:rPr>
              <a:t> </a:t>
            </a:r>
            <a:r>
              <a:rPr sz="900" dirty="0" err="1">
                <a:solidFill>
                  <a:srgbClr val="26313F"/>
                </a:solidFill>
                <a:latin typeface="Aptos"/>
              </a:rPr>
              <a:t>mentalité</a:t>
            </a:r>
            <a:r>
              <a:rPr sz="900" dirty="0">
                <a:solidFill>
                  <a:srgbClr val="26313F"/>
                </a:solidFill>
                <a:latin typeface="Aptos"/>
              </a:rPr>
              <a:t> de </a:t>
            </a:r>
            <a:r>
              <a:rPr sz="900" dirty="0" err="1">
                <a:solidFill>
                  <a:srgbClr val="26313F"/>
                </a:solidFill>
                <a:latin typeface="Aptos"/>
              </a:rPr>
              <a:t>croissance</a:t>
            </a:r>
            <a:r>
              <a:rPr sz="900" dirty="0">
                <a:solidFill>
                  <a:srgbClr val="26313F"/>
                </a:solidFill>
                <a:latin typeface="Aptos"/>
              </a:rPr>
              <a:t> → les </a:t>
            </a:r>
            <a:r>
              <a:rPr sz="900" dirty="0" err="1">
                <a:solidFill>
                  <a:srgbClr val="26313F"/>
                </a:solidFill>
                <a:latin typeface="Aptos"/>
              </a:rPr>
              <a:t>capacités</a:t>
            </a:r>
            <a:r>
              <a:rPr sz="900" dirty="0">
                <a:solidFill>
                  <a:srgbClr val="26313F"/>
                </a:solidFill>
                <a:latin typeface="Aptos"/>
              </a:rPr>
              <a:t> </a:t>
            </a:r>
            <a:r>
              <a:rPr sz="900" dirty="0" err="1">
                <a:solidFill>
                  <a:srgbClr val="26313F"/>
                </a:solidFill>
                <a:latin typeface="Aptos"/>
              </a:rPr>
              <a:t>peuvent</a:t>
            </a:r>
            <a:r>
              <a:rPr sz="900" dirty="0">
                <a:solidFill>
                  <a:srgbClr val="26313F"/>
                </a:solidFill>
                <a:latin typeface="Aptos"/>
              </a:rPr>
              <a:t> se </a:t>
            </a:r>
            <a:r>
              <a:rPr sz="900" dirty="0" err="1">
                <a:solidFill>
                  <a:srgbClr val="26313F"/>
                </a:solidFill>
                <a:latin typeface="Aptos"/>
              </a:rPr>
              <a:t>développer</a:t>
            </a:r>
            <a:r>
              <a:rPr sz="900" dirty="0">
                <a:solidFill>
                  <a:srgbClr val="26313F"/>
                </a:solidFill>
                <a:latin typeface="Aptos"/>
              </a:rPr>
              <a:t> avec </a:t>
            </a:r>
            <a:r>
              <a:rPr sz="900" dirty="0" err="1">
                <a:solidFill>
                  <a:srgbClr val="26313F"/>
                </a:solidFill>
                <a:latin typeface="Aptos"/>
              </a:rPr>
              <a:t>l’effort</a:t>
            </a:r>
            <a:r>
              <a:rPr sz="900" dirty="0">
                <a:solidFill>
                  <a:srgbClr val="26313F"/>
                </a:solidFill>
                <a:latin typeface="Aptos"/>
              </a:rPr>
              <a:t> et </a:t>
            </a:r>
            <a:r>
              <a:rPr sz="900" dirty="0" err="1">
                <a:solidFill>
                  <a:srgbClr val="26313F"/>
                </a:solidFill>
                <a:latin typeface="Aptos"/>
              </a:rPr>
              <a:t>l’expérience</a:t>
            </a:r>
            <a:r>
              <a:rPr sz="900" dirty="0">
                <a:solidFill>
                  <a:srgbClr val="26313F"/>
                </a:solidFill>
                <a:latin typeface="Aptos"/>
              </a:rPr>
              <a:t>.</a:t>
            </a:r>
          </a:p>
          <a:p>
            <a:pPr>
              <a:spcBef>
                <a:spcPts val="375"/>
              </a:spcBef>
            </a:pPr>
            <a:r>
              <a:rPr sz="900" b="1" dirty="0">
                <a:solidFill>
                  <a:srgbClr val="1A3E65"/>
                </a:solidFill>
                <a:latin typeface="Aptos"/>
              </a:rPr>
              <a:t>Face aux </a:t>
            </a:r>
            <a:r>
              <a:rPr sz="900" b="1" dirty="0" err="1">
                <a:solidFill>
                  <a:srgbClr val="1A3E65"/>
                </a:solidFill>
                <a:latin typeface="Aptos"/>
              </a:rPr>
              <a:t>difficultés</a:t>
            </a:r>
            <a:r>
              <a:rPr sz="900" b="1" dirty="0">
                <a:solidFill>
                  <a:srgbClr val="1A3E65"/>
                </a:solidFill>
                <a:latin typeface="Aptos"/>
              </a:rPr>
              <a:t> : </a:t>
            </a:r>
            <a:r>
              <a:rPr sz="900" dirty="0">
                <a:solidFill>
                  <a:srgbClr val="26313F"/>
                </a:solidFill>
                <a:latin typeface="Aptos"/>
              </a:rPr>
              <a:t>affronter • mobiliser </a:t>
            </a:r>
            <a:r>
              <a:rPr sz="900" dirty="0" err="1">
                <a:solidFill>
                  <a:srgbClr val="26313F"/>
                </a:solidFill>
                <a:latin typeface="Aptos"/>
              </a:rPr>
              <a:t>ses</a:t>
            </a:r>
            <a:r>
              <a:rPr sz="900" dirty="0">
                <a:solidFill>
                  <a:srgbClr val="26313F"/>
                </a:solidFill>
                <a:latin typeface="Aptos"/>
              </a:rPr>
              <a:t> </a:t>
            </a:r>
            <a:r>
              <a:rPr sz="900" dirty="0" err="1">
                <a:solidFill>
                  <a:srgbClr val="26313F"/>
                </a:solidFill>
                <a:latin typeface="Aptos"/>
              </a:rPr>
              <a:t>capacités</a:t>
            </a:r>
            <a:r>
              <a:rPr sz="900" dirty="0">
                <a:solidFill>
                  <a:srgbClr val="26313F"/>
                </a:solidFill>
                <a:latin typeface="Aptos"/>
              </a:rPr>
              <a:t> • </a:t>
            </a:r>
            <a:r>
              <a:rPr sz="900" dirty="0" err="1">
                <a:solidFill>
                  <a:srgbClr val="26313F"/>
                </a:solidFill>
                <a:latin typeface="Aptos"/>
              </a:rPr>
              <a:t>persévérer</a:t>
            </a:r>
            <a:r>
              <a:rPr sz="900" dirty="0">
                <a:solidFill>
                  <a:srgbClr val="26313F"/>
                </a:solidFill>
                <a:latin typeface="Aptos"/>
              </a:rPr>
              <a:t>.</a:t>
            </a:r>
          </a:p>
        </p:txBody>
      </p:sp>
      <p:sp>
        <p:nvSpPr>
          <p:cNvPr id="7" name="Rounded Rectangle 6"/>
          <p:cNvSpPr/>
          <p:nvPr/>
        </p:nvSpPr>
        <p:spPr>
          <a:xfrm>
            <a:off x="6192774" y="2255575"/>
            <a:ext cx="2551176" cy="2950408"/>
          </a:xfrm>
          <a:prstGeom prst="roundRect">
            <a:avLst/>
          </a:prstGeom>
          <a:solidFill>
            <a:srgbClr val="FAF2F4"/>
          </a:solidFill>
          <a:ln w="20320">
            <a:solidFill>
              <a:srgbClr val="934953"/>
            </a:solidFill>
          </a:ln>
        </p:spPr>
        <p:style>
          <a:lnRef idx="1">
            <a:schemeClr val="accent1"/>
          </a:lnRef>
          <a:fillRef idx="3">
            <a:schemeClr val="accent1"/>
          </a:fillRef>
          <a:effectRef idx="2">
            <a:schemeClr val="accent1"/>
          </a:effectRef>
          <a:fontRef idx="minor">
            <a:schemeClr val="lt1"/>
          </a:fontRef>
        </p:style>
        <p:txBody>
          <a:bodyPr wrap="square" lIns="96012" tIns="54864" rIns="96012" rtlCol="0" anchor="ctr"/>
          <a:lstStyle/>
          <a:p>
            <a:pPr algn="ctr"/>
            <a:r>
              <a:rPr sz="1200" b="1">
                <a:solidFill>
                  <a:srgbClr val="934953"/>
                </a:solidFill>
                <a:latin typeface="Aptos"/>
              </a:rPr>
              <a:t>SCHÉMA AXÉ SUR L’IMPUISSANCE</a:t>
            </a:r>
          </a:p>
          <a:p>
            <a:pPr>
              <a:spcBef>
                <a:spcPts val="375"/>
              </a:spcBef>
            </a:pPr>
            <a:r>
              <a:rPr sz="900" b="1">
                <a:solidFill>
                  <a:srgbClr val="1A3E65"/>
                </a:solidFill>
                <a:latin typeface="Aptos"/>
              </a:rPr>
              <a:t>Définition : </a:t>
            </a:r>
            <a:r>
              <a:rPr sz="900">
                <a:solidFill>
                  <a:srgbClr val="26313F"/>
                </a:solidFill>
                <a:latin typeface="Aptos"/>
              </a:rPr>
              <a:t>la difficulté risque de révéler ses limites; les revers sont davantage attribués à des facteurs hors contrôle ou au niveau de ses capacités.</a:t>
            </a:r>
          </a:p>
          <a:p>
            <a:pPr>
              <a:spcBef>
                <a:spcPts val="375"/>
              </a:spcBef>
            </a:pPr>
            <a:r>
              <a:rPr sz="900" b="1">
                <a:solidFill>
                  <a:srgbClr val="1A3E65"/>
                </a:solidFill>
                <a:latin typeface="Aptos"/>
              </a:rPr>
              <a:t>Objectifs : </a:t>
            </a:r>
            <a:r>
              <a:rPr sz="900">
                <a:solidFill>
                  <a:srgbClr val="26313F"/>
                </a:solidFill>
                <a:latin typeface="Aptos"/>
              </a:rPr>
              <a:t>démontrer ses compétences → rechercher davantage la reconnaissance.</a:t>
            </a:r>
          </a:p>
          <a:p>
            <a:pPr>
              <a:spcBef>
                <a:spcPts val="375"/>
              </a:spcBef>
            </a:pPr>
            <a:r>
              <a:rPr sz="900" b="1">
                <a:solidFill>
                  <a:srgbClr val="1A3E65"/>
                </a:solidFill>
                <a:latin typeface="Aptos"/>
              </a:rPr>
              <a:t>Intelligence : </a:t>
            </a:r>
            <a:r>
              <a:rPr sz="900">
                <a:solidFill>
                  <a:srgbClr val="26313F"/>
                </a:solidFill>
                <a:latin typeface="Aptos"/>
              </a:rPr>
              <a:t>davantage associée à une mentalité fixe → les capacités sont perçues comme relativement immuables.</a:t>
            </a:r>
          </a:p>
          <a:p>
            <a:pPr>
              <a:spcBef>
                <a:spcPts val="375"/>
              </a:spcBef>
            </a:pPr>
            <a:r>
              <a:rPr sz="900" b="1">
                <a:solidFill>
                  <a:srgbClr val="1A3E65"/>
                </a:solidFill>
                <a:latin typeface="Aptos"/>
              </a:rPr>
              <a:t>Face aux difficultés : </a:t>
            </a:r>
            <a:r>
              <a:rPr sz="900">
                <a:solidFill>
                  <a:srgbClr val="26313F"/>
                </a:solidFill>
                <a:latin typeface="Aptos"/>
              </a:rPr>
              <a:t>défensive • évitement • persistance fragilisée.</a:t>
            </a:r>
          </a:p>
        </p:txBody>
      </p:sp>
      <p:sp>
        <p:nvSpPr>
          <p:cNvPr id="10" name="ZoneTexte 9">
            <a:extLst>
              <a:ext uri="{FF2B5EF4-FFF2-40B4-BE49-F238E27FC236}">
                <a16:creationId xmlns:a16="http://schemas.microsoft.com/office/drawing/2014/main" id="{F3D2BB3B-AB6D-108D-4051-E93FC328FCA6}"/>
              </a:ext>
            </a:extLst>
          </p:cNvPr>
          <p:cNvSpPr txBox="1"/>
          <p:nvPr/>
        </p:nvSpPr>
        <p:spPr>
          <a:xfrm>
            <a:off x="32258" y="2761597"/>
            <a:ext cx="4572000" cy="230832"/>
          </a:xfrm>
          <a:prstGeom prst="rect">
            <a:avLst/>
          </a:prstGeom>
          <a:noFill/>
        </p:spPr>
        <p:txBody>
          <a:bodyPr wrap="square">
            <a:spAutoFit/>
          </a:bodyPr>
          <a:lstStyle/>
          <a:p>
            <a:r>
              <a:rPr lang="fr-CA" sz="900" b="1" dirty="0">
                <a:solidFill>
                  <a:srgbClr val="1A3E65"/>
                </a:solidFill>
                <a:latin typeface="Aptos"/>
              </a:rPr>
              <a:t>Besoins primaires </a:t>
            </a:r>
            <a:endParaRPr lang="fr-CA" sz="2000" dirty="0"/>
          </a:p>
        </p:txBody>
      </p:sp>
      <p:sp>
        <p:nvSpPr>
          <p:cNvPr id="12" name="ZoneTexte 11">
            <a:extLst>
              <a:ext uri="{FF2B5EF4-FFF2-40B4-BE49-F238E27FC236}">
                <a16:creationId xmlns:a16="http://schemas.microsoft.com/office/drawing/2014/main" id="{97EBA0F5-9391-C310-355F-87181F600DCC}"/>
              </a:ext>
            </a:extLst>
          </p:cNvPr>
          <p:cNvSpPr txBox="1"/>
          <p:nvPr/>
        </p:nvSpPr>
        <p:spPr>
          <a:xfrm>
            <a:off x="2332736" y="2082294"/>
            <a:ext cx="4572000" cy="230832"/>
          </a:xfrm>
          <a:prstGeom prst="rect">
            <a:avLst/>
          </a:prstGeom>
          <a:noFill/>
        </p:spPr>
        <p:txBody>
          <a:bodyPr wrap="square">
            <a:spAutoFit/>
          </a:bodyPr>
          <a:lstStyle/>
          <a:p>
            <a:r>
              <a:rPr lang="fr-CA" sz="900" b="1" dirty="0">
                <a:solidFill>
                  <a:srgbClr val="1A3E65"/>
                </a:solidFill>
                <a:latin typeface="Aptos"/>
              </a:rPr>
              <a:t>Besoins composés </a:t>
            </a:r>
            <a:endParaRPr lang="fr-CA" sz="2000" dirty="0"/>
          </a:p>
        </p:txBody>
      </p:sp>
      <p:cxnSp>
        <p:nvCxnSpPr>
          <p:cNvPr id="14" name="Connecteur droit 13">
            <a:extLst>
              <a:ext uri="{FF2B5EF4-FFF2-40B4-BE49-F238E27FC236}">
                <a16:creationId xmlns:a16="http://schemas.microsoft.com/office/drawing/2014/main" id="{24951C2E-26BB-0DB5-ADC5-3F79878DF257}"/>
              </a:ext>
            </a:extLst>
          </p:cNvPr>
          <p:cNvCxnSpPr>
            <a:cxnSpLocks/>
          </p:cNvCxnSpPr>
          <p:nvPr/>
        </p:nvCxnSpPr>
        <p:spPr>
          <a:xfrm>
            <a:off x="966978" y="2992429"/>
            <a:ext cx="142240" cy="1168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BF7C93A7-9E32-F010-508F-20AE31B7F171}"/>
              </a:ext>
            </a:extLst>
          </p:cNvPr>
          <p:cNvCxnSpPr>
            <a:cxnSpLocks/>
          </p:cNvCxnSpPr>
          <p:nvPr/>
        </p:nvCxnSpPr>
        <p:spPr>
          <a:xfrm flipH="1">
            <a:off x="2572258" y="2289558"/>
            <a:ext cx="280670" cy="23043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2422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1214B-4898-C948-4F0B-7AD9025AFC5F}"/>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8E19EB79-5CFC-B7FF-FC6E-E5164536686C}"/>
              </a:ext>
            </a:extLst>
          </p:cNvPr>
          <p:cNvSpPr>
            <a:spLocks noGrp="1"/>
          </p:cNvSpPr>
          <p:nvPr>
            <p:ph idx="1"/>
          </p:nvPr>
        </p:nvSpPr>
        <p:spPr>
          <a:xfrm>
            <a:off x="518160" y="2068776"/>
            <a:ext cx="8199120" cy="2214900"/>
          </a:xfrm>
        </p:spPr>
        <p:style>
          <a:lnRef idx="1">
            <a:schemeClr val="accent1"/>
          </a:lnRef>
          <a:fillRef idx="3">
            <a:schemeClr val="accent1"/>
          </a:fillRef>
          <a:effectRef idx="2">
            <a:schemeClr val="accent1"/>
          </a:effectRef>
          <a:fontRef idx="minor">
            <a:schemeClr val="lt1"/>
          </a:fontRef>
        </p:style>
        <p:txBody>
          <a:bodyPr>
            <a:normAutofit lnSpcReduction="10000"/>
          </a:bodyPr>
          <a:lstStyle/>
          <a:p>
            <a:pPr marL="0" indent="0" algn="ctr">
              <a:buNone/>
            </a:pPr>
            <a:r>
              <a:rPr lang="fr-CA" b="1" dirty="0">
                <a:solidFill>
                  <a:schemeClr val="bg1"/>
                </a:solidFill>
              </a:rPr>
              <a:t>Ce que cela nous permet de comprendre</a:t>
            </a:r>
          </a:p>
          <a:p>
            <a:pPr marL="0" indent="0" algn="ctr">
              <a:buNone/>
            </a:pPr>
            <a:endParaRPr lang="fr-CA" dirty="0"/>
          </a:p>
          <a:p>
            <a:pPr marL="0" indent="0" algn="ctr">
              <a:buNone/>
            </a:pPr>
            <a:r>
              <a:rPr lang="fr-CA" i="1" dirty="0"/>
              <a:t>Nos besoins ne déterminent pas à eux seuls nos comportements. Leur satisfaction dépend aussi de notre interaction avec notre environnement, des possibilités qu’il nous offre et de la manière dont nos expériences nous ont appris à percevoir et à poursuivre ces possibilités.</a:t>
            </a:r>
          </a:p>
        </p:txBody>
      </p:sp>
      <p:sp>
        <p:nvSpPr>
          <p:cNvPr id="4" name="Espace réservé du pied de page 3">
            <a:extLst>
              <a:ext uri="{FF2B5EF4-FFF2-40B4-BE49-F238E27FC236}">
                <a16:creationId xmlns:a16="http://schemas.microsoft.com/office/drawing/2014/main" id="{31DCFCCE-E209-927F-E024-46159FDCA936}"/>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3963093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477774"/>
            <a:ext cx="8229600" cy="380873"/>
          </a:xfrm>
          <a:prstGeom prst="rect">
            <a:avLst/>
          </a:prstGeom>
          <a:noFill/>
        </p:spPr>
        <p:txBody>
          <a:bodyPr wrap="square">
            <a:spAutoFit/>
          </a:bodyPr>
          <a:lstStyle/>
          <a:p>
            <a:pPr algn="l"/>
            <a:r>
              <a:rPr sz="1875" b="1">
                <a:solidFill>
                  <a:srgbClr val="193D65"/>
                </a:solidFill>
                <a:latin typeface="Aptos Display"/>
              </a:rPr>
              <a:t>Théorie de l’autodétermination — Deci et Ryan</a:t>
            </a:r>
          </a:p>
        </p:txBody>
      </p:sp>
      <p:sp>
        <p:nvSpPr>
          <p:cNvPr id="4" name="Rounded Rectangle 3"/>
          <p:cNvSpPr/>
          <p:nvPr/>
        </p:nvSpPr>
        <p:spPr>
          <a:xfrm>
            <a:off x="425196" y="1211580"/>
            <a:ext cx="2619756" cy="2345436"/>
          </a:xfrm>
          <a:prstGeom prst="roundRect">
            <a:avLst/>
          </a:prstGeom>
          <a:solidFill>
            <a:srgbClr val="EEF7FD"/>
          </a:solidFill>
          <a:ln w="22860">
            <a:solidFill>
              <a:srgbClr val="2774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Oval 4"/>
          <p:cNvSpPr/>
          <p:nvPr/>
        </p:nvSpPr>
        <p:spPr>
          <a:xfrm>
            <a:off x="1501902" y="1005840"/>
            <a:ext cx="466344" cy="466344"/>
          </a:xfrm>
          <a:prstGeom prst="ellipse">
            <a:avLst/>
          </a:prstGeom>
          <a:solidFill>
            <a:srgbClr val="2774B7"/>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ptos"/>
              </a:rPr>
              <a:t>●●</a:t>
            </a:r>
          </a:p>
        </p:txBody>
      </p:sp>
      <p:sp>
        <p:nvSpPr>
          <p:cNvPr id="6" name="TextBox 5"/>
          <p:cNvSpPr txBox="1"/>
          <p:nvPr/>
        </p:nvSpPr>
        <p:spPr>
          <a:xfrm>
            <a:off x="596646" y="1485900"/>
            <a:ext cx="2276856" cy="288541"/>
          </a:xfrm>
          <a:prstGeom prst="rect">
            <a:avLst/>
          </a:prstGeom>
          <a:noFill/>
        </p:spPr>
        <p:txBody>
          <a:bodyPr wrap="square">
            <a:spAutoFit/>
          </a:bodyPr>
          <a:lstStyle/>
          <a:p>
            <a:pPr algn="ctr"/>
            <a:r>
              <a:rPr sz="1275" b="1">
                <a:solidFill>
                  <a:srgbClr val="2774B7"/>
                </a:solidFill>
                <a:latin typeface="Aptos Display"/>
              </a:rPr>
              <a:t>RELATION</a:t>
            </a:r>
          </a:p>
        </p:txBody>
      </p:sp>
      <p:sp>
        <p:nvSpPr>
          <p:cNvPr id="7" name="TextBox 6"/>
          <p:cNvSpPr txBox="1"/>
          <p:nvPr/>
        </p:nvSpPr>
        <p:spPr>
          <a:xfrm>
            <a:off x="630935" y="1794510"/>
            <a:ext cx="2208276" cy="236668"/>
          </a:xfrm>
          <a:prstGeom prst="rect">
            <a:avLst/>
          </a:prstGeom>
          <a:noFill/>
        </p:spPr>
        <p:txBody>
          <a:bodyPr wrap="square">
            <a:spAutoFit/>
          </a:bodyPr>
          <a:lstStyle/>
          <a:p>
            <a:pPr algn="ctr"/>
            <a:r>
              <a:rPr sz="938" b="1" i="1">
                <a:solidFill>
                  <a:srgbClr val="212B36"/>
                </a:solidFill>
                <a:latin typeface="Aptos"/>
              </a:rPr>
              <a:t>« Je me sens lié aux autres »</a:t>
            </a:r>
          </a:p>
        </p:txBody>
      </p:sp>
      <p:sp>
        <p:nvSpPr>
          <p:cNvPr id="8" name="TextBox 7"/>
          <p:cNvSpPr txBox="1"/>
          <p:nvPr/>
        </p:nvSpPr>
        <p:spPr>
          <a:xfrm>
            <a:off x="658369" y="2171701"/>
            <a:ext cx="2153411" cy="362535"/>
          </a:xfrm>
          <a:prstGeom prst="rect">
            <a:avLst/>
          </a:prstGeom>
          <a:noFill/>
        </p:spPr>
        <p:txBody>
          <a:bodyPr wrap="square">
            <a:spAutoFit/>
          </a:bodyPr>
          <a:lstStyle/>
          <a:p>
            <a:pPr algn="ctr"/>
            <a:r>
              <a:rPr sz="878">
                <a:solidFill>
                  <a:srgbClr val="212B36"/>
                </a:solidFill>
                <a:latin typeface="Aptos"/>
              </a:rPr>
              <a:t>Se sentir connecté, accepté et appartenir à une communauté.</a:t>
            </a:r>
          </a:p>
        </p:txBody>
      </p:sp>
      <p:sp>
        <p:nvSpPr>
          <p:cNvPr id="9" name="TextBox 8"/>
          <p:cNvSpPr txBox="1"/>
          <p:nvPr/>
        </p:nvSpPr>
        <p:spPr>
          <a:xfrm>
            <a:off x="665226" y="2802636"/>
            <a:ext cx="2139696" cy="214674"/>
          </a:xfrm>
          <a:prstGeom prst="rect">
            <a:avLst/>
          </a:prstGeom>
          <a:noFill/>
        </p:spPr>
        <p:txBody>
          <a:bodyPr wrap="square">
            <a:spAutoFit/>
          </a:bodyPr>
          <a:lstStyle/>
          <a:p>
            <a:pPr algn="ctr"/>
            <a:r>
              <a:rPr sz="795" i="1">
                <a:solidFill>
                  <a:srgbClr val="5B6067"/>
                </a:solidFill>
                <a:latin typeface="Aptos"/>
              </a:rPr>
              <a:t>Lorsque le besoin est soutenu :</a:t>
            </a:r>
          </a:p>
        </p:txBody>
      </p:sp>
      <p:sp>
        <p:nvSpPr>
          <p:cNvPr id="10" name="TextBox 9"/>
          <p:cNvSpPr txBox="1"/>
          <p:nvPr/>
        </p:nvSpPr>
        <p:spPr>
          <a:xfrm>
            <a:off x="713232" y="3049525"/>
            <a:ext cx="2043684" cy="360099"/>
          </a:xfrm>
          <a:prstGeom prst="rect">
            <a:avLst/>
          </a:prstGeom>
          <a:noFill/>
        </p:spPr>
        <p:txBody>
          <a:bodyPr wrap="square">
            <a:spAutoFit/>
          </a:bodyPr>
          <a:lstStyle/>
          <a:p>
            <a:pPr algn="ctr"/>
            <a:r>
              <a:rPr sz="870" b="1">
                <a:solidFill>
                  <a:srgbClr val="2774B7"/>
                </a:solidFill>
                <a:latin typeface="Aptos"/>
              </a:rPr>
              <a:t>  →  Appartenance
  →  Sécurité et confiance</a:t>
            </a:r>
          </a:p>
        </p:txBody>
      </p:sp>
      <p:sp>
        <p:nvSpPr>
          <p:cNvPr id="11" name="Rounded Rectangle 10"/>
          <p:cNvSpPr/>
          <p:nvPr/>
        </p:nvSpPr>
        <p:spPr>
          <a:xfrm>
            <a:off x="3264408" y="1211580"/>
            <a:ext cx="2619756" cy="2345436"/>
          </a:xfrm>
          <a:prstGeom prst="roundRect">
            <a:avLst/>
          </a:prstGeom>
          <a:solidFill>
            <a:srgbClr val="F7F2FB"/>
          </a:solidFill>
          <a:ln w="22860">
            <a:solidFill>
              <a:srgbClr val="7442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Oval 11"/>
          <p:cNvSpPr/>
          <p:nvPr/>
        </p:nvSpPr>
        <p:spPr>
          <a:xfrm>
            <a:off x="4341114" y="1005840"/>
            <a:ext cx="466344" cy="466344"/>
          </a:xfrm>
          <a:prstGeom prst="ellipse">
            <a:avLst/>
          </a:prstGeom>
          <a:solidFill>
            <a:srgbClr val="7442A0"/>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ptos"/>
              </a:rPr>
              <a:t>✓</a:t>
            </a:r>
          </a:p>
        </p:txBody>
      </p:sp>
      <p:sp>
        <p:nvSpPr>
          <p:cNvPr id="13" name="TextBox 12"/>
          <p:cNvSpPr txBox="1"/>
          <p:nvPr/>
        </p:nvSpPr>
        <p:spPr>
          <a:xfrm>
            <a:off x="3435858" y="1485900"/>
            <a:ext cx="2276856" cy="288541"/>
          </a:xfrm>
          <a:prstGeom prst="rect">
            <a:avLst/>
          </a:prstGeom>
          <a:noFill/>
        </p:spPr>
        <p:txBody>
          <a:bodyPr wrap="square">
            <a:spAutoFit/>
          </a:bodyPr>
          <a:lstStyle/>
          <a:p>
            <a:pPr algn="ctr"/>
            <a:r>
              <a:rPr sz="1275" b="1">
                <a:solidFill>
                  <a:srgbClr val="7442A0"/>
                </a:solidFill>
                <a:latin typeface="Aptos Display"/>
              </a:rPr>
              <a:t>AUTONOMIE</a:t>
            </a:r>
          </a:p>
        </p:txBody>
      </p:sp>
      <p:sp>
        <p:nvSpPr>
          <p:cNvPr id="14" name="TextBox 13"/>
          <p:cNvSpPr txBox="1"/>
          <p:nvPr/>
        </p:nvSpPr>
        <p:spPr>
          <a:xfrm>
            <a:off x="3470148" y="1794510"/>
            <a:ext cx="2208276" cy="236668"/>
          </a:xfrm>
          <a:prstGeom prst="rect">
            <a:avLst/>
          </a:prstGeom>
          <a:noFill/>
        </p:spPr>
        <p:txBody>
          <a:bodyPr wrap="square">
            <a:spAutoFit/>
          </a:bodyPr>
          <a:lstStyle/>
          <a:p>
            <a:pPr algn="ctr"/>
            <a:r>
              <a:rPr sz="938" b="1" i="1">
                <a:solidFill>
                  <a:srgbClr val="212B36"/>
                </a:solidFill>
                <a:latin typeface="Aptos"/>
              </a:rPr>
              <a:t>« J’agis parce que je le veux »</a:t>
            </a:r>
          </a:p>
        </p:txBody>
      </p:sp>
      <p:sp>
        <p:nvSpPr>
          <p:cNvPr id="15" name="TextBox 14"/>
          <p:cNvSpPr txBox="1"/>
          <p:nvPr/>
        </p:nvSpPr>
        <p:spPr>
          <a:xfrm>
            <a:off x="3497581" y="2171701"/>
            <a:ext cx="2153411" cy="362535"/>
          </a:xfrm>
          <a:prstGeom prst="rect">
            <a:avLst/>
          </a:prstGeom>
          <a:noFill/>
        </p:spPr>
        <p:txBody>
          <a:bodyPr wrap="square">
            <a:spAutoFit/>
          </a:bodyPr>
          <a:lstStyle/>
          <a:p>
            <a:pPr algn="ctr"/>
            <a:r>
              <a:rPr sz="878">
                <a:solidFill>
                  <a:srgbClr val="212B36"/>
                </a:solidFill>
                <a:latin typeface="Aptos"/>
              </a:rPr>
              <a:t>Agir volontairement, en cohérence avec ses valeurs et ses aspirations.</a:t>
            </a:r>
          </a:p>
        </p:txBody>
      </p:sp>
      <p:sp>
        <p:nvSpPr>
          <p:cNvPr id="16" name="TextBox 15"/>
          <p:cNvSpPr txBox="1"/>
          <p:nvPr/>
        </p:nvSpPr>
        <p:spPr>
          <a:xfrm>
            <a:off x="3504437" y="2802636"/>
            <a:ext cx="2139696" cy="214674"/>
          </a:xfrm>
          <a:prstGeom prst="rect">
            <a:avLst/>
          </a:prstGeom>
          <a:noFill/>
        </p:spPr>
        <p:txBody>
          <a:bodyPr wrap="square">
            <a:spAutoFit/>
          </a:bodyPr>
          <a:lstStyle/>
          <a:p>
            <a:pPr algn="ctr"/>
            <a:r>
              <a:rPr sz="795" i="1">
                <a:solidFill>
                  <a:srgbClr val="5B6067"/>
                </a:solidFill>
                <a:latin typeface="Aptos"/>
              </a:rPr>
              <a:t>Lorsque le besoin est soutenu :</a:t>
            </a:r>
          </a:p>
        </p:txBody>
      </p:sp>
      <p:sp>
        <p:nvSpPr>
          <p:cNvPr id="17" name="TextBox 16"/>
          <p:cNvSpPr txBox="1"/>
          <p:nvPr/>
        </p:nvSpPr>
        <p:spPr>
          <a:xfrm>
            <a:off x="3552444" y="3049525"/>
            <a:ext cx="2043684" cy="360099"/>
          </a:xfrm>
          <a:prstGeom prst="rect">
            <a:avLst/>
          </a:prstGeom>
          <a:noFill/>
        </p:spPr>
        <p:txBody>
          <a:bodyPr wrap="square">
            <a:spAutoFit/>
          </a:bodyPr>
          <a:lstStyle/>
          <a:p>
            <a:pPr algn="ctr"/>
            <a:r>
              <a:rPr sz="870" b="1">
                <a:solidFill>
                  <a:srgbClr val="7442A0"/>
                </a:solidFill>
                <a:latin typeface="Aptos"/>
              </a:rPr>
              <a:t>  →  Intégrité
  →  Responsabilité</a:t>
            </a:r>
          </a:p>
        </p:txBody>
      </p:sp>
      <p:sp>
        <p:nvSpPr>
          <p:cNvPr id="18" name="Rounded Rectangle 17"/>
          <p:cNvSpPr/>
          <p:nvPr/>
        </p:nvSpPr>
        <p:spPr>
          <a:xfrm>
            <a:off x="6103620" y="1211580"/>
            <a:ext cx="2619756" cy="2345436"/>
          </a:xfrm>
          <a:prstGeom prst="roundRect">
            <a:avLst/>
          </a:prstGeom>
          <a:solidFill>
            <a:srgbClr val="F3F8F1"/>
          </a:solidFill>
          <a:ln w="22860">
            <a:solidFill>
              <a:srgbClr val="4E7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Oval 18"/>
          <p:cNvSpPr/>
          <p:nvPr/>
        </p:nvSpPr>
        <p:spPr>
          <a:xfrm>
            <a:off x="7180326" y="1005840"/>
            <a:ext cx="466344" cy="466344"/>
          </a:xfrm>
          <a:prstGeom prst="ellipse">
            <a:avLst/>
          </a:prstGeom>
          <a:solidFill>
            <a:srgbClr val="4E7048"/>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ptos"/>
              </a:rPr>
              <a:t>★</a:t>
            </a:r>
          </a:p>
        </p:txBody>
      </p:sp>
      <p:sp>
        <p:nvSpPr>
          <p:cNvPr id="20" name="TextBox 19"/>
          <p:cNvSpPr txBox="1"/>
          <p:nvPr/>
        </p:nvSpPr>
        <p:spPr>
          <a:xfrm>
            <a:off x="6275070" y="1485900"/>
            <a:ext cx="2276856" cy="288541"/>
          </a:xfrm>
          <a:prstGeom prst="rect">
            <a:avLst/>
          </a:prstGeom>
          <a:noFill/>
        </p:spPr>
        <p:txBody>
          <a:bodyPr wrap="square">
            <a:spAutoFit/>
          </a:bodyPr>
          <a:lstStyle/>
          <a:p>
            <a:pPr algn="ctr"/>
            <a:r>
              <a:rPr sz="1275" b="1">
                <a:solidFill>
                  <a:srgbClr val="4E7048"/>
                </a:solidFill>
                <a:latin typeface="Aptos Display"/>
              </a:rPr>
              <a:t>COMPÉTENCE</a:t>
            </a:r>
          </a:p>
        </p:txBody>
      </p:sp>
      <p:sp>
        <p:nvSpPr>
          <p:cNvPr id="21" name="TextBox 20"/>
          <p:cNvSpPr txBox="1"/>
          <p:nvPr/>
        </p:nvSpPr>
        <p:spPr>
          <a:xfrm>
            <a:off x="6309360" y="1794510"/>
            <a:ext cx="2208276" cy="236668"/>
          </a:xfrm>
          <a:prstGeom prst="rect">
            <a:avLst/>
          </a:prstGeom>
          <a:noFill/>
        </p:spPr>
        <p:txBody>
          <a:bodyPr wrap="square">
            <a:spAutoFit/>
          </a:bodyPr>
          <a:lstStyle/>
          <a:p>
            <a:pPr algn="ctr"/>
            <a:r>
              <a:rPr sz="938" b="1" i="1">
                <a:solidFill>
                  <a:srgbClr val="212B36"/>
                </a:solidFill>
                <a:latin typeface="Aptos"/>
              </a:rPr>
              <a:t>« Je me sens capable »</a:t>
            </a:r>
          </a:p>
        </p:txBody>
      </p:sp>
      <p:sp>
        <p:nvSpPr>
          <p:cNvPr id="22" name="TextBox 21"/>
          <p:cNvSpPr txBox="1"/>
          <p:nvPr/>
        </p:nvSpPr>
        <p:spPr>
          <a:xfrm>
            <a:off x="6336793" y="2171701"/>
            <a:ext cx="2153411" cy="497637"/>
          </a:xfrm>
          <a:prstGeom prst="rect">
            <a:avLst/>
          </a:prstGeom>
          <a:noFill/>
        </p:spPr>
        <p:txBody>
          <a:bodyPr wrap="square">
            <a:spAutoFit/>
          </a:bodyPr>
          <a:lstStyle/>
          <a:p>
            <a:pPr algn="ctr"/>
            <a:r>
              <a:rPr sz="878">
                <a:solidFill>
                  <a:srgbClr val="212B36"/>
                </a:solidFill>
                <a:latin typeface="Aptos"/>
              </a:rPr>
              <a:t>Se sentir efficace, relever des défis à sa portée et constater l’impact de ses actions.</a:t>
            </a:r>
          </a:p>
        </p:txBody>
      </p:sp>
      <p:sp>
        <p:nvSpPr>
          <p:cNvPr id="23" name="TextBox 22"/>
          <p:cNvSpPr txBox="1"/>
          <p:nvPr/>
        </p:nvSpPr>
        <p:spPr>
          <a:xfrm>
            <a:off x="6343650" y="2802636"/>
            <a:ext cx="2139696" cy="214674"/>
          </a:xfrm>
          <a:prstGeom prst="rect">
            <a:avLst/>
          </a:prstGeom>
          <a:noFill/>
        </p:spPr>
        <p:txBody>
          <a:bodyPr wrap="square">
            <a:spAutoFit/>
          </a:bodyPr>
          <a:lstStyle/>
          <a:p>
            <a:pPr algn="ctr"/>
            <a:r>
              <a:rPr sz="795" i="1">
                <a:solidFill>
                  <a:srgbClr val="5B6067"/>
                </a:solidFill>
                <a:latin typeface="Aptos"/>
              </a:rPr>
              <a:t>Lorsque le besoin est soutenu :</a:t>
            </a:r>
          </a:p>
        </p:txBody>
      </p:sp>
      <p:sp>
        <p:nvSpPr>
          <p:cNvPr id="24" name="TextBox 23"/>
          <p:cNvSpPr txBox="1"/>
          <p:nvPr/>
        </p:nvSpPr>
        <p:spPr>
          <a:xfrm>
            <a:off x="6391656" y="3049525"/>
            <a:ext cx="2043684" cy="360099"/>
          </a:xfrm>
          <a:prstGeom prst="rect">
            <a:avLst/>
          </a:prstGeom>
          <a:noFill/>
        </p:spPr>
        <p:txBody>
          <a:bodyPr wrap="square">
            <a:spAutoFit/>
          </a:bodyPr>
          <a:lstStyle/>
          <a:p>
            <a:pPr algn="ctr"/>
            <a:r>
              <a:rPr sz="870" b="1">
                <a:solidFill>
                  <a:srgbClr val="4E7048"/>
                </a:solidFill>
                <a:latin typeface="Aptos"/>
              </a:rPr>
              <a:t>  →  Maîtrise
  →  Accomplissement</a:t>
            </a:r>
          </a:p>
        </p:txBody>
      </p:sp>
      <p:sp>
        <p:nvSpPr>
          <p:cNvPr id="25" name="TextBox 24"/>
          <p:cNvSpPr txBox="1"/>
          <p:nvPr/>
        </p:nvSpPr>
        <p:spPr>
          <a:xfrm>
            <a:off x="3497580" y="3316986"/>
            <a:ext cx="2160270" cy="203133"/>
          </a:xfrm>
          <a:prstGeom prst="rect">
            <a:avLst/>
          </a:prstGeom>
          <a:noFill/>
        </p:spPr>
        <p:txBody>
          <a:bodyPr wrap="square">
            <a:spAutoFit/>
          </a:bodyPr>
          <a:lstStyle/>
          <a:p>
            <a:pPr algn="ctr"/>
            <a:r>
              <a:rPr sz="720" i="1">
                <a:solidFill>
                  <a:srgbClr val="7442A0"/>
                </a:solidFill>
                <a:latin typeface="Aptos"/>
              </a:rPr>
              <a:t>Autonomie ≠ indépendance ou individualisme</a:t>
            </a:r>
          </a:p>
        </p:txBody>
      </p:sp>
      <p:sp>
        <p:nvSpPr>
          <p:cNvPr id="26" name="TextBox 25"/>
          <p:cNvSpPr txBox="1"/>
          <p:nvPr/>
        </p:nvSpPr>
        <p:spPr>
          <a:xfrm>
            <a:off x="459486" y="3918657"/>
            <a:ext cx="8092440" cy="253916"/>
          </a:xfrm>
          <a:prstGeom prst="rect">
            <a:avLst/>
          </a:prstGeom>
          <a:noFill/>
        </p:spPr>
        <p:txBody>
          <a:bodyPr wrap="square">
            <a:spAutoFit/>
          </a:bodyPr>
          <a:lstStyle/>
          <a:p>
            <a:pPr algn="ctr"/>
            <a:r>
              <a:rPr sz="1050" b="1" dirty="0">
                <a:solidFill>
                  <a:srgbClr val="193D65"/>
                </a:solidFill>
                <a:latin typeface="Aptos"/>
              </a:rPr>
              <a:t>Quand les trois </a:t>
            </a:r>
            <a:r>
              <a:rPr sz="1050" b="1" dirty="0" err="1">
                <a:solidFill>
                  <a:srgbClr val="193D65"/>
                </a:solidFill>
                <a:latin typeface="Aptos"/>
              </a:rPr>
              <a:t>besoins</a:t>
            </a:r>
            <a:r>
              <a:rPr sz="1050" b="1" dirty="0">
                <a:solidFill>
                  <a:srgbClr val="193D65"/>
                </a:solidFill>
                <a:latin typeface="Aptos"/>
              </a:rPr>
              <a:t> </a:t>
            </a:r>
            <a:r>
              <a:rPr sz="1050" b="1" dirty="0" err="1">
                <a:solidFill>
                  <a:srgbClr val="193D65"/>
                </a:solidFill>
                <a:latin typeface="Aptos"/>
              </a:rPr>
              <a:t>sont</a:t>
            </a:r>
            <a:r>
              <a:rPr sz="1050" b="1" dirty="0">
                <a:solidFill>
                  <a:srgbClr val="193D65"/>
                </a:solidFill>
                <a:latin typeface="Aptos"/>
              </a:rPr>
              <a:t> </a:t>
            </a:r>
            <a:r>
              <a:rPr sz="1050" b="1" dirty="0" err="1">
                <a:solidFill>
                  <a:srgbClr val="193D65"/>
                </a:solidFill>
                <a:latin typeface="Aptos"/>
              </a:rPr>
              <a:t>soutenus</a:t>
            </a:r>
            <a:r>
              <a:rPr sz="1050" b="1" dirty="0">
                <a:solidFill>
                  <a:srgbClr val="193D65"/>
                </a:solidFill>
                <a:latin typeface="Aptos"/>
              </a:rPr>
              <a:t>…</a:t>
            </a:r>
          </a:p>
        </p:txBody>
      </p:sp>
      <p:sp>
        <p:nvSpPr>
          <p:cNvPr id="27" name="Rounded Rectangle 26"/>
          <p:cNvSpPr/>
          <p:nvPr/>
        </p:nvSpPr>
        <p:spPr>
          <a:xfrm>
            <a:off x="665226" y="4349048"/>
            <a:ext cx="2297430" cy="493776"/>
          </a:xfrm>
          <a:prstGeom prst="roundRect">
            <a:avLst/>
          </a:prstGeom>
          <a:solidFill>
            <a:srgbClr val="EEF7FD"/>
          </a:solidFill>
          <a:ln w="22860">
            <a:solidFill>
              <a:srgbClr val="2774B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5" b="1">
                <a:solidFill>
                  <a:srgbClr val="2774B7"/>
                </a:solidFill>
                <a:latin typeface="Aptos"/>
              </a:rPr>
              <a:t>RELATION + AUTONOMIE + COMPÉTENCE</a:t>
            </a:r>
          </a:p>
        </p:txBody>
      </p:sp>
      <p:sp>
        <p:nvSpPr>
          <p:cNvPr id="28" name="Rounded Rectangle 27"/>
          <p:cNvSpPr/>
          <p:nvPr/>
        </p:nvSpPr>
        <p:spPr>
          <a:xfrm>
            <a:off x="3223260" y="4287326"/>
            <a:ext cx="2503170" cy="493776"/>
          </a:xfrm>
          <a:prstGeom prst="roundRect">
            <a:avLst/>
          </a:prstGeom>
          <a:solidFill>
            <a:srgbClr val="FDF8ED"/>
          </a:solidFill>
          <a:ln w="22860">
            <a:solidFill>
              <a:srgbClr val="C991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5" b="1">
                <a:solidFill>
                  <a:srgbClr val="C99126"/>
                </a:solidFill>
                <a:latin typeface="Aptos"/>
              </a:rPr>
              <a:t>Énergie + bien-être +
intégration des exigences du milieu</a:t>
            </a:r>
          </a:p>
        </p:txBody>
      </p:sp>
      <p:sp>
        <p:nvSpPr>
          <p:cNvPr id="29" name="Rounded Rectangle 28"/>
          <p:cNvSpPr/>
          <p:nvPr/>
        </p:nvSpPr>
        <p:spPr>
          <a:xfrm>
            <a:off x="5993892" y="4287326"/>
            <a:ext cx="2537460" cy="493776"/>
          </a:xfrm>
          <a:prstGeom prst="roundRect">
            <a:avLst/>
          </a:prstGeom>
          <a:solidFill>
            <a:srgbClr val="F3F8F1"/>
          </a:solidFill>
          <a:ln w="22860">
            <a:solidFill>
              <a:srgbClr val="4E7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5" b="1">
                <a:solidFill>
                  <a:srgbClr val="4E7048"/>
                </a:solidFill>
                <a:latin typeface="Aptos"/>
              </a:rPr>
              <a:t>Motivation davantage
autodéterminée</a:t>
            </a:r>
          </a:p>
        </p:txBody>
      </p:sp>
      <p:cxnSp>
        <p:nvCxnSpPr>
          <p:cNvPr id="30" name="Connector 29"/>
          <p:cNvCxnSpPr/>
          <p:nvPr/>
        </p:nvCxnSpPr>
        <p:spPr>
          <a:xfrm>
            <a:off x="2962656" y="4534214"/>
            <a:ext cx="260605" cy="0"/>
          </a:xfrm>
          <a:prstGeom prst="line">
            <a:avLst/>
          </a:prstGeom>
          <a:ln w="27940">
            <a:solidFill>
              <a:srgbClr val="193D65"/>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26430" y="4534214"/>
            <a:ext cx="267462" cy="0"/>
          </a:xfrm>
          <a:prstGeom prst="line">
            <a:avLst/>
          </a:prstGeom>
          <a:ln w="27940">
            <a:solidFill>
              <a:srgbClr val="193D6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58570D49-D613-D6E9-907B-1D92F083DCB7}"/>
              </a:ext>
            </a:extLst>
          </p:cNvPr>
          <p:cNvPicPr>
            <a:picLocks noChangeAspect="1"/>
          </p:cNvPicPr>
          <p:nvPr/>
        </p:nvPicPr>
        <p:blipFill>
          <a:blip r:embed="rId3"/>
          <a:stretch>
            <a:fillRect/>
          </a:stretch>
        </p:blipFill>
        <p:spPr>
          <a:xfrm>
            <a:off x="522743" y="884149"/>
            <a:ext cx="8100000" cy="3915980"/>
          </a:xfrm>
          <a:prstGeom prst="rect">
            <a:avLst/>
          </a:prstGeom>
          <a:noFill/>
        </p:spPr>
      </p:pic>
      <p:sp>
        <p:nvSpPr>
          <p:cNvPr id="2" name="Titre 1">
            <a:extLst>
              <a:ext uri="{FF2B5EF4-FFF2-40B4-BE49-F238E27FC236}">
                <a16:creationId xmlns:a16="http://schemas.microsoft.com/office/drawing/2014/main" id="{8676E290-D98C-A3F4-0EC8-60731D4AAC68}"/>
              </a:ext>
            </a:extLst>
          </p:cNvPr>
          <p:cNvSpPr>
            <a:spLocks noGrp="1"/>
          </p:cNvSpPr>
          <p:nvPr>
            <p:ph type="title"/>
          </p:nvPr>
        </p:nvSpPr>
        <p:spPr>
          <a:xfrm>
            <a:off x="521257" y="144780"/>
            <a:ext cx="8186400" cy="622800"/>
          </a:xfrm>
        </p:spPr>
        <p:txBody>
          <a:bodyPr/>
          <a:lstStyle/>
          <a:p>
            <a:r>
              <a:rPr lang="fr-CA" dirty="0"/>
              <a:t>La théorie de l’autodétermination de </a:t>
            </a:r>
            <a:r>
              <a:rPr lang="fr-CA" dirty="0" err="1"/>
              <a:t>Deci</a:t>
            </a:r>
            <a:r>
              <a:rPr lang="fr-CA" dirty="0"/>
              <a:t> et Ryan</a:t>
            </a:r>
          </a:p>
        </p:txBody>
      </p:sp>
      <p:sp>
        <p:nvSpPr>
          <p:cNvPr id="14" name="Slide Number Placeholder 3">
            <a:extLst>
              <a:ext uri="{FF2B5EF4-FFF2-40B4-BE49-F238E27FC236}">
                <a16:creationId xmlns:a16="http://schemas.microsoft.com/office/drawing/2014/main" id="{BA8A7CB3-6F3F-F7DD-2D5F-0FD68A972335}"/>
              </a:ext>
            </a:extLst>
          </p:cNvPr>
          <p:cNvSpPr>
            <a:spLocks noGrp="1"/>
          </p:cNvSpPr>
          <p:nvPr>
            <p:ph type="sldNum" sz="quarter" idx="11"/>
          </p:nvPr>
        </p:nvSpPr>
        <p:spPr/>
        <p:txBody>
          <a:bodyPr/>
          <a:lstStyle/>
          <a:p>
            <a:pPr>
              <a:spcAft>
                <a:spcPts val="450"/>
              </a:spcAft>
            </a:pPr>
            <a:fld id="{0A5F8BAD-6575-7647-B790-DC8892003398}" type="slidenum">
              <a:rPr lang="fr-FR" smtClean="0"/>
              <a:pPr>
                <a:spcAft>
                  <a:spcPts val="450"/>
                </a:spcAft>
              </a:pPr>
              <a:t>21</a:t>
            </a:fld>
            <a:endParaRPr lang="fr-FR"/>
          </a:p>
        </p:txBody>
      </p:sp>
      <p:sp>
        <p:nvSpPr>
          <p:cNvPr id="12" name="Footer Placeholder 2">
            <a:extLst>
              <a:ext uri="{FF2B5EF4-FFF2-40B4-BE49-F238E27FC236}">
                <a16:creationId xmlns:a16="http://schemas.microsoft.com/office/drawing/2014/main" id="{4A171074-44F8-D501-00EF-45175D36A205}"/>
              </a:ext>
            </a:extLst>
          </p:cNvPr>
          <p:cNvSpPr>
            <a:spLocks noGrp="1"/>
          </p:cNvSpPr>
          <p:nvPr>
            <p:ph type="ftr" sz="quarter" idx="3"/>
          </p:nvPr>
        </p:nvSpPr>
        <p:spPr/>
        <p:txBody>
          <a:bodyPr/>
          <a:lstStyle/>
          <a:p>
            <a:pPr>
              <a:spcAft>
                <a:spcPts val="450"/>
              </a:spcAft>
            </a:pPr>
            <a:r>
              <a:rPr lang="fr-CA"/>
              <a:t>© 2026. Estelle M. Morin, Ph. D.  Tous droits réservés.</a:t>
            </a:r>
            <a:endParaRPr lang="fr-FR"/>
          </a:p>
        </p:txBody>
      </p:sp>
      <p:sp>
        <p:nvSpPr>
          <p:cNvPr id="16" name="Date Placeholder 4">
            <a:extLst>
              <a:ext uri="{FF2B5EF4-FFF2-40B4-BE49-F238E27FC236}">
                <a16:creationId xmlns:a16="http://schemas.microsoft.com/office/drawing/2014/main" id="{954E57D6-07E6-54B6-C3D9-C6B6E7C4F4E6}"/>
              </a:ext>
            </a:extLst>
          </p:cNvPr>
          <p:cNvSpPr>
            <a:spLocks noGrp="1"/>
          </p:cNvSpPr>
          <p:nvPr>
            <p:ph type="dt" sz="half" idx="4294967295"/>
          </p:nvPr>
        </p:nvSpPr>
        <p:spPr>
          <a:xfrm>
            <a:off x="8199438" y="5100638"/>
            <a:ext cx="944562" cy="273050"/>
          </a:xfrm>
          <a:prstGeom prst="rect">
            <a:avLst/>
          </a:prstGeom>
        </p:spPr>
        <p:txBody>
          <a:bodyPr/>
          <a:lstStyle/>
          <a:p>
            <a:pPr>
              <a:spcAft>
                <a:spcPts val="450"/>
              </a:spcAft>
            </a:pPr>
            <a:fld id="{8BA80806-DD0A-4277-8F50-7B86BD4BC3ED}" type="datetime3">
              <a:rPr lang="fr-CA" smtClean="0"/>
              <a:pPr>
                <a:spcAft>
                  <a:spcPts val="450"/>
                </a:spcAft>
              </a:pPr>
              <a:t>26/09/17</a:t>
            </a:fld>
            <a:endParaRPr lang="fr-FR"/>
          </a:p>
        </p:txBody>
      </p:sp>
    </p:spTree>
    <p:extLst>
      <p:ext uri="{BB962C8B-B14F-4D97-AF65-F5344CB8AC3E}">
        <p14:creationId xmlns:p14="http://schemas.microsoft.com/office/powerpoint/2010/main" val="1848165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0A1A8-D9E2-A9ED-0EC1-42BE9DF46FD5}"/>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ABE27F20-0568-0E27-4889-8A4186A9B4FA}"/>
              </a:ext>
            </a:extLst>
          </p:cNvPr>
          <p:cNvSpPr>
            <a:spLocks noGrp="1"/>
          </p:cNvSpPr>
          <p:nvPr>
            <p:ph idx="1"/>
          </p:nvPr>
        </p:nvSpPr>
        <p:spPr>
          <a:xfrm>
            <a:off x="518160" y="2068776"/>
            <a:ext cx="8199120" cy="2214900"/>
          </a:xfrm>
        </p:spPr>
        <p:style>
          <a:lnRef idx="1">
            <a:schemeClr val="accent1"/>
          </a:lnRef>
          <a:fillRef idx="3">
            <a:schemeClr val="accent1"/>
          </a:fillRef>
          <a:effectRef idx="2">
            <a:schemeClr val="accent1"/>
          </a:effectRef>
          <a:fontRef idx="minor">
            <a:schemeClr val="lt1"/>
          </a:fontRef>
        </p:style>
        <p:txBody>
          <a:bodyPr>
            <a:normAutofit fontScale="85000" lnSpcReduction="10000"/>
          </a:bodyPr>
          <a:lstStyle/>
          <a:p>
            <a:pPr marL="0" indent="0" algn="ctr">
              <a:buNone/>
            </a:pPr>
            <a:r>
              <a:rPr lang="fr-CA" b="1" dirty="0">
                <a:solidFill>
                  <a:schemeClr val="bg1"/>
                </a:solidFill>
              </a:rPr>
              <a:t>Ce que cela nous permet de comprendre</a:t>
            </a:r>
          </a:p>
          <a:p>
            <a:pPr marL="0" indent="0" algn="ctr">
              <a:buNone/>
            </a:pPr>
            <a:endParaRPr lang="fr-CA" dirty="0"/>
          </a:p>
          <a:p>
            <a:pPr marL="0" indent="0" algn="ctr">
              <a:buNone/>
            </a:pPr>
            <a:r>
              <a:rPr lang="fr-CA" i="1" dirty="0" err="1"/>
              <a:t>Deci</a:t>
            </a:r>
            <a:r>
              <a:rPr lang="fr-CA" i="1" dirty="0"/>
              <a:t> et Ryan nous rappellent qu’on peut se mettre en action sans que cette motivation soit nécessairement «bénéfique» pour nous : lorsque nous agissons principalement sous l’effet de pressions ou encore de contraintes, notre motivation peut être élevée tout en ayant un coût. À l’inverse, plus nos besoins de relation, de compétence et d’autonomie sont soutenus, plus nous pouvons nous approprier ce que nous faisons et agir de façon autodéterminée.</a:t>
            </a:r>
          </a:p>
        </p:txBody>
      </p:sp>
      <p:sp>
        <p:nvSpPr>
          <p:cNvPr id="4" name="Espace réservé du pied de page 3">
            <a:extLst>
              <a:ext uri="{FF2B5EF4-FFF2-40B4-BE49-F238E27FC236}">
                <a16:creationId xmlns:a16="http://schemas.microsoft.com/office/drawing/2014/main" id="{E2F2FC65-97A9-F332-8AB0-C7F909122699}"/>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3214539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p:cNvSpPr>
            <a:spLocks noGrp="1"/>
          </p:cNvSpPr>
          <p:nvPr>
            <p:ph sz="half" idx="1"/>
          </p:nvPr>
        </p:nvSpPr>
        <p:spPr>
          <a:xfrm>
            <a:off x="887808" y="1387350"/>
            <a:ext cx="6351192" cy="3599640"/>
          </a:xfrm>
        </p:spPr>
        <p:txBody>
          <a:bodyPr>
            <a:normAutofit fontScale="85000" lnSpcReduction="20000"/>
          </a:bodyPr>
          <a:lstStyle/>
          <a:p>
            <a:pPr marL="308610" indent="-308610">
              <a:buFont typeface="Wingdings" panose="05000000000000000000" pitchFamily="2" charset="2"/>
              <a:buChar char="ü"/>
            </a:pPr>
            <a:r>
              <a:rPr lang="fr-CA" dirty="0"/>
              <a:t>Lecture du chapitre 4 en réfléchissant aux questions suivantes:</a:t>
            </a:r>
          </a:p>
          <a:p>
            <a:pPr marL="308610" indent="-308610">
              <a:buFont typeface="Wingdings" panose="05000000000000000000" pitchFamily="2" charset="2"/>
              <a:buChar char="ü"/>
            </a:pPr>
            <a:endParaRPr lang="fr-CA" sz="1728" dirty="0">
              <a:ea typeface="Times New Roman" panose="02020603050405020304" pitchFamily="18" charset="0"/>
            </a:endParaRPr>
          </a:p>
          <a:p>
            <a:pPr marL="532701" lvl="1" indent="-308610">
              <a:buFont typeface="Wingdings" panose="05000000000000000000" pitchFamily="2" charset="2"/>
              <a:buChar char="ü"/>
            </a:pPr>
            <a:r>
              <a:rPr lang="fr-CA" sz="1728" dirty="0">
                <a:ea typeface="Times New Roman" panose="02020603050405020304" pitchFamily="18" charset="0"/>
              </a:rPr>
              <a:t>Quel est le lien entre nos capacités d’adaptation et notre santé physique?</a:t>
            </a:r>
          </a:p>
          <a:p>
            <a:pPr marL="532701" lvl="1" indent="-308610">
              <a:buFont typeface="Wingdings" panose="05000000000000000000" pitchFamily="2" charset="2"/>
              <a:buChar char="ü"/>
            </a:pPr>
            <a:r>
              <a:rPr lang="fr-CA" sz="1728" dirty="0">
                <a:ea typeface="Times New Roman" panose="02020603050405020304" pitchFamily="18" charset="0"/>
              </a:rPr>
              <a:t>Pourquoi, face au même enjeu d’adaptation, 2 personnes ne vont pas rebondir de la même façon?</a:t>
            </a:r>
          </a:p>
          <a:p>
            <a:pPr marL="532701" lvl="1" indent="-308610">
              <a:buFont typeface="Wingdings" panose="05000000000000000000" pitchFamily="2" charset="2"/>
              <a:buChar char="ü"/>
            </a:pPr>
            <a:r>
              <a:rPr lang="fr-CA" sz="1728" dirty="0">
                <a:ea typeface="Times New Roman" panose="02020603050405020304" pitchFamily="18" charset="0"/>
              </a:rPr>
              <a:t>Comment nos émotions influencent-elles notre processus d’adaptation?</a:t>
            </a:r>
          </a:p>
          <a:p>
            <a:pPr marL="532701" lvl="1" indent="-308610">
              <a:buFont typeface="Wingdings" panose="05000000000000000000" pitchFamily="2" charset="2"/>
              <a:buChar char="ü"/>
            </a:pPr>
            <a:r>
              <a:rPr lang="fr-CA" sz="1728" dirty="0">
                <a:ea typeface="Times New Roman" panose="02020603050405020304" pitchFamily="18" charset="0"/>
              </a:rPr>
              <a:t>Pourquoi il peut être difficile d’adopter des stratégies positives?</a:t>
            </a:r>
          </a:p>
          <a:p>
            <a:pPr marL="532701" lvl="1" indent="-308610">
              <a:buFont typeface="Wingdings" panose="05000000000000000000" pitchFamily="2" charset="2"/>
              <a:buChar char="ü"/>
            </a:pPr>
            <a:r>
              <a:rPr lang="fr-CA" sz="1728" dirty="0">
                <a:ea typeface="Times New Roman" panose="02020603050405020304" pitchFamily="18" charset="0"/>
              </a:rPr>
              <a:t>Si nous n’arrivons pas à nous adapter et rebondir, quelles sont les conséquences possibles:</a:t>
            </a:r>
          </a:p>
          <a:p>
            <a:pPr marL="756792" lvl="2" indent="-308610">
              <a:buFont typeface="Wingdings" panose="05000000000000000000" pitchFamily="2" charset="2"/>
              <a:buChar char="ü"/>
            </a:pPr>
            <a:r>
              <a:rPr lang="fr-CA" sz="1728" dirty="0">
                <a:ea typeface="Times New Roman" panose="02020603050405020304" pitchFamily="18" charset="0"/>
              </a:rPr>
              <a:t>Sur sa santé physique?</a:t>
            </a:r>
          </a:p>
          <a:p>
            <a:pPr marL="756792" lvl="2" indent="-308610">
              <a:buFont typeface="Wingdings" panose="05000000000000000000" pitchFamily="2" charset="2"/>
              <a:buChar char="ü"/>
            </a:pPr>
            <a:r>
              <a:rPr lang="fr-CA" sz="1728" dirty="0">
                <a:ea typeface="Times New Roman" panose="02020603050405020304" pitchFamily="18" charset="0"/>
              </a:rPr>
              <a:t>Sur sa santé psychologique?</a:t>
            </a:r>
          </a:p>
          <a:p>
            <a:pPr marL="532701" lvl="1" indent="-308610">
              <a:buFont typeface="Wingdings" panose="05000000000000000000" pitchFamily="2" charset="2"/>
              <a:buChar char="ü"/>
            </a:pPr>
            <a:r>
              <a:rPr lang="fr-CA" sz="1728" dirty="0">
                <a:ea typeface="Times New Roman" panose="02020603050405020304" pitchFamily="18" charset="0"/>
              </a:rPr>
              <a:t>Quels sont les signes qui pourraient indiquer qu’une personne de mon entourage vit de la détresse?</a:t>
            </a:r>
          </a:p>
        </p:txBody>
      </p:sp>
      <p:sp>
        <p:nvSpPr>
          <p:cNvPr id="3" name="Titre 2"/>
          <p:cNvSpPr>
            <a:spLocks noGrp="1"/>
          </p:cNvSpPr>
          <p:nvPr>
            <p:ph type="title"/>
          </p:nvPr>
        </p:nvSpPr>
        <p:spPr>
          <a:xfrm>
            <a:off x="888120" y="718662"/>
            <a:ext cx="7367760" cy="560520"/>
          </a:xfrm>
        </p:spPr>
        <p:txBody>
          <a:bodyPr anchor="ctr">
            <a:normAutofit/>
          </a:bodyPr>
          <a:lstStyle/>
          <a:p>
            <a:r>
              <a:rPr lang="fr-CA" dirty="0"/>
              <a:t>À faire pour la séance 5</a:t>
            </a:r>
          </a:p>
        </p:txBody>
      </p:sp>
      <p:sp>
        <p:nvSpPr>
          <p:cNvPr id="2" name="Espace réservé du pied de page 1"/>
          <p:cNvSpPr>
            <a:spLocks noGrp="1"/>
          </p:cNvSpPr>
          <p:nvPr>
            <p:ph type="ftr" sz="quarter" idx="10"/>
          </p:nvPr>
        </p:nvSpPr>
        <p:spPr>
          <a:xfrm>
            <a:off x="3268980" y="5132247"/>
            <a:ext cx="2606040" cy="166702"/>
          </a:xfrm>
        </p:spPr>
        <p:txBody>
          <a:bodyPr anchor="t">
            <a:normAutofit fontScale="92500" lnSpcReduction="10000"/>
          </a:bodyPr>
          <a:lstStyle/>
          <a:p>
            <a:pPr>
              <a:spcAft>
                <a:spcPts val="540"/>
              </a:spcAft>
            </a:pPr>
            <a:r>
              <a:rPr lang="fr-CA">
                <a:solidFill>
                  <a:srgbClr val="003C71"/>
                </a:solidFill>
              </a:rPr>
              <a:t>@2025. Marie-Christine ALBERT. Tous droits réservés.</a:t>
            </a:r>
          </a:p>
        </p:txBody>
      </p:sp>
      <p:sp>
        <p:nvSpPr>
          <p:cNvPr id="6" name="Espace réservé du contenu 5">
            <a:extLst>
              <a:ext uri="{FF2B5EF4-FFF2-40B4-BE49-F238E27FC236}">
                <a16:creationId xmlns:a16="http://schemas.microsoft.com/office/drawing/2014/main" id="{9B0CA1BC-4729-333B-E48A-D98CA90BEC1F}"/>
              </a:ext>
            </a:extLst>
          </p:cNvPr>
          <p:cNvSpPr>
            <a:spLocks noGrp="1"/>
          </p:cNvSpPr>
          <p:nvPr>
            <p:ph sz="half" idx="2"/>
          </p:nvPr>
        </p:nvSpPr>
        <p:spPr/>
        <p:txBody>
          <a:bodyPr/>
          <a:lstStyle/>
          <a:p>
            <a:endParaRPr lang="fr-CA"/>
          </a:p>
        </p:txBody>
      </p:sp>
    </p:spTree>
    <p:extLst>
      <p:ext uri="{BB962C8B-B14F-4D97-AF65-F5344CB8AC3E}">
        <p14:creationId xmlns:p14="http://schemas.microsoft.com/office/powerpoint/2010/main" val="404374539"/>
      </p:ext>
    </p:extLst>
  </p:cSld>
  <p:clrMapOvr>
    <a:masterClrMapping/>
  </p:clrMapOvr>
</p:sld>
</file>

<file path=ppt/theme/theme1.xml><?xml version="1.0" encoding="utf-8"?>
<a:theme xmlns:a="http://schemas.openxmlformats.org/drawingml/2006/main" name="gabaritPowerPoint_HECMontreal_enseignement">
  <a:themeElements>
    <a:clrScheme name="Personnalisé 5">
      <a:dk1>
        <a:srgbClr val="233250"/>
      </a:dk1>
      <a:lt1>
        <a:srgbClr val="FCFBF8"/>
      </a:lt1>
      <a:dk2>
        <a:srgbClr val="233250"/>
      </a:dk2>
      <a:lt2>
        <a:srgbClr val="FCFBF8"/>
      </a:lt2>
      <a:accent1>
        <a:srgbClr val="233250"/>
      </a:accent1>
      <a:accent2>
        <a:srgbClr val="91A5CE"/>
      </a:accent2>
      <a:accent3>
        <a:srgbClr val="EB5A4E"/>
      </a:accent3>
      <a:accent4>
        <a:srgbClr val="CDAD66"/>
      </a:accent4>
      <a:accent5>
        <a:srgbClr val="BED5BD"/>
      </a:accent5>
      <a:accent6>
        <a:srgbClr val="AC8582"/>
      </a:accent6>
      <a:hlink>
        <a:srgbClr val="233250"/>
      </a:hlink>
      <a:folHlink>
        <a:srgbClr val="EB5A4E"/>
      </a:folHlink>
    </a:clrScheme>
    <a:fontScheme name="Personnalisé 1">
      <a:majorFont>
        <a:latin typeface="Times New Roman"/>
        <a:ea typeface=""/>
        <a:cs typeface=""/>
      </a:majorFont>
      <a:minorFont>
        <a:latin typeface="Visby CF"/>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gabaritPowerPoint_HECMontreal_enseignement" id="{29928FB9-F3AA-45AB-8F46-6E4DF7254101}" vid="{C663BDC5-6FC0-40F6-8608-E4F4FEDA6E7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59A9A6A541A7A45A9CB40BC1908BF18" ma:contentTypeVersion="8" ma:contentTypeDescription="Create a new document." ma:contentTypeScope="" ma:versionID="8f5e8b42a871d183a76939c57151ef8b">
  <xsd:schema xmlns:xsd="http://www.w3.org/2001/XMLSchema" xmlns:xs="http://www.w3.org/2001/XMLSchema" xmlns:p="http://schemas.microsoft.com/office/2006/metadata/properties" xmlns:ns2="bd2dc4b9-1ec7-46e4-8aeb-8e23c24d7901" xmlns:ns3="69dcc765-6b09-4905-a327-946edc2eaaa4" targetNamespace="http://schemas.microsoft.com/office/2006/metadata/properties" ma:root="true" ma:fieldsID="758ba36e4243888cc67d00c9be5b1d70" ns2:_="" ns3:_="">
    <xsd:import namespace="bd2dc4b9-1ec7-46e4-8aeb-8e23c24d7901"/>
    <xsd:import namespace="69dcc765-6b09-4905-a327-946edc2eaaa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2dc4b9-1ec7-46e4-8aeb-8e23c24d79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dcc765-6b09-4905-a327-946edc2eaaa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F99867-7C3C-4C85-A412-31A8DFBF27E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69dcc765-6b09-4905-a327-946edc2eaaa4"/>
    <ds:schemaRef ds:uri="http://purl.org/dc/elements/1.1/"/>
    <ds:schemaRef ds:uri="http://schemas.microsoft.com/office/2006/metadata/properties"/>
    <ds:schemaRef ds:uri="bd2dc4b9-1ec7-46e4-8aeb-8e23c24d7901"/>
    <ds:schemaRef ds:uri="http://www.w3.org/XML/1998/namespace"/>
    <ds:schemaRef ds:uri="http://purl.org/dc/dcmitype/"/>
  </ds:schemaRefs>
</ds:datastoreItem>
</file>

<file path=customXml/itemProps2.xml><?xml version="1.0" encoding="utf-8"?>
<ds:datastoreItem xmlns:ds="http://schemas.openxmlformats.org/officeDocument/2006/customXml" ds:itemID="{44A9448F-BA9E-44D9-B183-5AB1DF955C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2dc4b9-1ec7-46e4-8aeb-8e23c24d7901"/>
    <ds:schemaRef ds:uri="69dcc765-6b09-4905-a327-946edc2eaa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C8C581-688C-4F0F-A726-EDC6D295F3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6257</TotalTime>
  <Words>2737</Words>
  <Application>Microsoft Office PowerPoint</Application>
  <PresentationFormat>Affichage à l'écran (16:10)</PresentationFormat>
  <Paragraphs>247</Paragraphs>
  <Slides>23</Slides>
  <Notes>5</Notes>
  <HiddenSlides>0</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23</vt:i4>
      </vt:variant>
    </vt:vector>
  </HeadingPairs>
  <TitlesOfParts>
    <vt:vector size="35" baseType="lpstr">
      <vt:lpstr>Aptos</vt:lpstr>
      <vt:lpstr>Aptos Display</vt:lpstr>
      <vt:lpstr>Arial</vt:lpstr>
      <vt:lpstr>Articulate Light</vt:lpstr>
      <vt:lpstr>Calibri</vt:lpstr>
      <vt:lpstr>Georgia</vt:lpstr>
      <vt:lpstr>Segoe UI Symbol</vt:lpstr>
      <vt:lpstr>Times New Roman</vt:lpstr>
      <vt:lpstr>Visby CF</vt:lpstr>
      <vt:lpstr>Visby CF Bold</vt:lpstr>
      <vt:lpstr>Wingdings</vt:lpstr>
      <vt:lpstr>gabaritPowerPoint_HECMontreal_enseignement</vt:lpstr>
      <vt:lpstr>Comportement organisationnel</vt:lpstr>
      <vt:lpstr>Objectifs d’apprentissage</vt:lpstr>
      <vt:lpstr>Définition</vt:lpstr>
      <vt:lpstr>Présentation PowerPoint</vt:lpstr>
      <vt:lpstr>Présentation PowerPoint</vt:lpstr>
      <vt:lpstr>Présentation PowerPoint</vt:lpstr>
      <vt:lpstr>La régulation de l’énergie</vt:lpstr>
      <vt:lpstr>Présentation PowerPoint</vt:lpstr>
      <vt:lpstr>Présentation PowerPoint</vt:lpstr>
      <vt:lpstr>Présentation PowerPoint</vt:lpstr>
      <vt:lpstr>La régulation des comportements motivés</vt:lpstr>
      <vt:lpstr>Présentation PowerPoint</vt:lpstr>
      <vt:lpstr>Exercice</vt:lpstr>
      <vt:lpstr>Exercice (suite)</vt:lpstr>
      <vt:lpstr>Présentation PowerPoint</vt:lpstr>
      <vt:lpstr>L’équation du comportement Kurt Lewin</vt:lpstr>
      <vt:lpstr>Présentation PowerPoint</vt:lpstr>
      <vt:lpstr>Présentation PowerPoint</vt:lpstr>
      <vt:lpstr>Présentation PowerPoint</vt:lpstr>
      <vt:lpstr>Présentation PowerPoint</vt:lpstr>
      <vt:lpstr>La théorie de l’autodétermination de Deci et Ryan</vt:lpstr>
      <vt:lpstr>Présentation PowerPoint</vt:lpstr>
      <vt:lpstr>À faire pour la séance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COCO MAC</dc:creator>
  <cp:lastModifiedBy>Marie-Christine Albert</cp:lastModifiedBy>
  <cp:revision>195</cp:revision>
  <dcterms:created xsi:type="dcterms:W3CDTF">2020-04-12T17:45:51Z</dcterms:created>
  <dcterms:modified xsi:type="dcterms:W3CDTF">2026-09-17T19:09:03Z</dcterms:modified>
</cp:coreProperties>
</file>