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4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5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6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7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8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9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0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11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12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21" r:id="rId5"/>
    <p:sldMasterId id="2147483732" r:id="rId6"/>
    <p:sldMasterId id="2147483743" r:id="rId7"/>
  </p:sldMasterIdLst>
  <p:notesMasterIdLst>
    <p:notesMasterId r:id="rId22"/>
  </p:notesMasterIdLst>
  <p:handoutMasterIdLst>
    <p:handoutMasterId r:id="rId23"/>
  </p:handoutMasterIdLst>
  <p:sldIdLst>
    <p:sldId id="958" r:id="rId8"/>
    <p:sldId id="316" r:id="rId9"/>
    <p:sldId id="258" r:id="rId10"/>
    <p:sldId id="1475" r:id="rId11"/>
    <p:sldId id="1515" r:id="rId12"/>
    <p:sldId id="1565" r:id="rId13"/>
    <p:sldId id="280" r:id="rId14"/>
    <p:sldId id="259" r:id="rId15"/>
    <p:sldId id="1559" r:id="rId16"/>
    <p:sldId id="1568" r:id="rId17"/>
    <p:sldId id="940" r:id="rId18"/>
    <p:sldId id="1460" r:id="rId19"/>
    <p:sldId id="1462" r:id="rId20"/>
    <p:sldId id="1457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E0B87E3-A2EA-47CD-FCC0-CF7D499A439E}" name="Katherine Dooling" initials="KD" userId="S::katherine.dooling@hec.ca::899682fa-3a3e-4e2f-bb63-3b35aa76622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Style léger 1 - Accentuation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Style moyen 3 - Accentuation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FECB4D8-DB02-4DC6-A0A2-4F2EBAE1DC90}" styleName="Style moyen 1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192" autoAdjust="0"/>
    <p:restoredTop sz="71382" autoAdjust="0"/>
  </p:normalViewPr>
  <p:slideViewPr>
    <p:cSldViewPr snapToGrid="0">
      <p:cViewPr varScale="1">
        <p:scale>
          <a:sx n="88" d="100"/>
          <a:sy n="88" d="100"/>
        </p:scale>
        <p:origin x="88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115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echa Philion" userId="0f598feb-c4c0-4dda-b2c1-17de97a01329" providerId="ADAL" clId="{E7AA05E6-2E3A-4936-92BE-EF366E7850A9}"/>
    <pc:docChg chg="delSld modSld">
      <pc:chgData name="Loecha Philion" userId="0f598feb-c4c0-4dda-b2c1-17de97a01329" providerId="ADAL" clId="{E7AA05E6-2E3A-4936-92BE-EF366E7850A9}" dt="2026-10-01T13:03:19.527" v="11" actId="6549"/>
      <pc:docMkLst>
        <pc:docMk/>
      </pc:docMkLst>
      <pc:sldChg chg="modNotesTx">
        <pc:chgData name="Loecha Philion" userId="0f598feb-c4c0-4dda-b2c1-17de97a01329" providerId="ADAL" clId="{E7AA05E6-2E3A-4936-92BE-EF366E7850A9}" dt="2026-10-01T13:03:19.527" v="11" actId="6549"/>
        <pc:sldMkLst>
          <pc:docMk/>
          <pc:sldMk cId="2190150572" sldId="259"/>
        </pc:sldMkLst>
      </pc:sldChg>
      <pc:sldChg chg="modNotesTx">
        <pc:chgData name="Loecha Philion" userId="0f598feb-c4c0-4dda-b2c1-17de97a01329" providerId="ADAL" clId="{E7AA05E6-2E3A-4936-92BE-EF366E7850A9}" dt="2026-10-01T13:02:46.162" v="7" actId="6549"/>
        <pc:sldMkLst>
          <pc:docMk/>
          <pc:sldMk cId="964369705" sldId="280"/>
        </pc:sldMkLst>
      </pc:sldChg>
      <pc:sldChg chg="modNotesTx">
        <pc:chgData name="Loecha Philion" userId="0f598feb-c4c0-4dda-b2c1-17de97a01329" providerId="ADAL" clId="{E7AA05E6-2E3A-4936-92BE-EF366E7850A9}" dt="2026-10-01T13:02:21.268" v="2" actId="20577"/>
        <pc:sldMkLst>
          <pc:docMk/>
          <pc:sldMk cId="2309658646" sldId="1475"/>
        </pc:sldMkLst>
      </pc:sldChg>
      <pc:sldChg chg="modNotesTx">
        <pc:chgData name="Loecha Philion" userId="0f598feb-c4c0-4dda-b2c1-17de97a01329" providerId="ADAL" clId="{E7AA05E6-2E3A-4936-92BE-EF366E7850A9}" dt="2026-10-01T13:02:33.034" v="4" actId="6549"/>
        <pc:sldMkLst>
          <pc:docMk/>
          <pc:sldMk cId="4069897630" sldId="1515"/>
        </pc:sldMkLst>
      </pc:sldChg>
      <pc:sldChg chg="modNotesTx">
        <pc:chgData name="Loecha Philion" userId="0f598feb-c4c0-4dda-b2c1-17de97a01329" providerId="ADAL" clId="{E7AA05E6-2E3A-4936-92BE-EF366E7850A9}" dt="2026-10-01T13:03:16.270" v="10" actId="6549"/>
        <pc:sldMkLst>
          <pc:docMk/>
          <pc:sldMk cId="2800951307" sldId="1559"/>
        </pc:sldMkLst>
      </pc:sldChg>
      <pc:sldChg chg="del">
        <pc:chgData name="Loecha Philion" userId="0f598feb-c4c0-4dda-b2c1-17de97a01329" providerId="ADAL" clId="{E7AA05E6-2E3A-4936-92BE-EF366E7850A9}" dt="2026-10-01T13:02:36.852" v="5" actId="47"/>
        <pc:sldMkLst>
          <pc:docMk/>
          <pc:sldMk cId="1005913656" sldId="1561"/>
        </pc:sldMkLst>
      </pc:sldChg>
      <pc:sldChg chg="modNotesTx">
        <pc:chgData name="Loecha Philion" userId="0f598feb-c4c0-4dda-b2c1-17de97a01329" providerId="ADAL" clId="{E7AA05E6-2E3A-4936-92BE-EF366E7850A9}" dt="2026-10-01T13:02:40.534" v="6" actId="6549"/>
        <pc:sldMkLst>
          <pc:docMk/>
          <pc:sldMk cId="3029060073" sldId="156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CD670C81-AD78-4361-91BF-E70814FA82C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D36B191-0ED9-49CB-9345-2BE04AD6A9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42B981-5AA3-4138-B26B-62BC1FF89243}" type="datetimeFigureOut">
              <a:rPr lang="fr-CA" smtClean="0"/>
              <a:t>2026-09-30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685D365-663E-4577-BB7B-FE84D83FBB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CE74875-0173-4273-968D-7FADE50AF4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AEA7BD-79AB-4904-9C66-496202E9682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4189522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6CA536-8654-46BF-A301-B49F5D047479}" type="datetimeFigureOut">
              <a:rPr lang="fr-CA" smtClean="0"/>
              <a:t>2026-09-30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E5843A-D289-45D8-9A63-4174574DA6D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480264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D131D5-6477-4BF7-8776-36E89AAF915A}" type="slidenum">
              <a:rPr lang="fr-CA" smtClean="0">
                <a:solidFill>
                  <a:prstClr val="black"/>
                </a:solidFill>
              </a:rPr>
              <a:pPr/>
              <a:t>1</a:t>
            </a:fld>
            <a:endParaRPr lang="fr-CA">
              <a:solidFill>
                <a:prstClr val="black"/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42940E-DA6B-4F7E-80FA-3C594250943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00224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29FF72-FDAF-42F8-88E7-F2940CB3A5CC}" type="slidenum">
              <a:rPr lang="en-US"/>
              <a:pPr/>
              <a:t>2</a:t>
            </a:fld>
            <a:endParaRPr lang="en-US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34975" y="685800"/>
            <a:ext cx="6097588" cy="3430588"/>
          </a:xfrm>
          <a:ln/>
        </p:spPr>
      </p:sp>
      <p:sp>
        <p:nvSpPr>
          <p:cNvPr id="2" name="Espace réservé des commentaires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73762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DA6A8B-D89A-46FD-832A-72A49CB14D75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FD95A3-7EE4-426C-AC2F-39DEFCDFF79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8201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701040" y="4473891"/>
            <a:ext cx="5608320" cy="4558791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CA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756633-E94B-447C-907F-5A907A338167}" type="slidenum">
              <a:rPr lang="fr-CA" smtClean="0"/>
              <a:t>4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824246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  <a:p>
            <a:r>
              <a:rPr lang="fr-CA" dirty="0"/>
              <a:t>		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E5843A-D289-45D8-9A63-4174574DA6D0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51507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756633-E94B-447C-907F-5A907A338167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80745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96BE5F-D61D-48D2-B540-396B3EEEB704}" type="slidenum">
              <a:rPr kumimoji="0" lang="fr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B6DE7A76-4A73-4CC4-BFE2-53F2E273E89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58195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E5843A-D289-45D8-9A63-4174574DA6D0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212044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E5843A-D289-45D8-9A63-4174574DA6D0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74491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4C9E6B-F5ED-40C1-8369-CD0938E27801}" type="slidenum">
              <a:rPr lang="fr-CA" smtClean="0"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086636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E5843A-D289-45D8-9A63-4174574DA6D0}" type="slidenum">
              <a:rPr lang="fr-CA" smtClean="0"/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72440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E5843A-D289-45D8-9A63-4174574DA6D0}" type="slidenum">
              <a:rPr lang="fr-CA" smtClean="0"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632886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E5843A-D289-45D8-9A63-4174574DA6D0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81670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10904 / S07 </a:t>
            </a:r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6D-BA7A-488A-A09F-D445352BB8E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44048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10904 / S07 </a:t>
            </a:r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6D-BA7A-488A-A09F-D445352BB8E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38179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10904 / S07 </a:t>
            </a:r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6D-BA7A-488A-A09F-D445352BB8E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19372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10904 / S07 </a:t>
            </a:r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6D-BA7A-488A-A09F-D445352BB8E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4859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10904 / S07 </a:t>
            </a:r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6D-BA7A-488A-A09F-D445352BB8E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61141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10904 / S07 </a:t>
            </a:r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6D-BA7A-488A-A09F-D445352BB8E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4281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10904 / S07 </a:t>
            </a:r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6D-BA7A-488A-A09F-D445352BB8E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00595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10904 / S07 </a:t>
            </a:r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6D-BA7A-488A-A09F-D445352BB8E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6829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10904 / S07 </a:t>
            </a:r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6D-BA7A-488A-A09F-D445352BB8E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19540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10904 / S07 </a:t>
            </a:r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6D-BA7A-488A-A09F-D445352BB8E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64801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10904 / S07 </a:t>
            </a:r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6D-BA7A-488A-A09F-D445352BB8E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301339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4473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736974"/>
            <a:ext cx="9144000" cy="15208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  <a:endParaRPr lang="fr-CA" dirty="0"/>
          </a:p>
        </p:txBody>
      </p:sp>
      <p:cxnSp>
        <p:nvCxnSpPr>
          <p:cNvPr id="4" name="Connecteur droit 3"/>
          <p:cNvCxnSpPr/>
          <p:nvPr userDrawn="1"/>
        </p:nvCxnSpPr>
        <p:spPr>
          <a:xfrm>
            <a:off x="604935" y="3467101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/>
          <p:cNvCxnSpPr/>
          <p:nvPr userDrawn="1"/>
        </p:nvCxnSpPr>
        <p:spPr>
          <a:xfrm>
            <a:off x="765111" y="3602038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(c) 10904 / S07 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248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60589"/>
            <a:ext cx="10515600" cy="1042570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467851"/>
            <a:ext cx="10515600" cy="4709112"/>
          </a:xfrm>
          <a:noFill/>
        </p:spPr>
        <p:txBody>
          <a:bodyPr/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772885" y="1214827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 userDrawn="1"/>
        </p:nvCxnSpPr>
        <p:spPr>
          <a:xfrm>
            <a:off x="933061" y="1349764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(c) 10904 / S07 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0008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30981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dirty="0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cxnSp>
        <p:nvCxnSpPr>
          <p:cNvPr id="6" name="Connecteur droit 5"/>
          <p:cNvCxnSpPr/>
          <p:nvPr userDrawn="1"/>
        </p:nvCxnSpPr>
        <p:spPr>
          <a:xfrm>
            <a:off x="828870" y="4219284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 userDrawn="1"/>
        </p:nvCxnSpPr>
        <p:spPr>
          <a:xfrm>
            <a:off x="989046" y="4354221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(c) 10904 / S07 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1957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80301"/>
            <a:ext cx="10515600" cy="1031881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598769"/>
            <a:ext cx="5181600" cy="4578194"/>
          </a:xfrm>
        </p:spPr>
        <p:txBody>
          <a:bodyPr/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598769"/>
            <a:ext cx="5181600" cy="4578194"/>
          </a:xfrm>
        </p:spPr>
        <p:txBody>
          <a:bodyPr/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847530" y="1317464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 userDrawn="1"/>
        </p:nvCxnSpPr>
        <p:spPr>
          <a:xfrm>
            <a:off x="1007706" y="1452401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(c) 10904 / S07 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2838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598769"/>
            <a:ext cx="5157787" cy="6520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250833"/>
            <a:ext cx="5157787" cy="3938830"/>
          </a:xfrm>
        </p:spPr>
        <p:txBody>
          <a:bodyPr/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598769"/>
            <a:ext cx="5183188" cy="6520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250833"/>
            <a:ext cx="5183188" cy="393883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838200" y="180301"/>
            <a:ext cx="10515600" cy="1031881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fr-CA" dirty="0"/>
          </a:p>
        </p:txBody>
      </p:sp>
      <p:cxnSp>
        <p:nvCxnSpPr>
          <p:cNvPr id="9" name="Connecteur droit 8"/>
          <p:cNvCxnSpPr/>
          <p:nvPr userDrawn="1"/>
        </p:nvCxnSpPr>
        <p:spPr>
          <a:xfrm>
            <a:off x="838200" y="1233488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 userDrawn="1"/>
        </p:nvCxnSpPr>
        <p:spPr>
          <a:xfrm>
            <a:off x="998376" y="1368425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(c) 10904 / S07 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4584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838200" y="180301"/>
            <a:ext cx="10515600" cy="1031881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fr-CA" dirty="0"/>
          </a:p>
        </p:txBody>
      </p:sp>
      <p:cxnSp>
        <p:nvCxnSpPr>
          <p:cNvPr id="5" name="Connecteur droit 4"/>
          <p:cNvCxnSpPr/>
          <p:nvPr userDrawn="1"/>
        </p:nvCxnSpPr>
        <p:spPr>
          <a:xfrm>
            <a:off x="800878" y="1242819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 userDrawn="1"/>
        </p:nvCxnSpPr>
        <p:spPr>
          <a:xfrm>
            <a:off x="961054" y="1377756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(c) 10904 / S07 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63578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(c) 10904 / S07 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7920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(c) 10904 / S07 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7936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(c) 10904 / S07 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0097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190500"/>
            <a:ext cx="11004206" cy="828675"/>
          </a:xfrm>
        </p:spPr>
        <p:txBody>
          <a:bodyPr/>
          <a:lstStyle/>
          <a:p>
            <a:r>
              <a:rPr lang="fr-FR" dirty="0"/>
              <a:t>Cliquez pour modifier le style du titre</a:t>
            </a:r>
            <a:endParaRPr lang="en-CA" dirty="0"/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685800" y="1133475"/>
            <a:ext cx="11004206" cy="4886325"/>
          </a:xfrm>
        </p:spPr>
        <p:txBody>
          <a:bodyPr/>
          <a:lstStyle/>
          <a:p>
            <a:pPr lvl="0"/>
            <a:endParaRPr lang="en-CA" noProof="0"/>
          </a:p>
        </p:txBody>
      </p:sp>
      <p:cxnSp>
        <p:nvCxnSpPr>
          <p:cNvPr id="11" name="Connecteur droit 10"/>
          <p:cNvCxnSpPr/>
          <p:nvPr userDrawn="1"/>
        </p:nvCxnSpPr>
        <p:spPr>
          <a:xfrm>
            <a:off x="679580" y="1004694"/>
            <a:ext cx="11010426" cy="1448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 userDrawn="1"/>
        </p:nvCxnSpPr>
        <p:spPr>
          <a:xfrm flipV="1">
            <a:off x="839756" y="1133475"/>
            <a:ext cx="10850250" cy="6156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(c) 10904 / S07 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1843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4473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736974"/>
            <a:ext cx="9144000" cy="15208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  <a:endParaRPr lang="fr-CA" dirty="0"/>
          </a:p>
        </p:txBody>
      </p:sp>
      <p:cxnSp>
        <p:nvCxnSpPr>
          <p:cNvPr id="4" name="Connecteur droit 3"/>
          <p:cNvCxnSpPr/>
          <p:nvPr userDrawn="1"/>
        </p:nvCxnSpPr>
        <p:spPr>
          <a:xfrm>
            <a:off x="604935" y="3467101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/>
          <p:cNvCxnSpPr/>
          <p:nvPr userDrawn="1"/>
        </p:nvCxnSpPr>
        <p:spPr>
          <a:xfrm>
            <a:off x="765111" y="3602038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(c) 10904 / S07 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966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60589"/>
            <a:ext cx="10515600" cy="1042570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467851"/>
            <a:ext cx="10515600" cy="4709112"/>
          </a:xfrm>
          <a:noFill/>
        </p:spPr>
        <p:txBody>
          <a:bodyPr/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772885" y="1214827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 userDrawn="1"/>
        </p:nvCxnSpPr>
        <p:spPr>
          <a:xfrm>
            <a:off x="933061" y="1349764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(c) 10904 / S07 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84802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30981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dirty="0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cxnSp>
        <p:nvCxnSpPr>
          <p:cNvPr id="6" name="Connecteur droit 5"/>
          <p:cNvCxnSpPr/>
          <p:nvPr userDrawn="1"/>
        </p:nvCxnSpPr>
        <p:spPr>
          <a:xfrm>
            <a:off x="828870" y="4219284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 userDrawn="1"/>
        </p:nvCxnSpPr>
        <p:spPr>
          <a:xfrm>
            <a:off x="989046" y="4354221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(c) 10904 / S07 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1044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80301"/>
            <a:ext cx="10515600" cy="1031881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598769"/>
            <a:ext cx="5181600" cy="4578194"/>
          </a:xfrm>
        </p:spPr>
        <p:txBody>
          <a:bodyPr/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598769"/>
            <a:ext cx="5181600" cy="4578194"/>
          </a:xfrm>
        </p:spPr>
        <p:txBody>
          <a:bodyPr/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847530" y="1317464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 userDrawn="1"/>
        </p:nvCxnSpPr>
        <p:spPr>
          <a:xfrm>
            <a:off x="1007706" y="1452401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(c) 10904 / S07 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7709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598769"/>
            <a:ext cx="5157787" cy="6520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250833"/>
            <a:ext cx="5157787" cy="3938830"/>
          </a:xfrm>
        </p:spPr>
        <p:txBody>
          <a:bodyPr/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598769"/>
            <a:ext cx="5183188" cy="6520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250833"/>
            <a:ext cx="5183188" cy="393883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838200" y="180301"/>
            <a:ext cx="10515600" cy="1031881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fr-CA" dirty="0"/>
          </a:p>
        </p:txBody>
      </p:sp>
      <p:cxnSp>
        <p:nvCxnSpPr>
          <p:cNvPr id="9" name="Connecteur droit 8"/>
          <p:cNvCxnSpPr/>
          <p:nvPr userDrawn="1"/>
        </p:nvCxnSpPr>
        <p:spPr>
          <a:xfrm>
            <a:off x="838200" y="1233488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 userDrawn="1"/>
        </p:nvCxnSpPr>
        <p:spPr>
          <a:xfrm>
            <a:off x="998376" y="1368425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(c) 10904 / S07 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1883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838200" y="180301"/>
            <a:ext cx="10515600" cy="1031881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fr-CA" dirty="0"/>
          </a:p>
        </p:txBody>
      </p:sp>
      <p:cxnSp>
        <p:nvCxnSpPr>
          <p:cNvPr id="5" name="Connecteur droit 4"/>
          <p:cNvCxnSpPr/>
          <p:nvPr userDrawn="1"/>
        </p:nvCxnSpPr>
        <p:spPr>
          <a:xfrm>
            <a:off x="800878" y="1242819"/>
            <a:ext cx="10515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 userDrawn="1"/>
        </p:nvCxnSpPr>
        <p:spPr>
          <a:xfrm>
            <a:off x="961054" y="1377756"/>
            <a:ext cx="10487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(c) 10904 / S07 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9604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(c) 10904 / S07 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8666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(c) 10904 / S07 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4757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(c) 10904 / S07 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10550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190500"/>
            <a:ext cx="11004206" cy="828675"/>
          </a:xfrm>
        </p:spPr>
        <p:txBody>
          <a:bodyPr/>
          <a:lstStyle/>
          <a:p>
            <a:r>
              <a:rPr lang="fr-FR" dirty="0"/>
              <a:t>Cliquez pour modifier le style du titre</a:t>
            </a:r>
            <a:endParaRPr lang="en-CA" dirty="0"/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685800" y="1133475"/>
            <a:ext cx="11004206" cy="4886325"/>
          </a:xfrm>
        </p:spPr>
        <p:txBody>
          <a:bodyPr/>
          <a:lstStyle/>
          <a:p>
            <a:pPr lvl="0"/>
            <a:endParaRPr lang="en-CA" noProof="0"/>
          </a:p>
        </p:txBody>
      </p:sp>
      <p:cxnSp>
        <p:nvCxnSpPr>
          <p:cNvPr id="11" name="Connecteur droit 10"/>
          <p:cNvCxnSpPr/>
          <p:nvPr userDrawn="1"/>
        </p:nvCxnSpPr>
        <p:spPr>
          <a:xfrm>
            <a:off x="679580" y="1004694"/>
            <a:ext cx="11010426" cy="1448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 userDrawn="1"/>
        </p:nvCxnSpPr>
        <p:spPr>
          <a:xfrm flipV="1">
            <a:off x="839756" y="1133475"/>
            <a:ext cx="10850250" cy="6156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843754" y="6350387"/>
            <a:ext cx="2504492" cy="30334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(c) 10904 / S07 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439330" y="6353143"/>
            <a:ext cx="530290" cy="30058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2661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E2E702-E45E-BCDF-74B3-39893251A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D6F8297-6119-F8EF-5F54-63D2C437E5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9DFAB2-7CFA-F5AD-4F69-489A14E0C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FF2F5F-A193-9A9C-F6F3-1CF8EA730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10904 / S07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22DA1B3-AF3D-1FDB-7588-B6EF35D5C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60E43-F44B-40C3-97B4-4EC4E0FC302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1195902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5D8B55-41E0-61F2-1E26-AA842F7F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C7C7F4-CC46-D883-FA0B-AAAB7C9F3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A0EC83-0868-4118-B014-9D4BAB88A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65E027-5DDC-2CDC-2C94-2FEF7B12F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10904 / S07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1501D73-8561-DE15-D01A-C680AD671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60E43-F44B-40C3-97B4-4EC4E0FC302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629942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EA586-6CBD-B7C8-BC59-5F6DD06E2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34A049B-B991-E957-C07E-C5744568A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56E152-C291-9BFE-722B-BB20DB20C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8798388-E420-6A26-1DAA-2B759308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10904 / S07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EEAF9E-1091-2F23-9A8A-4BA4B2A73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60E43-F44B-40C3-97B4-4EC4E0FC302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790620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717BAD-E7C5-C397-CED8-5060BA71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040FCF-1499-C797-AD5B-A62A937EC1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947EB24-078C-2DBE-B620-FBB0C0EFA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3A35DC7-974C-AA86-01F6-5F97868A5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39867B2-4E03-5A0E-6F4A-48D4358B2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10904 / S07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3DFE39A-D885-3B02-AD7B-3741DB9FF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60E43-F44B-40C3-97B4-4EC4E0FC302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305351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630AD0-0EDA-1730-259F-48ECDF842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FBB14E-DB94-336D-DF25-D38730DCB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5E764E0-4C68-3C55-7161-CE0A60FC8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BB807B7-EE1B-B7DD-7D49-87ED3F9595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0C08B0B-808D-EE17-1894-B82E7DD1F9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450C1D8-6B25-6F10-1CD8-4DD22271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2C254E5-43BA-BC7C-C3E8-E732695D8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10904 / S07 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7009604-123B-2835-B5DE-3AF305D86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60E43-F44B-40C3-97B4-4EC4E0FC302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337395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10363B-B061-67C8-79CC-5218BEAF7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425C667-3E18-59CD-88A0-E7C98017A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B497FDD-4CDB-A63B-4093-2621C7417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10904 / S07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18B25DE-4A38-56C1-64EE-94210EEB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60E43-F44B-40C3-97B4-4EC4E0FC302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3773401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D05C7FA-006B-D0A1-9B7A-6C6FB9DE0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371228E-1AB8-0C8E-3483-E4F34B464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10904 / S07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6335782-3217-F968-9A07-4C6F4A526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60E43-F44B-40C3-97B4-4EC4E0FC302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25160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13ECB9-30F4-7E2A-38F7-1C0E5ED54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6BCA3A-15BB-C085-C55E-7B088C0CA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1BA9BBC-A798-7B71-3A35-EC432F0A4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60E6C3-B504-428C-C494-A49C230F8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AA88E9C-F36C-E827-77F4-45F4086E3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10904 / S07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FF3FD73-C0F8-8BD4-53EB-E95F2619B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60E43-F44B-40C3-97B4-4EC4E0FC302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324500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709640-0594-805A-AD2B-8018CAEAC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293304D-28DF-D28D-CADD-222287623F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4CBC2E8-30F8-7CA6-BD94-61B472112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11FD804-10B4-F3EC-F4A4-B68E1B487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CC9C43-1484-AF74-92D5-88D60AA3C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10904 / S07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E3B0F1-E1A6-3AAB-E590-32C2B6A3A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60E43-F44B-40C3-97B4-4EC4E0FC302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725718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AEC91E-81D9-7B88-3F30-5D2E47558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C5EA544-D95C-8897-B2EB-F5CF3794E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10ED5D-0DEF-A6C2-3BC6-DE398572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63EE6F-2210-F4A2-B9D8-07EDC3086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10904 / S07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A54981-0EFA-F8A4-23A4-264496DDD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60E43-F44B-40C3-97B4-4EC4E0FC302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3498027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1999E46-FE83-D6F1-7EF1-102AB8C14B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DD32444-3806-521A-9306-EDC73B2FE1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CEB851-14A6-7508-E9D7-3DA404978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C641B0-C0D6-0108-7209-B160F4BB4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10904 / S07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095FA7D-7C18-2101-DF19-1EB6997CD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60E43-F44B-40C3-97B4-4EC4E0FC302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1437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(c) 10904 / S07 </a:t>
            </a:r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4196D-BA7A-488A-A09F-D445352BB8E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7176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4906"/>
            <a:ext cx="1821024" cy="3680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2926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4906"/>
            <a:ext cx="1821024" cy="3680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7503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BE67037-87A0-49FC-7C95-C6A810537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5B0382C-856F-883C-3E2F-88720F480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7ACD93-2322-6B85-F7FB-38848BE88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9C9BC1-1100-99B3-FB8A-8B56DD7FC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CA"/>
              <a:t>(c) 10904 / S07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D10ECC-5CD7-5F8B-211D-58CB16E48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E60E43-F44B-40C3-97B4-4EC4E0FC302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47245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4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3" Type="http://schemas.openxmlformats.org/officeDocument/2006/relationships/tags" Target="../tags/tag7.xml"/><Relationship Id="rId7" Type="http://schemas.openxmlformats.org/officeDocument/2006/relationships/slideLayout" Target="../slideLayouts/slideLayout13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4.xml"/><Relationship Id="rId4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slideLayout" Target="../slideLayouts/slideLayout23.xml"/><Relationship Id="rId5" Type="http://schemas.openxmlformats.org/officeDocument/2006/relationships/tags" Target="../tags/tag19.xml"/><Relationship Id="rId4" Type="http://schemas.openxmlformats.org/officeDocument/2006/relationships/tags" Target="../tags/tag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24.xml"/><Relationship Id="rId4" Type="http://schemas.openxmlformats.org/officeDocument/2006/relationships/tags" Target="../tags/tag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3" Type="http://schemas.openxmlformats.org/officeDocument/2006/relationships/tags" Target="../tags/tag29.xml"/><Relationship Id="rId7" Type="http://schemas.openxmlformats.org/officeDocument/2006/relationships/slideLayout" Target="../slideLayouts/slideLayout1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3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7" Type="http://schemas.openxmlformats.org/officeDocument/2006/relationships/notesSlide" Target="../notesSlides/notesSlide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41.xml"/><Relationship Id="rId4" Type="http://schemas.openxmlformats.org/officeDocument/2006/relationships/tags" Target="../tags/tag4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2.sv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4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4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5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841248" y="3194857"/>
            <a:ext cx="5808448" cy="911117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Département de sciences </a:t>
            </a:r>
            <a:r>
              <a:rPr lang="en-US" sz="2000" dirty="0" err="1">
                <a:solidFill>
                  <a:schemeClr val="tx1"/>
                </a:solidFill>
              </a:rPr>
              <a:t>comptables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Année </a:t>
            </a:r>
            <a:r>
              <a:rPr lang="en-US" sz="2000" dirty="0" err="1">
                <a:solidFill>
                  <a:schemeClr val="tx1"/>
                </a:solidFill>
              </a:rPr>
              <a:t>universitaire</a:t>
            </a:r>
            <a:r>
              <a:rPr lang="en-US" sz="2000" dirty="0">
                <a:solidFill>
                  <a:schemeClr val="tx1"/>
                </a:solidFill>
              </a:rPr>
              <a:t> 2026 – 2027</a:t>
            </a:r>
            <a:endParaRPr lang="en-US" sz="20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41248" y="1380847"/>
            <a:ext cx="6270964" cy="1807054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Comptabilité</a:t>
            </a:r>
            <a:r>
              <a:rPr lang="en-US" sz="3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gestion</a:t>
            </a:r>
            <a:br>
              <a:rPr lang="en-US" sz="3800" dirty="0">
                <a:latin typeface="+mj-lt"/>
                <a:ea typeface="+mj-ea"/>
                <a:cs typeface="+mj-cs"/>
              </a:rPr>
            </a:br>
            <a:r>
              <a:rPr lang="en-US" sz="3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(10904)</a:t>
            </a:r>
            <a:br>
              <a:rPr lang="en-US" sz="3800" dirty="0">
                <a:latin typeface="+mj-lt"/>
                <a:ea typeface="+mj-ea"/>
                <a:cs typeface="+mj-cs"/>
              </a:rPr>
            </a:br>
            <a:r>
              <a:rPr lang="en-US" sz="3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Séance 7</a:t>
            </a: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9B810BA0-F7A4-4878-95AF-BB4297265AE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7112212" y="6355080"/>
            <a:ext cx="424158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kern="1200">
                <a:solidFill>
                  <a:srgbClr val="FFFFFF">
                    <a:alpha val="80000"/>
                  </a:srgbClr>
                </a:solidFill>
                <a:latin typeface="Calibri" panose="020F0502020204030204"/>
                <a:ea typeface="+mn-ea"/>
                <a:cs typeface="+mn-cs"/>
              </a:rPr>
              <a:t>(c) 10904 / S07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5AAF6F4-0B39-45E2-AF79-D844A76188B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4164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fr-CA" sz="4000" dirty="0"/>
              <a:t>Objectifs de la séance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838200" y="1806497"/>
            <a:ext cx="10515600" cy="43704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 dirty="0"/>
              <a:t>Être en mesure de traiter un cas complexe en utilisant les notions vues dans les séances 1 à 7;</a:t>
            </a:r>
          </a:p>
          <a:p>
            <a:r>
              <a:rPr lang="fr-CA" dirty="0"/>
              <a:t>Savoir intégrer les notions vues dans les séances 1 à 7 dans différentes situations.</a:t>
            </a:r>
            <a:endParaRPr lang="fr-CA" dirty="0">
              <a:cs typeface="Calibri"/>
            </a:endParaRPr>
          </a:p>
          <a:p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2564" y="6453014"/>
            <a:ext cx="3966871" cy="244397"/>
          </a:xfrm>
        </p:spPr>
        <p:txBody>
          <a:bodyPr lIns="91440" tIns="45720" rIns="91440" bIns="45720" anchor="t"/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</a:rPr>
              <a:t>(c) 10904 / S07 </a:t>
            </a:r>
            <a:endParaRPr lang="fr-CA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ZoneTexte 6"/>
          <p:cNvSpPr txBox="1"/>
          <p:nvPr>
            <p:custDataLst>
              <p:tags r:id="rId5"/>
            </p:custDataLst>
          </p:nvPr>
        </p:nvSpPr>
        <p:spPr>
          <a:xfrm>
            <a:off x="2666977" y="-64296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A"/>
          </a:p>
        </p:txBody>
      </p:sp>
      <p:sp>
        <p:nvSpPr>
          <p:cNvPr id="2" name="Espace réservé du numéro de diapositive 4">
            <a:extLst>
              <a:ext uri="{FF2B5EF4-FFF2-40B4-BE49-F238E27FC236}">
                <a16:creationId xmlns:a16="http://schemas.microsoft.com/office/drawing/2014/main" id="{3B954F40-D6CC-F2F1-1967-BD929F67848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11439330" y="6353143"/>
            <a:ext cx="530290" cy="300587"/>
          </a:xfrm>
        </p:spPr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208291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r>
              <a:rPr lang="fr-CA" dirty="0"/>
              <a:t>Révision avant l’intra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algn="ctr"/>
            <a:r>
              <a:rPr lang="fr-CA" sz="5400" dirty="0">
                <a:solidFill>
                  <a:schemeClr val="tx1"/>
                </a:solidFill>
              </a:rPr>
              <a:t>Séance 7</a:t>
            </a:r>
          </a:p>
        </p:txBody>
      </p:sp>
      <p:sp>
        <p:nvSpPr>
          <p:cNvPr id="7" name="Espace réservé du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91927" y="6487610"/>
            <a:ext cx="4008146" cy="33223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(c) 10904 / S07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B1E19B7-7FA2-4487-A3B8-85D9FA3AB62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078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260112"/>
            <a:ext cx="10515600" cy="875302"/>
          </a:xfrm>
        </p:spPr>
        <p:txBody>
          <a:bodyPr>
            <a:normAutofit/>
          </a:bodyPr>
          <a:lstStyle/>
          <a:p>
            <a:pPr algn="ctr"/>
            <a:r>
              <a:rPr lang="fr-CA" sz="4000" dirty="0"/>
              <a:t>Vue globale du cours (séances 1 à 7)</a:t>
            </a:r>
            <a:endParaRPr lang="fr-CA" sz="1600" dirty="0">
              <a:highlight>
                <a:srgbClr val="00FF00"/>
              </a:highlight>
            </a:endParaRP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D921086-DDAB-4676-B830-CAEB6EBAA13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 rot="16200000">
            <a:off x="10121418" y="3196885"/>
            <a:ext cx="3527514" cy="300587"/>
          </a:xfrm>
        </p:spPr>
        <p:txBody>
          <a:bodyPr/>
          <a:lstStyle/>
          <a:p>
            <a:r>
              <a:rPr lang="pt-BR" dirty="0">
                <a:solidFill>
                  <a:prstClr val="black">
                    <a:tint val="75000"/>
                  </a:prstClr>
                </a:solidFill>
              </a:rPr>
              <a:t>(c) 10904 / S01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CCF4D99-4302-4BB0-B2FE-B830EFC28A2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9" name="Groupe 18"/>
          <p:cNvGrpSpPr/>
          <p:nvPr>
            <p:custDataLst>
              <p:tags r:id="rId4"/>
            </p:custDataLst>
          </p:nvPr>
        </p:nvGrpSpPr>
        <p:grpSpPr>
          <a:xfrm>
            <a:off x="612419" y="1925397"/>
            <a:ext cx="10738068" cy="4728333"/>
            <a:chOff x="1511394" y="2067150"/>
            <a:chExt cx="7910058" cy="4476536"/>
          </a:xfrm>
        </p:grpSpPr>
        <p:sp>
          <p:nvSpPr>
            <p:cNvPr id="7" name="Rectangle 6"/>
            <p:cNvSpPr/>
            <p:nvPr/>
          </p:nvSpPr>
          <p:spPr>
            <a:xfrm>
              <a:off x="1511394" y="2067150"/>
              <a:ext cx="2157715" cy="2422956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fr-CA" b="1" dirty="0">
                  <a:solidFill>
                    <a:schemeClr val="tx1"/>
                  </a:solidFill>
                  <a:ea typeface="+mn-lt"/>
                  <a:cs typeface="+mn-lt"/>
                </a:rPr>
                <a:t>Séance 1: </a:t>
              </a:r>
              <a:r>
                <a:rPr lang="fr-CA" dirty="0">
                  <a:solidFill>
                    <a:schemeClr val="tx1"/>
                  </a:solidFill>
                  <a:ea typeface="+mn-lt"/>
                  <a:cs typeface="+mn-lt"/>
                </a:rPr>
                <a:t>Notions de coûts</a:t>
              </a:r>
              <a:endParaRPr lang="en-US" dirty="0">
                <a:ea typeface="+mn-lt"/>
                <a:cs typeface="+mn-lt"/>
              </a:endParaRPr>
            </a:p>
            <a:p>
              <a:pPr marL="285750" indent="-285750">
                <a:buFont typeface="Arial,Sans-Serif"/>
                <a:buChar char="•"/>
              </a:pPr>
              <a:r>
                <a:rPr lang="fr-CA" dirty="0">
                  <a:solidFill>
                    <a:schemeClr val="tx1"/>
                  </a:solidFill>
                  <a:ea typeface="+mn-lt"/>
                  <a:cs typeface="+mn-lt"/>
                </a:rPr>
                <a:t>Coût total</a:t>
              </a:r>
              <a:endParaRPr lang="en-US" dirty="0">
                <a:ea typeface="+mn-lt"/>
                <a:cs typeface="+mn-lt"/>
              </a:endParaRPr>
            </a:p>
            <a:p>
              <a:pPr marL="285750" indent="-285750">
                <a:buFont typeface="Arial,Sans-Serif"/>
                <a:buChar char="•"/>
              </a:pPr>
              <a:r>
                <a:rPr lang="fr-CA" dirty="0">
                  <a:solidFill>
                    <a:schemeClr val="tx1"/>
                  </a:solidFill>
                  <a:ea typeface="+mn-lt"/>
                  <a:cs typeface="+mn-lt"/>
                </a:rPr>
                <a:t>Coût moyen</a:t>
              </a:r>
            </a:p>
            <a:p>
              <a:pPr marL="285750" indent="-285750">
                <a:buFont typeface="Arial,Sans-Serif"/>
                <a:buChar char="•"/>
              </a:pPr>
              <a:r>
                <a:rPr lang="fr-CA" dirty="0">
                  <a:solidFill>
                    <a:schemeClr val="tx1"/>
                  </a:solidFill>
                  <a:ea typeface="+mn-lt"/>
                  <a:cs typeface="+mn-lt"/>
                </a:rPr>
                <a:t>Coût marginal</a:t>
              </a:r>
              <a:endParaRPr lang="en-US" dirty="0">
                <a:ea typeface="+mn-lt"/>
                <a:cs typeface="+mn-lt"/>
              </a:endParaRPr>
            </a:p>
            <a:p>
              <a:pPr marL="285750" indent="-285750">
                <a:buFont typeface="Arial,Sans-Serif"/>
                <a:buChar char="•"/>
              </a:pPr>
              <a:r>
                <a:rPr lang="fr-CA" dirty="0">
                  <a:solidFill>
                    <a:schemeClr val="tx1"/>
                  </a:solidFill>
                  <a:cs typeface="Calibri"/>
                </a:rPr>
                <a:t>Coût fixe (par paliers)</a:t>
              </a:r>
              <a:endParaRPr lang="en-US" dirty="0">
                <a:ea typeface="+mn-lt"/>
                <a:cs typeface="+mn-lt"/>
              </a:endParaRPr>
            </a:p>
            <a:p>
              <a:pPr marL="285750" indent="-285750">
                <a:buFont typeface="Arial,Sans-Serif"/>
                <a:buChar char="•"/>
              </a:pPr>
              <a:r>
                <a:rPr lang="fr-CA" dirty="0">
                  <a:solidFill>
                    <a:schemeClr val="tx1"/>
                  </a:solidFill>
                  <a:cs typeface="Calibri"/>
                </a:rPr>
                <a:t>Coût variable (par paliers)</a:t>
              </a:r>
            </a:p>
            <a:p>
              <a:pPr marL="285750" indent="-285750">
                <a:buFont typeface="Arial,Sans-Serif"/>
                <a:buChar char="•"/>
              </a:pPr>
              <a:r>
                <a:rPr lang="fr-CA" dirty="0">
                  <a:solidFill>
                    <a:schemeClr val="tx1"/>
                  </a:solidFill>
                  <a:ea typeface="+mn-lt"/>
                  <a:cs typeface="Calibri"/>
                </a:rPr>
                <a:t>Coût mixte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511394" y="4564221"/>
              <a:ext cx="2157715" cy="1579948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fr-CA" b="1" dirty="0">
                  <a:solidFill>
                    <a:schemeClr val="tx1"/>
                  </a:solidFill>
                </a:rPr>
                <a:t>Séance 2 : </a:t>
              </a:r>
              <a:r>
                <a:rPr lang="fr-CA" dirty="0">
                  <a:solidFill>
                    <a:schemeClr val="tx1"/>
                  </a:solidFill>
                  <a:ea typeface="+mn-lt"/>
                  <a:cs typeface="+mn-lt"/>
                </a:rPr>
                <a:t>L’analyse coût – volume - résultat (</a:t>
              </a:r>
              <a:r>
                <a:rPr lang="fr-CA" b="1" dirty="0">
                  <a:solidFill>
                    <a:schemeClr val="tx1"/>
                  </a:solidFill>
                  <a:ea typeface="+mn-lt"/>
                  <a:cs typeface="+mn-lt"/>
                </a:rPr>
                <a:t>CVR</a:t>
              </a:r>
              <a:r>
                <a:rPr lang="fr-CA" dirty="0">
                  <a:solidFill>
                    <a:schemeClr val="tx1"/>
                  </a:solidFill>
                  <a:ea typeface="+mn-lt"/>
                  <a:cs typeface="+mn-lt"/>
                </a:rPr>
                <a:t>) et la prise de décision. </a:t>
              </a:r>
            </a:p>
            <a:p>
              <a:pPr algn="ctr"/>
              <a:r>
                <a:rPr lang="fr-CA" sz="1600" i="1" dirty="0">
                  <a:solidFill>
                    <a:schemeClr val="tx1"/>
                  </a:solidFill>
                  <a:ea typeface="+mn-lt"/>
                  <a:cs typeface="+mn-lt"/>
                </a:rPr>
                <a:t>Comprendre l’effet de la structure de coût sur la rentabilité et le risque de pertes</a:t>
              </a:r>
              <a:endParaRPr lang="en-US" sz="1600" i="1" dirty="0">
                <a:solidFill>
                  <a:schemeClr val="tx1"/>
                </a:solidFill>
                <a:ea typeface="+mn-lt"/>
                <a:cs typeface="+mn-lt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937625" y="2067150"/>
              <a:ext cx="5483827" cy="2078178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fr-CA" b="1" dirty="0">
                  <a:solidFill>
                    <a:schemeClr val="tx1"/>
                  </a:solidFill>
                </a:rPr>
                <a:t>Séance 3 : </a:t>
              </a:r>
              <a:r>
                <a:rPr lang="fr-CA" dirty="0">
                  <a:solidFill>
                    <a:schemeClr val="tx1"/>
                  </a:solidFill>
                  <a:ea typeface="+mn-lt"/>
                  <a:cs typeface="+mn-lt"/>
                </a:rPr>
                <a:t>Prise de décision d’exploitation </a:t>
              </a:r>
            </a:p>
            <a:p>
              <a:pPr algn="ctr"/>
              <a:r>
                <a:rPr lang="fr-CA" sz="1600" i="1" dirty="0">
                  <a:solidFill>
                    <a:schemeClr val="tx1"/>
                  </a:solidFill>
                  <a:ea typeface="+mn-lt"/>
                  <a:cs typeface="+mn-lt"/>
                </a:rPr>
                <a:t>Utiliser l’analyse différentielle pour calculer l’impact sur le résultat d’exploitation d’une décision d’exploitation. </a:t>
              </a:r>
            </a:p>
            <a:p>
              <a:r>
                <a:rPr lang="fr-CA" b="1" dirty="0">
                  <a:solidFill>
                    <a:schemeClr val="tx1"/>
                  </a:solidFill>
                </a:rPr>
                <a:t>Notions de coûts   </a:t>
              </a:r>
              <a:r>
                <a:rPr lang="fr-CA" dirty="0">
                  <a:solidFill>
                    <a:schemeClr val="tx1"/>
                  </a:solidFill>
                </a:rPr>
                <a:t>​</a:t>
              </a:r>
              <a:endParaRPr lang="fr-CA" dirty="0">
                <a:solidFill>
                  <a:schemeClr val="tx1"/>
                </a:solidFill>
                <a:ea typeface="+mn-lt"/>
                <a:cs typeface="+mn-lt"/>
              </a:endParaRPr>
            </a:p>
            <a:p>
              <a:pPr marL="285750" indent="-285750">
                <a:buFont typeface="Arial,Sans-Serif"/>
                <a:buChar char="•"/>
              </a:pPr>
              <a:r>
                <a:rPr lang="fr-CA" sz="1600" dirty="0">
                  <a:solidFill>
                    <a:schemeClr val="tx1"/>
                  </a:solidFill>
                  <a:ea typeface="+mn-lt"/>
                  <a:cs typeface="+mn-lt"/>
                </a:rPr>
                <a:t>Coût pertinent </a:t>
              </a:r>
            </a:p>
            <a:p>
              <a:pPr marL="285750" indent="-285750">
                <a:buFont typeface="Arial,Sans-Serif"/>
                <a:buChar char="•"/>
              </a:pPr>
              <a:r>
                <a:rPr lang="fr-CA" sz="1600" dirty="0">
                  <a:solidFill>
                    <a:schemeClr val="tx1"/>
                  </a:solidFill>
                  <a:ea typeface="+mn-lt"/>
                  <a:cs typeface="+mn-lt"/>
                </a:rPr>
                <a:t>Coût de renonciation</a:t>
              </a:r>
            </a:p>
            <a:p>
              <a:pPr marL="285750" indent="-285750">
                <a:buFont typeface="Arial,Sans-Serif"/>
                <a:buChar char="•"/>
              </a:pPr>
              <a:r>
                <a:rPr lang="fr-CA" sz="1600" dirty="0">
                  <a:solidFill>
                    <a:schemeClr val="tx1"/>
                  </a:solidFill>
                  <a:ea typeface="+mn-lt"/>
                  <a:cs typeface="+mn-lt"/>
                </a:rPr>
                <a:t>Coûts fixes spécifiques</a:t>
              </a:r>
            </a:p>
            <a:p>
              <a:pPr marL="285750" indent="-285750">
                <a:buFont typeface="Arial,Sans-Serif"/>
                <a:buChar char="•"/>
              </a:pPr>
              <a:r>
                <a:rPr lang="fr-CA" sz="1600" dirty="0">
                  <a:solidFill>
                    <a:schemeClr val="tx1"/>
                  </a:solidFill>
                  <a:ea typeface="+mn-lt"/>
                  <a:cs typeface="+mn-lt"/>
                </a:rPr>
                <a:t>Coûts communs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937625" y="4792822"/>
              <a:ext cx="5483827" cy="580456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fr-CA" b="1" dirty="0">
                  <a:solidFill>
                    <a:schemeClr val="tx1"/>
                  </a:solidFill>
                </a:rPr>
                <a:t>Séance 5 : </a:t>
              </a:r>
              <a:r>
                <a:rPr lang="fr-CA" dirty="0">
                  <a:solidFill>
                    <a:schemeClr val="tx1"/>
                  </a:solidFill>
                </a:rPr>
                <a:t>La marge brute par produit (</a:t>
              </a:r>
              <a:r>
                <a:rPr lang="fr-CA" i="1" dirty="0">
                  <a:solidFill>
                    <a:schemeClr val="tx1"/>
                  </a:solidFill>
                </a:rPr>
                <a:t>Imputation des coûts indirects</a:t>
              </a:r>
              <a:r>
                <a:rPr lang="fr-CA" dirty="0">
                  <a:solidFill>
                    <a:schemeClr val="tx1"/>
                  </a:solidFill>
                </a:rPr>
                <a:t>) </a:t>
              </a:r>
              <a:endParaRPr lang="en-US" sz="1600" i="1" dirty="0">
                <a:solidFill>
                  <a:schemeClr val="tx1"/>
                </a:solidFill>
                <a:ea typeface="+mn-lt"/>
                <a:cs typeface="+mn-lt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937625" y="5462144"/>
              <a:ext cx="5483827" cy="550387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fr-CA" b="1" dirty="0">
                  <a:solidFill>
                    <a:schemeClr val="tx1"/>
                  </a:solidFill>
                </a:rPr>
                <a:t>Séance 6 : </a:t>
              </a:r>
              <a:r>
                <a:rPr lang="fr-CA" dirty="0">
                  <a:solidFill>
                    <a:schemeClr val="tx1"/>
                  </a:solidFill>
                </a:rPr>
                <a:t>La mesure et l’évaluation de la performance organisationnelle</a:t>
              </a:r>
              <a:endParaRPr lang="fr-CA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937624" y="6144169"/>
              <a:ext cx="5483827" cy="399517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CA" b="1" dirty="0">
                  <a:solidFill>
                    <a:schemeClr val="tx1"/>
                  </a:solidFill>
                </a:rPr>
                <a:t>Séance 7 : </a:t>
              </a:r>
              <a:r>
                <a:rPr lang="fr-CA" dirty="0">
                  <a:solidFill>
                    <a:schemeClr val="tx1"/>
                  </a:solidFill>
                </a:rPr>
                <a:t>Quiz &amp; séance de révision</a:t>
              </a:r>
            </a:p>
          </p:txBody>
        </p:sp>
      </p:grpSp>
      <p:sp>
        <p:nvSpPr>
          <p:cNvPr id="40" name="Rectangle 39"/>
          <p:cNvSpPr/>
          <p:nvPr>
            <p:custDataLst>
              <p:tags r:id="rId5"/>
            </p:custDataLst>
          </p:nvPr>
        </p:nvSpPr>
        <p:spPr>
          <a:xfrm>
            <a:off x="615732" y="1431557"/>
            <a:ext cx="10738068" cy="415556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CA" b="1">
                <a:ln w="0"/>
                <a:solidFill>
                  <a:schemeClr val="tx1">
                    <a:lumMod val="95000"/>
                    <a:lumOff val="5000"/>
                  </a:schemeClr>
                </a:solidFill>
              </a:rPr>
              <a:t>PRÉPARATION, PRÉSENTATION ET ANALYSE DE L’INFORMATION</a:t>
            </a:r>
            <a:endParaRPr lang="fr-CA" b="1">
              <a:ln w="0"/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1FA7CD-B3A9-F416-C29C-7B192F30E059}"/>
              </a:ext>
            </a:extLst>
          </p:cNvPr>
          <p:cNvSpPr/>
          <p:nvPr/>
        </p:nvSpPr>
        <p:spPr>
          <a:xfrm>
            <a:off x="3906076" y="4194477"/>
            <a:ext cx="7444409" cy="50733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CA" b="1" dirty="0">
                <a:solidFill>
                  <a:schemeClr val="tx1"/>
                </a:solidFill>
              </a:rPr>
              <a:t>Séance 4 : </a:t>
            </a:r>
            <a:r>
              <a:rPr lang="fr-CA" dirty="0">
                <a:solidFill>
                  <a:schemeClr val="tx1"/>
                </a:solidFill>
              </a:rPr>
              <a:t>Les marges </a:t>
            </a:r>
            <a:endParaRPr lang="en-US" sz="1600" i="1" dirty="0">
              <a:solidFill>
                <a:schemeClr val="tx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9658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635D5C-18E2-3594-EB88-BC4FB7627A6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La classification des coûts</a:t>
            </a:r>
            <a:endParaRPr lang="fr-CA" dirty="0">
              <a:cs typeface="Calibri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60D697-0448-402D-BE9A-DDA3F6FA7E15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199" y="1467851"/>
            <a:ext cx="4911671" cy="47091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 dirty="0"/>
              <a:t>Méthode des coûts variables</a:t>
            </a:r>
            <a:endParaRPr lang="fr-CA" dirty="0">
              <a:cs typeface="Calibri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439C554-3781-19E5-5081-778AA2EFAD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(c) 10904 / S07 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7138DEB-515B-689F-FFB6-17B5F11CA0B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7F58C5B1-8705-7AA6-6359-C069E578C603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6424046" y="1467851"/>
            <a:ext cx="4911671" cy="47091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dirty="0"/>
              <a:t>Méthode des coûts complets</a:t>
            </a:r>
            <a:endParaRPr lang="fr-CA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9897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9AE9B2-BC15-5D75-5C5D-A82F15632B9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4435" y="1"/>
            <a:ext cx="5394108" cy="457200"/>
          </a:xfrm>
        </p:spPr>
        <p:txBody>
          <a:bodyPr>
            <a:normAutofit fontScale="90000"/>
          </a:bodyPr>
          <a:lstStyle/>
          <a:p>
            <a:r>
              <a:rPr lang="fr-CA" sz="2800" u="sng" dirty="0"/>
              <a:t>État des résultats </a:t>
            </a:r>
            <a:r>
              <a:rPr lang="fr-CA" sz="2100" dirty="0"/>
              <a:t>(coûts variables)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62CA51D3-D86F-0C1A-259D-854CC86D049B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89786263"/>
              </p:ext>
            </p:extLst>
          </p:nvPr>
        </p:nvGraphicFramePr>
        <p:xfrm>
          <a:off x="65058" y="417016"/>
          <a:ext cx="12029962" cy="6410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7261">
                  <a:extLst>
                    <a:ext uri="{9D8B030D-6E8A-4147-A177-3AD203B41FA5}">
                      <a16:colId xmlns:a16="http://schemas.microsoft.com/office/drawing/2014/main" val="2072765536"/>
                    </a:ext>
                  </a:extLst>
                </a:gridCol>
                <a:gridCol w="2079712">
                  <a:extLst>
                    <a:ext uri="{9D8B030D-6E8A-4147-A177-3AD203B41FA5}">
                      <a16:colId xmlns:a16="http://schemas.microsoft.com/office/drawing/2014/main" val="1588860870"/>
                    </a:ext>
                  </a:extLst>
                </a:gridCol>
                <a:gridCol w="2483416">
                  <a:extLst>
                    <a:ext uri="{9D8B030D-6E8A-4147-A177-3AD203B41FA5}">
                      <a16:colId xmlns:a16="http://schemas.microsoft.com/office/drawing/2014/main" val="37510408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324910087"/>
                    </a:ext>
                  </a:extLst>
                </a:gridCol>
                <a:gridCol w="2475973">
                  <a:extLst>
                    <a:ext uri="{9D8B030D-6E8A-4147-A177-3AD203B41FA5}">
                      <a16:colId xmlns:a16="http://schemas.microsoft.com/office/drawing/2014/main" val="2660048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A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600" b="1" dirty="0"/>
                        <a:t>S02</a:t>
                      </a:r>
                    </a:p>
                    <a:p>
                      <a:r>
                        <a:rPr lang="fr-CA" sz="1600" b="1" dirty="0"/>
                        <a:t>Analyse CVR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600" b="1" dirty="0"/>
                        <a:t>S03-S04</a:t>
                      </a:r>
                    </a:p>
                    <a:p>
                      <a:r>
                        <a:rPr lang="fr-CA" sz="1600" b="1" dirty="0"/>
                        <a:t>Prise de décision CT</a:t>
                      </a:r>
                    </a:p>
                    <a:p>
                      <a:r>
                        <a:rPr lang="fr-CA" sz="1600" dirty="0"/>
                        <a:t>Analyse des marges</a:t>
                      </a:r>
                    </a:p>
                    <a:p>
                      <a:r>
                        <a:rPr lang="fr-CA" sz="1600" dirty="0"/>
                        <a:t>Analyse différentielle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600" b="1" dirty="0"/>
                        <a:t>S05 </a:t>
                      </a:r>
                    </a:p>
                    <a:p>
                      <a:pPr marL="0" algn="l" defTabSz="914400" rtl="0" eaLnBrk="1" latinLnBrk="0" hangingPunct="1"/>
                      <a:r>
                        <a:rPr lang="fr-CA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Imputation</a:t>
                      </a:r>
                    </a:p>
                    <a:p>
                      <a:pPr marL="0" algn="l" defTabSz="914400" rtl="0" eaLnBrk="1" latinLnBrk="0" hangingPunct="1"/>
                      <a:r>
                        <a:rPr lang="fr-CA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Rentabilité unitaire des produits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600" b="1" dirty="0"/>
                        <a:t>S07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600" b="1" dirty="0"/>
                        <a:t>L’évaluation de la performance</a:t>
                      </a:r>
                      <a:endParaRPr lang="fr-CA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593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600" dirty="0"/>
                        <a:t>Ventes (prix de vente x unités)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fr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fr-CA" sz="1600" dirty="0"/>
                        <a:t>Prix de vente</a:t>
                      </a:r>
                    </a:p>
                  </a:txBody>
                  <a:tcPr/>
                </a:tc>
                <a:tc rowSpan="7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CA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fr-CA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Mesures financières</a:t>
                      </a:r>
                    </a:p>
                    <a:p>
                      <a:pPr marL="0" algn="l" defTabSz="914400" rtl="0" eaLnBrk="1" latinLnBrk="0" hangingPunct="1"/>
                      <a:r>
                        <a:rPr lang="fr-CA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RCI = </a:t>
                      </a:r>
                      <a:r>
                        <a:rPr lang="fr-CA" sz="1500" u="sng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résultat d’exploitation</a:t>
                      </a:r>
                    </a:p>
                    <a:p>
                      <a:pPr marL="0" algn="l" defTabSz="914400" rtl="0" eaLnBrk="1" latinLnBrk="0" hangingPunct="1"/>
                      <a:r>
                        <a:rPr lang="fr-CA" sz="15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capital investi</a:t>
                      </a:r>
                    </a:p>
                    <a:p>
                      <a:pPr marL="0" algn="l" defTabSz="914400" rtl="0" eaLnBrk="1" latinLnBrk="0" hangingPunct="1"/>
                      <a:r>
                        <a:rPr lang="fr-CA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RNR =</a:t>
                      </a:r>
                      <a:r>
                        <a:rPr lang="fr-CA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Résultat d’exploitation (-) résultat exigé</a:t>
                      </a:r>
                    </a:p>
                    <a:p>
                      <a:pPr marL="0" algn="l" defTabSz="914400" rtl="0" eaLnBrk="1" latinLnBrk="0" hangingPunct="1"/>
                      <a:endParaRPr lang="fr-CA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fr-CA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Mesures non-financières</a:t>
                      </a:r>
                    </a:p>
                    <a:p>
                      <a:pPr marL="0" algn="l" defTabSz="914400" rtl="0" eaLnBrk="1" latinLnBrk="0" hangingPunct="1"/>
                      <a:r>
                        <a:rPr lang="fr-CA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Tableau de bord de gestion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90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CA" sz="1600" dirty="0"/>
                        <a:t>(-) </a:t>
                      </a:r>
                      <a:r>
                        <a:rPr lang="fr-CA" sz="1600" i="1" dirty="0">
                          <a:solidFill>
                            <a:srgbClr val="0070C0"/>
                          </a:solidFill>
                        </a:rPr>
                        <a:t>Coûts variables </a:t>
                      </a:r>
                    </a:p>
                    <a:p>
                      <a:pPr marL="0" indent="0">
                        <a:buNone/>
                      </a:pPr>
                      <a:r>
                        <a:rPr lang="fr-CA" sz="1600" i="1" dirty="0">
                          <a:solidFill>
                            <a:srgbClr val="0070C0"/>
                          </a:solidFill>
                        </a:rPr>
                        <a:t>      </a:t>
                      </a:r>
                      <a:r>
                        <a:rPr lang="fr-CA" sz="1600" dirty="0"/>
                        <a:t>MP (Prix x Qté/u x unités)</a:t>
                      </a:r>
                    </a:p>
                    <a:p>
                      <a:pPr marL="0" indent="0">
                        <a:buNone/>
                      </a:pPr>
                      <a:r>
                        <a:rPr lang="fr-CA" sz="1600" dirty="0"/>
                        <a:t>      MOD (Taux x </a:t>
                      </a:r>
                      <a:r>
                        <a:rPr lang="fr-CA" sz="1600" dirty="0" err="1"/>
                        <a:t>Hr</a:t>
                      </a:r>
                      <a:r>
                        <a:rPr lang="fr-CA" sz="1600" dirty="0"/>
                        <a:t>/u x unités)</a:t>
                      </a:r>
                    </a:p>
                    <a:p>
                      <a:pPr marL="0" indent="0">
                        <a:buNone/>
                      </a:pPr>
                      <a:r>
                        <a:rPr lang="fr-CA" sz="1600" dirty="0"/>
                        <a:t>      FGF var ($/un x unités)</a:t>
                      </a:r>
                    </a:p>
                    <a:p>
                      <a:pPr marL="0" indent="0">
                        <a:buNone/>
                      </a:pPr>
                      <a:r>
                        <a:rPr lang="fr-CA" sz="1600" u="none" dirty="0"/>
                        <a:t>     </a:t>
                      </a:r>
                      <a:r>
                        <a:rPr lang="fr-CA" sz="1600" u="sng" dirty="0"/>
                        <a:t> FV var (Taux com x PV x u.) 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indent="-108000">
                        <a:buFont typeface="Arial" panose="020B0604020202020204" pitchFamily="34" charset="0"/>
                        <a:buChar char="•"/>
                      </a:pPr>
                      <a:r>
                        <a:rPr lang="fr-CA" sz="16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PM</a:t>
                      </a:r>
                    </a:p>
                    <a:p>
                      <a:pPr marL="108000" indent="-108000">
                        <a:buFont typeface="Arial" panose="020B0604020202020204" pitchFamily="34" charset="0"/>
                        <a:buChar char="•"/>
                      </a:pPr>
                      <a:r>
                        <a:rPr lang="fr-CA" sz="16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Résultat cible</a:t>
                      </a:r>
                    </a:p>
                    <a:p>
                      <a:pPr marL="108000" indent="-108000">
                        <a:buFont typeface="Arial" panose="020B0604020202020204" pitchFamily="34" charset="0"/>
                        <a:buChar char="•"/>
                      </a:pPr>
                      <a:r>
                        <a:rPr lang="fr-CA" sz="16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Résultat potentiel</a:t>
                      </a:r>
                    </a:p>
                    <a:p>
                      <a:pPr marL="108000" indent="-108000">
                        <a:buFont typeface="Arial" panose="020B0604020202020204" pitchFamily="34" charset="0"/>
                        <a:buChar char="•"/>
                      </a:pPr>
                      <a:r>
                        <a:rPr lang="fr-CA" sz="16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Marge de sécurité</a:t>
                      </a:r>
                    </a:p>
                    <a:p>
                      <a:pPr marL="108000" indent="-108000">
                        <a:buFont typeface="Arial" panose="020B0604020202020204" pitchFamily="34" charset="0"/>
                        <a:buChar char="•"/>
                      </a:pPr>
                      <a:r>
                        <a:rPr lang="fr-CA" sz="16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Seuil d’indifférence</a:t>
                      </a:r>
                    </a:p>
                    <a:p>
                      <a:pPr marL="108000" indent="-108000">
                        <a:buFont typeface="Arial" panose="020B0604020202020204" pitchFamily="34" charset="0"/>
                        <a:buChar char="•"/>
                      </a:pPr>
                      <a:r>
                        <a:rPr lang="fr-CA" sz="16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   RE1 = RE2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fr-CA" sz="1400" dirty="0">
                          <a:solidFill>
                            <a:srgbClr val="0070C0"/>
                          </a:solidFill>
                        </a:rPr>
                        <a:t>Exemples:</a:t>
                      </a:r>
                    </a:p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r>
                        <a:rPr lang="fr-CA" sz="1400" dirty="0">
                          <a:solidFill>
                            <a:srgbClr val="0070C0"/>
                          </a:solidFill>
                        </a:rPr>
                        <a:t>Commande spéciale</a:t>
                      </a:r>
                    </a:p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r>
                        <a:rPr lang="fr-CA" sz="1400" dirty="0">
                          <a:solidFill>
                            <a:srgbClr val="0070C0"/>
                          </a:solidFill>
                        </a:rPr>
                        <a:t>Fabriquer ou sous-traiter</a:t>
                      </a:r>
                    </a:p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r>
                        <a:rPr lang="fr-CA" sz="1400" dirty="0">
                          <a:solidFill>
                            <a:srgbClr val="0070C0"/>
                          </a:solidFill>
                        </a:rPr>
                        <a:t>Abandonner ou Continuer</a:t>
                      </a:r>
                    </a:p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r>
                        <a:rPr lang="fr-CA" sz="1400" dirty="0">
                          <a:solidFill>
                            <a:srgbClr val="0070C0"/>
                          </a:solidFill>
                        </a:rPr>
                        <a:t>Plan de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600" dirty="0"/>
                        <a:t>(-) Coûts fabrication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fr-CA" sz="1600" dirty="0"/>
                        <a:t>   MP </a:t>
                      </a:r>
                      <a:r>
                        <a:rPr lang="fr-CA" sz="1400" dirty="0"/>
                        <a:t>(prix x quantité/u.)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fr-CA" sz="1600" dirty="0"/>
                        <a:t>   MOD </a:t>
                      </a:r>
                      <a:r>
                        <a:rPr lang="fr-CA" sz="14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(taux x </a:t>
                      </a:r>
                      <a:r>
                        <a:rPr lang="fr-CA" sz="1400" b="0" i="0" u="none" strike="noStrike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hr</a:t>
                      </a:r>
                      <a:r>
                        <a:rPr lang="fr-CA" sz="14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/u.)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fr-CA" sz="1600" dirty="0"/>
                        <a:t>   FGF </a:t>
                      </a:r>
                      <a:r>
                        <a:rPr lang="fr-CA" sz="1400" dirty="0"/>
                        <a:t>(</a:t>
                      </a:r>
                      <a:r>
                        <a:rPr lang="fr-CA" sz="1400" i="1" dirty="0"/>
                        <a:t>variables et fixes</a:t>
                      </a:r>
                      <a:r>
                        <a:rPr lang="fr-CA" sz="1400" dirty="0"/>
                        <a:t>)</a:t>
                      </a:r>
                      <a:endParaRPr lang="fr-CA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fr-CA" sz="1400" dirty="0">
                          <a:highlight>
                            <a:srgbClr val="FFFF00"/>
                          </a:highlight>
                        </a:rPr>
                        <a:t>    </a:t>
                      </a:r>
                      <a:r>
                        <a:rPr lang="fr-CA" sz="1400" b="1" dirty="0">
                          <a:highlight>
                            <a:srgbClr val="FFFF00"/>
                          </a:highlight>
                        </a:rPr>
                        <a:t>Imputation des FGF</a:t>
                      </a:r>
                    </a:p>
                    <a:p>
                      <a:pPr marL="0" algn="l" rtl="0" eaLnBrk="1" latinLnBrk="0" hangingPunct="1"/>
                      <a:endParaRPr lang="fr-CA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CA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963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600" b="1" dirty="0"/>
                        <a:t>Marge sur coûts variables  (MCV)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indent="-108000">
                        <a:buFont typeface="Arial" panose="020B0604020202020204" pitchFamily="34" charset="0"/>
                        <a:buChar char="•"/>
                      </a:pPr>
                      <a:r>
                        <a:rPr lang="fr-CA" sz="1600" dirty="0"/>
                        <a:t> MCV unitaire</a:t>
                      </a:r>
                    </a:p>
                    <a:p>
                      <a:pPr marL="72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CA" sz="1600" dirty="0"/>
                        <a:t> MCV pondérée</a:t>
                      </a:r>
                    </a:p>
                    <a:p>
                      <a:endParaRPr lang="fr-CA" sz="1600" dirty="0"/>
                    </a:p>
                    <a:p>
                      <a:endParaRPr lang="fr-CA" sz="1600" dirty="0"/>
                    </a:p>
                    <a:p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indent="-108000">
                        <a:buFont typeface="Arial" panose="020B0604020202020204" pitchFamily="34" charset="0"/>
                        <a:buChar char="•"/>
                      </a:pPr>
                      <a:r>
                        <a:rPr lang="fr-CA" sz="1600" dirty="0"/>
                        <a:t> MCV totale</a:t>
                      </a:r>
                    </a:p>
                    <a:p>
                      <a:pPr marL="108000" indent="-108000">
                        <a:buFont typeface="Arial" panose="020B0604020202020204" pitchFamily="34" charset="0"/>
                        <a:buChar char="•"/>
                      </a:pPr>
                      <a:r>
                        <a:rPr lang="fr-CA" sz="1600" dirty="0"/>
                        <a:t> MCV par facteur de production 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CA" sz="1600" dirty="0"/>
                        <a:t>Marge sur coûts spécifiques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Marge brute (unitaire) par produit</a:t>
                      </a:r>
                    </a:p>
                    <a:p>
                      <a:pPr marL="0" algn="l" defTabSz="914400" rtl="0" eaLnBrk="1" latinLnBrk="0" hangingPunct="1"/>
                      <a:endParaRPr lang="fr-CA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CA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879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1600" dirty="0"/>
                        <a:t>(-) Coûts fixes </a:t>
                      </a:r>
                      <a:r>
                        <a:rPr lang="fr-CA" sz="1600" i="1" dirty="0">
                          <a:solidFill>
                            <a:srgbClr val="0070C0"/>
                          </a:solidFill>
                        </a:rPr>
                        <a:t>spécifiques</a:t>
                      </a:r>
                      <a:r>
                        <a:rPr lang="fr-CA" sz="1600" dirty="0">
                          <a:solidFill>
                            <a:srgbClr val="0070C0"/>
                          </a:solidFill>
                        </a:rPr>
                        <a:t> </a:t>
                      </a:r>
                    </a:p>
                    <a:p>
                      <a:r>
                        <a:rPr lang="fr-CA" sz="1600" dirty="0"/>
                        <a:t>      (FGF, FVA)</a:t>
                      </a: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endParaRPr lang="fr-CA" sz="1600" baseline="-25000" dirty="0"/>
                    </a:p>
                    <a:p>
                      <a:endParaRPr lang="fr-CA" sz="1600" baseline="-25000" dirty="0"/>
                    </a:p>
                    <a:p>
                      <a:endParaRPr lang="fr-CA" sz="1600" baseline="-25000" dirty="0"/>
                    </a:p>
                    <a:p>
                      <a:endParaRPr lang="fr-CA" sz="1600" baseline="-25000" dirty="0"/>
                    </a:p>
                    <a:p>
                      <a:endParaRPr lang="fr-CA" sz="1600" baseline="-25000" dirty="0"/>
                    </a:p>
                    <a:p>
                      <a:endParaRPr lang="fr-CA" sz="1600" baseline="-25000" dirty="0"/>
                    </a:p>
                    <a:p>
                      <a:endParaRPr lang="fr-CA" sz="1600" baseline="-25000" dirty="0"/>
                    </a:p>
                    <a:p>
                      <a:endParaRPr lang="fr-CA" sz="1600" baseline="-25000" dirty="0"/>
                    </a:p>
                    <a:p>
                      <a:endParaRPr lang="fr-CA" sz="1600" baseline="-25000" dirty="0"/>
                    </a:p>
                    <a:p>
                      <a:endParaRPr lang="fr-CA" sz="1600" baseline="-25000" dirty="0"/>
                    </a:p>
                    <a:p>
                      <a:endParaRPr lang="fr-CA" sz="1600" baseline="-25000" dirty="0"/>
                    </a:p>
                    <a:p>
                      <a:endParaRPr lang="fr-CA" sz="1600" baseline="-250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180000" indent="-180000">
                        <a:buFont typeface="Arial" panose="020B0604020202020204" pitchFamily="34" charset="0"/>
                        <a:buChar char="•"/>
                      </a:pPr>
                      <a:r>
                        <a:rPr lang="fr-CA" sz="1600" dirty="0"/>
                        <a:t> Coût de renonciation</a:t>
                      </a:r>
                    </a:p>
                    <a:p>
                      <a:pPr marL="72000" indent="-72000">
                        <a:buFont typeface="Arial" panose="020B0604020202020204" pitchFamily="34" charset="0"/>
                        <a:buChar char="•"/>
                      </a:pPr>
                      <a:r>
                        <a:rPr lang="fr-CA" sz="1600" dirty="0"/>
                        <a:t> Coûts économisés (</a:t>
                      </a:r>
                      <a:r>
                        <a:rPr lang="fr-CA" sz="1400" i="1" dirty="0"/>
                        <a:t>économie d’échelle- rabais sur la quantité de MP des clients réguliers</a:t>
                      </a:r>
                      <a:r>
                        <a:rPr lang="fr-CA" sz="1600" i="1" dirty="0"/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A" sz="1600" dirty="0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CA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CA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580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600" b="1" dirty="0"/>
                        <a:t>Marge sur coûts spécifiques</a:t>
                      </a:r>
                      <a:endParaRPr lang="fr-CA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CA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CA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CA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59297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600" u="none" dirty="0"/>
                        <a:t>(-) Coûts fixes </a:t>
                      </a:r>
                      <a:r>
                        <a:rPr lang="fr-CA" sz="1600" i="1" u="none" dirty="0">
                          <a:solidFill>
                            <a:srgbClr val="0070C0"/>
                          </a:solidFill>
                        </a:rPr>
                        <a:t>communs</a:t>
                      </a:r>
                      <a:r>
                        <a:rPr lang="fr-CA" sz="1600" u="none" dirty="0"/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600" u="none" dirty="0"/>
                        <a:t>      (FGF, FVA)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CA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CA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840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600" b="1" dirty="0"/>
                        <a:t>Résultat d’exploitation</a:t>
                      </a:r>
                      <a:endParaRPr lang="fr-CA" sz="16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600" b="1" dirty="0"/>
                        <a:t>Résultat d’exploitation (impact)</a:t>
                      </a:r>
                      <a:endParaRPr lang="fr-CA" sz="16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CA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A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8193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9060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6406" y="-187159"/>
            <a:ext cx="11157284" cy="1668211"/>
          </a:xfrm>
        </p:spPr>
        <p:txBody>
          <a:bodyPr>
            <a:noAutofit/>
          </a:bodyPr>
          <a:lstStyle/>
          <a:p>
            <a:r>
              <a:rPr lang="fr-CA" sz="4000" dirty="0"/>
              <a:t>La prise de décisions d’exploitation à court terme et l’analyse de la rentabilité</a:t>
            </a:r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838200" y="1467851"/>
            <a:ext cx="10515600" cy="52295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914400" lvl="2" indent="0">
              <a:buNone/>
            </a:pPr>
            <a:endParaRPr lang="fr-CA" sz="2400" dirty="0"/>
          </a:p>
          <a:p>
            <a:pPr marL="0" indent="0">
              <a:buNone/>
            </a:pPr>
            <a:endParaRPr lang="fr-CA" dirty="0"/>
          </a:p>
        </p:txBody>
      </p:sp>
      <p:sp>
        <p:nvSpPr>
          <p:cNvPr id="6" name="Espace réservé du pied de page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990975" y="6557210"/>
            <a:ext cx="4008146" cy="30817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(c) 10904 / S07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8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13C8490-C87F-4229-97C3-9D8C606A3D6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36BC3157-0042-84E6-FD13-655B1CB4C4D1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752057988"/>
              </p:ext>
            </p:extLst>
          </p:nvPr>
        </p:nvGraphicFramePr>
        <p:xfrm>
          <a:off x="319586" y="1699685"/>
          <a:ext cx="11650035" cy="435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0007">
                  <a:extLst>
                    <a:ext uri="{9D8B030D-6E8A-4147-A177-3AD203B41FA5}">
                      <a16:colId xmlns:a16="http://schemas.microsoft.com/office/drawing/2014/main" val="3946383289"/>
                    </a:ext>
                  </a:extLst>
                </a:gridCol>
                <a:gridCol w="2330007">
                  <a:extLst>
                    <a:ext uri="{9D8B030D-6E8A-4147-A177-3AD203B41FA5}">
                      <a16:colId xmlns:a16="http://schemas.microsoft.com/office/drawing/2014/main" val="3158619778"/>
                    </a:ext>
                  </a:extLst>
                </a:gridCol>
                <a:gridCol w="2330007">
                  <a:extLst>
                    <a:ext uri="{9D8B030D-6E8A-4147-A177-3AD203B41FA5}">
                      <a16:colId xmlns:a16="http://schemas.microsoft.com/office/drawing/2014/main" val="2560918638"/>
                    </a:ext>
                  </a:extLst>
                </a:gridCol>
                <a:gridCol w="2330007">
                  <a:extLst>
                    <a:ext uri="{9D8B030D-6E8A-4147-A177-3AD203B41FA5}">
                      <a16:colId xmlns:a16="http://schemas.microsoft.com/office/drawing/2014/main" val="3626892518"/>
                    </a:ext>
                  </a:extLst>
                </a:gridCol>
                <a:gridCol w="2330007">
                  <a:extLst>
                    <a:ext uri="{9D8B030D-6E8A-4147-A177-3AD203B41FA5}">
                      <a16:colId xmlns:a16="http://schemas.microsoft.com/office/drawing/2014/main" val="25039547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A" sz="1800" b="1" dirty="0"/>
                        <a:t>Accepter ou refuser commande spéciale</a:t>
                      </a:r>
                      <a:endParaRPr lang="fr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800" b="1" dirty="0"/>
                        <a:t>Acheter (sous-traiter) ou fabriquer</a:t>
                      </a:r>
                    </a:p>
                    <a:p>
                      <a:endParaRPr lang="fr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800" b="1" dirty="0"/>
                        <a:t>Conserver (ajouter) ou abandonner un produit (une division) </a:t>
                      </a:r>
                    </a:p>
                    <a:p>
                      <a:endParaRPr lang="fr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800" b="1" dirty="0"/>
                        <a:t>Choisir parmi une gamme de produits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Contexte ressources limitées</a:t>
                      </a:r>
                      <a:endParaRPr lang="fr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b="1" dirty="0"/>
                        <a:t>Rentabilité des produits dans l’entreprise manufacturière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695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Analyse de capacité</a:t>
                      </a:r>
                    </a:p>
                    <a:p>
                      <a:r>
                        <a:rPr lang="fr-CA" dirty="0"/>
                        <a:t>Analyse différentielle</a:t>
                      </a:r>
                    </a:p>
                    <a:p>
                      <a:r>
                        <a:rPr lang="fr-CA" i="1" dirty="0">
                          <a:solidFill>
                            <a:srgbClr val="00B050"/>
                          </a:solidFill>
                        </a:rPr>
                        <a:t>Prix de vente minimum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800" i="1" dirty="0">
                          <a:solidFill>
                            <a:srgbClr val="0070C0"/>
                          </a:solidFill>
                        </a:rPr>
                        <a:t>Marge par facteur de production </a:t>
                      </a:r>
                      <a:r>
                        <a:rPr lang="fr-CA" sz="1600" i="1" dirty="0">
                          <a:solidFill>
                            <a:srgbClr val="0070C0"/>
                          </a:solidFill>
                        </a:rPr>
                        <a:t>(si plusieurs produits réguliers)</a:t>
                      </a:r>
                      <a:r>
                        <a:rPr lang="fr-CA" sz="1600" i="1" dirty="0"/>
                        <a:t> </a:t>
                      </a:r>
                      <a:r>
                        <a:rPr lang="fr-CA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Analyse différentielle </a:t>
                      </a:r>
                    </a:p>
                    <a:p>
                      <a:r>
                        <a:rPr lang="fr-CA" dirty="0" err="1"/>
                        <a:t>Sit</a:t>
                      </a:r>
                      <a:r>
                        <a:rPr lang="fr-CA" dirty="0"/>
                        <a:t> A  vs  </a:t>
                      </a:r>
                      <a:r>
                        <a:rPr lang="fr-CA" dirty="0" err="1"/>
                        <a:t>Sit</a:t>
                      </a:r>
                      <a:r>
                        <a:rPr lang="fr-CA" dirty="0"/>
                        <a:t> B  Impact </a:t>
                      </a:r>
                    </a:p>
                    <a:p>
                      <a:r>
                        <a:rPr lang="fr-CA" dirty="0"/>
                        <a:t>                         Résultat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Analyse différentielle</a:t>
                      </a:r>
                    </a:p>
                    <a:p>
                      <a:r>
                        <a:rPr lang="fr-CA" dirty="0"/>
                        <a:t>Analyse de marges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Analyse de marges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i="1" dirty="0">
                          <a:solidFill>
                            <a:srgbClr val="0070C0"/>
                          </a:solidFill>
                        </a:rPr>
                        <a:t>Marge par facteur de production</a:t>
                      </a:r>
                      <a:r>
                        <a:rPr lang="fr-CA" i="1" dirty="0"/>
                        <a:t> </a:t>
                      </a:r>
                    </a:p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Marge brute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188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Prix de vente</a:t>
                      </a:r>
                    </a:p>
                    <a:p>
                      <a:r>
                        <a:rPr lang="fr-CA" dirty="0"/>
                        <a:t>Coûts variables</a:t>
                      </a:r>
                    </a:p>
                    <a:p>
                      <a:r>
                        <a:rPr lang="fr-CA" dirty="0"/>
                        <a:t>Coûts fixes spécifiques</a:t>
                      </a:r>
                    </a:p>
                    <a:p>
                      <a:r>
                        <a:rPr lang="fr-CA" dirty="0"/>
                        <a:t>Coût de renonciation </a:t>
                      </a:r>
                    </a:p>
                    <a:p>
                      <a:r>
                        <a:rPr lang="fr-CA" b="1" dirty="0"/>
                        <a:t>Résultat d’exploitation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Coûts variables</a:t>
                      </a:r>
                    </a:p>
                    <a:p>
                      <a:r>
                        <a:rPr lang="fr-CA" dirty="0"/>
                        <a:t>Coûts fixes spécifiques</a:t>
                      </a:r>
                    </a:p>
                    <a:p>
                      <a:r>
                        <a:rPr lang="fr-CA" dirty="0"/>
                        <a:t>Coût de renonciation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Ventes</a:t>
                      </a:r>
                    </a:p>
                    <a:p>
                      <a:r>
                        <a:rPr lang="fr-CA" dirty="0"/>
                        <a:t>Coûts variables</a:t>
                      </a:r>
                    </a:p>
                    <a:p>
                      <a:r>
                        <a:rPr lang="fr-CA" dirty="0"/>
                        <a:t>Coûts fixes spécifiques</a:t>
                      </a:r>
                    </a:p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Plan de production (maximiser le résultat d’exploitation)</a:t>
                      </a:r>
                    </a:p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Ventes</a:t>
                      </a:r>
                    </a:p>
                    <a:p>
                      <a:r>
                        <a:rPr lang="fr-CA" dirty="0"/>
                        <a:t>Coût de fabrication</a:t>
                      </a:r>
                    </a:p>
                    <a:p>
                      <a:r>
                        <a:rPr lang="fr-CA" dirty="0"/>
                        <a:t>(MP + MOD + FGF)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05075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64369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88D97F-A2DC-F002-CDB9-9B540C1D68B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S05: Coût de fabrication unitaire des produits - </a:t>
            </a:r>
            <a:br>
              <a:rPr lang="fr-CA" dirty="0"/>
            </a:br>
            <a:r>
              <a:rPr lang="fr-CA" dirty="0"/>
              <a:t>révision des étapes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A35EED-D6F5-A06D-EEF9-DC8E966FE951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458687"/>
            <a:ext cx="10515600" cy="5050970"/>
          </a:xfrm>
        </p:spPr>
        <p:txBody>
          <a:bodyPr>
            <a:normAutofit fontScale="85000" lnSpcReduction="20000"/>
          </a:bodyPr>
          <a:lstStyle/>
          <a:p>
            <a:pPr marL="0" algn="l" rtl="0" eaLnBrk="1" fontAlgn="t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fr-CA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Choix d’un système avec un ou plusieurs centres de coûts </a:t>
            </a:r>
          </a:p>
          <a:p>
            <a:pPr marL="457200" lvl="1" fontAlgn="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fr-CA" sz="2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voir la liste des </a:t>
            </a:r>
            <a:r>
              <a:rPr lang="fr-CA" sz="2800" b="0" i="0" u="sng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critères</a:t>
            </a:r>
          </a:p>
          <a:p>
            <a:pPr marL="457200" lvl="1" fontAlgn="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fr-CA" sz="2800" b="0" i="0" u="sng" strike="noStrike" kern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0" indent="0" algn="l" rtl="0" eaLnBrk="1" fontAlgn="t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r-CA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Processus d’imputation en 4 étapes</a:t>
            </a:r>
          </a:p>
          <a:p>
            <a:pPr lvl="1" indent="-457200" fontAlgn="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fr-CA" sz="2800" dirty="0">
                <a:solidFill>
                  <a:srgbClr val="000000"/>
                </a:solidFill>
                <a:latin typeface="Calibri" panose="020F0502020204030204" pitchFamily="34" charset="0"/>
              </a:rPr>
              <a:t>C</a:t>
            </a:r>
            <a:r>
              <a:rPr lang="fr-CA" sz="2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hoix de la base d’imputation pour chaque centre de coûts</a:t>
            </a:r>
          </a:p>
          <a:p>
            <a:pPr marL="914400" lvl="2" fontAlgn="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fr-CA" sz="2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voir la liste des </a:t>
            </a:r>
            <a:r>
              <a:rPr lang="fr-CA" sz="2800" b="0" i="0" u="sng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critères</a:t>
            </a:r>
            <a:endParaRPr lang="fr-CA" sz="2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1" indent="-457200" fontAlgn="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fr-CA" sz="2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Calculer les </a:t>
            </a:r>
            <a:r>
              <a:rPr lang="fr-CA" sz="2800" b="1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taux d’imputation </a:t>
            </a:r>
            <a:r>
              <a:rPr lang="fr-CA" sz="2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pour chaque centre de coûts</a:t>
            </a:r>
          </a:p>
          <a:p>
            <a:pPr marL="228600" lvl="1" indent="0" fontAlgn="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r-CA" sz="2800" dirty="0">
                <a:solidFill>
                  <a:srgbClr val="000000"/>
                </a:solidFill>
                <a:latin typeface="Calibri" panose="020F0502020204030204" pitchFamily="34" charset="0"/>
              </a:rPr>
              <a:t>	Formule = FGF  / Volume de la base d’imputation</a:t>
            </a:r>
            <a:endParaRPr lang="fr-CA" sz="2800" b="0" i="0" u="none" strike="noStrike" kern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lvl="1" indent="-457200" fontAlgn="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fr-CA" sz="2800" b="1" dirty="0">
                <a:solidFill>
                  <a:srgbClr val="000000"/>
                </a:solidFill>
                <a:latin typeface="Calibri" panose="020F0502020204030204" pitchFamily="34" charset="0"/>
              </a:rPr>
              <a:t>R</a:t>
            </a:r>
            <a:r>
              <a:rPr lang="fr-CA" sz="2800" b="1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épartir</a:t>
            </a:r>
            <a:r>
              <a:rPr lang="fr-CA" sz="2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les FGF de chaque centre de coûts entre les produits</a:t>
            </a:r>
            <a:endParaRPr lang="fr-CA" sz="2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28600" lvl="1" indent="0" fontAlgn="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r-CA" sz="2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	Formule = Taux d’imputation X Volume de la base d’imputation par unité</a:t>
            </a:r>
          </a:p>
          <a:p>
            <a:pPr marL="228600" lvl="1" indent="0" fontAlgn="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r-CA" sz="2800" dirty="0">
                <a:solidFill>
                  <a:srgbClr val="000000"/>
                </a:solidFill>
                <a:latin typeface="Calibri" panose="020F0502020204030204" pitchFamily="34" charset="0"/>
              </a:rPr>
              <a:t>4.    C</a:t>
            </a:r>
            <a:r>
              <a:rPr lang="fr-CA" sz="2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alculer le </a:t>
            </a:r>
            <a:r>
              <a:rPr lang="fr-CA" sz="2800" b="1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coût de fabrication unitaire </a:t>
            </a:r>
            <a:r>
              <a:rPr lang="fr-CA" sz="2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des produits</a:t>
            </a:r>
          </a:p>
          <a:p>
            <a:pPr marL="228600" lvl="1" indent="0" fontAlgn="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r-CA" sz="2800" dirty="0">
                <a:solidFill>
                  <a:srgbClr val="000000"/>
                </a:solidFill>
                <a:latin typeface="Calibri" panose="020F0502020204030204" pitchFamily="34" charset="0"/>
              </a:rPr>
              <a:t>	Formule = MP + MOD + FGF</a:t>
            </a:r>
            <a:endParaRPr lang="fr-CA" sz="2800" b="0" i="0" u="none" strike="noStrike" dirty="0">
              <a:effectLst/>
              <a:latin typeface="Arial" panose="020B0604020202020204" pitchFamily="34" charset="0"/>
            </a:endParaRPr>
          </a:p>
          <a:p>
            <a:endParaRPr lang="fr-CA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B27846D-EE40-C17C-59F1-B9D4881EFFBD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(c) 10904 / S07 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0E4F2CB-5501-E6E2-84BC-99893D813DD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150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DC1B7F-D1BE-CAF1-AECB-7A1453C20AF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Comment calculer le </a:t>
            </a:r>
            <a:r>
              <a:rPr lang="fr-CA" b="1" dirty="0"/>
              <a:t>coût de fabrication </a:t>
            </a:r>
            <a:r>
              <a:rPr lang="fr-CA" dirty="0"/>
              <a:t>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360612-D491-E7B2-7D18-AE19162A07A4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Révision du coût de fabrication unitaire (Imputation)</a:t>
            </a:r>
          </a:p>
          <a:p>
            <a:r>
              <a:rPr lang="fr-CA" dirty="0"/>
              <a:t>Le coût de fabrication unitaire se calcul en suivant la logique suivante: </a:t>
            </a:r>
            <a:r>
              <a:rPr lang="fr-CA" b="1" dirty="0"/>
              <a:t>prix</a:t>
            </a:r>
            <a:r>
              <a:rPr lang="fr-CA" dirty="0"/>
              <a:t> x </a:t>
            </a:r>
            <a:r>
              <a:rPr lang="fr-CA" b="1" dirty="0"/>
              <a:t>quantité</a:t>
            </a:r>
            <a:r>
              <a:rPr lang="fr-CA" dirty="0"/>
              <a:t>/</a:t>
            </a:r>
            <a:r>
              <a:rPr lang="fr-CA" sz="2400" dirty="0"/>
              <a:t>unité</a:t>
            </a:r>
          </a:p>
          <a:p>
            <a:pPr marL="0" indent="0">
              <a:buNone/>
            </a:pPr>
            <a:endParaRPr lang="fr-CA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F644D01-D738-78B9-B6A8-48D4BE1ED3F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843754" y="6503436"/>
            <a:ext cx="2504492" cy="303343"/>
          </a:xfrm>
        </p:spPr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(c) 10904 / S07 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151D138-BAAF-484B-F2C9-C67E5B771B4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6" name="Tableau 3">
            <a:extLst>
              <a:ext uri="{FF2B5EF4-FFF2-40B4-BE49-F238E27FC236}">
                <a16:creationId xmlns:a16="http://schemas.microsoft.com/office/drawing/2014/main" id="{C9A23187-8041-8FA9-1B71-7D2D74E01D3E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238835570"/>
              </p:ext>
            </p:extLst>
          </p:nvPr>
        </p:nvGraphicFramePr>
        <p:xfrm>
          <a:off x="1038111" y="2847943"/>
          <a:ext cx="10115778" cy="350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4072">
                  <a:extLst>
                    <a:ext uri="{9D8B030D-6E8A-4147-A177-3AD203B41FA5}">
                      <a16:colId xmlns:a16="http://schemas.microsoft.com/office/drawing/2014/main" val="3308909579"/>
                    </a:ext>
                  </a:extLst>
                </a:gridCol>
                <a:gridCol w="1711909">
                  <a:extLst>
                    <a:ext uri="{9D8B030D-6E8A-4147-A177-3AD203B41FA5}">
                      <a16:colId xmlns:a16="http://schemas.microsoft.com/office/drawing/2014/main" val="1872833777"/>
                    </a:ext>
                  </a:extLst>
                </a:gridCol>
                <a:gridCol w="407963">
                  <a:extLst>
                    <a:ext uri="{9D8B030D-6E8A-4147-A177-3AD203B41FA5}">
                      <a16:colId xmlns:a16="http://schemas.microsoft.com/office/drawing/2014/main" val="3413980104"/>
                    </a:ext>
                  </a:extLst>
                </a:gridCol>
                <a:gridCol w="2909528">
                  <a:extLst>
                    <a:ext uri="{9D8B030D-6E8A-4147-A177-3AD203B41FA5}">
                      <a16:colId xmlns:a16="http://schemas.microsoft.com/office/drawing/2014/main" val="3516307227"/>
                    </a:ext>
                  </a:extLst>
                </a:gridCol>
                <a:gridCol w="1212306">
                  <a:extLst>
                    <a:ext uri="{9D8B030D-6E8A-4147-A177-3AD203B41FA5}">
                      <a16:colId xmlns:a16="http://schemas.microsoft.com/office/drawing/2014/main" val="22960225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CA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2400" b="1" u="sng" dirty="0"/>
                        <a:t>Prix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24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2400" b="1" u="sng" dirty="0"/>
                        <a:t>Quantité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2000" b="1" u="sng" dirty="0"/>
                        <a:t>Coût unitaire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87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2000" b="1" dirty="0"/>
                        <a:t>Matières premières (MP)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2000" dirty="0"/>
                        <a:t>Prix de la MP </a:t>
                      </a:r>
                    </a:p>
                    <a:p>
                      <a:r>
                        <a:rPr lang="fr-CA" sz="2000" dirty="0">
                          <a:solidFill>
                            <a:srgbClr val="00B050"/>
                          </a:solidFill>
                        </a:rPr>
                        <a:t>ex: 5 $/kg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2000" dirty="0"/>
                        <a:t>Quantité de MP par </a:t>
                      </a:r>
                      <a:r>
                        <a:rPr lang="fr-CA" sz="2000" dirty="0">
                          <a:solidFill>
                            <a:schemeClr val="tx1"/>
                          </a:solidFill>
                        </a:rPr>
                        <a:t>unité</a:t>
                      </a:r>
                      <a:r>
                        <a:rPr lang="fr-CA" sz="2000" dirty="0">
                          <a:solidFill>
                            <a:srgbClr val="00B050"/>
                          </a:solidFill>
                        </a:rPr>
                        <a:t> 0,5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2000" dirty="0"/>
                    </a:p>
                    <a:p>
                      <a:r>
                        <a:rPr lang="fr-CA" sz="2000" dirty="0"/>
                        <a:t>2,50 $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407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2000" b="1" dirty="0"/>
                        <a:t>(+) Main d’œuvre directe (MOD)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2000" dirty="0"/>
                        <a:t>Taux horaire</a:t>
                      </a:r>
                    </a:p>
                    <a:p>
                      <a:r>
                        <a:rPr lang="fr-CA" sz="2000" dirty="0">
                          <a:solidFill>
                            <a:srgbClr val="00B050"/>
                          </a:solidFill>
                        </a:rPr>
                        <a:t>20 $/h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2000" dirty="0"/>
                        <a:t>Heures de MOD par unité </a:t>
                      </a:r>
                      <a:r>
                        <a:rPr lang="fr-CA" sz="2000" dirty="0">
                          <a:solidFill>
                            <a:srgbClr val="00B050"/>
                          </a:solidFill>
                        </a:rPr>
                        <a:t>2 heures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2000" dirty="0"/>
                        <a:t>40,00 $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875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2000" b="1" dirty="0"/>
                        <a:t>(+) Frais généraux de fabrication (FGF) </a:t>
                      </a:r>
                      <a:r>
                        <a:rPr kumimoji="0" lang="fr-CA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(imputation pour chacun des centres de coûts)</a:t>
                      </a:r>
                      <a:endParaRPr lang="fr-CA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2000" dirty="0"/>
                        <a:t>Taux d’imputation</a:t>
                      </a:r>
                    </a:p>
                    <a:p>
                      <a:r>
                        <a:rPr lang="fr-CA" sz="2000" dirty="0">
                          <a:solidFill>
                            <a:srgbClr val="00B050"/>
                          </a:solidFill>
                        </a:rPr>
                        <a:t>4 $/</a:t>
                      </a:r>
                      <a:r>
                        <a:rPr lang="fr-CA" sz="2000" dirty="0" err="1">
                          <a:solidFill>
                            <a:srgbClr val="00B050"/>
                          </a:solidFill>
                        </a:rPr>
                        <a:t>hmod</a:t>
                      </a:r>
                      <a:endParaRPr lang="fr-CA" sz="20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20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fr-CA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Volume de la base d’imputation par unité</a:t>
                      </a:r>
                    </a:p>
                    <a:p>
                      <a:r>
                        <a:rPr lang="fr-CA" sz="2000" dirty="0">
                          <a:solidFill>
                            <a:srgbClr val="00B050"/>
                          </a:solidFill>
                        </a:rPr>
                        <a:t>2 heures</a:t>
                      </a:r>
                      <a:endParaRPr lang="fr-CA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2000" dirty="0"/>
                        <a:t>8,00 $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805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2000" b="1" dirty="0"/>
                        <a:t>Coût de fabrication unitaire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CA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2000" b="1" dirty="0"/>
                        <a:t>50,50 $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145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0951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393131-83CC-5313-0704-A87B4770F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Activités de révision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D39648-640C-A037-B9B5-539A97431B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F3A8759-0319-A39E-0753-C6DA6E6F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(c) 10904 / S07 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7415B5C-B8EA-D179-E56B-2A1D3064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2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CC6E8D-028B-4716-B24C-67E353EB886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70560" y="2175514"/>
            <a:ext cx="5806440" cy="2506972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algn="r"/>
            <a:r>
              <a:rPr lang="en-US" sz="7200" spc="-300" dirty="0" err="1"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Informations</a:t>
            </a:r>
            <a:r>
              <a:rPr lang="en-US" sz="7200" spc="-300" dirty="0"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 pour </a:t>
            </a:r>
            <a:r>
              <a:rPr lang="en-US" sz="7200" spc="-300" dirty="0" err="1"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l’intra</a:t>
            </a:r>
            <a:endParaRPr lang="en-US" sz="7200" spc="-300" dirty="0">
              <a:effectLst>
                <a:outerShdw blurRad="469900" dist="342900" dir="5400000" sy="-20000" rotWithShape="0">
                  <a:prstClr val="black">
                    <a:alpha val="66000"/>
                  </a:prstClr>
                </a:outerShdw>
              </a:effectLst>
            </a:endParaRPr>
          </a:p>
        </p:txBody>
      </p:sp>
      <p:pic>
        <p:nvPicPr>
          <p:cNvPr id="4" name="Graphique 3" descr="Gribouille contour">
            <a:extLst>
              <a:ext uri="{FF2B5EF4-FFF2-40B4-BE49-F238E27FC236}">
                <a16:creationId xmlns:a16="http://schemas.microsoft.com/office/drawing/2014/main" id="{0245568C-6BD3-41D3-9229-804217DF367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4517" y="2175514"/>
            <a:ext cx="2236838" cy="2236838"/>
          </a:xfrm>
          <a:prstGeom prst="rect">
            <a:avLst/>
          </a:prstGeom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3656D8D-B7B3-447E-84B3-A57DC3763CC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(c) 10904 / S07 </a:t>
            </a:r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D657A0D-EFD7-4D31-85D9-9AC4F351A9E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474196D-BA7A-488A-A09F-D445352BB8E6}" type="slidenum">
              <a:rPr lang="fr-CA" smtClean="0"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1525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56C874-8CB4-4253-ADD5-8351779A7B5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sz="4000" dirty="0"/>
              <a:t>Informations pour l’intra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12F741-E81F-445F-9796-99891FA4DBA3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447060"/>
            <a:ext cx="10515600" cy="4729903"/>
          </a:xfrm>
        </p:spPr>
        <p:txBody>
          <a:bodyPr>
            <a:normAutofit fontScale="92500"/>
          </a:bodyPr>
          <a:lstStyle/>
          <a:p>
            <a:r>
              <a:rPr lang="fr-CA" dirty="0"/>
              <a:t>Date : Voir HEC en ligne</a:t>
            </a:r>
          </a:p>
          <a:p>
            <a:pPr lvl="1"/>
            <a:r>
              <a:rPr lang="fr-CA" dirty="0"/>
              <a:t>La durée est ajustée pour les personnes à besoins particuliers</a:t>
            </a:r>
          </a:p>
          <a:p>
            <a:r>
              <a:rPr lang="fr-CA" dirty="0"/>
              <a:t>Lieu : en présentiel, à HEC </a:t>
            </a:r>
          </a:p>
          <a:p>
            <a:r>
              <a:rPr lang="fr-CA" dirty="0"/>
              <a:t>Consignes : </a:t>
            </a:r>
          </a:p>
          <a:p>
            <a:pPr lvl="1"/>
            <a:r>
              <a:rPr lang="fr-CA" dirty="0"/>
              <a:t>Documentation non permise</a:t>
            </a:r>
          </a:p>
          <a:p>
            <a:pPr lvl="1"/>
            <a:r>
              <a:rPr lang="fr-CA" dirty="0"/>
              <a:t>Examen papier  </a:t>
            </a:r>
          </a:p>
          <a:p>
            <a:pPr lvl="1"/>
            <a:r>
              <a:rPr lang="fr-CA" dirty="0"/>
              <a:t>Calculatrice autorisée</a:t>
            </a:r>
          </a:p>
          <a:p>
            <a:r>
              <a:rPr lang="fr-CA" dirty="0"/>
              <a:t>Contenu : </a:t>
            </a:r>
          </a:p>
          <a:p>
            <a:pPr lvl="1"/>
            <a:r>
              <a:rPr lang="fr-CA" dirty="0"/>
              <a:t>L'examen est composé de cas pratiques comprenant des sous-questions de nature quantitative et qualitatives (analyse, justification et interprétation). Les étudiants doivent démontrer leur démarche pour les calculs et justifier leurs réponses.</a:t>
            </a:r>
          </a:p>
          <a:p>
            <a:pPr lvl="1"/>
            <a:r>
              <a:rPr lang="fr-CA" dirty="0"/>
              <a:t>Matière des séances 1 à 7</a:t>
            </a:r>
          </a:p>
          <a:p>
            <a:pPr marL="0" indent="0">
              <a:buNone/>
            </a:pPr>
            <a:endParaRPr lang="fr-CA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751FAA5-127D-4831-959F-64987C9C61D8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758677" y="6557413"/>
            <a:ext cx="2674646" cy="300587"/>
          </a:xfrm>
        </p:spPr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(c) 10904 / S07 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AC9DFB1-047C-4592-92FD-91C4D1F819A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758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56C874-8CB4-4253-ADD5-8351779A7B5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sz="4000" dirty="0"/>
              <a:t>Se préparer à l’examen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12F741-E81F-445F-9796-99891FA4DBA3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Programme de révisions :</a:t>
            </a:r>
          </a:p>
          <a:p>
            <a:pPr lvl="1"/>
            <a:r>
              <a:rPr lang="en-US" dirty="0" err="1"/>
              <a:t>Comprendre</a:t>
            </a:r>
            <a:r>
              <a:rPr lang="en-US" dirty="0"/>
              <a:t> les </a:t>
            </a:r>
            <a:r>
              <a:rPr lang="en-US" dirty="0" err="1"/>
              <a:t>principales</a:t>
            </a:r>
            <a:r>
              <a:rPr lang="en-US" dirty="0"/>
              <a:t> notions </a:t>
            </a:r>
            <a:r>
              <a:rPr lang="en-US" dirty="0" err="1"/>
              <a:t>théoriques</a:t>
            </a:r>
            <a:r>
              <a:rPr lang="en-US" dirty="0"/>
              <a:t> </a:t>
            </a:r>
          </a:p>
          <a:p>
            <a:pPr lvl="1"/>
            <a:r>
              <a:rPr lang="fr-FR" dirty="0"/>
              <a:t>Se pratiquer ! (faire des exercices)</a:t>
            </a:r>
          </a:p>
          <a:p>
            <a:pPr lvl="1"/>
            <a:r>
              <a:rPr lang="en-US" sz="2000" dirty="0" err="1"/>
              <a:t>Autres</a:t>
            </a:r>
            <a:r>
              <a:rPr lang="en-US" sz="2000" dirty="0"/>
              <a:t> conseils : </a:t>
            </a:r>
            <a:r>
              <a:rPr lang="en-US" sz="2000" dirty="0" err="1"/>
              <a:t>Escudier</a:t>
            </a:r>
            <a:r>
              <a:rPr lang="en-US" sz="2000" dirty="0"/>
              <a:t> F., </a:t>
            </a:r>
            <a:r>
              <a:rPr lang="en-US" sz="2000" dirty="0" err="1"/>
              <a:t>Debas</a:t>
            </a:r>
            <a:r>
              <a:rPr lang="en-US" sz="2000" dirty="0"/>
              <a:t> K., (2020) </a:t>
            </a:r>
            <a:r>
              <a:rPr lang="en-US" sz="2000" i="1" dirty="0"/>
              <a:t>« Savoir </a:t>
            </a:r>
            <a:r>
              <a:rPr lang="en-US" sz="2000" i="1" dirty="0" err="1"/>
              <a:t>apprendre</a:t>
            </a:r>
            <a:r>
              <a:rPr lang="en-US" sz="2000" i="1" dirty="0"/>
              <a:t> pour </a:t>
            </a:r>
            <a:r>
              <a:rPr lang="en-US" sz="2000" i="1" dirty="0" err="1"/>
              <a:t>réussir</a:t>
            </a:r>
            <a:r>
              <a:rPr lang="en-US" sz="2000" i="1" dirty="0"/>
              <a:t> - Les </a:t>
            </a:r>
            <a:r>
              <a:rPr lang="en-US" sz="2000" i="1" dirty="0" err="1"/>
              <a:t>meilleures</a:t>
            </a:r>
            <a:r>
              <a:rPr lang="en-US" sz="2000" i="1" dirty="0"/>
              <a:t> </a:t>
            </a:r>
            <a:r>
              <a:rPr lang="en-US" sz="2000" i="1" dirty="0" err="1"/>
              <a:t>stratégies</a:t>
            </a:r>
            <a:r>
              <a:rPr lang="en-US" sz="2000" i="1" dirty="0"/>
              <a:t> </a:t>
            </a:r>
            <a:r>
              <a:rPr lang="en-US" sz="2000" i="1" dirty="0" err="1"/>
              <a:t>d'étude</a:t>
            </a:r>
            <a:r>
              <a:rPr lang="en-US" sz="2000" i="1" dirty="0"/>
              <a:t> </a:t>
            </a:r>
            <a:r>
              <a:rPr lang="en-US" sz="2000" i="1" dirty="0" err="1"/>
              <a:t>validées</a:t>
            </a:r>
            <a:r>
              <a:rPr lang="en-US" sz="2000" i="1" dirty="0"/>
              <a:t> par la science »</a:t>
            </a:r>
            <a:r>
              <a:rPr lang="en-US" sz="2000" dirty="0"/>
              <a:t>, ERPI. </a:t>
            </a:r>
          </a:p>
          <a:p>
            <a:pPr lvl="1"/>
            <a:r>
              <a:rPr lang="en-US" dirty="0"/>
              <a:t>Consulter le site web des services aux </a:t>
            </a:r>
            <a:r>
              <a:rPr lang="en-US" dirty="0" err="1"/>
              <a:t>étudiants</a:t>
            </a:r>
            <a:r>
              <a:rPr lang="en-US" dirty="0"/>
              <a:t> de HEC Montréal (SAÉ)</a:t>
            </a:r>
          </a:p>
          <a:p>
            <a:pPr marL="0" indent="0">
              <a:buNone/>
            </a:pPr>
            <a:endParaRPr lang="fr-CA" dirty="0"/>
          </a:p>
          <a:p>
            <a:r>
              <a:rPr lang="fr-CA" dirty="0"/>
              <a:t>Consultations : m’écrire si vous avez une question, on pourrait aussi prévoir une rencontre au besoin.</a:t>
            </a:r>
          </a:p>
          <a:p>
            <a:pPr marL="0" indent="0">
              <a:buNone/>
            </a:pPr>
            <a:endParaRPr lang="fr-CA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751FAA5-127D-4831-959F-64987C9C61D8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739627" y="6547117"/>
            <a:ext cx="2712746" cy="300587"/>
          </a:xfrm>
        </p:spPr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(c) 10904 / S07 </a:t>
            </a:r>
            <a:endParaRPr lang="fr-CA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90E722A-96E8-4026-8037-ABD320DEF2E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9307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A3AE72-BED2-3AE5-07BC-EF476306249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tx2"/>
                </a:solidFill>
                <a:cs typeface="Poppins" pitchFamily="2" charset="77"/>
              </a:rPr>
              <a:t>QUESTIONS…</a:t>
            </a:r>
            <a:endParaRPr lang="fr-CA" dirty="0"/>
          </a:p>
        </p:txBody>
      </p:sp>
      <p:grpSp>
        <p:nvGrpSpPr>
          <p:cNvPr id="6" name="Group 138">
            <a:extLst>
              <a:ext uri="{FF2B5EF4-FFF2-40B4-BE49-F238E27FC236}">
                <a16:creationId xmlns:a16="http://schemas.microsoft.com/office/drawing/2014/main" id="{65046B40-4C17-4CB6-AFE9-AB12062D9A63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9280493" y="2303889"/>
            <a:ext cx="2068927" cy="2939891"/>
            <a:chOff x="8704441" y="2571694"/>
            <a:chExt cx="7028256" cy="10385705"/>
          </a:xfrm>
        </p:grpSpPr>
        <p:sp>
          <p:nvSpPr>
            <p:cNvPr id="7" name="Shape 34173">
              <a:extLst>
                <a:ext uri="{FF2B5EF4-FFF2-40B4-BE49-F238E27FC236}">
                  <a16:creationId xmlns:a16="http://schemas.microsoft.com/office/drawing/2014/main" id="{976C004C-1D4C-6265-7CAA-36D0B3554743}"/>
                </a:ext>
              </a:extLst>
            </p:cNvPr>
            <p:cNvSpPr/>
            <p:nvPr/>
          </p:nvSpPr>
          <p:spPr>
            <a:xfrm>
              <a:off x="8704441" y="4977041"/>
              <a:ext cx="795138" cy="6960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56" h="21029" extrusionOk="0">
                  <a:moveTo>
                    <a:pt x="20115" y="12466"/>
                  </a:moveTo>
                  <a:cubicBezTo>
                    <a:pt x="19732" y="10390"/>
                    <a:pt x="17957" y="9059"/>
                    <a:pt x="16157" y="9500"/>
                  </a:cubicBezTo>
                  <a:cubicBezTo>
                    <a:pt x="15676" y="9618"/>
                    <a:pt x="15243" y="9853"/>
                    <a:pt x="14872" y="10171"/>
                  </a:cubicBezTo>
                  <a:lnTo>
                    <a:pt x="17218" y="12800"/>
                  </a:lnTo>
                  <a:cubicBezTo>
                    <a:pt x="17383" y="12986"/>
                    <a:pt x="17387" y="13290"/>
                    <a:pt x="17227" y="13481"/>
                  </a:cubicBezTo>
                  <a:cubicBezTo>
                    <a:pt x="17066" y="13671"/>
                    <a:pt x="16803" y="13676"/>
                    <a:pt x="16637" y="13490"/>
                  </a:cubicBezTo>
                  <a:lnTo>
                    <a:pt x="14268" y="10834"/>
                  </a:lnTo>
                  <a:cubicBezTo>
                    <a:pt x="13652" y="11707"/>
                    <a:pt x="13371" y="12880"/>
                    <a:pt x="13589" y="14063"/>
                  </a:cubicBezTo>
                  <a:cubicBezTo>
                    <a:pt x="13972" y="16139"/>
                    <a:pt x="15747" y="17470"/>
                    <a:pt x="17547" y="17029"/>
                  </a:cubicBezTo>
                  <a:cubicBezTo>
                    <a:pt x="19346" y="16589"/>
                    <a:pt x="20498" y="14541"/>
                    <a:pt x="20115" y="12466"/>
                  </a:cubicBezTo>
                  <a:close/>
                  <a:moveTo>
                    <a:pt x="12445" y="7390"/>
                  </a:moveTo>
                  <a:lnTo>
                    <a:pt x="10862" y="7777"/>
                  </a:lnTo>
                  <a:cubicBezTo>
                    <a:pt x="10683" y="7821"/>
                    <a:pt x="10443" y="7721"/>
                    <a:pt x="10330" y="7554"/>
                  </a:cubicBezTo>
                  <a:lnTo>
                    <a:pt x="9382" y="6156"/>
                  </a:lnTo>
                  <a:lnTo>
                    <a:pt x="7858" y="9354"/>
                  </a:lnTo>
                  <a:cubicBezTo>
                    <a:pt x="7858" y="9354"/>
                    <a:pt x="8237" y="9436"/>
                    <a:pt x="8700" y="9536"/>
                  </a:cubicBezTo>
                  <a:lnTo>
                    <a:pt x="12662" y="8566"/>
                  </a:lnTo>
                  <a:cubicBezTo>
                    <a:pt x="12662" y="8566"/>
                    <a:pt x="12445" y="7390"/>
                    <a:pt x="12445" y="7390"/>
                  </a:cubicBezTo>
                  <a:close/>
                  <a:moveTo>
                    <a:pt x="12276" y="9645"/>
                  </a:moveTo>
                  <a:lnTo>
                    <a:pt x="10649" y="10043"/>
                  </a:lnTo>
                  <a:cubicBezTo>
                    <a:pt x="10837" y="10188"/>
                    <a:pt x="10975" y="10413"/>
                    <a:pt x="11024" y="10676"/>
                  </a:cubicBezTo>
                  <a:lnTo>
                    <a:pt x="11025" y="10675"/>
                  </a:lnTo>
                  <a:cubicBezTo>
                    <a:pt x="11025" y="10675"/>
                    <a:pt x="11166" y="11451"/>
                    <a:pt x="11342" y="12416"/>
                  </a:cubicBezTo>
                  <a:cubicBezTo>
                    <a:pt x="11342" y="12416"/>
                    <a:pt x="12276" y="9645"/>
                    <a:pt x="12276" y="9645"/>
                  </a:cubicBezTo>
                  <a:close/>
                  <a:moveTo>
                    <a:pt x="9392" y="11587"/>
                  </a:moveTo>
                  <a:cubicBezTo>
                    <a:pt x="9392" y="11587"/>
                    <a:pt x="7390" y="11287"/>
                    <a:pt x="6435" y="11138"/>
                  </a:cubicBezTo>
                  <a:lnTo>
                    <a:pt x="5956" y="12381"/>
                  </a:lnTo>
                  <a:cubicBezTo>
                    <a:pt x="6790" y="12920"/>
                    <a:pt x="7454" y="13798"/>
                    <a:pt x="7783" y="14892"/>
                  </a:cubicBezTo>
                  <a:lnTo>
                    <a:pt x="9906" y="14373"/>
                  </a:lnTo>
                  <a:cubicBezTo>
                    <a:pt x="9906" y="14373"/>
                    <a:pt x="9392" y="11587"/>
                    <a:pt x="9392" y="11587"/>
                  </a:cubicBezTo>
                  <a:close/>
                  <a:moveTo>
                    <a:pt x="7320" y="15990"/>
                  </a:moveTo>
                  <a:lnTo>
                    <a:pt x="4073" y="16785"/>
                  </a:lnTo>
                  <a:cubicBezTo>
                    <a:pt x="3848" y="16840"/>
                    <a:pt x="3626" y="16674"/>
                    <a:pt x="3578" y="16414"/>
                  </a:cubicBezTo>
                  <a:cubicBezTo>
                    <a:pt x="3557" y="16296"/>
                    <a:pt x="3576" y="16181"/>
                    <a:pt x="3622" y="16083"/>
                  </a:cubicBezTo>
                  <a:lnTo>
                    <a:pt x="3621" y="16082"/>
                  </a:lnTo>
                  <a:lnTo>
                    <a:pt x="4917" y="12711"/>
                  </a:lnTo>
                  <a:cubicBezTo>
                    <a:pt x="4410" y="12543"/>
                    <a:pt x="3861" y="12510"/>
                    <a:pt x="3309" y="12645"/>
                  </a:cubicBezTo>
                  <a:cubicBezTo>
                    <a:pt x="1510" y="13086"/>
                    <a:pt x="358" y="15133"/>
                    <a:pt x="741" y="17209"/>
                  </a:cubicBezTo>
                  <a:cubicBezTo>
                    <a:pt x="1124" y="19285"/>
                    <a:pt x="2899" y="20615"/>
                    <a:pt x="4699" y="20175"/>
                  </a:cubicBezTo>
                  <a:cubicBezTo>
                    <a:pt x="6388" y="19761"/>
                    <a:pt x="7507" y="17930"/>
                    <a:pt x="7320" y="15990"/>
                  </a:cubicBezTo>
                  <a:close/>
                  <a:moveTo>
                    <a:pt x="4700" y="15647"/>
                  </a:moveTo>
                  <a:lnTo>
                    <a:pt x="7121" y="15055"/>
                  </a:lnTo>
                  <a:cubicBezTo>
                    <a:pt x="6845" y="14210"/>
                    <a:pt x="6329" y="13528"/>
                    <a:pt x="5683" y="13093"/>
                  </a:cubicBezTo>
                  <a:cubicBezTo>
                    <a:pt x="5683" y="13093"/>
                    <a:pt x="4700" y="15647"/>
                    <a:pt x="4700" y="15647"/>
                  </a:cubicBezTo>
                  <a:close/>
                  <a:moveTo>
                    <a:pt x="20768" y="12306"/>
                  </a:moveTo>
                  <a:cubicBezTo>
                    <a:pt x="21228" y="14801"/>
                    <a:pt x="19848" y="17253"/>
                    <a:pt x="17686" y="17782"/>
                  </a:cubicBezTo>
                  <a:cubicBezTo>
                    <a:pt x="15523" y="18311"/>
                    <a:pt x="13397" y="16718"/>
                    <a:pt x="12936" y="14223"/>
                  </a:cubicBezTo>
                  <a:cubicBezTo>
                    <a:pt x="12670" y="12777"/>
                    <a:pt x="13022" y="11346"/>
                    <a:pt x="13786" y="10295"/>
                  </a:cubicBezTo>
                  <a:lnTo>
                    <a:pt x="13180" y="9616"/>
                  </a:lnTo>
                  <a:lnTo>
                    <a:pt x="11655" y="14141"/>
                  </a:lnTo>
                  <a:cubicBezTo>
                    <a:pt x="11845" y="15192"/>
                    <a:pt x="12003" y="16082"/>
                    <a:pt x="12002" y="16116"/>
                  </a:cubicBezTo>
                  <a:cubicBezTo>
                    <a:pt x="11988" y="16676"/>
                    <a:pt x="11582" y="17117"/>
                    <a:pt x="11096" y="17100"/>
                  </a:cubicBezTo>
                  <a:cubicBezTo>
                    <a:pt x="10682" y="17085"/>
                    <a:pt x="10344" y="16743"/>
                    <a:pt x="10261" y="16295"/>
                  </a:cubicBezTo>
                  <a:lnTo>
                    <a:pt x="10260" y="16295"/>
                  </a:lnTo>
                  <a:lnTo>
                    <a:pt x="10079" y="15314"/>
                  </a:lnTo>
                  <a:lnTo>
                    <a:pt x="7974" y="15829"/>
                  </a:lnTo>
                  <a:cubicBezTo>
                    <a:pt x="8237" y="18189"/>
                    <a:pt x="6891" y="20425"/>
                    <a:pt x="4838" y="20928"/>
                  </a:cubicBezTo>
                  <a:cubicBezTo>
                    <a:pt x="2675" y="21457"/>
                    <a:pt x="549" y="19863"/>
                    <a:pt x="88" y="17369"/>
                  </a:cubicBezTo>
                  <a:cubicBezTo>
                    <a:pt x="-372" y="14874"/>
                    <a:pt x="1008" y="12422"/>
                    <a:pt x="3170" y="11892"/>
                  </a:cubicBezTo>
                  <a:cubicBezTo>
                    <a:pt x="3866" y="11722"/>
                    <a:pt x="4557" y="11772"/>
                    <a:pt x="5191" y="12001"/>
                  </a:cubicBezTo>
                  <a:lnTo>
                    <a:pt x="5611" y="10908"/>
                  </a:lnTo>
                  <a:cubicBezTo>
                    <a:pt x="5188" y="10637"/>
                    <a:pt x="4908" y="10111"/>
                    <a:pt x="4924" y="9516"/>
                  </a:cubicBezTo>
                  <a:cubicBezTo>
                    <a:pt x="4931" y="9235"/>
                    <a:pt x="5004" y="8976"/>
                    <a:pt x="5123" y="8753"/>
                  </a:cubicBezTo>
                  <a:lnTo>
                    <a:pt x="5122" y="8753"/>
                  </a:lnTo>
                  <a:lnTo>
                    <a:pt x="7375" y="4249"/>
                  </a:lnTo>
                  <a:lnTo>
                    <a:pt x="7375" y="4250"/>
                  </a:lnTo>
                  <a:cubicBezTo>
                    <a:pt x="7591" y="3700"/>
                    <a:pt x="8076" y="3326"/>
                    <a:pt x="8631" y="3346"/>
                  </a:cubicBezTo>
                  <a:cubicBezTo>
                    <a:pt x="9070" y="3361"/>
                    <a:pt x="9452" y="3620"/>
                    <a:pt x="9685" y="4006"/>
                  </a:cubicBezTo>
                  <a:lnTo>
                    <a:pt x="9686" y="4006"/>
                  </a:lnTo>
                  <a:lnTo>
                    <a:pt x="11018" y="6165"/>
                  </a:lnTo>
                  <a:lnTo>
                    <a:pt x="12915" y="5701"/>
                  </a:lnTo>
                  <a:cubicBezTo>
                    <a:pt x="13275" y="5613"/>
                    <a:pt x="13630" y="5878"/>
                    <a:pt x="13706" y="6294"/>
                  </a:cubicBezTo>
                  <a:cubicBezTo>
                    <a:pt x="13778" y="6683"/>
                    <a:pt x="13580" y="7062"/>
                    <a:pt x="13259" y="7182"/>
                  </a:cubicBezTo>
                  <a:lnTo>
                    <a:pt x="13534" y="8671"/>
                  </a:lnTo>
                  <a:lnTo>
                    <a:pt x="14385" y="9625"/>
                  </a:lnTo>
                  <a:cubicBezTo>
                    <a:pt x="14850" y="9205"/>
                    <a:pt x="15402" y="8898"/>
                    <a:pt x="16018" y="8747"/>
                  </a:cubicBezTo>
                  <a:cubicBezTo>
                    <a:pt x="18181" y="8217"/>
                    <a:pt x="20307" y="9811"/>
                    <a:pt x="20768" y="12306"/>
                  </a:cubicBezTo>
                  <a:close/>
                  <a:moveTo>
                    <a:pt x="8795" y="1859"/>
                  </a:moveTo>
                  <a:cubicBezTo>
                    <a:pt x="8642" y="1027"/>
                    <a:pt x="9102" y="210"/>
                    <a:pt x="9823" y="34"/>
                  </a:cubicBezTo>
                  <a:cubicBezTo>
                    <a:pt x="10543" y="-143"/>
                    <a:pt x="11252" y="388"/>
                    <a:pt x="11406" y="1220"/>
                  </a:cubicBezTo>
                  <a:cubicBezTo>
                    <a:pt x="11559" y="2051"/>
                    <a:pt x="11099" y="2869"/>
                    <a:pt x="10378" y="3045"/>
                  </a:cubicBezTo>
                  <a:cubicBezTo>
                    <a:pt x="9658" y="3222"/>
                    <a:pt x="8949" y="2690"/>
                    <a:pt x="8795" y="18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" name="Shape 34174">
              <a:extLst>
                <a:ext uri="{FF2B5EF4-FFF2-40B4-BE49-F238E27FC236}">
                  <a16:creationId xmlns:a16="http://schemas.microsoft.com/office/drawing/2014/main" id="{C4BF05D4-B682-FD65-42DA-A04AFFE28DC3}"/>
                </a:ext>
              </a:extLst>
            </p:cNvPr>
            <p:cNvSpPr/>
            <p:nvPr/>
          </p:nvSpPr>
          <p:spPr>
            <a:xfrm>
              <a:off x="13207711" y="5129396"/>
              <a:ext cx="316260" cy="632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50" y="4050"/>
                  </a:moveTo>
                  <a:lnTo>
                    <a:pt x="1618" y="4050"/>
                  </a:lnTo>
                  <a:lnTo>
                    <a:pt x="1618" y="17550"/>
                  </a:lnTo>
                  <a:lnTo>
                    <a:pt x="20250" y="17550"/>
                  </a:lnTo>
                  <a:lnTo>
                    <a:pt x="20250" y="4050"/>
                  </a:lnTo>
                  <a:close/>
                  <a:moveTo>
                    <a:pt x="14175" y="2025"/>
                  </a:moveTo>
                  <a:lnTo>
                    <a:pt x="7425" y="2025"/>
                  </a:lnTo>
                  <a:cubicBezTo>
                    <a:pt x="7052" y="2025"/>
                    <a:pt x="6750" y="2176"/>
                    <a:pt x="6750" y="2363"/>
                  </a:cubicBezTo>
                  <a:cubicBezTo>
                    <a:pt x="6750" y="2549"/>
                    <a:pt x="7052" y="2700"/>
                    <a:pt x="7425" y="2700"/>
                  </a:cubicBezTo>
                  <a:lnTo>
                    <a:pt x="14175" y="2700"/>
                  </a:lnTo>
                  <a:cubicBezTo>
                    <a:pt x="14548" y="2700"/>
                    <a:pt x="14850" y="2549"/>
                    <a:pt x="14850" y="2363"/>
                  </a:cubicBezTo>
                  <a:cubicBezTo>
                    <a:pt x="14850" y="2176"/>
                    <a:pt x="14548" y="2025"/>
                    <a:pt x="14175" y="2025"/>
                  </a:cubicBezTo>
                  <a:close/>
                  <a:moveTo>
                    <a:pt x="11475" y="20250"/>
                  </a:moveTo>
                  <a:cubicBezTo>
                    <a:pt x="12593" y="20250"/>
                    <a:pt x="13500" y="19797"/>
                    <a:pt x="13500" y="19238"/>
                  </a:cubicBezTo>
                  <a:cubicBezTo>
                    <a:pt x="13500" y="18678"/>
                    <a:pt x="12593" y="18225"/>
                    <a:pt x="11475" y="18225"/>
                  </a:cubicBezTo>
                  <a:cubicBezTo>
                    <a:pt x="10357" y="18225"/>
                    <a:pt x="9450" y="18678"/>
                    <a:pt x="9450" y="19238"/>
                  </a:cubicBezTo>
                  <a:cubicBezTo>
                    <a:pt x="9450" y="19797"/>
                    <a:pt x="10357" y="20250"/>
                    <a:pt x="11475" y="20250"/>
                  </a:cubicBezTo>
                  <a:close/>
                  <a:moveTo>
                    <a:pt x="18900" y="21600"/>
                  </a:moveTo>
                  <a:lnTo>
                    <a:pt x="2700" y="21600"/>
                  </a:lnTo>
                  <a:cubicBezTo>
                    <a:pt x="1954" y="21600"/>
                    <a:pt x="1279" y="21449"/>
                    <a:pt x="791" y="21205"/>
                  </a:cubicBezTo>
                  <a:cubicBezTo>
                    <a:pt x="302" y="20960"/>
                    <a:pt x="0" y="20623"/>
                    <a:pt x="0" y="20250"/>
                  </a:cubicBezTo>
                  <a:lnTo>
                    <a:pt x="0" y="1350"/>
                  </a:lnTo>
                  <a:cubicBezTo>
                    <a:pt x="0" y="977"/>
                    <a:pt x="302" y="640"/>
                    <a:pt x="791" y="395"/>
                  </a:cubicBezTo>
                  <a:cubicBezTo>
                    <a:pt x="1279" y="151"/>
                    <a:pt x="1954" y="0"/>
                    <a:pt x="2700" y="0"/>
                  </a:cubicBezTo>
                  <a:lnTo>
                    <a:pt x="18900" y="0"/>
                  </a:lnTo>
                  <a:cubicBezTo>
                    <a:pt x="19646" y="0"/>
                    <a:pt x="20321" y="151"/>
                    <a:pt x="20809" y="395"/>
                  </a:cubicBezTo>
                  <a:cubicBezTo>
                    <a:pt x="21298" y="640"/>
                    <a:pt x="21600" y="977"/>
                    <a:pt x="21600" y="1350"/>
                  </a:cubicBezTo>
                  <a:lnTo>
                    <a:pt x="21600" y="20250"/>
                  </a:lnTo>
                  <a:cubicBezTo>
                    <a:pt x="21600" y="20623"/>
                    <a:pt x="21298" y="20960"/>
                    <a:pt x="20809" y="21205"/>
                  </a:cubicBezTo>
                  <a:cubicBezTo>
                    <a:pt x="20321" y="21449"/>
                    <a:pt x="19646" y="21600"/>
                    <a:pt x="1890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" name="Shape 34175">
              <a:extLst>
                <a:ext uri="{FF2B5EF4-FFF2-40B4-BE49-F238E27FC236}">
                  <a16:creationId xmlns:a16="http://schemas.microsoft.com/office/drawing/2014/main" id="{C9712020-E217-2295-A8BA-E42FE748FCC5}"/>
                </a:ext>
              </a:extLst>
            </p:cNvPr>
            <p:cNvSpPr/>
            <p:nvPr/>
          </p:nvSpPr>
          <p:spPr>
            <a:xfrm>
              <a:off x="13346915" y="6245061"/>
              <a:ext cx="528722" cy="466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5" h="21448" extrusionOk="0">
                  <a:moveTo>
                    <a:pt x="1162" y="1839"/>
                  </a:moveTo>
                  <a:cubicBezTo>
                    <a:pt x="454" y="1924"/>
                    <a:pt x="-67" y="2640"/>
                    <a:pt x="7" y="3442"/>
                  </a:cubicBezTo>
                  <a:lnTo>
                    <a:pt x="1557" y="20144"/>
                  </a:lnTo>
                  <a:cubicBezTo>
                    <a:pt x="1631" y="20947"/>
                    <a:pt x="2272" y="21524"/>
                    <a:pt x="2980" y="21440"/>
                  </a:cubicBezTo>
                  <a:lnTo>
                    <a:pt x="19632" y="19456"/>
                  </a:lnTo>
                  <a:cubicBezTo>
                    <a:pt x="20339" y="19372"/>
                    <a:pt x="20850" y="18657"/>
                    <a:pt x="20776" y="17855"/>
                  </a:cubicBezTo>
                  <a:lnTo>
                    <a:pt x="20372" y="13497"/>
                  </a:lnTo>
                  <a:lnTo>
                    <a:pt x="15892" y="14031"/>
                  </a:lnTo>
                  <a:cubicBezTo>
                    <a:pt x="15184" y="14115"/>
                    <a:pt x="14553" y="13536"/>
                    <a:pt x="14479" y="12734"/>
                  </a:cubicBezTo>
                  <a:lnTo>
                    <a:pt x="14209" y="9825"/>
                  </a:lnTo>
                  <a:cubicBezTo>
                    <a:pt x="14135" y="9023"/>
                    <a:pt x="14646" y="8308"/>
                    <a:pt x="15353" y="8224"/>
                  </a:cubicBezTo>
                  <a:lnTo>
                    <a:pt x="19833" y="7690"/>
                  </a:lnTo>
                  <a:lnTo>
                    <a:pt x="19497" y="4062"/>
                  </a:lnTo>
                  <a:cubicBezTo>
                    <a:pt x="19422" y="3260"/>
                    <a:pt x="18790" y="2669"/>
                    <a:pt x="18083" y="2754"/>
                  </a:cubicBezTo>
                  <a:lnTo>
                    <a:pt x="17948" y="1305"/>
                  </a:lnTo>
                  <a:cubicBezTo>
                    <a:pt x="17874" y="503"/>
                    <a:pt x="17243" y="-76"/>
                    <a:pt x="16535" y="8"/>
                  </a:cubicBezTo>
                  <a:lnTo>
                    <a:pt x="1162" y="1839"/>
                  </a:lnTo>
                  <a:close/>
                  <a:moveTo>
                    <a:pt x="1930" y="3213"/>
                  </a:moveTo>
                  <a:lnTo>
                    <a:pt x="15381" y="1611"/>
                  </a:lnTo>
                  <a:cubicBezTo>
                    <a:pt x="15381" y="1611"/>
                    <a:pt x="16670" y="1454"/>
                    <a:pt x="16804" y="2906"/>
                  </a:cubicBezTo>
                  <a:lnTo>
                    <a:pt x="2065" y="4661"/>
                  </a:lnTo>
                  <a:cubicBezTo>
                    <a:pt x="1711" y="4704"/>
                    <a:pt x="1401" y="4420"/>
                    <a:pt x="1364" y="4018"/>
                  </a:cubicBezTo>
                  <a:cubicBezTo>
                    <a:pt x="1327" y="3618"/>
                    <a:pt x="1577" y="3255"/>
                    <a:pt x="1930" y="3213"/>
                  </a:cubicBezTo>
                  <a:close/>
                  <a:moveTo>
                    <a:pt x="16055" y="8878"/>
                  </a:moveTo>
                  <a:cubicBezTo>
                    <a:pt x="15347" y="8963"/>
                    <a:pt x="14836" y="9677"/>
                    <a:pt x="14911" y="10479"/>
                  </a:cubicBezTo>
                  <a:lnTo>
                    <a:pt x="15045" y="11928"/>
                  </a:lnTo>
                  <a:cubicBezTo>
                    <a:pt x="15120" y="12730"/>
                    <a:pt x="15751" y="13309"/>
                    <a:pt x="16458" y="13225"/>
                  </a:cubicBezTo>
                  <a:lnTo>
                    <a:pt x="20304" y="12767"/>
                  </a:lnTo>
                  <a:cubicBezTo>
                    <a:pt x="21012" y="12682"/>
                    <a:pt x="21533" y="11966"/>
                    <a:pt x="21459" y="11164"/>
                  </a:cubicBezTo>
                  <a:lnTo>
                    <a:pt x="21324" y="9716"/>
                  </a:lnTo>
                  <a:cubicBezTo>
                    <a:pt x="21250" y="8913"/>
                    <a:pt x="20608" y="8336"/>
                    <a:pt x="19901" y="8420"/>
                  </a:cubicBezTo>
                  <a:lnTo>
                    <a:pt x="16055" y="8878"/>
                  </a:lnTo>
                  <a:close/>
                  <a:moveTo>
                    <a:pt x="16834" y="10250"/>
                  </a:moveTo>
                  <a:cubicBezTo>
                    <a:pt x="17188" y="10208"/>
                    <a:pt x="17508" y="10491"/>
                    <a:pt x="17545" y="10892"/>
                  </a:cubicBezTo>
                  <a:cubicBezTo>
                    <a:pt x="17582" y="11293"/>
                    <a:pt x="17322" y="11657"/>
                    <a:pt x="16968" y="11699"/>
                  </a:cubicBezTo>
                  <a:cubicBezTo>
                    <a:pt x="16614" y="11741"/>
                    <a:pt x="16293" y="11447"/>
                    <a:pt x="16256" y="11046"/>
                  </a:cubicBezTo>
                  <a:cubicBezTo>
                    <a:pt x="16219" y="10644"/>
                    <a:pt x="16480" y="10293"/>
                    <a:pt x="16834" y="102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0" name="Shape 34176">
              <a:extLst>
                <a:ext uri="{FF2B5EF4-FFF2-40B4-BE49-F238E27FC236}">
                  <a16:creationId xmlns:a16="http://schemas.microsoft.com/office/drawing/2014/main" id="{AAF18868-B068-9C4F-8960-CB0D5A467E25}"/>
                </a:ext>
              </a:extLst>
            </p:cNvPr>
            <p:cNvSpPr/>
            <p:nvPr/>
          </p:nvSpPr>
          <p:spPr>
            <a:xfrm>
              <a:off x="10903238" y="7779831"/>
              <a:ext cx="984814" cy="885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217" extrusionOk="0">
                  <a:moveTo>
                    <a:pt x="16218" y="16859"/>
                  </a:moveTo>
                  <a:lnTo>
                    <a:pt x="3455" y="9002"/>
                  </a:lnTo>
                  <a:lnTo>
                    <a:pt x="7275" y="1347"/>
                  </a:lnTo>
                  <a:lnTo>
                    <a:pt x="20039" y="9205"/>
                  </a:lnTo>
                  <a:cubicBezTo>
                    <a:pt x="20039" y="9205"/>
                    <a:pt x="16218" y="16859"/>
                    <a:pt x="16218" y="16859"/>
                  </a:cubicBezTo>
                  <a:close/>
                  <a:moveTo>
                    <a:pt x="20627" y="8027"/>
                  </a:moveTo>
                  <a:lnTo>
                    <a:pt x="7863" y="170"/>
                  </a:lnTo>
                  <a:cubicBezTo>
                    <a:pt x="7275" y="-192"/>
                    <a:pt x="6536" y="43"/>
                    <a:pt x="6211" y="693"/>
                  </a:cubicBezTo>
                  <a:cubicBezTo>
                    <a:pt x="6211" y="693"/>
                    <a:pt x="1803" y="9525"/>
                    <a:pt x="1814" y="9531"/>
                  </a:cubicBezTo>
                  <a:lnTo>
                    <a:pt x="16683" y="18684"/>
                  </a:lnTo>
                  <a:cubicBezTo>
                    <a:pt x="16694" y="18691"/>
                    <a:pt x="21103" y="9860"/>
                    <a:pt x="21103" y="9860"/>
                  </a:cubicBezTo>
                  <a:cubicBezTo>
                    <a:pt x="21427" y="9210"/>
                    <a:pt x="21214" y="8389"/>
                    <a:pt x="20627" y="8027"/>
                  </a:cubicBezTo>
                  <a:close/>
                  <a:moveTo>
                    <a:pt x="15519" y="21047"/>
                  </a:moveTo>
                  <a:lnTo>
                    <a:pt x="628" y="11880"/>
                  </a:lnTo>
                  <a:cubicBezTo>
                    <a:pt x="40" y="11518"/>
                    <a:pt x="-173" y="10698"/>
                    <a:pt x="152" y="10047"/>
                  </a:cubicBezTo>
                  <a:lnTo>
                    <a:pt x="446" y="9459"/>
                  </a:lnTo>
                  <a:lnTo>
                    <a:pt x="7359" y="13714"/>
                  </a:lnTo>
                  <a:lnTo>
                    <a:pt x="7065" y="14303"/>
                  </a:lnTo>
                  <a:lnTo>
                    <a:pt x="10256" y="16268"/>
                  </a:lnTo>
                  <a:lnTo>
                    <a:pt x="10550" y="15679"/>
                  </a:lnTo>
                  <a:lnTo>
                    <a:pt x="17464" y="19935"/>
                  </a:lnTo>
                  <a:lnTo>
                    <a:pt x="17170" y="20524"/>
                  </a:lnTo>
                  <a:cubicBezTo>
                    <a:pt x="16846" y="21174"/>
                    <a:pt x="16106" y="21408"/>
                    <a:pt x="15519" y="21047"/>
                  </a:cubicBezTo>
                  <a:cubicBezTo>
                    <a:pt x="15519" y="21047"/>
                    <a:pt x="15519" y="21047"/>
                    <a:pt x="15519" y="2104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1" name="Shape 34177">
              <a:extLst>
                <a:ext uri="{FF2B5EF4-FFF2-40B4-BE49-F238E27FC236}">
                  <a16:creationId xmlns:a16="http://schemas.microsoft.com/office/drawing/2014/main" id="{E801DEDF-A984-AAEF-46E7-EC60B0FDD754}"/>
                </a:ext>
              </a:extLst>
            </p:cNvPr>
            <p:cNvSpPr/>
            <p:nvPr/>
          </p:nvSpPr>
          <p:spPr>
            <a:xfrm>
              <a:off x="11708307" y="11472461"/>
              <a:ext cx="584792" cy="5037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937" y="21600"/>
                  </a:moveTo>
                  <a:cubicBezTo>
                    <a:pt x="7087" y="19915"/>
                    <a:pt x="7254" y="17403"/>
                    <a:pt x="7225" y="15022"/>
                  </a:cubicBezTo>
                  <a:cubicBezTo>
                    <a:pt x="9087" y="15916"/>
                    <a:pt x="11129" y="16612"/>
                    <a:pt x="13235" y="14961"/>
                  </a:cubicBezTo>
                  <a:cubicBezTo>
                    <a:pt x="15319" y="13326"/>
                    <a:pt x="15547" y="10891"/>
                    <a:pt x="15533" y="8574"/>
                  </a:cubicBezTo>
                  <a:cubicBezTo>
                    <a:pt x="17412" y="9482"/>
                    <a:pt x="19470" y="10214"/>
                    <a:pt x="21600" y="8543"/>
                  </a:cubicBezTo>
                  <a:lnTo>
                    <a:pt x="20969" y="7441"/>
                  </a:lnTo>
                  <a:cubicBezTo>
                    <a:pt x="19165" y="8855"/>
                    <a:pt x="17455" y="8115"/>
                    <a:pt x="15526" y="7147"/>
                  </a:cubicBezTo>
                  <a:cubicBezTo>
                    <a:pt x="15470" y="4670"/>
                    <a:pt x="15489" y="2522"/>
                    <a:pt x="17315" y="1092"/>
                  </a:cubicBezTo>
                  <a:lnTo>
                    <a:pt x="16670" y="0"/>
                  </a:lnTo>
                  <a:cubicBezTo>
                    <a:pt x="14521" y="1685"/>
                    <a:pt x="14346" y="4208"/>
                    <a:pt x="14375" y="6589"/>
                  </a:cubicBezTo>
                  <a:cubicBezTo>
                    <a:pt x="12514" y="5696"/>
                    <a:pt x="10476" y="5018"/>
                    <a:pt x="8371" y="6668"/>
                  </a:cubicBezTo>
                  <a:cubicBezTo>
                    <a:pt x="6282" y="8306"/>
                    <a:pt x="6070" y="10724"/>
                    <a:pt x="6085" y="13045"/>
                  </a:cubicBezTo>
                  <a:cubicBezTo>
                    <a:pt x="4204" y="12134"/>
                    <a:pt x="2134" y="11396"/>
                    <a:pt x="0" y="13068"/>
                  </a:cubicBezTo>
                  <a:cubicBezTo>
                    <a:pt x="0" y="13068"/>
                    <a:pt x="641" y="14162"/>
                    <a:pt x="641" y="14162"/>
                  </a:cubicBezTo>
                  <a:cubicBezTo>
                    <a:pt x="2449" y="12745"/>
                    <a:pt x="4156" y="13499"/>
                    <a:pt x="6093" y="14471"/>
                  </a:cubicBezTo>
                  <a:cubicBezTo>
                    <a:pt x="6148" y="16943"/>
                    <a:pt x="6117" y="19084"/>
                    <a:pt x="4295" y="20512"/>
                  </a:cubicBezTo>
                  <a:lnTo>
                    <a:pt x="4937" y="21600"/>
                  </a:lnTo>
                  <a:close/>
                  <a:moveTo>
                    <a:pt x="4054" y="19679"/>
                  </a:moveTo>
                  <a:cubicBezTo>
                    <a:pt x="4369" y="19426"/>
                    <a:pt x="4614" y="19148"/>
                    <a:pt x="4809" y="18844"/>
                  </a:cubicBezTo>
                  <a:cubicBezTo>
                    <a:pt x="4809" y="18844"/>
                    <a:pt x="2134" y="14221"/>
                    <a:pt x="2134" y="14221"/>
                  </a:cubicBezTo>
                  <a:cubicBezTo>
                    <a:pt x="1820" y="14319"/>
                    <a:pt x="1507" y="14483"/>
                    <a:pt x="1188" y="14730"/>
                  </a:cubicBezTo>
                  <a:lnTo>
                    <a:pt x="4054" y="19679"/>
                  </a:lnTo>
                  <a:close/>
                  <a:moveTo>
                    <a:pt x="5303" y="17641"/>
                  </a:moveTo>
                  <a:cubicBezTo>
                    <a:pt x="5447" y="17150"/>
                    <a:pt x="5511" y="16611"/>
                    <a:pt x="5534" y="16026"/>
                  </a:cubicBezTo>
                  <a:lnTo>
                    <a:pt x="4636" y="14466"/>
                  </a:lnTo>
                  <a:cubicBezTo>
                    <a:pt x="4164" y="14273"/>
                    <a:pt x="3712" y="14138"/>
                    <a:pt x="3269" y="14112"/>
                  </a:cubicBezTo>
                  <a:lnTo>
                    <a:pt x="5303" y="17641"/>
                  </a:lnTo>
                  <a:close/>
                  <a:moveTo>
                    <a:pt x="7218" y="13596"/>
                  </a:moveTo>
                  <a:cubicBezTo>
                    <a:pt x="7170" y="11212"/>
                    <a:pt x="7244" y="9148"/>
                    <a:pt x="9015" y="7760"/>
                  </a:cubicBezTo>
                  <a:cubicBezTo>
                    <a:pt x="10800" y="6360"/>
                    <a:pt x="12484" y="7073"/>
                    <a:pt x="14389" y="8027"/>
                  </a:cubicBezTo>
                  <a:cubicBezTo>
                    <a:pt x="14437" y="10403"/>
                    <a:pt x="14371" y="12473"/>
                    <a:pt x="12604" y="13859"/>
                  </a:cubicBezTo>
                  <a:cubicBezTo>
                    <a:pt x="10819" y="15258"/>
                    <a:pt x="9123" y="14549"/>
                    <a:pt x="7218" y="13596"/>
                  </a:cubicBezTo>
                  <a:close/>
                  <a:moveTo>
                    <a:pt x="9128" y="13531"/>
                  </a:moveTo>
                  <a:cubicBezTo>
                    <a:pt x="9683" y="13753"/>
                    <a:pt x="10215" y="13899"/>
                    <a:pt x="10736" y="13922"/>
                  </a:cubicBezTo>
                  <a:lnTo>
                    <a:pt x="8270" y="9693"/>
                  </a:lnTo>
                  <a:cubicBezTo>
                    <a:pt x="8094" y="10262"/>
                    <a:pt x="8018" y="10890"/>
                    <a:pt x="7988" y="11570"/>
                  </a:cubicBezTo>
                  <a:lnTo>
                    <a:pt x="9128" y="13531"/>
                  </a:lnTo>
                  <a:close/>
                  <a:moveTo>
                    <a:pt x="11711" y="13445"/>
                  </a:moveTo>
                  <a:cubicBezTo>
                    <a:pt x="11906" y="13348"/>
                    <a:pt x="12100" y="13226"/>
                    <a:pt x="12298" y="13067"/>
                  </a:cubicBezTo>
                  <a:cubicBezTo>
                    <a:pt x="12398" y="12988"/>
                    <a:pt x="12489" y="12904"/>
                    <a:pt x="12577" y="12819"/>
                  </a:cubicBezTo>
                  <a:lnTo>
                    <a:pt x="9787" y="7934"/>
                  </a:lnTo>
                  <a:cubicBezTo>
                    <a:pt x="9688" y="7998"/>
                    <a:pt x="9589" y="8069"/>
                    <a:pt x="9488" y="8149"/>
                  </a:cubicBezTo>
                  <a:cubicBezTo>
                    <a:pt x="9290" y="8307"/>
                    <a:pt x="9121" y="8474"/>
                    <a:pt x="8972" y="8652"/>
                  </a:cubicBezTo>
                  <a:lnTo>
                    <a:pt x="11711" y="13445"/>
                  </a:lnTo>
                  <a:close/>
                  <a:moveTo>
                    <a:pt x="13407" y="12000"/>
                  </a:moveTo>
                  <a:cubicBezTo>
                    <a:pt x="13611" y="11527"/>
                    <a:pt x="13723" y="11008"/>
                    <a:pt x="13784" y="10444"/>
                  </a:cubicBezTo>
                  <a:lnTo>
                    <a:pt x="12283" y="7830"/>
                  </a:lnTo>
                  <a:cubicBezTo>
                    <a:pt x="11815" y="7685"/>
                    <a:pt x="11363" y="7615"/>
                    <a:pt x="10913" y="7660"/>
                  </a:cubicBezTo>
                  <a:lnTo>
                    <a:pt x="13407" y="12000"/>
                  </a:lnTo>
                  <a:close/>
                  <a:moveTo>
                    <a:pt x="16965" y="7123"/>
                  </a:moveTo>
                  <a:cubicBezTo>
                    <a:pt x="17421" y="7289"/>
                    <a:pt x="17855" y="7394"/>
                    <a:pt x="18279" y="7398"/>
                  </a:cubicBezTo>
                  <a:lnTo>
                    <a:pt x="16261" y="4044"/>
                  </a:lnTo>
                  <a:cubicBezTo>
                    <a:pt x="16133" y="4533"/>
                    <a:pt x="16081" y="5067"/>
                    <a:pt x="16071" y="5642"/>
                  </a:cubicBezTo>
                  <a:lnTo>
                    <a:pt x="16965" y="7123"/>
                  </a:lnTo>
                  <a:close/>
                  <a:moveTo>
                    <a:pt x="19610" y="7085"/>
                  </a:moveTo>
                  <a:cubicBezTo>
                    <a:pt x="19909" y="6982"/>
                    <a:pt x="20208" y="6817"/>
                    <a:pt x="20510" y="6570"/>
                  </a:cubicBezTo>
                  <a:lnTo>
                    <a:pt x="17721" y="1845"/>
                  </a:lnTo>
                  <a:cubicBezTo>
                    <a:pt x="17423" y="2098"/>
                    <a:pt x="17191" y="2376"/>
                    <a:pt x="17007" y="2675"/>
                  </a:cubicBezTo>
                  <a:cubicBezTo>
                    <a:pt x="17007" y="2675"/>
                    <a:pt x="19610" y="7085"/>
                    <a:pt x="19610" y="7085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2" name="Shape 34178">
              <a:extLst>
                <a:ext uri="{FF2B5EF4-FFF2-40B4-BE49-F238E27FC236}">
                  <a16:creationId xmlns:a16="http://schemas.microsoft.com/office/drawing/2014/main" id="{BD91ED27-C937-F3A7-A98F-9F30D5337FE1}"/>
                </a:ext>
              </a:extLst>
            </p:cNvPr>
            <p:cNvSpPr/>
            <p:nvPr/>
          </p:nvSpPr>
          <p:spPr>
            <a:xfrm>
              <a:off x="14474664" y="3452446"/>
              <a:ext cx="701272" cy="99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3" h="21600" extrusionOk="0">
                  <a:moveTo>
                    <a:pt x="6837" y="0"/>
                  </a:moveTo>
                  <a:lnTo>
                    <a:pt x="6304" y="11896"/>
                  </a:lnTo>
                  <a:lnTo>
                    <a:pt x="10115" y="11984"/>
                  </a:lnTo>
                  <a:lnTo>
                    <a:pt x="10387" y="5819"/>
                  </a:lnTo>
                  <a:cubicBezTo>
                    <a:pt x="10807" y="5990"/>
                    <a:pt x="11286" y="6091"/>
                    <a:pt x="11799" y="6080"/>
                  </a:cubicBezTo>
                  <a:cubicBezTo>
                    <a:pt x="12816" y="6059"/>
                    <a:pt x="13721" y="5638"/>
                    <a:pt x="14293" y="5029"/>
                  </a:cubicBezTo>
                  <a:cubicBezTo>
                    <a:pt x="14344" y="4975"/>
                    <a:pt x="14392" y="4920"/>
                    <a:pt x="14437" y="4864"/>
                  </a:cubicBezTo>
                  <a:cubicBezTo>
                    <a:pt x="15870" y="5413"/>
                    <a:pt x="17048" y="6141"/>
                    <a:pt x="17879" y="7040"/>
                  </a:cubicBezTo>
                  <a:cubicBezTo>
                    <a:pt x="19250" y="8523"/>
                    <a:pt x="19623" y="10355"/>
                    <a:pt x="18956" y="12341"/>
                  </a:cubicBezTo>
                  <a:cubicBezTo>
                    <a:pt x="17917" y="15436"/>
                    <a:pt x="14349" y="17736"/>
                    <a:pt x="10109" y="18168"/>
                  </a:cubicBezTo>
                  <a:lnTo>
                    <a:pt x="10109" y="16337"/>
                  </a:lnTo>
                  <a:lnTo>
                    <a:pt x="12811" y="16337"/>
                  </a:lnTo>
                  <a:lnTo>
                    <a:pt x="12811" y="15424"/>
                  </a:lnTo>
                  <a:lnTo>
                    <a:pt x="2958" y="15424"/>
                  </a:lnTo>
                  <a:lnTo>
                    <a:pt x="2958" y="16337"/>
                  </a:lnTo>
                  <a:lnTo>
                    <a:pt x="5665" y="16337"/>
                  </a:lnTo>
                  <a:lnTo>
                    <a:pt x="5665" y="19312"/>
                  </a:lnTo>
                  <a:lnTo>
                    <a:pt x="0" y="19312"/>
                  </a:lnTo>
                  <a:lnTo>
                    <a:pt x="0" y="21600"/>
                  </a:lnTo>
                  <a:lnTo>
                    <a:pt x="15769" y="21600"/>
                  </a:lnTo>
                  <a:lnTo>
                    <a:pt x="15769" y="19312"/>
                  </a:lnTo>
                  <a:lnTo>
                    <a:pt x="11820" y="19312"/>
                  </a:lnTo>
                  <a:cubicBezTo>
                    <a:pt x="16159" y="18468"/>
                    <a:pt x="19703" y="15947"/>
                    <a:pt x="20805" y="12664"/>
                  </a:cubicBezTo>
                  <a:cubicBezTo>
                    <a:pt x="21600" y="10296"/>
                    <a:pt x="21135" y="8089"/>
                    <a:pt x="19462" y="6280"/>
                  </a:cubicBezTo>
                  <a:cubicBezTo>
                    <a:pt x="18352" y="5079"/>
                    <a:pt x="16769" y="4131"/>
                    <a:pt x="14820" y="3462"/>
                  </a:cubicBezTo>
                  <a:cubicBezTo>
                    <a:pt x="14558" y="2431"/>
                    <a:pt x="13305" y="1647"/>
                    <a:pt x="11799" y="1647"/>
                  </a:cubicBezTo>
                  <a:cubicBezTo>
                    <a:pt x="11359" y="1647"/>
                    <a:pt x="10947" y="1715"/>
                    <a:pt x="10568" y="1835"/>
                  </a:cubicBezTo>
                  <a:lnTo>
                    <a:pt x="10642" y="88"/>
                  </a:lnTo>
                  <a:lnTo>
                    <a:pt x="6837" y="0"/>
                  </a:lnTo>
                  <a:close/>
                  <a:moveTo>
                    <a:pt x="11799" y="3017"/>
                  </a:moveTo>
                  <a:cubicBezTo>
                    <a:pt x="12376" y="3012"/>
                    <a:pt x="12879" y="3300"/>
                    <a:pt x="12982" y="3708"/>
                  </a:cubicBezTo>
                  <a:cubicBezTo>
                    <a:pt x="13088" y="4130"/>
                    <a:pt x="12736" y="4539"/>
                    <a:pt x="12167" y="4660"/>
                  </a:cubicBezTo>
                  <a:cubicBezTo>
                    <a:pt x="12051" y="4688"/>
                    <a:pt x="11928" y="4706"/>
                    <a:pt x="11799" y="4706"/>
                  </a:cubicBezTo>
                  <a:cubicBezTo>
                    <a:pt x="11152" y="4706"/>
                    <a:pt x="10625" y="4326"/>
                    <a:pt x="10626" y="3862"/>
                  </a:cubicBezTo>
                  <a:cubicBezTo>
                    <a:pt x="10628" y="3397"/>
                    <a:pt x="11153" y="3023"/>
                    <a:pt x="11799" y="301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3" name="Shape 34179">
              <a:extLst>
                <a:ext uri="{FF2B5EF4-FFF2-40B4-BE49-F238E27FC236}">
                  <a16:creationId xmlns:a16="http://schemas.microsoft.com/office/drawing/2014/main" id="{CE42E4FB-FD68-9A56-DB60-45D4D1F6DEE8}"/>
                </a:ext>
              </a:extLst>
            </p:cNvPr>
            <p:cNvSpPr/>
            <p:nvPr/>
          </p:nvSpPr>
          <p:spPr>
            <a:xfrm>
              <a:off x="13573878" y="4409128"/>
              <a:ext cx="1096094" cy="12133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4" name="Shape 34180">
              <a:extLst>
                <a:ext uri="{FF2B5EF4-FFF2-40B4-BE49-F238E27FC236}">
                  <a16:creationId xmlns:a16="http://schemas.microsoft.com/office/drawing/2014/main" id="{0FD9EA42-B916-E428-7847-39A0ED7419E1}"/>
                </a:ext>
              </a:extLst>
            </p:cNvPr>
            <p:cNvSpPr/>
            <p:nvPr/>
          </p:nvSpPr>
          <p:spPr>
            <a:xfrm>
              <a:off x="12366664" y="11330119"/>
              <a:ext cx="843804" cy="99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5" name="Shape 34181">
              <a:extLst>
                <a:ext uri="{FF2B5EF4-FFF2-40B4-BE49-F238E27FC236}">
                  <a16:creationId xmlns:a16="http://schemas.microsoft.com/office/drawing/2014/main" id="{E8D68D33-D5CF-E622-C836-662EFC5E2A57}"/>
                </a:ext>
              </a:extLst>
            </p:cNvPr>
            <p:cNvSpPr/>
            <p:nvPr/>
          </p:nvSpPr>
          <p:spPr>
            <a:xfrm>
              <a:off x="14244181" y="7303221"/>
              <a:ext cx="622050" cy="541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097" y="15438"/>
                  </a:lnTo>
                  <a:lnTo>
                    <a:pt x="5592" y="20234"/>
                  </a:lnTo>
                  <a:cubicBezTo>
                    <a:pt x="5592" y="20234"/>
                    <a:pt x="0" y="21600"/>
                    <a:pt x="0" y="21600"/>
                  </a:cubicBezTo>
                  <a:close/>
                  <a:moveTo>
                    <a:pt x="6275" y="19576"/>
                  </a:moveTo>
                  <a:lnTo>
                    <a:pt x="2779" y="14780"/>
                  </a:lnTo>
                  <a:lnTo>
                    <a:pt x="14944" y="3046"/>
                  </a:lnTo>
                  <a:lnTo>
                    <a:pt x="18443" y="7840"/>
                  </a:lnTo>
                  <a:cubicBezTo>
                    <a:pt x="18443" y="7840"/>
                    <a:pt x="6275" y="19576"/>
                    <a:pt x="6275" y="19576"/>
                  </a:cubicBezTo>
                  <a:close/>
                  <a:moveTo>
                    <a:pt x="19138" y="7167"/>
                  </a:moveTo>
                  <a:lnTo>
                    <a:pt x="15640" y="2373"/>
                  </a:lnTo>
                  <a:lnTo>
                    <a:pt x="18101" y="0"/>
                  </a:lnTo>
                  <a:lnTo>
                    <a:pt x="21600" y="4794"/>
                  </a:lnTo>
                  <a:cubicBezTo>
                    <a:pt x="21600" y="4794"/>
                    <a:pt x="19138" y="7167"/>
                    <a:pt x="19138" y="716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6" name="Shape 34182">
              <a:extLst>
                <a:ext uri="{FF2B5EF4-FFF2-40B4-BE49-F238E27FC236}">
                  <a16:creationId xmlns:a16="http://schemas.microsoft.com/office/drawing/2014/main" id="{8CFECFFB-6EA8-A430-AED5-7E65407DD4A5}"/>
                </a:ext>
              </a:extLst>
            </p:cNvPr>
            <p:cNvSpPr/>
            <p:nvPr/>
          </p:nvSpPr>
          <p:spPr>
            <a:xfrm>
              <a:off x="13576635" y="6759701"/>
              <a:ext cx="580114" cy="80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6" h="21363" extrusionOk="0">
                  <a:moveTo>
                    <a:pt x="10609" y="43"/>
                  </a:moveTo>
                  <a:cubicBezTo>
                    <a:pt x="8165" y="-162"/>
                    <a:pt x="5621" y="372"/>
                    <a:pt x="3560" y="1702"/>
                  </a:cubicBezTo>
                  <a:cubicBezTo>
                    <a:pt x="-561" y="4362"/>
                    <a:pt x="-1197" y="9181"/>
                    <a:pt x="2140" y="12465"/>
                  </a:cubicBezTo>
                  <a:cubicBezTo>
                    <a:pt x="4853" y="15135"/>
                    <a:pt x="9359" y="15971"/>
                    <a:pt x="13163" y="14762"/>
                  </a:cubicBezTo>
                  <a:cubicBezTo>
                    <a:pt x="13165" y="14832"/>
                    <a:pt x="13187" y="14904"/>
                    <a:pt x="13225" y="14972"/>
                  </a:cubicBezTo>
                  <a:lnTo>
                    <a:pt x="16612" y="21039"/>
                  </a:lnTo>
                  <a:cubicBezTo>
                    <a:pt x="16765" y="21313"/>
                    <a:pt x="17169" y="21438"/>
                    <a:pt x="17513" y="21316"/>
                  </a:cubicBezTo>
                  <a:lnTo>
                    <a:pt x="17878" y="21186"/>
                  </a:lnTo>
                  <a:cubicBezTo>
                    <a:pt x="18222" y="21064"/>
                    <a:pt x="18373" y="20741"/>
                    <a:pt x="18220" y="20467"/>
                  </a:cubicBezTo>
                  <a:lnTo>
                    <a:pt x="14832" y="14405"/>
                  </a:lnTo>
                  <a:cubicBezTo>
                    <a:pt x="14778" y="14307"/>
                    <a:pt x="14685" y="14238"/>
                    <a:pt x="14581" y="14183"/>
                  </a:cubicBezTo>
                  <a:cubicBezTo>
                    <a:pt x="14946" y="14006"/>
                    <a:pt x="15305" y="13816"/>
                    <a:pt x="15646" y="13596"/>
                  </a:cubicBezTo>
                  <a:cubicBezTo>
                    <a:pt x="19767" y="10937"/>
                    <a:pt x="20403" y="6118"/>
                    <a:pt x="17066" y="2833"/>
                  </a:cubicBezTo>
                  <a:cubicBezTo>
                    <a:pt x="15397" y="1191"/>
                    <a:pt x="13053" y="247"/>
                    <a:pt x="10609" y="43"/>
                  </a:cubicBezTo>
                  <a:close/>
                  <a:moveTo>
                    <a:pt x="10451" y="1237"/>
                  </a:moveTo>
                  <a:cubicBezTo>
                    <a:pt x="12511" y="1410"/>
                    <a:pt x="14487" y="2210"/>
                    <a:pt x="15893" y="3594"/>
                  </a:cubicBezTo>
                  <a:cubicBezTo>
                    <a:pt x="18705" y="6361"/>
                    <a:pt x="18170" y="10422"/>
                    <a:pt x="14697" y="12663"/>
                  </a:cubicBezTo>
                  <a:cubicBezTo>
                    <a:pt x="11225" y="14903"/>
                    <a:pt x="6130" y="14477"/>
                    <a:pt x="3318" y="11709"/>
                  </a:cubicBezTo>
                  <a:cubicBezTo>
                    <a:pt x="506" y="8942"/>
                    <a:pt x="1041" y="4882"/>
                    <a:pt x="4514" y="2641"/>
                  </a:cubicBezTo>
                  <a:cubicBezTo>
                    <a:pt x="6250" y="1520"/>
                    <a:pt x="8392" y="1065"/>
                    <a:pt x="10451" y="123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7" name="Shape 34183">
              <a:extLst>
                <a:ext uri="{FF2B5EF4-FFF2-40B4-BE49-F238E27FC236}">
                  <a16:creationId xmlns:a16="http://schemas.microsoft.com/office/drawing/2014/main" id="{617F6296-7E21-A175-05EE-8707F53A6F39}"/>
                </a:ext>
              </a:extLst>
            </p:cNvPr>
            <p:cNvSpPr/>
            <p:nvPr/>
          </p:nvSpPr>
          <p:spPr>
            <a:xfrm>
              <a:off x="11615391" y="7089790"/>
              <a:ext cx="617918" cy="6840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8" name="Shape 34184">
              <a:extLst>
                <a:ext uri="{FF2B5EF4-FFF2-40B4-BE49-F238E27FC236}">
                  <a16:creationId xmlns:a16="http://schemas.microsoft.com/office/drawing/2014/main" id="{4F91F915-B70C-3DFB-2DED-CD2D0C36EDD4}"/>
                </a:ext>
              </a:extLst>
            </p:cNvPr>
            <p:cNvSpPr/>
            <p:nvPr/>
          </p:nvSpPr>
          <p:spPr>
            <a:xfrm>
              <a:off x="13088735" y="3291417"/>
              <a:ext cx="651942" cy="595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9" h="20716" extrusionOk="0">
                  <a:moveTo>
                    <a:pt x="19071" y="18146"/>
                  </a:moveTo>
                  <a:cubicBezTo>
                    <a:pt x="20183" y="16314"/>
                    <a:pt x="19749" y="13820"/>
                    <a:pt x="18102" y="12586"/>
                  </a:cubicBezTo>
                  <a:cubicBezTo>
                    <a:pt x="17662" y="12256"/>
                    <a:pt x="17178" y="12053"/>
                    <a:pt x="16685" y="11962"/>
                  </a:cubicBezTo>
                  <a:lnTo>
                    <a:pt x="16672" y="15889"/>
                  </a:lnTo>
                  <a:cubicBezTo>
                    <a:pt x="16671" y="16166"/>
                    <a:pt x="16469" y="16390"/>
                    <a:pt x="16220" y="16389"/>
                  </a:cubicBezTo>
                  <a:cubicBezTo>
                    <a:pt x="15971" y="16388"/>
                    <a:pt x="15770" y="16164"/>
                    <a:pt x="15771" y="15887"/>
                  </a:cubicBezTo>
                  <a:lnTo>
                    <a:pt x="15784" y="11921"/>
                  </a:lnTo>
                  <a:cubicBezTo>
                    <a:pt x="14735" y="12022"/>
                    <a:pt x="13732" y="12627"/>
                    <a:pt x="13098" y="13672"/>
                  </a:cubicBezTo>
                  <a:cubicBezTo>
                    <a:pt x="11985" y="15504"/>
                    <a:pt x="12420" y="17998"/>
                    <a:pt x="14067" y="19232"/>
                  </a:cubicBezTo>
                  <a:cubicBezTo>
                    <a:pt x="15713" y="20465"/>
                    <a:pt x="17958" y="19979"/>
                    <a:pt x="19071" y="18146"/>
                  </a:cubicBezTo>
                  <a:close/>
                  <a:moveTo>
                    <a:pt x="16740" y="7857"/>
                  </a:moveTo>
                  <a:lnTo>
                    <a:pt x="15291" y="6772"/>
                  </a:lnTo>
                  <a:cubicBezTo>
                    <a:pt x="15127" y="6649"/>
                    <a:pt x="15015" y="6369"/>
                    <a:pt x="15043" y="6151"/>
                  </a:cubicBezTo>
                  <a:lnTo>
                    <a:pt x="15275" y="4322"/>
                  </a:lnTo>
                  <a:lnTo>
                    <a:pt x="11975" y="5321"/>
                  </a:lnTo>
                  <a:cubicBezTo>
                    <a:pt x="11975" y="5321"/>
                    <a:pt x="12203" y="5706"/>
                    <a:pt x="12483" y="6179"/>
                  </a:cubicBezTo>
                  <a:lnTo>
                    <a:pt x="16109" y="8895"/>
                  </a:lnTo>
                  <a:cubicBezTo>
                    <a:pt x="16109" y="8895"/>
                    <a:pt x="16740" y="7857"/>
                    <a:pt x="16740" y="7857"/>
                  </a:cubicBezTo>
                  <a:close/>
                  <a:moveTo>
                    <a:pt x="15093" y="9342"/>
                  </a:moveTo>
                  <a:lnTo>
                    <a:pt x="13604" y="8227"/>
                  </a:lnTo>
                  <a:cubicBezTo>
                    <a:pt x="13647" y="8494"/>
                    <a:pt x="13599" y="8776"/>
                    <a:pt x="13458" y="9008"/>
                  </a:cubicBezTo>
                  <a:lnTo>
                    <a:pt x="13459" y="9008"/>
                  </a:lnTo>
                  <a:cubicBezTo>
                    <a:pt x="13459" y="9008"/>
                    <a:pt x="13042" y="9692"/>
                    <a:pt x="12523" y="10542"/>
                  </a:cubicBezTo>
                  <a:cubicBezTo>
                    <a:pt x="12523" y="10542"/>
                    <a:pt x="15093" y="9342"/>
                    <a:pt x="15093" y="9342"/>
                  </a:cubicBezTo>
                  <a:close/>
                  <a:moveTo>
                    <a:pt x="11619" y="8259"/>
                  </a:moveTo>
                  <a:cubicBezTo>
                    <a:pt x="11619" y="8259"/>
                    <a:pt x="10321" y="6315"/>
                    <a:pt x="9704" y="5383"/>
                  </a:cubicBezTo>
                  <a:lnTo>
                    <a:pt x="8507" y="5869"/>
                  </a:lnTo>
                  <a:cubicBezTo>
                    <a:pt x="8769" y="6978"/>
                    <a:pt x="8675" y="8186"/>
                    <a:pt x="8184" y="9262"/>
                  </a:cubicBezTo>
                  <a:lnTo>
                    <a:pt x="10126" y="10718"/>
                  </a:lnTo>
                  <a:cubicBezTo>
                    <a:pt x="10126" y="10718"/>
                    <a:pt x="11619" y="8259"/>
                    <a:pt x="11619" y="8259"/>
                  </a:cubicBezTo>
                  <a:close/>
                  <a:moveTo>
                    <a:pt x="7096" y="9656"/>
                  </a:moveTo>
                  <a:lnTo>
                    <a:pt x="4125" y="7430"/>
                  </a:lnTo>
                  <a:cubicBezTo>
                    <a:pt x="3919" y="7275"/>
                    <a:pt x="3865" y="6964"/>
                    <a:pt x="4004" y="6735"/>
                  </a:cubicBezTo>
                  <a:cubicBezTo>
                    <a:pt x="4067" y="6631"/>
                    <a:pt x="4159" y="6564"/>
                    <a:pt x="4260" y="6533"/>
                  </a:cubicBezTo>
                  <a:lnTo>
                    <a:pt x="4259" y="6531"/>
                  </a:lnTo>
                  <a:lnTo>
                    <a:pt x="7505" y="5212"/>
                  </a:lnTo>
                  <a:cubicBezTo>
                    <a:pt x="7238" y="4652"/>
                    <a:pt x="6848" y="4155"/>
                    <a:pt x="6343" y="3777"/>
                  </a:cubicBezTo>
                  <a:cubicBezTo>
                    <a:pt x="4697" y="2543"/>
                    <a:pt x="2452" y="3030"/>
                    <a:pt x="1339" y="4862"/>
                  </a:cubicBezTo>
                  <a:cubicBezTo>
                    <a:pt x="227" y="6694"/>
                    <a:pt x="661" y="9188"/>
                    <a:pt x="2308" y="10422"/>
                  </a:cubicBezTo>
                  <a:cubicBezTo>
                    <a:pt x="3854" y="11580"/>
                    <a:pt x="5928" y="11221"/>
                    <a:pt x="7096" y="9656"/>
                  </a:cubicBezTo>
                  <a:close/>
                  <a:moveTo>
                    <a:pt x="5362" y="7148"/>
                  </a:moveTo>
                  <a:lnTo>
                    <a:pt x="7578" y="8808"/>
                  </a:lnTo>
                  <a:cubicBezTo>
                    <a:pt x="7940" y="7960"/>
                    <a:pt x="8013" y="7021"/>
                    <a:pt x="7822" y="6148"/>
                  </a:cubicBezTo>
                  <a:cubicBezTo>
                    <a:pt x="7822" y="6148"/>
                    <a:pt x="5362" y="7148"/>
                    <a:pt x="5362" y="7148"/>
                  </a:cubicBezTo>
                  <a:close/>
                  <a:moveTo>
                    <a:pt x="19668" y="18594"/>
                  </a:moveTo>
                  <a:cubicBezTo>
                    <a:pt x="18331" y="20796"/>
                    <a:pt x="15642" y="21379"/>
                    <a:pt x="13663" y="19896"/>
                  </a:cubicBezTo>
                  <a:cubicBezTo>
                    <a:pt x="11684" y="18413"/>
                    <a:pt x="11164" y="15426"/>
                    <a:pt x="12501" y="13224"/>
                  </a:cubicBezTo>
                  <a:cubicBezTo>
                    <a:pt x="13276" y="11948"/>
                    <a:pt x="14505" y="11216"/>
                    <a:pt x="15787" y="11115"/>
                  </a:cubicBezTo>
                  <a:lnTo>
                    <a:pt x="15791" y="10101"/>
                  </a:lnTo>
                  <a:lnTo>
                    <a:pt x="11595" y="12059"/>
                  </a:lnTo>
                  <a:cubicBezTo>
                    <a:pt x="11028" y="12983"/>
                    <a:pt x="10547" y="13764"/>
                    <a:pt x="10524" y="13787"/>
                  </a:cubicBezTo>
                  <a:cubicBezTo>
                    <a:pt x="10135" y="14180"/>
                    <a:pt x="9533" y="14149"/>
                    <a:pt x="9180" y="13717"/>
                  </a:cubicBezTo>
                  <a:cubicBezTo>
                    <a:pt x="8879" y="13349"/>
                    <a:pt x="8857" y="12810"/>
                    <a:pt x="9097" y="12415"/>
                  </a:cubicBezTo>
                  <a:lnTo>
                    <a:pt x="9096" y="12414"/>
                  </a:lnTo>
                  <a:lnTo>
                    <a:pt x="9622" y="11548"/>
                  </a:lnTo>
                  <a:lnTo>
                    <a:pt x="7695" y="10105"/>
                  </a:lnTo>
                  <a:cubicBezTo>
                    <a:pt x="6301" y="12039"/>
                    <a:pt x="3783" y="12494"/>
                    <a:pt x="1904" y="11086"/>
                  </a:cubicBezTo>
                  <a:cubicBezTo>
                    <a:pt x="-75" y="9603"/>
                    <a:pt x="-595" y="6616"/>
                    <a:pt x="742" y="4414"/>
                  </a:cubicBezTo>
                  <a:cubicBezTo>
                    <a:pt x="2079" y="2212"/>
                    <a:pt x="4768" y="1629"/>
                    <a:pt x="6747" y="3112"/>
                  </a:cubicBezTo>
                  <a:cubicBezTo>
                    <a:pt x="7383" y="3589"/>
                    <a:pt x="7868" y="4222"/>
                    <a:pt x="8189" y="4933"/>
                  </a:cubicBezTo>
                  <a:lnTo>
                    <a:pt x="9242" y="4506"/>
                  </a:lnTo>
                  <a:cubicBezTo>
                    <a:pt x="9107" y="3945"/>
                    <a:pt x="9252" y="3323"/>
                    <a:pt x="9665" y="2905"/>
                  </a:cubicBezTo>
                  <a:cubicBezTo>
                    <a:pt x="9859" y="2709"/>
                    <a:pt x="10089" y="2584"/>
                    <a:pt x="10328" y="2526"/>
                  </a:cubicBezTo>
                  <a:lnTo>
                    <a:pt x="10328" y="2525"/>
                  </a:lnTo>
                  <a:lnTo>
                    <a:pt x="15055" y="1211"/>
                  </a:lnTo>
                  <a:lnTo>
                    <a:pt x="15055" y="1211"/>
                  </a:lnTo>
                  <a:cubicBezTo>
                    <a:pt x="15587" y="1000"/>
                    <a:pt x="16204" y="1148"/>
                    <a:pt x="16607" y="1641"/>
                  </a:cubicBezTo>
                  <a:cubicBezTo>
                    <a:pt x="16925" y="2031"/>
                    <a:pt x="17037" y="2548"/>
                    <a:pt x="16952" y="3028"/>
                  </a:cubicBezTo>
                  <a:lnTo>
                    <a:pt x="16953" y="3029"/>
                  </a:lnTo>
                  <a:lnTo>
                    <a:pt x="16496" y="5740"/>
                  </a:lnTo>
                  <a:lnTo>
                    <a:pt x="18231" y="7041"/>
                  </a:lnTo>
                  <a:cubicBezTo>
                    <a:pt x="18561" y="7288"/>
                    <a:pt x="18648" y="7786"/>
                    <a:pt x="18425" y="8153"/>
                  </a:cubicBezTo>
                  <a:cubicBezTo>
                    <a:pt x="18217" y="8496"/>
                    <a:pt x="17812" y="8599"/>
                    <a:pt x="17491" y="8409"/>
                  </a:cubicBezTo>
                  <a:lnTo>
                    <a:pt x="16693" y="9723"/>
                  </a:lnTo>
                  <a:lnTo>
                    <a:pt x="16688" y="11148"/>
                  </a:lnTo>
                  <a:cubicBezTo>
                    <a:pt x="17320" y="11245"/>
                    <a:pt x="17941" y="11499"/>
                    <a:pt x="18505" y="11922"/>
                  </a:cubicBezTo>
                  <a:cubicBezTo>
                    <a:pt x="20485" y="13405"/>
                    <a:pt x="21005" y="16392"/>
                    <a:pt x="19668" y="18594"/>
                  </a:cubicBezTo>
                  <a:close/>
                  <a:moveTo>
                    <a:pt x="17732" y="707"/>
                  </a:moveTo>
                  <a:cubicBezTo>
                    <a:pt x="18178" y="-27"/>
                    <a:pt x="19074" y="-221"/>
                    <a:pt x="19734" y="273"/>
                  </a:cubicBezTo>
                  <a:cubicBezTo>
                    <a:pt x="20394" y="767"/>
                    <a:pt x="20567" y="1763"/>
                    <a:pt x="20121" y="2497"/>
                  </a:cubicBezTo>
                  <a:cubicBezTo>
                    <a:pt x="19676" y="3231"/>
                    <a:pt x="18780" y="3426"/>
                    <a:pt x="18120" y="2931"/>
                  </a:cubicBezTo>
                  <a:cubicBezTo>
                    <a:pt x="17460" y="2437"/>
                    <a:pt x="17287" y="1441"/>
                    <a:pt x="17732" y="7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19" name="Shape 34185">
              <a:extLst>
                <a:ext uri="{FF2B5EF4-FFF2-40B4-BE49-F238E27FC236}">
                  <a16:creationId xmlns:a16="http://schemas.microsoft.com/office/drawing/2014/main" id="{F029D3C9-BD86-97DA-B294-D36F5FDE4428}"/>
                </a:ext>
              </a:extLst>
            </p:cNvPr>
            <p:cNvSpPr/>
            <p:nvPr/>
          </p:nvSpPr>
          <p:spPr>
            <a:xfrm>
              <a:off x="12303465" y="7118398"/>
              <a:ext cx="457434" cy="615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89"/>
                  </a:moveTo>
                  <a:lnTo>
                    <a:pt x="7526" y="11318"/>
                  </a:lnTo>
                  <a:lnTo>
                    <a:pt x="10639" y="10027"/>
                  </a:lnTo>
                  <a:lnTo>
                    <a:pt x="6735" y="4831"/>
                  </a:lnTo>
                  <a:cubicBezTo>
                    <a:pt x="7186" y="4822"/>
                    <a:pt x="7638" y="4734"/>
                    <a:pt x="8042" y="4542"/>
                  </a:cubicBezTo>
                  <a:cubicBezTo>
                    <a:pt x="8843" y="4160"/>
                    <a:pt x="9286" y="3488"/>
                    <a:pt x="9338" y="2779"/>
                  </a:cubicBezTo>
                  <a:cubicBezTo>
                    <a:pt x="9343" y="2717"/>
                    <a:pt x="9344" y="2654"/>
                    <a:pt x="9343" y="2591"/>
                  </a:cubicBezTo>
                  <a:cubicBezTo>
                    <a:pt x="10859" y="2532"/>
                    <a:pt x="12290" y="2713"/>
                    <a:pt x="13557" y="3159"/>
                  </a:cubicBezTo>
                  <a:cubicBezTo>
                    <a:pt x="15647" y="3894"/>
                    <a:pt x="17171" y="5277"/>
                    <a:pt x="17964" y="7158"/>
                  </a:cubicBezTo>
                  <a:cubicBezTo>
                    <a:pt x="19200" y="10089"/>
                    <a:pt x="17878" y="13269"/>
                    <a:pt x="14770" y="15143"/>
                  </a:cubicBezTo>
                  <a:lnTo>
                    <a:pt x="13545" y="13629"/>
                  </a:lnTo>
                  <a:lnTo>
                    <a:pt x="15711" y="12662"/>
                  </a:lnTo>
                  <a:lnTo>
                    <a:pt x="15100" y="11906"/>
                  </a:lnTo>
                  <a:lnTo>
                    <a:pt x="7202" y="15433"/>
                  </a:lnTo>
                  <a:lnTo>
                    <a:pt x="7813" y="16189"/>
                  </a:lnTo>
                  <a:lnTo>
                    <a:pt x="9983" y="15220"/>
                  </a:lnTo>
                  <a:lnTo>
                    <a:pt x="11972" y="17680"/>
                  </a:lnTo>
                  <a:lnTo>
                    <a:pt x="7432" y="19708"/>
                  </a:lnTo>
                  <a:lnTo>
                    <a:pt x="8961" y="21600"/>
                  </a:lnTo>
                  <a:lnTo>
                    <a:pt x="21600" y="15956"/>
                  </a:lnTo>
                  <a:lnTo>
                    <a:pt x="20070" y="14064"/>
                  </a:lnTo>
                  <a:lnTo>
                    <a:pt x="16905" y="15477"/>
                  </a:lnTo>
                  <a:cubicBezTo>
                    <a:pt x="19819" y="13226"/>
                    <a:pt x="20973" y="9873"/>
                    <a:pt x="19662" y="6762"/>
                  </a:cubicBezTo>
                  <a:cubicBezTo>
                    <a:pt x="18716" y="4520"/>
                    <a:pt x="16868" y="2861"/>
                    <a:pt x="14317" y="1964"/>
                  </a:cubicBezTo>
                  <a:cubicBezTo>
                    <a:pt x="12625" y="1368"/>
                    <a:pt x="10722" y="1151"/>
                    <a:pt x="8713" y="1295"/>
                  </a:cubicBezTo>
                  <a:cubicBezTo>
                    <a:pt x="7813" y="536"/>
                    <a:pt x="6285" y="336"/>
                    <a:pt x="5078" y="875"/>
                  </a:cubicBezTo>
                  <a:cubicBezTo>
                    <a:pt x="4725" y="1032"/>
                    <a:pt x="4440" y="1236"/>
                    <a:pt x="4217" y="1471"/>
                  </a:cubicBezTo>
                  <a:lnTo>
                    <a:pt x="3109" y="0"/>
                  </a:lnTo>
                  <a:lnTo>
                    <a:pt x="0" y="1289"/>
                  </a:lnTo>
                  <a:close/>
                  <a:moveTo>
                    <a:pt x="5994" y="2008"/>
                  </a:moveTo>
                  <a:cubicBezTo>
                    <a:pt x="6453" y="1798"/>
                    <a:pt x="7049" y="1856"/>
                    <a:pt x="7404" y="2156"/>
                  </a:cubicBezTo>
                  <a:cubicBezTo>
                    <a:pt x="7771" y="2467"/>
                    <a:pt x="7762" y="2932"/>
                    <a:pt x="7387" y="3235"/>
                  </a:cubicBezTo>
                  <a:cubicBezTo>
                    <a:pt x="7313" y="3300"/>
                    <a:pt x="7226" y="3359"/>
                    <a:pt x="7123" y="3405"/>
                  </a:cubicBezTo>
                  <a:cubicBezTo>
                    <a:pt x="6605" y="3637"/>
                    <a:pt x="5928" y="3511"/>
                    <a:pt x="5619" y="3126"/>
                  </a:cubicBezTo>
                  <a:cubicBezTo>
                    <a:pt x="5309" y="2742"/>
                    <a:pt x="5480" y="2244"/>
                    <a:pt x="5994" y="20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0" name="Shape 34186">
              <a:extLst>
                <a:ext uri="{FF2B5EF4-FFF2-40B4-BE49-F238E27FC236}">
                  <a16:creationId xmlns:a16="http://schemas.microsoft.com/office/drawing/2014/main" id="{F5B7275A-6FAF-B24A-A685-47C4A6EE1FA8}"/>
                </a:ext>
              </a:extLst>
            </p:cNvPr>
            <p:cNvSpPr/>
            <p:nvPr/>
          </p:nvSpPr>
          <p:spPr>
            <a:xfrm>
              <a:off x="10902474" y="3745209"/>
              <a:ext cx="602468" cy="7828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38" h="21519" extrusionOk="0">
                  <a:moveTo>
                    <a:pt x="9842" y="0"/>
                  </a:moveTo>
                  <a:cubicBezTo>
                    <a:pt x="7324" y="0"/>
                    <a:pt x="4803" y="774"/>
                    <a:pt x="2881" y="2331"/>
                  </a:cubicBezTo>
                  <a:cubicBezTo>
                    <a:pt x="-961" y="5445"/>
                    <a:pt x="-961" y="10493"/>
                    <a:pt x="2881" y="13607"/>
                  </a:cubicBezTo>
                  <a:cubicBezTo>
                    <a:pt x="6005" y="16138"/>
                    <a:pt x="10709" y="16613"/>
                    <a:pt x="14423" y="15030"/>
                  </a:cubicBezTo>
                  <a:cubicBezTo>
                    <a:pt x="14434" y="15103"/>
                    <a:pt x="14466" y="15175"/>
                    <a:pt x="14515" y="15243"/>
                  </a:cubicBezTo>
                  <a:lnTo>
                    <a:pt x="18781" y="21235"/>
                  </a:lnTo>
                  <a:cubicBezTo>
                    <a:pt x="18974" y="21506"/>
                    <a:pt x="19402" y="21600"/>
                    <a:pt x="19736" y="21444"/>
                  </a:cubicBezTo>
                  <a:lnTo>
                    <a:pt x="20091" y="21277"/>
                  </a:lnTo>
                  <a:cubicBezTo>
                    <a:pt x="20425" y="21121"/>
                    <a:pt x="20535" y="20774"/>
                    <a:pt x="20343" y="20503"/>
                  </a:cubicBezTo>
                  <a:lnTo>
                    <a:pt x="16076" y="14515"/>
                  </a:lnTo>
                  <a:cubicBezTo>
                    <a:pt x="16007" y="14419"/>
                    <a:pt x="15903" y="14355"/>
                    <a:pt x="15790" y="14307"/>
                  </a:cubicBezTo>
                  <a:cubicBezTo>
                    <a:pt x="16138" y="14092"/>
                    <a:pt x="16479" y="13864"/>
                    <a:pt x="16797" y="13607"/>
                  </a:cubicBezTo>
                  <a:cubicBezTo>
                    <a:pt x="20639" y="10493"/>
                    <a:pt x="20639" y="5445"/>
                    <a:pt x="16797" y="2331"/>
                  </a:cubicBezTo>
                  <a:cubicBezTo>
                    <a:pt x="14875" y="774"/>
                    <a:pt x="12360" y="0"/>
                    <a:pt x="9842" y="0"/>
                  </a:cubicBezTo>
                  <a:close/>
                  <a:moveTo>
                    <a:pt x="9842" y="1251"/>
                  </a:moveTo>
                  <a:cubicBezTo>
                    <a:pt x="11963" y="1251"/>
                    <a:pt x="14085" y="1909"/>
                    <a:pt x="15704" y="3221"/>
                  </a:cubicBezTo>
                  <a:cubicBezTo>
                    <a:pt x="18942" y="5844"/>
                    <a:pt x="18942" y="10098"/>
                    <a:pt x="15704" y="12722"/>
                  </a:cubicBezTo>
                  <a:cubicBezTo>
                    <a:pt x="12467" y="15345"/>
                    <a:pt x="7217" y="15345"/>
                    <a:pt x="3980" y="12722"/>
                  </a:cubicBezTo>
                  <a:cubicBezTo>
                    <a:pt x="742" y="10098"/>
                    <a:pt x="742" y="5844"/>
                    <a:pt x="3980" y="3221"/>
                  </a:cubicBezTo>
                  <a:cubicBezTo>
                    <a:pt x="5598" y="1909"/>
                    <a:pt x="7720" y="1251"/>
                    <a:pt x="9842" y="12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1" name="Shape 34187">
              <a:extLst>
                <a:ext uri="{FF2B5EF4-FFF2-40B4-BE49-F238E27FC236}">
                  <a16:creationId xmlns:a16="http://schemas.microsoft.com/office/drawing/2014/main" id="{EAAF3EFF-FA3D-D6EE-8564-5186B15CA88F}"/>
                </a:ext>
              </a:extLst>
            </p:cNvPr>
            <p:cNvSpPr/>
            <p:nvPr/>
          </p:nvSpPr>
          <p:spPr>
            <a:xfrm>
              <a:off x="9646332" y="5299667"/>
              <a:ext cx="648460" cy="45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2" name="Shape 34188">
              <a:extLst>
                <a:ext uri="{FF2B5EF4-FFF2-40B4-BE49-F238E27FC236}">
                  <a16:creationId xmlns:a16="http://schemas.microsoft.com/office/drawing/2014/main" id="{749F9356-4688-F55D-7BA7-4D414600925A}"/>
                </a:ext>
              </a:extLst>
            </p:cNvPr>
            <p:cNvSpPr/>
            <p:nvPr/>
          </p:nvSpPr>
          <p:spPr>
            <a:xfrm>
              <a:off x="14782759" y="5213711"/>
              <a:ext cx="949938" cy="4585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" y="21600"/>
                  </a:moveTo>
                  <a:cubicBezTo>
                    <a:pt x="3196" y="21301"/>
                    <a:pt x="4520" y="17446"/>
                    <a:pt x="5606" y="13579"/>
                  </a:cubicBezTo>
                  <a:cubicBezTo>
                    <a:pt x="6868" y="17109"/>
                    <a:pt x="8385" y="20522"/>
                    <a:pt x="11056" y="20229"/>
                  </a:cubicBezTo>
                  <a:cubicBezTo>
                    <a:pt x="13700" y="19938"/>
                    <a:pt x="15043" y="16273"/>
                    <a:pt x="16113" y="12527"/>
                  </a:cubicBezTo>
                  <a:cubicBezTo>
                    <a:pt x="17383" y="16099"/>
                    <a:pt x="18898" y="19587"/>
                    <a:pt x="21600" y="19290"/>
                  </a:cubicBezTo>
                  <a:lnTo>
                    <a:pt x="21545" y="16807"/>
                  </a:lnTo>
                  <a:cubicBezTo>
                    <a:pt x="19258" y="17058"/>
                    <a:pt x="18061" y="13947"/>
                    <a:pt x="16772" y="10222"/>
                  </a:cubicBezTo>
                  <a:cubicBezTo>
                    <a:pt x="17878" y="6171"/>
                    <a:pt x="18899" y="2735"/>
                    <a:pt x="21214" y="2481"/>
                  </a:cubicBezTo>
                  <a:lnTo>
                    <a:pt x="21142" y="0"/>
                  </a:lnTo>
                  <a:cubicBezTo>
                    <a:pt x="18416" y="300"/>
                    <a:pt x="17080" y="4165"/>
                    <a:pt x="15994" y="8031"/>
                  </a:cubicBezTo>
                  <a:cubicBezTo>
                    <a:pt x="14732" y="4504"/>
                    <a:pt x="13210" y="1123"/>
                    <a:pt x="10541" y="1416"/>
                  </a:cubicBezTo>
                  <a:cubicBezTo>
                    <a:pt x="7892" y="1708"/>
                    <a:pt x="6571" y="5362"/>
                    <a:pt x="5501" y="9116"/>
                  </a:cubicBezTo>
                  <a:cubicBezTo>
                    <a:pt x="4229" y="5537"/>
                    <a:pt x="2706" y="2023"/>
                    <a:pt x="0" y="2320"/>
                  </a:cubicBezTo>
                  <a:cubicBezTo>
                    <a:pt x="0" y="2320"/>
                    <a:pt x="67" y="4802"/>
                    <a:pt x="67" y="4802"/>
                  </a:cubicBezTo>
                  <a:cubicBezTo>
                    <a:pt x="2361" y="4550"/>
                    <a:pt x="3548" y="7681"/>
                    <a:pt x="4841" y="11421"/>
                  </a:cubicBezTo>
                  <a:cubicBezTo>
                    <a:pt x="3737" y="15462"/>
                    <a:pt x="2709" y="18874"/>
                    <a:pt x="399" y="19128"/>
                  </a:cubicBezTo>
                  <a:lnTo>
                    <a:pt x="470" y="21600"/>
                  </a:lnTo>
                  <a:close/>
                  <a:moveTo>
                    <a:pt x="571" y="17516"/>
                  </a:moveTo>
                  <a:cubicBezTo>
                    <a:pt x="973" y="17463"/>
                    <a:pt x="1323" y="17289"/>
                    <a:pt x="1641" y="17020"/>
                  </a:cubicBezTo>
                  <a:cubicBezTo>
                    <a:pt x="1641" y="17020"/>
                    <a:pt x="1387" y="6572"/>
                    <a:pt x="1387" y="6572"/>
                  </a:cubicBezTo>
                  <a:cubicBezTo>
                    <a:pt x="1058" y="6378"/>
                    <a:pt x="699" y="6290"/>
                    <a:pt x="296" y="6330"/>
                  </a:cubicBezTo>
                  <a:lnTo>
                    <a:pt x="571" y="17516"/>
                  </a:lnTo>
                  <a:close/>
                  <a:moveTo>
                    <a:pt x="2649" y="15637"/>
                  </a:moveTo>
                  <a:cubicBezTo>
                    <a:pt x="3008" y="15009"/>
                    <a:pt x="3317" y="14212"/>
                    <a:pt x="3611" y="13297"/>
                  </a:cubicBezTo>
                  <a:lnTo>
                    <a:pt x="3530" y="9777"/>
                  </a:lnTo>
                  <a:cubicBezTo>
                    <a:pt x="3194" y="8935"/>
                    <a:pt x="2849" y="8211"/>
                    <a:pt x="2462" y="7671"/>
                  </a:cubicBezTo>
                  <a:lnTo>
                    <a:pt x="2649" y="15637"/>
                  </a:lnTo>
                  <a:close/>
                  <a:moveTo>
                    <a:pt x="6265" y="11274"/>
                  </a:moveTo>
                  <a:cubicBezTo>
                    <a:pt x="7335" y="7383"/>
                    <a:pt x="8366" y="4144"/>
                    <a:pt x="10612" y="3897"/>
                  </a:cubicBezTo>
                  <a:cubicBezTo>
                    <a:pt x="12876" y="3648"/>
                    <a:pt x="14062" y="6687"/>
                    <a:pt x="15336" y="10361"/>
                  </a:cubicBezTo>
                  <a:cubicBezTo>
                    <a:pt x="14269" y="14240"/>
                    <a:pt x="13242" y="17500"/>
                    <a:pt x="11001" y="17746"/>
                  </a:cubicBezTo>
                  <a:cubicBezTo>
                    <a:pt x="8738" y="17995"/>
                    <a:pt x="7539" y="14948"/>
                    <a:pt x="6265" y="11274"/>
                  </a:cubicBezTo>
                  <a:close/>
                  <a:moveTo>
                    <a:pt x="8019" y="13315"/>
                  </a:moveTo>
                  <a:cubicBezTo>
                    <a:pt x="8416" y="14295"/>
                    <a:pt x="8827" y="15128"/>
                    <a:pt x="9287" y="15750"/>
                  </a:cubicBezTo>
                  <a:lnTo>
                    <a:pt x="9038" y="6172"/>
                  </a:lnTo>
                  <a:cubicBezTo>
                    <a:pt x="8613" y="6892"/>
                    <a:pt x="8251" y="7817"/>
                    <a:pt x="7906" y="8878"/>
                  </a:cubicBezTo>
                  <a:lnTo>
                    <a:pt x="8019" y="13315"/>
                  </a:lnTo>
                  <a:close/>
                  <a:moveTo>
                    <a:pt x="10389" y="16077"/>
                  </a:moveTo>
                  <a:cubicBezTo>
                    <a:pt x="10611" y="16140"/>
                    <a:pt x="10842" y="16161"/>
                    <a:pt x="11095" y="16128"/>
                  </a:cubicBezTo>
                  <a:cubicBezTo>
                    <a:pt x="11223" y="16112"/>
                    <a:pt x="11344" y="16080"/>
                    <a:pt x="11463" y="16041"/>
                  </a:cubicBezTo>
                  <a:lnTo>
                    <a:pt x="11227" y="5045"/>
                  </a:lnTo>
                  <a:cubicBezTo>
                    <a:pt x="11108" y="5036"/>
                    <a:pt x="10985" y="5039"/>
                    <a:pt x="10857" y="5056"/>
                  </a:cubicBezTo>
                  <a:cubicBezTo>
                    <a:pt x="10605" y="5088"/>
                    <a:pt x="10374" y="5166"/>
                    <a:pt x="10157" y="5285"/>
                  </a:cubicBezTo>
                  <a:lnTo>
                    <a:pt x="10389" y="16077"/>
                  </a:lnTo>
                  <a:close/>
                  <a:moveTo>
                    <a:pt x="12594" y="15655"/>
                  </a:moveTo>
                  <a:cubicBezTo>
                    <a:pt x="12999" y="15123"/>
                    <a:pt x="13343" y="14414"/>
                    <a:pt x="13661" y="13573"/>
                  </a:cubicBezTo>
                  <a:lnTo>
                    <a:pt x="13528" y="7680"/>
                  </a:lnTo>
                  <a:cubicBezTo>
                    <a:pt x="13173" y="6920"/>
                    <a:pt x="12798" y="6300"/>
                    <a:pt x="12371" y="5869"/>
                  </a:cubicBezTo>
                  <a:lnTo>
                    <a:pt x="12594" y="15655"/>
                  </a:lnTo>
                  <a:close/>
                  <a:moveTo>
                    <a:pt x="18081" y="11798"/>
                  </a:moveTo>
                  <a:cubicBezTo>
                    <a:pt x="18416" y="12578"/>
                    <a:pt x="18758" y="13235"/>
                    <a:pt x="19139" y="13718"/>
                  </a:cubicBezTo>
                  <a:lnTo>
                    <a:pt x="18884" y="6051"/>
                  </a:lnTo>
                  <a:cubicBezTo>
                    <a:pt x="18541" y="6694"/>
                    <a:pt x="18245" y="7495"/>
                    <a:pt x="17967" y="8411"/>
                  </a:cubicBezTo>
                  <a:lnTo>
                    <a:pt x="18081" y="11798"/>
                  </a:lnTo>
                  <a:close/>
                  <a:moveTo>
                    <a:pt x="20486" y="14708"/>
                  </a:moveTo>
                  <a:cubicBezTo>
                    <a:pt x="20804" y="14878"/>
                    <a:pt x="21150" y="14947"/>
                    <a:pt x="21538" y="14889"/>
                  </a:cubicBezTo>
                  <a:lnTo>
                    <a:pt x="21229" y="4150"/>
                  </a:lnTo>
                  <a:cubicBezTo>
                    <a:pt x="20842" y="4223"/>
                    <a:pt x="20502" y="4409"/>
                    <a:pt x="20197" y="4684"/>
                  </a:cubicBezTo>
                  <a:cubicBezTo>
                    <a:pt x="20197" y="4684"/>
                    <a:pt x="20486" y="14708"/>
                    <a:pt x="20486" y="147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3" name="Shape 34189">
              <a:extLst>
                <a:ext uri="{FF2B5EF4-FFF2-40B4-BE49-F238E27FC236}">
                  <a16:creationId xmlns:a16="http://schemas.microsoft.com/office/drawing/2014/main" id="{ACF42464-8277-7FE7-BFF9-60BD9A71C304}"/>
                </a:ext>
              </a:extLst>
            </p:cNvPr>
            <p:cNvSpPr/>
            <p:nvPr/>
          </p:nvSpPr>
          <p:spPr>
            <a:xfrm>
              <a:off x="12966315" y="3935732"/>
              <a:ext cx="606684" cy="867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4" name="Shape 34190">
              <a:extLst>
                <a:ext uri="{FF2B5EF4-FFF2-40B4-BE49-F238E27FC236}">
                  <a16:creationId xmlns:a16="http://schemas.microsoft.com/office/drawing/2014/main" id="{1CB0601C-E813-F143-49E8-AF8089764FF4}"/>
                </a:ext>
              </a:extLst>
            </p:cNvPr>
            <p:cNvSpPr/>
            <p:nvPr/>
          </p:nvSpPr>
          <p:spPr>
            <a:xfrm>
              <a:off x="8736613" y="4207504"/>
              <a:ext cx="967678" cy="8207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5" h="21218" extrusionOk="0">
                  <a:moveTo>
                    <a:pt x="17160" y="16531"/>
                  </a:moveTo>
                  <a:lnTo>
                    <a:pt x="3281" y="10266"/>
                  </a:lnTo>
                  <a:lnTo>
                    <a:pt x="6158" y="1453"/>
                  </a:lnTo>
                  <a:lnTo>
                    <a:pt x="20037" y="7718"/>
                  </a:lnTo>
                  <a:cubicBezTo>
                    <a:pt x="20037" y="7718"/>
                    <a:pt x="17160" y="16531"/>
                    <a:pt x="17160" y="16531"/>
                  </a:cubicBezTo>
                  <a:close/>
                  <a:moveTo>
                    <a:pt x="20480" y="6363"/>
                  </a:moveTo>
                  <a:lnTo>
                    <a:pt x="6600" y="98"/>
                  </a:lnTo>
                  <a:cubicBezTo>
                    <a:pt x="5961" y="-191"/>
                    <a:pt x="5246" y="183"/>
                    <a:pt x="5001" y="931"/>
                  </a:cubicBezTo>
                  <a:cubicBezTo>
                    <a:pt x="5001" y="931"/>
                    <a:pt x="1682" y="11100"/>
                    <a:pt x="1694" y="11105"/>
                  </a:cubicBezTo>
                  <a:lnTo>
                    <a:pt x="17862" y="18403"/>
                  </a:lnTo>
                  <a:cubicBezTo>
                    <a:pt x="17874" y="18409"/>
                    <a:pt x="21194" y="8240"/>
                    <a:pt x="21194" y="8240"/>
                  </a:cubicBezTo>
                  <a:cubicBezTo>
                    <a:pt x="21438" y="7492"/>
                    <a:pt x="21118" y="6651"/>
                    <a:pt x="20480" y="6363"/>
                  </a:cubicBezTo>
                  <a:close/>
                  <a:moveTo>
                    <a:pt x="16989" y="21121"/>
                  </a:moveTo>
                  <a:lnTo>
                    <a:pt x="797" y="13812"/>
                  </a:lnTo>
                  <a:cubicBezTo>
                    <a:pt x="157" y="13523"/>
                    <a:pt x="-162" y="12683"/>
                    <a:pt x="83" y="11934"/>
                  </a:cubicBezTo>
                  <a:lnTo>
                    <a:pt x="304" y="11256"/>
                  </a:lnTo>
                  <a:lnTo>
                    <a:pt x="7822" y="14649"/>
                  </a:lnTo>
                  <a:lnTo>
                    <a:pt x="7600" y="15327"/>
                  </a:lnTo>
                  <a:lnTo>
                    <a:pt x="11070" y="16893"/>
                  </a:lnTo>
                  <a:lnTo>
                    <a:pt x="11291" y="16216"/>
                  </a:lnTo>
                  <a:lnTo>
                    <a:pt x="18810" y="19609"/>
                  </a:lnTo>
                  <a:lnTo>
                    <a:pt x="18588" y="20287"/>
                  </a:lnTo>
                  <a:cubicBezTo>
                    <a:pt x="18344" y="21036"/>
                    <a:pt x="17627" y="21409"/>
                    <a:pt x="16989" y="21121"/>
                  </a:cubicBezTo>
                  <a:cubicBezTo>
                    <a:pt x="16989" y="21121"/>
                    <a:pt x="16989" y="21121"/>
                    <a:pt x="16989" y="2112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5" name="Shape 34191">
              <a:extLst>
                <a:ext uri="{FF2B5EF4-FFF2-40B4-BE49-F238E27FC236}">
                  <a16:creationId xmlns:a16="http://schemas.microsoft.com/office/drawing/2014/main" id="{AC9455CF-AF30-DE16-2774-5F4D082B38B0}"/>
                </a:ext>
              </a:extLst>
            </p:cNvPr>
            <p:cNvSpPr/>
            <p:nvPr/>
          </p:nvSpPr>
          <p:spPr>
            <a:xfrm>
              <a:off x="12884222" y="7775447"/>
              <a:ext cx="606686" cy="867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6" name="Shape 34192">
              <a:extLst>
                <a:ext uri="{FF2B5EF4-FFF2-40B4-BE49-F238E27FC236}">
                  <a16:creationId xmlns:a16="http://schemas.microsoft.com/office/drawing/2014/main" id="{7C569921-7480-9A44-8C2E-A5B0ED448F0E}"/>
                </a:ext>
              </a:extLst>
            </p:cNvPr>
            <p:cNvSpPr/>
            <p:nvPr/>
          </p:nvSpPr>
          <p:spPr>
            <a:xfrm>
              <a:off x="9950402" y="3061775"/>
              <a:ext cx="885232" cy="10414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7" name="Shape 34193">
              <a:extLst>
                <a:ext uri="{FF2B5EF4-FFF2-40B4-BE49-F238E27FC236}">
                  <a16:creationId xmlns:a16="http://schemas.microsoft.com/office/drawing/2014/main" id="{A5E3F977-180A-3643-419D-57AED242F69C}"/>
                </a:ext>
              </a:extLst>
            </p:cNvPr>
            <p:cNvSpPr/>
            <p:nvPr/>
          </p:nvSpPr>
          <p:spPr>
            <a:xfrm>
              <a:off x="11615551" y="3334957"/>
              <a:ext cx="818520" cy="818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13" h="20113" extrusionOk="0">
                  <a:moveTo>
                    <a:pt x="8483" y="125"/>
                  </a:moveTo>
                  <a:cubicBezTo>
                    <a:pt x="2996" y="994"/>
                    <a:pt x="-744" y="6142"/>
                    <a:pt x="125" y="11629"/>
                  </a:cubicBezTo>
                  <a:cubicBezTo>
                    <a:pt x="994" y="17116"/>
                    <a:pt x="6142" y="20856"/>
                    <a:pt x="11629" y="19987"/>
                  </a:cubicBezTo>
                  <a:cubicBezTo>
                    <a:pt x="17116" y="19118"/>
                    <a:pt x="20856" y="13970"/>
                    <a:pt x="19987" y="8483"/>
                  </a:cubicBezTo>
                  <a:cubicBezTo>
                    <a:pt x="19118" y="2996"/>
                    <a:pt x="13970" y="-744"/>
                    <a:pt x="8483" y="125"/>
                  </a:cubicBezTo>
                  <a:close/>
                  <a:moveTo>
                    <a:pt x="8760" y="1873"/>
                  </a:moveTo>
                  <a:cubicBezTo>
                    <a:pt x="8956" y="1842"/>
                    <a:pt x="9163" y="1878"/>
                    <a:pt x="9336" y="2004"/>
                  </a:cubicBezTo>
                  <a:cubicBezTo>
                    <a:pt x="9681" y="2255"/>
                    <a:pt x="9758" y="2741"/>
                    <a:pt x="9507" y="3087"/>
                  </a:cubicBezTo>
                  <a:cubicBezTo>
                    <a:pt x="9256" y="3432"/>
                    <a:pt x="8770" y="3509"/>
                    <a:pt x="8424" y="3258"/>
                  </a:cubicBezTo>
                  <a:cubicBezTo>
                    <a:pt x="8079" y="3007"/>
                    <a:pt x="8002" y="2521"/>
                    <a:pt x="8253" y="2175"/>
                  </a:cubicBezTo>
                  <a:cubicBezTo>
                    <a:pt x="8378" y="2002"/>
                    <a:pt x="8564" y="1904"/>
                    <a:pt x="8760" y="1873"/>
                  </a:cubicBezTo>
                  <a:close/>
                  <a:moveTo>
                    <a:pt x="9098" y="4008"/>
                  </a:moveTo>
                  <a:cubicBezTo>
                    <a:pt x="9327" y="3971"/>
                    <a:pt x="9546" y="4130"/>
                    <a:pt x="9582" y="4359"/>
                  </a:cubicBezTo>
                  <a:lnTo>
                    <a:pt x="10314" y="8984"/>
                  </a:lnTo>
                  <a:cubicBezTo>
                    <a:pt x="10465" y="9019"/>
                    <a:pt x="10626" y="8992"/>
                    <a:pt x="10759" y="9088"/>
                  </a:cubicBezTo>
                  <a:cubicBezTo>
                    <a:pt x="10893" y="9186"/>
                    <a:pt x="10931" y="9343"/>
                    <a:pt x="11011" y="9477"/>
                  </a:cubicBezTo>
                  <a:lnTo>
                    <a:pt x="14460" y="8930"/>
                  </a:lnTo>
                  <a:cubicBezTo>
                    <a:pt x="14689" y="8894"/>
                    <a:pt x="14908" y="9053"/>
                    <a:pt x="14944" y="9282"/>
                  </a:cubicBezTo>
                  <a:cubicBezTo>
                    <a:pt x="14980" y="9511"/>
                    <a:pt x="14822" y="9729"/>
                    <a:pt x="14593" y="9766"/>
                  </a:cubicBezTo>
                  <a:lnTo>
                    <a:pt x="11143" y="10312"/>
                  </a:lnTo>
                  <a:cubicBezTo>
                    <a:pt x="11108" y="10464"/>
                    <a:pt x="11121" y="10625"/>
                    <a:pt x="11024" y="10759"/>
                  </a:cubicBezTo>
                  <a:cubicBezTo>
                    <a:pt x="10636" y="11292"/>
                    <a:pt x="9886" y="11411"/>
                    <a:pt x="9353" y="11024"/>
                  </a:cubicBezTo>
                  <a:cubicBezTo>
                    <a:pt x="8820" y="10636"/>
                    <a:pt x="8701" y="9886"/>
                    <a:pt x="9088" y="9353"/>
                  </a:cubicBezTo>
                  <a:cubicBezTo>
                    <a:pt x="9188" y="9215"/>
                    <a:pt x="9357" y="9195"/>
                    <a:pt x="9495" y="9114"/>
                  </a:cubicBezTo>
                  <a:lnTo>
                    <a:pt x="8762" y="4489"/>
                  </a:lnTo>
                  <a:cubicBezTo>
                    <a:pt x="8726" y="4260"/>
                    <a:pt x="8869" y="4044"/>
                    <a:pt x="9098" y="4008"/>
                  </a:cubicBezTo>
                  <a:close/>
                  <a:moveTo>
                    <a:pt x="2495" y="10476"/>
                  </a:moveTo>
                  <a:cubicBezTo>
                    <a:pt x="2691" y="10446"/>
                    <a:pt x="2898" y="10482"/>
                    <a:pt x="3071" y="10607"/>
                  </a:cubicBezTo>
                  <a:cubicBezTo>
                    <a:pt x="3417" y="10859"/>
                    <a:pt x="3494" y="11345"/>
                    <a:pt x="3243" y="11690"/>
                  </a:cubicBezTo>
                  <a:cubicBezTo>
                    <a:pt x="2992" y="12035"/>
                    <a:pt x="2505" y="12113"/>
                    <a:pt x="2160" y="11862"/>
                  </a:cubicBezTo>
                  <a:cubicBezTo>
                    <a:pt x="1814" y="11610"/>
                    <a:pt x="1737" y="11124"/>
                    <a:pt x="1988" y="10779"/>
                  </a:cubicBezTo>
                  <a:cubicBezTo>
                    <a:pt x="2114" y="10606"/>
                    <a:pt x="2300" y="10507"/>
                    <a:pt x="2495" y="10476"/>
                  </a:cubicBezTo>
                  <a:close/>
                  <a:moveTo>
                    <a:pt x="17392" y="8117"/>
                  </a:moveTo>
                  <a:cubicBezTo>
                    <a:pt x="17587" y="8086"/>
                    <a:pt x="17779" y="8125"/>
                    <a:pt x="17952" y="8250"/>
                  </a:cubicBezTo>
                  <a:cubicBezTo>
                    <a:pt x="18298" y="8502"/>
                    <a:pt x="18375" y="8988"/>
                    <a:pt x="18124" y="9333"/>
                  </a:cubicBezTo>
                  <a:cubicBezTo>
                    <a:pt x="17872" y="9678"/>
                    <a:pt x="17402" y="9753"/>
                    <a:pt x="17056" y="9502"/>
                  </a:cubicBezTo>
                  <a:cubicBezTo>
                    <a:pt x="16711" y="9251"/>
                    <a:pt x="16634" y="8765"/>
                    <a:pt x="16885" y="8419"/>
                  </a:cubicBezTo>
                  <a:cubicBezTo>
                    <a:pt x="17010" y="8247"/>
                    <a:pt x="17196" y="8148"/>
                    <a:pt x="17392" y="8117"/>
                  </a:cubicBezTo>
                  <a:close/>
                  <a:moveTo>
                    <a:pt x="11112" y="16723"/>
                  </a:moveTo>
                  <a:cubicBezTo>
                    <a:pt x="11308" y="16692"/>
                    <a:pt x="11515" y="16728"/>
                    <a:pt x="11688" y="16854"/>
                  </a:cubicBezTo>
                  <a:cubicBezTo>
                    <a:pt x="12033" y="17105"/>
                    <a:pt x="12110" y="17591"/>
                    <a:pt x="11859" y="17937"/>
                  </a:cubicBezTo>
                  <a:cubicBezTo>
                    <a:pt x="11608" y="18282"/>
                    <a:pt x="11122" y="18359"/>
                    <a:pt x="10776" y="18108"/>
                  </a:cubicBezTo>
                  <a:cubicBezTo>
                    <a:pt x="10431" y="17857"/>
                    <a:pt x="10354" y="17371"/>
                    <a:pt x="10605" y="17025"/>
                  </a:cubicBezTo>
                  <a:cubicBezTo>
                    <a:pt x="10730" y="16853"/>
                    <a:pt x="10916" y="16754"/>
                    <a:pt x="11112" y="1672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8" name="Shape 34194">
              <a:extLst>
                <a:ext uri="{FF2B5EF4-FFF2-40B4-BE49-F238E27FC236}">
                  <a16:creationId xmlns:a16="http://schemas.microsoft.com/office/drawing/2014/main" id="{8654F068-3931-E6FE-A770-5E45CA727A66}"/>
                </a:ext>
              </a:extLst>
            </p:cNvPr>
            <p:cNvSpPr/>
            <p:nvPr/>
          </p:nvSpPr>
          <p:spPr>
            <a:xfrm>
              <a:off x="14592598" y="6234099"/>
              <a:ext cx="850388" cy="9763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390" y="0"/>
                  </a:moveTo>
                  <a:lnTo>
                    <a:pt x="0" y="14168"/>
                  </a:lnTo>
                  <a:lnTo>
                    <a:pt x="12187" y="21600"/>
                  </a:lnTo>
                  <a:lnTo>
                    <a:pt x="21600" y="9890"/>
                  </a:lnTo>
                  <a:lnTo>
                    <a:pt x="20767" y="5719"/>
                  </a:lnTo>
                  <a:lnTo>
                    <a:pt x="11390" y="0"/>
                  </a:lnTo>
                  <a:close/>
                  <a:moveTo>
                    <a:pt x="12641" y="5625"/>
                  </a:moveTo>
                  <a:lnTo>
                    <a:pt x="17079" y="8332"/>
                  </a:lnTo>
                  <a:lnTo>
                    <a:pt x="16765" y="8723"/>
                  </a:lnTo>
                  <a:lnTo>
                    <a:pt x="12326" y="6016"/>
                  </a:lnTo>
                  <a:lnTo>
                    <a:pt x="12641" y="5625"/>
                  </a:lnTo>
                  <a:close/>
                  <a:moveTo>
                    <a:pt x="7323" y="8127"/>
                  </a:moveTo>
                  <a:lnTo>
                    <a:pt x="16200" y="13540"/>
                  </a:lnTo>
                  <a:lnTo>
                    <a:pt x="15894" y="13920"/>
                  </a:lnTo>
                  <a:lnTo>
                    <a:pt x="7017" y="8506"/>
                  </a:lnTo>
                  <a:lnTo>
                    <a:pt x="7323" y="8127"/>
                  </a:lnTo>
                  <a:close/>
                  <a:moveTo>
                    <a:pt x="5778" y="10048"/>
                  </a:moveTo>
                  <a:lnTo>
                    <a:pt x="14655" y="15462"/>
                  </a:lnTo>
                  <a:lnTo>
                    <a:pt x="14340" y="15853"/>
                  </a:lnTo>
                  <a:lnTo>
                    <a:pt x="5463" y="10439"/>
                  </a:lnTo>
                  <a:lnTo>
                    <a:pt x="5778" y="10048"/>
                  </a:lnTo>
                  <a:close/>
                  <a:moveTo>
                    <a:pt x="4233" y="11970"/>
                  </a:moveTo>
                  <a:lnTo>
                    <a:pt x="8671" y="14677"/>
                  </a:lnTo>
                  <a:lnTo>
                    <a:pt x="8357" y="15068"/>
                  </a:lnTo>
                  <a:lnTo>
                    <a:pt x="3918" y="12361"/>
                  </a:lnTo>
                  <a:lnTo>
                    <a:pt x="4233" y="1197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29" name="Shape 34195">
              <a:extLst>
                <a:ext uri="{FF2B5EF4-FFF2-40B4-BE49-F238E27FC236}">
                  <a16:creationId xmlns:a16="http://schemas.microsoft.com/office/drawing/2014/main" id="{F32529DE-7723-A9F9-7F05-07E940417709}"/>
                </a:ext>
              </a:extLst>
            </p:cNvPr>
            <p:cNvSpPr/>
            <p:nvPr/>
          </p:nvSpPr>
          <p:spPr>
            <a:xfrm>
              <a:off x="13429434" y="7344882"/>
              <a:ext cx="433382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0" name="Shape 34196">
              <a:extLst>
                <a:ext uri="{FF2B5EF4-FFF2-40B4-BE49-F238E27FC236}">
                  <a16:creationId xmlns:a16="http://schemas.microsoft.com/office/drawing/2014/main" id="{99B49F4A-C995-B73F-E19A-B307302678CD}"/>
                </a:ext>
              </a:extLst>
            </p:cNvPr>
            <p:cNvSpPr/>
            <p:nvPr/>
          </p:nvSpPr>
          <p:spPr>
            <a:xfrm>
              <a:off x="12395982" y="2571694"/>
              <a:ext cx="1203272" cy="6720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895"/>
                  </a:moveTo>
                  <a:cubicBezTo>
                    <a:pt x="2602" y="16630"/>
                    <a:pt x="4225" y="13961"/>
                    <a:pt x="5624" y="11197"/>
                  </a:cubicBezTo>
                  <a:cubicBezTo>
                    <a:pt x="6473" y="14530"/>
                    <a:pt x="7574" y="17859"/>
                    <a:pt x="10123" y="18579"/>
                  </a:cubicBezTo>
                  <a:cubicBezTo>
                    <a:pt x="12646" y="19291"/>
                    <a:pt x="14269" y="16784"/>
                    <a:pt x="15641" y="14112"/>
                  </a:cubicBezTo>
                  <a:cubicBezTo>
                    <a:pt x="16494" y="17483"/>
                    <a:pt x="17585" y="20872"/>
                    <a:pt x="20164" y="21600"/>
                  </a:cubicBezTo>
                  <a:lnTo>
                    <a:pt x="20353" y="19555"/>
                  </a:lnTo>
                  <a:cubicBezTo>
                    <a:pt x="18170" y="18939"/>
                    <a:pt x="17341" y="15971"/>
                    <a:pt x="16486" y="12469"/>
                  </a:cubicBezTo>
                  <a:cubicBezTo>
                    <a:pt x="17922" y="9562"/>
                    <a:pt x="19218" y="7126"/>
                    <a:pt x="21427" y="7750"/>
                  </a:cubicBezTo>
                  <a:lnTo>
                    <a:pt x="21600" y="5701"/>
                  </a:lnTo>
                  <a:cubicBezTo>
                    <a:pt x="18998" y="4966"/>
                    <a:pt x="17363" y="7639"/>
                    <a:pt x="15964" y="10403"/>
                  </a:cubicBezTo>
                  <a:cubicBezTo>
                    <a:pt x="15115" y="7072"/>
                    <a:pt x="14006" y="3768"/>
                    <a:pt x="11458" y="3048"/>
                  </a:cubicBezTo>
                  <a:cubicBezTo>
                    <a:pt x="8930" y="2335"/>
                    <a:pt x="7330" y="4841"/>
                    <a:pt x="5956" y="7519"/>
                  </a:cubicBezTo>
                  <a:cubicBezTo>
                    <a:pt x="5103" y="4143"/>
                    <a:pt x="4006" y="730"/>
                    <a:pt x="1424" y="0"/>
                  </a:cubicBezTo>
                  <a:cubicBezTo>
                    <a:pt x="1424" y="0"/>
                    <a:pt x="1247" y="2048"/>
                    <a:pt x="1247" y="2048"/>
                  </a:cubicBezTo>
                  <a:cubicBezTo>
                    <a:pt x="3436" y="2666"/>
                    <a:pt x="4253" y="5647"/>
                    <a:pt x="5111" y="9162"/>
                  </a:cubicBezTo>
                  <a:cubicBezTo>
                    <a:pt x="3678" y="12062"/>
                    <a:pt x="2378" y="14476"/>
                    <a:pt x="172" y="13853"/>
                  </a:cubicBezTo>
                  <a:lnTo>
                    <a:pt x="0" y="15895"/>
                  </a:lnTo>
                  <a:close/>
                  <a:moveTo>
                    <a:pt x="491" y="12600"/>
                  </a:moveTo>
                  <a:cubicBezTo>
                    <a:pt x="875" y="12701"/>
                    <a:pt x="1223" y="12685"/>
                    <a:pt x="1549" y="12580"/>
                  </a:cubicBezTo>
                  <a:cubicBezTo>
                    <a:pt x="1549" y="12580"/>
                    <a:pt x="2321" y="3967"/>
                    <a:pt x="2321" y="3967"/>
                  </a:cubicBezTo>
                  <a:cubicBezTo>
                    <a:pt x="2030" y="3690"/>
                    <a:pt x="1699" y="3489"/>
                    <a:pt x="1315" y="3377"/>
                  </a:cubicBezTo>
                  <a:lnTo>
                    <a:pt x="491" y="12600"/>
                  </a:lnTo>
                  <a:close/>
                  <a:moveTo>
                    <a:pt x="2634" y="11814"/>
                  </a:moveTo>
                  <a:cubicBezTo>
                    <a:pt x="3034" y="11431"/>
                    <a:pt x="3403" y="10892"/>
                    <a:pt x="3769" y="10250"/>
                  </a:cubicBezTo>
                  <a:lnTo>
                    <a:pt x="4033" y="7350"/>
                  </a:lnTo>
                  <a:cubicBezTo>
                    <a:pt x="3797" y="6543"/>
                    <a:pt x="3542" y="5828"/>
                    <a:pt x="3229" y="5249"/>
                  </a:cubicBezTo>
                  <a:lnTo>
                    <a:pt x="2634" y="11814"/>
                  </a:lnTo>
                  <a:close/>
                  <a:moveTo>
                    <a:pt x="6469" y="9554"/>
                  </a:moveTo>
                  <a:cubicBezTo>
                    <a:pt x="7855" y="6764"/>
                    <a:pt x="9142" y="4492"/>
                    <a:pt x="11285" y="5097"/>
                  </a:cubicBezTo>
                  <a:cubicBezTo>
                    <a:pt x="13446" y="5708"/>
                    <a:pt x="14271" y="8612"/>
                    <a:pt x="15117" y="12067"/>
                  </a:cubicBezTo>
                  <a:cubicBezTo>
                    <a:pt x="13735" y="14848"/>
                    <a:pt x="12450" y="17138"/>
                    <a:pt x="10312" y="16534"/>
                  </a:cubicBezTo>
                  <a:cubicBezTo>
                    <a:pt x="8151" y="15924"/>
                    <a:pt x="7315" y="13008"/>
                    <a:pt x="6469" y="9554"/>
                  </a:cubicBezTo>
                  <a:close/>
                  <a:moveTo>
                    <a:pt x="7926" y="11848"/>
                  </a:moveTo>
                  <a:cubicBezTo>
                    <a:pt x="8206" y="12791"/>
                    <a:pt x="8514" y="13618"/>
                    <a:pt x="8887" y="14290"/>
                  </a:cubicBezTo>
                  <a:lnTo>
                    <a:pt x="9579" y="6388"/>
                  </a:lnTo>
                  <a:cubicBezTo>
                    <a:pt x="9109" y="6822"/>
                    <a:pt x="8677" y="7447"/>
                    <a:pt x="8249" y="8189"/>
                  </a:cubicBezTo>
                  <a:lnTo>
                    <a:pt x="7926" y="11848"/>
                  </a:lnTo>
                  <a:close/>
                  <a:moveTo>
                    <a:pt x="9896" y="14953"/>
                  </a:moveTo>
                  <a:cubicBezTo>
                    <a:pt x="10099" y="15084"/>
                    <a:pt x="10315" y="15184"/>
                    <a:pt x="10557" y="15248"/>
                  </a:cubicBezTo>
                  <a:cubicBezTo>
                    <a:pt x="10679" y="15281"/>
                    <a:pt x="10797" y="15298"/>
                    <a:pt x="10912" y="15309"/>
                  </a:cubicBezTo>
                  <a:lnTo>
                    <a:pt x="11755" y="6255"/>
                  </a:lnTo>
                  <a:cubicBezTo>
                    <a:pt x="11643" y="6205"/>
                    <a:pt x="11527" y="6163"/>
                    <a:pt x="11404" y="6131"/>
                  </a:cubicBezTo>
                  <a:cubicBezTo>
                    <a:pt x="11163" y="6066"/>
                    <a:pt x="10938" y="6048"/>
                    <a:pt x="10721" y="6066"/>
                  </a:cubicBezTo>
                  <a:lnTo>
                    <a:pt x="9896" y="14953"/>
                  </a:lnTo>
                  <a:close/>
                  <a:moveTo>
                    <a:pt x="12018" y="15401"/>
                  </a:moveTo>
                  <a:cubicBezTo>
                    <a:pt x="12451" y="15112"/>
                    <a:pt x="12844" y="14657"/>
                    <a:pt x="13226" y="14085"/>
                  </a:cubicBezTo>
                  <a:lnTo>
                    <a:pt x="13671" y="9231"/>
                  </a:lnTo>
                  <a:cubicBezTo>
                    <a:pt x="13409" y="8483"/>
                    <a:pt x="13115" y="7842"/>
                    <a:pt x="12755" y="7338"/>
                  </a:cubicBezTo>
                  <a:lnTo>
                    <a:pt x="12018" y="15401"/>
                  </a:lnTo>
                  <a:close/>
                  <a:moveTo>
                    <a:pt x="17569" y="14225"/>
                  </a:moveTo>
                  <a:cubicBezTo>
                    <a:pt x="17809" y="14981"/>
                    <a:pt x="18068" y="15640"/>
                    <a:pt x="18381" y="16171"/>
                  </a:cubicBezTo>
                  <a:lnTo>
                    <a:pt x="18883" y="9826"/>
                  </a:lnTo>
                  <a:cubicBezTo>
                    <a:pt x="18496" y="10227"/>
                    <a:pt x="18140" y="10774"/>
                    <a:pt x="17789" y="11421"/>
                  </a:cubicBezTo>
                  <a:lnTo>
                    <a:pt x="17569" y="14225"/>
                  </a:lnTo>
                  <a:close/>
                  <a:moveTo>
                    <a:pt x="19556" y="17463"/>
                  </a:moveTo>
                  <a:cubicBezTo>
                    <a:pt x="19840" y="17716"/>
                    <a:pt x="20160" y="17896"/>
                    <a:pt x="20532" y="17987"/>
                  </a:cubicBezTo>
                  <a:lnTo>
                    <a:pt x="21280" y="9117"/>
                  </a:lnTo>
                  <a:cubicBezTo>
                    <a:pt x="20907" y="9037"/>
                    <a:pt x="20569" y="9067"/>
                    <a:pt x="20254" y="9182"/>
                  </a:cubicBezTo>
                  <a:cubicBezTo>
                    <a:pt x="20254" y="9182"/>
                    <a:pt x="19556" y="17463"/>
                    <a:pt x="19556" y="1746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1" name="Shape 34197">
              <a:extLst>
                <a:ext uri="{FF2B5EF4-FFF2-40B4-BE49-F238E27FC236}">
                  <a16:creationId xmlns:a16="http://schemas.microsoft.com/office/drawing/2014/main" id="{E619B2D8-F6BD-8A7E-5EDA-D68C2CA0C3AC}"/>
                </a:ext>
              </a:extLst>
            </p:cNvPr>
            <p:cNvSpPr/>
            <p:nvPr/>
          </p:nvSpPr>
          <p:spPr>
            <a:xfrm>
              <a:off x="13886540" y="2993820"/>
              <a:ext cx="578410" cy="6105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2" h="21285" extrusionOk="0">
                  <a:moveTo>
                    <a:pt x="7646" y="529"/>
                  </a:moveTo>
                  <a:cubicBezTo>
                    <a:pt x="7990" y="7"/>
                    <a:pt x="8716" y="-158"/>
                    <a:pt x="9266" y="168"/>
                  </a:cubicBezTo>
                  <a:lnTo>
                    <a:pt x="20724" y="6954"/>
                  </a:lnTo>
                  <a:cubicBezTo>
                    <a:pt x="21274" y="7280"/>
                    <a:pt x="21435" y="7971"/>
                    <a:pt x="21091" y="8493"/>
                  </a:cubicBezTo>
                  <a:lnTo>
                    <a:pt x="13003" y="20763"/>
                  </a:lnTo>
                  <a:cubicBezTo>
                    <a:pt x="12659" y="21284"/>
                    <a:pt x="11938" y="21442"/>
                    <a:pt x="11388" y="21116"/>
                  </a:cubicBezTo>
                  <a:lnTo>
                    <a:pt x="8398" y="19345"/>
                  </a:lnTo>
                  <a:lnTo>
                    <a:pt x="10574" y="16044"/>
                  </a:lnTo>
                  <a:cubicBezTo>
                    <a:pt x="10918" y="15523"/>
                    <a:pt x="10752" y="14839"/>
                    <a:pt x="10202" y="14513"/>
                  </a:cubicBezTo>
                  <a:lnTo>
                    <a:pt x="8206" y="13331"/>
                  </a:lnTo>
                  <a:cubicBezTo>
                    <a:pt x="7656" y="13006"/>
                    <a:pt x="6935" y="13163"/>
                    <a:pt x="6591" y="13685"/>
                  </a:cubicBezTo>
                  <a:lnTo>
                    <a:pt x="4415" y="16986"/>
                  </a:lnTo>
                  <a:lnTo>
                    <a:pt x="1926" y="15512"/>
                  </a:lnTo>
                  <a:cubicBezTo>
                    <a:pt x="1376" y="15186"/>
                    <a:pt x="1202" y="14498"/>
                    <a:pt x="1545" y="13976"/>
                  </a:cubicBezTo>
                  <a:lnTo>
                    <a:pt x="552" y="13387"/>
                  </a:lnTo>
                  <a:cubicBezTo>
                    <a:pt x="2" y="13062"/>
                    <a:pt x="-165" y="12378"/>
                    <a:pt x="179" y="11857"/>
                  </a:cubicBezTo>
                  <a:lnTo>
                    <a:pt x="7646" y="529"/>
                  </a:lnTo>
                  <a:close/>
                  <a:moveTo>
                    <a:pt x="8332" y="1585"/>
                  </a:moveTo>
                  <a:lnTo>
                    <a:pt x="1799" y="11496"/>
                  </a:lnTo>
                  <a:cubicBezTo>
                    <a:pt x="1799" y="11496"/>
                    <a:pt x="1170" y="12444"/>
                    <a:pt x="2166" y="13034"/>
                  </a:cubicBezTo>
                  <a:lnTo>
                    <a:pt x="9326" y="2173"/>
                  </a:lnTo>
                  <a:cubicBezTo>
                    <a:pt x="9498" y="1913"/>
                    <a:pt x="9416" y="1577"/>
                    <a:pt x="9141" y="1414"/>
                  </a:cubicBezTo>
                  <a:cubicBezTo>
                    <a:pt x="8866" y="1251"/>
                    <a:pt x="8504" y="1324"/>
                    <a:pt x="8332" y="1585"/>
                  </a:cubicBezTo>
                  <a:close/>
                  <a:moveTo>
                    <a:pt x="6784" y="14449"/>
                  </a:moveTo>
                  <a:cubicBezTo>
                    <a:pt x="7128" y="13927"/>
                    <a:pt x="7849" y="13769"/>
                    <a:pt x="8399" y="14095"/>
                  </a:cubicBezTo>
                  <a:lnTo>
                    <a:pt x="9393" y="14684"/>
                  </a:lnTo>
                  <a:cubicBezTo>
                    <a:pt x="9943" y="15010"/>
                    <a:pt x="10109" y="15693"/>
                    <a:pt x="9766" y="16215"/>
                  </a:cubicBezTo>
                  <a:lnTo>
                    <a:pt x="7897" y="19049"/>
                  </a:lnTo>
                  <a:cubicBezTo>
                    <a:pt x="7554" y="19570"/>
                    <a:pt x="6827" y="19735"/>
                    <a:pt x="6277" y="19410"/>
                  </a:cubicBezTo>
                  <a:lnTo>
                    <a:pt x="5284" y="18821"/>
                  </a:lnTo>
                  <a:cubicBezTo>
                    <a:pt x="4733" y="18495"/>
                    <a:pt x="4572" y="17804"/>
                    <a:pt x="4916" y="17283"/>
                  </a:cubicBezTo>
                  <a:lnTo>
                    <a:pt x="6784" y="14449"/>
                  </a:lnTo>
                  <a:close/>
                  <a:moveTo>
                    <a:pt x="7465" y="15512"/>
                  </a:moveTo>
                  <a:cubicBezTo>
                    <a:pt x="7293" y="15773"/>
                    <a:pt x="7369" y="16116"/>
                    <a:pt x="7645" y="16279"/>
                  </a:cubicBezTo>
                  <a:cubicBezTo>
                    <a:pt x="7920" y="16442"/>
                    <a:pt x="8287" y="16362"/>
                    <a:pt x="8459" y="16101"/>
                  </a:cubicBezTo>
                  <a:cubicBezTo>
                    <a:pt x="8630" y="15840"/>
                    <a:pt x="8546" y="15492"/>
                    <a:pt x="8271" y="15329"/>
                  </a:cubicBezTo>
                  <a:cubicBezTo>
                    <a:pt x="7995" y="15166"/>
                    <a:pt x="7637" y="15251"/>
                    <a:pt x="7465" y="1551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2" name="Shape 34198">
              <a:extLst>
                <a:ext uri="{FF2B5EF4-FFF2-40B4-BE49-F238E27FC236}">
                  <a16:creationId xmlns:a16="http://schemas.microsoft.com/office/drawing/2014/main" id="{288C06A0-5E60-7FBA-5163-8D0A4E6E9A85}"/>
                </a:ext>
              </a:extLst>
            </p:cNvPr>
            <p:cNvSpPr/>
            <p:nvPr/>
          </p:nvSpPr>
          <p:spPr>
            <a:xfrm>
              <a:off x="10894630" y="2650276"/>
              <a:ext cx="621486" cy="960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0" h="21353" extrusionOk="0">
                  <a:moveTo>
                    <a:pt x="15021" y="3564"/>
                  </a:moveTo>
                  <a:lnTo>
                    <a:pt x="1858" y="5543"/>
                  </a:lnTo>
                  <a:lnTo>
                    <a:pt x="6199" y="17788"/>
                  </a:lnTo>
                  <a:lnTo>
                    <a:pt x="19362" y="15809"/>
                  </a:lnTo>
                  <a:cubicBezTo>
                    <a:pt x="19362" y="15809"/>
                    <a:pt x="15021" y="3564"/>
                    <a:pt x="15021" y="3564"/>
                  </a:cubicBezTo>
                  <a:close/>
                  <a:moveTo>
                    <a:pt x="10139" y="2364"/>
                  </a:moveTo>
                  <a:lnTo>
                    <a:pt x="5438" y="3070"/>
                  </a:lnTo>
                  <a:cubicBezTo>
                    <a:pt x="5178" y="3109"/>
                    <a:pt x="5016" y="3278"/>
                    <a:pt x="5076" y="3447"/>
                  </a:cubicBezTo>
                  <a:cubicBezTo>
                    <a:pt x="5136" y="3616"/>
                    <a:pt x="5395" y="3722"/>
                    <a:pt x="5655" y="3683"/>
                  </a:cubicBezTo>
                  <a:lnTo>
                    <a:pt x="10356" y="2976"/>
                  </a:lnTo>
                  <a:cubicBezTo>
                    <a:pt x="10615" y="2937"/>
                    <a:pt x="10777" y="2768"/>
                    <a:pt x="10717" y="2599"/>
                  </a:cubicBezTo>
                  <a:cubicBezTo>
                    <a:pt x="10657" y="2430"/>
                    <a:pt x="10398" y="2325"/>
                    <a:pt x="10139" y="2364"/>
                  </a:cubicBezTo>
                  <a:close/>
                  <a:moveTo>
                    <a:pt x="14119" y="19177"/>
                  </a:moveTo>
                  <a:cubicBezTo>
                    <a:pt x="14897" y="19060"/>
                    <a:pt x="15383" y="18554"/>
                    <a:pt x="15204" y="18046"/>
                  </a:cubicBezTo>
                  <a:cubicBezTo>
                    <a:pt x="15024" y="17539"/>
                    <a:pt x="14246" y="17223"/>
                    <a:pt x="13468" y="17340"/>
                  </a:cubicBezTo>
                  <a:cubicBezTo>
                    <a:pt x="12689" y="17457"/>
                    <a:pt x="12203" y="17963"/>
                    <a:pt x="12383" y="18470"/>
                  </a:cubicBezTo>
                  <a:cubicBezTo>
                    <a:pt x="12563" y="18978"/>
                    <a:pt x="13340" y="19294"/>
                    <a:pt x="14119" y="19177"/>
                  </a:cubicBezTo>
                  <a:close/>
                  <a:moveTo>
                    <a:pt x="19724" y="19624"/>
                  </a:moveTo>
                  <a:lnTo>
                    <a:pt x="8442" y="21320"/>
                  </a:lnTo>
                  <a:cubicBezTo>
                    <a:pt x="7403" y="21476"/>
                    <a:pt x="6367" y="21054"/>
                    <a:pt x="6127" y="20378"/>
                  </a:cubicBezTo>
                  <a:lnTo>
                    <a:pt x="50" y="3235"/>
                  </a:lnTo>
                  <a:cubicBezTo>
                    <a:pt x="-190" y="2559"/>
                    <a:pt x="458" y="1884"/>
                    <a:pt x="1496" y="1728"/>
                  </a:cubicBezTo>
                  <a:lnTo>
                    <a:pt x="12778" y="32"/>
                  </a:lnTo>
                  <a:cubicBezTo>
                    <a:pt x="13817" y="-124"/>
                    <a:pt x="14853" y="298"/>
                    <a:pt x="15093" y="974"/>
                  </a:cubicBezTo>
                  <a:lnTo>
                    <a:pt x="21170" y="18117"/>
                  </a:lnTo>
                  <a:cubicBezTo>
                    <a:pt x="21410" y="18793"/>
                    <a:pt x="20762" y="19468"/>
                    <a:pt x="19724" y="1962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3" name="Shape 34199">
              <a:extLst>
                <a:ext uri="{FF2B5EF4-FFF2-40B4-BE49-F238E27FC236}">
                  <a16:creationId xmlns:a16="http://schemas.microsoft.com/office/drawing/2014/main" id="{49A32E76-801E-A843-8779-81977240544F}"/>
                </a:ext>
              </a:extLst>
            </p:cNvPr>
            <p:cNvSpPr/>
            <p:nvPr/>
          </p:nvSpPr>
          <p:spPr>
            <a:xfrm>
              <a:off x="11662409" y="2578131"/>
              <a:ext cx="539930" cy="685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37"/>
                  </a:moveTo>
                  <a:lnTo>
                    <a:pt x="1844" y="21600"/>
                  </a:lnTo>
                  <a:lnTo>
                    <a:pt x="21600" y="20512"/>
                  </a:lnTo>
                  <a:lnTo>
                    <a:pt x="20076" y="3352"/>
                  </a:lnTo>
                  <a:lnTo>
                    <a:pt x="15202" y="0"/>
                  </a:lnTo>
                  <a:lnTo>
                    <a:pt x="0" y="837"/>
                  </a:lnTo>
                  <a:close/>
                  <a:moveTo>
                    <a:pt x="6705" y="5273"/>
                  </a:moveTo>
                  <a:lnTo>
                    <a:pt x="13900" y="4876"/>
                  </a:lnTo>
                  <a:lnTo>
                    <a:pt x="13951" y="5450"/>
                  </a:lnTo>
                  <a:lnTo>
                    <a:pt x="6756" y="5846"/>
                  </a:lnTo>
                  <a:lnTo>
                    <a:pt x="6705" y="5273"/>
                  </a:lnTo>
                  <a:close/>
                  <a:moveTo>
                    <a:pt x="3609" y="11120"/>
                  </a:moveTo>
                  <a:lnTo>
                    <a:pt x="18000" y="10328"/>
                  </a:lnTo>
                  <a:lnTo>
                    <a:pt x="18049" y="10884"/>
                  </a:lnTo>
                  <a:lnTo>
                    <a:pt x="3658" y="11677"/>
                  </a:lnTo>
                  <a:lnTo>
                    <a:pt x="3609" y="11120"/>
                  </a:lnTo>
                  <a:close/>
                  <a:moveTo>
                    <a:pt x="3859" y="13936"/>
                  </a:moveTo>
                  <a:lnTo>
                    <a:pt x="18250" y="13144"/>
                  </a:lnTo>
                  <a:lnTo>
                    <a:pt x="18301" y="13717"/>
                  </a:lnTo>
                  <a:lnTo>
                    <a:pt x="3910" y="14509"/>
                  </a:lnTo>
                  <a:lnTo>
                    <a:pt x="3859" y="13936"/>
                  </a:lnTo>
                  <a:close/>
                  <a:moveTo>
                    <a:pt x="4109" y="16753"/>
                  </a:moveTo>
                  <a:lnTo>
                    <a:pt x="11305" y="16357"/>
                  </a:lnTo>
                  <a:lnTo>
                    <a:pt x="11356" y="16930"/>
                  </a:lnTo>
                  <a:lnTo>
                    <a:pt x="4160" y="17326"/>
                  </a:lnTo>
                  <a:lnTo>
                    <a:pt x="4109" y="16753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4" name="Shape 34200">
              <a:extLst>
                <a:ext uri="{FF2B5EF4-FFF2-40B4-BE49-F238E27FC236}">
                  <a16:creationId xmlns:a16="http://schemas.microsoft.com/office/drawing/2014/main" id="{3E5F91B2-B048-5BFE-5A85-82F92FA7CB84}"/>
                </a:ext>
              </a:extLst>
            </p:cNvPr>
            <p:cNvSpPr/>
            <p:nvPr/>
          </p:nvSpPr>
          <p:spPr>
            <a:xfrm>
              <a:off x="12531620" y="6289836"/>
              <a:ext cx="641868" cy="6502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3" h="21600" extrusionOk="0">
                  <a:moveTo>
                    <a:pt x="0" y="8656"/>
                  </a:moveTo>
                  <a:lnTo>
                    <a:pt x="3891" y="13472"/>
                  </a:lnTo>
                  <a:cubicBezTo>
                    <a:pt x="3891" y="13472"/>
                    <a:pt x="5113" y="13644"/>
                    <a:pt x="5432" y="12623"/>
                  </a:cubicBezTo>
                  <a:cubicBezTo>
                    <a:pt x="5784" y="11492"/>
                    <a:pt x="7687" y="9934"/>
                    <a:pt x="9148" y="11824"/>
                  </a:cubicBezTo>
                  <a:cubicBezTo>
                    <a:pt x="10609" y="13713"/>
                    <a:pt x="9118" y="15051"/>
                    <a:pt x="7911" y="15308"/>
                  </a:cubicBezTo>
                  <a:cubicBezTo>
                    <a:pt x="6818" y="15541"/>
                    <a:pt x="6446" y="16635"/>
                    <a:pt x="6446" y="16635"/>
                  </a:cubicBezTo>
                  <a:lnTo>
                    <a:pt x="10458" y="21600"/>
                  </a:lnTo>
                  <a:lnTo>
                    <a:pt x="14739" y="18125"/>
                  </a:lnTo>
                  <a:cubicBezTo>
                    <a:pt x="14739" y="18125"/>
                    <a:pt x="14656" y="17235"/>
                    <a:pt x="13766" y="16921"/>
                  </a:cubicBezTo>
                  <a:cubicBezTo>
                    <a:pt x="12685" y="16541"/>
                    <a:pt x="11239" y="14858"/>
                    <a:pt x="13261" y="13217"/>
                  </a:cubicBezTo>
                  <a:cubicBezTo>
                    <a:pt x="15282" y="11577"/>
                    <a:pt x="16620" y="13268"/>
                    <a:pt x="16756" y="14619"/>
                  </a:cubicBezTo>
                  <a:cubicBezTo>
                    <a:pt x="16858" y="15631"/>
                    <a:pt x="17668" y="15748"/>
                    <a:pt x="17668" y="15748"/>
                  </a:cubicBezTo>
                  <a:lnTo>
                    <a:pt x="21273" y="12822"/>
                  </a:lnTo>
                  <a:cubicBezTo>
                    <a:pt x="21273" y="12822"/>
                    <a:pt x="18291" y="9357"/>
                    <a:pt x="17693" y="8295"/>
                  </a:cubicBezTo>
                  <a:cubicBezTo>
                    <a:pt x="17052" y="7158"/>
                    <a:pt x="18759" y="6911"/>
                    <a:pt x="19060" y="6845"/>
                  </a:cubicBezTo>
                  <a:cubicBezTo>
                    <a:pt x="20796" y="6467"/>
                    <a:pt x="21600" y="4760"/>
                    <a:pt x="20175" y="2996"/>
                  </a:cubicBezTo>
                  <a:cubicBezTo>
                    <a:pt x="18749" y="1232"/>
                    <a:pt x="16519" y="2306"/>
                    <a:pt x="16165" y="3733"/>
                  </a:cubicBezTo>
                  <a:cubicBezTo>
                    <a:pt x="15902" y="4793"/>
                    <a:pt x="15415" y="5326"/>
                    <a:pt x="14915" y="4919"/>
                  </a:cubicBezTo>
                  <a:cubicBezTo>
                    <a:pt x="13746" y="3966"/>
                    <a:pt x="10665" y="0"/>
                    <a:pt x="10665" y="0"/>
                  </a:cubicBezTo>
                  <a:lnTo>
                    <a:pt x="7285" y="2743"/>
                  </a:lnTo>
                  <a:cubicBezTo>
                    <a:pt x="7285" y="2743"/>
                    <a:pt x="7256" y="4048"/>
                    <a:pt x="8291" y="4295"/>
                  </a:cubicBezTo>
                  <a:cubicBezTo>
                    <a:pt x="9849" y="4668"/>
                    <a:pt x="10626" y="6514"/>
                    <a:pt x="9021" y="7816"/>
                  </a:cubicBezTo>
                  <a:cubicBezTo>
                    <a:pt x="7417" y="9118"/>
                    <a:pt x="5847" y="8156"/>
                    <a:pt x="5733" y="6515"/>
                  </a:cubicBezTo>
                  <a:cubicBezTo>
                    <a:pt x="5669" y="5595"/>
                    <a:pt x="4421" y="5079"/>
                    <a:pt x="4421" y="5079"/>
                  </a:cubicBezTo>
                  <a:cubicBezTo>
                    <a:pt x="4421" y="5079"/>
                    <a:pt x="0" y="8656"/>
                    <a:pt x="0" y="865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5" name="Shape 34201">
              <a:extLst>
                <a:ext uri="{FF2B5EF4-FFF2-40B4-BE49-F238E27FC236}">
                  <a16:creationId xmlns:a16="http://schemas.microsoft.com/office/drawing/2014/main" id="{84AE006D-A898-C300-EAA5-3A5274B9B64F}"/>
                </a:ext>
              </a:extLst>
            </p:cNvPr>
            <p:cNvSpPr/>
            <p:nvPr/>
          </p:nvSpPr>
          <p:spPr>
            <a:xfrm>
              <a:off x="11981887" y="4201963"/>
              <a:ext cx="441404" cy="3839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7" h="21600" extrusionOk="0">
                  <a:moveTo>
                    <a:pt x="0" y="307"/>
                  </a:moveTo>
                  <a:lnTo>
                    <a:pt x="120" y="8229"/>
                  </a:lnTo>
                  <a:cubicBezTo>
                    <a:pt x="120" y="8229"/>
                    <a:pt x="1074" y="9367"/>
                    <a:pt x="2052" y="8590"/>
                  </a:cubicBezTo>
                  <a:cubicBezTo>
                    <a:pt x="3133" y="7728"/>
                    <a:pt x="5865" y="7659"/>
                    <a:pt x="5855" y="10716"/>
                  </a:cubicBezTo>
                  <a:cubicBezTo>
                    <a:pt x="5845" y="13772"/>
                    <a:pt x="3624" y="13944"/>
                    <a:pt x="2389" y="13251"/>
                  </a:cubicBezTo>
                  <a:cubicBezTo>
                    <a:pt x="1272" y="12623"/>
                    <a:pt x="199" y="13432"/>
                    <a:pt x="199" y="13432"/>
                  </a:cubicBezTo>
                  <a:lnTo>
                    <a:pt x="323" y="21600"/>
                  </a:lnTo>
                  <a:lnTo>
                    <a:pt x="6451" y="21477"/>
                  </a:lnTo>
                  <a:cubicBezTo>
                    <a:pt x="6451" y="21477"/>
                    <a:pt x="6986" y="20514"/>
                    <a:pt x="6421" y="19495"/>
                  </a:cubicBezTo>
                  <a:cubicBezTo>
                    <a:pt x="5733" y="18260"/>
                    <a:pt x="5615" y="15424"/>
                    <a:pt x="8509" y="15365"/>
                  </a:cubicBezTo>
                  <a:cubicBezTo>
                    <a:pt x="11403" y="15307"/>
                    <a:pt x="11419" y="18067"/>
                    <a:pt x="10615" y="19535"/>
                  </a:cubicBezTo>
                  <a:cubicBezTo>
                    <a:pt x="10013" y="20636"/>
                    <a:pt x="10643" y="21392"/>
                    <a:pt x="10643" y="21392"/>
                  </a:cubicBezTo>
                  <a:lnTo>
                    <a:pt x="15804" y="21289"/>
                  </a:lnTo>
                  <a:cubicBezTo>
                    <a:pt x="15804" y="21289"/>
                    <a:pt x="15557" y="15444"/>
                    <a:pt x="15758" y="13903"/>
                  </a:cubicBezTo>
                  <a:cubicBezTo>
                    <a:pt x="15974" y="12251"/>
                    <a:pt x="17639" y="13349"/>
                    <a:pt x="17948" y="13520"/>
                  </a:cubicBezTo>
                  <a:cubicBezTo>
                    <a:pt x="19729" y="14509"/>
                    <a:pt x="21600" y="13423"/>
                    <a:pt x="21556" y="10521"/>
                  </a:cubicBezTo>
                  <a:cubicBezTo>
                    <a:pt x="21512" y="7619"/>
                    <a:pt x="18822" y="6942"/>
                    <a:pt x="17537" y="8101"/>
                  </a:cubicBezTo>
                  <a:cubicBezTo>
                    <a:pt x="16582" y="8962"/>
                    <a:pt x="15790" y="9114"/>
                    <a:pt x="15630" y="8309"/>
                  </a:cubicBezTo>
                  <a:cubicBezTo>
                    <a:pt x="15257" y="6427"/>
                    <a:pt x="15266" y="0"/>
                    <a:pt x="15266" y="0"/>
                  </a:cubicBezTo>
                  <a:lnTo>
                    <a:pt x="10428" y="97"/>
                  </a:lnTo>
                  <a:cubicBezTo>
                    <a:pt x="10428" y="97"/>
                    <a:pt x="9511" y="1388"/>
                    <a:pt x="10249" y="2454"/>
                  </a:cubicBezTo>
                  <a:cubicBezTo>
                    <a:pt x="11360" y="4059"/>
                    <a:pt x="10780" y="6532"/>
                    <a:pt x="8483" y="6578"/>
                  </a:cubicBezTo>
                  <a:cubicBezTo>
                    <a:pt x="6187" y="6624"/>
                    <a:pt x="5468" y="4417"/>
                    <a:pt x="6490" y="2673"/>
                  </a:cubicBezTo>
                  <a:cubicBezTo>
                    <a:pt x="7062" y="1695"/>
                    <a:pt x="6320" y="191"/>
                    <a:pt x="6320" y="191"/>
                  </a:cubicBezTo>
                  <a:cubicBezTo>
                    <a:pt x="6320" y="191"/>
                    <a:pt x="0" y="307"/>
                    <a:pt x="0" y="3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6" name="Shape 34202">
              <a:extLst>
                <a:ext uri="{FF2B5EF4-FFF2-40B4-BE49-F238E27FC236}">
                  <a16:creationId xmlns:a16="http://schemas.microsoft.com/office/drawing/2014/main" id="{3627F16C-6922-1C8F-7FFA-A69F5B9480C3}"/>
                </a:ext>
              </a:extLst>
            </p:cNvPr>
            <p:cNvSpPr/>
            <p:nvPr/>
          </p:nvSpPr>
          <p:spPr>
            <a:xfrm>
              <a:off x="11678186" y="10413681"/>
              <a:ext cx="681752" cy="446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0" y="15429"/>
                  </a:moveTo>
                  <a:lnTo>
                    <a:pt x="2700" y="15429"/>
                  </a:lnTo>
                  <a:lnTo>
                    <a:pt x="2700" y="2057"/>
                  </a:lnTo>
                  <a:lnTo>
                    <a:pt x="18900" y="2057"/>
                  </a:lnTo>
                  <a:cubicBezTo>
                    <a:pt x="18900" y="2057"/>
                    <a:pt x="18900" y="15429"/>
                    <a:pt x="18900" y="15429"/>
                  </a:cubicBezTo>
                  <a:close/>
                  <a:moveTo>
                    <a:pt x="18900" y="0"/>
                  </a:moveTo>
                  <a:lnTo>
                    <a:pt x="2700" y="0"/>
                  </a:lnTo>
                  <a:cubicBezTo>
                    <a:pt x="1954" y="0"/>
                    <a:pt x="1350" y="922"/>
                    <a:pt x="1350" y="2057"/>
                  </a:cubicBezTo>
                  <a:cubicBezTo>
                    <a:pt x="1350" y="2057"/>
                    <a:pt x="1350" y="17486"/>
                    <a:pt x="1364" y="17486"/>
                  </a:cubicBezTo>
                  <a:lnTo>
                    <a:pt x="20235" y="17486"/>
                  </a:lnTo>
                  <a:cubicBezTo>
                    <a:pt x="20250" y="17486"/>
                    <a:pt x="20250" y="2057"/>
                    <a:pt x="20250" y="2057"/>
                  </a:cubicBezTo>
                  <a:cubicBezTo>
                    <a:pt x="20250" y="922"/>
                    <a:pt x="19646" y="0"/>
                    <a:pt x="18900" y="0"/>
                  </a:cubicBezTo>
                  <a:close/>
                  <a:moveTo>
                    <a:pt x="20250" y="21600"/>
                  </a:moveTo>
                  <a:lnTo>
                    <a:pt x="1350" y="21600"/>
                  </a:lnTo>
                  <a:cubicBezTo>
                    <a:pt x="604" y="21600"/>
                    <a:pt x="0" y="20679"/>
                    <a:pt x="0" y="19543"/>
                  </a:cubicBezTo>
                  <a:lnTo>
                    <a:pt x="0" y="18514"/>
                  </a:lnTo>
                  <a:lnTo>
                    <a:pt x="8775" y="18514"/>
                  </a:lnTo>
                  <a:lnTo>
                    <a:pt x="8775" y="19543"/>
                  </a:lnTo>
                  <a:lnTo>
                    <a:pt x="12825" y="19543"/>
                  </a:lnTo>
                  <a:lnTo>
                    <a:pt x="12825" y="18514"/>
                  </a:lnTo>
                  <a:lnTo>
                    <a:pt x="21600" y="18514"/>
                  </a:lnTo>
                  <a:lnTo>
                    <a:pt x="21600" y="19543"/>
                  </a:lnTo>
                  <a:cubicBezTo>
                    <a:pt x="21600" y="20679"/>
                    <a:pt x="20995" y="21600"/>
                    <a:pt x="20250" y="21600"/>
                  </a:cubicBezTo>
                  <a:cubicBezTo>
                    <a:pt x="20250" y="21600"/>
                    <a:pt x="20250" y="21600"/>
                    <a:pt x="2025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7" name="Shape 34203">
              <a:extLst>
                <a:ext uri="{FF2B5EF4-FFF2-40B4-BE49-F238E27FC236}">
                  <a16:creationId xmlns:a16="http://schemas.microsoft.com/office/drawing/2014/main" id="{C0A6D04B-B571-CC97-4DA2-9B277FA71F2B}"/>
                </a:ext>
              </a:extLst>
            </p:cNvPr>
            <p:cNvSpPr/>
            <p:nvPr/>
          </p:nvSpPr>
          <p:spPr>
            <a:xfrm>
              <a:off x="13517964" y="3878275"/>
              <a:ext cx="745620" cy="5285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8" name="Shape 34204">
              <a:extLst>
                <a:ext uri="{FF2B5EF4-FFF2-40B4-BE49-F238E27FC236}">
                  <a16:creationId xmlns:a16="http://schemas.microsoft.com/office/drawing/2014/main" id="{B63486CF-8FD4-F19D-BEE7-B03A257609F9}"/>
                </a:ext>
              </a:extLst>
            </p:cNvPr>
            <p:cNvSpPr/>
            <p:nvPr/>
          </p:nvSpPr>
          <p:spPr>
            <a:xfrm>
              <a:off x="10622816" y="11265327"/>
              <a:ext cx="446006" cy="446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957" h="18957" extrusionOk="0">
                  <a:moveTo>
                    <a:pt x="5474" y="890"/>
                  </a:moveTo>
                  <a:cubicBezTo>
                    <a:pt x="729" y="3103"/>
                    <a:pt x="-1322" y="8738"/>
                    <a:pt x="890" y="13482"/>
                  </a:cubicBezTo>
                  <a:cubicBezTo>
                    <a:pt x="3103" y="18227"/>
                    <a:pt x="8738" y="20278"/>
                    <a:pt x="13482" y="18066"/>
                  </a:cubicBezTo>
                  <a:cubicBezTo>
                    <a:pt x="18227" y="15853"/>
                    <a:pt x="20278" y="10218"/>
                    <a:pt x="18066" y="5474"/>
                  </a:cubicBezTo>
                  <a:cubicBezTo>
                    <a:pt x="15853" y="729"/>
                    <a:pt x="10218" y="-1322"/>
                    <a:pt x="5474" y="890"/>
                  </a:cubicBezTo>
                  <a:close/>
                  <a:moveTo>
                    <a:pt x="6178" y="2402"/>
                  </a:moveTo>
                  <a:cubicBezTo>
                    <a:pt x="6348" y="2323"/>
                    <a:pt x="6545" y="2302"/>
                    <a:pt x="6734" y="2371"/>
                  </a:cubicBezTo>
                  <a:cubicBezTo>
                    <a:pt x="7112" y="2509"/>
                    <a:pt x="7308" y="2929"/>
                    <a:pt x="7170" y="3307"/>
                  </a:cubicBezTo>
                  <a:cubicBezTo>
                    <a:pt x="7033" y="3685"/>
                    <a:pt x="6612" y="3882"/>
                    <a:pt x="6234" y="3744"/>
                  </a:cubicBezTo>
                  <a:cubicBezTo>
                    <a:pt x="5856" y="3606"/>
                    <a:pt x="5660" y="3186"/>
                    <a:pt x="5798" y="2808"/>
                  </a:cubicBezTo>
                  <a:cubicBezTo>
                    <a:pt x="5866" y="2618"/>
                    <a:pt x="6009" y="2481"/>
                    <a:pt x="6178" y="2402"/>
                  </a:cubicBezTo>
                  <a:close/>
                  <a:moveTo>
                    <a:pt x="7039" y="4248"/>
                  </a:moveTo>
                  <a:cubicBezTo>
                    <a:pt x="7237" y="4156"/>
                    <a:pt x="7476" y="4242"/>
                    <a:pt x="7569" y="4441"/>
                  </a:cubicBezTo>
                  <a:lnTo>
                    <a:pt x="9434" y="8440"/>
                  </a:lnTo>
                  <a:cubicBezTo>
                    <a:pt x="9580" y="8433"/>
                    <a:pt x="9718" y="8366"/>
                    <a:pt x="9863" y="8419"/>
                  </a:cubicBezTo>
                  <a:cubicBezTo>
                    <a:pt x="10010" y="8472"/>
                    <a:pt x="10085" y="8605"/>
                    <a:pt x="10192" y="8705"/>
                  </a:cubicBezTo>
                  <a:lnTo>
                    <a:pt x="13175" y="7314"/>
                  </a:lnTo>
                  <a:cubicBezTo>
                    <a:pt x="13373" y="7222"/>
                    <a:pt x="13612" y="7309"/>
                    <a:pt x="13705" y="7507"/>
                  </a:cubicBezTo>
                  <a:cubicBezTo>
                    <a:pt x="13797" y="7705"/>
                    <a:pt x="13710" y="7944"/>
                    <a:pt x="13512" y="8037"/>
                  </a:cubicBezTo>
                  <a:lnTo>
                    <a:pt x="10529" y="9427"/>
                  </a:lnTo>
                  <a:cubicBezTo>
                    <a:pt x="10537" y="9574"/>
                    <a:pt x="10591" y="9717"/>
                    <a:pt x="10537" y="9863"/>
                  </a:cubicBezTo>
                  <a:cubicBezTo>
                    <a:pt x="10325" y="10447"/>
                    <a:pt x="9676" y="10750"/>
                    <a:pt x="9092" y="10537"/>
                  </a:cubicBezTo>
                  <a:cubicBezTo>
                    <a:pt x="8509" y="10325"/>
                    <a:pt x="8206" y="9676"/>
                    <a:pt x="8419" y="9092"/>
                  </a:cubicBezTo>
                  <a:cubicBezTo>
                    <a:pt x="8474" y="8942"/>
                    <a:pt x="8621" y="8880"/>
                    <a:pt x="8725" y="8771"/>
                  </a:cubicBezTo>
                  <a:lnTo>
                    <a:pt x="6860" y="4771"/>
                  </a:lnTo>
                  <a:cubicBezTo>
                    <a:pt x="6767" y="4573"/>
                    <a:pt x="6841" y="4340"/>
                    <a:pt x="7039" y="4248"/>
                  </a:cubicBezTo>
                  <a:close/>
                  <a:moveTo>
                    <a:pt x="2738" y="11823"/>
                  </a:moveTo>
                  <a:cubicBezTo>
                    <a:pt x="2908" y="11744"/>
                    <a:pt x="3105" y="11723"/>
                    <a:pt x="3294" y="11792"/>
                  </a:cubicBezTo>
                  <a:cubicBezTo>
                    <a:pt x="3672" y="11930"/>
                    <a:pt x="3868" y="12350"/>
                    <a:pt x="3730" y="12728"/>
                  </a:cubicBezTo>
                  <a:cubicBezTo>
                    <a:pt x="3593" y="13106"/>
                    <a:pt x="3172" y="13302"/>
                    <a:pt x="2794" y="13165"/>
                  </a:cubicBezTo>
                  <a:cubicBezTo>
                    <a:pt x="2416" y="13027"/>
                    <a:pt x="2220" y="12607"/>
                    <a:pt x="2358" y="12228"/>
                  </a:cubicBezTo>
                  <a:cubicBezTo>
                    <a:pt x="2426" y="12039"/>
                    <a:pt x="2569" y="11902"/>
                    <a:pt x="2738" y="11823"/>
                  </a:cubicBezTo>
                  <a:close/>
                  <a:moveTo>
                    <a:pt x="15620" y="5816"/>
                  </a:moveTo>
                  <a:cubicBezTo>
                    <a:pt x="15789" y="5737"/>
                    <a:pt x="15973" y="5722"/>
                    <a:pt x="16162" y="5791"/>
                  </a:cubicBezTo>
                  <a:cubicBezTo>
                    <a:pt x="16540" y="5929"/>
                    <a:pt x="16736" y="6349"/>
                    <a:pt x="16598" y="6728"/>
                  </a:cubicBezTo>
                  <a:cubicBezTo>
                    <a:pt x="16461" y="7106"/>
                    <a:pt x="16054" y="7296"/>
                    <a:pt x="15675" y="7158"/>
                  </a:cubicBezTo>
                  <a:cubicBezTo>
                    <a:pt x="15297" y="7020"/>
                    <a:pt x="15101" y="6600"/>
                    <a:pt x="15239" y="6222"/>
                  </a:cubicBezTo>
                  <a:cubicBezTo>
                    <a:pt x="15308" y="6033"/>
                    <a:pt x="15451" y="5895"/>
                    <a:pt x="15620" y="5816"/>
                  </a:cubicBezTo>
                  <a:close/>
                  <a:moveTo>
                    <a:pt x="12166" y="15243"/>
                  </a:moveTo>
                  <a:cubicBezTo>
                    <a:pt x="12335" y="15164"/>
                    <a:pt x="12533" y="15143"/>
                    <a:pt x="12722" y="15212"/>
                  </a:cubicBezTo>
                  <a:cubicBezTo>
                    <a:pt x="13100" y="15350"/>
                    <a:pt x="13296" y="15770"/>
                    <a:pt x="13158" y="16148"/>
                  </a:cubicBezTo>
                  <a:cubicBezTo>
                    <a:pt x="13021" y="16526"/>
                    <a:pt x="12600" y="16723"/>
                    <a:pt x="12222" y="16585"/>
                  </a:cubicBezTo>
                  <a:cubicBezTo>
                    <a:pt x="11844" y="16447"/>
                    <a:pt x="11648" y="16027"/>
                    <a:pt x="11785" y="15649"/>
                  </a:cubicBezTo>
                  <a:cubicBezTo>
                    <a:pt x="11854" y="15460"/>
                    <a:pt x="11997" y="15322"/>
                    <a:pt x="12166" y="1524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39" name="Shape 34205">
              <a:extLst>
                <a:ext uri="{FF2B5EF4-FFF2-40B4-BE49-F238E27FC236}">
                  <a16:creationId xmlns:a16="http://schemas.microsoft.com/office/drawing/2014/main" id="{9B6154D4-4161-7162-8EA2-5A7C854A42F3}"/>
                </a:ext>
              </a:extLst>
            </p:cNvPr>
            <p:cNvSpPr/>
            <p:nvPr/>
          </p:nvSpPr>
          <p:spPr>
            <a:xfrm>
              <a:off x="11074336" y="12293991"/>
              <a:ext cx="529370" cy="550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7" h="21369" extrusionOk="0">
                  <a:moveTo>
                    <a:pt x="9892" y="341"/>
                  </a:moveTo>
                  <a:cubicBezTo>
                    <a:pt x="10333" y="-98"/>
                    <a:pt x="11063" y="-117"/>
                    <a:pt x="11519" y="307"/>
                  </a:cubicBezTo>
                  <a:lnTo>
                    <a:pt x="21020" y="9136"/>
                  </a:lnTo>
                  <a:cubicBezTo>
                    <a:pt x="21476" y="9561"/>
                    <a:pt x="21482" y="10263"/>
                    <a:pt x="21042" y="10702"/>
                  </a:cubicBezTo>
                  <a:lnTo>
                    <a:pt x="10676" y="21032"/>
                  </a:lnTo>
                  <a:cubicBezTo>
                    <a:pt x="10236" y="21471"/>
                    <a:pt x="9512" y="21483"/>
                    <a:pt x="9056" y="21059"/>
                  </a:cubicBezTo>
                  <a:lnTo>
                    <a:pt x="6577" y="18755"/>
                  </a:lnTo>
                  <a:lnTo>
                    <a:pt x="9366" y="15976"/>
                  </a:lnTo>
                  <a:cubicBezTo>
                    <a:pt x="9806" y="15537"/>
                    <a:pt x="9793" y="14841"/>
                    <a:pt x="9337" y="14417"/>
                  </a:cubicBezTo>
                  <a:lnTo>
                    <a:pt x="7682" y="12879"/>
                  </a:lnTo>
                  <a:cubicBezTo>
                    <a:pt x="7226" y="12455"/>
                    <a:pt x="6503" y="12467"/>
                    <a:pt x="6062" y="12906"/>
                  </a:cubicBezTo>
                  <a:lnTo>
                    <a:pt x="3274" y="15685"/>
                  </a:lnTo>
                  <a:lnTo>
                    <a:pt x="1210" y="13767"/>
                  </a:lnTo>
                  <a:cubicBezTo>
                    <a:pt x="754" y="13343"/>
                    <a:pt x="734" y="12641"/>
                    <a:pt x="1175" y="12202"/>
                  </a:cubicBezTo>
                  <a:lnTo>
                    <a:pt x="351" y="11436"/>
                  </a:lnTo>
                  <a:cubicBezTo>
                    <a:pt x="-105" y="11012"/>
                    <a:pt x="-118" y="10316"/>
                    <a:pt x="322" y="9877"/>
                  </a:cubicBezTo>
                  <a:lnTo>
                    <a:pt x="9892" y="341"/>
                  </a:lnTo>
                  <a:close/>
                  <a:moveTo>
                    <a:pt x="10322" y="1500"/>
                  </a:moveTo>
                  <a:lnTo>
                    <a:pt x="1949" y="9844"/>
                  </a:lnTo>
                  <a:cubicBezTo>
                    <a:pt x="1949" y="9844"/>
                    <a:pt x="1145" y="10641"/>
                    <a:pt x="1971" y="11409"/>
                  </a:cubicBezTo>
                  <a:lnTo>
                    <a:pt x="11146" y="2266"/>
                  </a:lnTo>
                  <a:cubicBezTo>
                    <a:pt x="11366" y="2046"/>
                    <a:pt x="11360" y="1705"/>
                    <a:pt x="11132" y="1492"/>
                  </a:cubicBezTo>
                  <a:cubicBezTo>
                    <a:pt x="10904" y="1281"/>
                    <a:pt x="10542" y="1280"/>
                    <a:pt x="10322" y="1500"/>
                  </a:cubicBezTo>
                  <a:close/>
                  <a:moveTo>
                    <a:pt x="6083" y="13685"/>
                  </a:moveTo>
                  <a:cubicBezTo>
                    <a:pt x="6523" y="13247"/>
                    <a:pt x="7247" y="13234"/>
                    <a:pt x="7703" y="13658"/>
                  </a:cubicBezTo>
                  <a:lnTo>
                    <a:pt x="8527" y="14424"/>
                  </a:lnTo>
                  <a:cubicBezTo>
                    <a:pt x="8983" y="14848"/>
                    <a:pt x="8996" y="15544"/>
                    <a:pt x="8555" y="15983"/>
                  </a:cubicBezTo>
                  <a:lnTo>
                    <a:pt x="6161" y="18369"/>
                  </a:lnTo>
                  <a:cubicBezTo>
                    <a:pt x="5721" y="18808"/>
                    <a:pt x="4991" y="18826"/>
                    <a:pt x="4535" y="18403"/>
                  </a:cubicBezTo>
                  <a:lnTo>
                    <a:pt x="3711" y="17637"/>
                  </a:lnTo>
                  <a:cubicBezTo>
                    <a:pt x="3254" y="17213"/>
                    <a:pt x="3249" y="16510"/>
                    <a:pt x="3689" y="16071"/>
                  </a:cubicBezTo>
                  <a:lnTo>
                    <a:pt x="6083" y="13685"/>
                  </a:lnTo>
                  <a:close/>
                  <a:moveTo>
                    <a:pt x="6506" y="14851"/>
                  </a:moveTo>
                  <a:cubicBezTo>
                    <a:pt x="6286" y="15071"/>
                    <a:pt x="6285" y="15419"/>
                    <a:pt x="6514" y="15631"/>
                  </a:cubicBezTo>
                  <a:cubicBezTo>
                    <a:pt x="6742" y="15843"/>
                    <a:pt x="7110" y="15837"/>
                    <a:pt x="7330" y="15617"/>
                  </a:cubicBezTo>
                  <a:cubicBezTo>
                    <a:pt x="7550" y="15398"/>
                    <a:pt x="7544" y="15043"/>
                    <a:pt x="7316" y="14831"/>
                  </a:cubicBezTo>
                  <a:cubicBezTo>
                    <a:pt x="7088" y="14619"/>
                    <a:pt x="6726" y="14632"/>
                    <a:pt x="6506" y="148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0" name="Shape 34206">
              <a:extLst>
                <a:ext uri="{FF2B5EF4-FFF2-40B4-BE49-F238E27FC236}">
                  <a16:creationId xmlns:a16="http://schemas.microsoft.com/office/drawing/2014/main" id="{4817CE05-AE16-2CD7-A719-FF48D57D7109}"/>
                </a:ext>
              </a:extLst>
            </p:cNvPr>
            <p:cNvSpPr/>
            <p:nvPr/>
          </p:nvSpPr>
          <p:spPr>
            <a:xfrm>
              <a:off x="10836598" y="8678073"/>
              <a:ext cx="776072" cy="4596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8" h="21311" extrusionOk="0">
                  <a:moveTo>
                    <a:pt x="3736" y="4687"/>
                  </a:moveTo>
                  <a:lnTo>
                    <a:pt x="4986" y="19624"/>
                  </a:lnTo>
                  <a:lnTo>
                    <a:pt x="17693" y="16625"/>
                  </a:lnTo>
                  <a:lnTo>
                    <a:pt x="16443" y="1688"/>
                  </a:lnTo>
                  <a:cubicBezTo>
                    <a:pt x="16443" y="1688"/>
                    <a:pt x="3736" y="4687"/>
                    <a:pt x="3736" y="4687"/>
                  </a:cubicBezTo>
                  <a:close/>
                  <a:moveTo>
                    <a:pt x="2231" y="9938"/>
                  </a:moveTo>
                  <a:lnTo>
                    <a:pt x="2678" y="15273"/>
                  </a:lnTo>
                  <a:cubicBezTo>
                    <a:pt x="2702" y="15567"/>
                    <a:pt x="2864" y="15772"/>
                    <a:pt x="3040" y="15731"/>
                  </a:cubicBezTo>
                  <a:cubicBezTo>
                    <a:pt x="3215" y="15690"/>
                    <a:pt x="3338" y="15417"/>
                    <a:pt x="3313" y="15123"/>
                  </a:cubicBezTo>
                  <a:lnTo>
                    <a:pt x="2867" y="9788"/>
                  </a:lnTo>
                  <a:cubicBezTo>
                    <a:pt x="2842" y="9494"/>
                    <a:pt x="2680" y="9288"/>
                    <a:pt x="2504" y="9330"/>
                  </a:cubicBezTo>
                  <a:cubicBezTo>
                    <a:pt x="2329" y="9371"/>
                    <a:pt x="2207" y="9644"/>
                    <a:pt x="2231" y="9938"/>
                  </a:cubicBezTo>
                  <a:close/>
                  <a:moveTo>
                    <a:pt x="19564" y="8023"/>
                  </a:moveTo>
                  <a:cubicBezTo>
                    <a:pt x="19490" y="7140"/>
                    <a:pt x="19004" y="6524"/>
                    <a:pt x="18477" y="6648"/>
                  </a:cubicBezTo>
                  <a:cubicBezTo>
                    <a:pt x="17951" y="6772"/>
                    <a:pt x="17584" y="7590"/>
                    <a:pt x="17658" y="8473"/>
                  </a:cubicBezTo>
                  <a:cubicBezTo>
                    <a:pt x="17732" y="9357"/>
                    <a:pt x="18219" y="9973"/>
                    <a:pt x="18745" y="9849"/>
                  </a:cubicBezTo>
                  <a:cubicBezTo>
                    <a:pt x="19272" y="9724"/>
                    <a:pt x="19638" y="8907"/>
                    <a:pt x="19564" y="8023"/>
                  </a:cubicBezTo>
                  <a:close/>
                  <a:moveTo>
                    <a:pt x="20344" y="1856"/>
                  </a:moveTo>
                  <a:lnTo>
                    <a:pt x="21415" y="14658"/>
                  </a:lnTo>
                  <a:cubicBezTo>
                    <a:pt x="21514" y="15837"/>
                    <a:pt x="21025" y="16926"/>
                    <a:pt x="20323" y="17092"/>
                  </a:cubicBezTo>
                  <a:lnTo>
                    <a:pt x="2533" y="21290"/>
                  </a:lnTo>
                  <a:cubicBezTo>
                    <a:pt x="1832" y="21456"/>
                    <a:pt x="1183" y="20635"/>
                    <a:pt x="1084" y="19456"/>
                  </a:cubicBezTo>
                  <a:lnTo>
                    <a:pt x="13" y="6654"/>
                  </a:lnTo>
                  <a:cubicBezTo>
                    <a:pt x="-86" y="5475"/>
                    <a:pt x="403" y="4386"/>
                    <a:pt x="1105" y="4220"/>
                  </a:cubicBezTo>
                  <a:lnTo>
                    <a:pt x="18895" y="22"/>
                  </a:lnTo>
                  <a:cubicBezTo>
                    <a:pt x="19596" y="-144"/>
                    <a:pt x="20245" y="677"/>
                    <a:pt x="20344" y="185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1" name="Shape 34207">
              <a:extLst>
                <a:ext uri="{FF2B5EF4-FFF2-40B4-BE49-F238E27FC236}">
                  <a16:creationId xmlns:a16="http://schemas.microsoft.com/office/drawing/2014/main" id="{9C0589CC-1AA8-EC0E-98E1-6EEF8B13A41E}"/>
                </a:ext>
              </a:extLst>
            </p:cNvPr>
            <p:cNvSpPr/>
            <p:nvPr/>
          </p:nvSpPr>
          <p:spPr>
            <a:xfrm>
              <a:off x="12300451" y="8958670"/>
              <a:ext cx="694132" cy="6377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91" h="21254" extrusionOk="0">
                  <a:moveTo>
                    <a:pt x="14806" y="20802"/>
                  </a:moveTo>
                  <a:cubicBezTo>
                    <a:pt x="16771" y="20078"/>
                    <a:pt x="18497" y="18506"/>
                    <a:pt x="19509" y="16252"/>
                  </a:cubicBezTo>
                  <a:cubicBezTo>
                    <a:pt x="21534" y="11744"/>
                    <a:pt x="19954" y="6226"/>
                    <a:pt x="15980" y="3929"/>
                  </a:cubicBezTo>
                  <a:cubicBezTo>
                    <a:pt x="12750" y="2062"/>
                    <a:pt x="8929" y="2896"/>
                    <a:pt x="6525" y="5695"/>
                  </a:cubicBezTo>
                  <a:cubicBezTo>
                    <a:pt x="6494" y="5619"/>
                    <a:pt x="6446" y="5549"/>
                    <a:pt x="6387" y="5489"/>
                  </a:cubicBezTo>
                  <a:lnTo>
                    <a:pt x="1181" y="167"/>
                  </a:lnTo>
                  <a:cubicBezTo>
                    <a:pt x="946" y="-73"/>
                    <a:pt x="582" y="-53"/>
                    <a:pt x="370" y="214"/>
                  </a:cubicBezTo>
                  <a:lnTo>
                    <a:pt x="146" y="499"/>
                  </a:lnTo>
                  <a:cubicBezTo>
                    <a:pt x="-66" y="765"/>
                    <a:pt x="-44" y="1177"/>
                    <a:pt x="192" y="1417"/>
                  </a:cubicBezTo>
                  <a:lnTo>
                    <a:pt x="5396" y="6733"/>
                  </a:lnTo>
                  <a:cubicBezTo>
                    <a:pt x="5480" y="6818"/>
                    <a:pt x="5581" y="6859"/>
                    <a:pt x="5685" y="6879"/>
                  </a:cubicBezTo>
                  <a:cubicBezTo>
                    <a:pt x="5480" y="7214"/>
                    <a:pt x="5286" y="7560"/>
                    <a:pt x="5118" y="7933"/>
                  </a:cubicBezTo>
                  <a:cubicBezTo>
                    <a:pt x="3093" y="12441"/>
                    <a:pt x="4673" y="17959"/>
                    <a:pt x="8647" y="20256"/>
                  </a:cubicBezTo>
                  <a:cubicBezTo>
                    <a:pt x="10634" y="21405"/>
                    <a:pt x="12840" y="21527"/>
                    <a:pt x="14806" y="20802"/>
                  </a:cubicBezTo>
                  <a:close/>
                  <a:moveTo>
                    <a:pt x="14414" y="19435"/>
                  </a:moveTo>
                  <a:cubicBezTo>
                    <a:pt x="12758" y="20045"/>
                    <a:pt x="10896" y="19937"/>
                    <a:pt x="9221" y="18969"/>
                  </a:cubicBezTo>
                  <a:cubicBezTo>
                    <a:pt x="5873" y="17034"/>
                    <a:pt x="4542" y="12385"/>
                    <a:pt x="6248" y="8586"/>
                  </a:cubicBezTo>
                  <a:cubicBezTo>
                    <a:pt x="7954" y="4788"/>
                    <a:pt x="12052" y="3277"/>
                    <a:pt x="15400" y="5212"/>
                  </a:cubicBezTo>
                  <a:cubicBezTo>
                    <a:pt x="18748" y="7148"/>
                    <a:pt x="20080" y="11797"/>
                    <a:pt x="18374" y="15596"/>
                  </a:cubicBezTo>
                  <a:cubicBezTo>
                    <a:pt x="17521" y="17495"/>
                    <a:pt x="16070" y="18824"/>
                    <a:pt x="14414" y="1943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2" name="Shape 34208">
              <a:extLst>
                <a:ext uri="{FF2B5EF4-FFF2-40B4-BE49-F238E27FC236}">
                  <a16:creationId xmlns:a16="http://schemas.microsoft.com/office/drawing/2014/main" id="{2B002F80-8F42-1F8C-9D53-E0E308DF3F05}"/>
                </a:ext>
              </a:extLst>
            </p:cNvPr>
            <p:cNvSpPr/>
            <p:nvPr/>
          </p:nvSpPr>
          <p:spPr>
            <a:xfrm>
              <a:off x="11569660" y="9038623"/>
              <a:ext cx="297614" cy="3294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3" name="Shape 34209">
              <a:extLst>
                <a:ext uri="{FF2B5EF4-FFF2-40B4-BE49-F238E27FC236}">
                  <a16:creationId xmlns:a16="http://schemas.microsoft.com/office/drawing/2014/main" id="{E04824C3-FDEF-BB7D-0D7D-4B2DEBD11EDA}"/>
                </a:ext>
              </a:extLst>
            </p:cNvPr>
            <p:cNvSpPr/>
            <p:nvPr/>
          </p:nvSpPr>
          <p:spPr>
            <a:xfrm>
              <a:off x="13028438" y="8411802"/>
              <a:ext cx="415194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307" y="15970"/>
                  </a:lnTo>
                  <a:lnTo>
                    <a:pt x="6112" y="19464"/>
                  </a:lnTo>
                  <a:cubicBezTo>
                    <a:pt x="6112" y="19464"/>
                    <a:pt x="0" y="21600"/>
                    <a:pt x="0" y="21600"/>
                  </a:cubicBezTo>
                  <a:close/>
                  <a:moveTo>
                    <a:pt x="6773" y="18782"/>
                  </a:moveTo>
                  <a:lnTo>
                    <a:pt x="1968" y="15288"/>
                  </a:lnTo>
                  <a:lnTo>
                    <a:pt x="13737" y="3150"/>
                  </a:lnTo>
                  <a:lnTo>
                    <a:pt x="18545" y="6642"/>
                  </a:lnTo>
                  <a:cubicBezTo>
                    <a:pt x="18545" y="6642"/>
                    <a:pt x="6773" y="18782"/>
                    <a:pt x="6773" y="18782"/>
                  </a:cubicBezTo>
                  <a:close/>
                  <a:moveTo>
                    <a:pt x="19218" y="5946"/>
                  </a:moveTo>
                  <a:lnTo>
                    <a:pt x="14411" y="2455"/>
                  </a:lnTo>
                  <a:lnTo>
                    <a:pt x="16792" y="0"/>
                  </a:lnTo>
                  <a:lnTo>
                    <a:pt x="21600" y="3492"/>
                  </a:lnTo>
                  <a:cubicBezTo>
                    <a:pt x="21600" y="3492"/>
                    <a:pt x="19218" y="5946"/>
                    <a:pt x="19218" y="594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4" name="Shape 34210">
              <a:extLst>
                <a:ext uri="{FF2B5EF4-FFF2-40B4-BE49-F238E27FC236}">
                  <a16:creationId xmlns:a16="http://schemas.microsoft.com/office/drawing/2014/main" id="{60A3E3D8-357B-9865-5ED6-C9C8DD99A5EB}"/>
                </a:ext>
              </a:extLst>
            </p:cNvPr>
            <p:cNvSpPr/>
            <p:nvPr/>
          </p:nvSpPr>
          <p:spPr>
            <a:xfrm>
              <a:off x="9694005" y="5957329"/>
              <a:ext cx="37726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4" h="21600" extrusionOk="0">
                  <a:moveTo>
                    <a:pt x="0" y="3459"/>
                  </a:moveTo>
                  <a:lnTo>
                    <a:pt x="1422" y="10208"/>
                  </a:lnTo>
                  <a:cubicBezTo>
                    <a:pt x="1422" y="10208"/>
                    <a:pt x="2469" y="10982"/>
                    <a:pt x="3219" y="10113"/>
                  </a:cubicBezTo>
                  <a:cubicBezTo>
                    <a:pt x="4049" y="9149"/>
                    <a:pt x="6494" y="8518"/>
                    <a:pt x="6992" y="11134"/>
                  </a:cubicBezTo>
                  <a:cubicBezTo>
                    <a:pt x="7491" y="13750"/>
                    <a:pt x="5522" y="14362"/>
                    <a:pt x="4296" y="14027"/>
                  </a:cubicBezTo>
                  <a:cubicBezTo>
                    <a:pt x="3187" y="13725"/>
                    <a:pt x="2357" y="14641"/>
                    <a:pt x="2357" y="14641"/>
                  </a:cubicBezTo>
                  <a:lnTo>
                    <a:pt x="3823" y="21600"/>
                  </a:lnTo>
                  <a:lnTo>
                    <a:pt x="9313" y="20212"/>
                  </a:lnTo>
                  <a:cubicBezTo>
                    <a:pt x="9313" y="20212"/>
                    <a:pt x="9635" y="19276"/>
                    <a:pt x="8958" y="18523"/>
                  </a:cubicBezTo>
                  <a:cubicBezTo>
                    <a:pt x="8134" y="17611"/>
                    <a:pt x="7558" y="15210"/>
                    <a:pt x="10150" y="14555"/>
                  </a:cubicBezTo>
                  <a:cubicBezTo>
                    <a:pt x="12743" y="13899"/>
                    <a:pt x="13216" y="16255"/>
                    <a:pt x="12736" y="17679"/>
                  </a:cubicBezTo>
                  <a:cubicBezTo>
                    <a:pt x="12378" y="18747"/>
                    <a:pt x="13070" y="19262"/>
                    <a:pt x="13070" y="19262"/>
                  </a:cubicBezTo>
                  <a:lnTo>
                    <a:pt x="17693" y="18092"/>
                  </a:lnTo>
                  <a:cubicBezTo>
                    <a:pt x="17693" y="18092"/>
                    <a:pt x="16501" y="13146"/>
                    <a:pt x="16426" y="11786"/>
                  </a:cubicBezTo>
                  <a:cubicBezTo>
                    <a:pt x="16346" y="10328"/>
                    <a:pt x="18026" y="10919"/>
                    <a:pt x="18332" y="11000"/>
                  </a:cubicBezTo>
                  <a:cubicBezTo>
                    <a:pt x="20097" y="11473"/>
                    <a:pt x="21600" y="10153"/>
                    <a:pt x="21079" y="7680"/>
                  </a:cubicBezTo>
                  <a:cubicBezTo>
                    <a:pt x="20558" y="5208"/>
                    <a:pt x="18027" y="5192"/>
                    <a:pt x="17063" y="6452"/>
                  </a:cubicBezTo>
                  <a:cubicBezTo>
                    <a:pt x="16347" y="7388"/>
                    <a:pt x="15661" y="7684"/>
                    <a:pt x="15383" y="7029"/>
                  </a:cubicBezTo>
                  <a:cubicBezTo>
                    <a:pt x="14735" y="5498"/>
                    <a:pt x="13677" y="0"/>
                    <a:pt x="13677" y="0"/>
                  </a:cubicBezTo>
                  <a:lnTo>
                    <a:pt x="9343" y="1096"/>
                  </a:lnTo>
                  <a:cubicBezTo>
                    <a:pt x="9343" y="1096"/>
                    <a:pt x="8732" y="2392"/>
                    <a:pt x="9572" y="3149"/>
                  </a:cubicBezTo>
                  <a:cubicBezTo>
                    <a:pt x="10838" y="4289"/>
                    <a:pt x="10727" y="6525"/>
                    <a:pt x="8669" y="7045"/>
                  </a:cubicBezTo>
                  <a:cubicBezTo>
                    <a:pt x="6612" y="7566"/>
                    <a:pt x="5599" y="5828"/>
                    <a:pt x="6228" y="4123"/>
                  </a:cubicBezTo>
                  <a:cubicBezTo>
                    <a:pt x="6581" y="3168"/>
                    <a:pt x="5664" y="2036"/>
                    <a:pt x="5664" y="2036"/>
                  </a:cubicBezTo>
                  <a:cubicBezTo>
                    <a:pt x="5664" y="2036"/>
                    <a:pt x="0" y="3459"/>
                    <a:pt x="0" y="34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5" name="Shape 34211">
              <a:extLst>
                <a:ext uri="{FF2B5EF4-FFF2-40B4-BE49-F238E27FC236}">
                  <a16:creationId xmlns:a16="http://schemas.microsoft.com/office/drawing/2014/main" id="{76DFA2CB-312D-1730-47C1-A020896FA28B}"/>
                </a:ext>
              </a:extLst>
            </p:cNvPr>
            <p:cNvSpPr/>
            <p:nvPr/>
          </p:nvSpPr>
          <p:spPr>
            <a:xfrm>
              <a:off x="10312910" y="3971892"/>
              <a:ext cx="478390" cy="6840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6" name="Shape 34212">
              <a:extLst>
                <a:ext uri="{FF2B5EF4-FFF2-40B4-BE49-F238E27FC236}">
                  <a16:creationId xmlns:a16="http://schemas.microsoft.com/office/drawing/2014/main" id="{36B98C3B-D0DC-9180-4848-8BA8BF1F5BD6}"/>
                </a:ext>
              </a:extLst>
            </p:cNvPr>
            <p:cNvSpPr/>
            <p:nvPr/>
          </p:nvSpPr>
          <p:spPr>
            <a:xfrm>
              <a:off x="9175496" y="3615262"/>
              <a:ext cx="674788" cy="4783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7" name="Shape 34213">
              <a:extLst>
                <a:ext uri="{FF2B5EF4-FFF2-40B4-BE49-F238E27FC236}">
                  <a16:creationId xmlns:a16="http://schemas.microsoft.com/office/drawing/2014/main" id="{B2A1DF19-68C4-B39F-A4E7-2413452CD571}"/>
                </a:ext>
              </a:extLst>
            </p:cNvPr>
            <p:cNvSpPr/>
            <p:nvPr/>
          </p:nvSpPr>
          <p:spPr>
            <a:xfrm>
              <a:off x="14822081" y="4439957"/>
              <a:ext cx="756136" cy="659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94" y="3457"/>
                  </a:moveTo>
                  <a:lnTo>
                    <a:pt x="148" y="16086"/>
                  </a:lnTo>
                  <a:lnTo>
                    <a:pt x="0" y="16165"/>
                  </a:lnTo>
                  <a:lnTo>
                    <a:pt x="1008" y="21600"/>
                  </a:lnTo>
                  <a:lnTo>
                    <a:pt x="10415" y="19280"/>
                  </a:lnTo>
                  <a:lnTo>
                    <a:pt x="10816" y="21443"/>
                  </a:lnTo>
                  <a:lnTo>
                    <a:pt x="12402" y="20369"/>
                  </a:lnTo>
                  <a:lnTo>
                    <a:pt x="14220" y="20613"/>
                  </a:lnTo>
                  <a:lnTo>
                    <a:pt x="13819" y="18450"/>
                  </a:lnTo>
                  <a:lnTo>
                    <a:pt x="17113" y="17634"/>
                  </a:lnTo>
                  <a:lnTo>
                    <a:pt x="17471" y="17546"/>
                  </a:lnTo>
                  <a:lnTo>
                    <a:pt x="21600" y="5952"/>
                  </a:lnTo>
                  <a:lnTo>
                    <a:pt x="20486" y="14"/>
                  </a:lnTo>
                  <a:cubicBezTo>
                    <a:pt x="20486" y="14"/>
                    <a:pt x="20484" y="0"/>
                    <a:pt x="20484" y="0"/>
                  </a:cubicBezTo>
                  <a:lnTo>
                    <a:pt x="6294" y="3457"/>
                  </a:lnTo>
                  <a:close/>
                  <a:moveTo>
                    <a:pt x="19860" y="1754"/>
                  </a:moveTo>
                  <a:cubicBezTo>
                    <a:pt x="19941" y="2188"/>
                    <a:pt x="20020" y="2621"/>
                    <a:pt x="20101" y="3055"/>
                  </a:cubicBezTo>
                  <a:cubicBezTo>
                    <a:pt x="20278" y="3996"/>
                    <a:pt x="20448" y="4934"/>
                    <a:pt x="20624" y="5875"/>
                  </a:cubicBezTo>
                  <a:lnTo>
                    <a:pt x="16762" y="16617"/>
                  </a:lnTo>
                  <a:lnTo>
                    <a:pt x="13623" y="17396"/>
                  </a:lnTo>
                  <a:lnTo>
                    <a:pt x="13219" y="15220"/>
                  </a:lnTo>
                  <a:cubicBezTo>
                    <a:pt x="13219" y="15220"/>
                    <a:pt x="9815" y="16049"/>
                    <a:pt x="9815" y="16049"/>
                  </a:cubicBezTo>
                  <a:lnTo>
                    <a:pt x="10222" y="18239"/>
                  </a:lnTo>
                  <a:lnTo>
                    <a:pt x="1723" y="20338"/>
                  </a:lnTo>
                  <a:lnTo>
                    <a:pt x="908" y="15944"/>
                  </a:lnTo>
                  <a:lnTo>
                    <a:pt x="16076" y="12248"/>
                  </a:lnTo>
                  <a:cubicBezTo>
                    <a:pt x="16076" y="12249"/>
                    <a:pt x="18931" y="4332"/>
                    <a:pt x="19860" y="1754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8" name="Shape 34214">
              <a:extLst>
                <a:ext uri="{FF2B5EF4-FFF2-40B4-BE49-F238E27FC236}">
                  <a16:creationId xmlns:a16="http://schemas.microsoft.com/office/drawing/2014/main" id="{C07477F5-13C2-0059-175D-4F8386F20BBA}"/>
                </a:ext>
              </a:extLst>
            </p:cNvPr>
            <p:cNvSpPr/>
            <p:nvPr/>
          </p:nvSpPr>
          <p:spPr>
            <a:xfrm>
              <a:off x="12406836" y="10620127"/>
              <a:ext cx="516758" cy="572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49" name="Shape 34215">
              <a:extLst>
                <a:ext uri="{FF2B5EF4-FFF2-40B4-BE49-F238E27FC236}">
                  <a16:creationId xmlns:a16="http://schemas.microsoft.com/office/drawing/2014/main" id="{BF6C8EC1-4101-C1F3-59E6-2E204FC0CA32}"/>
                </a:ext>
              </a:extLst>
            </p:cNvPr>
            <p:cNvSpPr/>
            <p:nvPr/>
          </p:nvSpPr>
          <p:spPr>
            <a:xfrm>
              <a:off x="15192453" y="5780593"/>
              <a:ext cx="475406" cy="4754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4116" tIns="24116" rIns="24116" bIns="24116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0" name="Shape 34216">
              <a:extLst>
                <a:ext uri="{FF2B5EF4-FFF2-40B4-BE49-F238E27FC236}">
                  <a16:creationId xmlns:a16="http://schemas.microsoft.com/office/drawing/2014/main" id="{22BE5295-7E6B-EBE3-6379-0FE69A700146}"/>
                </a:ext>
              </a:extLst>
            </p:cNvPr>
            <p:cNvSpPr/>
            <p:nvPr/>
          </p:nvSpPr>
          <p:spPr>
            <a:xfrm>
              <a:off x="11916931" y="8191128"/>
              <a:ext cx="792292" cy="544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29" y="10800"/>
                  </a:moveTo>
                  <a:lnTo>
                    <a:pt x="14850" y="5891"/>
                  </a:lnTo>
                  <a:lnTo>
                    <a:pt x="18865" y="5891"/>
                  </a:lnTo>
                  <a:lnTo>
                    <a:pt x="20250" y="10800"/>
                  </a:lnTo>
                  <a:lnTo>
                    <a:pt x="14829" y="10800"/>
                  </a:lnTo>
                  <a:close/>
                  <a:moveTo>
                    <a:pt x="20250" y="5564"/>
                  </a:moveTo>
                  <a:cubicBezTo>
                    <a:pt x="19879" y="3856"/>
                    <a:pt x="18900" y="3919"/>
                    <a:pt x="18900" y="3919"/>
                  </a:cubicBezTo>
                  <a:lnTo>
                    <a:pt x="13495" y="3919"/>
                  </a:lnTo>
                  <a:lnTo>
                    <a:pt x="13495" y="18655"/>
                  </a:lnTo>
                  <a:lnTo>
                    <a:pt x="15525" y="18655"/>
                  </a:lnTo>
                  <a:cubicBezTo>
                    <a:pt x="15527" y="14736"/>
                    <a:pt x="16734" y="14727"/>
                    <a:pt x="18225" y="14728"/>
                  </a:cubicBezTo>
                  <a:cubicBezTo>
                    <a:pt x="19716" y="14728"/>
                    <a:pt x="20918" y="14757"/>
                    <a:pt x="20924" y="18655"/>
                  </a:cubicBezTo>
                  <a:lnTo>
                    <a:pt x="21600" y="18655"/>
                  </a:lnTo>
                  <a:lnTo>
                    <a:pt x="21600" y="10817"/>
                  </a:lnTo>
                  <a:cubicBezTo>
                    <a:pt x="21600" y="10817"/>
                    <a:pt x="20621" y="7272"/>
                    <a:pt x="20250" y="5564"/>
                  </a:cubicBezTo>
                  <a:close/>
                  <a:moveTo>
                    <a:pt x="12690" y="1964"/>
                  </a:moveTo>
                  <a:lnTo>
                    <a:pt x="12690" y="18655"/>
                  </a:lnTo>
                  <a:lnTo>
                    <a:pt x="6750" y="18655"/>
                  </a:lnTo>
                  <a:cubicBezTo>
                    <a:pt x="6750" y="14728"/>
                    <a:pt x="5541" y="14728"/>
                    <a:pt x="4050" y="14728"/>
                  </a:cubicBezTo>
                  <a:cubicBezTo>
                    <a:pt x="2559" y="14728"/>
                    <a:pt x="1350" y="14728"/>
                    <a:pt x="1350" y="18655"/>
                  </a:cubicBezTo>
                  <a:lnTo>
                    <a:pt x="0" y="18655"/>
                  </a:lnTo>
                  <a:lnTo>
                    <a:pt x="0" y="1964"/>
                  </a:lnTo>
                  <a:cubicBezTo>
                    <a:pt x="0" y="1421"/>
                    <a:pt x="151" y="931"/>
                    <a:pt x="395" y="575"/>
                  </a:cubicBezTo>
                  <a:cubicBezTo>
                    <a:pt x="640" y="220"/>
                    <a:pt x="977" y="0"/>
                    <a:pt x="1350" y="0"/>
                  </a:cubicBezTo>
                  <a:lnTo>
                    <a:pt x="11340" y="0"/>
                  </a:lnTo>
                  <a:cubicBezTo>
                    <a:pt x="11713" y="0"/>
                    <a:pt x="12050" y="220"/>
                    <a:pt x="12295" y="575"/>
                  </a:cubicBezTo>
                  <a:cubicBezTo>
                    <a:pt x="12539" y="931"/>
                    <a:pt x="12690" y="1421"/>
                    <a:pt x="12690" y="1964"/>
                  </a:cubicBezTo>
                  <a:close/>
                  <a:moveTo>
                    <a:pt x="4050" y="19636"/>
                  </a:moveTo>
                  <a:cubicBezTo>
                    <a:pt x="3677" y="19636"/>
                    <a:pt x="3375" y="19197"/>
                    <a:pt x="3375" y="18655"/>
                  </a:cubicBezTo>
                  <a:cubicBezTo>
                    <a:pt x="3375" y="18112"/>
                    <a:pt x="3677" y="17673"/>
                    <a:pt x="4050" y="17673"/>
                  </a:cubicBezTo>
                  <a:cubicBezTo>
                    <a:pt x="4423" y="17673"/>
                    <a:pt x="4725" y="18112"/>
                    <a:pt x="4725" y="18655"/>
                  </a:cubicBezTo>
                  <a:cubicBezTo>
                    <a:pt x="4725" y="19197"/>
                    <a:pt x="4423" y="19636"/>
                    <a:pt x="4050" y="19636"/>
                  </a:cubicBezTo>
                  <a:close/>
                  <a:moveTo>
                    <a:pt x="4050" y="15709"/>
                  </a:moveTo>
                  <a:cubicBezTo>
                    <a:pt x="2932" y="15709"/>
                    <a:pt x="2025" y="17028"/>
                    <a:pt x="2025" y="18655"/>
                  </a:cubicBezTo>
                  <a:cubicBezTo>
                    <a:pt x="2025" y="20281"/>
                    <a:pt x="2932" y="21600"/>
                    <a:pt x="4050" y="21600"/>
                  </a:cubicBezTo>
                  <a:cubicBezTo>
                    <a:pt x="5168" y="21600"/>
                    <a:pt x="6075" y="20281"/>
                    <a:pt x="6075" y="18655"/>
                  </a:cubicBezTo>
                  <a:cubicBezTo>
                    <a:pt x="6075" y="17028"/>
                    <a:pt x="5168" y="15709"/>
                    <a:pt x="4050" y="15709"/>
                  </a:cubicBezTo>
                  <a:close/>
                  <a:moveTo>
                    <a:pt x="18225" y="19636"/>
                  </a:moveTo>
                  <a:cubicBezTo>
                    <a:pt x="17852" y="19636"/>
                    <a:pt x="17550" y="19197"/>
                    <a:pt x="17550" y="18655"/>
                  </a:cubicBezTo>
                  <a:cubicBezTo>
                    <a:pt x="17550" y="18112"/>
                    <a:pt x="17852" y="17673"/>
                    <a:pt x="18225" y="17673"/>
                  </a:cubicBezTo>
                  <a:cubicBezTo>
                    <a:pt x="18598" y="17673"/>
                    <a:pt x="18900" y="18112"/>
                    <a:pt x="18900" y="18655"/>
                  </a:cubicBezTo>
                  <a:cubicBezTo>
                    <a:pt x="18900" y="19197"/>
                    <a:pt x="18598" y="19636"/>
                    <a:pt x="18225" y="19636"/>
                  </a:cubicBezTo>
                  <a:close/>
                  <a:moveTo>
                    <a:pt x="18225" y="15709"/>
                  </a:moveTo>
                  <a:cubicBezTo>
                    <a:pt x="17107" y="15709"/>
                    <a:pt x="16200" y="17028"/>
                    <a:pt x="16200" y="18655"/>
                  </a:cubicBezTo>
                  <a:cubicBezTo>
                    <a:pt x="16200" y="20281"/>
                    <a:pt x="17107" y="21600"/>
                    <a:pt x="18225" y="21600"/>
                  </a:cubicBezTo>
                  <a:cubicBezTo>
                    <a:pt x="19343" y="21600"/>
                    <a:pt x="20250" y="20281"/>
                    <a:pt x="20250" y="18655"/>
                  </a:cubicBezTo>
                  <a:cubicBezTo>
                    <a:pt x="20250" y="17028"/>
                    <a:pt x="19343" y="15709"/>
                    <a:pt x="18225" y="157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4116" tIns="24116" rIns="24116" bIns="24116" numCol="1" anchor="b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1" name="Shape 34217">
              <a:extLst>
                <a:ext uri="{FF2B5EF4-FFF2-40B4-BE49-F238E27FC236}">
                  <a16:creationId xmlns:a16="http://schemas.microsoft.com/office/drawing/2014/main" id="{7669BB95-B65F-80FF-F5E3-D558A71D1868}"/>
                </a:ext>
              </a:extLst>
            </p:cNvPr>
            <p:cNvSpPr/>
            <p:nvPr/>
          </p:nvSpPr>
          <p:spPr>
            <a:xfrm>
              <a:off x="12395335" y="3740451"/>
              <a:ext cx="693544" cy="9157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2" name="Shape 34218">
              <a:extLst>
                <a:ext uri="{FF2B5EF4-FFF2-40B4-BE49-F238E27FC236}">
                  <a16:creationId xmlns:a16="http://schemas.microsoft.com/office/drawing/2014/main" id="{ECD0EFAE-D165-C2EA-4152-E736B90B1620}"/>
                </a:ext>
              </a:extLst>
            </p:cNvPr>
            <p:cNvSpPr/>
            <p:nvPr/>
          </p:nvSpPr>
          <p:spPr>
            <a:xfrm>
              <a:off x="11932702" y="12638103"/>
              <a:ext cx="408708" cy="3034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837" y="8637"/>
                  </a:lnTo>
                  <a:lnTo>
                    <a:pt x="17837" y="12781"/>
                  </a:lnTo>
                  <a:cubicBezTo>
                    <a:pt x="17837" y="13798"/>
                    <a:pt x="17539" y="14723"/>
                    <a:pt x="17049" y="15392"/>
                  </a:cubicBezTo>
                  <a:cubicBezTo>
                    <a:pt x="16550" y="16075"/>
                    <a:pt x="15855" y="16492"/>
                    <a:pt x="15079" y="16478"/>
                  </a:cubicBezTo>
                  <a:lnTo>
                    <a:pt x="9158" y="16478"/>
                  </a:lnTo>
                  <a:lnTo>
                    <a:pt x="9158" y="17810"/>
                  </a:lnTo>
                  <a:cubicBezTo>
                    <a:pt x="9158" y="18368"/>
                    <a:pt x="9328" y="18874"/>
                    <a:pt x="9602" y="19240"/>
                  </a:cubicBezTo>
                  <a:cubicBezTo>
                    <a:pt x="9876" y="19606"/>
                    <a:pt x="10255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503" y="19832"/>
                    <a:pt x="20882" y="19606"/>
                    <a:pt x="21156" y="19240"/>
                  </a:cubicBezTo>
                  <a:cubicBezTo>
                    <a:pt x="21430" y="18874"/>
                    <a:pt x="21600" y="18368"/>
                    <a:pt x="21600" y="17810"/>
                  </a:cubicBezTo>
                  <a:lnTo>
                    <a:pt x="21600" y="10554"/>
                  </a:lnTo>
                  <a:cubicBezTo>
                    <a:pt x="21600" y="9996"/>
                    <a:pt x="21430" y="9490"/>
                    <a:pt x="21156" y="9125"/>
                  </a:cubicBezTo>
                  <a:cubicBezTo>
                    <a:pt x="20882" y="8759"/>
                    <a:pt x="20503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1501" y="15450"/>
                    <a:pt x="983" y="15141"/>
                    <a:pt x="607" y="14640"/>
                  </a:cubicBezTo>
                  <a:cubicBezTo>
                    <a:pt x="232" y="14139"/>
                    <a:pt x="0" y="13447"/>
                    <a:pt x="0" y="12683"/>
                  </a:cubicBezTo>
                  <a:lnTo>
                    <a:pt x="0" y="2767"/>
                  </a:lnTo>
                  <a:cubicBezTo>
                    <a:pt x="0" y="2003"/>
                    <a:pt x="232" y="1311"/>
                    <a:pt x="607" y="811"/>
                  </a:cubicBezTo>
                  <a:cubicBezTo>
                    <a:pt x="983" y="310"/>
                    <a:pt x="1501" y="0"/>
                    <a:pt x="2074" y="0"/>
                  </a:cubicBezTo>
                  <a:lnTo>
                    <a:pt x="15034" y="0"/>
                  </a:lnTo>
                  <a:cubicBezTo>
                    <a:pt x="15606" y="0"/>
                    <a:pt x="16125" y="310"/>
                    <a:pt x="16500" y="811"/>
                  </a:cubicBezTo>
                  <a:cubicBezTo>
                    <a:pt x="16875" y="1311"/>
                    <a:pt x="17107" y="2003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3441"/>
                    <a:pt x="16886" y="14134"/>
                    <a:pt x="16522" y="14637"/>
                  </a:cubicBezTo>
                  <a:cubicBezTo>
                    <a:pt x="16159" y="15139"/>
                    <a:pt x="15651" y="15450"/>
                    <a:pt x="15079" y="15450"/>
                  </a:cubicBezTo>
                  <a:lnTo>
                    <a:pt x="9158" y="15450"/>
                  </a:lnTo>
                  <a:lnTo>
                    <a:pt x="6912" y="1545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3" name="Shape 34219">
              <a:extLst>
                <a:ext uri="{FF2B5EF4-FFF2-40B4-BE49-F238E27FC236}">
                  <a16:creationId xmlns:a16="http://schemas.microsoft.com/office/drawing/2014/main" id="{0C66A6C3-63D2-F0BA-F015-61AAA11211DC}"/>
                </a:ext>
              </a:extLst>
            </p:cNvPr>
            <p:cNvSpPr/>
            <p:nvPr/>
          </p:nvSpPr>
          <p:spPr>
            <a:xfrm>
              <a:off x="11196245" y="10659511"/>
              <a:ext cx="389798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1" y="0"/>
                  </a:moveTo>
                  <a:cubicBezTo>
                    <a:pt x="372" y="0"/>
                    <a:pt x="0" y="302"/>
                    <a:pt x="0" y="675"/>
                  </a:cubicBezTo>
                  <a:cubicBezTo>
                    <a:pt x="0" y="1048"/>
                    <a:pt x="372" y="1350"/>
                    <a:pt x="831" y="1350"/>
                  </a:cubicBezTo>
                  <a:lnTo>
                    <a:pt x="20769" y="1350"/>
                  </a:lnTo>
                  <a:cubicBezTo>
                    <a:pt x="21228" y="1350"/>
                    <a:pt x="21600" y="1048"/>
                    <a:pt x="21600" y="675"/>
                  </a:cubicBezTo>
                  <a:cubicBezTo>
                    <a:pt x="21600" y="302"/>
                    <a:pt x="21228" y="0"/>
                    <a:pt x="20769" y="0"/>
                  </a:cubicBezTo>
                  <a:lnTo>
                    <a:pt x="831" y="0"/>
                  </a:lnTo>
                  <a:close/>
                  <a:moveTo>
                    <a:pt x="831" y="2025"/>
                  </a:moveTo>
                  <a:lnTo>
                    <a:pt x="831" y="15525"/>
                  </a:lnTo>
                  <a:cubicBezTo>
                    <a:pt x="831" y="15525"/>
                    <a:pt x="20769" y="15525"/>
                    <a:pt x="20769" y="15525"/>
                  </a:cubicBezTo>
                  <a:lnTo>
                    <a:pt x="20769" y="2025"/>
                  </a:lnTo>
                  <a:lnTo>
                    <a:pt x="831" y="2025"/>
                  </a:lnTo>
                  <a:close/>
                  <a:moveTo>
                    <a:pt x="15785" y="4050"/>
                  </a:moveTo>
                  <a:lnTo>
                    <a:pt x="18277" y="4050"/>
                  </a:lnTo>
                  <a:cubicBezTo>
                    <a:pt x="18277" y="4050"/>
                    <a:pt x="18277" y="13500"/>
                    <a:pt x="18277" y="13500"/>
                  </a:cubicBezTo>
                  <a:lnTo>
                    <a:pt x="15785" y="13500"/>
                  </a:lnTo>
                  <a:lnTo>
                    <a:pt x="15785" y="4050"/>
                  </a:lnTo>
                  <a:close/>
                  <a:moveTo>
                    <a:pt x="7477" y="6750"/>
                  </a:moveTo>
                  <a:lnTo>
                    <a:pt x="9969" y="6750"/>
                  </a:lnTo>
                  <a:cubicBezTo>
                    <a:pt x="9969" y="6750"/>
                    <a:pt x="9969" y="13500"/>
                    <a:pt x="9969" y="13500"/>
                  </a:cubicBezTo>
                  <a:lnTo>
                    <a:pt x="7477" y="13500"/>
                  </a:lnTo>
                  <a:lnTo>
                    <a:pt x="7477" y="6750"/>
                  </a:lnTo>
                  <a:close/>
                  <a:moveTo>
                    <a:pt x="11631" y="8775"/>
                  </a:moveTo>
                  <a:lnTo>
                    <a:pt x="14123" y="8775"/>
                  </a:lnTo>
                  <a:cubicBezTo>
                    <a:pt x="14123" y="8775"/>
                    <a:pt x="14123" y="13500"/>
                    <a:pt x="14123" y="13500"/>
                  </a:cubicBezTo>
                  <a:lnTo>
                    <a:pt x="11631" y="13500"/>
                  </a:lnTo>
                  <a:lnTo>
                    <a:pt x="11631" y="8775"/>
                  </a:lnTo>
                  <a:close/>
                  <a:moveTo>
                    <a:pt x="3323" y="10800"/>
                  </a:moveTo>
                  <a:lnTo>
                    <a:pt x="5815" y="10800"/>
                  </a:lnTo>
                  <a:cubicBezTo>
                    <a:pt x="5815" y="10800"/>
                    <a:pt x="5815" y="13500"/>
                    <a:pt x="5815" y="13500"/>
                  </a:cubicBezTo>
                  <a:lnTo>
                    <a:pt x="3323" y="13500"/>
                  </a:lnTo>
                  <a:lnTo>
                    <a:pt x="3323" y="10800"/>
                  </a:lnTo>
                  <a:close/>
                  <a:moveTo>
                    <a:pt x="3323" y="16200"/>
                  </a:moveTo>
                  <a:lnTo>
                    <a:pt x="1662" y="21600"/>
                  </a:lnTo>
                  <a:lnTo>
                    <a:pt x="3323" y="21600"/>
                  </a:lnTo>
                  <a:lnTo>
                    <a:pt x="4985" y="16200"/>
                  </a:lnTo>
                  <a:cubicBezTo>
                    <a:pt x="4985" y="16200"/>
                    <a:pt x="3323" y="16200"/>
                    <a:pt x="3323" y="16200"/>
                  </a:cubicBezTo>
                  <a:close/>
                  <a:moveTo>
                    <a:pt x="9969" y="16200"/>
                  </a:moveTo>
                  <a:lnTo>
                    <a:pt x="9969" y="21600"/>
                  </a:lnTo>
                  <a:lnTo>
                    <a:pt x="11615" y="21600"/>
                  </a:lnTo>
                  <a:cubicBezTo>
                    <a:pt x="11615" y="21600"/>
                    <a:pt x="11631" y="16200"/>
                    <a:pt x="11631" y="16200"/>
                  </a:cubicBezTo>
                  <a:lnTo>
                    <a:pt x="9969" y="16200"/>
                  </a:lnTo>
                  <a:close/>
                  <a:moveTo>
                    <a:pt x="16615" y="16200"/>
                  </a:moveTo>
                  <a:lnTo>
                    <a:pt x="18277" y="21600"/>
                  </a:lnTo>
                  <a:lnTo>
                    <a:pt x="19938" y="21600"/>
                  </a:lnTo>
                  <a:cubicBezTo>
                    <a:pt x="19938" y="21600"/>
                    <a:pt x="18277" y="16200"/>
                    <a:pt x="18277" y="16200"/>
                  </a:cubicBezTo>
                  <a:lnTo>
                    <a:pt x="16615" y="1620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4" name="Shape 34220">
              <a:extLst>
                <a:ext uri="{FF2B5EF4-FFF2-40B4-BE49-F238E27FC236}">
                  <a16:creationId xmlns:a16="http://schemas.microsoft.com/office/drawing/2014/main" id="{23AEB80C-7CCE-CCB6-29CA-778624C78CFC}"/>
                </a:ext>
              </a:extLst>
            </p:cNvPr>
            <p:cNvSpPr/>
            <p:nvPr/>
          </p:nvSpPr>
          <p:spPr>
            <a:xfrm>
              <a:off x="12966575" y="6806559"/>
              <a:ext cx="589416" cy="778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5" name="Shape 34221">
              <a:extLst>
                <a:ext uri="{FF2B5EF4-FFF2-40B4-BE49-F238E27FC236}">
                  <a16:creationId xmlns:a16="http://schemas.microsoft.com/office/drawing/2014/main" id="{81701DFC-595E-9A3F-2738-AAA1A24AA083}"/>
                </a:ext>
              </a:extLst>
            </p:cNvPr>
            <p:cNvSpPr/>
            <p:nvPr/>
          </p:nvSpPr>
          <p:spPr>
            <a:xfrm>
              <a:off x="11922329" y="9268053"/>
              <a:ext cx="476450" cy="629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6" name="Shape 34222">
              <a:extLst>
                <a:ext uri="{FF2B5EF4-FFF2-40B4-BE49-F238E27FC236}">
                  <a16:creationId xmlns:a16="http://schemas.microsoft.com/office/drawing/2014/main" id="{513F8701-84F3-14BA-ACF0-EF60A80D05EA}"/>
                </a:ext>
              </a:extLst>
            </p:cNvPr>
            <p:cNvSpPr/>
            <p:nvPr/>
          </p:nvSpPr>
          <p:spPr>
            <a:xfrm>
              <a:off x="11993787" y="10946019"/>
              <a:ext cx="447534" cy="447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7" h="21317" extrusionOk="0">
                  <a:moveTo>
                    <a:pt x="7792" y="27"/>
                  </a:moveTo>
                  <a:cubicBezTo>
                    <a:pt x="7372" y="141"/>
                    <a:pt x="7122" y="573"/>
                    <a:pt x="7234" y="993"/>
                  </a:cubicBezTo>
                  <a:lnTo>
                    <a:pt x="7836" y="3244"/>
                  </a:lnTo>
                  <a:cubicBezTo>
                    <a:pt x="8357" y="3022"/>
                    <a:pt x="8864" y="2878"/>
                    <a:pt x="9346" y="2789"/>
                  </a:cubicBezTo>
                  <a:lnTo>
                    <a:pt x="8758" y="585"/>
                  </a:lnTo>
                  <a:cubicBezTo>
                    <a:pt x="8645" y="164"/>
                    <a:pt x="8213" y="-85"/>
                    <a:pt x="7792" y="27"/>
                  </a:cubicBezTo>
                  <a:close/>
                  <a:moveTo>
                    <a:pt x="13442" y="41"/>
                  </a:moveTo>
                  <a:cubicBezTo>
                    <a:pt x="13020" y="-71"/>
                    <a:pt x="12588" y="179"/>
                    <a:pt x="12475" y="600"/>
                  </a:cubicBezTo>
                  <a:lnTo>
                    <a:pt x="11888" y="2784"/>
                  </a:lnTo>
                  <a:cubicBezTo>
                    <a:pt x="12441" y="2878"/>
                    <a:pt x="12949" y="3027"/>
                    <a:pt x="13408" y="3203"/>
                  </a:cubicBezTo>
                  <a:lnTo>
                    <a:pt x="13998" y="1007"/>
                  </a:lnTo>
                  <a:cubicBezTo>
                    <a:pt x="14110" y="585"/>
                    <a:pt x="13862" y="154"/>
                    <a:pt x="13442" y="41"/>
                  </a:cubicBezTo>
                  <a:close/>
                  <a:moveTo>
                    <a:pt x="585" y="12411"/>
                  </a:moveTo>
                  <a:cubicBezTo>
                    <a:pt x="164" y="12524"/>
                    <a:pt x="-86" y="12956"/>
                    <a:pt x="27" y="13377"/>
                  </a:cubicBezTo>
                  <a:cubicBezTo>
                    <a:pt x="139" y="13798"/>
                    <a:pt x="571" y="14047"/>
                    <a:pt x="992" y="13934"/>
                  </a:cubicBezTo>
                  <a:lnTo>
                    <a:pt x="3181" y="13347"/>
                  </a:lnTo>
                  <a:cubicBezTo>
                    <a:pt x="3009" y="12885"/>
                    <a:pt x="2865" y="12376"/>
                    <a:pt x="2775" y="11823"/>
                  </a:cubicBezTo>
                  <a:cubicBezTo>
                    <a:pt x="2775" y="11823"/>
                    <a:pt x="585" y="12411"/>
                    <a:pt x="585" y="12411"/>
                  </a:cubicBezTo>
                  <a:close/>
                  <a:moveTo>
                    <a:pt x="1013" y="7169"/>
                  </a:moveTo>
                  <a:cubicBezTo>
                    <a:pt x="592" y="7056"/>
                    <a:pt x="160" y="7306"/>
                    <a:pt x="47" y="7727"/>
                  </a:cubicBezTo>
                  <a:cubicBezTo>
                    <a:pt x="-66" y="8148"/>
                    <a:pt x="184" y="8580"/>
                    <a:pt x="604" y="8692"/>
                  </a:cubicBezTo>
                  <a:lnTo>
                    <a:pt x="2805" y="9281"/>
                  </a:lnTo>
                  <a:cubicBezTo>
                    <a:pt x="2896" y="8799"/>
                    <a:pt x="3046" y="8293"/>
                    <a:pt x="3273" y="7773"/>
                  </a:cubicBezTo>
                  <a:cubicBezTo>
                    <a:pt x="3273" y="7773"/>
                    <a:pt x="1013" y="7169"/>
                    <a:pt x="1013" y="7169"/>
                  </a:cubicBezTo>
                  <a:close/>
                  <a:moveTo>
                    <a:pt x="2889" y="2841"/>
                  </a:moveTo>
                  <a:cubicBezTo>
                    <a:pt x="2581" y="3148"/>
                    <a:pt x="2580" y="3648"/>
                    <a:pt x="2888" y="3956"/>
                  </a:cubicBezTo>
                  <a:lnTo>
                    <a:pt x="4607" y="5675"/>
                  </a:lnTo>
                  <a:cubicBezTo>
                    <a:pt x="4732" y="5529"/>
                    <a:pt x="5572" y="4695"/>
                    <a:pt x="5727" y="4563"/>
                  </a:cubicBezTo>
                  <a:lnTo>
                    <a:pt x="4004" y="2840"/>
                  </a:lnTo>
                  <a:cubicBezTo>
                    <a:pt x="3696" y="2532"/>
                    <a:pt x="3197" y="2533"/>
                    <a:pt x="2889" y="2841"/>
                  </a:cubicBezTo>
                  <a:close/>
                  <a:moveTo>
                    <a:pt x="15285" y="5439"/>
                  </a:moveTo>
                  <a:cubicBezTo>
                    <a:pt x="13524" y="3930"/>
                    <a:pt x="9472" y="2164"/>
                    <a:pt x="5822" y="5814"/>
                  </a:cubicBezTo>
                  <a:cubicBezTo>
                    <a:pt x="5821" y="5815"/>
                    <a:pt x="5821" y="5815"/>
                    <a:pt x="5821" y="5816"/>
                  </a:cubicBezTo>
                  <a:cubicBezTo>
                    <a:pt x="5820" y="5816"/>
                    <a:pt x="5819" y="5817"/>
                    <a:pt x="5819" y="5817"/>
                  </a:cubicBezTo>
                  <a:cubicBezTo>
                    <a:pt x="5819" y="5818"/>
                    <a:pt x="5818" y="5818"/>
                    <a:pt x="5818" y="5819"/>
                  </a:cubicBezTo>
                  <a:cubicBezTo>
                    <a:pt x="5817" y="5819"/>
                    <a:pt x="5817" y="5820"/>
                    <a:pt x="5816" y="5820"/>
                  </a:cubicBezTo>
                  <a:cubicBezTo>
                    <a:pt x="2166" y="9471"/>
                    <a:pt x="3932" y="13524"/>
                    <a:pt x="5440" y="15285"/>
                  </a:cubicBezTo>
                  <a:cubicBezTo>
                    <a:pt x="6807" y="16868"/>
                    <a:pt x="9202" y="17222"/>
                    <a:pt x="9535" y="17322"/>
                  </a:cubicBezTo>
                  <a:cubicBezTo>
                    <a:pt x="10076" y="17484"/>
                    <a:pt x="12612" y="17632"/>
                    <a:pt x="13467" y="18402"/>
                  </a:cubicBezTo>
                  <a:cubicBezTo>
                    <a:pt x="14644" y="19461"/>
                    <a:pt x="14810" y="19354"/>
                    <a:pt x="15487" y="18942"/>
                  </a:cubicBezTo>
                  <a:cubicBezTo>
                    <a:pt x="16178" y="18522"/>
                    <a:pt x="18522" y="16178"/>
                    <a:pt x="18942" y="15487"/>
                  </a:cubicBezTo>
                  <a:cubicBezTo>
                    <a:pt x="19354" y="14810"/>
                    <a:pt x="19461" y="14644"/>
                    <a:pt x="18401" y="13467"/>
                  </a:cubicBezTo>
                  <a:cubicBezTo>
                    <a:pt x="17632" y="12612"/>
                    <a:pt x="17484" y="10075"/>
                    <a:pt x="17321" y="9534"/>
                  </a:cubicBezTo>
                  <a:cubicBezTo>
                    <a:pt x="17222" y="9201"/>
                    <a:pt x="16868" y="6805"/>
                    <a:pt x="15285" y="5439"/>
                  </a:cubicBezTo>
                  <a:close/>
                  <a:moveTo>
                    <a:pt x="20706" y="16780"/>
                  </a:moveTo>
                  <a:cubicBezTo>
                    <a:pt x="20530" y="16603"/>
                    <a:pt x="20243" y="16603"/>
                    <a:pt x="20066" y="16780"/>
                  </a:cubicBezTo>
                  <a:lnTo>
                    <a:pt x="16780" y="20067"/>
                  </a:lnTo>
                  <a:cubicBezTo>
                    <a:pt x="16603" y="20244"/>
                    <a:pt x="16603" y="20531"/>
                    <a:pt x="16780" y="20707"/>
                  </a:cubicBezTo>
                  <a:lnTo>
                    <a:pt x="16780" y="20707"/>
                  </a:lnTo>
                  <a:cubicBezTo>
                    <a:pt x="16956" y="20884"/>
                    <a:pt x="17243" y="20884"/>
                    <a:pt x="17419" y="20707"/>
                  </a:cubicBezTo>
                  <a:lnTo>
                    <a:pt x="20706" y="17420"/>
                  </a:lnTo>
                  <a:cubicBezTo>
                    <a:pt x="20883" y="17243"/>
                    <a:pt x="20883" y="16956"/>
                    <a:pt x="20706" y="16780"/>
                  </a:cubicBezTo>
                  <a:cubicBezTo>
                    <a:pt x="20706" y="16780"/>
                    <a:pt x="20706" y="16780"/>
                    <a:pt x="20706" y="16780"/>
                  </a:cubicBezTo>
                  <a:close/>
                  <a:moveTo>
                    <a:pt x="19833" y="15906"/>
                  </a:moveTo>
                  <a:cubicBezTo>
                    <a:pt x="19656" y="15729"/>
                    <a:pt x="19370" y="15730"/>
                    <a:pt x="19193" y="15906"/>
                  </a:cubicBezTo>
                  <a:lnTo>
                    <a:pt x="15906" y="19194"/>
                  </a:lnTo>
                  <a:cubicBezTo>
                    <a:pt x="15729" y="19370"/>
                    <a:pt x="15729" y="19657"/>
                    <a:pt x="15906" y="19833"/>
                  </a:cubicBezTo>
                  <a:lnTo>
                    <a:pt x="15906" y="19833"/>
                  </a:lnTo>
                  <a:cubicBezTo>
                    <a:pt x="16082" y="20010"/>
                    <a:pt x="16369" y="20010"/>
                    <a:pt x="16546" y="19833"/>
                  </a:cubicBezTo>
                  <a:lnTo>
                    <a:pt x="19833" y="16546"/>
                  </a:lnTo>
                  <a:cubicBezTo>
                    <a:pt x="20009" y="16369"/>
                    <a:pt x="20009" y="16083"/>
                    <a:pt x="19833" y="15906"/>
                  </a:cubicBezTo>
                  <a:cubicBezTo>
                    <a:pt x="19833" y="15906"/>
                    <a:pt x="19833" y="15906"/>
                    <a:pt x="19833" y="15906"/>
                  </a:cubicBezTo>
                  <a:close/>
                  <a:moveTo>
                    <a:pt x="17867" y="20727"/>
                  </a:moveTo>
                  <a:lnTo>
                    <a:pt x="20726" y="17867"/>
                  </a:lnTo>
                  <a:cubicBezTo>
                    <a:pt x="21514" y="18656"/>
                    <a:pt x="21513" y="19935"/>
                    <a:pt x="20724" y="20724"/>
                  </a:cubicBezTo>
                  <a:cubicBezTo>
                    <a:pt x="19934" y="21514"/>
                    <a:pt x="18655" y="21515"/>
                    <a:pt x="17867" y="2072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7" name="Shape 34223">
              <a:extLst>
                <a:ext uri="{FF2B5EF4-FFF2-40B4-BE49-F238E27FC236}">
                  <a16:creationId xmlns:a16="http://schemas.microsoft.com/office/drawing/2014/main" id="{669F5F77-ADD6-B162-0166-D72EC8E7733A}"/>
                </a:ext>
              </a:extLst>
            </p:cNvPr>
            <p:cNvSpPr/>
            <p:nvPr/>
          </p:nvSpPr>
          <p:spPr>
            <a:xfrm>
              <a:off x="11828592" y="12064076"/>
              <a:ext cx="446404" cy="410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91" h="21254" extrusionOk="0">
                  <a:moveTo>
                    <a:pt x="14806" y="20802"/>
                  </a:moveTo>
                  <a:cubicBezTo>
                    <a:pt x="16771" y="20078"/>
                    <a:pt x="18497" y="18506"/>
                    <a:pt x="19509" y="16252"/>
                  </a:cubicBezTo>
                  <a:cubicBezTo>
                    <a:pt x="21534" y="11744"/>
                    <a:pt x="19954" y="6226"/>
                    <a:pt x="15980" y="3929"/>
                  </a:cubicBezTo>
                  <a:cubicBezTo>
                    <a:pt x="12750" y="2062"/>
                    <a:pt x="8929" y="2896"/>
                    <a:pt x="6525" y="5695"/>
                  </a:cubicBezTo>
                  <a:cubicBezTo>
                    <a:pt x="6494" y="5619"/>
                    <a:pt x="6446" y="5549"/>
                    <a:pt x="6387" y="5489"/>
                  </a:cubicBezTo>
                  <a:lnTo>
                    <a:pt x="1181" y="167"/>
                  </a:lnTo>
                  <a:cubicBezTo>
                    <a:pt x="946" y="-73"/>
                    <a:pt x="582" y="-53"/>
                    <a:pt x="370" y="214"/>
                  </a:cubicBezTo>
                  <a:lnTo>
                    <a:pt x="146" y="499"/>
                  </a:lnTo>
                  <a:cubicBezTo>
                    <a:pt x="-66" y="765"/>
                    <a:pt x="-44" y="1177"/>
                    <a:pt x="192" y="1417"/>
                  </a:cubicBezTo>
                  <a:lnTo>
                    <a:pt x="5396" y="6733"/>
                  </a:lnTo>
                  <a:cubicBezTo>
                    <a:pt x="5480" y="6818"/>
                    <a:pt x="5581" y="6859"/>
                    <a:pt x="5685" y="6879"/>
                  </a:cubicBezTo>
                  <a:cubicBezTo>
                    <a:pt x="5480" y="7214"/>
                    <a:pt x="5286" y="7560"/>
                    <a:pt x="5118" y="7933"/>
                  </a:cubicBezTo>
                  <a:cubicBezTo>
                    <a:pt x="3093" y="12441"/>
                    <a:pt x="4673" y="17959"/>
                    <a:pt x="8647" y="20256"/>
                  </a:cubicBezTo>
                  <a:cubicBezTo>
                    <a:pt x="10634" y="21405"/>
                    <a:pt x="12840" y="21527"/>
                    <a:pt x="14806" y="20802"/>
                  </a:cubicBezTo>
                  <a:close/>
                  <a:moveTo>
                    <a:pt x="14414" y="19435"/>
                  </a:moveTo>
                  <a:cubicBezTo>
                    <a:pt x="12758" y="20045"/>
                    <a:pt x="10896" y="19937"/>
                    <a:pt x="9221" y="18969"/>
                  </a:cubicBezTo>
                  <a:cubicBezTo>
                    <a:pt x="5873" y="17034"/>
                    <a:pt x="4542" y="12385"/>
                    <a:pt x="6248" y="8586"/>
                  </a:cubicBezTo>
                  <a:cubicBezTo>
                    <a:pt x="7954" y="4788"/>
                    <a:pt x="12052" y="3277"/>
                    <a:pt x="15400" y="5212"/>
                  </a:cubicBezTo>
                  <a:cubicBezTo>
                    <a:pt x="18748" y="7148"/>
                    <a:pt x="20080" y="11797"/>
                    <a:pt x="18374" y="15596"/>
                  </a:cubicBezTo>
                  <a:cubicBezTo>
                    <a:pt x="17521" y="17495"/>
                    <a:pt x="16070" y="18824"/>
                    <a:pt x="14414" y="1943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8" name="Shape 34224">
              <a:extLst>
                <a:ext uri="{FF2B5EF4-FFF2-40B4-BE49-F238E27FC236}">
                  <a16:creationId xmlns:a16="http://schemas.microsoft.com/office/drawing/2014/main" id="{2A34FEB1-6A68-6F25-3685-1694CE12D101}"/>
                </a:ext>
              </a:extLst>
            </p:cNvPr>
            <p:cNvSpPr/>
            <p:nvPr/>
          </p:nvSpPr>
          <p:spPr>
            <a:xfrm>
              <a:off x="11467012" y="10972393"/>
              <a:ext cx="358632" cy="6928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6" h="21532" extrusionOk="0">
                  <a:moveTo>
                    <a:pt x="17698" y="0"/>
                  </a:moveTo>
                  <a:lnTo>
                    <a:pt x="16138" y="1685"/>
                  </a:lnTo>
                  <a:cubicBezTo>
                    <a:pt x="16052" y="1663"/>
                    <a:pt x="15626" y="1553"/>
                    <a:pt x="15626" y="1553"/>
                  </a:cubicBezTo>
                  <a:lnTo>
                    <a:pt x="14403" y="2878"/>
                  </a:lnTo>
                  <a:lnTo>
                    <a:pt x="14914" y="3010"/>
                  </a:lnTo>
                  <a:lnTo>
                    <a:pt x="14546" y="3408"/>
                  </a:lnTo>
                  <a:lnTo>
                    <a:pt x="2184" y="16751"/>
                  </a:lnTo>
                  <a:cubicBezTo>
                    <a:pt x="1744" y="17225"/>
                    <a:pt x="202" y="19746"/>
                    <a:pt x="516" y="20547"/>
                  </a:cubicBezTo>
                  <a:cubicBezTo>
                    <a:pt x="560" y="20662"/>
                    <a:pt x="644" y="20742"/>
                    <a:pt x="773" y="20775"/>
                  </a:cubicBezTo>
                  <a:cubicBezTo>
                    <a:pt x="1807" y="21040"/>
                    <a:pt x="5426" y="18252"/>
                    <a:pt x="5928" y="17710"/>
                  </a:cubicBezTo>
                  <a:lnTo>
                    <a:pt x="18283" y="4367"/>
                  </a:lnTo>
                  <a:lnTo>
                    <a:pt x="18652" y="3969"/>
                  </a:lnTo>
                  <a:lnTo>
                    <a:pt x="19186" y="4106"/>
                  </a:lnTo>
                  <a:lnTo>
                    <a:pt x="14380" y="9291"/>
                  </a:lnTo>
                  <a:lnTo>
                    <a:pt x="15147" y="9488"/>
                  </a:lnTo>
                  <a:lnTo>
                    <a:pt x="21176" y="2979"/>
                  </a:lnTo>
                  <a:cubicBezTo>
                    <a:pt x="21176" y="2979"/>
                    <a:pt x="20341" y="2767"/>
                    <a:pt x="19876" y="2647"/>
                  </a:cubicBezTo>
                  <a:lnTo>
                    <a:pt x="21436" y="963"/>
                  </a:lnTo>
                  <a:cubicBezTo>
                    <a:pt x="21436" y="963"/>
                    <a:pt x="17698" y="0"/>
                    <a:pt x="17698" y="0"/>
                  </a:cubicBezTo>
                  <a:close/>
                  <a:moveTo>
                    <a:pt x="516" y="20547"/>
                  </a:moveTo>
                  <a:cubicBezTo>
                    <a:pt x="504" y="20509"/>
                    <a:pt x="483" y="20481"/>
                    <a:pt x="479" y="20436"/>
                  </a:cubicBezTo>
                  <a:lnTo>
                    <a:pt x="223" y="20708"/>
                  </a:lnTo>
                  <a:cubicBezTo>
                    <a:pt x="120" y="20820"/>
                    <a:pt x="-164" y="21449"/>
                    <a:pt x="129" y="21525"/>
                  </a:cubicBezTo>
                  <a:cubicBezTo>
                    <a:pt x="423" y="21600"/>
                    <a:pt x="1188" y="21095"/>
                    <a:pt x="1291" y="20984"/>
                  </a:cubicBezTo>
                  <a:lnTo>
                    <a:pt x="1546" y="20707"/>
                  </a:lnTo>
                  <a:cubicBezTo>
                    <a:pt x="1228" y="20825"/>
                    <a:pt x="959" y="20878"/>
                    <a:pt x="774" y="20830"/>
                  </a:cubicBezTo>
                  <a:cubicBezTo>
                    <a:pt x="630" y="20793"/>
                    <a:pt x="555" y="20685"/>
                    <a:pt x="516" y="20547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59" name="Shape 34225">
              <a:extLst>
                <a:ext uri="{FF2B5EF4-FFF2-40B4-BE49-F238E27FC236}">
                  <a16:creationId xmlns:a16="http://schemas.microsoft.com/office/drawing/2014/main" id="{3490BBCE-C5D5-7B6E-7A00-797D8846355F}"/>
                </a:ext>
              </a:extLst>
            </p:cNvPr>
            <p:cNvSpPr/>
            <p:nvPr/>
          </p:nvSpPr>
          <p:spPr>
            <a:xfrm>
              <a:off x="12788908" y="11202698"/>
              <a:ext cx="425116" cy="1180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936"/>
                  </a:moveTo>
                  <a:lnTo>
                    <a:pt x="17631" y="5428"/>
                  </a:lnTo>
                  <a:lnTo>
                    <a:pt x="17241" y="21600"/>
                  </a:lnTo>
                  <a:cubicBezTo>
                    <a:pt x="17241" y="21600"/>
                    <a:pt x="21600" y="14936"/>
                    <a:pt x="21600" y="14936"/>
                  </a:cubicBezTo>
                  <a:close/>
                  <a:moveTo>
                    <a:pt x="16506" y="21368"/>
                  </a:moveTo>
                  <a:lnTo>
                    <a:pt x="16896" y="5196"/>
                  </a:lnTo>
                  <a:lnTo>
                    <a:pt x="3794" y="1071"/>
                  </a:lnTo>
                  <a:lnTo>
                    <a:pt x="3401" y="17243"/>
                  </a:lnTo>
                  <a:cubicBezTo>
                    <a:pt x="3401" y="17243"/>
                    <a:pt x="16506" y="21368"/>
                    <a:pt x="16506" y="21368"/>
                  </a:cubicBezTo>
                  <a:close/>
                  <a:moveTo>
                    <a:pt x="2651" y="17004"/>
                  </a:moveTo>
                  <a:lnTo>
                    <a:pt x="3043" y="832"/>
                  </a:lnTo>
                  <a:lnTo>
                    <a:pt x="393" y="0"/>
                  </a:lnTo>
                  <a:lnTo>
                    <a:pt x="0" y="16172"/>
                  </a:lnTo>
                  <a:cubicBezTo>
                    <a:pt x="0" y="16172"/>
                    <a:pt x="2651" y="17004"/>
                    <a:pt x="2651" y="170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0" name="Shape 34226">
              <a:extLst>
                <a:ext uri="{FF2B5EF4-FFF2-40B4-BE49-F238E27FC236}">
                  <a16:creationId xmlns:a16="http://schemas.microsoft.com/office/drawing/2014/main" id="{040F01A4-33AF-01A6-4535-A8F83A4719EC}"/>
                </a:ext>
              </a:extLst>
            </p:cNvPr>
            <p:cNvSpPr/>
            <p:nvPr/>
          </p:nvSpPr>
          <p:spPr>
            <a:xfrm>
              <a:off x="12691600" y="7661988"/>
              <a:ext cx="463732" cy="545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1" name="Shape 34227">
              <a:extLst>
                <a:ext uri="{FF2B5EF4-FFF2-40B4-BE49-F238E27FC236}">
                  <a16:creationId xmlns:a16="http://schemas.microsoft.com/office/drawing/2014/main" id="{593658B6-C5DC-4C6D-EC98-B91FDF4F85E8}"/>
                </a:ext>
              </a:extLst>
            </p:cNvPr>
            <p:cNvSpPr/>
            <p:nvPr/>
          </p:nvSpPr>
          <p:spPr>
            <a:xfrm>
              <a:off x="11861838" y="8796062"/>
              <a:ext cx="359648" cy="359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4116" tIns="24116" rIns="24116" bIns="24116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2" name="Shape 34228">
              <a:extLst>
                <a:ext uri="{FF2B5EF4-FFF2-40B4-BE49-F238E27FC236}">
                  <a16:creationId xmlns:a16="http://schemas.microsoft.com/office/drawing/2014/main" id="{F6804CB1-81F7-5B73-8ADE-F08C0DD65D63}"/>
                </a:ext>
              </a:extLst>
            </p:cNvPr>
            <p:cNvSpPr/>
            <p:nvPr/>
          </p:nvSpPr>
          <p:spPr>
            <a:xfrm>
              <a:off x="9057539" y="5652197"/>
              <a:ext cx="565072" cy="6487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390" y="0"/>
                  </a:moveTo>
                  <a:lnTo>
                    <a:pt x="0" y="14168"/>
                  </a:lnTo>
                  <a:lnTo>
                    <a:pt x="12187" y="21600"/>
                  </a:lnTo>
                  <a:lnTo>
                    <a:pt x="21600" y="9890"/>
                  </a:lnTo>
                  <a:lnTo>
                    <a:pt x="20767" y="5719"/>
                  </a:lnTo>
                  <a:lnTo>
                    <a:pt x="11390" y="0"/>
                  </a:lnTo>
                  <a:close/>
                  <a:moveTo>
                    <a:pt x="12641" y="5625"/>
                  </a:moveTo>
                  <a:lnTo>
                    <a:pt x="17079" y="8332"/>
                  </a:lnTo>
                  <a:lnTo>
                    <a:pt x="16765" y="8723"/>
                  </a:lnTo>
                  <a:lnTo>
                    <a:pt x="12326" y="6016"/>
                  </a:lnTo>
                  <a:lnTo>
                    <a:pt x="12641" y="5625"/>
                  </a:lnTo>
                  <a:close/>
                  <a:moveTo>
                    <a:pt x="7323" y="8127"/>
                  </a:moveTo>
                  <a:lnTo>
                    <a:pt x="16200" y="13540"/>
                  </a:lnTo>
                  <a:lnTo>
                    <a:pt x="15894" y="13920"/>
                  </a:lnTo>
                  <a:lnTo>
                    <a:pt x="7017" y="8506"/>
                  </a:lnTo>
                  <a:lnTo>
                    <a:pt x="7323" y="8127"/>
                  </a:lnTo>
                  <a:close/>
                  <a:moveTo>
                    <a:pt x="5778" y="10048"/>
                  </a:moveTo>
                  <a:lnTo>
                    <a:pt x="14655" y="15462"/>
                  </a:lnTo>
                  <a:lnTo>
                    <a:pt x="14340" y="15853"/>
                  </a:lnTo>
                  <a:lnTo>
                    <a:pt x="5463" y="10439"/>
                  </a:lnTo>
                  <a:lnTo>
                    <a:pt x="5778" y="10048"/>
                  </a:lnTo>
                  <a:close/>
                  <a:moveTo>
                    <a:pt x="4233" y="11970"/>
                  </a:moveTo>
                  <a:lnTo>
                    <a:pt x="8671" y="14677"/>
                  </a:lnTo>
                  <a:lnTo>
                    <a:pt x="8357" y="15068"/>
                  </a:lnTo>
                  <a:lnTo>
                    <a:pt x="3918" y="12361"/>
                  </a:lnTo>
                  <a:lnTo>
                    <a:pt x="4233" y="1197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3" name="Shape 34229">
              <a:extLst>
                <a:ext uri="{FF2B5EF4-FFF2-40B4-BE49-F238E27FC236}">
                  <a16:creationId xmlns:a16="http://schemas.microsoft.com/office/drawing/2014/main" id="{31B00120-41F5-991C-5B45-38DCF9E6593E}"/>
                </a:ext>
              </a:extLst>
            </p:cNvPr>
            <p:cNvSpPr/>
            <p:nvPr/>
          </p:nvSpPr>
          <p:spPr>
            <a:xfrm>
              <a:off x="14430703" y="5653180"/>
              <a:ext cx="678286" cy="609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217" extrusionOk="0">
                  <a:moveTo>
                    <a:pt x="16218" y="16859"/>
                  </a:moveTo>
                  <a:lnTo>
                    <a:pt x="3455" y="9002"/>
                  </a:lnTo>
                  <a:lnTo>
                    <a:pt x="7275" y="1347"/>
                  </a:lnTo>
                  <a:lnTo>
                    <a:pt x="20039" y="9205"/>
                  </a:lnTo>
                  <a:cubicBezTo>
                    <a:pt x="20039" y="9205"/>
                    <a:pt x="16218" y="16859"/>
                    <a:pt x="16218" y="16859"/>
                  </a:cubicBezTo>
                  <a:close/>
                  <a:moveTo>
                    <a:pt x="20627" y="8027"/>
                  </a:moveTo>
                  <a:lnTo>
                    <a:pt x="7863" y="170"/>
                  </a:lnTo>
                  <a:cubicBezTo>
                    <a:pt x="7275" y="-192"/>
                    <a:pt x="6536" y="43"/>
                    <a:pt x="6211" y="693"/>
                  </a:cubicBezTo>
                  <a:cubicBezTo>
                    <a:pt x="6211" y="693"/>
                    <a:pt x="1803" y="9525"/>
                    <a:pt x="1814" y="9531"/>
                  </a:cubicBezTo>
                  <a:lnTo>
                    <a:pt x="16683" y="18684"/>
                  </a:lnTo>
                  <a:cubicBezTo>
                    <a:pt x="16694" y="18691"/>
                    <a:pt x="21103" y="9860"/>
                    <a:pt x="21103" y="9860"/>
                  </a:cubicBezTo>
                  <a:cubicBezTo>
                    <a:pt x="21427" y="9210"/>
                    <a:pt x="21214" y="8389"/>
                    <a:pt x="20627" y="8027"/>
                  </a:cubicBezTo>
                  <a:close/>
                  <a:moveTo>
                    <a:pt x="15519" y="21047"/>
                  </a:moveTo>
                  <a:lnTo>
                    <a:pt x="628" y="11880"/>
                  </a:lnTo>
                  <a:cubicBezTo>
                    <a:pt x="40" y="11518"/>
                    <a:pt x="-173" y="10698"/>
                    <a:pt x="152" y="10047"/>
                  </a:cubicBezTo>
                  <a:lnTo>
                    <a:pt x="446" y="9459"/>
                  </a:lnTo>
                  <a:lnTo>
                    <a:pt x="7359" y="13714"/>
                  </a:lnTo>
                  <a:lnTo>
                    <a:pt x="7065" y="14303"/>
                  </a:lnTo>
                  <a:lnTo>
                    <a:pt x="10256" y="16268"/>
                  </a:lnTo>
                  <a:lnTo>
                    <a:pt x="10550" y="15679"/>
                  </a:lnTo>
                  <a:lnTo>
                    <a:pt x="17464" y="19935"/>
                  </a:lnTo>
                  <a:lnTo>
                    <a:pt x="17170" y="20524"/>
                  </a:lnTo>
                  <a:cubicBezTo>
                    <a:pt x="16846" y="21174"/>
                    <a:pt x="16106" y="21408"/>
                    <a:pt x="15519" y="21047"/>
                  </a:cubicBezTo>
                  <a:cubicBezTo>
                    <a:pt x="15519" y="21047"/>
                    <a:pt x="15519" y="21047"/>
                    <a:pt x="15519" y="2104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4" name="Shape 34230">
              <a:extLst>
                <a:ext uri="{FF2B5EF4-FFF2-40B4-BE49-F238E27FC236}">
                  <a16:creationId xmlns:a16="http://schemas.microsoft.com/office/drawing/2014/main" id="{F21EEEC0-ED3C-D255-F30B-AFF4394368E9}"/>
                </a:ext>
              </a:extLst>
            </p:cNvPr>
            <p:cNvSpPr/>
            <p:nvPr/>
          </p:nvSpPr>
          <p:spPr>
            <a:xfrm>
              <a:off x="14217720" y="6775957"/>
              <a:ext cx="333440" cy="6668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50" y="4050"/>
                  </a:moveTo>
                  <a:lnTo>
                    <a:pt x="1618" y="4050"/>
                  </a:lnTo>
                  <a:lnTo>
                    <a:pt x="1618" y="17550"/>
                  </a:lnTo>
                  <a:lnTo>
                    <a:pt x="20250" y="17550"/>
                  </a:lnTo>
                  <a:lnTo>
                    <a:pt x="20250" y="4050"/>
                  </a:lnTo>
                  <a:close/>
                  <a:moveTo>
                    <a:pt x="14175" y="2025"/>
                  </a:moveTo>
                  <a:lnTo>
                    <a:pt x="7425" y="2025"/>
                  </a:lnTo>
                  <a:cubicBezTo>
                    <a:pt x="7052" y="2025"/>
                    <a:pt x="6750" y="2176"/>
                    <a:pt x="6750" y="2363"/>
                  </a:cubicBezTo>
                  <a:cubicBezTo>
                    <a:pt x="6750" y="2549"/>
                    <a:pt x="7052" y="2700"/>
                    <a:pt x="7425" y="2700"/>
                  </a:cubicBezTo>
                  <a:lnTo>
                    <a:pt x="14175" y="2700"/>
                  </a:lnTo>
                  <a:cubicBezTo>
                    <a:pt x="14548" y="2700"/>
                    <a:pt x="14850" y="2549"/>
                    <a:pt x="14850" y="2363"/>
                  </a:cubicBezTo>
                  <a:cubicBezTo>
                    <a:pt x="14850" y="2176"/>
                    <a:pt x="14548" y="2025"/>
                    <a:pt x="14175" y="2025"/>
                  </a:cubicBezTo>
                  <a:close/>
                  <a:moveTo>
                    <a:pt x="11475" y="20250"/>
                  </a:moveTo>
                  <a:cubicBezTo>
                    <a:pt x="12593" y="20250"/>
                    <a:pt x="13500" y="19797"/>
                    <a:pt x="13500" y="19238"/>
                  </a:cubicBezTo>
                  <a:cubicBezTo>
                    <a:pt x="13500" y="18678"/>
                    <a:pt x="12593" y="18225"/>
                    <a:pt x="11475" y="18225"/>
                  </a:cubicBezTo>
                  <a:cubicBezTo>
                    <a:pt x="10357" y="18225"/>
                    <a:pt x="9450" y="18678"/>
                    <a:pt x="9450" y="19238"/>
                  </a:cubicBezTo>
                  <a:cubicBezTo>
                    <a:pt x="9450" y="19797"/>
                    <a:pt x="10357" y="20250"/>
                    <a:pt x="11475" y="20250"/>
                  </a:cubicBezTo>
                  <a:close/>
                  <a:moveTo>
                    <a:pt x="18900" y="21600"/>
                  </a:moveTo>
                  <a:lnTo>
                    <a:pt x="2700" y="21600"/>
                  </a:lnTo>
                  <a:cubicBezTo>
                    <a:pt x="1954" y="21600"/>
                    <a:pt x="1279" y="21449"/>
                    <a:pt x="791" y="21205"/>
                  </a:cubicBezTo>
                  <a:cubicBezTo>
                    <a:pt x="302" y="20960"/>
                    <a:pt x="0" y="20623"/>
                    <a:pt x="0" y="20250"/>
                  </a:cubicBezTo>
                  <a:lnTo>
                    <a:pt x="0" y="1350"/>
                  </a:lnTo>
                  <a:cubicBezTo>
                    <a:pt x="0" y="977"/>
                    <a:pt x="302" y="640"/>
                    <a:pt x="791" y="395"/>
                  </a:cubicBezTo>
                  <a:cubicBezTo>
                    <a:pt x="1279" y="151"/>
                    <a:pt x="1954" y="0"/>
                    <a:pt x="2700" y="0"/>
                  </a:cubicBezTo>
                  <a:lnTo>
                    <a:pt x="18900" y="0"/>
                  </a:lnTo>
                  <a:cubicBezTo>
                    <a:pt x="19646" y="0"/>
                    <a:pt x="20321" y="151"/>
                    <a:pt x="20809" y="395"/>
                  </a:cubicBezTo>
                  <a:cubicBezTo>
                    <a:pt x="21298" y="640"/>
                    <a:pt x="21600" y="977"/>
                    <a:pt x="21600" y="1350"/>
                  </a:cubicBezTo>
                  <a:lnTo>
                    <a:pt x="21600" y="20250"/>
                  </a:lnTo>
                  <a:cubicBezTo>
                    <a:pt x="21600" y="20623"/>
                    <a:pt x="21298" y="20960"/>
                    <a:pt x="20809" y="21205"/>
                  </a:cubicBezTo>
                  <a:cubicBezTo>
                    <a:pt x="20321" y="21449"/>
                    <a:pt x="19646" y="21600"/>
                    <a:pt x="1890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5" name="Shape 34231">
              <a:extLst>
                <a:ext uri="{FF2B5EF4-FFF2-40B4-BE49-F238E27FC236}">
                  <a16:creationId xmlns:a16="http://schemas.microsoft.com/office/drawing/2014/main" id="{35403DDE-DDDF-A4A3-8574-550FC2348FA0}"/>
                </a:ext>
              </a:extLst>
            </p:cNvPr>
            <p:cNvSpPr/>
            <p:nvPr/>
          </p:nvSpPr>
          <p:spPr>
            <a:xfrm>
              <a:off x="12484545" y="3228311"/>
              <a:ext cx="428100" cy="347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6" name="Shape 34232">
              <a:extLst>
                <a:ext uri="{FF2B5EF4-FFF2-40B4-BE49-F238E27FC236}">
                  <a16:creationId xmlns:a16="http://schemas.microsoft.com/office/drawing/2014/main" id="{8F61DD08-9B59-C4E5-5769-A748751A1BA9}"/>
                </a:ext>
              </a:extLst>
            </p:cNvPr>
            <p:cNvSpPr/>
            <p:nvPr/>
          </p:nvSpPr>
          <p:spPr>
            <a:xfrm>
              <a:off x="11791096" y="11232556"/>
              <a:ext cx="130464" cy="2796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7" name="Shape 34233">
              <a:extLst>
                <a:ext uri="{FF2B5EF4-FFF2-40B4-BE49-F238E27FC236}">
                  <a16:creationId xmlns:a16="http://schemas.microsoft.com/office/drawing/2014/main" id="{F426EA7D-907F-BA9B-E5E7-313BEA0B053D}"/>
                </a:ext>
              </a:extLst>
            </p:cNvPr>
            <p:cNvSpPr/>
            <p:nvPr/>
          </p:nvSpPr>
          <p:spPr>
            <a:xfrm>
              <a:off x="11084739" y="4570184"/>
              <a:ext cx="304442" cy="392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8" name="Shape 34234">
              <a:extLst>
                <a:ext uri="{FF2B5EF4-FFF2-40B4-BE49-F238E27FC236}">
                  <a16:creationId xmlns:a16="http://schemas.microsoft.com/office/drawing/2014/main" id="{5C22217F-FD1E-F18B-FF4B-82567CE5DCA1}"/>
                </a:ext>
              </a:extLst>
            </p:cNvPr>
            <p:cNvSpPr/>
            <p:nvPr/>
          </p:nvSpPr>
          <p:spPr>
            <a:xfrm>
              <a:off x="10710090" y="4258444"/>
              <a:ext cx="419088" cy="392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69" name="Shape 34235">
              <a:extLst>
                <a:ext uri="{FF2B5EF4-FFF2-40B4-BE49-F238E27FC236}">
                  <a16:creationId xmlns:a16="http://schemas.microsoft.com/office/drawing/2014/main" id="{BCDA1780-5369-5563-0622-D61A54BEC2DF}"/>
                </a:ext>
              </a:extLst>
            </p:cNvPr>
            <p:cNvSpPr/>
            <p:nvPr/>
          </p:nvSpPr>
          <p:spPr>
            <a:xfrm>
              <a:off x="9790862" y="4363012"/>
              <a:ext cx="428100" cy="347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0" name="Shape 34236">
              <a:extLst>
                <a:ext uri="{FF2B5EF4-FFF2-40B4-BE49-F238E27FC236}">
                  <a16:creationId xmlns:a16="http://schemas.microsoft.com/office/drawing/2014/main" id="{E9CF551E-55FB-2B85-2131-C5F843088F7F}"/>
                </a:ext>
              </a:extLst>
            </p:cNvPr>
            <p:cNvSpPr/>
            <p:nvPr/>
          </p:nvSpPr>
          <p:spPr>
            <a:xfrm>
              <a:off x="12210021" y="7840631"/>
              <a:ext cx="346528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1" name="Shape 34237">
              <a:extLst>
                <a:ext uri="{FF2B5EF4-FFF2-40B4-BE49-F238E27FC236}">
                  <a16:creationId xmlns:a16="http://schemas.microsoft.com/office/drawing/2014/main" id="{FFACF437-3B44-946E-27E7-90C32C4D78CF}"/>
                </a:ext>
              </a:extLst>
            </p:cNvPr>
            <p:cNvSpPr/>
            <p:nvPr/>
          </p:nvSpPr>
          <p:spPr>
            <a:xfrm>
              <a:off x="11135547" y="9214788"/>
              <a:ext cx="16385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2" name="Shape 34238">
              <a:extLst>
                <a:ext uri="{FF2B5EF4-FFF2-40B4-BE49-F238E27FC236}">
                  <a16:creationId xmlns:a16="http://schemas.microsoft.com/office/drawing/2014/main" id="{46C4E1FE-4F6F-924C-4B5B-0696E855EB77}"/>
                </a:ext>
              </a:extLst>
            </p:cNvPr>
            <p:cNvSpPr/>
            <p:nvPr/>
          </p:nvSpPr>
          <p:spPr>
            <a:xfrm>
              <a:off x="13971261" y="7721068"/>
              <a:ext cx="16385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3" name="Shape 34239">
              <a:extLst>
                <a:ext uri="{FF2B5EF4-FFF2-40B4-BE49-F238E27FC236}">
                  <a16:creationId xmlns:a16="http://schemas.microsoft.com/office/drawing/2014/main" id="{D185878E-FF18-4A20-B9EE-176068B979C5}"/>
                </a:ext>
              </a:extLst>
            </p:cNvPr>
            <p:cNvSpPr/>
            <p:nvPr/>
          </p:nvSpPr>
          <p:spPr>
            <a:xfrm>
              <a:off x="13086555" y="5888971"/>
              <a:ext cx="304442" cy="3928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4" name="Shape 34240">
              <a:extLst>
                <a:ext uri="{FF2B5EF4-FFF2-40B4-BE49-F238E27FC236}">
                  <a16:creationId xmlns:a16="http://schemas.microsoft.com/office/drawing/2014/main" id="{D93BD9D1-EEA1-0D4F-8600-3F3153A93B6C}"/>
                </a:ext>
              </a:extLst>
            </p:cNvPr>
            <p:cNvSpPr/>
            <p:nvPr/>
          </p:nvSpPr>
          <p:spPr>
            <a:xfrm>
              <a:off x="12718729" y="8725244"/>
              <a:ext cx="218222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5" name="Shape 34241">
              <a:extLst>
                <a:ext uri="{FF2B5EF4-FFF2-40B4-BE49-F238E27FC236}">
                  <a16:creationId xmlns:a16="http://schemas.microsoft.com/office/drawing/2014/main" id="{D7E296EA-B791-A4EA-1153-80795F3A152B}"/>
                </a:ext>
              </a:extLst>
            </p:cNvPr>
            <p:cNvSpPr/>
            <p:nvPr/>
          </p:nvSpPr>
          <p:spPr>
            <a:xfrm>
              <a:off x="11342014" y="7513407"/>
              <a:ext cx="272208" cy="366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11" h="20821" extrusionOk="0">
                  <a:moveTo>
                    <a:pt x="12499" y="13303"/>
                  </a:moveTo>
                  <a:cubicBezTo>
                    <a:pt x="13474" y="15282"/>
                    <a:pt x="14406" y="17194"/>
                    <a:pt x="14461" y="19063"/>
                  </a:cubicBezTo>
                  <a:cubicBezTo>
                    <a:pt x="14479" y="19633"/>
                    <a:pt x="14582" y="20311"/>
                    <a:pt x="14210" y="20821"/>
                  </a:cubicBezTo>
                  <a:cubicBezTo>
                    <a:pt x="10525" y="17927"/>
                    <a:pt x="9838" y="14212"/>
                    <a:pt x="8115" y="11051"/>
                  </a:cubicBezTo>
                  <a:cubicBezTo>
                    <a:pt x="6053" y="10122"/>
                    <a:pt x="4570" y="7480"/>
                    <a:pt x="6196" y="6231"/>
                  </a:cubicBezTo>
                  <a:cubicBezTo>
                    <a:pt x="8553" y="4419"/>
                    <a:pt x="10035" y="7345"/>
                    <a:pt x="10598" y="8773"/>
                  </a:cubicBezTo>
                  <a:cubicBezTo>
                    <a:pt x="10906" y="9555"/>
                    <a:pt x="10989" y="10416"/>
                    <a:pt x="11671" y="11094"/>
                  </a:cubicBezTo>
                  <a:cubicBezTo>
                    <a:pt x="13112" y="12518"/>
                    <a:pt x="15601" y="11340"/>
                    <a:pt x="16169" y="9915"/>
                  </a:cubicBezTo>
                  <a:cubicBezTo>
                    <a:pt x="16983" y="7871"/>
                    <a:pt x="15656" y="5461"/>
                    <a:pt x="13976" y="3794"/>
                  </a:cubicBezTo>
                  <a:cubicBezTo>
                    <a:pt x="11415" y="1258"/>
                    <a:pt x="6416" y="1969"/>
                    <a:pt x="3932" y="4842"/>
                  </a:cubicBezTo>
                  <a:cubicBezTo>
                    <a:pt x="2652" y="6323"/>
                    <a:pt x="2147" y="8434"/>
                    <a:pt x="3515" y="10418"/>
                  </a:cubicBezTo>
                  <a:cubicBezTo>
                    <a:pt x="4236" y="11464"/>
                    <a:pt x="5170" y="12108"/>
                    <a:pt x="6136" y="12400"/>
                  </a:cubicBezTo>
                  <a:cubicBezTo>
                    <a:pt x="6282" y="12445"/>
                    <a:pt x="6666" y="12458"/>
                    <a:pt x="6895" y="12661"/>
                  </a:cubicBezTo>
                  <a:cubicBezTo>
                    <a:pt x="7361" y="13074"/>
                    <a:pt x="7439" y="13745"/>
                    <a:pt x="7417" y="14249"/>
                  </a:cubicBezTo>
                  <a:cubicBezTo>
                    <a:pt x="5334" y="14777"/>
                    <a:pt x="3377" y="14023"/>
                    <a:pt x="1894" y="12542"/>
                  </a:cubicBezTo>
                  <a:cubicBezTo>
                    <a:pt x="-1478" y="9170"/>
                    <a:pt x="-94" y="4513"/>
                    <a:pt x="4049" y="1953"/>
                  </a:cubicBezTo>
                  <a:cubicBezTo>
                    <a:pt x="8469" y="-779"/>
                    <a:pt x="13971" y="-622"/>
                    <a:pt x="16956" y="2276"/>
                  </a:cubicBezTo>
                  <a:cubicBezTo>
                    <a:pt x="19176" y="4430"/>
                    <a:pt x="20122" y="7281"/>
                    <a:pt x="19546" y="9389"/>
                  </a:cubicBezTo>
                  <a:cubicBezTo>
                    <a:pt x="19112" y="10973"/>
                    <a:pt x="17273" y="13272"/>
                    <a:pt x="14367" y="13517"/>
                  </a:cubicBezTo>
                  <a:cubicBezTo>
                    <a:pt x="13720" y="13571"/>
                    <a:pt x="13303" y="13441"/>
                    <a:pt x="12499" y="1330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6" name="Shape 34242">
              <a:extLst>
                <a:ext uri="{FF2B5EF4-FFF2-40B4-BE49-F238E27FC236}">
                  <a16:creationId xmlns:a16="http://schemas.microsoft.com/office/drawing/2014/main" id="{7BD1DB59-0745-31CF-1150-1C2BA96B3818}"/>
                </a:ext>
              </a:extLst>
            </p:cNvPr>
            <p:cNvSpPr/>
            <p:nvPr/>
          </p:nvSpPr>
          <p:spPr>
            <a:xfrm>
              <a:off x="14349166" y="3565132"/>
              <a:ext cx="272152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7" name="Shape 34243">
              <a:extLst>
                <a:ext uri="{FF2B5EF4-FFF2-40B4-BE49-F238E27FC236}">
                  <a16:creationId xmlns:a16="http://schemas.microsoft.com/office/drawing/2014/main" id="{859A2A30-578E-E0CF-9B88-4D0BBC19E5F0}"/>
                </a:ext>
              </a:extLst>
            </p:cNvPr>
            <p:cNvSpPr/>
            <p:nvPr/>
          </p:nvSpPr>
          <p:spPr>
            <a:xfrm>
              <a:off x="10163109" y="5879849"/>
              <a:ext cx="373972" cy="3505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8" name="Shape 34244">
              <a:extLst>
                <a:ext uri="{FF2B5EF4-FFF2-40B4-BE49-F238E27FC236}">
                  <a16:creationId xmlns:a16="http://schemas.microsoft.com/office/drawing/2014/main" id="{829F2089-03A8-EB09-9794-C58301A25377}"/>
                </a:ext>
              </a:extLst>
            </p:cNvPr>
            <p:cNvSpPr/>
            <p:nvPr/>
          </p:nvSpPr>
          <p:spPr>
            <a:xfrm>
              <a:off x="14467934" y="6264695"/>
              <a:ext cx="347528" cy="3257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79" name="Shape 34245">
              <a:extLst>
                <a:ext uri="{FF2B5EF4-FFF2-40B4-BE49-F238E27FC236}">
                  <a16:creationId xmlns:a16="http://schemas.microsoft.com/office/drawing/2014/main" id="{5EF4459E-AC23-C524-D870-8EAA6CA4506F}"/>
                </a:ext>
              </a:extLst>
            </p:cNvPr>
            <p:cNvSpPr/>
            <p:nvPr/>
          </p:nvSpPr>
          <p:spPr>
            <a:xfrm>
              <a:off x="12353445" y="9604415"/>
              <a:ext cx="266020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0" name="Shape 34246">
              <a:extLst>
                <a:ext uri="{FF2B5EF4-FFF2-40B4-BE49-F238E27FC236}">
                  <a16:creationId xmlns:a16="http://schemas.microsoft.com/office/drawing/2014/main" id="{A49966BE-49C2-2E0B-DF00-BE6046DA1688}"/>
                </a:ext>
              </a:extLst>
            </p:cNvPr>
            <p:cNvSpPr/>
            <p:nvPr/>
          </p:nvSpPr>
          <p:spPr>
            <a:xfrm>
              <a:off x="11817349" y="7826120"/>
              <a:ext cx="266022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1" name="Shape 34247">
              <a:extLst>
                <a:ext uri="{FF2B5EF4-FFF2-40B4-BE49-F238E27FC236}">
                  <a16:creationId xmlns:a16="http://schemas.microsoft.com/office/drawing/2014/main" id="{55D230AC-EDAC-D177-985F-928BDF840C57}"/>
                </a:ext>
              </a:extLst>
            </p:cNvPr>
            <p:cNvSpPr/>
            <p:nvPr/>
          </p:nvSpPr>
          <p:spPr>
            <a:xfrm>
              <a:off x="10728159" y="11858687"/>
              <a:ext cx="359648" cy="359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4116" tIns="24116" rIns="24116" bIns="24116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2" name="Shape 34248">
              <a:extLst>
                <a:ext uri="{FF2B5EF4-FFF2-40B4-BE49-F238E27FC236}">
                  <a16:creationId xmlns:a16="http://schemas.microsoft.com/office/drawing/2014/main" id="{1F148CBC-8AA1-BE4E-E118-503C7C297140}"/>
                </a:ext>
              </a:extLst>
            </p:cNvPr>
            <p:cNvSpPr/>
            <p:nvPr/>
          </p:nvSpPr>
          <p:spPr>
            <a:xfrm>
              <a:off x="11187068" y="11262359"/>
              <a:ext cx="266020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3" name="Shape 34249">
              <a:extLst>
                <a:ext uri="{FF2B5EF4-FFF2-40B4-BE49-F238E27FC236}">
                  <a16:creationId xmlns:a16="http://schemas.microsoft.com/office/drawing/2014/main" id="{A6803C7B-FD14-9001-B985-748E17C421AA}"/>
                </a:ext>
              </a:extLst>
            </p:cNvPr>
            <p:cNvSpPr/>
            <p:nvPr/>
          </p:nvSpPr>
          <p:spPr>
            <a:xfrm>
              <a:off x="11097651" y="11556529"/>
              <a:ext cx="363722" cy="489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89"/>
                  </a:moveTo>
                  <a:lnTo>
                    <a:pt x="7526" y="11318"/>
                  </a:lnTo>
                  <a:lnTo>
                    <a:pt x="10639" y="10027"/>
                  </a:lnTo>
                  <a:lnTo>
                    <a:pt x="6735" y="4831"/>
                  </a:lnTo>
                  <a:cubicBezTo>
                    <a:pt x="7186" y="4822"/>
                    <a:pt x="7638" y="4734"/>
                    <a:pt x="8042" y="4542"/>
                  </a:cubicBezTo>
                  <a:cubicBezTo>
                    <a:pt x="8843" y="4160"/>
                    <a:pt x="9286" y="3488"/>
                    <a:pt x="9338" y="2779"/>
                  </a:cubicBezTo>
                  <a:cubicBezTo>
                    <a:pt x="9343" y="2717"/>
                    <a:pt x="9344" y="2654"/>
                    <a:pt x="9343" y="2591"/>
                  </a:cubicBezTo>
                  <a:cubicBezTo>
                    <a:pt x="10859" y="2532"/>
                    <a:pt x="12290" y="2713"/>
                    <a:pt x="13557" y="3159"/>
                  </a:cubicBezTo>
                  <a:cubicBezTo>
                    <a:pt x="15647" y="3894"/>
                    <a:pt x="17171" y="5277"/>
                    <a:pt x="17964" y="7158"/>
                  </a:cubicBezTo>
                  <a:cubicBezTo>
                    <a:pt x="19200" y="10089"/>
                    <a:pt x="17878" y="13269"/>
                    <a:pt x="14770" y="15143"/>
                  </a:cubicBezTo>
                  <a:lnTo>
                    <a:pt x="13545" y="13629"/>
                  </a:lnTo>
                  <a:lnTo>
                    <a:pt x="15711" y="12662"/>
                  </a:lnTo>
                  <a:lnTo>
                    <a:pt x="15100" y="11906"/>
                  </a:lnTo>
                  <a:lnTo>
                    <a:pt x="7202" y="15433"/>
                  </a:lnTo>
                  <a:lnTo>
                    <a:pt x="7813" y="16189"/>
                  </a:lnTo>
                  <a:lnTo>
                    <a:pt x="9983" y="15220"/>
                  </a:lnTo>
                  <a:lnTo>
                    <a:pt x="11972" y="17680"/>
                  </a:lnTo>
                  <a:lnTo>
                    <a:pt x="7432" y="19708"/>
                  </a:lnTo>
                  <a:lnTo>
                    <a:pt x="8961" y="21600"/>
                  </a:lnTo>
                  <a:lnTo>
                    <a:pt x="21600" y="15956"/>
                  </a:lnTo>
                  <a:lnTo>
                    <a:pt x="20070" y="14064"/>
                  </a:lnTo>
                  <a:lnTo>
                    <a:pt x="16905" y="15477"/>
                  </a:lnTo>
                  <a:cubicBezTo>
                    <a:pt x="19819" y="13226"/>
                    <a:pt x="20973" y="9873"/>
                    <a:pt x="19662" y="6762"/>
                  </a:cubicBezTo>
                  <a:cubicBezTo>
                    <a:pt x="18716" y="4520"/>
                    <a:pt x="16868" y="2861"/>
                    <a:pt x="14317" y="1964"/>
                  </a:cubicBezTo>
                  <a:cubicBezTo>
                    <a:pt x="12625" y="1368"/>
                    <a:pt x="10722" y="1151"/>
                    <a:pt x="8713" y="1295"/>
                  </a:cubicBezTo>
                  <a:cubicBezTo>
                    <a:pt x="7813" y="536"/>
                    <a:pt x="6285" y="336"/>
                    <a:pt x="5078" y="875"/>
                  </a:cubicBezTo>
                  <a:cubicBezTo>
                    <a:pt x="4725" y="1032"/>
                    <a:pt x="4440" y="1236"/>
                    <a:pt x="4217" y="1471"/>
                  </a:cubicBezTo>
                  <a:lnTo>
                    <a:pt x="3109" y="0"/>
                  </a:lnTo>
                  <a:lnTo>
                    <a:pt x="0" y="1289"/>
                  </a:lnTo>
                  <a:close/>
                  <a:moveTo>
                    <a:pt x="5994" y="2008"/>
                  </a:moveTo>
                  <a:cubicBezTo>
                    <a:pt x="6453" y="1798"/>
                    <a:pt x="7049" y="1856"/>
                    <a:pt x="7404" y="2156"/>
                  </a:cubicBezTo>
                  <a:cubicBezTo>
                    <a:pt x="7771" y="2467"/>
                    <a:pt x="7762" y="2932"/>
                    <a:pt x="7387" y="3235"/>
                  </a:cubicBezTo>
                  <a:cubicBezTo>
                    <a:pt x="7313" y="3300"/>
                    <a:pt x="7226" y="3359"/>
                    <a:pt x="7123" y="3405"/>
                  </a:cubicBezTo>
                  <a:cubicBezTo>
                    <a:pt x="6605" y="3637"/>
                    <a:pt x="5928" y="3511"/>
                    <a:pt x="5619" y="3126"/>
                  </a:cubicBezTo>
                  <a:cubicBezTo>
                    <a:pt x="5309" y="2742"/>
                    <a:pt x="5480" y="2244"/>
                    <a:pt x="5994" y="20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4" name="Shape 34250">
              <a:extLst>
                <a:ext uri="{FF2B5EF4-FFF2-40B4-BE49-F238E27FC236}">
                  <a16:creationId xmlns:a16="http://schemas.microsoft.com/office/drawing/2014/main" id="{F54ECFE8-A0DD-BE50-2B8A-AEC375164636}"/>
                </a:ext>
              </a:extLst>
            </p:cNvPr>
            <p:cNvSpPr/>
            <p:nvPr/>
          </p:nvSpPr>
          <p:spPr>
            <a:xfrm>
              <a:off x="11475026" y="12061751"/>
              <a:ext cx="218222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5" name="Shape 34251">
              <a:extLst>
                <a:ext uri="{FF2B5EF4-FFF2-40B4-BE49-F238E27FC236}">
                  <a16:creationId xmlns:a16="http://schemas.microsoft.com/office/drawing/2014/main" id="{F5DA6B52-A364-0343-A021-D1AD7A5B7867}"/>
                </a:ext>
              </a:extLst>
            </p:cNvPr>
            <p:cNvSpPr/>
            <p:nvPr/>
          </p:nvSpPr>
          <p:spPr>
            <a:xfrm>
              <a:off x="11001064" y="12147982"/>
              <a:ext cx="241994" cy="2796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307" y="15970"/>
                  </a:lnTo>
                  <a:lnTo>
                    <a:pt x="6112" y="19464"/>
                  </a:lnTo>
                  <a:cubicBezTo>
                    <a:pt x="6112" y="19464"/>
                    <a:pt x="0" y="21600"/>
                    <a:pt x="0" y="21600"/>
                  </a:cubicBezTo>
                  <a:close/>
                  <a:moveTo>
                    <a:pt x="6773" y="18782"/>
                  </a:moveTo>
                  <a:lnTo>
                    <a:pt x="1968" y="15288"/>
                  </a:lnTo>
                  <a:lnTo>
                    <a:pt x="13737" y="3150"/>
                  </a:lnTo>
                  <a:lnTo>
                    <a:pt x="18545" y="6642"/>
                  </a:lnTo>
                  <a:cubicBezTo>
                    <a:pt x="18545" y="6642"/>
                    <a:pt x="6773" y="18782"/>
                    <a:pt x="6773" y="18782"/>
                  </a:cubicBezTo>
                  <a:close/>
                  <a:moveTo>
                    <a:pt x="19218" y="5946"/>
                  </a:moveTo>
                  <a:lnTo>
                    <a:pt x="14411" y="2455"/>
                  </a:lnTo>
                  <a:lnTo>
                    <a:pt x="16792" y="0"/>
                  </a:lnTo>
                  <a:lnTo>
                    <a:pt x="21600" y="3492"/>
                  </a:lnTo>
                  <a:cubicBezTo>
                    <a:pt x="21600" y="3492"/>
                    <a:pt x="19218" y="5946"/>
                    <a:pt x="19218" y="594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6" name="Shape 34252">
              <a:extLst>
                <a:ext uri="{FF2B5EF4-FFF2-40B4-BE49-F238E27FC236}">
                  <a16:creationId xmlns:a16="http://schemas.microsoft.com/office/drawing/2014/main" id="{E909B32D-5C04-1B0F-7C40-8D0410B8717A}"/>
                </a:ext>
              </a:extLst>
            </p:cNvPr>
            <p:cNvSpPr/>
            <p:nvPr/>
          </p:nvSpPr>
          <p:spPr>
            <a:xfrm>
              <a:off x="11499317" y="12714275"/>
              <a:ext cx="353634" cy="243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29" y="10800"/>
                  </a:moveTo>
                  <a:lnTo>
                    <a:pt x="14850" y="5891"/>
                  </a:lnTo>
                  <a:lnTo>
                    <a:pt x="18865" y="5891"/>
                  </a:lnTo>
                  <a:lnTo>
                    <a:pt x="20250" y="10800"/>
                  </a:lnTo>
                  <a:lnTo>
                    <a:pt x="14829" y="10800"/>
                  </a:lnTo>
                  <a:close/>
                  <a:moveTo>
                    <a:pt x="20250" y="5564"/>
                  </a:moveTo>
                  <a:cubicBezTo>
                    <a:pt x="19879" y="3856"/>
                    <a:pt x="18900" y="3919"/>
                    <a:pt x="18900" y="3919"/>
                  </a:cubicBezTo>
                  <a:lnTo>
                    <a:pt x="13495" y="3919"/>
                  </a:lnTo>
                  <a:lnTo>
                    <a:pt x="13495" y="18655"/>
                  </a:lnTo>
                  <a:lnTo>
                    <a:pt x="15525" y="18655"/>
                  </a:lnTo>
                  <a:cubicBezTo>
                    <a:pt x="15527" y="14736"/>
                    <a:pt x="16734" y="14727"/>
                    <a:pt x="18225" y="14728"/>
                  </a:cubicBezTo>
                  <a:cubicBezTo>
                    <a:pt x="19716" y="14728"/>
                    <a:pt x="20918" y="14757"/>
                    <a:pt x="20924" y="18655"/>
                  </a:cubicBezTo>
                  <a:lnTo>
                    <a:pt x="21600" y="18655"/>
                  </a:lnTo>
                  <a:lnTo>
                    <a:pt x="21600" y="10817"/>
                  </a:lnTo>
                  <a:cubicBezTo>
                    <a:pt x="21600" y="10817"/>
                    <a:pt x="20621" y="7272"/>
                    <a:pt x="20250" y="5564"/>
                  </a:cubicBezTo>
                  <a:close/>
                  <a:moveTo>
                    <a:pt x="12690" y="1964"/>
                  </a:moveTo>
                  <a:lnTo>
                    <a:pt x="12690" y="18655"/>
                  </a:lnTo>
                  <a:lnTo>
                    <a:pt x="6750" y="18655"/>
                  </a:lnTo>
                  <a:cubicBezTo>
                    <a:pt x="6750" y="14728"/>
                    <a:pt x="5541" y="14728"/>
                    <a:pt x="4050" y="14728"/>
                  </a:cubicBezTo>
                  <a:cubicBezTo>
                    <a:pt x="2559" y="14728"/>
                    <a:pt x="1350" y="14728"/>
                    <a:pt x="1350" y="18655"/>
                  </a:cubicBezTo>
                  <a:lnTo>
                    <a:pt x="0" y="18655"/>
                  </a:lnTo>
                  <a:lnTo>
                    <a:pt x="0" y="1964"/>
                  </a:lnTo>
                  <a:cubicBezTo>
                    <a:pt x="0" y="1421"/>
                    <a:pt x="151" y="931"/>
                    <a:pt x="395" y="575"/>
                  </a:cubicBezTo>
                  <a:cubicBezTo>
                    <a:pt x="640" y="220"/>
                    <a:pt x="977" y="0"/>
                    <a:pt x="1350" y="0"/>
                  </a:cubicBezTo>
                  <a:lnTo>
                    <a:pt x="11340" y="0"/>
                  </a:lnTo>
                  <a:cubicBezTo>
                    <a:pt x="11713" y="0"/>
                    <a:pt x="12050" y="220"/>
                    <a:pt x="12295" y="575"/>
                  </a:cubicBezTo>
                  <a:cubicBezTo>
                    <a:pt x="12539" y="931"/>
                    <a:pt x="12690" y="1421"/>
                    <a:pt x="12690" y="1964"/>
                  </a:cubicBezTo>
                  <a:close/>
                  <a:moveTo>
                    <a:pt x="4050" y="19636"/>
                  </a:moveTo>
                  <a:cubicBezTo>
                    <a:pt x="3677" y="19636"/>
                    <a:pt x="3375" y="19197"/>
                    <a:pt x="3375" y="18655"/>
                  </a:cubicBezTo>
                  <a:cubicBezTo>
                    <a:pt x="3375" y="18112"/>
                    <a:pt x="3677" y="17673"/>
                    <a:pt x="4050" y="17673"/>
                  </a:cubicBezTo>
                  <a:cubicBezTo>
                    <a:pt x="4423" y="17673"/>
                    <a:pt x="4725" y="18112"/>
                    <a:pt x="4725" y="18655"/>
                  </a:cubicBezTo>
                  <a:cubicBezTo>
                    <a:pt x="4725" y="19197"/>
                    <a:pt x="4423" y="19636"/>
                    <a:pt x="4050" y="19636"/>
                  </a:cubicBezTo>
                  <a:close/>
                  <a:moveTo>
                    <a:pt x="4050" y="15709"/>
                  </a:moveTo>
                  <a:cubicBezTo>
                    <a:pt x="2932" y="15709"/>
                    <a:pt x="2025" y="17028"/>
                    <a:pt x="2025" y="18655"/>
                  </a:cubicBezTo>
                  <a:cubicBezTo>
                    <a:pt x="2025" y="20281"/>
                    <a:pt x="2932" y="21600"/>
                    <a:pt x="4050" y="21600"/>
                  </a:cubicBezTo>
                  <a:cubicBezTo>
                    <a:pt x="5168" y="21600"/>
                    <a:pt x="6075" y="20281"/>
                    <a:pt x="6075" y="18655"/>
                  </a:cubicBezTo>
                  <a:cubicBezTo>
                    <a:pt x="6075" y="17028"/>
                    <a:pt x="5168" y="15709"/>
                    <a:pt x="4050" y="15709"/>
                  </a:cubicBezTo>
                  <a:close/>
                  <a:moveTo>
                    <a:pt x="18225" y="19636"/>
                  </a:moveTo>
                  <a:cubicBezTo>
                    <a:pt x="17852" y="19636"/>
                    <a:pt x="17550" y="19197"/>
                    <a:pt x="17550" y="18655"/>
                  </a:cubicBezTo>
                  <a:cubicBezTo>
                    <a:pt x="17550" y="18112"/>
                    <a:pt x="17852" y="17673"/>
                    <a:pt x="18225" y="17673"/>
                  </a:cubicBezTo>
                  <a:cubicBezTo>
                    <a:pt x="18598" y="17673"/>
                    <a:pt x="18900" y="18112"/>
                    <a:pt x="18900" y="18655"/>
                  </a:cubicBezTo>
                  <a:cubicBezTo>
                    <a:pt x="18900" y="19197"/>
                    <a:pt x="18598" y="19636"/>
                    <a:pt x="18225" y="19636"/>
                  </a:cubicBezTo>
                  <a:close/>
                  <a:moveTo>
                    <a:pt x="18225" y="15709"/>
                  </a:moveTo>
                  <a:cubicBezTo>
                    <a:pt x="17107" y="15709"/>
                    <a:pt x="16200" y="17028"/>
                    <a:pt x="16200" y="18655"/>
                  </a:cubicBezTo>
                  <a:cubicBezTo>
                    <a:pt x="16200" y="20281"/>
                    <a:pt x="17107" y="21600"/>
                    <a:pt x="18225" y="21600"/>
                  </a:cubicBezTo>
                  <a:cubicBezTo>
                    <a:pt x="19343" y="21600"/>
                    <a:pt x="20250" y="20281"/>
                    <a:pt x="20250" y="18655"/>
                  </a:cubicBezTo>
                  <a:cubicBezTo>
                    <a:pt x="20250" y="17028"/>
                    <a:pt x="19343" y="15709"/>
                    <a:pt x="18225" y="157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4116" tIns="24116" rIns="24116" bIns="24116" numCol="1" anchor="b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7" name="Shape 34253">
              <a:extLst>
                <a:ext uri="{FF2B5EF4-FFF2-40B4-BE49-F238E27FC236}">
                  <a16:creationId xmlns:a16="http://schemas.microsoft.com/office/drawing/2014/main" id="{904C6508-E6C5-9FAB-06BA-F3F504B95C0E}"/>
                </a:ext>
              </a:extLst>
            </p:cNvPr>
            <p:cNvSpPr/>
            <p:nvPr/>
          </p:nvSpPr>
          <p:spPr>
            <a:xfrm rot="1920000">
              <a:off x="12259440" y="12552699"/>
              <a:ext cx="459460" cy="1276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936"/>
                  </a:moveTo>
                  <a:lnTo>
                    <a:pt x="17631" y="5428"/>
                  </a:lnTo>
                  <a:lnTo>
                    <a:pt x="17241" y="21600"/>
                  </a:lnTo>
                  <a:cubicBezTo>
                    <a:pt x="17241" y="21600"/>
                    <a:pt x="21600" y="14936"/>
                    <a:pt x="21600" y="14936"/>
                  </a:cubicBezTo>
                  <a:close/>
                  <a:moveTo>
                    <a:pt x="16506" y="21368"/>
                  </a:moveTo>
                  <a:lnTo>
                    <a:pt x="16896" y="5196"/>
                  </a:lnTo>
                  <a:lnTo>
                    <a:pt x="3794" y="1071"/>
                  </a:lnTo>
                  <a:lnTo>
                    <a:pt x="3401" y="17243"/>
                  </a:lnTo>
                  <a:cubicBezTo>
                    <a:pt x="3401" y="17243"/>
                    <a:pt x="16506" y="21368"/>
                    <a:pt x="16506" y="21368"/>
                  </a:cubicBezTo>
                  <a:close/>
                  <a:moveTo>
                    <a:pt x="2651" y="17004"/>
                  </a:moveTo>
                  <a:lnTo>
                    <a:pt x="3043" y="832"/>
                  </a:lnTo>
                  <a:lnTo>
                    <a:pt x="393" y="0"/>
                  </a:lnTo>
                  <a:lnTo>
                    <a:pt x="0" y="16172"/>
                  </a:lnTo>
                  <a:cubicBezTo>
                    <a:pt x="0" y="16172"/>
                    <a:pt x="2651" y="17004"/>
                    <a:pt x="2651" y="170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8" name="Shape 34254">
              <a:extLst>
                <a:ext uri="{FF2B5EF4-FFF2-40B4-BE49-F238E27FC236}">
                  <a16:creationId xmlns:a16="http://schemas.microsoft.com/office/drawing/2014/main" id="{7C11C3C3-50EF-CD38-713D-3B82765597CF}"/>
                </a:ext>
              </a:extLst>
            </p:cNvPr>
            <p:cNvSpPr/>
            <p:nvPr/>
          </p:nvSpPr>
          <p:spPr>
            <a:xfrm>
              <a:off x="10340903" y="5125500"/>
              <a:ext cx="609452" cy="544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89" name="Shape 34255">
              <a:extLst>
                <a:ext uri="{FF2B5EF4-FFF2-40B4-BE49-F238E27FC236}">
                  <a16:creationId xmlns:a16="http://schemas.microsoft.com/office/drawing/2014/main" id="{DD0B73BB-9B23-85D1-08F0-A1083002F1EE}"/>
                </a:ext>
              </a:extLst>
            </p:cNvPr>
            <p:cNvSpPr/>
            <p:nvPr/>
          </p:nvSpPr>
          <p:spPr>
            <a:xfrm>
              <a:off x="9854702" y="4803941"/>
              <a:ext cx="502982" cy="45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9" h="20716" extrusionOk="0">
                  <a:moveTo>
                    <a:pt x="19071" y="18146"/>
                  </a:moveTo>
                  <a:cubicBezTo>
                    <a:pt x="20183" y="16314"/>
                    <a:pt x="19749" y="13820"/>
                    <a:pt x="18102" y="12586"/>
                  </a:cubicBezTo>
                  <a:cubicBezTo>
                    <a:pt x="17662" y="12256"/>
                    <a:pt x="17178" y="12053"/>
                    <a:pt x="16685" y="11962"/>
                  </a:cubicBezTo>
                  <a:lnTo>
                    <a:pt x="16672" y="15889"/>
                  </a:lnTo>
                  <a:cubicBezTo>
                    <a:pt x="16671" y="16166"/>
                    <a:pt x="16469" y="16390"/>
                    <a:pt x="16220" y="16389"/>
                  </a:cubicBezTo>
                  <a:cubicBezTo>
                    <a:pt x="15971" y="16388"/>
                    <a:pt x="15770" y="16164"/>
                    <a:pt x="15771" y="15887"/>
                  </a:cubicBezTo>
                  <a:lnTo>
                    <a:pt x="15784" y="11921"/>
                  </a:lnTo>
                  <a:cubicBezTo>
                    <a:pt x="14735" y="12022"/>
                    <a:pt x="13732" y="12627"/>
                    <a:pt x="13098" y="13672"/>
                  </a:cubicBezTo>
                  <a:cubicBezTo>
                    <a:pt x="11985" y="15504"/>
                    <a:pt x="12420" y="17998"/>
                    <a:pt x="14067" y="19232"/>
                  </a:cubicBezTo>
                  <a:cubicBezTo>
                    <a:pt x="15713" y="20465"/>
                    <a:pt x="17958" y="19979"/>
                    <a:pt x="19071" y="18146"/>
                  </a:cubicBezTo>
                  <a:close/>
                  <a:moveTo>
                    <a:pt x="16740" y="7857"/>
                  </a:moveTo>
                  <a:lnTo>
                    <a:pt x="15291" y="6772"/>
                  </a:lnTo>
                  <a:cubicBezTo>
                    <a:pt x="15127" y="6649"/>
                    <a:pt x="15015" y="6369"/>
                    <a:pt x="15043" y="6151"/>
                  </a:cubicBezTo>
                  <a:lnTo>
                    <a:pt x="15275" y="4322"/>
                  </a:lnTo>
                  <a:lnTo>
                    <a:pt x="11975" y="5321"/>
                  </a:lnTo>
                  <a:cubicBezTo>
                    <a:pt x="11975" y="5321"/>
                    <a:pt x="12203" y="5706"/>
                    <a:pt x="12483" y="6179"/>
                  </a:cubicBezTo>
                  <a:lnTo>
                    <a:pt x="16109" y="8895"/>
                  </a:lnTo>
                  <a:cubicBezTo>
                    <a:pt x="16109" y="8895"/>
                    <a:pt x="16740" y="7857"/>
                    <a:pt x="16740" y="7857"/>
                  </a:cubicBezTo>
                  <a:close/>
                  <a:moveTo>
                    <a:pt x="15093" y="9342"/>
                  </a:moveTo>
                  <a:lnTo>
                    <a:pt x="13604" y="8227"/>
                  </a:lnTo>
                  <a:cubicBezTo>
                    <a:pt x="13647" y="8494"/>
                    <a:pt x="13599" y="8776"/>
                    <a:pt x="13458" y="9008"/>
                  </a:cubicBezTo>
                  <a:lnTo>
                    <a:pt x="13459" y="9008"/>
                  </a:lnTo>
                  <a:cubicBezTo>
                    <a:pt x="13459" y="9008"/>
                    <a:pt x="13042" y="9692"/>
                    <a:pt x="12523" y="10542"/>
                  </a:cubicBezTo>
                  <a:cubicBezTo>
                    <a:pt x="12523" y="10542"/>
                    <a:pt x="15093" y="9342"/>
                    <a:pt x="15093" y="9342"/>
                  </a:cubicBezTo>
                  <a:close/>
                  <a:moveTo>
                    <a:pt x="11619" y="8259"/>
                  </a:moveTo>
                  <a:cubicBezTo>
                    <a:pt x="11619" y="8259"/>
                    <a:pt x="10321" y="6315"/>
                    <a:pt x="9704" y="5383"/>
                  </a:cubicBezTo>
                  <a:lnTo>
                    <a:pt x="8507" y="5869"/>
                  </a:lnTo>
                  <a:cubicBezTo>
                    <a:pt x="8769" y="6978"/>
                    <a:pt x="8675" y="8186"/>
                    <a:pt x="8184" y="9262"/>
                  </a:cubicBezTo>
                  <a:lnTo>
                    <a:pt x="10126" y="10718"/>
                  </a:lnTo>
                  <a:cubicBezTo>
                    <a:pt x="10126" y="10718"/>
                    <a:pt x="11619" y="8259"/>
                    <a:pt x="11619" y="8259"/>
                  </a:cubicBezTo>
                  <a:close/>
                  <a:moveTo>
                    <a:pt x="7096" y="9656"/>
                  </a:moveTo>
                  <a:lnTo>
                    <a:pt x="4125" y="7430"/>
                  </a:lnTo>
                  <a:cubicBezTo>
                    <a:pt x="3919" y="7275"/>
                    <a:pt x="3865" y="6964"/>
                    <a:pt x="4004" y="6735"/>
                  </a:cubicBezTo>
                  <a:cubicBezTo>
                    <a:pt x="4067" y="6631"/>
                    <a:pt x="4159" y="6564"/>
                    <a:pt x="4260" y="6533"/>
                  </a:cubicBezTo>
                  <a:lnTo>
                    <a:pt x="4259" y="6531"/>
                  </a:lnTo>
                  <a:lnTo>
                    <a:pt x="7505" y="5212"/>
                  </a:lnTo>
                  <a:cubicBezTo>
                    <a:pt x="7238" y="4652"/>
                    <a:pt x="6848" y="4155"/>
                    <a:pt x="6343" y="3777"/>
                  </a:cubicBezTo>
                  <a:cubicBezTo>
                    <a:pt x="4697" y="2543"/>
                    <a:pt x="2452" y="3030"/>
                    <a:pt x="1339" y="4862"/>
                  </a:cubicBezTo>
                  <a:cubicBezTo>
                    <a:pt x="227" y="6694"/>
                    <a:pt x="661" y="9188"/>
                    <a:pt x="2308" y="10422"/>
                  </a:cubicBezTo>
                  <a:cubicBezTo>
                    <a:pt x="3854" y="11580"/>
                    <a:pt x="5928" y="11221"/>
                    <a:pt x="7096" y="9656"/>
                  </a:cubicBezTo>
                  <a:close/>
                  <a:moveTo>
                    <a:pt x="5362" y="7148"/>
                  </a:moveTo>
                  <a:lnTo>
                    <a:pt x="7578" y="8808"/>
                  </a:lnTo>
                  <a:cubicBezTo>
                    <a:pt x="7940" y="7960"/>
                    <a:pt x="8013" y="7021"/>
                    <a:pt x="7822" y="6148"/>
                  </a:cubicBezTo>
                  <a:cubicBezTo>
                    <a:pt x="7822" y="6148"/>
                    <a:pt x="5362" y="7148"/>
                    <a:pt x="5362" y="7148"/>
                  </a:cubicBezTo>
                  <a:close/>
                  <a:moveTo>
                    <a:pt x="19668" y="18594"/>
                  </a:moveTo>
                  <a:cubicBezTo>
                    <a:pt x="18331" y="20796"/>
                    <a:pt x="15642" y="21379"/>
                    <a:pt x="13663" y="19896"/>
                  </a:cubicBezTo>
                  <a:cubicBezTo>
                    <a:pt x="11684" y="18413"/>
                    <a:pt x="11164" y="15426"/>
                    <a:pt x="12501" y="13224"/>
                  </a:cubicBezTo>
                  <a:cubicBezTo>
                    <a:pt x="13276" y="11948"/>
                    <a:pt x="14505" y="11216"/>
                    <a:pt x="15787" y="11115"/>
                  </a:cubicBezTo>
                  <a:lnTo>
                    <a:pt x="15791" y="10101"/>
                  </a:lnTo>
                  <a:lnTo>
                    <a:pt x="11595" y="12059"/>
                  </a:lnTo>
                  <a:cubicBezTo>
                    <a:pt x="11028" y="12983"/>
                    <a:pt x="10547" y="13764"/>
                    <a:pt x="10524" y="13787"/>
                  </a:cubicBezTo>
                  <a:cubicBezTo>
                    <a:pt x="10135" y="14180"/>
                    <a:pt x="9533" y="14149"/>
                    <a:pt x="9180" y="13717"/>
                  </a:cubicBezTo>
                  <a:cubicBezTo>
                    <a:pt x="8879" y="13349"/>
                    <a:pt x="8857" y="12810"/>
                    <a:pt x="9097" y="12415"/>
                  </a:cubicBezTo>
                  <a:lnTo>
                    <a:pt x="9096" y="12414"/>
                  </a:lnTo>
                  <a:lnTo>
                    <a:pt x="9622" y="11548"/>
                  </a:lnTo>
                  <a:lnTo>
                    <a:pt x="7695" y="10105"/>
                  </a:lnTo>
                  <a:cubicBezTo>
                    <a:pt x="6301" y="12039"/>
                    <a:pt x="3783" y="12494"/>
                    <a:pt x="1904" y="11086"/>
                  </a:cubicBezTo>
                  <a:cubicBezTo>
                    <a:pt x="-75" y="9603"/>
                    <a:pt x="-595" y="6616"/>
                    <a:pt x="742" y="4414"/>
                  </a:cubicBezTo>
                  <a:cubicBezTo>
                    <a:pt x="2079" y="2212"/>
                    <a:pt x="4768" y="1629"/>
                    <a:pt x="6747" y="3112"/>
                  </a:cubicBezTo>
                  <a:cubicBezTo>
                    <a:pt x="7383" y="3589"/>
                    <a:pt x="7868" y="4222"/>
                    <a:pt x="8189" y="4933"/>
                  </a:cubicBezTo>
                  <a:lnTo>
                    <a:pt x="9242" y="4506"/>
                  </a:lnTo>
                  <a:cubicBezTo>
                    <a:pt x="9107" y="3945"/>
                    <a:pt x="9252" y="3323"/>
                    <a:pt x="9665" y="2905"/>
                  </a:cubicBezTo>
                  <a:cubicBezTo>
                    <a:pt x="9859" y="2709"/>
                    <a:pt x="10089" y="2584"/>
                    <a:pt x="10328" y="2526"/>
                  </a:cubicBezTo>
                  <a:lnTo>
                    <a:pt x="10328" y="2525"/>
                  </a:lnTo>
                  <a:lnTo>
                    <a:pt x="15055" y="1211"/>
                  </a:lnTo>
                  <a:lnTo>
                    <a:pt x="15055" y="1211"/>
                  </a:lnTo>
                  <a:cubicBezTo>
                    <a:pt x="15587" y="1000"/>
                    <a:pt x="16204" y="1148"/>
                    <a:pt x="16607" y="1641"/>
                  </a:cubicBezTo>
                  <a:cubicBezTo>
                    <a:pt x="16925" y="2031"/>
                    <a:pt x="17037" y="2548"/>
                    <a:pt x="16952" y="3028"/>
                  </a:cubicBezTo>
                  <a:lnTo>
                    <a:pt x="16953" y="3029"/>
                  </a:lnTo>
                  <a:lnTo>
                    <a:pt x="16496" y="5740"/>
                  </a:lnTo>
                  <a:lnTo>
                    <a:pt x="18231" y="7041"/>
                  </a:lnTo>
                  <a:cubicBezTo>
                    <a:pt x="18561" y="7288"/>
                    <a:pt x="18648" y="7786"/>
                    <a:pt x="18425" y="8153"/>
                  </a:cubicBezTo>
                  <a:cubicBezTo>
                    <a:pt x="18217" y="8496"/>
                    <a:pt x="17812" y="8599"/>
                    <a:pt x="17491" y="8409"/>
                  </a:cubicBezTo>
                  <a:lnTo>
                    <a:pt x="16693" y="9723"/>
                  </a:lnTo>
                  <a:lnTo>
                    <a:pt x="16688" y="11148"/>
                  </a:lnTo>
                  <a:cubicBezTo>
                    <a:pt x="17320" y="11245"/>
                    <a:pt x="17941" y="11499"/>
                    <a:pt x="18505" y="11922"/>
                  </a:cubicBezTo>
                  <a:cubicBezTo>
                    <a:pt x="20485" y="13405"/>
                    <a:pt x="21005" y="16392"/>
                    <a:pt x="19668" y="18594"/>
                  </a:cubicBezTo>
                  <a:close/>
                  <a:moveTo>
                    <a:pt x="17732" y="707"/>
                  </a:moveTo>
                  <a:cubicBezTo>
                    <a:pt x="18178" y="-27"/>
                    <a:pt x="19074" y="-221"/>
                    <a:pt x="19734" y="273"/>
                  </a:cubicBezTo>
                  <a:cubicBezTo>
                    <a:pt x="20394" y="767"/>
                    <a:pt x="20567" y="1763"/>
                    <a:pt x="20121" y="2497"/>
                  </a:cubicBezTo>
                  <a:cubicBezTo>
                    <a:pt x="19676" y="3231"/>
                    <a:pt x="18780" y="3426"/>
                    <a:pt x="18120" y="2931"/>
                  </a:cubicBezTo>
                  <a:cubicBezTo>
                    <a:pt x="17460" y="2437"/>
                    <a:pt x="17287" y="1441"/>
                    <a:pt x="17732" y="7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0" name="Shape 34256">
              <a:extLst>
                <a:ext uri="{FF2B5EF4-FFF2-40B4-BE49-F238E27FC236}">
                  <a16:creationId xmlns:a16="http://schemas.microsoft.com/office/drawing/2014/main" id="{DB198D26-C5BC-0B60-61A6-114E53BEA476}"/>
                </a:ext>
              </a:extLst>
            </p:cNvPr>
            <p:cNvSpPr/>
            <p:nvPr/>
          </p:nvSpPr>
          <p:spPr>
            <a:xfrm>
              <a:off x="10882778" y="5040627"/>
              <a:ext cx="347554" cy="302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7" h="21600" extrusionOk="0">
                  <a:moveTo>
                    <a:pt x="0" y="307"/>
                  </a:moveTo>
                  <a:lnTo>
                    <a:pt x="120" y="8229"/>
                  </a:lnTo>
                  <a:cubicBezTo>
                    <a:pt x="120" y="8229"/>
                    <a:pt x="1074" y="9367"/>
                    <a:pt x="2052" y="8590"/>
                  </a:cubicBezTo>
                  <a:cubicBezTo>
                    <a:pt x="3133" y="7728"/>
                    <a:pt x="5865" y="7659"/>
                    <a:pt x="5855" y="10716"/>
                  </a:cubicBezTo>
                  <a:cubicBezTo>
                    <a:pt x="5845" y="13772"/>
                    <a:pt x="3624" y="13944"/>
                    <a:pt x="2389" y="13251"/>
                  </a:cubicBezTo>
                  <a:cubicBezTo>
                    <a:pt x="1272" y="12623"/>
                    <a:pt x="199" y="13432"/>
                    <a:pt x="199" y="13432"/>
                  </a:cubicBezTo>
                  <a:lnTo>
                    <a:pt x="323" y="21600"/>
                  </a:lnTo>
                  <a:lnTo>
                    <a:pt x="6451" y="21477"/>
                  </a:lnTo>
                  <a:cubicBezTo>
                    <a:pt x="6451" y="21477"/>
                    <a:pt x="6986" y="20514"/>
                    <a:pt x="6421" y="19495"/>
                  </a:cubicBezTo>
                  <a:cubicBezTo>
                    <a:pt x="5733" y="18260"/>
                    <a:pt x="5615" y="15424"/>
                    <a:pt x="8509" y="15365"/>
                  </a:cubicBezTo>
                  <a:cubicBezTo>
                    <a:pt x="11403" y="15307"/>
                    <a:pt x="11419" y="18067"/>
                    <a:pt x="10615" y="19535"/>
                  </a:cubicBezTo>
                  <a:cubicBezTo>
                    <a:pt x="10013" y="20636"/>
                    <a:pt x="10643" y="21392"/>
                    <a:pt x="10643" y="21392"/>
                  </a:cubicBezTo>
                  <a:lnTo>
                    <a:pt x="15804" y="21289"/>
                  </a:lnTo>
                  <a:cubicBezTo>
                    <a:pt x="15804" y="21289"/>
                    <a:pt x="15557" y="15444"/>
                    <a:pt x="15758" y="13903"/>
                  </a:cubicBezTo>
                  <a:cubicBezTo>
                    <a:pt x="15974" y="12251"/>
                    <a:pt x="17639" y="13349"/>
                    <a:pt x="17948" y="13520"/>
                  </a:cubicBezTo>
                  <a:cubicBezTo>
                    <a:pt x="19729" y="14509"/>
                    <a:pt x="21600" y="13423"/>
                    <a:pt x="21556" y="10521"/>
                  </a:cubicBezTo>
                  <a:cubicBezTo>
                    <a:pt x="21512" y="7619"/>
                    <a:pt x="18822" y="6942"/>
                    <a:pt x="17537" y="8101"/>
                  </a:cubicBezTo>
                  <a:cubicBezTo>
                    <a:pt x="16582" y="8962"/>
                    <a:pt x="15790" y="9114"/>
                    <a:pt x="15630" y="8309"/>
                  </a:cubicBezTo>
                  <a:cubicBezTo>
                    <a:pt x="15257" y="6427"/>
                    <a:pt x="15266" y="0"/>
                    <a:pt x="15266" y="0"/>
                  </a:cubicBezTo>
                  <a:lnTo>
                    <a:pt x="10428" y="97"/>
                  </a:lnTo>
                  <a:cubicBezTo>
                    <a:pt x="10428" y="97"/>
                    <a:pt x="9511" y="1388"/>
                    <a:pt x="10249" y="2454"/>
                  </a:cubicBezTo>
                  <a:cubicBezTo>
                    <a:pt x="11360" y="4059"/>
                    <a:pt x="10780" y="6532"/>
                    <a:pt x="8483" y="6578"/>
                  </a:cubicBezTo>
                  <a:cubicBezTo>
                    <a:pt x="6187" y="6624"/>
                    <a:pt x="5468" y="4417"/>
                    <a:pt x="6490" y="2673"/>
                  </a:cubicBezTo>
                  <a:cubicBezTo>
                    <a:pt x="7062" y="1695"/>
                    <a:pt x="6320" y="191"/>
                    <a:pt x="6320" y="191"/>
                  </a:cubicBezTo>
                  <a:cubicBezTo>
                    <a:pt x="6320" y="191"/>
                    <a:pt x="0" y="307"/>
                    <a:pt x="0" y="3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1" name="Shape 34257">
              <a:extLst>
                <a:ext uri="{FF2B5EF4-FFF2-40B4-BE49-F238E27FC236}">
                  <a16:creationId xmlns:a16="http://schemas.microsoft.com/office/drawing/2014/main" id="{C495D662-E4AD-8FDF-FC9F-7D24BA960269}"/>
                </a:ext>
              </a:extLst>
            </p:cNvPr>
            <p:cNvSpPr/>
            <p:nvPr/>
          </p:nvSpPr>
          <p:spPr>
            <a:xfrm>
              <a:off x="10466323" y="4715507"/>
              <a:ext cx="342888" cy="302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5" h="21448" extrusionOk="0">
                  <a:moveTo>
                    <a:pt x="1162" y="1839"/>
                  </a:moveTo>
                  <a:cubicBezTo>
                    <a:pt x="454" y="1924"/>
                    <a:pt x="-67" y="2640"/>
                    <a:pt x="7" y="3442"/>
                  </a:cubicBezTo>
                  <a:lnTo>
                    <a:pt x="1557" y="20144"/>
                  </a:lnTo>
                  <a:cubicBezTo>
                    <a:pt x="1631" y="20947"/>
                    <a:pt x="2272" y="21524"/>
                    <a:pt x="2980" y="21440"/>
                  </a:cubicBezTo>
                  <a:lnTo>
                    <a:pt x="19632" y="19456"/>
                  </a:lnTo>
                  <a:cubicBezTo>
                    <a:pt x="20339" y="19372"/>
                    <a:pt x="20850" y="18657"/>
                    <a:pt x="20776" y="17855"/>
                  </a:cubicBezTo>
                  <a:lnTo>
                    <a:pt x="20372" y="13497"/>
                  </a:lnTo>
                  <a:lnTo>
                    <a:pt x="15892" y="14031"/>
                  </a:lnTo>
                  <a:cubicBezTo>
                    <a:pt x="15184" y="14115"/>
                    <a:pt x="14553" y="13536"/>
                    <a:pt x="14479" y="12734"/>
                  </a:cubicBezTo>
                  <a:lnTo>
                    <a:pt x="14209" y="9825"/>
                  </a:lnTo>
                  <a:cubicBezTo>
                    <a:pt x="14135" y="9023"/>
                    <a:pt x="14646" y="8308"/>
                    <a:pt x="15353" y="8224"/>
                  </a:cubicBezTo>
                  <a:lnTo>
                    <a:pt x="19833" y="7690"/>
                  </a:lnTo>
                  <a:lnTo>
                    <a:pt x="19497" y="4062"/>
                  </a:lnTo>
                  <a:cubicBezTo>
                    <a:pt x="19422" y="3260"/>
                    <a:pt x="18790" y="2669"/>
                    <a:pt x="18083" y="2754"/>
                  </a:cubicBezTo>
                  <a:lnTo>
                    <a:pt x="17948" y="1305"/>
                  </a:lnTo>
                  <a:cubicBezTo>
                    <a:pt x="17874" y="503"/>
                    <a:pt x="17243" y="-76"/>
                    <a:pt x="16535" y="8"/>
                  </a:cubicBezTo>
                  <a:lnTo>
                    <a:pt x="1162" y="1839"/>
                  </a:lnTo>
                  <a:close/>
                  <a:moveTo>
                    <a:pt x="1930" y="3213"/>
                  </a:moveTo>
                  <a:lnTo>
                    <a:pt x="15381" y="1611"/>
                  </a:lnTo>
                  <a:cubicBezTo>
                    <a:pt x="15381" y="1611"/>
                    <a:pt x="16670" y="1454"/>
                    <a:pt x="16804" y="2906"/>
                  </a:cubicBezTo>
                  <a:lnTo>
                    <a:pt x="2065" y="4661"/>
                  </a:lnTo>
                  <a:cubicBezTo>
                    <a:pt x="1711" y="4704"/>
                    <a:pt x="1401" y="4420"/>
                    <a:pt x="1364" y="4018"/>
                  </a:cubicBezTo>
                  <a:cubicBezTo>
                    <a:pt x="1327" y="3618"/>
                    <a:pt x="1577" y="3255"/>
                    <a:pt x="1930" y="3213"/>
                  </a:cubicBezTo>
                  <a:close/>
                  <a:moveTo>
                    <a:pt x="16055" y="8878"/>
                  </a:moveTo>
                  <a:cubicBezTo>
                    <a:pt x="15347" y="8963"/>
                    <a:pt x="14836" y="9677"/>
                    <a:pt x="14911" y="10479"/>
                  </a:cubicBezTo>
                  <a:lnTo>
                    <a:pt x="15045" y="11928"/>
                  </a:lnTo>
                  <a:cubicBezTo>
                    <a:pt x="15120" y="12730"/>
                    <a:pt x="15751" y="13309"/>
                    <a:pt x="16458" y="13225"/>
                  </a:cubicBezTo>
                  <a:lnTo>
                    <a:pt x="20304" y="12767"/>
                  </a:lnTo>
                  <a:cubicBezTo>
                    <a:pt x="21012" y="12682"/>
                    <a:pt x="21533" y="11966"/>
                    <a:pt x="21459" y="11164"/>
                  </a:cubicBezTo>
                  <a:lnTo>
                    <a:pt x="21324" y="9716"/>
                  </a:lnTo>
                  <a:cubicBezTo>
                    <a:pt x="21250" y="8913"/>
                    <a:pt x="20608" y="8336"/>
                    <a:pt x="19901" y="8420"/>
                  </a:cubicBezTo>
                  <a:lnTo>
                    <a:pt x="16055" y="8878"/>
                  </a:lnTo>
                  <a:close/>
                  <a:moveTo>
                    <a:pt x="16834" y="10250"/>
                  </a:moveTo>
                  <a:cubicBezTo>
                    <a:pt x="17188" y="10208"/>
                    <a:pt x="17508" y="10491"/>
                    <a:pt x="17545" y="10892"/>
                  </a:cubicBezTo>
                  <a:cubicBezTo>
                    <a:pt x="17582" y="11293"/>
                    <a:pt x="17322" y="11657"/>
                    <a:pt x="16968" y="11699"/>
                  </a:cubicBezTo>
                  <a:cubicBezTo>
                    <a:pt x="16614" y="11741"/>
                    <a:pt x="16293" y="11447"/>
                    <a:pt x="16256" y="11046"/>
                  </a:cubicBezTo>
                  <a:cubicBezTo>
                    <a:pt x="16219" y="10644"/>
                    <a:pt x="16480" y="10293"/>
                    <a:pt x="16834" y="102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2" name="Shape 34258">
              <a:extLst>
                <a:ext uri="{FF2B5EF4-FFF2-40B4-BE49-F238E27FC236}">
                  <a16:creationId xmlns:a16="http://schemas.microsoft.com/office/drawing/2014/main" id="{782B38B6-7885-E0FB-6B35-5977C84E5125}"/>
                </a:ext>
              </a:extLst>
            </p:cNvPr>
            <p:cNvSpPr/>
            <p:nvPr/>
          </p:nvSpPr>
          <p:spPr>
            <a:xfrm>
              <a:off x="13456598" y="7929263"/>
              <a:ext cx="368866" cy="3296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3" name="Shape 34259">
              <a:extLst>
                <a:ext uri="{FF2B5EF4-FFF2-40B4-BE49-F238E27FC236}">
                  <a16:creationId xmlns:a16="http://schemas.microsoft.com/office/drawing/2014/main" id="{ACEA1985-C96B-D18C-1DB4-3239D01C5DBD}"/>
                </a:ext>
              </a:extLst>
            </p:cNvPr>
            <p:cNvSpPr/>
            <p:nvPr/>
          </p:nvSpPr>
          <p:spPr>
            <a:xfrm>
              <a:off x="12160172" y="6699066"/>
              <a:ext cx="39292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4" name="Shape 34260">
              <a:extLst>
                <a:ext uri="{FF2B5EF4-FFF2-40B4-BE49-F238E27FC236}">
                  <a16:creationId xmlns:a16="http://schemas.microsoft.com/office/drawing/2014/main" id="{E2E15F41-8745-DF54-7A98-5CCD82B4B0A9}"/>
                </a:ext>
              </a:extLst>
            </p:cNvPr>
            <p:cNvSpPr/>
            <p:nvPr/>
          </p:nvSpPr>
          <p:spPr>
            <a:xfrm>
              <a:off x="10867845" y="10886425"/>
              <a:ext cx="279004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5" name="Shape 34261">
              <a:extLst>
                <a:ext uri="{FF2B5EF4-FFF2-40B4-BE49-F238E27FC236}">
                  <a16:creationId xmlns:a16="http://schemas.microsoft.com/office/drawing/2014/main" id="{2854AF16-1899-28BD-ECE5-3F50BF094ACE}"/>
                </a:ext>
              </a:extLst>
            </p:cNvPr>
            <p:cNvSpPr/>
            <p:nvPr/>
          </p:nvSpPr>
          <p:spPr>
            <a:xfrm>
              <a:off x="12725585" y="12289966"/>
              <a:ext cx="373054" cy="303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6" name="Shape 34262">
              <a:extLst>
                <a:ext uri="{FF2B5EF4-FFF2-40B4-BE49-F238E27FC236}">
                  <a16:creationId xmlns:a16="http://schemas.microsoft.com/office/drawing/2014/main" id="{CBDEFF28-A355-BD1E-9EC9-71CA5C467CE0}"/>
                </a:ext>
              </a:extLst>
            </p:cNvPr>
            <p:cNvSpPr/>
            <p:nvPr/>
          </p:nvSpPr>
          <p:spPr>
            <a:xfrm>
              <a:off x="13639147" y="5652275"/>
              <a:ext cx="728794" cy="541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7" name="Shape 34263">
              <a:extLst>
                <a:ext uri="{FF2B5EF4-FFF2-40B4-BE49-F238E27FC236}">
                  <a16:creationId xmlns:a16="http://schemas.microsoft.com/office/drawing/2014/main" id="{F604FEFF-8D13-1B9F-D241-E7D2AFA9209B}"/>
                </a:ext>
              </a:extLst>
            </p:cNvPr>
            <p:cNvSpPr/>
            <p:nvPr/>
          </p:nvSpPr>
          <p:spPr>
            <a:xfrm>
              <a:off x="14075163" y="6302567"/>
              <a:ext cx="163854" cy="3511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8" name="Shape 34264">
              <a:extLst>
                <a:ext uri="{FF2B5EF4-FFF2-40B4-BE49-F238E27FC236}">
                  <a16:creationId xmlns:a16="http://schemas.microsoft.com/office/drawing/2014/main" id="{29642944-FCFB-9027-DBEB-A3DE374E30A7}"/>
                </a:ext>
              </a:extLst>
            </p:cNvPr>
            <p:cNvSpPr/>
            <p:nvPr/>
          </p:nvSpPr>
          <p:spPr>
            <a:xfrm>
              <a:off x="11378351" y="9431234"/>
              <a:ext cx="527920" cy="3919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  <p:sp>
          <p:nvSpPr>
            <p:cNvPr id="99" name="Shape 34265">
              <a:extLst>
                <a:ext uri="{FF2B5EF4-FFF2-40B4-BE49-F238E27FC236}">
                  <a16:creationId xmlns:a16="http://schemas.microsoft.com/office/drawing/2014/main" id="{B4AE4AFC-DE57-6193-7D6C-068A638F5DC0}"/>
                </a:ext>
              </a:extLst>
            </p:cNvPr>
            <p:cNvSpPr/>
            <p:nvPr/>
          </p:nvSpPr>
          <p:spPr>
            <a:xfrm>
              <a:off x="13182794" y="4769147"/>
              <a:ext cx="316260" cy="2348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279">
                <a:latin typeface="Lato Light" panose="020F0502020204030203" pitchFamily="34" charset="0"/>
              </a:endParaRPr>
            </a:p>
          </p:txBody>
        </p:sp>
      </p:grpSp>
      <p:sp>
        <p:nvSpPr>
          <p:cNvPr id="100" name="Espace réservé du pied de page 3">
            <a:extLst>
              <a:ext uri="{FF2B5EF4-FFF2-40B4-BE49-F238E27FC236}">
                <a16:creationId xmlns:a16="http://schemas.microsoft.com/office/drawing/2014/main" id="{2783CFBA-6AC1-37C3-6669-B3210FC822AA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40909" y="6552622"/>
            <a:ext cx="4114800" cy="307399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(c) 10904 / S07 </a:t>
            </a:r>
            <a:endParaRPr kumimoji="0" lang="fr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B5BF024-8E3A-0E70-B502-4833A83A61B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1F20FBA3-27E4-4E13-841E-B59ED0E8E620}" type="slidenum">
              <a:rPr lang="fr-CA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fr-CA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429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ème Office">
  <a:themeElements>
    <a:clrScheme name="Personnalisé 1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1F497D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Thème Office">
  <a:themeElements>
    <a:clrScheme name="Personnalisé 1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1F497D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b797739-e8dc-4491-9318-4a619ee9b15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210C906DD6AF4AAA0745DA7F7D668C" ma:contentTypeVersion="16" ma:contentTypeDescription="Create a new document." ma:contentTypeScope="" ma:versionID="31d8dd37800a71d9fe15f22dc000f6c5">
  <xsd:schema xmlns:xsd="http://www.w3.org/2001/XMLSchema" xmlns:xs="http://www.w3.org/2001/XMLSchema" xmlns:p="http://schemas.microsoft.com/office/2006/metadata/properties" xmlns:ns3="9b797739-e8dc-4491-9318-4a619ee9b153" xmlns:ns4="08c3be05-7986-4e38-b56c-c7c4a964138c" targetNamespace="http://schemas.microsoft.com/office/2006/metadata/properties" ma:root="true" ma:fieldsID="bc972a2e58901271c97d4b95cef24859" ns3:_="" ns4:_="">
    <xsd:import namespace="9b797739-e8dc-4491-9318-4a619ee9b153"/>
    <xsd:import namespace="08c3be05-7986-4e38-b56c-c7c4a964138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CR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797739-e8dc-4491-9318-4a619ee9b1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c3be05-7986-4e38-b56c-c7c4a964138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C0DBB17-3D28-43FF-AD5E-2AA4FFEFA0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6CC749F-14C7-4E46-BC3E-BE755E5F2BA4}">
  <ds:schemaRefs>
    <ds:schemaRef ds:uri="http://purl.org/dc/terms/"/>
    <ds:schemaRef ds:uri="08c3be05-7986-4e38-b56c-c7c4a964138c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9b797739-e8dc-4491-9318-4a619ee9b153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39BA3B4-E26E-4B5E-BE98-16272E3A2A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797739-e8dc-4491-9318-4a619ee9b153"/>
    <ds:schemaRef ds:uri="08c3be05-7986-4e38-b56c-c7c4a96413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37972</TotalTime>
  <Words>1128</Words>
  <Application>Microsoft Office PowerPoint</Application>
  <PresentationFormat>Grand écran</PresentationFormat>
  <Paragraphs>249</Paragraphs>
  <Slides>14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4</vt:i4>
      </vt:variant>
      <vt:variant>
        <vt:lpstr>Titres des diapositives</vt:lpstr>
      </vt:variant>
      <vt:variant>
        <vt:i4>14</vt:i4>
      </vt:variant>
    </vt:vector>
  </HeadingPairs>
  <TitlesOfParts>
    <vt:vector size="26" baseType="lpstr">
      <vt:lpstr>Aptos</vt:lpstr>
      <vt:lpstr>Aptos Display</vt:lpstr>
      <vt:lpstr>Arial</vt:lpstr>
      <vt:lpstr>Arial,Sans-Serif</vt:lpstr>
      <vt:lpstr>Calibri</vt:lpstr>
      <vt:lpstr>Calibri Light</vt:lpstr>
      <vt:lpstr>Lato Light</vt:lpstr>
      <vt:lpstr>Poppins</vt:lpstr>
      <vt:lpstr>Thème Office</vt:lpstr>
      <vt:lpstr>1_Thème Office</vt:lpstr>
      <vt:lpstr>6_Thème Office</vt:lpstr>
      <vt:lpstr>2_Thème Office</vt:lpstr>
      <vt:lpstr>Comptabilité de gestion (10904) Séance 7</vt:lpstr>
      <vt:lpstr>Objectifs de la séance</vt:lpstr>
      <vt:lpstr>Révision avant l’intra</vt:lpstr>
      <vt:lpstr>Vue globale du cours (séances 1 à 7)</vt:lpstr>
      <vt:lpstr>La classification des coûts</vt:lpstr>
      <vt:lpstr>État des résultats (coûts variables)</vt:lpstr>
      <vt:lpstr>La prise de décisions d’exploitation à court terme et l’analyse de la rentabilité</vt:lpstr>
      <vt:lpstr>S05: Coût de fabrication unitaire des produits -  révision des étapes</vt:lpstr>
      <vt:lpstr>Comment calculer le coût de fabrication ?</vt:lpstr>
      <vt:lpstr>Activités de révision</vt:lpstr>
      <vt:lpstr>Informations pour l’intra</vt:lpstr>
      <vt:lpstr>Informations pour l’intra</vt:lpstr>
      <vt:lpstr>Se préparer à l’examen</vt:lpstr>
      <vt:lpstr>QUESTIONS…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Utilisateur Microsoft Office</dc:creator>
  <cp:lastModifiedBy>Loecha Philion</cp:lastModifiedBy>
  <cp:revision>330</cp:revision>
  <dcterms:created xsi:type="dcterms:W3CDTF">2020-05-27T11:33:39Z</dcterms:created>
  <dcterms:modified xsi:type="dcterms:W3CDTF">2026-10-01T13:03:26Z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0x0101003F210C906DD6AF4AAA0745DA7F7D668C</vt:lpwstr>
  </property>
</Properties>
</file>