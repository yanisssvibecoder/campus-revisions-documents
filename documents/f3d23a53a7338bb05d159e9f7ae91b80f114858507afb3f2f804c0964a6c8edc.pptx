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2"/>
  </p:notesMasterIdLst>
  <p:sldIdLst>
    <p:sldId id="285" r:id="rId2"/>
    <p:sldId id="288" r:id="rId3"/>
    <p:sldId id="289" r:id="rId4"/>
    <p:sldId id="308" r:id="rId5"/>
    <p:sldId id="309" r:id="rId6"/>
    <p:sldId id="310" r:id="rId7"/>
    <p:sldId id="311" r:id="rId8"/>
    <p:sldId id="314" r:id="rId9"/>
    <p:sldId id="315" r:id="rId10"/>
    <p:sldId id="312" r:id="rId11"/>
    <p:sldId id="313" r:id="rId12"/>
    <p:sldId id="317" r:id="rId13"/>
    <p:sldId id="316" r:id="rId14"/>
    <p:sldId id="329" r:id="rId15"/>
    <p:sldId id="330" r:id="rId16"/>
    <p:sldId id="290" r:id="rId17"/>
    <p:sldId id="291" r:id="rId18"/>
    <p:sldId id="318" r:id="rId19"/>
    <p:sldId id="294" r:id="rId20"/>
    <p:sldId id="293" r:id="rId21"/>
    <p:sldId id="319" r:id="rId22"/>
    <p:sldId id="298" r:id="rId23"/>
    <p:sldId id="299" r:id="rId24"/>
    <p:sldId id="320" r:id="rId25"/>
    <p:sldId id="302" r:id="rId26"/>
    <p:sldId id="303" r:id="rId27"/>
    <p:sldId id="304" r:id="rId28"/>
    <p:sldId id="321" r:id="rId29"/>
    <p:sldId id="307" r:id="rId30"/>
    <p:sldId id="279" r:id="rId31"/>
  </p:sldIdLst>
  <p:sldSz cx="9144000" cy="5143500" type="screen16x9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95" autoAdjust="0"/>
    <p:restoredTop sz="94660"/>
  </p:normalViewPr>
  <p:slideViewPr>
    <p:cSldViewPr>
      <p:cViewPr varScale="1">
        <p:scale>
          <a:sx n="99" d="100"/>
          <a:sy n="99" d="100"/>
        </p:scale>
        <p:origin x="76" y="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0EB049-3BF1-4B02-A9AF-973D892E0D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3039B275-DAA7-429A-9BB9-DF2CBC23CB68}">
      <dgm:prSet phldrT="[Texte]"/>
      <dgm:spPr/>
      <dgm:t>
        <a:bodyPr/>
        <a:lstStyle/>
        <a:p>
          <a:r>
            <a:rPr lang="fr-CA" dirty="0"/>
            <a:t>Avantages </a:t>
          </a:r>
        </a:p>
      </dgm:t>
    </dgm:pt>
    <dgm:pt modelId="{C1381534-35BE-4BA4-88B1-82C81E385A03}" type="parTrans" cxnId="{B4825BFF-06EE-4514-876D-14095C2F34DF}">
      <dgm:prSet/>
      <dgm:spPr/>
      <dgm:t>
        <a:bodyPr/>
        <a:lstStyle/>
        <a:p>
          <a:endParaRPr lang="fr-CA"/>
        </a:p>
      </dgm:t>
    </dgm:pt>
    <dgm:pt modelId="{37821E8D-B62A-4E0D-BB13-22F406AA1681}" type="sibTrans" cxnId="{B4825BFF-06EE-4514-876D-14095C2F34DF}">
      <dgm:prSet/>
      <dgm:spPr/>
      <dgm:t>
        <a:bodyPr/>
        <a:lstStyle/>
        <a:p>
          <a:endParaRPr lang="fr-CA"/>
        </a:p>
      </dgm:t>
    </dgm:pt>
    <dgm:pt modelId="{AC13FC9F-EE1F-485F-A50F-49FFB3F1B2CD}">
      <dgm:prSet phldrT="[Texte]"/>
      <dgm:spPr/>
      <dgm:t>
        <a:bodyPr/>
        <a:lstStyle/>
        <a:p>
          <a:r>
            <a:rPr lang="fr-FR" altLang="en-US" dirty="0"/>
            <a:t>Avantages de taxation</a:t>
          </a:r>
          <a:endParaRPr lang="fr-CA" dirty="0"/>
        </a:p>
      </dgm:t>
    </dgm:pt>
    <dgm:pt modelId="{E8E9A7E8-ACD6-4664-BAC0-F9529FC6EA3C}" type="parTrans" cxnId="{A6827AE5-C280-4356-9535-83D8A0E67BA6}">
      <dgm:prSet/>
      <dgm:spPr/>
      <dgm:t>
        <a:bodyPr/>
        <a:lstStyle/>
        <a:p>
          <a:endParaRPr lang="fr-CA"/>
        </a:p>
      </dgm:t>
    </dgm:pt>
    <dgm:pt modelId="{FD09ADE0-37C4-4180-9B92-C5C8E4CB4954}" type="sibTrans" cxnId="{A6827AE5-C280-4356-9535-83D8A0E67BA6}">
      <dgm:prSet/>
      <dgm:spPr/>
      <dgm:t>
        <a:bodyPr/>
        <a:lstStyle/>
        <a:p>
          <a:endParaRPr lang="fr-CA"/>
        </a:p>
      </dgm:t>
    </dgm:pt>
    <dgm:pt modelId="{C712EF55-018B-42E9-BBDD-25D77D1DE817}">
      <dgm:prSet phldrT="[Texte]"/>
      <dgm:spPr/>
      <dgm:t>
        <a:bodyPr/>
        <a:lstStyle/>
        <a:p>
          <a:r>
            <a:rPr lang="fr-FR" altLang="en-US" dirty="0"/>
            <a:t>Discipline l’exécutif</a:t>
          </a:r>
          <a:endParaRPr lang="fr-CA" dirty="0"/>
        </a:p>
      </dgm:t>
    </dgm:pt>
    <dgm:pt modelId="{D0C1B004-F7FD-4093-A6AE-6B246233D306}" type="parTrans" cxnId="{3067FB67-075A-4CC4-A3B6-5852E381ED0F}">
      <dgm:prSet/>
      <dgm:spPr/>
      <dgm:t>
        <a:bodyPr/>
        <a:lstStyle/>
        <a:p>
          <a:endParaRPr lang="fr-CA"/>
        </a:p>
      </dgm:t>
    </dgm:pt>
    <dgm:pt modelId="{5DF0D113-D16D-47C9-A4B9-ED07FCDB05D8}" type="sibTrans" cxnId="{3067FB67-075A-4CC4-A3B6-5852E381ED0F}">
      <dgm:prSet/>
      <dgm:spPr/>
      <dgm:t>
        <a:bodyPr/>
        <a:lstStyle/>
        <a:p>
          <a:endParaRPr lang="fr-CA"/>
        </a:p>
      </dgm:t>
    </dgm:pt>
    <dgm:pt modelId="{C5CFB8E8-0AC1-4094-A4F0-8A7CB0BF63D8}">
      <dgm:prSet phldrT="[Texte]"/>
      <dgm:spPr/>
      <dgm:t>
        <a:bodyPr/>
        <a:lstStyle/>
        <a:p>
          <a:r>
            <a:rPr lang="fr-CA" dirty="0"/>
            <a:t>Inconvénients</a:t>
          </a:r>
        </a:p>
      </dgm:t>
    </dgm:pt>
    <dgm:pt modelId="{AA4ACD73-B204-477F-9771-DF3C3445FC84}" type="parTrans" cxnId="{3A63985C-BDA3-4DB7-99ED-5426808E9E36}">
      <dgm:prSet/>
      <dgm:spPr/>
      <dgm:t>
        <a:bodyPr/>
        <a:lstStyle/>
        <a:p>
          <a:endParaRPr lang="fr-CA"/>
        </a:p>
      </dgm:t>
    </dgm:pt>
    <dgm:pt modelId="{C7269680-BD8D-41FF-B9FD-CDF5725713DA}" type="sibTrans" cxnId="{3A63985C-BDA3-4DB7-99ED-5426808E9E36}">
      <dgm:prSet/>
      <dgm:spPr/>
      <dgm:t>
        <a:bodyPr/>
        <a:lstStyle/>
        <a:p>
          <a:endParaRPr lang="fr-CA"/>
        </a:p>
      </dgm:t>
    </dgm:pt>
    <dgm:pt modelId="{F0B29D7A-B71E-408E-BE16-B9FD988F676A}">
      <dgm:prSet phldrT="[Texte]"/>
      <dgm:spPr/>
      <dgm:t>
        <a:bodyPr/>
        <a:lstStyle/>
        <a:p>
          <a:r>
            <a:rPr lang="fr-FR" altLang="en-US" dirty="0"/>
            <a:t>Coûts de faillite</a:t>
          </a:r>
          <a:endParaRPr lang="fr-CA" dirty="0"/>
        </a:p>
      </dgm:t>
    </dgm:pt>
    <dgm:pt modelId="{AF66FFBA-EFEE-4AA1-A079-8802C97E241A}" type="parTrans" cxnId="{4AF303CC-B506-4E72-8581-753F701C54AA}">
      <dgm:prSet/>
      <dgm:spPr/>
      <dgm:t>
        <a:bodyPr/>
        <a:lstStyle/>
        <a:p>
          <a:endParaRPr lang="fr-CA"/>
        </a:p>
      </dgm:t>
    </dgm:pt>
    <dgm:pt modelId="{0ABD34ED-EFDF-4418-8701-BC1B1DF6A860}" type="sibTrans" cxnId="{4AF303CC-B506-4E72-8581-753F701C54AA}">
      <dgm:prSet/>
      <dgm:spPr/>
      <dgm:t>
        <a:bodyPr/>
        <a:lstStyle/>
        <a:p>
          <a:endParaRPr lang="fr-CA"/>
        </a:p>
      </dgm:t>
    </dgm:pt>
    <dgm:pt modelId="{E1BD72EE-BAB5-4AE6-9648-2A3EF82896AE}">
      <dgm:prSet phldrT="[Texte]"/>
      <dgm:spPr/>
      <dgm:t>
        <a:bodyPr/>
        <a:lstStyle/>
        <a:p>
          <a:r>
            <a:rPr lang="fr-FR" altLang="en-US" dirty="0"/>
            <a:t>Coûts d’agence</a:t>
          </a:r>
          <a:endParaRPr lang="fr-CA" dirty="0"/>
        </a:p>
      </dgm:t>
    </dgm:pt>
    <dgm:pt modelId="{2F9D77B3-F586-435D-A3B6-AEE9FC272696}" type="parTrans" cxnId="{D6426614-F706-49AF-9A11-2671881CC627}">
      <dgm:prSet/>
      <dgm:spPr/>
      <dgm:t>
        <a:bodyPr/>
        <a:lstStyle/>
        <a:p>
          <a:endParaRPr lang="fr-CA"/>
        </a:p>
      </dgm:t>
    </dgm:pt>
    <dgm:pt modelId="{E3216267-8514-4BAE-B064-B4697C5C9C69}" type="sibTrans" cxnId="{D6426614-F706-49AF-9A11-2671881CC627}">
      <dgm:prSet/>
      <dgm:spPr/>
      <dgm:t>
        <a:bodyPr/>
        <a:lstStyle/>
        <a:p>
          <a:endParaRPr lang="fr-CA"/>
        </a:p>
      </dgm:t>
    </dgm:pt>
    <dgm:pt modelId="{4CB7CB61-9B09-4C05-9B38-791A35F1767F}">
      <dgm:prSet phldrT="[Texte]"/>
      <dgm:spPr/>
      <dgm:t>
        <a:bodyPr/>
        <a:lstStyle/>
        <a:p>
          <a:r>
            <a:rPr lang="fr-FR" altLang="en-US"/>
            <a:t>Perte future de flexibilité</a:t>
          </a:r>
          <a:endParaRPr lang="fr-CA" dirty="0"/>
        </a:p>
      </dgm:t>
    </dgm:pt>
    <dgm:pt modelId="{0575331F-5B8A-4FB6-BB2B-91D4618410FD}" type="parTrans" cxnId="{D0CEE96F-B7A8-466F-AEE7-20BDE45BC7D1}">
      <dgm:prSet/>
      <dgm:spPr/>
      <dgm:t>
        <a:bodyPr/>
        <a:lstStyle/>
        <a:p>
          <a:endParaRPr lang="fr-CA"/>
        </a:p>
      </dgm:t>
    </dgm:pt>
    <dgm:pt modelId="{E7D06BE3-44D1-4A92-8671-21FF6A4DE468}" type="sibTrans" cxnId="{D0CEE96F-B7A8-466F-AEE7-20BDE45BC7D1}">
      <dgm:prSet/>
      <dgm:spPr/>
      <dgm:t>
        <a:bodyPr/>
        <a:lstStyle/>
        <a:p>
          <a:endParaRPr lang="fr-CA"/>
        </a:p>
      </dgm:t>
    </dgm:pt>
    <dgm:pt modelId="{BFF98A81-9D02-481F-8C13-699A6B739A26}" type="pres">
      <dgm:prSet presAssocID="{660EB049-3BF1-4B02-A9AF-973D892E0DB9}" presName="Name0" presStyleCnt="0">
        <dgm:presLayoutVars>
          <dgm:dir/>
          <dgm:animLvl val="lvl"/>
          <dgm:resizeHandles val="exact"/>
        </dgm:presLayoutVars>
      </dgm:prSet>
      <dgm:spPr/>
    </dgm:pt>
    <dgm:pt modelId="{E6F1B243-46B5-41FE-BF31-DA143D0997A9}" type="pres">
      <dgm:prSet presAssocID="{3039B275-DAA7-429A-9BB9-DF2CBC23CB68}" presName="composite" presStyleCnt="0"/>
      <dgm:spPr/>
    </dgm:pt>
    <dgm:pt modelId="{BAC8731A-325C-4994-8BD4-5B734F817CFD}" type="pres">
      <dgm:prSet presAssocID="{3039B275-DAA7-429A-9BB9-DF2CBC23CB6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64D14476-8F93-470F-8536-8B87B7C28E48}" type="pres">
      <dgm:prSet presAssocID="{3039B275-DAA7-429A-9BB9-DF2CBC23CB68}" presName="desTx" presStyleLbl="alignAccFollowNode1" presStyleIdx="0" presStyleCnt="2">
        <dgm:presLayoutVars>
          <dgm:bulletEnabled val="1"/>
        </dgm:presLayoutVars>
      </dgm:prSet>
      <dgm:spPr/>
    </dgm:pt>
    <dgm:pt modelId="{05D2A859-E682-4819-9E21-7BE39A2EEBFB}" type="pres">
      <dgm:prSet presAssocID="{37821E8D-B62A-4E0D-BB13-22F406AA1681}" presName="space" presStyleCnt="0"/>
      <dgm:spPr/>
    </dgm:pt>
    <dgm:pt modelId="{05D350AE-CF27-4147-8146-C6AF9EED71D4}" type="pres">
      <dgm:prSet presAssocID="{C5CFB8E8-0AC1-4094-A4F0-8A7CB0BF63D8}" presName="composite" presStyleCnt="0"/>
      <dgm:spPr/>
    </dgm:pt>
    <dgm:pt modelId="{FB6B6AC3-7FDA-49CE-8201-4EA7A71D62F3}" type="pres">
      <dgm:prSet presAssocID="{C5CFB8E8-0AC1-4094-A4F0-8A7CB0BF63D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85F0FE1-6B0D-4EF1-918A-BAF93D8E260D}" type="pres">
      <dgm:prSet presAssocID="{C5CFB8E8-0AC1-4094-A4F0-8A7CB0BF63D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88D6406-A9C2-469D-A52A-2DD54095A99C}" type="presOf" srcId="{C5CFB8E8-0AC1-4094-A4F0-8A7CB0BF63D8}" destId="{FB6B6AC3-7FDA-49CE-8201-4EA7A71D62F3}" srcOrd="0" destOrd="0" presId="urn:microsoft.com/office/officeart/2005/8/layout/hList1"/>
    <dgm:cxn modelId="{D6426614-F706-49AF-9A11-2671881CC627}" srcId="{C5CFB8E8-0AC1-4094-A4F0-8A7CB0BF63D8}" destId="{E1BD72EE-BAB5-4AE6-9648-2A3EF82896AE}" srcOrd="1" destOrd="0" parTransId="{2F9D77B3-F586-435D-A3B6-AEE9FC272696}" sibTransId="{E3216267-8514-4BAE-B064-B4697C5C9C69}"/>
    <dgm:cxn modelId="{4ABC2624-7A21-42D4-B500-BB21CECAB77B}" type="presOf" srcId="{4CB7CB61-9B09-4C05-9B38-791A35F1767F}" destId="{785F0FE1-6B0D-4EF1-918A-BAF93D8E260D}" srcOrd="0" destOrd="2" presId="urn:microsoft.com/office/officeart/2005/8/layout/hList1"/>
    <dgm:cxn modelId="{AE9EB036-2BEE-4FAD-99A6-2E5FD79C12C1}" type="presOf" srcId="{660EB049-3BF1-4B02-A9AF-973D892E0DB9}" destId="{BFF98A81-9D02-481F-8C13-699A6B739A26}" srcOrd="0" destOrd="0" presId="urn:microsoft.com/office/officeart/2005/8/layout/hList1"/>
    <dgm:cxn modelId="{3A63985C-BDA3-4DB7-99ED-5426808E9E36}" srcId="{660EB049-3BF1-4B02-A9AF-973D892E0DB9}" destId="{C5CFB8E8-0AC1-4094-A4F0-8A7CB0BF63D8}" srcOrd="1" destOrd="0" parTransId="{AA4ACD73-B204-477F-9771-DF3C3445FC84}" sibTransId="{C7269680-BD8D-41FF-B9FD-CDF5725713DA}"/>
    <dgm:cxn modelId="{3067FB67-075A-4CC4-A3B6-5852E381ED0F}" srcId="{3039B275-DAA7-429A-9BB9-DF2CBC23CB68}" destId="{C712EF55-018B-42E9-BBDD-25D77D1DE817}" srcOrd="1" destOrd="0" parTransId="{D0C1B004-F7FD-4093-A6AE-6B246233D306}" sibTransId="{5DF0D113-D16D-47C9-A4B9-ED07FCDB05D8}"/>
    <dgm:cxn modelId="{2F69A06C-5928-4EBF-A1C6-2F1DCAD98E05}" type="presOf" srcId="{E1BD72EE-BAB5-4AE6-9648-2A3EF82896AE}" destId="{785F0FE1-6B0D-4EF1-918A-BAF93D8E260D}" srcOrd="0" destOrd="1" presId="urn:microsoft.com/office/officeart/2005/8/layout/hList1"/>
    <dgm:cxn modelId="{D0CEE96F-B7A8-466F-AEE7-20BDE45BC7D1}" srcId="{C5CFB8E8-0AC1-4094-A4F0-8A7CB0BF63D8}" destId="{4CB7CB61-9B09-4C05-9B38-791A35F1767F}" srcOrd="2" destOrd="0" parTransId="{0575331F-5B8A-4FB6-BB2B-91D4618410FD}" sibTransId="{E7D06BE3-44D1-4A92-8671-21FF6A4DE468}"/>
    <dgm:cxn modelId="{8EA900B7-3184-4C6B-812E-B4B3C3A89102}" type="presOf" srcId="{AC13FC9F-EE1F-485F-A50F-49FFB3F1B2CD}" destId="{64D14476-8F93-470F-8536-8B87B7C28E48}" srcOrd="0" destOrd="0" presId="urn:microsoft.com/office/officeart/2005/8/layout/hList1"/>
    <dgm:cxn modelId="{4AF303CC-B506-4E72-8581-753F701C54AA}" srcId="{C5CFB8E8-0AC1-4094-A4F0-8A7CB0BF63D8}" destId="{F0B29D7A-B71E-408E-BE16-B9FD988F676A}" srcOrd="0" destOrd="0" parTransId="{AF66FFBA-EFEE-4AA1-A079-8802C97E241A}" sibTransId="{0ABD34ED-EFDF-4418-8701-BC1B1DF6A860}"/>
    <dgm:cxn modelId="{A6827AE5-C280-4356-9535-83D8A0E67BA6}" srcId="{3039B275-DAA7-429A-9BB9-DF2CBC23CB68}" destId="{AC13FC9F-EE1F-485F-A50F-49FFB3F1B2CD}" srcOrd="0" destOrd="0" parTransId="{E8E9A7E8-ACD6-4664-BAC0-F9529FC6EA3C}" sibTransId="{FD09ADE0-37C4-4180-9B92-C5C8E4CB4954}"/>
    <dgm:cxn modelId="{0B769CF4-F14E-49F3-BF94-D4972FED5ACC}" type="presOf" srcId="{F0B29D7A-B71E-408E-BE16-B9FD988F676A}" destId="{785F0FE1-6B0D-4EF1-918A-BAF93D8E260D}" srcOrd="0" destOrd="0" presId="urn:microsoft.com/office/officeart/2005/8/layout/hList1"/>
    <dgm:cxn modelId="{85D0E2F6-5A39-42C9-9DC3-92F6D8DADEA0}" type="presOf" srcId="{3039B275-DAA7-429A-9BB9-DF2CBC23CB68}" destId="{BAC8731A-325C-4994-8BD4-5B734F817CFD}" srcOrd="0" destOrd="0" presId="urn:microsoft.com/office/officeart/2005/8/layout/hList1"/>
    <dgm:cxn modelId="{B4825BFF-06EE-4514-876D-14095C2F34DF}" srcId="{660EB049-3BF1-4B02-A9AF-973D892E0DB9}" destId="{3039B275-DAA7-429A-9BB9-DF2CBC23CB68}" srcOrd="0" destOrd="0" parTransId="{C1381534-35BE-4BA4-88B1-82C81E385A03}" sibTransId="{37821E8D-B62A-4E0D-BB13-22F406AA1681}"/>
    <dgm:cxn modelId="{86C2DCFF-7122-44E0-B290-ECF4B22BF716}" type="presOf" srcId="{C712EF55-018B-42E9-BBDD-25D77D1DE817}" destId="{64D14476-8F93-470F-8536-8B87B7C28E48}" srcOrd="0" destOrd="1" presId="urn:microsoft.com/office/officeart/2005/8/layout/hList1"/>
    <dgm:cxn modelId="{229542C0-8057-4AFD-9387-39405446F038}" type="presParOf" srcId="{BFF98A81-9D02-481F-8C13-699A6B739A26}" destId="{E6F1B243-46B5-41FE-BF31-DA143D0997A9}" srcOrd="0" destOrd="0" presId="urn:microsoft.com/office/officeart/2005/8/layout/hList1"/>
    <dgm:cxn modelId="{8F5C8A0C-416F-48E5-AD21-15381F979C03}" type="presParOf" srcId="{E6F1B243-46B5-41FE-BF31-DA143D0997A9}" destId="{BAC8731A-325C-4994-8BD4-5B734F817CFD}" srcOrd="0" destOrd="0" presId="urn:microsoft.com/office/officeart/2005/8/layout/hList1"/>
    <dgm:cxn modelId="{F6D673BF-9F9A-449C-8A47-011FA1D9B4FA}" type="presParOf" srcId="{E6F1B243-46B5-41FE-BF31-DA143D0997A9}" destId="{64D14476-8F93-470F-8536-8B87B7C28E48}" srcOrd="1" destOrd="0" presId="urn:microsoft.com/office/officeart/2005/8/layout/hList1"/>
    <dgm:cxn modelId="{3C3AEDC2-0008-4D75-99CD-8FADE4CBBDA7}" type="presParOf" srcId="{BFF98A81-9D02-481F-8C13-699A6B739A26}" destId="{05D2A859-E682-4819-9E21-7BE39A2EEBFB}" srcOrd="1" destOrd="0" presId="urn:microsoft.com/office/officeart/2005/8/layout/hList1"/>
    <dgm:cxn modelId="{CBB5108E-2EBF-4981-AD18-4A6339789E4D}" type="presParOf" srcId="{BFF98A81-9D02-481F-8C13-699A6B739A26}" destId="{05D350AE-CF27-4147-8146-C6AF9EED71D4}" srcOrd="2" destOrd="0" presId="urn:microsoft.com/office/officeart/2005/8/layout/hList1"/>
    <dgm:cxn modelId="{BC333827-C48D-4858-8CBD-7B1CEB22249F}" type="presParOf" srcId="{05D350AE-CF27-4147-8146-C6AF9EED71D4}" destId="{FB6B6AC3-7FDA-49CE-8201-4EA7A71D62F3}" srcOrd="0" destOrd="0" presId="urn:microsoft.com/office/officeart/2005/8/layout/hList1"/>
    <dgm:cxn modelId="{ECAF453E-0782-4C74-9D41-34CF030F93E7}" type="presParOf" srcId="{05D350AE-CF27-4147-8146-C6AF9EED71D4}" destId="{785F0FE1-6B0D-4EF1-918A-BAF93D8E26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0EB049-3BF1-4B02-A9AF-973D892E0D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3039B275-DAA7-429A-9BB9-DF2CBC23CB68}">
      <dgm:prSet phldrT="[Texte]"/>
      <dgm:spPr/>
      <dgm:t>
        <a:bodyPr/>
        <a:lstStyle/>
        <a:p>
          <a:r>
            <a:rPr lang="fr-CA" dirty="0"/>
            <a:t>Avantages </a:t>
          </a:r>
        </a:p>
      </dgm:t>
    </dgm:pt>
    <dgm:pt modelId="{C1381534-35BE-4BA4-88B1-82C81E385A03}" type="parTrans" cxnId="{B4825BFF-06EE-4514-876D-14095C2F34DF}">
      <dgm:prSet/>
      <dgm:spPr/>
      <dgm:t>
        <a:bodyPr/>
        <a:lstStyle/>
        <a:p>
          <a:endParaRPr lang="fr-CA"/>
        </a:p>
      </dgm:t>
    </dgm:pt>
    <dgm:pt modelId="{37821E8D-B62A-4E0D-BB13-22F406AA1681}" type="sibTrans" cxnId="{B4825BFF-06EE-4514-876D-14095C2F34DF}">
      <dgm:prSet/>
      <dgm:spPr/>
      <dgm:t>
        <a:bodyPr/>
        <a:lstStyle/>
        <a:p>
          <a:endParaRPr lang="fr-CA"/>
        </a:p>
      </dgm:t>
    </dgm:pt>
    <dgm:pt modelId="{AC13FC9F-EE1F-485F-A50F-49FFB3F1B2CD}">
      <dgm:prSet phldrT="[Texte]"/>
      <dgm:spPr/>
      <dgm:t>
        <a:bodyPr/>
        <a:lstStyle/>
        <a:p>
          <a:r>
            <a:rPr lang="fr-FR" altLang="en-US" dirty="0">
              <a:solidFill>
                <a:schemeClr val="accent1"/>
              </a:solidFill>
            </a:rPr>
            <a:t>Avantages de taxation</a:t>
          </a:r>
          <a:endParaRPr lang="fr-CA" dirty="0">
            <a:solidFill>
              <a:schemeClr val="accent1"/>
            </a:solidFill>
          </a:endParaRPr>
        </a:p>
      </dgm:t>
    </dgm:pt>
    <dgm:pt modelId="{E8E9A7E8-ACD6-4664-BAC0-F9529FC6EA3C}" type="parTrans" cxnId="{A6827AE5-C280-4356-9535-83D8A0E67BA6}">
      <dgm:prSet/>
      <dgm:spPr/>
      <dgm:t>
        <a:bodyPr/>
        <a:lstStyle/>
        <a:p>
          <a:endParaRPr lang="fr-CA"/>
        </a:p>
      </dgm:t>
    </dgm:pt>
    <dgm:pt modelId="{FD09ADE0-37C4-4180-9B92-C5C8E4CB4954}" type="sibTrans" cxnId="{A6827AE5-C280-4356-9535-83D8A0E67BA6}">
      <dgm:prSet/>
      <dgm:spPr/>
      <dgm:t>
        <a:bodyPr/>
        <a:lstStyle/>
        <a:p>
          <a:endParaRPr lang="fr-CA"/>
        </a:p>
      </dgm:t>
    </dgm:pt>
    <dgm:pt modelId="{C712EF55-018B-42E9-BBDD-25D77D1DE817}">
      <dgm:prSet phldrT="[Texte]"/>
      <dgm:spPr/>
      <dgm:t>
        <a:bodyPr/>
        <a:lstStyle/>
        <a:p>
          <a:r>
            <a:rPr lang="fr-FR" altLang="en-US" dirty="0"/>
            <a:t>Discipline l’exécutif</a:t>
          </a:r>
          <a:endParaRPr lang="fr-CA" dirty="0"/>
        </a:p>
      </dgm:t>
    </dgm:pt>
    <dgm:pt modelId="{D0C1B004-F7FD-4093-A6AE-6B246233D306}" type="parTrans" cxnId="{3067FB67-075A-4CC4-A3B6-5852E381ED0F}">
      <dgm:prSet/>
      <dgm:spPr/>
      <dgm:t>
        <a:bodyPr/>
        <a:lstStyle/>
        <a:p>
          <a:endParaRPr lang="fr-CA"/>
        </a:p>
      </dgm:t>
    </dgm:pt>
    <dgm:pt modelId="{5DF0D113-D16D-47C9-A4B9-ED07FCDB05D8}" type="sibTrans" cxnId="{3067FB67-075A-4CC4-A3B6-5852E381ED0F}">
      <dgm:prSet/>
      <dgm:spPr/>
      <dgm:t>
        <a:bodyPr/>
        <a:lstStyle/>
        <a:p>
          <a:endParaRPr lang="fr-CA"/>
        </a:p>
      </dgm:t>
    </dgm:pt>
    <dgm:pt modelId="{BFF98A81-9D02-481F-8C13-699A6B739A26}" type="pres">
      <dgm:prSet presAssocID="{660EB049-3BF1-4B02-A9AF-973D892E0DB9}" presName="Name0" presStyleCnt="0">
        <dgm:presLayoutVars>
          <dgm:dir/>
          <dgm:animLvl val="lvl"/>
          <dgm:resizeHandles val="exact"/>
        </dgm:presLayoutVars>
      </dgm:prSet>
      <dgm:spPr/>
    </dgm:pt>
    <dgm:pt modelId="{E6F1B243-46B5-41FE-BF31-DA143D0997A9}" type="pres">
      <dgm:prSet presAssocID="{3039B275-DAA7-429A-9BB9-DF2CBC23CB68}" presName="composite" presStyleCnt="0"/>
      <dgm:spPr/>
    </dgm:pt>
    <dgm:pt modelId="{BAC8731A-325C-4994-8BD4-5B734F817CFD}" type="pres">
      <dgm:prSet presAssocID="{3039B275-DAA7-429A-9BB9-DF2CBC23CB6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4D14476-8F93-470F-8536-8B87B7C28E48}" type="pres">
      <dgm:prSet presAssocID="{3039B275-DAA7-429A-9BB9-DF2CBC23CB6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671CF19-2BEE-481C-BBC3-5DD5536A49F6}" type="presOf" srcId="{3039B275-DAA7-429A-9BB9-DF2CBC23CB68}" destId="{BAC8731A-325C-4994-8BD4-5B734F817CFD}" srcOrd="0" destOrd="0" presId="urn:microsoft.com/office/officeart/2005/8/layout/hList1"/>
    <dgm:cxn modelId="{3067FB67-075A-4CC4-A3B6-5852E381ED0F}" srcId="{3039B275-DAA7-429A-9BB9-DF2CBC23CB68}" destId="{C712EF55-018B-42E9-BBDD-25D77D1DE817}" srcOrd="1" destOrd="0" parTransId="{D0C1B004-F7FD-4093-A6AE-6B246233D306}" sibTransId="{5DF0D113-D16D-47C9-A4B9-ED07FCDB05D8}"/>
    <dgm:cxn modelId="{AFACD348-5245-4401-BEB5-2B8A65167AD4}" type="presOf" srcId="{C712EF55-018B-42E9-BBDD-25D77D1DE817}" destId="{64D14476-8F93-470F-8536-8B87B7C28E48}" srcOrd="0" destOrd="1" presId="urn:microsoft.com/office/officeart/2005/8/layout/hList1"/>
    <dgm:cxn modelId="{178C56DA-402E-4AC3-837B-D8A341DB0173}" type="presOf" srcId="{660EB049-3BF1-4B02-A9AF-973D892E0DB9}" destId="{BFF98A81-9D02-481F-8C13-699A6B739A26}" srcOrd="0" destOrd="0" presId="urn:microsoft.com/office/officeart/2005/8/layout/hList1"/>
    <dgm:cxn modelId="{FC23A7E4-766D-4E65-9FD3-5FC69AE05718}" type="presOf" srcId="{AC13FC9F-EE1F-485F-A50F-49FFB3F1B2CD}" destId="{64D14476-8F93-470F-8536-8B87B7C28E48}" srcOrd="0" destOrd="0" presId="urn:microsoft.com/office/officeart/2005/8/layout/hList1"/>
    <dgm:cxn modelId="{A6827AE5-C280-4356-9535-83D8A0E67BA6}" srcId="{3039B275-DAA7-429A-9BB9-DF2CBC23CB68}" destId="{AC13FC9F-EE1F-485F-A50F-49FFB3F1B2CD}" srcOrd="0" destOrd="0" parTransId="{E8E9A7E8-ACD6-4664-BAC0-F9529FC6EA3C}" sibTransId="{FD09ADE0-37C4-4180-9B92-C5C8E4CB4954}"/>
    <dgm:cxn modelId="{B4825BFF-06EE-4514-876D-14095C2F34DF}" srcId="{660EB049-3BF1-4B02-A9AF-973D892E0DB9}" destId="{3039B275-DAA7-429A-9BB9-DF2CBC23CB68}" srcOrd="0" destOrd="0" parTransId="{C1381534-35BE-4BA4-88B1-82C81E385A03}" sibTransId="{37821E8D-B62A-4E0D-BB13-22F406AA1681}"/>
    <dgm:cxn modelId="{AF4345FC-342B-4ED5-80EF-D9E9D19EBD7D}" type="presParOf" srcId="{BFF98A81-9D02-481F-8C13-699A6B739A26}" destId="{E6F1B243-46B5-41FE-BF31-DA143D0997A9}" srcOrd="0" destOrd="0" presId="urn:microsoft.com/office/officeart/2005/8/layout/hList1"/>
    <dgm:cxn modelId="{46DA9D72-EF9C-4392-A57F-7F0FA7DFB4F7}" type="presParOf" srcId="{E6F1B243-46B5-41FE-BF31-DA143D0997A9}" destId="{BAC8731A-325C-4994-8BD4-5B734F817CFD}" srcOrd="0" destOrd="0" presId="urn:microsoft.com/office/officeart/2005/8/layout/hList1"/>
    <dgm:cxn modelId="{7786DDA8-E8B8-4D11-9C27-F76FFD7B32EF}" type="presParOf" srcId="{E6F1B243-46B5-41FE-BF31-DA143D0997A9}" destId="{64D14476-8F93-470F-8536-8B87B7C28E4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0EB049-3BF1-4B02-A9AF-973D892E0D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3039B275-DAA7-429A-9BB9-DF2CBC23CB68}">
      <dgm:prSet phldrT="[Texte]" custT="1"/>
      <dgm:spPr/>
      <dgm:t>
        <a:bodyPr/>
        <a:lstStyle/>
        <a:p>
          <a:r>
            <a:rPr lang="fr-CA" sz="3200" dirty="0"/>
            <a:t>Avantages</a:t>
          </a:r>
          <a:r>
            <a:rPr lang="fr-CA" sz="3900" dirty="0"/>
            <a:t> </a:t>
          </a:r>
        </a:p>
      </dgm:t>
    </dgm:pt>
    <dgm:pt modelId="{C1381534-35BE-4BA4-88B1-82C81E385A03}" type="parTrans" cxnId="{B4825BFF-06EE-4514-876D-14095C2F34DF}">
      <dgm:prSet/>
      <dgm:spPr/>
      <dgm:t>
        <a:bodyPr/>
        <a:lstStyle/>
        <a:p>
          <a:endParaRPr lang="fr-CA"/>
        </a:p>
      </dgm:t>
    </dgm:pt>
    <dgm:pt modelId="{37821E8D-B62A-4E0D-BB13-22F406AA1681}" type="sibTrans" cxnId="{B4825BFF-06EE-4514-876D-14095C2F34DF}">
      <dgm:prSet/>
      <dgm:spPr/>
      <dgm:t>
        <a:bodyPr/>
        <a:lstStyle/>
        <a:p>
          <a:endParaRPr lang="fr-CA"/>
        </a:p>
      </dgm:t>
    </dgm:pt>
    <dgm:pt modelId="{AC13FC9F-EE1F-485F-A50F-49FFB3F1B2CD}">
      <dgm:prSet phldrT="[Texte]" custT="1"/>
      <dgm:spPr/>
      <dgm:t>
        <a:bodyPr/>
        <a:lstStyle/>
        <a:p>
          <a:r>
            <a:rPr lang="fr-FR" altLang="en-US" sz="3200" dirty="0">
              <a:solidFill>
                <a:schemeClr val="tx1"/>
              </a:solidFill>
            </a:rPr>
            <a:t>Avantages de taxation</a:t>
          </a:r>
          <a:endParaRPr lang="fr-CA" sz="3200" dirty="0">
            <a:solidFill>
              <a:schemeClr val="tx1"/>
            </a:solidFill>
          </a:endParaRPr>
        </a:p>
      </dgm:t>
    </dgm:pt>
    <dgm:pt modelId="{E8E9A7E8-ACD6-4664-BAC0-F9529FC6EA3C}" type="parTrans" cxnId="{A6827AE5-C280-4356-9535-83D8A0E67BA6}">
      <dgm:prSet/>
      <dgm:spPr/>
      <dgm:t>
        <a:bodyPr/>
        <a:lstStyle/>
        <a:p>
          <a:endParaRPr lang="fr-CA"/>
        </a:p>
      </dgm:t>
    </dgm:pt>
    <dgm:pt modelId="{FD09ADE0-37C4-4180-9B92-C5C8E4CB4954}" type="sibTrans" cxnId="{A6827AE5-C280-4356-9535-83D8A0E67BA6}">
      <dgm:prSet/>
      <dgm:spPr/>
      <dgm:t>
        <a:bodyPr/>
        <a:lstStyle/>
        <a:p>
          <a:endParaRPr lang="fr-CA"/>
        </a:p>
      </dgm:t>
    </dgm:pt>
    <dgm:pt modelId="{C712EF55-018B-42E9-BBDD-25D77D1DE817}">
      <dgm:prSet phldrT="[Texte]" custT="1"/>
      <dgm:spPr/>
      <dgm:t>
        <a:bodyPr/>
        <a:lstStyle/>
        <a:p>
          <a:r>
            <a:rPr lang="fr-FR" altLang="en-US" sz="3200" dirty="0">
              <a:solidFill>
                <a:schemeClr val="accent1"/>
              </a:solidFill>
            </a:rPr>
            <a:t>Discipline l’exécutif</a:t>
          </a:r>
          <a:endParaRPr lang="fr-CA" sz="3200" dirty="0">
            <a:solidFill>
              <a:schemeClr val="accent1"/>
            </a:solidFill>
          </a:endParaRPr>
        </a:p>
      </dgm:t>
    </dgm:pt>
    <dgm:pt modelId="{D0C1B004-F7FD-4093-A6AE-6B246233D306}" type="parTrans" cxnId="{3067FB67-075A-4CC4-A3B6-5852E381ED0F}">
      <dgm:prSet/>
      <dgm:spPr/>
      <dgm:t>
        <a:bodyPr/>
        <a:lstStyle/>
        <a:p>
          <a:endParaRPr lang="fr-CA"/>
        </a:p>
      </dgm:t>
    </dgm:pt>
    <dgm:pt modelId="{5DF0D113-D16D-47C9-A4B9-ED07FCDB05D8}" type="sibTrans" cxnId="{3067FB67-075A-4CC4-A3B6-5852E381ED0F}">
      <dgm:prSet/>
      <dgm:spPr/>
      <dgm:t>
        <a:bodyPr/>
        <a:lstStyle/>
        <a:p>
          <a:endParaRPr lang="fr-CA"/>
        </a:p>
      </dgm:t>
    </dgm:pt>
    <dgm:pt modelId="{BFF98A81-9D02-481F-8C13-699A6B739A26}" type="pres">
      <dgm:prSet presAssocID="{660EB049-3BF1-4B02-A9AF-973D892E0DB9}" presName="Name0" presStyleCnt="0">
        <dgm:presLayoutVars>
          <dgm:dir/>
          <dgm:animLvl val="lvl"/>
          <dgm:resizeHandles val="exact"/>
        </dgm:presLayoutVars>
      </dgm:prSet>
      <dgm:spPr/>
    </dgm:pt>
    <dgm:pt modelId="{E6F1B243-46B5-41FE-BF31-DA143D0997A9}" type="pres">
      <dgm:prSet presAssocID="{3039B275-DAA7-429A-9BB9-DF2CBC23CB68}" presName="composite" presStyleCnt="0"/>
      <dgm:spPr/>
    </dgm:pt>
    <dgm:pt modelId="{BAC8731A-325C-4994-8BD4-5B734F817CFD}" type="pres">
      <dgm:prSet presAssocID="{3039B275-DAA7-429A-9BB9-DF2CBC23CB6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4D14476-8F93-470F-8536-8B87B7C28E48}" type="pres">
      <dgm:prSet presAssocID="{3039B275-DAA7-429A-9BB9-DF2CBC23CB6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3067FB67-075A-4CC4-A3B6-5852E381ED0F}" srcId="{3039B275-DAA7-429A-9BB9-DF2CBC23CB68}" destId="{C712EF55-018B-42E9-BBDD-25D77D1DE817}" srcOrd="1" destOrd="0" parTransId="{D0C1B004-F7FD-4093-A6AE-6B246233D306}" sibTransId="{5DF0D113-D16D-47C9-A4B9-ED07FCDB05D8}"/>
    <dgm:cxn modelId="{E0328749-268B-4672-B4D9-678B0AD6DB40}" type="presOf" srcId="{3039B275-DAA7-429A-9BB9-DF2CBC23CB68}" destId="{BAC8731A-325C-4994-8BD4-5B734F817CFD}" srcOrd="0" destOrd="0" presId="urn:microsoft.com/office/officeart/2005/8/layout/hList1"/>
    <dgm:cxn modelId="{DC9235D4-39FC-4142-99AB-73C1469BBFC7}" type="presOf" srcId="{660EB049-3BF1-4B02-A9AF-973D892E0DB9}" destId="{BFF98A81-9D02-481F-8C13-699A6B739A26}" srcOrd="0" destOrd="0" presId="urn:microsoft.com/office/officeart/2005/8/layout/hList1"/>
    <dgm:cxn modelId="{D2E9E8DA-5227-4655-BD24-AFC3392E3C92}" type="presOf" srcId="{C712EF55-018B-42E9-BBDD-25D77D1DE817}" destId="{64D14476-8F93-470F-8536-8B87B7C28E48}" srcOrd="0" destOrd="1" presId="urn:microsoft.com/office/officeart/2005/8/layout/hList1"/>
    <dgm:cxn modelId="{A6827AE5-C280-4356-9535-83D8A0E67BA6}" srcId="{3039B275-DAA7-429A-9BB9-DF2CBC23CB68}" destId="{AC13FC9F-EE1F-485F-A50F-49FFB3F1B2CD}" srcOrd="0" destOrd="0" parTransId="{E8E9A7E8-ACD6-4664-BAC0-F9529FC6EA3C}" sibTransId="{FD09ADE0-37C4-4180-9B92-C5C8E4CB4954}"/>
    <dgm:cxn modelId="{02F2C6F7-FDDE-4A58-B296-C32C71441BF7}" type="presOf" srcId="{AC13FC9F-EE1F-485F-A50F-49FFB3F1B2CD}" destId="{64D14476-8F93-470F-8536-8B87B7C28E48}" srcOrd="0" destOrd="0" presId="urn:microsoft.com/office/officeart/2005/8/layout/hList1"/>
    <dgm:cxn modelId="{B4825BFF-06EE-4514-876D-14095C2F34DF}" srcId="{660EB049-3BF1-4B02-A9AF-973D892E0DB9}" destId="{3039B275-DAA7-429A-9BB9-DF2CBC23CB68}" srcOrd="0" destOrd="0" parTransId="{C1381534-35BE-4BA4-88B1-82C81E385A03}" sibTransId="{37821E8D-B62A-4E0D-BB13-22F406AA1681}"/>
    <dgm:cxn modelId="{1FCBB8D6-4A09-4290-BBE9-DF52F404272B}" type="presParOf" srcId="{BFF98A81-9D02-481F-8C13-699A6B739A26}" destId="{E6F1B243-46B5-41FE-BF31-DA143D0997A9}" srcOrd="0" destOrd="0" presId="urn:microsoft.com/office/officeart/2005/8/layout/hList1"/>
    <dgm:cxn modelId="{205E01AA-4F15-43AB-970E-BAF7BC717806}" type="presParOf" srcId="{E6F1B243-46B5-41FE-BF31-DA143D0997A9}" destId="{BAC8731A-325C-4994-8BD4-5B734F817CFD}" srcOrd="0" destOrd="0" presId="urn:microsoft.com/office/officeart/2005/8/layout/hList1"/>
    <dgm:cxn modelId="{7DFA3B22-D6A7-4203-81FE-C03EA7490F7B}" type="presParOf" srcId="{E6F1B243-46B5-41FE-BF31-DA143D0997A9}" destId="{64D14476-8F93-470F-8536-8B87B7C28E4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0EB049-3BF1-4B02-A9AF-973D892E0D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C5CFB8E8-0AC1-4094-A4F0-8A7CB0BF63D8}">
      <dgm:prSet phldrT="[Texte]"/>
      <dgm:spPr/>
      <dgm:t>
        <a:bodyPr/>
        <a:lstStyle/>
        <a:p>
          <a:r>
            <a:rPr lang="fr-CA" dirty="0"/>
            <a:t>Inconvénients</a:t>
          </a:r>
        </a:p>
      </dgm:t>
    </dgm:pt>
    <dgm:pt modelId="{AA4ACD73-B204-477F-9771-DF3C3445FC84}" type="parTrans" cxnId="{3A63985C-BDA3-4DB7-99ED-5426808E9E36}">
      <dgm:prSet/>
      <dgm:spPr/>
      <dgm:t>
        <a:bodyPr/>
        <a:lstStyle/>
        <a:p>
          <a:endParaRPr lang="fr-CA"/>
        </a:p>
      </dgm:t>
    </dgm:pt>
    <dgm:pt modelId="{C7269680-BD8D-41FF-B9FD-CDF5725713DA}" type="sibTrans" cxnId="{3A63985C-BDA3-4DB7-99ED-5426808E9E36}">
      <dgm:prSet/>
      <dgm:spPr/>
      <dgm:t>
        <a:bodyPr/>
        <a:lstStyle/>
        <a:p>
          <a:endParaRPr lang="fr-CA"/>
        </a:p>
      </dgm:t>
    </dgm:pt>
    <dgm:pt modelId="{F0B29D7A-B71E-408E-BE16-B9FD988F676A}">
      <dgm:prSet phldrT="[Texte]"/>
      <dgm:spPr/>
      <dgm:t>
        <a:bodyPr/>
        <a:lstStyle/>
        <a:p>
          <a:r>
            <a:rPr lang="fr-FR" altLang="en-US" dirty="0">
              <a:solidFill>
                <a:schemeClr val="accent1"/>
              </a:solidFill>
            </a:rPr>
            <a:t>Coûts de faillite</a:t>
          </a:r>
          <a:endParaRPr lang="fr-CA" dirty="0">
            <a:solidFill>
              <a:schemeClr val="accent1"/>
            </a:solidFill>
          </a:endParaRPr>
        </a:p>
      </dgm:t>
    </dgm:pt>
    <dgm:pt modelId="{AF66FFBA-EFEE-4AA1-A079-8802C97E241A}" type="parTrans" cxnId="{4AF303CC-B506-4E72-8581-753F701C54AA}">
      <dgm:prSet/>
      <dgm:spPr/>
      <dgm:t>
        <a:bodyPr/>
        <a:lstStyle/>
        <a:p>
          <a:endParaRPr lang="fr-CA"/>
        </a:p>
      </dgm:t>
    </dgm:pt>
    <dgm:pt modelId="{0ABD34ED-EFDF-4418-8701-BC1B1DF6A860}" type="sibTrans" cxnId="{4AF303CC-B506-4E72-8581-753F701C54AA}">
      <dgm:prSet/>
      <dgm:spPr/>
      <dgm:t>
        <a:bodyPr/>
        <a:lstStyle/>
        <a:p>
          <a:endParaRPr lang="fr-CA"/>
        </a:p>
      </dgm:t>
    </dgm:pt>
    <dgm:pt modelId="{E1BD72EE-BAB5-4AE6-9648-2A3EF82896AE}">
      <dgm:prSet phldrT="[Texte]"/>
      <dgm:spPr/>
      <dgm:t>
        <a:bodyPr/>
        <a:lstStyle/>
        <a:p>
          <a:r>
            <a:rPr lang="fr-FR" altLang="en-US" dirty="0"/>
            <a:t>Coûts d’agence</a:t>
          </a:r>
          <a:endParaRPr lang="fr-CA" dirty="0"/>
        </a:p>
      </dgm:t>
    </dgm:pt>
    <dgm:pt modelId="{2F9D77B3-F586-435D-A3B6-AEE9FC272696}" type="parTrans" cxnId="{D6426614-F706-49AF-9A11-2671881CC627}">
      <dgm:prSet/>
      <dgm:spPr/>
      <dgm:t>
        <a:bodyPr/>
        <a:lstStyle/>
        <a:p>
          <a:endParaRPr lang="fr-CA"/>
        </a:p>
      </dgm:t>
    </dgm:pt>
    <dgm:pt modelId="{E3216267-8514-4BAE-B064-B4697C5C9C69}" type="sibTrans" cxnId="{D6426614-F706-49AF-9A11-2671881CC627}">
      <dgm:prSet/>
      <dgm:spPr/>
      <dgm:t>
        <a:bodyPr/>
        <a:lstStyle/>
        <a:p>
          <a:endParaRPr lang="fr-CA"/>
        </a:p>
      </dgm:t>
    </dgm:pt>
    <dgm:pt modelId="{4CB7CB61-9B09-4C05-9B38-791A35F1767F}">
      <dgm:prSet phldrT="[Texte]"/>
      <dgm:spPr/>
      <dgm:t>
        <a:bodyPr/>
        <a:lstStyle/>
        <a:p>
          <a:r>
            <a:rPr lang="fr-FR" altLang="en-US" dirty="0"/>
            <a:t>Perte future de flexibilité</a:t>
          </a:r>
          <a:endParaRPr lang="fr-CA" dirty="0"/>
        </a:p>
      </dgm:t>
    </dgm:pt>
    <dgm:pt modelId="{0575331F-5B8A-4FB6-BB2B-91D4618410FD}" type="parTrans" cxnId="{D0CEE96F-B7A8-466F-AEE7-20BDE45BC7D1}">
      <dgm:prSet/>
      <dgm:spPr/>
      <dgm:t>
        <a:bodyPr/>
        <a:lstStyle/>
        <a:p>
          <a:endParaRPr lang="fr-CA"/>
        </a:p>
      </dgm:t>
    </dgm:pt>
    <dgm:pt modelId="{E7D06BE3-44D1-4A92-8671-21FF6A4DE468}" type="sibTrans" cxnId="{D0CEE96F-B7A8-466F-AEE7-20BDE45BC7D1}">
      <dgm:prSet/>
      <dgm:spPr/>
      <dgm:t>
        <a:bodyPr/>
        <a:lstStyle/>
        <a:p>
          <a:endParaRPr lang="fr-CA"/>
        </a:p>
      </dgm:t>
    </dgm:pt>
    <dgm:pt modelId="{BFF98A81-9D02-481F-8C13-699A6B739A26}" type="pres">
      <dgm:prSet presAssocID="{660EB049-3BF1-4B02-A9AF-973D892E0DB9}" presName="Name0" presStyleCnt="0">
        <dgm:presLayoutVars>
          <dgm:dir/>
          <dgm:animLvl val="lvl"/>
          <dgm:resizeHandles val="exact"/>
        </dgm:presLayoutVars>
      </dgm:prSet>
      <dgm:spPr/>
    </dgm:pt>
    <dgm:pt modelId="{05D350AE-CF27-4147-8146-C6AF9EED71D4}" type="pres">
      <dgm:prSet presAssocID="{C5CFB8E8-0AC1-4094-A4F0-8A7CB0BF63D8}" presName="composite" presStyleCnt="0"/>
      <dgm:spPr/>
    </dgm:pt>
    <dgm:pt modelId="{FB6B6AC3-7FDA-49CE-8201-4EA7A71D62F3}" type="pres">
      <dgm:prSet presAssocID="{C5CFB8E8-0AC1-4094-A4F0-8A7CB0BF63D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85F0FE1-6B0D-4EF1-918A-BAF93D8E260D}" type="pres">
      <dgm:prSet presAssocID="{C5CFB8E8-0AC1-4094-A4F0-8A7CB0BF63D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D6426614-F706-49AF-9A11-2671881CC627}" srcId="{C5CFB8E8-0AC1-4094-A4F0-8A7CB0BF63D8}" destId="{E1BD72EE-BAB5-4AE6-9648-2A3EF82896AE}" srcOrd="1" destOrd="0" parTransId="{2F9D77B3-F586-435D-A3B6-AEE9FC272696}" sibTransId="{E3216267-8514-4BAE-B064-B4697C5C9C69}"/>
    <dgm:cxn modelId="{114EA822-B37F-45F0-947F-A9A6A3AD2A07}" type="presOf" srcId="{C5CFB8E8-0AC1-4094-A4F0-8A7CB0BF63D8}" destId="{FB6B6AC3-7FDA-49CE-8201-4EA7A71D62F3}" srcOrd="0" destOrd="0" presId="urn:microsoft.com/office/officeart/2005/8/layout/hList1"/>
    <dgm:cxn modelId="{3A63985C-BDA3-4DB7-99ED-5426808E9E36}" srcId="{660EB049-3BF1-4B02-A9AF-973D892E0DB9}" destId="{C5CFB8E8-0AC1-4094-A4F0-8A7CB0BF63D8}" srcOrd="0" destOrd="0" parTransId="{AA4ACD73-B204-477F-9771-DF3C3445FC84}" sibTransId="{C7269680-BD8D-41FF-B9FD-CDF5725713DA}"/>
    <dgm:cxn modelId="{D0CEE96F-B7A8-466F-AEE7-20BDE45BC7D1}" srcId="{C5CFB8E8-0AC1-4094-A4F0-8A7CB0BF63D8}" destId="{4CB7CB61-9B09-4C05-9B38-791A35F1767F}" srcOrd="2" destOrd="0" parTransId="{0575331F-5B8A-4FB6-BB2B-91D4618410FD}" sibTransId="{E7D06BE3-44D1-4A92-8671-21FF6A4DE468}"/>
    <dgm:cxn modelId="{732C359E-28AB-429F-992E-F753EFF736D0}" type="presOf" srcId="{4CB7CB61-9B09-4C05-9B38-791A35F1767F}" destId="{785F0FE1-6B0D-4EF1-918A-BAF93D8E260D}" srcOrd="0" destOrd="2" presId="urn:microsoft.com/office/officeart/2005/8/layout/hList1"/>
    <dgm:cxn modelId="{441F71AD-A61C-48BC-AD16-BF5022CEDEDA}" type="presOf" srcId="{E1BD72EE-BAB5-4AE6-9648-2A3EF82896AE}" destId="{785F0FE1-6B0D-4EF1-918A-BAF93D8E260D}" srcOrd="0" destOrd="1" presId="urn:microsoft.com/office/officeart/2005/8/layout/hList1"/>
    <dgm:cxn modelId="{4AF303CC-B506-4E72-8581-753F701C54AA}" srcId="{C5CFB8E8-0AC1-4094-A4F0-8A7CB0BF63D8}" destId="{F0B29D7A-B71E-408E-BE16-B9FD988F676A}" srcOrd="0" destOrd="0" parTransId="{AF66FFBA-EFEE-4AA1-A079-8802C97E241A}" sibTransId="{0ABD34ED-EFDF-4418-8701-BC1B1DF6A860}"/>
    <dgm:cxn modelId="{C980D6E9-2926-4ED0-9653-E77C050D557F}" type="presOf" srcId="{660EB049-3BF1-4B02-A9AF-973D892E0DB9}" destId="{BFF98A81-9D02-481F-8C13-699A6B739A26}" srcOrd="0" destOrd="0" presId="urn:microsoft.com/office/officeart/2005/8/layout/hList1"/>
    <dgm:cxn modelId="{96DD4BED-4064-4728-A1C2-F4DD976D46DA}" type="presOf" srcId="{F0B29D7A-B71E-408E-BE16-B9FD988F676A}" destId="{785F0FE1-6B0D-4EF1-918A-BAF93D8E260D}" srcOrd="0" destOrd="0" presId="urn:microsoft.com/office/officeart/2005/8/layout/hList1"/>
    <dgm:cxn modelId="{6C99DC8C-DA2F-4313-AEA5-80525E5CE0EA}" type="presParOf" srcId="{BFF98A81-9D02-481F-8C13-699A6B739A26}" destId="{05D350AE-CF27-4147-8146-C6AF9EED71D4}" srcOrd="0" destOrd="0" presId="urn:microsoft.com/office/officeart/2005/8/layout/hList1"/>
    <dgm:cxn modelId="{4720FB77-FAB4-47A0-8E9C-F83189404DEC}" type="presParOf" srcId="{05D350AE-CF27-4147-8146-C6AF9EED71D4}" destId="{FB6B6AC3-7FDA-49CE-8201-4EA7A71D62F3}" srcOrd="0" destOrd="0" presId="urn:microsoft.com/office/officeart/2005/8/layout/hList1"/>
    <dgm:cxn modelId="{C3714852-E094-48F7-B91B-0F445956F233}" type="presParOf" srcId="{05D350AE-CF27-4147-8146-C6AF9EED71D4}" destId="{785F0FE1-6B0D-4EF1-918A-BAF93D8E26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0EB049-3BF1-4B02-A9AF-973D892E0D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C5CFB8E8-0AC1-4094-A4F0-8A7CB0BF63D8}">
      <dgm:prSet phldrT="[Texte]"/>
      <dgm:spPr/>
      <dgm:t>
        <a:bodyPr/>
        <a:lstStyle/>
        <a:p>
          <a:r>
            <a:rPr lang="fr-CA" dirty="0"/>
            <a:t>Inconvénients</a:t>
          </a:r>
        </a:p>
      </dgm:t>
    </dgm:pt>
    <dgm:pt modelId="{AA4ACD73-B204-477F-9771-DF3C3445FC84}" type="parTrans" cxnId="{3A63985C-BDA3-4DB7-99ED-5426808E9E36}">
      <dgm:prSet/>
      <dgm:spPr/>
      <dgm:t>
        <a:bodyPr/>
        <a:lstStyle/>
        <a:p>
          <a:endParaRPr lang="fr-CA"/>
        </a:p>
      </dgm:t>
    </dgm:pt>
    <dgm:pt modelId="{C7269680-BD8D-41FF-B9FD-CDF5725713DA}" type="sibTrans" cxnId="{3A63985C-BDA3-4DB7-99ED-5426808E9E36}">
      <dgm:prSet/>
      <dgm:spPr/>
      <dgm:t>
        <a:bodyPr/>
        <a:lstStyle/>
        <a:p>
          <a:endParaRPr lang="fr-CA"/>
        </a:p>
      </dgm:t>
    </dgm:pt>
    <dgm:pt modelId="{F0B29D7A-B71E-408E-BE16-B9FD988F676A}">
      <dgm:prSet phldrT="[Texte]"/>
      <dgm:spPr/>
      <dgm:t>
        <a:bodyPr/>
        <a:lstStyle/>
        <a:p>
          <a:r>
            <a:rPr lang="fr-FR" altLang="en-US" dirty="0">
              <a:solidFill>
                <a:schemeClr val="accent1"/>
              </a:solidFill>
            </a:rPr>
            <a:t>Coûts de faillite</a:t>
          </a:r>
          <a:endParaRPr lang="fr-CA" dirty="0">
            <a:solidFill>
              <a:schemeClr val="accent1"/>
            </a:solidFill>
          </a:endParaRPr>
        </a:p>
      </dgm:t>
    </dgm:pt>
    <dgm:pt modelId="{AF66FFBA-EFEE-4AA1-A079-8802C97E241A}" type="parTrans" cxnId="{4AF303CC-B506-4E72-8581-753F701C54AA}">
      <dgm:prSet/>
      <dgm:spPr/>
      <dgm:t>
        <a:bodyPr/>
        <a:lstStyle/>
        <a:p>
          <a:endParaRPr lang="fr-CA"/>
        </a:p>
      </dgm:t>
    </dgm:pt>
    <dgm:pt modelId="{0ABD34ED-EFDF-4418-8701-BC1B1DF6A860}" type="sibTrans" cxnId="{4AF303CC-B506-4E72-8581-753F701C54AA}">
      <dgm:prSet/>
      <dgm:spPr/>
      <dgm:t>
        <a:bodyPr/>
        <a:lstStyle/>
        <a:p>
          <a:endParaRPr lang="fr-CA"/>
        </a:p>
      </dgm:t>
    </dgm:pt>
    <dgm:pt modelId="{E1BD72EE-BAB5-4AE6-9648-2A3EF82896AE}">
      <dgm:prSet phldrT="[Texte]"/>
      <dgm:spPr/>
      <dgm:t>
        <a:bodyPr/>
        <a:lstStyle/>
        <a:p>
          <a:r>
            <a:rPr lang="fr-FR" altLang="en-US" dirty="0"/>
            <a:t>Coûts d’agence</a:t>
          </a:r>
          <a:endParaRPr lang="fr-CA" dirty="0"/>
        </a:p>
      </dgm:t>
    </dgm:pt>
    <dgm:pt modelId="{2F9D77B3-F586-435D-A3B6-AEE9FC272696}" type="parTrans" cxnId="{D6426614-F706-49AF-9A11-2671881CC627}">
      <dgm:prSet/>
      <dgm:spPr/>
      <dgm:t>
        <a:bodyPr/>
        <a:lstStyle/>
        <a:p>
          <a:endParaRPr lang="fr-CA"/>
        </a:p>
      </dgm:t>
    </dgm:pt>
    <dgm:pt modelId="{E3216267-8514-4BAE-B064-B4697C5C9C69}" type="sibTrans" cxnId="{D6426614-F706-49AF-9A11-2671881CC627}">
      <dgm:prSet/>
      <dgm:spPr/>
      <dgm:t>
        <a:bodyPr/>
        <a:lstStyle/>
        <a:p>
          <a:endParaRPr lang="fr-CA"/>
        </a:p>
      </dgm:t>
    </dgm:pt>
    <dgm:pt modelId="{4CB7CB61-9B09-4C05-9B38-791A35F1767F}">
      <dgm:prSet phldrT="[Texte]"/>
      <dgm:spPr/>
      <dgm:t>
        <a:bodyPr/>
        <a:lstStyle/>
        <a:p>
          <a:r>
            <a:rPr lang="fr-FR" altLang="en-US" dirty="0"/>
            <a:t>Perte future de flexibilité</a:t>
          </a:r>
          <a:endParaRPr lang="fr-CA" dirty="0"/>
        </a:p>
      </dgm:t>
    </dgm:pt>
    <dgm:pt modelId="{0575331F-5B8A-4FB6-BB2B-91D4618410FD}" type="parTrans" cxnId="{D0CEE96F-B7A8-466F-AEE7-20BDE45BC7D1}">
      <dgm:prSet/>
      <dgm:spPr/>
      <dgm:t>
        <a:bodyPr/>
        <a:lstStyle/>
        <a:p>
          <a:endParaRPr lang="fr-CA"/>
        </a:p>
      </dgm:t>
    </dgm:pt>
    <dgm:pt modelId="{E7D06BE3-44D1-4A92-8671-21FF6A4DE468}" type="sibTrans" cxnId="{D0CEE96F-B7A8-466F-AEE7-20BDE45BC7D1}">
      <dgm:prSet/>
      <dgm:spPr/>
      <dgm:t>
        <a:bodyPr/>
        <a:lstStyle/>
        <a:p>
          <a:endParaRPr lang="fr-CA"/>
        </a:p>
      </dgm:t>
    </dgm:pt>
    <dgm:pt modelId="{BFF98A81-9D02-481F-8C13-699A6B739A26}" type="pres">
      <dgm:prSet presAssocID="{660EB049-3BF1-4B02-A9AF-973D892E0DB9}" presName="Name0" presStyleCnt="0">
        <dgm:presLayoutVars>
          <dgm:dir/>
          <dgm:animLvl val="lvl"/>
          <dgm:resizeHandles val="exact"/>
        </dgm:presLayoutVars>
      </dgm:prSet>
      <dgm:spPr/>
    </dgm:pt>
    <dgm:pt modelId="{05D350AE-CF27-4147-8146-C6AF9EED71D4}" type="pres">
      <dgm:prSet presAssocID="{C5CFB8E8-0AC1-4094-A4F0-8A7CB0BF63D8}" presName="composite" presStyleCnt="0"/>
      <dgm:spPr/>
    </dgm:pt>
    <dgm:pt modelId="{FB6B6AC3-7FDA-49CE-8201-4EA7A71D62F3}" type="pres">
      <dgm:prSet presAssocID="{C5CFB8E8-0AC1-4094-A4F0-8A7CB0BF63D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85F0FE1-6B0D-4EF1-918A-BAF93D8E260D}" type="pres">
      <dgm:prSet presAssocID="{C5CFB8E8-0AC1-4094-A4F0-8A7CB0BF63D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D6426614-F706-49AF-9A11-2671881CC627}" srcId="{C5CFB8E8-0AC1-4094-A4F0-8A7CB0BF63D8}" destId="{E1BD72EE-BAB5-4AE6-9648-2A3EF82896AE}" srcOrd="1" destOrd="0" parTransId="{2F9D77B3-F586-435D-A3B6-AEE9FC272696}" sibTransId="{E3216267-8514-4BAE-B064-B4697C5C9C69}"/>
    <dgm:cxn modelId="{9BB2E739-2CF8-445D-A90A-C246E39B44A8}" type="presOf" srcId="{4CB7CB61-9B09-4C05-9B38-791A35F1767F}" destId="{785F0FE1-6B0D-4EF1-918A-BAF93D8E260D}" srcOrd="0" destOrd="2" presId="urn:microsoft.com/office/officeart/2005/8/layout/hList1"/>
    <dgm:cxn modelId="{33E64B5C-14A4-425D-AC91-E973DDF59BF8}" type="presOf" srcId="{E1BD72EE-BAB5-4AE6-9648-2A3EF82896AE}" destId="{785F0FE1-6B0D-4EF1-918A-BAF93D8E260D}" srcOrd="0" destOrd="1" presId="urn:microsoft.com/office/officeart/2005/8/layout/hList1"/>
    <dgm:cxn modelId="{3A63985C-BDA3-4DB7-99ED-5426808E9E36}" srcId="{660EB049-3BF1-4B02-A9AF-973D892E0DB9}" destId="{C5CFB8E8-0AC1-4094-A4F0-8A7CB0BF63D8}" srcOrd="0" destOrd="0" parTransId="{AA4ACD73-B204-477F-9771-DF3C3445FC84}" sibTransId="{C7269680-BD8D-41FF-B9FD-CDF5725713DA}"/>
    <dgm:cxn modelId="{D0CEE96F-B7A8-466F-AEE7-20BDE45BC7D1}" srcId="{C5CFB8E8-0AC1-4094-A4F0-8A7CB0BF63D8}" destId="{4CB7CB61-9B09-4C05-9B38-791A35F1767F}" srcOrd="2" destOrd="0" parTransId="{0575331F-5B8A-4FB6-BB2B-91D4618410FD}" sibTransId="{E7D06BE3-44D1-4A92-8671-21FF6A4DE468}"/>
    <dgm:cxn modelId="{22FBAD71-BFCB-483A-BD3F-72BB8A3E54B0}" type="presOf" srcId="{660EB049-3BF1-4B02-A9AF-973D892E0DB9}" destId="{BFF98A81-9D02-481F-8C13-699A6B739A26}" srcOrd="0" destOrd="0" presId="urn:microsoft.com/office/officeart/2005/8/layout/hList1"/>
    <dgm:cxn modelId="{B8C1A4AF-2C42-4362-80A7-22E9A28AD662}" type="presOf" srcId="{F0B29D7A-B71E-408E-BE16-B9FD988F676A}" destId="{785F0FE1-6B0D-4EF1-918A-BAF93D8E260D}" srcOrd="0" destOrd="0" presId="urn:microsoft.com/office/officeart/2005/8/layout/hList1"/>
    <dgm:cxn modelId="{EF35A0C5-6CEA-40D8-88A4-0632F3A2DC2C}" type="presOf" srcId="{C5CFB8E8-0AC1-4094-A4F0-8A7CB0BF63D8}" destId="{FB6B6AC3-7FDA-49CE-8201-4EA7A71D62F3}" srcOrd="0" destOrd="0" presId="urn:microsoft.com/office/officeart/2005/8/layout/hList1"/>
    <dgm:cxn modelId="{4AF303CC-B506-4E72-8581-753F701C54AA}" srcId="{C5CFB8E8-0AC1-4094-A4F0-8A7CB0BF63D8}" destId="{F0B29D7A-B71E-408E-BE16-B9FD988F676A}" srcOrd="0" destOrd="0" parTransId="{AF66FFBA-EFEE-4AA1-A079-8802C97E241A}" sibTransId="{0ABD34ED-EFDF-4418-8701-BC1B1DF6A860}"/>
    <dgm:cxn modelId="{B812B944-5EE3-4338-A4FF-1C7CAC9D57BB}" type="presParOf" srcId="{BFF98A81-9D02-481F-8C13-699A6B739A26}" destId="{05D350AE-CF27-4147-8146-C6AF9EED71D4}" srcOrd="0" destOrd="0" presId="urn:microsoft.com/office/officeart/2005/8/layout/hList1"/>
    <dgm:cxn modelId="{2185AFAD-E811-4F3A-8C64-621A6D219376}" type="presParOf" srcId="{05D350AE-CF27-4147-8146-C6AF9EED71D4}" destId="{FB6B6AC3-7FDA-49CE-8201-4EA7A71D62F3}" srcOrd="0" destOrd="0" presId="urn:microsoft.com/office/officeart/2005/8/layout/hList1"/>
    <dgm:cxn modelId="{42A438E7-F5DD-4858-8097-D09FA8058C71}" type="presParOf" srcId="{05D350AE-CF27-4147-8146-C6AF9EED71D4}" destId="{785F0FE1-6B0D-4EF1-918A-BAF93D8E26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0EB049-3BF1-4B02-A9AF-973D892E0D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C5CFB8E8-0AC1-4094-A4F0-8A7CB0BF63D8}">
      <dgm:prSet phldrT="[Texte]"/>
      <dgm:spPr/>
      <dgm:t>
        <a:bodyPr/>
        <a:lstStyle/>
        <a:p>
          <a:r>
            <a:rPr lang="fr-CA" dirty="0"/>
            <a:t>Inconvénients</a:t>
          </a:r>
        </a:p>
      </dgm:t>
    </dgm:pt>
    <dgm:pt modelId="{AA4ACD73-B204-477F-9771-DF3C3445FC84}" type="parTrans" cxnId="{3A63985C-BDA3-4DB7-99ED-5426808E9E36}">
      <dgm:prSet/>
      <dgm:spPr/>
      <dgm:t>
        <a:bodyPr/>
        <a:lstStyle/>
        <a:p>
          <a:endParaRPr lang="fr-CA"/>
        </a:p>
      </dgm:t>
    </dgm:pt>
    <dgm:pt modelId="{C7269680-BD8D-41FF-B9FD-CDF5725713DA}" type="sibTrans" cxnId="{3A63985C-BDA3-4DB7-99ED-5426808E9E36}">
      <dgm:prSet/>
      <dgm:spPr/>
      <dgm:t>
        <a:bodyPr/>
        <a:lstStyle/>
        <a:p>
          <a:endParaRPr lang="fr-CA"/>
        </a:p>
      </dgm:t>
    </dgm:pt>
    <dgm:pt modelId="{F0B29D7A-B71E-408E-BE16-B9FD988F676A}">
      <dgm:prSet phldrT="[Texte]"/>
      <dgm:spPr/>
      <dgm:t>
        <a:bodyPr/>
        <a:lstStyle/>
        <a:p>
          <a:r>
            <a:rPr lang="fr-FR" altLang="en-US" dirty="0">
              <a:solidFill>
                <a:schemeClr val="accent1"/>
              </a:solidFill>
            </a:rPr>
            <a:t>Coûts de faillite</a:t>
          </a:r>
          <a:endParaRPr lang="fr-CA" dirty="0">
            <a:solidFill>
              <a:schemeClr val="accent1"/>
            </a:solidFill>
          </a:endParaRPr>
        </a:p>
      </dgm:t>
    </dgm:pt>
    <dgm:pt modelId="{AF66FFBA-EFEE-4AA1-A079-8802C97E241A}" type="parTrans" cxnId="{4AF303CC-B506-4E72-8581-753F701C54AA}">
      <dgm:prSet/>
      <dgm:spPr/>
      <dgm:t>
        <a:bodyPr/>
        <a:lstStyle/>
        <a:p>
          <a:endParaRPr lang="fr-CA"/>
        </a:p>
      </dgm:t>
    </dgm:pt>
    <dgm:pt modelId="{0ABD34ED-EFDF-4418-8701-BC1B1DF6A860}" type="sibTrans" cxnId="{4AF303CC-B506-4E72-8581-753F701C54AA}">
      <dgm:prSet/>
      <dgm:spPr/>
      <dgm:t>
        <a:bodyPr/>
        <a:lstStyle/>
        <a:p>
          <a:endParaRPr lang="fr-CA"/>
        </a:p>
      </dgm:t>
    </dgm:pt>
    <dgm:pt modelId="{E1BD72EE-BAB5-4AE6-9648-2A3EF82896AE}">
      <dgm:prSet phldrT="[Texte]"/>
      <dgm:spPr/>
      <dgm:t>
        <a:bodyPr/>
        <a:lstStyle/>
        <a:p>
          <a:r>
            <a:rPr lang="fr-FR" altLang="en-US" dirty="0"/>
            <a:t>Coûts d’agence</a:t>
          </a:r>
          <a:endParaRPr lang="fr-CA" dirty="0"/>
        </a:p>
      </dgm:t>
    </dgm:pt>
    <dgm:pt modelId="{2F9D77B3-F586-435D-A3B6-AEE9FC272696}" type="parTrans" cxnId="{D6426614-F706-49AF-9A11-2671881CC627}">
      <dgm:prSet/>
      <dgm:spPr/>
      <dgm:t>
        <a:bodyPr/>
        <a:lstStyle/>
        <a:p>
          <a:endParaRPr lang="fr-CA"/>
        </a:p>
      </dgm:t>
    </dgm:pt>
    <dgm:pt modelId="{E3216267-8514-4BAE-B064-B4697C5C9C69}" type="sibTrans" cxnId="{D6426614-F706-49AF-9A11-2671881CC627}">
      <dgm:prSet/>
      <dgm:spPr/>
      <dgm:t>
        <a:bodyPr/>
        <a:lstStyle/>
        <a:p>
          <a:endParaRPr lang="fr-CA"/>
        </a:p>
      </dgm:t>
    </dgm:pt>
    <dgm:pt modelId="{4CB7CB61-9B09-4C05-9B38-791A35F1767F}">
      <dgm:prSet phldrT="[Texte]"/>
      <dgm:spPr/>
      <dgm:t>
        <a:bodyPr/>
        <a:lstStyle/>
        <a:p>
          <a:r>
            <a:rPr lang="fr-FR" altLang="en-US" dirty="0"/>
            <a:t>Perte future de flexibilité</a:t>
          </a:r>
          <a:endParaRPr lang="fr-CA" dirty="0"/>
        </a:p>
      </dgm:t>
    </dgm:pt>
    <dgm:pt modelId="{0575331F-5B8A-4FB6-BB2B-91D4618410FD}" type="parTrans" cxnId="{D0CEE96F-B7A8-466F-AEE7-20BDE45BC7D1}">
      <dgm:prSet/>
      <dgm:spPr/>
      <dgm:t>
        <a:bodyPr/>
        <a:lstStyle/>
        <a:p>
          <a:endParaRPr lang="fr-CA"/>
        </a:p>
      </dgm:t>
    </dgm:pt>
    <dgm:pt modelId="{E7D06BE3-44D1-4A92-8671-21FF6A4DE468}" type="sibTrans" cxnId="{D0CEE96F-B7A8-466F-AEE7-20BDE45BC7D1}">
      <dgm:prSet/>
      <dgm:spPr/>
      <dgm:t>
        <a:bodyPr/>
        <a:lstStyle/>
        <a:p>
          <a:endParaRPr lang="fr-CA"/>
        </a:p>
      </dgm:t>
    </dgm:pt>
    <dgm:pt modelId="{BFF98A81-9D02-481F-8C13-699A6B739A26}" type="pres">
      <dgm:prSet presAssocID="{660EB049-3BF1-4B02-A9AF-973D892E0DB9}" presName="Name0" presStyleCnt="0">
        <dgm:presLayoutVars>
          <dgm:dir/>
          <dgm:animLvl val="lvl"/>
          <dgm:resizeHandles val="exact"/>
        </dgm:presLayoutVars>
      </dgm:prSet>
      <dgm:spPr/>
    </dgm:pt>
    <dgm:pt modelId="{05D350AE-CF27-4147-8146-C6AF9EED71D4}" type="pres">
      <dgm:prSet presAssocID="{C5CFB8E8-0AC1-4094-A4F0-8A7CB0BF63D8}" presName="composite" presStyleCnt="0"/>
      <dgm:spPr/>
    </dgm:pt>
    <dgm:pt modelId="{FB6B6AC3-7FDA-49CE-8201-4EA7A71D62F3}" type="pres">
      <dgm:prSet presAssocID="{C5CFB8E8-0AC1-4094-A4F0-8A7CB0BF63D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85F0FE1-6B0D-4EF1-918A-BAF93D8E260D}" type="pres">
      <dgm:prSet presAssocID="{C5CFB8E8-0AC1-4094-A4F0-8A7CB0BF63D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D6426614-F706-49AF-9A11-2671881CC627}" srcId="{C5CFB8E8-0AC1-4094-A4F0-8A7CB0BF63D8}" destId="{E1BD72EE-BAB5-4AE6-9648-2A3EF82896AE}" srcOrd="1" destOrd="0" parTransId="{2F9D77B3-F586-435D-A3B6-AEE9FC272696}" sibTransId="{E3216267-8514-4BAE-B064-B4697C5C9C69}"/>
    <dgm:cxn modelId="{024E8927-E0E0-4AA3-A420-E43E9FA0A950}" type="presOf" srcId="{660EB049-3BF1-4B02-A9AF-973D892E0DB9}" destId="{BFF98A81-9D02-481F-8C13-699A6B739A26}" srcOrd="0" destOrd="0" presId="urn:microsoft.com/office/officeart/2005/8/layout/hList1"/>
    <dgm:cxn modelId="{3A63985C-BDA3-4DB7-99ED-5426808E9E36}" srcId="{660EB049-3BF1-4B02-A9AF-973D892E0DB9}" destId="{C5CFB8E8-0AC1-4094-A4F0-8A7CB0BF63D8}" srcOrd="0" destOrd="0" parTransId="{AA4ACD73-B204-477F-9771-DF3C3445FC84}" sibTransId="{C7269680-BD8D-41FF-B9FD-CDF5725713DA}"/>
    <dgm:cxn modelId="{D0CEE96F-B7A8-466F-AEE7-20BDE45BC7D1}" srcId="{C5CFB8E8-0AC1-4094-A4F0-8A7CB0BF63D8}" destId="{4CB7CB61-9B09-4C05-9B38-791A35F1767F}" srcOrd="2" destOrd="0" parTransId="{0575331F-5B8A-4FB6-BB2B-91D4618410FD}" sibTransId="{E7D06BE3-44D1-4A92-8671-21FF6A4DE468}"/>
    <dgm:cxn modelId="{116DB687-68B4-4176-9E41-7E5E14C04901}" type="presOf" srcId="{F0B29D7A-B71E-408E-BE16-B9FD988F676A}" destId="{785F0FE1-6B0D-4EF1-918A-BAF93D8E260D}" srcOrd="0" destOrd="0" presId="urn:microsoft.com/office/officeart/2005/8/layout/hList1"/>
    <dgm:cxn modelId="{4AF303CC-B506-4E72-8581-753F701C54AA}" srcId="{C5CFB8E8-0AC1-4094-A4F0-8A7CB0BF63D8}" destId="{F0B29D7A-B71E-408E-BE16-B9FD988F676A}" srcOrd="0" destOrd="0" parTransId="{AF66FFBA-EFEE-4AA1-A079-8802C97E241A}" sibTransId="{0ABD34ED-EFDF-4418-8701-BC1B1DF6A860}"/>
    <dgm:cxn modelId="{0CC8ADE5-DA16-48CD-AD32-E6055B4E0113}" type="presOf" srcId="{C5CFB8E8-0AC1-4094-A4F0-8A7CB0BF63D8}" destId="{FB6B6AC3-7FDA-49CE-8201-4EA7A71D62F3}" srcOrd="0" destOrd="0" presId="urn:microsoft.com/office/officeart/2005/8/layout/hList1"/>
    <dgm:cxn modelId="{7933CAED-E949-4F38-9576-EFF30205E8FD}" type="presOf" srcId="{4CB7CB61-9B09-4C05-9B38-791A35F1767F}" destId="{785F0FE1-6B0D-4EF1-918A-BAF93D8E260D}" srcOrd="0" destOrd="2" presId="urn:microsoft.com/office/officeart/2005/8/layout/hList1"/>
    <dgm:cxn modelId="{AA0B9AF1-7F04-491C-B8F5-8F3920A76071}" type="presOf" srcId="{E1BD72EE-BAB5-4AE6-9648-2A3EF82896AE}" destId="{785F0FE1-6B0D-4EF1-918A-BAF93D8E260D}" srcOrd="0" destOrd="1" presId="urn:microsoft.com/office/officeart/2005/8/layout/hList1"/>
    <dgm:cxn modelId="{5BA51999-AFCF-4FC6-A83B-253433678AFC}" type="presParOf" srcId="{BFF98A81-9D02-481F-8C13-699A6B739A26}" destId="{05D350AE-CF27-4147-8146-C6AF9EED71D4}" srcOrd="0" destOrd="0" presId="urn:microsoft.com/office/officeart/2005/8/layout/hList1"/>
    <dgm:cxn modelId="{070D47D0-1687-4FC3-8055-BF58D1DAF505}" type="presParOf" srcId="{05D350AE-CF27-4147-8146-C6AF9EED71D4}" destId="{FB6B6AC3-7FDA-49CE-8201-4EA7A71D62F3}" srcOrd="0" destOrd="0" presId="urn:microsoft.com/office/officeart/2005/8/layout/hList1"/>
    <dgm:cxn modelId="{6A0B3EEC-E6B0-4706-807C-24E3B6D25856}" type="presParOf" srcId="{05D350AE-CF27-4147-8146-C6AF9EED71D4}" destId="{785F0FE1-6B0D-4EF1-918A-BAF93D8E26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0EB049-3BF1-4B02-A9AF-973D892E0D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C5CFB8E8-0AC1-4094-A4F0-8A7CB0BF63D8}">
      <dgm:prSet phldrT="[Texte]"/>
      <dgm:spPr/>
      <dgm:t>
        <a:bodyPr/>
        <a:lstStyle/>
        <a:p>
          <a:r>
            <a:rPr lang="fr-CA" dirty="0"/>
            <a:t>Inconvénients</a:t>
          </a:r>
        </a:p>
      </dgm:t>
    </dgm:pt>
    <dgm:pt modelId="{AA4ACD73-B204-477F-9771-DF3C3445FC84}" type="parTrans" cxnId="{3A63985C-BDA3-4DB7-99ED-5426808E9E36}">
      <dgm:prSet/>
      <dgm:spPr/>
      <dgm:t>
        <a:bodyPr/>
        <a:lstStyle/>
        <a:p>
          <a:endParaRPr lang="fr-CA"/>
        </a:p>
      </dgm:t>
    </dgm:pt>
    <dgm:pt modelId="{C7269680-BD8D-41FF-B9FD-CDF5725713DA}" type="sibTrans" cxnId="{3A63985C-BDA3-4DB7-99ED-5426808E9E36}">
      <dgm:prSet/>
      <dgm:spPr/>
      <dgm:t>
        <a:bodyPr/>
        <a:lstStyle/>
        <a:p>
          <a:endParaRPr lang="fr-CA"/>
        </a:p>
      </dgm:t>
    </dgm:pt>
    <dgm:pt modelId="{F0B29D7A-B71E-408E-BE16-B9FD988F676A}">
      <dgm:prSet phldrT="[Texte]"/>
      <dgm:spPr/>
      <dgm:t>
        <a:bodyPr/>
        <a:lstStyle/>
        <a:p>
          <a:r>
            <a:rPr lang="fr-FR" altLang="en-US" dirty="0"/>
            <a:t>Coûts de faillite</a:t>
          </a:r>
          <a:endParaRPr lang="fr-CA" dirty="0"/>
        </a:p>
      </dgm:t>
    </dgm:pt>
    <dgm:pt modelId="{AF66FFBA-EFEE-4AA1-A079-8802C97E241A}" type="parTrans" cxnId="{4AF303CC-B506-4E72-8581-753F701C54AA}">
      <dgm:prSet/>
      <dgm:spPr/>
      <dgm:t>
        <a:bodyPr/>
        <a:lstStyle/>
        <a:p>
          <a:endParaRPr lang="fr-CA"/>
        </a:p>
      </dgm:t>
    </dgm:pt>
    <dgm:pt modelId="{0ABD34ED-EFDF-4418-8701-BC1B1DF6A860}" type="sibTrans" cxnId="{4AF303CC-B506-4E72-8581-753F701C54AA}">
      <dgm:prSet/>
      <dgm:spPr/>
      <dgm:t>
        <a:bodyPr/>
        <a:lstStyle/>
        <a:p>
          <a:endParaRPr lang="fr-CA"/>
        </a:p>
      </dgm:t>
    </dgm:pt>
    <dgm:pt modelId="{E1BD72EE-BAB5-4AE6-9648-2A3EF82896AE}">
      <dgm:prSet phldrT="[Texte]"/>
      <dgm:spPr/>
      <dgm:t>
        <a:bodyPr/>
        <a:lstStyle/>
        <a:p>
          <a:r>
            <a:rPr lang="fr-FR" altLang="en-US" dirty="0">
              <a:solidFill>
                <a:schemeClr val="accent1"/>
              </a:solidFill>
            </a:rPr>
            <a:t>Coûts d’agence</a:t>
          </a:r>
          <a:endParaRPr lang="fr-CA" dirty="0">
            <a:solidFill>
              <a:schemeClr val="accent1"/>
            </a:solidFill>
          </a:endParaRPr>
        </a:p>
      </dgm:t>
    </dgm:pt>
    <dgm:pt modelId="{2F9D77B3-F586-435D-A3B6-AEE9FC272696}" type="parTrans" cxnId="{D6426614-F706-49AF-9A11-2671881CC627}">
      <dgm:prSet/>
      <dgm:spPr/>
      <dgm:t>
        <a:bodyPr/>
        <a:lstStyle/>
        <a:p>
          <a:endParaRPr lang="fr-CA"/>
        </a:p>
      </dgm:t>
    </dgm:pt>
    <dgm:pt modelId="{E3216267-8514-4BAE-B064-B4697C5C9C69}" type="sibTrans" cxnId="{D6426614-F706-49AF-9A11-2671881CC627}">
      <dgm:prSet/>
      <dgm:spPr/>
      <dgm:t>
        <a:bodyPr/>
        <a:lstStyle/>
        <a:p>
          <a:endParaRPr lang="fr-CA"/>
        </a:p>
      </dgm:t>
    </dgm:pt>
    <dgm:pt modelId="{4CB7CB61-9B09-4C05-9B38-791A35F1767F}">
      <dgm:prSet phldrT="[Texte]"/>
      <dgm:spPr/>
      <dgm:t>
        <a:bodyPr/>
        <a:lstStyle/>
        <a:p>
          <a:r>
            <a:rPr lang="fr-FR" altLang="en-US" dirty="0"/>
            <a:t>Perte future de flexibilité</a:t>
          </a:r>
          <a:endParaRPr lang="fr-CA" dirty="0"/>
        </a:p>
      </dgm:t>
    </dgm:pt>
    <dgm:pt modelId="{0575331F-5B8A-4FB6-BB2B-91D4618410FD}" type="parTrans" cxnId="{D0CEE96F-B7A8-466F-AEE7-20BDE45BC7D1}">
      <dgm:prSet/>
      <dgm:spPr/>
      <dgm:t>
        <a:bodyPr/>
        <a:lstStyle/>
        <a:p>
          <a:endParaRPr lang="fr-CA"/>
        </a:p>
      </dgm:t>
    </dgm:pt>
    <dgm:pt modelId="{E7D06BE3-44D1-4A92-8671-21FF6A4DE468}" type="sibTrans" cxnId="{D0CEE96F-B7A8-466F-AEE7-20BDE45BC7D1}">
      <dgm:prSet/>
      <dgm:spPr/>
      <dgm:t>
        <a:bodyPr/>
        <a:lstStyle/>
        <a:p>
          <a:endParaRPr lang="fr-CA"/>
        </a:p>
      </dgm:t>
    </dgm:pt>
    <dgm:pt modelId="{BFF98A81-9D02-481F-8C13-699A6B739A26}" type="pres">
      <dgm:prSet presAssocID="{660EB049-3BF1-4B02-A9AF-973D892E0DB9}" presName="Name0" presStyleCnt="0">
        <dgm:presLayoutVars>
          <dgm:dir/>
          <dgm:animLvl val="lvl"/>
          <dgm:resizeHandles val="exact"/>
        </dgm:presLayoutVars>
      </dgm:prSet>
      <dgm:spPr/>
    </dgm:pt>
    <dgm:pt modelId="{05D350AE-CF27-4147-8146-C6AF9EED71D4}" type="pres">
      <dgm:prSet presAssocID="{C5CFB8E8-0AC1-4094-A4F0-8A7CB0BF63D8}" presName="composite" presStyleCnt="0"/>
      <dgm:spPr/>
    </dgm:pt>
    <dgm:pt modelId="{FB6B6AC3-7FDA-49CE-8201-4EA7A71D62F3}" type="pres">
      <dgm:prSet presAssocID="{C5CFB8E8-0AC1-4094-A4F0-8A7CB0BF63D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85F0FE1-6B0D-4EF1-918A-BAF93D8E260D}" type="pres">
      <dgm:prSet presAssocID="{C5CFB8E8-0AC1-4094-A4F0-8A7CB0BF63D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8F6C90D-1A63-4CA7-B0D7-F2FC33B8403A}" type="presOf" srcId="{4CB7CB61-9B09-4C05-9B38-791A35F1767F}" destId="{785F0FE1-6B0D-4EF1-918A-BAF93D8E260D}" srcOrd="0" destOrd="2" presId="urn:microsoft.com/office/officeart/2005/8/layout/hList1"/>
    <dgm:cxn modelId="{D6426614-F706-49AF-9A11-2671881CC627}" srcId="{C5CFB8E8-0AC1-4094-A4F0-8A7CB0BF63D8}" destId="{E1BD72EE-BAB5-4AE6-9648-2A3EF82896AE}" srcOrd="1" destOrd="0" parTransId="{2F9D77B3-F586-435D-A3B6-AEE9FC272696}" sibTransId="{E3216267-8514-4BAE-B064-B4697C5C9C69}"/>
    <dgm:cxn modelId="{9A8DB719-03FF-40A8-A03F-8BBE635D1471}" type="presOf" srcId="{F0B29D7A-B71E-408E-BE16-B9FD988F676A}" destId="{785F0FE1-6B0D-4EF1-918A-BAF93D8E260D}" srcOrd="0" destOrd="0" presId="urn:microsoft.com/office/officeart/2005/8/layout/hList1"/>
    <dgm:cxn modelId="{0865692D-5771-4035-A311-C5F0A2CCD34B}" type="presOf" srcId="{660EB049-3BF1-4B02-A9AF-973D892E0DB9}" destId="{BFF98A81-9D02-481F-8C13-699A6B739A26}" srcOrd="0" destOrd="0" presId="urn:microsoft.com/office/officeart/2005/8/layout/hList1"/>
    <dgm:cxn modelId="{3A63985C-BDA3-4DB7-99ED-5426808E9E36}" srcId="{660EB049-3BF1-4B02-A9AF-973D892E0DB9}" destId="{C5CFB8E8-0AC1-4094-A4F0-8A7CB0BF63D8}" srcOrd="0" destOrd="0" parTransId="{AA4ACD73-B204-477F-9771-DF3C3445FC84}" sibTransId="{C7269680-BD8D-41FF-B9FD-CDF5725713DA}"/>
    <dgm:cxn modelId="{3BEC2F6F-E9F7-4B1F-BF92-5182F5847AD7}" type="presOf" srcId="{E1BD72EE-BAB5-4AE6-9648-2A3EF82896AE}" destId="{785F0FE1-6B0D-4EF1-918A-BAF93D8E260D}" srcOrd="0" destOrd="1" presId="urn:microsoft.com/office/officeart/2005/8/layout/hList1"/>
    <dgm:cxn modelId="{D0CEE96F-B7A8-466F-AEE7-20BDE45BC7D1}" srcId="{C5CFB8E8-0AC1-4094-A4F0-8A7CB0BF63D8}" destId="{4CB7CB61-9B09-4C05-9B38-791A35F1767F}" srcOrd="2" destOrd="0" parTransId="{0575331F-5B8A-4FB6-BB2B-91D4618410FD}" sibTransId="{E7D06BE3-44D1-4A92-8671-21FF6A4DE468}"/>
    <dgm:cxn modelId="{63958456-0528-49B9-80C8-4C5BFB39E87C}" type="presOf" srcId="{C5CFB8E8-0AC1-4094-A4F0-8A7CB0BF63D8}" destId="{FB6B6AC3-7FDA-49CE-8201-4EA7A71D62F3}" srcOrd="0" destOrd="0" presId="urn:microsoft.com/office/officeart/2005/8/layout/hList1"/>
    <dgm:cxn modelId="{4AF303CC-B506-4E72-8581-753F701C54AA}" srcId="{C5CFB8E8-0AC1-4094-A4F0-8A7CB0BF63D8}" destId="{F0B29D7A-B71E-408E-BE16-B9FD988F676A}" srcOrd="0" destOrd="0" parTransId="{AF66FFBA-EFEE-4AA1-A079-8802C97E241A}" sibTransId="{0ABD34ED-EFDF-4418-8701-BC1B1DF6A860}"/>
    <dgm:cxn modelId="{26DA6BDA-6316-4189-97BF-5B1448EF28F8}" type="presParOf" srcId="{BFF98A81-9D02-481F-8C13-699A6B739A26}" destId="{05D350AE-CF27-4147-8146-C6AF9EED71D4}" srcOrd="0" destOrd="0" presId="urn:microsoft.com/office/officeart/2005/8/layout/hList1"/>
    <dgm:cxn modelId="{122C18E0-6720-4D4B-8999-C8603466F6DC}" type="presParOf" srcId="{05D350AE-CF27-4147-8146-C6AF9EED71D4}" destId="{FB6B6AC3-7FDA-49CE-8201-4EA7A71D62F3}" srcOrd="0" destOrd="0" presId="urn:microsoft.com/office/officeart/2005/8/layout/hList1"/>
    <dgm:cxn modelId="{F69F4B12-984E-4FC7-8D7B-985328AD8E9A}" type="presParOf" srcId="{05D350AE-CF27-4147-8146-C6AF9EED71D4}" destId="{785F0FE1-6B0D-4EF1-918A-BAF93D8E26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60EB049-3BF1-4B02-A9AF-973D892E0DB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C5CFB8E8-0AC1-4094-A4F0-8A7CB0BF63D8}">
      <dgm:prSet phldrT="[Texte]"/>
      <dgm:spPr/>
      <dgm:t>
        <a:bodyPr/>
        <a:lstStyle/>
        <a:p>
          <a:r>
            <a:rPr lang="fr-CA" dirty="0"/>
            <a:t>Inconvénients</a:t>
          </a:r>
        </a:p>
      </dgm:t>
    </dgm:pt>
    <dgm:pt modelId="{AA4ACD73-B204-477F-9771-DF3C3445FC84}" type="parTrans" cxnId="{3A63985C-BDA3-4DB7-99ED-5426808E9E36}">
      <dgm:prSet/>
      <dgm:spPr/>
      <dgm:t>
        <a:bodyPr/>
        <a:lstStyle/>
        <a:p>
          <a:endParaRPr lang="fr-CA"/>
        </a:p>
      </dgm:t>
    </dgm:pt>
    <dgm:pt modelId="{C7269680-BD8D-41FF-B9FD-CDF5725713DA}" type="sibTrans" cxnId="{3A63985C-BDA3-4DB7-99ED-5426808E9E36}">
      <dgm:prSet/>
      <dgm:spPr/>
      <dgm:t>
        <a:bodyPr/>
        <a:lstStyle/>
        <a:p>
          <a:endParaRPr lang="fr-CA"/>
        </a:p>
      </dgm:t>
    </dgm:pt>
    <dgm:pt modelId="{F0B29D7A-B71E-408E-BE16-B9FD988F676A}">
      <dgm:prSet phldrT="[Texte]"/>
      <dgm:spPr/>
      <dgm:t>
        <a:bodyPr/>
        <a:lstStyle/>
        <a:p>
          <a:r>
            <a:rPr lang="fr-FR" altLang="en-US" dirty="0"/>
            <a:t>Coûts de faillite</a:t>
          </a:r>
          <a:endParaRPr lang="fr-CA" dirty="0"/>
        </a:p>
      </dgm:t>
    </dgm:pt>
    <dgm:pt modelId="{AF66FFBA-EFEE-4AA1-A079-8802C97E241A}" type="parTrans" cxnId="{4AF303CC-B506-4E72-8581-753F701C54AA}">
      <dgm:prSet/>
      <dgm:spPr/>
      <dgm:t>
        <a:bodyPr/>
        <a:lstStyle/>
        <a:p>
          <a:endParaRPr lang="fr-CA"/>
        </a:p>
      </dgm:t>
    </dgm:pt>
    <dgm:pt modelId="{0ABD34ED-EFDF-4418-8701-BC1B1DF6A860}" type="sibTrans" cxnId="{4AF303CC-B506-4E72-8581-753F701C54AA}">
      <dgm:prSet/>
      <dgm:spPr/>
      <dgm:t>
        <a:bodyPr/>
        <a:lstStyle/>
        <a:p>
          <a:endParaRPr lang="fr-CA"/>
        </a:p>
      </dgm:t>
    </dgm:pt>
    <dgm:pt modelId="{E1BD72EE-BAB5-4AE6-9648-2A3EF82896AE}">
      <dgm:prSet phldrT="[Texte]"/>
      <dgm:spPr/>
      <dgm:t>
        <a:bodyPr/>
        <a:lstStyle/>
        <a:p>
          <a:r>
            <a:rPr lang="fr-FR" altLang="en-US" dirty="0"/>
            <a:t>Coûts d’agence</a:t>
          </a:r>
          <a:endParaRPr lang="fr-CA" dirty="0"/>
        </a:p>
      </dgm:t>
    </dgm:pt>
    <dgm:pt modelId="{2F9D77B3-F586-435D-A3B6-AEE9FC272696}" type="parTrans" cxnId="{D6426614-F706-49AF-9A11-2671881CC627}">
      <dgm:prSet/>
      <dgm:spPr/>
      <dgm:t>
        <a:bodyPr/>
        <a:lstStyle/>
        <a:p>
          <a:endParaRPr lang="fr-CA"/>
        </a:p>
      </dgm:t>
    </dgm:pt>
    <dgm:pt modelId="{E3216267-8514-4BAE-B064-B4697C5C9C69}" type="sibTrans" cxnId="{D6426614-F706-49AF-9A11-2671881CC627}">
      <dgm:prSet/>
      <dgm:spPr/>
      <dgm:t>
        <a:bodyPr/>
        <a:lstStyle/>
        <a:p>
          <a:endParaRPr lang="fr-CA"/>
        </a:p>
      </dgm:t>
    </dgm:pt>
    <dgm:pt modelId="{4CB7CB61-9B09-4C05-9B38-791A35F1767F}">
      <dgm:prSet phldrT="[Texte]"/>
      <dgm:spPr/>
      <dgm:t>
        <a:bodyPr/>
        <a:lstStyle/>
        <a:p>
          <a:r>
            <a:rPr lang="fr-FR" altLang="en-US" dirty="0">
              <a:solidFill>
                <a:schemeClr val="accent1"/>
              </a:solidFill>
            </a:rPr>
            <a:t>Perte future de flexibilité</a:t>
          </a:r>
          <a:endParaRPr lang="fr-CA" dirty="0">
            <a:solidFill>
              <a:schemeClr val="accent1"/>
            </a:solidFill>
          </a:endParaRPr>
        </a:p>
      </dgm:t>
    </dgm:pt>
    <dgm:pt modelId="{0575331F-5B8A-4FB6-BB2B-91D4618410FD}" type="parTrans" cxnId="{D0CEE96F-B7A8-466F-AEE7-20BDE45BC7D1}">
      <dgm:prSet/>
      <dgm:spPr/>
      <dgm:t>
        <a:bodyPr/>
        <a:lstStyle/>
        <a:p>
          <a:endParaRPr lang="fr-CA"/>
        </a:p>
      </dgm:t>
    </dgm:pt>
    <dgm:pt modelId="{E7D06BE3-44D1-4A92-8671-21FF6A4DE468}" type="sibTrans" cxnId="{D0CEE96F-B7A8-466F-AEE7-20BDE45BC7D1}">
      <dgm:prSet/>
      <dgm:spPr/>
      <dgm:t>
        <a:bodyPr/>
        <a:lstStyle/>
        <a:p>
          <a:endParaRPr lang="fr-CA"/>
        </a:p>
      </dgm:t>
    </dgm:pt>
    <dgm:pt modelId="{BFF98A81-9D02-481F-8C13-699A6B739A26}" type="pres">
      <dgm:prSet presAssocID="{660EB049-3BF1-4B02-A9AF-973D892E0DB9}" presName="Name0" presStyleCnt="0">
        <dgm:presLayoutVars>
          <dgm:dir/>
          <dgm:animLvl val="lvl"/>
          <dgm:resizeHandles val="exact"/>
        </dgm:presLayoutVars>
      </dgm:prSet>
      <dgm:spPr/>
    </dgm:pt>
    <dgm:pt modelId="{05D350AE-CF27-4147-8146-C6AF9EED71D4}" type="pres">
      <dgm:prSet presAssocID="{C5CFB8E8-0AC1-4094-A4F0-8A7CB0BF63D8}" presName="composite" presStyleCnt="0"/>
      <dgm:spPr/>
    </dgm:pt>
    <dgm:pt modelId="{FB6B6AC3-7FDA-49CE-8201-4EA7A71D62F3}" type="pres">
      <dgm:prSet presAssocID="{C5CFB8E8-0AC1-4094-A4F0-8A7CB0BF63D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85F0FE1-6B0D-4EF1-918A-BAF93D8E260D}" type="pres">
      <dgm:prSet presAssocID="{C5CFB8E8-0AC1-4094-A4F0-8A7CB0BF63D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D6426614-F706-49AF-9A11-2671881CC627}" srcId="{C5CFB8E8-0AC1-4094-A4F0-8A7CB0BF63D8}" destId="{E1BD72EE-BAB5-4AE6-9648-2A3EF82896AE}" srcOrd="1" destOrd="0" parTransId="{2F9D77B3-F586-435D-A3B6-AEE9FC272696}" sibTransId="{E3216267-8514-4BAE-B064-B4697C5C9C69}"/>
    <dgm:cxn modelId="{512FA221-7222-4B56-9ED2-48BCEDF9936B}" type="presOf" srcId="{660EB049-3BF1-4B02-A9AF-973D892E0DB9}" destId="{BFF98A81-9D02-481F-8C13-699A6B739A26}" srcOrd="0" destOrd="0" presId="urn:microsoft.com/office/officeart/2005/8/layout/hList1"/>
    <dgm:cxn modelId="{61C05D39-17AC-420A-A521-7545D47AAA3E}" type="presOf" srcId="{4CB7CB61-9B09-4C05-9B38-791A35F1767F}" destId="{785F0FE1-6B0D-4EF1-918A-BAF93D8E260D}" srcOrd="0" destOrd="2" presId="urn:microsoft.com/office/officeart/2005/8/layout/hList1"/>
    <dgm:cxn modelId="{3A63985C-BDA3-4DB7-99ED-5426808E9E36}" srcId="{660EB049-3BF1-4B02-A9AF-973D892E0DB9}" destId="{C5CFB8E8-0AC1-4094-A4F0-8A7CB0BF63D8}" srcOrd="0" destOrd="0" parTransId="{AA4ACD73-B204-477F-9771-DF3C3445FC84}" sibTransId="{C7269680-BD8D-41FF-B9FD-CDF5725713DA}"/>
    <dgm:cxn modelId="{C145FF5D-916B-4205-B960-8C0A4F39184F}" type="presOf" srcId="{F0B29D7A-B71E-408E-BE16-B9FD988F676A}" destId="{785F0FE1-6B0D-4EF1-918A-BAF93D8E260D}" srcOrd="0" destOrd="0" presId="urn:microsoft.com/office/officeart/2005/8/layout/hList1"/>
    <dgm:cxn modelId="{D0CEE96F-B7A8-466F-AEE7-20BDE45BC7D1}" srcId="{C5CFB8E8-0AC1-4094-A4F0-8A7CB0BF63D8}" destId="{4CB7CB61-9B09-4C05-9B38-791A35F1767F}" srcOrd="2" destOrd="0" parTransId="{0575331F-5B8A-4FB6-BB2B-91D4618410FD}" sibTransId="{E7D06BE3-44D1-4A92-8671-21FF6A4DE468}"/>
    <dgm:cxn modelId="{EFDE5376-870D-422B-9307-ED0C8C36A6E8}" type="presOf" srcId="{C5CFB8E8-0AC1-4094-A4F0-8A7CB0BF63D8}" destId="{FB6B6AC3-7FDA-49CE-8201-4EA7A71D62F3}" srcOrd="0" destOrd="0" presId="urn:microsoft.com/office/officeart/2005/8/layout/hList1"/>
    <dgm:cxn modelId="{43035996-4479-432D-A77F-44B68A762083}" type="presOf" srcId="{E1BD72EE-BAB5-4AE6-9648-2A3EF82896AE}" destId="{785F0FE1-6B0D-4EF1-918A-BAF93D8E260D}" srcOrd="0" destOrd="1" presId="urn:microsoft.com/office/officeart/2005/8/layout/hList1"/>
    <dgm:cxn modelId="{4AF303CC-B506-4E72-8581-753F701C54AA}" srcId="{C5CFB8E8-0AC1-4094-A4F0-8A7CB0BF63D8}" destId="{F0B29D7A-B71E-408E-BE16-B9FD988F676A}" srcOrd="0" destOrd="0" parTransId="{AF66FFBA-EFEE-4AA1-A079-8802C97E241A}" sibTransId="{0ABD34ED-EFDF-4418-8701-BC1B1DF6A860}"/>
    <dgm:cxn modelId="{886EB38B-EDBA-4B94-B6E4-986BB5C388DF}" type="presParOf" srcId="{BFF98A81-9D02-481F-8C13-699A6B739A26}" destId="{05D350AE-CF27-4147-8146-C6AF9EED71D4}" srcOrd="0" destOrd="0" presId="urn:microsoft.com/office/officeart/2005/8/layout/hList1"/>
    <dgm:cxn modelId="{80168137-BA2D-4EC4-BF4A-950B76772207}" type="presParOf" srcId="{05D350AE-CF27-4147-8146-C6AF9EED71D4}" destId="{FB6B6AC3-7FDA-49CE-8201-4EA7A71D62F3}" srcOrd="0" destOrd="0" presId="urn:microsoft.com/office/officeart/2005/8/layout/hList1"/>
    <dgm:cxn modelId="{8190A3FE-C27B-4F41-96AE-CE88BBC20D3F}" type="presParOf" srcId="{05D350AE-CF27-4147-8146-C6AF9EED71D4}" destId="{785F0FE1-6B0D-4EF1-918A-BAF93D8E26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8731A-325C-4994-8BD4-5B734F817CFD}">
      <dsp:nvSpPr>
        <dsp:cNvPr id="0" name=""/>
        <dsp:cNvSpPr/>
      </dsp:nvSpPr>
      <dsp:spPr>
        <a:xfrm>
          <a:off x="39" y="43320"/>
          <a:ext cx="3812280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Avantages </a:t>
          </a:r>
        </a:p>
      </dsp:txBody>
      <dsp:txXfrm>
        <a:off x="39" y="43320"/>
        <a:ext cx="3812280" cy="748800"/>
      </dsp:txXfrm>
    </dsp:sp>
    <dsp:sp modelId="{64D14476-8F93-470F-8536-8B87B7C28E48}">
      <dsp:nvSpPr>
        <dsp:cNvPr id="0" name=""/>
        <dsp:cNvSpPr/>
      </dsp:nvSpPr>
      <dsp:spPr>
        <a:xfrm>
          <a:off x="39" y="792120"/>
          <a:ext cx="3812280" cy="18288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600" kern="1200" dirty="0"/>
            <a:t>Avantages de taxation</a:t>
          </a:r>
          <a:endParaRPr lang="fr-CA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600" kern="1200" dirty="0"/>
            <a:t>Discipline l’exécutif</a:t>
          </a:r>
          <a:endParaRPr lang="fr-CA" sz="2600" kern="1200" dirty="0"/>
        </a:p>
      </dsp:txBody>
      <dsp:txXfrm>
        <a:off x="39" y="792120"/>
        <a:ext cx="3812280" cy="1828856"/>
      </dsp:txXfrm>
    </dsp:sp>
    <dsp:sp modelId="{FB6B6AC3-7FDA-49CE-8201-4EA7A71D62F3}">
      <dsp:nvSpPr>
        <dsp:cNvPr id="0" name=""/>
        <dsp:cNvSpPr/>
      </dsp:nvSpPr>
      <dsp:spPr>
        <a:xfrm>
          <a:off x="4346040" y="43320"/>
          <a:ext cx="3812280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 dirty="0"/>
            <a:t>Inconvénients</a:t>
          </a:r>
        </a:p>
      </dsp:txBody>
      <dsp:txXfrm>
        <a:off x="4346040" y="43320"/>
        <a:ext cx="3812280" cy="748800"/>
      </dsp:txXfrm>
    </dsp:sp>
    <dsp:sp modelId="{785F0FE1-6B0D-4EF1-918A-BAF93D8E260D}">
      <dsp:nvSpPr>
        <dsp:cNvPr id="0" name=""/>
        <dsp:cNvSpPr/>
      </dsp:nvSpPr>
      <dsp:spPr>
        <a:xfrm>
          <a:off x="4346040" y="792120"/>
          <a:ext cx="3812280" cy="18288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600" kern="1200" dirty="0"/>
            <a:t>Coûts de faillite</a:t>
          </a:r>
          <a:endParaRPr lang="fr-CA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600" kern="1200" dirty="0"/>
            <a:t>Coûts d’agence</a:t>
          </a:r>
          <a:endParaRPr lang="fr-CA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600" kern="1200"/>
            <a:t>Perte future de flexibilité</a:t>
          </a:r>
          <a:endParaRPr lang="fr-CA" sz="2600" kern="1200" dirty="0"/>
        </a:p>
      </dsp:txBody>
      <dsp:txXfrm>
        <a:off x="4346040" y="792120"/>
        <a:ext cx="3812280" cy="18288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8731A-325C-4994-8BD4-5B734F817CFD}">
      <dsp:nvSpPr>
        <dsp:cNvPr id="0" name=""/>
        <dsp:cNvSpPr/>
      </dsp:nvSpPr>
      <dsp:spPr>
        <a:xfrm>
          <a:off x="0" y="27099"/>
          <a:ext cx="3167584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Avantages </a:t>
          </a:r>
        </a:p>
      </dsp:txBody>
      <dsp:txXfrm>
        <a:off x="0" y="27099"/>
        <a:ext cx="3167584" cy="921600"/>
      </dsp:txXfrm>
    </dsp:sp>
    <dsp:sp modelId="{64D14476-8F93-470F-8536-8B87B7C28E48}">
      <dsp:nvSpPr>
        <dsp:cNvPr id="0" name=""/>
        <dsp:cNvSpPr/>
      </dsp:nvSpPr>
      <dsp:spPr>
        <a:xfrm>
          <a:off x="0" y="948699"/>
          <a:ext cx="3167584" cy="2196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3200" kern="1200" dirty="0">
              <a:solidFill>
                <a:schemeClr val="accent1"/>
              </a:solidFill>
            </a:rPr>
            <a:t>Avantages de taxation</a:t>
          </a:r>
          <a:endParaRPr lang="fr-CA" sz="3200" kern="1200" dirty="0">
            <a:solidFill>
              <a:schemeClr val="accent1"/>
            </a:solidFill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3200" kern="1200" dirty="0"/>
            <a:t>Discipline l’exécutif</a:t>
          </a:r>
          <a:endParaRPr lang="fr-CA" sz="3200" kern="1200" dirty="0"/>
        </a:p>
      </dsp:txBody>
      <dsp:txXfrm>
        <a:off x="0" y="948699"/>
        <a:ext cx="3167584" cy="2196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8731A-325C-4994-8BD4-5B734F817CFD}">
      <dsp:nvSpPr>
        <dsp:cNvPr id="0" name=""/>
        <dsp:cNvSpPr/>
      </dsp:nvSpPr>
      <dsp:spPr>
        <a:xfrm>
          <a:off x="0" y="13041"/>
          <a:ext cx="2807544" cy="100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Avantages</a:t>
          </a:r>
          <a:r>
            <a:rPr lang="fr-CA" sz="3900" kern="1200" dirty="0"/>
            <a:t> </a:t>
          </a:r>
        </a:p>
      </dsp:txBody>
      <dsp:txXfrm>
        <a:off x="0" y="13041"/>
        <a:ext cx="2807544" cy="1008000"/>
      </dsp:txXfrm>
    </dsp:sp>
    <dsp:sp modelId="{64D14476-8F93-470F-8536-8B87B7C28E48}">
      <dsp:nvSpPr>
        <dsp:cNvPr id="0" name=""/>
        <dsp:cNvSpPr/>
      </dsp:nvSpPr>
      <dsp:spPr>
        <a:xfrm>
          <a:off x="0" y="1021041"/>
          <a:ext cx="2807544" cy="22097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3200" kern="1200" dirty="0">
              <a:solidFill>
                <a:schemeClr val="tx1"/>
              </a:solidFill>
            </a:rPr>
            <a:t>Avantages de taxation</a:t>
          </a:r>
          <a:endParaRPr lang="fr-CA" sz="3200" kern="1200" dirty="0">
            <a:solidFill>
              <a:schemeClr val="tx1"/>
            </a:solidFill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3200" kern="1200" dirty="0">
              <a:solidFill>
                <a:schemeClr val="accent1"/>
              </a:solidFill>
            </a:rPr>
            <a:t>Discipline l’exécutif</a:t>
          </a:r>
          <a:endParaRPr lang="fr-CA" sz="3200" kern="1200" dirty="0">
            <a:solidFill>
              <a:schemeClr val="accent1"/>
            </a:solidFill>
          </a:endParaRPr>
        </a:p>
      </dsp:txBody>
      <dsp:txXfrm>
        <a:off x="0" y="1021041"/>
        <a:ext cx="2807544" cy="2209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B6AC3-7FDA-49CE-8201-4EA7A71D62F3}">
      <dsp:nvSpPr>
        <dsp:cNvPr id="0" name=""/>
        <dsp:cNvSpPr/>
      </dsp:nvSpPr>
      <dsp:spPr>
        <a:xfrm>
          <a:off x="0" y="209138"/>
          <a:ext cx="2943315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Inconvénients</a:t>
          </a:r>
        </a:p>
      </dsp:txBody>
      <dsp:txXfrm>
        <a:off x="0" y="209138"/>
        <a:ext cx="2943315" cy="777600"/>
      </dsp:txXfrm>
    </dsp:sp>
    <dsp:sp modelId="{785F0FE1-6B0D-4EF1-918A-BAF93D8E260D}">
      <dsp:nvSpPr>
        <dsp:cNvPr id="0" name=""/>
        <dsp:cNvSpPr/>
      </dsp:nvSpPr>
      <dsp:spPr>
        <a:xfrm>
          <a:off x="0" y="986738"/>
          <a:ext cx="2943315" cy="22605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700" kern="1200" dirty="0">
              <a:solidFill>
                <a:schemeClr val="accent1"/>
              </a:solidFill>
            </a:rPr>
            <a:t>Coûts de faillite</a:t>
          </a:r>
          <a:endParaRPr lang="fr-CA" sz="2700" kern="1200" dirty="0">
            <a:solidFill>
              <a:schemeClr val="accent1"/>
            </a:solidFill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700" kern="1200" dirty="0"/>
            <a:t>Coûts d’agence</a:t>
          </a:r>
          <a:endParaRPr lang="fr-CA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700" kern="1200" dirty="0"/>
            <a:t>Perte future de flexibilité</a:t>
          </a:r>
          <a:endParaRPr lang="fr-CA" sz="2700" kern="1200" dirty="0"/>
        </a:p>
      </dsp:txBody>
      <dsp:txXfrm>
        <a:off x="0" y="986738"/>
        <a:ext cx="2943315" cy="22605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B6AC3-7FDA-49CE-8201-4EA7A71D62F3}">
      <dsp:nvSpPr>
        <dsp:cNvPr id="0" name=""/>
        <dsp:cNvSpPr/>
      </dsp:nvSpPr>
      <dsp:spPr>
        <a:xfrm>
          <a:off x="0" y="57708"/>
          <a:ext cx="2879552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kern="1200" dirty="0"/>
            <a:t>Inconvénients</a:t>
          </a:r>
        </a:p>
      </dsp:txBody>
      <dsp:txXfrm>
        <a:off x="0" y="57708"/>
        <a:ext cx="2879552" cy="835200"/>
      </dsp:txXfrm>
    </dsp:sp>
    <dsp:sp modelId="{785F0FE1-6B0D-4EF1-918A-BAF93D8E260D}">
      <dsp:nvSpPr>
        <dsp:cNvPr id="0" name=""/>
        <dsp:cNvSpPr/>
      </dsp:nvSpPr>
      <dsp:spPr>
        <a:xfrm>
          <a:off x="0" y="892908"/>
          <a:ext cx="2879552" cy="28657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>
              <a:solidFill>
                <a:schemeClr val="accent1"/>
              </a:solidFill>
            </a:rPr>
            <a:t>Coûts de faillite</a:t>
          </a:r>
          <a:endParaRPr lang="fr-CA" sz="2900" kern="1200" dirty="0">
            <a:solidFill>
              <a:schemeClr val="accent1"/>
            </a:solidFill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/>
            <a:t>Coûts d’agence</a:t>
          </a:r>
          <a:endParaRPr lang="fr-CA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/>
            <a:t>Perte future de flexibilité</a:t>
          </a:r>
          <a:endParaRPr lang="fr-CA" sz="2900" kern="1200" dirty="0"/>
        </a:p>
      </dsp:txBody>
      <dsp:txXfrm>
        <a:off x="0" y="892908"/>
        <a:ext cx="2879552" cy="28657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B6AC3-7FDA-49CE-8201-4EA7A71D62F3}">
      <dsp:nvSpPr>
        <dsp:cNvPr id="0" name=""/>
        <dsp:cNvSpPr/>
      </dsp:nvSpPr>
      <dsp:spPr>
        <a:xfrm>
          <a:off x="0" y="57708"/>
          <a:ext cx="2879552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kern="1200" dirty="0"/>
            <a:t>Inconvénients</a:t>
          </a:r>
        </a:p>
      </dsp:txBody>
      <dsp:txXfrm>
        <a:off x="0" y="57708"/>
        <a:ext cx="2879552" cy="835200"/>
      </dsp:txXfrm>
    </dsp:sp>
    <dsp:sp modelId="{785F0FE1-6B0D-4EF1-918A-BAF93D8E260D}">
      <dsp:nvSpPr>
        <dsp:cNvPr id="0" name=""/>
        <dsp:cNvSpPr/>
      </dsp:nvSpPr>
      <dsp:spPr>
        <a:xfrm>
          <a:off x="0" y="892908"/>
          <a:ext cx="2879552" cy="28657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>
              <a:solidFill>
                <a:schemeClr val="accent1"/>
              </a:solidFill>
            </a:rPr>
            <a:t>Coûts de faillite</a:t>
          </a:r>
          <a:endParaRPr lang="fr-CA" sz="2900" kern="1200" dirty="0">
            <a:solidFill>
              <a:schemeClr val="accent1"/>
            </a:solidFill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/>
            <a:t>Coûts d’agence</a:t>
          </a:r>
          <a:endParaRPr lang="fr-CA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/>
            <a:t>Perte future de flexibilité</a:t>
          </a:r>
          <a:endParaRPr lang="fr-CA" sz="2900" kern="1200" dirty="0"/>
        </a:p>
      </dsp:txBody>
      <dsp:txXfrm>
        <a:off x="0" y="892908"/>
        <a:ext cx="2879552" cy="28657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B6AC3-7FDA-49CE-8201-4EA7A71D62F3}">
      <dsp:nvSpPr>
        <dsp:cNvPr id="0" name=""/>
        <dsp:cNvSpPr/>
      </dsp:nvSpPr>
      <dsp:spPr>
        <a:xfrm>
          <a:off x="0" y="57708"/>
          <a:ext cx="2879552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kern="1200" dirty="0"/>
            <a:t>Inconvénients</a:t>
          </a:r>
        </a:p>
      </dsp:txBody>
      <dsp:txXfrm>
        <a:off x="0" y="57708"/>
        <a:ext cx="2879552" cy="835200"/>
      </dsp:txXfrm>
    </dsp:sp>
    <dsp:sp modelId="{785F0FE1-6B0D-4EF1-918A-BAF93D8E260D}">
      <dsp:nvSpPr>
        <dsp:cNvPr id="0" name=""/>
        <dsp:cNvSpPr/>
      </dsp:nvSpPr>
      <dsp:spPr>
        <a:xfrm>
          <a:off x="0" y="892908"/>
          <a:ext cx="2879552" cy="28657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/>
            <a:t>Coûts de faillite</a:t>
          </a:r>
          <a:endParaRPr lang="fr-CA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>
              <a:solidFill>
                <a:schemeClr val="accent1"/>
              </a:solidFill>
            </a:rPr>
            <a:t>Coûts d’agence</a:t>
          </a:r>
          <a:endParaRPr lang="fr-CA" sz="2900" kern="1200" dirty="0">
            <a:solidFill>
              <a:schemeClr val="accent1"/>
            </a:solidFill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/>
            <a:t>Perte future de flexibilité</a:t>
          </a:r>
          <a:endParaRPr lang="fr-CA" sz="2900" kern="1200" dirty="0"/>
        </a:p>
      </dsp:txBody>
      <dsp:txXfrm>
        <a:off x="0" y="892908"/>
        <a:ext cx="2879552" cy="28657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B6AC3-7FDA-49CE-8201-4EA7A71D62F3}">
      <dsp:nvSpPr>
        <dsp:cNvPr id="0" name=""/>
        <dsp:cNvSpPr/>
      </dsp:nvSpPr>
      <dsp:spPr>
        <a:xfrm>
          <a:off x="0" y="57708"/>
          <a:ext cx="2879552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kern="1200" dirty="0"/>
            <a:t>Inconvénients</a:t>
          </a:r>
        </a:p>
      </dsp:txBody>
      <dsp:txXfrm>
        <a:off x="0" y="57708"/>
        <a:ext cx="2879552" cy="835200"/>
      </dsp:txXfrm>
    </dsp:sp>
    <dsp:sp modelId="{785F0FE1-6B0D-4EF1-918A-BAF93D8E260D}">
      <dsp:nvSpPr>
        <dsp:cNvPr id="0" name=""/>
        <dsp:cNvSpPr/>
      </dsp:nvSpPr>
      <dsp:spPr>
        <a:xfrm>
          <a:off x="0" y="892908"/>
          <a:ext cx="2879552" cy="28657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/>
            <a:t>Coûts de faillite</a:t>
          </a:r>
          <a:endParaRPr lang="fr-CA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/>
            <a:t>Coûts d’agence</a:t>
          </a:r>
          <a:endParaRPr lang="fr-CA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altLang="en-US" sz="2900" kern="1200" dirty="0">
              <a:solidFill>
                <a:schemeClr val="accent1"/>
              </a:solidFill>
            </a:rPr>
            <a:t>Perte future de flexibilité</a:t>
          </a:r>
          <a:endParaRPr lang="fr-CA" sz="2900" kern="1200" dirty="0">
            <a:solidFill>
              <a:schemeClr val="accent1"/>
            </a:solidFill>
          </a:endParaRPr>
        </a:p>
      </dsp:txBody>
      <dsp:txXfrm>
        <a:off x="0" y="892908"/>
        <a:ext cx="2879552" cy="28657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2F01D-219B-4F81-AEC1-160EBD099A5E}" type="datetimeFigureOut">
              <a:rPr lang="fr-CA" smtClean="0"/>
              <a:t>2020-07-30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18EE3-F0CA-4AEA-97F7-84D67DCAB6B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7119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CDC33E5-2889-4132-972F-77AA9D7031F2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8275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C1FE-574F-4352-BDBA-FDDD0D2CC756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/>
          </a:p>
        </p:txBody>
      </p:sp>
    </p:spTree>
    <p:extLst>
      <p:ext uri="{BB962C8B-B14F-4D97-AF65-F5344CB8AC3E}">
        <p14:creationId xmlns:p14="http://schemas.microsoft.com/office/powerpoint/2010/main" val="2336122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942D1-04AC-41AB-A491-FF8C47841412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0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6CBF-85C4-4197-8B0E-125C715C98F6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90823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18E8-1305-4A13-B3B1-D1F6C4F7CD4F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80760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62329-E901-4172-96E6-BAB7004C1F73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6927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34A9-B9F6-40B1-8632-480EB9365038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805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F62-2155-4421-9DD9-01CB86C63EE3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8069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7A66-569D-4843-BD1C-FAE825146557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6854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1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53E03B2-4E79-49B6-A91A-27CA1D63D84C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915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CE67BFE1-4A03-4895-9886-602DB8713FD3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868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F8AF7A66-569D-4843-BD1C-FAE825146557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0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4.emf"/><Relationship Id="rId2" Type="http://schemas.openxmlformats.org/officeDocument/2006/relationships/tags" Target="../tags/tag1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tags" Target="../tags/tag20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slideLayout" Target="../slideLayouts/slideLayout2.xml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11.xml"/><Relationship Id="rId7" Type="http://schemas.openxmlformats.org/officeDocument/2006/relationships/diagramColors" Target="../diagrams/colors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tags" Target="../tags/tag25.xml"/><Relationship Id="rId7" Type="http://schemas.openxmlformats.org/officeDocument/2006/relationships/diagramQuickStyle" Target="../diagrams/quickStyle3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slideLayout" Target="../slideLayouts/slideLayout11.xml"/><Relationship Id="rId9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tags" Target="../tags/tag28.xml"/><Relationship Id="rId7" Type="http://schemas.openxmlformats.org/officeDocument/2006/relationships/diagramQuickStyle" Target="../diagrams/quickStyle4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slideLayout" Target="../slideLayouts/slideLayout11.xml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tags" Target="../tags/tag31.xml"/><Relationship Id="rId7" Type="http://schemas.openxmlformats.org/officeDocument/2006/relationships/diagramQuickStyle" Target="../diagrams/quickStyle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slideLayout" Target="../slideLayouts/slideLayout11.xml"/><Relationship Id="rId9" Type="http://schemas.microsoft.com/office/2007/relationships/diagramDrawing" Target="../diagrams/drawing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tags" Target="../tags/tag34.xml"/><Relationship Id="rId7" Type="http://schemas.openxmlformats.org/officeDocument/2006/relationships/diagramQuickStyle" Target="../diagrams/quickStyle6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slideLayout" Target="../slideLayouts/slideLayout11.xml"/><Relationship Id="rId9" Type="http://schemas.microsoft.com/office/2007/relationships/diagramDrawing" Target="../diagrams/drawing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tags" Target="../tags/tag37.xml"/><Relationship Id="rId7" Type="http://schemas.openxmlformats.org/officeDocument/2006/relationships/diagramQuickStyle" Target="../diagrams/quickStyle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slideLayout" Target="../slideLayouts/slideLayout11.xml"/><Relationship Id="rId9" Type="http://schemas.microsoft.com/office/2007/relationships/diagramDrawing" Target="../diagrams/drawing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tags" Target="../tags/tag40.xml"/><Relationship Id="rId7" Type="http://schemas.openxmlformats.org/officeDocument/2006/relationships/diagramQuickStyle" Target="../diagrams/quickStyle8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slideLayout" Target="../slideLayouts/slideLayout11.xml"/><Relationship Id="rId9" Type="http://schemas.microsoft.com/office/2007/relationships/diagramDrawing" Target="../diagrams/drawin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10" Type="http://schemas.openxmlformats.org/officeDocument/2006/relationships/tags" Target="../tags/tag10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tags" Target="../tags/tag126.xml"/><Relationship Id="rId18" Type="http://schemas.openxmlformats.org/officeDocument/2006/relationships/tags" Target="../tags/tag13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10" Type="http://schemas.openxmlformats.org/officeDocument/2006/relationships/tags" Target="../tags/tag123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Chapitre 16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sz="4000" dirty="0"/>
              <a:t>Décision de financement</a:t>
            </a:r>
          </a:p>
        </p:txBody>
      </p:sp>
    </p:spTree>
    <p:extLst>
      <p:ext uri="{BB962C8B-B14F-4D97-AF65-F5344CB8AC3E}">
        <p14:creationId xmlns:p14="http://schemas.microsoft.com/office/powerpoint/2010/main" val="198783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456088"/>
          </a:xfrm>
        </p:spPr>
        <p:txBody>
          <a:bodyPr>
            <a:normAutofit fontScale="77500" lnSpcReduction="20000"/>
          </a:bodyPr>
          <a:lstStyle/>
          <a:p>
            <a:pPr marL="268288" indent="-268288"/>
            <a:r>
              <a:rPr lang="fr-CA" sz="2800" dirty="0"/>
              <a:t>Une fois les actifs choisis (</a:t>
            </a:r>
            <a:r>
              <a:rPr lang="fr-CA" sz="2800" dirty="0">
                <a:solidFill>
                  <a:schemeClr val="tx2"/>
                </a:solidFill>
              </a:rPr>
              <a:t>déc. d’investissement</a:t>
            </a:r>
            <a:r>
              <a:rPr lang="fr-CA" sz="2800" dirty="0"/>
              <a:t>), on doit prendre la décision du financement :</a:t>
            </a:r>
          </a:p>
          <a:p>
            <a:pPr marL="268288" indent="-268288"/>
            <a:endParaRPr lang="fr-CA" sz="2800" dirty="0"/>
          </a:p>
          <a:p>
            <a:pPr marL="268288" indent="-268288"/>
            <a:endParaRPr lang="fr-CA" sz="2800" dirty="0"/>
          </a:p>
          <a:p>
            <a:pPr marL="268288" indent="-268288"/>
            <a:endParaRPr lang="fr-CA" sz="2800" dirty="0"/>
          </a:p>
          <a:p>
            <a:pPr marL="268288" indent="-268288"/>
            <a:endParaRPr lang="fr-CA" sz="2800" dirty="0"/>
          </a:p>
          <a:p>
            <a:pPr marL="268288" indent="-268288"/>
            <a:r>
              <a:rPr lang="fr-CA" sz="2800" dirty="0"/>
              <a:t>Se prend à l’échelle </a:t>
            </a:r>
            <a:r>
              <a:rPr lang="fr-CA" sz="2800" dirty="0">
                <a:solidFill>
                  <a:schemeClr val="tx2"/>
                </a:solidFill>
              </a:rPr>
              <a:t>de l’entreprise </a:t>
            </a:r>
            <a:r>
              <a:rPr lang="fr-CA" sz="2800" dirty="0"/>
              <a:t>(finance l’ensemble des actifs)</a:t>
            </a:r>
          </a:p>
          <a:p>
            <a:pPr marL="268288" indent="-268288"/>
            <a:r>
              <a:rPr lang="fr-CA" sz="2800" dirty="0"/>
              <a:t>Ne devrait pas influencer </a:t>
            </a:r>
            <a:r>
              <a:rPr lang="fr-CA" sz="2800" dirty="0">
                <a:solidFill>
                  <a:schemeClr val="tx2"/>
                </a:solidFill>
              </a:rPr>
              <a:t>les choix d’investissement</a:t>
            </a:r>
          </a:p>
          <a:p>
            <a:pPr marL="268288" indent="-268288"/>
            <a:r>
              <a:rPr lang="fr-CA" sz="2800" dirty="0"/>
              <a:t>Doit trouver </a:t>
            </a:r>
            <a:r>
              <a:rPr lang="fr-CA" sz="2800" dirty="0">
                <a:solidFill>
                  <a:schemeClr val="tx2"/>
                </a:solidFill>
              </a:rPr>
              <a:t>le meilleur mixte dette/FP</a:t>
            </a:r>
          </a:p>
        </p:txBody>
      </p:sp>
      <p:sp>
        <p:nvSpPr>
          <p:cNvPr id="2150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76603" y="1977630"/>
            <a:ext cx="1152525" cy="11868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CA"/>
          </a:p>
        </p:txBody>
      </p:sp>
      <p:sp>
        <p:nvSpPr>
          <p:cNvPr id="21509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13453" y="1977630"/>
            <a:ext cx="1152525" cy="11868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CA"/>
          </a:p>
        </p:txBody>
      </p:sp>
      <p:sp>
        <p:nvSpPr>
          <p:cNvPr id="21510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05389" y="2247901"/>
            <a:ext cx="4828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3200">
                <a:latin typeface="Tahoma" charset="0"/>
              </a:rPr>
              <a:t>=</a:t>
            </a:r>
          </a:p>
        </p:txBody>
      </p:sp>
      <p:sp>
        <p:nvSpPr>
          <p:cNvPr id="21511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492501" y="2386401"/>
            <a:ext cx="732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Actifs</a:t>
            </a:r>
          </a:p>
        </p:txBody>
      </p:sp>
      <p:sp>
        <p:nvSpPr>
          <p:cNvPr id="21512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229351" y="2085975"/>
            <a:ext cx="7375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Dette</a:t>
            </a:r>
          </a:p>
        </p:txBody>
      </p:sp>
      <p:sp>
        <p:nvSpPr>
          <p:cNvPr id="21513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82051" y="2518173"/>
            <a:ext cx="95500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fr-CA">
                <a:latin typeface="Tahoma" charset="0"/>
              </a:rPr>
              <a:t>Fonds</a:t>
            </a:r>
          </a:p>
          <a:p>
            <a:pPr algn="ctr"/>
            <a:r>
              <a:rPr lang="fr-CA">
                <a:latin typeface="Tahoma" charset="0"/>
              </a:rPr>
              <a:t>propres</a:t>
            </a:r>
          </a:p>
        </p:txBody>
      </p:sp>
      <p:sp>
        <p:nvSpPr>
          <p:cNvPr id="21514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6013453" y="2464594"/>
            <a:ext cx="1152525" cy="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schemeClr val="tx2"/>
              </a:solidFill>
            </a:endParaRPr>
          </a:p>
        </p:txBody>
      </p:sp>
      <p:sp>
        <p:nvSpPr>
          <p:cNvPr id="21515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813675" y="2085975"/>
            <a:ext cx="1165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b="1" dirty="0">
                <a:solidFill>
                  <a:schemeClr val="tx2"/>
                </a:solidFill>
                <a:latin typeface="Tahoma" charset="0"/>
              </a:rPr>
              <a:t>Décision</a:t>
            </a:r>
          </a:p>
        </p:txBody>
      </p:sp>
      <p:sp>
        <p:nvSpPr>
          <p:cNvPr id="21516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>
            <a:off x="6732588" y="2247900"/>
            <a:ext cx="1009650" cy="216694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>
              <a:solidFill>
                <a:schemeClr val="tx2"/>
              </a:solidFill>
            </a:endParaRPr>
          </a:p>
        </p:txBody>
      </p:sp>
      <p:sp>
        <p:nvSpPr>
          <p:cNvPr id="2151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5868988" y="2301480"/>
            <a:ext cx="0" cy="32504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fr-CA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26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  <p:bldP spid="21509" grpId="0" animBg="1"/>
      <p:bldP spid="21510" grpId="0"/>
      <p:bldP spid="21511" grpId="0"/>
      <p:bldP spid="21512" grpId="0"/>
      <p:bldP spid="21513" grpId="0"/>
      <p:bldP spid="21514" grpId="0" animBg="1"/>
      <p:bldP spid="21515" grpId="0"/>
      <p:bldP spid="21516" grpId="0" animBg="1"/>
      <p:bldP spid="215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idx="1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707329892"/>
              </p:ext>
            </p:extLst>
          </p:nvPr>
        </p:nvGraphicFramePr>
        <p:xfrm>
          <a:off x="3962400" y="2638425"/>
          <a:ext cx="2337792" cy="827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1" name="Equation" r:id="rId6" imgW="1218960" imgH="431640" progId="Equation.3">
                  <p:embed/>
                </p:oleObj>
              </mc:Choice>
              <mc:Fallback>
                <p:oleObj name="Equation" r:id="rId6" imgW="1218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638425"/>
                        <a:ext cx="2337792" cy="8279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Rectangle 3"/>
          <p:cNvSpPr>
            <a:spLocks noGrp="1" noChangeArrowheads="1"/>
          </p:cNvSpPr>
          <p:nvPr>
            <p:ph type="body" sz="half" idx="4294967295"/>
            <p:custDataLst>
              <p:tags r:id="rId4"/>
            </p:custDataLst>
          </p:nvPr>
        </p:nvSpPr>
        <p:spPr>
          <a:xfrm>
            <a:off x="478800" y="1174004"/>
            <a:ext cx="8351838" cy="3781425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fr-CA" sz="2600" dirty="0"/>
              <a:t>Pour les actionnaires, la décision doit </a:t>
            </a:r>
            <a:r>
              <a:rPr lang="fr-CA" sz="2600" i="1" dirty="0">
                <a:solidFill>
                  <a:schemeClr val="tx2"/>
                </a:solidFill>
              </a:rPr>
              <a:t>maximiser leur richesse</a:t>
            </a:r>
            <a:r>
              <a:rPr lang="fr-CA" sz="2600" dirty="0"/>
              <a:t> (but de la finance)</a:t>
            </a:r>
          </a:p>
          <a:p>
            <a:pPr marL="268288" indent="-268288"/>
            <a:r>
              <a:rPr lang="fr-CA" sz="2600" dirty="0"/>
              <a:t>On cherche donc la SC optimale permettant de </a:t>
            </a:r>
            <a:r>
              <a:rPr lang="fr-CA" sz="2600" dirty="0">
                <a:solidFill>
                  <a:schemeClr val="tx2"/>
                </a:solidFill>
              </a:rPr>
              <a:t>maximiser la valeur de la firme</a:t>
            </a:r>
          </a:p>
          <a:p>
            <a:pPr marL="268288" indent="-268288"/>
            <a:endParaRPr lang="fr-CA" sz="2600" dirty="0"/>
          </a:p>
          <a:p>
            <a:pPr marL="268288" indent="-268288"/>
            <a:endParaRPr lang="fr-CA" sz="2600" dirty="0"/>
          </a:p>
          <a:p>
            <a:pPr marL="268288" indent="-268288"/>
            <a:endParaRPr lang="fr-CA" sz="2600" dirty="0"/>
          </a:p>
          <a:p>
            <a:pPr marL="268288" indent="-268288"/>
            <a:r>
              <a:rPr lang="fr-CA" sz="2600" dirty="0"/>
              <a:t>Quels sont les </a:t>
            </a:r>
            <a:r>
              <a:rPr lang="fr-CA" sz="2600" dirty="0">
                <a:solidFill>
                  <a:schemeClr val="accent1"/>
                </a:solidFill>
              </a:rPr>
              <a:t>avantages et inconvénients </a:t>
            </a:r>
            <a:r>
              <a:rPr lang="fr-CA" sz="2600" dirty="0"/>
              <a:t>de prendre de l’endettement?</a:t>
            </a:r>
            <a:endParaRPr lang="fr-CA" sz="2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1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186400" cy="3116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Quels sont les </a:t>
            </a:r>
            <a:r>
              <a:rPr lang="fr-CA" sz="2400" dirty="0">
                <a:solidFill>
                  <a:schemeClr val="accent1"/>
                </a:solidFill>
              </a:rPr>
              <a:t>avantages et inconvénients </a:t>
            </a:r>
            <a:r>
              <a:rPr lang="fr-CA" sz="2400" dirty="0"/>
              <a:t>de prendre de l’endettement?</a:t>
            </a:r>
            <a:endParaRPr lang="fr-CA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fr-CA" dirty="0"/>
          </a:p>
        </p:txBody>
      </p:sp>
      <p:graphicFrame>
        <p:nvGraphicFramePr>
          <p:cNvPr id="3" name="Diagramme 2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15393035"/>
              </p:ext>
            </p:extLst>
          </p:nvPr>
        </p:nvGraphicFramePr>
        <p:xfrm>
          <a:off x="523251" y="1913676"/>
          <a:ext cx="8158361" cy="2664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9047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sz="half" idx="2"/>
          </p:nvPr>
        </p:nvSpPr>
        <p:spPr>
          <a:xfrm>
            <a:off x="3647008" y="1200151"/>
            <a:ext cx="5039792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en-US" sz="2000" u="sng" dirty="0">
                <a:solidFill>
                  <a:schemeClr val="accent1"/>
                </a:solidFill>
              </a:rPr>
              <a:t>Avantages de taxation</a:t>
            </a:r>
          </a:p>
          <a:p>
            <a:pPr marL="0" indent="0">
              <a:buNone/>
            </a:pPr>
            <a:endParaRPr lang="fr-FR" altLang="en-US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1400" dirty="0"/>
              <a:t>Intérêts = charges déductibles d’impôt, donc réduction des impôts à payer</a:t>
            </a:r>
          </a:p>
          <a:p>
            <a:pPr marL="0" indent="0">
              <a:buNone/>
            </a:pPr>
            <a:endParaRPr lang="fr-FR" altLang="en-US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1400" dirty="0"/>
              <a:t>Les dividendes sont pris à même les bénéfices nets (donc, non déductible d’impôt)</a:t>
            </a:r>
          </a:p>
          <a:p>
            <a:pPr marL="0" indent="0">
              <a:buNone/>
            </a:pPr>
            <a:endParaRPr lang="fr-FR" altLang="en-US" sz="1400" dirty="0"/>
          </a:p>
          <a:p>
            <a:pPr marL="0" indent="0">
              <a:buNone/>
            </a:pPr>
            <a:r>
              <a:rPr lang="fr-FR" altLang="en-US" sz="1400" dirty="0"/>
              <a:t>Économies d’impôt = taux d’impôt * charge d’intérêt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altLang="en-US" sz="1400" dirty="0"/>
          </a:p>
          <a:p>
            <a:pPr marL="0" indent="0">
              <a:buNone/>
            </a:pPr>
            <a:r>
              <a:rPr lang="fr-FR" altLang="en-US" sz="1400" b="1" dirty="0">
                <a:solidFill>
                  <a:schemeClr val="accent1"/>
                </a:solidFill>
              </a:rPr>
              <a:t>Règle 1 :</a:t>
            </a:r>
            <a:r>
              <a:rPr lang="fr-FR" altLang="en-US" sz="1400" dirty="0">
                <a:solidFill>
                  <a:schemeClr val="accent1"/>
                </a:solidFill>
              </a:rPr>
              <a:t> </a:t>
            </a:r>
            <a:r>
              <a:rPr lang="fr-FR" altLang="en-US" sz="1400" dirty="0"/>
              <a:t>Toutes choses étant égales par ailleurs, un plus grand taux d’imposition marginal impliquera souvent une plus grande proportion de dettes dans la structure de capital.</a:t>
            </a:r>
            <a:endParaRPr lang="fr-CA" sz="800" dirty="0">
              <a:solidFill>
                <a:schemeClr val="tx2"/>
              </a:solidFill>
            </a:endParaRPr>
          </a:p>
          <a:p>
            <a:endParaRPr lang="fr-CA" dirty="0"/>
          </a:p>
        </p:txBody>
      </p:sp>
      <p:graphicFrame>
        <p:nvGraphicFramePr>
          <p:cNvPr id="3" name="Diagramme 2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4783831"/>
              </p:ext>
            </p:extLst>
          </p:nvPr>
        </p:nvGraphicFramePr>
        <p:xfrm>
          <a:off x="457200" y="1311487"/>
          <a:ext cx="3167584" cy="3171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9412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68312" y="1200151"/>
            <a:ext cx="4038600" cy="33944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fr-FR" altLang="en-US" dirty="0"/>
          </a:p>
          <a:p>
            <a:pPr marL="0" indent="0">
              <a:buNone/>
            </a:pPr>
            <a:endParaRPr lang="fr-CA" sz="2400" dirty="0">
              <a:solidFill>
                <a:schemeClr val="tx2"/>
              </a:solidFill>
            </a:endParaRPr>
          </a:p>
        </p:txBody>
      </p:sp>
      <p:sp>
        <p:nvSpPr>
          <p:cNvPr id="2" name="Espace réservé du contenu 1"/>
          <p:cNvSpPr>
            <a:spLocks noGrp="1"/>
          </p:cNvSpPr>
          <p:nvPr>
            <p:ph sz="half" idx="2"/>
          </p:nvPr>
        </p:nvSpPr>
        <p:spPr>
          <a:xfrm>
            <a:off x="3347864" y="1200151"/>
            <a:ext cx="5338936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en-US" sz="2400" u="sng" dirty="0">
                <a:solidFill>
                  <a:schemeClr val="accent1"/>
                </a:solidFill>
              </a:rPr>
              <a:t>Discipline l’exécutif</a:t>
            </a:r>
          </a:p>
          <a:p>
            <a:pPr marL="0" indent="0">
              <a:buNone/>
            </a:pPr>
            <a:endParaRPr lang="fr-FR" alt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1600" dirty="0"/>
              <a:t>La présence de charge incontournable induit une approche de prudence et de discipline auprès des dirigeants afin de s’assurer de ne pas se retrouver en situation de faillite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alt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1600" dirty="0"/>
              <a:t>Les détenteurs d’emprunt exercent une surveillance de leurs investissements (obligation ou autres types de dette), leur présence est une sorte de « vérificateur externe » sur le niveau de risque que prend la firme</a:t>
            </a:r>
          </a:p>
          <a:p>
            <a:endParaRPr lang="fr-CA" dirty="0"/>
          </a:p>
        </p:txBody>
      </p:sp>
      <p:graphicFrame>
        <p:nvGraphicFramePr>
          <p:cNvPr id="3" name="Diagramme 2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024537541"/>
              </p:ext>
            </p:extLst>
          </p:nvPr>
        </p:nvGraphicFramePr>
        <p:xfrm>
          <a:off x="468312" y="1200151"/>
          <a:ext cx="2807544" cy="3243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72471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95263"/>
            <a:ext cx="8229600" cy="72032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419872" y="1131590"/>
            <a:ext cx="5616624" cy="34563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altLang="en-US" sz="2400" u="sng" dirty="0">
                <a:solidFill>
                  <a:schemeClr val="accent1"/>
                </a:solidFill>
              </a:rPr>
              <a:t>Coûts de faillite</a:t>
            </a:r>
          </a:p>
          <a:p>
            <a:pPr marL="0" indent="0">
              <a:buNone/>
            </a:pPr>
            <a:endParaRPr lang="fr-FR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1600" dirty="0"/>
              <a:t>Les coûts espérés de faillite dépendent de deux variables :</a:t>
            </a:r>
          </a:p>
          <a:p>
            <a:pPr lvl="1"/>
            <a:r>
              <a:rPr lang="fr-FR" altLang="en-US" sz="1600" dirty="0"/>
              <a:t> Les coûts de faire faillite</a:t>
            </a:r>
          </a:p>
          <a:p>
            <a:pPr lvl="2"/>
            <a:r>
              <a:rPr lang="fr-FR" altLang="en-US" sz="1600" dirty="0"/>
              <a:t>Coûts directs : Coûts légaux et pertes sèches.</a:t>
            </a:r>
          </a:p>
          <a:p>
            <a:pPr lvl="2"/>
            <a:r>
              <a:rPr lang="fr-FR" altLang="en-US" sz="1600" dirty="0"/>
              <a:t>Coûts indirects : Coûts émanant du fait que le monde vous voit en détresse financière.</a:t>
            </a:r>
          </a:p>
          <a:p>
            <a:pPr lvl="1"/>
            <a:r>
              <a:rPr lang="fr-FR" altLang="en-US" sz="1600" dirty="0"/>
              <a:t>La probabilité de faire faillite. Cela dépend de l’incertitude des flux monétaires.</a:t>
            </a:r>
          </a:p>
          <a:p>
            <a:endParaRPr lang="fr-FR" alt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1600" dirty="0"/>
              <a:t>Plus vous empruntez, plus la probabilité de faire faillite sera grande. Ainsi, le coût de faillite espéré sera plus élevé.</a:t>
            </a:r>
          </a:p>
          <a:p>
            <a:pPr marL="0" indent="0">
              <a:buNone/>
            </a:pPr>
            <a:endParaRPr lang="fr-FR" altLang="en-US" dirty="0"/>
          </a:p>
          <a:p>
            <a:pPr>
              <a:buFont typeface="Wingdings" panose="05000000000000000000" pitchFamily="2" charset="2"/>
              <a:buChar char="§"/>
            </a:pPr>
            <a:endParaRPr lang="fr-FR" altLang="en-US" dirty="0"/>
          </a:p>
          <a:p>
            <a:pPr marL="0" indent="0">
              <a:buNone/>
            </a:pPr>
            <a:endParaRPr lang="fr-CA" sz="2400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me 4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12698533"/>
              </p:ext>
            </p:extLst>
          </p:nvPr>
        </p:nvGraphicFramePr>
        <p:xfrm>
          <a:off x="476556" y="1077364"/>
          <a:ext cx="2943315" cy="3456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2875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95263"/>
            <a:ext cx="8229600" cy="72032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419872" y="987574"/>
            <a:ext cx="5616624" cy="381639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fr-FR" altLang="en-US" dirty="0"/>
          </a:p>
          <a:p>
            <a:pPr marL="0" indent="0">
              <a:buNone/>
            </a:pPr>
            <a:r>
              <a:rPr lang="fr-FR" altLang="en-US" sz="4000" b="1" dirty="0">
                <a:solidFill>
                  <a:schemeClr val="accent1"/>
                </a:solidFill>
              </a:rPr>
              <a:t>Règle 2 : </a:t>
            </a:r>
            <a:r>
              <a:rPr lang="fr-FR" altLang="en-US" sz="4000" dirty="0"/>
              <a:t>Toutes choses étant égales par ailleurs, plus les coûts indirects et la probabilité de faillite sont élevés, moins la compagnie pourra se permettre d’emprunter.</a:t>
            </a:r>
          </a:p>
          <a:p>
            <a:pPr marL="0" indent="0">
              <a:buNone/>
            </a:pPr>
            <a:endParaRPr lang="fr-FR" altLang="en-US" dirty="0"/>
          </a:p>
          <a:p>
            <a:pPr marL="0" indent="0">
              <a:buNone/>
            </a:pPr>
            <a:br>
              <a:rPr lang="fr-FR" altLang="en-US" dirty="0"/>
            </a:br>
            <a:r>
              <a:rPr lang="fr-FR" altLang="en-US" b="1" dirty="0"/>
              <a:t>Ce qui implique:</a:t>
            </a:r>
          </a:p>
          <a:p>
            <a:r>
              <a:rPr lang="fr-FR" altLang="en-US" dirty="0"/>
              <a:t>Les firmes œuvrant dans des lignes d’affaires très incertaines devraient utiliser moins de dette que d’autres compagnies ayant des flux monétaires plus stables. </a:t>
            </a:r>
          </a:p>
          <a:p>
            <a:r>
              <a:rPr lang="fr-FR" altLang="en-US" dirty="0"/>
              <a:t>Si les firmes peuvent structurer leur dette de façon à ce que les flux monétaires de la dette soient en fonction des flux monétaires opérationnels elles peuvent alors emprunter davantage. </a:t>
            </a:r>
          </a:p>
          <a:p>
            <a:r>
              <a:rPr lang="fr-FR" altLang="en-US" dirty="0"/>
              <a:t>Si une entité externe (tels que le gouvernement ou autre) fournit une protection contre la faillite au travers d’assurances ou plan de sauvetage, les compagnies auront alors tendance à augmenter l’effet de levier . </a:t>
            </a:r>
          </a:p>
          <a:p>
            <a:r>
              <a:rPr lang="fr-FR" altLang="en-US" dirty="0"/>
              <a:t>Les firmes ayant des actifs facilement divisibles et vendables devraient emprunter plus que les firmes ayant des actifs moins liquides.</a:t>
            </a:r>
          </a:p>
          <a:p>
            <a:pPr marL="0" indent="0">
              <a:buNone/>
            </a:pPr>
            <a:endParaRPr lang="fr-FR" altLang="en-US" dirty="0"/>
          </a:p>
          <a:p>
            <a:pPr>
              <a:buFont typeface="Wingdings" panose="05000000000000000000" pitchFamily="2" charset="2"/>
              <a:buChar char="§"/>
            </a:pPr>
            <a:endParaRPr lang="fr-FR" altLang="en-US" dirty="0"/>
          </a:p>
          <a:p>
            <a:pPr marL="0" indent="0">
              <a:buNone/>
            </a:pPr>
            <a:endParaRPr lang="fr-CA" sz="2400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me 4"/>
          <p:cNvGraphicFramePr/>
          <p:nvPr>
            <p:custDataLst>
              <p:tags r:id="rId3"/>
            </p:custDataLst>
          </p:nvPr>
        </p:nvGraphicFramePr>
        <p:xfrm>
          <a:off x="468312" y="987574"/>
          <a:ext cx="2879552" cy="3816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380925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95263"/>
            <a:ext cx="8229600" cy="72032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419872" y="1131590"/>
            <a:ext cx="5328592" cy="3672382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fr-FR" altLang="en-US" sz="2500" b="1" dirty="0">
                <a:solidFill>
                  <a:schemeClr val="accent1"/>
                </a:solidFill>
              </a:rPr>
              <a:t>Donc, les coûts indirects de faillite devraient être plus élevés pour 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fr-FR" altLang="en-US" sz="2500" dirty="0"/>
              <a:t>Les entreprises vendant des produits durables ayant une durée de vie relativement longue et demandant un bon service après-vente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fr-FR" altLang="en-US" sz="2500" dirty="0"/>
              <a:t>Les entreprises fournissant des produits pour lesquels la qualité est un enjeu clé et étant difficile de prédire à l’avance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fr-FR" altLang="en-US" sz="2500" dirty="0"/>
              <a:t>Les entreprises faisant des produits pour lesquels la valeur dépend aussi des services complémentaires fournis par d’autres firmes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fr-FR" altLang="en-US" sz="2500" dirty="0"/>
              <a:t>Les entreprises vendant des produits demandant un support continu du constructeur (ex.: les avions…)</a:t>
            </a:r>
          </a:p>
          <a:p>
            <a:pPr marL="0" indent="0" algn="just">
              <a:buNone/>
            </a:pPr>
            <a:endParaRPr lang="fr-FR" altLang="en-US" sz="2500" dirty="0"/>
          </a:p>
          <a:p>
            <a:pPr marL="0" indent="0" algn="just">
              <a:buNone/>
            </a:pPr>
            <a:r>
              <a:rPr lang="fr-FR" altLang="en-US" sz="2500" dirty="0"/>
              <a:t>Classez les compagnies suivantes en fonction de leurs coûts de faillite respectifs (en prenant en compte les coûts directs</a:t>
            </a:r>
            <a:r>
              <a:rPr lang="fr-FR" altLang="en-US" sz="2500" b="1" dirty="0"/>
              <a:t> et </a:t>
            </a:r>
            <a:r>
              <a:rPr lang="fr-FR" altLang="en-US" sz="2500" dirty="0"/>
              <a:t>indirects):</a:t>
            </a:r>
          </a:p>
          <a:p>
            <a:pPr lvl="1" algn="just">
              <a:lnSpc>
                <a:spcPct val="175000"/>
              </a:lnSpc>
              <a:spcBef>
                <a:spcPct val="0"/>
              </a:spcBef>
              <a:buFont typeface="Wingdings" charset="2"/>
              <a:buChar char="q"/>
            </a:pPr>
            <a:r>
              <a:rPr lang="fr-FR" altLang="en-US" sz="2500" dirty="0"/>
              <a:t>Un supermarché</a:t>
            </a:r>
          </a:p>
          <a:p>
            <a:pPr lvl="1" algn="just">
              <a:lnSpc>
                <a:spcPct val="175000"/>
              </a:lnSpc>
              <a:spcBef>
                <a:spcPct val="0"/>
              </a:spcBef>
              <a:buFont typeface="Wingdings" charset="2"/>
              <a:buChar char="q"/>
            </a:pPr>
            <a:r>
              <a:rPr lang="fr-FR" altLang="en-US" sz="2500" dirty="0"/>
              <a:t>Un constructeur de voitures</a:t>
            </a:r>
          </a:p>
          <a:p>
            <a:pPr lvl="1" algn="just">
              <a:lnSpc>
                <a:spcPct val="175000"/>
              </a:lnSpc>
              <a:spcBef>
                <a:spcPct val="0"/>
              </a:spcBef>
              <a:buFont typeface="Wingdings" charset="2"/>
              <a:buChar char="q"/>
            </a:pPr>
            <a:r>
              <a:rPr lang="fr-FR" altLang="en-US" sz="2500" dirty="0"/>
              <a:t>Une compagnie de haute technologie</a:t>
            </a:r>
            <a:endParaRPr lang="fr-CA" sz="2400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me 4"/>
          <p:cNvGraphicFramePr/>
          <p:nvPr>
            <p:custDataLst>
              <p:tags r:id="rId3"/>
            </p:custDataLst>
          </p:nvPr>
        </p:nvGraphicFramePr>
        <p:xfrm>
          <a:off x="468312" y="987574"/>
          <a:ext cx="2879552" cy="3816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75305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95263"/>
            <a:ext cx="8229600" cy="72032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347864" y="1131590"/>
            <a:ext cx="5616624" cy="37443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altLang="en-US" u="sng" dirty="0">
                <a:solidFill>
                  <a:schemeClr val="accent1"/>
                </a:solidFill>
              </a:rPr>
              <a:t>Coûts d’agence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2000" dirty="0"/>
              <a:t>Un coût d’agence apparaît quand l’on engage quelqu’un afin d’accomplir quelque chose pour vous. Les intérêts de la personne embauchée (agent) peuvent dévier de vos propres intérêts (principal)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2000" dirty="0"/>
              <a:t>Quand l’on prête de l’argent à une entreprise, l’on autorise les actionnaires à utiliser cet argent pour faire fonctionner l’entreprise. Les intérêts des actionnaires peuvent différer parce que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altLang="en-US" sz="1600" dirty="0"/>
              <a:t>Vous en tant que prêteur êtes intéressés à récupérer votre argent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altLang="en-US" sz="1600" dirty="0"/>
              <a:t>Les actionnaires sont intéressés à maximiser leur richesse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2000" dirty="0"/>
              <a:t>Dans certains cas, les différents intérêts peut conduire les actionnaires à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altLang="en-US" sz="1600" dirty="0"/>
              <a:t>Investir dans des projets plus risqués que ce que l’on voudrait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altLang="en-US" sz="1600" dirty="0"/>
              <a:t>Se payer de grands dividendes quand il serait mieux de garder les liquidités dans l’entreprise</a:t>
            </a:r>
            <a:r>
              <a:rPr lang="fr-FR" altLang="en-US" sz="2000" dirty="0"/>
              <a:t> </a:t>
            </a:r>
          </a:p>
          <a:p>
            <a:pPr marL="0" indent="0">
              <a:buNone/>
            </a:pPr>
            <a:endParaRPr lang="fr-FR" altLang="en-US" sz="2000" dirty="0"/>
          </a:p>
          <a:p>
            <a:pPr marL="0" indent="0">
              <a:buNone/>
            </a:pPr>
            <a:r>
              <a:rPr lang="fr-FR" altLang="en-US" sz="2600" dirty="0">
                <a:solidFill>
                  <a:schemeClr val="accent1"/>
                </a:solidFill>
              </a:rPr>
              <a:t>Règle 3 : </a:t>
            </a:r>
            <a:r>
              <a:rPr lang="fr-FR" altLang="en-US" sz="2600" dirty="0"/>
              <a:t>Toutes choses étant égales par ailleurs, de forts coûts d’agence associés à l’emprunt réduisent la capacité d’endettement de la firme</a:t>
            </a:r>
            <a:endParaRPr lang="fr-CA" sz="2900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me 4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949096475"/>
              </p:ext>
            </p:extLst>
          </p:nvPr>
        </p:nvGraphicFramePr>
        <p:xfrm>
          <a:off x="468312" y="987574"/>
          <a:ext cx="2879552" cy="3816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841714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95263"/>
            <a:ext cx="8229600" cy="72032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347864" y="1131590"/>
            <a:ext cx="5472608" cy="38164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altLang="en-US" sz="2800" u="sng" dirty="0">
                <a:solidFill>
                  <a:schemeClr val="accent1"/>
                </a:solidFill>
              </a:rPr>
              <a:t>Perte de flexibilité future</a:t>
            </a:r>
          </a:p>
          <a:p>
            <a:pPr marL="0" indent="0">
              <a:buNone/>
            </a:pPr>
            <a:endParaRPr lang="fr-FR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altLang="en-US" sz="1600" dirty="0"/>
              <a:t>Quand une entreprise emprunte jusqu’au maximum de sa capacité, elle perd sa flexibilité de financement par la dette</a:t>
            </a:r>
          </a:p>
          <a:p>
            <a:pPr marL="0" indent="0">
              <a:buNone/>
            </a:pPr>
            <a:endParaRPr lang="fr-FR" altLang="en-US" dirty="0"/>
          </a:p>
          <a:p>
            <a:pPr marL="0" indent="0">
              <a:buNone/>
            </a:pPr>
            <a:r>
              <a:rPr lang="fr-FR" altLang="en-US" sz="3400" dirty="0">
                <a:solidFill>
                  <a:schemeClr val="accent1"/>
                </a:solidFill>
              </a:rPr>
              <a:t>Règle 4: </a:t>
            </a:r>
            <a:r>
              <a:rPr lang="fr-FR" altLang="en-US" sz="3400" dirty="0"/>
              <a:t>Toutes choses étant égales par ailleurs, une plus grande incertitude sur le financement des projets futurs amène la firme à utiliser moins de dettes pour ses nouveaux projets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altLang="en-US" dirty="0"/>
          </a:p>
          <a:p>
            <a:pPr marL="0" indent="0">
              <a:buNone/>
            </a:pPr>
            <a:endParaRPr lang="fr-CA" sz="2400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me 4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37687554"/>
              </p:ext>
            </p:extLst>
          </p:nvPr>
        </p:nvGraphicFramePr>
        <p:xfrm>
          <a:off x="468312" y="987574"/>
          <a:ext cx="2879552" cy="3816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125776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95263"/>
            <a:ext cx="8229600" cy="72032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68313" y="942144"/>
            <a:ext cx="8496175" cy="1197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Sondage auprès des VP finance de grandes entreprises américaines au sujet des facteurs jugés importants dans la prise de décision du financement :</a:t>
            </a:r>
          </a:p>
          <a:p>
            <a:pPr marL="0" indent="0">
              <a:buNone/>
            </a:pPr>
            <a:endParaRPr lang="fr-CA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9552" y="1995686"/>
            <a:ext cx="7848872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Tx/>
              <a:buFont typeface="ITC Zapf Dingbats Std" pitchFamily="50" charset="0"/>
              <a:buChar char="❚"/>
              <a:defRPr sz="24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96925" indent="-339725" algn="l" rtl="0" fontAlgn="base">
              <a:spcBef>
                <a:spcPct val="20000"/>
              </a:spcBef>
              <a:spcAft>
                <a:spcPct val="0"/>
              </a:spcAft>
              <a:buClrTx/>
              <a:buFont typeface="Times New Roman" pitchFamily="18" charset="0"/>
              <a:buChar char="•"/>
              <a:defRPr sz="24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defRPr>
            </a:lvl2pPr>
            <a:lvl3pPr marL="1258888" indent="-347663" algn="l" rtl="0" fontAlgn="base">
              <a:spcBef>
                <a:spcPct val="20000"/>
              </a:spcBef>
              <a:spcAft>
                <a:spcPct val="0"/>
              </a:spcAft>
              <a:buClrTx/>
              <a:buFont typeface="Times New Roman" pitchFamily="18" charset="0"/>
              <a:buChar char="–"/>
              <a:defRPr sz="24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defRPr>
            </a:lvl3pPr>
            <a:lvl4pPr marL="1830388" indent="-338138" algn="l" rtl="0" fontAlgn="base">
              <a:spcBef>
                <a:spcPct val="20000"/>
              </a:spcBef>
              <a:spcAft>
                <a:spcPct val="0"/>
              </a:spcAft>
              <a:buClrTx/>
              <a:buFont typeface="Times New Roman" pitchFamily="18" charset="0"/>
              <a:buChar char="–"/>
              <a:defRPr sz="24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defRPr>
            </a:lvl4pPr>
            <a:lvl5pPr marL="2403475" indent="-344488" algn="l" rtl="0" fontAlgn="base">
              <a:spcBef>
                <a:spcPct val="20000"/>
              </a:spcBef>
              <a:spcAft>
                <a:spcPct val="0"/>
              </a:spcAft>
              <a:buClrTx/>
              <a:buFont typeface="Times New Roman" pitchFamily="18" charset="0"/>
              <a:buChar char="–"/>
              <a:defRPr sz="24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defRPr>
            </a:lvl5pPr>
            <a:lvl6pPr marL="2860675" indent="-344488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 New Roman" pitchFamily="18" charset="0"/>
              <a:buChar char="–"/>
              <a:defRPr sz="2400">
                <a:solidFill>
                  <a:schemeClr val="tx2"/>
                </a:solidFill>
                <a:latin typeface="+mn-lt"/>
              </a:defRPr>
            </a:lvl6pPr>
            <a:lvl7pPr marL="3317875" indent="-344488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 New Roman" pitchFamily="18" charset="0"/>
              <a:buChar char="–"/>
              <a:defRPr sz="2400">
                <a:solidFill>
                  <a:schemeClr val="tx2"/>
                </a:solidFill>
                <a:latin typeface="+mn-lt"/>
              </a:defRPr>
            </a:lvl7pPr>
            <a:lvl8pPr marL="3775075" indent="-344488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 New Roman" pitchFamily="18" charset="0"/>
              <a:buChar char="–"/>
              <a:defRPr sz="2400">
                <a:solidFill>
                  <a:schemeClr val="tx2"/>
                </a:solidFill>
                <a:latin typeface="+mn-lt"/>
              </a:defRPr>
            </a:lvl8pPr>
            <a:lvl9pPr marL="4232275" indent="-344488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 New Roman" pitchFamily="18" charset="0"/>
              <a:buChar char="–"/>
              <a:defRPr sz="2400">
                <a:solidFill>
                  <a:schemeClr val="tx2"/>
                </a:solidFill>
                <a:latin typeface="+mn-lt"/>
              </a:defRPr>
            </a:lvl9pPr>
          </a:lstStyle>
          <a:p>
            <a:pPr>
              <a:buFont typeface="Monotype Sorts" charset="2"/>
              <a:buNone/>
              <a:tabLst>
                <a:tab pos="5254625" algn="l"/>
              </a:tabLst>
            </a:pPr>
            <a:r>
              <a:rPr lang="fr-FR" altLang="en-US" sz="2000" b="1" u="sng" kern="0" dirty="0"/>
              <a:t>Facteur</a:t>
            </a:r>
            <a:r>
              <a:rPr lang="fr-FR" altLang="en-US" sz="2000" b="1" kern="0" dirty="0"/>
              <a:t>	</a:t>
            </a:r>
            <a:r>
              <a:rPr lang="fr-FR" altLang="en-US" sz="2000" b="1" u="sng" kern="0" dirty="0"/>
              <a:t>Rang (0-5)</a:t>
            </a:r>
            <a:endParaRPr lang="fr-FR" altLang="en-US" sz="2000" u="sng" kern="0" dirty="0"/>
          </a:p>
          <a:p>
            <a:pPr>
              <a:buFont typeface="Monotype Sorts" charset="2"/>
              <a:buNone/>
              <a:tabLst>
                <a:tab pos="5254625" algn="l"/>
              </a:tabLst>
            </a:pPr>
            <a:r>
              <a:rPr lang="fr-FR" altLang="en-US" sz="2000" kern="0" dirty="0"/>
              <a:t>1. Maintenir une flexibilité financière	       4.55</a:t>
            </a:r>
          </a:p>
          <a:p>
            <a:pPr>
              <a:buFont typeface="Monotype Sorts" charset="2"/>
              <a:buNone/>
              <a:tabLst>
                <a:tab pos="5254625" algn="l"/>
              </a:tabLst>
            </a:pPr>
            <a:r>
              <a:rPr lang="fr-FR" altLang="en-US" sz="2000" kern="0" dirty="0"/>
              <a:t>2. S’assurer de la survie à long terme	       4.55</a:t>
            </a:r>
          </a:p>
          <a:p>
            <a:pPr>
              <a:buFont typeface="Monotype Sorts" charset="2"/>
              <a:buNone/>
              <a:tabLst>
                <a:tab pos="5254625" algn="l"/>
              </a:tabLst>
            </a:pPr>
            <a:r>
              <a:rPr lang="fr-FR" altLang="en-US" sz="2000" kern="0" dirty="0"/>
              <a:t>3. Maintenir une source de financement 	       4.05</a:t>
            </a:r>
          </a:p>
          <a:p>
            <a:pPr>
              <a:buFont typeface="Monotype Sorts" charset="2"/>
              <a:buNone/>
              <a:tabLst>
                <a:tab pos="5254625" algn="l"/>
              </a:tabLst>
            </a:pPr>
            <a:r>
              <a:rPr lang="fr-FR" altLang="en-US" sz="2000" kern="0" dirty="0"/>
              <a:t>4. Maximiser le prix de l’action	       3.99</a:t>
            </a:r>
          </a:p>
          <a:p>
            <a:pPr>
              <a:buFont typeface="Monotype Sorts" charset="2"/>
              <a:buNone/>
              <a:tabLst>
                <a:tab pos="5254625" algn="l"/>
              </a:tabLst>
            </a:pPr>
            <a:r>
              <a:rPr lang="fr-FR" altLang="en-US" sz="2000" kern="0" dirty="0"/>
              <a:t>5. Maintenir une indépendance financière	       3.88</a:t>
            </a:r>
          </a:p>
          <a:p>
            <a:pPr>
              <a:buFont typeface="Monotype Sorts" charset="2"/>
              <a:buNone/>
              <a:tabLst>
                <a:tab pos="5254625" algn="l"/>
              </a:tabLst>
            </a:pPr>
            <a:r>
              <a:rPr lang="fr-FR" altLang="en-US" sz="2000" kern="0" dirty="0"/>
              <a:t>6. Maintenir sa cote de crédit	       3.56</a:t>
            </a:r>
          </a:p>
          <a:p>
            <a:pPr>
              <a:buFont typeface="Monotype Sorts" charset="2"/>
              <a:buNone/>
              <a:tabLst>
                <a:tab pos="5254625" algn="l"/>
              </a:tabLst>
            </a:pPr>
            <a:r>
              <a:rPr lang="fr-FR" altLang="en-US" sz="2000" kern="0" dirty="0"/>
              <a:t>7. Maintenir la comparabilité avec ses pairs      		   </a:t>
            </a:r>
            <a:r>
              <a:rPr lang="en-US" altLang="en-US" sz="2000" kern="0" dirty="0"/>
              <a:t>2.47</a:t>
            </a:r>
          </a:p>
          <a:p>
            <a:pPr lvl="1">
              <a:buFontTx/>
              <a:buNone/>
              <a:tabLst>
                <a:tab pos="5254625" algn="l"/>
              </a:tabLst>
            </a:pPr>
            <a:endParaRPr lang="en-US" altLang="en-US" kern="0" dirty="0"/>
          </a:p>
          <a:p>
            <a:pPr lvl="1">
              <a:buFontTx/>
              <a:buNone/>
              <a:tabLst>
                <a:tab pos="5254625" algn="l"/>
              </a:tabLst>
            </a:pPr>
            <a:endParaRPr lang="en-US" altLang="en-US" kern="0" dirty="0"/>
          </a:p>
          <a:p>
            <a:pPr lvl="1">
              <a:tabLst>
                <a:tab pos="5254625" algn="l"/>
              </a:tabLst>
            </a:pPr>
            <a:endParaRPr lang="en-US" altLang="en-US" kern="0" dirty="0"/>
          </a:p>
          <a:p>
            <a:pPr lvl="1">
              <a:tabLst>
                <a:tab pos="5254625" algn="l"/>
              </a:tabLst>
            </a:pP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1540945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95263"/>
            <a:ext cx="8229600" cy="720329"/>
          </a:xfrm>
        </p:spPr>
        <p:txBody>
          <a:bodyPr>
            <a:normAutofit/>
          </a:bodyPr>
          <a:lstStyle/>
          <a:p>
            <a:pPr algn="l"/>
            <a:r>
              <a:rPr lang="fr-CA" dirty="0"/>
              <a:t>Décision : structure de capital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68313" y="942144"/>
            <a:ext cx="8568185" cy="1197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En somme, la décision de financement est une question d’équilibre en le risque opérationnel (actif) et risque d’endettement (passif-CP)</a:t>
            </a:r>
          </a:p>
          <a:p>
            <a:pPr marL="0" indent="0">
              <a:buNone/>
            </a:pPr>
            <a:endParaRPr lang="fr-CA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fr-CA" dirty="0"/>
          </a:p>
        </p:txBody>
      </p:sp>
      <p:grpSp>
        <p:nvGrpSpPr>
          <p:cNvPr id="6" name="Groupe 5"/>
          <p:cNvGrpSpPr/>
          <p:nvPr>
            <p:custDataLst>
              <p:tags r:id="rId3"/>
            </p:custDataLst>
          </p:nvPr>
        </p:nvGrpSpPr>
        <p:grpSpPr>
          <a:xfrm>
            <a:off x="4895997" y="2139702"/>
            <a:ext cx="4261995" cy="1558647"/>
            <a:chOff x="4929190" y="2428868"/>
            <a:chExt cx="4261995" cy="2286016"/>
          </a:xfrm>
        </p:grpSpPr>
        <p:sp>
          <p:nvSpPr>
            <p:cNvPr id="7" name="Rectangle 6"/>
            <p:cNvSpPr/>
            <p:nvPr/>
          </p:nvSpPr>
          <p:spPr>
            <a:xfrm>
              <a:off x="4929190" y="2428868"/>
              <a:ext cx="1285884" cy="22860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Passifs</a:t>
              </a:r>
            </a:p>
            <a:p>
              <a:pPr algn="ctr"/>
              <a:endParaRPr lang="fr-CA" dirty="0"/>
            </a:p>
            <a:p>
              <a:pPr algn="ctr"/>
              <a:endParaRPr lang="fr-CA" dirty="0"/>
            </a:p>
            <a:p>
              <a:pPr algn="ctr"/>
              <a:endParaRPr lang="fr-CA" sz="1000" dirty="0"/>
            </a:p>
            <a:p>
              <a:pPr algn="ctr"/>
              <a:r>
                <a:rPr lang="fr-CA" dirty="0"/>
                <a:t>Fonds propres</a:t>
              </a:r>
            </a:p>
          </p:txBody>
        </p:sp>
        <p:cxnSp>
          <p:nvCxnSpPr>
            <p:cNvPr id="8" name="Connecteur droit 7"/>
            <p:cNvCxnSpPr/>
            <p:nvPr/>
          </p:nvCxnSpPr>
          <p:spPr>
            <a:xfrm>
              <a:off x="4968102" y="3429000"/>
              <a:ext cx="1285884" cy="0"/>
            </a:xfrm>
            <a:prstGeom prst="line">
              <a:avLst/>
            </a:prstGeom>
            <a:ln w="476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ZoneTexte 9"/>
            <p:cNvSpPr txBox="1"/>
            <p:nvPr/>
          </p:nvSpPr>
          <p:spPr>
            <a:xfrm>
              <a:off x="6512247" y="3143248"/>
              <a:ext cx="2678938" cy="10382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2000" dirty="0">
                  <a:solidFill>
                    <a:schemeClr val="tx2"/>
                  </a:solidFill>
                </a:rPr>
                <a:t>Risque d’endettement</a:t>
              </a:r>
            </a:p>
            <a:p>
              <a:r>
                <a:rPr lang="fr-CA" sz="2000" dirty="0">
                  <a:solidFill>
                    <a:schemeClr val="tx2"/>
                  </a:solidFill>
                </a:rPr>
                <a:t>(levier financier)</a:t>
              </a:r>
            </a:p>
          </p:txBody>
        </p:sp>
      </p:grpSp>
      <p:sp>
        <p:nvSpPr>
          <p:cNvPr id="11" name="Rectangle 10"/>
          <p:cNvSpPr/>
          <p:nvPr>
            <p:custDataLst>
              <p:tags r:id="rId4"/>
            </p:custDataLst>
          </p:nvPr>
        </p:nvSpPr>
        <p:spPr>
          <a:xfrm>
            <a:off x="2967170" y="2139702"/>
            <a:ext cx="1285884" cy="155864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Actifs </a:t>
            </a:r>
          </a:p>
        </p:txBody>
      </p:sp>
      <p:sp>
        <p:nvSpPr>
          <p:cNvPr id="12" name="ZoneTexte 11"/>
          <p:cNvSpPr txBox="1"/>
          <p:nvPr>
            <p:custDataLst>
              <p:tags r:id="rId5"/>
            </p:custDataLst>
          </p:nvPr>
        </p:nvSpPr>
        <p:spPr>
          <a:xfrm>
            <a:off x="4324492" y="2635326"/>
            <a:ext cx="500066" cy="75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800" dirty="0">
                <a:solidFill>
                  <a:schemeClr val="tx2"/>
                </a:solidFill>
              </a:rPr>
              <a:t>=</a:t>
            </a:r>
          </a:p>
        </p:txBody>
      </p:sp>
      <p:sp>
        <p:nvSpPr>
          <p:cNvPr id="16" name="ZoneTexte 15"/>
          <p:cNvSpPr txBox="1"/>
          <p:nvPr>
            <p:custDataLst>
              <p:tags r:id="rId6"/>
            </p:custDataLst>
          </p:nvPr>
        </p:nvSpPr>
        <p:spPr>
          <a:xfrm>
            <a:off x="216793" y="2626779"/>
            <a:ext cx="24513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000" dirty="0">
                <a:solidFill>
                  <a:schemeClr val="tx2"/>
                </a:solidFill>
              </a:rPr>
              <a:t>Risque d’opération</a:t>
            </a:r>
          </a:p>
          <a:p>
            <a:r>
              <a:rPr lang="fr-CA" sz="2000" dirty="0">
                <a:solidFill>
                  <a:schemeClr val="tx2"/>
                </a:solidFill>
              </a:rPr>
              <a:t>(levier opérationnel)</a:t>
            </a:r>
          </a:p>
        </p:txBody>
      </p:sp>
      <p:sp>
        <p:nvSpPr>
          <p:cNvPr id="17" name="Accolade ouvrante 16"/>
          <p:cNvSpPr/>
          <p:nvPr>
            <p:custDataLst>
              <p:tags r:id="rId7"/>
            </p:custDataLst>
          </p:nvPr>
        </p:nvSpPr>
        <p:spPr>
          <a:xfrm rot="16200000">
            <a:off x="4501418" y="-327001"/>
            <a:ext cx="357190" cy="871297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ZoneTexte 17"/>
          <p:cNvSpPr txBox="1"/>
          <p:nvPr>
            <p:custDataLst>
              <p:tags r:id="rId8"/>
            </p:custDataLst>
          </p:nvPr>
        </p:nvSpPr>
        <p:spPr>
          <a:xfrm>
            <a:off x="3106023" y="4360618"/>
            <a:ext cx="3220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000" dirty="0">
                <a:solidFill>
                  <a:schemeClr val="tx2"/>
                </a:solidFill>
              </a:rPr>
              <a:t>Risque total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135516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3674478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Chapitre 16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sz="4000" dirty="0"/>
              <a:t>Démonstration de Modigliani &amp; Miller</a:t>
            </a:r>
          </a:p>
        </p:txBody>
      </p:sp>
    </p:spTree>
    <p:extLst>
      <p:ext uri="{BB962C8B-B14F-4D97-AF65-F5344CB8AC3E}">
        <p14:creationId xmlns:p14="http://schemas.microsoft.com/office/powerpoint/2010/main" val="2283692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3" y="195263"/>
            <a:ext cx="8229600" cy="720329"/>
          </a:xfrm>
        </p:spPr>
        <p:txBody>
          <a:bodyPr/>
          <a:lstStyle/>
          <a:p>
            <a:pPr algn="l"/>
            <a:r>
              <a:rPr lang="fr-CA" sz="2400" dirty="0"/>
              <a:t>Démonstration de M&amp;M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90" y="987574"/>
            <a:ext cx="8351837" cy="36903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CA" sz="4000" dirty="0"/>
              <a:t>Si vous vous retrouvez éventuellement gestionnaire d’une entreprise, comment allez-vous prendre la décision d’investissement?</a:t>
            </a:r>
          </a:p>
          <a:p>
            <a:pPr marL="0" indent="0">
              <a:buNone/>
            </a:pPr>
            <a:endParaRPr lang="fr-CA" sz="2800" dirty="0"/>
          </a:p>
          <a:p>
            <a:r>
              <a:rPr lang="fr-CA" sz="2800" dirty="0"/>
              <a:t>Entre 1958 et 1963, Modigliani et Miller (M&amp;M) ont élaboré la théorie quant à la </a:t>
            </a:r>
            <a:r>
              <a:rPr lang="fr-CA" sz="2800" dirty="0">
                <a:solidFill>
                  <a:schemeClr val="tx2"/>
                </a:solidFill>
              </a:rPr>
              <a:t>SC optimale</a:t>
            </a:r>
            <a:r>
              <a:rPr lang="fr-CA" sz="2800" dirty="0"/>
              <a:t>.</a:t>
            </a:r>
          </a:p>
          <a:p>
            <a:r>
              <a:rPr lang="fr-CA" sz="2800" dirty="0"/>
              <a:t>Auparavant, les gestionnaires prenaient cette décision </a:t>
            </a:r>
            <a:r>
              <a:rPr lang="fr-CA" sz="2800" dirty="0">
                <a:solidFill>
                  <a:schemeClr val="tx2"/>
                </a:solidFill>
              </a:rPr>
              <a:t>au mieux </a:t>
            </a:r>
            <a:r>
              <a:rPr lang="fr-CA" sz="2800" dirty="0"/>
              <a:t>de:</a:t>
            </a:r>
          </a:p>
          <a:p>
            <a:pPr lvl="1"/>
            <a:r>
              <a:rPr lang="fr-CA" sz="2400" dirty="0"/>
              <a:t>leurs connaissances financières</a:t>
            </a:r>
          </a:p>
          <a:p>
            <a:pPr lvl="1"/>
            <a:r>
              <a:rPr lang="fr-CA" sz="2400" dirty="0"/>
              <a:t>leurs connaissances de l’entreprise</a:t>
            </a:r>
          </a:p>
          <a:p>
            <a:pPr lvl="1"/>
            <a:r>
              <a:rPr lang="fr-CA" sz="2400" dirty="0"/>
              <a:t>leurs connaissances de l’économie et du secteur</a:t>
            </a:r>
          </a:p>
          <a:p>
            <a:pPr lvl="1"/>
            <a:r>
              <a:rPr lang="fr-CA" sz="2400" dirty="0"/>
              <a:t>leurs connaissances des compétiteurs</a:t>
            </a:r>
          </a:p>
          <a:p>
            <a:pPr lvl="1"/>
            <a:r>
              <a:rPr lang="fr-CA" sz="24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63784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Démonstration de M&amp;M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95536" y="1221582"/>
            <a:ext cx="8569080" cy="3618310"/>
          </a:xfrm>
        </p:spPr>
        <p:txBody>
          <a:bodyPr>
            <a:normAutofit/>
          </a:bodyPr>
          <a:lstStyle/>
          <a:p>
            <a:pPr marL="0" lvl="1" indent="0">
              <a:lnSpc>
                <a:spcPct val="90000"/>
              </a:lnSpc>
              <a:buNone/>
            </a:pPr>
            <a:r>
              <a:rPr lang="fr-CA" sz="2000" dirty="0"/>
              <a:t>La structure de capital optimale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CA" sz="2000" dirty="0"/>
          </a:p>
          <a:p>
            <a:pPr marL="803275" lvl="2" indent="-268288">
              <a:lnSpc>
                <a:spcPct val="90000"/>
              </a:lnSpc>
            </a:pPr>
            <a:r>
              <a:rPr lang="fr-CA" sz="2000" dirty="0"/>
              <a:t>Démonstration de Modigliani &amp; Miller (M&amp;M)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1 : Contexte: ≠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2 : Contexte: =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3 : Contexte: = impôt = coûts de faillite</a:t>
            </a:r>
          </a:p>
          <a:p>
            <a:pPr marL="803275" lvl="2" indent="-265113">
              <a:lnSpc>
                <a:spcPct val="90000"/>
              </a:lnSpc>
            </a:pPr>
            <a:r>
              <a:rPr lang="fr-CA" sz="2000" dirty="0"/>
              <a:t>Conclusion :</a:t>
            </a:r>
          </a:p>
          <a:p>
            <a:pPr marL="355600" lvl="1" indent="0">
              <a:lnSpc>
                <a:spcPct val="90000"/>
              </a:lnSpc>
              <a:buNone/>
            </a:pP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616861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Démonstration de M&amp;M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21582"/>
            <a:ext cx="8485816" cy="3618310"/>
          </a:xfrm>
        </p:spPr>
        <p:txBody>
          <a:bodyPr>
            <a:normAutofit/>
          </a:bodyPr>
          <a:lstStyle/>
          <a:p>
            <a:pPr marL="0" lvl="1" indent="0">
              <a:lnSpc>
                <a:spcPct val="90000"/>
              </a:lnSpc>
              <a:buNone/>
            </a:pPr>
            <a:r>
              <a:rPr lang="fr-CA" sz="2000" dirty="0"/>
              <a:t>La structure de capital optimale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CA" sz="2000" dirty="0"/>
          </a:p>
          <a:p>
            <a:pPr marL="803275" lvl="2" indent="-268288">
              <a:lnSpc>
                <a:spcPct val="90000"/>
              </a:lnSpc>
            </a:pPr>
            <a:r>
              <a:rPr lang="fr-CA" sz="2000" dirty="0"/>
              <a:t>Démonstration de Modigliani &amp; Miller (M&amp;M)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>
                <a:solidFill>
                  <a:schemeClr val="accent1"/>
                </a:solidFill>
              </a:rPr>
              <a:t>Étape 1 : Contexte: ≠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2 : Contexte: =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3 : Contexte: = impôt = coûts de faillite</a:t>
            </a:r>
          </a:p>
          <a:p>
            <a:pPr marL="803275" lvl="2" indent="-265113">
              <a:lnSpc>
                <a:spcPct val="90000"/>
              </a:lnSpc>
            </a:pPr>
            <a:r>
              <a:rPr lang="fr-CA" sz="2000" dirty="0"/>
              <a:t>Conclusion :</a:t>
            </a:r>
          </a:p>
        </p:txBody>
      </p:sp>
    </p:spTree>
    <p:extLst>
      <p:ext uri="{BB962C8B-B14F-4D97-AF65-F5344CB8AC3E}">
        <p14:creationId xmlns:p14="http://schemas.microsoft.com/office/powerpoint/2010/main" val="3330441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CA" sz="3600" u="sng" dirty="0"/>
              <a:t>Étape 1 : sans impôt ni coût de faillite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75606"/>
            <a:ext cx="8186400" cy="3013502"/>
          </a:xfrm>
        </p:spPr>
        <p:txBody>
          <a:bodyPr/>
          <a:lstStyle/>
          <a:p>
            <a:pPr>
              <a:buFontTx/>
              <a:buNone/>
            </a:pPr>
            <a:r>
              <a:rPr lang="fr-CA" sz="2800" u="sng" dirty="0">
                <a:solidFill>
                  <a:schemeClr val="accent2"/>
                </a:solidFill>
              </a:rPr>
              <a:t>Proposition I </a:t>
            </a:r>
            <a:r>
              <a:rPr lang="fr-CA" sz="2800" dirty="0">
                <a:solidFill>
                  <a:schemeClr val="accent2"/>
                </a:solidFill>
              </a:rPr>
              <a:t>: </a:t>
            </a:r>
            <a:r>
              <a:rPr lang="fr-CA" sz="2800" dirty="0"/>
              <a:t>La SC n’a pas d’importance</a:t>
            </a:r>
          </a:p>
          <a:p>
            <a:endParaRPr lang="fr-CA" sz="2800" dirty="0"/>
          </a:p>
        </p:txBody>
      </p:sp>
      <p:sp>
        <p:nvSpPr>
          <p:cNvPr id="2560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8311" y="1752136"/>
            <a:ext cx="4248150" cy="1403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</a:pPr>
            <a:r>
              <a:rPr lang="fr-CA" sz="2800" dirty="0"/>
              <a:t>En conclusion, le mixte entre dette et F.P. </a:t>
            </a:r>
            <a:r>
              <a:rPr lang="fr-CA" sz="2800" dirty="0">
                <a:solidFill>
                  <a:schemeClr val="tx2"/>
                </a:solidFill>
              </a:rPr>
              <a:t>ne change en rien</a:t>
            </a:r>
            <a:r>
              <a:rPr lang="fr-CA" sz="2800" dirty="0"/>
              <a:t> la valeur de l’entreprise</a:t>
            </a:r>
          </a:p>
        </p:txBody>
      </p:sp>
      <p:grpSp>
        <p:nvGrpSpPr>
          <p:cNvPr id="3" name="Groupe 2"/>
          <p:cNvGrpSpPr/>
          <p:nvPr>
            <p:custDataLst>
              <p:tags r:id="rId4"/>
            </p:custDataLst>
          </p:nvPr>
        </p:nvGrpSpPr>
        <p:grpSpPr>
          <a:xfrm>
            <a:off x="4856676" y="1737481"/>
            <a:ext cx="3718771" cy="2564808"/>
            <a:chOff x="5218391" y="2320565"/>
            <a:chExt cx="3718771" cy="2564808"/>
          </a:xfrm>
        </p:grpSpPr>
        <p:sp>
          <p:nvSpPr>
            <p:cNvPr id="25609" name="Line 9"/>
            <p:cNvSpPr>
              <a:spLocks noChangeShapeType="1"/>
            </p:cNvSpPr>
            <p:nvPr/>
          </p:nvSpPr>
          <p:spPr bwMode="auto">
            <a:xfrm flipV="1">
              <a:off x="5724525" y="2571751"/>
              <a:ext cx="0" cy="18907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5610" name="Line 10"/>
            <p:cNvSpPr>
              <a:spLocks noChangeShapeType="1"/>
            </p:cNvSpPr>
            <p:nvPr/>
          </p:nvSpPr>
          <p:spPr bwMode="auto">
            <a:xfrm>
              <a:off x="5724525" y="4462463"/>
              <a:ext cx="31686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5611" name="Text Box 11"/>
            <p:cNvSpPr txBox="1">
              <a:spLocks noChangeArrowheads="1"/>
            </p:cNvSpPr>
            <p:nvPr/>
          </p:nvSpPr>
          <p:spPr bwMode="auto">
            <a:xfrm rot="16200000">
              <a:off x="4409516" y="3129440"/>
              <a:ext cx="198708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charset="0"/>
                </a:rPr>
                <a:t>Valeur de la firme</a:t>
              </a:r>
            </a:p>
          </p:txBody>
        </p:sp>
        <p:sp>
          <p:nvSpPr>
            <p:cNvPr id="25612" name="Text Box 12"/>
            <p:cNvSpPr txBox="1">
              <a:spLocks noChangeArrowheads="1"/>
            </p:cNvSpPr>
            <p:nvPr/>
          </p:nvSpPr>
          <p:spPr bwMode="auto">
            <a:xfrm>
              <a:off x="6516691" y="4516041"/>
              <a:ext cx="242047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charset="0"/>
                </a:rPr>
                <a:t>Niveau d’endettement</a:t>
              </a:r>
            </a:p>
          </p:txBody>
        </p:sp>
        <p:sp>
          <p:nvSpPr>
            <p:cNvPr id="25613" name="Line 13"/>
            <p:cNvSpPr>
              <a:spLocks noChangeShapeType="1"/>
            </p:cNvSpPr>
            <p:nvPr/>
          </p:nvSpPr>
          <p:spPr bwMode="auto">
            <a:xfrm>
              <a:off x="5724525" y="3543300"/>
              <a:ext cx="2808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5614" name="Text Box 14"/>
            <p:cNvSpPr txBox="1">
              <a:spLocks noChangeArrowheads="1"/>
            </p:cNvSpPr>
            <p:nvPr/>
          </p:nvSpPr>
          <p:spPr bwMode="auto">
            <a:xfrm>
              <a:off x="6064251" y="2919413"/>
              <a:ext cx="65114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2800" dirty="0">
                  <a:solidFill>
                    <a:schemeClr val="tx2"/>
                  </a:solidFill>
                  <a:latin typeface="Tahoma" charset="0"/>
                </a:rPr>
                <a:t>V</a:t>
              </a:r>
              <a:r>
                <a:rPr lang="fr-CA" sz="2800" baseline="-25000" dirty="0">
                  <a:solidFill>
                    <a:schemeClr val="tx2"/>
                  </a:solidFill>
                  <a:latin typeface="Tahoma" charset="0"/>
                </a:rPr>
                <a:t>SL</a:t>
              </a:r>
              <a:endParaRPr lang="fr-CA" sz="2800" dirty="0">
                <a:solidFill>
                  <a:schemeClr val="tx2"/>
                </a:solidFill>
                <a:latin typeface="Tahoma" charset="0"/>
              </a:endParaRPr>
            </a:p>
          </p:txBody>
        </p:sp>
        <p:sp>
          <p:nvSpPr>
            <p:cNvPr id="25615" name="Line 15"/>
            <p:cNvSpPr>
              <a:spLocks noChangeShapeType="1"/>
            </p:cNvSpPr>
            <p:nvPr/>
          </p:nvSpPr>
          <p:spPr bwMode="auto">
            <a:xfrm flipH="1">
              <a:off x="5724528" y="3165873"/>
              <a:ext cx="360363" cy="3774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5616" name="Text Box 16"/>
            <p:cNvSpPr txBox="1">
              <a:spLocks noChangeArrowheads="1"/>
            </p:cNvSpPr>
            <p:nvPr/>
          </p:nvSpPr>
          <p:spPr bwMode="auto">
            <a:xfrm>
              <a:off x="6732590" y="2895600"/>
              <a:ext cx="113845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2800" dirty="0">
                  <a:solidFill>
                    <a:schemeClr val="tx2"/>
                  </a:solidFill>
                  <a:latin typeface="Tahoma" charset="0"/>
                </a:rPr>
                <a:t>=  V</a:t>
              </a:r>
              <a:r>
                <a:rPr lang="fr-CA" sz="2800" baseline="-25000" dirty="0">
                  <a:solidFill>
                    <a:schemeClr val="tx2"/>
                  </a:solidFill>
                  <a:latin typeface="Tahoma" charset="0"/>
                </a:rPr>
                <a:t>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292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CA" sz="3600" u="sng" dirty="0"/>
              <a:t>Étape 1 : sans impôt ni coût de faillite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66311" y="1256773"/>
            <a:ext cx="8186400" cy="286919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fr-CA" sz="2800" u="sng" dirty="0">
                <a:solidFill>
                  <a:schemeClr val="accent2"/>
                </a:solidFill>
              </a:rPr>
              <a:t>Proposition II </a:t>
            </a:r>
            <a:r>
              <a:rPr lang="fr-CA" sz="2800" dirty="0">
                <a:solidFill>
                  <a:schemeClr val="accent2"/>
                </a:solidFill>
              </a:rPr>
              <a:t>: </a:t>
            </a:r>
            <a:r>
              <a:rPr lang="fr-CA" sz="2800" dirty="0"/>
              <a:t>le coût des F.P. est </a:t>
            </a:r>
            <a:r>
              <a:rPr lang="fr-CA" sz="2800" dirty="0">
                <a:solidFill>
                  <a:schemeClr val="tx2"/>
                </a:solidFill>
              </a:rPr>
              <a:t>fonction de la SC</a:t>
            </a:r>
          </a:p>
          <a:p>
            <a:endParaRPr lang="fr-CA" sz="2800" dirty="0"/>
          </a:p>
        </p:txBody>
      </p:sp>
      <p:sp>
        <p:nvSpPr>
          <p:cNvPr id="2662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0886" y="2139702"/>
            <a:ext cx="4608513" cy="3321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fr-CA" sz="2000" dirty="0"/>
              <a:t>La hausse de R</a:t>
            </a:r>
            <a:r>
              <a:rPr lang="fr-CA" sz="2000" baseline="-25000" dirty="0"/>
              <a:t>E</a:t>
            </a:r>
            <a:r>
              <a:rPr lang="fr-CA" sz="2000" dirty="0"/>
              <a:t> compense </a:t>
            </a:r>
            <a:r>
              <a:rPr lang="fr-CA" sz="2000" dirty="0">
                <a:solidFill>
                  <a:schemeClr val="tx2"/>
                </a:solidFill>
              </a:rPr>
              <a:t>exactement</a:t>
            </a:r>
            <a:r>
              <a:rPr lang="fr-CA" sz="2000" dirty="0"/>
              <a:t> la diminution de la moyenne due à l’augmentation de la pondération de R</a:t>
            </a:r>
            <a:r>
              <a:rPr lang="fr-CA" sz="2000" baseline="-25000" dirty="0"/>
              <a:t>D</a:t>
            </a:r>
          </a:p>
          <a:p>
            <a:pPr>
              <a:spcBef>
                <a:spcPct val="20000"/>
              </a:spcBef>
            </a:pPr>
            <a:r>
              <a:rPr lang="fr-CA" sz="2600" dirty="0"/>
              <a:t>En somme, l’avantage de la dette est compensé par le fait que les actionnaires sont plus exigeants (plus de risque)</a:t>
            </a:r>
            <a:endParaRPr lang="fr-CA" sz="2600" baseline="-25000" dirty="0"/>
          </a:p>
        </p:txBody>
      </p:sp>
      <p:grpSp>
        <p:nvGrpSpPr>
          <p:cNvPr id="2" name="Groupe 1"/>
          <p:cNvGrpSpPr/>
          <p:nvPr/>
        </p:nvGrpSpPr>
        <p:grpSpPr>
          <a:xfrm>
            <a:off x="5004048" y="2055310"/>
            <a:ext cx="3986016" cy="2533828"/>
            <a:chOff x="5146955" y="2351545"/>
            <a:chExt cx="3986016" cy="2533828"/>
          </a:xfrm>
        </p:grpSpPr>
        <p:sp>
          <p:nvSpPr>
            <p:cNvPr id="26630" name="Line 6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 flipV="1">
              <a:off x="5724525" y="2571751"/>
              <a:ext cx="0" cy="18907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6631" name="Line 7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5724525" y="4462463"/>
              <a:ext cx="31686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6632" name="Text Box 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rot="16200000">
              <a:off x="4474431" y="3024069"/>
              <a:ext cx="171438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charset="0"/>
                </a:rPr>
                <a:t>Coût du capital</a:t>
              </a:r>
            </a:p>
          </p:txBody>
        </p:sp>
        <p:sp>
          <p:nvSpPr>
            <p:cNvPr id="26633" name="Text Box 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243891" y="4516041"/>
              <a:ext cx="55976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charset="0"/>
                </a:rPr>
                <a:t>D/E</a:t>
              </a:r>
            </a:p>
          </p:txBody>
        </p:sp>
        <p:sp>
          <p:nvSpPr>
            <p:cNvPr id="26635" name="Line 1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5724525" y="4192191"/>
              <a:ext cx="25923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6636" name="Text Box 1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388353" y="4030267"/>
              <a:ext cx="5148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2400" dirty="0">
                  <a:solidFill>
                    <a:schemeClr val="tx2"/>
                  </a:solidFill>
                  <a:latin typeface="Tahoma" charset="0"/>
                </a:rPr>
                <a:t>R</a:t>
              </a:r>
              <a:r>
                <a:rPr lang="fr-CA" sz="2400" baseline="-25000" dirty="0">
                  <a:solidFill>
                    <a:schemeClr val="tx2"/>
                  </a:solidFill>
                  <a:latin typeface="Tahoma" charset="0"/>
                </a:rPr>
                <a:t>D</a:t>
              </a:r>
            </a:p>
          </p:txBody>
        </p:sp>
        <p:sp>
          <p:nvSpPr>
            <p:cNvPr id="26637" name="Line 13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5724528" y="2625330"/>
              <a:ext cx="2447925" cy="9727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6638" name="Text Box 1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101013" y="2518173"/>
              <a:ext cx="49084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2400" dirty="0">
                  <a:solidFill>
                    <a:schemeClr val="tx2"/>
                  </a:solidFill>
                  <a:latin typeface="Tahoma" charset="0"/>
                </a:rPr>
                <a:t>R</a:t>
              </a:r>
              <a:r>
                <a:rPr lang="fr-CA" sz="2400" baseline="-25000" dirty="0">
                  <a:solidFill>
                    <a:schemeClr val="tx2"/>
                  </a:solidFill>
                  <a:latin typeface="Tahoma" charset="0"/>
                </a:rPr>
                <a:t>E</a:t>
              </a:r>
            </a:p>
          </p:txBody>
        </p:sp>
        <p:sp>
          <p:nvSpPr>
            <p:cNvPr id="26639" name="Line 15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5724525" y="3598069"/>
              <a:ext cx="251936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6640" name="Text Box 1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172452" y="3436145"/>
              <a:ext cx="96051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2400" dirty="0">
                  <a:solidFill>
                    <a:schemeClr val="accent2"/>
                  </a:solidFill>
                  <a:latin typeface="Tahoma" charset="0"/>
                </a:rPr>
                <a:t>CMPC</a:t>
              </a:r>
              <a:endParaRPr lang="fr-CA" sz="2400" baseline="-25000" dirty="0">
                <a:solidFill>
                  <a:schemeClr val="accent2"/>
                </a:solidFill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816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Démonstration de M&amp;M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95536" y="1221582"/>
            <a:ext cx="8569080" cy="3618310"/>
          </a:xfrm>
        </p:spPr>
        <p:txBody>
          <a:bodyPr/>
          <a:lstStyle/>
          <a:p>
            <a:pPr marL="0" lvl="1" indent="0">
              <a:lnSpc>
                <a:spcPct val="90000"/>
              </a:lnSpc>
              <a:buNone/>
            </a:pPr>
            <a:r>
              <a:rPr lang="fr-CA" sz="2000" dirty="0"/>
              <a:t>La structure de capital optimale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CA" sz="2000" dirty="0"/>
          </a:p>
          <a:p>
            <a:pPr marL="803275" lvl="2" indent="-268288">
              <a:lnSpc>
                <a:spcPct val="90000"/>
              </a:lnSpc>
            </a:pPr>
            <a:r>
              <a:rPr lang="fr-CA" sz="2000" dirty="0"/>
              <a:t>Démonstration de Modigliani &amp; Miller (M&amp;M)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1 : Contexte: ≠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>
                <a:solidFill>
                  <a:schemeClr val="accent1"/>
                </a:solidFill>
              </a:rPr>
              <a:t>Étape 2 : Contexte: =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3 : Contexte: = impôt = coûts de faillite</a:t>
            </a:r>
          </a:p>
          <a:p>
            <a:pPr marL="803275" lvl="2" indent="-265113">
              <a:lnSpc>
                <a:spcPct val="90000"/>
              </a:lnSpc>
            </a:pPr>
            <a:r>
              <a:rPr lang="fr-CA" sz="2000" dirty="0"/>
              <a:t>Conclusion :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3362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CA" sz="3600" u="sng" dirty="0"/>
              <a:t>Étape 2 : avec impôt, sans coût de faillite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75606"/>
            <a:ext cx="8186400" cy="38678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CA" sz="2800" dirty="0"/>
              <a:t>Les économies d’impôts (ÉÎ) augmente la valeur de la firme :</a:t>
            </a:r>
          </a:p>
          <a:p>
            <a:endParaRPr lang="fr-CA" sz="2800" dirty="0"/>
          </a:p>
          <a:p>
            <a:endParaRPr lang="fr-CA" sz="2800" dirty="0"/>
          </a:p>
          <a:p>
            <a:endParaRPr lang="fr-CA" sz="2800" dirty="0"/>
          </a:p>
          <a:p>
            <a:endParaRPr lang="fr-CA" sz="2800" dirty="0"/>
          </a:p>
          <a:p>
            <a:endParaRPr lang="fr-CA" sz="2800" dirty="0"/>
          </a:p>
          <a:p>
            <a:endParaRPr lang="fr-CA" sz="2800" dirty="0"/>
          </a:p>
          <a:p>
            <a:pPr lvl="1"/>
            <a:endParaRPr lang="fr-CA" sz="2400" dirty="0">
              <a:solidFill>
                <a:schemeClr val="hlink"/>
              </a:solidFill>
            </a:endParaRPr>
          </a:p>
          <a:p>
            <a:pPr lvl="1"/>
            <a:endParaRPr lang="fr-CA" sz="2400" dirty="0"/>
          </a:p>
          <a:p>
            <a:pPr marL="268288" lvl="1" indent="-268288"/>
            <a:r>
              <a:rPr lang="fr-CA" sz="2400" dirty="0"/>
              <a:t>L’utilisation de l’effet de levier permet des </a:t>
            </a:r>
            <a:r>
              <a:rPr lang="fr-CA" sz="2400" dirty="0">
                <a:solidFill>
                  <a:schemeClr val="tx2"/>
                </a:solidFill>
              </a:rPr>
              <a:t>économies d’impôt</a:t>
            </a:r>
            <a:r>
              <a:rPr lang="fr-CA" sz="2400" dirty="0"/>
              <a:t> </a:t>
            </a:r>
            <a:br>
              <a:rPr lang="fr-CA" sz="2400" dirty="0"/>
            </a:br>
            <a:r>
              <a:rPr lang="fr-CA" sz="2400" dirty="0"/>
              <a:t>sur les charges d’intérêts qui permettent </a:t>
            </a:r>
            <a:r>
              <a:rPr lang="fr-CA" sz="2400" dirty="0">
                <a:solidFill>
                  <a:schemeClr val="tx2"/>
                </a:solidFill>
              </a:rPr>
              <a:t>d’augmenter</a:t>
            </a:r>
            <a:r>
              <a:rPr lang="fr-CA" sz="2400" dirty="0"/>
              <a:t> </a:t>
            </a:r>
            <a:br>
              <a:rPr lang="fr-CA" sz="2400" dirty="0"/>
            </a:br>
            <a:r>
              <a:rPr lang="fr-CA" sz="2400" dirty="0"/>
              <a:t>la valeur de l’entreprise.</a:t>
            </a:r>
          </a:p>
        </p:txBody>
      </p:sp>
      <p:grpSp>
        <p:nvGrpSpPr>
          <p:cNvPr id="17" name="Groupe 16"/>
          <p:cNvGrpSpPr/>
          <p:nvPr>
            <p:custDataLst>
              <p:tags r:id="rId3"/>
            </p:custDataLst>
          </p:nvPr>
        </p:nvGrpSpPr>
        <p:grpSpPr>
          <a:xfrm>
            <a:off x="927357" y="1463308"/>
            <a:ext cx="7851067" cy="2495766"/>
            <a:chOff x="927354" y="1951076"/>
            <a:chExt cx="7851067" cy="3327689"/>
          </a:xfrm>
        </p:grpSpPr>
        <p:sp>
          <p:nvSpPr>
            <p:cNvPr id="28679" name="Text Box 7"/>
            <p:cNvSpPr txBox="1">
              <a:spLocks noChangeArrowheads="1"/>
            </p:cNvSpPr>
            <p:nvPr/>
          </p:nvSpPr>
          <p:spPr bwMode="auto">
            <a:xfrm>
              <a:off x="6357950" y="4786322"/>
              <a:ext cx="242047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charset="0"/>
                </a:rPr>
                <a:t>Niveau d’endettement</a:t>
              </a:r>
            </a:p>
          </p:txBody>
        </p:sp>
        <p:grpSp>
          <p:nvGrpSpPr>
            <p:cNvPr id="15" name="Groupe 14"/>
            <p:cNvGrpSpPr/>
            <p:nvPr/>
          </p:nvGrpSpPr>
          <p:grpSpPr>
            <a:xfrm>
              <a:off x="927354" y="1951076"/>
              <a:ext cx="7047850" cy="2855866"/>
              <a:chOff x="1617942" y="1870122"/>
              <a:chExt cx="7047850" cy="2855866"/>
            </a:xfrm>
          </p:grpSpPr>
          <p:sp>
            <p:nvSpPr>
              <p:cNvPr id="28676" name="Line 4"/>
              <p:cNvSpPr>
                <a:spLocks noChangeShapeType="1"/>
              </p:cNvSpPr>
              <p:nvPr/>
            </p:nvSpPr>
            <p:spPr bwMode="auto">
              <a:xfrm flipV="1">
                <a:off x="2124075" y="2205038"/>
                <a:ext cx="0" cy="252095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28677" name="Line 5"/>
              <p:cNvSpPr>
                <a:spLocks noChangeShapeType="1"/>
              </p:cNvSpPr>
              <p:nvPr/>
            </p:nvSpPr>
            <p:spPr bwMode="auto">
              <a:xfrm flipV="1">
                <a:off x="2124075" y="4724400"/>
                <a:ext cx="6048375" cy="15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28678" name="Text Box 6"/>
              <p:cNvSpPr txBox="1">
                <a:spLocks noChangeArrowheads="1"/>
              </p:cNvSpPr>
              <p:nvPr/>
            </p:nvSpPr>
            <p:spPr bwMode="auto">
              <a:xfrm rot="16200000">
                <a:off x="477886" y="3010178"/>
                <a:ext cx="264944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>
                    <a:latin typeface="Tahoma" charset="0"/>
                  </a:rPr>
                  <a:t>Valeur de la firme</a:t>
                </a:r>
              </a:p>
            </p:txBody>
          </p:sp>
          <p:sp>
            <p:nvSpPr>
              <p:cNvPr id="28680" name="Line 8"/>
              <p:cNvSpPr>
                <a:spLocks noChangeShapeType="1"/>
              </p:cNvSpPr>
              <p:nvPr/>
            </p:nvSpPr>
            <p:spPr bwMode="auto">
              <a:xfrm>
                <a:off x="2124075" y="4005263"/>
                <a:ext cx="5832475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28681" name="Line 9"/>
              <p:cNvSpPr>
                <a:spLocks noChangeShapeType="1"/>
              </p:cNvSpPr>
              <p:nvPr/>
            </p:nvSpPr>
            <p:spPr bwMode="auto">
              <a:xfrm flipV="1">
                <a:off x="2124075" y="2781300"/>
                <a:ext cx="5761038" cy="1223963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28682" name="Line 10"/>
              <p:cNvSpPr>
                <a:spLocks noChangeShapeType="1"/>
              </p:cNvSpPr>
              <p:nvPr/>
            </p:nvSpPr>
            <p:spPr bwMode="auto">
              <a:xfrm>
                <a:off x="6156325" y="3141663"/>
                <a:ext cx="0" cy="8636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28683" name="Text Box 11"/>
              <p:cNvSpPr txBox="1">
                <a:spLocks noChangeArrowheads="1"/>
              </p:cNvSpPr>
              <p:nvPr/>
            </p:nvSpPr>
            <p:spPr bwMode="auto">
              <a:xfrm>
                <a:off x="6227763" y="3286125"/>
                <a:ext cx="1569212" cy="6976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sz="2800" dirty="0">
                    <a:solidFill>
                      <a:schemeClr val="accent2"/>
                    </a:solidFill>
                    <a:latin typeface="Tahoma" charset="0"/>
                  </a:rPr>
                  <a:t>ÉÎ=D*T</a:t>
                </a:r>
                <a:r>
                  <a:rPr lang="fr-CA" sz="2800" baseline="-25000" dirty="0">
                    <a:solidFill>
                      <a:schemeClr val="accent2"/>
                    </a:solidFill>
                    <a:latin typeface="Tahoma" charset="0"/>
                  </a:rPr>
                  <a:t>C</a:t>
                </a:r>
                <a:endParaRPr lang="fr-CA" sz="2800" dirty="0">
                  <a:solidFill>
                    <a:schemeClr val="accent2"/>
                  </a:solidFill>
                  <a:latin typeface="Tahoma" charset="0"/>
                </a:endParaRPr>
              </a:p>
            </p:txBody>
          </p:sp>
          <p:sp>
            <p:nvSpPr>
              <p:cNvPr id="28685" name="Text Box 13"/>
              <p:cNvSpPr txBox="1">
                <a:spLocks noChangeArrowheads="1"/>
              </p:cNvSpPr>
              <p:nvPr/>
            </p:nvSpPr>
            <p:spPr bwMode="auto">
              <a:xfrm>
                <a:off x="8080375" y="3802062"/>
                <a:ext cx="585417" cy="6155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sz="2400" dirty="0">
                    <a:solidFill>
                      <a:schemeClr val="tx2"/>
                    </a:solidFill>
                    <a:latin typeface="Tahoma" charset="0"/>
                  </a:rPr>
                  <a:t>V</a:t>
                </a:r>
                <a:r>
                  <a:rPr lang="fr-CA" sz="2400" baseline="-25000" dirty="0">
                    <a:solidFill>
                      <a:schemeClr val="tx2"/>
                    </a:solidFill>
                    <a:latin typeface="Tahoma" charset="0"/>
                  </a:rPr>
                  <a:t>SL</a:t>
                </a:r>
                <a:endParaRPr lang="fr-CA" sz="2400" dirty="0">
                  <a:solidFill>
                    <a:schemeClr val="tx2"/>
                  </a:solidFill>
                  <a:latin typeface="Tahoma" charset="0"/>
                </a:endParaRPr>
              </a:p>
            </p:txBody>
          </p:sp>
          <p:sp>
            <p:nvSpPr>
              <p:cNvPr id="28686" name="Text Box 14"/>
              <p:cNvSpPr txBox="1">
                <a:spLocks noChangeArrowheads="1"/>
              </p:cNvSpPr>
              <p:nvPr/>
            </p:nvSpPr>
            <p:spPr bwMode="auto">
              <a:xfrm>
                <a:off x="7956550" y="2565399"/>
                <a:ext cx="586764" cy="6155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fr-CA" sz="2400" dirty="0">
                    <a:solidFill>
                      <a:schemeClr val="accent2"/>
                    </a:solidFill>
                    <a:latin typeface="Tahoma" charset="0"/>
                  </a:rPr>
                  <a:t>V</a:t>
                </a:r>
                <a:r>
                  <a:rPr lang="fr-CA" sz="2400" baseline="-25000" dirty="0">
                    <a:solidFill>
                      <a:schemeClr val="accent2"/>
                    </a:solidFill>
                    <a:latin typeface="Tahoma" charset="0"/>
                  </a:rPr>
                  <a:t>AL</a:t>
                </a:r>
                <a:endParaRPr lang="fr-CA" sz="2400" dirty="0">
                  <a:solidFill>
                    <a:schemeClr val="accent2"/>
                  </a:solidFill>
                  <a:latin typeface="Tahoma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680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CA" sz="3600" u="sng" dirty="0"/>
              <a:t>Étape 2 : avec impôt, sans coût de faillite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25958"/>
            <a:ext cx="8341672" cy="306315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fr-CA" sz="2400" u="sng" dirty="0">
                <a:solidFill>
                  <a:schemeClr val="tx2"/>
                </a:solidFill>
              </a:rPr>
              <a:t>Proposition II </a:t>
            </a:r>
            <a:r>
              <a:rPr lang="fr-CA" sz="2400" dirty="0">
                <a:solidFill>
                  <a:schemeClr val="tx2"/>
                </a:solidFill>
              </a:rPr>
              <a:t>: </a:t>
            </a:r>
            <a:r>
              <a:rPr lang="fr-CA" sz="2400" dirty="0"/>
              <a:t>Le coût des F.P. est en fonction de la SC, la déductibilité des intérêts permet la réduction du CMPC</a:t>
            </a:r>
          </a:p>
          <a:p>
            <a:endParaRPr lang="fr-CA" sz="2800" dirty="0"/>
          </a:p>
        </p:txBody>
      </p:sp>
      <p:grpSp>
        <p:nvGrpSpPr>
          <p:cNvPr id="16" name="Groupe 15"/>
          <p:cNvGrpSpPr/>
          <p:nvPr>
            <p:custDataLst>
              <p:tags r:id="rId3"/>
            </p:custDataLst>
          </p:nvPr>
        </p:nvGrpSpPr>
        <p:grpSpPr>
          <a:xfrm>
            <a:off x="251520" y="2139702"/>
            <a:ext cx="7735353" cy="2799398"/>
            <a:chOff x="970241" y="2852738"/>
            <a:chExt cx="7735353" cy="3732530"/>
          </a:xfrm>
        </p:grpSpPr>
        <p:sp>
          <p:nvSpPr>
            <p:cNvPr id="29701" name="Line 5"/>
            <p:cNvSpPr>
              <a:spLocks noChangeShapeType="1"/>
            </p:cNvSpPr>
            <p:nvPr/>
          </p:nvSpPr>
          <p:spPr bwMode="auto">
            <a:xfrm flipV="1">
              <a:off x="1547813" y="2852738"/>
              <a:ext cx="0" cy="3168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1547813" y="6021388"/>
              <a:ext cx="66246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9703" name="Text Box 7"/>
            <p:cNvSpPr txBox="1">
              <a:spLocks noChangeArrowheads="1"/>
            </p:cNvSpPr>
            <p:nvPr/>
          </p:nvSpPr>
          <p:spPr bwMode="auto">
            <a:xfrm rot="16200000">
              <a:off x="11987" y="4165085"/>
              <a:ext cx="22858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charset="0"/>
                </a:rPr>
                <a:t>Coût du capital</a:t>
              </a:r>
            </a:p>
          </p:txBody>
        </p:sp>
        <p:sp>
          <p:nvSpPr>
            <p:cNvPr id="29704" name="Text Box 8"/>
            <p:cNvSpPr txBox="1">
              <a:spLocks noChangeArrowheads="1"/>
            </p:cNvSpPr>
            <p:nvPr/>
          </p:nvSpPr>
          <p:spPr bwMode="auto">
            <a:xfrm>
              <a:off x="4067175" y="6092825"/>
              <a:ext cx="559769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charset="0"/>
                </a:rPr>
                <a:t>D/E</a:t>
              </a:r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1547813" y="5661025"/>
              <a:ext cx="576103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9706" name="Text Box 10"/>
            <p:cNvSpPr txBox="1">
              <a:spLocks noChangeArrowheads="1"/>
            </p:cNvSpPr>
            <p:nvPr/>
          </p:nvSpPr>
          <p:spPr bwMode="auto">
            <a:xfrm>
              <a:off x="7451725" y="5373688"/>
              <a:ext cx="1253869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2400" dirty="0">
                  <a:solidFill>
                    <a:schemeClr val="tx2"/>
                  </a:solidFill>
                  <a:latin typeface="Tahoma" charset="0"/>
                </a:rPr>
                <a:t>R</a:t>
              </a:r>
              <a:r>
                <a:rPr lang="fr-CA" sz="2400" baseline="-25000" dirty="0">
                  <a:solidFill>
                    <a:schemeClr val="tx2"/>
                  </a:solidFill>
                  <a:latin typeface="Tahoma" charset="0"/>
                </a:rPr>
                <a:t>D</a:t>
              </a:r>
              <a:r>
                <a:rPr lang="fr-CA" sz="2400" dirty="0">
                  <a:solidFill>
                    <a:schemeClr val="tx2"/>
                  </a:solidFill>
                  <a:latin typeface="Tahoma" charset="0"/>
                </a:rPr>
                <a:t>(1-T</a:t>
              </a:r>
              <a:r>
                <a:rPr lang="fr-CA" sz="2400" baseline="-25000" dirty="0">
                  <a:solidFill>
                    <a:schemeClr val="tx2"/>
                  </a:solidFill>
                  <a:latin typeface="Tahoma" charset="0"/>
                </a:rPr>
                <a:t>c</a:t>
              </a:r>
              <a:r>
                <a:rPr lang="fr-CA" sz="2400" dirty="0">
                  <a:solidFill>
                    <a:schemeClr val="tx2"/>
                  </a:solidFill>
                  <a:latin typeface="Tahoma" charset="0"/>
                </a:rPr>
                <a:t>)</a:t>
              </a:r>
              <a:endParaRPr lang="fr-CA" sz="2400" baseline="-25000" dirty="0">
                <a:solidFill>
                  <a:schemeClr val="tx2"/>
                </a:solidFill>
                <a:latin typeface="Tahoma" charset="0"/>
              </a:endParaRPr>
            </a:p>
          </p:txBody>
        </p:sp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 flipV="1">
              <a:off x="1547813" y="3068638"/>
              <a:ext cx="5688012" cy="180022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9708" name="Line 12"/>
            <p:cNvSpPr>
              <a:spLocks noChangeShapeType="1"/>
            </p:cNvSpPr>
            <p:nvPr/>
          </p:nvSpPr>
          <p:spPr bwMode="auto">
            <a:xfrm>
              <a:off x="1547813" y="4868863"/>
              <a:ext cx="576103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9709" name="Text Box 13"/>
            <p:cNvSpPr txBox="1">
              <a:spLocks noChangeArrowheads="1"/>
            </p:cNvSpPr>
            <p:nvPr/>
          </p:nvSpPr>
          <p:spPr bwMode="auto">
            <a:xfrm>
              <a:off x="5940425" y="5013326"/>
              <a:ext cx="960519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2400" dirty="0">
                  <a:solidFill>
                    <a:schemeClr val="accent2"/>
                  </a:solidFill>
                  <a:latin typeface="Tahoma" charset="0"/>
                </a:rPr>
                <a:t>CMPC</a:t>
              </a:r>
              <a:endParaRPr lang="fr-CA" sz="2400" baseline="-25000" dirty="0">
                <a:solidFill>
                  <a:schemeClr val="accent2"/>
                </a:solidFill>
                <a:latin typeface="Tahoma" charset="0"/>
              </a:endParaRPr>
            </a:p>
          </p:txBody>
        </p:sp>
        <p:sp>
          <p:nvSpPr>
            <p:cNvPr id="29712" name="Freeform 16"/>
            <p:cNvSpPr>
              <a:spLocks/>
            </p:cNvSpPr>
            <p:nvPr/>
          </p:nvSpPr>
          <p:spPr bwMode="auto">
            <a:xfrm>
              <a:off x="1547813" y="4868863"/>
              <a:ext cx="5545137" cy="6477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16" y="227"/>
                </a:cxn>
                <a:cxn ang="0">
                  <a:pos x="3493" y="408"/>
                </a:cxn>
              </a:cxnLst>
              <a:rect l="0" t="0" r="r" b="b"/>
              <a:pathLst>
                <a:path w="3493" h="408">
                  <a:moveTo>
                    <a:pt x="0" y="0"/>
                  </a:moveTo>
                  <a:cubicBezTo>
                    <a:pt x="117" y="79"/>
                    <a:pt x="234" y="159"/>
                    <a:pt x="816" y="227"/>
                  </a:cubicBezTo>
                  <a:cubicBezTo>
                    <a:pt x="1398" y="295"/>
                    <a:pt x="3055" y="393"/>
                    <a:pt x="3493" y="408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9716" name="Text Box 20"/>
            <p:cNvSpPr txBox="1">
              <a:spLocks noChangeArrowheads="1"/>
            </p:cNvSpPr>
            <p:nvPr/>
          </p:nvSpPr>
          <p:spPr bwMode="auto">
            <a:xfrm>
              <a:off x="7235825" y="2924175"/>
              <a:ext cx="490840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2400" dirty="0">
                  <a:solidFill>
                    <a:schemeClr val="accent2"/>
                  </a:solidFill>
                  <a:latin typeface="Tahoma" charset="0"/>
                </a:rPr>
                <a:t>R</a:t>
              </a:r>
              <a:r>
                <a:rPr lang="fr-CA" sz="2400" baseline="-25000" dirty="0">
                  <a:solidFill>
                    <a:schemeClr val="accent2"/>
                  </a:solidFill>
                  <a:latin typeface="Tahoma" charset="0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357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Démonstration de M&amp;M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lvl="1" indent="0">
              <a:lnSpc>
                <a:spcPct val="90000"/>
              </a:lnSpc>
              <a:buNone/>
            </a:pPr>
            <a:r>
              <a:rPr lang="fr-CA" sz="2000" dirty="0"/>
              <a:t>La structure de capital optimale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CA" sz="2000" dirty="0"/>
          </a:p>
          <a:p>
            <a:pPr marL="803275" lvl="2" indent="-268288">
              <a:lnSpc>
                <a:spcPct val="90000"/>
              </a:lnSpc>
            </a:pPr>
            <a:r>
              <a:rPr lang="fr-CA" sz="2000" dirty="0"/>
              <a:t>Démonstration de Modigliani &amp; Miller (M&amp;M)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1 : Contexte: ≠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2 : Contexte: =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>
                <a:solidFill>
                  <a:schemeClr val="accent1"/>
                </a:solidFill>
              </a:rPr>
              <a:t>Étape 3 : Contexte: = impôt = coûts de faillite</a:t>
            </a:r>
          </a:p>
          <a:p>
            <a:pPr marL="803275" lvl="2" indent="-265113">
              <a:lnSpc>
                <a:spcPct val="90000"/>
              </a:lnSpc>
            </a:pPr>
            <a:r>
              <a:rPr lang="fr-CA" sz="2000" dirty="0"/>
              <a:t>Conclusion :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18363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CA" sz="3600" u="sng" dirty="0"/>
              <a:t>Étape 3 : avec impôt et coût de faillite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sz="2800" dirty="0">
                <a:solidFill>
                  <a:schemeClr val="accent1"/>
                </a:solidFill>
              </a:rPr>
              <a:t>Coûts de faillite (CDF) : </a:t>
            </a:r>
            <a:r>
              <a:rPr lang="fr-CA" sz="2800" dirty="0"/>
              <a:t>probabilité de ne pas honorer les intérêts dus aux détenteurs de dette </a:t>
            </a:r>
            <a:r>
              <a:rPr lang="fr-CA" sz="2000" dirty="0"/>
              <a:t>(voir définition précédente)</a:t>
            </a:r>
            <a:endParaRPr lang="fr-CA" sz="2800" dirty="0"/>
          </a:p>
          <a:p>
            <a:endParaRPr lang="fr-CA" sz="1000" dirty="0"/>
          </a:p>
          <a:p>
            <a:pPr marL="0" indent="0">
              <a:buFontTx/>
              <a:buNone/>
            </a:pPr>
            <a:r>
              <a:rPr lang="fr-CA" sz="2800" dirty="0"/>
              <a:t>Plus l’endettement augmente, plus les coûts de détresse financière augmentent…</a:t>
            </a:r>
          </a:p>
        </p:txBody>
      </p:sp>
      <p:sp>
        <p:nvSpPr>
          <p:cNvPr id="30724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68313" y="4192191"/>
            <a:ext cx="8424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0725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300791" y="4192191"/>
            <a:ext cx="2420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Niveau d’endettement</a:t>
            </a:r>
          </a:p>
        </p:txBody>
      </p:sp>
      <p:sp>
        <p:nvSpPr>
          <p:cNvPr id="30726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9750" y="3799286"/>
            <a:ext cx="14430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latin typeface="Tahoma" charset="0"/>
              </a:rPr>
              <a:t>EÎ</a:t>
            </a:r>
            <a:r>
              <a:rPr lang="fr-CA" sz="2400" dirty="0">
                <a:solidFill>
                  <a:schemeClr val="tx2"/>
                </a:solidFill>
                <a:latin typeface="Tahoma" charset="0"/>
              </a:rPr>
              <a:t> &gt; </a:t>
            </a:r>
            <a:r>
              <a:rPr lang="fr-CA" sz="2400" dirty="0">
                <a:latin typeface="Tahoma" charset="0"/>
              </a:rPr>
              <a:t>CDF</a:t>
            </a:r>
          </a:p>
        </p:txBody>
      </p:sp>
      <p:sp>
        <p:nvSpPr>
          <p:cNvPr id="30727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92950" y="3813573"/>
            <a:ext cx="14430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latin typeface="Tahoma" charset="0"/>
              </a:rPr>
              <a:t>EÎ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&lt;</a:t>
            </a:r>
            <a:r>
              <a:rPr lang="fr-CA" sz="2400" dirty="0">
                <a:latin typeface="Tahoma" charset="0"/>
              </a:rPr>
              <a:t> CDF</a:t>
            </a:r>
          </a:p>
        </p:txBody>
      </p:sp>
      <p:sp>
        <p:nvSpPr>
          <p:cNvPr id="30728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995739" y="3759995"/>
            <a:ext cx="14430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solidFill>
                  <a:schemeClr val="tx2"/>
                </a:solidFill>
                <a:latin typeface="Tahoma" charset="0"/>
              </a:rPr>
              <a:t>EÎ = CDF</a:t>
            </a:r>
          </a:p>
        </p:txBody>
      </p:sp>
      <p:sp>
        <p:nvSpPr>
          <p:cNvPr id="30729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4643438" y="4083845"/>
            <a:ext cx="0" cy="216694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0730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427538" y="4245770"/>
            <a:ext cx="40908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3200" dirty="0">
                <a:solidFill>
                  <a:schemeClr val="tx2"/>
                </a:solidFill>
                <a:latin typeface="Tahoma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47692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  <p:bldP spid="30725" grpId="0"/>
      <p:bldP spid="30726" grpId="0"/>
      <p:bldP spid="30727" grpId="0"/>
      <p:bldP spid="30728" grpId="0"/>
      <p:bldP spid="30729" grpId="0" animBg="1"/>
      <p:bldP spid="307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CA" sz="3600" u="sng" dirty="0"/>
              <a:t>Étape 3 : avec impôt et coût de faillite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25958"/>
            <a:ext cx="8186400" cy="3063150"/>
          </a:xfrm>
        </p:spPr>
        <p:txBody>
          <a:bodyPr>
            <a:normAutofit/>
          </a:bodyPr>
          <a:lstStyle/>
          <a:p>
            <a:pPr marL="268288" indent="-268288"/>
            <a:r>
              <a:rPr lang="fr-CA" sz="2400" dirty="0"/>
              <a:t>En terme de valeur d’entreprise, on trouve donc que :</a:t>
            </a:r>
          </a:p>
          <a:p>
            <a:endParaRPr lang="fr-CA" sz="2400" dirty="0"/>
          </a:p>
          <a:p>
            <a:endParaRPr lang="fr-CA" sz="2400" dirty="0"/>
          </a:p>
          <a:p>
            <a:endParaRPr lang="fr-CA" sz="2400" dirty="0"/>
          </a:p>
          <a:p>
            <a:endParaRPr lang="fr-CA" sz="2400" dirty="0"/>
          </a:p>
          <a:p>
            <a:endParaRPr lang="fr-CA" sz="2400" dirty="0"/>
          </a:p>
          <a:p>
            <a:endParaRPr lang="fr-CA" sz="2400" dirty="0"/>
          </a:p>
        </p:txBody>
      </p:sp>
      <p:sp>
        <p:nvSpPr>
          <p:cNvPr id="3174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404938" y="1869282"/>
            <a:ext cx="0" cy="25396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4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1404941" y="4407695"/>
            <a:ext cx="6048375" cy="119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0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-200282" y="2819281"/>
            <a:ext cx="1987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Valeur de la firme</a:t>
            </a:r>
          </a:p>
        </p:txBody>
      </p:sp>
      <p:sp>
        <p:nvSpPr>
          <p:cNvPr id="31751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30840" y="4695944"/>
            <a:ext cx="2420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Niveau d’endettement</a:t>
            </a:r>
          </a:p>
        </p:txBody>
      </p:sp>
      <p:sp>
        <p:nvSpPr>
          <p:cNvPr id="31752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403352" y="3543300"/>
            <a:ext cx="5832475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3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1403350" y="1707357"/>
            <a:ext cx="5905500" cy="1835944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4" name="Freeform 10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403350" y="2697957"/>
            <a:ext cx="5545138" cy="845344"/>
          </a:xfrm>
          <a:custGeom>
            <a:avLst/>
            <a:gdLst/>
            <a:ahLst/>
            <a:cxnLst>
              <a:cxn ang="0">
                <a:pos x="0" y="710"/>
              </a:cxn>
              <a:cxn ang="0">
                <a:pos x="2223" y="30"/>
              </a:cxn>
              <a:cxn ang="0">
                <a:pos x="3493" y="529"/>
              </a:cxn>
            </a:cxnLst>
            <a:rect l="0" t="0" r="r" b="b"/>
            <a:pathLst>
              <a:path w="3493" h="710">
                <a:moveTo>
                  <a:pt x="0" y="710"/>
                </a:moveTo>
                <a:cubicBezTo>
                  <a:pt x="820" y="385"/>
                  <a:pt x="1641" y="60"/>
                  <a:pt x="2223" y="30"/>
                </a:cubicBezTo>
                <a:cubicBezTo>
                  <a:pt x="2805" y="0"/>
                  <a:pt x="3149" y="264"/>
                  <a:pt x="3493" y="529"/>
                </a:cubicBezTo>
              </a:path>
            </a:pathLst>
          </a:custGeom>
          <a:noFill/>
          <a:ln w="38100" cmpd="sng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5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1403353" y="2733675"/>
            <a:ext cx="3673475" cy="0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6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076825" y="2733676"/>
            <a:ext cx="0" cy="1674019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7" name="Text Box 1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950914" y="2582466"/>
            <a:ext cx="4491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Tahoma" charset="0"/>
              </a:rPr>
              <a:t>V*</a:t>
            </a:r>
            <a:endParaRPr lang="fr-CA" dirty="0">
              <a:solidFill>
                <a:schemeClr val="accent2"/>
              </a:solidFill>
              <a:latin typeface="Tahoma" charset="0"/>
            </a:endParaRPr>
          </a:p>
        </p:txBody>
      </p:sp>
      <p:sp>
        <p:nvSpPr>
          <p:cNvPr id="31758" name="Text Box 14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932364" y="4462463"/>
            <a:ext cx="577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Tahoma" charset="0"/>
              </a:rPr>
              <a:t>SC*</a:t>
            </a:r>
            <a:endParaRPr lang="fr-CA" dirty="0">
              <a:solidFill>
                <a:schemeClr val="accent2"/>
              </a:solidFill>
              <a:latin typeface="Tahoma" charset="0"/>
            </a:endParaRPr>
          </a:p>
        </p:txBody>
      </p:sp>
      <p:sp>
        <p:nvSpPr>
          <p:cNvPr id="31759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6156325" y="2085976"/>
            <a:ext cx="0" cy="14573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60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6372225" y="2031206"/>
            <a:ext cx="0" cy="97274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61" name="Text Box 1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651500" y="2356248"/>
            <a:ext cx="4732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solidFill>
                  <a:schemeClr val="tx2"/>
                </a:solidFill>
                <a:latin typeface="Tahoma" charset="0"/>
              </a:rPr>
              <a:t>EÎ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372225" y="2356248"/>
            <a:ext cx="737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solidFill>
                  <a:schemeClr val="accent2"/>
                </a:solidFill>
                <a:latin typeface="Tahoma" charset="0"/>
              </a:rPr>
              <a:t>CDF</a:t>
            </a:r>
          </a:p>
        </p:txBody>
      </p:sp>
    </p:spTree>
    <p:extLst>
      <p:ext uri="{BB962C8B-B14F-4D97-AF65-F5344CB8AC3E}">
        <p14:creationId xmlns:p14="http://schemas.microsoft.com/office/powerpoint/2010/main" val="73077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nimBg="1"/>
      <p:bldP spid="31749" grpId="0" animBg="1"/>
      <p:bldP spid="31750" grpId="0"/>
      <p:bldP spid="31751" grpId="0"/>
      <p:bldP spid="31752" grpId="0" animBg="1"/>
      <p:bldP spid="31753" grpId="0" animBg="1"/>
      <p:bldP spid="31754" grpId="0" animBg="1"/>
      <p:bldP spid="31755" grpId="0" animBg="1"/>
      <p:bldP spid="31756" grpId="0" animBg="1"/>
      <p:bldP spid="31757" grpId="0"/>
      <p:bldP spid="31758" grpId="0"/>
      <p:bldP spid="31759" grpId="0" animBg="1"/>
      <p:bldP spid="31760" grpId="0" animBg="1"/>
      <p:bldP spid="31761" grpId="0"/>
      <p:bldP spid="3176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CA" sz="3600" u="sng" dirty="0"/>
              <a:t>Étape 3 : avec impôt et coût de faillite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186400" cy="3116727"/>
          </a:xfrm>
        </p:spPr>
        <p:txBody>
          <a:bodyPr>
            <a:normAutofit/>
          </a:bodyPr>
          <a:lstStyle/>
          <a:p>
            <a:pPr marL="268288" indent="-268288">
              <a:tabLst>
                <a:tab pos="268288" algn="l"/>
              </a:tabLst>
            </a:pPr>
            <a:r>
              <a:rPr lang="en-US" sz="2400" dirty="0"/>
              <a:t>En </a:t>
            </a:r>
            <a:r>
              <a:rPr lang="en-US" sz="2400" dirty="0" err="1"/>
              <a:t>terme</a:t>
            </a:r>
            <a:r>
              <a:rPr lang="en-US" sz="2400" dirty="0"/>
              <a:t> de </a:t>
            </a:r>
            <a:r>
              <a:rPr lang="en-US" sz="2400" dirty="0" err="1"/>
              <a:t>coût</a:t>
            </a:r>
            <a:r>
              <a:rPr lang="en-US" sz="2400" dirty="0"/>
              <a:t> du capital :</a:t>
            </a:r>
            <a:endParaRPr lang="fr-CA" sz="2400" dirty="0"/>
          </a:p>
        </p:txBody>
      </p:sp>
      <p:sp>
        <p:nvSpPr>
          <p:cNvPr id="32772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 flipV="1">
            <a:off x="1547812" y="1563637"/>
            <a:ext cx="1" cy="295240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73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547816" y="4516041"/>
            <a:ext cx="6624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74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442180" y="2140055"/>
            <a:ext cx="1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Coût du capital</a:t>
            </a:r>
          </a:p>
        </p:txBody>
      </p:sp>
      <p:sp>
        <p:nvSpPr>
          <p:cNvPr id="32775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55901" y="4736276"/>
            <a:ext cx="5597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D/E</a:t>
            </a:r>
          </a:p>
        </p:txBody>
      </p:sp>
      <p:sp>
        <p:nvSpPr>
          <p:cNvPr id="32776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308852" y="3868342"/>
            <a:ext cx="12538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solidFill>
                  <a:schemeClr val="tx2"/>
                </a:solidFill>
                <a:latin typeface="Tahoma" charset="0"/>
              </a:rPr>
              <a:t>R</a:t>
            </a:r>
            <a:r>
              <a:rPr lang="fr-CA" sz="2400" baseline="-25000" dirty="0">
                <a:solidFill>
                  <a:schemeClr val="tx2"/>
                </a:solidFill>
                <a:latin typeface="Tahoma" charset="0"/>
              </a:rPr>
              <a:t>D</a:t>
            </a:r>
            <a:r>
              <a:rPr lang="fr-CA" sz="2400" dirty="0">
                <a:solidFill>
                  <a:schemeClr val="tx2"/>
                </a:solidFill>
                <a:latin typeface="Tahoma" charset="0"/>
              </a:rPr>
              <a:t>(1-T</a:t>
            </a:r>
            <a:r>
              <a:rPr lang="fr-CA" sz="2400" baseline="-25000" dirty="0">
                <a:solidFill>
                  <a:schemeClr val="tx2"/>
                </a:solidFill>
                <a:latin typeface="Tahoma" charset="0"/>
              </a:rPr>
              <a:t>c</a:t>
            </a:r>
            <a:r>
              <a:rPr lang="fr-CA" sz="2400" dirty="0">
                <a:solidFill>
                  <a:schemeClr val="tx2"/>
                </a:solidFill>
                <a:latin typeface="Tahoma" charset="0"/>
              </a:rPr>
              <a:t>)</a:t>
            </a:r>
            <a:endParaRPr lang="fr-CA" sz="2400" baseline="-25000" dirty="0">
              <a:solidFill>
                <a:schemeClr val="tx2"/>
              </a:solidFill>
              <a:latin typeface="Tahoma" charset="0"/>
            </a:endParaRPr>
          </a:p>
        </p:txBody>
      </p:sp>
      <p:sp>
        <p:nvSpPr>
          <p:cNvPr id="32777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1547813" y="1977630"/>
            <a:ext cx="5688012" cy="1350169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78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547816" y="3327797"/>
            <a:ext cx="5761037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79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300790" y="3489723"/>
            <a:ext cx="9605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solidFill>
                  <a:schemeClr val="accent2"/>
                </a:solidFill>
                <a:latin typeface="Tahoma" charset="0"/>
              </a:rPr>
              <a:t>CMPC</a:t>
            </a:r>
            <a:endParaRPr lang="fr-CA" sz="2400" baseline="-25000" dirty="0">
              <a:solidFill>
                <a:schemeClr val="accent2"/>
              </a:solidFill>
              <a:latin typeface="Tahoma" charset="0"/>
            </a:endParaRPr>
          </a:p>
        </p:txBody>
      </p:sp>
      <p:sp>
        <p:nvSpPr>
          <p:cNvPr id="32782" name="Freeform 14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547813" y="3327798"/>
            <a:ext cx="5472112" cy="39647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69" y="318"/>
              </a:cxn>
              <a:cxn ang="0">
                <a:pos x="3447" y="91"/>
              </a:cxn>
            </a:cxnLst>
            <a:rect l="0" t="0" r="r" b="b"/>
            <a:pathLst>
              <a:path w="3447" h="333">
                <a:moveTo>
                  <a:pt x="0" y="0"/>
                </a:moveTo>
                <a:cubicBezTo>
                  <a:pt x="597" y="151"/>
                  <a:pt x="1195" y="303"/>
                  <a:pt x="1769" y="318"/>
                </a:cubicBezTo>
                <a:cubicBezTo>
                  <a:pt x="2343" y="333"/>
                  <a:pt x="3114" y="182"/>
                  <a:pt x="3447" y="91"/>
                </a:cubicBezTo>
              </a:path>
            </a:pathLst>
          </a:custGeom>
          <a:noFill/>
          <a:ln w="38100" cmpd="sng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83" name="Line 15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1547815" y="4192191"/>
            <a:ext cx="3240087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84" name="Freeform 16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787900" y="3813574"/>
            <a:ext cx="2808288" cy="378619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1225" y="227"/>
              </a:cxn>
              <a:cxn ang="0">
                <a:pos x="1769" y="0"/>
              </a:cxn>
            </a:cxnLst>
            <a:rect l="0" t="0" r="r" b="b"/>
            <a:pathLst>
              <a:path w="1769" h="318">
                <a:moveTo>
                  <a:pt x="0" y="318"/>
                </a:moveTo>
                <a:cubicBezTo>
                  <a:pt x="465" y="299"/>
                  <a:pt x="930" y="280"/>
                  <a:pt x="1225" y="227"/>
                </a:cubicBezTo>
                <a:cubicBezTo>
                  <a:pt x="1520" y="174"/>
                  <a:pt x="1671" y="45"/>
                  <a:pt x="1769" y="0"/>
                </a:cubicBezTo>
              </a:path>
            </a:pathLst>
          </a:custGeom>
          <a:noFill/>
          <a:ln w="28575" cmpd="sng">
            <a:solidFill>
              <a:schemeClr val="tx2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85" name="Line 17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00563" y="3706417"/>
            <a:ext cx="0" cy="809625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86" name="Line 18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H="1">
            <a:off x="1547813" y="3706416"/>
            <a:ext cx="2952750" cy="0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2787" name="Text Box 19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68314" y="3489723"/>
            <a:ext cx="11288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Tahoma" charset="0"/>
              </a:rPr>
              <a:t>CMPC*</a:t>
            </a:r>
            <a:endParaRPr lang="fr-CA" sz="2400" dirty="0">
              <a:solidFill>
                <a:schemeClr val="accent2"/>
              </a:solidFill>
              <a:latin typeface="Tahoma" charset="0"/>
            </a:endParaRPr>
          </a:p>
        </p:txBody>
      </p:sp>
      <p:sp>
        <p:nvSpPr>
          <p:cNvPr id="32788" name="Text Box 20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284663" y="4568430"/>
            <a:ext cx="8515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solidFill>
                  <a:schemeClr val="accent2"/>
                </a:solidFill>
                <a:latin typeface="Tahoma" charset="0"/>
              </a:rPr>
              <a:t>D/E*</a:t>
            </a:r>
          </a:p>
        </p:txBody>
      </p:sp>
      <p:sp>
        <p:nvSpPr>
          <p:cNvPr id="32790" name="Text Box 22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235826" y="1815704"/>
            <a:ext cx="490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solidFill>
                  <a:schemeClr val="tx2"/>
                </a:solidFill>
                <a:latin typeface="Tahoma" charset="0"/>
              </a:rPr>
              <a:t>R</a:t>
            </a:r>
            <a:r>
              <a:rPr lang="fr-CA" sz="2400" baseline="-25000" dirty="0">
                <a:solidFill>
                  <a:schemeClr val="tx2"/>
                </a:solidFill>
                <a:latin typeface="Tahoma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6650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nimBg="1"/>
      <p:bldP spid="32773" grpId="0" animBg="1"/>
      <p:bldP spid="32774" grpId="0"/>
      <p:bldP spid="32775" grpId="0"/>
      <p:bldP spid="32776" grpId="0"/>
      <p:bldP spid="32777" grpId="0" animBg="1"/>
      <p:bldP spid="32778" grpId="0" animBg="1"/>
      <p:bldP spid="32779" grpId="0"/>
      <p:bldP spid="32782" grpId="0" animBg="1"/>
      <p:bldP spid="32783" grpId="0" animBg="1"/>
      <p:bldP spid="32784" grpId="0" animBg="1"/>
      <p:bldP spid="32785" grpId="0" animBg="1"/>
      <p:bldP spid="32786" grpId="0" animBg="1"/>
      <p:bldP spid="32787" grpId="0"/>
      <p:bldP spid="3278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Démonstration de M&amp;M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21582"/>
            <a:ext cx="8485816" cy="3618310"/>
          </a:xfrm>
        </p:spPr>
        <p:txBody>
          <a:bodyPr/>
          <a:lstStyle/>
          <a:p>
            <a:pPr marL="0" lvl="1" indent="0">
              <a:lnSpc>
                <a:spcPct val="90000"/>
              </a:lnSpc>
              <a:buNone/>
            </a:pPr>
            <a:r>
              <a:rPr lang="fr-CA" sz="2000" dirty="0"/>
              <a:t>La structure de capital optimale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CA" sz="2000" dirty="0"/>
          </a:p>
          <a:p>
            <a:pPr marL="803275" lvl="2" indent="-268288">
              <a:lnSpc>
                <a:spcPct val="90000"/>
              </a:lnSpc>
            </a:pPr>
            <a:r>
              <a:rPr lang="fr-CA" sz="2000" dirty="0"/>
              <a:t>Démonstration de Modigliani &amp; Miller (M&amp;M)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1 : Contexte: ≠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2 : Contexte: = impôt ≠ coûts de faillite</a:t>
            </a:r>
          </a:p>
          <a:p>
            <a:pPr marL="1081088" lvl="3" indent="-277813">
              <a:lnSpc>
                <a:spcPct val="90000"/>
              </a:lnSpc>
            </a:pPr>
            <a:r>
              <a:rPr lang="fr-CA" sz="2000" dirty="0"/>
              <a:t>Étape 3 : Contexte: = impôt = coûts de faillite</a:t>
            </a:r>
          </a:p>
          <a:p>
            <a:pPr marL="803275" lvl="2" indent="-265113">
              <a:lnSpc>
                <a:spcPct val="90000"/>
              </a:lnSpc>
            </a:pPr>
            <a:r>
              <a:rPr lang="fr-CA" sz="2000" dirty="0">
                <a:solidFill>
                  <a:schemeClr val="accent1"/>
                </a:solidFill>
              </a:rPr>
              <a:t>Conclusion :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CA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835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fr-CA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2500" lnSpcReduction="20000"/>
          </a:bodyPr>
          <a:lstStyle/>
          <a:p>
            <a:pPr marL="268288" indent="-268288"/>
            <a:r>
              <a:rPr lang="en-US" sz="2800" dirty="0">
                <a:solidFill>
                  <a:schemeClr val="accent2"/>
                </a:solidFill>
              </a:rPr>
              <a:t>Il </a:t>
            </a:r>
            <a:r>
              <a:rPr lang="en-US" sz="2800" dirty="0" err="1">
                <a:solidFill>
                  <a:schemeClr val="accent2"/>
                </a:solidFill>
              </a:rPr>
              <a:t>existe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 err="1">
                <a:solidFill>
                  <a:schemeClr val="accent2"/>
                </a:solidFill>
              </a:rPr>
              <a:t>donc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 err="1">
                <a:solidFill>
                  <a:schemeClr val="accent2"/>
                </a:solidFill>
              </a:rPr>
              <a:t>une</a:t>
            </a:r>
            <a:r>
              <a:rPr lang="en-US" sz="2800" dirty="0">
                <a:solidFill>
                  <a:schemeClr val="accent2"/>
                </a:solidFill>
              </a:rPr>
              <a:t> structure de capital </a:t>
            </a:r>
            <a:r>
              <a:rPr lang="en-US" sz="2800" dirty="0" err="1">
                <a:solidFill>
                  <a:schemeClr val="accent2"/>
                </a:solidFill>
              </a:rPr>
              <a:t>optimale</a:t>
            </a:r>
            <a:r>
              <a:rPr lang="en-US" sz="2800" dirty="0">
                <a:solidFill>
                  <a:schemeClr val="accent2"/>
                </a:solidFill>
              </a:rPr>
              <a:t>! </a:t>
            </a:r>
          </a:p>
          <a:p>
            <a:pPr marL="268288" indent="-268288">
              <a:buFontTx/>
              <a:buNone/>
            </a:pPr>
            <a:r>
              <a:rPr lang="en-US" sz="2800" dirty="0"/>
              <a:t>	</a:t>
            </a:r>
            <a:r>
              <a:rPr lang="en-US" sz="2800" dirty="0" err="1"/>
              <a:t>Cependant</a:t>
            </a:r>
            <a:r>
              <a:rPr lang="en-US" sz="2800" dirty="0"/>
              <a:t>, </a:t>
            </a:r>
            <a:r>
              <a:rPr lang="en-US" sz="2800" dirty="0" err="1"/>
              <a:t>celle</a:t>
            </a:r>
            <a:r>
              <a:rPr lang="en-US" sz="2800" dirty="0"/>
              <a:t>-ci </a:t>
            </a:r>
            <a:r>
              <a:rPr lang="en-US" sz="2800" dirty="0" err="1"/>
              <a:t>est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2"/>
                </a:solidFill>
              </a:rPr>
              <a:t>difficile à </a:t>
            </a:r>
            <a:r>
              <a:rPr lang="en-US" sz="2800" dirty="0" err="1">
                <a:solidFill>
                  <a:schemeClr val="tx2"/>
                </a:solidFill>
              </a:rPr>
              <a:t>déterminer</a:t>
            </a:r>
            <a:r>
              <a:rPr lang="en-US" sz="2800" dirty="0">
                <a:solidFill>
                  <a:schemeClr val="tx2"/>
                </a:solidFill>
              </a:rPr>
              <a:t> en </a:t>
            </a:r>
            <a:r>
              <a:rPr lang="en-US" sz="2800" dirty="0" err="1">
                <a:solidFill>
                  <a:schemeClr val="tx2"/>
                </a:solidFill>
              </a:rPr>
              <a:t>pratique</a:t>
            </a:r>
            <a:r>
              <a:rPr lang="en-US" sz="2800" dirty="0"/>
              <a:t>… Les </a:t>
            </a:r>
            <a:r>
              <a:rPr lang="en-US" sz="2800" dirty="0" err="1"/>
              <a:t>dirigeants</a:t>
            </a:r>
            <a:r>
              <a:rPr lang="en-US" sz="2800" dirty="0"/>
              <a:t> </a:t>
            </a:r>
            <a:r>
              <a:rPr lang="en-US" sz="2800" dirty="0" err="1"/>
              <a:t>doivent</a:t>
            </a:r>
            <a:r>
              <a:rPr lang="en-US" sz="2800" dirty="0"/>
              <a:t> </a:t>
            </a:r>
            <a:r>
              <a:rPr lang="en-US" sz="2800" dirty="0" err="1"/>
              <a:t>donc</a:t>
            </a:r>
            <a:r>
              <a:rPr lang="en-US" sz="2800" dirty="0"/>
              <a:t> se </a:t>
            </a:r>
            <a:r>
              <a:rPr lang="en-US" sz="2800" dirty="0" err="1"/>
              <a:t>fier</a:t>
            </a:r>
            <a:r>
              <a:rPr lang="en-US" sz="2800" dirty="0"/>
              <a:t> à :</a:t>
            </a:r>
          </a:p>
          <a:p>
            <a:pPr marL="534988" lvl="1" indent="-265113"/>
            <a:r>
              <a:rPr lang="fr-CA" sz="2400" dirty="0"/>
              <a:t>leurs connaissances de la théorie financière</a:t>
            </a:r>
          </a:p>
          <a:p>
            <a:pPr marL="534988" lvl="1" indent="-265113"/>
            <a:r>
              <a:rPr lang="fr-CA" sz="2400" dirty="0"/>
              <a:t>leurs connaissances de l’entreprise</a:t>
            </a:r>
          </a:p>
          <a:p>
            <a:pPr marL="534988" lvl="1" indent="-265113"/>
            <a:r>
              <a:rPr lang="fr-CA" sz="2400" dirty="0"/>
              <a:t>leurs connaissances de l’économie et du secteur</a:t>
            </a:r>
          </a:p>
          <a:p>
            <a:pPr marL="534988" lvl="1" indent="-265113"/>
            <a:r>
              <a:rPr lang="fr-CA" sz="2400" dirty="0"/>
              <a:t>leurs connaissances des compétiteurs</a:t>
            </a:r>
          </a:p>
          <a:p>
            <a:pPr marL="534988" lvl="1" indent="-265113"/>
            <a:r>
              <a:rPr lang="fr-CA" sz="2400" dirty="0"/>
              <a:t>etc.</a:t>
            </a:r>
          </a:p>
          <a:p>
            <a:endParaRPr lang="fr-CA" sz="2800" dirty="0"/>
          </a:p>
        </p:txBody>
      </p:sp>
    </p:spTree>
    <p:extLst>
      <p:ext uri="{BB962C8B-B14F-4D97-AF65-F5344CB8AC3E}">
        <p14:creationId xmlns:p14="http://schemas.microsoft.com/office/powerpoint/2010/main" val="1286096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330548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HEC" id="{7465C618-7679-4EFC-97C4-7229E9764B6E}" vid="{8FDDE1AC-1B25-4CFF-908F-B02124D657E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ThèmeHEC</Template>
  <TotalTime>6912</TotalTime>
  <Words>1841</Words>
  <Application>Microsoft Office PowerPoint</Application>
  <PresentationFormat>Affichage à l'écran (16:9)</PresentationFormat>
  <Paragraphs>279</Paragraphs>
  <Slides>30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8" baseType="lpstr">
      <vt:lpstr>Arial</vt:lpstr>
      <vt:lpstr>Calibri</vt:lpstr>
      <vt:lpstr>Monotype Sorts</vt:lpstr>
      <vt:lpstr>Tahoma</vt:lpstr>
      <vt:lpstr>Times New Roman</vt:lpstr>
      <vt:lpstr>Wingdings</vt:lpstr>
      <vt:lpstr>ThèmeHEC</vt:lpstr>
      <vt:lpstr>Equation</vt:lpstr>
      <vt:lpstr>Chapitre 16</vt:lpstr>
      <vt:lpstr>Décision : structure de capital</vt:lpstr>
      <vt:lpstr>Décision : structure de capital</vt:lpstr>
      <vt:lpstr>Décision : structure de capital</vt:lpstr>
      <vt:lpstr>Décision : structure de capital</vt:lpstr>
      <vt:lpstr>Décision : structure de capital</vt:lpstr>
      <vt:lpstr>Décision : structure de capital</vt:lpstr>
      <vt:lpstr>Décision : structure de capital</vt:lpstr>
      <vt:lpstr>Décision : structure de capital</vt:lpstr>
      <vt:lpstr>Décision : structure de capital</vt:lpstr>
      <vt:lpstr>Décision : structure de capital</vt:lpstr>
      <vt:lpstr>Décision : structure de capital</vt:lpstr>
      <vt:lpstr>Décision : structure de capital</vt:lpstr>
      <vt:lpstr>Présentation PowerPoint</vt:lpstr>
      <vt:lpstr>Chapitre 16</vt:lpstr>
      <vt:lpstr>Démonstration de M&amp;M</vt:lpstr>
      <vt:lpstr>Démonstration de M&amp;M</vt:lpstr>
      <vt:lpstr>Démonstration de M&amp;M</vt:lpstr>
      <vt:lpstr>Étape 1 : sans impôt ni coût de faillite</vt:lpstr>
      <vt:lpstr>Étape 1 : sans impôt ni coût de faillite</vt:lpstr>
      <vt:lpstr>Démonstration de M&amp;M</vt:lpstr>
      <vt:lpstr>Étape 2 : avec impôt, sans coût de faillite</vt:lpstr>
      <vt:lpstr>Étape 2 : avec impôt, sans coût de faillite</vt:lpstr>
      <vt:lpstr>Démonstration de M&amp;M</vt:lpstr>
      <vt:lpstr>Étape 3 : avec impôt et coût de faillite</vt:lpstr>
      <vt:lpstr>Étape 3 : avec impôt et coût de faillite</vt:lpstr>
      <vt:lpstr>Étape 3 : avec impôt et coût de faillite</vt:lpstr>
      <vt:lpstr>Démonstration de M&amp;M</vt:lpstr>
      <vt:lpstr>Conclusion</vt:lpstr>
      <vt:lpstr>Présentation PowerPoint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Séances 9</dc:title>
  <dc:creator>User</dc:creator>
  <cp:lastModifiedBy>marie-helene allard</cp:lastModifiedBy>
  <cp:revision>62</cp:revision>
  <dcterms:created xsi:type="dcterms:W3CDTF">2006-02-13T17:45:05Z</dcterms:created>
  <dcterms:modified xsi:type="dcterms:W3CDTF">2020-07-30T13:24:15Z</dcterms:modified>
</cp:coreProperties>
</file>