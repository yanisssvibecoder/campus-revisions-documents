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0.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notesSlides/notesSlide13.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1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6.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7.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8.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19.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0.xml" ContentType="application/vnd.openxmlformats-officedocument.presentationml.notesSlide+xml"/>
  <Override PartName="/ppt/tags/tag108.xml" ContentType="application/vnd.openxmlformats-officedocument.presentationml.tags+xml"/>
  <Override PartName="/ppt/notesSlides/notesSlide21.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23.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4.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6.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27.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9.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5"/>
  </p:notesMasterIdLst>
  <p:handoutMasterIdLst>
    <p:handoutMasterId r:id="rId36"/>
  </p:handoutMasterIdLst>
  <p:sldIdLst>
    <p:sldId id="542" r:id="rId5"/>
    <p:sldId id="1557" r:id="rId6"/>
    <p:sldId id="1568" r:id="rId7"/>
    <p:sldId id="1559" r:id="rId8"/>
    <p:sldId id="1506" r:id="rId9"/>
    <p:sldId id="1573" r:id="rId10"/>
    <p:sldId id="1507" r:id="rId11"/>
    <p:sldId id="1508" r:id="rId12"/>
    <p:sldId id="1509" r:id="rId13"/>
    <p:sldId id="1514" r:id="rId14"/>
    <p:sldId id="1561" r:id="rId15"/>
    <p:sldId id="1531" r:id="rId16"/>
    <p:sldId id="1567" r:id="rId17"/>
    <p:sldId id="1565" r:id="rId18"/>
    <p:sldId id="1525" r:id="rId19"/>
    <p:sldId id="1526" r:id="rId20"/>
    <p:sldId id="1533" r:id="rId21"/>
    <p:sldId id="1538" r:id="rId22"/>
    <p:sldId id="1534" r:id="rId23"/>
    <p:sldId id="1535" r:id="rId24"/>
    <p:sldId id="1574" r:id="rId25"/>
    <p:sldId id="1539" r:id="rId26"/>
    <p:sldId id="1540" r:id="rId27"/>
    <p:sldId id="1572" r:id="rId28"/>
    <p:sldId id="1546" r:id="rId29"/>
    <p:sldId id="1544" r:id="rId30"/>
    <p:sldId id="1545" r:id="rId31"/>
    <p:sldId id="1547" r:id="rId32"/>
    <p:sldId id="1548" r:id="rId33"/>
    <p:sldId id="1549" r:id="rId34"/>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4" id="{29F2F948-010D-4051-BD4E-77C7EB96EF33}">
          <p14:sldIdLst>
            <p14:sldId id="542"/>
            <p14:sldId id="1557"/>
            <p14:sldId id="1568"/>
            <p14:sldId id="1559"/>
            <p14:sldId id="1506"/>
            <p14:sldId id="1573"/>
            <p14:sldId id="1507"/>
            <p14:sldId id="1508"/>
            <p14:sldId id="1509"/>
            <p14:sldId id="1514"/>
            <p14:sldId id="1561"/>
            <p14:sldId id="1531"/>
            <p14:sldId id="1567"/>
            <p14:sldId id="1565"/>
            <p14:sldId id="1525"/>
            <p14:sldId id="1526"/>
            <p14:sldId id="1533"/>
            <p14:sldId id="1538"/>
            <p14:sldId id="1534"/>
            <p14:sldId id="1535"/>
            <p14:sldId id="1574"/>
            <p14:sldId id="1539"/>
            <p14:sldId id="1540"/>
            <p14:sldId id="1572"/>
            <p14:sldId id="1546"/>
            <p14:sldId id="1544"/>
            <p14:sldId id="1545"/>
            <p14:sldId id="1547"/>
            <p14:sldId id="1548"/>
            <p14:sldId id="154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echa philion" initials="lp" lastIdx="2" clrIdx="0">
    <p:extLst>
      <p:ext uri="{19B8F6BF-5375-455C-9EA6-DF929625EA0E}">
        <p15:presenceInfo xmlns:p15="http://schemas.microsoft.com/office/powerpoint/2012/main" userId="S::loecha.philion@hec.ca::0f598feb-c4c0-4dda-b2c1-17de97a013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EF6F0"/>
    <a:srgbClr val="FDEF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61985" autoAdjust="0"/>
  </p:normalViewPr>
  <p:slideViewPr>
    <p:cSldViewPr snapToGrid="0">
      <p:cViewPr varScale="1">
        <p:scale>
          <a:sx n="68" d="100"/>
          <a:sy n="68" d="100"/>
        </p:scale>
        <p:origin x="2154" y="72"/>
      </p:cViewPr>
      <p:guideLst/>
    </p:cSldViewPr>
  </p:slideViewPr>
  <p:notesTextViewPr>
    <p:cViewPr>
      <p:scale>
        <a:sx n="1" d="1"/>
        <a:sy n="1" d="1"/>
      </p:scale>
      <p:origin x="0" y="0"/>
    </p:cViewPr>
  </p:notesTextViewPr>
  <p:notesViewPr>
    <p:cSldViewPr snapToGrid="0">
      <p:cViewPr>
        <p:scale>
          <a:sx n="71" d="100"/>
          <a:sy n="71" d="100"/>
        </p:scale>
        <p:origin x="2156" y="-10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delSld modSld modSection">
      <pc:chgData name="Loecha Philion" userId="0f598feb-c4c0-4dda-b2c1-17de97a01329" providerId="ADAL" clId="{E7AA05E6-2E3A-4936-92BE-EF366E7850A9}" dt="2026-09-02T17:16:35.414" v="15" actId="6549"/>
      <pc:docMkLst>
        <pc:docMk/>
      </pc:docMkLst>
      <pc:sldChg chg="modNotesTx">
        <pc:chgData name="Loecha Philion" userId="0f598feb-c4c0-4dda-b2c1-17de97a01329" providerId="ADAL" clId="{E7AA05E6-2E3A-4936-92BE-EF366E7850A9}" dt="2026-09-02T17:14:29.849" v="4" actId="6549"/>
        <pc:sldMkLst>
          <pc:docMk/>
          <pc:sldMk cId="806275977" sldId="1531"/>
        </pc:sldMkLst>
      </pc:sldChg>
      <pc:sldChg chg="modNotesTx">
        <pc:chgData name="Loecha Philion" userId="0f598feb-c4c0-4dda-b2c1-17de97a01329" providerId="ADAL" clId="{E7AA05E6-2E3A-4936-92BE-EF366E7850A9}" dt="2026-09-02T17:14:45.392" v="8" actId="6549"/>
        <pc:sldMkLst>
          <pc:docMk/>
          <pc:sldMk cId="240280417" sldId="1534"/>
        </pc:sldMkLst>
      </pc:sldChg>
      <pc:sldChg chg="modNotesTx">
        <pc:chgData name="Loecha Philion" userId="0f598feb-c4c0-4dda-b2c1-17de97a01329" providerId="ADAL" clId="{E7AA05E6-2E3A-4936-92BE-EF366E7850A9}" dt="2026-09-02T17:14:48.867" v="9" actId="6549"/>
        <pc:sldMkLst>
          <pc:docMk/>
          <pc:sldMk cId="3174009172" sldId="1535"/>
        </pc:sldMkLst>
      </pc:sldChg>
      <pc:sldChg chg="modNotesTx">
        <pc:chgData name="Loecha Philion" userId="0f598feb-c4c0-4dda-b2c1-17de97a01329" providerId="ADAL" clId="{E7AA05E6-2E3A-4936-92BE-EF366E7850A9}" dt="2026-09-02T17:14:39.979" v="6" actId="6549"/>
        <pc:sldMkLst>
          <pc:docMk/>
          <pc:sldMk cId="4133819859" sldId="1538"/>
        </pc:sldMkLst>
      </pc:sldChg>
      <pc:sldChg chg="modNotesTx">
        <pc:chgData name="Loecha Philion" userId="0f598feb-c4c0-4dda-b2c1-17de97a01329" providerId="ADAL" clId="{E7AA05E6-2E3A-4936-92BE-EF366E7850A9}" dt="2026-09-02T17:16:35.414" v="15" actId="6549"/>
        <pc:sldMkLst>
          <pc:docMk/>
          <pc:sldMk cId="314605786" sldId="1540"/>
        </pc:sldMkLst>
      </pc:sldChg>
      <pc:sldChg chg="modNotesTx">
        <pc:chgData name="Loecha Philion" userId="0f598feb-c4c0-4dda-b2c1-17de97a01329" providerId="ADAL" clId="{E7AA05E6-2E3A-4936-92BE-EF366E7850A9}" dt="2026-09-02T17:15:05.459" v="13" actId="6549"/>
        <pc:sldMkLst>
          <pc:docMk/>
          <pc:sldMk cId="254967129" sldId="1544"/>
        </pc:sldMkLst>
      </pc:sldChg>
      <pc:sldChg chg="modNotesTx">
        <pc:chgData name="Loecha Philion" userId="0f598feb-c4c0-4dda-b2c1-17de97a01329" providerId="ADAL" clId="{E7AA05E6-2E3A-4936-92BE-EF366E7850A9}" dt="2026-09-02T17:15:09.346" v="14" actId="6549"/>
        <pc:sldMkLst>
          <pc:docMk/>
          <pc:sldMk cId="3181008330" sldId="1545"/>
        </pc:sldMkLst>
      </pc:sldChg>
      <pc:sldChg chg="modNotesTx">
        <pc:chgData name="Loecha Philion" userId="0f598feb-c4c0-4dda-b2c1-17de97a01329" providerId="ADAL" clId="{E7AA05E6-2E3A-4936-92BE-EF366E7850A9}" dt="2026-09-02T17:15:03.215" v="12" actId="6549"/>
        <pc:sldMkLst>
          <pc:docMk/>
          <pc:sldMk cId="426018184" sldId="1546"/>
        </pc:sldMkLst>
      </pc:sldChg>
      <pc:sldChg chg="modNotesTx">
        <pc:chgData name="Loecha Philion" userId="0f598feb-c4c0-4dda-b2c1-17de97a01329" providerId="ADAL" clId="{E7AA05E6-2E3A-4936-92BE-EF366E7850A9}" dt="2026-09-02T17:14:12.254" v="0" actId="6549"/>
        <pc:sldMkLst>
          <pc:docMk/>
          <pc:sldMk cId="1884957776" sldId="1557"/>
        </pc:sldMkLst>
      </pc:sldChg>
      <pc:sldChg chg="modNotesTx">
        <pc:chgData name="Loecha Philion" userId="0f598feb-c4c0-4dda-b2c1-17de97a01329" providerId="ADAL" clId="{E7AA05E6-2E3A-4936-92BE-EF366E7850A9}" dt="2026-09-02T17:14:17.095" v="2" actId="6549"/>
        <pc:sldMkLst>
          <pc:docMk/>
          <pc:sldMk cId="1616020794" sldId="1559"/>
        </pc:sldMkLst>
      </pc:sldChg>
      <pc:sldChg chg="modNotesTx">
        <pc:chgData name="Loecha Philion" userId="0f598feb-c4c0-4dda-b2c1-17de97a01329" providerId="ADAL" clId="{E7AA05E6-2E3A-4936-92BE-EF366E7850A9}" dt="2026-09-02T17:14:26.579" v="3" actId="6549"/>
        <pc:sldMkLst>
          <pc:docMk/>
          <pc:sldMk cId="33177861" sldId="1561"/>
        </pc:sldMkLst>
      </pc:sldChg>
      <pc:sldChg chg="modNotesTx">
        <pc:chgData name="Loecha Philion" userId="0f598feb-c4c0-4dda-b2c1-17de97a01329" providerId="ADAL" clId="{E7AA05E6-2E3A-4936-92BE-EF366E7850A9}" dt="2026-09-02T17:14:14.652" v="1" actId="6549"/>
        <pc:sldMkLst>
          <pc:docMk/>
          <pc:sldMk cId="1111727314" sldId="1568"/>
        </pc:sldMkLst>
      </pc:sldChg>
      <pc:sldChg chg="del">
        <pc:chgData name="Loecha Philion" userId="0f598feb-c4c0-4dda-b2c1-17de97a01329" providerId="ADAL" clId="{E7AA05E6-2E3A-4936-92BE-EF366E7850A9}" dt="2026-09-02T17:14:34.109" v="5" actId="47"/>
        <pc:sldMkLst>
          <pc:docMk/>
          <pc:sldMk cId="980272219" sldId="1571"/>
        </pc:sldMkLst>
      </pc:sldChg>
      <pc:sldChg chg="modNotesTx">
        <pc:chgData name="Loecha Philion" userId="0f598feb-c4c0-4dda-b2c1-17de97a01329" providerId="ADAL" clId="{E7AA05E6-2E3A-4936-92BE-EF366E7850A9}" dt="2026-09-02T17:14:58.441" v="11" actId="6549"/>
        <pc:sldMkLst>
          <pc:docMk/>
          <pc:sldMk cId="3594645317" sldId="1572"/>
        </pc:sldMkLst>
      </pc:sldChg>
      <pc:sldChg chg="modNotesTx">
        <pc:chgData name="Loecha Philion" userId="0f598feb-c4c0-4dda-b2c1-17de97a01329" providerId="ADAL" clId="{E7AA05E6-2E3A-4936-92BE-EF366E7850A9}" dt="2026-09-02T17:14:52.861" v="10" actId="6549"/>
        <pc:sldMkLst>
          <pc:docMk/>
          <pc:sldMk cId="2359440370" sldId="157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6EB81-95E4-4BB5-9E45-70AEEBC6431F}" type="doc">
      <dgm:prSet loTypeId="urn:microsoft.com/office/officeart/2005/8/layout/lProcess1" loCatId="process" qsTypeId="urn:microsoft.com/office/officeart/2005/8/quickstyle/simple1" qsCatId="simple" csTypeId="urn:microsoft.com/office/officeart/2005/8/colors/accent0_1" csCatId="mainScheme" phldr="1"/>
      <dgm:spPr/>
      <dgm:t>
        <a:bodyPr/>
        <a:lstStyle/>
        <a:p>
          <a:endParaRPr lang="fr-CA"/>
        </a:p>
      </dgm:t>
    </dgm:pt>
    <dgm:pt modelId="{577DC259-8B5B-4F6B-8A77-B485C7D4CAF3}">
      <dgm:prSet phldrT="[Texte]" custT="1"/>
      <dgm:spPr>
        <a:ln w="28575">
          <a:solidFill>
            <a:schemeClr val="accent3"/>
          </a:solidFill>
        </a:ln>
      </dgm:spPr>
      <dgm:t>
        <a:bodyPr/>
        <a:lstStyle/>
        <a:p>
          <a:r>
            <a:rPr lang="fr-CA" sz="2400" b="1"/>
            <a:t>MCV </a:t>
          </a:r>
        </a:p>
        <a:p>
          <a:r>
            <a:rPr lang="fr-CA" sz="2400" b="1"/>
            <a:t>unitaire</a:t>
          </a:r>
        </a:p>
      </dgm:t>
    </dgm:pt>
    <dgm:pt modelId="{DAC60362-BD5D-4574-B892-37A3E674AA52}" type="parTrans" cxnId="{30107166-F015-4A40-B0C1-1D20781C0DF9}">
      <dgm:prSet/>
      <dgm:spPr/>
      <dgm:t>
        <a:bodyPr/>
        <a:lstStyle/>
        <a:p>
          <a:endParaRPr lang="fr-CA" sz="2000">
            <a:solidFill>
              <a:schemeClr val="tx1"/>
            </a:solidFill>
          </a:endParaRPr>
        </a:p>
      </dgm:t>
    </dgm:pt>
    <dgm:pt modelId="{FAE70B79-3E70-4AF6-8192-2BCCA0F64353}" type="sibTrans" cxnId="{30107166-F015-4A40-B0C1-1D20781C0DF9}">
      <dgm:prSet/>
      <dgm:spPr/>
      <dgm:t>
        <a:bodyPr/>
        <a:lstStyle/>
        <a:p>
          <a:endParaRPr lang="fr-CA" sz="2000">
            <a:solidFill>
              <a:schemeClr val="tx1"/>
            </a:solidFill>
          </a:endParaRPr>
        </a:p>
      </dgm:t>
    </dgm:pt>
    <dgm:pt modelId="{BCCCE91C-30B6-4DAE-9DB9-467B40AA1D6C}">
      <dgm:prSet custT="1"/>
      <dgm:spPr>
        <a:ln>
          <a:solidFill>
            <a:schemeClr val="accent6">
              <a:alpha val="90000"/>
            </a:schemeClr>
          </a:solidFill>
        </a:ln>
      </dgm:spPr>
      <dgm:t>
        <a:bodyPr/>
        <a:lstStyle/>
        <a:p>
          <a:r>
            <a:rPr lang="fr-CA" sz="2400" b="0">
              <a:latin typeface="+mn-lt"/>
              <a:cs typeface="Arial" pitchFamily="34" charset="0"/>
            </a:rPr>
            <a:t>Prix de vente</a:t>
          </a:r>
        </a:p>
        <a:p>
          <a:r>
            <a:rPr lang="fr-CA" sz="2400" b="0">
              <a:latin typeface="+mn-lt"/>
              <a:cs typeface="Arial" pitchFamily="34" charset="0"/>
            </a:rPr>
            <a:t>(-)</a:t>
          </a:r>
        </a:p>
        <a:p>
          <a:r>
            <a:rPr lang="fr-CA" sz="2400" b="0">
              <a:latin typeface="+mn-lt"/>
              <a:cs typeface="Arial" pitchFamily="34" charset="0"/>
            </a:rPr>
            <a:t>Coûts variables unitaires</a:t>
          </a:r>
        </a:p>
      </dgm:t>
    </dgm:pt>
    <dgm:pt modelId="{A911E701-44BA-46C5-82DF-5D1CC9CA246D}" type="parTrans" cxnId="{2FD923D9-05C4-46C8-9E6D-7B2AF405F2B5}">
      <dgm:prSet/>
      <dgm:spPr/>
      <dgm:t>
        <a:bodyPr/>
        <a:lstStyle/>
        <a:p>
          <a:endParaRPr lang="fr-CA" sz="2000">
            <a:solidFill>
              <a:schemeClr val="tx1"/>
            </a:solidFill>
          </a:endParaRPr>
        </a:p>
      </dgm:t>
    </dgm:pt>
    <dgm:pt modelId="{FDD2CBEC-4898-400A-9A80-3618D0A3CA29}" type="sibTrans" cxnId="{2FD923D9-05C4-46C8-9E6D-7B2AF405F2B5}">
      <dgm:prSet/>
      <dgm:spPr/>
      <dgm:t>
        <a:bodyPr/>
        <a:lstStyle/>
        <a:p>
          <a:endParaRPr lang="fr-CA" sz="2000">
            <a:solidFill>
              <a:schemeClr val="tx1"/>
            </a:solidFill>
          </a:endParaRPr>
        </a:p>
      </dgm:t>
    </dgm:pt>
    <dgm:pt modelId="{14D9E070-D577-43F0-9121-B967034A3A84}">
      <dgm:prSet custT="1"/>
      <dgm:spPr>
        <a:ln w="28575">
          <a:solidFill>
            <a:schemeClr val="accent3"/>
          </a:solidFill>
        </a:ln>
      </dgm:spPr>
      <dgm:t>
        <a:bodyPr/>
        <a:lstStyle/>
        <a:p>
          <a:r>
            <a:rPr lang="fr-CA" sz="2400" b="1"/>
            <a:t>MCV totale</a:t>
          </a:r>
        </a:p>
      </dgm:t>
    </dgm:pt>
    <dgm:pt modelId="{B1F1046A-8E65-4146-B8DF-FBC0B5DAC8EB}" type="parTrans" cxnId="{CB27E4DD-033D-4ADC-9958-93F725E0397C}">
      <dgm:prSet/>
      <dgm:spPr/>
      <dgm:t>
        <a:bodyPr/>
        <a:lstStyle/>
        <a:p>
          <a:endParaRPr lang="fr-CA" sz="2000">
            <a:solidFill>
              <a:schemeClr val="tx1"/>
            </a:solidFill>
          </a:endParaRPr>
        </a:p>
      </dgm:t>
    </dgm:pt>
    <dgm:pt modelId="{BFDEB8DD-B9D9-45A6-B40F-A4B09E8E6145}" type="sibTrans" cxnId="{CB27E4DD-033D-4ADC-9958-93F725E0397C}">
      <dgm:prSet/>
      <dgm:spPr/>
      <dgm:t>
        <a:bodyPr/>
        <a:lstStyle/>
        <a:p>
          <a:endParaRPr lang="fr-CA" sz="2000">
            <a:solidFill>
              <a:schemeClr val="tx1"/>
            </a:solidFill>
          </a:endParaRPr>
        </a:p>
      </dgm:t>
    </dgm:pt>
    <dgm:pt modelId="{A3EA7B6A-596D-4285-B61E-D6EA83173311}">
      <dgm:prSet custT="1">
        <dgm:style>
          <a:lnRef idx="2">
            <a:schemeClr val="accent1"/>
          </a:lnRef>
          <a:fillRef idx="1">
            <a:schemeClr val="lt1"/>
          </a:fillRef>
          <a:effectRef idx="0">
            <a:schemeClr val="accent1"/>
          </a:effectRef>
          <a:fontRef idx="minor">
            <a:schemeClr val="dk1"/>
          </a:fontRef>
        </dgm:style>
      </dgm:prSet>
      <dgm:spPr>
        <a:ln/>
      </dgm:spPr>
      <dgm:t>
        <a:bodyPr/>
        <a:lstStyle/>
        <a:p>
          <a:r>
            <a:rPr lang="fr-CA" sz="2400" b="0"/>
            <a:t>Chiffre d’affaires</a:t>
          </a:r>
        </a:p>
        <a:p>
          <a:r>
            <a:rPr lang="fr-CA" sz="2400" b="0"/>
            <a:t>(-)</a:t>
          </a:r>
        </a:p>
        <a:p>
          <a:r>
            <a:rPr lang="fr-CA" sz="2400" b="0"/>
            <a:t>Coûts variables totaux</a:t>
          </a:r>
        </a:p>
      </dgm:t>
    </dgm:pt>
    <dgm:pt modelId="{43E739FA-940A-404E-97C3-CCFB25A354FB}" type="parTrans" cxnId="{6C6EBFD4-04F5-4971-A77F-1E328C705F1A}">
      <dgm:prSet/>
      <dgm:spPr/>
      <dgm:t>
        <a:bodyPr/>
        <a:lstStyle/>
        <a:p>
          <a:endParaRPr lang="fr-CA"/>
        </a:p>
      </dgm:t>
    </dgm:pt>
    <dgm:pt modelId="{98CBAB7F-7877-4749-B8A0-8A45E8D6050C}" type="sibTrans" cxnId="{6C6EBFD4-04F5-4971-A77F-1E328C705F1A}">
      <dgm:prSet/>
      <dgm:spPr/>
      <dgm:t>
        <a:bodyPr/>
        <a:lstStyle/>
        <a:p>
          <a:endParaRPr lang="fr-CA"/>
        </a:p>
      </dgm:t>
    </dgm:pt>
    <dgm:pt modelId="{35BFFA50-95CD-4E66-BF51-EFCBDC7D9D65}">
      <dgm:prSet custT="1">
        <dgm:style>
          <a:lnRef idx="2">
            <a:schemeClr val="accent1"/>
          </a:lnRef>
          <a:fillRef idx="1">
            <a:schemeClr val="lt1"/>
          </a:fillRef>
          <a:effectRef idx="0">
            <a:schemeClr val="accent1"/>
          </a:effectRef>
          <a:fontRef idx="minor">
            <a:schemeClr val="dk1"/>
          </a:fontRef>
        </dgm:style>
      </dgm:prSet>
      <dgm:spPr>
        <a:ln/>
      </dgm:spPr>
      <dgm:t>
        <a:bodyPr/>
        <a:lstStyle/>
        <a:p>
          <a:r>
            <a:rPr lang="fr-CA" sz="2400" b="0"/>
            <a:t>MCV unitaire</a:t>
          </a:r>
        </a:p>
        <a:p>
          <a:r>
            <a:rPr lang="fr-CA" sz="2400" b="0"/>
            <a:t>x</a:t>
          </a:r>
        </a:p>
        <a:p>
          <a:r>
            <a:rPr lang="fr-CA" sz="2400" b="0"/>
            <a:t>Nombre d’unités</a:t>
          </a:r>
        </a:p>
      </dgm:t>
    </dgm:pt>
    <dgm:pt modelId="{92084625-697C-443D-A3BC-F4EDCDD14C44}" type="parTrans" cxnId="{3DBFCD99-8694-4453-9C1C-9C53F500BE6A}">
      <dgm:prSet/>
      <dgm:spPr/>
      <dgm:t>
        <a:bodyPr/>
        <a:lstStyle/>
        <a:p>
          <a:endParaRPr lang="fr-CA"/>
        </a:p>
      </dgm:t>
    </dgm:pt>
    <dgm:pt modelId="{0C5ABEF9-F6DB-481E-9891-125F69D969BD}" type="sibTrans" cxnId="{3DBFCD99-8694-4453-9C1C-9C53F500BE6A}">
      <dgm:prSet/>
      <dgm:spPr/>
      <dgm:t>
        <a:bodyPr/>
        <a:lstStyle/>
        <a:p>
          <a:endParaRPr lang="fr-CA"/>
        </a:p>
      </dgm:t>
    </dgm:pt>
    <dgm:pt modelId="{325A358D-07A2-4133-8F35-A2044C84F314}">
      <dgm:prSet phldrT="[Texte]" custT="1"/>
      <dgm:spPr>
        <a:ln w="28575">
          <a:solidFill>
            <a:schemeClr val="accent3"/>
          </a:solidFill>
        </a:ln>
      </dgm:spPr>
      <dgm:t>
        <a:bodyPr/>
        <a:lstStyle/>
        <a:p>
          <a:r>
            <a:rPr lang="fr-CA" sz="2400" b="1"/>
            <a:t>MCV </a:t>
          </a:r>
        </a:p>
        <a:p>
          <a:r>
            <a:rPr lang="fr-CA" sz="2400" b="1"/>
            <a:t>par unité d’un facteur de production</a:t>
          </a:r>
        </a:p>
      </dgm:t>
    </dgm:pt>
    <dgm:pt modelId="{4D4A460C-BCB8-4202-838D-2A54C2B25275}" type="parTrans" cxnId="{BF88BE3C-899B-4FBE-A768-DA9101C06202}">
      <dgm:prSet/>
      <dgm:spPr/>
      <dgm:t>
        <a:bodyPr/>
        <a:lstStyle/>
        <a:p>
          <a:endParaRPr lang="fr-CA"/>
        </a:p>
      </dgm:t>
    </dgm:pt>
    <dgm:pt modelId="{584A782F-EDF3-4DBF-AF52-27BDC5B72736}" type="sibTrans" cxnId="{BF88BE3C-899B-4FBE-A768-DA9101C06202}">
      <dgm:prSet/>
      <dgm:spPr/>
      <dgm:t>
        <a:bodyPr/>
        <a:lstStyle/>
        <a:p>
          <a:endParaRPr lang="fr-CA"/>
        </a:p>
      </dgm:t>
    </dgm:pt>
    <dgm:pt modelId="{C5BBAAD1-0F5D-4A5D-AD2E-D41C3F6FB990}">
      <dgm:prSet custT="1"/>
      <dgm:spPr>
        <a:ln>
          <a:solidFill>
            <a:schemeClr val="accent6">
              <a:alpha val="90000"/>
            </a:schemeClr>
          </a:solidFill>
        </a:ln>
      </dgm:spPr>
      <dgm:t>
        <a:bodyPr/>
        <a:lstStyle/>
        <a:p>
          <a:r>
            <a:rPr lang="fr-CA" sz="1800"/>
            <a:t>MCV unitaire d’un produit</a:t>
          </a:r>
        </a:p>
        <a:p>
          <a:r>
            <a:rPr lang="fr-CA" sz="1800"/>
            <a:t>____________________</a:t>
          </a:r>
        </a:p>
        <a:p>
          <a:r>
            <a:rPr lang="fr-CA" sz="1800"/>
            <a:t>Nombre d’unités de facteur de production requises pour fabriquer le produit</a:t>
          </a:r>
        </a:p>
      </dgm:t>
    </dgm:pt>
    <dgm:pt modelId="{B9D8FA50-D786-40C6-9343-AFB0EE24179D}" type="parTrans" cxnId="{2F2B3A87-7370-460B-9025-D3C1A55A9B1F}">
      <dgm:prSet/>
      <dgm:spPr/>
      <dgm:t>
        <a:bodyPr/>
        <a:lstStyle/>
        <a:p>
          <a:endParaRPr lang="fr-CA"/>
        </a:p>
      </dgm:t>
    </dgm:pt>
    <dgm:pt modelId="{B10CCC21-8B3C-4EE8-9192-94AA1A8DD3F0}" type="sibTrans" cxnId="{2F2B3A87-7370-460B-9025-D3C1A55A9B1F}">
      <dgm:prSet/>
      <dgm:spPr/>
      <dgm:t>
        <a:bodyPr/>
        <a:lstStyle/>
        <a:p>
          <a:endParaRPr lang="fr-CA"/>
        </a:p>
      </dgm:t>
    </dgm:pt>
    <dgm:pt modelId="{51E5CBE9-72C8-4C9D-961C-A08B57CA0D30}">
      <dgm:prSet custT="1"/>
      <dgm:spPr>
        <a:ln w="28575">
          <a:solidFill>
            <a:schemeClr val="accent3"/>
          </a:solidFill>
        </a:ln>
      </dgm:spPr>
      <dgm:t>
        <a:bodyPr/>
        <a:lstStyle/>
        <a:p>
          <a:r>
            <a:rPr lang="fr-CA" sz="2400" b="1"/>
            <a:t>Marge sur coûts spécifiques</a:t>
          </a:r>
        </a:p>
      </dgm:t>
    </dgm:pt>
    <dgm:pt modelId="{47D6F1B9-E284-418D-946C-92E9D4BAF9CA}" type="parTrans" cxnId="{3656B79C-A057-41B9-9E97-0CCF97F72826}">
      <dgm:prSet/>
      <dgm:spPr/>
      <dgm:t>
        <a:bodyPr/>
        <a:lstStyle/>
        <a:p>
          <a:endParaRPr lang="fr-CA"/>
        </a:p>
      </dgm:t>
    </dgm:pt>
    <dgm:pt modelId="{027D79AD-772C-4D6C-AB4C-5944F908FF98}" type="sibTrans" cxnId="{3656B79C-A057-41B9-9E97-0CCF97F72826}">
      <dgm:prSet/>
      <dgm:spPr/>
      <dgm:t>
        <a:bodyPr/>
        <a:lstStyle/>
        <a:p>
          <a:endParaRPr lang="fr-CA"/>
        </a:p>
      </dgm:t>
    </dgm:pt>
    <dgm:pt modelId="{0154F673-0B13-4636-B0E8-E75F7322E8DF}">
      <dgm:prSet>
        <dgm:style>
          <a:lnRef idx="2">
            <a:schemeClr val="accent5"/>
          </a:lnRef>
          <a:fillRef idx="1">
            <a:schemeClr val="lt1"/>
          </a:fillRef>
          <a:effectRef idx="0">
            <a:schemeClr val="accent5"/>
          </a:effectRef>
          <a:fontRef idx="minor">
            <a:schemeClr val="dk1"/>
          </a:fontRef>
        </dgm:style>
      </dgm:prSet>
      <dgm:spPr>
        <a:ln/>
      </dgm:spPr>
      <dgm:t>
        <a:bodyPr/>
        <a:lstStyle/>
        <a:p>
          <a:r>
            <a:rPr lang="fr-CA"/>
            <a:t> MCV totale</a:t>
          </a:r>
        </a:p>
        <a:p>
          <a:r>
            <a:rPr lang="fr-CA"/>
            <a:t>(-)</a:t>
          </a:r>
        </a:p>
        <a:p>
          <a:r>
            <a:rPr lang="fr-CA"/>
            <a:t>Coûts fixes spécifiques</a:t>
          </a:r>
        </a:p>
      </dgm:t>
    </dgm:pt>
    <dgm:pt modelId="{3D476D33-75AD-4E53-8F0F-C3CCF57F39C4}" type="parTrans" cxnId="{0F8FF5DC-A234-4DE9-ADDA-7ABC7CA5AA4D}">
      <dgm:prSet/>
      <dgm:spPr/>
      <dgm:t>
        <a:bodyPr/>
        <a:lstStyle/>
        <a:p>
          <a:endParaRPr lang="fr-CA"/>
        </a:p>
      </dgm:t>
    </dgm:pt>
    <dgm:pt modelId="{47FD2705-F7A1-4878-9A67-0C43B6CCAEB3}" type="sibTrans" cxnId="{0F8FF5DC-A234-4DE9-ADDA-7ABC7CA5AA4D}">
      <dgm:prSet/>
      <dgm:spPr/>
      <dgm:t>
        <a:bodyPr/>
        <a:lstStyle/>
        <a:p>
          <a:endParaRPr lang="fr-CA"/>
        </a:p>
      </dgm:t>
    </dgm:pt>
    <dgm:pt modelId="{EFF9DF4F-CC1F-4199-9DFE-738BAADAA8A3}" type="pres">
      <dgm:prSet presAssocID="{DC36EB81-95E4-4BB5-9E45-70AEEBC6431F}" presName="Name0" presStyleCnt="0">
        <dgm:presLayoutVars>
          <dgm:dir/>
          <dgm:animLvl val="lvl"/>
          <dgm:resizeHandles val="exact"/>
        </dgm:presLayoutVars>
      </dgm:prSet>
      <dgm:spPr/>
    </dgm:pt>
    <dgm:pt modelId="{4465ACC2-887C-41FA-92D6-C3E33BA52573}" type="pres">
      <dgm:prSet presAssocID="{577DC259-8B5B-4F6B-8A77-B485C7D4CAF3}" presName="vertFlow" presStyleCnt="0"/>
      <dgm:spPr/>
    </dgm:pt>
    <dgm:pt modelId="{775ABA71-E8F3-4EF3-86D0-4DFB8D0AB459}" type="pres">
      <dgm:prSet presAssocID="{577DC259-8B5B-4F6B-8A77-B485C7D4CAF3}" presName="header" presStyleLbl="node1" presStyleIdx="0" presStyleCnt="4" custScaleY="244795"/>
      <dgm:spPr/>
    </dgm:pt>
    <dgm:pt modelId="{1AF0B4FE-E2AE-4371-B378-EC21F851B286}" type="pres">
      <dgm:prSet presAssocID="{A911E701-44BA-46C5-82DF-5D1CC9CA246D}" presName="parTrans" presStyleLbl="sibTrans2D1" presStyleIdx="0" presStyleCnt="5"/>
      <dgm:spPr/>
    </dgm:pt>
    <dgm:pt modelId="{E72ED684-3058-4FF4-AFFB-CD3B061CECFB}" type="pres">
      <dgm:prSet presAssocID="{BCCCE91C-30B6-4DAE-9DB9-467B40AA1D6C}" presName="child" presStyleLbl="alignAccFollowNode1" presStyleIdx="0" presStyleCnt="5" custScaleY="300435">
        <dgm:presLayoutVars>
          <dgm:chMax val="0"/>
          <dgm:bulletEnabled val="1"/>
        </dgm:presLayoutVars>
      </dgm:prSet>
      <dgm:spPr/>
    </dgm:pt>
    <dgm:pt modelId="{33009C5C-0A08-4BAF-A03F-D2B2BEC3D88F}" type="pres">
      <dgm:prSet presAssocID="{577DC259-8B5B-4F6B-8A77-B485C7D4CAF3}" presName="hSp" presStyleCnt="0"/>
      <dgm:spPr/>
    </dgm:pt>
    <dgm:pt modelId="{A70FFCDA-9C18-4C66-87F1-B4EC017F549D}" type="pres">
      <dgm:prSet presAssocID="{14D9E070-D577-43F0-9121-B967034A3A84}" presName="vertFlow" presStyleCnt="0"/>
      <dgm:spPr/>
    </dgm:pt>
    <dgm:pt modelId="{79090174-B539-4881-8393-FBB08523B9BD}" type="pres">
      <dgm:prSet presAssocID="{14D9E070-D577-43F0-9121-B967034A3A84}" presName="header" presStyleLbl="node1" presStyleIdx="1" presStyleCnt="4"/>
      <dgm:spPr/>
    </dgm:pt>
    <dgm:pt modelId="{5270E538-E3CA-497D-B7AD-E51E461C7235}" type="pres">
      <dgm:prSet presAssocID="{43E739FA-940A-404E-97C3-CCFB25A354FB}" presName="parTrans" presStyleLbl="sibTrans2D1" presStyleIdx="1" presStyleCnt="5"/>
      <dgm:spPr/>
    </dgm:pt>
    <dgm:pt modelId="{AA54581E-CB62-4712-BBD6-D7E70A1AFAF6}" type="pres">
      <dgm:prSet presAssocID="{A3EA7B6A-596D-4285-B61E-D6EA83173311}" presName="child" presStyleLbl="alignAccFollowNode1" presStyleIdx="1" presStyleCnt="5" custScaleY="285657">
        <dgm:presLayoutVars>
          <dgm:chMax val="0"/>
          <dgm:bulletEnabled val="1"/>
        </dgm:presLayoutVars>
      </dgm:prSet>
      <dgm:spPr/>
    </dgm:pt>
    <dgm:pt modelId="{D7D4BF2B-7102-4FDD-A967-EF29A1B76771}" type="pres">
      <dgm:prSet presAssocID="{98CBAB7F-7877-4749-B8A0-8A45E8D6050C}" presName="sibTrans" presStyleLbl="sibTrans2D1" presStyleIdx="2" presStyleCnt="5"/>
      <dgm:spPr/>
    </dgm:pt>
    <dgm:pt modelId="{727FBB2E-B4FB-4C45-9C70-3ACEEABCE12C}" type="pres">
      <dgm:prSet presAssocID="{35BFFA50-95CD-4E66-BF51-EFCBDC7D9D65}" presName="child" presStyleLbl="alignAccFollowNode1" presStyleIdx="2" presStyleCnt="5" custScaleY="285657">
        <dgm:presLayoutVars>
          <dgm:chMax val="0"/>
          <dgm:bulletEnabled val="1"/>
        </dgm:presLayoutVars>
      </dgm:prSet>
      <dgm:spPr/>
    </dgm:pt>
    <dgm:pt modelId="{9135BA5D-99F8-4E2E-B395-D06C8707647C}" type="pres">
      <dgm:prSet presAssocID="{14D9E070-D577-43F0-9121-B967034A3A84}" presName="hSp" presStyleCnt="0"/>
      <dgm:spPr/>
    </dgm:pt>
    <dgm:pt modelId="{8035C512-CC5C-4125-B3DE-C40669ECAFBC}" type="pres">
      <dgm:prSet presAssocID="{51E5CBE9-72C8-4C9D-961C-A08B57CA0D30}" presName="vertFlow" presStyleCnt="0"/>
      <dgm:spPr/>
    </dgm:pt>
    <dgm:pt modelId="{FFAAFBE8-2D78-4D94-86AA-9700A980B051}" type="pres">
      <dgm:prSet presAssocID="{51E5CBE9-72C8-4C9D-961C-A08B57CA0D30}" presName="header" presStyleLbl="node1" presStyleIdx="2" presStyleCnt="4"/>
      <dgm:spPr/>
    </dgm:pt>
    <dgm:pt modelId="{3A7BD9BF-E912-4A1D-8EF4-45AD43452D45}" type="pres">
      <dgm:prSet presAssocID="{3D476D33-75AD-4E53-8F0F-C3CCF57F39C4}" presName="parTrans" presStyleLbl="sibTrans2D1" presStyleIdx="3" presStyleCnt="5"/>
      <dgm:spPr/>
    </dgm:pt>
    <dgm:pt modelId="{3432F93D-0154-4661-8AE6-B40203BC6239}" type="pres">
      <dgm:prSet presAssocID="{0154F673-0B13-4636-B0E8-E75F7322E8DF}" presName="child" presStyleLbl="alignAccFollowNode1" presStyleIdx="3" presStyleCnt="5" custScaleY="198898">
        <dgm:presLayoutVars>
          <dgm:chMax val="0"/>
          <dgm:bulletEnabled val="1"/>
        </dgm:presLayoutVars>
      </dgm:prSet>
      <dgm:spPr/>
    </dgm:pt>
    <dgm:pt modelId="{34799F8A-8DB7-4422-BE65-55724655DB93}" type="pres">
      <dgm:prSet presAssocID="{51E5CBE9-72C8-4C9D-961C-A08B57CA0D30}" presName="hSp" presStyleCnt="0"/>
      <dgm:spPr/>
    </dgm:pt>
    <dgm:pt modelId="{71D1C096-1EB8-4680-8B91-693F598FBF55}" type="pres">
      <dgm:prSet presAssocID="{325A358D-07A2-4133-8F35-A2044C84F314}" presName="vertFlow" presStyleCnt="0"/>
      <dgm:spPr/>
    </dgm:pt>
    <dgm:pt modelId="{7E2D695A-2A72-427A-A771-DAAD88B69296}" type="pres">
      <dgm:prSet presAssocID="{325A358D-07A2-4133-8F35-A2044C84F314}" presName="header" presStyleLbl="node1" presStyleIdx="3" presStyleCnt="4" custScaleY="253155"/>
      <dgm:spPr/>
    </dgm:pt>
    <dgm:pt modelId="{CBDFCC0C-990C-4AF6-98C6-321EE586763B}" type="pres">
      <dgm:prSet presAssocID="{B9D8FA50-D786-40C6-9343-AFB0EE24179D}" presName="parTrans" presStyleLbl="sibTrans2D1" presStyleIdx="4" presStyleCnt="5"/>
      <dgm:spPr/>
    </dgm:pt>
    <dgm:pt modelId="{05F9500D-19EA-45A1-96BD-DC680B3B5D5D}" type="pres">
      <dgm:prSet presAssocID="{C5BBAAD1-0F5D-4A5D-AD2E-D41C3F6FB990}" presName="child" presStyleLbl="alignAccFollowNode1" presStyleIdx="4" presStyleCnt="5" custScaleY="455092">
        <dgm:presLayoutVars>
          <dgm:chMax val="0"/>
          <dgm:bulletEnabled val="1"/>
        </dgm:presLayoutVars>
      </dgm:prSet>
      <dgm:spPr/>
    </dgm:pt>
  </dgm:ptLst>
  <dgm:cxnLst>
    <dgm:cxn modelId="{BADEFE05-094B-4EE9-A1E7-FA8FF94F0C9D}" type="presOf" srcId="{3D476D33-75AD-4E53-8F0F-C3CCF57F39C4}" destId="{3A7BD9BF-E912-4A1D-8EF4-45AD43452D45}" srcOrd="0" destOrd="0" presId="urn:microsoft.com/office/officeart/2005/8/layout/lProcess1"/>
    <dgm:cxn modelId="{E94B6807-5ACD-4A3F-A895-5E5DE26B42B7}" type="presOf" srcId="{98CBAB7F-7877-4749-B8A0-8A45E8D6050C}" destId="{D7D4BF2B-7102-4FDD-A967-EF29A1B76771}" srcOrd="0" destOrd="0" presId="urn:microsoft.com/office/officeart/2005/8/layout/lProcess1"/>
    <dgm:cxn modelId="{F53D270E-FBAF-4315-8436-A750A79518D1}" type="presOf" srcId="{43E739FA-940A-404E-97C3-CCFB25A354FB}" destId="{5270E538-E3CA-497D-B7AD-E51E461C7235}" srcOrd="0" destOrd="0" presId="urn:microsoft.com/office/officeart/2005/8/layout/lProcess1"/>
    <dgm:cxn modelId="{9A27EF13-9186-4ED2-9961-EB48EF813F44}" type="presOf" srcId="{0154F673-0B13-4636-B0E8-E75F7322E8DF}" destId="{3432F93D-0154-4661-8AE6-B40203BC6239}" srcOrd="0" destOrd="0" presId="urn:microsoft.com/office/officeart/2005/8/layout/lProcess1"/>
    <dgm:cxn modelId="{7445B42C-F8DC-4050-983F-5BD8085065B5}" type="presOf" srcId="{A911E701-44BA-46C5-82DF-5D1CC9CA246D}" destId="{1AF0B4FE-E2AE-4371-B378-EC21F851B286}" srcOrd="0" destOrd="0" presId="urn:microsoft.com/office/officeart/2005/8/layout/lProcess1"/>
    <dgm:cxn modelId="{BF88BE3C-899B-4FBE-A768-DA9101C06202}" srcId="{DC36EB81-95E4-4BB5-9E45-70AEEBC6431F}" destId="{325A358D-07A2-4133-8F35-A2044C84F314}" srcOrd="3" destOrd="0" parTransId="{4D4A460C-BCB8-4202-838D-2A54C2B25275}" sibTransId="{584A782F-EDF3-4DBF-AF52-27BDC5B72736}"/>
    <dgm:cxn modelId="{FD82A83E-36C8-4906-989E-0985E3D5D867}" type="presOf" srcId="{577DC259-8B5B-4F6B-8A77-B485C7D4CAF3}" destId="{775ABA71-E8F3-4EF3-86D0-4DFB8D0AB459}" srcOrd="0" destOrd="0" presId="urn:microsoft.com/office/officeart/2005/8/layout/lProcess1"/>
    <dgm:cxn modelId="{3CCB5745-7CA5-4650-A5FC-03635E518CFE}" type="presOf" srcId="{DC36EB81-95E4-4BB5-9E45-70AEEBC6431F}" destId="{EFF9DF4F-CC1F-4199-9DFE-738BAADAA8A3}" srcOrd="0" destOrd="0" presId="urn:microsoft.com/office/officeart/2005/8/layout/lProcess1"/>
    <dgm:cxn modelId="{30107166-F015-4A40-B0C1-1D20781C0DF9}" srcId="{DC36EB81-95E4-4BB5-9E45-70AEEBC6431F}" destId="{577DC259-8B5B-4F6B-8A77-B485C7D4CAF3}" srcOrd="0" destOrd="0" parTransId="{DAC60362-BD5D-4574-B892-37A3E674AA52}" sibTransId="{FAE70B79-3E70-4AF6-8192-2BCCA0F64353}"/>
    <dgm:cxn modelId="{02C94E6F-B248-41AB-B991-FD2D56D7C49A}" type="presOf" srcId="{B9D8FA50-D786-40C6-9343-AFB0EE24179D}" destId="{CBDFCC0C-990C-4AF6-98C6-321EE586763B}" srcOrd="0" destOrd="0" presId="urn:microsoft.com/office/officeart/2005/8/layout/lProcess1"/>
    <dgm:cxn modelId="{66224B84-134E-4479-AE9C-669DF2F3CF03}" type="presOf" srcId="{BCCCE91C-30B6-4DAE-9DB9-467B40AA1D6C}" destId="{E72ED684-3058-4FF4-AFFB-CD3B061CECFB}" srcOrd="0" destOrd="0" presId="urn:microsoft.com/office/officeart/2005/8/layout/lProcess1"/>
    <dgm:cxn modelId="{2F2B3A87-7370-460B-9025-D3C1A55A9B1F}" srcId="{325A358D-07A2-4133-8F35-A2044C84F314}" destId="{C5BBAAD1-0F5D-4A5D-AD2E-D41C3F6FB990}" srcOrd="0" destOrd="0" parTransId="{B9D8FA50-D786-40C6-9343-AFB0EE24179D}" sibTransId="{B10CCC21-8B3C-4EE8-9192-94AA1A8DD3F0}"/>
    <dgm:cxn modelId="{9357BE8A-E26A-4511-A291-1052281A7815}" type="presOf" srcId="{A3EA7B6A-596D-4285-B61E-D6EA83173311}" destId="{AA54581E-CB62-4712-BBD6-D7E70A1AFAF6}" srcOrd="0" destOrd="0" presId="urn:microsoft.com/office/officeart/2005/8/layout/lProcess1"/>
    <dgm:cxn modelId="{3DBFCD99-8694-4453-9C1C-9C53F500BE6A}" srcId="{14D9E070-D577-43F0-9121-B967034A3A84}" destId="{35BFFA50-95CD-4E66-BF51-EFCBDC7D9D65}" srcOrd="1" destOrd="0" parTransId="{92084625-697C-443D-A3BC-F4EDCDD14C44}" sibTransId="{0C5ABEF9-F6DB-481E-9891-125F69D969BD}"/>
    <dgm:cxn modelId="{3656B79C-A057-41B9-9E97-0CCF97F72826}" srcId="{DC36EB81-95E4-4BB5-9E45-70AEEBC6431F}" destId="{51E5CBE9-72C8-4C9D-961C-A08B57CA0D30}" srcOrd="2" destOrd="0" parTransId="{47D6F1B9-E284-418D-946C-92E9D4BAF9CA}" sibTransId="{027D79AD-772C-4D6C-AB4C-5944F908FF98}"/>
    <dgm:cxn modelId="{54A1A2A5-A1B6-41FC-9A6A-33915FE9AD86}" type="presOf" srcId="{14D9E070-D577-43F0-9121-B967034A3A84}" destId="{79090174-B539-4881-8393-FBB08523B9BD}" srcOrd="0" destOrd="0" presId="urn:microsoft.com/office/officeart/2005/8/layout/lProcess1"/>
    <dgm:cxn modelId="{8A38D3A6-D1BF-4EEA-A8BB-DCAC8B301864}" type="presOf" srcId="{C5BBAAD1-0F5D-4A5D-AD2E-D41C3F6FB990}" destId="{05F9500D-19EA-45A1-96BD-DC680B3B5D5D}" srcOrd="0" destOrd="0" presId="urn:microsoft.com/office/officeart/2005/8/layout/lProcess1"/>
    <dgm:cxn modelId="{3FFDF7A6-88BB-4444-83A0-9025AD5AB45D}" type="presOf" srcId="{325A358D-07A2-4133-8F35-A2044C84F314}" destId="{7E2D695A-2A72-427A-A771-DAAD88B69296}" srcOrd="0" destOrd="0" presId="urn:microsoft.com/office/officeart/2005/8/layout/lProcess1"/>
    <dgm:cxn modelId="{177104B5-077D-413F-BAE1-686CABB9BA69}" type="presOf" srcId="{51E5CBE9-72C8-4C9D-961C-A08B57CA0D30}" destId="{FFAAFBE8-2D78-4D94-86AA-9700A980B051}" srcOrd="0" destOrd="0" presId="urn:microsoft.com/office/officeart/2005/8/layout/lProcess1"/>
    <dgm:cxn modelId="{432B03C0-CD79-450E-BAB2-5CDFC46D38F2}" type="presOf" srcId="{35BFFA50-95CD-4E66-BF51-EFCBDC7D9D65}" destId="{727FBB2E-B4FB-4C45-9C70-3ACEEABCE12C}" srcOrd="0" destOrd="0" presId="urn:microsoft.com/office/officeart/2005/8/layout/lProcess1"/>
    <dgm:cxn modelId="{6C6EBFD4-04F5-4971-A77F-1E328C705F1A}" srcId="{14D9E070-D577-43F0-9121-B967034A3A84}" destId="{A3EA7B6A-596D-4285-B61E-D6EA83173311}" srcOrd="0" destOrd="0" parTransId="{43E739FA-940A-404E-97C3-CCFB25A354FB}" sibTransId="{98CBAB7F-7877-4749-B8A0-8A45E8D6050C}"/>
    <dgm:cxn modelId="{2FD923D9-05C4-46C8-9E6D-7B2AF405F2B5}" srcId="{577DC259-8B5B-4F6B-8A77-B485C7D4CAF3}" destId="{BCCCE91C-30B6-4DAE-9DB9-467B40AA1D6C}" srcOrd="0" destOrd="0" parTransId="{A911E701-44BA-46C5-82DF-5D1CC9CA246D}" sibTransId="{FDD2CBEC-4898-400A-9A80-3618D0A3CA29}"/>
    <dgm:cxn modelId="{0F8FF5DC-A234-4DE9-ADDA-7ABC7CA5AA4D}" srcId="{51E5CBE9-72C8-4C9D-961C-A08B57CA0D30}" destId="{0154F673-0B13-4636-B0E8-E75F7322E8DF}" srcOrd="0" destOrd="0" parTransId="{3D476D33-75AD-4E53-8F0F-C3CCF57F39C4}" sibTransId="{47FD2705-F7A1-4878-9A67-0C43B6CCAEB3}"/>
    <dgm:cxn modelId="{CB27E4DD-033D-4ADC-9958-93F725E0397C}" srcId="{DC36EB81-95E4-4BB5-9E45-70AEEBC6431F}" destId="{14D9E070-D577-43F0-9121-B967034A3A84}" srcOrd="1" destOrd="0" parTransId="{B1F1046A-8E65-4146-B8DF-FBC0B5DAC8EB}" sibTransId="{BFDEB8DD-B9D9-45A6-B40F-A4B09E8E6145}"/>
    <dgm:cxn modelId="{F0B2F2C9-6040-44C3-8489-895C723D573E}" type="presParOf" srcId="{EFF9DF4F-CC1F-4199-9DFE-738BAADAA8A3}" destId="{4465ACC2-887C-41FA-92D6-C3E33BA52573}" srcOrd="0" destOrd="0" presId="urn:microsoft.com/office/officeart/2005/8/layout/lProcess1"/>
    <dgm:cxn modelId="{838034E8-11A7-46E1-8CEF-6FB96184F4E4}" type="presParOf" srcId="{4465ACC2-887C-41FA-92D6-C3E33BA52573}" destId="{775ABA71-E8F3-4EF3-86D0-4DFB8D0AB459}" srcOrd="0" destOrd="0" presId="urn:microsoft.com/office/officeart/2005/8/layout/lProcess1"/>
    <dgm:cxn modelId="{35B9604C-539D-44C4-B6CB-36E828CB489A}" type="presParOf" srcId="{4465ACC2-887C-41FA-92D6-C3E33BA52573}" destId="{1AF0B4FE-E2AE-4371-B378-EC21F851B286}" srcOrd="1" destOrd="0" presId="urn:microsoft.com/office/officeart/2005/8/layout/lProcess1"/>
    <dgm:cxn modelId="{7D6D4EE1-26F9-4F13-83C1-06A1C72CFD8E}" type="presParOf" srcId="{4465ACC2-887C-41FA-92D6-C3E33BA52573}" destId="{E72ED684-3058-4FF4-AFFB-CD3B061CECFB}" srcOrd="2" destOrd="0" presId="urn:microsoft.com/office/officeart/2005/8/layout/lProcess1"/>
    <dgm:cxn modelId="{F82D6463-DDE3-4F45-8F6F-EAA305CB4B15}" type="presParOf" srcId="{EFF9DF4F-CC1F-4199-9DFE-738BAADAA8A3}" destId="{33009C5C-0A08-4BAF-A03F-D2B2BEC3D88F}" srcOrd="1" destOrd="0" presId="urn:microsoft.com/office/officeart/2005/8/layout/lProcess1"/>
    <dgm:cxn modelId="{A8F713EE-9554-45EF-9EB3-4583D76DB8F1}" type="presParOf" srcId="{EFF9DF4F-CC1F-4199-9DFE-738BAADAA8A3}" destId="{A70FFCDA-9C18-4C66-87F1-B4EC017F549D}" srcOrd="2" destOrd="0" presId="urn:microsoft.com/office/officeart/2005/8/layout/lProcess1"/>
    <dgm:cxn modelId="{452CCFCB-5950-413A-AC38-F466E9A1E74F}" type="presParOf" srcId="{A70FFCDA-9C18-4C66-87F1-B4EC017F549D}" destId="{79090174-B539-4881-8393-FBB08523B9BD}" srcOrd="0" destOrd="0" presId="urn:microsoft.com/office/officeart/2005/8/layout/lProcess1"/>
    <dgm:cxn modelId="{FDCDE178-072A-47EC-A683-75C663557585}" type="presParOf" srcId="{A70FFCDA-9C18-4C66-87F1-B4EC017F549D}" destId="{5270E538-E3CA-497D-B7AD-E51E461C7235}" srcOrd="1" destOrd="0" presId="urn:microsoft.com/office/officeart/2005/8/layout/lProcess1"/>
    <dgm:cxn modelId="{35232408-8391-4D43-A7E5-A290B53CFDE5}" type="presParOf" srcId="{A70FFCDA-9C18-4C66-87F1-B4EC017F549D}" destId="{AA54581E-CB62-4712-BBD6-D7E70A1AFAF6}" srcOrd="2" destOrd="0" presId="urn:microsoft.com/office/officeart/2005/8/layout/lProcess1"/>
    <dgm:cxn modelId="{9D0CBBAF-C06E-43EF-A106-9A2EEAFA30EC}" type="presParOf" srcId="{A70FFCDA-9C18-4C66-87F1-B4EC017F549D}" destId="{D7D4BF2B-7102-4FDD-A967-EF29A1B76771}" srcOrd="3" destOrd="0" presId="urn:microsoft.com/office/officeart/2005/8/layout/lProcess1"/>
    <dgm:cxn modelId="{ACBA5A95-9F19-42A9-B011-21FB9AB1AF47}" type="presParOf" srcId="{A70FFCDA-9C18-4C66-87F1-B4EC017F549D}" destId="{727FBB2E-B4FB-4C45-9C70-3ACEEABCE12C}" srcOrd="4" destOrd="0" presId="urn:microsoft.com/office/officeart/2005/8/layout/lProcess1"/>
    <dgm:cxn modelId="{7000B52D-B39D-4596-8179-0275362E3D72}" type="presParOf" srcId="{EFF9DF4F-CC1F-4199-9DFE-738BAADAA8A3}" destId="{9135BA5D-99F8-4E2E-B395-D06C8707647C}" srcOrd="3" destOrd="0" presId="urn:microsoft.com/office/officeart/2005/8/layout/lProcess1"/>
    <dgm:cxn modelId="{5704AE4C-D5F2-4E0F-960E-C62A60B6FB3A}" type="presParOf" srcId="{EFF9DF4F-CC1F-4199-9DFE-738BAADAA8A3}" destId="{8035C512-CC5C-4125-B3DE-C40669ECAFBC}" srcOrd="4" destOrd="0" presId="urn:microsoft.com/office/officeart/2005/8/layout/lProcess1"/>
    <dgm:cxn modelId="{868CEA55-9018-4453-A972-BC4976EEE1F0}" type="presParOf" srcId="{8035C512-CC5C-4125-B3DE-C40669ECAFBC}" destId="{FFAAFBE8-2D78-4D94-86AA-9700A980B051}" srcOrd="0" destOrd="0" presId="urn:microsoft.com/office/officeart/2005/8/layout/lProcess1"/>
    <dgm:cxn modelId="{FDB91F3A-AB21-4C9F-AB0E-8F51D521F158}" type="presParOf" srcId="{8035C512-CC5C-4125-B3DE-C40669ECAFBC}" destId="{3A7BD9BF-E912-4A1D-8EF4-45AD43452D45}" srcOrd="1" destOrd="0" presId="urn:microsoft.com/office/officeart/2005/8/layout/lProcess1"/>
    <dgm:cxn modelId="{4D06EA3D-D617-4A01-A737-8A98FBFA893A}" type="presParOf" srcId="{8035C512-CC5C-4125-B3DE-C40669ECAFBC}" destId="{3432F93D-0154-4661-8AE6-B40203BC6239}" srcOrd="2" destOrd="0" presId="urn:microsoft.com/office/officeart/2005/8/layout/lProcess1"/>
    <dgm:cxn modelId="{9A6B8CD4-2379-44E6-AF7F-CFF30F6C6450}" type="presParOf" srcId="{EFF9DF4F-CC1F-4199-9DFE-738BAADAA8A3}" destId="{34799F8A-8DB7-4422-BE65-55724655DB93}" srcOrd="5" destOrd="0" presId="urn:microsoft.com/office/officeart/2005/8/layout/lProcess1"/>
    <dgm:cxn modelId="{CFCAA28A-FC3E-4CAB-857A-A97887556E22}" type="presParOf" srcId="{EFF9DF4F-CC1F-4199-9DFE-738BAADAA8A3}" destId="{71D1C096-1EB8-4680-8B91-693F598FBF55}" srcOrd="6" destOrd="0" presId="urn:microsoft.com/office/officeart/2005/8/layout/lProcess1"/>
    <dgm:cxn modelId="{8A5C9659-25A2-424D-947F-6E24F0B2E50F}" type="presParOf" srcId="{71D1C096-1EB8-4680-8B91-693F598FBF55}" destId="{7E2D695A-2A72-427A-A771-DAAD88B69296}" srcOrd="0" destOrd="0" presId="urn:microsoft.com/office/officeart/2005/8/layout/lProcess1"/>
    <dgm:cxn modelId="{FBF556C4-2880-4DC7-B58C-0F8EF30DCA29}" type="presParOf" srcId="{71D1C096-1EB8-4680-8B91-693F598FBF55}" destId="{CBDFCC0C-990C-4AF6-98C6-321EE586763B}" srcOrd="1" destOrd="0" presId="urn:microsoft.com/office/officeart/2005/8/layout/lProcess1"/>
    <dgm:cxn modelId="{C356E570-A399-40D6-8720-C8CE6D192B99}" type="presParOf" srcId="{71D1C096-1EB8-4680-8B91-693F598FBF55}" destId="{05F9500D-19EA-45A1-96BD-DC680B3B5D5D}" srcOrd="2" destOrd="0" presId="urn:microsoft.com/office/officeart/2005/8/layout/l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EEA3B5-4CC9-4B7B-8DAD-92E3261A0776}"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fr-CA"/>
        </a:p>
      </dgm:t>
    </dgm:pt>
    <dgm:pt modelId="{AC834E19-3D0A-4759-B4D2-FEFBD19FDBCA}">
      <dgm:prSet phldrT="[Texte]"/>
      <dgm:spPr/>
      <dgm:t>
        <a:bodyPr/>
        <a:lstStyle/>
        <a:p>
          <a:r>
            <a:rPr lang="fr-CA"/>
            <a:t>Décision</a:t>
          </a:r>
        </a:p>
      </dgm:t>
    </dgm:pt>
    <dgm:pt modelId="{1C5FA7D7-4067-44E6-87E6-EF747B1B68F6}" type="parTrans" cxnId="{7066B813-E8B6-431D-8E53-376AD684E047}">
      <dgm:prSet/>
      <dgm:spPr/>
      <dgm:t>
        <a:bodyPr/>
        <a:lstStyle/>
        <a:p>
          <a:endParaRPr lang="fr-CA"/>
        </a:p>
      </dgm:t>
    </dgm:pt>
    <dgm:pt modelId="{39AE784C-7E0E-49BA-AC1C-1350EF494DA5}" type="sibTrans" cxnId="{7066B813-E8B6-431D-8E53-376AD684E047}">
      <dgm:prSet/>
      <dgm:spPr/>
      <dgm:t>
        <a:bodyPr/>
        <a:lstStyle/>
        <a:p>
          <a:endParaRPr lang="fr-CA"/>
        </a:p>
      </dgm:t>
    </dgm:pt>
    <dgm:pt modelId="{754D0168-153C-4C8B-9509-56406CF19EF7}">
      <dgm:prSet phldrT="[Texte]"/>
      <dgm:spPr/>
      <dgm:t>
        <a:bodyPr/>
        <a:lstStyle/>
        <a:p>
          <a:r>
            <a:rPr lang="fr-CA" u="sng"/>
            <a:t>Proposition 1 </a:t>
          </a:r>
        </a:p>
        <a:p>
          <a:r>
            <a:rPr lang="fr-CA"/>
            <a:t>Ex: Fabriquer</a:t>
          </a:r>
        </a:p>
      </dgm:t>
    </dgm:pt>
    <dgm:pt modelId="{A269E9CB-A74B-4560-8D1F-612F2013E4F6}" type="parTrans" cxnId="{99730B94-5ED4-4769-A1C0-7B77588C15B4}">
      <dgm:prSet/>
      <dgm:spPr/>
      <dgm:t>
        <a:bodyPr/>
        <a:lstStyle/>
        <a:p>
          <a:endParaRPr lang="fr-CA"/>
        </a:p>
      </dgm:t>
    </dgm:pt>
    <dgm:pt modelId="{868BDB6A-8C4F-4389-9544-F76BDD8A24DB}" type="sibTrans" cxnId="{99730B94-5ED4-4769-A1C0-7B77588C15B4}">
      <dgm:prSet/>
      <dgm:spPr/>
      <dgm:t>
        <a:bodyPr/>
        <a:lstStyle/>
        <a:p>
          <a:endParaRPr lang="fr-CA"/>
        </a:p>
      </dgm:t>
    </dgm:pt>
    <dgm:pt modelId="{13891EE1-CDD1-4D02-87A0-168A0A02258F}">
      <dgm:prSet phldrT="[Texte]"/>
      <dgm:spPr/>
      <dgm:t>
        <a:bodyPr/>
        <a:lstStyle/>
        <a:p>
          <a:r>
            <a:rPr lang="fr-CA"/>
            <a:t>Coûts</a:t>
          </a:r>
          <a:endParaRPr lang="fr-CA">
            <a:solidFill>
              <a:schemeClr val="tx1"/>
            </a:solidFill>
          </a:endParaRPr>
        </a:p>
      </dgm:t>
    </dgm:pt>
    <dgm:pt modelId="{42FE81E6-2128-49BF-BD11-8E4888229791}" type="parTrans" cxnId="{329E20B9-0A3C-458A-87A0-7FADC79E7B26}">
      <dgm:prSet/>
      <dgm:spPr/>
      <dgm:t>
        <a:bodyPr/>
        <a:lstStyle/>
        <a:p>
          <a:endParaRPr lang="fr-CA"/>
        </a:p>
      </dgm:t>
    </dgm:pt>
    <dgm:pt modelId="{9F8F8F59-E44F-4F11-B6A3-FFFBC0C61FA1}" type="sibTrans" cxnId="{329E20B9-0A3C-458A-87A0-7FADC79E7B26}">
      <dgm:prSet/>
      <dgm:spPr/>
      <dgm:t>
        <a:bodyPr/>
        <a:lstStyle/>
        <a:p>
          <a:endParaRPr lang="fr-CA"/>
        </a:p>
      </dgm:t>
    </dgm:pt>
    <dgm:pt modelId="{DD184E2B-5CBC-437C-87A9-8319EADB088E}">
      <dgm:prSet phldrT="[Texte]"/>
      <dgm:spPr>
        <a:solidFill>
          <a:schemeClr val="accent6">
            <a:lumMod val="40000"/>
            <a:lumOff val="60000"/>
          </a:schemeClr>
        </a:solidFill>
      </dgm:spPr>
      <dgm:t>
        <a:bodyPr/>
        <a:lstStyle/>
        <a:p>
          <a:r>
            <a:rPr lang="fr-CA">
              <a:solidFill>
                <a:schemeClr val="tx1"/>
              </a:solidFill>
            </a:rPr>
            <a:t>Arguments qualitatifs</a:t>
          </a:r>
        </a:p>
      </dgm:t>
    </dgm:pt>
    <dgm:pt modelId="{6B76557D-D49E-4796-9B50-890170ABCB8A}" type="parTrans" cxnId="{79DB99C1-868E-4171-ABA1-2F448168E04B}">
      <dgm:prSet/>
      <dgm:spPr/>
      <dgm:t>
        <a:bodyPr/>
        <a:lstStyle/>
        <a:p>
          <a:endParaRPr lang="fr-CA"/>
        </a:p>
      </dgm:t>
    </dgm:pt>
    <dgm:pt modelId="{4A88DA50-4CA0-49C4-BB8F-43EDCCB4C268}" type="sibTrans" cxnId="{79DB99C1-868E-4171-ABA1-2F448168E04B}">
      <dgm:prSet/>
      <dgm:spPr/>
      <dgm:t>
        <a:bodyPr/>
        <a:lstStyle/>
        <a:p>
          <a:endParaRPr lang="fr-CA"/>
        </a:p>
      </dgm:t>
    </dgm:pt>
    <dgm:pt modelId="{B45A8377-00B6-45C8-A4F8-F6E6934E12C7}">
      <dgm:prSet phldrT="[Texte]"/>
      <dgm:spPr/>
      <dgm:t>
        <a:bodyPr/>
        <a:lstStyle/>
        <a:p>
          <a:r>
            <a:rPr lang="fr-CA" u="sng"/>
            <a:t>Proposition 2</a:t>
          </a:r>
        </a:p>
        <a:p>
          <a:r>
            <a:rPr lang="fr-CA"/>
            <a:t>Exemple:</a:t>
          </a:r>
        </a:p>
        <a:p>
          <a:r>
            <a:rPr lang="fr-CA"/>
            <a:t>Acheter</a:t>
          </a:r>
        </a:p>
      </dgm:t>
    </dgm:pt>
    <dgm:pt modelId="{2B34FD49-0FD0-4541-8676-0FC6D4CD6088}" type="parTrans" cxnId="{07FC99C7-1FFD-4452-8E81-F791B94F8898}">
      <dgm:prSet/>
      <dgm:spPr/>
      <dgm:t>
        <a:bodyPr/>
        <a:lstStyle/>
        <a:p>
          <a:endParaRPr lang="fr-CA"/>
        </a:p>
      </dgm:t>
    </dgm:pt>
    <dgm:pt modelId="{83215795-8110-42DB-82AF-59C1795E69BE}" type="sibTrans" cxnId="{07FC99C7-1FFD-4452-8E81-F791B94F8898}">
      <dgm:prSet/>
      <dgm:spPr/>
      <dgm:t>
        <a:bodyPr/>
        <a:lstStyle/>
        <a:p>
          <a:endParaRPr lang="fr-CA"/>
        </a:p>
      </dgm:t>
    </dgm:pt>
    <dgm:pt modelId="{7DB501FC-505B-4D1E-9954-3C30A912069C}">
      <dgm:prSet phldrT="[Texte]"/>
      <dgm:spPr/>
      <dgm:t>
        <a:bodyPr/>
        <a:lstStyle/>
        <a:p>
          <a:r>
            <a:rPr lang="fr-CA"/>
            <a:t>Coûts </a:t>
          </a:r>
          <a:endParaRPr lang="fr-CA">
            <a:solidFill>
              <a:schemeClr val="tx1"/>
            </a:solidFill>
          </a:endParaRPr>
        </a:p>
      </dgm:t>
    </dgm:pt>
    <dgm:pt modelId="{1D74E113-64BB-49AA-A829-9BFB3D8A6B03}" type="parTrans" cxnId="{5A19248C-0AB5-45A5-845F-5DFB2FFFE11A}">
      <dgm:prSet/>
      <dgm:spPr/>
      <dgm:t>
        <a:bodyPr/>
        <a:lstStyle/>
        <a:p>
          <a:endParaRPr lang="fr-CA"/>
        </a:p>
      </dgm:t>
    </dgm:pt>
    <dgm:pt modelId="{FD41E2D4-179E-49D9-A6D0-83C09094195C}" type="sibTrans" cxnId="{5A19248C-0AB5-45A5-845F-5DFB2FFFE11A}">
      <dgm:prSet/>
      <dgm:spPr/>
      <dgm:t>
        <a:bodyPr/>
        <a:lstStyle/>
        <a:p>
          <a:endParaRPr lang="fr-CA"/>
        </a:p>
      </dgm:t>
    </dgm:pt>
    <dgm:pt modelId="{572C01BB-E5D3-4392-9980-0A8BE9E9435F}">
      <dgm:prSet/>
      <dgm:spPr>
        <a:solidFill>
          <a:schemeClr val="accent6">
            <a:lumMod val="40000"/>
            <a:lumOff val="60000"/>
          </a:schemeClr>
        </a:solidFill>
      </dgm:spPr>
      <dgm:t>
        <a:bodyPr/>
        <a:lstStyle/>
        <a:p>
          <a:r>
            <a:rPr lang="fr-CA">
              <a:solidFill>
                <a:schemeClr val="tx1"/>
              </a:solidFill>
            </a:rPr>
            <a:t>Arguments qualitatifs</a:t>
          </a:r>
        </a:p>
      </dgm:t>
    </dgm:pt>
    <dgm:pt modelId="{637FEF58-3C51-4E84-B690-BD63C1A77480}" type="parTrans" cxnId="{46D59645-87BA-4F62-8E72-2F50E9397ADF}">
      <dgm:prSet/>
      <dgm:spPr/>
      <dgm:t>
        <a:bodyPr/>
        <a:lstStyle/>
        <a:p>
          <a:endParaRPr lang="fr-CA"/>
        </a:p>
      </dgm:t>
    </dgm:pt>
    <dgm:pt modelId="{A8CE2FC0-5FF9-45A7-BBD8-EBA0D57A7987}" type="sibTrans" cxnId="{46D59645-87BA-4F62-8E72-2F50E9397ADF}">
      <dgm:prSet/>
      <dgm:spPr/>
      <dgm:t>
        <a:bodyPr/>
        <a:lstStyle/>
        <a:p>
          <a:endParaRPr lang="fr-CA"/>
        </a:p>
      </dgm:t>
    </dgm:pt>
    <dgm:pt modelId="{D0B46A9C-A59F-4519-A249-0D3BC04C7EA6}" type="pres">
      <dgm:prSet presAssocID="{63EEA3B5-4CC9-4B7B-8DAD-92E3261A0776}" presName="diagram" presStyleCnt="0">
        <dgm:presLayoutVars>
          <dgm:chPref val="1"/>
          <dgm:dir/>
          <dgm:animOne val="branch"/>
          <dgm:animLvl val="lvl"/>
          <dgm:resizeHandles val="exact"/>
        </dgm:presLayoutVars>
      </dgm:prSet>
      <dgm:spPr/>
    </dgm:pt>
    <dgm:pt modelId="{0558C367-53A4-4DA5-B5F2-46F82FC0E8A7}" type="pres">
      <dgm:prSet presAssocID="{AC834E19-3D0A-4759-B4D2-FEFBD19FDBCA}" presName="root1" presStyleCnt="0"/>
      <dgm:spPr/>
    </dgm:pt>
    <dgm:pt modelId="{17C9F793-22C4-4508-9213-4A54AA53FE08}" type="pres">
      <dgm:prSet presAssocID="{AC834E19-3D0A-4759-B4D2-FEFBD19FDBCA}" presName="LevelOneTextNode" presStyleLbl="node0" presStyleIdx="0" presStyleCnt="1">
        <dgm:presLayoutVars>
          <dgm:chPref val="3"/>
        </dgm:presLayoutVars>
      </dgm:prSet>
      <dgm:spPr/>
    </dgm:pt>
    <dgm:pt modelId="{085C6826-856D-4AE6-A857-C010459A0A94}" type="pres">
      <dgm:prSet presAssocID="{AC834E19-3D0A-4759-B4D2-FEFBD19FDBCA}" presName="level2hierChild" presStyleCnt="0"/>
      <dgm:spPr/>
    </dgm:pt>
    <dgm:pt modelId="{39A7ECF1-B076-4BF8-82F4-A508A2A60425}" type="pres">
      <dgm:prSet presAssocID="{A269E9CB-A74B-4560-8D1F-612F2013E4F6}" presName="conn2-1" presStyleLbl="parChTrans1D2" presStyleIdx="0" presStyleCnt="2"/>
      <dgm:spPr/>
    </dgm:pt>
    <dgm:pt modelId="{E7B5B5A6-FDBE-436A-9BA8-6B48F82C6A9E}" type="pres">
      <dgm:prSet presAssocID="{A269E9CB-A74B-4560-8D1F-612F2013E4F6}" presName="connTx" presStyleLbl="parChTrans1D2" presStyleIdx="0" presStyleCnt="2"/>
      <dgm:spPr/>
    </dgm:pt>
    <dgm:pt modelId="{48192F06-4F13-48E6-8708-766F037C5AC1}" type="pres">
      <dgm:prSet presAssocID="{754D0168-153C-4C8B-9509-56406CF19EF7}" presName="root2" presStyleCnt="0"/>
      <dgm:spPr/>
    </dgm:pt>
    <dgm:pt modelId="{F7E5F906-637D-44A2-B8D7-4E94B756CFA2}" type="pres">
      <dgm:prSet presAssocID="{754D0168-153C-4C8B-9509-56406CF19EF7}" presName="LevelTwoTextNode" presStyleLbl="node2" presStyleIdx="0" presStyleCnt="2" custScaleY="140573">
        <dgm:presLayoutVars>
          <dgm:chPref val="3"/>
        </dgm:presLayoutVars>
      </dgm:prSet>
      <dgm:spPr/>
    </dgm:pt>
    <dgm:pt modelId="{70FCFD26-A368-4755-B9D3-DF2DF22641BC}" type="pres">
      <dgm:prSet presAssocID="{754D0168-153C-4C8B-9509-56406CF19EF7}" presName="level3hierChild" presStyleCnt="0"/>
      <dgm:spPr/>
    </dgm:pt>
    <dgm:pt modelId="{EB2D36C5-2420-4AC7-9705-1176A26E2C5F}" type="pres">
      <dgm:prSet presAssocID="{42FE81E6-2128-49BF-BD11-8E4888229791}" presName="conn2-1" presStyleLbl="parChTrans1D3" presStyleIdx="0" presStyleCnt="4"/>
      <dgm:spPr/>
    </dgm:pt>
    <dgm:pt modelId="{E9AB4FD0-D259-4C79-BFF3-93674C997DF0}" type="pres">
      <dgm:prSet presAssocID="{42FE81E6-2128-49BF-BD11-8E4888229791}" presName="connTx" presStyleLbl="parChTrans1D3" presStyleIdx="0" presStyleCnt="4"/>
      <dgm:spPr/>
    </dgm:pt>
    <dgm:pt modelId="{53B43544-98A6-462F-98C2-D398D24E6DAE}" type="pres">
      <dgm:prSet presAssocID="{13891EE1-CDD1-4D02-87A0-168A0A02258F}" presName="root2" presStyleCnt="0"/>
      <dgm:spPr/>
    </dgm:pt>
    <dgm:pt modelId="{FF7508DC-C1AB-4A9F-B509-D8AEB4BE65A0}" type="pres">
      <dgm:prSet presAssocID="{13891EE1-CDD1-4D02-87A0-168A0A02258F}" presName="LevelTwoTextNode" presStyleLbl="node3" presStyleIdx="0" presStyleCnt="4">
        <dgm:presLayoutVars>
          <dgm:chPref val="3"/>
        </dgm:presLayoutVars>
      </dgm:prSet>
      <dgm:spPr/>
    </dgm:pt>
    <dgm:pt modelId="{7107E602-5A27-4E68-9D47-B56BFBADE015}" type="pres">
      <dgm:prSet presAssocID="{13891EE1-CDD1-4D02-87A0-168A0A02258F}" presName="level3hierChild" presStyleCnt="0"/>
      <dgm:spPr/>
    </dgm:pt>
    <dgm:pt modelId="{A8817C85-1C64-4FDC-A0E7-33CC8C97B5BB}" type="pres">
      <dgm:prSet presAssocID="{6B76557D-D49E-4796-9B50-890170ABCB8A}" presName="conn2-1" presStyleLbl="parChTrans1D3" presStyleIdx="1" presStyleCnt="4"/>
      <dgm:spPr/>
    </dgm:pt>
    <dgm:pt modelId="{14B608F3-4215-4F46-BF58-4C8F46A7BF4A}" type="pres">
      <dgm:prSet presAssocID="{6B76557D-D49E-4796-9B50-890170ABCB8A}" presName="connTx" presStyleLbl="parChTrans1D3" presStyleIdx="1" presStyleCnt="4"/>
      <dgm:spPr/>
    </dgm:pt>
    <dgm:pt modelId="{7D631285-0E15-4BDC-BA42-5C12822D49B8}" type="pres">
      <dgm:prSet presAssocID="{DD184E2B-5CBC-437C-87A9-8319EADB088E}" presName="root2" presStyleCnt="0"/>
      <dgm:spPr/>
    </dgm:pt>
    <dgm:pt modelId="{ED5BB6B7-2B99-4619-8B08-BEBA5C019575}" type="pres">
      <dgm:prSet presAssocID="{DD184E2B-5CBC-437C-87A9-8319EADB088E}" presName="LevelTwoTextNode" presStyleLbl="node3" presStyleIdx="1" presStyleCnt="4">
        <dgm:presLayoutVars>
          <dgm:chPref val="3"/>
        </dgm:presLayoutVars>
      </dgm:prSet>
      <dgm:spPr/>
    </dgm:pt>
    <dgm:pt modelId="{61111F84-0203-4E19-AB95-698E7111AAE5}" type="pres">
      <dgm:prSet presAssocID="{DD184E2B-5CBC-437C-87A9-8319EADB088E}" presName="level3hierChild" presStyleCnt="0"/>
      <dgm:spPr/>
    </dgm:pt>
    <dgm:pt modelId="{AC177249-25F0-4F61-ABC5-7E5E75C3CC36}" type="pres">
      <dgm:prSet presAssocID="{2B34FD49-0FD0-4541-8676-0FC6D4CD6088}" presName="conn2-1" presStyleLbl="parChTrans1D2" presStyleIdx="1" presStyleCnt="2"/>
      <dgm:spPr/>
    </dgm:pt>
    <dgm:pt modelId="{2D898489-E874-44CB-8476-DDA48506BE83}" type="pres">
      <dgm:prSet presAssocID="{2B34FD49-0FD0-4541-8676-0FC6D4CD6088}" presName="connTx" presStyleLbl="parChTrans1D2" presStyleIdx="1" presStyleCnt="2"/>
      <dgm:spPr/>
    </dgm:pt>
    <dgm:pt modelId="{DC4EF76C-F7FB-44E7-9FEA-B9B0E90AECCB}" type="pres">
      <dgm:prSet presAssocID="{B45A8377-00B6-45C8-A4F8-F6E6934E12C7}" presName="root2" presStyleCnt="0"/>
      <dgm:spPr/>
    </dgm:pt>
    <dgm:pt modelId="{EE05DB02-B4B3-41A2-A912-16CE57532ADD}" type="pres">
      <dgm:prSet presAssocID="{B45A8377-00B6-45C8-A4F8-F6E6934E12C7}" presName="LevelTwoTextNode" presStyleLbl="node2" presStyleIdx="1" presStyleCnt="2" custScaleY="148714">
        <dgm:presLayoutVars>
          <dgm:chPref val="3"/>
        </dgm:presLayoutVars>
      </dgm:prSet>
      <dgm:spPr/>
    </dgm:pt>
    <dgm:pt modelId="{465C41CF-C17F-4A1A-AFBB-860DEF6F6F4A}" type="pres">
      <dgm:prSet presAssocID="{B45A8377-00B6-45C8-A4F8-F6E6934E12C7}" presName="level3hierChild" presStyleCnt="0"/>
      <dgm:spPr/>
    </dgm:pt>
    <dgm:pt modelId="{C436ECC6-7942-4552-9886-F95B0A0A5AC2}" type="pres">
      <dgm:prSet presAssocID="{1D74E113-64BB-49AA-A829-9BFB3D8A6B03}" presName="conn2-1" presStyleLbl="parChTrans1D3" presStyleIdx="2" presStyleCnt="4"/>
      <dgm:spPr/>
    </dgm:pt>
    <dgm:pt modelId="{66168437-1B42-4C75-B2E6-E8A0BDE378E6}" type="pres">
      <dgm:prSet presAssocID="{1D74E113-64BB-49AA-A829-9BFB3D8A6B03}" presName="connTx" presStyleLbl="parChTrans1D3" presStyleIdx="2" presStyleCnt="4"/>
      <dgm:spPr/>
    </dgm:pt>
    <dgm:pt modelId="{951C5DD6-CB6D-4A89-94FC-A3E3E97431A7}" type="pres">
      <dgm:prSet presAssocID="{7DB501FC-505B-4D1E-9954-3C30A912069C}" presName="root2" presStyleCnt="0"/>
      <dgm:spPr/>
    </dgm:pt>
    <dgm:pt modelId="{F7005976-9D34-4860-9D65-3ADF1D22DB7F}" type="pres">
      <dgm:prSet presAssocID="{7DB501FC-505B-4D1E-9954-3C30A912069C}" presName="LevelTwoTextNode" presStyleLbl="node3" presStyleIdx="2" presStyleCnt="4">
        <dgm:presLayoutVars>
          <dgm:chPref val="3"/>
        </dgm:presLayoutVars>
      </dgm:prSet>
      <dgm:spPr/>
    </dgm:pt>
    <dgm:pt modelId="{520EB535-B085-4AC1-A165-C77CEBE503EF}" type="pres">
      <dgm:prSet presAssocID="{7DB501FC-505B-4D1E-9954-3C30A912069C}" presName="level3hierChild" presStyleCnt="0"/>
      <dgm:spPr/>
    </dgm:pt>
    <dgm:pt modelId="{A8AE42AC-D949-4135-93D7-D116D6DCDB51}" type="pres">
      <dgm:prSet presAssocID="{637FEF58-3C51-4E84-B690-BD63C1A77480}" presName="conn2-1" presStyleLbl="parChTrans1D3" presStyleIdx="3" presStyleCnt="4"/>
      <dgm:spPr/>
    </dgm:pt>
    <dgm:pt modelId="{1402D9C1-F4F2-43D0-8A23-EC9CAC057075}" type="pres">
      <dgm:prSet presAssocID="{637FEF58-3C51-4E84-B690-BD63C1A77480}" presName="connTx" presStyleLbl="parChTrans1D3" presStyleIdx="3" presStyleCnt="4"/>
      <dgm:spPr/>
    </dgm:pt>
    <dgm:pt modelId="{79351529-45CC-4E6C-A1F5-494EEAADE25E}" type="pres">
      <dgm:prSet presAssocID="{572C01BB-E5D3-4392-9980-0A8BE9E9435F}" presName="root2" presStyleCnt="0"/>
      <dgm:spPr/>
    </dgm:pt>
    <dgm:pt modelId="{D14E8C20-2B11-4830-AC9B-9F18E934ACC1}" type="pres">
      <dgm:prSet presAssocID="{572C01BB-E5D3-4392-9980-0A8BE9E9435F}" presName="LevelTwoTextNode" presStyleLbl="node3" presStyleIdx="3" presStyleCnt="4">
        <dgm:presLayoutVars>
          <dgm:chPref val="3"/>
        </dgm:presLayoutVars>
      </dgm:prSet>
      <dgm:spPr/>
    </dgm:pt>
    <dgm:pt modelId="{FB0A3684-0E46-460A-A19B-17A5E214D240}" type="pres">
      <dgm:prSet presAssocID="{572C01BB-E5D3-4392-9980-0A8BE9E9435F}" presName="level3hierChild" presStyleCnt="0"/>
      <dgm:spPr/>
    </dgm:pt>
  </dgm:ptLst>
  <dgm:cxnLst>
    <dgm:cxn modelId="{35302310-7462-4046-8518-BE195C61FD1C}" type="presOf" srcId="{572C01BB-E5D3-4392-9980-0A8BE9E9435F}" destId="{D14E8C20-2B11-4830-AC9B-9F18E934ACC1}" srcOrd="0" destOrd="0" presId="urn:microsoft.com/office/officeart/2005/8/layout/hierarchy2"/>
    <dgm:cxn modelId="{9DABB711-FA7D-4E2B-93C4-610AE0235DA6}" type="presOf" srcId="{1D74E113-64BB-49AA-A829-9BFB3D8A6B03}" destId="{C436ECC6-7942-4552-9886-F95B0A0A5AC2}" srcOrd="0" destOrd="0" presId="urn:microsoft.com/office/officeart/2005/8/layout/hierarchy2"/>
    <dgm:cxn modelId="{7066B813-E8B6-431D-8E53-376AD684E047}" srcId="{63EEA3B5-4CC9-4B7B-8DAD-92E3261A0776}" destId="{AC834E19-3D0A-4759-B4D2-FEFBD19FDBCA}" srcOrd="0" destOrd="0" parTransId="{1C5FA7D7-4067-44E6-87E6-EF747B1B68F6}" sibTransId="{39AE784C-7E0E-49BA-AC1C-1350EF494DA5}"/>
    <dgm:cxn modelId="{F7114E24-A96E-4021-AE91-781CF4786738}" type="presOf" srcId="{AC834E19-3D0A-4759-B4D2-FEFBD19FDBCA}" destId="{17C9F793-22C4-4508-9213-4A54AA53FE08}" srcOrd="0" destOrd="0" presId="urn:microsoft.com/office/officeart/2005/8/layout/hierarchy2"/>
    <dgm:cxn modelId="{73CE0E27-1CFA-4001-83EC-595109473072}" type="presOf" srcId="{13891EE1-CDD1-4D02-87A0-168A0A02258F}" destId="{FF7508DC-C1AB-4A9F-B509-D8AEB4BE65A0}" srcOrd="0" destOrd="0" presId="urn:microsoft.com/office/officeart/2005/8/layout/hierarchy2"/>
    <dgm:cxn modelId="{8B8C4928-2480-46E0-BF81-EE283A3C13AF}" type="presOf" srcId="{A269E9CB-A74B-4560-8D1F-612F2013E4F6}" destId="{39A7ECF1-B076-4BF8-82F4-A508A2A60425}" srcOrd="0" destOrd="0" presId="urn:microsoft.com/office/officeart/2005/8/layout/hierarchy2"/>
    <dgm:cxn modelId="{9EE1812C-5A4A-460A-90DF-DF71B3AFFB35}" type="presOf" srcId="{2B34FD49-0FD0-4541-8676-0FC6D4CD6088}" destId="{2D898489-E874-44CB-8476-DDA48506BE83}" srcOrd="1" destOrd="0" presId="urn:microsoft.com/office/officeart/2005/8/layout/hierarchy2"/>
    <dgm:cxn modelId="{46D59645-87BA-4F62-8E72-2F50E9397ADF}" srcId="{B45A8377-00B6-45C8-A4F8-F6E6934E12C7}" destId="{572C01BB-E5D3-4392-9980-0A8BE9E9435F}" srcOrd="1" destOrd="0" parTransId="{637FEF58-3C51-4E84-B690-BD63C1A77480}" sibTransId="{A8CE2FC0-5FF9-45A7-BBD8-EBA0D57A7987}"/>
    <dgm:cxn modelId="{95415F49-3CB4-47D9-AA5A-4E889819761D}" type="presOf" srcId="{754D0168-153C-4C8B-9509-56406CF19EF7}" destId="{F7E5F906-637D-44A2-B8D7-4E94B756CFA2}" srcOrd="0" destOrd="0" presId="urn:microsoft.com/office/officeart/2005/8/layout/hierarchy2"/>
    <dgm:cxn modelId="{17D0424D-4614-4DA6-B99B-78A2CA11D909}" type="presOf" srcId="{637FEF58-3C51-4E84-B690-BD63C1A77480}" destId="{1402D9C1-F4F2-43D0-8A23-EC9CAC057075}" srcOrd="1" destOrd="0" presId="urn:microsoft.com/office/officeart/2005/8/layout/hierarchy2"/>
    <dgm:cxn modelId="{3D0AAC53-A7D7-4912-BDE2-501E57C095C9}" type="presOf" srcId="{42FE81E6-2128-49BF-BD11-8E4888229791}" destId="{EB2D36C5-2420-4AC7-9705-1176A26E2C5F}" srcOrd="0" destOrd="0" presId="urn:microsoft.com/office/officeart/2005/8/layout/hierarchy2"/>
    <dgm:cxn modelId="{250C0B5A-172A-49E0-88D4-0D8E38BD1C0D}" type="presOf" srcId="{1D74E113-64BB-49AA-A829-9BFB3D8A6B03}" destId="{66168437-1B42-4C75-B2E6-E8A0BDE378E6}" srcOrd="1" destOrd="0" presId="urn:microsoft.com/office/officeart/2005/8/layout/hierarchy2"/>
    <dgm:cxn modelId="{050E0D82-E17E-4695-9292-C786C3124E85}" type="presOf" srcId="{637FEF58-3C51-4E84-B690-BD63C1A77480}" destId="{A8AE42AC-D949-4135-93D7-D116D6DCDB51}" srcOrd="0" destOrd="0" presId="urn:microsoft.com/office/officeart/2005/8/layout/hierarchy2"/>
    <dgm:cxn modelId="{5A19248C-0AB5-45A5-845F-5DFB2FFFE11A}" srcId="{B45A8377-00B6-45C8-A4F8-F6E6934E12C7}" destId="{7DB501FC-505B-4D1E-9954-3C30A912069C}" srcOrd="0" destOrd="0" parTransId="{1D74E113-64BB-49AA-A829-9BFB3D8A6B03}" sibTransId="{FD41E2D4-179E-49D9-A6D0-83C09094195C}"/>
    <dgm:cxn modelId="{DB0C808D-F4F5-4145-94E8-E6CBD5C483F6}" type="presOf" srcId="{7DB501FC-505B-4D1E-9954-3C30A912069C}" destId="{F7005976-9D34-4860-9D65-3ADF1D22DB7F}" srcOrd="0" destOrd="0" presId="urn:microsoft.com/office/officeart/2005/8/layout/hierarchy2"/>
    <dgm:cxn modelId="{E7213A8E-C76E-4D5C-A30E-3138217BDEC4}" type="presOf" srcId="{2B34FD49-0FD0-4541-8676-0FC6D4CD6088}" destId="{AC177249-25F0-4F61-ABC5-7E5E75C3CC36}" srcOrd="0" destOrd="0" presId="urn:microsoft.com/office/officeart/2005/8/layout/hierarchy2"/>
    <dgm:cxn modelId="{99730B94-5ED4-4769-A1C0-7B77588C15B4}" srcId="{AC834E19-3D0A-4759-B4D2-FEFBD19FDBCA}" destId="{754D0168-153C-4C8B-9509-56406CF19EF7}" srcOrd="0" destOrd="0" parTransId="{A269E9CB-A74B-4560-8D1F-612F2013E4F6}" sibTransId="{868BDB6A-8C4F-4389-9544-F76BDD8A24DB}"/>
    <dgm:cxn modelId="{43B79B9E-BC70-45F8-BAC1-7698895D7FBE}" type="presOf" srcId="{6B76557D-D49E-4796-9B50-890170ABCB8A}" destId="{A8817C85-1C64-4FDC-A0E7-33CC8C97B5BB}" srcOrd="0" destOrd="0" presId="urn:microsoft.com/office/officeart/2005/8/layout/hierarchy2"/>
    <dgm:cxn modelId="{218431AD-997F-4E36-8528-46C43C1807CD}" type="presOf" srcId="{63EEA3B5-4CC9-4B7B-8DAD-92E3261A0776}" destId="{D0B46A9C-A59F-4519-A249-0D3BC04C7EA6}" srcOrd="0" destOrd="0" presId="urn:microsoft.com/office/officeart/2005/8/layout/hierarchy2"/>
    <dgm:cxn modelId="{329E20B9-0A3C-458A-87A0-7FADC79E7B26}" srcId="{754D0168-153C-4C8B-9509-56406CF19EF7}" destId="{13891EE1-CDD1-4D02-87A0-168A0A02258F}" srcOrd="0" destOrd="0" parTransId="{42FE81E6-2128-49BF-BD11-8E4888229791}" sibTransId="{9F8F8F59-E44F-4F11-B6A3-FFFBC0C61FA1}"/>
    <dgm:cxn modelId="{9FE7DABF-DEF5-4708-A45F-25C79357EFAC}" type="presOf" srcId="{6B76557D-D49E-4796-9B50-890170ABCB8A}" destId="{14B608F3-4215-4F46-BF58-4C8F46A7BF4A}" srcOrd="1" destOrd="0" presId="urn:microsoft.com/office/officeart/2005/8/layout/hierarchy2"/>
    <dgm:cxn modelId="{79DB99C1-868E-4171-ABA1-2F448168E04B}" srcId="{754D0168-153C-4C8B-9509-56406CF19EF7}" destId="{DD184E2B-5CBC-437C-87A9-8319EADB088E}" srcOrd="1" destOrd="0" parTransId="{6B76557D-D49E-4796-9B50-890170ABCB8A}" sibTransId="{4A88DA50-4CA0-49C4-BB8F-43EDCCB4C268}"/>
    <dgm:cxn modelId="{07FC99C7-1FFD-4452-8E81-F791B94F8898}" srcId="{AC834E19-3D0A-4759-B4D2-FEFBD19FDBCA}" destId="{B45A8377-00B6-45C8-A4F8-F6E6934E12C7}" srcOrd="1" destOrd="0" parTransId="{2B34FD49-0FD0-4541-8676-0FC6D4CD6088}" sibTransId="{83215795-8110-42DB-82AF-59C1795E69BE}"/>
    <dgm:cxn modelId="{97E31CE1-7AD7-4F91-ADEE-5355F0C1EC3E}" type="presOf" srcId="{A269E9CB-A74B-4560-8D1F-612F2013E4F6}" destId="{E7B5B5A6-FDBE-436A-9BA8-6B48F82C6A9E}" srcOrd="1" destOrd="0" presId="urn:microsoft.com/office/officeart/2005/8/layout/hierarchy2"/>
    <dgm:cxn modelId="{6DD480E1-F683-4831-9D9F-D7A4E8319DF2}" type="presOf" srcId="{B45A8377-00B6-45C8-A4F8-F6E6934E12C7}" destId="{EE05DB02-B4B3-41A2-A912-16CE57532ADD}" srcOrd="0" destOrd="0" presId="urn:microsoft.com/office/officeart/2005/8/layout/hierarchy2"/>
    <dgm:cxn modelId="{1A37CCE3-25D5-4D9A-9281-EA1414F55439}" type="presOf" srcId="{42FE81E6-2128-49BF-BD11-8E4888229791}" destId="{E9AB4FD0-D259-4C79-BFF3-93674C997DF0}" srcOrd="1" destOrd="0" presId="urn:microsoft.com/office/officeart/2005/8/layout/hierarchy2"/>
    <dgm:cxn modelId="{D9679CF8-11DB-4F7E-B108-90E4D6277DB0}" type="presOf" srcId="{DD184E2B-5CBC-437C-87A9-8319EADB088E}" destId="{ED5BB6B7-2B99-4619-8B08-BEBA5C019575}" srcOrd="0" destOrd="0" presId="urn:microsoft.com/office/officeart/2005/8/layout/hierarchy2"/>
    <dgm:cxn modelId="{0E1B1BB8-6B28-484F-9A22-CCB615644F4B}" type="presParOf" srcId="{D0B46A9C-A59F-4519-A249-0D3BC04C7EA6}" destId="{0558C367-53A4-4DA5-B5F2-46F82FC0E8A7}" srcOrd="0" destOrd="0" presId="urn:microsoft.com/office/officeart/2005/8/layout/hierarchy2"/>
    <dgm:cxn modelId="{C7FFB0F6-3214-4F55-B9F4-E243353AF17F}" type="presParOf" srcId="{0558C367-53A4-4DA5-B5F2-46F82FC0E8A7}" destId="{17C9F793-22C4-4508-9213-4A54AA53FE08}" srcOrd="0" destOrd="0" presId="urn:microsoft.com/office/officeart/2005/8/layout/hierarchy2"/>
    <dgm:cxn modelId="{CDB6BFF8-2690-42BF-824A-4285FE7AB21C}" type="presParOf" srcId="{0558C367-53A4-4DA5-B5F2-46F82FC0E8A7}" destId="{085C6826-856D-4AE6-A857-C010459A0A94}" srcOrd="1" destOrd="0" presId="urn:microsoft.com/office/officeart/2005/8/layout/hierarchy2"/>
    <dgm:cxn modelId="{739E4EF3-364B-4B2F-AEEE-ED73A0324584}" type="presParOf" srcId="{085C6826-856D-4AE6-A857-C010459A0A94}" destId="{39A7ECF1-B076-4BF8-82F4-A508A2A60425}" srcOrd="0" destOrd="0" presId="urn:microsoft.com/office/officeart/2005/8/layout/hierarchy2"/>
    <dgm:cxn modelId="{F792E87C-EAAF-4069-A512-0BC75D214D56}" type="presParOf" srcId="{39A7ECF1-B076-4BF8-82F4-A508A2A60425}" destId="{E7B5B5A6-FDBE-436A-9BA8-6B48F82C6A9E}" srcOrd="0" destOrd="0" presId="urn:microsoft.com/office/officeart/2005/8/layout/hierarchy2"/>
    <dgm:cxn modelId="{0208F39E-BF37-4BF2-AA2C-BD2EB0E03CEB}" type="presParOf" srcId="{085C6826-856D-4AE6-A857-C010459A0A94}" destId="{48192F06-4F13-48E6-8708-766F037C5AC1}" srcOrd="1" destOrd="0" presId="urn:microsoft.com/office/officeart/2005/8/layout/hierarchy2"/>
    <dgm:cxn modelId="{F8A700A6-0898-4327-BC49-4C8656409F1F}" type="presParOf" srcId="{48192F06-4F13-48E6-8708-766F037C5AC1}" destId="{F7E5F906-637D-44A2-B8D7-4E94B756CFA2}" srcOrd="0" destOrd="0" presId="urn:microsoft.com/office/officeart/2005/8/layout/hierarchy2"/>
    <dgm:cxn modelId="{4347D1E7-4B6A-461A-B810-D5E98AA70F2F}" type="presParOf" srcId="{48192F06-4F13-48E6-8708-766F037C5AC1}" destId="{70FCFD26-A368-4755-B9D3-DF2DF22641BC}" srcOrd="1" destOrd="0" presId="urn:microsoft.com/office/officeart/2005/8/layout/hierarchy2"/>
    <dgm:cxn modelId="{A609B1BA-2368-401B-9F11-A7042454459B}" type="presParOf" srcId="{70FCFD26-A368-4755-B9D3-DF2DF22641BC}" destId="{EB2D36C5-2420-4AC7-9705-1176A26E2C5F}" srcOrd="0" destOrd="0" presId="urn:microsoft.com/office/officeart/2005/8/layout/hierarchy2"/>
    <dgm:cxn modelId="{B06D0EB6-10D2-415D-9C60-CC858B03F0D2}" type="presParOf" srcId="{EB2D36C5-2420-4AC7-9705-1176A26E2C5F}" destId="{E9AB4FD0-D259-4C79-BFF3-93674C997DF0}" srcOrd="0" destOrd="0" presId="urn:microsoft.com/office/officeart/2005/8/layout/hierarchy2"/>
    <dgm:cxn modelId="{EF9E8470-0175-4459-B6E6-E5CEF6C5B296}" type="presParOf" srcId="{70FCFD26-A368-4755-B9D3-DF2DF22641BC}" destId="{53B43544-98A6-462F-98C2-D398D24E6DAE}" srcOrd="1" destOrd="0" presId="urn:microsoft.com/office/officeart/2005/8/layout/hierarchy2"/>
    <dgm:cxn modelId="{D5B2CB28-6BE9-47C6-AE36-CC0E2B1C2615}" type="presParOf" srcId="{53B43544-98A6-462F-98C2-D398D24E6DAE}" destId="{FF7508DC-C1AB-4A9F-B509-D8AEB4BE65A0}" srcOrd="0" destOrd="0" presId="urn:microsoft.com/office/officeart/2005/8/layout/hierarchy2"/>
    <dgm:cxn modelId="{825FD66E-65F4-4C85-AB1A-580952CD2B8A}" type="presParOf" srcId="{53B43544-98A6-462F-98C2-D398D24E6DAE}" destId="{7107E602-5A27-4E68-9D47-B56BFBADE015}" srcOrd="1" destOrd="0" presId="urn:microsoft.com/office/officeart/2005/8/layout/hierarchy2"/>
    <dgm:cxn modelId="{50887137-3B48-421B-BC39-1510DB37E26B}" type="presParOf" srcId="{70FCFD26-A368-4755-B9D3-DF2DF22641BC}" destId="{A8817C85-1C64-4FDC-A0E7-33CC8C97B5BB}" srcOrd="2" destOrd="0" presId="urn:microsoft.com/office/officeart/2005/8/layout/hierarchy2"/>
    <dgm:cxn modelId="{B0EBBFF5-52F5-4B3D-B675-5BDF3AEB4FD7}" type="presParOf" srcId="{A8817C85-1C64-4FDC-A0E7-33CC8C97B5BB}" destId="{14B608F3-4215-4F46-BF58-4C8F46A7BF4A}" srcOrd="0" destOrd="0" presId="urn:microsoft.com/office/officeart/2005/8/layout/hierarchy2"/>
    <dgm:cxn modelId="{0791DB20-044A-4725-9A1D-CBB04D092FD1}" type="presParOf" srcId="{70FCFD26-A368-4755-B9D3-DF2DF22641BC}" destId="{7D631285-0E15-4BDC-BA42-5C12822D49B8}" srcOrd="3" destOrd="0" presId="urn:microsoft.com/office/officeart/2005/8/layout/hierarchy2"/>
    <dgm:cxn modelId="{00AB2A39-5FB6-4455-B9C9-7F09401B17E1}" type="presParOf" srcId="{7D631285-0E15-4BDC-BA42-5C12822D49B8}" destId="{ED5BB6B7-2B99-4619-8B08-BEBA5C019575}" srcOrd="0" destOrd="0" presId="urn:microsoft.com/office/officeart/2005/8/layout/hierarchy2"/>
    <dgm:cxn modelId="{C1B23CFC-BA25-407E-8B55-D354CEC4A2E3}" type="presParOf" srcId="{7D631285-0E15-4BDC-BA42-5C12822D49B8}" destId="{61111F84-0203-4E19-AB95-698E7111AAE5}" srcOrd="1" destOrd="0" presId="urn:microsoft.com/office/officeart/2005/8/layout/hierarchy2"/>
    <dgm:cxn modelId="{991633CC-5A82-426E-A7E4-61B130BCBACA}" type="presParOf" srcId="{085C6826-856D-4AE6-A857-C010459A0A94}" destId="{AC177249-25F0-4F61-ABC5-7E5E75C3CC36}" srcOrd="2" destOrd="0" presId="urn:microsoft.com/office/officeart/2005/8/layout/hierarchy2"/>
    <dgm:cxn modelId="{B4811DE6-2F09-4BB9-96A7-90B84A1BF0DC}" type="presParOf" srcId="{AC177249-25F0-4F61-ABC5-7E5E75C3CC36}" destId="{2D898489-E874-44CB-8476-DDA48506BE83}" srcOrd="0" destOrd="0" presId="urn:microsoft.com/office/officeart/2005/8/layout/hierarchy2"/>
    <dgm:cxn modelId="{3C313687-624C-4228-99C0-474C53810940}" type="presParOf" srcId="{085C6826-856D-4AE6-A857-C010459A0A94}" destId="{DC4EF76C-F7FB-44E7-9FEA-B9B0E90AECCB}" srcOrd="3" destOrd="0" presId="urn:microsoft.com/office/officeart/2005/8/layout/hierarchy2"/>
    <dgm:cxn modelId="{5C255B4B-88AC-4563-AAD3-0A6D6905B505}" type="presParOf" srcId="{DC4EF76C-F7FB-44E7-9FEA-B9B0E90AECCB}" destId="{EE05DB02-B4B3-41A2-A912-16CE57532ADD}" srcOrd="0" destOrd="0" presId="urn:microsoft.com/office/officeart/2005/8/layout/hierarchy2"/>
    <dgm:cxn modelId="{533D064C-F2BE-4AA9-AF2A-F1F7E08DB9DF}" type="presParOf" srcId="{DC4EF76C-F7FB-44E7-9FEA-B9B0E90AECCB}" destId="{465C41CF-C17F-4A1A-AFBB-860DEF6F6F4A}" srcOrd="1" destOrd="0" presId="urn:microsoft.com/office/officeart/2005/8/layout/hierarchy2"/>
    <dgm:cxn modelId="{EAD65DC3-FF08-43BD-843E-DBF641BA6FC9}" type="presParOf" srcId="{465C41CF-C17F-4A1A-AFBB-860DEF6F6F4A}" destId="{C436ECC6-7942-4552-9886-F95B0A0A5AC2}" srcOrd="0" destOrd="0" presId="urn:microsoft.com/office/officeart/2005/8/layout/hierarchy2"/>
    <dgm:cxn modelId="{57A9AF81-93FC-41EF-81E8-406EB6AA4DE9}" type="presParOf" srcId="{C436ECC6-7942-4552-9886-F95B0A0A5AC2}" destId="{66168437-1B42-4C75-B2E6-E8A0BDE378E6}" srcOrd="0" destOrd="0" presId="urn:microsoft.com/office/officeart/2005/8/layout/hierarchy2"/>
    <dgm:cxn modelId="{24A2C627-506F-455B-A7D3-F81D58914A5A}" type="presParOf" srcId="{465C41CF-C17F-4A1A-AFBB-860DEF6F6F4A}" destId="{951C5DD6-CB6D-4A89-94FC-A3E3E97431A7}" srcOrd="1" destOrd="0" presId="urn:microsoft.com/office/officeart/2005/8/layout/hierarchy2"/>
    <dgm:cxn modelId="{5768B1B1-F47D-437E-A3BA-B8F989F54D97}" type="presParOf" srcId="{951C5DD6-CB6D-4A89-94FC-A3E3E97431A7}" destId="{F7005976-9D34-4860-9D65-3ADF1D22DB7F}" srcOrd="0" destOrd="0" presId="urn:microsoft.com/office/officeart/2005/8/layout/hierarchy2"/>
    <dgm:cxn modelId="{3CB03F61-E872-40B5-A5EC-62204871BDE4}" type="presParOf" srcId="{951C5DD6-CB6D-4A89-94FC-A3E3E97431A7}" destId="{520EB535-B085-4AC1-A165-C77CEBE503EF}" srcOrd="1" destOrd="0" presId="urn:microsoft.com/office/officeart/2005/8/layout/hierarchy2"/>
    <dgm:cxn modelId="{7477C2F9-624E-4E1A-B0CB-F22218C5F0E9}" type="presParOf" srcId="{465C41CF-C17F-4A1A-AFBB-860DEF6F6F4A}" destId="{A8AE42AC-D949-4135-93D7-D116D6DCDB51}" srcOrd="2" destOrd="0" presId="urn:microsoft.com/office/officeart/2005/8/layout/hierarchy2"/>
    <dgm:cxn modelId="{4CDBF193-7A51-4AE5-93A1-E7CFD4FFA200}" type="presParOf" srcId="{A8AE42AC-D949-4135-93D7-D116D6DCDB51}" destId="{1402D9C1-F4F2-43D0-8A23-EC9CAC057075}" srcOrd="0" destOrd="0" presId="urn:microsoft.com/office/officeart/2005/8/layout/hierarchy2"/>
    <dgm:cxn modelId="{57E8F1A5-971B-4C04-A1FC-0B3199F2A306}" type="presParOf" srcId="{465C41CF-C17F-4A1A-AFBB-860DEF6F6F4A}" destId="{79351529-45CC-4E6C-A1F5-494EEAADE25E}" srcOrd="3" destOrd="0" presId="urn:microsoft.com/office/officeart/2005/8/layout/hierarchy2"/>
    <dgm:cxn modelId="{8ED5D17A-962C-4A7F-AA95-3F607CDFBE51}" type="presParOf" srcId="{79351529-45CC-4E6C-A1F5-494EEAADE25E}" destId="{D14E8C20-2B11-4830-AC9B-9F18E934ACC1}" srcOrd="0" destOrd="0" presId="urn:microsoft.com/office/officeart/2005/8/layout/hierarchy2"/>
    <dgm:cxn modelId="{38193865-A8B9-4F8B-8D8F-FDE47DA42135}" type="presParOf" srcId="{79351529-45CC-4E6C-A1F5-494EEAADE25E}" destId="{FB0A3684-0E46-460A-A19B-17A5E214D240}" srcOrd="1" destOrd="0" presId="urn:microsoft.com/office/officeart/2005/8/layout/hierarchy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ABA71-E8F3-4EF3-86D0-4DFB8D0AB459}">
      <dsp:nvSpPr>
        <dsp:cNvPr id="0" name=""/>
        <dsp:cNvSpPr/>
      </dsp:nvSpPr>
      <dsp:spPr>
        <a:xfrm>
          <a:off x="105226" y="411"/>
          <a:ext cx="2561065" cy="1567339"/>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a:t>
          </a:r>
        </a:p>
        <a:p>
          <a:pPr marL="0" lvl="0" indent="0" algn="ctr" defTabSz="1066800">
            <a:lnSpc>
              <a:spcPct val="90000"/>
            </a:lnSpc>
            <a:spcBef>
              <a:spcPct val="0"/>
            </a:spcBef>
            <a:spcAft>
              <a:spcPct val="35000"/>
            </a:spcAft>
            <a:buNone/>
          </a:pPr>
          <a:r>
            <a:rPr lang="fr-CA" sz="2400" b="1" kern="1200"/>
            <a:t>unitaire</a:t>
          </a:r>
        </a:p>
      </dsp:txBody>
      <dsp:txXfrm>
        <a:off x="151132" y="46317"/>
        <a:ext cx="2469253" cy="1475527"/>
      </dsp:txXfrm>
    </dsp:sp>
    <dsp:sp modelId="{1AF0B4FE-E2AE-4371-B378-EC21F851B286}">
      <dsp:nvSpPr>
        <dsp:cNvPr id="0" name=""/>
        <dsp:cNvSpPr/>
      </dsp:nvSpPr>
      <dsp:spPr>
        <a:xfrm rot="5400000">
          <a:off x="1329735" y="1623775"/>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2ED684-3058-4FF4-AFFB-CD3B061CECFB}">
      <dsp:nvSpPr>
        <dsp:cNvPr id="0" name=""/>
        <dsp:cNvSpPr/>
      </dsp:nvSpPr>
      <dsp:spPr>
        <a:xfrm>
          <a:off x="105226" y="1791845"/>
          <a:ext cx="2561065" cy="1923584"/>
        </a:xfrm>
        <a:prstGeom prst="roundRect">
          <a:avLst>
            <a:gd name="adj" fmla="val 10000"/>
          </a:avLst>
        </a:prstGeom>
        <a:solidFill>
          <a:schemeClr val="lt1">
            <a:alpha val="90000"/>
            <a:tint val="40000"/>
            <a:hueOff val="0"/>
            <a:satOff val="0"/>
            <a:lumOff val="0"/>
            <a:alphaOff val="0"/>
          </a:schemeClr>
        </a:solidFill>
        <a:ln w="12700" cap="flat" cmpd="sng" algn="ctr">
          <a:solidFill>
            <a:schemeClr val="accent6">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latin typeface="+mn-lt"/>
              <a:cs typeface="Arial" pitchFamily="34" charset="0"/>
            </a:rPr>
            <a:t>Prix de vente</a:t>
          </a:r>
        </a:p>
        <a:p>
          <a:pPr marL="0" lvl="0" indent="0" algn="ctr" defTabSz="1066800">
            <a:lnSpc>
              <a:spcPct val="90000"/>
            </a:lnSpc>
            <a:spcBef>
              <a:spcPct val="0"/>
            </a:spcBef>
            <a:spcAft>
              <a:spcPct val="35000"/>
            </a:spcAft>
            <a:buNone/>
          </a:pPr>
          <a:r>
            <a:rPr lang="fr-CA" sz="2400" b="0" kern="1200">
              <a:latin typeface="+mn-lt"/>
              <a:cs typeface="Arial" pitchFamily="34" charset="0"/>
            </a:rPr>
            <a:t>(-)</a:t>
          </a:r>
        </a:p>
        <a:p>
          <a:pPr marL="0" lvl="0" indent="0" algn="ctr" defTabSz="1066800">
            <a:lnSpc>
              <a:spcPct val="90000"/>
            </a:lnSpc>
            <a:spcBef>
              <a:spcPct val="0"/>
            </a:spcBef>
            <a:spcAft>
              <a:spcPct val="35000"/>
            </a:spcAft>
            <a:buNone/>
          </a:pPr>
          <a:r>
            <a:rPr lang="fr-CA" sz="2400" b="0" kern="1200">
              <a:latin typeface="+mn-lt"/>
              <a:cs typeface="Arial" pitchFamily="34" charset="0"/>
            </a:rPr>
            <a:t>Coûts variables unitaires</a:t>
          </a:r>
        </a:p>
      </dsp:txBody>
      <dsp:txXfrm>
        <a:off x="161566" y="1848185"/>
        <a:ext cx="2448385" cy="1810904"/>
      </dsp:txXfrm>
    </dsp:sp>
    <dsp:sp modelId="{79090174-B539-4881-8393-FBB08523B9BD}">
      <dsp:nvSpPr>
        <dsp:cNvPr id="0" name=""/>
        <dsp:cNvSpPr/>
      </dsp:nvSpPr>
      <dsp:spPr>
        <a:xfrm>
          <a:off x="3024840" y="411"/>
          <a:ext cx="2561065" cy="6402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totale</a:t>
          </a:r>
        </a:p>
      </dsp:txBody>
      <dsp:txXfrm>
        <a:off x="3043593" y="19164"/>
        <a:ext cx="2523559" cy="602760"/>
      </dsp:txXfrm>
    </dsp:sp>
    <dsp:sp modelId="{5270E538-E3CA-497D-B7AD-E51E461C7235}">
      <dsp:nvSpPr>
        <dsp:cNvPr id="0" name=""/>
        <dsp:cNvSpPr/>
      </dsp:nvSpPr>
      <dsp:spPr>
        <a:xfrm rot="5400000">
          <a:off x="4249350" y="6967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54581E-CB62-4712-BBD6-D7E70A1AFAF6}">
      <dsp:nvSpPr>
        <dsp:cNvPr id="0" name=""/>
        <dsp:cNvSpPr/>
      </dsp:nvSpPr>
      <dsp:spPr>
        <a:xfrm>
          <a:off x="3024840" y="864771"/>
          <a:ext cx="2561065" cy="1828965"/>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t>Chiffre d’affaires</a:t>
          </a:r>
        </a:p>
        <a:p>
          <a:pPr marL="0" lvl="0" indent="0" algn="ctr" defTabSz="1066800">
            <a:lnSpc>
              <a:spcPct val="90000"/>
            </a:lnSpc>
            <a:spcBef>
              <a:spcPct val="0"/>
            </a:spcBef>
            <a:spcAft>
              <a:spcPct val="35000"/>
            </a:spcAft>
            <a:buNone/>
          </a:pPr>
          <a:r>
            <a:rPr lang="fr-CA" sz="2400" b="0" kern="1200"/>
            <a:t>(-)</a:t>
          </a:r>
        </a:p>
        <a:p>
          <a:pPr marL="0" lvl="0" indent="0" algn="ctr" defTabSz="1066800">
            <a:lnSpc>
              <a:spcPct val="90000"/>
            </a:lnSpc>
            <a:spcBef>
              <a:spcPct val="0"/>
            </a:spcBef>
            <a:spcAft>
              <a:spcPct val="35000"/>
            </a:spcAft>
            <a:buNone/>
          </a:pPr>
          <a:r>
            <a:rPr lang="fr-CA" sz="2400" b="0" kern="1200"/>
            <a:t>Coûts variables totaux</a:t>
          </a:r>
        </a:p>
      </dsp:txBody>
      <dsp:txXfrm>
        <a:off x="3078409" y="918340"/>
        <a:ext cx="2453927" cy="1721827"/>
      </dsp:txXfrm>
    </dsp:sp>
    <dsp:sp modelId="{D7D4BF2B-7102-4FDD-A967-EF29A1B76771}">
      <dsp:nvSpPr>
        <dsp:cNvPr id="0" name=""/>
        <dsp:cNvSpPr/>
      </dsp:nvSpPr>
      <dsp:spPr>
        <a:xfrm rot="5400000">
          <a:off x="4249350" y="2749760"/>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7FBB2E-B4FB-4C45-9C70-3ACEEABCE12C}">
      <dsp:nvSpPr>
        <dsp:cNvPr id="0" name=""/>
        <dsp:cNvSpPr/>
      </dsp:nvSpPr>
      <dsp:spPr>
        <a:xfrm>
          <a:off x="3024840" y="2917830"/>
          <a:ext cx="2561065" cy="1828965"/>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t>MCV unitaire</a:t>
          </a:r>
        </a:p>
        <a:p>
          <a:pPr marL="0" lvl="0" indent="0" algn="ctr" defTabSz="1066800">
            <a:lnSpc>
              <a:spcPct val="90000"/>
            </a:lnSpc>
            <a:spcBef>
              <a:spcPct val="0"/>
            </a:spcBef>
            <a:spcAft>
              <a:spcPct val="35000"/>
            </a:spcAft>
            <a:buNone/>
          </a:pPr>
          <a:r>
            <a:rPr lang="fr-CA" sz="2400" b="0" kern="1200"/>
            <a:t>x</a:t>
          </a:r>
        </a:p>
        <a:p>
          <a:pPr marL="0" lvl="0" indent="0" algn="ctr" defTabSz="1066800">
            <a:lnSpc>
              <a:spcPct val="90000"/>
            </a:lnSpc>
            <a:spcBef>
              <a:spcPct val="0"/>
            </a:spcBef>
            <a:spcAft>
              <a:spcPct val="35000"/>
            </a:spcAft>
            <a:buNone/>
          </a:pPr>
          <a:r>
            <a:rPr lang="fr-CA" sz="2400" b="0" kern="1200"/>
            <a:t>Nombre d’unités</a:t>
          </a:r>
        </a:p>
      </dsp:txBody>
      <dsp:txXfrm>
        <a:off x="3078409" y="2971399"/>
        <a:ext cx="2453927" cy="1721827"/>
      </dsp:txXfrm>
    </dsp:sp>
    <dsp:sp modelId="{FFAAFBE8-2D78-4D94-86AA-9700A980B051}">
      <dsp:nvSpPr>
        <dsp:cNvPr id="0" name=""/>
        <dsp:cNvSpPr/>
      </dsp:nvSpPr>
      <dsp:spPr>
        <a:xfrm>
          <a:off x="5944455" y="411"/>
          <a:ext cx="2561065" cy="6402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Marge sur coûts spécifiques</a:t>
          </a:r>
        </a:p>
      </dsp:txBody>
      <dsp:txXfrm>
        <a:off x="5963208" y="19164"/>
        <a:ext cx="2523559" cy="602760"/>
      </dsp:txXfrm>
    </dsp:sp>
    <dsp:sp modelId="{3A7BD9BF-E912-4A1D-8EF4-45AD43452D45}">
      <dsp:nvSpPr>
        <dsp:cNvPr id="0" name=""/>
        <dsp:cNvSpPr/>
      </dsp:nvSpPr>
      <dsp:spPr>
        <a:xfrm rot="5400000">
          <a:off x="7168964" y="6967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432F93D-0154-4661-8AE6-B40203BC6239}">
      <dsp:nvSpPr>
        <dsp:cNvPr id="0" name=""/>
        <dsp:cNvSpPr/>
      </dsp:nvSpPr>
      <dsp:spPr>
        <a:xfrm>
          <a:off x="5944455" y="864771"/>
          <a:ext cx="2561065" cy="1273476"/>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kern="1200"/>
            <a:t> MCV totale</a:t>
          </a:r>
        </a:p>
        <a:p>
          <a:pPr marL="0" lvl="0" indent="0" algn="ctr" defTabSz="889000">
            <a:lnSpc>
              <a:spcPct val="90000"/>
            </a:lnSpc>
            <a:spcBef>
              <a:spcPct val="0"/>
            </a:spcBef>
            <a:spcAft>
              <a:spcPct val="35000"/>
            </a:spcAft>
            <a:buNone/>
          </a:pPr>
          <a:r>
            <a:rPr lang="fr-CA" sz="2000" kern="1200"/>
            <a:t>(-)</a:t>
          </a:r>
        </a:p>
        <a:p>
          <a:pPr marL="0" lvl="0" indent="0" algn="ctr" defTabSz="889000">
            <a:lnSpc>
              <a:spcPct val="90000"/>
            </a:lnSpc>
            <a:spcBef>
              <a:spcPct val="0"/>
            </a:spcBef>
            <a:spcAft>
              <a:spcPct val="35000"/>
            </a:spcAft>
            <a:buNone/>
          </a:pPr>
          <a:r>
            <a:rPr lang="fr-CA" sz="2000" kern="1200"/>
            <a:t>Coûts fixes spécifiques</a:t>
          </a:r>
        </a:p>
      </dsp:txBody>
      <dsp:txXfrm>
        <a:off x="5981754" y="902070"/>
        <a:ext cx="2486467" cy="1198878"/>
      </dsp:txXfrm>
    </dsp:sp>
    <dsp:sp modelId="{7E2D695A-2A72-427A-A771-DAAD88B69296}">
      <dsp:nvSpPr>
        <dsp:cNvPr id="0" name=""/>
        <dsp:cNvSpPr/>
      </dsp:nvSpPr>
      <dsp:spPr>
        <a:xfrm>
          <a:off x="8864069" y="411"/>
          <a:ext cx="2561065" cy="16208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a:t>
          </a:r>
        </a:p>
        <a:p>
          <a:pPr marL="0" lvl="0" indent="0" algn="ctr" defTabSz="1066800">
            <a:lnSpc>
              <a:spcPct val="90000"/>
            </a:lnSpc>
            <a:spcBef>
              <a:spcPct val="0"/>
            </a:spcBef>
            <a:spcAft>
              <a:spcPct val="35000"/>
            </a:spcAft>
            <a:buNone/>
          </a:pPr>
          <a:r>
            <a:rPr lang="fr-CA" sz="2400" b="1" kern="1200"/>
            <a:t>par unité d’un facteur de production</a:t>
          </a:r>
        </a:p>
      </dsp:txBody>
      <dsp:txXfrm>
        <a:off x="8911543" y="47885"/>
        <a:ext cx="2466117" cy="1525918"/>
      </dsp:txXfrm>
    </dsp:sp>
    <dsp:sp modelId="{CBDFCC0C-990C-4AF6-98C6-321EE586763B}">
      <dsp:nvSpPr>
        <dsp:cNvPr id="0" name=""/>
        <dsp:cNvSpPr/>
      </dsp:nvSpPr>
      <dsp:spPr>
        <a:xfrm rot="5400000">
          <a:off x="10088578" y="16773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F9500D-19EA-45A1-96BD-DC680B3B5D5D}">
      <dsp:nvSpPr>
        <dsp:cNvPr id="0" name=""/>
        <dsp:cNvSpPr/>
      </dsp:nvSpPr>
      <dsp:spPr>
        <a:xfrm>
          <a:off x="8864069" y="1845371"/>
          <a:ext cx="2561065" cy="2913800"/>
        </a:xfrm>
        <a:prstGeom prst="roundRect">
          <a:avLst>
            <a:gd name="adj" fmla="val 10000"/>
          </a:avLst>
        </a:prstGeom>
        <a:solidFill>
          <a:schemeClr val="lt1">
            <a:alpha val="90000"/>
            <a:tint val="40000"/>
            <a:hueOff val="0"/>
            <a:satOff val="0"/>
            <a:lumOff val="0"/>
            <a:alphaOff val="0"/>
          </a:schemeClr>
        </a:solidFill>
        <a:ln w="12700" cap="flat" cmpd="sng" algn="ctr">
          <a:solidFill>
            <a:schemeClr val="accent6">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fr-CA" sz="1800" kern="1200"/>
            <a:t>MCV unitaire d’un produit</a:t>
          </a:r>
        </a:p>
        <a:p>
          <a:pPr marL="0" lvl="0" indent="0" algn="ctr" defTabSz="800100">
            <a:lnSpc>
              <a:spcPct val="90000"/>
            </a:lnSpc>
            <a:spcBef>
              <a:spcPct val="0"/>
            </a:spcBef>
            <a:spcAft>
              <a:spcPct val="35000"/>
            </a:spcAft>
            <a:buNone/>
          </a:pPr>
          <a:r>
            <a:rPr lang="fr-CA" sz="1800" kern="1200"/>
            <a:t>____________________</a:t>
          </a:r>
        </a:p>
        <a:p>
          <a:pPr marL="0" lvl="0" indent="0" algn="ctr" defTabSz="800100">
            <a:lnSpc>
              <a:spcPct val="90000"/>
            </a:lnSpc>
            <a:spcBef>
              <a:spcPct val="0"/>
            </a:spcBef>
            <a:spcAft>
              <a:spcPct val="35000"/>
            </a:spcAft>
            <a:buNone/>
          </a:pPr>
          <a:r>
            <a:rPr lang="fr-CA" sz="1800" kern="1200"/>
            <a:t>Nombre d’unités de facteur de production requises pour fabriquer le produit</a:t>
          </a:r>
        </a:p>
      </dsp:txBody>
      <dsp:txXfrm>
        <a:off x="8939080" y="1920382"/>
        <a:ext cx="2411043" cy="27637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C9F793-22C4-4508-9213-4A54AA53FE08}">
      <dsp:nvSpPr>
        <dsp:cNvPr id="0" name=""/>
        <dsp:cNvSpPr/>
      </dsp:nvSpPr>
      <dsp:spPr>
        <a:xfrm>
          <a:off x="1194" y="1860230"/>
          <a:ext cx="2059979" cy="1029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Décision</a:t>
          </a:r>
        </a:p>
      </dsp:txBody>
      <dsp:txXfrm>
        <a:off x="31361" y="1890397"/>
        <a:ext cx="1999645" cy="969655"/>
      </dsp:txXfrm>
    </dsp:sp>
    <dsp:sp modelId="{39A7ECF1-B076-4BF8-82F4-A508A2A60425}">
      <dsp:nvSpPr>
        <dsp:cNvPr id="0" name=""/>
        <dsp:cNvSpPr/>
      </dsp:nvSpPr>
      <dsp:spPr>
        <a:xfrm rot="18261285">
          <a:off x="1743088" y="1752812"/>
          <a:ext cx="1460162" cy="39375"/>
        </a:xfrm>
        <a:custGeom>
          <a:avLst/>
          <a:gdLst/>
          <a:ahLst/>
          <a:cxnLst/>
          <a:rect l="0" t="0" r="0" b="0"/>
          <a:pathLst>
            <a:path>
              <a:moveTo>
                <a:pt x="0" y="19687"/>
              </a:moveTo>
              <a:lnTo>
                <a:pt x="1460162" y="19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36666" y="1735995"/>
        <a:ext cx="73008" cy="73008"/>
      </dsp:txXfrm>
    </dsp:sp>
    <dsp:sp modelId="{F7E5F906-637D-44A2-B8D7-4E94B756CFA2}">
      <dsp:nvSpPr>
        <dsp:cNvPr id="0" name=""/>
        <dsp:cNvSpPr/>
      </dsp:nvSpPr>
      <dsp:spPr>
        <a:xfrm>
          <a:off x="2885166" y="445830"/>
          <a:ext cx="2059979" cy="144788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u="sng" kern="1200"/>
            <a:t>Proposition 1 </a:t>
          </a:r>
        </a:p>
        <a:p>
          <a:pPr marL="0" lvl="0" indent="0" algn="ctr" defTabSz="1111250">
            <a:lnSpc>
              <a:spcPct val="90000"/>
            </a:lnSpc>
            <a:spcBef>
              <a:spcPct val="0"/>
            </a:spcBef>
            <a:spcAft>
              <a:spcPct val="35000"/>
            </a:spcAft>
            <a:buNone/>
          </a:pPr>
          <a:r>
            <a:rPr lang="fr-CA" sz="2500" kern="1200"/>
            <a:t>Ex: Fabriquer</a:t>
          </a:r>
        </a:p>
      </dsp:txBody>
      <dsp:txXfrm>
        <a:off x="2927573" y="488237"/>
        <a:ext cx="1975165" cy="1363073"/>
      </dsp:txXfrm>
    </dsp:sp>
    <dsp:sp modelId="{EB2D36C5-2420-4AC7-9705-1176A26E2C5F}">
      <dsp:nvSpPr>
        <dsp:cNvPr id="0" name=""/>
        <dsp:cNvSpPr/>
      </dsp:nvSpPr>
      <dsp:spPr>
        <a:xfrm rot="19457599">
          <a:off x="4849767" y="853964"/>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848283"/>
        <a:ext cx="50737" cy="50737"/>
      </dsp:txXfrm>
    </dsp:sp>
    <dsp:sp modelId="{FF7508DC-C1AB-4A9F-B509-D8AEB4BE65A0}">
      <dsp:nvSpPr>
        <dsp:cNvPr id="0" name=""/>
        <dsp:cNvSpPr/>
      </dsp:nvSpPr>
      <dsp:spPr>
        <a:xfrm>
          <a:off x="5769137" y="62535"/>
          <a:ext cx="2059979" cy="102998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Coûts</a:t>
          </a:r>
          <a:endParaRPr lang="fr-CA" sz="2500" kern="1200">
            <a:solidFill>
              <a:schemeClr val="tx1"/>
            </a:solidFill>
          </a:endParaRPr>
        </a:p>
      </dsp:txBody>
      <dsp:txXfrm>
        <a:off x="5799304" y="92702"/>
        <a:ext cx="1999645" cy="969655"/>
      </dsp:txXfrm>
    </dsp:sp>
    <dsp:sp modelId="{A8817C85-1C64-4FDC-A0E7-33CC8C97B5BB}">
      <dsp:nvSpPr>
        <dsp:cNvPr id="0" name=""/>
        <dsp:cNvSpPr/>
      </dsp:nvSpPr>
      <dsp:spPr>
        <a:xfrm rot="2142401">
          <a:off x="4849767" y="1446208"/>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1440527"/>
        <a:ext cx="50737" cy="50737"/>
      </dsp:txXfrm>
    </dsp:sp>
    <dsp:sp modelId="{ED5BB6B7-2B99-4619-8B08-BEBA5C019575}">
      <dsp:nvSpPr>
        <dsp:cNvPr id="0" name=""/>
        <dsp:cNvSpPr/>
      </dsp:nvSpPr>
      <dsp:spPr>
        <a:xfrm>
          <a:off x="5769137" y="1247023"/>
          <a:ext cx="2059979" cy="1029989"/>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solidFill>
                <a:schemeClr val="tx1"/>
              </a:solidFill>
            </a:rPr>
            <a:t>Arguments qualitatifs</a:t>
          </a:r>
        </a:p>
      </dsp:txBody>
      <dsp:txXfrm>
        <a:off x="5799304" y="1277190"/>
        <a:ext cx="1999645" cy="969655"/>
      </dsp:txXfrm>
    </dsp:sp>
    <dsp:sp modelId="{AC177249-25F0-4F61-ABC5-7E5E75C3CC36}">
      <dsp:nvSpPr>
        <dsp:cNvPr id="0" name=""/>
        <dsp:cNvSpPr/>
      </dsp:nvSpPr>
      <dsp:spPr>
        <a:xfrm rot="3281666">
          <a:off x="1760296" y="2937300"/>
          <a:ext cx="1425746" cy="39375"/>
        </a:xfrm>
        <a:custGeom>
          <a:avLst/>
          <a:gdLst/>
          <a:ahLst/>
          <a:cxnLst/>
          <a:rect l="0" t="0" r="0" b="0"/>
          <a:pathLst>
            <a:path>
              <a:moveTo>
                <a:pt x="0" y="19687"/>
              </a:moveTo>
              <a:lnTo>
                <a:pt x="1425746" y="19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37526" y="2921344"/>
        <a:ext cx="71287" cy="71287"/>
      </dsp:txXfrm>
    </dsp:sp>
    <dsp:sp modelId="{EE05DB02-B4B3-41A2-A912-16CE57532ADD}">
      <dsp:nvSpPr>
        <dsp:cNvPr id="0" name=""/>
        <dsp:cNvSpPr/>
      </dsp:nvSpPr>
      <dsp:spPr>
        <a:xfrm>
          <a:off x="2885166" y="2772881"/>
          <a:ext cx="2059979" cy="153173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u="sng" kern="1200"/>
            <a:t>Proposition 2</a:t>
          </a:r>
        </a:p>
        <a:p>
          <a:pPr marL="0" lvl="0" indent="0" algn="ctr" defTabSz="1111250">
            <a:lnSpc>
              <a:spcPct val="90000"/>
            </a:lnSpc>
            <a:spcBef>
              <a:spcPct val="0"/>
            </a:spcBef>
            <a:spcAft>
              <a:spcPct val="35000"/>
            </a:spcAft>
            <a:buNone/>
          </a:pPr>
          <a:r>
            <a:rPr lang="fr-CA" sz="2500" kern="1200"/>
            <a:t>Exemple:</a:t>
          </a:r>
        </a:p>
        <a:p>
          <a:pPr marL="0" lvl="0" indent="0" algn="ctr" defTabSz="1111250">
            <a:lnSpc>
              <a:spcPct val="90000"/>
            </a:lnSpc>
            <a:spcBef>
              <a:spcPct val="0"/>
            </a:spcBef>
            <a:spcAft>
              <a:spcPct val="35000"/>
            </a:spcAft>
            <a:buNone/>
          </a:pPr>
          <a:r>
            <a:rPr lang="fr-CA" sz="2500" kern="1200"/>
            <a:t>Acheter</a:t>
          </a:r>
        </a:p>
      </dsp:txBody>
      <dsp:txXfrm>
        <a:off x="2930029" y="2817744"/>
        <a:ext cx="1970253" cy="1442013"/>
      </dsp:txXfrm>
    </dsp:sp>
    <dsp:sp modelId="{C436ECC6-7942-4552-9886-F95B0A0A5AC2}">
      <dsp:nvSpPr>
        <dsp:cNvPr id="0" name=""/>
        <dsp:cNvSpPr/>
      </dsp:nvSpPr>
      <dsp:spPr>
        <a:xfrm rot="19457599">
          <a:off x="4849767" y="3222941"/>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3217260"/>
        <a:ext cx="50737" cy="50737"/>
      </dsp:txXfrm>
    </dsp:sp>
    <dsp:sp modelId="{F7005976-9D34-4860-9D65-3ADF1D22DB7F}">
      <dsp:nvSpPr>
        <dsp:cNvPr id="0" name=""/>
        <dsp:cNvSpPr/>
      </dsp:nvSpPr>
      <dsp:spPr>
        <a:xfrm>
          <a:off x="5769137" y="2431511"/>
          <a:ext cx="2059979" cy="102998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Coûts </a:t>
          </a:r>
          <a:endParaRPr lang="fr-CA" sz="2500" kern="1200">
            <a:solidFill>
              <a:schemeClr val="tx1"/>
            </a:solidFill>
          </a:endParaRPr>
        </a:p>
      </dsp:txBody>
      <dsp:txXfrm>
        <a:off x="5799304" y="2461678"/>
        <a:ext cx="1999645" cy="969655"/>
      </dsp:txXfrm>
    </dsp:sp>
    <dsp:sp modelId="{A8AE42AC-D949-4135-93D7-D116D6DCDB51}">
      <dsp:nvSpPr>
        <dsp:cNvPr id="0" name=""/>
        <dsp:cNvSpPr/>
      </dsp:nvSpPr>
      <dsp:spPr>
        <a:xfrm rot="2142401">
          <a:off x="4849767" y="3815185"/>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3809504"/>
        <a:ext cx="50737" cy="50737"/>
      </dsp:txXfrm>
    </dsp:sp>
    <dsp:sp modelId="{D14E8C20-2B11-4830-AC9B-9F18E934ACC1}">
      <dsp:nvSpPr>
        <dsp:cNvPr id="0" name=""/>
        <dsp:cNvSpPr/>
      </dsp:nvSpPr>
      <dsp:spPr>
        <a:xfrm>
          <a:off x="5769137" y="3616000"/>
          <a:ext cx="2059979" cy="1029989"/>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solidFill>
                <a:schemeClr val="tx1"/>
              </a:solidFill>
            </a:rPr>
            <a:t>Arguments qualitatifs</a:t>
          </a:r>
        </a:p>
      </dsp:txBody>
      <dsp:txXfrm>
        <a:off x="5799304" y="3646167"/>
        <a:ext cx="1999645" cy="96965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2026-09-02</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2026-09-02</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a:solidFill>
                <a:prstClr val="black"/>
              </a:solidFill>
            </a:endParaRPr>
          </a:p>
        </p:txBody>
      </p:sp>
    </p:spTree>
    <p:extLst>
      <p:ext uri="{BB962C8B-B14F-4D97-AF65-F5344CB8AC3E}">
        <p14:creationId xmlns:p14="http://schemas.microsoft.com/office/powerpoint/2010/main" val="500224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a:t>
            </a:fld>
            <a:endParaRPr lang="fr-CA"/>
          </a:p>
        </p:txBody>
      </p:sp>
    </p:spTree>
    <p:extLst>
      <p:ext uri="{BB962C8B-B14F-4D97-AF65-F5344CB8AC3E}">
        <p14:creationId xmlns:p14="http://schemas.microsoft.com/office/powerpoint/2010/main" val="3639580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F80D2-AC6C-BB51-CA4C-57D94F302B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709199-1BED-E1B3-C9DB-8A050711D55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35DA5E-DA5D-47F5-3214-47759B6CF016}"/>
              </a:ext>
            </a:extLst>
          </p:cNvPr>
          <p:cNvSpPr>
            <a:spLocks noGrp="1"/>
          </p:cNvSpPr>
          <p:nvPr>
            <p:ph type="body" idx="1"/>
          </p:nvPr>
        </p:nvSpPr>
        <p:spPr/>
        <p:txBody>
          <a:bodyPr/>
          <a:lstStyle/>
          <a:p>
            <a:endParaRPr lang="fr-CA" b="0" dirty="0"/>
          </a:p>
        </p:txBody>
      </p:sp>
      <p:sp>
        <p:nvSpPr>
          <p:cNvPr id="4" name="Espace réservé du numéro de diapositive 3">
            <a:extLst>
              <a:ext uri="{FF2B5EF4-FFF2-40B4-BE49-F238E27FC236}">
                <a16:creationId xmlns:a16="http://schemas.microsoft.com/office/drawing/2014/main" id="{0EFD104F-D545-701B-F586-3AEA37E84251}"/>
              </a:ext>
            </a:extLst>
          </p:cNvPr>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3328697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b="0"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a:t>
            </a:fld>
            <a:endParaRPr lang="fr-CA"/>
          </a:p>
        </p:txBody>
      </p:sp>
    </p:spTree>
    <p:extLst>
      <p:ext uri="{BB962C8B-B14F-4D97-AF65-F5344CB8AC3E}">
        <p14:creationId xmlns:p14="http://schemas.microsoft.com/office/powerpoint/2010/main" val="1817369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48DA6A8B-D89A-46FD-832A-72A49CB14D75}" type="slidenum">
              <a:rPr lang="fr-CA" smtClean="0"/>
              <a:t>5</a:t>
            </a:fld>
            <a:endParaRPr lang="fr-CA"/>
          </a:p>
        </p:txBody>
      </p:sp>
    </p:spTree>
    <p:extLst>
      <p:ext uri="{BB962C8B-B14F-4D97-AF65-F5344CB8AC3E}">
        <p14:creationId xmlns:p14="http://schemas.microsoft.com/office/powerpoint/2010/main" val="3736567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BC6F9-B0F0-77AC-3400-04D7BBD498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DFB50E1-7902-7254-3AF2-33B3575D2AA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B8004C-6C35-D7F7-A53D-9D46401116D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BB876C74-C491-4823-15A9-19EBC7C50EF3}"/>
              </a:ext>
            </a:extLst>
          </p:cNvPr>
          <p:cNvSpPr>
            <a:spLocks noGrp="1"/>
          </p:cNvSpPr>
          <p:nvPr>
            <p:ph type="sldNum" sz="quarter" idx="5"/>
          </p:nvPr>
        </p:nvSpPr>
        <p:spPr/>
        <p:txBody>
          <a:bodyPr/>
          <a:lstStyle/>
          <a:p>
            <a:fld id="{D8756633-E94B-447C-907F-5A907A338167}" type="slidenum">
              <a:rPr lang="fr-CA" smtClean="0"/>
              <a:t>6</a:t>
            </a:fld>
            <a:endParaRPr lang="fr-CA"/>
          </a:p>
        </p:txBody>
      </p:sp>
    </p:spTree>
    <p:extLst>
      <p:ext uri="{BB962C8B-B14F-4D97-AF65-F5344CB8AC3E}">
        <p14:creationId xmlns:p14="http://schemas.microsoft.com/office/powerpoint/2010/main" val="3055440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7</a:t>
            </a:fld>
            <a:endParaRPr lang="fr-CA"/>
          </a:p>
        </p:txBody>
      </p:sp>
    </p:spTree>
    <p:extLst>
      <p:ext uri="{BB962C8B-B14F-4D97-AF65-F5344CB8AC3E}">
        <p14:creationId xmlns:p14="http://schemas.microsoft.com/office/powerpoint/2010/main" val="181556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24239A-3258-4BA2-A3F1-607C310C6FB3}" type="slidenum">
              <a:rPr lang="fr-CA"/>
              <a:pPr/>
              <a:t>8</a:t>
            </a:fld>
            <a:endParaRPr lang="fr-CA"/>
          </a:p>
        </p:txBody>
      </p:sp>
      <p:sp>
        <p:nvSpPr>
          <p:cNvPr id="8194"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358209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9</a:t>
            </a:fld>
            <a:endParaRPr lang="fr-CA"/>
          </a:p>
        </p:txBody>
      </p:sp>
    </p:spTree>
    <p:extLst>
      <p:ext uri="{BB962C8B-B14F-4D97-AF65-F5344CB8AC3E}">
        <p14:creationId xmlns:p14="http://schemas.microsoft.com/office/powerpoint/2010/main" val="4079607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6D0F41-5D59-476F-965B-88EA19BA75D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763" name="Rectangle 3"/>
          <p:cNvSpPr>
            <a:spLocks noGrp="1" noRot="1" noChangeAspect="1" noChangeArrowheads="1" noTextEdit="1"/>
          </p:cNvSpPr>
          <p:nvPr>
            <p:ph type="sldImg"/>
          </p:nvPr>
        </p:nvSpPr>
        <p:spPr>
          <a:xfrm>
            <a:off x="377825" y="715963"/>
            <a:ext cx="6278563" cy="3532187"/>
          </a:xfrm>
          <a:ln w="12700" cap="flat">
            <a:solidFill>
              <a:schemeClr val="tx1"/>
            </a:solidFill>
          </a:ln>
        </p:spPr>
      </p:sp>
      <p:sp>
        <p:nvSpPr>
          <p:cNvPr id="2" name="Espace réservé des commentaires 1"/>
          <p:cNvSpPr>
            <a:spLocks noGrp="1"/>
          </p:cNvSpPr>
          <p:nvPr>
            <p:ph type="body" sz="quarter" idx="10"/>
          </p:nvPr>
        </p:nvSpPr>
        <p:spPr/>
        <p:txBody>
          <a:bodyPr/>
          <a:lstStyle/>
          <a:p>
            <a:r>
              <a:rPr lang="fr-CA" b="0"/>
              <a:t>                                            </a:t>
            </a:r>
          </a:p>
        </p:txBody>
      </p:sp>
    </p:spTree>
    <p:extLst>
      <p:ext uri="{BB962C8B-B14F-4D97-AF65-F5344CB8AC3E}">
        <p14:creationId xmlns:p14="http://schemas.microsoft.com/office/powerpoint/2010/main" val="655746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11</a:t>
            </a:fld>
            <a:endParaRPr lang="fr-CA"/>
          </a:p>
        </p:txBody>
      </p:sp>
    </p:spTree>
    <p:extLst>
      <p:ext uri="{BB962C8B-B14F-4D97-AF65-F5344CB8AC3E}">
        <p14:creationId xmlns:p14="http://schemas.microsoft.com/office/powerpoint/2010/main" val="3581418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3660459"/>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12</a:t>
            </a:fld>
            <a:endParaRPr lang="fr-CA"/>
          </a:p>
        </p:txBody>
      </p:sp>
    </p:spTree>
    <p:extLst>
      <p:ext uri="{BB962C8B-B14F-4D97-AF65-F5344CB8AC3E}">
        <p14:creationId xmlns:p14="http://schemas.microsoft.com/office/powerpoint/2010/main" val="192389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1794-A1BC-7F5E-B651-317FA82182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A54559-4C2B-84F8-72C5-32A51F091EC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7B5413-AA0C-774B-46D3-17D7F4FDEBB4}"/>
              </a:ext>
            </a:extLst>
          </p:cNvPr>
          <p:cNvSpPr>
            <a:spLocks noGrp="1"/>
          </p:cNvSpPr>
          <p:nvPr>
            <p:ph type="body" idx="1"/>
          </p:nvPr>
        </p:nvSpPr>
        <p:spPr/>
        <p:txBody>
          <a:bodyPr/>
          <a:lstStyle/>
          <a:p>
            <a:endParaRPr lang="fr-CA" b="1" dirty="0"/>
          </a:p>
          <a:p>
            <a:endParaRPr lang="fr-CA" dirty="0"/>
          </a:p>
          <a:p>
            <a:endParaRPr lang="fr-CA" dirty="0"/>
          </a:p>
        </p:txBody>
      </p:sp>
      <p:sp>
        <p:nvSpPr>
          <p:cNvPr id="4" name="Espace réservé du numéro de diapositive 3">
            <a:extLst>
              <a:ext uri="{FF2B5EF4-FFF2-40B4-BE49-F238E27FC236}">
                <a16:creationId xmlns:a16="http://schemas.microsoft.com/office/drawing/2014/main" id="{8B875EFB-3588-857A-4274-88B38DC1554E}"/>
              </a:ext>
            </a:extLst>
          </p:cNvPr>
          <p:cNvSpPr>
            <a:spLocks noGrp="1"/>
          </p:cNvSpPr>
          <p:nvPr>
            <p:ph type="sldNum" sz="quarter" idx="5"/>
          </p:nvPr>
        </p:nvSpPr>
        <p:spPr/>
        <p:txBody>
          <a:bodyPr/>
          <a:lstStyle/>
          <a:p>
            <a:fld id="{D8756633-E94B-447C-907F-5A907A338167}" type="slidenum">
              <a:rPr lang="fr-CA" smtClean="0"/>
              <a:t>13</a:t>
            </a:fld>
            <a:endParaRPr lang="fr-CA"/>
          </a:p>
        </p:txBody>
      </p:sp>
    </p:spTree>
    <p:extLst>
      <p:ext uri="{BB962C8B-B14F-4D97-AF65-F5344CB8AC3E}">
        <p14:creationId xmlns:p14="http://schemas.microsoft.com/office/powerpoint/2010/main" val="2090721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14</a:t>
            </a:fld>
            <a:endParaRPr lang="fr-CA"/>
          </a:p>
        </p:txBody>
      </p:sp>
    </p:spTree>
    <p:extLst>
      <p:ext uri="{BB962C8B-B14F-4D97-AF65-F5344CB8AC3E}">
        <p14:creationId xmlns:p14="http://schemas.microsoft.com/office/powerpoint/2010/main" val="336530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073EB0-869C-45A3-AA57-42E998557050}" type="slidenum">
              <a:rPr lang="fr-CA"/>
              <a:pPr/>
              <a:t>15</a:t>
            </a:fld>
            <a:endParaRPr lang="fr-CA"/>
          </a:p>
        </p:txBody>
      </p:sp>
      <p:sp>
        <p:nvSpPr>
          <p:cNvPr id="3174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74140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17A510-4D0A-402E-AFF1-95E0EBFA2200}"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14"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81172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17</a:t>
            </a:fld>
            <a:endParaRPr lang="fr-CA"/>
          </a:p>
        </p:txBody>
      </p:sp>
    </p:spTree>
    <p:extLst>
      <p:ext uri="{BB962C8B-B14F-4D97-AF65-F5344CB8AC3E}">
        <p14:creationId xmlns:p14="http://schemas.microsoft.com/office/powerpoint/2010/main" val="2626348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701040" y="4473891"/>
            <a:ext cx="5608320" cy="4470729"/>
          </a:xfrm>
        </p:spPr>
        <p:txBody>
          <a:bodyPr/>
          <a:lstStyle/>
          <a:p>
            <a:endParaRPr lang="fr-CA" dirty="0">
              <a:cs typeface="Calibri"/>
            </a:endParaRPr>
          </a:p>
        </p:txBody>
      </p:sp>
      <p:sp>
        <p:nvSpPr>
          <p:cNvPr id="4" name="Espace réservé du numéro de diapositive 3"/>
          <p:cNvSpPr>
            <a:spLocks noGrp="1"/>
          </p:cNvSpPr>
          <p:nvPr>
            <p:ph type="sldNum" sz="quarter" idx="10"/>
          </p:nvPr>
        </p:nvSpPr>
        <p:spPr/>
        <p:txBody>
          <a:bodyPr/>
          <a:lstStyle/>
          <a:p>
            <a:fld id="{7AF7707D-0897-4DF0-B5FE-CC24E17167B5}" type="slidenum">
              <a:rPr lang="fr-CA" smtClean="0"/>
              <a:t>18</a:t>
            </a:fld>
            <a:endParaRPr lang="fr-CA"/>
          </a:p>
        </p:txBody>
      </p:sp>
    </p:spTree>
    <p:extLst>
      <p:ext uri="{BB962C8B-B14F-4D97-AF65-F5344CB8AC3E}">
        <p14:creationId xmlns:p14="http://schemas.microsoft.com/office/powerpoint/2010/main" val="2788938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19</a:t>
            </a:fld>
            <a:endParaRPr lang="fr-CA"/>
          </a:p>
        </p:txBody>
      </p:sp>
    </p:spTree>
    <p:extLst>
      <p:ext uri="{BB962C8B-B14F-4D97-AF65-F5344CB8AC3E}">
        <p14:creationId xmlns:p14="http://schemas.microsoft.com/office/powerpoint/2010/main" val="28758168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20</a:t>
            </a:fld>
            <a:endParaRPr lang="fr-CA"/>
          </a:p>
        </p:txBody>
      </p:sp>
    </p:spTree>
    <p:extLst>
      <p:ext uri="{BB962C8B-B14F-4D97-AF65-F5344CB8AC3E}">
        <p14:creationId xmlns:p14="http://schemas.microsoft.com/office/powerpoint/2010/main" val="636090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21</a:t>
            </a:fld>
            <a:endParaRPr lang="fr-CA"/>
          </a:p>
        </p:txBody>
      </p:sp>
    </p:spTree>
    <p:extLst>
      <p:ext uri="{BB962C8B-B14F-4D97-AF65-F5344CB8AC3E}">
        <p14:creationId xmlns:p14="http://schemas.microsoft.com/office/powerpoint/2010/main" val="1153944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22</a:t>
            </a:fld>
            <a:endParaRPr lang="fr-CA"/>
          </a:p>
        </p:txBody>
      </p:sp>
    </p:spTree>
    <p:extLst>
      <p:ext uri="{BB962C8B-B14F-4D97-AF65-F5344CB8AC3E}">
        <p14:creationId xmlns:p14="http://schemas.microsoft.com/office/powerpoint/2010/main" val="1888552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1B2ECE-6101-4E9E-AFFD-60AFDA6DA76E}" type="slidenum">
              <a:rPr lang="fr-CA"/>
              <a:pPr/>
              <a:t>23</a:t>
            </a:fld>
            <a:endParaRPr lang="fr-CA"/>
          </a:p>
        </p:txBody>
      </p:sp>
      <p:sp>
        <p:nvSpPr>
          <p:cNvPr id="34818"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p>
        </p:txBody>
      </p:sp>
    </p:spTree>
    <p:extLst>
      <p:ext uri="{BB962C8B-B14F-4D97-AF65-F5344CB8AC3E}">
        <p14:creationId xmlns:p14="http://schemas.microsoft.com/office/powerpoint/2010/main" val="167792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3B9B-3E90-EF24-FA94-7EC59C6868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A3668D-EA73-C932-43FC-442B6D6CE0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810E22-6419-5796-B2DF-9F4BB6E0ED0B}"/>
              </a:ext>
            </a:extLst>
          </p:cNvPr>
          <p:cNvSpPr>
            <a:spLocks noGrp="1"/>
          </p:cNvSpPr>
          <p:nvPr>
            <p:ph type="body" idx="1"/>
          </p:nvPr>
        </p:nvSpPr>
        <p:spPr>
          <a:xfrm>
            <a:off x="701040" y="4473891"/>
            <a:ext cx="5608320" cy="4457608"/>
          </a:xfrm>
        </p:spPr>
        <p:txBody>
          <a:bodyPr/>
          <a:lstStyle/>
          <a:p>
            <a:endParaRPr lang="fr-CA" dirty="0"/>
          </a:p>
        </p:txBody>
      </p:sp>
      <p:sp>
        <p:nvSpPr>
          <p:cNvPr id="4" name="Espace réservé du numéro de diapositive 3">
            <a:extLst>
              <a:ext uri="{FF2B5EF4-FFF2-40B4-BE49-F238E27FC236}">
                <a16:creationId xmlns:a16="http://schemas.microsoft.com/office/drawing/2014/main" id="{612D6837-672B-85C0-8905-D9EAE3BC13BD}"/>
              </a:ext>
            </a:extLst>
          </p:cNvPr>
          <p:cNvSpPr>
            <a:spLocks noGrp="1"/>
          </p:cNvSpPr>
          <p:nvPr>
            <p:ph type="sldNum" sz="quarter" idx="5"/>
          </p:nvPr>
        </p:nvSpPr>
        <p:spPr/>
        <p:txBody>
          <a:bodyPr/>
          <a:lstStyle/>
          <a:p>
            <a:fld id="{D8756633-E94B-447C-907F-5A907A338167}" type="slidenum">
              <a:rPr lang="fr-CA" smtClean="0"/>
              <a:t>24</a:t>
            </a:fld>
            <a:endParaRPr lang="fr-CA"/>
          </a:p>
        </p:txBody>
      </p:sp>
    </p:spTree>
    <p:extLst>
      <p:ext uri="{BB962C8B-B14F-4D97-AF65-F5344CB8AC3E}">
        <p14:creationId xmlns:p14="http://schemas.microsoft.com/office/powerpoint/2010/main" val="3584489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799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Arial" panose="020B0604020202020204" pitchFamily="34" charset="0"/>
              <a:buNone/>
            </a:pPr>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761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3832982"/>
          </a:xfrm>
        </p:spPr>
        <p:txBody>
          <a:bodyPr/>
          <a:lstStyle/>
          <a:p>
            <a:endParaRPr lang="fr-CA" dirty="0">
              <a:cs typeface="Calibri"/>
            </a:endParaRPr>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27</a:t>
            </a:fld>
            <a:endParaRPr lang="fr-CA"/>
          </a:p>
        </p:txBody>
      </p:sp>
    </p:spTree>
    <p:extLst>
      <p:ext uri="{BB962C8B-B14F-4D97-AF65-F5344CB8AC3E}">
        <p14:creationId xmlns:p14="http://schemas.microsoft.com/office/powerpoint/2010/main" val="627905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28</a:t>
            </a:fld>
            <a:endParaRPr lang="fr-CA"/>
          </a:p>
        </p:txBody>
      </p:sp>
    </p:spTree>
    <p:extLst>
      <p:ext uri="{BB962C8B-B14F-4D97-AF65-F5344CB8AC3E}">
        <p14:creationId xmlns:p14="http://schemas.microsoft.com/office/powerpoint/2010/main" val="3691814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29</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3184608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30</a:t>
            </a:fld>
            <a:endParaRPr lang="fr-CA"/>
          </a:p>
        </p:txBody>
      </p:sp>
    </p:spTree>
    <p:extLst>
      <p:ext uri="{BB962C8B-B14F-4D97-AF65-F5344CB8AC3E}">
        <p14:creationId xmlns:p14="http://schemas.microsoft.com/office/powerpoint/2010/main" val="4202705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3212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p:cNvCxnSpPr/>
          <p:nvPr userDrawn="1"/>
        </p:nvCxnSpPr>
        <p:spPr>
          <a:xfrm>
            <a:off x="765111" y="348065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p:cNvCxnSpPr/>
          <p:nvPr userDrawn="1"/>
        </p:nvCxnSpPr>
        <p:spPr>
          <a:xfrm>
            <a:off x="951722" y="359094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573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endParaRPr lang="fr-CA"/>
          </a:p>
        </p:txBody>
      </p:sp>
      <p:cxnSp>
        <p:nvCxnSpPr>
          <p:cNvPr id="3" name="Connecteur droit 2"/>
          <p:cNvCxnSpPr/>
          <p:nvPr userDrawn="1"/>
        </p:nvCxnSpPr>
        <p:spPr>
          <a:xfrm>
            <a:off x="838200" y="22380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Connecteur droit 3"/>
          <p:cNvCxnSpPr/>
          <p:nvPr userDrawn="1"/>
        </p:nvCxnSpPr>
        <p:spPr>
          <a:xfrm>
            <a:off x="989046" y="238198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4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276457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788839" y="369690"/>
            <a:ext cx="10553700" cy="901700"/>
          </a:xfrm>
        </p:spPr>
        <p:txBody>
          <a:bodyPr/>
          <a:lstStyle>
            <a:lvl1pPr>
              <a:defRPr sz="3200"/>
            </a:lvl1pPr>
          </a:lstStyle>
          <a:p>
            <a:r>
              <a:rPr lang="fr-FR"/>
              <a:t>Modifiez le style du titre</a:t>
            </a:r>
            <a:endParaRPr lang="en-US"/>
          </a:p>
        </p:txBody>
      </p:sp>
      <p:sp>
        <p:nvSpPr>
          <p:cNvPr id="3" name="Text Placeholder 2"/>
          <p:cNvSpPr>
            <a:spLocks noGrp="1"/>
          </p:cNvSpPr>
          <p:nvPr>
            <p:ph type="body" idx="1"/>
          </p:nvPr>
        </p:nvSpPr>
        <p:spPr>
          <a:xfrm>
            <a:off x="788839" y="1435942"/>
            <a:ext cx="3449255"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2" name="Text Placeholder 3"/>
          <p:cNvSpPr>
            <a:spLocks noGrp="1"/>
          </p:cNvSpPr>
          <p:nvPr>
            <p:ph type="body" sz="half" idx="15"/>
          </p:nvPr>
        </p:nvSpPr>
        <p:spPr>
          <a:xfrm>
            <a:off x="788839" y="2361745"/>
            <a:ext cx="3449255"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39084" y="1435942"/>
            <a:ext cx="31018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Text Placeholder 3"/>
          <p:cNvSpPr>
            <a:spLocks noGrp="1"/>
          </p:cNvSpPr>
          <p:nvPr>
            <p:ph type="body" sz="half" idx="16"/>
          </p:nvPr>
        </p:nvSpPr>
        <p:spPr>
          <a:xfrm>
            <a:off x="4542893" y="2361745"/>
            <a:ext cx="3101854"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43121" y="1435942"/>
            <a:ext cx="34011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cxnSp>
        <p:nvCxnSpPr>
          <p:cNvPr id="17" name="Straight Connector 16"/>
          <p:cNvCxnSpPr/>
          <p:nvPr/>
        </p:nvCxnSpPr>
        <p:spPr>
          <a:xfrm>
            <a:off x="439270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9936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6" name="Espace réservé pour une image  5"/>
          <p:cNvSpPr>
            <a:spLocks noGrp="1"/>
          </p:cNvSpPr>
          <p:nvPr>
            <p:ph type="pic" sz="quarter" idx="18"/>
          </p:nvPr>
        </p:nvSpPr>
        <p:spPr>
          <a:xfrm>
            <a:off x="7960468" y="2361743"/>
            <a:ext cx="3382071" cy="3673785"/>
          </a:xfrm>
        </p:spPr>
        <p:txBody>
          <a:bodyPr>
            <a:normAutofit/>
          </a:bodyPr>
          <a:lstStyle>
            <a:lvl1pPr marL="0" indent="0">
              <a:buNone/>
              <a:defRPr sz="1600">
                <a:solidFill>
                  <a:schemeClr val="tx1"/>
                </a:solidFill>
              </a:defRPr>
            </a:lvl1pPr>
          </a:lstStyle>
          <a:p>
            <a:endParaRPr lang="fr-CA"/>
          </a:p>
        </p:txBody>
      </p:sp>
      <p:cxnSp>
        <p:nvCxnSpPr>
          <p:cNvPr id="19" name="Connecteur droit 18"/>
          <p:cNvCxnSpPr/>
          <p:nvPr userDrawn="1"/>
        </p:nvCxnSpPr>
        <p:spPr>
          <a:xfrm>
            <a:off x="628663" y="1298249"/>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flipV="1">
            <a:off x="788839" y="1427030"/>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24"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81918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en-US"/>
              <a:t>(c) 10904 / S04 - Version A2024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504468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3793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10" name="Image 9"/>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1899543394"/>
      </p:ext>
    </p:extLst>
  </p:cSld>
  <p:clrMap bg1="lt1" tx1="dk1" bg2="lt2" tx2="dk2" accent1="accent1" accent2="accent2" accent3="accent3" accent4="accent4" accent5="accent5" accent6="accent6" hlink="hlink" folHlink="folHlink"/>
  <p:sldLayoutIdLst>
    <p:sldLayoutId id="2147483739" r:id="rId1"/>
    <p:sldLayoutId id="2147483674"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688" r:id="rId16"/>
    <p:sldLayoutId id="2147483738" r:id="rId17"/>
    <p:sldLayoutId id="2147483699" r:id="rId18"/>
    <p:sldLayoutId id="2147483700" r:id="rId19"/>
    <p:sldLayoutId id="2147483702" r:id="rId20"/>
    <p:sldLayoutId id="2147483705" r:id="rId21"/>
    <p:sldLayoutId id="2147483662" r:id="rId22"/>
    <p:sldLayoutId id="2147483663" r:id="rId23"/>
    <p:sldLayoutId id="2147483664" r:id="rId24"/>
    <p:sldLayoutId id="2147483666" r:id="rId2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9.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notesSlide" Target="../notesSlides/notesSlide2.xml"/><Relationship Id="rId5" Type="http://schemas.openxmlformats.org/officeDocument/2006/relationships/slideLayout" Target="../slideLayouts/slideLayout4.xml"/><Relationship Id="rId4" Type="http://schemas.openxmlformats.org/officeDocument/2006/relationships/tags" Target="../tags/tag9.xml"/></Relationships>
</file>

<file path=ppt/slides/_rels/slide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13.xml"/></Relationships>
</file>

<file path=ppt/slides/_rels/slide4.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tags" Target="../tags/tag21.xml"/></Relationships>
</file>

<file path=ppt/slides/_rels/slide6.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notesSlide" Target="../notesSlides/notesSlide6.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10.xml"/><Relationship Id="rId5" Type="http://schemas.openxmlformats.org/officeDocument/2006/relationships/tags" Target="../tags/tag26.xml"/><Relationship Id="rId4" Type="http://schemas.openxmlformats.org/officeDocument/2006/relationships/tags" Target="../tags/tag25.xml"/></Relationships>
</file>

<file path=ppt/slides/_rels/slide7.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image" Target="../media/image4.sv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3.sv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notesSlide" Target="../notesSlides/notesSlide7.xml"/><Relationship Id="rId5" Type="http://schemas.openxmlformats.org/officeDocument/2006/relationships/tags" Target="../tags/tag31.xml"/><Relationship Id="rId10" Type="http://schemas.openxmlformats.org/officeDocument/2006/relationships/slideLayout" Target="../slideLayouts/slideLayout2.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39.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43.xml"/></Relationships>
</file>

<file path=ppt/slides/_rels/slide10.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3" Type="http://schemas.openxmlformats.org/officeDocument/2006/relationships/tags" Target="../tags/tag46.xml"/><Relationship Id="rId21" Type="http://schemas.openxmlformats.org/officeDocument/2006/relationships/image" Target="../media/image6.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5" Type="http://schemas.openxmlformats.org/officeDocument/2006/relationships/hyperlink" Target="https://pixabay.com/en/check-check-list-hook-bird-mark-1769866/" TargetMode="Externa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notesSlide" Target="../notesSlides/notesSlide10.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image" Target="../media/image9.png"/><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image" Target="../media/image8.png"/><Relationship Id="rId10" Type="http://schemas.openxmlformats.org/officeDocument/2006/relationships/tags" Target="../tags/tag53.xml"/><Relationship Id="rId19" Type="http://schemas.openxmlformats.org/officeDocument/2006/relationships/slideLayout" Target="../slideLayouts/slideLayout2.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67.xml"/><Relationship Id="rId7"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10" Type="http://schemas.openxmlformats.org/officeDocument/2006/relationships/notesSlide" Target="../notesSlides/notesSlide15.xml"/><Relationship Id="rId4" Type="http://schemas.openxmlformats.org/officeDocument/2006/relationships/tags" Target="../tags/tag77.xml"/><Relationship Id="rId9"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84.xml"/><Relationship Id="rId7"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s/_rels/slide17.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91.xml"/></Relationships>
</file>

<file path=ppt/slides/_rels/slide1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tags" Target="../tags/tag94.xml"/><Relationship Id="rId7" Type="http://schemas.openxmlformats.org/officeDocument/2006/relationships/notesSlide" Target="../notesSlides/notesSlide18.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slideLayout" Target="../slideLayouts/slideLayout2.xml"/><Relationship Id="rId5" Type="http://schemas.openxmlformats.org/officeDocument/2006/relationships/tags" Target="../tags/tag96.xml"/><Relationship Id="rId4" Type="http://schemas.openxmlformats.org/officeDocument/2006/relationships/tags" Target="../tags/tag95.xml"/><Relationship Id="rId9"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tags" Target="../tags/tag99.xml"/><Relationship Id="rId7" Type="http://schemas.openxmlformats.org/officeDocument/2006/relationships/notesSlide" Target="../notesSlides/notesSlide1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slideLayout" Target="../slideLayouts/slideLayout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hyperlink" Target="https://www.publicdomainpictures.net/view-image.php?image=79853&amp;picture=empty-electric-light-bulb" TargetMode="Externa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104.xml"/><Relationship Id="rId7"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111.xml"/><Relationship Id="rId7"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notesSlide" Target="../notesSlides/notesSlide24.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slideLayout" Target="../slideLayouts/slideLayout1.xml"/><Relationship Id="rId5" Type="http://schemas.openxmlformats.org/officeDocument/2006/relationships/tags" Target="../tags/tag126.xml"/><Relationship Id="rId4" Type="http://schemas.openxmlformats.org/officeDocument/2006/relationships/tags" Target="../tags/tag125.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tags" Target="../tags/tag129.xml"/><Relationship Id="rId7" Type="http://schemas.openxmlformats.org/officeDocument/2006/relationships/diagramData" Target="../diagrams/data1.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notesSlide" Target="../notesSlides/notesSlide25.xml"/><Relationship Id="rId11" Type="http://schemas.microsoft.com/office/2007/relationships/diagramDrawing" Target="../diagrams/drawing1.xml"/><Relationship Id="rId5" Type="http://schemas.openxmlformats.org/officeDocument/2006/relationships/slideLayout" Target="../slideLayouts/slideLayout2.xml"/><Relationship Id="rId10" Type="http://schemas.openxmlformats.org/officeDocument/2006/relationships/diagramColors" Target="../diagrams/colors1.xml"/><Relationship Id="rId4" Type="http://schemas.openxmlformats.org/officeDocument/2006/relationships/tags" Target="../tags/tag130.xml"/><Relationship Id="rId9"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134.xml"/></Relationships>
</file>

<file path=ppt/slides/_rels/slide27.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notesSlide" Target="../notesSlides/notesSlide27.xml"/><Relationship Id="rId5" Type="http://schemas.openxmlformats.org/officeDocument/2006/relationships/slideLayout" Target="../slideLayouts/slideLayout17.xml"/><Relationship Id="rId4" Type="http://schemas.openxmlformats.org/officeDocument/2006/relationships/tags" Target="../tags/tag138.xml"/></Relationships>
</file>

<file path=ppt/slides/_rels/slide28.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diagramQuickStyle" Target="../diagrams/quickStyle2.xm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diagramLayout" Target="../diagrams/layout2.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diagramData" Target="../diagrams/data2.xml"/><Relationship Id="rId5" Type="http://schemas.openxmlformats.org/officeDocument/2006/relationships/tags" Target="../tags/tag143.xml"/><Relationship Id="rId15" Type="http://schemas.microsoft.com/office/2007/relationships/diagramDrawing" Target="../diagrams/drawing2.xml"/><Relationship Id="rId10" Type="http://schemas.openxmlformats.org/officeDocument/2006/relationships/notesSlide" Target="../notesSlides/notesSlide28.xml"/><Relationship Id="rId4" Type="http://schemas.openxmlformats.org/officeDocument/2006/relationships/tags" Target="../tags/tag142.xml"/><Relationship Id="rId9" Type="http://schemas.openxmlformats.org/officeDocument/2006/relationships/slideLayout" Target="../slideLayouts/slideLayout2.xml"/><Relationship Id="rId14" Type="http://schemas.openxmlformats.org/officeDocument/2006/relationships/diagramColors" Target="../diagrams/colors2.xml"/></Relationships>
</file>

<file path=ppt/slides/_rels/slide29.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2" Type="http://schemas.openxmlformats.org/officeDocument/2006/relationships/tags" Target="../tags/tag148.xml"/><Relationship Id="rId16" Type="http://schemas.openxmlformats.org/officeDocument/2006/relationships/notesSlide" Target="../notesSlides/notesSlide29.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5" Type="http://schemas.openxmlformats.org/officeDocument/2006/relationships/slideLayout" Target="../slideLayouts/slideLayout9.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s>
</file>

<file path=ppt/slides/_rels/slide30.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tags" Target="../tags/tag1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70F3C878-B96E-4D5A-B0DA-CEEE814779D7}"/>
              </a:ext>
            </a:extLst>
          </p:cNvPr>
          <p:cNvPicPr>
            <a:picLocks noChangeAspect="1"/>
          </p:cNvPicPr>
          <p:nvPr>
            <p:custDataLst>
              <p:tags r:id="rId1"/>
            </p:custDataLst>
          </p:nvPr>
        </p:nvPicPr>
        <p:blipFill rotWithShape="1">
          <a:blip r:embed="rId8"/>
          <a:srcRect l="19892" r="4116" b="-1"/>
          <a:stretch/>
        </p:blipFill>
        <p:spPr>
          <a:xfrm>
            <a:off x="6355442" y="10"/>
            <a:ext cx="5836558" cy="5130404"/>
          </a:xfrm>
          <a:custGeom>
            <a:avLst/>
            <a:gdLst/>
            <a:ahLst/>
            <a:cxnLst/>
            <a:rect l="l" t="t" r="r" b="b"/>
            <a:pathLst>
              <a:path w="5836558" h="5130414">
                <a:moveTo>
                  <a:pt x="2376055" y="0"/>
                </a:moveTo>
                <a:lnTo>
                  <a:pt x="5836558" y="0"/>
                </a:lnTo>
                <a:lnTo>
                  <a:pt x="5836558" y="5130414"/>
                </a:lnTo>
                <a:lnTo>
                  <a:pt x="0" y="5130414"/>
                </a:lnTo>
                <a:close/>
              </a:path>
            </a:pathLst>
          </a:custGeom>
        </p:spPr>
      </p:pic>
      <p:sp>
        <p:nvSpPr>
          <p:cNvPr id="3" name="Sous-titre 2"/>
          <p:cNvSpPr>
            <a:spLocks noGrp="1"/>
          </p:cNvSpPr>
          <p:nvPr>
            <p:ph type="body" idx="1"/>
            <p:custDataLst>
              <p:tags r:id="rId2"/>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r>
              <a:rPr lang="en-US" sz="2000" dirty="0">
                <a:solidFill>
                  <a:schemeClr val="tx1"/>
                </a:solidFill>
              </a:rPr>
              <a:t>Département de sciences </a:t>
            </a:r>
            <a:r>
              <a:rPr lang="en-US" sz="2000" dirty="0" err="1">
                <a:solidFill>
                  <a:schemeClr val="tx1"/>
                </a:solidFill>
              </a:rPr>
              <a:t>comptables</a:t>
            </a:r>
            <a:endParaRPr lang="en-US" sz="2000" dirty="0">
              <a:solidFill>
                <a:schemeClr val="tx1"/>
              </a:solidFill>
            </a:endParaRPr>
          </a:p>
          <a:p>
            <a:r>
              <a:rPr lang="en-US" sz="2000" dirty="0">
                <a:solidFill>
                  <a:schemeClr val="tx1"/>
                </a:solidFill>
              </a:rPr>
              <a:t>Année </a:t>
            </a:r>
            <a:r>
              <a:rPr lang="en-US" sz="2000" dirty="0" err="1">
                <a:solidFill>
                  <a:schemeClr val="tx1"/>
                </a:solidFill>
              </a:rPr>
              <a:t>universitaire</a:t>
            </a:r>
            <a:r>
              <a:rPr lang="en-US" sz="2000" dirty="0">
                <a:solidFill>
                  <a:schemeClr val="tx1"/>
                </a:solidFill>
              </a:rPr>
              <a:t> 2027</a:t>
            </a:r>
          </a:p>
        </p:txBody>
      </p:sp>
      <p:sp>
        <p:nvSpPr>
          <p:cNvPr id="2" name="Titre 1"/>
          <p:cNvSpPr>
            <a:spLocks noGrp="1"/>
          </p:cNvSpPr>
          <p:nvPr>
            <p:ph type="title"/>
            <p:custDataLst>
              <p:tags r:id="rId3"/>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err="1">
                <a:solidFill>
                  <a:schemeClr val="tx1"/>
                </a:solidFill>
                <a:latin typeface="+mj-lt"/>
                <a:ea typeface="+mj-ea"/>
                <a:cs typeface="+mj-cs"/>
              </a:rPr>
              <a:t>Comptabilité</a:t>
            </a:r>
            <a:r>
              <a:rPr lang="en-US" sz="3800">
                <a:solidFill>
                  <a:schemeClr val="tx1"/>
                </a:solidFill>
                <a:latin typeface="+mj-lt"/>
                <a:ea typeface="+mj-ea"/>
                <a:cs typeface="+mj-cs"/>
              </a:rPr>
              <a:t> de gestion</a:t>
            </a:r>
            <a:br>
              <a:rPr lang="en-US" sz="3800">
                <a:latin typeface="+mj-lt"/>
                <a:ea typeface="+mj-ea"/>
                <a:cs typeface="+mj-cs"/>
              </a:rPr>
            </a:br>
            <a:r>
              <a:rPr lang="en-US" sz="3800">
                <a:solidFill>
                  <a:schemeClr val="tx1"/>
                </a:solidFill>
                <a:latin typeface="+mj-lt"/>
                <a:ea typeface="+mj-ea"/>
                <a:cs typeface="+mj-cs"/>
              </a:rPr>
              <a:t>(10904) – Séance 4</a:t>
            </a:r>
            <a:br>
              <a:rPr lang="en-US" sz="3800">
                <a:latin typeface="+mj-lt"/>
                <a:ea typeface="+mj-ea"/>
                <a:cs typeface="+mj-cs"/>
              </a:rPr>
            </a:br>
            <a:r>
              <a:rPr lang="en-US" sz="3800">
                <a:solidFill>
                  <a:schemeClr val="tx1"/>
                </a:solidFill>
                <a:latin typeface="+mj-lt"/>
                <a:ea typeface="+mj-ea"/>
                <a:cs typeface="+mj-cs"/>
              </a:rPr>
              <a:t>Séance </a:t>
            </a:r>
            <a:r>
              <a:rPr lang="en-US" sz="3800" err="1">
                <a:solidFill>
                  <a:schemeClr val="tx1"/>
                </a:solidFill>
                <a:latin typeface="+mj-lt"/>
                <a:ea typeface="+mj-ea"/>
                <a:cs typeface="+mj-cs"/>
              </a:rPr>
              <a:t>en</a:t>
            </a:r>
            <a:r>
              <a:rPr lang="en-US" sz="3800">
                <a:solidFill>
                  <a:schemeClr val="tx1"/>
                </a:solidFill>
                <a:latin typeface="+mj-lt"/>
                <a:ea typeface="+mj-ea"/>
                <a:cs typeface="+mj-cs"/>
              </a:rPr>
              <a:t> </a:t>
            </a:r>
            <a:r>
              <a:rPr lang="en-US" sz="3800" err="1">
                <a:solidFill>
                  <a:schemeClr val="tx1"/>
                </a:solidFill>
                <a:latin typeface="+mj-lt"/>
                <a:ea typeface="+mj-ea"/>
                <a:cs typeface="+mj-cs"/>
              </a:rPr>
              <a:t>classe</a:t>
            </a:r>
            <a:endParaRPr lang="en-US" sz="3800">
              <a:solidFill>
                <a:schemeClr val="tx1"/>
              </a:solidFill>
              <a:latin typeface="+mj-lt"/>
              <a:ea typeface="+mj-ea"/>
              <a:cs typeface="+mj-cs"/>
            </a:endParaRPr>
          </a:p>
        </p:txBody>
      </p:sp>
      <p:sp>
        <p:nvSpPr>
          <p:cNvPr id="5" name="Espace réservé du numéro de diapositive 4"/>
          <p:cNvSpPr>
            <a:spLocks noGrp="1"/>
          </p:cNvSpPr>
          <p:nvPr>
            <p:ph type="sldNum" sz="quarter" idx="12"/>
            <p:custDataLst>
              <p:tags r:id="rId4"/>
            </p:custDataLst>
          </p:nvPr>
        </p:nvSpPr>
        <p:spPr>
          <a:xfrm>
            <a:off x="7112212" y="5623560"/>
            <a:ext cx="4241588" cy="365125"/>
          </a:xfrm>
        </p:spPr>
        <p:txBody>
          <a:bodyPr vert="horz" lIns="91440" tIns="45720" rIns="91440" bIns="45720" rtlCol="0" anchor="ctr">
            <a:normAutofit/>
          </a:bodyPr>
          <a:lstStyle/>
          <a:p>
            <a:pPr algn="r">
              <a:spcAft>
                <a:spcPts val="600"/>
              </a:spcAft>
              <a:defRPr/>
            </a:pPr>
            <a:fld id="{1F20FBA3-27E4-4E13-841E-B59ED0E8E620}" type="slidenum">
              <a:rPr lang="en-US">
                <a:solidFill>
                  <a:srgbClr val="FFFFFF">
                    <a:alpha val="80000"/>
                  </a:srgbClr>
                </a:solidFill>
                <a:latin typeface="Calibri" panose="020F0502020204030204"/>
              </a:rPr>
              <a:pPr algn="r">
                <a:spcAft>
                  <a:spcPts val="600"/>
                </a:spcAft>
                <a:defRPr/>
              </a:pPr>
              <a:t>1</a:t>
            </a:fld>
            <a:endParaRPr lang="en-US">
              <a:solidFill>
                <a:srgbClr val="FFFFFF">
                  <a:alpha val="80000"/>
                </a:srgbClr>
              </a:solidFill>
              <a:latin typeface="Calibri" panose="020F0502020204030204"/>
            </a:endParaRPr>
          </a:p>
        </p:txBody>
      </p:sp>
      <p:sp>
        <p:nvSpPr>
          <p:cNvPr id="7" name="Espace réservé du pied de page 6">
            <a:extLst>
              <a:ext uri="{FF2B5EF4-FFF2-40B4-BE49-F238E27FC236}">
                <a16:creationId xmlns:a16="http://schemas.microsoft.com/office/drawing/2014/main" id="{9B810BA0-F7A4-4878-95AF-BB4297265AEB}"/>
              </a:ext>
            </a:extLst>
          </p:cNvPr>
          <p:cNvSpPr>
            <a:spLocks noGrp="1"/>
          </p:cNvSpPr>
          <p:nvPr>
            <p:ph type="ftr" sz="quarter" idx="11"/>
            <p:custDataLst>
              <p:tags r:id="rId5"/>
            </p:custDataLst>
          </p:nvPr>
        </p:nvSpPr>
        <p:spPr>
          <a:xfrm>
            <a:off x="7112212" y="6355080"/>
            <a:ext cx="4241588" cy="365125"/>
          </a:xfrm>
        </p:spPr>
        <p:txBody>
          <a:bodyPr vert="horz" lIns="91440" tIns="45720" rIns="91440" bIns="45720" rtlCol="0" anchor="ctr">
            <a:normAutofit/>
          </a:bodyPr>
          <a:lstStyle/>
          <a:p>
            <a:pPr algn="r">
              <a:spcAft>
                <a:spcPts val="600"/>
              </a:spcAft>
              <a:defRPr/>
            </a:pPr>
            <a:r>
              <a:rPr lang="en-US" kern="1200">
                <a:solidFill>
                  <a:srgbClr val="FFFFFF">
                    <a:alpha val="80000"/>
                  </a:srgbClr>
                </a:solidFill>
                <a:latin typeface="Calibri" panose="020F0502020204030204"/>
                <a:ea typeface="+mn-ea"/>
                <a:cs typeface="+mn-cs"/>
              </a:rPr>
              <a:t>(c) 10904 / S04 - Version A2024</a:t>
            </a:r>
          </a:p>
        </p:txBody>
      </p:sp>
    </p:spTree>
    <p:extLst>
      <p:ext uri="{BB962C8B-B14F-4D97-AF65-F5344CB8AC3E}">
        <p14:creationId xmlns:p14="http://schemas.microsoft.com/office/powerpoint/2010/main" val="21514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9AE9B2-BC15-5D75-5C5D-A82F15632B9A}"/>
              </a:ext>
            </a:extLst>
          </p:cNvPr>
          <p:cNvSpPr>
            <a:spLocks noGrp="1"/>
          </p:cNvSpPr>
          <p:nvPr>
            <p:ph type="title"/>
            <p:custDataLst>
              <p:tags r:id="rId1"/>
            </p:custDataLst>
          </p:nvPr>
        </p:nvSpPr>
        <p:spPr/>
        <p:txBody>
          <a:bodyPr/>
          <a:lstStyle/>
          <a:p>
            <a:r>
              <a:rPr lang="fr-CA"/>
              <a:t>État des résultats (révision) (enseignants)</a:t>
            </a:r>
          </a:p>
        </p:txBody>
      </p:sp>
      <p:sp>
        <p:nvSpPr>
          <p:cNvPr id="3" name="Espace réservé du contenu 2">
            <a:extLst>
              <a:ext uri="{FF2B5EF4-FFF2-40B4-BE49-F238E27FC236}">
                <a16:creationId xmlns:a16="http://schemas.microsoft.com/office/drawing/2014/main" id="{DA2C5187-C895-4C79-F8F8-18AF66B0C999}"/>
              </a:ext>
            </a:extLst>
          </p:cNvPr>
          <p:cNvSpPr>
            <a:spLocks noGrp="1"/>
          </p:cNvSpPr>
          <p:nvPr>
            <p:ph idx="1"/>
            <p:custDataLst>
              <p:tags r:id="rId2"/>
            </p:custDataLst>
          </p:nvPr>
        </p:nvSpPr>
        <p:spPr/>
        <p:txBody>
          <a:bodyPr>
            <a:normAutofit/>
          </a:bodyPr>
          <a:lstStyle/>
          <a:p>
            <a:pPr marL="0" indent="0">
              <a:buNone/>
            </a:pPr>
            <a:r>
              <a:rPr lang="fr-CA" dirty="0"/>
              <a:t>Ventes (prix de vente x unités)</a:t>
            </a:r>
          </a:p>
          <a:p>
            <a:pPr marL="0" indent="0">
              <a:buNone/>
            </a:pPr>
            <a:r>
              <a:rPr lang="fr-CA" dirty="0"/>
              <a:t>(-) Coûts variables </a:t>
            </a:r>
          </a:p>
          <a:p>
            <a:pPr marL="457200" lvl="1" indent="0">
              <a:buNone/>
            </a:pPr>
            <a:r>
              <a:rPr lang="fr-CA" dirty="0"/>
              <a:t>MP        (Prix x Qté/u x unités)</a:t>
            </a:r>
          </a:p>
          <a:p>
            <a:pPr marL="457200" lvl="1" indent="0">
              <a:buNone/>
            </a:pPr>
            <a:r>
              <a:rPr lang="fr-CA" dirty="0"/>
              <a:t>MOD     (Taux x </a:t>
            </a:r>
            <a:r>
              <a:rPr lang="fr-CA" dirty="0" err="1"/>
              <a:t>Hr</a:t>
            </a:r>
            <a:r>
              <a:rPr lang="fr-CA" dirty="0"/>
              <a:t>/u x unités)</a:t>
            </a:r>
          </a:p>
          <a:p>
            <a:pPr marL="457200" lvl="1" indent="0">
              <a:buNone/>
            </a:pPr>
            <a:r>
              <a:rPr lang="fr-CA" dirty="0"/>
              <a:t>FGF var ($/un x unités)</a:t>
            </a:r>
          </a:p>
          <a:p>
            <a:pPr marL="457200" lvl="1" indent="0">
              <a:buNone/>
            </a:pPr>
            <a:r>
              <a:rPr lang="fr-CA" u="sng" dirty="0"/>
              <a:t>FV var   ($/un x unités) </a:t>
            </a:r>
          </a:p>
          <a:p>
            <a:pPr marL="0" indent="0">
              <a:buNone/>
            </a:pPr>
            <a:r>
              <a:rPr lang="fr-CA" b="1" dirty="0"/>
              <a:t>Marge sur les coûts variables totale (MCV) (MCV/un x unités)</a:t>
            </a:r>
          </a:p>
          <a:p>
            <a:pPr marL="0" indent="0">
              <a:buNone/>
            </a:pPr>
            <a:r>
              <a:rPr lang="fr-CA" sz="2400" dirty="0"/>
              <a:t>(-) Coûts fixes spécifiques (FGF, FVA)</a:t>
            </a:r>
          </a:p>
          <a:p>
            <a:pPr marL="0" indent="0">
              <a:buNone/>
            </a:pPr>
            <a:r>
              <a:rPr lang="fr-CA" sz="2400" u="sng" dirty="0"/>
              <a:t>(-) Coûts fixes communs (FGF, FVA)</a:t>
            </a:r>
          </a:p>
          <a:p>
            <a:pPr marL="0" indent="0">
              <a:buNone/>
            </a:pPr>
            <a:r>
              <a:rPr lang="fr-CA" b="1" dirty="0"/>
              <a:t>Résultat d’exploitation</a:t>
            </a:r>
          </a:p>
        </p:txBody>
      </p:sp>
      <p:sp>
        <p:nvSpPr>
          <p:cNvPr id="5" name="Espace réservé du numéro de diapositive 4">
            <a:extLst>
              <a:ext uri="{FF2B5EF4-FFF2-40B4-BE49-F238E27FC236}">
                <a16:creationId xmlns:a16="http://schemas.microsoft.com/office/drawing/2014/main" id="{3078AD69-84B6-EB27-DC3D-E0C05BBA07F6}"/>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6FDE6E99-906C-0B58-E179-3D732CC13507}"/>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Tree>
    <p:extLst>
      <p:ext uri="{BB962C8B-B14F-4D97-AF65-F5344CB8AC3E}">
        <p14:creationId xmlns:p14="http://schemas.microsoft.com/office/powerpoint/2010/main" val="1884957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61D11-18EA-B97C-C3B0-28EC88EE9B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D034E9-91C8-CDE5-BCCD-F03137FD08EB}"/>
              </a:ext>
            </a:extLst>
          </p:cNvPr>
          <p:cNvSpPr>
            <a:spLocks noGrp="1"/>
          </p:cNvSpPr>
          <p:nvPr>
            <p:ph type="title"/>
            <p:custDataLst>
              <p:tags r:id="rId1"/>
            </p:custDataLst>
          </p:nvPr>
        </p:nvSpPr>
        <p:spPr>
          <a:xfrm>
            <a:off x="838200" y="160589"/>
            <a:ext cx="10889974" cy="1042570"/>
          </a:xfrm>
        </p:spPr>
        <p:txBody>
          <a:bodyPr>
            <a:normAutofit fontScale="90000"/>
          </a:bodyPr>
          <a:lstStyle/>
          <a:p>
            <a:r>
              <a:rPr lang="fr-CA" dirty="0"/>
              <a:t>Retour séance 3 - L’analyse différentielle </a:t>
            </a:r>
            <a:br>
              <a:rPr lang="fr-CA" dirty="0"/>
            </a:br>
            <a:r>
              <a:rPr lang="fr-CA" dirty="0"/>
              <a:t>Le cas de la commande spéciale</a:t>
            </a:r>
            <a:endParaRPr lang="fr-CA" sz="3300" dirty="0"/>
          </a:p>
        </p:txBody>
      </p:sp>
      <p:sp>
        <p:nvSpPr>
          <p:cNvPr id="3" name="Espace réservé du contenu 2">
            <a:extLst>
              <a:ext uri="{FF2B5EF4-FFF2-40B4-BE49-F238E27FC236}">
                <a16:creationId xmlns:a16="http://schemas.microsoft.com/office/drawing/2014/main" id="{3594B2BF-C25B-204C-195E-C52DD9537C66}"/>
              </a:ext>
            </a:extLst>
          </p:cNvPr>
          <p:cNvSpPr>
            <a:spLocks noGrp="1"/>
          </p:cNvSpPr>
          <p:nvPr>
            <p:ph idx="1"/>
            <p:custDataLst>
              <p:tags r:id="rId2"/>
            </p:custDataLst>
          </p:nvPr>
        </p:nvSpPr>
        <p:spPr>
          <a:xfrm>
            <a:off x="838200" y="1467851"/>
            <a:ext cx="10889974" cy="4709112"/>
          </a:xfrm>
        </p:spPr>
        <p:txBody>
          <a:bodyPr/>
          <a:lstStyle/>
          <a:p>
            <a:pPr fontAlgn="base"/>
            <a:r>
              <a:rPr lang="fr-CA" dirty="0"/>
              <a:t>L’entreprise </a:t>
            </a:r>
            <a:r>
              <a:rPr lang="fr-CA" dirty="0" err="1"/>
              <a:t>PommeD'or</a:t>
            </a:r>
            <a:r>
              <a:rPr lang="fr-CA" dirty="0"/>
              <a:t> vend 200 000 unités par année d’ours géants en peluche au prix de 45 $. Le coût de fabrication de chaque ours est composé de 12 $ de coûts variables et de 9 $ de coûts fixes. Un grossiste propose d’acheter 8 000 unités à 20 $ chacune. </a:t>
            </a:r>
            <a:r>
              <a:rPr lang="fr-CA" dirty="0" err="1"/>
              <a:t>PommeD'or</a:t>
            </a:r>
            <a:r>
              <a:rPr lang="fr-CA" dirty="0"/>
              <a:t> devra supporter des frais de livraison supplémentaires de 1,25 $ par ours.  </a:t>
            </a:r>
          </a:p>
          <a:p>
            <a:pPr marL="0" indent="0" fontAlgn="base">
              <a:buNone/>
            </a:pPr>
            <a:endParaRPr lang="fr-CA" dirty="0"/>
          </a:p>
          <a:p>
            <a:pPr fontAlgn="base"/>
            <a:r>
              <a:rPr lang="fr-CA" b="1" dirty="0"/>
              <a:t>Travail à faire : </a:t>
            </a:r>
            <a:r>
              <a:rPr lang="fr-CA" dirty="0"/>
              <a:t>Sachant que l’entreprise dispose de la capacité de production nécessaire pour produire les 8 000 unités, déterminez le résultat différentiel que l’entreprise réalisera en acceptant la commande spéciale. </a:t>
            </a:r>
          </a:p>
          <a:p>
            <a:pPr marL="0" indent="0">
              <a:buNone/>
            </a:pPr>
            <a:endParaRPr lang="fr-CA" dirty="0"/>
          </a:p>
        </p:txBody>
      </p:sp>
      <p:sp>
        <p:nvSpPr>
          <p:cNvPr id="5" name="Espace réservé du numéro de diapositive 4">
            <a:extLst>
              <a:ext uri="{FF2B5EF4-FFF2-40B4-BE49-F238E27FC236}">
                <a16:creationId xmlns:a16="http://schemas.microsoft.com/office/drawing/2014/main" id="{CF9EEE28-4925-EF8B-C5C3-C968FDE02964}"/>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3</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3B9E6650-22BA-C804-7C44-383304E67162}"/>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Tree>
    <p:extLst>
      <p:ext uri="{BB962C8B-B14F-4D97-AF65-F5344CB8AC3E}">
        <p14:creationId xmlns:p14="http://schemas.microsoft.com/office/powerpoint/2010/main" val="111172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264BA5-BA95-BA87-394D-950AF4A29E5F}"/>
              </a:ext>
            </a:extLst>
          </p:cNvPr>
          <p:cNvSpPr>
            <a:spLocks noGrp="1"/>
          </p:cNvSpPr>
          <p:nvPr>
            <p:ph type="title"/>
            <p:custDataLst>
              <p:tags r:id="rId1"/>
            </p:custDataLst>
          </p:nvPr>
        </p:nvSpPr>
        <p:spPr>
          <a:xfrm>
            <a:off x="838200" y="160589"/>
            <a:ext cx="10889974" cy="1042570"/>
          </a:xfrm>
        </p:spPr>
        <p:txBody>
          <a:bodyPr>
            <a:normAutofit fontScale="90000"/>
          </a:bodyPr>
          <a:lstStyle/>
          <a:p>
            <a:r>
              <a:rPr lang="fr-CA" dirty="0"/>
              <a:t>Retour séance 3 - L’analyse différentielle </a:t>
            </a:r>
            <a:br>
              <a:rPr lang="fr-CA" dirty="0"/>
            </a:br>
            <a:r>
              <a:rPr lang="fr-CA" dirty="0"/>
              <a:t>Le cas de la </a:t>
            </a:r>
            <a:r>
              <a:rPr lang="fr-CA"/>
              <a:t>commande spéciale</a:t>
            </a:r>
            <a:endParaRPr lang="fr-CA" sz="3300" dirty="0"/>
          </a:p>
        </p:txBody>
      </p:sp>
      <p:sp>
        <p:nvSpPr>
          <p:cNvPr id="3" name="Espace réservé du contenu 2">
            <a:extLst>
              <a:ext uri="{FF2B5EF4-FFF2-40B4-BE49-F238E27FC236}">
                <a16:creationId xmlns:a16="http://schemas.microsoft.com/office/drawing/2014/main" id="{E1D9D803-4DE9-754A-5508-FE9B6A04AA43}"/>
              </a:ext>
            </a:extLst>
          </p:cNvPr>
          <p:cNvSpPr>
            <a:spLocks noGrp="1"/>
          </p:cNvSpPr>
          <p:nvPr>
            <p:ph idx="1"/>
            <p:custDataLst>
              <p:tags r:id="rId2"/>
            </p:custDataLst>
          </p:nvPr>
        </p:nvSpPr>
        <p:spPr>
          <a:xfrm>
            <a:off x="353568" y="2401823"/>
            <a:ext cx="11704320" cy="3775139"/>
          </a:xfrm>
        </p:spPr>
        <p:txBody>
          <a:bodyPr>
            <a:normAutofit/>
          </a:bodyPr>
          <a:lstStyle/>
          <a:p>
            <a:pPr marL="0" indent="0">
              <a:buNone/>
            </a:pPr>
            <a:r>
              <a:rPr lang="fr-CA" sz="2600" u="sng" dirty="0"/>
              <a:t>Situation A </a:t>
            </a:r>
            <a:r>
              <a:rPr lang="fr-CA" sz="2600" dirty="0"/>
              <a:t>(statu quo)	</a:t>
            </a:r>
            <a:r>
              <a:rPr lang="fr-CA" sz="2600" u="sng" dirty="0"/>
              <a:t>Situation B</a:t>
            </a:r>
            <a:r>
              <a:rPr lang="fr-CA" sz="2600" dirty="0"/>
              <a:t> (accepter la commande)   Analyse différentielle</a:t>
            </a:r>
          </a:p>
        </p:txBody>
      </p:sp>
      <p:sp>
        <p:nvSpPr>
          <p:cNvPr id="5" name="Espace réservé du numéro de diapositive 4">
            <a:extLst>
              <a:ext uri="{FF2B5EF4-FFF2-40B4-BE49-F238E27FC236}">
                <a16:creationId xmlns:a16="http://schemas.microsoft.com/office/drawing/2014/main" id="{5E115E49-0941-77C8-EEB4-4C6EC5DAFB5E}"/>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888355FC-8EF2-919F-1C31-1320DC0CF451}"/>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ZoneTexte 3">
            <a:extLst>
              <a:ext uri="{FF2B5EF4-FFF2-40B4-BE49-F238E27FC236}">
                <a16:creationId xmlns:a16="http://schemas.microsoft.com/office/drawing/2014/main" id="{FCC23E18-F916-9B1B-638C-0B61F6725947}"/>
              </a:ext>
            </a:extLst>
          </p:cNvPr>
          <p:cNvSpPr txBox="1"/>
          <p:nvPr/>
        </p:nvSpPr>
        <p:spPr>
          <a:xfrm>
            <a:off x="835822" y="1529633"/>
            <a:ext cx="5257800" cy="830997"/>
          </a:xfrm>
          <a:prstGeom prst="rect">
            <a:avLst/>
          </a:prstGeom>
          <a:noFill/>
        </p:spPr>
        <p:txBody>
          <a:bodyPr wrap="square" rtlCol="0">
            <a:spAutoFit/>
          </a:bodyPr>
          <a:lstStyle/>
          <a:p>
            <a:pPr marL="457200" indent="-457200">
              <a:buAutoNum type="arabicPeriod"/>
            </a:pPr>
            <a:r>
              <a:rPr lang="fr-CA" sz="2400" dirty="0"/>
              <a:t>Analyse de la capacité de production</a:t>
            </a:r>
          </a:p>
          <a:p>
            <a:pPr marL="457200" indent="-457200">
              <a:buAutoNum type="arabicPeriod"/>
            </a:pPr>
            <a:r>
              <a:rPr lang="fr-CA" sz="2400" dirty="0"/>
              <a:t>Calcul du résultat différentiel</a:t>
            </a:r>
            <a:r>
              <a:rPr lang="fr-CA" dirty="0"/>
              <a:t>	</a:t>
            </a:r>
          </a:p>
        </p:txBody>
      </p:sp>
    </p:spTree>
    <p:extLst>
      <p:ext uri="{BB962C8B-B14F-4D97-AF65-F5344CB8AC3E}">
        <p14:creationId xmlns:p14="http://schemas.microsoft.com/office/powerpoint/2010/main" val="1616020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normAutofit/>
          </a:bodyPr>
          <a:lstStyle/>
          <a:p>
            <a:pPr algn="ctr"/>
            <a:r>
              <a:rPr lang="fr-CA"/>
              <a:t>La prise de décision d’exploitation </a:t>
            </a:r>
            <a:br>
              <a:rPr lang="fr-CA"/>
            </a:br>
            <a:r>
              <a:rPr lang="fr-CA"/>
              <a:t>et les marges</a:t>
            </a:r>
          </a:p>
        </p:txBody>
      </p:sp>
      <p:sp>
        <p:nvSpPr>
          <p:cNvPr id="6" name="Espace réservé du texte 5"/>
          <p:cNvSpPr>
            <a:spLocks noGrp="1"/>
          </p:cNvSpPr>
          <p:nvPr>
            <p:ph type="body" idx="1"/>
            <p:custDataLst>
              <p:tags r:id="rId2"/>
            </p:custDataLst>
          </p:nvPr>
        </p:nvSpPr>
        <p:spPr>
          <a:xfrm>
            <a:off x="831850" y="4665663"/>
            <a:ext cx="10515600" cy="1500187"/>
          </a:xfrm>
        </p:spPr>
        <p:txBody>
          <a:bodyPr>
            <a:normAutofit/>
          </a:bodyPr>
          <a:lstStyle/>
          <a:p>
            <a:pPr algn="ctr"/>
            <a:r>
              <a:rPr lang="fr-CA" sz="4800">
                <a:solidFill>
                  <a:schemeClr val="tx1"/>
                </a:solidFill>
              </a:rPr>
              <a:t>Séance 4</a:t>
            </a:r>
          </a:p>
        </p:txBody>
      </p:sp>
      <p:sp>
        <p:nvSpPr>
          <p:cNvPr id="3" name="Espace réservé du pied de page 3">
            <a:extLst>
              <a:ext uri="{FF2B5EF4-FFF2-40B4-BE49-F238E27FC236}">
                <a16:creationId xmlns:a16="http://schemas.microsoft.com/office/drawing/2014/main" id="{9A0C9E73-8FBA-80CF-EE27-2509C3C107FD}"/>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5A305B74-5E1B-B736-5D11-F24A9D397F56}"/>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a:t>
            </a:fld>
            <a:endParaRPr lang="fr-CA">
              <a:solidFill>
                <a:prstClr val="black">
                  <a:tint val="75000"/>
                </a:prstClr>
              </a:solidFill>
            </a:endParaRPr>
          </a:p>
        </p:txBody>
      </p:sp>
    </p:spTree>
    <p:extLst>
      <p:ext uri="{BB962C8B-B14F-4D97-AF65-F5344CB8AC3E}">
        <p14:creationId xmlns:p14="http://schemas.microsoft.com/office/powerpoint/2010/main" val="348145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1B15F-40BD-6628-7CCE-B1BCC6BDF6A8}"/>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386334D-8617-6AFF-FC9D-1138EF82D715}"/>
              </a:ext>
            </a:extLst>
          </p:cNvPr>
          <p:cNvSpPr txBox="1"/>
          <p:nvPr>
            <p:custDataLst>
              <p:tags r:id="rId1"/>
            </p:custDataLst>
          </p:nvPr>
        </p:nvSpPr>
        <p:spPr>
          <a:xfrm>
            <a:off x="117442" y="578000"/>
            <a:ext cx="4603531" cy="4570482"/>
          </a:xfrm>
          <a:prstGeom prst="rect">
            <a:avLst/>
          </a:prstGeom>
          <a:noFill/>
        </p:spPr>
        <p:txBody>
          <a:bodyPr wrap="square" rtlCol="0">
            <a:spAutoFit/>
          </a:bodyPr>
          <a:lstStyle/>
          <a:p>
            <a:pPr algn="ctr"/>
            <a:r>
              <a:rPr lang="fr-CA" sz="2200" b="1" u="sng" dirty="0"/>
              <a:t>Diriger</a:t>
            </a:r>
            <a:r>
              <a:rPr lang="fr-CA" u="sng" dirty="0"/>
              <a:t> (effectuer des analyses)</a:t>
            </a:r>
          </a:p>
          <a:p>
            <a:pPr>
              <a:spcBef>
                <a:spcPts val="1200"/>
              </a:spcBef>
              <a:spcAft>
                <a:spcPts val="600"/>
              </a:spcAft>
            </a:pPr>
            <a:r>
              <a:rPr lang="fr-CA" dirty="0">
                <a:solidFill>
                  <a:schemeClr val="bg1">
                    <a:lumMod val="65000"/>
                  </a:schemeClr>
                </a:solidFill>
              </a:rPr>
              <a:t>(S02) L’analyse coût-volume-résultat (CVR)</a:t>
            </a:r>
          </a:p>
          <a:p>
            <a:pPr>
              <a:spcAft>
                <a:spcPts val="600"/>
              </a:spcAft>
            </a:pPr>
            <a:r>
              <a:rPr lang="fr-CA" b="1" dirty="0">
                <a:solidFill>
                  <a:schemeClr val="bg1">
                    <a:lumMod val="65000"/>
                  </a:schemeClr>
                </a:solidFill>
              </a:rPr>
              <a:t>(S03) L’analyse différentielle </a:t>
            </a:r>
          </a:p>
          <a:p>
            <a:pPr>
              <a:spcAft>
                <a:spcPts val="600"/>
              </a:spcAft>
            </a:pPr>
            <a:r>
              <a:rPr lang="fr-CA" i="1" dirty="0">
                <a:solidFill>
                  <a:schemeClr val="bg1">
                    <a:lumMod val="65000"/>
                  </a:schemeClr>
                </a:solidFill>
              </a:rPr>
              <a:t>Exemples de décisions d’exploitation:</a:t>
            </a:r>
          </a:p>
          <a:p>
            <a:pPr marL="742950" lvl="1" indent="-285750">
              <a:buFontTx/>
              <a:buChar char="-"/>
            </a:pPr>
            <a:r>
              <a:rPr lang="fr-CA" dirty="0">
                <a:solidFill>
                  <a:schemeClr val="bg1">
                    <a:lumMod val="65000"/>
                  </a:schemeClr>
                </a:solidFill>
              </a:rPr>
              <a:t>Commande spéciale</a:t>
            </a:r>
          </a:p>
          <a:p>
            <a:pPr marL="742950" lvl="1" indent="-285750">
              <a:buFontTx/>
              <a:buChar char="-"/>
            </a:pPr>
            <a:r>
              <a:rPr lang="fr-CA" dirty="0">
                <a:solidFill>
                  <a:schemeClr val="bg1">
                    <a:lumMod val="65000"/>
                  </a:schemeClr>
                </a:solidFill>
              </a:rPr>
              <a:t>Fabriquer ou sous-traiter un produit</a:t>
            </a:r>
          </a:p>
          <a:p>
            <a:pPr marL="742950" lvl="1" indent="-285750">
              <a:buFontTx/>
              <a:buChar char="-"/>
            </a:pPr>
            <a:r>
              <a:rPr lang="fr-CA" dirty="0">
                <a:solidFill>
                  <a:schemeClr val="bg1">
                    <a:lumMod val="65000"/>
                  </a:schemeClr>
                </a:solidFill>
              </a:rPr>
              <a:t>Continuer ou abandonner un produit</a:t>
            </a:r>
          </a:p>
          <a:p>
            <a:pPr marL="742950" lvl="1" indent="-285750">
              <a:buFontTx/>
              <a:buChar char="-"/>
            </a:pPr>
            <a:endParaRPr lang="fr-CA" dirty="0"/>
          </a:p>
          <a:p>
            <a:r>
              <a:rPr lang="fr-CA" b="1" dirty="0"/>
              <a:t>(S04-S05) L’analyse des marges : </a:t>
            </a:r>
          </a:p>
          <a:p>
            <a:r>
              <a:rPr lang="fr-CA" i="1" dirty="0">
                <a:solidFill>
                  <a:srgbClr val="0070C0"/>
                </a:solidFill>
              </a:rPr>
              <a:t>diagnostic financier et prises de décisions</a:t>
            </a:r>
            <a:endParaRPr lang="fr-CA" b="1" dirty="0"/>
          </a:p>
          <a:p>
            <a:pPr marL="742950" lvl="1" indent="-285750">
              <a:spcAft>
                <a:spcPts val="600"/>
              </a:spcAft>
              <a:buFontTx/>
              <a:buChar char="-"/>
            </a:pPr>
            <a:r>
              <a:rPr lang="fr-CA" dirty="0">
                <a:solidFill>
                  <a:schemeClr val="tx2">
                    <a:lumMod val="60000"/>
                    <a:lumOff val="40000"/>
                  </a:schemeClr>
                </a:solidFill>
              </a:rPr>
              <a:t>Marge sur coûts variables</a:t>
            </a:r>
          </a:p>
          <a:p>
            <a:pPr marL="742950" lvl="1" indent="-285750">
              <a:spcAft>
                <a:spcPts val="600"/>
              </a:spcAft>
              <a:buFontTx/>
              <a:buChar char="-"/>
            </a:pPr>
            <a:r>
              <a:rPr lang="fr-CA" dirty="0">
                <a:solidFill>
                  <a:schemeClr val="tx2">
                    <a:lumMod val="60000"/>
                    <a:lumOff val="40000"/>
                  </a:schemeClr>
                </a:solidFill>
              </a:rPr>
              <a:t>Marge sur coûts spécifiques</a:t>
            </a:r>
          </a:p>
          <a:p>
            <a:pPr marL="742950" lvl="1" indent="-285750">
              <a:spcAft>
                <a:spcPts val="600"/>
              </a:spcAft>
              <a:buFontTx/>
              <a:buChar char="-"/>
            </a:pPr>
            <a:r>
              <a:rPr lang="fr-CA" dirty="0">
                <a:solidFill>
                  <a:schemeClr val="tx2">
                    <a:lumMod val="60000"/>
                    <a:lumOff val="40000"/>
                  </a:schemeClr>
                </a:solidFill>
              </a:rPr>
              <a:t>Marge par facteur de production contraignant</a:t>
            </a:r>
          </a:p>
        </p:txBody>
      </p:sp>
      <p:sp>
        <p:nvSpPr>
          <p:cNvPr id="8" name="ZoneTexte 7">
            <a:extLst>
              <a:ext uri="{FF2B5EF4-FFF2-40B4-BE49-F238E27FC236}">
                <a16:creationId xmlns:a16="http://schemas.microsoft.com/office/drawing/2014/main" id="{2F394D51-0DD3-5C04-54ED-27EB1D91B063}"/>
              </a:ext>
            </a:extLst>
          </p:cNvPr>
          <p:cNvSpPr txBox="1"/>
          <p:nvPr>
            <p:custDataLst>
              <p:tags r:id="rId2"/>
            </p:custDataLst>
          </p:nvPr>
        </p:nvSpPr>
        <p:spPr>
          <a:xfrm>
            <a:off x="5038920" y="1405061"/>
            <a:ext cx="2015774" cy="553998"/>
          </a:xfrm>
          <a:prstGeom prst="rect">
            <a:avLst/>
          </a:prstGeom>
          <a:noFill/>
        </p:spPr>
        <p:txBody>
          <a:bodyPr wrap="square" rtlCol="0">
            <a:spAutoFit/>
          </a:bodyPr>
          <a:lstStyle/>
          <a:p>
            <a:r>
              <a:rPr lang="fr-CA" sz="3000" dirty="0">
                <a:ln w="0"/>
                <a:solidFill>
                  <a:srgbClr val="002060"/>
                </a:solidFill>
                <a:latin typeface="+mj-lt"/>
              </a:rPr>
              <a:t>Séance 04</a:t>
            </a:r>
          </a:p>
        </p:txBody>
      </p:sp>
      <p:sp>
        <p:nvSpPr>
          <p:cNvPr id="4" name="ZoneTexte 3">
            <a:extLst>
              <a:ext uri="{FF2B5EF4-FFF2-40B4-BE49-F238E27FC236}">
                <a16:creationId xmlns:a16="http://schemas.microsoft.com/office/drawing/2014/main" id="{5F7888E2-91F8-84A4-B4DA-D88533E247B8}"/>
              </a:ext>
            </a:extLst>
          </p:cNvPr>
          <p:cNvSpPr txBox="1"/>
          <p:nvPr>
            <p:custDataLst>
              <p:tags r:id="rId3"/>
            </p:custDataLst>
          </p:nvPr>
        </p:nvSpPr>
        <p:spPr>
          <a:xfrm>
            <a:off x="117442" y="5148482"/>
            <a:ext cx="3900008" cy="1000274"/>
          </a:xfrm>
          <a:prstGeom prst="rect">
            <a:avLst/>
          </a:prstGeom>
          <a:noFill/>
        </p:spPr>
        <p:txBody>
          <a:bodyPr wrap="square">
            <a:spAutoFit/>
          </a:bodyPr>
          <a:lstStyle/>
          <a:p>
            <a:r>
              <a:rPr lang="fr-CA" dirty="0">
                <a:solidFill>
                  <a:schemeClr val="bg1">
                    <a:lumMod val="65000"/>
                  </a:schemeClr>
                </a:solidFill>
              </a:rPr>
              <a:t>(S06</a:t>
            </a:r>
            <a:r>
              <a:rPr lang="fr-CA">
                <a:solidFill>
                  <a:schemeClr val="bg1">
                    <a:lumMod val="65000"/>
                  </a:schemeClr>
                </a:solidFill>
              </a:rPr>
              <a:t>) Analyser </a:t>
            </a:r>
            <a:r>
              <a:rPr lang="fr-CA" dirty="0">
                <a:solidFill>
                  <a:schemeClr val="bg1">
                    <a:lumMod val="65000"/>
                  </a:schemeClr>
                </a:solidFill>
              </a:rPr>
              <a:t>la rentabilité par produit</a:t>
            </a:r>
          </a:p>
          <a:p>
            <a:pPr marL="285750" indent="-180000">
              <a:buFont typeface="Arial" panose="020B0604020202020204" pitchFamily="34" charset="0"/>
              <a:buChar char="•"/>
            </a:pPr>
            <a:r>
              <a:rPr lang="fr-CA" dirty="0">
                <a:solidFill>
                  <a:schemeClr val="bg1">
                    <a:lumMod val="65000"/>
                  </a:schemeClr>
                </a:solidFill>
              </a:rPr>
              <a:t>Marge brute</a:t>
            </a:r>
          </a:p>
          <a:p>
            <a:pPr>
              <a:spcBef>
                <a:spcPts val="600"/>
              </a:spcBef>
            </a:pPr>
            <a:r>
              <a:rPr lang="fr-CA" dirty="0">
                <a:solidFill>
                  <a:schemeClr val="bg1">
                    <a:lumMod val="65000"/>
                  </a:schemeClr>
                </a:solidFill>
              </a:rPr>
              <a:t>(S07) Mesurer la performance</a:t>
            </a:r>
          </a:p>
        </p:txBody>
      </p:sp>
      <p:sp>
        <p:nvSpPr>
          <p:cNvPr id="6" name="Espace réservé du numéro de diapositive 5">
            <a:extLst>
              <a:ext uri="{FF2B5EF4-FFF2-40B4-BE49-F238E27FC236}">
                <a16:creationId xmlns:a16="http://schemas.microsoft.com/office/drawing/2014/main" id="{5867D9DF-816F-6AF2-9A95-FDC2CE71F681}"/>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6</a:t>
            </a:fld>
            <a:endParaRPr lang="fr-CA">
              <a:solidFill>
                <a:prstClr val="black">
                  <a:tint val="75000"/>
                </a:prstClr>
              </a:solidFill>
            </a:endParaRPr>
          </a:p>
        </p:txBody>
      </p:sp>
      <p:sp>
        <p:nvSpPr>
          <p:cNvPr id="7" name="Espace réservé du pied de page 3">
            <a:extLst>
              <a:ext uri="{FF2B5EF4-FFF2-40B4-BE49-F238E27FC236}">
                <a16:creationId xmlns:a16="http://schemas.microsoft.com/office/drawing/2014/main" id="{37CE7B69-C984-FF30-4927-D6444762D171}"/>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llipse 2">
            <a:extLst>
              <a:ext uri="{FF2B5EF4-FFF2-40B4-BE49-F238E27FC236}">
                <a16:creationId xmlns:a16="http://schemas.microsoft.com/office/drawing/2014/main" id="{8769CC2F-4535-C5A9-C5D1-2BC2144141F6}"/>
              </a:ext>
            </a:extLst>
          </p:cNvPr>
          <p:cNvSpPr/>
          <p:nvPr/>
        </p:nvSpPr>
        <p:spPr>
          <a:xfrm>
            <a:off x="4961373" y="2489135"/>
            <a:ext cx="2304288" cy="2154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ZoneTexte 10">
            <a:extLst>
              <a:ext uri="{FF2B5EF4-FFF2-40B4-BE49-F238E27FC236}">
                <a16:creationId xmlns:a16="http://schemas.microsoft.com/office/drawing/2014/main" id="{2025816B-0295-F1B0-1AD2-B6E03A72EC02}"/>
              </a:ext>
            </a:extLst>
          </p:cNvPr>
          <p:cNvSpPr txBox="1"/>
          <p:nvPr/>
        </p:nvSpPr>
        <p:spPr>
          <a:xfrm>
            <a:off x="5169783" y="2981387"/>
            <a:ext cx="1887467" cy="1477328"/>
          </a:xfrm>
          <a:prstGeom prst="rect">
            <a:avLst/>
          </a:prstGeom>
          <a:noFill/>
        </p:spPr>
        <p:txBody>
          <a:bodyPr wrap="square" rtlCol="0">
            <a:spAutoFit/>
          </a:bodyPr>
          <a:lstStyle/>
          <a:p>
            <a:pPr algn="ctr"/>
            <a:r>
              <a:rPr lang="fr-CA" dirty="0"/>
              <a:t>Gestionnaire veut agir sur le</a:t>
            </a:r>
          </a:p>
          <a:p>
            <a:pPr algn="ctr"/>
            <a:r>
              <a:rPr lang="fr-CA" b="1" dirty="0"/>
              <a:t>Résultat d’exploitation</a:t>
            </a:r>
          </a:p>
          <a:p>
            <a:endParaRPr lang="fr-CA" dirty="0"/>
          </a:p>
        </p:txBody>
      </p:sp>
      <p:sp>
        <p:nvSpPr>
          <p:cNvPr id="13" name="Flèche : droite rayée 12">
            <a:extLst>
              <a:ext uri="{FF2B5EF4-FFF2-40B4-BE49-F238E27FC236}">
                <a16:creationId xmlns:a16="http://schemas.microsoft.com/office/drawing/2014/main" id="{3AAB208F-593A-19AB-D8D2-2514E35A18AF}"/>
              </a:ext>
            </a:extLst>
          </p:cNvPr>
          <p:cNvSpPr/>
          <p:nvPr/>
        </p:nvSpPr>
        <p:spPr>
          <a:xfrm rot="13366232">
            <a:off x="4351369" y="2099905"/>
            <a:ext cx="907113" cy="66143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4" name="Flèche : droite rayée 13">
            <a:extLst>
              <a:ext uri="{FF2B5EF4-FFF2-40B4-BE49-F238E27FC236}">
                <a16:creationId xmlns:a16="http://schemas.microsoft.com/office/drawing/2014/main" id="{AA317C57-C189-9F80-9C7F-C0526B5CFC09}"/>
              </a:ext>
            </a:extLst>
          </p:cNvPr>
          <p:cNvSpPr/>
          <p:nvPr/>
        </p:nvSpPr>
        <p:spPr>
          <a:xfrm rot="18446768">
            <a:off x="6644582" y="1936220"/>
            <a:ext cx="907113" cy="66143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Flèche : droite rayée 14">
            <a:extLst>
              <a:ext uri="{FF2B5EF4-FFF2-40B4-BE49-F238E27FC236}">
                <a16:creationId xmlns:a16="http://schemas.microsoft.com/office/drawing/2014/main" id="{91EE4C43-1622-5C77-1BBB-6FD47F344392}"/>
              </a:ext>
            </a:extLst>
          </p:cNvPr>
          <p:cNvSpPr/>
          <p:nvPr/>
        </p:nvSpPr>
        <p:spPr>
          <a:xfrm rot="1761525">
            <a:off x="7161141" y="4011390"/>
            <a:ext cx="907113" cy="66143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7" name="ZoneTexte 16">
            <a:extLst>
              <a:ext uri="{FF2B5EF4-FFF2-40B4-BE49-F238E27FC236}">
                <a16:creationId xmlns:a16="http://schemas.microsoft.com/office/drawing/2014/main" id="{E9913E02-0CF6-B8FB-A19B-47BE3448BB41}"/>
              </a:ext>
            </a:extLst>
          </p:cNvPr>
          <p:cNvSpPr txBox="1"/>
          <p:nvPr/>
        </p:nvSpPr>
        <p:spPr>
          <a:xfrm>
            <a:off x="6113516" y="1199610"/>
            <a:ext cx="6096000" cy="984885"/>
          </a:xfrm>
          <a:prstGeom prst="rect">
            <a:avLst/>
          </a:prstGeom>
          <a:noFill/>
        </p:spPr>
        <p:txBody>
          <a:bodyPr wrap="square">
            <a:spAutoFit/>
          </a:bodyPr>
          <a:lstStyle/>
          <a:p>
            <a:pPr algn="ctr"/>
            <a:r>
              <a:rPr lang="fr-CA" sz="2200" b="1" u="sng" dirty="0"/>
              <a:t>Planifier  </a:t>
            </a:r>
            <a:r>
              <a:rPr lang="fr-CA" sz="1600" b="1" u="sng" dirty="0"/>
              <a:t>(S09-S10)</a:t>
            </a:r>
          </a:p>
          <a:p>
            <a:pPr marL="2114550" lvl="4" indent="-285750">
              <a:buFont typeface="Arial" panose="020B0604020202020204" pitchFamily="34" charset="0"/>
              <a:buChar char="•"/>
            </a:pPr>
            <a:r>
              <a:rPr lang="fr-CA" dirty="0">
                <a:solidFill>
                  <a:schemeClr val="bg1">
                    <a:lumMod val="65000"/>
                  </a:schemeClr>
                </a:solidFill>
              </a:rPr>
              <a:t>Budget d’exploitation</a:t>
            </a:r>
          </a:p>
          <a:p>
            <a:pPr marL="2114550" lvl="4" indent="-285750">
              <a:buFont typeface="Arial" panose="020B0604020202020204" pitchFamily="34" charset="0"/>
              <a:buChar char="•"/>
            </a:pPr>
            <a:r>
              <a:rPr lang="fr-CA" dirty="0">
                <a:solidFill>
                  <a:schemeClr val="bg1">
                    <a:lumMod val="65000"/>
                  </a:schemeClr>
                </a:solidFill>
              </a:rPr>
              <a:t>Budget de caisse</a:t>
            </a:r>
          </a:p>
        </p:txBody>
      </p:sp>
      <p:sp>
        <p:nvSpPr>
          <p:cNvPr id="18" name="ZoneTexte 17">
            <a:extLst>
              <a:ext uri="{FF2B5EF4-FFF2-40B4-BE49-F238E27FC236}">
                <a16:creationId xmlns:a16="http://schemas.microsoft.com/office/drawing/2014/main" id="{4D955E17-469B-C326-3CCA-2CD88E8C8B23}"/>
              </a:ext>
            </a:extLst>
          </p:cNvPr>
          <p:cNvSpPr txBox="1"/>
          <p:nvPr/>
        </p:nvSpPr>
        <p:spPr>
          <a:xfrm>
            <a:off x="6333899" y="3659186"/>
            <a:ext cx="6096000" cy="984885"/>
          </a:xfrm>
          <a:prstGeom prst="rect">
            <a:avLst/>
          </a:prstGeom>
          <a:noFill/>
        </p:spPr>
        <p:txBody>
          <a:bodyPr wrap="square">
            <a:spAutoFit/>
          </a:bodyPr>
          <a:lstStyle/>
          <a:p>
            <a:pPr algn="ctr"/>
            <a:r>
              <a:rPr lang="fr-CA" sz="2200" b="1" u="sng" dirty="0"/>
              <a:t>Contrôler  </a:t>
            </a:r>
            <a:r>
              <a:rPr lang="fr-CA" sz="1600" b="1" u="sng" dirty="0"/>
              <a:t>(S08 &amp; S11)</a:t>
            </a:r>
          </a:p>
          <a:p>
            <a:pPr marL="2114550" lvl="4" indent="-285750">
              <a:buFont typeface="Arial" panose="020B0604020202020204" pitchFamily="34" charset="0"/>
              <a:buChar char="•"/>
            </a:pPr>
            <a:r>
              <a:rPr lang="fr-CA" dirty="0">
                <a:solidFill>
                  <a:schemeClr val="bg1">
                    <a:lumMod val="65000"/>
                  </a:schemeClr>
                </a:solidFill>
              </a:rPr>
              <a:t>Préparer les états financiers</a:t>
            </a:r>
          </a:p>
          <a:p>
            <a:pPr marL="2114550" lvl="4" indent="-285750">
              <a:buFont typeface="Arial" panose="020B0604020202020204" pitchFamily="34" charset="0"/>
              <a:buChar char="•"/>
            </a:pPr>
            <a:r>
              <a:rPr lang="fr-CA" dirty="0">
                <a:solidFill>
                  <a:schemeClr val="bg1">
                    <a:lumMod val="65000"/>
                  </a:schemeClr>
                </a:solidFill>
              </a:rPr>
              <a:t>Contrôle budgétaire</a:t>
            </a:r>
          </a:p>
        </p:txBody>
      </p:sp>
    </p:spTree>
    <p:extLst>
      <p:ext uri="{BB962C8B-B14F-4D97-AF65-F5344CB8AC3E}">
        <p14:creationId xmlns:p14="http://schemas.microsoft.com/office/powerpoint/2010/main" val="1054589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D19628C8-3D2A-D54F-B963-0C782B8D3F95}"/>
              </a:ext>
            </a:extLst>
          </p:cNvPr>
          <p:cNvSpPr txBox="1"/>
          <p:nvPr>
            <p:custDataLst>
              <p:tags r:id="rId1"/>
            </p:custDataLst>
          </p:nvPr>
        </p:nvSpPr>
        <p:spPr>
          <a:xfrm>
            <a:off x="3344380" y="429324"/>
            <a:ext cx="5378445" cy="707886"/>
          </a:xfrm>
          <a:prstGeom prst="rect">
            <a:avLst/>
          </a:prstGeom>
          <a:noFill/>
        </p:spPr>
        <p:txBody>
          <a:bodyPr wrap="square" lIns="91440" tIns="45720" rIns="91440" bIns="45720" rtlCol="0" anchor="t">
            <a:spAutoFit/>
          </a:bodyPr>
          <a:lstStyle/>
          <a:p>
            <a:pPr algn="ctr"/>
            <a:r>
              <a:rPr lang="en-US" sz="4000" spc="136">
                <a:solidFill>
                  <a:schemeClr val="tx1">
                    <a:lumMod val="95000"/>
                    <a:lumOff val="5000"/>
                  </a:schemeClr>
                </a:solidFill>
                <a:latin typeface="+mj-lt"/>
                <a:cs typeface="Poppins Light" pitchFamily="2" charset="77"/>
              </a:rPr>
              <a:t>PLAN DE LA SÉANCE 4</a:t>
            </a:r>
          </a:p>
        </p:txBody>
      </p:sp>
      <p:sp>
        <p:nvSpPr>
          <p:cNvPr id="29" name="Shape 46488">
            <a:extLst>
              <a:ext uri="{FF2B5EF4-FFF2-40B4-BE49-F238E27FC236}">
                <a16:creationId xmlns:a16="http://schemas.microsoft.com/office/drawing/2014/main" id="{10812663-49DB-8544-A992-5B1029F73BD4}"/>
              </a:ext>
            </a:extLst>
          </p:cNvPr>
          <p:cNvSpPr>
            <a:spLocks/>
          </p:cNvSpPr>
          <p:nvPr>
            <p:custDataLst>
              <p:tags r:id="rId2"/>
            </p:custDataLst>
          </p:nvPr>
        </p:nvSpPr>
        <p:spPr>
          <a:xfrm rot="5400000" flipH="1">
            <a:off x="1250617" y="1423898"/>
            <a:ext cx="2198625" cy="3802512"/>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1"/>
          </a:lnRef>
          <a:fillRef idx="1">
            <a:schemeClr val="lt1"/>
          </a:fillRef>
          <a:effectRef idx="0">
            <a:schemeClr val="accent1"/>
          </a:effectRef>
          <a:fontRef idx="minor">
            <a:schemeClr val="dk1"/>
          </a:fontRef>
        </p:style>
        <p:txBody>
          <a:bodyPr vert="vert270" wrap="square" lIns="0" tIns="0" rIns="0" bIns="0" numCol="1" anchor="t">
            <a:noAutofit/>
          </a:bodyPr>
          <a:lstStyle/>
          <a:p>
            <a:pPr algn="ctr"/>
            <a:endParaRPr lang="fr-CA" b="1" dirty="0">
              <a:latin typeface="Lato Light" panose="020F0502020204030203" pitchFamily="34" charset="0"/>
            </a:endParaRPr>
          </a:p>
          <a:p>
            <a:pPr algn="ctr"/>
            <a:r>
              <a:rPr lang="fr-CA" sz="2200" b="1" dirty="0">
                <a:latin typeface="Lato Light" panose="020F0502020204030203" pitchFamily="34" charset="0"/>
              </a:rPr>
              <a:t>Marge sur coûts spécifiques</a:t>
            </a:r>
          </a:p>
          <a:p>
            <a:pPr algn="ctr"/>
            <a:endParaRPr lang="fr-CA" dirty="0">
              <a:latin typeface="Lato Light" panose="020F0502020204030203" pitchFamily="34" charset="0"/>
            </a:endParaRPr>
          </a:p>
        </p:txBody>
      </p:sp>
      <p:sp>
        <p:nvSpPr>
          <p:cNvPr id="25" name="Shape 46493">
            <a:extLst>
              <a:ext uri="{FF2B5EF4-FFF2-40B4-BE49-F238E27FC236}">
                <a16:creationId xmlns:a16="http://schemas.microsoft.com/office/drawing/2014/main" id="{FEE676C4-64DA-8045-83AB-D66EA1A9D4AC}"/>
              </a:ext>
            </a:extLst>
          </p:cNvPr>
          <p:cNvSpPr>
            <a:spLocks/>
          </p:cNvSpPr>
          <p:nvPr>
            <p:custDataLst>
              <p:tags r:id="rId3"/>
            </p:custDataLst>
          </p:nvPr>
        </p:nvSpPr>
        <p:spPr>
          <a:xfrm rot="5400000" flipH="1">
            <a:off x="5199956" y="1451918"/>
            <a:ext cx="2198627" cy="3746469"/>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endParaRPr lang="fr-CA" sz="2279" b="1" dirty="0">
              <a:latin typeface="Lato Light" panose="020F0502020204030203" pitchFamily="34" charset="0"/>
            </a:endParaRPr>
          </a:p>
          <a:p>
            <a:pPr algn="ctr"/>
            <a:r>
              <a:rPr lang="fr-CA" sz="2279" b="1" dirty="0">
                <a:latin typeface="Lato Light" panose="020F0502020204030203" pitchFamily="34" charset="0"/>
              </a:rPr>
              <a:t>Marge</a:t>
            </a:r>
            <a:r>
              <a:rPr lang="fr-CA" sz="2279" dirty="0">
                <a:latin typeface="Lato Light" panose="020F0502020204030203" pitchFamily="34" charset="0"/>
              </a:rPr>
              <a:t> </a:t>
            </a:r>
            <a:r>
              <a:rPr lang="fr-CA" sz="2000" b="1" dirty="0">
                <a:latin typeface="Lato Light" panose="020F0502020204030203" pitchFamily="34" charset="0"/>
              </a:rPr>
              <a:t>par facteur de production contraignant</a:t>
            </a:r>
          </a:p>
          <a:p>
            <a:pPr algn="ctr"/>
            <a:r>
              <a:rPr lang="fr-CA" dirty="0">
                <a:latin typeface="Lato Light" panose="020F0502020204030203" pitchFamily="34" charset="0"/>
              </a:rPr>
              <a:t>Illustration </a:t>
            </a:r>
            <a:r>
              <a:rPr lang="fr-CA" dirty="0" err="1">
                <a:latin typeface="Lato Light" panose="020F0502020204030203" pitchFamily="34" charset="0"/>
              </a:rPr>
              <a:t>Eléctrolux</a:t>
            </a:r>
            <a:endParaRPr lang="fr-CA" dirty="0">
              <a:latin typeface="Lato Light" panose="020F0502020204030203" pitchFamily="34" charset="0"/>
            </a:endParaRPr>
          </a:p>
          <a:p>
            <a:pPr algn="ctr"/>
            <a:r>
              <a:rPr lang="fr-CA" dirty="0">
                <a:latin typeface="Lato Light" panose="020F0502020204030203" pitchFamily="34" charset="0"/>
              </a:rPr>
              <a:t>(Situation ressources limitées)</a:t>
            </a:r>
            <a:endParaRPr dirty="0">
              <a:latin typeface="Lato Light" panose="020F0502020204030203" pitchFamily="34" charset="0"/>
            </a:endParaRPr>
          </a:p>
        </p:txBody>
      </p:sp>
      <p:sp>
        <p:nvSpPr>
          <p:cNvPr id="21" name="Shape 46498">
            <a:extLst>
              <a:ext uri="{FF2B5EF4-FFF2-40B4-BE49-F238E27FC236}">
                <a16:creationId xmlns:a16="http://schemas.microsoft.com/office/drawing/2014/main" id="{53AAEBB2-B12E-A84F-8523-B894E8AC61DC}"/>
              </a:ext>
            </a:extLst>
          </p:cNvPr>
          <p:cNvSpPr>
            <a:spLocks/>
          </p:cNvSpPr>
          <p:nvPr>
            <p:custDataLst>
              <p:tags r:id="rId4"/>
            </p:custDataLst>
          </p:nvPr>
        </p:nvSpPr>
        <p:spPr>
          <a:xfrm rot="5400000" flipH="1">
            <a:off x="8678411" y="1894781"/>
            <a:ext cx="2198627" cy="2860743"/>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dk1"/>
          </a:lnRef>
          <a:fillRef idx="1">
            <a:schemeClr val="lt1"/>
          </a:fillRef>
          <a:effectRef idx="0">
            <a:schemeClr val="dk1"/>
          </a:effectRef>
          <a:fontRef idx="minor">
            <a:schemeClr val="dk1"/>
          </a:fontRef>
        </p:style>
        <p:txBody>
          <a:bodyPr vert="vert270" wrap="square" lIns="0" tIns="0" rIns="0" bIns="0" numCol="1" anchor="t">
            <a:noAutofit/>
          </a:bodyPr>
          <a:lstStyle/>
          <a:p>
            <a:pPr algn="ctr"/>
            <a:r>
              <a:rPr lang="fr-CA" sz="2279" dirty="0">
                <a:latin typeface="Lato Light" panose="020F0502020204030203" pitchFamily="34" charset="0"/>
              </a:rPr>
              <a:t>Prises de décisions diverses</a:t>
            </a:r>
          </a:p>
          <a:p>
            <a:pPr algn="ctr"/>
            <a:r>
              <a:rPr lang="fr-CA" sz="2279" dirty="0">
                <a:latin typeface="Lato Light" panose="020F0502020204030203" pitchFamily="34" charset="0"/>
              </a:rPr>
              <a:t>Analyse de marges</a:t>
            </a:r>
          </a:p>
          <a:p>
            <a:pPr algn="ctr"/>
            <a:r>
              <a:rPr lang="fr-CA" sz="2279" b="1" dirty="0">
                <a:latin typeface="Lato Light" panose="020F0502020204030203" pitchFamily="34" charset="0"/>
              </a:rPr>
              <a:t>Exercice 10B.1</a:t>
            </a:r>
          </a:p>
          <a:p>
            <a:pPr algn="ctr"/>
            <a:r>
              <a:rPr lang="fr-CA" sz="2279" b="1" dirty="0">
                <a:latin typeface="Lato Light" panose="020F0502020204030203" pitchFamily="34" charset="0"/>
              </a:rPr>
              <a:t>Pub du plateau </a:t>
            </a:r>
          </a:p>
        </p:txBody>
      </p:sp>
      <p:pic>
        <p:nvPicPr>
          <p:cNvPr id="5" name="Graphique 4" descr="Badge 1 contour">
            <a:extLst>
              <a:ext uri="{FF2B5EF4-FFF2-40B4-BE49-F238E27FC236}">
                <a16:creationId xmlns:a16="http://schemas.microsoft.com/office/drawing/2014/main" id="{CCB1879A-CE9A-BF7C-5979-6FAB792BF2EF}"/>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864312" y="4537781"/>
            <a:ext cx="914400" cy="914400"/>
          </a:xfrm>
          <a:prstGeom prst="rect">
            <a:avLst/>
          </a:prstGeom>
        </p:spPr>
      </p:pic>
      <p:pic>
        <p:nvPicPr>
          <p:cNvPr id="7" name="Graphique 6" descr="Badge contour">
            <a:extLst>
              <a:ext uri="{FF2B5EF4-FFF2-40B4-BE49-F238E27FC236}">
                <a16:creationId xmlns:a16="http://schemas.microsoft.com/office/drawing/2014/main" id="{1ADBDBF0-A6E8-741F-E12D-71307E92BB27}"/>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42070" y="4537781"/>
            <a:ext cx="914400" cy="914400"/>
          </a:xfrm>
          <a:prstGeom prst="rect">
            <a:avLst/>
          </a:prstGeom>
        </p:spPr>
      </p:pic>
      <p:pic>
        <p:nvPicPr>
          <p:cNvPr id="9" name="Graphique 8" descr="Badge 3 contour">
            <a:extLst>
              <a:ext uri="{FF2B5EF4-FFF2-40B4-BE49-F238E27FC236}">
                <a16:creationId xmlns:a16="http://schemas.microsoft.com/office/drawing/2014/main" id="{E10C9AFC-F527-89D6-165E-3987436498A2}"/>
              </a:ext>
            </a:extLst>
          </p:cNvPr>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20525" y="4537781"/>
            <a:ext cx="914400" cy="914400"/>
          </a:xfrm>
          <a:prstGeom prst="rect">
            <a:avLst/>
          </a:prstGeom>
        </p:spPr>
      </p:pic>
      <p:sp>
        <p:nvSpPr>
          <p:cNvPr id="2" name="Espace réservé du pied de page 3">
            <a:extLst>
              <a:ext uri="{FF2B5EF4-FFF2-40B4-BE49-F238E27FC236}">
                <a16:creationId xmlns:a16="http://schemas.microsoft.com/office/drawing/2014/main" id="{D7FEDB2F-BA94-A478-8076-9729E08D0ED2}"/>
              </a:ext>
            </a:extLst>
          </p:cNvPr>
          <p:cNvSpPr>
            <a:spLocks noGrp="1"/>
          </p:cNvSpPr>
          <p:nvPr>
            <p:ph type="ftr" sz="quarter" idx="11"/>
            <p:custDataLst>
              <p:tags r:id="rId8"/>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C57112CF-4BC9-12B7-AC68-2EEA71ECC250}"/>
              </a:ext>
            </a:extLst>
          </p:cNvPr>
          <p:cNvSpPr>
            <a:spLocks noGrp="1"/>
          </p:cNvSpPr>
          <p:nvPr>
            <p:ph type="sldNum" sz="quarter" idx="12"/>
            <p:custDataLst>
              <p:tags r:id="rId9"/>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7</a:t>
            </a:fld>
            <a:endParaRPr lang="fr-CA">
              <a:solidFill>
                <a:prstClr val="black">
                  <a:tint val="75000"/>
                </a:prstClr>
              </a:solidFill>
            </a:endParaRPr>
          </a:p>
        </p:txBody>
      </p:sp>
    </p:spTree>
    <p:extLst>
      <p:ext uri="{BB962C8B-B14F-4D97-AF65-F5344CB8AC3E}">
        <p14:creationId xmlns:p14="http://schemas.microsoft.com/office/powerpoint/2010/main" val="2962068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custDataLst>
              <p:tags r:id="rId1"/>
            </p:custDataLst>
          </p:nvPr>
        </p:nvSpPr>
        <p:spPr/>
        <p:txBody>
          <a:bodyPr>
            <a:normAutofit/>
          </a:bodyPr>
          <a:lstStyle/>
          <a:p>
            <a:r>
              <a:rPr lang="fr-CA" sz="4000"/>
              <a:t>Objectifs de la séance</a:t>
            </a:r>
          </a:p>
        </p:txBody>
      </p:sp>
      <p:sp>
        <p:nvSpPr>
          <p:cNvPr id="7" name="Espace réservé du contenu 6"/>
          <p:cNvSpPr>
            <a:spLocks noGrp="1"/>
          </p:cNvSpPr>
          <p:nvPr>
            <p:ph idx="1"/>
            <p:custDataLst>
              <p:tags r:id="rId2"/>
            </p:custDataLst>
          </p:nvPr>
        </p:nvSpPr>
        <p:spPr>
          <a:xfrm>
            <a:off x="838200" y="1506415"/>
            <a:ext cx="10515600" cy="4271962"/>
          </a:xfrm>
        </p:spPr>
        <p:txBody>
          <a:bodyPr/>
          <a:lstStyle/>
          <a:p>
            <a:r>
              <a:rPr lang="fr-CA" dirty="0"/>
              <a:t>Être en mesure de supporter les prises de décision associées au plan de production dans un contexte de ressources limitées.  </a:t>
            </a:r>
          </a:p>
          <a:p>
            <a:r>
              <a:rPr lang="fr-CA" dirty="0"/>
              <a:t>Savoir calculer et interpréter les différentes marges pour suivre la rentabilité.</a:t>
            </a:r>
          </a:p>
          <a:p>
            <a:pPr lvl="1"/>
            <a:endParaRPr lang="fr-CA" dirty="0">
              <a:highlight>
                <a:srgbClr val="FFFF00"/>
              </a:highlight>
            </a:endParaRPr>
          </a:p>
          <a:p>
            <a:endParaRPr lang="fr-CA" dirty="0"/>
          </a:p>
        </p:txBody>
      </p:sp>
      <p:sp>
        <p:nvSpPr>
          <p:cNvPr id="2" name="Espace réservé du pied de page 3">
            <a:extLst>
              <a:ext uri="{FF2B5EF4-FFF2-40B4-BE49-F238E27FC236}">
                <a16:creationId xmlns:a16="http://schemas.microsoft.com/office/drawing/2014/main" id="{561DA4B9-5DE9-F4F2-5F0D-3768C4E2EFAC}"/>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B2FB5E97-4D71-E53E-0400-1C4FE1E5C0AC}"/>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8</a:t>
            </a:fld>
            <a:endParaRPr lang="fr-CA">
              <a:solidFill>
                <a:prstClr val="black">
                  <a:tint val="75000"/>
                </a:prstClr>
              </a:solidFill>
            </a:endParaRPr>
          </a:p>
        </p:txBody>
      </p:sp>
    </p:spTree>
    <p:extLst>
      <p:ext uri="{BB962C8B-B14F-4D97-AF65-F5344CB8AC3E}">
        <p14:creationId xmlns:p14="http://schemas.microsoft.com/office/powerpoint/2010/main" val="215853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6F70C8-E187-8FCA-367B-100B0F46AE3B}"/>
              </a:ext>
            </a:extLst>
          </p:cNvPr>
          <p:cNvSpPr>
            <a:spLocks noGrp="1"/>
          </p:cNvSpPr>
          <p:nvPr>
            <p:ph type="title"/>
            <p:custDataLst>
              <p:tags r:id="rId1"/>
            </p:custDataLst>
          </p:nvPr>
        </p:nvSpPr>
        <p:spPr/>
        <p:txBody>
          <a:bodyPr/>
          <a:lstStyle/>
          <a:p>
            <a:r>
              <a:rPr lang="fr-CA"/>
              <a:t>Les décisions d’exploitation</a:t>
            </a:r>
          </a:p>
        </p:txBody>
      </p:sp>
      <p:sp>
        <p:nvSpPr>
          <p:cNvPr id="3" name="Espace réservé du contenu 2">
            <a:extLst>
              <a:ext uri="{FF2B5EF4-FFF2-40B4-BE49-F238E27FC236}">
                <a16:creationId xmlns:a16="http://schemas.microsoft.com/office/drawing/2014/main" id="{1B4B9C0E-1571-F453-8DC9-8E867D31DB7F}"/>
              </a:ext>
            </a:extLst>
          </p:cNvPr>
          <p:cNvSpPr>
            <a:spLocks noGrp="1"/>
          </p:cNvSpPr>
          <p:nvPr>
            <p:ph idx="1"/>
            <p:custDataLst>
              <p:tags r:id="rId2"/>
            </p:custDataLst>
          </p:nvPr>
        </p:nvSpPr>
        <p:spPr>
          <a:xfrm>
            <a:off x="838200" y="1467850"/>
            <a:ext cx="10515600" cy="4981717"/>
          </a:xfrm>
        </p:spPr>
        <p:txBody>
          <a:bodyPr vert="horz" lIns="91440" tIns="45720" rIns="91440" bIns="45720" rtlCol="0" anchor="t">
            <a:normAutofit lnSpcReduction="10000"/>
          </a:bodyPr>
          <a:lstStyle/>
          <a:p>
            <a:pPr>
              <a:spcAft>
                <a:spcPts val="600"/>
              </a:spcAft>
            </a:pPr>
            <a:r>
              <a:rPr lang="fr-CA"/>
              <a:t>Les décisions d’exploitation:</a:t>
            </a:r>
          </a:p>
          <a:p>
            <a:pPr lvl="1">
              <a:lnSpc>
                <a:spcPct val="120000"/>
              </a:lnSpc>
              <a:spcAft>
                <a:spcPts val="600"/>
              </a:spcAft>
            </a:pPr>
            <a:r>
              <a:rPr lang="fr-CA"/>
              <a:t>sont généralement liées à des opérations courantes</a:t>
            </a:r>
          </a:p>
          <a:p>
            <a:pPr lvl="1">
              <a:lnSpc>
                <a:spcPct val="120000"/>
              </a:lnSpc>
              <a:spcAft>
                <a:spcPts val="600"/>
              </a:spcAft>
            </a:pPr>
            <a:r>
              <a:rPr lang="fr-CA"/>
              <a:t>les décisions de ce type se présentent sous forme d’un choix entre deux ou plusieurs </a:t>
            </a:r>
            <a:r>
              <a:rPr lang="fr-CA" b="1"/>
              <a:t>propositions</a:t>
            </a:r>
            <a:r>
              <a:rPr lang="fr-CA"/>
              <a:t>. </a:t>
            </a:r>
          </a:p>
          <a:p>
            <a:pPr lvl="1">
              <a:lnSpc>
                <a:spcPct val="120000"/>
              </a:lnSpc>
              <a:spcAft>
                <a:spcPts val="600"/>
              </a:spcAft>
            </a:pPr>
            <a:r>
              <a:rPr lang="fr-CA"/>
              <a:t>l’analyse différentielle permet d’analyser rapidement l’effet sur le résultat d’exploitation en identifiant seulement les coûts pertinents. </a:t>
            </a:r>
          </a:p>
          <a:p>
            <a:pPr lvl="1">
              <a:lnSpc>
                <a:spcPct val="120000"/>
              </a:lnSpc>
              <a:spcAft>
                <a:spcPts val="600"/>
              </a:spcAft>
            </a:pPr>
            <a:r>
              <a:rPr lang="fr-CA">
                <a:cs typeface="Calibri"/>
              </a:rPr>
              <a:t>utiliser la méthode des coûts variables qui classe les coûts comme étant variables ou fixes.</a:t>
            </a:r>
            <a:endParaRPr lang="fr-CA"/>
          </a:p>
          <a:p>
            <a:pPr lvl="1">
              <a:lnSpc>
                <a:spcPct val="120000"/>
              </a:lnSpc>
            </a:pPr>
            <a:r>
              <a:rPr lang="fr-CA"/>
              <a:t>les facteurs </a:t>
            </a:r>
            <a:r>
              <a:rPr lang="fr-CA" u="sng"/>
              <a:t>qualitatifs </a:t>
            </a:r>
            <a:r>
              <a:rPr lang="fr-CA"/>
              <a:t>doivent également être considérés lors de la prise de décision</a:t>
            </a:r>
          </a:p>
          <a:p>
            <a:pPr marL="457200" lvl="1" indent="0">
              <a:buNone/>
            </a:pPr>
            <a:endParaRPr lang="fr-CA" u="sng"/>
          </a:p>
          <a:p>
            <a:endParaRPr lang="fr-CA"/>
          </a:p>
        </p:txBody>
      </p:sp>
      <p:sp>
        <p:nvSpPr>
          <p:cNvPr id="4" name="Espace réservé du pied de page 3">
            <a:extLst>
              <a:ext uri="{FF2B5EF4-FFF2-40B4-BE49-F238E27FC236}">
                <a16:creationId xmlns:a16="http://schemas.microsoft.com/office/drawing/2014/main" id="{5C96AEE5-AC40-A6D7-0345-0D3242A9920B}"/>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7CB10C5F-CC88-CDB8-6554-9B7C058F6952}"/>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Tree>
    <p:extLst>
      <p:ext uri="{BB962C8B-B14F-4D97-AF65-F5344CB8AC3E}">
        <p14:creationId xmlns:p14="http://schemas.microsoft.com/office/powerpoint/2010/main" val="2754301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Espace réservé du contenu 5"/>
          <p:cNvSpPr>
            <a:spLocks noGrp="1"/>
          </p:cNvSpPr>
          <p:nvPr>
            <p:ph idx="1"/>
            <p:custDataLst>
              <p:tags r:id="rId2"/>
            </p:custDataLst>
          </p:nvPr>
        </p:nvSpPr>
        <p:spPr>
          <a:xfrm>
            <a:off x="838200" y="1478844"/>
            <a:ext cx="10515600" cy="4998156"/>
          </a:xfrm>
        </p:spPr>
        <p:txBody>
          <a:bodyPr>
            <a:noAutofit/>
          </a:bodyPr>
          <a:lstStyle/>
          <a:p>
            <a:pPr marL="0" indent="0">
              <a:buNone/>
            </a:pPr>
            <a:r>
              <a:rPr lang="fr-CA" b="1"/>
              <a:t>Coûts spécifiques</a:t>
            </a:r>
          </a:p>
          <a:p>
            <a:pPr lvl="1"/>
            <a:r>
              <a:rPr lang="fr-CA" sz="2200"/>
              <a:t>Coûts pouvant être associés spécifiquement à un objet de coûts.</a:t>
            </a:r>
          </a:p>
          <a:p>
            <a:pPr marL="457200" lvl="1" indent="0">
              <a:buNone/>
            </a:pPr>
            <a:endParaRPr lang="fr-CA" sz="2200"/>
          </a:p>
          <a:p>
            <a:endParaRPr lang="fr-CA" sz="2400" b="1"/>
          </a:p>
          <a:p>
            <a:endParaRPr lang="fr-CA" sz="2400" b="1"/>
          </a:p>
          <a:p>
            <a:endParaRPr lang="fr-CA" sz="2400" b="1"/>
          </a:p>
          <a:p>
            <a:pPr marL="0" indent="0">
              <a:buNone/>
            </a:pPr>
            <a:r>
              <a:rPr lang="fr-CA" b="1"/>
              <a:t>Coûts communs</a:t>
            </a:r>
          </a:p>
          <a:p>
            <a:pPr lvl="1"/>
            <a:r>
              <a:rPr lang="fr-CA" sz="2200"/>
              <a:t>Coûts </a:t>
            </a:r>
            <a:r>
              <a:rPr lang="fr-CA" sz="2200" b="1" u="sng"/>
              <a:t>ne </a:t>
            </a:r>
            <a:r>
              <a:rPr lang="fr-CA" sz="2200" u="sng"/>
              <a:t>pouvant</a:t>
            </a:r>
            <a:r>
              <a:rPr lang="fr-CA" sz="2200" b="1" u="sng"/>
              <a:t> pas </a:t>
            </a:r>
            <a:r>
              <a:rPr lang="fr-CA" sz="2200"/>
              <a:t>être associés spécifiquement à un seul objet de coûts .</a:t>
            </a:r>
          </a:p>
        </p:txBody>
      </p:sp>
      <p:sp>
        <p:nvSpPr>
          <p:cNvPr id="116738" name="Rectangle 2"/>
          <p:cNvSpPr>
            <a:spLocks noChangeArrowheads="1"/>
          </p:cNvSpPr>
          <p:nvPr>
            <p:custDataLst>
              <p:tags r:id="rId3"/>
            </p:custDataLst>
          </p:nvPr>
        </p:nvSpPr>
        <p:spPr bwMode="auto">
          <a:xfrm>
            <a:off x="2209800" y="6248400"/>
            <a:ext cx="1905000" cy="457200"/>
          </a:xfrm>
          <a:prstGeom prst="rect">
            <a:avLst/>
          </a:prstGeom>
          <a:noFill/>
          <a:ln w="9525">
            <a:no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39" name="Rectangle 3"/>
          <p:cNvSpPr>
            <a:spLocks noChangeArrowheads="1"/>
          </p:cNvSpPr>
          <p:nvPr>
            <p:custDataLst>
              <p:tags r:id="rId4"/>
            </p:custDataLst>
          </p:nvPr>
        </p:nvSpPr>
        <p:spPr bwMode="auto">
          <a:xfrm>
            <a:off x="4690533" y="6555315"/>
            <a:ext cx="2895600" cy="298451"/>
          </a:xfrm>
          <a:prstGeom prst="rect">
            <a:avLst/>
          </a:prstGeom>
          <a:noFill/>
          <a:ln w="9525">
            <a:no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Image 1"/>
          <p:cNvPicPr>
            <a:picLocks noChangeAspect="1"/>
          </p:cNvPicPr>
          <p:nvPr>
            <p:custDataLst>
              <p:tags r:id="rId5"/>
            </p:custDataLst>
          </p:nvPr>
        </p:nvPicPr>
        <p:blipFill>
          <a:blip r:embed="rId21"/>
          <a:stretch>
            <a:fillRect/>
          </a:stretch>
        </p:blipFill>
        <p:spPr>
          <a:xfrm>
            <a:off x="1091283" y="2420249"/>
            <a:ext cx="2150632" cy="1614161"/>
          </a:xfrm>
          <a:prstGeom prst="rect">
            <a:avLst/>
          </a:prstGeom>
        </p:spPr>
      </p:pic>
      <p:pic>
        <p:nvPicPr>
          <p:cNvPr id="5" name="Image 4"/>
          <p:cNvPicPr>
            <a:picLocks noChangeAspect="1"/>
          </p:cNvPicPr>
          <p:nvPr>
            <p:custDataLst>
              <p:tags r:id="rId6"/>
            </p:custDataLst>
          </p:nvPr>
        </p:nvPicPr>
        <p:blipFill>
          <a:blip r:embed="rId22"/>
          <a:stretch>
            <a:fillRect/>
          </a:stretch>
        </p:blipFill>
        <p:spPr>
          <a:xfrm>
            <a:off x="3921926" y="2437405"/>
            <a:ext cx="1684751" cy="1614161"/>
          </a:xfrm>
          <a:prstGeom prst="rect">
            <a:avLst/>
          </a:prstGeom>
        </p:spPr>
      </p:pic>
      <p:pic>
        <p:nvPicPr>
          <p:cNvPr id="7" name="Image 6"/>
          <p:cNvPicPr>
            <a:picLocks noChangeAspect="1"/>
          </p:cNvPicPr>
          <p:nvPr>
            <p:custDataLst>
              <p:tags r:id="rId7"/>
            </p:custDataLst>
          </p:nvPr>
        </p:nvPicPr>
        <p:blipFill>
          <a:blip r:embed="rId23"/>
          <a:stretch>
            <a:fillRect/>
          </a:stretch>
        </p:blipFill>
        <p:spPr>
          <a:xfrm>
            <a:off x="1964168" y="4975814"/>
            <a:ext cx="2967318" cy="1614160"/>
          </a:xfrm>
          <a:prstGeom prst="rect">
            <a:avLst/>
          </a:prstGeom>
        </p:spPr>
      </p:pic>
      <p:sp>
        <p:nvSpPr>
          <p:cNvPr id="10" name="ZoneTexte 9"/>
          <p:cNvSpPr txBox="1"/>
          <p:nvPr>
            <p:custDataLst>
              <p:tags r:id="rId8"/>
            </p:custDataLst>
          </p:nvPr>
        </p:nvSpPr>
        <p:spPr>
          <a:xfrm>
            <a:off x="6867646" y="2452176"/>
            <a:ext cx="437477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prstClr val="black"/>
                </a:solidFill>
                <a:effectLst/>
                <a:uLnTx/>
                <a:uFillTx/>
                <a:latin typeface="Calibri" panose="020F0502020204030204"/>
                <a:ea typeface="+mn-ea"/>
                <a:cs typeface="+mn-cs"/>
              </a:rPr>
              <a:t>SUPPRESSION DES </a:t>
            </a:r>
            <a:r>
              <a:rPr kumimoji="0" lang="fr-CA" sz="2000" b="1" i="0" u="none" strike="noStrike" kern="1200" cap="none" spc="0" normalizeH="0" baseline="0" noProof="0">
                <a:ln>
                  <a:noFill/>
                </a:ln>
                <a:solidFill>
                  <a:prstClr val="black"/>
                </a:solidFill>
                <a:effectLst/>
                <a:uLnTx/>
                <a:uFillTx/>
                <a:latin typeface="Calibri" panose="020F0502020204030204"/>
                <a:ea typeface="+mn-ea"/>
                <a:cs typeface="+mn-cs"/>
              </a:rPr>
              <a:t>COÛTS SPÉCIFIQUES</a:t>
            </a:r>
          </a:p>
        </p:txBody>
      </p:sp>
      <p:sp>
        <p:nvSpPr>
          <p:cNvPr id="14" name="ZoneTexte 13"/>
          <p:cNvSpPr txBox="1"/>
          <p:nvPr>
            <p:custDataLst>
              <p:tags r:id="rId9"/>
            </p:custDataLst>
          </p:nvPr>
        </p:nvSpPr>
        <p:spPr>
          <a:xfrm>
            <a:off x="5826246" y="5208166"/>
            <a:ext cx="37696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prstClr val="black"/>
                </a:solidFill>
                <a:effectLst/>
                <a:uLnTx/>
                <a:uFillTx/>
                <a:latin typeface="Calibri" panose="020F0502020204030204"/>
                <a:ea typeface="+mn-ea"/>
                <a:cs typeface="+mn-cs"/>
              </a:rPr>
              <a:t> MAINTIEN DES </a:t>
            </a:r>
            <a:r>
              <a:rPr kumimoji="0" lang="fr-CA" sz="2000" b="1" i="0" u="none" strike="noStrike" kern="1200" cap="none" spc="0" normalizeH="0" baseline="0" noProof="0">
                <a:ln>
                  <a:noFill/>
                </a:ln>
                <a:solidFill>
                  <a:prstClr val="black"/>
                </a:solidFill>
                <a:effectLst/>
                <a:uLnTx/>
                <a:uFillTx/>
                <a:latin typeface="Calibri" panose="020F0502020204030204"/>
                <a:ea typeface="+mn-ea"/>
                <a:cs typeface="+mn-cs"/>
              </a:rPr>
              <a:t>COÛTS COMMUNS</a:t>
            </a:r>
            <a:endParaRPr kumimoji="0" lang="fr-CA"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9" name="Connecteur droit 18"/>
          <p:cNvCxnSpPr>
            <a:cxnSpLocks/>
            <a:stCxn id="10" idx="0"/>
          </p:cNvCxnSpPr>
          <p:nvPr>
            <p:custDataLst>
              <p:tags r:id="rId10"/>
            </p:custDataLst>
          </p:nvPr>
        </p:nvCxnSpPr>
        <p:spPr>
          <a:xfrm>
            <a:off x="9055034" y="2452176"/>
            <a:ext cx="1569321" cy="40011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106B56E3-3C15-6A42-A802-4816BCB26A84}"/>
              </a:ext>
            </a:extLst>
          </p:cNvPr>
          <p:cNvSpPr txBox="1"/>
          <p:nvPr>
            <p:custDataLst>
              <p:tags r:id="rId11"/>
            </p:custDataLst>
          </p:nvPr>
        </p:nvSpPr>
        <p:spPr>
          <a:xfrm>
            <a:off x="5896325" y="3442371"/>
            <a:ext cx="3077512" cy="400110"/>
          </a:xfrm>
          <a:prstGeom prst="rect">
            <a:avLst/>
          </a:prstGeom>
          <a:no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srgbClr val="C00000"/>
                </a:solidFill>
                <a:effectLst/>
                <a:uLnTx/>
                <a:uFillTx/>
                <a:latin typeface="Avenir Next" panose="020B0503020202020204" pitchFamily="34" charset="0"/>
                <a:ea typeface="+mn-ea"/>
                <a:cs typeface="+mn-cs"/>
              </a:rPr>
              <a:t>SI ARRÊT de </a:t>
            </a:r>
            <a:r>
              <a:rPr kumimoji="0" lang="fr-CA" sz="2000" b="1" i="0" u="none" strike="noStrike" kern="1200" cap="none" spc="0" normalizeH="0" baseline="0" noProof="0">
                <a:ln>
                  <a:noFill/>
                </a:ln>
                <a:solidFill>
                  <a:srgbClr val="C00000"/>
                </a:solidFill>
                <a:effectLst/>
                <a:uLnTx/>
                <a:uFillTx/>
                <a:latin typeface="Avenir Next" panose="020B0503020202020204" pitchFamily="34" charset="0"/>
                <a:ea typeface="+mn-ea"/>
                <a:cs typeface="+mn-cs"/>
              </a:rPr>
              <a:t>L’ACTIVITÉ…</a:t>
            </a:r>
            <a:endParaRPr kumimoji="0" lang="fr-CA" sz="2000" b="0" i="0" u="none" strike="noStrike" kern="1200" cap="none" spc="0" normalizeH="0" baseline="0" noProof="0">
              <a:ln>
                <a:noFill/>
              </a:ln>
              <a:solidFill>
                <a:srgbClr val="C00000"/>
              </a:solidFill>
              <a:effectLst/>
              <a:uLnTx/>
              <a:uFillTx/>
              <a:latin typeface="Avenir Next" panose="020B0503020202020204" pitchFamily="34" charset="0"/>
              <a:ea typeface="+mn-ea"/>
              <a:cs typeface="+mn-cs"/>
            </a:endParaRPr>
          </a:p>
        </p:txBody>
      </p:sp>
      <p:sp>
        <p:nvSpPr>
          <p:cNvPr id="26" name="Interdiction 25">
            <a:extLst>
              <a:ext uri="{FF2B5EF4-FFF2-40B4-BE49-F238E27FC236}">
                <a16:creationId xmlns:a16="http://schemas.microsoft.com/office/drawing/2014/main" id="{562154AB-30CD-224E-9EF6-BC5BA9B938A7}"/>
              </a:ext>
            </a:extLst>
          </p:cNvPr>
          <p:cNvSpPr/>
          <p:nvPr>
            <p:custDataLst>
              <p:tags r:id="rId12"/>
            </p:custDataLst>
          </p:nvPr>
        </p:nvSpPr>
        <p:spPr>
          <a:xfrm>
            <a:off x="3698147" y="2278887"/>
            <a:ext cx="1976075" cy="1896884"/>
          </a:xfrm>
          <a:prstGeom prst="noSmoking">
            <a:avLst>
              <a:gd name="adj" fmla="val 9814"/>
            </a:avLst>
          </a:prstGeom>
          <a:solidFill>
            <a:srgbClr val="FF0000">
              <a:alpha val="6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32">
            <a:extLst>
              <a:ext uri="{FF2B5EF4-FFF2-40B4-BE49-F238E27FC236}">
                <a16:creationId xmlns:a16="http://schemas.microsoft.com/office/drawing/2014/main" id="{9355C301-4CEF-1143-B52B-FEF639DB3AED}"/>
              </a:ext>
            </a:extLst>
          </p:cNvPr>
          <p:cNvPicPr>
            <a:picLocks noChangeAspect="1"/>
          </p:cNvPicPr>
          <p:nvPr>
            <p:custDataLst>
              <p:tags r:id="rId13"/>
            </p:custDataLst>
          </p:nvPr>
        </p:nvPicPr>
        <p:blipFill>
          <a:blip r:embed="rId24" cstate="print">
            <a:extLst>
              <a:ext uri="{28A0092B-C50C-407E-A947-70E740481C1C}">
                <a14:useLocalDpi xmlns:a14="http://schemas.microsoft.com/office/drawing/2010/main" val="0"/>
              </a:ext>
              <a:ext uri="{837473B0-CC2E-450A-ABE3-18F120FF3D39}">
                <a1611:picAttrSrcUrl xmlns:a1611="http://schemas.microsoft.com/office/drawing/2016/11/main" r:id="rId25"/>
              </a:ext>
            </a:extLst>
          </a:blip>
          <a:stretch>
            <a:fillRect/>
          </a:stretch>
        </p:blipFill>
        <p:spPr>
          <a:xfrm>
            <a:off x="9516367" y="4894396"/>
            <a:ext cx="858873" cy="928512"/>
          </a:xfrm>
          <a:prstGeom prst="rect">
            <a:avLst/>
          </a:prstGeom>
        </p:spPr>
      </p:pic>
      <p:cxnSp>
        <p:nvCxnSpPr>
          <p:cNvPr id="9" name="Connecteur droit avec flèche 8"/>
          <p:cNvCxnSpPr>
            <a:cxnSpLocks/>
          </p:cNvCxnSpPr>
          <p:nvPr>
            <p:custDataLst>
              <p:tags r:id="rId14"/>
            </p:custDataLst>
          </p:nvPr>
        </p:nvCxnSpPr>
        <p:spPr>
          <a:xfrm flipV="1">
            <a:off x="6188765" y="2691857"/>
            <a:ext cx="656453" cy="72377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itre 3">
            <a:extLst>
              <a:ext uri="{FF2B5EF4-FFF2-40B4-BE49-F238E27FC236}">
                <a16:creationId xmlns:a16="http://schemas.microsoft.com/office/drawing/2014/main" id="{8D48F5FA-0346-47FC-86BD-F0B45093920C}"/>
              </a:ext>
            </a:extLst>
          </p:cNvPr>
          <p:cNvSpPr>
            <a:spLocks noGrp="1"/>
          </p:cNvSpPr>
          <p:nvPr>
            <p:ph type="title"/>
            <p:custDataLst>
              <p:tags r:id="rId15"/>
            </p:custDataLst>
          </p:nvPr>
        </p:nvSpPr>
        <p:spPr>
          <a:xfrm>
            <a:off x="661416" y="215453"/>
            <a:ext cx="11106912" cy="1042570"/>
          </a:xfrm>
        </p:spPr>
        <p:txBody>
          <a:bodyPr>
            <a:noAutofit/>
          </a:bodyPr>
          <a:lstStyle/>
          <a:p>
            <a:r>
              <a:rPr lang="fr-CA" sz="4000" dirty="0"/>
              <a:t>Coûts spécifiques et Coûts communs (rappel)</a:t>
            </a:r>
            <a:endParaRPr lang="fr-CA" sz="3600" dirty="0">
              <a:highlight>
                <a:srgbClr val="FFFF00"/>
              </a:highlight>
              <a:cs typeface="Calibri Light" panose="020F0302020204030204"/>
            </a:endParaRPr>
          </a:p>
        </p:txBody>
      </p:sp>
      <p:cxnSp>
        <p:nvCxnSpPr>
          <p:cNvPr id="23" name="Connecteur droit avec flèche 22">
            <a:extLst>
              <a:ext uri="{FF2B5EF4-FFF2-40B4-BE49-F238E27FC236}">
                <a16:creationId xmlns:a16="http://schemas.microsoft.com/office/drawing/2014/main" id="{B58018B4-6D13-471F-9F65-91441A34BBE5}"/>
              </a:ext>
            </a:extLst>
          </p:cNvPr>
          <p:cNvCxnSpPr>
            <a:cxnSpLocks/>
          </p:cNvCxnSpPr>
          <p:nvPr>
            <p:custDataLst>
              <p:tags r:id="rId16"/>
            </p:custDataLst>
          </p:nvPr>
        </p:nvCxnSpPr>
        <p:spPr>
          <a:xfrm>
            <a:off x="6188766" y="3935896"/>
            <a:ext cx="678880" cy="127227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Espace réservé du pied de page 3">
            <a:extLst>
              <a:ext uri="{FF2B5EF4-FFF2-40B4-BE49-F238E27FC236}">
                <a16:creationId xmlns:a16="http://schemas.microsoft.com/office/drawing/2014/main" id="{E966A391-FDB4-AB40-8B21-68588A4CF8A1}"/>
              </a:ext>
            </a:extLst>
          </p:cNvPr>
          <p:cNvSpPr>
            <a:spLocks noGrp="1"/>
          </p:cNvSpPr>
          <p:nvPr>
            <p:ph type="ftr" sz="quarter" idx="11"/>
            <p:custDataLst>
              <p:tags r:id="rId1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872A0ADC-83A4-AE6A-2220-107CEAFFFD3C}"/>
              </a:ext>
            </a:extLst>
          </p:cNvPr>
          <p:cNvSpPr>
            <a:spLocks noGrp="1"/>
          </p:cNvSpPr>
          <p:nvPr>
            <p:ph type="sldNum" sz="quarter" idx="12"/>
            <p:custDataLst>
              <p:tags r:id="rId1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10</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20746047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24"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19BD51-C250-CD76-9207-86680EF45988}"/>
              </a:ext>
            </a:extLst>
          </p:cNvPr>
          <p:cNvSpPr>
            <a:spLocks noGrp="1"/>
          </p:cNvSpPr>
          <p:nvPr>
            <p:ph type="ctrTitle"/>
            <p:custDataLst>
              <p:tags r:id="rId1"/>
            </p:custDataLst>
          </p:nvPr>
        </p:nvSpPr>
        <p:spPr/>
        <p:txBody>
          <a:bodyPr/>
          <a:lstStyle/>
          <a:p>
            <a:r>
              <a:rPr lang="fr-CA"/>
              <a:t>Les marges et la prise de décision</a:t>
            </a:r>
          </a:p>
        </p:txBody>
      </p:sp>
      <p:sp>
        <p:nvSpPr>
          <p:cNvPr id="4" name="Espace réservé du pied de page 3">
            <a:extLst>
              <a:ext uri="{FF2B5EF4-FFF2-40B4-BE49-F238E27FC236}">
                <a16:creationId xmlns:a16="http://schemas.microsoft.com/office/drawing/2014/main" id="{0120D4B4-CCB3-F54C-D2B0-D627524EFCBA}"/>
              </a:ext>
            </a:extLst>
          </p:cNvPr>
          <p:cNvSpPr>
            <a:spLocks noGrp="1"/>
          </p:cNvSpPr>
          <p:nvPr>
            <p:ph type="ftr" sz="quarter" idx="11"/>
            <p:custDataLst>
              <p:tags r:id="rId2"/>
            </p:custDataLst>
          </p:nvPr>
        </p:nvSpPr>
        <p:spPr/>
        <p:txBody>
          <a:bodyPr/>
          <a:lstStyle/>
          <a:p>
            <a:r>
              <a:rPr lang="en-US">
                <a:solidFill>
                  <a:prstClr val="black">
                    <a:tint val="75000"/>
                  </a:prstClr>
                </a:solidFill>
              </a:rPr>
              <a:t>(c) 10904 / S04 - Version A2024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B60DA778-DAD4-B62B-D41C-7E2774793E60}"/>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11</a:t>
            </a:fld>
            <a:endParaRPr lang="fr-CA">
              <a:solidFill>
                <a:prstClr val="black">
                  <a:tint val="75000"/>
                </a:prstClr>
              </a:solidFill>
            </a:endParaRPr>
          </a:p>
        </p:txBody>
      </p:sp>
    </p:spTree>
    <p:extLst>
      <p:ext uri="{BB962C8B-B14F-4D97-AF65-F5344CB8AC3E}">
        <p14:creationId xmlns:p14="http://schemas.microsoft.com/office/powerpoint/2010/main" val="33177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29EE44-C2FE-0D9A-5556-1D81D4FF38F8}"/>
              </a:ext>
            </a:extLst>
          </p:cNvPr>
          <p:cNvSpPr>
            <a:spLocks noGrp="1"/>
          </p:cNvSpPr>
          <p:nvPr>
            <p:ph type="title"/>
            <p:custDataLst>
              <p:tags r:id="rId1"/>
            </p:custDataLst>
          </p:nvPr>
        </p:nvSpPr>
        <p:spPr>
          <a:xfrm>
            <a:off x="774915" y="160589"/>
            <a:ext cx="10578885" cy="1042570"/>
          </a:xfrm>
        </p:spPr>
        <p:txBody>
          <a:bodyPr>
            <a:normAutofit/>
          </a:bodyPr>
          <a:lstStyle/>
          <a:p>
            <a:r>
              <a:rPr lang="en-CA" dirty="0"/>
              <a:t>Question de </a:t>
            </a:r>
            <a:r>
              <a:rPr lang="en-CA" dirty="0" err="1"/>
              <a:t>révision</a:t>
            </a:r>
            <a:r>
              <a:rPr lang="en-CA" dirty="0"/>
              <a:t> </a:t>
            </a:r>
            <a:endParaRPr lang="en-CA" dirty="0">
              <a:cs typeface="Calibri Light"/>
            </a:endParaRPr>
          </a:p>
        </p:txBody>
      </p:sp>
      <p:sp>
        <p:nvSpPr>
          <p:cNvPr id="3" name="Espace réservé du contenu 2">
            <a:extLst>
              <a:ext uri="{FF2B5EF4-FFF2-40B4-BE49-F238E27FC236}">
                <a16:creationId xmlns:a16="http://schemas.microsoft.com/office/drawing/2014/main" id="{7FF28D5F-0DCB-9D7F-E8F2-D652A9BD5AE6}"/>
              </a:ext>
            </a:extLst>
          </p:cNvPr>
          <p:cNvSpPr>
            <a:spLocks noGrp="1"/>
          </p:cNvSpPr>
          <p:nvPr>
            <p:ph idx="1"/>
            <p:custDataLst>
              <p:tags r:id="rId2"/>
            </p:custDataLst>
          </p:nvPr>
        </p:nvSpPr>
        <p:spPr>
          <a:xfrm>
            <a:off x="350729" y="1452881"/>
            <a:ext cx="5225823" cy="4897506"/>
          </a:xfrm>
        </p:spPr>
        <p:txBody>
          <a:bodyPr vert="horz" lIns="91440" tIns="45720" rIns="91440" bIns="45720" rtlCol="0" anchor="t">
            <a:normAutofit/>
          </a:bodyPr>
          <a:lstStyle/>
          <a:p>
            <a:pPr marL="0" indent="0">
              <a:buNone/>
            </a:pPr>
            <a:r>
              <a:rPr lang="fr-CA" sz="2200" dirty="0"/>
              <a:t>La ferme Deschamps et Fils est une entreprise agricole qui cultive les champs l'été et fait du déneigement pour les cours des particuliers l'hiver. La ferme possède 4 tracteurs qui sont utilisés été comme hiver et entreposés dans les bâtiments de l'entreprise. De plus, l'entreprise possède des équipements utilisés uniquement pendant la saison d'hiver (souffleuse à neige) et d'autres qui servent uniquement lors des travaux d'été. </a:t>
            </a:r>
          </a:p>
          <a:p>
            <a:pPr marL="0" indent="0">
              <a:buNone/>
            </a:pPr>
            <a:r>
              <a:rPr lang="fr-CA" sz="2200" dirty="0"/>
              <a:t>Voici trouverez dans le tableau ci-contre, quelques informations sur les revenus et les coûts de la ferme.</a:t>
            </a:r>
            <a:endParaRPr lang="en-CA" sz="2200" dirty="0"/>
          </a:p>
          <a:p>
            <a:pPr marL="0" indent="0">
              <a:buNone/>
            </a:pPr>
            <a:endParaRPr lang="en-CA" sz="2400" dirty="0"/>
          </a:p>
        </p:txBody>
      </p:sp>
      <p:graphicFrame>
        <p:nvGraphicFramePr>
          <p:cNvPr id="6" name="Tableau 6">
            <a:extLst>
              <a:ext uri="{FF2B5EF4-FFF2-40B4-BE49-F238E27FC236}">
                <a16:creationId xmlns:a16="http://schemas.microsoft.com/office/drawing/2014/main" id="{B61DE2C0-B48A-A595-CA02-E0B260067F17}"/>
              </a:ext>
            </a:extLst>
          </p:cNvPr>
          <p:cNvGraphicFramePr>
            <a:graphicFrameLocks noGrp="1"/>
          </p:cNvGraphicFramePr>
          <p:nvPr>
            <p:custDataLst>
              <p:tags r:id="rId3"/>
            </p:custDataLst>
            <p:extLst>
              <p:ext uri="{D42A27DB-BD31-4B8C-83A1-F6EECF244321}">
                <p14:modId xmlns:p14="http://schemas.microsoft.com/office/powerpoint/2010/main" val="1282392713"/>
              </p:ext>
            </p:extLst>
          </p:nvPr>
        </p:nvGraphicFramePr>
        <p:xfrm>
          <a:off x="5576552" y="1542641"/>
          <a:ext cx="6393067" cy="3864560"/>
        </p:xfrm>
        <a:graphic>
          <a:graphicData uri="http://schemas.openxmlformats.org/drawingml/2006/table">
            <a:tbl>
              <a:tblPr firstRow="1" bandRow="1">
                <a:tableStyleId>{5940675A-B579-460E-94D1-54222C63F5DA}</a:tableStyleId>
              </a:tblPr>
              <a:tblGrid>
                <a:gridCol w="2659026">
                  <a:extLst>
                    <a:ext uri="{9D8B030D-6E8A-4147-A177-3AD203B41FA5}">
                      <a16:colId xmlns:a16="http://schemas.microsoft.com/office/drawing/2014/main" val="605514192"/>
                    </a:ext>
                  </a:extLst>
                </a:gridCol>
                <a:gridCol w="1210517">
                  <a:extLst>
                    <a:ext uri="{9D8B030D-6E8A-4147-A177-3AD203B41FA5}">
                      <a16:colId xmlns:a16="http://schemas.microsoft.com/office/drawing/2014/main" val="1680050039"/>
                    </a:ext>
                  </a:extLst>
                </a:gridCol>
                <a:gridCol w="1261762">
                  <a:extLst>
                    <a:ext uri="{9D8B030D-6E8A-4147-A177-3AD203B41FA5}">
                      <a16:colId xmlns:a16="http://schemas.microsoft.com/office/drawing/2014/main" val="3301273123"/>
                    </a:ext>
                  </a:extLst>
                </a:gridCol>
                <a:gridCol w="1261762">
                  <a:extLst>
                    <a:ext uri="{9D8B030D-6E8A-4147-A177-3AD203B41FA5}">
                      <a16:colId xmlns:a16="http://schemas.microsoft.com/office/drawing/2014/main" val="572534412"/>
                    </a:ext>
                  </a:extLst>
                </a:gridCol>
              </a:tblGrid>
              <a:tr h="347435">
                <a:tc>
                  <a:txBody>
                    <a:bodyPr/>
                    <a:lstStyle/>
                    <a:p>
                      <a:endParaRPr lang="en-CA" noProof="0"/>
                    </a:p>
                  </a:txBody>
                  <a:tcPr/>
                </a:tc>
                <a:tc>
                  <a:txBody>
                    <a:bodyPr/>
                    <a:lstStyle/>
                    <a:p>
                      <a:r>
                        <a:rPr lang="en-CA" b="1" noProof="0" err="1"/>
                        <a:t>Été</a:t>
                      </a:r>
                      <a:endParaRPr lang="en-CA" b="1" noProof="0"/>
                    </a:p>
                  </a:txBody>
                  <a:tcPr/>
                </a:tc>
                <a:tc>
                  <a:txBody>
                    <a:bodyPr/>
                    <a:lstStyle/>
                    <a:p>
                      <a:r>
                        <a:rPr lang="en-CA" b="1" noProof="0" dirty="0"/>
                        <a:t>Hiver</a:t>
                      </a:r>
                    </a:p>
                  </a:txBody>
                  <a:tcPr/>
                </a:tc>
                <a:tc>
                  <a:txBody>
                    <a:bodyPr/>
                    <a:lstStyle/>
                    <a:p>
                      <a:r>
                        <a:rPr lang="en-CA" b="1" noProof="0" dirty="0"/>
                        <a:t>Total </a:t>
                      </a:r>
                    </a:p>
                  </a:txBody>
                  <a:tcPr/>
                </a:tc>
                <a:extLst>
                  <a:ext uri="{0D108BD9-81ED-4DB2-BD59-A6C34878D82A}">
                    <a16:rowId xmlns:a16="http://schemas.microsoft.com/office/drawing/2014/main" val="2506990494"/>
                  </a:ext>
                </a:extLst>
              </a:tr>
              <a:tr h="345138">
                <a:tc>
                  <a:txBody>
                    <a:bodyPr/>
                    <a:lstStyle/>
                    <a:p>
                      <a:r>
                        <a:rPr lang="en-CA" b="1" noProof="0"/>
                        <a:t>Ventes</a:t>
                      </a:r>
                    </a:p>
                  </a:txBody>
                  <a:tcPr/>
                </a:tc>
                <a:tc>
                  <a:txBody>
                    <a:bodyPr/>
                    <a:lstStyle/>
                    <a:p>
                      <a:r>
                        <a:rPr lang="en-CA" noProof="0"/>
                        <a:t>415 000 $</a:t>
                      </a:r>
                    </a:p>
                  </a:txBody>
                  <a:tcPr/>
                </a:tc>
                <a:tc>
                  <a:txBody>
                    <a:bodyPr/>
                    <a:lstStyle/>
                    <a:p>
                      <a:r>
                        <a:rPr lang="en-CA" noProof="0"/>
                        <a:t>130 000 $</a:t>
                      </a:r>
                    </a:p>
                  </a:txBody>
                  <a:tcPr/>
                </a:tc>
                <a:tc>
                  <a:txBody>
                    <a:bodyPr/>
                    <a:lstStyle/>
                    <a:p>
                      <a:r>
                        <a:rPr lang="en-CA" noProof="0" dirty="0"/>
                        <a:t>545 000 $</a:t>
                      </a:r>
                    </a:p>
                  </a:txBody>
                  <a:tcPr/>
                </a:tc>
                <a:extLst>
                  <a:ext uri="{0D108BD9-81ED-4DB2-BD59-A6C34878D82A}">
                    <a16:rowId xmlns:a16="http://schemas.microsoft.com/office/drawing/2014/main" val="3390228602"/>
                  </a:ext>
                </a:extLst>
              </a:tr>
              <a:tr h="963831">
                <a:tc>
                  <a:txBody>
                    <a:bodyPr/>
                    <a:lstStyle/>
                    <a:p>
                      <a:r>
                        <a:rPr lang="en-CA" b="1" noProof="0"/>
                        <a:t>Coûts variables</a:t>
                      </a:r>
                    </a:p>
                    <a:p>
                      <a:pPr marL="179705"/>
                      <a:r>
                        <a:rPr lang="en-CA" noProof="0"/>
                        <a:t>Pesticides, engrais, etc.</a:t>
                      </a:r>
                    </a:p>
                    <a:p>
                      <a:pPr marL="179705"/>
                      <a:r>
                        <a:rPr lang="en-CA" noProof="0"/>
                        <a:t>MOD</a:t>
                      </a:r>
                    </a:p>
                    <a:p>
                      <a:pPr marL="180000"/>
                      <a:r>
                        <a:rPr lang="en-CA" noProof="0"/>
                        <a:t>Essence</a:t>
                      </a:r>
                    </a:p>
                  </a:txBody>
                  <a:tcPr/>
                </a:tc>
                <a:tc>
                  <a:txBody>
                    <a:bodyPr/>
                    <a:lstStyle/>
                    <a:p>
                      <a:endParaRPr lang="en-CA" noProof="0"/>
                    </a:p>
                    <a:p>
                      <a:r>
                        <a:rPr lang="en-CA" noProof="0"/>
                        <a:t>  50 000 $</a:t>
                      </a:r>
                    </a:p>
                    <a:p>
                      <a:r>
                        <a:rPr lang="en-CA" noProof="0"/>
                        <a:t>  75 000 $</a:t>
                      </a:r>
                    </a:p>
                    <a:p>
                      <a:r>
                        <a:rPr lang="en-CA" noProof="0"/>
                        <a:t>100 000 $</a:t>
                      </a:r>
                    </a:p>
                  </a:txBody>
                  <a:tcPr/>
                </a:tc>
                <a:tc>
                  <a:txBody>
                    <a:bodyPr/>
                    <a:lstStyle/>
                    <a:p>
                      <a:endParaRPr lang="en-CA" noProof="0"/>
                    </a:p>
                    <a:p>
                      <a:endParaRPr lang="en-CA" noProof="0"/>
                    </a:p>
                    <a:p>
                      <a:r>
                        <a:rPr lang="en-CA" noProof="0"/>
                        <a:t>  75 000 $</a:t>
                      </a:r>
                    </a:p>
                    <a:p>
                      <a:r>
                        <a:rPr lang="en-CA" noProof="0"/>
                        <a:t>  30 000 $</a:t>
                      </a:r>
                    </a:p>
                  </a:txBody>
                  <a:tcPr/>
                </a:tc>
                <a:tc>
                  <a:txBody>
                    <a:bodyPr/>
                    <a:lstStyle/>
                    <a:p>
                      <a:endParaRPr lang="en-CA" noProof="0" dirty="0"/>
                    </a:p>
                    <a:p>
                      <a:endParaRPr lang="en-CA" noProof="0" dirty="0"/>
                    </a:p>
                    <a:p>
                      <a:r>
                        <a:rPr lang="en-CA" noProof="0" dirty="0"/>
                        <a:t>330 000 $</a:t>
                      </a:r>
                    </a:p>
                  </a:txBody>
                  <a:tcPr/>
                </a:tc>
                <a:extLst>
                  <a:ext uri="{0D108BD9-81ED-4DB2-BD59-A6C34878D82A}">
                    <a16:rowId xmlns:a16="http://schemas.microsoft.com/office/drawing/2014/main" val="2268729115"/>
                  </a:ext>
                </a:extLst>
              </a:tr>
              <a:tr h="1186253">
                <a:tc>
                  <a:txBody>
                    <a:bodyPr/>
                    <a:lstStyle/>
                    <a:p>
                      <a:r>
                        <a:rPr lang="en-CA" b="1" noProof="0" err="1"/>
                        <a:t>Coûts</a:t>
                      </a:r>
                      <a:r>
                        <a:rPr lang="en-CA" b="1" noProof="0"/>
                        <a:t> fixes</a:t>
                      </a:r>
                    </a:p>
                    <a:p>
                      <a:pPr marL="180000" lvl="1"/>
                      <a:r>
                        <a:rPr lang="en-CA" noProof="0" err="1"/>
                        <a:t>Bâtiment</a:t>
                      </a:r>
                      <a:endParaRPr lang="en-CA" noProof="0"/>
                    </a:p>
                    <a:p>
                      <a:pPr marL="179705" lvl="1"/>
                      <a:r>
                        <a:rPr lang="en-CA" noProof="0" err="1"/>
                        <a:t>Tracteurs</a:t>
                      </a:r>
                      <a:endParaRPr lang="en-CA" noProof="0"/>
                    </a:p>
                    <a:p>
                      <a:pPr marL="179705" lvl="1"/>
                      <a:r>
                        <a:rPr lang="en-CA" noProof="0" err="1"/>
                        <a:t>Équipement</a:t>
                      </a:r>
                      <a:r>
                        <a:rPr lang="en-CA" noProof="0"/>
                        <a:t> - </a:t>
                      </a:r>
                      <a:r>
                        <a:rPr lang="en-CA" noProof="0" err="1"/>
                        <a:t>été</a:t>
                      </a:r>
                      <a:endParaRPr lang="en-CA" noProof="0"/>
                    </a:p>
                    <a:p>
                      <a:pPr marL="179705" lvl="1"/>
                      <a:r>
                        <a:rPr lang="en-CA" noProof="0" err="1"/>
                        <a:t>Équipement</a:t>
                      </a:r>
                      <a:r>
                        <a:rPr lang="en-CA" noProof="0"/>
                        <a:t> - hiver</a:t>
                      </a:r>
                    </a:p>
                  </a:txBody>
                  <a:tcPr/>
                </a:tc>
                <a:tc>
                  <a:txBody>
                    <a:bodyPr/>
                    <a:lstStyle/>
                    <a:p>
                      <a:endParaRPr lang="en-CA" noProof="0"/>
                    </a:p>
                    <a:p>
                      <a:r>
                        <a:rPr lang="en-CA" noProof="0"/>
                        <a:t>  20 000 $</a:t>
                      </a:r>
                    </a:p>
                    <a:p>
                      <a:r>
                        <a:rPr lang="en-CA" noProof="0"/>
                        <a:t>  24 000 $</a:t>
                      </a:r>
                    </a:p>
                    <a:p>
                      <a:r>
                        <a:rPr lang="en-CA" noProof="0"/>
                        <a:t>  10 000 $</a:t>
                      </a:r>
                    </a:p>
                    <a:p>
                      <a:r>
                        <a:rPr lang="en-CA" noProof="0"/>
                        <a:t>          -</a:t>
                      </a:r>
                    </a:p>
                  </a:txBody>
                  <a:tcPr/>
                </a:tc>
                <a:tc>
                  <a:txBody>
                    <a:bodyPr/>
                    <a:lstStyle/>
                    <a:p>
                      <a:endParaRPr lang="en-CA" noProof="0"/>
                    </a:p>
                    <a:p>
                      <a:r>
                        <a:rPr lang="en-CA" noProof="0"/>
                        <a:t>  20 000 $</a:t>
                      </a:r>
                    </a:p>
                    <a:p>
                      <a:r>
                        <a:rPr lang="en-CA" noProof="0"/>
                        <a:t>  24 000 $</a:t>
                      </a:r>
                    </a:p>
                    <a:p>
                      <a:r>
                        <a:rPr lang="en-CA" noProof="0"/>
                        <a:t>         -</a:t>
                      </a:r>
                    </a:p>
                    <a:p>
                      <a:r>
                        <a:rPr lang="en-CA" noProof="0"/>
                        <a:t>  12 000 $</a:t>
                      </a:r>
                    </a:p>
                  </a:txBody>
                  <a:tcPr/>
                </a:tc>
                <a:tc>
                  <a:txBody>
                    <a:bodyPr/>
                    <a:lstStyle/>
                    <a:p>
                      <a:endParaRPr lang="en-CA" noProof="0" dirty="0"/>
                    </a:p>
                    <a:p>
                      <a:r>
                        <a:rPr lang="en-CA" noProof="0" dirty="0"/>
                        <a:t>110 000 $</a:t>
                      </a:r>
                    </a:p>
                  </a:txBody>
                  <a:tcPr/>
                </a:tc>
                <a:extLst>
                  <a:ext uri="{0D108BD9-81ED-4DB2-BD59-A6C34878D82A}">
                    <a16:rowId xmlns:a16="http://schemas.microsoft.com/office/drawing/2014/main" val="2512256763"/>
                  </a:ext>
                </a:extLst>
              </a:tr>
              <a:tr h="481280">
                <a:tc>
                  <a:txBody>
                    <a:bodyPr/>
                    <a:lstStyle/>
                    <a:p>
                      <a:pPr marL="0" lvl="0" indent="-277495"/>
                      <a:r>
                        <a:rPr lang="en-CA" b="1" noProof="0" err="1"/>
                        <a:t>Résultat</a:t>
                      </a:r>
                      <a:r>
                        <a:rPr lang="en-CA" b="1" noProof="0"/>
                        <a:t> </a:t>
                      </a:r>
                      <a:r>
                        <a:rPr lang="en-CA" b="1" noProof="0" err="1"/>
                        <a:t>d’exploitation</a:t>
                      </a:r>
                      <a:endParaRPr lang="en-CA" b="1" noProof="0"/>
                    </a:p>
                  </a:txBody>
                  <a:tcPr/>
                </a:tc>
                <a:tc>
                  <a:txBody>
                    <a:bodyPr/>
                    <a:lstStyle/>
                    <a:p>
                      <a:r>
                        <a:rPr lang="en-CA" noProof="0"/>
                        <a:t>136 000 $</a:t>
                      </a:r>
                    </a:p>
                  </a:txBody>
                  <a:tcPr/>
                </a:tc>
                <a:tc>
                  <a:txBody>
                    <a:bodyPr/>
                    <a:lstStyle/>
                    <a:p>
                      <a:r>
                        <a:rPr lang="en-CA" noProof="0" dirty="0"/>
                        <a:t>(31 000)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noProof="0" dirty="0"/>
                        <a:t>105 000 $</a:t>
                      </a:r>
                    </a:p>
                  </a:txBody>
                  <a:tcPr/>
                </a:tc>
                <a:extLst>
                  <a:ext uri="{0D108BD9-81ED-4DB2-BD59-A6C34878D82A}">
                    <a16:rowId xmlns:a16="http://schemas.microsoft.com/office/drawing/2014/main" val="3137109018"/>
                  </a:ext>
                </a:extLst>
              </a:tr>
            </a:tbl>
          </a:graphicData>
        </a:graphic>
      </p:graphicFrame>
      <p:sp>
        <p:nvSpPr>
          <p:cNvPr id="4" name="Espace réservé du contenu 2">
            <a:extLst>
              <a:ext uri="{FF2B5EF4-FFF2-40B4-BE49-F238E27FC236}">
                <a16:creationId xmlns:a16="http://schemas.microsoft.com/office/drawing/2014/main" id="{72CFA9E3-1925-192A-05FE-E16DFABE88EB}"/>
              </a:ext>
            </a:extLst>
          </p:cNvPr>
          <p:cNvSpPr txBox="1">
            <a:spLocks/>
          </p:cNvSpPr>
          <p:nvPr>
            <p:custDataLst>
              <p:tags r:id="rId4"/>
            </p:custDataLst>
          </p:nvPr>
        </p:nvSpPr>
        <p:spPr>
          <a:xfrm>
            <a:off x="1940284" y="5895134"/>
            <a:ext cx="9183796" cy="867193"/>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400" b="1" dirty="0">
                <a:solidFill>
                  <a:srgbClr val="000000"/>
                </a:solidFill>
                <a:effectLst/>
              </a:rPr>
              <a:t>Monsieur Deschamps se demande s’il devrait continuer d’offrir le service de déneigement l’hiver. </a:t>
            </a:r>
            <a:r>
              <a:rPr lang="fr-CA" sz="2400" b="1" dirty="0">
                <a:solidFill>
                  <a:srgbClr val="000000"/>
                </a:solidFill>
              </a:rPr>
              <a:t>Qu’en pensez-vous?</a:t>
            </a:r>
            <a:endParaRPr lang="fr-CA" sz="2400" b="1" dirty="0">
              <a:solidFill>
                <a:srgbClr val="000000"/>
              </a:solidFill>
              <a:effectLst/>
            </a:endParaRPr>
          </a:p>
        </p:txBody>
      </p:sp>
      <p:sp>
        <p:nvSpPr>
          <p:cNvPr id="5" name="Espace réservé du pied de page 3">
            <a:extLst>
              <a:ext uri="{FF2B5EF4-FFF2-40B4-BE49-F238E27FC236}">
                <a16:creationId xmlns:a16="http://schemas.microsoft.com/office/drawing/2014/main" id="{11DF1728-234C-1679-4C06-406F687AFBAC}"/>
              </a:ext>
            </a:extLst>
          </p:cNvPr>
          <p:cNvSpPr>
            <a:spLocks noGrp="1"/>
          </p:cNvSpPr>
          <p:nvPr>
            <p:ph type="ftr" sz="quarter" idx="11"/>
            <p:custDataLst>
              <p:tags r:id="rId5"/>
            </p:custDataLst>
          </p:nvPr>
        </p:nvSpPr>
        <p:spPr>
          <a:xfrm>
            <a:off x="8934838" y="6328730"/>
            <a:ext cx="2504492" cy="303343"/>
          </a:xfrm>
        </p:spPr>
        <p:txBody>
          <a:bodyPr/>
          <a:lstStyle/>
          <a:p>
            <a:pPr algn="ctr"/>
            <a:r>
              <a:rPr lang="pt-BR" dirty="0">
                <a:solidFill>
                  <a:prstClr val="black">
                    <a:tint val="75000"/>
                  </a:prstClr>
                </a:solidFill>
              </a:rPr>
              <a:t>(c) 10904 / S04 </a:t>
            </a:r>
            <a:endParaRPr lang="fr-CA" dirty="0">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68FF31DA-7881-2646-91AC-5653E7B49816}"/>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12</a:t>
            </a:fld>
            <a:endParaRPr lang="fr-CA">
              <a:solidFill>
                <a:prstClr val="black">
                  <a:tint val="75000"/>
                </a:prstClr>
              </a:solidFill>
            </a:endParaRPr>
          </a:p>
        </p:txBody>
      </p:sp>
    </p:spTree>
    <p:extLst>
      <p:ext uri="{BB962C8B-B14F-4D97-AF65-F5344CB8AC3E}">
        <p14:creationId xmlns:p14="http://schemas.microsoft.com/office/powerpoint/2010/main" val="806275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2269-3D30-EED5-C458-D94C113D0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F01B6-D47E-E3A5-2E5E-D9C5880CCE33}"/>
              </a:ext>
            </a:extLst>
          </p:cNvPr>
          <p:cNvSpPr>
            <a:spLocks noGrp="1"/>
          </p:cNvSpPr>
          <p:nvPr>
            <p:ph type="title"/>
            <p:custDataLst>
              <p:tags r:id="rId1"/>
            </p:custDataLst>
          </p:nvPr>
        </p:nvSpPr>
        <p:spPr/>
        <p:txBody>
          <a:bodyPr/>
          <a:lstStyle/>
          <a:p>
            <a:r>
              <a:rPr lang="en-US" err="1">
                <a:cs typeface="Calibri Light"/>
              </a:rPr>
              <a:t>Piste</a:t>
            </a:r>
            <a:r>
              <a:rPr lang="en-US">
                <a:cs typeface="Calibri Light"/>
              </a:rPr>
              <a:t> de solution (étudiant)</a:t>
            </a:r>
            <a:endParaRPr lang="en-US" dirty="0"/>
          </a:p>
        </p:txBody>
      </p:sp>
    </p:spTree>
    <p:extLst>
      <p:ext uri="{BB962C8B-B14F-4D97-AF65-F5344CB8AC3E}">
        <p14:creationId xmlns:p14="http://schemas.microsoft.com/office/powerpoint/2010/main" val="2258351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F631-5660-B6FC-70BE-2E46D1340521}"/>
              </a:ext>
            </a:extLst>
          </p:cNvPr>
          <p:cNvSpPr>
            <a:spLocks noGrp="1"/>
          </p:cNvSpPr>
          <p:nvPr>
            <p:ph type="title"/>
            <p:custDataLst>
              <p:tags r:id="rId1"/>
            </p:custDataLst>
          </p:nvPr>
        </p:nvSpPr>
        <p:spPr/>
        <p:txBody>
          <a:bodyPr/>
          <a:lstStyle/>
          <a:p>
            <a:r>
              <a:rPr lang="en-US" err="1">
                <a:cs typeface="Calibri Light"/>
              </a:rPr>
              <a:t>Piste</a:t>
            </a:r>
            <a:r>
              <a:rPr lang="en-US">
                <a:cs typeface="Calibri Light"/>
              </a:rPr>
              <a:t> de solution (étudiant)</a:t>
            </a:r>
            <a:endParaRPr lang="en-US" dirty="0"/>
          </a:p>
        </p:txBody>
      </p:sp>
      <p:graphicFrame>
        <p:nvGraphicFramePr>
          <p:cNvPr id="5" name="Tableau 6">
            <a:extLst>
              <a:ext uri="{FF2B5EF4-FFF2-40B4-BE49-F238E27FC236}">
                <a16:creationId xmlns:a16="http://schemas.microsoft.com/office/drawing/2014/main" id="{70A68E0E-229B-9541-5689-322D13CED70B}"/>
              </a:ext>
            </a:extLst>
          </p:cNvPr>
          <p:cNvGraphicFramePr>
            <a:graphicFrameLocks noGrp="1"/>
          </p:cNvGraphicFramePr>
          <p:nvPr>
            <p:custDataLst>
              <p:tags r:id="rId2"/>
            </p:custDataLst>
            <p:extLst>
              <p:ext uri="{D42A27DB-BD31-4B8C-83A1-F6EECF244321}">
                <p14:modId xmlns:p14="http://schemas.microsoft.com/office/powerpoint/2010/main" val="459050512"/>
              </p:ext>
            </p:extLst>
          </p:nvPr>
        </p:nvGraphicFramePr>
        <p:xfrm>
          <a:off x="528302" y="1571216"/>
          <a:ext cx="10274817" cy="4546780"/>
        </p:xfrm>
        <a:graphic>
          <a:graphicData uri="http://schemas.openxmlformats.org/drawingml/2006/table">
            <a:tbl>
              <a:tblPr firstRow="1" bandRow="1">
                <a:tableStyleId>{5940675A-B579-460E-94D1-54222C63F5DA}</a:tableStyleId>
              </a:tblPr>
              <a:tblGrid>
                <a:gridCol w="2422288">
                  <a:extLst>
                    <a:ext uri="{9D8B030D-6E8A-4147-A177-3AD203B41FA5}">
                      <a16:colId xmlns:a16="http://schemas.microsoft.com/office/drawing/2014/main" val="605514192"/>
                    </a:ext>
                  </a:extLst>
                </a:gridCol>
                <a:gridCol w="1489435">
                  <a:extLst>
                    <a:ext uri="{9D8B030D-6E8A-4147-A177-3AD203B41FA5}">
                      <a16:colId xmlns:a16="http://schemas.microsoft.com/office/drawing/2014/main" val="3301273123"/>
                    </a:ext>
                  </a:extLst>
                </a:gridCol>
                <a:gridCol w="6363094">
                  <a:extLst>
                    <a:ext uri="{9D8B030D-6E8A-4147-A177-3AD203B41FA5}">
                      <a16:colId xmlns:a16="http://schemas.microsoft.com/office/drawing/2014/main" val="915431833"/>
                    </a:ext>
                  </a:extLst>
                </a:gridCol>
              </a:tblGrid>
              <a:tr h="414002">
                <a:tc>
                  <a:txBody>
                    <a:bodyPr/>
                    <a:lstStyle/>
                    <a:p>
                      <a:endParaRPr lang="en-CA" noProof="0" dirty="0"/>
                    </a:p>
                  </a:txBody>
                  <a:tcPr/>
                </a:tc>
                <a:tc>
                  <a:txBody>
                    <a:bodyPr/>
                    <a:lstStyle/>
                    <a:p>
                      <a:r>
                        <a:rPr lang="en-CA" b="1" noProof="0" dirty="0"/>
                        <a:t>Hiver</a:t>
                      </a:r>
                    </a:p>
                  </a:txBody>
                  <a:tcPr/>
                </a:tc>
                <a:tc>
                  <a:txBody>
                    <a:bodyPr/>
                    <a:lstStyle/>
                    <a:p>
                      <a:pPr lvl="0">
                        <a:buNone/>
                      </a:pPr>
                      <a:r>
                        <a:rPr lang="en-CA" b="1" noProof="0" dirty="0"/>
                        <a:t>Analyse de </a:t>
                      </a:r>
                      <a:r>
                        <a:rPr lang="en-CA" b="1" noProof="0" dirty="0" err="1"/>
                        <a:t>rentabilité</a:t>
                      </a:r>
                      <a:r>
                        <a:rPr lang="en-CA" b="1" noProof="0" dirty="0"/>
                        <a:t> (</a:t>
                      </a:r>
                      <a:r>
                        <a:rPr lang="en-CA" b="1" noProof="0" dirty="0" err="1"/>
                        <a:t>marges</a:t>
                      </a:r>
                      <a:r>
                        <a:rPr lang="en-CA" b="1" noProof="0" dirty="0"/>
                        <a:t>) </a:t>
                      </a:r>
                      <a:r>
                        <a:rPr lang="en-CA" b="0" noProof="0" dirty="0" err="1"/>
                        <a:t>Activité</a:t>
                      </a:r>
                      <a:r>
                        <a:rPr lang="en-CA" b="0" noProof="0" dirty="0"/>
                        <a:t> hiver</a:t>
                      </a:r>
                    </a:p>
                  </a:txBody>
                  <a:tcPr/>
                </a:tc>
                <a:extLst>
                  <a:ext uri="{0D108BD9-81ED-4DB2-BD59-A6C34878D82A}">
                    <a16:rowId xmlns:a16="http://schemas.microsoft.com/office/drawing/2014/main" val="2506990494"/>
                  </a:ext>
                </a:extLst>
              </a:tr>
              <a:tr h="414002">
                <a:tc>
                  <a:txBody>
                    <a:bodyPr/>
                    <a:lstStyle/>
                    <a:p>
                      <a:r>
                        <a:rPr lang="en-CA" b="1" noProof="0" dirty="0"/>
                        <a:t>Ventes</a:t>
                      </a:r>
                    </a:p>
                  </a:txBody>
                  <a:tcPr/>
                </a:tc>
                <a:tc>
                  <a:txBody>
                    <a:bodyPr/>
                    <a:lstStyle/>
                    <a:p>
                      <a:r>
                        <a:rPr lang="en-CA" noProof="0" dirty="0"/>
                        <a:t>130 000 $</a:t>
                      </a:r>
                    </a:p>
                  </a:txBody>
                  <a:tcPr/>
                </a:tc>
                <a:tc rowSpan="4">
                  <a:txBody>
                    <a:bodyPr/>
                    <a:lstStyle/>
                    <a:p>
                      <a:pPr lvl="0">
                        <a:buNone/>
                      </a:pPr>
                      <a:endParaRPr lang="en-CA" noProof="0" dirty="0"/>
                    </a:p>
                  </a:txBody>
                  <a:tcPr/>
                </a:tc>
                <a:extLst>
                  <a:ext uri="{0D108BD9-81ED-4DB2-BD59-A6C34878D82A}">
                    <a16:rowId xmlns:a16="http://schemas.microsoft.com/office/drawing/2014/main" val="3390228602"/>
                  </a:ext>
                </a:extLst>
              </a:tr>
              <a:tr h="1345507">
                <a:tc>
                  <a:txBody>
                    <a:bodyPr/>
                    <a:lstStyle/>
                    <a:p>
                      <a:r>
                        <a:rPr lang="en-CA" b="1" noProof="0" dirty="0" err="1"/>
                        <a:t>Coûts</a:t>
                      </a:r>
                      <a:r>
                        <a:rPr lang="en-CA" b="1" noProof="0" dirty="0"/>
                        <a:t> variables</a:t>
                      </a:r>
                    </a:p>
                    <a:p>
                      <a:pPr marL="179705"/>
                      <a:r>
                        <a:rPr lang="en-CA" sz="1600" noProof="0" dirty="0"/>
                        <a:t>Pesticides, </a:t>
                      </a:r>
                      <a:r>
                        <a:rPr lang="en-CA" sz="1600" noProof="0" dirty="0" err="1"/>
                        <a:t>engrais</a:t>
                      </a:r>
                      <a:r>
                        <a:rPr lang="en-CA" sz="1600" noProof="0" dirty="0"/>
                        <a:t>, ...</a:t>
                      </a:r>
                    </a:p>
                    <a:p>
                      <a:pPr marL="179705"/>
                      <a:r>
                        <a:rPr lang="en-CA" sz="1600" noProof="0" dirty="0"/>
                        <a:t>MOD</a:t>
                      </a:r>
                    </a:p>
                    <a:p>
                      <a:pPr marL="179705"/>
                      <a:r>
                        <a:rPr lang="en-CA" sz="1600" noProof="0" dirty="0"/>
                        <a:t>Essence</a:t>
                      </a:r>
                    </a:p>
                  </a:txBody>
                  <a:tcPr/>
                </a:tc>
                <a:tc>
                  <a:txBody>
                    <a:bodyPr/>
                    <a:lstStyle/>
                    <a:p>
                      <a:endParaRPr lang="en-CA" noProof="0" dirty="0"/>
                    </a:p>
                    <a:p>
                      <a:endParaRPr lang="en-CA" noProof="0" dirty="0"/>
                    </a:p>
                    <a:p>
                      <a:r>
                        <a:rPr lang="en-CA" noProof="0" dirty="0"/>
                        <a:t>  75 000 $</a:t>
                      </a:r>
                    </a:p>
                    <a:p>
                      <a:r>
                        <a:rPr lang="en-CA" noProof="0" dirty="0"/>
                        <a:t>  30 000 $</a:t>
                      </a:r>
                    </a:p>
                  </a:txBody>
                  <a:tcPr/>
                </a:tc>
                <a:tc vMerge="1">
                  <a:txBody>
                    <a:bodyPr/>
                    <a:lstStyle/>
                    <a:p>
                      <a:endParaRPr lang="en-US"/>
                    </a:p>
                  </a:txBody>
                  <a:tcPr/>
                </a:tc>
                <a:extLst>
                  <a:ext uri="{0D108BD9-81ED-4DB2-BD59-A6C34878D82A}">
                    <a16:rowId xmlns:a16="http://schemas.microsoft.com/office/drawing/2014/main" val="2268729115"/>
                  </a:ext>
                </a:extLst>
              </a:tr>
              <a:tr h="1828510">
                <a:tc>
                  <a:txBody>
                    <a:bodyPr/>
                    <a:lstStyle/>
                    <a:p>
                      <a:r>
                        <a:rPr lang="en-CA" b="1" noProof="0" dirty="0" err="1"/>
                        <a:t>Coûts</a:t>
                      </a:r>
                      <a:r>
                        <a:rPr lang="en-CA" b="1" noProof="0" dirty="0"/>
                        <a:t> fixes</a:t>
                      </a:r>
                    </a:p>
                    <a:p>
                      <a:pPr marL="179705" lvl="1">
                        <a:buNone/>
                      </a:pPr>
                      <a:r>
                        <a:rPr lang="en-CA" sz="1600" b="0" i="0" u="none" strike="noStrike" noProof="0" dirty="0">
                          <a:solidFill>
                            <a:srgbClr val="000000"/>
                          </a:solidFill>
                          <a:latin typeface="Calibri"/>
                        </a:rPr>
                        <a:t>Équipement - </a:t>
                      </a:r>
                      <a:r>
                        <a:rPr lang="en-CA" sz="1600" b="0" i="0" u="none" strike="noStrike" noProof="0" dirty="0" err="1">
                          <a:solidFill>
                            <a:srgbClr val="000000"/>
                          </a:solidFill>
                          <a:latin typeface="Calibri"/>
                        </a:rPr>
                        <a:t>été</a:t>
                      </a:r>
                      <a:endParaRPr lang="en-CA" sz="1600" b="0" i="0" u="none" strike="noStrike" noProof="0" dirty="0">
                        <a:solidFill>
                          <a:srgbClr val="000000"/>
                        </a:solidFill>
                        <a:latin typeface="Calibri"/>
                      </a:endParaRPr>
                    </a:p>
                    <a:p>
                      <a:pPr marL="179705" lvl="1">
                        <a:buNone/>
                      </a:pPr>
                      <a:r>
                        <a:rPr lang="en-CA" sz="1600" b="0" i="0" u="none" strike="noStrike" noProof="0" dirty="0">
                          <a:solidFill>
                            <a:srgbClr val="000000"/>
                          </a:solidFill>
                          <a:latin typeface="Calibri"/>
                        </a:rPr>
                        <a:t>Équipement - hiver</a:t>
                      </a:r>
                      <a:endParaRPr lang="en-US" sz="1600" b="0" i="0" u="none" strike="noStrike" noProof="0" dirty="0">
                        <a:solidFill>
                          <a:srgbClr val="000000"/>
                        </a:solidFill>
                        <a:latin typeface="Calibri"/>
                      </a:endParaRPr>
                    </a:p>
                    <a:p>
                      <a:pPr marL="179705" lvl="1">
                        <a:buNone/>
                      </a:pPr>
                      <a:r>
                        <a:rPr lang="en-CA" sz="1600" noProof="0" dirty="0" err="1"/>
                        <a:t>Bâtiment</a:t>
                      </a:r>
                      <a:endParaRPr lang="en-CA" sz="1600" noProof="0" dirty="0"/>
                    </a:p>
                    <a:p>
                      <a:pPr marL="179705" lvl="1"/>
                      <a:r>
                        <a:rPr lang="en-CA" sz="1600" noProof="0" dirty="0" err="1"/>
                        <a:t>Tracteurs</a:t>
                      </a:r>
                      <a:endParaRPr lang="en-CA" sz="1600" noProof="0" dirty="0"/>
                    </a:p>
                    <a:p>
                      <a:pPr marL="179705" lvl="1"/>
                      <a:endParaRPr lang="en-CA" noProof="0" dirty="0"/>
                    </a:p>
                  </a:txBody>
                  <a:tcPr/>
                </a:tc>
                <a:tc>
                  <a:txBody>
                    <a:bodyPr/>
                    <a:lstStyle/>
                    <a:p>
                      <a:endParaRPr lang="en-CA" noProof="0" dirty="0"/>
                    </a:p>
                    <a:p>
                      <a:r>
                        <a:rPr lang="en-CA" noProof="0" dirty="0"/>
                        <a:t>         -</a:t>
                      </a:r>
                    </a:p>
                    <a:p>
                      <a:r>
                        <a:rPr lang="en-CA" noProof="0" dirty="0"/>
                        <a:t>12 000 $</a:t>
                      </a:r>
                    </a:p>
                    <a:p>
                      <a:pPr lvl="0">
                        <a:buNone/>
                      </a:pPr>
                      <a:r>
                        <a:rPr lang="en-CA" sz="1800" b="0" i="0" u="none" strike="noStrike" noProof="0" dirty="0">
                          <a:solidFill>
                            <a:srgbClr val="000000"/>
                          </a:solidFill>
                          <a:latin typeface="Calibri"/>
                        </a:rPr>
                        <a:t>20 000 $</a:t>
                      </a:r>
                      <a:endParaRPr lang="en-US" sz="1800" b="0" i="0" u="none" strike="noStrike" noProof="0" dirty="0">
                        <a:solidFill>
                          <a:srgbClr val="000000"/>
                        </a:solidFill>
                        <a:latin typeface="Calibri"/>
                      </a:endParaRPr>
                    </a:p>
                    <a:p>
                      <a:pPr lvl="0">
                        <a:buNone/>
                      </a:pPr>
                      <a:r>
                        <a:rPr lang="en-CA" sz="1800" b="0" i="0" u="none" strike="noStrike" noProof="0" dirty="0">
                          <a:solidFill>
                            <a:srgbClr val="000000"/>
                          </a:solidFill>
                          <a:latin typeface="Calibri"/>
                        </a:rPr>
                        <a:t>24 000 $</a:t>
                      </a:r>
                      <a:endParaRPr lang="en-CA" dirty="0"/>
                    </a:p>
                  </a:txBody>
                  <a:tcPr/>
                </a:tc>
                <a:tc vMerge="1">
                  <a:txBody>
                    <a:bodyPr/>
                    <a:lstStyle/>
                    <a:p>
                      <a:endParaRPr lang="en-US"/>
                    </a:p>
                  </a:txBody>
                  <a:tcPr/>
                </a:tc>
                <a:extLst>
                  <a:ext uri="{0D108BD9-81ED-4DB2-BD59-A6C34878D82A}">
                    <a16:rowId xmlns:a16="http://schemas.microsoft.com/office/drawing/2014/main" val="2512256763"/>
                  </a:ext>
                </a:extLst>
              </a:tr>
              <a:tr h="544759">
                <a:tc>
                  <a:txBody>
                    <a:bodyPr/>
                    <a:lstStyle/>
                    <a:p>
                      <a:pPr marL="0" lvl="0" indent="-277495"/>
                      <a:r>
                        <a:rPr lang="en-CA" b="1" noProof="0" err="1"/>
                        <a:t>Résultat</a:t>
                      </a:r>
                      <a:r>
                        <a:rPr lang="en-CA" b="1" noProof="0" dirty="0"/>
                        <a:t> </a:t>
                      </a:r>
                      <a:r>
                        <a:rPr lang="en-CA" b="1" noProof="0" err="1"/>
                        <a:t>d’exploitation</a:t>
                      </a:r>
                      <a:endParaRPr lang="en-CA" b="1" noProof="0"/>
                    </a:p>
                  </a:txBody>
                  <a:tcPr/>
                </a:tc>
                <a:tc>
                  <a:txBody>
                    <a:bodyPr/>
                    <a:lstStyle/>
                    <a:p>
                      <a:r>
                        <a:rPr lang="en-CA" noProof="0" dirty="0"/>
                        <a:t>(31 000) $</a:t>
                      </a:r>
                    </a:p>
                  </a:txBody>
                  <a:tcPr/>
                </a:tc>
                <a:tc vMerge="1">
                  <a:txBody>
                    <a:bodyPr/>
                    <a:lstStyle/>
                    <a:p>
                      <a:pPr lvl="0">
                        <a:buNone/>
                      </a:pPr>
                      <a:endParaRPr lang="en-CA" b="1" noProof="0" dirty="0"/>
                    </a:p>
                  </a:txBody>
                  <a:tcPr/>
                </a:tc>
                <a:extLst>
                  <a:ext uri="{0D108BD9-81ED-4DB2-BD59-A6C34878D82A}">
                    <a16:rowId xmlns:a16="http://schemas.microsoft.com/office/drawing/2014/main" val="3137109018"/>
                  </a:ext>
                </a:extLst>
              </a:tr>
            </a:tbl>
          </a:graphicData>
        </a:graphic>
      </p:graphicFrame>
    </p:spTree>
    <p:extLst>
      <p:ext uri="{BB962C8B-B14F-4D97-AF65-F5344CB8AC3E}">
        <p14:creationId xmlns:p14="http://schemas.microsoft.com/office/powerpoint/2010/main" val="605476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6" name="Titre 5"/>
          <p:cNvSpPr>
            <a:spLocks noGrp="1"/>
          </p:cNvSpPr>
          <p:nvPr>
            <p:ph type="title"/>
            <p:custDataLst>
              <p:tags r:id="rId2"/>
            </p:custDataLst>
          </p:nvPr>
        </p:nvSpPr>
        <p:spPr/>
        <p:txBody>
          <a:bodyPr>
            <a:normAutofit/>
          </a:bodyPr>
          <a:lstStyle/>
          <a:p>
            <a:r>
              <a:rPr lang="fr-CA" sz="3800"/>
              <a:t>La marge sur coûts spécifiques d’un objet de coût</a:t>
            </a:r>
          </a:p>
        </p:txBody>
      </p:sp>
      <p:sp>
        <p:nvSpPr>
          <p:cNvPr id="4" name="Espace réservé du contenu 3"/>
          <p:cNvSpPr>
            <a:spLocks noGrp="1"/>
          </p:cNvSpPr>
          <p:nvPr>
            <p:ph idx="1"/>
            <p:custDataLst>
              <p:tags r:id="rId3"/>
            </p:custDataLst>
          </p:nvPr>
        </p:nvSpPr>
        <p:spPr>
          <a:xfrm>
            <a:off x="838200" y="1467850"/>
            <a:ext cx="10515600" cy="4885293"/>
          </a:xfrm>
        </p:spPr>
        <p:txBody>
          <a:bodyPr>
            <a:normAutofit/>
          </a:bodyPr>
          <a:lstStyle/>
          <a:p>
            <a:endParaRPr lang="fr-CA" b="1">
              <a:solidFill>
                <a:srgbClr val="C00000"/>
              </a:solidFill>
            </a:endParaRPr>
          </a:p>
          <a:p>
            <a:endParaRPr lang="fr-CA" b="1">
              <a:solidFill>
                <a:srgbClr val="C00000"/>
              </a:solidFill>
            </a:endParaRPr>
          </a:p>
          <a:p>
            <a:pPr marL="0" indent="0">
              <a:buNone/>
            </a:pPr>
            <a:endParaRPr lang="fr-CA"/>
          </a:p>
          <a:p>
            <a:pPr marL="0" indent="0">
              <a:buNone/>
            </a:pPr>
            <a:endParaRPr lang="fr-CA"/>
          </a:p>
          <a:p>
            <a:pPr marL="0" indent="0">
              <a:buNone/>
            </a:pPr>
            <a:r>
              <a:rPr lang="fr-CA"/>
              <a:t>Sont considérés comme des coûts fixes spécifiques, seulement les coûts fixes pouvant être reliés à un objet de coût précis</a:t>
            </a:r>
          </a:p>
          <a:p>
            <a:pPr lvl="1"/>
            <a:r>
              <a:rPr lang="fr-CA"/>
              <a:t>Il ne doit pas y avoir de répartition arbitraire, car dans un tel cas, on parlera plutôt de coûts fixes communs.</a:t>
            </a:r>
          </a:p>
          <a:p>
            <a:pPr lvl="1"/>
            <a:r>
              <a:rPr lang="fr-CA"/>
              <a:t>Théoriquement, si l’objet de coût disparaît, les coûts fixes spécifiques disparaissent.</a:t>
            </a:r>
          </a:p>
          <a:p>
            <a:pPr marL="457200" lvl="1" indent="0">
              <a:buNone/>
            </a:pPr>
            <a:endParaRPr lang="fr-CA"/>
          </a:p>
        </p:txBody>
      </p:sp>
      <p:sp>
        <p:nvSpPr>
          <p:cNvPr id="7" name="Rectangle 6"/>
          <p:cNvSpPr/>
          <p:nvPr>
            <p:custDataLst>
              <p:tags r:id="rId4"/>
            </p:custDataLst>
          </p:nvPr>
        </p:nvSpPr>
        <p:spPr>
          <a:xfrm>
            <a:off x="838200" y="1467850"/>
            <a:ext cx="10050382" cy="1034717"/>
          </a:xfrm>
          <a:prstGeom prst="rect">
            <a:avLst/>
          </a:prstGeom>
          <a:solidFill>
            <a:schemeClr val="bg1">
              <a:lumMod val="95000"/>
            </a:schemeClr>
          </a:solidFill>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3200" b="1">
                <a:solidFill>
                  <a:schemeClr val="tx1"/>
                </a:solidFill>
              </a:rPr>
              <a:t>Marge sur coûts spécifiques = </a:t>
            </a:r>
          </a:p>
          <a:p>
            <a:pPr algn="ctr"/>
            <a:r>
              <a:rPr lang="fr-CA" sz="3200" b="1">
                <a:solidFill>
                  <a:schemeClr val="tx1"/>
                </a:solidFill>
              </a:rPr>
              <a:t>MCV totale – Coûts fixes spécifiques</a:t>
            </a:r>
          </a:p>
        </p:txBody>
      </p:sp>
      <p:sp>
        <p:nvSpPr>
          <p:cNvPr id="12" name="ZoneTexte 11">
            <a:extLst>
              <a:ext uri="{FF2B5EF4-FFF2-40B4-BE49-F238E27FC236}">
                <a16:creationId xmlns:a16="http://schemas.microsoft.com/office/drawing/2014/main" id="{84A390C1-BCDD-65F0-330A-B6B56211BF07}"/>
              </a:ext>
            </a:extLst>
          </p:cNvPr>
          <p:cNvSpPr txBox="1"/>
          <p:nvPr>
            <p:custDataLst>
              <p:tags r:id="rId5"/>
            </p:custDataLst>
          </p:nvPr>
        </p:nvSpPr>
        <p:spPr>
          <a:xfrm>
            <a:off x="838200" y="2767258"/>
            <a:ext cx="10050381"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fr-CA" b="0" i="1" u="none" strike="noStrike">
                <a:solidFill>
                  <a:srgbClr val="000000"/>
                </a:solidFill>
                <a:effectLst/>
                <a:latin typeface="Calibri" panose="020F0502020204030204" pitchFamily="34" charset="0"/>
              </a:rPr>
              <a:t>Déterminer la contribution d’un objet de coûts (produit, activité, service, projet…) à la couverture des coûts fixes </a:t>
            </a:r>
            <a:r>
              <a:rPr lang="fr-CA" b="0" i="1" u="none" strike="noStrike">
                <a:solidFill>
                  <a:srgbClr val="C00000"/>
                </a:solidFill>
                <a:effectLst/>
                <a:latin typeface="Calibri" panose="020F0502020204030204" pitchFamily="34" charset="0"/>
              </a:rPr>
              <a:t>communs</a:t>
            </a:r>
            <a:r>
              <a:rPr lang="fr-CA" b="0" i="1" u="none" strike="noStrike">
                <a:solidFill>
                  <a:srgbClr val="000000"/>
                </a:solidFill>
                <a:effectLst/>
                <a:latin typeface="Calibri" panose="020F0502020204030204" pitchFamily="34" charset="0"/>
              </a:rPr>
              <a:t> et au résultat</a:t>
            </a:r>
            <a:r>
              <a:rPr lang="fr-CA" b="0" i="0">
                <a:solidFill>
                  <a:srgbClr val="000000"/>
                </a:solidFill>
                <a:effectLst/>
                <a:latin typeface="Calibri" panose="020F0502020204030204" pitchFamily="34" charset="0"/>
              </a:rPr>
              <a:t>​</a:t>
            </a:r>
            <a:endParaRPr lang="fr-CA"/>
          </a:p>
        </p:txBody>
      </p:sp>
      <p:sp>
        <p:nvSpPr>
          <p:cNvPr id="5" name="ZoneTexte 4">
            <a:extLst>
              <a:ext uri="{FF2B5EF4-FFF2-40B4-BE49-F238E27FC236}">
                <a16:creationId xmlns:a16="http://schemas.microsoft.com/office/drawing/2014/main" id="{9BFF0155-9772-9256-AFDA-2ED6BC462FDC}"/>
              </a:ext>
            </a:extLst>
          </p:cNvPr>
          <p:cNvSpPr txBox="1"/>
          <p:nvPr>
            <p:custDataLst>
              <p:tags r:id="rId6"/>
            </p:custDataLst>
          </p:nvPr>
        </p:nvSpPr>
        <p:spPr>
          <a:xfrm>
            <a:off x="2442990" y="5983811"/>
            <a:ext cx="7802696" cy="369332"/>
          </a:xfrm>
          <a:prstGeom prst="rect">
            <a:avLst/>
          </a:prstGeom>
          <a:noFill/>
        </p:spPr>
        <p:txBody>
          <a:bodyPr wrap="square">
            <a:spAutoFit/>
          </a:bodyPr>
          <a:lstStyle/>
          <a:p>
            <a:pPr marL="0" indent="0">
              <a:buNone/>
            </a:pPr>
            <a:r>
              <a:rPr lang="fr-CA" sz="1800"/>
              <a:t>* </a:t>
            </a:r>
            <a:r>
              <a:rPr lang="fr-CA" sz="1800" i="1"/>
              <a:t>La marge sur coûts spécifiques </a:t>
            </a:r>
            <a:r>
              <a:rPr lang="fr-CA" sz="1800"/>
              <a:t>est nommée « </a:t>
            </a:r>
            <a:r>
              <a:rPr lang="fr-CA" sz="1800" b="1"/>
              <a:t>marge nette </a:t>
            </a:r>
            <a:r>
              <a:rPr lang="fr-CA" sz="1800"/>
              <a:t>» dans le manuel. </a:t>
            </a:r>
          </a:p>
        </p:txBody>
      </p:sp>
      <p:sp>
        <p:nvSpPr>
          <p:cNvPr id="2" name="Espace réservé du pied de page 3">
            <a:extLst>
              <a:ext uri="{FF2B5EF4-FFF2-40B4-BE49-F238E27FC236}">
                <a16:creationId xmlns:a16="http://schemas.microsoft.com/office/drawing/2014/main" id="{C95A94D9-5029-9364-D6F1-78A833E204BA}"/>
              </a:ext>
            </a:extLst>
          </p:cNvPr>
          <p:cNvSpPr>
            <a:spLocks noGrp="1"/>
          </p:cNvSpPr>
          <p:nvPr>
            <p:ph type="ftr" sz="quarter" idx="11"/>
            <p:custDataLst>
              <p:tags r:id="rId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9E4C0F5D-4160-7A07-6342-10525EBAF153}"/>
              </a:ext>
            </a:extLst>
          </p:cNvPr>
          <p:cNvSpPr>
            <a:spLocks noGrp="1"/>
          </p:cNvSpPr>
          <p:nvPr>
            <p:ph type="sldNum" sz="quarter" idx="12"/>
            <p:custDataLst>
              <p:tags r:id="rId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622259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custDataLst>
              <p:tags r:id="rId2"/>
            </p:custDataLst>
          </p:nvPr>
        </p:nvSpPr>
        <p:spPr/>
        <p:txBody>
          <a:bodyPr vert="horz" anchor="ctr">
            <a:noAutofit/>
          </a:bodyPr>
          <a:lstStyle/>
          <a:p>
            <a:r>
              <a:rPr lang="fr-FR" sz="4000"/>
              <a:t>Calcul </a:t>
            </a:r>
            <a:r>
              <a:rPr lang="fr-CA" sz="4000"/>
              <a:t>de la marge sur coûts spécifiques</a:t>
            </a:r>
            <a:endParaRPr lang="fr-CA" sz="4000">
              <a:cs typeface="Calibri Light"/>
            </a:endParaRPr>
          </a:p>
        </p:txBody>
      </p:sp>
      <p:graphicFrame>
        <p:nvGraphicFramePr>
          <p:cNvPr id="4" name="Espace réservé du contenu 3"/>
          <p:cNvGraphicFramePr>
            <a:graphicFrameLocks noGrp="1"/>
          </p:cNvGraphicFramePr>
          <p:nvPr>
            <p:ph idx="1"/>
            <p:custDataLst>
              <p:tags r:id="rId3"/>
            </p:custDataLst>
            <p:extLst>
              <p:ext uri="{D42A27DB-BD31-4B8C-83A1-F6EECF244321}">
                <p14:modId xmlns:p14="http://schemas.microsoft.com/office/powerpoint/2010/main" val="2902370072"/>
              </p:ext>
            </p:extLst>
          </p:nvPr>
        </p:nvGraphicFramePr>
        <p:xfrm>
          <a:off x="576943" y="1462200"/>
          <a:ext cx="8923317" cy="4663440"/>
        </p:xfrm>
        <a:graphic>
          <a:graphicData uri="http://schemas.openxmlformats.org/drawingml/2006/table">
            <a:tbl>
              <a:tblPr bandRow="1">
                <a:tableStyleId>{69012ECD-51FC-41F1-AA8D-1B2483CD663E}</a:tableStyleId>
              </a:tblPr>
              <a:tblGrid>
                <a:gridCol w="6298870">
                  <a:extLst>
                    <a:ext uri="{9D8B030D-6E8A-4147-A177-3AD203B41FA5}">
                      <a16:colId xmlns:a16="http://schemas.microsoft.com/office/drawing/2014/main" val="20000"/>
                    </a:ext>
                  </a:extLst>
                </a:gridCol>
                <a:gridCol w="1611632">
                  <a:extLst>
                    <a:ext uri="{9D8B030D-6E8A-4147-A177-3AD203B41FA5}">
                      <a16:colId xmlns:a16="http://schemas.microsoft.com/office/drawing/2014/main" val="20001"/>
                    </a:ext>
                  </a:extLst>
                </a:gridCol>
                <a:gridCol w="1012815">
                  <a:extLst>
                    <a:ext uri="{9D8B030D-6E8A-4147-A177-3AD203B41FA5}">
                      <a16:colId xmlns:a16="http://schemas.microsoft.com/office/drawing/2014/main" val="20002"/>
                    </a:ext>
                  </a:extLst>
                </a:gridCol>
              </a:tblGrid>
              <a:tr h="504000">
                <a:tc>
                  <a:txBody>
                    <a:bodyPr/>
                    <a:lstStyle/>
                    <a:p>
                      <a:r>
                        <a:rPr lang="fr-CA" sz="2800" b="1"/>
                        <a:t>Ventes</a:t>
                      </a:r>
                    </a:p>
                  </a:txBody>
                  <a:tcPr marL="203050" marR="203050" anchor="ctr"/>
                </a:tc>
                <a:tc>
                  <a:txBody>
                    <a:bodyPr/>
                    <a:lstStyle/>
                    <a:p>
                      <a:pPr algn="ctr"/>
                      <a:endParaRPr lang="fr-CA" sz="2800"/>
                    </a:p>
                  </a:txBody>
                  <a:tcPr marL="203050" marR="203050" anchor="ctr"/>
                </a:tc>
                <a:tc>
                  <a:txBody>
                    <a:bodyPr/>
                    <a:lstStyle/>
                    <a:p>
                      <a:pPr algn="ctr"/>
                      <a:r>
                        <a:rPr lang="fr-CA" sz="2800"/>
                        <a:t>XX</a:t>
                      </a:r>
                    </a:p>
                  </a:txBody>
                  <a:tcPr marL="203050" marR="203050" anchor="ctr"/>
                </a:tc>
                <a:extLst>
                  <a:ext uri="{0D108BD9-81ED-4DB2-BD59-A6C34878D82A}">
                    <a16:rowId xmlns:a16="http://schemas.microsoft.com/office/drawing/2014/main" val="10000"/>
                  </a:ext>
                </a:extLst>
              </a:tr>
              <a:tr h="504000">
                <a:tc>
                  <a:txBody>
                    <a:bodyPr/>
                    <a:lstStyle/>
                    <a:p>
                      <a:r>
                        <a:rPr lang="fr-CA" sz="2800" u="sng"/>
                        <a:t>Moins</a:t>
                      </a:r>
                      <a:r>
                        <a:rPr lang="fr-CA" sz="2800" baseline="0"/>
                        <a:t> : </a:t>
                      </a:r>
                      <a:r>
                        <a:rPr lang="fr-CA" sz="2800" i="0" baseline="0"/>
                        <a:t>Coûts variables totaux</a:t>
                      </a:r>
                      <a:endParaRPr lang="fr-CA" sz="2800" b="1" i="0"/>
                    </a:p>
                  </a:txBody>
                  <a:tcPr marL="203050" marR="203050" anchor="ctr"/>
                </a:tc>
                <a:tc>
                  <a:txBody>
                    <a:bodyPr/>
                    <a:lstStyle/>
                    <a:p>
                      <a:pPr algn="ctr"/>
                      <a:endParaRPr lang="fr-CA" sz="2800"/>
                    </a:p>
                  </a:txBody>
                  <a:tcPr marL="203050" marR="203050" anchor="ctr"/>
                </a:tc>
                <a:tc>
                  <a:txBody>
                    <a:bodyPr/>
                    <a:lstStyle/>
                    <a:p>
                      <a:pPr algn="ctr"/>
                      <a:r>
                        <a:rPr lang="fr-CA" sz="2800"/>
                        <a:t>(XX)</a:t>
                      </a:r>
                    </a:p>
                  </a:txBody>
                  <a:tcPr marL="203050" marR="203050" anchor="ctr"/>
                </a:tc>
                <a:extLst>
                  <a:ext uri="{0D108BD9-81ED-4DB2-BD59-A6C34878D82A}">
                    <a16:rowId xmlns:a16="http://schemas.microsoft.com/office/drawing/2014/main" val="10001"/>
                  </a:ext>
                </a:extLst>
              </a:tr>
              <a:tr h="504000">
                <a:tc>
                  <a:txBody>
                    <a:bodyPr/>
                    <a:lstStyle/>
                    <a:p>
                      <a:pPr marL="0" indent="0">
                        <a:buFont typeface="Arial" panose="020B0604020202020204" pitchFamily="34" charset="0"/>
                        <a:buNone/>
                      </a:pPr>
                      <a:r>
                        <a:rPr lang="fr-CA" sz="2800"/>
                        <a:t>      Matières premières</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2"/>
                  </a:ext>
                </a:extLst>
              </a:tr>
              <a:tr h="504000">
                <a:tc>
                  <a:txBody>
                    <a:bodyPr/>
                    <a:lstStyle/>
                    <a:p>
                      <a:pPr marL="0" indent="0">
                        <a:buFont typeface="Arial" panose="020B0604020202020204" pitchFamily="34" charset="0"/>
                        <a:buNone/>
                      </a:pPr>
                      <a:r>
                        <a:rPr lang="fr-CA" sz="2800"/>
                        <a:t>      Main-d’œuvre directe</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3"/>
                  </a:ext>
                </a:extLst>
              </a:tr>
              <a:tr h="504000">
                <a:tc>
                  <a:txBody>
                    <a:bodyPr/>
                    <a:lstStyle/>
                    <a:p>
                      <a:pPr marL="0" indent="0">
                        <a:buFont typeface="Arial" panose="020B0604020202020204" pitchFamily="34" charset="0"/>
                        <a:buNone/>
                      </a:pPr>
                      <a:r>
                        <a:rPr lang="fr-CA" sz="2800"/>
                        <a:t>      FGF variables</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4"/>
                  </a:ext>
                </a:extLst>
              </a:tr>
              <a:tr h="504000">
                <a:tc>
                  <a:txBody>
                    <a:bodyPr/>
                    <a:lstStyle/>
                    <a:p>
                      <a:pPr marL="0" indent="0">
                        <a:buFont typeface="Arial" panose="020B0604020202020204" pitchFamily="34" charset="0"/>
                        <a:buNone/>
                      </a:pPr>
                      <a:r>
                        <a:rPr lang="fr-CA" sz="2800"/>
                        <a:t>      Frais de vente variables</a:t>
                      </a:r>
                    </a:p>
                  </a:txBody>
                  <a:tcPr marL="203050" marR="203050" anchor="ctr"/>
                </a:tc>
                <a:tc>
                  <a:txBody>
                    <a:bodyPr/>
                    <a:lstStyle/>
                    <a:p>
                      <a:pPr algn="ctr"/>
                      <a:r>
                        <a:rPr lang="fr-CA" sz="2800" u="sng"/>
                        <a:t>XX</a:t>
                      </a:r>
                    </a:p>
                  </a:txBody>
                  <a:tcPr marL="203050" marR="203050" anchor="ctr"/>
                </a:tc>
                <a:tc>
                  <a:txBody>
                    <a:bodyPr/>
                    <a:lstStyle/>
                    <a:p>
                      <a:pPr algn="ctr"/>
                      <a:r>
                        <a:rPr lang="fr-CA" sz="2800" u="sng"/>
                        <a:t>(XX)</a:t>
                      </a:r>
                    </a:p>
                  </a:txBody>
                  <a:tcPr marL="203050" marR="203050" anchor="ctr"/>
                </a:tc>
                <a:extLst>
                  <a:ext uri="{0D108BD9-81ED-4DB2-BD59-A6C34878D82A}">
                    <a16:rowId xmlns:a16="http://schemas.microsoft.com/office/drawing/2014/main" val="10005"/>
                  </a:ext>
                </a:extLst>
              </a:tr>
              <a:tr h="504000">
                <a:tc>
                  <a:txBody>
                    <a:bodyPr/>
                    <a:lstStyle/>
                    <a:p>
                      <a:r>
                        <a:rPr lang="fr-CA" sz="2800" b="1"/>
                        <a:t>Marge sur coûts variables totale</a:t>
                      </a:r>
                    </a:p>
                  </a:txBody>
                  <a:tcPr marL="203050" marR="203050" anchor="ctr"/>
                </a:tc>
                <a:tc>
                  <a:txBody>
                    <a:bodyPr/>
                    <a:lstStyle/>
                    <a:p>
                      <a:pPr algn="ctr"/>
                      <a:endParaRPr lang="fr-CA" sz="2800" b="1"/>
                    </a:p>
                  </a:txBody>
                  <a:tcPr marL="203050" marR="203050" anchor="ctr"/>
                </a:tc>
                <a:tc>
                  <a:txBody>
                    <a:bodyPr/>
                    <a:lstStyle/>
                    <a:p>
                      <a:pPr algn="ctr"/>
                      <a:r>
                        <a:rPr lang="fr-CA" sz="2800" b="1" u="none"/>
                        <a:t>XX</a:t>
                      </a:r>
                    </a:p>
                  </a:txBody>
                  <a:tcPr marL="203050" marR="203050" anchor="ctr"/>
                </a:tc>
                <a:extLst>
                  <a:ext uri="{0D108BD9-81ED-4DB2-BD59-A6C34878D82A}">
                    <a16:rowId xmlns:a16="http://schemas.microsoft.com/office/drawing/2014/main" val="10006"/>
                  </a:ext>
                </a:extLst>
              </a:tr>
              <a:tr h="504000">
                <a:tc>
                  <a:txBody>
                    <a:bodyPr/>
                    <a:lstStyle/>
                    <a:p>
                      <a:r>
                        <a:rPr lang="fr-CA" sz="2800" b="0" u="sng"/>
                        <a:t>Moins</a:t>
                      </a:r>
                      <a:r>
                        <a:rPr lang="fr-CA" sz="2800" b="0"/>
                        <a:t>: Coûts fixes spécifiques</a:t>
                      </a:r>
                    </a:p>
                  </a:txBody>
                  <a:tcPr marL="203050" marR="203050" anchor="ctr"/>
                </a:tc>
                <a:tc>
                  <a:txBody>
                    <a:bodyPr/>
                    <a:lstStyle/>
                    <a:p>
                      <a:pPr algn="ctr"/>
                      <a:endParaRPr lang="fr-CA" sz="2800" b="1"/>
                    </a:p>
                  </a:txBody>
                  <a:tcPr marL="203050" marR="203050" anchor="ctr"/>
                </a:tc>
                <a:tc>
                  <a:txBody>
                    <a:bodyPr/>
                    <a:lstStyle/>
                    <a:p>
                      <a:pPr algn="ctr"/>
                      <a:r>
                        <a:rPr lang="fr-CA" sz="2800" b="0" u="sng"/>
                        <a:t>(XX)</a:t>
                      </a:r>
                    </a:p>
                  </a:txBody>
                  <a:tcPr marL="203050" marR="203050" anchor="ctr"/>
                </a:tc>
                <a:extLst>
                  <a:ext uri="{0D108BD9-81ED-4DB2-BD59-A6C34878D82A}">
                    <a16:rowId xmlns:a16="http://schemas.microsoft.com/office/drawing/2014/main" val="195445530"/>
                  </a:ext>
                </a:extLst>
              </a:tr>
              <a:tr h="504000">
                <a:tc>
                  <a:txBody>
                    <a:bodyPr/>
                    <a:lstStyle/>
                    <a:p>
                      <a:r>
                        <a:rPr lang="fr-CA" sz="2800" b="1"/>
                        <a:t>Marge sur coûts spécifiques</a:t>
                      </a:r>
                    </a:p>
                  </a:txBody>
                  <a:tcPr marL="203050" marR="203050" anchor="ctr"/>
                </a:tc>
                <a:tc>
                  <a:txBody>
                    <a:bodyPr/>
                    <a:lstStyle/>
                    <a:p>
                      <a:pPr algn="ctr"/>
                      <a:endParaRPr lang="fr-CA" sz="2800" b="1"/>
                    </a:p>
                  </a:txBody>
                  <a:tcPr marL="203050" marR="203050" anchor="ctr"/>
                </a:tc>
                <a:tc>
                  <a:txBody>
                    <a:bodyPr/>
                    <a:lstStyle/>
                    <a:p>
                      <a:pPr algn="ctr"/>
                      <a:r>
                        <a:rPr lang="fr-CA" sz="2800" b="1" u="sng"/>
                        <a:t>XX</a:t>
                      </a:r>
                    </a:p>
                  </a:txBody>
                  <a:tcPr marL="203050" marR="203050" anchor="ctr"/>
                </a:tc>
                <a:extLst>
                  <a:ext uri="{0D108BD9-81ED-4DB2-BD59-A6C34878D82A}">
                    <a16:rowId xmlns:a16="http://schemas.microsoft.com/office/drawing/2014/main" val="1707305034"/>
                  </a:ext>
                </a:extLst>
              </a:tr>
            </a:tbl>
          </a:graphicData>
        </a:graphic>
      </p:graphicFrame>
      <p:sp>
        <p:nvSpPr>
          <p:cNvPr id="2" name="Espace réservé du pied de page 3">
            <a:extLst>
              <a:ext uri="{FF2B5EF4-FFF2-40B4-BE49-F238E27FC236}">
                <a16:creationId xmlns:a16="http://schemas.microsoft.com/office/drawing/2014/main" id="{7D9F6DCF-98DB-9069-8193-FECA86F1655B}"/>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830425C3-A831-EB62-A929-669D3F79E947}"/>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16</a:t>
            </a:fld>
            <a:endParaRPr lang="fr-CA">
              <a:solidFill>
                <a:prstClr val="black">
                  <a:tint val="75000"/>
                </a:prstClr>
              </a:solidFill>
            </a:endParaRPr>
          </a:p>
        </p:txBody>
      </p:sp>
      <p:sp>
        <p:nvSpPr>
          <p:cNvPr id="6" name="Bulle narrative : ronde 5">
            <a:extLst>
              <a:ext uri="{FF2B5EF4-FFF2-40B4-BE49-F238E27FC236}">
                <a16:creationId xmlns:a16="http://schemas.microsoft.com/office/drawing/2014/main" id="{A4465CBE-7A9A-4D4E-FB57-556FFCAACC62}"/>
              </a:ext>
            </a:extLst>
          </p:cNvPr>
          <p:cNvSpPr/>
          <p:nvPr>
            <p:custDataLst>
              <p:tags r:id="rId6"/>
            </p:custDataLst>
          </p:nvPr>
        </p:nvSpPr>
        <p:spPr>
          <a:xfrm>
            <a:off x="9500260" y="4693920"/>
            <a:ext cx="2691740" cy="1809516"/>
          </a:xfrm>
          <a:prstGeom prst="wedgeEllipseCallout">
            <a:avLst>
              <a:gd name="adj1" fmla="val -57763"/>
              <a:gd name="adj2" fmla="val 1184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0" i="1" u="none" strike="noStrike">
                <a:solidFill>
                  <a:srgbClr val="000000"/>
                </a:solidFill>
                <a:effectLst/>
                <a:latin typeface="Calibri" panose="020F0502020204030204" pitchFamily="34" charset="0"/>
              </a:rPr>
              <a:t>Cette marge contribuera à la couverture des coûts fixes </a:t>
            </a:r>
            <a:r>
              <a:rPr lang="fr-CA" sz="1600" b="0" i="1" u="none" strike="noStrike">
                <a:solidFill>
                  <a:srgbClr val="00B050"/>
                </a:solidFill>
                <a:effectLst/>
                <a:latin typeface="Calibri" panose="020F0502020204030204" pitchFamily="34" charset="0"/>
              </a:rPr>
              <a:t>communs </a:t>
            </a:r>
            <a:r>
              <a:rPr lang="fr-CA" sz="1600" b="0" i="1" u="none" strike="noStrike">
                <a:solidFill>
                  <a:srgbClr val="000000"/>
                </a:solidFill>
                <a:effectLst/>
                <a:latin typeface="Calibri" panose="020F0502020204030204" pitchFamily="34" charset="0"/>
              </a:rPr>
              <a:t>et au résultat</a:t>
            </a:r>
            <a:r>
              <a:rPr lang="fr-CA" sz="1600" b="0" i="0">
                <a:solidFill>
                  <a:srgbClr val="000000"/>
                </a:solidFill>
                <a:effectLst/>
                <a:latin typeface="Calibri" panose="020F0502020204030204" pitchFamily="34" charset="0"/>
              </a:rPr>
              <a:t>​</a:t>
            </a:r>
            <a:endParaRPr lang="fr-CA" sz="1600"/>
          </a:p>
        </p:txBody>
      </p:sp>
    </p:spTree>
    <p:custDataLst>
      <p:tags r:id="rId1"/>
    </p:custDataLst>
    <p:extLst>
      <p:ext uri="{BB962C8B-B14F-4D97-AF65-F5344CB8AC3E}">
        <p14:creationId xmlns:p14="http://schemas.microsoft.com/office/powerpoint/2010/main" val="1630098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D5673A-9E03-4C2C-9112-60384DFC332C}"/>
              </a:ext>
            </a:extLst>
          </p:cNvPr>
          <p:cNvSpPr>
            <a:spLocks noGrp="1"/>
          </p:cNvSpPr>
          <p:nvPr>
            <p:ph type="title"/>
            <p:custDataLst>
              <p:tags r:id="rId1"/>
            </p:custDataLst>
          </p:nvPr>
        </p:nvSpPr>
        <p:spPr/>
        <p:txBody>
          <a:bodyPr>
            <a:normAutofit/>
          </a:bodyPr>
          <a:lstStyle/>
          <a:p>
            <a:r>
              <a:rPr lang="fr-CA" sz="4000"/>
              <a:t>Choisir parmi une gamme de produits</a:t>
            </a:r>
          </a:p>
        </p:txBody>
      </p:sp>
      <p:sp>
        <p:nvSpPr>
          <p:cNvPr id="3" name="Espace réservé du contenu 2">
            <a:extLst>
              <a:ext uri="{FF2B5EF4-FFF2-40B4-BE49-F238E27FC236}">
                <a16:creationId xmlns:a16="http://schemas.microsoft.com/office/drawing/2014/main" id="{36634FAB-BA4B-4F96-8E35-8B7FC1ED55DC}"/>
              </a:ext>
            </a:extLst>
          </p:cNvPr>
          <p:cNvSpPr>
            <a:spLocks noGrp="1"/>
          </p:cNvSpPr>
          <p:nvPr>
            <p:ph idx="1"/>
            <p:custDataLst>
              <p:tags r:id="rId2"/>
            </p:custDataLst>
          </p:nvPr>
        </p:nvSpPr>
        <p:spPr/>
        <p:txBody>
          <a:bodyPr vert="horz" lIns="91440" tIns="45720" rIns="91440" bIns="45720" rtlCol="0" anchor="t">
            <a:normAutofit/>
          </a:bodyPr>
          <a:lstStyle/>
          <a:p>
            <a:pPr marL="0" indent="0">
              <a:buNone/>
            </a:pPr>
            <a:r>
              <a:rPr lang="fr-CA" sz="3600"/>
              <a:t>Contexte :</a:t>
            </a:r>
          </a:p>
          <a:p>
            <a:r>
              <a:rPr lang="fr-CA"/>
              <a:t>Dans une entreprise, il peut arriver que la demande finisse par dépasser la capacité de production disponible (facteur contraignant). </a:t>
            </a:r>
          </a:p>
          <a:p>
            <a:pPr marL="0" indent="0">
              <a:buNone/>
            </a:pPr>
            <a:r>
              <a:rPr lang="fr-CA"/>
              <a:t>   (exemple: une entreprise en croissance). </a:t>
            </a:r>
          </a:p>
          <a:p>
            <a:r>
              <a:rPr lang="fr-CA"/>
              <a:t>On peut alors : </a:t>
            </a:r>
          </a:p>
          <a:p>
            <a:pPr lvl="1"/>
            <a:r>
              <a:rPr lang="fr-CA"/>
              <a:t>Prioriser certains produits / services pour maximiser le résultat (contexte de ressources limitées) = décision court terme</a:t>
            </a:r>
          </a:p>
          <a:p>
            <a:pPr lvl="1"/>
            <a:r>
              <a:rPr lang="fr-CA"/>
              <a:t>Accroître la capacité de production = décision long terme</a:t>
            </a:r>
          </a:p>
          <a:p>
            <a:r>
              <a:rPr lang="fr-CA"/>
              <a:t>Lorsque l’on décide de prioriser, d’un point de vue financier, comment établir l’ordre de priorité ? </a:t>
            </a:r>
          </a:p>
          <a:p>
            <a:pPr marL="0" indent="0">
              <a:buNone/>
            </a:pPr>
            <a:endParaRPr lang="fr-CA"/>
          </a:p>
        </p:txBody>
      </p:sp>
      <p:sp>
        <p:nvSpPr>
          <p:cNvPr id="4" name="Espace réservé du pied de page 3">
            <a:extLst>
              <a:ext uri="{FF2B5EF4-FFF2-40B4-BE49-F238E27FC236}">
                <a16:creationId xmlns:a16="http://schemas.microsoft.com/office/drawing/2014/main" id="{6F84BE2E-D564-6096-BDDF-881E40969311}"/>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83B9A4A0-4A18-77B0-E286-004A44B53EB9}"/>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spTree>
    <p:extLst>
      <p:ext uri="{BB962C8B-B14F-4D97-AF65-F5344CB8AC3E}">
        <p14:creationId xmlns:p14="http://schemas.microsoft.com/office/powerpoint/2010/main" val="2599813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673208" y="204270"/>
            <a:ext cx="10766122" cy="1325563"/>
          </a:xfrm>
        </p:spPr>
        <p:txBody>
          <a:bodyPr>
            <a:normAutofit/>
          </a:bodyPr>
          <a:lstStyle/>
          <a:p>
            <a:pPr algn="ctr"/>
            <a:r>
              <a:rPr lang="fr-CA" sz="4000" i="1"/>
              <a:t>Exemples de facteurs contraignants </a:t>
            </a:r>
          </a:p>
        </p:txBody>
      </p:sp>
      <p:pic>
        <p:nvPicPr>
          <p:cNvPr id="9218" name="Picture 2" descr="Fruit, Negozio Di, Vendre, Stand, Vente"/>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38199" y="2200863"/>
            <a:ext cx="4793411" cy="290783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custDataLst>
              <p:tags r:id="rId3"/>
            </p:custDataLst>
          </p:nvPr>
        </p:nvPicPr>
        <p:blipFill>
          <a:blip r:embed="rId9"/>
          <a:stretch>
            <a:fillRect/>
          </a:stretch>
        </p:blipFill>
        <p:spPr>
          <a:xfrm>
            <a:off x="6560392" y="2200863"/>
            <a:ext cx="4908674" cy="2907834"/>
          </a:xfrm>
          <a:prstGeom prst="rect">
            <a:avLst/>
          </a:prstGeom>
        </p:spPr>
      </p:pic>
      <p:sp>
        <p:nvSpPr>
          <p:cNvPr id="3" name="Espace réservé du pied de page 3">
            <a:extLst>
              <a:ext uri="{FF2B5EF4-FFF2-40B4-BE49-F238E27FC236}">
                <a16:creationId xmlns:a16="http://schemas.microsoft.com/office/drawing/2014/main" id="{EE00E327-3691-C703-3722-639980EDA1F9}"/>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ACA9EAD6-E5B4-161A-950A-3603FAAFEA05}"/>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Tree>
    <p:extLst>
      <p:ext uri="{BB962C8B-B14F-4D97-AF65-F5344CB8AC3E}">
        <p14:creationId xmlns:p14="http://schemas.microsoft.com/office/powerpoint/2010/main" val="4133819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321CB8-09A9-5DF4-E27C-CFD201D96485}"/>
              </a:ext>
            </a:extLst>
          </p:cNvPr>
          <p:cNvSpPr>
            <a:spLocks noGrp="1"/>
          </p:cNvSpPr>
          <p:nvPr>
            <p:ph type="title"/>
            <p:custDataLst>
              <p:tags r:id="rId1"/>
            </p:custDataLst>
          </p:nvPr>
        </p:nvSpPr>
        <p:spPr/>
        <p:txBody>
          <a:bodyPr/>
          <a:lstStyle/>
          <a:p>
            <a:r>
              <a:rPr lang="fr-CA"/>
              <a:t>Illustration </a:t>
            </a:r>
            <a:r>
              <a:rPr lang="fr-CA" err="1"/>
              <a:t>Eléctroflux</a:t>
            </a:r>
            <a:endParaRPr lang="fr-CA"/>
          </a:p>
        </p:txBody>
      </p:sp>
      <p:sp>
        <p:nvSpPr>
          <p:cNvPr id="3" name="Espace réservé du contenu 2">
            <a:extLst>
              <a:ext uri="{FF2B5EF4-FFF2-40B4-BE49-F238E27FC236}">
                <a16:creationId xmlns:a16="http://schemas.microsoft.com/office/drawing/2014/main" id="{67824612-124B-9FEC-B9EB-6ED44435E668}"/>
              </a:ext>
            </a:extLst>
          </p:cNvPr>
          <p:cNvSpPr>
            <a:spLocks noGrp="1"/>
          </p:cNvSpPr>
          <p:nvPr>
            <p:ph idx="1"/>
            <p:custDataLst>
              <p:tags r:id="rId2"/>
            </p:custDataLst>
          </p:nvPr>
        </p:nvSpPr>
        <p:spPr/>
        <p:txBody>
          <a:bodyPr>
            <a:normAutofit fontScale="85000" lnSpcReduction="20000"/>
          </a:bodyPr>
          <a:lstStyle/>
          <a:p>
            <a:pPr marL="0" indent="0">
              <a:buNone/>
            </a:pPr>
            <a:r>
              <a:rPr lang="fr-CA" sz="2800" dirty="0" err="1">
                <a:solidFill>
                  <a:srgbClr val="000000"/>
                </a:solidFill>
              </a:rPr>
              <a:t>Eléctroflux</a:t>
            </a:r>
            <a:r>
              <a:rPr lang="fr-CA" sz="2800" dirty="0">
                <a:solidFill>
                  <a:srgbClr val="000000"/>
                </a:solidFill>
              </a:rPr>
              <a:t> fabrique et commercialise des « solutions éclairantes ». Sa ligne de production de Sainte-Dorothée est la seule à pouvoir fabriquer des néons et des ampoules incandescentes. </a:t>
            </a:r>
          </a:p>
          <a:p>
            <a:pPr marL="0" indent="0">
              <a:buNone/>
            </a:pPr>
            <a:r>
              <a:rPr lang="fr-CA" sz="2800" dirty="0">
                <a:solidFill>
                  <a:srgbClr val="000000"/>
                </a:solidFill>
              </a:rPr>
              <a:t>Le service marketing a établi les prévisions de ventes suivantes : 41 000 boîtes de néons et 164 000 boîtes d’ampoules.</a:t>
            </a:r>
            <a:r>
              <a:rPr lang="fr-CA" sz="2800" b="1" dirty="0">
                <a:solidFill>
                  <a:srgbClr val="000000"/>
                </a:solidFill>
              </a:rPr>
              <a:t> </a:t>
            </a:r>
            <a:endParaRPr lang="fr-CA" sz="2800" b="1" dirty="0">
              <a:solidFill>
                <a:srgbClr val="000000"/>
              </a:solidFill>
              <a:cs typeface="Calibri"/>
            </a:endParaRPr>
          </a:p>
          <a:p>
            <a:pPr marL="0" indent="0">
              <a:buNone/>
            </a:pPr>
            <a:r>
              <a:rPr lang="fr-CA" sz="2800" dirty="0">
                <a:solidFill>
                  <a:srgbClr val="000000"/>
                </a:solidFill>
              </a:rPr>
              <a:t>La direction de la production nous indique qu’il faut 2 heures de MOD pour fabriquer une boîte de néons et 1 heure de MOD pour fabriquer une boîte d’ampoules.</a:t>
            </a:r>
            <a:endParaRPr lang="fr-CA" sz="2800" b="1" dirty="0">
              <a:solidFill>
                <a:srgbClr val="000000"/>
              </a:solidFill>
            </a:endParaRPr>
          </a:p>
          <a:p>
            <a:pPr marL="0" indent="0">
              <a:buNone/>
            </a:pPr>
            <a:r>
              <a:rPr lang="fr-CA" sz="2800" dirty="0">
                <a:solidFill>
                  <a:srgbClr val="000000"/>
                </a:solidFill>
              </a:rPr>
              <a:t>Après discussion avec la direction et les RH, on arrive au constat suivant : en période de pénurie de MOD au Québec, il sera difficile d’embaucher des employés additionnels.</a:t>
            </a:r>
            <a:endParaRPr lang="fr-CA" sz="2800" b="1" dirty="0">
              <a:solidFill>
                <a:srgbClr val="000000"/>
              </a:solidFill>
            </a:endParaRPr>
          </a:p>
          <a:p>
            <a:pPr marL="0" indent="0">
              <a:buNone/>
            </a:pPr>
            <a:r>
              <a:rPr lang="fr-CA" sz="2800" dirty="0">
                <a:solidFill>
                  <a:srgbClr val="000000"/>
                </a:solidFill>
              </a:rPr>
              <a:t>Pour l’année à venir, 240 000 heures de MOD (incluant les heures supplémentaires) seront disponibles. </a:t>
            </a:r>
            <a:r>
              <a:rPr lang="fr-CA" sz="2800" dirty="0" err="1">
                <a:solidFill>
                  <a:srgbClr val="000000"/>
                </a:solidFill>
              </a:rPr>
              <a:t>Électroflux</a:t>
            </a:r>
            <a:r>
              <a:rPr lang="fr-CA" sz="2800" dirty="0">
                <a:solidFill>
                  <a:srgbClr val="000000"/>
                </a:solidFill>
              </a:rPr>
              <a:t> aura toutefois besoin de 246 000 heures pour répondre à la demande prévue. L’entreprise fait donc face à un manque de capacité de 6 000 heures de MOD.</a:t>
            </a:r>
            <a:endParaRPr lang="fr-CA" dirty="0"/>
          </a:p>
        </p:txBody>
      </p:sp>
      <p:pic>
        <p:nvPicPr>
          <p:cNvPr id="6" name="Image 5">
            <a:extLst>
              <a:ext uri="{FF2B5EF4-FFF2-40B4-BE49-F238E27FC236}">
                <a16:creationId xmlns:a16="http://schemas.microsoft.com/office/drawing/2014/main" id="{DD7A8EA1-CDCF-CA62-6BC5-92298A0723E7}"/>
              </a:ext>
            </a:extLst>
          </p:cNvPr>
          <p:cNvPicPr>
            <a:picLocks noChangeAspect="1"/>
          </p:cNvPicPr>
          <p:nvPr>
            <p:custDataLst>
              <p:tags r:id="rId3"/>
            </p:custDataLst>
          </p:nvPr>
        </p:nvPicPr>
        <p:blipFill rotWithShape="1">
          <a:blip r:embed="rId8" cstate="print">
            <a:alphaModFix/>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18950" r="17751" b="-2"/>
          <a:stretch/>
        </p:blipFill>
        <p:spPr>
          <a:xfrm>
            <a:off x="10840204" y="53959"/>
            <a:ext cx="1198251" cy="1254155"/>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4" name="Espace réservé du pied de page 3">
            <a:extLst>
              <a:ext uri="{FF2B5EF4-FFF2-40B4-BE49-F238E27FC236}">
                <a16:creationId xmlns:a16="http://schemas.microsoft.com/office/drawing/2014/main" id="{7EB5140B-5AB8-E7B1-B372-EF0327C713DE}"/>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D432F1B5-3809-32D5-91E3-D7D280CC6029}"/>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19</a:t>
            </a:fld>
            <a:endParaRPr lang="fr-CA">
              <a:solidFill>
                <a:prstClr val="black">
                  <a:tint val="75000"/>
                </a:prstClr>
              </a:solidFill>
            </a:endParaRPr>
          </a:p>
        </p:txBody>
      </p:sp>
    </p:spTree>
    <p:extLst>
      <p:ext uri="{BB962C8B-B14F-4D97-AF65-F5344CB8AC3E}">
        <p14:creationId xmlns:p14="http://schemas.microsoft.com/office/powerpoint/2010/main" val="240280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A5CD4D-4583-8426-9C69-733E8E74DCB5}"/>
              </a:ext>
            </a:extLst>
          </p:cNvPr>
          <p:cNvSpPr>
            <a:spLocks noGrp="1"/>
          </p:cNvSpPr>
          <p:nvPr>
            <p:ph type="title"/>
            <p:custDataLst>
              <p:tags r:id="rId1"/>
            </p:custDataLst>
          </p:nvPr>
        </p:nvSpPr>
        <p:spPr>
          <a:xfrm>
            <a:off x="928379" y="198918"/>
            <a:ext cx="6615545" cy="1042570"/>
          </a:xfrm>
        </p:spPr>
        <p:txBody>
          <a:bodyPr/>
          <a:lstStyle/>
          <a:p>
            <a:r>
              <a:rPr lang="fr-CA" dirty="0"/>
              <a:t>RÉFLEXION : </a:t>
            </a:r>
          </a:p>
        </p:txBody>
      </p:sp>
      <p:sp>
        <p:nvSpPr>
          <p:cNvPr id="3" name="Espace réservé du contenu 2">
            <a:extLst>
              <a:ext uri="{FF2B5EF4-FFF2-40B4-BE49-F238E27FC236}">
                <a16:creationId xmlns:a16="http://schemas.microsoft.com/office/drawing/2014/main" id="{7C3CC262-E147-513F-9550-23559BD1E10C}"/>
              </a:ext>
            </a:extLst>
          </p:cNvPr>
          <p:cNvSpPr>
            <a:spLocks noGrp="1"/>
          </p:cNvSpPr>
          <p:nvPr>
            <p:ph idx="1"/>
            <p:custDataLst>
              <p:tags r:id="rId2"/>
            </p:custDataLst>
          </p:nvPr>
        </p:nvSpPr>
        <p:spPr>
          <a:xfrm>
            <a:off x="455586" y="1567961"/>
            <a:ext cx="6981534" cy="4569836"/>
          </a:xfrm>
        </p:spPr>
        <p:txBody>
          <a:bodyPr>
            <a:normAutofit/>
          </a:bodyPr>
          <a:lstStyle/>
          <a:p>
            <a:pPr marL="0" indent="0">
              <a:buNone/>
            </a:pPr>
            <a:r>
              <a:rPr lang="fr-CA" sz="2600" dirty="0"/>
              <a:t>Si on souhaite </a:t>
            </a:r>
            <a:r>
              <a:rPr lang="fr-CA" sz="2600" b="1" u="sng" dirty="0"/>
              <a:t>réduire l’impact du manque de capacité (6 000 </a:t>
            </a:r>
            <a:r>
              <a:rPr lang="fr-CA" sz="2600" b="1" u="sng" dirty="0" err="1"/>
              <a:t>hrs</a:t>
            </a:r>
            <a:r>
              <a:rPr lang="fr-CA" sz="2600" b="1" u="sng" dirty="0"/>
              <a:t> MOD) sur notre profit  :</a:t>
            </a:r>
            <a:r>
              <a:rPr lang="fr-CA" sz="2600" dirty="0"/>
              <a:t> </a:t>
            </a:r>
          </a:p>
          <a:p>
            <a:pPr marL="0" indent="0">
              <a:buNone/>
            </a:pPr>
            <a:r>
              <a:rPr lang="fr-CA" sz="2600" dirty="0"/>
              <a:t>Quelle production doit-on réduire (néons ou ampoules) ? </a:t>
            </a:r>
          </a:p>
          <a:p>
            <a:pPr marL="0" indent="0">
              <a:buNone/>
            </a:pPr>
            <a:r>
              <a:rPr lang="fr-CA" sz="2600" dirty="0"/>
              <a:t>Combien de chaque produit devrait-on produire ?</a:t>
            </a:r>
          </a:p>
          <a:p>
            <a:pPr marL="0" indent="0">
              <a:buNone/>
            </a:pPr>
            <a:r>
              <a:rPr lang="fr-CA" sz="2600" dirty="0"/>
              <a:t>Quel sera le plan de production optimal ? </a:t>
            </a:r>
          </a:p>
          <a:p>
            <a:pPr marL="0" indent="0">
              <a:buNone/>
            </a:pPr>
            <a:r>
              <a:rPr lang="fr-CA" sz="2600" dirty="0"/>
              <a:t>Compte tenu des MCV unitaires des deux produits, le contrôleur propose de </a:t>
            </a:r>
            <a:r>
              <a:rPr lang="fr-CA" sz="2600" u="sng" dirty="0"/>
              <a:t>diminuer</a:t>
            </a:r>
            <a:r>
              <a:rPr lang="fr-CA" sz="2600" dirty="0"/>
              <a:t> la production de boîtes d’ampoules. </a:t>
            </a:r>
          </a:p>
          <a:p>
            <a:pPr marL="0" indent="0">
              <a:buNone/>
            </a:pPr>
            <a:r>
              <a:rPr lang="fr-CA" sz="2600" b="1" dirty="0">
                <a:latin typeface="Calibri Light" panose="020F0302020204030204"/>
              </a:rPr>
              <a:t>Qu’en pensez-vous ?  </a:t>
            </a:r>
          </a:p>
          <a:p>
            <a:pPr marL="0" indent="0">
              <a:buNone/>
            </a:pPr>
            <a:endParaRPr lang="fr-CA" sz="2800" dirty="0"/>
          </a:p>
          <a:p>
            <a:endParaRPr lang="fr-CA" dirty="0"/>
          </a:p>
        </p:txBody>
      </p:sp>
      <p:pic>
        <p:nvPicPr>
          <p:cNvPr id="6" name="Image 5">
            <a:extLst>
              <a:ext uri="{FF2B5EF4-FFF2-40B4-BE49-F238E27FC236}">
                <a16:creationId xmlns:a16="http://schemas.microsoft.com/office/drawing/2014/main" id="{9DF63EF7-0A87-A974-1EB7-93D8D6D32710}"/>
              </a:ext>
            </a:extLst>
          </p:cNvPr>
          <p:cNvPicPr>
            <a:picLocks noChangeAspect="1"/>
          </p:cNvPicPr>
          <p:nvPr>
            <p:custDataLst>
              <p:tags r:id="rId3"/>
            </p:custDataLst>
          </p:nvPr>
        </p:nvPicPr>
        <p:blipFill rotWithShape="1">
          <a:blip r:embed="rId9">
            <a:extLst>
              <a:ext uri="{28A0092B-C50C-407E-A947-70E740481C1C}">
                <a14:useLocalDpi xmlns:a14="http://schemas.microsoft.com/office/drawing/2010/main" val="0"/>
              </a:ext>
            </a:extLst>
          </a:blip>
          <a:srcRect r="-2" b="12342"/>
          <a:stretch/>
        </p:blipFill>
        <p:spPr>
          <a:xfrm>
            <a:off x="10802112" y="1"/>
            <a:ext cx="1389888" cy="2056238"/>
          </a:xfrm>
          <a:prstGeom prst="rect">
            <a:avLst/>
          </a:prstGeom>
          <a:effectLst/>
        </p:spPr>
      </p:pic>
      <p:sp>
        <p:nvSpPr>
          <p:cNvPr id="4" name="Espace réservé du pied de page 3">
            <a:extLst>
              <a:ext uri="{FF2B5EF4-FFF2-40B4-BE49-F238E27FC236}">
                <a16:creationId xmlns:a16="http://schemas.microsoft.com/office/drawing/2014/main" id="{3EEE552B-DEDF-3294-1BC7-F06C1286C38E}"/>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B36D4BE-BCAE-F399-6B6D-4F224D21D1E3}"/>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20</a:t>
            </a:fld>
            <a:endParaRPr lang="fr-CA">
              <a:solidFill>
                <a:prstClr val="black">
                  <a:tint val="75000"/>
                </a:prstClr>
              </a:solidFill>
            </a:endParaRPr>
          </a:p>
        </p:txBody>
      </p:sp>
      <p:graphicFrame>
        <p:nvGraphicFramePr>
          <p:cNvPr id="7" name="Tableau 4">
            <a:extLst>
              <a:ext uri="{FF2B5EF4-FFF2-40B4-BE49-F238E27FC236}">
                <a16:creationId xmlns:a16="http://schemas.microsoft.com/office/drawing/2014/main" id="{ABD47669-EA10-0326-107F-04DCF2C7D06E}"/>
              </a:ext>
            </a:extLst>
          </p:cNvPr>
          <p:cNvGraphicFramePr>
            <a:graphicFrameLocks noGrp="1"/>
          </p:cNvGraphicFramePr>
          <p:nvPr>
            <p:custDataLst>
              <p:tags r:id="rId6"/>
            </p:custDataLst>
            <p:extLst>
              <p:ext uri="{D42A27DB-BD31-4B8C-83A1-F6EECF244321}">
                <p14:modId xmlns:p14="http://schemas.microsoft.com/office/powerpoint/2010/main" val="825380160"/>
              </p:ext>
            </p:extLst>
          </p:nvPr>
        </p:nvGraphicFramePr>
        <p:xfrm>
          <a:off x="7543924" y="2241192"/>
          <a:ext cx="4425696" cy="2682240"/>
        </p:xfrm>
        <a:graphic>
          <a:graphicData uri="http://schemas.openxmlformats.org/drawingml/2006/table">
            <a:tbl>
              <a:tblPr firstRow="1" bandRow="1">
                <a:tableStyleId>{BDBED569-4797-4DF1-A0F4-6AAB3CD982D8}</a:tableStyleId>
              </a:tblPr>
              <a:tblGrid>
                <a:gridCol w="2080542">
                  <a:extLst>
                    <a:ext uri="{9D8B030D-6E8A-4147-A177-3AD203B41FA5}">
                      <a16:colId xmlns:a16="http://schemas.microsoft.com/office/drawing/2014/main" val="2783611626"/>
                    </a:ext>
                  </a:extLst>
                </a:gridCol>
                <a:gridCol w="1058958">
                  <a:extLst>
                    <a:ext uri="{9D8B030D-6E8A-4147-A177-3AD203B41FA5}">
                      <a16:colId xmlns:a16="http://schemas.microsoft.com/office/drawing/2014/main" val="962317974"/>
                    </a:ext>
                  </a:extLst>
                </a:gridCol>
                <a:gridCol w="1286196">
                  <a:extLst>
                    <a:ext uri="{9D8B030D-6E8A-4147-A177-3AD203B41FA5}">
                      <a16:colId xmlns:a16="http://schemas.microsoft.com/office/drawing/2014/main" val="1486159043"/>
                    </a:ext>
                  </a:extLst>
                </a:gridCol>
              </a:tblGrid>
              <a:tr h="370840">
                <a:tc>
                  <a:txBody>
                    <a:bodyPr/>
                    <a:lstStyle/>
                    <a:p>
                      <a:endParaRPr lang="fr-CA" sz="2000" dirty="0"/>
                    </a:p>
                  </a:txBody>
                  <a:tcPr/>
                </a:tc>
                <a:tc>
                  <a:txBody>
                    <a:bodyPr/>
                    <a:lstStyle/>
                    <a:p>
                      <a:r>
                        <a:rPr lang="fr-CA" sz="2000"/>
                        <a:t>Néons</a:t>
                      </a:r>
                    </a:p>
                  </a:txBody>
                  <a:tcPr/>
                </a:tc>
                <a:tc>
                  <a:txBody>
                    <a:bodyPr/>
                    <a:lstStyle/>
                    <a:p>
                      <a:r>
                        <a:rPr lang="fr-CA" sz="2000"/>
                        <a:t>Ampoules</a:t>
                      </a:r>
                    </a:p>
                  </a:txBody>
                  <a:tcPr/>
                </a:tc>
                <a:extLst>
                  <a:ext uri="{0D108BD9-81ED-4DB2-BD59-A6C34878D82A}">
                    <a16:rowId xmlns:a16="http://schemas.microsoft.com/office/drawing/2014/main" val="1284534325"/>
                  </a:ext>
                </a:extLst>
              </a:tr>
              <a:tr h="370840">
                <a:tc>
                  <a:txBody>
                    <a:bodyPr/>
                    <a:lstStyle/>
                    <a:p>
                      <a:r>
                        <a:rPr lang="fr-CA" sz="2000" dirty="0"/>
                        <a:t>Volume</a:t>
                      </a:r>
                    </a:p>
                  </a:txBody>
                  <a:tcPr/>
                </a:tc>
                <a:tc>
                  <a:txBody>
                    <a:bodyPr/>
                    <a:lstStyle/>
                    <a:p>
                      <a:r>
                        <a:rPr lang="fr-CA" sz="2000" dirty="0"/>
                        <a:t>41 000</a:t>
                      </a:r>
                    </a:p>
                  </a:txBody>
                  <a:tcPr/>
                </a:tc>
                <a:tc>
                  <a:txBody>
                    <a:bodyPr/>
                    <a:lstStyle/>
                    <a:p>
                      <a:r>
                        <a:rPr lang="fr-CA" sz="2000" dirty="0"/>
                        <a:t>164 000</a:t>
                      </a:r>
                    </a:p>
                  </a:txBody>
                  <a:tcPr/>
                </a:tc>
                <a:extLst>
                  <a:ext uri="{0D108BD9-81ED-4DB2-BD59-A6C34878D82A}">
                    <a16:rowId xmlns:a16="http://schemas.microsoft.com/office/drawing/2014/main" val="2849102131"/>
                  </a:ext>
                </a:extLst>
              </a:tr>
              <a:tr h="370840">
                <a:tc>
                  <a:txBody>
                    <a:bodyPr/>
                    <a:lstStyle/>
                    <a:p>
                      <a:r>
                        <a:rPr lang="fr-CA" sz="2000" dirty="0"/>
                        <a:t>Heures MOD</a:t>
                      </a:r>
                    </a:p>
                  </a:txBody>
                  <a:tcPr/>
                </a:tc>
                <a:tc>
                  <a:txBody>
                    <a:bodyPr/>
                    <a:lstStyle/>
                    <a:p>
                      <a:r>
                        <a:rPr lang="fr-CA" sz="2000" dirty="0"/>
                        <a:t>2 </a:t>
                      </a:r>
                      <a:r>
                        <a:rPr lang="fr-CA" sz="2000" dirty="0" err="1"/>
                        <a:t>hrs</a:t>
                      </a:r>
                      <a:endParaRPr lang="fr-CA" sz="2000" dirty="0"/>
                    </a:p>
                  </a:txBody>
                  <a:tcPr/>
                </a:tc>
                <a:tc>
                  <a:txBody>
                    <a:bodyPr/>
                    <a:lstStyle/>
                    <a:p>
                      <a:r>
                        <a:rPr lang="fr-CA" sz="2000" dirty="0"/>
                        <a:t>1 </a:t>
                      </a:r>
                      <a:r>
                        <a:rPr lang="fr-CA" sz="2000" dirty="0" err="1"/>
                        <a:t>hr</a:t>
                      </a:r>
                      <a:endParaRPr lang="fr-CA" sz="2000" dirty="0"/>
                    </a:p>
                  </a:txBody>
                  <a:tcPr/>
                </a:tc>
                <a:extLst>
                  <a:ext uri="{0D108BD9-81ED-4DB2-BD59-A6C34878D82A}">
                    <a16:rowId xmlns:a16="http://schemas.microsoft.com/office/drawing/2014/main" val="1001054917"/>
                  </a:ext>
                </a:extLst>
              </a:tr>
              <a:tr h="370840">
                <a:tc>
                  <a:txBody>
                    <a:bodyPr/>
                    <a:lstStyle/>
                    <a:p>
                      <a:r>
                        <a:rPr lang="fr-CA" sz="2000" dirty="0"/>
                        <a:t>Prix de vente</a:t>
                      </a:r>
                    </a:p>
                  </a:txBody>
                  <a:tcPr/>
                </a:tc>
                <a:tc>
                  <a:txBody>
                    <a:bodyPr/>
                    <a:lstStyle/>
                    <a:p>
                      <a:r>
                        <a:rPr lang="fr-CA" sz="2000"/>
                        <a:t>325 $</a:t>
                      </a:r>
                    </a:p>
                  </a:txBody>
                  <a:tcPr/>
                </a:tc>
                <a:tc>
                  <a:txBody>
                    <a:bodyPr/>
                    <a:lstStyle/>
                    <a:p>
                      <a:r>
                        <a:rPr lang="fr-CA" sz="2000"/>
                        <a:t>250 $</a:t>
                      </a:r>
                    </a:p>
                  </a:txBody>
                  <a:tcPr/>
                </a:tc>
                <a:extLst>
                  <a:ext uri="{0D108BD9-81ED-4DB2-BD59-A6C34878D82A}">
                    <a16:rowId xmlns:a16="http://schemas.microsoft.com/office/drawing/2014/main" val="1108576763"/>
                  </a:ext>
                </a:extLst>
              </a:tr>
              <a:tr h="370840">
                <a:tc>
                  <a:txBody>
                    <a:bodyPr/>
                    <a:lstStyle/>
                    <a:p>
                      <a:r>
                        <a:rPr lang="fr-CA" sz="2000" dirty="0"/>
                        <a:t>Coûts variables</a:t>
                      </a:r>
                    </a:p>
                  </a:txBody>
                  <a:tcPr/>
                </a:tc>
                <a:tc>
                  <a:txBody>
                    <a:bodyPr/>
                    <a:lstStyle/>
                    <a:p>
                      <a:r>
                        <a:rPr lang="fr-CA" sz="2000" u="sng" dirty="0"/>
                        <a:t>175 $</a:t>
                      </a:r>
                    </a:p>
                  </a:txBody>
                  <a:tcPr/>
                </a:tc>
                <a:tc>
                  <a:txBody>
                    <a:bodyPr/>
                    <a:lstStyle/>
                    <a:p>
                      <a:r>
                        <a:rPr lang="fr-CA" sz="2000" u="sng" dirty="0"/>
                        <a:t>130 $</a:t>
                      </a:r>
                    </a:p>
                  </a:txBody>
                  <a:tcPr/>
                </a:tc>
                <a:extLst>
                  <a:ext uri="{0D108BD9-81ED-4DB2-BD59-A6C34878D82A}">
                    <a16:rowId xmlns:a16="http://schemas.microsoft.com/office/drawing/2014/main" val="671937147"/>
                  </a:ext>
                </a:extLst>
              </a:tr>
              <a:tr h="370840">
                <a:tc>
                  <a:txBody>
                    <a:bodyPr/>
                    <a:lstStyle/>
                    <a:p>
                      <a:r>
                        <a:rPr lang="fr-CA" sz="2000" b="1"/>
                        <a:t>Marge sur coûts variables</a:t>
                      </a:r>
                    </a:p>
                  </a:txBody>
                  <a:tcPr/>
                </a:tc>
                <a:tc>
                  <a:txBody>
                    <a:bodyPr/>
                    <a:lstStyle/>
                    <a:p>
                      <a:r>
                        <a:rPr lang="fr-CA" sz="2000" b="1"/>
                        <a:t>150 $</a:t>
                      </a:r>
                    </a:p>
                  </a:txBody>
                  <a:tcPr/>
                </a:tc>
                <a:tc>
                  <a:txBody>
                    <a:bodyPr/>
                    <a:lstStyle/>
                    <a:p>
                      <a:r>
                        <a:rPr lang="fr-CA" sz="2000" b="1" dirty="0"/>
                        <a:t>120 $</a:t>
                      </a:r>
                    </a:p>
                  </a:txBody>
                  <a:tcPr/>
                </a:tc>
                <a:extLst>
                  <a:ext uri="{0D108BD9-81ED-4DB2-BD59-A6C34878D82A}">
                    <a16:rowId xmlns:a16="http://schemas.microsoft.com/office/drawing/2014/main" val="1267955351"/>
                  </a:ext>
                </a:extLst>
              </a:tr>
            </a:tbl>
          </a:graphicData>
        </a:graphic>
      </p:graphicFrame>
    </p:spTree>
    <p:extLst>
      <p:ext uri="{BB962C8B-B14F-4D97-AF65-F5344CB8AC3E}">
        <p14:creationId xmlns:p14="http://schemas.microsoft.com/office/powerpoint/2010/main" val="3174009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462A7-B3BB-6099-33CB-33200C5CD591}"/>
              </a:ext>
            </a:extLst>
          </p:cNvPr>
          <p:cNvSpPr>
            <a:spLocks noGrp="1"/>
          </p:cNvSpPr>
          <p:nvPr>
            <p:ph type="title"/>
          </p:nvPr>
        </p:nvSpPr>
        <p:spPr/>
        <p:txBody>
          <a:bodyPr/>
          <a:lstStyle/>
          <a:p>
            <a:r>
              <a:rPr lang="fr-CA" dirty="0"/>
              <a:t>La marge sur coûts variables totales</a:t>
            </a:r>
          </a:p>
        </p:txBody>
      </p:sp>
      <p:sp>
        <p:nvSpPr>
          <p:cNvPr id="4" name="Espace réservé du pied de page 3">
            <a:extLst>
              <a:ext uri="{FF2B5EF4-FFF2-40B4-BE49-F238E27FC236}">
                <a16:creationId xmlns:a16="http://schemas.microsoft.com/office/drawing/2014/main" id="{1C08EFD1-6C5F-9C82-CB2C-CEF0F5E9C3A6}"/>
              </a:ext>
            </a:extLst>
          </p:cNvPr>
          <p:cNvSpPr>
            <a:spLocks noGrp="1"/>
          </p:cNvSpPr>
          <p:nvPr>
            <p:ph type="ftr" sz="quarter" idx="11"/>
          </p:nvPr>
        </p:nvSpPr>
        <p:spPr/>
        <p:txBody>
          <a:bodyPr/>
          <a:lstStyle/>
          <a:p>
            <a:r>
              <a:rPr lang="en-US">
                <a:solidFill>
                  <a:prstClr val="black">
                    <a:tint val="75000"/>
                  </a:prstClr>
                </a:solidFill>
              </a:rPr>
              <a:t>(c) 10904 / S04 - Version A2024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AB93BB9F-C89B-968A-8935-F0B867C133B4}"/>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21</a:t>
            </a:fld>
            <a:endParaRPr lang="fr-CA">
              <a:solidFill>
                <a:prstClr val="black">
                  <a:tint val="75000"/>
                </a:prstClr>
              </a:solidFill>
            </a:endParaRPr>
          </a:p>
        </p:txBody>
      </p:sp>
      <p:graphicFrame>
        <p:nvGraphicFramePr>
          <p:cNvPr id="7" name="Tableau 4">
            <a:extLst>
              <a:ext uri="{FF2B5EF4-FFF2-40B4-BE49-F238E27FC236}">
                <a16:creationId xmlns:a16="http://schemas.microsoft.com/office/drawing/2014/main" id="{76968543-541B-9D2E-36B7-50AA9125392E}"/>
              </a:ext>
            </a:extLst>
          </p:cNvPr>
          <p:cNvGraphicFramePr>
            <a:graphicFrameLocks noGrp="1"/>
          </p:cNvGraphicFramePr>
          <p:nvPr>
            <p:custDataLst>
              <p:tags r:id="rId1"/>
            </p:custDataLst>
            <p:extLst>
              <p:ext uri="{D42A27DB-BD31-4B8C-83A1-F6EECF244321}">
                <p14:modId xmlns:p14="http://schemas.microsoft.com/office/powerpoint/2010/main" val="1048598566"/>
              </p:ext>
            </p:extLst>
          </p:nvPr>
        </p:nvGraphicFramePr>
        <p:xfrm>
          <a:off x="418058" y="1497480"/>
          <a:ext cx="4425696" cy="2682240"/>
        </p:xfrm>
        <a:graphic>
          <a:graphicData uri="http://schemas.openxmlformats.org/drawingml/2006/table">
            <a:tbl>
              <a:tblPr firstRow="1" bandRow="1">
                <a:tableStyleId>{BDBED569-4797-4DF1-A0F4-6AAB3CD982D8}</a:tableStyleId>
              </a:tblPr>
              <a:tblGrid>
                <a:gridCol w="2080542">
                  <a:extLst>
                    <a:ext uri="{9D8B030D-6E8A-4147-A177-3AD203B41FA5}">
                      <a16:colId xmlns:a16="http://schemas.microsoft.com/office/drawing/2014/main" val="2783611626"/>
                    </a:ext>
                  </a:extLst>
                </a:gridCol>
                <a:gridCol w="1058958">
                  <a:extLst>
                    <a:ext uri="{9D8B030D-6E8A-4147-A177-3AD203B41FA5}">
                      <a16:colId xmlns:a16="http://schemas.microsoft.com/office/drawing/2014/main" val="962317974"/>
                    </a:ext>
                  </a:extLst>
                </a:gridCol>
                <a:gridCol w="1286196">
                  <a:extLst>
                    <a:ext uri="{9D8B030D-6E8A-4147-A177-3AD203B41FA5}">
                      <a16:colId xmlns:a16="http://schemas.microsoft.com/office/drawing/2014/main" val="1486159043"/>
                    </a:ext>
                  </a:extLst>
                </a:gridCol>
              </a:tblGrid>
              <a:tr h="370840">
                <a:tc>
                  <a:txBody>
                    <a:bodyPr/>
                    <a:lstStyle/>
                    <a:p>
                      <a:endParaRPr lang="fr-CA" sz="2000" dirty="0"/>
                    </a:p>
                  </a:txBody>
                  <a:tcPr/>
                </a:tc>
                <a:tc>
                  <a:txBody>
                    <a:bodyPr/>
                    <a:lstStyle/>
                    <a:p>
                      <a:r>
                        <a:rPr lang="fr-CA" sz="2000"/>
                        <a:t>Néons</a:t>
                      </a:r>
                    </a:p>
                  </a:txBody>
                  <a:tcPr/>
                </a:tc>
                <a:tc>
                  <a:txBody>
                    <a:bodyPr/>
                    <a:lstStyle/>
                    <a:p>
                      <a:r>
                        <a:rPr lang="fr-CA" sz="2000"/>
                        <a:t>Ampoules</a:t>
                      </a:r>
                    </a:p>
                  </a:txBody>
                  <a:tcPr/>
                </a:tc>
                <a:extLst>
                  <a:ext uri="{0D108BD9-81ED-4DB2-BD59-A6C34878D82A}">
                    <a16:rowId xmlns:a16="http://schemas.microsoft.com/office/drawing/2014/main" val="1284534325"/>
                  </a:ext>
                </a:extLst>
              </a:tr>
              <a:tr h="370840">
                <a:tc>
                  <a:txBody>
                    <a:bodyPr/>
                    <a:lstStyle/>
                    <a:p>
                      <a:r>
                        <a:rPr lang="fr-CA" sz="2000" dirty="0"/>
                        <a:t>Volume</a:t>
                      </a:r>
                    </a:p>
                  </a:txBody>
                  <a:tcPr/>
                </a:tc>
                <a:tc>
                  <a:txBody>
                    <a:bodyPr/>
                    <a:lstStyle/>
                    <a:p>
                      <a:r>
                        <a:rPr lang="fr-CA" sz="2000" dirty="0"/>
                        <a:t>41 000</a:t>
                      </a:r>
                    </a:p>
                  </a:txBody>
                  <a:tcPr/>
                </a:tc>
                <a:tc>
                  <a:txBody>
                    <a:bodyPr/>
                    <a:lstStyle/>
                    <a:p>
                      <a:r>
                        <a:rPr lang="fr-CA" sz="2000" dirty="0"/>
                        <a:t>164 000</a:t>
                      </a:r>
                    </a:p>
                  </a:txBody>
                  <a:tcPr/>
                </a:tc>
                <a:extLst>
                  <a:ext uri="{0D108BD9-81ED-4DB2-BD59-A6C34878D82A}">
                    <a16:rowId xmlns:a16="http://schemas.microsoft.com/office/drawing/2014/main" val="2849102131"/>
                  </a:ext>
                </a:extLst>
              </a:tr>
              <a:tr h="370840">
                <a:tc>
                  <a:txBody>
                    <a:bodyPr/>
                    <a:lstStyle/>
                    <a:p>
                      <a:r>
                        <a:rPr lang="fr-CA" sz="2000" dirty="0"/>
                        <a:t>Heures MOD</a:t>
                      </a:r>
                    </a:p>
                  </a:txBody>
                  <a:tcPr/>
                </a:tc>
                <a:tc>
                  <a:txBody>
                    <a:bodyPr/>
                    <a:lstStyle/>
                    <a:p>
                      <a:r>
                        <a:rPr lang="fr-CA" sz="2000" dirty="0"/>
                        <a:t>2 </a:t>
                      </a:r>
                      <a:r>
                        <a:rPr lang="fr-CA" sz="2000" dirty="0" err="1"/>
                        <a:t>hrs</a:t>
                      </a:r>
                      <a:endParaRPr lang="fr-CA" sz="2000" dirty="0"/>
                    </a:p>
                  </a:txBody>
                  <a:tcPr/>
                </a:tc>
                <a:tc>
                  <a:txBody>
                    <a:bodyPr/>
                    <a:lstStyle/>
                    <a:p>
                      <a:r>
                        <a:rPr lang="fr-CA" sz="2000" dirty="0"/>
                        <a:t>1 </a:t>
                      </a:r>
                      <a:r>
                        <a:rPr lang="fr-CA" sz="2000" dirty="0" err="1"/>
                        <a:t>hr</a:t>
                      </a:r>
                      <a:endParaRPr lang="fr-CA" sz="2000" dirty="0"/>
                    </a:p>
                  </a:txBody>
                  <a:tcPr/>
                </a:tc>
                <a:extLst>
                  <a:ext uri="{0D108BD9-81ED-4DB2-BD59-A6C34878D82A}">
                    <a16:rowId xmlns:a16="http://schemas.microsoft.com/office/drawing/2014/main" val="1001054917"/>
                  </a:ext>
                </a:extLst>
              </a:tr>
              <a:tr h="370840">
                <a:tc>
                  <a:txBody>
                    <a:bodyPr/>
                    <a:lstStyle/>
                    <a:p>
                      <a:r>
                        <a:rPr lang="fr-CA" sz="2000" dirty="0"/>
                        <a:t>Prix de vente</a:t>
                      </a:r>
                    </a:p>
                  </a:txBody>
                  <a:tcPr/>
                </a:tc>
                <a:tc>
                  <a:txBody>
                    <a:bodyPr/>
                    <a:lstStyle/>
                    <a:p>
                      <a:r>
                        <a:rPr lang="fr-CA" sz="2000"/>
                        <a:t>325 $</a:t>
                      </a:r>
                    </a:p>
                  </a:txBody>
                  <a:tcPr/>
                </a:tc>
                <a:tc>
                  <a:txBody>
                    <a:bodyPr/>
                    <a:lstStyle/>
                    <a:p>
                      <a:r>
                        <a:rPr lang="fr-CA" sz="2000"/>
                        <a:t>250 $</a:t>
                      </a:r>
                    </a:p>
                  </a:txBody>
                  <a:tcPr/>
                </a:tc>
                <a:extLst>
                  <a:ext uri="{0D108BD9-81ED-4DB2-BD59-A6C34878D82A}">
                    <a16:rowId xmlns:a16="http://schemas.microsoft.com/office/drawing/2014/main" val="1108576763"/>
                  </a:ext>
                </a:extLst>
              </a:tr>
              <a:tr h="370840">
                <a:tc>
                  <a:txBody>
                    <a:bodyPr/>
                    <a:lstStyle/>
                    <a:p>
                      <a:r>
                        <a:rPr lang="fr-CA" sz="2000" dirty="0"/>
                        <a:t>Coûts variables</a:t>
                      </a:r>
                    </a:p>
                  </a:txBody>
                  <a:tcPr/>
                </a:tc>
                <a:tc>
                  <a:txBody>
                    <a:bodyPr/>
                    <a:lstStyle/>
                    <a:p>
                      <a:r>
                        <a:rPr lang="fr-CA" sz="2000" u="sng" dirty="0"/>
                        <a:t>175 $</a:t>
                      </a:r>
                    </a:p>
                  </a:txBody>
                  <a:tcPr/>
                </a:tc>
                <a:tc>
                  <a:txBody>
                    <a:bodyPr/>
                    <a:lstStyle/>
                    <a:p>
                      <a:r>
                        <a:rPr lang="fr-CA" sz="2000" u="sng" dirty="0"/>
                        <a:t>130 $</a:t>
                      </a:r>
                    </a:p>
                  </a:txBody>
                  <a:tcPr/>
                </a:tc>
                <a:extLst>
                  <a:ext uri="{0D108BD9-81ED-4DB2-BD59-A6C34878D82A}">
                    <a16:rowId xmlns:a16="http://schemas.microsoft.com/office/drawing/2014/main" val="671937147"/>
                  </a:ext>
                </a:extLst>
              </a:tr>
              <a:tr h="370840">
                <a:tc>
                  <a:txBody>
                    <a:bodyPr/>
                    <a:lstStyle/>
                    <a:p>
                      <a:r>
                        <a:rPr lang="fr-CA" sz="2000" b="1"/>
                        <a:t>Marge sur coûts variables</a:t>
                      </a:r>
                    </a:p>
                  </a:txBody>
                  <a:tcPr/>
                </a:tc>
                <a:tc>
                  <a:txBody>
                    <a:bodyPr/>
                    <a:lstStyle/>
                    <a:p>
                      <a:r>
                        <a:rPr lang="fr-CA" sz="2000" b="1"/>
                        <a:t>150 $</a:t>
                      </a:r>
                    </a:p>
                  </a:txBody>
                  <a:tcPr/>
                </a:tc>
                <a:tc>
                  <a:txBody>
                    <a:bodyPr/>
                    <a:lstStyle/>
                    <a:p>
                      <a:r>
                        <a:rPr lang="fr-CA" sz="2000" b="1" dirty="0"/>
                        <a:t>120 $</a:t>
                      </a:r>
                    </a:p>
                  </a:txBody>
                  <a:tcPr/>
                </a:tc>
                <a:extLst>
                  <a:ext uri="{0D108BD9-81ED-4DB2-BD59-A6C34878D82A}">
                    <a16:rowId xmlns:a16="http://schemas.microsoft.com/office/drawing/2014/main" val="1267955351"/>
                  </a:ext>
                </a:extLst>
              </a:tr>
            </a:tbl>
          </a:graphicData>
        </a:graphic>
      </p:graphicFrame>
      <p:sp>
        <p:nvSpPr>
          <p:cNvPr id="9" name="ZoneTexte 8">
            <a:extLst>
              <a:ext uri="{FF2B5EF4-FFF2-40B4-BE49-F238E27FC236}">
                <a16:creationId xmlns:a16="http://schemas.microsoft.com/office/drawing/2014/main" id="{756F02F0-9204-CE29-298E-82A2FEB30DEC}"/>
              </a:ext>
            </a:extLst>
          </p:cNvPr>
          <p:cNvSpPr txBox="1"/>
          <p:nvPr/>
        </p:nvSpPr>
        <p:spPr>
          <a:xfrm>
            <a:off x="5071872" y="1408021"/>
            <a:ext cx="7120128" cy="2092881"/>
          </a:xfrm>
          <a:prstGeom prst="rect">
            <a:avLst/>
          </a:prstGeom>
          <a:noFill/>
        </p:spPr>
        <p:txBody>
          <a:bodyPr wrap="square">
            <a:spAutoFit/>
          </a:bodyPr>
          <a:lstStyle/>
          <a:p>
            <a:pPr marL="0" indent="0">
              <a:buNone/>
            </a:pPr>
            <a:r>
              <a:rPr lang="fr-CA" sz="2600" dirty="0"/>
              <a:t>Si on souhaite </a:t>
            </a:r>
            <a:r>
              <a:rPr lang="fr-CA" sz="2600" b="1" u="sng" dirty="0"/>
              <a:t>réduire l’impact du manque de capacité (6 000 </a:t>
            </a:r>
            <a:r>
              <a:rPr lang="fr-CA" sz="2600" b="1" u="sng" dirty="0" err="1"/>
              <a:t>hrs</a:t>
            </a:r>
            <a:r>
              <a:rPr lang="fr-CA" sz="2600" b="1" u="sng" dirty="0"/>
              <a:t> MOD) sur notre profit  :</a:t>
            </a:r>
          </a:p>
          <a:p>
            <a:pPr marL="0" indent="0">
              <a:buNone/>
            </a:pPr>
            <a:endParaRPr lang="fr-CA" sz="2600" b="1" u="sng" dirty="0"/>
          </a:p>
          <a:p>
            <a:pPr marL="0" indent="0">
              <a:buNone/>
            </a:pPr>
            <a:r>
              <a:rPr lang="fr-CA" sz="2400" dirty="0"/>
              <a:t>Les 6 000 heures de MOD correspondent à combien d’unités pour chacun des produits ?</a:t>
            </a:r>
          </a:p>
        </p:txBody>
      </p:sp>
    </p:spTree>
    <p:extLst>
      <p:ext uri="{BB962C8B-B14F-4D97-AF65-F5344CB8AC3E}">
        <p14:creationId xmlns:p14="http://schemas.microsoft.com/office/powerpoint/2010/main" val="2359440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8CE5A3-1349-46A6-B630-91AC1E3BFC97}"/>
              </a:ext>
            </a:extLst>
          </p:cNvPr>
          <p:cNvSpPr>
            <a:spLocks noGrp="1"/>
          </p:cNvSpPr>
          <p:nvPr>
            <p:ph type="title"/>
            <p:custDataLst>
              <p:tags r:id="rId1"/>
            </p:custDataLst>
          </p:nvPr>
        </p:nvSpPr>
        <p:spPr/>
        <p:txBody>
          <a:bodyPr>
            <a:normAutofit fontScale="90000"/>
          </a:bodyPr>
          <a:lstStyle/>
          <a:p>
            <a:r>
              <a:rPr lang="fr-CA"/>
              <a:t>La marge par unité d’un </a:t>
            </a:r>
            <a:br>
              <a:rPr lang="fr-CA"/>
            </a:br>
            <a:r>
              <a:rPr lang="fr-CA"/>
              <a:t>facteur de production contraignant</a:t>
            </a:r>
          </a:p>
        </p:txBody>
      </p:sp>
      <p:sp>
        <p:nvSpPr>
          <p:cNvPr id="3" name="Espace réservé du contenu 2">
            <a:extLst>
              <a:ext uri="{FF2B5EF4-FFF2-40B4-BE49-F238E27FC236}">
                <a16:creationId xmlns:a16="http://schemas.microsoft.com/office/drawing/2014/main" id="{4F7E5AF8-1AFF-49A9-A175-A3101B55008F}"/>
              </a:ext>
            </a:extLst>
          </p:cNvPr>
          <p:cNvSpPr>
            <a:spLocks noGrp="1"/>
          </p:cNvSpPr>
          <p:nvPr>
            <p:ph idx="1"/>
            <p:custDataLst>
              <p:tags r:id="rId2"/>
            </p:custDataLst>
          </p:nvPr>
        </p:nvSpPr>
        <p:spPr>
          <a:xfrm>
            <a:off x="838200" y="1483360"/>
            <a:ext cx="10515600" cy="5214051"/>
          </a:xfrm>
        </p:spPr>
        <p:txBody>
          <a:bodyPr vert="horz" lIns="91440" tIns="45720" rIns="91440" bIns="45720" rtlCol="0" anchor="t">
            <a:normAutofit/>
          </a:bodyPr>
          <a:lstStyle/>
          <a:p>
            <a:r>
              <a:rPr lang="fr-CA"/>
              <a:t>Marge utilisée dans </a:t>
            </a:r>
            <a:r>
              <a:rPr lang="fr-CA">
                <a:cs typeface="Calibri"/>
              </a:rPr>
              <a:t>une situation où il existe </a:t>
            </a:r>
            <a:r>
              <a:rPr lang="fr-CA" b="1">
                <a:cs typeface="Calibri"/>
              </a:rPr>
              <a:t>plusieurs produits </a:t>
            </a:r>
            <a:r>
              <a:rPr lang="fr-CA">
                <a:cs typeface="Calibri"/>
              </a:rPr>
              <a:t>et où l'entreprise dispose d’une </a:t>
            </a:r>
            <a:r>
              <a:rPr lang="fr-CA" b="1">
                <a:cs typeface="Calibri"/>
              </a:rPr>
              <a:t>ressource limitée </a:t>
            </a:r>
            <a:r>
              <a:rPr lang="fr-CA">
                <a:cs typeface="Calibri"/>
              </a:rPr>
              <a:t>en matière de production (capacité de production </a:t>
            </a:r>
            <a:r>
              <a:rPr lang="fr-CA"/>
              <a:t>limitée)</a:t>
            </a:r>
          </a:p>
          <a:p>
            <a:r>
              <a:rPr lang="fr-CA"/>
              <a:t>Marge par facteur de production (formule générale) :</a:t>
            </a:r>
          </a:p>
          <a:p>
            <a:pPr marL="0" indent="0">
              <a:buNone/>
            </a:pPr>
            <a:endParaRPr lang="fr-CA">
              <a:cs typeface="Calibri"/>
            </a:endParaRPr>
          </a:p>
          <a:p>
            <a:pPr marL="0" indent="0">
              <a:buNone/>
            </a:pPr>
            <a:endParaRPr lang="fr-CA">
              <a:cs typeface="Calibri"/>
            </a:endParaRPr>
          </a:p>
          <a:p>
            <a:r>
              <a:rPr lang="fr-CA">
                <a:cs typeface="Calibri"/>
              </a:rPr>
              <a:t>Les facteurs de production sont les ressources utilisées pour la production. (kg de MP, heures de MOD, heures- machine, etc.)</a:t>
            </a:r>
            <a:endParaRPr lang="fr-CA"/>
          </a:p>
          <a:p>
            <a:r>
              <a:rPr lang="fr-CA"/>
              <a:t>Dans ce cas, d’un point de vue quantitatif, le produit qui rapporte la plus grande marge par unité du facteur de production contraignant est celui qui sera favorisé pour optimiser le résultat.</a:t>
            </a:r>
          </a:p>
        </p:txBody>
      </p:sp>
      <p:sp>
        <p:nvSpPr>
          <p:cNvPr id="4" name="Rectangle 3">
            <a:extLst>
              <a:ext uri="{FF2B5EF4-FFF2-40B4-BE49-F238E27FC236}">
                <a16:creationId xmlns:a16="http://schemas.microsoft.com/office/drawing/2014/main" id="{D0E31D35-AA30-E3EE-7DEE-053B97458E91}"/>
              </a:ext>
            </a:extLst>
          </p:cNvPr>
          <p:cNvSpPr/>
          <p:nvPr>
            <p:custDataLst>
              <p:tags r:id="rId3"/>
            </p:custDataLst>
          </p:nvPr>
        </p:nvSpPr>
        <p:spPr>
          <a:xfrm>
            <a:off x="1219670" y="3247000"/>
            <a:ext cx="7782568" cy="9678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a:solidFill>
                  <a:schemeClr val="tx1"/>
                </a:solidFill>
              </a:rPr>
              <a:t>Marge sur coûts variables du produit   </a:t>
            </a:r>
          </a:p>
          <a:p>
            <a:pPr algn="ctr"/>
            <a:r>
              <a:rPr lang="fr-CA" sz="2400" b="1">
                <a:solidFill>
                  <a:schemeClr val="tx1"/>
                </a:solidFill>
              </a:rPr>
              <a:t>Nombre d’unités requises de ce facteur de production</a:t>
            </a:r>
          </a:p>
        </p:txBody>
      </p:sp>
      <p:cxnSp>
        <p:nvCxnSpPr>
          <p:cNvPr id="6" name="Connecteur droit 5">
            <a:extLst>
              <a:ext uri="{FF2B5EF4-FFF2-40B4-BE49-F238E27FC236}">
                <a16:creationId xmlns:a16="http://schemas.microsoft.com/office/drawing/2014/main" id="{B560CBB4-DF3B-FE96-1353-7DD78B67AD29}"/>
              </a:ext>
            </a:extLst>
          </p:cNvPr>
          <p:cNvCxnSpPr/>
          <p:nvPr>
            <p:custDataLst>
              <p:tags r:id="rId4"/>
            </p:custDataLst>
          </p:nvPr>
        </p:nvCxnSpPr>
        <p:spPr>
          <a:xfrm>
            <a:off x="1728216" y="3758184"/>
            <a:ext cx="6784848" cy="0"/>
          </a:xfrm>
          <a:prstGeom prst="line">
            <a:avLst/>
          </a:prstGeom>
        </p:spPr>
        <p:style>
          <a:lnRef idx="1">
            <a:schemeClr val="dk1"/>
          </a:lnRef>
          <a:fillRef idx="0">
            <a:schemeClr val="dk1"/>
          </a:fillRef>
          <a:effectRef idx="0">
            <a:schemeClr val="dk1"/>
          </a:effectRef>
          <a:fontRef idx="minor">
            <a:schemeClr val="tx1"/>
          </a:fontRef>
        </p:style>
      </p:cxnSp>
      <p:sp>
        <p:nvSpPr>
          <p:cNvPr id="5" name="Espace réservé du pied de page 3">
            <a:extLst>
              <a:ext uri="{FF2B5EF4-FFF2-40B4-BE49-F238E27FC236}">
                <a16:creationId xmlns:a16="http://schemas.microsoft.com/office/drawing/2014/main" id="{68AE61EC-1DE6-A182-7368-C80A79DCA901}"/>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F34E32E4-A731-8D7B-4FAA-1F173117D0F2}"/>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22</a:t>
            </a:fld>
            <a:endParaRPr lang="fr-CA">
              <a:solidFill>
                <a:prstClr val="black">
                  <a:tint val="75000"/>
                </a:prstClr>
              </a:solidFill>
            </a:endParaRPr>
          </a:p>
        </p:txBody>
      </p:sp>
    </p:spTree>
    <p:extLst>
      <p:ext uri="{BB962C8B-B14F-4D97-AF65-F5344CB8AC3E}">
        <p14:creationId xmlns:p14="http://schemas.microsoft.com/office/powerpoint/2010/main" val="229737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custDataLst>
              <p:tags r:id="rId2"/>
            </p:custDataLst>
          </p:nvPr>
        </p:nvSpPr>
        <p:spPr>
          <a:xfrm>
            <a:off x="838200" y="160589"/>
            <a:ext cx="10632016" cy="1042570"/>
          </a:xfrm>
        </p:spPr>
        <p:txBody>
          <a:bodyPr vert="horz" anchor="ctr">
            <a:noAutofit/>
          </a:bodyPr>
          <a:lstStyle/>
          <a:p>
            <a:r>
              <a:rPr lang="fr-CA" sz="4000"/>
              <a:t>La marge par unité d’un facteur de production contraignant</a:t>
            </a:r>
          </a:p>
        </p:txBody>
      </p:sp>
      <p:sp>
        <p:nvSpPr>
          <p:cNvPr id="7" name="Espace réservé du contenu 6"/>
          <p:cNvSpPr>
            <a:spLocks noGrp="1"/>
          </p:cNvSpPr>
          <p:nvPr>
            <p:ph idx="1"/>
            <p:custDataLst>
              <p:tags r:id="rId3"/>
            </p:custDataLst>
          </p:nvPr>
        </p:nvSpPr>
        <p:spPr>
          <a:xfrm>
            <a:off x="838200" y="1524000"/>
            <a:ext cx="10045995" cy="4717585"/>
          </a:xfrm>
        </p:spPr>
        <p:txBody>
          <a:bodyPr>
            <a:normAutofit/>
          </a:bodyPr>
          <a:lstStyle/>
          <a:p>
            <a:r>
              <a:rPr lang="fr-CA"/>
              <a:t>Marge par facteur de production (formule générale) </a:t>
            </a:r>
          </a:p>
          <a:p>
            <a:endParaRPr lang="fr-CA"/>
          </a:p>
          <a:p>
            <a:endParaRPr lang="fr-CA"/>
          </a:p>
          <a:p>
            <a:pPr marL="0" indent="0">
              <a:buNone/>
            </a:pPr>
            <a:endParaRPr lang="fr-CA"/>
          </a:p>
          <a:p>
            <a:endParaRPr lang="fr-CA"/>
          </a:p>
          <a:p>
            <a:pPr marL="0" indent="0">
              <a:buNone/>
            </a:pPr>
            <a:endParaRPr lang="fr-CA"/>
          </a:p>
        </p:txBody>
      </p:sp>
      <p:graphicFrame>
        <p:nvGraphicFramePr>
          <p:cNvPr id="3" name="Tableau 4">
            <a:extLst>
              <a:ext uri="{FF2B5EF4-FFF2-40B4-BE49-F238E27FC236}">
                <a16:creationId xmlns:a16="http://schemas.microsoft.com/office/drawing/2014/main" id="{4D9E0545-457A-5E83-B5C7-66509F4CDEAD}"/>
              </a:ext>
            </a:extLst>
          </p:cNvPr>
          <p:cNvGraphicFramePr>
            <a:graphicFrameLocks noGrp="1"/>
          </p:cNvGraphicFramePr>
          <p:nvPr>
            <p:custDataLst>
              <p:tags r:id="rId4"/>
            </p:custDataLst>
            <p:extLst>
              <p:ext uri="{D42A27DB-BD31-4B8C-83A1-F6EECF244321}">
                <p14:modId xmlns:p14="http://schemas.microsoft.com/office/powerpoint/2010/main" val="3893650880"/>
              </p:ext>
            </p:extLst>
          </p:nvPr>
        </p:nvGraphicFramePr>
        <p:xfrm>
          <a:off x="1073532" y="2273044"/>
          <a:ext cx="8698428" cy="2950726"/>
        </p:xfrm>
        <a:graphic>
          <a:graphicData uri="http://schemas.openxmlformats.org/drawingml/2006/table">
            <a:tbl>
              <a:tblPr firstRow="1" bandRow="1">
                <a:tableStyleId>{BDBED569-4797-4DF1-A0F4-6AAB3CD982D8}</a:tableStyleId>
              </a:tblPr>
              <a:tblGrid>
                <a:gridCol w="4137446">
                  <a:extLst>
                    <a:ext uri="{9D8B030D-6E8A-4147-A177-3AD203B41FA5}">
                      <a16:colId xmlns:a16="http://schemas.microsoft.com/office/drawing/2014/main" val="2783611626"/>
                    </a:ext>
                  </a:extLst>
                </a:gridCol>
                <a:gridCol w="2258458">
                  <a:extLst>
                    <a:ext uri="{9D8B030D-6E8A-4147-A177-3AD203B41FA5}">
                      <a16:colId xmlns:a16="http://schemas.microsoft.com/office/drawing/2014/main" val="962317974"/>
                    </a:ext>
                  </a:extLst>
                </a:gridCol>
                <a:gridCol w="2302524">
                  <a:extLst>
                    <a:ext uri="{9D8B030D-6E8A-4147-A177-3AD203B41FA5}">
                      <a16:colId xmlns:a16="http://schemas.microsoft.com/office/drawing/2014/main" val="1486159043"/>
                    </a:ext>
                  </a:extLst>
                </a:gridCol>
              </a:tblGrid>
              <a:tr h="370840">
                <a:tc>
                  <a:txBody>
                    <a:bodyPr/>
                    <a:lstStyle/>
                    <a:p>
                      <a:endParaRPr lang="fr-CA" sz="2400"/>
                    </a:p>
                  </a:txBody>
                  <a:tcPr/>
                </a:tc>
                <a:tc>
                  <a:txBody>
                    <a:bodyPr/>
                    <a:lstStyle/>
                    <a:p>
                      <a:r>
                        <a:rPr lang="fr-CA" sz="2400"/>
                        <a:t>Néons</a:t>
                      </a:r>
                    </a:p>
                  </a:txBody>
                  <a:tcPr/>
                </a:tc>
                <a:tc>
                  <a:txBody>
                    <a:bodyPr/>
                    <a:lstStyle/>
                    <a:p>
                      <a:r>
                        <a:rPr lang="fr-CA" sz="2400"/>
                        <a:t>Ampoules</a:t>
                      </a:r>
                    </a:p>
                  </a:txBody>
                  <a:tcPr/>
                </a:tc>
                <a:extLst>
                  <a:ext uri="{0D108BD9-81ED-4DB2-BD59-A6C34878D82A}">
                    <a16:rowId xmlns:a16="http://schemas.microsoft.com/office/drawing/2014/main" val="1284534325"/>
                  </a:ext>
                </a:extLst>
              </a:tr>
              <a:tr h="370840">
                <a:tc>
                  <a:txBody>
                    <a:bodyPr/>
                    <a:lstStyle/>
                    <a:p>
                      <a:r>
                        <a:rPr lang="fr-CA" sz="2400"/>
                        <a:t>Prix de vente</a:t>
                      </a:r>
                    </a:p>
                  </a:txBody>
                  <a:tcPr/>
                </a:tc>
                <a:tc>
                  <a:txBody>
                    <a:bodyPr/>
                    <a:lstStyle/>
                    <a:p>
                      <a:r>
                        <a:rPr lang="fr-CA" sz="2400"/>
                        <a:t>325 $</a:t>
                      </a:r>
                    </a:p>
                  </a:txBody>
                  <a:tcPr/>
                </a:tc>
                <a:tc>
                  <a:txBody>
                    <a:bodyPr/>
                    <a:lstStyle/>
                    <a:p>
                      <a:r>
                        <a:rPr lang="fr-CA" sz="2400"/>
                        <a:t>250 $</a:t>
                      </a:r>
                    </a:p>
                  </a:txBody>
                  <a:tcPr/>
                </a:tc>
                <a:extLst>
                  <a:ext uri="{0D108BD9-81ED-4DB2-BD59-A6C34878D82A}">
                    <a16:rowId xmlns:a16="http://schemas.microsoft.com/office/drawing/2014/main" val="1108576763"/>
                  </a:ext>
                </a:extLst>
              </a:tr>
              <a:tr h="370840">
                <a:tc>
                  <a:txBody>
                    <a:bodyPr/>
                    <a:lstStyle/>
                    <a:p>
                      <a:r>
                        <a:rPr lang="fr-CA" sz="2400"/>
                        <a:t>Moins : Coûts variables</a:t>
                      </a:r>
                    </a:p>
                  </a:txBody>
                  <a:tcPr/>
                </a:tc>
                <a:tc>
                  <a:txBody>
                    <a:bodyPr/>
                    <a:lstStyle/>
                    <a:p>
                      <a:r>
                        <a:rPr lang="fr-CA" sz="2400" u="sng"/>
                        <a:t>175 $</a:t>
                      </a:r>
                    </a:p>
                  </a:txBody>
                  <a:tcPr/>
                </a:tc>
                <a:tc>
                  <a:txBody>
                    <a:bodyPr/>
                    <a:lstStyle/>
                    <a:p>
                      <a:r>
                        <a:rPr lang="fr-CA" sz="2400" u="sng"/>
                        <a:t>130 $</a:t>
                      </a:r>
                    </a:p>
                  </a:txBody>
                  <a:tcPr/>
                </a:tc>
                <a:extLst>
                  <a:ext uri="{0D108BD9-81ED-4DB2-BD59-A6C34878D82A}">
                    <a16:rowId xmlns:a16="http://schemas.microsoft.com/office/drawing/2014/main" val="671937147"/>
                  </a:ext>
                </a:extLst>
              </a:tr>
              <a:tr h="370840">
                <a:tc>
                  <a:txBody>
                    <a:bodyPr/>
                    <a:lstStyle/>
                    <a:p>
                      <a:r>
                        <a:rPr lang="fr-CA" sz="2400" b="1"/>
                        <a:t>Marge sur coûts variables</a:t>
                      </a:r>
                    </a:p>
                  </a:txBody>
                  <a:tcPr/>
                </a:tc>
                <a:tc>
                  <a:txBody>
                    <a:bodyPr/>
                    <a:lstStyle/>
                    <a:p>
                      <a:r>
                        <a:rPr lang="fr-CA" sz="2400" b="1"/>
                        <a:t>150 $</a:t>
                      </a:r>
                    </a:p>
                  </a:txBody>
                  <a:tcPr/>
                </a:tc>
                <a:tc>
                  <a:txBody>
                    <a:bodyPr/>
                    <a:lstStyle/>
                    <a:p>
                      <a:r>
                        <a:rPr lang="fr-CA" sz="2400" b="1"/>
                        <a:t>120 $</a:t>
                      </a:r>
                    </a:p>
                  </a:txBody>
                  <a:tcPr/>
                </a:tc>
                <a:extLst>
                  <a:ext uri="{0D108BD9-81ED-4DB2-BD59-A6C34878D82A}">
                    <a16:rowId xmlns:a16="http://schemas.microsoft.com/office/drawing/2014/main" val="1267955351"/>
                  </a:ext>
                </a:extLst>
              </a:tr>
              <a:tr h="370840">
                <a:tc>
                  <a:txBody>
                    <a:bodyPr/>
                    <a:lstStyle/>
                    <a:p>
                      <a:r>
                        <a:rPr lang="fr-CA" sz="2400" b="0"/>
                        <a:t>Heures de MOD par unité</a:t>
                      </a:r>
                    </a:p>
                  </a:txBody>
                  <a:tcPr/>
                </a:tc>
                <a:tc>
                  <a:txBody>
                    <a:bodyPr/>
                    <a:lstStyle/>
                    <a:p>
                      <a:r>
                        <a:rPr lang="fr-CA" sz="2400" b="0" dirty="0"/>
                        <a:t>÷  2 h</a:t>
                      </a:r>
                    </a:p>
                  </a:txBody>
                  <a:tcPr/>
                </a:tc>
                <a:tc>
                  <a:txBody>
                    <a:bodyPr/>
                    <a:lstStyle/>
                    <a:p>
                      <a:r>
                        <a:rPr lang="fr-CA" sz="2400" b="0"/>
                        <a:t>÷ 1 h</a:t>
                      </a:r>
                    </a:p>
                  </a:txBody>
                  <a:tcPr/>
                </a:tc>
                <a:extLst>
                  <a:ext uri="{0D108BD9-81ED-4DB2-BD59-A6C34878D82A}">
                    <a16:rowId xmlns:a16="http://schemas.microsoft.com/office/drawing/2014/main" val="3552804354"/>
                  </a:ext>
                </a:extLst>
              </a:tr>
              <a:tr h="664726">
                <a:tc>
                  <a:txBody>
                    <a:bodyPr/>
                    <a:lstStyle/>
                    <a:p>
                      <a:r>
                        <a:rPr lang="fr-CA" sz="2400" b="1"/>
                        <a:t>MCV par facteur de production</a:t>
                      </a:r>
                    </a:p>
                  </a:txBody>
                  <a:tcPr/>
                </a:tc>
                <a:tc>
                  <a:txBody>
                    <a:bodyPr/>
                    <a:lstStyle/>
                    <a:p>
                      <a:endParaRPr lang="fr-CA" sz="2400" b="0"/>
                    </a:p>
                  </a:txBody>
                  <a:tcPr/>
                </a:tc>
                <a:tc>
                  <a:txBody>
                    <a:bodyPr/>
                    <a:lstStyle/>
                    <a:p>
                      <a:endParaRPr lang="fr-CA" sz="2400" b="0" dirty="0"/>
                    </a:p>
                  </a:txBody>
                  <a:tcPr/>
                </a:tc>
                <a:extLst>
                  <a:ext uri="{0D108BD9-81ED-4DB2-BD59-A6C34878D82A}">
                    <a16:rowId xmlns:a16="http://schemas.microsoft.com/office/drawing/2014/main" val="1470363188"/>
                  </a:ext>
                </a:extLst>
              </a:tr>
            </a:tbl>
          </a:graphicData>
        </a:graphic>
      </p:graphicFrame>
      <p:sp>
        <p:nvSpPr>
          <p:cNvPr id="9" name="ZoneTexte 8">
            <a:extLst>
              <a:ext uri="{FF2B5EF4-FFF2-40B4-BE49-F238E27FC236}">
                <a16:creationId xmlns:a16="http://schemas.microsoft.com/office/drawing/2014/main" id="{DDD953F5-51E3-1CAB-9C02-3F5A5C5D9C10}"/>
              </a:ext>
            </a:extLst>
          </p:cNvPr>
          <p:cNvSpPr txBox="1"/>
          <p:nvPr>
            <p:custDataLst>
              <p:tags r:id="rId5"/>
            </p:custDataLst>
          </p:nvPr>
        </p:nvSpPr>
        <p:spPr>
          <a:xfrm>
            <a:off x="1073532" y="5511149"/>
            <a:ext cx="10396684" cy="830997"/>
          </a:xfrm>
          <a:prstGeom prst="rect">
            <a:avLst/>
          </a:prstGeom>
          <a:noFill/>
        </p:spPr>
        <p:txBody>
          <a:bodyPr wrap="square">
            <a:spAutoFit/>
          </a:bodyPr>
          <a:lstStyle/>
          <a:p>
            <a:r>
              <a:rPr lang="fr-CA" sz="2400"/>
              <a:t>Il faut prioriser le produit avec la marge sur coûts variables par facteur de production contraignant (MCV/heure de MOD) la plus élevée. </a:t>
            </a:r>
          </a:p>
        </p:txBody>
      </p:sp>
      <p:sp>
        <p:nvSpPr>
          <p:cNvPr id="2" name="Espace réservé du pied de page 3">
            <a:extLst>
              <a:ext uri="{FF2B5EF4-FFF2-40B4-BE49-F238E27FC236}">
                <a16:creationId xmlns:a16="http://schemas.microsoft.com/office/drawing/2014/main" id="{1E3D6CCD-5D6C-2DEA-B1E4-FDFBB5C657EB}"/>
              </a:ext>
            </a:extLst>
          </p:cNvPr>
          <p:cNvSpPr>
            <a:spLocks noGrp="1"/>
          </p:cNvSpPr>
          <p:nvPr>
            <p:ph type="ftr" sz="quarter" idx="11"/>
            <p:custDataLst>
              <p:tags r:id="rId6"/>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D33277C9-3D5B-8C64-344D-E14AD69B8A32}"/>
              </a:ext>
            </a:extLst>
          </p:cNvPr>
          <p:cNvSpPr>
            <a:spLocks noGrp="1"/>
          </p:cNvSpPr>
          <p:nvPr>
            <p:ph type="sldNum" sz="quarter" idx="12"/>
            <p:custDataLst>
              <p:tags r:id="rId7"/>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23</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1460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9543-B8D6-B672-DBCC-9B3BE59A73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A53D0E-2C4B-1F00-F3E3-6BFEF35A7C2E}"/>
              </a:ext>
            </a:extLst>
          </p:cNvPr>
          <p:cNvSpPr>
            <a:spLocks noGrp="1"/>
          </p:cNvSpPr>
          <p:nvPr>
            <p:ph type="title"/>
            <p:custDataLst>
              <p:tags r:id="rId1"/>
            </p:custDataLst>
          </p:nvPr>
        </p:nvSpPr>
        <p:spPr/>
        <p:txBody>
          <a:bodyPr>
            <a:normAutofit fontScale="90000"/>
          </a:bodyPr>
          <a:lstStyle/>
          <a:p>
            <a:r>
              <a:rPr kumimoji="0" lang="fr-CA" sz="4000" i="0" u="none" strike="noStrike" kern="1200" cap="none" spc="0" normalizeH="0" baseline="0" noProof="0" dirty="0">
                <a:ln>
                  <a:noFill/>
                </a:ln>
                <a:solidFill>
                  <a:prstClr val="black"/>
                </a:solidFill>
                <a:effectLst/>
                <a:uLnTx/>
                <a:uFillTx/>
                <a:latin typeface="Calibri Light" panose="020F0302020204030204"/>
                <a:ea typeface="+mn-ea"/>
                <a:cs typeface="+mn-cs"/>
              </a:rPr>
              <a:t>Établir le plan de production optimal </a:t>
            </a:r>
            <a:r>
              <a:rPr kumimoji="0" lang="fr-CA" sz="3200" i="0" u="none" strike="noStrike" kern="1200" cap="none" spc="0" normalizeH="0" baseline="0" noProof="0" dirty="0">
                <a:ln>
                  <a:noFill/>
                </a:ln>
                <a:effectLst/>
                <a:uLnTx/>
                <a:uFillTx/>
                <a:latin typeface="Calibri Light" panose="020F0302020204030204"/>
                <a:ea typeface="+mn-ea"/>
                <a:cs typeface="+mn-cs"/>
              </a:rPr>
              <a:t>(en unités) </a:t>
            </a:r>
            <a:br>
              <a:rPr kumimoji="0" lang="fr-CA" sz="3200" i="0" u="none" strike="noStrike" kern="1200" cap="none" spc="0" normalizeH="0" baseline="0" noProof="0" dirty="0">
                <a:ln>
                  <a:noFill/>
                </a:ln>
                <a:effectLst/>
                <a:uLnTx/>
                <a:uFillTx/>
                <a:latin typeface="Calibri Light" panose="020F0302020204030204"/>
                <a:ea typeface="+mn-ea"/>
                <a:cs typeface="+mn-cs"/>
              </a:rPr>
            </a:br>
            <a:r>
              <a:rPr kumimoji="0" lang="fr-CA" sz="3200" i="0" u="none" strike="noStrike" kern="1200" cap="none" spc="0" normalizeH="0" baseline="0" noProof="0" dirty="0">
                <a:ln>
                  <a:noFill/>
                </a:ln>
                <a:effectLst/>
                <a:uLnTx/>
                <a:uFillTx/>
                <a:latin typeface="Calibri Light" panose="020F0302020204030204"/>
                <a:ea typeface="+mn-ea"/>
                <a:cs typeface="+mn-cs"/>
              </a:rPr>
              <a:t>pour maximiser le résultat d’exploitation</a:t>
            </a:r>
            <a:endParaRPr lang="fr-CA" dirty="0"/>
          </a:p>
        </p:txBody>
      </p:sp>
      <p:sp>
        <p:nvSpPr>
          <p:cNvPr id="7" name="Bulle narrative : rectangle à coins arrondis 6">
            <a:extLst>
              <a:ext uri="{FF2B5EF4-FFF2-40B4-BE49-F238E27FC236}">
                <a16:creationId xmlns:a16="http://schemas.microsoft.com/office/drawing/2014/main" id="{5D9FC6F1-B52E-41DB-7A71-90EAA795AB62}"/>
              </a:ext>
            </a:extLst>
          </p:cNvPr>
          <p:cNvSpPr/>
          <p:nvPr>
            <p:custDataLst>
              <p:tags r:id="rId2"/>
            </p:custDataLst>
          </p:nvPr>
        </p:nvSpPr>
        <p:spPr>
          <a:xfrm>
            <a:off x="10593452" y="3709686"/>
            <a:ext cx="1520695" cy="1141085"/>
          </a:xfrm>
          <a:prstGeom prst="wedgeRoundRectCallout">
            <a:avLst>
              <a:gd name="adj1" fmla="val -61541"/>
              <a:gd name="adj2" fmla="val 292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CA" sz="1600" dirty="0"/>
              <a:t>3 000 boîtes de néons ne seront pas produites</a:t>
            </a:r>
          </a:p>
        </p:txBody>
      </p:sp>
      <p:graphicFrame>
        <p:nvGraphicFramePr>
          <p:cNvPr id="8" name="Tableau 7">
            <a:extLst>
              <a:ext uri="{FF2B5EF4-FFF2-40B4-BE49-F238E27FC236}">
                <a16:creationId xmlns:a16="http://schemas.microsoft.com/office/drawing/2014/main" id="{684A75FF-3C43-818D-B2E2-EE84CB07263E}"/>
              </a:ext>
            </a:extLst>
          </p:cNvPr>
          <p:cNvGraphicFramePr>
            <a:graphicFrameLocks noGrp="1"/>
          </p:cNvGraphicFramePr>
          <p:nvPr>
            <p:custDataLst>
              <p:tags r:id="rId3"/>
            </p:custDataLst>
            <p:extLst>
              <p:ext uri="{D42A27DB-BD31-4B8C-83A1-F6EECF244321}">
                <p14:modId xmlns:p14="http://schemas.microsoft.com/office/powerpoint/2010/main" val="3415166100"/>
              </p:ext>
            </p:extLst>
          </p:nvPr>
        </p:nvGraphicFramePr>
        <p:xfrm>
          <a:off x="437618" y="1580316"/>
          <a:ext cx="10346646" cy="3267914"/>
        </p:xfrm>
        <a:graphic>
          <a:graphicData uri="http://schemas.openxmlformats.org/drawingml/2006/table">
            <a:tbl>
              <a:tblPr firstRow="1" firstCol="1" bandRow="1">
                <a:tableStyleId>{2D5ABB26-0587-4C30-8999-92F81FD0307C}</a:tableStyleId>
              </a:tblPr>
              <a:tblGrid>
                <a:gridCol w="6151718">
                  <a:extLst>
                    <a:ext uri="{9D8B030D-6E8A-4147-A177-3AD203B41FA5}">
                      <a16:colId xmlns:a16="http://schemas.microsoft.com/office/drawing/2014/main" val="2074495121"/>
                    </a:ext>
                  </a:extLst>
                </a:gridCol>
                <a:gridCol w="4194928">
                  <a:extLst>
                    <a:ext uri="{9D8B030D-6E8A-4147-A177-3AD203B41FA5}">
                      <a16:colId xmlns:a16="http://schemas.microsoft.com/office/drawing/2014/main" val="1371522335"/>
                    </a:ext>
                  </a:extLst>
                </a:gridCol>
              </a:tblGrid>
              <a:tr h="204407">
                <a:tc>
                  <a:txBody>
                    <a:bodyPr/>
                    <a:lstStyle/>
                    <a:p>
                      <a:pPr algn="l">
                        <a:lnSpc>
                          <a:spcPct val="107000"/>
                        </a:lnSpc>
                        <a:spcAft>
                          <a:spcPts val="0"/>
                        </a:spcAft>
                      </a:pPr>
                      <a:r>
                        <a:rPr lang="fr-CA" sz="2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Heures totales disponibles (facteur contraignant)</a:t>
                      </a:r>
                    </a:p>
                  </a:txBody>
                  <a:tcPr marL="44450" marR="44450" marT="0" marB="0" anchor="b"/>
                </a:tc>
                <a:tc>
                  <a:txBody>
                    <a:bodyPr/>
                    <a:lstStyle/>
                    <a:p>
                      <a:pPr algn="ctr">
                        <a:lnSpc>
                          <a:spcPct val="107000"/>
                        </a:lnSpc>
                        <a:spcAft>
                          <a:spcPts val="0"/>
                        </a:spcAft>
                      </a:pPr>
                      <a:r>
                        <a:rPr lang="fr-CA"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240 000 heures</a:t>
                      </a:r>
                    </a:p>
                  </a:txBody>
                  <a:tcPr marL="44450" marR="44450" marT="0" marB="0" anchor="b">
                    <a:lnB w="28575" cap="flat" cmpd="sng" algn="ctr">
                      <a:noFill/>
                      <a:prstDash val="solid"/>
                      <a:round/>
                      <a:headEnd type="none" w="med" len="med"/>
                      <a:tailEnd type="none" w="med" len="med"/>
                    </a:lnB>
                  </a:tcPr>
                </a:tc>
                <a:extLst>
                  <a:ext uri="{0D108BD9-81ED-4DB2-BD59-A6C34878D82A}">
                    <a16:rowId xmlns:a16="http://schemas.microsoft.com/office/drawing/2014/main" val="2306678996"/>
                  </a:ext>
                </a:extLst>
              </a:tr>
              <a:tr h="459075">
                <a:tc>
                  <a:txBody>
                    <a:bodyPr/>
                    <a:lstStyle/>
                    <a:p>
                      <a:pPr algn="just">
                        <a:lnSpc>
                          <a:spcPct val="107000"/>
                        </a:lnSpc>
                        <a:spcAft>
                          <a:spcPts val="0"/>
                        </a:spcAft>
                      </a:pPr>
                      <a:endParaRPr lang="fr-CA" sz="2200" b="0" dirty="0">
                        <a:effectLst/>
                      </a:endParaRPr>
                    </a:p>
                    <a:p>
                      <a:pPr algn="just">
                        <a:lnSpc>
                          <a:spcPct val="107000"/>
                        </a:lnSpc>
                        <a:spcAft>
                          <a:spcPts val="0"/>
                        </a:spcAft>
                      </a:pPr>
                      <a:r>
                        <a:rPr lang="fr-CA" sz="2200" b="0" dirty="0">
                          <a:effectLst/>
                        </a:rPr>
                        <a:t>Heures pour produire </a:t>
                      </a:r>
                      <a:r>
                        <a:rPr lang="fr-CA" sz="2200" b="1" dirty="0">
                          <a:effectLst/>
                        </a:rPr>
                        <a:t>164 000 ampoules</a:t>
                      </a:r>
                    </a:p>
                    <a:p>
                      <a:pPr algn="just">
                        <a:lnSpc>
                          <a:spcPct val="107000"/>
                        </a:lnSpc>
                        <a:spcAft>
                          <a:spcPts val="0"/>
                        </a:spcAft>
                      </a:pPr>
                      <a:r>
                        <a:rPr lang="fr-CA" sz="2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(max de la demande)</a:t>
                      </a:r>
                    </a:p>
                  </a:txBody>
                  <a:tcPr marL="44450" marR="44450" marT="0" marB="0" anchor="b">
                    <a:lnR>
                      <a:noFill/>
                    </a:lnR>
                  </a:tcPr>
                </a:tc>
                <a:tc>
                  <a:txBody>
                    <a:bodyPr/>
                    <a:lstStyle/>
                    <a:p>
                      <a:pPr marL="0" algn="ctr" defTabSz="914400" rtl="0" eaLnBrk="1" latinLnBrk="0" hangingPunct="1">
                        <a:lnSpc>
                          <a:spcPct val="107000"/>
                        </a:lnSpc>
                        <a:spcAft>
                          <a:spcPts val="0"/>
                        </a:spcAft>
                      </a:pPr>
                      <a:endParaRPr lang="fr-CA" sz="2400" b="1" kern="120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285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409336"/>
                  </a:ext>
                </a:extLst>
              </a:tr>
              <a:tr h="631598">
                <a:tc>
                  <a:txBody>
                    <a:bodyPr/>
                    <a:lstStyle/>
                    <a:p>
                      <a:pPr algn="just">
                        <a:lnSpc>
                          <a:spcPct val="107000"/>
                        </a:lnSpc>
                        <a:spcAft>
                          <a:spcPts val="0"/>
                        </a:spcAft>
                      </a:pPr>
                      <a:r>
                        <a:rPr lang="fr-CA" sz="2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Heures disponibles pour produire les néons</a:t>
                      </a:r>
                    </a:p>
                  </a:txBody>
                  <a:tcPr marL="44450" marR="44450" marT="0" marB="0" anchor="b">
                    <a:lnR>
                      <a:noFill/>
                    </a:lnR>
                    <a:lnB>
                      <a:noFill/>
                    </a:lnB>
                  </a:tcPr>
                </a:tc>
                <a:tc>
                  <a:txBody>
                    <a:bodyPr/>
                    <a:lstStyle/>
                    <a:p>
                      <a:pPr algn="ctr">
                        <a:lnSpc>
                          <a:spcPct val="107000"/>
                        </a:lnSpc>
                        <a:spcAft>
                          <a:spcPts val="0"/>
                        </a:spcAft>
                      </a:pPr>
                      <a:endParaRPr lang="fr-CA" sz="2400" b="1">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2351636"/>
                  </a:ext>
                </a:extLst>
              </a:tr>
              <a:tr h="1201851">
                <a:tc>
                  <a:txBody>
                    <a:bodyPr/>
                    <a:lstStyle/>
                    <a:p>
                      <a:pPr algn="just">
                        <a:lnSpc>
                          <a:spcPct val="107000"/>
                        </a:lnSpc>
                        <a:spcAft>
                          <a:spcPts val="0"/>
                        </a:spcAft>
                      </a:pPr>
                      <a:r>
                        <a:rPr lang="fr-CA" sz="2200" b="0" dirty="0">
                          <a:solidFill>
                            <a:schemeClr val="tx1"/>
                          </a:solidFill>
                          <a:effectLst/>
                          <a:latin typeface="Calibri"/>
                          <a:ea typeface="Calibri" panose="020F0502020204030204" pitchFamily="34" charset="0"/>
                          <a:cs typeface="Times New Roman"/>
                        </a:rPr>
                        <a:t>Nombre de boîtes de Néons produites</a:t>
                      </a:r>
                    </a:p>
                    <a:p>
                      <a:pPr algn="just">
                        <a:lnSpc>
                          <a:spcPct val="107000"/>
                        </a:lnSpc>
                        <a:spcAft>
                          <a:spcPts val="0"/>
                        </a:spcAft>
                      </a:pPr>
                      <a:r>
                        <a:rPr lang="fr-CA" sz="2200" b="0" dirty="0">
                          <a:solidFill>
                            <a:schemeClr val="tx1"/>
                          </a:solidFill>
                          <a:effectLst/>
                          <a:latin typeface="Calibri"/>
                          <a:ea typeface="Calibri" panose="020F0502020204030204" pitchFamily="34" charset="0"/>
                          <a:cs typeface="Times New Roman"/>
                        </a:rPr>
                        <a:t>(demande actuelle 41 000 boîtes)</a:t>
                      </a:r>
                    </a:p>
                  </a:txBody>
                  <a:tcPr marL="44450" marR="44450" marT="0" marB="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0"/>
                        </a:spcAft>
                      </a:pPr>
                      <a:endParaRPr lang="fr-CA" sz="2400" b="1"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1553"/>
                  </a:ext>
                </a:extLst>
              </a:tr>
            </a:tbl>
          </a:graphicData>
        </a:graphic>
      </p:graphicFrame>
      <p:sp>
        <p:nvSpPr>
          <p:cNvPr id="3" name="Espace réservé du pied de page 3">
            <a:extLst>
              <a:ext uri="{FF2B5EF4-FFF2-40B4-BE49-F238E27FC236}">
                <a16:creationId xmlns:a16="http://schemas.microsoft.com/office/drawing/2014/main" id="{B8B299D6-31CF-F80D-ADE7-6176AE0DBD28}"/>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412B352F-C477-47AF-4D2A-DE5D41E5C448}"/>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graphicFrame>
        <p:nvGraphicFramePr>
          <p:cNvPr id="5" name="Tableau 4">
            <a:extLst>
              <a:ext uri="{FF2B5EF4-FFF2-40B4-BE49-F238E27FC236}">
                <a16:creationId xmlns:a16="http://schemas.microsoft.com/office/drawing/2014/main" id="{4BFE0EED-D544-A308-3C70-6FEE057AA72D}"/>
              </a:ext>
            </a:extLst>
          </p:cNvPr>
          <p:cNvGraphicFramePr>
            <a:graphicFrameLocks noGrp="1"/>
          </p:cNvGraphicFramePr>
          <p:nvPr>
            <p:extLst>
              <p:ext uri="{D42A27DB-BD31-4B8C-83A1-F6EECF244321}">
                <p14:modId xmlns:p14="http://schemas.microsoft.com/office/powerpoint/2010/main" val="1900387401"/>
              </p:ext>
            </p:extLst>
          </p:nvPr>
        </p:nvGraphicFramePr>
        <p:xfrm>
          <a:off x="437618" y="5321653"/>
          <a:ext cx="10681485" cy="640080"/>
        </p:xfrm>
        <a:graphic>
          <a:graphicData uri="http://schemas.openxmlformats.org/drawingml/2006/table">
            <a:tbl>
              <a:tblPr firstRow="1" bandRow="1">
                <a:tableStyleId>{5C22544A-7EE6-4342-B048-85BDC9FD1C3A}</a:tableStyleId>
              </a:tblPr>
              <a:tblGrid>
                <a:gridCol w="3560495">
                  <a:extLst>
                    <a:ext uri="{9D8B030D-6E8A-4147-A177-3AD203B41FA5}">
                      <a16:colId xmlns:a16="http://schemas.microsoft.com/office/drawing/2014/main" val="1398644312"/>
                    </a:ext>
                  </a:extLst>
                </a:gridCol>
                <a:gridCol w="3560495">
                  <a:extLst>
                    <a:ext uri="{9D8B030D-6E8A-4147-A177-3AD203B41FA5}">
                      <a16:colId xmlns:a16="http://schemas.microsoft.com/office/drawing/2014/main" val="308801790"/>
                    </a:ext>
                  </a:extLst>
                </a:gridCol>
                <a:gridCol w="3560495">
                  <a:extLst>
                    <a:ext uri="{9D8B030D-6E8A-4147-A177-3AD203B41FA5}">
                      <a16:colId xmlns:a16="http://schemas.microsoft.com/office/drawing/2014/main" val="2779170532"/>
                    </a:ext>
                  </a:extLst>
                </a:gridCol>
              </a:tblGrid>
              <a:tr h="370840">
                <a:tc>
                  <a:txBody>
                    <a:bodyPr/>
                    <a:lstStyle/>
                    <a:p>
                      <a:r>
                        <a:rPr lang="fr-CA" sz="2200" dirty="0">
                          <a:solidFill>
                            <a:schemeClr val="tx1"/>
                          </a:solidFill>
                        </a:rPr>
                        <a:t>Plan de production en unités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CA" b="0" dirty="0">
                          <a:solidFill>
                            <a:schemeClr val="tx1"/>
                          </a:solidFill>
                        </a:rPr>
                        <a:t>Ampoules :</a:t>
                      </a:r>
                    </a:p>
                    <a:p>
                      <a:endParaRPr lang="fr-CA"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CA" b="0" dirty="0">
                          <a:solidFill>
                            <a:schemeClr val="tx1"/>
                          </a:solidFill>
                        </a:rPr>
                        <a:t>Néons: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9585923"/>
                  </a:ext>
                </a:extLst>
              </a:tr>
            </a:tbl>
          </a:graphicData>
        </a:graphic>
      </p:graphicFrame>
    </p:spTree>
    <p:extLst>
      <p:ext uri="{BB962C8B-B14F-4D97-AF65-F5344CB8AC3E}">
        <p14:creationId xmlns:p14="http://schemas.microsoft.com/office/powerpoint/2010/main" val="3594645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412433" y="166213"/>
            <a:ext cx="10941367" cy="912197"/>
          </a:xfrm>
        </p:spPr>
        <p:txBody>
          <a:bodyPr>
            <a:normAutofit/>
          </a:bodyPr>
          <a:lstStyle/>
          <a:p>
            <a:pPr algn="ctr"/>
            <a:r>
              <a:rPr lang="fr-CA" sz="4000"/>
              <a:t>Les marges étudiées jusqu’à présent (sommaire)</a:t>
            </a:r>
          </a:p>
        </p:txBody>
      </p:sp>
      <p:graphicFrame>
        <p:nvGraphicFramePr>
          <p:cNvPr id="6" name="Espace réservé du contenu 5"/>
          <p:cNvGraphicFramePr>
            <a:graphicFrameLocks noGrp="1"/>
          </p:cNvGraphicFramePr>
          <p:nvPr>
            <p:ph idx="1"/>
            <p:custDataLst>
              <p:tags r:id="rId2"/>
            </p:custDataLst>
            <p:extLst>
              <p:ext uri="{D42A27DB-BD31-4B8C-83A1-F6EECF244321}">
                <p14:modId xmlns:p14="http://schemas.microsoft.com/office/powerpoint/2010/main" val="3523422834"/>
              </p:ext>
            </p:extLst>
          </p:nvPr>
        </p:nvGraphicFramePr>
        <p:xfrm>
          <a:off x="439259" y="1593559"/>
          <a:ext cx="11530361" cy="47595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Espace réservé du pied de page 3">
            <a:extLst>
              <a:ext uri="{FF2B5EF4-FFF2-40B4-BE49-F238E27FC236}">
                <a16:creationId xmlns:a16="http://schemas.microsoft.com/office/drawing/2014/main" id="{FA6DC23F-89D6-CD23-1261-AC8B16B04D3D}"/>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DF398C41-248A-FD25-C15A-FCF7CACF67EF}"/>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25</a:t>
            </a:fld>
            <a:endParaRPr lang="fr-CA">
              <a:solidFill>
                <a:prstClr val="black">
                  <a:tint val="75000"/>
                </a:prstClr>
              </a:solidFill>
            </a:endParaRPr>
          </a:p>
        </p:txBody>
      </p:sp>
    </p:spTree>
    <p:extLst>
      <p:ext uri="{BB962C8B-B14F-4D97-AF65-F5344CB8AC3E}">
        <p14:creationId xmlns:p14="http://schemas.microsoft.com/office/powerpoint/2010/main" val="426018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7A99E5-95CB-49CD-94D7-4AD201E0A3EB}"/>
              </a:ext>
            </a:extLst>
          </p:cNvPr>
          <p:cNvSpPr>
            <a:spLocks noGrp="1"/>
          </p:cNvSpPr>
          <p:nvPr>
            <p:ph type="title"/>
            <p:custDataLst>
              <p:tags r:id="rId1"/>
            </p:custDataLst>
          </p:nvPr>
        </p:nvSpPr>
        <p:spPr/>
        <p:txBody>
          <a:bodyPr>
            <a:normAutofit/>
          </a:bodyPr>
          <a:lstStyle/>
          <a:p>
            <a:pPr algn="ctr"/>
            <a:r>
              <a:rPr lang="fr-CA" sz="4000"/>
              <a:t>Analyse des marges - objectifs</a:t>
            </a:r>
          </a:p>
        </p:txBody>
      </p:sp>
      <p:sp>
        <p:nvSpPr>
          <p:cNvPr id="3" name="Espace réservé du contenu 2">
            <a:extLst>
              <a:ext uri="{FF2B5EF4-FFF2-40B4-BE49-F238E27FC236}">
                <a16:creationId xmlns:a16="http://schemas.microsoft.com/office/drawing/2014/main" id="{4A87EBB0-5227-4F7D-932D-E33A1B3D8A45}"/>
              </a:ext>
            </a:extLst>
          </p:cNvPr>
          <p:cNvSpPr>
            <a:spLocks noGrp="1"/>
          </p:cNvSpPr>
          <p:nvPr>
            <p:ph idx="1"/>
            <p:custDataLst>
              <p:tags r:id="rId2"/>
            </p:custDataLst>
          </p:nvPr>
        </p:nvSpPr>
        <p:spPr>
          <a:xfrm>
            <a:off x="710215" y="1677879"/>
            <a:ext cx="10830756" cy="4499083"/>
          </a:xfrm>
        </p:spPr>
        <p:txBody>
          <a:bodyPr vert="horz" lIns="91440" tIns="45720" rIns="91440" bIns="45720" rtlCol="0" anchor="t">
            <a:normAutofit fontScale="92500" lnSpcReduction="10000"/>
          </a:bodyPr>
          <a:lstStyle/>
          <a:p>
            <a:r>
              <a:rPr lang="fr-CA"/>
              <a:t>Jusqu`à présent nous avons étudié comment les marges peuvent être utilisées </a:t>
            </a:r>
            <a:r>
              <a:rPr lang="fr-CA" u="sng"/>
              <a:t>dans le cadre d’une décision d’exploitation</a:t>
            </a:r>
            <a:r>
              <a:rPr lang="fr-CA"/>
              <a:t>.</a:t>
            </a:r>
          </a:p>
          <a:p>
            <a:endParaRPr lang="fr-CA"/>
          </a:p>
          <a:p>
            <a:r>
              <a:rPr lang="fr-CA"/>
              <a:t>Une organisation peut calculer des marges pour </a:t>
            </a:r>
            <a:r>
              <a:rPr lang="fr-CA" u="sng"/>
              <a:t>mener une analyse complète de la profitabilité de ses objets de coûts</a:t>
            </a:r>
            <a:r>
              <a:rPr lang="fr-CA"/>
              <a:t> (produits/services ou gammes de produits/services, unités d’exploitation, divisions, secteurs géographiques…)</a:t>
            </a:r>
          </a:p>
          <a:p>
            <a:pPr lvl="1"/>
            <a:r>
              <a:rPr lang="fr-CA"/>
              <a:t>Ce calcul peut être récurrent et constituer un système de veille.</a:t>
            </a:r>
          </a:p>
          <a:p>
            <a:pPr lvl="1"/>
            <a:r>
              <a:rPr lang="fr-CA"/>
              <a:t>Ce calcul peut être ponctuel pour analyser la contribution des différents objets de coûts à la rentabilité de l’entreprise, revoir le mix de vente, aider à la révision de la politique tarifaire (fixation du prix de vente).</a:t>
            </a:r>
          </a:p>
          <a:p>
            <a:pPr lvl="1"/>
            <a:r>
              <a:rPr lang="fr-CA"/>
              <a:t>Ce calcul peut permettre de faire des analyses prédictives permettant de voir rapidement l’impact d’une variation du volume d’activité sur le résultat.</a:t>
            </a:r>
          </a:p>
          <a:p>
            <a:pPr lvl="1"/>
            <a:r>
              <a:rPr lang="fr-CA"/>
              <a:t>(….)</a:t>
            </a:r>
          </a:p>
          <a:p>
            <a:endParaRPr lang="fr-CA"/>
          </a:p>
        </p:txBody>
      </p:sp>
      <p:sp>
        <p:nvSpPr>
          <p:cNvPr id="4" name="Espace réservé du pied de page 3">
            <a:extLst>
              <a:ext uri="{FF2B5EF4-FFF2-40B4-BE49-F238E27FC236}">
                <a16:creationId xmlns:a16="http://schemas.microsoft.com/office/drawing/2014/main" id="{77D038E4-9C03-142F-CCC1-5B90819778B4}"/>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2551A14-0741-B7C6-C2D5-BB5B3E057470}"/>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26</a:t>
            </a:fld>
            <a:endParaRPr lang="fr-CA">
              <a:solidFill>
                <a:prstClr val="black">
                  <a:tint val="75000"/>
                </a:prstClr>
              </a:solidFill>
            </a:endParaRPr>
          </a:p>
        </p:txBody>
      </p:sp>
    </p:spTree>
    <p:extLst>
      <p:ext uri="{BB962C8B-B14F-4D97-AF65-F5344CB8AC3E}">
        <p14:creationId xmlns:p14="http://schemas.microsoft.com/office/powerpoint/2010/main" val="254967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EA931E-7551-4E30-9260-E219E27CF93C}"/>
              </a:ext>
            </a:extLst>
          </p:cNvPr>
          <p:cNvSpPr>
            <a:spLocks noGrp="1"/>
          </p:cNvSpPr>
          <p:nvPr>
            <p:ph type="ctrTitle"/>
            <p:custDataLst>
              <p:tags r:id="rId1"/>
            </p:custDataLst>
          </p:nvPr>
        </p:nvSpPr>
        <p:spPr/>
        <p:txBody>
          <a:bodyPr/>
          <a:lstStyle/>
          <a:p>
            <a:r>
              <a:rPr lang="fr-CA"/>
              <a:t>Exercice Pub du plateau 10B.1</a:t>
            </a:r>
          </a:p>
        </p:txBody>
      </p:sp>
      <p:sp>
        <p:nvSpPr>
          <p:cNvPr id="3" name="Sous-titre 2">
            <a:extLst>
              <a:ext uri="{FF2B5EF4-FFF2-40B4-BE49-F238E27FC236}">
                <a16:creationId xmlns:a16="http://schemas.microsoft.com/office/drawing/2014/main" id="{E42AB52E-E331-4310-A4B0-C36CA406496B}"/>
              </a:ext>
            </a:extLst>
          </p:cNvPr>
          <p:cNvSpPr>
            <a:spLocks noGrp="1"/>
          </p:cNvSpPr>
          <p:nvPr>
            <p:ph type="subTitle" idx="1"/>
            <p:custDataLst>
              <p:tags r:id="rId2"/>
            </p:custDataLst>
          </p:nvPr>
        </p:nvSpPr>
        <p:spPr>
          <a:xfrm>
            <a:off x="1524000" y="3736974"/>
            <a:ext cx="9144000" cy="850633"/>
          </a:xfrm>
        </p:spPr>
        <p:txBody>
          <a:bodyPr/>
          <a:lstStyle/>
          <a:p>
            <a:r>
              <a:rPr lang="fr-CA"/>
              <a:t>Analyse de marges pour </a:t>
            </a:r>
            <a:r>
              <a:rPr lang="fr-CA" u="sng"/>
              <a:t>mener une analyse complète de la profitabilité de ses objets de coûts</a:t>
            </a:r>
            <a:endParaRPr lang="fr-CA"/>
          </a:p>
        </p:txBody>
      </p:sp>
      <p:sp>
        <p:nvSpPr>
          <p:cNvPr id="6" name="Espace réservé du pied de page 3">
            <a:extLst>
              <a:ext uri="{FF2B5EF4-FFF2-40B4-BE49-F238E27FC236}">
                <a16:creationId xmlns:a16="http://schemas.microsoft.com/office/drawing/2014/main" id="{06A1025B-9678-AD85-3ABC-2ED35908C316}"/>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0CE02108-0876-1147-4D3A-5F2FC7CCF6B1}"/>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27</a:t>
            </a:fld>
            <a:endParaRPr lang="fr-CA">
              <a:solidFill>
                <a:prstClr val="black">
                  <a:tint val="75000"/>
                </a:prstClr>
              </a:solidFill>
            </a:endParaRPr>
          </a:p>
        </p:txBody>
      </p:sp>
    </p:spTree>
    <p:extLst>
      <p:ext uri="{BB962C8B-B14F-4D97-AF65-F5344CB8AC3E}">
        <p14:creationId xmlns:p14="http://schemas.microsoft.com/office/powerpoint/2010/main" val="3181008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77230C-01C3-C2C3-BF1C-0EEC03A9853B}"/>
              </a:ext>
            </a:extLst>
          </p:cNvPr>
          <p:cNvSpPr>
            <a:spLocks noGrp="1"/>
          </p:cNvSpPr>
          <p:nvPr>
            <p:ph type="title"/>
            <p:custDataLst>
              <p:tags r:id="rId1"/>
            </p:custDataLst>
          </p:nvPr>
        </p:nvSpPr>
        <p:spPr/>
        <p:txBody>
          <a:bodyPr/>
          <a:lstStyle/>
          <a:p>
            <a:r>
              <a:rPr lang="fr-CA"/>
              <a:t>Les décisions d’exploitation (sommaire)</a:t>
            </a:r>
          </a:p>
        </p:txBody>
      </p:sp>
      <p:graphicFrame>
        <p:nvGraphicFramePr>
          <p:cNvPr id="6" name="Espace réservé du contenu 5">
            <a:extLst>
              <a:ext uri="{FF2B5EF4-FFF2-40B4-BE49-F238E27FC236}">
                <a16:creationId xmlns:a16="http://schemas.microsoft.com/office/drawing/2014/main" id="{305935D5-E686-B923-C2D7-DE474D7DA52A}"/>
              </a:ext>
            </a:extLst>
          </p:cNvPr>
          <p:cNvGraphicFramePr>
            <a:graphicFrameLocks noGrp="1"/>
          </p:cNvGraphicFramePr>
          <p:nvPr>
            <p:ph idx="1"/>
            <p:custDataLst>
              <p:tags r:id="rId2"/>
            </p:custDataLst>
            <p:extLst>
              <p:ext uri="{D42A27DB-BD31-4B8C-83A1-F6EECF244321}">
                <p14:modId xmlns:p14="http://schemas.microsoft.com/office/powerpoint/2010/main" val="2793984123"/>
              </p:ext>
            </p:extLst>
          </p:nvPr>
        </p:nvGraphicFramePr>
        <p:xfrm>
          <a:off x="435864" y="1422510"/>
          <a:ext cx="7830312" cy="470852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7" name="Parenthèse fermante 6">
            <a:extLst>
              <a:ext uri="{FF2B5EF4-FFF2-40B4-BE49-F238E27FC236}">
                <a16:creationId xmlns:a16="http://schemas.microsoft.com/office/drawing/2014/main" id="{4DF8C836-C8C1-900E-EDD2-7EA6AC98608B}"/>
              </a:ext>
            </a:extLst>
          </p:cNvPr>
          <p:cNvSpPr/>
          <p:nvPr>
            <p:custDataLst>
              <p:tags r:id="rId3"/>
            </p:custDataLst>
          </p:nvPr>
        </p:nvSpPr>
        <p:spPr>
          <a:xfrm>
            <a:off x="8266176" y="2197608"/>
            <a:ext cx="438912" cy="2462784"/>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a:p>
        </p:txBody>
      </p:sp>
      <p:sp>
        <p:nvSpPr>
          <p:cNvPr id="9" name="ZoneTexte 8">
            <a:extLst>
              <a:ext uri="{FF2B5EF4-FFF2-40B4-BE49-F238E27FC236}">
                <a16:creationId xmlns:a16="http://schemas.microsoft.com/office/drawing/2014/main" id="{F25CCD9B-9C1A-67B3-E1D5-DB193DA3A4E2}"/>
              </a:ext>
            </a:extLst>
          </p:cNvPr>
          <p:cNvSpPr txBox="1"/>
          <p:nvPr>
            <p:custDataLst>
              <p:tags r:id="rId4"/>
            </p:custDataLst>
          </p:nvPr>
        </p:nvSpPr>
        <p:spPr>
          <a:xfrm>
            <a:off x="8705088" y="1883943"/>
            <a:ext cx="3051048" cy="1477328"/>
          </a:xfrm>
          <a:prstGeom prst="rect">
            <a:avLst/>
          </a:prstGeom>
          <a:noFill/>
        </p:spPr>
        <p:txBody>
          <a:bodyPr wrap="square" rtlCol="0">
            <a:spAutoFit/>
          </a:bodyPr>
          <a:lstStyle/>
          <a:p>
            <a:r>
              <a:rPr lang="fr-CA" b="1"/>
              <a:t>Résultat différentiel</a:t>
            </a:r>
          </a:p>
          <a:p>
            <a:r>
              <a:rPr lang="fr-CA"/>
              <a:t>La différence entre les deux propositions. </a:t>
            </a:r>
          </a:p>
          <a:p>
            <a:r>
              <a:rPr lang="fr-CA"/>
              <a:t>- Augmentation ou diminution du résultat. </a:t>
            </a:r>
          </a:p>
        </p:txBody>
      </p:sp>
      <p:sp>
        <p:nvSpPr>
          <p:cNvPr id="10" name="Bulle narrative : ronde 9">
            <a:extLst>
              <a:ext uri="{FF2B5EF4-FFF2-40B4-BE49-F238E27FC236}">
                <a16:creationId xmlns:a16="http://schemas.microsoft.com/office/drawing/2014/main" id="{BF30628B-2766-C933-DB8A-23AD078A6530}"/>
              </a:ext>
            </a:extLst>
          </p:cNvPr>
          <p:cNvSpPr/>
          <p:nvPr>
            <p:custDataLst>
              <p:tags r:id="rId5"/>
            </p:custDataLst>
          </p:nvPr>
        </p:nvSpPr>
        <p:spPr>
          <a:xfrm>
            <a:off x="435864" y="4843907"/>
            <a:ext cx="2504492" cy="1590308"/>
          </a:xfrm>
          <a:prstGeom prst="wedgeEllipseCallout">
            <a:avLst>
              <a:gd name="adj1" fmla="val 59591"/>
              <a:gd name="adj2" fmla="val -231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a:t>Calcul de marges pour effectuer l’analyse</a:t>
            </a:r>
          </a:p>
        </p:txBody>
      </p:sp>
      <p:sp>
        <p:nvSpPr>
          <p:cNvPr id="11" name="Bulle narrative : ronde 10">
            <a:extLst>
              <a:ext uri="{FF2B5EF4-FFF2-40B4-BE49-F238E27FC236}">
                <a16:creationId xmlns:a16="http://schemas.microsoft.com/office/drawing/2014/main" id="{D218B46D-3869-32CC-0B43-4A6161AA8088}"/>
              </a:ext>
            </a:extLst>
          </p:cNvPr>
          <p:cNvSpPr/>
          <p:nvPr>
            <p:custDataLst>
              <p:tags r:id="rId6"/>
            </p:custDataLst>
          </p:nvPr>
        </p:nvSpPr>
        <p:spPr>
          <a:xfrm>
            <a:off x="8918572" y="3638270"/>
            <a:ext cx="3051048" cy="1306398"/>
          </a:xfrm>
          <a:prstGeom prst="wedgeEllipseCallout">
            <a:avLst>
              <a:gd name="adj1" fmla="val -4891"/>
              <a:gd name="adj2" fmla="val -681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a:t>Coûts directs = coûts variables + coûts fixes spécifiques</a:t>
            </a:r>
          </a:p>
        </p:txBody>
      </p:sp>
      <p:sp>
        <p:nvSpPr>
          <p:cNvPr id="3" name="Espace réservé du pied de page 3">
            <a:extLst>
              <a:ext uri="{FF2B5EF4-FFF2-40B4-BE49-F238E27FC236}">
                <a16:creationId xmlns:a16="http://schemas.microsoft.com/office/drawing/2014/main" id="{F10592C9-3C66-F7E5-19D4-17D3B580346E}"/>
              </a:ext>
            </a:extLst>
          </p:cNvPr>
          <p:cNvSpPr>
            <a:spLocks noGrp="1"/>
          </p:cNvSpPr>
          <p:nvPr>
            <p:ph type="ftr" sz="quarter" idx="11"/>
            <p:custDataLst>
              <p:tags r:id="rId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7890B2F2-08F8-13AA-B505-27C5FBF264EE}"/>
              </a:ext>
            </a:extLst>
          </p:cNvPr>
          <p:cNvSpPr>
            <a:spLocks noGrp="1"/>
          </p:cNvSpPr>
          <p:nvPr>
            <p:ph type="sldNum" sz="quarter" idx="12"/>
            <p:custDataLst>
              <p:tags r:id="rId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28</a:t>
            </a:fld>
            <a:endParaRPr lang="fr-CA">
              <a:solidFill>
                <a:prstClr val="black">
                  <a:tint val="75000"/>
                </a:prstClr>
              </a:solidFill>
            </a:endParaRPr>
          </a:p>
        </p:txBody>
      </p:sp>
    </p:spTree>
    <p:extLst>
      <p:ext uri="{BB962C8B-B14F-4D97-AF65-F5344CB8AC3E}">
        <p14:creationId xmlns:p14="http://schemas.microsoft.com/office/powerpoint/2010/main" val="587739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p:txBody>
          <a:bodyPr>
            <a:normAutofit/>
          </a:bodyPr>
          <a:lstStyle/>
          <a:p>
            <a:r>
              <a:rPr lang="fr-CA" sz="4000"/>
              <a:t>Conclusion – Séance 4</a:t>
            </a:r>
            <a:endParaRPr lang="fr-CA" sz="4000">
              <a:highlight>
                <a:srgbClr val="FF00FF"/>
              </a:highlight>
            </a:endParaRPr>
          </a:p>
        </p:txBody>
      </p:sp>
      <p:sp>
        <p:nvSpPr>
          <p:cNvPr id="6" name="Rectangle à coins arrondis 5"/>
          <p:cNvSpPr/>
          <p:nvPr>
            <p:custDataLst>
              <p:tags r:id="rId3"/>
            </p:custDataLst>
          </p:nvPr>
        </p:nvSpPr>
        <p:spPr>
          <a:xfrm>
            <a:off x="2063552" y="3160194"/>
            <a:ext cx="2520280" cy="1573388"/>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a:solidFill>
                  <a:schemeClr val="tx1"/>
                </a:solidFill>
              </a:rPr>
              <a:t>Prise de décision d’exploitation et analyse de marges</a:t>
            </a:r>
          </a:p>
        </p:txBody>
      </p:sp>
      <p:cxnSp>
        <p:nvCxnSpPr>
          <p:cNvPr id="8" name="Connecteur droit avec flèche 7"/>
          <p:cNvCxnSpPr>
            <a:cxnSpLocks/>
            <a:stCxn id="6" idx="3"/>
            <a:endCxn id="12" idx="3"/>
          </p:cNvCxnSpPr>
          <p:nvPr>
            <p:custDataLst>
              <p:tags r:id="rId4"/>
            </p:custDataLst>
          </p:nvPr>
        </p:nvCxnSpPr>
        <p:spPr>
          <a:xfrm>
            <a:off x="4583832" y="3946888"/>
            <a:ext cx="1920497" cy="200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a:cxnSpLocks/>
            <a:stCxn id="6" idx="3"/>
            <a:endCxn id="15" idx="1"/>
          </p:cNvCxnSpPr>
          <p:nvPr>
            <p:custDataLst>
              <p:tags r:id="rId5"/>
            </p:custDataLst>
          </p:nvPr>
        </p:nvCxnSpPr>
        <p:spPr>
          <a:xfrm flipV="1">
            <a:off x="4583832" y="2307592"/>
            <a:ext cx="1919135" cy="16392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custDataLst>
              <p:tags r:id="rId6"/>
            </p:custDataLst>
          </p:nvPr>
        </p:nvSpPr>
        <p:spPr>
          <a:xfrm>
            <a:off x="5154912" y="2519907"/>
            <a:ext cx="776975" cy="400110"/>
          </a:xfrm>
          <a:prstGeom prst="rect">
            <a:avLst/>
          </a:prstGeom>
          <a:noFill/>
        </p:spPr>
        <p:txBody>
          <a:bodyPr wrap="square" rtlCol="0">
            <a:spAutoFit/>
          </a:bodyPr>
          <a:lstStyle/>
          <a:p>
            <a:r>
              <a:rPr lang="fr-CA" sz="2000"/>
              <a:t>Idée  </a:t>
            </a:r>
          </a:p>
        </p:txBody>
      </p:sp>
      <p:sp>
        <p:nvSpPr>
          <p:cNvPr id="12" name="ZoneTexte 11"/>
          <p:cNvSpPr txBox="1"/>
          <p:nvPr>
            <p:custDataLst>
              <p:tags r:id="rId7"/>
            </p:custDataLst>
          </p:nvPr>
        </p:nvSpPr>
        <p:spPr>
          <a:xfrm>
            <a:off x="4897942" y="3613007"/>
            <a:ext cx="1606387" cy="707886"/>
          </a:xfrm>
          <a:prstGeom prst="rect">
            <a:avLst/>
          </a:prstGeom>
          <a:noFill/>
        </p:spPr>
        <p:txBody>
          <a:bodyPr wrap="square" rtlCol="0">
            <a:spAutoFit/>
          </a:bodyPr>
          <a:lstStyle/>
          <a:p>
            <a:pPr algn="ctr"/>
            <a:r>
              <a:rPr lang="fr-CA" sz="2000"/>
              <a:t>Informations pertinentes</a:t>
            </a:r>
          </a:p>
        </p:txBody>
      </p:sp>
      <p:sp>
        <p:nvSpPr>
          <p:cNvPr id="13" name="ZoneTexte 12"/>
          <p:cNvSpPr txBox="1"/>
          <p:nvPr>
            <p:custDataLst>
              <p:tags r:id="rId8"/>
            </p:custDataLst>
          </p:nvPr>
        </p:nvSpPr>
        <p:spPr>
          <a:xfrm>
            <a:off x="6500244" y="3393086"/>
            <a:ext cx="4231707" cy="923330"/>
          </a:xfrm>
          <a:prstGeom prst="rect">
            <a:avLst/>
          </a:prstGeom>
          <a:noFill/>
          <a:ln>
            <a:solidFill>
              <a:schemeClr val="accent1"/>
            </a:solidFill>
          </a:ln>
        </p:spPr>
        <p:txBody>
          <a:bodyPr wrap="square" rtlCol="0">
            <a:spAutoFit/>
          </a:bodyPr>
          <a:lstStyle/>
          <a:p>
            <a:r>
              <a:rPr lang="fr-CA">
                <a:latin typeface="Gill Sans MT"/>
              </a:rPr>
              <a:t>coût pertinent</a:t>
            </a:r>
          </a:p>
          <a:p>
            <a:r>
              <a:rPr lang="fr-CA">
                <a:latin typeface="Gill Sans MT"/>
              </a:rPr>
              <a:t>coût de renonciation</a:t>
            </a:r>
          </a:p>
          <a:p>
            <a:r>
              <a:rPr lang="fr-CA">
                <a:latin typeface="Gill Sans MT"/>
              </a:rPr>
              <a:t>résultat différentiel</a:t>
            </a:r>
          </a:p>
        </p:txBody>
      </p:sp>
      <p:sp>
        <p:nvSpPr>
          <p:cNvPr id="15" name="ZoneTexte 14"/>
          <p:cNvSpPr txBox="1"/>
          <p:nvPr>
            <p:custDataLst>
              <p:tags r:id="rId9"/>
            </p:custDataLst>
          </p:nvPr>
        </p:nvSpPr>
        <p:spPr>
          <a:xfrm>
            <a:off x="6502967" y="1568928"/>
            <a:ext cx="4228984" cy="1477328"/>
          </a:xfrm>
          <a:prstGeom prst="rect">
            <a:avLst/>
          </a:prstGeom>
          <a:noFill/>
          <a:ln>
            <a:solidFill>
              <a:schemeClr val="accent1"/>
            </a:solidFill>
          </a:ln>
        </p:spPr>
        <p:txBody>
          <a:bodyPr wrap="square" rtlCol="0">
            <a:spAutoFit/>
          </a:bodyPr>
          <a:lstStyle/>
          <a:p>
            <a:r>
              <a:rPr lang="fr-CA">
                <a:latin typeface="Gill Sans MT"/>
              </a:rPr>
              <a:t>∙ </a:t>
            </a:r>
            <a:r>
              <a:rPr lang="fr-CA"/>
              <a:t>Produire l’information pertinente pour prendre certaines décisions d’exploitation</a:t>
            </a:r>
          </a:p>
          <a:p>
            <a:r>
              <a:rPr lang="fr-CA">
                <a:latin typeface="Gill Sans MT"/>
              </a:rPr>
              <a:t>∙ </a:t>
            </a:r>
            <a:r>
              <a:rPr lang="fr-CA"/>
              <a:t>Comprendre la contribution de différents objets de coûts à la profitabilité de l’organisation </a:t>
            </a:r>
            <a:endParaRPr lang="fr-CA" sz="2000"/>
          </a:p>
        </p:txBody>
      </p:sp>
      <p:sp>
        <p:nvSpPr>
          <p:cNvPr id="16" name="ZoneTexte 15"/>
          <p:cNvSpPr txBox="1"/>
          <p:nvPr>
            <p:custDataLst>
              <p:tags r:id="rId10"/>
            </p:custDataLst>
          </p:nvPr>
        </p:nvSpPr>
        <p:spPr>
          <a:xfrm>
            <a:off x="4474321" y="4826153"/>
            <a:ext cx="1361181" cy="400110"/>
          </a:xfrm>
          <a:prstGeom prst="rect">
            <a:avLst/>
          </a:prstGeom>
          <a:noFill/>
        </p:spPr>
        <p:txBody>
          <a:bodyPr wrap="square" rtlCol="0">
            <a:spAutoFit/>
          </a:bodyPr>
          <a:lstStyle/>
          <a:p>
            <a:pPr algn="r"/>
            <a:r>
              <a:rPr lang="fr-CA" sz="2000"/>
              <a:t>Comment</a:t>
            </a:r>
          </a:p>
        </p:txBody>
      </p:sp>
      <p:cxnSp>
        <p:nvCxnSpPr>
          <p:cNvPr id="17" name="Connecteur droit avec flèche 16"/>
          <p:cNvCxnSpPr>
            <a:cxnSpLocks/>
            <a:stCxn id="6" idx="3"/>
            <a:endCxn id="19" idx="1"/>
          </p:cNvCxnSpPr>
          <p:nvPr>
            <p:custDataLst>
              <p:tags r:id="rId11"/>
            </p:custDataLst>
          </p:nvPr>
        </p:nvCxnSpPr>
        <p:spPr>
          <a:xfrm>
            <a:off x="4583832" y="3946888"/>
            <a:ext cx="1916412" cy="1624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custDataLst>
              <p:tags r:id="rId12"/>
            </p:custDataLst>
          </p:nvPr>
        </p:nvSpPr>
        <p:spPr>
          <a:xfrm>
            <a:off x="6500244" y="4755383"/>
            <a:ext cx="4231707" cy="1631216"/>
          </a:xfrm>
          <a:prstGeom prst="rect">
            <a:avLst/>
          </a:prstGeom>
          <a:noFill/>
          <a:ln>
            <a:solidFill>
              <a:schemeClr val="accent1"/>
            </a:solidFill>
          </a:ln>
        </p:spPr>
        <p:txBody>
          <a:bodyPr wrap="square" rtlCol="0">
            <a:spAutoFit/>
          </a:bodyPr>
          <a:lstStyle/>
          <a:p>
            <a:r>
              <a:rPr lang="fr-CA" sz="2000">
                <a:latin typeface="Gill Sans MT"/>
              </a:rPr>
              <a:t>∙ </a:t>
            </a:r>
            <a:r>
              <a:rPr lang="fr-CA" sz="2000"/>
              <a:t>Analyse différentielle</a:t>
            </a:r>
          </a:p>
          <a:p>
            <a:r>
              <a:rPr lang="fr-CA" sz="2000">
                <a:latin typeface="Gill Sans MT"/>
              </a:rPr>
              <a:t>∙ </a:t>
            </a:r>
            <a:r>
              <a:rPr lang="fr-CA" sz="2000"/>
              <a:t>Calcul de marges selon la prise de décision : MCV unitaire, MCV totale, marge sur coûts spécifiques, marge par facteur de production contraignant … </a:t>
            </a:r>
          </a:p>
        </p:txBody>
      </p:sp>
      <p:sp>
        <p:nvSpPr>
          <p:cNvPr id="4" name="Espace réservé du pied de page 3">
            <a:extLst>
              <a:ext uri="{FF2B5EF4-FFF2-40B4-BE49-F238E27FC236}">
                <a16:creationId xmlns:a16="http://schemas.microsoft.com/office/drawing/2014/main" id="{BFCB816B-BFF1-007F-5A85-B799EF171127}"/>
              </a:ext>
            </a:extLst>
          </p:cNvPr>
          <p:cNvSpPr>
            <a:spLocks noGrp="1"/>
          </p:cNvSpPr>
          <p:nvPr>
            <p:ph type="ftr" sz="quarter" idx="11"/>
            <p:custDataLst>
              <p:tags r:id="rId1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76D2B64A-46EC-AF83-0083-1B06F11BFDDB}"/>
              </a:ext>
            </a:extLst>
          </p:cNvPr>
          <p:cNvSpPr>
            <a:spLocks noGrp="1"/>
          </p:cNvSpPr>
          <p:nvPr>
            <p:ph type="sldNum" sz="quarter" idx="12"/>
            <p:custDataLst>
              <p:tags r:id="rId1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29</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649330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p:txBody>
          <a:bodyPr>
            <a:normAutofit/>
          </a:bodyPr>
          <a:lstStyle/>
          <a:p>
            <a:r>
              <a:rPr lang="en-US" sz="4400">
                <a:solidFill>
                  <a:schemeClr val="tx2"/>
                </a:solidFill>
                <a:cs typeface="Poppins" pitchFamily="2" charset="77"/>
              </a:rPr>
              <a:t>QUESTIONS…</a:t>
            </a:r>
            <a:endParaRPr lang="fr-CA"/>
          </a:p>
        </p:txBody>
      </p:sp>
      <p:grpSp>
        <p:nvGrpSpPr>
          <p:cNvPr id="6" name="Group 138">
            <a:extLst>
              <a:ext uri="{FF2B5EF4-FFF2-40B4-BE49-F238E27FC236}">
                <a16:creationId xmlns:a16="http://schemas.microsoft.com/office/drawing/2014/main" id="{65046B40-4C17-4CB6-AFE9-AB12062D9A63}"/>
              </a:ext>
            </a:extLst>
          </p:cNvPr>
          <p:cNvGrpSpPr/>
          <p:nvPr>
            <p:custDataLst>
              <p:tags r:id="rId2"/>
            </p:custDataLst>
          </p:nvPr>
        </p:nvGrpSpPr>
        <p:grpSpPr>
          <a:xfrm>
            <a:off x="9280494" y="2303888"/>
            <a:ext cx="2068928" cy="2939885"/>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3" name="Espace réservé du pied de page 3">
            <a:extLst>
              <a:ext uri="{FF2B5EF4-FFF2-40B4-BE49-F238E27FC236}">
                <a16:creationId xmlns:a16="http://schemas.microsoft.com/office/drawing/2014/main" id="{CA7E70E8-E8C3-426F-6727-EAA0C4549EB6}"/>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B0F12D9D-68E3-12BE-EB07-585D4B132E3E}"/>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30</a:t>
            </a:fld>
            <a:endParaRPr lang="fr-CA">
              <a:solidFill>
                <a:prstClr val="black">
                  <a:tint val="75000"/>
                </a:prstClr>
              </a:solidFill>
            </a:endParaRPr>
          </a:p>
        </p:txBody>
      </p:sp>
    </p:spTree>
    <p:extLst>
      <p:ext uri="{BB962C8B-B14F-4D97-AF65-F5344CB8AC3E}">
        <p14:creationId xmlns:p14="http://schemas.microsoft.com/office/powerpoint/2010/main" val="38827406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4"/>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6"/>
</p:tagLst>
</file>

<file path=ppt/tags/tag25.xml><?xml version="1.0" encoding="utf-8"?>
<p:tagLst xmlns:a="http://schemas.openxmlformats.org/drawingml/2006/main" xmlns:r="http://schemas.openxmlformats.org/officeDocument/2006/relationships" xmlns:p="http://schemas.openxmlformats.org/presentationml/2006/main">
  <p:tag name="NUM" val="7"/>
</p:tagLst>
</file>

<file path=ppt/tags/tag26.xml><?xml version="1.0" encoding="utf-8"?>
<p:tagLst xmlns:a="http://schemas.openxmlformats.org/drawingml/2006/main" xmlns:r="http://schemas.openxmlformats.org/officeDocument/2006/relationships" xmlns:p="http://schemas.openxmlformats.org/presentationml/2006/main">
  <p:tag name="NUM" val="8"/>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4"/>
</p:tagLst>
</file>

<file path=ppt/tags/tag31.xml><?xml version="1.0" encoding="utf-8"?>
<p:tagLst xmlns:a="http://schemas.openxmlformats.org/drawingml/2006/main" xmlns:r="http://schemas.openxmlformats.org/officeDocument/2006/relationships" xmlns:p="http://schemas.openxmlformats.org/presentationml/2006/main">
  <p:tag name="NUM" val="5"/>
</p:tagLst>
</file>

<file path=ppt/tags/tag32.xml><?xml version="1.0" encoding="utf-8"?>
<p:tagLst xmlns:a="http://schemas.openxmlformats.org/drawingml/2006/main" xmlns:r="http://schemas.openxmlformats.org/officeDocument/2006/relationships" xmlns:p="http://schemas.openxmlformats.org/presentationml/2006/main">
  <p:tag name="NUM" val="6"/>
</p:tagLst>
</file>

<file path=ppt/tags/tag33.xml><?xml version="1.0" encoding="utf-8"?>
<p:tagLst xmlns:a="http://schemas.openxmlformats.org/drawingml/2006/main" xmlns:r="http://schemas.openxmlformats.org/officeDocument/2006/relationships" xmlns:p="http://schemas.openxmlformats.org/presentationml/2006/main">
  <p:tag name="NUM" val="7"/>
</p:tagLst>
</file>

<file path=ppt/tags/tag34.xml><?xml version="1.0" encoding="utf-8"?>
<p:tagLst xmlns:a="http://schemas.openxmlformats.org/drawingml/2006/main" xmlns:r="http://schemas.openxmlformats.org/officeDocument/2006/relationships" xmlns:p="http://schemas.openxmlformats.org/presentationml/2006/main">
  <p:tag name="NUM" val="8"/>
</p:tagLst>
</file>

<file path=ppt/tags/tag35.xml><?xml version="1.0" encoding="utf-8"?>
<p:tagLst xmlns:a="http://schemas.openxmlformats.org/drawingml/2006/main" xmlns:r="http://schemas.openxmlformats.org/officeDocument/2006/relationships" xmlns:p="http://schemas.openxmlformats.org/presentationml/2006/main">
  <p:tag name="NUM" val="9"/>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UM" val="5"/>
</p:tagLst>
</file>

<file path=ppt/tags/tag50.xml><?xml version="1.0" encoding="utf-8"?>
<p:tagLst xmlns:a="http://schemas.openxmlformats.org/drawingml/2006/main" xmlns:r="http://schemas.openxmlformats.org/officeDocument/2006/relationships" xmlns:p="http://schemas.openxmlformats.org/presentationml/2006/main">
  <p:tag name="NUM" val="6"/>
</p:tagLst>
</file>

<file path=ppt/tags/tag51.xml><?xml version="1.0" encoding="utf-8"?>
<p:tagLst xmlns:a="http://schemas.openxmlformats.org/drawingml/2006/main" xmlns:r="http://schemas.openxmlformats.org/officeDocument/2006/relationships" xmlns:p="http://schemas.openxmlformats.org/presentationml/2006/main">
  <p:tag name="NUM" val="7"/>
</p:tagLst>
</file>

<file path=ppt/tags/tag52.xml><?xml version="1.0" encoding="utf-8"?>
<p:tagLst xmlns:a="http://schemas.openxmlformats.org/drawingml/2006/main" xmlns:r="http://schemas.openxmlformats.org/officeDocument/2006/relationships" xmlns:p="http://schemas.openxmlformats.org/presentationml/2006/main">
  <p:tag name="NUM" val="8"/>
</p:tagLst>
</file>

<file path=ppt/tags/tag53.xml><?xml version="1.0" encoding="utf-8"?>
<p:tagLst xmlns:a="http://schemas.openxmlformats.org/drawingml/2006/main" xmlns:r="http://schemas.openxmlformats.org/officeDocument/2006/relationships" xmlns:p="http://schemas.openxmlformats.org/presentationml/2006/main">
  <p:tag name="NUM" val="9"/>
</p:tagLst>
</file>

<file path=ppt/tags/tag54.xml><?xml version="1.0" encoding="utf-8"?>
<p:tagLst xmlns:a="http://schemas.openxmlformats.org/drawingml/2006/main" xmlns:r="http://schemas.openxmlformats.org/officeDocument/2006/relationships" xmlns:p="http://schemas.openxmlformats.org/presentationml/2006/main">
  <p:tag name="NUM" val="10"/>
</p:tagLst>
</file>

<file path=ppt/tags/tag55.xml><?xml version="1.0" encoding="utf-8"?>
<p:tagLst xmlns:a="http://schemas.openxmlformats.org/drawingml/2006/main" xmlns:r="http://schemas.openxmlformats.org/officeDocument/2006/relationships" xmlns:p="http://schemas.openxmlformats.org/presentationml/2006/main">
  <p:tag name="NUM" val="11"/>
</p:tagLst>
</file>

<file path=ppt/tags/tag56.xml><?xml version="1.0" encoding="utf-8"?>
<p:tagLst xmlns:a="http://schemas.openxmlformats.org/drawingml/2006/main" xmlns:r="http://schemas.openxmlformats.org/officeDocument/2006/relationships" xmlns:p="http://schemas.openxmlformats.org/presentationml/2006/main">
  <p:tag name="NUM" val="12"/>
</p:tagLst>
</file>

<file path=ppt/tags/tag57.xml><?xml version="1.0" encoding="utf-8"?>
<p:tagLst xmlns:a="http://schemas.openxmlformats.org/drawingml/2006/main" xmlns:r="http://schemas.openxmlformats.org/officeDocument/2006/relationships" xmlns:p="http://schemas.openxmlformats.org/presentationml/2006/main">
  <p:tag name="NUM" val="13"/>
</p:tagLst>
</file>

<file path=ppt/tags/tag58.xml><?xml version="1.0" encoding="utf-8"?>
<p:tagLst xmlns:a="http://schemas.openxmlformats.org/drawingml/2006/main" xmlns:r="http://schemas.openxmlformats.org/officeDocument/2006/relationships" xmlns:p="http://schemas.openxmlformats.org/presentationml/2006/main">
  <p:tag name="NUM" val="14"/>
</p:tagLst>
</file>

<file path=ppt/tags/tag59.xml><?xml version="1.0" encoding="utf-8"?>
<p:tagLst xmlns:a="http://schemas.openxmlformats.org/drawingml/2006/main" xmlns:r="http://schemas.openxmlformats.org/officeDocument/2006/relationships" xmlns:p="http://schemas.openxmlformats.org/presentationml/2006/main">
  <p:tag name="NUM" val="15"/>
</p:tagLst>
</file>

<file path=ppt/tags/tag60.xml><?xml version="1.0" encoding="utf-8"?>
<p:tagLst xmlns:a="http://schemas.openxmlformats.org/drawingml/2006/main" xmlns:r="http://schemas.openxmlformats.org/officeDocument/2006/relationships" xmlns:p="http://schemas.openxmlformats.org/presentationml/2006/main">
  <p:tag name="NUM" val="16"/>
</p:tagLst>
</file>

<file path=ppt/tags/tag61.xml><?xml version="1.0" encoding="utf-8"?>
<p:tagLst xmlns:a="http://schemas.openxmlformats.org/drawingml/2006/main" xmlns:r="http://schemas.openxmlformats.org/officeDocument/2006/relationships" xmlns:p="http://schemas.openxmlformats.org/presentationml/2006/main">
  <p:tag name="NUM" val="17"/>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4"/>
</p:tagLst>
</file>

<file path=ppt/tags/tag69.xml><?xml version="1.0" encoding="utf-8"?>
<p:tagLst xmlns:a="http://schemas.openxmlformats.org/drawingml/2006/main" xmlns:r="http://schemas.openxmlformats.org/officeDocument/2006/relationships" xmlns:p="http://schemas.openxmlformats.org/presentationml/2006/main">
  <p:tag name="NUM" val="5"/>
</p:tagLst>
</file>

<file path=ppt/tags/tag70.xml><?xml version="1.0" encoding="utf-8"?>
<p:tagLst xmlns:a="http://schemas.openxmlformats.org/drawingml/2006/main" xmlns:r="http://schemas.openxmlformats.org/officeDocument/2006/relationships" xmlns:p="http://schemas.openxmlformats.org/presentationml/2006/main">
  <p:tag name="NUM" val="6"/>
</p:tagLst>
</file>

<file path=ppt/tags/tag71.xml><?xml version="1.0" encoding="utf-8"?>
<p:tagLst xmlns:a="http://schemas.openxmlformats.org/drawingml/2006/main" xmlns:r="http://schemas.openxmlformats.org/officeDocument/2006/relationships" xmlns:p="http://schemas.openxmlformats.org/presentationml/2006/main">
  <p:tag name="NUM" val="1"/>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OPREFERENCE" val="False"/>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4"/>
</p:tagLst>
</file>

<file path=ppt/tags/tag79.xml><?xml version="1.0" encoding="utf-8"?>
<p:tagLst xmlns:a="http://schemas.openxmlformats.org/drawingml/2006/main" xmlns:r="http://schemas.openxmlformats.org/officeDocument/2006/relationships" xmlns:p="http://schemas.openxmlformats.org/presentationml/2006/main">
  <p:tag name="NUM" val="5"/>
</p:tagLst>
</file>

<file path=ppt/tags/tag80.xml><?xml version="1.0" encoding="utf-8"?>
<p:tagLst xmlns:a="http://schemas.openxmlformats.org/drawingml/2006/main" xmlns:r="http://schemas.openxmlformats.org/officeDocument/2006/relationships" xmlns:p="http://schemas.openxmlformats.org/presentationml/2006/main">
  <p:tag name="NUM" val="6"/>
</p:tagLst>
</file>

<file path=ppt/tags/tag81.xml><?xml version="1.0" encoding="utf-8"?>
<p:tagLst xmlns:a="http://schemas.openxmlformats.org/drawingml/2006/main" xmlns:r="http://schemas.openxmlformats.org/officeDocument/2006/relationships" xmlns:p="http://schemas.openxmlformats.org/presentationml/2006/main">
  <p:tag name="NUM" val="7"/>
</p:tagLst>
</file>

<file path=ppt/tags/tag82.xml><?xml version="1.0" encoding="utf-8"?>
<p:tagLst xmlns:a="http://schemas.openxmlformats.org/drawingml/2006/main" xmlns:r="http://schemas.openxmlformats.org/officeDocument/2006/relationships" xmlns:p="http://schemas.openxmlformats.org/presentationml/2006/main">
  <p:tag name="NOPREFERENCE" val="False"/>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4"/>
</p:tagLst>
</file>

<file path=ppt/tags/tag87.xml><?xml version="1.0" encoding="utf-8"?>
<p:tagLst xmlns:a="http://schemas.openxmlformats.org/drawingml/2006/main" xmlns:r="http://schemas.openxmlformats.org/officeDocument/2006/relationships" xmlns:p="http://schemas.openxmlformats.org/presentationml/2006/main">
  <p:tag name="NUM" val="5"/>
</p:tagLst>
</file>

<file path=ppt/tags/tag88.xml><?xml version="1.0" encoding="utf-8"?>
<p:tagLst xmlns:a="http://schemas.openxmlformats.org/drawingml/2006/main" xmlns:r="http://schemas.openxmlformats.org/officeDocument/2006/relationships" xmlns:p="http://schemas.openxmlformats.org/presentationml/2006/main">
  <p:tag name="NUM" val="1"/>
</p:tagLst>
</file>

<file path=ppt/tags/tag89.xml><?xml version="1.0" encoding="utf-8"?>
<p:tagLst xmlns:a="http://schemas.openxmlformats.org/drawingml/2006/main" xmlns:r="http://schemas.openxmlformats.org/officeDocument/2006/relationships" xmlns:p="http://schemas.openxmlformats.org/presentationml/2006/main">
  <p:tag name="NUM" val="2"/>
</p:tagLst>
</file>

<file path=ppt/tags/tag90.xml><?xml version="1.0" encoding="utf-8"?>
<p:tagLst xmlns:a="http://schemas.openxmlformats.org/drawingml/2006/main" xmlns:r="http://schemas.openxmlformats.org/officeDocument/2006/relationships" xmlns:p="http://schemas.openxmlformats.org/presentationml/2006/main">
  <p:tag name="NUM" val="3"/>
</p:tagLst>
</file>

<file path=ppt/tags/tag91.xml><?xml version="1.0" encoding="utf-8"?>
<p:tagLst xmlns:a="http://schemas.openxmlformats.org/drawingml/2006/main" xmlns:r="http://schemas.openxmlformats.org/officeDocument/2006/relationships" xmlns:p="http://schemas.openxmlformats.org/presentationml/2006/main">
  <p:tag name="NUM" val="4"/>
</p:tagLst>
</file>

<file path=ppt/tags/tag92.xml><?xml version="1.0" encoding="utf-8"?>
<p:tagLst xmlns:a="http://schemas.openxmlformats.org/drawingml/2006/main" xmlns:r="http://schemas.openxmlformats.org/officeDocument/2006/relationships" xmlns:p="http://schemas.openxmlformats.org/presentationml/2006/main">
  <p:tag name="NUM" val="1"/>
</p:tagLst>
</file>

<file path=ppt/tags/tag93.xml><?xml version="1.0" encoding="utf-8"?>
<p:tagLst xmlns:a="http://schemas.openxmlformats.org/drawingml/2006/main" xmlns:r="http://schemas.openxmlformats.org/officeDocument/2006/relationships" xmlns:p="http://schemas.openxmlformats.org/presentationml/2006/main">
  <p:tag name="NUM" val="2"/>
</p:tagLst>
</file>

<file path=ppt/tags/tag94.xml><?xml version="1.0" encoding="utf-8"?>
<p:tagLst xmlns:a="http://schemas.openxmlformats.org/drawingml/2006/main" xmlns:r="http://schemas.openxmlformats.org/officeDocument/2006/relationships" xmlns:p="http://schemas.openxmlformats.org/presentationml/2006/main">
  <p:tag name="NUM" val="3"/>
</p:tagLst>
</file>

<file path=ppt/tags/tag95.xml><?xml version="1.0" encoding="utf-8"?>
<p:tagLst xmlns:a="http://schemas.openxmlformats.org/drawingml/2006/main" xmlns:r="http://schemas.openxmlformats.org/officeDocument/2006/relationships" xmlns:p="http://schemas.openxmlformats.org/presentationml/2006/main">
  <p:tag name="NUM" val="4"/>
</p:tagLst>
</file>

<file path=ppt/tags/tag96.xml><?xml version="1.0" encoding="utf-8"?>
<p:tagLst xmlns:a="http://schemas.openxmlformats.org/drawingml/2006/main" xmlns:r="http://schemas.openxmlformats.org/officeDocument/2006/relationships" xmlns:p="http://schemas.openxmlformats.org/presentationml/2006/main">
  <p:tag name="NUM" val="5"/>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3"/>
</p:tagLst>
</file>

<file path=ppt/tags/tag100.xml><?xml version="1.0" encoding="utf-8"?>
<p:tagLst xmlns:a="http://schemas.openxmlformats.org/drawingml/2006/main" xmlns:r="http://schemas.openxmlformats.org/officeDocument/2006/relationships" xmlns:p="http://schemas.openxmlformats.org/presentationml/2006/main">
  <p:tag name="NUM" val="4"/>
</p:tagLst>
</file>

<file path=ppt/tags/tag101.xml><?xml version="1.0" encoding="utf-8"?>
<p:tagLst xmlns:a="http://schemas.openxmlformats.org/drawingml/2006/main" xmlns:r="http://schemas.openxmlformats.org/officeDocument/2006/relationships" xmlns:p="http://schemas.openxmlformats.org/presentationml/2006/main">
  <p:tag name="NUM" val="5"/>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4"/>
</p:tagLst>
</file>

<file path=ppt/tags/tag106.xml><?xml version="1.0" encoding="utf-8"?>
<p:tagLst xmlns:a="http://schemas.openxmlformats.org/drawingml/2006/main" xmlns:r="http://schemas.openxmlformats.org/officeDocument/2006/relationships" xmlns:p="http://schemas.openxmlformats.org/presentationml/2006/main">
  <p:tag name="NUM" val="5"/>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4"/>
</p:tagLst>
</file>

<file path=ppt/tags/tag113.xml><?xml version="1.0" encoding="utf-8"?>
<p:tagLst xmlns:a="http://schemas.openxmlformats.org/drawingml/2006/main" xmlns:r="http://schemas.openxmlformats.org/officeDocument/2006/relationships" xmlns:p="http://schemas.openxmlformats.org/presentationml/2006/main">
  <p:tag name="NUM" val="5"/>
</p:tagLst>
</file>

<file path=ppt/tags/tag114.xml><?xml version="1.0" encoding="utf-8"?>
<p:tagLst xmlns:a="http://schemas.openxmlformats.org/drawingml/2006/main" xmlns:r="http://schemas.openxmlformats.org/officeDocument/2006/relationships" xmlns:p="http://schemas.openxmlformats.org/presentationml/2006/main">
  <p:tag name="NUM" val="6"/>
</p:tagLst>
</file>

<file path=ppt/tags/tag115.xml><?xml version="1.0" encoding="utf-8"?>
<p:tagLst xmlns:a="http://schemas.openxmlformats.org/drawingml/2006/main" xmlns:r="http://schemas.openxmlformats.org/officeDocument/2006/relationships" xmlns:p="http://schemas.openxmlformats.org/presentationml/2006/main">
  <p:tag name="NOPREFERENCE" val="False"/>
</p:tagLst>
</file>

<file path=ppt/tags/tag116.xml><?xml version="1.0" encoding="utf-8"?>
<p:tagLst xmlns:a="http://schemas.openxmlformats.org/drawingml/2006/main" xmlns:r="http://schemas.openxmlformats.org/officeDocument/2006/relationships" xmlns:p="http://schemas.openxmlformats.org/presentationml/2006/main">
  <p:tag name="NUM" val="1"/>
</p:tagLst>
</file>

<file path=ppt/tags/tag117.xml><?xml version="1.0" encoding="utf-8"?>
<p:tagLst xmlns:a="http://schemas.openxmlformats.org/drawingml/2006/main" xmlns:r="http://schemas.openxmlformats.org/officeDocument/2006/relationships" xmlns:p="http://schemas.openxmlformats.org/presentationml/2006/main">
  <p:tag name="NUM" val="2"/>
</p:tagLst>
</file>

<file path=ppt/tags/tag118.xml><?xml version="1.0" encoding="utf-8"?>
<p:tagLst xmlns:a="http://schemas.openxmlformats.org/drawingml/2006/main" xmlns:r="http://schemas.openxmlformats.org/officeDocument/2006/relationships" xmlns:p="http://schemas.openxmlformats.org/presentationml/2006/main">
  <p:tag name="NUM" val="3"/>
</p:tagLst>
</file>

<file path=ppt/tags/tag119.xml><?xml version="1.0" encoding="utf-8"?>
<p:tagLst xmlns:a="http://schemas.openxmlformats.org/drawingml/2006/main" xmlns:r="http://schemas.openxmlformats.org/officeDocument/2006/relationships" xmlns:p="http://schemas.openxmlformats.org/presentationml/2006/main">
  <p:tag name="NUM" val="4"/>
</p:tagLst>
</file>

<file path=ppt/tags/tag120.xml><?xml version="1.0" encoding="utf-8"?>
<p:tagLst xmlns:a="http://schemas.openxmlformats.org/drawingml/2006/main" xmlns:r="http://schemas.openxmlformats.org/officeDocument/2006/relationships" xmlns:p="http://schemas.openxmlformats.org/presentationml/2006/main">
  <p:tag name="NUM" val="5"/>
</p:tagLst>
</file>

<file path=ppt/tags/tag121.xml><?xml version="1.0" encoding="utf-8"?>
<p:tagLst xmlns:a="http://schemas.openxmlformats.org/drawingml/2006/main" xmlns:r="http://schemas.openxmlformats.org/officeDocument/2006/relationships" xmlns:p="http://schemas.openxmlformats.org/presentationml/2006/main">
  <p:tag name="NUM" val="6"/>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4.xml><?xml version="1.0" encoding="utf-8"?>
<p:tagLst xmlns:a="http://schemas.openxmlformats.org/drawingml/2006/main" xmlns:r="http://schemas.openxmlformats.org/officeDocument/2006/relationships" xmlns:p="http://schemas.openxmlformats.org/presentationml/2006/main">
  <p:tag name="NUM" val="4"/>
</p:tagLst>
</file>

<file path=ppt/tags/tag125.xml><?xml version="1.0" encoding="utf-8"?>
<p:tagLst xmlns:a="http://schemas.openxmlformats.org/drawingml/2006/main" xmlns:r="http://schemas.openxmlformats.org/officeDocument/2006/relationships" xmlns:p="http://schemas.openxmlformats.org/presentationml/2006/main">
  <p:tag name="NUM" val="5"/>
</p:tagLst>
</file>

<file path=ppt/tags/tag126.xml><?xml version="1.0" encoding="utf-8"?>
<p:tagLst xmlns:a="http://schemas.openxmlformats.org/drawingml/2006/main" xmlns:r="http://schemas.openxmlformats.org/officeDocument/2006/relationships" xmlns:p="http://schemas.openxmlformats.org/presentationml/2006/main">
  <p:tag name="NUM" val="6"/>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1"/>
</p:tagLst>
</file>

<file path=ppt/tags/tag132.xml><?xml version="1.0" encoding="utf-8"?>
<p:tagLst xmlns:a="http://schemas.openxmlformats.org/drawingml/2006/main" xmlns:r="http://schemas.openxmlformats.org/officeDocument/2006/relationships" xmlns:p="http://schemas.openxmlformats.org/presentationml/2006/main">
  <p:tag name="NUM" val="2"/>
</p:tagLst>
</file>

<file path=ppt/tags/tag133.xml><?xml version="1.0" encoding="utf-8"?>
<p:tagLst xmlns:a="http://schemas.openxmlformats.org/drawingml/2006/main" xmlns:r="http://schemas.openxmlformats.org/officeDocument/2006/relationships" xmlns:p="http://schemas.openxmlformats.org/presentationml/2006/main">
  <p:tag name="NUM" val="3"/>
</p:tagLst>
</file>

<file path=ppt/tags/tag134.xml><?xml version="1.0" encoding="utf-8"?>
<p:tagLst xmlns:a="http://schemas.openxmlformats.org/drawingml/2006/main" xmlns:r="http://schemas.openxmlformats.org/officeDocument/2006/relationships" xmlns:p="http://schemas.openxmlformats.org/presentationml/2006/main">
  <p:tag name="NUM" val="4"/>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4"/>
</p:tagLst>
</file>

<file path=ppt/tags/tag139.xml><?xml version="1.0" encoding="utf-8"?>
<p:tagLst xmlns:a="http://schemas.openxmlformats.org/drawingml/2006/main" xmlns:r="http://schemas.openxmlformats.org/officeDocument/2006/relationships" xmlns:p="http://schemas.openxmlformats.org/presentationml/2006/main">
  <p:tag name="NUM" val="1"/>
</p:tagLst>
</file>

<file path=ppt/tags/tag140.xml><?xml version="1.0" encoding="utf-8"?>
<p:tagLst xmlns:a="http://schemas.openxmlformats.org/drawingml/2006/main" xmlns:r="http://schemas.openxmlformats.org/officeDocument/2006/relationships" xmlns:p="http://schemas.openxmlformats.org/presentationml/2006/main">
  <p:tag name="NUM" val="2"/>
</p:tagLst>
</file>

<file path=ppt/tags/tag141.xml><?xml version="1.0" encoding="utf-8"?>
<p:tagLst xmlns:a="http://schemas.openxmlformats.org/drawingml/2006/main" xmlns:r="http://schemas.openxmlformats.org/officeDocument/2006/relationships" xmlns:p="http://schemas.openxmlformats.org/presentationml/2006/main">
  <p:tag name="NUM" val="3"/>
</p:tagLst>
</file>

<file path=ppt/tags/tag142.xml><?xml version="1.0" encoding="utf-8"?>
<p:tagLst xmlns:a="http://schemas.openxmlformats.org/drawingml/2006/main" xmlns:r="http://schemas.openxmlformats.org/officeDocument/2006/relationships" xmlns:p="http://schemas.openxmlformats.org/presentationml/2006/main">
  <p:tag name="NUM" val="4"/>
</p:tagLst>
</file>

<file path=ppt/tags/tag143.xml><?xml version="1.0" encoding="utf-8"?>
<p:tagLst xmlns:a="http://schemas.openxmlformats.org/drawingml/2006/main" xmlns:r="http://schemas.openxmlformats.org/officeDocument/2006/relationships" xmlns:p="http://schemas.openxmlformats.org/presentationml/2006/main">
  <p:tag name="NUM" val="5"/>
</p:tagLst>
</file>

<file path=ppt/tags/tag144.xml><?xml version="1.0" encoding="utf-8"?>
<p:tagLst xmlns:a="http://schemas.openxmlformats.org/drawingml/2006/main" xmlns:r="http://schemas.openxmlformats.org/officeDocument/2006/relationships" xmlns:p="http://schemas.openxmlformats.org/presentationml/2006/main">
  <p:tag name="NUM" val="6"/>
</p:tagLst>
</file>

<file path=ppt/tags/tag145.xml><?xml version="1.0" encoding="utf-8"?>
<p:tagLst xmlns:a="http://schemas.openxmlformats.org/drawingml/2006/main" xmlns:r="http://schemas.openxmlformats.org/officeDocument/2006/relationships" xmlns:p="http://schemas.openxmlformats.org/presentationml/2006/main">
  <p:tag name="NUM" val="7"/>
</p:tagLst>
</file>

<file path=ppt/tags/tag146.xml><?xml version="1.0" encoding="utf-8"?>
<p:tagLst xmlns:a="http://schemas.openxmlformats.org/drawingml/2006/main" xmlns:r="http://schemas.openxmlformats.org/officeDocument/2006/relationships" xmlns:p="http://schemas.openxmlformats.org/presentationml/2006/main">
  <p:tag name="NUM" val="8"/>
</p:tagLst>
</file>

<file path=ppt/tags/tag147.xml><?xml version="1.0" encoding="utf-8"?>
<p:tagLst xmlns:a="http://schemas.openxmlformats.org/drawingml/2006/main" xmlns:r="http://schemas.openxmlformats.org/officeDocument/2006/relationships" xmlns:p="http://schemas.openxmlformats.org/presentationml/2006/main">
  <p:tag name="NOPREFERENCE" val="False"/>
</p:tagLst>
</file>

<file path=ppt/tags/tag148.xml><?xml version="1.0" encoding="utf-8"?>
<p:tagLst xmlns:a="http://schemas.openxmlformats.org/drawingml/2006/main" xmlns:r="http://schemas.openxmlformats.org/officeDocument/2006/relationships" xmlns:p="http://schemas.openxmlformats.org/presentationml/2006/main">
  <p:tag name="NUM" val="1"/>
</p:tagLst>
</file>

<file path=ppt/tags/tag149.xml><?xml version="1.0" encoding="utf-8"?>
<p:tagLst xmlns:a="http://schemas.openxmlformats.org/drawingml/2006/main" xmlns:r="http://schemas.openxmlformats.org/officeDocument/2006/relationships" xmlns:p="http://schemas.openxmlformats.org/presentationml/2006/main">
  <p:tag name="NUM" val="2"/>
</p:tagLst>
</file>

<file path=ppt/tags/tag150.xml><?xml version="1.0" encoding="utf-8"?>
<p:tagLst xmlns:a="http://schemas.openxmlformats.org/drawingml/2006/main" xmlns:r="http://schemas.openxmlformats.org/officeDocument/2006/relationships" xmlns:p="http://schemas.openxmlformats.org/presentationml/2006/main">
  <p:tag name="NUM" val="3"/>
</p:tagLst>
</file>

<file path=ppt/tags/tag151.xml><?xml version="1.0" encoding="utf-8"?>
<p:tagLst xmlns:a="http://schemas.openxmlformats.org/drawingml/2006/main" xmlns:r="http://schemas.openxmlformats.org/officeDocument/2006/relationships" xmlns:p="http://schemas.openxmlformats.org/presentationml/2006/main">
  <p:tag name="NUM" val="4"/>
</p:tagLst>
</file>

<file path=ppt/tags/tag152.xml><?xml version="1.0" encoding="utf-8"?>
<p:tagLst xmlns:a="http://schemas.openxmlformats.org/drawingml/2006/main" xmlns:r="http://schemas.openxmlformats.org/officeDocument/2006/relationships" xmlns:p="http://schemas.openxmlformats.org/presentationml/2006/main">
  <p:tag name="NUM" val="5"/>
</p:tagLst>
</file>

<file path=ppt/tags/tag153.xml><?xml version="1.0" encoding="utf-8"?>
<p:tagLst xmlns:a="http://schemas.openxmlformats.org/drawingml/2006/main" xmlns:r="http://schemas.openxmlformats.org/officeDocument/2006/relationships" xmlns:p="http://schemas.openxmlformats.org/presentationml/2006/main">
  <p:tag name="NUM" val="6"/>
</p:tagLst>
</file>

<file path=ppt/tags/tag154.xml><?xml version="1.0" encoding="utf-8"?>
<p:tagLst xmlns:a="http://schemas.openxmlformats.org/drawingml/2006/main" xmlns:r="http://schemas.openxmlformats.org/officeDocument/2006/relationships" xmlns:p="http://schemas.openxmlformats.org/presentationml/2006/main">
  <p:tag name="NUM" val="7"/>
</p:tagLst>
</file>

<file path=ppt/tags/tag155.xml><?xml version="1.0" encoding="utf-8"?>
<p:tagLst xmlns:a="http://schemas.openxmlformats.org/drawingml/2006/main" xmlns:r="http://schemas.openxmlformats.org/officeDocument/2006/relationships" xmlns:p="http://schemas.openxmlformats.org/presentationml/2006/main">
  <p:tag name="NUM" val="8"/>
</p:tagLst>
</file>

<file path=ppt/tags/tag156.xml><?xml version="1.0" encoding="utf-8"?>
<p:tagLst xmlns:a="http://schemas.openxmlformats.org/drawingml/2006/main" xmlns:r="http://schemas.openxmlformats.org/officeDocument/2006/relationships" xmlns:p="http://schemas.openxmlformats.org/presentationml/2006/main">
  <p:tag name="NUM" val="9"/>
</p:tagLst>
</file>

<file path=ppt/tags/tag157.xml><?xml version="1.0" encoding="utf-8"?>
<p:tagLst xmlns:a="http://schemas.openxmlformats.org/drawingml/2006/main" xmlns:r="http://schemas.openxmlformats.org/officeDocument/2006/relationships" xmlns:p="http://schemas.openxmlformats.org/presentationml/2006/main">
  <p:tag name="NUM" val="10"/>
</p:tagLst>
</file>

<file path=ppt/tags/tag158.xml><?xml version="1.0" encoding="utf-8"?>
<p:tagLst xmlns:a="http://schemas.openxmlformats.org/drawingml/2006/main" xmlns:r="http://schemas.openxmlformats.org/officeDocument/2006/relationships" xmlns:p="http://schemas.openxmlformats.org/presentationml/2006/main">
  <p:tag name="NUM" val="11"/>
</p:tagLst>
</file>

<file path=ppt/tags/tag159.xml><?xml version="1.0" encoding="utf-8"?>
<p:tagLst xmlns:a="http://schemas.openxmlformats.org/drawingml/2006/main" xmlns:r="http://schemas.openxmlformats.org/officeDocument/2006/relationships" xmlns:p="http://schemas.openxmlformats.org/presentationml/2006/main">
  <p:tag name="NUM" val="12"/>
</p:tagLst>
</file>

<file path=ppt/tags/tag160.xml><?xml version="1.0" encoding="utf-8"?>
<p:tagLst xmlns:a="http://schemas.openxmlformats.org/drawingml/2006/main" xmlns:r="http://schemas.openxmlformats.org/officeDocument/2006/relationships" xmlns:p="http://schemas.openxmlformats.org/presentationml/2006/main">
  <p:tag name="NUM" val="13"/>
</p:tagLst>
</file>

<file path=ppt/tags/tag161.xml><?xml version="1.0" encoding="utf-8"?>
<p:tagLst xmlns:a="http://schemas.openxmlformats.org/drawingml/2006/main" xmlns:r="http://schemas.openxmlformats.org/officeDocument/2006/relationships" xmlns:p="http://schemas.openxmlformats.org/presentationml/2006/main">
  <p:tag name="NUM" val="1"/>
</p:tagLst>
</file>

<file path=ppt/tags/tag162.xml><?xml version="1.0" encoding="utf-8"?>
<p:tagLst xmlns:a="http://schemas.openxmlformats.org/drawingml/2006/main" xmlns:r="http://schemas.openxmlformats.org/officeDocument/2006/relationships" xmlns:p="http://schemas.openxmlformats.org/presentationml/2006/main">
  <p:tag name="NUM" val="2"/>
</p:tagLst>
</file>

<file path=ppt/tags/tag163.xml><?xml version="1.0" encoding="utf-8"?>
<p:tagLst xmlns:a="http://schemas.openxmlformats.org/drawingml/2006/main" xmlns:r="http://schemas.openxmlformats.org/officeDocument/2006/relationships" xmlns:p="http://schemas.openxmlformats.org/presentationml/2006/main">
  <p:tag name="NUM" val="3"/>
</p:tagLst>
</file>

<file path=ppt/tags/tag164.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1_Thème Office">
  <a:themeElements>
    <a:clrScheme name="Personnalisé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1F497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210C906DD6AF4AAA0745DA7F7D668C" ma:contentTypeVersion="14" ma:contentTypeDescription="Create a new document." ma:contentTypeScope="" ma:versionID="8eeb7237fdd22a0de4de2b9852178c43">
  <xsd:schema xmlns:xsd="http://www.w3.org/2001/XMLSchema" xmlns:xs="http://www.w3.org/2001/XMLSchema" xmlns:p="http://schemas.microsoft.com/office/2006/metadata/properties" xmlns:ns3="9b797739-e8dc-4491-9318-4a619ee9b153" xmlns:ns4="08c3be05-7986-4e38-b56c-c7c4a964138c" targetNamespace="http://schemas.microsoft.com/office/2006/metadata/properties" ma:root="true" ma:fieldsID="59d0b6306d32e823f67d091a518c4f3f" ns3:_="" ns4:_="">
    <xsd:import namespace="9b797739-e8dc-4491-9318-4a619ee9b153"/>
    <xsd:import namespace="08c3be05-7986-4e38-b56c-c7c4a964138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797739-e8dc-4491-9318-4a619ee9b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8c3be05-7986-4e38-b56c-c7c4a96413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27AAB36-7FB4-4AF5-BFDD-5CFD1C5E6A1F}">
  <ds:schemaRefs>
    <ds:schemaRef ds:uri="08c3be05-7986-4e38-b56c-c7c4a964138c"/>
    <ds:schemaRef ds:uri="9b797739-e8dc-4491-9318-4a619ee9b1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890E73-5699-4BB9-A57A-10C6FB977C7F}">
  <ds:schemaRefs>
    <ds:schemaRef ds:uri="http://schemas.microsoft.com/sharepoint/v3/contenttype/forms"/>
  </ds:schemaRefs>
</ds:datastoreItem>
</file>

<file path=customXml/itemProps3.xml><?xml version="1.0" encoding="utf-8"?>
<ds:datastoreItem xmlns:ds="http://schemas.openxmlformats.org/officeDocument/2006/customXml" ds:itemID="{5E26450F-9A8B-4D95-8D4A-8B710673398C}">
  <ds:schemaRef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schemas.microsoft.com/office/2006/documentManagement/types"/>
    <ds:schemaRef ds:uri="9b797739-e8dc-4491-9318-4a619ee9b153"/>
    <ds:schemaRef ds:uri="http://www.w3.org/XML/1998/namespace"/>
    <ds:schemaRef ds:uri="http://purl.org/dc/dcmitype/"/>
    <ds:schemaRef ds:uri="http://purl.org/dc/terms/"/>
    <ds:schemaRef ds:uri="08c3be05-7986-4e38-b56c-c7c4a964138c"/>
  </ds:schemaRefs>
</ds:datastoreItem>
</file>

<file path=docProps/app.xml><?xml version="1.0" encoding="utf-8"?>
<Properties xmlns="http://schemas.openxmlformats.org/officeDocument/2006/extended-properties" xmlns:vt="http://schemas.openxmlformats.org/officeDocument/2006/docPropsVTypes">
  <TotalTime>3817</TotalTime>
  <Words>2376</Words>
  <Application>Microsoft Office PowerPoint</Application>
  <PresentationFormat>Grand écran</PresentationFormat>
  <Paragraphs>442</Paragraphs>
  <Slides>30</Slides>
  <Notes>30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30</vt:i4>
      </vt:variant>
    </vt:vector>
  </HeadingPairs>
  <TitlesOfParts>
    <vt:vector size="38" baseType="lpstr">
      <vt:lpstr>Arial</vt:lpstr>
      <vt:lpstr>Avenir Next</vt:lpstr>
      <vt:lpstr>Calibri</vt:lpstr>
      <vt:lpstr>Calibri Light</vt:lpstr>
      <vt:lpstr>Gill Sans MT</vt:lpstr>
      <vt:lpstr>Lato Light</vt:lpstr>
      <vt:lpstr>Poppins</vt:lpstr>
      <vt:lpstr>1_Thème Office</vt:lpstr>
      <vt:lpstr>Comptabilité de gestion (10904) – Séance 4 Séance en classe</vt:lpstr>
      <vt:lpstr>État des résultats (révision) (enseignants)</vt:lpstr>
      <vt:lpstr>Retour séance 3 - L’analyse différentielle  Le cas de la commande spéciale</vt:lpstr>
      <vt:lpstr>Retour séance 3 - L’analyse différentielle  Le cas de la commande spéciale</vt:lpstr>
      <vt:lpstr>La prise de décision d’exploitation  et les marges</vt:lpstr>
      <vt:lpstr>Présentation PowerPoint</vt:lpstr>
      <vt:lpstr>Présentation PowerPoint</vt:lpstr>
      <vt:lpstr>Objectifs de la séance</vt:lpstr>
      <vt:lpstr>Les décisions d’exploitation</vt:lpstr>
      <vt:lpstr>Coûts spécifiques et Coûts communs (rappel)</vt:lpstr>
      <vt:lpstr>Les marges et la prise de décision</vt:lpstr>
      <vt:lpstr>Question de révision </vt:lpstr>
      <vt:lpstr>Piste de solution (étudiant)</vt:lpstr>
      <vt:lpstr>Piste de solution (étudiant)</vt:lpstr>
      <vt:lpstr>La marge sur coûts spécifiques d’un objet de coût</vt:lpstr>
      <vt:lpstr>Calcul de la marge sur coûts spécifiques</vt:lpstr>
      <vt:lpstr>Choisir parmi une gamme de produits</vt:lpstr>
      <vt:lpstr>Exemples de facteurs contraignants </vt:lpstr>
      <vt:lpstr>Illustration Eléctroflux</vt:lpstr>
      <vt:lpstr>RÉFLEXION : </vt:lpstr>
      <vt:lpstr>La marge sur coûts variables totales</vt:lpstr>
      <vt:lpstr>La marge par unité d’un  facteur de production contraignant</vt:lpstr>
      <vt:lpstr>La marge par unité d’un facteur de production contraignant</vt:lpstr>
      <vt:lpstr>Établir le plan de production optimal (en unités)  pour maximiser le résultat d’exploitation</vt:lpstr>
      <vt:lpstr>Les marges étudiées jusqu’à présent (sommaire)</vt:lpstr>
      <vt:lpstr>Analyse des marges - objectifs</vt:lpstr>
      <vt:lpstr>Exercice Pub du plateau 10B.1</vt:lpstr>
      <vt:lpstr>Les décisions d’exploitation (sommaire)</vt:lpstr>
      <vt:lpstr>Conclusion – Séance 4</vt:lpstr>
      <vt:lpstr>QUESTIONS…</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gestion des coûts (3-929-13)</dc:title>
  <dc:creator>denise landry</dc:creator>
  <cp:lastModifiedBy>Loecha Philion</cp:lastModifiedBy>
  <cp:revision>5</cp:revision>
  <cp:lastPrinted>2018-06-20T15:17:28Z</cp:lastPrinted>
  <dcterms:created xsi:type="dcterms:W3CDTF">2018-05-11T17:44:51Z</dcterms:created>
  <dcterms:modified xsi:type="dcterms:W3CDTF">2026-09-02T17:16:42Z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0x0101003F210C906DD6AF4AAA0745DA7F7D668C</vt:lpwstr>
  </property>
</Properties>
</file>