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3.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8.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1.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2.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3.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4.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5.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7.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9.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0.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1.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22.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23.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24.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25.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6.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27.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28.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74" r:id="rId5"/>
  </p:sldMasterIdLst>
  <p:notesMasterIdLst>
    <p:notesMasterId r:id="rId52"/>
  </p:notesMasterIdLst>
  <p:sldIdLst>
    <p:sldId id="4372" r:id="rId6"/>
    <p:sldId id="4442" r:id="rId7"/>
    <p:sldId id="4562" r:id="rId8"/>
    <p:sldId id="4564" r:id="rId9"/>
    <p:sldId id="4570" r:id="rId10"/>
    <p:sldId id="4559" r:id="rId11"/>
    <p:sldId id="4560" r:id="rId12"/>
    <p:sldId id="4569" r:id="rId13"/>
    <p:sldId id="4568" r:id="rId14"/>
    <p:sldId id="4573" r:id="rId15"/>
    <p:sldId id="4455" r:id="rId16"/>
    <p:sldId id="4545" r:id="rId17"/>
    <p:sldId id="4566" r:id="rId18"/>
    <p:sldId id="308" r:id="rId19"/>
    <p:sldId id="4433" r:id="rId20"/>
    <p:sldId id="4424" r:id="rId21"/>
    <p:sldId id="4453" r:id="rId22"/>
    <p:sldId id="4454" r:id="rId23"/>
    <p:sldId id="4565" r:id="rId24"/>
    <p:sldId id="4421" r:id="rId25"/>
    <p:sldId id="4432" r:id="rId26"/>
    <p:sldId id="4409" r:id="rId27"/>
    <p:sldId id="4410" r:id="rId28"/>
    <p:sldId id="4408" r:id="rId29"/>
    <p:sldId id="4542" r:id="rId30"/>
    <p:sldId id="4375" r:id="rId31"/>
    <p:sldId id="4440" r:id="rId32"/>
    <p:sldId id="4558" r:id="rId33"/>
    <p:sldId id="4554" r:id="rId34"/>
    <p:sldId id="4465" r:id="rId35"/>
    <p:sldId id="4451" r:id="rId36"/>
    <p:sldId id="4544" r:id="rId37"/>
    <p:sldId id="4448" r:id="rId38"/>
    <p:sldId id="4467" r:id="rId39"/>
    <p:sldId id="4548" r:id="rId40"/>
    <p:sldId id="4450" r:id="rId41"/>
    <p:sldId id="4466" r:id="rId42"/>
    <p:sldId id="4434" r:id="rId43"/>
    <p:sldId id="4443" r:id="rId44"/>
    <p:sldId id="4567" r:id="rId45"/>
    <p:sldId id="4447" r:id="rId46"/>
    <p:sldId id="4571" r:id="rId47"/>
    <p:sldId id="4572" r:id="rId48"/>
    <p:sldId id="4553" r:id="rId49"/>
    <p:sldId id="4555" r:id="rId50"/>
    <p:sldId id="4445" r:id="rId51"/>
  </p:sldIdLst>
  <p:sldSz cx="12192000" cy="6858000"/>
  <p:notesSz cx="6858000" cy="9144000"/>
  <p:embeddedFontLst>
    <p:embeddedFont>
      <p:font typeface="Arial Rounded MT Bold" panose="020F0704030504030204" pitchFamily="34" charset="0"/>
      <p:regular r:id="rId53"/>
    </p:embeddedFont>
    <p:embeddedFont>
      <p:font typeface="DIN Engschrift Std" panose="020B0606020202020204" pitchFamily="34" charset="0"/>
      <p:regular r:id="rId54"/>
    </p:embeddedFont>
    <p:embeddedFont>
      <p:font typeface="DIN OT" panose="020B0504020201010104" pitchFamily="34" charset="0"/>
      <p:regular r:id="rId55"/>
      <p:bold r:id="rId56"/>
      <p:italic r:id="rId57"/>
      <p:boldItalic r:id="rId58"/>
    </p:embeddedFont>
    <p:embeddedFont>
      <p:font typeface="JetBrains Mono NL" panose="02000009000000000000" pitchFamily="49" charset="0"/>
      <p:regular r:id="rId59"/>
    </p:embeddedFont>
    <p:embeddedFont>
      <p:font typeface="Script MT Bold" panose="03040602040607080904" pitchFamily="66" charset="0"/>
      <p:bold r:id="rId60"/>
    </p:embeddedFont>
    <p:embeddedFont>
      <p:font typeface="Visby CF" pitchFamily="50" charset="0"/>
      <p:regular r:id="rId61"/>
      <p:italic r:id="rId62"/>
    </p:embeddedFont>
    <p:embeddedFont>
      <p:font typeface="Visby CF Bold" pitchFamily="50" charset="0"/>
      <p:bold r:id="rId63"/>
      <p:italic r:id="rId64"/>
      <p:boldItalic r:id="rId65"/>
    </p:embeddedFont>
    <p:embeddedFont>
      <p:font typeface="Visby CF Extra Bold" pitchFamily="50" charset="0"/>
      <p:bold r:id="rId66"/>
      <p:boldItalic r:id="rId67"/>
    </p:embeddedFont>
    <p:embeddedFont>
      <p:font typeface="Visby CF Light" pitchFamily="50" charset="0"/>
      <p:regular r:id="rId68"/>
      <p:italic r:id="rId69"/>
    </p:embeddedFont>
    <p:embeddedFont>
      <p:font typeface="Visby CF Medium" pitchFamily="50" charset="0"/>
      <p:regular r:id="rId70"/>
      <p:italic r:id="rId71"/>
    </p:embeddedFont>
    <p:embeddedFont>
      <p:font typeface="Visby Slab CF" panose="00000500000000000000" pitchFamily="50" charset="0"/>
      <p:regular r:id="rId72"/>
      <p:italic r:id="rId73"/>
    </p:embeddedFont>
    <p:embeddedFont>
      <p:font typeface="Visby Slab CF Bold" panose="00000800000000000000" pitchFamily="50" charset="0"/>
      <p:bold r:id="rId74"/>
      <p:italic r:id="rId75"/>
      <p:boldItalic r:id="rId76"/>
    </p:embeddedFont>
    <p:embeddedFont>
      <p:font typeface="Visby Slab CF Demi Bold" panose="00000700000000000000" pitchFamily="50" charset="0"/>
      <p:regular r:id="rId77"/>
      <p:bold r:id="rId78"/>
      <p:italic r:id="rId79"/>
      <p:boldItalic r:id="rId80"/>
    </p:embeddedFont>
    <p:embeddedFont>
      <p:font typeface="Visby Slab CF Heavy" panose="00000A00000000000000" pitchFamily="50" charset="0"/>
      <p:bold r:id="rId81"/>
      <p:italic r:id="rId82"/>
      <p:boldItalic r:id="rId8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EC7"/>
    <a:srgbClr val="CDE9F2"/>
    <a:srgbClr val="D9E0E1"/>
    <a:srgbClr val="E8F7EC"/>
    <a:srgbClr val="FFFFFF"/>
    <a:srgbClr val="2066B4"/>
    <a:srgbClr val="BE5597"/>
    <a:srgbClr val="B33A87"/>
    <a:srgbClr val="C8262B"/>
    <a:srgbClr val="02A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823643-A07D-4F2C-8962-DFC55B3FDFE3}" v="2" dt="2026-08-20T16:11:17.12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0"/>
    <p:restoredTop sz="72925"/>
  </p:normalViewPr>
  <p:slideViewPr>
    <p:cSldViewPr snapToGrid="0">
      <p:cViewPr varScale="1">
        <p:scale>
          <a:sx n="77" d="100"/>
          <a:sy n="77" d="100"/>
        </p:scale>
        <p:origin x="1584"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1.fntdata"/><Relationship Id="rId68" Type="http://schemas.openxmlformats.org/officeDocument/2006/relationships/font" Target="fonts/font16.fntdata"/><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 Type="http://schemas.openxmlformats.org/officeDocument/2006/relationships/slideMaster" Target="slideMasters/slideMaster2.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20.fntdata"/><Relationship Id="rId80" Type="http://schemas.openxmlformats.org/officeDocument/2006/relationships/font" Target="fonts/font28.fntdata"/><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font" Target="fonts/font31.fntdata"/><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5.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font" Target="fonts/font29.fntdata"/><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font" Target="fonts/font3.fntdata"/><Relationship Id="rId76" Type="http://schemas.openxmlformats.org/officeDocument/2006/relationships/font" Target="fonts/font24.fntdata"/><Relationship Id="rId7" Type="http://schemas.openxmlformats.org/officeDocument/2006/relationships/slide" Target="slides/slide2.xml"/><Relationship Id="rId71" Type="http://schemas.openxmlformats.org/officeDocument/2006/relationships/font" Target="fonts/font19.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14.fntdata"/><Relationship Id="rId87" Type="http://schemas.openxmlformats.org/officeDocument/2006/relationships/tableStyles" Target="tableStyles.xml"/><Relationship Id="rId61" Type="http://schemas.openxmlformats.org/officeDocument/2006/relationships/font" Target="fonts/font9.fntdata"/><Relationship Id="rId82" Type="http://schemas.openxmlformats.org/officeDocument/2006/relationships/font" Target="fonts/font30.fntdata"/><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laude Trudel" userId="e09e5fd0-69eb-4066-ab3a-d45a4373e80c" providerId="ADAL" clId="{B5DE319A-E534-44C9-BD5A-853721C828A0}"/>
    <pc:docChg chg="undo custSel addSld delSld modSld sldOrd">
      <pc:chgData name="Marie-Claude Trudel" userId="e09e5fd0-69eb-4066-ab3a-d45a4373e80c" providerId="ADAL" clId="{B5DE319A-E534-44C9-BD5A-853721C828A0}" dt="2026-08-20T16:55:55.470" v="1219" actId="20577"/>
      <pc:docMkLst>
        <pc:docMk/>
      </pc:docMkLst>
      <pc:sldChg chg="modSp mod">
        <pc:chgData name="Marie-Claude Trudel" userId="e09e5fd0-69eb-4066-ab3a-d45a4373e80c" providerId="ADAL" clId="{B5DE319A-E534-44C9-BD5A-853721C828A0}" dt="2026-08-20T16:55:55.470" v="1219" actId="20577"/>
        <pc:sldMkLst>
          <pc:docMk/>
          <pc:sldMk cId="365568331" sldId="4448"/>
        </pc:sldMkLst>
        <pc:spChg chg="mod">
          <ac:chgData name="Marie-Claude Trudel" userId="e09e5fd0-69eb-4066-ab3a-d45a4373e80c" providerId="ADAL" clId="{B5DE319A-E534-44C9-BD5A-853721C828A0}" dt="2026-08-20T16:55:55.470" v="1219" actId="20577"/>
          <ac:spMkLst>
            <pc:docMk/>
            <pc:sldMk cId="365568331" sldId="4448"/>
            <ac:spMk id="3" creationId="{B7F7BE4F-5BCB-22D8-5968-1C665B949FDF}"/>
          </ac:spMkLst>
        </pc:spChg>
      </pc:sldChg>
      <pc:sldChg chg="addSp modSp mod">
        <pc:chgData name="Marie-Claude Trudel" userId="e09e5fd0-69eb-4066-ab3a-d45a4373e80c" providerId="ADAL" clId="{B5DE319A-E534-44C9-BD5A-853721C828A0}" dt="2026-08-20T16:15:59.949" v="1217" actId="20577"/>
        <pc:sldMkLst>
          <pc:docMk/>
          <pc:sldMk cId="583517422" sldId="4544"/>
        </pc:sldMkLst>
        <pc:graphicFrameChg chg="modGraphic">
          <ac:chgData name="Marie-Claude Trudel" userId="e09e5fd0-69eb-4066-ab3a-d45a4373e80c" providerId="ADAL" clId="{B5DE319A-E534-44C9-BD5A-853721C828A0}" dt="2026-08-20T16:15:56.322" v="1213" actId="20577"/>
          <ac:graphicFrameMkLst>
            <pc:docMk/>
            <pc:sldMk cId="583517422" sldId="4544"/>
            <ac:graphicFrameMk id="3" creationId="{93AC9DB3-7569-56FF-4459-274AD5E22EC7}"/>
          </ac:graphicFrameMkLst>
        </pc:graphicFrameChg>
        <pc:graphicFrameChg chg="modGraphic">
          <ac:chgData name="Marie-Claude Trudel" userId="e09e5fd0-69eb-4066-ab3a-d45a4373e80c" providerId="ADAL" clId="{B5DE319A-E534-44C9-BD5A-853721C828A0}" dt="2026-08-20T16:15:59.949" v="1217" actId="20577"/>
          <ac:graphicFrameMkLst>
            <pc:docMk/>
            <pc:sldMk cId="583517422" sldId="4544"/>
            <ac:graphicFrameMk id="5" creationId="{B8F7F5B5-9039-98E4-7CEF-729E0A16409C}"/>
          </ac:graphicFrameMkLst>
        </pc:graphicFrameChg>
        <pc:graphicFrameChg chg="add mod">
          <ac:chgData name="Marie-Claude Trudel" userId="e09e5fd0-69eb-4066-ab3a-d45a4373e80c" providerId="ADAL" clId="{B5DE319A-E534-44C9-BD5A-853721C828A0}" dt="2026-08-20T16:11:17.123" v="1151"/>
          <ac:graphicFrameMkLst>
            <pc:docMk/>
            <pc:sldMk cId="583517422" sldId="4544"/>
            <ac:graphicFrameMk id="6" creationId="{1EF7EAB9-49AF-94DA-9E0C-2BC6A77D58D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53FF98-9272-4805-B0E8-599F3E1BA8C8}" type="doc">
      <dgm:prSet loTypeId="urn:microsoft.com/office/officeart/2005/8/layout/process1" loCatId="process" qsTypeId="urn:microsoft.com/office/officeart/2005/8/quickstyle/simple1" qsCatId="simple" csTypeId="urn:microsoft.com/office/officeart/2005/8/colors/accent5_2" csCatId="accent5" phldr="1"/>
      <dgm:spPr/>
    </dgm:pt>
    <dgm:pt modelId="{1CFCA738-5388-4C06-9EFC-0DF12CB683AE}">
      <dgm:prSet phldrT="[Texte]"/>
      <dgm:spPr>
        <a:solidFill>
          <a:schemeClr val="accent3"/>
        </a:solidFill>
        <a:ln>
          <a:solidFill>
            <a:schemeClr val="accent3"/>
          </a:solidFill>
        </a:ln>
      </dgm:spPr>
      <dgm:t>
        <a:bodyPr/>
        <a:lstStyle/>
        <a:p>
          <a:r>
            <a:rPr lang="fr-CA">
              <a:solidFill>
                <a:schemeClr val="bg1"/>
              </a:solidFill>
              <a:latin typeface="Visby CF" pitchFamily="50" charset="0"/>
            </a:rPr>
            <a:t>Source</a:t>
          </a:r>
        </a:p>
      </dgm:t>
    </dgm:pt>
    <dgm:pt modelId="{CD0FD597-5C73-4AD0-94D0-7118416CD33D}" type="parTrans" cxnId="{69F04F77-1273-4183-A597-225BB949CDCE}">
      <dgm:prSet/>
      <dgm:spPr/>
      <dgm:t>
        <a:bodyPr/>
        <a:lstStyle/>
        <a:p>
          <a:endParaRPr lang="fr-CA">
            <a:solidFill>
              <a:schemeClr val="tx1"/>
            </a:solidFill>
          </a:endParaRPr>
        </a:p>
      </dgm:t>
    </dgm:pt>
    <dgm:pt modelId="{4EF6E49F-10C2-4878-A481-09960DDE99AD}" type="sibTrans" cxnId="{69F04F77-1273-4183-A597-225BB949CDCE}">
      <dgm:prSet/>
      <dgm:spPr>
        <a:solidFill>
          <a:schemeClr val="accent1"/>
        </a:solidFill>
        <a:ln>
          <a:solidFill>
            <a:schemeClr val="accent1"/>
          </a:solidFill>
        </a:ln>
      </dgm:spPr>
      <dgm:t>
        <a:bodyPr/>
        <a:lstStyle/>
        <a:p>
          <a:endParaRPr lang="fr-CA">
            <a:solidFill>
              <a:schemeClr val="tx1"/>
            </a:solidFill>
          </a:endParaRPr>
        </a:p>
      </dgm:t>
    </dgm:pt>
    <dgm:pt modelId="{29C85538-ECD0-4570-8869-4144ABD89C95}">
      <dgm:prSet phldrT="[Texte]" custT="1"/>
      <dgm:spPr>
        <a:solidFill>
          <a:schemeClr val="accent6"/>
        </a:solidFill>
        <a:ln>
          <a:solidFill>
            <a:schemeClr val="accent6"/>
          </a:solidFill>
        </a:ln>
      </dgm:spPr>
      <dgm:t>
        <a:bodyPr/>
        <a:lstStyle/>
        <a:p>
          <a:r>
            <a:rPr lang="fr-CA" sz="1050">
              <a:solidFill>
                <a:schemeClr val="tx1"/>
              </a:solidFill>
              <a:latin typeface="Visby CF" pitchFamily="50" charset="0"/>
            </a:rPr>
            <a:t>Saisie</a:t>
          </a:r>
        </a:p>
      </dgm:t>
    </dgm:pt>
    <dgm:pt modelId="{0C2F5547-B651-44C6-90BA-F032A88467A6}" type="parTrans" cxnId="{35F24B5F-237B-4C37-98B5-30FBC231EDB3}">
      <dgm:prSet/>
      <dgm:spPr/>
      <dgm:t>
        <a:bodyPr/>
        <a:lstStyle/>
        <a:p>
          <a:endParaRPr lang="fr-CA">
            <a:solidFill>
              <a:schemeClr val="tx1"/>
            </a:solidFill>
          </a:endParaRPr>
        </a:p>
      </dgm:t>
    </dgm:pt>
    <dgm:pt modelId="{FEC35E61-AABC-43EC-AD62-796814466DA5}" type="sibTrans" cxnId="{35F24B5F-237B-4C37-98B5-30FBC231EDB3}">
      <dgm:prSet/>
      <dgm:spPr>
        <a:solidFill>
          <a:schemeClr val="accent1"/>
        </a:solidFill>
        <a:ln>
          <a:solidFill>
            <a:schemeClr val="accent1"/>
          </a:solidFill>
        </a:ln>
      </dgm:spPr>
      <dgm:t>
        <a:bodyPr/>
        <a:lstStyle/>
        <a:p>
          <a:endParaRPr lang="fr-CA">
            <a:solidFill>
              <a:schemeClr val="tx1"/>
            </a:solidFill>
          </a:endParaRPr>
        </a:p>
      </dgm:t>
    </dgm:pt>
    <dgm:pt modelId="{6BC6EFFE-CF9C-45A2-ABFD-84A58D146DDE}">
      <dgm:prSet phldrT="[Texte]" custT="1"/>
      <dgm:spPr>
        <a:solidFill>
          <a:schemeClr val="accent6"/>
        </a:solidFill>
        <a:ln>
          <a:solidFill>
            <a:schemeClr val="accent6"/>
          </a:solidFill>
        </a:ln>
      </dgm:spPr>
      <dgm:t>
        <a:bodyPr/>
        <a:lstStyle/>
        <a:p>
          <a:r>
            <a:rPr lang="fr-CA" sz="1050">
              <a:solidFill>
                <a:schemeClr val="tx1"/>
              </a:solidFill>
              <a:latin typeface="Visby CF" pitchFamily="50" charset="0"/>
            </a:rPr>
            <a:t>Transformation</a:t>
          </a:r>
        </a:p>
      </dgm:t>
    </dgm:pt>
    <dgm:pt modelId="{1C8F98EF-9D38-4188-856B-591A3DD2058F}" type="parTrans" cxnId="{8951C57F-A980-4E95-B4A7-473A66F6A28A}">
      <dgm:prSet/>
      <dgm:spPr/>
      <dgm:t>
        <a:bodyPr/>
        <a:lstStyle/>
        <a:p>
          <a:endParaRPr lang="fr-CA">
            <a:solidFill>
              <a:schemeClr val="tx1"/>
            </a:solidFill>
          </a:endParaRPr>
        </a:p>
      </dgm:t>
    </dgm:pt>
    <dgm:pt modelId="{B6688D69-7274-4263-A8AE-5506436444B1}" type="sibTrans" cxnId="{8951C57F-A980-4E95-B4A7-473A66F6A28A}">
      <dgm:prSet/>
      <dgm:spPr>
        <a:solidFill>
          <a:schemeClr val="accent1"/>
        </a:solidFill>
        <a:ln>
          <a:solidFill>
            <a:schemeClr val="accent1"/>
          </a:solidFill>
        </a:ln>
      </dgm:spPr>
      <dgm:t>
        <a:bodyPr/>
        <a:lstStyle/>
        <a:p>
          <a:endParaRPr lang="fr-CA">
            <a:solidFill>
              <a:schemeClr val="tx1"/>
            </a:solidFill>
          </a:endParaRPr>
        </a:p>
      </dgm:t>
    </dgm:pt>
    <dgm:pt modelId="{74AFE0DA-17B9-42AF-98DA-4CF13451C521}">
      <dgm:prSet phldrT="[Texte]" custT="1"/>
      <dgm:spPr>
        <a:solidFill>
          <a:schemeClr val="accent6"/>
        </a:solidFill>
        <a:ln>
          <a:solidFill>
            <a:schemeClr val="accent6"/>
          </a:solidFill>
        </a:ln>
      </dgm:spPr>
      <dgm:t>
        <a:bodyPr/>
        <a:lstStyle/>
        <a:p>
          <a:r>
            <a:rPr lang="fr-CA" sz="1050">
              <a:solidFill>
                <a:schemeClr val="tx1"/>
              </a:solidFill>
              <a:latin typeface="Visby CF" pitchFamily="50" charset="0"/>
            </a:rPr>
            <a:t>Diffusion</a:t>
          </a:r>
        </a:p>
      </dgm:t>
    </dgm:pt>
    <dgm:pt modelId="{643EC6B5-4DA9-45C3-B1E7-431839A94538}" type="parTrans" cxnId="{7B778A77-D010-4C00-AE5A-E6FF166324A7}">
      <dgm:prSet/>
      <dgm:spPr/>
      <dgm:t>
        <a:bodyPr/>
        <a:lstStyle/>
        <a:p>
          <a:endParaRPr lang="fr-CA">
            <a:solidFill>
              <a:schemeClr val="tx1"/>
            </a:solidFill>
          </a:endParaRPr>
        </a:p>
      </dgm:t>
    </dgm:pt>
    <dgm:pt modelId="{0E7643F2-FD47-4A6A-B3A6-0CDBA4EA212E}" type="sibTrans" cxnId="{7B778A77-D010-4C00-AE5A-E6FF166324A7}">
      <dgm:prSet/>
      <dgm:spPr>
        <a:solidFill>
          <a:schemeClr val="accent1"/>
        </a:solidFill>
        <a:ln>
          <a:solidFill>
            <a:schemeClr val="accent1"/>
          </a:solidFill>
        </a:ln>
      </dgm:spPr>
      <dgm:t>
        <a:bodyPr/>
        <a:lstStyle/>
        <a:p>
          <a:endParaRPr lang="fr-CA">
            <a:solidFill>
              <a:schemeClr val="tx1"/>
            </a:solidFill>
          </a:endParaRPr>
        </a:p>
      </dgm:t>
    </dgm:pt>
    <dgm:pt modelId="{59AA0629-9035-4CC4-98BF-EDF85343D602}">
      <dgm:prSet phldrT="[Texte]"/>
      <dgm:spPr>
        <a:solidFill>
          <a:schemeClr val="accent3"/>
        </a:solidFill>
        <a:ln>
          <a:solidFill>
            <a:schemeClr val="accent3"/>
          </a:solidFill>
        </a:ln>
      </dgm:spPr>
      <dgm:t>
        <a:bodyPr/>
        <a:lstStyle/>
        <a:p>
          <a:r>
            <a:rPr lang="fr-CA">
              <a:solidFill>
                <a:schemeClr val="bg1"/>
              </a:solidFill>
              <a:latin typeface="Visby CF" pitchFamily="50" charset="0"/>
            </a:rPr>
            <a:t>Destination</a:t>
          </a:r>
        </a:p>
      </dgm:t>
    </dgm:pt>
    <dgm:pt modelId="{2D1DA5E5-A698-40C5-82E6-4B4128B66F7A}" type="parTrans" cxnId="{CFDCC365-8A73-4DD8-B9F7-E499DABE0007}">
      <dgm:prSet/>
      <dgm:spPr/>
      <dgm:t>
        <a:bodyPr/>
        <a:lstStyle/>
        <a:p>
          <a:endParaRPr lang="fr-CA">
            <a:solidFill>
              <a:schemeClr val="tx1"/>
            </a:solidFill>
          </a:endParaRPr>
        </a:p>
      </dgm:t>
    </dgm:pt>
    <dgm:pt modelId="{A3B7D06A-5E29-4C44-B221-9663BA30AFEC}" type="sibTrans" cxnId="{CFDCC365-8A73-4DD8-B9F7-E499DABE0007}">
      <dgm:prSet/>
      <dgm:spPr/>
      <dgm:t>
        <a:bodyPr/>
        <a:lstStyle/>
        <a:p>
          <a:endParaRPr lang="fr-CA">
            <a:solidFill>
              <a:schemeClr val="tx1"/>
            </a:solidFill>
          </a:endParaRPr>
        </a:p>
      </dgm:t>
    </dgm:pt>
    <dgm:pt modelId="{52D38710-B64C-49F5-B6AA-8805C75F8BB9}" type="pres">
      <dgm:prSet presAssocID="{2453FF98-9272-4805-B0E8-599F3E1BA8C8}" presName="Name0" presStyleCnt="0">
        <dgm:presLayoutVars>
          <dgm:dir/>
          <dgm:resizeHandles val="exact"/>
        </dgm:presLayoutVars>
      </dgm:prSet>
      <dgm:spPr/>
    </dgm:pt>
    <dgm:pt modelId="{071FA1C7-26E2-4241-9BEB-5E8BF6B75A95}" type="pres">
      <dgm:prSet presAssocID="{1CFCA738-5388-4C06-9EFC-0DF12CB683AE}" presName="node" presStyleLbl="node1" presStyleIdx="0" presStyleCnt="5">
        <dgm:presLayoutVars>
          <dgm:bulletEnabled val="1"/>
        </dgm:presLayoutVars>
      </dgm:prSet>
      <dgm:spPr/>
    </dgm:pt>
    <dgm:pt modelId="{98C8598C-7C50-4796-842B-A1CB12690C3D}" type="pres">
      <dgm:prSet presAssocID="{4EF6E49F-10C2-4878-A481-09960DDE99AD}" presName="sibTrans" presStyleLbl="sibTrans2D1" presStyleIdx="0" presStyleCnt="4"/>
      <dgm:spPr/>
    </dgm:pt>
    <dgm:pt modelId="{ABB006AC-C48A-4E61-8B46-91355A5FC212}" type="pres">
      <dgm:prSet presAssocID="{4EF6E49F-10C2-4878-A481-09960DDE99AD}" presName="connectorText" presStyleLbl="sibTrans2D1" presStyleIdx="0" presStyleCnt="4"/>
      <dgm:spPr/>
    </dgm:pt>
    <dgm:pt modelId="{716CE81A-1DCD-40A3-AFFE-CD010982AB5D}" type="pres">
      <dgm:prSet presAssocID="{29C85538-ECD0-4570-8869-4144ABD89C95}" presName="node" presStyleLbl="node1" presStyleIdx="1" presStyleCnt="5">
        <dgm:presLayoutVars>
          <dgm:bulletEnabled val="1"/>
        </dgm:presLayoutVars>
      </dgm:prSet>
      <dgm:spPr/>
    </dgm:pt>
    <dgm:pt modelId="{DE4A397E-8136-4BCB-A260-2B50810F5B10}" type="pres">
      <dgm:prSet presAssocID="{FEC35E61-AABC-43EC-AD62-796814466DA5}" presName="sibTrans" presStyleLbl="sibTrans2D1" presStyleIdx="1" presStyleCnt="4"/>
      <dgm:spPr/>
    </dgm:pt>
    <dgm:pt modelId="{DFD9F016-D0C3-44D7-AE5A-9619391A2F8A}" type="pres">
      <dgm:prSet presAssocID="{FEC35E61-AABC-43EC-AD62-796814466DA5}" presName="connectorText" presStyleLbl="sibTrans2D1" presStyleIdx="1" presStyleCnt="4"/>
      <dgm:spPr/>
    </dgm:pt>
    <dgm:pt modelId="{A2CC121C-CBEA-4EBE-B2B3-51FF57117A82}" type="pres">
      <dgm:prSet presAssocID="{6BC6EFFE-CF9C-45A2-ABFD-84A58D146DDE}" presName="node" presStyleLbl="node1" presStyleIdx="2" presStyleCnt="5">
        <dgm:presLayoutVars>
          <dgm:bulletEnabled val="1"/>
        </dgm:presLayoutVars>
      </dgm:prSet>
      <dgm:spPr/>
    </dgm:pt>
    <dgm:pt modelId="{1DC8E66F-B24B-41E6-A81B-8A68E28E1F99}" type="pres">
      <dgm:prSet presAssocID="{B6688D69-7274-4263-A8AE-5506436444B1}" presName="sibTrans" presStyleLbl="sibTrans2D1" presStyleIdx="2" presStyleCnt="4"/>
      <dgm:spPr/>
    </dgm:pt>
    <dgm:pt modelId="{CCF2F591-B584-4E8C-9B09-F68369F2195D}" type="pres">
      <dgm:prSet presAssocID="{B6688D69-7274-4263-A8AE-5506436444B1}" presName="connectorText" presStyleLbl="sibTrans2D1" presStyleIdx="2" presStyleCnt="4"/>
      <dgm:spPr/>
    </dgm:pt>
    <dgm:pt modelId="{608A2816-8794-4768-9D49-5228816080BB}" type="pres">
      <dgm:prSet presAssocID="{74AFE0DA-17B9-42AF-98DA-4CF13451C521}" presName="node" presStyleLbl="node1" presStyleIdx="3" presStyleCnt="5">
        <dgm:presLayoutVars>
          <dgm:bulletEnabled val="1"/>
        </dgm:presLayoutVars>
      </dgm:prSet>
      <dgm:spPr/>
    </dgm:pt>
    <dgm:pt modelId="{A2214638-3746-43D7-8F8E-AC8356975EC5}" type="pres">
      <dgm:prSet presAssocID="{0E7643F2-FD47-4A6A-B3A6-0CDBA4EA212E}" presName="sibTrans" presStyleLbl="sibTrans2D1" presStyleIdx="3" presStyleCnt="4"/>
      <dgm:spPr/>
    </dgm:pt>
    <dgm:pt modelId="{06E75D6B-6984-4EDB-86B2-0FF2FF42AD8D}" type="pres">
      <dgm:prSet presAssocID="{0E7643F2-FD47-4A6A-B3A6-0CDBA4EA212E}" presName="connectorText" presStyleLbl="sibTrans2D1" presStyleIdx="3" presStyleCnt="4"/>
      <dgm:spPr/>
    </dgm:pt>
    <dgm:pt modelId="{A0FFD4BC-53DF-4987-84C8-809442C57CD9}" type="pres">
      <dgm:prSet presAssocID="{59AA0629-9035-4CC4-98BF-EDF85343D602}" presName="node" presStyleLbl="node1" presStyleIdx="4" presStyleCnt="5">
        <dgm:presLayoutVars>
          <dgm:bulletEnabled val="1"/>
        </dgm:presLayoutVars>
      </dgm:prSet>
      <dgm:spPr/>
    </dgm:pt>
  </dgm:ptLst>
  <dgm:cxnLst>
    <dgm:cxn modelId="{DA7ED80C-B2F4-4048-8A32-B920AF123CB2}" type="presOf" srcId="{74AFE0DA-17B9-42AF-98DA-4CF13451C521}" destId="{608A2816-8794-4768-9D49-5228816080BB}" srcOrd="0" destOrd="0" presId="urn:microsoft.com/office/officeart/2005/8/layout/process1"/>
    <dgm:cxn modelId="{AFD73216-DEB2-44FA-BEB2-C500B5F2B36A}" type="presOf" srcId="{4EF6E49F-10C2-4878-A481-09960DDE99AD}" destId="{ABB006AC-C48A-4E61-8B46-91355A5FC212}" srcOrd="1" destOrd="0" presId="urn:microsoft.com/office/officeart/2005/8/layout/process1"/>
    <dgm:cxn modelId="{E1CF0C25-A627-4F47-B72E-DD480005D209}" type="presOf" srcId="{0E7643F2-FD47-4A6A-B3A6-0CDBA4EA212E}" destId="{06E75D6B-6984-4EDB-86B2-0FF2FF42AD8D}" srcOrd="1" destOrd="0" presId="urn:microsoft.com/office/officeart/2005/8/layout/process1"/>
    <dgm:cxn modelId="{9881EB2F-9F25-467E-839A-37193CFC9990}" type="presOf" srcId="{59AA0629-9035-4CC4-98BF-EDF85343D602}" destId="{A0FFD4BC-53DF-4987-84C8-809442C57CD9}" srcOrd="0" destOrd="0" presId="urn:microsoft.com/office/officeart/2005/8/layout/process1"/>
    <dgm:cxn modelId="{C1A00C5D-86F0-4BAE-A074-238799D83A94}" type="presOf" srcId="{B6688D69-7274-4263-A8AE-5506436444B1}" destId="{1DC8E66F-B24B-41E6-A81B-8A68E28E1F99}" srcOrd="0" destOrd="0" presId="urn:microsoft.com/office/officeart/2005/8/layout/process1"/>
    <dgm:cxn modelId="{35F24B5F-237B-4C37-98B5-30FBC231EDB3}" srcId="{2453FF98-9272-4805-B0E8-599F3E1BA8C8}" destId="{29C85538-ECD0-4570-8869-4144ABD89C95}" srcOrd="1" destOrd="0" parTransId="{0C2F5547-B651-44C6-90BA-F032A88467A6}" sibTransId="{FEC35E61-AABC-43EC-AD62-796814466DA5}"/>
    <dgm:cxn modelId="{A9EC3441-DC2B-411C-959C-B588DB407BFD}" type="presOf" srcId="{B6688D69-7274-4263-A8AE-5506436444B1}" destId="{CCF2F591-B584-4E8C-9B09-F68369F2195D}" srcOrd="1" destOrd="0" presId="urn:microsoft.com/office/officeart/2005/8/layout/process1"/>
    <dgm:cxn modelId="{5684BA64-2206-429D-93E4-D6F0CCCA0D32}" type="presOf" srcId="{0E7643F2-FD47-4A6A-B3A6-0CDBA4EA212E}" destId="{A2214638-3746-43D7-8F8E-AC8356975EC5}" srcOrd="0" destOrd="0" presId="urn:microsoft.com/office/officeart/2005/8/layout/process1"/>
    <dgm:cxn modelId="{CFDCC365-8A73-4DD8-B9F7-E499DABE0007}" srcId="{2453FF98-9272-4805-B0E8-599F3E1BA8C8}" destId="{59AA0629-9035-4CC4-98BF-EDF85343D602}" srcOrd="4" destOrd="0" parTransId="{2D1DA5E5-A698-40C5-82E6-4B4128B66F7A}" sibTransId="{A3B7D06A-5E29-4C44-B221-9663BA30AFEC}"/>
    <dgm:cxn modelId="{98DA9F56-EAD0-4E58-B6B1-67866EF52C7B}" type="presOf" srcId="{6BC6EFFE-CF9C-45A2-ABFD-84A58D146DDE}" destId="{A2CC121C-CBEA-4EBE-B2B3-51FF57117A82}" srcOrd="0" destOrd="0" presId="urn:microsoft.com/office/officeart/2005/8/layout/process1"/>
    <dgm:cxn modelId="{69F04F77-1273-4183-A597-225BB949CDCE}" srcId="{2453FF98-9272-4805-B0E8-599F3E1BA8C8}" destId="{1CFCA738-5388-4C06-9EFC-0DF12CB683AE}" srcOrd="0" destOrd="0" parTransId="{CD0FD597-5C73-4AD0-94D0-7118416CD33D}" sibTransId="{4EF6E49F-10C2-4878-A481-09960DDE99AD}"/>
    <dgm:cxn modelId="{7B778A77-D010-4C00-AE5A-E6FF166324A7}" srcId="{2453FF98-9272-4805-B0E8-599F3E1BA8C8}" destId="{74AFE0DA-17B9-42AF-98DA-4CF13451C521}" srcOrd="3" destOrd="0" parTransId="{643EC6B5-4DA9-45C3-B1E7-431839A94538}" sibTransId="{0E7643F2-FD47-4A6A-B3A6-0CDBA4EA212E}"/>
    <dgm:cxn modelId="{B1C6C57D-D07D-481B-B741-6EC3181C5372}" type="presOf" srcId="{1CFCA738-5388-4C06-9EFC-0DF12CB683AE}" destId="{071FA1C7-26E2-4241-9BEB-5E8BF6B75A95}" srcOrd="0" destOrd="0" presId="urn:microsoft.com/office/officeart/2005/8/layout/process1"/>
    <dgm:cxn modelId="{8951C57F-A980-4E95-B4A7-473A66F6A28A}" srcId="{2453FF98-9272-4805-B0E8-599F3E1BA8C8}" destId="{6BC6EFFE-CF9C-45A2-ABFD-84A58D146DDE}" srcOrd="2" destOrd="0" parTransId="{1C8F98EF-9D38-4188-856B-591A3DD2058F}" sibTransId="{B6688D69-7274-4263-A8AE-5506436444B1}"/>
    <dgm:cxn modelId="{38B730D6-953B-4F99-9368-84933BEC4E9A}" type="presOf" srcId="{2453FF98-9272-4805-B0E8-599F3E1BA8C8}" destId="{52D38710-B64C-49F5-B6AA-8805C75F8BB9}" srcOrd="0" destOrd="0" presId="urn:microsoft.com/office/officeart/2005/8/layout/process1"/>
    <dgm:cxn modelId="{6BE74DE0-3B78-45AC-932A-83B2B0AF8687}" type="presOf" srcId="{FEC35E61-AABC-43EC-AD62-796814466DA5}" destId="{DE4A397E-8136-4BCB-A260-2B50810F5B10}" srcOrd="0" destOrd="0" presId="urn:microsoft.com/office/officeart/2005/8/layout/process1"/>
    <dgm:cxn modelId="{32153DE4-8DAD-4BFA-8F58-A421D9782705}" type="presOf" srcId="{FEC35E61-AABC-43EC-AD62-796814466DA5}" destId="{DFD9F016-D0C3-44D7-AE5A-9619391A2F8A}" srcOrd="1" destOrd="0" presId="urn:microsoft.com/office/officeart/2005/8/layout/process1"/>
    <dgm:cxn modelId="{4EC64BE8-EF48-4107-B087-9AD975F13284}" type="presOf" srcId="{4EF6E49F-10C2-4878-A481-09960DDE99AD}" destId="{98C8598C-7C50-4796-842B-A1CB12690C3D}" srcOrd="0" destOrd="0" presId="urn:microsoft.com/office/officeart/2005/8/layout/process1"/>
    <dgm:cxn modelId="{A95976F1-EA39-46A6-AA6F-1459285060D0}" type="presOf" srcId="{29C85538-ECD0-4570-8869-4144ABD89C95}" destId="{716CE81A-1DCD-40A3-AFFE-CD010982AB5D}" srcOrd="0" destOrd="0" presId="urn:microsoft.com/office/officeart/2005/8/layout/process1"/>
    <dgm:cxn modelId="{158CC428-9197-4F52-B692-02103071F138}" type="presParOf" srcId="{52D38710-B64C-49F5-B6AA-8805C75F8BB9}" destId="{071FA1C7-26E2-4241-9BEB-5E8BF6B75A95}" srcOrd="0" destOrd="0" presId="urn:microsoft.com/office/officeart/2005/8/layout/process1"/>
    <dgm:cxn modelId="{4650F4DF-4815-426C-A662-687E7BDE6848}" type="presParOf" srcId="{52D38710-B64C-49F5-B6AA-8805C75F8BB9}" destId="{98C8598C-7C50-4796-842B-A1CB12690C3D}" srcOrd="1" destOrd="0" presId="urn:microsoft.com/office/officeart/2005/8/layout/process1"/>
    <dgm:cxn modelId="{0A9CA708-4A31-43E8-85D9-4AC189CFAA71}" type="presParOf" srcId="{98C8598C-7C50-4796-842B-A1CB12690C3D}" destId="{ABB006AC-C48A-4E61-8B46-91355A5FC212}" srcOrd="0" destOrd="0" presId="urn:microsoft.com/office/officeart/2005/8/layout/process1"/>
    <dgm:cxn modelId="{BCA53CA2-8670-4324-8161-2C04464E211E}" type="presParOf" srcId="{52D38710-B64C-49F5-B6AA-8805C75F8BB9}" destId="{716CE81A-1DCD-40A3-AFFE-CD010982AB5D}" srcOrd="2" destOrd="0" presId="urn:microsoft.com/office/officeart/2005/8/layout/process1"/>
    <dgm:cxn modelId="{A05DACBF-7535-47A3-A2C8-B2A7C2F3B53E}" type="presParOf" srcId="{52D38710-B64C-49F5-B6AA-8805C75F8BB9}" destId="{DE4A397E-8136-4BCB-A260-2B50810F5B10}" srcOrd="3" destOrd="0" presId="urn:microsoft.com/office/officeart/2005/8/layout/process1"/>
    <dgm:cxn modelId="{6E0024B2-936A-415F-9681-92A08B168F05}" type="presParOf" srcId="{DE4A397E-8136-4BCB-A260-2B50810F5B10}" destId="{DFD9F016-D0C3-44D7-AE5A-9619391A2F8A}" srcOrd="0" destOrd="0" presId="urn:microsoft.com/office/officeart/2005/8/layout/process1"/>
    <dgm:cxn modelId="{9257037B-738F-4A78-97FD-55351C5C2022}" type="presParOf" srcId="{52D38710-B64C-49F5-B6AA-8805C75F8BB9}" destId="{A2CC121C-CBEA-4EBE-B2B3-51FF57117A82}" srcOrd="4" destOrd="0" presId="urn:microsoft.com/office/officeart/2005/8/layout/process1"/>
    <dgm:cxn modelId="{7376C697-F6AB-4F73-ADA8-E66B8BC56A2D}" type="presParOf" srcId="{52D38710-B64C-49F5-B6AA-8805C75F8BB9}" destId="{1DC8E66F-B24B-41E6-A81B-8A68E28E1F99}" srcOrd="5" destOrd="0" presId="urn:microsoft.com/office/officeart/2005/8/layout/process1"/>
    <dgm:cxn modelId="{4DF5F9C3-0A2E-405B-89D2-EC7E815D37BE}" type="presParOf" srcId="{1DC8E66F-B24B-41E6-A81B-8A68E28E1F99}" destId="{CCF2F591-B584-4E8C-9B09-F68369F2195D}" srcOrd="0" destOrd="0" presId="urn:microsoft.com/office/officeart/2005/8/layout/process1"/>
    <dgm:cxn modelId="{E125D848-457C-4A97-BCB1-203EDE9749EE}" type="presParOf" srcId="{52D38710-B64C-49F5-B6AA-8805C75F8BB9}" destId="{608A2816-8794-4768-9D49-5228816080BB}" srcOrd="6" destOrd="0" presId="urn:microsoft.com/office/officeart/2005/8/layout/process1"/>
    <dgm:cxn modelId="{6550F216-34AB-485E-82CB-0015F2D953F1}" type="presParOf" srcId="{52D38710-B64C-49F5-B6AA-8805C75F8BB9}" destId="{A2214638-3746-43D7-8F8E-AC8356975EC5}" srcOrd="7" destOrd="0" presId="urn:microsoft.com/office/officeart/2005/8/layout/process1"/>
    <dgm:cxn modelId="{8FC34C6D-12CB-4A40-A15D-EA07D36DF434}" type="presParOf" srcId="{A2214638-3746-43D7-8F8E-AC8356975EC5}" destId="{06E75D6B-6984-4EDB-86B2-0FF2FF42AD8D}" srcOrd="0" destOrd="0" presId="urn:microsoft.com/office/officeart/2005/8/layout/process1"/>
    <dgm:cxn modelId="{050D93C5-9067-42F8-BFB8-6BAA1E32B1FB}" type="presParOf" srcId="{52D38710-B64C-49F5-B6AA-8805C75F8BB9}" destId="{A0FFD4BC-53DF-4987-84C8-809442C57CD9}" srcOrd="8"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DCC87F-961E-4DF8-B92D-75C80AE4CE4F}"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fr-CA"/>
        </a:p>
      </dgm:t>
    </dgm:pt>
    <dgm:pt modelId="{8A1DF76F-BB6E-479A-B791-12AA1D3E9567}">
      <dgm:prSet phldrT="[Texte]" custT="1"/>
      <dgm:spPr>
        <a:solidFill>
          <a:schemeClr val="tx2"/>
        </a:solidFill>
        <a:ln>
          <a:solidFill>
            <a:schemeClr val="tx2"/>
          </a:solidFill>
        </a:ln>
      </dgm:spPr>
      <dgm:t>
        <a:bodyPr/>
        <a:lstStyle/>
        <a:p>
          <a:r>
            <a:rPr lang="fr-CA" sz="1100" b="1">
              <a:latin typeface="Visby CF Medium" pitchFamily="50" charset="0"/>
            </a:rPr>
            <a:t>1 – À la base d’une transformation numérique réussie : une stratégie et une architecture</a:t>
          </a:r>
        </a:p>
      </dgm:t>
    </dgm:pt>
    <dgm:pt modelId="{80126F50-3606-41B3-BAE8-E1F8859AAE70}" type="parTrans" cxnId="{F6CFD425-31F9-4822-94D5-D1399F625D31}">
      <dgm:prSet/>
      <dgm:spPr/>
      <dgm:t>
        <a:bodyPr/>
        <a:lstStyle/>
        <a:p>
          <a:endParaRPr lang="fr-CA"/>
        </a:p>
      </dgm:t>
    </dgm:pt>
    <dgm:pt modelId="{5C5137A3-B785-40FB-99CC-E60534FB182F}" type="sibTrans" cxnId="{F6CFD425-31F9-4822-94D5-D1399F625D31}">
      <dgm:prSet/>
      <dgm:spPr/>
      <dgm:t>
        <a:bodyPr/>
        <a:lstStyle/>
        <a:p>
          <a:endParaRPr lang="fr-CA"/>
        </a:p>
      </dgm:t>
    </dgm:pt>
    <dgm:pt modelId="{10708408-6D36-4B7D-BEBF-A590AC2B2C93}">
      <dgm:prSet phldrT="[Texte]" custT="1"/>
      <dgm:spPr>
        <a:ln>
          <a:noFill/>
        </a:ln>
      </dgm:spPr>
      <dgm:t>
        <a:bodyPr/>
        <a:lstStyle/>
        <a:p>
          <a:r>
            <a:rPr lang="fr-CA" sz="1100" b="0">
              <a:latin typeface="Visby CF Medium" pitchFamily="50" charset="0"/>
            </a:rPr>
            <a:t>2 – Au cœur des systèmes d’information : des processus d’affaires</a:t>
          </a:r>
        </a:p>
      </dgm:t>
    </dgm:pt>
    <dgm:pt modelId="{8D2B13C8-5A34-47CA-85F8-9805230B2A3D}" type="parTrans" cxnId="{9B18F61D-CF74-4131-A1F4-2F91F6E40EE5}">
      <dgm:prSet/>
      <dgm:spPr/>
      <dgm:t>
        <a:bodyPr/>
        <a:lstStyle/>
        <a:p>
          <a:endParaRPr lang="fr-CA"/>
        </a:p>
      </dgm:t>
    </dgm:pt>
    <dgm:pt modelId="{9BF9C8D2-D621-4D98-B87C-BF558387DF06}" type="sibTrans" cxnId="{9B18F61D-CF74-4131-A1F4-2F91F6E40EE5}">
      <dgm:prSet/>
      <dgm:spPr/>
      <dgm:t>
        <a:bodyPr/>
        <a:lstStyle/>
        <a:p>
          <a:endParaRPr lang="fr-CA"/>
        </a:p>
      </dgm:t>
    </dgm:pt>
    <dgm:pt modelId="{354638AD-F668-46FD-B66B-13F8AF7906FB}">
      <dgm:prSet phldrT="[Texte]" custT="1"/>
      <dgm:spPr>
        <a:ln>
          <a:noFill/>
        </a:ln>
      </dgm:spPr>
      <dgm:t>
        <a:bodyPr/>
        <a:lstStyle/>
        <a:p>
          <a:r>
            <a:rPr lang="fr-CA" sz="1100" b="0">
              <a:latin typeface="Visby CF Medium" pitchFamily="50" charset="0"/>
            </a:rPr>
            <a:t>3 – La matière première des systèmes d’information : des données </a:t>
          </a:r>
        </a:p>
      </dgm:t>
    </dgm:pt>
    <dgm:pt modelId="{B748A4E7-66A8-407D-BEB5-1A548C1D9DF5}" type="parTrans" cxnId="{8D247FD2-6E5F-414B-8989-646255A9AB97}">
      <dgm:prSet/>
      <dgm:spPr/>
      <dgm:t>
        <a:bodyPr/>
        <a:lstStyle/>
        <a:p>
          <a:endParaRPr lang="fr-CA"/>
        </a:p>
      </dgm:t>
    </dgm:pt>
    <dgm:pt modelId="{3E98947C-1BAF-4823-A024-236E0B217241}" type="sibTrans" cxnId="{8D247FD2-6E5F-414B-8989-646255A9AB97}">
      <dgm:prSet/>
      <dgm:spPr/>
      <dgm:t>
        <a:bodyPr/>
        <a:lstStyle/>
        <a:p>
          <a:endParaRPr lang="fr-CA"/>
        </a:p>
      </dgm:t>
    </dgm:pt>
    <dgm:pt modelId="{5F77CF9E-BCFD-4325-8E43-7AC3589B6B7E}">
      <dgm:prSet phldrT="[Texte]" custT="1"/>
      <dgm:spPr>
        <a:ln>
          <a:noFill/>
        </a:ln>
      </dgm:spPr>
      <dgm:t>
        <a:bodyPr/>
        <a:lstStyle/>
        <a:p>
          <a:r>
            <a:rPr lang="fr-CA" sz="1100" b="0">
              <a:latin typeface="Visby CF Medium" pitchFamily="50" charset="0"/>
            </a:rPr>
            <a:t>4 – L’utilisation des systèmes d’information : des interfaces et des droits </a:t>
          </a:r>
        </a:p>
      </dgm:t>
    </dgm:pt>
    <dgm:pt modelId="{8896BD91-0238-49C7-8D75-390D6CFA76D8}" type="parTrans" cxnId="{F3F017E9-E228-418B-BF74-FB35BBCFB9A6}">
      <dgm:prSet/>
      <dgm:spPr/>
      <dgm:t>
        <a:bodyPr/>
        <a:lstStyle/>
        <a:p>
          <a:endParaRPr lang="fr-CA"/>
        </a:p>
      </dgm:t>
    </dgm:pt>
    <dgm:pt modelId="{09014239-DABB-4244-993C-4B9885734537}" type="sibTrans" cxnId="{F3F017E9-E228-418B-BF74-FB35BBCFB9A6}">
      <dgm:prSet/>
      <dgm:spPr/>
      <dgm:t>
        <a:bodyPr/>
        <a:lstStyle/>
        <a:p>
          <a:endParaRPr lang="fr-CA"/>
        </a:p>
      </dgm:t>
    </dgm:pt>
    <dgm:pt modelId="{D5A81B6A-B302-4D00-9D9E-EB7D005F070A}">
      <dgm:prSet phldrT="[Texte]" custT="1"/>
      <dgm:spPr>
        <a:solidFill>
          <a:schemeClr val="accent1"/>
        </a:solidFill>
        <a:ln>
          <a:noFill/>
        </a:ln>
      </dgm:spPr>
      <dgm:t>
        <a:bodyPr/>
        <a:lstStyle/>
        <a:p>
          <a:r>
            <a:rPr lang="fr-CA" sz="1100" b="0">
              <a:solidFill>
                <a:schemeClr val="bg1"/>
              </a:solidFill>
              <a:latin typeface="Visby CF Medium" pitchFamily="50" charset="0"/>
            </a:rPr>
            <a:t>5 – L’utilisation des systèmes d’information : des requêtes simples et des enjeux de cybersécurité</a:t>
          </a:r>
        </a:p>
      </dgm:t>
    </dgm:pt>
    <dgm:pt modelId="{37B01D62-F882-432D-B2B7-DCA8A403C6ED}" type="parTrans" cxnId="{01C45015-D83D-499C-99EC-771F2A57CB2D}">
      <dgm:prSet/>
      <dgm:spPr/>
      <dgm:t>
        <a:bodyPr/>
        <a:lstStyle/>
        <a:p>
          <a:endParaRPr lang="fr-CA"/>
        </a:p>
      </dgm:t>
    </dgm:pt>
    <dgm:pt modelId="{2515C32E-B45F-44AD-8FC5-012A9A23FC26}" type="sibTrans" cxnId="{01C45015-D83D-499C-99EC-771F2A57CB2D}">
      <dgm:prSet/>
      <dgm:spPr/>
      <dgm:t>
        <a:bodyPr/>
        <a:lstStyle/>
        <a:p>
          <a:endParaRPr lang="fr-CA"/>
        </a:p>
      </dgm:t>
    </dgm:pt>
    <dgm:pt modelId="{D88F6FC3-7BDD-42F7-B19F-99B2BCCA3E92}">
      <dgm:prSet phldrT="[Texte]" custT="1"/>
      <dgm:spPr>
        <a:solidFill>
          <a:schemeClr val="accent3"/>
        </a:solidFill>
        <a:ln>
          <a:noFill/>
        </a:ln>
      </dgm:spPr>
      <dgm:t>
        <a:bodyPr/>
        <a:lstStyle/>
        <a:p>
          <a:r>
            <a:rPr lang="fr-CA" sz="1100" b="0">
              <a:latin typeface="Visby CF Medium" pitchFamily="50" charset="0"/>
            </a:rPr>
            <a:t>6 - Au cœur des systèmes d’information : des algorithmes et de l’intelligence artificielle</a:t>
          </a:r>
        </a:p>
      </dgm:t>
    </dgm:pt>
    <dgm:pt modelId="{5FC457B8-A9F4-41FB-A6D6-4BC02D5F4CCD}" type="parTrans" cxnId="{76232C6A-03B2-43A8-A8AD-40D747B4DE9B}">
      <dgm:prSet/>
      <dgm:spPr/>
      <dgm:t>
        <a:bodyPr/>
        <a:lstStyle/>
        <a:p>
          <a:endParaRPr lang="fr-CA"/>
        </a:p>
      </dgm:t>
    </dgm:pt>
    <dgm:pt modelId="{414DEF70-243E-4028-8153-477A4091A5FB}" type="sibTrans" cxnId="{76232C6A-03B2-43A8-A8AD-40D747B4DE9B}">
      <dgm:prSet/>
      <dgm:spPr/>
      <dgm:t>
        <a:bodyPr/>
        <a:lstStyle/>
        <a:p>
          <a:endParaRPr lang="fr-CA"/>
        </a:p>
      </dgm:t>
    </dgm:pt>
    <dgm:pt modelId="{4E26A5B3-C522-43B4-9AAA-2BC9BAA39234}">
      <dgm:prSet phldrT="[Texte]" custT="1"/>
      <dgm:spPr>
        <a:solidFill>
          <a:schemeClr val="accent6"/>
        </a:solidFill>
        <a:ln>
          <a:noFill/>
        </a:ln>
      </dgm:spPr>
      <dgm:t>
        <a:bodyPr/>
        <a:lstStyle/>
        <a:p>
          <a:r>
            <a:rPr lang="fr-CA" sz="1100" b="0">
              <a:latin typeface="Visby CF Medium" pitchFamily="50" charset="0"/>
            </a:rPr>
            <a:t>7 - Pour passer du concept au système matérialisé : des projets structurés</a:t>
          </a:r>
        </a:p>
      </dgm:t>
    </dgm:pt>
    <dgm:pt modelId="{00D0D682-2043-42C0-9E9F-91BE89916147}" type="parTrans" cxnId="{0310DE33-D7E8-402C-B78B-69DFD42C01EA}">
      <dgm:prSet/>
      <dgm:spPr/>
      <dgm:t>
        <a:bodyPr/>
        <a:lstStyle/>
        <a:p>
          <a:endParaRPr lang="fr-CA"/>
        </a:p>
      </dgm:t>
    </dgm:pt>
    <dgm:pt modelId="{1BEA1745-1A91-4B8A-AA4D-D270E3744A78}" type="sibTrans" cxnId="{0310DE33-D7E8-402C-B78B-69DFD42C01EA}">
      <dgm:prSet/>
      <dgm:spPr/>
      <dgm:t>
        <a:bodyPr/>
        <a:lstStyle/>
        <a:p>
          <a:endParaRPr lang="fr-CA"/>
        </a:p>
      </dgm:t>
    </dgm:pt>
    <dgm:pt modelId="{785ACB87-2795-42CB-A43A-743DD2227EA6}">
      <dgm:prSet phldrT="[Texte]" custT="1"/>
      <dgm:spPr>
        <a:solidFill>
          <a:schemeClr val="accent2"/>
        </a:solidFill>
        <a:ln>
          <a:noFill/>
        </a:ln>
      </dgm:spPr>
      <dgm:t>
        <a:bodyPr/>
        <a:lstStyle/>
        <a:p>
          <a:r>
            <a:rPr lang="fr-CA" sz="1100" b="0">
              <a:latin typeface="Visby CF Medium" pitchFamily="50" charset="0"/>
            </a:rPr>
            <a:t>8 - Des processus standardisés et des données intégrées : des progiciels de gestion intégrés</a:t>
          </a:r>
        </a:p>
      </dgm:t>
    </dgm:pt>
    <dgm:pt modelId="{F511A68B-3DCC-40A1-B8E9-6F7F3E83B551}" type="parTrans" cxnId="{CB26B09F-AA64-46A7-AF90-35335CDBD9D8}">
      <dgm:prSet/>
      <dgm:spPr/>
      <dgm:t>
        <a:bodyPr/>
        <a:lstStyle/>
        <a:p>
          <a:endParaRPr lang="fr-CA"/>
        </a:p>
      </dgm:t>
    </dgm:pt>
    <dgm:pt modelId="{7A30C6C8-EFEC-43E3-A457-BDA410C78405}" type="sibTrans" cxnId="{CB26B09F-AA64-46A7-AF90-35335CDBD9D8}">
      <dgm:prSet/>
      <dgm:spPr/>
      <dgm:t>
        <a:bodyPr/>
        <a:lstStyle/>
        <a:p>
          <a:endParaRPr lang="fr-CA"/>
        </a:p>
      </dgm:t>
    </dgm:pt>
    <dgm:pt modelId="{C83BDD41-8921-45D5-B42C-FA68B5FD02BF}">
      <dgm:prSet phldrT="[Texte]" custT="1"/>
      <dgm:spPr>
        <a:solidFill>
          <a:schemeClr val="accent4"/>
        </a:solidFill>
        <a:ln>
          <a:noFill/>
        </a:ln>
      </dgm:spPr>
      <dgm:t>
        <a:bodyPr/>
        <a:lstStyle/>
        <a:p>
          <a:r>
            <a:rPr lang="fr-CA" sz="1100" b="0">
              <a:latin typeface="Visby CF Medium" pitchFamily="50" charset="0"/>
            </a:rPr>
            <a:t>9 – La matière première des systèmes d’information : toujours plus de données</a:t>
          </a:r>
        </a:p>
      </dgm:t>
    </dgm:pt>
    <dgm:pt modelId="{D42DD6BB-91F3-4351-8469-B92EEC984110}" type="parTrans" cxnId="{0C41F0EE-A9EB-4F39-98A6-A945E357CB29}">
      <dgm:prSet/>
      <dgm:spPr/>
      <dgm:t>
        <a:bodyPr/>
        <a:lstStyle/>
        <a:p>
          <a:endParaRPr lang="fr-CA"/>
        </a:p>
      </dgm:t>
    </dgm:pt>
    <dgm:pt modelId="{8E21A9B9-3D3D-42EB-B472-2B0A75689488}" type="sibTrans" cxnId="{0C41F0EE-A9EB-4F39-98A6-A945E357CB29}">
      <dgm:prSet/>
      <dgm:spPr/>
      <dgm:t>
        <a:bodyPr/>
        <a:lstStyle/>
        <a:p>
          <a:endParaRPr lang="fr-CA"/>
        </a:p>
      </dgm:t>
    </dgm:pt>
    <dgm:pt modelId="{2EE85648-0BC9-4AA0-89FF-B575F12576B8}">
      <dgm:prSet phldrT="[Texte]" custT="1"/>
      <dgm:spPr>
        <a:solidFill>
          <a:srgbClr val="EB6FBD">
            <a:hueOff val="0"/>
            <a:satOff val="0"/>
            <a:lumOff val="0"/>
            <a:alphaOff val="0"/>
          </a:srgbClr>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a:solidFill>
                <a:prstClr val="white"/>
              </a:solidFill>
              <a:latin typeface="Visby CF Medium" pitchFamily="50" charset="0"/>
              <a:ea typeface="+mn-ea"/>
              <a:cs typeface="+mn-cs"/>
            </a:rPr>
            <a:t>11 - À l’avant scène des systèmes d’information : une expérience utilisateur réfléchie</a:t>
          </a:r>
          <a:endParaRPr lang="fr-CA" sz="1100" b="0" kern="1200">
            <a:solidFill>
              <a:schemeClr val="bg1"/>
            </a:solidFill>
            <a:latin typeface="Visby CF Medium" pitchFamily="50" charset="0"/>
            <a:ea typeface="+mn-ea"/>
            <a:cs typeface="+mn-cs"/>
          </a:endParaRPr>
        </a:p>
      </dgm:t>
    </dgm:pt>
    <dgm:pt modelId="{B36C580A-A389-45FC-B1BC-A40A8BB5F7A6}" type="parTrans" cxnId="{2B543A5A-AB47-4626-83F7-273EE9F70706}">
      <dgm:prSet/>
      <dgm:spPr/>
      <dgm:t>
        <a:bodyPr/>
        <a:lstStyle/>
        <a:p>
          <a:endParaRPr lang="fr-CA"/>
        </a:p>
      </dgm:t>
    </dgm:pt>
    <dgm:pt modelId="{D42B14E0-D5B9-4A29-9056-091A82A2D32B}" type="sibTrans" cxnId="{2B543A5A-AB47-4626-83F7-273EE9F70706}">
      <dgm:prSet/>
      <dgm:spPr/>
      <dgm:t>
        <a:bodyPr/>
        <a:lstStyle/>
        <a:p>
          <a:endParaRPr lang="fr-CA"/>
        </a:p>
      </dgm:t>
    </dgm:pt>
    <dgm:pt modelId="{09B1DCEF-6CCF-4E27-8F53-C9241CF7DE48}">
      <dgm:prSet phldrT="[Texte]" custT="1"/>
      <dgm:spPr>
        <a:solidFill>
          <a:schemeClr val="accent1"/>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rPr>
            <a:t>10 – L’utilisation des systèmes d’information : des requêtes complexes à l’aide de tableaux de bord</a:t>
          </a:r>
          <a:endParaRPr lang="fr-CA" sz="1100" b="0" kern="1200">
            <a:solidFill>
              <a:prstClr val="white"/>
            </a:solidFill>
            <a:latin typeface="Visby CF Medium" pitchFamily="50" charset="0"/>
            <a:ea typeface="+mn-ea"/>
            <a:cs typeface="+mn-cs"/>
          </a:endParaRPr>
        </a:p>
      </dgm:t>
    </dgm:pt>
    <dgm:pt modelId="{BFADC8F6-8864-4668-ABF2-3ADF8E87DEBB}" type="parTrans" cxnId="{64308A61-2A69-4BFB-862E-3E771C486BAB}">
      <dgm:prSet/>
      <dgm:spPr/>
      <dgm:t>
        <a:bodyPr/>
        <a:lstStyle/>
        <a:p>
          <a:endParaRPr lang="fr-CA"/>
        </a:p>
      </dgm:t>
    </dgm:pt>
    <dgm:pt modelId="{AAF95CA0-02D7-4B60-8BAD-C3D13F6C2847}" type="sibTrans" cxnId="{64308A61-2A69-4BFB-862E-3E771C486BAB}">
      <dgm:prSet/>
      <dgm:spPr/>
      <dgm:t>
        <a:bodyPr/>
        <a:lstStyle/>
        <a:p>
          <a:endParaRPr lang="fr-CA"/>
        </a:p>
      </dgm:t>
    </dgm:pt>
    <dgm:pt modelId="{6920EEEC-8D2C-4678-8B13-80F013410BDD}">
      <dgm:prSet phldrT="[Texte]" custT="1"/>
      <dgm:spPr>
        <a:solidFill>
          <a:schemeClr val="accent2"/>
        </a:solidFill>
        <a:ln>
          <a:noFill/>
        </a:ln>
      </dgm:spPr>
      <dgm:t>
        <a:bodyPr/>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ea typeface="+mn-ea"/>
              <a:cs typeface="+mn-cs"/>
            </a:rPr>
            <a:t>12 – Une solution complète : un tableau de bord pour soutenir l’utilisation d’un progiciel de gestion intégré</a:t>
          </a:r>
        </a:p>
      </dgm:t>
    </dgm:pt>
    <dgm:pt modelId="{6CC2C35A-C4F4-44B8-822F-58BA688B4E3F}" type="parTrans" cxnId="{A48E4EE6-1E33-4DDC-B917-7D1921C2DA37}">
      <dgm:prSet/>
      <dgm:spPr/>
      <dgm:t>
        <a:bodyPr/>
        <a:lstStyle/>
        <a:p>
          <a:endParaRPr lang="fr-CA"/>
        </a:p>
      </dgm:t>
    </dgm:pt>
    <dgm:pt modelId="{3E1BD0E5-6F34-480C-B732-F43B7DCD031B}" type="sibTrans" cxnId="{A48E4EE6-1E33-4DDC-B917-7D1921C2DA37}">
      <dgm:prSet/>
      <dgm:spPr/>
      <dgm:t>
        <a:bodyPr/>
        <a:lstStyle/>
        <a:p>
          <a:endParaRPr lang="fr-CA"/>
        </a:p>
      </dgm:t>
    </dgm:pt>
    <dgm:pt modelId="{0B780D78-199E-4300-A693-D6F97EF5F986}" type="pres">
      <dgm:prSet presAssocID="{74DCC87F-961E-4DF8-B92D-75C80AE4CE4F}" presName="linear" presStyleCnt="0">
        <dgm:presLayoutVars>
          <dgm:dir/>
          <dgm:animLvl val="lvl"/>
          <dgm:resizeHandles val="exact"/>
        </dgm:presLayoutVars>
      </dgm:prSet>
      <dgm:spPr/>
    </dgm:pt>
    <dgm:pt modelId="{AB711B2A-DB8A-4E78-8A51-7A006FB82405}" type="pres">
      <dgm:prSet presAssocID="{8A1DF76F-BB6E-479A-B791-12AA1D3E9567}" presName="parentLin" presStyleCnt="0"/>
      <dgm:spPr/>
    </dgm:pt>
    <dgm:pt modelId="{C1C73789-F552-4FF2-B95E-C69C025A1060}" type="pres">
      <dgm:prSet presAssocID="{8A1DF76F-BB6E-479A-B791-12AA1D3E9567}" presName="parentLeftMargin" presStyleLbl="node1" presStyleIdx="0" presStyleCnt="12"/>
      <dgm:spPr/>
    </dgm:pt>
    <dgm:pt modelId="{FC5595AD-741D-479C-94ED-B41127C2D30C}" type="pres">
      <dgm:prSet presAssocID="{8A1DF76F-BB6E-479A-B791-12AA1D3E9567}" presName="parentText" presStyleLbl="node1" presStyleIdx="0" presStyleCnt="12" custScaleX="114283">
        <dgm:presLayoutVars>
          <dgm:chMax val="0"/>
          <dgm:bulletEnabled val="1"/>
        </dgm:presLayoutVars>
      </dgm:prSet>
      <dgm:spPr/>
    </dgm:pt>
    <dgm:pt modelId="{5B43CB98-6094-4D72-AEC4-3B56AD698D0D}" type="pres">
      <dgm:prSet presAssocID="{8A1DF76F-BB6E-479A-B791-12AA1D3E9567}" presName="negativeSpace" presStyleCnt="0"/>
      <dgm:spPr/>
    </dgm:pt>
    <dgm:pt modelId="{C9227AC1-1BF1-4CB5-864D-1F1C35C267D4}" type="pres">
      <dgm:prSet presAssocID="{8A1DF76F-BB6E-479A-B791-12AA1D3E9567}" presName="childText" presStyleLbl="conFgAcc1" presStyleIdx="0" presStyleCnt="12">
        <dgm:presLayoutVars>
          <dgm:bulletEnabled val="1"/>
        </dgm:presLayoutVars>
      </dgm:prSet>
      <dgm:spPr>
        <a:ln w="38100">
          <a:solidFill>
            <a:schemeClr val="tx2"/>
          </a:solidFill>
        </a:ln>
      </dgm:spPr>
    </dgm:pt>
    <dgm:pt modelId="{76379CA2-9CD9-4B68-BA3F-BB94A437B20B}" type="pres">
      <dgm:prSet presAssocID="{5C5137A3-B785-40FB-99CC-E60534FB182F}" presName="spaceBetweenRectangles" presStyleCnt="0"/>
      <dgm:spPr/>
    </dgm:pt>
    <dgm:pt modelId="{047E0C47-3DB2-431F-A4C8-4CD363D3B823}" type="pres">
      <dgm:prSet presAssocID="{10708408-6D36-4B7D-BEBF-A590AC2B2C93}" presName="parentLin" presStyleCnt="0"/>
      <dgm:spPr/>
    </dgm:pt>
    <dgm:pt modelId="{78B90B25-6254-4BB0-B462-8B502E1DD088}" type="pres">
      <dgm:prSet presAssocID="{10708408-6D36-4B7D-BEBF-A590AC2B2C93}" presName="parentLeftMargin" presStyleLbl="node1" presStyleIdx="0" presStyleCnt="12"/>
      <dgm:spPr/>
    </dgm:pt>
    <dgm:pt modelId="{D5FBFB3E-AF30-4644-971E-72A9D5B69B7E}" type="pres">
      <dgm:prSet presAssocID="{10708408-6D36-4B7D-BEBF-A590AC2B2C93}" presName="parentText" presStyleLbl="node1" presStyleIdx="1" presStyleCnt="12" custScaleX="114283">
        <dgm:presLayoutVars>
          <dgm:chMax val="0"/>
          <dgm:bulletEnabled val="1"/>
        </dgm:presLayoutVars>
      </dgm:prSet>
      <dgm:spPr/>
    </dgm:pt>
    <dgm:pt modelId="{86CF052E-923F-4227-ABF0-95C2FF075F55}" type="pres">
      <dgm:prSet presAssocID="{10708408-6D36-4B7D-BEBF-A590AC2B2C93}" presName="negativeSpace" presStyleCnt="0"/>
      <dgm:spPr/>
    </dgm:pt>
    <dgm:pt modelId="{4B705F14-EF6E-47A1-83AC-F9A4EA9DCD99}" type="pres">
      <dgm:prSet presAssocID="{10708408-6D36-4B7D-BEBF-A590AC2B2C93}" presName="childText" presStyleLbl="conFgAcc1" presStyleIdx="1" presStyleCnt="12">
        <dgm:presLayoutVars>
          <dgm:bulletEnabled val="1"/>
        </dgm:presLayoutVars>
      </dgm:prSet>
      <dgm:spPr/>
    </dgm:pt>
    <dgm:pt modelId="{64D9A99A-B3BE-4D6A-B34A-A753C38956F0}" type="pres">
      <dgm:prSet presAssocID="{9BF9C8D2-D621-4D98-B87C-BF558387DF06}" presName="spaceBetweenRectangles" presStyleCnt="0"/>
      <dgm:spPr/>
    </dgm:pt>
    <dgm:pt modelId="{84921B4F-9AA1-4618-97E3-FC85366EB2A0}" type="pres">
      <dgm:prSet presAssocID="{354638AD-F668-46FD-B66B-13F8AF7906FB}" presName="parentLin" presStyleCnt="0"/>
      <dgm:spPr/>
    </dgm:pt>
    <dgm:pt modelId="{0949B521-3F4C-422C-A2EC-7F0FDC407213}" type="pres">
      <dgm:prSet presAssocID="{354638AD-F668-46FD-B66B-13F8AF7906FB}" presName="parentLeftMargin" presStyleLbl="node1" presStyleIdx="1" presStyleCnt="12"/>
      <dgm:spPr/>
    </dgm:pt>
    <dgm:pt modelId="{4E0EC255-89F1-4ECD-8CEB-A36054D0B55B}" type="pres">
      <dgm:prSet presAssocID="{354638AD-F668-46FD-B66B-13F8AF7906FB}" presName="parentText" presStyleLbl="node1" presStyleIdx="2" presStyleCnt="12" custScaleX="114283">
        <dgm:presLayoutVars>
          <dgm:chMax val="0"/>
          <dgm:bulletEnabled val="1"/>
        </dgm:presLayoutVars>
      </dgm:prSet>
      <dgm:spPr/>
    </dgm:pt>
    <dgm:pt modelId="{2D8EB3B2-C86A-4D2D-ABC7-680390DCF5E0}" type="pres">
      <dgm:prSet presAssocID="{354638AD-F668-46FD-B66B-13F8AF7906FB}" presName="negativeSpace" presStyleCnt="0"/>
      <dgm:spPr/>
    </dgm:pt>
    <dgm:pt modelId="{0893C5BF-2D1A-475E-9A5B-CF95378A190A}" type="pres">
      <dgm:prSet presAssocID="{354638AD-F668-46FD-B66B-13F8AF7906FB}" presName="childText" presStyleLbl="conFgAcc1" presStyleIdx="2" presStyleCnt="12">
        <dgm:presLayoutVars>
          <dgm:bulletEnabled val="1"/>
        </dgm:presLayoutVars>
      </dgm:prSet>
      <dgm:spPr/>
    </dgm:pt>
    <dgm:pt modelId="{2F6A9ABE-AE6B-4CC3-9355-62F4AC9DDBAF}" type="pres">
      <dgm:prSet presAssocID="{3E98947C-1BAF-4823-A024-236E0B217241}" presName="spaceBetweenRectangles" presStyleCnt="0"/>
      <dgm:spPr/>
    </dgm:pt>
    <dgm:pt modelId="{D8C37164-49F5-48D3-9F3A-364CBCB7E616}" type="pres">
      <dgm:prSet presAssocID="{5F77CF9E-BCFD-4325-8E43-7AC3589B6B7E}" presName="parentLin" presStyleCnt="0"/>
      <dgm:spPr/>
    </dgm:pt>
    <dgm:pt modelId="{11928AEB-E32B-4689-A238-C18B7111190E}" type="pres">
      <dgm:prSet presAssocID="{5F77CF9E-BCFD-4325-8E43-7AC3589B6B7E}" presName="parentLeftMargin" presStyleLbl="node1" presStyleIdx="2" presStyleCnt="12"/>
      <dgm:spPr/>
    </dgm:pt>
    <dgm:pt modelId="{2690095D-C682-4C4A-BD20-A8FC25F1AE82}" type="pres">
      <dgm:prSet presAssocID="{5F77CF9E-BCFD-4325-8E43-7AC3589B6B7E}" presName="parentText" presStyleLbl="node1" presStyleIdx="3" presStyleCnt="12" custScaleX="114283">
        <dgm:presLayoutVars>
          <dgm:chMax val="0"/>
          <dgm:bulletEnabled val="1"/>
        </dgm:presLayoutVars>
      </dgm:prSet>
      <dgm:spPr/>
    </dgm:pt>
    <dgm:pt modelId="{2F81A02B-4240-46B4-8A69-235672922F6A}" type="pres">
      <dgm:prSet presAssocID="{5F77CF9E-BCFD-4325-8E43-7AC3589B6B7E}" presName="negativeSpace" presStyleCnt="0"/>
      <dgm:spPr/>
    </dgm:pt>
    <dgm:pt modelId="{BA0A9E78-6452-4B8A-AE51-6D689E339484}" type="pres">
      <dgm:prSet presAssocID="{5F77CF9E-BCFD-4325-8E43-7AC3589B6B7E}" presName="childText" presStyleLbl="conFgAcc1" presStyleIdx="3" presStyleCnt="12">
        <dgm:presLayoutVars>
          <dgm:bulletEnabled val="1"/>
        </dgm:presLayoutVars>
      </dgm:prSet>
      <dgm:spPr/>
    </dgm:pt>
    <dgm:pt modelId="{AA21A30D-C12B-4264-A542-9601FE254C5D}" type="pres">
      <dgm:prSet presAssocID="{09014239-DABB-4244-993C-4B9885734537}" presName="spaceBetweenRectangles" presStyleCnt="0"/>
      <dgm:spPr/>
    </dgm:pt>
    <dgm:pt modelId="{6686CB89-8EEC-4F53-BF0D-BA644582D393}" type="pres">
      <dgm:prSet presAssocID="{D5A81B6A-B302-4D00-9D9E-EB7D005F070A}" presName="parentLin" presStyleCnt="0"/>
      <dgm:spPr/>
    </dgm:pt>
    <dgm:pt modelId="{B3B02199-AC2A-4F0B-A4CD-FDDC33232A60}" type="pres">
      <dgm:prSet presAssocID="{D5A81B6A-B302-4D00-9D9E-EB7D005F070A}" presName="parentLeftMargin" presStyleLbl="node1" presStyleIdx="3" presStyleCnt="12"/>
      <dgm:spPr/>
    </dgm:pt>
    <dgm:pt modelId="{A08B0E8E-8C7F-4255-A3F8-34FAAC135F61}" type="pres">
      <dgm:prSet presAssocID="{D5A81B6A-B302-4D00-9D9E-EB7D005F070A}" presName="parentText" presStyleLbl="node1" presStyleIdx="4" presStyleCnt="12" custScaleX="114283">
        <dgm:presLayoutVars>
          <dgm:chMax val="0"/>
          <dgm:bulletEnabled val="1"/>
        </dgm:presLayoutVars>
      </dgm:prSet>
      <dgm:spPr/>
    </dgm:pt>
    <dgm:pt modelId="{7973F4F7-49DE-4E60-AEFF-6F126D957018}" type="pres">
      <dgm:prSet presAssocID="{D5A81B6A-B302-4D00-9D9E-EB7D005F070A}" presName="negativeSpace" presStyleCnt="0"/>
      <dgm:spPr/>
    </dgm:pt>
    <dgm:pt modelId="{D524D4B0-4F47-4D31-8A61-14197528B68A}" type="pres">
      <dgm:prSet presAssocID="{D5A81B6A-B302-4D00-9D9E-EB7D005F070A}" presName="childText" presStyleLbl="conFgAcc1" presStyleIdx="4" presStyleCnt="12">
        <dgm:presLayoutVars>
          <dgm:bulletEnabled val="1"/>
        </dgm:presLayoutVars>
      </dgm:prSet>
      <dgm:spPr>
        <a:ln>
          <a:solidFill>
            <a:schemeClr val="accent1"/>
          </a:solidFill>
        </a:ln>
      </dgm:spPr>
    </dgm:pt>
    <dgm:pt modelId="{8C4392E4-1661-4A3E-8965-BE4D2933256A}" type="pres">
      <dgm:prSet presAssocID="{2515C32E-B45F-44AD-8FC5-012A9A23FC26}" presName="spaceBetweenRectangles" presStyleCnt="0"/>
      <dgm:spPr/>
    </dgm:pt>
    <dgm:pt modelId="{12CACB77-AB8B-4B26-856E-F96DE5F76361}" type="pres">
      <dgm:prSet presAssocID="{D88F6FC3-7BDD-42F7-B19F-99B2BCCA3E92}" presName="parentLin" presStyleCnt="0"/>
      <dgm:spPr/>
    </dgm:pt>
    <dgm:pt modelId="{33274E35-8751-45BB-88C7-053174B419F5}" type="pres">
      <dgm:prSet presAssocID="{D88F6FC3-7BDD-42F7-B19F-99B2BCCA3E92}" presName="parentLeftMargin" presStyleLbl="node1" presStyleIdx="4" presStyleCnt="12"/>
      <dgm:spPr/>
    </dgm:pt>
    <dgm:pt modelId="{A9CC9630-0510-47D5-B845-7B11EF8C8726}" type="pres">
      <dgm:prSet presAssocID="{D88F6FC3-7BDD-42F7-B19F-99B2BCCA3E92}" presName="parentText" presStyleLbl="node1" presStyleIdx="5" presStyleCnt="12" custScaleX="114283">
        <dgm:presLayoutVars>
          <dgm:chMax val="0"/>
          <dgm:bulletEnabled val="1"/>
        </dgm:presLayoutVars>
      </dgm:prSet>
      <dgm:spPr/>
    </dgm:pt>
    <dgm:pt modelId="{9CABAB8E-DB53-4E78-88F7-D9EA5BD787D8}" type="pres">
      <dgm:prSet presAssocID="{D88F6FC3-7BDD-42F7-B19F-99B2BCCA3E92}" presName="negativeSpace" presStyleCnt="0"/>
      <dgm:spPr/>
    </dgm:pt>
    <dgm:pt modelId="{6B5F2D5C-5996-49E2-9ECD-B986D8E044FB}" type="pres">
      <dgm:prSet presAssocID="{D88F6FC3-7BDD-42F7-B19F-99B2BCCA3E92}" presName="childText" presStyleLbl="conFgAcc1" presStyleIdx="5" presStyleCnt="12">
        <dgm:presLayoutVars>
          <dgm:bulletEnabled val="1"/>
        </dgm:presLayoutVars>
      </dgm:prSet>
      <dgm:spPr>
        <a:ln>
          <a:solidFill>
            <a:schemeClr val="accent3"/>
          </a:solidFill>
        </a:ln>
      </dgm:spPr>
    </dgm:pt>
    <dgm:pt modelId="{A2D80F7B-59FB-421B-A04B-377A227DC3AC}" type="pres">
      <dgm:prSet presAssocID="{414DEF70-243E-4028-8153-477A4091A5FB}" presName="spaceBetweenRectangles" presStyleCnt="0"/>
      <dgm:spPr/>
    </dgm:pt>
    <dgm:pt modelId="{90A94F11-7CA8-4ED1-8CAE-FE7B1FE44954}" type="pres">
      <dgm:prSet presAssocID="{4E26A5B3-C522-43B4-9AAA-2BC9BAA39234}" presName="parentLin" presStyleCnt="0"/>
      <dgm:spPr/>
    </dgm:pt>
    <dgm:pt modelId="{74BEE3E3-6965-4F4B-9525-1FB38C5FE925}" type="pres">
      <dgm:prSet presAssocID="{4E26A5B3-C522-43B4-9AAA-2BC9BAA39234}" presName="parentLeftMargin" presStyleLbl="node1" presStyleIdx="5" presStyleCnt="12"/>
      <dgm:spPr/>
    </dgm:pt>
    <dgm:pt modelId="{2E6479BD-17C2-4B62-9598-1A179A816511}" type="pres">
      <dgm:prSet presAssocID="{4E26A5B3-C522-43B4-9AAA-2BC9BAA39234}" presName="parentText" presStyleLbl="node1" presStyleIdx="6" presStyleCnt="12" custScaleX="114283">
        <dgm:presLayoutVars>
          <dgm:chMax val="0"/>
          <dgm:bulletEnabled val="1"/>
        </dgm:presLayoutVars>
      </dgm:prSet>
      <dgm:spPr/>
    </dgm:pt>
    <dgm:pt modelId="{8E6892FB-1175-4A61-9E12-AFDA53ACE2C7}" type="pres">
      <dgm:prSet presAssocID="{4E26A5B3-C522-43B4-9AAA-2BC9BAA39234}" presName="negativeSpace" presStyleCnt="0"/>
      <dgm:spPr/>
    </dgm:pt>
    <dgm:pt modelId="{B767CEFF-DB6B-4AE7-8BAC-740813957E5C}" type="pres">
      <dgm:prSet presAssocID="{4E26A5B3-C522-43B4-9AAA-2BC9BAA39234}" presName="childText" presStyleLbl="conFgAcc1" presStyleIdx="6" presStyleCnt="12">
        <dgm:presLayoutVars>
          <dgm:bulletEnabled val="1"/>
        </dgm:presLayoutVars>
      </dgm:prSet>
      <dgm:spPr>
        <a:ln>
          <a:solidFill>
            <a:schemeClr val="accent6"/>
          </a:solidFill>
        </a:ln>
      </dgm:spPr>
    </dgm:pt>
    <dgm:pt modelId="{0142F35C-9F1F-49DD-A2C1-323D45E8804C}" type="pres">
      <dgm:prSet presAssocID="{1BEA1745-1A91-4B8A-AA4D-D270E3744A78}" presName="spaceBetweenRectangles" presStyleCnt="0"/>
      <dgm:spPr/>
    </dgm:pt>
    <dgm:pt modelId="{06354F8E-18CC-480F-9E44-519978943993}" type="pres">
      <dgm:prSet presAssocID="{785ACB87-2795-42CB-A43A-743DD2227EA6}" presName="parentLin" presStyleCnt="0"/>
      <dgm:spPr/>
    </dgm:pt>
    <dgm:pt modelId="{827C1C72-3CAA-4D03-920E-89A9E556E12D}" type="pres">
      <dgm:prSet presAssocID="{785ACB87-2795-42CB-A43A-743DD2227EA6}" presName="parentLeftMargin" presStyleLbl="node1" presStyleIdx="6" presStyleCnt="12"/>
      <dgm:spPr/>
    </dgm:pt>
    <dgm:pt modelId="{527F5BA3-371D-4AE0-B87A-668DCEE6A1CA}" type="pres">
      <dgm:prSet presAssocID="{785ACB87-2795-42CB-A43A-743DD2227EA6}" presName="parentText" presStyleLbl="node1" presStyleIdx="7" presStyleCnt="12" custScaleX="114283" custLinFactX="6009" custLinFactNeighborX="100000">
        <dgm:presLayoutVars>
          <dgm:chMax val="0"/>
          <dgm:bulletEnabled val="1"/>
        </dgm:presLayoutVars>
      </dgm:prSet>
      <dgm:spPr/>
    </dgm:pt>
    <dgm:pt modelId="{66E2C8D4-A5E1-44BF-A380-25A010595765}" type="pres">
      <dgm:prSet presAssocID="{785ACB87-2795-42CB-A43A-743DD2227EA6}" presName="negativeSpace" presStyleCnt="0"/>
      <dgm:spPr/>
    </dgm:pt>
    <dgm:pt modelId="{618D87AA-43A7-4801-AF8D-665093B79FC2}" type="pres">
      <dgm:prSet presAssocID="{785ACB87-2795-42CB-A43A-743DD2227EA6}" presName="childText" presStyleLbl="conFgAcc1" presStyleIdx="7" presStyleCnt="12">
        <dgm:presLayoutVars>
          <dgm:bulletEnabled val="1"/>
        </dgm:presLayoutVars>
      </dgm:prSet>
      <dgm:spPr>
        <a:ln>
          <a:solidFill>
            <a:schemeClr val="accent2"/>
          </a:solidFill>
        </a:ln>
      </dgm:spPr>
    </dgm:pt>
    <dgm:pt modelId="{3CC66BF5-743F-4F5A-ACA4-39198CD8BF75}" type="pres">
      <dgm:prSet presAssocID="{7A30C6C8-EFEC-43E3-A457-BDA410C78405}" presName="spaceBetweenRectangles" presStyleCnt="0"/>
      <dgm:spPr/>
    </dgm:pt>
    <dgm:pt modelId="{65278A73-4950-46F5-BFFF-3808B94E5A68}" type="pres">
      <dgm:prSet presAssocID="{C83BDD41-8921-45D5-B42C-FA68B5FD02BF}" presName="parentLin" presStyleCnt="0"/>
      <dgm:spPr/>
    </dgm:pt>
    <dgm:pt modelId="{5B1CD7BF-057B-40C6-95E4-0CA5CF8E263B}" type="pres">
      <dgm:prSet presAssocID="{C83BDD41-8921-45D5-B42C-FA68B5FD02BF}" presName="parentLeftMargin" presStyleLbl="node1" presStyleIdx="7" presStyleCnt="12"/>
      <dgm:spPr/>
    </dgm:pt>
    <dgm:pt modelId="{EAB68C95-726F-4985-BDFC-96AE74956DB2}" type="pres">
      <dgm:prSet presAssocID="{C83BDD41-8921-45D5-B42C-FA68B5FD02BF}" presName="parentText" presStyleLbl="node1" presStyleIdx="8" presStyleCnt="12" custScaleX="114283" custLinFactX="6009" custLinFactNeighborX="100000">
        <dgm:presLayoutVars>
          <dgm:chMax val="0"/>
          <dgm:bulletEnabled val="1"/>
        </dgm:presLayoutVars>
      </dgm:prSet>
      <dgm:spPr/>
    </dgm:pt>
    <dgm:pt modelId="{AA1F27E5-B285-48F1-B677-553153BD46C1}" type="pres">
      <dgm:prSet presAssocID="{C83BDD41-8921-45D5-B42C-FA68B5FD02BF}" presName="negativeSpace" presStyleCnt="0"/>
      <dgm:spPr/>
    </dgm:pt>
    <dgm:pt modelId="{AEAED330-3F0C-4930-826B-6E673746044E}" type="pres">
      <dgm:prSet presAssocID="{C83BDD41-8921-45D5-B42C-FA68B5FD02BF}" presName="childText" presStyleLbl="conFgAcc1" presStyleIdx="8" presStyleCnt="12">
        <dgm:presLayoutVars>
          <dgm:bulletEnabled val="1"/>
        </dgm:presLayoutVars>
      </dgm:prSet>
      <dgm:spPr>
        <a:ln>
          <a:noFill/>
        </a:ln>
      </dgm:spPr>
    </dgm:pt>
    <dgm:pt modelId="{06A1786F-0367-44E6-8266-FDEAFA391FC0}" type="pres">
      <dgm:prSet presAssocID="{8E21A9B9-3D3D-42EB-B472-2B0A75689488}" presName="spaceBetweenRectangles" presStyleCnt="0"/>
      <dgm:spPr/>
    </dgm:pt>
    <dgm:pt modelId="{7F884000-6D93-465F-A85C-FAF112612AAC}" type="pres">
      <dgm:prSet presAssocID="{09B1DCEF-6CCF-4E27-8F53-C9241CF7DE48}" presName="parentLin" presStyleCnt="0"/>
      <dgm:spPr/>
    </dgm:pt>
    <dgm:pt modelId="{44E4CD8E-9E25-4D22-8CB4-00A3E6601428}" type="pres">
      <dgm:prSet presAssocID="{09B1DCEF-6CCF-4E27-8F53-C9241CF7DE48}" presName="parentLeftMargin" presStyleLbl="node1" presStyleIdx="8" presStyleCnt="12"/>
      <dgm:spPr/>
    </dgm:pt>
    <dgm:pt modelId="{0A427700-7D58-459E-9B8B-B9175C296A48}" type="pres">
      <dgm:prSet presAssocID="{09B1DCEF-6CCF-4E27-8F53-C9241CF7DE48}" presName="parentText" presStyleLbl="node1" presStyleIdx="9" presStyleCnt="12" custScaleX="114283" custLinFactX="6009" custLinFactNeighborX="100000">
        <dgm:presLayoutVars>
          <dgm:chMax val="0"/>
          <dgm:bulletEnabled val="1"/>
        </dgm:presLayoutVars>
      </dgm:prSet>
      <dgm:spPr>
        <a:xfrm>
          <a:off x="1483422" y="4652492"/>
          <a:ext cx="8353405" cy="324720"/>
        </a:xfrm>
        <a:prstGeom prst="roundRect">
          <a:avLst/>
        </a:prstGeom>
      </dgm:spPr>
    </dgm:pt>
    <dgm:pt modelId="{F6E47545-EA14-4B16-B900-5F0A196F8194}" type="pres">
      <dgm:prSet presAssocID="{09B1DCEF-6CCF-4E27-8F53-C9241CF7DE48}" presName="negativeSpace" presStyleCnt="0"/>
      <dgm:spPr/>
    </dgm:pt>
    <dgm:pt modelId="{FDEC5003-E064-4B42-B2CB-36DA6448A6B3}" type="pres">
      <dgm:prSet presAssocID="{09B1DCEF-6CCF-4E27-8F53-C9241CF7DE48}" presName="childText" presStyleLbl="conFgAcc1" presStyleIdx="9" presStyleCnt="12">
        <dgm:presLayoutVars>
          <dgm:bulletEnabled val="1"/>
        </dgm:presLayoutVars>
      </dgm:prSet>
      <dgm:spPr>
        <a:ln>
          <a:solidFill>
            <a:schemeClr val="accent1"/>
          </a:solidFill>
        </a:ln>
      </dgm:spPr>
    </dgm:pt>
    <dgm:pt modelId="{96FF8E25-9CCE-49A2-84E2-B51CC6D3A7D2}" type="pres">
      <dgm:prSet presAssocID="{AAF95CA0-02D7-4B60-8BAD-C3D13F6C2847}" presName="spaceBetweenRectangles" presStyleCnt="0"/>
      <dgm:spPr/>
    </dgm:pt>
    <dgm:pt modelId="{3FA9F286-8656-4505-AA4F-00630DEE4D3B}" type="pres">
      <dgm:prSet presAssocID="{2EE85648-0BC9-4AA0-89FF-B575F12576B8}" presName="parentLin" presStyleCnt="0"/>
      <dgm:spPr/>
    </dgm:pt>
    <dgm:pt modelId="{EAE2C596-F46E-415D-9FB8-D0EA3E813BF3}" type="pres">
      <dgm:prSet presAssocID="{2EE85648-0BC9-4AA0-89FF-B575F12576B8}" presName="parentLeftMargin" presStyleLbl="node1" presStyleIdx="9" presStyleCnt="12"/>
      <dgm:spPr/>
    </dgm:pt>
    <dgm:pt modelId="{FA30E27F-5C4F-48D2-835C-4875060C454B}" type="pres">
      <dgm:prSet presAssocID="{2EE85648-0BC9-4AA0-89FF-B575F12576B8}" presName="parentText" presStyleLbl="node1" presStyleIdx="10" presStyleCnt="12" custScaleX="114283" custLinFactX="6009" custLinFactNeighborX="100000">
        <dgm:presLayoutVars>
          <dgm:chMax val="0"/>
          <dgm:bulletEnabled val="1"/>
        </dgm:presLayoutVars>
      </dgm:prSet>
      <dgm:spPr>
        <a:xfrm>
          <a:off x="1483422" y="5151452"/>
          <a:ext cx="8353405" cy="324720"/>
        </a:xfrm>
        <a:prstGeom prst="roundRect">
          <a:avLst/>
        </a:prstGeom>
      </dgm:spPr>
    </dgm:pt>
    <dgm:pt modelId="{C082A8F9-6046-47C1-B8D4-728ACD0D5F6B}" type="pres">
      <dgm:prSet presAssocID="{2EE85648-0BC9-4AA0-89FF-B575F12576B8}" presName="negativeSpace" presStyleCnt="0"/>
      <dgm:spPr/>
    </dgm:pt>
    <dgm:pt modelId="{7670992B-5481-4BDB-8246-511B6FFC5E72}" type="pres">
      <dgm:prSet presAssocID="{2EE85648-0BC9-4AA0-89FF-B575F12576B8}" presName="childText" presStyleLbl="conFgAcc1" presStyleIdx="10" presStyleCnt="12">
        <dgm:presLayoutVars>
          <dgm:bulletEnabled val="1"/>
        </dgm:presLayoutVars>
      </dgm:prSet>
      <dgm:spPr>
        <a:ln>
          <a:solidFill>
            <a:schemeClr val="accent5"/>
          </a:solidFill>
        </a:ln>
      </dgm:spPr>
    </dgm:pt>
    <dgm:pt modelId="{F6E50838-DEB5-4EC7-986B-EDC14F096219}" type="pres">
      <dgm:prSet presAssocID="{D42B14E0-D5B9-4A29-9056-091A82A2D32B}" presName="spaceBetweenRectangles" presStyleCnt="0"/>
      <dgm:spPr/>
    </dgm:pt>
    <dgm:pt modelId="{C61250EB-FA0F-4C8E-9F5D-C1FDEF87F6D3}" type="pres">
      <dgm:prSet presAssocID="{6920EEEC-8D2C-4678-8B13-80F013410BDD}" presName="parentLin" presStyleCnt="0"/>
      <dgm:spPr/>
    </dgm:pt>
    <dgm:pt modelId="{227FD569-7C22-4BC0-8CCF-54D834AF3383}" type="pres">
      <dgm:prSet presAssocID="{6920EEEC-8D2C-4678-8B13-80F013410BDD}" presName="parentLeftMargin" presStyleLbl="node1" presStyleIdx="10" presStyleCnt="12"/>
      <dgm:spPr/>
    </dgm:pt>
    <dgm:pt modelId="{7D55F781-07F4-4C31-A2E4-EAA06630527E}" type="pres">
      <dgm:prSet presAssocID="{6920EEEC-8D2C-4678-8B13-80F013410BDD}" presName="parentText" presStyleLbl="node1" presStyleIdx="11" presStyleCnt="12" custScaleX="114264" custLinFactX="5942" custLinFactNeighborX="100000" custLinFactNeighborY="6279">
        <dgm:presLayoutVars>
          <dgm:chMax val="0"/>
          <dgm:bulletEnabled val="1"/>
        </dgm:presLayoutVars>
      </dgm:prSet>
      <dgm:spPr/>
    </dgm:pt>
    <dgm:pt modelId="{F88554E0-BDDB-4FBD-A1A9-9D6EE00A8CD0}" type="pres">
      <dgm:prSet presAssocID="{6920EEEC-8D2C-4678-8B13-80F013410BDD}" presName="negativeSpace" presStyleCnt="0"/>
      <dgm:spPr/>
    </dgm:pt>
    <dgm:pt modelId="{3DD60EED-76E8-483E-8D2A-8589B7533F55}" type="pres">
      <dgm:prSet presAssocID="{6920EEEC-8D2C-4678-8B13-80F013410BDD}" presName="childText" presStyleLbl="conFgAcc1" presStyleIdx="11" presStyleCnt="12">
        <dgm:presLayoutVars>
          <dgm:bulletEnabled val="1"/>
        </dgm:presLayoutVars>
      </dgm:prSet>
      <dgm:spPr>
        <a:ln>
          <a:solidFill>
            <a:schemeClr val="accent2"/>
          </a:solidFill>
        </a:ln>
      </dgm:spPr>
    </dgm:pt>
  </dgm:ptLst>
  <dgm:cxnLst>
    <dgm:cxn modelId="{2575F00D-62B6-41ED-B9B2-391E73DD7A81}" type="presOf" srcId="{D88F6FC3-7BDD-42F7-B19F-99B2BCCA3E92}" destId="{A9CC9630-0510-47D5-B845-7B11EF8C8726}" srcOrd="1" destOrd="0" presId="urn:microsoft.com/office/officeart/2005/8/layout/list1"/>
    <dgm:cxn modelId="{C7E2C30F-4A5D-4F19-91A4-D692C14D85AF}" type="presOf" srcId="{D88F6FC3-7BDD-42F7-B19F-99B2BCCA3E92}" destId="{33274E35-8751-45BB-88C7-053174B419F5}" srcOrd="0" destOrd="0" presId="urn:microsoft.com/office/officeart/2005/8/layout/list1"/>
    <dgm:cxn modelId="{01C45015-D83D-499C-99EC-771F2A57CB2D}" srcId="{74DCC87F-961E-4DF8-B92D-75C80AE4CE4F}" destId="{D5A81B6A-B302-4D00-9D9E-EB7D005F070A}" srcOrd="4" destOrd="0" parTransId="{37B01D62-F882-432D-B2B7-DCA8A403C6ED}" sibTransId="{2515C32E-B45F-44AD-8FC5-012A9A23FC26}"/>
    <dgm:cxn modelId="{9B18F61D-CF74-4131-A1F4-2F91F6E40EE5}" srcId="{74DCC87F-961E-4DF8-B92D-75C80AE4CE4F}" destId="{10708408-6D36-4B7D-BEBF-A590AC2B2C93}" srcOrd="1" destOrd="0" parTransId="{8D2B13C8-5A34-47CA-85F8-9805230B2A3D}" sibTransId="{9BF9C8D2-D621-4D98-B87C-BF558387DF06}"/>
    <dgm:cxn modelId="{F6CFD425-31F9-4822-94D5-D1399F625D31}" srcId="{74DCC87F-961E-4DF8-B92D-75C80AE4CE4F}" destId="{8A1DF76F-BB6E-479A-B791-12AA1D3E9567}" srcOrd="0" destOrd="0" parTransId="{80126F50-3606-41B3-BAE8-E1F8859AAE70}" sibTransId="{5C5137A3-B785-40FB-99CC-E60534FB182F}"/>
    <dgm:cxn modelId="{0310DE33-D7E8-402C-B78B-69DFD42C01EA}" srcId="{74DCC87F-961E-4DF8-B92D-75C80AE4CE4F}" destId="{4E26A5B3-C522-43B4-9AAA-2BC9BAA39234}" srcOrd="6" destOrd="0" parTransId="{00D0D682-2043-42C0-9E9F-91BE89916147}" sibTransId="{1BEA1745-1A91-4B8A-AA4D-D270E3744A78}"/>
    <dgm:cxn modelId="{BD253C3E-90DE-4EA9-8A9C-3C0089E3F19F}" type="presOf" srcId="{4E26A5B3-C522-43B4-9AAA-2BC9BAA39234}" destId="{74BEE3E3-6965-4F4B-9525-1FB38C5FE925}" srcOrd="0" destOrd="0" presId="urn:microsoft.com/office/officeart/2005/8/layout/list1"/>
    <dgm:cxn modelId="{6F9C345F-FBCE-478B-8159-2E6DCE7BAF6D}" type="presOf" srcId="{785ACB87-2795-42CB-A43A-743DD2227EA6}" destId="{527F5BA3-371D-4AE0-B87A-668DCEE6A1CA}" srcOrd="1" destOrd="0" presId="urn:microsoft.com/office/officeart/2005/8/layout/list1"/>
    <dgm:cxn modelId="{A6DDB060-2FEC-4E3E-A5F1-5BF8B3485D6F}" type="presOf" srcId="{5F77CF9E-BCFD-4325-8E43-7AC3589B6B7E}" destId="{11928AEB-E32B-4689-A238-C18B7111190E}" srcOrd="0" destOrd="0" presId="urn:microsoft.com/office/officeart/2005/8/layout/list1"/>
    <dgm:cxn modelId="{90A57041-D25E-497F-B6A8-F08953DA737C}" type="presOf" srcId="{8A1DF76F-BB6E-479A-B791-12AA1D3E9567}" destId="{FC5595AD-741D-479C-94ED-B41127C2D30C}" srcOrd="1" destOrd="0" presId="urn:microsoft.com/office/officeart/2005/8/layout/list1"/>
    <dgm:cxn modelId="{64308A61-2A69-4BFB-862E-3E771C486BAB}" srcId="{74DCC87F-961E-4DF8-B92D-75C80AE4CE4F}" destId="{09B1DCEF-6CCF-4E27-8F53-C9241CF7DE48}" srcOrd="9" destOrd="0" parTransId="{BFADC8F6-8864-4668-ABF2-3ADF8E87DEBB}" sibTransId="{AAF95CA0-02D7-4B60-8BAD-C3D13F6C2847}"/>
    <dgm:cxn modelId="{A85F6C65-03C9-4B05-9CAD-D7EEED8A2BB4}" type="presOf" srcId="{D5A81B6A-B302-4D00-9D9E-EB7D005F070A}" destId="{A08B0E8E-8C7F-4255-A3F8-34FAAC135F61}" srcOrd="1" destOrd="0" presId="urn:microsoft.com/office/officeart/2005/8/layout/list1"/>
    <dgm:cxn modelId="{A9445846-FEA2-421B-8981-046678AE2A1C}" type="presOf" srcId="{10708408-6D36-4B7D-BEBF-A590AC2B2C93}" destId="{D5FBFB3E-AF30-4644-971E-72A9D5B69B7E}" srcOrd="1" destOrd="0" presId="urn:microsoft.com/office/officeart/2005/8/layout/list1"/>
    <dgm:cxn modelId="{76232C6A-03B2-43A8-A8AD-40D747B4DE9B}" srcId="{74DCC87F-961E-4DF8-B92D-75C80AE4CE4F}" destId="{D88F6FC3-7BDD-42F7-B19F-99B2BCCA3E92}" srcOrd="5" destOrd="0" parTransId="{5FC457B8-A9F4-41FB-A6D6-4BC02D5F4CCD}" sibTransId="{414DEF70-243E-4028-8153-477A4091A5FB}"/>
    <dgm:cxn modelId="{51FF816D-9D03-4750-9221-228E100D7C80}" type="presOf" srcId="{D5A81B6A-B302-4D00-9D9E-EB7D005F070A}" destId="{B3B02199-AC2A-4F0B-A4CD-FDDC33232A60}" srcOrd="0" destOrd="0" presId="urn:microsoft.com/office/officeart/2005/8/layout/list1"/>
    <dgm:cxn modelId="{8B676470-28F6-46B0-A6D8-DB2486EC20E3}" type="presOf" srcId="{354638AD-F668-46FD-B66B-13F8AF7906FB}" destId="{4E0EC255-89F1-4ECD-8CEB-A36054D0B55B}" srcOrd="1" destOrd="0" presId="urn:microsoft.com/office/officeart/2005/8/layout/list1"/>
    <dgm:cxn modelId="{2B543A5A-AB47-4626-83F7-273EE9F70706}" srcId="{74DCC87F-961E-4DF8-B92D-75C80AE4CE4F}" destId="{2EE85648-0BC9-4AA0-89FF-B575F12576B8}" srcOrd="10" destOrd="0" parTransId="{B36C580A-A389-45FC-B1BC-A40A8BB5F7A6}" sibTransId="{D42B14E0-D5B9-4A29-9056-091A82A2D32B}"/>
    <dgm:cxn modelId="{8EEC5095-9CEB-4392-93D0-A1174A269F61}" type="presOf" srcId="{C83BDD41-8921-45D5-B42C-FA68B5FD02BF}" destId="{EAB68C95-726F-4985-BDFC-96AE74956DB2}" srcOrd="1" destOrd="0" presId="urn:microsoft.com/office/officeart/2005/8/layout/list1"/>
    <dgm:cxn modelId="{CB26B09F-AA64-46A7-AF90-35335CDBD9D8}" srcId="{74DCC87F-961E-4DF8-B92D-75C80AE4CE4F}" destId="{785ACB87-2795-42CB-A43A-743DD2227EA6}" srcOrd="7" destOrd="0" parTransId="{F511A68B-3DCC-40A1-B8E9-6F7F3E83B551}" sibTransId="{7A30C6C8-EFEC-43E3-A457-BDA410C78405}"/>
    <dgm:cxn modelId="{A50E68A0-7F18-4AC8-89DF-6C7098939306}" type="presOf" srcId="{09B1DCEF-6CCF-4E27-8F53-C9241CF7DE48}" destId="{44E4CD8E-9E25-4D22-8CB4-00A3E6601428}" srcOrd="0" destOrd="0" presId="urn:microsoft.com/office/officeart/2005/8/layout/list1"/>
    <dgm:cxn modelId="{BBE7E4A2-C20B-4577-A4D2-638D054E2399}" type="presOf" srcId="{C83BDD41-8921-45D5-B42C-FA68B5FD02BF}" destId="{5B1CD7BF-057B-40C6-95E4-0CA5CF8E263B}" srcOrd="0" destOrd="0" presId="urn:microsoft.com/office/officeart/2005/8/layout/list1"/>
    <dgm:cxn modelId="{8B9707AB-F6E8-459F-9B04-0B4E8AABE490}" type="presOf" srcId="{6920EEEC-8D2C-4678-8B13-80F013410BDD}" destId="{227FD569-7C22-4BC0-8CCF-54D834AF3383}" srcOrd="0" destOrd="0" presId="urn:microsoft.com/office/officeart/2005/8/layout/list1"/>
    <dgm:cxn modelId="{AF927DAC-20AD-4CDB-9895-6826E9BC7478}" type="presOf" srcId="{354638AD-F668-46FD-B66B-13F8AF7906FB}" destId="{0949B521-3F4C-422C-A2EC-7F0FDC407213}" srcOrd="0" destOrd="0" presId="urn:microsoft.com/office/officeart/2005/8/layout/list1"/>
    <dgm:cxn modelId="{5ACBFFB5-29C8-4BCA-8682-220015B95BD1}" type="presOf" srcId="{74DCC87F-961E-4DF8-B92D-75C80AE4CE4F}" destId="{0B780D78-199E-4300-A693-D6F97EF5F986}" srcOrd="0" destOrd="0" presId="urn:microsoft.com/office/officeart/2005/8/layout/list1"/>
    <dgm:cxn modelId="{542287BA-53EF-4F8F-9CA4-744CE940A6EE}" type="presOf" srcId="{6920EEEC-8D2C-4678-8B13-80F013410BDD}" destId="{7D55F781-07F4-4C31-A2E4-EAA06630527E}" srcOrd="1" destOrd="0" presId="urn:microsoft.com/office/officeart/2005/8/layout/list1"/>
    <dgm:cxn modelId="{D7BFAFC4-B07D-4FE3-8BCB-482A4CC7A9B8}" type="presOf" srcId="{5F77CF9E-BCFD-4325-8E43-7AC3589B6B7E}" destId="{2690095D-C682-4C4A-BD20-A8FC25F1AE82}" srcOrd="1" destOrd="0" presId="urn:microsoft.com/office/officeart/2005/8/layout/list1"/>
    <dgm:cxn modelId="{5061B1CC-E50A-4D73-91BD-637C5137A4AD}" type="presOf" srcId="{4E26A5B3-C522-43B4-9AAA-2BC9BAA39234}" destId="{2E6479BD-17C2-4B62-9598-1A179A816511}" srcOrd="1" destOrd="0" presId="urn:microsoft.com/office/officeart/2005/8/layout/list1"/>
    <dgm:cxn modelId="{8D247FD2-6E5F-414B-8989-646255A9AB97}" srcId="{74DCC87F-961E-4DF8-B92D-75C80AE4CE4F}" destId="{354638AD-F668-46FD-B66B-13F8AF7906FB}" srcOrd="2" destOrd="0" parTransId="{B748A4E7-66A8-407D-BEB5-1A548C1D9DF5}" sibTransId="{3E98947C-1BAF-4823-A024-236E0B217241}"/>
    <dgm:cxn modelId="{6C4765DA-387D-401D-B3C8-3EEE2F5055BA}" type="presOf" srcId="{09B1DCEF-6CCF-4E27-8F53-C9241CF7DE48}" destId="{0A427700-7D58-459E-9B8B-B9175C296A48}" srcOrd="1" destOrd="0" presId="urn:microsoft.com/office/officeart/2005/8/layout/list1"/>
    <dgm:cxn modelId="{766A8CDA-C184-4636-B3F9-959B8220623A}" type="presOf" srcId="{10708408-6D36-4B7D-BEBF-A590AC2B2C93}" destId="{78B90B25-6254-4BB0-B462-8B502E1DD088}" srcOrd="0" destOrd="0" presId="urn:microsoft.com/office/officeart/2005/8/layout/list1"/>
    <dgm:cxn modelId="{48F2B5DA-347B-4946-A020-5BE4233A9B23}" type="presOf" srcId="{785ACB87-2795-42CB-A43A-743DD2227EA6}" destId="{827C1C72-3CAA-4D03-920E-89A9E556E12D}" srcOrd="0" destOrd="0" presId="urn:microsoft.com/office/officeart/2005/8/layout/list1"/>
    <dgm:cxn modelId="{A48E4EE6-1E33-4DDC-B917-7D1921C2DA37}" srcId="{74DCC87F-961E-4DF8-B92D-75C80AE4CE4F}" destId="{6920EEEC-8D2C-4678-8B13-80F013410BDD}" srcOrd="11" destOrd="0" parTransId="{6CC2C35A-C4F4-44B8-822F-58BA688B4E3F}" sibTransId="{3E1BD0E5-6F34-480C-B732-F43B7DCD031B}"/>
    <dgm:cxn modelId="{F3F017E9-E228-418B-BF74-FB35BBCFB9A6}" srcId="{74DCC87F-961E-4DF8-B92D-75C80AE4CE4F}" destId="{5F77CF9E-BCFD-4325-8E43-7AC3589B6B7E}" srcOrd="3" destOrd="0" parTransId="{8896BD91-0238-49C7-8D75-390D6CFA76D8}" sibTransId="{09014239-DABB-4244-993C-4B9885734537}"/>
    <dgm:cxn modelId="{1AF99CEA-8C2E-45FE-96E2-44E8010EF6D2}" type="presOf" srcId="{2EE85648-0BC9-4AA0-89FF-B575F12576B8}" destId="{EAE2C596-F46E-415D-9FB8-D0EA3E813BF3}" srcOrd="0" destOrd="0" presId="urn:microsoft.com/office/officeart/2005/8/layout/list1"/>
    <dgm:cxn modelId="{0C41F0EE-A9EB-4F39-98A6-A945E357CB29}" srcId="{74DCC87F-961E-4DF8-B92D-75C80AE4CE4F}" destId="{C83BDD41-8921-45D5-B42C-FA68B5FD02BF}" srcOrd="8" destOrd="0" parTransId="{D42DD6BB-91F3-4351-8469-B92EEC984110}" sibTransId="{8E21A9B9-3D3D-42EB-B472-2B0A75689488}"/>
    <dgm:cxn modelId="{E556FAF2-0756-45E6-A58A-EB1167123B89}" type="presOf" srcId="{8A1DF76F-BB6E-479A-B791-12AA1D3E9567}" destId="{C1C73789-F552-4FF2-B95E-C69C025A1060}" srcOrd="0" destOrd="0" presId="urn:microsoft.com/office/officeart/2005/8/layout/list1"/>
    <dgm:cxn modelId="{8774EAF6-7582-4B7C-9099-6BEE2AB95AB4}" type="presOf" srcId="{2EE85648-0BC9-4AA0-89FF-B575F12576B8}" destId="{FA30E27F-5C4F-48D2-835C-4875060C454B}" srcOrd="1" destOrd="0" presId="urn:microsoft.com/office/officeart/2005/8/layout/list1"/>
    <dgm:cxn modelId="{9AD2CDF8-8548-4EFC-A0D4-3D19C66F97C4}" type="presParOf" srcId="{0B780D78-199E-4300-A693-D6F97EF5F986}" destId="{AB711B2A-DB8A-4E78-8A51-7A006FB82405}" srcOrd="0" destOrd="0" presId="urn:microsoft.com/office/officeart/2005/8/layout/list1"/>
    <dgm:cxn modelId="{31596D92-3595-42CD-A4E0-52470E1CCA04}" type="presParOf" srcId="{AB711B2A-DB8A-4E78-8A51-7A006FB82405}" destId="{C1C73789-F552-4FF2-B95E-C69C025A1060}" srcOrd="0" destOrd="0" presId="urn:microsoft.com/office/officeart/2005/8/layout/list1"/>
    <dgm:cxn modelId="{95A4ED9C-D0E2-4D8B-B738-6CDF707ABC6E}" type="presParOf" srcId="{AB711B2A-DB8A-4E78-8A51-7A006FB82405}" destId="{FC5595AD-741D-479C-94ED-B41127C2D30C}" srcOrd="1" destOrd="0" presId="urn:microsoft.com/office/officeart/2005/8/layout/list1"/>
    <dgm:cxn modelId="{3243A367-FCD7-40ED-B09B-78DC2892E8D5}" type="presParOf" srcId="{0B780D78-199E-4300-A693-D6F97EF5F986}" destId="{5B43CB98-6094-4D72-AEC4-3B56AD698D0D}" srcOrd="1" destOrd="0" presId="urn:microsoft.com/office/officeart/2005/8/layout/list1"/>
    <dgm:cxn modelId="{7AEB638D-93FA-42AE-B0A0-B11B201B1219}" type="presParOf" srcId="{0B780D78-199E-4300-A693-D6F97EF5F986}" destId="{C9227AC1-1BF1-4CB5-864D-1F1C35C267D4}" srcOrd="2" destOrd="0" presId="urn:microsoft.com/office/officeart/2005/8/layout/list1"/>
    <dgm:cxn modelId="{F4AEB36B-6B0B-4103-93B8-639DD32D6E6D}" type="presParOf" srcId="{0B780D78-199E-4300-A693-D6F97EF5F986}" destId="{76379CA2-9CD9-4B68-BA3F-BB94A437B20B}" srcOrd="3" destOrd="0" presId="urn:microsoft.com/office/officeart/2005/8/layout/list1"/>
    <dgm:cxn modelId="{14D23396-2BEF-4AE8-BF41-DE29E0B971AC}" type="presParOf" srcId="{0B780D78-199E-4300-A693-D6F97EF5F986}" destId="{047E0C47-3DB2-431F-A4C8-4CD363D3B823}" srcOrd="4" destOrd="0" presId="urn:microsoft.com/office/officeart/2005/8/layout/list1"/>
    <dgm:cxn modelId="{3E8D037E-B1EA-41AD-8707-873651EC413B}" type="presParOf" srcId="{047E0C47-3DB2-431F-A4C8-4CD363D3B823}" destId="{78B90B25-6254-4BB0-B462-8B502E1DD088}" srcOrd="0" destOrd="0" presId="urn:microsoft.com/office/officeart/2005/8/layout/list1"/>
    <dgm:cxn modelId="{CCDFA129-3781-4693-BE54-FBCAF97DF990}" type="presParOf" srcId="{047E0C47-3DB2-431F-A4C8-4CD363D3B823}" destId="{D5FBFB3E-AF30-4644-971E-72A9D5B69B7E}" srcOrd="1" destOrd="0" presId="urn:microsoft.com/office/officeart/2005/8/layout/list1"/>
    <dgm:cxn modelId="{2E95FC64-2486-4B58-98C2-65972322001F}" type="presParOf" srcId="{0B780D78-199E-4300-A693-D6F97EF5F986}" destId="{86CF052E-923F-4227-ABF0-95C2FF075F55}" srcOrd="5" destOrd="0" presId="urn:microsoft.com/office/officeart/2005/8/layout/list1"/>
    <dgm:cxn modelId="{B1610561-2CC1-4072-843A-4B1B329E3BCB}" type="presParOf" srcId="{0B780D78-199E-4300-A693-D6F97EF5F986}" destId="{4B705F14-EF6E-47A1-83AC-F9A4EA9DCD99}" srcOrd="6" destOrd="0" presId="urn:microsoft.com/office/officeart/2005/8/layout/list1"/>
    <dgm:cxn modelId="{E41A112E-C81F-4766-A8B0-4EEFC10402A6}" type="presParOf" srcId="{0B780D78-199E-4300-A693-D6F97EF5F986}" destId="{64D9A99A-B3BE-4D6A-B34A-A753C38956F0}" srcOrd="7" destOrd="0" presId="urn:microsoft.com/office/officeart/2005/8/layout/list1"/>
    <dgm:cxn modelId="{2F059963-FEFE-4465-A4B3-C0E5BEACE7D1}" type="presParOf" srcId="{0B780D78-199E-4300-A693-D6F97EF5F986}" destId="{84921B4F-9AA1-4618-97E3-FC85366EB2A0}" srcOrd="8" destOrd="0" presId="urn:microsoft.com/office/officeart/2005/8/layout/list1"/>
    <dgm:cxn modelId="{4F646866-05C4-4FD1-9D3A-D3BACD96ACB6}" type="presParOf" srcId="{84921B4F-9AA1-4618-97E3-FC85366EB2A0}" destId="{0949B521-3F4C-422C-A2EC-7F0FDC407213}" srcOrd="0" destOrd="0" presId="urn:microsoft.com/office/officeart/2005/8/layout/list1"/>
    <dgm:cxn modelId="{BF16DC0E-03C5-4483-9859-D447D2D0CF36}" type="presParOf" srcId="{84921B4F-9AA1-4618-97E3-FC85366EB2A0}" destId="{4E0EC255-89F1-4ECD-8CEB-A36054D0B55B}" srcOrd="1" destOrd="0" presId="urn:microsoft.com/office/officeart/2005/8/layout/list1"/>
    <dgm:cxn modelId="{6D2F65B7-7790-43F1-A153-B2BD18C3F598}" type="presParOf" srcId="{0B780D78-199E-4300-A693-D6F97EF5F986}" destId="{2D8EB3B2-C86A-4D2D-ABC7-680390DCF5E0}" srcOrd="9" destOrd="0" presId="urn:microsoft.com/office/officeart/2005/8/layout/list1"/>
    <dgm:cxn modelId="{A6EA18BA-20C1-4B99-84ED-9AE84FBFA41C}" type="presParOf" srcId="{0B780D78-199E-4300-A693-D6F97EF5F986}" destId="{0893C5BF-2D1A-475E-9A5B-CF95378A190A}" srcOrd="10" destOrd="0" presId="urn:microsoft.com/office/officeart/2005/8/layout/list1"/>
    <dgm:cxn modelId="{959D3CBC-AEA5-4733-81B9-24940E52473D}" type="presParOf" srcId="{0B780D78-199E-4300-A693-D6F97EF5F986}" destId="{2F6A9ABE-AE6B-4CC3-9355-62F4AC9DDBAF}" srcOrd="11" destOrd="0" presId="urn:microsoft.com/office/officeart/2005/8/layout/list1"/>
    <dgm:cxn modelId="{DC0609E9-F77F-404A-9D6F-3489842EDF49}" type="presParOf" srcId="{0B780D78-199E-4300-A693-D6F97EF5F986}" destId="{D8C37164-49F5-48D3-9F3A-364CBCB7E616}" srcOrd="12" destOrd="0" presId="urn:microsoft.com/office/officeart/2005/8/layout/list1"/>
    <dgm:cxn modelId="{18B44991-0E81-4270-BF7A-BF40AC6D8989}" type="presParOf" srcId="{D8C37164-49F5-48D3-9F3A-364CBCB7E616}" destId="{11928AEB-E32B-4689-A238-C18B7111190E}" srcOrd="0" destOrd="0" presId="urn:microsoft.com/office/officeart/2005/8/layout/list1"/>
    <dgm:cxn modelId="{7CCA4C35-05D1-4004-9C8E-B6ADE9FF3614}" type="presParOf" srcId="{D8C37164-49F5-48D3-9F3A-364CBCB7E616}" destId="{2690095D-C682-4C4A-BD20-A8FC25F1AE82}" srcOrd="1" destOrd="0" presId="urn:microsoft.com/office/officeart/2005/8/layout/list1"/>
    <dgm:cxn modelId="{B995B663-D0BA-4DA0-8B11-ED10DD89ABE3}" type="presParOf" srcId="{0B780D78-199E-4300-A693-D6F97EF5F986}" destId="{2F81A02B-4240-46B4-8A69-235672922F6A}" srcOrd="13" destOrd="0" presId="urn:microsoft.com/office/officeart/2005/8/layout/list1"/>
    <dgm:cxn modelId="{CA84FAE0-0C26-432B-AD9A-A1EF582B00D9}" type="presParOf" srcId="{0B780D78-199E-4300-A693-D6F97EF5F986}" destId="{BA0A9E78-6452-4B8A-AE51-6D689E339484}" srcOrd="14" destOrd="0" presId="urn:microsoft.com/office/officeart/2005/8/layout/list1"/>
    <dgm:cxn modelId="{7E32A89C-BB69-44B9-8B5D-011EDF81E2C4}" type="presParOf" srcId="{0B780D78-199E-4300-A693-D6F97EF5F986}" destId="{AA21A30D-C12B-4264-A542-9601FE254C5D}" srcOrd="15" destOrd="0" presId="urn:microsoft.com/office/officeart/2005/8/layout/list1"/>
    <dgm:cxn modelId="{7FC9CC5A-0897-4EF3-9ABC-8DD052F39188}" type="presParOf" srcId="{0B780D78-199E-4300-A693-D6F97EF5F986}" destId="{6686CB89-8EEC-4F53-BF0D-BA644582D393}" srcOrd="16" destOrd="0" presId="urn:microsoft.com/office/officeart/2005/8/layout/list1"/>
    <dgm:cxn modelId="{5A4FC97C-2DE4-4E08-A9A5-1EE5C8803069}" type="presParOf" srcId="{6686CB89-8EEC-4F53-BF0D-BA644582D393}" destId="{B3B02199-AC2A-4F0B-A4CD-FDDC33232A60}" srcOrd="0" destOrd="0" presId="urn:microsoft.com/office/officeart/2005/8/layout/list1"/>
    <dgm:cxn modelId="{FD1F95D6-5FBA-4A3B-95B6-C1DC2A97D98D}" type="presParOf" srcId="{6686CB89-8EEC-4F53-BF0D-BA644582D393}" destId="{A08B0E8E-8C7F-4255-A3F8-34FAAC135F61}" srcOrd="1" destOrd="0" presId="urn:microsoft.com/office/officeart/2005/8/layout/list1"/>
    <dgm:cxn modelId="{C67027EA-79E3-4E42-A8A6-312A66DCAC3B}" type="presParOf" srcId="{0B780D78-199E-4300-A693-D6F97EF5F986}" destId="{7973F4F7-49DE-4E60-AEFF-6F126D957018}" srcOrd="17" destOrd="0" presId="urn:microsoft.com/office/officeart/2005/8/layout/list1"/>
    <dgm:cxn modelId="{3BAD0C44-5813-4A39-B7F3-3D10DDDB8BFA}" type="presParOf" srcId="{0B780D78-199E-4300-A693-D6F97EF5F986}" destId="{D524D4B0-4F47-4D31-8A61-14197528B68A}" srcOrd="18" destOrd="0" presId="urn:microsoft.com/office/officeart/2005/8/layout/list1"/>
    <dgm:cxn modelId="{90C9B675-4904-4383-A548-DCB245E6A2A8}" type="presParOf" srcId="{0B780D78-199E-4300-A693-D6F97EF5F986}" destId="{8C4392E4-1661-4A3E-8965-BE4D2933256A}" srcOrd="19" destOrd="0" presId="urn:microsoft.com/office/officeart/2005/8/layout/list1"/>
    <dgm:cxn modelId="{C1D7B994-DCBF-4034-9A82-18F341295018}" type="presParOf" srcId="{0B780D78-199E-4300-A693-D6F97EF5F986}" destId="{12CACB77-AB8B-4B26-856E-F96DE5F76361}" srcOrd="20" destOrd="0" presId="urn:microsoft.com/office/officeart/2005/8/layout/list1"/>
    <dgm:cxn modelId="{A136ED57-3E5E-4B91-BBCA-5B975C279BC1}" type="presParOf" srcId="{12CACB77-AB8B-4B26-856E-F96DE5F76361}" destId="{33274E35-8751-45BB-88C7-053174B419F5}" srcOrd="0" destOrd="0" presId="urn:microsoft.com/office/officeart/2005/8/layout/list1"/>
    <dgm:cxn modelId="{1CCBE254-D5D5-45FF-9B66-11F6FEF890A8}" type="presParOf" srcId="{12CACB77-AB8B-4B26-856E-F96DE5F76361}" destId="{A9CC9630-0510-47D5-B845-7B11EF8C8726}" srcOrd="1" destOrd="0" presId="urn:microsoft.com/office/officeart/2005/8/layout/list1"/>
    <dgm:cxn modelId="{94455B8C-D382-4FB3-89D0-5BB44FF8D733}" type="presParOf" srcId="{0B780D78-199E-4300-A693-D6F97EF5F986}" destId="{9CABAB8E-DB53-4E78-88F7-D9EA5BD787D8}" srcOrd="21" destOrd="0" presId="urn:microsoft.com/office/officeart/2005/8/layout/list1"/>
    <dgm:cxn modelId="{E254B85D-481C-465E-B8C2-C263BB03862F}" type="presParOf" srcId="{0B780D78-199E-4300-A693-D6F97EF5F986}" destId="{6B5F2D5C-5996-49E2-9ECD-B986D8E044FB}" srcOrd="22" destOrd="0" presId="urn:microsoft.com/office/officeart/2005/8/layout/list1"/>
    <dgm:cxn modelId="{8C8160FA-B65C-4578-869F-7DE22D317293}" type="presParOf" srcId="{0B780D78-199E-4300-A693-D6F97EF5F986}" destId="{A2D80F7B-59FB-421B-A04B-377A227DC3AC}" srcOrd="23" destOrd="0" presId="urn:microsoft.com/office/officeart/2005/8/layout/list1"/>
    <dgm:cxn modelId="{19F626DA-ABF9-4F3B-A31C-29D384112F86}" type="presParOf" srcId="{0B780D78-199E-4300-A693-D6F97EF5F986}" destId="{90A94F11-7CA8-4ED1-8CAE-FE7B1FE44954}" srcOrd="24" destOrd="0" presId="urn:microsoft.com/office/officeart/2005/8/layout/list1"/>
    <dgm:cxn modelId="{8466EA73-F47A-4AFB-A90E-3629D2F1DD4C}" type="presParOf" srcId="{90A94F11-7CA8-4ED1-8CAE-FE7B1FE44954}" destId="{74BEE3E3-6965-4F4B-9525-1FB38C5FE925}" srcOrd="0" destOrd="0" presId="urn:microsoft.com/office/officeart/2005/8/layout/list1"/>
    <dgm:cxn modelId="{DAACF701-86A6-433F-B830-E1DDF6E938A0}" type="presParOf" srcId="{90A94F11-7CA8-4ED1-8CAE-FE7B1FE44954}" destId="{2E6479BD-17C2-4B62-9598-1A179A816511}" srcOrd="1" destOrd="0" presId="urn:microsoft.com/office/officeart/2005/8/layout/list1"/>
    <dgm:cxn modelId="{17D414E8-AA26-449D-A04D-4DC9078316C1}" type="presParOf" srcId="{0B780D78-199E-4300-A693-D6F97EF5F986}" destId="{8E6892FB-1175-4A61-9E12-AFDA53ACE2C7}" srcOrd="25" destOrd="0" presId="urn:microsoft.com/office/officeart/2005/8/layout/list1"/>
    <dgm:cxn modelId="{66A43AD0-7132-4111-A8EC-0CA2375D0BF9}" type="presParOf" srcId="{0B780D78-199E-4300-A693-D6F97EF5F986}" destId="{B767CEFF-DB6B-4AE7-8BAC-740813957E5C}" srcOrd="26" destOrd="0" presId="urn:microsoft.com/office/officeart/2005/8/layout/list1"/>
    <dgm:cxn modelId="{B83715A1-EBEA-4F3F-AB45-C09FAC278D1C}" type="presParOf" srcId="{0B780D78-199E-4300-A693-D6F97EF5F986}" destId="{0142F35C-9F1F-49DD-A2C1-323D45E8804C}" srcOrd="27" destOrd="0" presId="urn:microsoft.com/office/officeart/2005/8/layout/list1"/>
    <dgm:cxn modelId="{8A7F2857-F8A2-4FC2-AE86-1FF03548131A}" type="presParOf" srcId="{0B780D78-199E-4300-A693-D6F97EF5F986}" destId="{06354F8E-18CC-480F-9E44-519978943993}" srcOrd="28" destOrd="0" presId="urn:microsoft.com/office/officeart/2005/8/layout/list1"/>
    <dgm:cxn modelId="{005C7110-7678-4D84-848D-0129A0460D29}" type="presParOf" srcId="{06354F8E-18CC-480F-9E44-519978943993}" destId="{827C1C72-3CAA-4D03-920E-89A9E556E12D}" srcOrd="0" destOrd="0" presId="urn:microsoft.com/office/officeart/2005/8/layout/list1"/>
    <dgm:cxn modelId="{DFF69763-0DB0-4F17-A53E-381041BBB79A}" type="presParOf" srcId="{06354F8E-18CC-480F-9E44-519978943993}" destId="{527F5BA3-371D-4AE0-B87A-668DCEE6A1CA}" srcOrd="1" destOrd="0" presId="urn:microsoft.com/office/officeart/2005/8/layout/list1"/>
    <dgm:cxn modelId="{BE5D1799-3794-4CEA-BDE0-F82DD3CB0BE0}" type="presParOf" srcId="{0B780D78-199E-4300-A693-D6F97EF5F986}" destId="{66E2C8D4-A5E1-44BF-A380-25A010595765}" srcOrd="29" destOrd="0" presId="urn:microsoft.com/office/officeart/2005/8/layout/list1"/>
    <dgm:cxn modelId="{458DBF49-B43C-47C8-8633-CD06820C4D23}" type="presParOf" srcId="{0B780D78-199E-4300-A693-D6F97EF5F986}" destId="{618D87AA-43A7-4801-AF8D-665093B79FC2}" srcOrd="30" destOrd="0" presId="urn:microsoft.com/office/officeart/2005/8/layout/list1"/>
    <dgm:cxn modelId="{F4EE51DD-34BB-4BF9-9BC5-D3A5B3571291}" type="presParOf" srcId="{0B780D78-199E-4300-A693-D6F97EF5F986}" destId="{3CC66BF5-743F-4F5A-ACA4-39198CD8BF75}" srcOrd="31" destOrd="0" presId="urn:microsoft.com/office/officeart/2005/8/layout/list1"/>
    <dgm:cxn modelId="{FA4D7E3F-F1C8-412B-AA32-ED016EA347A7}" type="presParOf" srcId="{0B780D78-199E-4300-A693-D6F97EF5F986}" destId="{65278A73-4950-46F5-BFFF-3808B94E5A68}" srcOrd="32" destOrd="0" presId="urn:microsoft.com/office/officeart/2005/8/layout/list1"/>
    <dgm:cxn modelId="{791FAB7B-C6B7-461C-9A38-FC4205AEE2E1}" type="presParOf" srcId="{65278A73-4950-46F5-BFFF-3808B94E5A68}" destId="{5B1CD7BF-057B-40C6-95E4-0CA5CF8E263B}" srcOrd="0" destOrd="0" presId="urn:microsoft.com/office/officeart/2005/8/layout/list1"/>
    <dgm:cxn modelId="{00130F12-70BE-4A57-939B-340EC3EAF3DF}" type="presParOf" srcId="{65278A73-4950-46F5-BFFF-3808B94E5A68}" destId="{EAB68C95-726F-4985-BDFC-96AE74956DB2}" srcOrd="1" destOrd="0" presId="urn:microsoft.com/office/officeart/2005/8/layout/list1"/>
    <dgm:cxn modelId="{188937AC-A547-463B-92C4-455E99FD0061}" type="presParOf" srcId="{0B780D78-199E-4300-A693-D6F97EF5F986}" destId="{AA1F27E5-B285-48F1-B677-553153BD46C1}" srcOrd="33" destOrd="0" presId="urn:microsoft.com/office/officeart/2005/8/layout/list1"/>
    <dgm:cxn modelId="{7E44E6EC-5B9B-47F2-99B9-C04555BCEC17}" type="presParOf" srcId="{0B780D78-199E-4300-A693-D6F97EF5F986}" destId="{AEAED330-3F0C-4930-826B-6E673746044E}" srcOrd="34" destOrd="0" presId="urn:microsoft.com/office/officeart/2005/8/layout/list1"/>
    <dgm:cxn modelId="{467F555D-E17C-4771-A85E-43581B248C0F}" type="presParOf" srcId="{0B780D78-199E-4300-A693-D6F97EF5F986}" destId="{06A1786F-0367-44E6-8266-FDEAFA391FC0}" srcOrd="35" destOrd="0" presId="urn:microsoft.com/office/officeart/2005/8/layout/list1"/>
    <dgm:cxn modelId="{E2D0437C-CA04-438C-BDBD-34B14D71AB08}" type="presParOf" srcId="{0B780D78-199E-4300-A693-D6F97EF5F986}" destId="{7F884000-6D93-465F-A85C-FAF112612AAC}" srcOrd="36" destOrd="0" presId="urn:microsoft.com/office/officeart/2005/8/layout/list1"/>
    <dgm:cxn modelId="{326C1CDE-FDDC-4145-BD49-6D5EF8DC6931}" type="presParOf" srcId="{7F884000-6D93-465F-A85C-FAF112612AAC}" destId="{44E4CD8E-9E25-4D22-8CB4-00A3E6601428}" srcOrd="0" destOrd="0" presId="urn:microsoft.com/office/officeart/2005/8/layout/list1"/>
    <dgm:cxn modelId="{2F725FD9-BBC4-4058-B365-3D4D4DAC2C00}" type="presParOf" srcId="{7F884000-6D93-465F-A85C-FAF112612AAC}" destId="{0A427700-7D58-459E-9B8B-B9175C296A48}" srcOrd="1" destOrd="0" presId="urn:microsoft.com/office/officeart/2005/8/layout/list1"/>
    <dgm:cxn modelId="{719DADD3-70AE-4DF5-BEFA-0BCDC0982523}" type="presParOf" srcId="{0B780D78-199E-4300-A693-D6F97EF5F986}" destId="{F6E47545-EA14-4B16-B900-5F0A196F8194}" srcOrd="37" destOrd="0" presId="urn:microsoft.com/office/officeart/2005/8/layout/list1"/>
    <dgm:cxn modelId="{7E88DB79-FB81-4418-83DE-64D21BD7EF7A}" type="presParOf" srcId="{0B780D78-199E-4300-A693-D6F97EF5F986}" destId="{FDEC5003-E064-4B42-B2CB-36DA6448A6B3}" srcOrd="38" destOrd="0" presId="urn:microsoft.com/office/officeart/2005/8/layout/list1"/>
    <dgm:cxn modelId="{994D2EEC-670B-4664-9FD8-E86F193124EB}" type="presParOf" srcId="{0B780D78-199E-4300-A693-D6F97EF5F986}" destId="{96FF8E25-9CCE-49A2-84E2-B51CC6D3A7D2}" srcOrd="39" destOrd="0" presId="urn:microsoft.com/office/officeart/2005/8/layout/list1"/>
    <dgm:cxn modelId="{93497ED2-1AB8-4E76-B058-4EEDEC52148D}" type="presParOf" srcId="{0B780D78-199E-4300-A693-D6F97EF5F986}" destId="{3FA9F286-8656-4505-AA4F-00630DEE4D3B}" srcOrd="40" destOrd="0" presId="urn:microsoft.com/office/officeart/2005/8/layout/list1"/>
    <dgm:cxn modelId="{D42F7F3D-80E7-4A49-965C-27085AB8EAF1}" type="presParOf" srcId="{3FA9F286-8656-4505-AA4F-00630DEE4D3B}" destId="{EAE2C596-F46E-415D-9FB8-D0EA3E813BF3}" srcOrd="0" destOrd="0" presId="urn:microsoft.com/office/officeart/2005/8/layout/list1"/>
    <dgm:cxn modelId="{2F5D6766-6754-4441-921B-CE156240797C}" type="presParOf" srcId="{3FA9F286-8656-4505-AA4F-00630DEE4D3B}" destId="{FA30E27F-5C4F-48D2-835C-4875060C454B}" srcOrd="1" destOrd="0" presId="urn:microsoft.com/office/officeart/2005/8/layout/list1"/>
    <dgm:cxn modelId="{34FD1A9D-93CB-43B9-A3B3-6D5F3CDD7CCB}" type="presParOf" srcId="{0B780D78-199E-4300-A693-D6F97EF5F986}" destId="{C082A8F9-6046-47C1-B8D4-728ACD0D5F6B}" srcOrd="41" destOrd="0" presId="urn:microsoft.com/office/officeart/2005/8/layout/list1"/>
    <dgm:cxn modelId="{E0B3F568-3AEE-4121-A869-DCFDAADE58F9}" type="presParOf" srcId="{0B780D78-199E-4300-A693-D6F97EF5F986}" destId="{7670992B-5481-4BDB-8246-511B6FFC5E72}" srcOrd="42" destOrd="0" presId="urn:microsoft.com/office/officeart/2005/8/layout/list1"/>
    <dgm:cxn modelId="{CA47E834-A0F2-4AA5-9F9B-9E31B95BCF62}" type="presParOf" srcId="{0B780D78-199E-4300-A693-D6F97EF5F986}" destId="{F6E50838-DEB5-4EC7-986B-EDC14F096219}" srcOrd="43" destOrd="0" presId="urn:microsoft.com/office/officeart/2005/8/layout/list1"/>
    <dgm:cxn modelId="{2F0AD539-BCDA-4875-ABCA-205B64664294}" type="presParOf" srcId="{0B780D78-199E-4300-A693-D6F97EF5F986}" destId="{C61250EB-FA0F-4C8E-9F5D-C1FDEF87F6D3}" srcOrd="44" destOrd="0" presId="urn:microsoft.com/office/officeart/2005/8/layout/list1"/>
    <dgm:cxn modelId="{301C584F-3A4F-4D8D-A55D-5C4D32BA7231}" type="presParOf" srcId="{C61250EB-FA0F-4C8E-9F5D-C1FDEF87F6D3}" destId="{227FD569-7C22-4BC0-8CCF-54D834AF3383}" srcOrd="0" destOrd="0" presId="urn:microsoft.com/office/officeart/2005/8/layout/list1"/>
    <dgm:cxn modelId="{266753C3-D720-4546-9BB1-C4781AEF892D}" type="presParOf" srcId="{C61250EB-FA0F-4C8E-9F5D-C1FDEF87F6D3}" destId="{7D55F781-07F4-4C31-A2E4-EAA06630527E}" srcOrd="1" destOrd="0" presId="urn:microsoft.com/office/officeart/2005/8/layout/list1"/>
    <dgm:cxn modelId="{32351F8A-6153-4493-9B09-176FFF3471EA}" type="presParOf" srcId="{0B780D78-199E-4300-A693-D6F97EF5F986}" destId="{F88554E0-BDDB-4FBD-A1A9-9D6EE00A8CD0}" srcOrd="45" destOrd="0" presId="urn:microsoft.com/office/officeart/2005/8/layout/list1"/>
    <dgm:cxn modelId="{4FC8E37D-B975-41FE-8115-51CCDF8AAC51}" type="presParOf" srcId="{0B780D78-199E-4300-A693-D6F97EF5F986}" destId="{3DD60EED-76E8-483E-8D2A-8589B7533F55}" srcOrd="4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FA1C7-26E2-4241-9BEB-5E8BF6B75A95}">
      <dsp:nvSpPr>
        <dsp:cNvPr id="0" name=""/>
        <dsp:cNvSpPr/>
      </dsp:nvSpPr>
      <dsp:spPr>
        <a:xfrm>
          <a:off x="3497" y="1330165"/>
          <a:ext cx="1084163" cy="650498"/>
        </a:xfrm>
        <a:prstGeom prst="roundRect">
          <a:avLst>
            <a:gd name="adj" fmla="val 10000"/>
          </a:avLst>
        </a:prstGeom>
        <a:solidFill>
          <a:schemeClr val="accent3"/>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a:solidFill>
                <a:schemeClr val="bg1"/>
              </a:solidFill>
              <a:latin typeface="Visby CF" pitchFamily="50" charset="0"/>
            </a:rPr>
            <a:t>Source</a:t>
          </a:r>
        </a:p>
      </dsp:txBody>
      <dsp:txXfrm>
        <a:off x="22549" y="1349217"/>
        <a:ext cx="1046059" cy="612394"/>
      </dsp:txXfrm>
    </dsp:sp>
    <dsp:sp modelId="{98C8598C-7C50-4796-842B-A1CB12690C3D}">
      <dsp:nvSpPr>
        <dsp:cNvPr id="0" name=""/>
        <dsp:cNvSpPr/>
      </dsp:nvSpPr>
      <dsp:spPr>
        <a:xfrm>
          <a:off x="1196077" y="1520978"/>
          <a:ext cx="229842" cy="268872"/>
        </a:xfrm>
        <a:prstGeom prst="rightArrow">
          <a:avLst>
            <a:gd name="adj1" fmla="val 60000"/>
            <a:gd name="adj2" fmla="val 50000"/>
          </a:avLst>
        </a:prstGeom>
        <a:solidFill>
          <a:schemeClr val="accent1"/>
        </a:solidFill>
        <a:ln>
          <a:solidFill>
            <a:schemeClr val="accent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CA" sz="1100" kern="1200">
            <a:solidFill>
              <a:schemeClr val="tx1"/>
            </a:solidFill>
          </a:endParaRPr>
        </a:p>
      </dsp:txBody>
      <dsp:txXfrm>
        <a:off x="1196077" y="1574752"/>
        <a:ext cx="160889" cy="161324"/>
      </dsp:txXfrm>
    </dsp:sp>
    <dsp:sp modelId="{716CE81A-1DCD-40A3-AFFE-CD010982AB5D}">
      <dsp:nvSpPr>
        <dsp:cNvPr id="0" name=""/>
        <dsp:cNvSpPr/>
      </dsp:nvSpPr>
      <dsp:spPr>
        <a:xfrm>
          <a:off x="1521326" y="1330165"/>
          <a:ext cx="1084163" cy="650498"/>
        </a:xfrm>
        <a:prstGeom prst="roundRect">
          <a:avLst>
            <a:gd name="adj" fmla="val 10000"/>
          </a:avLst>
        </a:prstGeom>
        <a:solidFill>
          <a:schemeClr val="accent6"/>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CA" sz="1050" kern="1200">
              <a:solidFill>
                <a:schemeClr val="tx1"/>
              </a:solidFill>
              <a:latin typeface="Visby CF" pitchFamily="50" charset="0"/>
            </a:rPr>
            <a:t>Saisie</a:t>
          </a:r>
        </a:p>
      </dsp:txBody>
      <dsp:txXfrm>
        <a:off x="1540378" y="1349217"/>
        <a:ext cx="1046059" cy="612394"/>
      </dsp:txXfrm>
    </dsp:sp>
    <dsp:sp modelId="{DE4A397E-8136-4BCB-A260-2B50810F5B10}">
      <dsp:nvSpPr>
        <dsp:cNvPr id="0" name=""/>
        <dsp:cNvSpPr/>
      </dsp:nvSpPr>
      <dsp:spPr>
        <a:xfrm>
          <a:off x="2713905" y="1520978"/>
          <a:ext cx="229842" cy="268872"/>
        </a:xfrm>
        <a:prstGeom prst="rightArrow">
          <a:avLst>
            <a:gd name="adj1" fmla="val 60000"/>
            <a:gd name="adj2" fmla="val 50000"/>
          </a:avLst>
        </a:prstGeom>
        <a:solidFill>
          <a:schemeClr val="accent1"/>
        </a:solidFill>
        <a:ln>
          <a:solidFill>
            <a:schemeClr val="accent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CA" sz="1100" kern="1200">
            <a:solidFill>
              <a:schemeClr val="tx1"/>
            </a:solidFill>
          </a:endParaRPr>
        </a:p>
      </dsp:txBody>
      <dsp:txXfrm>
        <a:off x="2713905" y="1574752"/>
        <a:ext cx="160889" cy="161324"/>
      </dsp:txXfrm>
    </dsp:sp>
    <dsp:sp modelId="{A2CC121C-CBEA-4EBE-B2B3-51FF57117A82}">
      <dsp:nvSpPr>
        <dsp:cNvPr id="0" name=""/>
        <dsp:cNvSpPr/>
      </dsp:nvSpPr>
      <dsp:spPr>
        <a:xfrm>
          <a:off x="3039154" y="1330165"/>
          <a:ext cx="1084163" cy="650498"/>
        </a:xfrm>
        <a:prstGeom prst="roundRect">
          <a:avLst>
            <a:gd name="adj" fmla="val 10000"/>
          </a:avLst>
        </a:prstGeom>
        <a:solidFill>
          <a:schemeClr val="accent6"/>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CA" sz="1050" kern="1200">
              <a:solidFill>
                <a:schemeClr val="tx1"/>
              </a:solidFill>
              <a:latin typeface="Visby CF" pitchFamily="50" charset="0"/>
            </a:rPr>
            <a:t>Transformation</a:t>
          </a:r>
        </a:p>
      </dsp:txBody>
      <dsp:txXfrm>
        <a:off x="3058206" y="1349217"/>
        <a:ext cx="1046059" cy="612394"/>
      </dsp:txXfrm>
    </dsp:sp>
    <dsp:sp modelId="{1DC8E66F-B24B-41E6-A81B-8A68E28E1F99}">
      <dsp:nvSpPr>
        <dsp:cNvPr id="0" name=""/>
        <dsp:cNvSpPr/>
      </dsp:nvSpPr>
      <dsp:spPr>
        <a:xfrm>
          <a:off x="4231734" y="1520978"/>
          <a:ext cx="229842" cy="268872"/>
        </a:xfrm>
        <a:prstGeom prst="rightArrow">
          <a:avLst>
            <a:gd name="adj1" fmla="val 60000"/>
            <a:gd name="adj2" fmla="val 50000"/>
          </a:avLst>
        </a:prstGeom>
        <a:solidFill>
          <a:schemeClr val="accent1"/>
        </a:solidFill>
        <a:ln>
          <a:solidFill>
            <a:schemeClr val="accent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CA" sz="1100" kern="1200">
            <a:solidFill>
              <a:schemeClr val="tx1"/>
            </a:solidFill>
          </a:endParaRPr>
        </a:p>
      </dsp:txBody>
      <dsp:txXfrm>
        <a:off x="4231734" y="1574752"/>
        <a:ext cx="160889" cy="161324"/>
      </dsp:txXfrm>
    </dsp:sp>
    <dsp:sp modelId="{608A2816-8794-4768-9D49-5228816080BB}">
      <dsp:nvSpPr>
        <dsp:cNvPr id="0" name=""/>
        <dsp:cNvSpPr/>
      </dsp:nvSpPr>
      <dsp:spPr>
        <a:xfrm>
          <a:off x="4556983" y="1330165"/>
          <a:ext cx="1084163" cy="650498"/>
        </a:xfrm>
        <a:prstGeom prst="roundRect">
          <a:avLst>
            <a:gd name="adj" fmla="val 10000"/>
          </a:avLst>
        </a:prstGeom>
        <a:solidFill>
          <a:schemeClr val="accent6"/>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CA" sz="1050" kern="1200">
              <a:solidFill>
                <a:schemeClr val="tx1"/>
              </a:solidFill>
              <a:latin typeface="Visby CF" pitchFamily="50" charset="0"/>
            </a:rPr>
            <a:t>Diffusion</a:t>
          </a:r>
        </a:p>
      </dsp:txBody>
      <dsp:txXfrm>
        <a:off x="4576035" y="1349217"/>
        <a:ext cx="1046059" cy="612394"/>
      </dsp:txXfrm>
    </dsp:sp>
    <dsp:sp modelId="{A2214638-3746-43D7-8F8E-AC8356975EC5}">
      <dsp:nvSpPr>
        <dsp:cNvPr id="0" name=""/>
        <dsp:cNvSpPr/>
      </dsp:nvSpPr>
      <dsp:spPr>
        <a:xfrm>
          <a:off x="5749563" y="1520978"/>
          <a:ext cx="229842" cy="268872"/>
        </a:xfrm>
        <a:prstGeom prst="rightArrow">
          <a:avLst>
            <a:gd name="adj1" fmla="val 60000"/>
            <a:gd name="adj2" fmla="val 50000"/>
          </a:avLst>
        </a:prstGeom>
        <a:solidFill>
          <a:schemeClr val="accent1"/>
        </a:solidFill>
        <a:ln>
          <a:solidFill>
            <a:schemeClr val="accent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fr-CA" sz="1100" kern="1200">
            <a:solidFill>
              <a:schemeClr val="tx1"/>
            </a:solidFill>
          </a:endParaRPr>
        </a:p>
      </dsp:txBody>
      <dsp:txXfrm>
        <a:off x="5749563" y="1574752"/>
        <a:ext cx="160889" cy="161324"/>
      </dsp:txXfrm>
    </dsp:sp>
    <dsp:sp modelId="{A0FFD4BC-53DF-4987-84C8-809442C57CD9}">
      <dsp:nvSpPr>
        <dsp:cNvPr id="0" name=""/>
        <dsp:cNvSpPr/>
      </dsp:nvSpPr>
      <dsp:spPr>
        <a:xfrm>
          <a:off x="6074812" y="1330165"/>
          <a:ext cx="1084163" cy="650498"/>
        </a:xfrm>
        <a:prstGeom prst="roundRect">
          <a:avLst>
            <a:gd name="adj" fmla="val 10000"/>
          </a:avLst>
        </a:prstGeom>
        <a:solidFill>
          <a:schemeClr val="accent3"/>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CA" sz="1400" kern="1200">
              <a:solidFill>
                <a:schemeClr val="bg1"/>
              </a:solidFill>
              <a:latin typeface="Visby CF" pitchFamily="50" charset="0"/>
            </a:rPr>
            <a:t>Destination</a:t>
          </a:r>
        </a:p>
      </dsp:txBody>
      <dsp:txXfrm>
        <a:off x="6093864" y="1349217"/>
        <a:ext cx="1046059" cy="6123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27AC1-1BF1-4CB5-864D-1F1C35C267D4}">
      <dsp:nvSpPr>
        <dsp:cNvPr id="0" name=""/>
        <dsp:cNvSpPr/>
      </dsp:nvSpPr>
      <dsp:spPr>
        <a:xfrm>
          <a:off x="0" y="324212"/>
          <a:ext cx="10442005" cy="277200"/>
        </a:xfrm>
        <a:prstGeom prst="rect">
          <a:avLst/>
        </a:prstGeom>
        <a:solidFill>
          <a:schemeClr val="lt1">
            <a:alpha val="90000"/>
            <a:hueOff val="0"/>
            <a:satOff val="0"/>
            <a:lumOff val="0"/>
            <a:alphaOff val="0"/>
          </a:schemeClr>
        </a:solidFill>
        <a:ln w="38100" cap="flat" cmpd="sng" algn="ctr">
          <a:solidFill>
            <a:schemeClr val="tx2"/>
          </a:solidFill>
          <a:prstDash val="solid"/>
          <a:miter lim="800000"/>
        </a:ln>
        <a:effectLst/>
      </dsp:spPr>
      <dsp:style>
        <a:lnRef idx="2">
          <a:scrgbClr r="0" g="0" b="0"/>
        </a:lnRef>
        <a:fillRef idx="1">
          <a:scrgbClr r="0" g="0" b="0"/>
        </a:fillRef>
        <a:effectRef idx="0">
          <a:scrgbClr r="0" g="0" b="0"/>
        </a:effectRef>
        <a:fontRef idx="minor"/>
      </dsp:style>
    </dsp:sp>
    <dsp:sp modelId="{FC5595AD-741D-479C-94ED-B41127C2D30C}">
      <dsp:nvSpPr>
        <dsp:cNvPr id="0" name=""/>
        <dsp:cNvSpPr/>
      </dsp:nvSpPr>
      <dsp:spPr>
        <a:xfrm>
          <a:off x="522100" y="161852"/>
          <a:ext cx="8353405" cy="324720"/>
        </a:xfrm>
        <a:prstGeom prst="roundRect">
          <a:avLst/>
        </a:prstGeom>
        <a:solidFill>
          <a:schemeClr val="tx2"/>
        </a:solidFill>
        <a:ln w="12700"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1" kern="1200">
              <a:latin typeface="Visby CF Medium" pitchFamily="50" charset="0"/>
            </a:rPr>
            <a:t>1 – À la base d’une transformation numérique réussie : une stratégie et une architecture</a:t>
          </a:r>
        </a:p>
      </dsp:txBody>
      <dsp:txXfrm>
        <a:off x="537952" y="177704"/>
        <a:ext cx="8321701" cy="293016"/>
      </dsp:txXfrm>
    </dsp:sp>
    <dsp:sp modelId="{4B705F14-EF6E-47A1-83AC-F9A4EA9DCD99}">
      <dsp:nvSpPr>
        <dsp:cNvPr id="0" name=""/>
        <dsp:cNvSpPr/>
      </dsp:nvSpPr>
      <dsp:spPr>
        <a:xfrm>
          <a:off x="0" y="823172"/>
          <a:ext cx="10442005"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FBFB3E-AF30-4644-971E-72A9D5B69B7E}">
      <dsp:nvSpPr>
        <dsp:cNvPr id="0" name=""/>
        <dsp:cNvSpPr/>
      </dsp:nvSpPr>
      <dsp:spPr>
        <a:xfrm>
          <a:off x="522100" y="660812"/>
          <a:ext cx="8353405" cy="324720"/>
        </a:xfrm>
        <a:prstGeom prst="roundRect">
          <a:avLst/>
        </a:prstGeom>
        <a:solidFill>
          <a:schemeClr val="accent3">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2 – Au cœur des systèmes d’information : des processus d’affaires</a:t>
          </a:r>
        </a:p>
      </dsp:txBody>
      <dsp:txXfrm>
        <a:off x="537952" y="676664"/>
        <a:ext cx="8321701" cy="293016"/>
      </dsp:txXfrm>
    </dsp:sp>
    <dsp:sp modelId="{0893C5BF-2D1A-475E-9A5B-CF95378A190A}">
      <dsp:nvSpPr>
        <dsp:cNvPr id="0" name=""/>
        <dsp:cNvSpPr/>
      </dsp:nvSpPr>
      <dsp:spPr>
        <a:xfrm>
          <a:off x="0" y="1322132"/>
          <a:ext cx="10442005" cy="277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0EC255-89F1-4ECD-8CEB-A36054D0B55B}">
      <dsp:nvSpPr>
        <dsp:cNvPr id="0" name=""/>
        <dsp:cNvSpPr/>
      </dsp:nvSpPr>
      <dsp:spPr>
        <a:xfrm>
          <a:off x="522100" y="1159772"/>
          <a:ext cx="8353405" cy="324720"/>
        </a:xfrm>
        <a:prstGeom prst="roundRect">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3 – La matière première des systèmes d’information : des données </a:t>
          </a:r>
        </a:p>
      </dsp:txBody>
      <dsp:txXfrm>
        <a:off x="537952" y="1175624"/>
        <a:ext cx="8321701" cy="293016"/>
      </dsp:txXfrm>
    </dsp:sp>
    <dsp:sp modelId="{BA0A9E78-6452-4B8A-AE51-6D689E339484}">
      <dsp:nvSpPr>
        <dsp:cNvPr id="0" name=""/>
        <dsp:cNvSpPr/>
      </dsp:nvSpPr>
      <dsp:spPr>
        <a:xfrm>
          <a:off x="0" y="1821092"/>
          <a:ext cx="10442005" cy="277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90095D-C682-4C4A-BD20-A8FC25F1AE82}">
      <dsp:nvSpPr>
        <dsp:cNvPr id="0" name=""/>
        <dsp:cNvSpPr/>
      </dsp:nvSpPr>
      <dsp:spPr>
        <a:xfrm>
          <a:off x="522100" y="1658732"/>
          <a:ext cx="8353405" cy="324720"/>
        </a:xfrm>
        <a:prstGeom prst="roundRect">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4 – L’utilisation des systèmes d’information : des interfaces et des droits </a:t>
          </a:r>
        </a:p>
      </dsp:txBody>
      <dsp:txXfrm>
        <a:off x="537952" y="1674584"/>
        <a:ext cx="8321701" cy="293016"/>
      </dsp:txXfrm>
    </dsp:sp>
    <dsp:sp modelId="{D524D4B0-4F47-4D31-8A61-14197528B68A}">
      <dsp:nvSpPr>
        <dsp:cNvPr id="0" name=""/>
        <dsp:cNvSpPr/>
      </dsp:nvSpPr>
      <dsp:spPr>
        <a:xfrm>
          <a:off x="0" y="2320052"/>
          <a:ext cx="10442005" cy="277200"/>
        </a:xfrm>
        <a:prstGeom prst="rect">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A08B0E8E-8C7F-4255-A3F8-34FAAC135F61}">
      <dsp:nvSpPr>
        <dsp:cNvPr id="0" name=""/>
        <dsp:cNvSpPr/>
      </dsp:nvSpPr>
      <dsp:spPr>
        <a:xfrm>
          <a:off x="522100" y="2157692"/>
          <a:ext cx="8353405" cy="324720"/>
        </a:xfrm>
        <a:prstGeom prst="round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rPr>
            <a:t>5 – L’utilisation des systèmes d’information : des requêtes simples et des enjeux de cybersécurité</a:t>
          </a:r>
        </a:p>
      </dsp:txBody>
      <dsp:txXfrm>
        <a:off x="537952" y="2173544"/>
        <a:ext cx="8321701" cy="293016"/>
      </dsp:txXfrm>
    </dsp:sp>
    <dsp:sp modelId="{6B5F2D5C-5996-49E2-9ECD-B986D8E044FB}">
      <dsp:nvSpPr>
        <dsp:cNvPr id="0" name=""/>
        <dsp:cNvSpPr/>
      </dsp:nvSpPr>
      <dsp:spPr>
        <a:xfrm>
          <a:off x="0" y="2819012"/>
          <a:ext cx="10442005" cy="277200"/>
        </a:xfrm>
        <a:prstGeom prst="rect">
          <a:avLst/>
        </a:prstGeom>
        <a:solidFill>
          <a:schemeClr val="lt1">
            <a:alpha val="90000"/>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 modelId="{A9CC9630-0510-47D5-B845-7B11EF8C8726}">
      <dsp:nvSpPr>
        <dsp:cNvPr id="0" name=""/>
        <dsp:cNvSpPr/>
      </dsp:nvSpPr>
      <dsp:spPr>
        <a:xfrm>
          <a:off x="522100" y="2656652"/>
          <a:ext cx="8353405" cy="324720"/>
        </a:xfrm>
        <a:prstGeom prst="roundRect">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6 - Au cœur des systèmes d’information : des algorithmes et de l’intelligence artificielle</a:t>
          </a:r>
        </a:p>
      </dsp:txBody>
      <dsp:txXfrm>
        <a:off x="537952" y="2672504"/>
        <a:ext cx="8321701" cy="293016"/>
      </dsp:txXfrm>
    </dsp:sp>
    <dsp:sp modelId="{B767CEFF-DB6B-4AE7-8BAC-740813957E5C}">
      <dsp:nvSpPr>
        <dsp:cNvPr id="0" name=""/>
        <dsp:cNvSpPr/>
      </dsp:nvSpPr>
      <dsp:spPr>
        <a:xfrm>
          <a:off x="0" y="3317972"/>
          <a:ext cx="10442005" cy="277200"/>
        </a:xfrm>
        <a:prstGeom prst="rect">
          <a:avLst/>
        </a:prstGeom>
        <a:solidFill>
          <a:schemeClr val="lt1">
            <a:alpha val="90000"/>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dsp:style>
    </dsp:sp>
    <dsp:sp modelId="{2E6479BD-17C2-4B62-9598-1A179A816511}">
      <dsp:nvSpPr>
        <dsp:cNvPr id="0" name=""/>
        <dsp:cNvSpPr/>
      </dsp:nvSpPr>
      <dsp:spPr>
        <a:xfrm>
          <a:off x="522100" y="3155612"/>
          <a:ext cx="8353405" cy="324720"/>
        </a:xfrm>
        <a:prstGeom prst="roundRect">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7 - Pour passer du concept au système matérialisé : des projets structurés</a:t>
          </a:r>
        </a:p>
      </dsp:txBody>
      <dsp:txXfrm>
        <a:off x="537952" y="3171464"/>
        <a:ext cx="8321701" cy="293016"/>
      </dsp:txXfrm>
    </dsp:sp>
    <dsp:sp modelId="{618D87AA-43A7-4801-AF8D-665093B79FC2}">
      <dsp:nvSpPr>
        <dsp:cNvPr id="0" name=""/>
        <dsp:cNvSpPr/>
      </dsp:nvSpPr>
      <dsp:spPr>
        <a:xfrm>
          <a:off x="0" y="381693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527F5BA3-371D-4AE0-B87A-668DCEE6A1CA}">
      <dsp:nvSpPr>
        <dsp:cNvPr id="0" name=""/>
        <dsp:cNvSpPr/>
      </dsp:nvSpPr>
      <dsp:spPr>
        <a:xfrm>
          <a:off x="1483422" y="3654572"/>
          <a:ext cx="8353405" cy="324720"/>
        </a:xfrm>
        <a:prstGeom prst="round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8 - Des processus standardisés et des données intégrées : des progiciels de gestion intégrés</a:t>
          </a:r>
        </a:p>
      </dsp:txBody>
      <dsp:txXfrm>
        <a:off x="1499274" y="3670424"/>
        <a:ext cx="8321701" cy="293016"/>
      </dsp:txXfrm>
    </dsp:sp>
    <dsp:sp modelId="{AEAED330-3F0C-4930-826B-6E673746044E}">
      <dsp:nvSpPr>
        <dsp:cNvPr id="0" name=""/>
        <dsp:cNvSpPr/>
      </dsp:nvSpPr>
      <dsp:spPr>
        <a:xfrm>
          <a:off x="0" y="4315892"/>
          <a:ext cx="10442005" cy="277200"/>
        </a:xfrm>
        <a:prstGeom prst="rect">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AB68C95-726F-4985-BDFC-96AE74956DB2}">
      <dsp:nvSpPr>
        <dsp:cNvPr id="0" name=""/>
        <dsp:cNvSpPr/>
      </dsp:nvSpPr>
      <dsp:spPr>
        <a:xfrm>
          <a:off x="1483422" y="4153532"/>
          <a:ext cx="8353405" cy="324720"/>
        </a:xfrm>
        <a:prstGeom prst="roundRect">
          <a:avLst/>
        </a:prstGeom>
        <a:solidFill>
          <a:schemeClr val="accent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9 – La matière première des systèmes d’information : toujours plus de données</a:t>
          </a:r>
        </a:p>
      </dsp:txBody>
      <dsp:txXfrm>
        <a:off x="1499274" y="4169384"/>
        <a:ext cx="8321701" cy="293016"/>
      </dsp:txXfrm>
    </dsp:sp>
    <dsp:sp modelId="{FDEC5003-E064-4B42-B2CB-36DA6448A6B3}">
      <dsp:nvSpPr>
        <dsp:cNvPr id="0" name=""/>
        <dsp:cNvSpPr/>
      </dsp:nvSpPr>
      <dsp:spPr>
        <a:xfrm>
          <a:off x="0" y="4814852"/>
          <a:ext cx="10442005" cy="277200"/>
        </a:xfrm>
        <a:prstGeom prst="rect">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0A427700-7D58-459E-9B8B-B9175C296A48}">
      <dsp:nvSpPr>
        <dsp:cNvPr id="0" name=""/>
        <dsp:cNvSpPr/>
      </dsp:nvSpPr>
      <dsp:spPr>
        <a:xfrm>
          <a:off x="1483422" y="4652492"/>
          <a:ext cx="8353405" cy="324720"/>
        </a:xfrm>
        <a:prstGeom prst="round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rPr>
            <a:t>10 – L’utilisation des systèmes d’information : des requêtes complexes à l’aide de tableaux de bord</a:t>
          </a:r>
          <a:endParaRPr lang="fr-CA" sz="1100" b="0" kern="1200">
            <a:solidFill>
              <a:prstClr val="white"/>
            </a:solidFill>
            <a:latin typeface="Visby CF Medium" pitchFamily="50" charset="0"/>
            <a:ea typeface="+mn-ea"/>
            <a:cs typeface="+mn-cs"/>
          </a:endParaRPr>
        </a:p>
      </dsp:txBody>
      <dsp:txXfrm>
        <a:off x="1499274" y="4668344"/>
        <a:ext cx="8321701" cy="293016"/>
      </dsp:txXfrm>
    </dsp:sp>
    <dsp:sp modelId="{7670992B-5481-4BDB-8246-511B6FFC5E72}">
      <dsp:nvSpPr>
        <dsp:cNvPr id="0" name=""/>
        <dsp:cNvSpPr/>
      </dsp:nvSpPr>
      <dsp:spPr>
        <a:xfrm>
          <a:off x="0" y="5313812"/>
          <a:ext cx="10442005" cy="277200"/>
        </a:xfrm>
        <a:prstGeom prst="rect">
          <a:avLst/>
        </a:prstGeom>
        <a:solidFill>
          <a:schemeClr val="lt1">
            <a:alpha val="90000"/>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dsp:style>
    </dsp:sp>
    <dsp:sp modelId="{FA30E27F-5C4F-48D2-835C-4875060C454B}">
      <dsp:nvSpPr>
        <dsp:cNvPr id="0" name=""/>
        <dsp:cNvSpPr/>
      </dsp:nvSpPr>
      <dsp:spPr>
        <a:xfrm>
          <a:off x="1483422" y="5151452"/>
          <a:ext cx="8353405" cy="324720"/>
        </a:xfrm>
        <a:prstGeom prst="roundRect">
          <a:avLst/>
        </a:prstGeom>
        <a:solidFill>
          <a:srgbClr val="EB6FBD">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solidFill>
                <a:prstClr val="white"/>
              </a:solidFill>
              <a:latin typeface="Visby CF Medium" pitchFamily="50" charset="0"/>
              <a:ea typeface="+mn-ea"/>
              <a:cs typeface="+mn-cs"/>
            </a:rPr>
            <a:t>11 - À l’avant scène des systèmes d’information : une expérience utilisateur réfléchie</a:t>
          </a:r>
          <a:endParaRPr lang="fr-CA" sz="1100" b="0" kern="1200">
            <a:solidFill>
              <a:schemeClr val="bg1"/>
            </a:solidFill>
            <a:latin typeface="Visby CF Medium" pitchFamily="50" charset="0"/>
            <a:ea typeface="+mn-ea"/>
            <a:cs typeface="+mn-cs"/>
          </a:endParaRPr>
        </a:p>
      </dsp:txBody>
      <dsp:txXfrm>
        <a:off x="1499274" y="5167304"/>
        <a:ext cx="8321701" cy="293016"/>
      </dsp:txXfrm>
    </dsp:sp>
    <dsp:sp modelId="{3DD60EED-76E8-483E-8D2A-8589B7533F55}">
      <dsp:nvSpPr>
        <dsp:cNvPr id="0" name=""/>
        <dsp:cNvSpPr/>
      </dsp:nvSpPr>
      <dsp:spPr>
        <a:xfrm>
          <a:off x="0" y="581277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7D55F781-07F4-4C31-A2E4-EAA06630527E}">
      <dsp:nvSpPr>
        <dsp:cNvPr id="0" name=""/>
        <dsp:cNvSpPr/>
      </dsp:nvSpPr>
      <dsp:spPr>
        <a:xfrm>
          <a:off x="1478525" y="5670801"/>
          <a:ext cx="8352016" cy="324720"/>
        </a:xfrm>
        <a:prstGeom prst="round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ea typeface="+mn-ea"/>
              <a:cs typeface="+mn-cs"/>
            </a:rPr>
            <a:t>12 – Une solution complète : un tableau de bord pour soutenir l’utilisation d’un progiciel de gestion intégré</a:t>
          </a:r>
        </a:p>
      </dsp:txBody>
      <dsp:txXfrm>
        <a:off x="1494377" y="5686653"/>
        <a:ext cx="8320312"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62D95-6323-4CBA-A520-8B87BCD4113B}" type="datetimeFigureOut">
              <a:rPr lang="fr-CA" smtClean="0"/>
              <a:t>2026-08-20</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A55AE-FA0D-4484-8C53-18A7A77CEBFA}" type="slidenum">
              <a:rPr lang="fr-CA" smtClean="0"/>
              <a:t>‹N°›</a:t>
            </a:fld>
            <a:endParaRPr lang="fr-CA"/>
          </a:p>
        </p:txBody>
      </p:sp>
    </p:spTree>
    <p:extLst>
      <p:ext uri="{BB962C8B-B14F-4D97-AF65-F5344CB8AC3E}">
        <p14:creationId xmlns:p14="http://schemas.microsoft.com/office/powerpoint/2010/main" val="189617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Photo Martin LESAGE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12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2</a:t>
            </a:fld>
            <a:endParaRPr lang="fr-CA"/>
          </a:p>
        </p:txBody>
      </p:sp>
    </p:spTree>
    <p:extLst>
      <p:ext uri="{BB962C8B-B14F-4D97-AF65-F5344CB8AC3E}">
        <p14:creationId xmlns:p14="http://schemas.microsoft.com/office/powerpoint/2010/main" val="695741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58D4E-1E4E-2B50-A623-0DE02EE10C74}"/>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3C489AFF-BDA7-14F4-25F4-AE3C72778E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5FF553-567B-45C8-7700-2C52B5AE80D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C51C137-8402-226A-3AD8-0B2CD4A9C221}"/>
              </a:ext>
            </a:extLst>
          </p:cNvPr>
          <p:cNvSpPr>
            <a:spLocks noGrp="1"/>
          </p:cNvSpPr>
          <p:nvPr>
            <p:ph type="sldNum" sz="quarter" idx="5"/>
          </p:nvPr>
        </p:nvSpPr>
        <p:spPr/>
        <p:txBody>
          <a:bodyPr/>
          <a:lstStyle/>
          <a:p>
            <a:fld id="{48EA55AE-FA0D-4484-8C53-18A7A77CEBFA}" type="slidenum">
              <a:rPr lang="fr-CA" smtClean="0"/>
              <a:t>5</a:t>
            </a:fld>
            <a:endParaRPr lang="fr-CA"/>
          </a:p>
        </p:txBody>
      </p:sp>
    </p:spTree>
    <p:extLst>
      <p:ext uri="{BB962C8B-B14F-4D97-AF65-F5344CB8AC3E}">
        <p14:creationId xmlns:p14="http://schemas.microsoft.com/office/powerpoint/2010/main" val="1342032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Si l'IA peut répondre à cette question en 30 secondes, quelle est votre valeur ajoutée en tant que gestionnaire?</a:t>
            </a:r>
            <a:endParaRPr lang="fr-FR" dirty="0"/>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7</a:t>
            </a:fld>
            <a:endParaRPr lang="fr-CA"/>
          </a:p>
        </p:txBody>
      </p:sp>
    </p:spTree>
    <p:extLst>
      <p:ext uri="{BB962C8B-B14F-4D97-AF65-F5344CB8AC3E}">
        <p14:creationId xmlns:p14="http://schemas.microsoft.com/office/powerpoint/2010/main" val="949963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1C17F-B840-4248-7A74-703B99EB5D48}"/>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DC86B1C6-BF5A-9140-04B4-C70CBDD5E49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65ADBC-4D36-94DF-DD18-49468D7FF3C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CDB15CE-BCE2-1E34-DE62-FC182FE8F9E4}"/>
              </a:ext>
            </a:extLst>
          </p:cNvPr>
          <p:cNvSpPr>
            <a:spLocks noGrp="1"/>
          </p:cNvSpPr>
          <p:nvPr>
            <p:ph type="sldNum" sz="quarter" idx="5"/>
          </p:nvPr>
        </p:nvSpPr>
        <p:spPr/>
        <p:txBody>
          <a:bodyPr/>
          <a:lstStyle/>
          <a:p>
            <a:fld id="{48EA55AE-FA0D-4484-8C53-18A7A77CEBFA}" type="slidenum">
              <a:rPr lang="fr-CA" smtClean="0"/>
              <a:t>8</a:t>
            </a:fld>
            <a:endParaRPr lang="fr-CA"/>
          </a:p>
        </p:txBody>
      </p:sp>
    </p:spTree>
    <p:extLst>
      <p:ext uri="{BB962C8B-B14F-4D97-AF65-F5344CB8AC3E}">
        <p14:creationId xmlns:p14="http://schemas.microsoft.com/office/powerpoint/2010/main" val="1475849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9</a:t>
            </a:fld>
            <a:endParaRPr lang="fr-CA"/>
          </a:p>
        </p:txBody>
      </p:sp>
    </p:spTree>
    <p:extLst>
      <p:ext uri="{BB962C8B-B14F-4D97-AF65-F5344CB8AC3E}">
        <p14:creationId xmlns:p14="http://schemas.microsoft.com/office/powerpoint/2010/main" val="4186018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007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6833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Dictionnaire Le Robert en ligne</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16</a:t>
            </a:fld>
            <a:endParaRPr lang="fr-CA"/>
          </a:p>
        </p:txBody>
      </p:sp>
    </p:spTree>
    <p:extLst>
      <p:ext uri="{BB962C8B-B14F-4D97-AF65-F5344CB8AC3E}">
        <p14:creationId xmlns:p14="http://schemas.microsoft.com/office/powerpoint/2010/main" val="4275182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https://inovency.fr/technologies/technologie-numerique-et-entreprise/</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17</a:t>
            </a:fld>
            <a:endParaRPr lang="fr-CA"/>
          </a:p>
        </p:txBody>
      </p:sp>
    </p:spTree>
    <p:extLst>
      <p:ext uri="{BB962C8B-B14F-4D97-AF65-F5344CB8AC3E}">
        <p14:creationId xmlns:p14="http://schemas.microsoft.com/office/powerpoint/2010/main" val="4217221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https://inovency.fr/technologies/technologie-numerique-et-entreprise/</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18</a:t>
            </a:fld>
            <a:endParaRPr lang="fr-CA"/>
          </a:p>
        </p:txBody>
      </p:sp>
    </p:spTree>
    <p:extLst>
      <p:ext uri="{BB962C8B-B14F-4D97-AF65-F5344CB8AC3E}">
        <p14:creationId xmlns:p14="http://schemas.microsoft.com/office/powerpoint/2010/main" val="3145171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7999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07000"/>
              </a:lnSpc>
              <a:spcAft>
                <a:spcPts val="800"/>
              </a:spcAft>
            </a:pPr>
            <a:r>
              <a:rPr lang="fr-CA" sz="1800" dirty="0"/>
              <a:t>fais le lien explicite avec l'exercice du stationnement que les étudiants viennent de vivre. Décomposer le problème du stationnement en sous-problèmes, reconnaître que certaines informations se retrouvent dans tous les stationnements (schémas), abstraire ce qui est spécifique à ce cas — ils viennent de faire de la pensée informatique sans le savoir. Ce retour réflexif est plus puissant que n'importe quelle définition.</a:t>
            </a:r>
            <a:endParaRPr lang="fr-CA" sz="1800" dirty="0">
              <a:effectLst/>
              <a:latin typeface="Visby CF" pitchFamily="50" charset="0"/>
              <a:ea typeface="Calibri" panose="020F0502020204030204" pitchFamily="34" charset="0"/>
              <a:cs typeface="Times New Roman" panose="02020603050405020304" pitchFamily="18" charset="0"/>
            </a:endParaRPr>
          </a:p>
          <a:p>
            <a:pPr algn="just">
              <a:lnSpc>
                <a:spcPct val="107000"/>
              </a:lnSpc>
              <a:spcAft>
                <a:spcPts val="800"/>
              </a:spcAft>
            </a:pPr>
            <a:endParaRPr lang="fr-CA" sz="1800" dirty="0">
              <a:effectLst/>
              <a:latin typeface="Visby CF" pitchFamily="50" charset="0"/>
              <a:ea typeface="Calibri" panose="020F0502020204030204" pitchFamily="34" charset="0"/>
              <a:cs typeface="Times New Roman" panose="02020603050405020304" pitchFamily="18" charset="0"/>
            </a:endParaRPr>
          </a:p>
          <a:p>
            <a:pPr algn="just">
              <a:lnSpc>
                <a:spcPct val="107000"/>
              </a:lnSpc>
              <a:spcAft>
                <a:spcPts val="800"/>
              </a:spcAft>
            </a:pPr>
            <a:r>
              <a:rPr lang="fr-CA" sz="1800" dirty="0">
                <a:effectLst/>
                <a:latin typeface="Visby CF" pitchFamily="50" charset="0"/>
                <a:ea typeface="Calibri" panose="020F0502020204030204" pitchFamily="34" charset="0"/>
                <a:cs typeface="Times New Roman" panose="02020603050405020304" pitchFamily="18" charset="0"/>
              </a:rPr>
              <a:t>L’utilisation de la pensée informatique est composée de quatre axes. </a:t>
            </a:r>
          </a:p>
          <a:p>
            <a:pPr algn="just">
              <a:lnSpc>
                <a:spcPct val="107000"/>
              </a:lnSpc>
              <a:spcAft>
                <a:spcPts val="800"/>
              </a:spcAft>
            </a:pPr>
            <a:r>
              <a:rPr lang="fr-CA" sz="1800" dirty="0">
                <a:effectLst/>
                <a:latin typeface="Visby CF" pitchFamily="50" charset="0"/>
                <a:ea typeface="Calibri" panose="020F0502020204030204" pitchFamily="34" charset="0"/>
                <a:cs typeface="Times New Roman" panose="02020603050405020304" pitchFamily="18" charset="0"/>
              </a:rPr>
              <a:t>La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décomposition</a:t>
            </a:r>
            <a:r>
              <a:rPr lang="fr-CA" sz="1800" dirty="0">
                <a:effectLst/>
                <a:latin typeface="Calibri" panose="020F0502020204030204" pitchFamily="34" charset="0"/>
                <a:ea typeface="Calibri" panose="020F0502020204030204" pitchFamily="34" charset="0"/>
                <a:cs typeface="Times New Roman" panose="02020603050405020304" pitchFamily="18" charset="0"/>
              </a:rPr>
              <a:t> met de l’avant l’idée que chaque problème est constitué de plus petites parties qui peuvent à leur tour être divisées pour qu’on les comprenne mieux. </a:t>
            </a: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reconnaissance de schémas</a:t>
            </a:r>
            <a:r>
              <a:rPr lang="fr-CA" sz="1800" dirty="0">
                <a:effectLst/>
                <a:latin typeface="Calibri" panose="020F0502020204030204" pitchFamily="34" charset="0"/>
                <a:ea typeface="Calibri" panose="020F0502020204030204" pitchFamily="34" charset="0"/>
                <a:cs typeface="Times New Roman" panose="02020603050405020304" pitchFamily="18" charset="0"/>
              </a:rPr>
              <a:t> stipule que chaque phénomène, expérience, stimulus, problème ou circonstance suit généralement un schéma que nous pouvons identifier. </a:t>
            </a: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La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pensée abstraite</a:t>
            </a:r>
            <a:r>
              <a:rPr lang="fr-CA" sz="1800" dirty="0">
                <a:effectLst/>
                <a:latin typeface="Calibri" panose="020F0502020204030204" pitchFamily="34" charset="0"/>
                <a:ea typeface="Calibri" panose="020F0502020204030204" pitchFamily="34" charset="0"/>
                <a:cs typeface="Times New Roman" panose="02020603050405020304" pitchFamily="18" charset="0"/>
              </a:rPr>
              <a:t> est un type de raisonnement propre à l’être humain. Grâce à lui, nous pouvons créer des idées originales, et déterminer comment nous pourrions agir face à des scénarios hypothétiques. </a:t>
            </a:r>
          </a:p>
          <a:p>
            <a:pPr algn="just">
              <a:lnSpc>
                <a:spcPct val="107000"/>
              </a:lnSpc>
              <a:spcAft>
                <a:spcPts val="800"/>
              </a:spcAft>
            </a:pPr>
            <a:r>
              <a:rPr lang="fr-CA" sz="1800" dirty="0">
                <a:effectLst/>
                <a:latin typeface="Calibri" panose="020F0502020204030204" pitchFamily="34" charset="0"/>
                <a:ea typeface="Calibri" panose="020F0502020204030204" pitchFamily="34" charset="0"/>
                <a:cs typeface="Times New Roman" panose="02020603050405020304" pitchFamily="18" charset="0"/>
              </a:rPr>
              <a:t>Finalement, les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algorithmes</a:t>
            </a:r>
            <a:r>
              <a:rPr lang="fr-CA" sz="1800" dirty="0">
                <a:effectLst/>
                <a:latin typeface="Calibri" panose="020F0502020204030204" pitchFamily="34" charset="0"/>
                <a:ea typeface="Calibri" panose="020F0502020204030204" pitchFamily="34" charset="0"/>
                <a:cs typeface="Times New Roman" panose="02020603050405020304" pitchFamily="18" charset="0"/>
              </a:rPr>
              <a:t> sont des ensembles d’étapes, des schémas qui nous permettent de résoudre un problème étape par étape, en proposant une solution finale qui est une combinaison des solutions de chaque portions du problème initialement décomposé. </a:t>
            </a:r>
          </a:p>
          <a:p>
            <a:endParaRPr lang="fr-CA" dirty="0"/>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22</a:t>
            </a:fld>
            <a:endParaRPr lang="fr-CA"/>
          </a:p>
        </p:txBody>
      </p:sp>
    </p:spTree>
    <p:extLst>
      <p:ext uri="{BB962C8B-B14F-4D97-AF65-F5344CB8AC3E}">
        <p14:creationId xmlns:p14="http://schemas.microsoft.com/office/powerpoint/2010/main" val="2712472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un exemple court et brutal. Une entreprise investit 2 millions dans un CRM. Trois ans plus tard, les vendeurs utilisent encore Excel. Pourquoi? La technologie n'était pas alignée sur la façon dont les gens travaillent réellement. La leçon : la technologie ne résout pas les problèmes organisationnels, elle les amplifie — en bien comme en mal.</a:t>
            </a:r>
            <a:endParaRPr lang="fr-FR" dirty="0"/>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23</a:t>
            </a:fld>
            <a:endParaRPr lang="fr-CA"/>
          </a:p>
        </p:txBody>
      </p:sp>
    </p:spTree>
    <p:extLst>
      <p:ext uri="{BB962C8B-B14F-4D97-AF65-F5344CB8AC3E}">
        <p14:creationId xmlns:p14="http://schemas.microsoft.com/office/powerpoint/2010/main" val="3559071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24</a:t>
            </a:fld>
            <a:endParaRPr lang="fr-CA"/>
          </a:p>
        </p:txBody>
      </p:sp>
    </p:spTree>
    <p:extLst>
      <p:ext uri="{BB962C8B-B14F-4D97-AF65-F5344CB8AC3E}">
        <p14:creationId xmlns:p14="http://schemas.microsoft.com/office/powerpoint/2010/main" val="2609901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ton système de paie parle à ton système RH qui parle à ton système comptable. Une décision prise dans l'un se répercute dans les autres. L'architecture d'entreprise, c'est la carte de ces connexions. Un gestionnaire qui ne la comprend pas prend des décisions localement rationnelles et globalement désastreuses.</a:t>
            </a:r>
          </a:p>
          <a:p>
            <a:endParaRPr lang="fr-CA" dirty="0"/>
          </a:p>
          <a:p>
            <a:r>
              <a:rPr lang="fr-CA" dirty="0"/>
              <a:t>Le contenu de chaque cellule doit être cohérent en ligne et en colonne (inspiré de Zachman)</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25</a:t>
            </a:fld>
            <a:endParaRPr lang="fr-CA"/>
          </a:p>
        </p:txBody>
      </p:sp>
    </p:spTree>
    <p:extLst>
      <p:ext uri="{BB962C8B-B14F-4D97-AF65-F5344CB8AC3E}">
        <p14:creationId xmlns:p14="http://schemas.microsoft.com/office/powerpoint/2010/main" val="1125515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9344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CF4BB-DA33-69A6-3EA7-ECD9792A42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D1700-9B11-B07F-F8B2-EB069A280E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4552DA-864E-94F8-C7C4-61B56E167CAB}"/>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38509B42-CB1C-41FA-411D-AB7AC0AFB57F}"/>
              </a:ext>
            </a:extLst>
          </p:cNvPr>
          <p:cNvSpPr>
            <a:spLocks noGrp="1"/>
          </p:cNvSpPr>
          <p:nvPr>
            <p:ph type="sldNum" sz="quarter" idx="5"/>
          </p:nvPr>
        </p:nvSpPr>
        <p:spPr/>
        <p:txBody>
          <a:bodyPr/>
          <a:lstStyle/>
          <a:p>
            <a:fld id="{48EA55AE-FA0D-4484-8C53-18A7A77CEBFA}" type="slidenum">
              <a:rPr lang="fr-CA" smtClean="0"/>
              <a:t>29</a:t>
            </a:fld>
            <a:endParaRPr lang="fr-CA"/>
          </a:p>
        </p:txBody>
      </p:sp>
    </p:spTree>
    <p:extLst>
      <p:ext uri="{BB962C8B-B14F-4D97-AF65-F5344CB8AC3E}">
        <p14:creationId xmlns:p14="http://schemas.microsoft.com/office/powerpoint/2010/main" val="3444565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90 heures de travail personnel équivaut à entre 6 et 8 heures par semaine, considérant que pour la première séance, il n’y a rien à préparer, et qu’il y a 12 séances de cours plus deux examens donc 90/14 = 6,42</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30</a:t>
            </a:fld>
            <a:endParaRPr lang="fr-CA"/>
          </a:p>
        </p:txBody>
      </p:sp>
    </p:spTree>
    <p:extLst>
      <p:ext uri="{BB962C8B-B14F-4D97-AF65-F5344CB8AC3E}">
        <p14:creationId xmlns:p14="http://schemas.microsoft.com/office/powerpoint/2010/main" val="237512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32</a:t>
            </a:fld>
            <a:endParaRPr lang="fr-CA"/>
          </a:p>
        </p:txBody>
      </p:sp>
    </p:spTree>
    <p:extLst>
      <p:ext uri="{BB962C8B-B14F-4D97-AF65-F5344CB8AC3E}">
        <p14:creationId xmlns:p14="http://schemas.microsoft.com/office/powerpoint/2010/main" val="1884752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33</a:t>
            </a:fld>
            <a:endParaRPr lang="fr-CA"/>
          </a:p>
        </p:txBody>
      </p:sp>
    </p:spTree>
    <p:extLst>
      <p:ext uri="{BB962C8B-B14F-4D97-AF65-F5344CB8AC3E}">
        <p14:creationId xmlns:p14="http://schemas.microsoft.com/office/powerpoint/2010/main" val="637515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37</a:t>
            </a:fld>
            <a:endParaRPr lang="fr-CA"/>
          </a:p>
        </p:txBody>
      </p:sp>
    </p:spTree>
    <p:extLst>
      <p:ext uri="{BB962C8B-B14F-4D97-AF65-F5344CB8AC3E}">
        <p14:creationId xmlns:p14="http://schemas.microsoft.com/office/powerpoint/2010/main" val="3268995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78007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39</a:t>
            </a:fld>
            <a:endParaRPr lang="fr-CA"/>
          </a:p>
        </p:txBody>
      </p:sp>
    </p:spTree>
    <p:extLst>
      <p:ext uri="{BB962C8B-B14F-4D97-AF65-F5344CB8AC3E}">
        <p14:creationId xmlns:p14="http://schemas.microsoft.com/office/powerpoint/2010/main" val="3518189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Retrouver facilement les contraintes du marché pour la semaine courante (nb max de barils à acheter, prix du baril, nb max de bouteilles à vendre, prix de la bouteille, AUTRES?)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a:t>Suivre les transactions financières pour connaître son cash flow en tout temps</a:t>
            </a:r>
          </a:p>
          <a:p>
            <a:r>
              <a:rPr lang="fr-CA"/>
              <a:t>Prendre des décisions qui respectent ces contraintes (achat nb baril X et vente nb bouteilles Y vs. nb en inventaire et argent disponible)</a:t>
            </a:r>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41</a:t>
            </a:fld>
            <a:endParaRPr lang="fr-CA"/>
          </a:p>
        </p:txBody>
      </p:sp>
    </p:spTree>
    <p:extLst>
      <p:ext uri="{BB962C8B-B14F-4D97-AF65-F5344CB8AC3E}">
        <p14:creationId xmlns:p14="http://schemas.microsoft.com/office/powerpoint/2010/main" val="145667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5003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43</a:t>
            </a:fld>
            <a:endParaRPr lang="fr-CA"/>
          </a:p>
        </p:txBody>
      </p:sp>
    </p:spTree>
    <p:extLst>
      <p:ext uri="{BB962C8B-B14F-4D97-AF65-F5344CB8AC3E}">
        <p14:creationId xmlns:p14="http://schemas.microsoft.com/office/powerpoint/2010/main" val="1125515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45</a:t>
            </a:fld>
            <a:endParaRPr lang="fr-CA"/>
          </a:p>
        </p:txBody>
      </p:sp>
    </p:spTree>
    <p:extLst>
      <p:ext uri="{BB962C8B-B14F-4D97-AF65-F5344CB8AC3E}">
        <p14:creationId xmlns:p14="http://schemas.microsoft.com/office/powerpoint/2010/main" val="2385582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46</a:t>
            </a:fld>
            <a:endParaRPr lang="fr-CA"/>
          </a:p>
        </p:txBody>
      </p:sp>
    </p:spTree>
    <p:extLst>
      <p:ext uri="{BB962C8B-B14F-4D97-AF65-F5344CB8AC3E}">
        <p14:creationId xmlns:p14="http://schemas.microsoft.com/office/powerpoint/2010/main" val="11869704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8" name="Picture 7" descr="A group of people sitting on stairs&#10;&#10;Description automatically generated with medium confidence">
            <a:extLst>
              <a:ext uri="{FF2B5EF4-FFF2-40B4-BE49-F238E27FC236}">
                <a16:creationId xmlns:a16="http://schemas.microsoft.com/office/drawing/2014/main" id="{A135F293-1906-8D22-0785-79DD186470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 y="0"/>
            <a:ext cx="12188389"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2346126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5A992C-FD7E-DB48-739E-CAF22E9A1F2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934" r="6667"/>
          <a:stretch/>
        </p:blipFill>
        <p:spPr bwMode="auto">
          <a:xfrm>
            <a:off x="3411415" y="0"/>
            <a:ext cx="8780592"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2" name="Rectangle 1">
            <a:extLst>
              <a:ext uri="{FF2B5EF4-FFF2-40B4-BE49-F238E27FC236}">
                <a16:creationId xmlns:a16="http://schemas.microsoft.com/office/drawing/2014/main" id="{0CDEB207-92C5-842B-6134-B04F2E996053}"/>
              </a:ext>
            </a:extLst>
          </p:cNvPr>
          <p:cNvSpPr/>
          <p:nvPr userDrawn="1"/>
        </p:nvSpPr>
        <p:spPr>
          <a:xfrm>
            <a:off x="-62752" y="0"/>
            <a:ext cx="3474160" cy="6858000"/>
          </a:xfrm>
          <a:prstGeom prst="rect">
            <a:avLst/>
          </a:prstGeom>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pic>
        <p:nvPicPr>
          <p:cNvPr id="3" name="Picture 9" descr="A close up of a sign&#10;&#10;Description automatically generated">
            <a:extLst>
              <a:ext uri="{FF2B5EF4-FFF2-40B4-BE49-F238E27FC236}">
                <a16:creationId xmlns:a16="http://schemas.microsoft.com/office/drawing/2014/main" id="{19C71502-14D3-54DC-BEE9-12B69D6BCE9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2083" y="631121"/>
            <a:ext cx="1562807" cy="1562807"/>
          </a:xfrm>
          <a:prstGeom prst="rect">
            <a:avLst/>
          </a:prstGeom>
        </p:spPr>
      </p:pic>
      <p:sp>
        <p:nvSpPr>
          <p:cNvPr id="7" name="Title 1">
            <a:extLst>
              <a:ext uri="{FF2B5EF4-FFF2-40B4-BE49-F238E27FC236}">
                <a16:creationId xmlns:a16="http://schemas.microsoft.com/office/drawing/2014/main" id="{65B9265B-4FFC-F2C8-F435-6CA51324C7D8}"/>
              </a:ext>
            </a:extLst>
          </p:cNvPr>
          <p:cNvSpPr>
            <a:spLocks noGrp="1"/>
          </p:cNvSpPr>
          <p:nvPr>
            <p:ph type="title" hasCustomPrompt="1"/>
          </p:nvPr>
        </p:nvSpPr>
        <p:spPr>
          <a:xfrm>
            <a:off x="374537" y="1990728"/>
            <a:ext cx="5978135" cy="2254161"/>
          </a:xfrm>
          <a:ln>
            <a:noFill/>
          </a:ln>
        </p:spPr>
        <p:txBody>
          <a:bodyPr anchor="b" anchorCtr="0"/>
          <a:lstStyle>
            <a:lvl1pPr>
              <a:defRPr sz="6000" b="0">
                <a:solidFill>
                  <a:schemeClr val="tx2"/>
                </a:solidFill>
                <a:latin typeface="Visby Slab CF Bold" panose="00000800000000000000" pitchFamily="50" charset="0"/>
              </a:defRPr>
            </a:lvl1pPr>
          </a:lstStyle>
          <a:p>
            <a:r>
              <a:rPr lang="en-US" err="1"/>
              <a:t>Titre</a:t>
            </a:r>
            <a:endParaRPr lang="en-US"/>
          </a:p>
        </p:txBody>
      </p:sp>
      <p:sp>
        <p:nvSpPr>
          <p:cNvPr id="8" name="Text Placeholder 12">
            <a:extLst>
              <a:ext uri="{FF2B5EF4-FFF2-40B4-BE49-F238E27FC236}">
                <a16:creationId xmlns:a16="http://schemas.microsoft.com/office/drawing/2014/main" id="{85BB9CD6-5516-AEB6-5F47-CFAD3E025644}"/>
              </a:ext>
            </a:extLst>
          </p:cNvPr>
          <p:cNvSpPr>
            <a:spLocks noGrp="1"/>
          </p:cNvSpPr>
          <p:nvPr>
            <p:ph type="body" sz="quarter" idx="11" hasCustomPrompt="1"/>
          </p:nvPr>
        </p:nvSpPr>
        <p:spPr>
          <a:xfrm>
            <a:off x="374538" y="4178603"/>
            <a:ext cx="2906545" cy="2383563"/>
          </a:xfrm>
        </p:spPr>
        <p:txBody>
          <a:bodyPr>
            <a:normAutofit/>
          </a:bodyPr>
          <a:lstStyle>
            <a:lvl1pPr marL="0" indent="0">
              <a:buNone/>
              <a:defRPr sz="2667" b="0" i="0">
                <a:solidFill>
                  <a:schemeClr val="bg2">
                    <a:lumMod val="50000"/>
                  </a:schemeClr>
                </a:solidFill>
                <a:latin typeface="Visby CF Bold" pitchFamily="50" charset="0"/>
              </a:defRPr>
            </a:lvl1pPr>
          </a:lstStyle>
          <a:p>
            <a:pPr lvl="0"/>
            <a:r>
              <a:rPr lang="en-US"/>
              <a:t>Sous-</a:t>
            </a:r>
            <a:r>
              <a:rPr lang="en-US" err="1"/>
              <a:t>titre</a:t>
            </a:r>
            <a:endParaRPr lang="en-US"/>
          </a:p>
        </p:txBody>
      </p:sp>
    </p:spTree>
    <p:extLst>
      <p:ext uri="{BB962C8B-B14F-4D97-AF65-F5344CB8AC3E}">
        <p14:creationId xmlns:p14="http://schemas.microsoft.com/office/powerpoint/2010/main" val="295461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75C50-436C-3C80-C642-31F554885E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a:solidFill>
                  <a:schemeClr val="bg1"/>
                </a:solidFill>
                <a:latin typeface="Visby Slab CF"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bg1"/>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1036172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pic>
        <p:nvPicPr>
          <p:cNvPr id="12" name="Picture 11" descr="A picture containing building, outdoor, sky, city&#10;&#10;Description automatically generated">
            <a:extLst>
              <a:ext uri="{FF2B5EF4-FFF2-40B4-BE49-F238E27FC236}">
                <a16:creationId xmlns:a16="http://schemas.microsoft.com/office/drawing/2014/main" id="{04743DEF-FC3C-DBAA-AEF4-43E7EC1625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br>
              <a:rPr lang="en-US"/>
            </a:br>
            <a:br>
              <a:rPr lang="en-US"/>
            </a:br>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3510559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92509" y="2126743"/>
            <a:ext cx="10915200" cy="3825587"/>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userDrawn="1"/>
        </p:nvSpPr>
        <p:spPr>
          <a:xfrm>
            <a:off x="461433" y="5718811"/>
            <a:ext cx="1219200" cy="1097280"/>
          </a:xfrm>
          <a:prstGeom prst="rect">
            <a:avLst/>
          </a:prstGeom>
        </p:spPr>
        <p:txBody>
          <a:bodyPr vert="horz" wrap="none" lIns="109728" tIns="54864" rIns="109728" bIns="54864" rtlCol="0">
            <a:normAutofit/>
          </a:bodyPr>
          <a:lstStyle/>
          <a:p>
            <a:pPr marL="185755" indent="-185755">
              <a:buClr>
                <a:schemeClr val="accent2"/>
              </a:buClr>
              <a:buSzPct val="125000"/>
              <a:buFont typeface="Arial" panose="020B0604020202020204" pitchFamily="34" charset="0"/>
              <a:buChar char="•"/>
            </a:pPr>
            <a:endParaRPr lang="fr-CA" sz="2004"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492509" y="302168"/>
            <a:ext cx="10915200" cy="987552"/>
          </a:xfrm>
        </p:spPr>
        <p:txBody>
          <a:bodyPr/>
          <a:lstStyle>
            <a:lvl1pPr>
              <a:defRPr sz="4000" b="1" i="0">
                <a:solidFill>
                  <a:schemeClr val="accent3"/>
                </a:solidFill>
                <a:latin typeface="Visby Slab CF Demi Bold" pitchFamily="2" charset="77"/>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492510" y="1139191"/>
            <a:ext cx="6991349" cy="576720"/>
          </a:xfrm>
        </p:spPr>
        <p:txBody>
          <a:bodyPr>
            <a:normAutofit/>
          </a:bodyPr>
          <a:lstStyle>
            <a:lvl1pPr>
              <a:defRPr sz="2133"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91139" y="447401"/>
            <a:ext cx="576720" cy="19444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3564894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age vide">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2443F0-DC2E-3B56-D5E8-926C32A777AE}"/>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6BF38810-CD83-4A71-7D30-7FAC17F97E61}"/>
              </a:ext>
            </a:extLst>
          </p:cNvPr>
          <p:cNvSpPr/>
          <p:nvPr userDrawn="1">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E4DDCA0-01DD-E3DC-723A-8EE932071EE2}"/>
              </a:ext>
            </a:extLst>
          </p:cNvPr>
          <p:cNvSpPr/>
          <p:nvPr userDrawn="1">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Titre 4">
            <a:extLst>
              <a:ext uri="{FF2B5EF4-FFF2-40B4-BE49-F238E27FC236}">
                <a16:creationId xmlns:a16="http://schemas.microsoft.com/office/drawing/2014/main" id="{CFC22666-9781-1D5E-6E14-F7A7F692FE82}"/>
              </a:ext>
            </a:extLst>
          </p:cNvPr>
          <p:cNvSpPr>
            <a:spLocks noGrp="1"/>
          </p:cNvSpPr>
          <p:nvPr>
            <p:ph type="title"/>
          </p:nvPr>
        </p:nvSpPr>
        <p:spPr>
          <a:xfrm>
            <a:off x="469428" y="984738"/>
            <a:ext cx="10915200" cy="1971634"/>
          </a:xfrm>
        </p:spPr>
        <p:txBody>
          <a:bodyPr/>
          <a:lstStyle>
            <a:lvl1pPr>
              <a:defRPr kumimoji="0" lang="fr-CA" sz="7200" b="0" i="0" u="none" strike="noStrike" kern="1200" cap="none" spc="0" normalizeH="0" baseline="0">
                <a:ln>
                  <a:noFill/>
                </a:ln>
                <a:solidFill>
                  <a:schemeClr val="accent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Tree>
    <p:extLst>
      <p:ext uri="{BB962C8B-B14F-4D97-AF65-F5344CB8AC3E}">
        <p14:creationId xmlns:p14="http://schemas.microsoft.com/office/powerpoint/2010/main" val="165891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31CD24-C12F-731C-7F6F-BB3218CFB324}"/>
              </a:ext>
            </a:extLst>
          </p:cNvPr>
          <p:cNvSpPr/>
          <p:nvPr userDrawn="1">
            <p:custDataLst>
              <p:tags r:id="rId1"/>
            </p:custDataLst>
          </p:nvPr>
        </p:nvSpPr>
        <p:spPr>
          <a:xfrm rot="5400000">
            <a:off x="10408212" y="5479915"/>
            <a:ext cx="2269787" cy="486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E93C20F-61A3-A6C8-0181-89A4026E81E7}"/>
              </a:ext>
            </a:extLst>
          </p:cNvPr>
          <p:cNvSpPr/>
          <p:nvPr userDrawn="1">
            <p:custDataLst>
              <p:tags r:id="rId2"/>
            </p:custDataLst>
          </p:nvPr>
        </p:nvSpPr>
        <p:spPr>
          <a:xfrm>
            <a:off x="11300297" y="4588213"/>
            <a:ext cx="486000" cy="486383"/>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tx2">
                    <a:lumMod val="90000"/>
                    <a:lumOff val="10000"/>
                  </a:schemeClr>
                </a:solidFill>
                <a:effectLst/>
                <a:uLnTx/>
                <a:uFillTx/>
                <a:latin typeface="Visby Slab CF Bold" panose="00000800000000000000" pitchFamily="50" charset="0"/>
              </a:rPr>
              <a:t>1</a:t>
            </a:r>
          </a:p>
        </p:txBody>
      </p:sp>
      <p:sp>
        <p:nvSpPr>
          <p:cNvPr id="6" name="ZoneTexte 5">
            <a:extLst>
              <a:ext uri="{FF2B5EF4-FFF2-40B4-BE49-F238E27FC236}">
                <a16:creationId xmlns:a16="http://schemas.microsoft.com/office/drawing/2014/main" id="{6DA28613-0ED5-8AC4-820F-A78A51809E12}"/>
              </a:ext>
            </a:extLst>
          </p:cNvPr>
          <p:cNvSpPr txBox="1"/>
          <p:nvPr userDrawn="1">
            <p:custDataLst>
              <p:tags r:id="rId3"/>
            </p:custDataLst>
          </p:nvPr>
        </p:nvSpPr>
        <p:spPr>
          <a:xfrm rot="20159134">
            <a:off x="-282726" y="280794"/>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tx2">
                    <a:lumMod val="25000"/>
                    <a:lumOff val="75000"/>
                  </a:schemeClr>
                </a:solidFill>
                <a:latin typeface="Script MT Bold" panose="03040602040607080904" pitchFamily="66" charset="0"/>
                <a:cs typeface="Dreaming Outloud Script Pro" panose="03050502040304050704" pitchFamily="66" charset="0"/>
              </a:rPr>
              <a:t>objectifs</a:t>
            </a:r>
          </a:p>
        </p:txBody>
      </p:sp>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648920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Page vide">
    <p:bg>
      <p:bgPr>
        <a:solidFill>
          <a:schemeClr val="tx2"/>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2443F0-DC2E-3B56-D5E8-926C32A777AE}"/>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tx2">
                    <a:lumMod val="90000"/>
                    <a:lumOff val="10000"/>
                  </a:schemeClr>
                </a:solidFill>
                <a:effectLst/>
                <a:uLnTx/>
                <a:uFillTx/>
                <a:latin typeface="Visby CF Bold" pitchFamily="50" charset="0"/>
                <a:ea typeface="+mn-ea"/>
                <a:cs typeface="+mn-cs"/>
              </a:rPr>
              <a:t>Mobiliser les technologies numériques</a:t>
            </a:r>
          </a:p>
        </p:txBody>
      </p:sp>
      <p:sp>
        <p:nvSpPr>
          <p:cNvPr id="13" name="Titre 4">
            <a:extLst>
              <a:ext uri="{FF2B5EF4-FFF2-40B4-BE49-F238E27FC236}">
                <a16:creationId xmlns:a16="http://schemas.microsoft.com/office/drawing/2014/main" id="{CFC22666-9781-1D5E-6E14-F7A7F692FE82}"/>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bg1"/>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5" name="Rectangle 4">
            <a:extLst>
              <a:ext uri="{FF2B5EF4-FFF2-40B4-BE49-F238E27FC236}">
                <a16:creationId xmlns:a16="http://schemas.microsoft.com/office/drawing/2014/main" id="{DE588881-4E85-0D36-6A57-EEAF1911BBF5}"/>
              </a:ext>
            </a:extLst>
          </p:cNvPr>
          <p:cNvSpPr/>
          <p:nvPr userDrawn="1">
            <p:custDataLst>
              <p:tags r:id="rId2"/>
            </p:custDataLst>
          </p:nvPr>
        </p:nvSpPr>
        <p:spPr>
          <a:xfrm>
            <a:off x="2519464" y="5126475"/>
            <a:ext cx="9672536" cy="4863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9853FAD3-5F0C-4F3E-39E8-E8ADEB6BD054}"/>
              </a:ext>
            </a:extLst>
          </p:cNvPr>
          <p:cNvSpPr/>
          <p:nvPr userDrawn="1">
            <p:custDataLst>
              <p:tags r:id="rId3"/>
            </p:custDataLst>
          </p:nvPr>
        </p:nvSpPr>
        <p:spPr>
          <a:xfrm>
            <a:off x="2510037" y="5126475"/>
            <a:ext cx="486000" cy="48638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Espace réservé du texte 7">
            <a:extLst>
              <a:ext uri="{FF2B5EF4-FFF2-40B4-BE49-F238E27FC236}">
                <a16:creationId xmlns:a16="http://schemas.microsoft.com/office/drawing/2014/main" id="{6C6A92E3-1FBD-A076-7C72-587F7F6CA340}"/>
              </a:ext>
            </a:extLst>
          </p:cNvPr>
          <p:cNvSpPr>
            <a:spLocks noGrp="1"/>
          </p:cNvSpPr>
          <p:nvPr>
            <p:ph type="body" sz="quarter" idx="10"/>
          </p:nvPr>
        </p:nvSpPr>
        <p:spPr>
          <a:xfrm>
            <a:off x="1043354" y="1458156"/>
            <a:ext cx="10341272" cy="687165"/>
          </a:xfrm>
        </p:spPr>
        <p:txBody>
          <a:bodyPr anchor="ctr">
            <a:noAutofit/>
          </a:bodyPr>
          <a:lstStyle>
            <a:lvl1pPr>
              <a:defRPr sz="3200">
                <a:solidFill>
                  <a:schemeClr val="bg1"/>
                </a:solidFill>
                <a:latin typeface="Visby CF Bold" pitchFamily="50" charset="0"/>
              </a:defRPr>
            </a:lvl1pPr>
          </a:lstStyle>
          <a:p>
            <a:pPr lvl="0"/>
            <a:r>
              <a:rPr lang="fr-FR"/>
              <a:t>Cliquez pour modifier les styles du texte du masque</a:t>
            </a:r>
          </a:p>
        </p:txBody>
      </p:sp>
    </p:spTree>
    <p:extLst>
      <p:ext uri="{BB962C8B-B14F-4D97-AF65-F5344CB8AC3E}">
        <p14:creationId xmlns:p14="http://schemas.microsoft.com/office/powerpoint/2010/main" val="334461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92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contenu 3"/>
          <p:cNvSpPr>
            <a:spLocks noGrp="1"/>
          </p:cNvSpPr>
          <p:nvPr>
            <p:ph sz="half" idx="2"/>
          </p:nvPr>
        </p:nvSpPr>
        <p:spPr>
          <a:xfrm>
            <a:off x="6080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Titre 1">
            <a:extLst>
              <a:ext uri="{FF2B5EF4-FFF2-40B4-BE49-F238E27FC236}">
                <a16:creationId xmlns:a16="http://schemas.microsoft.com/office/drawing/2014/main" id="{5DC87F9A-0B14-5044-A85E-4048F6B5FFD3}"/>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9EF46E6C-4B7F-3C48-9C35-05A210759582}"/>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89951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92510" y="2126743"/>
            <a:ext cx="5386917"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492510" y="2766505"/>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5" name="Espace réservé du texte 4"/>
          <p:cNvSpPr>
            <a:spLocks noGrp="1"/>
          </p:cNvSpPr>
          <p:nvPr>
            <p:ph type="body" sz="quarter" idx="3"/>
          </p:nvPr>
        </p:nvSpPr>
        <p:spPr>
          <a:xfrm>
            <a:off x="6076280" y="2126743"/>
            <a:ext cx="5389033"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076280" y="2766505"/>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774571B3-8C99-AF4B-A06D-5BCDBDA55509}"/>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6C4B472A-7EF1-4148-BA9C-E519EA28DFD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008875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01309" y="2126743"/>
            <a:ext cx="6796800" cy="3913531"/>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texte 3"/>
          <p:cNvSpPr>
            <a:spLocks noGrp="1"/>
          </p:cNvSpPr>
          <p:nvPr>
            <p:ph type="body" sz="half" idx="2"/>
          </p:nvPr>
        </p:nvSpPr>
        <p:spPr>
          <a:xfrm>
            <a:off x="492509" y="2126743"/>
            <a:ext cx="3984000" cy="3913531"/>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7" name="Titre 1">
            <a:extLst>
              <a:ext uri="{FF2B5EF4-FFF2-40B4-BE49-F238E27FC236}">
                <a16:creationId xmlns:a16="http://schemas.microsoft.com/office/drawing/2014/main" id="{58858A58-66D0-B848-B566-D94130F68089}"/>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4F34D983-8FC4-6B4C-A271-28E076618E5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348075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vec sous-titr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92509" y="2791850"/>
            <a:ext cx="10905600" cy="3240717"/>
          </a:xfrm>
        </p:spPr>
        <p:txBody>
          <a:bodyPr>
            <a:normAutofit/>
          </a:bodyPr>
          <a:lstStyle>
            <a:lvl1pPr marL="0" indent="0">
              <a:buNone/>
              <a:defRPr sz="2004"/>
            </a:lvl1pPr>
            <a:lvl2pPr marL="548626" indent="0">
              <a:buNone/>
              <a:defRPr sz="3360"/>
            </a:lvl2pPr>
            <a:lvl3pPr marL="1097253" indent="0">
              <a:buNone/>
              <a:defRPr sz="2880"/>
            </a:lvl3pPr>
            <a:lvl4pPr marL="1645879" indent="0">
              <a:buNone/>
              <a:defRPr sz="2400"/>
            </a:lvl4pPr>
            <a:lvl5pPr marL="2194505" indent="0">
              <a:buNone/>
              <a:defRPr sz="2400"/>
            </a:lvl5pPr>
            <a:lvl6pPr marL="2743131" indent="0">
              <a:buNone/>
              <a:defRPr sz="2400"/>
            </a:lvl6pPr>
            <a:lvl7pPr marL="3291758" indent="0">
              <a:buNone/>
              <a:defRPr sz="2400"/>
            </a:lvl7pPr>
            <a:lvl8pPr marL="3840384" indent="0">
              <a:buNone/>
              <a:defRPr sz="2400"/>
            </a:lvl8pPr>
            <a:lvl9pPr marL="4389010" indent="0">
              <a:buNone/>
              <a:defRPr sz="2400"/>
            </a:lvl9pPr>
          </a:lstStyle>
          <a:p>
            <a:r>
              <a:rPr lang="fr-FR" noProof="0"/>
              <a:t>Cliquez sur l'icône pour ajouter une image</a:t>
            </a:r>
            <a:endParaRPr lang="fr-CA" noProof="0"/>
          </a:p>
        </p:txBody>
      </p:sp>
      <p:sp>
        <p:nvSpPr>
          <p:cNvPr id="4" name="Espace réservé du texte 3"/>
          <p:cNvSpPr>
            <a:spLocks noGrp="1"/>
          </p:cNvSpPr>
          <p:nvPr>
            <p:ph type="body" sz="half" idx="2"/>
          </p:nvPr>
        </p:nvSpPr>
        <p:spPr>
          <a:xfrm>
            <a:off x="492509" y="2135209"/>
            <a:ext cx="10905600" cy="626400"/>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6" name="Titre 1">
            <a:extLst>
              <a:ext uri="{FF2B5EF4-FFF2-40B4-BE49-F238E27FC236}">
                <a16:creationId xmlns:a16="http://schemas.microsoft.com/office/drawing/2014/main" id="{31F822D9-3DEC-3047-80E7-91FEF03ADEEA}"/>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012413CD-0402-DF4B-B461-41211EB387C5}"/>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291243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7" name="Espace réservé du contenu 2">
            <a:extLst>
              <a:ext uri="{FF2B5EF4-FFF2-40B4-BE49-F238E27FC236}">
                <a16:creationId xmlns:a16="http://schemas.microsoft.com/office/drawing/2014/main" id="{A4852420-8753-0547-A124-EA1822DD273F}"/>
              </a:ext>
            </a:extLst>
          </p:cNvPr>
          <p:cNvSpPr>
            <a:spLocks noGrp="1"/>
          </p:cNvSpPr>
          <p:nvPr>
            <p:ph idx="1"/>
          </p:nvPr>
        </p:nvSpPr>
        <p:spPr>
          <a:xfrm>
            <a:off x="492509" y="2126743"/>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1A0E864F-8F4A-CC42-8321-8A205C5B03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0D22B6CC-C7ED-5745-BD28-3822207DE776}"/>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828388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1AD97A31-589D-5648-AA82-BCBA4A39247D}"/>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2CC07A2E-488D-9643-9E9E-69C3CB294B7B}"/>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43099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Heavy" panose="00000A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2026-08-20</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
        <p:nvSpPr>
          <p:cNvPr id="11" name="Rectangle 10">
            <a:extLst>
              <a:ext uri="{FF2B5EF4-FFF2-40B4-BE49-F238E27FC236}">
                <a16:creationId xmlns:a16="http://schemas.microsoft.com/office/drawing/2014/main" id="{5298DF1A-E6D3-486E-8E29-D212F66F4115}"/>
              </a:ext>
            </a:extLst>
          </p:cNvPr>
          <p:cNvSpPr/>
          <p:nvPr userDrawn="1"/>
        </p:nvSpPr>
        <p:spPr>
          <a:xfrm>
            <a:off x="5677786" y="5349875"/>
            <a:ext cx="6514214" cy="1508125"/>
          </a:xfrm>
          <a:prstGeom prst="rect">
            <a:avLst/>
          </a:prstGeom>
          <a:solidFill>
            <a:srgbClr val="888B8D"/>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44703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2026-08-20</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69788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2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2026-08-20</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3128244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3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chemeClr val="accent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2026-08-20</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634801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6"/>
                </a:solidFill>
                <a:latin typeface="Visby Slab CF Bold" panose="00000800000000000000" pitchFamily="50" charset="0"/>
              </a:rPr>
              <a:pPr algn="ctr"/>
              <a:t>‹N°›</a:t>
            </a:fld>
            <a:endParaRPr lang="fr-CA" sz="1400">
              <a:solidFill>
                <a:schemeClr val="accent6"/>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436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5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91598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Tree>
    <p:extLst>
      <p:ext uri="{BB962C8B-B14F-4D97-AF65-F5344CB8AC3E}">
        <p14:creationId xmlns:p14="http://schemas.microsoft.com/office/powerpoint/2010/main" val="24164130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6259056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6"/>
          </a:solidFill>
          <a:ln>
            <a:solidFill>
              <a:schemeClr val="accent6"/>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309514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3"/>
          </a:solidFill>
          <a:ln>
            <a:solidFill>
              <a:schemeClr val="accent3"/>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182239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1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2928819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1"/>
          </a:solidFill>
          <a:ln>
            <a:solidFill>
              <a:schemeClr val="accent1"/>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877876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7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pic>
        <p:nvPicPr>
          <p:cNvPr id="6" name="Image 5" descr="Une image contenant texte, Police, capture d’écran, Graphique&#10;&#10;Le contenu généré par l’IA peut être incorrect.">
            <a:extLst>
              <a:ext uri="{FF2B5EF4-FFF2-40B4-BE49-F238E27FC236}">
                <a16:creationId xmlns:a16="http://schemas.microsoft.com/office/drawing/2014/main" id="{8E0904C0-2839-A7DF-5566-40DB1B142B0B}"/>
              </a:ext>
            </a:extLst>
          </p:cNvPr>
          <p:cNvPicPr>
            <a:picLocks noChangeAspect="1"/>
          </p:cNvPicPr>
          <p:nvPr userDrawn="1"/>
        </p:nvPicPr>
        <p:blipFill>
          <a:blip r:embed="rId2">
            <a:extLst>
              <a:ext uri="{28A0092B-C50C-407E-A947-70E740481C1C}">
                <a14:useLocalDpi xmlns:a14="http://schemas.microsoft.com/office/drawing/2010/main" val="0"/>
              </a:ext>
            </a:extLst>
          </a:blip>
          <a:srcRect l="14583" t="14834" r="14445" b="14834"/>
          <a:stretch>
            <a:fillRect/>
          </a:stretch>
        </p:blipFill>
        <p:spPr>
          <a:xfrm>
            <a:off x="2713" y="1309"/>
            <a:ext cx="898004" cy="889920"/>
          </a:xfrm>
          <a:prstGeom prst="rect">
            <a:avLst/>
          </a:prstGeom>
          <a:ln>
            <a:solidFill>
              <a:schemeClr val="bg1"/>
            </a:solidFill>
          </a:ln>
        </p:spPr>
      </p:pic>
      <p:sp>
        <p:nvSpPr>
          <p:cNvPr id="2" name="Titre 1"/>
          <p:cNvSpPr>
            <a:spLocks noGrp="1"/>
          </p:cNvSpPr>
          <p:nvPr>
            <p:ph type="title" hasCustomPrompt="1"/>
          </p:nvPr>
        </p:nvSpPr>
        <p:spPr>
          <a:xfrm>
            <a:off x="888022" y="0"/>
            <a:ext cx="11303977" cy="889920"/>
          </a:xfrm>
          <a:prstGeom prst="rect">
            <a:avLst/>
          </a:prstGeom>
          <a:solidFill>
            <a:schemeClr val="tx2"/>
          </a:solidFill>
          <a:ln>
            <a:solidFill>
              <a:schemeClr val="tx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39728874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5"/>
          </a:solidFill>
          <a:ln>
            <a:solidFill>
              <a:schemeClr val="accent5"/>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0535410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tx2"/>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1872198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4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accent4"/>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14835665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7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752298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5522284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613567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Visby CF" pitchFamily="50" charset="0"/>
              </a:rPr>
              <a:pPr algn="ctr"/>
              <a:t>‹N°›</a:t>
            </a:fld>
            <a:endParaRPr lang="fr-CA" sz="1200">
              <a:solidFill>
                <a:srgbClr val="003C71"/>
              </a:solidFill>
              <a:latin typeface="Visby CF" pitchFamily="50" charset="0"/>
            </a:endParaRPr>
          </a:p>
        </p:txBody>
      </p:sp>
      <p:sp>
        <p:nvSpPr>
          <p:cNvPr id="7" name="Rectangle 6">
            <a:extLst>
              <a:ext uri="{FF2B5EF4-FFF2-40B4-BE49-F238E27FC236}">
                <a16:creationId xmlns:a16="http://schemas.microsoft.com/office/drawing/2014/main" id="{C659D36B-EA26-D450-5622-4C9069AAC298}"/>
              </a:ext>
            </a:extLst>
          </p:cNvPr>
          <p:cNvSpPr/>
          <p:nvPr userDrawn="1"/>
        </p:nvSpPr>
        <p:spPr>
          <a:xfrm rot="5400000">
            <a:off x="10462333" y="511954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B4BBD810-0277-793C-EA97-93FAC7EB8040}"/>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4960842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16190808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4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2026-08-20</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383031" y="6061296"/>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0899211" y="6455575"/>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2049986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EBDD9D57-9370-83B4-9116-276A686DC0E2}"/>
              </a:ext>
            </a:extLst>
          </p:cNvPr>
          <p:cNvGrpSpPr/>
          <p:nvPr userDrawn="1"/>
        </p:nvGrpSpPr>
        <p:grpSpPr>
          <a:xfrm>
            <a:off x="831850" y="3686829"/>
            <a:ext cx="10521950" cy="900001"/>
            <a:chOff x="831850" y="3686829"/>
            <a:chExt cx="10521950"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5642825" y="-1124146"/>
              <a:ext cx="900000" cy="1052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3686830"/>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p:ph type="title"/>
          </p:nvPr>
        </p:nvSpPr>
        <p:spPr>
          <a:xfrm>
            <a:off x="1734502" y="1709738"/>
            <a:ext cx="9612948" cy="2852737"/>
          </a:xfrm>
          <a:prstGeom prst="rect">
            <a:avLst/>
          </a:prstGeom>
        </p:spPr>
        <p:txBody>
          <a:bodyPr anchor="b">
            <a:normAutofit/>
          </a:bodyPr>
          <a:lstStyle>
            <a:lvl1pPr>
              <a:defRPr sz="4800">
                <a:solidFill>
                  <a:schemeClr val="bg1"/>
                </a:solidFill>
                <a:latin typeface="Visby CF"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p:ph type="dt" sz="half" idx="10"/>
          </p:nvPr>
        </p:nvSpPr>
        <p:spPr/>
        <p:txBody>
          <a:bodyPr/>
          <a:lstStyle/>
          <a:p>
            <a:fld id="{C3FA3F56-1CBF-4B71-BCF0-9D49C229BC9E}" type="datetime1">
              <a:rPr lang="fr-CA" smtClean="0"/>
              <a:t>2026-08-20</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4011844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1_Titre de section">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E322D8C5-A4B1-D227-6B9A-DD26950FB037}"/>
              </a:ext>
            </a:extLst>
          </p:cNvPr>
          <p:cNvGrpSpPr/>
          <p:nvPr userDrawn="1"/>
        </p:nvGrpSpPr>
        <p:grpSpPr>
          <a:xfrm>
            <a:off x="831850" y="2410691"/>
            <a:ext cx="7478137" cy="900001"/>
            <a:chOff x="831850" y="2410691"/>
            <a:chExt cx="7478137"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4120919" y="-878378"/>
              <a:ext cx="900000" cy="74781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2410692"/>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userDrawn="1">
            <p:ph type="title" hasCustomPrompt="1"/>
          </p:nvPr>
        </p:nvSpPr>
        <p:spPr>
          <a:xfrm>
            <a:off x="1734502" y="433600"/>
            <a:ext cx="6575485" cy="2852737"/>
          </a:xfrm>
          <a:prstGeom prst="rect">
            <a:avLst/>
          </a:prstGeom>
        </p:spPr>
        <p:txBody>
          <a:bodyPr anchor="b">
            <a:normAutofit/>
          </a:bodyPr>
          <a:lstStyle>
            <a:lvl1pPr marL="180975" indent="0">
              <a:defRPr sz="4800">
                <a:solidFill>
                  <a:schemeClr val="bg1"/>
                </a:solidFill>
                <a:latin typeface="Visby CF" pitchFamily="50" charset="0"/>
              </a:defRPr>
            </a:lvl1pPr>
          </a:lstStyle>
          <a:p>
            <a:r>
              <a:rPr lang="fr-FR"/>
              <a:t>Modifiezle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userDrawn="1">
            <p:ph type="body" idx="1"/>
          </p:nvPr>
        </p:nvSpPr>
        <p:spPr>
          <a:xfrm>
            <a:off x="831850" y="3313325"/>
            <a:ext cx="7478137" cy="2775976"/>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userDrawn="1">
            <p:ph type="dt" sz="half" idx="10"/>
          </p:nvPr>
        </p:nvSpPr>
        <p:spPr/>
        <p:txBody>
          <a:bodyPr/>
          <a:lstStyle/>
          <a:p>
            <a:fld id="{C3FA3F56-1CBF-4B71-BCF0-9D49C229BC9E}" type="datetime1">
              <a:rPr lang="fr-CA" smtClean="0"/>
              <a:t>2026-08-20</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userDrawn="1">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userDrawn="1">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8747919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1554349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221028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47C7D-ED3A-4278-A72A-48345246A3BD}"/>
              </a:ext>
            </a:extLst>
          </p:cNvPr>
          <p:cNvSpPr>
            <a:spLocks noGrp="1"/>
          </p:cNvSpPr>
          <p:nvPr>
            <p:ph type="title"/>
          </p:nvPr>
        </p:nvSpPr>
        <p:spPr>
          <a:xfrm>
            <a:off x="839788"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0E886C2-319B-46B8-AEEA-C66D91E93C90}"/>
              </a:ext>
            </a:extLst>
          </p:cNvPr>
          <p:cNvSpPr>
            <a:spLocks noGrp="1"/>
          </p:cNvSpPr>
          <p:nvPr>
            <p:ph type="body" idx="1"/>
          </p:nvPr>
        </p:nvSpPr>
        <p:spPr>
          <a:xfrm>
            <a:off x="839788" y="1857375"/>
            <a:ext cx="5157787"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9913E5C-7FCE-4545-9F38-F46AC53B5A95}"/>
              </a:ext>
            </a:extLst>
          </p:cNvPr>
          <p:cNvSpPr>
            <a:spLocks noGrp="1"/>
          </p:cNvSpPr>
          <p:nvPr>
            <p:ph sz="half" idx="2"/>
          </p:nvPr>
        </p:nvSpPr>
        <p:spPr>
          <a:xfrm>
            <a:off x="839788" y="2505075"/>
            <a:ext cx="5157787"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D37AAED7-E9B6-48F2-A2E0-FEC8023F8903}"/>
              </a:ext>
            </a:extLst>
          </p:cNvPr>
          <p:cNvSpPr>
            <a:spLocks noGrp="1"/>
          </p:cNvSpPr>
          <p:nvPr>
            <p:ph type="body" sz="quarter" idx="3"/>
          </p:nvPr>
        </p:nvSpPr>
        <p:spPr>
          <a:xfrm>
            <a:off x="6172200" y="1857375"/>
            <a:ext cx="5183188"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ADA2E83-D189-4767-ADCE-540349D0EFFB}"/>
              </a:ext>
            </a:extLst>
          </p:cNvPr>
          <p:cNvSpPr>
            <a:spLocks noGrp="1"/>
          </p:cNvSpPr>
          <p:nvPr>
            <p:ph sz="quarter" idx="4"/>
          </p:nvPr>
        </p:nvSpPr>
        <p:spPr>
          <a:xfrm>
            <a:off x="6172200" y="2505075"/>
            <a:ext cx="5183188"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75C8475E-69CC-4760-BC4D-744440FA2650}"/>
              </a:ext>
            </a:extLst>
          </p:cNvPr>
          <p:cNvSpPr>
            <a:spLocks noGrp="1"/>
          </p:cNvSpPr>
          <p:nvPr>
            <p:ph type="dt" sz="half" idx="10"/>
          </p:nvPr>
        </p:nvSpPr>
        <p:spPr/>
        <p:txBody>
          <a:bodyPr/>
          <a:lstStyle/>
          <a:p>
            <a:fld id="{8729ED92-C0A7-4E10-8DD3-6743B6F44C7B}" type="datetime1">
              <a:rPr lang="fr-CA" smtClean="0"/>
              <a:t>2026-08-20</a:t>
            </a:fld>
            <a:endParaRPr lang="fr-CA"/>
          </a:p>
        </p:txBody>
      </p:sp>
      <p:sp>
        <p:nvSpPr>
          <p:cNvPr id="8" name="Espace réservé du pied de page 7">
            <a:extLst>
              <a:ext uri="{FF2B5EF4-FFF2-40B4-BE49-F238E27FC236}">
                <a16:creationId xmlns:a16="http://schemas.microsoft.com/office/drawing/2014/main" id="{68F30160-070B-4EFD-9E9E-BC0F83F6A72C}"/>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2F012686-7446-4AAB-A356-87A58A8AB069}"/>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11" name="Image 10">
            <a:extLst>
              <a:ext uri="{FF2B5EF4-FFF2-40B4-BE49-F238E27FC236}">
                <a16:creationId xmlns:a16="http://schemas.microsoft.com/office/drawing/2014/main" id="{EED67E66-1270-42BB-90A8-FC65102E805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grpSp>
        <p:nvGrpSpPr>
          <p:cNvPr id="13" name="Groupe 12">
            <a:extLst>
              <a:ext uri="{FF2B5EF4-FFF2-40B4-BE49-F238E27FC236}">
                <a16:creationId xmlns:a16="http://schemas.microsoft.com/office/drawing/2014/main" id="{3AC88339-9552-A25D-2921-A87AA4DFDD4B}"/>
              </a:ext>
            </a:extLst>
          </p:cNvPr>
          <p:cNvGrpSpPr/>
          <p:nvPr userDrawn="1"/>
        </p:nvGrpSpPr>
        <p:grpSpPr>
          <a:xfrm>
            <a:off x="838200" y="1709553"/>
            <a:ext cx="10533184" cy="108000"/>
            <a:chOff x="838200" y="1709553"/>
            <a:chExt cx="10533184" cy="108000"/>
          </a:xfrm>
        </p:grpSpPr>
        <p:sp>
          <p:nvSpPr>
            <p:cNvPr id="14" name="Rectangle 13">
              <a:extLst>
                <a:ext uri="{FF2B5EF4-FFF2-40B4-BE49-F238E27FC236}">
                  <a16:creationId xmlns:a16="http://schemas.microsoft.com/office/drawing/2014/main" id="{F0CF4B4C-BFD0-8C2A-2386-F412098246A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22B810E8-6C17-FB8B-D457-5256556C269D}"/>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6" name="Espace réservé du numéro de diapositive 5">
            <a:extLst>
              <a:ext uri="{FF2B5EF4-FFF2-40B4-BE49-F238E27FC236}">
                <a16:creationId xmlns:a16="http://schemas.microsoft.com/office/drawing/2014/main" id="{5D05A552-4479-6999-0E35-5C8EE1CCB186}"/>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25111168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54DEB8-4F5E-4AAE-A758-E30BDC47F471}"/>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e la date 2">
            <a:extLst>
              <a:ext uri="{FF2B5EF4-FFF2-40B4-BE49-F238E27FC236}">
                <a16:creationId xmlns:a16="http://schemas.microsoft.com/office/drawing/2014/main" id="{EA14BE86-3DA4-4ACC-9F51-02FE94A7B474}"/>
              </a:ext>
            </a:extLst>
          </p:cNvPr>
          <p:cNvSpPr>
            <a:spLocks noGrp="1"/>
          </p:cNvSpPr>
          <p:nvPr>
            <p:ph type="dt" sz="half" idx="10"/>
          </p:nvPr>
        </p:nvSpPr>
        <p:spPr/>
        <p:txBody>
          <a:bodyPr/>
          <a:lstStyle/>
          <a:p>
            <a:fld id="{3771101E-C5D6-48CB-B6D1-4E1641070EEB}" type="datetime1">
              <a:rPr lang="fr-CA" smtClean="0"/>
              <a:t>2026-08-20</a:t>
            </a:fld>
            <a:endParaRPr lang="fr-CA"/>
          </a:p>
        </p:txBody>
      </p:sp>
      <p:sp>
        <p:nvSpPr>
          <p:cNvPr id="4" name="Espace réservé du pied de page 3">
            <a:extLst>
              <a:ext uri="{FF2B5EF4-FFF2-40B4-BE49-F238E27FC236}">
                <a16:creationId xmlns:a16="http://schemas.microsoft.com/office/drawing/2014/main" id="{57E88ACB-9530-4D5B-BB1B-4CA0A7E92CC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8775DFD6-489D-42B5-9D6F-592A6E5D9E9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6" name="Rectangle 5">
            <a:extLst>
              <a:ext uri="{FF2B5EF4-FFF2-40B4-BE49-F238E27FC236}">
                <a16:creationId xmlns:a16="http://schemas.microsoft.com/office/drawing/2014/main" id="{F9C9CBCD-40E8-4EE8-B41F-8CB8DDB16B8C}"/>
              </a:ext>
            </a:extLst>
          </p:cNvPr>
          <p:cNvSpPr/>
          <p:nvPr userDrawn="1"/>
        </p:nvSpPr>
        <p:spPr>
          <a:xfrm>
            <a:off x="8527312" y="6517758"/>
            <a:ext cx="3664688" cy="340242"/>
          </a:xfrm>
          <a:prstGeom prst="rect">
            <a:avLst/>
          </a:prstGeom>
          <a:solidFill>
            <a:srgbClr val="888B8D"/>
          </a:solidFill>
          <a:ln>
            <a:solidFill>
              <a:srgbClr val="888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7" name="Image 6">
            <a:extLst>
              <a:ext uri="{FF2B5EF4-FFF2-40B4-BE49-F238E27FC236}">
                <a16:creationId xmlns:a16="http://schemas.microsoft.com/office/drawing/2014/main" id="{6A7B8A08-0129-4753-B49F-46CD5D78F6EF}"/>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8" name="Espace réservé du numéro de diapositive 5">
            <a:extLst>
              <a:ext uri="{FF2B5EF4-FFF2-40B4-BE49-F238E27FC236}">
                <a16:creationId xmlns:a16="http://schemas.microsoft.com/office/drawing/2014/main" id="{DAA6D7D7-2752-44C8-B867-BB292699DEE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chemeClr val="tx2"/>
                </a:solidFill>
                <a:latin typeface="Visby CF" pitchFamily="50" charset="0"/>
              </a:rPr>
              <a:pPr algn="ctr"/>
              <a:t>‹N°›</a:t>
            </a:fld>
            <a:endParaRPr lang="fr-CA" sz="1200">
              <a:solidFill>
                <a:schemeClr val="tx2"/>
              </a:solidFill>
              <a:latin typeface="Visby CF" pitchFamily="50" charset="0"/>
            </a:endParaRPr>
          </a:p>
        </p:txBody>
      </p:sp>
      <p:grpSp>
        <p:nvGrpSpPr>
          <p:cNvPr id="9" name="Groupe 8">
            <a:extLst>
              <a:ext uri="{FF2B5EF4-FFF2-40B4-BE49-F238E27FC236}">
                <a16:creationId xmlns:a16="http://schemas.microsoft.com/office/drawing/2014/main" id="{224B0C09-CC67-AFAA-5567-2D88140A4C21}"/>
              </a:ext>
            </a:extLst>
          </p:cNvPr>
          <p:cNvGrpSpPr/>
          <p:nvPr userDrawn="1"/>
        </p:nvGrpSpPr>
        <p:grpSpPr>
          <a:xfrm>
            <a:off x="838200" y="1709553"/>
            <a:ext cx="10533184" cy="108000"/>
            <a:chOff x="838200" y="1709553"/>
            <a:chExt cx="10533184" cy="108000"/>
          </a:xfrm>
        </p:grpSpPr>
        <p:sp>
          <p:nvSpPr>
            <p:cNvPr id="10" name="Rectangle 9">
              <a:extLst>
                <a:ext uri="{FF2B5EF4-FFF2-40B4-BE49-F238E27FC236}">
                  <a16:creationId xmlns:a16="http://schemas.microsoft.com/office/drawing/2014/main" id="{FA474C50-6FC7-1299-7A01-369B3B568D8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C0B80BA3-3EC3-7880-F6B1-940ABD8A8019}"/>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16294474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2026-08-20</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1078050772"/>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F51677-42BF-4FC2-8CE3-7E864674DBC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918D88F3-8BDC-4C17-8D4A-8F4C884C41A1}"/>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1E9FF7B-CFD3-4931-97F0-F095DB122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DC5A066-9CAF-4775-A347-FFE32DA2A5B4}"/>
              </a:ext>
            </a:extLst>
          </p:cNvPr>
          <p:cNvSpPr>
            <a:spLocks noGrp="1"/>
          </p:cNvSpPr>
          <p:nvPr>
            <p:ph type="dt" sz="half" idx="10"/>
          </p:nvPr>
        </p:nvSpPr>
        <p:spPr/>
        <p:txBody>
          <a:bodyPr/>
          <a:lstStyle/>
          <a:p>
            <a:fld id="{022B9842-C8FA-4217-AC08-028192B15B24}" type="datetime1">
              <a:rPr lang="fr-CA" smtClean="0"/>
              <a:t>2026-08-20</a:t>
            </a:fld>
            <a:endParaRPr lang="fr-CA"/>
          </a:p>
        </p:txBody>
      </p:sp>
      <p:sp>
        <p:nvSpPr>
          <p:cNvPr id="6" name="Espace réservé du pied de page 5">
            <a:extLst>
              <a:ext uri="{FF2B5EF4-FFF2-40B4-BE49-F238E27FC236}">
                <a16:creationId xmlns:a16="http://schemas.microsoft.com/office/drawing/2014/main" id="{BC62906C-320F-4B5D-9C84-4F2B8ACBF8E0}"/>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BA4ADDC-7251-4089-BAF1-3A0B93DD70F3}"/>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4B4DDD5A-DEA7-4CD1-8D7A-AF3A6B240B1C}"/>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AD89B3DA-2FAE-490D-A4FC-F4E4E1FC589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54C9F896-D6A0-4997-A045-99EB2D4FA30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4043599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9ECDF-A604-443E-8A4F-EA05FFF6F8D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E346E8B3-AC30-4A96-91CA-2F9478047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9FEFE5B-5101-4D36-9F68-ECDECB2D2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77E3281-5E78-4495-93B6-1C292584C287}"/>
              </a:ext>
            </a:extLst>
          </p:cNvPr>
          <p:cNvSpPr>
            <a:spLocks noGrp="1"/>
          </p:cNvSpPr>
          <p:nvPr>
            <p:ph type="dt" sz="half" idx="10"/>
          </p:nvPr>
        </p:nvSpPr>
        <p:spPr/>
        <p:txBody>
          <a:bodyPr/>
          <a:lstStyle/>
          <a:p>
            <a:fld id="{4E2CB3C4-D721-4A49-A7A3-5AED191ECCD4}" type="datetime1">
              <a:rPr lang="fr-CA" smtClean="0"/>
              <a:t>2026-08-20</a:t>
            </a:fld>
            <a:endParaRPr lang="fr-CA"/>
          </a:p>
        </p:txBody>
      </p:sp>
      <p:sp>
        <p:nvSpPr>
          <p:cNvPr id="6" name="Espace réservé du pied de page 5">
            <a:extLst>
              <a:ext uri="{FF2B5EF4-FFF2-40B4-BE49-F238E27FC236}">
                <a16:creationId xmlns:a16="http://schemas.microsoft.com/office/drawing/2014/main" id="{E16C1F57-F6DF-4568-B538-E0786700404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456E195-F0F6-4CCC-AF5E-D024B7D3D758}"/>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656C7529-1657-4E25-B7AA-C3903B6AE45F}"/>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C01413F5-9437-488A-B736-A631EF2529A1}"/>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C5FB3474-7D12-4CF4-9943-98EE47AE6F85}"/>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29401593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406E-95F4-499A-BBE9-B9D97B562C93}"/>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0A157FC-67D7-4281-A18E-62948D66A1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DBF626-1B08-4CB3-8602-7F9E2514A0EC}"/>
              </a:ext>
            </a:extLst>
          </p:cNvPr>
          <p:cNvSpPr>
            <a:spLocks noGrp="1"/>
          </p:cNvSpPr>
          <p:nvPr>
            <p:ph type="dt" sz="half" idx="10"/>
          </p:nvPr>
        </p:nvSpPr>
        <p:spPr/>
        <p:txBody>
          <a:bodyPr/>
          <a:lstStyle/>
          <a:p>
            <a:fld id="{A1068845-574F-4A39-9217-7572E8838CEC}" type="datetime1">
              <a:rPr lang="fr-CA" smtClean="0"/>
              <a:t>2026-08-20</a:t>
            </a:fld>
            <a:endParaRPr lang="fr-CA"/>
          </a:p>
        </p:txBody>
      </p:sp>
      <p:sp>
        <p:nvSpPr>
          <p:cNvPr id="5" name="Espace réservé du pied de page 4">
            <a:extLst>
              <a:ext uri="{FF2B5EF4-FFF2-40B4-BE49-F238E27FC236}">
                <a16:creationId xmlns:a16="http://schemas.microsoft.com/office/drawing/2014/main" id="{EB14F398-5C2F-49BD-8C4D-1D9D1EFD2A4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5D41BFF-3D7A-4FDC-A6A5-3948EE9DD4B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19615985-F4BD-4105-A719-4A8F90123318}"/>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D810BD40-0F11-40A6-ADA5-84CA00EBD8F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C05E0136-25C9-41F6-987D-BA6FA2D7937D}"/>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2109557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1446C12-A80C-412A-9A11-679AF22FF059}"/>
              </a:ext>
            </a:extLst>
          </p:cNvPr>
          <p:cNvSpPr>
            <a:spLocks noGrp="1"/>
          </p:cNvSpPr>
          <p:nvPr>
            <p:ph type="title" orient="vert"/>
          </p:nvPr>
        </p:nvSpPr>
        <p:spPr>
          <a:xfrm>
            <a:off x="8724900" y="365125"/>
            <a:ext cx="2628900" cy="5811838"/>
          </a:xfrm>
          <a:prstGeom prst="rect">
            <a:avLst/>
          </a:prstGeom>
        </p:spPr>
        <p:txBody>
          <a:bodyPr vert="eaVert"/>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D9A4679-A280-4B03-8A9F-E7D006F2D0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6596C72D-9CBF-4C48-B563-BC7D243ED56D}"/>
              </a:ext>
            </a:extLst>
          </p:cNvPr>
          <p:cNvSpPr>
            <a:spLocks noGrp="1"/>
          </p:cNvSpPr>
          <p:nvPr>
            <p:ph type="dt" sz="half" idx="10"/>
          </p:nvPr>
        </p:nvSpPr>
        <p:spPr/>
        <p:txBody>
          <a:bodyPr/>
          <a:lstStyle/>
          <a:p>
            <a:fld id="{09CBC5B7-CE7D-4A09-B93C-4EBB0CFF1E76}" type="datetime1">
              <a:rPr lang="fr-CA" smtClean="0"/>
              <a:t>2026-08-20</a:t>
            </a:fld>
            <a:endParaRPr lang="fr-CA"/>
          </a:p>
        </p:txBody>
      </p:sp>
      <p:sp>
        <p:nvSpPr>
          <p:cNvPr id="5" name="Espace réservé du pied de page 4">
            <a:extLst>
              <a:ext uri="{FF2B5EF4-FFF2-40B4-BE49-F238E27FC236}">
                <a16:creationId xmlns:a16="http://schemas.microsoft.com/office/drawing/2014/main" id="{480006D5-634E-4D99-A352-36C3A9A136C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7F633BE9-F50C-4F57-BAA6-3D8F730A69C7}"/>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D3C6842D-D75C-4675-BF79-E7AB15B5E720}"/>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FF97A3BA-7BFA-4CF2-BD72-D8589B5C6468}"/>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7C0059E3-14CD-433D-978F-883A1558973F}"/>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9873886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380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31CD24-C12F-731C-7F6F-BB3218CFB324}"/>
              </a:ext>
            </a:extLst>
          </p:cNvPr>
          <p:cNvSpPr/>
          <p:nvPr userDrawn="1">
            <p:custDataLst>
              <p:tags r:id="rId1"/>
            </p:custDataLst>
          </p:nvPr>
        </p:nvSpPr>
        <p:spPr>
          <a:xfrm rot="5400000">
            <a:off x="10408212" y="5479915"/>
            <a:ext cx="2269787" cy="486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E93C20F-61A3-A6C8-0181-89A4026E81E7}"/>
              </a:ext>
            </a:extLst>
          </p:cNvPr>
          <p:cNvSpPr/>
          <p:nvPr userDrawn="1">
            <p:custDataLst>
              <p:tags r:id="rId2"/>
            </p:custDataLst>
          </p:nvPr>
        </p:nvSpPr>
        <p:spPr>
          <a:xfrm>
            <a:off x="11300297" y="4588213"/>
            <a:ext cx="486000" cy="486383"/>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tx2">
                    <a:lumMod val="90000"/>
                    <a:lumOff val="10000"/>
                  </a:schemeClr>
                </a:solidFill>
                <a:effectLst/>
                <a:uLnTx/>
                <a:uFillTx/>
                <a:latin typeface="Visby Slab CF Bold" panose="00000800000000000000" pitchFamily="50" charset="0"/>
              </a:rPr>
              <a:t>1</a:t>
            </a:r>
          </a:p>
        </p:txBody>
      </p:sp>
      <p:sp>
        <p:nvSpPr>
          <p:cNvPr id="6" name="ZoneTexte 5">
            <a:extLst>
              <a:ext uri="{FF2B5EF4-FFF2-40B4-BE49-F238E27FC236}">
                <a16:creationId xmlns:a16="http://schemas.microsoft.com/office/drawing/2014/main" id="{6DA28613-0ED5-8AC4-820F-A78A51809E12}"/>
              </a:ext>
            </a:extLst>
          </p:cNvPr>
          <p:cNvSpPr txBox="1"/>
          <p:nvPr userDrawn="1">
            <p:custDataLst>
              <p:tags r:id="rId3"/>
            </p:custDataLst>
          </p:nvPr>
        </p:nvSpPr>
        <p:spPr>
          <a:xfrm rot="20159134">
            <a:off x="-282726" y="280794"/>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tx2">
                    <a:lumMod val="25000"/>
                    <a:lumOff val="75000"/>
                  </a:schemeClr>
                </a:solidFill>
                <a:latin typeface="Script MT Bold" panose="03040602040607080904" pitchFamily="66" charset="0"/>
                <a:cs typeface="Dreaming Outloud Script Pro" panose="03050502040304050704" pitchFamily="66" charset="0"/>
              </a:rPr>
              <a:t>objectifs</a:t>
            </a:r>
          </a:p>
        </p:txBody>
      </p:sp>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603695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theme" Target="../theme/theme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noFill/>
        </p:spPr>
        <p:txBody>
          <a:bodyPr vert="horz" lIns="91440" tIns="45720" rIns="91440" bIns="45720" rtlCol="0" anchor="ctr">
            <a:noAutofit/>
          </a:bodyPr>
          <a:lstStyle/>
          <a:p>
            <a:r>
              <a:rPr lang="fr-CA" noProof="0"/>
              <a:t>Cliquez pour modifier le style du titre</a:t>
            </a:r>
          </a:p>
        </p:txBody>
      </p:sp>
      <p:sp>
        <p:nvSpPr>
          <p:cNvPr id="3" name="Espace réservé du texte 2"/>
          <p:cNvSpPr>
            <a:spLocks noGrp="1"/>
          </p:cNvSpPr>
          <p:nvPr>
            <p:ph type="body" idx="1"/>
          </p:nvPr>
        </p:nvSpPr>
        <p:spPr>
          <a:xfrm>
            <a:off x="638400" y="1821452"/>
            <a:ext cx="10915200" cy="3897357"/>
          </a:xfrm>
          <a:prstGeom prst="rect">
            <a:avLst/>
          </a:prstGeom>
        </p:spPr>
        <p:txBody>
          <a:bodyPr vert="horz" lIns="91440" tIns="45720" rIns="91440" bIns="45720" rtlCol="0">
            <a:norm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Tree>
    <p:extLst>
      <p:ext uri="{BB962C8B-B14F-4D97-AF65-F5344CB8AC3E}">
        <p14:creationId xmlns:p14="http://schemas.microsoft.com/office/powerpoint/2010/main" val="32031120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09" r:id="rId7"/>
    <p:sldLayoutId id="2147483708" r:id="rId8"/>
    <p:sldLayoutId id="2147483667" r:id="rId9"/>
    <p:sldLayoutId id="2147483668" r:id="rId10"/>
    <p:sldLayoutId id="2147483670" r:id="rId11"/>
    <p:sldLayoutId id="2147483671" r:id="rId12"/>
    <p:sldLayoutId id="2147483672" r:id="rId13"/>
    <p:sldLayoutId id="2147483673" r:id="rId14"/>
  </p:sldLayoutIdLst>
  <p:hf hdr="0" ftr="0" dt="0"/>
  <p:txStyles>
    <p:titleStyle>
      <a:lvl1pPr algn="l" defTabSz="1097253" rtl="0" eaLnBrk="1" latinLnBrk="0" hangingPunct="1">
        <a:spcBef>
          <a:spcPct val="0"/>
        </a:spcBef>
        <a:buNone/>
        <a:defRPr sz="3120" b="1" i="0" kern="1200">
          <a:solidFill>
            <a:schemeClr val="accent2"/>
          </a:solidFill>
          <a:latin typeface="Visby Slab CF Demi Bold" pitchFamily="2" charset="77"/>
          <a:ea typeface="+mj-ea"/>
          <a:cs typeface="+mj-cs"/>
        </a:defRPr>
      </a:lvl1pPr>
    </p:titleStyle>
    <p:bodyStyle>
      <a:lvl1pPr marL="0" indent="0" algn="l" defTabSz="1097253" rtl="0" eaLnBrk="1" latinLnBrk="0" hangingPunct="1">
        <a:spcBef>
          <a:spcPct val="20000"/>
        </a:spcBef>
        <a:buClr>
          <a:schemeClr val="accent2"/>
        </a:buClr>
        <a:buSzPct val="125000"/>
        <a:buFont typeface="Arial" pitchFamily="34" charset="0"/>
        <a:buNone/>
        <a:defRPr sz="2004" b="0" i="0" kern="1200">
          <a:solidFill>
            <a:schemeClr val="tx1"/>
          </a:solidFill>
          <a:latin typeface="Visby CF" pitchFamily="2" charset="77"/>
          <a:ea typeface="+mn-ea"/>
          <a:cs typeface="+mn-cs"/>
        </a:defRPr>
      </a:lvl1pPr>
      <a:lvl2pPr marL="544306"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2pPr>
      <a:lvl3pPr marL="902857"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3pPr>
      <a:lvl4pPr marL="1257089"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4pPr>
      <a:lvl5pPr marL="1615640"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53" rtl="0" eaLnBrk="1" latinLnBrk="0" hangingPunct="1">
        <a:defRPr sz="2160" kern="1200">
          <a:solidFill>
            <a:schemeClr val="tx1"/>
          </a:solidFill>
          <a:latin typeface="+mn-lt"/>
          <a:ea typeface="+mn-ea"/>
          <a:cs typeface="+mn-cs"/>
        </a:defRPr>
      </a:lvl1pPr>
      <a:lvl2pPr marL="548626" algn="l" defTabSz="1097253" rtl="0" eaLnBrk="1" latinLnBrk="0" hangingPunct="1">
        <a:defRPr sz="2160" kern="1200">
          <a:solidFill>
            <a:schemeClr val="tx1"/>
          </a:solidFill>
          <a:latin typeface="+mn-lt"/>
          <a:ea typeface="+mn-ea"/>
          <a:cs typeface="+mn-cs"/>
        </a:defRPr>
      </a:lvl2pPr>
      <a:lvl3pPr marL="1097253" algn="l" defTabSz="1097253" rtl="0" eaLnBrk="1" latinLnBrk="0" hangingPunct="1">
        <a:defRPr sz="2160" kern="1200">
          <a:solidFill>
            <a:schemeClr val="tx1"/>
          </a:solidFill>
          <a:latin typeface="+mn-lt"/>
          <a:ea typeface="+mn-ea"/>
          <a:cs typeface="+mn-cs"/>
        </a:defRPr>
      </a:lvl3pPr>
      <a:lvl4pPr marL="1645879" algn="l" defTabSz="1097253" rtl="0" eaLnBrk="1" latinLnBrk="0" hangingPunct="1">
        <a:defRPr sz="2160" kern="1200">
          <a:solidFill>
            <a:schemeClr val="tx1"/>
          </a:solidFill>
          <a:latin typeface="+mn-lt"/>
          <a:ea typeface="+mn-ea"/>
          <a:cs typeface="+mn-cs"/>
        </a:defRPr>
      </a:lvl4pPr>
      <a:lvl5pPr marL="2194505" algn="l" defTabSz="1097253" rtl="0" eaLnBrk="1" latinLnBrk="0" hangingPunct="1">
        <a:defRPr sz="2160" kern="1200">
          <a:solidFill>
            <a:schemeClr val="tx1"/>
          </a:solidFill>
          <a:latin typeface="+mn-lt"/>
          <a:ea typeface="+mn-ea"/>
          <a:cs typeface="+mn-cs"/>
        </a:defRPr>
      </a:lvl5pPr>
      <a:lvl6pPr marL="2743131" algn="l" defTabSz="1097253" rtl="0" eaLnBrk="1" latinLnBrk="0" hangingPunct="1">
        <a:defRPr sz="2160" kern="1200">
          <a:solidFill>
            <a:schemeClr val="tx1"/>
          </a:solidFill>
          <a:latin typeface="+mn-lt"/>
          <a:ea typeface="+mn-ea"/>
          <a:cs typeface="+mn-cs"/>
        </a:defRPr>
      </a:lvl6pPr>
      <a:lvl7pPr marL="3291758" algn="l" defTabSz="1097253" rtl="0" eaLnBrk="1" latinLnBrk="0" hangingPunct="1">
        <a:defRPr sz="2160" kern="1200">
          <a:solidFill>
            <a:schemeClr val="tx1"/>
          </a:solidFill>
          <a:latin typeface="+mn-lt"/>
          <a:ea typeface="+mn-ea"/>
          <a:cs typeface="+mn-cs"/>
        </a:defRPr>
      </a:lvl7pPr>
      <a:lvl8pPr marL="3840384" algn="l" defTabSz="1097253" rtl="0" eaLnBrk="1" latinLnBrk="0" hangingPunct="1">
        <a:defRPr sz="2160" kern="1200">
          <a:solidFill>
            <a:schemeClr val="tx1"/>
          </a:solidFill>
          <a:latin typeface="+mn-lt"/>
          <a:ea typeface="+mn-ea"/>
          <a:cs typeface="+mn-cs"/>
        </a:defRPr>
      </a:lvl8pPr>
      <a:lvl9pPr marL="4389010" algn="l" defTabSz="1097253"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33FE462-E973-4630-85F5-AD42936CE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D377AAD-50B2-4339-8EAF-D393C19B01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75000"/>
                  </a:schemeClr>
                </a:solidFill>
                <a:latin typeface="Visby CF Light" pitchFamily="50" charset="0"/>
              </a:defRPr>
            </a:lvl1pPr>
          </a:lstStyle>
          <a:p>
            <a:fld id="{654C6E13-401B-4F3B-802C-5626CA646EED}" type="datetime1">
              <a:rPr lang="fr-CA" smtClean="0"/>
              <a:pPr/>
              <a:t>2026-08-20</a:t>
            </a:fld>
            <a:endParaRPr lang="fr-CA"/>
          </a:p>
        </p:txBody>
      </p:sp>
      <p:sp>
        <p:nvSpPr>
          <p:cNvPr id="5" name="Espace réservé du pied de page 4">
            <a:extLst>
              <a:ext uri="{FF2B5EF4-FFF2-40B4-BE49-F238E27FC236}">
                <a16:creationId xmlns:a16="http://schemas.microsoft.com/office/drawing/2014/main" id="{63DCBB9F-2F1C-41F3-B42D-E004B4DDBB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Visby CF Light" pitchFamily="50" charset="0"/>
              </a:defRPr>
            </a:lvl1pPr>
          </a:lstStyle>
          <a:p>
            <a:endParaRPr lang="fr-CA"/>
          </a:p>
        </p:txBody>
      </p:sp>
      <p:sp>
        <p:nvSpPr>
          <p:cNvPr id="6" name="Espace réservé du numéro de diapositive 5">
            <a:extLst>
              <a:ext uri="{FF2B5EF4-FFF2-40B4-BE49-F238E27FC236}">
                <a16:creationId xmlns:a16="http://schemas.microsoft.com/office/drawing/2014/main" id="{700AFECF-C337-4A3F-A262-15E07FB17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Visby CF Light" pitchFamily="50" charset="0"/>
              </a:defRPr>
            </a:lvl1pPr>
          </a:lstStyle>
          <a:p>
            <a:fld id="{4162AF1F-2696-4F34-A7F3-E326E3C5B51E}" type="slidenum">
              <a:rPr lang="fr-CA" smtClean="0"/>
              <a:pPr/>
              <a:t>‹N°›</a:t>
            </a:fld>
            <a:endParaRPr lang="fr-CA"/>
          </a:p>
        </p:txBody>
      </p:sp>
      <p:sp>
        <p:nvSpPr>
          <p:cNvPr id="2" name="Espace réservé du titre 1">
            <a:extLst>
              <a:ext uri="{FF2B5EF4-FFF2-40B4-BE49-F238E27FC236}">
                <a16:creationId xmlns:a16="http://schemas.microsoft.com/office/drawing/2014/main" id="{3B779E69-6F38-4172-8DD2-568BC0636901}"/>
              </a:ext>
            </a:extLst>
          </p:cNvPr>
          <p:cNvSpPr>
            <a:spLocks noGrp="1"/>
          </p:cNvSpPr>
          <p:nvPr>
            <p:ph type="title"/>
          </p:nvPr>
        </p:nvSpPr>
        <p:spPr>
          <a:xfrm>
            <a:off x="888022" y="18255"/>
            <a:ext cx="11303976" cy="871665"/>
          </a:xfrm>
          <a:prstGeom prst="rect">
            <a:avLst/>
          </a:prstGeom>
        </p:spPr>
        <p:txBody>
          <a:bodyPr vert="horz" lIns="91440" tIns="45720" rIns="91440" bIns="45720" rtlCol="0" anchor="ctr">
            <a:normAutofit/>
          </a:bodyPr>
          <a:lstStyle/>
          <a:p>
            <a:r>
              <a:rPr lang="fr-FR"/>
              <a:t>Modifiez le style du titre</a:t>
            </a:r>
            <a:endParaRPr lang="fr-CA"/>
          </a:p>
        </p:txBody>
      </p:sp>
    </p:spTree>
    <p:extLst>
      <p:ext uri="{BB962C8B-B14F-4D97-AF65-F5344CB8AC3E}">
        <p14:creationId xmlns:p14="http://schemas.microsoft.com/office/powerpoint/2010/main" val="237478724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706" r:id="rId7"/>
    <p:sldLayoutId id="2147483681" r:id="rId8"/>
    <p:sldLayoutId id="2147483682" r:id="rId9"/>
    <p:sldLayoutId id="2147483683" r:id="rId10"/>
    <p:sldLayoutId id="2147483684" r:id="rId11"/>
    <p:sldLayoutId id="2147483685" r:id="rId12"/>
    <p:sldLayoutId id="2147483710" r:id="rId13"/>
    <p:sldLayoutId id="2147483707" r:id="rId14"/>
    <p:sldLayoutId id="2147483686" r:id="rId15"/>
    <p:sldLayoutId id="2147483705"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 id="2147483696" r:id="rId26"/>
    <p:sldLayoutId id="2147483697" r:id="rId27"/>
    <p:sldLayoutId id="2147483698" r:id="rId28"/>
    <p:sldLayoutId id="2147483699" r:id="rId29"/>
    <p:sldLayoutId id="2147483700" r:id="rId30"/>
    <p:sldLayoutId id="2147483701" r:id="rId31"/>
    <p:sldLayoutId id="2147483702" r:id="rId32"/>
    <p:sldLayoutId id="2147483703" r:id="rId33"/>
    <p:sldLayoutId id="2147483704" r:id="rId34"/>
    <p:sldLayoutId id="2147483711" r:id="rId35"/>
  </p:sldLayoutIdLst>
  <p:hf hdr="0" ftr="0" dt="0"/>
  <p:txStyles>
    <p:titleStyle>
      <a:lvl1pPr marL="360363" indent="0" algn="l" defTabSz="914400" rtl="0" eaLnBrk="1" latinLnBrk="0" hangingPunct="1">
        <a:lnSpc>
          <a:spcPct val="90000"/>
        </a:lnSpc>
        <a:spcBef>
          <a:spcPct val="0"/>
        </a:spcBef>
        <a:buNone/>
        <a:tabLst/>
        <a:defRPr sz="3200" kern="1200">
          <a:solidFill>
            <a:schemeClr val="bg1"/>
          </a:solidFill>
          <a:latin typeface="Visby Slab CF Heavy" panose="00000A00000000000000" pitchFamily="50" charset="0"/>
          <a:ea typeface="+mj-ea"/>
          <a:cs typeface="+mj-cs"/>
        </a:defRPr>
      </a:lvl1pPr>
    </p:titleStyle>
    <p:body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7.xml"/><Relationship Id="rId7" Type="http://schemas.openxmlformats.org/officeDocument/2006/relationships/notesSlide" Target="../notesSlides/notesSlide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1.xml"/><Relationship Id="rId5" Type="http://schemas.openxmlformats.org/officeDocument/2006/relationships/tags" Target="../tags/tag19.xml"/><Relationship Id="rId4" Type="http://schemas.openxmlformats.org/officeDocument/2006/relationships/tags" Target="../tags/tag1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3.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10.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3.xml"/><Relationship Id="rId7" Type="http://schemas.openxmlformats.org/officeDocument/2006/relationships/image" Target="../media/image14.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3.svg"/><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1.xml"/><Relationship Id="rId1" Type="http://schemas.openxmlformats.org/officeDocument/2006/relationships/tags" Target="../tags/tag2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tags" Target="../tags/tag25.xml"/><Relationship Id="rId5" Type="http://schemas.openxmlformats.org/officeDocument/2006/relationships/image" Target="../media/image10.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26.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1.xml"/><Relationship Id="rId1" Type="http://schemas.openxmlformats.org/officeDocument/2006/relationships/tags" Target="../tags/tag27.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hyperlink" Target="https://haddock.hec.ca/audiovisuel/daip/imbr.cfm?idM=KSMwLytWQDRCQU86LAo__3"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7.xml"/><Relationship Id="rId1" Type="http://schemas.openxmlformats.org/officeDocument/2006/relationships/tags" Target="../tags/tag2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slideLayout" Target="../slideLayouts/slideLayout8.xml"/><Relationship Id="rId4" Type="http://schemas.openxmlformats.org/officeDocument/2006/relationships/tags" Target="../tags/tag32.xml"/></Relationships>
</file>

<file path=ppt/slides/_rels/slide12.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4.png"/><Relationship Id="rId5" Type="http://schemas.openxmlformats.org/officeDocument/2006/relationships/slideLayout" Target="../slideLayouts/slideLayout43.xml"/><Relationship Id="rId4" Type="http://schemas.openxmlformats.org/officeDocument/2006/relationships/tags" Target="../tags/tag3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49.xml"/><Relationship Id="rId1" Type="http://schemas.openxmlformats.org/officeDocument/2006/relationships/tags" Target="../tags/tag37.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40.xml"/><Relationship Id="rId7" Type="http://schemas.openxmlformats.org/officeDocument/2006/relationships/slideLayout" Target="../slideLayouts/slideLayout1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s/_rels/slide15.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notesSlide" Target="../notesSlides/notesSlide8.xml"/><Relationship Id="rId4"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0.png"/><Relationship Id="rId5" Type="http://schemas.openxmlformats.org/officeDocument/2006/relationships/notesSlide" Target="../notesSlides/notesSlide9.xml"/><Relationship Id="rId4"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0.png"/><Relationship Id="rId5" Type="http://schemas.openxmlformats.org/officeDocument/2006/relationships/notesSlide" Target="../notesSlides/notesSlide10.xml"/><Relationship Id="rId4"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0.png"/><Relationship Id="rId5" Type="http://schemas.openxmlformats.org/officeDocument/2006/relationships/notesSlide" Target="../notesSlides/notesSlide11.xml"/><Relationship Id="rId4"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5.xml"/><Relationship Id="rId1" Type="http://schemas.openxmlformats.org/officeDocument/2006/relationships/tags" Target="../tags/tag56.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diagramData" Target="../diagrams/data1.xml"/><Relationship Id="rId3" Type="http://schemas.openxmlformats.org/officeDocument/2006/relationships/tags" Target="../tags/tag59.xml"/><Relationship Id="rId21" Type="http://schemas.openxmlformats.org/officeDocument/2006/relationships/diagramColors" Target="../diagrams/colors1.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image" Target="../media/image10.png"/><Relationship Id="rId2" Type="http://schemas.openxmlformats.org/officeDocument/2006/relationships/tags" Target="../tags/tag58.xml"/><Relationship Id="rId16" Type="http://schemas.openxmlformats.org/officeDocument/2006/relationships/slideLayout" Target="../slideLayouts/slideLayout22.xml"/><Relationship Id="rId20" Type="http://schemas.openxmlformats.org/officeDocument/2006/relationships/diagramQuickStyle" Target="../diagrams/quickStyle1.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10" Type="http://schemas.openxmlformats.org/officeDocument/2006/relationships/tags" Target="../tags/tag66.xml"/><Relationship Id="rId19" Type="http://schemas.openxmlformats.org/officeDocument/2006/relationships/diagramLayout" Target="../diagrams/layout1.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microsoft.com/office/2007/relationships/diagramDrawing" Target="../diagrams/drawing1.xml"/></Relationships>
</file>

<file path=ppt/slides/_rels/slide21.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notesSlide" Target="../notesSlides/notesSlide12.xml"/><Relationship Id="rId5" Type="http://schemas.openxmlformats.org/officeDocument/2006/relationships/slideLayout" Target="../slideLayouts/slideLayout48.xml"/><Relationship Id="rId4" Type="http://schemas.openxmlformats.org/officeDocument/2006/relationships/tags" Target="../tags/tag75.xml"/></Relationships>
</file>

<file path=ppt/slides/_rels/slide22.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0.png"/><Relationship Id="rId5" Type="http://schemas.openxmlformats.org/officeDocument/2006/relationships/notesSlide" Target="../notesSlides/notesSlide13.xml"/><Relationship Id="rId4"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22.png"/><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21.sv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20.svg"/><Relationship Id="rId5" Type="http://schemas.openxmlformats.org/officeDocument/2006/relationships/tags" Target="../tags/tag83.xml"/><Relationship Id="rId15" Type="http://schemas.openxmlformats.org/officeDocument/2006/relationships/image" Target="../media/image23.svg"/><Relationship Id="rId10" Type="http://schemas.openxmlformats.org/officeDocument/2006/relationships/image" Target="../media/image19.svg"/><Relationship Id="rId4" Type="http://schemas.openxmlformats.org/officeDocument/2006/relationships/tags" Target="../tags/tag82.xml"/><Relationship Id="rId9" Type="http://schemas.openxmlformats.org/officeDocument/2006/relationships/notesSlide" Target="../notesSlides/notesSlide14.xml"/><Relationship Id="rId1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25.sv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0.png"/><Relationship Id="rId5" Type="http://schemas.openxmlformats.org/officeDocument/2006/relationships/tags" Target="../tags/tag90.xml"/><Relationship Id="rId10" Type="http://schemas.openxmlformats.org/officeDocument/2006/relationships/image" Target="../media/image24.svg"/><Relationship Id="rId4" Type="http://schemas.openxmlformats.org/officeDocument/2006/relationships/tags" Target="../tags/tag89.xml"/><Relationship Id="rId9"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3" Type="http://schemas.openxmlformats.org/officeDocument/2006/relationships/tags" Target="../tags/tag95.xml"/><Relationship Id="rId7" Type="http://schemas.openxmlformats.org/officeDocument/2006/relationships/image" Target="../media/image10.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notesSlide" Target="../notesSlides/notesSlide16.xml"/><Relationship Id="rId5" Type="http://schemas.openxmlformats.org/officeDocument/2006/relationships/slideLayout" Target="../slideLayouts/slideLayout22.xml"/><Relationship Id="rId4" Type="http://schemas.openxmlformats.org/officeDocument/2006/relationships/tags" Target="../tags/tag96.xml"/></Relationships>
</file>

<file path=ppt/slides/_rels/slide26.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notesSlide" Target="../notesSlides/notesSlide17.xml"/><Relationship Id="rId5" Type="http://schemas.openxmlformats.org/officeDocument/2006/relationships/slideLayout" Target="../slideLayouts/slideLayout48.xml"/><Relationship Id="rId4" Type="http://schemas.openxmlformats.org/officeDocument/2006/relationships/tags" Target="../tags/tag100.xml"/></Relationships>
</file>

<file path=ppt/slides/_rels/slide27.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5" Type="http://schemas.openxmlformats.org/officeDocument/2006/relationships/image" Target="../media/image10.png"/><Relationship Id="rId4"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105.xml"/><Relationship Id="rId1" Type="http://schemas.openxmlformats.org/officeDocument/2006/relationships/tags" Target="../tags/tag104.xml"/></Relationships>
</file>

<file path=ppt/slides/_rels/slide29.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diagramLayout" Target="../diagrams/layout2.xml"/><Relationship Id="rId18" Type="http://schemas.openxmlformats.org/officeDocument/2006/relationships/image" Target="../media/image27.png"/><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diagramData" Target="../diagrams/data2.xml"/><Relationship Id="rId17" Type="http://schemas.openxmlformats.org/officeDocument/2006/relationships/image" Target="../media/image26.png"/><Relationship Id="rId2" Type="http://schemas.openxmlformats.org/officeDocument/2006/relationships/tags" Target="../tags/tag107.xml"/><Relationship Id="rId16" Type="http://schemas.microsoft.com/office/2007/relationships/diagramDrawing" Target="../diagrams/drawing2.xml"/><Relationship Id="rId20" Type="http://schemas.openxmlformats.org/officeDocument/2006/relationships/image" Target="../media/image29.png"/><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notesSlide" Target="../notesSlides/notesSlide18.xml"/><Relationship Id="rId5" Type="http://schemas.openxmlformats.org/officeDocument/2006/relationships/tags" Target="../tags/tag110.xml"/><Relationship Id="rId15" Type="http://schemas.openxmlformats.org/officeDocument/2006/relationships/diagramColors" Target="../diagrams/colors2.xml"/><Relationship Id="rId10" Type="http://schemas.openxmlformats.org/officeDocument/2006/relationships/slideLayout" Target="../slideLayouts/slideLayout43.xml"/><Relationship Id="rId19" Type="http://schemas.openxmlformats.org/officeDocument/2006/relationships/image" Target="../media/image28.png"/><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8" Type="http://schemas.openxmlformats.org/officeDocument/2006/relationships/hyperlink" Target="https://www.hec.ca/etudiants/soutien-ressources/index.html" TargetMode="External"/><Relationship Id="rId3" Type="http://schemas.openxmlformats.org/officeDocument/2006/relationships/tags" Target="../tags/tag117.xml"/><Relationship Id="rId7" Type="http://schemas.openxmlformats.org/officeDocument/2006/relationships/hyperlink" Target="https://www.hec.ca/etudiants/nouvel-admis/guide/guide-nouvel-admis-baa.html" TargetMode="Externa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notesSlide" Target="../notesSlides/notesSlide19.xml"/><Relationship Id="rId5" Type="http://schemas.openxmlformats.org/officeDocument/2006/relationships/slideLayout" Target="../slideLayouts/slideLayout26.xml"/><Relationship Id="rId4" Type="http://schemas.openxmlformats.org/officeDocument/2006/relationships/tags" Target="../tags/tag118.xml"/><Relationship Id="rId9"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10.png"/><Relationship Id="rId4"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image" Target="../media/image10.png"/><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notesSlide" Target="../notesSlides/notesSlide20.xml"/><Relationship Id="rId5" Type="http://schemas.openxmlformats.org/officeDocument/2006/relationships/slideLayout" Target="../slideLayouts/slideLayout26.xml"/><Relationship Id="rId4" Type="http://schemas.openxmlformats.org/officeDocument/2006/relationships/tags" Target="../tags/tag125.xml"/></Relationships>
</file>

<file path=ppt/slides/_rels/slide33.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0.png"/><Relationship Id="rId5" Type="http://schemas.openxmlformats.org/officeDocument/2006/relationships/notesSlide" Target="../notesSlides/notesSlide21.xml"/><Relationship Id="rId4"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image" Target="../media/image10.png"/><Relationship Id="rId4"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133.xml"/><Relationship Id="rId1" Type="http://schemas.openxmlformats.org/officeDocument/2006/relationships/tags" Target="../tags/tag132.xml"/></Relationships>
</file>

<file path=ppt/slides/_rels/slide36.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10.png"/><Relationship Id="rId4"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39.xml"/><Relationship Id="rId7" Type="http://schemas.openxmlformats.org/officeDocument/2006/relationships/image" Target="../media/image30.png"/><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notesSlide" Target="../notesSlides/notesSlide22.xml"/><Relationship Id="rId5" Type="http://schemas.openxmlformats.org/officeDocument/2006/relationships/slideLayout" Target="../slideLayouts/slideLayout26.xml"/><Relationship Id="rId4" Type="http://schemas.openxmlformats.org/officeDocument/2006/relationships/tags" Target="../tags/tag140.xml"/></Relationships>
</file>

<file path=ppt/slides/_rels/slide38.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notesSlide" Target="../notesSlides/notesSlide23.xml"/><Relationship Id="rId5" Type="http://schemas.openxmlformats.org/officeDocument/2006/relationships/slideLayout" Target="../slideLayouts/slideLayout48.xml"/><Relationship Id="rId4" Type="http://schemas.openxmlformats.org/officeDocument/2006/relationships/tags" Target="../tags/tag144.xml"/></Relationships>
</file>

<file path=ppt/slides/_rels/slide39.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image" Target="../media/image31.png"/><Relationship Id="rId5" Type="http://schemas.openxmlformats.org/officeDocument/2006/relationships/notesSlide" Target="../notesSlides/notesSlide24.xml"/><Relationship Id="rId4"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10.png"/><Relationship Id="rId4" Type="http://schemas.openxmlformats.org/officeDocument/2006/relationships/image" Target="../media/image32.svg"/></Relationships>
</file>

<file path=ppt/slides/_rels/slide4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tags" Target="../tags/tag152.xml"/><Relationship Id="rId7" Type="http://schemas.openxmlformats.org/officeDocument/2006/relationships/image" Target="../media/image10.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notesSlide" Target="../notesSlides/notesSlide25.xml"/><Relationship Id="rId5" Type="http://schemas.openxmlformats.org/officeDocument/2006/relationships/slideLayout" Target="../slideLayouts/slideLayout23.xml"/><Relationship Id="rId4" Type="http://schemas.openxmlformats.org/officeDocument/2006/relationships/tags" Target="../tags/tag153.xml"/></Relationships>
</file>

<file path=ppt/slides/_rels/slide42.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notesSlide" Target="../notesSlides/notesSlide26.xml"/><Relationship Id="rId5" Type="http://schemas.openxmlformats.org/officeDocument/2006/relationships/slideLayout" Target="../slideLayouts/slideLayout48.xml"/><Relationship Id="rId4" Type="http://schemas.openxmlformats.org/officeDocument/2006/relationships/tags" Target="../tags/tag157.xml"/></Relationships>
</file>

<file path=ppt/slides/_rels/slide43.xml.rels><?xml version="1.0" encoding="UTF-8" standalone="yes"?>
<Relationships xmlns="http://schemas.openxmlformats.org/package/2006/relationships"><Relationship Id="rId3" Type="http://schemas.openxmlformats.org/officeDocument/2006/relationships/tags" Target="../tags/tag160.xml"/><Relationship Id="rId7" Type="http://schemas.openxmlformats.org/officeDocument/2006/relationships/image" Target="../media/image10.pn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notesSlide" Target="../notesSlides/notesSlide27.xml"/><Relationship Id="rId5" Type="http://schemas.openxmlformats.org/officeDocument/2006/relationships/slideLayout" Target="../slideLayouts/slideLayout28.xml"/><Relationship Id="rId4" Type="http://schemas.openxmlformats.org/officeDocument/2006/relationships/tags" Target="../tags/tag161.xml"/></Relationships>
</file>

<file path=ppt/slides/_rels/slide44.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0.png"/><Relationship Id="rId4"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33.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hyperlink" Target="https://shorturl.at/tyRBn" TargetMode="External"/><Relationship Id="rId5" Type="http://schemas.openxmlformats.org/officeDocument/2006/relationships/image" Target="../media/image10.png"/><Relationship Id="rId4" Type="http://schemas.openxmlformats.org/officeDocument/2006/relationships/notesSlide" Target="../notesSlides/notesSlide28.xml"/></Relationships>
</file>

<file path=ppt/slides/_rels/slide4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69.xml"/><Relationship Id="rId7" Type="http://schemas.openxmlformats.org/officeDocument/2006/relationships/hyperlink" Target="https://www.softr.io/" TargetMode="Externa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hyperlink" Target="https://www.airtable.com/" TargetMode="External"/><Relationship Id="rId5" Type="http://schemas.openxmlformats.org/officeDocument/2006/relationships/notesSlide" Target="../notesSlides/notesSlide29.xml"/><Relationship Id="rId4"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CCD87F7-71BA-613A-1F27-C4655D256487}"/>
              </a:ext>
            </a:extLst>
          </p:cNvPr>
          <p:cNvSpPr>
            <a:spLocks noGrp="1"/>
          </p:cNvSpPr>
          <p:nvPr>
            <p:ph type="title"/>
            <p:custDataLst>
              <p:tags r:id="rId1"/>
            </p:custDataLst>
          </p:nvPr>
        </p:nvSpPr>
        <p:spPr>
          <a:xfrm>
            <a:off x="367238" y="2679397"/>
            <a:ext cx="6148811" cy="1565491"/>
          </a:xfrm>
          <a:noFill/>
        </p:spPr>
        <p:txBody>
          <a:bodyPr/>
          <a:lstStyle/>
          <a:p>
            <a:r>
              <a:rPr lang="fr-CA" sz="3200">
                <a:solidFill>
                  <a:schemeClr val="bg1"/>
                </a:solidFill>
              </a:rPr>
              <a:t>Mobiliser les</a:t>
            </a:r>
            <a:br>
              <a:rPr lang="fr-CA" sz="3200">
                <a:solidFill>
                  <a:schemeClr val="bg1"/>
                </a:solidFill>
              </a:rPr>
            </a:br>
            <a:r>
              <a:rPr lang="fr-CA" sz="3200">
                <a:solidFill>
                  <a:schemeClr val="bg1"/>
                </a:solidFill>
              </a:rPr>
              <a:t>technologies numériques	</a:t>
            </a:r>
          </a:p>
        </p:txBody>
      </p:sp>
      <p:sp>
        <p:nvSpPr>
          <p:cNvPr id="9" name="Espace réservé du texte 8">
            <a:extLst>
              <a:ext uri="{FF2B5EF4-FFF2-40B4-BE49-F238E27FC236}">
                <a16:creationId xmlns:a16="http://schemas.microsoft.com/office/drawing/2014/main" id="{97A85CEF-B5A7-E1DA-683E-8BB20CA9FFD8}"/>
              </a:ext>
            </a:extLst>
          </p:cNvPr>
          <p:cNvSpPr>
            <a:spLocks noGrp="1"/>
          </p:cNvSpPr>
          <p:nvPr>
            <p:ph type="body" sz="quarter" idx="11"/>
            <p:custDataLst>
              <p:tags r:id="rId2"/>
            </p:custDataLst>
          </p:nvPr>
        </p:nvSpPr>
        <p:spPr>
          <a:xfrm>
            <a:off x="374538" y="4244888"/>
            <a:ext cx="2906545" cy="2317278"/>
          </a:xfrm>
        </p:spPr>
        <p:txBody>
          <a:bodyPr/>
          <a:lstStyle/>
          <a:p>
            <a:r>
              <a:rPr lang="fr-CA">
                <a:solidFill>
                  <a:schemeClr val="tx2"/>
                </a:solidFill>
              </a:rPr>
              <a:t>TECH 10701</a:t>
            </a:r>
          </a:p>
          <a:p>
            <a:endParaRPr lang="fr-CA">
              <a:solidFill>
                <a:schemeClr val="tx2"/>
              </a:solidFill>
            </a:endParaRPr>
          </a:p>
          <a:p>
            <a:r>
              <a:rPr lang="fr-CA" sz="2133">
                <a:solidFill>
                  <a:schemeClr val="tx2"/>
                </a:solidFill>
                <a:latin typeface="Visby CF" pitchFamily="50" charset="0"/>
              </a:rPr>
              <a:t>Présenté par</a:t>
            </a:r>
            <a:br>
              <a:rPr lang="fr-CA" sz="2133">
                <a:solidFill>
                  <a:schemeClr val="tx2"/>
                </a:solidFill>
                <a:latin typeface="Visby CF" pitchFamily="50" charset="0"/>
              </a:rPr>
            </a:br>
            <a:r>
              <a:rPr lang="fr-CA" sz="2133">
                <a:solidFill>
                  <a:schemeClr val="tx2"/>
                </a:solidFill>
              </a:rPr>
              <a:t>Marie-Claude Trudel</a:t>
            </a:r>
          </a:p>
        </p:txBody>
      </p:sp>
    </p:spTree>
    <p:extLst>
      <p:ext uri="{BB962C8B-B14F-4D97-AF65-F5344CB8AC3E}">
        <p14:creationId xmlns:p14="http://schemas.microsoft.com/office/powerpoint/2010/main" val="258327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F50D16A-E1FF-B584-F23A-0A714C26ACE2}"/>
              </a:ext>
            </a:extLst>
          </p:cNvPr>
          <p:cNvSpPr txBox="1"/>
          <p:nvPr>
            <p:custDataLst>
              <p:tags r:id="rId1"/>
            </p:custDataLst>
          </p:nvPr>
        </p:nvSpPr>
        <p:spPr>
          <a:xfrm>
            <a:off x="510485" y="164008"/>
            <a:ext cx="8905002" cy="1200329"/>
          </a:xfrm>
          <a:prstGeom prst="rect">
            <a:avLst/>
          </a:prstGeom>
          <a:noFill/>
        </p:spPr>
        <p:txBody>
          <a:bodyPr wrap="none" rtlCol="0">
            <a:spAutoFit/>
          </a:bodyPr>
          <a:lstStyle/>
          <a:p>
            <a:r>
              <a:rPr lang="fr-CA" sz="7200" b="1">
                <a:solidFill>
                  <a:schemeClr val="tx2"/>
                </a:solidFill>
                <a:latin typeface="JetBrains Mono NL" panose="02000009000000000000" pitchFamily="49" charset="0"/>
                <a:ea typeface="JetBrains Mono NL" panose="02000009000000000000" pitchFamily="49" charset="0"/>
                <a:cs typeface="JetBrains Mono NL" panose="02000009000000000000" pitchFamily="49" charset="0"/>
              </a:rPr>
              <a:t>s01.91_d1V0c.pdm</a:t>
            </a:r>
          </a:p>
        </p:txBody>
      </p:sp>
      <p:sp>
        <p:nvSpPr>
          <p:cNvPr id="4" name="Rectangle 3">
            <a:extLst>
              <a:ext uri="{FF2B5EF4-FFF2-40B4-BE49-F238E27FC236}">
                <a16:creationId xmlns:a16="http://schemas.microsoft.com/office/drawing/2014/main" id="{7605F4C9-2168-8A59-7014-A80BC39D53DB}"/>
              </a:ext>
            </a:extLst>
          </p:cNvPr>
          <p:cNvSpPr/>
          <p:nvPr>
            <p:custDataLst>
              <p:tags r:id="rId2"/>
            </p:custDataLst>
          </p:nvPr>
        </p:nvSpPr>
        <p:spPr>
          <a:xfrm>
            <a:off x="9294560" y="240582"/>
            <a:ext cx="556181" cy="857839"/>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a:extLst>
              <a:ext uri="{FF2B5EF4-FFF2-40B4-BE49-F238E27FC236}">
                <a16:creationId xmlns:a16="http://schemas.microsoft.com/office/drawing/2014/main" id="{FD24A3F8-333A-0F93-6D71-D1AD937A7186}"/>
              </a:ext>
            </a:extLst>
          </p:cNvPr>
          <p:cNvSpPr/>
          <p:nvPr>
            <p:custDataLst>
              <p:tags r:id="rId3"/>
            </p:custDataLst>
          </p:nvPr>
        </p:nvSpPr>
        <p:spPr>
          <a:xfrm>
            <a:off x="538764" y="228231"/>
            <a:ext cx="556181" cy="857839"/>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1" name="Image 10" descr="Une image contenant Police, Graphique, capture d’écran, graphisme&#10;&#10;Description générée automatiquement">
            <a:extLst>
              <a:ext uri="{FF2B5EF4-FFF2-40B4-BE49-F238E27FC236}">
                <a16:creationId xmlns:a16="http://schemas.microsoft.com/office/drawing/2014/main" id="{84A65E8C-5838-EBFA-0C41-65EF009CD706}"/>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13" name="Espace réservé du contenu 12">
            <a:extLst>
              <a:ext uri="{FF2B5EF4-FFF2-40B4-BE49-F238E27FC236}">
                <a16:creationId xmlns:a16="http://schemas.microsoft.com/office/drawing/2014/main" id="{8B1C5220-BC39-795D-9EF1-C4D6E89E44BA}"/>
              </a:ext>
            </a:extLst>
          </p:cNvPr>
          <p:cNvSpPr>
            <a:spLocks noGrp="1"/>
          </p:cNvSpPr>
          <p:nvPr>
            <p:ph idx="1"/>
            <p:custDataLst>
              <p:tags r:id="rId5"/>
            </p:custDataLst>
          </p:nvPr>
        </p:nvSpPr>
        <p:spPr>
          <a:xfrm>
            <a:off x="224640" y="1364336"/>
            <a:ext cx="11767680" cy="5332855"/>
          </a:xfrm>
        </p:spPr>
        <p:txBody>
          <a:bodyPr>
            <a:normAutofit/>
          </a:bodyPr>
          <a:lstStyle/>
          <a:p>
            <a:r>
              <a:rPr lang="fr-CA" dirty="0"/>
              <a:t>Comment/avec quoi vous êtes-vous réveillés?</a:t>
            </a:r>
          </a:p>
          <a:p>
            <a:pPr lvl="1"/>
            <a:r>
              <a:rPr lang="fr-CA" dirty="0"/>
              <a:t>Avez-vous demandé la météo à Alexa, Siri, Google ou un autre assistant personnel?</a:t>
            </a:r>
          </a:p>
          <a:p>
            <a:r>
              <a:rPr lang="fr-CA" dirty="0"/>
              <a:t>Avez-vous regardé vos médias sociaux?</a:t>
            </a:r>
          </a:p>
          <a:p>
            <a:r>
              <a:rPr lang="fr-CA" dirty="0"/>
              <a:t>Comment vous êtes-vous déplacés pour venir jusqu’à HEC?</a:t>
            </a:r>
          </a:p>
          <a:p>
            <a:pPr lvl="1"/>
            <a:r>
              <a:rPr lang="fr-CA" dirty="0"/>
              <a:t>En transport en commun, comment avez-vous payé?</a:t>
            </a:r>
          </a:p>
          <a:p>
            <a:pPr lvl="2"/>
            <a:r>
              <a:rPr lang="fr-CA" dirty="0"/>
              <a:t>Avez-vous eu besoin de Transit/Chrono?</a:t>
            </a:r>
          </a:p>
          <a:p>
            <a:pPr lvl="1"/>
            <a:r>
              <a:rPr lang="fr-CA" dirty="0"/>
              <a:t>En voiture, avez-vous eu besoin de Waze ou une autre aide à la navigation?</a:t>
            </a:r>
          </a:p>
          <a:p>
            <a:pPr lvl="2"/>
            <a:r>
              <a:rPr lang="fr-CA" dirty="0"/>
              <a:t>Avez-vous eu besoin d’acheter de l’essence ou de vous brancher à une borne électrique?</a:t>
            </a:r>
          </a:p>
          <a:p>
            <a:r>
              <a:rPr lang="fr-CA" dirty="0"/>
              <a:t>Vous êtes-vous arrêtés acheter un café ou à déjeuner?</a:t>
            </a:r>
          </a:p>
          <a:p>
            <a:r>
              <a:rPr lang="fr-CA" dirty="0"/>
              <a:t>Connaissiez-vous déjà la salle où se donnait le cours?</a:t>
            </a:r>
          </a:p>
        </p:txBody>
      </p:sp>
    </p:spTree>
    <p:extLst>
      <p:ext uri="{BB962C8B-B14F-4D97-AF65-F5344CB8AC3E}">
        <p14:creationId xmlns:p14="http://schemas.microsoft.com/office/powerpoint/2010/main" val="225488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5"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35" presetClass="emph" presetSubtype="0" fill="hold" grpId="0" nodeType="afterEffect">
                                  <p:stCondLst>
                                    <p:cond delay="0"/>
                                  </p:stCondLst>
                                  <p:childTnLst>
                                    <p:anim calcmode="discrete" valueType="str">
                                      <p:cBhvr>
                                        <p:cTn id="9"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0" fill="hold">
                            <p:stCondLst>
                              <p:cond delay="1000"/>
                            </p:stCondLst>
                            <p:childTnLst>
                              <p:par>
                                <p:cTn id="11" presetID="35" presetClass="emph" presetSubtype="0" fill="hold" grpId="1" nodeType="afterEffect">
                                  <p:stCondLst>
                                    <p:cond delay="0"/>
                                  </p:stCondLst>
                                  <p:childTnLst>
                                    <p:anim calcmode="discrete" valueType="str">
                                      <p:cBhvr>
                                        <p:cTn id="12"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3" fill="hold">
                            <p:stCondLst>
                              <p:cond delay="2000"/>
                            </p:stCondLst>
                            <p:childTnLst>
                              <p:par>
                                <p:cTn id="14" presetID="35" presetClass="emph" presetSubtype="0" fill="hold" grpId="2" nodeType="afterEffect">
                                  <p:stCondLst>
                                    <p:cond delay="0"/>
                                  </p:stCondLst>
                                  <p:childTnLst>
                                    <p:anim calcmode="discrete" valueType="str">
                                      <p:cBhvr>
                                        <p:cTn id="15"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6" fill="hold">
                            <p:stCondLst>
                              <p:cond delay="3000"/>
                            </p:stCondLst>
                            <p:childTnLst>
                              <p:par>
                                <p:cTn id="17" presetID="35" presetClass="emph" presetSubtype="0" fill="hold" grpId="3" nodeType="afterEffect">
                                  <p:stCondLst>
                                    <p:cond delay="0"/>
                                  </p:stCondLst>
                                  <p:childTnLst>
                                    <p:anim calcmode="discrete" valueType="str">
                                      <p:cBhvr>
                                        <p:cTn id="18"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9" fill="hold">
                            <p:stCondLst>
                              <p:cond delay="4000"/>
                            </p:stCondLst>
                            <p:childTnLst>
                              <p:par>
                                <p:cTn id="20" presetID="35" presetClass="emph" presetSubtype="0" fill="hold" grpId="4" nodeType="afterEffect">
                                  <p:stCondLst>
                                    <p:cond delay="0"/>
                                  </p:stCondLst>
                                  <p:childTnLst>
                                    <p:anim calcmode="discrete" valueType="str">
                                      <p:cBhvr>
                                        <p:cTn id="21" dur="1000" fill="hold"/>
                                        <p:tgtEl>
                                          <p:spTgt spid="9"/>
                                        </p:tgtEl>
                                        <p:attrNameLst>
                                          <p:attrName>style.visibility</p:attrName>
                                        </p:attrNameLst>
                                      </p:cBhvr>
                                      <p:tavLst>
                                        <p:tav tm="0">
                                          <p:val>
                                            <p:strVal val="hidden"/>
                                          </p:val>
                                        </p:tav>
                                        <p:tav tm="50000">
                                          <p:val>
                                            <p:strVal val="visible"/>
                                          </p:val>
                                        </p:tav>
                                      </p:tavLst>
                                    </p:anim>
                                  </p:childTnLst>
                                </p:cTn>
                              </p:par>
                            </p:childTnLst>
                          </p:cTn>
                        </p:par>
                        <p:par>
                          <p:cTn id="22" fill="hold">
                            <p:stCondLst>
                              <p:cond delay="5000"/>
                            </p:stCondLst>
                            <p:childTnLst>
                              <p:par>
                                <p:cTn id="23" presetID="1" presetClass="exit" presetSubtype="0" fill="hold" grpId="6" nodeType="after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par>
                          <p:cTn id="25" fill="hold">
                            <p:stCondLst>
                              <p:cond delay="5000"/>
                            </p:stCondLst>
                            <p:childTnLst>
                              <p:par>
                                <p:cTn id="26" presetID="1" presetClass="entr" presetSubtype="0" fill="hold" grpId="0" nodeType="afterEffect">
                                  <p:stCondLst>
                                    <p:cond delay="0"/>
                                  </p:stCondLst>
                                  <p:iterate type="lt">
                                    <p:tmAbs val="100"/>
                                  </p:iterate>
                                  <p:childTnLst>
                                    <p:set>
                                      <p:cBhvr>
                                        <p:cTn id="27" dur="1" fill="hold">
                                          <p:stCondLst>
                                            <p:cond delay="0"/>
                                          </p:stCondLst>
                                        </p:cTn>
                                        <p:tgtEl>
                                          <p:spTgt spid="3"/>
                                        </p:tgtEl>
                                        <p:attrNameLst>
                                          <p:attrName>style.visibility</p:attrName>
                                        </p:attrNameLst>
                                      </p:cBhvr>
                                      <p:to>
                                        <p:strVal val="visible"/>
                                      </p:to>
                                    </p:set>
                                  </p:childTnLst>
                                </p:cTn>
                              </p:par>
                            </p:childTnLst>
                          </p:cTn>
                        </p:par>
                        <p:par>
                          <p:cTn id="28" fill="hold">
                            <p:stCondLst>
                              <p:cond delay="6501"/>
                            </p:stCondLst>
                            <p:childTnLst>
                              <p:par>
                                <p:cTn id="29" presetID="1" presetClass="entr" presetSubtype="0" fill="hold" grpId="5" nodeType="after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par>
                          <p:cTn id="31" fill="hold">
                            <p:stCondLst>
                              <p:cond delay="6501"/>
                            </p:stCondLst>
                            <p:childTnLst>
                              <p:par>
                                <p:cTn id="32" presetID="35" presetClass="emph" presetSubtype="0" fill="hold" grpId="0" nodeType="afterEffect">
                                  <p:stCondLst>
                                    <p:cond delay="0"/>
                                  </p:stCondLst>
                                  <p:childTnLst>
                                    <p:anim calcmode="discrete" valueType="str">
                                      <p:cBhvr>
                                        <p:cTn id="33" dur="1000" fill="hold"/>
                                        <p:tgtEl>
                                          <p:spTgt spid="4"/>
                                        </p:tgtEl>
                                        <p:attrNameLst>
                                          <p:attrName>style.visibility</p:attrName>
                                        </p:attrNameLst>
                                      </p:cBhvr>
                                      <p:tavLst>
                                        <p:tav tm="0">
                                          <p:val>
                                            <p:strVal val="hidden"/>
                                          </p:val>
                                        </p:tav>
                                        <p:tav tm="50000">
                                          <p:val>
                                            <p:strVal val="visible"/>
                                          </p:val>
                                        </p:tav>
                                      </p:tavLst>
                                    </p:anim>
                                  </p:childTnLst>
                                </p:cTn>
                              </p:par>
                            </p:childTnLst>
                          </p:cTn>
                        </p:par>
                        <p:par>
                          <p:cTn id="34" fill="hold">
                            <p:stCondLst>
                              <p:cond delay="7501"/>
                            </p:stCondLst>
                            <p:childTnLst>
                              <p:par>
                                <p:cTn id="35" presetID="35" presetClass="emph" presetSubtype="0" fill="hold" grpId="1" nodeType="afterEffect">
                                  <p:stCondLst>
                                    <p:cond delay="0"/>
                                  </p:stCondLst>
                                  <p:childTnLst>
                                    <p:anim calcmode="discrete" valueType="str">
                                      <p:cBhvr>
                                        <p:cTn id="36" dur="1000" fill="hold"/>
                                        <p:tgtEl>
                                          <p:spTgt spid="4"/>
                                        </p:tgtEl>
                                        <p:attrNameLst>
                                          <p:attrName>style.visibility</p:attrName>
                                        </p:attrNameLst>
                                      </p:cBhvr>
                                      <p:tavLst>
                                        <p:tav tm="0">
                                          <p:val>
                                            <p:strVal val="hidden"/>
                                          </p:val>
                                        </p:tav>
                                        <p:tav tm="50000">
                                          <p:val>
                                            <p:strVal val="visible"/>
                                          </p:val>
                                        </p:tav>
                                      </p:tavLst>
                                    </p:anim>
                                  </p:childTnLst>
                                </p:cTn>
                              </p:par>
                            </p:childTnLst>
                          </p:cTn>
                        </p:par>
                        <p:par>
                          <p:cTn id="37" fill="hold">
                            <p:stCondLst>
                              <p:cond delay="8501"/>
                            </p:stCondLst>
                            <p:childTnLst>
                              <p:par>
                                <p:cTn id="38" presetID="35" presetClass="emph" presetSubtype="0" fill="hold" grpId="2" nodeType="afterEffect">
                                  <p:stCondLst>
                                    <p:cond delay="0"/>
                                  </p:stCondLst>
                                  <p:childTnLst>
                                    <p:anim calcmode="discrete" valueType="str">
                                      <p:cBhvr>
                                        <p:cTn id="39" dur="1000" fill="hold"/>
                                        <p:tgtEl>
                                          <p:spTgt spid="4"/>
                                        </p:tgtEl>
                                        <p:attrNameLst>
                                          <p:attrName>style.visibility</p:attrName>
                                        </p:attrNameLst>
                                      </p:cBhvr>
                                      <p:tavLst>
                                        <p:tav tm="0">
                                          <p:val>
                                            <p:strVal val="hidden"/>
                                          </p:val>
                                        </p:tav>
                                        <p:tav tm="50000">
                                          <p:val>
                                            <p:strVal val="visible"/>
                                          </p:val>
                                        </p:tav>
                                      </p:tavLst>
                                    </p:anim>
                                  </p:childTnLst>
                                </p:cTn>
                              </p:par>
                            </p:childTnLst>
                          </p:cTn>
                        </p:par>
                        <p:par>
                          <p:cTn id="40" fill="hold">
                            <p:stCondLst>
                              <p:cond delay="9501"/>
                            </p:stCondLst>
                            <p:childTnLst>
                              <p:par>
                                <p:cTn id="41" presetID="35" presetClass="emph" presetSubtype="0" fill="hold" grpId="3" nodeType="afterEffect">
                                  <p:stCondLst>
                                    <p:cond delay="0"/>
                                  </p:stCondLst>
                                  <p:childTnLst>
                                    <p:anim calcmode="discrete" valueType="str">
                                      <p:cBhvr>
                                        <p:cTn id="42" dur="1000" fill="hold"/>
                                        <p:tgtEl>
                                          <p:spTgt spid="4"/>
                                        </p:tgtEl>
                                        <p:attrNameLst>
                                          <p:attrName>style.visibility</p:attrName>
                                        </p:attrNameLst>
                                      </p:cBhvr>
                                      <p:tavLst>
                                        <p:tav tm="0">
                                          <p:val>
                                            <p:strVal val="hidden"/>
                                          </p:val>
                                        </p:tav>
                                        <p:tav tm="50000">
                                          <p:val>
                                            <p:strVal val="visible"/>
                                          </p:val>
                                        </p:tav>
                                      </p:tavLst>
                                    </p:anim>
                                  </p:childTnLst>
                                </p:cTn>
                              </p:par>
                            </p:childTnLst>
                          </p:cTn>
                        </p:par>
                        <p:par>
                          <p:cTn id="43" fill="hold">
                            <p:stCondLst>
                              <p:cond delay="10501"/>
                            </p:stCondLst>
                            <p:childTnLst>
                              <p:par>
                                <p:cTn id="44" presetID="35" presetClass="emph" presetSubtype="0" fill="hold" grpId="4" nodeType="afterEffect">
                                  <p:stCondLst>
                                    <p:cond delay="0"/>
                                  </p:stCondLst>
                                  <p:childTnLst>
                                    <p:anim calcmode="discrete" valueType="str">
                                      <p:cBhvr>
                                        <p:cTn id="45"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3">
                                            <p:txEl>
                                              <p:pRg st="4" end="4"/>
                                            </p:txEl>
                                          </p:spTgt>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3">
                                            <p:txEl>
                                              <p:pRg st="6" end="6"/>
                                            </p:txEl>
                                          </p:spTgt>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4" grpId="1" animBg="1"/>
      <p:bldP spid="4" grpId="2" animBg="1"/>
      <p:bldP spid="4" grpId="3" animBg="1"/>
      <p:bldP spid="4" grpId="4" animBg="1"/>
      <p:bldP spid="4" grpId="5" animBg="1"/>
      <p:bldP spid="9" grpId="0" animBg="1"/>
      <p:bldP spid="9" grpId="1" animBg="1"/>
      <p:bldP spid="9" grpId="2" animBg="1"/>
      <p:bldP spid="9" grpId="3" animBg="1"/>
      <p:bldP spid="9" grpId="4" animBg="1"/>
      <p:bldP spid="9" grpId="5" animBg="1"/>
      <p:bldP spid="9" grpId="6" animBg="1"/>
      <p:bldP spid="13"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40DBBE7-88D6-5F4A-8D38-638971524F0E}"/>
              </a:ext>
            </a:extLst>
          </p:cNvPr>
          <p:cNvSpPr txBox="1"/>
          <p:nvPr/>
        </p:nvSpPr>
        <p:spPr>
          <a:xfrm>
            <a:off x="1103584" y="1043180"/>
            <a:ext cx="9722070" cy="4600298"/>
          </a:xfrm>
          <a:prstGeom prst="rect">
            <a:avLst/>
          </a:prstGeom>
          <a:noFill/>
        </p:spPr>
        <p:txBody>
          <a:bodyPr wrap="square" rtlCol="0" anchor="ctr">
            <a:spAutoFit/>
          </a:bodyPr>
          <a:lstStyle/>
          <a:p>
            <a:pPr algn="ctr">
              <a:lnSpc>
                <a:spcPct val="200000"/>
              </a:lnSpc>
              <a:spcAft>
                <a:spcPts val="1800"/>
              </a:spcAft>
            </a:pPr>
            <a:r>
              <a:rPr lang="fr-CA" sz="3600" dirty="0">
                <a:solidFill>
                  <a:schemeClr val="tx2"/>
                </a:solidFill>
                <a:latin typeface="Visby CF Medium" pitchFamily="2" charset="77"/>
              </a:rPr>
              <a:t>Ces technologies, quelqu'un dans une organisation a </a:t>
            </a:r>
            <a:r>
              <a:rPr lang="fr-CA" sz="3600" b="1" dirty="0">
                <a:solidFill>
                  <a:schemeClr val="accent1"/>
                </a:solidFill>
                <a:latin typeface="Visby Slab CF Bold" pitchFamily="2" charset="77"/>
              </a:rPr>
              <a:t>décidé</a:t>
            </a:r>
            <a:r>
              <a:rPr lang="fr-CA" sz="3600" dirty="0">
                <a:solidFill>
                  <a:schemeClr val="tx2"/>
                </a:solidFill>
                <a:latin typeface="Visby CF Medium" pitchFamily="2" charset="77"/>
              </a:rPr>
              <a:t> de les déployer. </a:t>
            </a:r>
          </a:p>
          <a:p>
            <a:pPr algn="ctr">
              <a:lnSpc>
                <a:spcPct val="200000"/>
              </a:lnSpc>
            </a:pPr>
            <a:r>
              <a:rPr lang="fr-CA" sz="3600" dirty="0">
                <a:solidFill>
                  <a:schemeClr val="tx2"/>
                </a:solidFill>
                <a:latin typeface="Visby CF Medium" pitchFamily="2" charset="77"/>
              </a:rPr>
              <a:t>Ce n'était pas un informaticien — c'était un </a:t>
            </a:r>
            <a:r>
              <a:rPr lang="fr-CA" sz="3600" b="1" dirty="0">
                <a:solidFill>
                  <a:schemeClr val="accent1"/>
                </a:solidFill>
                <a:latin typeface="Visby Slab CF Bold" pitchFamily="2" charset="77"/>
              </a:rPr>
              <a:t>gestionnaire</a:t>
            </a:r>
            <a:r>
              <a:rPr lang="fr-CA" sz="3600" dirty="0">
                <a:solidFill>
                  <a:schemeClr val="tx2"/>
                </a:solidFill>
                <a:latin typeface="Visby CF Medium" pitchFamily="2" charset="77"/>
              </a:rPr>
              <a:t>.</a:t>
            </a:r>
            <a:endParaRPr lang="fr-FR" sz="3600" dirty="0">
              <a:solidFill>
                <a:schemeClr val="tx2"/>
              </a:solidFill>
              <a:latin typeface="Visby CF Medium" pitchFamily="2" charset="77"/>
            </a:endParaRPr>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9201E93A-9911-BD0E-8CB3-62864A151ED5}"/>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353412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que 19" descr="Office worker female contour">
            <a:extLst>
              <a:ext uri="{FF2B5EF4-FFF2-40B4-BE49-F238E27FC236}">
                <a16:creationId xmlns:a16="http://schemas.microsoft.com/office/drawing/2014/main" id="{2A64D223-BC7D-A4E5-3626-BFA704A7B7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562" y="261236"/>
            <a:ext cx="3280765" cy="3280765"/>
          </a:xfrm>
          <a:prstGeom prst="rect">
            <a:avLst/>
          </a:prstGeom>
        </p:spPr>
      </p:pic>
      <p:pic>
        <p:nvPicPr>
          <p:cNvPr id="22" name="Graphique 21" descr="Office worker male contour">
            <a:extLst>
              <a:ext uri="{FF2B5EF4-FFF2-40B4-BE49-F238E27FC236}">
                <a16:creationId xmlns:a16="http://schemas.microsoft.com/office/drawing/2014/main" id="{EA040222-A322-B5F8-4D40-6AC82A43FA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1309" y="261236"/>
            <a:ext cx="3283200" cy="3283200"/>
          </a:xfrm>
          <a:prstGeom prst="rect">
            <a:avLst/>
          </a:prstGeom>
        </p:spPr>
      </p:pic>
      <p:sp>
        <p:nvSpPr>
          <p:cNvPr id="4" name="Espace réservé du contenu 3">
            <a:extLst>
              <a:ext uri="{FF2B5EF4-FFF2-40B4-BE49-F238E27FC236}">
                <a16:creationId xmlns:a16="http://schemas.microsoft.com/office/drawing/2014/main" id="{32909FA7-34B4-1817-F331-8D233F6C2EBC}"/>
              </a:ext>
            </a:extLst>
          </p:cNvPr>
          <p:cNvSpPr>
            <a:spLocks noGrp="1"/>
          </p:cNvSpPr>
          <p:nvPr>
            <p:ph sz="half" idx="1"/>
          </p:nvPr>
        </p:nvSpPr>
        <p:spPr>
          <a:xfrm>
            <a:off x="492509" y="641132"/>
            <a:ext cx="5384800" cy="4622846"/>
          </a:xfrm>
        </p:spPr>
        <p:txBody>
          <a:bodyPr>
            <a:noAutofit/>
          </a:bodyPr>
          <a:lstStyle/>
          <a:p>
            <a:pPr>
              <a:lnSpc>
                <a:spcPct val="150000"/>
              </a:lnSpc>
            </a:pPr>
            <a:r>
              <a:rPr lang="fr-CA" sz="2200" dirty="0">
                <a:latin typeface="Visby CF Medium" pitchFamily="2" charset="77"/>
              </a:rPr>
              <a:t>Une directrice marketing centralise les données clients dans un Google </a:t>
            </a:r>
            <a:r>
              <a:rPr lang="fr-CA" sz="2200" dirty="0" err="1">
                <a:latin typeface="Visby CF Medium" pitchFamily="2" charset="77"/>
              </a:rPr>
              <a:t>Sheet</a:t>
            </a:r>
            <a:r>
              <a:rPr lang="fr-CA" sz="2200" dirty="0">
                <a:latin typeface="Visby CF Medium" pitchFamily="2" charset="77"/>
              </a:rPr>
              <a:t> partagé. Pratique, gratuit, efficace. </a:t>
            </a:r>
          </a:p>
          <a:p>
            <a:pPr>
              <a:lnSpc>
                <a:spcPct val="150000"/>
              </a:lnSpc>
            </a:pPr>
            <a:r>
              <a:rPr lang="fr-CA" sz="2200" dirty="0">
                <a:latin typeface="Visby CF Medium" pitchFamily="2" charset="77"/>
              </a:rPr>
              <a:t>Dix-huit mois plus tard, une brèche expose 47 000 clients. L'enquête révèle que personne n'avait évalué les risques. </a:t>
            </a:r>
          </a:p>
          <a:p>
            <a:pPr>
              <a:lnSpc>
                <a:spcPct val="150000"/>
              </a:lnSpc>
            </a:pPr>
            <a:r>
              <a:rPr lang="fr-CA" sz="2200" b="1" dirty="0">
                <a:solidFill>
                  <a:schemeClr val="accent4"/>
                </a:solidFill>
                <a:latin typeface="Visby Slab CF Bold" pitchFamily="2" charset="77"/>
              </a:rPr>
              <a:t>« Je ne savais pas que c'était mon problème. »</a:t>
            </a:r>
            <a:endParaRPr lang="fr-FR" sz="2200" b="1" dirty="0">
              <a:solidFill>
                <a:schemeClr val="accent4"/>
              </a:solidFill>
              <a:latin typeface="Visby Slab CF Bold" pitchFamily="2" charset="77"/>
            </a:endParaRPr>
          </a:p>
        </p:txBody>
      </p:sp>
      <p:sp>
        <p:nvSpPr>
          <p:cNvPr id="5" name="Espace réservé du contenu 4">
            <a:extLst>
              <a:ext uri="{FF2B5EF4-FFF2-40B4-BE49-F238E27FC236}">
                <a16:creationId xmlns:a16="http://schemas.microsoft.com/office/drawing/2014/main" id="{980A5B7D-ED99-6B5F-5113-0E1127C11489}"/>
              </a:ext>
            </a:extLst>
          </p:cNvPr>
          <p:cNvSpPr>
            <a:spLocks noGrp="1"/>
          </p:cNvSpPr>
          <p:nvPr>
            <p:ph sz="half" idx="2"/>
          </p:nvPr>
        </p:nvSpPr>
        <p:spPr>
          <a:xfrm>
            <a:off x="6080509" y="641132"/>
            <a:ext cx="5384800" cy="4622846"/>
          </a:xfrm>
        </p:spPr>
        <p:txBody>
          <a:bodyPr>
            <a:normAutofit/>
          </a:bodyPr>
          <a:lstStyle/>
          <a:p>
            <a:pPr>
              <a:lnSpc>
                <a:spcPct val="150000"/>
              </a:lnSpc>
            </a:pPr>
            <a:r>
              <a:rPr lang="fr-CA" sz="2200" dirty="0">
                <a:latin typeface="Visby CF Medium" pitchFamily="2" charset="77"/>
              </a:rPr>
              <a:t>Un analyste financier demande à une IA de construire un tableau de bord pour son équipe. Ça fonctionne. Tout le monde l'utilise. </a:t>
            </a:r>
          </a:p>
          <a:p>
            <a:pPr>
              <a:lnSpc>
                <a:spcPct val="150000"/>
              </a:lnSpc>
            </a:pPr>
            <a:r>
              <a:rPr lang="fr-CA" sz="2200" dirty="0">
                <a:latin typeface="Visby CF Medium" pitchFamily="2" charset="77"/>
              </a:rPr>
              <a:t>Il quitte l'organisation. Personne ne sait comment ça fonctionne, ni comment le corriger. </a:t>
            </a:r>
          </a:p>
          <a:p>
            <a:pPr>
              <a:lnSpc>
                <a:spcPct val="150000"/>
              </a:lnSpc>
            </a:pPr>
            <a:r>
              <a:rPr lang="fr-CA" sz="2200" b="1" dirty="0">
                <a:solidFill>
                  <a:schemeClr val="accent4"/>
                </a:solidFill>
                <a:latin typeface="Visby Slab CF Bold" pitchFamily="2" charset="77"/>
              </a:rPr>
              <a:t>Retour à Excel…</a:t>
            </a:r>
            <a:endParaRPr lang="fr-FR" sz="2200" b="1" dirty="0">
              <a:solidFill>
                <a:schemeClr val="accent4"/>
              </a:solidFill>
              <a:latin typeface="Visby Slab CF Bold" pitchFamily="2" charset="77"/>
            </a:endParaRPr>
          </a:p>
        </p:txBody>
      </p:sp>
      <p:sp>
        <p:nvSpPr>
          <p:cNvPr id="24" name="ZoneTexte 23">
            <a:extLst>
              <a:ext uri="{FF2B5EF4-FFF2-40B4-BE49-F238E27FC236}">
                <a16:creationId xmlns:a16="http://schemas.microsoft.com/office/drawing/2014/main" id="{2DB5CCB3-812D-19D6-7708-52287D0CD45A}"/>
              </a:ext>
            </a:extLst>
          </p:cNvPr>
          <p:cNvSpPr txBox="1"/>
          <p:nvPr/>
        </p:nvSpPr>
        <p:spPr>
          <a:xfrm>
            <a:off x="492510" y="5070039"/>
            <a:ext cx="10972800" cy="1246355"/>
          </a:xfrm>
          <a:prstGeom prst="rect">
            <a:avLst/>
          </a:prstGeom>
          <a:solidFill>
            <a:schemeClr val="accent3">
              <a:lumMod val="20000"/>
              <a:lumOff val="80000"/>
            </a:schemeClr>
          </a:solidFill>
          <a:ln>
            <a:solidFill>
              <a:schemeClr val="accent3">
                <a:lumMod val="20000"/>
                <a:lumOff val="80000"/>
              </a:schemeClr>
            </a:solidFill>
          </a:ln>
        </p:spPr>
        <p:txBody>
          <a:bodyPr vert="horz" wrap="square" lIns="91440" tIns="45720" rIns="91440" bIns="45720" rtlCol="0" anchor="ctr">
            <a:noAutofit/>
          </a:bodyPr>
          <a:lstStyle/>
          <a:p>
            <a:pPr algn="ctr">
              <a:buClr>
                <a:schemeClr val="accent2"/>
              </a:buClr>
              <a:buSzPct val="125000"/>
            </a:pPr>
            <a:r>
              <a:rPr lang="fr-CA" sz="2800" dirty="0">
                <a:latin typeface="Visby CF" pitchFamily="2" charset="77"/>
              </a:rPr>
              <a:t>Ces deux personnes ne travaillaient pas en TI, </a:t>
            </a:r>
          </a:p>
          <a:p>
            <a:pPr algn="ctr">
              <a:buClr>
                <a:schemeClr val="accent2"/>
              </a:buClr>
              <a:buSzPct val="125000"/>
            </a:pPr>
            <a:r>
              <a:rPr lang="fr-CA" sz="2800" b="1" dirty="0">
                <a:solidFill>
                  <a:schemeClr val="tx2"/>
                </a:solidFill>
                <a:latin typeface="Visby Slab CF Bold" pitchFamily="2" charset="77"/>
              </a:rPr>
              <a:t>elles prenaient des décisions en TI</a:t>
            </a:r>
          </a:p>
        </p:txBody>
      </p:sp>
      <p:pic>
        <p:nvPicPr>
          <p:cNvPr id="25" name="Image 24" descr="Une image contenant Police, Graphique, capture d’écran, graphisme&#10;&#10;Description générée automatiquement">
            <a:extLst>
              <a:ext uri="{FF2B5EF4-FFF2-40B4-BE49-F238E27FC236}">
                <a16:creationId xmlns:a16="http://schemas.microsoft.com/office/drawing/2014/main" id="{325823C8-63BD-5422-3387-0AF456C8C74F}"/>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028692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3960-FD52-ED20-627C-D776B0337639}"/>
            </a:ext>
          </a:extLst>
        </p:cNvPr>
        <p:cNvGrpSpPr/>
        <p:nvPr/>
      </p:nvGrpSpPr>
      <p:grpSpPr>
        <a:xfrm>
          <a:off x="0" y="0"/>
          <a:ext cx="0" cy="0"/>
          <a:chOff x="0" y="0"/>
          <a:chExt cx="0" cy="0"/>
        </a:xfrm>
      </p:grpSpPr>
      <p:pic>
        <p:nvPicPr>
          <p:cNvPr id="7" name="Image 6" descr="Une image contenant Police, Graphique, capture d’écran, graphisme&#10;&#10;Description générée automatiquement">
            <a:extLst>
              <a:ext uri="{FF2B5EF4-FFF2-40B4-BE49-F238E27FC236}">
                <a16:creationId xmlns:a16="http://schemas.microsoft.com/office/drawing/2014/main" id="{44F6985F-FF02-9A81-4666-FC382E02B38D}"/>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9" name="Graphique 8" descr="Marker avec un remplissage uni">
            <a:extLst>
              <a:ext uri="{FF2B5EF4-FFF2-40B4-BE49-F238E27FC236}">
                <a16:creationId xmlns:a16="http://schemas.microsoft.com/office/drawing/2014/main" id="{14211491-055F-7EDD-44EC-F45AD44ACDF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13798" y="2473403"/>
            <a:ext cx="3548575" cy="3548575"/>
          </a:xfrm>
          <a:prstGeom prst="rect">
            <a:avLst/>
          </a:prstGeom>
        </p:spPr>
      </p:pic>
      <p:sp>
        <p:nvSpPr>
          <p:cNvPr id="5" name="Espace réservé du contenu 4">
            <a:extLst>
              <a:ext uri="{FF2B5EF4-FFF2-40B4-BE49-F238E27FC236}">
                <a16:creationId xmlns:a16="http://schemas.microsoft.com/office/drawing/2014/main" id="{B581883E-BFCF-B6F3-5F72-B689D6DCC7C2}"/>
              </a:ext>
            </a:extLst>
          </p:cNvPr>
          <p:cNvSpPr>
            <a:spLocks noGrp="1"/>
          </p:cNvSpPr>
          <p:nvPr>
            <p:ph idx="4294967295"/>
          </p:nvPr>
        </p:nvSpPr>
        <p:spPr>
          <a:xfrm>
            <a:off x="395600" y="900565"/>
            <a:ext cx="5468642" cy="4534172"/>
          </a:xfrm>
        </p:spPr>
        <p:txBody>
          <a:bodyPr numCol="1" spcCol="180000">
            <a:normAutofit/>
          </a:bodyPr>
          <a:lstStyle/>
          <a:p>
            <a:pPr>
              <a:spcAft>
                <a:spcPts val="1200"/>
              </a:spcAft>
            </a:pPr>
            <a:r>
              <a:rPr lang="fr-CA" b="1">
                <a:solidFill>
                  <a:schemeClr val="tx2"/>
                </a:solidFill>
                <a:latin typeface="Visby CF Medium" pitchFamily="2" charset="77"/>
              </a:rPr>
              <a:t>Comprendre </a:t>
            </a:r>
            <a:r>
              <a:rPr lang="fr-CA" b="1" dirty="0">
                <a:solidFill>
                  <a:schemeClr val="tx2"/>
                </a:solidFill>
                <a:latin typeface="Visby CF Medium" pitchFamily="2" charset="77"/>
              </a:rPr>
              <a:t>assez </a:t>
            </a:r>
            <a:r>
              <a:rPr lang="fr-CA" b="1">
                <a:solidFill>
                  <a:schemeClr val="tx2"/>
                </a:solidFill>
                <a:latin typeface="Visby CF Medium" pitchFamily="2" charset="77"/>
              </a:rPr>
              <a:t>pour décider</a:t>
            </a:r>
            <a:endParaRPr lang="fr-CA" b="1" dirty="0">
              <a:solidFill>
                <a:schemeClr val="tx2"/>
              </a:solidFill>
              <a:latin typeface="Visby CF Medium" pitchFamily="2" charset="77"/>
            </a:endParaRPr>
          </a:p>
          <a:p>
            <a:pPr lvl="1"/>
            <a:r>
              <a:rPr lang="fr-CA" sz="2200" dirty="0">
                <a:latin typeface="Visby CF Medium" pitchFamily="2" charset="77"/>
              </a:rPr>
              <a:t>Évaluer une </a:t>
            </a:r>
            <a:r>
              <a:rPr lang="fr-CA" sz="2200">
                <a:latin typeface="Visby CF Medium" pitchFamily="2" charset="77"/>
              </a:rPr>
              <a:t>solution technologique, savoir </a:t>
            </a:r>
            <a:r>
              <a:rPr lang="fr-CA" sz="2200" dirty="0">
                <a:latin typeface="Visby CF Medium" pitchFamily="2" charset="77"/>
              </a:rPr>
              <a:t>énoncer ses besoins et poser les bonnes questions à une équipe TI. Reconnaître un risque avant qu'il devienne une crise. Travailler avec les TI sans en dépendre </a:t>
            </a:r>
            <a:r>
              <a:rPr lang="fr-CA" sz="2200">
                <a:latin typeface="Visby CF Medium" pitchFamily="2" charset="77"/>
              </a:rPr>
              <a:t>aveuglément. C’est l’affaire de tous!</a:t>
            </a:r>
          </a:p>
          <a:p>
            <a:endParaRPr lang="fr-CA" sz="2800">
              <a:latin typeface="Visby CF Medium" pitchFamily="2" charset="77"/>
            </a:endParaRPr>
          </a:p>
        </p:txBody>
      </p:sp>
      <p:sp>
        <p:nvSpPr>
          <p:cNvPr id="6" name="ZoneTexte 5">
            <a:extLst>
              <a:ext uri="{FF2B5EF4-FFF2-40B4-BE49-F238E27FC236}">
                <a16:creationId xmlns:a16="http://schemas.microsoft.com/office/drawing/2014/main" id="{CE57677D-272E-8B33-B97B-2B39A6179F66}"/>
              </a:ext>
            </a:extLst>
          </p:cNvPr>
          <p:cNvSpPr txBox="1"/>
          <p:nvPr/>
        </p:nvSpPr>
        <p:spPr>
          <a:xfrm>
            <a:off x="557734" y="5544119"/>
            <a:ext cx="9791463" cy="954107"/>
          </a:xfrm>
          <a:prstGeom prst="rect">
            <a:avLst/>
          </a:prstGeom>
          <a:noFill/>
        </p:spPr>
        <p:txBody>
          <a:bodyPr wrap="square" rtlCol="0">
            <a:spAutoFit/>
          </a:bodyPr>
          <a:lstStyle/>
          <a:p>
            <a:pPr algn="r"/>
            <a:r>
              <a:rPr lang="fr-CA" sz="2800" b="1" dirty="0">
                <a:solidFill>
                  <a:schemeClr val="tx2"/>
                </a:solidFill>
                <a:latin typeface="Visby Slab CF Bold" pitchFamily="2" charset="77"/>
              </a:rPr>
              <a:t>Ces deux ambitions commencent au même </a:t>
            </a:r>
            <a:r>
              <a:rPr lang="fr-CA" sz="2800" b="1">
                <a:solidFill>
                  <a:schemeClr val="tx2"/>
                </a:solidFill>
                <a:latin typeface="Visby Slab CF Bold" pitchFamily="2" charset="77"/>
              </a:rPr>
              <a:t>endroit,</a:t>
            </a:r>
            <a:br>
              <a:rPr lang="fr-CA" sz="2800" b="1">
                <a:solidFill>
                  <a:schemeClr val="tx2"/>
                </a:solidFill>
                <a:latin typeface="Visby Slab CF Bold" pitchFamily="2" charset="77"/>
              </a:rPr>
            </a:br>
            <a:r>
              <a:rPr lang="fr-CA" sz="2800" b="1">
                <a:solidFill>
                  <a:schemeClr val="tx2"/>
                </a:solidFill>
                <a:latin typeface="Visby Slab CF Bold" pitchFamily="2" charset="77"/>
              </a:rPr>
              <a:t>c’est-à-dire ici </a:t>
            </a:r>
            <a:r>
              <a:rPr lang="fr-CA" sz="2800" b="1" dirty="0">
                <a:solidFill>
                  <a:schemeClr val="tx2"/>
                </a:solidFill>
                <a:latin typeface="Visby Slab CF Bold" pitchFamily="2" charset="77"/>
              </a:rPr>
              <a:t>!</a:t>
            </a:r>
          </a:p>
        </p:txBody>
      </p:sp>
      <p:pic>
        <p:nvPicPr>
          <p:cNvPr id="2" name="Image 1">
            <a:extLst>
              <a:ext uri="{FF2B5EF4-FFF2-40B4-BE49-F238E27FC236}">
                <a16:creationId xmlns:a16="http://schemas.microsoft.com/office/drawing/2014/main" id="{378EBC8D-DFAC-DD1D-27F8-2EB8BFCA5F9A}"/>
              </a:ext>
            </a:extLst>
          </p:cNvPr>
          <p:cNvPicPr>
            <a:picLocks noChangeAspect="1"/>
          </p:cNvPicPr>
          <p:nvPr>
            <p:custDataLst>
              <p:tags r:id="rId2"/>
            </p:custDataLst>
          </p:nvPr>
        </p:nvPicPr>
        <p:blipFill rotWithShape="1">
          <a:blip r:embed="rId7"/>
          <a:srcRect l="7161" t="6841" r="8313" b="9278"/>
          <a:stretch>
            <a:fillRect/>
          </a:stretch>
        </p:blipFill>
        <p:spPr>
          <a:xfrm>
            <a:off x="10349197" y="5351175"/>
            <a:ext cx="1277776" cy="1268022"/>
          </a:xfrm>
          <a:prstGeom prst="flowChartConnector">
            <a:avLst/>
          </a:prstGeom>
        </p:spPr>
      </p:pic>
      <p:sp>
        <p:nvSpPr>
          <p:cNvPr id="3" name="ZoneTexte 2">
            <a:extLst>
              <a:ext uri="{FF2B5EF4-FFF2-40B4-BE49-F238E27FC236}">
                <a16:creationId xmlns:a16="http://schemas.microsoft.com/office/drawing/2014/main" id="{D8CF546D-05CD-773E-48EC-5934E81714F7}"/>
              </a:ext>
            </a:extLst>
          </p:cNvPr>
          <p:cNvSpPr txBox="1"/>
          <p:nvPr/>
        </p:nvSpPr>
        <p:spPr>
          <a:xfrm>
            <a:off x="395600" y="399042"/>
            <a:ext cx="2988319" cy="461665"/>
          </a:xfrm>
          <a:prstGeom prst="rect">
            <a:avLst/>
          </a:prstGeom>
          <a:noFill/>
        </p:spPr>
        <p:txBody>
          <a:bodyPr wrap="none" rtlCol="0">
            <a:spAutoFit/>
          </a:bodyPr>
          <a:lstStyle/>
          <a:p>
            <a:r>
              <a:rPr lang="fr-CA" sz="2400">
                <a:solidFill>
                  <a:schemeClr val="tx2">
                    <a:lumMod val="25000"/>
                    <a:lumOff val="75000"/>
                  </a:schemeClr>
                </a:solidFill>
                <a:latin typeface="Visby Slab CF Bold" panose="00000800000000000000" pitchFamily="50" charset="0"/>
              </a:rPr>
              <a:t>POUR VOUS TOUS</a:t>
            </a:r>
          </a:p>
        </p:txBody>
      </p:sp>
      <p:sp>
        <p:nvSpPr>
          <p:cNvPr id="8" name="ZoneTexte 7">
            <a:extLst>
              <a:ext uri="{FF2B5EF4-FFF2-40B4-BE49-F238E27FC236}">
                <a16:creationId xmlns:a16="http://schemas.microsoft.com/office/drawing/2014/main" id="{6C3A92C3-C7AE-C99B-F7EF-CF299911304D}"/>
              </a:ext>
            </a:extLst>
          </p:cNvPr>
          <p:cNvSpPr txBox="1"/>
          <p:nvPr/>
        </p:nvSpPr>
        <p:spPr>
          <a:xfrm>
            <a:off x="5788056" y="399042"/>
            <a:ext cx="5266185" cy="461665"/>
          </a:xfrm>
          <a:prstGeom prst="rect">
            <a:avLst/>
          </a:prstGeom>
          <a:noFill/>
        </p:spPr>
        <p:txBody>
          <a:bodyPr wrap="none" rtlCol="0">
            <a:spAutoFit/>
          </a:bodyPr>
          <a:lstStyle/>
          <a:p>
            <a:r>
              <a:rPr lang="fr-CA" sz="2400">
                <a:solidFill>
                  <a:schemeClr val="tx2">
                    <a:lumMod val="25000"/>
                    <a:lumOff val="75000"/>
                  </a:schemeClr>
                </a:solidFill>
                <a:latin typeface="Visby Slab CF Bold" panose="00000800000000000000" pitchFamily="50" charset="0"/>
              </a:rPr>
              <a:t>POUR CERTAINS D’ENTRE VOUS</a:t>
            </a:r>
          </a:p>
        </p:txBody>
      </p:sp>
      <p:sp>
        <p:nvSpPr>
          <p:cNvPr id="10" name="Espace réservé du contenu 4">
            <a:extLst>
              <a:ext uri="{FF2B5EF4-FFF2-40B4-BE49-F238E27FC236}">
                <a16:creationId xmlns:a16="http://schemas.microsoft.com/office/drawing/2014/main" id="{3668FFE5-9672-4B8F-AF8F-358E5FF86F67}"/>
              </a:ext>
            </a:extLst>
          </p:cNvPr>
          <p:cNvSpPr txBox="1">
            <a:spLocks/>
          </p:cNvSpPr>
          <p:nvPr/>
        </p:nvSpPr>
        <p:spPr>
          <a:xfrm>
            <a:off x="5827422" y="890589"/>
            <a:ext cx="5468642" cy="4534172"/>
          </a:xfrm>
          <a:prstGeom prst="rect">
            <a:avLst/>
          </a:prstGeom>
        </p:spPr>
        <p:txBody>
          <a:bodyPr vert="horz" lIns="91440" tIns="45720" rIns="91440" bIns="45720" numCol="1" spcCol="180000" rtlCol="0">
            <a:normAutofit/>
          </a:bodyPr>
          <a:lst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fr-CA" b="1">
                <a:solidFill>
                  <a:schemeClr val="tx2"/>
                </a:solidFill>
                <a:latin typeface="Visby CF Medium" pitchFamily="2" charset="77"/>
              </a:rPr>
              <a:t>Faire de ça votre métier</a:t>
            </a:r>
          </a:p>
          <a:p>
            <a:pPr lvl="1"/>
            <a:r>
              <a:rPr lang="fr-CA" sz="2200">
                <a:latin typeface="Visby CF Medium" pitchFamily="2" charset="77"/>
              </a:rPr>
              <a:t>L'analyste d'affaires TI fait exactement ce travail, en travaillant étroitement avec l’ensemble de l’organisation. Si les notions vues dans ce cours vous allument, il existe une spécialisation construite autour d’elles.</a:t>
            </a:r>
            <a:endParaRPr lang="fr-FR" sz="2200" dirty="0">
              <a:latin typeface="Visby CF Medium" pitchFamily="2" charset="77"/>
            </a:endParaRPr>
          </a:p>
        </p:txBody>
      </p:sp>
    </p:spTree>
    <p:extLst>
      <p:ext uri="{BB962C8B-B14F-4D97-AF65-F5344CB8AC3E}">
        <p14:creationId xmlns:p14="http://schemas.microsoft.com/office/powerpoint/2010/main" val="268120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up)">
                                      <p:cBhvr>
                                        <p:cTn id="10" dur="500"/>
                                        <p:tgtEl>
                                          <p:spTgt spid="5">
                                            <p:txEl>
                                              <p:pRg st="0" end="0"/>
                                            </p:txEl>
                                          </p:spTgt>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wipe(up)">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22" presetClass="entr" presetSubtype="1" fill="hold" nodeType="after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wipe(up)">
                                      <p:cBhvr>
                                        <p:cTn id="22" dur="500"/>
                                        <p:tgtEl>
                                          <p:spTgt spid="10">
                                            <p:txEl>
                                              <p:pRg st="0" end="0"/>
                                            </p:txEl>
                                          </p:spTgt>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0">
                                            <p:txEl>
                                              <p:pRg st="1" end="1"/>
                                            </p:txEl>
                                          </p:spTgt>
                                        </p:tgtEl>
                                        <p:attrNameLst>
                                          <p:attrName>style.visibility</p:attrName>
                                        </p:attrNameLst>
                                      </p:cBhvr>
                                      <p:to>
                                        <p:strVal val="visible"/>
                                      </p:to>
                                    </p:set>
                                    <p:animEffect transition="in" filter="wipe(up)">
                                      <p:cBhvr>
                                        <p:cTn id="26" dur="500"/>
                                        <p:tgtEl>
                                          <p:spTgt spid="10">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1000"/>
                                        <p:tgtEl>
                                          <p:spTgt spid="9"/>
                                        </p:tgtEl>
                                      </p:cBhvr>
                                    </p:animEffect>
                                  </p:childTnLst>
                                </p:cTn>
                              </p:par>
                            </p:childTnLst>
                          </p:cTn>
                        </p:par>
                        <p:par>
                          <p:cTn id="37" fill="hold">
                            <p:stCondLst>
                              <p:cond delay="1000"/>
                            </p:stCondLst>
                            <p:childTnLst>
                              <p:par>
                                <p:cTn id="38" presetID="6" presetClass="entr" presetSubtype="32" fill="hold" nodeType="after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circle(out)">
                                      <p:cBhvr>
                                        <p:cTn id="4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5C23B2F-BAEB-99FC-5E73-DAA8369CE977}"/>
              </a:ext>
            </a:extLst>
          </p:cNvPr>
          <p:cNvPicPr>
            <a:picLocks noChangeAspect="1"/>
          </p:cNvPicPr>
          <p:nvPr/>
        </p:nvPicPr>
        <p:blipFill>
          <a:blip r:embed="rId3">
            <a:alphaModFix amt="20000"/>
            <a:lum bright="70000" contrast="-70000"/>
          </a:blip>
          <a:stretch>
            <a:fillRect/>
          </a:stretch>
        </p:blipFill>
        <p:spPr>
          <a:xfrm>
            <a:off x="5684363" y="-463715"/>
            <a:ext cx="7015436" cy="8562813"/>
          </a:xfrm>
          <a:prstGeom prst="rect">
            <a:avLst/>
          </a:prstGeom>
        </p:spPr>
      </p:pic>
      <p:sp>
        <p:nvSpPr>
          <p:cNvPr id="2" name="Espace réservé du contenu 1">
            <a:extLst>
              <a:ext uri="{FF2B5EF4-FFF2-40B4-BE49-F238E27FC236}">
                <a16:creationId xmlns:a16="http://schemas.microsoft.com/office/drawing/2014/main" id="{9B7C8432-419F-569C-F85C-6DDB26975CFB}"/>
              </a:ext>
            </a:extLst>
          </p:cNvPr>
          <p:cNvSpPr>
            <a:spLocks noGrp="1"/>
          </p:cNvSpPr>
          <p:nvPr>
            <p:ph idx="1"/>
          </p:nvPr>
        </p:nvSpPr>
        <p:spPr>
          <a:xfrm>
            <a:off x="378372" y="359229"/>
            <a:ext cx="11424745" cy="6337963"/>
          </a:xfrm>
        </p:spPr>
        <p:txBody>
          <a:bodyPr>
            <a:normAutofit/>
          </a:bodyPr>
          <a:lstStyle/>
          <a:p>
            <a:pPr marL="0" indent="0">
              <a:buNone/>
            </a:pPr>
            <a:r>
              <a:rPr lang="fr-CA" sz="2800" i="1" dirty="0">
                <a:solidFill>
                  <a:schemeClr val="accent2"/>
                </a:solidFill>
              </a:rPr>
              <a:t>Votre père vient d'obtenir la gestion d'un stationnement urbain d'une cinquantaine de places dans le centre-ville. Fier de vos études en technologies de l'information, il vous appelle : « Tu pourrais m'aider à m'organiser avec ça ?</a:t>
            </a:r>
          </a:p>
          <a:p>
            <a:pPr marL="0" indent="0">
              <a:buNone/>
            </a:pPr>
            <a:endParaRPr lang="fr-CA" sz="700" i="1" dirty="0"/>
          </a:p>
          <a:p>
            <a:r>
              <a:rPr lang="fr-CA" b="1" dirty="0">
                <a:latin typeface="Visby Slab CF Bold" pitchFamily="2" charset="77"/>
              </a:rPr>
              <a:t>Phase 1 – Papier crayon seulement ( 5 min.)</a:t>
            </a:r>
          </a:p>
          <a:p>
            <a:pPr lvl="1"/>
            <a:r>
              <a:rPr lang="fr-CA" sz="2400" dirty="0"/>
              <a:t>Avant de consulter quoi que ce soit, notez par </a:t>
            </a:r>
            <a:br>
              <a:rPr lang="fr-CA" sz="2400" dirty="0"/>
            </a:br>
            <a:r>
              <a:rPr lang="fr-CA" sz="2400" dirty="0"/>
              <a:t>vous-même : quelles informations pensez-vous </a:t>
            </a:r>
            <a:br>
              <a:rPr lang="fr-CA" sz="2400" dirty="0"/>
            </a:br>
            <a:r>
              <a:rPr lang="fr-CA" sz="2400" dirty="0"/>
              <a:t>qu’un gestionnaire de stationnement devrait </a:t>
            </a:r>
            <a:br>
              <a:rPr lang="fr-CA" sz="2400" dirty="0"/>
            </a:br>
            <a:r>
              <a:rPr lang="fr-CA" sz="2400" dirty="0"/>
              <a:t>gérer ? Quelles questions poseriez-vous à </a:t>
            </a:r>
            <a:br>
              <a:rPr lang="fr-CA" sz="2400" dirty="0"/>
            </a:br>
            <a:r>
              <a:rPr lang="fr-CA" sz="2400" dirty="0"/>
              <a:t>votre père pour mieux comprendre ses besoins ?</a:t>
            </a:r>
            <a:endParaRPr lang="fr-FR" sz="2400"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9DBCE3D8-4E0C-6073-CFF4-11A07B13141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813976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BC11D73-57F0-5A95-5F0F-152E37ECAEDA}"/>
              </a:ext>
            </a:extLst>
          </p:cNvPr>
          <p:cNvSpPr>
            <a:spLocks noGrp="1"/>
          </p:cNvSpPr>
          <p:nvPr>
            <p:ph idx="1"/>
          </p:nvPr>
        </p:nvSpPr>
        <p:spPr>
          <a:xfrm>
            <a:off x="224640" y="247135"/>
            <a:ext cx="11767680" cy="6450057"/>
          </a:xfrm>
        </p:spPr>
        <p:txBody>
          <a:bodyPr anchor="ctr">
            <a:normAutofit/>
          </a:bodyPr>
          <a:lstStyle/>
          <a:p>
            <a:r>
              <a:rPr lang="fr-CA" b="1" dirty="0">
                <a:latin typeface="Visby Slab CF Bold" pitchFamily="2" charset="77"/>
              </a:rPr>
              <a:t>Phase 2 — avec un collègue, comparer vos informations (5 min.)</a:t>
            </a:r>
          </a:p>
          <a:p>
            <a:r>
              <a:rPr lang="fr-CA" b="1" dirty="0">
                <a:latin typeface="Visby Slab CF Bold" pitchFamily="2" charset="77"/>
              </a:rPr>
              <a:t>Phase 3 — Avec deux outils d’IA (10 min.)</a:t>
            </a:r>
          </a:p>
          <a:p>
            <a:pPr lvl="1"/>
            <a:r>
              <a:rPr lang="fr-CA" sz="2400" dirty="0"/>
              <a:t>Posez la même question à deux </a:t>
            </a:r>
            <a:r>
              <a:rPr lang="fr-CA" sz="2400"/>
              <a:t>outils d’IA </a:t>
            </a:r>
            <a:r>
              <a:rPr lang="fr-CA" sz="2400" dirty="0"/>
              <a:t>: </a:t>
            </a:r>
            <a:r>
              <a:rPr lang="fr-CA" sz="2400" i="1" dirty="0"/>
              <a:t>« Quelles informations devrais-je gérer pour exploiter efficacement un stationnement urbain d'une cinquantaine de places ? »</a:t>
            </a:r>
            <a:endParaRPr lang="fr-CA" sz="2400" dirty="0"/>
          </a:p>
          <a:p>
            <a:r>
              <a:rPr lang="fr-CA" b="1" dirty="0">
                <a:latin typeface="Visby Slab CF Bold" pitchFamily="2" charset="77"/>
              </a:rPr>
              <a:t>Phase 4 — Analyse comparative </a:t>
            </a:r>
          </a:p>
          <a:p>
            <a:pPr lvl="1"/>
            <a:r>
              <a:rPr lang="fr-CA" sz="2400" dirty="0"/>
              <a:t>Comparez les résultats à l'aide de ces trois questions :</a:t>
            </a:r>
          </a:p>
          <a:p>
            <a:pPr lvl="2">
              <a:buFont typeface="Arial" panose="020B0604020202020204" pitchFamily="34" charset="0"/>
              <a:buChar char="•"/>
            </a:pPr>
            <a:r>
              <a:rPr lang="fr-CA" sz="2000" i="1" dirty="0"/>
              <a:t>Qu'est-ce que les deux IA ont dit que vous n'aviez pas mentionné en Phase 1 ?</a:t>
            </a:r>
            <a:endParaRPr lang="fr-CA" sz="2000" dirty="0"/>
          </a:p>
          <a:p>
            <a:pPr lvl="2">
              <a:buFont typeface="Arial" panose="020B0604020202020204" pitchFamily="34" charset="0"/>
              <a:buChar char="•"/>
            </a:pPr>
            <a:r>
              <a:rPr lang="fr-CA" sz="2000" i="1" dirty="0"/>
              <a:t>Qu'est-ce que vous aviez mentionné que les deux IA ont omis ?</a:t>
            </a:r>
            <a:endParaRPr lang="fr-CA" sz="2000" dirty="0"/>
          </a:p>
          <a:p>
            <a:pPr lvl="2">
              <a:buFont typeface="Arial" panose="020B0604020202020204" pitchFamily="34" charset="0"/>
              <a:buChar char="•"/>
            </a:pPr>
            <a:r>
              <a:rPr lang="fr-CA" sz="2000" i="1" dirty="0"/>
              <a:t>Comment vérifieriez-vous l'une des recommandations obtenues ?</a:t>
            </a:r>
          </a:p>
        </p:txBody>
      </p:sp>
      <p:pic>
        <p:nvPicPr>
          <p:cNvPr id="3" name="Image 2">
            <a:extLst>
              <a:ext uri="{FF2B5EF4-FFF2-40B4-BE49-F238E27FC236}">
                <a16:creationId xmlns:a16="http://schemas.microsoft.com/office/drawing/2014/main" id="{84DA504D-190C-5B7A-E493-EE761BCAE48C}"/>
              </a:ext>
            </a:extLst>
          </p:cNvPr>
          <p:cNvPicPr>
            <a:picLocks noChangeAspect="1"/>
          </p:cNvPicPr>
          <p:nvPr/>
        </p:nvPicPr>
        <p:blipFill>
          <a:blip r:embed="rId4">
            <a:alphaModFix amt="20000"/>
            <a:lum bright="70000" contrast="-70000"/>
          </a:blip>
          <a:stretch>
            <a:fillRect/>
          </a:stretch>
        </p:blipFill>
        <p:spPr>
          <a:xfrm>
            <a:off x="5684363" y="-463715"/>
            <a:ext cx="7015436" cy="8562813"/>
          </a:xfrm>
          <a:prstGeom prst="rect">
            <a:avLst/>
          </a:prstGeom>
        </p:spPr>
      </p:pic>
      <p:pic>
        <p:nvPicPr>
          <p:cNvPr id="4" name="Image 3" descr="Une image contenant Police, Graphique, capture d’écran, graphisme&#10;&#10;Description générée automatiquement">
            <a:extLst>
              <a:ext uri="{FF2B5EF4-FFF2-40B4-BE49-F238E27FC236}">
                <a16:creationId xmlns:a16="http://schemas.microsoft.com/office/drawing/2014/main" id="{CDC1AAF5-ED24-C2E4-BBBB-0BDB0FF67BB6}"/>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83195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
                                            <p:txEl>
                                              <p:pRg st="1" end="1"/>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 calcmode="lin" valueType="num">
                                      <p:cBhvr>
                                        <p:cTn id="26"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2">
                                            <p:txEl>
                                              <p:pRg st="3" end="3"/>
                                            </p:txEl>
                                          </p:spTgt>
                                        </p:tgtEl>
                                      </p:cBhvr>
                                    </p:animEffect>
                                  </p:childTnLst>
                                </p:cTn>
                              </p:par>
                              <p:par>
                                <p:cTn id="29" presetID="53" presetClass="entr" presetSubtype="16"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2">
                                            <p:txEl>
                                              <p:pRg st="4" end="4"/>
                                            </p:txEl>
                                          </p:spTgt>
                                        </p:tgtEl>
                                      </p:cBhvr>
                                    </p:animEffect>
                                  </p:childTnLst>
                                </p:cTn>
                              </p:par>
                              <p:par>
                                <p:cTn id="34" presetID="53" presetClass="entr" presetSubtype="16" fill="hold" nodeType="withEffect">
                                  <p:stCondLst>
                                    <p:cond delay="0"/>
                                  </p:stCondLst>
                                  <p:childTnLst>
                                    <p:set>
                                      <p:cBhvr>
                                        <p:cTn id="35" dur="1" fill="hold">
                                          <p:stCondLst>
                                            <p:cond delay="0"/>
                                          </p:stCondLst>
                                        </p:cTn>
                                        <p:tgtEl>
                                          <p:spTgt spid="2">
                                            <p:txEl>
                                              <p:pRg st="5" end="5"/>
                                            </p:txEl>
                                          </p:spTgt>
                                        </p:tgtEl>
                                        <p:attrNameLst>
                                          <p:attrName>style.visibility</p:attrName>
                                        </p:attrNameLst>
                                      </p:cBhvr>
                                      <p:to>
                                        <p:strVal val="visible"/>
                                      </p:to>
                                    </p:set>
                                    <p:anim calcmode="lin" valueType="num">
                                      <p:cBhvr>
                                        <p:cTn id="36"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2">
                                            <p:txEl>
                                              <p:pRg st="5" end="5"/>
                                            </p:txEl>
                                          </p:spTgt>
                                        </p:tgtEl>
                                      </p:cBhvr>
                                    </p:animEffect>
                                  </p:childTnLst>
                                </p:cTn>
                              </p:par>
                              <p:par>
                                <p:cTn id="39" presetID="53" presetClass="entr" presetSubtype="16" fill="hold" nodeType="with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 calcmode="lin" valueType="num">
                                      <p:cBhvr>
                                        <p:cTn id="41"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42"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43" dur="500"/>
                                        <p:tgtEl>
                                          <p:spTgt spid="2">
                                            <p:txEl>
                                              <p:pRg st="6" end="6"/>
                                            </p:txEl>
                                          </p:spTgt>
                                        </p:tgtEl>
                                      </p:cBhvr>
                                    </p:animEffect>
                                  </p:childTnLst>
                                </p:cTn>
                              </p:par>
                              <p:par>
                                <p:cTn id="44" presetID="53" presetClass="entr" presetSubtype="16" fill="hold" nodeType="withEffect">
                                  <p:stCondLst>
                                    <p:cond delay="0"/>
                                  </p:stCondLst>
                                  <p:childTnLst>
                                    <p:set>
                                      <p:cBhvr>
                                        <p:cTn id="45" dur="1" fill="hold">
                                          <p:stCondLst>
                                            <p:cond delay="0"/>
                                          </p:stCondLst>
                                        </p:cTn>
                                        <p:tgtEl>
                                          <p:spTgt spid="2">
                                            <p:txEl>
                                              <p:pRg st="7" end="7"/>
                                            </p:txEl>
                                          </p:spTgt>
                                        </p:tgtEl>
                                        <p:attrNameLst>
                                          <p:attrName>style.visibility</p:attrName>
                                        </p:attrNameLst>
                                      </p:cBhvr>
                                      <p:to>
                                        <p:strVal val="visible"/>
                                      </p:to>
                                    </p:set>
                                    <p:anim calcmode="lin" valueType="num">
                                      <p:cBhvr>
                                        <p:cTn id="46"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47"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48"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3FCE-2FD4-5DD0-AD8F-3C5763A5C80B}"/>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91D54F-8B10-0193-2E50-7E22D4C50015}"/>
              </a:ext>
            </a:extLst>
          </p:cNvPr>
          <p:cNvSpPr>
            <a:spLocks noGrp="1"/>
          </p:cNvSpPr>
          <p:nvPr>
            <p:ph idx="1"/>
          </p:nvPr>
        </p:nvSpPr>
        <p:spPr>
          <a:xfrm>
            <a:off x="224640" y="247135"/>
            <a:ext cx="11767680" cy="6450057"/>
          </a:xfrm>
        </p:spPr>
        <p:txBody>
          <a:bodyPr anchor="ctr">
            <a:normAutofit/>
          </a:bodyPr>
          <a:lstStyle/>
          <a:p>
            <a:r>
              <a:rPr lang="fr-CA" b="1" dirty="0">
                <a:latin typeface="Visby Slab CF Bold" pitchFamily="2" charset="77"/>
              </a:rPr>
              <a:t>Phase 5 — Réflexion</a:t>
            </a:r>
          </a:p>
          <a:p>
            <a:pPr lvl="1"/>
            <a:r>
              <a:rPr lang="fr-CA" sz="2400" dirty="0"/>
              <a:t>En une phrase, qu'est-ce que cet exercice vous apprend sur la façon dont vous devriez utiliser les outils d'IA dans ce cours ?</a:t>
            </a:r>
          </a:p>
          <a:p>
            <a:pPr lvl="1"/>
            <a:r>
              <a:rPr lang="fr-CA" sz="2400" dirty="0"/>
              <a:t>Si l'IA peut répondre à cette question en 30 secondes, quelle est votre valeur ajoutée en tant que gestionnaire?</a:t>
            </a:r>
            <a:endParaRPr lang="fr-FR" sz="2400" dirty="0"/>
          </a:p>
        </p:txBody>
      </p:sp>
      <p:pic>
        <p:nvPicPr>
          <p:cNvPr id="3" name="Image 2">
            <a:extLst>
              <a:ext uri="{FF2B5EF4-FFF2-40B4-BE49-F238E27FC236}">
                <a16:creationId xmlns:a16="http://schemas.microsoft.com/office/drawing/2014/main" id="{2C8ABD14-C0CE-41AA-DE50-A009C0BBBD36}"/>
              </a:ext>
            </a:extLst>
          </p:cNvPr>
          <p:cNvPicPr>
            <a:picLocks noChangeAspect="1"/>
          </p:cNvPicPr>
          <p:nvPr/>
        </p:nvPicPr>
        <p:blipFill>
          <a:blip r:embed="rId4">
            <a:alphaModFix amt="20000"/>
            <a:lum bright="70000" contrast="-70000"/>
          </a:blip>
          <a:stretch>
            <a:fillRect/>
          </a:stretch>
        </p:blipFill>
        <p:spPr>
          <a:xfrm>
            <a:off x="5684363" y="-463715"/>
            <a:ext cx="7015436" cy="8562813"/>
          </a:xfrm>
          <a:prstGeom prst="rect">
            <a:avLst/>
          </a:prstGeom>
        </p:spPr>
      </p:pic>
      <p:pic>
        <p:nvPicPr>
          <p:cNvPr id="4" name="Image 3" descr="Une image contenant Police, Graphique, capture d’écran, graphisme&#10;&#10;Description générée automatiquement">
            <a:extLst>
              <a:ext uri="{FF2B5EF4-FFF2-40B4-BE49-F238E27FC236}">
                <a16:creationId xmlns:a16="http://schemas.microsoft.com/office/drawing/2014/main" id="{157A6C38-42A2-3547-EBA8-66D9992C8165}"/>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03201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p:cTn id="1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2">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p:cTn id="17"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hlinkClick r:id="rId4"/>
            <a:extLst>
              <a:ext uri="{FF2B5EF4-FFF2-40B4-BE49-F238E27FC236}">
                <a16:creationId xmlns:a16="http://schemas.microsoft.com/office/drawing/2014/main" id="{E37AB979-F562-5978-5F03-F5A531BAE0A9}"/>
              </a:ext>
            </a:extLst>
          </p:cNvPr>
          <p:cNvPicPr>
            <a:picLocks noChangeAspect="1"/>
          </p:cNvPicPr>
          <p:nvPr/>
        </p:nvPicPr>
        <p:blipFill>
          <a:blip r:embed="rId5"/>
          <a:stretch>
            <a:fillRect/>
          </a:stretch>
        </p:blipFill>
        <p:spPr>
          <a:xfrm>
            <a:off x="1637128" y="1173869"/>
            <a:ext cx="8917744" cy="4510262"/>
          </a:xfrm>
          <a:prstGeom prst="rect">
            <a:avLst/>
          </a:prstGeom>
        </p:spPr>
      </p:pic>
      <p:pic>
        <p:nvPicPr>
          <p:cNvPr id="6" name="Image 5" descr="Une image contenant Police, Graphique, capture d’écran, graphisme&#10;&#10;Description générée automatiquement">
            <a:extLst>
              <a:ext uri="{FF2B5EF4-FFF2-40B4-BE49-F238E27FC236}">
                <a16:creationId xmlns:a16="http://schemas.microsoft.com/office/drawing/2014/main" id="{851A8A44-32B7-9543-8BD5-430CB15C53E4}"/>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2" name="ZoneTexte 1">
            <a:extLst>
              <a:ext uri="{FF2B5EF4-FFF2-40B4-BE49-F238E27FC236}">
                <a16:creationId xmlns:a16="http://schemas.microsoft.com/office/drawing/2014/main" id="{F52918CF-24EF-4090-7422-21151C0B09EC}"/>
              </a:ext>
            </a:extLst>
          </p:cNvPr>
          <p:cNvSpPr txBox="1"/>
          <p:nvPr/>
        </p:nvSpPr>
        <p:spPr>
          <a:xfrm>
            <a:off x="2013792" y="4471792"/>
            <a:ext cx="8164415" cy="369332"/>
          </a:xfrm>
          <a:prstGeom prst="rect">
            <a:avLst/>
          </a:prstGeom>
          <a:noFill/>
        </p:spPr>
        <p:txBody>
          <a:bodyPr wrap="none" rtlCol="0">
            <a:spAutoFit/>
          </a:bodyPr>
          <a:lstStyle/>
          <a:p>
            <a:r>
              <a:rPr lang="fr-CA">
                <a:solidFill>
                  <a:schemeClr val="accent6"/>
                </a:solidFill>
                <a:latin typeface="Visby CF Extra Bold" pitchFamily="50" charset="0"/>
              </a:rPr>
              <a:t>Ou n’importe quel autre outil IA basé sur des grands modèles de langage?</a:t>
            </a:r>
          </a:p>
        </p:txBody>
      </p:sp>
    </p:spTree>
    <p:extLst>
      <p:ext uri="{BB962C8B-B14F-4D97-AF65-F5344CB8AC3E}">
        <p14:creationId xmlns:p14="http://schemas.microsoft.com/office/powerpoint/2010/main" val="2940265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u"/>
          <p:cNvSpPr>
            <a:spLocks noGrp="1"/>
          </p:cNvSpPr>
          <p:nvPr>
            <p:ph idx="1"/>
          </p:nvPr>
        </p:nvSpPr>
        <p:spPr>
          <a:xfrm>
            <a:off x="688342" y="1017270"/>
            <a:ext cx="11303978" cy="5679922"/>
          </a:xfrm>
        </p:spPr>
        <p:txBody>
          <a:bodyPr anchor="t">
            <a:normAutofit/>
          </a:bodyPr>
          <a:lstStyle/>
          <a:p>
            <a:pPr lvl="1"/>
            <a:endParaRPr lang="fr-CA" sz="2400" b="1"/>
          </a:p>
          <a:p>
            <a:pPr lvl="1"/>
            <a:endParaRPr lang="fr-CA" sz="2400" b="1"/>
          </a:p>
          <a:p>
            <a:r>
              <a:rPr lang="fr-CA" sz="2800"/>
              <a:t>Utiliser </a:t>
            </a:r>
            <a:r>
              <a:rPr lang="fr-CA" sz="2800" dirty="0"/>
              <a:t>l’IA de </a:t>
            </a:r>
            <a:r>
              <a:rPr lang="fr-CA" sz="2800"/>
              <a:t>façon ciblée</a:t>
            </a:r>
          </a:p>
          <a:p>
            <a:pPr lvl="1">
              <a:spcAft>
                <a:spcPts val="1200"/>
              </a:spcAft>
            </a:pPr>
            <a:r>
              <a:rPr lang="fr-CA" sz="2200" b="1">
                <a:solidFill>
                  <a:schemeClr val="accent1"/>
                </a:solidFill>
                <a:latin typeface="Visby CF Bold" pitchFamily="50" charset="0"/>
              </a:rPr>
              <a:t>S01</a:t>
            </a:r>
            <a:r>
              <a:rPr lang="fr-CA" sz="2200"/>
              <a:t> </a:t>
            </a:r>
            <a:r>
              <a:rPr lang="fr-CA" sz="2200" dirty="0"/>
              <a:t>· S02 · S04 · S05 · S10</a:t>
            </a:r>
          </a:p>
          <a:p>
            <a:r>
              <a:rPr lang="fr-CA" sz="2800" dirty="0"/>
              <a:t>Évaluer ce que </a:t>
            </a:r>
            <a:r>
              <a:rPr lang="fr-CA" sz="2800"/>
              <a:t>l’IA produit</a:t>
            </a:r>
          </a:p>
          <a:p>
            <a:pPr lvl="1">
              <a:spcAft>
                <a:spcPts val="1200"/>
              </a:spcAft>
            </a:pPr>
            <a:r>
              <a:rPr lang="fr-CA" sz="2200"/>
              <a:t>S04 </a:t>
            </a:r>
            <a:r>
              <a:rPr lang="fr-CA" sz="2200" dirty="0"/>
              <a:t>· S05 · S06</a:t>
            </a:r>
          </a:p>
          <a:p>
            <a:r>
              <a:rPr lang="fr-CA" sz="2800" dirty="0"/>
              <a:t>Comprendre comment </a:t>
            </a:r>
            <a:r>
              <a:rPr lang="fr-CA" sz="2800"/>
              <a:t>l’IA fonctionne</a:t>
            </a:r>
          </a:p>
          <a:p>
            <a:pPr lvl="1"/>
            <a:r>
              <a:rPr lang="fr-CA" sz="2200"/>
              <a:t>S06</a:t>
            </a:r>
            <a:endParaRPr lang="fr-CA" sz="2200" dirty="0"/>
          </a:p>
        </p:txBody>
      </p:sp>
      <p:sp>
        <p:nvSpPr>
          <p:cNvPr id="5" name="Titre 4">
            <a:extLst>
              <a:ext uri="{FF2B5EF4-FFF2-40B4-BE49-F238E27FC236}">
                <a16:creationId xmlns:a16="http://schemas.microsoft.com/office/drawing/2014/main" id="{16EE4D3A-2C15-A97B-E17F-4AD48C02CF06}"/>
              </a:ext>
            </a:extLst>
          </p:cNvPr>
          <p:cNvSpPr>
            <a:spLocks noGrp="1"/>
          </p:cNvSpPr>
          <p:nvPr>
            <p:ph type="title"/>
          </p:nvPr>
        </p:nvSpPr>
        <p:spPr/>
        <p:txBody>
          <a:bodyPr>
            <a:normAutofit/>
          </a:bodyPr>
          <a:lstStyle/>
          <a:p>
            <a:r>
              <a:rPr lang="fr-CA" b="1">
                <a:latin typeface="Visby Slab CF Bold" pitchFamily="2" charset="77"/>
              </a:rPr>
              <a:t>Votre progression en littératie IA dans ce cours</a:t>
            </a:r>
            <a:endParaRPr lang="fr-CA"/>
          </a:p>
        </p:txBody>
      </p:sp>
      <p:cxnSp>
        <p:nvCxnSpPr>
          <p:cNvPr id="7" name="Connecteur droit 6">
            <a:extLst>
              <a:ext uri="{FF2B5EF4-FFF2-40B4-BE49-F238E27FC236}">
                <a16:creationId xmlns:a16="http://schemas.microsoft.com/office/drawing/2014/main" id="{45460967-0761-0311-8CAC-CCC3C121CD1F}"/>
              </a:ext>
            </a:extLst>
          </p:cNvPr>
          <p:cNvCxnSpPr/>
          <p:nvPr/>
        </p:nvCxnSpPr>
        <p:spPr>
          <a:xfrm flipH="1">
            <a:off x="0" y="889348"/>
            <a:ext cx="1427967"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Image 2" descr="Une image contenant Police, Graphique, capture d’écran, graphisme&#10;&#10;Description générée automatiquement">
            <a:extLst>
              <a:ext uri="{FF2B5EF4-FFF2-40B4-BE49-F238E27FC236}">
                <a16:creationId xmlns:a16="http://schemas.microsoft.com/office/drawing/2014/main" id="{1B4CA22A-D5D3-3438-474D-C3B6AD3B87C6}"/>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6" name="Image 5">
            <a:extLst>
              <a:ext uri="{FF2B5EF4-FFF2-40B4-BE49-F238E27FC236}">
                <a16:creationId xmlns:a16="http://schemas.microsoft.com/office/drawing/2014/main" id="{4ECB0FBE-A2DB-609D-1C18-A7B7DDC7C5D4}"/>
              </a:ext>
            </a:extLst>
          </p:cNvPr>
          <p:cNvPicPr>
            <a:picLocks noChangeAspect="1"/>
          </p:cNvPicPr>
          <p:nvPr/>
        </p:nvPicPr>
        <p:blipFill>
          <a:blip r:embed="rId4"/>
          <a:stretch>
            <a:fillRect/>
          </a:stretch>
        </p:blipFill>
        <p:spPr>
          <a:xfrm>
            <a:off x="6096000" y="1686287"/>
            <a:ext cx="5105400" cy="41782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9BB326-0DF8-4D68-421A-122A8CBABC85}"/>
              </a:ext>
            </a:extLst>
          </p:cNvPr>
          <p:cNvSpPr/>
          <p:nvPr>
            <p:custDataLst>
              <p:tags r:id="rId1"/>
            </p:custDataLst>
          </p:nvPr>
        </p:nvSpPr>
        <p:spPr>
          <a:xfrm>
            <a:off x="2519464" y="5126475"/>
            <a:ext cx="9672536" cy="4863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 name="Rectangle 2">
            <a:extLst>
              <a:ext uri="{FF2B5EF4-FFF2-40B4-BE49-F238E27FC236}">
                <a16:creationId xmlns:a16="http://schemas.microsoft.com/office/drawing/2014/main" id="{99DB94EB-1452-AA03-76C2-A5ED0C9D4361}"/>
              </a:ext>
            </a:extLst>
          </p:cNvPr>
          <p:cNvSpPr/>
          <p:nvPr>
            <p:custDataLst>
              <p:tags r:id="rId2"/>
            </p:custDataLst>
          </p:nvPr>
        </p:nvSpPr>
        <p:spPr>
          <a:xfrm>
            <a:off x="2510037" y="5126475"/>
            <a:ext cx="486000" cy="48638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Titre 6">
            <a:extLst>
              <a:ext uri="{FF2B5EF4-FFF2-40B4-BE49-F238E27FC236}">
                <a16:creationId xmlns:a16="http://schemas.microsoft.com/office/drawing/2014/main" id="{5949D27A-3FEC-AA1B-929A-A55A0CC07462}"/>
              </a:ext>
            </a:extLst>
          </p:cNvPr>
          <p:cNvSpPr>
            <a:spLocks noGrp="1"/>
          </p:cNvSpPr>
          <p:nvPr>
            <p:ph type="title"/>
            <p:custDataLst>
              <p:tags r:id="rId3"/>
            </p:custDataLst>
          </p:nvPr>
        </p:nvSpPr>
        <p:spPr/>
        <p:txBody>
          <a:bodyPr/>
          <a:lstStyle/>
          <a:p>
            <a:r>
              <a:rPr lang="fr-CA" sz="3600" dirty="0">
                <a:solidFill>
                  <a:schemeClr val="bg2">
                    <a:lumMod val="20000"/>
                    <a:lumOff val="80000"/>
                  </a:schemeClr>
                </a:solidFill>
                <a:latin typeface="Visby Slab CF Bold" panose="00000800000000000000" pitchFamily="50" charset="0"/>
              </a:rPr>
              <a:t>À la base d’une transformation numérique réussie : une stratégie et une architecture</a:t>
            </a:r>
            <a:endParaRPr lang="fr-CA" dirty="0"/>
          </a:p>
        </p:txBody>
      </p:sp>
      <p:sp>
        <p:nvSpPr>
          <p:cNvPr id="8" name="Espace réservé du texte 7">
            <a:extLst>
              <a:ext uri="{FF2B5EF4-FFF2-40B4-BE49-F238E27FC236}">
                <a16:creationId xmlns:a16="http://schemas.microsoft.com/office/drawing/2014/main" id="{F32BBCA8-3C99-38DE-95DE-95C3BDC832C7}"/>
              </a:ext>
            </a:extLst>
          </p:cNvPr>
          <p:cNvSpPr>
            <a:spLocks noGrp="1"/>
          </p:cNvSpPr>
          <p:nvPr>
            <p:ph type="body" sz="quarter" idx="10"/>
            <p:custDataLst>
              <p:tags r:id="rId4"/>
            </p:custDataLst>
          </p:nvPr>
        </p:nvSpPr>
        <p:spPr/>
        <p:txBody>
          <a:bodyPr/>
          <a:lstStyle/>
          <a:p>
            <a:r>
              <a:rPr lang="fr-CA" b="1">
                <a:latin typeface="Visby CF Bold" pitchFamily="50" charset="0"/>
              </a:rPr>
              <a:t>Séance 1</a:t>
            </a:r>
          </a:p>
        </p:txBody>
      </p:sp>
    </p:spTree>
    <p:extLst>
      <p:ext uri="{BB962C8B-B14F-4D97-AF65-F5344CB8AC3E}">
        <p14:creationId xmlns:p14="http://schemas.microsoft.com/office/powerpoint/2010/main" val="198958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53A965A-1494-7A55-5488-9FC2631586A2}"/>
              </a:ext>
            </a:extLst>
          </p:cNvPr>
          <p:cNvSpPr>
            <a:spLocks noGrp="1"/>
          </p:cNvSpPr>
          <p:nvPr>
            <p:ph idx="4294967295"/>
            <p:custDataLst>
              <p:tags r:id="rId1"/>
            </p:custDataLst>
          </p:nvPr>
        </p:nvSpPr>
        <p:spPr>
          <a:xfrm>
            <a:off x="425451" y="4350618"/>
            <a:ext cx="11328400" cy="2347043"/>
          </a:xfrm>
          <a:solidFill>
            <a:schemeClr val="bg1"/>
          </a:solidFill>
        </p:spPr>
        <p:txBody>
          <a:bodyPr>
            <a:normAutofit/>
          </a:bodyPr>
          <a:lstStyle/>
          <a:p>
            <a:pPr>
              <a:lnSpc>
                <a:spcPct val="130000"/>
              </a:lnSpc>
            </a:pPr>
            <a:r>
              <a:rPr lang="fr-CA" sz="2000"/>
              <a:t>Savoir comment </a:t>
            </a:r>
            <a:r>
              <a:rPr lang="fr-CA" sz="2000">
                <a:solidFill>
                  <a:schemeClr val="accent1"/>
                </a:solidFill>
                <a:latin typeface="Visby Slab CF Bold" panose="00000800000000000000" pitchFamily="50" charset="0"/>
              </a:rPr>
              <a:t>utiliser des solutions technologiques</a:t>
            </a:r>
            <a:r>
              <a:rPr lang="fr-CA" sz="2000">
                <a:solidFill>
                  <a:schemeClr val="accent4"/>
                </a:solidFill>
                <a:latin typeface="Visby Slab CF Bold" panose="00000800000000000000" pitchFamily="50" charset="0"/>
              </a:rPr>
              <a:t> </a:t>
            </a:r>
            <a:r>
              <a:rPr lang="fr-CA" sz="2000"/>
              <a:t>simples mais robustes et avoir le réflexe d’aller vers celles-ci plutôt que vers des chiffriers (tableurs) pour </a:t>
            </a:r>
            <a:r>
              <a:rPr lang="fr-CA" sz="2000">
                <a:solidFill>
                  <a:schemeClr val="accent1"/>
                </a:solidFill>
                <a:latin typeface="Visby Slab CF Bold" panose="00000800000000000000" pitchFamily="50" charset="0"/>
              </a:rPr>
              <a:t>concevoir des applications</a:t>
            </a:r>
            <a:r>
              <a:rPr lang="fr-CA" sz="2000"/>
              <a:t> qui aideront dans les tâches et ce, peu importe la fonction occupée</a:t>
            </a:r>
          </a:p>
          <a:p>
            <a:pPr>
              <a:lnSpc>
                <a:spcPct val="130000"/>
              </a:lnSpc>
            </a:pPr>
            <a:r>
              <a:rPr lang="fr-CA" sz="2000"/>
              <a:t>Expérimenter l’</a:t>
            </a:r>
            <a:r>
              <a:rPr lang="fr-CA" sz="2000">
                <a:solidFill>
                  <a:schemeClr val="accent1"/>
                </a:solidFill>
                <a:latin typeface="Visby Slab CF Bold" panose="00000800000000000000" pitchFamily="50" charset="0"/>
              </a:rPr>
              <a:t>utilisation d’un progiciel de gestion intégré</a:t>
            </a:r>
            <a:r>
              <a:rPr lang="fr-CA" sz="2000"/>
              <a:t>, similaire à ceux retrouvés dans plusieurs grandes organisations</a:t>
            </a:r>
          </a:p>
        </p:txBody>
      </p:sp>
      <p:sp>
        <p:nvSpPr>
          <p:cNvPr id="10" name="Espace réservé du contenu 2">
            <a:extLst>
              <a:ext uri="{FF2B5EF4-FFF2-40B4-BE49-F238E27FC236}">
                <a16:creationId xmlns:a16="http://schemas.microsoft.com/office/drawing/2014/main" id="{5A3E32A9-2F50-C445-A6E7-09C272743043}"/>
              </a:ext>
            </a:extLst>
          </p:cNvPr>
          <p:cNvSpPr txBox="1">
            <a:spLocks/>
          </p:cNvSpPr>
          <p:nvPr>
            <p:custDataLst>
              <p:tags r:id="rId2"/>
            </p:custDataLst>
          </p:nvPr>
        </p:nvSpPr>
        <p:spPr>
          <a:xfrm>
            <a:off x="425450" y="356135"/>
            <a:ext cx="8285413" cy="3763478"/>
          </a:xfrm>
          <a:prstGeom prst="rect">
            <a:avLst/>
          </a:prstGeom>
          <a:solidFill>
            <a:schemeClr val="bg1"/>
          </a:solidFill>
        </p:spPr>
        <p:txBody>
          <a:bodyPr vert="horz" lIns="91440" tIns="45720" rIns="91440" bIns="45720" rtlCol="0">
            <a:noAutofit/>
          </a:bodyPr>
          <a:lst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fr-CA" sz="2000" dirty="0"/>
              <a:t>Connaître l’existence d’une </a:t>
            </a:r>
            <a:r>
              <a:rPr lang="fr-CA" sz="2000" dirty="0">
                <a:solidFill>
                  <a:schemeClr val="accent1"/>
                </a:solidFill>
                <a:latin typeface="Visby Slab CF Bold" panose="00000800000000000000" pitchFamily="50" charset="0"/>
              </a:rPr>
              <a:t>panoplie de métiers</a:t>
            </a:r>
            <a:r>
              <a:rPr lang="fr-CA" sz="2000" dirty="0">
                <a:solidFill>
                  <a:schemeClr val="accent4"/>
                </a:solidFill>
                <a:latin typeface="Visby Slab CF Bold" panose="00000800000000000000" pitchFamily="50" charset="0"/>
              </a:rPr>
              <a:t> </a:t>
            </a:r>
            <a:r>
              <a:rPr lang="fr-CA" sz="2000" dirty="0"/>
              <a:t>fortement en demande et liés à l’analyse des besoins d’affaires pour améliorer la performance des organisations à l’aide des leviers technologiques</a:t>
            </a:r>
          </a:p>
          <a:p>
            <a:pPr>
              <a:lnSpc>
                <a:spcPct val="130000"/>
              </a:lnSpc>
            </a:pPr>
            <a:r>
              <a:rPr lang="fr-CA" sz="2000" dirty="0"/>
              <a:t>Comprendre comment </a:t>
            </a:r>
            <a:r>
              <a:rPr lang="fr-CA" sz="2000" dirty="0">
                <a:solidFill>
                  <a:schemeClr val="accent1"/>
                </a:solidFill>
                <a:latin typeface="Visby Slab CF Bold" panose="00000800000000000000" pitchFamily="50" charset="0"/>
              </a:rPr>
              <a:t>structurer les données de l’organisation</a:t>
            </a:r>
            <a:r>
              <a:rPr lang="fr-CA" sz="2000" dirty="0">
                <a:solidFill>
                  <a:schemeClr val="accent4"/>
                </a:solidFill>
                <a:latin typeface="Visby Slab CF Bold" panose="00000800000000000000" pitchFamily="50" charset="0"/>
              </a:rPr>
              <a:t> </a:t>
            </a:r>
            <a:r>
              <a:rPr lang="fr-CA" sz="2000" dirty="0"/>
              <a:t>pour améliorer l’efficacité et l’efficience des opérations au quotidien</a:t>
            </a:r>
          </a:p>
          <a:p>
            <a:pPr>
              <a:lnSpc>
                <a:spcPct val="130000"/>
              </a:lnSpc>
            </a:pPr>
            <a:r>
              <a:rPr lang="fr-CA" sz="2000" dirty="0"/>
              <a:t>Comprendre comment </a:t>
            </a:r>
            <a:r>
              <a:rPr lang="fr-CA" sz="2000" dirty="0">
                <a:solidFill>
                  <a:schemeClr val="accent1"/>
                </a:solidFill>
                <a:latin typeface="Visby Slab CF Bold" panose="00000800000000000000" pitchFamily="50" charset="0"/>
              </a:rPr>
              <a:t>assurer l’intégrité des données</a:t>
            </a:r>
            <a:r>
              <a:rPr lang="fr-CA" sz="2000" dirty="0">
                <a:solidFill>
                  <a:schemeClr val="accent4"/>
                </a:solidFill>
                <a:latin typeface="Visby Slab CF Bold" panose="00000800000000000000" pitchFamily="50" charset="0"/>
              </a:rPr>
              <a:t> </a:t>
            </a:r>
            <a:r>
              <a:rPr lang="fr-CA" sz="2000" dirty="0"/>
              <a:t>tout au long de leur cycle de vie afin de mieux soutenir les décisions opérationnelles, tactiques et stratégiques (et assurer une reddition de compte)</a:t>
            </a:r>
          </a:p>
        </p:txBody>
      </p:sp>
      <p:sp>
        <p:nvSpPr>
          <p:cNvPr id="11" name="ZoneTexte 10">
            <a:extLst>
              <a:ext uri="{FF2B5EF4-FFF2-40B4-BE49-F238E27FC236}">
                <a16:creationId xmlns:a16="http://schemas.microsoft.com/office/drawing/2014/main" id="{35944FE4-523A-E5BB-3857-42B530D16BAC}"/>
              </a:ext>
            </a:extLst>
          </p:cNvPr>
          <p:cNvSpPr txBox="1"/>
          <p:nvPr>
            <p:custDataLst>
              <p:tags r:id="rId3"/>
            </p:custDataLst>
          </p:nvPr>
        </p:nvSpPr>
        <p:spPr>
          <a:xfrm>
            <a:off x="-119343" y="6300027"/>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lang="fr-CA" sz="4400">
                <a:solidFill>
                  <a:schemeClr val="accent6">
                    <a:lumMod val="20000"/>
                    <a:lumOff val="80000"/>
                  </a:schemeClr>
                </a:solidFill>
                <a:latin typeface="Visby CF Bold" pitchFamily="50" charset="0"/>
              </a:rPr>
              <a:t>À la fin du cours, la personne étudiante devrait...</a:t>
            </a:r>
            <a:endParaRPr kumimoji="0" lang="fr-CA" sz="4400" b="0" i="0" u="none" strike="noStrike" kern="1200" cap="none" spc="0" normalizeH="0" baseline="0" noProof="0">
              <a:ln>
                <a:noFill/>
              </a:ln>
              <a:solidFill>
                <a:schemeClr val="accent6">
                  <a:lumMod val="20000"/>
                  <a:lumOff val="80000"/>
                </a:schemeClr>
              </a:solidFill>
              <a:effectLst/>
              <a:uLnTx/>
              <a:uFillTx/>
              <a:latin typeface="Visby CF Bold" pitchFamily="50" charset="0"/>
              <a:ea typeface="+mn-ea"/>
              <a:cs typeface="+mn-cs"/>
            </a:endParaRPr>
          </a:p>
        </p:txBody>
      </p:sp>
      <p:pic>
        <p:nvPicPr>
          <p:cNvPr id="12" name="Image 11">
            <a:extLst>
              <a:ext uri="{FF2B5EF4-FFF2-40B4-BE49-F238E27FC236}">
                <a16:creationId xmlns:a16="http://schemas.microsoft.com/office/drawing/2014/main" id="{DD43386D-E534-D329-2153-169A566BFD95}"/>
              </a:ext>
            </a:extLst>
          </p:cNvPr>
          <p:cNvPicPr>
            <a:picLocks noChangeAspect="1"/>
          </p:cNvPicPr>
          <p:nvPr>
            <p:custDataLst>
              <p:tags r:id="rId4"/>
            </p:custDataLst>
          </p:nvPr>
        </p:nvPicPr>
        <p:blipFill rotWithShape="1">
          <a:blip r:embed="rId6"/>
          <a:srcRect l="7161" t="6841" r="8313" b="9278"/>
          <a:stretch>
            <a:fillRect/>
          </a:stretch>
        </p:blipFill>
        <p:spPr>
          <a:xfrm>
            <a:off x="8426451" y="510674"/>
            <a:ext cx="3327400" cy="3302000"/>
          </a:xfrm>
          <a:prstGeom prst="flowChartConnector">
            <a:avLst/>
          </a:prstGeom>
        </p:spPr>
      </p:pic>
    </p:spTree>
    <p:extLst>
      <p:ext uri="{BB962C8B-B14F-4D97-AF65-F5344CB8AC3E}">
        <p14:creationId xmlns:p14="http://schemas.microsoft.com/office/powerpoint/2010/main" val="2757428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Police, Graphique, capture d’écran, graphisme&#10;&#10;Description générée automatiquement">
            <a:extLst>
              <a:ext uri="{FF2B5EF4-FFF2-40B4-BE49-F238E27FC236}">
                <a16:creationId xmlns:a16="http://schemas.microsoft.com/office/drawing/2014/main" id="{2A2D18CE-EA39-C918-85E9-8709FACEF05E}"/>
              </a:ext>
            </a:extLst>
          </p:cNvPr>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15" name="Espace réservé du texte 14">
            <a:extLst>
              <a:ext uri="{FF2B5EF4-FFF2-40B4-BE49-F238E27FC236}">
                <a16:creationId xmlns:a16="http://schemas.microsoft.com/office/drawing/2014/main" id="{DC2F3AEA-C4FC-483C-F71C-61A8B1249025}"/>
              </a:ext>
            </a:extLst>
          </p:cNvPr>
          <p:cNvSpPr>
            <a:spLocks noGrp="1"/>
          </p:cNvSpPr>
          <p:nvPr>
            <p:ph type="body" sz="quarter" idx="10"/>
          </p:nvPr>
        </p:nvSpPr>
        <p:spPr>
          <a:xfrm>
            <a:off x="1735138" y="1524000"/>
            <a:ext cx="9353276" cy="4994275"/>
          </a:xfrm>
        </p:spPr>
        <p:txBody>
          <a:bodyPr/>
          <a:lstStyle/>
          <a:p>
            <a:pPr marL="342900" indent="-342900" fontAlgn="base">
              <a:spcAft>
                <a:spcPct val="0"/>
              </a:spcAft>
            </a:pPr>
            <a:r>
              <a:rPr lang="fr-FR" altLang="fr-FR" dirty="0"/>
              <a:t>Expliquer pourquoi les décisions en technologies de l'information relèvent des gestionnaires, pas uniquement des spécialistes TI</a:t>
            </a:r>
          </a:p>
          <a:p>
            <a:pPr marL="342900" indent="-342900" fontAlgn="base">
              <a:spcAft>
                <a:spcPct val="0"/>
              </a:spcAft>
            </a:pPr>
            <a:r>
              <a:rPr lang="fr-FR" altLang="fr-FR" dirty="0"/>
              <a:t>Distinguer les systèmes d'information de l'informatique et appliquer les quatre principes qui guident leur mobilisation</a:t>
            </a:r>
          </a:p>
          <a:p>
            <a:pPr marL="342900" indent="-342900" fontAlgn="base">
              <a:spcAft>
                <a:spcPct val="0"/>
              </a:spcAft>
            </a:pPr>
            <a:r>
              <a:rPr lang="fr-CA" dirty="0"/>
              <a:t>Décrire les obstacles à la prise de décision rencontrés lors de l'exécution d'un processus d'affaires manuel.</a:t>
            </a:r>
            <a:endParaRPr lang="fr-FR" altLang="fr-FR" dirty="0">
              <a:solidFill>
                <a:schemeClr val="tx1"/>
              </a:solidFill>
              <a:latin typeface="Arial" panose="020B0604020202020204" pitchFamily="34" charset="0"/>
            </a:endParaRPr>
          </a:p>
        </p:txBody>
      </p:sp>
    </p:spTree>
    <p:extLst>
      <p:ext uri="{BB962C8B-B14F-4D97-AF65-F5344CB8AC3E}">
        <p14:creationId xmlns:p14="http://schemas.microsoft.com/office/powerpoint/2010/main" val="1451066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9362C0-2829-ACDB-AA22-1283B013662D}"/>
              </a:ext>
            </a:extLst>
          </p:cNvPr>
          <p:cNvSpPr/>
          <p:nvPr>
            <p:custDataLst>
              <p:tags r:id="rId1"/>
            </p:custDataLst>
          </p:nvPr>
        </p:nvSpPr>
        <p:spPr>
          <a:xfrm>
            <a:off x="632589" y="1682684"/>
            <a:ext cx="2412000" cy="414686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Définitions</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FFFFFF"/>
              </a:solidFill>
              <a:effectLst/>
              <a:uLnTx/>
              <a:uFillTx/>
              <a:latin typeface="Visby CF" pitchFamily="2" charset="77"/>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p>
        </p:txBody>
      </p:sp>
      <p:sp>
        <p:nvSpPr>
          <p:cNvPr id="13" name="Rectangle 12">
            <a:extLst>
              <a:ext uri="{FF2B5EF4-FFF2-40B4-BE49-F238E27FC236}">
                <a16:creationId xmlns:a16="http://schemas.microsoft.com/office/drawing/2014/main" id="{196C7B5C-9624-E32C-7A7E-C962357C05E1}"/>
              </a:ext>
            </a:extLst>
          </p:cNvPr>
          <p:cNvSpPr/>
          <p:nvPr>
            <p:custDataLst>
              <p:tags r:id="rId2"/>
            </p:custDataLst>
          </p:nvPr>
        </p:nvSpPr>
        <p:spPr>
          <a:xfrm>
            <a:off x="3470805" y="1682683"/>
            <a:ext cx="2412000" cy="4146868"/>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Principes</a:t>
            </a:r>
          </a:p>
        </p:txBody>
      </p:sp>
      <p:sp>
        <p:nvSpPr>
          <p:cNvPr id="14" name="Rectangle 13">
            <a:extLst>
              <a:ext uri="{FF2B5EF4-FFF2-40B4-BE49-F238E27FC236}">
                <a16:creationId xmlns:a16="http://schemas.microsoft.com/office/drawing/2014/main" id="{FA6FB75D-3E61-AD34-6FFA-05ACFDE172AE}"/>
              </a:ext>
            </a:extLst>
          </p:cNvPr>
          <p:cNvSpPr/>
          <p:nvPr>
            <p:custDataLst>
              <p:tags r:id="rId3"/>
            </p:custDataLst>
          </p:nvPr>
        </p:nvSpPr>
        <p:spPr>
          <a:xfrm>
            <a:off x="6309021" y="1682686"/>
            <a:ext cx="2412000" cy="414686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Logistique</a:t>
            </a:r>
          </a:p>
        </p:txBody>
      </p:sp>
      <p:sp>
        <p:nvSpPr>
          <p:cNvPr id="3" name="Rectangle 2">
            <a:extLst>
              <a:ext uri="{FF2B5EF4-FFF2-40B4-BE49-F238E27FC236}">
                <a16:creationId xmlns:a16="http://schemas.microsoft.com/office/drawing/2014/main" id="{BBF1055A-20CF-0B6B-D89D-9652A2A30790}"/>
              </a:ext>
            </a:extLst>
          </p:cNvPr>
          <p:cNvSpPr/>
          <p:nvPr>
            <p:custDataLst>
              <p:tags r:id="rId4"/>
            </p:custDataLst>
          </p:nvPr>
        </p:nvSpPr>
        <p:spPr>
          <a:xfrm>
            <a:off x="9147238" y="1682683"/>
            <a:ext cx="2412000" cy="414686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2800" b="1">
                <a:solidFill>
                  <a:srgbClr val="FFFFFF"/>
                </a:solidFill>
                <a:latin typeface="Visby CF Bold" pitchFamily="2" charset="77"/>
              </a:rPr>
              <a:t>Exercice pratique</a:t>
            </a:r>
            <a:endPar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endParaRPr>
          </a:p>
        </p:txBody>
      </p:sp>
      <p:grpSp>
        <p:nvGrpSpPr>
          <p:cNvPr id="15" name="Groupe 14">
            <a:extLst>
              <a:ext uri="{FF2B5EF4-FFF2-40B4-BE49-F238E27FC236}">
                <a16:creationId xmlns:a16="http://schemas.microsoft.com/office/drawing/2014/main" id="{966AC80C-BE47-1E26-7AFA-3454B7C7F419}"/>
              </a:ext>
            </a:extLst>
          </p:cNvPr>
          <p:cNvGrpSpPr/>
          <p:nvPr>
            <p:custDataLst>
              <p:tags r:id="rId5"/>
            </p:custDataLst>
          </p:nvPr>
        </p:nvGrpSpPr>
        <p:grpSpPr>
          <a:xfrm>
            <a:off x="2450968" y="4817097"/>
            <a:ext cx="9108442" cy="358219"/>
            <a:chOff x="2450968" y="4817097"/>
            <a:chExt cx="9108442" cy="358219"/>
          </a:xfrm>
        </p:grpSpPr>
        <p:sp>
          <p:nvSpPr>
            <p:cNvPr id="16" name="Rectangle 15">
              <a:extLst>
                <a:ext uri="{FF2B5EF4-FFF2-40B4-BE49-F238E27FC236}">
                  <a16:creationId xmlns:a16="http://schemas.microsoft.com/office/drawing/2014/main" id="{04339CBF-4B9B-87B6-225F-8AD007CBC3C3}"/>
                </a:ext>
              </a:extLst>
            </p:cNvPr>
            <p:cNvSpPr/>
            <p:nvPr/>
          </p:nvSpPr>
          <p:spPr>
            <a:xfrm>
              <a:off x="2450969" y="4817097"/>
              <a:ext cx="9108441" cy="35821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CD54A37-571F-664D-CD64-67C1D3BB6BE1}"/>
                </a:ext>
              </a:extLst>
            </p:cNvPr>
            <p:cNvSpPr/>
            <p:nvPr/>
          </p:nvSpPr>
          <p:spPr>
            <a:xfrm>
              <a:off x="2450968" y="4817097"/>
              <a:ext cx="381065" cy="35821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54660ED4-0EF0-C337-B774-2C8748F714B7}"/>
              </a:ext>
            </a:extLst>
          </p:cNvPr>
          <p:cNvSpPr>
            <a:spLocks noGrp="1"/>
          </p:cNvSpPr>
          <p:nvPr>
            <p:ph type="title"/>
            <p:custDataLst>
              <p:tags r:id="rId6"/>
            </p:custDataLst>
          </p:nvPr>
        </p:nvSpPr>
        <p:spPr>
          <a:xfrm>
            <a:off x="492509" y="302168"/>
            <a:ext cx="10915200" cy="987552"/>
          </a:xfrm>
        </p:spPr>
        <p:txBody>
          <a:bodyPr/>
          <a:lstStyle/>
          <a:p>
            <a:r>
              <a:rPr lang="en-US">
                <a:solidFill>
                  <a:schemeClr val="tx2"/>
                </a:solidFill>
                <a:latin typeface="Visby Slab CF Bold" panose="00000800000000000000" pitchFamily="50" charset="0"/>
              </a:rPr>
              <a:t>Plan de la séance</a:t>
            </a:r>
            <a:endParaRPr lang="en-US" sz="5400">
              <a:solidFill>
                <a:schemeClr val="accent3"/>
              </a:solidFill>
              <a:latin typeface="Visby Slab CF Bold" panose="00000800000000000000" pitchFamily="50" charset="0"/>
            </a:endParaRPr>
          </a:p>
        </p:txBody>
      </p:sp>
    </p:spTree>
    <p:extLst>
      <p:ext uri="{BB962C8B-B14F-4D97-AF65-F5344CB8AC3E}">
        <p14:creationId xmlns:p14="http://schemas.microsoft.com/office/powerpoint/2010/main" val="3488971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D80B38E-847A-1FF8-30A3-46A37E15058F}"/>
              </a:ext>
            </a:extLst>
          </p:cNvPr>
          <p:cNvSpPr/>
          <p:nvPr>
            <p:custDataLst>
              <p:tags r:id="rId1"/>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2"/>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Titre 10">
            <a:extLst>
              <a:ext uri="{FF2B5EF4-FFF2-40B4-BE49-F238E27FC236}">
                <a16:creationId xmlns:a16="http://schemas.microsoft.com/office/drawing/2014/main" id="{BDBDD650-81AE-2DD9-C806-184762DC82F7}"/>
              </a:ext>
            </a:extLst>
          </p:cNvPr>
          <p:cNvSpPr>
            <a:spLocks noGrp="1"/>
          </p:cNvSpPr>
          <p:nvPr>
            <p:ph type="title"/>
            <p:custDataLst>
              <p:tags r:id="rId3"/>
            </p:custDataLst>
          </p:nvPr>
        </p:nvSpPr>
        <p:spPr/>
        <p:txBody>
          <a:bodyPr/>
          <a:lstStyle/>
          <a:p>
            <a:r>
              <a:rPr lang="fr-CA"/>
              <a:t>Définitions</a:t>
            </a:r>
          </a:p>
        </p:txBody>
      </p:sp>
    </p:spTree>
    <p:extLst>
      <p:ext uri="{BB962C8B-B14F-4D97-AF65-F5344CB8AC3E}">
        <p14:creationId xmlns:p14="http://schemas.microsoft.com/office/powerpoint/2010/main" val="432294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07269F2-224B-42A0-A2C0-E41286EEC65F}"/>
              </a:ext>
            </a:extLst>
          </p:cNvPr>
          <p:cNvSpPr>
            <a:spLocks noGrp="1"/>
          </p:cNvSpPr>
          <p:nvPr>
            <p:ph type="title"/>
            <p:custDataLst>
              <p:tags r:id="rId1"/>
            </p:custDataLst>
          </p:nvPr>
        </p:nvSpPr>
        <p:spPr>
          <a:solidFill>
            <a:schemeClr val="accent2"/>
          </a:solidFill>
          <a:ln>
            <a:solidFill>
              <a:schemeClr val="accent2"/>
            </a:solidFill>
          </a:ln>
        </p:spPr>
        <p:txBody>
          <a:bodyPr/>
          <a:lstStyle/>
          <a:p>
            <a:r>
              <a:rPr lang="fr-CA"/>
              <a:t>Mobiliser – Une définition</a:t>
            </a:r>
          </a:p>
        </p:txBody>
      </p:sp>
      <p:sp>
        <p:nvSpPr>
          <p:cNvPr id="4" name="Espace réservé du contenu 3">
            <a:extLst>
              <a:ext uri="{FF2B5EF4-FFF2-40B4-BE49-F238E27FC236}">
                <a16:creationId xmlns:a16="http://schemas.microsoft.com/office/drawing/2014/main" id="{50DA14A5-2DB6-BC66-97DB-5BE3729D3E72}"/>
              </a:ext>
            </a:extLst>
          </p:cNvPr>
          <p:cNvSpPr>
            <a:spLocks noGrp="1"/>
          </p:cNvSpPr>
          <p:nvPr>
            <p:ph idx="1"/>
            <p:custDataLst>
              <p:tags r:id="rId2"/>
            </p:custDataLst>
          </p:nvPr>
        </p:nvSpPr>
        <p:spPr/>
        <p:txBody>
          <a:bodyPr anchor="ctr">
            <a:normAutofit/>
          </a:bodyPr>
          <a:lstStyle/>
          <a:p>
            <a:pPr>
              <a:spcAft>
                <a:spcPts val="1200"/>
              </a:spcAft>
            </a:pPr>
            <a:r>
              <a:rPr lang="fr-CA" sz="2800"/>
              <a:t>Mobiliser consiste à </a:t>
            </a:r>
            <a:r>
              <a:rPr lang="fr-CA" sz="2800">
                <a:solidFill>
                  <a:schemeClr val="accent4"/>
                </a:solidFill>
                <a:latin typeface="Visby Slab CF Bold" panose="00000800000000000000" pitchFamily="50" charset="0"/>
              </a:rPr>
              <a:t>faire appel </a:t>
            </a:r>
            <a:r>
              <a:rPr lang="fr-CA" sz="2800"/>
              <a:t>à quelque chose, </a:t>
            </a:r>
            <a:r>
              <a:rPr lang="fr-CA" sz="2800">
                <a:solidFill>
                  <a:schemeClr val="accent4"/>
                </a:solidFill>
                <a:latin typeface="Visby Slab CF Bold" panose="00000800000000000000" pitchFamily="50" charset="0"/>
              </a:rPr>
              <a:t>mettre en action</a:t>
            </a:r>
            <a:r>
              <a:rPr lang="fr-CA" sz="2800"/>
              <a:t> des personnes, des idées [ou dans notre cas, des technologies numériques].</a:t>
            </a:r>
          </a:p>
          <a:p>
            <a:pPr>
              <a:spcAft>
                <a:spcPts val="1200"/>
              </a:spcAft>
            </a:pPr>
            <a:r>
              <a:rPr lang="fr-CA" sz="2800"/>
              <a:t>On aurait pu utiliser l’expression « tirer parti » qui est la traduction habituelle de « to leverage » dans le titre anglais.</a:t>
            </a:r>
          </a:p>
          <a:p>
            <a:pPr>
              <a:spcAft>
                <a:spcPts val="1200"/>
              </a:spcAft>
            </a:pPr>
            <a:endParaRPr lang="fr-CA" sz="2800"/>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B1A1EEDC-481D-835B-1CBE-792AC11F4EED}"/>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844068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07269F2-224B-42A0-A2C0-E41286EEC65F}"/>
              </a:ext>
            </a:extLst>
          </p:cNvPr>
          <p:cNvSpPr>
            <a:spLocks noGrp="1"/>
          </p:cNvSpPr>
          <p:nvPr>
            <p:ph type="title"/>
            <p:custDataLst>
              <p:tags r:id="rId1"/>
            </p:custDataLst>
          </p:nvPr>
        </p:nvSpPr>
        <p:spPr>
          <a:solidFill>
            <a:schemeClr val="accent2"/>
          </a:solidFill>
          <a:ln>
            <a:solidFill>
              <a:schemeClr val="accent2"/>
            </a:solidFill>
          </a:ln>
        </p:spPr>
        <p:txBody>
          <a:bodyPr/>
          <a:lstStyle/>
          <a:p>
            <a:r>
              <a:rPr lang="fr-CA"/>
              <a:t>Technologies numériques – Une définition</a:t>
            </a:r>
          </a:p>
        </p:txBody>
      </p:sp>
      <p:sp>
        <p:nvSpPr>
          <p:cNvPr id="4" name="Espace réservé du contenu 3">
            <a:extLst>
              <a:ext uri="{FF2B5EF4-FFF2-40B4-BE49-F238E27FC236}">
                <a16:creationId xmlns:a16="http://schemas.microsoft.com/office/drawing/2014/main" id="{50DA14A5-2DB6-BC66-97DB-5BE3729D3E72}"/>
              </a:ext>
            </a:extLst>
          </p:cNvPr>
          <p:cNvSpPr>
            <a:spLocks noGrp="1"/>
          </p:cNvSpPr>
          <p:nvPr>
            <p:ph idx="1"/>
            <p:custDataLst>
              <p:tags r:id="rId2"/>
            </p:custDataLst>
          </p:nvPr>
        </p:nvSpPr>
        <p:spPr/>
        <p:txBody>
          <a:bodyPr anchor="ctr">
            <a:normAutofit/>
          </a:bodyPr>
          <a:lstStyle/>
          <a:p>
            <a:pPr>
              <a:spcAft>
                <a:spcPts val="1200"/>
              </a:spcAft>
            </a:pPr>
            <a:r>
              <a:rPr lang="fr-CA" sz="2800"/>
              <a:t>La technologie numérique fait référence aux </a:t>
            </a:r>
            <a:r>
              <a:rPr lang="fr-CA" sz="2800">
                <a:solidFill>
                  <a:schemeClr val="accent1"/>
                </a:solidFill>
                <a:latin typeface="Visby Slab CF Bold" panose="00000800000000000000" pitchFamily="50" charset="0"/>
              </a:rPr>
              <a:t>outils électroniques</a:t>
            </a:r>
            <a:r>
              <a:rPr lang="fr-CA" sz="2800"/>
              <a:t> ou aux systèmes automatiques conçus pour stocker et traiter des données. Des milliers de </a:t>
            </a:r>
            <a:r>
              <a:rPr lang="fr-CA" sz="2800">
                <a:solidFill>
                  <a:schemeClr val="accent1"/>
                </a:solidFill>
                <a:latin typeface="Visby Slab CF Bold" panose="00000800000000000000" pitchFamily="50" charset="0"/>
              </a:rPr>
              <a:t>processus</a:t>
            </a:r>
            <a:r>
              <a:rPr lang="fr-CA" sz="2800"/>
              <a:t> chaque jour sont possibles grâce à la technologie numérique. Les exemples de technologie numérique comprennent les </a:t>
            </a:r>
            <a:r>
              <a:rPr lang="fr-CA" sz="2800">
                <a:solidFill>
                  <a:schemeClr val="accent1"/>
                </a:solidFill>
                <a:latin typeface="Visby Slab CF Bold" panose="00000800000000000000" pitchFamily="50" charset="0"/>
              </a:rPr>
              <a:t>téléphones intelligents</a:t>
            </a:r>
            <a:r>
              <a:rPr lang="fr-CA" sz="2800"/>
              <a:t>, les </a:t>
            </a:r>
            <a:r>
              <a:rPr lang="fr-CA" sz="2800">
                <a:solidFill>
                  <a:schemeClr val="accent1"/>
                </a:solidFill>
                <a:latin typeface="Visby Slab CF Bold" panose="00000800000000000000" pitchFamily="50" charset="0"/>
              </a:rPr>
              <a:t>médias sociaux</a:t>
            </a:r>
            <a:r>
              <a:rPr lang="fr-CA" sz="2800"/>
              <a:t>, les </a:t>
            </a:r>
            <a:r>
              <a:rPr lang="fr-CA" sz="2800">
                <a:solidFill>
                  <a:schemeClr val="accent1"/>
                </a:solidFill>
                <a:latin typeface="Visby Slab CF Bold" panose="00000800000000000000" pitchFamily="50" charset="0"/>
              </a:rPr>
              <a:t>jeux en ligne </a:t>
            </a:r>
            <a:r>
              <a:rPr lang="fr-CA" sz="2800"/>
              <a:t>et le </a:t>
            </a:r>
            <a:r>
              <a:rPr lang="fr-CA" sz="2800">
                <a:solidFill>
                  <a:schemeClr val="accent1"/>
                </a:solidFill>
                <a:latin typeface="Visby Slab CF Bold" panose="00000800000000000000" pitchFamily="50" charset="0"/>
              </a:rPr>
              <a:t>multimédia</a:t>
            </a:r>
            <a:r>
              <a:rPr lang="fr-CA" sz="2800"/>
              <a:t>. Ils fonctionnent grâce aux </a:t>
            </a:r>
            <a:r>
              <a:rPr lang="fr-CA" sz="2800">
                <a:solidFill>
                  <a:schemeClr val="accent1"/>
                </a:solidFill>
                <a:latin typeface="Visby Slab CF Bold" panose="00000800000000000000" pitchFamily="50" charset="0"/>
              </a:rPr>
              <a:t>systèmes d’information</a:t>
            </a:r>
            <a:r>
              <a:rPr lang="fr-CA" sz="2800"/>
              <a:t>.</a:t>
            </a:r>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B1A1EEDC-481D-835B-1CBE-792AC11F4EED}"/>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453926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07269F2-224B-42A0-A2C0-E41286EEC65F}"/>
              </a:ext>
            </a:extLst>
          </p:cNvPr>
          <p:cNvSpPr>
            <a:spLocks noGrp="1"/>
          </p:cNvSpPr>
          <p:nvPr>
            <p:ph type="title"/>
            <p:custDataLst>
              <p:tags r:id="rId1"/>
            </p:custDataLst>
          </p:nvPr>
        </p:nvSpPr>
        <p:spPr>
          <a:solidFill>
            <a:schemeClr val="accent2"/>
          </a:solidFill>
          <a:ln>
            <a:solidFill>
              <a:schemeClr val="accent2"/>
            </a:solidFill>
          </a:ln>
        </p:spPr>
        <p:txBody>
          <a:bodyPr/>
          <a:lstStyle/>
          <a:p>
            <a:r>
              <a:rPr lang="fr-CA"/>
              <a:t>Pourquoi mobiliser les technologies numériques?</a:t>
            </a:r>
          </a:p>
        </p:txBody>
      </p:sp>
      <p:sp>
        <p:nvSpPr>
          <p:cNvPr id="4" name="Espace réservé du contenu 3">
            <a:extLst>
              <a:ext uri="{FF2B5EF4-FFF2-40B4-BE49-F238E27FC236}">
                <a16:creationId xmlns:a16="http://schemas.microsoft.com/office/drawing/2014/main" id="{50DA14A5-2DB6-BC66-97DB-5BE3729D3E72}"/>
              </a:ext>
            </a:extLst>
          </p:cNvPr>
          <p:cNvSpPr>
            <a:spLocks noGrp="1"/>
          </p:cNvSpPr>
          <p:nvPr>
            <p:ph idx="1"/>
            <p:custDataLst>
              <p:tags r:id="rId2"/>
            </p:custDataLst>
          </p:nvPr>
        </p:nvSpPr>
        <p:spPr/>
        <p:txBody>
          <a:bodyPr anchor="ctr">
            <a:normAutofit/>
          </a:bodyPr>
          <a:lstStyle/>
          <a:p>
            <a:r>
              <a:rPr lang="fr-CA" sz="2800"/>
              <a:t>Le but de toute progression technologique est d’améliorer un procédé. Les technologies numériques ne sont pas différentes. Leur mobilisation permet de </a:t>
            </a:r>
            <a:r>
              <a:rPr lang="fr-CA" sz="2800">
                <a:solidFill>
                  <a:schemeClr val="accent3"/>
                </a:solidFill>
                <a:latin typeface="Visby Slab CF Bold" panose="00000800000000000000" pitchFamily="50" charset="0"/>
              </a:rPr>
              <a:t>rendre</a:t>
            </a:r>
            <a:r>
              <a:rPr lang="fr-CA" sz="2800">
                <a:solidFill>
                  <a:schemeClr val="accent2"/>
                </a:solidFill>
                <a:latin typeface="Visby Slab CF Bold" panose="00000800000000000000" pitchFamily="50" charset="0"/>
              </a:rPr>
              <a:t> </a:t>
            </a:r>
            <a:r>
              <a:rPr lang="fr-CA" sz="2800">
                <a:solidFill>
                  <a:schemeClr val="accent3"/>
                </a:solidFill>
                <a:latin typeface="Visby Slab CF Bold" panose="00000800000000000000" pitchFamily="50" charset="0"/>
              </a:rPr>
              <a:t>les processus plus efficaces, évolutifs et plus avantageux pour les utilisateurs finaux</a:t>
            </a:r>
            <a:r>
              <a:rPr lang="fr-CA" sz="2800"/>
              <a:t>.</a:t>
            </a:r>
          </a:p>
          <a:p>
            <a:endParaRPr lang="fr-CA" sz="2800"/>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B1A1EEDC-481D-835B-1CBE-792AC11F4EED}"/>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919789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AADC63-23B9-0941-786E-9202F40ED4BE}"/>
              </a:ext>
            </a:extLst>
          </p:cNvPr>
          <p:cNvSpPr>
            <a:spLocks noGrp="1"/>
          </p:cNvSpPr>
          <p:nvPr>
            <p:ph type="title"/>
          </p:nvPr>
        </p:nvSpPr>
        <p:spPr/>
        <p:txBody>
          <a:bodyPr/>
          <a:lstStyle/>
          <a:p>
            <a:r>
              <a:rPr lang="fr-FR" dirty="0"/>
              <a:t>Que sont les TI dans une organisation ?</a:t>
            </a:r>
          </a:p>
        </p:txBody>
      </p:sp>
      <p:sp>
        <p:nvSpPr>
          <p:cNvPr id="3" name="Espace réservé du contenu 2">
            <a:extLst>
              <a:ext uri="{FF2B5EF4-FFF2-40B4-BE49-F238E27FC236}">
                <a16:creationId xmlns:a16="http://schemas.microsoft.com/office/drawing/2014/main" id="{9056C415-4969-DC7E-C13E-D708B768F30B}"/>
              </a:ext>
            </a:extLst>
          </p:cNvPr>
          <p:cNvSpPr>
            <a:spLocks noGrp="1"/>
          </p:cNvSpPr>
          <p:nvPr>
            <p:ph idx="1"/>
          </p:nvPr>
        </p:nvSpPr>
        <p:spPr/>
        <p:txBody>
          <a:bodyPr>
            <a:normAutofit/>
          </a:bodyPr>
          <a:lstStyle/>
          <a:p>
            <a:r>
              <a:rPr lang="fr-CA" sz="2800" dirty="0"/>
              <a:t>Les TI ne sont pas le département qui répare ton ordinateur — c'est la fonction qui décide comment l'information circule dans l'organisation et quels outils </a:t>
            </a:r>
            <a:r>
              <a:rPr lang="fr-CA" sz="2800"/>
              <a:t>la soutiennent.</a:t>
            </a:r>
            <a:endParaRPr lang="fr-FR" sz="2800" dirty="0"/>
          </a:p>
        </p:txBody>
      </p:sp>
      <p:pic>
        <p:nvPicPr>
          <p:cNvPr id="45" name="Image 44">
            <a:extLst>
              <a:ext uri="{FF2B5EF4-FFF2-40B4-BE49-F238E27FC236}">
                <a16:creationId xmlns:a16="http://schemas.microsoft.com/office/drawing/2014/main" id="{601697BD-1C53-7043-D625-D631B4D71342}"/>
              </a:ext>
            </a:extLst>
          </p:cNvPr>
          <p:cNvPicPr>
            <a:picLocks noChangeAspect="1"/>
          </p:cNvPicPr>
          <p:nvPr/>
        </p:nvPicPr>
        <p:blipFill>
          <a:blip r:embed="rId3">
            <a:alphaModFix amt="50000"/>
          </a:blip>
          <a:stretch>
            <a:fillRect/>
          </a:stretch>
        </p:blipFill>
        <p:spPr>
          <a:xfrm>
            <a:off x="3046415" y="3233350"/>
            <a:ext cx="6124130" cy="3435008"/>
          </a:xfrm>
          <a:prstGeom prst="rect">
            <a:avLst/>
          </a:prstGeom>
        </p:spPr>
      </p:pic>
      <p:pic>
        <p:nvPicPr>
          <p:cNvPr id="46" name="Image 45" descr="Une image contenant Police, Graphique, capture d’écran, graphisme&#10;&#10;Description générée automatiquement">
            <a:extLst>
              <a:ext uri="{FF2B5EF4-FFF2-40B4-BE49-F238E27FC236}">
                <a16:creationId xmlns:a16="http://schemas.microsoft.com/office/drawing/2014/main" id="{B5098617-3522-C2C9-990E-25C653350370}"/>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688342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2229DA5F-873E-4D6E-D3DB-955BBBD243C3}"/>
              </a:ext>
            </a:extLst>
          </p:cNvPr>
          <p:cNvSpPr>
            <a:spLocks noGrp="1"/>
          </p:cNvSpPr>
          <p:nvPr>
            <p:ph idx="1"/>
            <p:custDataLst>
              <p:tags r:id="rId1"/>
            </p:custDataLst>
          </p:nvPr>
        </p:nvSpPr>
        <p:spPr/>
        <p:txBody>
          <a:bodyPr>
            <a:normAutofit fontScale="92500"/>
          </a:bodyPr>
          <a:lstStyle/>
          <a:p>
            <a:r>
              <a:rPr lang="fr-CA"/>
              <a:t>Un système d’information est un ensemble bien défini de tâches élémentaires qui </a:t>
            </a:r>
            <a:r>
              <a:rPr lang="fr-CA">
                <a:solidFill>
                  <a:schemeClr val="accent1"/>
                </a:solidFill>
                <a:latin typeface="Visby Slab CF Bold" panose="00000800000000000000" pitchFamily="50" charset="0"/>
              </a:rPr>
              <a:t>saisissent</a:t>
            </a:r>
            <a:r>
              <a:rPr lang="fr-CA"/>
              <a:t>, </a:t>
            </a:r>
            <a:r>
              <a:rPr lang="fr-CA">
                <a:solidFill>
                  <a:schemeClr val="accent1"/>
                </a:solidFill>
                <a:latin typeface="Visby Slab CF Bold" panose="00000800000000000000" pitchFamily="50" charset="0"/>
              </a:rPr>
              <a:t>stockent</a:t>
            </a:r>
            <a:r>
              <a:rPr lang="fr-CA"/>
              <a:t>, </a:t>
            </a:r>
            <a:r>
              <a:rPr lang="fr-CA">
                <a:solidFill>
                  <a:schemeClr val="accent1"/>
                </a:solidFill>
                <a:latin typeface="Visby Slab CF Bold" panose="00000800000000000000" pitchFamily="50" charset="0"/>
              </a:rPr>
              <a:t>transforment</a:t>
            </a:r>
            <a:r>
              <a:rPr lang="fr-CA"/>
              <a:t> et </a:t>
            </a:r>
            <a:r>
              <a:rPr lang="fr-CA">
                <a:solidFill>
                  <a:schemeClr val="accent1"/>
                </a:solidFill>
                <a:latin typeface="Visby Slab CF Bold" panose="00000800000000000000" pitchFamily="50" charset="0"/>
              </a:rPr>
              <a:t>diffusent</a:t>
            </a:r>
            <a:r>
              <a:rPr lang="fr-CA"/>
              <a:t> des données</a:t>
            </a:r>
          </a:p>
          <a:p>
            <a:endParaRPr lang="fr-CA"/>
          </a:p>
          <a:p>
            <a:endParaRPr lang="fr-CA"/>
          </a:p>
          <a:p>
            <a:endParaRPr lang="fr-CA"/>
          </a:p>
          <a:p>
            <a:endParaRPr lang="fr-CA"/>
          </a:p>
          <a:p>
            <a:endParaRPr lang="fr-CA"/>
          </a:p>
          <a:p>
            <a:endParaRPr lang="fr-CA"/>
          </a:p>
          <a:p>
            <a:endParaRPr lang="fr-CA" sz="1300"/>
          </a:p>
          <a:p>
            <a:r>
              <a:rPr lang="fr-CA"/>
              <a:t>Il sera réalisé physiquement grâce aux </a:t>
            </a:r>
            <a:r>
              <a:rPr lang="fr-CA">
                <a:solidFill>
                  <a:schemeClr val="accent2"/>
                </a:solidFill>
                <a:latin typeface="Visby Slab CF Bold" panose="00000800000000000000" pitchFamily="50" charset="0"/>
              </a:rPr>
              <a:t>personnes</a:t>
            </a:r>
            <a:r>
              <a:rPr lang="fr-CA"/>
              <a:t>, aux </a:t>
            </a:r>
            <a:r>
              <a:rPr lang="fr-CA">
                <a:solidFill>
                  <a:schemeClr val="accent2"/>
                </a:solidFill>
                <a:latin typeface="Visby Slab CF Bold" panose="00000800000000000000" pitchFamily="50" charset="0"/>
              </a:rPr>
              <a:t>procédures</a:t>
            </a:r>
            <a:r>
              <a:rPr lang="fr-CA"/>
              <a:t>, aux </a:t>
            </a:r>
            <a:r>
              <a:rPr lang="fr-CA">
                <a:solidFill>
                  <a:schemeClr val="accent2"/>
                </a:solidFill>
                <a:latin typeface="Visby Slab CF Bold" panose="00000800000000000000" pitchFamily="50" charset="0"/>
              </a:rPr>
              <a:t>données</a:t>
            </a:r>
            <a:r>
              <a:rPr lang="fr-CA"/>
              <a:t>, </a:t>
            </a:r>
            <a:br>
              <a:rPr lang="fr-CA"/>
            </a:br>
            <a:r>
              <a:rPr lang="fr-CA"/>
              <a:t>aux </a:t>
            </a:r>
            <a:r>
              <a:rPr lang="fr-CA">
                <a:solidFill>
                  <a:schemeClr val="accent2"/>
                </a:solidFill>
                <a:latin typeface="Visby Slab CF Bold" panose="00000800000000000000" pitchFamily="50" charset="0"/>
              </a:rPr>
              <a:t>logiciels</a:t>
            </a:r>
            <a:r>
              <a:rPr lang="fr-CA"/>
              <a:t> et au </a:t>
            </a:r>
            <a:r>
              <a:rPr lang="fr-CA">
                <a:solidFill>
                  <a:schemeClr val="accent2"/>
                </a:solidFill>
                <a:latin typeface="Visby Slab CF Bold" panose="00000800000000000000" pitchFamily="50" charset="0"/>
              </a:rPr>
              <a:t>matériel </a:t>
            </a:r>
            <a:r>
              <a:rPr lang="fr-CA"/>
              <a:t>informatique et de </a:t>
            </a:r>
            <a:r>
              <a:rPr lang="fr-CA">
                <a:solidFill>
                  <a:schemeClr val="accent2"/>
                </a:solidFill>
                <a:latin typeface="Visby Slab CF Bold" panose="00000800000000000000" pitchFamily="50" charset="0"/>
              </a:rPr>
              <a:t>télécommunication</a:t>
            </a:r>
          </a:p>
        </p:txBody>
      </p:sp>
      <p:sp>
        <p:nvSpPr>
          <p:cNvPr id="3" name="Titre 2">
            <a:extLst>
              <a:ext uri="{FF2B5EF4-FFF2-40B4-BE49-F238E27FC236}">
                <a16:creationId xmlns:a16="http://schemas.microsoft.com/office/drawing/2014/main" id="{71B78386-0BF7-086C-3CC4-1BEB597D3A0E}"/>
              </a:ext>
            </a:extLst>
          </p:cNvPr>
          <p:cNvSpPr>
            <a:spLocks noGrp="1"/>
          </p:cNvSpPr>
          <p:nvPr>
            <p:ph type="title"/>
            <p:custDataLst>
              <p:tags r:id="rId2"/>
            </p:custDataLst>
          </p:nvPr>
        </p:nvSpPr>
        <p:spPr>
          <a:solidFill>
            <a:schemeClr val="accent2"/>
          </a:solidFill>
          <a:ln>
            <a:solidFill>
              <a:schemeClr val="accent2"/>
            </a:solidFill>
          </a:ln>
        </p:spPr>
        <p:txBody>
          <a:bodyPr/>
          <a:lstStyle/>
          <a:p>
            <a:r>
              <a:rPr lang="fr-CA"/>
              <a:t>Systèmes d’information – Une définition</a:t>
            </a:r>
          </a:p>
        </p:txBody>
      </p:sp>
      <p:pic>
        <p:nvPicPr>
          <p:cNvPr id="37" name="Image 36" descr="Une image contenant Police, Graphique, capture d’écran, graphisme&#10;&#10;Description générée automatiquement">
            <a:extLst>
              <a:ext uri="{FF2B5EF4-FFF2-40B4-BE49-F238E27FC236}">
                <a16:creationId xmlns:a16="http://schemas.microsoft.com/office/drawing/2014/main" id="{F1055515-CC39-9632-ECE9-E2801097D77B}"/>
              </a:ext>
            </a:extLst>
          </p:cNvPr>
          <p:cNvPicPr>
            <a:picLocks noChangeAspect="1"/>
          </p:cNvPicPr>
          <p:nvPr>
            <p:custDataLst>
              <p:tags r:id="rId3"/>
            </p:custDataLst>
          </p:nvPr>
        </p:nvPicPr>
        <p:blipFill>
          <a:blip r:embed="rId1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pSp>
        <p:nvGrpSpPr>
          <p:cNvPr id="36" name="Groupe 35">
            <a:extLst>
              <a:ext uri="{FF2B5EF4-FFF2-40B4-BE49-F238E27FC236}">
                <a16:creationId xmlns:a16="http://schemas.microsoft.com/office/drawing/2014/main" id="{26347D2E-7B3C-FBDC-47D8-FDA335E9BE7D}"/>
              </a:ext>
            </a:extLst>
          </p:cNvPr>
          <p:cNvGrpSpPr/>
          <p:nvPr>
            <p:custDataLst>
              <p:tags r:id="rId4"/>
            </p:custDataLst>
          </p:nvPr>
        </p:nvGrpSpPr>
        <p:grpSpPr>
          <a:xfrm>
            <a:off x="1781497" y="1580498"/>
            <a:ext cx="8629006" cy="3462843"/>
            <a:chOff x="1781497" y="1580498"/>
            <a:chExt cx="8629006" cy="3462843"/>
          </a:xfrm>
        </p:grpSpPr>
        <p:sp>
          <p:nvSpPr>
            <p:cNvPr id="38" name="Ellipse 37">
              <a:extLst>
                <a:ext uri="{FF2B5EF4-FFF2-40B4-BE49-F238E27FC236}">
                  <a16:creationId xmlns:a16="http://schemas.microsoft.com/office/drawing/2014/main" id="{5C9ABF6C-714C-62C2-0CAD-68B63F51C431}"/>
                </a:ext>
              </a:extLst>
            </p:cNvPr>
            <p:cNvSpPr/>
            <p:nvPr>
              <p:custDataLst>
                <p:tags r:id="rId5"/>
              </p:custDataLst>
            </p:nvPr>
          </p:nvSpPr>
          <p:spPr>
            <a:xfrm>
              <a:off x="3633499" y="2464466"/>
              <a:ext cx="4902557" cy="1536597"/>
            </a:xfrm>
            <a:prstGeom prst="ellipse">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aphicFrame>
          <p:nvGraphicFramePr>
            <p:cNvPr id="39" name="Espace réservé du contenu 4">
              <a:extLst>
                <a:ext uri="{FF2B5EF4-FFF2-40B4-BE49-F238E27FC236}">
                  <a16:creationId xmlns:a16="http://schemas.microsoft.com/office/drawing/2014/main" id="{2C70B4D9-78B3-EC8C-6A18-0AA282C525B6}"/>
                </a:ext>
              </a:extLst>
            </p:cNvPr>
            <p:cNvGraphicFramePr>
              <a:graphicFrameLocks/>
            </p:cNvGraphicFramePr>
            <p:nvPr>
              <p:custDataLst>
                <p:tags r:id="rId6"/>
              </p:custDataLst>
              <p:extLst>
                <p:ext uri="{D42A27DB-BD31-4B8C-83A1-F6EECF244321}">
                  <p14:modId xmlns:p14="http://schemas.microsoft.com/office/powerpoint/2010/main" val="1604880200"/>
                </p:ext>
              </p:extLst>
            </p:nvPr>
          </p:nvGraphicFramePr>
          <p:xfrm>
            <a:off x="2494429" y="1580498"/>
            <a:ext cx="7162473" cy="331083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pSp>
          <p:nvGrpSpPr>
            <p:cNvPr id="40" name="Groupe 39">
              <a:extLst>
                <a:ext uri="{FF2B5EF4-FFF2-40B4-BE49-F238E27FC236}">
                  <a16:creationId xmlns:a16="http://schemas.microsoft.com/office/drawing/2014/main" id="{AA56476B-64E8-73A9-1BA7-54998E8FD2D5}"/>
                </a:ext>
              </a:extLst>
            </p:cNvPr>
            <p:cNvGrpSpPr/>
            <p:nvPr>
              <p:custDataLst>
                <p:tags r:id="rId7"/>
              </p:custDataLst>
            </p:nvPr>
          </p:nvGrpSpPr>
          <p:grpSpPr>
            <a:xfrm>
              <a:off x="4825025" y="4209717"/>
              <a:ext cx="2519506" cy="332117"/>
              <a:chOff x="2651861" y="1130785"/>
              <a:chExt cx="946003" cy="567602"/>
            </a:xfrm>
            <a:solidFill>
              <a:schemeClr val="accent6"/>
            </a:solidFill>
          </p:grpSpPr>
          <p:sp>
            <p:nvSpPr>
              <p:cNvPr id="65" name="Rectangle à coins arrondis 9">
                <a:extLst>
                  <a:ext uri="{FF2B5EF4-FFF2-40B4-BE49-F238E27FC236}">
                    <a16:creationId xmlns:a16="http://schemas.microsoft.com/office/drawing/2014/main" id="{F9171F14-3551-BC08-C891-FD755137EB89}"/>
                  </a:ext>
                </a:extLst>
              </p:cNvPr>
              <p:cNvSpPr/>
              <p:nvPr/>
            </p:nvSpPr>
            <p:spPr>
              <a:xfrm>
                <a:off x="2651861" y="1130785"/>
                <a:ext cx="946003" cy="567602"/>
              </a:xfrm>
              <a:prstGeom prst="roundRect">
                <a:avLst>
                  <a:gd name="adj" fmla="val 10000"/>
                </a:avLst>
              </a:prstGeom>
              <a:grpFill/>
              <a:ln>
                <a:solidFill>
                  <a:schemeClr val="accent6"/>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a:p>
            </p:txBody>
          </p:sp>
          <p:sp>
            <p:nvSpPr>
              <p:cNvPr id="66" name="Rectangle 65">
                <a:extLst>
                  <a:ext uri="{FF2B5EF4-FFF2-40B4-BE49-F238E27FC236}">
                    <a16:creationId xmlns:a16="http://schemas.microsoft.com/office/drawing/2014/main" id="{14CCD710-5746-6BF1-46E8-A335F2621EB0}"/>
                  </a:ext>
                </a:extLst>
              </p:cNvPr>
              <p:cNvSpPr/>
              <p:nvPr/>
            </p:nvSpPr>
            <p:spPr>
              <a:xfrm>
                <a:off x="2668485" y="1147409"/>
                <a:ext cx="912755" cy="534354"/>
              </a:xfrm>
              <a:prstGeom prst="rect">
                <a:avLst/>
              </a:prstGeom>
              <a:grpFill/>
              <a:ln>
                <a:solidFill>
                  <a:schemeClr val="accent6"/>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100">
                    <a:solidFill>
                      <a:schemeClr val="tx1"/>
                    </a:solidFill>
                    <a:latin typeface="Visby CF" pitchFamily="50" charset="0"/>
                  </a:rPr>
                  <a:t>Dépôts de données</a:t>
                </a:r>
              </a:p>
            </p:txBody>
          </p:sp>
        </p:grpSp>
        <p:grpSp>
          <p:nvGrpSpPr>
            <p:cNvPr id="41" name="Groupe 40">
              <a:extLst>
                <a:ext uri="{FF2B5EF4-FFF2-40B4-BE49-F238E27FC236}">
                  <a16:creationId xmlns:a16="http://schemas.microsoft.com/office/drawing/2014/main" id="{CEAC7384-DC2E-23B5-EC62-CCA5C1D77FC3}"/>
                </a:ext>
              </a:extLst>
            </p:cNvPr>
            <p:cNvGrpSpPr/>
            <p:nvPr>
              <p:custDataLst>
                <p:tags r:id="rId8"/>
              </p:custDataLst>
            </p:nvPr>
          </p:nvGrpSpPr>
          <p:grpSpPr>
            <a:xfrm rot="5400000">
              <a:off x="5524639" y="3837501"/>
              <a:ext cx="520493" cy="119295"/>
              <a:chOff x="3692465" y="1297282"/>
              <a:chExt cx="200552" cy="234608"/>
            </a:xfrm>
            <a:solidFill>
              <a:schemeClr val="accent1"/>
            </a:solidFill>
          </p:grpSpPr>
          <p:sp>
            <p:nvSpPr>
              <p:cNvPr id="63" name="Flèche droite 12">
                <a:extLst>
                  <a:ext uri="{FF2B5EF4-FFF2-40B4-BE49-F238E27FC236}">
                    <a16:creationId xmlns:a16="http://schemas.microsoft.com/office/drawing/2014/main" id="{15CAD5B7-771C-2B5D-30F7-42BEAC3BE5C2}"/>
                  </a:ext>
                </a:extLst>
              </p:cNvPr>
              <p:cNvSpPr/>
              <p:nvPr/>
            </p:nvSpPr>
            <p:spPr>
              <a:xfrm>
                <a:off x="3692465" y="1297282"/>
                <a:ext cx="200552" cy="234608"/>
              </a:xfrm>
              <a:prstGeom prst="rightArrow">
                <a:avLst>
                  <a:gd name="adj1" fmla="val 60000"/>
                  <a:gd name="adj2" fmla="val 50000"/>
                </a:avLst>
              </a:prstGeom>
              <a:grpFill/>
              <a:ln>
                <a:solidFill>
                  <a:schemeClr val="accent1"/>
                </a:solidFill>
              </a:ln>
            </p:spPr>
            <p:style>
              <a:lnRef idx="0">
                <a:scrgbClr r="0" g="0" b="0"/>
              </a:lnRef>
              <a:fillRef idx="1">
                <a:scrgbClr r="0" g="0" b="0"/>
              </a:fillRef>
              <a:effectRef idx="0">
                <a:schemeClr val="accent5">
                  <a:tint val="60000"/>
                  <a:hueOff val="0"/>
                  <a:satOff val="0"/>
                  <a:lumOff val="0"/>
                  <a:alphaOff val="0"/>
                </a:schemeClr>
              </a:effectRef>
              <a:fontRef idx="minor">
                <a:schemeClr val="lt1"/>
              </a:fontRef>
            </p:style>
            <p:txBody>
              <a:bodyPr/>
              <a:lstStyle/>
              <a:p>
                <a:endParaRPr lang="fr-CA"/>
              </a:p>
            </p:txBody>
          </p:sp>
          <p:sp>
            <p:nvSpPr>
              <p:cNvPr id="64" name="Flèche droite 4">
                <a:extLst>
                  <a:ext uri="{FF2B5EF4-FFF2-40B4-BE49-F238E27FC236}">
                    <a16:creationId xmlns:a16="http://schemas.microsoft.com/office/drawing/2014/main" id="{4375ED16-69E1-E165-1D7C-A0B4E669BC28}"/>
                  </a:ext>
                </a:extLst>
              </p:cNvPr>
              <p:cNvSpPr/>
              <p:nvPr/>
            </p:nvSpPr>
            <p:spPr>
              <a:xfrm>
                <a:off x="3692465" y="1344204"/>
                <a:ext cx="140386" cy="140764"/>
              </a:xfrm>
              <a:prstGeom prst="rect">
                <a:avLst/>
              </a:prstGeom>
              <a:grpFill/>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311150">
                  <a:lnSpc>
                    <a:spcPct val="90000"/>
                  </a:lnSpc>
                  <a:spcBef>
                    <a:spcPct val="0"/>
                  </a:spcBef>
                  <a:spcAft>
                    <a:spcPct val="35000"/>
                  </a:spcAft>
                </a:pPr>
                <a:endParaRPr lang="fr-CA" sz="700">
                  <a:solidFill>
                    <a:schemeClr val="tx1"/>
                  </a:solidFill>
                </a:endParaRPr>
              </a:p>
            </p:txBody>
          </p:sp>
        </p:grpSp>
        <p:grpSp>
          <p:nvGrpSpPr>
            <p:cNvPr id="42" name="Groupe 41">
              <a:extLst>
                <a:ext uri="{FF2B5EF4-FFF2-40B4-BE49-F238E27FC236}">
                  <a16:creationId xmlns:a16="http://schemas.microsoft.com/office/drawing/2014/main" id="{AEAC9997-3A3F-E37A-08DE-0E28BE5201E8}"/>
                </a:ext>
              </a:extLst>
            </p:cNvPr>
            <p:cNvGrpSpPr/>
            <p:nvPr>
              <p:custDataLst>
                <p:tags r:id="rId9"/>
              </p:custDataLst>
            </p:nvPr>
          </p:nvGrpSpPr>
          <p:grpSpPr>
            <a:xfrm rot="16200000" flipV="1">
              <a:off x="6105351" y="3830138"/>
              <a:ext cx="520493" cy="119295"/>
              <a:chOff x="3692465" y="1297282"/>
              <a:chExt cx="200552" cy="234608"/>
            </a:xfrm>
            <a:solidFill>
              <a:schemeClr val="accent1"/>
            </a:solidFill>
          </p:grpSpPr>
          <p:sp>
            <p:nvSpPr>
              <p:cNvPr id="61" name="Flèche droite 15">
                <a:extLst>
                  <a:ext uri="{FF2B5EF4-FFF2-40B4-BE49-F238E27FC236}">
                    <a16:creationId xmlns:a16="http://schemas.microsoft.com/office/drawing/2014/main" id="{9CC66FC1-9FF3-85E2-ADCF-81FAF3BDDC30}"/>
                  </a:ext>
                </a:extLst>
              </p:cNvPr>
              <p:cNvSpPr/>
              <p:nvPr/>
            </p:nvSpPr>
            <p:spPr>
              <a:xfrm>
                <a:off x="3692465" y="1297282"/>
                <a:ext cx="200552" cy="234608"/>
              </a:xfrm>
              <a:prstGeom prst="rightArrow">
                <a:avLst>
                  <a:gd name="adj1" fmla="val 60000"/>
                  <a:gd name="adj2" fmla="val 50000"/>
                </a:avLst>
              </a:prstGeom>
              <a:grpFill/>
              <a:ln>
                <a:solidFill>
                  <a:schemeClr val="accent1"/>
                </a:solidFill>
              </a:ln>
            </p:spPr>
            <p:style>
              <a:lnRef idx="0">
                <a:scrgbClr r="0" g="0" b="0"/>
              </a:lnRef>
              <a:fillRef idx="1">
                <a:scrgbClr r="0" g="0" b="0"/>
              </a:fillRef>
              <a:effectRef idx="0">
                <a:schemeClr val="accent5">
                  <a:tint val="60000"/>
                  <a:hueOff val="0"/>
                  <a:satOff val="0"/>
                  <a:lumOff val="0"/>
                  <a:alphaOff val="0"/>
                </a:schemeClr>
              </a:effectRef>
              <a:fontRef idx="minor">
                <a:schemeClr val="lt1"/>
              </a:fontRef>
            </p:style>
            <p:txBody>
              <a:bodyPr/>
              <a:lstStyle/>
              <a:p>
                <a:endParaRPr lang="fr-CA"/>
              </a:p>
            </p:txBody>
          </p:sp>
          <p:sp>
            <p:nvSpPr>
              <p:cNvPr id="62" name="Flèche droite 4">
                <a:extLst>
                  <a:ext uri="{FF2B5EF4-FFF2-40B4-BE49-F238E27FC236}">
                    <a16:creationId xmlns:a16="http://schemas.microsoft.com/office/drawing/2014/main" id="{56C957CB-368F-1BED-E697-1ACC06145AB0}"/>
                  </a:ext>
                </a:extLst>
              </p:cNvPr>
              <p:cNvSpPr/>
              <p:nvPr/>
            </p:nvSpPr>
            <p:spPr>
              <a:xfrm>
                <a:off x="3692465" y="1344204"/>
                <a:ext cx="140386" cy="140764"/>
              </a:xfrm>
              <a:prstGeom prst="rect">
                <a:avLst/>
              </a:prstGeom>
              <a:grpFill/>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311150">
                  <a:lnSpc>
                    <a:spcPct val="90000"/>
                  </a:lnSpc>
                  <a:spcBef>
                    <a:spcPct val="0"/>
                  </a:spcBef>
                  <a:spcAft>
                    <a:spcPct val="35000"/>
                  </a:spcAft>
                </a:pPr>
                <a:endParaRPr lang="fr-CA" sz="700">
                  <a:solidFill>
                    <a:schemeClr val="tx1"/>
                  </a:solidFill>
                </a:endParaRPr>
              </a:p>
            </p:txBody>
          </p:sp>
        </p:grpSp>
        <p:grpSp>
          <p:nvGrpSpPr>
            <p:cNvPr id="43" name="Groupe 42">
              <a:extLst>
                <a:ext uri="{FF2B5EF4-FFF2-40B4-BE49-F238E27FC236}">
                  <a16:creationId xmlns:a16="http://schemas.microsoft.com/office/drawing/2014/main" id="{835C8E31-C8EC-DBF3-DF79-DD6FC13B6E64}"/>
                </a:ext>
              </a:extLst>
            </p:cNvPr>
            <p:cNvGrpSpPr/>
            <p:nvPr>
              <p:custDataLst>
                <p:tags r:id="rId10"/>
              </p:custDataLst>
            </p:nvPr>
          </p:nvGrpSpPr>
          <p:grpSpPr>
            <a:xfrm>
              <a:off x="1781497" y="4750487"/>
              <a:ext cx="1277046" cy="292854"/>
              <a:chOff x="3051" y="1130785"/>
              <a:chExt cx="946003" cy="567602"/>
            </a:xfrm>
            <a:solidFill>
              <a:schemeClr val="bg1">
                <a:lumMod val="95000"/>
              </a:schemeClr>
            </a:solidFill>
          </p:grpSpPr>
          <p:sp>
            <p:nvSpPr>
              <p:cNvPr id="59" name="Rectangle à coins arrondis 18">
                <a:extLst>
                  <a:ext uri="{FF2B5EF4-FFF2-40B4-BE49-F238E27FC236}">
                    <a16:creationId xmlns:a16="http://schemas.microsoft.com/office/drawing/2014/main" id="{8BB9D507-205B-3CA8-A099-3F67FDD513A2}"/>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60" name="Rectangle 59">
                <a:extLst>
                  <a:ext uri="{FF2B5EF4-FFF2-40B4-BE49-F238E27FC236}">
                    <a16:creationId xmlns:a16="http://schemas.microsoft.com/office/drawing/2014/main" id="{E424FE44-2884-9FC0-027E-962C0872C995}"/>
                  </a:ext>
                </a:extLst>
              </p:cNvPr>
              <p:cNvSpPr/>
              <p:nvPr/>
            </p:nvSpPr>
            <p:spPr>
              <a:xfrm>
                <a:off x="26425" y="1147408"/>
                <a:ext cx="912755" cy="534353"/>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Télécommunication</a:t>
                </a:r>
              </a:p>
            </p:txBody>
          </p:sp>
        </p:grpSp>
        <p:grpSp>
          <p:nvGrpSpPr>
            <p:cNvPr id="44" name="Groupe 43">
              <a:extLst>
                <a:ext uri="{FF2B5EF4-FFF2-40B4-BE49-F238E27FC236}">
                  <a16:creationId xmlns:a16="http://schemas.microsoft.com/office/drawing/2014/main" id="{E1253493-F541-50FF-1C23-4D17BD3A869D}"/>
                </a:ext>
              </a:extLst>
            </p:cNvPr>
            <p:cNvGrpSpPr/>
            <p:nvPr>
              <p:custDataLst>
                <p:tags r:id="rId11"/>
              </p:custDataLst>
            </p:nvPr>
          </p:nvGrpSpPr>
          <p:grpSpPr>
            <a:xfrm>
              <a:off x="3251889" y="4750487"/>
              <a:ext cx="1277046" cy="292854"/>
              <a:chOff x="3051" y="1130785"/>
              <a:chExt cx="946003" cy="567602"/>
            </a:xfrm>
            <a:solidFill>
              <a:schemeClr val="bg1">
                <a:lumMod val="95000"/>
              </a:schemeClr>
            </a:solidFill>
          </p:grpSpPr>
          <p:sp>
            <p:nvSpPr>
              <p:cNvPr id="57" name="Rectangle à coins arrondis 21">
                <a:extLst>
                  <a:ext uri="{FF2B5EF4-FFF2-40B4-BE49-F238E27FC236}">
                    <a16:creationId xmlns:a16="http://schemas.microsoft.com/office/drawing/2014/main" id="{8F9F6288-5432-C8FF-D141-F18E8312227F}"/>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58" name="Rectangle 57">
                <a:extLst>
                  <a:ext uri="{FF2B5EF4-FFF2-40B4-BE49-F238E27FC236}">
                    <a16:creationId xmlns:a16="http://schemas.microsoft.com/office/drawing/2014/main" id="{B8320FE0-9AEA-36E2-159B-408D1646CB09}"/>
                  </a:ext>
                </a:extLst>
              </p:cNvPr>
              <p:cNvSpPr/>
              <p:nvPr/>
            </p:nvSpPr>
            <p:spPr>
              <a:xfrm>
                <a:off x="19675" y="1147409"/>
                <a:ext cx="912755" cy="534354"/>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Matériel</a:t>
                </a:r>
              </a:p>
            </p:txBody>
          </p:sp>
        </p:grpSp>
        <p:grpSp>
          <p:nvGrpSpPr>
            <p:cNvPr id="45" name="Groupe 44">
              <a:extLst>
                <a:ext uri="{FF2B5EF4-FFF2-40B4-BE49-F238E27FC236}">
                  <a16:creationId xmlns:a16="http://schemas.microsoft.com/office/drawing/2014/main" id="{0D000093-B288-A4F4-DC9B-930301ADAC83}"/>
                </a:ext>
              </a:extLst>
            </p:cNvPr>
            <p:cNvGrpSpPr/>
            <p:nvPr>
              <p:custDataLst>
                <p:tags r:id="rId12"/>
              </p:custDataLst>
            </p:nvPr>
          </p:nvGrpSpPr>
          <p:grpSpPr>
            <a:xfrm>
              <a:off x="4722281" y="4750487"/>
              <a:ext cx="1277046" cy="292854"/>
              <a:chOff x="3051" y="1130785"/>
              <a:chExt cx="946003" cy="567602"/>
            </a:xfrm>
            <a:solidFill>
              <a:schemeClr val="bg1">
                <a:lumMod val="95000"/>
              </a:schemeClr>
            </a:solidFill>
          </p:grpSpPr>
          <p:sp>
            <p:nvSpPr>
              <p:cNvPr id="55" name="Rectangle à coins arrondis 24">
                <a:extLst>
                  <a:ext uri="{FF2B5EF4-FFF2-40B4-BE49-F238E27FC236}">
                    <a16:creationId xmlns:a16="http://schemas.microsoft.com/office/drawing/2014/main" id="{744BBF12-87A5-67FE-33B6-B467C5773AF6}"/>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56" name="Rectangle 55">
                <a:extLst>
                  <a:ext uri="{FF2B5EF4-FFF2-40B4-BE49-F238E27FC236}">
                    <a16:creationId xmlns:a16="http://schemas.microsoft.com/office/drawing/2014/main" id="{89BBEC0A-BA3C-A3FF-31C4-9D09D675A105}"/>
                  </a:ext>
                </a:extLst>
              </p:cNvPr>
              <p:cNvSpPr/>
              <p:nvPr/>
            </p:nvSpPr>
            <p:spPr>
              <a:xfrm>
                <a:off x="19675" y="1147409"/>
                <a:ext cx="912755" cy="534354"/>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Logiciels</a:t>
                </a:r>
              </a:p>
            </p:txBody>
          </p:sp>
        </p:grpSp>
        <p:grpSp>
          <p:nvGrpSpPr>
            <p:cNvPr id="46" name="Groupe 45">
              <a:extLst>
                <a:ext uri="{FF2B5EF4-FFF2-40B4-BE49-F238E27FC236}">
                  <a16:creationId xmlns:a16="http://schemas.microsoft.com/office/drawing/2014/main" id="{10C774AB-6921-8C14-450B-D99094D8A71C}"/>
                </a:ext>
              </a:extLst>
            </p:cNvPr>
            <p:cNvGrpSpPr/>
            <p:nvPr>
              <p:custDataLst>
                <p:tags r:id="rId13"/>
              </p:custDataLst>
            </p:nvPr>
          </p:nvGrpSpPr>
          <p:grpSpPr>
            <a:xfrm>
              <a:off x="6192672" y="4750487"/>
              <a:ext cx="1277046" cy="292854"/>
              <a:chOff x="3051" y="1130785"/>
              <a:chExt cx="946003" cy="567602"/>
            </a:xfrm>
            <a:solidFill>
              <a:schemeClr val="bg1">
                <a:lumMod val="95000"/>
              </a:schemeClr>
            </a:solidFill>
          </p:grpSpPr>
          <p:sp>
            <p:nvSpPr>
              <p:cNvPr id="53" name="Rectangle à coins arrondis 27">
                <a:extLst>
                  <a:ext uri="{FF2B5EF4-FFF2-40B4-BE49-F238E27FC236}">
                    <a16:creationId xmlns:a16="http://schemas.microsoft.com/office/drawing/2014/main" id="{DFB39719-FC12-3A4F-D2B6-8BA72668CA86}"/>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54" name="Rectangle 53">
                <a:extLst>
                  <a:ext uri="{FF2B5EF4-FFF2-40B4-BE49-F238E27FC236}">
                    <a16:creationId xmlns:a16="http://schemas.microsoft.com/office/drawing/2014/main" id="{5CD55C9C-0DCF-6707-CDA0-931677298E6F}"/>
                  </a:ext>
                </a:extLst>
              </p:cNvPr>
              <p:cNvSpPr/>
              <p:nvPr/>
            </p:nvSpPr>
            <p:spPr>
              <a:xfrm>
                <a:off x="19675" y="1147409"/>
                <a:ext cx="912755" cy="534354"/>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Données</a:t>
                </a:r>
              </a:p>
            </p:txBody>
          </p:sp>
        </p:grpSp>
        <p:grpSp>
          <p:nvGrpSpPr>
            <p:cNvPr id="47" name="Groupe 46">
              <a:extLst>
                <a:ext uri="{FF2B5EF4-FFF2-40B4-BE49-F238E27FC236}">
                  <a16:creationId xmlns:a16="http://schemas.microsoft.com/office/drawing/2014/main" id="{2585C673-08A3-D5C8-7FF4-74D1BCF47DEF}"/>
                </a:ext>
              </a:extLst>
            </p:cNvPr>
            <p:cNvGrpSpPr/>
            <p:nvPr>
              <p:custDataLst>
                <p:tags r:id="rId14"/>
              </p:custDataLst>
            </p:nvPr>
          </p:nvGrpSpPr>
          <p:grpSpPr>
            <a:xfrm>
              <a:off x="7663064" y="4750487"/>
              <a:ext cx="1277046" cy="292854"/>
              <a:chOff x="3051" y="1130785"/>
              <a:chExt cx="946003" cy="567602"/>
            </a:xfrm>
            <a:solidFill>
              <a:schemeClr val="bg1">
                <a:lumMod val="95000"/>
              </a:schemeClr>
            </a:solidFill>
          </p:grpSpPr>
          <p:sp>
            <p:nvSpPr>
              <p:cNvPr id="51" name="Rectangle à coins arrondis 30">
                <a:extLst>
                  <a:ext uri="{FF2B5EF4-FFF2-40B4-BE49-F238E27FC236}">
                    <a16:creationId xmlns:a16="http://schemas.microsoft.com/office/drawing/2014/main" id="{7454E943-825F-7D71-48E2-FA15593FEE2C}"/>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52" name="Rectangle 51">
                <a:extLst>
                  <a:ext uri="{FF2B5EF4-FFF2-40B4-BE49-F238E27FC236}">
                    <a16:creationId xmlns:a16="http://schemas.microsoft.com/office/drawing/2014/main" id="{7D1A03FC-80A2-D0D2-4C9B-F5FE1053620E}"/>
                  </a:ext>
                </a:extLst>
              </p:cNvPr>
              <p:cNvSpPr/>
              <p:nvPr/>
            </p:nvSpPr>
            <p:spPr>
              <a:xfrm>
                <a:off x="19675" y="1147409"/>
                <a:ext cx="912755" cy="534354"/>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Procédures</a:t>
                </a:r>
              </a:p>
            </p:txBody>
          </p:sp>
        </p:grpSp>
        <p:grpSp>
          <p:nvGrpSpPr>
            <p:cNvPr id="48" name="Groupe 47">
              <a:extLst>
                <a:ext uri="{FF2B5EF4-FFF2-40B4-BE49-F238E27FC236}">
                  <a16:creationId xmlns:a16="http://schemas.microsoft.com/office/drawing/2014/main" id="{F9EBF8E7-D50D-897F-E0D1-534B005BCF44}"/>
                </a:ext>
              </a:extLst>
            </p:cNvPr>
            <p:cNvGrpSpPr/>
            <p:nvPr>
              <p:custDataLst>
                <p:tags r:id="rId15"/>
              </p:custDataLst>
            </p:nvPr>
          </p:nvGrpSpPr>
          <p:grpSpPr>
            <a:xfrm>
              <a:off x="9133457" y="4750487"/>
              <a:ext cx="1277046" cy="292854"/>
              <a:chOff x="3051" y="1130785"/>
              <a:chExt cx="946003" cy="567602"/>
            </a:xfrm>
            <a:solidFill>
              <a:schemeClr val="bg1">
                <a:lumMod val="95000"/>
              </a:schemeClr>
            </a:solidFill>
          </p:grpSpPr>
          <p:sp>
            <p:nvSpPr>
              <p:cNvPr id="49" name="Rectangle à coins arrondis 33">
                <a:extLst>
                  <a:ext uri="{FF2B5EF4-FFF2-40B4-BE49-F238E27FC236}">
                    <a16:creationId xmlns:a16="http://schemas.microsoft.com/office/drawing/2014/main" id="{AB0F283A-0D09-56A4-4915-26F55AFB8FF3}"/>
                  </a:ext>
                </a:extLst>
              </p:cNvPr>
              <p:cNvSpPr/>
              <p:nvPr/>
            </p:nvSpPr>
            <p:spPr>
              <a:xfrm>
                <a:off x="3051" y="1130785"/>
                <a:ext cx="946003" cy="567602"/>
              </a:xfrm>
              <a:prstGeom prst="roundRect">
                <a:avLst>
                  <a:gd name="adj" fmla="val 10000"/>
                </a:avLst>
              </a:prstGeom>
              <a:grpFill/>
              <a:ln>
                <a:solidFill>
                  <a:schemeClr val="bg1">
                    <a:lumMod val="95000"/>
                  </a:schemeClr>
                </a:solid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fr-CA" sz="2000">
                  <a:latin typeface="Visby CF" pitchFamily="50" charset="0"/>
                </a:endParaRPr>
              </a:p>
            </p:txBody>
          </p:sp>
          <p:sp>
            <p:nvSpPr>
              <p:cNvPr id="50" name="Rectangle 49">
                <a:extLst>
                  <a:ext uri="{FF2B5EF4-FFF2-40B4-BE49-F238E27FC236}">
                    <a16:creationId xmlns:a16="http://schemas.microsoft.com/office/drawing/2014/main" id="{D9CECA47-9D1C-A466-4BE6-DE903A0798B0}"/>
                  </a:ext>
                </a:extLst>
              </p:cNvPr>
              <p:cNvSpPr/>
              <p:nvPr/>
            </p:nvSpPr>
            <p:spPr>
              <a:xfrm>
                <a:off x="19675" y="1147408"/>
                <a:ext cx="912755" cy="534353"/>
              </a:xfrm>
              <a:prstGeom prst="rect">
                <a:avLst/>
              </a:prstGeom>
              <a:grpFill/>
              <a:ln>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34290" tIns="34290" rIns="34290" bIns="34290" numCol="1" spcCol="1270" anchor="ctr" anchorCtr="0">
                <a:noAutofit/>
              </a:bodyPr>
              <a:lstStyle/>
              <a:p>
                <a:pPr algn="ctr" defTabSz="400050">
                  <a:lnSpc>
                    <a:spcPct val="90000"/>
                  </a:lnSpc>
                  <a:spcBef>
                    <a:spcPct val="0"/>
                  </a:spcBef>
                  <a:spcAft>
                    <a:spcPct val="35000"/>
                  </a:spcAft>
                </a:pPr>
                <a:r>
                  <a:rPr lang="fr-CA" sz="1000">
                    <a:solidFill>
                      <a:schemeClr val="tx1"/>
                    </a:solidFill>
                    <a:latin typeface="Visby CF" pitchFamily="50" charset="0"/>
                  </a:rPr>
                  <a:t>Personnes</a:t>
                </a:r>
              </a:p>
            </p:txBody>
          </p:sp>
        </p:grpSp>
      </p:grpSp>
    </p:spTree>
    <p:extLst>
      <p:ext uri="{BB962C8B-B14F-4D97-AF65-F5344CB8AC3E}">
        <p14:creationId xmlns:p14="http://schemas.microsoft.com/office/powerpoint/2010/main" val="2071077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9A3C8E9-60E9-0F32-FDEB-0D994F11D1D2}"/>
              </a:ext>
            </a:extLst>
          </p:cNvPr>
          <p:cNvSpPr txBox="1"/>
          <p:nvPr>
            <p:custDataLst>
              <p:tags r:id="rId1"/>
            </p:custDataLst>
          </p:nvPr>
        </p:nvSpPr>
        <p:spPr>
          <a:xfrm>
            <a:off x="434259" y="1229436"/>
            <a:ext cx="10707327" cy="1219200"/>
          </a:xfrm>
          <a:prstGeom prst="rect">
            <a:avLst/>
          </a:prstGeom>
        </p:spPr>
        <p:txBody>
          <a:bodyPr vert="horz" wrap="none" lIns="121920" tIns="60960" rIns="121920" bIns="60960" rtlCol="0">
            <a:normAutofit/>
          </a:body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CA" sz="7200">
                <a:solidFill>
                  <a:schemeClr val="accent4"/>
                </a:solidFill>
                <a:latin typeface="Visby Slab CF Bold" panose="00000800000000000000" pitchFamily="50" charset="0"/>
              </a:rPr>
              <a:t>Principes</a:t>
            </a:r>
            <a:endParaRPr kumimoji="0" lang="fr-CA" sz="7200" b="0" i="0" u="none" strike="noStrike" kern="1200" cap="none" spc="0" normalizeH="0" baseline="0" noProof="0">
              <a:ln>
                <a:noFill/>
              </a:ln>
              <a:solidFill>
                <a:schemeClr val="accent4"/>
              </a:solidFill>
              <a:effectLst/>
              <a:uLnTx/>
              <a:uFillTx/>
              <a:latin typeface="Visby Slab CF Bold" panose="00000800000000000000" pitchFamily="50" charset="0"/>
              <a:ea typeface="+mn-ea"/>
              <a:cs typeface="+mn-cs"/>
            </a:endParaRPr>
          </a:p>
        </p:txBody>
      </p:sp>
      <p:sp>
        <p:nvSpPr>
          <p:cNvPr id="7" name="Rectangle 6">
            <a:extLst>
              <a:ext uri="{FF2B5EF4-FFF2-40B4-BE49-F238E27FC236}">
                <a16:creationId xmlns:a16="http://schemas.microsoft.com/office/drawing/2014/main" id="{0D80B38E-847A-1FF8-30A3-46A37E15058F}"/>
              </a:ext>
            </a:extLst>
          </p:cNvPr>
          <p:cNvSpPr/>
          <p:nvPr>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ZoneTexte 3">
            <a:extLst>
              <a:ext uri="{FF2B5EF4-FFF2-40B4-BE49-F238E27FC236}">
                <a16:creationId xmlns:a16="http://schemas.microsoft.com/office/drawing/2014/main" id="{20BCA1FA-76EB-B2EA-FD1F-6773DB92CBA9}"/>
              </a:ext>
            </a:extLst>
          </p:cNvPr>
          <p:cNvSpPr txBox="1"/>
          <p:nvPr>
            <p:custDataLst>
              <p:tags r:id="rId4"/>
            </p:custDataLst>
          </p:nvPr>
        </p:nvSpPr>
        <p:spPr>
          <a:xfrm>
            <a:off x="-245807" y="6323470"/>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886078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0BB5B-88C4-568E-EEFB-0A022D6FD39C}"/>
              </a:ext>
            </a:extLst>
          </p:cNvPr>
          <p:cNvSpPr>
            <a:spLocks noGrp="1"/>
          </p:cNvSpPr>
          <p:nvPr>
            <p:ph type="title"/>
            <p:custDataLst>
              <p:tags r:id="rId1"/>
            </p:custDataLst>
          </p:nvPr>
        </p:nvSpPr>
        <p:spPr>
          <a:solidFill>
            <a:schemeClr val="accent4"/>
          </a:solidFill>
          <a:ln>
            <a:solidFill>
              <a:schemeClr val="accent4"/>
            </a:solidFill>
          </a:ln>
        </p:spPr>
        <p:txBody>
          <a:bodyPr/>
          <a:lstStyle/>
          <a:p>
            <a:r>
              <a:rPr lang="fr-CA"/>
              <a:t>Principe #1 – Utiliser la pensée informatique</a:t>
            </a:r>
          </a:p>
        </p:txBody>
      </p:sp>
      <p:sp>
        <p:nvSpPr>
          <p:cNvPr id="3" name="Espace réservé du contenu 2">
            <a:extLst>
              <a:ext uri="{FF2B5EF4-FFF2-40B4-BE49-F238E27FC236}">
                <a16:creationId xmlns:a16="http://schemas.microsoft.com/office/drawing/2014/main" id="{8D49C4E2-E7CA-B2B4-31A9-E87921ED08D7}"/>
              </a:ext>
            </a:extLst>
          </p:cNvPr>
          <p:cNvSpPr>
            <a:spLocks noGrp="1"/>
          </p:cNvSpPr>
          <p:nvPr>
            <p:ph idx="1"/>
            <p:custDataLst>
              <p:tags r:id="rId2"/>
            </p:custDataLst>
          </p:nvPr>
        </p:nvSpPr>
        <p:spPr/>
        <p:txBody>
          <a:bodyPr anchor="ctr">
            <a:normAutofit/>
          </a:bodyPr>
          <a:lstStyle/>
          <a:p>
            <a:r>
              <a:rPr lang="fr-CA"/>
              <a:t>La pensée informatique est composée de quatre axes :</a:t>
            </a:r>
          </a:p>
          <a:p>
            <a:pPr marL="914400" lvl="1" indent="-457200">
              <a:buFont typeface="+mj-lt"/>
              <a:buAutoNum type="arabicPeriod"/>
            </a:pPr>
            <a:r>
              <a:rPr lang="fr-CA" sz="2400"/>
              <a:t>Décomposition</a:t>
            </a:r>
          </a:p>
          <a:p>
            <a:pPr marL="914400" lvl="1" indent="-457200">
              <a:buFont typeface="+mj-lt"/>
              <a:buAutoNum type="arabicPeriod"/>
            </a:pPr>
            <a:r>
              <a:rPr lang="fr-CA" sz="2400"/>
              <a:t>Reconnaissance des schémas</a:t>
            </a:r>
          </a:p>
          <a:p>
            <a:pPr marL="914400" lvl="1" indent="-457200">
              <a:buFont typeface="+mj-lt"/>
              <a:buAutoNum type="arabicPeriod"/>
            </a:pPr>
            <a:r>
              <a:rPr lang="fr-CA" sz="2400"/>
              <a:t>Pensée abstraite </a:t>
            </a:r>
          </a:p>
          <a:p>
            <a:pPr marL="914400" lvl="1" indent="-457200">
              <a:buFont typeface="+mj-lt"/>
              <a:buAutoNum type="arabicPeriod"/>
            </a:pPr>
            <a:r>
              <a:rPr lang="fr-CA" sz="2400"/>
              <a:t>Algorithmes</a:t>
            </a:r>
          </a:p>
          <a:p>
            <a:r>
              <a:rPr lang="fr-CA"/>
              <a:t>Comment relier ces axes à l’exercice du stationnement fait en début de séance?</a:t>
            </a:r>
            <a:endParaRPr lang="fr-CA" sz="2800"/>
          </a:p>
          <a:p>
            <a:pPr marL="914400" lvl="1" indent="-457200">
              <a:buFont typeface="+mj-lt"/>
              <a:buAutoNum type="arabicPeriod"/>
            </a:pPr>
            <a:endParaRPr lang="fr-CA" sz="2400"/>
          </a:p>
          <a:p>
            <a:pPr marL="914400" lvl="1" indent="-457200">
              <a:buFont typeface="+mj-lt"/>
              <a:buAutoNum type="arabicPeriod"/>
            </a:pPr>
            <a:endParaRPr lang="fr-CA" sz="240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8E00677F-9F9E-0A96-A91B-51CF496B7E8B}"/>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6640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0FB930-8DF2-2EFF-F5C3-8CCE3FE90EF4}"/>
              </a:ext>
            </a:extLst>
          </p:cNvPr>
          <p:cNvSpPr>
            <a:spLocks noGrp="1"/>
          </p:cNvSpPr>
          <p:nvPr>
            <p:ph type="title"/>
            <p:custDataLst>
              <p:tags r:id="rId1"/>
            </p:custDataLst>
          </p:nvPr>
        </p:nvSpPr>
        <p:spPr>
          <a:solidFill>
            <a:schemeClr val="accent4"/>
          </a:solidFill>
          <a:ln>
            <a:solidFill>
              <a:schemeClr val="accent4"/>
            </a:solidFill>
          </a:ln>
        </p:spPr>
        <p:txBody>
          <a:bodyPr/>
          <a:lstStyle/>
          <a:p>
            <a:r>
              <a:rPr lang="fr-CA"/>
              <a:t>Principe #2 – Ne pas perdre de vue la stratégie</a:t>
            </a:r>
          </a:p>
        </p:txBody>
      </p:sp>
      <p:pic>
        <p:nvPicPr>
          <p:cNvPr id="5" name="Espace réservé du contenu 4" descr="Employée de bureau avec un remplissage uni">
            <a:extLst>
              <a:ext uri="{FF2B5EF4-FFF2-40B4-BE49-F238E27FC236}">
                <a16:creationId xmlns:a16="http://schemas.microsoft.com/office/drawing/2014/main" id="{3BB5E687-4479-8168-E169-8E33A1084F2F}"/>
              </a:ext>
            </a:extLst>
          </p:cNvPr>
          <p:cNvPicPr>
            <a:picLocks noGrp="1" noChangeAspect="1"/>
          </p:cNvPicPr>
          <p:nvPr>
            <p:ph idx="1"/>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9641" y="4195575"/>
            <a:ext cx="2007260" cy="2007260"/>
          </a:xfrm>
        </p:spPr>
      </p:pic>
      <p:pic>
        <p:nvPicPr>
          <p:cNvPr id="7" name="Graphique 6" descr="Cible avec un remplissage uni">
            <a:extLst>
              <a:ext uri="{FF2B5EF4-FFF2-40B4-BE49-F238E27FC236}">
                <a16:creationId xmlns:a16="http://schemas.microsoft.com/office/drawing/2014/main" id="{225C5644-571E-2ADC-A64B-072F3F6384C7}"/>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59429" y="1070592"/>
            <a:ext cx="2007260" cy="2007260"/>
          </a:xfrm>
          <a:prstGeom prst="rect">
            <a:avLst/>
          </a:prstGeom>
        </p:spPr>
      </p:pic>
      <p:pic>
        <p:nvPicPr>
          <p:cNvPr id="9" name="Graphique 8" descr="Télescope avec un remplissage uni">
            <a:extLst>
              <a:ext uri="{FF2B5EF4-FFF2-40B4-BE49-F238E27FC236}">
                <a16:creationId xmlns:a16="http://schemas.microsoft.com/office/drawing/2014/main" id="{DA52C3BE-9A15-3B3B-9AF9-14CB25401B0A}"/>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881963" y="3710344"/>
            <a:ext cx="2007260" cy="2007260"/>
          </a:xfrm>
          <a:prstGeom prst="rect">
            <a:avLst/>
          </a:prstGeom>
        </p:spPr>
      </p:pic>
      <p:pic>
        <p:nvPicPr>
          <p:cNvPr id="10" name="Image 9">
            <a:extLst>
              <a:ext uri="{FF2B5EF4-FFF2-40B4-BE49-F238E27FC236}">
                <a16:creationId xmlns:a16="http://schemas.microsoft.com/office/drawing/2014/main" id="{51A5BF15-3252-241B-9726-21665FF2940B}"/>
              </a:ext>
            </a:extLst>
          </p:cNvPr>
          <p:cNvPicPr>
            <a:picLocks noChangeAspect="1"/>
          </p:cNvPicPr>
          <p:nvPr>
            <p:custDataLst>
              <p:tags r:id="rId5"/>
            </p:custDataLst>
          </p:nvPr>
        </p:nvPicPr>
        <p:blipFill>
          <a:blip r:embed="rId13"/>
          <a:stretch>
            <a:fillRect/>
          </a:stretch>
        </p:blipFill>
        <p:spPr>
          <a:xfrm>
            <a:off x="4163107" y="1792239"/>
            <a:ext cx="5012390" cy="3925366"/>
          </a:xfrm>
          <a:prstGeom prst="rect">
            <a:avLst/>
          </a:prstGeom>
        </p:spPr>
      </p:pic>
      <p:pic>
        <p:nvPicPr>
          <p:cNvPr id="3" name="Image 2" descr="Une image contenant Police, Graphique, capture d’écran, graphisme&#10;&#10;Description générée automatiquement">
            <a:extLst>
              <a:ext uri="{FF2B5EF4-FFF2-40B4-BE49-F238E27FC236}">
                <a16:creationId xmlns:a16="http://schemas.microsoft.com/office/drawing/2014/main" id="{A2A398B5-163C-3C9A-05E9-A42A3407053D}"/>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6" name="Graphique 5" descr="Pièces d’échiquier contour">
            <a:extLst>
              <a:ext uri="{FF2B5EF4-FFF2-40B4-BE49-F238E27FC236}">
                <a16:creationId xmlns:a16="http://schemas.microsoft.com/office/drawing/2014/main" id="{97388D54-4D48-A114-EC51-28A72D5213C0}"/>
              </a:ext>
            </a:extLst>
          </p:cNvPr>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6239962" y="3454874"/>
            <a:ext cx="600096" cy="600096"/>
          </a:xfrm>
          <a:prstGeom prst="rect">
            <a:avLst/>
          </a:prstGeom>
        </p:spPr>
      </p:pic>
    </p:spTree>
    <p:extLst>
      <p:ext uri="{BB962C8B-B14F-4D97-AF65-F5344CB8AC3E}">
        <p14:creationId xmlns:p14="http://schemas.microsoft.com/office/powerpoint/2010/main" val="3580532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que 16">
            <a:extLst>
              <a:ext uri="{FF2B5EF4-FFF2-40B4-BE49-F238E27FC236}">
                <a16:creationId xmlns:a16="http://schemas.microsoft.com/office/drawing/2014/main" id="{1A70EB63-E794-75F4-A080-A880426AA8FE}"/>
              </a:ext>
            </a:extLst>
          </p:cNvPr>
          <p:cNvPicPr>
            <a:picLocks noChangeAspect="1"/>
          </p:cNvPicPr>
          <p:nvPr>
            <p:custDataLst>
              <p:tags r:id="rId1"/>
            </p:custDataLst>
          </p:nvPr>
        </p:nvPicPr>
        <p:blipFill>
          <a:blip>
            <a:extLst>
              <a:ext uri="{96DAC541-7B7A-43D3-8B79-37D633B846F1}">
                <asvg:svgBlip xmlns:asvg="http://schemas.microsoft.com/office/drawing/2016/SVG/main" r:embed="rId10"/>
              </a:ext>
            </a:extLst>
          </a:blip>
          <a:stretch>
            <a:fillRect/>
          </a:stretch>
        </p:blipFill>
        <p:spPr>
          <a:xfrm>
            <a:off x="1914639" y="1477558"/>
            <a:ext cx="3437268" cy="2980756"/>
          </a:xfrm>
          <a:prstGeom prst="rect">
            <a:avLst/>
          </a:prstGeom>
        </p:spPr>
      </p:pic>
      <p:sp>
        <p:nvSpPr>
          <p:cNvPr id="13" name="Titre 12">
            <a:extLst>
              <a:ext uri="{FF2B5EF4-FFF2-40B4-BE49-F238E27FC236}">
                <a16:creationId xmlns:a16="http://schemas.microsoft.com/office/drawing/2014/main" id="{7B9B0B94-4C52-74C0-2BAF-FFA6BCA1002B}"/>
              </a:ext>
            </a:extLst>
          </p:cNvPr>
          <p:cNvSpPr>
            <a:spLocks noGrp="1"/>
          </p:cNvSpPr>
          <p:nvPr>
            <p:ph type="title"/>
            <p:custDataLst>
              <p:tags r:id="rId2"/>
            </p:custDataLst>
          </p:nvPr>
        </p:nvSpPr>
        <p:spPr>
          <a:solidFill>
            <a:schemeClr val="accent4"/>
          </a:solidFill>
          <a:ln>
            <a:solidFill>
              <a:schemeClr val="accent4"/>
            </a:solidFill>
          </a:ln>
        </p:spPr>
        <p:txBody>
          <a:bodyPr/>
          <a:lstStyle/>
          <a:p>
            <a:r>
              <a:rPr lang="fr-CA"/>
              <a:t>Principe #3 – Séparer l’église de l’état</a:t>
            </a:r>
          </a:p>
        </p:txBody>
      </p:sp>
      <p:sp>
        <p:nvSpPr>
          <p:cNvPr id="16" name="ZoneTexte 15">
            <a:extLst>
              <a:ext uri="{FF2B5EF4-FFF2-40B4-BE49-F238E27FC236}">
                <a16:creationId xmlns:a16="http://schemas.microsoft.com/office/drawing/2014/main" id="{2C114E41-5D2E-FE56-CDD2-ED5023FB14EF}"/>
              </a:ext>
            </a:extLst>
          </p:cNvPr>
          <p:cNvSpPr txBox="1"/>
          <p:nvPr>
            <p:custDataLst>
              <p:tags r:id="rId3"/>
            </p:custDataLst>
          </p:nvPr>
        </p:nvSpPr>
        <p:spPr>
          <a:xfrm>
            <a:off x="5856051" y="595609"/>
            <a:ext cx="2316660" cy="523220"/>
          </a:xfrm>
          <a:prstGeom prst="rect">
            <a:avLst/>
          </a:prstGeom>
          <a:noFill/>
        </p:spPr>
        <p:txBody>
          <a:bodyPr wrap="none" rtlCol="0">
            <a:spAutoFit/>
          </a:bodyPr>
          <a:lstStyle/>
          <a:p>
            <a:r>
              <a:rPr lang="fr-CA" sz="2800">
                <a:solidFill>
                  <a:schemeClr val="tx2"/>
                </a:solidFill>
                <a:latin typeface="Visby Slab CF Bold" panose="00000800000000000000" pitchFamily="50" charset="0"/>
              </a:rPr>
              <a:t>les données</a:t>
            </a:r>
          </a:p>
        </p:txBody>
      </p:sp>
      <p:sp>
        <p:nvSpPr>
          <p:cNvPr id="20" name="Forme libre : forme 19">
            <a:extLst>
              <a:ext uri="{FF2B5EF4-FFF2-40B4-BE49-F238E27FC236}">
                <a16:creationId xmlns:a16="http://schemas.microsoft.com/office/drawing/2014/main" id="{C1394D8E-04D3-A4DF-C860-D53FEA1A8349}"/>
              </a:ext>
            </a:extLst>
          </p:cNvPr>
          <p:cNvSpPr/>
          <p:nvPr>
            <p:custDataLst>
              <p:tags r:id="rId4"/>
            </p:custDataLst>
          </p:nvPr>
        </p:nvSpPr>
        <p:spPr>
          <a:xfrm>
            <a:off x="5856051" y="366700"/>
            <a:ext cx="3210127" cy="167435"/>
          </a:xfrm>
          <a:custGeom>
            <a:avLst/>
            <a:gdLst>
              <a:gd name="csX0" fmla="*/ 0 w 3210127"/>
              <a:gd name="csY0" fmla="*/ 167435 h 167435"/>
              <a:gd name="csX1" fmla="*/ 540722 w 3210127"/>
              <a:gd name="csY1" fmla="*/ 138899 h 167435"/>
              <a:gd name="csX2" fmla="*/ 1024525 w 3210127"/>
              <a:gd name="csY2" fmla="*/ 113367 h 167435"/>
              <a:gd name="csX3" fmla="*/ 1650624 w 3210127"/>
              <a:gd name="csY3" fmla="*/ 80325 h 167435"/>
              <a:gd name="csX4" fmla="*/ 2191345 w 3210127"/>
              <a:gd name="csY4" fmla="*/ 51789 h 167435"/>
              <a:gd name="csX5" fmla="*/ 2845903 w 3210127"/>
              <a:gd name="csY5" fmla="*/ 17246 h 167435"/>
              <a:gd name="csX6" fmla="*/ 3171996 w 3210127"/>
              <a:gd name="csY6" fmla="*/ 3275 h 167435"/>
              <a:gd name="csX7" fmla="*/ 3171996 w 3210127"/>
              <a:gd name="csY7" fmla="*/ 3275 h 1674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10127" h="167435" extrusionOk="0">
                <a:moveTo>
                  <a:pt x="0" y="167435"/>
                </a:moveTo>
                <a:cubicBezTo>
                  <a:pt x="129186" y="154767"/>
                  <a:pt x="357066" y="173810"/>
                  <a:pt x="540722" y="138899"/>
                </a:cubicBezTo>
                <a:cubicBezTo>
                  <a:pt x="724379" y="103988"/>
                  <a:pt x="884421" y="142328"/>
                  <a:pt x="1024525" y="113367"/>
                </a:cubicBezTo>
                <a:cubicBezTo>
                  <a:pt x="1164629" y="84406"/>
                  <a:pt x="1363087" y="162422"/>
                  <a:pt x="1650624" y="80325"/>
                </a:cubicBezTo>
                <a:cubicBezTo>
                  <a:pt x="1938161" y="-1772"/>
                  <a:pt x="1934183" y="99023"/>
                  <a:pt x="2191345" y="51789"/>
                </a:cubicBezTo>
                <a:cubicBezTo>
                  <a:pt x="2448507" y="4556"/>
                  <a:pt x="2542102" y="84967"/>
                  <a:pt x="2845903" y="17246"/>
                </a:cubicBezTo>
                <a:cubicBezTo>
                  <a:pt x="3374568" y="-10114"/>
                  <a:pt x="3171996" y="3275"/>
                  <a:pt x="3171996" y="3275"/>
                </a:cubicBezTo>
                <a:lnTo>
                  <a:pt x="3171996" y="3275"/>
                </a:lnTo>
              </a:path>
            </a:pathLst>
          </a:custGeom>
          <a:noFill/>
          <a:ln w="57150">
            <a:solidFill>
              <a:schemeClr val="tx2"/>
            </a:solidFill>
            <a:extLst>
              <a:ext uri="{C807C97D-BFC1-408E-A445-0C87EB9F89A2}">
                <ask:lineSketchStyleProps xmlns:ask="http://schemas.microsoft.com/office/drawing/2018/sketchyshapes" sd="1219033472">
                  <a:custGeom>
                    <a:avLst/>
                    <a:gdLst>
                      <a:gd name="connsiteX0" fmla="*/ 0 w 2106743"/>
                      <a:gd name="connsiteY0" fmla="*/ 1398968 h 1398968"/>
                      <a:gd name="connsiteX1" fmla="*/ 1867710 w 2106743"/>
                      <a:gd name="connsiteY1" fmla="*/ 144100 h 1398968"/>
                      <a:gd name="connsiteX2" fmla="*/ 2081719 w 2106743"/>
                      <a:gd name="connsiteY2" fmla="*/ 27368 h 1398968"/>
                      <a:gd name="connsiteX3" fmla="*/ 2081719 w 2106743"/>
                      <a:gd name="connsiteY3" fmla="*/ 27368 h 1398968"/>
                    </a:gdLst>
                    <a:ahLst/>
                    <a:cxnLst>
                      <a:cxn ang="0">
                        <a:pos x="connsiteX0" y="connsiteY0"/>
                      </a:cxn>
                      <a:cxn ang="0">
                        <a:pos x="connsiteX1" y="connsiteY1"/>
                      </a:cxn>
                      <a:cxn ang="0">
                        <a:pos x="connsiteX2" y="connsiteY2"/>
                      </a:cxn>
                      <a:cxn ang="0">
                        <a:pos x="connsiteX3" y="connsiteY3"/>
                      </a:cxn>
                    </a:cxnLst>
                    <a:rect l="l" t="t" r="r" b="b"/>
                    <a:pathLst>
                      <a:path w="2106743" h="1398968">
                        <a:moveTo>
                          <a:pt x="0" y="1398968"/>
                        </a:moveTo>
                        <a:lnTo>
                          <a:pt x="1867710" y="144100"/>
                        </a:lnTo>
                        <a:cubicBezTo>
                          <a:pt x="2214663" y="-84500"/>
                          <a:pt x="2081719" y="27368"/>
                          <a:pt x="2081719" y="27368"/>
                        </a:cubicBezTo>
                        <a:lnTo>
                          <a:pt x="2081719" y="27368"/>
                        </a:ln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2" name="ZoneTexte 21">
            <a:extLst>
              <a:ext uri="{FF2B5EF4-FFF2-40B4-BE49-F238E27FC236}">
                <a16:creationId xmlns:a16="http://schemas.microsoft.com/office/drawing/2014/main" id="{362A2CF9-FAFA-5A8C-75FF-96D7DD39E5D8}"/>
              </a:ext>
            </a:extLst>
          </p:cNvPr>
          <p:cNvSpPr txBox="1"/>
          <p:nvPr>
            <p:custDataLst>
              <p:tags r:id="rId5"/>
            </p:custDataLst>
          </p:nvPr>
        </p:nvSpPr>
        <p:spPr>
          <a:xfrm>
            <a:off x="5827769" y="593174"/>
            <a:ext cx="6157455" cy="523220"/>
          </a:xfrm>
          <a:prstGeom prst="rect">
            <a:avLst/>
          </a:prstGeom>
          <a:noFill/>
        </p:spPr>
        <p:txBody>
          <a:bodyPr wrap="none" rtlCol="0">
            <a:spAutoFit/>
          </a:bodyPr>
          <a:lstStyle/>
          <a:p>
            <a:r>
              <a:rPr lang="fr-CA" sz="2800">
                <a:solidFill>
                  <a:schemeClr val="tx2"/>
                </a:solidFill>
                <a:latin typeface="Visby Slab CF Bold" panose="00000800000000000000" pitchFamily="50" charset="0"/>
              </a:rPr>
              <a:t>                          de leurs traitements</a:t>
            </a:r>
          </a:p>
        </p:txBody>
      </p:sp>
      <p:pic>
        <p:nvPicPr>
          <p:cNvPr id="2" name="Image 1" descr="Une image contenant Police, Graphique, capture d’écran, graphisme&#10;&#10;Description générée automatiquement">
            <a:extLst>
              <a:ext uri="{FF2B5EF4-FFF2-40B4-BE49-F238E27FC236}">
                <a16:creationId xmlns:a16="http://schemas.microsoft.com/office/drawing/2014/main" id="{57BBA28A-A75C-3557-F030-921ABDE1CAC7}"/>
              </a:ext>
            </a:extLst>
          </p:cNvPr>
          <p:cNvPicPr>
            <a:picLocks noChangeAspect="1"/>
          </p:cNvPicPr>
          <p:nvPr>
            <p:custDataLst>
              <p:tags r:id="rId6"/>
            </p:custDataLst>
          </p:nvPr>
        </p:nvPicPr>
        <p:blipFill>
          <a:blip r:embed="rId11">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19" name="Graphique 18">
            <a:extLst>
              <a:ext uri="{FF2B5EF4-FFF2-40B4-BE49-F238E27FC236}">
                <a16:creationId xmlns:a16="http://schemas.microsoft.com/office/drawing/2014/main" id="{A4A69B3E-FE8D-CE16-5242-4711A85C1A7C}"/>
              </a:ext>
            </a:extLst>
          </p:cNvPr>
          <p:cNvPicPr>
            <a:picLocks noChangeAspect="1"/>
          </p:cNvPicPr>
          <p:nvPr>
            <p:custDataLst>
              <p:tags r:id="rId7"/>
            </p:custDataLst>
          </p:nvPr>
        </p:nvPicPr>
        <p:blipFill>
          <a:blip>
            <a:extLst>
              <a:ext uri="{96DAC541-7B7A-43D3-8B79-37D633B846F1}">
                <asvg:svgBlip xmlns:asvg="http://schemas.microsoft.com/office/drawing/2016/SVG/main" r:embed="rId12"/>
              </a:ext>
            </a:extLst>
          </a:blip>
          <a:stretch>
            <a:fillRect/>
          </a:stretch>
        </p:blipFill>
        <p:spPr>
          <a:xfrm>
            <a:off x="7638639" y="1298367"/>
            <a:ext cx="2225808" cy="3192195"/>
          </a:xfrm>
          <a:prstGeom prst="rect">
            <a:avLst/>
          </a:prstGeom>
        </p:spPr>
      </p:pic>
      <p:sp>
        <p:nvSpPr>
          <p:cNvPr id="4" name="ZoneTexte 3">
            <a:extLst>
              <a:ext uri="{FF2B5EF4-FFF2-40B4-BE49-F238E27FC236}">
                <a16:creationId xmlns:a16="http://schemas.microsoft.com/office/drawing/2014/main" id="{20D52B80-DAC1-B817-09D9-9D014BFA1EFA}"/>
              </a:ext>
            </a:extLst>
          </p:cNvPr>
          <p:cNvSpPr txBox="1"/>
          <p:nvPr/>
        </p:nvSpPr>
        <p:spPr>
          <a:xfrm>
            <a:off x="337623" y="4731337"/>
            <a:ext cx="11303977" cy="1703736"/>
          </a:xfrm>
          <a:prstGeom prst="rect">
            <a:avLst/>
          </a:prstGeom>
          <a:noFill/>
        </p:spPr>
        <p:txBody>
          <a:bodyPr wrap="square">
            <a:spAutoFit/>
          </a:bodyPr>
          <a:lstStyle/>
          <a:p>
            <a:pPr algn="ctr">
              <a:lnSpc>
                <a:spcPct val="150000"/>
              </a:lnSpc>
            </a:pPr>
            <a:r>
              <a:rPr lang="fr-CA" sz="2400" dirty="0">
                <a:latin typeface="Visby CF Medium" pitchFamily="2" charset="77"/>
              </a:rPr>
              <a:t>Votre répertoire téléphonique (</a:t>
            </a:r>
            <a:r>
              <a:rPr lang="fr-CA" sz="2400" b="1" dirty="0">
                <a:solidFill>
                  <a:schemeClr val="accent1"/>
                </a:solidFill>
                <a:latin typeface="Visby Slab CF Bold" pitchFamily="2" charset="77"/>
              </a:rPr>
              <a:t>données</a:t>
            </a:r>
            <a:r>
              <a:rPr lang="fr-CA" sz="2400" dirty="0">
                <a:latin typeface="Visby CF Medium" pitchFamily="2" charset="77"/>
              </a:rPr>
              <a:t>) peut être consulté (</a:t>
            </a:r>
            <a:r>
              <a:rPr lang="fr-CA" sz="2400" b="1" dirty="0">
                <a:solidFill>
                  <a:schemeClr val="accent1"/>
                </a:solidFill>
                <a:latin typeface="Visby Slab CF Bold" pitchFamily="2" charset="77"/>
              </a:rPr>
              <a:t>traitement</a:t>
            </a:r>
            <a:r>
              <a:rPr lang="fr-CA" sz="2400" dirty="0">
                <a:latin typeface="Visby CF Medium" pitchFamily="2" charset="77"/>
              </a:rPr>
              <a:t>) dans votre application de contacts, dans votre application de messagerie, dans votre application de courriel, et ce sans que les contacts changent.</a:t>
            </a:r>
            <a:endParaRPr lang="fr-FR" sz="2400" dirty="0">
              <a:latin typeface="Visby CF Medium" pitchFamily="2" charset="77"/>
            </a:endParaRPr>
          </a:p>
        </p:txBody>
      </p:sp>
    </p:spTree>
    <p:extLst>
      <p:ext uri="{BB962C8B-B14F-4D97-AF65-F5344CB8AC3E}">
        <p14:creationId xmlns:p14="http://schemas.microsoft.com/office/powerpoint/2010/main" val="376559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06C784-1887-5C53-0309-3426BF566D79}"/>
              </a:ext>
            </a:extLst>
          </p:cNvPr>
          <p:cNvSpPr>
            <a:spLocks noGrp="1"/>
          </p:cNvSpPr>
          <p:nvPr>
            <p:ph type="title"/>
            <p:custDataLst>
              <p:tags r:id="rId1"/>
            </p:custDataLst>
          </p:nvPr>
        </p:nvSpPr>
        <p:spPr/>
        <p:txBody>
          <a:bodyPr/>
          <a:lstStyle/>
          <a:p>
            <a:r>
              <a:rPr lang="fr-FR"/>
              <a:t>Principe #4 – Avoir une vision d’ensemble</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C0411877-7127-9619-8DA4-2D48EA899D3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3" name="Rectangle : coins arrondis 2">
            <a:extLst>
              <a:ext uri="{FF2B5EF4-FFF2-40B4-BE49-F238E27FC236}">
                <a16:creationId xmlns:a16="http://schemas.microsoft.com/office/drawing/2014/main" id="{8E79491F-C049-4E6A-923B-66444F9EB45D}"/>
              </a:ext>
            </a:extLst>
          </p:cNvPr>
          <p:cNvSpPr/>
          <p:nvPr>
            <p:custDataLst>
              <p:tags r:id="rId3"/>
            </p:custDataLst>
          </p:nvPr>
        </p:nvSpPr>
        <p:spPr>
          <a:xfrm>
            <a:off x="394536" y="1240811"/>
            <a:ext cx="11434607" cy="4963886"/>
          </a:xfrm>
          <a:prstGeom prst="roundRect">
            <a:avLst>
              <a:gd name="adj" fmla="val 371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aphicFrame>
        <p:nvGraphicFramePr>
          <p:cNvPr id="5" name="Tableau 4">
            <a:extLst>
              <a:ext uri="{FF2B5EF4-FFF2-40B4-BE49-F238E27FC236}">
                <a16:creationId xmlns:a16="http://schemas.microsoft.com/office/drawing/2014/main" id="{F63669B0-4B67-2721-811B-BD8C329943D4}"/>
              </a:ext>
            </a:extLst>
          </p:cNvPr>
          <p:cNvGraphicFramePr>
            <a:graphicFrameLocks noGrp="1"/>
          </p:cNvGraphicFramePr>
          <p:nvPr>
            <p:custDataLst>
              <p:tags r:id="rId4"/>
            </p:custDataLst>
            <p:extLst>
              <p:ext uri="{D42A27DB-BD31-4B8C-83A1-F6EECF244321}">
                <p14:modId xmlns:p14="http://schemas.microsoft.com/office/powerpoint/2010/main" val="724877406"/>
              </p:ext>
            </p:extLst>
          </p:nvPr>
        </p:nvGraphicFramePr>
        <p:xfrm>
          <a:off x="566058" y="1423639"/>
          <a:ext cx="11045370" cy="4601025"/>
        </p:xfrm>
        <a:graphic>
          <a:graphicData uri="http://schemas.openxmlformats.org/drawingml/2006/table">
            <a:tbl>
              <a:tblPr firstRow="1" bandRow="1">
                <a:tableStyleId>{2D5ABB26-0587-4C30-8999-92F81FD0307C}</a:tableStyleId>
              </a:tblPr>
              <a:tblGrid>
                <a:gridCol w="1567542">
                  <a:extLst>
                    <a:ext uri="{9D8B030D-6E8A-4147-A177-3AD203B41FA5}">
                      <a16:colId xmlns:a16="http://schemas.microsoft.com/office/drawing/2014/main" val="3214033884"/>
                    </a:ext>
                  </a:extLst>
                </a:gridCol>
                <a:gridCol w="1579638">
                  <a:extLst>
                    <a:ext uri="{9D8B030D-6E8A-4147-A177-3AD203B41FA5}">
                      <a16:colId xmlns:a16="http://schemas.microsoft.com/office/drawing/2014/main" val="441889553"/>
                    </a:ext>
                  </a:extLst>
                </a:gridCol>
                <a:gridCol w="1579638">
                  <a:extLst>
                    <a:ext uri="{9D8B030D-6E8A-4147-A177-3AD203B41FA5}">
                      <a16:colId xmlns:a16="http://schemas.microsoft.com/office/drawing/2014/main" val="537030794"/>
                    </a:ext>
                  </a:extLst>
                </a:gridCol>
                <a:gridCol w="1579638">
                  <a:extLst>
                    <a:ext uri="{9D8B030D-6E8A-4147-A177-3AD203B41FA5}">
                      <a16:colId xmlns:a16="http://schemas.microsoft.com/office/drawing/2014/main" val="2021984364"/>
                    </a:ext>
                  </a:extLst>
                </a:gridCol>
                <a:gridCol w="1579638">
                  <a:extLst>
                    <a:ext uri="{9D8B030D-6E8A-4147-A177-3AD203B41FA5}">
                      <a16:colId xmlns:a16="http://schemas.microsoft.com/office/drawing/2014/main" val="1414361930"/>
                    </a:ext>
                  </a:extLst>
                </a:gridCol>
                <a:gridCol w="1461105">
                  <a:extLst>
                    <a:ext uri="{9D8B030D-6E8A-4147-A177-3AD203B41FA5}">
                      <a16:colId xmlns:a16="http://schemas.microsoft.com/office/drawing/2014/main" val="1481459240"/>
                    </a:ext>
                  </a:extLst>
                </a:gridCol>
                <a:gridCol w="1698171">
                  <a:extLst>
                    <a:ext uri="{9D8B030D-6E8A-4147-A177-3AD203B41FA5}">
                      <a16:colId xmlns:a16="http://schemas.microsoft.com/office/drawing/2014/main" val="4090770250"/>
                    </a:ext>
                  </a:extLst>
                </a:gridCol>
              </a:tblGrid>
              <a:tr h="920205">
                <a:tc>
                  <a:txBody>
                    <a:bodyPr/>
                    <a:lstStyle/>
                    <a:p>
                      <a:endParaRPr lang="fr-CA" sz="1800" b="1">
                        <a:solidFill>
                          <a:schemeClr val="accent1"/>
                        </a:solidFill>
                        <a:latin typeface="Visby Slab CF Bold" panose="00000800000000000000" pitchFamily="50" charset="0"/>
                      </a:endParaRPr>
                    </a:p>
                  </a:txBody>
                  <a:tcP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Données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Fonctions</a:t>
                      </a:r>
                    </a:p>
                    <a:p>
                      <a:pPr algn="ctr"/>
                      <a:r>
                        <a:rPr lang="fr-CA" sz="1800" b="1" i="1">
                          <a:solidFill>
                            <a:schemeClr val="accent5"/>
                          </a:solidFill>
                          <a:latin typeface="Visby Slab CF Bold" panose="00000800000000000000" pitchFamily="50" charset="0"/>
                        </a:rPr>
                        <a:t>Comment?</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Lieux</a:t>
                      </a:r>
                    </a:p>
                    <a:p>
                      <a:pPr algn="ctr"/>
                      <a:r>
                        <a:rPr lang="fr-CA" sz="1800" b="1" i="1">
                          <a:solidFill>
                            <a:schemeClr val="accent5"/>
                          </a:solidFill>
                          <a:latin typeface="Visby Slab CF Bold" panose="00000800000000000000" pitchFamily="50" charset="0"/>
                        </a:rPr>
                        <a:t>Où?</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Personnes</a:t>
                      </a:r>
                    </a:p>
                    <a:p>
                      <a:pPr algn="ctr"/>
                      <a:r>
                        <a:rPr lang="fr-CA" sz="1800" b="1" i="1">
                          <a:solidFill>
                            <a:schemeClr val="accent5"/>
                          </a:solidFill>
                          <a:latin typeface="Visby Slab CF Bold" panose="00000800000000000000" pitchFamily="50" charset="0"/>
                        </a:rPr>
                        <a:t>Qui?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Temps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Quand?</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Motivations</a:t>
                      </a:r>
                    </a:p>
                    <a:p>
                      <a:pPr algn="ctr"/>
                      <a:r>
                        <a:rPr lang="fr-CA" sz="1800" b="1" i="1">
                          <a:solidFill>
                            <a:schemeClr val="accent5"/>
                          </a:solidFill>
                          <a:latin typeface="Visby Slab CF Bold" panose="00000800000000000000" pitchFamily="50" charset="0"/>
                        </a:rPr>
                        <a:t>Pourquoi?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990592643"/>
                  </a:ext>
                </a:extLst>
              </a:tr>
              <a:tr h="920205">
                <a:tc>
                  <a:txBody>
                    <a:bodyPr/>
                    <a:lstStyle/>
                    <a:p>
                      <a:pPr algn="l"/>
                      <a:r>
                        <a:rPr lang="fr-CA" sz="1800" b="1">
                          <a:solidFill>
                            <a:schemeClr val="accent2"/>
                          </a:solidFill>
                          <a:latin typeface="Visby Slab CF Bold" panose="00000800000000000000" pitchFamily="50" charset="0"/>
                        </a:rPr>
                        <a:t>Niveau contextuel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processus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localisations géographiques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objectifs stratégiques et des règles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736366742"/>
                  </a:ext>
                </a:extLst>
              </a:tr>
              <a:tr h="920205">
                <a:tc>
                  <a:txBody>
                    <a:bodyPr/>
                    <a:lstStyle/>
                    <a:p>
                      <a:pPr algn="l"/>
                      <a:r>
                        <a:rPr lang="fr-CA" sz="1800" b="1">
                          <a:solidFill>
                            <a:schemeClr val="accent2"/>
                          </a:solidFill>
                          <a:latin typeface="Visby Slab CF Bold" panose="00000800000000000000" pitchFamily="50" charset="0"/>
                        </a:rPr>
                        <a:t>Niveau conceptuel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Processus </a:t>
                      </a:r>
                      <a:br>
                        <a:rPr lang="fr-CA" sz="1200" b="0">
                          <a:solidFill>
                            <a:schemeClr val="bg1"/>
                          </a:solidFill>
                          <a:effectLst/>
                          <a:latin typeface="Visby CF" pitchFamily="50" charset="0"/>
                        </a:rPr>
                      </a:br>
                      <a:r>
                        <a:rPr lang="fr-CA" sz="1200" b="0">
                          <a:solidFill>
                            <a:schemeClr val="bg1"/>
                          </a:solidFill>
                          <a:effectLst/>
                          <a:latin typeface="Visby CF" pitchFamily="50" charset="0"/>
                        </a:rPr>
                        <a:t>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Localisations des unités​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Objectifs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460127421"/>
                  </a:ext>
                </a:extLst>
              </a:tr>
              <a:tr h="920205">
                <a:tc>
                  <a:txBody>
                    <a:bodyPr/>
                    <a:lstStyle/>
                    <a:p>
                      <a:pPr algn="l"/>
                      <a:r>
                        <a:rPr lang="fr-CA" sz="1800" b="1">
                          <a:solidFill>
                            <a:schemeClr val="accent2"/>
                          </a:solidFill>
                          <a:latin typeface="Visby Slab CF Bold" panose="00000800000000000000" pitchFamily="50" charset="0"/>
                        </a:rPr>
                        <a:t>Niveau logique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 de données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Application/</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 d’information</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Fonctions nodales​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Rôles et interfaces​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Critères​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545859229"/>
                  </a:ext>
                </a:extLst>
              </a:tr>
              <a:tr h="920205">
                <a:tc>
                  <a:txBody>
                    <a:bodyPr/>
                    <a:lstStyle/>
                    <a:p>
                      <a:pPr algn="l"/>
                      <a:r>
                        <a:rPr lang="fr-CA" sz="1800" b="1">
                          <a:solidFill>
                            <a:schemeClr val="accent2"/>
                          </a:solidFill>
                          <a:latin typeface="Visby Slab CF Bold" panose="00000800000000000000" pitchFamily="50" charset="0"/>
                        </a:rPr>
                        <a:t>Niveau technique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Ligne (dans une table)​</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Algorithmes programmés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Localisation des système​s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Utilisateurs​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Exécutions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Conditions​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91159819"/>
                  </a:ext>
                </a:extLst>
              </a:tr>
            </a:tbl>
          </a:graphicData>
        </a:graphic>
      </p:graphicFrame>
    </p:spTree>
    <p:extLst>
      <p:ext uri="{BB962C8B-B14F-4D97-AF65-F5344CB8AC3E}">
        <p14:creationId xmlns:p14="http://schemas.microsoft.com/office/powerpoint/2010/main" val="2277838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9A3C8E9-60E9-0F32-FDEB-0D994F11D1D2}"/>
              </a:ext>
            </a:extLst>
          </p:cNvPr>
          <p:cNvSpPr txBox="1"/>
          <p:nvPr>
            <p:custDataLst>
              <p:tags r:id="rId1"/>
            </p:custDataLst>
          </p:nvPr>
        </p:nvSpPr>
        <p:spPr>
          <a:xfrm>
            <a:off x="434259" y="1229436"/>
            <a:ext cx="10707327" cy="1219200"/>
          </a:xfrm>
          <a:prstGeom prst="rect">
            <a:avLst/>
          </a:prstGeom>
        </p:spPr>
        <p:txBody>
          <a:bodyPr vert="horz" wrap="none" lIns="121920" tIns="60960" rIns="121920" bIns="60960" rtlCol="0">
            <a:normAutofit/>
          </a:body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7200" b="0" i="0" u="none" strike="noStrike" kern="1200" cap="none" spc="0" normalizeH="0" baseline="0" noProof="0">
                <a:ln>
                  <a:noFill/>
                </a:ln>
                <a:solidFill>
                  <a:schemeClr val="accent1"/>
                </a:solidFill>
                <a:effectLst/>
                <a:uLnTx/>
                <a:uFillTx/>
                <a:latin typeface="Visby Slab CF Bold" panose="00000800000000000000" pitchFamily="50" charset="0"/>
                <a:ea typeface="+mn-ea"/>
                <a:cs typeface="+mn-cs"/>
              </a:rPr>
              <a:t>Logistique</a:t>
            </a:r>
          </a:p>
        </p:txBody>
      </p:sp>
      <p:sp>
        <p:nvSpPr>
          <p:cNvPr id="7" name="Rectangle 6">
            <a:extLst>
              <a:ext uri="{FF2B5EF4-FFF2-40B4-BE49-F238E27FC236}">
                <a16:creationId xmlns:a16="http://schemas.microsoft.com/office/drawing/2014/main" id="{0D80B38E-847A-1FF8-30A3-46A37E15058F}"/>
              </a:ext>
            </a:extLst>
          </p:cNvPr>
          <p:cNvSpPr/>
          <p:nvPr>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ZoneTexte 3">
            <a:extLst>
              <a:ext uri="{FF2B5EF4-FFF2-40B4-BE49-F238E27FC236}">
                <a16:creationId xmlns:a16="http://schemas.microsoft.com/office/drawing/2014/main" id="{5CC2B4B6-B723-0BA6-2281-4D978B5D3BAE}"/>
              </a:ext>
            </a:extLst>
          </p:cNvPr>
          <p:cNvSpPr txBox="1"/>
          <p:nvPr>
            <p:custDataLst>
              <p:tags r:id="rId4"/>
            </p:custDataLst>
          </p:nvPr>
        </p:nvSpPr>
        <p:spPr>
          <a:xfrm>
            <a:off x="-245807" y="6323470"/>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2411971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A432B9-AF17-EC43-BC4C-C368513C9977}"/>
              </a:ext>
            </a:extLst>
          </p:cNvPr>
          <p:cNvSpPr>
            <a:spLocks noGrp="1"/>
          </p:cNvSpPr>
          <p:nvPr>
            <p:ph type="title"/>
            <p:custDataLst>
              <p:tags r:id="rId1"/>
            </p:custDataLst>
          </p:nvPr>
        </p:nvSpPr>
        <p:spPr>
          <a:solidFill>
            <a:schemeClr val="accent1"/>
          </a:solidFill>
          <a:ln>
            <a:solidFill>
              <a:schemeClr val="accent1"/>
            </a:solidFill>
          </a:ln>
        </p:spPr>
        <p:txBody>
          <a:bodyPr/>
          <a:lstStyle/>
          <a:p>
            <a:r>
              <a:rPr lang="fr-CA"/>
              <a:t>Principe de la classe inversée</a:t>
            </a:r>
          </a:p>
        </p:txBody>
      </p:sp>
      <p:sp>
        <p:nvSpPr>
          <p:cNvPr id="3" name="Espace réservé du contenu 2">
            <a:extLst>
              <a:ext uri="{FF2B5EF4-FFF2-40B4-BE49-F238E27FC236}">
                <a16:creationId xmlns:a16="http://schemas.microsoft.com/office/drawing/2014/main" id="{6FF57E68-95ED-6F62-331A-5EB63A94D852}"/>
              </a:ext>
            </a:extLst>
          </p:cNvPr>
          <p:cNvSpPr>
            <a:spLocks noGrp="1"/>
          </p:cNvSpPr>
          <p:nvPr>
            <p:ph idx="1"/>
            <p:custDataLst>
              <p:tags r:id="rId2"/>
            </p:custDataLst>
          </p:nvPr>
        </p:nvSpPr>
        <p:spPr/>
        <p:txBody>
          <a:bodyPr anchor="ctr">
            <a:normAutofit fontScale="85000" lnSpcReduction="10000"/>
          </a:bodyPr>
          <a:lstStyle/>
          <a:p>
            <a:r>
              <a:rPr lang="fr-CA" sz="2800" dirty="0"/>
              <a:t>La classe inversée est une approche pédagogique qui se déroule en deux moments distincts mais d’égale importance: elle débute par une phase d’échauffement qui vous expose à la matière de façon autonome, qui est suivie par une </a:t>
            </a:r>
            <a:r>
              <a:rPr lang="fr-CA" sz="2800"/>
              <a:t>phase d’entraînement</a:t>
            </a:r>
            <a:r>
              <a:rPr lang="fr-CA" sz="2800" dirty="0"/>
              <a:t>, en classe, qui vous permet d’approfondir la matière avec vos pairs</a:t>
            </a:r>
          </a:p>
          <a:p>
            <a:r>
              <a:rPr lang="fr-CA" sz="2800" dirty="0"/>
              <a:t>Pendant la phase d’échauffement,</a:t>
            </a:r>
            <a:r>
              <a:rPr lang="fr-CA" sz="2800" dirty="0">
                <a:solidFill>
                  <a:schemeClr val="accent4"/>
                </a:solidFill>
                <a:latin typeface="Visby Slab CF Bold" panose="00000800000000000000" pitchFamily="50" charset="0"/>
              </a:rPr>
              <a:t> vous devrez…</a:t>
            </a:r>
          </a:p>
          <a:p>
            <a:pPr lvl="1"/>
            <a:r>
              <a:rPr lang="fr-CA" sz="2400" dirty="0"/>
              <a:t>… consulter les différentes ressources de façon asynchrone, afin de découvrir les contenus du cours et de réaliser des activités d’exploration</a:t>
            </a:r>
          </a:p>
          <a:p>
            <a:r>
              <a:rPr lang="fr-CA" sz="2800" dirty="0"/>
              <a:t>Pendant la phase d’entraînement, </a:t>
            </a:r>
            <a:r>
              <a:rPr lang="fr-CA" sz="2800" dirty="0">
                <a:solidFill>
                  <a:schemeClr val="accent4"/>
                </a:solidFill>
                <a:latin typeface="Visby Slab CF Bold" panose="00000800000000000000" pitchFamily="50" charset="0"/>
              </a:rPr>
              <a:t>vous devrez…</a:t>
            </a:r>
          </a:p>
          <a:p>
            <a:pPr lvl="1"/>
            <a:r>
              <a:rPr lang="fr-CA" sz="2400" dirty="0"/>
              <a:t>…ancrer et consolider vos apprentissages à travers divers exercices en classe où vous aurez l’occasion de poser vos questions et de clarifier ce que vous aurez moins bien compris</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BC3658A4-7E1F-64AD-AD86-B698C56EBD04}"/>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073066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0D914F-2FB5-B46F-DE40-881EE9E3CADA}"/>
              </a:ext>
            </a:extLst>
          </p:cNvPr>
          <p:cNvSpPr>
            <a:spLocks noGrp="1"/>
          </p:cNvSpPr>
          <p:nvPr>
            <p:ph type="title"/>
            <p:custDataLst>
              <p:tags r:id="rId1"/>
            </p:custDataLst>
          </p:nvPr>
        </p:nvSpPr>
        <p:spPr/>
        <p:txBody>
          <a:bodyPr/>
          <a:lstStyle/>
          <a:p>
            <a:r>
              <a:rPr lang="fr-CA"/>
              <a:t>Une session, deux perspectives</a:t>
            </a:r>
          </a:p>
        </p:txBody>
      </p:sp>
      <p:sp>
        <p:nvSpPr>
          <p:cNvPr id="3" name="Espace réservé du contenu 2">
            <a:extLst>
              <a:ext uri="{FF2B5EF4-FFF2-40B4-BE49-F238E27FC236}">
                <a16:creationId xmlns:a16="http://schemas.microsoft.com/office/drawing/2014/main" id="{AF7DB295-208E-070C-0D49-80D41A838BF0}"/>
              </a:ext>
            </a:extLst>
          </p:cNvPr>
          <p:cNvSpPr>
            <a:spLocks noGrp="1"/>
          </p:cNvSpPr>
          <p:nvPr>
            <p:ph idx="1"/>
            <p:custDataLst>
              <p:tags r:id="rId2"/>
            </p:custDataLst>
          </p:nvPr>
        </p:nvSpPr>
        <p:spPr/>
        <p:txBody>
          <a:bodyPr anchor="ctr"/>
          <a:lstStyle/>
          <a:p>
            <a:r>
              <a:rPr lang="fr-CA" dirty="0"/>
              <a:t>Avant l’intra, vous verrez les notions de base des gens qui œuvrent en TI, comme vous apprenez les bases dans votre premier cours de Finance, Marketing, Comptabilité, GOL, RH, etc.</a:t>
            </a:r>
          </a:p>
          <a:p>
            <a:r>
              <a:rPr lang="fr-CA" dirty="0"/>
              <a:t>Après l’intra, vous vous mettrez dans la peau de l’utilisateur, et l’accent sera alors placé sur ce que font les TI pour que les utilisateurs aient les bons outils et soient </a:t>
            </a:r>
            <a:r>
              <a:rPr lang="fr-CA"/>
              <a:t>performants.</a:t>
            </a:r>
          </a:p>
          <a:p>
            <a:endParaRPr lang="fr-CA" dirty="0"/>
          </a:p>
        </p:txBody>
      </p:sp>
    </p:spTree>
    <p:extLst>
      <p:ext uri="{BB962C8B-B14F-4D97-AF65-F5344CB8AC3E}">
        <p14:creationId xmlns:p14="http://schemas.microsoft.com/office/powerpoint/2010/main" val="2911848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43DC0-639A-D98A-2AFB-135A95034D0A}"/>
            </a:ext>
          </a:extLst>
        </p:cNvPr>
        <p:cNvGrpSpPr/>
        <p:nvPr/>
      </p:nvGrpSpPr>
      <p:grpSpPr>
        <a:xfrm>
          <a:off x="0" y="0"/>
          <a:ext cx="0" cy="0"/>
          <a:chOff x="0" y="0"/>
          <a:chExt cx="0" cy="0"/>
        </a:xfrm>
      </p:grpSpPr>
      <p:graphicFrame>
        <p:nvGraphicFramePr>
          <p:cNvPr id="43" name="Diagramme 42">
            <a:extLst>
              <a:ext uri="{FF2B5EF4-FFF2-40B4-BE49-F238E27FC236}">
                <a16:creationId xmlns:a16="http://schemas.microsoft.com/office/drawing/2014/main" id="{26904302-F745-49EB-F677-471CE4428612}"/>
              </a:ext>
            </a:extLst>
          </p:cNvPr>
          <p:cNvGraphicFramePr/>
          <p:nvPr>
            <p:custDataLst>
              <p:tags r:id="rId1"/>
            </p:custDataLst>
            <p:extLst>
              <p:ext uri="{D42A27DB-BD31-4B8C-83A1-F6EECF244321}">
                <p14:modId xmlns:p14="http://schemas.microsoft.com/office/powerpoint/2010/main" val="3031974547"/>
              </p:ext>
            </p:extLst>
          </p:nvPr>
        </p:nvGraphicFramePr>
        <p:xfrm>
          <a:off x="885340" y="291850"/>
          <a:ext cx="10442005" cy="62518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46" name="Image 45">
            <a:extLst>
              <a:ext uri="{FF2B5EF4-FFF2-40B4-BE49-F238E27FC236}">
                <a16:creationId xmlns:a16="http://schemas.microsoft.com/office/drawing/2014/main" id="{42B1A2F9-B707-67FA-8578-E497DFED55B1}"/>
              </a:ext>
            </a:extLst>
          </p:cNvPr>
          <p:cNvPicPr>
            <a:picLocks noChangeAspect="1"/>
          </p:cNvPicPr>
          <p:nvPr>
            <p:custDataLst>
              <p:tags r:id="rId2"/>
            </p:custDataLst>
          </p:nvPr>
        </p:nvPicPr>
        <p:blipFill>
          <a:blip r:embed="rId17"/>
          <a:stretch>
            <a:fillRect/>
          </a:stretch>
        </p:blipFill>
        <p:spPr>
          <a:xfrm>
            <a:off x="1188915" y="5899654"/>
            <a:ext cx="1024155" cy="375837"/>
          </a:xfrm>
          <a:prstGeom prst="rect">
            <a:avLst/>
          </a:prstGeom>
        </p:spPr>
      </p:pic>
      <p:pic>
        <p:nvPicPr>
          <p:cNvPr id="11" name="Image 10">
            <a:extLst>
              <a:ext uri="{FF2B5EF4-FFF2-40B4-BE49-F238E27FC236}">
                <a16:creationId xmlns:a16="http://schemas.microsoft.com/office/drawing/2014/main" id="{40ECD343-05B2-1A1B-B162-E91D8B89E047}"/>
              </a:ext>
            </a:extLst>
          </p:cNvPr>
          <p:cNvPicPr>
            <a:picLocks noChangeAspect="1"/>
          </p:cNvPicPr>
          <p:nvPr>
            <p:custDataLst>
              <p:tags r:id="rId3"/>
            </p:custDataLst>
          </p:nvPr>
        </p:nvPicPr>
        <p:blipFill>
          <a:blip r:embed="rId17"/>
          <a:stretch>
            <a:fillRect/>
          </a:stretch>
        </p:blipFill>
        <p:spPr>
          <a:xfrm>
            <a:off x="1056792" y="3905392"/>
            <a:ext cx="1024155" cy="375837"/>
          </a:xfrm>
          <a:prstGeom prst="rect">
            <a:avLst/>
          </a:prstGeom>
        </p:spPr>
      </p:pic>
      <p:pic>
        <p:nvPicPr>
          <p:cNvPr id="12" name="Image 11">
            <a:extLst>
              <a:ext uri="{FF2B5EF4-FFF2-40B4-BE49-F238E27FC236}">
                <a16:creationId xmlns:a16="http://schemas.microsoft.com/office/drawing/2014/main" id="{C0409095-C938-DCE8-5BD2-3E0B390CA953}"/>
              </a:ext>
            </a:extLst>
          </p:cNvPr>
          <p:cNvPicPr>
            <a:picLocks noChangeAspect="1"/>
          </p:cNvPicPr>
          <p:nvPr>
            <p:custDataLst>
              <p:tags r:id="rId4"/>
            </p:custDataLst>
          </p:nvPr>
        </p:nvPicPr>
        <p:blipFill>
          <a:blip r:embed="rId18"/>
          <a:stretch>
            <a:fillRect/>
          </a:stretch>
        </p:blipFill>
        <p:spPr>
          <a:xfrm>
            <a:off x="11041594" y="395152"/>
            <a:ext cx="364490" cy="551742"/>
          </a:xfrm>
          <a:prstGeom prst="rect">
            <a:avLst/>
          </a:prstGeom>
        </p:spPr>
      </p:pic>
      <p:pic>
        <p:nvPicPr>
          <p:cNvPr id="13" name="Image 12">
            <a:extLst>
              <a:ext uri="{FF2B5EF4-FFF2-40B4-BE49-F238E27FC236}">
                <a16:creationId xmlns:a16="http://schemas.microsoft.com/office/drawing/2014/main" id="{54F19516-CBF9-B852-DF83-F60165B6865F}"/>
              </a:ext>
            </a:extLst>
          </p:cNvPr>
          <p:cNvPicPr>
            <a:picLocks noChangeAspect="1"/>
          </p:cNvPicPr>
          <p:nvPr>
            <p:custDataLst>
              <p:tags r:id="rId5"/>
            </p:custDataLst>
          </p:nvPr>
        </p:nvPicPr>
        <p:blipFill>
          <a:blip r:embed="rId19">
            <a:clrChange>
              <a:clrFrom>
                <a:srgbClr val="FFFFFF"/>
              </a:clrFrom>
              <a:clrTo>
                <a:srgbClr val="FFFFFF">
                  <a:alpha val="0"/>
                </a:srgbClr>
              </a:clrTo>
            </a:clrChange>
          </a:blip>
          <a:stretch>
            <a:fillRect/>
          </a:stretch>
        </p:blipFill>
        <p:spPr>
          <a:xfrm>
            <a:off x="2097158" y="3905392"/>
            <a:ext cx="200199" cy="528360"/>
          </a:xfrm>
          <a:prstGeom prst="rect">
            <a:avLst/>
          </a:prstGeom>
        </p:spPr>
      </p:pic>
      <p:pic>
        <p:nvPicPr>
          <p:cNvPr id="14" name="Image 13">
            <a:extLst>
              <a:ext uri="{FF2B5EF4-FFF2-40B4-BE49-F238E27FC236}">
                <a16:creationId xmlns:a16="http://schemas.microsoft.com/office/drawing/2014/main" id="{49BEC7AB-CE16-E1C4-AA6F-A47542D85CAC}"/>
              </a:ext>
            </a:extLst>
          </p:cNvPr>
          <p:cNvPicPr>
            <a:picLocks noChangeAspect="1"/>
          </p:cNvPicPr>
          <p:nvPr>
            <p:custDataLst>
              <p:tags r:id="rId6"/>
            </p:custDataLst>
          </p:nvPr>
        </p:nvPicPr>
        <p:blipFill>
          <a:blip r:embed="rId17"/>
          <a:stretch>
            <a:fillRect/>
          </a:stretch>
        </p:blipFill>
        <p:spPr>
          <a:xfrm>
            <a:off x="10001227" y="395152"/>
            <a:ext cx="1024155" cy="375837"/>
          </a:xfrm>
          <a:prstGeom prst="rect">
            <a:avLst/>
          </a:prstGeom>
        </p:spPr>
      </p:pic>
      <p:pic>
        <p:nvPicPr>
          <p:cNvPr id="2" name="Image 1">
            <a:extLst>
              <a:ext uri="{FF2B5EF4-FFF2-40B4-BE49-F238E27FC236}">
                <a16:creationId xmlns:a16="http://schemas.microsoft.com/office/drawing/2014/main" id="{04CF309C-9D6A-D622-AA3B-3086CDC53706}"/>
              </a:ext>
            </a:extLst>
          </p:cNvPr>
          <p:cNvPicPr>
            <a:picLocks noChangeAspect="1"/>
          </p:cNvPicPr>
          <p:nvPr>
            <p:custDataLst>
              <p:tags r:id="rId7"/>
            </p:custDataLst>
          </p:nvPr>
        </p:nvPicPr>
        <p:blipFill>
          <a:blip r:embed="rId19">
            <a:clrChange>
              <a:clrFrom>
                <a:srgbClr val="FFFFFF"/>
              </a:clrFrom>
              <a:clrTo>
                <a:srgbClr val="FFFFFF">
                  <a:alpha val="0"/>
                </a:srgbClr>
              </a:clrTo>
            </a:clrChange>
          </a:blip>
          <a:stretch>
            <a:fillRect/>
          </a:stretch>
        </p:blipFill>
        <p:spPr>
          <a:xfrm>
            <a:off x="983327" y="5909626"/>
            <a:ext cx="200199" cy="528360"/>
          </a:xfrm>
          <a:prstGeom prst="rect">
            <a:avLst/>
          </a:prstGeom>
        </p:spPr>
      </p:pic>
      <p:pic>
        <p:nvPicPr>
          <p:cNvPr id="3" name="Image 2">
            <a:extLst>
              <a:ext uri="{FF2B5EF4-FFF2-40B4-BE49-F238E27FC236}">
                <a16:creationId xmlns:a16="http://schemas.microsoft.com/office/drawing/2014/main" id="{9DDF248B-3172-C118-CE49-14330C5293FC}"/>
              </a:ext>
            </a:extLst>
          </p:cNvPr>
          <p:cNvPicPr>
            <a:picLocks noChangeAspect="1"/>
          </p:cNvPicPr>
          <p:nvPr>
            <p:custDataLst>
              <p:tags r:id="rId8"/>
            </p:custDataLst>
          </p:nvPr>
        </p:nvPicPr>
        <p:blipFill>
          <a:blip r:embed="rId17"/>
          <a:stretch>
            <a:fillRect/>
          </a:stretch>
        </p:blipFill>
        <p:spPr>
          <a:xfrm>
            <a:off x="1249799" y="4467166"/>
            <a:ext cx="1024155" cy="375837"/>
          </a:xfrm>
          <a:prstGeom prst="rect">
            <a:avLst/>
          </a:prstGeom>
        </p:spPr>
      </p:pic>
      <p:pic>
        <p:nvPicPr>
          <p:cNvPr id="4" name="Image 3">
            <a:extLst>
              <a:ext uri="{FF2B5EF4-FFF2-40B4-BE49-F238E27FC236}">
                <a16:creationId xmlns:a16="http://schemas.microsoft.com/office/drawing/2014/main" id="{2554BD8E-87FE-9DC9-434A-6AD3A2783F06}"/>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rcRect/>
          <a:stretch/>
        </p:blipFill>
        <p:spPr>
          <a:xfrm>
            <a:off x="826989" y="4467166"/>
            <a:ext cx="386852" cy="551741"/>
          </a:xfrm>
          <a:prstGeom prst="rect">
            <a:avLst/>
          </a:prstGeom>
        </p:spPr>
      </p:pic>
    </p:spTree>
    <p:extLst>
      <p:ext uri="{BB962C8B-B14F-4D97-AF65-F5344CB8AC3E}">
        <p14:creationId xmlns:p14="http://schemas.microsoft.com/office/powerpoint/2010/main" val="2745813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800212-0C29-CE74-8758-C0E204E2B07C}"/>
              </a:ext>
            </a:extLst>
          </p:cNvPr>
          <p:cNvSpPr>
            <a:spLocks noGrp="1"/>
          </p:cNvSpPr>
          <p:nvPr>
            <p:ph type="title"/>
            <p:custDataLst>
              <p:tags r:id="rId1"/>
            </p:custDataLst>
          </p:nvPr>
        </p:nvSpPr>
        <p:spPr/>
        <p:txBody>
          <a:bodyPr/>
          <a:lstStyle/>
          <a:p>
            <a:r>
              <a:rPr lang="fr-CA"/>
              <a:t>Charge de travail</a:t>
            </a:r>
          </a:p>
        </p:txBody>
      </p:sp>
      <p:sp>
        <p:nvSpPr>
          <p:cNvPr id="3" name="Espace réservé du contenu 2">
            <a:extLst>
              <a:ext uri="{FF2B5EF4-FFF2-40B4-BE49-F238E27FC236}">
                <a16:creationId xmlns:a16="http://schemas.microsoft.com/office/drawing/2014/main" id="{316AD121-78F0-863B-1034-28985B5456D8}"/>
              </a:ext>
            </a:extLst>
          </p:cNvPr>
          <p:cNvSpPr>
            <a:spLocks noGrp="1"/>
          </p:cNvSpPr>
          <p:nvPr>
            <p:ph idx="1"/>
            <p:custDataLst>
              <p:tags r:id="rId2"/>
            </p:custDataLst>
          </p:nvPr>
        </p:nvSpPr>
        <p:spPr>
          <a:xfrm>
            <a:off x="224640" y="1017270"/>
            <a:ext cx="11767680" cy="1442901"/>
          </a:xfrm>
        </p:spPr>
        <p:txBody>
          <a:bodyPr>
            <a:normAutofit/>
          </a:bodyPr>
          <a:lstStyle/>
          <a:p>
            <a:r>
              <a:rPr lang="fr-CA"/>
              <a:t>Voici pour rappel, un extrait du Guide du nouvel admis au B.A.A. de HEC Montréal</a:t>
            </a:r>
          </a:p>
          <a:p>
            <a:pPr lvl="1"/>
            <a:r>
              <a:rPr lang="fr-CA" sz="2000">
                <a:hlinkClick r:id="rId7"/>
              </a:rPr>
              <a:t>https://www.hec.ca/etudiants/nouvel-admis/guide/guide-nouvel-admis-baa.html</a:t>
            </a:r>
            <a:endParaRPr lang="fr-CA" sz="2000"/>
          </a:p>
          <a:p>
            <a:pPr lvl="1"/>
            <a:endParaRPr lang="fr-CA"/>
          </a:p>
        </p:txBody>
      </p:sp>
      <p:grpSp>
        <p:nvGrpSpPr>
          <p:cNvPr id="6" name="Groupe 5">
            <a:extLst>
              <a:ext uri="{FF2B5EF4-FFF2-40B4-BE49-F238E27FC236}">
                <a16:creationId xmlns:a16="http://schemas.microsoft.com/office/drawing/2014/main" id="{EF22F747-F5D9-40A0-E1B3-54EE3EFC7FB4}"/>
              </a:ext>
            </a:extLst>
          </p:cNvPr>
          <p:cNvGrpSpPr/>
          <p:nvPr>
            <p:custDataLst>
              <p:tags r:id="rId3"/>
            </p:custDataLst>
          </p:nvPr>
        </p:nvGrpSpPr>
        <p:grpSpPr>
          <a:xfrm>
            <a:off x="971968" y="2351315"/>
            <a:ext cx="10248064" cy="4093029"/>
            <a:chOff x="888022" y="2286000"/>
            <a:chExt cx="10248064" cy="4093029"/>
          </a:xfrm>
        </p:grpSpPr>
        <p:sp>
          <p:nvSpPr>
            <p:cNvPr id="4" name="Espace réservé du contenu 2">
              <a:extLst>
                <a:ext uri="{FF2B5EF4-FFF2-40B4-BE49-F238E27FC236}">
                  <a16:creationId xmlns:a16="http://schemas.microsoft.com/office/drawing/2014/main" id="{2E1D4CE1-6077-0BAE-E9E0-99F9A228BF2F}"/>
                </a:ext>
              </a:extLst>
            </p:cNvPr>
            <p:cNvSpPr txBox="1">
              <a:spLocks/>
            </p:cNvSpPr>
            <p:nvPr/>
          </p:nvSpPr>
          <p:spPr>
            <a:xfrm>
              <a:off x="1149926" y="2582622"/>
              <a:ext cx="9714017" cy="352455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Medium"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Medium"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Medium"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Wingdings" panose="05000000000000000000" pitchFamily="2" charset="2"/>
                <a:buNone/>
              </a:pPr>
              <a:r>
                <a:rPr lang="fr-CA" sz="3100" cap="all">
                  <a:solidFill>
                    <a:srgbClr val="003C71"/>
                  </a:solidFill>
                  <a:latin typeface="DIN Engschrift Std" panose="020B0606020202020204" pitchFamily="34" charset="0"/>
                </a:rPr>
                <a:t>Étape 12 : Prévoir la charge de travail</a:t>
              </a:r>
            </a:p>
            <a:p>
              <a:pPr marL="0" indent="0">
                <a:spcAft>
                  <a:spcPts val="1200"/>
                </a:spcAft>
                <a:buNone/>
              </a:pPr>
              <a:r>
                <a:rPr lang="fr-CA">
                  <a:solidFill>
                    <a:srgbClr val="003C71"/>
                  </a:solidFill>
                  <a:latin typeface="DIN OT" panose="020B0504020201010104" pitchFamily="34" charset="0"/>
                </a:rPr>
                <a:t>La majorité des cours offerts à HEC Montréal comptent 3 crédits. Un cours de 3 crédits correspond à 45 heures de formation, y compris les examens, et </a:t>
              </a:r>
              <a:r>
                <a:rPr lang="fr-CA" b="1">
                  <a:solidFill>
                    <a:srgbClr val="003C71"/>
                  </a:solidFill>
                  <a:latin typeface="DIN OT" panose="020B0504020201010104" pitchFamily="34" charset="0"/>
                </a:rPr>
                <a:t>90 heures de travail personnel</a:t>
              </a:r>
              <a:r>
                <a:rPr lang="fr-CA">
                  <a:solidFill>
                    <a:srgbClr val="003C71"/>
                  </a:solidFill>
                  <a:latin typeface="DIN OT" panose="020B0504020201010104" pitchFamily="34" charset="0"/>
                </a:rPr>
                <a:t>. Au trimestre d'automne ou d'hiver, un cours s'étale en général sur 15 semaines et à l'été, sur 7 semaines suivies d'une période d'examen.</a:t>
              </a:r>
            </a:p>
            <a:p>
              <a:pPr marL="0" indent="0">
                <a:spcAft>
                  <a:spcPts val="1200"/>
                </a:spcAft>
                <a:buNone/>
              </a:pPr>
              <a:r>
                <a:rPr lang="fr-CA">
                  <a:solidFill>
                    <a:srgbClr val="003C71"/>
                  </a:solidFill>
                  <a:latin typeface="DIN OT" panose="020B0504020201010104" pitchFamily="34" charset="0"/>
                </a:rPr>
                <a:t>Pour vous aider à bien gérer votre charge de travail, renseignez-vous sur le </a:t>
              </a:r>
              <a:r>
                <a:rPr lang="fr-CA" u="sng">
                  <a:solidFill>
                    <a:srgbClr val="009FDF"/>
                  </a:solidFill>
                  <a:latin typeface="DIN OT" panose="020B0504020201010104" pitchFamily="34" charset="0"/>
                  <a:hlinkClick r:id="rId8" tooltip="Soutien et ressources"/>
                </a:rPr>
                <a:t>soutien aux études</a:t>
              </a:r>
              <a:r>
                <a:rPr lang="fr-CA">
                  <a:solidFill>
                    <a:srgbClr val="003C71"/>
                  </a:solidFill>
                  <a:latin typeface="DIN OT" panose="020B0504020201010104" pitchFamily="34" charset="0"/>
                </a:rPr>
                <a:t>.</a:t>
              </a:r>
            </a:p>
          </p:txBody>
        </p:sp>
        <p:sp>
          <p:nvSpPr>
            <p:cNvPr id="5" name="Rectangle 4">
              <a:extLst>
                <a:ext uri="{FF2B5EF4-FFF2-40B4-BE49-F238E27FC236}">
                  <a16:creationId xmlns:a16="http://schemas.microsoft.com/office/drawing/2014/main" id="{B6D8EB59-38B8-280C-CAA2-E1101C07EDE7}"/>
                </a:ext>
              </a:extLst>
            </p:cNvPr>
            <p:cNvSpPr/>
            <p:nvPr/>
          </p:nvSpPr>
          <p:spPr>
            <a:xfrm>
              <a:off x="888022" y="2286000"/>
              <a:ext cx="10248064" cy="4093029"/>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pic>
        <p:nvPicPr>
          <p:cNvPr id="7" name="Image 6" descr="Une image contenant Police, Graphique, capture d’écran, graphisme&#10;&#10;Description générée automatiquement">
            <a:extLst>
              <a:ext uri="{FF2B5EF4-FFF2-40B4-BE49-F238E27FC236}">
                <a16:creationId xmlns:a16="http://schemas.microsoft.com/office/drawing/2014/main" id="{A5AE1F48-8B6D-F4EB-46DA-0F87630270D0}"/>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491152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2D527-6B18-82A1-749C-B884CB28515C}"/>
              </a:ext>
            </a:extLst>
          </p:cNvPr>
          <p:cNvSpPr>
            <a:spLocks noGrp="1"/>
          </p:cNvSpPr>
          <p:nvPr>
            <p:ph type="title"/>
            <p:custDataLst>
              <p:tags r:id="rId1"/>
            </p:custDataLst>
          </p:nvPr>
        </p:nvSpPr>
        <p:spPr/>
        <p:txBody>
          <a:bodyPr>
            <a:normAutofit fontScale="90000"/>
          </a:bodyPr>
          <a:lstStyle/>
          <a:p>
            <a:r>
              <a:rPr lang="fr-CA"/>
              <a:t>Attentes de l’enseignant / responsabilités de l’étudiant</a:t>
            </a:r>
          </a:p>
        </p:txBody>
      </p:sp>
      <p:sp>
        <p:nvSpPr>
          <p:cNvPr id="3" name="Espace réservé du contenu 2">
            <a:extLst>
              <a:ext uri="{FF2B5EF4-FFF2-40B4-BE49-F238E27FC236}">
                <a16:creationId xmlns:a16="http://schemas.microsoft.com/office/drawing/2014/main" id="{B7F7BE4F-5BCB-22D8-5968-1C665B949FDF}"/>
              </a:ext>
            </a:extLst>
          </p:cNvPr>
          <p:cNvSpPr>
            <a:spLocks noGrp="1"/>
          </p:cNvSpPr>
          <p:nvPr>
            <p:ph idx="1"/>
            <p:custDataLst>
              <p:tags r:id="rId2"/>
            </p:custDataLst>
          </p:nvPr>
        </p:nvSpPr>
        <p:spPr/>
        <p:txBody>
          <a:bodyPr anchor="ctr"/>
          <a:lstStyle/>
          <a:p>
            <a:pPr>
              <a:lnSpc>
                <a:spcPct val="200000"/>
              </a:lnSpc>
            </a:pPr>
            <a:r>
              <a:rPr lang="fr-CA"/>
              <a:t>Travail préparatoire effectué sérieusement</a:t>
            </a:r>
          </a:p>
          <a:p>
            <a:pPr>
              <a:lnSpc>
                <a:spcPct val="200000"/>
              </a:lnSpc>
            </a:pPr>
            <a:r>
              <a:rPr lang="fr-CA"/>
              <a:t>Participation et intérêt lors des séances en classe</a:t>
            </a:r>
          </a:p>
          <a:p>
            <a:pPr>
              <a:lnSpc>
                <a:spcPct val="200000"/>
              </a:lnSpc>
            </a:pPr>
            <a:r>
              <a:rPr lang="fr-CA"/>
              <a:t>Climat propice aux apprentissages</a:t>
            </a:r>
          </a:p>
          <a:p>
            <a:pPr>
              <a:lnSpc>
                <a:spcPct val="200000"/>
              </a:lnSpc>
            </a:pPr>
            <a:r>
              <a:rPr lang="fr-CA"/>
              <a:t>Respect mutuel </a:t>
            </a:r>
          </a:p>
          <a:p>
            <a:pPr>
              <a:lnSpc>
                <a:spcPct val="200000"/>
              </a:lnSpc>
            </a:pPr>
            <a:endParaRPr lang="fr-CA"/>
          </a:p>
          <a:p>
            <a:pPr>
              <a:lnSpc>
                <a:spcPct val="200000"/>
              </a:lnSpc>
            </a:pPr>
            <a:endParaRPr lang="fr-CA"/>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E321FACD-6089-4945-8796-115B8F2AB176}"/>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286812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2D527-6B18-82A1-749C-B884CB28515C}"/>
              </a:ext>
            </a:extLst>
          </p:cNvPr>
          <p:cNvSpPr>
            <a:spLocks noGrp="1"/>
          </p:cNvSpPr>
          <p:nvPr>
            <p:ph type="title"/>
            <p:custDataLst>
              <p:tags r:id="rId1"/>
            </p:custDataLst>
          </p:nvPr>
        </p:nvSpPr>
        <p:spPr/>
        <p:txBody>
          <a:bodyPr>
            <a:normAutofit/>
          </a:bodyPr>
          <a:lstStyle/>
          <a:p>
            <a:r>
              <a:rPr lang="fr-CA"/>
              <a:t>Pondération des évaluations</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E321FACD-6089-4945-8796-115B8F2AB176}"/>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aphicFrame>
        <p:nvGraphicFramePr>
          <p:cNvPr id="5" name="Tableau 4">
            <a:extLst>
              <a:ext uri="{FF2B5EF4-FFF2-40B4-BE49-F238E27FC236}">
                <a16:creationId xmlns:a16="http://schemas.microsoft.com/office/drawing/2014/main" id="{B8F7F5B5-9039-98E4-7CEF-729E0A16409C}"/>
              </a:ext>
            </a:extLst>
          </p:cNvPr>
          <p:cNvGraphicFramePr>
            <a:graphicFrameLocks noGrp="1"/>
          </p:cNvGraphicFramePr>
          <p:nvPr>
            <p:custDataLst>
              <p:tags r:id="rId3"/>
            </p:custDataLst>
            <p:extLst>
              <p:ext uri="{D42A27DB-BD31-4B8C-83A1-F6EECF244321}">
                <p14:modId xmlns:p14="http://schemas.microsoft.com/office/powerpoint/2010/main" val="3993855447"/>
              </p:ext>
            </p:extLst>
          </p:nvPr>
        </p:nvGraphicFramePr>
        <p:xfrm>
          <a:off x="888022" y="1317172"/>
          <a:ext cx="10444007" cy="2411304"/>
        </p:xfrm>
        <a:graphic>
          <a:graphicData uri="http://schemas.openxmlformats.org/drawingml/2006/table">
            <a:tbl>
              <a:tblPr firstRow="1" bandRow="1">
                <a:tableStyleId>{F5AB1C69-6EDB-4FF4-983F-18BD219EF322}</a:tableStyleId>
              </a:tblPr>
              <a:tblGrid>
                <a:gridCol w="2411027">
                  <a:extLst>
                    <a:ext uri="{9D8B030D-6E8A-4147-A177-3AD203B41FA5}">
                      <a16:colId xmlns:a16="http://schemas.microsoft.com/office/drawing/2014/main" val="2999721081"/>
                    </a:ext>
                  </a:extLst>
                </a:gridCol>
                <a:gridCol w="8032980">
                  <a:extLst>
                    <a:ext uri="{9D8B030D-6E8A-4147-A177-3AD203B41FA5}">
                      <a16:colId xmlns:a16="http://schemas.microsoft.com/office/drawing/2014/main" val="2883915952"/>
                    </a:ext>
                  </a:extLst>
                </a:gridCol>
              </a:tblGrid>
              <a:tr h="401884">
                <a:tc gridSpan="2">
                  <a:txBody>
                    <a:bodyPr/>
                    <a:lstStyle/>
                    <a:p>
                      <a:r>
                        <a:rPr lang="fr-CA" sz="2000" b="1">
                          <a:latin typeface="Visby CF" pitchFamily="50" charset="0"/>
                        </a:rPr>
                        <a:t>ÉVALUATIONS INDIVIDUELLES</a:t>
                      </a:r>
                    </a:p>
                  </a:txBody>
                  <a:tcPr/>
                </a:tc>
                <a:tc hMerge="1">
                  <a:txBody>
                    <a:bodyPr/>
                    <a:lstStyle/>
                    <a:p>
                      <a:endParaRPr lang="fr-CA"/>
                    </a:p>
                  </a:txBody>
                  <a:tcPr/>
                </a:tc>
                <a:extLst>
                  <a:ext uri="{0D108BD9-81ED-4DB2-BD59-A6C34878D82A}">
                    <a16:rowId xmlns:a16="http://schemas.microsoft.com/office/drawing/2014/main" val="2014767218"/>
                  </a:ext>
                </a:extLst>
              </a:tr>
              <a:tr h="401884">
                <a:tc>
                  <a:txBody>
                    <a:bodyPr/>
                    <a:lstStyle/>
                    <a:p>
                      <a:r>
                        <a:rPr lang="fr-CA" b="1">
                          <a:latin typeface="Visby CF" pitchFamily="50" charset="0"/>
                        </a:rPr>
                        <a:t>Nombre de points</a:t>
                      </a:r>
                    </a:p>
                  </a:txBody>
                  <a:tcPr/>
                </a:tc>
                <a:tc>
                  <a:txBody>
                    <a:bodyPr/>
                    <a:lstStyle/>
                    <a:p>
                      <a:r>
                        <a:rPr lang="fr-CA" b="1">
                          <a:latin typeface="Visby CF" pitchFamily="50" charset="0"/>
                        </a:rPr>
                        <a:t>Description</a:t>
                      </a:r>
                    </a:p>
                  </a:txBody>
                  <a:tcPr/>
                </a:tc>
                <a:extLst>
                  <a:ext uri="{0D108BD9-81ED-4DB2-BD59-A6C34878D82A}">
                    <a16:rowId xmlns:a16="http://schemas.microsoft.com/office/drawing/2014/main" val="2275005869"/>
                  </a:ext>
                </a:extLst>
              </a:tr>
              <a:tr h="401884">
                <a:tc>
                  <a:txBody>
                    <a:bodyPr/>
                    <a:lstStyle/>
                    <a:p>
                      <a:r>
                        <a:rPr lang="fr-CA">
                          <a:latin typeface="Visby CF" pitchFamily="50" charset="0"/>
                        </a:rPr>
                        <a:t>5</a:t>
                      </a:r>
                    </a:p>
                  </a:txBody>
                  <a:tcPr>
                    <a:solidFill>
                      <a:srgbClr val="E8F7EC"/>
                    </a:solidFill>
                  </a:tcPr>
                </a:tc>
                <a:tc>
                  <a:txBody>
                    <a:bodyPr/>
                    <a:lstStyle/>
                    <a:p>
                      <a:r>
                        <a:rPr lang="fr-CA">
                          <a:latin typeface="Visby CF" pitchFamily="50" charset="0"/>
                        </a:rPr>
                        <a:t>Preuves création de comptes/installation des solutions technologiques</a:t>
                      </a:r>
                      <a:endParaRPr lang="fr-CA" b="1">
                        <a:solidFill>
                          <a:srgbClr val="FF0000"/>
                        </a:solidFill>
                        <a:latin typeface="Visby CF" pitchFamily="50" charset="0"/>
                      </a:endParaRPr>
                    </a:p>
                  </a:txBody>
                  <a:tcPr>
                    <a:solidFill>
                      <a:srgbClr val="E8F7EC"/>
                    </a:solidFill>
                  </a:tcPr>
                </a:tc>
                <a:extLst>
                  <a:ext uri="{0D108BD9-81ED-4DB2-BD59-A6C34878D82A}">
                    <a16:rowId xmlns:a16="http://schemas.microsoft.com/office/drawing/2014/main" val="602739163"/>
                  </a:ext>
                </a:extLst>
              </a:tr>
              <a:tr h="401884">
                <a:tc>
                  <a:txBody>
                    <a:bodyPr/>
                    <a:lstStyle/>
                    <a:p>
                      <a:pPr marL="0" algn="l" defTabSz="914400" rtl="0" eaLnBrk="1" latinLnBrk="0" hangingPunct="1"/>
                      <a:r>
                        <a:rPr lang="fr-CA" sz="1800" kern="1200">
                          <a:solidFill>
                            <a:schemeClr val="dk1"/>
                          </a:solidFill>
                          <a:latin typeface="Visby CF" pitchFamily="50" charset="0"/>
                          <a:ea typeface="+mn-ea"/>
                          <a:cs typeface="+mn-cs"/>
                        </a:rPr>
                        <a:t>5</a:t>
                      </a:r>
                    </a:p>
                  </a:txBody>
                  <a:tcPr>
                    <a:solidFill>
                      <a:srgbClr val="E8F7EC"/>
                    </a:solidFill>
                  </a:tcPr>
                </a:tc>
                <a:tc>
                  <a:txBody>
                    <a:bodyPr/>
                    <a:lstStyle/>
                    <a:p>
                      <a:pPr marL="0" algn="l" defTabSz="914400" rtl="0" eaLnBrk="1" latinLnBrk="0" hangingPunct="1"/>
                      <a:r>
                        <a:rPr lang="fr-CA" sz="1800" b="0" kern="1200">
                          <a:solidFill>
                            <a:schemeClr val="tx1"/>
                          </a:solidFill>
                          <a:latin typeface="Visby CF" pitchFamily="50" charset="0"/>
                          <a:ea typeface="+mn-ea"/>
                          <a:cs typeface="+mn-cs"/>
                        </a:rPr>
                        <a:t>Une évaluation orale liée au premier travail d’équipe</a:t>
                      </a:r>
                    </a:p>
                  </a:txBody>
                  <a:tcPr>
                    <a:solidFill>
                      <a:srgbClr val="E8F7EC"/>
                    </a:solidFill>
                  </a:tcPr>
                </a:tc>
                <a:extLst>
                  <a:ext uri="{0D108BD9-81ED-4DB2-BD59-A6C34878D82A}">
                    <a16:rowId xmlns:a16="http://schemas.microsoft.com/office/drawing/2014/main" val="1858803404"/>
                  </a:ext>
                </a:extLst>
              </a:tr>
              <a:tr h="401884">
                <a:tc>
                  <a:txBody>
                    <a:bodyPr/>
                    <a:lstStyle/>
                    <a:p>
                      <a:pPr marL="0" algn="l" defTabSz="914400" rtl="0" eaLnBrk="1" latinLnBrk="0" hangingPunct="1"/>
                      <a:r>
                        <a:rPr lang="fr-CA" sz="1800" kern="1200">
                          <a:solidFill>
                            <a:schemeClr val="dk1"/>
                          </a:solidFill>
                          <a:latin typeface="Visby CF" pitchFamily="50" charset="0"/>
                          <a:ea typeface="+mn-ea"/>
                          <a:cs typeface="+mn-cs"/>
                        </a:rPr>
                        <a:t>30</a:t>
                      </a:r>
                    </a:p>
                  </a:txBody>
                  <a:tcPr>
                    <a:solidFill>
                      <a:srgbClr val="E8F7EC"/>
                    </a:solidFill>
                  </a:tcPr>
                </a:tc>
                <a:tc>
                  <a:txBody>
                    <a:bodyPr/>
                    <a:lstStyle/>
                    <a:p>
                      <a:pPr marL="0" algn="l" defTabSz="914400" rtl="0" eaLnBrk="1" latinLnBrk="0" hangingPunct="1"/>
                      <a:r>
                        <a:rPr lang="fr-CA" sz="1800" kern="1200">
                          <a:solidFill>
                            <a:schemeClr val="dk1"/>
                          </a:solidFill>
                          <a:latin typeface="Visby CF" pitchFamily="50" charset="0"/>
                          <a:ea typeface="+mn-ea"/>
                          <a:cs typeface="+mn-cs"/>
                        </a:rPr>
                        <a:t>Examen intra</a:t>
                      </a:r>
                    </a:p>
                  </a:txBody>
                  <a:tcPr>
                    <a:solidFill>
                      <a:srgbClr val="E8F7EC"/>
                    </a:solidFill>
                  </a:tcPr>
                </a:tc>
                <a:extLst>
                  <a:ext uri="{0D108BD9-81ED-4DB2-BD59-A6C34878D82A}">
                    <a16:rowId xmlns:a16="http://schemas.microsoft.com/office/drawing/2014/main" val="494338393"/>
                  </a:ext>
                </a:extLst>
              </a:tr>
              <a:tr h="401884">
                <a:tc>
                  <a:txBody>
                    <a:bodyPr/>
                    <a:lstStyle/>
                    <a:p>
                      <a:pPr marL="0" algn="l" defTabSz="914400" rtl="0" eaLnBrk="1" latinLnBrk="0" hangingPunct="1"/>
                      <a:r>
                        <a:rPr lang="fr-CA" sz="1800" kern="1200">
                          <a:solidFill>
                            <a:schemeClr val="dk1"/>
                          </a:solidFill>
                          <a:latin typeface="Visby CF" pitchFamily="50" charset="0"/>
                          <a:ea typeface="+mn-ea"/>
                          <a:cs typeface="+mn-cs"/>
                        </a:rPr>
                        <a:t>25</a:t>
                      </a:r>
                    </a:p>
                  </a:txBody>
                  <a:tcPr>
                    <a:solidFill>
                      <a:srgbClr val="E8F7EC"/>
                    </a:solidFill>
                  </a:tcPr>
                </a:tc>
                <a:tc>
                  <a:txBody>
                    <a:bodyPr/>
                    <a:lstStyle/>
                    <a:p>
                      <a:pPr marL="0" algn="l" defTabSz="914400" rtl="0" eaLnBrk="1" latinLnBrk="0" hangingPunct="1"/>
                      <a:r>
                        <a:rPr lang="fr-CA" sz="1800" kern="1200">
                          <a:solidFill>
                            <a:schemeClr val="dk1"/>
                          </a:solidFill>
                          <a:latin typeface="Visby CF" pitchFamily="50" charset="0"/>
                          <a:ea typeface="+mn-ea"/>
                          <a:cs typeface="+mn-cs"/>
                        </a:rPr>
                        <a:t>Examen final</a:t>
                      </a:r>
                    </a:p>
                  </a:txBody>
                  <a:tcPr>
                    <a:solidFill>
                      <a:srgbClr val="E8F7EC"/>
                    </a:solidFill>
                  </a:tcPr>
                </a:tc>
                <a:extLst>
                  <a:ext uri="{0D108BD9-81ED-4DB2-BD59-A6C34878D82A}">
                    <a16:rowId xmlns:a16="http://schemas.microsoft.com/office/drawing/2014/main" val="4183579389"/>
                  </a:ext>
                </a:extLst>
              </a:tr>
            </a:tbl>
          </a:graphicData>
        </a:graphic>
      </p:graphicFrame>
      <p:graphicFrame>
        <p:nvGraphicFramePr>
          <p:cNvPr id="3" name="Tableau 2">
            <a:extLst>
              <a:ext uri="{FF2B5EF4-FFF2-40B4-BE49-F238E27FC236}">
                <a16:creationId xmlns:a16="http://schemas.microsoft.com/office/drawing/2014/main" id="{93AC9DB3-7569-56FF-4459-274AD5E22EC7}"/>
              </a:ext>
            </a:extLst>
          </p:cNvPr>
          <p:cNvGraphicFramePr>
            <a:graphicFrameLocks noGrp="1"/>
          </p:cNvGraphicFramePr>
          <p:nvPr>
            <p:custDataLst>
              <p:tags r:id="rId4"/>
            </p:custDataLst>
            <p:extLst>
              <p:ext uri="{D42A27DB-BD31-4B8C-83A1-F6EECF244321}">
                <p14:modId xmlns:p14="http://schemas.microsoft.com/office/powerpoint/2010/main" val="943780182"/>
              </p:ext>
            </p:extLst>
          </p:nvPr>
        </p:nvGraphicFramePr>
        <p:xfrm>
          <a:off x="888022" y="4018224"/>
          <a:ext cx="10444007" cy="1607536"/>
        </p:xfrm>
        <a:graphic>
          <a:graphicData uri="http://schemas.openxmlformats.org/drawingml/2006/table">
            <a:tbl>
              <a:tblPr firstRow="1" bandRow="1">
                <a:tableStyleId>{F5AB1C69-6EDB-4FF4-983F-18BD219EF322}</a:tableStyleId>
              </a:tblPr>
              <a:tblGrid>
                <a:gridCol w="2411027">
                  <a:extLst>
                    <a:ext uri="{9D8B030D-6E8A-4147-A177-3AD203B41FA5}">
                      <a16:colId xmlns:a16="http://schemas.microsoft.com/office/drawing/2014/main" val="2999721081"/>
                    </a:ext>
                  </a:extLst>
                </a:gridCol>
                <a:gridCol w="8032980">
                  <a:extLst>
                    <a:ext uri="{9D8B030D-6E8A-4147-A177-3AD203B41FA5}">
                      <a16:colId xmlns:a16="http://schemas.microsoft.com/office/drawing/2014/main" val="2883915952"/>
                    </a:ext>
                  </a:extLst>
                </a:gridCol>
              </a:tblGrid>
              <a:tr h="401884">
                <a:tc gridSpan="2">
                  <a:txBody>
                    <a:bodyPr/>
                    <a:lstStyle/>
                    <a:p>
                      <a:r>
                        <a:rPr lang="fr-CA" sz="2000" b="1">
                          <a:latin typeface="Visby CF" pitchFamily="50" charset="0"/>
                        </a:rPr>
                        <a:t>ÉVALUATIONS EN ÉQUIPES DE 4 OU 5 (MAX)</a:t>
                      </a:r>
                      <a:endParaRPr lang="fr-CA" sz="2000" b="1">
                        <a:solidFill>
                          <a:srgbClr val="FF0000"/>
                        </a:solidFill>
                        <a:latin typeface="Visby CF" pitchFamily="50" charset="0"/>
                      </a:endParaRPr>
                    </a:p>
                  </a:txBody>
                  <a:tcPr/>
                </a:tc>
                <a:tc hMerge="1">
                  <a:txBody>
                    <a:bodyPr/>
                    <a:lstStyle/>
                    <a:p>
                      <a:endParaRPr lang="fr-CA"/>
                    </a:p>
                  </a:txBody>
                  <a:tcPr/>
                </a:tc>
                <a:extLst>
                  <a:ext uri="{0D108BD9-81ED-4DB2-BD59-A6C34878D82A}">
                    <a16:rowId xmlns:a16="http://schemas.microsoft.com/office/drawing/2014/main" val="2014767218"/>
                  </a:ext>
                </a:extLst>
              </a:tr>
              <a:tr h="401884">
                <a:tc>
                  <a:txBody>
                    <a:bodyPr/>
                    <a:lstStyle/>
                    <a:p>
                      <a:r>
                        <a:rPr lang="fr-CA" b="1">
                          <a:latin typeface="Visby CF" pitchFamily="50" charset="0"/>
                        </a:rPr>
                        <a:t>Nombre de points</a:t>
                      </a:r>
                    </a:p>
                  </a:txBody>
                  <a:tcPr/>
                </a:tc>
                <a:tc>
                  <a:txBody>
                    <a:bodyPr/>
                    <a:lstStyle/>
                    <a:p>
                      <a:r>
                        <a:rPr lang="fr-CA" b="1">
                          <a:latin typeface="Visby CF" pitchFamily="50" charset="0"/>
                        </a:rPr>
                        <a:t>Description</a:t>
                      </a:r>
                    </a:p>
                  </a:txBody>
                  <a:tcPr/>
                </a:tc>
                <a:extLst>
                  <a:ext uri="{0D108BD9-81ED-4DB2-BD59-A6C34878D82A}">
                    <a16:rowId xmlns:a16="http://schemas.microsoft.com/office/drawing/2014/main" val="2275005869"/>
                  </a:ext>
                </a:extLst>
              </a:tr>
              <a:tr h="401884">
                <a:tc>
                  <a:txBody>
                    <a:bodyPr/>
                    <a:lstStyle/>
                    <a:p>
                      <a:r>
                        <a:rPr lang="fr-CA">
                          <a:latin typeface="Visby CF" pitchFamily="50" charset="0"/>
                        </a:rPr>
                        <a:t>15</a:t>
                      </a:r>
                    </a:p>
                  </a:txBody>
                  <a:tcPr>
                    <a:solidFill>
                      <a:srgbClr val="E8F7EC"/>
                    </a:solidFill>
                  </a:tcPr>
                </a:tc>
                <a:tc>
                  <a:txBody>
                    <a:bodyPr/>
                    <a:lstStyle/>
                    <a:p>
                      <a:pPr marL="0" algn="l" defTabSz="914400" rtl="0" eaLnBrk="1" latinLnBrk="0" hangingPunct="1"/>
                      <a:r>
                        <a:rPr lang="fr-CA">
                          <a:latin typeface="Visby CF" pitchFamily="50" charset="0"/>
                        </a:rPr>
                        <a:t>Développement d’une application pour intégrer les apprentissages</a:t>
                      </a:r>
                    </a:p>
                  </a:txBody>
                  <a:tcPr>
                    <a:solidFill>
                      <a:srgbClr val="E8F7EC"/>
                    </a:solidFill>
                  </a:tcPr>
                </a:tc>
                <a:extLst>
                  <a:ext uri="{0D108BD9-81ED-4DB2-BD59-A6C34878D82A}">
                    <a16:rowId xmlns:a16="http://schemas.microsoft.com/office/drawing/2014/main" val="602739163"/>
                  </a:ext>
                </a:extLst>
              </a:tr>
              <a:tr h="401884">
                <a:tc>
                  <a:txBody>
                    <a:bodyPr/>
                    <a:lstStyle/>
                    <a:p>
                      <a:r>
                        <a:rPr lang="fr-CA">
                          <a:latin typeface="Visby CF" pitchFamily="50" charset="0"/>
                        </a:rPr>
                        <a:t>20</a:t>
                      </a:r>
                    </a:p>
                  </a:txBody>
                  <a:tcPr>
                    <a:solidFill>
                      <a:srgbClr val="E8F7EC"/>
                    </a:solidFill>
                  </a:tcPr>
                </a:tc>
                <a:tc>
                  <a:txBody>
                    <a:bodyPr/>
                    <a:lstStyle/>
                    <a:p>
                      <a:pPr marL="0" algn="l" defTabSz="914400" rtl="0" eaLnBrk="1" latinLnBrk="0" hangingPunct="1"/>
                      <a:r>
                        <a:rPr lang="fr-CA">
                          <a:latin typeface="Visby CF" pitchFamily="50" charset="0"/>
                        </a:rPr>
                        <a:t>Développement d’un tableau de bord pour soutenir la dernière simulation</a:t>
                      </a:r>
                    </a:p>
                  </a:txBody>
                  <a:tcPr>
                    <a:solidFill>
                      <a:srgbClr val="E8F7EC"/>
                    </a:solidFill>
                  </a:tcPr>
                </a:tc>
                <a:extLst>
                  <a:ext uri="{0D108BD9-81ED-4DB2-BD59-A6C34878D82A}">
                    <a16:rowId xmlns:a16="http://schemas.microsoft.com/office/drawing/2014/main" val="751503168"/>
                  </a:ext>
                </a:extLst>
              </a:tr>
            </a:tbl>
          </a:graphicData>
        </a:graphic>
      </p:graphicFrame>
    </p:spTree>
    <p:extLst>
      <p:ext uri="{BB962C8B-B14F-4D97-AF65-F5344CB8AC3E}">
        <p14:creationId xmlns:p14="http://schemas.microsoft.com/office/powerpoint/2010/main" val="583517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2D527-6B18-82A1-749C-B884CB28515C}"/>
              </a:ext>
            </a:extLst>
          </p:cNvPr>
          <p:cNvSpPr>
            <a:spLocks noGrp="1"/>
          </p:cNvSpPr>
          <p:nvPr>
            <p:ph type="title"/>
            <p:custDataLst>
              <p:tags r:id="rId1"/>
            </p:custDataLst>
          </p:nvPr>
        </p:nvSpPr>
        <p:spPr/>
        <p:txBody>
          <a:bodyPr/>
          <a:lstStyle/>
          <a:p>
            <a:r>
              <a:rPr lang="fr-CA"/>
              <a:t>Détail des travaux et examens</a:t>
            </a:r>
          </a:p>
        </p:txBody>
      </p:sp>
      <p:sp>
        <p:nvSpPr>
          <p:cNvPr id="3" name="Espace réservé du contenu 2">
            <a:extLst>
              <a:ext uri="{FF2B5EF4-FFF2-40B4-BE49-F238E27FC236}">
                <a16:creationId xmlns:a16="http://schemas.microsoft.com/office/drawing/2014/main" id="{B7F7BE4F-5BCB-22D8-5968-1C665B949FDF}"/>
              </a:ext>
            </a:extLst>
          </p:cNvPr>
          <p:cNvSpPr>
            <a:spLocks noGrp="1"/>
          </p:cNvSpPr>
          <p:nvPr>
            <p:ph idx="1"/>
            <p:custDataLst>
              <p:tags r:id="rId2"/>
            </p:custDataLst>
          </p:nvPr>
        </p:nvSpPr>
        <p:spPr>
          <a:xfrm>
            <a:off x="224640" y="889920"/>
            <a:ext cx="11767680" cy="5773927"/>
          </a:xfrm>
        </p:spPr>
        <p:txBody>
          <a:bodyPr anchor="ctr">
            <a:normAutofit fontScale="85000" lnSpcReduction="10000"/>
          </a:bodyPr>
          <a:lstStyle/>
          <a:p>
            <a:r>
              <a:rPr lang="fr-CA" dirty="0"/>
              <a:t>Participation</a:t>
            </a:r>
          </a:p>
          <a:p>
            <a:pPr lvl="1"/>
            <a:r>
              <a:rPr lang="fr-CA" dirty="0"/>
              <a:t>Preuves de création </a:t>
            </a:r>
            <a:r>
              <a:rPr lang="fr-CA"/>
              <a:t>de comptes, d’installation et/ou </a:t>
            </a:r>
            <a:r>
              <a:rPr lang="fr-CA" dirty="0"/>
              <a:t>d’accès réussi aux solutions </a:t>
            </a:r>
            <a:r>
              <a:rPr lang="fr-CA"/>
              <a:t>utilisées (vous devrez fournir vos preuves aux séance 4, 5, 8, 9 et 10 – présences requise à ces cours)</a:t>
            </a:r>
            <a:endParaRPr lang="fr-CA" dirty="0"/>
          </a:p>
          <a:p>
            <a:r>
              <a:rPr lang="fr-CA"/>
              <a:t>Travaux d’équipe</a:t>
            </a:r>
            <a:endParaRPr lang="fr-CA" dirty="0"/>
          </a:p>
          <a:p>
            <a:pPr lvl="1"/>
            <a:r>
              <a:rPr lang="fr-CA"/>
              <a:t>Travail #1 – Application intégrant les concepts vus avant l’intra sur Airtable et Softr</a:t>
            </a:r>
          </a:p>
          <a:p>
            <a:pPr lvl="2"/>
            <a:r>
              <a:rPr lang="fr-CA"/>
              <a:t>Remise à la séance 8</a:t>
            </a:r>
          </a:p>
          <a:p>
            <a:pPr lvl="1"/>
            <a:r>
              <a:rPr lang="fr-CA"/>
              <a:t>Travail #2 – Tableau de bord pour améliorer votre performance à la simulation</a:t>
            </a:r>
          </a:p>
          <a:p>
            <a:pPr lvl="2"/>
            <a:r>
              <a:rPr lang="fr-CA"/>
              <a:t>Remise deux jours après la séance 12</a:t>
            </a:r>
          </a:p>
          <a:p>
            <a:r>
              <a:rPr lang="fr-CA"/>
              <a:t>Évaluation orale individuelle</a:t>
            </a:r>
          </a:p>
          <a:p>
            <a:pPr lvl="1"/>
            <a:r>
              <a:rPr lang="fr-CA"/>
              <a:t>Liée au premier travail d’équipe (mécanique et horaire précis à venir)</a:t>
            </a:r>
            <a:endParaRPr lang="fr-CA" dirty="0"/>
          </a:p>
          <a:p>
            <a:r>
              <a:rPr lang="fr-CA" dirty="0">
                <a:solidFill>
                  <a:schemeClr val="dk1"/>
                </a:solidFill>
                <a:cs typeface="+mn-cs"/>
              </a:rPr>
              <a:t>Examen intra et final</a:t>
            </a:r>
          </a:p>
          <a:p>
            <a:pPr lvl="1"/>
            <a:r>
              <a:rPr lang="fr-CA" dirty="0"/>
              <a:t>Surveillés par le registrariat</a:t>
            </a:r>
          </a:p>
          <a:p>
            <a:pPr lvl="1"/>
            <a:r>
              <a:rPr lang="fr-CA" dirty="0"/>
              <a:t>QCM basé </a:t>
            </a:r>
            <a:r>
              <a:rPr lang="fr-CA"/>
              <a:t>sur un cas</a:t>
            </a:r>
            <a:endParaRPr lang="fr-CA" dirty="0"/>
          </a:p>
          <a:p>
            <a:pPr lvl="1"/>
            <a:r>
              <a:rPr lang="fr-CA" dirty="0"/>
              <a:t>Examens papier à lecture optique</a:t>
            </a:r>
          </a:p>
          <a:p>
            <a:pPr lvl="1"/>
            <a:r>
              <a:rPr lang="fr-CA" dirty="0"/>
              <a:t>Une page de notes </a:t>
            </a:r>
            <a:r>
              <a:rPr lang="fr-CA">
                <a:solidFill>
                  <a:schemeClr val="accent4"/>
                </a:solidFill>
                <a:latin typeface="Visby Slab CF Bold" panose="00000800000000000000" pitchFamily="50" charset="0"/>
              </a:rPr>
              <a:t>manuscrites</a:t>
            </a:r>
            <a:r>
              <a:rPr lang="fr-CA"/>
              <a:t> (taille 8,5/11 recto-verso permise)</a:t>
            </a:r>
            <a:endParaRPr lang="fr-CA"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E321FACD-6089-4945-8796-115B8F2AB176}"/>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65568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057E53-DB2A-09DF-F4BF-ECD67F04AD69}"/>
              </a:ext>
            </a:extLst>
          </p:cNvPr>
          <p:cNvSpPr>
            <a:spLocks noGrp="1"/>
          </p:cNvSpPr>
          <p:nvPr>
            <p:ph type="title"/>
            <p:custDataLst>
              <p:tags r:id="rId1"/>
            </p:custDataLst>
          </p:nvPr>
        </p:nvSpPr>
        <p:spPr/>
        <p:txBody>
          <a:bodyPr/>
          <a:lstStyle/>
          <a:p>
            <a:r>
              <a:rPr lang="fr-CA"/>
              <a:t>Garder à l’esprit tout au long de la session</a:t>
            </a:r>
          </a:p>
        </p:txBody>
      </p:sp>
      <p:sp>
        <p:nvSpPr>
          <p:cNvPr id="3" name="Espace réservé du contenu 2">
            <a:extLst>
              <a:ext uri="{FF2B5EF4-FFF2-40B4-BE49-F238E27FC236}">
                <a16:creationId xmlns:a16="http://schemas.microsoft.com/office/drawing/2014/main" id="{8BE06CC9-2E1B-61A5-50DE-EFE5FED51042}"/>
              </a:ext>
            </a:extLst>
          </p:cNvPr>
          <p:cNvSpPr>
            <a:spLocks noGrp="1"/>
          </p:cNvSpPr>
          <p:nvPr>
            <p:ph idx="1"/>
            <p:custDataLst>
              <p:tags r:id="rId2"/>
            </p:custDataLst>
          </p:nvPr>
        </p:nvSpPr>
        <p:spPr/>
        <p:txBody>
          <a:bodyPr anchor="ctr"/>
          <a:lstStyle/>
          <a:p>
            <a:r>
              <a:rPr lang="fr-CA"/>
              <a:t>TECH 10701 est un cours coordonné</a:t>
            </a:r>
          </a:p>
          <a:p>
            <a:r>
              <a:rPr lang="fr-CA"/>
              <a:t>Cela signifie qu'en tant que professeur, je peux :</a:t>
            </a:r>
          </a:p>
          <a:p>
            <a:pPr lvl="1"/>
            <a:r>
              <a:rPr lang="fr-CA"/>
              <a:t>modifier légèrement la structure des diapositives, </a:t>
            </a:r>
          </a:p>
          <a:p>
            <a:pPr lvl="1"/>
            <a:r>
              <a:rPr lang="fr-CA"/>
              <a:t>ajouter ou supprimer des exemples,</a:t>
            </a:r>
          </a:p>
          <a:p>
            <a:pPr lvl="1"/>
            <a:r>
              <a:rPr lang="fr-CA"/>
              <a:t>décider de la manière de noter les devoirs</a:t>
            </a:r>
          </a:p>
          <a:p>
            <a:r>
              <a:rPr lang="fr-CA"/>
              <a:t>Cependant, je ne peux pas : </a:t>
            </a:r>
          </a:p>
          <a:p>
            <a:pPr lvl="1"/>
            <a:r>
              <a:rPr lang="fr-CA"/>
              <a:t>modifier la structure de </a:t>
            </a:r>
            <a:r>
              <a:rPr lang="fr-CA" err="1"/>
              <a:t>ZoneCours</a:t>
            </a:r>
            <a:r>
              <a:rPr lang="fr-CA"/>
              <a:t>, le contenu des cours …</a:t>
            </a:r>
          </a:p>
          <a:p>
            <a:pPr lvl="1"/>
            <a:r>
              <a:rPr lang="fr-CA"/>
              <a:t>accorder des dérogations concernant les dates limites, les devoirs, etc.</a:t>
            </a:r>
          </a:p>
          <a:p>
            <a:r>
              <a:rPr lang="fr-CA">
                <a:solidFill>
                  <a:schemeClr val="accent4"/>
                </a:solidFill>
                <a:latin typeface="Visby Slab CF Bold" panose="00000800000000000000" pitchFamily="50" charset="0"/>
              </a:rPr>
              <a:t>Nous devons être équitables envers tous les étudiants de toutes les classes !</a:t>
            </a:r>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A94E3316-7FD6-AA2B-AE08-0B11FD4CCF2A}"/>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422500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EBC8E-3272-1D68-E7B5-460B0E7F0FF7}"/>
              </a:ext>
            </a:extLst>
          </p:cNvPr>
          <p:cNvSpPr>
            <a:spLocks noGrp="1"/>
          </p:cNvSpPr>
          <p:nvPr>
            <p:ph type="title"/>
            <p:custDataLst>
              <p:tags r:id="rId1"/>
            </p:custDataLst>
          </p:nvPr>
        </p:nvSpPr>
        <p:spPr/>
        <p:txBody>
          <a:bodyPr/>
          <a:lstStyle/>
          <a:p>
            <a:r>
              <a:rPr lang="fr-CA"/>
              <a:t>Communications avec votre enseignant</a:t>
            </a:r>
          </a:p>
        </p:txBody>
      </p:sp>
      <p:sp>
        <p:nvSpPr>
          <p:cNvPr id="3" name="Espace réservé du contenu 2">
            <a:extLst>
              <a:ext uri="{FF2B5EF4-FFF2-40B4-BE49-F238E27FC236}">
                <a16:creationId xmlns:a16="http://schemas.microsoft.com/office/drawing/2014/main" id="{FAD78C1F-9D65-F136-4971-1116FCB8C754}"/>
              </a:ext>
            </a:extLst>
          </p:cNvPr>
          <p:cNvSpPr>
            <a:spLocks noGrp="1"/>
          </p:cNvSpPr>
          <p:nvPr>
            <p:ph idx="1"/>
            <p:custDataLst>
              <p:tags r:id="rId2"/>
            </p:custDataLst>
          </p:nvPr>
        </p:nvSpPr>
        <p:spPr/>
        <p:txBody>
          <a:bodyPr anchor="ctr"/>
          <a:lstStyle/>
          <a:p>
            <a:r>
              <a:rPr lang="fr-CA" dirty="0"/>
              <a:t>Chaque enseignant a ses préférences quant au mode de communication à privilégier, certains préfèrent la messagerie Teams, d’autre le courriel, merci</a:t>
            </a:r>
            <a:r>
              <a:rPr lang="fr-CA" dirty="0">
                <a:solidFill>
                  <a:schemeClr val="accent4"/>
                </a:solidFill>
                <a:latin typeface="Visby Slab CF Bold" panose="00000800000000000000" pitchFamily="50" charset="0"/>
              </a:rPr>
              <a:t> </a:t>
            </a:r>
            <a:r>
              <a:rPr lang="fr-CA" dirty="0"/>
              <a:t>de</a:t>
            </a:r>
            <a:r>
              <a:rPr lang="fr-CA" dirty="0">
                <a:solidFill>
                  <a:schemeClr val="accent4"/>
                </a:solidFill>
                <a:latin typeface="Visby Slab CF Bold" panose="00000800000000000000" pitchFamily="50" charset="0"/>
              </a:rPr>
              <a:t> respecter ce choix</a:t>
            </a:r>
          </a:p>
          <a:p>
            <a:r>
              <a:rPr lang="fr-CA" dirty="0"/>
              <a:t>Dans chaque communication avec un enseignant, merci de </a:t>
            </a:r>
            <a:r>
              <a:rPr lang="fr-CA" dirty="0">
                <a:solidFill>
                  <a:schemeClr val="accent4"/>
                </a:solidFill>
                <a:latin typeface="Visby Slab CF Bold" panose="00000800000000000000" pitchFamily="50" charset="0"/>
              </a:rPr>
              <a:t>spécifier le nom du cours et le numéro de section</a:t>
            </a:r>
            <a:r>
              <a:rPr lang="fr-CA" dirty="0"/>
              <a:t> afin d’en préciser le contexte</a:t>
            </a:r>
          </a:p>
          <a:p>
            <a:endParaRPr lang="fr-CA" dirty="0"/>
          </a:p>
          <a:p>
            <a:endParaRPr lang="fr-CA" dirty="0"/>
          </a:p>
        </p:txBody>
      </p:sp>
    </p:spTree>
    <p:extLst>
      <p:ext uri="{BB962C8B-B14F-4D97-AF65-F5344CB8AC3E}">
        <p14:creationId xmlns:p14="http://schemas.microsoft.com/office/powerpoint/2010/main" val="3859572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2D527-6B18-82A1-749C-B884CB28515C}"/>
              </a:ext>
            </a:extLst>
          </p:cNvPr>
          <p:cNvSpPr>
            <a:spLocks noGrp="1"/>
          </p:cNvSpPr>
          <p:nvPr>
            <p:ph type="title"/>
            <p:custDataLst>
              <p:tags r:id="rId1"/>
            </p:custDataLst>
          </p:nvPr>
        </p:nvSpPr>
        <p:spPr/>
        <p:txBody>
          <a:bodyPr/>
          <a:lstStyle/>
          <a:p>
            <a:r>
              <a:rPr lang="fr-CA"/>
              <a:t>Outils et matériel requis</a:t>
            </a:r>
          </a:p>
        </p:txBody>
      </p:sp>
      <p:sp>
        <p:nvSpPr>
          <p:cNvPr id="3" name="Espace réservé du contenu 2">
            <a:extLst>
              <a:ext uri="{FF2B5EF4-FFF2-40B4-BE49-F238E27FC236}">
                <a16:creationId xmlns:a16="http://schemas.microsoft.com/office/drawing/2014/main" id="{B7F7BE4F-5BCB-22D8-5968-1C665B949FDF}"/>
              </a:ext>
            </a:extLst>
          </p:cNvPr>
          <p:cNvSpPr>
            <a:spLocks noGrp="1"/>
          </p:cNvSpPr>
          <p:nvPr>
            <p:ph idx="1"/>
            <p:custDataLst>
              <p:tags r:id="rId2"/>
            </p:custDataLst>
          </p:nvPr>
        </p:nvSpPr>
        <p:spPr/>
        <p:txBody>
          <a:bodyPr anchor="ctr">
            <a:normAutofit/>
          </a:bodyPr>
          <a:lstStyle/>
          <a:p>
            <a:r>
              <a:rPr lang="fr-CA"/>
              <a:t>Licence </a:t>
            </a:r>
            <a:r>
              <a:rPr lang="fr-CA" err="1"/>
              <a:t>ERPSim</a:t>
            </a:r>
            <a:r>
              <a:rPr lang="fr-CA"/>
              <a:t> (60$ + taxes – 68,99$, voir diapo suivante)</a:t>
            </a:r>
          </a:p>
          <a:p>
            <a:pPr lvl="1"/>
            <a:r>
              <a:rPr lang="fr-CA"/>
              <a:t>Le non-paiement de cette licence pourrait entraîner la retenue de votre note pour le travail d’équipe</a:t>
            </a:r>
          </a:p>
          <a:p>
            <a:r>
              <a:rPr lang="fr-CA"/>
              <a:t>Compte </a:t>
            </a:r>
            <a:r>
              <a:rPr lang="fr-CA" err="1"/>
              <a:t>Airtable</a:t>
            </a:r>
            <a:r>
              <a:rPr lang="fr-CA"/>
              <a:t> étudiant gratuit</a:t>
            </a:r>
          </a:p>
          <a:p>
            <a:r>
              <a:rPr lang="fr-CA"/>
              <a:t>Compte </a:t>
            </a:r>
            <a:r>
              <a:rPr lang="fr-CA" err="1"/>
              <a:t>Softr</a:t>
            </a:r>
            <a:r>
              <a:rPr lang="fr-CA"/>
              <a:t> gratuit</a:t>
            </a:r>
          </a:p>
          <a:p>
            <a:r>
              <a:rPr lang="fr-CA"/>
              <a:t>Application Tableau Desktop gratuite (code fourni sur Zone Cours)</a:t>
            </a:r>
          </a:p>
          <a:p>
            <a:pPr marL="0" indent="0">
              <a:buNone/>
            </a:pPr>
            <a:endParaRPr lang="fr-CA"/>
          </a:p>
          <a:p>
            <a:endParaRPr lang="fr-CA"/>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E321FACD-6089-4945-8796-115B8F2AB176}"/>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966398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50557-B723-262B-0C8B-C79C2CA481E6}"/>
              </a:ext>
            </a:extLst>
          </p:cNvPr>
          <p:cNvSpPr>
            <a:spLocks noGrp="1"/>
          </p:cNvSpPr>
          <p:nvPr>
            <p:ph type="title"/>
            <p:custDataLst>
              <p:tags r:id="rId1"/>
            </p:custDataLst>
          </p:nvPr>
        </p:nvSpPr>
        <p:spPr/>
        <p:txBody>
          <a:bodyPr/>
          <a:lstStyle/>
          <a:p>
            <a:r>
              <a:rPr lang="fr-CA"/>
              <a:t>Coût du matériel – 68,99$</a:t>
            </a:r>
          </a:p>
        </p:txBody>
      </p:sp>
      <p:sp>
        <p:nvSpPr>
          <p:cNvPr id="3" name="Espace réservé du contenu 2">
            <a:extLst>
              <a:ext uri="{FF2B5EF4-FFF2-40B4-BE49-F238E27FC236}">
                <a16:creationId xmlns:a16="http://schemas.microsoft.com/office/drawing/2014/main" id="{36D4D532-20A6-611B-692F-044F952F81B2}"/>
              </a:ext>
            </a:extLst>
          </p:cNvPr>
          <p:cNvSpPr>
            <a:spLocks noGrp="1"/>
          </p:cNvSpPr>
          <p:nvPr>
            <p:ph idx="1"/>
            <p:custDataLst>
              <p:tags r:id="rId2"/>
            </p:custDataLst>
          </p:nvPr>
        </p:nvSpPr>
        <p:spPr/>
        <p:txBody>
          <a:bodyPr anchor="ctr"/>
          <a:lstStyle/>
          <a:p>
            <a:r>
              <a:rPr lang="fr-CA" sz="2400" b="0"/>
              <a:t>Le laboratoire ERPsim est une OBNL faisant partie de </a:t>
            </a:r>
            <a:br>
              <a:rPr lang="fr-CA" sz="2400" b="0"/>
            </a:br>
            <a:r>
              <a:rPr lang="fr-CA" sz="2400" b="0"/>
              <a:t>HEC Montréal depuis plusieurs années. Son simulateur, </a:t>
            </a:r>
            <a:br>
              <a:rPr lang="fr-CA" sz="2400" b="0"/>
            </a:br>
            <a:r>
              <a:rPr lang="fr-CA" sz="2400" b="0"/>
              <a:t>très populaire, a formé plus de 30 000 étudiants </a:t>
            </a:r>
            <a:br>
              <a:rPr lang="fr-CA" sz="2400" b="0"/>
            </a:br>
            <a:r>
              <a:rPr lang="fr-CA" sz="2400" b="0"/>
              <a:t>dans le monde depuis 2015. </a:t>
            </a:r>
          </a:p>
          <a:p>
            <a:r>
              <a:rPr lang="fr-CA" sz="2400" b="0"/>
              <a:t>Tous les fonds amassés servent à faire la promotion de la recherche en TI, à maintenir des serveurs d’HEC Montréal à la fine pointe de la technologie et à offrir de l’expérience et des emplois aux étudiants de l’université.</a:t>
            </a:r>
          </a:p>
          <a:p>
            <a:r>
              <a:rPr lang="fr-CA"/>
              <a:t>Avec cet accès, vous obtiendrez</a:t>
            </a:r>
          </a:p>
          <a:p>
            <a:pPr lvl="1"/>
            <a:r>
              <a:rPr lang="fr-CA"/>
              <a:t>Plein accès aux livres du laboratoire et matériel de support</a:t>
            </a:r>
          </a:p>
          <a:p>
            <a:pPr lvl="1"/>
            <a:r>
              <a:rPr lang="fr-CA"/>
              <a:t>Un accès aux simulations, à SAP </a:t>
            </a:r>
            <a:r>
              <a:rPr lang="fr-CA" err="1"/>
              <a:t>Analytic</a:t>
            </a:r>
            <a:r>
              <a:rPr lang="fr-CA"/>
              <a:t> Cloud, à Business </a:t>
            </a:r>
            <a:r>
              <a:rPr lang="fr-CA" err="1"/>
              <a:t>Builders</a:t>
            </a:r>
            <a:r>
              <a:rPr lang="fr-CA"/>
              <a:t> et à SAP </a:t>
            </a:r>
            <a:r>
              <a:rPr lang="fr-CA" err="1"/>
              <a:t>Signavio</a:t>
            </a:r>
            <a:endParaRPr lang="fr-CA"/>
          </a:p>
        </p:txBody>
      </p:sp>
      <p:pic>
        <p:nvPicPr>
          <p:cNvPr id="4" name="Picture 4">
            <a:extLst>
              <a:ext uri="{FF2B5EF4-FFF2-40B4-BE49-F238E27FC236}">
                <a16:creationId xmlns:a16="http://schemas.microsoft.com/office/drawing/2014/main" id="{A16424D0-6762-AFD3-26C4-8A9BBC32945E}"/>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8223628" y="1618923"/>
            <a:ext cx="3352730" cy="1267495"/>
          </a:xfrm>
          <a:prstGeom prst="rect">
            <a:avLst/>
          </a:prstGeom>
        </p:spPr>
      </p:pic>
      <p:pic>
        <p:nvPicPr>
          <p:cNvPr id="5" name="Image 4" descr="Une image contenant Police, Graphique, capture d’écran, graphisme&#10;&#10;Description générée automatiquement">
            <a:extLst>
              <a:ext uri="{FF2B5EF4-FFF2-40B4-BE49-F238E27FC236}">
                <a16:creationId xmlns:a16="http://schemas.microsoft.com/office/drawing/2014/main" id="{CE873E14-A686-EACD-E00A-2401174EA5F3}"/>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398398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9A3C8E9-60E9-0F32-FDEB-0D994F11D1D2}"/>
              </a:ext>
            </a:extLst>
          </p:cNvPr>
          <p:cNvSpPr txBox="1"/>
          <p:nvPr>
            <p:custDataLst>
              <p:tags r:id="rId1"/>
            </p:custDataLst>
          </p:nvPr>
        </p:nvSpPr>
        <p:spPr>
          <a:xfrm>
            <a:off x="434259" y="1229436"/>
            <a:ext cx="10707327" cy="1219200"/>
          </a:xfrm>
          <a:prstGeom prst="rect">
            <a:avLst/>
          </a:prstGeom>
        </p:spPr>
        <p:txBody>
          <a:bodyPr vert="horz" wrap="none" lIns="121920" tIns="60960" rIns="121920" bIns="60960" rtlCol="0">
            <a:normAutofit/>
          </a:body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7200" b="0" i="0" u="none" strike="noStrike" kern="1200" cap="none" spc="0" normalizeH="0" baseline="0" noProof="0">
                <a:ln>
                  <a:noFill/>
                </a:ln>
                <a:solidFill>
                  <a:schemeClr val="accent6"/>
                </a:solidFill>
                <a:effectLst/>
                <a:uLnTx/>
                <a:uFillTx/>
                <a:latin typeface="Visby Slab CF Bold" panose="00000800000000000000" pitchFamily="50" charset="0"/>
                <a:ea typeface="+mn-ea"/>
                <a:cs typeface="+mn-cs"/>
              </a:rPr>
              <a:t>Exercice pratique</a:t>
            </a:r>
          </a:p>
        </p:txBody>
      </p:sp>
      <p:sp>
        <p:nvSpPr>
          <p:cNvPr id="7" name="Rectangle 6">
            <a:extLst>
              <a:ext uri="{FF2B5EF4-FFF2-40B4-BE49-F238E27FC236}">
                <a16:creationId xmlns:a16="http://schemas.microsoft.com/office/drawing/2014/main" id="{0D80B38E-847A-1FF8-30A3-46A37E15058F}"/>
              </a:ext>
            </a:extLst>
          </p:cNvPr>
          <p:cNvSpPr/>
          <p:nvPr>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ZoneTexte 3">
            <a:extLst>
              <a:ext uri="{FF2B5EF4-FFF2-40B4-BE49-F238E27FC236}">
                <a16:creationId xmlns:a16="http://schemas.microsoft.com/office/drawing/2014/main" id="{B8399D1A-5FBD-9CFA-DE12-56CEDF441B2B}"/>
              </a:ext>
            </a:extLst>
          </p:cNvPr>
          <p:cNvSpPr txBox="1"/>
          <p:nvPr>
            <p:custDataLst>
              <p:tags r:id="rId4"/>
            </p:custDataLst>
          </p:nvPr>
        </p:nvSpPr>
        <p:spPr>
          <a:xfrm>
            <a:off x="-245807" y="6323470"/>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5266445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EAF7BBD-C518-7255-0F10-2B029846A4F1}"/>
              </a:ext>
            </a:extLst>
          </p:cNvPr>
          <p:cNvPicPr>
            <a:picLocks noChangeAspect="1"/>
          </p:cNvPicPr>
          <p:nvPr>
            <p:custDataLst>
              <p:tags r:id="rId1"/>
            </p:custDataLst>
          </p:nvPr>
        </p:nvPicPr>
        <p:blipFill rotWithShape="1">
          <a:blip r:embed="rId6"/>
          <a:srcRect t="16297" b="9224"/>
          <a:stretch/>
        </p:blipFill>
        <p:spPr>
          <a:xfrm>
            <a:off x="0" y="889919"/>
            <a:ext cx="12192000" cy="6053491"/>
          </a:xfrm>
          <a:prstGeom prst="rect">
            <a:avLst/>
          </a:prstGeom>
        </p:spPr>
      </p:pic>
      <p:sp>
        <p:nvSpPr>
          <p:cNvPr id="4" name="ZoneTexte 3">
            <a:extLst>
              <a:ext uri="{FF2B5EF4-FFF2-40B4-BE49-F238E27FC236}">
                <a16:creationId xmlns:a16="http://schemas.microsoft.com/office/drawing/2014/main" id="{19811D6C-45E2-E4DC-31FF-B4361BD90A36}"/>
              </a:ext>
            </a:extLst>
          </p:cNvPr>
          <p:cNvSpPr txBox="1"/>
          <p:nvPr>
            <p:custDataLst>
              <p:tags r:id="rId2"/>
            </p:custDataLst>
          </p:nvPr>
        </p:nvSpPr>
        <p:spPr>
          <a:xfrm>
            <a:off x="2113980" y="6254857"/>
            <a:ext cx="7964040" cy="400110"/>
          </a:xfrm>
          <a:prstGeom prst="rect">
            <a:avLst/>
          </a:prstGeom>
          <a:noFill/>
        </p:spPr>
        <p:txBody>
          <a:bodyPr wrap="none" rtlCol="0">
            <a:spAutoFit/>
          </a:bodyPr>
          <a:lstStyle/>
          <a:p>
            <a:r>
              <a:rPr lang="fr-CA" sz="2000">
                <a:solidFill>
                  <a:schemeClr val="bg1"/>
                </a:solidFill>
                <a:latin typeface="Visby CF" pitchFamily="50" charset="0"/>
              </a:rPr>
              <a:t>https://erpsim.hec.ca/en/learning/games/card-game/instructions</a:t>
            </a:r>
          </a:p>
        </p:txBody>
      </p:sp>
      <p:sp>
        <p:nvSpPr>
          <p:cNvPr id="2" name="Titre 1">
            <a:extLst>
              <a:ext uri="{FF2B5EF4-FFF2-40B4-BE49-F238E27FC236}">
                <a16:creationId xmlns:a16="http://schemas.microsoft.com/office/drawing/2014/main" id="{5F657F12-CE2E-9BAF-F760-6AB89CFABFBF}"/>
              </a:ext>
            </a:extLst>
          </p:cNvPr>
          <p:cNvSpPr>
            <a:spLocks noGrp="1"/>
          </p:cNvSpPr>
          <p:nvPr>
            <p:ph type="title"/>
            <p:custDataLst>
              <p:tags r:id="rId3"/>
            </p:custDataLst>
          </p:nvPr>
        </p:nvSpPr>
        <p:spPr>
          <a:solidFill>
            <a:schemeClr val="bg1"/>
          </a:solidFill>
          <a:ln>
            <a:solidFill>
              <a:schemeClr val="bg1"/>
            </a:solidFill>
          </a:ln>
        </p:spPr>
        <p:txBody>
          <a:bodyPr/>
          <a:lstStyle/>
          <a:p>
            <a:r>
              <a:rPr lang="fr-CA">
                <a:solidFill>
                  <a:schemeClr val="tx2"/>
                </a:solidFill>
              </a:rPr>
              <a:t>Simulation d’un processus d’affaires manuel</a:t>
            </a:r>
          </a:p>
        </p:txBody>
      </p:sp>
    </p:spTree>
    <p:extLst>
      <p:ext uri="{BB962C8B-B14F-4D97-AF65-F5344CB8AC3E}">
        <p14:creationId xmlns:p14="http://schemas.microsoft.com/office/powerpoint/2010/main" val="123994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2D6F7C8-3F0E-3DEF-201F-1D248E80AB4E}"/>
              </a:ext>
            </a:extLst>
          </p:cNvPr>
          <p:cNvSpPr>
            <a:spLocks noGrp="1"/>
          </p:cNvSpPr>
          <p:nvPr>
            <p:ph type="title"/>
          </p:nvPr>
        </p:nvSpPr>
        <p:spPr/>
        <p:txBody>
          <a:bodyPr/>
          <a:lstStyle/>
          <a:p>
            <a:r>
              <a:rPr lang="fr-CA" dirty="0"/>
              <a:t>Leçons apprises</a:t>
            </a:r>
            <a:endParaRPr lang="fr-FR" dirty="0"/>
          </a:p>
        </p:txBody>
      </p:sp>
      <p:sp>
        <p:nvSpPr>
          <p:cNvPr id="5" name="Espace réservé du contenu 4">
            <a:extLst>
              <a:ext uri="{FF2B5EF4-FFF2-40B4-BE49-F238E27FC236}">
                <a16:creationId xmlns:a16="http://schemas.microsoft.com/office/drawing/2014/main" id="{F7DAA51A-5B9E-A33E-8153-2808FAA85CAB}"/>
              </a:ext>
            </a:extLst>
          </p:cNvPr>
          <p:cNvSpPr>
            <a:spLocks noGrp="1"/>
          </p:cNvSpPr>
          <p:nvPr>
            <p:ph idx="1"/>
          </p:nvPr>
        </p:nvSpPr>
        <p:spPr/>
        <p:txBody>
          <a:bodyPr anchor="ctr">
            <a:normAutofit/>
          </a:bodyPr>
          <a:lstStyle/>
          <a:p>
            <a:r>
              <a:rPr lang="fr-CA" dirty="0"/>
              <a:t>Quel était l'objectif de ton équipe dans le jeu?</a:t>
            </a:r>
          </a:p>
          <a:p>
            <a:r>
              <a:rPr lang="fr-CA" dirty="0"/>
              <a:t>Qu'est-ce qui t'a empêché de l'atteindre?</a:t>
            </a:r>
          </a:p>
          <a:p>
            <a:r>
              <a:rPr lang="fr-CA" dirty="0"/>
              <a:t>À quel moment as-tu manqué d'information pour prendre une décision? </a:t>
            </a:r>
          </a:p>
          <a:p>
            <a:pPr lvl="1"/>
            <a:r>
              <a:rPr lang="fr-CA" dirty="0"/>
              <a:t>Quelle information te manquait?</a:t>
            </a:r>
          </a:p>
          <a:p>
            <a:r>
              <a:rPr lang="fr-CA" dirty="0"/>
              <a:t>Comment ton équipe communiquait-elle? </a:t>
            </a:r>
          </a:p>
          <a:p>
            <a:pPr lvl="1"/>
            <a:r>
              <a:rPr lang="fr-CA" dirty="0"/>
              <a:t>Qu'est-ce qui a bien fonctionné? </a:t>
            </a:r>
          </a:p>
          <a:p>
            <a:pPr lvl="1"/>
            <a:r>
              <a:rPr lang="fr-CA" dirty="0"/>
              <a:t>Qu'est-ce qui a coincé?</a:t>
            </a:r>
          </a:p>
          <a:p>
            <a:r>
              <a:rPr lang="fr-CA" dirty="0"/>
              <a:t>Si tu avais pu concevoir un outil pour faciliter ce processus, à quels besoins aurait-il répondu en priorité?</a:t>
            </a:r>
          </a:p>
          <a:p>
            <a:pPr lvl="1"/>
            <a:r>
              <a:rPr lang="fr-CA" dirty="0"/>
              <a:t>Comment énoncer ces éléments sous la forme QUI, QUOI, POURQUOI?</a:t>
            </a:r>
          </a:p>
        </p:txBody>
      </p:sp>
      <p:pic>
        <p:nvPicPr>
          <p:cNvPr id="6" name="Graphique 5" descr="Feuille d’érable contour">
            <a:extLst>
              <a:ext uri="{FF2B5EF4-FFF2-40B4-BE49-F238E27FC236}">
                <a16:creationId xmlns:a16="http://schemas.microsoft.com/office/drawing/2014/main" id="{671FF9CE-BF09-A152-5D02-1C9A312B301C}"/>
              </a:ext>
            </a:extLst>
          </p:cNvPr>
          <p:cNvPicPr>
            <a:picLocks noChangeAspect="1"/>
          </p:cNvPicPr>
          <p:nvPr>
            <p:custDataLst>
              <p:tags r:id="rId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7737" y="60198"/>
            <a:ext cx="769523" cy="769523"/>
          </a:xfrm>
          <a:prstGeom prst="rect">
            <a:avLst/>
          </a:prstGeom>
        </p:spPr>
      </p:pic>
      <p:pic>
        <p:nvPicPr>
          <p:cNvPr id="9" name="Image 8" descr="Une image contenant Police, Graphique, capture d’écran, graphisme&#10;&#10;Description générée automatiquement">
            <a:extLst>
              <a:ext uri="{FF2B5EF4-FFF2-40B4-BE49-F238E27FC236}">
                <a16:creationId xmlns:a16="http://schemas.microsoft.com/office/drawing/2014/main" id="{645EB770-0D82-C24A-8636-5EF664D00B7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420802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293F71C-3A1A-FFD7-93E8-A2BFCBB65EC4}"/>
              </a:ext>
            </a:extLst>
          </p:cNvPr>
          <p:cNvSpPr>
            <a:spLocks noGrp="1"/>
          </p:cNvSpPr>
          <p:nvPr>
            <p:ph type="title"/>
            <p:custDataLst>
              <p:tags r:id="rId1"/>
            </p:custDataLst>
          </p:nvPr>
        </p:nvSpPr>
        <p:spPr/>
        <p:txBody>
          <a:bodyPr/>
          <a:lstStyle/>
          <a:p>
            <a:r>
              <a:rPr lang="fr-CA"/>
              <a:t>Liste des besoins</a:t>
            </a:r>
          </a:p>
        </p:txBody>
      </p:sp>
      <p:graphicFrame>
        <p:nvGraphicFramePr>
          <p:cNvPr id="4" name="Espace réservé du contenu 3">
            <a:extLst>
              <a:ext uri="{FF2B5EF4-FFF2-40B4-BE49-F238E27FC236}">
                <a16:creationId xmlns:a16="http://schemas.microsoft.com/office/drawing/2014/main" id="{21A176B8-D1EA-0D0E-9883-8F839886D795}"/>
              </a:ext>
            </a:extLst>
          </p:cNvPr>
          <p:cNvGraphicFramePr>
            <a:graphicFrameLocks noGrp="1"/>
          </p:cNvGraphicFramePr>
          <p:nvPr>
            <p:ph idx="1"/>
            <p:custDataLst>
              <p:tags r:id="rId2"/>
            </p:custDataLst>
            <p:extLst>
              <p:ext uri="{D42A27DB-BD31-4B8C-83A1-F6EECF244321}">
                <p14:modId xmlns:p14="http://schemas.microsoft.com/office/powerpoint/2010/main" val="2436849173"/>
              </p:ext>
            </p:extLst>
          </p:nvPr>
        </p:nvGraphicFramePr>
        <p:xfrm>
          <a:off x="212725" y="1550151"/>
          <a:ext cx="11766550" cy="2844240"/>
        </p:xfrm>
        <a:graphic>
          <a:graphicData uri="http://schemas.openxmlformats.org/drawingml/2006/table">
            <a:tbl>
              <a:tblPr firstRow="1" bandRow="1">
                <a:tableStyleId>{00A15C55-8517-42AA-B614-E9B94910E393}</a:tableStyleId>
              </a:tblPr>
              <a:tblGrid>
                <a:gridCol w="2015357">
                  <a:extLst>
                    <a:ext uri="{9D8B030D-6E8A-4147-A177-3AD203B41FA5}">
                      <a16:colId xmlns:a16="http://schemas.microsoft.com/office/drawing/2014/main" val="2781398843"/>
                    </a:ext>
                  </a:extLst>
                </a:gridCol>
                <a:gridCol w="9751193">
                  <a:extLst>
                    <a:ext uri="{9D8B030D-6E8A-4147-A177-3AD203B41FA5}">
                      <a16:colId xmlns:a16="http://schemas.microsoft.com/office/drawing/2014/main" val="3446741116"/>
                    </a:ext>
                  </a:extLst>
                </a:gridCol>
              </a:tblGrid>
              <a:tr h="370840">
                <a:tc>
                  <a:txBody>
                    <a:bodyPr/>
                    <a:lstStyle/>
                    <a:p>
                      <a:r>
                        <a:rPr lang="fr-CA" sz="2000" b="0">
                          <a:latin typeface="Visby CF" pitchFamily="50" charset="0"/>
                        </a:rPr>
                        <a:t>No besoin</a:t>
                      </a:r>
                    </a:p>
                  </a:txBody>
                  <a:tcPr/>
                </a:tc>
                <a:tc>
                  <a:txBody>
                    <a:bodyPr/>
                    <a:lstStyle/>
                    <a:p>
                      <a:r>
                        <a:rPr lang="fr-CA" sz="2000" b="0">
                          <a:latin typeface="Visby CF" pitchFamily="50" charset="0"/>
                        </a:rPr>
                        <a:t>Énoncé du besoin</a:t>
                      </a:r>
                    </a:p>
                  </a:txBody>
                  <a:tcPr/>
                </a:tc>
                <a:extLst>
                  <a:ext uri="{0D108BD9-81ED-4DB2-BD59-A6C34878D82A}">
                    <a16:rowId xmlns:a16="http://schemas.microsoft.com/office/drawing/2014/main" val="641087761"/>
                  </a:ext>
                </a:extLst>
              </a:tr>
              <a:tr h="612000">
                <a:tc>
                  <a:txBody>
                    <a:bodyPr/>
                    <a:lstStyle/>
                    <a:p>
                      <a:endParaRPr lang="fr-CA"/>
                    </a:p>
                  </a:txBody>
                  <a:tcPr/>
                </a:tc>
                <a:tc>
                  <a:txBody>
                    <a:bodyPr/>
                    <a:lstStyle/>
                    <a:p>
                      <a:endParaRPr lang="fr-CA"/>
                    </a:p>
                  </a:txBody>
                  <a:tcPr/>
                </a:tc>
                <a:extLst>
                  <a:ext uri="{0D108BD9-81ED-4DB2-BD59-A6C34878D82A}">
                    <a16:rowId xmlns:a16="http://schemas.microsoft.com/office/drawing/2014/main" val="483220907"/>
                  </a:ext>
                </a:extLst>
              </a:tr>
              <a:tr h="612000">
                <a:tc>
                  <a:txBody>
                    <a:bodyPr/>
                    <a:lstStyle/>
                    <a:p>
                      <a:endParaRPr lang="fr-CA"/>
                    </a:p>
                  </a:txBody>
                  <a:tcPr/>
                </a:tc>
                <a:tc>
                  <a:txBody>
                    <a:bodyPr/>
                    <a:lstStyle/>
                    <a:p>
                      <a:endParaRPr lang="fr-CA"/>
                    </a:p>
                  </a:txBody>
                  <a:tcPr/>
                </a:tc>
                <a:extLst>
                  <a:ext uri="{0D108BD9-81ED-4DB2-BD59-A6C34878D82A}">
                    <a16:rowId xmlns:a16="http://schemas.microsoft.com/office/drawing/2014/main" val="1610970374"/>
                  </a:ext>
                </a:extLst>
              </a:tr>
              <a:tr h="612000">
                <a:tc>
                  <a:txBody>
                    <a:bodyPr/>
                    <a:lstStyle/>
                    <a:p>
                      <a:endParaRPr lang="fr-CA"/>
                    </a:p>
                  </a:txBody>
                  <a:tcPr/>
                </a:tc>
                <a:tc>
                  <a:txBody>
                    <a:bodyPr/>
                    <a:lstStyle/>
                    <a:p>
                      <a:endParaRPr lang="fr-CA"/>
                    </a:p>
                  </a:txBody>
                  <a:tcPr/>
                </a:tc>
                <a:extLst>
                  <a:ext uri="{0D108BD9-81ED-4DB2-BD59-A6C34878D82A}">
                    <a16:rowId xmlns:a16="http://schemas.microsoft.com/office/drawing/2014/main" val="1051951751"/>
                  </a:ext>
                </a:extLst>
              </a:tr>
              <a:tr h="612000">
                <a:tc>
                  <a:txBody>
                    <a:bodyPr/>
                    <a:lstStyle/>
                    <a:p>
                      <a:endParaRPr lang="fr-CA"/>
                    </a:p>
                  </a:txBody>
                  <a:tcPr/>
                </a:tc>
                <a:tc>
                  <a:txBody>
                    <a:bodyPr/>
                    <a:lstStyle/>
                    <a:p>
                      <a:endParaRPr lang="fr-CA"/>
                    </a:p>
                  </a:txBody>
                  <a:tcPr/>
                </a:tc>
                <a:extLst>
                  <a:ext uri="{0D108BD9-81ED-4DB2-BD59-A6C34878D82A}">
                    <a16:rowId xmlns:a16="http://schemas.microsoft.com/office/drawing/2014/main" val="752461903"/>
                  </a:ext>
                </a:extLst>
              </a:tr>
            </a:tbl>
          </a:graphicData>
        </a:graphic>
      </p:graphicFrame>
      <p:pic>
        <p:nvPicPr>
          <p:cNvPr id="6" name="Image 5" descr="Une image contenant Police, Graphique, capture d’écran, graphisme&#10;&#10;Description générée automatiquement">
            <a:extLst>
              <a:ext uri="{FF2B5EF4-FFF2-40B4-BE49-F238E27FC236}">
                <a16:creationId xmlns:a16="http://schemas.microsoft.com/office/drawing/2014/main" id="{F1F39BD5-3AB2-891A-891D-C7C2A144357F}"/>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7" name="Graphique 6" descr="Feuille d’érable contour">
            <a:extLst>
              <a:ext uri="{FF2B5EF4-FFF2-40B4-BE49-F238E27FC236}">
                <a16:creationId xmlns:a16="http://schemas.microsoft.com/office/drawing/2014/main" id="{779983E8-C379-F9E4-4CED-9659A3516917}"/>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07737" y="60198"/>
            <a:ext cx="769523" cy="769523"/>
          </a:xfrm>
          <a:prstGeom prst="rect">
            <a:avLst/>
          </a:prstGeom>
        </p:spPr>
      </p:pic>
      <p:sp>
        <p:nvSpPr>
          <p:cNvPr id="2" name="ZoneTexte 1">
            <a:extLst>
              <a:ext uri="{FF2B5EF4-FFF2-40B4-BE49-F238E27FC236}">
                <a16:creationId xmlns:a16="http://schemas.microsoft.com/office/drawing/2014/main" id="{344D3325-BA2A-FF52-D74D-CAE1B353969A}"/>
              </a:ext>
            </a:extLst>
          </p:cNvPr>
          <p:cNvSpPr txBox="1"/>
          <p:nvPr/>
        </p:nvSpPr>
        <p:spPr>
          <a:xfrm>
            <a:off x="825166" y="5105657"/>
            <a:ext cx="10541668" cy="738664"/>
          </a:xfrm>
          <a:prstGeom prst="rect">
            <a:avLst/>
          </a:prstGeom>
          <a:noFill/>
        </p:spPr>
        <p:txBody>
          <a:bodyPr wrap="none" rtlCol="0">
            <a:spAutoFit/>
          </a:bodyPr>
          <a:lstStyle/>
          <a:p>
            <a:r>
              <a:rPr lang="fr-CA" sz="2400" dirty="0">
                <a:latin typeface="Visby CF Medium" pitchFamily="2" charset="77"/>
              </a:rPr>
              <a:t>Qui, dans une organisation réelle, aurait le mandat de concevoir cet outil?</a:t>
            </a:r>
          </a:p>
          <a:p>
            <a:endParaRPr lang="fr-FR" dirty="0"/>
          </a:p>
        </p:txBody>
      </p:sp>
    </p:spTree>
    <p:extLst>
      <p:ext uri="{BB962C8B-B14F-4D97-AF65-F5344CB8AC3E}">
        <p14:creationId xmlns:p14="http://schemas.microsoft.com/office/powerpoint/2010/main" val="1383487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9A3C8E9-60E9-0F32-FDEB-0D994F11D1D2}"/>
              </a:ext>
            </a:extLst>
          </p:cNvPr>
          <p:cNvSpPr txBox="1"/>
          <p:nvPr>
            <p:custDataLst>
              <p:tags r:id="rId1"/>
            </p:custDataLst>
          </p:nvPr>
        </p:nvSpPr>
        <p:spPr>
          <a:xfrm>
            <a:off x="434259" y="1229436"/>
            <a:ext cx="10707327" cy="1219200"/>
          </a:xfrm>
          <a:prstGeom prst="rect">
            <a:avLst/>
          </a:prstGeom>
        </p:spPr>
        <p:txBody>
          <a:bodyPr vert="horz" wrap="none" lIns="121920" tIns="60960" rIns="121920" bIns="60960" rtlCol="0">
            <a:normAutofit/>
          </a:body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7200" b="0" i="0" u="none" strike="noStrike" kern="1200" cap="none" spc="0" normalizeH="0" baseline="0" noProof="0">
                <a:ln>
                  <a:noFill/>
                </a:ln>
                <a:solidFill>
                  <a:schemeClr val="accent5"/>
                </a:solidFill>
                <a:effectLst/>
                <a:uLnTx/>
                <a:uFillTx/>
                <a:latin typeface="Visby Slab CF Bold" panose="00000800000000000000" pitchFamily="50" charset="0"/>
                <a:ea typeface="+mn-ea"/>
                <a:cs typeface="+mn-cs"/>
              </a:rPr>
              <a:t>Synthèse</a:t>
            </a:r>
          </a:p>
        </p:txBody>
      </p:sp>
      <p:sp>
        <p:nvSpPr>
          <p:cNvPr id="7" name="Rectangle 6">
            <a:extLst>
              <a:ext uri="{FF2B5EF4-FFF2-40B4-BE49-F238E27FC236}">
                <a16:creationId xmlns:a16="http://schemas.microsoft.com/office/drawing/2014/main" id="{0D80B38E-847A-1FF8-30A3-46A37E15058F}"/>
              </a:ext>
            </a:extLst>
          </p:cNvPr>
          <p:cNvSpPr/>
          <p:nvPr>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ZoneTexte 3">
            <a:extLst>
              <a:ext uri="{FF2B5EF4-FFF2-40B4-BE49-F238E27FC236}">
                <a16:creationId xmlns:a16="http://schemas.microsoft.com/office/drawing/2014/main" id="{DFC7D688-DE72-7304-6AF9-AD15AA074C10}"/>
              </a:ext>
            </a:extLst>
          </p:cNvPr>
          <p:cNvSpPr txBox="1"/>
          <p:nvPr>
            <p:custDataLst>
              <p:tags r:id="rId4"/>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2969829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06C784-1887-5C53-0309-3426BF566D79}"/>
              </a:ext>
            </a:extLst>
          </p:cNvPr>
          <p:cNvSpPr>
            <a:spLocks noGrp="1"/>
          </p:cNvSpPr>
          <p:nvPr>
            <p:ph type="title"/>
            <p:custDataLst>
              <p:tags r:id="rId1"/>
            </p:custDataLst>
          </p:nvPr>
        </p:nvSpPr>
        <p:spPr/>
        <p:txBody>
          <a:bodyPr/>
          <a:lstStyle/>
          <a:p>
            <a:r>
              <a:rPr lang="fr-CA"/>
              <a:t>Le cours d’aujourd’hui dans la vision d’ensemble</a:t>
            </a:r>
            <a:endParaRPr lang="fr-F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C0411877-7127-9619-8DA4-2D48EA899D3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3" name="Rectangle : coins arrondis 2">
            <a:extLst>
              <a:ext uri="{FF2B5EF4-FFF2-40B4-BE49-F238E27FC236}">
                <a16:creationId xmlns:a16="http://schemas.microsoft.com/office/drawing/2014/main" id="{8E79491F-C049-4E6A-923B-66444F9EB45D}"/>
              </a:ext>
            </a:extLst>
          </p:cNvPr>
          <p:cNvSpPr/>
          <p:nvPr>
            <p:custDataLst>
              <p:tags r:id="rId3"/>
            </p:custDataLst>
          </p:nvPr>
        </p:nvSpPr>
        <p:spPr>
          <a:xfrm>
            <a:off x="394536" y="1240811"/>
            <a:ext cx="11434607" cy="4963886"/>
          </a:xfrm>
          <a:prstGeom prst="roundRect">
            <a:avLst>
              <a:gd name="adj" fmla="val 371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aphicFrame>
        <p:nvGraphicFramePr>
          <p:cNvPr id="5" name="Tableau 4">
            <a:extLst>
              <a:ext uri="{FF2B5EF4-FFF2-40B4-BE49-F238E27FC236}">
                <a16:creationId xmlns:a16="http://schemas.microsoft.com/office/drawing/2014/main" id="{F63669B0-4B67-2721-811B-BD8C329943D4}"/>
              </a:ext>
            </a:extLst>
          </p:cNvPr>
          <p:cNvGraphicFramePr>
            <a:graphicFrameLocks noGrp="1"/>
          </p:cNvGraphicFramePr>
          <p:nvPr>
            <p:custDataLst>
              <p:tags r:id="rId4"/>
            </p:custDataLst>
          </p:nvPr>
        </p:nvGraphicFramePr>
        <p:xfrm>
          <a:off x="566058" y="1423639"/>
          <a:ext cx="11045370" cy="4601025"/>
        </p:xfrm>
        <a:graphic>
          <a:graphicData uri="http://schemas.openxmlformats.org/drawingml/2006/table">
            <a:tbl>
              <a:tblPr firstRow="1" bandRow="1">
                <a:tableStyleId>{2D5ABB26-0587-4C30-8999-92F81FD0307C}</a:tableStyleId>
              </a:tblPr>
              <a:tblGrid>
                <a:gridCol w="1567542">
                  <a:extLst>
                    <a:ext uri="{9D8B030D-6E8A-4147-A177-3AD203B41FA5}">
                      <a16:colId xmlns:a16="http://schemas.microsoft.com/office/drawing/2014/main" val="3214033884"/>
                    </a:ext>
                  </a:extLst>
                </a:gridCol>
                <a:gridCol w="1579638">
                  <a:extLst>
                    <a:ext uri="{9D8B030D-6E8A-4147-A177-3AD203B41FA5}">
                      <a16:colId xmlns:a16="http://schemas.microsoft.com/office/drawing/2014/main" val="441889553"/>
                    </a:ext>
                  </a:extLst>
                </a:gridCol>
                <a:gridCol w="1579638">
                  <a:extLst>
                    <a:ext uri="{9D8B030D-6E8A-4147-A177-3AD203B41FA5}">
                      <a16:colId xmlns:a16="http://schemas.microsoft.com/office/drawing/2014/main" val="537030794"/>
                    </a:ext>
                  </a:extLst>
                </a:gridCol>
                <a:gridCol w="1579638">
                  <a:extLst>
                    <a:ext uri="{9D8B030D-6E8A-4147-A177-3AD203B41FA5}">
                      <a16:colId xmlns:a16="http://schemas.microsoft.com/office/drawing/2014/main" val="2021984364"/>
                    </a:ext>
                  </a:extLst>
                </a:gridCol>
                <a:gridCol w="1579638">
                  <a:extLst>
                    <a:ext uri="{9D8B030D-6E8A-4147-A177-3AD203B41FA5}">
                      <a16:colId xmlns:a16="http://schemas.microsoft.com/office/drawing/2014/main" val="1414361930"/>
                    </a:ext>
                  </a:extLst>
                </a:gridCol>
                <a:gridCol w="1461105">
                  <a:extLst>
                    <a:ext uri="{9D8B030D-6E8A-4147-A177-3AD203B41FA5}">
                      <a16:colId xmlns:a16="http://schemas.microsoft.com/office/drawing/2014/main" val="1481459240"/>
                    </a:ext>
                  </a:extLst>
                </a:gridCol>
                <a:gridCol w="1698171">
                  <a:extLst>
                    <a:ext uri="{9D8B030D-6E8A-4147-A177-3AD203B41FA5}">
                      <a16:colId xmlns:a16="http://schemas.microsoft.com/office/drawing/2014/main" val="4090770250"/>
                    </a:ext>
                  </a:extLst>
                </a:gridCol>
              </a:tblGrid>
              <a:tr h="920205">
                <a:tc>
                  <a:txBody>
                    <a:bodyPr/>
                    <a:lstStyle/>
                    <a:p>
                      <a:endParaRPr lang="fr-CA" sz="1800" b="1">
                        <a:solidFill>
                          <a:schemeClr val="accent1"/>
                        </a:solidFill>
                        <a:latin typeface="Visby Slab CF Bold" panose="00000800000000000000" pitchFamily="50" charset="0"/>
                      </a:endParaRPr>
                    </a:p>
                  </a:txBody>
                  <a:tcP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Données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Fonctions</a:t>
                      </a:r>
                    </a:p>
                    <a:p>
                      <a:pPr algn="ctr"/>
                      <a:r>
                        <a:rPr lang="fr-CA" sz="1800" b="1" i="1">
                          <a:solidFill>
                            <a:schemeClr val="accent5"/>
                          </a:solidFill>
                          <a:latin typeface="Visby Slab CF Bold" panose="00000800000000000000" pitchFamily="50" charset="0"/>
                        </a:rPr>
                        <a:t>Comment?</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Lieux</a:t>
                      </a:r>
                    </a:p>
                    <a:p>
                      <a:pPr algn="ctr"/>
                      <a:r>
                        <a:rPr lang="fr-CA" sz="1800" b="1" i="1">
                          <a:solidFill>
                            <a:schemeClr val="accent5"/>
                          </a:solidFill>
                          <a:latin typeface="Visby Slab CF Bold" panose="00000800000000000000" pitchFamily="50" charset="0"/>
                        </a:rPr>
                        <a:t>Où?</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Personnes</a:t>
                      </a:r>
                    </a:p>
                    <a:p>
                      <a:pPr algn="ctr"/>
                      <a:r>
                        <a:rPr lang="fr-CA" sz="1800" b="1" i="1">
                          <a:solidFill>
                            <a:schemeClr val="accent5"/>
                          </a:solidFill>
                          <a:latin typeface="Visby Slab CF Bold" panose="00000800000000000000" pitchFamily="50" charset="0"/>
                        </a:rPr>
                        <a:t>Qui?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Temps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Quand?</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Motivations</a:t>
                      </a:r>
                    </a:p>
                    <a:p>
                      <a:pPr algn="ctr"/>
                      <a:r>
                        <a:rPr lang="fr-CA" sz="1800" b="1" i="1">
                          <a:solidFill>
                            <a:schemeClr val="accent5"/>
                          </a:solidFill>
                          <a:latin typeface="Visby Slab CF Bold" panose="00000800000000000000" pitchFamily="50" charset="0"/>
                        </a:rPr>
                        <a:t>Pourquoi?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990592643"/>
                  </a:ext>
                </a:extLst>
              </a:tr>
              <a:tr h="920205">
                <a:tc>
                  <a:txBody>
                    <a:bodyPr/>
                    <a:lstStyle/>
                    <a:p>
                      <a:pPr algn="l"/>
                      <a:r>
                        <a:rPr lang="fr-CA" sz="1800" b="1">
                          <a:solidFill>
                            <a:schemeClr val="accent2"/>
                          </a:solidFill>
                          <a:latin typeface="Visby Slab CF Bold" panose="00000800000000000000" pitchFamily="50" charset="0"/>
                        </a:rPr>
                        <a:t>Niveau contextuel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processus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localisations géographiques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objectifs stratégiques et des règles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736366742"/>
                  </a:ext>
                </a:extLst>
              </a:tr>
              <a:tr h="920205">
                <a:tc>
                  <a:txBody>
                    <a:bodyPr/>
                    <a:lstStyle/>
                    <a:p>
                      <a:pPr algn="l"/>
                      <a:r>
                        <a:rPr lang="fr-CA" sz="1800" b="1">
                          <a:solidFill>
                            <a:schemeClr val="accent2"/>
                          </a:solidFill>
                          <a:latin typeface="Visby Slab CF Bold" panose="00000800000000000000" pitchFamily="50" charset="0"/>
                        </a:rPr>
                        <a:t>Niveau conceptuel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Processus </a:t>
                      </a:r>
                      <a:br>
                        <a:rPr lang="fr-CA" sz="1200" b="0">
                          <a:solidFill>
                            <a:schemeClr val="bg1"/>
                          </a:solidFill>
                          <a:effectLst/>
                          <a:latin typeface="Visby CF" pitchFamily="50" charset="0"/>
                        </a:rPr>
                      </a:br>
                      <a:r>
                        <a:rPr lang="fr-CA" sz="1200" b="0">
                          <a:solidFill>
                            <a:schemeClr val="bg1"/>
                          </a:solidFill>
                          <a:effectLst/>
                          <a:latin typeface="Visby CF" pitchFamily="50" charset="0"/>
                        </a:rPr>
                        <a:t>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Localisations des unités​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Objectifs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460127421"/>
                  </a:ext>
                </a:extLst>
              </a:tr>
              <a:tr h="920205">
                <a:tc>
                  <a:txBody>
                    <a:bodyPr/>
                    <a:lstStyle/>
                    <a:p>
                      <a:pPr algn="l"/>
                      <a:r>
                        <a:rPr lang="fr-CA" sz="1800" b="1">
                          <a:solidFill>
                            <a:schemeClr val="accent2"/>
                          </a:solidFill>
                          <a:latin typeface="Visby Slab CF Bold" panose="00000800000000000000" pitchFamily="50" charset="0"/>
                        </a:rPr>
                        <a:t>Niveau logique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 de données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Application/</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 d’information</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Fonctions nodales​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Rôles et interfaces​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Critères​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545859229"/>
                  </a:ext>
                </a:extLst>
              </a:tr>
              <a:tr h="920205">
                <a:tc>
                  <a:txBody>
                    <a:bodyPr/>
                    <a:lstStyle/>
                    <a:p>
                      <a:pPr algn="l"/>
                      <a:r>
                        <a:rPr lang="fr-CA" sz="1800" b="1">
                          <a:solidFill>
                            <a:schemeClr val="accent2"/>
                          </a:solidFill>
                          <a:latin typeface="Visby Slab CF Bold" panose="00000800000000000000" pitchFamily="50" charset="0"/>
                        </a:rPr>
                        <a:t>Niveau technique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Ligne (dans une table)​</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Algorithmes programmés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Localisation des système​s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Utilisateurs​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Exécutions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Conditions​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91159819"/>
                  </a:ext>
                </a:extLst>
              </a:tr>
            </a:tbl>
          </a:graphicData>
        </a:graphic>
      </p:graphicFrame>
    </p:spTree>
    <p:extLst>
      <p:ext uri="{BB962C8B-B14F-4D97-AF65-F5344CB8AC3E}">
        <p14:creationId xmlns:p14="http://schemas.microsoft.com/office/powerpoint/2010/main" val="3093026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25B93A-EBF4-2D43-0689-B91F2C8A8704}"/>
              </a:ext>
            </a:extLst>
          </p:cNvPr>
          <p:cNvSpPr>
            <a:spLocks noGrp="1"/>
          </p:cNvSpPr>
          <p:nvPr>
            <p:ph type="title"/>
            <p:custDataLst>
              <p:tags r:id="rId1"/>
            </p:custDataLst>
          </p:nvPr>
        </p:nvSpPr>
        <p:spPr/>
        <p:txBody>
          <a:bodyPr>
            <a:noAutofit/>
          </a:bodyPr>
          <a:lstStyle/>
          <a:p>
            <a:r>
              <a:rPr lang="fr-CA" spc="-70"/>
              <a:t>La suite du cours d’aujourd’hui dans la spécialisation</a:t>
            </a:r>
          </a:p>
        </p:txBody>
      </p:sp>
      <p:sp>
        <p:nvSpPr>
          <p:cNvPr id="3" name="Espace réservé du contenu 2">
            <a:extLst>
              <a:ext uri="{FF2B5EF4-FFF2-40B4-BE49-F238E27FC236}">
                <a16:creationId xmlns:a16="http://schemas.microsoft.com/office/drawing/2014/main" id="{89E3E053-DD35-EAA1-3E65-3F654A90251D}"/>
              </a:ext>
            </a:extLst>
          </p:cNvPr>
          <p:cNvSpPr>
            <a:spLocks noGrp="1"/>
          </p:cNvSpPr>
          <p:nvPr>
            <p:ph idx="1"/>
            <p:custDataLst>
              <p:tags r:id="rId2"/>
            </p:custDataLst>
          </p:nvPr>
        </p:nvSpPr>
        <p:spPr/>
        <p:txBody>
          <a:bodyPr anchor="ctr"/>
          <a:lstStyle/>
          <a:p>
            <a:pPr>
              <a:tabLst>
                <a:tab pos="2333625" algn="l"/>
              </a:tabLst>
            </a:pPr>
            <a:endParaRPr lang="fr-CA"/>
          </a:p>
          <a:p>
            <a:pPr marL="0" indent="0">
              <a:buNone/>
              <a:tabLst>
                <a:tab pos="2333625" algn="l"/>
              </a:tabLst>
            </a:pPr>
            <a:endParaRPr lang="fr-CA"/>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25CCF0F3-EA3C-54AF-694A-35B12FF31C15}"/>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872711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9EDBC1-ED09-50A8-6E7F-571E46BF15C1}"/>
              </a:ext>
            </a:extLst>
          </p:cNvPr>
          <p:cNvSpPr>
            <a:spLocks noGrp="1"/>
          </p:cNvSpPr>
          <p:nvPr>
            <p:ph type="title"/>
            <p:custDataLst>
              <p:tags r:id="rId1"/>
            </p:custDataLst>
          </p:nvPr>
        </p:nvSpPr>
        <p:spPr/>
        <p:txBody>
          <a:bodyPr/>
          <a:lstStyle/>
          <a:p>
            <a:r>
              <a:rPr lang="fr-CA"/>
              <a:t>Les métiers impliqués dans le cours d’aujourd’hui</a:t>
            </a:r>
          </a:p>
        </p:txBody>
      </p:sp>
      <p:pic>
        <p:nvPicPr>
          <p:cNvPr id="8" name="Image 7" descr="Une image contenant Police, Graphique, capture d’écran, graphisme&#10;&#10;Description générée automatiquement">
            <a:extLst>
              <a:ext uri="{FF2B5EF4-FFF2-40B4-BE49-F238E27FC236}">
                <a16:creationId xmlns:a16="http://schemas.microsoft.com/office/drawing/2014/main" id="{2468E5A8-ED35-32E0-4C5C-E40DE6EDB7CD}"/>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4" name="Espace réservé du contenu 2">
            <a:extLst>
              <a:ext uri="{FF2B5EF4-FFF2-40B4-BE49-F238E27FC236}">
                <a16:creationId xmlns:a16="http://schemas.microsoft.com/office/drawing/2014/main" id="{0378EC37-D3D2-1E54-1757-077CAC452CDF}"/>
              </a:ext>
            </a:extLst>
          </p:cNvPr>
          <p:cNvSpPr>
            <a:spLocks noGrp="1"/>
          </p:cNvSpPr>
          <p:nvPr>
            <p:ph idx="1"/>
          </p:nvPr>
        </p:nvSpPr>
        <p:spPr>
          <a:xfrm>
            <a:off x="224640" y="1017270"/>
            <a:ext cx="4317215" cy="5679922"/>
          </a:xfrm>
        </p:spPr>
        <p:txBody>
          <a:bodyPr>
            <a:normAutofit/>
          </a:bodyPr>
          <a:lstStyle/>
          <a:p>
            <a:r>
              <a:rPr lang="fr-CA" b="1">
                <a:solidFill>
                  <a:schemeClr val="accent1"/>
                </a:solidFill>
                <a:latin typeface="Visby Slab CF Bold" panose="00000800000000000000" pitchFamily="50" charset="0"/>
              </a:rPr>
              <a:t>International institute of Business Analysis - IIBA</a:t>
            </a:r>
            <a:r>
              <a:rPr lang="fr-CA">
                <a:solidFill>
                  <a:schemeClr val="accent1"/>
                </a:solidFill>
                <a:latin typeface="Visby Slab CF Bold" panose="00000800000000000000" pitchFamily="50" charset="0"/>
              </a:rPr>
              <a:t> </a:t>
            </a:r>
            <a:br>
              <a:rPr lang="fr-CA">
                <a:latin typeface="Visby Slab CF Bold" panose="00000800000000000000" pitchFamily="50" charset="0"/>
              </a:rPr>
            </a:br>
            <a:r>
              <a:rPr lang="fr-CA"/>
              <a:t>(en français, l’Institut international de l'analyse d'affaires)</a:t>
            </a:r>
          </a:p>
          <a:p>
            <a:r>
              <a:rPr lang="fr-CA"/>
              <a:t>Association professionnelle à but non lucratif ayant pour but de soutenir et de promouvoir la discipline de l'analyse d'affaires</a:t>
            </a:r>
          </a:p>
        </p:txBody>
      </p:sp>
      <p:sp>
        <p:nvSpPr>
          <p:cNvPr id="5" name="ZoneTexte 4">
            <a:extLst>
              <a:ext uri="{FF2B5EF4-FFF2-40B4-BE49-F238E27FC236}">
                <a16:creationId xmlns:a16="http://schemas.microsoft.com/office/drawing/2014/main" id="{8BAE3925-ADB2-011F-39DE-A3392E66011C}"/>
              </a:ext>
            </a:extLst>
          </p:cNvPr>
          <p:cNvSpPr txBox="1"/>
          <p:nvPr/>
        </p:nvSpPr>
        <p:spPr>
          <a:xfrm>
            <a:off x="9978014" y="6266305"/>
            <a:ext cx="2080008" cy="430887"/>
          </a:xfrm>
          <a:prstGeom prst="rect">
            <a:avLst/>
          </a:prstGeom>
          <a:noFill/>
        </p:spPr>
        <p:txBody>
          <a:bodyPr wrap="square" rtlCol="0">
            <a:spAutoFit/>
          </a:bodyPr>
          <a:lstStyle/>
          <a:p>
            <a:r>
              <a:rPr lang="fr-CA" sz="1050">
                <a:latin typeface="Visby CF" pitchFamily="50" charset="0"/>
              </a:rPr>
              <a:t>Traduction libre</a:t>
            </a:r>
          </a:p>
          <a:p>
            <a:r>
              <a:rPr lang="fr-CA" sz="1050">
                <a:latin typeface="Visby CF" pitchFamily="50" charset="0"/>
              </a:rPr>
              <a:t>IIBA </a:t>
            </a:r>
            <a:r>
              <a:rPr lang="fr-CA" sz="1050">
                <a:latin typeface="Visby CF" pitchFamily="50" charset="0"/>
                <a:hlinkClick r:id="rId6"/>
              </a:rPr>
              <a:t>https://shorturl.at/tyRBn</a:t>
            </a:r>
            <a:r>
              <a:rPr lang="fr-CA" sz="1050">
                <a:latin typeface="Visby CF" pitchFamily="50" charset="0"/>
              </a:rPr>
              <a:t> </a:t>
            </a:r>
          </a:p>
        </p:txBody>
      </p:sp>
      <p:pic>
        <p:nvPicPr>
          <p:cNvPr id="6" name="Image 5">
            <a:extLst>
              <a:ext uri="{FF2B5EF4-FFF2-40B4-BE49-F238E27FC236}">
                <a16:creationId xmlns:a16="http://schemas.microsoft.com/office/drawing/2014/main" id="{78C7BD63-3E6E-DD34-67E0-0CAD7E191084}"/>
              </a:ext>
            </a:extLst>
          </p:cNvPr>
          <p:cNvPicPr>
            <a:picLocks noChangeAspect="1"/>
          </p:cNvPicPr>
          <p:nvPr/>
        </p:nvPicPr>
        <p:blipFill>
          <a:blip r:embed="rId7"/>
          <a:stretch>
            <a:fillRect/>
          </a:stretch>
        </p:blipFill>
        <p:spPr>
          <a:xfrm>
            <a:off x="5029200" y="987913"/>
            <a:ext cx="5840290" cy="5870087"/>
          </a:xfrm>
          <a:prstGeom prst="rect">
            <a:avLst/>
          </a:prstGeom>
        </p:spPr>
      </p:pic>
    </p:spTree>
    <p:extLst>
      <p:ext uri="{BB962C8B-B14F-4D97-AF65-F5344CB8AC3E}">
        <p14:creationId xmlns:p14="http://schemas.microsoft.com/office/powerpoint/2010/main" val="3179555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C34AC-A945-D988-3367-E44B1B476095}"/>
              </a:ext>
            </a:extLst>
          </p:cNvPr>
          <p:cNvSpPr>
            <a:spLocks noGrp="1"/>
          </p:cNvSpPr>
          <p:nvPr>
            <p:ph type="title"/>
            <p:custDataLst>
              <p:tags r:id="rId1"/>
            </p:custDataLst>
          </p:nvPr>
        </p:nvSpPr>
        <p:spPr/>
        <p:txBody>
          <a:bodyPr/>
          <a:lstStyle/>
          <a:p>
            <a:r>
              <a:rPr lang="fr-CA"/>
              <a:t>À faire pour la semaine prochaine</a:t>
            </a:r>
          </a:p>
        </p:txBody>
      </p:sp>
      <p:sp>
        <p:nvSpPr>
          <p:cNvPr id="3" name="Espace réservé du contenu 2">
            <a:extLst>
              <a:ext uri="{FF2B5EF4-FFF2-40B4-BE49-F238E27FC236}">
                <a16:creationId xmlns:a16="http://schemas.microsoft.com/office/drawing/2014/main" id="{E5277556-B255-72F5-C036-0CD1CCA6E4F5}"/>
              </a:ext>
            </a:extLst>
          </p:cNvPr>
          <p:cNvSpPr>
            <a:spLocks noGrp="1"/>
          </p:cNvSpPr>
          <p:nvPr>
            <p:ph idx="1"/>
            <p:custDataLst>
              <p:tags r:id="rId2"/>
            </p:custDataLst>
          </p:nvPr>
        </p:nvSpPr>
        <p:spPr>
          <a:xfrm>
            <a:off x="224640" y="1017270"/>
            <a:ext cx="11767680" cy="5538318"/>
          </a:xfrm>
        </p:spPr>
        <p:txBody>
          <a:bodyPr anchor="ctr">
            <a:normAutofit/>
          </a:bodyPr>
          <a:lstStyle/>
          <a:p>
            <a:r>
              <a:rPr lang="fr-CA"/>
              <a:t>Visionner les capsules vidéo du parcours  d’apprentissage de la séance 2</a:t>
            </a:r>
          </a:p>
          <a:p>
            <a:pPr lvl="1"/>
            <a:r>
              <a:rPr lang="fr-CA"/>
              <a:t>54 minutes en tout</a:t>
            </a:r>
          </a:p>
          <a:p>
            <a:r>
              <a:rPr lang="fr-CA"/>
              <a:t>Lire le cas Groupe-Agro</a:t>
            </a:r>
          </a:p>
          <a:p>
            <a:pPr lvl="1"/>
            <a:r>
              <a:rPr lang="fr-CA"/>
              <a:t>1 seule page</a:t>
            </a:r>
          </a:p>
          <a:p>
            <a:r>
              <a:rPr lang="fr-CA"/>
              <a:t>Ouvrir un compte </a:t>
            </a:r>
            <a:r>
              <a:rPr lang="fr-CA" err="1"/>
              <a:t>Airtable</a:t>
            </a:r>
            <a:r>
              <a:rPr lang="fr-CA"/>
              <a:t> gratuit à l’adresse </a:t>
            </a:r>
            <a:r>
              <a:rPr lang="fr-CA">
                <a:hlinkClick r:id="rId6"/>
              </a:rPr>
              <a:t>https://www.airtable.com/</a:t>
            </a:r>
            <a:r>
              <a:rPr lang="fr-CA"/>
              <a:t> </a:t>
            </a:r>
          </a:p>
          <a:p>
            <a:r>
              <a:rPr lang="fr-CA"/>
              <a:t>Ouvrir un compte </a:t>
            </a:r>
            <a:r>
              <a:rPr lang="fr-CA" err="1"/>
              <a:t>Softr</a:t>
            </a:r>
            <a:r>
              <a:rPr lang="fr-CA"/>
              <a:t> gratuit à l’adresse </a:t>
            </a:r>
            <a:r>
              <a:rPr lang="fr-CA">
                <a:hlinkClick r:id="rId7"/>
              </a:rPr>
              <a:t>https://www.softr.io/</a:t>
            </a:r>
            <a:r>
              <a:rPr lang="fr-CA"/>
              <a:t> </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A6F9FEDF-AE19-F6BB-419C-AFFC58C6D297}"/>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5301163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4"/>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5"/>
</p:tagLst>
</file>

<file path=ppt/tags/tag11.xml><?xml version="1.0" encoding="utf-8"?>
<p:tagLst xmlns:a="http://schemas.openxmlformats.org/drawingml/2006/main" xmlns:r="http://schemas.openxmlformats.org/officeDocument/2006/relationships" xmlns:p="http://schemas.openxmlformats.org/presentationml/2006/main">
  <p:tag name="NUM" val="6"/>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4"/>
</p:tagLst>
</file>

<file path=ppt/tags/tag19.xml><?xml version="1.0" encoding="utf-8"?>
<p:tagLst xmlns:a="http://schemas.openxmlformats.org/drawingml/2006/main" xmlns:r="http://schemas.openxmlformats.org/officeDocument/2006/relationships" xmlns:p="http://schemas.openxmlformats.org/presentationml/2006/main">
  <p:tag name="NUM" val="5"/>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4"/>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4"/>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4"/>
</p:tagLst>
</file>

<file path=ppt/tags/tag42.xml><?xml version="1.0" encoding="utf-8"?>
<p:tagLst xmlns:a="http://schemas.openxmlformats.org/drawingml/2006/main" xmlns:r="http://schemas.openxmlformats.org/officeDocument/2006/relationships" xmlns:p="http://schemas.openxmlformats.org/presentationml/2006/main">
  <p:tag name="NUM" val="5"/>
</p:tagLst>
</file>

<file path=ppt/tags/tag43.xml><?xml version="1.0" encoding="utf-8"?>
<p:tagLst xmlns:a="http://schemas.openxmlformats.org/drawingml/2006/main" xmlns:r="http://schemas.openxmlformats.org/officeDocument/2006/relationships" xmlns:p="http://schemas.openxmlformats.org/presentationml/2006/main">
  <p:tag name="NUM" val="6"/>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3"/>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4"/>
</p:tagLst>
</file>

<file path=ppt/tags/tag63.xml><?xml version="1.0" encoding="utf-8"?>
<p:tagLst xmlns:a="http://schemas.openxmlformats.org/drawingml/2006/main" xmlns:r="http://schemas.openxmlformats.org/officeDocument/2006/relationships" xmlns:p="http://schemas.openxmlformats.org/presentationml/2006/main">
  <p:tag name="NUM" val="5"/>
</p:tagLst>
</file>

<file path=ppt/tags/tag64.xml><?xml version="1.0" encoding="utf-8"?>
<p:tagLst xmlns:a="http://schemas.openxmlformats.org/drawingml/2006/main" xmlns:r="http://schemas.openxmlformats.org/officeDocument/2006/relationships" xmlns:p="http://schemas.openxmlformats.org/presentationml/2006/main">
  <p:tag name="NUM" val="6"/>
</p:tagLst>
</file>

<file path=ppt/tags/tag65.xml><?xml version="1.0" encoding="utf-8"?>
<p:tagLst xmlns:a="http://schemas.openxmlformats.org/drawingml/2006/main" xmlns:r="http://schemas.openxmlformats.org/officeDocument/2006/relationships" xmlns:p="http://schemas.openxmlformats.org/presentationml/2006/main">
  <p:tag name="NUM" val="7"/>
</p:tagLst>
</file>

<file path=ppt/tags/tag66.xml><?xml version="1.0" encoding="utf-8"?>
<p:tagLst xmlns:a="http://schemas.openxmlformats.org/drawingml/2006/main" xmlns:r="http://schemas.openxmlformats.org/officeDocument/2006/relationships" xmlns:p="http://schemas.openxmlformats.org/presentationml/2006/main">
  <p:tag name="NUM" val="8"/>
</p:tagLst>
</file>

<file path=ppt/tags/tag67.xml><?xml version="1.0" encoding="utf-8"?>
<p:tagLst xmlns:a="http://schemas.openxmlformats.org/drawingml/2006/main" xmlns:r="http://schemas.openxmlformats.org/officeDocument/2006/relationships" xmlns:p="http://schemas.openxmlformats.org/presentationml/2006/main">
  <p:tag name="NUM" val="9"/>
</p:tagLst>
</file>

<file path=ppt/tags/tag68.xml><?xml version="1.0" encoding="utf-8"?>
<p:tagLst xmlns:a="http://schemas.openxmlformats.org/drawingml/2006/main" xmlns:r="http://schemas.openxmlformats.org/officeDocument/2006/relationships" xmlns:p="http://schemas.openxmlformats.org/presentationml/2006/main">
  <p:tag name="NUM" val="10"/>
</p:tagLst>
</file>

<file path=ppt/tags/tag69.xml><?xml version="1.0" encoding="utf-8"?>
<p:tagLst xmlns:a="http://schemas.openxmlformats.org/drawingml/2006/main" xmlns:r="http://schemas.openxmlformats.org/officeDocument/2006/relationships" xmlns:p="http://schemas.openxmlformats.org/presentationml/2006/main">
  <p:tag name="NUM" val="11"/>
</p:tagLst>
</file>

<file path=ppt/tags/tag70.xml><?xml version="1.0" encoding="utf-8"?>
<p:tagLst xmlns:a="http://schemas.openxmlformats.org/drawingml/2006/main" xmlns:r="http://schemas.openxmlformats.org/officeDocument/2006/relationships" xmlns:p="http://schemas.openxmlformats.org/presentationml/2006/main">
  <p:tag name="NUM" val="12"/>
</p:tagLst>
</file>

<file path=ppt/tags/tag71.xml><?xml version="1.0" encoding="utf-8"?>
<p:tagLst xmlns:a="http://schemas.openxmlformats.org/drawingml/2006/main" xmlns:r="http://schemas.openxmlformats.org/officeDocument/2006/relationships" xmlns:p="http://schemas.openxmlformats.org/presentationml/2006/main">
  <p:tag name="NUM" val="13"/>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UM" val="3"/>
</p:tagLst>
</file>

<file path=ppt/tags/tag75.xml><?xml version="1.0" encoding="utf-8"?>
<p:tagLst xmlns:a="http://schemas.openxmlformats.org/drawingml/2006/main" xmlns:r="http://schemas.openxmlformats.org/officeDocument/2006/relationships" xmlns:p="http://schemas.openxmlformats.org/presentationml/2006/main">
  <p:tag name="NUM" val="4"/>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1"/>
</p:tagLst>
</file>

<file path=ppt/tags/tag80.xml><?xml version="1.0" encoding="utf-8"?>
<p:tagLst xmlns:a="http://schemas.openxmlformats.org/drawingml/2006/main" xmlns:r="http://schemas.openxmlformats.org/officeDocument/2006/relationships" xmlns:p="http://schemas.openxmlformats.org/presentationml/2006/main">
  <p:tag name="NUM" val="2"/>
</p:tagLst>
</file>

<file path=ppt/tags/tag81.xml><?xml version="1.0" encoding="utf-8"?>
<p:tagLst xmlns:a="http://schemas.openxmlformats.org/drawingml/2006/main" xmlns:r="http://schemas.openxmlformats.org/officeDocument/2006/relationships" xmlns:p="http://schemas.openxmlformats.org/presentationml/2006/main">
  <p:tag name="NUM" val="3"/>
</p:tagLst>
</file>

<file path=ppt/tags/tag82.xml><?xml version="1.0" encoding="utf-8"?>
<p:tagLst xmlns:a="http://schemas.openxmlformats.org/drawingml/2006/main" xmlns:r="http://schemas.openxmlformats.org/officeDocument/2006/relationships" xmlns:p="http://schemas.openxmlformats.org/presentationml/2006/main">
  <p:tag name="NUM" val="4"/>
</p:tagLst>
</file>

<file path=ppt/tags/tag83.xml><?xml version="1.0" encoding="utf-8"?>
<p:tagLst xmlns:a="http://schemas.openxmlformats.org/drawingml/2006/main" xmlns:r="http://schemas.openxmlformats.org/officeDocument/2006/relationships" xmlns:p="http://schemas.openxmlformats.org/presentationml/2006/main">
  <p:tag name="NUM" val="5"/>
</p:tagLst>
</file>

<file path=ppt/tags/tag84.xml><?xml version="1.0" encoding="utf-8"?>
<p:tagLst xmlns:a="http://schemas.openxmlformats.org/drawingml/2006/main" xmlns:r="http://schemas.openxmlformats.org/officeDocument/2006/relationships" xmlns:p="http://schemas.openxmlformats.org/presentationml/2006/main">
  <p:tag name="NUM" val="6"/>
</p:tagLst>
</file>

<file path=ppt/tags/tag85.xml><?xml version="1.0" encoding="utf-8"?>
<p:tagLst xmlns:a="http://schemas.openxmlformats.org/drawingml/2006/main" xmlns:r="http://schemas.openxmlformats.org/officeDocument/2006/relationships" xmlns:p="http://schemas.openxmlformats.org/presentationml/2006/main">
  <p:tag name="NUM" val="7"/>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4"/>
</p:tagLst>
</file>

<file path=ppt/tags/tag89.xml><?xml version="1.0" encoding="utf-8"?>
<p:tagLst xmlns:a="http://schemas.openxmlformats.org/drawingml/2006/main" xmlns:r="http://schemas.openxmlformats.org/officeDocument/2006/relationships" xmlns:p="http://schemas.openxmlformats.org/presentationml/2006/main">
  <p:tag name="NUM" val="5"/>
</p:tagLst>
</file>

<file path=ppt/tags/tag90.xml><?xml version="1.0" encoding="utf-8"?>
<p:tagLst xmlns:a="http://schemas.openxmlformats.org/drawingml/2006/main" xmlns:r="http://schemas.openxmlformats.org/officeDocument/2006/relationships" xmlns:p="http://schemas.openxmlformats.org/presentationml/2006/main">
  <p:tag name="NUM" val="6"/>
</p:tagLst>
</file>

<file path=ppt/tags/tag91.xml><?xml version="1.0" encoding="utf-8"?>
<p:tagLst xmlns:a="http://schemas.openxmlformats.org/drawingml/2006/main" xmlns:r="http://schemas.openxmlformats.org/officeDocument/2006/relationships" xmlns:p="http://schemas.openxmlformats.org/presentationml/2006/main">
  <p:tag name="NUM" val="7"/>
</p:tagLst>
</file>

<file path=ppt/tags/tag92.xml><?xml version="1.0" encoding="utf-8"?>
<p:tagLst xmlns:a="http://schemas.openxmlformats.org/drawingml/2006/main" xmlns:r="http://schemas.openxmlformats.org/officeDocument/2006/relationships" xmlns:p="http://schemas.openxmlformats.org/presentationml/2006/main">
  <p:tag name="NUM" val="9"/>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2"/>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4"/>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3"/>
</p:tagLst>
</file>

<file path=ppt/tags/tag100.xml><?xml version="1.0" encoding="utf-8"?>
<p:tagLst xmlns:a="http://schemas.openxmlformats.org/drawingml/2006/main" xmlns:r="http://schemas.openxmlformats.org/officeDocument/2006/relationships" xmlns:p="http://schemas.openxmlformats.org/presentationml/2006/main">
  <p:tag name="NUM" val="4"/>
</p:tagLst>
</file>

<file path=ppt/tags/tag101.xml><?xml version="1.0" encoding="utf-8"?>
<p:tagLst xmlns:a="http://schemas.openxmlformats.org/drawingml/2006/main" xmlns:r="http://schemas.openxmlformats.org/officeDocument/2006/relationships" xmlns:p="http://schemas.openxmlformats.org/presentationml/2006/main">
  <p:tag name="NUM" val="1"/>
</p:tagLst>
</file>

<file path=ppt/tags/tag102.xml><?xml version="1.0" encoding="utf-8"?>
<p:tagLst xmlns:a="http://schemas.openxmlformats.org/drawingml/2006/main" xmlns:r="http://schemas.openxmlformats.org/officeDocument/2006/relationships" xmlns:p="http://schemas.openxmlformats.org/presentationml/2006/main">
  <p:tag name="NUM" val="2"/>
</p:tagLst>
</file>

<file path=ppt/tags/tag103.xml><?xml version="1.0" encoding="utf-8"?>
<p:tagLst xmlns:a="http://schemas.openxmlformats.org/drawingml/2006/main" xmlns:r="http://schemas.openxmlformats.org/officeDocument/2006/relationships" xmlns:p="http://schemas.openxmlformats.org/presentationml/2006/main">
  <p:tag name="NUM" val="3"/>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4"/>
</p:tagLst>
</file>

<file path=ppt/tags/tag110.xml><?xml version="1.0" encoding="utf-8"?>
<p:tagLst xmlns:a="http://schemas.openxmlformats.org/drawingml/2006/main" xmlns:r="http://schemas.openxmlformats.org/officeDocument/2006/relationships" xmlns:p="http://schemas.openxmlformats.org/presentationml/2006/main">
  <p:tag name="NUM" val="5"/>
</p:tagLst>
</file>

<file path=ppt/tags/tag111.xml><?xml version="1.0" encoding="utf-8"?>
<p:tagLst xmlns:a="http://schemas.openxmlformats.org/drawingml/2006/main" xmlns:r="http://schemas.openxmlformats.org/officeDocument/2006/relationships" xmlns:p="http://schemas.openxmlformats.org/presentationml/2006/main">
  <p:tag name="NUM" val="6"/>
</p:tagLst>
</file>

<file path=ppt/tags/tag112.xml><?xml version="1.0" encoding="utf-8"?>
<p:tagLst xmlns:a="http://schemas.openxmlformats.org/drawingml/2006/main" xmlns:r="http://schemas.openxmlformats.org/officeDocument/2006/relationships" xmlns:p="http://schemas.openxmlformats.org/presentationml/2006/main">
  <p:tag name="NUM" val="7"/>
</p:tagLst>
</file>

<file path=ppt/tags/tag113.xml><?xml version="1.0" encoding="utf-8"?>
<p:tagLst xmlns:a="http://schemas.openxmlformats.org/drawingml/2006/main" xmlns:r="http://schemas.openxmlformats.org/officeDocument/2006/relationships" xmlns:p="http://schemas.openxmlformats.org/presentationml/2006/main">
  <p:tag name="NUM" val="8"/>
</p:tagLst>
</file>

<file path=ppt/tags/tag114.xml><?xml version="1.0" encoding="utf-8"?>
<p:tagLst xmlns:a="http://schemas.openxmlformats.org/drawingml/2006/main" xmlns:r="http://schemas.openxmlformats.org/officeDocument/2006/relationships" xmlns:p="http://schemas.openxmlformats.org/presentationml/2006/main">
  <p:tag name="NUM" val="9"/>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4"/>
</p:tagLst>
</file>

<file path=ppt/tags/tag119.xml><?xml version="1.0" encoding="utf-8"?>
<p:tagLst xmlns:a="http://schemas.openxmlformats.org/drawingml/2006/main" xmlns:r="http://schemas.openxmlformats.org/officeDocument/2006/relationships" xmlns:p="http://schemas.openxmlformats.org/presentationml/2006/main">
  <p:tag name="NUM" val="1"/>
</p:tagLst>
</file>

<file path=ppt/tags/tag120.xml><?xml version="1.0" encoding="utf-8"?>
<p:tagLst xmlns:a="http://schemas.openxmlformats.org/drawingml/2006/main" xmlns:r="http://schemas.openxmlformats.org/officeDocument/2006/relationships" xmlns:p="http://schemas.openxmlformats.org/presentationml/2006/main">
  <p:tag name="NUM" val="2"/>
</p:tagLst>
</file>

<file path=ppt/tags/tag121.xml><?xml version="1.0" encoding="utf-8"?>
<p:tagLst xmlns:a="http://schemas.openxmlformats.org/drawingml/2006/main" xmlns:r="http://schemas.openxmlformats.org/officeDocument/2006/relationships" xmlns:p="http://schemas.openxmlformats.org/presentationml/2006/main">
  <p:tag name="NUM" val="3"/>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3"/>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1"/>
</p:tagLst>
</file>

<file path=ppt/tags/tag135.xml><?xml version="1.0" encoding="utf-8"?>
<p:tagLst xmlns:a="http://schemas.openxmlformats.org/drawingml/2006/main" xmlns:r="http://schemas.openxmlformats.org/officeDocument/2006/relationships" xmlns:p="http://schemas.openxmlformats.org/presentationml/2006/main">
  <p:tag name="NUM" val="2"/>
</p:tagLst>
</file>

<file path=ppt/tags/tag136.xml><?xml version="1.0" encoding="utf-8"?>
<p:tagLst xmlns:a="http://schemas.openxmlformats.org/drawingml/2006/main" xmlns:r="http://schemas.openxmlformats.org/officeDocument/2006/relationships" xmlns:p="http://schemas.openxmlformats.org/presentationml/2006/main">
  <p:tag name="NUM" val="3"/>
</p:tagLst>
</file>

<file path=ppt/tags/tag137.xml><?xml version="1.0" encoding="utf-8"?>
<p:tagLst xmlns:a="http://schemas.openxmlformats.org/drawingml/2006/main" xmlns:r="http://schemas.openxmlformats.org/officeDocument/2006/relationships" xmlns:p="http://schemas.openxmlformats.org/presentationml/2006/main">
  <p:tag name="NUM" val="1"/>
</p:tagLst>
</file>

<file path=ppt/tags/tag138.xml><?xml version="1.0" encoding="utf-8"?>
<p:tagLst xmlns:a="http://schemas.openxmlformats.org/drawingml/2006/main" xmlns:r="http://schemas.openxmlformats.org/officeDocument/2006/relationships" xmlns:p="http://schemas.openxmlformats.org/presentationml/2006/main">
  <p:tag name="NUM" val="2"/>
</p:tagLst>
</file>

<file path=ppt/tags/tag139.xml><?xml version="1.0" encoding="utf-8"?>
<p:tagLst xmlns:a="http://schemas.openxmlformats.org/drawingml/2006/main" xmlns:r="http://schemas.openxmlformats.org/officeDocument/2006/relationships" xmlns:p="http://schemas.openxmlformats.org/presentationml/2006/main">
  <p:tag name="NUM" val="3"/>
</p:tagLst>
</file>

<file path=ppt/tags/tag140.xml><?xml version="1.0" encoding="utf-8"?>
<p:tagLst xmlns:a="http://schemas.openxmlformats.org/drawingml/2006/main" xmlns:r="http://schemas.openxmlformats.org/officeDocument/2006/relationships" xmlns:p="http://schemas.openxmlformats.org/presentationml/2006/main">
  <p:tag name="NUM" val="4"/>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4"/>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3"/>
</p:tagLst>
</file>

<file path=ppt/tags/tag148.xml><?xml version="1.0" encoding="utf-8"?>
<p:tagLst xmlns:a="http://schemas.openxmlformats.org/drawingml/2006/main" xmlns:r="http://schemas.openxmlformats.org/officeDocument/2006/relationships" xmlns:p="http://schemas.openxmlformats.org/presentationml/2006/main">
  <p:tag name="NUM" val="4"/>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4"/>
</p:tagLst>
</file>

<file path=ppt/tags/tag154.xml><?xml version="1.0" encoding="utf-8"?>
<p:tagLst xmlns:a="http://schemas.openxmlformats.org/drawingml/2006/main" xmlns:r="http://schemas.openxmlformats.org/officeDocument/2006/relationships" xmlns:p="http://schemas.openxmlformats.org/presentationml/2006/main">
  <p:tag name="NUM" val="1"/>
</p:tagLst>
</file>

<file path=ppt/tags/tag155.xml><?xml version="1.0" encoding="utf-8"?>
<p:tagLst xmlns:a="http://schemas.openxmlformats.org/drawingml/2006/main" xmlns:r="http://schemas.openxmlformats.org/officeDocument/2006/relationships" xmlns:p="http://schemas.openxmlformats.org/presentationml/2006/main">
  <p:tag name="NUM" val="2"/>
</p:tagLst>
</file>

<file path=ppt/tags/tag156.xml><?xml version="1.0" encoding="utf-8"?>
<p:tagLst xmlns:a="http://schemas.openxmlformats.org/drawingml/2006/main" xmlns:r="http://schemas.openxmlformats.org/officeDocument/2006/relationships" xmlns:p="http://schemas.openxmlformats.org/presentationml/2006/main">
  <p:tag name="NUM" val="3"/>
</p:tagLst>
</file>

<file path=ppt/tags/tag157.xml><?xml version="1.0" encoding="utf-8"?>
<p:tagLst xmlns:a="http://schemas.openxmlformats.org/drawingml/2006/main" xmlns:r="http://schemas.openxmlformats.org/officeDocument/2006/relationships" xmlns:p="http://schemas.openxmlformats.org/presentationml/2006/main">
  <p:tag name="NUM" val="4"/>
</p:tagLst>
</file>

<file path=ppt/tags/tag158.xml><?xml version="1.0" encoding="utf-8"?>
<p:tagLst xmlns:a="http://schemas.openxmlformats.org/drawingml/2006/main" xmlns:r="http://schemas.openxmlformats.org/officeDocument/2006/relationships" xmlns:p="http://schemas.openxmlformats.org/presentationml/2006/main">
  <p:tag name="NUM" val="1"/>
</p:tagLst>
</file>

<file path=ppt/tags/tag159.xml><?xml version="1.0" encoding="utf-8"?>
<p:tagLst xmlns:a="http://schemas.openxmlformats.org/drawingml/2006/main" xmlns:r="http://schemas.openxmlformats.org/officeDocument/2006/relationships" xmlns:p="http://schemas.openxmlformats.org/presentationml/2006/main">
  <p:tag name="NUM" val="2"/>
</p:tagLst>
</file>

<file path=ppt/tags/tag160.xml><?xml version="1.0" encoding="utf-8"?>
<p:tagLst xmlns:a="http://schemas.openxmlformats.org/drawingml/2006/main" xmlns:r="http://schemas.openxmlformats.org/officeDocument/2006/relationships" xmlns:p="http://schemas.openxmlformats.org/presentationml/2006/main">
  <p:tag name="NUM" val="3"/>
</p:tagLst>
</file>

<file path=ppt/tags/tag161.xml><?xml version="1.0" encoding="utf-8"?>
<p:tagLst xmlns:a="http://schemas.openxmlformats.org/drawingml/2006/main" xmlns:r="http://schemas.openxmlformats.org/officeDocument/2006/relationships" xmlns:p="http://schemas.openxmlformats.org/presentationml/2006/main">
  <p:tag name="NUM" val="4"/>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3"/>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2"/>
</p:tagLst>
</file>

<file path=ppt/tags/tag167.xml><?xml version="1.0" encoding="utf-8"?>
<p:tagLst xmlns:a="http://schemas.openxmlformats.org/drawingml/2006/main" xmlns:r="http://schemas.openxmlformats.org/officeDocument/2006/relationships" xmlns:p="http://schemas.openxmlformats.org/presentationml/2006/main">
  <p:tag name="NUM" val="1"/>
</p:tagLst>
</file>

<file path=ppt/tags/tag168.xml><?xml version="1.0" encoding="utf-8"?>
<p:tagLst xmlns:a="http://schemas.openxmlformats.org/drawingml/2006/main" xmlns:r="http://schemas.openxmlformats.org/officeDocument/2006/relationships" xmlns:p="http://schemas.openxmlformats.org/presentationml/2006/main">
  <p:tag name="NUM" val="2"/>
</p:tagLst>
</file>

<file path=ppt/tags/tag169.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2_Thème HEC">
  <a:themeElements>
    <a:clrScheme name="HEC Montréal">
      <a:dk1>
        <a:srgbClr val="000000"/>
      </a:dk1>
      <a:lt1>
        <a:srgbClr val="FFFFFF"/>
      </a:lt1>
      <a:dk2>
        <a:srgbClr val="0D2C52"/>
      </a:dk2>
      <a:lt2>
        <a:srgbClr val="888A8D"/>
      </a:lt2>
      <a:accent1>
        <a:srgbClr val="0070B9"/>
      </a:accent1>
      <a:accent2>
        <a:srgbClr val="00A9C6"/>
      </a:accent2>
      <a:accent3>
        <a:srgbClr val="3CB778"/>
      </a:accent3>
      <a:accent4>
        <a:srgbClr val="F1595C"/>
      </a:accent4>
      <a:accent5>
        <a:srgbClr val="E170AC"/>
      </a:accent5>
      <a:accent6>
        <a:srgbClr val="F5CD3D"/>
      </a:accent6>
      <a:hlink>
        <a:srgbClr val="0070B9"/>
      </a:hlink>
      <a:folHlink>
        <a:srgbClr val="00AAC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HECMontreal-Gabarit" id="{90B23BB6-748E-9A4B-9146-9546151205D4}" vid="{48ADA872-361A-1B4C-ABD7-4D4607940B7F}"/>
    </a:ext>
  </a:extLst>
</a:theme>
</file>

<file path=ppt/theme/theme2.xml><?xml version="1.0" encoding="utf-8"?>
<a:theme xmlns:a="http://schemas.openxmlformats.org/drawingml/2006/main" name="1_Thème Office">
  <a:themeElements>
    <a:clrScheme name="HEC">
      <a:dk1>
        <a:srgbClr val="000000"/>
      </a:dk1>
      <a:lt1>
        <a:sysClr val="window" lastClr="FFFFFF"/>
      </a:lt1>
      <a:dk2>
        <a:srgbClr val="002855"/>
      </a:dk2>
      <a:lt2>
        <a:srgbClr val="DDDDDD"/>
      </a:lt2>
      <a:accent1>
        <a:srgbClr val="0072CE"/>
      </a:accent1>
      <a:accent2>
        <a:srgbClr val="00AEC7"/>
      </a:accent2>
      <a:accent3>
        <a:srgbClr val="26D07C"/>
      </a:accent3>
      <a:accent4>
        <a:srgbClr val="FF585D"/>
      </a:accent4>
      <a:accent5>
        <a:srgbClr val="EB6FBD"/>
      </a:accent5>
      <a:accent6>
        <a:srgbClr val="F3D03E"/>
      </a:accent6>
      <a:hlink>
        <a:srgbClr val="48A23F"/>
      </a:hlink>
      <a:folHlink>
        <a:srgbClr val="00285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f205008-2c9f-4643-9908-e102020b9c2b" xsi:nil="true"/>
    <lcf76f155ced4ddcb4097134ff3c332f xmlns="39887826-ec16-479a-b3e6-521b243ce3b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8066646054FA44B64BA3F261D01FFA" ma:contentTypeVersion="12" ma:contentTypeDescription="Crée un document." ma:contentTypeScope="" ma:versionID="db2095c62e70cd282bebd51083d38e3b">
  <xsd:schema xmlns:xsd="http://www.w3.org/2001/XMLSchema" xmlns:xs="http://www.w3.org/2001/XMLSchema" xmlns:p="http://schemas.microsoft.com/office/2006/metadata/properties" xmlns:ns2="39887826-ec16-479a-b3e6-521b243ce3b6" xmlns:ns3="6f205008-2c9f-4643-9908-e102020b9c2b" targetNamespace="http://schemas.microsoft.com/office/2006/metadata/properties" ma:root="true" ma:fieldsID="1908fb3a63b9a905f6aebe94f81735bc" ns2:_="" ns3:_="">
    <xsd:import namespace="39887826-ec16-479a-b3e6-521b243ce3b6"/>
    <xsd:import namespace="6f205008-2c9f-4643-9908-e102020b9c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887826-ec16-479a-b3e6-521b243ce3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ae0b311d-aef2-47fc-9a4e-3c9c045afdc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f205008-2c9f-4643-9908-e102020b9c2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10d19aa-0911-40c9-a95b-a16fb4b717b1}" ma:internalName="TaxCatchAll" ma:showField="CatchAllData" ma:web="6f205008-2c9f-4643-9908-e102020b9c2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7852DE-3E50-47F7-8386-FA9EE33CDDF2}">
  <ds:schemaRefs>
    <ds:schemaRef ds:uri="http://purl.org/dc/dcmitype/"/>
    <ds:schemaRef ds:uri="http://purl.org/dc/elements/1.1/"/>
    <ds:schemaRef ds:uri="http://schemas.microsoft.com/office/infopath/2007/PartnerControls"/>
    <ds:schemaRef ds:uri="http://purl.org/dc/terms/"/>
    <ds:schemaRef ds:uri="http://schemas.microsoft.com/office/2006/metadata/properties"/>
    <ds:schemaRef ds:uri="http://schemas.microsoft.com/office/2006/documentManagement/types"/>
    <ds:schemaRef ds:uri="http://schemas.openxmlformats.org/package/2006/metadata/core-properties"/>
    <ds:schemaRef ds:uri="456121d3-e3f6-4042-8481-2287cdb9a7b9"/>
    <ds:schemaRef ds:uri="http://www.w3.org/XML/1998/namespace"/>
  </ds:schemaRefs>
</ds:datastoreItem>
</file>

<file path=customXml/itemProps2.xml><?xml version="1.0" encoding="utf-8"?>
<ds:datastoreItem xmlns:ds="http://schemas.openxmlformats.org/officeDocument/2006/customXml" ds:itemID="{158E08DC-B6EE-4D27-B689-5F3F41BE1E60}"/>
</file>

<file path=customXml/itemProps3.xml><?xml version="1.0" encoding="utf-8"?>
<ds:datastoreItem xmlns:ds="http://schemas.openxmlformats.org/officeDocument/2006/customXml" ds:itemID="{3BEB262F-2D29-4E04-8966-27A79BA51A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848</TotalTime>
  <Words>3331</Words>
  <Application>Microsoft Office PowerPoint</Application>
  <PresentationFormat>Grand écran</PresentationFormat>
  <Paragraphs>374</Paragraphs>
  <Slides>46</Slides>
  <Notes>29</Notes>
  <HiddenSlides>0</HiddenSlides>
  <MMClips>0</MMClips>
  <ScaleCrop>false</ScaleCrop>
  <HeadingPairs>
    <vt:vector size="6" baseType="variant">
      <vt:variant>
        <vt:lpstr>Polices utilisées</vt:lpstr>
      </vt:variant>
      <vt:variant>
        <vt:i4>18</vt:i4>
      </vt:variant>
      <vt:variant>
        <vt:lpstr>Thème</vt:lpstr>
      </vt:variant>
      <vt:variant>
        <vt:i4>2</vt:i4>
      </vt:variant>
      <vt:variant>
        <vt:lpstr>Titres des diapositives</vt:lpstr>
      </vt:variant>
      <vt:variant>
        <vt:i4>46</vt:i4>
      </vt:variant>
    </vt:vector>
  </HeadingPairs>
  <TitlesOfParts>
    <vt:vector size="66" baseType="lpstr">
      <vt:lpstr>Visby Slab CF Heavy</vt:lpstr>
      <vt:lpstr>DIN Engschrift Std</vt:lpstr>
      <vt:lpstr>JetBrains Mono NL</vt:lpstr>
      <vt:lpstr>Visby Slab CF</vt:lpstr>
      <vt:lpstr>DIN OT</vt:lpstr>
      <vt:lpstr>Arial Rounded MT Bold</vt:lpstr>
      <vt:lpstr>Visby CF</vt:lpstr>
      <vt:lpstr>Script MT Bold</vt:lpstr>
      <vt:lpstr>Arial</vt:lpstr>
      <vt:lpstr>Visby Slab CF Demi Bold</vt:lpstr>
      <vt:lpstr>Visby CF Bold</vt:lpstr>
      <vt:lpstr>Wingdings</vt:lpstr>
      <vt:lpstr>Visby CF Medium</vt:lpstr>
      <vt:lpstr>Visby Slab CF Bold</vt:lpstr>
      <vt:lpstr>Visby CF Extra Bold</vt:lpstr>
      <vt:lpstr>Calibri</vt:lpstr>
      <vt:lpstr>Visby CF Light</vt:lpstr>
      <vt:lpstr>Aptos</vt:lpstr>
      <vt:lpstr>2_Thème HEC</vt:lpstr>
      <vt:lpstr>1_Thème Office</vt:lpstr>
      <vt:lpstr>Mobiliser les technologies numériques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Votre progression en littératie IA dans ce cours</vt:lpstr>
      <vt:lpstr>À la base d’une transformation numérique réussie : une stratégie et une architecture</vt:lpstr>
      <vt:lpstr>Présentation PowerPoint</vt:lpstr>
      <vt:lpstr>Présentation PowerPoint</vt:lpstr>
      <vt:lpstr>Plan de la séance</vt:lpstr>
      <vt:lpstr>Définitions</vt:lpstr>
      <vt:lpstr>Mobiliser – Une définition</vt:lpstr>
      <vt:lpstr>Technologies numériques – Une définition</vt:lpstr>
      <vt:lpstr>Pourquoi mobiliser les technologies numériques?</vt:lpstr>
      <vt:lpstr>Que sont les TI dans une organisation ?</vt:lpstr>
      <vt:lpstr>Systèmes d’information – Une définition</vt:lpstr>
      <vt:lpstr>Présentation PowerPoint</vt:lpstr>
      <vt:lpstr>Principe #1 – Utiliser la pensée informatique</vt:lpstr>
      <vt:lpstr>Principe #2 – Ne pas perdre de vue la stratégie</vt:lpstr>
      <vt:lpstr>Principe #3 – Séparer l’église de l’état</vt:lpstr>
      <vt:lpstr>Principe #4 – Avoir une vision d’ensemble</vt:lpstr>
      <vt:lpstr>Présentation PowerPoint</vt:lpstr>
      <vt:lpstr>Principe de la classe inversée</vt:lpstr>
      <vt:lpstr>Une session, deux perspectives</vt:lpstr>
      <vt:lpstr>Présentation PowerPoint</vt:lpstr>
      <vt:lpstr>Charge de travail</vt:lpstr>
      <vt:lpstr>Attentes de l’enseignant / responsabilités de l’étudiant</vt:lpstr>
      <vt:lpstr>Pondération des évaluations</vt:lpstr>
      <vt:lpstr>Détail des travaux et examens</vt:lpstr>
      <vt:lpstr>Garder à l’esprit tout au long de la session</vt:lpstr>
      <vt:lpstr>Communications avec votre enseignant</vt:lpstr>
      <vt:lpstr>Outils et matériel requis</vt:lpstr>
      <vt:lpstr>Coût du matériel – 68,99$</vt:lpstr>
      <vt:lpstr>Présentation PowerPoint</vt:lpstr>
      <vt:lpstr>Simulation d’un processus d’affaires manuel</vt:lpstr>
      <vt:lpstr>Leçons apprises</vt:lpstr>
      <vt:lpstr>Liste des besoins</vt:lpstr>
      <vt:lpstr>Présentation PowerPoint</vt:lpstr>
      <vt:lpstr>Le cours d’aujourd’hui dans la vision d’ensemble</vt:lpstr>
      <vt:lpstr>La suite du cours d’aujourd’hui dans la spécialisation</vt:lpstr>
      <vt:lpstr>Les métiers impliqués dans le cours d’aujourd’hui</vt:lpstr>
      <vt:lpstr>À faire pour la semaine prochaine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Refonte TIO</dc:title>
  <dc:creator>Marie-Claude Trudel</dc:creator>
  <cp:lastModifiedBy>Marie-Claude Trudel</cp:lastModifiedBy>
  <cp:revision>14</cp:revision>
  <dcterms:created xsi:type="dcterms:W3CDTF">2024-05-25T15:56:44Z</dcterms:created>
  <dcterms:modified xsi:type="dcterms:W3CDTF">2026-08-20T16:55:56Z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a7d8d5d-78e2-4a62-9fcd-016eb5e4c57c_Enabled">
    <vt:lpwstr>true</vt:lpwstr>
  </property>
  <property fmtid="{D5CDD505-2E9C-101B-9397-08002B2CF9AE}" pid="3" name="MSIP_Label_6a7d8d5d-78e2-4a62-9fcd-016eb5e4c57c_SetDate">
    <vt:lpwstr>2026-04-27T13:36:32Z</vt:lpwstr>
  </property>
  <property fmtid="{D5CDD505-2E9C-101B-9397-08002B2CF9AE}" pid="4" name="MSIP_Label_6a7d8d5d-78e2-4a62-9fcd-016eb5e4c57c_Method">
    <vt:lpwstr>Standard</vt:lpwstr>
  </property>
  <property fmtid="{D5CDD505-2E9C-101B-9397-08002B2CF9AE}" pid="5" name="MSIP_Label_6a7d8d5d-78e2-4a62-9fcd-016eb5e4c57c_Name">
    <vt:lpwstr>Général</vt:lpwstr>
  </property>
  <property fmtid="{D5CDD505-2E9C-101B-9397-08002B2CF9AE}" pid="6" name="MSIP_Label_6a7d8d5d-78e2-4a62-9fcd-016eb5e4c57c_SiteId">
    <vt:lpwstr>06e1fe28-5f8b-4075-bf6c-ae24be1a7992</vt:lpwstr>
  </property>
  <property fmtid="{D5CDD505-2E9C-101B-9397-08002B2CF9AE}" pid="7" name="MSIP_Label_6a7d8d5d-78e2-4a62-9fcd-016eb5e4c57c_ActionId">
    <vt:lpwstr>ab765e65-c898-415d-8c6a-cf731778b240</vt:lpwstr>
  </property>
  <property fmtid="{D5CDD505-2E9C-101B-9397-08002B2CF9AE}" pid="8" name="MSIP_Label_6a7d8d5d-78e2-4a62-9fcd-016eb5e4c57c_ContentBits">
    <vt:lpwstr>0</vt:lpwstr>
  </property>
  <property fmtid="{D5CDD505-2E9C-101B-9397-08002B2CF9AE}" pid="9" name="MSIP_Label_6a7d8d5d-78e2-4a62-9fcd-016eb5e4c57c_Tag">
    <vt:lpwstr>50, 3, 0, 1</vt:lpwstr>
  </property>
  <property fmtid="{D5CDD505-2E9C-101B-9397-08002B2CF9AE}" pid="10" name="ContentTypeId">
    <vt:lpwstr>0x0101009F8066646054FA44B64BA3F261D01FFA</vt:lpwstr>
  </property>
</Properties>
</file>