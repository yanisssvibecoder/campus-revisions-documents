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57" r:id="rId5"/>
    <p:sldId id="348" r:id="rId6"/>
    <p:sldId id="382" r:id="rId7"/>
    <p:sldId id="328" r:id="rId8"/>
    <p:sldId id="571" r:id="rId9"/>
    <p:sldId id="313" r:id="rId10"/>
    <p:sldId id="335" r:id="rId11"/>
    <p:sldId id="377" r:id="rId12"/>
    <p:sldId id="422" r:id="rId13"/>
    <p:sldId id="577" r:id="rId14"/>
    <p:sldId id="581" r:id="rId15"/>
    <p:sldId id="580" r:id="rId16"/>
    <p:sldId id="336" r:id="rId17"/>
    <p:sldId id="578" r:id="rId18"/>
    <p:sldId id="385" r:id="rId19"/>
    <p:sldId id="565" r:id="rId20"/>
    <p:sldId id="582" r:id="rId21"/>
    <p:sldId id="366" r:id="rId22"/>
    <p:sldId id="345" r:id="rId23"/>
    <p:sldId id="360" r:id="rId24"/>
    <p:sldId id="346" r:id="rId25"/>
    <p:sldId id="339" r:id="rId26"/>
    <p:sldId id="569" r:id="rId27"/>
    <p:sldId id="359" r:id="rId28"/>
    <p:sldId id="379" r:id="rId29"/>
    <p:sldId id="354" r:id="rId30"/>
    <p:sldId id="395" r:id="rId31"/>
  </p:sldIdLst>
  <p:sldSz cx="10160000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ronique poirier" initials="vp" lastIdx="1" clrIdx="0">
    <p:extLst>
      <p:ext uri="{19B8F6BF-5375-455C-9EA6-DF929625EA0E}">
        <p15:presenceInfo xmlns:p15="http://schemas.microsoft.com/office/powerpoint/2012/main" userId="S::veronique.poirier@hec.ca::f47eddeb-fe18-424a-aaf6-a2a397d1abf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 autoAdjust="0"/>
    <p:restoredTop sz="90283" autoAdjust="0"/>
  </p:normalViewPr>
  <p:slideViewPr>
    <p:cSldViewPr snapToGrid="0" snapToObjects="1" showGuides="1">
      <p:cViewPr varScale="1">
        <p:scale>
          <a:sx n="123" d="100"/>
          <a:sy n="123" d="100"/>
        </p:scale>
        <p:origin x="660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ire Poitras" userId="e8718bf4-9404-4a5b-b757-f555a9335c73" providerId="ADAL" clId="{E8542E02-8AD6-4C01-9AE4-1223AE7E8D92}"/>
    <pc:docChg chg="custSel modSld">
      <pc:chgData name="Claire Poitras" userId="e8718bf4-9404-4a5b-b757-f555a9335c73" providerId="ADAL" clId="{E8542E02-8AD6-4C01-9AE4-1223AE7E8D92}" dt="2024-06-19T13:15:37.770" v="1" actId="20577"/>
      <pc:docMkLst>
        <pc:docMk/>
      </pc:docMkLst>
      <pc:sldChg chg="modSp mod">
        <pc:chgData name="Claire Poitras" userId="e8718bf4-9404-4a5b-b757-f555a9335c73" providerId="ADAL" clId="{E8542E02-8AD6-4C01-9AE4-1223AE7E8D92}" dt="2024-06-19T13:15:37.770" v="1" actId="20577"/>
        <pc:sldMkLst>
          <pc:docMk/>
          <pc:sldMk cId="1857756970" sldId="257"/>
        </pc:sldMkLst>
        <pc:spChg chg="mod">
          <ac:chgData name="Claire Poitras" userId="e8718bf4-9404-4a5b-b757-f555a9335c73" providerId="ADAL" clId="{E8542E02-8AD6-4C01-9AE4-1223AE7E8D92}" dt="2024-06-19T13:15:37.770" v="1" actId="20577"/>
          <ac:spMkLst>
            <pc:docMk/>
            <pc:sldMk cId="1857756970" sldId="257"/>
            <ac:spMk id="5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6" Type="http://schemas.openxmlformats.org/officeDocument/2006/relationships/image" Target="../media/image29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6" Type="http://schemas.openxmlformats.org/officeDocument/2006/relationships/image" Target="../media/image29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18DE67-B327-4961-BC93-2CBB747F9E44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0CDDA0F-921C-4811-8159-E3CBDA111EB9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Temps de cycle</a:t>
          </a:r>
          <a:endParaRPr lang="en-US" dirty="0"/>
        </a:p>
      </dgm:t>
    </dgm:pt>
    <dgm:pt modelId="{AA054D69-9415-43E3-94DD-20C4B04DB8FF}" type="parTrans" cxnId="{9A09D2C3-5059-43F3-BF19-585F0E7C7C8F}">
      <dgm:prSet/>
      <dgm:spPr/>
      <dgm:t>
        <a:bodyPr/>
        <a:lstStyle/>
        <a:p>
          <a:endParaRPr lang="en-US"/>
        </a:p>
      </dgm:t>
    </dgm:pt>
    <dgm:pt modelId="{41759DF7-D9FD-471F-A8C3-BD317AE1087B}" type="sibTrans" cxnId="{9A09D2C3-5059-43F3-BF19-585F0E7C7C8F}">
      <dgm:prSet/>
      <dgm:spPr/>
      <dgm:t>
        <a:bodyPr/>
        <a:lstStyle/>
        <a:p>
          <a:endParaRPr lang="en-US"/>
        </a:p>
      </dgm:t>
    </dgm:pt>
    <dgm:pt modelId="{86C4BE7E-A6E6-4226-80B7-26B28A3B63D9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Cadence d’un poste de travail</a:t>
          </a:r>
          <a:endParaRPr lang="en-US" dirty="0"/>
        </a:p>
      </dgm:t>
    </dgm:pt>
    <dgm:pt modelId="{A70FB892-AC11-4A65-B8EE-981CACD6E065}" type="parTrans" cxnId="{6DE1D800-C333-4062-9A64-4850EB0D073F}">
      <dgm:prSet/>
      <dgm:spPr/>
      <dgm:t>
        <a:bodyPr/>
        <a:lstStyle/>
        <a:p>
          <a:endParaRPr lang="en-US"/>
        </a:p>
      </dgm:t>
    </dgm:pt>
    <dgm:pt modelId="{65F4550D-29DC-4A64-AF66-1786152E31DF}" type="sibTrans" cxnId="{6DE1D800-C333-4062-9A64-4850EB0D073F}">
      <dgm:prSet/>
      <dgm:spPr/>
      <dgm:t>
        <a:bodyPr/>
        <a:lstStyle/>
        <a:p>
          <a:endParaRPr lang="en-US"/>
        </a:p>
      </dgm:t>
    </dgm:pt>
    <dgm:pt modelId="{77EC144A-7E42-4CC2-9F5B-79DCB99DD6D5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Goulot d’étranglement</a:t>
          </a:r>
        </a:p>
      </dgm:t>
    </dgm:pt>
    <dgm:pt modelId="{2F44E0CA-B944-4321-86AB-204300B280DC}" type="parTrans" cxnId="{DCC20EE8-30C5-487D-B3A2-6D617EF47320}">
      <dgm:prSet/>
      <dgm:spPr/>
      <dgm:t>
        <a:bodyPr/>
        <a:lstStyle/>
        <a:p>
          <a:endParaRPr lang="en-US"/>
        </a:p>
      </dgm:t>
    </dgm:pt>
    <dgm:pt modelId="{A7FCEF26-81F8-4E97-A2FD-D66B67F2E3D4}" type="sibTrans" cxnId="{DCC20EE8-30C5-487D-B3A2-6D617EF47320}">
      <dgm:prSet/>
      <dgm:spPr/>
      <dgm:t>
        <a:bodyPr/>
        <a:lstStyle/>
        <a:p>
          <a:endParaRPr lang="en-US"/>
        </a:p>
      </dgm:t>
    </dgm:pt>
    <dgm:pt modelId="{A2CAC292-8E1E-4B1A-A32A-B56FD6EB835F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Processus séquentiel vs parallèle</a:t>
          </a:r>
        </a:p>
      </dgm:t>
    </dgm:pt>
    <dgm:pt modelId="{021083F9-9572-4083-BC8F-C803DF1E421B}" type="parTrans" cxnId="{D47BFD7D-B5A5-4491-B35D-77E1A726D9B9}">
      <dgm:prSet/>
      <dgm:spPr/>
      <dgm:t>
        <a:bodyPr/>
        <a:lstStyle/>
        <a:p>
          <a:endParaRPr lang="en-US"/>
        </a:p>
      </dgm:t>
    </dgm:pt>
    <dgm:pt modelId="{564A12C0-6A0E-43D5-9EF6-A33742129CD5}" type="sibTrans" cxnId="{D47BFD7D-B5A5-4491-B35D-77E1A726D9B9}">
      <dgm:prSet/>
      <dgm:spPr/>
      <dgm:t>
        <a:bodyPr/>
        <a:lstStyle/>
        <a:p>
          <a:endParaRPr lang="en-US"/>
        </a:p>
      </dgm:t>
    </dgm:pt>
    <dgm:pt modelId="{39052F5D-340E-4A14-B9F9-7E6C812BC538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Cadence et capacité d’un processus</a:t>
          </a:r>
        </a:p>
      </dgm:t>
    </dgm:pt>
    <dgm:pt modelId="{0500D250-A327-4BFA-9D63-9E42013DEE01}" type="parTrans" cxnId="{3E91E3FD-6FA8-4809-B8E4-26C74479B78E}">
      <dgm:prSet/>
      <dgm:spPr/>
      <dgm:t>
        <a:bodyPr/>
        <a:lstStyle/>
        <a:p>
          <a:endParaRPr lang="en-US"/>
        </a:p>
      </dgm:t>
    </dgm:pt>
    <dgm:pt modelId="{063223AD-980B-4B5A-8986-6D24A10B6D15}" type="sibTrans" cxnId="{3E91E3FD-6FA8-4809-B8E4-26C74479B78E}">
      <dgm:prSet/>
      <dgm:spPr/>
      <dgm:t>
        <a:bodyPr/>
        <a:lstStyle/>
        <a:p>
          <a:endParaRPr lang="en-US"/>
        </a:p>
      </dgm:t>
    </dgm:pt>
    <dgm:pt modelId="{E40BE727-F6EB-4367-A263-8E34A2DC7287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Taux d’utilisation d’un poste de travail</a:t>
          </a:r>
        </a:p>
      </dgm:t>
    </dgm:pt>
    <dgm:pt modelId="{A23BEC30-5CED-401D-9AEE-D5C32E05A925}" type="parTrans" cxnId="{4B8AC45B-495B-4DDE-A43B-8939155DE61D}">
      <dgm:prSet/>
      <dgm:spPr/>
      <dgm:t>
        <a:bodyPr/>
        <a:lstStyle/>
        <a:p>
          <a:endParaRPr lang="en-US"/>
        </a:p>
      </dgm:t>
    </dgm:pt>
    <dgm:pt modelId="{CCAA99C3-D660-4505-8C69-BB4AB8282F84}" type="sibTrans" cxnId="{4B8AC45B-495B-4DDE-A43B-8939155DE61D}">
      <dgm:prSet/>
      <dgm:spPr/>
      <dgm:t>
        <a:bodyPr/>
        <a:lstStyle/>
        <a:p>
          <a:endParaRPr lang="en-US"/>
        </a:p>
      </dgm:t>
    </dgm:pt>
    <dgm:pt modelId="{88E28A01-1070-4FD8-AD8A-3A878871455B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Taux d’utilisation d’un employé</a:t>
          </a:r>
        </a:p>
      </dgm:t>
    </dgm:pt>
    <dgm:pt modelId="{4FA4AD4A-0F41-449C-B494-84B6DE25210F}" type="parTrans" cxnId="{55DB3BC7-EDBB-43FB-9C0D-A47EC7FF2E4F}">
      <dgm:prSet/>
      <dgm:spPr/>
      <dgm:t>
        <a:bodyPr/>
        <a:lstStyle/>
        <a:p>
          <a:endParaRPr lang="en-US"/>
        </a:p>
      </dgm:t>
    </dgm:pt>
    <dgm:pt modelId="{D2080D9D-51FC-4162-96A2-9F32C9BB57B8}" type="sibTrans" cxnId="{55DB3BC7-EDBB-43FB-9C0D-A47EC7FF2E4F}">
      <dgm:prSet/>
      <dgm:spPr/>
      <dgm:t>
        <a:bodyPr/>
        <a:lstStyle/>
        <a:p>
          <a:endParaRPr lang="en-US"/>
        </a:p>
      </dgm:t>
    </dgm:pt>
    <dgm:pt modelId="{D0E7989F-23BB-4FEE-84F4-EA40ABF8CDFE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fr-CA" noProof="0" dirty="0"/>
            <a:t>Amélioration des processus</a:t>
          </a:r>
          <a:r>
            <a:rPr lang="fr-CA" b="1" noProof="0" dirty="0"/>
            <a:t>		</a:t>
          </a:r>
          <a:endParaRPr lang="fr-CA" noProof="0" dirty="0"/>
        </a:p>
      </dgm:t>
    </dgm:pt>
    <dgm:pt modelId="{67EDA5CB-692D-4413-A9AC-F79D30C2FAC1}" type="parTrans" cxnId="{5681670D-0A6F-4EAA-8081-BA983B832714}">
      <dgm:prSet/>
      <dgm:spPr/>
      <dgm:t>
        <a:bodyPr/>
        <a:lstStyle/>
        <a:p>
          <a:endParaRPr lang="en-US"/>
        </a:p>
      </dgm:t>
    </dgm:pt>
    <dgm:pt modelId="{084B3E9A-919A-453A-AD04-C494F58FBEFB}" type="sibTrans" cxnId="{5681670D-0A6F-4EAA-8081-BA983B832714}">
      <dgm:prSet/>
      <dgm:spPr/>
      <dgm:t>
        <a:bodyPr/>
        <a:lstStyle/>
        <a:p>
          <a:endParaRPr lang="en-US"/>
        </a:p>
      </dgm:t>
    </dgm:pt>
    <dgm:pt modelId="{30B8E35A-3239-4834-9C41-9511CEE46D4F}" type="pres">
      <dgm:prSet presAssocID="{6918DE67-B327-4961-BC93-2CBB747F9E44}" presName="root" presStyleCnt="0">
        <dgm:presLayoutVars>
          <dgm:dir/>
          <dgm:resizeHandles val="exact"/>
        </dgm:presLayoutVars>
      </dgm:prSet>
      <dgm:spPr/>
    </dgm:pt>
    <dgm:pt modelId="{B0415974-47E2-43CF-BEAC-11403DCFE4E2}" type="pres">
      <dgm:prSet presAssocID="{30CDDA0F-921C-4811-8159-E3CBDA111EB9}" presName="compNode" presStyleCnt="0"/>
      <dgm:spPr/>
    </dgm:pt>
    <dgm:pt modelId="{5C88BEA4-7A2A-4618-87C4-E724CCE6452A}" type="pres">
      <dgm:prSet presAssocID="{30CDDA0F-921C-4811-8159-E3CBDA111EB9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ronomètre"/>
        </a:ext>
      </dgm:extLst>
    </dgm:pt>
    <dgm:pt modelId="{BD6CCFBA-D030-4C75-82DB-8F9C065A89D5}" type="pres">
      <dgm:prSet presAssocID="{30CDDA0F-921C-4811-8159-E3CBDA111EB9}" presName="spaceRect" presStyleCnt="0"/>
      <dgm:spPr/>
    </dgm:pt>
    <dgm:pt modelId="{E603BD40-7179-4FF3-B5C8-9D7570F0C74F}" type="pres">
      <dgm:prSet presAssocID="{30CDDA0F-921C-4811-8159-E3CBDA111EB9}" presName="textRect" presStyleLbl="revTx" presStyleIdx="0" presStyleCnt="8" custLinFactNeighborY="21456">
        <dgm:presLayoutVars>
          <dgm:chMax val="1"/>
          <dgm:chPref val="1"/>
        </dgm:presLayoutVars>
      </dgm:prSet>
      <dgm:spPr/>
    </dgm:pt>
    <dgm:pt modelId="{D94D5235-486C-462C-9D0A-94845F610BF2}" type="pres">
      <dgm:prSet presAssocID="{41759DF7-D9FD-471F-A8C3-BD317AE1087B}" presName="sibTrans" presStyleCnt="0"/>
      <dgm:spPr/>
    </dgm:pt>
    <dgm:pt modelId="{B5B7561C-43AB-42F2-9BF3-58A82A592609}" type="pres">
      <dgm:prSet presAssocID="{86C4BE7E-A6E6-4226-80B7-26B28A3B63D9}" presName="compNode" presStyleCnt="0"/>
      <dgm:spPr/>
    </dgm:pt>
    <dgm:pt modelId="{F0B53779-990A-4285-89A8-59D487F2DE3A}" type="pres">
      <dgm:prSet presAssocID="{86C4BE7E-A6E6-4226-80B7-26B28A3B63D9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8EA3D24B-7E1A-4233-A9A6-11561BED008B}" type="pres">
      <dgm:prSet presAssocID="{86C4BE7E-A6E6-4226-80B7-26B28A3B63D9}" presName="spaceRect" presStyleCnt="0"/>
      <dgm:spPr/>
    </dgm:pt>
    <dgm:pt modelId="{61E3EE3E-BB43-4284-871C-122042955069}" type="pres">
      <dgm:prSet presAssocID="{86C4BE7E-A6E6-4226-80B7-26B28A3B63D9}" presName="textRect" presStyleLbl="revTx" presStyleIdx="1" presStyleCnt="8" custLinFactNeighborY="21456">
        <dgm:presLayoutVars>
          <dgm:chMax val="1"/>
          <dgm:chPref val="1"/>
        </dgm:presLayoutVars>
      </dgm:prSet>
      <dgm:spPr/>
    </dgm:pt>
    <dgm:pt modelId="{244920E8-AB89-4F97-98D1-BB978B40C617}" type="pres">
      <dgm:prSet presAssocID="{65F4550D-29DC-4A64-AF66-1786152E31DF}" presName="sibTrans" presStyleCnt="0"/>
      <dgm:spPr/>
    </dgm:pt>
    <dgm:pt modelId="{F64A215F-B951-4B4D-8D61-2D185BEC030D}" type="pres">
      <dgm:prSet presAssocID="{77EC144A-7E42-4CC2-9F5B-79DCB99DD6D5}" presName="compNode" presStyleCnt="0"/>
      <dgm:spPr/>
    </dgm:pt>
    <dgm:pt modelId="{D3B503A6-C50C-4DBC-8F4C-3EABADC15F30}" type="pres">
      <dgm:prSet presAssocID="{77EC144A-7E42-4CC2-9F5B-79DCB99DD6D5}" presName="iconRect" presStyleLbl="node1" presStyleIdx="2" presStyleCnt="8" custLinFactX="100000" custLinFactNeighborX="150354" custLinFactNeighborY="155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41E6003C-B6CC-4F61-95EE-690C5A2089D5}" type="pres">
      <dgm:prSet presAssocID="{77EC144A-7E42-4CC2-9F5B-79DCB99DD6D5}" presName="spaceRect" presStyleCnt="0"/>
      <dgm:spPr/>
    </dgm:pt>
    <dgm:pt modelId="{41DDD8A6-8141-4B73-943A-5DA40A73DEE5}" type="pres">
      <dgm:prSet presAssocID="{77EC144A-7E42-4CC2-9F5B-79DCB99DD6D5}" presName="textRect" presStyleLbl="revTx" presStyleIdx="2" presStyleCnt="8" custLinFactNeighborY="21456">
        <dgm:presLayoutVars>
          <dgm:chMax val="1"/>
          <dgm:chPref val="1"/>
        </dgm:presLayoutVars>
      </dgm:prSet>
      <dgm:spPr/>
    </dgm:pt>
    <dgm:pt modelId="{07DA49CB-F560-4138-BF65-16E03A9D5523}" type="pres">
      <dgm:prSet presAssocID="{A7FCEF26-81F8-4E97-A2FD-D66B67F2E3D4}" presName="sibTrans" presStyleCnt="0"/>
      <dgm:spPr/>
    </dgm:pt>
    <dgm:pt modelId="{382BAD5B-DEDE-4E40-9A08-2A4C70963324}" type="pres">
      <dgm:prSet presAssocID="{A2CAC292-8E1E-4B1A-A32A-B56FD6EB835F}" presName="compNode" presStyleCnt="0"/>
      <dgm:spPr/>
    </dgm:pt>
    <dgm:pt modelId="{9A67A61D-73E0-4014-9A8E-4D545F9BE3EE}" type="pres">
      <dgm:prSet presAssocID="{A2CAC292-8E1E-4B1A-A32A-B56FD6EB835F}" presName="iconRect" presStyleLbl="node1" presStyleIdx="3" presStyleCnt="8" custLinFactX="-100000" custLinFactNeighborX="-158749" custLinFactNeighborY="142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2C846769-8BE6-4D97-A268-75D2F8DF1485}" type="pres">
      <dgm:prSet presAssocID="{A2CAC292-8E1E-4B1A-A32A-B56FD6EB835F}" presName="spaceRect" presStyleCnt="0"/>
      <dgm:spPr/>
    </dgm:pt>
    <dgm:pt modelId="{9EFFDC2D-E173-46C0-9C34-FD098622BD59}" type="pres">
      <dgm:prSet presAssocID="{A2CAC292-8E1E-4B1A-A32A-B56FD6EB835F}" presName="textRect" presStyleLbl="revTx" presStyleIdx="3" presStyleCnt="8" custLinFactNeighborY="21456">
        <dgm:presLayoutVars>
          <dgm:chMax val="1"/>
          <dgm:chPref val="1"/>
        </dgm:presLayoutVars>
      </dgm:prSet>
      <dgm:spPr/>
    </dgm:pt>
    <dgm:pt modelId="{EDA70654-EF57-4342-A1FF-0B20F4125D4B}" type="pres">
      <dgm:prSet presAssocID="{564A12C0-6A0E-43D5-9EF6-A33742129CD5}" presName="sibTrans" presStyleCnt="0"/>
      <dgm:spPr/>
    </dgm:pt>
    <dgm:pt modelId="{334D7D53-08DD-453C-A1FD-9086450CE4C5}" type="pres">
      <dgm:prSet presAssocID="{39052F5D-340E-4A14-B9F9-7E6C812BC538}" presName="compNode" presStyleCnt="0"/>
      <dgm:spPr/>
    </dgm:pt>
    <dgm:pt modelId="{F94662F5-627C-46A0-B313-6AF537B354FF}" type="pres">
      <dgm:prSet presAssocID="{39052F5D-340E-4A14-B9F9-7E6C812BC538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ine"/>
        </a:ext>
      </dgm:extLst>
    </dgm:pt>
    <dgm:pt modelId="{7170A87C-CB22-4B01-ADAE-A1CB91A89489}" type="pres">
      <dgm:prSet presAssocID="{39052F5D-340E-4A14-B9F9-7E6C812BC538}" presName="spaceRect" presStyleCnt="0"/>
      <dgm:spPr/>
    </dgm:pt>
    <dgm:pt modelId="{58F285C5-F71D-4BDC-8821-C84435497C00}" type="pres">
      <dgm:prSet presAssocID="{39052F5D-340E-4A14-B9F9-7E6C812BC538}" presName="textRect" presStyleLbl="revTx" presStyleIdx="4" presStyleCnt="8" custLinFactNeighborY="21456">
        <dgm:presLayoutVars>
          <dgm:chMax val="1"/>
          <dgm:chPref val="1"/>
        </dgm:presLayoutVars>
      </dgm:prSet>
      <dgm:spPr/>
    </dgm:pt>
    <dgm:pt modelId="{78D66FF7-EAE9-483A-901B-675D41A96C13}" type="pres">
      <dgm:prSet presAssocID="{063223AD-980B-4B5A-8986-6D24A10B6D15}" presName="sibTrans" presStyleCnt="0"/>
      <dgm:spPr/>
    </dgm:pt>
    <dgm:pt modelId="{B06EB046-407C-4E17-9970-E1503C01E436}" type="pres">
      <dgm:prSet presAssocID="{E40BE727-F6EB-4367-A263-8E34A2DC7287}" presName="compNode" presStyleCnt="0"/>
      <dgm:spPr/>
    </dgm:pt>
    <dgm:pt modelId="{25D6298F-A94E-41A1-8DEB-1CA68CC015D6}" type="pres">
      <dgm:prSet presAssocID="{E40BE727-F6EB-4367-A263-8E34A2DC7287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uge"/>
        </a:ext>
      </dgm:extLst>
    </dgm:pt>
    <dgm:pt modelId="{FFF376D4-841D-4E45-8810-D401EF610896}" type="pres">
      <dgm:prSet presAssocID="{E40BE727-F6EB-4367-A263-8E34A2DC7287}" presName="spaceRect" presStyleCnt="0"/>
      <dgm:spPr/>
    </dgm:pt>
    <dgm:pt modelId="{D90F6FD7-0F4A-4336-9643-36FA58316BDF}" type="pres">
      <dgm:prSet presAssocID="{E40BE727-F6EB-4367-A263-8E34A2DC7287}" presName="textRect" presStyleLbl="revTx" presStyleIdx="5" presStyleCnt="8" custLinFactNeighborX="572" custLinFactNeighborY="20026">
        <dgm:presLayoutVars>
          <dgm:chMax val="1"/>
          <dgm:chPref val="1"/>
        </dgm:presLayoutVars>
      </dgm:prSet>
      <dgm:spPr/>
    </dgm:pt>
    <dgm:pt modelId="{BD8E7E3B-A5CE-4868-8D2D-D5544E744D56}" type="pres">
      <dgm:prSet presAssocID="{CCAA99C3-D660-4505-8C69-BB4AB8282F84}" presName="sibTrans" presStyleCnt="0"/>
      <dgm:spPr/>
    </dgm:pt>
    <dgm:pt modelId="{0BA3C534-4713-4671-96A5-59BCB2519909}" type="pres">
      <dgm:prSet presAssocID="{88E28A01-1070-4FD8-AD8A-3A878871455B}" presName="compNode" presStyleCnt="0"/>
      <dgm:spPr/>
    </dgm:pt>
    <dgm:pt modelId="{E4D179B1-2C94-49C1-ABF0-BF6A3B4363FA}" type="pres">
      <dgm:prSet presAssocID="{88E28A01-1070-4FD8-AD8A-3A878871455B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18EECB8-1FCC-43AB-A5AB-352A40CF43F3}" type="pres">
      <dgm:prSet presAssocID="{88E28A01-1070-4FD8-AD8A-3A878871455B}" presName="spaceRect" presStyleCnt="0"/>
      <dgm:spPr/>
    </dgm:pt>
    <dgm:pt modelId="{E136BAC0-1D2F-4401-895D-4A2E9230BCF8}" type="pres">
      <dgm:prSet presAssocID="{88E28A01-1070-4FD8-AD8A-3A878871455B}" presName="textRect" presStyleLbl="revTx" presStyleIdx="6" presStyleCnt="8" custLinFactNeighborX="572" custLinFactNeighborY="20026">
        <dgm:presLayoutVars>
          <dgm:chMax val="1"/>
          <dgm:chPref val="1"/>
        </dgm:presLayoutVars>
      </dgm:prSet>
      <dgm:spPr/>
    </dgm:pt>
    <dgm:pt modelId="{41866525-C430-4A70-831B-6A7356F314D1}" type="pres">
      <dgm:prSet presAssocID="{D2080D9D-51FC-4162-96A2-9F32C9BB57B8}" presName="sibTrans" presStyleCnt="0"/>
      <dgm:spPr/>
    </dgm:pt>
    <dgm:pt modelId="{6F931594-EE6B-4E10-95EB-FD539E441AB9}" type="pres">
      <dgm:prSet presAssocID="{D0E7989F-23BB-4FEE-84F4-EA40ABF8CDFE}" presName="compNode" presStyleCnt="0"/>
      <dgm:spPr/>
    </dgm:pt>
    <dgm:pt modelId="{04A09AF8-2913-4D38-A28A-12E32874E3C9}" type="pres">
      <dgm:prSet presAssocID="{D0E7989F-23BB-4FEE-84F4-EA40ABF8CDFE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péter"/>
        </a:ext>
      </dgm:extLst>
    </dgm:pt>
    <dgm:pt modelId="{339D9F28-9320-42E2-9005-64B15CF47A23}" type="pres">
      <dgm:prSet presAssocID="{D0E7989F-23BB-4FEE-84F4-EA40ABF8CDFE}" presName="spaceRect" presStyleCnt="0"/>
      <dgm:spPr/>
    </dgm:pt>
    <dgm:pt modelId="{C1E105FC-E825-4842-AE3B-AD489BF96B30}" type="pres">
      <dgm:prSet presAssocID="{D0E7989F-23BB-4FEE-84F4-EA40ABF8CDFE}" presName="textRect" presStyleLbl="revTx" presStyleIdx="7" presStyleCnt="8" custLinFactNeighborX="572" custLinFactNeighborY="20026">
        <dgm:presLayoutVars>
          <dgm:chMax val="1"/>
          <dgm:chPref val="1"/>
        </dgm:presLayoutVars>
      </dgm:prSet>
      <dgm:spPr/>
    </dgm:pt>
  </dgm:ptLst>
  <dgm:cxnLst>
    <dgm:cxn modelId="{6DE1D800-C333-4062-9A64-4850EB0D073F}" srcId="{6918DE67-B327-4961-BC93-2CBB747F9E44}" destId="{86C4BE7E-A6E6-4226-80B7-26B28A3B63D9}" srcOrd="1" destOrd="0" parTransId="{A70FB892-AC11-4A65-B8EE-981CACD6E065}" sibTransId="{65F4550D-29DC-4A64-AF66-1786152E31DF}"/>
    <dgm:cxn modelId="{5681670D-0A6F-4EAA-8081-BA983B832714}" srcId="{6918DE67-B327-4961-BC93-2CBB747F9E44}" destId="{D0E7989F-23BB-4FEE-84F4-EA40ABF8CDFE}" srcOrd="7" destOrd="0" parTransId="{67EDA5CB-692D-4413-A9AC-F79D30C2FAC1}" sibTransId="{084B3E9A-919A-453A-AD04-C494F58FBEFB}"/>
    <dgm:cxn modelId="{C7F27D0F-2100-4F55-A90E-7837DBB7A5A5}" type="presOf" srcId="{D0E7989F-23BB-4FEE-84F4-EA40ABF8CDFE}" destId="{C1E105FC-E825-4842-AE3B-AD489BF96B30}" srcOrd="0" destOrd="0" presId="urn:microsoft.com/office/officeart/2018/2/layout/IconLabelList"/>
    <dgm:cxn modelId="{75C8E92E-975B-47DB-A67F-EBD544606E80}" type="presOf" srcId="{E40BE727-F6EB-4367-A263-8E34A2DC7287}" destId="{D90F6FD7-0F4A-4336-9643-36FA58316BDF}" srcOrd="0" destOrd="0" presId="urn:microsoft.com/office/officeart/2018/2/layout/IconLabelList"/>
    <dgm:cxn modelId="{4B8AC45B-495B-4DDE-A43B-8939155DE61D}" srcId="{6918DE67-B327-4961-BC93-2CBB747F9E44}" destId="{E40BE727-F6EB-4367-A263-8E34A2DC7287}" srcOrd="5" destOrd="0" parTransId="{A23BEC30-5CED-401D-9AEE-D5C32E05A925}" sibTransId="{CCAA99C3-D660-4505-8C69-BB4AB8282F84}"/>
    <dgm:cxn modelId="{6B757078-76F9-4057-8D37-CA3A990E9C70}" type="presOf" srcId="{86C4BE7E-A6E6-4226-80B7-26B28A3B63D9}" destId="{61E3EE3E-BB43-4284-871C-122042955069}" srcOrd="0" destOrd="0" presId="urn:microsoft.com/office/officeart/2018/2/layout/IconLabelList"/>
    <dgm:cxn modelId="{649E2B79-9183-4B74-A4FB-2FEF211687DF}" type="presOf" srcId="{A2CAC292-8E1E-4B1A-A32A-B56FD6EB835F}" destId="{9EFFDC2D-E173-46C0-9C34-FD098622BD59}" srcOrd="0" destOrd="0" presId="urn:microsoft.com/office/officeart/2018/2/layout/IconLabelList"/>
    <dgm:cxn modelId="{C39ACC7B-0525-4B7F-8FAA-7281C599B5DE}" type="presOf" srcId="{88E28A01-1070-4FD8-AD8A-3A878871455B}" destId="{E136BAC0-1D2F-4401-895D-4A2E9230BCF8}" srcOrd="0" destOrd="0" presId="urn:microsoft.com/office/officeart/2018/2/layout/IconLabelList"/>
    <dgm:cxn modelId="{D47BFD7D-B5A5-4491-B35D-77E1A726D9B9}" srcId="{6918DE67-B327-4961-BC93-2CBB747F9E44}" destId="{A2CAC292-8E1E-4B1A-A32A-B56FD6EB835F}" srcOrd="3" destOrd="0" parTransId="{021083F9-9572-4083-BC8F-C803DF1E421B}" sibTransId="{564A12C0-6A0E-43D5-9EF6-A33742129CD5}"/>
    <dgm:cxn modelId="{B692428A-F6E4-4718-9FB4-07BDDEEB45B3}" type="presOf" srcId="{6918DE67-B327-4961-BC93-2CBB747F9E44}" destId="{30B8E35A-3239-4834-9C41-9511CEE46D4F}" srcOrd="0" destOrd="0" presId="urn:microsoft.com/office/officeart/2018/2/layout/IconLabelList"/>
    <dgm:cxn modelId="{1C7DF290-DE61-4A8E-B7FB-0080E3E05387}" type="presOf" srcId="{30CDDA0F-921C-4811-8159-E3CBDA111EB9}" destId="{E603BD40-7179-4FF3-B5C8-9D7570F0C74F}" srcOrd="0" destOrd="0" presId="urn:microsoft.com/office/officeart/2018/2/layout/IconLabelList"/>
    <dgm:cxn modelId="{D8E32EA7-49CF-44AD-8D9A-117C55FB33ED}" type="presOf" srcId="{77EC144A-7E42-4CC2-9F5B-79DCB99DD6D5}" destId="{41DDD8A6-8141-4B73-943A-5DA40A73DEE5}" srcOrd="0" destOrd="0" presId="urn:microsoft.com/office/officeart/2018/2/layout/IconLabelList"/>
    <dgm:cxn modelId="{6696B7A8-DEB7-4C29-A86C-B837FC2B942D}" type="presOf" srcId="{39052F5D-340E-4A14-B9F9-7E6C812BC538}" destId="{58F285C5-F71D-4BDC-8821-C84435497C00}" srcOrd="0" destOrd="0" presId="urn:microsoft.com/office/officeart/2018/2/layout/IconLabelList"/>
    <dgm:cxn modelId="{9A09D2C3-5059-43F3-BF19-585F0E7C7C8F}" srcId="{6918DE67-B327-4961-BC93-2CBB747F9E44}" destId="{30CDDA0F-921C-4811-8159-E3CBDA111EB9}" srcOrd="0" destOrd="0" parTransId="{AA054D69-9415-43E3-94DD-20C4B04DB8FF}" sibTransId="{41759DF7-D9FD-471F-A8C3-BD317AE1087B}"/>
    <dgm:cxn modelId="{55DB3BC7-EDBB-43FB-9C0D-A47EC7FF2E4F}" srcId="{6918DE67-B327-4961-BC93-2CBB747F9E44}" destId="{88E28A01-1070-4FD8-AD8A-3A878871455B}" srcOrd="6" destOrd="0" parTransId="{4FA4AD4A-0F41-449C-B494-84B6DE25210F}" sibTransId="{D2080D9D-51FC-4162-96A2-9F32C9BB57B8}"/>
    <dgm:cxn modelId="{DCC20EE8-30C5-487D-B3A2-6D617EF47320}" srcId="{6918DE67-B327-4961-BC93-2CBB747F9E44}" destId="{77EC144A-7E42-4CC2-9F5B-79DCB99DD6D5}" srcOrd="2" destOrd="0" parTransId="{2F44E0CA-B944-4321-86AB-204300B280DC}" sibTransId="{A7FCEF26-81F8-4E97-A2FD-D66B67F2E3D4}"/>
    <dgm:cxn modelId="{3E91E3FD-6FA8-4809-B8E4-26C74479B78E}" srcId="{6918DE67-B327-4961-BC93-2CBB747F9E44}" destId="{39052F5D-340E-4A14-B9F9-7E6C812BC538}" srcOrd="4" destOrd="0" parTransId="{0500D250-A327-4BFA-9D63-9E42013DEE01}" sibTransId="{063223AD-980B-4B5A-8986-6D24A10B6D15}"/>
    <dgm:cxn modelId="{29BF9C63-D248-419A-B44F-7EF89459AC60}" type="presParOf" srcId="{30B8E35A-3239-4834-9C41-9511CEE46D4F}" destId="{B0415974-47E2-43CF-BEAC-11403DCFE4E2}" srcOrd="0" destOrd="0" presId="urn:microsoft.com/office/officeart/2018/2/layout/IconLabelList"/>
    <dgm:cxn modelId="{EC70032E-406D-4DBA-90F5-68CD90C41633}" type="presParOf" srcId="{B0415974-47E2-43CF-BEAC-11403DCFE4E2}" destId="{5C88BEA4-7A2A-4618-87C4-E724CCE6452A}" srcOrd="0" destOrd="0" presId="urn:microsoft.com/office/officeart/2018/2/layout/IconLabelList"/>
    <dgm:cxn modelId="{A569F61C-5FB1-414F-B5CD-90D272A52D47}" type="presParOf" srcId="{B0415974-47E2-43CF-BEAC-11403DCFE4E2}" destId="{BD6CCFBA-D030-4C75-82DB-8F9C065A89D5}" srcOrd="1" destOrd="0" presId="urn:microsoft.com/office/officeart/2018/2/layout/IconLabelList"/>
    <dgm:cxn modelId="{260BA644-1013-4DA8-ACDE-4F1D6C8B5474}" type="presParOf" srcId="{B0415974-47E2-43CF-BEAC-11403DCFE4E2}" destId="{E603BD40-7179-4FF3-B5C8-9D7570F0C74F}" srcOrd="2" destOrd="0" presId="urn:microsoft.com/office/officeart/2018/2/layout/IconLabelList"/>
    <dgm:cxn modelId="{CF0A0825-99D6-4A23-A7C7-E78DBC3E4450}" type="presParOf" srcId="{30B8E35A-3239-4834-9C41-9511CEE46D4F}" destId="{D94D5235-486C-462C-9D0A-94845F610BF2}" srcOrd="1" destOrd="0" presId="urn:microsoft.com/office/officeart/2018/2/layout/IconLabelList"/>
    <dgm:cxn modelId="{2BAAAF18-0CB3-4997-8362-0C8AC39FD061}" type="presParOf" srcId="{30B8E35A-3239-4834-9C41-9511CEE46D4F}" destId="{B5B7561C-43AB-42F2-9BF3-58A82A592609}" srcOrd="2" destOrd="0" presId="urn:microsoft.com/office/officeart/2018/2/layout/IconLabelList"/>
    <dgm:cxn modelId="{35E638B1-3013-4A17-89F7-FCCBF0D05DFE}" type="presParOf" srcId="{B5B7561C-43AB-42F2-9BF3-58A82A592609}" destId="{F0B53779-990A-4285-89A8-59D487F2DE3A}" srcOrd="0" destOrd="0" presId="urn:microsoft.com/office/officeart/2018/2/layout/IconLabelList"/>
    <dgm:cxn modelId="{EA8374DF-1881-4933-8829-463494C5F17A}" type="presParOf" srcId="{B5B7561C-43AB-42F2-9BF3-58A82A592609}" destId="{8EA3D24B-7E1A-4233-A9A6-11561BED008B}" srcOrd="1" destOrd="0" presId="urn:microsoft.com/office/officeart/2018/2/layout/IconLabelList"/>
    <dgm:cxn modelId="{11E956A6-1681-426B-AFC0-BAEC491CC0AB}" type="presParOf" srcId="{B5B7561C-43AB-42F2-9BF3-58A82A592609}" destId="{61E3EE3E-BB43-4284-871C-122042955069}" srcOrd="2" destOrd="0" presId="urn:microsoft.com/office/officeart/2018/2/layout/IconLabelList"/>
    <dgm:cxn modelId="{6180F40A-189F-4687-9B92-F6C10A4ED58F}" type="presParOf" srcId="{30B8E35A-3239-4834-9C41-9511CEE46D4F}" destId="{244920E8-AB89-4F97-98D1-BB978B40C617}" srcOrd="3" destOrd="0" presId="urn:microsoft.com/office/officeart/2018/2/layout/IconLabelList"/>
    <dgm:cxn modelId="{0E796FCD-7AEE-420F-8B20-8C6D2654B2FF}" type="presParOf" srcId="{30B8E35A-3239-4834-9C41-9511CEE46D4F}" destId="{F64A215F-B951-4B4D-8D61-2D185BEC030D}" srcOrd="4" destOrd="0" presId="urn:microsoft.com/office/officeart/2018/2/layout/IconLabelList"/>
    <dgm:cxn modelId="{B9BC9498-8C84-4CED-B4A5-A30B7FD23F70}" type="presParOf" srcId="{F64A215F-B951-4B4D-8D61-2D185BEC030D}" destId="{D3B503A6-C50C-4DBC-8F4C-3EABADC15F30}" srcOrd="0" destOrd="0" presId="urn:microsoft.com/office/officeart/2018/2/layout/IconLabelList"/>
    <dgm:cxn modelId="{AA35FA39-4734-4294-B616-377B13D7525C}" type="presParOf" srcId="{F64A215F-B951-4B4D-8D61-2D185BEC030D}" destId="{41E6003C-B6CC-4F61-95EE-690C5A2089D5}" srcOrd="1" destOrd="0" presId="urn:microsoft.com/office/officeart/2018/2/layout/IconLabelList"/>
    <dgm:cxn modelId="{9687DC45-C8F4-44F1-9AE2-D3D6DCCA0303}" type="presParOf" srcId="{F64A215F-B951-4B4D-8D61-2D185BEC030D}" destId="{41DDD8A6-8141-4B73-943A-5DA40A73DEE5}" srcOrd="2" destOrd="0" presId="urn:microsoft.com/office/officeart/2018/2/layout/IconLabelList"/>
    <dgm:cxn modelId="{48D1F8EB-2968-4942-AF97-FF48004FF84E}" type="presParOf" srcId="{30B8E35A-3239-4834-9C41-9511CEE46D4F}" destId="{07DA49CB-F560-4138-BF65-16E03A9D5523}" srcOrd="5" destOrd="0" presId="urn:microsoft.com/office/officeart/2018/2/layout/IconLabelList"/>
    <dgm:cxn modelId="{2837CD6E-574F-452F-8AA9-52F771DC84D8}" type="presParOf" srcId="{30B8E35A-3239-4834-9C41-9511CEE46D4F}" destId="{382BAD5B-DEDE-4E40-9A08-2A4C70963324}" srcOrd="6" destOrd="0" presId="urn:microsoft.com/office/officeart/2018/2/layout/IconLabelList"/>
    <dgm:cxn modelId="{E14C7789-2F7F-465F-A153-323EA995493F}" type="presParOf" srcId="{382BAD5B-DEDE-4E40-9A08-2A4C70963324}" destId="{9A67A61D-73E0-4014-9A8E-4D545F9BE3EE}" srcOrd="0" destOrd="0" presId="urn:microsoft.com/office/officeart/2018/2/layout/IconLabelList"/>
    <dgm:cxn modelId="{2AEF94BD-F000-48F7-A919-C21454454199}" type="presParOf" srcId="{382BAD5B-DEDE-4E40-9A08-2A4C70963324}" destId="{2C846769-8BE6-4D97-A268-75D2F8DF1485}" srcOrd="1" destOrd="0" presId="urn:microsoft.com/office/officeart/2018/2/layout/IconLabelList"/>
    <dgm:cxn modelId="{667676AD-7574-45DC-B67F-2B68D623BEBC}" type="presParOf" srcId="{382BAD5B-DEDE-4E40-9A08-2A4C70963324}" destId="{9EFFDC2D-E173-46C0-9C34-FD098622BD59}" srcOrd="2" destOrd="0" presId="urn:microsoft.com/office/officeart/2018/2/layout/IconLabelList"/>
    <dgm:cxn modelId="{A55BE39E-CD3D-4900-B29F-83FDD6B68ECB}" type="presParOf" srcId="{30B8E35A-3239-4834-9C41-9511CEE46D4F}" destId="{EDA70654-EF57-4342-A1FF-0B20F4125D4B}" srcOrd="7" destOrd="0" presId="urn:microsoft.com/office/officeart/2018/2/layout/IconLabelList"/>
    <dgm:cxn modelId="{A1FBFF78-8A92-45F4-9FD7-46A1B0E3F720}" type="presParOf" srcId="{30B8E35A-3239-4834-9C41-9511CEE46D4F}" destId="{334D7D53-08DD-453C-A1FD-9086450CE4C5}" srcOrd="8" destOrd="0" presId="urn:microsoft.com/office/officeart/2018/2/layout/IconLabelList"/>
    <dgm:cxn modelId="{9337A289-0669-47F3-9910-2A88EADBD7EE}" type="presParOf" srcId="{334D7D53-08DD-453C-A1FD-9086450CE4C5}" destId="{F94662F5-627C-46A0-B313-6AF537B354FF}" srcOrd="0" destOrd="0" presId="urn:microsoft.com/office/officeart/2018/2/layout/IconLabelList"/>
    <dgm:cxn modelId="{B836C811-01B9-4A35-8A18-2D62E2DAB5CF}" type="presParOf" srcId="{334D7D53-08DD-453C-A1FD-9086450CE4C5}" destId="{7170A87C-CB22-4B01-ADAE-A1CB91A89489}" srcOrd="1" destOrd="0" presId="urn:microsoft.com/office/officeart/2018/2/layout/IconLabelList"/>
    <dgm:cxn modelId="{7144F34A-AEAB-49EE-B10B-1CDE275E4211}" type="presParOf" srcId="{334D7D53-08DD-453C-A1FD-9086450CE4C5}" destId="{58F285C5-F71D-4BDC-8821-C84435497C00}" srcOrd="2" destOrd="0" presId="urn:microsoft.com/office/officeart/2018/2/layout/IconLabelList"/>
    <dgm:cxn modelId="{54B51AE1-77E2-4BD5-B9A3-958A729C1DB5}" type="presParOf" srcId="{30B8E35A-3239-4834-9C41-9511CEE46D4F}" destId="{78D66FF7-EAE9-483A-901B-675D41A96C13}" srcOrd="9" destOrd="0" presId="urn:microsoft.com/office/officeart/2018/2/layout/IconLabelList"/>
    <dgm:cxn modelId="{AE0011D6-97C5-4A66-8049-155B0580909D}" type="presParOf" srcId="{30B8E35A-3239-4834-9C41-9511CEE46D4F}" destId="{B06EB046-407C-4E17-9970-E1503C01E436}" srcOrd="10" destOrd="0" presId="urn:microsoft.com/office/officeart/2018/2/layout/IconLabelList"/>
    <dgm:cxn modelId="{9DEFDA27-30D9-4705-BF07-CB245483C970}" type="presParOf" srcId="{B06EB046-407C-4E17-9970-E1503C01E436}" destId="{25D6298F-A94E-41A1-8DEB-1CA68CC015D6}" srcOrd="0" destOrd="0" presId="urn:microsoft.com/office/officeart/2018/2/layout/IconLabelList"/>
    <dgm:cxn modelId="{EBCCB13A-CCF5-40EB-BA1A-D67AC928CC73}" type="presParOf" srcId="{B06EB046-407C-4E17-9970-E1503C01E436}" destId="{FFF376D4-841D-4E45-8810-D401EF610896}" srcOrd="1" destOrd="0" presId="urn:microsoft.com/office/officeart/2018/2/layout/IconLabelList"/>
    <dgm:cxn modelId="{09FEC2A8-372E-465E-88A5-7F0CA0B4387E}" type="presParOf" srcId="{B06EB046-407C-4E17-9970-E1503C01E436}" destId="{D90F6FD7-0F4A-4336-9643-36FA58316BDF}" srcOrd="2" destOrd="0" presId="urn:microsoft.com/office/officeart/2018/2/layout/IconLabelList"/>
    <dgm:cxn modelId="{F4455C84-D256-4045-9C62-10880C242F78}" type="presParOf" srcId="{30B8E35A-3239-4834-9C41-9511CEE46D4F}" destId="{BD8E7E3B-A5CE-4868-8D2D-D5544E744D56}" srcOrd="11" destOrd="0" presId="urn:microsoft.com/office/officeart/2018/2/layout/IconLabelList"/>
    <dgm:cxn modelId="{73FA9E4F-E4A2-4D5F-9B8B-5652A77650E3}" type="presParOf" srcId="{30B8E35A-3239-4834-9C41-9511CEE46D4F}" destId="{0BA3C534-4713-4671-96A5-59BCB2519909}" srcOrd="12" destOrd="0" presId="urn:microsoft.com/office/officeart/2018/2/layout/IconLabelList"/>
    <dgm:cxn modelId="{76940498-6DE6-45B3-93D5-68C334DBDFB4}" type="presParOf" srcId="{0BA3C534-4713-4671-96A5-59BCB2519909}" destId="{E4D179B1-2C94-49C1-ABF0-BF6A3B4363FA}" srcOrd="0" destOrd="0" presId="urn:microsoft.com/office/officeart/2018/2/layout/IconLabelList"/>
    <dgm:cxn modelId="{5675660B-553B-4AC7-A6CC-0437D012A94B}" type="presParOf" srcId="{0BA3C534-4713-4671-96A5-59BCB2519909}" destId="{718EECB8-1FCC-43AB-A5AB-352A40CF43F3}" srcOrd="1" destOrd="0" presId="urn:microsoft.com/office/officeart/2018/2/layout/IconLabelList"/>
    <dgm:cxn modelId="{5E86CF96-ADB4-48FC-91B2-63D045FEEEBA}" type="presParOf" srcId="{0BA3C534-4713-4671-96A5-59BCB2519909}" destId="{E136BAC0-1D2F-4401-895D-4A2E9230BCF8}" srcOrd="2" destOrd="0" presId="urn:microsoft.com/office/officeart/2018/2/layout/IconLabelList"/>
    <dgm:cxn modelId="{83BE0BA4-10A3-45FA-8102-81432D2CB2C7}" type="presParOf" srcId="{30B8E35A-3239-4834-9C41-9511CEE46D4F}" destId="{41866525-C430-4A70-831B-6A7356F314D1}" srcOrd="13" destOrd="0" presId="urn:microsoft.com/office/officeart/2018/2/layout/IconLabelList"/>
    <dgm:cxn modelId="{7138B3D1-181F-4AD5-B3C9-321AA9B9C6BD}" type="presParOf" srcId="{30B8E35A-3239-4834-9C41-9511CEE46D4F}" destId="{6F931594-EE6B-4E10-95EB-FD539E441AB9}" srcOrd="14" destOrd="0" presId="urn:microsoft.com/office/officeart/2018/2/layout/IconLabelList"/>
    <dgm:cxn modelId="{0A18BB3C-607D-4F9C-BF56-AB2D74DF4F09}" type="presParOf" srcId="{6F931594-EE6B-4E10-95EB-FD539E441AB9}" destId="{04A09AF8-2913-4D38-A28A-12E32874E3C9}" srcOrd="0" destOrd="0" presId="urn:microsoft.com/office/officeart/2018/2/layout/IconLabelList"/>
    <dgm:cxn modelId="{C84EDBDE-654F-4DD7-B4B6-56A2041193E3}" type="presParOf" srcId="{6F931594-EE6B-4E10-95EB-FD539E441AB9}" destId="{339D9F28-9320-42E2-9005-64B15CF47A23}" srcOrd="1" destOrd="0" presId="urn:microsoft.com/office/officeart/2018/2/layout/IconLabelList"/>
    <dgm:cxn modelId="{527CB728-E9DC-4DC9-A67D-89C09C5325A8}" type="presParOf" srcId="{6F931594-EE6B-4E10-95EB-FD539E441AB9}" destId="{C1E105FC-E825-4842-AE3B-AD489BF96B3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8BEA4-7A2A-4618-87C4-E724CCE6452A}">
      <dsp:nvSpPr>
        <dsp:cNvPr id="0" name=""/>
        <dsp:cNvSpPr/>
      </dsp:nvSpPr>
      <dsp:spPr>
        <a:xfrm>
          <a:off x="635224" y="355270"/>
          <a:ext cx="604335" cy="6043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3BD40-7179-4FF3-B5C8-9D7570F0C74F}">
      <dsp:nvSpPr>
        <dsp:cNvPr id="0" name=""/>
        <dsp:cNvSpPr/>
      </dsp:nvSpPr>
      <dsp:spPr>
        <a:xfrm>
          <a:off x="265908" y="1301865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 dirty="0"/>
            <a:t>Temps de cycle</a:t>
          </a:r>
          <a:endParaRPr lang="en-US" sz="1200" kern="1200" dirty="0"/>
        </a:p>
      </dsp:txBody>
      <dsp:txXfrm>
        <a:off x="265908" y="1301865"/>
        <a:ext cx="1342968" cy="537187"/>
      </dsp:txXfrm>
    </dsp:sp>
    <dsp:sp modelId="{F0B53779-990A-4285-89A8-59D487F2DE3A}">
      <dsp:nvSpPr>
        <dsp:cNvPr id="0" name=""/>
        <dsp:cNvSpPr/>
      </dsp:nvSpPr>
      <dsp:spPr>
        <a:xfrm>
          <a:off x="2213212" y="355270"/>
          <a:ext cx="604335" cy="6043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E3EE3E-BB43-4284-871C-122042955069}">
      <dsp:nvSpPr>
        <dsp:cNvPr id="0" name=""/>
        <dsp:cNvSpPr/>
      </dsp:nvSpPr>
      <dsp:spPr>
        <a:xfrm>
          <a:off x="1843896" y="1301865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 dirty="0"/>
            <a:t>Cadence d’un poste de travail</a:t>
          </a:r>
          <a:endParaRPr lang="en-US" sz="1200" kern="1200" dirty="0"/>
        </a:p>
      </dsp:txBody>
      <dsp:txXfrm>
        <a:off x="1843896" y="1301865"/>
        <a:ext cx="1342968" cy="537187"/>
      </dsp:txXfrm>
    </dsp:sp>
    <dsp:sp modelId="{D3B503A6-C50C-4DBC-8F4C-3EABADC15F30}">
      <dsp:nvSpPr>
        <dsp:cNvPr id="0" name=""/>
        <dsp:cNvSpPr/>
      </dsp:nvSpPr>
      <dsp:spPr>
        <a:xfrm>
          <a:off x="5304180" y="364668"/>
          <a:ext cx="604335" cy="6043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DD8A6-8141-4B73-943A-5DA40A73DEE5}">
      <dsp:nvSpPr>
        <dsp:cNvPr id="0" name=""/>
        <dsp:cNvSpPr/>
      </dsp:nvSpPr>
      <dsp:spPr>
        <a:xfrm>
          <a:off x="3421884" y="1301865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 noProof="0" dirty="0"/>
            <a:t>Goulot d’étranglement</a:t>
          </a:r>
        </a:p>
      </dsp:txBody>
      <dsp:txXfrm>
        <a:off x="3421884" y="1301865"/>
        <a:ext cx="1342968" cy="537187"/>
      </dsp:txXfrm>
    </dsp:sp>
    <dsp:sp modelId="{9A67A61D-73E0-4014-9A8E-4D545F9BE3EE}">
      <dsp:nvSpPr>
        <dsp:cNvPr id="0" name=""/>
        <dsp:cNvSpPr/>
      </dsp:nvSpPr>
      <dsp:spPr>
        <a:xfrm>
          <a:off x="3805476" y="363900"/>
          <a:ext cx="604335" cy="6043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FDC2D-E173-46C0-9C34-FD098622BD59}">
      <dsp:nvSpPr>
        <dsp:cNvPr id="0" name=""/>
        <dsp:cNvSpPr/>
      </dsp:nvSpPr>
      <dsp:spPr>
        <a:xfrm>
          <a:off x="4999872" y="1301865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 noProof="0" dirty="0"/>
            <a:t>Processus séquentiel vs parallèle</a:t>
          </a:r>
        </a:p>
      </dsp:txBody>
      <dsp:txXfrm>
        <a:off x="4999872" y="1301865"/>
        <a:ext cx="1342968" cy="537187"/>
      </dsp:txXfrm>
    </dsp:sp>
    <dsp:sp modelId="{F94662F5-627C-46A0-B313-6AF537B354FF}">
      <dsp:nvSpPr>
        <dsp:cNvPr id="0" name=""/>
        <dsp:cNvSpPr/>
      </dsp:nvSpPr>
      <dsp:spPr>
        <a:xfrm>
          <a:off x="6947177" y="355270"/>
          <a:ext cx="604335" cy="60433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F285C5-F71D-4BDC-8821-C84435497C00}">
      <dsp:nvSpPr>
        <dsp:cNvPr id="0" name=""/>
        <dsp:cNvSpPr/>
      </dsp:nvSpPr>
      <dsp:spPr>
        <a:xfrm>
          <a:off x="6577861" y="1301865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 noProof="0" dirty="0"/>
            <a:t>Cadence et capacité d’un processus</a:t>
          </a:r>
        </a:p>
      </dsp:txBody>
      <dsp:txXfrm>
        <a:off x="6577861" y="1301865"/>
        <a:ext cx="1342968" cy="537187"/>
      </dsp:txXfrm>
    </dsp:sp>
    <dsp:sp modelId="{25D6298F-A94E-41A1-8DEB-1CA68CC015D6}">
      <dsp:nvSpPr>
        <dsp:cNvPr id="0" name=""/>
        <dsp:cNvSpPr/>
      </dsp:nvSpPr>
      <dsp:spPr>
        <a:xfrm>
          <a:off x="2213212" y="2059536"/>
          <a:ext cx="604335" cy="60433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F6FD7-0F4A-4336-9643-36FA58316BDF}">
      <dsp:nvSpPr>
        <dsp:cNvPr id="0" name=""/>
        <dsp:cNvSpPr/>
      </dsp:nvSpPr>
      <dsp:spPr>
        <a:xfrm>
          <a:off x="1851578" y="2998449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 noProof="0" dirty="0"/>
            <a:t>Taux d’utilisation d’un poste de travail</a:t>
          </a:r>
        </a:p>
      </dsp:txBody>
      <dsp:txXfrm>
        <a:off x="1851578" y="2998449"/>
        <a:ext cx="1342968" cy="537187"/>
      </dsp:txXfrm>
    </dsp:sp>
    <dsp:sp modelId="{E4D179B1-2C94-49C1-ABF0-BF6A3B4363FA}">
      <dsp:nvSpPr>
        <dsp:cNvPr id="0" name=""/>
        <dsp:cNvSpPr/>
      </dsp:nvSpPr>
      <dsp:spPr>
        <a:xfrm>
          <a:off x="3791201" y="2059536"/>
          <a:ext cx="604335" cy="60433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36BAC0-1D2F-4401-895D-4A2E9230BCF8}">
      <dsp:nvSpPr>
        <dsp:cNvPr id="0" name=""/>
        <dsp:cNvSpPr/>
      </dsp:nvSpPr>
      <dsp:spPr>
        <a:xfrm>
          <a:off x="3429566" y="2998449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 noProof="0" dirty="0"/>
            <a:t>Taux d’utilisation d’un employé</a:t>
          </a:r>
        </a:p>
      </dsp:txBody>
      <dsp:txXfrm>
        <a:off x="3429566" y="2998449"/>
        <a:ext cx="1342968" cy="537187"/>
      </dsp:txXfrm>
    </dsp:sp>
    <dsp:sp modelId="{04A09AF8-2913-4D38-A28A-12E32874E3C9}">
      <dsp:nvSpPr>
        <dsp:cNvPr id="0" name=""/>
        <dsp:cNvSpPr/>
      </dsp:nvSpPr>
      <dsp:spPr>
        <a:xfrm>
          <a:off x="5369189" y="2059536"/>
          <a:ext cx="604335" cy="604335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105FC-E825-4842-AE3B-AD489BF96B30}">
      <dsp:nvSpPr>
        <dsp:cNvPr id="0" name=""/>
        <dsp:cNvSpPr/>
      </dsp:nvSpPr>
      <dsp:spPr>
        <a:xfrm>
          <a:off x="5007554" y="2998449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 noProof="0" dirty="0"/>
            <a:t>Amélioration des processus</a:t>
          </a:r>
          <a:r>
            <a:rPr lang="fr-CA" sz="1200" b="1" kern="1200" noProof="0" dirty="0"/>
            <a:t>		</a:t>
          </a:r>
          <a:endParaRPr lang="fr-CA" sz="1200" kern="1200" noProof="0" dirty="0"/>
        </a:p>
      </dsp:txBody>
      <dsp:txXfrm>
        <a:off x="5007554" y="2998449"/>
        <a:ext cx="1342968" cy="537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4E640-7D2A-42EF-BA39-2B32D5A16C68}" type="datetimeFigureOut">
              <a:rPr lang="fr-CA" smtClean="0"/>
              <a:pPr/>
              <a:t>2024-06-19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BC42A-5C03-431D-B855-CCCF13E3B37E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1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0966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54F5B-FFD9-4939-9EDD-9BE7E940B6D6}" type="slidenum">
              <a:rPr lang="fr-CA" smtClean="0"/>
              <a:pPr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4287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82AEC4-6AC0-493D-8829-7200AC55F20D}" type="slidenum">
              <a:rPr lang="fr-CA"/>
              <a:pPr/>
              <a:t>4</a:t>
            </a:fld>
            <a:endParaRPr lang="fr-CA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8651" y="4415791"/>
            <a:ext cx="5497030" cy="4183380"/>
          </a:xfrm>
        </p:spPr>
        <p:txBody>
          <a:bodyPr/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047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55FFE7-7964-4A91-9200-17048AE3EC1D}" type="slidenum">
              <a:rPr lang="fr-CA"/>
              <a:pPr/>
              <a:t>5</a:t>
            </a:fld>
            <a:endParaRPr lang="fr-CA"/>
          </a:p>
        </p:txBody>
      </p:sp>
      <p:sp>
        <p:nvSpPr>
          <p:cNvPr id="530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02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CCC106-FC2F-4D23-96DF-1E6265B5D09F}" type="slidenum">
              <a:rPr lang="fr-CA"/>
              <a:pPr/>
              <a:t>6</a:t>
            </a:fld>
            <a:endParaRPr lang="fr-CA"/>
          </a:p>
        </p:txBody>
      </p:sp>
      <p:sp>
        <p:nvSpPr>
          <p:cNvPr id="484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4675" y="703263"/>
            <a:ext cx="4862513" cy="2736850"/>
          </a:xfrm>
          <a:ln/>
        </p:spPr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721" y="3563339"/>
            <a:ext cx="5140960" cy="5035832"/>
          </a:xfrm>
        </p:spPr>
        <p:txBody>
          <a:bodyPr/>
          <a:lstStyle/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052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720FDA-D9B2-4A55-A174-132CD77DC3CA}" type="slidenum">
              <a:rPr lang="fr-CA"/>
              <a:pPr/>
              <a:t>7</a:t>
            </a:fld>
            <a:endParaRPr lang="fr-CA"/>
          </a:p>
        </p:txBody>
      </p:sp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080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720FDA-D9B2-4A55-A174-132CD77DC3CA}" type="slidenum">
              <a:rPr lang="fr-CA"/>
              <a:pPr/>
              <a:t>8</a:t>
            </a:fld>
            <a:endParaRPr lang="fr-CA"/>
          </a:p>
        </p:txBody>
      </p:sp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015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90024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8007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30663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24A552-11D2-4089-92D2-5A0D81D0C8DB}" type="slidenum">
              <a:rPr lang="fr-CA"/>
              <a:pPr/>
              <a:t>13</a:t>
            </a:fld>
            <a:endParaRPr lang="fr-CA"/>
          </a:p>
        </p:txBody>
      </p:sp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825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24A552-11D2-4089-92D2-5A0D81D0C8DB}" type="slidenum">
              <a:rPr lang="fr-CA"/>
              <a:pPr/>
              <a:t>14</a:t>
            </a:fld>
            <a:endParaRPr lang="fr-CA"/>
          </a:p>
        </p:txBody>
      </p:sp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04770" indent="-380985"/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187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E007E1-4EFD-4C83-9BE9-60B272FE130B}" type="slidenum">
              <a:rPr lang="fr-CA"/>
              <a:pPr/>
              <a:t>15</a:t>
            </a:fld>
            <a:endParaRPr lang="fr-CA"/>
          </a:p>
        </p:txBody>
      </p:sp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7553" y="4415791"/>
            <a:ext cx="5518127" cy="4183380"/>
          </a:xfrm>
        </p:spPr>
        <p:txBody>
          <a:bodyPr/>
          <a:lstStyle/>
          <a:p>
            <a:pPr eaLnBrk="0" hangingPunct="0"/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992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54F5B-FFD9-4939-9EDD-9BE7E940B6D6}" type="slidenum">
              <a:rPr lang="fr-CA" smtClean="0"/>
              <a:pPr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849600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C5EFDD-9F06-4E12-8454-F22ABA189878}" type="slidenum"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62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808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71FF29-466E-4C1E-A156-B009558D3BC7}" type="slidenum">
              <a:rPr lang="fr-CA"/>
              <a:pPr/>
              <a:t>18</a:t>
            </a:fld>
            <a:endParaRPr lang="fr-CA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029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C5EFDD-9F06-4E12-8454-F22ABA189878}" type="slidenum">
              <a:rPr lang="fr-CA"/>
              <a:pPr/>
              <a:t>19</a:t>
            </a:fld>
            <a:endParaRPr lang="fr-CA"/>
          </a:p>
        </p:txBody>
      </p:sp>
      <p:sp>
        <p:nvSpPr>
          <p:cNvPr id="56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62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31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E2B967-E165-4869-8683-7EE0DBA628A2}" type="slidenum">
              <a:rPr lang="fr-CA"/>
              <a:pPr/>
              <a:t>20</a:t>
            </a:fld>
            <a:endParaRPr lang="fr-CA"/>
          </a:p>
        </p:txBody>
      </p:sp>
      <p:sp>
        <p:nvSpPr>
          <p:cNvPr id="615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61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1387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05A343-7E72-4498-9F0C-EE2AFCF0D63B}" type="slidenum">
              <a:rPr lang="fr-CA"/>
              <a:pPr/>
              <a:t>21</a:t>
            </a:fld>
            <a:endParaRPr lang="fr-CA"/>
          </a:p>
        </p:txBody>
      </p:sp>
      <p:sp>
        <p:nvSpPr>
          <p:cNvPr id="551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82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3D5E44-936A-4068-8C92-F8D60854AA53}" type="slidenum">
              <a:rPr lang="fr-CA"/>
              <a:pPr/>
              <a:t>22</a:t>
            </a:fld>
            <a:endParaRPr lang="fr-CA"/>
          </a:p>
        </p:txBody>
      </p:sp>
      <p:sp>
        <p:nvSpPr>
          <p:cNvPr id="55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7571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71FF29-466E-4C1E-A156-B009558D3BC7}" type="slidenum"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CA" sz="1600" dirty="0">
                <a:latin typeface="Arial" pitchFamily="34" charset="0"/>
                <a:cs typeface="Arial" pitchFamily="34" charset="0"/>
              </a:rPr>
              <a:t>Dans le cas où on ne peut embaucher, ajouter des ressources ou transformer le processus en parallèle, que pourrais-t-on faire pour augmenter la cadence du processus?</a:t>
            </a:r>
          </a:p>
          <a:p>
            <a:endParaRPr lang="fr-CA" sz="1600" dirty="0">
              <a:latin typeface="Arial" pitchFamily="34" charset="0"/>
              <a:cs typeface="Arial" pitchFamily="34" charset="0"/>
            </a:endParaRPr>
          </a:p>
          <a:p>
            <a:r>
              <a:rPr lang="fr-CA" sz="1600" dirty="0">
                <a:latin typeface="Arial" pitchFamily="34" charset="0"/>
                <a:cs typeface="Arial" pitchFamily="34" charset="0"/>
              </a:rPr>
              <a:t>Voir diapositive suivante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872086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54F5B-FFD9-4939-9EDD-9BE7E940B6D6}" type="slidenum">
              <a:rPr lang="fr-CA" smtClean="0"/>
              <a:pPr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7202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3D5E44-936A-4068-8C92-F8D60854AA53}" type="slidenum">
              <a:rPr lang="fr-CA"/>
              <a:pPr/>
              <a:t>25</a:t>
            </a:fld>
            <a:endParaRPr lang="fr-CA"/>
          </a:p>
        </p:txBody>
      </p:sp>
      <p:sp>
        <p:nvSpPr>
          <p:cNvPr id="55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6721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1B56B6-2124-4B61-B0F3-61BF2BB41802}" type="slidenum">
              <a:rPr lang="fr-CA"/>
              <a:pPr/>
              <a:t>26</a:t>
            </a:fld>
            <a:endParaRPr lang="fr-CA"/>
          </a:p>
        </p:txBody>
      </p:sp>
      <p:sp>
        <p:nvSpPr>
          <p:cNvPr id="573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3788" cy="3473450"/>
          </a:xfrm>
          <a:ln/>
        </p:spPr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600" i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409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5" y="1432838"/>
            <a:ext cx="9096771" cy="37952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2000" y="1429200"/>
            <a:ext cx="5860000" cy="1458000"/>
          </a:xfrm>
          <a:solidFill>
            <a:schemeClr val="accent5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32000" y="2962656"/>
            <a:ext cx="5852000" cy="402336"/>
          </a:xfrm>
          <a:solidFill>
            <a:schemeClr val="accent5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112000" y="5385600"/>
            <a:ext cx="516000" cy="136800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lang="fr-CA" sz="67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3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5"/>
            <a:ext cx="2387999" cy="200055"/>
          </a:xfrm>
          <a:solidFill>
            <a:schemeClr val="accent5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24/06/19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79686"/>
            <a:ext cx="9096000" cy="822960"/>
          </a:xfrm>
        </p:spPr>
        <p:txBody>
          <a:bodyPr/>
          <a:lstStyle/>
          <a:p>
            <a:r>
              <a:rPr lang="fr-CA" noProof="0" dirty="0"/>
              <a:t>Click to </a:t>
            </a:r>
            <a:r>
              <a:rPr lang="fr-CA" noProof="0" dirty="0" err="1"/>
              <a:t>edit</a:t>
            </a:r>
            <a:r>
              <a:rPr lang="fr-CA" noProof="0" dirty="0"/>
              <a:t> </a:t>
            </a:r>
            <a:r>
              <a:rPr lang="fr-CA" noProof="0" dirty="0" err="1"/>
              <a:t>title</a:t>
            </a:r>
            <a:r>
              <a:rPr lang="fr-CA" noProof="0" dirty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2000" y="1577687"/>
            <a:ext cx="9096000" cy="3187989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E98D-278E-4B48-81DC-1D1D6F61A9AE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4528" y="4765675"/>
            <a:ext cx="10160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1670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91183" y="3453140"/>
            <a:ext cx="7336817" cy="14447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6489959" y="1404500"/>
            <a:ext cx="3138424" cy="197318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1429199"/>
            <a:ext cx="5860000" cy="1458000"/>
          </a:xfrm>
          <a:solidFill>
            <a:schemeClr val="accent5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2962656"/>
            <a:ext cx="5852000" cy="402336"/>
          </a:xfrm>
          <a:solidFill>
            <a:schemeClr val="accent5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7279209-565D-4FE5-A4C8-60294C4337D1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 noProof="0" dirty="0"/>
          </a:p>
        </p:txBody>
      </p:sp>
      <p:pic>
        <p:nvPicPr>
          <p:cNvPr id="13" name="Image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1" r="1"/>
          <a:stretch/>
        </p:blipFill>
        <p:spPr>
          <a:xfrm>
            <a:off x="6479592" y="1432838"/>
            <a:ext cx="3148793" cy="194484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32000" y="3453139"/>
            <a:ext cx="1686613" cy="1454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12" name="Imag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23361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8000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4667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A514-E663-440D-A703-C1929B51DE22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8701"/>
            <a:ext cx="9096000" cy="8204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1511301"/>
            <a:ext cx="4489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8000" y="2044436"/>
            <a:ext cx="4489098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61141" y="1511301"/>
            <a:ext cx="4490861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61141" y="2044436"/>
            <a:ext cx="4490861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16E7-490B-4714-8F6A-CB8983A282D6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B762-E697-4018-87D8-E18EB218C2D2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0E55-1E82-4F9D-9A31-87D72CF5D459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7193"/>
            <a:ext cx="9096000" cy="822008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6000" y="1504401"/>
            <a:ext cx="5664000" cy="3261275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04401"/>
            <a:ext cx="3320000" cy="3261275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D5D3E-5FA6-4B80-B8ED-591F9019CE46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9727"/>
            <a:ext cx="9096000" cy="822950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32000" y="2065077"/>
            <a:ext cx="9088000" cy="2700598"/>
          </a:xfrm>
        </p:spPr>
        <p:txBody>
          <a:bodyPr>
            <a:normAutofit/>
          </a:bodyPr>
          <a:lstStyle>
            <a:lvl1pPr marL="0" indent="0">
              <a:buNone/>
              <a:defRPr sz="167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17877"/>
            <a:ext cx="9088000" cy="522000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B85D-2B3C-4B71-8CBC-BB628A84F8F8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F50AF-7441-4134-B26A-ECC8A96B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99" y="485192"/>
            <a:ext cx="8058197" cy="827486"/>
          </a:xfrm>
          <a:solidFill>
            <a:schemeClr val="accent6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44377D-FC82-4902-BD97-53EC4039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3FF39F-B286-4C16-8269-F7A81DA1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187C17-F2E3-4902-9E3A-65B783B4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D1CDB22-3B0B-4322-9BBB-9F2293122B4E}"/>
              </a:ext>
            </a:extLst>
          </p:cNvPr>
          <p:cNvGrpSpPr/>
          <p:nvPr userDrawn="1"/>
        </p:nvGrpSpPr>
        <p:grpSpPr>
          <a:xfrm>
            <a:off x="8688000" y="495353"/>
            <a:ext cx="940000" cy="847331"/>
            <a:chOff x="9122160" y="387054"/>
            <a:chExt cx="846000" cy="847331"/>
          </a:xfrm>
        </p:grpSpPr>
        <p:pic>
          <p:nvPicPr>
            <p:cNvPr id="7" name="Graphique 6" descr="Crayon">
              <a:extLst>
                <a:ext uri="{FF2B5EF4-FFF2-40B4-BE49-F238E27FC236}">
                  <a16:creationId xmlns:a16="http://schemas.microsoft.com/office/drawing/2014/main" id="{DDBF18FB-FE66-423A-A7D4-B79FBBBC4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1578" y="527500"/>
              <a:ext cx="566438" cy="566438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57AEEEB-351B-4025-8578-96B183CF9D99}"/>
                </a:ext>
              </a:extLst>
            </p:cNvPr>
            <p:cNvSpPr/>
            <p:nvPr/>
          </p:nvSpPr>
          <p:spPr>
            <a:xfrm>
              <a:off x="9122160" y="387054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800"/>
            </a:p>
          </p:txBody>
        </p:sp>
      </p:grpSp>
    </p:spTree>
    <p:extLst>
      <p:ext uri="{BB962C8B-B14F-4D97-AF65-F5344CB8AC3E}">
        <p14:creationId xmlns:p14="http://schemas.microsoft.com/office/powerpoint/2010/main" val="35846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5027F-A0D3-4AB9-84F3-FB2D4169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3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9717D0-6BE4-4CEC-B56A-8B457758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524FFF-475C-4BFE-954F-C687108D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87481D-310A-4B06-B0A3-60770912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38B7538-B649-4420-B53D-0893556BF313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7339A3EF-4528-46A0-8103-1D4A72CB1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28460B3C-4E63-4A6E-B367-A95CD1A637BD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1740170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4F1F0-0C83-423A-9627-7F4F21B4D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4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605483-8545-43AB-9D82-BECBE68A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9B70E9-B1BE-4B33-BD97-A5864404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A96B83-5363-4969-8925-62B9E6BD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152BD61-BE8A-45EF-9990-8B54915CF287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EB97E7FB-98CD-4166-9B66-C5C7DFC94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04B6938-F664-404B-A6FB-3ED61F28D7B0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294457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7645" y="0"/>
            <a:ext cx="7907177" cy="897698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425224" y="1508125"/>
            <a:ext cx="4102806" cy="381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697363" y="1508125"/>
            <a:ext cx="4102806" cy="381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6408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3727" y="0"/>
            <a:ext cx="7921094" cy="897698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1425222" y="1508125"/>
            <a:ext cx="8374944" cy="381000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10461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2000" y="485192"/>
            <a:ext cx="9096000" cy="82748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1517877"/>
            <a:ext cx="9096000" cy="3247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4000" y="5384996"/>
            <a:ext cx="2370667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">
                <a:solidFill>
                  <a:schemeClr val="accent2"/>
                </a:solidFill>
              </a:defRPr>
            </a:lvl1pPr>
          </a:lstStyle>
          <a:p>
            <a:fld id="{98FD3BE9-B61A-496B-9E53-6BE29CAA7F7D}" type="datetime3">
              <a:rPr lang="fr-CA" noProof="0" smtClean="0"/>
              <a:pPr/>
              <a:t>24/06/19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71334" y="5384996"/>
            <a:ext cx="3217333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">
                <a:solidFill>
                  <a:schemeClr val="accent2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">
                <a:solidFill>
                  <a:schemeClr val="accent2"/>
                </a:solidFill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548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1pPr>
      <a:lvl2pPr marL="453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2pPr>
      <a:lvl3pPr marL="752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3pPr>
      <a:lvl4pPr marL="1047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4pPr>
      <a:lvl5pPr marL="1346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0.png"/><Relationship Id="rId5" Type="http://schemas.openxmlformats.org/officeDocument/2006/relationships/slide" Target="slide3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520.png"/><Relationship Id="rId18" Type="http://schemas.openxmlformats.org/officeDocument/2006/relationships/slide" Target="slide8.xml"/><Relationship Id="rId26" Type="http://schemas.openxmlformats.org/officeDocument/2006/relationships/image" Target="../media/image36.png"/><Relationship Id="rId3" Type="http://schemas.openxmlformats.org/officeDocument/2006/relationships/diagramData" Target="../diagrams/data1.xml"/><Relationship Id="rId21" Type="http://schemas.openxmlformats.org/officeDocument/2006/relationships/slide" Target="slide13.xml"/><Relationship Id="rId7" Type="http://schemas.microsoft.com/office/2007/relationships/diagramDrawing" Target="../diagrams/drawing1.xml"/><Relationship Id="rId12" Type="http://schemas.openxmlformats.org/officeDocument/2006/relationships/slide" Target="slide7.xml"/><Relationship Id="rId17" Type="http://schemas.openxmlformats.org/officeDocument/2006/relationships/image" Target="../media/image33.png"/><Relationship Id="rId25" Type="http://schemas.openxmlformats.org/officeDocument/2006/relationships/image" Target="../media/image5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30.png"/><Relationship Id="rId20" Type="http://schemas.openxmlformats.org/officeDocument/2006/relationships/image" Target="../media/image34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31.png"/><Relationship Id="rId24" Type="http://schemas.openxmlformats.org/officeDocument/2006/relationships/slide" Target="slide15.xml"/><Relationship Id="rId5" Type="http://schemas.openxmlformats.org/officeDocument/2006/relationships/diagramQuickStyle" Target="../diagrams/quickStyle1.xml"/><Relationship Id="rId15" Type="http://schemas.openxmlformats.org/officeDocument/2006/relationships/slide" Target="slide9.xml"/><Relationship Id="rId23" Type="http://schemas.openxmlformats.org/officeDocument/2006/relationships/image" Target="../media/image35.png"/><Relationship Id="rId28" Type="http://schemas.openxmlformats.org/officeDocument/2006/relationships/image" Target="../media/image59.png"/><Relationship Id="rId10" Type="http://schemas.openxmlformats.org/officeDocument/2006/relationships/image" Target="../media/image510.png"/><Relationship Id="rId19" Type="http://schemas.openxmlformats.org/officeDocument/2006/relationships/image" Target="../media/image540.png"/><Relationship Id="rId31" Type="http://schemas.openxmlformats.org/officeDocument/2006/relationships/image" Target="../media/image60.png"/><Relationship Id="rId4" Type="http://schemas.openxmlformats.org/officeDocument/2006/relationships/diagramLayout" Target="../diagrams/layout1.xml"/><Relationship Id="rId9" Type="http://schemas.openxmlformats.org/officeDocument/2006/relationships/slide" Target="slide6.xml"/><Relationship Id="rId14" Type="http://schemas.openxmlformats.org/officeDocument/2006/relationships/image" Target="../media/image32.png"/><Relationship Id="rId22" Type="http://schemas.openxmlformats.org/officeDocument/2006/relationships/image" Target="../media/image550.png"/><Relationship Id="rId27" Type="http://schemas.openxmlformats.org/officeDocument/2006/relationships/slide" Target="slide20.xml"/><Relationship Id="rId30" Type="http://schemas.openxmlformats.org/officeDocument/2006/relationships/slide" Target="slide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xhere.com/en/photo/1103780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OPER10500</a:t>
            </a:r>
            <a:br>
              <a:rPr lang="fr-CA" dirty="0"/>
            </a:br>
            <a:r>
              <a:rPr lang="fr-CA" dirty="0"/>
              <a:t>Gestion des opérations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L’organisation du travail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532000" y="5031232"/>
            <a:ext cx="5353729" cy="200055"/>
          </a:xfrm>
        </p:spPr>
        <p:txBody>
          <a:bodyPr/>
          <a:lstStyle/>
          <a:p>
            <a:r>
              <a:rPr lang="fr-CA" sz="1050" dirty="0"/>
              <a:t>© 2024 Département de gestion des opérations et de la logistique</a:t>
            </a:r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9" name="Image 8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8906C563-E5F2-4CC7-9AC3-305B64E40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587" y="1395839"/>
            <a:ext cx="6404372" cy="396122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Zoom de diapositive 3">
                <a:extLst>
                  <a:ext uri="{FF2B5EF4-FFF2-40B4-BE49-F238E27FC236}">
                    <a16:creationId xmlns:a16="http://schemas.microsoft.com/office/drawing/2014/main" id="{CEC10EE1-7A3A-4A76-8742-C31338C6A0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97084860"/>
                  </p:ext>
                </p:extLst>
              </p:nvPr>
            </p:nvGraphicFramePr>
            <p:xfrm>
              <a:off x="732759" y="4508607"/>
              <a:ext cx="1611726" cy="1007329"/>
            </p:xfrm>
            <a:graphic>
              <a:graphicData uri="http://schemas.microsoft.com/office/powerpoint/2016/slidezoom">
                <pslz:sldZm>
                  <pslz:sldZmObj sldId="382" cId="821348992">
                    <pslz:zmPr id="{621714EF-EB8A-48AC-A8DD-145816CA3BD7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1726" cy="100732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Zoom de diapositive 3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CEC10EE1-7A3A-4A76-8742-C31338C6A0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2759" y="4508607"/>
                <a:ext cx="1611726" cy="100732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21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429496729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3" t="36097" r="3223" b="35634"/>
          <a:stretch/>
        </p:blipFill>
        <p:spPr>
          <a:xfrm>
            <a:off x="1175494" y="2289843"/>
            <a:ext cx="7963777" cy="1858707"/>
          </a:xfrm>
        </p:spPr>
      </p:pic>
    </p:spTree>
    <p:extLst>
      <p:ext uri="{BB962C8B-B14F-4D97-AF65-F5344CB8AC3E}">
        <p14:creationId xmlns:p14="http://schemas.microsoft.com/office/powerpoint/2010/main" val="821348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Text Box 3"/>
          <p:cNvSpPr txBox="1">
            <a:spLocks noChangeArrowheads="1"/>
          </p:cNvSpPr>
          <p:nvPr/>
        </p:nvSpPr>
        <p:spPr bwMode="auto">
          <a:xfrm>
            <a:off x="4234658" y="3013218"/>
            <a:ext cx="2752725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500" b="1" i="1" dirty="0"/>
              <a:t>TN = TOM </a:t>
            </a:r>
            <a:r>
              <a:rPr lang="fr-CA" sz="1500" b="1" i="1" dirty="0">
                <a:sym typeface="Symbol" pitchFamily="18" charset="2"/>
              </a:rPr>
              <a:t></a:t>
            </a:r>
            <a:r>
              <a:rPr lang="fr-CA" sz="1500" b="1" i="1" dirty="0"/>
              <a:t> </a:t>
            </a:r>
            <a:r>
              <a:rPr lang="fr-CA" sz="1500" b="1" i="1" dirty="0">
                <a:solidFill>
                  <a:schemeClr val="accent4"/>
                </a:solidFill>
              </a:rPr>
              <a:t>FA</a:t>
            </a:r>
            <a:r>
              <a:rPr lang="fr-CA" sz="1500" b="1" i="1" dirty="0"/>
              <a:t>/100</a:t>
            </a:r>
          </a:p>
        </p:txBody>
      </p:sp>
      <p:sp>
        <p:nvSpPr>
          <p:cNvPr id="519173" name="Text Box 5"/>
          <p:cNvSpPr txBox="1">
            <a:spLocks noChangeArrowheads="1"/>
          </p:cNvSpPr>
          <p:nvPr/>
        </p:nvSpPr>
        <p:spPr bwMode="auto">
          <a:xfrm>
            <a:off x="4234657" y="4564399"/>
            <a:ext cx="3282554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500" b="1" i="1" dirty="0"/>
              <a:t>TS = TN </a:t>
            </a:r>
            <a:r>
              <a:rPr lang="fr-CA" sz="1350" b="1" i="1" dirty="0">
                <a:sym typeface="Symbol" pitchFamily="18" charset="2"/>
              </a:rPr>
              <a:t> (1 + </a:t>
            </a:r>
            <a:r>
              <a:rPr lang="fr-CA" sz="1350" b="1" i="1" dirty="0">
                <a:solidFill>
                  <a:schemeClr val="accent4"/>
                </a:solidFill>
                <a:sym typeface="Symbol" pitchFamily="18" charset="2"/>
              </a:rPr>
              <a:t>Maj</a:t>
            </a:r>
            <a:r>
              <a:rPr lang="fr-CA" sz="1350" b="1" i="1" dirty="0">
                <a:sym typeface="Symbol" pitchFamily="18" charset="2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fr-CA" sz="1500" b="1" i="1" dirty="0">
                <a:sym typeface="Symbol" pitchFamily="18" charset="2"/>
              </a:rPr>
              <a:t>Maj :</a:t>
            </a:r>
            <a:r>
              <a:rPr lang="fr-CA" sz="1500" b="1" dirty="0">
                <a:sym typeface="Symbol" pitchFamily="18" charset="2"/>
              </a:rPr>
              <a:t> majorations exprimées en %</a:t>
            </a:r>
            <a:endParaRPr lang="fr-CA" sz="1500" b="1" i="1" dirty="0">
              <a:sym typeface="Symbol" pitchFamily="18" charset="2"/>
            </a:endParaRPr>
          </a:p>
          <a:p>
            <a:pPr>
              <a:spcBef>
                <a:spcPct val="50000"/>
              </a:spcBef>
            </a:pPr>
            <a:endParaRPr lang="fr-CA" sz="1500" b="1" i="1" dirty="0">
              <a:solidFill>
                <a:srgbClr val="185FAB"/>
              </a:solidFill>
              <a:sym typeface="Symbol" pitchFamily="18" charset="2"/>
            </a:endParaRPr>
          </a:p>
        </p:txBody>
      </p:sp>
      <p:sp>
        <p:nvSpPr>
          <p:cNvPr id="519175" name="Rectangle 7"/>
          <p:cNvSpPr>
            <a:spLocks noChangeArrowheads="1"/>
          </p:cNvSpPr>
          <p:nvPr/>
        </p:nvSpPr>
        <p:spPr bwMode="auto">
          <a:xfrm>
            <a:off x="1343819" y="1387080"/>
            <a:ext cx="2890838" cy="3589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056" tIns="34529" rIns="69056" bIns="34529"/>
          <a:lstStyle/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fr-CA" dirty="0">
                <a:solidFill>
                  <a:srgbClr val="185FAB"/>
                </a:solidFill>
              </a:rPr>
              <a:t>Temps observés moyens (TOM)</a:t>
            </a:r>
          </a:p>
          <a:p>
            <a:pPr marL="257175" indent="-257175" algn="ctr">
              <a:spcBef>
                <a:spcPct val="20000"/>
              </a:spcBef>
              <a:buSzPct val="75000"/>
            </a:pPr>
            <a:endParaRPr lang="fr-CA" dirty="0">
              <a:solidFill>
                <a:schemeClr val="hlink"/>
              </a:solidFill>
            </a:endParaRPr>
          </a:p>
          <a:p>
            <a:pPr marL="257175" indent="-257175" algn="ctr">
              <a:spcBef>
                <a:spcPct val="20000"/>
              </a:spcBef>
              <a:buSzPct val="75000"/>
            </a:pPr>
            <a:r>
              <a:rPr lang="fr-CA" dirty="0">
                <a:solidFill>
                  <a:schemeClr val="accent4"/>
                </a:solidFill>
              </a:rPr>
              <a:t>Facteur d’allure (FA)</a:t>
            </a:r>
          </a:p>
          <a:p>
            <a:pPr marL="257175" indent="-257175">
              <a:spcBef>
                <a:spcPct val="20000"/>
              </a:spcBef>
              <a:buSzPct val="125000"/>
              <a:buFontTx/>
              <a:buChar char="•"/>
            </a:pPr>
            <a:endParaRPr lang="fr-CA" dirty="0">
              <a:solidFill>
                <a:srgbClr val="185FAB"/>
              </a:solidFill>
            </a:endParaRPr>
          </a:p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fr-CA" dirty="0">
                <a:solidFill>
                  <a:srgbClr val="185FAB"/>
                </a:solidFill>
              </a:rPr>
              <a:t>Temps  normalisé (TN)  </a:t>
            </a:r>
          </a:p>
          <a:p>
            <a:pPr marL="257175" indent="-257175">
              <a:spcBef>
                <a:spcPct val="20000"/>
              </a:spcBef>
              <a:buSzPct val="75000"/>
            </a:pPr>
            <a:r>
              <a:rPr lang="fr-CA" sz="1350" dirty="0">
                <a:solidFill>
                  <a:srgbClr val="185FAB"/>
                </a:solidFill>
              </a:rPr>
              <a:t>	    (ou temps de base)</a:t>
            </a:r>
          </a:p>
          <a:p>
            <a:pPr marL="257175" indent="-257175" algn="ctr">
              <a:spcBef>
                <a:spcPct val="20000"/>
              </a:spcBef>
              <a:buSzPct val="75000"/>
            </a:pPr>
            <a:endParaRPr lang="fr-CA" dirty="0">
              <a:solidFill>
                <a:schemeClr val="hlink"/>
              </a:solidFill>
            </a:endParaRPr>
          </a:p>
          <a:p>
            <a:pPr marL="257175" indent="-257175" algn="ctr">
              <a:spcBef>
                <a:spcPct val="20000"/>
              </a:spcBef>
              <a:buSzPct val="75000"/>
            </a:pPr>
            <a:r>
              <a:rPr lang="fr-CA" dirty="0">
                <a:solidFill>
                  <a:schemeClr val="accent4"/>
                </a:solidFill>
              </a:rPr>
              <a:t>Majorations (Maj)</a:t>
            </a:r>
          </a:p>
          <a:p>
            <a:pPr marL="257175" indent="-257175" algn="ctr">
              <a:spcBef>
                <a:spcPct val="20000"/>
              </a:spcBef>
              <a:buSzPct val="75000"/>
            </a:pPr>
            <a:endParaRPr lang="fr-CA" dirty="0">
              <a:solidFill>
                <a:schemeClr val="hlink"/>
              </a:solidFill>
            </a:endParaRPr>
          </a:p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fr-CA" dirty="0">
                <a:solidFill>
                  <a:srgbClr val="185FAB"/>
                </a:solidFill>
              </a:rPr>
              <a:t>Temps standard (TS)</a:t>
            </a:r>
          </a:p>
        </p:txBody>
      </p:sp>
      <p:sp>
        <p:nvSpPr>
          <p:cNvPr id="519176" name="AutoShape 8"/>
          <p:cNvSpPr>
            <a:spLocks noChangeArrowheads="1"/>
          </p:cNvSpPr>
          <p:nvPr/>
        </p:nvSpPr>
        <p:spPr bwMode="auto">
          <a:xfrm>
            <a:off x="2693989" y="2026446"/>
            <a:ext cx="96440" cy="321469"/>
          </a:xfrm>
          <a:prstGeom prst="downArrow">
            <a:avLst>
              <a:gd name="adj1" fmla="val 50000"/>
              <a:gd name="adj2" fmla="val 83334"/>
            </a:avLst>
          </a:prstGeom>
          <a:solidFill>
            <a:schemeClr val="hlink"/>
          </a:solidFill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519177" name="AutoShape 9"/>
          <p:cNvSpPr>
            <a:spLocks noChangeArrowheads="1"/>
          </p:cNvSpPr>
          <p:nvPr/>
        </p:nvSpPr>
        <p:spPr bwMode="auto">
          <a:xfrm>
            <a:off x="2673748" y="2616996"/>
            <a:ext cx="96441" cy="321469"/>
          </a:xfrm>
          <a:prstGeom prst="downArrow">
            <a:avLst>
              <a:gd name="adj1" fmla="val 50000"/>
              <a:gd name="adj2" fmla="val 83333"/>
            </a:avLst>
          </a:prstGeom>
          <a:solidFill>
            <a:schemeClr val="hlink"/>
          </a:solidFill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519178" name="AutoShape 10"/>
          <p:cNvSpPr>
            <a:spLocks noChangeArrowheads="1"/>
          </p:cNvSpPr>
          <p:nvPr/>
        </p:nvSpPr>
        <p:spPr bwMode="auto">
          <a:xfrm>
            <a:off x="2663033" y="3549255"/>
            <a:ext cx="96440" cy="321469"/>
          </a:xfrm>
          <a:prstGeom prst="downArrow">
            <a:avLst>
              <a:gd name="adj1" fmla="val 50000"/>
              <a:gd name="adj2" fmla="val 83334"/>
            </a:avLst>
          </a:prstGeom>
          <a:solidFill>
            <a:schemeClr val="hlink"/>
          </a:solidFill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519179" name="AutoShape 11"/>
          <p:cNvSpPr>
            <a:spLocks noChangeArrowheads="1"/>
          </p:cNvSpPr>
          <p:nvPr/>
        </p:nvSpPr>
        <p:spPr bwMode="auto">
          <a:xfrm>
            <a:off x="2652316" y="4235055"/>
            <a:ext cx="96441" cy="321469"/>
          </a:xfrm>
          <a:prstGeom prst="downArrow">
            <a:avLst>
              <a:gd name="adj1" fmla="val 50000"/>
              <a:gd name="adj2" fmla="val 83333"/>
            </a:avLst>
          </a:prstGeom>
          <a:solidFill>
            <a:schemeClr val="hlink"/>
          </a:solidFill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3. Chronométrage : Calcul des TN et 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9413" name="Rectangle 3">
            <a:extLst>
              <a:ext uri="{FF2B5EF4-FFF2-40B4-BE49-F238E27FC236}">
                <a16:creationId xmlns:a16="http://schemas.microsoft.com/office/drawing/2014/main" id="{F96D1222-DF8F-4CD6-843B-DBE8A5D5C22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11578728"/>
              </p:ext>
            </p:extLst>
          </p:nvPr>
        </p:nvGraphicFramePr>
        <p:xfrm>
          <a:off x="1005605" y="1480518"/>
          <a:ext cx="8186738" cy="378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CA" dirty="0"/>
              <a:t>De la mesure du travail au calcul de capacité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Zoom de diapositive 2">
                <a:extLst>
                  <a:ext uri="{FF2B5EF4-FFF2-40B4-BE49-F238E27FC236}">
                    <a16:creationId xmlns:a16="http://schemas.microsoft.com/office/drawing/2014/main" id="{1F194745-E9B6-45EE-91D9-3B2A574EF30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1934533"/>
                  </p:ext>
                </p:extLst>
              </p:nvPr>
            </p:nvGraphicFramePr>
            <p:xfrm>
              <a:off x="1723037" y="2462192"/>
              <a:ext cx="421662" cy="263539"/>
            </p:xfrm>
            <a:graphic>
              <a:graphicData uri="http://schemas.microsoft.com/office/powerpoint/2016/slidezoom">
                <pslz:sldZm>
                  <pslz:sldZmObj sldId="313" cId="0">
                    <pslz:zmPr id="{0A033063-1049-471F-B4F3-664480357959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1662" cy="26353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Zoom de diapositive 2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1F194745-E9B6-45EE-91D9-3B2A574EF3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23037" y="2462192"/>
                <a:ext cx="421662" cy="26353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Zoom de diapositive 4">
                <a:extLst>
                  <a:ext uri="{FF2B5EF4-FFF2-40B4-BE49-F238E27FC236}">
                    <a16:creationId xmlns:a16="http://schemas.microsoft.com/office/drawing/2014/main" id="{3B865B68-ACEA-4A40-9709-7A949672C5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70968607"/>
                  </p:ext>
                </p:extLst>
              </p:nvPr>
            </p:nvGraphicFramePr>
            <p:xfrm>
              <a:off x="3291542" y="2462192"/>
              <a:ext cx="428386" cy="267741"/>
            </p:xfrm>
            <a:graphic>
              <a:graphicData uri="http://schemas.microsoft.com/office/powerpoint/2016/slidezoom">
                <pslz:sldZm>
                  <pslz:sldZmObj sldId="335" cId="0">
                    <pslz:zmPr id="{6648B10B-3B79-4BEF-8DDE-8035830FC185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8386" cy="26774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Zoom de diapositive 4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3B865B68-ACEA-4A40-9709-7A949672C5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91542" y="2462192"/>
                <a:ext cx="428386" cy="26774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Zoom de diapositive 6">
                <a:extLst>
                  <a:ext uri="{FF2B5EF4-FFF2-40B4-BE49-F238E27FC236}">
                    <a16:creationId xmlns:a16="http://schemas.microsoft.com/office/drawing/2014/main" id="{B56AEC21-523E-4659-A073-D70B3F54B76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7646998"/>
                  </p:ext>
                </p:extLst>
              </p:nvPr>
            </p:nvGraphicFramePr>
            <p:xfrm>
              <a:off x="4884781" y="2462192"/>
              <a:ext cx="428386" cy="267741"/>
            </p:xfrm>
            <a:graphic>
              <a:graphicData uri="http://schemas.microsoft.com/office/powerpoint/2016/slidezoom">
                <pslz:sldZm>
                  <pslz:sldZmObj sldId="422" cId="1992969597">
                    <pslz:zmPr id="{7394B137-0066-4536-9267-1A16537B0C71}" returnToParent="0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8386" cy="26774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Zoom de diapositive 6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B56AEC21-523E-4659-A073-D70B3F54B76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84781" y="2462192"/>
                <a:ext cx="428386" cy="26774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Zoom de diapositive 8">
                <a:extLst>
                  <a:ext uri="{FF2B5EF4-FFF2-40B4-BE49-F238E27FC236}">
                    <a16:creationId xmlns:a16="http://schemas.microsoft.com/office/drawing/2014/main" id="{C20C040D-6B67-4621-B94A-6DA43212044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91953292"/>
                  </p:ext>
                </p:extLst>
              </p:nvPr>
            </p:nvGraphicFramePr>
            <p:xfrm>
              <a:off x="6440075" y="2462192"/>
              <a:ext cx="428385" cy="267741"/>
            </p:xfrm>
            <a:graphic>
              <a:graphicData uri="http://schemas.microsoft.com/office/powerpoint/2016/slidezoom">
                <pslz:sldZm>
                  <pslz:sldZmObj sldId="377" cId="4046823469">
                    <pslz:zmPr id="{B37268F6-F92A-4884-9458-5874B7AC94A3}" returnToParent="0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8385" cy="26774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Zoom de diapositive 8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C20C040D-6B67-4621-B94A-6DA4321204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40075" y="2462192"/>
                <a:ext cx="428385" cy="26774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Zoom de diapositive 10">
                <a:extLst>
                  <a:ext uri="{FF2B5EF4-FFF2-40B4-BE49-F238E27FC236}">
                    <a16:creationId xmlns:a16="http://schemas.microsoft.com/office/drawing/2014/main" id="{301B057A-DF38-49DC-85D6-CEFA228FD20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7966067"/>
                  </p:ext>
                </p:extLst>
              </p:nvPr>
            </p:nvGraphicFramePr>
            <p:xfrm>
              <a:off x="8055642" y="2450306"/>
              <a:ext cx="440680" cy="275425"/>
            </p:xfrm>
            <a:graphic>
              <a:graphicData uri="http://schemas.microsoft.com/office/powerpoint/2016/slidezoom">
                <pslz:sldZm>
                  <pslz:sldZmObj sldId="336" cId="0">
                    <pslz:zmPr id="{C7945551-BEDD-4F14-ADF6-D46135613780}" returnToParent="0" transitionDur="100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40680" cy="27542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Zoom de diapositive 10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301B057A-DF38-49DC-85D6-CEFA228FD2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055642" y="2450306"/>
                <a:ext cx="440680" cy="27542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Zoom de diapositive 12">
                <a:extLst>
                  <a:ext uri="{FF2B5EF4-FFF2-40B4-BE49-F238E27FC236}">
                    <a16:creationId xmlns:a16="http://schemas.microsoft.com/office/drawing/2014/main" id="{D55E7E57-A229-438C-92C0-19BEB887F47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04215341"/>
                  </p:ext>
                </p:extLst>
              </p:nvPr>
            </p:nvGraphicFramePr>
            <p:xfrm>
              <a:off x="3291542" y="4159343"/>
              <a:ext cx="428386" cy="267742"/>
            </p:xfrm>
            <a:graphic>
              <a:graphicData uri="http://schemas.microsoft.com/office/powerpoint/2016/slidezoom">
                <pslz:sldZm>
                  <pslz:sldZmObj sldId="385" cId="3014134738">
                    <pslz:zmPr id="{5B9DD52B-34F4-4475-80A1-DA4ECA2BCA9D}" returnToParent="0" transitionDur="1000">
                      <p166:blipFill xmlns:p166="http://schemas.microsoft.com/office/powerpoint/2016/6/main">
                        <a:blip r:embed="rId2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8386" cy="26774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Zoom de diapositive 12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D55E7E57-A229-438C-92C0-19BEB887F4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91542" y="4159343"/>
                <a:ext cx="428386" cy="26774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Zoom de diapositive 14">
                <a:extLst>
                  <a:ext uri="{FF2B5EF4-FFF2-40B4-BE49-F238E27FC236}">
                    <a16:creationId xmlns:a16="http://schemas.microsoft.com/office/drawing/2014/main" id="{689E75F3-AA27-4EAD-B3C9-44DCD0FDE1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57256456"/>
                  </p:ext>
                </p:extLst>
              </p:nvPr>
            </p:nvGraphicFramePr>
            <p:xfrm>
              <a:off x="4884781" y="4159343"/>
              <a:ext cx="428386" cy="267742"/>
            </p:xfrm>
            <a:graphic>
              <a:graphicData uri="http://schemas.microsoft.com/office/powerpoint/2016/slidezoom">
                <pslz:sldZm>
                  <pslz:sldZmObj sldId="360" cId="0">
                    <pslz:zmPr id="{0990FAA8-A0CD-42F5-8DC3-991153DF2894}" returnToParent="0" transitionDur="1000">
                      <p166:blipFill xmlns:p166="http://schemas.microsoft.com/office/powerpoint/2016/6/main">
                        <a:blip r:embed="rId2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8386" cy="26774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Zoom de diapositive 14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689E75F3-AA27-4EAD-B3C9-44DCD0FDE1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884781" y="4159343"/>
                <a:ext cx="428386" cy="26774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Zoom de diapositive 16">
                <a:extLst>
                  <a:ext uri="{FF2B5EF4-FFF2-40B4-BE49-F238E27FC236}">
                    <a16:creationId xmlns:a16="http://schemas.microsoft.com/office/drawing/2014/main" id="{4344E455-E844-4233-887D-11F53EAD814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4210544"/>
                  </p:ext>
                </p:extLst>
              </p:nvPr>
            </p:nvGraphicFramePr>
            <p:xfrm>
              <a:off x="6440075" y="4159343"/>
              <a:ext cx="428387" cy="267742"/>
            </p:xfrm>
            <a:graphic>
              <a:graphicData uri="http://schemas.microsoft.com/office/powerpoint/2016/slidezoom">
                <pslz:sldZm>
                  <pslz:sldZmObj sldId="339" cId="0">
                    <pslz:zmPr id="{B3AC9501-EAC7-42FB-A083-42DBAC09EB74}" returnToParent="0" transitionDur="1000">
                      <p166:blipFill xmlns:p166="http://schemas.microsoft.com/office/powerpoint/2016/6/main">
                        <a:blip r:embed="rId2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8387" cy="26774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Zoom de diapositive 16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4344E455-E844-4233-887D-11F53EAD814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40075" y="4159343"/>
                <a:ext cx="428387" cy="26774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Temps de cycle</a:t>
            </a:r>
          </a:p>
        </p:txBody>
      </p:sp>
      <p:sp>
        <p:nvSpPr>
          <p:cNvPr id="461831" name="Rectangle 7"/>
          <p:cNvSpPr>
            <a:spLocks noGrp="1" noChangeArrowheads="1"/>
          </p:cNvSpPr>
          <p:nvPr>
            <p:ph idx="1"/>
          </p:nvPr>
        </p:nvSpPr>
        <p:spPr>
          <a:xfrm>
            <a:off x="2385295" y="2761028"/>
            <a:ext cx="5668427" cy="1918549"/>
          </a:xfrm>
        </p:spPr>
        <p:txBody>
          <a:bodyPr/>
          <a:lstStyle/>
          <a:p>
            <a:pPr marL="0" indent="0">
              <a:buNone/>
            </a:pPr>
            <a:r>
              <a:rPr lang="fr-CA" dirty="0"/>
              <a:t>    Temps de cycle   =        Temps standard                                   </a:t>
            </a:r>
          </a:p>
        </p:txBody>
      </p:sp>
      <p:sp>
        <p:nvSpPr>
          <p:cNvPr id="461832" name="Line 8"/>
          <p:cNvSpPr>
            <a:spLocks noChangeShapeType="1"/>
          </p:cNvSpPr>
          <p:nvPr/>
        </p:nvSpPr>
        <p:spPr bwMode="auto">
          <a:xfrm>
            <a:off x="4518435" y="3140017"/>
            <a:ext cx="237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fr-CA" sz="1350"/>
          </a:p>
        </p:txBody>
      </p:sp>
      <p:sp>
        <p:nvSpPr>
          <p:cNvPr id="461833" name="Text Box 9"/>
          <p:cNvSpPr txBox="1">
            <a:spLocks noChangeArrowheads="1"/>
          </p:cNvSpPr>
          <p:nvPr/>
        </p:nvSpPr>
        <p:spPr bwMode="auto">
          <a:xfrm>
            <a:off x="4450568" y="3140019"/>
            <a:ext cx="2507456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dirty="0"/>
              <a:t>Nombre de postes travaillant en parallèle</a:t>
            </a:r>
          </a:p>
        </p:txBody>
      </p:sp>
      <p:sp>
        <p:nvSpPr>
          <p:cNvPr id="461834" name="Rectangle 10"/>
          <p:cNvSpPr>
            <a:spLocks noChangeArrowheads="1"/>
          </p:cNvSpPr>
          <p:nvPr/>
        </p:nvSpPr>
        <p:spPr bwMode="auto">
          <a:xfrm>
            <a:off x="2474258" y="2639559"/>
            <a:ext cx="4618105" cy="1293019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32000" y="1451107"/>
            <a:ext cx="9095999" cy="703997"/>
          </a:xfrm>
          <a:prstGeom prst="rect">
            <a:avLst/>
          </a:prstGeom>
          <a:solidFill>
            <a:schemeClr val="bg1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fr-CA" dirty="0">
                <a:solidFill>
                  <a:srgbClr val="3366FF"/>
                </a:solidFill>
              </a:rPr>
              <a:t>Temps qui s’écoule entre la fin de la fabrication de deux unités consécutives. </a:t>
            </a:r>
            <a:endParaRPr lang="fr-CA" sz="1050" b="1" i="1" dirty="0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61042" y="1493577"/>
            <a:ext cx="9166958" cy="3560500"/>
          </a:xfrm>
        </p:spPr>
        <p:txBody>
          <a:bodyPr/>
          <a:lstStyle/>
          <a:p>
            <a:pPr marL="135000" indent="0">
              <a:lnSpc>
                <a:spcPct val="90000"/>
              </a:lnSpc>
              <a:buNone/>
            </a:pPr>
            <a:r>
              <a:rPr lang="fr-CA" dirty="0">
                <a:solidFill>
                  <a:srgbClr val="3366FF"/>
                </a:solidFill>
              </a:rPr>
              <a:t>Nombre d’unités qui peuvent être produites par heure. La cadence est la réciproque du temps de cycle.</a:t>
            </a:r>
            <a:endParaRPr lang="fr-CH" dirty="0">
              <a:solidFill>
                <a:srgbClr val="3366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fr-CA" b="1" dirty="0">
              <a:solidFill>
                <a:srgbClr val="3366FF"/>
              </a:solidFill>
              <a:latin typeface="Times New Roman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CA" sz="1650" dirty="0"/>
              <a:t>  </a:t>
            </a:r>
          </a:p>
          <a:p>
            <a:pPr marL="0" indent="0">
              <a:lnSpc>
                <a:spcPct val="90000"/>
              </a:lnSpc>
              <a:buNone/>
            </a:pPr>
            <a:endParaRPr lang="fr-CA" sz="1650" u="sng" dirty="0">
              <a:solidFill>
                <a:srgbClr val="009C98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fr-CA" sz="1650" u="sng" dirty="0">
              <a:solidFill>
                <a:srgbClr val="009C98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fr-CA" sz="600" u="sng" dirty="0">
              <a:solidFill>
                <a:srgbClr val="009C98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fr-CA" sz="1500" u="sng" dirty="0">
              <a:solidFill>
                <a:srgbClr val="009C98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fr-CA" sz="1500" u="sng" dirty="0">
              <a:solidFill>
                <a:srgbClr val="009C98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fr-CA" sz="1500" u="sng" dirty="0">
              <a:solidFill>
                <a:srgbClr val="009C98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CA" u="sng" dirty="0">
                <a:solidFill>
                  <a:srgbClr val="009C98"/>
                </a:solidFill>
              </a:rPr>
              <a:t>Exemple</a:t>
            </a:r>
            <a:r>
              <a:rPr lang="fr-CA" dirty="0">
                <a:solidFill>
                  <a:srgbClr val="009C98"/>
                </a:solidFill>
              </a:rPr>
              <a:t> 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CA" dirty="0">
                <a:solidFill>
                  <a:srgbClr val="009C98"/>
                </a:solidFill>
              </a:rPr>
              <a:t>Temps de cycle = 15 minutes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CA" dirty="0">
                <a:solidFill>
                  <a:srgbClr val="009C98"/>
                </a:solidFill>
              </a:rPr>
              <a:t>Cadence  = 4 unités/heure</a:t>
            </a:r>
          </a:p>
        </p:txBody>
      </p:sp>
      <p:sp>
        <p:nvSpPr>
          <p:cNvPr id="533507" name="Rectangle 3"/>
          <p:cNvSpPr>
            <a:spLocks noChangeArrowheads="1"/>
          </p:cNvSpPr>
          <p:nvPr/>
        </p:nvSpPr>
        <p:spPr bwMode="auto">
          <a:xfrm>
            <a:off x="1803106" y="2559213"/>
            <a:ext cx="3280172" cy="1057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533511" name="Rectangle 7"/>
          <p:cNvSpPr>
            <a:spLocks noChangeArrowheads="1"/>
          </p:cNvSpPr>
          <p:nvPr/>
        </p:nvSpPr>
        <p:spPr bwMode="auto">
          <a:xfrm>
            <a:off x="5083839" y="2560404"/>
            <a:ext cx="3280172" cy="1057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grpSp>
        <p:nvGrpSpPr>
          <p:cNvPr id="13" name="Groupe 12"/>
          <p:cNvGrpSpPr/>
          <p:nvPr/>
        </p:nvGrpSpPr>
        <p:grpSpPr>
          <a:xfrm>
            <a:off x="1837005" y="2618604"/>
            <a:ext cx="6663928" cy="932855"/>
            <a:chOff x="258763" y="3902075"/>
            <a:chExt cx="8885237" cy="1243806"/>
          </a:xfrm>
        </p:grpSpPr>
        <p:sp>
          <p:nvSpPr>
            <p:cNvPr id="533508" name="Text Box 4"/>
            <p:cNvSpPr txBox="1">
              <a:spLocks noChangeArrowheads="1"/>
            </p:cNvSpPr>
            <p:nvPr/>
          </p:nvSpPr>
          <p:spPr bwMode="auto">
            <a:xfrm>
              <a:off x="258763" y="3914775"/>
              <a:ext cx="4433887" cy="123110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fr-CA" dirty="0"/>
                <a:t>Cadence =      60 minutes</a:t>
              </a:r>
            </a:p>
            <a:p>
              <a:r>
                <a:rPr lang="fr-CA" dirty="0"/>
                <a:t>                  Temps de cycle</a:t>
              </a:r>
            </a:p>
            <a:p>
              <a:pPr>
                <a:spcBef>
                  <a:spcPct val="50000"/>
                </a:spcBef>
              </a:pPr>
              <a:r>
                <a:rPr lang="fr-CA" sz="1200" dirty="0"/>
                <a:t>(si le temps de cycle est donné en minutes)</a:t>
              </a:r>
            </a:p>
          </p:txBody>
        </p:sp>
        <p:grpSp>
          <p:nvGrpSpPr>
            <p:cNvPr id="12" name="Groupe 11"/>
            <p:cNvGrpSpPr/>
            <p:nvPr/>
          </p:nvGrpSpPr>
          <p:grpSpPr>
            <a:xfrm>
              <a:off x="1843088" y="3902075"/>
              <a:ext cx="7300912" cy="1231106"/>
              <a:chOff x="1843088" y="3902075"/>
              <a:chExt cx="7300912" cy="1231106"/>
            </a:xfrm>
          </p:grpSpPr>
          <p:sp>
            <p:nvSpPr>
              <p:cNvPr id="533509" name="Line 5"/>
              <p:cNvSpPr>
                <a:spLocks noChangeShapeType="1"/>
              </p:cNvSpPr>
              <p:nvPr/>
            </p:nvSpPr>
            <p:spPr bwMode="auto">
              <a:xfrm>
                <a:off x="1843088" y="4310063"/>
                <a:ext cx="26527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fr-CA" sz="1350"/>
              </a:p>
            </p:txBody>
          </p:sp>
          <p:sp>
            <p:nvSpPr>
              <p:cNvPr id="533510" name="Text Box 6"/>
              <p:cNvSpPr txBox="1">
                <a:spLocks noChangeArrowheads="1"/>
              </p:cNvSpPr>
              <p:nvPr/>
            </p:nvSpPr>
            <p:spPr bwMode="auto">
              <a:xfrm>
                <a:off x="4572000" y="3902075"/>
                <a:ext cx="4572000" cy="1231106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fr-CA" dirty="0"/>
                  <a:t>Cadence =         1 heure</a:t>
                </a:r>
              </a:p>
              <a:p>
                <a:r>
                  <a:rPr lang="fr-CA" dirty="0"/>
                  <a:t>                     Temps de cycle</a:t>
                </a:r>
              </a:p>
              <a:p>
                <a:pPr>
                  <a:spcBef>
                    <a:spcPct val="50000"/>
                  </a:spcBef>
                </a:pPr>
                <a:r>
                  <a:rPr lang="fr-CA" sz="1200" dirty="0"/>
                  <a:t>(si le temps de cycle est donné en heures)</a:t>
                </a:r>
              </a:p>
            </p:txBody>
          </p:sp>
          <p:sp>
            <p:nvSpPr>
              <p:cNvPr id="533512" name="Line 8"/>
              <p:cNvSpPr>
                <a:spLocks noChangeShapeType="1"/>
              </p:cNvSpPr>
              <p:nvPr/>
            </p:nvSpPr>
            <p:spPr bwMode="auto">
              <a:xfrm>
                <a:off x="6280150" y="4297363"/>
                <a:ext cx="26527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fr-CA" sz="1350"/>
              </a:p>
            </p:txBody>
          </p:sp>
        </p:grpSp>
      </p:grpSp>
      <p:sp>
        <p:nvSpPr>
          <p:cNvPr id="533514" name="Rectangle 10"/>
          <p:cNvSpPr>
            <a:spLocks noChangeArrowheads="1"/>
          </p:cNvSpPr>
          <p:nvPr/>
        </p:nvSpPr>
        <p:spPr bwMode="auto">
          <a:xfrm>
            <a:off x="532000" y="1415844"/>
            <a:ext cx="9096000" cy="745683"/>
          </a:xfrm>
          <a:prstGeom prst="rect">
            <a:avLst/>
          </a:prstGeom>
          <a:noFill/>
          <a:ln w="12700">
            <a:solidFill>
              <a:srgbClr val="0A1B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528D7166-0D20-49F5-9877-328DA4A2B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2000" y="479686"/>
            <a:ext cx="9096000" cy="822960"/>
          </a:xfrm>
        </p:spPr>
        <p:txBody>
          <a:bodyPr/>
          <a:lstStyle/>
          <a:p>
            <a:r>
              <a:rPr lang="fr-CA" dirty="0"/>
              <a:t>Cadence d’un poste de travail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Processus séquentiel vs en parallèle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14517" y="1684296"/>
            <a:ext cx="3557809" cy="152711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CA" b="1" dirty="0">
                <a:solidFill>
                  <a:srgbClr val="3366FF"/>
                </a:solidFill>
              </a:rPr>
              <a:t>Processus séquentiel</a:t>
            </a:r>
          </a:p>
          <a:p>
            <a:pPr marL="0" indent="0" algn="ctr">
              <a:buNone/>
            </a:pPr>
            <a:r>
              <a:rPr lang="fr-CA" dirty="0">
                <a:solidFill>
                  <a:srgbClr val="3366FF"/>
                </a:solidFill>
              </a:rPr>
              <a:t>Processus dans lequel le travail est divisé et où chaque employé réalise seulement une partie du processus.   </a:t>
            </a:r>
          </a:p>
          <a:p>
            <a:pPr algn="ctr"/>
            <a:endParaRPr lang="fr-CA" dirty="0"/>
          </a:p>
          <a:p>
            <a:pPr algn="ctr"/>
            <a:endParaRPr lang="fr-CA" dirty="0"/>
          </a:p>
          <a:p>
            <a:pPr algn="ctr"/>
            <a:endParaRPr lang="fr-CA" dirty="0"/>
          </a:p>
          <a:p>
            <a:pPr algn="ctr"/>
            <a:endParaRPr lang="fr-CA" dirty="0"/>
          </a:p>
          <a:p>
            <a:pPr algn="ctr"/>
            <a:endParaRPr lang="fr-CA" dirty="0"/>
          </a:p>
        </p:txBody>
      </p:sp>
      <p:sp>
        <p:nvSpPr>
          <p:cNvPr id="14" name="Oval 2"/>
          <p:cNvSpPr>
            <a:spLocks noChangeArrowheads="1"/>
          </p:cNvSpPr>
          <p:nvPr/>
        </p:nvSpPr>
        <p:spPr bwMode="auto">
          <a:xfrm>
            <a:off x="714517" y="420452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1</a:t>
            </a:r>
          </a:p>
        </p:txBody>
      </p:sp>
      <p:sp>
        <p:nvSpPr>
          <p:cNvPr id="16" name="Oval 2"/>
          <p:cNvSpPr>
            <a:spLocks noChangeArrowheads="1"/>
          </p:cNvSpPr>
          <p:nvPr/>
        </p:nvSpPr>
        <p:spPr bwMode="auto">
          <a:xfrm>
            <a:off x="1625505" y="420452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2</a:t>
            </a:r>
          </a:p>
        </p:txBody>
      </p:sp>
      <p:sp>
        <p:nvSpPr>
          <p:cNvPr id="17" name="Oval 2"/>
          <p:cNvSpPr>
            <a:spLocks noChangeArrowheads="1"/>
          </p:cNvSpPr>
          <p:nvPr/>
        </p:nvSpPr>
        <p:spPr bwMode="auto">
          <a:xfrm>
            <a:off x="2548080" y="420452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3</a:t>
            </a:r>
          </a:p>
        </p:txBody>
      </p:sp>
      <p:sp>
        <p:nvSpPr>
          <p:cNvPr id="18" name="Oval 2"/>
          <p:cNvSpPr>
            <a:spLocks noChangeArrowheads="1"/>
          </p:cNvSpPr>
          <p:nvPr/>
        </p:nvSpPr>
        <p:spPr bwMode="auto">
          <a:xfrm>
            <a:off x="3470654" y="420452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4</a:t>
            </a:r>
          </a:p>
        </p:txBody>
      </p:sp>
      <p:sp>
        <p:nvSpPr>
          <p:cNvPr id="3" name="Flèche droite 2"/>
          <p:cNvSpPr/>
          <p:nvPr/>
        </p:nvSpPr>
        <p:spPr bwMode="auto">
          <a:xfrm>
            <a:off x="1306844" y="4331849"/>
            <a:ext cx="245660" cy="26613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fr-CA" sz="1350"/>
          </a:p>
        </p:txBody>
      </p:sp>
      <p:sp>
        <p:nvSpPr>
          <p:cNvPr id="19" name="Flèche droite 18"/>
          <p:cNvSpPr/>
          <p:nvPr/>
        </p:nvSpPr>
        <p:spPr bwMode="auto">
          <a:xfrm>
            <a:off x="2206850" y="4331849"/>
            <a:ext cx="245660" cy="26613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fr-CA" sz="1350"/>
          </a:p>
        </p:txBody>
      </p:sp>
      <p:sp>
        <p:nvSpPr>
          <p:cNvPr id="20" name="Flèche droite 19"/>
          <p:cNvSpPr/>
          <p:nvPr/>
        </p:nvSpPr>
        <p:spPr bwMode="auto">
          <a:xfrm>
            <a:off x="3141011" y="4331849"/>
            <a:ext cx="245660" cy="26613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fr-CA" sz="135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05" y="3630108"/>
            <a:ext cx="597517" cy="59751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506" y="3630108"/>
            <a:ext cx="600715" cy="600715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067" y="3630108"/>
            <a:ext cx="597517" cy="597517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784" y="3607010"/>
            <a:ext cx="597517" cy="597517"/>
          </a:xfrm>
          <a:prstGeom prst="rect">
            <a:avLst/>
          </a:prstGeom>
        </p:spPr>
      </p:pic>
      <p:sp>
        <p:nvSpPr>
          <p:cNvPr id="21" name="Oval 2">
            <a:extLst>
              <a:ext uri="{FF2B5EF4-FFF2-40B4-BE49-F238E27FC236}">
                <a16:creationId xmlns:a16="http://schemas.microsoft.com/office/drawing/2014/main" id="{5EA62197-E6F4-4096-8272-496F4BCB9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590" y="4004753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1</a:t>
            </a:r>
          </a:p>
        </p:txBody>
      </p:sp>
      <p:sp>
        <p:nvSpPr>
          <p:cNvPr id="22" name="Oval 2">
            <a:extLst>
              <a:ext uri="{FF2B5EF4-FFF2-40B4-BE49-F238E27FC236}">
                <a16:creationId xmlns:a16="http://schemas.microsoft.com/office/drawing/2014/main" id="{15607EA0-7573-4ED1-A4E0-E02FA55F9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781" y="4004753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2</a:t>
            </a:r>
          </a:p>
        </p:txBody>
      </p:sp>
      <p:sp>
        <p:nvSpPr>
          <p:cNvPr id="27" name="Oval 2">
            <a:extLst>
              <a:ext uri="{FF2B5EF4-FFF2-40B4-BE49-F238E27FC236}">
                <a16:creationId xmlns:a16="http://schemas.microsoft.com/office/drawing/2014/main" id="{BC662D82-267F-470D-9A16-B2979094A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067" y="456520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3</a:t>
            </a:r>
          </a:p>
        </p:txBody>
      </p:sp>
      <p:sp>
        <p:nvSpPr>
          <p:cNvPr id="28" name="Oval 2">
            <a:extLst>
              <a:ext uri="{FF2B5EF4-FFF2-40B4-BE49-F238E27FC236}">
                <a16:creationId xmlns:a16="http://schemas.microsoft.com/office/drawing/2014/main" id="{ED66976E-F3FD-4EA5-9A39-251351B7E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727" y="456520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4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0680DDBD-C40E-45BF-B3F0-27F2347766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499" y="3374464"/>
            <a:ext cx="597517" cy="597517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4A6700CD-AF31-4557-AFAA-E394097815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426" y="3374464"/>
            <a:ext cx="600715" cy="60071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43C9115E-31B3-4202-ACF7-D1C928511D42}"/>
              </a:ext>
            </a:extLst>
          </p:cNvPr>
          <p:cNvSpPr/>
          <p:nvPr/>
        </p:nvSpPr>
        <p:spPr bwMode="auto">
          <a:xfrm>
            <a:off x="4952545" y="3254527"/>
            <a:ext cx="1106577" cy="206763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fr-CA" sz="1350"/>
          </a:p>
        </p:txBody>
      </p:sp>
      <p:sp>
        <p:nvSpPr>
          <p:cNvPr id="49" name="Oval 2">
            <a:extLst>
              <a:ext uri="{FF2B5EF4-FFF2-40B4-BE49-F238E27FC236}">
                <a16:creationId xmlns:a16="http://schemas.microsoft.com/office/drawing/2014/main" id="{0D959420-1638-4F67-98DD-059501091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593" y="4004753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1</a:t>
            </a:r>
          </a:p>
        </p:txBody>
      </p:sp>
      <p:sp>
        <p:nvSpPr>
          <p:cNvPr id="50" name="Oval 2">
            <a:extLst>
              <a:ext uri="{FF2B5EF4-FFF2-40B4-BE49-F238E27FC236}">
                <a16:creationId xmlns:a16="http://schemas.microsoft.com/office/drawing/2014/main" id="{921D31A2-67F4-45B8-9B82-CCE78460A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784" y="4004753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2</a:t>
            </a:r>
          </a:p>
        </p:txBody>
      </p:sp>
      <p:sp>
        <p:nvSpPr>
          <p:cNvPr id="51" name="Oval 2">
            <a:extLst>
              <a:ext uri="{FF2B5EF4-FFF2-40B4-BE49-F238E27FC236}">
                <a16:creationId xmlns:a16="http://schemas.microsoft.com/office/drawing/2014/main" id="{D08845B2-9E0A-4D69-8914-23DA19A02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070" y="456520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3</a:t>
            </a:r>
          </a:p>
        </p:txBody>
      </p:sp>
      <p:sp>
        <p:nvSpPr>
          <p:cNvPr id="52" name="Oval 2">
            <a:extLst>
              <a:ext uri="{FF2B5EF4-FFF2-40B4-BE49-F238E27FC236}">
                <a16:creationId xmlns:a16="http://schemas.microsoft.com/office/drawing/2014/main" id="{C078BFDF-5EC1-42AF-9A5C-910D971AA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1730" y="456520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0289C4-CABB-4B38-8B06-BC2FF3647C6E}"/>
              </a:ext>
            </a:extLst>
          </p:cNvPr>
          <p:cNvSpPr/>
          <p:nvPr/>
        </p:nvSpPr>
        <p:spPr bwMode="auto">
          <a:xfrm>
            <a:off x="6060548" y="3254527"/>
            <a:ext cx="1106577" cy="206763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fr-CA" sz="1350"/>
          </a:p>
        </p:txBody>
      </p:sp>
      <p:sp>
        <p:nvSpPr>
          <p:cNvPr id="55" name="Oval 2">
            <a:extLst>
              <a:ext uri="{FF2B5EF4-FFF2-40B4-BE49-F238E27FC236}">
                <a16:creationId xmlns:a16="http://schemas.microsoft.com/office/drawing/2014/main" id="{54822FE3-DBE7-47F7-89C0-9F59BDF40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751" y="4004753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1</a:t>
            </a:r>
          </a:p>
        </p:txBody>
      </p:sp>
      <p:sp>
        <p:nvSpPr>
          <p:cNvPr id="56" name="Oval 2">
            <a:extLst>
              <a:ext uri="{FF2B5EF4-FFF2-40B4-BE49-F238E27FC236}">
                <a16:creationId xmlns:a16="http://schemas.microsoft.com/office/drawing/2014/main" id="{A6C692CE-2DFF-4DCC-9130-024C37771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5942" y="4004753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2</a:t>
            </a:r>
          </a:p>
        </p:txBody>
      </p:sp>
      <p:sp>
        <p:nvSpPr>
          <p:cNvPr id="57" name="Oval 2">
            <a:extLst>
              <a:ext uri="{FF2B5EF4-FFF2-40B4-BE49-F238E27FC236}">
                <a16:creationId xmlns:a16="http://schemas.microsoft.com/office/drawing/2014/main" id="{BC420352-43C5-41A6-9BF5-B83B81E01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228" y="456520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3</a:t>
            </a:r>
          </a:p>
        </p:txBody>
      </p:sp>
      <p:sp>
        <p:nvSpPr>
          <p:cNvPr id="58" name="Oval 2">
            <a:extLst>
              <a:ext uri="{FF2B5EF4-FFF2-40B4-BE49-F238E27FC236}">
                <a16:creationId xmlns:a16="http://schemas.microsoft.com/office/drawing/2014/main" id="{E01F999A-5D40-4F1C-AC71-A11AA4A7D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7888" y="456520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4</a:t>
            </a:r>
          </a:p>
        </p:txBody>
      </p:sp>
      <p:pic>
        <p:nvPicPr>
          <p:cNvPr id="59" name="Image 58">
            <a:extLst>
              <a:ext uri="{FF2B5EF4-FFF2-40B4-BE49-F238E27FC236}">
                <a16:creationId xmlns:a16="http://schemas.microsoft.com/office/drawing/2014/main" id="{C2022543-82C5-4305-842B-1240261119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660" y="3374464"/>
            <a:ext cx="597517" cy="597517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1EB0E140-F8AE-4558-B099-481D067F7A01}"/>
              </a:ext>
            </a:extLst>
          </p:cNvPr>
          <p:cNvSpPr/>
          <p:nvPr/>
        </p:nvSpPr>
        <p:spPr bwMode="auto">
          <a:xfrm>
            <a:off x="7176706" y="3254527"/>
            <a:ext cx="1106577" cy="206763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fr-CA" sz="1350"/>
          </a:p>
        </p:txBody>
      </p:sp>
      <p:sp>
        <p:nvSpPr>
          <p:cNvPr id="61" name="Oval 2">
            <a:extLst>
              <a:ext uri="{FF2B5EF4-FFF2-40B4-BE49-F238E27FC236}">
                <a16:creationId xmlns:a16="http://schemas.microsoft.com/office/drawing/2014/main" id="{E4EA4B92-03CB-48A3-8325-942BFD73B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3909" y="4004753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1</a:t>
            </a:r>
          </a:p>
        </p:txBody>
      </p:sp>
      <p:sp>
        <p:nvSpPr>
          <p:cNvPr id="62" name="Oval 2">
            <a:extLst>
              <a:ext uri="{FF2B5EF4-FFF2-40B4-BE49-F238E27FC236}">
                <a16:creationId xmlns:a16="http://schemas.microsoft.com/office/drawing/2014/main" id="{7D5BB062-5DA8-4715-8E6C-EB1D5C84E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2100" y="4004753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2</a:t>
            </a:r>
          </a:p>
        </p:txBody>
      </p:sp>
      <p:sp>
        <p:nvSpPr>
          <p:cNvPr id="63" name="Oval 2">
            <a:extLst>
              <a:ext uri="{FF2B5EF4-FFF2-40B4-BE49-F238E27FC236}">
                <a16:creationId xmlns:a16="http://schemas.microsoft.com/office/drawing/2014/main" id="{E11D1674-518C-4A9B-849A-BFFF66D69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8386" y="456520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3</a:t>
            </a:r>
          </a:p>
        </p:txBody>
      </p:sp>
      <p:sp>
        <p:nvSpPr>
          <p:cNvPr id="64" name="Oval 2">
            <a:extLst>
              <a:ext uri="{FF2B5EF4-FFF2-40B4-BE49-F238E27FC236}">
                <a16:creationId xmlns:a16="http://schemas.microsoft.com/office/drawing/2014/main" id="{0071E72D-F8B3-4960-9FEF-54BA03482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046" y="4565206"/>
            <a:ext cx="485775" cy="4857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CA" b="1" dirty="0"/>
              <a:t>4</a:t>
            </a:r>
          </a:p>
        </p:txBody>
      </p:sp>
      <p:pic>
        <p:nvPicPr>
          <p:cNvPr id="65" name="Image 64">
            <a:extLst>
              <a:ext uri="{FF2B5EF4-FFF2-40B4-BE49-F238E27FC236}">
                <a16:creationId xmlns:a16="http://schemas.microsoft.com/office/drawing/2014/main" id="{0D02F3DD-B8DD-4C76-BE22-8058C78976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818" y="3374464"/>
            <a:ext cx="597517" cy="597517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B227C404-33CA-4BC7-9D99-B1EA2280FB58}"/>
              </a:ext>
            </a:extLst>
          </p:cNvPr>
          <p:cNvSpPr/>
          <p:nvPr/>
        </p:nvSpPr>
        <p:spPr bwMode="auto">
          <a:xfrm>
            <a:off x="8292864" y="3254527"/>
            <a:ext cx="1106577" cy="206763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fr-CA" sz="1350"/>
          </a:p>
        </p:txBody>
      </p:sp>
      <p:sp>
        <p:nvSpPr>
          <p:cNvPr id="67" name="Rectangle 2">
            <a:extLst>
              <a:ext uri="{FF2B5EF4-FFF2-40B4-BE49-F238E27FC236}">
                <a16:creationId xmlns:a16="http://schemas.microsoft.com/office/drawing/2014/main" id="{C8C9BDA0-6E30-4D16-8E6D-C777468C7AB2}"/>
              </a:ext>
            </a:extLst>
          </p:cNvPr>
          <p:cNvSpPr txBox="1">
            <a:spLocks noChangeArrowheads="1"/>
          </p:cNvSpPr>
          <p:nvPr/>
        </p:nvSpPr>
        <p:spPr>
          <a:xfrm>
            <a:off x="4952544" y="1754950"/>
            <a:ext cx="4448611" cy="1348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548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3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7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5000" indent="0" algn="ctr">
              <a:lnSpc>
                <a:spcPct val="90000"/>
              </a:lnSpc>
              <a:buNone/>
            </a:pPr>
            <a:r>
              <a:rPr lang="fr-CA" b="1" dirty="0">
                <a:solidFill>
                  <a:srgbClr val="3366FF"/>
                </a:solidFill>
              </a:rPr>
              <a:t>Processus en parallèle</a:t>
            </a:r>
          </a:p>
          <a:p>
            <a:pPr marL="135000" indent="0" algn="ctr">
              <a:lnSpc>
                <a:spcPct val="90000"/>
              </a:lnSpc>
              <a:buNone/>
            </a:pPr>
            <a:r>
              <a:rPr lang="fr-CA" dirty="0">
                <a:solidFill>
                  <a:srgbClr val="3366FF"/>
                </a:solidFill>
              </a:rPr>
              <a:t>Processus dans lequel chacun des employés réalise l’ensemble des tâches indépendamment les uns des autres.</a:t>
            </a:r>
            <a:endParaRPr lang="fr-CA" dirty="0">
              <a:solidFill>
                <a:srgbClr val="3366FF"/>
              </a:solidFill>
              <a:latin typeface="Times New Roman" pitchFamily="18" charset="0"/>
            </a:endParaRPr>
          </a:p>
          <a:p>
            <a:pPr marL="135000" indent="0" algn="ctr">
              <a:lnSpc>
                <a:spcPct val="90000"/>
              </a:lnSpc>
              <a:buNone/>
            </a:pPr>
            <a:r>
              <a:rPr lang="fr-CA" dirty="0"/>
              <a:t>  </a:t>
            </a:r>
          </a:p>
          <a:p>
            <a:pPr marL="135000" indent="0" algn="ctr">
              <a:lnSpc>
                <a:spcPct val="90000"/>
              </a:lnSpc>
              <a:buNone/>
            </a:pPr>
            <a:endParaRPr lang="fr-CA" u="sng" dirty="0">
              <a:solidFill>
                <a:srgbClr val="009C98"/>
              </a:solidFill>
            </a:endParaRPr>
          </a:p>
          <a:p>
            <a:pPr marL="135000" indent="0" algn="ctr">
              <a:lnSpc>
                <a:spcPct val="90000"/>
              </a:lnSpc>
              <a:buNone/>
            </a:pPr>
            <a:endParaRPr lang="fr-CA" u="sng" dirty="0">
              <a:solidFill>
                <a:srgbClr val="009C98"/>
              </a:solidFill>
            </a:endParaRPr>
          </a:p>
          <a:p>
            <a:pPr marL="135000" indent="0" algn="ctr">
              <a:lnSpc>
                <a:spcPct val="90000"/>
              </a:lnSpc>
              <a:buNone/>
            </a:pPr>
            <a:endParaRPr lang="fr-CA" u="sng" dirty="0">
              <a:solidFill>
                <a:srgbClr val="009C98"/>
              </a:solidFill>
            </a:endParaRPr>
          </a:p>
          <a:p>
            <a:pPr marL="135000" indent="0" algn="ctr">
              <a:lnSpc>
                <a:spcPct val="90000"/>
              </a:lnSpc>
              <a:buNone/>
            </a:pPr>
            <a:endParaRPr lang="fr-CA" u="sng" dirty="0">
              <a:solidFill>
                <a:srgbClr val="009C98"/>
              </a:solidFill>
            </a:endParaRPr>
          </a:p>
          <a:p>
            <a:pPr marL="135000" indent="0" algn="ctr">
              <a:lnSpc>
                <a:spcPct val="90000"/>
              </a:lnSpc>
              <a:buNone/>
            </a:pPr>
            <a:endParaRPr lang="fr-CA" u="sng" dirty="0">
              <a:solidFill>
                <a:srgbClr val="009C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823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F9D615-3975-409B-8C8A-33885B82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Goulot d’étranglement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6EF3085-971D-48BC-9191-919B6CB05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01" y="1389908"/>
            <a:ext cx="6044834" cy="36397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9ABCF16-0810-47A3-9557-2D6A79553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968" y="1547895"/>
            <a:ext cx="2716842" cy="304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6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573F793-81BD-4AAD-B9D3-D63F9B958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117" y="1513209"/>
            <a:ext cx="6111766" cy="375804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9044F8D-DC53-48DA-8961-8532C63C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Agir sur le goulot d’étranglement</a:t>
            </a:r>
          </a:p>
        </p:txBody>
      </p:sp>
    </p:spTree>
    <p:extLst>
      <p:ext uri="{BB962C8B-B14F-4D97-AF65-F5344CB8AC3E}">
        <p14:creationId xmlns:p14="http://schemas.microsoft.com/office/powerpoint/2010/main" val="2004115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573F793-81BD-4AAD-B9D3-D63F9B958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117" y="1513209"/>
            <a:ext cx="6111766" cy="375804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9044F8D-DC53-48DA-8961-8532C63C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Agir sur le goulot d’étranglement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4215E59-10D3-4C1A-8701-1E8CD304E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00" y="1409573"/>
            <a:ext cx="9096000" cy="409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7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F9D615-3975-409B-8C8A-33885B82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Agir sur le goulot d’étranglement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705F7230-F008-4FBF-8352-349A87882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3150" y="1896675"/>
          <a:ext cx="7993063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3" imgW="4857565" imgH="504989" progId="Excel.Sheet.8">
                  <p:embed/>
                </p:oleObj>
              </mc:Choice>
              <mc:Fallback>
                <p:oleObj name="Feuille de calcul" r:id="rId3" imgW="4857565" imgH="504989" progId="Excel.Sheet.8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705F7230-F008-4FBF-8352-349A87882D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1896675"/>
                        <a:ext cx="7993063" cy="846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4">
            <a:extLst>
              <a:ext uri="{FF2B5EF4-FFF2-40B4-BE49-F238E27FC236}">
                <a16:creationId xmlns:a16="http://schemas.microsoft.com/office/drawing/2014/main" id="{3F84E2F8-B0AB-4E60-9A12-A129EE863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3574663"/>
            <a:ext cx="642938" cy="641350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sz="2400"/>
              <a:t>1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4F0C9F0D-D449-42FE-B927-28F74323D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3475" y="3574663"/>
            <a:ext cx="642938" cy="641350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sz="2400"/>
              <a:t>2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719C92B2-173A-4008-A850-152475257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74663"/>
            <a:ext cx="642938" cy="641350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sz="2400"/>
              <a:t>3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B5F91A2F-000B-4AD1-B574-9F3266D06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263" y="3574663"/>
            <a:ext cx="642938" cy="641350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sz="2400"/>
              <a:t>4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80954A29-EB01-4A1E-9D17-5BAE00DE9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3574663"/>
            <a:ext cx="642938" cy="641350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sz="2400"/>
              <a:t>5</a:t>
            </a:r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BE033C20-6084-4873-A1D4-DF6FA6810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8438" y="3608000"/>
            <a:ext cx="758825" cy="576262"/>
          </a:xfrm>
          <a:prstGeom prst="rightArrow">
            <a:avLst>
              <a:gd name="adj1" fmla="val 50000"/>
              <a:gd name="adj2" fmla="val 32920"/>
            </a:avLst>
          </a:prstGeom>
          <a:noFill/>
          <a:ln w="38100" algn="ctr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fr-CA" sz="2400" dirty="0"/>
          </a:p>
        </p:txBody>
      </p:sp>
      <p:sp>
        <p:nvSpPr>
          <p:cNvPr id="14" name="AutoShape 10">
            <a:extLst>
              <a:ext uri="{FF2B5EF4-FFF2-40B4-BE49-F238E27FC236}">
                <a16:creationId xmlns:a16="http://schemas.microsoft.com/office/drawing/2014/main" id="{B61AAC51-706E-456C-B8D2-B0912D91C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225" y="3608000"/>
            <a:ext cx="758825" cy="576262"/>
          </a:xfrm>
          <a:prstGeom prst="rightArrow">
            <a:avLst>
              <a:gd name="adj1" fmla="val 50000"/>
              <a:gd name="adj2" fmla="val 32920"/>
            </a:avLst>
          </a:prstGeom>
          <a:noFill/>
          <a:ln w="38100" algn="ctr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fr-CA" sz="2400" dirty="0"/>
          </a:p>
        </p:txBody>
      </p:sp>
      <p:sp>
        <p:nvSpPr>
          <p:cNvPr id="15" name="AutoShape 11">
            <a:extLst>
              <a:ext uri="{FF2B5EF4-FFF2-40B4-BE49-F238E27FC236}">
                <a16:creationId xmlns:a16="http://schemas.microsoft.com/office/drawing/2014/main" id="{F6F4D887-8A82-4DED-9721-1F5A6BFF8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13" y="3608000"/>
            <a:ext cx="758825" cy="576262"/>
          </a:xfrm>
          <a:prstGeom prst="rightArrow">
            <a:avLst>
              <a:gd name="adj1" fmla="val 50000"/>
              <a:gd name="adj2" fmla="val 32920"/>
            </a:avLst>
          </a:prstGeom>
          <a:noFill/>
          <a:ln w="38100" algn="ctr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fr-CA" sz="2400" dirty="0"/>
          </a:p>
        </p:txBody>
      </p:sp>
      <p:sp>
        <p:nvSpPr>
          <p:cNvPr id="16" name="AutoShape 12">
            <a:extLst>
              <a:ext uri="{FF2B5EF4-FFF2-40B4-BE49-F238E27FC236}">
                <a16:creationId xmlns:a16="http://schemas.microsoft.com/office/drawing/2014/main" id="{1F3B056E-6D51-4AD8-B713-D9D2B708F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3600" y="3608000"/>
            <a:ext cx="758825" cy="576262"/>
          </a:xfrm>
          <a:prstGeom prst="rightArrow">
            <a:avLst>
              <a:gd name="adj1" fmla="val 50000"/>
              <a:gd name="adj2" fmla="val 32920"/>
            </a:avLst>
          </a:prstGeom>
          <a:noFill/>
          <a:ln w="38100" algn="ctr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fr-CA" sz="2400" dirty="0"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9A7DCE44-39E4-4CBB-80DC-80796E703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3608000"/>
            <a:ext cx="758825" cy="576262"/>
          </a:xfrm>
          <a:prstGeom prst="rightArrow">
            <a:avLst>
              <a:gd name="adj1" fmla="val 50000"/>
              <a:gd name="adj2" fmla="val 32920"/>
            </a:avLst>
          </a:prstGeom>
          <a:noFill/>
          <a:ln w="38100" algn="ctr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fr-CA" sz="2400" dirty="0"/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159DB506-9B1E-444C-BE58-B77EBEA93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832" y="2739727"/>
            <a:ext cx="3189288" cy="519112"/>
          </a:xfrm>
          <a:prstGeom prst="rect">
            <a:avLst/>
          </a:prstGeom>
          <a:noFill/>
          <a:ln w="381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fr-CA" sz="2800" b="1" dirty="0">
                <a:solidFill>
                  <a:srgbClr val="FF0000"/>
                </a:solidFill>
              </a:rPr>
              <a:t>Où est le goulot ?</a:t>
            </a:r>
          </a:p>
        </p:txBody>
      </p:sp>
    </p:spTree>
    <p:extLst>
      <p:ext uri="{BB962C8B-B14F-4D97-AF65-F5344CB8AC3E}">
        <p14:creationId xmlns:p14="http://schemas.microsoft.com/office/powerpoint/2010/main" val="64506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Cadence d’un processus</a:t>
            </a:r>
          </a:p>
        </p:txBody>
      </p:sp>
      <p:sp>
        <p:nvSpPr>
          <p:cNvPr id="535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2000" y="1577686"/>
            <a:ext cx="9096000" cy="3657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Nombre d’unités produites durant une période de base (ex. 1 heure) par le processus.</a:t>
            </a:r>
          </a:p>
          <a:p>
            <a:pPr marL="0" indent="0">
              <a:buNone/>
            </a:pPr>
            <a:r>
              <a:rPr lang="fr-CA" dirty="0"/>
              <a:t>Comment calculer la cadence d’un processus?</a:t>
            </a:r>
          </a:p>
          <a:p>
            <a:pPr marL="298800" lvl="1" indent="0">
              <a:buNone/>
            </a:pPr>
            <a:r>
              <a:rPr lang="fr-CA" b="1" dirty="0"/>
              <a:t>Processus séquentiel : </a:t>
            </a:r>
            <a:r>
              <a:rPr lang="fr-CA" dirty="0"/>
              <a:t>La cadence du processus est égale à la cadence du goulot d’étranglement.</a:t>
            </a:r>
          </a:p>
          <a:p>
            <a:pPr marL="298800" lvl="1" indent="0">
              <a:buNone/>
            </a:pPr>
            <a:endParaRPr lang="fr-CA" b="1" dirty="0"/>
          </a:p>
          <a:p>
            <a:pPr marL="298800" lvl="1" indent="0">
              <a:buNone/>
            </a:pPr>
            <a:r>
              <a:rPr lang="fr-CA" b="1" dirty="0"/>
              <a:t>Processus parallèle : </a:t>
            </a:r>
            <a:r>
              <a:rPr lang="fr-CA" dirty="0"/>
              <a:t>La cadence du processus est égale à la somme des cadences de chaque poste de travail du processus.</a:t>
            </a:r>
          </a:p>
          <a:p>
            <a:pPr marL="298800" lvl="1" indent="0">
              <a:buNone/>
            </a:pPr>
            <a:r>
              <a:rPr lang="fr-CA" dirty="0"/>
              <a:t>Méthodologie de calcul :</a:t>
            </a:r>
          </a:p>
          <a:p>
            <a:pPr marL="940500" lvl="2" indent="-342900">
              <a:buSzPct val="100000"/>
              <a:buFont typeface="+mj-lt"/>
              <a:buAutoNum type="arabicPeriod"/>
            </a:pPr>
            <a:r>
              <a:rPr lang="fr-CH" dirty="0"/>
              <a:t>Somme des temps standards de chaque poste de travail;</a:t>
            </a:r>
          </a:p>
          <a:p>
            <a:pPr marL="940500" lvl="2" indent="-342900">
              <a:buSzPct val="100000"/>
              <a:buFont typeface="+mj-lt"/>
              <a:buAutoNum type="arabicPeriod"/>
            </a:pPr>
            <a:r>
              <a:rPr lang="fr-CH" dirty="0"/>
              <a:t>Cadence unitaire = 60 min. / </a:t>
            </a:r>
            <a:r>
              <a:rPr lang="fr-CA" dirty="0"/>
              <a:t>somme des temps standards</a:t>
            </a:r>
            <a:r>
              <a:rPr lang="fr-CH" dirty="0"/>
              <a:t>;</a:t>
            </a:r>
          </a:p>
          <a:p>
            <a:pPr marL="940500" lvl="2" indent="-342900">
              <a:buSzPct val="100000"/>
              <a:buFont typeface="+mj-lt"/>
              <a:buAutoNum type="arabicPeriod"/>
            </a:pPr>
            <a:r>
              <a:rPr lang="fr-CH" dirty="0"/>
              <a:t>Cadence total = Nb. d’employés X Cadence unitaire.</a:t>
            </a:r>
            <a:endParaRPr lang="fr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CCF8389-4D9D-43ED-BCD9-F0851BE6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233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2000"/>
              <a:t>Exemple</a:t>
            </a:r>
            <a:br>
              <a:rPr lang="fr-CA"/>
            </a:br>
            <a:r>
              <a:rPr lang="fr-CA"/>
              <a:t>Cadence d’un processus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87C2B32-71F0-459C-B321-6CA719B9A5EE}"/>
              </a:ext>
            </a:extLst>
          </p:cNvPr>
          <p:cNvSpPr txBox="1"/>
          <p:nvPr/>
        </p:nvSpPr>
        <p:spPr>
          <a:xfrm>
            <a:off x="508001" y="1517734"/>
            <a:ext cx="4098723" cy="3867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125000"/>
            </a:pPr>
            <a:r>
              <a:rPr lang="fr-CA" sz="1600" dirty="0"/>
              <a:t>Un processus est compose de 5 étapes avec les temps standard suivants :</a:t>
            </a:r>
          </a:p>
          <a:p>
            <a:pPr marL="361950" indent="-361950">
              <a:spcBef>
                <a:spcPct val="20000"/>
              </a:spcBef>
              <a:buClr>
                <a:schemeClr val="accent2"/>
              </a:buClr>
              <a:buSzPct val="90000"/>
              <a:buFont typeface="+mj-lt"/>
              <a:buAutoNum type="arabicParenR"/>
            </a:pPr>
            <a:r>
              <a:rPr lang="fr-CA" sz="1600" dirty="0"/>
              <a:t>17 min</a:t>
            </a:r>
          </a:p>
          <a:p>
            <a:pPr marL="361950" indent="-361950">
              <a:spcBef>
                <a:spcPct val="20000"/>
              </a:spcBef>
              <a:buClr>
                <a:schemeClr val="accent2"/>
              </a:buClr>
              <a:buSzPct val="90000"/>
              <a:buFont typeface="+mj-lt"/>
              <a:buAutoNum type="arabicParenR"/>
            </a:pPr>
            <a:r>
              <a:rPr lang="fr-CA" sz="1600" dirty="0"/>
              <a:t>18 min</a:t>
            </a:r>
          </a:p>
          <a:p>
            <a:pPr marL="361950" indent="-361950">
              <a:spcBef>
                <a:spcPct val="20000"/>
              </a:spcBef>
              <a:buClr>
                <a:schemeClr val="accent2"/>
              </a:buClr>
              <a:buSzPct val="90000"/>
              <a:buFont typeface="+mj-lt"/>
              <a:buAutoNum type="arabicParenR"/>
            </a:pPr>
            <a:r>
              <a:rPr lang="fr-CA" sz="1600" dirty="0"/>
              <a:t>15 min</a:t>
            </a:r>
          </a:p>
          <a:p>
            <a:pPr marL="361950" indent="-361950">
              <a:spcBef>
                <a:spcPct val="20000"/>
              </a:spcBef>
              <a:buClr>
                <a:schemeClr val="accent2"/>
              </a:buClr>
              <a:buSzPct val="90000"/>
              <a:buFont typeface="+mj-lt"/>
              <a:buAutoNum type="arabicParenR"/>
            </a:pPr>
            <a:r>
              <a:rPr lang="fr-CA" sz="1600" dirty="0"/>
              <a:t>16 min</a:t>
            </a:r>
          </a:p>
          <a:p>
            <a:pPr marL="361950" indent="-361950">
              <a:spcBef>
                <a:spcPct val="20000"/>
              </a:spcBef>
              <a:buClr>
                <a:schemeClr val="accent2"/>
              </a:buClr>
              <a:buSzPct val="90000"/>
              <a:buFont typeface="+mj-lt"/>
              <a:buAutoNum type="arabicParenR"/>
            </a:pPr>
            <a:r>
              <a:rPr lang="fr-CA" sz="1600" dirty="0"/>
              <a:t>17 min</a:t>
            </a:r>
          </a:p>
          <a:p>
            <a:pPr marL="266700" indent="-266700">
              <a:spcBef>
                <a:spcPct val="20000"/>
              </a:spcBef>
              <a:buClr>
                <a:schemeClr val="accent2"/>
              </a:buClr>
              <a:buSzPct val="125000"/>
            </a:pPr>
            <a:r>
              <a:rPr lang="fr-CA" sz="1600" dirty="0"/>
              <a:t>Calculez la cadence :</a:t>
            </a:r>
          </a:p>
          <a:p>
            <a:pPr marL="266700" indent="-266700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</a:pPr>
            <a:r>
              <a:rPr lang="fr-CA" sz="1600" u="sng" dirty="0"/>
              <a:t>d’un processus séquentiel </a:t>
            </a:r>
            <a:r>
              <a:rPr lang="fr-CA" sz="1600" dirty="0"/>
              <a:t>où chaque employé est assigné à une seule tâche.</a:t>
            </a:r>
          </a:p>
          <a:p>
            <a:pPr marL="266700" indent="-266700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</a:pPr>
            <a:r>
              <a:rPr lang="fr-CA" sz="1600" u="sng" dirty="0"/>
              <a:t>d’un processus parallèle</a:t>
            </a:r>
            <a:r>
              <a:rPr lang="fr-CA" sz="1600" dirty="0"/>
              <a:t>  où chaque employé réalise l’ensemble des tâches.</a:t>
            </a:r>
          </a:p>
        </p:txBody>
      </p:sp>
      <p:sp>
        <p:nvSpPr>
          <p:cNvPr id="12" name="ZoneTexte 6">
            <a:extLst>
              <a:ext uri="{FF2B5EF4-FFF2-40B4-BE49-F238E27FC236}">
                <a16:creationId xmlns:a16="http://schemas.microsoft.com/office/drawing/2014/main" id="{2EF48F3C-6A16-4DE7-A018-6BE7C172BA62}"/>
              </a:ext>
            </a:extLst>
          </p:cNvPr>
          <p:cNvSpPr txBox="1"/>
          <p:nvPr/>
        </p:nvSpPr>
        <p:spPr>
          <a:xfrm>
            <a:off x="4606725" y="1517735"/>
            <a:ext cx="5021276" cy="3716251"/>
          </a:xfrm>
          <a:prstGeom prst="rect">
            <a:avLst/>
          </a:prstGeom>
          <a:solidFill>
            <a:schemeClr val="accent5">
              <a:alpha val="21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125000"/>
            </a:pPr>
            <a:r>
              <a:rPr lang="fr-CA" sz="1500" b="1" dirty="0">
                <a:solidFill>
                  <a:schemeClr val="tx1"/>
                </a:solidFill>
                <a:latin typeface="Arial Black" panose="020B0A04020102020204" pitchFamily="34" charset="0"/>
              </a:rPr>
              <a:t>RÉPONSE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125000"/>
            </a:pPr>
            <a:endParaRPr lang="fr-CA" sz="1500" u="sng" dirty="0">
              <a:solidFill>
                <a:schemeClr val="tx1"/>
              </a:solidFill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125000"/>
            </a:pPr>
            <a:r>
              <a:rPr lang="fr-CA" sz="1700" u="sng" dirty="0">
                <a:solidFill>
                  <a:schemeClr val="tx1"/>
                </a:solidFill>
              </a:rPr>
              <a:t>Processus séquentiel</a:t>
            </a:r>
          </a:p>
          <a:p>
            <a:pPr indent="-154800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</a:pPr>
            <a:endParaRPr lang="fr-CA" sz="1700" u="sng" dirty="0">
              <a:solidFill>
                <a:schemeClr val="tx1"/>
              </a:solidFill>
            </a:endParaRPr>
          </a:p>
          <a:p>
            <a:pPr indent="-154800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</a:pPr>
            <a:endParaRPr lang="fr-CA" sz="1700" u="sng" dirty="0">
              <a:solidFill>
                <a:schemeClr val="tx1"/>
              </a:solidFill>
            </a:endParaRPr>
          </a:p>
          <a:p>
            <a:pPr indent="-154800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</a:pPr>
            <a:endParaRPr lang="fr-CA" sz="1700" u="sng" dirty="0">
              <a:solidFill>
                <a:schemeClr val="tx1"/>
              </a:solidFill>
            </a:endParaRPr>
          </a:p>
          <a:p>
            <a:pPr indent="-154800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</a:pPr>
            <a:endParaRPr lang="fr-CA" sz="1700" u="sng" dirty="0">
              <a:solidFill>
                <a:schemeClr val="tx1"/>
              </a:solidFill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125000"/>
            </a:pPr>
            <a:r>
              <a:rPr lang="fr-CA" sz="1700" u="sng" dirty="0">
                <a:solidFill>
                  <a:schemeClr val="tx1"/>
                </a:solidFill>
              </a:rPr>
              <a:t>Processus parallèle</a:t>
            </a:r>
            <a:endParaRPr lang="fr-CA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841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578F7BC-2661-4947-933D-56E5B07E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Taux d’utilisation d’un poste de travail</a:t>
            </a:r>
            <a:r>
              <a:rPr lang="fr-CA" sz="2000" dirty="0"/>
              <a:t> </a:t>
            </a:r>
            <a:br>
              <a:rPr lang="fr-CA" sz="2000" dirty="0"/>
            </a:br>
            <a:r>
              <a:rPr lang="fr-CA" sz="2000" dirty="0"/>
              <a:t>(avec ajustement au goulot)</a:t>
            </a:r>
            <a:endParaRPr lang="fr-CA" dirty="0"/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b="1" dirty="0"/>
              <a:t>Processus séquentiel :</a:t>
            </a:r>
          </a:p>
          <a:p>
            <a:endParaRPr lang="fr-CA" dirty="0"/>
          </a:p>
        </p:txBody>
      </p:sp>
      <p:sp>
        <p:nvSpPr>
          <p:cNvPr id="450567" name="Text Box 7"/>
          <p:cNvSpPr txBox="1">
            <a:spLocks noChangeArrowheads="1"/>
          </p:cNvSpPr>
          <p:nvPr/>
        </p:nvSpPr>
        <p:spPr bwMode="auto">
          <a:xfrm>
            <a:off x="2191546" y="2106574"/>
            <a:ext cx="2349103" cy="60016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650" dirty="0"/>
              <a:t>Taux d’utilisation d’un poste</a:t>
            </a:r>
          </a:p>
        </p:txBody>
      </p:sp>
      <p:sp>
        <p:nvSpPr>
          <p:cNvPr id="450568" name="Text Box 8"/>
          <p:cNvSpPr txBox="1">
            <a:spLocks noChangeArrowheads="1"/>
          </p:cNvSpPr>
          <p:nvPr/>
        </p:nvSpPr>
        <p:spPr bwMode="auto">
          <a:xfrm>
            <a:off x="4373961" y="2255401"/>
            <a:ext cx="32623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/>
              <a:t>=</a:t>
            </a:r>
          </a:p>
        </p:txBody>
      </p:sp>
      <p:sp>
        <p:nvSpPr>
          <p:cNvPr id="450569" name="Text Box 9"/>
          <p:cNvSpPr txBox="1">
            <a:spLocks noChangeArrowheads="1"/>
          </p:cNvSpPr>
          <p:nvPr/>
        </p:nvSpPr>
        <p:spPr bwMode="auto">
          <a:xfrm>
            <a:off x="4809730" y="2094669"/>
            <a:ext cx="2922985" cy="34624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650"/>
              <a:t>Cadence de l’étape goulot</a:t>
            </a:r>
          </a:p>
        </p:txBody>
      </p:sp>
      <p:sp>
        <p:nvSpPr>
          <p:cNvPr id="450570" name="Text Box 10"/>
          <p:cNvSpPr txBox="1">
            <a:spLocks noChangeArrowheads="1"/>
          </p:cNvSpPr>
          <p:nvPr/>
        </p:nvSpPr>
        <p:spPr bwMode="auto">
          <a:xfrm>
            <a:off x="4821634" y="2487575"/>
            <a:ext cx="2844404" cy="34624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650"/>
              <a:t>Cadence de cette étape</a:t>
            </a:r>
          </a:p>
        </p:txBody>
      </p:sp>
      <p:sp>
        <p:nvSpPr>
          <p:cNvPr id="450571" name="Line 11"/>
          <p:cNvSpPr>
            <a:spLocks noChangeShapeType="1"/>
          </p:cNvSpPr>
          <p:nvPr/>
        </p:nvSpPr>
        <p:spPr bwMode="auto">
          <a:xfrm>
            <a:off x="4756152" y="2431613"/>
            <a:ext cx="28110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fr-CA" sz="1350"/>
          </a:p>
        </p:txBody>
      </p:sp>
      <p:sp>
        <p:nvSpPr>
          <p:cNvPr id="450572" name="Rectangle 12"/>
          <p:cNvSpPr>
            <a:spLocks noChangeArrowheads="1"/>
          </p:cNvSpPr>
          <p:nvPr/>
        </p:nvSpPr>
        <p:spPr bwMode="auto">
          <a:xfrm>
            <a:off x="2136776" y="2038708"/>
            <a:ext cx="6037659" cy="809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450573" name="Text Box 13"/>
          <p:cNvSpPr txBox="1">
            <a:spLocks noChangeArrowheads="1"/>
          </p:cNvSpPr>
          <p:nvPr/>
        </p:nvSpPr>
        <p:spPr bwMode="auto">
          <a:xfrm>
            <a:off x="2183211" y="3679389"/>
            <a:ext cx="2293144" cy="60016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650" dirty="0"/>
              <a:t>Taux d’utilisation d’un poste</a:t>
            </a:r>
          </a:p>
        </p:txBody>
      </p:sp>
      <p:sp>
        <p:nvSpPr>
          <p:cNvPr id="450574" name="Text Box 14"/>
          <p:cNvSpPr txBox="1">
            <a:spLocks noChangeArrowheads="1"/>
          </p:cNvSpPr>
          <p:nvPr/>
        </p:nvSpPr>
        <p:spPr bwMode="auto">
          <a:xfrm>
            <a:off x="4357293" y="3798451"/>
            <a:ext cx="32623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/>
              <a:t>=</a:t>
            </a:r>
          </a:p>
        </p:txBody>
      </p:sp>
      <p:sp>
        <p:nvSpPr>
          <p:cNvPr id="450575" name="Text Box 15"/>
          <p:cNvSpPr txBox="1">
            <a:spLocks noChangeArrowheads="1"/>
          </p:cNvSpPr>
          <p:nvPr/>
        </p:nvSpPr>
        <p:spPr bwMode="auto">
          <a:xfrm>
            <a:off x="4986536" y="3621644"/>
            <a:ext cx="3519488" cy="34624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650" dirty="0"/>
              <a:t>Temps de cycle de l’étape</a:t>
            </a:r>
          </a:p>
        </p:txBody>
      </p:sp>
      <p:sp>
        <p:nvSpPr>
          <p:cNvPr id="450576" name="Text Box 16"/>
          <p:cNvSpPr txBox="1">
            <a:spLocks noChangeArrowheads="1"/>
          </p:cNvSpPr>
          <p:nvPr/>
        </p:nvSpPr>
        <p:spPr bwMode="auto">
          <a:xfrm>
            <a:off x="4683523" y="3994819"/>
            <a:ext cx="3226594" cy="60016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650" dirty="0"/>
              <a:t>Temps de  cycle de l’étape goulot</a:t>
            </a:r>
          </a:p>
        </p:txBody>
      </p:sp>
      <p:sp>
        <p:nvSpPr>
          <p:cNvPr id="450577" name="Line 17"/>
          <p:cNvSpPr>
            <a:spLocks noChangeShapeType="1"/>
          </p:cNvSpPr>
          <p:nvPr/>
        </p:nvSpPr>
        <p:spPr bwMode="auto">
          <a:xfrm>
            <a:off x="4678760" y="3961566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fr-CA" sz="1350"/>
          </a:p>
        </p:txBody>
      </p:sp>
      <p:sp>
        <p:nvSpPr>
          <p:cNvPr id="450579" name="Rectangle 19"/>
          <p:cNvSpPr>
            <a:spLocks noChangeArrowheads="1"/>
          </p:cNvSpPr>
          <p:nvPr/>
        </p:nvSpPr>
        <p:spPr bwMode="auto">
          <a:xfrm>
            <a:off x="2136776" y="3241239"/>
            <a:ext cx="6037660" cy="1438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</p:spTree>
    <p:extLst>
      <p:ext uri="{BB962C8B-B14F-4D97-AF65-F5344CB8AC3E}">
        <p14:creationId xmlns:p14="http://schemas.microsoft.com/office/powerpoint/2010/main" val="301413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7" grpId="0"/>
      <p:bldP spid="450568" grpId="0"/>
      <p:bldP spid="450569" grpId="0"/>
      <p:bldP spid="450570" grpId="0"/>
      <p:bldP spid="450571" grpId="0" animBg="1"/>
      <p:bldP spid="450572" grpId="0" animBg="1"/>
      <p:bldP spid="450573" grpId="0"/>
      <p:bldP spid="450574" grpId="0"/>
      <p:bldP spid="450575" grpId="0"/>
      <p:bldP spid="450576" grpId="0"/>
      <p:bldP spid="45057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ACBDAD-8FFC-4296-8DF8-8CC9F986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Taux d’utilisation (avec ou sans ajustement)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BD662E1-6827-42A4-A7B0-F13CFC89E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00" y="1523402"/>
            <a:ext cx="3171642" cy="356050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FF41156-DCC1-4358-BAD8-9127475DB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953" y="1826453"/>
            <a:ext cx="5251013" cy="237931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D8106BB-7B8C-42AD-9DF2-7DB5CAA25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5953" y="1768787"/>
            <a:ext cx="5359565" cy="237931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F429A6A-A54D-4759-B9C5-C49404DF34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5778" y="3048373"/>
            <a:ext cx="907256" cy="47863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06A4142-C8C8-46B4-BBF3-809CE10F3B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2922" y="3762851"/>
            <a:ext cx="892969" cy="44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6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2"/>
          <p:cNvSpPr txBox="1">
            <a:spLocks noChangeArrowheads="1"/>
          </p:cNvSpPr>
          <p:nvPr/>
        </p:nvSpPr>
        <p:spPr>
          <a:xfrm>
            <a:off x="1185733" y="285750"/>
            <a:ext cx="6300523" cy="798534"/>
          </a:xfrm>
          <a:prstGeom prst="rect">
            <a:avLst/>
          </a:prstGeom>
          <a:noFill/>
          <a:ln/>
        </p:spPr>
        <p:txBody>
          <a:bodyPr anchor="ctr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100" b="0" i="0" u="none" strike="noStrike" kern="0" cap="none" spc="0" normalizeH="0" baseline="0" noProof="0" dirty="0">
                <a:ln>
                  <a:noFill/>
                </a:ln>
                <a:solidFill>
                  <a:srgbClr val="97999B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Exemple d’un processus parallèle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746E3E1-14D6-4B07-AE4B-10C42923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1600" i="1" dirty="0"/>
              <a:t>Exercice</a:t>
            </a:r>
            <a:br>
              <a:rPr lang="fr-CA" dirty="0"/>
            </a:br>
            <a:r>
              <a:rPr lang="fr-CA" dirty="0"/>
              <a:t>Taux d’utilisation (avec ou sans ajustement)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D8B7A9D7-F5CC-CC40-E214-135FDD806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001" y="1461600"/>
          <a:ext cx="80670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3" imgW="4857565" imgH="504989" progId="Excel.Sheet.8">
                  <p:embed/>
                </p:oleObj>
              </mc:Choice>
              <mc:Fallback>
                <p:oleObj name="Feuille de calcul" r:id="rId3" imgW="4857565" imgH="504989" progId="Excel.Sheet.8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D8B7A9D7-F5CC-CC40-E214-135FDD806F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001" y="1461600"/>
                        <a:ext cx="8067000" cy="846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4">
            <a:extLst>
              <a:ext uri="{FF2B5EF4-FFF2-40B4-BE49-F238E27FC236}">
                <a16:creationId xmlns:a16="http://schemas.microsoft.com/office/drawing/2014/main" id="{CD2A8897-8A57-2F9F-628C-51B9D5FFC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50" y="2765913"/>
            <a:ext cx="642938" cy="641350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5E02C335-37FA-CAA7-334B-EDDB64943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6950" y="2765913"/>
            <a:ext cx="642938" cy="641350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67FECEEC-7773-BDBE-E8EB-3904659A6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138" y="2765913"/>
            <a:ext cx="642938" cy="641350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AC3A2E15-7BD3-241A-ECE4-515FF039A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738" y="2765913"/>
            <a:ext cx="642938" cy="641350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6D8330E0-8723-8A94-7E1C-D363AE5B6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925" y="2765913"/>
            <a:ext cx="642938" cy="641350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</a:t>
            </a:r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5D6D0EC3-741C-59D5-D8C1-29FE08529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913" y="2799250"/>
            <a:ext cx="758825" cy="576262"/>
          </a:xfrm>
          <a:prstGeom prst="rightArrow">
            <a:avLst>
              <a:gd name="adj1" fmla="val 50000"/>
              <a:gd name="adj2" fmla="val 32920"/>
            </a:avLst>
          </a:prstGeom>
          <a:noFill/>
          <a:ln w="38100" algn="ctr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15</a:t>
            </a:r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E10A5E31-A183-84E8-ACAA-0223C8BA9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700" y="2799250"/>
            <a:ext cx="758825" cy="576262"/>
          </a:xfrm>
          <a:prstGeom prst="rightArrow">
            <a:avLst>
              <a:gd name="adj1" fmla="val 50000"/>
              <a:gd name="adj2" fmla="val 32920"/>
            </a:avLst>
          </a:prstGeom>
          <a:noFill/>
          <a:ln w="38100" algn="ctr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</a:t>
            </a:r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9D5F019E-0E84-ECCE-1C3F-75128056E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888" y="2799250"/>
            <a:ext cx="758825" cy="576262"/>
          </a:xfrm>
          <a:prstGeom prst="rightArrow">
            <a:avLst>
              <a:gd name="adj1" fmla="val 50000"/>
              <a:gd name="adj2" fmla="val 32920"/>
            </a:avLst>
          </a:prstGeom>
          <a:noFill/>
          <a:ln w="38100" algn="ctr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9</a:t>
            </a:r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CB7B77A3-D15C-4694-AE46-7D2194FA0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7075" y="2799250"/>
            <a:ext cx="758825" cy="576262"/>
          </a:xfrm>
          <a:prstGeom prst="rightArrow">
            <a:avLst>
              <a:gd name="adj1" fmla="val 50000"/>
              <a:gd name="adj2" fmla="val 32920"/>
            </a:avLst>
          </a:prstGeom>
          <a:noFill/>
          <a:ln w="38100" algn="ctr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9</a:t>
            </a: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B2AF2164-D806-8C40-7F85-B370DDBE8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100" y="2799250"/>
            <a:ext cx="758825" cy="576262"/>
          </a:xfrm>
          <a:prstGeom prst="rightArrow">
            <a:avLst>
              <a:gd name="adj1" fmla="val 50000"/>
              <a:gd name="adj2" fmla="val 32920"/>
            </a:avLst>
          </a:prstGeom>
          <a:noFill/>
          <a:ln w="38100" algn="ctr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4827ADC-960A-2DEB-7DA7-878719EDB010}"/>
              </a:ext>
            </a:extLst>
          </p:cNvPr>
          <p:cNvSpPr txBox="1"/>
          <p:nvPr/>
        </p:nvSpPr>
        <p:spPr>
          <a:xfrm>
            <a:off x="284350" y="3599828"/>
            <a:ext cx="4736892" cy="32228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r>
              <a:rPr kumimoji="0" lang="fr-CA" sz="167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Taux d’utilisation sans ajustement au goulot :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BCA8B97-C1BC-EAF4-12AB-9885D245F92E}"/>
              </a:ext>
            </a:extLst>
          </p:cNvPr>
          <p:cNvSpPr txBox="1"/>
          <p:nvPr/>
        </p:nvSpPr>
        <p:spPr>
          <a:xfrm>
            <a:off x="284350" y="3922117"/>
            <a:ext cx="817563" cy="380060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endParaRPr kumimoji="0" lang="en-CA" sz="1600" b="1" i="0" u="none" strike="noStrike" kern="1200" cap="none" spc="0" normalizeH="0" baseline="0" noProof="0" dirty="0">
              <a:ln>
                <a:noFill/>
              </a:ln>
              <a:solidFill>
                <a:srgbClr val="003C7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72C8A3B-3D8E-DF79-4D6E-A207D1AEBB36}"/>
              </a:ext>
            </a:extLst>
          </p:cNvPr>
          <p:cNvSpPr txBox="1"/>
          <p:nvPr/>
        </p:nvSpPr>
        <p:spPr>
          <a:xfrm>
            <a:off x="1949637" y="3922117"/>
            <a:ext cx="817563" cy="380060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endParaRPr kumimoji="0" lang="en-CA" sz="1600" b="1" i="0" u="none" strike="noStrike" kern="1200" cap="none" spc="0" normalizeH="0" baseline="0" noProof="0" dirty="0">
              <a:ln>
                <a:noFill/>
              </a:ln>
              <a:solidFill>
                <a:srgbClr val="003C7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BA758B1-4AFB-316F-F157-0E09C5D15B11}"/>
              </a:ext>
            </a:extLst>
          </p:cNvPr>
          <p:cNvSpPr txBox="1"/>
          <p:nvPr/>
        </p:nvSpPr>
        <p:spPr>
          <a:xfrm>
            <a:off x="3703825" y="3919309"/>
            <a:ext cx="817563" cy="380060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endParaRPr kumimoji="0" lang="en-CA" sz="1600" b="1" i="0" u="none" strike="noStrike" kern="1200" cap="none" spc="0" normalizeH="0" baseline="0" noProof="0" dirty="0">
              <a:ln>
                <a:noFill/>
              </a:ln>
              <a:solidFill>
                <a:srgbClr val="003C7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2FBC8A8-71EE-7FB5-0FEA-88C362C3B11E}"/>
              </a:ext>
            </a:extLst>
          </p:cNvPr>
          <p:cNvSpPr txBox="1"/>
          <p:nvPr/>
        </p:nvSpPr>
        <p:spPr>
          <a:xfrm>
            <a:off x="5458239" y="3922117"/>
            <a:ext cx="817563" cy="380060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endParaRPr kumimoji="0" lang="en-CA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CE43F90-C459-3961-81C2-447CCE62F55A}"/>
              </a:ext>
            </a:extLst>
          </p:cNvPr>
          <p:cNvSpPr txBox="1"/>
          <p:nvPr/>
        </p:nvSpPr>
        <p:spPr>
          <a:xfrm>
            <a:off x="7245167" y="3922117"/>
            <a:ext cx="817563" cy="380060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endParaRPr kumimoji="0" lang="en-CA" sz="1600" b="1" i="0" u="none" strike="noStrike" kern="1200" cap="none" spc="0" normalizeH="0" baseline="0" noProof="0" dirty="0">
              <a:ln>
                <a:noFill/>
              </a:ln>
              <a:solidFill>
                <a:srgbClr val="003C7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35854BD-8F6E-B550-7250-DACA5D765AA6}"/>
              </a:ext>
            </a:extLst>
          </p:cNvPr>
          <p:cNvSpPr txBox="1"/>
          <p:nvPr/>
        </p:nvSpPr>
        <p:spPr>
          <a:xfrm>
            <a:off x="284350" y="4420358"/>
            <a:ext cx="4736892" cy="32228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r>
              <a:rPr kumimoji="0" lang="fr-CA" sz="167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Taux d’utilisation avec ajustement au goulot :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AD0C9D6-CEDE-068C-81FA-C1923A5B166C}"/>
              </a:ext>
            </a:extLst>
          </p:cNvPr>
          <p:cNvSpPr txBox="1"/>
          <p:nvPr/>
        </p:nvSpPr>
        <p:spPr>
          <a:xfrm>
            <a:off x="284350" y="4742647"/>
            <a:ext cx="817563" cy="380060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endParaRPr kumimoji="0" lang="en-CA" sz="1600" b="1" i="0" u="none" strike="noStrike" kern="1200" cap="none" spc="0" normalizeH="0" baseline="0" noProof="0" dirty="0">
              <a:ln>
                <a:noFill/>
              </a:ln>
              <a:solidFill>
                <a:srgbClr val="003C7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6214357-15EA-3B0D-3AA1-A5BB4B69480F}"/>
              </a:ext>
            </a:extLst>
          </p:cNvPr>
          <p:cNvSpPr txBox="1"/>
          <p:nvPr/>
        </p:nvSpPr>
        <p:spPr>
          <a:xfrm>
            <a:off x="1949637" y="4742647"/>
            <a:ext cx="817563" cy="380060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endParaRPr kumimoji="0" lang="en-CA" sz="1600" b="1" i="0" u="none" strike="noStrike" kern="1200" cap="none" spc="0" normalizeH="0" baseline="0" noProof="0" dirty="0">
              <a:ln>
                <a:noFill/>
              </a:ln>
              <a:solidFill>
                <a:srgbClr val="003C7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A3E2FFC-EFB7-C3AF-337E-CC23628A9368}"/>
              </a:ext>
            </a:extLst>
          </p:cNvPr>
          <p:cNvSpPr txBox="1"/>
          <p:nvPr/>
        </p:nvSpPr>
        <p:spPr>
          <a:xfrm>
            <a:off x="3703825" y="4739839"/>
            <a:ext cx="817563" cy="380060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endParaRPr kumimoji="0" lang="en-CA" sz="1600" b="1" i="0" u="none" strike="noStrike" kern="1200" cap="none" spc="0" normalizeH="0" baseline="0" noProof="0" dirty="0">
              <a:ln>
                <a:noFill/>
              </a:ln>
              <a:solidFill>
                <a:srgbClr val="003C7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DAE0C68-8F12-363F-6B83-F947EB12F1D9}"/>
              </a:ext>
            </a:extLst>
          </p:cNvPr>
          <p:cNvSpPr txBox="1"/>
          <p:nvPr/>
        </p:nvSpPr>
        <p:spPr>
          <a:xfrm>
            <a:off x="5458239" y="4742647"/>
            <a:ext cx="817563" cy="380060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endParaRPr kumimoji="0" lang="en-CA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3954D93-1FD6-97AE-7A60-0A4E64E328ED}"/>
              </a:ext>
            </a:extLst>
          </p:cNvPr>
          <p:cNvSpPr txBox="1"/>
          <p:nvPr/>
        </p:nvSpPr>
        <p:spPr>
          <a:xfrm>
            <a:off x="7245167" y="4742647"/>
            <a:ext cx="817563" cy="380060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  <a:buFontTx/>
              <a:buNone/>
              <a:tabLst/>
              <a:defRPr/>
            </a:pPr>
            <a:endParaRPr kumimoji="0" lang="en-CA" sz="1600" b="1" i="0" u="none" strike="noStrike" kern="1200" cap="none" spc="0" normalizeH="0" baseline="0" noProof="0" dirty="0">
              <a:ln>
                <a:noFill/>
              </a:ln>
              <a:solidFill>
                <a:srgbClr val="003C7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581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Oval 2"/>
          <p:cNvSpPr>
            <a:spLocks noChangeArrowheads="1"/>
          </p:cNvSpPr>
          <p:nvPr/>
        </p:nvSpPr>
        <p:spPr bwMode="auto">
          <a:xfrm>
            <a:off x="2780280" y="2091559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A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112589" y="1524821"/>
            <a:ext cx="485775" cy="1619250"/>
            <a:chOff x="1565" y="1344"/>
            <a:chExt cx="408" cy="1360"/>
          </a:xfrm>
        </p:grpSpPr>
        <p:sp>
          <p:nvSpPr>
            <p:cNvPr id="544772" name="Oval 4"/>
            <p:cNvSpPr>
              <a:spLocks noChangeArrowheads="1"/>
            </p:cNvSpPr>
            <p:nvPr/>
          </p:nvSpPr>
          <p:spPr bwMode="auto">
            <a:xfrm>
              <a:off x="1565" y="1344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fr-CA" b="1"/>
                <a:t>B</a:t>
              </a:r>
            </a:p>
          </p:txBody>
        </p:sp>
        <p:sp>
          <p:nvSpPr>
            <p:cNvPr id="544773" name="Oval 5"/>
            <p:cNvSpPr>
              <a:spLocks noChangeArrowheads="1"/>
            </p:cNvSpPr>
            <p:nvPr/>
          </p:nvSpPr>
          <p:spPr bwMode="auto">
            <a:xfrm>
              <a:off x="1565" y="1820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fr-CA" b="1"/>
                <a:t>B</a:t>
              </a:r>
            </a:p>
          </p:txBody>
        </p:sp>
        <p:sp>
          <p:nvSpPr>
            <p:cNvPr id="544774" name="Oval 6"/>
            <p:cNvSpPr>
              <a:spLocks noChangeArrowheads="1"/>
            </p:cNvSpPr>
            <p:nvPr/>
          </p:nvSpPr>
          <p:spPr bwMode="auto">
            <a:xfrm>
              <a:off x="1565" y="2296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fr-CA" b="1"/>
                <a:t>B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444898" y="1767709"/>
            <a:ext cx="485775" cy="1133475"/>
            <a:chOff x="2494" y="1344"/>
            <a:chExt cx="408" cy="952"/>
          </a:xfrm>
        </p:grpSpPr>
        <p:sp>
          <p:nvSpPr>
            <p:cNvPr id="544776" name="Oval 8"/>
            <p:cNvSpPr>
              <a:spLocks noChangeArrowheads="1"/>
            </p:cNvSpPr>
            <p:nvPr/>
          </p:nvSpPr>
          <p:spPr bwMode="auto">
            <a:xfrm>
              <a:off x="2494" y="1344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fr-CA" b="1"/>
                <a:t>C</a:t>
              </a:r>
            </a:p>
          </p:txBody>
        </p:sp>
        <p:sp>
          <p:nvSpPr>
            <p:cNvPr id="544777" name="Oval 9"/>
            <p:cNvSpPr>
              <a:spLocks noChangeArrowheads="1"/>
            </p:cNvSpPr>
            <p:nvPr/>
          </p:nvSpPr>
          <p:spPr bwMode="auto">
            <a:xfrm>
              <a:off x="2494" y="1888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fr-CA" b="1"/>
                <a:t>C</a:t>
              </a:r>
            </a:p>
          </p:txBody>
        </p:sp>
      </p:grpSp>
      <p:sp>
        <p:nvSpPr>
          <p:cNvPr id="544778" name="Oval 10"/>
          <p:cNvSpPr>
            <a:spLocks noChangeArrowheads="1"/>
          </p:cNvSpPr>
          <p:nvPr/>
        </p:nvSpPr>
        <p:spPr bwMode="auto">
          <a:xfrm>
            <a:off x="6777208" y="2091559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D</a:t>
            </a:r>
          </a:p>
        </p:txBody>
      </p:sp>
      <p:cxnSp>
        <p:nvCxnSpPr>
          <p:cNvPr id="544779" name="AutoShape 11"/>
          <p:cNvCxnSpPr>
            <a:cxnSpLocks noChangeShapeType="1"/>
            <a:stCxn id="544770" idx="7"/>
            <a:endCxn id="544772" idx="2"/>
          </p:cNvCxnSpPr>
          <p:nvPr/>
        </p:nvCxnSpPr>
        <p:spPr bwMode="auto">
          <a:xfrm flipV="1">
            <a:off x="3194617" y="1767708"/>
            <a:ext cx="907256" cy="384572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544780" name="AutoShape 12"/>
          <p:cNvCxnSpPr>
            <a:cxnSpLocks noChangeShapeType="1"/>
            <a:stCxn id="544770" idx="6"/>
            <a:endCxn id="544773" idx="2"/>
          </p:cNvCxnSpPr>
          <p:nvPr/>
        </p:nvCxnSpPr>
        <p:spPr bwMode="auto">
          <a:xfrm>
            <a:off x="3276772" y="2334446"/>
            <a:ext cx="825103" cy="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544781" name="AutoShape 13"/>
          <p:cNvCxnSpPr>
            <a:cxnSpLocks noChangeShapeType="1"/>
            <a:stCxn id="544770" idx="5"/>
            <a:endCxn id="544774" idx="2"/>
          </p:cNvCxnSpPr>
          <p:nvPr/>
        </p:nvCxnSpPr>
        <p:spPr bwMode="auto">
          <a:xfrm>
            <a:off x="3194617" y="2516612"/>
            <a:ext cx="907256" cy="384572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544782" name="AutoShape 14"/>
          <p:cNvCxnSpPr>
            <a:cxnSpLocks noChangeShapeType="1"/>
            <a:stCxn id="544776" idx="6"/>
            <a:endCxn id="544778" idx="2"/>
          </p:cNvCxnSpPr>
          <p:nvPr/>
        </p:nvCxnSpPr>
        <p:spPr bwMode="auto">
          <a:xfrm>
            <a:off x="5941390" y="2010596"/>
            <a:ext cx="825103" cy="32385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544783" name="AutoShape 15"/>
          <p:cNvCxnSpPr>
            <a:cxnSpLocks noChangeShapeType="1"/>
            <a:stCxn id="544777" idx="6"/>
            <a:endCxn id="544778" idx="2"/>
          </p:cNvCxnSpPr>
          <p:nvPr/>
        </p:nvCxnSpPr>
        <p:spPr bwMode="auto">
          <a:xfrm flipV="1">
            <a:off x="5941390" y="2334446"/>
            <a:ext cx="825103" cy="32385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544784" name="AutoShape 16"/>
          <p:cNvCxnSpPr>
            <a:cxnSpLocks noChangeShapeType="1"/>
            <a:stCxn id="544772" idx="6"/>
          </p:cNvCxnSpPr>
          <p:nvPr/>
        </p:nvCxnSpPr>
        <p:spPr bwMode="auto">
          <a:xfrm>
            <a:off x="4609079" y="1767708"/>
            <a:ext cx="347663" cy="517922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544785" name="AutoShape 17"/>
          <p:cNvCxnSpPr>
            <a:cxnSpLocks noChangeShapeType="1"/>
            <a:stCxn id="544773" idx="6"/>
          </p:cNvCxnSpPr>
          <p:nvPr/>
        </p:nvCxnSpPr>
        <p:spPr bwMode="auto">
          <a:xfrm>
            <a:off x="4609081" y="2334447"/>
            <a:ext cx="321469" cy="119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544786" name="AutoShape 18"/>
          <p:cNvCxnSpPr>
            <a:cxnSpLocks noChangeShapeType="1"/>
            <a:stCxn id="544774" idx="6"/>
          </p:cNvCxnSpPr>
          <p:nvPr/>
        </p:nvCxnSpPr>
        <p:spPr bwMode="auto">
          <a:xfrm flipV="1">
            <a:off x="4609079" y="2384454"/>
            <a:ext cx="347663" cy="516731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544787" name="AutoShape 19"/>
          <p:cNvCxnSpPr>
            <a:cxnSpLocks noChangeShapeType="1"/>
            <a:endCxn id="544776" idx="2"/>
          </p:cNvCxnSpPr>
          <p:nvPr/>
        </p:nvCxnSpPr>
        <p:spPr bwMode="auto">
          <a:xfrm flipV="1">
            <a:off x="5034132" y="2010596"/>
            <a:ext cx="400050" cy="275034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544788" name="AutoShape 20"/>
          <p:cNvCxnSpPr>
            <a:cxnSpLocks noChangeShapeType="1"/>
            <a:endCxn id="544777" idx="2"/>
          </p:cNvCxnSpPr>
          <p:nvPr/>
        </p:nvCxnSpPr>
        <p:spPr bwMode="auto">
          <a:xfrm>
            <a:off x="5060327" y="2335637"/>
            <a:ext cx="373856" cy="32266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</p:cxnSp>
      <p:sp>
        <p:nvSpPr>
          <p:cNvPr id="544789" name="Text Box 21"/>
          <p:cNvSpPr txBox="1">
            <a:spLocks noChangeArrowheads="1"/>
          </p:cNvSpPr>
          <p:nvPr/>
        </p:nvSpPr>
        <p:spPr bwMode="auto">
          <a:xfrm>
            <a:off x="2602878" y="3266707"/>
            <a:ext cx="4982765" cy="507831"/>
          </a:xfrm>
          <a:prstGeom prst="rect">
            <a:avLst/>
          </a:prstGeom>
          <a:noFill/>
          <a:ln w="28575" algn="ctr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fr-CA" sz="1350"/>
              <a:t> </a:t>
            </a:r>
            <a:r>
              <a:rPr lang="fr-CA" sz="1350" b="1">
                <a:solidFill>
                  <a:srgbClr val="009C98"/>
                </a:solidFill>
              </a:rPr>
              <a:t>T.S.                          T.S.                     T.S.                      T.S.</a:t>
            </a:r>
          </a:p>
          <a:p>
            <a:r>
              <a:rPr lang="fr-CA" sz="1350" b="1">
                <a:solidFill>
                  <a:srgbClr val="009C98"/>
                </a:solidFill>
              </a:rPr>
              <a:t>2 min                        9 min                  5 min                   1 min</a:t>
            </a:r>
          </a:p>
        </p:txBody>
      </p:sp>
      <p:graphicFrame>
        <p:nvGraphicFramePr>
          <p:cNvPr id="54479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914697"/>
              </p:ext>
            </p:extLst>
          </p:nvPr>
        </p:nvGraphicFramePr>
        <p:xfrm>
          <a:off x="1395413" y="3838575"/>
          <a:ext cx="7635875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62692" imgH="1028938" progId="Excel.Sheet.8">
                  <p:embed/>
                </p:oleObj>
              </mc:Choice>
              <mc:Fallback>
                <p:oleObj name="Worksheet" r:id="rId3" imgW="4762692" imgH="1028938" progId="Excel.Sheet.8">
                  <p:embed/>
                  <p:pic>
                    <p:nvPicPr>
                      <p:cNvPr id="54479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3838575"/>
                        <a:ext cx="7635875" cy="161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2"/>
          <p:cNvSpPr txBox="1">
            <a:spLocks noChangeArrowheads="1"/>
          </p:cNvSpPr>
          <p:nvPr/>
        </p:nvSpPr>
        <p:spPr>
          <a:xfrm>
            <a:off x="1185733" y="285750"/>
            <a:ext cx="6300523" cy="798534"/>
          </a:xfrm>
          <a:prstGeom prst="rect">
            <a:avLst/>
          </a:prstGeom>
          <a:noFill/>
          <a:ln/>
        </p:spPr>
        <p:txBody>
          <a:bodyPr anchor="ctr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r>
              <a:rPr lang="fr-CA" sz="2100" kern="0" dirty="0"/>
              <a:t>Exemple d’un processus séquentiel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2E718C5-FA40-4EE3-A879-E3182E01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1600" i="1" dirty="0"/>
              <a:t>Exercice</a:t>
            </a:r>
            <a:br>
              <a:rPr lang="fr-CA" dirty="0"/>
            </a:br>
            <a:r>
              <a:rPr lang="fr-CA" dirty="0"/>
              <a:t>Processus séquentiel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12569B1-6512-AF11-FD56-377F308714FB}"/>
              </a:ext>
            </a:extLst>
          </p:cNvPr>
          <p:cNvSpPr txBox="1"/>
          <p:nvPr/>
        </p:nvSpPr>
        <p:spPr>
          <a:xfrm>
            <a:off x="1395413" y="5451475"/>
            <a:ext cx="7635875" cy="19981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20000"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900" dirty="0"/>
              <a:t>* Taux d’utilisation avec ajustement au goulot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794" name="Group 2"/>
          <p:cNvGrpSpPr>
            <a:grpSpLocks/>
          </p:cNvGrpSpPr>
          <p:nvPr/>
        </p:nvGrpSpPr>
        <p:grpSpPr bwMode="auto">
          <a:xfrm>
            <a:off x="1849694" y="1750219"/>
            <a:ext cx="858440" cy="1759744"/>
            <a:chOff x="0" y="682"/>
            <a:chExt cx="721" cy="1478"/>
          </a:xfrm>
        </p:grpSpPr>
        <p:sp>
          <p:nvSpPr>
            <p:cNvPr id="545795" name="Oval 3"/>
            <p:cNvSpPr>
              <a:spLocks noChangeArrowheads="1"/>
            </p:cNvSpPr>
            <p:nvPr/>
          </p:nvSpPr>
          <p:spPr bwMode="auto">
            <a:xfrm>
              <a:off x="14" y="765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fr-CA" b="1"/>
                <a:t>A</a:t>
              </a:r>
            </a:p>
          </p:txBody>
        </p:sp>
        <p:sp>
          <p:nvSpPr>
            <p:cNvPr id="545796" name="Oval 4"/>
            <p:cNvSpPr>
              <a:spLocks noChangeArrowheads="1"/>
            </p:cNvSpPr>
            <p:nvPr/>
          </p:nvSpPr>
          <p:spPr bwMode="auto">
            <a:xfrm>
              <a:off x="279" y="989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fr-CA" b="1"/>
                <a:t>B</a:t>
              </a:r>
            </a:p>
          </p:txBody>
        </p:sp>
        <p:sp>
          <p:nvSpPr>
            <p:cNvPr id="545797" name="Oval 5"/>
            <p:cNvSpPr>
              <a:spLocks noChangeArrowheads="1"/>
            </p:cNvSpPr>
            <p:nvPr/>
          </p:nvSpPr>
          <p:spPr bwMode="auto">
            <a:xfrm>
              <a:off x="0" y="1136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fr-CA" b="1"/>
                <a:t>C</a:t>
              </a:r>
            </a:p>
          </p:txBody>
        </p:sp>
        <p:sp>
          <p:nvSpPr>
            <p:cNvPr id="545798" name="Oval 6"/>
            <p:cNvSpPr>
              <a:spLocks noChangeArrowheads="1"/>
            </p:cNvSpPr>
            <p:nvPr/>
          </p:nvSpPr>
          <p:spPr bwMode="auto">
            <a:xfrm>
              <a:off x="270" y="1340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fr-CA" b="1"/>
                <a:t>D</a:t>
              </a:r>
            </a:p>
          </p:txBody>
        </p:sp>
        <p:sp>
          <p:nvSpPr>
            <p:cNvPr id="545799" name="Rectangle 7"/>
            <p:cNvSpPr>
              <a:spLocks noChangeArrowheads="1"/>
            </p:cNvSpPr>
            <p:nvPr/>
          </p:nvSpPr>
          <p:spPr bwMode="auto">
            <a:xfrm>
              <a:off x="0" y="682"/>
              <a:ext cx="721" cy="1478"/>
            </a:xfrm>
            <a:prstGeom prst="rect">
              <a:avLst/>
            </a:prstGeom>
            <a:noFill/>
            <a:ln w="38100">
              <a:solidFill>
                <a:srgbClr val="0A1BBA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fr-CA" sz="1350"/>
            </a:p>
          </p:txBody>
        </p:sp>
      </p:grpSp>
      <p:sp>
        <p:nvSpPr>
          <p:cNvPr id="545801" name="Oval 9"/>
          <p:cNvSpPr>
            <a:spLocks noChangeArrowheads="1"/>
          </p:cNvSpPr>
          <p:nvPr/>
        </p:nvSpPr>
        <p:spPr bwMode="auto">
          <a:xfrm>
            <a:off x="2783144" y="1850232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A</a:t>
            </a:r>
          </a:p>
        </p:txBody>
      </p:sp>
      <p:sp>
        <p:nvSpPr>
          <p:cNvPr id="545802" name="Oval 10"/>
          <p:cNvSpPr>
            <a:spLocks noChangeArrowheads="1"/>
          </p:cNvSpPr>
          <p:nvPr/>
        </p:nvSpPr>
        <p:spPr bwMode="auto">
          <a:xfrm>
            <a:off x="3098659" y="2116932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B</a:t>
            </a:r>
          </a:p>
        </p:txBody>
      </p:sp>
      <p:sp>
        <p:nvSpPr>
          <p:cNvPr id="545803" name="Oval 11"/>
          <p:cNvSpPr>
            <a:spLocks noChangeArrowheads="1"/>
          </p:cNvSpPr>
          <p:nvPr/>
        </p:nvSpPr>
        <p:spPr bwMode="auto">
          <a:xfrm>
            <a:off x="2766475" y="2291954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C</a:t>
            </a:r>
          </a:p>
        </p:txBody>
      </p:sp>
      <p:sp>
        <p:nvSpPr>
          <p:cNvPr id="545804" name="Oval 12"/>
          <p:cNvSpPr>
            <a:spLocks noChangeArrowheads="1"/>
          </p:cNvSpPr>
          <p:nvPr/>
        </p:nvSpPr>
        <p:spPr bwMode="auto">
          <a:xfrm>
            <a:off x="3087944" y="2534842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D</a:t>
            </a:r>
          </a:p>
        </p:txBody>
      </p:sp>
      <p:sp>
        <p:nvSpPr>
          <p:cNvPr id="545805" name="Rectangle 13"/>
          <p:cNvSpPr>
            <a:spLocks noChangeArrowheads="1"/>
          </p:cNvSpPr>
          <p:nvPr/>
        </p:nvSpPr>
        <p:spPr bwMode="auto">
          <a:xfrm>
            <a:off x="2766475" y="1751410"/>
            <a:ext cx="858440" cy="1759744"/>
          </a:xfrm>
          <a:prstGeom prst="rect">
            <a:avLst/>
          </a:prstGeom>
          <a:noFill/>
          <a:ln w="38100">
            <a:solidFill>
              <a:srgbClr val="0A1BBA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545807" name="Oval 15"/>
          <p:cNvSpPr>
            <a:spLocks noChangeArrowheads="1"/>
          </p:cNvSpPr>
          <p:nvPr/>
        </p:nvSpPr>
        <p:spPr bwMode="auto">
          <a:xfrm>
            <a:off x="3685637" y="1851423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A</a:t>
            </a:r>
          </a:p>
        </p:txBody>
      </p:sp>
      <p:sp>
        <p:nvSpPr>
          <p:cNvPr id="545808" name="Oval 16"/>
          <p:cNvSpPr>
            <a:spLocks noChangeArrowheads="1"/>
          </p:cNvSpPr>
          <p:nvPr/>
        </p:nvSpPr>
        <p:spPr bwMode="auto">
          <a:xfrm>
            <a:off x="4001153" y="2118123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B</a:t>
            </a:r>
          </a:p>
        </p:txBody>
      </p:sp>
      <p:sp>
        <p:nvSpPr>
          <p:cNvPr id="545809" name="Oval 17"/>
          <p:cNvSpPr>
            <a:spLocks noChangeArrowheads="1"/>
          </p:cNvSpPr>
          <p:nvPr/>
        </p:nvSpPr>
        <p:spPr bwMode="auto">
          <a:xfrm>
            <a:off x="3668969" y="2293144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C</a:t>
            </a:r>
          </a:p>
        </p:txBody>
      </p:sp>
      <p:sp>
        <p:nvSpPr>
          <p:cNvPr id="545810" name="Oval 18"/>
          <p:cNvSpPr>
            <a:spLocks noChangeArrowheads="1"/>
          </p:cNvSpPr>
          <p:nvPr/>
        </p:nvSpPr>
        <p:spPr bwMode="auto">
          <a:xfrm>
            <a:off x="3990437" y="2536032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D</a:t>
            </a:r>
          </a:p>
        </p:txBody>
      </p:sp>
      <p:sp>
        <p:nvSpPr>
          <p:cNvPr id="545811" name="Rectangle 19"/>
          <p:cNvSpPr>
            <a:spLocks noChangeArrowheads="1"/>
          </p:cNvSpPr>
          <p:nvPr/>
        </p:nvSpPr>
        <p:spPr bwMode="auto">
          <a:xfrm>
            <a:off x="3668969" y="1752601"/>
            <a:ext cx="858440" cy="1759744"/>
          </a:xfrm>
          <a:prstGeom prst="rect">
            <a:avLst/>
          </a:prstGeom>
          <a:noFill/>
          <a:ln w="38100">
            <a:solidFill>
              <a:srgbClr val="0A1BBA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545813" name="Oval 21"/>
          <p:cNvSpPr>
            <a:spLocks noChangeArrowheads="1"/>
          </p:cNvSpPr>
          <p:nvPr/>
        </p:nvSpPr>
        <p:spPr bwMode="auto">
          <a:xfrm>
            <a:off x="4600037" y="1851423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A</a:t>
            </a:r>
          </a:p>
        </p:txBody>
      </p:sp>
      <p:sp>
        <p:nvSpPr>
          <p:cNvPr id="545814" name="Oval 22"/>
          <p:cNvSpPr>
            <a:spLocks noChangeArrowheads="1"/>
          </p:cNvSpPr>
          <p:nvPr/>
        </p:nvSpPr>
        <p:spPr bwMode="auto">
          <a:xfrm>
            <a:off x="4915553" y="2118123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B</a:t>
            </a:r>
          </a:p>
        </p:txBody>
      </p:sp>
      <p:sp>
        <p:nvSpPr>
          <p:cNvPr id="545815" name="Oval 23"/>
          <p:cNvSpPr>
            <a:spLocks noChangeArrowheads="1"/>
          </p:cNvSpPr>
          <p:nvPr/>
        </p:nvSpPr>
        <p:spPr bwMode="auto">
          <a:xfrm>
            <a:off x="4583369" y="2293144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C</a:t>
            </a:r>
          </a:p>
        </p:txBody>
      </p:sp>
      <p:sp>
        <p:nvSpPr>
          <p:cNvPr id="545816" name="Oval 24"/>
          <p:cNvSpPr>
            <a:spLocks noChangeArrowheads="1"/>
          </p:cNvSpPr>
          <p:nvPr/>
        </p:nvSpPr>
        <p:spPr bwMode="auto">
          <a:xfrm>
            <a:off x="4904837" y="2536032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D</a:t>
            </a:r>
          </a:p>
        </p:txBody>
      </p:sp>
      <p:sp>
        <p:nvSpPr>
          <p:cNvPr id="545817" name="Rectangle 25"/>
          <p:cNvSpPr>
            <a:spLocks noChangeArrowheads="1"/>
          </p:cNvSpPr>
          <p:nvPr/>
        </p:nvSpPr>
        <p:spPr bwMode="auto">
          <a:xfrm>
            <a:off x="4583369" y="1752601"/>
            <a:ext cx="858440" cy="1759744"/>
          </a:xfrm>
          <a:prstGeom prst="rect">
            <a:avLst/>
          </a:prstGeom>
          <a:noFill/>
          <a:ln w="38100">
            <a:solidFill>
              <a:srgbClr val="0A1BBA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545819" name="Oval 27"/>
          <p:cNvSpPr>
            <a:spLocks noChangeArrowheads="1"/>
          </p:cNvSpPr>
          <p:nvPr/>
        </p:nvSpPr>
        <p:spPr bwMode="auto">
          <a:xfrm>
            <a:off x="5503721" y="1851423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A</a:t>
            </a:r>
          </a:p>
        </p:txBody>
      </p:sp>
      <p:sp>
        <p:nvSpPr>
          <p:cNvPr id="545820" name="Oval 28"/>
          <p:cNvSpPr>
            <a:spLocks noChangeArrowheads="1"/>
          </p:cNvSpPr>
          <p:nvPr/>
        </p:nvSpPr>
        <p:spPr bwMode="auto">
          <a:xfrm>
            <a:off x="5819237" y="2118123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B</a:t>
            </a:r>
          </a:p>
        </p:txBody>
      </p:sp>
      <p:sp>
        <p:nvSpPr>
          <p:cNvPr id="545821" name="Oval 29"/>
          <p:cNvSpPr>
            <a:spLocks noChangeArrowheads="1"/>
          </p:cNvSpPr>
          <p:nvPr/>
        </p:nvSpPr>
        <p:spPr bwMode="auto">
          <a:xfrm>
            <a:off x="5487053" y="2293144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C</a:t>
            </a:r>
          </a:p>
        </p:txBody>
      </p:sp>
      <p:sp>
        <p:nvSpPr>
          <p:cNvPr id="545822" name="Oval 30"/>
          <p:cNvSpPr>
            <a:spLocks noChangeArrowheads="1"/>
          </p:cNvSpPr>
          <p:nvPr/>
        </p:nvSpPr>
        <p:spPr bwMode="auto">
          <a:xfrm>
            <a:off x="5808521" y="2536032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D</a:t>
            </a:r>
          </a:p>
        </p:txBody>
      </p:sp>
      <p:sp>
        <p:nvSpPr>
          <p:cNvPr id="545823" name="Rectangle 31"/>
          <p:cNvSpPr>
            <a:spLocks noChangeArrowheads="1"/>
          </p:cNvSpPr>
          <p:nvPr/>
        </p:nvSpPr>
        <p:spPr bwMode="auto">
          <a:xfrm>
            <a:off x="5487053" y="1752601"/>
            <a:ext cx="858441" cy="1759744"/>
          </a:xfrm>
          <a:prstGeom prst="rect">
            <a:avLst/>
          </a:prstGeom>
          <a:noFill/>
          <a:ln w="38100">
            <a:solidFill>
              <a:srgbClr val="0A1BBA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545825" name="Oval 33"/>
          <p:cNvSpPr>
            <a:spLocks noChangeArrowheads="1"/>
          </p:cNvSpPr>
          <p:nvPr/>
        </p:nvSpPr>
        <p:spPr bwMode="auto">
          <a:xfrm>
            <a:off x="6416931" y="1851423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A</a:t>
            </a:r>
          </a:p>
        </p:txBody>
      </p:sp>
      <p:sp>
        <p:nvSpPr>
          <p:cNvPr id="545826" name="Oval 34"/>
          <p:cNvSpPr>
            <a:spLocks noChangeArrowheads="1"/>
          </p:cNvSpPr>
          <p:nvPr/>
        </p:nvSpPr>
        <p:spPr bwMode="auto">
          <a:xfrm>
            <a:off x="6732446" y="2118123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B</a:t>
            </a:r>
          </a:p>
        </p:txBody>
      </p:sp>
      <p:sp>
        <p:nvSpPr>
          <p:cNvPr id="545827" name="Oval 35"/>
          <p:cNvSpPr>
            <a:spLocks noChangeArrowheads="1"/>
          </p:cNvSpPr>
          <p:nvPr/>
        </p:nvSpPr>
        <p:spPr bwMode="auto">
          <a:xfrm>
            <a:off x="6400262" y="2293144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C</a:t>
            </a:r>
          </a:p>
        </p:txBody>
      </p:sp>
      <p:sp>
        <p:nvSpPr>
          <p:cNvPr id="545828" name="Oval 36"/>
          <p:cNvSpPr>
            <a:spLocks noChangeArrowheads="1"/>
          </p:cNvSpPr>
          <p:nvPr/>
        </p:nvSpPr>
        <p:spPr bwMode="auto">
          <a:xfrm>
            <a:off x="6721731" y="2536032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D</a:t>
            </a:r>
          </a:p>
        </p:txBody>
      </p:sp>
      <p:sp>
        <p:nvSpPr>
          <p:cNvPr id="545829" name="Rectangle 37"/>
          <p:cNvSpPr>
            <a:spLocks noChangeArrowheads="1"/>
          </p:cNvSpPr>
          <p:nvPr/>
        </p:nvSpPr>
        <p:spPr bwMode="auto">
          <a:xfrm>
            <a:off x="6400263" y="1752601"/>
            <a:ext cx="858440" cy="1759744"/>
          </a:xfrm>
          <a:prstGeom prst="rect">
            <a:avLst/>
          </a:prstGeom>
          <a:noFill/>
          <a:ln w="38100">
            <a:solidFill>
              <a:srgbClr val="0A1BBA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545831" name="Oval 39"/>
          <p:cNvSpPr>
            <a:spLocks noChangeArrowheads="1"/>
          </p:cNvSpPr>
          <p:nvPr/>
        </p:nvSpPr>
        <p:spPr bwMode="auto">
          <a:xfrm>
            <a:off x="7331331" y="1851423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A</a:t>
            </a:r>
          </a:p>
        </p:txBody>
      </p:sp>
      <p:sp>
        <p:nvSpPr>
          <p:cNvPr id="545832" name="Oval 40"/>
          <p:cNvSpPr>
            <a:spLocks noChangeArrowheads="1"/>
          </p:cNvSpPr>
          <p:nvPr/>
        </p:nvSpPr>
        <p:spPr bwMode="auto">
          <a:xfrm>
            <a:off x="7646846" y="2118123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B</a:t>
            </a:r>
          </a:p>
        </p:txBody>
      </p:sp>
      <p:sp>
        <p:nvSpPr>
          <p:cNvPr id="545833" name="Oval 41"/>
          <p:cNvSpPr>
            <a:spLocks noChangeArrowheads="1"/>
          </p:cNvSpPr>
          <p:nvPr/>
        </p:nvSpPr>
        <p:spPr bwMode="auto">
          <a:xfrm>
            <a:off x="7314662" y="2293144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C</a:t>
            </a:r>
          </a:p>
        </p:txBody>
      </p:sp>
      <p:sp>
        <p:nvSpPr>
          <p:cNvPr id="545834" name="Oval 42"/>
          <p:cNvSpPr>
            <a:spLocks noChangeArrowheads="1"/>
          </p:cNvSpPr>
          <p:nvPr/>
        </p:nvSpPr>
        <p:spPr bwMode="auto">
          <a:xfrm>
            <a:off x="7636131" y="2536032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fr-CA" b="1"/>
              <a:t>D</a:t>
            </a:r>
          </a:p>
        </p:txBody>
      </p:sp>
      <p:sp>
        <p:nvSpPr>
          <p:cNvPr id="545835" name="Rectangle 43"/>
          <p:cNvSpPr>
            <a:spLocks noChangeArrowheads="1"/>
          </p:cNvSpPr>
          <p:nvPr/>
        </p:nvSpPr>
        <p:spPr bwMode="auto">
          <a:xfrm>
            <a:off x="7314663" y="1752601"/>
            <a:ext cx="858440" cy="1759744"/>
          </a:xfrm>
          <a:prstGeom prst="rect">
            <a:avLst/>
          </a:prstGeom>
          <a:noFill/>
          <a:ln w="38100">
            <a:solidFill>
              <a:srgbClr val="0A1BBA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694" y="2990035"/>
            <a:ext cx="503775" cy="503775"/>
          </a:xfrm>
          <a:prstGeom prst="rect">
            <a:avLst/>
          </a:prstGeom>
        </p:spPr>
      </p:pic>
      <p:pic>
        <p:nvPicPr>
          <p:cNvPr id="48" name="Image 4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144" y="3002066"/>
            <a:ext cx="503775" cy="503775"/>
          </a:xfrm>
          <a:prstGeom prst="rect">
            <a:avLst/>
          </a:prstGeom>
        </p:spPr>
      </p:pic>
      <p:pic>
        <p:nvPicPr>
          <p:cNvPr id="49" name="Image 4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112" y="3015188"/>
            <a:ext cx="503775" cy="503775"/>
          </a:xfrm>
          <a:prstGeom prst="rect">
            <a:avLst/>
          </a:prstGeom>
        </p:spPr>
      </p:pic>
      <p:pic>
        <p:nvPicPr>
          <p:cNvPr id="50" name="Image 4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084" y="3013243"/>
            <a:ext cx="503775" cy="503775"/>
          </a:xfrm>
          <a:prstGeom prst="rect">
            <a:avLst/>
          </a:prstGeom>
        </p:spPr>
      </p:pic>
      <p:pic>
        <p:nvPicPr>
          <p:cNvPr id="51" name="Image 5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906" y="3013243"/>
            <a:ext cx="503775" cy="503775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727" y="3013243"/>
            <a:ext cx="503775" cy="503775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692" y="3013243"/>
            <a:ext cx="503775" cy="503775"/>
          </a:xfrm>
          <a:prstGeom prst="rect">
            <a:avLst/>
          </a:prstGeom>
        </p:spPr>
      </p:pic>
      <p:sp>
        <p:nvSpPr>
          <p:cNvPr id="55" name="Rectangle 12"/>
          <p:cNvSpPr txBox="1">
            <a:spLocks noChangeArrowheads="1"/>
          </p:cNvSpPr>
          <p:nvPr/>
        </p:nvSpPr>
        <p:spPr>
          <a:xfrm>
            <a:off x="1185733" y="285750"/>
            <a:ext cx="6300523" cy="798534"/>
          </a:xfrm>
          <a:prstGeom prst="rect">
            <a:avLst/>
          </a:prstGeom>
          <a:noFill/>
          <a:ln/>
        </p:spPr>
        <p:txBody>
          <a:bodyPr anchor="ctr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r>
              <a:rPr lang="fr-CA" sz="2100" kern="0" dirty="0"/>
              <a:t>Exemple d’un processus parallèle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746E3E1-14D6-4B07-AE4B-10C42923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1600" i="1" dirty="0"/>
              <a:t>Exercice</a:t>
            </a:r>
            <a:br>
              <a:rPr lang="fr-CA" dirty="0"/>
            </a:br>
            <a:r>
              <a:rPr lang="fr-CA" dirty="0"/>
              <a:t>Quelle est la cadence en parallèle?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42ACF5D-C540-4328-B8CB-A91FC20F7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Taux d’utilisation d’un employé</a:t>
            </a:r>
          </a:p>
        </p:txBody>
      </p:sp>
      <p:sp>
        <p:nvSpPr>
          <p:cNvPr id="614402" name="Rectangle 3"/>
          <p:cNvSpPr>
            <a:spLocks noGrp="1" noChangeArrowheads="1"/>
          </p:cNvSpPr>
          <p:nvPr>
            <p:ph idx="1"/>
          </p:nvPr>
        </p:nvSpPr>
        <p:spPr>
          <a:xfrm>
            <a:off x="532001" y="1577687"/>
            <a:ext cx="5673416" cy="2955894"/>
          </a:xfrm>
        </p:spPr>
        <p:txBody>
          <a:bodyPr/>
          <a:lstStyle/>
          <a:p>
            <a:pPr marL="0">
              <a:buSzTx/>
              <a:buNone/>
            </a:pPr>
            <a:r>
              <a:rPr lang="fr-CA" kern="1200" dirty="0">
                <a:solidFill>
                  <a:srgbClr val="3366FF"/>
                </a:solidFill>
              </a:rPr>
              <a:t>Dans le cas d’un employé qui effectue une tâche pendant laquelle il y a du temps machine, c’est la proportion du temps travaillé par l’employé par rapport au temps standard total de la tâche.</a:t>
            </a:r>
          </a:p>
          <a:p>
            <a:pPr>
              <a:lnSpc>
                <a:spcPct val="120000"/>
              </a:lnSpc>
              <a:buSzTx/>
              <a:buFontTx/>
              <a:buNone/>
            </a:pPr>
            <a:r>
              <a:rPr lang="fr-CH" dirty="0">
                <a:solidFill>
                  <a:schemeClr val="accent2"/>
                </a:solidFill>
              </a:rPr>
              <a:t>	</a:t>
            </a:r>
          </a:p>
          <a:p>
            <a:pPr>
              <a:lnSpc>
                <a:spcPct val="120000"/>
              </a:lnSpc>
              <a:buSzTx/>
              <a:buFontTx/>
              <a:buNone/>
            </a:pPr>
            <a:endParaRPr lang="fr-CH" sz="1000" dirty="0">
              <a:solidFill>
                <a:schemeClr val="accent2"/>
              </a:solidFill>
            </a:endParaRPr>
          </a:p>
          <a:p>
            <a:pPr>
              <a:lnSpc>
                <a:spcPct val="120000"/>
              </a:lnSpc>
              <a:buSzPct val="125000"/>
              <a:buFontTx/>
              <a:buNone/>
            </a:pPr>
            <a:r>
              <a:rPr lang="fr-CH" dirty="0">
                <a:solidFill>
                  <a:schemeClr val="accent2"/>
                </a:solidFill>
              </a:rPr>
              <a:t>	</a:t>
            </a:r>
            <a:r>
              <a:rPr lang="fr-CH" dirty="0"/>
              <a:t>       </a:t>
            </a:r>
            <a:r>
              <a:rPr lang="fr-CH" u="sng" dirty="0">
                <a:solidFill>
                  <a:schemeClr val="tx1"/>
                </a:solidFill>
              </a:rPr>
              <a:t>(Temps standard total – Temps machine)</a:t>
            </a:r>
          </a:p>
          <a:p>
            <a:pPr>
              <a:lnSpc>
                <a:spcPct val="120000"/>
              </a:lnSpc>
              <a:buSzPct val="125000"/>
              <a:buFontTx/>
              <a:buNone/>
            </a:pPr>
            <a:r>
              <a:rPr lang="fr-CH" dirty="0">
                <a:solidFill>
                  <a:schemeClr val="tx1"/>
                </a:solidFill>
              </a:rPr>
              <a:t>	</a:t>
            </a:r>
            <a:r>
              <a:rPr lang="fr-CH" dirty="0"/>
              <a:t>		</a:t>
            </a:r>
            <a:r>
              <a:rPr lang="fr-CH" dirty="0">
                <a:solidFill>
                  <a:schemeClr val="tx1"/>
                </a:solidFill>
              </a:rPr>
              <a:t>Temps standard total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614404" name="Rectangle 5"/>
          <p:cNvSpPr>
            <a:spLocks noChangeArrowheads="1"/>
          </p:cNvSpPr>
          <p:nvPr/>
        </p:nvSpPr>
        <p:spPr bwMode="auto">
          <a:xfrm>
            <a:off x="532001" y="1577686"/>
            <a:ext cx="5673415" cy="1279815"/>
          </a:xfrm>
          <a:prstGeom prst="rect">
            <a:avLst/>
          </a:prstGeom>
          <a:noFill/>
          <a:ln w="12700">
            <a:solidFill>
              <a:srgbClr val="0A1B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2" name="Rectangle 1"/>
          <p:cNvSpPr/>
          <p:nvPr/>
        </p:nvSpPr>
        <p:spPr bwMode="auto">
          <a:xfrm>
            <a:off x="1070919" y="3143663"/>
            <a:ext cx="4226011" cy="123070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fr-CA" sz="1350" dirty="0"/>
          </a:p>
        </p:txBody>
      </p:sp>
      <p:pic>
        <p:nvPicPr>
          <p:cNvPr id="7" name="Picture 395267">
            <a:extLst>
              <a:ext uri="{FF2B5EF4-FFF2-40B4-BE49-F238E27FC236}">
                <a16:creationId xmlns:a16="http://schemas.microsoft.com/office/drawing/2014/main" id="{5C42A898-C2D0-48F8-98C1-BC46D70B54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426778" y="1517736"/>
            <a:ext cx="2743106" cy="32479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ChangeArrowheads="1"/>
          </p:cNvSpPr>
          <p:nvPr/>
        </p:nvSpPr>
        <p:spPr bwMode="auto">
          <a:xfrm>
            <a:off x="986800" y="1496330"/>
            <a:ext cx="6263878" cy="38502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  <a:effectLst/>
        </p:spPr>
        <p:txBody>
          <a:bodyPr>
            <a:spAutoFit/>
          </a:bodyPr>
          <a:lstStyle/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r>
              <a:rPr lang="fr-CH" b="1" u="sng" dirty="0">
                <a:solidFill>
                  <a:srgbClr val="185FAB"/>
                </a:solidFill>
                <a:latin typeface="Times New Roman" pitchFamily="18" charset="0"/>
              </a:rPr>
              <a:t>Liste des</a:t>
            </a:r>
            <a:r>
              <a:rPr lang="fr-CH" b="1" dirty="0">
                <a:solidFill>
                  <a:srgbClr val="185FAB"/>
                </a:solidFill>
                <a:latin typeface="Times New Roman" pitchFamily="18" charset="0"/>
              </a:rPr>
              <a:t>			</a:t>
            </a:r>
            <a:r>
              <a:rPr lang="fr-CH" b="1" u="sng" dirty="0">
                <a:solidFill>
                  <a:srgbClr val="185FAB"/>
                </a:solidFill>
                <a:latin typeface="Times New Roman" pitchFamily="18" charset="0"/>
              </a:rPr>
              <a:t>Temps observés	</a:t>
            </a: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"/>
              </a:spcBef>
            </a:pPr>
            <a:r>
              <a:rPr lang="fr-CH" b="1" u="sng" dirty="0">
                <a:solidFill>
                  <a:srgbClr val="185FAB"/>
                </a:solidFill>
                <a:latin typeface="Times New Roman" pitchFamily="18" charset="0"/>
              </a:rPr>
              <a:t>opérations</a:t>
            </a:r>
            <a:r>
              <a:rPr lang="fr-CH" b="1" dirty="0">
                <a:solidFill>
                  <a:srgbClr val="185FAB"/>
                </a:solidFill>
                <a:latin typeface="Times New Roman" pitchFamily="18" charset="0"/>
              </a:rPr>
              <a:t> 	  	 	</a:t>
            </a:r>
            <a:r>
              <a:rPr lang="fr-CH" b="1" u="sng" dirty="0">
                <a:solidFill>
                  <a:srgbClr val="185FAB"/>
                </a:solidFill>
                <a:latin typeface="Times New Roman" pitchFamily="18" charset="0"/>
              </a:rPr>
              <a:t>moyen</a:t>
            </a:r>
            <a:r>
              <a:rPr lang="fr-CH" sz="1500" dirty="0">
                <a:solidFill>
                  <a:srgbClr val="185FAB"/>
                </a:solidFill>
                <a:latin typeface="Times New Roman" pitchFamily="18" charset="0"/>
              </a:rPr>
              <a:t> (en min)	</a:t>
            </a:r>
            <a:r>
              <a:rPr lang="fr-CH" b="1" dirty="0">
                <a:solidFill>
                  <a:srgbClr val="185FAB"/>
                </a:solidFill>
                <a:latin typeface="Times New Roman" pitchFamily="18" charset="0"/>
              </a:rPr>
              <a:t>	FA	TN	TS</a:t>
            </a: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endParaRPr lang="fr-CH" sz="1500" dirty="0">
              <a:solidFill>
                <a:srgbClr val="185FAB"/>
              </a:solidFill>
              <a:latin typeface="Times New Roman" pitchFamily="18" charset="0"/>
            </a:endParaRP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r>
              <a:rPr lang="fr-CH" sz="1500" dirty="0">
                <a:solidFill>
                  <a:srgbClr val="185FAB"/>
                </a:solidFill>
                <a:latin typeface="Times New Roman" pitchFamily="18" charset="0"/>
              </a:rPr>
              <a:t>1. Préparation des matières 		  8			100	8	9,2</a:t>
            </a: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r>
              <a:rPr lang="fr-CH" sz="1500" dirty="0">
                <a:solidFill>
                  <a:srgbClr val="185FAB"/>
                </a:solidFill>
                <a:latin typeface="Times New Roman" pitchFamily="18" charset="0"/>
              </a:rPr>
              <a:t>2. Coupage				  3			105	3,15	3,62</a:t>
            </a: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r>
              <a:rPr lang="fr-CH" sz="1500" dirty="0">
                <a:solidFill>
                  <a:srgbClr val="185FAB"/>
                </a:solidFill>
                <a:latin typeface="Times New Roman" pitchFamily="18" charset="0"/>
              </a:rPr>
              <a:t>3. Perçage 				  1			95	0,95	1,09</a:t>
            </a: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r>
              <a:rPr lang="fr-CH" sz="1500" dirty="0">
                <a:solidFill>
                  <a:srgbClr val="185FAB"/>
                </a:solidFill>
                <a:latin typeface="Times New Roman" pitchFamily="18" charset="0"/>
              </a:rPr>
              <a:t>4. Sablage et nettoyage		  5			90	4,5	5,18</a:t>
            </a: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r>
              <a:rPr lang="fr-CH" sz="1500" dirty="0">
                <a:solidFill>
                  <a:srgbClr val="185FAB"/>
                </a:solidFill>
                <a:latin typeface="Times New Roman" pitchFamily="18" charset="0"/>
              </a:rPr>
              <a:t>5. Peinture/ pattes 			  4			100	4	4,6</a:t>
            </a: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r>
              <a:rPr lang="fr-CH" sz="1500" dirty="0">
                <a:solidFill>
                  <a:srgbClr val="185FAB"/>
                </a:solidFill>
                <a:latin typeface="Times New Roman" pitchFamily="18" charset="0"/>
              </a:rPr>
              <a:t>6. Vernis/ siège 			  3			85	2,55	2,93</a:t>
            </a: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r>
              <a:rPr lang="fr-CH" sz="1500" dirty="0">
                <a:solidFill>
                  <a:srgbClr val="185FAB"/>
                </a:solidFill>
                <a:latin typeface="Times New Roman" pitchFamily="18" charset="0"/>
              </a:rPr>
              <a:t>7. Séchage automatisé			  7			100	7	8,05</a:t>
            </a: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r>
              <a:rPr lang="fr-CH" sz="1500" dirty="0">
                <a:solidFill>
                  <a:srgbClr val="185FAB"/>
                </a:solidFill>
                <a:latin typeface="Times New Roman" pitchFamily="18" charset="0"/>
              </a:rPr>
              <a:t>8. Assemblage				  6			100	6	6,9</a:t>
            </a: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r>
              <a:rPr lang="fr-CH" sz="1500" dirty="0">
                <a:solidFill>
                  <a:srgbClr val="185FAB"/>
                </a:solidFill>
                <a:latin typeface="Times New Roman" pitchFamily="18" charset="0"/>
              </a:rPr>
              <a:t>9. Finition/inspection			  2			100	2	2,3</a:t>
            </a:r>
          </a:p>
          <a:p>
            <a:pPr marL="257175" indent="-257175" defTabSz="571500" eaLnBrk="0" hangingPunct="0">
              <a:lnSpc>
                <a:spcPct val="80000"/>
              </a:lnSpc>
              <a:spcBef>
                <a:spcPct val="50000"/>
              </a:spcBef>
            </a:pPr>
            <a:r>
              <a:rPr lang="fr-CH" sz="1500" dirty="0">
                <a:solidFill>
                  <a:srgbClr val="185FAB"/>
                </a:solidFill>
                <a:latin typeface="Times New Roman" pitchFamily="18" charset="0"/>
              </a:rPr>
              <a:t>10. Emballage				  5			95	4,75	5,46</a:t>
            </a:r>
          </a:p>
        </p:txBody>
      </p:sp>
      <p:sp>
        <p:nvSpPr>
          <p:cNvPr id="546819" name="Text Box 3"/>
          <p:cNvSpPr txBox="1">
            <a:spLocks noChangeArrowheads="1"/>
          </p:cNvSpPr>
          <p:nvPr/>
        </p:nvSpPr>
        <p:spPr bwMode="auto">
          <a:xfrm>
            <a:off x="6996276" y="1311663"/>
            <a:ext cx="161806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CA" dirty="0">
                <a:solidFill>
                  <a:srgbClr val="185FAB"/>
                </a:solidFill>
                <a:latin typeface="Times New Roman" pitchFamily="18" charset="0"/>
              </a:rPr>
              <a:t>Maj = 15 %</a:t>
            </a:r>
          </a:p>
        </p:txBody>
      </p:sp>
      <p:sp>
        <p:nvSpPr>
          <p:cNvPr id="546821" name="Rectangle 5"/>
          <p:cNvSpPr>
            <a:spLocks noChangeArrowheads="1"/>
          </p:cNvSpPr>
          <p:nvPr/>
        </p:nvSpPr>
        <p:spPr bwMode="auto">
          <a:xfrm>
            <a:off x="1177664" y="285751"/>
            <a:ext cx="7331336" cy="779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fr-CA" sz="2100" dirty="0">
                <a:solidFill>
                  <a:schemeClr val="tx2"/>
                </a:solidFill>
                <a:latin typeface="Arial Black" pitchFamily="34" charset="0"/>
              </a:rPr>
              <a:t>Exemple</a:t>
            </a:r>
          </a:p>
        </p:txBody>
      </p:sp>
      <p:sp>
        <p:nvSpPr>
          <p:cNvPr id="546822" name="Text Box 6"/>
          <p:cNvSpPr txBox="1">
            <a:spLocks noChangeArrowheads="1"/>
          </p:cNvSpPr>
          <p:nvPr/>
        </p:nvSpPr>
        <p:spPr bwMode="auto">
          <a:xfrm>
            <a:off x="5923131" y="5346363"/>
            <a:ext cx="1404389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500" dirty="0">
                <a:solidFill>
                  <a:srgbClr val="185FAB"/>
                </a:solidFill>
                <a:latin typeface="Times New Roman" pitchFamily="18" charset="0"/>
              </a:rPr>
              <a:t>Total     49,33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942DE8-C36A-4825-8280-BFC182A04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1600" i="1" dirty="0"/>
              <a:t>Exercice</a:t>
            </a:r>
            <a:br>
              <a:rPr lang="fr-CA" dirty="0"/>
            </a:br>
            <a:r>
              <a:rPr lang="fr-CA" dirty="0"/>
              <a:t>Quel sera le taux d’utilisation de l’employé?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0D1677C-F791-4D3B-BF6E-558D342F9091}"/>
              </a:ext>
            </a:extLst>
          </p:cNvPr>
          <p:cNvCxnSpPr/>
          <p:nvPr/>
        </p:nvCxnSpPr>
        <p:spPr>
          <a:xfrm>
            <a:off x="6577426" y="5346362"/>
            <a:ext cx="673253" cy="25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Amélioration des processus</a:t>
            </a:r>
          </a:p>
        </p:txBody>
      </p:sp>
      <p:sp>
        <p:nvSpPr>
          <p:cNvPr id="539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2000" y="1701254"/>
            <a:ext cx="5743754" cy="3187989"/>
          </a:xfrm>
        </p:spPr>
        <p:txBody>
          <a:bodyPr/>
          <a:lstStyle/>
          <a:p>
            <a:pPr marL="268288" indent="-268288"/>
            <a:r>
              <a:rPr lang="fr-CA" dirty="0"/>
              <a:t>Un goulot d'étranglement, ça se déplace...</a:t>
            </a:r>
          </a:p>
          <a:p>
            <a:pPr marL="268288" indent="-268288"/>
            <a:endParaRPr lang="fr-CA" dirty="0"/>
          </a:p>
          <a:p>
            <a:pPr marL="268288" indent="-268288"/>
            <a:r>
              <a:rPr lang="fr-CA" dirty="0"/>
              <a:t>Il n'est pas nécessairement avantageux de pousser les étapes non - goulot à produire à pleine capacité.</a:t>
            </a:r>
          </a:p>
          <a:p>
            <a:pPr marL="268288" indent="-268288"/>
            <a:endParaRPr lang="fr-CA" dirty="0"/>
          </a:p>
          <a:p>
            <a:pPr marL="268288" indent="-268288"/>
            <a:r>
              <a:rPr lang="fr-CA" dirty="0"/>
              <a:t>Pour améliorer l'utilisation des ressources, on cherchera à équilibrer les capacités des différentes étapes, bien qu'il soit très difficile d'y parvenir entièrement.</a:t>
            </a:r>
          </a:p>
        </p:txBody>
      </p:sp>
      <p:pic>
        <p:nvPicPr>
          <p:cNvPr id="6" name="Picture 2" descr="Person in Blue Shirt Wearing Brown Beanie Writing on White Dry Erase Board">
            <a:extLst>
              <a:ext uri="{FF2B5EF4-FFF2-40B4-BE49-F238E27FC236}">
                <a16:creationId xmlns:a16="http://schemas.microsoft.com/office/drawing/2014/main" id="{604C07BA-DA22-4F6F-A712-B4BC19D33C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r="4" b="4"/>
          <a:stretch/>
        </p:blipFill>
        <p:spPr bwMode="auto">
          <a:xfrm>
            <a:off x="6390371" y="1808467"/>
            <a:ext cx="3237629" cy="2343403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2"/>
          <p:cNvSpPr txBox="1">
            <a:spLocks noChangeArrowheads="1"/>
          </p:cNvSpPr>
          <p:nvPr/>
        </p:nvSpPr>
        <p:spPr>
          <a:xfrm>
            <a:off x="1185733" y="285750"/>
            <a:ext cx="6300523" cy="798534"/>
          </a:xfrm>
          <a:prstGeom prst="rect">
            <a:avLst/>
          </a:prstGeom>
          <a:noFill/>
          <a:ln/>
        </p:spPr>
        <p:txBody>
          <a:bodyPr anchor="ctr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100" b="0" i="0" u="none" strike="noStrike" kern="0" cap="none" spc="0" normalizeH="0" baseline="0" noProof="0" dirty="0">
                <a:ln>
                  <a:noFill/>
                </a:ln>
                <a:solidFill>
                  <a:srgbClr val="97999B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Exemple d’un processus séquentiel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2E718C5-FA40-4EE3-A879-E3182E01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1600" i="1" dirty="0"/>
              <a:t>Exercice</a:t>
            </a:r>
            <a:br>
              <a:rPr lang="fr-CA" dirty="0"/>
            </a:br>
            <a:r>
              <a:rPr lang="fr-CA" dirty="0"/>
              <a:t>Augmenter la cadence?</a:t>
            </a:r>
          </a:p>
        </p:txBody>
      </p:sp>
      <p:pic>
        <p:nvPicPr>
          <p:cNvPr id="8" name="Image 7" descr="Une image contenant horloge&#10;&#10;Description générée automatiquement">
            <a:extLst>
              <a:ext uri="{FF2B5EF4-FFF2-40B4-BE49-F238E27FC236}">
                <a16:creationId xmlns:a16="http://schemas.microsoft.com/office/drawing/2014/main" id="{CFC87733-DFED-4E4C-B89E-0EC18E24E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70" y="1512120"/>
            <a:ext cx="6118860" cy="362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40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Oval 3"/>
          <p:cNvSpPr>
            <a:spLocks noChangeArrowheads="1"/>
          </p:cNvSpPr>
          <p:nvPr/>
        </p:nvSpPr>
        <p:spPr bwMode="auto">
          <a:xfrm>
            <a:off x="2284873" y="2031896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fr-CA" b="1"/>
              <a:t>A</a:t>
            </a:r>
          </a:p>
        </p:txBody>
      </p:sp>
      <p:grpSp>
        <p:nvGrpSpPr>
          <p:cNvPr id="613379" name="Group 4"/>
          <p:cNvGrpSpPr>
            <a:grpSpLocks/>
          </p:cNvGrpSpPr>
          <p:nvPr/>
        </p:nvGrpSpPr>
        <p:grpSpPr bwMode="auto">
          <a:xfrm>
            <a:off x="3617182" y="1465158"/>
            <a:ext cx="485775" cy="1619250"/>
            <a:chOff x="1565" y="1344"/>
            <a:chExt cx="408" cy="1360"/>
          </a:xfrm>
        </p:grpSpPr>
        <p:sp>
          <p:nvSpPr>
            <p:cNvPr id="613380" name="Oval 5"/>
            <p:cNvSpPr>
              <a:spLocks noChangeArrowheads="1"/>
            </p:cNvSpPr>
            <p:nvPr/>
          </p:nvSpPr>
          <p:spPr bwMode="auto">
            <a:xfrm>
              <a:off x="1565" y="1344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fr-CA" b="1"/>
                <a:t>B</a:t>
              </a:r>
            </a:p>
          </p:txBody>
        </p:sp>
        <p:sp>
          <p:nvSpPr>
            <p:cNvPr id="613381" name="Oval 6"/>
            <p:cNvSpPr>
              <a:spLocks noChangeArrowheads="1"/>
            </p:cNvSpPr>
            <p:nvPr/>
          </p:nvSpPr>
          <p:spPr bwMode="auto">
            <a:xfrm>
              <a:off x="1565" y="1820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fr-CA" b="1"/>
                <a:t>B</a:t>
              </a:r>
            </a:p>
          </p:txBody>
        </p:sp>
        <p:sp>
          <p:nvSpPr>
            <p:cNvPr id="613382" name="Oval 7"/>
            <p:cNvSpPr>
              <a:spLocks noChangeArrowheads="1"/>
            </p:cNvSpPr>
            <p:nvPr/>
          </p:nvSpPr>
          <p:spPr bwMode="auto">
            <a:xfrm>
              <a:off x="1565" y="2296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fr-CA" b="1"/>
                <a:t>B</a:t>
              </a:r>
            </a:p>
          </p:txBody>
        </p:sp>
      </p:grpSp>
      <p:grpSp>
        <p:nvGrpSpPr>
          <p:cNvPr id="613383" name="Group 8"/>
          <p:cNvGrpSpPr>
            <a:grpSpLocks/>
          </p:cNvGrpSpPr>
          <p:nvPr/>
        </p:nvGrpSpPr>
        <p:grpSpPr bwMode="auto">
          <a:xfrm>
            <a:off x="4949491" y="1708046"/>
            <a:ext cx="485775" cy="1133475"/>
            <a:chOff x="2494" y="1344"/>
            <a:chExt cx="408" cy="952"/>
          </a:xfrm>
        </p:grpSpPr>
        <p:sp>
          <p:nvSpPr>
            <p:cNvPr id="613384" name="Oval 9"/>
            <p:cNvSpPr>
              <a:spLocks noChangeArrowheads="1"/>
            </p:cNvSpPr>
            <p:nvPr/>
          </p:nvSpPr>
          <p:spPr bwMode="auto">
            <a:xfrm>
              <a:off x="2494" y="1344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fr-CA" b="1"/>
                <a:t>C</a:t>
              </a:r>
            </a:p>
          </p:txBody>
        </p:sp>
        <p:sp>
          <p:nvSpPr>
            <p:cNvPr id="613385" name="Oval 10"/>
            <p:cNvSpPr>
              <a:spLocks noChangeArrowheads="1"/>
            </p:cNvSpPr>
            <p:nvPr/>
          </p:nvSpPr>
          <p:spPr bwMode="auto">
            <a:xfrm>
              <a:off x="2494" y="1888"/>
              <a:ext cx="408" cy="408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fr-CA" b="1"/>
                <a:t>C</a:t>
              </a:r>
            </a:p>
          </p:txBody>
        </p:sp>
      </p:grpSp>
      <p:sp>
        <p:nvSpPr>
          <p:cNvPr id="613386" name="Oval 11"/>
          <p:cNvSpPr>
            <a:spLocks noChangeArrowheads="1"/>
          </p:cNvSpPr>
          <p:nvPr/>
        </p:nvSpPr>
        <p:spPr bwMode="auto">
          <a:xfrm>
            <a:off x="6281801" y="2031896"/>
            <a:ext cx="485775" cy="485775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fr-CA" b="1"/>
              <a:t>D</a:t>
            </a:r>
          </a:p>
        </p:txBody>
      </p:sp>
      <p:cxnSp>
        <p:nvCxnSpPr>
          <p:cNvPr id="613387" name="AutoShape 12"/>
          <p:cNvCxnSpPr>
            <a:cxnSpLocks noChangeShapeType="1"/>
            <a:stCxn id="613378" idx="7"/>
            <a:endCxn id="613380" idx="2"/>
          </p:cNvCxnSpPr>
          <p:nvPr/>
        </p:nvCxnSpPr>
        <p:spPr bwMode="auto">
          <a:xfrm flipV="1">
            <a:off x="2699210" y="1708045"/>
            <a:ext cx="907256" cy="384572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</p:spPr>
      </p:cxnSp>
      <p:cxnSp>
        <p:nvCxnSpPr>
          <p:cNvPr id="613388" name="AutoShape 13"/>
          <p:cNvCxnSpPr>
            <a:cxnSpLocks noChangeShapeType="1"/>
            <a:stCxn id="613378" idx="6"/>
            <a:endCxn id="613381" idx="2"/>
          </p:cNvCxnSpPr>
          <p:nvPr/>
        </p:nvCxnSpPr>
        <p:spPr bwMode="auto">
          <a:xfrm>
            <a:off x="2781365" y="2274783"/>
            <a:ext cx="825103" cy="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</p:spPr>
      </p:cxnSp>
      <p:cxnSp>
        <p:nvCxnSpPr>
          <p:cNvPr id="613389" name="AutoShape 14"/>
          <p:cNvCxnSpPr>
            <a:cxnSpLocks noChangeShapeType="1"/>
            <a:stCxn id="613378" idx="5"/>
            <a:endCxn id="613382" idx="2"/>
          </p:cNvCxnSpPr>
          <p:nvPr/>
        </p:nvCxnSpPr>
        <p:spPr bwMode="auto">
          <a:xfrm>
            <a:off x="2699210" y="2456949"/>
            <a:ext cx="907256" cy="384572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</p:spPr>
      </p:cxnSp>
      <p:cxnSp>
        <p:nvCxnSpPr>
          <p:cNvPr id="613390" name="AutoShape 15"/>
          <p:cNvCxnSpPr>
            <a:cxnSpLocks noChangeShapeType="1"/>
            <a:stCxn id="613384" idx="6"/>
            <a:endCxn id="613386" idx="2"/>
          </p:cNvCxnSpPr>
          <p:nvPr/>
        </p:nvCxnSpPr>
        <p:spPr bwMode="auto">
          <a:xfrm>
            <a:off x="5445983" y="1950933"/>
            <a:ext cx="825103" cy="32385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</p:spPr>
      </p:cxnSp>
      <p:cxnSp>
        <p:nvCxnSpPr>
          <p:cNvPr id="613391" name="AutoShape 16"/>
          <p:cNvCxnSpPr>
            <a:cxnSpLocks noChangeShapeType="1"/>
            <a:stCxn id="613385" idx="6"/>
            <a:endCxn id="613386" idx="2"/>
          </p:cNvCxnSpPr>
          <p:nvPr/>
        </p:nvCxnSpPr>
        <p:spPr bwMode="auto">
          <a:xfrm flipV="1">
            <a:off x="5445983" y="2274783"/>
            <a:ext cx="825103" cy="32385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</p:spPr>
      </p:cxnSp>
      <p:cxnSp>
        <p:nvCxnSpPr>
          <p:cNvPr id="613392" name="AutoShape 17"/>
          <p:cNvCxnSpPr>
            <a:cxnSpLocks noChangeShapeType="1"/>
            <a:stCxn id="613380" idx="6"/>
          </p:cNvCxnSpPr>
          <p:nvPr/>
        </p:nvCxnSpPr>
        <p:spPr bwMode="auto">
          <a:xfrm>
            <a:off x="4113672" y="1708045"/>
            <a:ext cx="347663" cy="517922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</p:spPr>
      </p:cxnSp>
      <p:cxnSp>
        <p:nvCxnSpPr>
          <p:cNvPr id="613393" name="AutoShape 18"/>
          <p:cNvCxnSpPr>
            <a:cxnSpLocks noChangeShapeType="1"/>
            <a:stCxn id="613381" idx="6"/>
          </p:cNvCxnSpPr>
          <p:nvPr/>
        </p:nvCxnSpPr>
        <p:spPr bwMode="auto">
          <a:xfrm>
            <a:off x="4113674" y="2274784"/>
            <a:ext cx="321469" cy="119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</p:spPr>
      </p:cxnSp>
      <p:cxnSp>
        <p:nvCxnSpPr>
          <p:cNvPr id="613394" name="AutoShape 19"/>
          <p:cNvCxnSpPr>
            <a:cxnSpLocks noChangeShapeType="1"/>
            <a:stCxn id="613382" idx="6"/>
          </p:cNvCxnSpPr>
          <p:nvPr/>
        </p:nvCxnSpPr>
        <p:spPr bwMode="auto">
          <a:xfrm flipV="1">
            <a:off x="4113672" y="2324791"/>
            <a:ext cx="347663" cy="516731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</p:spPr>
      </p:cxnSp>
      <p:cxnSp>
        <p:nvCxnSpPr>
          <p:cNvPr id="613395" name="AutoShape 20"/>
          <p:cNvCxnSpPr>
            <a:cxnSpLocks noChangeShapeType="1"/>
            <a:endCxn id="613384" idx="2"/>
          </p:cNvCxnSpPr>
          <p:nvPr/>
        </p:nvCxnSpPr>
        <p:spPr bwMode="auto">
          <a:xfrm flipV="1">
            <a:off x="4538725" y="1950933"/>
            <a:ext cx="400050" cy="275034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</p:spPr>
      </p:cxnSp>
      <p:cxnSp>
        <p:nvCxnSpPr>
          <p:cNvPr id="613396" name="AutoShape 21"/>
          <p:cNvCxnSpPr>
            <a:cxnSpLocks noChangeShapeType="1"/>
            <a:endCxn id="613385" idx="2"/>
          </p:cNvCxnSpPr>
          <p:nvPr/>
        </p:nvCxnSpPr>
        <p:spPr bwMode="auto">
          <a:xfrm>
            <a:off x="4564920" y="2275974"/>
            <a:ext cx="373856" cy="32266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triangle" w="sm" len="sm"/>
          </a:ln>
        </p:spPr>
      </p:cxnSp>
      <p:sp>
        <p:nvSpPr>
          <p:cNvPr id="613397" name="Text Box 22"/>
          <p:cNvSpPr txBox="1">
            <a:spLocks noChangeArrowheads="1"/>
          </p:cNvSpPr>
          <p:nvPr/>
        </p:nvSpPr>
        <p:spPr bwMode="auto">
          <a:xfrm>
            <a:off x="2107471" y="3207044"/>
            <a:ext cx="4982765" cy="507831"/>
          </a:xfrm>
          <a:prstGeom prst="rect">
            <a:avLst/>
          </a:prstGeom>
          <a:noFill/>
          <a:ln w="28575" algn="ctr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fr-CA" sz="1350"/>
              <a:t> </a:t>
            </a:r>
            <a:r>
              <a:rPr lang="fr-CA" sz="1350" b="1">
                <a:solidFill>
                  <a:srgbClr val="009C98"/>
                </a:solidFill>
              </a:rPr>
              <a:t>T.S.                          T.S.                     T.S.                      T.S.</a:t>
            </a:r>
          </a:p>
          <a:p>
            <a:r>
              <a:rPr lang="fr-CA" sz="1350" b="1">
                <a:solidFill>
                  <a:srgbClr val="009C98"/>
                </a:solidFill>
              </a:rPr>
              <a:t>2 min                        9 min                  5 min                   1 min</a:t>
            </a:r>
          </a:p>
        </p:txBody>
      </p:sp>
      <p:graphicFrame>
        <p:nvGraphicFramePr>
          <p:cNvPr id="613398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588241"/>
              </p:ext>
            </p:extLst>
          </p:nvPr>
        </p:nvGraphicFramePr>
        <p:xfrm>
          <a:off x="1811338" y="3798888"/>
          <a:ext cx="5973762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62692" imgH="1028938" progId="Excel.Sheet.8">
                  <p:embed/>
                </p:oleObj>
              </mc:Choice>
              <mc:Fallback>
                <p:oleObj name="Worksheet" r:id="rId3" imgW="4762692" imgH="1028938" progId="Excel.Sheet.8">
                  <p:embed/>
                  <p:pic>
                    <p:nvPicPr>
                      <p:cNvPr id="61339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3798888"/>
                        <a:ext cx="5973762" cy="1266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3399" name="Text Box 24"/>
          <p:cNvSpPr txBox="1">
            <a:spLocks noChangeArrowheads="1"/>
          </p:cNvSpPr>
          <p:nvPr/>
        </p:nvSpPr>
        <p:spPr bwMode="auto">
          <a:xfrm>
            <a:off x="1828862" y="5076325"/>
            <a:ext cx="5767926" cy="323165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fr-CA" sz="1500">
                <a:solidFill>
                  <a:srgbClr val="009C98"/>
                </a:solidFill>
              </a:rPr>
              <a:t>La cadence de la chaîne sera limitée par l’étape 2 = 23 unités / hr</a:t>
            </a:r>
          </a:p>
        </p:txBody>
      </p:sp>
      <p:sp>
        <p:nvSpPr>
          <p:cNvPr id="613400" name="Rectangle 25"/>
          <p:cNvSpPr>
            <a:spLocks noChangeArrowheads="1"/>
          </p:cNvSpPr>
          <p:nvPr/>
        </p:nvSpPr>
        <p:spPr bwMode="auto">
          <a:xfrm>
            <a:off x="1880745" y="4425697"/>
            <a:ext cx="5712619" cy="2190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27" name="ZoneTexte 26"/>
          <p:cNvSpPr txBox="1"/>
          <p:nvPr/>
        </p:nvSpPr>
        <p:spPr>
          <a:xfrm>
            <a:off x="4616537" y="966145"/>
            <a:ext cx="133125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350" b="1" dirty="0"/>
              <a:t>0,5 ressource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A932FD6-CA85-4AA5-9E4A-29D6702A1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1600" i="1" dirty="0"/>
              <a:t>Solution</a:t>
            </a:r>
            <a:br>
              <a:rPr lang="fr-CA" dirty="0"/>
            </a:br>
            <a:r>
              <a:rPr lang="fr-CA" dirty="0"/>
              <a:t>Équilibrage</a:t>
            </a:r>
          </a:p>
        </p:txBody>
      </p:sp>
      <p:sp>
        <p:nvSpPr>
          <p:cNvPr id="26" name="Flèche courbée vers la droite 25"/>
          <p:cNvSpPr/>
          <p:nvPr/>
        </p:nvSpPr>
        <p:spPr bwMode="auto">
          <a:xfrm rot="6212637">
            <a:off x="5082661" y="-233002"/>
            <a:ext cx="736439" cy="2865482"/>
          </a:xfrm>
          <a:prstGeom prst="curvedRightArrow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fr-CA" sz="135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239213-EFF9-08C3-BF08-D5AAC65D7759}"/>
              </a:ext>
            </a:extLst>
          </p:cNvPr>
          <p:cNvSpPr txBox="1"/>
          <p:nvPr/>
        </p:nvSpPr>
        <p:spPr>
          <a:xfrm>
            <a:off x="1811004" y="5451475"/>
            <a:ext cx="7220284" cy="19981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20000"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900" dirty="0"/>
              <a:t>* Taux d’utilisation avec ajustement au goulot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Amélioration des processus</a:t>
            </a:r>
          </a:p>
        </p:txBody>
      </p:sp>
      <p:sp>
        <p:nvSpPr>
          <p:cNvPr id="539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2001" y="1792356"/>
            <a:ext cx="4232956" cy="31879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Autres pistes d’amélioration :</a:t>
            </a:r>
          </a:p>
          <a:p>
            <a:pPr marL="268288" indent="-268288"/>
            <a:r>
              <a:rPr lang="fr-CA" dirty="0"/>
              <a:t>Élimination du gaspillage</a:t>
            </a:r>
          </a:p>
          <a:p>
            <a:pPr marL="268288" indent="-268288"/>
            <a:r>
              <a:rPr lang="fr-CA" dirty="0"/>
              <a:t>Diminution des temps standards</a:t>
            </a:r>
          </a:p>
          <a:p>
            <a:pPr marL="268288" indent="-268288"/>
            <a:r>
              <a:rPr lang="fr-CA" dirty="0"/>
              <a:t>Réduction des temps de mise en route (SMED)</a:t>
            </a:r>
          </a:p>
        </p:txBody>
      </p:sp>
      <p:pic>
        <p:nvPicPr>
          <p:cNvPr id="6" name="Picture 4" descr="Kaizen Kanji">
            <a:extLst>
              <a:ext uri="{FF2B5EF4-FFF2-40B4-BE49-F238E27FC236}">
                <a16:creationId xmlns:a16="http://schemas.microsoft.com/office/drawing/2014/main" id="{1AC1285A-881C-46EE-8197-47C2EC61D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229" y="1771620"/>
            <a:ext cx="4072459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335501E-57EC-44E7-B6D2-194BBD096740}"/>
              </a:ext>
            </a:extLst>
          </p:cNvPr>
          <p:cNvSpPr/>
          <p:nvPr/>
        </p:nvSpPr>
        <p:spPr>
          <a:xfrm>
            <a:off x="5100742" y="3800444"/>
            <a:ext cx="4072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err="1">
                <a:solidFill>
                  <a:schemeClr val="tx2"/>
                </a:solidFill>
                <a:latin typeface="-apple-system"/>
              </a:rPr>
              <a:t>Majo</a:t>
            </a:r>
            <a:r>
              <a:rPr lang="en-US" sz="800" dirty="0">
                <a:solidFill>
                  <a:schemeClr val="tx2"/>
                </a:solidFill>
                <a:latin typeface="-apple-system"/>
              </a:rPr>
              <a:t> </a:t>
            </a:r>
            <a:r>
              <a:rPr lang="en-US" sz="800" dirty="0" err="1">
                <a:solidFill>
                  <a:schemeClr val="tx2"/>
                </a:solidFill>
                <a:latin typeface="-apple-system"/>
              </a:rPr>
              <a:t>statt</a:t>
            </a:r>
            <a:r>
              <a:rPr lang="en-US" sz="800" dirty="0">
                <a:solidFill>
                  <a:schemeClr val="tx2"/>
                </a:solidFill>
                <a:latin typeface="-apple-system"/>
              </a:rPr>
              <a:t> </a:t>
            </a:r>
            <a:r>
              <a:rPr lang="en-US" sz="800" dirty="0" err="1">
                <a:solidFill>
                  <a:schemeClr val="tx2"/>
                </a:solidFill>
                <a:latin typeface="-apple-system"/>
              </a:rPr>
              <a:t>Senf</a:t>
            </a:r>
            <a:r>
              <a:rPr lang="en-US" sz="800" dirty="0">
                <a:solidFill>
                  <a:schemeClr val="tx2"/>
                </a:solidFill>
                <a:latin typeface="-apple-system"/>
              </a:rPr>
              <a:t> and licensed under the Creative Commons Attribution-Share Alike 4.0 International license</a:t>
            </a:r>
            <a:endParaRPr lang="en-CA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889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9" name="Text Box 3"/>
          <p:cNvSpPr txBox="1">
            <a:spLocks noChangeArrowheads="1"/>
          </p:cNvSpPr>
          <p:nvPr/>
        </p:nvSpPr>
        <p:spPr bwMode="auto">
          <a:xfrm>
            <a:off x="986800" y="1599906"/>
            <a:ext cx="3764954" cy="258532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272654" indent="-272654" algn="ctr">
              <a:buSzPct val="125000"/>
            </a:pPr>
            <a:r>
              <a:rPr lang="fr-CA" sz="2700" b="1" i="1" dirty="0">
                <a:solidFill>
                  <a:srgbClr val="185FAB"/>
                </a:solidFill>
              </a:rPr>
              <a:t>La mise en conserve des tomates</a:t>
            </a:r>
          </a:p>
          <a:p>
            <a:pPr marL="272654" indent="-272654" algn="ctr">
              <a:buSzPct val="125000"/>
            </a:pPr>
            <a:r>
              <a:rPr lang="fr-CA" sz="2700" b="1" i="1" dirty="0">
                <a:solidFill>
                  <a:srgbClr val="185FAB"/>
                </a:solidFill>
              </a:rPr>
              <a:t>Page 388</a:t>
            </a:r>
          </a:p>
          <a:p>
            <a:pPr marL="272654" indent="-272654" algn="ctr">
              <a:buSzPct val="125000"/>
            </a:pPr>
            <a:r>
              <a:rPr lang="fr-CA" sz="2700" b="1" i="1" dirty="0">
                <a:solidFill>
                  <a:srgbClr val="185FAB"/>
                </a:solidFill>
              </a:rPr>
              <a:t>Fichier Excel disponible sur ZoneCours</a:t>
            </a:r>
          </a:p>
        </p:txBody>
      </p:sp>
      <p:sp>
        <p:nvSpPr>
          <p:cNvPr id="6" name="Rectangle 12"/>
          <p:cNvSpPr txBox="1">
            <a:spLocks noChangeArrowheads="1"/>
          </p:cNvSpPr>
          <p:nvPr/>
        </p:nvSpPr>
        <p:spPr>
          <a:xfrm>
            <a:off x="1177665" y="285750"/>
            <a:ext cx="6308591" cy="798534"/>
          </a:xfrm>
          <a:prstGeom prst="rect">
            <a:avLst/>
          </a:prstGeom>
          <a:noFill/>
          <a:ln/>
        </p:spPr>
        <p:txBody>
          <a:bodyPr anchor="ctr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r>
              <a:rPr lang="fr-CA" sz="2100" kern="0" dirty="0"/>
              <a:t>Exercice en classe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C91EF42-D672-44BD-A8BB-28D7CD621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1600" i="1" dirty="0"/>
              <a:t>Exercice</a:t>
            </a:r>
            <a:br>
              <a:rPr lang="fr-CA" dirty="0"/>
            </a:br>
            <a:r>
              <a:rPr lang="fr-CA" dirty="0"/>
              <a:t>Organisation du travail</a:t>
            </a:r>
          </a:p>
        </p:txBody>
      </p:sp>
      <p:pic>
        <p:nvPicPr>
          <p:cNvPr id="7" name="Picture 2" descr="Two Tomatoes">
            <a:extLst>
              <a:ext uri="{FF2B5EF4-FFF2-40B4-BE49-F238E27FC236}">
                <a16:creationId xmlns:a16="http://schemas.microsoft.com/office/drawing/2014/main" id="{73B5E426-4EEC-4C39-918C-49CABD2A8C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28"/>
          <a:stretch/>
        </p:blipFill>
        <p:spPr bwMode="auto">
          <a:xfrm>
            <a:off x="5415178" y="1839493"/>
            <a:ext cx="4142155" cy="2459045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71BBC-F5ED-4112-A171-F72B495A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Questions…</a:t>
            </a:r>
          </a:p>
        </p:txBody>
      </p:sp>
      <p:grpSp>
        <p:nvGrpSpPr>
          <p:cNvPr id="5" name="Group 138">
            <a:extLst>
              <a:ext uri="{FF2B5EF4-FFF2-40B4-BE49-F238E27FC236}">
                <a16:creationId xmlns:a16="http://schemas.microsoft.com/office/drawing/2014/main" id="{58B95182-4054-43D5-805D-EA019D19B037}"/>
              </a:ext>
            </a:extLst>
          </p:cNvPr>
          <p:cNvGrpSpPr/>
          <p:nvPr/>
        </p:nvGrpSpPr>
        <p:grpSpPr>
          <a:xfrm>
            <a:off x="4374561" y="1844623"/>
            <a:ext cx="1977212" cy="2921741"/>
            <a:chOff x="8704441" y="2571694"/>
            <a:chExt cx="7028256" cy="10385705"/>
          </a:xfrm>
        </p:grpSpPr>
        <p:sp>
          <p:nvSpPr>
            <p:cNvPr id="6" name="Shape 34173">
              <a:extLst>
                <a:ext uri="{FF2B5EF4-FFF2-40B4-BE49-F238E27FC236}">
                  <a16:creationId xmlns:a16="http://schemas.microsoft.com/office/drawing/2014/main" id="{54F8AFD0-226B-45AF-A0F9-4E5B60DD3D2D}"/>
                </a:ext>
              </a:extLst>
            </p:cNvPr>
            <p:cNvSpPr/>
            <p:nvPr/>
          </p:nvSpPr>
          <p:spPr>
            <a:xfrm>
              <a:off x="8704441" y="4977041"/>
              <a:ext cx="795138" cy="696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6" h="21029" extrusionOk="0">
                  <a:moveTo>
                    <a:pt x="20115" y="12466"/>
                  </a:moveTo>
                  <a:cubicBezTo>
                    <a:pt x="19732" y="10390"/>
                    <a:pt x="17957" y="9059"/>
                    <a:pt x="16157" y="9500"/>
                  </a:cubicBezTo>
                  <a:cubicBezTo>
                    <a:pt x="15676" y="9618"/>
                    <a:pt x="15243" y="9853"/>
                    <a:pt x="14872" y="10171"/>
                  </a:cubicBezTo>
                  <a:lnTo>
                    <a:pt x="17218" y="12800"/>
                  </a:lnTo>
                  <a:cubicBezTo>
                    <a:pt x="17383" y="12986"/>
                    <a:pt x="17387" y="13290"/>
                    <a:pt x="17227" y="13481"/>
                  </a:cubicBezTo>
                  <a:cubicBezTo>
                    <a:pt x="17066" y="13671"/>
                    <a:pt x="16803" y="13676"/>
                    <a:pt x="16637" y="13490"/>
                  </a:cubicBezTo>
                  <a:lnTo>
                    <a:pt x="14268" y="10834"/>
                  </a:lnTo>
                  <a:cubicBezTo>
                    <a:pt x="13652" y="11707"/>
                    <a:pt x="13371" y="12880"/>
                    <a:pt x="13589" y="14063"/>
                  </a:cubicBezTo>
                  <a:cubicBezTo>
                    <a:pt x="13972" y="16139"/>
                    <a:pt x="15747" y="17470"/>
                    <a:pt x="17547" y="17029"/>
                  </a:cubicBezTo>
                  <a:cubicBezTo>
                    <a:pt x="19346" y="16589"/>
                    <a:pt x="20498" y="14541"/>
                    <a:pt x="20115" y="12466"/>
                  </a:cubicBezTo>
                  <a:close/>
                  <a:moveTo>
                    <a:pt x="12445" y="7390"/>
                  </a:moveTo>
                  <a:lnTo>
                    <a:pt x="10862" y="7777"/>
                  </a:lnTo>
                  <a:cubicBezTo>
                    <a:pt x="10683" y="7821"/>
                    <a:pt x="10443" y="7721"/>
                    <a:pt x="10330" y="7554"/>
                  </a:cubicBezTo>
                  <a:lnTo>
                    <a:pt x="9382" y="6156"/>
                  </a:lnTo>
                  <a:lnTo>
                    <a:pt x="7858" y="9354"/>
                  </a:lnTo>
                  <a:cubicBezTo>
                    <a:pt x="7858" y="9354"/>
                    <a:pt x="8237" y="9436"/>
                    <a:pt x="8700" y="9536"/>
                  </a:cubicBezTo>
                  <a:lnTo>
                    <a:pt x="12662" y="8566"/>
                  </a:lnTo>
                  <a:cubicBezTo>
                    <a:pt x="12662" y="8566"/>
                    <a:pt x="12445" y="7390"/>
                    <a:pt x="12445" y="7390"/>
                  </a:cubicBezTo>
                  <a:close/>
                  <a:moveTo>
                    <a:pt x="12276" y="9645"/>
                  </a:moveTo>
                  <a:lnTo>
                    <a:pt x="10649" y="10043"/>
                  </a:lnTo>
                  <a:cubicBezTo>
                    <a:pt x="10837" y="10188"/>
                    <a:pt x="10975" y="10413"/>
                    <a:pt x="11024" y="10676"/>
                  </a:cubicBezTo>
                  <a:lnTo>
                    <a:pt x="11025" y="10675"/>
                  </a:lnTo>
                  <a:cubicBezTo>
                    <a:pt x="11025" y="10675"/>
                    <a:pt x="11166" y="11451"/>
                    <a:pt x="11342" y="12416"/>
                  </a:cubicBezTo>
                  <a:cubicBezTo>
                    <a:pt x="11342" y="12416"/>
                    <a:pt x="12276" y="9645"/>
                    <a:pt x="12276" y="9645"/>
                  </a:cubicBezTo>
                  <a:close/>
                  <a:moveTo>
                    <a:pt x="9392" y="11587"/>
                  </a:moveTo>
                  <a:cubicBezTo>
                    <a:pt x="9392" y="11587"/>
                    <a:pt x="7390" y="11287"/>
                    <a:pt x="6435" y="11138"/>
                  </a:cubicBezTo>
                  <a:lnTo>
                    <a:pt x="5956" y="12381"/>
                  </a:lnTo>
                  <a:cubicBezTo>
                    <a:pt x="6790" y="12920"/>
                    <a:pt x="7454" y="13798"/>
                    <a:pt x="7783" y="14892"/>
                  </a:cubicBezTo>
                  <a:lnTo>
                    <a:pt x="9906" y="14373"/>
                  </a:lnTo>
                  <a:cubicBezTo>
                    <a:pt x="9906" y="14373"/>
                    <a:pt x="9392" y="11587"/>
                    <a:pt x="9392" y="11587"/>
                  </a:cubicBezTo>
                  <a:close/>
                  <a:moveTo>
                    <a:pt x="7320" y="15990"/>
                  </a:moveTo>
                  <a:lnTo>
                    <a:pt x="4073" y="16785"/>
                  </a:lnTo>
                  <a:cubicBezTo>
                    <a:pt x="3848" y="16840"/>
                    <a:pt x="3626" y="16674"/>
                    <a:pt x="3578" y="16414"/>
                  </a:cubicBezTo>
                  <a:cubicBezTo>
                    <a:pt x="3557" y="16296"/>
                    <a:pt x="3576" y="16181"/>
                    <a:pt x="3622" y="16083"/>
                  </a:cubicBezTo>
                  <a:lnTo>
                    <a:pt x="3621" y="16082"/>
                  </a:lnTo>
                  <a:lnTo>
                    <a:pt x="4917" y="12711"/>
                  </a:lnTo>
                  <a:cubicBezTo>
                    <a:pt x="4410" y="12543"/>
                    <a:pt x="3861" y="12510"/>
                    <a:pt x="3309" y="12645"/>
                  </a:cubicBezTo>
                  <a:cubicBezTo>
                    <a:pt x="1510" y="13086"/>
                    <a:pt x="358" y="15133"/>
                    <a:pt x="741" y="17209"/>
                  </a:cubicBezTo>
                  <a:cubicBezTo>
                    <a:pt x="1124" y="19285"/>
                    <a:pt x="2899" y="20615"/>
                    <a:pt x="4699" y="20175"/>
                  </a:cubicBezTo>
                  <a:cubicBezTo>
                    <a:pt x="6388" y="19761"/>
                    <a:pt x="7507" y="17930"/>
                    <a:pt x="7320" y="15990"/>
                  </a:cubicBezTo>
                  <a:close/>
                  <a:moveTo>
                    <a:pt x="4700" y="15647"/>
                  </a:moveTo>
                  <a:lnTo>
                    <a:pt x="7121" y="15055"/>
                  </a:lnTo>
                  <a:cubicBezTo>
                    <a:pt x="6845" y="14210"/>
                    <a:pt x="6329" y="13528"/>
                    <a:pt x="5683" y="13093"/>
                  </a:cubicBezTo>
                  <a:cubicBezTo>
                    <a:pt x="5683" y="13093"/>
                    <a:pt x="4700" y="15647"/>
                    <a:pt x="4700" y="15647"/>
                  </a:cubicBezTo>
                  <a:close/>
                  <a:moveTo>
                    <a:pt x="20768" y="12306"/>
                  </a:moveTo>
                  <a:cubicBezTo>
                    <a:pt x="21228" y="14801"/>
                    <a:pt x="19848" y="17253"/>
                    <a:pt x="17686" y="17782"/>
                  </a:cubicBezTo>
                  <a:cubicBezTo>
                    <a:pt x="15523" y="18311"/>
                    <a:pt x="13397" y="16718"/>
                    <a:pt x="12936" y="14223"/>
                  </a:cubicBezTo>
                  <a:cubicBezTo>
                    <a:pt x="12670" y="12777"/>
                    <a:pt x="13022" y="11346"/>
                    <a:pt x="13786" y="10295"/>
                  </a:cubicBezTo>
                  <a:lnTo>
                    <a:pt x="13180" y="9616"/>
                  </a:lnTo>
                  <a:lnTo>
                    <a:pt x="11655" y="14141"/>
                  </a:lnTo>
                  <a:cubicBezTo>
                    <a:pt x="11845" y="15192"/>
                    <a:pt x="12003" y="16082"/>
                    <a:pt x="12002" y="16116"/>
                  </a:cubicBezTo>
                  <a:cubicBezTo>
                    <a:pt x="11988" y="16676"/>
                    <a:pt x="11582" y="17117"/>
                    <a:pt x="11096" y="17100"/>
                  </a:cubicBezTo>
                  <a:cubicBezTo>
                    <a:pt x="10682" y="17085"/>
                    <a:pt x="10344" y="16743"/>
                    <a:pt x="10261" y="16295"/>
                  </a:cubicBezTo>
                  <a:lnTo>
                    <a:pt x="10260" y="16295"/>
                  </a:lnTo>
                  <a:lnTo>
                    <a:pt x="10079" y="15314"/>
                  </a:lnTo>
                  <a:lnTo>
                    <a:pt x="7974" y="15829"/>
                  </a:lnTo>
                  <a:cubicBezTo>
                    <a:pt x="8237" y="18189"/>
                    <a:pt x="6891" y="20425"/>
                    <a:pt x="4838" y="20928"/>
                  </a:cubicBezTo>
                  <a:cubicBezTo>
                    <a:pt x="2675" y="21457"/>
                    <a:pt x="549" y="19863"/>
                    <a:pt x="88" y="17369"/>
                  </a:cubicBezTo>
                  <a:cubicBezTo>
                    <a:pt x="-372" y="14874"/>
                    <a:pt x="1008" y="12422"/>
                    <a:pt x="3170" y="11892"/>
                  </a:cubicBezTo>
                  <a:cubicBezTo>
                    <a:pt x="3866" y="11722"/>
                    <a:pt x="4557" y="11772"/>
                    <a:pt x="5191" y="12001"/>
                  </a:cubicBezTo>
                  <a:lnTo>
                    <a:pt x="5611" y="10908"/>
                  </a:lnTo>
                  <a:cubicBezTo>
                    <a:pt x="5188" y="10637"/>
                    <a:pt x="4908" y="10111"/>
                    <a:pt x="4924" y="9516"/>
                  </a:cubicBezTo>
                  <a:cubicBezTo>
                    <a:pt x="4931" y="9235"/>
                    <a:pt x="5004" y="8976"/>
                    <a:pt x="5123" y="8753"/>
                  </a:cubicBezTo>
                  <a:lnTo>
                    <a:pt x="5122" y="8753"/>
                  </a:lnTo>
                  <a:lnTo>
                    <a:pt x="7375" y="4249"/>
                  </a:lnTo>
                  <a:lnTo>
                    <a:pt x="7375" y="4250"/>
                  </a:lnTo>
                  <a:cubicBezTo>
                    <a:pt x="7591" y="3700"/>
                    <a:pt x="8076" y="3326"/>
                    <a:pt x="8631" y="3346"/>
                  </a:cubicBezTo>
                  <a:cubicBezTo>
                    <a:pt x="9070" y="3361"/>
                    <a:pt x="9452" y="3620"/>
                    <a:pt x="9685" y="4006"/>
                  </a:cubicBezTo>
                  <a:lnTo>
                    <a:pt x="9686" y="4006"/>
                  </a:lnTo>
                  <a:lnTo>
                    <a:pt x="11018" y="6165"/>
                  </a:lnTo>
                  <a:lnTo>
                    <a:pt x="12915" y="5701"/>
                  </a:lnTo>
                  <a:cubicBezTo>
                    <a:pt x="13275" y="5613"/>
                    <a:pt x="13630" y="5878"/>
                    <a:pt x="13706" y="6294"/>
                  </a:cubicBezTo>
                  <a:cubicBezTo>
                    <a:pt x="13778" y="6683"/>
                    <a:pt x="13580" y="7062"/>
                    <a:pt x="13259" y="7182"/>
                  </a:cubicBezTo>
                  <a:lnTo>
                    <a:pt x="13534" y="8671"/>
                  </a:lnTo>
                  <a:lnTo>
                    <a:pt x="14385" y="9625"/>
                  </a:lnTo>
                  <a:cubicBezTo>
                    <a:pt x="14850" y="9205"/>
                    <a:pt x="15402" y="8898"/>
                    <a:pt x="16018" y="8747"/>
                  </a:cubicBezTo>
                  <a:cubicBezTo>
                    <a:pt x="18181" y="8217"/>
                    <a:pt x="20307" y="9811"/>
                    <a:pt x="20768" y="12306"/>
                  </a:cubicBezTo>
                  <a:close/>
                  <a:moveTo>
                    <a:pt x="8795" y="1859"/>
                  </a:moveTo>
                  <a:cubicBezTo>
                    <a:pt x="8642" y="1027"/>
                    <a:pt x="9102" y="210"/>
                    <a:pt x="9823" y="34"/>
                  </a:cubicBezTo>
                  <a:cubicBezTo>
                    <a:pt x="10543" y="-143"/>
                    <a:pt x="11252" y="388"/>
                    <a:pt x="11406" y="1220"/>
                  </a:cubicBezTo>
                  <a:cubicBezTo>
                    <a:pt x="11559" y="2051"/>
                    <a:pt x="11099" y="2869"/>
                    <a:pt x="10378" y="3045"/>
                  </a:cubicBezTo>
                  <a:cubicBezTo>
                    <a:pt x="9658" y="3222"/>
                    <a:pt x="8949" y="2690"/>
                    <a:pt x="8795" y="18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" name="Shape 34174">
              <a:extLst>
                <a:ext uri="{FF2B5EF4-FFF2-40B4-BE49-F238E27FC236}">
                  <a16:creationId xmlns:a16="http://schemas.microsoft.com/office/drawing/2014/main" id="{68128151-2760-45B8-97EA-5230D64C08CC}"/>
                </a:ext>
              </a:extLst>
            </p:cNvPr>
            <p:cNvSpPr/>
            <p:nvPr/>
          </p:nvSpPr>
          <p:spPr>
            <a:xfrm>
              <a:off x="13207711" y="5129396"/>
              <a:ext cx="316260" cy="632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" name="Shape 34175">
              <a:extLst>
                <a:ext uri="{FF2B5EF4-FFF2-40B4-BE49-F238E27FC236}">
                  <a16:creationId xmlns:a16="http://schemas.microsoft.com/office/drawing/2014/main" id="{1D7F4211-594B-47C9-8DCD-A4BCD12E586A}"/>
                </a:ext>
              </a:extLst>
            </p:cNvPr>
            <p:cNvSpPr/>
            <p:nvPr/>
          </p:nvSpPr>
          <p:spPr>
            <a:xfrm>
              <a:off x="13346915" y="6245061"/>
              <a:ext cx="528722" cy="46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" name="Shape 34176">
              <a:extLst>
                <a:ext uri="{FF2B5EF4-FFF2-40B4-BE49-F238E27FC236}">
                  <a16:creationId xmlns:a16="http://schemas.microsoft.com/office/drawing/2014/main" id="{E160DC46-78C8-4C98-9610-BC7760A49598}"/>
                </a:ext>
              </a:extLst>
            </p:cNvPr>
            <p:cNvSpPr/>
            <p:nvPr/>
          </p:nvSpPr>
          <p:spPr>
            <a:xfrm>
              <a:off x="10903238" y="7779831"/>
              <a:ext cx="984814" cy="885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0" name="Shape 34177">
              <a:extLst>
                <a:ext uri="{FF2B5EF4-FFF2-40B4-BE49-F238E27FC236}">
                  <a16:creationId xmlns:a16="http://schemas.microsoft.com/office/drawing/2014/main" id="{78E9A327-153C-4224-85C0-1ACC89739B8D}"/>
                </a:ext>
              </a:extLst>
            </p:cNvPr>
            <p:cNvSpPr/>
            <p:nvPr/>
          </p:nvSpPr>
          <p:spPr>
            <a:xfrm>
              <a:off x="11708307" y="11472461"/>
              <a:ext cx="584792" cy="50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37" y="21600"/>
                  </a:moveTo>
                  <a:cubicBezTo>
                    <a:pt x="7087" y="19915"/>
                    <a:pt x="7254" y="17403"/>
                    <a:pt x="7225" y="15022"/>
                  </a:cubicBezTo>
                  <a:cubicBezTo>
                    <a:pt x="9087" y="15916"/>
                    <a:pt x="11129" y="16612"/>
                    <a:pt x="13235" y="14961"/>
                  </a:cubicBezTo>
                  <a:cubicBezTo>
                    <a:pt x="15319" y="13326"/>
                    <a:pt x="15547" y="10891"/>
                    <a:pt x="15533" y="8574"/>
                  </a:cubicBezTo>
                  <a:cubicBezTo>
                    <a:pt x="17412" y="9482"/>
                    <a:pt x="19470" y="10214"/>
                    <a:pt x="21600" y="8543"/>
                  </a:cubicBezTo>
                  <a:lnTo>
                    <a:pt x="20969" y="7441"/>
                  </a:lnTo>
                  <a:cubicBezTo>
                    <a:pt x="19165" y="8855"/>
                    <a:pt x="17455" y="8115"/>
                    <a:pt x="15526" y="7147"/>
                  </a:cubicBezTo>
                  <a:cubicBezTo>
                    <a:pt x="15470" y="4670"/>
                    <a:pt x="15489" y="2522"/>
                    <a:pt x="17315" y="1092"/>
                  </a:cubicBezTo>
                  <a:lnTo>
                    <a:pt x="16670" y="0"/>
                  </a:lnTo>
                  <a:cubicBezTo>
                    <a:pt x="14521" y="1685"/>
                    <a:pt x="14346" y="4208"/>
                    <a:pt x="14375" y="6589"/>
                  </a:cubicBezTo>
                  <a:cubicBezTo>
                    <a:pt x="12514" y="5696"/>
                    <a:pt x="10476" y="5018"/>
                    <a:pt x="8371" y="6668"/>
                  </a:cubicBezTo>
                  <a:cubicBezTo>
                    <a:pt x="6282" y="8306"/>
                    <a:pt x="6070" y="10724"/>
                    <a:pt x="6085" y="13045"/>
                  </a:cubicBezTo>
                  <a:cubicBezTo>
                    <a:pt x="4204" y="12134"/>
                    <a:pt x="2134" y="11396"/>
                    <a:pt x="0" y="13068"/>
                  </a:cubicBezTo>
                  <a:cubicBezTo>
                    <a:pt x="0" y="13068"/>
                    <a:pt x="641" y="14162"/>
                    <a:pt x="641" y="14162"/>
                  </a:cubicBezTo>
                  <a:cubicBezTo>
                    <a:pt x="2449" y="12745"/>
                    <a:pt x="4156" y="13499"/>
                    <a:pt x="6093" y="14471"/>
                  </a:cubicBezTo>
                  <a:cubicBezTo>
                    <a:pt x="6148" y="16943"/>
                    <a:pt x="6117" y="19084"/>
                    <a:pt x="4295" y="20512"/>
                  </a:cubicBezTo>
                  <a:lnTo>
                    <a:pt x="4937" y="21600"/>
                  </a:lnTo>
                  <a:close/>
                  <a:moveTo>
                    <a:pt x="4054" y="19679"/>
                  </a:moveTo>
                  <a:cubicBezTo>
                    <a:pt x="4369" y="19426"/>
                    <a:pt x="4614" y="19148"/>
                    <a:pt x="4809" y="18844"/>
                  </a:cubicBezTo>
                  <a:cubicBezTo>
                    <a:pt x="4809" y="18844"/>
                    <a:pt x="2134" y="14221"/>
                    <a:pt x="2134" y="14221"/>
                  </a:cubicBezTo>
                  <a:cubicBezTo>
                    <a:pt x="1820" y="14319"/>
                    <a:pt x="1507" y="14483"/>
                    <a:pt x="1188" y="14730"/>
                  </a:cubicBezTo>
                  <a:lnTo>
                    <a:pt x="4054" y="19679"/>
                  </a:lnTo>
                  <a:close/>
                  <a:moveTo>
                    <a:pt x="5303" y="17641"/>
                  </a:moveTo>
                  <a:cubicBezTo>
                    <a:pt x="5447" y="17150"/>
                    <a:pt x="5511" y="16611"/>
                    <a:pt x="5534" y="16026"/>
                  </a:cubicBezTo>
                  <a:lnTo>
                    <a:pt x="4636" y="14466"/>
                  </a:lnTo>
                  <a:cubicBezTo>
                    <a:pt x="4164" y="14273"/>
                    <a:pt x="3712" y="14138"/>
                    <a:pt x="3269" y="14112"/>
                  </a:cubicBezTo>
                  <a:lnTo>
                    <a:pt x="5303" y="17641"/>
                  </a:lnTo>
                  <a:close/>
                  <a:moveTo>
                    <a:pt x="7218" y="13596"/>
                  </a:moveTo>
                  <a:cubicBezTo>
                    <a:pt x="7170" y="11212"/>
                    <a:pt x="7244" y="9148"/>
                    <a:pt x="9015" y="7760"/>
                  </a:cubicBezTo>
                  <a:cubicBezTo>
                    <a:pt x="10800" y="6360"/>
                    <a:pt x="12484" y="7073"/>
                    <a:pt x="14389" y="8027"/>
                  </a:cubicBezTo>
                  <a:cubicBezTo>
                    <a:pt x="14437" y="10403"/>
                    <a:pt x="14371" y="12473"/>
                    <a:pt x="12604" y="13859"/>
                  </a:cubicBezTo>
                  <a:cubicBezTo>
                    <a:pt x="10819" y="15258"/>
                    <a:pt x="9123" y="14549"/>
                    <a:pt x="7218" y="13596"/>
                  </a:cubicBezTo>
                  <a:close/>
                  <a:moveTo>
                    <a:pt x="9128" y="13531"/>
                  </a:moveTo>
                  <a:cubicBezTo>
                    <a:pt x="9683" y="13753"/>
                    <a:pt x="10215" y="13899"/>
                    <a:pt x="10736" y="13922"/>
                  </a:cubicBezTo>
                  <a:lnTo>
                    <a:pt x="8270" y="9693"/>
                  </a:lnTo>
                  <a:cubicBezTo>
                    <a:pt x="8094" y="10262"/>
                    <a:pt x="8018" y="10890"/>
                    <a:pt x="7988" y="11570"/>
                  </a:cubicBezTo>
                  <a:lnTo>
                    <a:pt x="9128" y="13531"/>
                  </a:lnTo>
                  <a:close/>
                  <a:moveTo>
                    <a:pt x="11711" y="13445"/>
                  </a:moveTo>
                  <a:cubicBezTo>
                    <a:pt x="11906" y="13348"/>
                    <a:pt x="12100" y="13226"/>
                    <a:pt x="12298" y="13067"/>
                  </a:cubicBezTo>
                  <a:cubicBezTo>
                    <a:pt x="12398" y="12988"/>
                    <a:pt x="12489" y="12904"/>
                    <a:pt x="12577" y="12819"/>
                  </a:cubicBezTo>
                  <a:lnTo>
                    <a:pt x="9787" y="7934"/>
                  </a:lnTo>
                  <a:cubicBezTo>
                    <a:pt x="9688" y="7998"/>
                    <a:pt x="9589" y="8069"/>
                    <a:pt x="9488" y="8149"/>
                  </a:cubicBezTo>
                  <a:cubicBezTo>
                    <a:pt x="9290" y="8307"/>
                    <a:pt x="9121" y="8474"/>
                    <a:pt x="8972" y="8652"/>
                  </a:cubicBezTo>
                  <a:lnTo>
                    <a:pt x="11711" y="13445"/>
                  </a:lnTo>
                  <a:close/>
                  <a:moveTo>
                    <a:pt x="13407" y="12000"/>
                  </a:moveTo>
                  <a:cubicBezTo>
                    <a:pt x="13611" y="11527"/>
                    <a:pt x="13723" y="11008"/>
                    <a:pt x="13784" y="10444"/>
                  </a:cubicBezTo>
                  <a:lnTo>
                    <a:pt x="12283" y="7830"/>
                  </a:lnTo>
                  <a:cubicBezTo>
                    <a:pt x="11815" y="7685"/>
                    <a:pt x="11363" y="7615"/>
                    <a:pt x="10913" y="7660"/>
                  </a:cubicBezTo>
                  <a:lnTo>
                    <a:pt x="13407" y="12000"/>
                  </a:lnTo>
                  <a:close/>
                  <a:moveTo>
                    <a:pt x="16965" y="7123"/>
                  </a:moveTo>
                  <a:cubicBezTo>
                    <a:pt x="17421" y="7289"/>
                    <a:pt x="17855" y="7394"/>
                    <a:pt x="18279" y="7398"/>
                  </a:cubicBezTo>
                  <a:lnTo>
                    <a:pt x="16261" y="4044"/>
                  </a:lnTo>
                  <a:cubicBezTo>
                    <a:pt x="16133" y="4533"/>
                    <a:pt x="16081" y="5067"/>
                    <a:pt x="16071" y="5642"/>
                  </a:cubicBezTo>
                  <a:lnTo>
                    <a:pt x="16965" y="7123"/>
                  </a:lnTo>
                  <a:close/>
                  <a:moveTo>
                    <a:pt x="19610" y="7085"/>
                  </a:moveTo>
                  <a:cubicBezTo>
                    <a:pt x="19909" y="6982"/>
                    <a:pt x="20208" y="6817"/>
                    <a:pt x="20510" y="6570"/>
                  </a:cubicBezTo>
                  <a:lnTo>
                    <a:pt x="17721" y="1845"/>
                  </a:lnTo>
                  <a:cubicBezTo>
                    <a:pt x="17423" y="2098"/>
                    <a:pt x="17191" y="2376"/>
                    <a:pt x="17007" y="2675"/>
                  </a:cubicBezTo>
                  <a:cubicBezTo>
                    <a:pt x="17007" y="2675"/>
                    <a:pt x="19610" y="7085"/>
                    <a:pt x="19610" y="7085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1" name="Shape 34178">
              <a:extLst>
                <a:ext uri="{FF2B5EF4-FFF2-40B4-BE49-F238E27FC236}">
                  <a16:creationId xmlns:a16="http://schemas.microsoft.com/office/drawing/2014/main" id="{4F678B15-F002-4E8B-9DFF-E999A7B29C8E}"/>
                </a:ext>
              </a:extLst>
            </p:cNvPr>
            <p:cNvSpPr/>
            <p:nvPr/>
          </p:nvSpPr>
          <p:spPr>
            <a:xfrm>
              <a:off x="14474664" y="3452446"/>
              <a:ext cx="701272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6837" y="0"/>
                  </a:moveTo>
                  <a:lnTo>
                    <a:pt x="6304" y="11896"/>
                  </a:lnTo>
                  <a:lnTo>
                    <a:pt x="10115" y="11984"/>
                  </a:lnTo>
                  <a:lnTo>
                    <a:pt x="10387" y="5819"/>
                  </a:lnTo>
                  <a:cubicBezTo>
                    <a:pt x="10807" y="5990"/>
                    <a:pt x="11286" y="6091"/>
                    <a:pt x="11799" y="6080"/>
                  </a:cubicBezTo>
                  <a:cubicBezTo>
                    <a:pt x="12816" y="6059"/>
                    <a:pt x="13721" y="5638"/>
                    <a:pt x="14293" y="5029"/>
                  </a:cubicBezTo>
                  <a:cubicBezTo>
                    <a:pt x="14344" y="4975"/>
                    <a:pt x="14392" y="4920"/>
                    <a:pt x="14437" y="4864"/>
                  </a:cubicBezTo>
                  <a:cubicBezTo>
                    <a:pt x="15870" y="5413"/>
                    <a:pt x="17048" y="6141"/>
                    <a:pt x="17879" y="7040"/>
                  </a:cubicBezTo>
                  <a:cubicBezTo>
                    <a:pt x="19250" y="8523"/>
                    <a:pt x="19623" y="10355"/>
                    <a:pt x="18956" y="12341"/>
                  </a:cubicBezTo>
                  <a:cubicBezTo>
                    <a:pt x="17917" y="15436"/>
                    <a:pt x="14349" y="17736"/>
                    <a:pt x="10109" y="18168"/>
                  </a:cubicBezTo>
                  <a:lnTo>
                    <a:pt x="10109" y="16337"/>
                  </a:lnTo>
                  <a:lnTo>
                    <a:pt x="12811" y="16337"/>
                  </a:lnTo>
                  <a:lnTo>
                    <a:pt x="12811" y="15424"/>
                  </a:lnTo>
                  <a:lnTo>
                    <a:pt x="2958" y="15424"/>
                  </a:lnTo>
                  <a:lnTo>
                    <a:pt x="2958" y="16337"/>
                  </a:lnTo>
                  <a:lnTo>
                    <a:pt x="5665" y="16337"/>
                  </a:lnTo>
                  <a:lnTo>
                    <a:pt x="5665" y="19312"/>
                  </a:lnTo>
                  <a:lnTo>
                    <a:pt x="0" y="19312"/>
                  </a:lnTo>
                  <a:lnTo>
                    <a:pt x="0" y="21600"/>
                  </a:lnTo>
                  <a:lnTo>
                    <a:pt x="15769" y="21600"/>
                  </a:lnTo>
                  <a:lnTo>
                    <a:pt x="15769" y="19312"/>
                  </a:lnTo>
                  <a:lnTo>
                    <a:pt x="11820" y="19312"/>
                  </a:lnTo>
                  <a:cubicBezTo>
                    <a:pt x="16159" y="18468"/>
                    <a:pt x="19703" y="15947"/>
                    <a:pt x="20805" y="12664"/>
                  </a:cubicBezTo>
                  <a:cubicBezTo>
                    <a:pt x="21600" y="10296"/>
                    <a:pt x="21135" y="8089"/>
                    <a:pt x="19462" y="6280"/>
                  </a:cubicBezTo>
                  <a:cubicBezTo>
                    <a:pt x="18352" y="5079"/>
                    <a:pt x="16769" y="4131"/>
                    <a:pt x="14820" y="3462"/>
                  </a:cubicBezTo>
                  <a:cubicBezTo>
                    <a:pt x="14558" y="2431"/>
                    <a:pt x="13305" y="1647"/>
                    <a:pt x="11799" y="1647"/>
                  </a:cubicBezTo>
                  <a:cubicBezTo>
                    <a:pt x="11359" y="1647"/>
                    <a:pt x="10947" y="1715"/>
                    <a:pt x="10568" y="1835"/>
                  </a:cubicBezTo>
                  <a:lnTo>
                    <a:pt x="10642" y="88"/>
                  </a:lnTo>
                  <a:lnTo>
                    <a:pt x="6837" y="0"/>
                  </a:lnTo>
                  <a:close/>
                  <a:moveTo>
                    <a:pt x="11799" y="3017"/>
                  </a:moveTo>
                  <a:cubicBezTo>
                    <a:pt x="12376" y="3012"/>
                    <a:pt x="12879" y="3300"/>
                    <a:pt x="12982" y="3708"/>
                  </a:cubicBezTo>
                  <a:cubicBezTo>
                    <a:pt x="13088" y="4130"/>
                    <a:pt x="12736" y="4539"/>
                    <a:pt x="12167" y="4660"/>
                  </a:cubicBezTo>
                  <a:cubicBezTo>
                    <a:pt x="12051" y="4688"/>
                    <a:pt x="11928" y="4706"/>
                    <a:pt x="11799" y="4706"/>
                  </a:cubicBezTo>
                  <a:cubicBezTo>
                    <a:pt x="11152" y="4706"/>
                    <a:pt x="10625" y="4326"/>
                    <a:pt x="10626" y="3862"/>
                  </a:cubicBezTo>
                  <a:cubicBezTo>
                    <a:pt x="10628" y="3397"/>
                    <a:pt x="11153" y="3023"/>
                    <a:pt x="11799" y="30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2" name="Shape 34179">
              <a:extLst>
                <a:ext uri="{FF2B5EF4-FFF2-40B4-BE49-F238E27FC236}">
                  <a16:creationId xmlns:a16="http://schemas.microsoft.com/office/drawing/2014/main" id="{B640C1FD-64C6-481E-8CA6-1F579DB7BF97}"/>
                </a:ext>
              </a:extLst>
            </p:cNvPr>
            <p:cNvSpPr/>
            <p:nvPr/>
          </p:nvSpPr>
          <p:spPr>
            <a:xfrm>
              <a:off x="13573878" y="4409128"/>
              <a:ext cx="1096094" cy="1213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3" name="Shape 34180">
              <a:extLst>
                <a:ext uri="{FF2B5EF4-FFF2-40B4-BE49-F238E27FC236}">
                  <a16:creationId xmlns:a16="http://schemas.microsoft.com/office/drawing/2014/main" id="{FC0527D6-D884-408F-BA36-9B4D6D2454E1}"/>
                </a:ext>
              </a:extLst>
            </p:cNvPr>
            <p:cNvSpPr/>
            <p:nvPr/>
          </p:nvSpPr>
          <p:spPr>
            <a:xfrm>
              <a:off x="12366664" y="11330119"/>
              <a:ext cx="843804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4" name="Shape 34181">
              <a:extLst>
                <a:ext uri="{FF2B5EF4-FFF2-40B4-BE49-F238E27FC236}">
                  <a16:creationId xmlns:a16="http://schemas.microsoft.com/office/drawing/2014/main" id="{D20E22D0-E6B4-4E74-BCC9-D24F16731457}"/>
                </a:ext>
              </a:extLst>
            </p:cNvPr>
            <p:cNvSpPr/>
            <p:nvPr/>
          </p:nvSpPr>
          <p:spPr>
            <a:xfrm>
              <a:off x="14244181" y="7303221"/>
              <a:ext cx="622050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097" y="15438"/>
                  </a:lnTo>
                  <a:lnTo>
                    <a:pt x="5592" y="20234"/>
                  </a:lnTo>
                  <a:cubicBezTo>
                    <a:pt x="5592" y="20234"/>
                    <a:pt x="0" y="21600"/>
                    <a:pt x="0" y="21600"/>
                  </a:cubicBezTo>
                  <a:close/>
                  <a:moveTo>
                    <a:pt x="6275" y="19576"/>
                  </a:moveTo>
                  <a:lnTo>
                    <a:pt x="2779" y="14780"/>
                  </a:lnTo>
                  <a:lnTo>
                    <a:pt x="14944" y="3046"/>
                  </a:lnTo>
                  <a:lnTo>
                    <a:pt x="18443" y="7840"/>
                  </a:lnTo>
                  <a:cubicBezTo>
                    <a:pt x="18443" y="7840"/>
                    <a:pt x="6275" y="19576"/>
                    <a:pt x="6275" y="19576"/>
                  </a:cubicBezTo>
                  <a:close/>
                  <a:moveTo>
                    <a:pt x="19138" y="7167"/>
                  </a:moveTo>
                  <a:lnTo>
                    <a:pt x="15640" y="2373"/>
                  </a:lnTo>
                  <a:lnTo>
                    <a:pt x="18101" y="0"/>
                  </a:lnTo>
                  <a:lnTo>
                    <a:pt x="21600" y="4794"/>
                  </a:lnTo>
                  <a:cubicBezTo>
                    <a:pt x="21600" y="4794"/>
                    <a:pt x="19138" y="7167"/>
                    <a:pt x="19138" y="716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5" name="Shape 34182">
              <a:extLst>
                <a:ext uri="{FF2B5EF4-FFF2-40B4-BE49-F238E27FC236}">
                  <a16:creationId xmlns:a16="http://schemas.microsoft.com/office/drawing/2014/main" id="{32FA501B-5962-4484-8A0B-34C400BFD48A}"/>
                </a:ext>
              </a:extLst>
            </p:cNvPr>
            <p:cNvSpPr/>
            <p:nvPr/>
          </p:nvSpPr>
          <p:spPr>
            <a:xfrm>
              <a:off x="13576635" y="6759701"/>
              <a:ext cx="580114" cy="80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6" h="21363" extrusionOk="0">
                  <a:moveTo>
                    <a:pt x="10609" y="43"/>
                  </a:moveTo>
                  <a:cubicBezTo>
                    <a:pt x="8165" y="-162"/>
                    <a:pt x="5621" y="372"/>
                    <a:pt x="3560" y="1702"/>
                  </a:cubicBezTo>
                  <a:cubicBezTo>
                    <a:pt x="-561" y="4362"/>
                    <a:pt x="-1197" y="9181"/>
                    <a:pt x="2140" y="12465"/>
                  </a:cubicBezTo>
                  <a:cubicBezTo>
                    <a:pt x="4853" y="15135"/>
                    <a:pt x="9359" y="15971"/>
                    <a:pt x="13163" y="14762"/>
                  </a:cubicBezTo>
                  <a:cubicBezTo>
                    <a:pt x="13165" y="14832"/>
                    <a:pt x="13187" y="14904"/>
                    <a:pt x="13225" y="14972"/>
                  </a:cubicBezTo>
                  <a:lnTo>
                    <a:pt x="16612" y="21039"/>
                  </a:lnTo>
                  <a:cubicBezTo>
                    <a:pt x="16765" y="21313"/>
                    <a:pt x="17169" y="21438"/>
                    <a:pt x="17513" y="21316"/>
                  </a:cubicBezTo>
                  <a:lnTo>
                    <a:pt x="17878" y="21186"/>
                  </a:lnTo>
                  <a:cubicBezTo>
                    <a:pt x="18222" y="21064"/>
                    <a:pt x="18373" y="20741"/>
                    <a:pt x="18220" y="20467"/>
                  </a:cubicBezTo>
                  <a:lnTo>
                    <a:pt x="14832" y="14405"/>
                  </a:lnTo>
                  <a:cubicBezTo>
                    <a:pt x="14778" y="14307"/>
                    <a:pt x="14685" y="14238"/>
                    <a:pt x="14581" y="14183"/>
                  </a:cubicBezTo>
                  <a:cubicBezTo>
                    <a:pt x="14946" y="14006"/>
                    <a:pt x="15305" y="13816"/>
                    <a:pt x="15646" y="13596"/>
                  </a:cubicBezTo>
                  <a:cubicBezTo>
                    <a:pt x="19767" y="10937"/>
                    <a:pt x="20403" y="6118"/>
                    <a:pt x="17066" y="2833"/>
                  </a:cubicBezTo>
                  <a:cubicBezTo>
                    <a:pt x="15397" y="1191"/>
                    <a:pt x="13053" y="247"/>
                    <a:pt x="10609" y="43"/>
                  </a:cubicBezTo>
                  <a:close/>
                  <a:moveTo>
                    <a:pt x="10451" y="1237"/>
                  </a:moveTo>
                  <a:cubicBezTo>
                    <a:pt x="12511" y="1410"/>
                    <a:pt x="14487" y="2210"/>
                    <a:pt x="15893" y="3594"/>
                  </a:cubicBezTo>
                  <a:cubicBezTo>
                    <a:pt x="18705" y="6361"/>
                    <a:pt x="18170" y="10422"/>
                    <a:pt x="14697" y="12663"/>
                  </a:cubicBezTo>
                  <a:cubicBezTo>
                    <a:pt x="11225" y="14903"/>
                    <a:pt x="6130" y="14477"/>
                    <a:pt x="3318" y="11709"/>
                  </a:cubicBezTo>
                  <a:cubicBezTo>
                    <a:pt x="506" y="8942"/>
                    <a:pt x="1041" y="4882"/>
                    <a:pt x="4514" y="2641"/>
                  </a:cubicBezTo>
                  <a:cubicBezTo>
                    <a:pt x="6250" y="1520"/>
                    <a:pt x="8392" y="1065"/>
                    <a:pt x="10451" y="1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6" name="Shape 34183">
              <a:extLst>
                <a:ext uri="{FF2B5EF4-FFF2-40B4-BE49-F238E27FC236}">
                  <a16:creationId xmlns:a16="http://schemas.microsoft.com/office/drawing/2014/main" id="{742CAAEB-DCDA-49D9-BEDF-A0DEC236B988}"/>
                </a:ext>
              </a:extLst>
            </p:cNvPr>
            <p:cNvSpPr/>
            <p:nvPr/>
          </p:nvSpPr>
          <p:spPr>
            <a:xfrm>
              <a:off x="11615391" y="7089790"/>
              <a:ext cx="617918" cy="68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7" name="Shape 34184">
              <a:extLst>
                <a:ext uri="{FF2B5EF4-FFF2-40B4-BE49-F238E27FC236}">
                  <a16:creationId xmlns:a16="http://schemas.microsoft.com/office/drawing/2014/main" id="{E69921C6-AB16-4677-B9C6-0FA4349CB779}"/>
                </a:ext>
              </a:extLst>
            </p:cNvPr>
            <p:cNvSpPr/>
            <p:nvPr/>
          </p:nvSpPr>
          <p:spPr>
            <a:xfrm>
              <a:off x="13088735" y="3291417"/>
              <a:ext cx="651942" cy="59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8" name="Shape 34185">
              <a:extLst>
                <a:ext uri="{FF2B5EF4-FFF2-40B4-BE49-F238E27FC236}">
                  <a16:creationId xmlns:a16="http://schemas.microsoft.com/office/drawing/2014/main" id="{915AC7A9-5EEC-49B9-8FB0-0DE814528FC9}"/>
                </a:ext>
              </a:extLst>
            </p:cNvPr>
            <p:cNvSpPr/>
            <p:nvPr/>
          </p:nvSpPr>
          <p:spPr>
            <a:xfrm>
              <a:off x="12303465" y="7118398"/>
              <a:ext cx="457434" cy="6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9" name="Shape 34186">
              <a:extLst>
                <a:ext uri="{FF2B5EF4-FFF2-40B4-BE49-F238E27FC236}">
                  <a16:creationId xmlns:a16="http://schemas.microsoft.com/office/drawing/2014/main" id="{01F8225B-CB5F-44AD-8D3C-936834D1EE08}"/>
                </a:ext>
              </a:extLst>
            </p:cNvPr>
            <p:cNvSpPr/>
            <p:nvPr/>
          </p:nvSpPr>
          <p:spPr>
            <a:xfrm>
              <a:off x="10902474" y="3745209"/>
              <a:ext cx="602468" cy="782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19" extrusionOk="0">
                  <a:moveTo>
                    <a:pt x="9842" y="0"/>
                  </a:moveTo>
                  <a:cubicBezTo>
                    <a:pt x="7324" y="0"/>
                    <a:pt x="4803" y="774"/>
                    <a:pt x="2881" y="2331"/>
                  </a:cubicBezTo>
                  <a:cubicBezTo>
                    <a:pt x="-961" y="5445"/>
                    <a:pt x="-961" y="10493"/>
                    <a:pt x="2881" y="13607"/>
                  </a:cubicBezTo>
                  <a:cubicBezTo>
                    <a:pt x="6005" y="16138"/>
                    <a:pt x="10709" y="16613"/>
                    <a:pt x="14423" y="15030"/>
                  </a:cubicBezTo>
                  <a:cubicBezTo>
                    <a:pt x="14434" y="15103"/>
                    <a:pt x="14466" y="15175"/>
                    <a:pt x="14515" y="15243"/>
                  </a:cubicBezTo>
                  <a:lnTo>
                    <a:pt x="18781" y="21235"/>
                  </a:lnTo>
                  <a:cubicBezTo>
                    <a:pt x="18974" y="21506"/>
                    <a:pt x="19402" y="21600"/>
                    <a:pt x="19736" y="21444"/>
                  </a:cubicBezTo>
                  <a:lnTo>
                    <a:pt x="20091" y="21277"/>
                  </a:lnTo>
                  <a:cubicBezTo>
                    <a:pt x="20425" y="21121"/>
                    <a:pt x="20535" y="20774"/>
                    <a:pt x="20343" y="20503"/>
                  </a:cubicBezTo>
                  <a:lnTo>
                    <a:pt x="16076" y="14515"/>
                  </a:lnTo>
                  <a:cubicBezTo>
                    <a:pt x="16007" y="14419"/>
                    <a:pt x="15903" y="14355"/>
                    <a:pt x="15790" y="14307"/>
                  </a:cubicBezTo>
                  <a:cubicBezTo>
                    <a:pt x="16138" y="14092"/>
                    <a:pt x="16479" y="13864"/>
                    <a:pt x="16797" y="13607"/>
                  </a:cubicBezTo>
                  <a:cubicBezTo>
                    <a:pt x="20639" y="10493"/>
                    <a:pt x="20639" y="5445"/>
                    <a:pt x="16797" y="2331"/>
                  </a:cubicBezTo>
                  <a:cubicBezTo>
                    <a:pt x="14875" y="774"/>
                    <a:pt x="12360" y="0"/>
                    <a:pt x="9842" y="0"/>
                  </a:cubicBezTo>
                  <a:close/>
                  <a:moveTo>
                    <a:pt x="9842" y="1251"/>
                  </a:moveTo>
                  <a:cubicBezTo>
                    <a:pt x="11963" y="1251"/>
                    <a:pt x="14085" y="1909"/>
                    <a:pt x="15704" y="3221"/>
                  </a:cubicBezTo>
                  <a:cubicBezTo>
                    <a:pt x="18942" y="5844"/>
                    <a:pt x="18942" y="10098"/>
                    <a:pt x="15704" y="12722"/>
                  </a:cubicBezTo>
                  <a:cubicBezTo>
                    <a:pt x="12467" y="15345"/>
                    <a:pt x="7217" y="15345"/>
                    <a:pt x="3980" y="12722"/>
                  </a:cubicBezTo>
                  <a:cubicBezTo>
                    <a:pt x="742" y="10098"/>
                    <a:pt x="742" y="5844"/>
                    <a:pt x="3980" y="3221"/>
                  </a:cubicBezTo>
                  <a:cubicBezTo>
                    <a:pt x="5598" y="1909"/>
                    <a:pt x="7720" y="1251"/>
                    <a:pt x="9842" y="12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0" name="Shape 34187">
              <a:extLst>
                <a:ext uri="{FF2B5EF4-FFF2-40B4-BE49-F238E27FC236}">
                  <a16:creationId xmlns:a16="http://schemas.microsoft.com/office/drawing/2014/main" id="{508E7D9F-4C55-4457-9A82-9323CFD93CC4}"/>
                </a:ext>
              </a:extLst>
            </p:cNvPr>
            <p:cNvSpPr/>
            <p:nvPr/>
          </p:nvSpPr>
          <p:spPr>
            <a:xfrm>
              <a:off x="9646332" y="5299667"/>
              <a:ext cx="648460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1" name="Shape 34188">
              <a:extLst>
                <a:ext uri="{FF2B5EF4-FFF2-40B4-BE49-F238E27FC236}">
                  <a16:creationId xmlns:a16="http://schemas.microsoft.com/office/drawing/2014/main" id="{AF834B20-31C8-4541-8AFF-BE903C61AFB9}"/>
                </a:ext>
              </a:extLst>
            </p:cNvPr>
            <p:cNvSpPr/>
            <p:nvPr/>
          </p:nvSpPr>
          <p:spPr>
            <a:xfrm>
              <a:off x="14782759" y="5213711"/>
              <a:ext cx="949938" cy="45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1600"/>
                  </a:moveTo>
                  <a:cubicBezTo>
                    <a:pt x="3196" y="21301"/>
                    <a:pt x="4520" y="17446"/>
                    <a:pt x="5606" y="13579"/>
                  </a:cubicBezTo>
                  <a:cubicBezTo>
                    <a:pt x="6868" y="17109"/>
                    <a:pt x="8385" y="20522"/>
                    <a:pt x="11056" y="20229"/>
                  </a:cubicBezTo>
                  <a:cubicBezTo>
                    <a:pt x="13700" y="19938"/>
                    <a:pt x="15043" y="16273"/>
                    <a:pt x="16113" y="12527"/>
                  </a:cubicBezTo>
                  <a:cubicBezTo>
                    <a:pt x="17383" y="16099"/>
                    <a:pt x="18898" y="19587"/>
                    <a:pt x="21600" y="19290"/>
                  </a:cubicBezTo>
                  <a:lnTo>
                    <a:pt x="21545" y="16807"/>
                  </a:lnTo>
                  <a:cubicBezTo>
                    <a:pt x="19258" y="17058"/>
                    <a:pt x="18061" y="13947"/>
                    <a:pt x="16772" y="10222"/>
                  </a:cubicBezTo>
                  <a:cubicBezTo>
                    <a:pt x="17878" y="6171"/>
                    <a:pt x="18899" y="2735"/>
                    <a:pt x="21214" y="2481"/>
                  </a:cubicBezTo>
                  <a:lnTo>
                    <a:pt x="21142" y="0"/>
                  </a:lnTo>
                  <a:cubicBezTo>
                    <a:pt x="18416" y="300"/>
                    <a:pt x="17080" y="4165"/>
                    <a:pt x="15994" y="8031"/>
                  </a:cubicBezTo>
                  <a:cubicBezTo>
                    <a:pt x="14732" y="4504"/>
                    <a:pt x="13210" y="1123"/>
                    <a:pt x="10541" y="1416"/>
                  </a:cubicBezTo>
                  <a:cubicBezTo>
                    <a:pt x="7892" y="1708"/>
                    <a:pt x="6571" y="5362"/>
                    <a:pt x="5501" y="9116"/>
                  </a:cubicBezTo>
                  <a:cubicBezTo>
                    <a:pt x="4229" y="5537"/>
                    <a:pt x="2706" y="2023"/>
                    <a:pt x="0" y="2320"/>
                  </a:cubicBezTo>
                  <a:cubicBezTo>
                    <a:pt x="0" y="2320"/>
                    <a:pt x="67" y="4802"/>
                    <a:pt x="67" y="4802"/>
                  </a:cubicBezTo>
                  <a:cubicBezTo>
                    <a:pt x="2361" y="4550"/>
                    <a:pt x="3548" y="7681"/>
                    <a:pt x="4841" y="11421"/>
                  </a:cubicBezTo>
                  <a:cubicBezTo>
                    <a:pt x="3737" y="15462"/>
                    <a:pt x="2709" y="18874"/>
                    <a:pt x="399" y="19128"/>
                  </a:cubicBezTo>
                  <a:lnTo>
                    <a:pt x="470" y="21600"/>
                  </a:lnTo>
                  <a:close/>
                  <a:moveTo>
                    <a:pt x="571" y="17516"/>
                  </a:moveTo>
                  <a:cubicBezTo>
                    <a:pt x="973" y="17463"/>
                    <a:pt x="1323" y="17289"/>
                    <a:pt x="1641" y="17020"/>
                  </a:cubicBezTo>
                  <a:cubicBezTo>
                    <a:pt x="1641" y="17020"/>
                    <a:pt x="1387" y="6572"/>
                    <a:pt x="1387" y="6572"/>
                  </a:cubicBezTo>
                  <a:cubicBezTo>
                    <a:pt x="1058" y="6378"/>
                    <a:pt x="699" y="6290"/>
                    <a:pt x="296" y="6330"/>
                  </a:cubicBezTo>
                  <a:lnTo>
                    <a:pt x="571" y="17516"/>
                  </a:lnTo>
                  <a:close/>
                  <a:moveTo>
                    <a:pt x="2649" y="15637"/>
                  </a:moveTo>
                  <a:cubicBezTo>
                    <a:pt x="3008" y="15009"/>
                    <a:pt x="3317" y="14212"/>
                    <a:pt x="3611" y="13297"/>
                  </a:cubicBezTo>
                  <a:lnTo>
                    <a:pt x="3530" y="9777"/>
                  </a:lnTo>
                  <a:cubicBezTo>
                    <a:pt x="3194" y="8935"/>
                    <a:pt x="2849" y="8211"/>
                    <a:pt x="2462" y="7671"/>
                  </a:cubicBezTo>
                  <a:lnTo>
                    <a:pt x="2649" y="15637"/>
                  </a:lnTo>
                  <a:close/>
                  <a:moveTo>
                    <a:pt x="6265" y="11274"/>
                  </a:moveTo>
                  <a:cubicBezTo>
                    <a:pt x="7335" y="7383"/>
                    <a:pt x="8366" y="4144"/>
                    <a:pt x="10612" y="3897"/>
                  </a:cubicBezTo>
                  <a:cubicBezTo>
                    <a:pt x="12876" y="3648"/>
                    <a:pt x="14062" y="6687"/>
                    <a:pt x="15336" y="10361"/>
                  </a:cubicBezTo>
                  <a:cubicBezTo>
                    <a:pt x="14269" y="14240"/>
                    <a:pt x="13242" y="17500"/>
                    <a:pt x="11001" y="17746"/>
                  </a:cubicBezTo>
                  <a:cubicBezTo>
                    <a:pt x="8738" y="17995"/>
                    <a:pt x="7539" y="14948"/>
                    <a:pt x="6265" y="11274"/>
                  </a:cubicBezTo>
                  <a:close/>
                  <a:moveTo>
                    <a:pt x="8019" y="13315"/>
                  </a:moveTo>
                  <a:cubicBezTo>
                    <a:pt x="8416" y="14295"/>
                    <a:pt x="8827" y="15128"/>
                    <a:pt x="9287" y="15750"/>
                  </a:cubicBezTo>
                  <a:lnTo>
                    <a:pt x="9038" y="6172"/>
                  </a:lnTo>
                  <a:cubicBezTo>
                    <a:pt x="8613" y="6892"/>
                    <a:pt x="8251" y="7817"/>
                    <a:pt x="7906" y="8878"/>
                  </a:cubicBezTo>
                  <a:lnTo>
                    <a:pt x="8019" y="13315"/>
                  </a:lnTo>
                  <a:close/>
                  <a:moveTo>
                    <a:pt x="10389" y="16077"/>
                  </a:moveTo>
                  <a:cubicBezTo>
                    <a:pt x="10611" y="16140"/>
                    <a:pt x="10842" y="16161"/>
                    <a:pt x="11095" y="16128"/>
                  </a:cubicBezTo>
                  <a:cubicBezTo>
                    <a:pt x="11223" y="16112"/>
                    <a:pt x="11344" y="16080"/>
                    <a:pt x="11463" y="16041"/>
                  </a:cubicBezTo>
                  <a:lnTo>
                    <a:pt x="11227" y="5045"/>
                  </a:lnTo>
                  <a:cubicBezTo>
                    <a:pt x="11108" y="5036"/>
                    <a:pt x="10985" y="5039"/>
                    <a:pt x="10857" y="5056"/>
                  </a:cubicBezTo>
                  <a:cubicBezTo>
                    <a:pt x="10605" y="5088"/>
                    <a:pt x="10374" y="5166"/>
                    <a:pt x="10157" y="5285"/>
                  </a:cubicBezTo>
                  <a:lnTo>
                    <a:pt x="10389" y="16077"/>
                  </a:lnTo>
                  <a:close/>
                  <a:moveTo>
                    <a:pt x="12594" y="15655"/>
                  </a:moveTo>
                  <a:cubicBezTo>
                    <a:pt x="12999" y="15123"/>
                    <a:pt x="13343" y="14414"/>
                    <a:pt x="13661" y="13573"/>
                  </a:cubicBezTo>
                  <a:lnTo>
                    <a:pt x="13528" y="7680"/>
                  </a:lnTo>
                  <a:cubicBezTo>
                    <a:pt x="13173" y="6920"/>
                    <a:pt x="12798" y="6300"/>
                    <a:pt x="12371" y="5869"/>
                  </a:cubicBezTo>
                  <a:lnTo>
                    <a:pt x="12594" y="15655"/>
                  </a:lnTo>
                  <a:close/>
                  <a:moveTo>
                    <a:pt x="18081" y="11798"/>
                  </a:moveTo>
                  <a:cubicBezTo>
                    <a:pt x="18416" y="12578"/>
                    <a:pt x="18758" y="13235"/>
                    <a:pt x="19139" y="13718"/>
                  </a:cubicBezTo>
                  <a:lnTo>
                    <a:pt x="18884" y="6051"/>
                  </a:lnTo>
                  <a:cubicBezTo>
                    <a:pt x="18541" y="6694"/>
                    <a:pt x="18245" y="7495"/>
                    <a:pt x="17967" y="8411"/>
                  </a:cubicBezTo>
                  <a:lnTo>
                    <a:pt x="18081" y="11798"/>
                  </a:lnTo>
                  <a:close/>
                  <a:moveTo>
                    <a:pt x="20486" y="14708"/>
                  </a:moveTo>
                  <a:cubicBezTo>
                    <a:pt x="20804" y="14878"/>
                    <a:pt x="21150" y="14947"/>
                    <a:pt x="21538" y="14889"/>
                  </a:cubicBezTo>
                  <a:lnTo>
                    <a:pt x="21229" y="4150"/>
                  </a:lnTo>
                  <a:cubicBezTo>
                    <a:pt x="20842" y="4223"/>
                    <a:pt x="20502" y="4409"/>
                    <a:pt x="20197" y="4684"/>
                  </a:cubicBezTo>
                  <a:cubicBezTo>
                    <a:pt x="20197" y="4684"/>
                    <a:pt x="20486" y="14708"/>
                    <a:pt x="20486" y="147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2" name="Shape 34189">
              <a:extLst>
                <a:ext uri="{FF2B5EF4-FFF2-40B4-BE49-F238E27FC236}">
                  <a16:creationId xmlns:a16="http://schemas.microsoft.com/office/drawing/2014/main" id="{5949C4E4-0034-4793-B722-E118F56CE1EB}"/>
                </a:ext>
              </a:extLst>
            </p:cNvPr>
            <p:cNvSpPr/>
            <p:nvPr/>
          </p:nvSpPr>
          <p:spPr>
            <a:xfrm>
              <a:off x="12966315" y="3935732"/>
              <a:ext cx="606684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3" name="Shape 34190">
              <a:extLst>
                <a:ext uri="{FF2B5EF4-FFF2-40B4-BE49-F238E27FC236}">
                  <a16:creationId xmlns:a16="http://schemas.microsoft.com/office/drawing/2014/main" id="{FD9E14DF-FF37-4D75-8894-9782E6DCA385}"/>
                </a:ext>
              </a:extLst>
            </p:cNvPr>
            <p:cNvSpPr/>
            <p:nvPr/>
          </p:nvSpPr>
          <p:spPr>
            <a:xfrm>
              <a:off x="8736613" y="4207504"/>
              <a:ext cx="967678" cy="820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18" extrusionOk="0">
                  <a:moveTo>
                    <a:pt x="17160" y="16531"/>
                  </a:moveTo>
                  <a:lnTo>
                    <a:pt x="3281" y="10266"/>
                  </a:lnTo>
                  <a:lnTo>
                    <a:pt x="6158" y="1453"/>
                  </a:lnTo>
                  <a:lnTo>
                    <a:pt x="20037" y="7718"/>
                  </a:lnTo>
                  <a:cubicBezTo>
                    <a:pt x="20037" y="7718"/>
                    <a:pt x="17160" y="16531"/>
                    <a:pt x="17160" y="16531"/>
                  </a:cubicBezTo>
                  <a:close/>
                  <a:moveTo>
                    <a:pt x="20480" y="6363"/>
                  </a:moveTo>
                  <a:lnTo>
                    <a:pt x="6600" y="98"/>
                  </a:lnTo>
                  <a:cubicBezTo>
                    <a:pt x="5961" y="-191"/>
                    <a:pt x="5246" y="183"/>
                    <a:pt x="5001" y="931"/>
                  </a:cubicBezTo>
                  <a:cubicBezTo>
                    <a:pt x="5001" y="931"/>
                    <a:pt x="1682" y="11100"/>
                    <a:pt x="1694" y="11105"/>
                  </a:cubicBezTo>
                  <a:lnTo>
                    <a:pt x="17862" y="18403"/>
                  </a:lnTo>
                  <a:cubicBezTo>
                    <a:pt x="17874" y="18409"/>
                    <a:pt x="21194" y="8240"/>
                    <a:pt x="21194" y="8240"/>
                  </a:cubicBezTo>
                  <a:cubicBezTo>
                    <a:pt x="21438" y="7492"/>
                    <a:pt x="21118" y="6651"/>
                    <a:pt x="20480" y="6363"/>
                  </a:cubicBezTo>
                  <a:close/>
                  <a:moveTo>
                    <a:pt x="16989" y="21121"/>
                  </a:moveTo>
                  <a:lnTo>
                    <a:pt x="797" y="13812"/>
                  </a:lnTo>
                  <a:cubicBezTo>
                    <a:pt x="157" y="13523"/>
                    <a:pt x="-162" y="12683"/>
                    <a:pt x="83" y="11934"/>
                  </a:cubicBezTo>
                  <a:lnTo>
                    <a:pt x="304" y="11256"/>
                  </a:lnTo>
                  <a:lnTo>
                    <a:pt x="7822" y="14649"/>
                  </a:lnTo>
                  <a:lnTo>
                    <a:pt x="7600" y="15327"/>
                  </a:lnTo>
                  <a:lnTo>
                    <a:pt x="11070" y="16893"/>
                  </a:lnTo>
                  <a:lnTo>
                    <a:pt x="11291" y="16216"/>
                  </a:lnTo>
                  <a:lnTo>
                    <a:pt x="18810" y="19609"/>
                  </a:lnTo>
                  <a:lnTo>
                    <a:pt x="18588" y="20287"/>
                  </a:lnTo>
                  <a:cubicBezTo>
                    <a:pt x="18344" y="21036"/>
                    <a:pt x="17627" y="21409"/>
                    <a:pt x="16989" y="21121"/>
                  </a:cubicBezTo>
                  <a:cubicBezTo>
                    <a:pt x="16989" y="21121"/>
                    <a:pt x="16989" y="21121"/>
                    <a:pt x="16989" y="211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4" name="Shape 34191">
              <a:extLst>
                <a:ext uri="{FF2B5EF4-FFF2-40B4-BE49-F238E27FC236}">
                  <a16:creationId xmlns:a16="http://schemas.microsoft.com/office/drawing/2014/main" id="{F4942482-7233-443A-AAB6-CA040D8409AD}"/>
                </a:ext>
              </a:extLst>
            </p:cNvPr>
            <p:cNvSpPr/>
            <p:nvPr/>
          </p:nvSpPr>
          <p:spPr>
            <a:xfrm>
              <a:off x="12884222" y="7775447"/>
              <a:ext cx="606686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5" name="Shape 34192">
              <a:extLst>
                <a:ext uri="{FF2B5EF4-FFF2-40B4-BE49-F238E27FC236}">
                  <a16:creationId xmlns:a16="http://schemas.microsoft.com/office/drawing/2014/main" id="{07714D24-2224-4987-B8A2-EC92E8A8742E}"/>
                </a:ext>
              </a:extLst>
            </p:cNvPr>
            <p:cNvSpPr/>
            <p:nvPr/>
          </p:nvSpPr>
          <p:spPr>
            <a:xfrm>
              <a:off x="9950402" y="3061775"/>
              <a:ext cx="885232" cy="104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6" name="Shape 34193">
              <a:extLst>
                <a:ext uri="{FF2B5EF4-FFF2-40B4-BE49-F238E27FC236}">
                  <a16:creationId xmlns:a16="http://schemas.microsoft.com/office/drawing/2014/main" id="{DDF36766-BCCB-459F-B724-146EF781845E}"/>
                </a:ext>
              </a:extLst>
            </p:cNvPr>
            <p:cNvSpPr/>
            <p:nvPr/>
          </p:nvSpPr>
          <p:spPr>
            <a:xfrm>
              <a:off x="11615551" y="3334957"/>
              <a:ext cx="818520" cy="818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3" h="20113" extrusionOk="0">
                  <a:moveTo>
                    <a:pt x="8483" y="125"/>
                  </a:moveTo>
                  <a:cubicBezTo>
                    <a:pt x="2996" y="994"/>
                    <a:pt x="-744" y="6142"/>
                    <a:pt x="125" y="11629"/>
                  </a:cubicBezTo>
                  <a:cubicBezTo>
                    <a:pt x="994" y="17116"/>
                    <a:pt x="6142" y="20856"/>
                    <a:pt x="11629" y="19987"/>
                  </a:cubicBezTo>
                  <a:cubicBezTo>
                    <a:pt x="17116" y="19118"/>
                    <a:pt x="20856" y="13970"/>
                    <a:pt x="19987" y="8483"/>
                  </a:cubicBezTo>
                  <a:cubicBezTo>
                    <a:pt x="19118" y="2996"/>
                    <a:pt x="13970" y="-744"/>
                    <a:pt x="8483" y="125"/>
                  </a:cubicBezTo>
                  <a:close/>
                  <a:moveTo>
                    <a:pt x="8760" y="1873"/>
                  </a:moveTo>
                  <a:cubicBezTo>
                    <a:pt x="8956" y="1842"/>
                    <a:pt x="9163" y="1878"/>
                    <a:pt x="9336" y="2004"/>
                  </a:cubicBezTo>
                  <a:cubicBezTo>
                    <a:pt x="9681" y="2255"/>
                    <a:pt x="9758" y="2741"/>
                    <a:pt x="9507" y="3087"/>
                  </a:cubicBezTo>
                  <a:cubicBezTo>
                    <a:pt x="9256" y="3432"/>
                    <a:pt x="8770" y="3509"/>
                    <a:pt x="8424" y="3258"/>
                  </a:cubicBezTo>
                  <a:cubicBezTo>
                    <a:pt x="8079" y="3007"/>
                    <a:pt x="8002" y="2521"/>
                    <a:pt x="8253" y="2175"/>
                  </a:cubicBezTo>
                  <a:cubicBezTo>
                    <a:pt x="8378" y="2002"/>
                    <a:pt x="8564" y="1904"/>
                    <a:pt x="8760" y="1873"/>
                  </a:cubicBezTo>
                  <a:close/>
                  <a:moveTo>
                    <a:pt x="9098" y="4008"/>
                  </a:moveTo>
                  <a:cubicBezTo>
                    <a:pt x="9327" y="3971"/>
                    <a:pt x="9546" y="4130"/>
                    <a:pt x="9582" y="4359"/>
                  </a:cubicBezTo>
                  <a:lnTo>
                    <a:pt x="10314" y="8984"/>
                  </a:lnTo>
                  <a:cubicBezTo>
                    <a:pt x="10465" y="9019"/>
                    <a:pt x="10626" y="8992"/>
                    <a:pt x="10759" y="9088"/>
                  </a:cubicBezTo>
                  <a:cubicBezTo>
                    <a:pt x="10893" y="9186"/>
                    <a:pt x="10931" y="9343"/>
                    <a:pt x="11011" y="9477"/>
                  </a:cubicBezTo>
                  <a:lnTo>
                    <a:pt x="14460" y="8930"/>
                  </a:lnTo>
                  <a:cubicBezTo>
                    <a:pt x="14689" y="8894"/>
                    <a:pt x="14908" y="9053"/>
                    <a:pt x="14944" y="9282"/>
                  </a:cubicBezTo>
                  <a:cubicBezTo>
                    <a:pt x="14980" y="9511"/>
                    <a:pt x="14822" y="9729"/>
                    <a:pt x="14593" y="9766"/>
                  </a:cubicBezTo>
                  <a:lnTo>
                    <a:pt x="11143" y="10312"/>
                  </a:lnTo>
                  <a:cubicBezTo>
                    <a:pt x="11108" y="10464"/>
                    <a:pt x="11121" y="10625"/>
                    <a:pt x="11024" y="10759"/>
                  </a:cubicBezTo>
                  <a:cubicBezTo>
                    <a:pt x="10636" y="11292"/>
                    <a:pt x="9886" y="11411"/>
                    <a:pt x="9353" y="11024"/>
                  </a:cubicBezTo>
                  <a:cubicBezTo>
                    <a:pt x="8820" y="10636"/>
                    <a:pt x="8701" y="9886"/>
                    <a:pt x="9088" y="9353"/>
                  </a:cubicBezTo>
                  <a:cubicBezTo>
                    <a:pt x="9188" y="9215"/>
                    <a:pt x="9357" y="9195"/>
                    <a:pt x="9495" y="9114"/>
                  </a:cubicBezTo>
                  <a:lnTo>
                    <a:pt x="8762" y="4489"/>
                  </a:lnTo>
                  <a:cubicBezTo>
                    <a:pt x="8726" y="4260"/>
                    <a:pt x="8869" y="4044"/>
                    <a:pt x="9098" y="4008"/>
                  </a:cubicBezTo>
                  <a:close/>
                  <a:moveTo>
                    <a:pt x="2495" y="10476"/>
                  </a:moveTo>
                  <a:cubicBezTo>
                    <a:pt x="2691" y="10446"/>
                    <a:pt x="2898" y="10482"/>
                    <a:pt x="3071" y="10607"/>
                  </a:cubicBezTo>
                  <a:cubicBezTo>
                    <a:pt x="3417" y="10859"/>
                    <a:pt x="3494" y="11345"/>
                    <a:pt x="3243" y="11690"/>
                  </a:cubicBezTo>
                  <a:cubicBezTo>
                    <a:pt x="2992" y="12035"/>
                    <a:pt x="2505" y="12113"/>
                    <a:pt x="2160" y="11862"/>
                  </a:cubicBezTo>
                  <a:cubicBezTo>
                    <a:pt x="1814" y="11610"/>
                    <a:pt x="1737" y="11124"/>
                    <a:pt x="1988" y="10779"/>
                  </a:cubicBezTo>
                  <a:cubicBezTo>
                    <a:pt x="2114" y="10606"/>
                    <a:pt x="2300" y="10507"/>
                    <a:pt x="2495" y="10476"/>
                  </a:cubicBezTo>
                  <a:close/>
                  <a:moveTo>
                    <a:pt x="17392" y="8117"/>
                  </a:moveTo>
                  <a:cubicBezTo>
                    <a:pt x="17587" y="8086"/>
                    <a:pt x="17779" y="8125"/>
                    <a:pt x="17952" y="8250"/>
                  </a:cubicBezTo>
                  <a:cubicBezTo>
                    <a:pt x="18298" y="8502"/>
                    <a:pt x="18375" y="8988"/>
                    <a:pt x="18124" y="9333"/>
                  </a:cubicBezTo>
                  <a:cubicBezTo>
                    <a:pt x="17872" y="9678"/>
                    <a:pt x="17402" y="9753"/>
                    <a:pt x="17056" y="9502"/>
                  </a:cubicBezTo>
                  <a:cubicBezTo>
                    <a:pt x="16711" y="9251"/>
                    <a:pt x="16634" y="8765"/>
                    <a:pt x="16885" y="8419"/>
                  </a:cubicBezTo>
                  <a:cubicBezTo>
                    <a:pt x="17010" y="8247"/>
                    <a:pt x="17196" y="8148"/>
                    <a:pt x="17392" y="8117"/>
                  </a:cubicBezTo>
                  <a:close/>
                  <a:moveTo>
                    <a:pt x="11112" y="16723"/>
                  </a:moveTo>
                  <a:cubicBezTo>
                    <a:pt x="11308" y="16692"/>
                    <a:pt x="11515" y="16728"/>
                    <a:pt x="11688" y="16854"/>
                  </a:cubicBezTo>
                  <a:cubicBezTo>
                    <a:pt x="12033" y="17105"/>
                    <a:pt x="12110" y="17591"/>
                    <a:pt x="11859" y="17937"/>
                  </a:cubicBezTo>
                  <a:cubicBezTo>
                    <a:pt x="11608" y="18282"/>
                    <a:pt x="11122" y="18359"/>
                    <a:pt x="10776" y="18108"/>
                  </a:cubicBezTo>
                  <a:cubicBezTo>
                    <a:pt x="10431" y="17857"/>
                    <a:pt x="10354" y="17371"/>
                    <a:pt x="10605" y="17025"/>
                  </a:cubicBezTo>
                  <a:cubicBezTo>
                    <a:pt x="10730" y="16853"/>
                    <a:pt x="10916" y="16754"/>
                    <a:pt x="11112" y="167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7" name="Shape 34194">
              <a:extLst>
                <a:ext uri="{FF2B5EF4-FFF2-40B4-BE49-F238E27FC236}">
                  <a16:creationId xmlns:a16="http://schemas.microsoft.com/office/drawing/2014/main" id="{C5400AA8-A391-44FC-8823-49C108D41F3D}"/>
                </a:ext>
              </a:extLst>
            </p:cNvPr>
            <p:cNvSpPr/>
            <p:nvPr/>
          </p:nvSpPr>
          <p:spPr>
            <a:xfrm>
              <a:off x="14592598" y="6234099"/>
              <a:ext cx="850388" cy="97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8" name="Shape 34195">
              <a:extLst>
                <a:ext uri="{FF2B5EF4-FFF2-40B4-BE49-F238E27FC236}">
                  <a16:creationId xmlns:a16="http://schemas.microsoft.com/office/drawing/2014/main" id="{89493208-37CF-4438-8A6C-1355E00BDC30}"/>
                </a:ext>
              </a:extLst>
            </p:cNvPr>
            <p:cNvSpPr/>
            <p:nvPr/>
          </p:nvSpPr>
          <p:spPr>
            <a:xfrm>
              <a:off x="13429434" y="7344882"/>
              <a:ext cx="433382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9" name="Shape 34196">
              <a:extLst>
                <a:ext uri="{FF2B5EF4-FFF2-40B4-BE49-F238E27FC236}">
                  <a16:creationId xmlns:a16="http://schemas.microsoft.com/office/drawing/2014/main" id="{ADE7D283-5173-4665-AF59-5196E59E95AE}"/>
                </a:ext>
              </a:extLst>
            </p:cNvPr>
            <p:cNvSpPr/>
            <p:nvPr/>
          </p:nvSpPr>
          <p:spPr>
            <a:xfrm>
              <a:off x="12395982" y="2571694"/>
              <a:ext cx="1203272" cy="672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5"/>
                  </a:moveTo>
                  <a:cubicBezTo>
                    <a:pt x="2602" y="16630"/>
                    <a:pt x="4225" y="13961"/>
                    <a:pt x="5624" y="11197"/>
                  </a:cubicBezTo>
                  <a:cubicBezTo>
                    <a:pt x="6473" y="14530"/>
                    <a:pt x="7574" y="17859"/>
                    <a:pt x="10123" y="18579"/>
                  </a:cubicBezTo>
                  <a:cubicBezTo>
                    <a:pt x="12646" y="19291"/>
                    <a:pt x="14269" y="16784"/>
                    <a:pt x="15641" y="14112"/>
                  </a:cubicBezTo>
                  <a:cubicBezTo>
                    <a:pt x="16494" y="17483"/>
                    <a:pt x="17585" y="20872"/>
                    <a:pt x="20164" y="21600"/>
                  </a:cubicBezTo>
                  <a:lnTo>
                    <a:pt x="20353" y="19555"/>
                  </a:lnTo>
                  <a:cubicBezTo>
                    <a:pt x="18170" y="18939"/>
                    <a:pt x="17341" y="15971"/>
                    <a:pt x="16486" y="12469"/>
                  </a:cubicBezTo>
                  <a:cubicBezTo>
                    <a:pt x="17922" y="9562"/>
                    <a:pt x="19218" y="7126"/>
                    <a:pt x="21427" y="7750"/>
                  </a:cubicBezTo>
                  <a:lnTo>
                    <a:pt x="21600" y="5701"/>
                  </a:lnTo>
                  <a:cubicBezTo>
                    <a:pt x="18998" y="4966"/>
                    <a:pt x="17363" y="7639"/>
                    <a:pt x="15964" y="10403"/>
                  </a:cubicBezTo>
                  <a:cubicBezTo>
                    <a:pt x="15115" y="7072"/>
                    <a:pt x="14006" y="3768"/>
                    <a:pt x="11458" y="3048"/>
                  </a:cubicBezTo>
                  <a:cubicBezTo>
                    <a:pt x="8930" y="2335"/>
                    <a:pt x="7330" y="4841"/>
                    <a:pt x="5956" y="7519"/>
                  </a:cubicBezTo>
                  <a:cubicBezTo>
                    <a:pt x="5103" y="4143"/>
                    <a:pt x="4006" y="730"/>
                    <a:pt x="1424" y="0"/>
                  </a:cubicBezTo>
                  <a:cubicBezTo>
                    <a:pt x="1424" y="0"/>
                    <a:pt x="1247" y="2048"/>
                    <a:pt x="1247" y="2048"/>
                  </a:cubicBezTo>
                  <a:cubicBezTo>
                    <a:pt x="3436" y="2666"/>
                    <a:pt x="4253" y="5647"/>
                    <a:pt x="5111" y="9162"/>
                  </a:cubicBezTo>
                  <a:cubicBezTo>
                    <a:pt x="3678" y="12062"/>
                    <a:pt x="2378" y="14476"/>
                    <a:pt x="172" y="13853"/>
                  </a:cubicBezTo>
                  <a:lnTo>
                    <a:pt x="0" y="15895"/>
                  </a:lnTo>
                  <a:close/>
                  <a:moveTo>
                    <a:pt x="491" y="12600"/>
                  </a:moveTo>
                  <a:cubicBezTo>
                    <a:pt x="875" y="12701"/>
                    <a:pt x="1223" y="12685"/>
                    <a:pt x="1549" y="12580"/>
                  </a:cubicBezTo>
                  <a:cubicBezTo>
                    <a:pt x="1549" y="12580"/>
                    <a:pt x="2321" y="3967"/>
                    <a:pt x="2321" y="3967"/>
                  </a:cubicBezTo>
                  <a:cubicBezTo>
                    <a:pt x="2030" y="3690"/>
                    <a:pt x="1699" y="3489"/>
                    <a:pt x="1315" y="3377"/>
                  </a:cubicBezTo>
                  <a:lnTo>
                    <a:pt x="491" y="12600"/>
                  </a:lnTo>
                  <a:close/>
                  <a:moveTo>
                    <a:pt x="2634" y="11814"/>
                  </a:moveTo>
                  <a:cubicBezTo>
                    <a:pt x="3034" y="11431"/>
                    <a:pt x="3403" y="10892"/>
                    <a:pt x="3769" y="10250"/>
                  </a:cubicBezTo>
                  <a:lnTo>
                    <a:pt x="4033" y="7350"/>
                  </a:lnTo>
                  <a:cubicBezTo>
                    <a:pt x="3797" y="6543"/>
                    <a:pt x="3542" y="5828"/>
                    <a:pt x="3229" y="5249"/>
                  </a:cubicBezTo>
                  <a:lnTo>
                    <a:pt x="2634" y="11814"/>
                  </a:lnTo>
                  <a:close/>
                  <a:moveTo>
                    <a:pt x="6469" y="9554"/>
                  </a:moveTo>
                  <a:cubicBezTo>
                    <a:pt x="7855" y="6764"/>
                    <a:pt x="9142" y="4492"/>
                    <a:pt x="11285" y="5097"/>
                  </a:cubicBezTo>
                  <a:cubicBezTo>
                    <a:pt x="13446" y="5708"/>
                    <a:pt x="14271" y="8612"/>
                    <a:pt x="15117" y="12067"/>
                  </a:cubicBezTo>
                  <a:cubicBezTo>
                    <a:pt x="13735" y="14848"/>
                    <a:pt x="12450" y="17138"/>
                    <a:pt x="10312" y="16534"/>
                  </a:cubicBezTo>
                  <a:cubicBezTo>
                    <a:pt x="8151" y="15924"/>
                    <a:pt x="7315" y="13008"/>
                    <a:pt x="6469" y="9554"/>
                  </a:cubicBezTo>
                  <a:close/>
                  <a:moveTo>
                    <a:pt x="7926" y="11848"/>
                  </a:moveTo>
                  <a:cubicBezTo>
                    <a:pt x="8206" y="12791"/>
                    <a:pt x="8514" y="13618"/>
                    <a:pt x="8887" y="14290"/>
                  </a:cubicBezTo>
                  <a:lnTo>
                    <a:pt x="9579" y="6388"/>
                  </a:lnTo>
                  <a:cubicBezTo>
                    <a:pt x="9109" y="6822"/>
                    <a:pt x="8677" y="7447"/>
                    <a:pt x="8249" y="8189"/>
                  </a:cubicBezTo>
                  <a:lnTo>
                    <a:pt x="7926" y="11848"/>
                  </a:lnTo>
                  <a:close/>
                  <a:moveTo>
                    <a:pt x="9896" y="14953"/>
                  </a:moveTo>
                  <a:cubicBezTo>
                    <a:pt x="10099" y="15084"/>
                    <a:pt x="10315" y="15184"/>
                    <a:pt x="10557" y="15248"/>
                  </a:cubicBezTo>
                  <a:cubicBezTo>
                    <a:pt x="10679" y="15281"/>
                    <a:pt x="10797" y="15298"/>
                    <a:pt x="10912" y="15309"/>
                  </a:cubicBezTo>
                  <a:lnTo>
                    <a:pt x="11755" y="6255"/>
                  </a:lnTo>
                  <a:cubicBezTo>
                    <a:pt x="11643" y="6205"/>
                    <a:pt x="11527" y="6163"/>
                    <a:pt x="11404" y="6131"/>
                  </a:cubicBezTo>
                  <a:cubicBezTo>
                    <a:pt x="11163" y="6066"/>
                    <a:pt x="10938" y="6048"/>
                    <a:pt x="10721" y="6066"/>
                  </a:cubicBezTo>
                  <a:lnTo>
                    <a:pt x="9896" y="14953"/>
                  </a:lnTo>
                  <a:close/>
                  <a:moveTo>
                    <a:pt x="12018" y="15401"/>
                  </a:moveTo>
                  <a:cubicBezTo>
                    <a:pt x="12451" y="15112"/>
                    <a:pt x="12844" y="14657"/>
                    <a:pt x="13226" y="14085"/>
                  </a:cubicBezTo>
                  <a:lnTo>
                    <a:pt x="13671" y="9231"/>
                  </a:lnTo>
                  <a:cubicBezTo>
                    <a:pt x="13409" y="8483"/>
                    <a:pt x="13115" y="7842"/>
                    <a:pt x="12755" y="7338"/>
                  </a:cubicBezTo>
                  <a:lnTo>
                    <a:pt x="12018" y="15401"/>
                  </a:lnTo>
                  <a:close/>
                  <a:moveTo>
                    <a:pt x="17569" y="14225"/>
                  </a:moveTo>
                  <a:cubicBezTo>
                    <a:pt x="17809" y="14981"/>
                    <a:pt x="18068" y="15640"/>
                    <a:pt x="18381" y="16171"/>
                  </a:cubicBezTo>
                  <a:lnTo>
                    <a:pt x="18883" y="9826"/>
                  </a:lnTo>
                  <a:cubicBezTo>
                    <a:pt x="18496" y="10227"/>
                    <a:pt x="18140" y="10774"/>
                    <a:pt x="17789" y="11421"/>
                  </a:cubicBezTo>
                  <a:lnTo>
                    <a:pt x="17569" y="14225"/>
                  </a:lnTo>
                  <a:close/>
                  <a:moveTo>
                    <a:pt x="19556" y="17463"/>
                  </a:moveTo>
                  <a:cubicBezTo>
                    <a:pt x="19840" y="17716"/>
                    <a:pt x="20160" y="17896"/>
                    <a:pt x="20532" y="17987"/>
                  </a:cubicBezTo>
                  <a:lnTo>
                    <a:pt x="21280" y="9117"/>
                  </a:lnTo>
                  <a:cubicBezTo>
                    <a:pt x="20907" y="9037"/>
                    <a:pt x="20569" y="9067"/>
                    <a:pt x="20254" y="9182"/>
                  </a:cubicBezTo>
                  <a:cubicBezTo>
                    <a:pt x="20254" y="9182"/>
                    <a:pt x="19556" y="17463"/>
                    <a:pt x="19556" y="174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0" name="Shape 34197">
              <a:extLst>
                <a:ext uri="{FF2B5EF4-FFF2-40B4-BE49-F238E27FC236}">
                  <a16:creationId xmlns:a16="http://schemas.microsoft.com/office/drawing/2014/main" id="{23CCC0A9-B271-4803-AC68-EABB90218338}"/>
                </a:ext>
              </a:extLst>
            </p:cNvPr>
            <p:cNvSpPr/>
            <p:nvPr/>
          </p:nvSpPr>
          <p:spPr>
            <a:xfrm>
              <a:off x="13886540" y="2993820"/>
              <a:ext cx="578410" cy="610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285" extrusionOk="0">
                  <a:moveTo>
                    <a:pt x="7646" y="529"/>
                  </a:moveTo>
                  <a:cubicBezTo>
                    <a:pt x="7990" y="7"/>
                    <a:pt x="8716" y="-158"/>
                    <a:pt x="9266" y="168"/>
                  </a:cubicBezTo>
                  <a:lnTo>
                    <a:pt x="20724" y="6954"/>
                  </a:lnTo>
                  <a:cubicBezTo>
                    <a:pt x="21274" y="7280"/>
                    <a:pt x="21435" y="7971"/>
                    <a:pt x="21091" y="8493"/>
                  </a:cubicBezTo>
                  <a:lnTo>
                    <a:pt x="13003" y="20763"/>
                  </a:lnTo>
                  <a:cubicBezTo>
                    <a:pt x="12659" y="21284"/>
                    <a:pt x="11938" y="21442"/>
                    <a:pt x="11388" y="21116"/>
                  </a:cubicBezTo>
                  <a:lnTo>
                    <a:pt x="8398" y="19345"/>
                  </a:lnTo>
                  <a:lnTo>
                    <a:pt x="10574" y="16044"/>
                  </a:lnTo>
                  <a:cubicBezTo>
                    <a:pt x="10918" y="15523"/>
                    <a:pt x="10752" y="14839"/>
                    <a:pt x="10202" y="14513"/>
                  </a:cubicBezTo>
                  <a:lnTo>
                    <a:pt x="8206" y="13331"/>
                  </a:lnTo>
                  <a:cubicBezTo>
                    <a:pt x="7656" y="13006"/>
                    <a:pt x="6935" y="13163"/>
                    <a:pt x="6591" y="13685"/>
                  </a:cubicBezTo>
                  <a:lnTo>
                    <a:pt x="4415" y="16986"/>
                  </a:lnTo>
                  <a:lnTo>
                    <a:pt x="1926" y="15512"/>
                  </a:lnTo>
                  <a:cubicBezTo>
                    <a:pt x="1376" y="15186"/>
                    <a:pt x="1202" y="14498"/>
                    <a:pt x="1545" y="13976"/>
                  </a:cubicBezTo>
                  <a:lnTo>
                    <a:pt x="552" y="13387"/>
                  </a:lnTo>
                  <a:cubicBezTo>
                    <a:pt x="2" y="13062"/>
                    <a:pt x="-165" y="12378"/>
                    <a:pt x="179" y="11857"/>
                  </a:cubicBezTo>
                  <a:lnTo>
                    <a:pt x="7646" y="529"/>
                  </a:lnTo>
                  <a:close/>
                  <a:moveTo>
                    <a:pt x="8332" y="1585"/>
                  </a:moveTo>
                  <a:lnTo>
                    <a:pt x="1799" y="11496"/>
                  </a:lnTo>
                  <a:cubicBezTo>
                    <a:pt x="1799" y="11496"/>
                    <a:pt x="1170" y="12444"/>
                    <a:pt x="2166" y="13034"/>
                  </a:cubicBezTo>
                  <a:lnTo>
                    <a:pt x="9326" y="2173"/>
                  </a:lnTo>
                  <a:cubicBezTo>
                    <a:pt x="9498" y="1913"/>
                    <a:pt x="9416" y="1577"/>
                    <a:pt x="9141" y="1414"/>
                  </a:cubicBezTo>
                  <a:cubicBezTo>
                    <a:pt x="8866" y="1251"/>
                    <a:pt x="8504" y="1324"/>
                    <a:pt x="8332" y="1585"/>
                  </a:cubicBezTo>
                  <a:close/>
                  <a:moveTo>
                    <a:pt x="6784" y="14449"/>
                  </a:moveTo>
                  <a:cubicBezTo>
                    <a:pt x="7128" y="13927"/>
                    <a:pt x="7849" y="13769"/>
                    <a:pt x="8399" y="14095"/>
                  </a:cubicBezTo>
                  <a:lnTo>
                    <a:pt x="9393" y="14684"/>
                  </a:lnTo>
                  <a:cubicBezTo>
                    <a:pt x="9943" y="15010"/>
                    <a:pt x="10109" y="15693"/>
                    <a:pt x="9766" y="16215"/>
                  </a:cubicBezTo>
                  <a:lnTo>
                    <a:pt x="7897" y="19049"/>
                  </a:lnTo>
                  <a:cubicBezTo>
                    <a:pt x="7554" y="19570"/>
                    <a:pt x="6827" y="19735"/>
                    <a:pt x="6277" y="19410"/>
                  </a:cubicBezTo>
                  <a:lnTo>
                    <a:pt x="5284" y="18821"/>
                  </a:lnTo>
                  <a:cubicBezTo>
                    <a:pt x="4733" y="18495"/>
                    <a:pt x="4572" y="17804"/>
                    <a:pt x="4916" y="17283"/>
                  </a:cubicBezTo>
                  <a:lnTo>
                    <a:pt x="6784" y="14449"/>
                  </a:lnTo>
                  <a:close/>
                  <a:moveTo>
                    <a:pt x="7465" y="15512"/>
                  </a:moveTo>
                  <a:cubicBezTo>
                    <a:pt x="7293" y="15773"/>
                    <a:pt x="7369" y="16116"/>
                    <a:pt x="7645" y="16279"/>
                  </a:cubicBezTo>
                  <a:cubicBezTo>
                    <a:pt x="7920" y="16442"/>
                    <a:pt x="8287" y="16362"/>
                    <a:pt x="8459" y="16101"/>
                  </a:cubicBezTo>
                  <a:cubicBezTo>
                    <a:pt x="8630" y="15840"/>
                    <a:pt x="8546" y="15492"/>
                    <a:pt x="8271" y="15329"/>
                  </a:cubicBezTo>
                  <a:cubicBezTo>
                    <a:pt x="7995" y="15166"/>
                    <a:pt x="7637" y="15251"/>
                    <a:pt x="7465" y="155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1" name="Shape 34198">
              <a:extLst>
                <a:ext uri="{FF2B5EF4-FFF2-40B4-BE49-F238E27FC236}">
                  <a16:creationId xmlns:a16="http://schemas.microsoft.com/office/drawing/2014/main" id="{9C7DEE4C-4587-42CB-AB87-BB05A9F7F655}"/>
                </a:ext>
              </a:extLst>
            </p:cNvPr>
            <p:cNvSpPr/>
            <p:nvPr/>
          </p:nvSpPr>
          <p:spPr>
            <a:xfrm>
              <a:off x="10894630" y="2650276"/>
              <a:ext cx="621486" cy="960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353" extrusionOk="0">
                  <a:moveTo>
                    <a:pt x="15021" y="3564"/>
                  </a:moveTo>
                  <a:lnTo>
                    <a:pt x="1858" y="5543"/>
                  </a:lnTo>
                  <a:lnTo>
                    <a:pt x="6199" y="17788"/>
                  </a:lnTo>
                  <a:lnTo>
                    <a:pt x="19362" y="15809"/>
                  </a:lnTo>
                  <a:cubicBezTo>
                    <a:pt x="19362" y="15809"/>
                    <a:pt x="15021" y="3564"/>
                    <a:pt x="15021" y="3564"/>
                  </a:cubicBezTo>
                  <a:close/>
                  <a:moveTo>
                    <a:pt x="10139" y="2364"/>
                  </a:moveTo>
                  <a:lnTo>
                    <a:pt x="5438" y="3070"/>
                  </a:lnTo>
                  <a:cubicBezTo>
                    <a:pt x="5178" y="3109"/>
                    <a:pt x="5016" y="3278"/>
                    <a:pt x="5076" y="3447"/>
                  </a:cubicBezTo>
                  <a:cubicBezTo>
                    <a:pt x="5136" y="3616"/>
                    <a:pt x="5395" y="3722"/>
                    <a:pt x="5655" y="3683"/>
                  </a:cubicBezTo>
                  <a:lnTo>
                    <a:pt x="10356" y="2976"/>
                  </a:lnTo>
                  <a:cubicBezTo>
                    <a:pt x="10615" y="2937"/>
                    <a:pt x="10777" y="2768"/>
                    <a:pt x="10717" y="2599"/>
                  </a:cubicBezTo>
                  <a:cubicBezTo>
                    <a:pt x="10657" y="2430"/>
                    <a:pt x="10398" y="2325"/>
                    <a:pt x="10139" y="2364"/>
                  </a:cubicBezTo>
                  <a:close/>
                  <a:moveTo>
                    <a:pt x="14119" y="19177"/>
                  </a:moveTo>
                  <a:cubicBezTo>
                    <a:pt x="14897" y="19060"/>
                    <a:pt x="15383" y="18554"/>
                    <a:pt x="15204" y="18046"/>
                  </a:cubicBezTo>
                  <a:cubicBezTo>
                    <a:pt x="15024" y="17539"/>
                    <a:pt x="14246" y="17223"/>
                    <a:pt x="13468" y="17340"/>
                  </a:cubicBezTo>
                  <a:cubicBezTo>
                    <a:pt x="12689" y="17457"/>
                    <a:pt x="12203" y="17963"/>
                    <a:pt x="12383" y="18470"/>
                  </a:cubicBezTo>
                  <a:cubicBezTo>
                    <a:pt x="12563" y="18978"/>
                    <a:pt x="13340" y="19294"/>
                    <a:pt x="14119" y="19177"/>
                  </a:cubicBezTo>
                  <a:close/>
                  <a:moveTo>
                    <a:pt x="19724" y="19624"/>
                  </a:moveTo>
                  <a:lnTo>
                    <a:pt x="8442" y="21320"/>
                  </a:lnTo>
                  <a:cubicBezTo>
                    <a:pt x="7403" y="21476"/>
                    <a:pt x="6367" y="21054"/>
                    <a:pt x="6127" y="20378"/>
                  </a:cubicBezTo>
                  <a:lnTo>
                    <a:pt x="50" y="3235"/>
                  </a:lnTo>
                  <a:cubicBezTo>
                    <a:pt x="-190" y="2559"/>
                    <a:pt x="458" y="1884"/>
                    <a:pt x="1496" y="1728"/>
                  </a:cubicBezTo>
                  <a:lnTo>
                    <a:pt x="12778" y="32"/>
                  </a:lnTo>
                  <a:cubicBezTo>
                    <a:pt x="13817" y="-124"/>
                    <a:pt x="14853" y="298"/>
                    <a:pt x="15093" y="974"/>
                  </a:cubicBezTo>
                  <a:lnTo>
                    <a:pt x="21170" y="18117"/>
                  </a:lnTo>
                  <a:cubicBezTo>
                    <a:pt x="21410" y="18793"/>
                    <a:pt x="20762" y="19468"/>
                    <a:pt x="19724" y="19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2" name="Shape 34199">
              <a:extLst>
                <a:ext uri="{FF2B5EF4-FFF2-40B4-BE49-F238E27FC236}">
                  <a16:creationId xmlns:a16="http://schemas.microsoft.com/office/drawing/2014/main" id="{9A6BA983-5334-41C3-8D36-D4793119FC43}"/>
                </a:ext>
              </a:extLst>
            </p:cNvPr>
            <p:cNvSpPr/>
            <p:nvPr/>
          </p:nvSpPr>
          <p:spPr>
            <a:xfrm>
              <a:off x="11662409" y="2578131"/>
              <a:ext cx="539930" cy="68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844" y="21600"/>
                  </a:lnTo>
                  <a:lnTo>
                    <a:pt x="21600" y="20512"/>
                  </a:lnTo>
                  <a:lnTo>
                    <a:pt x="20076" y="3352"/>
                  </a:lnTo>
                  <a:lnTo>
                    <a:pt x="15202" y="0"/>
                  </a:lnTo>
                  <a:lnTo>
                    <a:pt x="0" y="837"/>
                  </a:lnTo>
                  <a:close/>
                  <a:moveTo>
                    <a:pt x="6705" y="5273"/>
                  </a:moveTo>
                  <a:lnTo>
                    <a:pt x="13900" y="4876"/>
                  </a:lnTo>
                  <a:lnTo>
                    <a:pt x="13951" y="5450"/>
                  </a:lnTo>
                  <a:lnTo>
                    <a:pt x="6756" y="5846"/>
                  </a:lnTo>
                  <a:lnTo>
                    <a:pt x="6705" y="5273"/>
                  </a:lnTo>
                  <a:close/>
                  <a:moveTo>
                    <a:pt x="3609" y="11120"/>
                  </a:moveTo>
                  <a:lnTo>
                    <a:pt x="18000" y="10328"/>
                  </a:lnTo>
                  <a:lnTo>
                    <a:pt x="18049" y="10884"/>
                  </a:lnTo>
                  <a:lnTo>
                    <a:pt x="3658" y="11677"/>
                  </a:lnTo>
                  <a:lnTo>
                    <a:pt x="3609" y="11120"/>
                  </a:lnTo>
                  <a:close/>
                  <a:moveTo>
                    <a:pt x="3859" y="13936"/>
                  </a:moveTo>
                  <a:lnTo>
                    <a:pt x="18250" y="13144"/>
                  </a:lnTo>
                  <a:lnTo>
                    <a:pt x="18301" y="13717"/>
                  </a:lnTo>
                  <a:lnTo>
                    <a:pt x="3910" y="14509"/>
                  </a:lnTo>
                  <a:lnTo>
                    <a:pt x="3859" y="13936"/>
                  </a:lnTo>
                  <a:close/>
                  <a:moveTo>
                    <a:pt x="4109" y="16753"/>
                  </a:moveTo>
                  <a:lnTo>
                    <a:pt x="11305" y="16357"/>
                  </a:lnTo>
                  <a:lnTo>
                    <a:pt x="11356" y="16930"/>
                  </a:lnTo>
                  <a:lnTo>
                    <a:pt x="4160" y="17326"/>
                  </a:lnTo>
                  <a:lnTo>
                    <a:pt x="4109" y="16753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3" name="Shape 34200">
              <a:extLst>
                <a:ext uri="{FF2B5EF4-FFF2-40B4-BE49-F238E27FC236}">
                  <a16:creationId xmlns:a16="http://schemas.microsoft.com/office/drawing/2014/main" id="{443ECE95-13D9-4034-8245-4A83768A0116}"/>
                </a:ext>
              </a:extLst>
            </p:cNvPr>
            <p:cNvSpPr/>
            <p:nvPr/>
          </p:nvSpPr>
          <p:spPr>
            <a:xfrm>
              <a:off x="12531620" y="6289836"/>
              <a:ext cx="641868" cy="650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extrusionOk="0">
                  <a:moveTo>
                    <a:pt x="0" y="8656"/>
                  </a:moveTo>
                  <a:lnTo>
                    <a:pt x="3891" y="13472"/>
                  </a:lnTo>
                  <a:cubicBezTo>
                    <a:pt x="3891" y="13472"/>
                    <a:pt x="5113" y="13644"/>
                    <a:pt x="5432" y="12623"/>
                  </a:cubicBezTo>
                  <a:cubicBezTo>
                    <a:pt x="5784" y="11492"/>
                    <a:pt x="7687" y="9934"/>
                    <a:pt x="9148" y="11824"/>
                  </a:cubicBezTo>
                  <a:cubicBezTo>
                    <a:pt x="10609" y="13713"/>
                    <a:pt x="9118" y="15051"/>
                    <a:pt x="7911" y="15308"/>
                  </a:cubicBezTo>
                  <a:cubicBezTo>
                    <a:pt x="6818" y="15541"/>
                    <a:pt x="6446" y="16635"/>
                    <a:pt x="6446" y="16635"/>
                  </a:cubicBezTo>
                  <a:lnTo>
                    <a:pt x="10458" y="21600"/>
                  </a:lnTo>
                  <a:lnTo>
                    <a:pt x="14739" y="18125"/>
                  </a:lnTo>
                  <a:cubicBezTo>
                    <a:pt x="14739" y="18125"/>
                    <a:pt x="14656" y="17235"/>
                    <a:pt x="13766" y="16921"/>
                  </a:cubicBezTo>
                  <a:cubicBezTo>
                    <a:pt x="12685" y="16541"/>
                    <a:pt x="11239" y="14858"/>
                    <a:pt x="13261" y="13217"/>
                  </a:cubicBezTo>
                  <a:cubicBezTo>
                    <a:pt x="15282" y="11577"/>
                    <a:pt x="16620" y="13268"/>
                    <a:pt x="16756" y="14619"/>
                  </a:cubicBezTo>
                  <a:cubicBezTo>
                    <a:pt x="16858" y="15631"/>
                    <a:pt x="17668" y="15748"/>
                    <a:pt x="17668" y="15748"/>
                  </a:cubicBezTo>
                  <a:lnTo>
                    <a:pt x="21273" y="12822"/>
                  </a:lnTo>
                  <a:cubicBezTo>
                    <a:pt x="21273" y="12822"/>
                    <a:pt x="18291" y="9357"/>
                    <a:pt x="17693" y="8295"/>
                  </a:cubicBezTo>
                  <a:cubicBezTo>
                    <a:pt x="17052" y="7158"/>
                    <a:pt x="18759" y="6911"/>
                    <a:pt x="19060" y="6845"/>
                  </a:cubicBezTo>
                  <a:cubicBezTo>
                    <a:pt x="20796" y="6467"/>
                    <a:pt x="21600" y="4760"/>
                    <a:pt x="20175" y="2996"/>
                  </a:cubicBezTo>
                  <a:cubicBezTo>
                    <a:pt x="18749" y="1232"/>
                    <a:pt x="16519" y="2306"/>
                    <a:pt x="16165" y="3733"/>
                  </a:cubicBezTo>
                  <a:cubicBezTo>
                    <a:pt x="15902" y="4793"/>
                    <a:pt x="15415" y="5326"/>
                    <a:pt x="14915" y="4919"/>
                  </a:cubicBezTo>
                  <a:cubicBezTo>
                    <a:pt x="13746" y="3966"/>
                    <a:pt x="10665" y="0"/>
                    <a:pt x="10665" y="0"/>
                  </a:cubicBezTo>
                  <a:lnTo>
                    <a:pt x="7285" y="2743"/>
                  </a:lnTo>
                  <a:cubicBezTo>
                    <a:pt x="7285" y="2743"/>
                    <a:pt x="7256" y="4048"/>
                    <a:pt x="8291" y="4295"/>
                  </a:cubicBezTo>
                  <a:cubicBezTo>
                    <a:pt x="9849" y="4668"/>
                    <a:pt x="10626" y="6514"/>
                    <a:pt x="9021" y="7816"/>
                  </a:cubicBezTo>
                  <a:cubicBezTo>
                    <a:pt x="7417" y="9118"/>
                    <a:pt x="5847" y="8156"/>
                    <a:pt x="5733" y="6515"/>
                  </a:cubicBezTo>
                  <a:cubicBezTo>
                    <a:pt x="5669" y="5595"/>
                    <a:pt x="4421" y="5079"/>
                    <a:pt x="4421" y="5079"/>
                  </a:cubicBezTo>
                  <a:cubicBezTo>
                    <a:pt x="4421" y="5079"/>
                    <a:pt x="0" y="8656"/>
                    <a:pt x="0" y="86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34201">
              <a:extLst>
                <a:ext uri="{FF2B5EF4-FFF2-40B4-BE49-F238E27FC236}">
                  <a16:creationId xmlns:a16="http://schemas.microsoft.com/office/drawing/2014/main" id="{FF4B6CEF-AE43-490A-BE31-6AF6D492B235}"/>
                </a:ext>
              </a:extLst>
            </p:cNvPr>
            <p:cNvSpPr/>
            <p:nvPr/>
          </p:nvSpPr>
          <p:spPr>
            <a:xfrm>
              <a:off x="11981887" y="4201963"/>
              <a:ext cx="441404" cy="38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5" name="Shape 34202">
              <a:extLst>
                <a:ext uri="{FF2B5EF4-FFF2-40B4-BE49-F238E27FC236}">
                  <a16:creationId xmlns:a16="http://schemas.microsoft.com/office/drawing/2014/main" id="{0A6FDF2A-C25B-4F2A-B306-406E04B24058}"/>
                </a:ext>
              </a:extLst>
            </p:cNvPr>
            <p:cNvSpPr/>
            <p:nvPr/>
          </p:nvSpPr>
          <p:spPr>
            <a:xfrm>
              <a:off x="11678186" y="10413681"/>
              <a:ext cx="681752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5429"/>
                  </a:moveTo>
                  <a:lnTo>
                    <a:pt x="2700" y="15429"/>
                  </a:lnTo>
                  <a:lnTo>
                    <a:pt x="2700" y="2057"/>
                  </a:lnTo>
                  <a:lnTo>
                    <a:pt x="18900" y="2057"/>
                  </a:lnTo>
                  <a:cubicBezTo>
                    <a:pt x="18900" y="2057"/>
                    <a:pt x="18900" y="15429"/>
                    <a:pt x="18900" y="15429"/>
                  </a:cubicBezTo>
                  <a:close/>
                  <a:moveTo>
                    <a:pt x="18900" y="0"/>
                  </a:moveTo>
                  <a:lnTo>
                    <a:pt x="2700" y="0"/>
                  </a:lnTo>
                  <a:cubicBezTo>
                    <a:pt x="1954" y="0"/>
                    <a:pt x="1350" y="922"/>
                    <a:pt x="1350" y="2057"/>
                  </a:cubicBezTo>
                  <a:cubicBezTo>
                    <a:pt x="1350" y="2057"/>
                    <a:pt x="1350" y="17486"/>
                    <a:pt x="1364" y="17486"/>
                  </a:cubicBezTo>
                  <a:lnTo>
                    <a:pt x="20235" y="17486"/>
                  </a:lnTo>
                  <a:cubicBezTo>
                    <a:pt x="20250" y="17486"/>
                    <a:pt x="20250" y="2057"/>
                    <a:pt x="20250" y="2057"/>
                  </a:cubicBezTo>
                  <a:cubicBezTo>
                    <a:pt x="20250" y="922"/>
                    <a:pt x="19646" y="0"/>
                    <a:pt x="18900" y="0"/>
                  </a:cubicBezTo>
                  <a:close/>
                  <a:moveTo>
                    <a:pt x="20250" y="21600"/>
                  </a:moveTo>
                  <a:lnTo>
                    <a:pt x="1350" y="21600"/>
                  </a:lnTo>
                  <a:cubicBezTo>
                    <a:pt x="604" y="21600"/>
                    <a:pt x="0" y="20679"/>
                    <a:pt x="0" y="19543"/>
                  </a:cubicBezTo>
                  <a:lnTo>
                    <a:pt x="0" y="18514"/>
                  </a:lnTo>
                  <a:lnTo>
                    <a:pt x="8775" y="18514"/>
                  </a:lnTo>
                  <a:lnTo>
                    <a:pt x="8775" y="19543"/>
                  </a:lnTo>
                  <a:lnTo>
                    <a:pt x="12825" y="19543"/>
                  </a:lnTo>
                  <a:lnTo>
                    <a:pt x="12825" y="18514"/>
                  </a:lnTo>
                  <a:lnTo>
                    <a:pt x="21600" y="18514"/>
                  </a:lnTo>
                  <a:lnTo>
                    <a:pt x="21600" y="19543"/>
                  </a:lnTo>
                  <a:cubicBezTo>
                    <a:pt x="21600" y="20679"/>
                    <a:pt x="20995" y="21600"/>
                    <a:pt x="20250" y="21600"/>
                  </a:cubicBezTo>
                  <a:cubicBezTo>
                    <a:pt x="20250" y="21600"/>
                    <a:pt x="20250" y="21600"/>
                    <a:pt x="2025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6" name="Shape 34203">
              <a:extLst>
                <a:ext uri="{FF2B5EF4-FFF2-40B4-BE49-F238E27FC236}">
                  <a16:creationId xmlns:a16="http://schemas.microsoft.com/office/drawing/2014/main" id="{431603F6-8459-4931-A432-DD60F1AF30A1}"/>
                </a:ext>
              </a:extLst>
            </p:cNvPr>
            <p:cNvSpPr/>
            <p:nvPr/>
          </p:nvSpPr>
          <p:spPr>
            <a:xfrm>
              <a:off x="13517964" y="3878275"/>
              <a:ext cx="745620" cy="528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7" name="Shape 34204">
              <a:extLst>
                <a:ext uri="{FF2B5EF4-FFF2-40B4-BE49-F238E27FC236}">
                  <a16:creationId xmlns:a16="http://schemas.microsoft.com/office/drawing/2014/main" id="{9665CD0A-DDE4-46A5-B551-E7F148138D88}"/>
                </a:ext>
              </a:extLst>
            </p:cNvPr>
            <p:cNvSpPr/>
            <p:nvPr/>
          </p:nvSpPr>
          <p:spPr>
            <a:xfrm>
              <a:off x="10622816" y="11265327"/>
              <a:ext cx="446006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7" h="18957" extrusionOk="0">
                  <a:moveTo>
                    <a:pt x="5474" y="890"/>
                  </a:moveTo>
                  <a:cubicBezTo>
                    <a:pt x="729" y="3103"/>
                    <a:pt x="-1322" y="8738"/>
                    <a:pt x="890" y="13482"/>
                  </a:cubicBezTo>
                  <a:cubicBezTo>
                    <a:pt x="3103" y="18227"/>
                    <a:pt x="8738" y="20278"/>
                    <a:pt x="13482" y="18066"/>
                  </a:cubicBezTo>
                  <a:cubicBezTo>
                    <a:pt x="18227" y="15853"/>
                    <a:pt x="20278" y="10218"/>
                    <a:pt x="18066" y="5474"/>
                  </a:cubicBezTo>
                  <a:cubicBezTo>
                    <a:pt x="15853" y="729"/>
                    <a:pt x="10218" y="-1322"/>
                    <a:pt x="5474" y="890"/>
                  </a:cubicBezTo>
                  <a:close/>
                  <a:moveTo>
                    <a:pt x="6178" y="2402"/>
                  </a:moveTo>
                  <a:cubicBezTo>
                    <a:pt x="6348" y="2323"/>
                    <a:pt x="6545" y="2302"/>
                    <a:pt x="6734" y="2371"/>
                  </a:cubicBezTo>
                  <a:cubicBezTo>
                    <a:pt x="7112" y="2509"/>
                    <a:pt x="7308" y="2929"/>
                    <a:pt x="7170" y="3307"/>
                  </a:cubicBezTo>
                  <a:cubicBezTo>
                    <a:pt x="7033" y="3685"/>
                    <a:pt x="6612" y="3882"/>
                    <a:pt x="6234" y="3744"/>
                  </a:cubicBezTo>
                  <a:cubicBezTo>
                    <a:pt x="5856" y="3606"/>
                    <a:pt x="5660" y="3186"/>
                    <a:pt x="5798" y="2808"/>
                  </a:cubicBezTo>
                  <a:cubicBezTo>
                    <a:pt x="5866" y="2618"/>
                    <a:pt x="6009" y="2481"/>
                    <a:pt x="6178" y="2402"/>
                  </a:cubicBezTo>
                  <a:close/>
                  <a:moveTo>
                    <a:pt x="7039" y="4248"/>
                  </a:moveTo>
                  <a:cubicBezTo>
                    <a:pt x="7237" y="4156"/>
                    <a:pt x="7476" y="4242"/>
                    <a:pt x="7569" y="4441"/>
                  </a:cubicBezTo>
                  <a:lnTo>
                    <a:pt x="9434" y="8440"/>
                  </a:lnTo>
                  <a:cubicBezTo>
                    <a:pt x="9580" y="8433"/>
                    <a:pt x="9718" y="8366"/>
                    <a:pt x="9863" y="8419"/>
                  </a:cubicBezTo>
                  <a:cubicBezTo>
                    <a:pt x="10010" y="8472"/>
                    <a:pt x="10085" y="8605"/>
                    <a:pt x="10192" y="8705"/>
                  </a:cubicBezTo>
                  <a:lnTo>
                    <a:pt x="13175" y="7314"/>
                  </a:lnTo>
                  <a:cubicBezTo>
                    <a:pt x="13373" y="7222"/>
                    <a:pt x="13612" y="7309"/>
                    <a:pt x="13705" y="7507"/>
                  </a:cubicBezTo>
                  <a:cubicBezTo>
                    <a:pt x="13797" y="7705"/>
                    <a:pt x="13710" y="7944"/>
                    <a:pt x="13512" y="8037"/>
                  </a:cubicBezTo>
                  <a:lnTo>
                    <a:pt x="10529" y="9427"/>
                  </a:lnTo>
                  <a:cubicBezTo>
                    <a:pt x="10537" y="9574"/>
                    <a:pt x="10591" y="9717"/>
                    <a:pt x="10537" y="9863"/>
                  </a:cubicBezTo>
                  <a:cubicBezTo>
                    <a:pt x="10325" y="10447"/>
                    <a:pt x="9676" y="10750"/>
                    <a:pt x="9092" y="10537"/>
                  </a:cubicBezTo>
                  <a:cubicBezTo>
                    <a:pt x="8509" y="10325"/>
                    <a:pt x="8206" y="9676"/>
                    <a:pt x="8419" y="9092"/>
                  </a:cubicBezTo>
                  <a:cubicBezTo>
                    <a:pt x="8474" y="8942"/>
                    <a:pt x="8621" y="8880"/>
                    <a:pt x="8725" y="8771"/>
                  </a:cubicBezTo>
                  <a:lnTo>
                    <a:pt x="6860" y="4771"/>
                  </a:lnTo>
                  <a:cubicBezTo>
                    <a:pt x="6767" y="4573"/>
                    <a:pt x="6841" y="4340"/>
                    <a:pt x="7039" y="4248"/>
                  </a:cubicBezTo>
                  <a:close/>
                  <a:moveTo>
                    <a:pt x="2738" y="11823"/>
                  </a:moveTo>
                  <a:cubicBezTo>
                    <a:pt x="2908" y="11744"/>
                    <a:pt x="3105" y="11723"/>
                    <a:pt x="3294" y="11792"/>
                  </a:cubicBezTo>
                  <a:cubicBezTo>
                    <a:pt x="3672" y="11930"/>
                    <a:pt x="3868" y="12350"/>
                    <a:pt x="3730" y="12728"/>
                  </a:cubicBezTo>
                  <a:cubicBezTo>
                    <a:pt x="3593" y="13106"/>
                    <a:pt x="3172" y="13302"/>
                    <a:pt x="2794" y="13165"/>
                  </a:cubicBezTo>
                  <a:cubicBezTo>
                    <a:pt x="2416" y="13027"/>
                    <a:pt x="2220" y="12607"/>
                    <a:pt x="2358" y="12228"/>
                  </a:cubicBezTo>
                  <a:cubicBezTo>
                    <a:pt x="2426" y="12039"/>
                    <a:pt x="2569" y="11902"/>
                    <a:pt x="2738" y="11823"/>
                  </a:cubicBezTo>
                  <a:close/>
                  <a:moveTo>
                    <a:pt x="15620" y="5816"/>
                  </a:moveTo>
                  <a:cubicBezTo>
                    <a:pt x="15789" y="5737"/>
                    <a:pt x="15973" y="5722"/>
                    <a:pt x="16162" y="5791"/>
                  </a:cubicBezTo>
                  <a:cubicBezTo>
                    <a:pt x="16540" y="5929"/>
                    <a:pt x="16736" y="6349"/>
                    <a:pt x="16598" y="6728"/>
                  </a:cubicBezTo>
                  <a:cubicBezTo>
                    <a:pt x="16461" y="7106"/>
                    <a:pt x="16054" y="7296"/>
                    <a:pt x="15675" y="7158"/>
                  </a:cubicBezTo>
                  <a:cubicBezTo>
                    <a:pt x="15297" y="7020"/>
                    <a:pt x="15101" y="6600"/>
                    <a:pt x="15239" y="6222"/>
                  </a:cubicBezTo>
                  <a:cubicBezTo>
                    <a:pt x="15308" y="6033"/>
                    <a:pt x="15451" y="5895"/>
                    <a:pt x="15620" y="5816"/>
                  </a:cubicBezTo>
                  <a:close/>
                  <a:moveTo>
                    <a:pt x="12166" y="15243"/>
                  </a:moveTo>
                  <a:cubicBezTo>
                    <a:pt x="12335" y="15164"/>
                    <a:pt x="12533" y="15143"/>
                    <a:pt x="12722" y="15212"/>
                  </a:cubicBezTo>
                  <a:cubicBezTo>
                    <a:pt x="13100" y="15350"/>
                    <a:pt x="13296" y="15770"/>
                    <a:pt x="13158" y="16148"/>
                  </a:cubicBezTo>
                  <a:cubicBezTo>
                    <a:pt x="13021" y="16526"/>
                    <a:pt x="12600" y="16723"/>
                    <a:pt x="12222" y="16585"/>
                  </a:cubicBezTo>
                  <a:cubicBezTo>
                    <a:pt x="11844" y="16447"/>
                    <a:pt x="11648" y="16027"/>
                    <a:pt x="11785" y="15649"/>
                  </a:cubicBezTo>
                  <a:cubicBezTo>
                    <a:pt x="11854" y="15460"/>
                    <a:pt x="11997" y="15322"/>
                    <a:pt x="12166" y="152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8" name="Shape 34205">
              <a:extLst>
                <a:ext uri="{FF2B5EF4-FFF2-40B4-BE49-F238E27FC236}">
                  <a16:creationId xmlns:a16="http://schemas.microsoft.com/office/drawing/2014/main" id="{CC09C2DA-6F17-41BE-9A24-0BF1A400F0D4}"/>
                </a:ext>
              </a:extLst>
            </p:cNvPr>
            <p:cNvSpPr/>
            <p:nvPr/>
          </p:nvSpPr>
          <p:spPr>
            <a:xfrm>
              <a:off x="11074336" y="12293991"/>
              <a:ext cx="529370" cy="55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369" extrusionOk="0">
                  <a:moveTo>
                    <a:pt x="9892" y="341"/>
                  </a:moveTo>
                  <a:cubicBezTo>
                    <a:pt x="10333" y="-98"/>
                    <a:pt x="11063" y="-117"/>
                    <a:pt x="11519" y="307"/>
                  </a:cubicBezTo>
                  <a:lnTo>
                    <a:pt x="21020" y="9136"/>
                  </a:lnTo>
                  <a:cubicBezTo>
                    <a:pt x="21476" y="9561"/>
                    <a:pt x="21482" y="10263"/>
                    <a:pt x="21042" y="10702"/>
                  </a:cubicBezTo>
                  <a:lnTo>
                    <a:pt x="10676" y="21032"/>
                  </a:lnTo>
                  <a:cubicBezTo>
                    <a:pt x="10236" y="21471"/>
                    <a:pt x="9512" y="21483"/>
                    <a:pt x="9056" y="21059"/>
                  </a:cubicBezTo>
                  <a:lnTo>
                    <a:pt x="6577" y="18755"/>
                  </a:lnTo>
                  <a:lnTo>
                    <a:pt x="9366" y="15976"/>
                  </a:lnTo>
                  <a:cubicBezTo>
                    <a:pt x="9806" y="15537"/>
                    <a:pt x="9793" y="14841"/>
                    <a:pt x="9337" y="14417"/>
                  </a:cubicBezTo>
                  <a:lnTo>
                    <a:pt x="7682" y="12879"/>
                  </a:lnTo>
                  <a:cubicBezTo>
                    <a:pt x="7226" y="12455"/>
                    <a:pt x="6503" y="12467"/>
                    <a:pt x="6062" y="12906"/>
                  </a:cubicBezTo>
                  <a:lnTo>
                    <a:pt x="3274" y="15685"/>
                  </a:lnTo>
                  <a:lnTo>
                    <a:pt x="1210" y="13767"/>
                  </a:lnTo>
                  <a:cubicBezTo>
                    <a:pt x="754" y="13343"/>
                    <a:pt x="734" y="12641"/>
                    <a:pt x="1175" y="12202"/>
                  </a:cubicBezTo>
                  <a:lnTo>
                    <a:pt x="351" y="11436"/>
                  </a:lnTo>
                  <a:cubicBezTo>
                    <a:pt x="-105" y="11012"/>
                    <a:pt x="-118" y="10316"/>
                    <a:pt x="322" y="9877"/>
                  </a:cubicBezTo>
                  <a:lnTo>
                    <a:pt x="9892" y="341"/>
                  </a:lnTo>
                  <a:close/>
                  <a:moveTo>
                    <a:pt x="10322" y="1500"/>
                  </a:moveTo>
                  <a:lnTo>
                    <a:pt x="1949" y="9844"/>
                  </a:lnTo>
                  <a:cubicBezTo>
                    <a:pt x="1949" y="9844"/>
                    <a:pt x="1145" y="10641"/>
                    <a:pt x="1971" y="11409"/>
                  </a:cubicBezTo>
                  <a:lnTo>
                    <a:pt x="11146" y="2266"/>
                  </a:lnTo>
                  <a:cubicBezTo>
                    <a:pt x="11366" y="2046"/>
                    <a:pt x="11360" y="1705"/>
                    <a:pt x="11132" y="1492"/>
                  </a:cubicBezTo>
                  <a:cubicBezTo>
                    <a:pt x="10904" y="1281"/>
                    <a:pt x="10542" y="1280"/>
                    <a:pt x="10322" y="1500"/>
                  </a:cubicBezTo>
                  <a:close/>
                  <a:moveTo>
                    <a:pt x="6083" y="13685"/>
                  </a:moveTo>
                  <a:cubicBezTo>
                    <a:pt x="6523" y="13247"/>
                    <a:pt x="7247" y="13234"/>
                    <a:pt x="7703" y="13658"/>
                  </a:cubicBezTo>
                  <a:lnTo>
                    <a:pt x="8527" y="14424"/>
                  </a:lnTo>
                  <a:cubicBezTo>
                    <a:pt x="8983" y="14848"/>
                    <a:pt x="8996" y="15544"/>
                    <a:pt x="8555" y="15983"/>
                  </a:cubicBezTo>
                  <a:lnTo>
                    <a:pt x="6161" y="18369"/>
                  </a:lnTo>
                  <a:cubicBezTo>
                    <a:pt x="5721" y="18808"/>
                    <a:pt x="4991" y="18826"/>
                    <a:pt x="4535" y="18403"/>
                  </a:cubicBezTo>
                  <a:lnTo>
                    <a:pt x="3711" y="17637"/>
                  </a:lnTo>
                  <a:cubicBezTo>
                    <a:pt x="3254" y="17213"/>
                    <a:pt x="3249" y="16510"/>
                    <a:pt x="3689" y="16071"/>
                  </a:cubicBezTo>
                  <a:lnTo>
                    <a:pt x="6083" y="13685"/>
                  </a:lnTo>
                  <a:close/>
                  <a:moveTo>
                    <a:pt x="6506" y="14851"/>
                  </a:moveTo>
                  <a:cubicBezTo>
                    <a:pt x="6286" y="15071"/>
                    <a:pt x="6285" y="15419"/>
                    <a:pt x="6514" y="15631"/>
                  </a:cubicBezTo>
                  <a:cubicBezTo>
                    <a:pt x="6742" y="15843"/>
                    <a:pt x="7110" y="15837"/>
                    <a:pt x="7330" y="15617"/>
                  </a:cubicBezTo>
                  <a:cubicBezTo>
                    <a:pt x="7550" y="15398"/>
                    <a:pt x="7544" y="15043"/>
                    <a:pt x="7316" y="14831"/>
                  </a:cubicBezTo>
                  <a:cubicBezTo>
                    <a:pt x="7088" y="14619"/>
                    <a:pt x="6726" y="14632"/>
                    <a:pt x="6506" y="148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9" name="Shape 34206">
              <a:extLst>
                <a:ext uri="{FF2B5EF4-FFF2-40B4-BE49-F238E27FC236}">
                  <a16:creationId xmlns:a16="http://schemas.microsoft.com/office/drawing/2014/main" id="{D54A38B7-B7A3-4D26-B18D-D2F9E1DEF86E}"/>
                </a:ext>
              </a:extLst>
            </p:cNvPr>
            <p:cNvSpPr/>
            <p:nvPr/>
          </p:nvSpPr>
          <p:spPr>
            <a:xfrm>
              <a:off x="10836598" y="8678073"/>
              <a:ext cx="776072" cy="459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11" extrusionOk="0">
                  <a:moveTo>
                    <a:pt x="3736" y="4687"/>
                  </a:moveTo>
                  <a:lnTo>
                    <a:pt x="4986" y="19624"/>
                  </a:lnTo>
                  <a:lnTo>
                    <a:pt x="17693" y="16625"/>
                  </a:lnTo>
                  <a:lnTo>
                    <a:pt x="16443" y="1688"/>
                  </a:lnTo>
                  <a:cubicBezTo>
                    <a:pt x="16443" y="1688"/>
                    <a:pt x="3736" y="4687"/>
                    <a:pt x="3736" y="4687"/>
                  </a:cubicBezTo>
                  <a:close/>
                  <a:moveTo>
                    <a:pt x="2231" y="9938"/>
                  </a:moveTo>
                  <a:lnTo>
                    <a:pt x="2678" y="15273"/>
                  </a:lnTo>
                  <a:cubicBezTo>
                    <a:pt x="2702" y="15567"/>
                    <a:pt x="2864" y="15772"/>
                    <a:pt x="3040" y="15731"/>
                  </a:cubicBezTo>
                  <a:cubicBezTo>
                    <a:pt x="3215" y="15690"/>
                    <a:pt x="3338" y="15417"/>
                    <a:pt x="3313" y="15123"/>
                  </a:cubicBezTo>
                  <a:lnTo>
                    <a:pt x="2867" y="9788"/>
                  </a:lnTo>
                  <a:cubicBezTo>
                    <a:pt x="2842" y="9494"/>
                    <a:pt x="2680" y="9288"/>
                    <a:pt x="2504" y="9330"/>
                  </a:cubicBezTo>
                  <a:cubicBezTo>
                    <a:pt x="2329" y="9371"/>
                    <a:pt x="2207" y="9644"/>
                    <a:pt x="2231" y="9938"/>
                  </a:cubicBezTo>
                  <a:close/>
                  <a:moveTo>
                    <a:pt x="19564" y="8023"/>
                  </a:moveTo>
                  <a:cubicBezTo>
                    <a:pt x="19490" y="7140"/>
                    <a:pt x="19004" y="6524"/>
                    <a:pt x="18477" y="6648"/>
                  </a:cubicBezTo>
                  <a:cubicBezTo>
                    <a:pt x="17951" y="6772"/>
                    <a:pt x="17584" y="7590"/>
                    <a:pt x="17658" y="8473"/>
                  </a:cubicBezTo>
                  <a:cubicBezTo>
                    <a:pt x="17732" y="9357"/>
                    <a:pt x="18219" y="9973"/>
                    <a:pt x="18745" y="9849"/>
                  </a:cubicBezTo>
                  <a:cubicBezTo>
                    <a:pt x="19272" y="9724"/>
                    <a:pt x="19638" y="8907"/>
                    <a:pt x="19564" y="8023"/>
                  </a:cubicBezTo>
                  <a:close/>
                  <a:moveTo>
                    <a:pt x="20344" y="1856"/>
                  </a:moveTo>
                  <a:lnTo>
                    <a:pt x="21415" y="14658"/>
                  </a:lnTo>
                  <a:cubicBezTo>
                    <a:pt x="21514" y="15837"/>
                    <a:pt x="21025" y="16926"/>
                    <a:pt x="20323" y="17092"/>
                  </a:cubicBezTo>
                  <a:lnTo>
                    <a:pt x="2533" y="21290"/>
                  </a:lnTo>
                  <a:cubicBezTo>
                    <a:pt x="1832" y="21456"/>
                    <a:pt x="1183" y="20635"/>
                    <a:pt x="1084" y="19456"/>
                  </a:cubicBezTo>
                  <a:lnTo>
                    <a:pt x="13" y="6654"/>
                  </a:lnTo>
                  <a:cubicBezTo>
                    <a:pt x="-86" y="5475"/>
                    <a:pt x="403" y="4386"/>
                    <a:pt x="1105" y="4220"/>
                  </a:cubicBezTo>
                  <a:lnTo>
                    <a:pt x="18895" y="22"/>
                  </a:lnTo>
                  <a:cubicBezTo>
                    <a:pt x="19596" y="-144"/>
                    <a:pt x="20245" y="677"/>
                    <a:pt x="20344" y="18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0" name="Shape 34207">
              <a:extLst>
                <a:ext uri="{FF2B5EF4-FFF2-40B4-BE49-F238E27FC236}">
                  <a16:creationId xmlns:a16="http://schemas.microsoft.com/office/drawing/2014/main" id="{900B87C9-6CD9-41B0-A616-57EC0EC0FAB9}"/>
                </a:ext>
              </a:extLst>
            </p:cNvPr>
            <p:cNvSpPr/>
            <p:nvPr/>
          </p:nvSpPr>
          <p:spPr>
            <a:xfrm>
              <a:off x="12300451" y="8958670"/>
              <a:ext cx="694132" cy="637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1" name="Shape 34208">
              <a:extLst>
                <a:ext uri="{FF2B5EF4-FFF2-40B4-BE49-F238E27FC236}">
                  <a16:creationId xmlns:a16="http://schemas.microsoft.com/office/drawing/2014/main" id="{FF9E974C-3C6B-48EE-9765-B1BD62EDEBBB}"/>
                </a:ext>
              </a:extLst>
            </p:cNvPr>
            <p:cNvSpPr/>
            <p:nvPr/>
          </p:nvSpPr>
          <p:spPr>
            <a:xfrm>
              <a:off x="11569660" y="9038623"/>
              <a:ext cx="297614" cy="32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2" name="Shape 34209">
              <a:extLst>
                <a:ext uri="{FF2B5EF4-FFF2-40B4-BE49-F238E27FC236}">
                  <a16:creationId xmlns:a16="http://schemas.microsoft.com/office/drawing/2014/main" id="{195891F6-456F-487D-9A31-3205CFC000A0}"/>
                </a:ext>
              </a:extLst>
            </p:cNvPr>
            <p:cNvSpPr/>
            <p:nvPr/>
          </p:nvSpPr>
          <p:spPr>
            <a:xfrm>
              <a:off x="13028438" y="8411802"/>
              <a:ext cx="415194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3" name="Shape 34210">
              <a:extLst>
                <a:ext uri="{FF2B5EF4-FFF2-40B4-BE49-F238E27FC236}">
                  <a16:creationId xmlns:a16="http://schemas.microsoft.com/office/drawing/2014/main" id="{CFD870BB-6E85-41C6-B8B8-07CBF8452CDC}"/>
                </a:ext>
              </a:extLst>
            </p:cNvPr>
            <p:cNvSpPr/>
            <p:nvPr/>
          </p:nvSpPr>
          <p:spPr>
            <a:xfrm>
              <a:off x="9694005" y="5957329"/>
              <a:ext cx="37726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600" extrusionOk="0">
                  <a:moveTo>
                    <a:pt x="0" y="3459"/>
                  </a:moveTo>
                  <a:lnTo>
                    <a:pt x="1422" y="10208"/>
                  </a:lnTo>
                  <a:cubicBezTo>
                    <a:pt x="1422" y="10208"/>
                    <a:pt x="2469" y="10982"/>
                    <a:pt x="3219" y="10113"/>
                  </a:cubicBezTo>
                  <a:cubicBezTo>
                    <a:pt x="4049" y="9149"/>
                    <a:pt x="6494" y="8518"/>
                    <a:pt x="6992" y="11134"/>
                  </a:cubicBezTo>
                  <a:cubicBezTo>
                    <a:pt x="7491" y="13750"/>
                    <a:pt x="5522" y="14362"/>
                    <a:pt x="4296" y="14027"/>
                  </a:cubicBezTo>
                  <a:cubicBezTo>
                    <a:pt x="3187" y="13725"/>
                    <a:pt x="2357" y="14641"/>
                    <a:pt x="2357" y="14641"/>
                  </a:cubicBezTo>
                  <a:lnTo>
                    <a:pt x="3823" y="21600"/>
                  </a:lnTo>
                  <a:lnTo>
                    <a:pt x="9313" y="20212"/>
                  </a:lnTo>
                  <a:cubicBezTo>
                    <a:pt x="9313" y="20212"/>
                    <a:pt x="9635" y="19276"/>
                    <a:pt x="8958" y="18523"/>
                  </a:cubicBezTo>
                  <a:cubicBezTo>
                    <a:pt x="8134" y="17611"/>
                    <a:pt x="7558" y="15210"/>
                    <a:pt x="10150" y="14555"/>
                  </a:cubicBezTo>
                  <a:cubicBezTo>
                    <a:pt x="12743" y="13899"/>
                    <a:pt x="13216" y="16255"/>
                    <a:pt x="12736" y="17679"/>
                  </a:cubicBezTo>
                  <a:cubicBezTo>
                    <a:pt x="12378" y="18747"/>
                    <a:pt x="13070" y="19262"/>
                    <a:pt x="13070" y="19262"/>
                  </a:cubicBezTo>
                  <a:lnTo>
                    <a:pt x="17693" y="18092"/>
                  </a:lnTo>
                  <a:cubicBezTo>
                    <a:pt x="17693" y="18092"/>
                    <a:pt x="16501" y="13146"/>
                    <a:pt x="16426" y="11786"/>
                  </a:cubicBezTo>
                  <a:cubicBezTo>
                    <a:pt x="16346" y="10328"/>
                    <a:pt x="18026" y="10919"/>
                    <a:pt x="18332" y="11000"/>
                  </a:cubicBezTo>
                  <a:cubicBezTo>
                    <a:pt x="20097" y="11473"/>
                    <a:pt x="21600" y="10153"/>
                    <a:pt x="21079" y="7680"/>
                  </a:cubicBezTo>
                  <a:cubicBezTo>
                    <a:pt x="20558" y="5208"/>
                    <a:pt x="18027" y="5192"/>
                    <a:pt x="17063" y="6452"/>
                  </a:cubicBezTo>
                  <a:cubicBezTo>
                    <a:pt x="16347" y="7388"/>
                    <a:pt x="15661" y="7684"/>
                    <a:pt x="15383" y="7029"/>
                  </a:cubicBezTo>
                  <a:cubicBezTo>
                    <a:pt x="14735" y="5498"/>
                    <a:pt x="13677" y="0"/>
                    <a:pt x="13677" y="0"/>
                  </a:cubicBezTo>
                  <a:lnTo>
                    <a:pt x="9343" y="1096"/>
                  </a:lnTo>
                  <a:cubicBezTo>
                    <a:pt x="9343" y="1096"/>
                    <a:pt x="8732" y="2392"/>
                    <a:pt x="9572" y="3149"/>
                  </a:cubicBezTo>
                  <a:cubicBezTo>
                    <a:pt x="10838" y="4289"/>
                    <a:pt x="10727" y="6525"/>
                    <a:pt x="8669" y="7045"/>
                  </a:cubicBezTo>
                  <a:cubicBezTo>
                    <a:pt x="6612" y="7566"/>
                    <a:pt x="5599" y="5828"/>
                    <a:pt x="6228" y="4123"/>
                  </a:cubicBezTo>
                  <a:cubicBezTo>
                    <a:pt x="6581" y="3168"/>
                    <a:pt x="5664" y="2036"/>
                    <a:pt x="5664" y="2036"/>
                  </a:cubicBezTo>
                  <a:cubicBezTo>
                    <a:pt x="5664" y="2036"/>
                    <a:pt x="0" y="3459"/>
                    <a:pt x="0" y="34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4" name="Shape 34211">
              <a:extLst>
                <a:ext uri="{FF2B5EF4-FFF2-40B4-BE49-F238E27FC236}">
                  <a16:creationId xmlns:a16="http://schemas.microsoft.com/office/drawing/2014/main" id="{2D449E41-EBF7-496F-9601-C0F4A60948A8}"/>
                </a:ext>
              </a:extLst>
            </p:cNvPr>
            <p:cNvSpPr/>
            <p:nvPr/>
          </p:nvSpPr>
          <p:spPr>
            <a:xfrm>
              <a:off x="10312910" y="3971892"/>
              <a:ext cx="478390" cy="684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5" name="Shape 34212">
              <a:extLst>
                <a:ext uri="{FF2B5EF4-FFF2-40B4-BE49-F238E27FC236}">
                  <a16:creationId xmlns:a16="http://schemas.microsoft.com/office/drawing/2014/main" id="{813003F3-1906-4BE1-B321-391211951EE5}"/>
                </a:ext>
              </a:extLst>
            </p:cNvPr>
            <p:cNvSpPr/>
            <p:nvPr/>
          </p:nvSpPr>
          <p:spPr>
            <a:xfrm>
              <a:off x="9175496" y="3615262"/>
              <a:ext cx="674788" cy="478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6" name="Shape 34213">
              <a:extLst>
                <a:ext uri="{FF2B5EF4-FFF2-40B4-BE49-F238E27FC236}">
                  <a16:creationId xmlns:a16="http://schemas.microsoft.com/office/drawing/2014/main" id="{705BA8CC-9DB8-4EEE-803C-5584FEF8DA66}"/>
                </a:ext>
              </a:extLst>
            </p:cNvPr>
            <p:cNvSpPr/>
            <p:nvPr/>
          </p:nvSpPr>
          <p:spPr>
            <a:xfrm>
              <a:off x="14822081" y="4439957"/>
              <a:ext cx="756136" cy="659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94" y="3457"/>
                  </a:moveTo>
                  <a:lnTo>
                    <a:pt x="148" y="16086"/>
                  </a:lnTo>
                  <a:lnTo>
                    <a:pt x="0" y="16165"/>
                  </a:lnTo>
                  <a:lnTo>
                    <a:pt x="1008" y="21600"/>
                  </a:lnTo>
                  <a:lnTo>
                    <a:pt x="10415" y="19280"/>
                  </a:lnTo>
                  <a:lnTo>
                    <a:pt x="10816" y="21443"/>
                  </a:lnTo>
                  <a:lnTo>
                    <a:pt x="12402" y="20369"/>
                  </a:lnTo>
                  <a:lnTo>
                    <a:pt x="14220" y="20613"/>
                  </a:lnTo>
                  <a:lnTo>
                    <a:pt x="13819" y="18450"/>
                  </a:lnTo>
                  <a:lnTo>
                    <a:pt x="17113" y="17634"/>
                  </a:lnTo>
                  <a:lnTo>
                    <a:pt x="17471" y="17546"/>
                  </a:lnTo>
                  <a:lnTo>
                    <a:pt x="21600" y="5952"/>
                  </a:lnTo>
                  <a:lnTo>
                    <a:pt x="20486" y="14"/>
                  </a:lnTo>
                  <a:cubicBezTo>
                    <a:pt x="20486" y="14"/>
                    <a:pt x="20484" y="0"/>
                    <a:pt x="20484" y="0"/>
                  </a:cubicBezTo>
                  <a:lnTo>
                    <a:pt x="6294" y="3457"/>
                  </a:lnTo>
                  <a:close/>
                  <a:moveTo>
                    <a:pt x="19860" y="1754"/>
                  </a:moveTo>
                  <a:cubicBezTo>
                    <a:pt x="19941" y="2188"/>
                    <a:pt x="20020" y="2621"/>
                    <a:pt x="20101" y="3055"/>
                  </a:cubicBezTo>
                  <a:cubicBezTo>
                    <a:pt x="20278" y="3996"/>
                    <a:pt x="20448" y="4934"/>
                    <a:pt x="20624" y="5875"/>
                  </a:cubicBezTo>
                  <a:lnTo>
                    <a:pt x="16762" y="16617"/>
                  </a:lnTo>
                  <a:lnTo>
                    <a:pt x="13623" y="17396"/>
                  </a:lnTo>
                  <a:lnTo>
                    <a:pt x="13219" y="15220"/>
                  </a:lnTo>
                  <a:cubicBezTo>
                    <a:pt x="13219" y="15220"/>
                    <a:pt x="9815" y="16049"/>
                    <a:pt x="9815" y="16049"/>
                  </a:cubicBezTo>
                  <a:lnTo>
                    <a:pt x="10222" y="18239"/>
                  </a:lnTo>
                  <a:lnTo>
                    <a:pt x="1723" y="20338"/>
                  </a:lnTo>
                  <a:lnTo>
                    <a:pt x="908" y="15944"/>
                  </a:lnTo>
                  <a:lnTo>
                    <a:pt x="16076" y="12248"/>
                  </a:lnTo>
                  <a:cubicBezTo>
                    <a:pt x="16076" y="12249"/>
                    <a:pt x="18931" y="4332"/>
                    <a:pt x="19860" y="175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7" name="Shape 34214">
              <a:extLst>
                <a:ext uri="{FF2B5EF4-FFF2-40B4-BE49-F238E27FC236}">
                  <a16:creationId xmlns:a16="http://schemas.microsoft.com/office/drawing/2014/main" id="{F73E10A1-09BB-4382-9807-86674549F2EF}"/>
                </a:ext>
              </a:extLst>
            </p:cNvPr>
            <p:cNvSpPr/>
            <p:nvPr/>
          </p:nvSpPr>
          <p:spPr>
            <a:xfrm>
              <a:off x="12406836" y="10620127"/>
              <a:ext cx="516758" cy="572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8" name="Shape 34215">
              <a:extLst>
                <a:ext uri="{FF2B5EF4-FFF2-40B4-BE49-F238E27FC236}">
                  <a16:creationId xmlns:a16="http://schemas.microsoft.com/office/drawing/2014/main" id="{C7403A64-F206-4EFB-AC82-F990191C5DB2}"/>
                </a:ext>
              </a:extLst>
            </p:cNvPr>
            <p:cNvSpPr/>
            <p:nvPr/>
          </p:nvSpPr>
          <p:spPr>
            <a:xfrm>
              <a:off x="15192453" y="5780593"/>
              <a:ext cx="475406" cy="47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9" name="Shape 34216">
              <a:extLst>
                <a:ext uri="{FF2B5EF4-FFF2-40B4-BE49-F238E27FC236}">
                  <a16:creationId xmlns:a16="http://schemas.microsoft.com/office/drawing/2014/main" id="{D88BDF44-FEE4-455C-AAD3-62E2FB068989}"/>
                </a:ext>
              </a:extLst>
            </p:cNvPr>
            <p:cNvSpPr/>
            <p:nvPr/>
          </p:nvSpPr>
          <p:spPr>
            <a:xfrm>
              <a:off x="11916931" y="8191128"/>
              <a:ext cx="79229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0" name="Shape 34217">
              <a:extLst>
                <a:ext uri="{FF2B5EF4-FFF2-40B4-BE49-F238E27FC236}">
                  <a16:creationId xmlns:a16="http://schemas.microsoft.com/office/drawing/2014/main" id="{3DCB4754-CE12-46B7-B86D-0A5938FF2A8F}"/>
                </a:ext>
              </a:extLst>
            </p:cNvPr>
            <p:cNvSpPr/>
            <p:nvPr/>
          </p:nvSpPr>
          <p:spPr>
            <a:xfrm>
              <a:off x="12395335" y="3740451"/>
              <a:ext cx="693544" cy="91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rgbClr val="00B0F0"/>
              </a:solidFill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1" name="Shape 34218">
              <a:extLst>
                <a:ext uri="{FF2B5EF4-FFF2-40B4-BE49-F238E27FC236}">
                  <a16:creationId xmlns:a16="http://schemas.microsoft.com/office/drawing/2014/main" id="{BC37F305-5646-434C-862F-6783D8F478A1}"/>
                </a:ext>
              </a:extLst>
            </p:cNvPr>
            <p:cNvSpPr/>
            <p:nvPr/>
          </p:nvSpPr>
          <p:spPr>
            <a:xfrm>
              <a:off x="11932702" y="12638103"/>
              <a:ext cx="408708" cy="303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837" y="8637"/>
                  </a:lnTo>
                  <a:lnTo>
                    <a:pt x="17837" y="12781"/>
                  </a:lnTo>
                  <a:cubicBezTo>
                    <a:pt x="17837" y="13798"/>
                    <a:pt x="17539" y="14723"/>
                    <a:pt x="17049" y="15392"/>
                  </a:cubicBezTo>
                  <a:cubicBezTo>
                    <a:pt x="16550" y="16075"/>
                    <a:pt x="15855" y="16492"/>
                    <a:pt x="15079" y="16478"/>
                  </a:cubicBezTo>
                  <a:lnTo>
                    <a:pt x="9158" y="16478"/>
                  </a:lnTo>
                  <a:lnTo>
                    <a:pt x="9158" y="17810"/>
                  </a:lnTo>
                  <a:cubicBezTo>
                    <a:pt x="9158" y="18368"/>
                    <a:pt x="9328" y="18874"/>
                    <a:pt x="9602" y="19240"/>
                  </a:cubicBezTo>
                  <a:cubicBezTo>
                    <a:pt x="9876" y="19606"/>
                    <a:pt x="10255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503" y="19832"/>
                    <a:pt x="20882" y="19606"/>
                    <a:pt x="21156" y="19240"/>
                  </a:cubicBezTo>
                  <a:cubicBezTo>
                    <a:pt x="21430" y="18874"/>
                    <a:pt x="21600" y="18368"/>
                    <a:pt x="21600" y="17810"/>
                  </a:cubicBezTo>
                  <a:lnTo>
                    <a:pt x="21600" y="10554"/>
                  </a:lnTo>
                  <a:cubicBezTo>
                    <a:pt x="21600" y="9996"/>
                    <a:pt x="21430" y="9490"/>
                    <a:pt x="21156" y="9125"/>
                  </a:cubicBezTo>
                  <a:cubicBezTo>
                    <a:pt x="20882" y="8759"/>
                    <a:pt x="20503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1501" y="15450"/>
                    <a:pt x="983" y="15141"/>
                    <a:pt x="607" y="14640"/>
                  </a:cubicBezTo>
                  <a:cubicBezTo>
                    <a:pt x="232" y="14139"/>
                    <a:pt x="0" y="13447"/>
                    <a:pt x="0" y="12683"/>
                  </a:cubicBezTo>
                  <a:lnTo>
                    <a:pt x="0" y="2767"/>
                  </a:lnTo>
                  <a:cubicBezTo>
                    <a:pt x="0" y="2003"/>
                    <a:pt x="232" y="1311"/>
                    <a:pt x="607" y="811"/>
                  </a:cubicBezTo>
                  <a:cubicBezTo>
                    <a:pt x="983" y="310"/>
                    <a:pt x="1501" y="0"/>
                    <a:pt x="2074" y="0"/>
                  </a:cubicBezTo>
                  <a:lnTo>
                    <a:pt x="15034" y="0"/>
                  </a:lnTo>
                  <a:cubicBezTo>
                    <a:pt x="15606" y="0"/>
                    <a:pt x="16125" y="310"/>
                    <a:pt x="16500" y="811"/>
                  </a:cubicBezTo>
                  <a:cubicBezTo>
                    <a:pt x="16875" y="1311"/>
                    <a:pt x="17107" y="2003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3441"/>
                    <a:pt x="16886" y="14134"/>
                    <a:pt x="16522" y="14637"/>
                  </a:cubicBezTo>
                  <a:cubicBezTo>
                    <a:pt x="16159" y="15139"/>
                    <a:pt x="15651" y="15450"/>
                    <a:pt x="15079" y="15450"/>
                  </a:cubicBezTo>
                  <a:lnTo>
                    <a:pt x="9158" y="15450"/>
                  </a:lnTo>
                  <a:lnTo>
                    <a:pt x="6912" y="154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2" name="Shape 34219">
              <a:extLst>
                <a:ext uri="{FF2B5EF4-FFF2-40B4-BE49-F238E27FC236}">
                  <a16:creationId xmlns:a16="http://schemas.microsoft.com/office/drawing/2014/main" id="{922F1F8A-EC21-4CFE-94AA-B0C57664A87E}"/>
                </a:ext>
              </a:extLst>
            </p:cNvPr>
            <p:cNvSpPr/>
            <p:nvPr/>
          </p:nvSpPr>
          <p:spPr>
            <a:xfrm>
              <a:off x="11196245" y="10659511"/>
              <a:ext cx="389798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" y="0"/>
                  </a:moveTo>
                  <a:cubicBezTo>
                    <a:pt x="372" y="0"/>
                    <a:pt x="0" y="302"/>
                    <a:pt x="0" y="675"/>
                  </a:cubicBezTo>
                  <a:cubicBezTo>
                    <a:pt x="0" y="1048"/>
                    <a:pt x="372" y="1350"/>
                    <a:pt x="831" y="1350"/>
                  </a:cubicBezTo>
                  <a:lnTo>
                    <a:pt x="20769" y="1350"/>
                  </a:lnTo>
                  <a:cubicBezTo>
                    <a:pt x="21228" y="1350"/>
                    <a:pt x="21600" y="1048"/>
                    <a:pt x="21600" y="675"/>
                  </a:cubicBezTo>
                  <a:cubicBezTo>
                    <a:pt x="21600" y="302"/>
                    <a:pt x="21228" y="0"/>
                    <a:pt x="20769" y="0"/>
                  </a:cubicBezTo>
                  <a:lnTo>
                    <a:pt x="831" y="0"/>
                  </a:lnTo>
                  <a:close/>
                  <a:moveTo>
                    <a:pt x="831" y="2025"/>
                  </a:moveTo>
                  <a:lnTo>
                    <a:pt x="831" y="15525"/>
                  </a:lnTo>
                  <a:cubicBezTo>
                    <a:pt x="831" y="15525"/>
                    <a:pt x="20769" y="15525"/>
                    <a:pt x="20769" y="15525"/>
                  </a:cubicBezTo>
                  <a:lnTo>
                    <a:pt x="20769" y="2025"/>
                  </a:lnTo>
                  <a:lnTo>
                    <a:pt x="831" y="2025"/>
                  </a:lnTo>
                  <a:close/>
                  <a:moveTo>
                    <a:pt x="15785" y="4050"/>
                  </a:moveTo>
                  <a:lnTo>
                    <a:pt x="18277" y="4050"/>
                  </a:lnTo>
                  <a:cubicBezTo>
                    <a:pt x="18277" y="4050"/>
                    <a:pt x="18277" y="13500"/>
                    <a:pt x="18277" y="13500"/>
                  </a:cubicBezTo>
                  <a:lnTo>
                    <a:pt x="15785" y="13500"/>
                  </a:lnTo>
                  <a:lnTo>
                    <a:pt x="15785" y="4050"/>
                  </a:lnTo>
                  <a:close/>
                  <a:moveTo>
                    <a:pt x="7477" y="6750"/>
                  </a:moveTo>
                  <a:lnTo>
                    <a:pt x="9969" y="6750"/>
                  </a:lnTo>
                  <a:cubicBezTo>
                    <a:pt x="9969" y="6750"/>
                    <a:pt x="9969" y="13500"/>
                    <a:pt x="9969" y="13500"/>
                  </a:cubicBezTo>
                  <a:lnTo>
                    <a:pt x="7477" y="13500"/>
                  </a:lnTo>
                  <a:lnTo>
                    <a:pt x="7477" y="6750"/>
                  </a:lnTo>
                  <a:close/>
                  <a:moveTo>
                    <a:pt x="11631" y="8775"/>
                  </a:moveTo>
                  <a:lnTo>
                    <a:pt x="14123" y="8775"/>
                  </a:lnTo>
                  <a:cubicBezTo>
                    <a:pt x="14123" y="8775"/>
                    <a:pt x="14123" y="13500"/>
                    <a:pt x="14123" y="13500"/>
                  </a:cubicBezTo>
                  <a:lnTo>
                    <a:pt x="11631" y="13500"/>
                  </a:lnTo>
                  <a:lnTo>
                    <a:pt x="11631" y="8775"/>
                  </a:lnTo>
                  <a:close/>
                  <a:moveTo>
                    <a:pt x="3323" y="10800"/>
                  </a:moveTo>
                  <a:lnTo>
                    <a:pt x="5815" y="10800"/>
                  </a:lnTo>
                  <a:cubicBezTo>
                    <a:pt x="5815" y="10800"/>
                    <a:pt x="5815" y="13500"/>
                    <a:pt x="5815" y="13500"/>
                  </a:cubicBezTo>
                  <a:lnTo>
                    <a:pt x="3323" y="13500"/>
                  </a:lnTo>
                  <a:lnTo>
                    <a:pt x="3323" y="10800"/>
                  </a:lnTo>
                  <a:close/>
                  <a:moveTo>
                    <a:pt x="3323" y="16200"/>
                  </a:moveTo>
                  <a:lnTo>
                    <a:pt x="1662" y="21600"/>
                  </a:lnTo>
                  <a:lnTo>
                    <a:pt x="3323" y="21600"/>
                  </a:lnTo>
                  <a:lnTo>
                    <a:pt x="4985" y="16200"/>
                  </a:lnTo>
                  <a:cubicBezTo>
                    <a:pt x="4985" y="16200"/>
                    <a:pt x="3323" y="16200"/>
                    <a:pt x="3323" y="16200"/>
                  </a:cubicBezTo>
                  <a:close/>
                  <a:moveTo>
                    <a:pt x="9969" y="16200"/>
                  </a:moveTo>
                  <a:lnTo>
                    <a:pt x="9969" y="21600"/>
                  </a:lnTo>
                  <a:lnTo>
                    <a:pt x="11615" y="21600"/>
                  </a:lnTo>
                  <a:cubicBezTo>
                    <a:pt x="11615" y="21600"/>
                    <a:pt x="11631" y="16200"/>
                    <a:pt x="11631" y="16200"/>
                  </a:cubicBezTo>
                  <a:lnTo>
                    <a:pt x="9969" y="16200"/>
                  </a:lnTo>
                  <a:close/>
                  <a:moveTo>
                    <a:pt x="16615" y="16200"/>
                  </a:moveTo>
                  <a:lnTo>
                    <a:pt x="18277" y="21600"/>
                  </a:lnTo>
                  <a:lnTo>
                    <a:pt x="19938" y="21600"/>
                  </a:lnTo>
                  <a:cubicBezTo>
                    <a:pt x="19938" y="21600"/>
                    <a:pt x="18277" y="16200"/>
                    <a:pt x="18277" y="16200"/>
                  </a:cubicBezTo>
                  <a:lnTo>
                    <a:pt x="16615" y="162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3" name="Shape 34220">
              <a:extLst>
                <a:ext uri="{FF2B5EF4-FFF2-40B4-BE49-F238E27FC236}">
                  <a16:creationId xmlns:a16="http://schemas.microsoft.com/office/drawing/2014/main" id="{C67FEBAC-4FDA-4888-A68E-EE1855533665}"/>
                </a:ext>
              </a:extLst>
            </p:cNvPr>
            <p:cNvSpPr/>
            <p:nvPr/>
          </p:nvSpPr>
          <p:spPr>
            <a:xfrm>
              <a:off x="12966575" y="6806559"/>
              <a:ext cx="589416" cy="778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4" name="Shape 34221">
              <a:extLst>
                <a:ext uri="{FF2B5EF4-FFF2-40B4-BE49-F238E27FC236}">
                  <a16:creationId xmlns:a16="http://schemas.microsoft.com/office/drawing/2014/main" id="{3E7BA551-B06D-4FE4-97F8-7688D8648651}"/>
                </a:ext>
              </a:extLst>
            </p:cNvPr>
            <p:cNvSpPr/>
            <p:nvPr/>
          </p:nvSpPr>
          <p:spPr>
            <a:xfrm>
              <a:off x="11922329" y="9268053"/>
              <a:ext cx="476450" cy="6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5" name="Shape 34222">
              <a:extLst>
                <a:ext uri="{FF2B5EF4-FFF2-40B4-BE49-F238E27FC236}">
                  <a16:creationId xmlns:a16="http://schemas.microsoft.com/office/drawing/2014/main" id="{D6D14C92-6CC7-48B7-A0E5-5801F672CBDF}"/>
                </a:ext>
              </a:extLst>
            </p:cNvPr>
            <p:cNvSpPr/>
            <p:nvPr/>
          </p:nvSpPr>
          <p:spPr>
            <a:xfrm>
              <a:off x="11993787" y="10946019"/>
              <a:ext cx="447534" cy="447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317" extrusionOk="0">
                  <a:moveTo>
                    <a:pt x="7792" y="27"/>
                  </a:moveTo>
                  <a:cubicBezTo>
                    <a:pt x="7372" y="141"/>
                    <a:pt x="7122" y="573"/>
                    <a:pt x="7234" y="993"/>
                  </a:cubicBezTo>
                  <a:lnTo>
                    <a:pt x="7836" y="3244"/>
                  </a:lnTo>
                  <a:cubicBezTo>
                    <a:pt x="8357" y="3022"/>
                    <a:pt x="8864" y="2878"/>
                    <a:pt x="9346" y="2789"/>
                  </a:cubicBezTo>
                  <a:lnTo>
                    <a:pt x="8758" y="585"/>
                  </a:lnTo>
                  <a:cubicBezTo>
                    <a:pt x="8645" y="164"/>
                    <a:pt x="8213" y="-85"/>
                    <a:pt x="7792" y="27"/>
                  </a:cubicBezTo>
                  <a:close/>
                  <a:moveTo>
                    <a:pt x="13442" y="41"/>
                  </a:moveTo>
                  <a:cubicBezTo>
                    <a:pt x="13020" y="-71"/>
                    <a:pt x="12588" y="179"/>
                    <a:pt x="12475" y="600"/>
                  </a:cubicBezTo>
                  <a:lnTo>
                    <a:pt x="11888" y="2784"/>
                  </a:lnTo>
                  <a:cubicBezTo>
                    <a:pt x="12441" y="2878"/>
                    <a:pt x="12949" y="3027"/>
                    <a:pt x="13408" y="3203"/>
                  </a:cubicBezTo>
                  <a:lnTo>
                    <a:pt x="13998" y="1007"/>
                  </a:lnTo>
                  <a:cubicBezTo>
                    <a:pt x="14110" y="585"/>
                    <a:pt x="13862" y="154"/>
                    <a:pt x="13442" y="41"/>
                  </a:cubicBezTo>
                  <a:close/>
                  <a:moveTo>
                    <a:pt x="585" y="12411"/>
                  </a:moveTo>
                  <a:cubicBezTo>
                    <a:pt x="164" y="12524"/>
                    <a:pt x="-86" y="12956"/>
                    <a:pt x="27" y="13377"/>
                  </a:cubicBezTo>
                  <a:cubicBezTo>
                    <a:pt x="139" y="13798"/>
                    <a:pt x="571" y="14047"/>
                    <a:pt x="992" y="13934"/>
                  </a:cubicBezTo>
                  <a:lnTo>
                    <a:pt x="3181" y="13347"/>
                  </a:lnTo>
                  <a:cubicBezTo>
                    <a:pt x="3009" y="12885"/>
                    <a:pt x="2865" y="12376"/>
                    <a:pt x="2775" y="11823"/>
                  </a:cubicBezTo>
                  <a:cubicBezTo>
                    <a:pt x="2775" y="11823"/>
                    <a:pt x="585" y="12411"/>
                    <a:pt x="585" y="12411"/>
                  </a:cubicBezTo>
                  <a:close/>
                  <a:moveTo>
                    <a:pt x="1013" y="7169"/>
                  </a:moveTo>
                  <a:cubicBezTo>
                    <a:pt x="592" y="7056"/>
                    <a:pt x="160" y="7306"/>
                    <a:pt x="47" y="7727"/>
                  </a:cubicBezTo>
                  <a:cubicBezTo>
                    <a:pt x="-66" y="8148"/>
                    <a:pt x="184" y="8580"/>
                    <a:pt x="604" y="8692"/>
                  </a:cubicBezTo>
                  <a:lnTo>
                    <a:pt x="2805" y="9281"/>
                  </a:lnTo>
                  <a:cubicBezTo>
                    <a:pt x="2896" y="8799"/>
                    <a:pt x="3046" y="8293"/>
                    <a:pt x="3273" y="7773"/>
                  </a:cubicBezTo>
                  <a:cubicBezTo>
                    <a:pt x="3273" y="7773"/>
                    <a:pt x="1013" y="7169"/>
                    <a:pt x="1013" y="7169"/>
                  </a:cubicBezTo>
                  <a:close/>
                  <a:moveTo>
                    <a:pt x="2889" y="2841"/>
                  </a:moveTo>
                  <a:cubicBezTo>
                    <a:pt x="2581" y="3148"/>
                    <a:pt x="2580" y="3648"/>
                    <a:pt x="2888" y="3956"/>
                  </a:cubicBezTo>
                  <a:lnTo>
                    <a:pt x="4607" y="5675"/>
                  </a:lnTo>
                  <a:cubicBezTo>
                    <a:pt x="4732" y="5529"/>
                    <a:pt x="5572" y="4695"/>
                    <a:pt x="5727" y="4563"/>
                  </a:cubicBezTo>
                  <a:lnTo>
                    <a:pt x="4004" y="2840"/>
                  </a:lnTo>
                  <a:cubicBezTo>
                    <a:pt x="3696" y="2532"/>
                    <a:pt x="3197" y="2533"/>
                    <a:pt x="2889" y="2841"/>
                  </a:cubicBezTo>
                  <a:close/>
                  <a:moveTo>
                    <a:pt x="15285" y="5439"/>
                  </a:moveTo>
                  <a:cubicBezTo>
                    <a:pt x="13524" y="3930"/>
                    <a:pt x="9472" y="2164"/>
                    <a:pt x="5822" y="5814"/>
                  </a:cubicBezTo>
                  <a:cubicBezTo>
                    <a:pt x="5821" y="5815"/>
                    <a:pt x="5821" y="5815"/>
                    <a:pt x="5821" y="5816"/>
                  </a:cubicBezTo>
                  <a:cubicBezTo>
                    <a:pt x="5820" y="5816"/>
                    <a:pt x="5819" y="5817"/>
                    <a:pt x="5819" y="5817"/>
                  </a:cubicBezTo>
                  <a:cubicBezTo>
                    <a:pt x="5819" y="5818"/>
                    <a:pt x="5818" y="5818"/>
                    <a:pt x="5818" y="5819"/>
                  </a:cubicBezTo>
                  <a:cubicBezTo>
                    <a:pt x="5817" y="5819"/>
                    <a:pt x="5817" y="5820"/>
                    <a:pt x="5816" y="5820"/>
                  </a:cubicBezTo>
                  <a:cubicBezTo>
                    <a:pt x="2166" y="9471"/>
                    <a:pt x="3932" y="13524"/>
                    <a:pt x="5440" y="15285"/>
                  </a:cubicBezTo>
                  <a:cubicBezTo>
                    <a:pt x="6807" y="16868"/>
                    <a:pt x="9202" y="17222"/>
                    <a:pt x="9535" y="17322"/>
                  </a:cubicBezTo>
                  <a:cubicBezTo>
                    <a:pt x="10076" y="17484"/>
                    <a:pt x="12612" y="17632"/>
                    <a:pt x="13467" y="18402"/>
                  </a:cubicBezTo>
                  <a:cubicBezTo>
                    <a:pt x="14644" y="19461"/>
                    <a:pt x="14810" y="19354"/>
                    <a:pt x="15487" y="18942"/>
                  </a:cubicBezTo>
                  <a:cubicBezTo>
                    <a:pt x="16178" y="18522"/>
                    <a:pt x="18522" y="16178"/>
                    <a:pt x="18942" y="15487"/>
                  </a:cubicBezTo>
                  <a:cubicBezTo>
                    <a:pt x="19354" y="14810"/>
                    <a:pt x="19461" y="14644"/>
                    <a:pt x="18401" y="13467"/>
                  </a:cubicBezTo>
                  <a:cubicBezTo>
                    <a:pt x="17632" y="12612"/>
                    <a:pt x="17484" y="10075"/>
                    <a:pt x="17321" y="9534"/>
                  </a:cubicBezTo>
                  <a:cubicBezTo>
                    <a:pt x="17222" y="9201"/>
                    <a:pt x="16868" y="6805"/>
                    <a:pt x="15285" y="5439"/>
                  </a:cubicBezTo>
                  <a:close/>
                  <a:moveTo>
                    <a:pt x="20706" y="16780"/>
                  </a:moveTo>
                  <a:cubicBezTo>
                    <a:pt x="20530" y="16603"/>
                    <a:pt x="20243" y="16603"/>
                    <a:pt x="20066" y="16780"/>
                  </a:cubicBezTo>
                  <a:lnTo>
                    <a:pt x="16780" y="20067"/>
                  </a:lnTo>
                  <a:cubicBezTo>
                    <a:pt x="16603" y="20244"/>
                    <a:pt x="16603" y="20531"/>
                    <a:pt x="16780" y="20707"/>
                  </a:cubicBezTo>
                  <a:lnTo>
                    <a:pt x="16780" y="20707"/>
                  </a:lnTo>
                  <a:cubicBezTo>
                    <a:pt x="16956" y="20884"/>
                    <a:pt x="17243" y="20884"/>
                    <a:pt x="17419" y="20707"/>
                  </a:cubicBezTo>
                  <a:lnTo>
                    <a:pt x="20706" y="17420"/>
                  </a:lnTo>
                  <a:cubicBezTo>
                    <a:pt x="20883" y="17243"/>
                    <a:pt x="20883" y="16956"/>
                    <a:pt x="20706" y="16780"/>
                  </a:cubicBezTo>
                  <a:cubicBezTo>
                    <a:pt x="20706" y="16780"/>
                    <a:pt x="20706" y="16780"/>
                    <a:pt x="20706" y="16780"/>
                  </a:cubicBezTo>
                  <a:close/>
                  <a:moveTo>
                    <a:pt x="19833" y="15906"/>
                  </a:moveTo>
                  <a:cubicBezTo>
                    <a:pt x="19656" y="15729"/>
                    <a:pt x="19370" y="15730"/>
                    <a:pt x="19193" y="15906"/>
                  </a:cubicBezTo>
                  <a:lnTo>
                    <a:pt x="15906" y="19194"/>
                  </a:lnTo>
                  <a:cubicBezTo>
                    <a:pt x="15729" y="19370"/>
                    <a:pt x="15729" y="19657"/>
                    <a:pt x="15906" y="19833"/>
                  </a:cubicBezTo>
                  <a:lnTo>
                    <a:pt x="15906" y="19833"/>
                  </a:lnTo>
                  <a:cubicBezTo>
                    <a:pt x="16082" y="20010"/>
                    <a:pt x="16369" y="20010"/>
                    <a:pt x="16546" y="19833"/>
                  </a:cubicBezTo>
                  <a:lnTo>
                    <a:pt x="19833" y="16546"/>
                  </a:lnTo>
                  <a:cubicBezTo>
                    <a:pt x="20009" y="16369"/>
                    <a:pt x="20009" y="16083"/>
                    <a:pt x="19833" y="15906"/>
                  </a:cubicBezTo>
                  <a:cubicBezTo>
                    <a:pt x="19833" y="15906"/>
                    <a:pt x="19833" y="15906"/>
                    <a:pt x="19833" y="15906"/>
                  </a:cubicBezTo>
                  <a:close/>
                  <a:moveTo>
                    <a:pt x="17867" y="20727"/>
                  </a:moveTo>
                  <a:lnTo>
                    <a:pt x="20726" y="17867"/>
                  </a:lnTo>
                  <a:cubicBezTo>
                    <a:pt x="21514" y="18656"/>
                    <a:pt x="21513" y="19935"/>
                    <a:pt x="20724" y="20724"/>
                  </a:cubicBezTo>
                  <a:cubicBezTo>
                    <a:pt x="19934" y="21514"/>
                    <a:pt x="18655" y="21515"/>
                    <a:pt x="17867" y="207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6" name="Shape 34223">
              <a:extLst>
                <a:ext uri="{FF2B5EF4-FFF2-40B4-BE49-F238E27FC236}">
                  <a16:creationId xmlns:a16="http://schemas.microsoft.com/office/drawing/2014/main" id="{1A04EC51-D36E-4884-9F09-10AC368049F1}"/>
                </a:ext>
              </a:extLst>
            </p:cNvPr>
            <p:cNvSpPr/>
            <p:nvPr/>
          </p:nvSpPr>
          <p:spPr>
            <a:xfrm>
              <a:off x="11828592" y="12064076"/>
              <a:ext cx="446404" cy="4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7" name="Shape 34224">
              <a:extLst>
                <a:ext uri="{FF2B5EF4-FFF2-40B4-BE49-F238E27FC236}">
                  <a16:creationId xmlns:a16="http://schemas.microsoft.com/office/drawing/2014/main" id="{1FF48417-26E8-4025-81A5-3900579BFBBB}"/>
                </a:ext>
              </a:extLst>
            </p:cNvPr>
            <p:cNvSpPr/>
            <p:nvPr/>
          </p:nvSpPr>
          <p:spPr>
            <a:xfrm>
              <a:off x="11467012" y="10972393"/>
              <a:ext cx="358632" cy="69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532" extrusionOk="0">
                  <a:moveTo>
                    <a:pt x="17698" y="0"/>
                  </a:moveTo>
                  <a:lnTo>
                    <a:pt x="16138" y="1685"/>
                  </a:lnTo>
                  <a:cubicBezTo>
                    <a:pt x="16052" y="1663"/>
                    <a:pt x="15626" y="1553"/>
                    <a:pt x="15626" y="1553"/>
                  </a:cubicBezTo>
                  <a:lnTo>
                    <a:pt x="14403" y="2878"/>
                  </a:lnTo>
                  <a:lnTo>
                    <a:pt x="14914" y="3010"/>
                  </a:lnTo>
                  <a:lnTo>
                    <a:pt x="14546" y="3408"/>
                  </a:lnTo>
                  <a:lnTo>
                    <a:pt x="2184" y="16751"/>
                  </a:lnTo>
                  <a:cubicBezTo>
                    <a:pt x="1744" y="17225"/>
                    <a:pt x="202" y="19746"/>
                    <a:pt x="516" y="20547"/>
                  </a:cubicBezTo>
                  <a:cubicBezTo>
                    <a:pt x="560" y="20662"/>
                    <a:pt x="644" y="20742"/>
                    <a:pt x="773" y="20775"/>
                  </a:cubicBezTo>
                  <a:cubicBezTo>
                    <a:pt x="1807" y="21040"/>
                    <a:pt x="5426" y="18252"/>
                    <a:pt x="5928" y="17710"/>
                  </a:cubicBezTo>
                  <a:lnTo>
                    <a:pt x="18283" y="4367"/>
                  </a:lnTo>
                  <a:lnTo>
                    <a:pt x="18652" y="3969"/>
                  </a:lnTo>
                  <a:lnTo>
                    <a:pt x="19186" y="4106"/>
                  </a:lnTo>
                  <a:lnTo>
                    <a:pt x="14380" y="9291"/>
                  </a:lnTo>
                  <a:lnTo>
                    <a:pt x="15147" y="9488"/>
                  </a:lnTo>
                  <a:lnTo>
                    <a:pt x="21176" y="2979"/>
                  </a:lnTo>
                  <a:cubicBezTo>
                    <a:pt x="21176" y="2979"/>
                    <a:pt x="20341" y="2767"/>
                    <a:pt x="19876" y="2647"/>
                  </a:cubicBezTo>
                  <a:lnTo>
                    <a:pt x="21436" y="963"/>
                  </a:lnTo>
                  <a:cubicBezTo>
                    <a:pt x="21436" y="963"/>
                    <a:pt x="17698" y="0"/>
                    <a:pt x="17698" y="0"/>
                  </a:cubicBezTo>
                  <a:close/>
                  <a:moveTo>
                    <a:pt x="516" y="20547"/>
                  </a:moveTo>
                  <a:cubicBezTo>
                    <a:pt x="504" y="20509"/>
                    <a:pt x="483" y="20481"/>
                    <a:pt x="479" y="20436"/>
                  </a:cubicBezTo>
                  <a:lnTo>
                    <a:pt x="223" y="20708"/>
                  </a:lnTo>
                  <a:cubicBezTo>
                    <a:pt x="120" y="20820"/>
                    <a:pt x="-164" y="21449"/>
                    <a:pt x="129" y="21525"/>
                  </a:cubicBezTo>
                  <a:cubicBezTo>
                    <a:pt x="423" y="21600"/>
                    <a:pt x="1188" y="21095"/>
                    <a:pt x="1291" y="20984"/>
                  </a:cubicBezTo>
                  <a:lnTo>
                    <a:pt x="1546" y="20707"/>
                  </a:lnTo>
                  <a:cubicBezTo>
                    <a:pt x="1228" y="20825"/>
                    <a:pt x="959" y="20878"/>
                    <a:pt x="774" y="20830"/>
                  </a:cubicBezTo>
                  <a:cubicBezTo>
                    <a:pt x="630" y="20793"/>
                    <a:pt x="555" y="20685"/>
                    <a:pt x="516" y="20547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8" name="Shape 34225">
              <a:extLst>
                <a:ext uri="{FF2B5EF4-FFF2-40B4-BE49-F238E27FC236}">
                  <a16:creationId xmlns:a16="http://schemas.microsoft.com/office/drawing/2014/main" id="{2F2CADE7-1EB8-4540-8168-345A18DC2482}"/>
                </a:ext>
              </a:extLst>
            </p:cNvPr>
            <p:cNvSpPr/>
            <p:nvPr/>
          </p:nvSpPr>
          <p:spPr>
            <a:xfrm>
              <a:off x="12788908" y="11202698"/>
              <a:ext cx="425116" cy="11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9" name="Shape 34226">
              <a:extLst>
                <a:ext uri="{FF2B5EF4-FFF2-40B4-BE49-F238E27FC236}">
                  <a16:creationId xmlns:a16="http://schemas.microsoft.com/office/drawing/2014/main" id="{2626E289-3644-4D89-A632-9A06B07D991F}"/>
                </a:ext>
              </a:extLst>
            </p:cNvPr>
            <p:cNvSpPr/>
            <p:nvPr/>
          </p:nvSpPr>
          <p:spPr>
            <a:xfrm>
              <a:off x="12691600" y="7661988"/>
              <a:ext cx="463732" cy="54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0" name="Shape 34227">
              <a:extLst>
                <a:ext uri="{FF2B5EF4-FFF2-40B4-BE49-F238E27FC236}">
                  <a16:creationId xmlns:a16="http://schemas.microsoft.com/office/drawing/2014/main" id="{DF3AE396-2033-4E23-B1B0-2CB074260361}"/>
                </a:ext>
              </a:extLst>
            </p:cNvPr>
            <p:cNvSpPr/>
            <p:nvPr/>
          </p:nvSpPr>
          <p:spPr>
            <a:xfrm>
              <a:off x="11861838" y="8796062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1" name="Shape 34228">
              <a:extLst>
                <a:ext uri="{FF2B5EF4-FFF2-40B4-BE49-F238E27FC236}">
                  <a16:creationId xmlns:a16="http://schemas.microsoft.com/office/drawing/2014/main" id="{C31D1EDA-4B16-4A91-88B3-5D0C5BEBD26F}"/>
                </a:ext>
              </a:extLst>
            </p:cNvPr>
            <p:cNvSpPr/>
            <p:nvPr/>
          </p:nvSpPr>
          <p:spPr>
            <a:xfrm>
              <a:off x="9057539" y="5652197"/>
              <a:ext cx="565072" cy="64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2" name="Shape 34229">
              <a:extLst>
                <a:ext uri="{FF2B5EF4-FFF2-40B4-BE49-F238E27FC236}">
                  <a16:creationId xmlns:a16="http://schemas.microsoft.com/office/drawing/2014/main" id="{69D257C2-090D-40ED-8AE6-C1A0794F3FF5}"/>
                </a:ext>
              </a:extLst>
            </p:cNvPr>
            <p:cNvSpPr/>
            <p:nvPr/>
          </p:nvSpPr>
          <p:spPr>
            <a:xfrm>
              <a:off x="14430703" y="5653180"/>
              <a:ext cx="678286" cy="60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3" name="Shape 34230">
              <a:extLst>
                <a:ext uri="{FF2B5EF4-FFF2-40B4-BE49-F238E27FC236}">
                  <a16:creationId xmlns:a16="http://schemas.microsoft.com/office/drawing/2014/main" id="{6668CDD0-0005-4AFC-9032-C6544BF09D80}"/>
                </a:ext>
              </a:extLst>
            </p:cNvPr>
            <p:cNvSpPr/>
            <p:nvPr/>
          </p:nvSpPr>
          <p:spPr>
            <a:xfrm>
              <a:off x="14217720" y="6775957"/>
              <a:ext cx="333440" cy="66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4" name="Shape 34231">
              <a:extLst>
                <a:ext uri="{FF2B5EF4-FFF2-40B4-BE49-F238E27FC236}">
                  <a16:creationId xmlns:a16="http://schemas.microsoft.com/office/drawing/2014/main" id="{B6EB95AD-2468-4AA4-9F51-2FC437664451}"/>
                </a:ext>
              </a:extLst>
            </p:cNvPr>
            <p:cNvSpPr/>
            <p:nvPr/>
          </p:nvSpPr>
          <p:spPr>
            <a:xfrm>
              <a:off x="12484545" y="3228311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5" name="Shape 34232">
              <a:extLst>
                <a:ext uri="{FF2B5EF4-FFF2-40B4-BE49-F238E27FC236}">
                  <a16:creationId xmlns:a16="http://schemas.microsoft.com/office/drawing/2014/main" id="{32DCAC3A-6B36-419D-9893-889513F0ACBF}"/>
                </a:ext>
              </a:extLst>
            </p:cNvPr>
            <p:cNvSpPr/>
            <p:nvPr/>
          </p:nvSpPr>
          <p:spPr>
            <a:xfrm>
              <a:off x="11791096" y="11232556"/>
              <a:ext cx="13046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6" name="Shape 34233">
              <a:extLst>
                <a:ext uri="{FF2B5EF4-FFF2-40B4-BE49-F238E27FC236}">
                  <a16:creationId xmlns:a16="http://schemas.microsoft.com/office/drawing/2014/main" id="{8236CA81-388B-4908-9685-8D6BC8E70187}"/>
                </a:ext>
              </a:extLst>
            </p:cNvPr>
            <p:cNvSpPr/>
            <p:nvPr/>
          </p:nvSpPr>
          <p:spPr>
            <a:xfrm>
              <a:off x="11084739" y="4570184"/>
              <a:ext cx="304442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7" name="Shape 34234">
              <a:extLst>
                <a:ext uri="{FF2B5EF4-FFF2-40B4-BE49-F238E27FC236}">
                  <a16:creationId xmlns:a16="http://schemas.microsoft.com/office/drawing/2014/main" id="{3B7B2670-A08D-473B-89ED-542ECD1FDE80}"/>
                </a:ext>
              </a:extLst>
            </p:cNvPr>
            <p:cNvSpPr/>
            <p:nvPr/>
          </p:nvSpPr>
          <p:spPr>
            <a:xfrm>
              <a:off x="10710090" y="4258444"/>
              <a:ext cx="419088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8" name="Shape 34235">
              <a:extLst>
                <a:ext uri="{FF2B5EF4-FFF2-40B4-BE49-F238E27FC236}">
                  <a16:creationId xmlns:a16="http://schemas.microsoft.com/office/drawing/2014/main" id="{4BA7DD70-A383-473C-B36B-451C12022852}"/>
                </a:ext>
              </a:extLst>
            </p:cNvPr>
            <p:cNvSpPr/>
            <p:nvPr/>
          </p:nvSpPr>
          <p:spPr>
            <a:xfrm>
              <a:off x="9790862" y="4363012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9" name="Shape 34236">
              <a:extLst>
                <a:ext uri="{FF2B5EF4-FFF2-40B4-BE49-F238E27FC236}">
                  <a16:creationId xmlns:a16="http://schemas.microsoft.com/office/drawing/2014/main" id="{7CE95E47-26B3-4B10-A35F-2AB76B3F6165}"/>
                </a:ext>
              </a:extLst>
            </p:cNvPr>
            <p:cNvSpPr/>
            <p:nvPr/>
          </p:nvSpPr>
          <p:spPr>
            <a:xfrm>
              <a:off x="12210021" y="7840631"/>
              <a:ext cx="346528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0" name="Shape 34237">
              <a:extLst>
                <a:ext uri="{FF2B5EF4-FFF2-40B4-BE49-F238E27FC236}">
                  <a16:creationId xmlns:a16="http://schemas.microsoft.com/office/drawing/2014/main" id="{8FAEF7C4-DB17-4314-80F9-A102E8ED182B}"/>
                </a:ext>
              </a:extLst>
            </p:cNvPr>
            <p:cNvSpPr/>
            <p:nvPr/>
          </p:nvSpPr>
          <p:spPr>
            <a:xfrm>
              <a:off x="11135547" y="921478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1" name="Shape 34238">
              <a:extLst>
                <a:ext uri="{FF2B5EF4-FFF2-40B4-BE49-F238E27FC236}">
                  <a16:creationId xmlns:a16="http://schemas.microsoft.com/office/drawing/2014/main" id="{640C6937-306B-447A-8DC0-B0D6D74C2BCA}"/>
                </a:ext>
              </a:extLst>
            </p:cNvPr>
            <p:cNvSpPr/>
            <p:nvPr/>
          </p:nvSpPr>
          <p:spPr>
            <a:xfrm>
              <a:off x="13971261" y="772106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2" name="Shape 34239">
              <a:extLst>
                <a:ext uri="{FF2B5EF4-FFF2-40B4-BE49-F238E27FC236}">
                  <a16:creationId xmlns:a16="http://schemas.microsoft.com/office/drawing/2014/main" id="{99CEE80A-7F00-4293-BBB6-2810E8A7DE26}"/>
                </a:ext>
              </a:extLst>
            </p:cNvPr>
            <p:cNvSpPr/>
            <p:nvPr/>
          </p:nvSpPr>
          <p:spPr>
            <a:xfrm>
              <a:off x="13086555" y="5888971"/>
              <a:ext cx="304442" cy="392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3" name="Shape 34240">
              <a:extLst>
                <a:ext uri="{FF2B5EF4-FFF2-40B4-BE49-F238E27FC236}">
                  <a16:creationId xmlns:a16="http://schemas.microsoft.com/office/drawing/2014/main" id="{47BBC576-B99B-4896-9350-9E0032E033DB}"/>
                </a:ext>
              </a:extLst>
            </p:cNvPr>
            <p:cNvSpPr/>
            <p:nvPr/>
          </p:nvSpPr>
          <p:spPr>
            <a:xfrm>
              <a:off x="12718729" y="8725244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4" name="Shape 34241">
              <a:extLst>
                <a:ext uri="{FF2B5EF4-FFF2-40B4-BE49-F238E27FC236}">
                  <a16:creationId xmlns:a16="http://schemas.microsoft.com/office/drawing/2014/main" id="{C6DE098D-CE5C-4690-81B9-34D96F672299}"/>
                </a:ext>
              </a:extLst>
            </p:cNvPr>
            <p:cNvSpPr/>
            <p:nvPr/>
          </p:nvSpPr>
          <p:spPr>
            <a:xfrm>
              <a:off x="11342014" y="7513407"/>
              <a:ext cx="272208" cy="366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11" h="20821" extrusionOk="0">
                  <a:moveTo>
                    <a:pt x="12499" y="13303"/>
                  </a:moveTo>
                  <a:cubicBezTo>
                    <a:pt x="13474" y="15282"/>
                    <a:pt x="14406" y="17194"/>
                    <a:pt x="14461" y="19063"/>
                  </a:cubicBezTo>
                  <a:cubicBezTo>
                    <a:pt x="14479" y="19633"/>
                    <a:pt x="14582" y="20311"/>
                    <a:pt x="14210" y="20821"/>
                  </a:cubicBezTo>
                  <a:cubicBezTo>
                    <a:pt x="10525" y="17927"/>
                    <a:pt x="9838" y="14212"/>
                    <a:pt x="8115" y="11051"/>
                  </a:cubicBezTo>
                  <a:cubicBezTo>
                    <a:pt x="6053" y="10122"/>
                    <a:pt x="4570" y="7480"/>
                    <a:pt x="6196" y="6231"/>
                  </a:cubicBezTo>
                  <a:cubicBezTo>
                    <a:pt x="8553" y="4419"/>
                    <a:pt x="10035" y="7345"/>
                    <a:pt x="10598" y="8773"/>
                  </a:cubicBezTo>
                  <a:cubicBezTo>
                    <a:pt x="10906" y="9555"/>
                    <a:pt x="10989" y="10416"/>
                    <a:pt x="11671" y="11094"/>
                  </a:cubicBezTo>
                  <a:cubicBezTo>
                    <a:pt x="13112" y="12518"/>
                    <a:pt x="15601" y="11340"/>
                    <a:pt x="16169" y="9915"/>
                  </a:cubicBezTo>
                  <a:cubicBezTo>
                    <a:pt x="16983" y="7871"/>
                    <a:pt x="15656" y="5461"/>
                    <a:pt x="13976" y="3794"/>
                  </a:cubicBezTo>
                  <a:cubicBezTo>
                    <a:pt x="11415" y="1258"/>
                    <a:pt x="6416" y="1969"/>
                    <a:pt x="3932" y="4842"/>
                  </a:cubicBezTo>
                  <a:cubicBezTo>
                    <a:pt x="2652" y="6323"/>
                    <a:pt x="2147" y="8434"/>
                    <a:pt x="3515" y="10418"/>
                  </a:cubicBezTo>
                  <a:cubicBezTo>
                    <a:pt x="4236" y="11464"/>
                    <a:pt x="5170" y="12108"/>
                    <a:pt x="6136" y="12400"/>
                  </a:cubicBezTo>
                  <a:cubicBezTo>
                    <a:pt x="6282" y="12445"/>
                    <a:pt x="6666" y="12458"/>
                    <a:pt x="6895" y="12661"/>
                  </a:cubicBezTo>
                  <a:cubicBezTo>
                    <a:pt x="7361" y="13074"/>
                    <a:pt x="7439" y="13745"/>
                    <a:pt x="7417" y="14249"/>
                  </a:cubicBezTo>
                  <a:cubicBezTo>
                    <a:pt x="5334" y="14777"/>
                    <a:pt x="3377" y="14023"/>
                    <a:pt x="1894" y="12542"/>
                  </a:cubicBezTo>
                  <a:cubicBezTo>
                    <a:pt x="-1478" y="9170"/>
                    <a:pt x="-94" y="4513"/>
                    <a:pt x="4049" y="1953"/>
                  </a:cubicBezTo>
                  <a:cubicBezTo>
                    <a:pt x="8469" y="-779"/>
                    <a:pt x="13971" y="-622"/>
                    <a:pt x="16956" y="2276"/>
                  </a:cubicBezTo>
                  <a:cubicBezTo>
                    <a:pt x="19176" y="4430"/>
                    <a:pt x="20122" y="7281"/>
                    <a:pt x="19546" y="9389"/>
                  </a:cubicBezTo>
                  <a:cubicBezTo>
                    <a:pt x="19112" y="10973"/>
                    <a:pt x="17273" y="13272"/>
                    <a:pt x="14367" y="13517"/>
                  </a:cubicBezTo>
                  <a:cubicBezTo>
                    <a:pt x="13720" y="13571"/>
                    <a:pt x="13303" y="13441"/>
                    <a:pt x="12499" y="13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5" name="Shape 34242">
              <a:extLst>
                <a:ext uri="{FF2B5EF4-FFF2-40B4-BE49-F238E27FC236}">
                  <a16:creationId xmlns:a16="http://schemas.microsoft.com/office/drawing/2014/main" id="{7217F174-CAAA-43B8-8A42-D40B135E6E3C}"/>
                </a:ext>
              </a:extLst>
            </p:cNvPr>
            <p:cNvSpPr/>
            <p:nvPr/>
          </p:nvSpPr>
          <p:spPr>
            <a:xfrm>
              <a:off x="14349166" y="3565132"/>
              <a:ext cx="272152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6" name="Shape 34243">
              <a:extLst>
                <a:ext uri="{FF2B5EF4-FFF2-40B4-BE49-F238E27FC236}">
                  <a16:creationId xmlns:a16="http://schemas.microsoft.com/office/drawing/2014/main" id="{89A5EEC1-EBD9-4A73-B7EC-FF284BAE4498}"/>
                </a:ext>
              </a:extLst>
            </p:cNvPr>
            <p:cNvSpPr/>
            <p:nvPr/>
          </p:nvSpPr>
          <p:spPr>
            <a:xfrm>
              <a:off x="10163109" y="5879849"/>
              <a:ext cx="373972" cy="350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7" name="Shape 34244">
              <a:extLst>
                <a:ext uri="{FF2B5EF4-FFF2-40B4-BE49-F238E27FC236}">
                  <a16:creationId xmlns:a16="http://schemas.microsoft.com/office/drawing/2014/main" id="{54A5EF33-7E56-41CA-B616-7F1B31064651}"/>
                </a:ext>
              </a:extLst>
            </p:cNvPr>
            <p:cNvSpPr/>
            <p:nvPr/>
          </p:nvSpPr>
          <p:spPr>
            <a:xfrm>
              <a:off x="14467934" y="6264695"/>
              <a:ext cx="347528" cy="325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8" name="Shape 34245">
              <a:extLst>
                <a:ext uri="{FF2B5EF4-FFF2-40B4-BE49-F238E27FC236}">
                  <a16:creationId xmlns:a16="http://schemas.microsoft.com/office/drawing/2014/main" id="{75A900EB-E2B9-4767-958A-ABFAC1BE4FFB}"/>
                </a:ext>
              </a:extLst>
            </p:cNvPr>
            <p:cNvSpPr/>
            <p:nvPr/>
          </p:nvSpPr>
          <p:spPr>
            <a:xfrm>
              <a:off x="12353445" y="9604415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9" name="Shape 34246">
              <a:extLst>
                <a:ext uri="{FF2B5EF4-FFF2-40B4-BE49-F238E27FC236}">
                  <a16:creationId xmlns:a16="http://schemas.microsoft.com/office/drawing/2014/main" id="{D0CA7D6C-1605-43BC-A5D7-30245A4E3E15}"/>
                </a:ext>
              </a:extLst>
            </p:cNvPr>
            <p:cNvSpPr/>
            <p:nvPr/>
          </p:nvSpPr>
          <p:spPr>
            <a:xfrm>
              <a:off x="11817349" y="7826120"/>
              <a:ext cx="266022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0" name="Shape 34247">
              <a:extLst>
                <a:ext uri="{FF2B5EF4-FFF2-40B4-BE49-F238E27FC236}">
                  <a16:creationId xmlns:a16="http://schemas.microsoft.com/office/drawing/2014/main" id="{F97FF99F-4D44-4A9A-9493-DBA96D29F4A6}"/>
                </a:ext>
              </a:extLst>
            </p:cNvPr>
            <p:cNvSpPr/>
            <p:nvPr/>
          </p:nvSpPr>
          <p:spPr>
            <a:xfrm>
              <a:off x="10728159" y="11858687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1" name="Shape 34248">
              <a:extLst>
                <a:ext uri="{FF2B5EF4-FFF2-40B4-BE49-F238E27FC236}">
                  <a16:creationId xmlns:a16="http://schemas.microsoft.com/office/drawing/2014/main" id="{921D2600-46C5-4D4C-875E-7FAC4712F6B9}"/>
                </a:ext>
              </a:extLst>
            </p:cNvPr>
            <p:cNvSpPr/>
            <p:nvPr/>
          </p:nvSpPr>
          <p:spPr>
            <a:xfrm>
              <a:off x="11187068" y="11262359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2" name="Shape 34249">
              <a:extLst>
                <a:ext uri="{FF2B5EF4-FFF2-40B4-BE49-F238E27FC236}">
                  <a16:creationId xmlns:a16="http://schemas.microsoft.com/office/drawing/2014/main" id="{2E297742-8436-4B1D-83F9-B322E470EDB3}"/>
                </a:ext>
              </a:extLst>
            </p:cNvPr>
            <p:cNvSpPr/>
            <p:nvPr/>
          </p:nvSpPr>
          <p:spPr>
            <a:xfrm>
              <a:off x="11097651" y="11556529"/>
              <a:ext cx="363722" cy="48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3" name="Shape 34250">
              <a:extLst>
                <a:ext uri="{FF2B5EF4-FFF2-40B4-BE49-F238E27FC236}">
                  <a16:creationId xmlns:a16="http://schemas.microsoft.com/office/drawing/2014/main" id="{6A445B98-1EEC-41F4-B065-B41FB9F82629}"/>
                </a:ext>
              </a:extLst>
            </p:cNvPr>
            <p:cNvSpPr/>
            <p:nvPr/>
          </p:nvSpPr>
          <p:spPr>
            <a:xfrm>
              <a:off x="11475026" y="12061751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4" name="Shape 34251">
              <a:extLst>
                <a:ext uri="{FF2B5EF4-FFF2-40B4-BE49-F238E27FC236}">
                  <a16:creationId xmlns:a16="http://schemas.microsoft.com/office/drawing/2014/main" id="{D9B75CBB-A660-45E9-A6E9-E7F886743FB7}"/>
                </a:ext>
              </a:extLst>
            </p:cNvPr>
            <p:cNvSpPr/>
            <p:nvPr/>
          </p:nvSpPr>
          <p:spPr>
            <a:xfrm>
              <a:off x="11001064" y="12147982"/>
              <a:ext cx="24199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5" name="Shape 34252">
              <a:extLst>
                <a:ext uri="{FF2B5EF4-FFF2-40B4-BE49-F238E27FC236}">
                  <a16:creationId xmlns:a16="http://schemas.microsoft.com/office/drawing/2014/main" id="{EB3225E0-6AFE-461C-ABA8-9D4F5329F9F4}"/>
                </a:ext>
              </a:extLst>
            </p:cNvPr>
            <p:cNvSpPr/>
            <p:nvPr/>
          </p:nvSpPr>
          <p:spPr>
            <a:xfrm>
              <a:off x="11499317" y="12714275"/>
              <a:ext cx="353634" cy="2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6" name="Shape 34253">
              <a:extLst>
                <a:ext uri="{FF2B5EF4-FFF2-40B4-BE49-F238E27FC236}">
                  <a16:creationId xmlns:a16="http://schemas.microsoft.com/office/drawing/2014/main" id="{A48F55E1-9CD4-4666-931D-DFEE4D6DD513}"/>
                </a:ext>
              </a:extLst>
            </p:cNvPr>
            <p:cNvSpPr/>
            <p:nvPr/>
          </p:nvSpPr>
          <p:spPr>
            <a:xfrm rot="1920000">
              <a:off x="12259440" y="12552699"/>
              <a:ext cx="459460" cy="127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7" name="Shape 34254">
              <a:extLst>
                <a:ext uri="{FF2B5EF4-FFF2-40B4-BE49-F238E27FC236}">
                  <a16:creationId xmlns:a16="http://schemas.microsoft.com/office/drawing/2014/main" id="{9FF1B98D-EBFA-4074-9BEB-EC0303F621DF}"/>
                </a:ext>
              </a:extLst>
            </p:cNvPr>
            <p:cNvSpPr/>
            <p:nvPr/>
          </p:nvSpPr>
          <p:spPr>
            <a:xfrm>
              <a:off x="10340903" y="5125500"/>
              <a:ext cx="60945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8" name="Shape 34255">
              <a:extLst>
                <a:ext uri="{FF2B5EF4-FFF2-40B4-BE49-F238E27FC236}">
                  <a16:creationId xmlns:a16="http://schemas.microsoft.com/office/drawing/2014/main" id="{D773A29D-861D-43FE-8FE4-BBB5F5905674}"/>
                </a:ext>
              </a:extLst>
            </p:cNvPr>
            <p:cNvSpPr/>
            <p:nvPr/>
          </p:nvSpPr>
          <p:spPr>
            <a:xfrm>
              <a:off x="9854702" y="4803941"/>
              <a:ext cx="502982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9" name="Shape 34256">
              <a:extLst>
                <a:ext uri="{FF2B5EF4-FFF2-40B4-BE49-F238E27FC236}">
                  <a16:creationId xmlns:a16="http://schemas.microsoft.com/office/drawing/2014/main" id="{D76959AE-132F-4981-BD16-EE589C36875C}"/>
                </a:ext>
              </a:extLst>
            </p:cNvPr>
            <p:cNvSpPr/>
            <p:nvPr/>
          </p:nvSpPr>
          <p:spPr>
            <a:xfrm>
              <a:off x="10882778" y="5040627"/>
              <a:ext cx="347554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0" name="Shape 34257">
              <a:extLst>
                <a:ext uri="{FF2B5EF4-FFF2-40B4-BE49-F238E27FC236}">
                  <a16:creationId xmlns:a16="http://schemas.microsoft.com/office/drawing/2014/main" id="{1914A737-B8BC-436C-9A54-50BADCB330BF}"/>
                </a:ext>
              </a:extLst>
            </p:cNvPr>
            <p:cNvSpPr/>
            <p:nvPr/>
          </p:nvSpPr>
          <p:spPr>
            <a:xfrm>
              <a:off x="10466323" y="4715507"/>
              <a:ext cx="342888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1" name="Shape 34258">
              <a:extLst>
                <a:ext uri="{FF2B5EF4-FFF2-40B4-BE49-F238E27FC236}">
                  <a16:creationId xmlns:a16="http://schemas.microsoft.com/office/drawing/2014/main" id="{15904CCB-F416-4933-9199-2F070BEA3087}"/>
                </a:ext>
              </a:extLst>
            </p:cNvPr>
            <p:cNvSpPr/>
            <p:nvPr/>
          </p:nvSpPr>
          <p:spPr>
            <a:xfrm>
              <a:off x="13456598" y="7929263"/>
              <a:ext cx="368866" cy="329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2" name="Shape 34259">
              <a:extLst>
                <a:ext uri="{FF2B5EF4-FFF2-40B4-BE49-F238E27FC236}">
                  <a16:creationId xmlns:a16="http://schemas.microsoft.com/office/drawing/2014/main" id="{499C2926-2CC8-41B2-9F52-BC1725F5A17B}"/>
                </a:ext>
              </a:extLst>
            </p:cNvPr>
            <p:cNvSpPr/>
            <p:nvPr/>
          </p:nvSpPr>
          <p:spPr>
            <a:xfrm>
              <a:off x="12160172" y="6699066"/>
              <a:ext cx="39292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3" name="Shape 34260">
              <a:extLst>
                <a:ext uri="{FF2B5EF4-FFF2-40B4-BE49-F238E27FC236}">
                  <a16:creationId xmlns:a16="http://schemas.microsoft.com/office/drawing/2014/main" id="{AF681DAF-BC28-42F0-9D15-B39D1F3255CB}"/>
                </a:ext>
              </a:extLst>
            </p:cNvPr>
            <p:cNvSpPr/>
            <p:nvPr/>
          </p:nvSpPr>
          <p:spPr>
            <a:xfrm>
              <a:off x="10867845" y="10886425"/>
              <a:ext cx="279004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4" name="Shape 34261">
              <a:extLst>
                <a:ext uri="{FF2B5EF4-FFF2-40B4-BE49-F238E27FC236}">
                  <a16:creationId xmlns:a16="http://schemas.microsoft.com/office/drawing/2014/main" id="{0D4667A9-0E1F-4CF9-BF13-2339E272571F}"/>
                </a:ext>
              </a:extLst>
            </p:cNvPr>
            <p:cNvSpPr/>
            <p:nvPr/>
          </p:nvSpPr>
          <p:spPr>
            <a:xfrm>
              <a:off x="12725585" y="12289966"/>
              <a:ext cx="373054" cy="303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5" name="Shape 34262">
              <a:extLst>
                <a:ext uri="{FF2B5EF4-FFF2-40B4-BE49-F238E27FC236}">
                  <a16:creationId xmlns:a16="http://schemas.microsoft.com/office/drawing/2014/main" id="{A7D50D99-4E6F-46B6-8F2A-EE8715A11793}"/>
                </a:ext>
              </a:extLst>
            </p:cNvPr>
            <p:cNvSpPr/>
            <p:nvPr/>
          </p:nvSpPr>
          <p:spPr>
            <a:xfrm>
              <a:off x="13639147" y="5652275"/>
              <a:ext cx="728794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6" name="Shape 34263">
              <a:extLst>
                <a:ext uri="{FF2B5EF4-FFF2-40B4-BE49-F238E27FC236}">
                  <a16:creationId xmlns:a16="http://schemas.microsoft.com/office/drawing/2014/main" id="{CC6CBBC0-A0AD-4F61-A966-5DCAE30ADA62}"/>
                </a:ext>
              </a:extLst>
            </p:cNvPr>
            <p:cNvSpPr/>
            <p:nvPr/>
          </p:nvSpPr>
          <p:spPr>
            <a:xfrm>
              <a:off x="14075163" y="6302567"/>
              <a:ext cx="163854" cy="351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7" name="Shape 34264">
              <a:extLst>
                <a:ext uri="{FF2B5EF4-FFF2-40B4-BE49-F238E27FC236}">
                  <a16:creationId xmlns:a16="http://schemas.microsoft.com/office/drawing/2014/main" id="{108A8CEB-6669-4CA1-B5E8-CD388E3D8CB7}"/>
                </a:ext>
              </a:extLst>
            </p:cNvPr>
            <p:cNvSpPr/>
            <p:nvPr/>
          </p:nvSpPr>
          <p:spPr>
            <a:xfrm>
              <a:off x="11378351" y="9431234"/>
              <a:ext cx="527920" cy="39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8" name="Shape 34265">
              <a:extLst>
                <a:ext uri="{FF2B5EF4-FFF2-40B4-BE49-F238E27FC236}">
                  <a16:creationId xmlns:a16="http://schemas.microsoft.com/office/drawing/2014/main" id="{4050123F-E21A-418F-A53F-07F524E8194C}"/>
                </a:ext>
              </a:extLst>
            </p:cNvPr>
            <p:cNvSpPr/>
            <p:nvPr/>
          </p:nvSpPr>
          <p:spPr>
            <a:xfrm>
              <a:off x="13182794" y="4769147"/>
              <a:ext cx="316260" cy="23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225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674E6988-9F81-9C4F-A395-617E099076A1}" vid="{7BA8343F-A308-F34A-AE1C-33F4B935B6F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BA47EBC066B745A5CD7C315910EB78" ma:contentTypeVersion="3" ma:contentTypeDescription="Crée un document." ma:contentTypeScope="" ma:versionID="b311b5323907d863f9510970e841e24f">
  <xsd:schema xmlns:xsd="http://www.w3.org/2001/XMLSchema" xmlns:xs="http://www.w3.org/2001/XMLSchema" xmlns:p="http://schemas.microsoft.com/office/2006/metadata/properties" xmlns:ns2="abcda3d6-2d03-49e1-9293-8daf0cc773fd" targetNamespace="http://schemas.microsoft.com/office/2006/metadata/properties" ma:root="true" ma:fieldsID="c9731b60f146babbce85d7d615846029" ns2:_="">
    <xsd:import namespace="abcda3d6-2d03-49e1-9293-8daf0cc77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da3d6-2d03-49e1-9293-8daf0cc77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B63207-552A-43C7-A6E9-6CAC899751F7}">
  <ds:schemaRefs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5b446652-b7a6-491a-a629-08742e0ae113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A2ADFEA-C1A2-4051-91C2-D6C1E6A835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46E1FD-98B9-4C2A-874A-F5143F2B398F}"/>
</file>

<file path=docProps/app.xml><?xml version="1.0" encoding="utf-8"?>
<Properties xmlns="http://schemas.openxmlformats.org/officeDocument/2006/extended-properties" xmlns:vt="http://schemas.openxmlformats.org/officeDocument/2006/docPropsVTypes">
  <TotalTime>2988</TotalTime>
  <Words>1184</Words>
  <Application>Microsoft Office PowerPoint</Application>
  <PresentationFormat>Personnalisé</PresentationFormat>
  <Paragraphs>271</Paragraphs>
  <Slides>27</Slides>
  <Notes>24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-apple-system</vt:lpstr>
      <vt:lpstr>Arial</vt:lpstr>
      <vt:lpstr>Arial Black</vt:lpstr>
      <vt:lpstr>Calibri</vt:lpstr>
      <vt:lpstr>Lato Light</vt:lpstr>
      <vt:lpstr>Symbol</vt:lpstr>
      <vt:lpstr>Times New Roman</vt:lpstr>
      <vt:lpstr>Thème HEC</vt:lpstr>
      <vt:lpstr>Feuille de calcul</vt:lpstr>
      <vt:lpstr>Worksheet</vt:lpstr>
      <vt:lpstr>OPER10500 Gestion des opérations</vt:lpstr>
      <vt:lpstr>Carte conceptuelle</vt:lpstr>
      <vt:lpstr>Carte conceptuelle</vt:lpstr>
      <vt:lpstr>3. Chronométrage : Calcul des TN et TS</vt:lpstr>
      <vt:lpstr>De la mesure du travail au calcul de capacité </vt:lpstr>
      <vt:lpstr>Temps de cycle</vt:lpstr>
      <vt:lpstr>Cadence d’un poste de travail</vt:lpstr>
      <vt:lpstr>Processus séquentiel vs en parallèle</vt:lpstr>
      <vt:lpstr>Goulot d’étranglement</vt:lpstr>
      <vt:lpstr>Agir sur le goulot d’étranglement</vt:lpstr>
      <vt:lpstr>Agir sur le goulot d’étranglement</vt:lpstr>
      <vt:lpstr>Agir sur le goulot d’étranglement</vt:lpstr>
      <vt:lpstr>Cadence d’un processus</vt:lpstr>
      <vt:lpstr>Exemple Cadence d’un processus</vt:lpstr>
      <vt:lpstr>Taux d’utilisation d’un poste de travail  (avec ajustement au goulot)</vt:lpstr>
      <vt:lpstr>Taux d’utilisation (avec ou sans ajustement)</vt:lpstr>
      <vt:lpstr>Exercice Taux d’utilisation (avec ou sans ajustement)</vt:lpstr>
      <vt:lpstr>Exercice Processus séquentiel</vt:lpstr>
      <vt:lpstr>Exercice Quelle est la cadence en parallèle?</vt:lpstr>
      <vt:lpstr>Taux d’utilisation d’un employé</vt:lpstr>
      <vt:lpstr>Exercice Quel sera le taux d’utilisation de l’employé?</vt:lpstr>
      <vt:lpstr>Amélioration des processus</vt:lpstr>
      <vt:lpstr>Exercice Augmenter la cadence?</vt:lpstr>
      <vt:lpstr>Solution Équilibrage</vt:lpstr>
      <vt:lpstr>Amélioration des processus</vt:lpstr>
      <vt:lpstr>Exercice Organisation du travail</vt:lpstr>
      <vt:lpstr>Questions…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OPER10500 Gestion des opérations</dc:title>
  <dc:creator>veronique poirier</dc:creator>
  <cp:lastModifiedBy>Claire Poitras</cp:lastModifiedBy>
  <cp:revision>86</cp:revision>
  <dcterms:created xsi:type="dcterms:W3CDTF">2020-07-21T19:41:54Z</dcterms:created>
  <dcterms:modified xsi:type="dcterms:W3CDTF">2024-06-19T13:15:40Z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0x0101001CBA47EBC066B745A5CD7C315910EB78</vt:lpwstr>
  </property>
</Properties>
</file>