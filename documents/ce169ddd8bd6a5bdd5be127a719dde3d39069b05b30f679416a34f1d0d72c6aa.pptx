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29"/>
  </p:notesMasterIdLst>
  <p:sldIdLst>
    <p:sldId id="271" r:id="rId2"/>
    <p:sldId id="272" r:id="rId3"/>
    <p:sldId id="298" r:id="rId4"/>
    <p:sldId id="299" r:id="rId5"/>
    <p:sldId id="300" r:id="rId6"/>
    <p:sldId id="301" r:id="rId7"/>
    <p:sldId id="302" r:id="rId8"/>
    <p:sldId id="273" r:id="rId9"/>
    <p:sldId id="275" r:id="rId10"/>
    <p:sldId id="278" r:id="rId11"/>
    <p:sldId id="274" r:id="rId12"/>
    <p:sldId id="279" r:id="rId13"/>
    <p:sldId id="276" r:id="rId14"/>
    <p:sldId id="294" r:id="rId15"/>
    <p:sldId id="295" r:id="rId16"/>
    <p:sldId id="296" r:id="rId17"/>
    <p:sldId id="297" r:id="rId18"/>
    <p:sldId id="286" r:id="rId19"/>
    <p:sldId id="287" r:id="rId20"/>
    <p:sldId id="288" r:id="rId21"/>
    <p:sldId id="290" r:id="rId22"/>
    <p:sldId id="303" r:id="rId23"/>
    <p:sldId id="304" r:id="rId24"/>
    <p:sldId id="293" r:id="rId25"/>
    <p:sldId id="291" r:id="rId26"/>
    <p:sldId id="292" r:id="rId27"/>
    <p:sldId id="270" r:id="rId28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80" autoAdjust="0"/>
    <p:restoredTop sz="94660"/>
  </p:normalViewPr>
  <p:slideViewPr>
    <p:cSldViewPr>
      <p:cViewPr varScale="1">
        <p:scale>
          <a:sx n="110" d="100"/>
          <a:sy n="110" d="100"/>
        </p:scale>
        <p:origin x="768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F4FFE-DBF0-4417-9DA6-13CE29712855}" type="datetimeFigureOut">
              <a:rPr lang="fr-CA" smtClean="0"/>
              <a:t>2018-06-18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CF8E0-8C44-4AA4-A102-9F7954B4986D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74584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2EA70-6955-41C5-B4B3-3FC441CD9E7F}" type="slidenum">
              <a:rPr lang="fr-CA" smtClean="0">
                <a:solidFill>
                  <a:prstClr val="black"/>
                </a:solidFill>
              </a:rPr>
              <a:pPr/>
              <a:t>10</a:t>
            </a:fld>
            <a:endParaRPr lang="fr-C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514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53" y="1286467"/>
            <a:ext cx="8187094" cy="342190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8800" y="1286280"/>
            <a:ext cx="5274000" cy="13122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240">
                <a:solidFill>
                  <a:schemeClr val="accent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8800" y="2666391"/>
            <a:ext cx="5266800" cy="362102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200800" y="4847040"/>
            <a:ext cx="464400" cy="123120"/>
          </a:xfrm>
        </p:spPr>
        <p:txBody>
          <a:bodyPr vert="horz" lIns="91440" tIns="45720" rIns="91440" bIns="45720" rtlCol="0" anchor="ctr"/>
          <a:lstStyle>
            <a:lvl1pPr marL="0" algn="r" defTabSz="822960" rtl="0" eaLnBrk="1" latinLnBrk="0" hangingPunct="1">
              <a:defRPr lang="fr-CA" sz="603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19" y="210656"/>
            <a:ext cx="5282773" cy="734151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478452" y="4525465"/>
            <a:ext cx="5266944" cy="180050"/>
          </a:xfrm>
          <a:solidFill>
            <a:schemeClr val="accent1"/>
          </a:solidFill>
        </p:spPr>
        <p:txBody>
          <a:bodyPr/>
          <a:lstStyle>
            <a:lvl1pPr algn="l">
              <a:defRPr sz="1170" cap="all" baseline="0">
                <a:solidFill>
                  <a:schemeClr val="bg1"/>
                </a:solidFill>
              </a:defRPr>
            </a:lvl1pPr>
          </a:lstStyle>
          <a:p>
            <a:endParaRPr lang="fr-CA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18/06/2018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92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8800" y="431717"/>
            <a:ext cx="8186400" cy="740664"/>
          </a:xfrm>
        </p:spPr>
        <p:txBody>
          <a:bodyPr/>
          <a:lstStyle/>
          <a:p>
            <a:r>
              <a:rPr lang="fr-FR" dirty="0" smtClean="0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800" y="1419918"/>
            <a:ext cx="8186400" cy="2869190"/>
          </a:xfrm>
        </p:spPr>
        <p:txBody>
          <a:bodyPr/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18/06/2018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346075" y="4289108"/>
            <a:ext cx="914400" cy="822960"/>
          </a:xfrm>
          <a:prstGeom prst="rect">
            <a:avLst/>
          </a:prstGeom>
        </p:spPr>
        <p:txBody>
          <a:bodyPr vert="horz" wrap="none" lIns="82296" tIns="41148" rIns="82296" bIns="41148" rtlCol="0">
            <a:normAutofit/>
          </a:bodyPr>
          <a:lstStyle/>
          <a:p>
            <a:pPr marL="139320" indent="-13932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503" dirty="0" smtClean="0"/>
          </a:p>
        </p:txBody>
      </p:sp>
    </p:spTree>
    <p:extLst>
      <p:ext uri="{BB962C8B-B14F-4D97-AF65-F5344CB8AC3E}">
        <p14:creationId xmlns:p14="http://schemas.microsoft.com/office/powerpoint/2010/main" val="45403639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2065" y="3107825"/>
            <a:ext cx="6603135" cy="13002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5840963" y="1264049"/>
            <a:ext cx="2824582" cy="177586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1286279"/>
            <a:ext cx="5274000" cy="13122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822960" rtl="0" eaLnBrk="1" latinLnBrk="0" hangingPunct="1">
              <a:spcBef>
                <a:spcPct val="0"/>
              </a:spcBef>
              <a:buNone/>
              <a:defRPr lang="fr-CA" sz="324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2666391"/>
            <a:ext cx="5266800" cy="362102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18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18/06/2018</a:t>
            </a:fld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" t="27926" r="63211" b="1117"/>
          <a:stretch/>
        </p:blipFill>
        <p:spPr>
          <a:xfrm>
            <a:off x="489600" y="3107094"/>
            <a:ext cx="1497820" cy="1300277"/>
          </a:xfrm>
          <a:prstGeom prst="rect">
            <a:avLst/>
          </a:prstGeom>
        </p:spPr>
      </p:pic>
      <p:pic>
        <p:nvPicPr>
          <p:cNvPr id="14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780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41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18/06/2018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3352356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0831"/>
            <a:ext cx="8186400" cy="738449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360170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839992"/>
            <a:ext cx="4040188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7" y="1360170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7" y="1839992"/>
            <a:ext cx="4041775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18/06/2018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474079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3779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18/06/2018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1249524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18/06/2018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16784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29474"/>
            <a:ext cx="8186400" cy="739807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60400" y="1353960"/>
            <a:ext cx="5097600" cy="2935148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53960"/>
            <a:ext cx="2988000" cy="2935148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18/06/2018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954578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40754"/>
            <a:ext cx="8186400" cy="740655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78800" y="1858569"/>
            <a:ext cx="8179200" cy="2430538"/>
          </a:xfrm>
        </p:spPr>
        <p:txBody>
          <a:bodyPr/>
          <a:lstStyle>
            <a:lvl1pPr marL="0" indent="0">
              <a:buNone/>
              <a:defRPr sz="1503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fr-FR" smtClean="0"/>
              <a:t>Cliquez sur l'icône pour ajouter une image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66089"/>
            <a:ext cx="8179200" cy="469800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18/06/2018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6820318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200151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2953943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6DC91D2-297D-4124-9588-388F28AB5B3D}" type="datetimeFigureOut">
              <a:rPr lang="fr-FR" smtClean="0"/>
              <a:pPr/>
              <a:t>18/06/2018</a:t>
            </a:fld>
            <a:endParaRPr lang="fr-CA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07913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C6DC91D2-297D-4124-9588-388F28AB5B3D}" type="datetimeFigureOut">
              <a:rPr lang="fr-FR" smtClean="0"/>
              <a:pPr/>
              <a:t>18/06/2018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1806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8800" y="436673"/>
            <a:ext cx="8186400" cy="74473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 smtClean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1366089"/>
            <a:ext cx="8186400" cy="292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89600" y="4846496"/>
            <a:ext cx="2133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3">
                <a:solidFill>
                  <a:schemeClr val="accent2"/>
                </a:solidFill>
              </a:defRPr>
            </a:lvl1pPr>
          </a:lstStyle>
          <a:p>
            <a:fld id="{C6DC91D2-297D-4124-9588-388F28AB5B3D}" type="datetimeFigureOut">
              <a:rPr lang="fr-FR" smtClean="0"/>
              <a:pPr/>
              <a:t>18/06/2018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846496"/>
            <a:ext cx="2895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00800" y="4846496"/>
            <a:ext cx="4644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3">
                <a:solidFill>
                  <a:schemeClr val="accent2"/>
                </a:solidFill>
              </a:defRPr>
            </a:lvl1pPr>
          </a:lstStyle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737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iming>
    <p:tnLst>
      <p:par>
        <p:cTn id="1" dur="indefinite" restart="never" nodeType="tmRoot"/>
      </p:par>
    </p:tnLst>
  </p:timing>
  <p:txStyles>
    <p:titleStyle>
      <a:lvl1pPr algn="l" defTabSz="822960" rtl="0" eaLnBrk="1" latinLnBrk="0" hangingPunct="1">
        <a:spcBef>
          <a:spcPct val="0"/>
        </a:spcBef>
        <a:buNone/>
        <a:defRPr sz="234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3932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1pPr>
      <a:lvl2pPr marL="4082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6771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3pPr>
      <a:lvl4pPr marL="9428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4pPr>
      <a:lvl5pPr marL="12117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tags" Target="../tags/tag50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6" Type="http://schemas.openxmlformats.org/officeDocument/2006/relationships/tags" Target="../tags/tag53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5" Type="http://schemas.openxmlformats.org/officeDocument/2006/relationships/tags" Target="../tags/tag42.xml"/><Relationship Id="rId15" Type="http://schemas.openxmlformats.org/officeDocument/2006/relationships/tags" Target="../tags/tag52.xml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tags" Target="../tags/tag5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image" Target="../media/image6.jpe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0" Type="http://schemas.openxmlformats.org/officeDocument/2006/relationships/tags" Target="../tags/tag89.xml"/><Relationship Id="rId4" Type="http://schemas.openxmlformats.org/officeDocument/2006/relationships/tags" Target="../tags/tag83.xml"/><Relationship Id="rId9" Type="http://schemas.openxmlformats.org/officeDocument/2006/relationships/tags" Target="../tags/tag8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95.xml"/><Relationship Id="rId7" Type="http://schemas.openxmlformats.org/officeDocument/2006/relationships/image" Target="../media/image8.png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hyperlink" Target="https://www.desjardins.com/ressources/pdf/table-impot-p-quebec-2015-f.pdf?resVer=1445621854000" TargetMode="Externa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 smtClean="0"/>
              <a:t>Notions de finance personnelle</a:t>
            </a:r>
            <a:endParaRPr lang="fr-CA" dirty="0"/>
          </a:p>
        </p:txBody>
      </p:sp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 smtClean="0"/>
              <a:t>Chapitre </a:t>
            </a:r>
            <a:r>
              <a:rPr lang="fr-CA" smtClean="0"/>
              <a:t>18 (&amp; </a:t>
            </a:r>
            <a:r>
              <a:rPr lang="fr-CA" dirty="0" smtClean="0"/>
              <a:t>retour sur le </a:t>
            </a:r>
            <a:r>
              <a:rPr lang="fr-CA" smtClean="0"/>
              <a:t>chapitre 12)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99665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sz="2400" dirty="0" smtClean="0"/>
              <a:t>Finance personnelle</a:t>
            </a:r>
            <a:endParaRPr lang="fr-CA" sz="24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8186400" cy="2869190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80000"/>
              </a:lnSpc>
              <a:buNone/>
            </a:pPr>
            <a:endParaRPr lang="fr-CA" sz="900" dirty="0" smtClean="0">
              <a:solidFill>
                <a:schemeClr val="accent1"/>
              </a:solidFill>
            </a:endParaRPr>
          </a:p>
          <a:p>
            <a:pPr marL="971550" lvl="1" indent="-514350">
              <a:lnSpc>
                <a:spcPct val="8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fr-CA" sz="3200" dirty="0">
                <a:solidFill>
                  <a:schemeClr val="accent1"/>
                </a:solidFill>
              </a:rPr>
              <a:t>Les </a:t>
            </a:r>
            <a:r>
              <a:rPr lang="fr-CA" sz="3200" dirty="0" smtClean="0">
                <a:solidFill>
                  <a:schemeClr val="accent1"/>
                </a:solidFill>
              </a:rPr>
              <a:t>marchés</a:t>
            </a:r>
          </a:p>
          <a:p>
            <a:pPr marL="971550" lvl="1" indent="-514350">
              <a:lnSpc>
                <a:spcPct val="8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fr-CA" sz="3200" dirty="0" smtClean="0">
                <a:solidFill>
                  <a:schemeClr val="accent1"/>
                </a:solidFill>
              </a:rPr>
              <a:t>Rendement &amp; prime de risque</a:t>
            </a:r>
          </a:p>
          <a:p>
            <a:pPr marL="971550" lvl="1" indent="-514350">
              <a:lnSpc>
                <a:spcPct val="8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fr-CA" sz="3200" dirty="0" smtClean="0">
                <a:solidFill>
                  <a:schemeClr val="accent1"/>
                </a:solidFill>
              </a:rPr>
              <a:t>Efficience des marchés</a:t>
            </a:r>
          </a:p>
          <a:p>
            <a:pPr marL="971550" lvl="1" indent="-514350">
              <a:lnSpc>
                <a:spcPct val="8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fr-CA" sz="3200" dirty="0" smtClean="0">
                <a:solidFill>
                  <a:schemeClr val="accent1"/>
                </a:solidFill>
              </a:rPr>
              <a:t>Investir dans les marchés</a:t>
            </a:r>
          </a:p>
          <a:p>
            <a:pPr marL="971550" lvl="1" indent="-514350">
              <a:lnSpc>
                <a:spcPct val="8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fr-CA" sz="3200" dirty="0" smtClean="0">
                <a:solidFill>
                  <a:schemeClr val="accent1"/>
                </a:solidFill>
              </a:rPr>
              <a:t>L’investissement et l’impôt</a:t>
            </a:r>
            <a:endParaRPr lang="fr-CA" sz="2000" dirty="0"/>
          </a:p>
          <a:p>
            <a:pPr>
              <a:lnSpc>
                <a:spcPct val="80000"/>
              </a:lnSpc>
              <a:buFontTx/>
              <a:buNone/>
            </a:pPr>
            <a:endParaRPr lang="fr-CA" sz="2400" dirty="0"/>
          </a:p>
          <a:p>
            <a:pPr>
              <a:lnSpc>
                <a:spcPct val="80000"/>
              </a:lnSpc>
            </a:pPr>
            <a:endParaRPr lang="fr-CA" sz="2400" dirty="0"/>
          </a:p>
        </p:txBody>
      </p:sp>
    </p:spTree>
    <p:extLst>
      <p:ext uri="{BB962C8B-B14F-4D97-AF65-F5344CB8AC3E}">
        <p14:creationId xmlns:p14="http://schemas.microsoft.com/office/powerpoint/2010/main" val="152854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sz="2400" dirty="0"/>
              <a:t>Les </a:t>
            </a:r>
            <a:r>
              <a:rPr lang="fr-CA" sz="2400" dirty="0" smtClean="0"/>
              <a:t>marchés </a:t>
            </a:r>
            <a:r>
              <a:rPr lang="fr-CA" sz="1800" dirty="0" smtClean="0"/>
              <a:t>(retour sur le chapitre 12)</a:t>
            </a:r>
            <a:endParaRPr lang="fr-CA" sz="1800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8186400" cy="3600104"/>
          </a:xfrm>
        </p:spPr>
        <p:txBody>
          <a:bodyPr>
            <a:normAutofit fontScale="85000" lnSpcReduction="20000"/>
          </a:bodyPr>
          <a:lstStyle/>
          <a:p>
            <a:pPr marL="269875" indent="-269875"/>
            <a:r>
              <a:rPr lang="fr-CA" sz="3600" dirty="0">
                <a:solidFill>
                  <a:schemeClr val="accent1"/>
                </a:solidFill>
              </a:rPr>
              <a:t>Historique, formation et </a:t>
            </a:r>
            <a:r>
              <a:rPr lang="fr-CA" sz="3600" dirty="0" smtClean="0">
                <a:solidFill>
                  <a:schemeClr val="accent1"/>
                </a:solidFill>
              </a:rPr>
              <a:t>fonction</a:t>
            </a:r>
            <a:endParaRPr lang="fr-CA" sz="3600" dirty="0">
              <a:solidFill>
                <a:schemeClr val="accent1"/>
              </a:solidFill>
            </a:endParaRPr>
          </a:p>
          <a:p>
            <a:pPr marL="269875" indent="-269875">
              <a:buFontTx/>
              <a:buNone/>
            </a:pPr>
            <a:r>
              <a:rPr lang="fr-CA" sz="2800" dirty="0"/>
              <a:t>	Les marchés se sont formés d’un besoin provenant des acheteurs et des vendeurs</a:t>
            </a:r>
          </a:p>
          <a:p>
            <a:pPr marL="269875" lvl="1" indent="0">
              <a:buNone/>
            </a:pPr>
            <a:r>
              <a:rPr lang="fr-CA" sz="2400" dirty="0" smtClean="0">
                <a:solidFill>
                  <a:schemeClr val="accent2"/>
                </a:solidFill>
              </a:rPr>
              <a:t>Vendeur </a:t>
            </a:r>
            <a:r>
              <a:rPr lang="fr-CA" sz="2400" dirty="0" smtClean="0"/>
              <a:t>: recherche </a:t>
            </a:r>
            <a:r>
              <a:rPr lang="fr-CA" sz="2400" dirty="0"/>
              <a:t>un acheteur pour vendre son produit à un prix juste.</a:t>
            </a:r>
          </a:p>
          <a:p>
            <a:pPr marL="269875" lvl="1" indent="0">
              <a:buNone/>
            </a:pPr>
            <a:r>
              <a:rPr lang="fr-CA" sz="2400" dirty="0" smtClean="0">
                <a:solidFill>
                  <a:schemeClr val="accent2"/>
                </a:solidFill>
              </a:rPr>
              <a:t>Acheteur </a:t>
            </a:r>
            <a:r>
              <a:rPr lang="fr-CA" sz="2400" dirty="0" smtClean="0"/>
              <a:t>: </a:t>
            </a:r>
            <a:r>
              <a:rPr lang="fr-CA" sz="2400" dirty="0"/>
              <a:t>cherche un vendeur pour acheter un produit à un prix juste.</a:t>
            </a:r>
          </a:p>
          <a:p>
            <a:pPr marL="2241550" lvl="1" indent="-1784350">
              <a:buFontTx/>
              <a:buNone/>
            </a:pPr>
            <a:r>
              <a:rPr lang="fr-CA" sz="2400" u="sng" dirty="0" smtClean="0"/>
              <a:t>Conséquence</a:t>
            </a:r>
            <a:r>
              <a:rPr lang="fr-CA" sz="2400" dirty="0" smtClean="0"/>
              <a:t> : formation </a:t>
            </a:r>
            <a:r>
              <a:rPr lang="fr-CA" sz="2400" dirty="0"/>
              <a:t>de système d’enchère où les acheteurs et vendeurs se rencontrent. </a:t>
            </a:r>
          </a:p>
          <a:p>
            <a:pPr lvl="2"/>
            <a:r>
              <a:rPr lang="fr-CA" sz="2000" dirty="0"/>
              <a:t>Augmentation de l’efficacité</a:t>
            </a:r>
          </a:p>
          <a:p>
            <a:pPr lvl="2"/>
            <a:r>
              <a:rPr lang="fr-CA" sz="2000" dirty="0"/>
              <a:t>Transaction à un prix juste et équitable</a:t>
            </a:r>
          </a:p>
          <a:p>
            <a:pPr lvl="2"/>
            <a:r>
              <a:rPr lang="fr-CA" sz="2000" dirty="0"/>
              <a:t>Permet une plus grande liquidité des produits</a:t>
            </a:r>
          </a:p>
        </p:txBody>
      </p:sp>
    </p:spTree>
    <p:extLst>
      <p:ext uri="{BB962C8B-B14F-4D97-AF65-F5344CB8AC3E}">
        <p14:creationId xmlns:p14="http://schemas.microsoft.com/office/powerpoint/2010/main" val="356837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sz="2400" dirty="0" smtClean="0"/>
              <a:t>Les marchés</a:t>
            </a:r>
            <a:endParaRPr lang="fr-CA" sz="2400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211013"/>
            <a:ext cx="4040188" cy="479822"/>
          </a:xfrm>
          <a:ln>
            <a:gradFill>
              <a:gsLst>
                <a:gs pos="0">
                  <a:schemeClr val="accent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txBody>
          <a:bodyPr>
            <a:normAutofit fontScale="70000" lnSpcReduction="20000"/>
          </a:bodyPr>
          <a:lstStyle/>
          <a:p>
            <a:pPr marL="0" lvl="1"/>
            <a:r>
              <a:rPr lang="fr-CA" sz="2800" dirty="0" smtClean="0">
                <a:solidFill>
                  <a:schemeClr val="accent2"/>
                </a:solidFill>
              </a:rPr>
              <a:t>NYSE</a:t>
            </a:r>
            <a:endParaRPr lang="fr-CA" dirty="0"/>
          </a:p>
          <a:p>
            <a:pPr marL="0" lvl="1"/>
            <a:r>
              <a:rPr lang="fr-CA" sz="1300" dirty="0" smtClean="0"/>
              <a:t>(New York Stock Exchange)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7200" y="1631156"/>
            <a:ext cx="4040188" cy="2380754"/>
          </a:xfrm>
        </p:spPr>
        <p:txBody>
          <a:bodyPr>
            <a:normAutofit fontScale="92500" lnSpcReduction="10000"/>
          </a:bodyPr>
          <a:lstStyle/>
          <a:p>
            <a:pPr marL="250825" lvl="2" indent="-250825"/>
            <a:r>
              <a:rPr lang="fr-CA" sz="2400" dirty="0" smtClean="0"/>
              <a:t>La </a:t>
            </a:r>
            <a:r>
              <a:rPr lang="fr-CA" sz="2400" dirty="0"/>
              <a:t>bourse la plus importante depuis des </a:t>
            </a:r>
            <a:r>
              <a:rPr lang="fr-CA" sz="2400" dirty="0" smtClean="0"/>
              <a:t>années</a:t>
            </a:r>
          </a:p>
          <a:p>
            <a:pPr marL="250825" lvl="2" indent="-250825"/>
            <a:r>
              <a:rPr lang="fr-CA" sz="2400" dirty="0" smtClean="0"/>
              <a:t>Il existe encore un système </a:t>
            </a:r>
            <a:r>
              <a:rPr lang="fr-CA" sz="2400" dirty="0"/>
              <a:t>d’enchère avec des </a:t>
            </a:r>
            <a:r>
              <a:rPr lang="fr-CA" sz="2400" dirty="0" smtClean="0"/>
              <a:t>spécialistes</a:t>
            </a:r>
          </a:p>
          <a:p>
            <a:pPr marL="250825" lvl="2" indent="-250825"/>
            <a:r>
              <a:rPr lang="fr-CA" sz="2400" dirty="0" smtClean="0"/>
              <a:t>NYSE composite index (indice): peu connu</a:t>
            </a:r>
          </a:p>
          <a:p>
            <a:pPr marL="250825" lvl="2" indent="-250825"/>
            <a:endParaRPr lang="fr-CA" sz="2400" dirty="0" smtClean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57833" y="1211013"/>
            <a:ext cx="4041775" cy="479822"/>
          </a:xfrm>
          <a:ln>
            <a:gradFill>
              <a:gsLst>
                <a:gs pos="0">
                  <a:schemeClr val="accent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txBody>
          <a:bodyPr>
            <a:normAutofit fontScale="55000" lnSpcReduction="20000"/>
          </a:bodyPr>
          <a:lstStyle/>
          <a:p>
            <a:pPr marL="0" lvl="1"/>
            <a:r>
              <a:rPr lang="fr-CA" sz="3400" dirty="0" smtClean="0">
                <a:solidFill>
                  <a:schemeClr val="accent2"/>
                </a:solidFill>
              </a:rPr>
              <a:t>Nasdaq</a:t>
            </a:r>
            <a:endParaRPr lang="fr-CA" sz="3400" dirty="0"/>
          </a:p>
          <a:p>
            <a:pPr marL="0" lvl="1"/>
            <a:r>
              <a:rPr lang="fr-CA" sz="1600" dirty="0" smtClean="0"/>
              <a:t>(National Association of Securities Dealers </a:t>
            </a:r>
            <a:r>
              <a:rPr lang="fr-CA" sz="1600" dirty="0" err="1" smtClean="0"/>
              <a:t>Automated</a:t>
            </a:r>
            <a:r>
              <a:rPr lang="fr-CA" sz="1600" dirty="0" smtClean="0"/>
              <a:t> </a:t>
            </a:r>
            <a:r>
              <a:rPr lang="fr-CA" sz="1600" dirty="0" err="1" smtClean="0"/>
              <a:t>Quotation</a:t>
            </a:r>
            <a:r>
              <a:rPr lang="fr-CA" sz="1600" dirty="0" smtClean="0"/>
              <a:t>)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45027" y="1690835"/>
            <a:ext cx="4041775" cy="2321075"/>
          </a:xfrm>
        </p:spPr>
        <p:txBody>
          <a:bodyPr>
            <a:normAutofit fontScale="85000" lnSpcReduction="10000"/>
          </a:bodyPr>
          <a:lstStyle/>
          <a:p>
            <a:pPr marL="228600" lvl="2"/>
            <a:r>
              <a:rPr lang="fr-CA" sz="2400" dirty="0" smtClean="0"/>
              <a:t>Bourse émergente (1971) grâce aux compagnies technologiques</a:t>
            </a:r>
          </a:p>
          <a:p>
            <a:pPr marL="228600" lvl="2"/>
            <a:r>
              <a:rPr lang="fr-CA" sz="2400" dirty="0" smtClean="0"/>
              <a:t>Système de transactions entièrement automatisé (informatisées)</a:t>
            </a:r>
          </a:p>
          <a:p>
            <a:pPr marL="228600" lvl="2"/>
            <a:r>
              <a:rPr lang="fr-CA" sz="2400" dirty="0" smtClean="0"/>
              <a:t>Forte compétition au </a:t>
            </a:r>
            <a:r>
              <a:rPr lang="fr-CA" sz="2400" dirty="0" smtClean="0"/>
              <a:t>NYSE</a:t>
            </a:r>
          </a:p>
          <a:p>
            <a:pPr marL="228600" lvl="2"/>
            <a:r>
              <a:rPr lang="fr-CA" sz="2400" dirty="0" smtClean="0"/>
              <a:t>Indice : Nasdaq</a:t>
            </a:r>
            <a:endParaRPr lang="fr-CA" sz="2400" dirty="0"/>
          </a:p>
        </p:txBody>
      </p:sp>
      <p:sp>
        <p:nvSpPr>
          <p:cNvPr id="9" name="Rectangle 3"/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457200" y="4162227"/>
            <a:ext cx="8242407" cy="857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39320" indent="-13932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5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8240" indent="-13932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5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77160" indent="-13932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5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2840" indent="-13932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5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1760" indent="-13932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5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None/>
            </a:pPr>
            <a:r>
              <a:rPr lang="fr-CA" sz="1800" dirty="0" smtClean="0"/>
              <a:t>Les indices S&amp;P 500 &amp; Dow Jones contiennent tous 2 des titres inscrits sur les 2 bourses d’importance aux </a:t>
            </a:r>
            <a:r>
              <a:rPr lang="fr-CA" sz="1800" dirty="0" err="1" smtClean="0"/>
              <a:t>Étast-Unis</a:t>
            </a:r>
            <a:r>
              <a:rPr lang="fr-CA" sz="1800" dirty="0" smtClean="0"/>
              <a:t> (NYSE &amp; Nasdaq).</a:t>
            </a:r>
            <a:endParaRPr lang="fr-CA" sz="3200" dirty="0" smtClean="0"/>
          </a:p>
        </p:txBody>
      </p:sp>
    </p:spTree>
    <p:extLst>
      <p:ext uri="{BB962C8B-B14F-4D97-AF65-F5344CB8AC3E}">
        <p14:creationId xmlns:p14="http://schemas.microsoft.com/office/powerpoint/2010/main" val="147197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nimBg="1"/>
      <p:bldP spid="6" grpId="0" build="p" animBg="1"/>
      <p:bldP spid="7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Les marchés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fr-CA" sz="3600" dirty="0" smtClean="0">
                <a:solidFill>
                  <a:schemeClr val="accent1"/>
                </a:solidFill>
              </a:rPr>
              <a:t>Les marchés canadiens</a:t>
            </a:r>
            <a:endParaRPr lang="fr-CA" sz="3600" dirty="0">
              <a:solidFill>
                <a:schemeClr val="accent1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fr-CA" sz="2800" dirty="0"/>
              <a:t>	</a:t>
            </a:r>
            <a:r>
              <a:rPr lang="fr-CA" sz="2800" dirty="0" smtClean="0"/>
              <a:t>TMX: Toronto-Montréal Exchange</a:t>
            </a:r>
            <a:endParaRPr lang="fr-CA" sz="2800" dirty="0"/>
          </a:p>
          <a:p>
            <a:pPr marL="457200" lvl="1" indent="0">
              <a:lnSpc>
                <a:spcPct val="80000"/>
              </a:lnSpc>
              <a:buNone/>
            </a:pPr>
            <a:endParaRPr lang="fr-CA" sz="2400" dirty="0" smtClean="0">
              <a:solidFill>
                <a:schemeClr val="accent2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fr-CA" sz="2400" dirty="0" smtClean="0">
                <a:solidFill>
                  <a:schemeClr val="accent2"/>
                </a:solidFill>
              </a:rPr>
              <a:t>Bourse </a:t>
            </a:r>
            <a:r>
              <a:rPr lang="fr-CA" sz="2400" dirty="0">
                <a:solidFill>
                  <a:schemeClr val="accent2"/>
                </a:solidFill>
              </a:rPr>
              <a:t>de Toronto </a:t>
            </a:r>
            <a:r>
              <a:rPr lang="fr-CA" sz="2400" dirty="0"/>
              <a:t>(TSX)</a:t>
            </a:r>
          </a:p>
          <a:p>
            <a:pPr lvl="2">
              <a:lnSpc>
                <a:spcPct val="80000"/>
              </a:lnSpc>
            </a:pPr>
            <a:r>
              <a:rPr lang="fr-CA" sz="2000" dirty="0" smtClean="0"/>
              <a:t>Transaction </a:t>
            </a:r>
            <a:r>
              <a:rPr lang="fr-CA" sz="2000" dirty="0"/>
              <a:t>des actions de </a:t>
            </a:r>
            <a:r>
              <a:rPr lang="fr-CA" sz="2000" dirty="0" smtClean="0"/>
              <a:t>grandes &amp; petites capitalisations</a:t>
            </a:r>
            <a:endParaRPr lang="fr-CA" sz="2000" dirty="0"/>
          </a:p>
          <a:p>
            <a:pPr lvl="2">
              <a:lnSpc>
                <a:spcPct val="80000"/>
              </a:lnSpc>
            </a:pPr>
            <a:r>
              <a:rPr lang="fr-CA" sz="2000" dirty="0" smtClean="0"/>
              <a:t>Indice boursier : S&amp;P/TSX</a:t>
            </a:r>
            <a:endParaRPr lang="fr-CA" sz="2000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fr-CA" sz="2400" dirty="0" smtClean="0">
                <a:solidFill>
                  <a:schemeClr val="accent2"/>
                </a:solidFill>
              </a:rPr>
              <a:t>Bourse </a:t>
            </a:r>
            <a:r>
              <a:rPr lang="fr-CA" sz="2400" dirty="0">
                <a:solidFill>
                  <a:schemeClr val="accent2"/>
                </a:solidFill>
              </a:rPr>
              <a:t>de </a:t>
            </a:r>
            <a:r>
              <a:rPr lang="fr-CA" sz="2400" dirty="0" smtClean="0">
                <a:solidFill>
                  <a:schemeClr val="accent2"/>
                </a:solidFill>
              </a:rPr>
              <a:t>Montréal </a:t>
            </a:r>
            <a:r>
              <a:rPr lang="fr-CA" sz="2400" dirty="0" smtClean="0"/>
              <a:t>(ME)</a:t>
            </a:r>
            <a:endParaRPr lang="fr-CA" sz="2400" dirty="0"/>
          </a:p>
          <a:p>
            <a:pPr lvl="2">
              <a:lnSpc>
                <a:spcPct val="80000"/>
              </a:lnSpc>
            </a:pPr>
            <a:r>
              <a:rPr lang="fr-CA" sz="2000" dirty="0" smtClean="0"/>
              <a:t>Transaction </a:t>
            </a:r>
            <a:r>
              <a:rPr lang="fr-CA" sz="2000" dirty="0"/>
              <a:t>des produits dérivés</a:t>
            </a:r>
          </a:p>
          <a:p>
            <a:pPr lvl="2">
              <a:lnSpc>
                <a:spcPct val="80000"/>
              </a:lnSpc>
            </a:pPr>
            <a:r>
              <a:rPr lang="fr-CA" sz="2000" dirty="0"/>
              <a:t>Option, contrat à terme</a:t>
            </a:r>
            <a:r>
              <a:rPr lang="fr-CA" sz="2000" dirty="0" smtClean="0"/>
              <a:t>, </a:t>
            </a:r>
            <a:r>
              <a:rPr lang="fr-CA" sz="2000" dirty="0"/>
              <a:t>etc.</a:t>
            </a:r>
          </a:p>
          <a:p>
            <a:pPr lvl="2">
              <a:lnSpc>
                <a:spcPct val="80000"/>
              </a:lnSpc>
            </a:pPr>
            <a:r>
              <a:rPr lang="fr-CA" sz="2000" dirty="0"/>
              <a:t>Opération de couverture (gestion des risques) ou de spéculation (rendement beaucoup plus élevé que les autres types de produits financiers)</a:t>
            </a:r>
          </a:p>
          <a:p>
            <a:pPr lvl="2">
              <a:lnSpc>
                <a:spcPct val="80000"/>
              </a:lnSpc>
            </a:pPr>
            <a:endParaRPr lang="fr-CA" sz="2000" dirty="0"/>
          </a:p>
        </p:txBody>
      </p:sp>
    </p:spTree>
    <p:extLst>
      <p:ext uri="{BB962C8B-B14F-4D97-AF65-F5344CB8AC3E}">
        <p14:creationId xmlns:p14="http://schemas.microsoft.com/office/powerpoint/2010/main" val="2672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Les marchés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275606"/>
            <a:ext cx="8186400" cy="345608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CA" sz="3600" dirty="0">
                <a:solidFill>
                  <a:schemeClr val="accent1"/>
                </a:solidFill>
              </a:rPr>
              <a:t>Les indices boursiers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2400" dirty="0"/>
              <a:t>	</a:t>
            </a:r>
            <a:r>
              <a:rPr lang="fr-CA" sz="2400" dirty="0" err="1" smtClean="0"/>
              <a:t>Déf</a:t>
            </a:r>
            <a:r>
              <a:rPr lang="fr-CA" sz="2400" dirty="0" smtClean="0"/>
              <a:t>.: </a:t>
            </a:r>
            <a:r>
              <a:rPr lang="fr-CA" sz="2400" dirty="0"/>
              <a:t>groupe (moyenne pondérée) </a:t>
            </a:r>
            <a:r>
              <a:rPr lang="fr-CA" sz="2400" dirty="0" smtClean="0"/>
              <a:t>des </a:t>
            </a:r>
            <a:r>
              <a:rPr lang="fr-CA" sz="2400" dirty="0"/>
              <a:t>produits financiers permettant de représenter une tendance globale.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fr-CA" sz="2400" dirty="0" smtClean="0">
                <a:solidFill>
                  <a:schemeClr val="accent2"/>
                </a:solidFill>
              </a:rPr>
              <a:t>S&amp;P/TSX</a:t>
            </a:r>
            <a:endParaRPr lang="fr-CA" sz="2000" dirty="0"/>
          </a:p>
          <a:p>
            <a:pPr lvl="2">
              <a:lnSpc>
                <a:spcPct val="90000"/>
              </a:lnSpc>
            </a:pPr>
            <a:r>
              <a:rPr lang="fr-CA" sz="1800" dirty="0"/>
              <a:t>Donne une idée globale du comportement de la bourse de Toronto</a:t>
            </a:r>
          </a:p>
          <a:p>
            <a:pPr lvl="2">
              <a:lnSpc>
                <a:spcPct val="90000"/>
              </a:lnSpc>
            </a:pPr>
            <a:r>
              <a:rPr lang="fr-CA" sz="1800" dirty="0" smtClean="0"/>
              <a:t>Contient ~ 225 titres d’importance (capitalisation boursière)</a:t>
            </a:r>
          </a:p>
          <a:p>
            <a:pPr lvl="2">
              <a:lnSpc>
                <a:spcPct val="90000"/>
              </a:lnSpc>
            </a:pPr>
            <a:r>
              <a:rPr lang="fr-CA" sz="1800" dirty="0" smtClean="0"/>
              <a:t>Pour </a:t>
            </a:r>
            <a:r>
              <a:rPr lang="fr-CA" sz="1800" dirty="0"/>
              <a:t>tous les indices, ce sont les variations et non la valeur qui importent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fr-CA" sz="2400" dirty="0">
                <a:solidFill>
                  <a:schemeClr val="accent2"/>
                </a:solidFill>
              </a:rPr>
              <a:t>S&amp;P 500</a:t>
            </a:r>
          </a:p>
          <a:p>
            <a:pPr lvl="2">
              <a:lnSpc>
                <a:spcPct val="90000"/>
              </a:lnSpc>
            </a:pPr>
            <a:r>
              <a:rPr lang="fr-CA" sz="1800" dirty="0"/>
              <a:t>Donne une idée globale </a:t>
            </a:r>
            <a:r>
              <a:rPr lang="fr-CA" sz="1800" dirty="0" smtClean="0"/>
              <a:t>des variations des titres </a:t>
            </a:r>
            <a:r>
              <a:rPr lang="fr-CA" sz="1800" dirty="0" smtClean="0"/>
              <a:t>aux bourses de NYSE &amp; Nasdaq</a:t>
            </a:r>
            <a:endParaRPr lang="fr-CA" sz="1800" dirty="0"/>
          </a:p>
          <a:p>
            <a:pPr lvl="2">
              <a:lnSpc>
                <a:spcPct val="90000"/>
              </a:lnSpc>
            </a:pPr>
            <a:r>
              <a:rPr lang="fr-CA" sz="1800" dirty="0"/>
              <a:t>Moyenne pondérée de </a:t>
            </a:r>
            <a:r>
              <a:rPr lang="fr-CA" sz="1800" dirty="0" smtClean="0"/>
              <a:t>~500 </a:t>
            </a:r>
            <a:r>
              <a:rPr lang="fr-CA" sz="1800" dirty="0"/>
              <a:t>actions </a:t>
            </a:r>
            <a:r>
              <a:rPr lang="fr-CA" sz="1800" dirty="0" smtClean="0"/>
              <a:t>d’importance </a:t>
            </a:r>
            <a:r>
              <a:rPr lang="fr-CA" sz="1800" dirty="0"/>
              <a:t>enregistrées </a:t>
            </a:r>
            <a:r>
              <a:rPr lang="fr-CA" sz="1800" dirty="0" smtClean="0"/>
              <a:t>sur ces bourses</a:t>
            </a:r>
            <a:endParaRPr lang="fr-CA" sz="1800" dirty="0"/>
          </a:p>
          <a:p>
            <a:pPr marL="457200" lvl="1" indent="0">
              <a:lnSpc>
                <a:spcPct val="90000"/>
              </a:lnSpc>
              <a:buNone/>
            </a:pPr>
            <a:r>
              <a:rPr lang="fr-CA" sz="2400" dirty="0">
                <a:solidFill>
                  <a:schemeClr val="accent2"/>
                </a:solidFill>
              </a:rPr>
              <a:t>Nasdaq</a:t>
            </a:r>
            <a:r>
              <a:rPr lang="fr-CA" sz="2000" dirty="0"/>
              <a:t> (Indice de la bourse du Nasdaq)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fr-CA" sz="2400" dirty="0">
                <a:solidFill>
                  <a:schemeClr val="accent2"/>
                </a:solidFill>
              </a:rPr>
              <a:t>Dow Jones </a:t>
            </a:r>
            <a:r>
              <a:rPr lang="fr-CA" sz="2000" dirty="0"/>
              <a:t>(DJIA)</a:t>
            </a:r>
          </a:p>
          <a:p>
            <a:pPr lvl="2">
              <a:lnSpc>
                <a:spcPct val="90000"/>
              </a:lnSpc>
            </a:pPr>
            <a:r>
              <a:rPr lang="fr-CA" sz="1800" dirty="0"/>
              <a:t>Indice comportant les </a:t>
            </a:r>
            <a:r>
              <a:rPr lang="fr-CA" sz="1800" dirty="0" smtClean="0"/>
              <a:t>30 </a:t>
            </a:r>
            <a:r>
              <a:rPr lang="fr-CA" sz="1800" dirty="0"/>
              <a:t>plus grosses </a:t>
            </a:r>
            <a:r>
              <a:rPr lang="fr-CA" sz="1800" dirty="0" smtClean="0"/>
              <a:t>compagnies </a:t>
            </a:r>
            <a:r>
              <a:rPr lang="fr-CA" sz="1800" dirty="0"/>
              <a:t>industrielles </a:t>
            </a:r>
            <a:r>
              <a:rPr lang="fr-CA" sz="1800" dirty="0" smtClean="0"/>
              <a:t>américaines</a:t>
            </a:r>
            <a:endParaRPr lang="fr-CA" sz="1800" dirty="0"/>
          </a:p>
        </p:txBody>
      </p:sp>
    </p:spTree>
    <p:extLst>
      <p:ext uri="{BB962C8B-B14F-4D97-AF65-F5344CB8AC3E}">
        <p14:creationId xmlns:p14="http://schemas.microsoft.com/office/powerpoint/2010/main" val="67445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Les marchés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fr-CA" sz="3600" dirty="0">
                <a:solidFill>
                  <a:schemeClr val="accent1"/>
                </a:solidFill>
              </a:rPr>
              <a:t>La valeur d’une action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2400" dirty="0"/>
              <a:t>	</a:t>
            </a:r>
            <a:r>
              <a:rPr lang="fr-CA" sz="2400" dirty="0">
                <a:solidFill>
                  <a:schemeClr val="accent2"/>
                </a:solidFill>
              </a:rPr>
              <a:t>Le prix d’une action </a:t>
            </a:r>
            <a:r>
              <a:rPr lang="fr-CA" sz="2400" dirty="0"/>
              <a:t>au marché ne veut rien dire de façon </a:t>
            </a:r>
            <a:r>
              <a:rPr lang="fr-CA" sz="2400" dirty="0" smtClean="0"/>
              <a:t>absolue : c’est le </a:t>
            </a:r>
            <a:r>
              <a:rPr lang="fr-CA" sz="2400" dirty="0"/>
              <a:t>nombre d’actions en circulation et la valeur de l’entreprise qui déterminent son prix.</a:t>
            </a:r>
          </a:p>
          <a:p>
            <a:pPr>
              <a:lnSpc>
                <a:spcPct val="90000"/>
              </a:lnSpc>
              <a:buFontTx/>
              <a:buNone/>
            </a:pPr>
            <a:endParaRPr lang="fr-CA" sz="2400" dirty="0"/>
          </a:p>
          <a:p>
            <a:pPr lvl="1">
              <a:lnSpc>
                <a:spcPct val="90000"/>
              </a:lnSpc>
            </a:pPr>
            <a:r>
              <a:rPr lang="fr-CA" sz="2000" dirty="0" smtClean="0"/>
              <a:t>Exemple : </a:t>
            </a:r>
            <a:r>
              <a:rPr lang="fr-CA" sz="2000" dirty="0"/>
              <a:t>vous évaluez que la </a:t>
            </a:r>
            <a:r>
              <a:rPr lang="fr-CA" sz="2000" dirty="0" err="1"/>
              <a:t>cie</a:t>
            </a:r>
            <a:r>
              <a:rPr lang="fr-CA" sz="2000" dirty="0"/>
              <a:t> Mobile </a:t>
            </a:r>
            <a:r>
              <a:rPr lang="fr-CA" sz="2000" dirty="0" err="1"/>
              <a:t>inc.</a:t>
            </a:r>
            <a:r>
              <a:rPr lang="fr-CA" sz="2000" dirty="0"/>
              <a:t> vaut </a:t>
            </a:r>
            <a:r>
              <a:rPr lang="fr-CA" sz="2000" dirty="0" smtClean="0"/>
              <a:t>50 M</a:t>
            </a:r>
            <a:r>
              <a:rPr lang="fr-CA" sz="2000" dirty="0"/>
              <a:t>$. Combien vaut l’action?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CA" sz="2000" dirty="0"/>
              <a:t>	S’il y a </a:t>
            </a:r>
            <a:r>
              <a:rPr lang="fr-CA" sz="2000" dirty="0" smtClean="0"/>
              <a:t>10 M </a:t>
            </a:r>
            <a:r>
              <a:rPr lang="fr-CA" sz="2000" dirty="0"/>
              <a:t>d’actions en </a:t>
            </a:r>
            <a:r>
              <a:rPr lang="fr-CA" sz="2000" dirty="0" smtClean="0"/>
              <a:t>circulation :</a:t>
            </a:r>
            <a:endParaRPr lang="fr-CA" sz="2000" dirty="0"/>
          </a:p>
          <a:p>
            <a:pPr lvl="2">
              <a:lnSpc>
                <a:spcPct val="90000"/>
              </a:lnSpc>
            </a:pPr>
            <a:r>
              <a:rPr lang="fr-CA" sz="1800" dirty="0" smtClean="0"/>
              <a:t>50 M</a:t>
            </a:r>
            <a:r>
              <a:rPr lang="fr-CA" sz="1800" dirty="0"/>
              <a:t>$/</a:t>
            </a:r>
            <a:r>
              <a:rPr lang="fr-CA" sz="1800" dirty="0" smtClean="0"/>
              <a:t>10 M </a:t>
            </a:r>
            <a:r>
              <a:rPr lang="fr-CA" sz="1800" dirty="0"/>
              <a:t>d’action = 5 $/action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CA" sz="2000" dirty="0"/>
              <a:t>	</a:t>
            </a:r>
            <a:r>
              <a:rPr lang="fr-CA" sz="2000" dirty="0" smtClean="0"/>
              <a:t>S’il </a:t>
            </a:r>
            <a:r>
              <a:rPr lang="fr-CA" sz="2000" dirty="0"/>
              <a:t>y a 5 000 actions en </a:t>
            </a:r>
            <a:r>
              <a:rPr lang="fr-CA" sz="2000" dirty="0" smtClean="0"/>
              <a:t>circulation :</a:t>
            </a:r>
            <a:endParaRPr lang="fr-CA" sz="2000" dirty="0"/>
          </a:p>
          <a:p>
            <a:pPr lvl="2">
              <a:lnSpc>
                <a:spcPct val="90000"/>
              </a:lnSpc>
            </a:pPr>
            <a:r>
              <a:rPr lang="fr-CA" sz="1800" dirty="0" smtClean="0"/>
              <a:t>50 M</a:t>
            </a:r>
            <a:r>
              <a:rPr lang="fr-CA" sz="1800" dirty="0"/>
              <a:t>$/5 000 actions = 10 000 $/action</a:t>
            </a:r>
          </a:p>
          <a:p>
            <a:pPr lvl="3">
              <a:lnSpc>
                <a:spcPct val="90000"/>
              </a:lnSpc>
              <a:buFontTx/>
              <a:buNone/>
            </a:pPr>
            <a:endParaRPr lang="fr-CA" sz="1600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fr-CA" sz="2000" dirty="0"/>
              <a:t>	D’une façon ou d’une autre, la compagnie vaut toujours </a:t>
            </a:r>
            <a:r>
              <a:rPr lang="fr-CA" sz="2000" dirty="0" smtClean="0"/>
              <a:t>50 M</a:t>
            </a:r>
            <a:r>
              <a:rPr lang="fr-CA" sz="2000" dirty="0"/>
              <a:t>$</a:t>
            </a:r>
          </a:p>
          <a:p>
            <a:pPr>
              <a:lnSpc>
                <a:spcPct val="90000"/>
              </a:lnSpc>
            </a:pPr>
            <a:endParaRPr lang="fr-CA" sz="2400" dirty="0"/>
          </a:p>
          <a:p>
            <a:pPr>
              <a:lnSpc>
                <a:spcPct val="90000"/>
              </a:lnSpc>
            </a:pPr>
            <a:endParaRPr lang="fr-CA" sz="2400" dirty="0"/>
          </a:p>
        </p:txBody>
      </p:sp>
    </p:spTree>
    <p:extLst>
      <p:ext uri="{BB962C8B-B14F-4D97-AF65-F5344CB8AC3E}">
        <p14:creationId xmlns:p14="http://schemas.microsoft.com/office/powerpoint/2010/main" val="197867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sz="2400" dirty="0" smtClean="0"/>
              <a:t>Rendement &amp; prime de risque</a:t>
            </a:r>
            <a:endParaRPr lang="fr-CA" sz="2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 smtClean="0"/>
              <a:t>Prime de risque = E(</a:t>
            </a:r>
            <a:r>
              <a:rPr lang="fr-CA" dirty="0" err="1" smtClean="0"/>
              <a:t>R</a:t>
            </a:r>
            <a:r>
              <a:rPr lang="fr-CA" baseline="-25000" dirty="0" err="1" smtClean="0"/>
              <a:t>m</a:t>
            </a:r>
            <a:r>
              <a:rPr lang="fr-CA" dirty="0" smtClean="0"/>
              <a:t>)-</a:t>
            </a:r>
            <a:r>
              <a:rPr lang="fr-CA" dirty="0" err="1" smtClean="0"/>
              <a:t>R</a:t>
            </a:r>
            <a:r>
              <a:rPr lang="fr-CA" baseline="-25000" dirty="0" err="1" smtClean="0"/>
              <a:t>f</a:t>
            </a:r>
            <a:endParaRPr lang="fr-CA" baseline="-25000" dirty="0" smtClean="0"/>
          </a:p>
          <a:p>
            <a:pPr marL="0" indent="0" algn="ctr">
              <a:buNone/>
            </a:pPr>
            <a:r>
              <a:rPr lang="fr-CA" sz="2400" dirty="0" smtClean="0"/>
              <a:t>« Rendement excédentaire au rendement sans risque pour investir dans une certaine classe d’actifs »</a:t>
            </a:r>
            <a:endParaRPr lang="fr-CA" sz="2400" dirty="0"/>
          </a:p>
          <a:p>
            <a:pPr marL="0" indent="0">
              <a:buNone/>
            </a:pPr>
            <a:endParaRPr lang="fr-CA" dirty="0"/>
          </a:p>
        </p:txBody>
      </p:sp>
      <p:pic>
        <p:nvPicPr>
          <p:cNvPr id="4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123728" y="2571750"/>
            <a:ext cx="5003849" cy="235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00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sz="2400" dirty="0"/>
              <a:t>Rendement &amp; prime de risque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237855"/>
            <a:ext cx="8186400" cy="3051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800" dirty="0" smtClean="0"/>
              <a:t>Relation des primes de risque pour chacune des classes d’actifs attendus à long terme en fonction du risque :</a:t>
            </a:r>
            <a:endParaRPr lang="fr-CA" sz="1800" dirty="0"/>
          </a:p>
        </p:txBody>
      </p:sp>
      <p:sp>
        <p:nvSpPr>
          <p:cNvPr id="10244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258888" y="1869282"/>
            <a:ext cx="0" cy="2862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CA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0245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258888" y="4731544"/>
            <a:ext cx="7200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CA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9390" y="1924051"/>
            <a:ext cx="1163075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CA" sz="1600">
                <a:solidFill>
                  <a:prstClr val="black"/>
                </a:solidFill>
                <a:latin typeface="Tahoma" charset="0"/>
              </a:rPr>
              <a:t>E(R)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CA" sz="1600">
                <a:solidFill>
                  <a:prstClr val="black"/>
                </a:solidFill>
                <a:latin typeface="Tahoma" charset="0"/>
              </a:rPr>
              <a:t>Espérance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CA" sz="1600">
                <a:solidFill>
                  <a:prstClr val="black"/>
                </a:solidFill>
                <a:latin typeface="Tahoma" charset="0"/>
              </a:rPr>
              <a:t>de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CA" sz="1600">
                <a:solidFill>
                  <a:prstClr val="black"/>
                </a:solidFill>
                <a:latin typeface="Tahoma" charset="0"/>
              </a:rPr>
              <a:t>rendement</a:t>
            </a:r>
          </a:p>
        </p:txBody>
      </p:sp>
      <p:sp>
        <p:nvSpPr>
          <p:cNvPr id="10247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451728" y="4749403"/>
            <a:ext cx="78418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CA" sz="1600">
                <a:solidFill>
                  <a:prstClr val="black"/>
                </a:solidFill>
                <a:latin typeface="Tahoma" charset="0"/>
              </a:rPr>
              <a:t>Risque</a:t>
            </a:r>
          </a:p>
        </p:txBody>
      </p:sp>
      <p:sp>
        <p:nvSpPr>
          <p:cNvPr id="10248" name="Text Box 8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-1040" y="3899181"/>
            <a:ext cx="128689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CA" sz="1400" dirty="0">
                <a:solidFill>
                  <a:srgbClr val="4F81BD"/>
                </a:solidFill>
                <a:latin typeface="Tahoma" charset="0"/>
              </a:rPr>
              <a:t>Bon du Trésor</a:t>
            </a:r>
          </a:p>
        </p:txBody>
      </p:sp>
      <p:sp>
        <p:nvSpPr>
          <p:cNvPr id="10249" name="Text Box 9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619252" y="3868342"/>
            <a:ext cx="257512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CA" sz="1400">
                <a:solidFill>
                  <a:srgbClr val="4F81BD"/>
                </a:solidFill>
                <a:latin typeface="Tahoma" charset="0"/>
              </a:rPr>
              <a:t>Obligations gouvernementales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195513" y="3598070"/>
            <a:ext cx="20847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CA" sz="1400">
                <a:solidFill>
                  <a:srgbClr val="4F81BD"/>
                </a:solidFill>
                <a:latin typeface="Tahoma" charset="0"/>
              </a:rPr>
              <a:t>Obligations corporatives</a:t>
            </a:r>
          </a:p>
        </p:txBody>
      </p:sp>
      <p:sp>
        <p:nvSpPr>
          <p:cNvPr id="10251" name="Text Box 1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843215" y="3327798"/>
            <a:ext cx="210929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CA" sz="1400">
                <a:solidFill>
                  <a:srgbClr val="4F81BD"/>
                </a:solidFill>
                <a:latin typeface="Tahoma" charset="0"/>
              </a:rPr>
              <a:t>Débentures corporatives</a:t>
            </a:r>
          </a:p>
        </p:txBody>
      </p:sp>
      <p:sp>
        <p:nvSpPr>
          <p:cNvPr id="10252" name="Text Box 12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492500" y="3003948"/>
            <a:ext cx="169328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CA" sz="1400" dirty="0">
                <a:solidFill>
                  <a:srgbClr val="4F81BD"/>
                </a:solidFill>
                <a:latin typeface="Tahoma" charset="0"/>
              </a:rPr>
              <a:t>Actions privilégiées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140203" y="2680098"/>
            <a:ext cx="15854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CA" sz="1400" dirty="0">
                <a:solidFill>
                  <a:srgbClr val="4F81BD"/>
                </a:solidFill>
                <a:latin typeface="Tahoma" charset="0"/>
              </a:rPr>
              <a:t>Actions ordinaires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4859338" y="2356248"/>
            <a:ext cx="144565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CA" sz="1400" dirty="0">
                <a:solidFill>
                  <a:srgbClr val="4F81BD"/>
                </a:solidFill>
                <a:latin typeface="Tahoma" charset="0"/>
              </a:rPr>
              <a:t>Produits dérivés</a:t>
            </a:r>
          </a:p>
        </p:txBody>
      </p:sp>
      <p:cxnSp>
        <p:nvCxnSpPr>
          <p:cNvPr id="16" name="Connecteur droit 15"/>
          <p:cNvCxnSpPr/>
          <p:nvPr>
            <p:custDataLst>
              <p:tags r:id="rId14"/>
            </p:custDataLst>
          </p:nvPr>
        </p:nvCxnSpPr>
        <p:spPr>
          <a:xfrm flipV="1">
            <a:off x="1285852" y="1982386"/>
            <a:ext cx="4357718" cy="20895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>
            <p:custDataLst>
              <p:tags r:id="rId15"/>
            </p:custDataLst>
          </p:nvPr>
        </p:nvCxnSpPr>
        <p:spPr>
          <a:xfrm>
            <a:off x="1258888" y="4071948"/>
            <a:ext cx="5905400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>
            <p:custDataLst>
              <p:tags r:id="rId16"/>
            </p:custDataLst>
          </p:nvPr>
        </p:nvCxnSpPr>
        <p:spPr>
          <a:xfrm>
            <a:off x="4859338" y="2356248"/>
            <a:ext cx="0" cy="1715700"/>
          </a:xfrm>
          <a:prstGeom prst="straightConnector1">
            <a:avLst/>
          </a:prstGeom>
          <a:ln w="34925">
            <a:solidFill>
              <a:srgbClr val="92D05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14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873696" y="3210719"/>
            <a:ext cx="200176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CA" sz="2000" dirty="0" smtClean="0">
                <a:solidFill>
                  <a:schemeClr val="accent3"/>
                </a:solidFill>
                <a:latin typeface="Tahoma" charset="0"/>
              </a:rPr>
              <a:t>Prime de risque</a:t>
            </a:r>
            <a:endParaRPr lang="fr-CA" sz="2000" dirty="0">
              <a:solidFill>
                <a:schemeClr val="accent3"/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010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L’efficience des </a:t>
            </a:r>
            <a:r>
              <a:rPr lang="fr-CA" dirty="0" smtClean="0"/>
              <a:t>marchés </a:t>
            </a:r>
            <a:r>
              <a:rPr lang="fr-CA" sz="1800" dirty="0"/>
              <a:t>(retour sur le chapitre 12)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183096"/>
            <a:ext cx="8186400" cy="3106012"/>
          </a:xfrm>
        </p:spPr>
        <p:txBody>
          <a:bodyPr/>
          <a:lstStyle/>
          <a:p>
            <a:r>
              <a:rPr lang="fr-CA" sz="2400" dirty="0">
                <a:solidFill>
                  <a:schemeClr val="accent1"/>
                </a:solidFill>
              </a:rPr>
              <a:t>Définition</a:t>
            </a:r>
            <a:r>
              <a:rPr lang="fr-CA" sz="2000" dirty="0"/>
              <a:t>: marché dont le prix de tous les titres </a:t>
            </a:r>
            <a:r>
              <a:rPr lang="fr-CA" sz="2000" dirty="0" smtClean="0"/>
              <a:t>s’ajuste </a:t>
            </a:r>
            <a:r>
              <a:rPr lang="fr-CA" sz="2000" u="sng" dirty="0">
                <a:solidFill>
                  <a:schemeClr val="accent2"/>
                </a:solidFill>
              </a:rPr>
              <a:t>rapidement</a:t>
            </a:r>
            <a:r>
              <a:rPr lang="fr-CA" sz="2000" dirty="0"/>
              <a:t> et </a:t>
            </a:r>
            <a:r>
              <a:rPr lang="fr-CA" sz="2000" u="sng" dirty="0">
                <a:solidFill>
                  <a:schemeClr val="accent2"/>
                </a:solidFill>
              </a:rPr>
              <a:t>complètement</a:t>
            </a:r>
            <a:r>
              <a:rPr lang="fr-CA" sz="2000" dirty="0"/>
              <a:t> afin de refléter toute l’information disponible.</a:t>
            </a:r>
          </a:p>
          <a:p>
            <a:pPr marL="361950" indent="0">
              <a:buNone/>
            </a:pPr>
            <a:endParaRPr lang="fr-CA" sz="2000" dirty="0" smtClean="0"/>
          </a:p>
          <a:p>
            <a:pPr marL="361950" indent="0">
              <a:buNone/>
            </a:pPr>
            <a:r>
              <a:rPr lang="fr-CA" sz="2000" dirty="0" smtClean="0"/>
              <a:t>Exemple </a:t>
            </a:r>
            <a:r>
              <a:rPr lang="fr-CA" sz="2000" dirty="0"/>
              <a:t>d’ajustement efficient : annonce d’une bonne </a:t>
            </a:r>
            <a:r>
              <a:rPr lang="fr-CA" sz="2000" dirty="0" smtClean="0"/>
              <a:t>nouvelle</a:t>
            </a:r>
            <a:endParaRPr lang="fr-CA" sz="2000" dirty="0"/>
          </a:p>
          <a:p>
            <a:endParaRPr lang="fr-CA" sz="2800" dirty="0"/>
          </a:p>
        </p:txBody>
      </p:sp>
      <p:grpSp>
        <p:nvGrpSpPr>
          <p:cNvPr id="2" name="Group 1"/>
          <p:cNvGrpSpPr/>
          <p:nvPr/>
        </p:nvGrpSpPr>
        <p:grpSpPr>
          <a:xfrm>
            <a:off x="1331640" y="2770277"/>
            <a:ext cx="5976940" cy="2000489"/>
            <a:chOff x="1331913" y="3057525"/>
            <a:chExt cx="5976940" cy="2000489"/>
          </a:xfrm>
        </p:grpSpPr>
        <p:sp>
          <p:nvSpPr>
            <p:cNvPr id="14340" name="Line 4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 flipV="1">
              <a:off x="1979613" y="3057526"/>
              <a:ext cx="0" cy="16204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CA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14341" name="Line 5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1979616" y="4677966"/>
              <a:ext cx="53292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CA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14342" name="Text Box 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331913" y="3057525"/>
              <a:ext cx="56137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CA">
                  <a:solidFill>
                    <a:prstClr val="black"/>
                  </a:solidFill>
                  <a:latin typeface="Tahoma" charset="0"/>
                </a:rPr>
                <a:t>Prix</a:t>
              </a:r>
            </a:p>
          </p:txBody>
        </p:sp>
        <p:sp>
          <p:nvSpPr>
            <p:cNvPr id="14343" name="Line 7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1979614" y="4245769"/>
              <a:ext cx="1800225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CA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14344" name="Line 8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 flipV="1">
              <a:off x="3779838" y="3651648"/>
              <a:ext cx="0" cy="59412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CA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14345" name="Line 9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779841" y="3651647"/>
              <a:ext cx="3240087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CA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14346" name="Line 10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flipV="1">
              <a:off x="3779841" y="3651648"/>
              <a:ext cx="1728787" cy="594122"/>
            </a:xfrm>
            <a:prstGeom prst="line">
              <a:avLst/>
            </a:prstGeom>
            <a:noFill/>
            <a:ln w="38100" cap="rnd">
              <a:solidFill>
                <a:schemeClr val="accent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CA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600201" y="4095750"/>
              <a:ext cx="39466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CA">
                  <a:solidFill>
                    <a:prstClr val="black"/>
                  </a:solidFill>
                  <a:latin typeface="Tahoma" charset="0"/>
                </a:rPr>
                <a:t>P</a:t>
              </a:r>
              <a:r>
                <a:rPr lang="fr-CA" baseline="-25000">
                  <a:solidFill>
                    <a:prstClr val="black"/>
                  </a:solidFill>
                  <a:latin typeface="Tahoma" charset="0"/>
                </a:rPr>
                <a:t>0</a:t>
              </a:r>
            </a:p>
          </p:txBody>
        </p:sp>
        <p:sp>
          <p:nvSpPr>
            <p:cNvPr id="14348" name="Line 12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1979614" y="3651647"/>
              <a:ext cx="1800225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CA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14349" name="Text Box 1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547813" y="3543300"/>
              <a:ext cx="39466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CA">
                  <a:solidFill>
                    <a:prstClr val="black"/>
                  </a:solidFill>
                  <a:latin typeface="Tahoma" charset="0"/>
                </a:rPr>
                <a:t>P</a:t>
              </a:r>
              <a:r>
                <a:rPr lang="fr-CA" baseline="-25000">
                  <a:solidFill>
                    <a:prstClr val="black"/>
                  </a:solidFill>
                  <a:latin typeface="Tahoma" charset="0"/>
                </a:rPr>
                <a:t>1</a:t>
              </a:r>
            </a:p>
          </p:txBody>
        </p:sp>
        <p:sp>
          <p:nvSpPr>
            <p:cNvPr id="14350" name="Text Box 14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479928" y="3932635"/>
              <a:ext cx="239841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CA" dirty="0">
                  <a:solidFill>
                    <a:srgbClr val="C0504D"/>
                  </a:solidFill>
                  <a:latin typeface="Tahoma" charset="0"/>
                </a:rPr>
                <a:t>Ajustement inefficient</a:t>
              </a:r>
            </a:p>
          </p:txBody>
        </p:sp>
        <p:sp>
          <p:nvSpPr>
            <p:cNvPr id="14351" name="Text Box 15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351589" y="4688682"/>
              <a:ext cx="84241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CA">
                  <a:solidFill>
                    <a:prstClr val="black"/>
                  </a:solidFill>
                  <a:latin typeface="Tahoma" charset="0"/>
                </a:rPr>
                <a:t>Temps</a:t>
              </a:r>
            </a:p>
          </p:txBody>
        </p:sp>
        <p:sp>
          <p:nvSpPr>
            <p:cNvPr id="14352" name="Line 16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3779838" y="4245770"/>
              <a:ext cx="0" cy="43219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CA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14353" name="Text Box 1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616326" y="4688682"/>
              <a:ext cx="31130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CA">
                  <a:solidFill>
                    <a:prstClr val="black"/>
                  </a:solidFill>
                  <a:latin typeface="Tahoma" charset="0"/>
                </a:rPr>
                <a:t>*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288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 smtClean="0"/>
              <a:t>Efficience des marchés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4525248" cy="28691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800" dirty="0" smtClean="0"/>
              <a:t>Si les marchés sont efficients, il ne devrait pas être possible d’obtenir un rendement excédentaire anormal.</a:t>
            </a:r>
            <a:endParaRPr lang="fr-CA" sz="2800" dirty="0"/>
          </a:p>
        </p:txBody>
      </p:sp>
      <p:pic>
        <p:nvPicPr>
          <p:cNvPr id="4" name="Picture 5" descr="Fig12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5" cstate="print"/>
          <a:srcRect l="12051" t="3763" r="9689" b="7224"/>
          <a:stretch>
            <a:fillRect/>
          </a:stretch>
        </p:blipFill>
        <p:spPr bwMode="auto">
          <a:xfrm>
            <a:off x="5004048" y="1347615"/>
            <a:ext cx="3944326" cy="26089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6983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L’efficience des marchés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192383"/>
            <a:ext cx="8186400" cy="3096725"/>
          </a:xfrm>
        </p:spPr>
        <p:txBody>
          <a:bodyPr/>
          <a:lstStyle/>
          <a:p>
            <a:pPr marL="0" indent="0">
              <a:buNone/>
            </a:pPr>
            <a:r>
              <a:rPr lang="fr-CA" sz="2800" dirty="0">
                <a:solidFill>
                  <a:schemeClr val="accent1"/>
                </a:solidFill>
              </a:rPr>
              <a:t>Les 3 formes </a:t>
            </a:r>
            <a:r>
              <a:rPr lang="fr-CA" sz="2800" dirty="0" smtClean="0">
                <a:solidFill>
                  <a:schemeClr val="accent1"/>
                </a:solidFill>
              </a:rPr>
              <a:t>d’efficience :</a:t>
            </a:r>
            <a:endParaRPr lang="fr-CA" sz="2800" dirty="0">
              <a:solidFill>
                <a:schemeClr val="accent1"/>
              </a:solidFill>
            </a:endParaRPr>
          </a:p>
          <a:p>
            <a:pPr marL="538163" lvl="1" indent="-268288"/>
            <a:r>
              <a:rPr lang="fr-CA" sz="2400" dirty="0">
                <a:solidFill>
                  <a:schemeClr val="accent2"/>
                </a:solidFill>
              </a:rPr>
              <a:t>Forme </a:t>
            </a:r>
            <a:r>
              <a:rPr lang="fr-CA" sz="2400" dirty="0" smtClean="0">
                <a:solidFill>
                  <a:schemeClr val="accent2"/>
                </a:solidFill>
              </a:rPr>
              <a:t>faible </a:t>
            </a:r>
            <a:r>
              <a:rPr lang="fr-CA" sz="2400" dirty="0" smtClean="0"/>
              <a:t>: </a:t>
            </a:r>
            <a:r>
              <a:rPr lang="fr-CA" sz="2400" dirty="0"/>
              <a:t>inclus l’information </a:t>
            </a:r>
            <a:r>
              <a:rPr lang="fr-CA" sz="2400" dirty="0" smtClean="0"/>
              <a:t>historique.</a:t>
            </a:r>
            <a:endParaRPr lang="fr-CA" sz="2400" dirty="0"/>
          </a:p>
          <a:p>
            <a:pPr marL="538163" lvl="1" indent="-268288"/>
            <a:r>
              <a:rPr lang="fr-CA" sz="2400" dirty="0">
                <a:solidFill>
                  <a:schemeClr val="accent2"/>
                </a:solidFill>
              </a:rPr>
              <a:t>Forme </a:t>
            </a:r>
            <a:r>
              <a:rPr lang="fr-CA" sz="2400" dirty="0" smtClean="0">
                <a:solidFill>
                  <a:schemeClr val="accent2"/>
                </a:solidFill>
              </a:rPr>
              <a:t>semi-forte </a:t>
            </a:r>
            <a:r>
              <a:rPr lang="fr-CA" sz="2400" dirty="0" smtClean="0"/>
              <a:t>: </a:t>
            </a:r>
            <a:r>
              <a:rPr lang="fr-CA" sz="2400" dirty="0"/>
              <a:t>l’info </a:t>
            </a:r>
            <a:r>
              <a:rPr lang="fr-CA" sz="2400" dirty="0" smtClean="0"/>
              <a:t>historique </a:t>
            </a:r>
            <a:r>
              <a:rPr lang="fr-CA" sz="2400" dirty="0"/>
              <a:t>et publique.</a:t>
            </a:r>
          </a:p>
          <a:p>
            <a:pPr marL="538163" lvl="1" indent="-268288"/>
            <a:r>
              <a:rPr lang="fr-CA" sz="2400" dirty="0">
                <a:solidFill>
                  <a:schemeClr val="accent2"/>
                </a:solidFill>
              </a:rPr>
              <a:t>Forme </a:t>
            </a:r>
            <a:r>
              <a:rPr lang="fr-CA" sz="2400" dirty="0" smtClean="0">
                <a:solidFill>
                  <a:schemeClr val="accent2"/>
                </a:solidFill>
              </a:rPr>
              <a:t>forte </a:t>
            </a:r>
            <a:r>
              <a:rPr lang="fr-CA" sz="2400" dirty="0" smtClean="0"/>
              <a:t>: </a:t>
            </a:r>
            <a:r>
              <a:rPr lang="fr-CA" sz="2400" dirty="0"/>
              <a:t>l’info </a:t>
            </a:r>
            <a:r>
              <a:rPr lang="fr-CA" sz="2400" dirty="0" smtClean="0"/>
              <a:t>historique, </a:t>
            </a:r>
            <a:r>
              <a:rPr lang="fr-CA" sz="2400" dirty="0"/>
              <a:t>publique et privée.</a:t>
            </a:r>
          </a:p>
          <a:p>
            <a:endParaRPr lang="fr-CA" dirty="0"/>
          </a:p>
        </p:txBody>
      </p:sp>
      <p:grpSp>
        <p:nvGrpSpPr>
          <p:cNvPr id="2" name="Groupe 1"/>
          <p:cNvGrpSpPr/>
          <p:nvPr>
            <p:custDataLst>
              <p:tags r:id="rId3"/>
            </p:custDataLst>
          </p:nvPr>
        </p:nvGrpSpPr>
        <p:grpSpPr>
          <a:xfrm>
            <a:off x="1979712" y="3147814"/>
            <a:ext cx="5113337" cy="1893332"/>
            <a:chOff x="1979616" y="3057525"/>
            <a:chExt cx="5113337" cy="1893332"/>
          </a:xfrm>
        </p:grpSpPr>
        <p:sp>
          <p:nvSpPr>
            <p:cNvPr id="4100" name="Rectangle 4"/>
            <p:cNvSpPr>
              <a:spLocks noChangeArrowheads="1"/>
            </p:cNvSpPr>
            <p:nvPr/>
          </p:nvSpPr>
          <p:spPr bwMode="auto">
            <a:xfrm>
              <a:off x="3203578" y="3705226"/>
              <a:ext cx="2665413" cy="48577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CA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4101" name="Rectangle 5"/>
            <p:cNvSpPr>
              <a:spLocks noChangeArrowheads="1"/>
            </p:cNvSpPr>
            <p:nvPr/>
          </p:nvSpPr>
          <p:spPr bwMode="auto">
            <a:xfrm>
              <a:off x="2484441" y="3381375"/>
              <a:ext cx="4103687" cy="1134666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CA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4102" name="Rectangle 6"/>
            <p:cNvSpPr>
              <a:spLocks noChangeArrowheads="1"/>
            </p:cNvSpPr>
            <p:nvPr/>
          </p:nvSpPr>
          <p:spPr bwMode="auto">
            <a:xfrm>
              <a:off x="1979616" y="3057525"/>
              <a:ext cx="5113337" cy="183594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CA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4103" name="Text Box 7"/>
            <p:cNvSpPr txBox="1">
              <a:spLocks noChangeArrowheads="1"/>
            </p:cNvSpPr>
            <p:nvPr/>
          </p:nvSpPr>
          <p:spPr bwMode="auto">
            <a:xfrm>
              <a:off x="3779839" y="3813572"/>
              <a:ext cx="173868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CA" dirty="0">
                  <a:solidFill>
                    <a:srgbClr val="C0504D"/>
                  </a:solidFill>
                  <a:latin typeface="Tahoma" charset="0"/>
                </a:rPr>
                <a:t>Info </a:t>
              </a:r>
              <a:r>
                <a:rPr lang="fr-CA" dirty="0" smtClean="0">
                  <a:solidFill>
                    <a:srgbClr val="C0504D"/>
                  </a:solidFill>
                  <a:latin typeface="Arial" charset="0"/>
                </a:rPr>
                <a:t>historique</a:t>
              </a:r>
              <a:endParaRPr lang="fr-CA" dirty="0">
                <a:solidFill>
                  <a:srgbClr val="C0504D"/>
                </a:solidFill>
                <a:latin typeface="Tahoma" charset="0"/>
              </a:endParaRPr>
            </a:p>
          </p:txBody>
        </p:sp>
        <p:sp>
          <p:nvSpPr>
            <p:cNvPr id="4104" name="Text Box 8"/>
            <p:cNvSpPr txBox="1">
              <a:spLocks noChangeArrowheads="1"/>
            </p:cNvSpPr>
            <p:nvPr/>
          </p:nvSpPr>
          <p:spPr bwMode="auto">
            <a:xfrm>
              <a:off x="3779839" y="4192191"/>
              <a:ext cx="153606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CA">
                  <a:solidFill>
                    <a:srgbClr val="C0504D"/>
                  </a:solidFill>
                  <a:latin typeface="Tahoma" charset="0"/>
                </a:rPr>
                <a:t>Info publique</a:t>
              </a:r>
            </a:p>
          </p:txBody>
        </p:sp>
        <p:sp>
          <p:nvSpPr>
            <p:cNvPr id="4105" name="Text Box 9"/>
            <p:cNvSpPr txBox="1">
              <a:spLocks noChangeArrowheads="1"/>
            </p:cNvSpPr>
            <p:nvPr/>
          </p:nvSpPr>
          <p:spPr bwMode="auto">
            <a:xfrm>
              <a:off x="3832225" y="4581525"/>
              <a:ext cx="129054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CA" dirty="0">
                  <a:solidFill>
                    <a:srgbClr val="C0504D"/>
                  </a:solidFill>
                  <a:latin typeface="Tahoma" charset="0"/>
                </a:rPr>
                <a:t>Info privée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987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 smtClean="0"/>
              <a:t>Efficience des marchés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8186400" cy="33120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fr-CA" sz="1700" u="sng" dirty="0" smtClean="0"/>
              <a:t>Paradoxe</a:t>
            </a:r>
            <a:r>
              <a:rPr lang="fr-CA" sz="1700" dirty="0" smtClean="0"/>
              <a:t> : plus les investisseurs croient que les marchés ne sont pas efficients; plus ils interviennent dans celui-ci, ce qui contribuent à son efficience (en intervenant sur les prix, les transactions permettent d’intégrer l’information disponible).</a:t>
            </a:r>
          </a:p>
          <a:p>
            <a:pPr marL="0" indent="0" algn="just">
              <a:buNone/>
            </a:pPr>
            <a:endParaRPr lang="fr-CA" sz="1700" dirty="0" smtClean="0"/>
          </a:p>
          <a:p>
            <a:pPr marL="0" indent="0" algn="just">
              <a:buNone/>
            </a:pPr>
            <a:r>
              <a:rPr lang="fr-CA" sz="1700" u="sng" dirty="0" smtClean="0"/>
              <a:t>Évaluation empirique</a:t>
            </a:r>
            <a:r>
              <a:rPr lang="fr-CA" sz="1700" dirty="0" smtClean="0"/>
              <a:t> : les marchés des actions semblent démontrer un certain niveau d’efficience, mais il est impossible à déterminer empiriquement de façon définitive.</a:t>
            </a:r>
          </a:p>
          <a:p>
            <a:pPr marL="0" indent="0" algn="just">
              <a:buNone/>
            </a:pPr>
            <a:endParaRPr lang="fr-CA" sz="1700" dirty="0" smtClean="0"/>
          </a:p>
          <a:p>
            <a:pPr marL="0" indent="0" algn="just">
              <a:buNone/>
            </a:pPr>
            <a:r>
              <a:rPr lang="fr-CA" sz="1700" u="sng" dirty="0" smtClean="0"/>
              <a:t>Thèse d’efficience</a:t>
            </a:r>
            <a:r>
              <a:rPr lang="fr-CA" sz="1700" dirty="0" smtClean="0"/>
              <a:t> : adhérer à cette thèse signifie que l’on peut espérer à long terme un rendement proportionnel au risque systématique, et que toutes tentatives d’obtenir un rendement excédentaire à long terme est futile.</a:t>
            </a:r>
            <a:endParaRPr lang="fr-CA" sz="1700" dirty="0"/>
          </a:p>
        </p:txBody>
      </p:sp>
    </p:spTree>
    <p:extLst>
      <p:ext uri="{BB962C8B-B14F-4D97-AF65-F5344CB8AC3E}">
        <p14:creationId xmlns:p14="http://schemas.microsoft.com/office/powerpoint/2010/main" val="1231072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smtClean="0"/>
              <a:t>Efficience des marchés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8186400" cy="3312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600" dirty="0" smtClean="0"/>
              <a:t>« Il est préférable pour un investisseur individuel, de croire en l’efficience des marchés plutôt que d’essayer d’en découvrir les faiblesses. »</a:t>
            </a:r>
          </a:p>
          <a:p>
            <a:pPr marL="0" indent="0">
              <a:buNone/>
            </a:pPr>
            <a:r>
              <a:rPr lang="fr-CA" sz="1600" dirty="0"/>
              <a:t>	</a:t>
            </a:r>
            <a:r>
              <a:rPr lang="fr-CA" sz="1600" dirty="0" smtClean="0"/>
              <a:t>				Gestion Financières, Chapitre 18</a:t>
            </a:r>
          </a:p>
          <a:p>
            <a:pPr marL="514350" indent="-514350">
              <a:buFont typeface="+mj-lt"/>
              <a:buAutoNum type="arabicParenR"/>
            </a:pPr>
            <a:r>
              <a:rPr lang="fr-CA" sz="1600" dirty="0" smtClean="0"/>
              <a:t>Sophistication des marchés des capitaux : les investisseurs institutionnels intègrent les nouvelles informations très rapidement dans les prix (</a:t>
            </a:r>
            <a:r>
              <a:rPr lang="fr-CA" sz="1600" dirty="0" err="1" smtClean="0"/>
              <a:t>algotrading</a:t>
            </a:r>
            <a:r>
              <a:rPr lang="fr-CA" sz="1600" dirty="0" smtClean="0"/>
              <a:t>, transactions hautes fréquences, etc.)</a:t>
            </a:r>
          </a:p>
          <a:p>
            <a:pPr marL="514350" indent="-514350">
              <a:buFont typeface="+mj-lt"/>
              <a:buAutoNum type="arabicParenR"/>
            </a:pPr>
            <a:r>
              <a:rPr lang="fr-CA" sz="1600" dirty="0" smtClean="0"/>
              <a:t>Plusieurs exemples d’échecs : certaines grandes firmes de renoms et grands noms de la finance se sont fait prendre au jeu (LTCM, </a:t>
            </a:r>
            <a:r>
              <a:rPr lang="fr-CA" sz="1600" dirty="0" err="1" smtClean="0"/>
              <a:t>Amaranth</a:t>
            </a:r>
            <a:r>
              <a:rPr lang="fr-CA" sz="1600" dirty="0" smtClean="0"/>
              <a:t>, Robertson, etc</a:t>
            </a:r>
            <a:r>
              <a:rPr lang="fr-CA" sz="1600" dirty="0"/>
              <a:t>.) fait </a:t>
            </a:r>
            <a:endParaRPr lang="fr-CA" sz="1600" dirty="0" smtClean="0"/>
          </a:p>
          <a:p>
            <a:pPr marL="514350" indent="-514350">
              <a:buFont typeface="+mj-lt"/>
              <a:buAutoNum type="arabicParenR"/>
            </a:pPr>
            <a:r>
              <a:rPr lang="fr-CA" sz="1600" dirty="0" smtClean="0"/>
              <a:t>Manipulation de marchés: certaines intervenants du marché profitent que les marchés ne soient pas efficients sous la forme forte et en profitent pour manipuler les marchés (LIBOR, Goldman Sachs, etc.)</a:t>
            </a:r>
          </a:p>
        </p:txBody>
      </p:sp>
    </p:spTree>
    <p:extLst>
      <p:ext uri="{BB962C8B-B14F-4D97-AF65-F5344CB8AC3E}">
        <p14:creationId xmlns:p14="http://schemas.microsoft.com/office/powerpoint/2010/main" val="631598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smtClean="0"/>
              <a:t>Efficience des marchés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CA" sz="2600" dirty="0" smtClean="0">
                <a:solidFill>
                  <a:schemeClr val="accent3"/>
                </a:solidFill>
              </a:rPr>
              <a:t>1. </a:t>
            </a:r>
            <a:r>
              <a:rPr lang="fr-CA" sz="2600" u="sng" dirty="0" smtClean="0">
                <a:solidFill>
                  <a:schemeClr val="accent3"/>
                </a:solidFill>
              </a:rPr>
              <a:t>Certaines inefficiences (anomalies) existent :</a:t>
            </a:r>
          </a:p>
          <a:p>
            <a:pPr marL="715963" indent="-269875">
              <a:buFont typeface="Wingdings" panose="05000000000000000000" pitchFamily="2" charset="2"/>
              <a:buChar char="§"/>
            </a:pPr>
            <a:endParaRPr lang="fr-CA" sz="2600" dirty="0" smtClean="0"/>
          </a:p>
          <a:p>
            <a:pPr marL="715963" indent="-269875">
              <a:buFont typeface="Wingdings" panose="05000000000000000000" pitchFamily="2" charset="2"/>
              <a:buChar char="§"/>
            </a:pPr>
            <a:r>
              <a:rPr lang="fr-CA" sz="2600" dirty="0" err="1" smtClean="0"/>
              <a:t>Momentum</a:t>
            </a:r>
            <a:r>
              <a:rPr lang="fr-CA" sz="2600" dirty="0" smtClean="0"/>
              <a:t>: les titres ayant un bon historique de rendement récent ont tendance à bien performer dans un avenir immédiat</a:t>
            </a:r>
          </a:p>
          <a:p>
            <a:pPr marL="715963" indent="-269875">
              <a:buFont typeface="Wingdings" panose="05000000000000000000" pitchFamily="2" charset="2"/>
              <a:buChar char="§"/>
            </a:pPr>
            <a:r>
              <a:rPr lang="fr-CA" sz="2600" dirty="0" smtClean="0"/>
              <a:t>Faibles capitalisations: surperforment les grandes capitalisations, même ajustées pour le risque</a:t>
            </a:r>
          </a:p>
          <a:p>
            <a:pPr marL="715963" indent="-269875">
              <a:buFont typeface="Wingdings" panose="05000000000000000000" pitchFamily="2" charset="2"/>
              <a:buChar char="§"/>
            </a:pPr>
            <a:r>
              <a:rPr lang="fr-CA" sz="2600" dirty="0" smtClean="0"/>
              <a:t>Effet valeur: les titres présentant des facteurs fondamentaux favorables surperforment</a:t>
            </a:r>
          </a:p>
          <a:p>
            <a:pPr>
              <a:buFont typeface="Wingdings" panose="05000000000000000000" pitchFamily="2" charset="2"/>
              <a:buChar char="§"/>
            </a:pPr>
            <a:endParaRPr lang="fr-CA" dirty="0" smtClean="0"/>
          </a:p>
        </p:txBody>
      </p:sp>
    </p:spTree>
    <p:extLst>
      <p:ext uri="{BB962C8B-B14F-4D97-AF65-F5344CB8AC3E}">
        <p14:creationId xmlns:p14="http://schemas.microsoft.com/office/powerpoint/2010/main" val="3397093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smtClean="0"/>
              <a:t>Efficience des marchés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dirty="0">
                <a:solidFill>
                  <a:schemeClr val="accent3"/>
                </a:solidFill>
              </a:rPr>
              <a:t>2</a:t>
            </a:r>
            <a:r>
              <a:rPr lang="fr-CA" sz="2400" dirty="0" smtClean="0">
                <a:solidFill>
                  <a:schemeClr val="accent3"/>
                </a:solidFill>
              </a:rPr>
              <a:t>. </a:t>
            </a:r>
            <a:r>
              <a:rPr lang="fr-CA" sz="2400" u="sng" dirty="0" smtClean="0">
                <a:solidFill>
                  <a:schemeClr val="accent3"/>
                </a:solidFill>
              </a:rPr>
              <a:t>Les marchés sont parfois irrationnels (inefficient)</a:t>
            </a:r>
          </a:p>
          <a:p>
            <a:pPr marL="361950" indent="0">
              <a:buNone/>
            </a:pPr>
            <a:endParaRPr lang="fr-CA" sz="2000" dirty="0" smtClean="0"/>
          </a:p>
          <a:p>
            <a:pPr marL="361950" indent="0">
              <a:buNone/>
            </a:pPr>
            <a:r>
              <a:rPr lang="fr-CA" sz="2000" dirty="0" smtClean="0"/>
              <a:t>Ex.:	Bulle spéculative des titres technos (2000), marché immobilier (2007), etc.</a:t>
            </a:r>
            <a:endParaRPr lang="fr-CA" sz="2000" dirty="0"/>
          </a:p>
          <a:p>
            <a:pPr marL="0" indent="0">
              <a:buNone/>
            </a:pPr>
            <a:endParaRPr lang="fr-CA" sz="2000" dirty="0" smtClean="0"/>
          </a:p>
          <a:p>
            <a:pPr marL="0" indent="0">
              <a:buNone/>
            </a:pPr>
            <a:r>
              <a:rPr lang="fr-CA" sz="2000" dirty="0" smtClean="0"/>
              <a:t>Pour que les marchés soient ainsi inefficients, il faut qu’une très grande majorité des investisseurs (individuels &amp; institutionnels) soient irrationnels</a:t>
            </a:r>
          </a:p>
        </p:txBody>
      </p:sp>
    </p:spTree>
    <p:extLst>
      <p:ext uri="{BB962C8B-B14F-4D97-AF65-F5344CB8AC3E}">
        <p14:creationId xmlns:p14="http://schemas.microsoft.com/office/powerpoint/2010/main" val="2854323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Investir dans les marchés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8186400" cy="32400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CA" dirty="0" smtClean="0"/>
              <a:t>Où vous situez-vous?</a:t>
            </a:r>
          </a:p>
          <a:p>
            <a:pPr marL="0" indent="0">
              <a:buNone/>
            </a:pPr>
            <a:r>
              <a:rPr lang="fr-CA" sz="3100" u="sng" dirty="0" smtClean="0">
                <a:solidFill>
                  <a:schemeClr val="accent1"/>
                </a:solidFill>
              </a:rPr>
              <a:t>Marché inefficient = gestion active</a:t>
            </a:r>
          </a:p>
          <a:p>
            <a:pPr marL="0" indent="0">
              <a:buNone/>
            </a:pPr>
            <a:endParaRPr lang="fr-CA" sz="2800" dirty="0" smtClean="0"/>
          </a:p>
          <a:p>
            <a:pPr marL="0" indent="0">
              <a:buNone/>
            </a:pPr>
            <a:r>
              <a:rPr lang="fr-CA" sz="2800" dirty="0" smtClean="0"/>
              <a:t>Choix d’investissement en fonction des anomalies identifiés afin d’obtenir un rendement au-delà du rendement de l’indice (excédentaire anormal ou </a:t>
            </a:r>
            <a:r>
              <a:rPr lang="fr-CA" sz="2800" dirty="0" smtClean="0">
                <a:latin typeface="Symbol" panose="05050102010706020507" pitchFamily="18" charset="2"/>
              </a:rPr>
              <a:t>a</a:t>
            </a:r>
            <a:r>
              <a:rPr lang="fr-CA" sz="2800" dirty="0" smtClean="0"/>
              <a:t>)</a:t>
            </a:r>
          </a:p>
          <a:p>
            <a:pPr marL="0" indent="0">
              <a:buNone/>
            </a:pPr>
            <a:endParaRPr lang="fr-CA" sz="2800" dirty="0"/>
          </a:p>
          <a:p>
            <a:pPr marL="0" indent="0">
              <a:buNone/>
            </a:pPr>
            <a:r>
              <a:rPr lang="fr-CA" sz="3100" u="sng" dirty="0" smtClean="0">
                <a:solidFill>
                  <a:schemeClr val="accent1"/>
                </a:solidFill>
              </a:rPr>
              <a:t>Marché efficient = gestion passive</a:t>
            </a:r>
          </a:p>
          <a:p>
            <a:pPr marL="0" indent="0">
              <a:buNone/>
            </a:pPr>
            <a:endParaRPr lang="fr-CA" sz="2800" dirty="0" smtClean="0"/>
          </a:p>
          <a:p>
            <a:pPr marL="0" indent="0">
              <a:buNone/>
            </a:pPr>
            <a:r>
              <a:rPr lang="fr-CA" sz="2800" dirty="0" smtClean="0"/>
              <a:t>Choix de produits financiers diversifiés permettant de répliquer les rendements des marchés (indices boursiers)</a:t>
            </a:r>
          </a:p>
        </p:txBody>
      </p:sp>
    </p:spTree>
    <p:extLst>
      <p:ext uri="{BB962C8B-B14F-4D97-AF65-F5344CB8AC3E}">
        <p14:creationId xmlns:p14="http://schemas.microsoft.com/office/powerpoint/2010/main" val="4154042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smtClean="0"/>
              <a:t>Investir dans les marchés</a:t>
            </a:r>
            <a:endParaRPr lang="fr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2400" dirty="0">
                <a:solidFill>
                  <a:schemeClr val="accent1"/>
                </a:solidFill>
              </a:rPr>
              <a:t>Gestion </a:t>
            </a:r>
            <a:r>
              <a:rPr lang="fr-CA" sz="2400" dirty="0" smtClean="0">
                <a:solidFill>
                  <a:schemeClr val="accent1"/>
                </a:solidFill>
              </a:rPr>
              <a:t>active</a:t>
            </a:r>
            <a:endParaRPr lang="fr-CA" sz="2400" dirty="0">
              <a:solidFill>
                <a:schemeClr val="accent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fr-CA" sz="1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fr-CA" sz="1800" dirty="0" smtClean="0"/>
              <a:t>Vise à battre en moyenne le marché (marchés ≠ efficients)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1800" dirty="0" smtClean="0"/>
              <a:t>Gestion professionnelle : fonds mutuels à frais élevés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1800" dirty="0" smtClean="0"/>
              <a:t>Investisseur autonome : fait ses propres choix de titres</a:t>
            </a:r>
            <a:endParaRPr lang="fr-CA" sz="1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CA" sz="2400" dirty="0">
                <a:solidFill>
                  <a:schemeClr val="accent1"/>
                </a:solidFill>
              </a:rPr>
              <a:t>Gestion </a:t>
            </a:r>
            <a:r>
              <a:rPr lang="fr-CA" sz="2400" dirty="0" smtClean="0">
                <a:solidFill>
                  <a:schemeClr val="accent1"/>
                </a:solidFill>
              </a:rPr>
              <a:t>passive</a:t>
            </a:r>
            <a:endParaRPr lang="fr-CA" sz="2400" dirty="0">
              <a:solidFill>
                <a:schemeClr val="accent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fr-CA" sz="1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fr-CA" sz="1800" dirty="0" smtClean="0"/>
              <a:t>Vise </a:t>
            </a:r>
            <a:r>
              <a:rPr lang="fr-CA" sz="1800" dirty="0"/>
              <a:t>à obtenir le rendement du marché </a:t>
            </a:r>
            <a:r>
              <a:rPr lang="fr-CA" sz="1800" dirty="0" smtClean="0"/>
              <a:t>(marchés = efficients)</a:t>
            </a:r>
            <a:endParaRPr lang="fr-CA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fr-CA" sz="1800" dirty="0"/>
              <a:t>Produits diversifiés : FNB à frais relativement faibles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1800" dirty="0"/>
              <a:t>Fonds négociés en bourse : réplication d’indices</a:t>
            </a:r>
          </a:p>
          <a:p>
            <a:endParaRPr lang="fr-CA" sz="1800" dirty="0"/>
          </a:p>
        </p:txBody>
      </p:sp>
    </p:spTree>
    <p:extLst>
      <p:ext uri="{BB962C8B-B14F-4D97-AF65-F5344CB8AC3E}">
        <p14:creationId xmlns:p14="http://schemas.microsoft.com/office/powerpoint/2010/main" val="2643299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smtClean="0"/>
              <a:t>Investir dans les marchés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6253440" cy="28691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3200" dirty="0" smtClean="0">
                <a:solidFill>
                  <a:schemeClr val="accent1"/>
                </a:solidFill>
              </a:rPr>
              <a:t>Ce qu’en pense </a:t>
            </a:r>
            <a:r>
              <a:rPr lang="fr-CA" sz="3200" dirty="0">
                <a:solidFill>
                  <a:schemeClr val="accent1"/>
                </a:solidFill>
              </a:rPr>
              <a:t>Warren Buffet</a:t>
            </a:r>
          </a:p>
          <a:p>
            <a:pPr marL="0" indent="0">
              <a:buNone/>
            </a:pPr>
            <a:endParaRPr lang="fr-CA" dirty="0" smtClean="0"/>
          </a:p>
          <a:p>
            <a:pPr marL="0" indent="0">
              <a:buNone/>
            </a:pPr>
            <a:r>
              <a:rPr lang="en-US" dirty="0"/>
              <a:t>“My advice to the trustee couldn't be more simple: Put 10% of the cash in short-term government bonds and 90% in a very low-cost S&amp;P 500 index fund. (I suggest Vanguard's.) I believe the trust's long-term results from this policy will be superior to those attained by most investors — whether pension funds, institutions or individuals — who employ high-fee managers.”</a:t>
            </a:r>
          </a:p>
          <a:p>
            <a:pPr marL="0" indent="0">
              <a:buNone/>
            </a:pPr>
            <a:r>
              <a:rPr lang="fr-CA" dirty="0" smtClean="0"/>
              <a:t> </a:t>
            </a:r>
            <a:endParaRPr lang="fr-CA" dirty="0"/>
          </a:p>
        </p:txBody>
      </p:sp>
      <p:grpSp>
        <p:nvGrpSpPr>
          <p:cNvPr id="8" name="Groupe 7"/>
          <p:cNvGrpSpPr/>
          <p:nvPr>
            <p:custDataLst>
              <p:tags r:id="rId3"/>
            </p:custDataLst>
          </p:nvPr>
        </p:nvGrpSpPr>
        <p:grpSpPr>
          <a:xfrm>
            <a:off x="6732240" y="1779662"/>
            <a:ext cx="2123725" cy="2697480"/>
            <a:chOff x="6907677" y="1231012"/>
            <a:chExt cx="2123725" cy="2697480"/>
          </a:xfrm>
        </p:grpSpPr>
        <p:sp>
          <p:nvSpPr>
            <p:cNvPr id="5" name="Rectangle 4"/>
            <p:cNvSpPr/>
            <p:nvPr/>
          </p:nvSpPr>
          <p:spPr>
            <a:xfrm>
              <a:off x="6927963" y="1231012"/>
              <a:ext cx="2103438" cy="26974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907677" y="2556892"/>
              <a:ext cx="212372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chemeClr val="tx1">
                      <a:lumMod val="50000"/>
                    </a:schemeClr>
                  </a:solidFill>
                </a:rPr>
                <a:t>Annual return </a:t>
              </a:r>
            </a:p>
            <a:p>
              <a:pPr algn="ctr"/>
              <a:r>
                <a:rPr lang="en-US" sz="2000" b="1" dirty="0" smtClean="0">
                  <a:solidFill>
                    <a:schemeClr val="tx1">
                      <a:lumMod val="50000"/>
                    </a:schemeClr>
                  </a:solidFill>
                </a:rPr>
                <a:t>1965-2014</a:t>
              </a:r>
            </a:p>
            <a:p>
              <a:r>
                <a:rPr lang="en-US" sz="2000" dirty="0" smtClean="0">
                  <a:solidFill>
                    <a:schemeClr val="tx1">
                      <a:lumMod val="50000"/>
                    </a:schemeClr>
                  </a:solidFill>
                </a:rPr>
                <a:t>Buffet : ~20 %</a:t>
              </a:r>
            </a:p>
            <a:p>
              <a:r>
                <a:rPr lang="en-US" sz="2000" dirty="0" smtClean="0">
                  <a:solidFill>
                    <a:schemeClr val="tx1">
                      <a:lumMod val="50000"/>
                    </a:schemeClr>
                  </a:solidFill>
                </a:rPr>
                <a:t>SP500 : 9.4 %</a:t>
              </a:r>
              <a:endParaRPr lang="en-US" sz="20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pic>
          <p:nvPicPr>
            <p:cNvPr id="7" name="Picture 2" descr="http://ei.marketwatch.com/Multimedia/2013/12/18/Photos/ME/MW-BR228_buffet_20131218120539_ME.jpg?uuid=a8241fe8-6806-11e3-ba73-00212803fad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7005" y="1292349"/>
              <a:ext cx="1902638" cy="1271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8826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smtClean="0"/>
              <a:t>Investir dans les marchés</a:t>
            </a:r>
            <a:endParaRPr lang="fr-CA" dirty="0"/>
          </a:p>
        </p:txBody>
      </p:sp>
      <p:sp>
        <p:nvSpPr>
          <p:cNvPr id="9" name="Espace réservé du texte 8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7200" y="1365961"/>
            <a:ext cx="4038600" cy="1853861"/>
          </a:xfrm>
        </p:spPr>
        <p:txBody>
          <a:bodyPr/>
          <a:lstStyle/>
          <a:p>
            <a:pPr marL="0" lvl="0" indent="0" fontAlgn="base">
              <a:spcAft>
                <a:spcPct val="0"/>
              </a:spcAft>
              <a:buNone/>
              <a:defRPr/>
            </a:pPr>
            <a:r>
              <a:rPr lang="fr-FR" sz="1800" u="sng" kern="0" dirty="0" smtClean="0">
                <a:solidFill>
                  <a:schemeClr val="accent1"/>
                </a:solidFill>
                <a:latin typeface="+mj-lt"/>
              </a:rPr>
              <a:t>Hypothèses</a:t>
            </a:r>
            <a:r>
              <a:rPr lang="fr-FR" sz="1800" kern="0" dirty="0" smtClean="0">
                <a:solidFill>
                  <a:schemeClr val="accent1"/>
                </a:solidFill>
                <a:latin typeface="+mj-lt"/>
              </a:rPr>
              <a:t> :</a:t>
            </a:r>
          </a:p>
          <a:p>
            <a:pPr lvl="0" fontAlgn="base">
              <a:spcAft>
                <a:spcPct val="0"/>
              </a:spcAft>
              <a:defRPr/>
            </a:pPr>
            <a:endParaRPr lang="fr-FR" kern="0" dirty="0" smtClean="0">
              <a:solidFill>
                <a:sysClr val="windowText" lastClr="000000">
                  <a:lumMod val="50000"/>
                </a:sysClr>
              </a:solidFill>
              <a:latin typeface="+mj-lt"/>
            </a:endParaRPr>
          </a:p>
          <a:p>
            <a:pPr lvl="0" fontAlgn="base">
              <a:spcAft>
                <a:spcPct val="0"/>
              </a:spcAft>
              <a:defRPr/>
            </a:pPr>
            <a:r>
              <a:rPr lang="fr-FR" kern="0" dirty="0" smtClean="0">
                <a:solidFill>
                  <a:sysClr val="windowText" lastClr="000000">
                    <a:lumMod val="50000"/>
                  </a:sysClr>
                </a:solidFill>
                <a:latin typeface="+mj-lt"/>
              </a:rPr>
              <a:t>Gestion active : 2 % </a:t>
            </a:r>
            <a:r>
              <a:rPr lang="fr-FR" kern="0" dirty="0">
                <a:solidFill>
                  <a:sysClr val="windowText" lastClr="000000">
                    <a:lumMod val="50000"/>
                  </a:sysClr>
                </a:solidFill>
                <a:latin typeface="+mj-lt"/>
              </a:rPr>
              <a:t>frais par </a:t>
            </a:r>
            <a:r>
              <a:rPr lang="fr-FR" kern="0" dirty="0" smtClean="0">
                <a:solidFill>
                  <a:sysClr val="windowText" lastClr="000000">
                    <a:lumMod val="50000"/>
                  </a:sysClr>
                </a:solidFill>
                <a:latin typeface="+mj-lt"/>
              </a:rPr>
              <a:t>an</a:t>
            </a:r>
          </a:p>
          <a:p>
            <a:pPr lvl="0" fontAlgn="base">
              <a:spcAft>
                <a:spcPct val="0"/>
              </a:spcAft>
              <a:defRPr/>
            </a:pPr>
            <a:r>
              <a:rPr lang="fr-FR" kern="0" dirty="0" smtClean="0">
                <a:solidFill>
                  <a:sysClr val="windowText" lastClr="000000">
                    <a:lumMod val="50000"/>
                  </a:sysClr>
                </a:solidFill>
                <a:latin typeface="+mj-lt"/>
              </a:rPr>
              <a:t>Gestion passive : 0.15 % </a:t>
            </a:r>
            <a:r>
              <a:rPr lang="fr-FR" kern="0" dirty="0">
                <a:solidFill>
                  <a:sysClr val="windowText" lastClr="000000">
                    <a:lumMod val="50000"/>
                  </a:sysClr>
                </a:solidFill>
                <a:latin typeface="+mj-lt"/>
              </a:rPr>
              <a:t>frais par </a:t>
            </a:r>
            <a:r>
              <a:rPr lang="fr-FR" kern="0" dirty="0" smtClean="0">
                <a:solidFill>
                  <a:sysClr val="windowText" lastClr="000000">
                    <a:lumMod val="50000"/>
                  </a:sysClr>
                </a:solidFill>
                <a:latin typeface="+mj-lt"/>
              </a:rPr>
              <a:t>an</a:t>
            </a:r>
            <a:endParaRPr lang="fr-FR" kern="0" dirty="0">
              <a:solidFill>
                <a:sysClr val="windowText" lastClr="000000">
                  <a:lumMod val="50000"/>
                </a:sysClr>
              </a:solidFill>
              <a:latin typeface="+mj-lt"/>
            </a:endParaRPr>
          </a:p>
          <a:p>
            <a:pPr lvl="0" fontAlgn="base">
              <a:spcAft>
                <a:spcPct val="0"/>
              </a:spcAft>
              <a:defRPr/>
            </a:pPr>
            <a:r>
              <a:rPr lang="fr-FR" kern="0" dirty="0" smtClean="0">
                <a:solidFill>
                  <a:sysClr val="windowText" lastClr="000000">
                    <a:lumMod val="50000"/>
                  </a:sysClr>
                </a:solidFill>
                <a:latin typeface="+mj-lt"/>
              </a:rPr>
              <a:t>Rendement élevé : 10 % </a:t>
            </a:r>
            <a:r>
              <a:rPr lang="fr-FR" kern="0" dirty="0">
                <a:solidFill>
                  <a:sysClr val="windowText" lastClr="000000">
                    <a:lumMod val="50000"/>
                  </a:sysClr>
                </a:solidFill>
                <a:latin typeface="+mj-lt"/>
              </a:rPr>
              <a:t>avant </a:t>
            </a:r>
            <a:r>
              <a:rPr lang="fr-FR" kern="0" dirty="0" smtClean="0">
                <a:solidFill>
                  <a:sysClr val="windowText" lastClr="000000">
                    <a:lumMod val="50000"/>
                  </a:sysClr>
                </a:solidFill>
                <a:latin typeface="+mj-lt"/>
              </a:rPr>
              <a:t>frais</a:t>
            </a:r>
          </a:p>
          <a:p>
            <a:pPr lvl="0" fontAlgn="base">
              <a:spcAft>
                <a:spcPct val="0"/>
              </a:spcAft>
              <a:defRPr/>
            </a:pPr>
            <a:r>
              <a:rPr lang="fr-FR" kern="0" dirty="0" smtClean="0">
                <a:solidFill>
                  <a:sysClr val="windowText" lastClr="000000">
                    <a:lumMod val="50000"/>
                  </a:sysClr>
                </a:solidFill>
                <a:latin typeface="+mj-lt"/>
              </a:rPr>
              <a:t>Rendement faible : 6 % </a:t>
            </a:r>
            <a:r>
              <a:rPr lang="fr-FR" kern="0" dirty="0">
                <a:solidFill>
                  <a:sysClr val="windowText" lastClr="000000">
                    <a:lumMod val="50000"/>
                  </a:sysClr>
                </a:solidFill>
                <a:latin typeface="+mj-lt"/>
              </a:rPr>
              <a:t>avant </a:t>
            </a:r>
            <a:r>
              <a:rPr lang="fr-FR" kern="0" dirty="0" smtClean="0">
                <a:solidFill>
                  <a:sysClr val="windowText" lastClr="000000">
                    <a:lumMod val="50000"/>
                  </a:sysClr>
                </a:solidFill>
                <a:latin typeface="+mj-lt"/>
              </a:rPr>
              <a:t>frais</a:t>
            </a:r>
          </a:p>
          <a:p>
            <a:pPr lvl="0" fontAlgn="base">
              <a:spcAft>
                <a:spcPct val="0"/>
              </a:spcAft>
              <a:defRPr/>
            </a:pPr>
            <a:endParaRPr lang="fr-FR" kern="0" dirty="0">
              <a:solidFill>
                <a:sysClr val="windowText" lastClr="000000">
                  <a:lumMod val="50000"/>
                </a:sysClr>
              </a:solidFill>
              <a:latin typeface="+mj-lt"/>
            </a:endParaRPr>
          </a:p>
          <a:p>
            <a:endParaRPr lang="fr-CA" dirty="0">
              <a:latin typeface="+mj-lt"/>
            </a:endParaRPr>
          </a:p>
        </p:txBody>
      </p:sp>
      <p:sp>
        <p:nvSpPr>
          <p:cNvPr id="4" name="Espace réservé du contenu 2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237402" y="3285623"/>
            <a:ext cx="3698014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Tx/>
              <a:buFont typeface="ITC Zapf Dingbats Std" pitchFamily="50" charset="0"/>
              <a:buChar char="❚"/>
              <a:defRPr sz="24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96925" indent="-339725" algn="l" rtl="0" fontAlgn="base">
              <a:spcBef>
                <a:spcPct val="20000"/>
              </a:spcBef>
              <a:spcAft>
                <a:spcPct val="0"/>
              </a:spcAft>
              <a:buClrTx/>
              <a:buFont typeface="Times New Roman" pitchFamily="18" charset="0"/>
              <a:buChar char="•"/>
              <a:defRPr sz="2400">
                <a:solidFill>
                  <a:schemeClr val="tx1">
                    <a:lumMod val="50000"/>
                  </a:schemeClr>
                </a:solidFill>
                <a:latin typeface="+mn-lt"/>
              </a:defRPr>
            </a:lvl2pPr>
            <a:lvl3pPr marL="1258888" indent="-347663" algn="l" rtl="0" fontAlgn="base">
              <a:spcBef>
                <a:spcPct val="20000"/>
              </a:spcBef>
              <a:spcAft>
                <a:spcPct val="0"/>
              </a:spcAft>
              <a:buClrTx/>
              <a:buFont typeface="Times New Roman" pitchFamily="18" charset="0"/>
              <a:buChar char="–"/>
              <a:defRPr sz="2400">
                <a:solidFill>
                  <a:schemeClr val="tx1">
                    <a:lumMod val="50000"/>
                  </a:schemeClr>
                </a:solidFill>
                <a:latin typeface="+mn-lt"/>
              </a:defRPr>
            </a:lvl3pPr>
            <a:lvl4pPr marL="1830388" indent="-338138" algn="l" rtl="0" fontAlgn="base">
              <a:spcBef>
                <a:spcPct val="20000"/>
              </a:spcBef>
              <a:spcAft>
                <a:spcPct val="0"/>
              </a:spcAft>
              <a:buClrTx/>
              <a:buFont typeface="Times New Roman" pitchFamily="18" charset="0"/>
              <a:buChar char="–"/>
              <a:defRPr sz="2400">
                <a:solidFill>
                  <a:schemeClr val="tx1">
                    <a:lumMod val="50000"/>
                  </a:schemeClr>
                </a:solidFill>
                <a:latin typeface="+mn-lt"/>
              </a:defRPr>
            </a:lvl4pPr>
            <a:lvl5pPr marL="2403475" indent="-344488" algn="l" rtl="0" fontAlgn="base">
              <a:spcBef>
                <a:spcPct val="20000"/>
              </a:spcBef>
              <a:spcAft>
                <a:spcPct val="0"/>
              </a:spcAft>
              <a:buClrTx/>
              <a:buFont typeface="Times New Roman" pitchFamily="18" charset="0"/>
              <a:buChar char="–"/>
              <a:defRPr sz="2400">
                <a:solidFill>
                  <a:schemeClr val="tx1">
                    <a:lumMod val="50000"/>
                  </a:schemeClr>
                </a:solidFill>
                <a:latin typeface="+mn-lt"/>
              </a:defRPr>
            </a:lvl5pPr>
            <a:lvl6pPr marL="2860675" indent="-344488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 New Roman" pitchFamily="18" charset="0"/>
              <a:buChar char="–"/>
              <a:defRPr sz="2400">
                <a:solidFill>
                  <a:schemeClr val="tx2"/>
                </a:solidFill>
                <a:latin typeface="+mn-lt"/>
              </a:defRPr>
            </a:lvl6pPr>
            <a:lvl7pPr marL="3317875" indent="-344488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 New Roman" pitchFamily="18" charset="0"/>
              <a:buChar char="–"/>
              <a:defRPr sz="2400">
                <a:solidFill>
                  <a:schemeClr val="tx2"/>
                </a:solidFill>
                <a:latin typeface="+mn-lt"/>
              </a:defRPr>
            </a:lvl7pPr>
            <a:lvl8pPr marL="3775075" indent="-344488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 New Roman" pitchFamily="18" charset="0"/>
              <a:buChar char="–"/>
              <a:defRPr sz="2400">
                <a:solidFill>
                  <a:schemeClr val="tx2"/>
                </a:solidFill>
                <a:latin typeface="+mn-lt"/>
              </a:defRPr>
            </a:lvl8pPr>
            <a:lvl9pPr marL="4232275" indent="-344488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 New Roman" pitchFamily="18" charset="0"/>
              <a:buChar char="–"/>
              <a:defRPr sz="2400">
                <a:solidFill>
                  <a:schemeClr val="tx2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ITC Zapf Dingbats Std" pitchFamily="50" charset="0"/>
              <a:buChar char="❚"/>
              <a:tabLst/>
              <a:defRPr/>
            </a:pPr>
            <a:r>
              <a:rPr kumimoji="0" lang="fr-FR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</a:sys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Active : 2% frais par an; passive : 0.15 % frais par an.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ITC Zapf Dingbats Std" pitchFamily="50" charset="0"/>
              <a:buChar char="❚"/>
              <a:tabLst/>
              <a:defRPr/>
            </a:pPr>
            <a:r>
              <a:rPr kumimoji="0" lang="fr-FR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</a:sys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Rendement élevé : 10 % avant frais; Rendement faible : 6 % avant frais.</a:t>
            </a:r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 bwMode="auto">
          <a:xfrm>
            <a:off x="3936971" y="1215094"/>
            <a:ext cx="4977736" cy="441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  <a:no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464646"/>
              </a:buClr>
            </a:pPr>
            <a:r>
              <a:rPr lang="fr-FR" b="1" kern="0" dirty="0" smtClean="0">
                <a:solidFill>
                  <a:prstClr val="black">
                    <a:lumMod val="50000"/>
                  </a:prstClr>
                </a:solidFill>
                <a:latin typeface="+mj-lt"/>
              </a:rPr>
              <a:t>Évolution de 100 $ investis à différents taux</a:t>
            </a:r>
            <a:endParaRPr lang="fr-FR" b="1" kern="0" dirty="0" smtClean="0">
              <a:solidFill>
                <a:prstClr val="black">
                  <a:lumMod val="50000"/>
                </a:prstClr>
              </a:solidFill>
              <a:latin typeface="Times New Roman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614" y="1670013"/>
            <a:ext cx="4977736" cy="3240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>
            <a:off x="7740352" y="1923678"/>
            <a:ext cx="0" cy="12961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12360" y="2355726"/>
            <a:ext cx="936104" cy="21602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62500" lnSpcReduction="20000"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fr-CA" sz="1670" dirty="0" err="1" smtClean="0">
                <a:solidFill>
                  <a:schemeClr val="accent4"/>
                </a:solidFill>
              </a:rPr>
              <a:t>Diff</a:t>
            </a:r>
            <a:r>
              <a:rPr lang="fr-CA" sz="1670" dirty="0" smtClean="0">
                <a:solidFill>
                  <a:schemeClr val="accent4"/>
                </a:solidFill>
              </a:rPr>
              <a:t> = frais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7740352" y="3939902"/>
            <a:ext cx="0" cy="3600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93898" y="4011910"/>
            <a:ext cx="936104" cy="21602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62500" lnSpcReduction="20000"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fr-CA" sz="1670" dirty="0" err="1" smtClean="0">
                <a:solidFill>
                  <a:schemeClr val="accent4"/>
                </a:solidFill>
              </a:rPr>
              <a:t>Diff</a:t>
            </a:r>
            <a:r>
              <a:rPr lang="fr-CA" sz="1670" dirty="0" smtClean="0">
                <a:solidFill>
                  <a:schemeClr val="accent4"/>
                </a:solidFill>
              </a:rPr>
              <a:t> = frais</a:t>
            </a:r>
          </a:p>
        </p:txBody>
      </p:sp>
    </p:spTree>
    <p:extLst>
      <p:ext uri="{BB962C8B-B14F-4D97-AF65-F5344CB8AC3E}">
        <p14:creationId xmlns:p14="http://schemas.microsoft.com/office/powerpoint/2010/main" val="226680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smtClean="0"/>
              <a:t>Investir dans les marchés: l’investisseur individuel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8186400" cy="360010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CA" sz="2600" u="sng" dirty="0" smtClean="0">
                <a:solidFill>
                  <a:schemeClr val="accent1"/>
                </a:solidFill>
              </a:rPr>
              <a:t>Gestion de portefeuille de plein exercice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300" dirty="0" smtClean="0"/>
              <a:t>Gestionnaire de portefeuille investissant directement dans des titres sélectionnés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300" dirty="0" smtClean="0"/>
              <a:t>Rémunération au pourcentage de l’actif sous gestion</a:t>
            </a:r>
          </a:p>
          <a:p>
            <a:pPr marL="0" indent="0">
              <a:buNone/>
            </a:pPr>
            <a:r>
              <a:rPr lang="fr-CA" sz="2600" u="sng" dirty="0" smtClean="0">
                <a:solidFill>
                  <a:schemeClr val="accent1"/>
                </a:solidFill>
              </a:rPr>
              <a:t>Service de conseil en placement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300" dirty="0" smtClean="0"/>
              <a:t>Conseillé en placement offrant des fonds mutuels (panier d’actifs)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300" dirty="0" smtClean="0"/>
              <a:t>Salaire à commission &amp; frais de gestion</a:t>
            </a:r>
          </a:p>
          <a:p>
            <a:pPr marL="0" indent="0">
              <a:buNone/>
            </a:pPr>
            <a:r>
              <a:rPr lang="fr-CA" sz="2600" u="sng" dirty="0" smtClean="0">
                <a:solidFill>
                  <a:schemeClr val="accent1"/>
                </a:solidFill>
              </a:rPr>
              <a:t>Service de conseil en placement (succursale)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300" dirty="0" smtClean="0"/>
              <a:t>Système de répartition de l’actif automatisé dans des fonds mutuels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300" dirty="0" smtClean="0"/>
              <a:t>Employé salarié, rémunération à l’heure</a:t>
            </a:r>
          </a:p>
          <a:p>
            <a:pPr marL="0" indent="0">
              <a:buNone/>
            </a:pPr>
            <a:r>
              <a:rPr lang="fr-CA" sz="2600" u="sng" dirty="0" smtClean="0">
                <a:solidFill>
                  <a:schemeClr val="accent1"/>
                </a:solidFill>
              </a:rPr>
              <a:t>Service de courtage à escompte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300" dirty="0" smtClean="0"/>
              <a:t>L’investisseur est autonome et effectue ses propres transactions sur une plateforme de transaction internet fournie par la firme de courtage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2300" dirty="0" smtClean="0"/>
              <a:t>Frais de transaction à la pièce</a:t>
            </a:r>
            <a:endParaRPr lang="fr-CA" sz="2300" dirty="0"/>
          </a:p>
        </p:txBody>
      </p:sp>
    </p:spTree>
    <p:extLst>
      <p:ext uri="{BB962C8B-B14F-4D97-AF65-F5344CB8AC3E}">
        <p14:creationId xmlns:p14="http://schemas.microsoft.com/office/powerpoint/2010/main" val="292270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Investir dans les marchés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225958"/>
            <a:ext cx="8186400" cy="30631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CA" dirty="0" smtClean="0"/>
              <a:t>Investisseur rationnel = investisseur diversifié</a:t>
            </a:r>
          </a:p>
          <a:p>
            <a:pPr marL="0" indent="0">
              <a:buNone/>
            </a:pPr>
            <a:r>
              <a:rPr lang="fr-CA" dirty="0" smtClean="0"/>
              <a:t>La diversification est la seule opportunité gratuite (free lunch)</a:t>
            </a:r>
            <a:endParaRPr lang="fr-CA" dirty="0"/>
          </a:p>
        </p:txBody>
      </p:sp>
      <p:sp>
        <p:nvSpPr>
          <p:cNvPr id="4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840360" y="1824891"/>
            <a:ext cx="0" cy="275391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5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840360" y="4579998"/>
            <a:ext cx="5759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6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56124" y="1943954"/>
            <a:ext cx="86113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charset="0"/>
              </a:rPr>
              <a:t>Risque</a:t>
            </a:r>
          </a:p>
          <a:p>
            <a:r>
              <a:rPr lang="fr-CA">
                <a:latin typeface="Tahoma" charset="0"/>
              </a:rPr>
              <a:t>du PF</a:t>
            </a:r>
          </a:p>
        </p:txBody>
      </p:sp>
      <p:sp>
        <p:nvSpPr>
          <p:cNvPr id="7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420174" y="4644292"/>
            <a:ext cx="18980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charset="0"/>
              </a:rPr>
              <a:t>Nombre de titres</a:t>
            </a:r>
          </a:p>
        </p:txBody>
      </p:sp>
      <p:sp>
        <p:nvSpPr>
          <p:cNvPr id="8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1840361" y="3283406"/>
            <a:ext cx="5477833" cy="1071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9" name="Text Box 9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494197" y="2273249"/>
            <a:ext cx="196105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charset="0"/>
              </a:rPr>
              <a:t>Risque éliminable</a:t>
            </a:r>
          </a:p>
          <a:p>
            <a:r>
              <a:rPr lang="fr-CA" dirty="0">
                <a:latin typeface="Tahoma" charset="0"/>
              </a:rPr>
              <a:t>Risque spécifique</a:t>
            </a:r>
          </a:p>
        </p:txBody>
      </p:sp>
      <p:sp>
        <p:nvSpPr>
          <p:cNvPr id="10" name="Text Box 10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567833" y="3607525"/>
            <a:ext cx="242592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solidFill>
                  <a:schemeClr val="accent1"/>
                </a:solidFill>
                <a:latin typeface="Tahoma" charset="0"/>
              </a:rPr>
              <a:t>Risque non-éliminable</a:t>
            </a:r>
          </a:p>
          <a:p>
            <a:r>
              <a:rPr lang="fr-CA" dirty="0">
                <a:solidFill>
                  <a:schemeClr val="accent1"/>
                </a:solidFill>
                <a:latin typeface="Tahoma" charset="0"/>
              </a:rPr>
              <a:t>Risque systématique</a:t>
            </a:r>
          </a:p>
        </p:txBody>
      </p:sp>
      <p:sp>
        <p:nvSpPr>
          <p:cNvPr id="11" name="Freeform 11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021336" y="1986816"/>
            <a:ext cx="5002213" cy="1243013"/>
          </a:xfrm>
          <a:custGeom>
            <a:avLst/>
            <a:gdLst/>
            <a:ahLst/>
            <a:cxnLst>
              <a:cxn ang="0">
                <a:pos x="22" y="0"/>
              </a:cxn>
              <a:cxn ang="0">
                <a:pos x="521" y="726"/>
              </a:cxn>
              <a:cxn ang="0">
                <a:pos x="3151" y="1044"/>
              </a:cxn>
            </a:cxnLst>
            <a:rect l="0" t="0" r="r" b="b"/>
            <a:pathLst>
              <a:path w="3151" h="1044">
                <a:moveTo>
                  <a:pt x="22" y="0"/>
                </a:moveTo>
                <a:cubicBezTo>
                  <a:pt x="11" y="276"/>
                  <a:pt x="0" y="552"/>
                  <a:pt x="521" y="726"/>
                </a:cubicBezTo>
                <a:cubicBezTo>
                  <a:pt x="1042" y="900"/>
                  <a:pt x="2713" y="991"/>
                  <a:pt x="3151" y="10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2" name="Rectangle 11"/>
          <p:cNvSpPr/>
          <p:nvPr>
            <p:custDataLst>
              <p:tags r:id="rId11"/>
            </p:custDataLst>
          </p:nvPr>
        </p:nvSpPr>
        <p:spPr>
          <a:xfrm>
            <a:off x="1840360" y="3283406"/>
            <a:ext cx="5614887" cy="1266827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83878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smtClean="0"/>
              <a:t>Investir dans les marchés</a:t>
            </a:r>
            <a:endParaRPr lang="fr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1800" u="sng" dirty="0">
                <a:solidFill>
                  <a:schemeClr val="accent1"/>
                </a:solidFill>
              </a:rPr>
              <a:t>Fonds </a:t>
            </a:r>
            <a:r>
              <a:rPr lang="fr-CA" sz="1800" u="sng" dirty="0" smtClean="0">
                <a:solidFill>
                  <a:schemeClr val="accent1"/>
                </a:solidFill>
              </a:rPr>
              <a:t>mutuels</a:t>
            </a:r>
            <a:endParaRPr lang="fr-CA" sz="1800" u="sng" dirty="0">
              <a:solidFill>
                <a:schemeClr val="accent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457200" y="1839992"/>
            <a:ext cx="4040188" cy="274798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CA" sz="1600" dirty="0" smtClean="0"/>
              <a:t>Panier diversifié d’actifs financiers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1600" dirty="0" smtClean="0"/>
              <a:t>Souvent géré par un gestionnaire (gestion active)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1600" dirty="0" smtClean="0"/>
              <a:t>Frais de gestion généralement très élevé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1600" dirty="0" err="1" smtClean="0"/>
              <a:t>Closet-fund</a:t>
            </a:r>
            <a:r>
              <a:rPr lang="fr-CA" sz="1600" dirty="0" smtClean="0"/>
              <a:t> : fonds qui pour l’essentiel réplique le rendement du marchés, tout en percevant des frais élevés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1600" dirty="0" smtClean="0"/>
              <a:t>S’achète par l’intermédiaire d’un courtier ou d’une institution financière</a:t>
            </a:r>
            <a:endParaRPr lang="fr-CA" sz="1600" dirty="0"/>
          </a:p>
          <a:p>
            <a:endParaRPr lang="fr-CA" sz="16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CA" sz="1800" u="sng" dirty="0">
                <a:solidFill>
                  <a:schemeClr val="accent1"/>
                </a:solidFill>
              </a:rPr>
              <a:t>Fonds négociés en </a:t>
            </a:r>
            <a:r>
              <a:rPr lang="fr-CA" sz="1800" u="sng" dirty="0" smtClean="0">
                <a:solidFill>
                  <a:schemeClr val="accent1"/>
                </a:solidFill>
              </a:rPr>
              <a:t>bourse</a:t>
            </a:r>
            <a:endParaRPr lang="fr-CA" sz="1800" u="sng" dirty="0">
              <a:solidFill>
                <a:schemeClr val="accent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839992"/>
            <a:ext cx="4041775" cy="2747982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CA" sz="1600" dirty="0"/>
              <a:t>Panier diversifié d’actifs financiers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1600" dirty="0"/>
              <a:t>Souvent produit répliquant un indice (gestion passive)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1600" dirty="0"/>
              <a:t>Frais de gestion généralement très bas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1600" dirty="0"/>
              <a:t>S’achète directement sur les marchés, comme une action (courtier à escompte</a:t>
            </a:r>
            <a:r>
              <a:rPr lang="fr-CA" sz="1600" dirty="0" smtClean="0"/>
              <a:t>)</a:t>
            </a:r>
            <a:endParaRPr lang="fr-CA" sz="1600" dirty="0"/>
          </a:p>
        </p:txBody>
      </p:sp>
    </p:spTree>
    <p:extLst>
      <p:ext uri="{BB962C8B-B14F-4D97-AF65-F5344CB8AC3E}">
        <p14:creationId xmlns:p14="http://schemas.microsoft.com/office/powerpoint/2010/main" val="2613773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smtClean="0"/>
              <a:t>L’investissement et l’impôt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4093200" cy="286919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CA" sz="1800" dirty="0" smtClean="0"/>
              <a:t>Les revenus de placement doivent être inclus dans le revenu imposable du contribuable selon leur règle d’imposition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CA" sz="1800" dirty="0" smtClean="0"/>
              <a:t>Il est important de comprendre le système d’impôt progressif du </a:t>
            </a:r>
            <a:r>
              <a:rPr lang="fr-CA" sz="1800" dirty="0" smtClean="0">
                <a:hlinkClick r:id="rId6"/>
              </a:rPr>
              <a:t>système fiscal canadien</a:t>
            </a:r>
            <a:endParaRPr lang="fr-CA" sz="1800" dirty="0"/>
          </a:p>
        </p:txBody>
      </p:sp>
      <p:pic>
        <p:nvPicPr>
          <p:cNvPr id="9218" name="Picture 2" descr="Impot Net Quebec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64" y="1180749"/>
            <a:ext cx="3924300" cy="193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http://mikefm.ca/fr/wp-content/uploads/2015/06/agence-revenu-canada.pn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363838"/>
            <a:ext cx="3257550" cy="115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993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smtClean="0"/>
              <a:t>L’investissement et l’impôt</a:t>
            </a:r>
            <a:endParaRPr lang="fr-CA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25300457"/>
              </p:ext>
            </p:extLst>
          </p:nvPr>
        </p:nvGraphicFramePr>
        <p:xfrm>
          <a:off x="479425" y="1419225"/>
          <a:ext cx="8185152" cy="33253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6288"/>
                <a:gridCol w="2046288"/>
                <a:gridCol w="2046288"/>
                <a:gridCol w="2046288"/>
              </a:tblGrid>
              <a:tr h="479316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 marL="90946" marR="909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 smtClean="0"/>
                        <a:t>Compte comptant</a:t>
                      </a:r>
                      <a:endParaRPr lang="fr-CA" dirty="0"/>
                    </a:p>
                  </a:txBody>
                  <a:tcPr marL="90946" marR="909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 smtClean="0"/>
                        <a:t>CELI</a:t>
                      </a:r>
                      <a:endParaRPr lang="fr-CA" dirty="0"/>
                    </a:p>
                  </a:txBody>
                  <a:tcPr marL="90946" marR="909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 smtClean="0"/>
                        <a:t>REER</a:t>
                      </a:r>
                      <a:endParaRPr lang="fr-CA" dirty="0"/>
                    </a:p>
                  </a:txBody>
                  <a:tcPr marL="90946" marR="90946"/>
                </a:tc>
              </a:tr>
              <a:tr h="827313">
                <a:tc>
                  <a:txBody>
                    <a:bodyPr/>
                    <a:lstStyle/>
                    <a:p>
                      <a:r>
                        <a:rPr lang="fr-CA" dirty="0" smtClean="0"/>
                        <a:t>Revenus</a:t>
                      </a:r>
                      <a:r>
                        <a:rPr lang="fr-CA" baseline="0" dirty="0" smtClean="0"/>
                        <a:t> placement imposables</a:t>
                      </a:r>
                      <a:endParaRPr lang="fr-CA" dirty="0"/>
                    </a:p>
                  </a:txBody>
                  <a:tcPr marL="90946" marR="909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 smtClean="0"/>
                        <a:t>Oui</a:t>
                      </a:r>
                      <a:endParaRPr lang="fr-CA" dirty="0"/>
                    </a:p>
                  </a:txBody>
                  <a:tcPr marL="90946" marR="909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 smtClean="0"/>
                        <a:t>Non</a:t>
                      </a:r>
                      <a:endParaRPr lang="fr-CA" dirty="0"/>
                    </a:p>
                  </a:txBody>
                  <a:tcPr marL="90946" marR="909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 smtClean="0"/>
                        <a:t>Non</a:t>
                      </a:r>
                      <a:endParaRPr lang="fr-CA" dirty="0"/>
                    </a:p>
                  </a:txBody>
                  <a:tcPr marL="90946" marR="90946" anchor="ctr"/>
                </a:tc>
              </a:tr>
              <a:tr h="827313">
                <a:tc>
                  <a:txBody>
                    <a:bodyPr/>
                    <a:lstStyle/>
                    <a:p>
                      <a:r>
                        <a:rPr lang="fr-CA" dirty="0" smtClean="0"/>
                        <a:t>Déductibilité fiscale</a:t>
                      </a:r>
                      <a:r>
                        <a:rPr lang="fr-CA" baseline="0" dirty="0" smtClean="0"/>
                        <a:t> des cotisations</a:t>
                      </a:r>
                      <a:endParaRPr lang="fr-CA" dirty="0"/>
                    </a:p>
                  </a:txBody>
                  <a:tcPr marL="90946" marR="909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 smtClean="0"/>
                        <a:t>Non</a:t>
                      </a:r>
                      <a:endParaRPr lang="fr-CA" dirty="0"/>
                    </a:p>
                  </a:txBody>
                  <a:tcPr marL="90946" marR="909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 smtClean="0"/>
                        <a:t>Non</a:t>
                      </a:r>
                      <a:endParaRPr lang="fr-CA" dirty="0"/>
                    </a:p>
                  </a:txBody>
                  <a:tcPr marL="90946" marR="909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 smtClean="0"/>
                        <a:t>Oui</a:t>
                      </a:r>
                      <a:endParaRPr lang="fr-CA" dirty="0"/>
                    </a:p>
                  </a:txBody>
                  <a:tcPr marL="90946" marR="90946" anchor="ctr"/>
                </a:tc>
              </a:tr>
              <a:tr h="1181875">
                <a:tc>
                  <a:txBody>
                    <a:bodyPr/>
                    <a:lstStyle/>
                    <a:p>
                      <a:r>
                        <a:rPr lang="fr-CA" dirty="0" smtClean="0"/>
                        <a:t>Imposition des</a:t>
                      </a:r>
                      <a:r>
                        <a:rPr lang="fr-CA" baseline="0" dirty="0" smtClean="0"/>
                        <a:t> sommes au retrait du compte</a:t>
                      </a:r>
                      <a:endParaRPr lang="fr-CA" dirty="0"/>
                    </a:p>
                  </a:txBody>
                  <a:tcPr marL="90946" marR="909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 smtClean="0"/>
                        <a:t>Non</a:t>
                      </a:r>
                      <a:endParaRPr lang="fr-CA" dirty="0"/>
                    </a:p>
                  </a:txBody>
                  <a:tcPr marL="90946" marR="909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 smtClean="0"/>
                        <a:t>Non</a:t>
                      </a:r>
                      <a:endParaRPr lang="fr-CA" dirty="0"/>
                    </a:p>
                  </a:txBody>
                  <a:tcPr marL="90946" marR="909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 smtClean="0"/>
                        <a:t>Oui</a:t>
                      </a:r>
                      <a:endParaRPr lang="fr-CA" dirty="0"/>
                    </a:p>
                  </a:txBody>
                  <a:tcPr marL="90946" marR="90946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232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smtClean="0"/>
              <a:t>L’investissement et l’impôt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172381"/>
            <a:ext cx="8186400" cy="3116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 smtClean="0"/>
              <a:t>Pour un compte comptant (revenus de placement)</a:t>
            </a:r>
            <a:endParaRPr lang="fr-CA" sz="2000" dirty="0"/>
          </a:p>
        </p:txBody>
      </p:sp>
      <p:graphicFrame>
        <p:nvGraphicFramePr>
          <p:cNvPr id="4" name="Group 90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347298772"/>
              </p:ext>
            </p:extLst>
          </p:nvPr>
        </p:nvGraphicFramePr>
        <p:xfrm>
          <a:off x="539552" y="1635993"/>
          <a:ext cx="8352928" cy="3099992"/>
        </p:xfrm>
        <a:graphic>
          <a:graphicData uri="http://schemas.openxmlformats.org/drawingml/2006/table">
            <a:tbl>
              <a:tblPr/>
              <a:tblGrid>
                <a:gridCol w="1859078"/>
                <a:gridCol w="2201948"/>
                <a:gridCol w="4291902"/>
              </a:tblGrid>
              <a:tr h="3641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Type de revenu</a:t>
                      </a:r>
                      <a:endParaRPr kumimoji="0" lang="fr-FR" sz="1800" b="0" i="0" u="none" strike="noStrike" cap="none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Règle</a:t>
                      </a:r>
                      <a:endParaRPr kumimoji="0" lang="fr-FR" sz="1800" b="0" i="0" u="none" strike="noStrike" cap="none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Formule</a:t>
                      </a:r>
                      <a:endParaRPr kumimoji="0" lang="fr-FR" sz="1800" b="0" i="0" u="none" strike="noStrike" cap="none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62113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Intérêts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Taxable à 100%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Intérêts après impôts = Intérêts * (1- </a:t>
                      </a:r>
                      <a:r>
                        <a:rPr kumimoji="0" lang="fr-FR" sz="1800" b="0" i="0" u="none" strike="noStrike" cap="none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t</a:t>
                      </a:r>
                      <a:r>
                        <a:rPr kumimoji="0" lang="fr-FR" sz="1800" b="0" i="0" u="none" strike="noStrike" cap="none" normalizeH="0" baseline="-1000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m</a:t>
                      </a:r>
                      <a:r>
                        <a:rPr kumimoji="0" lang="fr-FR" sz="18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7301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Dividendes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Ajustement (1,41) et crédits d’impôts (23.17% au fédéral et 16,779% au Québec)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t</a:t>
                      </a:r>
                      <a:r>
                        <a:rPr kumimoji="0" lang="fr-FR" sz="1800" b="0" i="0" u="none" strike="noStrike" cap="none" normalizeH="0" baseline="-3000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div</a:t>
                      </a:r>
                      <a:r>
                        <a:rPr kumimoji="0" lang="fr-FR" sz="18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fr-FR" sz="18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= 1,41 * </a:t>
                      </a:r>
                      <a:r>
                        <a:rPr kumimoji="0" lang="fr-FR" sz="1800" b="0" i="0" u="none" strike="noStrike" cap="none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t</a:t>
                      </a:r>
                      <a:r>
                        <a:rPr kumimoji="0" lang="fr-FR" sz="1800" b="0" i="0" u="none" strike="noStrike" cap="none" normalizeH="0" baseline="-1000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m</a:t>
                      </a:r>
                      <a:r>
                        <a:rPr kumimoji="0" lang="fr-FR" sz="18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 – 0,3613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1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(issue de la politique d’imposition des dividendes au Québec)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Dividendes après impôts= </a:t>
                      </a:r>
                      <a:r>
                        <a:rPr kumimoji="0" lang="fr-FR" sz="1800" b="0" i="0" u="none" strike="noStrike" cap="none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Div</a:t>
                      </a:r>
                      <a:r>
                        <a:rPr kumimoji="0" lang="fr-FR" sz="18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 * (1 – </a:t>
                      </a:r>
                      <a:r>
                        <a:rPr kumimoji="0" lang="fr-FR" sz="1800" b="0" i="0" u="none" strike="noStrike" cap="none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t</a:t>
                      </a:r>
                      <a:r>
                        <a:rPr kumimoji="0" lang="fr-FR" sz="1800" b="0" i="0" u="none" strike="noStrike" cap="none" normalizeH="0" baseline="-3000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div</a:t>
                      </a:r>
                      <a:r>
                        <a:rPr kumimoji="0" lang="fr-FR" sz="18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725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Gains en capital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Taxable à 50%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Gains en capital après impôts= GC (1-0.5 </a:t>
                      </a:r>
                      <a:r>
                        <a:rPr kumimoji="0" lang="fr-FR" sz="1800" b="0" i="0" u="none" strike="noStrike" cap="none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t</a:t>
                      </a:r>
                      <a:r>
                        <a:rPr kumimoji="0" lang="fr-FR" sz="1800" b="0" i="0" u="none" strike="noStrike" cap="none" normalizeH="0" baseline="-1000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m</a:t>
                      </a:r>
                      <a:r>
                        <a:rPr kumimoji="0" lang="fr-FR" sz="18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509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412175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Thème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èmeHEC" id="{7465C618-7679-4EFC-97C4-7229E9764B6E}" vid="{8FDDE1AC-1B25-4CFF-908F-B02124D657E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2008</TotalTime>
  <Words>1187</Words>
  <Application>Microsoft Office PowerPoint</Application>
  <PresentationFormat>On-screen Show (16:9)</PresentationFormat>
  <Paragraphs>240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ITC Zapf Dingbats Std</vt:lpstr>
      <vt:lpstr>Symbol</vt:lpstr>
      <vt:lpstr>Tahoma</vt:lpstr>
      <vt:lpstr>Times New Roman</vt:lpstr>
      <vt:lpstr>Wingdings</vt:lpstr>
      <vt:lpstr>ThèmeHEC</vt:lpstr>
      <vt:lpstr>Notions de finance personnelle</vt:lpstr>
      <vt:lpstr>Finance personnelle</vt:lpstr>
      <vt:lpstr>Les marchés (retour sur le chapitre 12)</vt:lpstr>
      <vt:lpstr>Les marchés</vt:lpstr>
      <vt:lpstr>Les marchés</vt:lpstr>
      <vt:lpstr>Les marchés</vt:lpstr>
      <vt:lpstr>Les marchés</vt:lpstr>
      <vt:lpstr>Rendement &amp; prime de risque</vt:lpstr>
      <vt:lpstr>Rendement &amp; prime de risque</vt:lpstr>
      <vt:lpstr>L’efficience des marchés (retour sur le chapitre 12)</vt:lpstr>
      <vt:lpstr>Efficience des marchés</vt:lpstr>
      <vt:lpstr>L’efficience des marchés</vt:lpstr>
      <vt:lpstr>Efficience des marchés</vt:lpstr>
      <vt:lpstr>Efficience des marchés</vt:lpstr>
      <vt:lpstr>Efficience des marchés</vt:lpstr>
      <vt:lpstr>Efficience des marchés</vt:lpstr>
      <vt:lpstr>Investir dans les marchés</vt:lpstr>
      <vt:lpstr>Investir dans les marchés</vt:lpstr>
      <vt:lpstr>Investir dans les marchés</vt:lpstr>
      <vt:lpstr>Investir dans les marchés</vt:lpstr>
      <vt:lpstr>Investir dans les marchés: l’investisseur individuel</vt:lpstr>
      <vt:lpstr>Investir dans les marchés</vt:lpstr>
      <vt:lpstr>Investir dans les marchés</vt:lpstr>
      <vt:lpstr>L’investissement et l’impôt</vt:lpstr>
      <vt:lpstr>L’investissement et l’impôt</vt:lpstr>
      <vt:lpstr>L’investissement et l’impôt</vt:lpstr>
      <vt:lpstr>PowerPoint Presentation</vt:lpstr>
    </vt:vector>
  </TitlesOfParts>
  <Company>HEC Montréal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9: les critères de d’évaluation de projet</dc:title>
  <dc:creator>clihec3</dc:creator>
  <cp:lastModifiedBy>jean-philippe tarte</cp:lastModifiedBy>
  <cp:revision>58</cp:revision>
  <dcterms:created xsi:type="dcterms:W3CDTF">2009-10-06T16:37:55Z</dcterms:created>
  <dcterms:modified xsi:type="dcterms:W3CDTF">2018-06-18T14:25:42Z</dcterms:modified>
</cp:coreProperties>
</file>