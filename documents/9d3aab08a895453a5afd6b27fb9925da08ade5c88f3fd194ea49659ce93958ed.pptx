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7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3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8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700" r:id="rId2"/>
    <p:sldMasterId id="2147483712" r:id="rId3"/>
    <p:sldMasterId id="2147483717" r:id="rId4"/>
    <p:sldMasterId id="2147483720" r:id="rId5"/>
    <p:sldMasterId id="2147483722" r:id="rId6"/>
    <p:sldMasterId id="2147483734" r:id="rId7"/>
    <p:sldMasterId id="2147483744" r:id="rId8"/>
  </p:sldMasterIdLst>
  <p:notesMasterIdLst>
    <p:notesMasterId r:id="rId53"/>
  </p:notesMasterIdLst>
  <p:sldIdLst>
    <p:sldId id="926" r:id="rId9"/>
    <p:sldId id="284" r:id="rId10"/>
    <p:sldId id="285" r:id="rId11"/>
    <p:sldId id="560" r:id="rId12"/>
    <p:sldId id="354" r:id="rId13"/>
    <p:sldId id="347" r:id="rId14"/>
    <p:sldId id="355" r:id="rId15"/>
    <p:sldId id="561" r:id="rId16"/>
    <p:sldId id="295" r:id="rId17"/>
    <p:sldId id="325" r:id="rId18"/>
    <p:sldId id="562" r:id="rId19"/>
    <p:sldId id="324" r:id="rId20"/>
    <p:sldId id="327" r:id="rId21"/>
    <p:sldId id="328" r:id="rId22"/>
    <p:sldId id="329" r:id="rId23"/>
    <p:sldId id="330" r:id="rId24"/>
    <p:sldId id="564" r:id="rId25"/>
    <p:sldId id="336" r:id="rId26"/>
    <p:sldId id="337" r:id="rId27"/>
    <p:sldId id="338" r:id="rId28"/>
    <p:sldId id="563" r:id="rId29"/>
    <p:sldId id="326" r:id="rId30"/>
    <p:sldId id="316" r:id="rId31"/>
    <p:sldId id="317" r:id="rId32"/>
    <p:sldId id="565" r:id="rId33"/>
    <p:sldId id="350" r:id="rId34"/>
    <p:sldId id="344" r:id="rId35"/>
    <p:sldId id="298" r:id="rId36"/>
    <p:sldId id="333" r:id="rId37"/>
    <p:sldId id="299" r:id="rId38"/>
    <p:sldId id="343" r:id="rId39"/>
    <p:sldId id="582" r:id="rId40"/>
    <p:sldId id="571" r:id="rId41"/>
    <p:sldId id="334" r:id="rId42"/>
    <p:sldId id="359" r:id="rId43"/>
    <p:sldId id="335" r:id="rId44"/>
    <p:sldId id="583" r:id="rId45"/>
    <p:sldId id="572" r:id="rId46"/>
    <p:sldId id="581" r:id="rId47"/>
    <p:sldId id="580" r:id="rId48"/>
    <p:sldId id="267" r:id="rId49"/>
    <p:sldId id="369" r:id="rId50"/>
    <p:sldId id="370" r:id="rId51"/>
    <p:sldId id="939" r:id="rId52"/>
  </p:sldIdLst>
  <p:sldSz cx="12192000" cy="6858000"/>
  <p:notesSz cx="6858000" cy="91440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E39BC797-7A33-40A1-A415-AE9B00309D96}">
          <p14:sldIdLst>
            <p14:sldId id="926"/>
            <p14:sldId id="284"/>
            <p14:sldId id="285"/>
            <p14:sldId id="560"/>
            <p14:sldId id="354"/>
            <p14:sldId id="347"/>
            <p14:sldId id="355"/>
            <p14:sldId id="561"/>
            <p14:sldId id="295"/>
            <p14:sldId id="325"/>
            <p14:sldId id="562"/>
            <p14:sldId id="324"/>
            <p14:sldId id="327"/>
            <p14:sldId id="328"/>
            <p14:sldId id="329"/>
            <p14:sldId id="330"/>
            <p14:sldId id="564"/>
            <p14:sldId id="336"/>
            <p14:sldId id="337"/>
            <p14:sldId id="338"/>
            <p14:sldId id="563"/>
            <p14:sldId id="326"/>
            <p14:sldId id="316"/>
            <p14:sldId id="317"/>
            <p14:sldId id="565"/>
            <p14:sldId id="350"/>
            <p14:sldId id="344"/>
            <p14:sldId id="298"/>
            <p14:sldId id="333"/>
            <p14:sldId id="299"/>
            <p14:sldId id="343"/>
            <p14:sldId id="582"/>
            <p14:sldId id="571"/>
            <p14:sldId id="334"/>
            <p14:sldId id="359"/>
            <p14:sldId id="335"/>
            <p14:sldId id="583"/>
            <p14:sldId id="572"/>
            <p14:sldId id="581"/>
            <p14:sldId id="580"/>
            <p14:sldId id="267"/>
            <p14:sldId id="369"/>
            <p14:sldId id="370"/>
            <p14:sldId id="9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 harris" initials="eh" lastIdx="1" clrIdx="0">
    <p:extLst>
      <p:ext uri="{19B8F6BF-5375-455C-9EA6-DF929625EA0E}">
        <p15:presenceInfo xmlns:p15="http://schemas.microsoft.com/office/powerpoint/2012/main" userId="6104d6f1c0818f7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0E540B-E2DF-4404-B55B-D431DCACBD5A}" v="1" dt="2026-09-28T11:37:50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6" autoAdjust="0"/>
    <p:restoredTop sz="93529" autoAdjust="0"/>
  </p:normalViewPr>
  <p:slideViewPr>
    <p:cSldViewPr>
      <p:cViewPr varScale="1">
        <p:scale>
          <a:sx n="103" d="100"/>
          <a:sy n="103" d="100"/>
        </p:scale>
        <p:origin x="97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microsoft.com/office/2016/11/relationships/changesInfo" Target="changesInfos/changesInfo1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theme" Target="theme/theme1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élanie Caron-Harris" userId="784ba18a-e74f-420c-a966-05b1322e4383" providerId="ADAL" clId="{2D819EB9-7307-4A86-A40F-5F1833D42680}"/>
    <pc:docChg chg="undo custSel modSld">
      <pc:chgData name="Mélanie Caron-Harris" userId="784ba18a-e74f-420c-a966-05b1322e4383" providerId="ADAL" clId="{2D819EB9-7307-4A86-A40F-5F1833D42680}" dt="2026-09-28T11:37:50.601" v="12"/>
      <pc:docMkLst>
        <pc:docMk/>
      </pc:docMkLst>
      <pc:sldChg chg="modSp">
        <pc:chgData name="Mélanie Caron-Harris" userId="784ba18a-e74f-420c-a966-05b1322e4383" providerId="ADAL" clId="{2D819EB9-7307-4A86-A40F-5F1833D42680}" dt="2026-09-28T11:37:50.601" v="12"/>
        <pc:sldMkLst>
          <pc:docMk/>
          <pc:sldMk cId="2232264416" sldId="267"/>
        </pc:sldMkLst>
        <pc:spChg chg="mod">
          <ac:chgData name="Mélanie Caron-Harris" userId="784ba18a-e74f-420c-a966-05b1322e4383" providerId="ADAL" clId="{2D819EB9-7307-4A86-A40F-5F1833D42680}" dt="2026-09-28T11:37:50.601" v="12"/>
          <ac:spMkLst>
            <pc:docMk/>
            <pc:sldMk cId="2232264416" sldId="267"/>
            <ac:spMk id="24578" creationId="{00000000-0000-0000-0000-000000000000}"/>
          </ac:spMkLst>
        </pc:spChg>
      </pc:sldChg>
      <pc:sldChg chg="modSp mod">
        <pc:chgData name="Mélanie Caron-Harris" userId="784ba18a-e74f-420c-a966-05b1322e4383" providerId="ADAL" clId="{2D819EB9-7307-4A86-A40F-5F1833D42680}" dt="2026-09-28T11:34:42.072" v="7" actId="113"/>
        <pc:sldMkLst>
          <pc:docMk/>
          <pc:sldMk cId="2219682116" sldId="330"/>
        </pc:sldMkLst>
        <pc:spChg chg="mod">
          <ac:chgData name="Mélanie Caron-Harris" userId="784ba18a-e74f-420c-a966-05b1322e4383" providerId="ADAL" clId="{2D819EB9-7307-4A86-A40F-5F1833D42680}" dt="2026-09-28T11:34:42.072" v="7" actId="113"/>
          <ac:spMkLst>
            <pc:docMk/>
            <pc:sldMk cId="2219682116" sldId="330"/>
            <ac:spMk id="3" creationId="{00000000-0000-0000-0000-000000000000}"/>
          </ac:spMkLst>
        </pc:spChg>
      </pc:sldChg>
      <pc:sldChg chg="modSp mod">
        <pc:chgData name="Mélanie Caron-Harris" userId="784ba18a-e74f-420c-a966-05b1322e4383" providerId="ADAL" clId="{2D819EB9-7307-4A86-A40F-5F1833D42680}" dt="2026-09-28T11:35:39.207" v="11" actId="113"/>
        <pc:sldMkLst>
          <pc:docMk/>
          <pc:sldMk cId="3854646004" sldId="337"/>
        </pc:sldMkLst>
        <pc:spChg chg="mod">
          <ac:chgData name="Mélanie Caron-Harris" userId="784ba18a-e74f-420c-a966-05b1322e4383" providerId="ADAL" clId="{2D819EB9-7307-4A86-A40F-5F1833D42680}" dt="2026-09-28T11:35:39.207" v="11" actId="113"/>
          <ac:spMkLst>
            <pc:docMk/>
            <pc:sldMk cId="3854646004" sldId="337"/>
            <ac:spMk id="3" creationId="{00000000-0000-0000-0000-000000000000}"/>
          </ac:spMkLst>
        </pc:spChg>
      </pc:sldChg>
      <pc:sldChg chg="modSp mod">
        <pc:chgData name="Mélanie Caron-Harris" userId="784ba18a-e74f-420c-a966-05b1322e4383" providerId="ADAL" clId="{2D819EB9-7307-4A86-A40F-5F1833D42680}" dt="2026-09-28T11:34:58.031" v="10" actId="20577"/>
        <pc:sldMkLst>
          <pc:docMk/>
          <pc:sldMk cId="2518483782" sldId="564"/>
        </pc:sldMkLst>
        <pc:spChg chg="mod">
          <ac:chgData name="Mélanie Caron-Harris" userId="784ba18a-e74f-420c-a966-05b1322e4383" providerId="ADAL" clId="{2D819EB9-7307-4A86-A40F-5F1833D42680}" dt="2026-09-28T11:34:58.031" v="10" actId="20577"/>
          <ac:spMkLst>
            <pc:docMk/>
            <pc:sldMk cId="2518483782" sldId="564"/>
            <ac:spMk id="4" creationId="{2FF70F5F-3F0F-4AB2-9B52-BE453010556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7CBABC-C32D-42CA-BC3C-27E5667732A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7F0ED691-F9DB-4A48-AA51-4292EA64FC5D}">
      <dgm:prSet phldrT="[Texte]"/>
      <dgm:spPr/>
      <dgm:t>
        <a:bodyPr/>
        <a:lstStyle/>
        <a:p>
          <a:r>
            <a:rPr lang="fr-CA" dirty="0" err="1"/>
            <a:t>Risque</a:t>
          </a:r>
          <a:r>
            <a:rPr lang="fr-CA" dirty="0"/>
            <a:t> total</a:t>
          </a:r>
        </a:p>
      </dgm:t>
    </dgm:pt>
    <dgm:pt modelId="{58B6C0A6-A43D-4CFF-94DA-653AA508A2D7}" type="parTrans" cxnId="{9EB42713-4391-474F-941A-14453BA6CF06}">
      <dgm:prSet/>
      <dgm:spPr/>
      <dgm:t>
        <a:bodyPr/>
        <a:lstStyle/>
        <a:p>
          <a:endParaRPr lang="fr-CA"/>
        </a:p>
      </dgm:t>
    </dgm:pt>
    <dgm:pt modelId="{1839CAA5-59AB-4B61-9F4A-0E12765FDF3D}" type="sibTrans" cxnId="{9EB42713-4391-474F-941A-14453BA6CF06}">
      <dgm:prSet/>
      <dgm:spPr/>
      <dgm:t>
        <a:bodyPr/>
        <a:lstStyle/>
        <a:p>
          <a:endParaRPr lang="fr-CA"/>
        </a:p>
      </dgm:t>
    </dgm:pt>
    <dgm:pt modelId="{F97681E8-296F-4673-A870-90AE92A0289A}">
      <dgm:prSet phldrT="[Texte]"/>
      <dgm:spPr/>
      <dgm:t>
        <a:bodyPr/>
        <a:lstStyle/>
        <a:p>
          <a:r>
            <a:rPr lang="fr-CA" dirty="0" err="1"/>
            <a:t>Mesuré </a:t>
          </a:r>
          <a:r>
            <a:rPr lang="fr-CA" dirty="0"/>
            <a:t>par la variance ou </a:t>
          </a:r>
          <a:r>
            <a:rPr lang="fr-CA" dirty="0" err="1"/>
            <a:t>l'écart</a:t>
          </a:r>
          <a:r>
            <a:rPr lang="fr-CA" dirty="0"/>
            <a:t> type</a:t>
          </a:r>
        </a:p>
      </dgm:t>
    </dgm:pt>
    <dgm:pt modelId="{10E3655D-7BAE-48D2-A4A2-C0A5FA3310C9}" type="parTrans" cxnId="{CCBD0407-5D32-41B4-B1F2-C9191FF30140}">
      <dgm:prSet/>
      <dgm:spPr/>
      <dgm:t>
        <a:bodyPr/>
        <a:lstStyle/>
        <a:p>
          <a:endParaRPr lang="fr-CA"/>
        </a:p>
      </dgm:t>
    </dgm:pt>
    <dgm:pt modelId="{9D676039-3D16-4BAF-A1B6-176C815CA21E}" type="sibTrans" cxnId="{CCBD0407-5D32-41B4-B1F2-C9191FF30140}">
      <dgm:prSet/>
      <dgm:spPr/>
      <dgm:t>
        <a:bodyPr/>
        <a:lstStyle/>
        <a:p>
          <a:endParaRPr lang="fr-CA"/>
        </a:p>
      </dgm:t>
    </dgm:pt>
    <dgm:pt modelId="{BA6EFC43-AA1C-414C-9326-52B8ED2037DB}">
      <dgm:prSet phldrT="[Texte]"/>
      <dgm:spPr/>
      <dgm:t>
        <a:bodyPr/>
        <a:lstStyle/>
        <a:p>
          <a:r>
            <a:rPr lang="fr-CA" dirty="0" err="1"/>
            <a:t>Chaque </a:t>
          </a:r>
          <a:r>
            <a:rPr lang="fr-CA" dirty="0"/>
            <a:t>actif </a:t>
          </a:r>
          <a:r>
            <a:rPr lang="fr-CA" dirty="0" err="1"/>
            <a:t>individuel </a:t>
          </a:r>
          <a:r>
            <a:rPr lang="fr-CA" dirty="0"/>
            <a:t>comporte une composante </a:t>
          </a:r>
          <a:r>
            <a:rPr lang="fr-CA" dirty="0" err="1"/>
            <a:t>de risque systématique </a:t>
          </a:r>
          <a:r>
            <a:rPr lang="fr-CA" dirty="0"/>
            <a:t>et </a:t>
          </a:r>
          <a:r>
            <a:rPr lang="fr-CA" dirty="0" err="1"/>
            <a:t>spécifique</a:t>
          </a:r>
        </a:p>
      </dgm:t>
    </dgm:pt>
    <dgm:pt modelId="{970FA872-2DAD-4B25-A546-45EB93CF4322}" type="parTrans" cxnId="{74523159-EC1E-420C-95BB-1C56F8FDED69}">
      <dgm:prSet/>
      <dgm:spPr/>
      <dgm:t>
        <a:bodyPr/>
        <a:lstStyle/>
        <a:p>
          <a:endParaRPr lang="fr-CA"/>
        </a:p>
      </dgm:t>
    </dgm:pt>
    <dgm:pt modelId="{8A04D74C-CB0D-4735-B486-D028439EC974}" type="sibTrans" cxnId="{74523159-EC1E-420C-95BB-1C56F8FDED69}">
      <dgm:prSet/>
      <dgm:spPr/>
      <dgm:t>
        <a:bodyPr/>
        <a:lstStyle/>
        <a:p>
          <a:endParaRPr lang="fr-CA"/>
        </a:p>
      </dgm:t>
    </dgm:pt>
    <dgm:pt modelId="{8C278451-B67D-4059-A140-85A8C30E5F56}">
      <dgm:prSet phldrT="[Texte]"/>
      <dgm:spPr/>
      <dgm:t>
        <a:bodyPr/>
        <a:lstStyle/>
        <a:p>
          <a:r>
            <a:rPr lang="fr-CA" dirty="0"/>
            <a:t>Bêta de l'actif i</a:t>
          </a:r>
        </a:p>
        <a:p>
          <a:r>
            <a:rPr lang="fr-CA" dirty="0" err="1"/>
            <a:t>Risque systématique</a:t>
          </a:r>
          <a:endParaRPr lang="fr-CA" dirty="0"/>
        </a:p>
      </dgm:t>
    </dgm:pt>
    <dgm:pt modelId="{19A7050C-5374-48D4-BC8D-FEA800841999}" type="parTrans" cxnId="{7B0D5DB5-29BF-4D3E-A404-DB1DEDB316F1}">
      <dgm:prSet/>
      <dgm:spPr/>
      <dgm:t>
        <a:bodyPr/>
        <a:lstStyle/>
        <a:p>
          <a:endParaRPr lang="fr-CA"/>
        </a:p>
      </dgm:t>
    </dgm:pt>
    <dgm:pt modelId="{1A270F67-CD23-4EDE-A7A9-B396D354CD83}" type="sibTrans" cxnId="{7B0D5DB5-29BF-4D3E-A404-DB1DEDB316F1}">
      <dgm:prSet/>
      <dgm:spPr/>
      <dgm:t>
        <a:bodyPr/>
        <a:lstStyle/>
        <a:p>
          <a:endParaRPr lang="fr-CA"/>
        </a:p>
      </dgm:t>
    </dgm:pt>
    <dgm:pt modelId="{125E0F69-03EC-4595-91D6-098851BA4677}">
      <dgm:prSet phldrT="[Texte]"/>
      <dgm:spPr/>
      <dgm:t>
        <a:bodyPr/>
        <a:lstStyle/>
        <a:p>
          <a:r>
            <a:rPr lang="fr-CA" dirty="0"/>
            <a:t>Risque </a:t>
          </a:r>
          <a:r>
            <a:rPr lang="fr-CA" dirty="0" err="1"/>
            <a:t>spécifique</a:t>
          </a:r>
        </a:p>
      </dgm:t>
    </dgm:pt>
    <dgm:pt modelId="{3A587260-EC62-4419-BA5F-1824303A8855}" type="parTrans" cxnId="{B6AC5D74-86B8-4E91-A6E9-A186A7CB514A}">
      <dgm:prSet/>
      <dgm:spPr/>
      <dgm:t>
        <a:bodyPr/>
        <a:lstStyle/>
        <a:p>
          <a:endParaRPr lang="fr-CA"/>
        </a:p>
      </dgm:t>
    </dgm:pt>
    <dgm:pt modelId="{285EDE9D-A40D-4BB9-9C7D-9D8D739B8D38}" type="sibTrans" cxnId="{B6AC5D74-86B8-4E91-A6E9-A186A7CB514A}">
      <dgm:prSet/>
      <dgm:spPr/>
      <dgm:t>
        <a:bodyPr/>
        <a:lstStyle/>
        <a:p>
          <a:endParaRPr lang="fr-CA"/>
        </a:p>
      </dgm:t>
    </dgm:pt>
    <dgm:pt modelId="{F0CA9BD7-8AAF-48B0-8064-ADD66C657D84}">
      <dgm:prSet phldrT="[Texte]"/>
      <dgm:spPr/>
      <dgm:t>
        <a:bodyPr/>
        <a:lstStyle/>
        <a:p>
          <a:r>
            <a:rPr lang="fr-CA" dirty="0" err="1"/>
            <a:t>Fait référence </a:t>
          </a:r>
          <a:r>
            <a:rPr lang="fr-CA" dirty="0"/>
            <a:t>au </a:t>
          </a:r>
          <a:r>
            <a:rPr lang="fr-CA" dirty="0" err="1"/>
            <a:t>risque</a:t>
          </a:r>
          <a:r>
            <a:rPr lang="fr-CA" dirty="0"/>
            <a:t> diversifiable</a:t>
          </a:r>
        </a:p>
      </dgm:t>
    </dgm:pt>
    <dgm:pt modelId="{BC43055E-4FA0-463E-9A34-E274D15974EF}" type="parTrans" cxnId="{6279F43B-8387-432C-9007-13153CD79C63}">
      <dgm:prSet/>
      <dgm:spPr/>
      <dgm:t>
        <a:bodyPr/>
        <a:lstStyle/>
        <a:p>
          <a:endParaRPr lang="fr-CA"/>
        </a:p>
      </dgm:t>
    </dgm:pt>
    <dgm:pt modelId="{791469E0-3F4D-4DCE-82A1-D337DE3917C2}" type="sibTrans" cxnId="{6279F43B-8387-432C-9007-13153CD79C63}">
      <dgm:prSet/>
      <dgm:spPr/>
      <dgm:t>
        <a:bodyPr/>
        <a:lstStyle/>
        <a:p>
          <a:endParaRPr lang="fr-CA"/>
        </a:p>
      </dgm:t>
    </dgm:pt>
    <dgm:pt modelId="{DBA23458-D824-44E9-B7DC-1F94B5D47B77}">
      <dgm:prSet phldrT="[Texte]"/>
      <dgm:spPr/>
      <dgm:t>
        <a:bodyPr/>
        <a:lstStyle/>
        <a:p>
          <a:r>
            <a:rPr lang="fr-CA" dirty="0"/>
            <a:t>Aucun </a:t>
          </a:r>
          <a:r>
            <a:rPr lang="fr-CA" dirty="0" err="1"/>
            <a:t>calcul requis </a:t>
          </a:r>
          <a:r>
            <a:rPr lang="fr-CA" dirty="0"/>
            <a:t>dans </a:t>
          </a:r>
          <a:r>
            <a:rPr lang="fr-CA" dirty="0" err="1"/>
            <a:t>ce </a:t>
          </a:r>
          <a:r>
            <a:rPr lang="fr-CA" dirty="0"/>
            <a:t>cours</a:t>
          </a:r>
        </a:p>
      </dgm:t>
    </dgm:pt>
    <dgm:pt modelId="{A01325B0-7878-4E59-BF6E-EDB08C028C31}" type="parTrans" cxnId="{D13BED32-FED0-4F5A-91A8-B6ECDCFBCA26}">
      <dgm:prSet/>
      <dgm:spPr/>
      <dgm:t>
        <a:bodyPr/>
        <a:lstStyle/>
        <a:p>
          <a:endParaRPr lang="fr-CA"/>
        </a:p>
      </dgm:t>
    </dgm:pt>
    <dgm:pt modelId="{65EAB178-C93A-4A41-B599-D297C15F6A39}" type="sibTrans" cxnId="{D13BED32-FED0-4F5A-91A8-B6ECDCFBCA26}">
      <dgm:prSet/>
      <dgm:spPr/>
      <dgm:t>
        <a:bodyPr/>
        <a:lstStyle/>
        <a:p>
          <a:endParaRPr lang="fr-CA"/>
        </a:p>
      </dgm:t>
    </dgm:pt>
    <dgm:pt modelId="{34455F1A-7D17-44AC-9109-1B2FC14984D2}">
      <dgm:prSet phldrT="[Texte]"/>
      <dgm:spPr/>
      <dgm:t>
        <a:bodyPr/>
        <a:lstStyle/>
        <a:p>
          <a:r>
            <a:rPr lang="fr-CA" dirty="0" err="1"/>
            <a:t>Risque</a:t>
          </a:r>
          <a:r>
            <a:rPr lang="fr-CA" dirty="0"/>
            <a:t> non diversifiable</a:t>
          </a:r>
          <a:endParaRPr lang="fr-CA" dirty="0">
            <a:latin typeface="Symbol" panose="05050102010706020507" pitchFamily="18" charset="2"/>
          </a:endParaRPr>
        </a:p>
      </dgm:t>
    </dgm:pt>
    <dgm:pt modelId="{76F1D457-9746-472F-B1D3-752A28A62452}" type="parTrans" cxnId="{100023AA-43DA-4AF3-B356-762BA3271570}">
      <dgm:prSet/>
      <dgm:spPr/>
      <dgm:t>
        <a:bodyPr/>
        <a:lstStyle/>
        <a:p>
          <a:endParaRPr lang="fr-CA"/>
        </a:p>
      </dgm:t>
    </dgm:pt>
    <dgm:pt modelId="{65E71805-2EFD-4465-944E-A08CBC778BF6}" type="sibTrans" cxnId="{100023AA-43DA-4AF3-B356-762BA3271570}">
      <dgm:prSet/>
      <dgm:spPr/>
      <dgm:t>
        <a:bodyPr/>
        <a:lstStyle/>
        <a:p>
          <a:endParaRPr lang="fr-CA"/>
        </a:p>
      </dgm:t>
    </dgm:pt>
    <mc:AlternateContent xmlns:mc="http://schemas.openxmlformats.org/markup-compatibility/2006" xmlns:a14="http://schemas.microsoft.com/office/drawing/2010/main">
      <mc:Choice Requires="a14">
        <dgm:pt modelId="{90809D63-4CBB-46B7-A2E4-85D998FB00F1}">
          <dgm:prSet phldrT="[Texte]"/>
          <dgm:spPr/>
          <dgm:t>
            <a:bodyPr/>
            <a:lstStyle/>
            <a:p>
              <a:r>
                <a:rPr lang="fr-CA" dirty="0"/>
                <a:t>Bêta du marché = 1</a:t>
              </a:r>
              <a:r>
                <a:rPr lang="fr-CA" dirty="0">
                  <a:sym typeface="Wingdings" panose="05000000000000000000" pitchFamily="2" charset="2"/>
                </a:rPr>
                <a:t> </a:t>
              </a:r>
              <a:r>
                <a:rPr lang="fr-CA" dirty="0"/>
                <a:t> 1</a:t>
              </a:r>
            </a:p>
          </dgm:t>
        </dgm:pt>
      </mc:Choice>
      <mc:Fallback xmlns:dsp="http://schemas.microsoft.com/office/drawing/2008/diagram" xmlns="">
        <dgm:pt modelId="{90809D63-4CBB-46B7-A2E4-85D998FB00F1}">
          <dgm:prSet phldrT="[Texte]"/>
          <dgm:spPr/>
          <dgm:t>
            <a:bodyPr/>
            <a:lstStyle/>
            <a:p>
              <a:r>
                <a:rPr lang="fr-CA" dirty="0"/>
                <a:t>Bêta du marché = 1</a:t>
              </a:r>
              <a:r>
                <a:rPr lang="fr-CA" dirty="0">
                  <a:sym typeface="Wingdings" panose="05000000000000000000" pitchFamily="2" charset="2"/>
                </a:rPr>
                <a:t> </a:t>
              </a:r>
              <a:r>
                <a:rPr lang="fr-CA" dirty="0"/>
                <a:t> 𝛽_𝑚=1</a:t>
              </a:r>
            </a:p>
          </dgm:t>
        </dgm:pt>
      </mc:Fallback>
    </mc:AlternateContent>
    <dgm:pt modelId="{22ED9F50-BB2C-4EC8-B9B0-704A0FAFDD67}" type="parTrans" cxnId="{FD4BDD25-9211-4E21-9C19-113988508FC4}">
      <dgm:prSet/>
      <dgm:spPr/>
      <dgm:t>
        <a:bodyPr/>
        <a:lstStyle/>
        <a:p>
          <a:endParaRPr lang="en-GB"/>
        </a:p>
      </dgm:t>
    </dgm:pt>
    <dgm:pt modelId="{0C134F1A-0D12-41DE-92C0-0DEA090D6111}" type="sibTrans" cxnId="{FD4BDD25-9211-4E21-9C19-113988508FC4}">
      <dgm:prSet/>
      <dgm:spPr/>
      <dgm:t>
        <a:bodyPr/>
        <a:lstStyle/>
        <a:p>
          <a:endParaRPr lang="en-GB"/>
        </a:p>
      </dgm:t>
    </dgm:pt>
    <dgm:pt modelId="{AB25858D-C227-43D4-927A-9EBCFD0C054A}">
      <dgm:prSet phldrT="[Texte]"/>
      <dgm:spPr/>
      <dgm:t>
        <a:bodyPr/>
        <a:lstStyle/>
        <a:p>
          <a:r>
            <a:rPr lang="fr-CA" dirty="0" err="1">
              <a:sym typeface="Wingdings" panose="05000000000000000000" pitchFamily="2" charset="2"/>
            </a:rPr>
            <a:t>Risque</a:t>
          </a:r>
          <a:r>
            <a:rPr lang="fr-CA" dirty="0">
              <a:sym typeface="Wingdings" panose="05000000000000000000" pitchFamily="2" charset="2"/>
            </a:rPr>
            <a:t> pertinent </a:t>
          </a:r>
          <a:r>
            <a:rPr lang="fr-CA" dirty="0" err="1">
              <a:sym typeface="Wingdings" panose="05000000000000000000" pitchFamily="2" charset="2"/>
            </a:rPr>
            <a:t>uniquement </a:t>
          </a:r>
          <a:r>
            <a:rPr lang="fr-CA" dirty="0">
              <a:sym typeface="Wingdings" panose="05000000000000000000" pitchFamily="2" charset="2"/>
            </a:rPr>
            <a:t>pour un </a:t>
          </a:r>
          <a:r>
            <a:rPr lang="fr-CA" dirty="0" err="1">
              <a:sym typeface="Wingdings" panose="05000000000000000000" pitchFamily="2" charset="2"/>
            </a:rPr>
            <a:t>investisseur</a:t>
          </a:r>
          <a:r>
            <a:rPr lang="fr-CA" dirty="0">
              <a:sym typeface="Wingdings" panose="05000000000000000000" pitchFamily="2" charset="2"/>
            </a:rPr>
            <a:t> rationnel</a:t>
          </a:r>
          <a:endParaRPr lang="fr-CA" dirty="0">
            <a:latin typeface="Symbol" panose="05050102010706020507" pitchFamily="18" charset="2"/>
          </a:endParaRPr>
        </a:p>
      </dgm:t>
    </dgm:pt>
    <dgm:pt modelId="{A71C86D6-DD5F-41A6-9BB5-AA0C70EB90F8}" type="parTrans" cxnId="{F341BF58-7F66-4A8C-AC17-16FB7F455FC0}">
      <dgm:prSet/>
      <dgm:spPr/>
      <dgm:t>
        <a:bodyPr/>
        <a:lstStyle/>
        <a:p>
          <a:endParaRPr lang="en-GB"/>
        </a:p>
      </dgm:t>
    </dgm:pt>
    <dgm:pt modelId="{231E9079-3C28-4A5E-A1FF-EA15869E1189}" type="sibTrans" cxnId="{F341BF58-7F66-4A8C-AC17-16FB7F455FC0}">
      <dgm:prSet/>
      <dgm:spPr/>
      <dgm:t>
        <a:bodyPr/>
        <a:lstStyle/>
        <a:p>
          <a:endParaRPr lang="en-GB"/>
        </a:p>
      </dgm:t>
    </dgm:pt>
    <dgm:pt modelId="{05C6EA03-190A-402F-BC2A-3D7FD24E92F3}">
      <dgm:prSet phldrT="[Texte]"/>
      <dgm:spPr/>
      <dgm:t>
        <a:bodyPr/>
        <a:lstStyle/>
        <a:p>
          <a:r>
            <a:rPr lang="fr-CA" dirty="0">
              <a:sym typeface="Wingdings" panose="05000000000000000000" pitchFamily="2" charset="2"/>
            </a:rPr>
            <a:t>Le </a:t>
          </a:r>
          <a:r>
            <a:rPr lang="fr-CA" dirty="0" err="1">
              <a:sym typeface="Wingdings" panose="05000000000000000000" pitchFamily="2" charset="2"/>
            </a:rPr>
            <a:t>rendement</a:t>
          </a:r>
          <a:r>
            <a:rPr lang="fr-CA" dirty="0">
              <a:sym typeface="Wingdings" panose="05000000000000000000" pitchFamily="2" charset="2"/>
            </a:rPr>
            <a:t> des actifs </a:t>
          </a:r>
          <a:r>
            <a:rPr lang="fr-CA" dirty="0" err="1">
              <a:sym typeface="Wingdings" panose="05000000000000000000" pitchFamily="2" charset="2"/>
            </a:rPr>
            <a:t>risqués est </a:t>
          </a:r>
          <a:r>
            <a:rPr lang="fr-CA" dirty="0">
              <a:sym typeface="Wingdings" panose="05000000000000000000" pitchFamily="2" charset="2"/>
            </a:rPr>
            <a:t>uniquement </a:t>
          </a:r>
          <a:r>
            <a:rPr lang="fr-CA" dirty="0" err="1">
              <a:sym typeface="Wingdings" panose="05000000000000000000" pitchFamily="2" charset="2"/>
            </a:rPr>
            <a:t>fonction </a:t>
          </a:r>
          <a:r>
            <a:rPr lang="fr-CA" dirty="0">
              <a:sym typeface="Wingdings" panose="05000000000000000000" pitchFamily="2" charset="2"/>
            </a:rPr>
            <a:t>du </a:t>
          </a:r>
          <a:r>
            <a:rPr lang="fr-CA" dirty="0" err="1">
              <a:sym typeface="Wingdings" panose="05000000000000000000" pitchFamily="2" charset="2"/>
            </a:rPr>
            <a:t>risque systématique</a:t>
          </a:r>
          <a:r>
            <a:rPr lang="fr-CA" dirty="0">
              <a:sym typeface="Wingdings" panose="05000000000000000000" pitchFamily="2" charset="2"/>
            </a:rPr>
            <a:t>. </a:t>
          </a:r>
          <a:endParaRPr lang="fr-CA" dirty="0">
            <a:latin typeface="Symbol" panose="05050102010706020507" pitchFamily="18" charset="2"/>
          </a:endParaRPr>
        </a:p>
      </dgm:t>
    </dgm:pt>
    <dgm:pt modelId="{6B69E595-3174-44A5-BF9D-BE309497ACDD}" type="parTrans" cxnId="{454B5DDE-8C0A-46CD-A8E8-7155A17F63C9}">
      <dgm:prSet/>
      <dgm:spPr/>
      <dgm:t>
        <a:bodyPr/>
        <a:lstStyle/>
        <a:p>
          <a:endParaRPr lang="en-GB"/>
        </a:p>
      </dgm:t>
    </dgm:pt>
    <dgm:pt modelId="{55C945D7-64A1-4CA9-A458-E69EB6A870C6}" type="sibTrans" cxnId="{454B5DDE-8C0A-46CD-A8E8-7155A17F63C9}">
      <dgm:prSet/>
      <dgm:spPr/>
      <dgm:t>
        <a:bodyPr/>
        <a:lstStyle/>
        <a:p>
          <a:endParaRPr lang="en-GB"/>
        </a:p>
      </dgm:t>
    </dgm:pt>
    <dgm:pt modelId="{9F6028E4-0A40-453F-A2EB-C0231D9E5BAA}" type="pres">
      <dgm:prSet presAssocID="{CA7CBABC-C32D-42CA-BC3C-27E5667732A1}" presName="Name0" presStyleCnt="0">
        <dgm:presLayoutVars>
          <dgm:dir/>
          <dgm:animLvl val="lvl"/>
          <dgm:resizeHandles val="exact"/>
        </dgm:presLayoutVars>
      </dgm:prSet>
      <dgm:spPr/>
    </dgm:pt>
    <dgm:pt modelId="{B611A641-450C-468D-8E72-A580AB60BD1B}" type="pres">
      <dgm:prSet presAssocID="{7F0ED691-F9DB-4A48-AA51-4292EA64FC5D}" presName="composite" presStyleCnt="0"/>
      <dgm:spPr/>
    </dgm:pt>
    <dgm:pt modelId="{9FFB0F21-B18E-4735-B32D-46B6288C8806}" type="pres">
      <dgm:prSet presAssocID="{7F0ED691-F9DB-4A48-AA51-4292EA64FC5D}" presName="parTx" presStyleLbl="alignNode1" presStyleIdx="0" presStyleCnt="3" custLinFactNeighborY="-20391">
        <dgm:presLayoutVars>
          <dgm:chMax val="0"/>
          <dgm:chPref val="0"/>
          <dgm:bulletEnabled val="1"/>
        </dgm:presLayoutVars>
      </dgm:prSet>
      <dgm:spPr/>
    </dgm:pt>
    <dgm:pt modelId="{A57C07D4-47A2-472C-BE71-A60070FF092C}" type="pres">
      <dgm:prSet presAssocID="{7F0ED691-F9DB-4A48-AA51-4292EA64FC5D}" presName="desTx" presStyleLbl="alignAccFollowNode1" presStyleIdx="0" presStyleCnt="3">
        <dgm:presLayoutVars>
          <dgm:bulletEnabled val="1"/>
        </dgm:presLayoutVars>
      </dgm:prSet>
      <dgm:spPr/>
    </dgm:pt>
    <dgm:pt modelId="{CA571CD1-968B-4C28-AEF6-ABA91614343C}" type="pres">
      <dgm:prSet presAssocID="{1839CAA5-59AB-4B61-9F4A-0E12765FDF3D}" presName="space" presStyleCnt="0"/>
      <dgm:spPr/>
    </dgm:pt>
    <dgm:pt modelId="{DAF75B0C-A1B8-4171-BBA2-5CC218351E30}" type="pres">
      <dgm:prSet presAssocID="{8C278451-B67D-4059-A140-85A8C30E5F56}" presName="composite" presStyleCnt="0"/>
      <dgm:spPr/>
    </dgm:pt>
    <dgm:pt modelId="{7BE726BF-7E66-46EE-AE47-00F76D2F6D43}" type="pres">
      <dgm:prSet presAssocID="{8C278451-B67D-4059-A140-85A8C30E5F56}" presName="parTx" presStyleLbl="alignNode1" presStyleIdx="1" presStyleCnt="3" custLinFactNeighborY="30484">
        <dgm:presLayoutVars>
          <dgm:chMax val="0"/>
          <dgm:chPref val="0"/>
          <dgm:bulletEnabled val="1"/>
        </dgm:presLayoutVars>
      </dgm:prSet>
      <dgm:spPr/>
    </dgm:pt>
    <dgm:pt modelId="{AB7E4C9A-41E9-4632-A8A6-E2244ECFE36E}" type="pres">
      <dgm:prSet presAssocID="{8C278451-B67D-4059-A140-85A8C30E5F56}" presName="desTx" presStyleLbl="alignAccFollowNode1" presStyleIdx="1" presStyleCnt="3" custLinFactNeighborY="17882">
        <dgm:presLayoutVars>
          <dgm:bulletEnabled val="1"/>
        </dgm:presLayoutVars>
      </dgm:prSet>
      <dgm:spPr/>
    </dgm:pt>
    <dgm:pt modelId="{346DDBF7-182F-497B-ACF3-D42E3E9F5A2D}" type="pres">
      <dgm:prSet presAssocID="{1A270F67-CD23-4EDE-A7A9-B396D354CD83}" presName="space" presStyleCnt="0"/>
      <dgm:spPr/>
    </dgm:pt>
    <dgm:pt modelId="{07810DD5-BDD4-48A6-8E34-EEAB1F672ABC}" type="pres">
      <dgm:prSet presAssocID="{125E0F69-03EC-4595-91D6-098851BA4677}" presName="composite" presStyleCnt="0"/>
      <dgm:spPr/>
    </dgm:pt>
    <dgm:pt modelId="{F3390421-C387-41DD-9E62-A2514FB2DF39}" type="pres">
      <dgm:prSet presAssocID="{125E0F69-03EC-4595-91D6-098851BA4677}" presName="parTx" presStyleLbl="alignNode1" presStyleIdx="2" presStyleCnt="3" custLinFactNeighborY="-9709">
        <dgm:presLayoutVars>
          <dgm:chMax val="0"/>
          <dgm:chPref val="0"/>
          <dgm:bulletEnabled val="1"/>
        </dgm:presLayoutVars>
      </dgm:prSet>
      <dgm:spPr/>
    </dgm:pt>
    <dgm:pt modelId="{09AEA769-5912-43C5-94FC-10D6041A6888}" type="pres">
      <dgm:prSet presAssocID="{125E0F69-03EC-4595-91D6-098851BA4677}" presName="desTx" presStyleLbl="alignAccFollowNode1" presStyleIdx="2" presStyleCnt="3" custLinFactNeighborY="2366">
        <dgm:presLayoutVars>
          <dgm:bulletEnabled val="1"/>
        </dgm:presLayoutVars>
      </dgm:prSet>
      <dgm:spPr/>
    </dgm:pt>
  </dgm:ptLst>
  <dgm:cxnLst>
    <dgm:cxn modelId="{7A7F4906-E8E8-48C5-9780-B4FB1EE8679E}" type="presOf" srcId="{BA6EFC43-AA1C-414C-9326-52B8ED2037DB}" destId="{A57C07D4-47A2-472C-BE71-A60070FF092C}" srcOrd="0" destOrd="1" presId="urn:microsoft.com/office/officeart/2005/8/layout/hList1"/>
    <dgm:cxn modelId="{CCBD0407-5D32-41B4-B1F2-C9191FF30140}" srcId="{7F0ED691-F9DB-4A48-AA51-4292EA64FC5D}" destId="{F97681E8-296F-4673-A870-90AE92A0289A}" srcOrd="0" destOrd="0" parTransId="{10E3655D-7BAE-48D2-A4A2-C0A5FA3310C9}" sibTransId="{9D676039-3D16-4BAF-A1B6-176C815CA21E}"/>
    <dgm:cxn modelId="{EFC7820E-4152-4D32-8F47-D2F36FD8A425}" type="presOf" srcId="{AB25858D-C227-43D4-927A-9EBCFD0C054A}" destId="{AB7E4C9A-41E9-4632-A8A6-E2244ECFE36E}" srcOrd="0" destOrd="1" presId="urn:microsoft.com/office/officeart/2005/8/layout/hList1"/>
    <dgm:cxn modelId="{9EB42713-4391-474F-941A-14453BA6CF06}" srcId="{CA7CBABC-C32D-42CA-BC3C-27E5667732A1}" destId="{7F0ED691-F9DB-4A48-AA51-4292EA64FC5D}" srcOrd="0" destOrd="0" parTransId="{58B6C0A6-A43D-4CFF-94DA-653AA508A2D7}" sibTransId="{1839CAA5-59AB-4B61-9F4A-0E12765FDF3D}"/>
    <dgm:cxn modelId="{BD2A5119-2253-4E07-8E6F-8CCDCEC578D3}" type="presOf" srcId="{F97681E8-296F-4673-A870-90AE92A0289A}" destId="{A57C07D4-47A2-472C-BE71-A60070FF092C}" srcOrd="0" destOrd="0" presId="urn:microsoft.com/office/officeart/2005/8/layout/hList1"/>
    <dgm:cxn modelId="{FD4BDD25-9211-4E21-9C19-113988508FC4}" srcId="{8C278451-B67D-4059-A140-85A8C30E5F56}" destId="{90809D63-4CBB-46B7-A2E4-85D998FB00F1}" srcOrd="3" destOrd="0" parTransId="{22ED9F50-BB2C-4EC8-B9B0-704A0FAFDD67}" sibTransId="{0C134F1A-0D12-41DE-92C0-0DEA090D6111}"/>
    <dgm:cxn modelId="{EB02E62E-BA79-4C57-8F92-8A2D0E2E8DB6}" type="presOf" srcId="{DBA23458-D824-44E9-B7DC-1F94B5D47B77}" destId="{09AEA769-5912-43C5-94FC-10D6041A6888}" srcOrd="0" destOrd="1" presId="urn:microsoft.com/office/officeart/2005/8/layout/hList1"/>
    <dgm:cxn modelId="{D13BED32-FED0-4F5A-91A8-B6ECDCFBCA26}" srcId="{125E0F69-03EC-4595-91D6-098851BA4677}" destId="{DBA23458-D824-44E9-B7DC-1F94B5D47B77}" srcOrd="1" destOrd="0" parTransId="{A01325B0-7878-4E59-BF6E-EDB08C028C31}" sibTransId="{65EAB178-C93A-4A41-B599-D297C15F6A39}"/>
    <dgm:cxn modelId="{6279F43B-8387-432C-9007-13153CD79C63}" srcId="{125E0F69-03EC-4595-91D6-098851BA4677}" destId="{F0CA9BD7-8AAF-48B0-8064-ADD66C657D84}" srcOrd="0" destOrd="0" parTransId="{BC43055E-4FA0-463E-9A34-E274D15974EF}" sibTransId="{791469E0-3F4D-4DCE-82A1-D337DE3917C2}"/>
    <dgm:cxn modelId="{B6AC5D74-86B8-4E91-A6E9-A186A7CB514A}" srcId="{CA7CBABC-C32D-42CA-BC3C-27E5667732A1}" destId="{125E0F69-03EC-4595-91D6-098851BA4677}" srcOrd="2" destOrd="0" parTransId="{3A587260-EC62-4419-BA5F-1824303A8855}" sibTransId="{285EDE9D-A40D-4BB9-9C7D-9D8D739B8D38}"/>
    <dgm:cxn modelId="{F341BF58-7F66-4A8C-AC17-16FB7F455FC0}" srcId="{8C278451-B67D-4059-A140-85A8C30E5F56}" destId="{AB25858D-C227-43D4-927A-9EBCFD0C054A}" srcOrd="1" destOrd="0" parTransId="{A71C86D6-DD5F-41A6-9BB5-AA0C70EB90F8}" sibTransId="{231E9079-3C28-4A5E-A1FF-EA15869E1189}"/>
    <dgm:cxn modelId="{74523159-EC1E-420C-95BB-1C56F8FDED69}" srcId="{7F0ED691-F9DB-4A48-AA51-4292EA64FC5D}" destId="{BA6EFC43-AA1C-414C-9326-52B8ED2037DB}" srcOrd="1" destOrd="0" parTransId="{970FA872-2DAD-4B25-A546-45EB93CF4322}" sibTransId="{8A04D74C-CB0D-4735-B486-D028439EC974}"/>
    <dgm:cxn modelId="{D42BE55A-D200-4799-9BA2-A3BBEEFAE313}" type="presOf" srcId="{125E0F69-03EC-4595-91D6-098851BA4677}" destId="{F3390421-C387-41DD-9E62-A2514FB2DF39}" srcOrd="0" destOrd="0" presId="urn:microsoft.com/office/officeart/2005/8/layout/hList1"/>
    <dgm:cxn modelId="{F7073081-B3A6-4272-81D1-55597DA3E5A7}" type="presOf" srcId="{05C6EA03-190A-402F-BC2A-3D7FD24E92F3}" destId="{AB7E4C9A-41E9-4632-A8A6-E2244ECFE36E}" srcOrd="0" destOrd="2" presId="urn:microsoft.com/office/officeart/2005/8/layout/hList1"/>
    <dgm:cxn modelId="{100023AA-43DA-4AF3-B356-762BA3271570}" srcId="{8C278451-B67D-4059-A140-85A8C30E5F56}" destId="{34455F1A-7D17-44AC-9109-1B2FC14984D2}" srcOrd="0" destOrd="0" parTransId="{76F1D457-9746-472F-B1D3-752A28A62452}" sibTransId="{65E71805-2EFD-4465-944E-A08CBC778BF6}"/>
    <dgm:cxn modelId="{FA7A5DAA-3B7C-4346-B8F5-04C15F7D9DDC}" type="presOf" srcId="{34455F1A-7D17-44AC-9109-1B2FC14984D2}" destId="{AB7E4C9A-41E9-4632-A8A6-E2244ECFE36E}" srcOrd="0" destOrd="0" presId="urn:microsoft.com/office/officeart/2005/8/layout/hList1"/>
    <dgm:cxn modelId="{7B0D5DB5-29BF-4D3E-A404-DB1DEDB316F1}" srcId="{CA7CBABC-C32D-42CA-BC3C-27E5667732A1}" destId="{8C278451-B67D-4059-A140-85A8C30E5F56}" srcOrd="1" destOrd="0" parTransId="{19A7050C-5374-48D4-BC8D-FEA800841999}" sibTransId="{1A270F67-CD23-4EDE-A7A9-B396D354CD83}"/>
    <dgm:cxn modelId="{C2603EB6-402A-4190-B759-80F0B42C06FD}" type="presOf" srcId="{90809D63-4CBB-46B7-A2E4-85D998FB00F1}" destId="{AB7E4C9A-41E9-4632-A8A6-E2244ECFE36E}" srcOrd="0" destOrd="3" presId="urn:microsoft.com/office/officeart/2005/8/layout/hList1"/>
    <dgm:cxn modelId="{3B5776C8-C22F-4D0A-B866-177ADDB0434E}" type="presOf" srcId="{CA7CBABC-C32D-42CA-BC3C-27E5667732A1}" destId="{9F6028E4-0A40-453F-A2EB-C0231D9E5BAA}" srcOrd="0" destOrd="0" presId="urn:microsoft.com/office/officeart/2005/8/layout/hList1"/>
    <dgm:cxn modelId="{C07D34D5-673E-4F1A-87B4-AAB88507E9C2}" type="presOf" srcId="{F0CA9BD7-8AAF-48B0-8064-ADD66C657D84}" destId="{09AEA769-5912-43C5-94FC-10D6041A6888}" srcOrd="0" destOrd="0" presId="urn:microsoft.com/office/officeart/2005/8/layout/hList1"/>
    <dgm:cxn modelId="{64B25BDD-AC4E-4B77-A464-7280B79BB067}" type="presOf" srcId="{8C278451-B67D-4059-A140-85A8C30E5F56}" destId="{7BE726BF-7E66-46EE-AE47-00F76D2F6D43}" srcOrd="0" destOrd="0" presId="urn:microsoft.com/office/officeart/2005/8/layout/hList1"/>
    <dgm:cxn modelId="{454B5DDE-8C0A-46CD-A8E8-7155A17F63C9}" srcId="{8C278451-B67D-4059-A140-85A8C30E5F56}" destId="{05C6EA03-190A-402F-BC2A-3D7FD24E92F3}" srcOrd="2" destOrd="0" parTransId="{6B69E595-3174-44A5-BF9D-BE309497ACDD}" sibTransId="{55C945D7-64A1-4CA9-A458-E69EB6A870C6}"/>
    <dgm:cxn modelId="{0A4FE8FF-10A7-441E-B775-4BD17D32F966}" type="presOf" srcId="{7F0ED691-F9DB-4A48-AA51-4292EA64FC5D}" destId="{9FFB0F21-B18E-4735-B32D-46B6288C8806}" srcOrd="0" destOrd="0" presId="urn:microsoft.com/office/officeart/2005/8/layout/hList1"/>
    <dgm:cxn modelId="{01C61BBC-6348-4A7C-827D-0C05D5C9EA3B}" type="presParOf" srcId="{9F6028E4-0A40-453F-A2EB-C0231D9E5BAA}" destId="{B611A641-450C-468D-8E72-A580AB60BD1B}" srcOrd="0" destOrd="0" presId="urn:microsoft.com/office/officeart/2005/8/layout/hList1"/>
    <dgm:cxn modelId="{565CE3F6-4BD4-4F04-9A2A-ACCBBF03229B}" type="presParOf" srcId="{B611A641-450C-468D-8E72-A580AB60BD1B}" destId="{9FFB0F21-B18E-4735-B32D-46B6288C8806}" srcOrd="0" destOrd="0" presId="urn:microsoft.com/office/officeart/2005/8/layout/hList1"/>
    <dgm:cxn modelId="{D1220DC1-9B71-47CC-B8C7-61C74B531658}" type="presParOf" srcId="{B611A641-450C-468D-8E72-A580AB60BD1B}" destId="{A57C07D4-47A2-472C-BE71-A60070FF092C}" srcOrd="1" destOrd="0" presId="urn:microsoft.com/office/officeart/2005/8/layout/hList1"/>
    <dgm:cxn modelId="{2B582C8D-D468-4E04-84F6-C44A49076E10}" type="presParOf" srcId="{9F6028E4-0A40-453F-A2EB-C0231D9E5BAA}" destId="{CA571CD1-968B-4C28-AEF6-ABA91614343C}" srcOrd="1" destOrd="0" presId="urn:microsoft.com/office/officeart/2005/8/layout/hList1"/>
    <dgm:cxn modelId="{C18B5F41-5E20-46BA-A1A5-8E5ABCBA3696}" type="presParOf" srcId="{9F6028E4-0A40-453F-A2EB-C0231D9E5BAA}" destId="{DAF75B0C-A1B8-4171-BBA2-5CC218351E30}" srcOrd="2" destOrd="0" presId="urn:microsoft.com/office/officeart/2005/8/layout/hList1"/>
    <dgm:cxn modelId="{9D236288-A28D-4A8F-AC0F-AD88E7417CB9}" type="presParOf" srcId="{DAF75B0C-A1B8-4171-BBA2-5CC218351E30}" destId="{7BE726BF-7E66-46EE-AE47-00F76D2F6D43}" srcOrd="0" destOrd="0" presId="urn:microsoft.com/office/officeart/2005/8/layout/hList1"/>
    <dgm:cxn modelId="{5AD0C10A-875A-4F85-A9D9-BA25E1C35183}" type="presParOf" srcId="{DAF75B0C-A1B8-4171-BBA2-5CC218351E30}" destId="{AB7E4C9A-41E9-4632-A8A6-E2244ECFE36E}" srcOrd="1" destOrd="0" presId="urn:microsoft.com/office/officeart/2005/8/layout/hList1"/>
    <dgm:cxn modelId="{2C2CAFEF-16A9-41D9-928A-04AA8546460C}" type="presParOf" srcId="{9F6028E4-0A40-453F-A2EB-C0231D9E5BAA}" destId="{346DDBF7-182F-497B-ACF3-D42E3E9F5A2D}" srcOrd="3" destOrd="0" presId="urn:microsoft.com/office/officeart/2005/8/layout/hList1"/>
    <dgm:cxn modelId="{C66E1447-5E38-4498-9F5C-207C7D874B8A}" type="presParOf" srcId="{9F6028E4-0A40-453F-A2EB-C0231D9E5BAA}" destId="{07810DD5-BDD4-48A6-8E34-EEAB1F672ABC}" srcOrd="4" destOrd="0" presId="urn:microsoft.com/office/officeart/2005/8/layout/hList1"/>
    <dgm:cxn modelId="{7E1C299D-54A9-4A13-AF26-B96FC508D7F2}" type="presParOf" srcId="{07810DD5-BDD4-48A6-8E34-EEAB1F672ABC}" destId="{F3390421-C387-41DD-9E62-A2514FB2DF39}" srcOrd="0" destOrd="0" presId="urn:microsoft.com/office/officeart/2005/8/layout/hList1"/>
    <dgm:cxn modelId="{B5007647-7641-4162-BA07-E565826C424B}" type="presParOf" srcId="{07810DD5-BDD4-48A6-8E34-EEAB1F672ABC}" destId="{09AEA769-5912-43C5-94FC-10D6041A688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FB0F21-B18E-4735-B32D-46B6288C8806}">
      <dsp:nvSpPr>
        <dsp:cNvPr id="0" name=""/>
        <dsp:cNvSpPr/>
      </dsp:nvSpPr>
      <dsp:spPr>
        <a:xfrm>
          <a:off x="2677" y="285920"/>
          <a:ext cx="2610966" cy="6431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dirty="0" err="1"/>
            <a:t>Risque</a:t>
          </a:r>
          <a:r>
            <a:rPr lang="fr-CA" sz="1600" kern="1200" dirty="0"/>
            <a:t> total</a:t>
          </a:r>
        </a:p>
      </dsp:txBody>
      <dsp:txXfrm>
        <a:off x="2677" y="285920"/>
        <a:ext cx="2610966" cy="643170"/>
      </dsp:txXfrm>
    </dsp:sp>
    <dsp:sp modelId="{A57C07D4-47A2-472C-BE71-A60070FF092C}">
      <dsp:nvSpPr>
        <dsp:cNvPr id="0" name=""/>
        <dsp:cNvSpPr/>
      </dsp:nvSpPr>
      <dsp:spPr>
        <a:xfrm>
          <a:off x="2677" y="1060240"/>
          <a:ext cx="2610966" cy="224815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 err="1"/>
            <a:t>Mesuré </a:t>
          </a:r>
          <a:r>
            <a:rPr lang="fr-CA" sz="1600" kern="1200" dirty="0"/>
            <a:t>par la variance ou </a:t>
          </a:r>
          <a:r>
            <a:rPr lang="fr-CA" sz="1600" kern="1200" dirty="0" err="1"/>
            <a:t>l'écart</a:t>
          </a:r>
          <a:r>
            <a:rPr lang="fr-CA" sz="1600" kern="1200" dirty="0"/>
            <a:t> type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 err="1"/>
            <a:t>Chaque </a:t>
          </a:r>
          <a:r>
            <a:rPr lang="fr-CA" sz="1600" kern="1200" dirty="0"/>
            <a:t>actif </a:t>
          </a:r>
          <a:r>
            <a:rPr lang="fr-CA" sz="1600" kern="1200" dirty="0" err="1"/>
            <a:t>individuel </a:t>
          </a:r>
          <a:r>
            <a:rPr lang="fr-CA" sz="1600" kern="1200" dirty="0"/>
            <a:t>comporte une composante </a:t>
          </a:r>
          <a:r>
            <a:rPr lang="fr-CA" sz="1600" kern="1200" dirty="0" err="1"/>
            <a:t>de risque systématique </a:t>
          </a:r>
          <a:r>
            <a:rPr lang="fr-CA" sz="1600" kern="1200" dirty="0"/>
            <a:t>et </a:t>
          </a:r>
          <a:r>
            <a:rPr lang="fr-CA" sz="1600" kern="1200" dirty="0" err="1"/>
            <a:t>spécifique</a:t>
          </a:r>
        </a:p>
      </dsp:txBody>
      <dsp:txXfrm>
        <a:off x="2677" y="1060240"/>
        <a:ext cx="2610966" cy="2248155"/>
      </dsp:txXfrm>
    </dsp:sp>
    <dsp:sp modelId="{7BE726BF-7E66-46EE-AE47-00F76D2F6D43}">
      <dsp:nvSpPr>
        <dsp:cNvPr id="0" name=""/>
        <dsp:cNvSpPr/>
      </dsp:nvSpPr>
      <dsp:spPr>
        <a:xfrm>
          <a:off x="2979179" y="613133"/>
          <a:ext cx="2610966" cy="6431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dirty="0"/>
            <a:t>Bêta de l'actif i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dirty="0" err="1"/>
            <a:t>Risque systématique</a:t>
          </a:r>
          <a:endParaRPr lang="fr-CA" sz="1600" kern="1200" dirty="0"/>
        </a:p>
      </dsp:txBody>
      <dsp:txXfrm>
        <a:off x="2979179" y="613133"/>
        <a:ext cx="2610966" cy="643170"/>
      </dsp:txXfrm>
    </dsp:sp>
    <dsp:sp modelId="{AB7E4C9A-41E9-4632-A8A6-E2244ECFE36E}">
      <dsp:nvSpPr>
        <dsp:cNvPr id="0" name=""/>
        <dsp:cNvSpPr/>
      </dsp:nvSpPr>
      <dsp:spPr>
        <a:xfrm>
          <a:off x="2979179" y="1462255"/>
          <a:ext cx="2610966" cy="224815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 err="1"/>
            <a:t>Risque</a:t>
          </a:r>
          <a:r>
            <a:rPr lang="fr-CA" sz="1600" kern="1200" dirty="0"/>
            <a:t> non diversifiable</a:t>
          </a:r>
          <a:endParaRPr lang="fr-CA" sz="1600" kern="1200" dirty="0">
            <a:latin typeface="Symbol" panose="05050102010706020507" pitchFamily="18" charset="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 err="1">
              <a:sym typeface="Wingdings" panose="05000000000000000000" pitchFamily="2" charset="2"/>
            </a:rPr>
            <a:t>Risque</a:t>
          </a:r>
          <a:r>
            <a:rPr lang="fr-CA" sz="1600" kern="1200" dirty="0">
              <a:sym typeface="Wingdings" panose="05000000000000000000" pitchFamily="2" charset="2"/>
            </a:rPr>
            <a:t> pertinent </a:t>
          </a:r>
          <a:r>
            <a:rPr lang="fr-CA" sz="1600" kern="1200" dirty="0" err="1">
              <a:sym typeface="Wingdings" panose="05000000000000000000" pitchFamily="2" charset="2"/>
            </a:rPr>
            <a:t>uniquement </a:t>
          </a:r>
          <a:r>
            <a:rPr lang="fr-CA" sz="1600" kern="1200" dirty="0">
              <a:sym typeface="Wingdings" panose="05000000000000000000" pitchFamily="2" charset="2"/>
            </a:rPr>
            <a:t>pour un </a:t>
          </a:r>
          <a:r>
            <a:rPr lang="fr-CA" sz="1600" kern="1200" dirty="0" err="1">
              <a:sym typeface="Wingdings" panose="05000000000000000000" pitchFamily="2" charset="2"/>
            </a:rPr>
            <a:t>investisseur</a:t>
          </a:r>
          <a:r>
            <a:rPr lang="fr-CA" sz="1600" kern="1200" dirty="0">
              <a:sym typeface="Wingdings" panose="05000000000000000000" pitchFamily="2" charset="2"/>
            </a:rPr>
            <a:t> rationnel</a:t>
          </a:r>
          <a:endParaRPr lang="fr-CA" sz="1600" kern="1200" dirty="0">
            <a:latin typeface="Symbol" panose="05050102010706020507" pitchFamily="18" charset="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>
              <a:sym typeface="Wingdings" panose="05000000000000000000" pitchFamily="2" charset="2"/>
            </a:rPr>
            <a:t>Le </a:t>
          </a:r>
          <a:r>
            <a:rPr lang="fr-CA" sz="1600" kern="1200" dirty="0" err="1">
              <a:sym typeface="Wingdings" panose="05000000000000000000" pitchFamily="2" charset="2"/>
            </a:rPr>
            <a:t>rendement</a:t>
          </a:r>
          <a:r>
            <a:rPr lang="fr-CA" sz="1600" kern="1200" dirty="0">
              <a:sym typeface="Wingdings" panose="05000000000000000000" pitchFamily="2" charset="2"/>
            </a:rPr>
            <a:t> des actifs </a:t>
          </a:r>
          <a:r>
            <a:rPr lang="fr-CA" sz="1600" kern="1200" dirty="0" err="1">
              <a:sym typeface="Wingdings" panose="05000000000000000000" pitchFamily="2" charset="2"/>
            </a:rPr>
            <a:t>risqués est </a:t>
          </a:r>
          <a:r>
            <a:rPr lang="fr-CA" sz="1600" kern="1200" dirty="0">
              <a:sym typeface="Wingdings" panose="05000000000000000000" pitchFamily="2" charset="2"/>
            </a:rPr>
            <a:t>uniquement </a:t>
          </a:r>
          <a:r>
            <a:rPr lang="fr-CA" sz="1600" kern="1200" dirty="0" err="1">
              <a:sym typeface="Wingdings" panose="05000000000000000000" pitchFamily="2" charset="2"/>
            </a:rPr>
            <a:t>fonction </a:t>
          </a:r>
          <a:r>
            <a:rPr lang="fr-CA" sz="1600" kern="1200" dirty="0">
              <a:sym typeface="Wingdings" panose="05000000000000000000" pitchFamily="2" charset="2"/>
            </a:rPr>
            <a:t>du </a:t>
          </a:r>
          <a:r>
            <a:rPr lang="fr-CA" sz="1600" kern="1200" dirty="0" err="1">
              <a:sym typeface="Wingdings" panose="05000000000000000000" pitchFamily="2" charset="2"/>
            </a:rPr>
            <a:t>risque systématique</a:t>
          </a:r>
          <a:r>
            <a:rPr lang="fr-CA" sz="1600" kern="1200" dirty="0">
              <a:sym typeface="Wingdings" panose="05000000000000000000" pitchFamily="2" charset="2"/>
            </a:rPr>
            <a:t>. </a:t>
          </a:r>
          <a:endParaRPr lang="fr-CA" sz="1600" kern="1200" dirty="0">
            <a:latin typeface="Symbol" panose="05050102010706020507" pitchFamily="18" charset="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Bêta du marché = 1</a:t>
          </a:r>
          <a:r>
            <a:rPr lang="fr-CA" sz="1600" kern="1200" dirty="0">
              <a:sym typeface="Wingdings" panose="05000000000000000000" pitchFamily="2" charset="2"/>
            </a:rPr>
            <a:t> </a:t>
          </a:r>
          <a:r>
            <a:rPr lang="fr-CA" sz="1600" kern="1200" dirty="0"/>
            <a:t> 1</a:t>
          </a:r>
        </a:p>
      </dsp:txBody>
      <dsp:txXfrm>
        <a:off x="2979179" y="1462255"/>
        <a:ext cx="2610966" cy="2248155"/>
      </dsp:txXfrm>
    </dsp:sp>
    <dsp:sp modelId="{F3390421-C387-41DD-9E62-A2514FB2DF39}">
      <dsp:nvSpPr>
        <dsp:cNvPr id="0" name=""/>
        <dsp:cNvSpPr/>
      </dsp:nvSpPr>
      <dsp:spPr>
        <a:xfrm>
          <a:off x="5955680" y="354624"/>
          <a:ext cx="2610966" cy="6431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dirty="0"/>
            <a:t>Risque </a:t>
          </a:r>
          <a:r>
            <a:rPr lang="fr-CA" sz="1600" kern="1200" dirty="0" err="1"/>
            <a:t>spécifique</a:t>
          </a:r>
        </a:p>
      </dsp:txBody>
      <dsp:txXfrm>
        <a:off x="5955680" y="354624"/>
        <a:ext cx="2610966" cy="643170"/>
      </dsp:txXfrm>
    </dsp:sp>
    <dsp:sp modelId="{09AEA769-5912-43C5-94FC-10D6041A6888}">
      <dsp:nvSpPr>
        <dsp:cNvPr id="0" name=""/>
        <dsp:cNvSpPr/>
      </dsp:nvSpPr>
      <dsp:spPr>
        <a:xfrm>
          <a:off x="5955680" y="1113431"/>
          <a:ext cx="2610966" cy="224815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 err="1"/>
            <a:t>Fait référence </a:t>
          </a:r>
          <a:r>
            <a:rPr lang="fr-CA" sz="1600" kern="1200" dirty="0"/>
            <a:t>au </a:t>
          </a:r>
          <a:r>
            <a:rPr lang="fr-CA" sz="1600" kern="1200" dirty="0" err="1"/>
            <a:t>risque</a:t>
          </a:r>
          <a:r>
            <a:rPr lang="fr-CA" sz="1600" kern="1200" dirty="0"/>
            <a:t> diversifiable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Aucun </a:t>
          </a:r>
          <a:r>
            <a:rPr lang="fr-CA" sz="1600" kern="1200" dirty="0" err="1"/>
            <a:t>calcul requis </a:t>
          </a:r>
          <a:r>
            <a:rPr lang="fr-CA" sz="1600" kern="1200" dirty="0"/>
            <a:t>dans </a:t>
          </a:r>
          <a:r>
            <a:rPr lang="fr-CA" sz="1600" kern="1200" dirty="0" err="1"/>
            <a:t>ce </a:t>
          </a:r>
          <a:r>
            <a:rPr lang="fr-CA" sz="1600" kern="1200" dirty="0"/>
            <a:t>cours</a:t>
          </a:r>
        </a:p>
      </dsp:txBody>
      <dsp:txXfrm>
        <a:off x="5955680" y="1113431"/>
        <a:ext cx="2610966" cy="22481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FEB3A7-4F76-47F2-B508-DE05677D2913}" type="datetimeFigureOut">
              <a:rPr lang="fr-CA" smtClean="0"/>
              <a:t>2026-09-28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52483-072C-4A7B-9915-654833405F3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8740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5E59A1-C51A-4F4A-86C8-22A0EC8DAD15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77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34523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08783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98090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7155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6886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09848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76502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4511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59682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60999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56747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796784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77315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08448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17692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18847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7747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31346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03836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731624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345238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452483-072C-4A7B-9915-654833405F3F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26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688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452483-072C-4A7B-9915-654833405F3F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27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1868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452483-072C-4A7B-9915-654833405F3F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28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94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452483-072C-4A7B-9915-654833405F3F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9373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452483-072C-4A7B-9915-654833405F3F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31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92133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031">
            <a:extLst>
              <a:ext uri="{FF2B5EF4-FFF2-40B4-BE49-F238E27FC236}">
                <a16:creationId xmlns:a16="http://schemas.microsoft.com/office/drawing/2014/main" id="{9F493CAC-6710-4247-92DB-57796E5100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/>
              <a:t>11.</a:t>
            </a:r>
            <a:fld id="{9F72C8C3-0639-41F6-9B2B-D4BF484FD7FE}" type="slidenum">
              <a:rPr lang="en-US" altLang="en-US" sz="1200"/>
              <a:t>33</a:t>
            </a:fld>
            <a:endParaRPr lang="en-US" altLang="en-US" sz="12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4D506F00-E8F9-4B43-9B73-942840EEB2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7590006F-4C55-40A4-B828-3B15AED82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34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573931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35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370003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36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497207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031">
            <a:extLst>
              <a:ext uri="{FF2B5EF4-FFF2-40B4-BE49-F238E27FC236}">
                <a16:creationId xmlns:a16="http://schemas.microsoft.com/office/drawing/2014/main" id="{D818E096-2397-4EFE-87FC-FB6D4EE6A2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/>
              <a:t>11.</a:t>
            </a:r>
            <a:fld id="{A9778B20-6C5F-4F3C-9CF1-667116D6B566}" type="slidenum">
              <a:rPr lang="en-US" altLang="en-US" sz="1200"/>
              <a:t>38</a:t>
            </a:fld>
            <a:endParaRPr lang="en-US" altLang="en-US" sz="1200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0D24D316-372D-478D-A156-59C4DDE8DF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839B7064-D916-44DB-88E1-EB14EE6F5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1031">
            <a:extLst>
              <a:ext uri="{FF2B5EF4-FFF2-40B4-BE49-F238E27FC236}">
                <a16:creationId xmlns:a16="http://schemas.microsoft.com/office/drawing/2014/main" id="{F6B7B3FF-BD5C-47F4-9D33-CAD20BB3D2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/>
              <a:t>11.</a:t>
            </a:r>
            <a:fld id="{194D0002-8663-4117-BFB7-6CBDE011CB44}" type="slidenum">
              <a:rPr lang="en-US" altLang="en-US" sz="1200"/>
              <a:t>39</a:t>
            </a:fld>
            <a:endParaRPr lang="en-US" altLang="en-US" sz="1200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97F4904B-A037-4B67-9969-34AAF86414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B5670F3D-7BD0-43D9-B536-76DD78F97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1031">
            <a:extLst>
              <a:ext uri="{FF2B5EF4-FFF2-40B4-BE49-F238E27FC236}">
                <a16:creationId xmlns:a16="http://schemas.microsoft.com/office/drawing/2014/main" id="{121BD3AF-CAD6-481D-ACEF-4B2B4EBB88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/>
              <a:t>11.</a:t>
            </a:r>
            <a:fld id="{090211CA-27EA-4845-B27E-52171B6835C5}" type="slidenum">
              <a:rPr lang="en-US" altLang="en-US" sz="1200"/>
              <a:t>40</a:t>
            </a:fld>
            <a:endParaRPr lang="en-US" altLang="en-US" sz="12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E1EC4CA5-5591-47DD-B4BE-CCA8C58CD7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459C122B-C76C-4063-8F8E-702FB339A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06740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2483-072C-4A7B-9915-654833405F3F}" type="slidenum">
              <a:rPr lang="fr-CA" smtClean="0"/>
              <a:t>41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350578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44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1823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 marL="380985" indent="0" algn="ctr">
              <a:buNone/>
            </a:lvl2pPr>
            <a:lvl3pPr marL="761970" indent="0" algn="ctr">
              <a:buNone/>
            </a:lvl3pPr>
            <a:lvl4pPr marL="1142954" indent="0" algn="ctr">
              <a:buNone/>
            </a:lvl4pPr>
            <a:lvl5pPr marL="1523939" indent="0" algn="ctr">
              <a:buNone/>
            </a:lvl5pPr>
            <a:lvl6pPr marL="1904924" indent="0" algn="ctr">
              <a:buNone/>
            </a:lvl6pPr>
            <a:lvl7pPr marL="2285909" indent="0" algn="ctr">
              <a:buNone/>
            </a:lvl7pPr>
            <a:lvl8pPr marL="2666893" indent="0" algn="ctr">
              <a:buNone/>
            </a:lvl8pPr>
            <a:lvl9pPr marL="3047878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A64C5-7D68-449B-84CF-2A6AA5E15DF6}" type="datetime1">
              <a:rPr lang="fr-CA" smtClean="0"/>
              <a:t>2026-09-28</a:t>
            </a:fld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35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5882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23C7D-DBC6-4F0F-8B74-06F6CB1B7017}" type="datetime1">
              <a:rPr lang="fr-CA" smtClean="0"/>
              <a:t>2026-09-28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4"/>
            <a:ext cx="609600" cy="441325"/>
          </a:xfrm>
        </p:spPr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248DA96E-A7B1-A1B0-D09C-4943F8DB607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11429" cap="flat" cmpd="sng" algn="ctr">
            <a:noFill/>
            <a:prstDash val="sys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1429" cap="flat" cmpd="sng" algn="ctr">
                <a:solidFill>
                  <a:schemeClr val="accent1">
                    <a:shade val="50000"/>
                  </a:schemeClr>
                </a:solidFill>
                <a:prstDash val="sysDash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68820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8C3C9-14B7-4462-95ED-A8FFB2CA3D45}" type="datetime1">
              <a:rPr lang="fr-CA" smtClean="0"/>
              <a:t>2026-09-28</a:t>
            </a:fld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35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0155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5A0EAEEB-3E8A-40A3-AB11-03CA23E73CA1}" type="datetime1">
              <a:rPr lang="fr-CA" smtClean="0"/>
              <a:t>2026-09-28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0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79379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6096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833" b="1" dirty="0" smtClean="0">
                <a:solidFill>
                  <a:srgbClr val="FFFFFF"/>
                </a:solidFill>
              </a:defRPr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4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833" b="1"/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D7785-CC48-4AA0-8D4D-D438F01E5233}" type="datetime1">
              <a:rPr lang="fr-CA" smtClean="0"/>
              <a:t>2026-09-28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4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18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0094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EC839-B742-4C82-949A-CD5DF779A01B}" type="datetime1">
              <a:rPr lang="fr-CA" smtClean="0"/>
              <a:t>2026-09-28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5791200" y="1036022"/>
            <a:ext cx="609600" cy="441325"/>
          </a:xfrm>
        </p:spPr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31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527C-C99D-4BCC-8480-B5743200DED6}" type="datetime1">
              <a:rPr lang="fr-CA" smtClean="0"/>
              <a:t>2026-09-28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3983902-ABD2-4CA9-BB77-601D6C75F434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812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833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833"/>
              </a:spcAft>
              <a:buNone/>
              <a:defRPr sz="1333">
                <a:solidFill>
                  <a:srgbClr val="FFFFFF"/>
                </a:solidFill>
              </a:defRPr>
            </a:lvl1pPr>
            <a:lvl2pPr>
              <a:buNone/>
              <a:defRPr sz="1000"/>
            </a:lvl2pPr>
            <a:lvl3pPr>
              <a:buNone/>
              <a:defRPr sz="833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C442-3C45-407C-BF69-3AD884A08003}" type="datetime1">
              <a:rPr lang="fr-CA" smtClean="0"/>
              <a:t>2026-09-28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28929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2667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833"/>
              </a:spcAft>
              <a:buFontTx/>
              <a:buNone/>
              <a:defRPr sz="1333">
                <a:solidFill>
                  <a:srgbClr val="FFFFFF"/>
                </a:solidFill>
              </a:defRPr>
            </a:lvl1pPr>
            <a:lvl2pPr>
              <a:defRPr sz="1000"/>
            </a:lvl2pPr>
            <a:lvl3pPr>
              <a:defRPr sz="833"/>
            </a:lvl3pPr>
            <a:lvl4pPr>
              <a:defRPr sz="750"/>
            </a:lvl4pPr>
            <a:lvl5pPr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fld id="{1D398653-2133-4655-86FA-74A2F3F4D7A7}" type="datetime1">
              <a:rPr lang="fr-CA" smtClean="0"/>
              <a:t>2026-09-28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6158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24C6B-8D81-4242-89E8-8F12A96C0CA2}" type="datetime1">
              <a:rPr lang="fr-CA" smtClean="0"/>
              <a:t>2026-09-28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13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21216" y="3009903"/>
            <a:ext cx="609600" cy="441325"/>
          </a:xfrm>
        </p:spPr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9713-831B-42F2-9B67-2AA4B2990AB5}" type="datetime1">
              <a:rPr lang="fr-CA" smtClean="0"/>
              <a:t>2026-09-28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855200" y="304803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8455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76200"/>
            <a:ext cx="11176000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447800"/>
            <a:ext cx="11074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800" y="4000500"/>
            <a:ext cx="11074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9B1C82-ADAF-4800-B737-740A63359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13-</a:t>
            </a:r>
            <a:fld id="{630DAC8A-692F-45EA-A35C-B8DA7A27D6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8617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09600" y="6245226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1ACE85D3-DC3F-45F0-91C0-1F5069DED0DD}" type="datetime1">
              <a:rPr lang="fr-CA" smtClean="0"/>
              <a:t>2026-09-28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165600" y="6245226"/>
            <a:ext cx="3860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45226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4DF64075-4FE8-4212-AA8D-27F93E0C3606}" type="slidenum">
              <a:rPr lang="fr-CA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22185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 marL="380985" indent="0" algn="ctr">
              <a:buNone/>
            </a:lvl2pPr>
            <a:lvl3pPr marL="761970" indent="0" algn="ctr">
              <a:buNone/>
            </a:lvl3pPr>
            <a:lvl4pPr marL="1142954" indent="0" algn="ctr">
              <a:buNone/>
            </a:lvl4pPr>
            <a:lvl5pPr marL="1523939" indent="0" algn="ctr">
              <a:buNone/>
            </a:lvl5pPr>
            <a:lvl6pPr marL="1904924" indent="0" algn="ctr">
              <a:buNone/>
            </a:lvl6pPr>
            <a:lvl7pPr marL="2285909" indent="0" algn="ctr">
              <a:buNone/>
            </a:lvl7pPr>
            <a:lvl8pPr marL="2666893" indent="0" algn="ctr">
              <a:buNone/>
            </a:lvl8pPr>
            <a:lvl9pPr marL="3047878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35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4802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4"/>
            <a:ext cx="6096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62329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35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6125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0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5445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6096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833" b="1" dirty="0" smtClean="0">
                <a:solidFill>
                  <a:srgbClr val="FFFFFF"/>
                </a:solidFill>
              </a:defRPr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4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833" b="1"/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4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18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827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5791200" y="1036022"/>
            <a:ext cx="6096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15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11498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833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833"/>
              </a:spcAft>
              <a:buNone/>
              <a:defRPr sz="1333">
                <a:solidFill>
                  <a:srgbClr val="FFFFFF"/>
                </a:solidFill>
              </a:defRPr>
            </a:lvl1pPr>
            <a:lvl2pPr>
              <a:buNone/>
              <a:defRPr sz="1000"/>
            </a:lvl2pPr>
            <a:lvl3pPr>
              <a:buNone/>
              <a:defRPr sz="833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29321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2667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833"/>
              </a:spcAft>
              <a:buFontTx/>
              <a:buNone/>
              <a:defRPr sz="1333">
                <a:solidFill>
                  <a:srgbClr val="FFFFFF"/>
                </a:solidFill>
              </a:defRPr>
            </a:lvl1pPr>
            <a:lvl2pPr>
              <a:defRPr sz="1000"/>
            </a:lvl2pPr>
            <a:lvl3pPr>
              <a:defRPr sz="833"/>
            </a:lvl3pPr>
            <a:lvl4pPr>
              <a:defRPr sz="750"/>
            </a:lvl4pPr>
            <a:lvl5pPr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710713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6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21216" y="3009903"/>
            <a:ext cx="6096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855200" y="304803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8398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87139" y="1036639"/>
            <a:ext cx="609600" cy="441325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  <a:noFill/>
        </p:spPr>
        <p:txBody>
          <a:bodyPr/>
          <a:lstStyle>
            <a:lvl1pPr>
              <a:buClrTx/>
              <a:buSzPct val="100000"/>
              <a:defRPr>
                <a:latin typeface="Amasis MT Pro Light" panose="02040304050005020304" pitchFamily="18" charset="0"/>
              </a:defRPr>
            </a:lvl1pPr>
            <a:lvl2pPr marL="457159" indent="-228580">
              <a:buClr>
                <a:schemeClr val="accent6">
                  <a:lumMod val="75000"/>
                </a:schemeClr>
              </a:buClr>
              <a:buSzPct val="85000"/>
              <a:buFont typeface="Wingdings" panose="05000000000000000000" pitchFamily="2" charset="2"/>
              <a:buChar char=""/>
              <a:defRPr>
                <a:solidFill>
                  <a:schemeClr val="accent3">
                    <a:lumMod val="50000"/>
                  </a:schemeClr>
                </a:solidFill>
                <a:latin typeface="Amasis MT Pro Light" panose="02040304050005020304" pitchFamily="18" charset="0"/>
              </a:defRPr>
            </a:lvl2pPr>
            <a:lvl3pPr marL="685739" indent="-190482">
              <a:buClr>
                <a:schemeClr val="tx2"/>
              </a:buClr>
              <a:buSzPct val="85000"/>
              <a:buFont typeface="Courier New" panose="02070309020205020404" pitchFamily="49" charset="0"/>
              <a:buChar char="o"/>
              <a:defRPr>
                <a:solidFill>
                  <a:schemeClr val="accent2">
                    <a:lumMod val="75000"/>
                  </a:schemeClr>
                </a:solidFill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04725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73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200" b="1" cap="all" spc="187" baseline="0">
                <a:solidFill>
                  <a:schemeClr val="tx2"/>
                </a:solidFill>
                <a:latin typeface="Amasis MT Pro Light" panose="02040304050005020304" pitchFamily="18" charset="0"/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3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60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5" y="533400"/>
            <a:ext cx="10363200" cy="1524000"/>
          </a:xfrm>
        </p:spPr>
        <p:txBody>
          <a:bodyPr anchor="b"/>
          <a:lstStyle>
            <a:lvl1pPr algn="ctr">
              <a:buNone/>
              <a:defRPr sz="3150" b="0" cap="none" baseline="0">
                <a:solidFill>
                  <a:srgbClr val="FFFFFF"/>
                </a:solidFill>
                <a:latin typeface="Amasis MT Pro Light" panose="02040304050005020304" pitchFamily="18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897570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6"/>
            </a:lvl4pPr>
            <a:lvl5pPr>
              <a:buNone/>
              <a:defRPr sz="676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4" y="685800"/>
            <a:ext cx="7518400" cy="5410200"/>
          </a:xfrm>
          <a:noFill/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1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7855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F0BD8F-A75F-44D8-942F-F1E8634EA22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0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083" b="0">
                <a:latin typeface="Amasis MT Pro Light" panose="02040304050005020304" pitchFamily="18" charset="0"/>
              </a:defRPr>
            </a:lvl1pPr>
            <a:lvl2pPr>
              <a:defRPr b="0">
                <a:latin typeface="Amasis MT Pro Light" panose="02040304050005020304" pitchFamily="18" charset="0"/>
              </a:defRPr>
            </a:lvl2pPr>
            <a:lvl3pPr>
              <a:defRPr b="0">
                <a:latin typeface="Amasis MT Pro Light" panose="02040304050005020304" pitchFamily="18" charset="0"/>
              </a:defRPr>
            </a:lvl3pPr>
            <a:lvl4pPr>
              <a:defRPr b="0">
                <a:latin typeface="Amasis MT Pro Light" panose="02040304050005020304" pitchFamily="18" charset="0"/>
              </a:defRPr>
            </a:lvl4pPr>
            <a:lvl5pPr>
              <a:defRPr b="0"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083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00297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9"/>
            <a:ext cx="609600" cy="4413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07D78C65-EB30-EA4B-B3AF-ED56473E9FB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75299" y="1503244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46511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6"/>
            </a:lvl4pPr>
            <a:lvl5pPr>
              <a:buNone/>
              <a:defRPr sz="676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4" y="685800"/>
            <a:ext cx="75184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727204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1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9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9394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76200"/>
            <a:ext cx="11176000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447800"/>
            <a:ext cx="11074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800" y="4000500"/>
            <a:ext cx="11074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9B1C82-ADAF-4800-B737-740A63359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13-</a:t>
            </a:r>
            <a:fld id="{630DAC8A-692F-45EA-A35C-B8DA7A27D6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94064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09600" y="6245226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1ACE85D3-DC3F-45F0-91C0-1F5069DED0DD}" type="datetime1">
              <a:rPr lang="fr-CA" smtClean="0"/>
              <a:t>2026-09-28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165600" y="6245226"/>
            <a:ext cx="3860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45226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4DF64075-4FE8-4212-AA8D-27F93E0C3606}" type="slidenum">
              <a:rPr lang="fr-CA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937701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4"/>
            <a:ext cx="609600" cy="441325"/>
          </a:xfrm>
        </p:spPr>
        <p:txBody>
          <a:bodyPr/>
          <a:lstStyle>
            <a:lvl1pPr>
              <a:defRPr sz="1333"/>
            </a:lvl1pPr>
          </a:lstStyle>
          <a:p>
            <a:pPr>
              <a:defRPr/>
            </a:pPr>
            <a:fld id="{07D78C65-EB30-EA4B-B3AF-ED56473E9FB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42733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6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200" b="1" cap="all" spc="188" baseline="0">
                <a:solidFill>
                  <a:schemeClr val="tx2"/>
                </a:solidFill>
              </a:defRPr>
            </a:lvl1pPr>
            <a:lvl2pPr marL="342887" indent="0" algn="ctr">
              <a:buNone/>
            </a:lvl2pPr>
            <a:lvl3pPr marL="685773" indent="0" algn="ctr">
              <a:buNone/>
            </a:lvl3pPr>
            <a:lvl4pPr marL="1028659" indent="0" algn="ctr">
              <a:buNone/>
            </a:lvl4pPr>
            <a:lvl5pPr marL="1371545" indent="0" algn="ctr">
              <a:buNone/>
            </a:lvl5pPr>
            <a:lvl6pPr marL="1714432" indent="0" algn="ctr">
              <a:buNone/>
            </a:lvl6pPr>
            <a:lvl7pPr marL="2057318" indent="0" algn="ctr">
              <a:buNone/>
            </a:lvl7pPr>
            <a:lvl8pPr marL="2400204" indent="0" algn="ctr">
              <a:buNone/>
            </a:lvl8pPr>
            <a:lvl9pPr marL="2743091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5791200" y="2199455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324EA66-A4B0-4224-BBA5-0FC2F209177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315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8468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7"/>
            <a:ext cx="609600" cy="441325"/>
          </a:xfrm>
        </p:spPr>
        <p:txBody>
          <a:bodyPr/>
          <a:lstStyle/>
          <a:p>
            <a:pPr>
              <a:defRPr/>
            </a:pPr>
            <a:fld id="{93C7882D-F441-4648-9C50-5072DBCC9D63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11229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200" b="1" cap="all" spc="188" baseline="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55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CCD3217-9817-4872-9FE9-0F35C2617878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315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6504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B4160-BEC7-480B-A15C-B98BAAC7102F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3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1875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1875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93824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6096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650" b="1" dirty="0" smtClean="0">
                <a:solidFill>
                  <a:srgbClr val="FFFFFF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6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650" b="1"/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5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21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3CBA4568-AD52-4CB0-B47B-D5416F603BEE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7834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5791200" y="1036025"/>
            <a:ext cx="609600" cy="441325"/>
          </a:xfrm>
        </p:spPr>
        <p:txBody>
          <a:bodyPr/>
          <a:lstStyle/>
          <a:p>
            <a:pPr>
              <a:defRPr/>
            </a:pPr>
            <a:fld id="{5C3A58B9-6C5A-4C4F-A301-4FE9DEEE0E0C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185172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6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0E58A79-823B-415C-B96A-0DA0927A0E78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544163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4"/>
            <a:ext cx="31496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3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354E199E-4E0B-4BED-BDCE-D9E19E8FE615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91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29825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3"/>
            <a:ext cx="609600" cy="441325"/>
          </a:xfrm>
        </p:spPr>
        <p:txBody>
          <a:bodyPr/>
          <a:lstStyle/>
          <a:p>
            <a:pPr>
              <a:defRPr/>
            </a:pPr>
            <a:fld id="{8EDA00BC-A223-4E39-95EA-BB8A711B6D1F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750"/>
              </a:spcAft>
              <a:buFontTx/>
              <a:buNone/>
              <a:defRPr sz="1200">
                <a:solidFill>
                  <a:srgbClr val="FFFFFF"/>
                </a:solidFill>
              </a:defRPr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91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6439127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F4BBC-A50D-472A-9282-574269CBB30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81555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6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21216" y="3009907"/>
            <a:ext cx="609600" cy="441325"/>
          </a:xfrm>
        </p:spPr>
        <p:txBody>
          <a:bodyPr/>
          <a:lstStyle/>
          <a:p>
            <a:pPr>
              <a:defRPr/>
            </a:pPr>
            <a:fld id="{9C18D745-C84B-4C60-BCFC-BE659AADC1CC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855200" y="304807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943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87139" y="1036640"/>
            <a:ext cx="609600" cy="441325"/>
          </a:xfrm>
        </p:spPr>
        <p:txBody>
          <a:bodyPr>
            <a:normAutofit/>
          </a:bodyPr>
          <a:lstStyle>
            <a:lvl1pPr>
              <a:defRPr sz="917"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  <a:noFill/>
        </p:spPr>
        <p:txBody>
          <a:bodyPr/>
          <a:lstStyle>
            <a:lvl1pPr>
              <a:buClrTx/>
              <a:buSzPct val="100000"/>
              <a:defRPr>
                <a:latin typeface="Amasis MT Pro Light" panose="02040304050005020304" pitchFamily="18" charset="0"/>
              </a:defRPr>
            </a:lvl1pPr>
            <a:lvl2pPr marL="380951" indent="-190476">
              <a:buClr>
                <a:schemeClr val="accent6">
                  <a:lumMod val="75000"/>
                </a:schemeClr>
              </a:buClr>
              <a:buSzPct val="85000"/>
              <a:buFont typeface="Wingdings" panose="05000000000000000000" pitchFamily="2" charset="2"/>
              <a:buChar char=""/>
              <a:defRPr>
                <a:solidFill>
                  <a:schemeClr val="accent3">
                    <a:lumMod val="50000"/>
                  </a:schemeClr>
                </a:solidFill>
                <a:latin typeface="Amasis MT Pro Light" panose="02040304050005020304" pitchFamily="18" charset="0"/>
              </a:defRPr>
            </a:lvl2pPr>
            <a:lvl3pPr marL="571426" indent="-158729">
              <a:buClr>
                <a:schemeClr val="tx2"/>
              </a:buClr>
              <a:buSzPct val="85000"/>
              <a:buFont typeface="Courier New" panose="02070309020205020404" pitchFamily="49" charset="0"/>
              <a:buChar char="o"/>
              <a:defRPr>
                <a:solidFill>
                  <a:schemeClr val="accent2">
                    <a:lumMod val="75000"/>
                  </a:schemeClr>
                </a:solidFill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15485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23521" y="158496"/>
            <a:ext cx="11777472" cy="213969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73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000" b="1" cap="all" spc="156" baseline="0">
                <a:solidFill>
                  <a:schemeClr val="tx2"/>
                </a:solidFill>
                <a:latin typeface="Amasis MT Pro Light" panose="02040304050005020304" pitchFamily="18" charset="0"/>
              </a:defRPr>
            </a:lvl1pPr>
            <a:lvl2pPr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3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61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5" y="533400"/>
            <a:ext cx="10363200" cy="1524000"/>
          </a:xfrm>
        </p:spPr>
        <p:txBody>
          <a:bodyPr anchor="b"/>
          <a:lstStyle>
            <a:lvl1pPr algn="ctr">
              <a:buNone/>
              <a:defRPr sz="2625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727529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60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7797711-19F7-489A-B9FE-21143DCBA2BB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78939388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527" b="1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694"/>
              </a:spcAft>
              <a:buNone/>
              <a:defRPr sz="1111">
                <a:solidFill>
                  <a:schemeClr val="tx1"/>
                </a:solidFill>
              </a:defRPr>
            </a:lvl1pPr>
            <a:lvl2pPr>
              <a:buNone/>
              <a:defRPr sz="833"/>
            </a:lvl2pPr>
            <a:lvl3pPr>
              <a:buNone/>
              <a:defRPr sz="694"/>
            </a:lvl3pPr>
            <a:lvl4pPr>
              <a:buNone/>
              <a:defRPr sz="625"/>
            </a:lvl4pPr>
            <a:lvl5pPr>
              <a:buNone/>
              <a:defRPr sz="62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70022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F0BD8F-A75F-44D8-942F-F1E8634EA22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3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1736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1736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0522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87139" y="1036641"/>
            <a:ext cx="609600" cy="441325"/>
          </a:xfrm>
        </p:spPr>
        <p:txBody>
          <a:bodyPr>
            <a:noAutofit/>
          </a:bodyPr>
          <a:lstStyle>
            <a:lvl1pPr>
              <a:defRPr sz="945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07D78C65-EB30-EA4B-B3AF-ED56473E9FB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79670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929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3"/>
            <a:ext cx="3149600" cy="4144963"/>
          </a:xfrm>
        </p:spPr>
        <p:txBody>
          <a:bodyPr/>
          <a:lstStyle>
            <a:lvl1pPr marL="0" indent="0">
              <a:spcAft>
                <a:spcPts val="422"/>
              </a:spcAft>
              <a:buNone/>
              <a:defRPr sz="675">
                <a:solidFill>
                  <a:srgbClr val="FFFFFF"/>
                </a:solidFill>
              </a:defRPr>
            </a:lvl1pPr>
            <a:lvl2pPr>
              <a:buNone/>
              <a:defRPr sz="506"/>
            </a:lvl2pPr>
            <a:lvl3pPr>
              <a:buNone/>
              <a:defRPr sz="422"/>
            </a:lvl3pPr>
            <a:lvl4pPr>
              <a:buNone/>
              <a:defRPr sz="380"/>
            </a:lvl4pPr>
            <a:lvl5pPr>
              <a:buNone/>
              <a:defRPr sz="38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5" y="685800"/>
            <a:ext cx="75184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727205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5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400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140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1" y="76200"/>
            <a:ext cx="11176000" cy="1219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447800"/>
            <a:ext cx="11074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800" y="4000500"/>
            <a:ext cx="11074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9B1C82-ADAF-4800-B737-740A63359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13-</a:t>
            </a:r>
            <a:fld id="{630DAC8A-692F-45EA-A35C-B8DA7A27D6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70270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1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09601" y="6245229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1ACE85D3-DC3F-45F0-91C0-1F5069DED0DD}" type="datetime1">
              <a:rPr lang="fr-CA" smtClean="0"/>
              <a:t>2026-09-28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165601" y="6245229"/>
            <a:ext cx="3860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45229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4DF64075-4FE8-4212-AA8D-27F93E0C3606}" type="slidenum">
              <a:rPr lang="fr-CA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628248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75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675" b="1" cap="all" spc="105" baseline="0">
                <a:solidFill>
                  <a:schemeClr val="tx2"/>
                </a:solidFill>
              </a:defRPr>
            </a:lvl1pPr>
            <a:lvl2pPr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7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4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63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5" y="533400"/>
            <a:ext cx="10363200" cy="1524000"/>
          </a:xfrm>
        </p:spPr>
        <p:txBody>
          <a:bodyPr anchor="b"/>
          <a:lstStyle>
            <a:lvl1pPr algn="ctr">
              <a:buNone/>
              <a:defRPr sz="1772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4099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</p:spPr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5A0EAEEB-3E8A-40A3-AB11-03CA23E73CA1}" type="datetime1">
              <a:rPr lang="fr-CA" smtClean="0"/>
              <a:t>2026-09-28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983902-ABD2-4CA9-BB77-601D6C75F434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1266"/>
            </a:lvl1pPr>
          </a:lstStyle>
          <a:p>
            <a:pPr lvl="0" eaLnBrk="1" latinLnBrk="0" hangingPunct="1"/>
            <a:r>
              <a:rPr lang="fr-FR" dirty="0"/>
              <a:t>Modifiez les styles du texte du masque</a:t>
            </a:r>
          </a:p>
          <a:p>
            <a:pPr lvl="1" eaLnBrk="1" latinLnBrk="0" hangingPunct="1"/>
            <a:r>
              <a:rPr lang="fr-FR" dirty="0"/>
              <a:t>Deuxième niveau</a:t>
            </a:r>
          </a:p>
          <a:p>
            <a:pPr lvl="2" eaLnBrk="1" latinLnBrk="0" hangingPunct="1"/>
            <a:r>
              <a:rPr lang="fr-FR" dirty="0"/>
              <a:t>Troisième niveau</a:t>
            </a:r>
          </a:p>
          <a:p>
            <a:pPr lvl="3" eaLnBrk="1" latinLnBrk="0" hangingPunct="1"/>
            <a:r>
              <a:rPr lang="fr-FR" dirty="0"/>
              <a:t>Quatrième niveau</a:t>
            </a:r>
          </a:p>
          <a:p>
            <a:pPr lvl="4" eaLnBrk="1" latinLnBrk="0" hangingPunct="1"/>
            <a:r>
              <a:rPr lang="fr-FR" dirty="0"/>
              <a:t>Cinquième niveau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1266"/>
            </a:lvl1pPr>
          </a:lstStyle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00760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1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0E58A79-823B-415C-B96A-0DA0927A0E78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9312651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41" y="1524000"/>
            <a:ext cx="5386919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114" b="1" dirty="0" smtClean="0">
                <a:solidFill>
                  <a:srgbClr val="FFFFFF"/>
                </a:solidFill>
              </a:defRPr>
            </a:lvl1pPr>
            <a:lvl2pPr>
              <a:buNone/>
              <a:defRPr sz="1013" b="1"/>
            </a:lvl2pPr>
            <a:lvl3pPr>
              <a:buNone/>
              <a:defRPr sz="911" b="1"/>
            </a:lvl3pPr>
            <a:lvl4pPr>
              <a:buNone/>
              <a:defRPr sz="810" b="1"/>
            </a:lvl4pPr>
            <a:lvl5pPr>
              <a:buNone/>
              <a:defRPr sz="810" b="1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6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114" b="1"/>
            </a:lvl1pPr>
            <a:lvl2pPr>
              <a:buNone/>
              <a:defRPr sz="1013" b="1"/>
            </a:lvl2pPr>
            <a:lvl3pPr>
              <a:buNone/>
              <a:defRPr sz="911" b="1"/>
            </a:lvl3pPr>
            <a:lvl4pPr>
              <a:buNone/>
              <a:defRPr sz="810" b="1"/>
            </a:lvl4pPr>
            <a:lvl5pPr>
              <a:buNone/>
              <a:defRPr sz="810" b="1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D7785-CC48-4AA0-8D4D-D438F01E5233}" type="datetime1">
              <a:rPr lang="fr-CA" smtClean="0"/>
              <a:t>2026-09-28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3" y="6409944"/>
            <a:ext cx="47752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7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25"/>
            <a:ext cx="609600" cy="4413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B3983902-ABD2-4CA9-BB77-601D6C75F434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361041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Relationship Id="rId9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67">
                <a:solidFill>
                  <a:srgbClr val="FFFFFF"/>
                </a:solidFill>
              </a:defRPr>
            </a:lvl1pPr>
          </a:lstStyle>
          <a:p>
            <a:fld id="{DFF2B914-0126-4AD5-A174-56824FFA5A0C}" type="datetime1">
              <a:rPr lang="fr-CA" smtClean="0"/>
              <a:t>2026-09-28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7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333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6566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91" indent="-228591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indent="-228591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73" indent="-19049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63" indent="-19049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954" indent="-19049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545" indent="-15239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136" indent="-152394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530" indent="-152394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121" indent="-152394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67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7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333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Modifiez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49764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91" indent="-228591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indent="-228591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73" indent="-19049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63" indent="-19049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954" indent="-19049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545" indent="-15239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136" indent="-152394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530" indent="-152394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121" indent="-152394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9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7797711-19F7-489A-B9FE-21143DCBA2BB}" type="slidenum">
              <a:rPr lang="fr-CA" smtClean="0"/>
              <a:t>‹#›</a:t>
            </a:fld>
            <a:endParaRPr lang="fr-CA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9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9696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1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80" indent="-22858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1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indent="-22858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39" indent="-19048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17" indent="-19048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898" indent="-19048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476" indent="-152387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056" indent="-152387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443" indent="-152387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022" indent="-152387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8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2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79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2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9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D0463A9-3ADC-8645-96FC-E3E0F339007A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9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9575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41" r:id="rId3"/>
    <p:sldLayoutId id="2147483742" r:id="rId4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06" indent="-274306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13" indent="-274306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19" indent="-228589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25" indent="-228589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532" indent="-228589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838" indent="-182871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144" indent="-182871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015" indent="-182871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322" indent="-182871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67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0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0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7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333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4D0463A9-3ADC-8645-96FC-E3E0F339007A}" type="slidenum">
              <a:rPr lang="fr-FR" smtClean="0"/>
              <a:t>‹#›</a:t>
            </a:fld>
            <a:endParaRPr lang="fr-FR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84826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1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0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647F8CD8-CA4F-4FC0-B2CB-CA3707B35CC1}" type="slidenum">
              <a:rPr lang="fr-CA" smtClean="0"/>
              <a:t>‹#›</a:t>
            </a:fld>
            <a:endParaRPr lang="fr-CA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0012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475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05732" indent="-205732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411464" indent="-205732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650" kern="1200">
          <a:solidFill>
            <a:schemeClr val="tx2"/>
          </a:solidFill>
          <a:latin typeface="+mn-lt"/>
          <a:ea typeface="+mn-ea"/>
          <a:cs typeface="+mn-cs"/>
        </a:defRPr>
      </a:lvl2pPr>
      <a:lvl3pPr marL="617196" indent="-171443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27" indent="-171443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4pPr>
      <a:lvl5pPr marL="1028659" indent="-171443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234391" indent="-137155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440122" indent="-137155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77277" indent="-137155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783009" indent="-137155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05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0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7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7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0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647F8CD8-CA4F-4FC0-B2CB-CA3707B35CC1}" type="slidenum">
              <a:rPr lang="fr-CA" smtClean="0"/>
              <a:t>‹#›</a:t>
            </a:fld>
            <a:endParaRPr lang="fr-CA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dirty="0"/>
              <a:t>Cliquez pour modifier le style du titre</a:t>
            </a:r>
            <a:endParaRPr kumimoji="0" lang="en-US" dirty="0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505969" y="1544364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lang="en-US"/>
              <a:t>Cliquez pour modifier les styles de texte principaux</a:t>
            </a:r>
          </a:p>
          <a:p>
            <a:pPr lvl="1" eaLnBrk="1" latinLnBrk="0" hangingPunct="1"/>
            <a:r>
              <a:rPr lang="en-US"/>
              <a:t>Deuxième niveau</a:t>
            </a:r>
          </a:p>
          <a:p>
            <a:pPr lvl="2" eaLnBrk="1" latinLnBrk="0" hangingPunct="1"/>
            <a:r>
              <a:rPr lang="en-US"/>
              <a:t>Troisième niveau</a:t>
            </a:r>
          </a:p>
          <a:p>
            <a:pPr lvl="3" eaLnBrk="1" latinLnBrk="0" hangingPunct="1"/>
            <a:r>
              <a:rPr lang="en-US"/>
              <a:t>Quatrième niveau</a:t>
            </a:r>
          </a:p>
          <a:p>
            <a:pPr lvl="4" eaLnBrk="1" latinLnBrk="0" hangingPunct="1"/>
            <a:r>
              <a:rPr lang="en-US"/>
              <a:t>Cinquième niveau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03590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292" kern="12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190476" indent="-190476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1pPr>
      <a:lvl2pPr marL="380951" indent="-190476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2pPr>
      <a:lvl3pPr marL="571426" indent="-158729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3pPr>
      <a:lvl4pPr marL="761900" indent="-158729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4pPr>
      <a:lvl5pPr marL="952377" indent="-158729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lang="en-US" sz="1876" kern="1200" noProof="0" dirty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5pPr>
      <a:lvl6pPr marL="1142851" indent="-12698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1333327" indent="-126984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111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460311" indent="-126984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111" kern="1200">
          <a:solidFill>
            <a:schemeClr val="tx1"/>
          </a:solidFill>
          <a:latin typeface="+mn-lt"/>
          <a:ea typeface="+mn-ea"/>
          <a:cs typeface="+mn-cs"/>
        </a:defRPr>
      </a:lvl8pPr>
      <a:lvl9pPr marL="1650786" indent="-126984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972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1745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349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952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2698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5872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9047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22221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5396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1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400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59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506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4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9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675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D0463A9-3ADC-8645-96FC-E3E0F339007A}" type="slidenum">
              <a:rPr lang="fr-FR" smtClean="0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9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26289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1856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154291" indent="-154291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08582" indent="-154291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238" kern="1200">
          <a:solidFill>
            <a:schemeClr val="tx2"/>
          </a:solidFill>
          <a:latin typeface="+mn-lt"/>
          <a:ea typeface="+mn-ea"/>
          <a:cs typeface="+mn-cs"/>
        </a:defRPr>
      </a:lvl2pPr>
      <a:lvl3pPr marL="462873" indent="-128576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617165" indent="-128576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125" kern="1200">
          <a:solidFill>
            <a:schemeClr val="tx2"/>
          </a:solidFill>
          <a:latin typeface="+mn-lt"/>
          <a:ea typeface="+mn-ea"/>
          <a:cs typeface="+mn-cs"/>
        </a:defRPr>
      </a:lvl4pPr>
      <a:lvl5pPr marL="771456" indent="-128576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925747" indent="-10286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080038" indent="-1028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9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182899" indent="-10286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7190" indent="-10286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788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25715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51430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77145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0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2857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54291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18000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0572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4.png"/><Relationship Id="rId5" Type="http://schemas.openxmlformats.org/officeDocument/2006/relationships/tags" Target="../tags/tag6.xml"/><Relationship Id="rId10" Type="http://schemas.openxmlformats.org/officeDocument/2006/relationships/image" Target="../media/image3.jpeg"/><Relationship Id="rId4" Type="http://schemas.openxmlformats.org/officeDocument/2006/relationships/tags" Target="../tags/tag5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notesSlide" Target="../notesSlides/notesSlide30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slideLayout" Target="../slideLayouts/slideLayout29.xml"/><Relationship Id="rId17" Type="http://schemas.openxmlformats.org/officeDocument/2006/relationships/image" Target="../media/image40.png"/><Relationship Id="rId2" Type="http://schemas.openxmlformats.org/officeDocument/2006/relationships/tags" Target="../tags/tag11.xml"/><Relationship Id="rId16" Type="http://schemas.openxmlformats.org/officeDocument/2006/relationships/image" Target="../media/image39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image" Target="../media/image38.png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18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3.png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3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45.png"/><Relationship Id="rId5" Type="http://schemas.openxmlformats.org/officeDocument/2006/relationships/diagramData" Target="../diagrams/data1.xml"/><Relationship Id="rId10" Type="http://schemas.openxmlformats.org/officeDocument/2006/relationships/image" Target="../media/image44.png"/><Relationship Id="rId4" Type="http://schemas.openxmlformats.org/officeDocument/2006/relationships/notesSlide" Target="../notesSlides/notesSlide35.xml"/><Relationship Id="rId9" Type="http://schemas.microsoft.com/office/2007/relationships/diagramDrawing" Target="../diagrams/drawing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43.png"/><Relationship Id="rId4" Type="http://schemas.openxmlformats.org/officeDocument/2006/relationships/image" Target="../media/image3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pPr defTabSz="617220"/>
            <a:fld id="{EC294168-EDF8-4A56-8236-C8C76B4B0246}" type="slidenum">
              <a:rPr lang="fr-CA">
                <a:solidFill>
                  <a:prstClr val="black"/>
                </a:solidFill>
              </a:rPr>
              <a:pPr defTabSz="617220"/>
              <a:t>1</a:t>
            </a:fld>
            <a:endParaRPr lang="fr-CA" dirty="0">
              <a:solidFill>
                <a:prstClr val="black"/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359696" y="693297"/>
            <a:ext cx="5246370" cy="1177245"/>
          </a:xfrm>
        </p:spPr>
        <p:txBody>
          <a:bodyPr>
            <a:noAutofit/>
          </a:bodyPr>
          <a:lstStyle/>
          <a:p>
            <a:r>
              <a:rPr lang="en-CA" sz="4000" dirty="0">
                <a:solidFill>
                  <a:schemeClr val="tx1"/>
                </a:solidFill>
              </a:rPr>
              <a:t>10200</a:t>
            </a:r>
            <a:br>
              <a:rPr lang="en-CA" sz="4000" dirty="0">
                <a:solidFill>
                  <a:schemeClr val="tx1"/>
                </a:solidFill>
              </a:rPr>
            </a:br>
            <a:r>
              <a:rPr lang="en-CA" sz="4000" b="1" dirty="0">
                <a:solidFill>
                  <a:schemeClr val="tx1"/>
                </a:solidFill>
              </a:rPr>
              <a:t>Finance</a:t>
            </a: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79BBBB01-5B6C-3428-08A3-23C6C0FD8DF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3179678" y="4119834"/>
            <a:ext cx="5784043" cy="1164852"/>
          </a:xfrm>
          <a:prstGeom prst="rect">
            <a:avLst/>
          </a:prstGeom>
        </p:spPr>
        <p:txBody>
          <a:bodyPr vert="horz" anchor="b">
            <a:normAutofit fontScale="70000" lnSpcReduction="2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500" b="0" kern="1200" cap="none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580" dirty="0">
              <a:solidFill>
                <a:prstClr val="black"/>
              </a:solidFill>
              <a:latin typeface="Georgia"/>
            </a:endParaRPr>
          </a:p>
          <a:p>
            <a:pPr defTabSz="617220"/>
            <a:r>
              <a:rPr lang="en-CA" sz="1350" dirty="0">
                <a:solidFill>
                  <a:prstClr val="white"/>
                </a:solidFill>
                <a:latin typeface="Georgia"/>
              </a:rPr>
              <a:t>© Mélanie Harris 2025</a:t>
            </a:r>
            <a:endParaRPr lang="en-CA" sz="1350" dirty="0">
              <a:solidFill>
                <a:prstClr val="white"/>
              </a:solidFill>
              <a:latin typeface="Ink Free" panose="03080402000500000000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CEF0A-4CF0-72D8-5BFD-55B004412DB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81766" y="3798492"/>
            <a:ext cx="455266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55471">
              <a:defRPr/>
            </a:pPr>
            <a:r>
              <a:rPr lang="fr-CA" sz="3200" b="1" dirty="0">
                <a:solidFill>
                  <a:prstClr val="black"/>
                </a:solidFill>
                <a:latin typeface="Georgia"/>
              </a:rPr>
              <a:t>Séances 5 &amp;  6 </a:t>
            </a:r>
          </a:p>
          <a:p>
            <a:pPr algn="ctr" defTabSz="555471">
              <a:defRPr/>
            </a:pPr>
            <a:endParaRPr lang="fr-CA" sz="3200" b="1" dirty="0">
              <a:solidFill>
                <a:prstClr val="black"/>
              </a:solidFill>
              <a:latin typeface="Georgia"/>
            </a:endParaRPr>
          </a:p>
          <a:p>
            <a:pPr algn="ctr" defTabSz="555471">
              <a:defRPr/>
            </a:pPr>
            <a:r>
              <a:rPr lang="fr-CA" sz="3200" dirty="0">
                <a:solidFill>
                  <a:prstClr val="black"/>
                </a:solidFill>
                <a:latin typeface="Georgia"/>
              </a:rPr>
              <a:t>Risque, rendement et MÉDAF</a:t>
            </a:r>
          </a:p>
        </p:txBody>
      </p:sp>
      <p:pic>
        <p:nvPicPr>
          <p:cNvPr id="7" name="Espace réservé du contenu 5">
            <a:extLst>
              <a:ext uri="{FF2B5EF4-FFF2-40B4-BE49-F238E27FC236}">
                <a16:creationId xmlns:a16="http://schemas.microsoft.com/office/drawing/2014/main" id="{D85F7EBD-DBEB-8885-B674-8A8A7EDB4862}"/>
              </a:ext>
            </a:extLst>
          </p:cNvPr>
          <p:cNvPicPr>
            <a:picLocks noGrp="1"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6" r="7697"/>
          <a:stretch/>
        </p:blipFill>
        <p:spPr>
          <a:xfrm>
            <a:off x="2149031" y="2714789"/>
            <a:ext cx="2418131" cy="1006352"/>
          </a:xfrm>
          <a:prstGeom prst="rect">
            <a:avLst/>
          </a:prstGeom>
        </p:spPr>
      </p:pic>
      <p:sp>
        <p:nvSpPr>
          <p:cNvPr id="2" name="Titre 4">
            <a:extLst>
              <a:ext uri="{FF2B5EF4-FFF2-40B4-BE49-F238E27FC236}">
                <a16:creationId xmlns:a16="http://schemas.microsoft.com/office/drawing/2014/main" id="{79BBBB01-5B6C-3428-08A3-23C6C0FD8DFC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900748" y="5569829"/>
            <a:ext cx="6426714" cy="31252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500" b="0" kern="1200" cap="none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CA" sz="1200" dirty="0">
                <a:solidFill>
                  <a:prstClr val="white"/>
                </a:solidFill>
                <a:latin typeface="Georgia"/>
              </a:rPr>
              <a:t>© Mélanie Harris 2019 </a:t>
            </a:r>
            <a:r>
              <a:rPr lang="en-CA" sz="1200" dirty="0">
                <a:solidFill>
                  <a:prstClr val="white"/>
                </a:solidFill>
                <a:latin typeface="Ink Free" panose="03080402000500000000" pitchFamily="66" charset="0"/>
              </a:rPr>
              <a:t> (mis à jour </a:t>
            </a:r>
            <a:r>
              <a:rPr lang="en-CA" sz="1200" dirty="0" err="1">
                <a:solidFill>
                  <a:prstClr val="white"/>
                </a:solidFill>
                <a:latin typeface="Ink Free" panose="03080402000500000000" pitchFamily="66" charset="0"/>
              </a:rPr>
              <a:t>en</a:t>
            </a:r>
            <a:r>
              <a:rPr lang="en-CA" sz="1200" dirty="0">
                <a:solidFill>
                  <a:prstClr val="white"/>
                </a:solidFill>
                <a:latin typeface="Ink Free" panose="03080402000500000000" pitchFamily="66" charset="0"/>
              </a:rPr>
              <a:t> 2025)</a:t>
            </a:r>
          </a:p>
        </p:txBody>
      </p:sp>
      <p:pic>
        <p:nvPicPr>
          <p:cNvPr id="8" name="Picture 7" descr="A paper with a pen and a piece of paper with a pie chart and a graph&#10;&#10;AI-generated content may be incorrect.">
            <a:extLst>
              <a:ext uri="{FF2B5EF4-FFF2-40B4-BE49-F238E27FC236}">
                <a16:creationId xmlns:a16="http://schemas.microsoft.com/office/drawing/2014/main" id="{7D505E5A-CDE9-A140-A6A3-3A8647CEB9B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2964769"/>
            <a:ext cx="4474380" cy="29175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" name="Titre 4">
            <a:extLst>
              <a:ext uri="{FF2B5EF4-FFF2-40B4-BE49-F238E27FC236}">
                <a16:creationId xmlns:a16="http://schemas.microsoft.com/office/drawing/2014/main" id="{79BBBB01-5B6C-3428-08A3-23C6C0FD8DFC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1787223" y="6093296"/>
            <a:ext cx="8568952" cy="614458"/>
          </a:xfrm>
          <a:prstGeom prst="rect">
            <a:avLst/>
          </a:prstGeom>
        </p:spPr>
        <p:txBody>
          <a:bodyPr vert="horz" anchor="b">
            <a:normAutofit fontScale="77500" lnSpcReduction="2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500" b="0" kern="1200" cap="none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sz="2000" dirty="0">
              <a:solidFill>
                <a:schemeClr val="bg1"/>
              </a:solidFill>
              <a:latin typeface="Georgia"/>
            </a:endParaRPr>
          </a:p>
          <a:p>
            <a:endParaRPr lang="en-CA" sz="1700" dirty="0">
              <a:solidFill>
                <a:schemeClr val="bg1"/>
              </a:solidFill>
              <a:latin typeface="Georgia"/>
            </a:endParaRPr>
          </a:p>
          <a:p>
            <a:r>
              <a:rPr lang="en-CA" sz="1700" dirty="0">
                <a:solidFill>
                  <a:schemeClr val="bg1"/>
                </a:solidFill>
                <a:latin typeface="Georgia"/>
              </a:rPr>
              <a:t>© Mélanie Harris 2019 </a:t>
            </a:r>
            <a:r>
              <a:rPr lang="en-CA" sz="1700" dirty="0">
                <a:solidFill>
                  <a:schemeClr val="bg1"/>
                </a:solidFill>
                <a:latin typeface="Ink Free" panose="03080402000500000000" pitchFamily="66" charset="0"/>
              </a:rPr>
              <a:t> (mis à jour en 2025)</a:t>
            </a:r>
          </a:p>
        </p:txBody>
      </p:sp>
    </p:spTree>
    <p:extLst>
      <p:ext uri="{BB962C8B-B14F-4D97-AF65-F5344CB8AC3E}">
        <p14:creationId xmlns:p14="http://schemas.microsoft.com/office/powerpoint/2010/main" val="2943560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rgbClr val="FF0000"/>
                </a:solidFill>
              </a:rPr>
              <a:t>Qu'avons-nous vu </a:t>
            </a:r>
            <a:r>
              <a:rPr lang="fr-CA" dirty="0">
                <a:solidFill>
                  <a:srgbClr val="FF0000"/>
                </a:solidFill>
              </a:rPr>
              <a:t>dans la classe 5 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6778720" cy="4572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sz="2800" b="1" dirty="0"/>
              <a:t>Capsule 1 : </a:t>
            </a:r>
            <a:r>
              <a:rPr lang="fr-CA" sz="2800" dirty="0"/>
              <a:t>Définition du risque total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sz="2800" b="1" dirty="0"/>
              <a:t>Capsule 2 : </a:t>
            </a:r>
            <a:r>
              <a:rPr lang="fr-CA" sz="2800" dirty="0"/>
              <a:t>Effet de diversification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sz="2800" b="1" dirty="0"/>
              <a:t>Capsule 3 : </a:t>
            </a:r>
            <a:r>
              <a:rPr lang="fr-CA" sz="2800" dirty="0"/>
              <a:t>Risque et portefeuille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sz="2800" b="1" dirty="0"/>
              <a:t>Capsule 4 : </a:t>
            </a:r>
            <a:r>
              <a:rPr lang="fr-CA" sz="2800" dirty="0"/>
              <a:t>MÉDAF</a:t>
            </a:r>
          </a:p>
          <a:p>
            <a:pPr marL="0" indent="0">
              <a:lnSpc>
                <a:spcPct val="150000"/>
              </a:lnSpc>
              <a:buNone/>
            </a:pPr>
            <a:endParaRPr lang="fr-CA" sz="2800" dirty="0"/>
          </a:p>
          <a:p>
            <a:pPr marL="0" indent="0">
              <a:lnSpc>
                <a:spcPct val="150000"/>
              </a:lnSpc>
              <a:buNone/>
            </a:pPr>
            <a:endParaRPr lang="fr-CA" sz="2800" dirty="0"/>
          </a:p>
          <a:p>
            <a:pPr marL="0" indent="0">
              <a:lnSpc>
                <a:spcPct val="150000"/>
              </a:lnSpc>
              <a:buNone/>
            </a:pPr>
            <a:endParaRPr lang="fr-CA" sz="2800" dirty="0"/>
          </a:p>
          <a:p>
            <a:pPr marL="0" indent="0">
              <a:lnSpc>
                <a:spcPct val="150000"/>
              </a:lnSpc>
              <a:buNone/>
            </a:pPr>
            <a:endParaRPr lang="fr-CA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B80BD-0E5F-7155-F15A-9E4DA51DE6CC}"/>
              </a:ext>
            </a:extLst>
          </p:cNvPr>
          <p:cNvSpPr txBox="1"/>
          <p:nvPr/>
        </p:nvSpPr>
        <p:spPr>
          <a:xfrm>
            <a:off x="1055440" y="5382972"/>
            <a:ext cx="11017224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en-US" sz="2700" b="1" dirty="0">
                <a:solidFill>
                  <a:prstClr val="black"/>
                </a:solidFill>
                <a:latin typeface="Georgia"/>
              </a:rPr>
              <a:t>Lectures : </a:t>
            </a:r>
            <a:r>
              <a:rPr lang="en-US" sz="2700" dirty="0" err="1">
                <a:solidFill>
                  <a:prstClr val="black"/>
                </a:solidFill>
                <a:latin typeface="Georgia"/>
              </a:rPr>
              <a:t>Chapitres</a:t>
            </a:r>
            <a:r>
              <a:rPr lang="en-US" sz="2700" dirty="0">
                <a:solidFill>
                  <a:prstClr val="black"/>
                </a:solidFill>
                <a:latin typeface="Georgia"/>
              </a:rPr>
              <a:t> 12 et 13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en-US" sz="2000" dirty="0">
                <a:solidFill>
                  <a:prstClr val="black"/>
                </a:solidFill>
                <a:latin typeface="Ink Free" panose="03080402000500000000" pitchFamily="66" charset="0"/>
              </a:rPr>
              <a:t>ZC / Modules/ </a:t>
            </a:r>
            <a:r>
              <a:rPr lang="en-US" sz="2000" dirty="0" err="1">
                <a:solidFill>
                  <a:prstClr val="black"/>
                </a:solidFill>
                <a:latin typeface="Ink Free" panose="03080402000500000000" pitchFamily="66" charset="0"/>
              </a:rPr>
              <a:t>Informations</a:t>
            </a:r>
            <a:r>
              <a:rPr lang="en-US" sz="2000" dirty="0">
                <a:solidFill>
                  <a:prstClr val="black"/>
                </a:solidFill>
                <a:latin typeface="Ink Free" panose="03080402000500000000" pitchFamily="66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Ink Free" panose="03080402000500000000" pitchFamily="66" charset="0"/>
              </a:rPr>
              <a:t>générales</a:t>
            </a:r>
            <a:r>
              <a:rPr lang="en-US" sz="2000" dirty="0">
                <a:solidFill>
                  <a:prstClr val="black"/>
                </a:solidFill>
                <a:latin typeface="Ink Free" panose="03080402000500000000" pitchFamily="66" charset="0"/>
              </a:rPr>
              <a:t> / Matériel </a:t>
            </a:r>
            <a:r>
              <a:rPr lang="en-US" sz="2000" dirty="0" err="1">
                <a:solidFill>
                  <a:prstClr val="black"/>
                </a:solidFill>
                <a:latin typeface="Ink Free" panose="03080402000500000000" pitchFamily="66" charset="0"/>
              </a:rPr>
              <a:t>pédagogique</a:t>
            </a:r>
            <a:r>
              <a:rPr lang="en-US" sz="2000" b="1" u="sng" dirty="0">
                <a:solidFill>
                  <a:prstClr val="black"/>
                </a:solidFill>
                <a:latin typeface="Ink Free" panose="03080402000500000000" pitchFamily="66" charset="0"/>
              </a:rPr>
              <a:t> « Importance de </a:t>
            </a:r>
            <a:r>
              <a:rPr lang="en-US" sz="2000" b="1" u="sng" dirty="0" err="1">
                <a:solidFill>
                  <a:prstClr val="black"/>
                </a:solidFill>
                <a:latin typeface="Ink Free" panose="03080402000500000000" pitchFamily="66" charset="0"/>
              </a:rPr>
              <a:t>chaque</a:t>
            </a:r>
            <a:r>
              <a:rPr lang="en-US" sz="2000" b="1" u="sng" dirty="0">
                <a:solidFill>
                  <a:prstClr val="black"/>
                </a:solidFill>
                <a:latin typeface="Ink Free" panose="03080402000500000000" pitchFamily="66" charset="0"/>
              </a:rPr>
              <a:t> section »</a:t>
            </a:r>
          </a:p>
        </p:txBody>
      </p:sp>
      <p:pic>
        <p:nvPicPr>
          <p:cNvPr id="8" name="Picture 4" descr="Book ">
            <a:extLst>
              <a:ext uri="{FF2B5EF4-FFF2-40B4-BE49-F238E27FC236}">
                <a16:creationId xmlns:a16="http://schemas.microsoft.com/office/drawing/2014/main" id="{F434A0DD-08BC-01C9-EBC3-211A22922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63" y="5543159"/>
            <a:ext cx="695869" cy="69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enerated image">
            <a:extLst>
              <a:ext uri="{FF2B5EF4-FFF2-40B4-BE49-F238E27FC236}">
                <a16:creationId xmlns:a16="http://schemas.microsoft.com/office/drawing/2014/main" id="{B47549C2-A8ED-0C60-3B38-4F4DA91B9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60" y="1802604"/>
            <a:ext cx="3840731" cy="25604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6B46D2-8D32-4963-F16B-D1154CD7CA0E}"/>
              </a:ext>
            </a:extLst>
          </p:cNvPr>
          <p:cNvSpPr txBox="1"/>
          <p:nvPr/>
        </p:nvSpPr>
        <p:spPr>
          <a:xfrm>
            <a:off x="7120081" y="4509120"/>
            <a:ext cx="46728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400" dirty="0">
                <a:latin typeface="Ink Free" panose="03080402000500000000" pitchFamily="66" charset="0"/>
              </a:rPr>
              <a:t>Mark Zuckerberg est le cofondateur et PDG de Meta (anciennement Facebook), qu’il a lancé en 2004 à Harvard.</a:t>
            </a:r>
            <a:br>
              <a:rPr lang="fr-CA" sz="1400" dirty="0">
                <a:latin typeface="Ink Free" panose="03080402000500000000" pitchFamily="66" charset="0"/>
              </a:rPr>
            </a:br>
            <a:r>
              <a:rPr lang="fr-CA" sz="1400" dirty="0">
                <a:latin typeface="Ink Free" panose="03080402000500000000" pitchFamily="66" charset="0"/>
              </a:rPr>
              <a:t>Il est aujourd’hui l’un des entrepreneurs technologiques les plus influents au monde.</a:t>
            </a:r>
          </a:p>
        </p:txBody>
      </p:sp>
    </p:spTree>
    <p:extLst>
      <p:ext uri="{BB962C8B-B14F-4D97-AF65-F5344CB8AC3E}">
        <p14:creationId xmlns:p14="http://schemas.microsoft.com/office/powerpoint/2010/main" val="127976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>
                <a:solidFill>
                  <a:srgbClr val="FF0000"/>
                </a:solidFill>
              </a:rPr>
              <a:t>Contexte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79376" y="1628800"/>
            <a:ext cx="11161240" cy="4104456"/>
          </a:xfrm>
        </p:spPr>
        <p:txBody>
          <a:bodyPr>
            <a:normAutofit/>
          </a:bodyPr>
          <a:lstStyle/>
          <a:p>
            <a:r>
              <a:rPr lang="fr-CA" sz="2800" dirty="0" err="1"/>
              <a:t>Nous allons maintenant travailler </a:t>
            </a:r>
            <a:r>
              <a:rPr lang="fr-CA" sz="2800" dirty="0"/>
              <a:t>dans un </a:t>
            </a:r>
            <a:r>
              <a:rPr lang="fr-CA" sz="2800" u="sng" dirty="0" err="1"/>
              <a:t>cadre </a:t>
            </a:r>
            <a:r>
              <a:rPr lang="fr-CA" sz="2800" u="sng" dirty="0"/>
              <a:t>d'incertitude</a:t>
            </a:r>
            <a:r>
              <a:rPr lang="fr-CA" sz="2800" b="1" dirty="0">
                <a:sym typeface="Wingdings" panose="05000000000000000000" pitchFamily="2" charset="2"/>
              </a:rPr>
              <a:t>...</a:t>
            </a:r>
            <a:endParaRPr lang="fr-CA" sz="2800" dirty="0">
              <a:sym typeface="Wingdings" panose="05000000000000000000" pitchFamily="2" charset="2"/>
            </a:endParaRPr>
          </a:p>
          <a:p>
            <a:pPr lvl="1"/>
            <a:r>
              <a:rPr lang="fr-CA" sz="2400" dirty="0">
                <a:sym typeface="Wingdings" panose="05000000000000000000" pitchFamily="2" charset="2"/>
              </a:rPr>
              <a:t>Les </a:t>
            </a:r>
            <a:r>
              <a:rPr lang="fr-CA" sz="2400" dirty="0" err="1">
                <a:sym typeface="Wingdings" panose="05000000000000000000" pitchFamily="2" charset="2"/>
              </a:rPr>
              <a:t>FMs</a:t>
            </a:r>
            <a:r>
              <a:rPr lang="fr-CA" sz="2400" dirty="0">
                <a:sym typeface="Wingdings" panose="05000000000000000000" pitchFamily="2" charset="2"/>
              </a:rPr>
              <a:t> futurs </a:t>
            </a:r>
            <a:r>
              <a:rPr lang="fr-CA" sz="2400" b="1" dirty="0">
                <a:sym typeface="Wingdings" panose="05000000000000000000" pitchFamily="2" charset="2"/>
              </a:rPr>
              <a:t>ne sont pas connus </a:t>
            </a:r>
            <a:r>
              <a:rPr lang="fr-CA" sz="2400" dirty="0">
                <a:sym typeface="Wingdings" panose="05000000000000000000" pitchFamily="2" charset="2"/>
              </a:rPr>
              <a:t>avec certitude... </a:t>
            </a:r>
          </a:p>
          <a:p>
            <a:pPr lvl="1"/>
            <a:r>
              <a:rPr lang="fr-CA" sz="2400" b="1" dirty="0" err="1">
                <a:sym typeface="Wingdings" panose="05000000000000000000" pitchFamily="2" charset="2"/>
              </a:rPr>
              <a:t>Incertitude </a:t>
            </a:r>
            <a:r>
              <a:rPr lang="fr-CA" sz="2400" b="1" dirty="0">
                <a:sym typeface="Wingdings" panose="05000000000000000000" pitchFamily="2" charset="2"/>
              </a:rPr>
              <a:t>= </a:t>
            </a:r>
            <a:r>
              <a:rPr lang="fr-CA" sz="2400" b="1" dirty="0" err="1">
                <a:sym typeface="Wingdings" panose="05000000000000000000" pitchFamily="2" charset="2"/>
              </a:rPr>
              <a:t>risque</a:t>
            </a:r>
            <a:endParaRPr lang="en-GB" sz="2400" b="1" dirty="0">
              <a:sym typeface="Wingdings" panose="05000000000000000000" pitchFamily="2" charset="2"/>
            </a:endParaRPr>
          </a:p>
          <a:p>
            <a:pPr marL="274307" lvl="1" indent="0">
              <a:buNone/>
            </a:pPr>
            <a:r>
              <a:rPr lang="fr-CA" sz="2400" dirty="0"/>
              <a:t>📌 </a:t>
            </a:r>
            <a:r>
              <a:rPr lang="fr-CA" sz="2400" dirty="0">
                <a:latin typeface="Ink Free" panose="03080402000500000000" pitchFamily="66" charset="0"/>
                <a:sym typeface="Wingdings" panose="05000000000000000000" pitchFamily="2" charset="2"/>
              </a:rPr>
              <a:t>Taux de rendement requis doit refléter le risque de l’actif sous-jacent</a:t>
            </a:r>
            <a:endParaRPr lang="fr-CA" sz="2400" b="1" dirty="0">
              <a:latin typeface="Ink Free" panose="03080402000500000000" pitchFamily="66" charset="0"/>
              <a:sym typeface="Wingdings" panose="05000000000000000000" pitchFamily="2" charset="2"/>
            </a:endParaRPr>
          </a:p>
          <a:p>
            <a:pPr lvl="1"/>
            <a:endParaRPr lang="fr-CA" dirty="0">
              <a:sym typeface="Wingdings" panose="05000000000000000000" pitchFamily="2" charset="2"/>
            </a:endParaRPr>
          </a:p>
          <a:p>
            <a:r>
              <a:rPr lang="fr-CA" sz="2800" dirty="0"/>
              <a:t>Qu'est-ce que le risque ?</a:t>
            </a:r>
          </a:p>
          <a:p>
            <a:pPr marL="274307" lvl="1" indent="0">
              <a:buNone/>
            </a:pPr>
            <a:r>
              <a:rPr lang="fr-CA" sz="2400" dirty="0"/>
              <a:t>👉 </a:t>
            </a:r>
            <a:r>
              <a:rPr lang="fr-CA" sz="2400" b="1" dirty="0">
                <a:solidFill>
                  <a:srgbClr val="FF0000"/>
                </a:solidFill>
                <a:latin typeface="Ink Free" panose="03080402000500000000" pitchFamily="66" charset="0"/>
              </a:rPr>
              <a:t>Incertitude et variabilité ! 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endParaRPr lang="fr-CA" dirty="0"/>
          </a:p>
          <a:p>
            <a:endParaRPr lang="fr-CA" dirty="0"/>
          </a:p>
          <a:p>
            <a:pPr lvl="1"/>
            <a:endParaRPr lang="fr-CA" dirty="0">
              <a:sym typeface="Wingdings" panose="05000000000000000000" pitchFamily="2" charset="2"/>
            </a:endParaRPr>
          </a:p>
          <a:p>
            <a:pPr marL="274320" lvl="1" indent="0">
              <a:buNone/>
            </a:pPr>
            <a:endParaRPr lang="fr-CA" dirty="0"/>
          </a:p>
        </p:txBody>
      </p:sp>
      <p:pic>
        <p:nvPicPr>
          <p:cNvPr id="1026" name="Picture 2" descr="How Does a Parachute Work? - Wisconsin Skydiving Center">
            <a:extLst>
              <a:ext uri="{FF2B5EF4-FFF2-40B4-BE49-F238E27FC236}">
                <a16:creationId xmlns:a16="http://schemas.microsoft.com/office/drawing/2014/main" id="{90C23F52-92A9-4077-03CC-F09783615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6" y="3795029"/>
            <a:ext cx="2808312" cy="22187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74891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chemeClr val="accent3">
                    <a:lumMod val="75000"/>
                  </a:schemeClr>
                </a:solidFill>
              </a:rPr>
              <a:t>Contexte</a:t>
            </a:r>
            <a:endParaRPr lang="fr-C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4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2339" y="1018328"/>
            <a:ext cx="11379200" cy="5218984"/>
          </a:xfrm>
        </p:spPr>
        <p:txBody>
          <a:bodyPr>
            <a:normAutofit/>
          </a:bodyPr>
          <a:lstStyle/>
          <a:p>
            <a:endParaRPr lang="fr-CA" dirty="0"/>
          </a:p>
          <a:p>
            <a:pPr marL="0" indent="0">
              <a:buNone/>
            </a:pPr>
            <a:r>
              <a:rPr lang="fr-CA" dirty="0"/>
              <a:t>Par conséquent...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Un titre ou un projet est risqué lorsque nous ne connaissons pas avec certitude les flux monétaires qu'il générera...</a:t>
            </a:r>
          </a:p>
          <a:p>
            <a:pPr lvl="1"/>
            <a:r>
              <a:rPr lang="fr-CA" dirty="0"/>
              <a:t>Peut être plus élevé que prévu</a:t>
            </a:r>
          </a:p>
          <a:p>
            <a:pPr lvl="1"/>
            <a:r>
              <a:rPr lang="fr-CA" dirty="0"/>
              <a:t>Peut </a:t>
            </a:r>
            <a:r>
              <a:rPr lang="fr-CA" dirty="0" err="1"/>
              <a:t>être inférieur aux prévisions</a:t>
            </a: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sz="2700" dirty="0">
              <a:solidFill>
                <a:schemeClr val="tx1"/>
              </a:solidFill>
            </a:endParaRPr>
          </a:p>
          <a:p>
            <a:pPr marL="320040" lvl="2" indent="0">
              <a:buClr>
                <a:schemeClr val="accent1"/>
              </a:buClr>
              <a:buSzPct val="85000"/>
              <a:buNone/>
            </a:pPr>
            <a:endParaRPr lang="fr-CA" sz="2500" dirty="0"/>
          </a:p>
          <a:p>
            <a:endParaRPr lang="fr-CA" dirty="0"/>
          </a:p>
          <a:p>
            <a:pPr lvl="1"/>
            <a:endParaRPr lang="fr-CA" dirty="0">
              <a:sym typeface="Wingdings" panose="05000000000000000000" pitchFamily="2" charset="2"/>
            </a:endParaRPr>
          </a:p>
          <a:p>
            <a:pPr marL="274320" lvl="1" indent="0">
              <a:buNone/>
            </a:pPr>
            <a:endParaRPr lang="fr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79F382-42CE-4112-A095-85FF878DC015}"/>
              </a:ext>
            </a:extLst>
          </p:cNvPr>
          <p:cNvSpPr/>
          <p:nvPr/>
        </p:nvSpPr>
        <p:spPr>
          <a:xfrm>
            <a:off x="187283" y="4594429"/>
            <a:ext cx="11809312" cy="1415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FF0000"/>
            </a:solidFill>
            <a:prstDash val="solid"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>
                <a:solidFill>
                  <a:schemeClr val="tx1"/>
                </a:solidFill>
                <a:sym typeface="Wingdings" panose="05000000000000000000" pitchFamily="2" charset="2"/>
              </a:rPr>
              <a:t>Taux de rendement </a:t>
            </a:r>
            <a:r>
              <a:rPr lang="fr-CA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requis </a:t>
            </a:r>
            <a:r>
              <a:rPr lang="fr-CA" sz="2400" dirty="0">
                <a:solidFill>
                  <a:schemeClr val="tx1"/>
                </a:solidFill>
                <a:sym typeface="Wingdings" panose="05000000000000000000" pitchFamily="2" charset="2"/>
              </a:rPr>
              <a:t>= taux d'actualisation = taux sans risque + prime </a:t>
            </a:r>
            <a:r>
              <a:rPr lang="fr-CA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de risque</a:t>
            </a:r>
          </a:p>
          <a:p>
            <a:pPr algn="ctr"/>
            <a:r>
              <a:rPr lang="fr-CA" sz="2400" dirty="0">
                <a:solidFill>
                  <a:schemeClr val="tx1"/>
                </a:solidFill>
                <a:sym typeface="Wingdings" panose="05000000000000000000" pitchFamily="2" charset="2"/>
              </a:rPr>
              <a:t>Plus </a:t>
            </a:r>
            <a:r>
              <a:rPr lang="fr-CA" sz="2400" b="1" dirty="0">
                <a:solidFill>
                  <a:schemeClr val="tx1"/>
                </a:solidFill>
                <a:sym typeface="Wingdings" panose="05000000000000000000" pitchFamily="2" charset="2"/>
              </a:rPr>
              <a:t>le </a:t>
            </a:r>
            <a:r>
              <a:rPr lang="fr-CA" sz="2400" b="1" dirty="0" err="1">
                <a:solidFill>
                  <a:schemeClr val="tx1"/>
                </a:solidFill>
                <a:sym typeface="Wingdings" panose="05000000000000000000" pitchFamily="2" charset="2"/>
              </a:rPr>
              <a:t>risque est élevé</a:t>
            </a:r>
            <a:r>
              <a:rPr lang="fr-CA" sz="2400" dirty="0">
                <a:solidFill>
                  <a:schemeClr val="tx1"/>
                </a:solidFill>
                <a:sym typeface="Wingdings" panose="05000000000000000000" pitchFamily="2" charset="2"/>
              </a:rPr>
              <a:t>, plus le taux de </a:t>
            </a:r>
            <a:r>
              <a:rPr lang="fr-CA" sz="2400" b="1" dirty="0">
                <a:solidFill>
                  <a:schemeClr val="tx1"/>
                </a:solidFill>
                <a:sym typeface="Wingdings" panose="05000000000000000000" pitchFamily="2" charset="2"/>
              </a:rPr>
              <a:t>rendement </a:t>
            </a:r>
            <a:r>
              <a:rPr lang="fr-CA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requis </a:t>
            </a:r>
            <a:r>
              <a:rPr lang="fr-CA" sz="2400" b="1" dirty="0" err="1">
                <a:solidFill>
                  <a:schemeClr val="tx1"/>
                </a:solidFill>
                <a:sym typeface="Wingdings" panose="05000000000000000000" pitchFamily="2" charset="2"/>
              </a:rPr>
              <a:t>est élevé</a:t>
            </a:r>
            <a:endParaRPr lang="en-GB" sz="2400" b="1" dirty="0">
              <a:solidFill>
                <a:schemeClr val="tx1"/>
              </a:solidFill>
            </a:endParaRPr>
          </a:p>
        </p:txBody>
      </p:sp>
      <p:pic>
        <p:nvPicPr>
          <p:cNvPr id="8" name="Picture 2" descr="Warning ">
            <a:extLst>
              <a:ext uri="{FF2B5EF4-FFF2-40B4-BE49-F238E27FC236}">
                <a16:creationId xmlns:a16="http://schemas.microsoft.com/office/drawing/2014/main" id="{F4CEDFDF-AB88-DC45-3C6F-391122AF3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39" y="4130229"/>
            <a:ext cx="827220" cy="82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44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Contexte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5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1DA64C02-4B13-4A91-B86A-28486E58AFE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3657" y="1600392"/>
            <a:ext cx="9826584" cy="1230491"/>
          </a:xfrm>
        </p:spPr>
        <p:txBody>
          <a:bodyPr>
            <a:normAutofit/>
          </a:bodyPr>
          <a:lstStyle/>
          <a:p>
            <a:r>
              <a:rPr lang="fr-CA" sz="2800" dirty="0"/>
              <a:t>Un taux de rendement requis comporte trois éléments :</a:t>
            </a:r>
          </a:p>
          <a:p>
            <a:pPr marL="274320" lvl="1" indent="0">
              <a:buNone/>
            </a:pPr>
            <a:endParaRPr lang="fr-CA" sz="1600" dirty="0"/>
          </a:p>
          <a:p>
            <a:pPr marL="274320" lvl="1" indent="0">
              <a:buNone/>
            </a:pPr>
            <a:r>
              <a:rPr lang="fr-CA" sz="1600" dirty="0"/>
              <a:t>					              </a:t>
            </a:r>
          </a:p>
          <a:p>
            <a:pPr lvl="1"/>
            <a:endParaRPr lang="fr-CA" sz="1800" dirty="0"/>
          </a:p>
          <a:p>
            <a:pPr lvl="1"/>
            <a:endParaRPr lang="fr-CA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E87129-9DE7-1E2C-3A2D-1FFD546AEBAC}"/>
              </a:ext>
            </a:extLst>
          </p:cNvPr>
          <p:cNvSpPr/>
          <p:nvPr/>
        </p:nvSpPr>
        <p:spPr>
          <a:xfrm>
            <a:off x="4471197" y="2571741"/>
            <a:ext cx="1956680" cy="3593556"/>
          </a:xfrm>
          <a:custGeom>
            <a:avLst/>
            <a:gdLst>
              <a:gd name="csX0" fmla="*/ 0 w 1956680"/>
              <a:gd name="csY0" fmla="*/ 0 h 3593556"/>
              <a:gd name="csX1" fmla="*/ 430470 w 1956680"/>
              <a:gd name="csY1" fmla="*/ 0 h 3593556"/>
              <a:gd name="csX2" fmla="*/ 860939 w 1956680"/>
              <a:gd name="csY2" fmla="*/ 0 h 3593556"/>
              <a:gd name="csX3" fmla="*/ 1350109 w 1956680"/>
              <a:gd name="csY3" fmla="*/ 0 h 3593556"/>
              <a:gd name="csX4" fmla="*/ 1956680 w 1956680"/>
              <a:gd name="csY4" fmla="*/ 0 h 3593556"/>
              <a:gd name="csX5" fmla="*/ 1956680 w 1956680"/>
              <a:gd name="csY5" fmla="*/ 491119 h 3593556"/>
              <a:gd name="csX6" fmla="*/ 1956680 w 1956680"/>
              <a:gd name="csY6" fmla="*/ 1054110 h 3593556"/>
              <a:gd name="csX7" fmla="*/ 1956680 w 1956680"/>
              <a:gd name="csY7" fmla="*/ 1545229 h 3593556"/>
              <a:gd name="csX8" fmla="*/ 1956680 w 1956680"/>
              <a:gd name="csY8" fmla="*/ 2144155 h 3593556"/>
              <a:gd name="csX9" fmla="*/ 1956680 w 1956680"/>
              <a:gd name="csY9" fmla="*/ 2779017 h 3593556"/>
              <a:gd name="csX10" fmla="*/ 1956680 w 1956680"/>
              <a:gd name="csY10" fmla="*/ 3593556 h 3593556"/>
              <a:gd name="csX11" fmla="*/ 1506644 w 1956680"/>
              <a:gd name="csY11" fmla="*/ 3593556 h 3593556"/>
              <a:gd name="csX12" fmla="*/ 1076174 w 1956680"/>
              <a:gd name="csY12" fmla="*/ 3593556 h 3593556"/>
              <a:gd name="csX13" fmla="*/ 606571 w 1956680"/>
              <a:gd name="csY13" fmla="*/ 3593556 h 3593556"/>
              <a:gd name="csX14" fmla="*/ 0 w 1956680"/>
              <a:gd name="csY14" fmla="*/ 3593556 h 3593556"/>
              <a:gd name="csX15" fmla="*/ 0 w 1956680"/>
              <a:gd name="csY15" fmla="*/ 2958694 h 3593556"/>
              <a:gd name="csX16" fmla="*/ 0 w 1956680"/>
              <a:gd name="csY16" fmla="*/ 2323833 h 3593556"/>
              <a:gd name="csX17" fmla="*/ 0 w 1956680"/>
              <a:gd name="csY17" fmla="*/ 1653036 h 3593556"/>
              <a:gd name="csX18" fmla="*/ 0 w 1956680"/>
              <a:gd name="csY18" fmla="*/ 1125981 h 3593556"/>
              <a:gd name="csX19" fmla="*/ 0 w 1956680"/>
              <a:gd name="csY19" fmla="*/ 527055 h 3593556"/>
              <a:gd name="csX20" fmla="*/ 0 w 1956680"/>
              <a:gd name="csY20" fmla="*/ 0 h 3593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956680" h="3593556" fill="none" extrusionOk="0">
                <a:moveTo>
                  <a:pt x="0" y="0"/>
                </a:moveTo>
                <a:cubicBezTo>
                  <a:pt x="148255" y="-41416"/>
                  <a:pt x="244615" y="42984"/>
                  <a:pt x="430470" y="0"/>
                </a:cubicBezTo>
                <a:cubicBezTo>
                  <a:pt x="616325" y="-42984"/>
                  <a:pt x="717282" y="5831"/>
                  <a:pt x="860939" y="0"/>
                </a:cubicBezTo>
                <a:cubicBezTo>
                  <a:pt x="1004596" y="-5831"/>
                  <a:pt x="1241444" y="9479"/>
                  <a:pt x="1350109" y="0"/>
                </a:cubicBezTo>
                <a:cubicBezTo>
                  <a:pt x="1458774" y="-9479"/>
                  <a:pt x="1690585" y="10571"/>
                  <a:pt x="1956680" y="0"/>
                </a:cubicBezTo>
                <a:cubicBezTo>
                  <a:pt x="1999316" y="231827"/>
                  <a:pt x="1909428" y="362418"/>
                  <a:pt x="1956680" y="491119"/>
                </a:cubicBezTo>
                <a:cubicBezTo>
                  <a:pt x="2003932" y="619820"/>
                  <a:pt x="1944539" y="911925"/>
                  <a:pt x="1956680" y="1054110"/>
                </a:cubicBezTo>
                <a:cubicBezTo>
                  <a:pt x="1968821" y="1196295"/>
                  <a:pt x="1954206" y="1412285"/>
                  <a:pt x="1956680" y="1545229"/>
                </a:cubicBezTo>
                <a:cubicBezTo>
                  <a:pt x="1959154" y="1678173"/>
                  <a:pt x="1953574" y="1852408"/>
                  <a:pt x="1956680" y="2144155"/>
                </a:cubicBezTo>
                <a:cubicBezTo>
                  <a:pt x="1959786" y="2435902"/>
                  <a:pt x="1944046" y="2618858"/>
                  <a:pt x="1956680" y="2779017"/>
                </a:cubicBezTo>
                <a:cubicBezTo>
                  <a:pt x="1969314" y="2939176"/>
                  <a:pt x="1888294" y="3380555"/>
                  <a:pt x="1956680" y="3593556"/>
                </a:cubicBezTo>
                <a:cubicBezTo>
                  <a:pt x="1785077" y="3631662"/>
                  <a:pt x="1680276" y="3586832"/>
                  <a:pt x="1506644" y="3593556"/>
                </a:cubicBezTo>
                <a:cubicBezTo>
                  <a:pt x="1333012" y="3600280"/>
                  <a:pt x="1182608" y="3556633"/>
                  <a:pt x="1076174" y="3593556"/>
                </a:cubicBezTo>
                <a:cubicBezTo>
                  <a:pt x="969740" y="3630479"/>
                  <a:pt x="723419" y="3574988"/>
                  <a:pt x="606571" y="3593556"/>
                </a:cubicBezTo>
                <a:cubicBezTo>
                  <a:pt x="489723" y="3612124"/>
                  <a:pt x="230886" y="3530508"/>
                  <a:pt x="0" y="3593556"/>
                </a:cubicBezTo>
                <a:cubicBezTo>
                  <a:pt x="-6229" y="3453386"/>
                  <a:pt x="13259" y="3146209"/>
                  <a:pt x="0" y="2958694"/>
                </a:cubicBezTo>
                <a:cubicBezTo>
                  <a:pt x="-13259" y="2771179"/>
                  <a:pt x="21061" y="2582860"/>
                  <a:pt x="0" y="2323833"/>
                </a:cubicBezTo>
                <a:cubicBezTo>
                  <a:pt x="-21061" y="2064806"/>
                  <a:pt x="1204" y="1912020"/>
                  <a:pt x="0" y="1653036"/>
                </a:cubicBezTo>
                <a:cubicBezTo>
                  <a:pt x="-1204" y="1394052"/>
                  <a:pt x="8066" y="1300009"/>
                  <a:pt x="0" y="1125981"/>
                </a:cubicBezTo>
                <a:cubicBezTo>
                  <a:pt x="-8066" y="951954"/>
                  <a:pt x="9413" y="824840"/>
                  <a:pt x="0" y="527055"/>
                </a:cubicBezTo>
                <a:cubicBezTo>
                  <a:pt x="-9413" y="229270"/>
                  <a:pt x="47426" y="209433"/>
                  <a:pt x="0" y="0"/>
                </a:cubicBezTo>
                <a:close/>
              </a:path>
              <a:path w="1956680" h="3593556" stroke="0" extrusionOk="0">
                <a:moveTo>
                  <a:pt x="0" y="0"/>
                </a:moveTo>
                <a:cubicBezTo>
                  <a:pt x="227880" y="-23596"/>
                  <a:pt x="256554" y="34935"/>
                  <a:pt x="508737" y="0"/>
                </a:cubicBezTo>
                <a:cubicBezTo>
                  <a:pt x="760920" y="-34935"/>
                  <a:pt x="873464" y="31860"/>
                  <a:pt x="1037040" y="0"/>
                </a:cubicBezTo>
                <a:cubicBezTo>
                  <a:pt x="1200616" y="-31860"/>
                  <a:pt x="1352324" y="45210"/>
                  <a:pt x="1487077" y="0"/>
                </a:cubicBezTo>
                <a:cubicBezTo>
                  <a:pt x="1621830" y="-45210"/>
                  <a:pt x="1853252" y="30861"/>
                  <a:pt x="1956680" y="0"/>
                </a:cubicBezTo>
                <a:cubicBezTo>
                  <a:pt x="1966767" y="135910"/>
                  <a:pt x="1933545" y="253582"/>
                  <a:pt x="1956680" y="491119"/>
                </a:cubicBezTo>
                <a:cubicBezTo>
                  <a:pt x="1979815" y="728656"/>
                  <a:pt x="1948753" y="1022666"/>
                  <a:pt x="1956680" y="1161916"/>
                </a:cubicBezTo>
                <a:cubicBezTo>
                  <a:pt x="1964607" y="1301166"/>
                  <a:pt x="1942756" y="1501134"/>
                  <a:pt x="1956680" y="1760842"/>
                </a:cubicBezTo>
                <a:cubicBezTo>
                  <a:pt x="1970604" y="2020550"/>
                  <a:pt x="1920397" y="2109798"/>
                  <a:pt x="1956680" y="2287897"/>
                </a:cubicBezTo>
                <a:cubicBezTo>
                  <a:pt x="1992963" y="2465996"/>
                  <a:pt x="1952432" y="2736717"/>
                  <a:pt x="1956680" y="2850888"/>
                </a:cubicBezTo>
                <a:cubicBezTo>
                  <a:pt x="1960928" y="2965059"/>
                  <a:pt x="1876421" y="3273489"/>
                  <a:pt x="1956680" y="3593556"/>
                </a:cubicBezTo>
                <a:cubicBezTo>
                  <a:pt x="1765594" y="3628530"/>
                  <a:pt x="1541328" y="3549769"/>
                  <a:pt x="1428376" y="3593556"/>
                </a:cubicBezTo>
                <a:cubicBezTo>
                  <a:pt x="1315424" y="3637343"/>
                  <a:pt x="1167819" y="3588695"/>
                  <a:pt x="958773" y="3593556"/>
                </a:cubicBezTo>
                <a:cubicBezTo>
                  <a:pt x="749727" y="3598417"/>
                  <a:pt x="595680" y="3540062"/>
                  <a:pt x="489170" y="3593556"/>
                </a:cubicBezTo>
                <a:cubicBezTo>
                  <a:pt x="382660" y="3647050"/>
                  <a:pt x="232057" y="3591843"/>
                  <a:pt x="0" y="3593556"/>
                </a:cubicBezTo>
                <a:cubicBezTo>
                  <a:pt x="-37433" y="3351333"/>
                  <a:pt x="4457" y="3226086"/>
                  <a:pt x="0" y="3066501"/>
                </a:cubicBezTo>
                <a:cubicBezTo>
                  <a:pt x="-4457" y="2906917"/>
                  <a:pt x="65250" y="2569358"/>
                  <a:pt x="0" y="2431640"/>
                </a:cubicBezTo>
                <a:cubicBezTo>
                  <a:pt x="-65250" y="2293922"/>
                  <a:pt x="24646" y="2097952"/>
                  <a:pt x="0" y="1940520"/>
                </a:cubicBezTo>
                <a:cubicBezTo>
                  <a:pt x="-24646" y="1783088"/>
                  <a:pt x="37288" y="1519155"/>
                  <a:pt x="0" y="1305659"/>
                </a:cubicBezTo>
                <a:cubicBezTo>
                  <a:pt x="-37288" y="1092163"/>
                  <a:pt x="55093" y="1027367"/>
                  <a:pt x="0" y="814539"/>
                </a:cubicBezTo>
                <a:cubicBezTo>
                  <a:pt x="-55093" y="601711"/>
                  <a:pt x="57048" y="295141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3366"/>
            </a:solidFill>
            <a:extLst>
              <a:ext uri="{C807C97D-BFC1-408E-A445-0C87EB9F89A2}">
                <ask:lineSketchStyleProps xmlns:ask="http://schemas.microsoft.com/office/drawing/2018/sketchyshapes" sd="34846471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dirty="0">
                <a:solidFill>
                  <a:prstClr val="white"/>
                </a:solidFill>
                <a:latin typeface="Georgia"/>
              </a:rPr>
              <a:t>Prime de risque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CA" dirty="0">
              <a:solidFill>
                <a:prstClr val="white"/>
              </a:solidFill>
              <a:latin typeface="Georgi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CA" dirty="0">
              <a:solidFill>
                <a:prstClr val="white"/>
              </a:solidFill>
              <a:latin typeface="Georgi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CA" dirty="0">
              <a:solidFill>
                <a:prstClr val="white"/>
              </a:solidFill>
              <a:latin typeface="Georgi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dirty="0">
                <a:solidFill>
                  <a:prstClr val="white"/>
                </a:solidFill>
                <a:latin typeface="Georgia"/>
              </a:rPr>
              <a:t>Prime d'inflation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CA" dirty="0">
              <a:solidFill>
                <a:prstClr val="white"/>
              </a:solidFill>
              <a:latin typeface="Georgi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CA" dirty="0">
              <a:solidFill>
                <a:prstClr val="white"/>
              </a:solidFill>
              <a:latin typeface="Georgi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CA" dirty="0">
              <a:solidFill>
                <a:prstClr val="white"/>
              </a:solidFill>
              <a:latin typeface="Georgi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dirty="0">
                <a:solidFill>
                  <a:prstClr val="white"/>
                </a:solidFill>
                <a:latin typeface="Georgia"/>
              </a:rPr>
              <a:t>Prime de risque</a:t>
            </a:r>
          </a:p>
        </p:txBody>
      </p:sp>
      <p:cxnSp>
        <p:nvCxnSpPr>
          <p:cNvPr id="6" name="Connecteur droit 16">
            <a:extLst>
              <a:ext uri="{FF2B5EF4-FFF2-40B4-BE49-F238E27FC236}">
                <a16:creationId xmlns:a16="http://schemas.microsoft.com/office/drawing/2014/main" id="{C8BE9053-3DCE-5CBF-2BE1-310B75FE199E}"/>
              </a:ext>
            </a:extLst>
          </p:cNvPr>
          <p:cNvCxnSpPr>
            <a:cxnSpLocks/>
          </p:cNvCxnSpPr>
          <p:nvPr/>
        </p:nvCxnSpPr>
        <p:spPr>
          <a:xfrm>
            <a:off x="4554047" y="3717031"/>
            <a:ext cx="1873831" cy="0"/>
          </a:xfrm>
          <a:prstGeom prst="line">
            <a:avLst/>
          </a:prstGeom>
          <a:ln w="476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00CB223-41C9-68C7-FD72-74D4BAADA3B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961759" y="2571743"/>
            <a:ext cx="1596071" cy="3593557"/>
          </a:xfrm>
          <a:custGeom>
            <a:avLst/>
            <a:gdLst>
              <a:gd name="csX0" fmla="*/ 0 w 1596071"/>
              <a:gd name="csY0" fmla="*/ 0 h 3593557"/>
              <a:gd name="csX1" fmla="*/ 532024 w 1596071"/>
              <a:gd name="csY1" fmla="*/ 0 h 3593557"/>
              <a:gd name="csX2" fmla="*/ 1064047 w 1596071"/>
              <a:gd name="csY2" fmla="*/ 0 h 3593557"/>
              <a:gd name="csX3" fmla="*/ 1596071 w 1596071"/>
              <a:gd name="csY3" fmla="*/ 0 h 3593557"/>
              <a:gd name="csX4" fmla="*/ 1596071 w 1596071"/>
              <a:gd name="csY4" fmla="*/ 598926 h 3593557"/>
              <a:gd name="csX5" fmla="*/ 1596071 w 1596071"/>
              <a:gd name="csY5" fmla="*/ 1269723 h 3593557"/>
              <a:gd name="csX6" fmla="*/ 1596071 w 1596071"/>
              <a:gd name="csY6" fmla="*/ 1832714 h 3593557"/>
              <a:gd name="csX7" fmla="*/ 1596071 w 1596071"/>
              <a:gd name="csY7" fmla="*/ 2323834 h 3593557"/>
              <a:gd name="csX8" fmla="*/ 1596071 w 1596071"/>
              <a:gd name="csY8" fmla="*/ 2850889 h 3593557"/>
              <a:gd name="csX9" fmla="*/ 1596071 w 1596071"/>
              <a:gd name="csY9" fmla="*/ 3593557 h 3593557"/>
              <a:gd name="csX10" fmla="*/ 1064047 w 1596071"/>
              <a:gd name="csY10" fmla="*/ 3593557 h 3593557"/>
              <a:gd name="csX11" fmla="*/ 500102 w 1596071"/>
              <a:gd name="csY11" fmla="*/ 3593557 h 3593557"/>
              <a:gd name="csX12" fmla="*/ 0 w 1596071"/>
              <a:gd name="csY12" fmla="*/ 3593557 h 3593557"/>
              <a:gd name="csX13" fmla="*/ 0 w 1596071"/>
              <a:gd name="csY13" fmla="*/ 2958695 h 3593557"/>
              <a:gd name="csX14" fmla="*/ 0 w 1596071"/>
              <a:gd name="csY14" fmla="*/ 2467576 h 3593557"/>
              <a:gd name="csX15" fmla="*/ 0 w 1596071"/>
              <a:gd name="csY15" fmla="*/ 1904585 h 3593557"/>
              <a:gd name="csX16" fmla="*/ 0 w 1596071"/>
              <a:gd name="csY16" fmla="*/ 1377530 h 3593557"/>
              <a:gd name="csX17" fmla="*/ 0 w 1596071"/>
              <a:gd name="csY17" fmla="*/ 706733 h 3593557"/>
              <a:gd name="csX18" fmla="*/ 0 w 1596071"/>
              <a:gd name="csY18" fmla="*/ 0 h 3593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596071" h="3593557" fill="none" extrusionOk="0">
                <a:moveTo>
                  <a:pt x="0" y="0"/>
                </a:moveTo>
                <a:cubicBezTo>
                  <a:pt x="148211" y="-56640"/>
                  <a:pt x="291695" y="56178"/>
                  <a:pt x="532024" y="0"/>
                </a:cubicBezTo>
                <a:cubicBezTo>
                  <a:pt x="772353" y="-56178"/>
                  <a:pt x="885936" y="42653"/>
                  <a:pt x="1064047" y="0"/>
                </a:cubicBezTo>
                <a:cubicBezTo>
                  <a:pt x="1242158" y="-42653"/>
                  <a:pt x="1483508" y="59487"/>
                  <a:pt x="1596071" y="0"/>
                </a:cubicBezTo>
                <a:cubicBezTo>
                  <a:pt x="1651666" y="176977"/>
                  <a:pt x="1524454" y="460399"/>
                  <a:pt x="1596071" y="598926"/>
                </a:cubicBezTo>
                <a:cubicBezTo>
                  <a:pt x="1667688" y="737453"/>
                  <a:pt x="1535550" y="1069315"/>
                  <a:pt x="1596071" y="1269723"/>
                </a:cubicBezTo>
                <a:cubicBezTo>
                  <a:pt x="1656592" y="1470131"/>
                  <a:pt x="1551884" y="1676485"/>
                  <a:pt x="1596071" y="1832714"/>
                </a:cubicBezTo>
                <a:cubicBezTo>
                  <a:pt x="1640258" y="1988943"/>
                  <a:pt x="1589378" y="2119494"/>
                  <a:pt x="1596071" y="2323834"/>
                </a:cubicBezTo>
                <a:cubicBezTo>
                  <a:pt x="1602764" y="2528174"/>
                  <a:pt x="1591181" y="2665417"/>
                  <a:pt x="1596071" y="2850889"/>
                </a:cubicBezTo>
                <a:cubicBezTo>
                  <a:pt x="1600961" y="3036361"/>
                  <a:pt x="1526473" y="3348593"/>
                  <a:pt x="1596071" y="3593557"/>
                </a:cubicBezTo>
                <a:cubicBezTo>
                  <a:pt x="1413936" y="3623337"/>
                  <a:pt x="1229473" y="3574669"/>
                  <a:pt x="1064047" y="3593557"/>
                </a:cubicBezTo>
                <a:cubicBezTo>
                  <a:pt x="898621" y="3612445"/>
                  <a:pt x="634901" y="3586700"/>
                  <a:pt x="500102" y="3593557"/>
                </a:cubicBezTo>
                <a:cubicBezTo>
                  <a:pt x="365303" y="3600414"/>
                  <a:pt x="133655" y="3567506"/>
                  <a:pt x="0" y="3593557"/>
                </a:cubicBezTo>
                <a:cubicBezTo>
                  <a:pt x="-34454" y="3347511"/>
                  <a:pt x="68485" y="3249189"/>
                  <a:pt x="0" y="2958695"/>
                </a:cubicBezTo>
                <a:cubicBezTo>
                  <a:pt x="-68485" y="2668201"/>
                  <a:pt x="19779" y="2600362"/>
                  <a:pt x="0" y="2467576"/>
                </a:cubicBezTo>
                <a:cubicBezTo>
                  <a:pt x="-19779" y="2334790"/>
                  <a:pt x="28173" y="2120639"/>
                  <a:pt x="0" y="1904585"/>
                </a:cubicBezTo>
                <a:cubicBezTo>
                  <a:pt x="-28173" y="1688531"/>
                  <a:pt x="39288" y="1594256"/>
                  <a:pt x="0" y="1377530"/>
                </a:cubicBezTo>
                <a:cubicBezTo>
                  <a:pt x="-39288" y="1160805"/>
                  <a:pt x="64199" y="919890"/>
                  <a:pt x="0" y="706733"/>
                </a:cubicBezTo>
                <a:cubicBezTo>
                  <a:pt x="-64199" y="493576"/>
                  <a:pt x="39886" y="338733"/>
                  <a:pt x="0" y="0"/>
                </a:cubicBezTo>
                <a:close/>
              </a:path>
              <a:path w="1596071" h="3593557" stroke="0" extrusionOk="0">
                <a:moveTo>
                  <a:pt x="0" y="0"/>
                </a:moveTo>
                <a:cubicBezTo>
                  <a:pt x="183274" y="-15157"/>
                  <a:pt x="307127" y="23881"/>
                  <a:pt x="563945" y="0"/>
                </a:cubicBezTo>
                <a:cubicBezTo>
                  <a:pt x="820763" y="-23881"/>
                  <a:pt x="962810" y="13131"/>
                  <a:pt x="1080008" y="0"/>
                </a:cubicBezTo>
                <a:cubicBezTo>
                  <a:pt x="1197206" y="-13131"/>
                  <a:pt x="1468820" y="23855"/>
                  <a:pt x="1596071" y="0"/>
                </a:cubicBezTo>
                <a:cubicBezTo>
                  <a:pt x="1599930" y="228806"/>
                  <a:pt x="1576579" y="315155"/>
                  <a:pt x="1596071" y="491119"/>
                </a:cubicBezTo>
                <a:cubicBezTo>
                  <a:pt x="1615563" y="667083"/>
                  <a:pt x="1574627" y="776180"/>
                  <a:pt x="1596071" y="982239"/>
                </a:cubicBezTo>
                <a:cubicBezTo>
                  <a:pt x="1617515" y="1188298"/>
                  <a:pt x="1578377" y="1336385"/>
                  <a:pt x="1596071" y="1545230"/>
                </a:cubicBezTo>
                <a:cubicBezTo>
                  <a:pt x="1613765" y="1754075"/>
                  <a:pt x="1563509" y="1902717"/>
                  <a:pt x="1596071" y="2036349"/>
                </a:cubicBezTo>
                <a:cubicBezTo>
                  <a:pt x="1628633" y="2169981"/>
                  <a:pt x="1580529" y="2446903"/>
                  <a:pt x="1596071" y="2563404"/>
                </a:cubicBezTo>
                <a:cubicBezTo>
                  <a:pt x="1611613" y="2679906"/>
                  <a:pt x="1560397" y="3134893"/>
                  <a:pt x="1596071" y="3593557"/>
                </a:cubicBezTo>
                <a:cubicBezTo>
                  <a:pt x="1419725" y="3629201"/>
                  <a:pt x="1204102" y="3578760"/>
                  <a:pt x="1032126" y="3593557"/>
                </a:cubicBezTo>
                <a:cubicBezTo>
                  <a:pt x="860151" y="3608354"/>
                  <a:pt x="664185" y="3591928"/>
                  <a:pt x="484142" y="3593557"/>
                </a:cubicBezTo>
                <a:cubicBezTo>
                  <a:pt x="304099" y="3595186"/>
                  <a:pt x="227982" y="3568253"/>
                  <a:pt x="0" y="3593557"/>
                </a:cubicBezTo>
                <a:cubicBezTo>
                  <a:pt x="-59611" y="3411676"/>
                  <a:pt x="59578" y="3150915"/>
                  <a:pt x="0" y="3030566"/>
                </a:cubicBezTo>
                <a:cubicBezTo>
                  <a:pt x="-59578" y="2910217"/>
                  <a:pt x="63077" y="2699420"/>
                  <a:pt x="0" y="2467576"/>
                </a:cubicBezTo>
                <a:cubicBezTo>
                  <a:pt x="-63077" y="2235732"/>
                  <a:pt x="15642" y="2131737"/>
                  <a:pt x="0" y="1904585"/>
                </a:cubicBezTo>
                <a:cubicBezTo>
                  <a:pt x="-15642" y="1677433"/>
                  <a:pt x="75224" y="1509517"/>
                  <a:pt x="0" y="1233788"/>
                </a:cubicBezTo>
                <a:cubicBezTo>
                  <a:pt x="-75224" y="958059"/>
                  <a:pt x="26424" y="903318"/>
                  <a:pt x="0" y="706733"/>
                </a:cubicBezTo>
                <a:cubicBezTo>
                  <a:pt x="-26424" y="510149"/>
                  <a:pt x="40241" y="22978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3366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41795289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dirty="0">
                <a:solidFill>
                  <a:prstClr val="white"/>
                </a:solidFill>
                <a:latin typeface="Georgia"/>
              </a:rPr>
              <a:t>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dirty="0">
                <a:solidFill>
                  <a:prstClr val="white"/>
                </a:solidFill>
                <a:latin typeface="Georgia"/>
              </a:rPr>
              <a:t>Rendement </a:t>
            </a:r>
          </a:p>
        </p:txBody>
      </p:sp>
      <p:cxnSp>
        <p:nvCxnSpPr>
          <p:cNvPr id="8" name="Connecteur droit 16">
            <a:extLst>
              <a:ext uri="{FF2B5EF4-FFF2-40B4-BE49-F238E27FC236}">
                <a16:creationId xmlns:a16="http://schemas.microsoft.com/office/drawing/2014/main" id="{C856186E-E03F-12B3-C378-926C44478E5C}"/>
              </a:ext>
            </a:extLst>
          </p:cNvPr>
          <p:cNvCxnSpPr>
            <a:cxnSpLocks/>
          </p:cNvCxnSpPr>
          <p:nvPr/>
        </p:nvCxnSpPr>
        <p:spPr>
          <a:xfrm>
            <a:off x="4554047" y="5085183"/>
            <a:ext cx="1873831" cy="0"/>
          </a:xfrm>
          <a:prstGeom prst="line">
            <a:avLst/>
          </a:prstGeom>
          <a:ln w="476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quals 8">
            <a:extLst>
              <a:ext uri="{FF2B5EF4-FFF2-40B4-BE49-F238E27FC236}">
                <a16:creationId xmlns:a16="http://schemas.microsoft.com/office/drawing/2014/main" id="{3FC38369-DE66-FAAD-54FD-E1CF19FA52DE}"/>
              </a:ext>
            </a:extLst>
          </p:cNvPr>
          <p:cNvSpPr/>
          <p:nvPr/>
        </p:nvSpPr>
        <p:spPr>
          <a:xfrm>
            <a:off x="3722523" y="3960166"/>
            <a:ext cx="583980" cy="816706"/>
          </a:xfrm>
          <a:prstGeom prst="mathEqual">
            <a:avLst/>
          </a:prstGeom>
          <a:solidFill>
            <a:schemeClr val="accent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CA">
              <a:solidFill>
                <a:prstClr val="black"/>
              </a:solidFill>
              <a:latin typeface="Georgi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EDB70F-EB76-A62A-AFE3-AEF5470FBE4F}"/>
              </a:ext>
            </a:extLst>
          </p:cNvPr>
          <p:cNvSpPr/>
          <p:nvPr/>
        </p:nvSpPr>
        <p:spPr>
          <a:xfrm>
            <a:off x="7251222" y="3348906"/>
            <a:ext cx="41013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sz="2000" b="1" dirty="0">
                <a:solidFill>
                  <a:srgbClr val="C00000"/>
                </a:solidFill>
                <a:latin typeface="Georgia"/>
              </a:rPr>
              <a:t>Taux sans risque = </a:t>
            </a:r>
            <a:r>
              <a:rPr lang="fr-CA" sz="2000" b="1" dirty="0" err="1">
                <a:solidFill>
                  <a:srgbClr val="C00000"/>
                </a:solidFill>
                <a:latin typeface="Georgia"/>
              </a:rPr>
              <a:t>rf</a:t>
            </a:r>
            <a:r>
              <a:rPr lang="fr-CA" sz="2000" b="1" dirty="0">
                <a:solidFill>
                  <a:srgbClr val="C00000"/>
                </a:solidFill>
                <a:latin typeface="Georgia"/>
              </a:rPr>
              <a:t>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sz="2000" dirty="0" err="1">
                <a:solidFill>
                  <a:srgbClr val="C00000"/>
                </a:solidFill>
                <a:latin typeface="Georgia"/>
              </a:rPr>
              <a:t>rf</a:t>
            </a:r>
            <a:r>
              <a:rPr lang="fr-CA" sz="2000" dirty="0">
                <a:solidFill>
                  <a:srgbClr val="C00000"/>
                </a:solidFill>
                <a:latin typeface="Georgia"/>
              </a:rPr>
              <a:t> = </a:t>
            </a:r>
            <a:r>
              <a:rPr lang="fr-CA" sz="2000" i="1" dirty="0" err="1">
                <a:solidFill>
                  <a:srgbClr val="C00000"/>
                </a:solidFill>
                <a:latin typeface="Georgia"/>
              </a:rPr>
              <a:t>risk</a:t>
            </a:r>
            <a:r>
              <a:rPr lang="fr-CA" sz="2000" i="1" dirty="0">
                <a:solidFill>
                  <a:srgbClr val="C00000"/>
                </a:solidFill>
                <a:latin typeface="Georgia"/>
              </a:rPr>
              <a:t> free rate</a:t>
            </a:r>
            <a:endParaRPr lang="fr-CA" sz="2000" i="1" dirty="0">
              <a:solidFill>
                <a:schemeClr val="bg1">
                  <a:lumMod val="50000"/>
                </a:schemeClr>
              </a:solidFill>
              <a:latin typeface="Georgia"/>
            </a:endParaRPr>
          </a:p>
        </p:txBody>
      </p:sp>
      <p:sp>
        <p:nvSpPr>
          <p:cNvPr id="11" name="object 30">
            <a:extLst>
              <a:ext uri="{FF2B5EF4-FFF2-40B4-BE49-F238E27FC236}">
                <a16:creationId xmlns:a16="http://schemas.microsoft.com/office/drawing/2014/main" id="{8B22E59E-7532-AD63-1383-FCF5AB48A24B}"/>
              </a:ext>
            </a:extLst>
          </p:cNvPr>
          <p:cNvSpPr/>
          <p:nvPr/>
        </p:nvSpPr>
        <p:spPr>
          <a:xfrm>
            <a:off x="4282808" y="2132857"/>
            <a:ext cx="2333459" cy="3053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7">
            <a:extLst>
              <a:ext uri="{FF2B5EF4-FFF2-40B4-BE49-F238E27FC236}">
                <a16:creationId xmlns:a16="http://schemas.microsoft.com/office/drawing/2014/main" id="{A496950B-E7C4-1804-93B6-B1F861A1BC01}"/>
              </a:ext>
            </a:extLst>
          </p:cNvPr>
          <p:cNvSpPr/>
          <p:nvPr/>
        </p:nvSpPr>
        <p:spPr>
          <a:xfrm rot="4079341">
            <a:off x="6639031" y="2941630"/>
            <a:ext cx="995092" cy="985072"/>
          </a:xfrm>
          <a:prstGeom prst="rect">
            <a:avLst/>
          </a:prstGeom>
          <a:blipFill>
            <a:blip r:embed="rId5" cstate="print">
              <a:duotone>
                <a:prstClr val="black"/>
                <a:srgbClr val="FFFF00">
                  <a:tint val="45000"/>
                  <a:satMod val="400000"/>
                </a:srgbClr>
              </a:duotone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2" descr="Important">
            <a:extLst>
              <a:ext uri="{FF2B5EF4-FFF2-40B4-BE49-F238E27FC236}">
                <a16:creationId xmlns:a16="http://schemas.microsoft.com/office/drawing/2014/main" id="{DC895EAE-2688-7738-0413-4640EC5ED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448" y="327346"/>
            <a:ext cx="1560464" cy="156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C53A8488-93F5-4E0D-9AD9-E0AF31237687}"/>
              </a:ext>
            </a:extLst>
          </p:cNvPr>
          <p:cNvSpPr/>
          <p:nvPr/>
        </p:nvSpPr>
        <p:spPr>
          <a:xfrm>
            <a:off x="7102871" y="4557092"/>
            <a:ext cx="4249713" cy="1426262"/>
          </a:xfrm>
          <a:prstGeom prst="wedgeRectCallout">
            <a:avLst>
              <a:gd name="adj1" fmla="val -83307"/>
              <a:gd name="adj2" fmla="val 3661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b="1" dirty="0">
                <a:solidFill>
                  <a:schemeClr val="tx1"/>
                </a:solidFill>
                <a:latin typeface="Ink Free" panose="03080402000500000000" pitchFamily="66" charset="0"/>
              </a:rPr>
              <a:t>Prime de risque = ??</a:t>
            </a:r>
          </a:p>
          <a:p>
            <a:pPr algn="ctr"/>
            <a:r>
              <a:rPr lang="fr-CA" sz="2000" dirty="0"/>
              <a:t>🔴 </a:t>
            </a:r>
            <a:r>
              <a:rPr lang="fr-CA" sz="2000" dirty="0">
                <a:solidFill>
                  <a:schemeClr val="tx1"/>
                </a:solidFill>
                <a:latin typeface="Ink Free" panose="03080402000500000000" pitchFamily="66" charset="0"/>
              </a:rPr>
              <a:t>Comment la déterminer ?? </a:t>
            </a:r>
          </a:p>
          <a:p>
            <a:pPr algn="ctr"/>
            <a:r>
              <a:rPr lang="fr-CA" sz="2000" b="1" dirty="0" err="1">
                <a:solidFill>
                  <a:schemeClr val="tx1"/>
                </a:solidFill>
              </a:rPr>
              <a:t>C'est </a:t>
            </a:r>
            <a:r>
              <a:rPr lang="fr-CA" sz="2000" b="1" dirty="0">
                <a:solidFill>
                  <a:schemeClr val="tx1"/>
                </a:solidFill>
              </a:rPr>
              <a:t>l'objectif de ce cours </a:t>
            </a:r>
            <a:r>
              <a:rPr lang="fr-CA" sz="2000" dirty="0">
                <a:solidFill>
                  <a:schemeClr val="tx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664851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A1B887-98C2-4C8B-8003-4113F315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1320487"/>
            <a:ext cx="5616624" cy="339823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3352" y="288332"/>
            <a:ext cx="11521280" cy="758952"/>
          </a:xfrm>
        </p:spPr>
        <p:txBody>
          <a:bodyPr>
            <a:noAutofit/>
          </a:bodyPr>
          <a:lstStyle/>
          <a:p>
            <a:r>
              <a:rPr lang="fr-CA" sz="2400" dirty="0" err="1">
                <a:solidFill>
                  <a:srgbClr val="FF0000"/>
                </a:solidFill>
              </a:rPr>
              <a:t>Compromis entre</a:t>
            </a:r>
            <a:r>
              <a:rPr lang="fr-CA" sz="2400" dirty="0">
                <a:solidFill>
                  <a:srgbClr val="FF0000"/>
                </a:solidFill>
              </a:rPr>
              <a:t> risque et rendement : </a:t>
            </a:r>
            <a:r>
              <a:rPr lang="fr-CA" sz="2400" dirty="0" err="1">
                <a:solidFill>
                  <a:srgbClr val="FF0000"/>
                </a:solidFill>
              </a:rPr>
              <a:t>que pouvons-nous apprendre de l'histoire des marchés</a:t>
            </a:r>
            <a:r>
              <a:rPr lang="fr-CA" sz="2400" dirty="0">
                <a:solidFill>
                  <a:srgbClr val="FF0000"/>
                </a:solidFill>
              </a:rPr>
              <a:t> financiers 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6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FE5202C-975A-4A3C-BA45-9C703400F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332287"/>
              </p:ext>
            </p:extLst>
          </p:nvPr>
        </p:nvGraphicFramePr>
        <p:xfrm>
          <a:off x="6398216" y="1467704"/>
          <a:ext cx="5098384" cy="24688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16467">
                  <a:extLst>
                    <a:ext uri="{9D8B030D-6E8A-4147-A177-3AD203B41FA5}">
                      <a16:colId xmlns:a16="http://schemas.microsoft.com/office/drawing/2014/main" val="3463541499"/>
                    </a:ext>
                  </a:extLst>
                </a:gridCol>
                <a:gridCol w="2981917">
                  <a:extLst>
                    <a:ext uri="{9D8B030D-6E8A-4147-A177-3AD203B41FA5}">
                      <a16:colId xmlns:a16="http://schemas.microsoft.com/office/drawing/2014/main" val="2852561299"/>
                    </a:ext>
                  </a:extLst>
                </a:gridCol>
              </a:tblGrid>
              <a:tr h="397817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Type de </a:t>
                      </a:r>
                      <a:r>
                        <a:rPr lang="fr-CA" sz="1400" dirty="0" err="1"/>
                        <a:t>titre</a:t>
                      </a:r>
                      <a:endParaRPr lang="fr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Rendement </a:t>
                      </a:r>
                      <a:r>
                        <a:rPr lang="fr-CA" sz="1400" dirty="0" err="1"/>
                        <a:t>annuel moyen </a:t>
                      </a:r>
                    </a:p>
                    <a:p>
                      <a:pPr algn="ctr"/>
                      <a:r>
                        <a:rPr lang="fr-CA" sz="1400" dirty="0"/>
                        <a:t>(1957-2017)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760032"/>
                  </a:ext>
                </a:extLst>
              </a:tr>
              <a:tr h="397817">
                <a:tc>
                  <a:txBody>
                    <a:bodyPr/>
                    <a:lstStyle/>
                    <a:p>
                      <a:r>
                        <a:rPr lang="fr-CA" sz="1400" dirty="0"/>
                        <a:t>Actions </a:t>
                      </a:r>
                      <a:r>
                        <a:rPr lang="fr-CA" sz="1400" dirty="0" err="1"/>
                        <a:t>ordinaires</a:t>
                      </a:r>
                      <a:r>
                        <a:rPr lang="fr-CA" sz="1400" dirty="0"/>
                        <a:t> canadiennes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10,15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97606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r>
                        <a:rPr lang="fr-CA" sz="1400" dirty="0"/>
                        <a:t>Bons </a:t>
                      </a:r>
                      <a:r>
                        <a:rPr lang="fr-CA" sz="1400" dirty="0" err="1"/>
                        <a:t>du Trésor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5,62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868771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r>
                        <a:rPr lang="fr-CA" sz="1400" dirty="0"/>
                        <a:t>Obligations </a:t>
                      </a:r>
                      <a:r>
                        <a:rPr lang="fr-CA" sz="1400" dirty="0" err="1"/>
                        <a:t>à</a:t>
                      </a:r>
                      <a:r>
                        <a:rPr lang="fr-CA" sz="1400" dirty="0"/>
                        <a:t> long </a:t>
                      </a:r>
                      <a:r>
                        <a:rPr lang="fr-CA" sz="1400" dirty="0" err="1"/>
                        <a:t>terme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8,37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074376"/>
                  </a:ext>
                </a:extLst>
              </a:tr>
              <a:tr h="397817">
                <a:tc>
                  <a:txBody>
                    <a:bodyPr/>
                    <a:lstStyle/>
                    <a:p>
                      <a:r>
                        <a:rPr lang="fr-CA" sz="1400" dirty="0"/>
                        <a:t>Actions de petites capitalisations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 12,43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2268"/>
                  </a:ext>
                </a:extLst>
              </a:tr>
              <a:tr h="234010">
                <a:tc>
                  <a:txBody>
                    <a:bodyPr/>
                    <a:lstStyle/>
                    <a:p>
                      <a:r>
                        <a:rPr lang="fr-CA" sz="1400" dirty="0"/>
                        <a:t>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3,70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359173"/>
                  </a:ext>
                </a:extLst>
              </a:tr>
            </a:tbl>
          </a:graphicData>
        </a:graphic>
      </p:graphicFrame>
      <p:graphicFrame>
        <p:nvGraphicFramePr>
          <p:cNvPr id="7" name="Tableau 4">
            <a:extLst>
              <a:ext uri="{FF2B5EF4-FFF2-40B4-BE49-F238E27FC236}">
                <a16:creationId xmlns:a16="http://schemas.microsoft.com/office/drawing/2014/main" id="{52D3389D-51B3-47BF-BAA2-E320B4F1A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593328"/>
              </p:ext>
            </p:extLst>
          </p:nvPr>
        </p:nvGraphicFramePr>
        <p:xfrm>
          <a:off x="6398216" y="4105326"/>
          <a:ext cx="5098384" cy="230865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66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2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372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Actif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Rendement maximal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Rendement minimum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r>
                        <a:rPr lang="fr-CA" sz="1400" dirty="0"/>
                        <a:t>Actions canadiennes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35,49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-33,00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63">
                <a:tc>
                  <a:txBody>
                    <a:bodyPr/>
                    <a:lstStyle/>
                    <a:p>
                      <a:r>
                        <a:rPr lang="fr-CA" sz="1400" dirty="0"/>
                        <a:t>Bons du Trésor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15,27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/>
                        <a:t>2,24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63">
                <a:tc>
                  <a:txBody>
                    <a:bodyPr/>
                    <a:lstStyle/>
                    <a:p>
                      <a:r>
                        <a:rPr lang="fr-CA" sz="1400" dirty="0"/>
                        <a:t>Obligations à long terme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baseline="0" dirty="0"/>
                        <a:t>2</a:t>
                      </a:r>
                      <a:r>
                        <a:rPr lang="fr-CA" sz="1400" dirty="0"/>
                        <a:t>6,34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-7,39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372">
                <a:tc>
                  <a:txBody>
                    <a:bodyPr/>
                    <a:lstStyle/>
                    <a:p>
                      <a:r>
                        <a:rPr lang="fr-CA" sz="1400" dirty="0"/>
                        <a:t>Actions de petites capitalisations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52,26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-46,6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72602ED-19F7-4BB0-9568-47B0258B4FB2}"/>
              </a:ext>
            </a:extLst>
          </p:cNvPr>
          <p:cNvSpPr txBox="1"/>
          <p:nvPr/>
        </p:nvSpPr>
        <p:spPr>
          <a:xfrm>
            <a:off x="263352" y="4939775"/>
            <a:ext cx="5766352" cy="7848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CA" sz="2400" b="1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🔎 </a:t>
            </a:r>
            <a:r>
              <a:rPr lang="fr-CA" sz="2100" dirty="0">
                <a:latin typeface="Ink Free" panose="03080402000500000000" pitchFamily="66" charset="0"/>
                <a:sym typeface="Wingdings" panose="05000000000000000000" pitchFamily="2" charset="2"/>
              </a:rPr>
              <a:t>Plus </a:t>
            </a:r>
            <a:r>
              <a:rPr lang="fr-CA" sz="2100" b="1" dirty="0">
                <a:latin typeface="Ink Free" panose="03080402000500000000" pitchFamily="66" charset="0"/>
                <a:sym typeface="Wingdings" panose="05000000000000000000" pitchFamily="2" charset="2"/>
              </a:rPr>
              <a:t>le risque est élevé</a:t>
            </a:r>
            <a:r>
              <a:rPr lang="fr-CA" sz="2100" dirty="0">
                <a:latin typeface="Ink Free" panose="03080402000500000000" pitchFamily="66" charset="0"/>
                <a:sym typeface="Wingdings" panose="05000000000000000000" pitchFamily="2" charset="2"/>
              </a:rPr>
              <a:t>, plus le taux de </a:t>
            </a:r>
            <a:r>
              <a:rPr lang="fr-CA" sz="2100" b="1" dirty="0">
                <a:latin typeface="Ink Free" panose="03080402000500000000" pitchFamily="66" charset="0"/>
                <a:sym typeface="Wingdings" panose="05000000000000000000" pitchFamily="2" charset="2"/>
              </a:rPr>
              <a:t>rendement </a:t>
            </a:r>
            <a:r>
              <a:rPr lang="fr-CA" sz="2100" dirty="0">
                <a:latin typeface="Ink Free" panose="03080402000500000000" pitchFamily="66" charset="0"/>
                <a:sym typeface="Wingdings" panose="05000000000000000000" pitchFamily="2" charset="2"/>
              </a:rPr>
              <a:t>requis </a:t>
            </a:r>
            <a:r>
              <a:rPr lang="fr-CA" sz="2100" b="1" dirty="0">
                <a:latin typeface="Ink Free" panose="03080402000500000000" pitchFamily="66" charset="0"/>
                <a:sym typeface="Wingdings" panose="05000000000000000000" pitchFamily="2" charset="2"/>
              </a:rPr>
              <a:t>est élevé.</a:t>
            </a:r>
            <a:endParaRPr lang="en-GB" sz="2100" b="1" dirty="0">
              <a:latin typeface="Ink Free" panose="03080402000500000000" pitchFamily="66" charset="0"/>
            </a:endParaRPr>
          </a:p>
        </p:txBody>
      </p:sp>
      <p:pic>
        <p:nvPicPr>
          <p:cNvPr id="3" name="Picture 2" descr="Important ">
            <a:extLst>
              <a:ext uri="{FF2B5EF4-FFF2-40B4-BE49-F238E27FC236}">
                <a16:creationId xmlns:a16="http://schemas.microsoft.com/office/drawing/2014/main" id="{11AA7F25-2475-EF67-EB30-E4527869D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273" y="5033471"/>
            <a:ext cx="597438" cy="59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945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83632" y="186701"/>
            <a:ext cx="8534400" cy="758952"/>
          </a:xfrm>
        </p:spPr>
        <p:txBody>
          <a:bodyPr>
            <a:normAutofit/>
          </a:bodyPr>
          <a:lstStyle/>
          <a:p>
            <a:pPr algn="l"/>
            <a:r>
              <a:rPr lang="fr-CA" sz="2800" dirty="0"/>
              <a:t>Compromis</a:t>
            </a:r>
            <a:r>
              <a:rPr lang="fr-CA" sz="2800" dirty="0" err="1"/>
              <a:t> entre</a:t>
            </a:r>
            <a:r>
              <a:rPr lang="fr-CA" sz="2800" dirty="0"/>
              <a:t> risque et rendement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7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15800" y="5194675"/>
            <a:ext cx="11471472" cy="2396505"/>
          </a:xfrm>
        </p:spPr>
        <p:txBody>
          <a:bodyPr>
            <a:normAutofit/>
          </a:bodyPr>
          <a:lstStyle/>
          <a:p>
            <a:r>
              <a:rPr lang="fr-CA" sz="2400" b="1" u="sng" dirty="0"/>
              <a:t>Principe </a:t>
            </a:r>
            <a:r>
              <a:rPr kumimoji="0" lang="fr-CA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/>
                <a:ea typeface="+mn-ea"/>
                <a:cs typeface="+mn-cs"/>
              </a:rPr>
              <a:t>n° </a:t>
            </a:r>
            <a:r>
              <a:rPr lang="fr-CA" sz="2400" b="1" u="sng" dirty="0"/>
              <a:t>2 </a:t>
            </a:r>
            <a:r>
              <a:rPr lang="fr-CA" sz="2400" b="1" dirty="0"/>
              <a:t>: </a:t>
            </a:r>
            <a:r>
              <a:rPr lang="fr-CA" sz="2400" dirty="0">
                <a:solidFill>
                  <a:schemeClr val="tx1"/>
                </a:solidFill>
              </a:rPr>
              <a:t>plus le gain potentiel est élevé, plus le risque est important</a:t>
            </a:r>
          </a:p>
          <a:p>
            <a:pPr lvl="1"/>
            <a:r>
              <a:rPr lang="fr-CA" sz="2000" dirty="0"/>
              <a:t>Plus le titre est risqué, plus le rendement </a:t>
            </a:r>
            <a:r>
              <a:rPr lang="fr-CA" sz="2000" dirty="0" err="1"/>
              <a:t>attendu est élevé </a:t>
            </a:r>
            <a:r>
              <a:rPr lang="fr-CA" sz="2000" b="1" dirty="0"/>
              <a:t>ET </a:t>
            </a:r>
            <a:r>
              <a:rPr lang="fr-CA" sz="2000" dirty="0" err="1"/>
              <a:t>plus </a:t>
            </a:r>
            <a:r>
              <a:rPr lang="fr-CA" sz="2000" dirty="0"/>
              <a:t>la probabilité que le rendement </a:t>
            </a:r>
            <a:r>
              <a:rPr lang="fr-CA" sz="2000" dirty="0" err="1"/>
              <a:t>réalisé </a:t>
            </a:r>
            <a:r>
              <a:rPr lang="fr-CA" sz="2000" dirty="0"/>
              <a:t>soit différent du rendement attendu </a:t>
            </a:r>
            <a:r>
              <a:rPr lang="fr-CA" sz="2000" dirty="0" err="1"/>
              <a:t>est grande</a:t>
            </a:r>
          </a:p>
          <a:p>
            <a:pPr marL="274320" lvl="1" indent="0">
              <a:buNone/>
            </a:pPr>
            <a:endParaRPr lang="fr-CA" sz="2000" dirty="0">
              <a:solidFill>
                <a:schemeClr val="tx1"/>
              </a:solidFill>
            </a:endParaRPr>
          </a:p>
          <a:p>
            <a:pPr lvl="1"/>
            <a:endParaRPr lang="fr-CA" sz="2000" dirty="0"/>
          </a:p>
          <a:p>
            <a:pPr lvl="1"/>
            <a:endParaRPr lang="fr-CA" sz="2000" dirty="0"/>
          </a:p>
          <a:p>
            <a:pPr marL="274320" lvl="1" indent="0">
              <a:buNone/>
            </a:pPr>
            <a:endParaRPr lang="fr-CA" sz="2000" dirty="0"/>
          </a:p>
          <a:p>
            <a:pPr marL="274320" lvl="1" indent="0">
              <a:buNone/>
            </a:pPr>
            <a:endParaRPr lang="fr-CA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0DA8C5-18EF-4550-9A58-00EFDEE96911}"/>
              </a:ext>
            </a:extLst>
          </p:cNvPr>
          <p:cNvSpPr/>
          <p:nvPr/>
        </p:nvSpPr>
        <p:spPr>
          <a:xfrm>
            <a:off x="2113784" y="3573017"/>
            <a:ext cx="2333526" cy="5794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dashDot"/>
            <a:extLst>
              <a:ext uri="{C807C97D-BFC1-408E-A445-0C87EB9F89A2}">
                <ask:lineSketchStyleProps xmlns:ask="http://schemas.microsoft.com/office/drawing/2018/sketchyshapes" sd="261707853">
                  <a:custGeom>
                    <a:avLst/>
                    <a:gdLst>
                      <a:gd name="connsiteX0" fmla="*/ 0 w 3433281"/>
                      <a:gd name="connsiteY0" fmla="*/ 0 h 576064"/>
                      <a:gd name="connsiteX1" fmla="*/ 537881 w 3433281"/>
                      <a:gd name="connsiteY1" fmla="*/ 0 h 576064"/>
                      <a:gd name="connsiteX2" fmla="*/ 1075761 w 3433281"/>
                      <a:gd name="connsiteY2" fmla="*/ 0 h 576064"/>
                      <a:gd name="connsiteX3" fmla="*/ 1716640 w 3433281"/>
                      <a:gd name="connsiteY3" fmla="*/ 0 h 576064"/>
                      <a:gd name="connsiteX4" fmla="*/ 2288854 w 3433281"/>
                      <a:gd name="connsiteY4" fmla="*/ 0 h 576064"/>
                      <a:gd name="connsiteX5" fmla="*/ 2895400 w 3433281"/>
                      <a:gd name="connsiteY5" fmla="*/ 0 h 576064"/>
                      <a:gd name="connsiteX6" fmla="*/ 3433281 w 3433281"/>
                      <a:gd name="connsiteY6" fmla="*/ 0 h 576064"/>
                      <a:gd name="connsiteX7" fmla="*/ 3433281 w 3433281"/>
                      <a:gd name="connsiteY7" fmla="*/ 576064 h 576064"/>
                      <a:gd name="connsiteX8" fmla="*/ 2861068 w 3433281"/>
                      <a:gd name="connsiteY8" fmla="*/ 576064 h 576064"/>
                      <a:gd name="connsiteX9" fmla="*/ 2288854 w 3433281"/>
                      <a:gd name="connsiteY9" fmla="*/ 576064 h 576064"/>
                      <a:gd name="connsiteX10" fmla="*/ 1750973 w 3433281"/>
                      <a:gd name="connsiteY10" fmla="*/ 576064 h 576064"/>
                      <a:gd name="connsiteX11" fmla="*/ 1144427 w 3433281"/>
                      <a:gd name="connsiteY11" fmla="*/ 576064 h 576064"/>
                      <a:gd name="connsiteX12" fmla="*/ 606546 w 3433281"/>
                      <a:gd name="connsiteY12" fmla="*/ 576064 h 576064"/>
                      <a:gd name="connsiteX13" fmla="*/ 0 w 3433281"/>
                      <a:gd name="connsiteY13" fmla="*/ 576064 h 576064"/>
                      <a:gd name="connsiteX14" fmla="*/ 0 w 3433281"/>
                      <a:gd name="connsiteY14" fmla="*/ 0 h 576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433281" h="576064" fill="none" extrusionOk="0">
                        <a:moveTo>
                          <a:pt x="0" y="0"/>
                        </a:moveTo>
                        <a:cubicBezTo>
                          <a:pt x="231862" y="-60288"/>
                          <a:pt x="312048" y="3939"/>
                          <a:pt x="537881" y="0"/>
                        </a:cubicBezTo>
                        <a:cubicBezTo>
                          <a:pt x="763714" y="-3939"/>
                          <a:pt x="859496" y="59282"/>
                          <a:pt x="1075761" y="0"/>
                        </a:cubicBezTo>
                        <a:cubicBezTo>
                          <a:pt x="1292026" y="-59282"/>
                          <a:pt x="1499571" y="26020"/>
                          <a:pt x="1716640" y="0"/>
                        </a:cubicBezTo>
                        <a:cubicBezTo>
                          <a:pt x="1933709" y="-26020"/>
                          <a:pt x="2133631" y="43157"/>
                          <a:pt x="2288854" y="0"/>
                        </a:cubicBezTo>
                        <a:cubicBezTo>
                          <a:pt x="2444077" y="-43157"/>
                          <a:pt x="2599245" y="52185"/>
                          <a:pt x="2895400" y="0"/>
                        </a:cubicBezTo>
                        <a:cubicBezTo>
                          <a:pt x="3191555" y="-52185"/>
                          <a:pt x="3314877" y="24029"/>
                          <a:pt x="3433281" y="0"/>
                        </a:cubicBezTo>
                        <a:cubicBezTo>
                          <a:pt x="3462703" y="155902"/>
                          <a:pt x="3427913" y="314577"/>
                          <a:pt x="3433281" y="576064"/>
                        </a:cubicBezTo>
                        <a:cubicBezTo>
                          <a:pt x="3231598" y="641923"/>
                          <a:pt x="3144103" y="529741"/>
                          <a:pt x="2861068" y="576064"/>
                        </a:cubicBezTo>
                        <a:cubicBezTo>
                          <a:pt x="2578033" y="622387"/>
                          <a:pt x="2458378" y="570109"/>
                          <a:pt x="2288854" y="576064"/>
                        </a:cubicBezTo>
                        <a:cubicBezTo>
                          <a:pt x="2119330" y="582019"/>
                          <a:pt x="1978776" y="534235"/>
                          <a:pt x="1750973" y="576064"/>
                        </a:cubicBezTo>
                        <a:cubicBezTo>
                          <a:pt x="1523170" y="617893"/>
                          <a:pt x="1359036" y="546680"/>
                          <a:pt x="1144427" y="576064"/>
                        </a:cubicBezTo>
                        <a:cubicBezTo>
                          <a:pt x="929818" y="605448"/>
                          <a:pt x="848771" y="519436"/>
                          <a:pt x="606546" y="576064"/>
                        </a:cubicBezTo>
                        <a:cubicBezTo>
                          <a:pt x="364321" y="632692"/>
                          <a:pt x="237467" y="504123"/>
                          <a:pt x="0" y="576064"/>
                        </a:cubicBezTo>
                        <a:cubicBezTo>
                          <a:pt x="-39628" y="441368"/>
                          <a:pt x="13698" y="170400"/>
                          <a:pt x="0" y="0"/>
                        </a:cubicBezTo>
                        <a:close/>
                      </a:path>
                      <a:path w="3433281" h="576064" stroke="0" extrusionOk="0">
                        <a:moveTo>
                          <a:pt x="0" y="0"/>
                        </a:moveTo>
                        <a:cubicBezTo>
                          <a:pt x="242716" y="-41854"/>
                          <a:pt x="390102" y="41301"/>
                          <a:pt x="572214" y="0"/>
                        </a:cubicBezTo>
                        <a:cubicBezTo>
                          <a:pt x="754326" y="-41301"/>
                          <a:pt x="951650" y="309"/>
                          <a:pt x="1075761" y="0"/>
                        </a:cubicBezTo>
                        <a:cubicBezTo>
                          <a:pt x="1199872" y="-309"/>
                          <a:pt x="1443474" y="18004"/>
                          <a:pt x="1647975" y="0"/>
                        </a:cubicBezTo>
                        <a:cubicBezTo>
                          <a:pt x="1852476" y="-18004"/>
                          <a:pt x="1918589" y="38634"/>
                          <a:pt x="2117190" y="0"/>
                        </a:cubicBezTo>
                        <a:cubicBezTo>
                          <a:pt x="2315792" y="-38634"/>
                          <a:pt x="2356247" y="1543"/>
                          <a:pt x="2586405" y="0"/>
                        </a:cubicBezTo>
                        <a:cubicBezTo>
                          <a:pt x="2816563" y="-1543"/>
                          <a:pt x="3138028" y="3750"/>
                          <a:pt x="3433281" y="0"/>
                        </a:cubicBezTo>
                        <a:cubicBezTo>
                          <a:pt x="3440284" y="270895"/>
                          <a:pt x="3378037" y="374711"/>
                          <a:pt x="3433281" y="576064"/>
                        </a:cubicBezTo>
                        <a:cubicBezTo>
                          <a:pt x="3216264" y="623873"/>
                          <a:pt x="3065101" y="575751"/>
                          <a:pt x="2826735" y="576064"/>
                        </a:cubicBezTo>
                        <a:cubicBezTo>
                          <a:pt x="2588369" y="576377"/>
                          <a:pt x="2429747" y="510408"/>
                          <a:pt x="2185856" y="576064"/>
                        </a:cubicBezTo>
                        <a:cubicBezTo>
                          <a:pt x="1941965" y="641720"/>
                          <a:pt x="1814892" y="535400"/>
                          <a:pt x="1716641" y="576064"/>
                        </a:cubicBezTo>
                        <a:cubicBezTo>
                          <a:pt x="1618390" y="616728"/>
                          <a:pt x="1318348" y="535575"/>
                          <a:pt x="1144427" y="576064"/>
                        </a:cubicBezTo>
                        <a:cubicBezTo>
                          <a:pt x="970506" y="616553"/>
                          <a:pt x="694818" y="549827"/>
                          <a:pt x="572214" y="576064"/>
                        </a:cubicBezTo>
                        <a:cubicBezTo>
                          <a:pt x="449610" y="602301"/>
                          <a:pt x="226247" y="535036"/>
                          <a:pt x="0" y="576064"/>
                        </a:cubicBezTo>
                        <a:cubicBezTo>
                          <a:pt x="-68047" y="323429"/>
                          <a:pt x="47636" y="23148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tx2"/>
                </a:solidFill>
              </a:rPr>
              <a:t>Taux sans risque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76B488-BEF3-4252-BAC8-738A2C9702A1}"/>
              </a:ext>
            </a:extLst>
          </p:cNvPr>
          <p:cNvSpPr/>
          <p:nvPr/>
        </p:nvSpPr>
        <p:spPr>
          <a:xfrm>
            <a:off x="2113784" y="4280366"/>
            <a:ext cx="2333526" cy="7200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dashDot"/>
            <a:extLst>
              <a:ext uri="{C807C97D-BFC1-408E-A445-0C87EB9F89A2}">
                <ask:lineSketchStyleProps xmlns:ask="http://schemas.microsoft.com/office/drawing/2018/sketchyshapes" sd="261707853">
                  <a:custGeom>
                    <a:avLst/>
                    <a:gdLst>
                      <a:gd name="connsiteX0" fmla="*/ 0 w 3433281"/>
                      <a:gd name="connsiteY0" fmla="*/ 0 h 576064"/>
                      <a:gd name="connsiteX1" fmla="*/ 537881 w 3433281"/>
                      <a:gd name="connsiteY1" fmla="*/ 0 h 576064"/>
                      <a:gd name="connsiteX2" fmla="*/ 1075761 w 3433281"/>
                      <a:gd name="connsiteY2" fmla="*/ 0 h 576064"/>
                      <a:gd name="connsiteX3" fmla="*/ 1716640 w 3433281"/>
                      <a:gd name="connsiteY3" fmla="*/ 0 h 576064"/>
                      <a:gd name="connsiteX4" fmla="*/ 2288854 w 3433281"/>
                      <a:gd name="connsiteY4" fmla="*/ 0 h 576064"/>
                      <a:gd name="connsiteX5" fmla="*/ 2895400 w 3433281"/>
                      <a:gd name="connsiteY5" fmla="*/ 0 h 576064"/>
                      <a:gd name="connsiteX6" fmla="*/ 3433281 w 3433281"/>
                      <a:gd name="connsiteY6" fmla="*/ 0 h 576064"/>
                      <a:gd name="connsiteX7" fmla="*/ 3433281 w 3433281"/>
                      <a:gd name="connsiteY7" fmla="*/ 576064 h 576064"/>
                      <a:gd name="connsiteX8" fmla="*/ 2861068 w 3433281"/>
                      <a:gd name="connsiteY8" fmla="*/ 576064 h 576064"/>
                      <a:gd name="connsiteX9" fmla="*/ 2288854 w 3433281"/>
                      <a:gd name="connsiteY9" fmla="*/ 576064 h 576064"/>
                      <a:gd name="connsiteX10" fmla="*/ 1750973 w 3433281"/>
                      <a:gd name="connsiteY10" fmla="*/ 576064 h 576064"/>
                      <a:gd name="connsiteX11" fmla="*/ 1144427 w 3433281"/>
                      <a:gd name="connsiteY11" fmla="*/ 576064 h 576064"/>
                      <a:gd name="connsiteX12" fmla="*/ 606546 w 3433281"/>
                      <a:gd name="connsiteY12" fmla="*/ 576064 h 576064"/>
                      <a:gd name="connsiteX13" fmla="*/ 0 w 3433281"/>
                      <a:gd name="connsiteY13" fmla="*/ 576064 h 576064"/>
                      <a:gd name="connsiteX14" fmla="*/ 0 w 3433281"/>
                      <a:gd name="connsiteY14" fmla="*/ 0 h 576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433281" h="576064" fill="none" extrusionOk="0">
                        <a:moveTo>
                          <a:pt x="0" y="0"/>
                        </a:moveTo>
                        <a:cubicBezTo>
                          <a:pt x="231862" y="-60288"/>
                          <a:pt x="312048" y="3939"/>
                          <a:pt x="537881" y="0"/>
                        </a:cubicBezTo>
                        <a:cubicBezTo>
                          <a:pt x="763714" y="-3939"/>
                          <a:pt x="859496" y="59282"/>
                          <a:pt x="1075761" y="0"/>
                        </a:cubicBezTo>
                        <a:cubicBezTo>
                          <a:pt x="1292026" y="-59282"/>
                          <a:pt x="1499571" y="26020"/>
                          <a:pt x="1716640" y="0"/>
                        </a:cubicBezTo>
                        <a:cubicBezTo>
                          <a:pt x="1933709" y="-26020"/>
                          <a:pt x="2133631" y="43157"/>
                          <a:pt x="2288854" y="0"/>
                        </a:cubicBezTo>
                        <a:cubicBezTo>
                          <a:pt x="2444077" y="-43157"/>
                          <a:pt x="2599245" y="52185"/>
                          <a:pt x="2895400" y="0"/>
                        </a:cubicBezTo>
                        <a:cubicBezTo>
                          <a:pt x="3191555" y="-52185"/>
                          <a:pt x="3314877" y="24029"/>
                          <a:pt x="3433281" y="0"/>
                        </a:cubicBezTo>
                        <a:cubicBezTo>
                          <a:pt x="3462703" y="155902"/>
                          <a:pt x="3427913" y="314577"/>
                          <a:pt x="3433281" y="576064"/>
                        </a:cubicBezTo>
                        <a:cubicBezTo>
                          <a:pt x="3231598" y="641923"/>
                          <a:pt x="3144103" y="529741"/>
                          <a:pt x="2861068" y="576064"/>
                        </a:cubicBezTo>
                        <a:cubicBezTo>
                          <a:pt x="2578033" y="622387"/>
                          <a:pt x="2458378" y="570109"/>
                          <a:pt x="2288854" y="576064"/>
                        </a:cubicBezTo>
                        <a:cubicBezTo>
                          <a:pt x="2119330" y="582019"/>
                          <a:pt x="1978776" y="534235"/>
                          <a:pt x="1750973" y="576064"/>
                        </a:cubicBezTo>
                        <a:cubicBezTo>
                          <a:pt x="1523170" y="617893"/>
                          <a:pt x="1359036" y="546680"/>
                          <a:pt x="1144427" y="576064"/>
                        </a:cubicBezTo>
                        <a:cubicBezTo>
                          <a:pt x="929818" y="605448"/>
                          <a:pt x="848771" y="519436"/>
                          <a:pt x="606546" y="576064"/>
                        </a:cubicBezTo>
                        <a:cubicBezTo>
                          <a:pt x="364321" y="632692"/>
                          <a:pt x="237467" y="504123"/>
                          <a:pt x="0" y="576064"/>
                        </a:cubicBezTo>
                        <a:cubicBezTo>
                          <a:pt x="-39628" y="441368"/>
                          <a:pt x="13698" y="170400"/>
                          <a:pt x="0" y="0"/>
                        </a:cubicBezTo>
                        <a:close/>
                      </a:path>
                      <a:path w="3433281" h="576064" stroke="0" extrusionOk="0">
                        <a:moveTo>
                          <a:pt x="0" y="0"/>
                        </a:moveTo>
                        <a:cubicBezTo>
                          <a:pt x="242716" y="-41854"/>
                          <a:pt x="390102" y="41301"/>
                          <a:pt x="572214" y="0"/>
                        </a:cubicBezTo>
                        <a:cubicBezTo>
                          <a:pt x="754326" y="-41301"/>
                          <a:pt x="951650" y="309"/>
                          <a:pt x="1075761" y="0"/>
                        </a:cubicBezTo>
                        <a:cubicBezTo>
                          <a:pt x="1199872" y="-309"/>
                          <a:pt x="1443474" y="18004"/>
                          <a:pt x="1647975" y="0"/>
                        </a:cubicBezTo>
                        <a:cubicBezTo>
                          <a:pt x="1852476" y="-18004"/>
                          <a:pt x="1918589" y="38634"/>
                          <a:pt x="2117190" y="0"/>
                        </a:cubicBezTo>
                        <a:cubicBezTo>
                          <a:pt x="2315792" y="-38634"/>
                          <a:pt x="2356247" y="1543"/>
                          <a:pt x="2586405" y="0"/>
                        </a:cubicBezTo>
                        <a:cubicBezTo>
                          <a:pt x="2816563" y="-1543"/>
                          <a:pt x="3138028" y="3750"/>
                          <a:pt x="3433281" y="0"/>
                        </a:cubicBezTo>
                        <a:cubicBezTo>
                          <a:pt x="3440284" y="270895"/>
                          <a:pt x="3378037" y="374711"/>
                          <a:pt x="3433281" y="576064"/>
                        </a:cubicBezTo>
                        <a:cubicBezTo>
                          <a:pt x="3216264" y="623873"/>
                          <a:pt x="3065101" y="575751"/>
                          <a:pt x="2826735" y="576064"/>
                        </a:cubicBezTo>
                        <a:cubicBezTo>
                          <a:pt x="2588369" y="576377"/>
                          <a:pt x="2429747" y="510408"/>
                          <a:pt x="2185856" y="576064"/>
                        </a:cubicBezTo>
                        <a:cubicBezTo>
                          <a:pt x="1941965" y="641720"/>
                          <a:pt x="1814892" y="535400"/>
                          <a:pt x="1716641" y="576064"/>
                        </a:cubicBezTo>
                        <a:cubicBezTo>
                          <a:pt x="1618390" y="616728"/>
                          <a:pt x="1318348" y="535575"/>
                          <a:pt x="1144427" y="576064"/>
                        </a:cubicBezTo>
                        <a:cubicBezTo>
                          <a:pt x="970506" y="616553"/>
                          <a:pt x="694818" y="549827"/>
                          <a:pt x="572214" y="576064"/>
                        </a:cubicBezTo>
                        <a:cubicBezTo>
                          <a:pt x="449610" y="602301"/>
                          <a:pt x="226247" y="535036"/>
                          <a:pt x="0" y="576064"/>
                        </a:cubicBezTo>
                        <a:cubicBezTo>
                          <a:pt x="-68047" y="323429"/>
                          <a:pt x="47636" y="23148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>
              <a:solidFill>
                <a:schemeClr val="tx2"/>
              </a:solidFill>
            </a:endParaRPr>
          </a:p>
          <a:p>
            <a:pPr algn="ctr"/>
            <a:r>
              <a:rPr lang="fr-CA" dirty="0">
                <a:solidFill>
                  <a:schemeClr val="tx2"/>
                </a:solidFill>
              </a:rPr>
              <a:t>Prime</a:t>
            </a:r>
            <a:r>
              <a:rPr lang="fr-CA" b="1" dirty="0">
                <a:solidFill>
                  <a:schemeClr val="tx2"/>
                </a:solidFill>
              </a:rPr>
              <a:t> de risque</a:t>
            </a:r>
          </a:p>
          <a:p>
            <a:pPr algn="ctr"/>
            <a:endParaRPr lang="fr-C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EF5EE2-02DD-417C-A9B9-6BFBD3ECAF1F}"/>
              </a:ext>
            </a:extLst>
          </p:cNvPr>
          <p:cNvSpPr/>
          <p:nvPr/>
        </p:nvSpPr>
        <p:spPr>
          <a:xfrm>
            <a:off x="5250642" y="3573016"/>
            <a:ext cx="2022940" cy="1440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olid"/>
            <a:extLst>
              <a:ext uri="{C807C97D-BFC1-408E-A445-0C87EB9F89A2}">
                <ask:lineSketchStyleProps xmlns:ask="http://schemas.microsoft.com/office/drawing/2018/sketchyshapes" sd="261707853">
                  <a:custGeom>
                    <a:avLst/>
                    <a:gdLst>
                      <a:gd name="connsiteX0" fmla="*/ 0 w 3433281"/>
                      <a:gd name="connsiteY0" fmla="*/ 0 h 576064"/>
                      <a:gd name="connsiteX1" fmla="*/ 537881 w 3433281"/>
                      <a:gd name="connsiteY1" fmla="*/ 0 h 576064"/>
                      <a:gd name="connsiteX2" fmla="*/ 1075761 w 3433281"/>
                      <a:gd name="connsiteY2" fmla="*/ 0 h 576064"/>
                      <a:gd name="connsiteX3" fmla="*/ 1716640 w 3433281"/>
                      <a:gd name="connsiteY3" fmla="*/ 0 h 576064"/>
                      <a:gd name="connsiteX4" fmla="*/ 2288854 w 3433281"/>
                      <a:gd name="connsiteY4" fmla="*/ 0 h 576064"/>
                      <a:gd name="connsiteX5" fmla="*/ 2895400 w 3433281"/>
                      <a:gd name="connsiteY5" fmla="*/ 0 h 576064"/>
                      <a:gd name="connsiteX6" fmla="*/ 3433281 w 3433281"/>
                      <a:gd name="connsiteY6" fmla="*/ 0 h 576064"/>
                      <a:gd name="connsiteX7" fmla="*/ 3433281 w 3433281"/>
                      <a:gd name="connsiteY7" fmla="*/ 576064 h 576064"/>
                      <a:gd name="connsiteX8" fmla="*/ 2861068 w 3433281"/>
                      <a:gd name="connsiteY8" fmla="*/ 576064 h 576064"/>
                      <a:gd name="connsiteX9" fmla="*/ 2288854 w 3433281"/>
                      <a:gd name="connsiteY9" fmla="*/ 576064 h 576064"/>
                      <a:gd name="connsiteX10" fmla="*/ 1750973 w 3433281"/>
                      <a:gd name="connsiteY10" fmla="*/ 576064 h 576064"/>
                      <a:gd name="connsiteX11" fmla="*/ 1144427 w 3433281"/>
                      <a:gd name="connsiteY11" fmla="*/ 576064 h 576064"/>
                      <a:gd name="connsiteX12" fmla="*/ 606546 w 3433281"/>
                      <a:gd name="connsiteY12" fmla="*/ 576064 h 576064"/>
                      <a:gd name="connsiteX13" fmla="*/ 0 w 3433281"/>
                      <a:gd name="connsiteY13" fmla="*/ 576064 h 576064"/>
                      <a:gd name="connsiteX14" fmla="*/ 0 w 3433281"/>
                      <a:gd name="connsiteY14" fmla="*/ 0 h 576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433281" h="576064" fill="none" extrusionOk="0">
                        <a:moveTo>
                          <a:pt x="0" y="0"/>
                        </a:moveTo>
                        <a:cubicBezTo>
                          <a:pt x="231862" y="-60288"/>
                          <a:pt x="312048" y="3939"/>
                          <a:pt x="537881" y="0"/>
                        </a:cubicBezTo>
                        <a:cubicBezTo>
                          <a:pt x="763714" y="-3939"/>
                          <a:pt x="859496" y="59282"/>
                          <a:pt x="1075761" y="0"/>
                        </a:cubicBezTo>
                        <a:cubicBezTo>
                          <a:pt x="1292026" y="-59282"/>
                          <a:pt x="1499571" y="26020"/>
                          <a:pt x="1716640" y="0"/>
                        </a:cubicBezTo>
                        <a:cubicBezTo>
                          <a:pt x="1933709" y="-26020"/>
                          <a:pt x="2133631" y="43157"/>
                          <a:pt x="2288854" y="0"/>
                        </a:cubicBezTo>
                        <a:cubicBezTo>
                          <a:pt x="2444077" y="-43157"/>
                          <a:pt x="2599245" y="52185"/>
                          <a:pt x="2895400" y="0"/>
                        </a:cubicBezTo>
                        <a:cubicBezTo>
                          <a:pt x="3191555" y="-52185"/>
                          <a:pt x="3314877" y="24029"/>
                          <a:pt x="3433281" y="0"/>
                        </a:cubicBezTo>
                        <a:cubicBezTo>
                          <a:pt x="3462703" y="155902"/>
                          <a:pt x="3427913" y="314577"/>
                          <a:pt x="3433281" y="576064"/>
                        </a:cubicBezTo>
                        <a:cubicBezTo>
                          <a:pt x="3231598" y="641923"/>
                          <a:pt x="3144103" y="529741"/>
                          <a:pt x="2861068" y="576064"/>
                        </a:cubicBezTo>
                        <a:cubicBezTo>
                          <a:pt x="2578033" y="622387"/>
                          <a:pt x="2458378" y="570109"/>
                          <a:pt x="2288854" y="576064"/>
                        </a:cubicBezTo>
                        <a:cubicBezTo>
                          <a:pt x="2119330" y="582019"/>
                          <a:pt x="1978776" y="534235"/>
                          <a:pt x="1750973" y="576064"/>
                        </a:cubicBezTo>
                        <a:cubicBezTo>
                          <a:pt x="1523170" y="617893"/>
                          <a:pt x="1359036" y="546680"/>
                          <a:pt x="1144427" y="576064"/>
                        </a:cubicBezTo>
                        <a:cubicBezTo>
                          <a:pt x="929818" y="605448"/>
                          <a:pt x="848771" y="519436"/>
                          <a:pt x="606546" y="576064"/>
                        </a:cubicBezTo>
                        <a:cubicBezTo>
                          <a:pt x="364321" y="632692"/>
                          <a:pt x="237467" y="504123"/>
                          <a:pt x="0" y="576064"/>
                        </a:cubicBezTo>
                        <a:cubicBezTo>
                          <a:pt x="-39628" y="441368"/>
                          <a:pt x="13698" y="170400"/>
                          <a:pt x="0" y="0"/>
                        </a:cubicBezTo>
                        <a:close/>
                      </a:path>
                      <a:path w="3433281" h="576064" stroke="0" extrusionOk="0">
                        <a:moveTo>
                          <a:pt x="0" y="0"/>
                        </a:moveTo>
                        <a:cubicBezTo>
                          <a:pt x="242716" y="-41854"/>
                          <a:pt x="390102" y="41301"/>
                          <a:pt x="572214" y="0"/>
                        </a:cubicBezTo>
                        <a:cubicBezTo>
                          <a:pt x="754326" y="-41301"/>
                          <a:pt x="951650" y="309"/>
                          <a:pt x="1075761" y="0"/>
                        </a:cubicBezTo>
                        <a:cubicBezTo>
                          <a:pt x="1199872" y="-309"/>
                          <a:pt x="1443474" y="18004"/>
                          <a:pt x="1647975" y="0"/>
                        </a:cubicBezTo>
                        <a:cubicBezTo>
                          <a:pt x="1852476" y="-18004"/>
                          <a:pt x="1918589" y="38634"/>
                          <a:pt x="2117190" y="0"/>
                        </a:cubicBezTo>
                        <a:cubicBezTo>
                          <a:pt x="2315792" y="-38634"/>
                          <a:pt x="2356247" y="1543"/>
                          <a:pt x="2586405" y="0"/>
                        </a:cubicBezTo>
                        <a:cubicBezTo>
                          <a:pt x="2816563" y="-1543"/>
                          <a:pt x="3138028" y="3750"/>
                          <a:pt x="3433281" y="0"/>
                        </a:cubicBezTo>
                        <a:cubicBezTo>
                          <a:pt x="3440284" y="270895"/>
                          <a:pt x="3378037" y="374711"/>
                          <a:pt x="3433281" y="576064"/>
                        </a:cubicBezTo>
                        <a:cubicBezTo>
                          <a:pt x="3216264" y="623873"/>
                          <a:pt x="3065101" y="575751"/>
                          <a:pt x="2826735" y="576064"/>
                        </a:cubicBezTo>
                        <a:cubicBezTo>
                          <a:pt x="2588369" y="576377"/>
                          <a:pt x="2429747" y="510408"/>
                          <a:pt x="2185856" y="576064"/>
                        </a:cubicBezTo>
                        <a:cubicBezTo>
                          <a:pt x="1941965" y="641720"/>
                          <a:pt x="1814892" y="535400"/>
                          <a:pt x="1716641" y="576064"/>
                        </a:cubicBezTo>
                        <a:cubicBezTo>
                          <a:pt x="1618390" y="616728"/>
                          <a:pt x="1318348" y="535575"/>
                          <a:pt x="1144427" y="576064"/>
                        </a:cubicBezTo>
                        <a:cubicBezTo>
                          <a:pt x="970506" y="616553"/>
                          <a:pt x="694818" y="549827"/>
                          <a:pt x="572214" y="576064"/>
                        </a:cubicBezTo>
                        <a:cubicBezTo>
                          <a:pt x="449610" y="602301"/>
                          <a:pt x="226247" y="535036"/>
                          <a:pt x="0" y="576064"/>
                        </a:cubicBezTo>
                        <a:cubicBezTo>
                          <a:pt x="-68047" y="323429"/>
                          <a:pt x="47636" y="23148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tx2"/>
                </a:solidFill>
              </a:rPr>
              <a:t>Rendement </a:t>
            </a:r>
            <a:r>
              <a:rPr lang="fr-CA" dirty="0" err="1">
                <a:solidFill>
                  <a:schemeClr val="tx2"/>
                </a:solidFill>
              </a:rPr>
              <a:t>attendu </a:t>
            </a:r>
            <a:r>
              <a:rPr lang="fr-CA" dirty="0">
                <a:solidFill>
                  <a:schemeClr val="tx2"/>
                </a:solidFill>
              </a:rPr>
              <a:t>d'un actif</a:t>
            </a:r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AA43B2B0-89D7-4242-A920-664B4714858F}"/>
              </a:ext>
            </a:extLst>
          </p:cNvPr>
          <p:cNvSpPr/>
          <p:nvPr/>
        </p:nvSpPr>
        <p:spPr>
          <a:xfrm>
            <a:off x="4180239" y="4374258"/>
            <a:ext cx="414399" cy="475253"/>
          </a:xfrm>
          <a:prstGeom prst="upArrow">
            <a:avLst/>
          </a:prstGeom>
          <a:solidFill>
            <a:srgbClr val="FF0000"/>
          </a:solidFill>
          <a:ln>
            <a:solidFill>
              <a:schemeClr val="tx1"/>
            </a:solidFill>
            <a:prstDash val="solid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2" name="Equals 11">
            <a:extLst>
              <a:ext uri="{FF2B5EF4-FFF2-40B4-BE49-F238E27FC236}">
                <a16:creationId xmlns:a16="http://schemas.microsoft.com/office/drawing/2014/main" id="{AA429FD4-F6F5-4DF7-8573-3F1CF3E65D43}"/>
              </a:ext>
            </a:extLst>
          </p:cNvPr>
          <p:cNvSpPr/>
          <p:nvPr/>
        </p:nvSpPr>
        <p:spPr>
          <a:xfrm>
            <a:off x="4646115" y="4037637"/>
            <a:ext cx="457200" cy="485458"/>
          </a:xfrm>
          <a:prstGeom prst="mathEqual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5BCC27AF-D743-4017-8676-5F61C064B364}"/>
              </a:ext>
            </a:extLst>
          </p:cNvPr>
          <p:cNvSpPr/>
          <p:nvPr/>
        </p:nvSpPr>
        <p:spPr>
          <a:xfrm>
            <a:off x="6941676" y="3677247"/>
            <a:ext cx="414399" cy="475253"/>
          </a:xfrm>
          <a:prstGeom prst="upArrow">
            <a:avLst/>
          </a:prstGeom>
          <a:solidFill>
            <a:srgbClr val="FF0000"/>
          </a:solidFill>
          <a:ln>
            <a:solidFill>
              <a:schemeClr val="tx1"/>
            </a:solidFill>
            <a:prstDash val="solid"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34F9EF-659A-8D22-BA56-A57A1F22C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543" y="278101"/>
            <a:ext cx="1887890" cy="90470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2B997FA-950A-A75F-BCD8-521934D50D17}"/>
              </a:ext>
            </a:extLst>
          </p:cNvPr>
          <p:cNvSpPr/>
          <p:nvPr/>
        </p:nvSpPr>
        <p:spPr>
          <a:xfrm>
            <a:off x="7859596" y="3437708"/>
            <a:ext cx="2381656" cy="16853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olid"/>
            <a:extLst>
              <a:ext uri="{C807C97D-BFC1-408E-A445-0C87EB9F89A2}">
                <ask:lineSketchStyleProps xmlns:ask="http://schemas.microsoft.com/office/drawing/2018/sketchyshapes" sd="261707853">
                  <a:custGeom>
                    <a:avLst/>
                    <a:gdLst>
                      <a:gd name="connsiteX0" fmla="*/ 0 w 3433281"/>
                      <a:gd name="connsiteY0" fmla="*/ 0 h 576064"/>
                      <a:gd name="connsiteX1" fmla="*/ 537881 w 3433281"/>
                      <a:gd name="connsiteY1" fmla="*/ 0 h 576064"/>
                      <a:gd name="connsiteX2" fmla="*/ 1075761 w 3433281"/>
                      <a:gd name="connsiteY2" fmla="*/ 0 h 576064"/>
                      <a:gd name="connsiteX3" fmla="*/ 1716640 w 3433281"/>
                      <a:gd name="connsiteY3" fmla="*/ 0 h 576064"/>
                      <a:gd name="connsiteX4" fmla="*/ 2288854 w 3433281"/>
                      <a:gd name="connsiteY4" fmla="*/ 0 h 576064"/>
                      <a:gd name="connsiteX5" fmla="*/ 2895400 w 3433281"/>
                      <a:gd name="connsiteY5" fmla="*/ 0 h 576064"/>
                      <a:gd name="connsiteX6" fmla="*/ 3433281 w 3433281"/>
                      <a:gd name="connsiteY6" fmla="*/ 0 h 576064"/>
                      <a:gd name="connsiteX7" fmla="*/ 3433281 w 3433281"/>
                      <a:gd name="connsiteY7" fmla="*/ 576064 h 576064"/>
                      <a:gd name="connsiteX8" fmla="*/ 2861068 w 3433281"/>
                      <a:gd name="connsiteY8" fmla="*/ 576064 h 576064"/>
                      <a:gd name="connsiteX9" fmla="*/ 2288854 w 3433281"/>
                      <a:gd name="connsiteY9" fmla="*/ 576064 h 576064"/>
                      <a:gd name="connsiteX10" fmla="*/ 1750973 w 3433281"/>
                      <a:gd name="connsiteY10" fmla="*/ 576064 h 576064"/>
                      <a:gd name="connsiteX11" fmla="*/ 1144427 w 3433281"/>
                      <a:gd name="connsiteY11" fmla="*/ 576064 h 576064"/>
                      <a:gd name="connsiteX12" fmla="*/ 606546 w 3433281"/>
                      <a:gd name="connsiteY12" fmla="*/ 576064 h 576064"/>
                      <a:gd name="connsiteX13" fmla="*/ 0 w 3433281"/>
                      <a:gd name="connsiteY13" fmla="*/ 576064 h 576064"/>
                      <a:gd name="connsiteX14" fmla="*/ 0 w 3433281"/>
                      <a:gd name="connsiteY14" fmla="*/ 0 h 5760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433281" h="576064" fill="none" extrusionOk="0">
                        <a:moveTo>
                          <a:pt x="0" y="0"/>
                        </a:moveTo>
                        <a:cubicBezTo>
                          <a:pt x="231862" y="-60288"/>
                          <a:pt x="312048" y="3939"/>
                          <a:pt x="537881" y="0"/>
                        </a:cubicBezTo>
                        <a:cubicBezTo>
                          <a:pt x="763714" y="-3939"/>
                          <a:pt x="859496" y="59282"/>
                          <a:pt x="1075761" y="0"/>
                        </a:cubicBezTo>
                        <a:cubicBezTo>
                          <a:pt x="1292026" y="-59282"/>
                          <a:pt x="1499571" y="26020"/>
                          <a:pt x="1716640" y="0"/>
                        </a:cubicBezTo>
                        <a:cubicBezTo>
                          <a:pt x="1933709" y="-26020"/>
                          <a:pt x="2133631" y="43157"/>
                          <a:pt x="2288854" y="0"/>
                        </a:cubicBezTo>
                        <a:cubicBezTo>
                          <a:pt x="2444077" y="-43157"/>
                          <a:pt x="2599245" y="52185"/>
                          <a:pt x="2895400" y="0"/>
                        </a:cubicBezTo>
                        <a:cubicBezTo>
                          <a:pt x="3191555" y="-52185"/>
                          <a:pt x="3314877" y="24029"/>
                          <a:pt x="3433281" y="0"/>
                        </a:cubicBezTo>
                        <a:cubicBezTo>
                          <a:pt x="3462703" y="155902"/>
                          <a:pt x="3427913" y="314577"/>
                          <a:pt x="3433281" y="576064"/>
                        </a:cubicBezTo>
                        <a:cubicBezTo>
                          <a:pt x="3231598" y="641923"/>
                          <a:pt x="3144103" y="529741"/>
                          <a:pt x="2861068" y="576064"/>
                        </a:cubicBezTo>
                        <a:cubicBezTo>
                          <a:pt x="2578033" y="622387"/>
                          <a:pt x="2458378" y="570109"/>
                          <a:pt x="2288854" y="576064"/>
                        </a:cubicBezTo>
                        <a:cubicBezTo>
                          <a:pt x="2119330" y="582019"/>
                          <a:pt x="1978776" y="534235"/>
                          <a:pt x="1750973" y="576064"/>
                        </a:cubicBezTo>
                        <a:cubicBezTo>
                          <a:pt x="1523170" y="617893"/>
                          <a:pt x="1359036" y="546680"/>
                          <a:pt x="1144427" y="576064"/>
                        </a:cubicBezTo>
                        <a:cubicBezTo>
                          <a:pt x="929818" y="605448"/>
                          <a:pt x="848771" y="519436"/>
                          <a:pt x="606546" y="576064"/>
                        </a:cubicBezTo>
                        <a:cubicBezTo>
                          <a:pt x="364321" y="632692"/>
                          <a:pt x="237467" y="504123"/>
                          <a:pt x="0" y="576064"/>
                        </a:cubicBezTo>
                        <a:cubicBezTo>
                          <a:pt x="-39628" y="441368"/>
                          <a:pt x="13698" y="170400"/>
                          <a:pt x="0" y="0"/>
                        </a:cubicBezTo>
                        <a:close/>
                      </a:path>
                      <a:path w="3433281" h="576064" stroke="0" extrusionOk="0">
                        <a:moveTo>
                          <a:pt x="0" y="0"/>
                        </a:moveTo>
                        <a:cubicBezTo>
                          <a:pt x="242716" y="-41854"/>
                          <a:pt x="390102" y="41301"/>
                          <a:pt x="572214" y="0"/>
                        </a:cubicBezTo>
                        <a:cubicBezTo>
                          <a:pt x="754326" y="-41301"/>
                          <a:pt x="951650" y="309"/>
                          <a:pt x="1075761" y="0"/>
                        </a:cubicBezTo>
                        <a:cubicBezTo>
                          <a:pt x="1199872" y="-309"/>
                          <a:pt x="1443474" y="18004"/>
                          <a:pt x="1647975" y="0"/>
                        </a:cubicBezTo>
                        <a:cubicBezTo>
                          <a:pt x="1852476" y="-18004"/>
                          <a:pt x="1918589" y="38634"/>
                          <a:pt x="2117190" y="0"/>
                        </a:cubicBezTo>
                        <a:cubicBezTo>
                          <a:pt x="2315792" y="-38634"/>
                          <a:pt x="2356247" y="1543"/>
                          <a:pt x="2586405" y="0"/>
                        </a:cubicBezTo>
                        <a:cubicBezTo>
                          <a:pt x="2816563" y="-1543"/>
                          <a:pt x="3138028" y="3750"/>
                          <a:pt x="3433281" y="0"/>
                        </a:cubicBezTo>
                        <a:cubicBezTo>
                          <a:pt x="3440284" y="270895"/>
                          <a:pt x="3378037" y="374711"/>
                          <a:pt x="3433281" y="576064"/>
                        </a:cubicBezTo>
                        <a:cubicBezTo>
                          <a:pt x="3216264" y="623873"/>
                          <a:pt x="3065101" y="575751"/>
                          <a:pt x="2826735" y="576064"/>
                        </a:cubicBezTo>
                        <a:cubicBezTo>
                          <a:pt x="2588369" y="576377"/>
                          <a:pt x="2429747" y="510408"/>
                          <a:pt x="2185856" y="576064"/>
                        </a:cubicBezTo>
                        <a:cubicBezTo>
                          <a:pt x="1941965" y="641720"/>
                          <a:pt x="1814892" y="535400"/>
                          <a:pt x="1716641" y="576064"/>
                        </a:cubicBezTo>
                        <a:cubicBezTo>
                          <a:pt x="1618390" y="616728"/>
                          <a:pt x="1318348" y="535575"/>
                          <a:pt x="1144427" y="576064"/>
                        </a:cubicBezTo>
                        <a:cubicBezTo>
                          <a:pt x="970506" y="616553"/>
                          <a:pt x="694818" y="549827"/>
                          <a:pt x="572214" y="576064"/>
                        </a:cubicBezTo>
                        <a:cubicBezTo>
                          <a:pt x="449610" y="602301"/>
                          <a:pt x="226247" y="535036"/>
                          <a:pt x="0" y="576064"/>
                        </a:cubicBezTo>
                        <a:cubicBezTo>
                          <a:pt x="-68047" y="323429"/>
                          <a:pt x="47636" y="23148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 err="1">
                <a:solidFill>
                  <a:schemeClr val="tx1"/>
                </a:solidFill>
                <a:latin typeface="Ink Free" panose="03080402000500000000" pitchFamily="66" charset="0"/>
                <a:sym typeface="Wingdings" panose="05000000000000000000" pitchFamily="2" charset="2"/>
              </a:rPr>
              <a:t>Quel est alors </a:t>
            </a:r>
            <a:r>
              <a:rPr lang="fr-CA" sz="2000" dirty="0">
                <a:solidFill>
                  <a:schemeClr val="tx1"/>
                </a:solidFill>
                <a:latin typeface="Ink Free" panose="03080402000500000000" pitchFamily="66" charset="0"/>
                <a:sym typeface="Wingdings" panose="05000000000000000000" pitchFamily="2" charset="2"/>
              </a:rPr>
              <a:t>l'impact sur le </a:t>
            </a:r>
            <a:r>
              <a:rPr lang="fr-CA" sz="2000" b="1" dirty="0" err="1">
                <a:solidFill>
                  <a:schemeClr val="tx1"/>
                </a:solidFill>
                <a:latin typeface="Ink Free" panose="03080402000500000000" pitchFamily="66" charset="0"/>
                <a:sym typeface="Wingdings" panose="05000000000000000000" pitchFamily="2" charset="2"/>
              </a:rPr>
              <a:t>prix </a:t>
            </a:r>
            <a:r>
              <a:rPr lang="fr-CA" sz="2000" dirty="0">
                <a:solidFill>
                  <a:schemeClr val="tx1"/>
                </a:solidFill>
                <a:latin typeface="Ink Free" panose="03080402000500000000" pitchFamily="66" charset="0"/>
                <a:sym typeface="Wingdings" panose="05000000000000000000" pitchFamily="2" charset="2"/>
              </a:rPr>
              <a:t>de </a:t>
            </a:r>
            <a:r>
              <a:rPr lang="fr-CA" sz="2000" dirty="0" err="1">
                <a:solidFill>
                  <a:schemeClr val="tx1"/>
                </a:solidFill>
                <a:latin typeface="Ink Free" panose="03080402000500000000" pitchFamily="66" charset="0"/>
                <a:sym typeface="Wingdings" panose="05000000000000000000" pitchFamily="2" charset="2"/>
              </a:rPr>
              <a:t>cet </a:t>
            </a:r>
            <a:r>
              <a:rPr lang="fr-CA" sz="2000" dirty="0">
                <a:solidFill>
                  <a:schemeClr val="tx1"/>
                </a:solidFill>
                <a:latin typeface="Ink Free" panose="03080402000500000000" pitchFamily="66" charset="0"/>
                <a:sym typeface="Wingdings" panose="05000000000000000000" pitchFamily="2" charset="2"/>
              </a:rPr>
              <a:t>actif ?</a:t>
            </a:r>
            <a:endParaRPr lang="fr-CA" sz="2000" dirty="0"/>
          </a:p>
        </p:txBody>
      </p:sp>
      <p:pic>
        <p:nvPicPr>
          <p:cNvPr id="14" name="Picture 2" descr="Important">
            <a:extLst>
              <a:ext uri="{FF2B5EF4-FFF2-40B4-BE49-F238E27FC236}">
                <a16:creationId xmlns:a16="http://schemas.microsoft.com/office/drawing/2014/main" id="{AAC9C880-9C19-A0C4-FFE1-6BFAF26D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202" y="257187"/>
            <a:ext cx="1015163" cy="101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Thinking">
            <a:extLst>
              <a:ext uri="{FF2B5EF4-FFF2-40B4-BE49-F238E27FC236}">
                <a16:creationId xmlns:a16="http://schemas.microsoft.com/office/drawing/2014/main" id="{DB227B1C-02C7-8708-7A4F-26D8925AB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3924" y="3560286"/>
            <a:ext cx="1440160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C3A7384-D6B2-2062-AA9E-0F646B621426}"/>
              </a:ext>
            </a:extLst>
          </p:cNvPr>
          <p:cNvSpPr txBox="1"/>
          <p:nvPr/>
        </p:nvSpPr>
        <p:spPr>
          <a:xfrm>
            <a:off x="191344" y="1336675"/>
            <a:ext cx="11471472" cy="214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06" marR="0" lvl="0" indent="-274306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fr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/>
                <a:ea typeface="+mn-ea"/>
                <a:cs typeface="+mn-cs"/>
              </a:rPr>
              <a:t>Nous pouvons tirer deux </a:t>
            </a:r>
            <a:r>
              <a:rPr kumimoji="0" lang="fr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/>
                <a:ea typeface="+mn-ea"/>
                <a:cs typeface="+mn-cs"/>
              </a:rPr>
              <a:t>enseignements essentiels </a:t>
            </a:r>
            <a:r>
              <a:rPr kumimoji="0" lang="fr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/>
                <a:ea typeface="+mn-ea"/>
                <a:cs typeface="+mn-cs"/>
              </a:rPr>
              <a:t>de l'histoire des marchés financiers...</a:t>
            </a:r>
          </a:p>
          <a:p>
            <a:pPr marL="274306" marR="0" lvl="0" indent="-274306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Char char=""/>
              <a:tabLst/>
              <a:defRPr/>
            </a:pPr>
            <a:endParaRPr kumimoji="0" lang="fr-CA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/>
              <a:ea typeface="+mn-ea"/>
              <a:cs typeface="+mn-cs"/>
            </a:endParaRPr>
          </a:p>
          <a:p>
            <a:pPr marL="274306" marR="0" lvl="0" indent="-274306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fr-CA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/>
                <a:ea typeface="+mn-ea"/>
                <a:cs typeface="+mn-cs"/>
              </a:rPr>
              <a:t>Principe n° 1 </a:t>
            </a:r>
            <a:r>
              <a:rPr kumimoji="0" lang="fr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/>
                <a:ea typeface="+mn-ea"/>
                <a:cs typeface="+mn-cs"/>
              </a:rPr>
              <a:t>: les actifs risqués génèrent une prime de risque</a:t>
            </a:r>
          </a:p>
          <a:p>
            <a:pPr marL="548613" marR="0" lvl="1" indent="-274306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Pct val="70000"/>
              <a:buFont typeface="Wingdings"/>
              <a:buChar char=""/>
              <a:tabLst/>
              <a:defRPr/>
            </a:pPr>
            <a:r>
              <a:rPr kumimoji="0" lang="fr-CA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 panose="02040502050405020303"/>
                <a:ea typeface="+mn-ea"/>
                <a:cs typeface="+mn-cs"/>
              </a:rPr>
              <a:t>Plus le titre est risqué, plus la prime de risque est élevée, plus le rendement attendu est élevé</a:t>
            </a:r>
          </a:p>
        </p:txBody>
      </p:sp>
    </p:spTree>
    <p:extLst>
      <p:ext uri="{BB962C8B-B14F-4D97-AF65-F5344CB8AC3E}">
        <p14:creationId xmlns:p14="http://schemas.microsoft.com/office/powerpoint/2010/main" val="1354708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F8AE-B429-4229-B8A7-951038C69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85421"/>
            <a:ext cx="11593288" cy="758952"/>
          </a:xfrm>
        </p:spPr>
        <p:txBody>
          <a:bodyPr>
            <a:noAutofit/>
          </a:bodyPr>
          <a:lstStyle/>
          <a:p>
            <a:r>
              <a:rPr lang="en-CA" sz="2800" dirty="0">
                <a:solidFill>
                  <a:srgbClr val="FF0000"/>
                </a:solidFill>
              </a:rPr>
              <a:t>Nous disons qu'un investisseur type est averse au risque... </a:t>
            </a:r>
            <a:br>
              <a:rPr lang="en-CA" sz="2800" dirty="0">
                <a:solidFill>
                  <a:srgbClr val="FF0000"/>
                </a:solidFill>
              </a:rPr>
            </a:br>
            <a:r>
              <a:rPr lang="en-CA" sz="2800" dirty="0" err="1">
                <a:solidFill>
                  <a:srgbClr val="FF0000"/>
                </a:solidFill>
              </a:rPr>
              <a:t>Qu'est-ce</a:t>
            </a:r>
            <a:r>
              <a:rPr lang="en-CA" sz="2800" dirty="0">
                <a:solidFill>
                  <a:srgbClr val="FF0000"/>
                </a:solidFill>
              </a:rPr>
              <a:t> qu'un investisseur averse au risque ?</a:t>
            </a:r>
            <a:endParaRPr lang="fr-CA" sz="28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7E1DFC-DCD9-4EC2-B0E6-8938830D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8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8F871B-E90F-A981-83CC-1EB303AF43CF}"/>
              </a:ext>
            </a:extLst>
          </p:cNvPr>
          <p:cNvSpPr/>
          <p:nvPr/>
        </p:nvSpPr>
        <p:spPr>
          <a:xfrm>
            <a:off x="191344" y="1766494"/>
            <a:ext cx="11809312" cy="2814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84191" lvl="1"/>
            <a:r>
              <a:rPr lang="en-CA" sz="2800" dirty="0">
                <a:solidFill>
                  <a:schemeClr val="tx1"/>
                </a:solidFill>
                <a:latin typeface="Ink Free" panose="03080402000500000000" pitchFamily="66" charset="0"/>
              </a:rPr>
              <a:t>L'aversion au risque désigne </a:t>
            </a:r>
            <a:r>
              <a:rPr lang="en-CA" sz="2800" b="1" dirty="0">
                <a:solidFill>
                  <a:schemeClr val="tx1"/>
                </a:solidFill>
                <a:latin typeface="Ink Free" panose="03080402000500000000" pitchFamily="66" charset="0"/>
              </a:rPr>
              <a:t>le comportement d'un individu </a:t>
            </a:r>
            <a:r>
              <a:rPr lang="en-CA" sz="2800" dirty="0">
                <a:solidFill>
                  <a:schemeClr val="tx1"/>
                </a:solidFill>
                <a:latin typeface="Ink Free" panose="03080402000500000000" pitchFamily="66" charset="0"/>
              </a:rPr>
              <a:t>face à </a:t>
            </a:r>
            <a:r>
              <a:rPr lang="en-CA" sz="2800" b="1" dirty="0">
                <a:solidFill>
                  <a:schemeClr val="tx1"/>
                </a:solidFill>
                <a:latin typeface="Ink Free" panose="03080402000500000000" pitchFamily="66" charset="0"/>
              </a:rPr>
              <a:t>l'incertitude</a:t>
            </a:r>
            <a:r>
              <a:rPr lang="en-CA" sz="2800" dirty="0">
                <a:solidFill>
                  <a:schemeClr val="tx1"/>
                </a:solidFill>
                <a:latin typeface="Ink Free" panose="03080402000500000000" pitchFamily="66" charset="0"/>
              </a:rPr>
              <a:t>. Que choisirez-vous ?  Tenter votre chance ou un résultat </a:t>
            </a:r>
            <a:r>
              <a:rPr lang="en-CA" sz="2800" dirty="0" err="1">
                <a:solidFill>
                  <a:schemeClr val="tx1"/>
                </a:solidFill>
                <a:latin typeface="Ink Free" panose="03080402000500000000" pitchFamily="66" charset="0"/>
              </a:rPr>
              <a:t>garanti</a:t>
            </a:r>
            <a:r>
              <a:rPr lang="en-CA" sz="2800" dirty="0">
                <a:solidFill>
                  <a:schemeClr val="tx1"/>
                </a:solidFill>
                <a:latin typeface="Ink Free" panose="03080402000500000000" pitchFamily="66" charset="0"/>
              </a:rPr>
              <a:t> ?</a:t>
            </a:r>
          </a:p>
          <a:p>
            <a:pPr marL="584191" lvl="1"/>
            <a:endParaRPr lang="en-CA" sz="2800" dirty="0">
              <a:solidFill>
                <a:schemeClr val="tx1"/>
              </a:solidFill>
              <a:latin typeface="Ink Free" panose="03080402000500000000" pitchFamily="66" charset="0"/>
            </a:endParaRPr>
          </a:p>
          <a:p>
            <a:pPr marL="584191" lvl="1"/>
            <a:r>
              <a:rPr lang="en-CA" sz="2800" b="1" dirty="0">
                <a:solidFill>
                  <a:schemeClr val="tx1"/>
                </a:solidFill>
                <a:latin typeface="Ink Free" panose="03080402000500000000" pitchFamily="66" charset="0"/>
              </a:rPr>
              <a:t>🎲</a:t>
            </a:r>
            <a:r>
              <a:rPr lang="en-CA" sz="2800" b="1" u="sng" dirty="0">
                <a:solidFill>
                  <a:schemeClr val="tx1"/>
                </a:solidFill>
                <a:latin typeface="Ink Free" panose="03080402000500000000" pitchFamily="66" charset="0"/>
              </a:rPr>
              <a:t>Option 1 </a:t>
            </a:r>
            <a:r>
              <a:rPr lang="en-CA" sz="2800" dirty="0">
                <a:solidFill>
                  <a:schemeClr val="tx1"/>
                </a:solidFill>
                <a:latin typeface="Ink Free" panose="03080402000500000000" pitchFamily="66" charset="0"/>
              </a:rPr>
              <a:t>: résultat garanti de 100 $</a:t>
            </a:r>
          </a:p>
          <a:p>
            <a:pPr marL="584191" lvl="1"/>
            <a:r>
              <a:rPr lang="en-CA" sz="2800" b="1" dirty="0">
                <a:solidFill>
                  <a:schemeClr val="tx1"/>
                </a:solidFill>
                <a:latin typeface="Ink Free" panose="03080402000500000000" pitchFamily="66" charset="0"/>
              </a:rPr>
              <a:t>💰</a:t>
            </a:r>
            <a:r>
              <a:rPr lang="en-CA" sz="2800" b="1" u="sng" dirty="0">
                <a:solidFill>
                  <a:schemeClr val="tx1"/>
                </a:solidFill>
                <a:latin typeface="Ink Free" panose="03080402000500000000" pitchFamily="66" charset="0"/>
              </a:rPr>
              <a:t>Option 2 </a:t>
            </a:r>
            <a:r>
              <a:rPr lang="en-CA" sz="2800" dirty="0">
                <a:solidFill>
                  <a:schemeClr val="tx1"/>
                </a:solidFill>
                <a:latin typeface="Ink Free" panose="03080402000500000000" pitchFamily="66" charset="0"/>
              </a:rPr>
              <a:t>: parier pour gagner soit 200 $, soit 0 $ 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3FD846-7F9B-DF03-7ECD-F80FC57CA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312" y="4437112"/>
            <a:ext cx="2839894" cy="201622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40604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Comment </a:t>
            </a:r>
            <a:r>
              <a:rPr lang="fr-CA" dirty="0" err="1">
                <a:solidFill>
                  <a:srgbClr val="FF0000"/>
                </a:solidFill>
              </a:rPr>
              <a:t>calculer </a:t>
            </a:r>
            <a:r>
              <a:rPr lang="fr-CA" dirty="0">
                <a:solidFill>
                  <a:srgbClr val="FF0000"/>
                </a:solidFill>
              </a:rPr>
              <a:t>le rendement et </a:t>
            </a:r>
            <a:r>
              <a:rPr lang="fr-CA" dirty="0" err="1">
                <a:solidFill>
                  <a:srgbClr val="FF0000"/>
                </a:solidFill>
              </a:rPr>
              <a:t>le risque </a:t>
            </a:r>
            <a:r>
              <a:rPr lang="fr-CA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9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10461" y="919590"/>
            <a:ext cx="10135299" cy="56418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A" sz="2800" b="1" u="sng" dirty="0"/>
          </a:p>
          <a:p>
            <a:r>
              <a:rPr lang="en-CA" sz="2800" dirty="0">
                <a:solidFill>
                  <a:prstClr val="black"/>
                </a:solidFill>
              </a:rPr>
              <a:t>3 situations différentes</a:t>
            </a:r>
          </a:p>
          <a:p>
            <a:pPr marL="788670" lvl="1" indent="-514350">
              <a:buAutoNum type="alphaUcPeriod"/>
            </a:pPr>
            <a:r>
              <a:rPr lang="fr-CA" sz="2800" dirty="0"/>
              <a:t>Données historiques et observées (</a:t>
            </a:r>
            <a:r>
              <a:rPr lang="fr-CA" sz="2800" b="1" dirty="0"/>
              <a:t>connues</a:t>
            </a:r>
            <a:r>
              <a:rPr lang="fr-CA" sz="2800" dirty="0"/>
              <a:t>)</a:t>
            </a:r>
          </a:p>
          <a:p>
            <a:pPr marL="788670" lvl="1" indent="-514350">
              <a:buAutoNum type="alphaUcPeriod"/>
            </a:pPr>
            <a:r>
              <a:rPr lang="fr-CA" sz="2800" dirty="0"/>
              <a:t>Données futures projetées (</a:t>
            </a:r>
            <a:r>
              <a:rPr lang="fr-CA" sz="2800" b="1" dirty="0"/>
              <a:t>inconnues</a:t>
            </a:r>
            <a:r>
              <a:rPr lang="fr-CA" sz="2800" dirty="0"/>
              <a:t>)</a:t>
            </a:r>
          </a:p>
          <a:p>
            <a:pPr marL="788670" lvl="1" indent="-514350">
              <a:buAutoNum type="alphaUcPeriod"/>
            </a:pPr>
            <a:r>
              <a:rPr lang="fr-CA" sz="2800" dirty="0"/>
              <a:t>Portefeuille</a:t>
            </a:r>
          </a:p>
          <a:p>
            <a:endParaRPr lang="fr-CA" sz="2800" dirty="0">
              <a:solidFill>
                <a:prstClr val="black"/>
              </a:solidFill>
            </a:endParaRPr>
          </a:p>
          <a:p>
            <a:pPr marL="274320" lvl="1" indent="0">
              <a:buNone/>
            </a:pPr>
            <a:endParaRPr lang="fr-CA" sz="2400" dirty="0"/>
          </a:p>
          <a:p>
            <a:endParaRPr lang="fr-CA" sz="2800" dirty="0"/>
          </a:p>
          <a:p>
            <a:pPr lvl="1"/>
            <a:endParaRPr lang="fr-CA" sz="2400" dirty="0"/>
          </a:p>
        </p:txBody>
      </p:sp>
      <p:pic>
        <p:nvPicPr>
          <p:cNvPr id="5" name="Picture 2" descr="The problem with official statistics – and three ways to make them better">
            <a:extLst>
              <a:ext uri="{FF2B5EF4-FFF2-40B4-BE49-F238E27FC236}">
                <a16:creationId xmlns:a16="http://schemas.microsoft.com/office/drawing/2014/main" id="{57CDA91A-A369-4AF0-A502-6D8AF185F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072" y="3140968"/>
            <a:ext cx="3870727" cy="25757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29655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7C74E0-4F1E-A67F-CCA9-BFC47D4D8AB1}"/>
              </a:ext>
            </a:extLst>
          </p:cNvPr>
          <p:cNvSpPr/>
          <p:nvPr/>
        </p:nvSpPr>
        <p:spPr>
          <a:xfrm>
            <a:off x="191344" y="2492896"/>
            <a:ext cx="11809312" cy="23762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A - Données historiques et observées (</a:t>
            </a:r>
            <a:r>
              <a:rPr lang="fr-CA" b="1" dirty="0">
                <a:solidFill>
                  <a:srgbClr val="FF0000"/>
                </a:solidFill>
              </a:rPr>
              <a:t>connues</a:t>
            </a:r>
            <a:r>
              <a:rPr lang="fr-CA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10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35360" y="1527048"/>
                <a:ext cx="11305256" cy="5330952"/>
              </a:xfrm>
            </p:spPr>
            <p:txBody>
              <a:bodyPr>
                <a:normAutofit/>
              </a:bodyPr>
              <a:lstStyle/>
              <a:p>
                <a:r>
                  <a:rPr lang="fr-CA" dirty="0" err="1"/>
                  <a:t>Pour </a:t>
                </a:r>
                <a:r>
                  <a:rPr lang="fr-CA" dirty="0"/>
                  <a:t>calculer le risque et le rendement </a:t>
                </a:r>
                <a:r>
                  <a:rPr lang="fr-CA" dirty="0" err="1"/>
                  <a:t>à partir </a:t>
                </a:r>
                <a:r>
                  <a:rPr lang="fr-CA" dirty="0"/>
                  <a:t>des données </a:t>
                </a:r>
                <a:r>
                  <a:rPr lang="fr-CA" dirty="0" err="1"/>
                  <a:t>historiques</a:t>
                </a:r>
                <a:r>
                  <a:rPr lang="fr-CA" dirty="0"/>
                  <a:t>, nous utilisons les formules suivantes :</a:t>
                </a:r>
              </a:p>
              <a:p>
                <a:pPr lvl="1"/>
                <a:r>
                  <a:rPr lang="fr-CA" u="sng" dirty="0"/>
                  <a:t>Rendement </a:t>
                </a:r>
                <a:r>
                  <a:rPr lang="fr-CA" dirty="0"/>
                  <a:t>moyen d'un titre </a:t>
                </a:r>
                <a:r>
                  <a:rPr lang="fr-CA" i="1" dirty="0"/>
                  <a:t>j </a:t>
                </a:r>
                <a:r>
                  <a:rPr lang="fr-CA" dirty="0"/>
                  <a:t>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3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sz="3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sz="3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fr-CA" sz="3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A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fr-CA" sz="32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CA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fr-CA" sz="32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fr-CA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fr-CA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fr-CA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fr-CA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fr-CA" dirty="0"/>
              </a:p>
              <a:p>
                <a:pPr lvl="1"/>
                <a:endParaRPr lang="fr-CA" dirty="0"/>
              </a:p>
              <a:p>
                <a:pPr lvl="1"/>
                <a:r>
                  <a:rPr lang="fr-CA" u="sng" dirty="0"/>
                  <a:t>Risque total : </a:t>
                </a:r>
                <a:r>
                  <a:rPr lang="fr-CA" dirty="0"/>
                  <a:t>variance pour un titre </a:t>
                </a:r>
                <a:r>
                  <a:rPr lang="fr-CA" i="1" dirty="0"/>
                  <a:t>j = Var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CA" dirty="0"/>
                  <a:t>) </a:t>
                </a:r>
                <a:r>
                  <a:rPr lang="fr-CA" sz="28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l-GR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l-GR" sz="28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28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GB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  <m:sup/>
                    </m:sSup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CA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A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fr-CA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CA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fr-CA" sz="2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fr-CA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CA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fr-CA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CA" sz="28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fr-CA" sz="2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fr-CA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fr-CA" sz="2800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fr-CA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CA" sz="28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fr-CA" sz="28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fr-CA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fr-CA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CA" sz="2800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den>
                    </m:f>
                  </m:oMath>
                </a14:m>
                <a:endParaRPr lang="fr-CA" sz="1800" dirty="0"/>
              </a:p>
              <a:p>
                <a:pPr marL="274320" lvl="1" indent="0">
                  <a:buNone/>
                </a:pPr>
                <a:r>
                  <a:rPr lang="fr-CA" sz="1800" dirty="0"/>
                  <a:t>    </a:t>
                </a:r>
              </a:p>
              <a:p>
                <a:pPr marL="274320" lvl="1" indent="0">
                  <a:buNone/>
                </a:pPr>
                <a:r>
                  <a:rPr lang="fr-CA" sz="1800" dirty="0"/>
                  <a:t>où</a:t>
                </a:r>
              </a:p>
              <a:p>
                <a:pPr marL="274320" lvl="1" indent="0">
                  <a:buNone/>
                </a:pPr>
                <a:r>
                  <a:rPr lang="fr-CA" sz="180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CA" sz="1800" dirty="0"/>
                  <a:t> = : rendement</a:t>
                </a:r>
                <a:r>
                  <a:rPr lang="fr-CA" sz="1800" dirty="0" err="1"/>
                  <a:t> historique </a:t>
                </a:r>
                <a:r>
                  <a:rPr lang="fr-CA" sz="1800" dirty="0"/>
                  <a:t>au moment t=i</a:t>
                </a:r>
              </a:p>
              <a:p>
                <a:pPr marL="274320" lvl="1" indent="0">
                  <a:buNone/>
                </a:pPr>
                <a:r>
                  <a:rPr lang="fr-CA" sz="1800" dirty="0"/>
                  <a:t>    i = 1, 2, ... n </a:t>
                </a:r>
                <a:r>
                  <a:rPr lang="fr-CA" sz="1800" dirty="0" err="1"/>
                  <a:t>où n = nombre de rendements </a:t>
                </a:r>
                <a:r>
                  <a:rPr lang="fr-CA" sz="1800" dirty="0"/>
                  <a:t>observés</a:t>
                </a: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35360" y="1527048"/>
                <a:ext cx="11305256" cy="5330952"/>
              </a:xfrm>
              <a:blipFill>
                <a:blip r:embed="rId3"/>
                <a:stretch>
                  <a:fillRect l="-539" t="-1144" r="-156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355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0EF54-6486-4729-848A-118E170B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94" y="267427"/>
            <a:ext cx="11597365" cy="758952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accent3">
                    <a:lumMod val="75000"/>
                  </a:schemeClr>
                </a:solidFill>
              </a:rPr>
              <a:t>Graphiquement, la variance se présente comme suit...</a:t>
            </a:r>
            <a:endParaRPr lang="fr-C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EB44BC-FA71-472B-9F7D-BE7BA26F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11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99997-F570-4411-806F-DE296AE153C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16607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Mesures statistiques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6400" y="1556792"/>
            <a:ext cx="11379200" cy="4854280"/>
          </a:xfrm>
        </p:spPr>
        <p:txBody>
          <a:bodyPr>
            <a:normAutofit/>
          </a:bodyPr>
          <a:lstStyle/>
          <a:p>
            <a:r>
              <a:rPr lang="fr-CA" dirty="0"/>
              <a:t>Donc, + la variance est grande, + le risque total est grand, + les rendements auront tendance à différer du rendement moyen. </a:t>
            </a:r>
          </a:p>
          <a:p>
            <a:pPr marL="0" indent="0">
              <a:buNone/>
            </a:pPr>
            <a:r>
              <a:rPr lang="fr-CA" sz="2800" dirty="0">
                <a:solidFill>
                  <a:srgbClr val="0F8D36"/>
                </a:solidFill>
                <a:latin typeface="Ink Free" panose="03080402000500000000" pitchFamily="66" charset="0"/>
              </a:rPr>
              <a:t>👉 </a:t>
            </a:r>
            <a:r>
              <a:rPr lang="fr-CA" dirty="0">
                <a:latin typeface="Ink Free" panose="03080402000500000000" pitchFamily="66" charset="0"/>
              </a:rPr>
              <a:t>On dit que les rendements sont « </a:t>
            </a:r>
            <a:r>
              <a:rPr lang="fr-CA" u="sng" dirty="0">
                <a:latin typeface="Ink Free" panose="03080402000500000000" pitchFamily="66" charset="0"/>
              </a:rPr>
              <a:t>volatiles </a:t>
            </a:r>
            <a:r>
              <a:rPr lang="fr-CA" dirty="0">
                <a:latin typeface="Ink Free" panose="03080402000500000000" pitchFamily="66" charset="0"/>
              </a:rPr>
              <a:t>»</a:t>
            </a:r>
          </a:p>
          <a:p>
            <a:endParaRPr lang="fr-CA" dirty="0"/>
          </a:p>
          <a:p>
            <a:r>
              <a:rPr lang="fr-CA" dirty="0"/>
              <a:t>On peut calculer l’écart-type ou la variance avec:</a:t>
            </a:r>
          </a:p>
          <a:p>
            <a:pPr lvl="1"/>
            <a:r>
              <a:rPr lang="fr-CA" dirty="0"/>
              <a:t>Les données antérieures / données passées et observées</a:t>
            </a:r>
          </a:p>
          <a:p>
            <a:pPr lvl="1"/>
            <a:r>
              <a:rPr lang="fr-CA" dirty="0"/>
              <a:t>Les données futures prévues</a:t>
            </a:r>
          </a:p>
          <a:p>
            <a:pPr lvl="1"/>
            <a:endParaRPr lang="fr-CA" dirty="0"/>
          </a:p>
          <a:p>
            <a:pPr marL="0" indent="0">
              <a:buNone/>
            </a:pPr>
            <a:r>
              <a:rPr lang="fr-CA" dirty="0"/>
              <a:t>    Pourquoi utiliser l’écart-type ?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12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5" name="Picture 2" descr="Critical ">
            <a:extLst>
              <a:ext uri="{FF2B5EF4-FFF2-40B4-BE49-F238E27FC236}">
                <a16:creationId xmlns:a16="http://schemas.microsoft.com/office/drawing/2014/main" id="{942019EE-4927-820E-7F80-216C703E4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5157192"/>
            <a:ext cx="525717" cy="52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567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B0C1D5-EFA7-0406-9954-CACAB1AEC812}"/>
              </a:ext>
            </a:extLst>
          </p:cNvPr>
          <p:cNvSpPr/>
          <p:nvPr/>
        </p:nvSpPr>
        <p:spPr>
          <a:xfrm>
            <a:off x="263352" y="3645024"/>
            <a:ext cx="11709464" cy="1512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B - Données futures projetées (</a:t>
            </a:r>
            <a:r>
              <a:rPr lang="fr-CA" b="1" dirty="0">
                <a:solidFill>
                  <a:srgbClr val="FF0000"/>
                </a:solidFill>
              </a:rPr>
              <a:t>inconnues</a:t>
            </a:r>
            <a:r>
              <a:rPr lang="fr-CA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13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02339" y="1527048"/>
                <a:ext cx="11379200" cy="4782272"/>
              </a:xfrm>
            </p:spPr>
            <p:txBody>
              <a:bodyPr>
                <a:normAutofit fontScale="92500"/>
              </a:bodyPr>
              <a:lstStyle/>
              <a:p>
                <a:r>
                  <a:rPr lang="en-CA" sz="2800" dirty="0" err="1"/>
                  <a:t>Lorsque</a:t>
                </a:r>
                <a:r>
                  <a:rPr lang="en-CA" sz="2800" dirty="0"/>
                  <a:t> nous prévoyons le rendement attendu, nous créons différents scénarios auxquels nous avons associé des probabilités p</a:t>
                </a:r>
                <a:r>
                  <a:rPr lang="en-CA" sz="2800" i="1" baseline="-25000" dirty="0"/>
                  <a:t>i</a:t>
                </a:r>
                <a:r>
                  <a:rPr lang="en-CA" sz="2800" dirty="0"/>
                  <a:t> .</a:t>
                </a:r>
              </a:p>
              <a:p>
                <a:pPr marL="0" indent="0">
                  <a:buNone/>
                </a:pPr>
                <a:endParaRPr lang="en-CA" sz="2800" dirty="0"/>
              </a:p>
              <a:p>
                <a:r>
                  <a:rPr lang="fr-CA" dirty="0" err="1"/>
                  <a:t>Nous </a:t>
                </a:r>
                <a:r>
                  <a:rPr lang="fr-CA" dirty="0"/>
                  <a:t>utilisons les formules suivantes :</a:t>
                </a:r>
              </a:p>
              <a:p>
                <a:endParaRPr lang="fr-CA" dirty="0"/>
              </a:p>
              <a:p>
                <a:pPr marL="548640" marR="0" lvl="1" indent="-27432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0504D"/>
                  </a:buClr>
                  <a:buSzPct val="70000"/>
                  <a:buFont typeface="Wingdings"/>
                  <a:buChar char=""/>
                  <a:tabLst/>
                  <a:defRPr/>
                </a:pPr>
                <a:r>
                  <a:rPr kumimoji="0" lang="fr-CA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Rendement espéré </a:t>
                </a:r>
                <a:r>
                  <a:rPr kumimoji="0" lang="fr-C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du titre j = 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CA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CA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GB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fr-C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fr-CA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fr-CA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fr-CA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fr-CA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kumimoji="0" lang="fr-CA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fr-CA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𝑝𝑟𝑜𝑏𝑎𝑏𝑖𝑙𝑖𝑡</m:t>
                            </m:r>
                            <m:r>
                              <a:rPr kumimoji="0" lang="fr-CA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é</m:t>
                            </m:r>
                          </m:e>
                          <m:sub>
                            <m:r>
                              <a:rPr kumimoji="0" lang="fr-CA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fr-CA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fr-CA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fr-CA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0" lang="fr-CA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fr-CA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fr-CA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kumimoji="0" lang="fr-CA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endParaRPr>
              </a:p>
              <a:p>
                <a:pPr marL="548640" marR="0" lvl="1" indent="-27432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0504D"/>
                  </a:buClr>
                  <a:buSzPct val="70000"/>
                  <a:buFont typeface="Wingdings"/>
                  <a:buChar char=""/>
                  <a:tabLst/>
                  <a:defRPr/>
                </a:pPr>
                <a:endParaRPr kumimoji="0" lang="fr-CA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endParaRPr>
              </a:p>
              <a:p>
                <a:pPr marL="548640" marR="0" lvl="1" indent="-27432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0504D"/>
                  </a:buClr>
                  <a:buSzPct val="70000"/>
                  <a:buFont typeface="Wingdings"/>
                  <a:buChar char=""/>
                  <a:tabLst/>
                  <a:defRPr/>
                </a:pPr>
                <a:r>
                  <a:rPr kumimoji="0" lang="fr-CA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Risque total.</a:t>
                </a:r>
                <a:r>
                  <a:rPr kumimoji="0" lang="fr-CA" sz="2400" b="1" i="0" u="none" strike="noStrike" kern="1200" cap="none" spc="0" normalizeH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 </a:t>
                </a:r>
                <a:r>
                  <a:rPr kumimoji="0" lang="fr-C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Variance du titre j =</a:t>
                </a:r>
                <a:r>
                  <a:rPr kumimoji="0" lang="fr-CA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 Var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CA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CA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GB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  <m:r>
                      <a:rPr kumimoji="0" lang="en-GB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fr-C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fr-CA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fr-CA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fr-CA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fr-CA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kumimoji="0" lang="fr-CA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fr-CA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𝑝𝑟𝑜𝑏𝑎𝑏𝑖𝑙𝑖𝑡</m:t>
                            </m:r>
                            <m:r>
                              <a:rPr kumimoji="0" lang="fr-CA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é</m:t>
                            </m:r>
                          </m:e>
                          <m:sub>
                            <m:r>
                              <a:rPr kumimoji="0" lang="fr-CA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fr-CA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fr-CA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fr-CA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sSup>
                          <m:sSupPr>
                            <m:ctrlPr>
                              <a:rPr kumimoji="0" lang="fr-CA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fr-CA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fr-CA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CA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kumimoji="0" lang="fr-CA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fr-CA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−</m:t>
                            </m:r>
                            <m:r>
                              <a:rPr kumimoji="0" lang="fr-CA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𝐸</m:t>
                            </m:r>
                            <m:r>
                              <a:rPr kumimoji="0" lang="fr-CA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fr-CA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CA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kumimoji="0" lang="en-GB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1F497D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kumimoji="0" lang="fr-CA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))</m:t>
                            </m:r>
                          </m:e>
                          <m:sup>
                            <m:r>
                              <a:rPr kumimoji="0" lang="fr-CA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0" lang="fr-CA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endParaRPr>
              </a:p>
              <a:p>
                <a:pPr marL="27432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0504D"/>
                  </a:buClr>
                  <a:buSzPct val="70000"/>
                  <a:buFont typeface="Wingdings"/>
                  <a:buNone/>
                  <a:tabLst/>
                  <a:defRPr/>
                </a:pPr>
                <a:r>
                  <a:rPr kumimoji="0" lang="fr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   ou,</a:t>
                </a:r>
              </a:p>
              <a:p>
                <a:pPr marL="27432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0504D"/>
                  </a:buClr>
                  <a:buSzPct val="70000"/>
                  <a:buFont typeface="Wingdings"/>
                  <a:buNone/>
                  <a:tabLst/>
                  <a:defRPr/>
                </a:pPr>
                <a:r>
                  <a:rPr kumimoji="0" lang="fr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CA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GB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en-GB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fr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 = rendement attendu du titre j selon le scénario i</a:t>
                </a:r>
              </a:p>
              <a:p>
                <a:pPr marL="27432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0504D"/>
                  </a:buClr>
                  <a:buSzPct val="70000"/>
                  <a:buFont typeface="Wingdings"/>
                  <a:buNone/>
                  <a:tabLst/>
                  <a:defRPr/>
                </a:pPr>
                <a:r>
                  <a:rPr kumimoji="0" lang="fr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    i= 1,2,…n et n = nombre de scénarios observes</a:t>
                </a:r>
              </a:p>
              <a:p>
                <a:pPr marL="0" indent="0">
                  <a:buNone/>
                </a:pPr>
                <a:endParaRPr lang="fr-CA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02339" y="1527048"/>
                <a:ext cx="11379200" cy="4782272"/>
              </a:xfrm>
              <a:blipFill>
                <a:blip r:embed="rId3"/>
                <a:stretch>
                  <a:fillRect l="-536" t="-127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306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C - Portefeuille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14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91343" y="1527048"/>
            <a:ext cx="11590195" cy="4926288"/>
          </a:xfrm>
        </p:spPr>
        <p:txBody>
          <a:bodyPr>
            <a:normAutofit/>
          </a:bodyPr>
          <a:lstStyle/>
          <a:p>
            <a:r>
              <a:rPr lang="fr-CA" dirty="0" err="1"/>
              <a:t>Les investisseurs </a:t>
            </a:r>
            <a:r>
              <a:rPr lang="fr-CA" dirty="0"/>
              <a:t>ont tendance à </a:t>
            </a:r>
            <a:r>
              <a:rPr lang="fr-CA" dirty="0" err="1"/>
              <a:t>posséder </a:t>
            </a:r>
            <a:r>
              <a:rPr lang="fr-CA" dirty="0"/>
              <a:t>plus </a:t>
            </a:r>
            <a:r>
              <a:rPr lang="fr-CA" dirty="0" err="1"/>
              <a:t>d'</a:t>
            </a:r>
            <a:r>
              <a:rPr lang="fr-CA" dirty="0"/>
              <a:t>une action, </a:t>
            </a:r>
            <a:r>
              <a:rPr lang="fr-CA" dirty="0" err="1"/>
              <a:t>obligation ou autre titre </a:t>
            </a:r>
            <a:r>
              <a:rPr lang="fr-CA" dirty="0"/>
              <a:t>! </a:t>
            </a:r>
            <a:r>
              <a:rPr lang="fr-CA" dirty="0" err="1"/>
              <a:t>Ils possèdent </a:t>
            </a:r>
            <a:r>
              <a:rPr lang="fr-CA" dirty="0"/>
              <a:t>un </a:t>
            </a:r>
            <a:r>
              <a:rPr lang="fr-CA" b="1" dirty="0"/>
              <a:t>portefeuille d'actifs</a:t>
            </a:r>
            <a:r>
              <a:rPr lang="fr-CA" dirty="0"/>
              <a:t>...</a:t>
            </a:r>
          </a:p>
          <a:p>
            <a:endParaRPr lang="fr-CA" dirty="0"/>
          </a:p>
          <a:p>
            <a:r>
              <a:rPr lang="en-US" altLang="en-US" dirty="0"/>
              <a:t>Par conséquent, un </a:t>
            </a:r>
            <a:r>
              <a:rPr lang="en-US" altLang="en-US" b="1" dirty="0"/>
              <a:t>portefeuille est un ensemble d'actifs</a:t>
            </a:r>
            <a:r>
              <a:rPr lang="fr-CA" dirty="0"/>
              <a:t>... </a:t>
            </a:r>
          </a:p>
          <a:p>
            <a:endParaRPr lang="fr-CA" dirty="0"/>
          </a:p>
          <a:p>
            <a:r>
              <a:rPr lang="fr-CA" dirty="0">
                <a:solidFill>
                  <a:prstClr val="black"/>
                </a:solidFill>
              </a:rPr>
              <a:t>Comment calcule-t-on le rendement et le risque d'un portefeuille d'actifs?</a:t>
            </a:r>
            <a:endParaRPr lang="fr-CA" dirty="0"/>
          </a:p>
          <a:p>
            <a:endParaRPr lang="fr-CA" dirty="0"/>
          </a:p>
          <a:p>
            <a:endParaRPr lang="fr-CA" dirty="0"/>
          </a:p>
        </p:txBody>
      </p:sp>
      <p:pic>
        <p:nvPicPr>
          <p:cNvPr id="5" name="Picture 2" descr="Image result for financial portfolio icon">
            <a:extLst>
              <a:ext uri="{FF2B5EF4-FFF2-40B4-BE49-F238E27FC236}">
                <a16:creationId xmlns:a16="http://schemas.microsoft.com/office/drawing/2014/main" id="{A461BA83-EFB3-A8D3-6E54-F122FF9D59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98" b="23899"/>
          <a:stretch/>
        </p:blipFill>
        <p:spPr bwMode="auto">
          <a:xfrm>
            <a:off x="9336360" y="4513685"/>
            <a:ext cx="2247047" cy="163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879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5D0B0FC-F71D-54EA-221C-184FA468FC4E}"/>
              </a:ext>
            </a:extLst>
          </p:cNvPr>
          <p:cNvSpPr/>
          <p:nvPr/>
        </p:nvSpPr>
        <p:spPr>
          <a:xfrm>
            <a:off x="4655840" y="5013176"/>
            <a:ext cx="3745540" cy="504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2AD61-31AC-8257-3CCC-69A6DE23E34D}"/>
              </a:ext>
            </a:extLst>
          </p:cNvPr>
          <p:cNvSpPr/>
          <p:nvPr/>
        </p:nvSpPr>
        <p:spPr>
          <a:xfrm>
            <a:off x="2464743" y="2564904"/>
            <a:ext cx="7920881" cy="1656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Rendement du portefeuille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15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02339" y="1454080"/>
                <a:ext cx="11737304" cy="4926288"/>
              </a:xfrm>
            </p:spPr>
            <p:txBody>
              <a:bodyPr>
                <a:normAutofit/>
              </a:bodyPr>
              <a:lstStyle/>
              <a:p>
                <a:r>
                  <a:rPr lang="fr-CA" b="1" u="sng" dirty="0"/>
                  <a:t>Rendement </a:t>
                </a:r>
                <a:r>
                  <a:rPr lang="fr-CA" b="1" u="sng" dirty="0" err="1"/>
                  <a:t>attendu</a:t>
                </a:r>
                <a:r>
                  <a:rPr lang="fr-CA" dirty="0"/>
                  <a:t> du portefeuille :</a:t>
                </a:r>
              </a:p>
              <a:p>
                <a:pPr lvl="1"/>
                <a:r>
                  <a:rPr lang="fr-CA" dirty="0"/>
                  <a:t>Somme pondérée du rendement des titres qui le composent</a:t>
                </a:r>
              </a:p>
              <a:p>
                <a:pPr lvl="1"/>
                <a:endParaRPr lang="fr-CA" dirty="0"/>
              </a:p>
              <a:p>
                <a:pPr marL="27432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0504D"/>
                  </a:buClr>
                  <a:buSzPct val="70000"/>
                  <a:buFont typeface="Wingdings"/>
                  <a:buNone/>
                  <a:tabLst/>
                  <a:defRPr/>
                </a:pPr>
                <a:r>
                  <a:rPr kumimoji="0" lang="fr-CA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Rendement portefeuille 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CA" sz="2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CA" sz="22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𝑹</m:t>
                        </m:r>
                      </m:e>
                      <m:sub>
                        <m:r>
                          <a:rPr kumimoji="0" lang="en-GB" sz="22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𝑷</m:t>
                        </m:r>
                      </m:sub>
                    </m:sSub>
                  </m:oMath>
                </a14:m>
                <a:r>
                  <a:rPr kumimoji="0" lang="fr-CA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)</a:t>
                </a:r>
              </a:p>
              <a:p>
                <a:pPr marL="27432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0504D"/>
                  </a:buClr>
                  <a:buSzPct val="70000"/>
                  <a:buFont typeface="Wingdings"/>
                  <a:buNone/>
                  <a:tabLst/>
                  <a:defRPr/>
                </a:pPr>
                <a:r>
                  <a:rPr kumimoji="0" lang="fr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CA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CA" sz="2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𝑝𝑜𝑖𝑑𝑠</m:t>
                        </m:r>
                      </m:e>
                      <m:sub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kumimoji="0" lang="fr-CA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rPr>
                      <m:t>E</m:t>
                    </m:r>
                    <m:r>
                      <m:rPr>
                        <m:nor/>
                      </m:rPr>
                      <a:rPr kumimoji="0" lang="fr-CA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rPr>
                      <m:t>(</m:t>
                    </m:r>
                    <m:sSub>
                      <m:sSubPr>
                        <m:ctrlPr>
                          <a:rPr kumimoji="0" lang="fr-CA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CA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GB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kumimoji="0" lang="fr-CA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rPr>
                      <m:t>)</m:t>
                    </m:r>
                    <m:r>
                      <a:rPr kumimoji="0" lang="fr-CA" sz="2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 </m:t>
                    </m:r>
                    <m:sSub>
                      <m:sSubPr>
                        <m:ctrlPr>
                          <a:rPr kumimoji="0" lang="fr-CA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CA" sz="2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𝑝𝑜𝑖𝑑𝑠</m:t>
                        </m:r>
                      </m:e>
                      <m:sub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kumimoji="0" lang="fr-CA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rPr>
                      <m:t>E</m:t>
                    </m:r>
                    <m:r>
                      <m:rPr>
                        <m:nor/>
                      </m:rPr>
                      <a:rPr kumimoji="0" lang="fr-CA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rPr>
                      <m:t>(</m:t>
                    </m:r>
                    <m:sSub>
                      <m:sSubPr>
                        <m:ctrlPr>
                          <a:rPr kumimoji="0" lang="fr-CA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CA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GB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kumimoji="0" lang="fr-CA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rPr>
                      <m:t>)</m:t>
                    </m:r>
                    <m:r>
                      <a:rPr kumimoji="0" lang="fr-CA" sz="2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 …</m:t>
                    </m:r>
                  </m:oMath>
                </a14:m>
                <a:r>
                  <a:rPr kumimoji="0" lang="fr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CA" sz="2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CA" sz="22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𝑝𝑜𝑖𝑑𝑠</m:t>
                        </m:r>
                      </m:e>
                      <m:sub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kumimoji="0" lang="fr-CA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rPr>
                      <m:t>E</m:t>
                    </m:r>
                    <m:r>
                      <m:rPr>
                        <m:nor/>
                      </m:rPr>
                      <a:rPr kumimoji="0" lang="fr-CA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rPr>
                      <m:t>(</m:t>
                    </m:r>
                    <m:sSub>
                      <m:sSubPr>
                        <m:ctrlPr>
                          <a:rPr kumimoji="0" lang="fr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fr-CA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GB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kumimoji="0" lang="fr-CA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F497D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fr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 </a:t>
                </a:r>
              </a:p>
              <a:p>
                <a:pPr marL="27432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0504D"/>
                  </a:buClr>
                  <a:buSzPct val="70000"/>
                  <a:buFont typeface="Wingdings"/>
                  <a:buNone/>
                  <a:tabLst/>
                  <a:defRPr/>
                </a:pPr>
                <a:r>
                  <a:rPr kumimoji="0" lang="fr-CA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fr-CA" sz="2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fr-CA" sz="2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𝒊</m:t>
                        </m:r>
                        <m:r>
                          <a:rPr kumimoji="0" lang="fr-CA" sz="2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fr-CA" sz="2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0" lang="fr-CA" sz="2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kumimoji="0" lang="fr-CA" sz="22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GB" sz="2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𝒑𝒐𝒊𝒅𝒔</m:t>
                            </m:r>
                          </m:e>
                          <m:sub>
                            <m:r>
                              <a:rPr kumimoji="0" lang="fr-CA" sz="22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𝒊</m:t>
                            </m:r>
                          </m:sub>
                        </m:sSub>
                        <m:r>
                          <a:rPr kumimoji="0" lang="fr-CA" sz="2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fr-CA" sz="2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  <m:r>
                          <a:rPr kumimoji="0" lang="fr-CA" sz="22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GB" sz="22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𝑬</m:t>
                        </m:r>
                        <m:r>
                          <a:rPr kumimoji="0" lang="en-GB" sz="22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fr-CA" sz="22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GB" sz="22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𝑹</m:t>
                            </m:r>
                          </m:e>
                          <m:sub>
                            <m:r>
                              <a:rPr kumimoji="0" lang="fr-CA" sz="22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F497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𝒊</m:t>
                            </m:r>
                          </m:sub>
                        </m:sSub>
                        <m:r>
                          <a:rPr kumimoji="0" lang="en-GB" sz="22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F497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</m:nary>
                  </m:oMath>
                </a14:m>
                <a:endParaRPr lang="fr-CA" dirty="0"/>
              </a:p>
              <a:p>
                <a:pPr marL="548640" lvl="2" indent="0">
                  <a:buNone/>
                </a:pPr>
                <a:endParaRPr lang="fr-CA" dirty="0"/>
              </a:p>
              <a:p>
                <a:pPr marL="548640" lvl="2" indent="0">
                  <a:buNone/>
                </a:pPr>
                <a:r>
                  <a:rPr lang="fr-CA" dirty="0"/>
                  <a:t>O</a:t>
                </a:r>
                <a:r>
                  <a:rPr lang="fr-CA" dirty="0" err="1"/>
                  <a:t>ù</a:t>
                </a:r>
              </a:p>
              <a:p>
                <a:pPr marL="548640" lvl="2" indent="0">
                  <a:buNone/>
                </a:pPr>
                <a:r>
                  <a:rPr lang="fr-CA" dirty="0"/>
                  <a:t>i = 1,2... n et n = </a:t>
                </a:r>
                <a:r>
                  <a:rPr lang="fr-CA" dirty="0" err="1"/>
                  <a:t>titres </a:t>
                </a:r>
                <a:r>
                  <a:rPr lang="fr-CA" dirty="0"/>
                  <a:t>du portefeuille</a:t>
                </a:r>
              </a:p>
              <a:p>
                <a:pPr marL="548640" lvl="2" indent="0">
                  <a:buNone/>
                </a:pPr>
                <a:r>
                  <a:rPr lang="fr-CA" dirty="0"/>
                  <a:t>NB : La somme des pondérations </a:t>
                </a:r>
                <a:r>
                  <a:rPr lang="fr-CA" b="1" dirty="0">
                    <a:solidFill>
                      <a:srgbClr val="FF0000"/>
                    </a:solidFill>
                  </a:rPr>
                  <a:t>doit être égale à 1 (100 %)</a:t>
                </a:r>
              </a:p>
              <a:p>
                <a:pPr marL="548640" lvl="2" indent="0">
                  <a:buNone/>
                </a:pPr>
                <a:r>
                  <a:rPr lang="fr-CA" dirty="0"/>
                  <a:t>𝐸(𝑟</a:t>
                </a:r>
                <a:r>
                  <a:rPr lang="fr-CA" baseline="-25000" dirty="0"/>
                  <a:t>𝑖</a:t>
                </a:r>
                <a:r>
                  <a:rPr lang="fr-CA" dirty="0"/>
                  <a:t>)  = rendement moyen du titre i dans le portefeuille obtenu à partir des formules vues précédemment </a:t>
                </a:r>
              </a:p>
              <a:p>
                <a:pPr lvl="1"/>
                <a:endParaRPr lang="fr-CA" dirty="0"/>
              </a:p>
              <a:p>
                <a:pPr marL="274320" lvl="1" indent="0">
                  <a:buNone/>
                </a:pPr>
                <a:endParaRPr lang="fr-CA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02339" y="1454080"/>
                <a:ext cx="11737304" cy="4926288"/>
              </a:xfrm>
              <a:blipFill>
                <a:blip r:embed="rId4"/>
                <a:stretch>
                  <a:fillRect l="-519" t="-1238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Threat ">
            <a:extLst>
              <a:ext uri="{FF2B5EF4-FFF2-40B4-BE49-F238E27FC236}">
                <a16:creationId xmlns:a16="http://schemas.microsoft.com/office/drawing/2014/main" id="{2A81259B-384E-66E2-FB07-BEF936228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264" y="4917767"/>
            <a:ext cx="599465" cy="599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278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 err="1"/>
              <a:t>Risque</a:t>
            </a:r>
            <a:r>
              <a:rPr lang="fr-CA" dirty="0"/>
              <a:t> lié au portefeuille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16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51383" y="1527048"/>
                <a:ext cx="11230155" cy="478227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fr-CA" b="1" u="sng" dirty="0" err="1"/>
                  <a:t>Risque</a:t>
                </a:r>
                <a:r>
                  <a:rPr lang="fr-CA" dirty="0"/>
                  <a:t> de portefeuille :</a:t>
                </a:r>
              </a:p>
              <a:p>
                <a:pPr lvl="1"/>
                <a:r>
                  <a:rPr lang="en-GB" dirty="0"/>
                  <a:t>Vous </a:t>
                </a:r>
                <a:r>
                  <a:rPr lang="en-GB" b="1" dirty="0"/>
                  <a:t>ne pouvez pas </a:t>
                </a:r>
                <a:r>
                  <a:rPr lang="en-GB" dirty="0"/>
                  <a:t>simplement calculer la moyenne pondérée de la variance des titres qui le composent.</a:t>
                </a:r>
              </a:p>
              <a:p>
                <a:pPr marL="274320" lvl="1" indent="0">
                  <a:buNone/>
                </a:pPr>
                <a:endParaRPr lang="fr-CA" dirty="0"/>
              </a:p>
              <a:p>
                <a:pPr marL="274320" lvl="1" indent="0">
                  <a:buNone/>
                </a:pPr>
                <a:endParaRPr lang="fr-CA" dirty="0"/>
              </a:p>
              <a:p>
                <a:pPr marL="274307" lvl="1" indent="0" algn="ctr">
                  <a:buNone/>
                </a:pPr>
                <a:r>
                  <a:rPr lang="fr-CA" strike="sngStrike" dirty="0"/>
                  <a:t>Variance portefeuille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 strike="sngStrike">
                            <a:latin typeface="Cambria Math" panose="02040503050406030204" pitchFamily="18" charset="0"/>
                          </a:rPr>
                          <m:t>𝑝𝑜𝑖𝑑𝑠</m:t>
                        </m:r>
                      </m:e>
                      <m:sub>
                        <m:r>
                          <a:rPr lang="fr-CA" i="1" strike="sngStrike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fr-CA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trike="sngStrike" smtClean="0">
                            <a:latin typeface="Cambria Math" panose="02040503050406030204" pitchFamily="18" charset="0"/>
                          </a:rPr>
                          <m:t>𝑉𝑎𝑟𝑖𝑎𝑛𝑐𝑒</m:t>
                        </m:r>
                      </m:e>
                      <m:sub>
                        <m:r>
                          <a:rPr lang="fr-CA" i="1" strike="sngStrike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fr-CA" i="1" strike="sngStrike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fr-CA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 strike="sngStrike">
                            <a:latin typeface="Cambria Math" panose="02040503050406030204" pitchFamily="18" charset="0"/>
                          </a:rPr>
                          <m:t>𝑝𝑜𝑖𝑑𝑠</m:t>
                        </m:r>
                      </m:e>
                      <m:sub>
                        <m:r>
                          <a:rPr lang="fr-CA" i="1" strike="sngStrike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fr-CA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trike="sngStrike" smtClean="0">
                            <a:latin typeface="Cambria Math" panose="02040503050406030204" pitchFamily="18" charset="0"/>
                          </a:rPr>
                          <m:t>𝑉𝑎𝑟𝑖𝑎𝑛𝑐𝑒</m:t>
                        </m:r>
                      </m:e>
                      <m:sub>
                        <m:r>
                          <a:rPr lang="fr-CA" i="1" strike="sngStrike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CA" i="1" strike="sngStrike">
                        <a:latin typeface="Cambria Math" panose="02040503050406030204" pitchFamily="18" charset="0"/>
                      </a:rPr>
                      <m:t>+ …</m:t>
                    </m:r>
                  </m:oMath>
                </a14:m>
                <a:endParaRPr lang="fr-CA" strike="sngStrike" dirty="0"/>
              </a:p>
              <a:p>
                <a:pPr lvl="1"/>
                <a:endParaRPr lang="fr-CA" dirty="0"/>
              </a:p>
              <a:p>
                <a:pPr lvl="1"/>
                <a:endParaRPr lang="fr-CA" dirty="0"/>
              </a:p>
              <a:p>
                <a:pPr lvl="1"/>
                <a:endParaRPr lang="fr-CA" dirty="0"/>
              </a:p>
              <a:p>
                <a:pPr lvl="1"/>
                <a:r>
                  <a:rPr lang="fr-CA" sz="2600" b="1" dirty="0"/>
                  <a:t>MAIS, </a:t>
                </a:r>
                <a:r>
                  <a:rPr lang="fr-CA" dirty="0" err="1"/>
                  <a:t>il est toujours </a:t>
                </a:r>
                <a:r>
                  <a:rPr lang="fr-CA" dirty="0"/>
                  <a:t>possible de </a:t>
                </a:r>
                <a:r>
                  <a:rPr lang="fr-CA" dirty="0" err="1"/>
                  <a:t>procéder avec </a:t>
                </a:r>
                <a:r>
                  <a:rPr lang="fr-CA" dirty="0"/>
                  <a:t>les formules de variance pour </a:t>
                </a:r>
                <a:r>
                  <a:rPr lang="fr-CA" dirty="0" err="1"/>
                  <a:t>les données historiques </a:t>
                </a:r>
                <a:r>
                  <a:rPr lang="fr-CA" dirty="0"/>
                  <a:t>et </a:t>
                </a:r>
                <a:r>
                  <a:rPr lang="fr-CA" dirty="0" err="1"/>
                  <a:t>projetées</a:t>
                </a:r>
                <a:r>
                  <a:rPr lang="fr-CA" dirty="0"/>
                  <a:t>... mais </a:t>
                </a:r>
                <a:r>
                  <a:rPr lang="fr-CA" dirty="0" err="1"/>
                  <a:t>cela prend beaucoup de</a:t>
                </a:r>
                <a:r>
                  <a:rPr lang="fr-CA" dirty="0"/>
                  <a:t> temps... </a:t>
                </a:r>
              </a:p>
              <a:p>
                <a:pPr marL="274320" lvl="1" indent="0">
                  <a:buNone/>
                </a:pPr>
                <a:r>
                  <a:rPr lang="fr-CA" dirty="0"/>
                  <a:t>   </a:t>
                </a:r>
              </a:p>
              <a:p>
                <a:pPr marL="274320" lvl="1" indent="0">
                  <a:buNone/>
                </a:pPr>
                <a:r>
                  <a:rPr lang="fr-CA" dirty="0"/>
                  <a:t>    Il existe toutefois une </a:t>
                </a:r>
                <a:r>
                  <a:rPr lang="fr-CA" sz="3500" b="1" dirty="0"/>
                  <a:t>méthode plus rapide </a:t>
                </a:r>
                <a:r>
                  <a:rPr lang="fr-CA" sz="3500" dirty="0"/>
                  <a:t>pour</a:t>
                </a:r>
                <a:r>
                  <a:rPr lang="fr-CA" sz="3500" b="1" dirty="0"/>
                  <a:t> calculer </a:t>
                </a:r>
                <a:r>
                  <a:rPr lang="fr-CA" sz="3500" dirty="0"/>
                  <a:t>la</a:t>
                </a:r>
                <a:r>
                  <a:rPr lang="fr-CA" sz="3500" b="1" dirty="0"/>
                  <a:t> </a:t>
                </a:r>
              </a:p>
              <a:p>
                <a:pPr marL="274320" lvl="1" indent="0">
                  <a:buNone/>
                </a:pPr>
                <a:r>
                  <a:rPr lang="fr-CA" sz="3500" b="1" dirty="0"/>
                  <a:t>  variance </a:t>
                </a:r>
                <a:r>
                  <a:rPr lang="fr-CA" sz="3500" dirty="0"/>
                  <a:t>d’un </a:t>
                </a:r>
                <a:r>
                  <a:rPr lang="fr-CA" sz="3500" b="1" dirty="0"/>
                  <a:t>portefeuille</a:t>
                </a:r>
                <a:r>
                  <a:rPr lang="fr-CA" sz="3500" dirty="0"/>
                  <a:t>...</a:t>
                </a:r>
              </a:p>
              <a:p>
                <a:pPr lvl="1"/>
                <a:endParaRPr lang="fr-CA" dirty="0"/>
              </a:p>
            </p:txBody>
          </p:sp>
        </mc:Choice>
        <mc:Fallback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51383" y="1527048"/>
                <a:ext cx="11230155" cy="4782272"/>
              </a:xfrm>
              <a:blipFill>
                <a:blip r:embed="rId3"/>
                <a:stretch>
                  <a:fillRect l="-434" t="-2679" b="-178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Close ">
            <a:extLst>
              <a:ext uri="{FF2B5EF4-FFF2-40B4-BE49-F238E27FC236}">
                <a16:creationId xmlns:a16="http://schemas.microsoft.com/office/drawing/2014/main" id="{F535CF12-247F-A558-049B-0E452B267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7960" y="2698984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lose ">
            <a:extLst>
              <a:ext uri="{FF2B5EF4-FFF2-40B4-BE49-F238E27FC236}">
                <a16:creationId xmlns:a16="http://schemas.microsoft.com/office/drawing/2014/main" id="{ED334E73-2C84-B1C8-FCD2-BD6E99CA9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472" y="2698984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ritical ">
            <a:extLst>
              <a:ext uri="{FF2B5EF4-FFF2-40B4-BE49-F238E27FC236}">
                <a16:creationId xmlns:a16="http://schemas.microsoft.com/office/drawing/2014/main" id="{7545EAF8-0A12-73CC-16CB-19966CD2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3" y="5330952"/>
            <a:ext cx="698386" cy="698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682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4EEF-0017-4A1C-88D9-979498597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Risque lié au portefeuille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395701-60A0-4995-A670-7281F8212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17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70F5F-3F0F-4AB2-9B52-BE453010556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 err="1"/>
              <a:t>Pourquoi</a:t>
            </a:r>
            <a:r>
              <a:rPr lang="en-CA" dirty="0"/>
              <a:t> et comment ? </a:t>
            </a:r>
          </a:p>
          <a:p>
            <a:endParaRPr lang="en-CA" dirty="0"/>
          </a:p>
          <a:p>
            <a:pPr marL="0" indent="0">
              <a:buNone/>
            </a:pPr>
            <a:r>
              <a:rPr lang="fr-CA" sz="2400" dirty="0"/>
              <a:t>📌</a:t>
            </a:r>
            <a:r>
              <a:rPr lang="en-CA" sz="2400" b="1" dirty="0" err="1"/>
              <a:t>L’effet</a:t>
            </a:r>
            <a:r>
              <a:rPr lang="en-CA" sz="2400" b="1" dirty="0"/>
              <a:t> de diversification!</a:t>
            </a:r>
            <a:endParaRPr lang="en-CA" b="1" dirty="0"/>
          </a:p>
          <a:p>
            <a:endParaRPr lang="fr-CA" dirty="0"/>
          </a:p>
          <a:p>
            <a:r>
              <a:rPr lang="en-CA" b="1" dirty="0" err="1"/>
              <a:t>Graphiquement</a:t>
            </a:r>
            <a:r>
              <a:rPr lang="en-CA" dirty="0"/>
              <a:t>, la diversification </a:t>
            </a:r>
            <a:r>
              <a:rPr lang="en-CA" dirty="0" err="1"/>
              <a:t>ressemble</a:t>
            </a:r>
            <a:r>
              <a:rPr lang="en-CA" dirty="0"/>
              <a:t> à ceci…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18483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Exemple : </a:t>
            </a:r>
            <a:r>
              <a:rPr lang="fr-CA" dirty="0" err="1">
                <a:solidFill>
                  <a:srgbClr val="FF0000"/>
                </a:solidFill>
              </a:rPr>
              <a:t>effet</a:t>
            </a:r>
            <a:r>
              <a:rPr lang="fr-CA" dirty="0">
                <a:solidFill>
                  <a:srgbClr val="FF0000"/>
                </a:solidFill>
              </a:rPr>
              <a:t> de diversification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18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2339" y="1454324"/>
            <a:ext cx="11379200" cy="5071020"/>
          </a:xfrm>
        </p:spPr>
        <p:txBody>
          <a:bodyPr>
            <a:normAutofit/>
          </a:bodyPr>
          <a:lstStyle/>
          <a:p>
            <a:r>
              <a:rPr lang="fr-CA" sz="2400" dirty="0"/>
              <a:t>Vous devez constituer un </a:t>
            </a:r>
            <a:r>
              <a:rPr lang="fr-CA" sz="2400" b="1" dirty="0"/>
              <a:t>portefeuille</a:t>
            </a:r>
            <a:r>
              <a:rPr lang="fr-CA" sz="2400" dirty="0"/>
              <a:t> composé de </a:t>
            </a:r>
            <a:r>
              <a:rPr lang="fr-CA" sz="2400" b="1" dirty="0"/>
              <a:t>deux titres</a:t>
            </a:r>
            <a:r>
              <a:rPr lang="fr-CA" sz="2400" dirty="0"/>
              <a:t>. Vous avez le choix entre </a:t>
            </a:r>
            <a:r>
              <a:rPr lang="fr-CA" sz="2400" u="sng" dirty="0" err="1"/>
              <a:t>trois </a:t>
            </a:r>
            <a:r>
              <a:rPr lang="fr-CA" sz="2400" u="sng" dirty="0"/>
              <a:t>actifs </a:t>
            </a:r>
            <a:r>
              <a:rPr lang="fr-CA" sz="2400" dirty="0"/>
              <a:t>:</a:t>
            </a:r>
          </a:p>
          <a:p>
            <a:pPr marL="274320" lvl="1" indent="0">
              <a:buNone/>
            </a:pPr>
            <a:endParaRPr lang="fr-CA" sz="1600" dirty="0"/>
          </a:p>
          <a:p>
            <a:pPr marL="274320" lvl="1" indent="0">
              <a:buNone/>
            </a:pPr>
            <a:endParaRPr lang="fr-CA" sz="1600" dirty="0"/>
          </a:p>
          <a:p>
            <a:pPr marL="274320" lvl="1" indent="0">
              <a:buNone/>
            </a:pPr>
            <a:endParaRPr lang="fr-CA" sz="1600" dirty="0"/>
          </a:p>
          <a:p>
            <a:pPr marL="274320" lvl="1" indent="0">
              <a:buNone/>
            </a:pPr>
            <a:endParaRPr lang="fr-CA" sz="1600" dirty="0"/>
          </a:p>
          <a:p>
            <a:pPr marL="274320" lvl="1" indent="0">
              <a:buNone/>
            </a:pPr>
            <a:endParaRPr lang="fr-CA" sz="1600" dirty="0"/>
          </a:p>
          <a:p>
            <a:pPr marL="274320" lvl="1" indent="0">
              <a:buNone/>
            </a:pPr>
            <a:endParaRPr lang="fr-CA" sz="1600" dirty="0"/>
          </a:p>
          <a:p>
            <a:pPr marL="274320" lvl="1" indent="0">
              <a:buNone/>
            </a:pPr>
            <a:endParaRPr lang="fr-CA" sz="1600" dirty="0"/>
          </a:p>
          <a:p>
            <a:pPr marL="274320" lvl="1" indent="0">
              <a:buNone/>
            </a:pPr>
            <a:endParaRPr lang="fr-CA" sz="1600" dirty="0"/>
          </a:p>
          <a:p>
            <a:r>
              <a:rPr lang="fr-CA" sz="2400" dirty="0"/>
              <a:t>Que se passe-t-il si vous combinez :</a:t>
            </a:r>
          </a:p>
          <a:p>
            <a:pPr lvl="2"/>
            <a:r>
              <a:rPr lang="fr-CA" dirty="0"/>
              <a:t>A et B ?</a:t>
            </a:r>
          </a:p>
          <a:p>
            <a:pPr lvl="2"/>
            <a:r>
              <a:rPr lang="fr-CA" dirty="0"/>
              <a:t>A et C ?</a:t>
            </a:r>
          </a:p>
          <a:p>
            <a:pPr lvl="2"/>
            <a:r>
              <a:rPr lang="fr-CA" dirty="0"/>
              <a:t>Effet </a:t>
            </a:r>
            <a:r>
              <a:rPr lang="fr-CA" dirty="0" err="1"/>
              <a:t>d'amplification </a:t>
            </a:r>
            <a:r>
              <a:rPr lang="fr-CA" dirty="0"/>
              <a:t>ou effet de compensation ?</a:t>
            </a:r>
          </a:p>
        </p:txBody>
      </p:sp>
      <p:graphicFrame>
        <p:nvGraphicFramePr>
          <p:cNvPr id="6" name="Tableau 3">
            <a:extLst>
              <a:ext uri="{FF2B5EF4-FFF2-40B4-BE49-F238E27FC236}">
                <a16:creationId xmlns:a16="http://schemas.microsoft.com/office/drawing/2014/main" id="{1D49DE40-92C6-49B8-8135-08B1B8171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249912"/>
              </p:ext>
            </p:extLst>
          </p:nvPr>
        </p:nvGraphicFramePr>
        <p:xfrm>
          <a:off x="767407" y="2396506"/>
          <a:ext cx="11022254" cy="2064988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892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6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414">
                <a:tc>
                  <a:txBody>
                    <a:bodyPr/>
                    <a:lstStyle/>
                    <a:p>
                      <a:r>
                        <a:rPr lang="fr-CA" sz="1800" dirty="0"/>
                        <a:t>Titre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 dirty="0" err="1"/>
                        <a:t>Émetteur</a:t>
                      </a:r>
                      <a:endParaRPr lang="fr-C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 dirty="0"/>
                        <a:t>En période de </a:t>
                      </a:r>
                      <a:r>
                        <a:rPr lang="fr-CA" sz="1800" dirty="0" err="1"/>
                        <a:t>récession </a:t>
                      </a:r>
                      <a:r>
                        <a:rPr lang="fr-CA" sz="1800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592">
                <a:tc>
                  <a:txBody>
                    <a:bodyPr/>
                    <a:lstStyle/>
                    <a:p>
                      <a:r>
                        <a:rPr lang="fr-CA" sz="1800" dirty="0"/>
                        <a:t>Action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 dirty="0" err="1"/>
                        <a:t>Détaillant </a:t>
                      </a:r>
                      <a:r>
                        <a:rPr lang="fr-CA" sz="1800" dirty="0"/>
                        <a:t>de </a:t>
                      </a:r>
                      <a:r>
                        <a:rPr lang="fr-CA" sz="1800" dirty="0" err="1"/>
                        <a:t>produits de loisirs</a:t>
                      </a:r>
                      <a:endParaRPr lang="fr-C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 dirty="0"/>
                        <a:t>Le cours de l'action baisse</a:t>
                      </a:r>
                    </a:p>
                    <a:p>
                      <a:endParaRPr lang="fr-C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592">
                <a:tc>
                  <a:txBody>
                    <a:bodyPr/>
                    <a:lstStyle/>
                    <a:p>
                      <a:r>
                        <a:rPr lang="fr-CA" sz="1800" dirty="0"/>
                        <a:t>Action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 dirty="0" err="1"/>
                        <a:t>Concessionnaire</a:t>
                      </a:r>
                      <a:r>
                        <a:rPr lang="fr-CA" sz="1800" dirty="0"/>
                        <a:t> automobile </a:t>
                      </a:r>
                      <a:r>
                        <a:rPr lang="fr-CA" sz="1800" dirty="0" err="1"/>
                        <a:t>de luxe</a:t>
                      </a:r>
                      <a:endParaRPr lang="fr-C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 dirty="0"/>
                        <a:t>Le cours de l'action baisse</a:t>
                      </a:r>
                    </a:p>
                    <a:p>
                      <a:endParaRPr lang="fr-C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14">
                <a:tc>
                  <a:txBody>
                    <a:bodyPr/>
                    <a:lstStyle/>
                    <a:p>
                      <a:r>
                        <a:rPr lang="fr-CA" sz="1800" dirty="0"/>
                        <a:t>Action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CA" sz="1800" kern="1200" dirty="0">
                          <a:effectLst/>
                        </a:rPr>
                        <a:t>Agence de recouvrement</a:t>
                      </a:r>
                      <a:endParaRPr kumimoji="0" lang="en-C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800" dirty="0"/>
                        <a:t>Le cours de l'action augmente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2" descr="Identification ">
            <a:extLst>
              <a:ext uri="{FF2B5EF4-FFF2-40B4-BE49-F238E27FC236}">
                <a16:creationId xmlns:a16="http://schemas.microsoft.com/office/drawing/2014/main" id="{32F36289-0406-D26D-5D5C-E9BCC33B8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326983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dentification ">
            <a:extLst>
              <a:ext uri="{FF2B5EF4-FFF2-40B4-BE49-F238E27FC236}">
                <a16:creationId xmlns:a16="http://schemas.microsoft.com/office/drawing/2014/main" id="{B925265A-FA6D-9150-133D-E694A0186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944" y="479383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531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CF9BB9-4300-CA22-6A96-2D7B59C5CF19}"/>
              </a:ext>
            </a:extLst>
          </p:cNvPr>
          <p:cNvSpPr/>
          <p:nvPr/>
        </p:nvSpPr>
        <p:spPr>
          <a:xfrm>
            <a:off x="191344" y="1350984"/>
            <a:ext cx="11809312" cy="51023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Risque de </a:t>
            </a:r>
            <a:r>
              <a:rPr lang="fr-CA" dirty="0"/>
              <a:t>portefeuille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19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35360" y="1422992"/>
                <a:ext cx="11593288" cy="5102352"/>
              </a:xfrm>
            </p:spPr>
            <p:txBody>
              <a:bodyPr>
                <a:normAutofit fontScale="92500"/>
              </a:bodyPr>
              <a:lstStyle/>
              <a:p>
                <a:r>
                  <a:rPr lang="fr-CA" b="1" dirty="0"/>
                  <a:t>Mesure statistique : </a:t>
                </a:r>
                <a:r>
                  <a:rPr lang="fr-CA" b="1" dirty="0" err="1"/>
                  <a:t>corrélation</a:t>
                </a:r>
                <a:r>
                  <a:rPr lang="fr-CA" b="1" dirty="0"/>
                  <a:t>. </a:t>
                </a:r>
                <a:r>
                  <a:rPr lang="fr-CA" dirty="0"/>
                  <a:t>Elle mesure la </a:t>
                </a:r>
                <a:r>
                  <a:rPr lang="fr-CA" b="1" u="sng" dirty="0"/>
                  <a:t>force</a:t>
                </a:r>
                <a:r>
                  <a:rPr lang="fr-CA" dirty="0"/>
                  <a:t> et la </a:t>
                </a:r>
                <a:r>
                  <a:rPr lang="fr-CA" b="1" u="sng" dirty="0"/>
                  <a:t>direction</a:t>
                </a:r>
                <a:r>
                  <a:rPr lang="fr-CA" dirty="0"/>
                  <a:t> de la relation entre deux variables, comme les rendements de deux actifs.</a:t>
                </a:r>
              </a:p>
              <a:p>
                <a:pPr lvl="1"/>
                <a:r>
                  <a:rPr lang="fr-CA" dirty="0"/>
                  <a:t>Si les rendements varient dans le </a:t>
                </a:r>
                <a:r>
                  <a:rPr lang="fr-CA" b="1" dirty="0"/>
                  <a:t>même sens</a:t>
                </a:r>
                <a:r>
                  <a:rPr lang="fr-CA" dirty="0">
                    <a:sym typeface="Wingdings" panose="05000000000000000000" pitchFamily="2" charset="2"/>
                  </a:rPr>
                  <a:t>  corrélation</a:t>
                </a:r>
                <a:r>
                  <a:rPr lang="fr-CA" b="1" dirty="0">
                    <a:sym typeface="Wingdings" panose="05000000000000000000" pitchFamily="2" charset="2"/>
                  </a:rPr>
                  <a:t> positive</a:t>
                </a:r>
                <a:r>
                  <a:rPr lang="fr-CA" dirty="0">
                    <a:sym typeface="Wingdings" panose="05000000000000000000" pitchFamily="2" charset="2"/>
                  </a:rPr>
                  <a:t>. </a:t>
                </a:r>
                <a:r>
                  <a:rPr lang="fr-CA" b="1" dirty="0" err="1">
                    <a:solidFill>
                      <a:srgbClr val="007434"/>
                    </a:solidFill>
                    <a:latin typeface="Ink Free" panose="03080402000500000000" pitchFamily="66" charset="0"/>
                    <a:sym typeface="Wingdings" panose="05000000000000000000" pitchFamily="2" charset="2"/>
                  </a:rPr>
                  <a:t>Effet amplificateur</a:t>
                </a:r>
                <a:endParaRPr lang="fr-CA" b="1" dirty="0">
                  <a:solidFill>
                    <a:srgbClr val="007434"/>
                  </a:solidFill>
                  <a:latin typeface="Ink Free" panose="03080402000500000000" pitchFamily="66" charset="0"/>
                  <a:sym typeface="Wingdings" panose="05000000000000000000" pitchFamily="2" charset="2"/>
                </a:endParaRPr>
              </a:p>
              <a:p>
                <a:pPr lvl="1"/>
                <a:r>
                  <a:rPr lang="fr-CA" dirty="0">
                    <a:sym typeface="Wingdings" panose="05000000000000000000" pitchFamily="2" charset="2"/>
                  </a:rPr>
                  <a:t>Si </a:t>
                </a:r>
                <a:r>
                  <a:rPr lang="fr-CA" dirty="0" err="1">
                    <a:sym typeface="Wingdings" panose="05000000000000000000" pitchFamily="2" charset="2"/>
                  </a:rPr>
                  <a:t>les rendements varient </a:t>
                </a:r>
                <a:r>
                  <a:rPr lang="fr-CA" dirty="0">
                    <a:sym typeface="Wingdings" panose="05000000000000000000" pitchFamily="2" charset="2"/>
                  </a:rPr>
                  <a:t>dans</a:t>
                </a:r>
                <a:r>
                  <a:rPr lang="fr-CA" b="1" dirty="0">
                    <a:sym typeface="Wingdings" panose="05000000000000000000" pitchFamily="2" charset="2"/>
                  </a:rPr>
                  <a:t> le sens opposé</a:t>
                </a:r>
                <a:r>
                  <a:rPr lang="fr-CA" dirty="0">
                    <a:sym typeface="Wingdings" panose="05000000000000000000" pitchFamily="2" charset="2"/>
                  </a:rPr>
                  <a:t>  </a:t>
                </a:r>
                <a:r>
                  <a:rPr lang="fr-CA" dirty="0" err="1">
                    <a:sym typeface="Wingdings" panose="05000000000000000000" pitchFamily="2" charset="2"/>
                  </a:rPr>
                  <a:t>corrélation </a:t>
                </a:r>
                <a:r>
                  <a:rPr lang="fr-CA" b="1" dirty="0" err="1">
                    <a:sym typeface="Wingdings" panose="05000000000000000000" pitchFamily="2" charset="2"/>
                  </a:rPr>
                  <a:t>négative</a:t>
                </a:r>
                <a:r>
                  <a:rPr lang="fr-CA" dirty="0">
                    <a:sym typeface="Wingdings" panose="05000000000000000000" pitchFamily="2" charset="2"/>
                  </a:rPr>
                  <a:t>. </a:t>
                </a:r>
                <a:r>
                  <a:rPr lang="fr-CA" b="1" dirty="0" err="1">
                    <a:solidFill>
                      <a:srgbClr val="007434"/>
                    </a:solidFill>
                    <a:latin typeface="Ink Free" panose="03080402000500000000" pitchFamily="66" charset="0"/>
                    <a:sym typeface="Wingdings" panose="05000000000000000000" pitchFamily="2" charset="2"/>
                  </a:rPr>
                  <a:t>Effet</a:t>
                </a:r>
                <a:r>
                  <a:rPr lang="fr-CA" b="1" dirty="0">
                    <a:solidFill>
                      <a:srgbClr val="007434"/>
                    </a:solidFill>
                    <a:latin typeface="Ink Free" panose="03080402000500000000" pitchFamily="66" charset="0"/>
                    <a:sym typeface="Wingdings" panose="05000000000000000000" pitchFamily="2" charset="2"/>
                  </a:rPr>
                  <a:t> de compensation. 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Varie entre -1 et 1 inclusivement</a:t>
                </a:r>
                <a:r>
                  <a:rPr lang="en-GB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fr-CA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0" lang="fr-CA" sz="2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𝜌</m:t>
                    </m:r>
                  </m:oMath>
                </a14:m>
                <a:r>
                  <a:rPr kumimoji="0" lang="fr-CA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fr-CA" sz="2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fr-CA" sz="25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−1;1</m:t>
                        </m:r>
                      </m:e>
                    </m:d>
                  </m:oMath>
                </a14:m>
                <a:endParaRPr lang="fr-CA" dirty="0">
                  <a:solidFill>
                    <a:schemeClr val="tx1"/>
                  </a:solidFill>
                </a:endParaRPr>
              </a:p>
              <a:p>
                <a:pPr lvl="1"/>
                <a:endParaRPr lang="fr-CA" dirty="0">
                  <a:solidFill>
                    <a:schemeClr val="tx1"/>
                  </a:solidFill>
                </a:endParaRPr>
              </a:p>
              <a:p>
                <a:pPr eaLnBrk="1" hangingPunct="1"/>
                <a:r>
                  <a:rPr lang="en-US" altLang="en-US" b="1" dirty="0"/>
                  <a:t>La diversification </a:t>
                </a:r>
                <a:r>
                  <a:rPr lang="en-US" altLang="en-US" dirty="0"/>
                  <a:t>présente des</a:t>
                </a:r>
                <a:r>
                  <a:rPr lang="en-US" altLang="en-US" b="1" dirty="0"/>
                  <a:t> avantages </a:t>
                </a:r>
                <a:r>
                  <a:rPr lang="en-US" altLang="en-US" dirty="0"/>
                  <a:t>lorsque la </a:t>
                </a:r>
                <a:r>
                  <a:rPr lang="en-US" altLang="en-US" b="1" dirty="0"/>
                  <a:t>corrélation </a:t>
                </a:r>
                <a:r>
                  <a:rPr lang="en-US" altLang="en-US" dirty="0"/>
                  <a:t>entre deux actions est inférieure à 100% (</a:t>
                </a:r>
                <a:r>
                  <a:rPr lang="en-US" altLang="en-US" b="1" dirty="0"/>
                  <a:t>p &lt; 1,0).</a:t>
                </a:r>
              </a:p>
              <a:p>
                <a:pPr eaLnBrk="1" hangingPunct="1"/>
                <a:endParaRPr lang="en-US" altLang="en-US" dirty="0"/>
              </a:p>
              <a:p>
                <a:pPr eaLnBrk="1" hangingPunct="1"/>
                <a:r>
                  <a:rPr lang="en-US" altLang="en-US" dirty="0"/>
                  <a:t>Si deux actions sont </a:t>
                </a:r>
                <a:r>
                  <a:rPr lang="en-US" altLang="en-US" b="1" dirty="0"/>
                  <a:t>parfaitement corrélées positivement</a:t>
                </a:r>
                <a:r>
                  <a:rPr lang="en-US" altLang="en-US" dirty="0"/>
                  <a:t>, il existe simplement un compromis entre le risque et le rendement entre les deux titres et </a:t>
                </a:r>
                <a:r>
                  <a:rPr lang="en-US" altLang="en-US" b="1" dirty="0"/>
                  <a:t>aucune diversification n'est possible.</a:t>
                </a:r>
              </a:p>
              <a:p>
                <a:pPr lvl="1"/>
                <a:endParaRPr lang="fr-CA" dirty="0">
                  <a:solidFill>
                    <a:schemeClr val="tx1"/>
                  </a:solidFill>
                </a:endParaRPr>
              </a:p>
              <a:p>
                <a:endParaRPr lang="fr-CA" dirty="0"/>
              </a:p>
            </p:txBody>
          </p:sp>
        </mc:Choice>
        <mc:Fallback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35360" y="1422992"/>
                <a:ext cx="11593288" cy="5102352"/>
              </a:xfrm>
              <a:blipFill>
                <a:blip r:embed="rId3"/>
                <a:stretch>
                  <a:fillRect l="-421" t="-956" r="-10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tar: 5 Points 6">
            <a:extLst>
              <a:ext uri="{FF2B5EF4-FFF2-40B4-BE49-F238E27FC236}">
                <a16:creationId xmlns:a16="http://schemas.microsoft.com/office/drawing/2014/main" id="{D76995C7-BBDA-DB7C-CAD8-EA7FDD8A74A3}"/>
              </a:ext>
            </a:extLst>
          </p:cNvPr>
          <p:cNvSpPr/>
          <p:nvPr/>
        </p:nvSpPr>
        <p:spPr>
          <a:xfrm>
            <a:off x="118227" y="3803288"/>
            <a:ext cx="568224" cy="341759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7DD1DC1E-0D1F-9DC2-38E2-EC1BB41C6F76}"/>
              </a:ext>
            </a:extLst>
          </p:cNvPr>
          <p:cNvSpPr/>
          <p:nvPr/>
        </p:nvSpPr>
        <p:spPr>
          <a:xfrm>
            <a:off x="118227" y="5093249"/>
            <a:ext cx="568224" cy="341759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54646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5E4147-D5E7-EB3C-70AF-22455540C190}"/>
              </a:ext>
            </a:extLst>
          </p:cNvPr>
          <p:cNvSpPr/>
          <p:nvPr/>
        </p:nvSpPr>
        <p:spPr>
          <a:xfrm>
            <a:off x="623392" y="5692156"/>
            <a:ext cx="5472608" cy="6171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" name="Rectangle 3"/>
          <p:cNvSpPr/>
          <p:nvPr/>
        </p:nvSpPr>
        <p:spPr>
          <a:xfrm>
            <a:off x="1856232" y="2492896"/>
            <a:ext cx="8503920" cy="1368152"/>
          </a:xfrm>
          <a:prstGeom prst="rect">
            <a:avLst/>
          </a:prstGeom>
          <a:solidFill>
            <a:schemeClr val="bg1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Comment calculer le risque d'un portefeuille ?</a:t>
            </a:r>
            <a:endParaRPr lang="fr-CA" b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20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02338" y="1475043"/>
                <a:ext cx="11379199" cy="5102352"/>
              </a:xfrm>
            </p:spPr>
            <p:txBody>
              <a:bodyPr>
                <a:normAutofit/>
              </a:bodyPr>
              <a:lstStyle/>
              <a:p>
                <a:r>
                  <a:rPr lang="fr-CA" dirty="0"/>
                  <a:t>Pour un portefeuille composé de deux </a:t>
                </a:r>
                <a:r>
                  <a:rPr lang="fr-CA" dirty="0" err="1"/>
                  <a:t>titres</a:t>
                </a:r>
                <a:r>
                  <a:rPr lang="fr-CA" dirty="0"/>
                  <a:t>, A et B, la variance est calculée comme suit :</a:t>
                </a:r>
              </a:p>
              <a:p>
                <a:pPr marL="0" indent="0" algn="ctr">
                  <a:buNone/>
                </a:pPr>
                <a:endParaRPr lang="en-US" sz="2000" b="1" dirty="0">
                  <a:latin typeface="Cambria Math" panose="02040503050406030204" pitchFamily="18" charset="0"/>
                </a:endParaRPr>
              </a:p>
              <a:p>
                <a:pPr marL="0" lvl="0" indent="0" algn="ctr">
                  <a:buClr>
                    <a:srgbClr val="4F81BD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𝐕𝐚𝐫𝐢𝐚𝐧𝐜𝐞</m:t>
                      </m:r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𝐩𝐨𝐫𝐭𝐞𝐟𝐞𝐮𝐢𝐥𝐥𝐞</m:t>
                      </m:r>
                      <m:r>
                        <a:rPr lang="en-GB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CA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en-GB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sub>
                        <m:sup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CA" sz="2400" b="1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lvl="0" indent="0" algn="ctr">
                  <a:buClr>
                    <a:srgbClr val="4F81BD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CA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𝐏𝐨𝐢𝐝𝐬</m:t>
                          </m:r>
                        </m:e>
                        <m:sub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  <m:sup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CA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  <m:sup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Sup>
                        <m:sSubSupPr>
                          <m:ctrlPr>
                            <a:rPr lang="fr-CA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𝐏𝐨𝐢𝐝𝐬</m:t>
                          </m:r>
                        </m:e>
                        <m:sub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  <m:sup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CA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  <m:sup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fr-CA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𝐩𝐨𝐢𝐝𝐬</m:t>
                          </m:r>
                        </m:e>
                        <m:sub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CA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𝐩𝐨𝐢𝐝𝐬</m:t>
                          </m:r>
                        </m:e>
                        <m:sub>
                          <m:r>
                            <a:rPr lang="fr-CA" sz="24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𝐜𝐨𝐯𝐚𝐫𝐢𝐚𝐧𝐜𝐞</m:t>
                      </m:r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fr-CA" sz="24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CA" sz="2400" b="1" dirty="0">
                  <a:solidFill>
                    <a:prstClr val="black"/>
                  </a:solidFill>
                </a:endParaRPr>
              </a:p>
              <a:p>
                <a:pPr marL="0" indent="0" algn="ctr">
                  <a:buNone/>
                </a:pPr>
                <a:endParaRPr lang="fr-CA" dirty="0"/>
              </a:p>
              <a:p>
                <a:pPr marL="0" indent="0">
                  <a:buNone/>
                </a:pPr>
                <a:r>
                  <a:rPr lang="fr-CA" dirty="0"/>
                  <a:t>	</a:t>
                </a:r>
              </a:p>
              <a:p>
                <a:pPr marL="0" indent="0">
                  <a:buNone/>
                </a:pPr>
                <a:r>
                  <a:rPr lang="fr-CA" sz="2200" dirty="0" err="1"/>
                  <a:t>Où </a:t>
                </a:r>
                <a:r>
                  <a:rPr lang="fr-CA" sz="2200" dirty="0"/>
                  <a:t>:</a:t>
                </a:r>
              </a:p>
              <a:p>
                <a:pPr marL="0" indent="0">
                  <a:buNone/>
                </a:pPr>
                <a:r>
                  <a:rPr lang="fr-CA" sz="2200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CA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2200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CA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sz="2200" i="1">
                        <a:latin typeface="Cambria Math" panose="02040503050406030204" pitchFamily="18" charset="0"/>
                      </a:rPr>
                      <m:t>𝑣𝑎𝑟𝑖𝑎𝑛𝑐𝑒</m:t>
                    </m:r>
                    <m:r>
                      <a:rPr lang="fr-CA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sz="2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fr-CA" sz="2200" dirty="0"/>
              </a:p>
              <a:p>
                <a:pPr marL="0" indent="0">
                  <a:buNone/>
                </a:pPr>
                <a:r>
                  <a:rPr lang="fr-CA" sz="2200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CA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2200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CA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sz="2200" i="1">
                        <a:latin typeface="Cambria Math" panose="02040503050406030204" pitchFamily="18" charset="0"/>
                      </a:rPr>
                      <m:t>𝑣𝑎𝑟𝑖𝑎𝑛𝑐𝑒</m:t>
                    </m:r>
                    <m:r>
                      <a:rPr lang="fr-CA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n-CA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sz="22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fr-CA" sz="2200" dirty="0"/>
              </a:p>
              <a:p>
                <a:pPr marL="0" indent="0">
                  <a:buNone/>
                </a:pPr>
                <a:r>
                  <a:rPr lang="fr-CA" sz="2200" dirty="0"/>
                  <a:t>	</a:t>
                </a:r>
                <a14:m>
                  <m:oMath xmlns:m="http://schemas.openxmlformats.org/officeDocument/2006/math">
                    <m:r>
                      <a:rPr lang="fr-CA" sz="2200" i="1">
                        <a:latin typeface="Cambria Math" panose="02040503050406030204" pitchFamily="18" charset="0"/>
                      </a:rPr>
                      <m:t>𝐶𝑜𝑣𝑎𝑟𝑖𝑎𝑛𝑐𝑒</m:t>
                    </m:r>
                    <m:r>
                      <a:rPr lang="fr-CA" sz="22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fr-CA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fr-CA" sz="22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CA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200" b="1" i="1"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b>
                        <m:r>
                          <a:rPr lang="fr-CA" sz="22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200" b="1" i="1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fr-CA" sz="22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200" b="1" i="1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fr-CA" sz="2200" b="1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sSub>
                      <m:sSubPr>
                        <m:ctrlPr>
                          <a:rPr lang="fr-CA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200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fr-CA" sz="2200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sSub>
                      <m:sSubPr>
                        <m:ctrlPr>
                          <a:rPr lang="fr-CA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200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fr-CA" sz="2200" b="1" i="1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fr-CA" sz="2200" b="1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02338" y="1475043"/>
                <a:ext cx="11379199" cy="5102352"/>
              </a:xfrm>
              <a:blipFill>
                <a:blip r:embed="rId3"/>
                <a:stretch>
                  <a:fillRect l="-696" t="-119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ccolade fermante 1">
            <a:extLst>
              <a:ext uri="{FF2B5EF4-FFF2-40B4-BE49-F238E27FC236}">
                <a16:creationId xmlns:a16="http://schemas.microsoft.com/office/drawing/2014/main" id="{21B63CA1-315F-4A8B-286F-C6A3DAA96F9A}"/>
              </a:ext>
            </a:extLst>
          </p:cNvPr>
          <p:cNvSpPr/>
          <p:nvPr/>
        </p:nvSpPr>
        <p:spPr>
          <a:xfrm rot="5400000">
            <a:off x="3369664" y="1928678"/>
            <a:ext cx="452700" cy="3741376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53915-380C-B7DA-178E-24EB92108258}"/>
              </a:ext>
            </a:extLst>
          </p:cNvPr>
          <p:cNvSpPr txBox="1">
            <a:spLocks noChangeArrowheads="1"/>
          </p:cNvSpPr>
          <p:nvPr/>
        </p:nvSpPr>
        <p:spPr>
          <a:xfrm>
            <a:off x="1966447" y="4033056"/>
            <a:ext cx="3259134" cy="7076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rmAutofit fontScale="62500" lnSpcReduction="20000"/>
          </a:bodyPr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Tx/>
              <a:buNone/>
            </a:pPr>
            <a:r>
              <a:rPr lang="fr-CA" sz="2400" b="1" dirty="0">
                <a:latin typeface="+mj-lt"/>
              </a:rPr>
              <a:t>Contribution individuelle </a:t>
            </a:r>
            <a:r>
              <a:rPr lang="fr-CA" sz="2400" dirty="0">
                <a:latin typeface="+mj-lt"/>
              </a:rPr>
              <a:t>de chacun des titres au risque du portefeuille</a:t>
            </a:r>
          </a:p>
        </p:txBody>
      </p:sp>
      <p:sp>
        <p:nvSpPr>
          <p:cNvPr id="8" name="Accolade fermante 10">
            <a:extLst>
              <a:ext uri="{FF2B5EF4-FFF2-40B4-BE49-F238E27FC236}">
                <a16:creationId xmlns:a16="http://schemas.microsoft.com/office/drawing/2014/main" id="{B5D0CF5F-2F10-4B10-9E68-977ED7CCBB88}"/>
              </a:ext>
            </a:extLst>
          </p:cNvPr>
          <p:cNvSpPr/>
          <p:nvPr/>
        </p:nvSpPr>
        <p:spPr>
          <a:xfrm rot="5400000">
            <a:off x="8105704" y="1244049"/>
            <a:ext cx="452701" cy="5032943"/>
          </a:xfrm>
          <a:prstGeom prst="rightBrace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C3430-8BDD-C5B9-CF19-50DF0C20509A}"/>
              </a:ext>
            </a:extLst>
          </p:cNvPr>
          <p:cNvSpPr txBox="1">
            <a:spLocks noChangeArrowheads="1"/>
          </p:cNvSpPr>
          <p:nvPr/>
        </p:nvSpPr>
        <p:spPr>
          <a:xfrm>
            <a:off x="6132152" y="4025717"/>
            <a:ext cx="4417606" cy="7150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Autofit/>
          </a:bodyPr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Tx/>
              <a:buNone/>
            </a:pPr>
            <a:r>
              <a:rPr lang="fr-CA" sz="1500" b="1" dirty="0">
                <a:latin typeface="+mj-lt"/>
              </a:rPr>
              <a:t>Effet de diversification </a:t>
            </a:r>
            <a:r>
              <a:rPr lang="fr-CA" sz="1500" dirty="0">
                <a:latin typeface="+mj-lt"/>
              </a:rPr>
              <a:t>entre les titres</a:t>
            </a:r>
          </a:p>
          <a:p>
            <a:pPr marL="0" indent="0" algn="ctr" fontAlgn="auto">
              <a:spcAft>
                <a:spcPts val="0"/>
              </a:spcAft>
              <a:buFontTx/>
              <a:buNone/>
            </a:pPr>
            <a:r>
              <a:rPr lang="fr-CA" sz="1500" dirty="0">
                <a:latin typeface="+mj-lt"/>
              </a:rPr>
              <a:t> (coef. de corrélation </a:t>
            </a:r>
            <a:r>
              <a:rPr lang="fr-CA" sz="1500" u="sng" dirty="0">
                <a:latin typeface="+mj-lt"/>
              </a:rPr>
              <a:t>se cache </a:t>
            </a:r>
            <a:r>
              <a:rPr lang="fr-CA" sz="1500" dirty="0">
                <a:latin typeface="+mj-lt"/>
              </a:rPr>
              <a:t>dans la covariance)</a:t>
            </a:r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64783D64-E06C-6289-573A-1CAC9B24058E}"/>
              </a:ext>
            </a:extLst>
          </p:cNvPr>
          <p:cNvSpPr/>
          <p:nvPr/>
        </p:nvSpPr>
        <p:spPr>
          <a:xfrm>
            <a:off x="695400" y="5829858"/>
            <a:ext cx="568224" cy="341759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F0A34412-E515-AC23-A95B-1B18963EB474}"/>
              </a:ext>
            </a:extLst>
          </p:cNvPr>
          <p:cNvSpPr/>
          <p:nvPr/>
        </p:nvSpPr>
        <p:spPr>
          <a:xfrm>
            <a:off x="9408368" y="2860359"/>
            <a:ext cx="568224" cy="341759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9877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740" y="260534"/>
            <a:ext cx="11593288" cy="758952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rgbClr val="FF0000"/>
                </a:solidFill>
              </a:rPr>
              <a:t>Calculer le rendement et le risque selon les différents contextes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21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86992" y="1055514"/>
            <a:ext cx="10657184" cy="56418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A" sz="2800" b="1" u="sng" dirty="0"/>
          </a:p>
          <a:p>
            <a:pPr marL="0" indent="0">
              <a:buNone/>
            </a:pPr>
            <a:r>
              <a:rPr lang="fr-CA" sz="2800" dirty="0"/>
              <a:t>Exemple 1 : </a:t>
            </a:r>
            <a:r>
              <a:rPr lang="fr-CA" sz="2800" dirty="0" err="1"/>
              <a:t>avec </a:t>
            </a:r>
            <a:r>
              <a:rPr lang="fr-CA" sz="2800" dirty="0"/>
              <a:t>des données </a:t>
            </a:r>
            <a:r>
              <a:rPr lang="fr-CA" sz="2800" dirty="0" err="1"/>
              <a:t>observées</a:t>
            </a:r>
          </a:p>
          <a:p>
            <a:pPr marL="0" indent="0">
              <a:buNone/>
            </a:pPr>
            <a:r>
              <a:rPr lang="fr-CA" sz="2800" dirty="0"/>
              <a:t>Exemple 2 : </a:t>
            </a:r>
            <a:r>
              <a:rPr lang="fr-CA" sz="2800" dirty="0" err="1"/>
              <a:t>avec </a:t>
            </a:r>
            <a:r>
              <a:rPr lang="fr-CA" sz="2800" dirty="0"/>
              <a:t>des données </a:t>
            </a:r>
            <a:r>
              <a:rPr lang="fr-CA" sz="2800" dirty="0" err="1"/>
              <a:t>prévisionnelles</a:t>
            </a:r>
          </a:p>
          <a:p>
            <a:pPr marL="0" indent="0">
              <a:buNone/>
            </a:pPr>
            <a:r>
              <a:rPr lang="fr-CA" sz="2800" dirty="0"/>
              <a:t>Exemple 3 : portefeuille d'actifs </a:t>
            </a:r>
          </a:p>
          <a:p>
            <a:endParaRPr lang="fr-CA" sz="2800" dirty="0">
              <a:solidFill>
                <a:prstClr val="black"/>
              </a:solidFill>
            </a:endParaRPr>
          </a:p>
          <a:p>
            <a:pPr marL="274320" lvl="1" indent="0">
              <a:buNone/>
            </a:pPr>
            <a:endParaRPr lang="fr-CA" sz="2400" dirty="0"/>
          </a:p>
          <a:p>
            <a:endParaRPr lang="fr-CA" sz="2800" dirty="0"/>
          </a:p>
          <a:p>
            <a:pPr lvl="1"/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2379036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98764" y="358945"/>
            <a:ext cx="7957896" cy="758952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rgbClr val="FF0000"/>
                </a:solidFill>
              </a:rPr>
              <a:t>Exemple 1 : </a:t>
            </a:r>
            <a:r>
              <a:rPr lang="fr-CA" dirty="0" err="1">
                <a:solidFill>
                  <a:srgbClr val="FF0000"/>
                </a:solidFill>
              </a:rPr>
              <a:t>Calcul </a:t>
            </a:r>
            <a:r>
              <a:rPr lang="fr-CA" dirty="0">
                <a:solidFill>
                  <a:srgbClr val="FF0000"/>
                </a:solidFill>
              </a:rPr>
              <a:t>du risque/rendement </a:t>
            </a:r>
            <a:r>
              <a:rPr lang="fr-CA" b="1" dirty="0" err="1">
                <a:solidFill>
                  <a:srgbClr val="FF0000"/>
                </a:solidFill>
              </a:rPr>
              <a:t>à partir de </a:t>
            </a:r>
            <a:r>
              <a:rPr lang="fr-CA" b="1" dirty="0">
                <a:solidFill>
                  <a:srgbClr val="FF0000"/>
                </a:solidFill>
              </a:rPr>
              <a:t>données </a:t>
            </a:r>
            <a:r>
              <a:rPr lang="fr-CA" b="1" dirty="0" err="1">
                <a:solidFill>
                  <a:srgbClr val="FF0000"/>
                </a:solidFill>
              </a:rPr>
              <a:t>historiques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22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51384" y="1527048"/>
            <a:ext cx="11233248" cy="4854280"/>
          </a:xfrm>
        </p:spPr>
        <p:txBody>
          <a:bodyPr>
            <a:normAutofit fontScale="92500" lnSpcReduction="20000"/>
          </a:bodyPr>
          <a:lstStyle/>
          <a:p>
            <a:r>
              <a:rPr lang="en-CA" sz="2800" dirty="0"/>
              <a:t>Nous sommes en 2015. La société Z Corp a réalisé les rendements suivants au cours des 5 </a:t>
            </a:r>
            <a:r>
              <a:rPr lang="en-CA" sz="2800" dirty="0" err="1"/>
              <a:t>dernières</a:t>
            </a:r>
            <a:r>
              <a:rPr lang="en-CA" sz="2800" dirty="0"/>
              <a:t> </a:t>
            </a:r>
            <a:r>
              <a:rPr lang="en-CA" sz="2800" dirty="0" err="1"/>
              <a:t>années</a:t>
            </a:r>
            <a:r>
              <a:rPr lang="en-CA" sz="2800" dirty="0"/>
              <a:t>.</a:t>
            </a:r>
          </a:p>
          <a:p>
            <a:pPr lvl="3"/>
            <a:endParaRPr lang="fr-CA" dirty="0"/>
          </a:p>
          <a:p>
            <a:pPr lvl="3"/>
            <a:endParaRPr lang="fr-CA" dirty="0"/>
          </a:p>
          <a:p>
            <a:pPr lvl="3"/>
            <a:endParaRPr lang="fr-CA" dirty="0"/>
          </a:p>
          <a:p>
            <a:pPr lvl="3"/>
            <a:endParaRPr lang="fr-CA" dirty="0"/>
          </a:p>
          <a:p>
            <a:pPr lvl="3"/>
            <a:endParaRPr lang="fr-CA" dirty="0"/>
          </a:p>
          <a:p>
            <a:pPr lvl="3"/>
            <a:endParaRPr lang="fr-CA" dirty="0"/>
          </a:p>
          <a:p>
            <a:pPr lvl="3"/>
            <a:endParaRPr lang="fr-CA" dirty="0"/>
          </a:p>
          <a:p>
            <a:pPr lvl="3"/>
            <a:endParaRPr lang="fr-CA" dirty="0"/>
          </a:p>
          <a:p>
            <a:pPr lvl="3"/>
            <a:endParaRPr lang="fr-CA" dirty="0"/>
          </a:p>
          <a:p>
            <a:pPr lvl="3"/>
            <a:endParaRPr lang="fr-CA" dirty="0"/>
          </a:p>
          <a:p>
            <a:r>
              <a:rPr lang="fr-CA" dirty="0" err="1"/>
              <a:t>Quel est </a:t>
            </a:r>
            <a:r>
              <a:rPr lang="fr-CA" dirty="0"/>
              <a:t>le rendement annuel moyen de Z Corp au cours des 5 </a:t>
            </a:r>
            <a:r>
              <a:rPr lang="fr-CA" dirty="0" err="1"/>
              <a:t>dernières </a:t>
            </a:r>
            <a:r>
              <a:rPr lang="fr-CA" dirty="0"/>
              <a:t>années ?</a:t>
            </a:r>
          </a:p>
          <a:p>
            <a:r>
              <a:rPr lang="fr-CA" dirty="0"/>
              <a:t>Quelle est l'écart type annuel de Z Corp ?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graphicFrame>
        <p:nvGraphicFramePr>
          <p:cNvPr id="5" name="Tableau 3">
            <a:extLst>
              <a:ext uri="{FF2B5EF4-FFF2-40B4-BE49-F238E27FC236}">
                <a16:creationId xmlns:a16="http://schemas.microsoft.com/office/drawing/2014/main" id="{BDB4D52F-D011-4B42-9616-569C55C8E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51114"/>
              </p:ext>
            </p:extLst>
          </p:nvPr>
        </p:nvGraphicFramePr>
        <p:xfrm>
          <a:off x="4414104" y="2492896"/>
          <a:ext cx="3857568" cy="2415648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92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608">
                <a:tc>
                  <a:txBody>
                    <a:bodyPr/>
                    <a:lstStyle/>
                    <a:p>
                      <a:r>
                        <a:rPr lang="fr-CA" dirty="0"/>
                        <a:t>Années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Z Corp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608">
                <a:tc>
                  <a:txBody>
                    <a:bodyPr/>
                    <a:lstStyle/>
                    <a:p>
                      <a:r>
                        <a:rPr lang="fr-CA" dirty="0"/>
                        <a:t>2010</a:t>
                      </a:r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608">
                <a:tc>
                  <a:txBody>
                    <a:bodyPr/>
                    <a:lstStyle/>
                    <a:p>
                      <a:r>
                        <a:rPr lang="fr-CA" dirty="0"/>
                        <a:t>2011</a:t>
                      </a:r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608">
                <a:tc>
                  <a:txBody>
                    <a:bodyPr/>
                    <a:lstStyle/>
                    <a:p>
                      <a:r>
                        <a:rPr lang="fr-CA" dirty="0"/>
                        <a:t>2012</a:t>
                      </a:r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608">
                <a:tc>
                  <a:txBody>
                    <a:bodyPr/>
                    <a:lstStyle/>
                    <a:p>
                      <a:r>
                        <a:rPr lang="fr-CA" dirty="0"/>
                        <a:t>2013</a:t>
                      </a:r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828654"/>
                  </a:ext>
                </a:extLst>
              </a:tr>
              <a:tr h="402608">
                <a:tc>
                  <a:txBody>
                    <a:bodyPr/>
                    <a:lstStyle/>
                    <a:p>
                      <a:r>
                        <a:rPr lang="fr-CA" dirty="0"/>
                        <a:t>2014</a:t>
                      </a:r>
                      <a:endParaRPr lang="fr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234916"/>
                  </a:ext>
                </a:extLst>
              </a:tr>
            </a:tbl>
          </a:graphicData>
        </a:graphic>
      </p:graphicFrame>
      <p:pic>
        <p:nvPicPr>
          <p:cNvPr id="6" name="Picture 2" descr="Identification ">
            <a:extLst>
              <a:ext uri="{FF2B5EF4-FFF2-40B4-BE49-F238E27FC236}">
                <a16:creationId xmlns:a16="http://schemas.microsoft.com/office/drawing/2014/main" id="{355CF213-D534-89AD-89FB-1FC299212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233272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061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47088" y="293784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rgbClr val="FF0000"/>
                </a:solidFill>
              </a:rPr>
              <a:t>Exemple 2 : </a:t>
            </a:r>
            <a:r>
              <a:rPr lang="fr-CA" dirty="0" err="1">
                <a:solidFill>
                  <a:srgbClr val="FF0000"/>
                </a:solidFill>
              </a:rPr>
              <a:t>Calcul </a:t>
            </a:r>
            <a:r>
              <a:rPr lang="fr-CA" dirty="0">
                <a:solidFill>
                  <a:srgbClr val="FF0000"/>
                </a:solidFill>
              </a:rPr>
              <a:t>du risque/rendement </a:t>
            </a:r>
            <a:r>
              <a:rPr lang="fr-CA" b="1" dirty="0" err="1">
                <a:solidFill>
                  <a:srgbClr val="FF0000"/>
                </a:solidFill>
              </a:rPr>
              <a:t>à partir de </a:t>
            </a:r>
            <a:r>
              <a:rPr lang="fr-CA" b="1" dirty="0">
                <a:solidFill>
                  <a:srgbClr val="FF0000"/>
                </a:solidFill>
              </a:rPr>
              <a:t>données </a:t>
            </a:r>
            <a:r>
              <a:rPr lang="fr-CA" b="1" dirty="0" err="1">
                <a:solidFill>
                  <a:srgbClr val="FF0000"/>
                </a:solidFill>
              </a:rPr>
              <a:t>prévisionnelles</a:t>
            </a: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23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7368" y="1467696"/>
            <a:ext cx="11377264" cy="5561704"/>
          </a:xfrm>
        </p:spPr>
        <p:txBody>
          <a:bodyPr>
            <a:normAutofit/>
          </a:bodyPr>
          <a:lstStyle/>
          <a:p>
            <a:r>
              <a:rPr lang="fr-CA" sz="2200" dirty="0"/>
              <a:t>Voici un tableau présentant les rendements attendus pour les actions A et B, </a:t>
            </a:r>
            <a:r>
              <a:rPr lang="en-CA" sz="2200" dirty="0"/>
              <a:t>en fonction de la situation économique :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r>
              <a:rPr lang="fr-CA" sz="2200" dirty="0"/>
              <a:t>Questions :</a:t>
            </a:r>
          </a:p>
          <a:p>
            <a:pPr lvl="1"/>
            <a:r>
              <a:rPr lang="en-CA" dirty="0"/>
              <a:t>Quel est le rendement attendu de A ? Et de B ?</a:t>
            </a:r>
          </a:p>
          <a:p>
            <a:pPr lvl="1"/>
            <a:r>
              <a:rPr lang="en-CA" dirty="0"/>
              <a:t>Quelle est l'écart type de A ? Et de B ?</a:t>
            </a:r>
            <a:endParaRPr lang="fr-CA" dirty="0"/>
          </a:p>
        </p:txBody>
      </p:sp>
      <p:graphicFrame>
        <p:nvGraphicFramePr>
          <p:cNvPr id="6" name="Tableau 3">
            <a:extLst>
              <a:ext uri="{FF2B5EF4-FFF2-40B4-BE49-F238E27FC236}">
                <a16:creationId xmlns:a16="http://schemas.microsoft.com/office/drawing/2014/main" id="{EF267E75-E14E-4E1C-976B-55B30F188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913226"/>
              </p:ext>
            </p:extLst>
          </p:nvPr>
        </p:nvGraphicFramePr>
        <p:xfrm>
          <a:off x="3358936" y="2636912"/>
          <a:ext cx="5760640" cy="2098242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054">
                <a:tc>
                  <a:txBody>
                    <a:bodyPr/>
                    <a:lstStyle/>
                    <a:p>
                      <a:r>
                        <a:rPr lang="en-CA" dirty="0"/>
                        <a:t>S</a:t>
                      </a:r>
                      <a:r>
                        <a:rPr lang="fr-CA" dirty="0" err="1"/>
                        <a:t>cénarios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Probabilité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Action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Action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r>
                        <a:rPr lang="fr-CA" dirty="0"/>
                        <a:t>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3</a:t>
                      </a:r>
                      <a:r>
                        <a:rPr lang="fr-CA" baseline="0" dirty="0"/>
                        <a:t>0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r>
                        <a:rPr lang="fr-CA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r>
                        <a:rPr lang="en-CA" dirty="0"/>
                        <a:t>R</a:t>
                      </a:r>
                      <a:r>
                        <a:rPr lang="fr-CA" dirty="0" err="1"/>
                        <a:t>écession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aseline="0" dirty="0"/>
                        <a:t>10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2" descr="Identification ">
            <a:extLst>
              <a:ext uri="{FF2B5EF4-FFF2-40B4-BE49-F238E27FC236}">
                <a16:creationId xmlns:a16="http://schemas.microsoft.com/office/drawing/2014/main" id="{DF6F8DF7-487B-B68F-BCF7-FB6F63800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233272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852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47088" y="365792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rgbClr val="FF0000"/>
                </a:solidFill>
              </a:rPr>
              <a:t>Exemple 3 : </a:t>
            </a:r>
            <a:r>
              <a:rPr lang="fr-CA" dirty="0" err="1">
                <a:solidFill>
                  <a:srgbClr val="FF0000"/>
                </a:solidFill>
              </a:rPr>
              <a:t>Calcul </a:t>
            </a:r>
            <a:r>
              <a:rPr lang="fr-CA" dirty="0">
                <a:solidFill>
                  <a:srgbClr val="FF0000"/>
                </a:solidFill>
              </a:rPr>
              <a:t>du risque/rendement d'un </a:t>
            </a:r>
            <a:r>
              <a:rPr lang="fr-CA" b="1" dirty="0">
                <a:solidFill>
                  <a:srgbClr val="FF0000"/>
                </a:solidFill>
              </a:rPr>
              <a:t>portefeuille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24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79376" y="1527048"/>
            <a:ext cx="11377264" cy="4854280"/>
          </a:xfrm>
        </p:spPr>
        <p:txBody>
          <a:bodyPr>
            <a:normAutofit fontScale="85000" lnSpcReduction="20000"/>
          </a:bodyPr>
          <a:lstStyle/>
          <a:p>
            <a:r>
              <a:rPr lang="fr-CA" dirty="0" err="1"/>
              <a:t>Même </a:t>
            </a:r>
            <a:r>
              <a:rPr lang="fr-CA" dirty="0"/>
              <a:t>exemple…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Informations </a:t>
            </a:r>
            <a:r>
              <a:rPr lang="fr-CA" dirty="0" err="1"/>
              <a:t>supplémentaires </a:t>
            </a:r>
            <a:r>
              <a:rPr lang="fr-CA" dirty="0"/>
              <a:t>:</a:t>
            </a:r>
          </a:p>
          <a:p>
            <a:pPr lvl="1"/>
            <a:r>
              <a:rPr lang="en-US" dirty="0"/>
              <a:t>Coefficient de corrélation entre A et B = 0,9946</a:t>
            </a:r>
          </a:p>
          <a:p>
            <a:pPr lvl="1"/>
            <a:endParaRPr lang="en-US" dirty="0"/>
          </a:p>
          <a:p>
            <a:r>
              <a:rPr lang="en-US" dirty="0"/>
              <a:t>Un portefeuille se compose de 60 % d'actions A et de 40 % d'actions B.</a:t>
            </a:r>
          </a:p>
          <a:p>
            <a:pPr lvl="1"/>
            <a:r>
              <a:rPr lang="en-US" dirty="0"/>
              <a:t>Quel est le rendement attendu de ce portefeuille ?
Quelle est la variance de ce portefeuille ?</a:t>
            </a: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  <p:graphicFrame>
        <p:nvGraphicFramePr>
          <p:cNvPr id="5" name="Tableau 3">
            <a:extLst>
              <a:ext uri="{FF2B5EF4-FFF2-40B4-BE49-F238E27FC236}">
                <a16:creationId xmlns:a16="http://schemas.microsoft.com/office/drawing/2014/main" id="{A1BCE290-0675-48F0-AC48-3D5EDFBD4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53349"/>
              </p:ext>
            </p:extLst>
          </p:nvPr>
        </p:nvGraphicFramePr>
        <p:xfrm>
          <a:off x="3462568" y="1916832"/>
          <a:ext cx="5760640" cy="2098242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054">
                <a:tc>
                  <a:txBody>
                    <a:bodyPr/>
                    <a:lstStyle/>
                    <a:p>
                      <a:r>
                        <a:rPr lang="fr-CA" dirty="0"/>
                        <a:t>Scénarios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Probabilité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Action A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Action B</a:t>
                      </a:r>
                    </a:p>
                    <a:p>
                      <a:pPr algn="ctr"/>
                      <a:r>
                        <a:rPr lang="fr-CA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r>
                        <a:rPr lang="fr-CA" dirty="0"/>
                        <a:t>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3</a:t>
                      </a:r>
                      <a:r>
                        <a:rPr lang="fr-CA" baseline="0" dirty="0"/>
                        <a:t>0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r>
                        <a:rPr lang="fr-CA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054">
                <a:tc>
                  <a:txBody>
                    <a:bodyPr/>
                    <a:lstStyle/>
                    <a:p>
                      <a:r>
                        <a:rPr lang="en-CA" dirty="0"/>
                        <a:t>R</a:t>
                      </a:r>
                      <a:r>
                        <a:rPr lang="fr-CA" dirty="0" err="1"/>
                        <a:t>écession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aseline="0" dirty="0"/>
                        <a:t>10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dirty="0"/>
                        <a:t>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2" descr="Identification ">
            <a:extLst>
              <a:ext uri="{FF2B5EF4-FFF2-40B4-BE49-F238E27FC236}">
                <a16:creationId xmlns:a16="http://schemas.microsoft.com/office/drawing/2014/main" id="{1F08C0EC-E52A-5B34-5123-8E4CE188E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233272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342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Le MÉDAF</a:t>
            </a:r>
            <a:endParaRPr lang="fr-CA" b="1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25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pic>
        <p:nvPicPr>
          <p:cNvPr id="1026" name="Picture 2" descr="What Is the Capital Asset Pricing Model (CAPM)?">
            <a:extLst>
              <a:ext uri="{FF2B5EF4-FFF2-40B4-BE49-F238E27FC236}">
                <a16:creationId xmlns:a16="http://schemas.microsoft.com/office/drawing/2014/main" id="{F1983903-6E39-27CE-C38F-AC4A6A4A7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459" y="2060848"/>
            <a:ext cx="5125081" cy="34167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89776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Risque et MÉDAF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3983902-ABD2-4CA9-BB77-601D6C75F434}" type="slidenum">
              <a:rPr lang="fr-CA" sz="1600">
                <a:solidFill>
                  <a:srgbClr val="8CADAE">
                    <a:shade val="75000"/>
                  </a:srgbClr>
                </a:solidFill>
                <a:latin typeface="Georg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26</a:t>
            </a:fld>
            <a:endParaRPr lang="fr-CA" sz="1600">
              <a:solidFill>
                <a:srgbClr val="8CADAE">
                  <a:shade val="75000"/>
                </a:srgbClr>
              </a:solidFill>
              <a:latin typeface="Georgi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2339" y="1398424"/>
            <a:ext cx="11379200" cy="5102352"/>
          </a:xfrm>
        </p:spPr>
        <p:txBody>
          <a:bodyPr>
            <a:normAutofit lnSpcReduction="10000"/>
          </a:bodyPr>
          <a:lstStyle/>
          <a:p>
            <a:r>
              <a:rPr lang="fr-CA" dirty="0" err="1"/>
              <a:t>Rappelez-vous </a:t>
            </a:r>
            <a:r>
              <a:rPr lang="fr-CA" dirty="0"/>
              <a:t>comment décomposer le rendement </a:t>
            </a:r>
            <a:r>
              <a:rPr lang="fr-CA" dirty="0" err="1"/>
              <a:t>requis en ses différentes </a:t>
            </a:r>
            <a:r>
              <a:rPr lang="fr-CA" dirty="0"/>
              <a:t>composantes… </a:t>
            </a:r>
          </a:p>
          <a:p>
            <a:r>
              <a:rPr lang="fr-CA" dirty="0"/>
              <a:t>...rendement </a:t>
            </a:r>
            <a:r>
              <a:rPr lang="fr-CA" dirty="0" err="1"/>
              <a:t>requis </a:t>
            </a:r>
            <a:r>
              <a:rPr lang="fr-CA" dirty="0"/>
              <a:t>= taux sans risque + prime de risque </a:t>
            </a:r>
          </a:p>
          <a:p>
            <a:r>
              <a:rPr lang="fr-CA" dirty="0"/>
              <a:t>L'objectif </a:t>
            </a:r>
            <a:r>
              <a:rPr lang="fr-CA" dirty="0" err="1"/>
              <a:t>que nous </a:t>
            </a:r>
            <a:r>
              <a:rPr lang="fr-CA" dirty="0"/>
              <a:t>nous sommes fixé </a:t>
            </a:r>
            <a:r>
              <a:rPr lang="fr-CA" dirty="0" err="1"/>
              <a:t>précédemment était </a:t>
            </a:r>
            <a:r>
              <a:rPr lang="fr-CA" dirty="0"/>
              <a:t>de </a:t>
            </a:r>
            <a:r>
              <a:rPr lang="fr-CA" dirty="0" err="1"/>
              <a:t>déterminer </a:t>
            </a:r>
            <a:r>
              <a:rPr lang="fr-CA" dirty="0"/>
              <a:t>la prime </a:t>
            </a:r>
            <a:r>
              <a:rPr lang="fr-CA" dirty="0" err="1"/>
              <a:t>de risque</a:t>
            </a:r>
            <a:r>
              <a:rPr lang="fr-CA" dirty="0"/>
              <a:t>...</a:t>
            </a:r>
            <a:endParaRPr lang="fr-CA" i="1" dirty="0">
              <a:highlight>
                <a:srgbClr val="FFFF00"/>
              </a:highlight>
            </a:endParaRPr>
          </a:p>
          <a:p>
            <a:endParaRPr lang="fr-CA" sz="2000" dirty="0"/>
          </a:p>
          <a:p>
            <a:r>
              <a:rPr lang="fr-CA" dirty="0"/>
              <a:t>Voici le MÉDAF...</a:t>
            </a:r>
          </a:p>
          <a:p>
            <a:pPr lvl="1"/>
            <a:r>
              <a:rPr lang="fr-CA" dirty="0"/>
              <a:t>Modèle d'évaluation des actifs financiers (MÉDAF)</a:t>
            </a:r>
          </a:p>
          <a:p>
            <a:pPr marL="274307" lvl="1" indent="0">
              <a:buNone/>
            </a:pPr>
            <a:r>
              <a:rPr lang="fr-CA" sz="2400" dirty="0">
                <a:latin typeface="+mj-lt"/>
              </a:rPr>
              <a:t>➡️ </a:t>
            </a:r>
            <a:r>
              <a:rPr lang="fr-CA" b="1" dirty="0"/>
              <a:t>Un modèle qui permet de déterminer le taux de rendement requis pour un titre ou un projet en fonction de son risque</a:t>
            </a:r>
          </a:p>
          <a:p>
            <a:pPr marL="274307" lvl="1" indent="0">
              <a:buNone/>
            </a:pPr>
            <a:r>
              <a:rPr lang="fr-CA" sz="2400" dirty="0">
                <a:latin typeface="+mj-lt"/>
              </a:rPr>
              <a:t>➡️ </a:t>
            </a:r>
            <a:r>
              <a:rPr lang="fr-CA" b="1" dirty="0"/>
              <a:t>Le modèle détermine explicitement la prime de risque</a:t>
            </a:r>
          </a:p>
          <a:p>
            <a:pPr lvl="1"/>
            <a:r>
              <a:rPr lang="fr-CA" dirty="0"/>
              <a:t>En réalité... Ce modèle </a:t>
            </a:r>
            <a:r>
              <a:rPr lang="fr-CA" dirty="0" err="1"/>
              <a:t>est principalement utilisé </a:t>
            </a:r>
            <a:r>
              <a:rPr lang="fr-CA" dirty="0"/>
              <a:t>pour les actions...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289225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50679" y="317884"/>
            <a:ext cx="8854067" cy="758952"/>
          </a:xfrm>
        </p:spPr>
        <p:txBody>
          <a:bodyPr>
            <a:noAutofit/>
          </a:bodyPr>
          <a:lstStyle/>
          <a:p>
            <a:r>
              <a:rPr lang="fr-CA" sz="2800" dirty="0" err="1">
                <a:solidFill>
                  <a:srgbClr val="FF0000"/>
                </a:solidFill>
              </a:rPr>
              <a:t>Lorsque </a:t>
            </a:r>
            <a:r>
              <a:rPr lang="fr-CA" sz="2800" dirty="0">
                <a:solidFill>
                  <a:srgbClr val="FF0000"/>
                </a:solidFill>
              </a:rPr>
              <a:t>le </a:t>
            </a:r>
            <a:r>
              <a:rPr lang="fr-CA" sz="2800" dirty="0" err="1">
                <a:solidFill>
                  <a:srgbClr val="FF0000"/>
                </a:solidFill>
              </a:rPr>
              <a:t>nombre </a:t>
            </a:r>
            <a:r>
              <a:rPr lang="fr-CA" sz="2800" dirty="0">
                <a:solidFill>
                  <a:srgbClr val="FF0000"/>
                </a:solidFill>
              </a:rPr>
              <a:t>de </a:t>
            </a:r>
            <a:r>
              <a:rPr lang="fr-CA" sz="2800" dirty="0" err="1">
                <a:solidFill>
                  <a:srgbClr val="FF0000"/>
                </a:solidFill>
              </a:rPr>
              <a:t>titres </a:t>
            </a:r>
            <a:r>
              <a:rPr lang="fr-CA" sz="2800" dirty="0">
                <a:solidFill>
                  <a:srgbClr val="FF0000"/>
                </a:solidFill>
              </a:rPr>
              <a:t>dans un portefeuille </a:t>
            </a:r>
            <a:r>
              <a:rPr lang="fr-CA" sz="2800" dirty="0" err="1">
                <a:solidFill>
                  <a:srgbClr val="FF0000"/>
                </a:solidFill>
              </a:rPr>
              <a:t>augmente</a:t>
            </a:r>
            <a:r>
              <a:rPr lang="fr-CA" sz="2800" dirty="0">
                <a:solidFill>
                  <a:srgbClr val="FF0000"/>
                </a:solidFill>
              </a:rPr>
              <a:t>, le </a:t>
            </a:r>
            <a:r>
              <a:rPr lang="fr-CA" sz="2800" dirty="0" err="1">
                <a:solidFill>
                  <a:srgbClr val="FF0000"/>
                </a:solidFill>
              </a:rPr>
              <a:t>risque </a:t>
            </a:r>
            <a:r>
              <a:rPr lang="fr-CA" sz="2800" dirty="0">
                <a:solidFill>
                  <a:srgbClr val="FF0000"/>
                </a:solidFill>
              </a:rPr>
              <a:t>du portefeuille diminue...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3983902-ABD2-4CA9-BB77-601D6C75F434}" type="slidenum">
              <a:rPr lang="fr-CA" sz="1600">
                <a:solidFill>
                  <a:srgbClr val="8CADAE">
                    <a:shade val="75000"/>
                  </a:srgbClr>
                </a:solidFill>
                <a:latin typeface="Georg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27</a:t>
            </a:fld>
            <a:endParaRPr lang="fr-CA" sz="1600">
              <a:solidFill>
                <a:srgbClr val="8CADAE">
                  <a:shade val="75000"/>
                </a:srgbClr>
              </a:solidFill>
              <a:latin typeface="Georgia"/>
            </a:endParaRPr>
          </a:p>
        </p:txBody>
      </p:sp>
      <p:pic>
        <p:nvPicPr>
          <p:cNvPr id="15" name="Content Placeholder 14" descr="A close up of a map&#10;&#10;Description automatically generated">
            <a:extLst>
              <a:ext uri="{FF2B5EF4-FFF2-40B4-BE49-F238E27FC236}">
                <a16:creationId xmlns:a16="http://schemas.microsoft.com/office/drawing/2014/main" id="{A91796C0-69E5-4297-8B94-73ED2B20C00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073" y="2065171"/>
            <a:ext cx="5569712" cy="4169902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3F21533-F495-4F61-8193-7C89A1D063BB}"/>
              </a:ext>
            </a:extLst>
          </p:cNvPr>
          <p:cNvSpPr/>
          <p:nvPr/>
        </p:nvSpPr>
        <p:spPr>
          <a:xfrm>
            <a:off x="8820574" y="1702331"/>
            <a:ext cx="2978611" cy="44258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fr-CA" sz="2000" b="1" dirty="0">
                <a:solidFill>
                  <a:prstClr val="black"/>
                </a:solidFill>
                <a:latin typeface="Georgia"/>
              </a:rPr>
              <a:t>2 observations clés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endParaRPr lang="fr-CA" sz="2000" dirty="0">
              <a:solidFill>
                <a:prstClr val="black"/>
              </a:solidFill>
              <a:latin typeface="Georgia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en-GB" sz="2000" dirty="0">
                <a:solidFill>
                  <a:prstClr val="black"/>
                </a:solidFill>
                <a:latin typeface="Georgia"/>
              </a:rPr>
              <a:t>    Répartir un investissement sur plusieurs actifs </a:t>
            </a:r>
            <a:r>
              <a:rPr lang="en-GB" sz="2000" u="sng" dirty="0">
                <a:solidFill>
                  <a:prstClr val="black"/>
                </a:solidFill>
                <a:latin typeface="Georgia"/>
              </a:rPr>
              <a:t>élimine une partie du risque</a:t>
            </a:r>
            <a:r>
              <a:rPr lang="en-GB" sz="2000" dirty="0">
                <a:solidFill>
                  <a:prstClr val="black"/>
                </a:solidFill>
                <a:latin typeface="Georgia"/>
              </a:rPr>
              <a:t>... 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fr-CA" sz="2000" dirty="0">
                <a:solidFill>
                  <a:prstClr val="black"/>
                </a:solidFill>
                <a:latin typeface="Georgia"/>
              </a:rPr>
              <a:t>= </a:t>
            </a:r>
            <a:r>
              <a:rPr lang="fr-CA" sz="2000" b="1" dirty="0">
                <a:solidFill>
                  <a:prstClr val="black"/>
                </a:solidFill>
                <a:latin typeface="Georgia"/>
              </a:rPr>
              <a:t>Risque spécifique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endParaRPr lang="fr-CA" sz="2000" dirty="0">
              <a:solidFill>
                <a:prstClr val="black"/>
              </a:solidFill>
              <a:latin typeface="Georgia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fr-CA" sz="2000" dirty="0">
                <a:solidFill>
                  <a:prstClr val="black"/>
                </a:solidFill>
                <a:latin typeface="Georgia"/>
              </a:rPr>
              <a:t>   Un niveau minimum de risque ne peut être éliminé simplement par la diversification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fr-CA" sz="2000" b="1" dirty="0">
                <a:solidFill>
                  <a:prstClr val="black"/>
                </a:solidFill>
                <a:latin typeface="Georgia"/>
              </a:rPr>
              <a:t>= Risque </a:t>
            </a:r>
            <a:r>
              <a:rPr lang="fr-CA" sz="2000" b="1" dirty="0" err="1">
                <a:solidFill>
                  <a:prstClr val="black"/>
                </a:solidFill>
                <a:latin typeface="Georgia"/>
              </a:rPr>
              <a:t>de marché 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92A024F2-936C-4A00-8B24-76C0479D514F}"/>
              </a:ext>
            </a:extLst>
          </p:cNvPr>
          <p:cNvSpPr txBox="1">
            <a:spLocks/>
          </p:cNvSpPr>
          <p:nvPr/>
        </p:nvSpPr>
        <p:spPr>
          <a:xfrm>
            <a:off x="479376" y="1527048"/>
            <a:ext cx="9850296" cy="4572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>
                <a:srgbClr val="4F81BD"/>
              </a:buClr>
              <a:defRPr/>
            </a:pPr>
            <a:r>
              <a:rPr lang="en-US" sz="2200" dirty="0">
                <a:solidFill>
                  <a:prstClr val="black"/>
                </a:solidFill>
                <a:latin typeface="Georgia"/>
              </a:rPr>
              <a:t>Relation entre la taille du portefeuille et le risque du portefeuille</a:t>
            </a:r>
            <a:endParaRPr lang="fr-CA" dirty="0">
              <a:solidFill>
                <a:prstClr val="black"/>
              </a:solidFill>
              <a:latin typeface="Georgia"/>
            </a:endParaRPr>
          </a:p>
          <a:p>
            <a:pPr marL="0" indent="0" fontAlgn="auto">
              <a:spcAft>
                <a:spcPts val="0"/>
              </a:spcAft>
              <a:buClr>
                <a:srgbClr val="4F81BD"/>
              </a:buClr>
              <a:buNone/>
              <a:defRPr/>
            </a:pPr>
            <a:endParaRPr lang="fr-CA" dirty="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357F29-ED3E-4B2C-B14A-4B5FBC5CC4A8}"/>
              </a:ext>
            </a:extLst>
          </p:cNvPr>
          <p:cNvSpPr/>
          <p:nvPr/>
        </p:nvSpPr>
        <p:spPr>
          <a:xfrm>
            <a:off x="8599050" y="2347843"/>
            <a:ext cx="402760" cy="36003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b="1" dirty="0">
                <a:solidFill>
                  <a:prstClr val="white"/>
                </a:solidFill>
                <a:latin typeface="Georgia"/>
              </a:rPr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C29C76-FBE2-4225-A29E-49F7AF2EABD0}"/>
              </a:ext>
            </a:extLst>
          </p:cNvPr>
          <p:cNvCxnSpPr/>
          <p:nvPr/>
        </p:nvCxnSpPr>
        <p:spPr>
          <a:xfrm>
            <a:off x="9098155" y="2204864"/>
            <a:ext cx="218201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5864370-594C-495B-84F8-C820389170B0}"/>
              </a:ext>
            </a:extLst>
          </p:cNvPr>
          <p:cNvSpPr/>
          <p:nvPr/>
        </p:nvSpPr>
        <p:spPr>
          <a:xfrm>
            <a:off x="8592510" y="4150122"/>
            <a:ext cx="402760" cy="36003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b="1" dirty="0">
                <a:solidFill>
                  <a:prstClr val="white"/>
                </a:solidFill>
                <a:latin typeface="Georgia"/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B34EBD-4821-4B95-BAD2-4B4757A15D8F}"/>
              </a:ext>
            </a:extLst>
          </p:cNvPr>
          <p:cNvSpPr/>
          <p:nvPr/>
        </p:nvSpPr>
        <p:spPr>
          <a:xfrm>
            <a:off x="4509339" y="3467106"/>
            <a:ext cx="360040" cy="36004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b="1" dirty="0">
                <a:solidFill>
                  <a:prstClr val="white"/>
                </a:solidFill>
                <a:latin typeface="Georgia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55A8570-6929-4275-994C-C90C49A26AF8}"/>
              </a:ext>
            </a:extLst>
          </p:cNvPr>
          <p:cNvSpPr/>
          <p:nvPr/>
        </p:nvSpPr>
        <p:spPr>
          <a:xfrm>
            <a:off x="6741588" y="4729088"/>
            <a:ext cx="365005" cy="40453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b="1" dirty="0">
                <a:solidFill>
                  <a:prstClr val="white"/>
                </a:solidFill>
                <a:latin typeface="Georgia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1105C3-D467-454A-8D8F-EA420D76682E}"/>
              </a:ext>
            </a:extLst>
          </p:cNvPr>
          <p:cNvSpPr/>
          <p:nvPr/>
        </p:nvSpPr>
        <p:spPr>
          <a:xfrm>
            <a:off x="384695" y="2273352"/>
            <a:ext cx="2655131" cy="38941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sz="2400" dirty="0">
                <a:latin typeface="+mj-lt"/>
              </a:rPr>
              <a:t>➡️ </a:t>
            </a:r>
            <a:r>
              <a:rPr lang="en-GB" sz="2200" dirty="0">
                <a:solidFill>
                  <a:prstClr val="black"/>
                </a:solidFill>
                <a:latin typeface="Ink Free" panose="03080402000500000000" pitchFamily="66" charset="0"/>
              </a:rPr>
              <a:t>La diversification réduit le risque, mais seulement </a:t>
            </a:r>
            <a:r>
              <a:rPr lang="en-GB" sz="2200" dirty="0" err="1">
                <a:solidFill>
                  <a:prstClr val="black"/>
                </a:solidFill>
                <a:latin typeface="Ink Free" panose="03080402000500000000" pitchFamily="66" charset="0"/>
              </a:rPr>
              <a:t>jusqu'à</a:t>
            </a:r>
            <a:r>
              <a:rPr lang="en-GB" sz="2200" dirty="0">
                <a:solidFill>
                  <a:prstClr val="black"/>
                </a:solidFill>
                <a:latin typeface="Ink Free" panose="03080402000500000000" pitchFamily="66" charset="0"/>
              </a:rPr>
              <a:t> un certain point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2200" dirty="0">
              <a:solidFill>
                <a:prstClr val="black"/>
              </a:solidFill>
              <a:latin typeface="Ink Free" panose="03080402000500000000" pitchFamily="66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sz="2400" dirty="0">
                <a:latin typeface="+mj-lt"/>
              </a:rPr>
              <a:t>➡️ </a:t>
            </a:r>
            <a:r>
              <a:rPr lang="en-GB" sz="2200" dirty="0" err="1">
                <a:solidFill>
                  <a:prstClr val="black"/>
                </a:solidFill>
                <a:latin typeface="Ink Free" panose="03080402000500000000" pitchFamily="66" charset="0"/>
              </a:rPr>
              <a:t>Certains</a:t>
            </a:r>
            <a:r>
              <a:rPr lang="en-GB" sz="2200" dirty="0">
                <a:solidFill>
                  <a:prstClr val="black"/>
                </a:solidFill>
                <a:latin typeface="Ink Free" panose="03080402000500000000" pitchFamily="66" charset="0"/>
              </a:rPr>
              <a:t> risques peuvent être diversifiés, d'autres non...</a:t>
            </a:r>
          </a:p>
        </p:txBody>
      </p:sp>
    </p:spTree>
    <p:extLst>
      <p:ext uri="{BB962C8B-B14F-4D97-AF65-F5344CB8AC3E}">
        <p14:creationId xmlns:p14="http://schemas.microsoft.com/office/powerpoint/2010/main" val="114283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5752" y="342872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fr-CA" dirty="0" err="1">
                <a:solidFill>
                  <a:srgbClr val="FF0000"/>
                </a:solidFill>
              </a:rPr>
              <a:t>Le risque spécifique </a:t>
            </a:r>
            <a:r>
              <a:rPr lang="fr-CA" dirty="0">
                <a:solidFill>
                  <a:srgbClr val="FF0000"/>
                </a:solidFill>
              </a:rPr>
              <a:t>peut </a:t>
            </a:r>
            <a:r>
              <a:rPr lang="fr-CA" dirty="0" err="1">
                <a:solidFill>
                  <a:srgbClr val="FF0000"/>
                </a:solidFill>
              </a:rPr>
              <a:t>être diversifié, </a:t>
            </a:r>
            <a:r>
              <a:rPr lang="fr-CA" dirty="0">
                <a:solidFill>
                  <a:srgbClr val="FF0000"/>
                </a:solidFill>
              </a:rPr>
              <a:t>mais pas </a:t>
            </a:r>
            <a:r>
              <a:rPr lang="fr-CA" dirty="0" err="1">
                <a:solidFill>
                  <a:srgbClr val="FF0000"/>
                </a:solidFill>
              </a:rPr>
              <a:t>le risque systématique</a:t>
            </a:r>
            <a:r>
              <a:rPr lang="fr-CA" dirty="0">
                <a:solidFill>
                  <a:srgbClr val="FF0000"/>
                </a:solidFill>
              </a:rPr>
              <a:t>...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3983902-ABD2-4CA9-BB77-601D6C75F434}" type="slidenum">
              <a:rPr lang="fr-CA" sz="1600">
                <a:solidFill>
                  <a:srgbClr val="8CADAE">
                    <a:shade val="75000"/>
                  </a:srgbClr>
                </a:solidFill>
                <a:latin typeface="Georg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28</a:t>
            </a:fld>
            <a:endParaRPr lang="fr-CA" sz="1600">
              <a:solidFill>
                <a:srgbClr val="8CADAE">
                  <a:shade val="75000"/>
                </a:srgbClr>
              </a:solidFill>
              <a:latin typeface="Georgi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79376" y="1412776"/>
            <a:ext cx="11305256" cy="5102352"/>
          </a:xfrm>
        </p:spPr>
        <p:txBody>
          <a:bodyPr>
            <a:normAutofit fontScale="85000" lnSpcReduction="20000"/>
          </a:bodyPr>
          <a:lstStyle/>
          <a:p>
            <a:r>
              <a:rPr lang="fr-CA" dirty="0" err="1"/>
              <a:t>Par conséquent</a:t>
            </a:r>
            <a:r>
              <a:rPr lang="fr-CA" dirty="0"/>
              <a:t>, selon le MEDAF, il existe </a:t>
            </a:r>
            <a:r>
              <a:rPr lang="fr-CA" b="1" dirty="0"/>
              <a:t>deux types </a:t>
            </a:r>
            <a:r>
              <a:rPr lang="fr-CA" dirty="0"/>
              <a:t>de risques :</a:t>
            </a:r>
          </a:p>
          <a:p>
            <a:pPr lvl="1"/>
            <a:r>
              <a:rPr lang="fr-CA" dirty="0" err="1"/>
              <a:t>Risque spécifique</a:t>
            </a:r>
            <a:endParaRPr lang="fr-CA" dirty="0"/>
          </a:p>
          <a:p>
            <a:pPr lvl="1"/>
            <a:r>
              <a:rPr lang="fr-CA" dirty="0"/>
              <a:t>Risque </a:t>
            </a:r>
            <a:r>
              <a:rPr lang="fr-CA" dirty="0" err="1"/>
              <a:t>systématique </a:t>
            </a:r>
          </a:p>
          <a:p>
            <a:endParaRPr lang="fr-CA" dirty="0"/>
          </a:p>
          <a:p>
            <a:r>
              <a:rPr lang="fr-CA" dirty="0"/>
              <a:t>Risque spécifique :</a:t>
            </a:r>
          </a:p>
          <a:p>
            <a:pPr lvl="1"/>
            <a:r>
              <a:rPr lang="fr-CA" dirty="0"/>
              <a:t>Risque ou </a:t>
            </a:r>
            <a:r>
              <a:rPr lang="fr-CA" dirty="0" err="1"/>
              <a:t>facteurs affectant uniquement </a:t>
            </a:r>
            <a:r>
              <a:rPr lang="fr-CA" dirty="0"/>
              <a:t>certaines </a:t>
            </a:r>
            <a:r>
              <a:rPr lang="fr-CA" dirty="0" err="1"/>
              <a:t>entreprises </a:t>
            </a:r>
            <a:r>
              <a:rPr lang="fr-CA" dirty="0"/>
              <a:t>et/ou certains secteurs</a:t>
            </a:r>
          </a:p>
          <a:p>
            <a:pPr lvl="1"/>
            <a:r>
              <a:rPr lang="fr-CA" dirty="0" err="1"/>
              <a:t>Risque</a:t>
            </a:r>
            <a:r>
              <a:rPr lang="fr-CA" dirty="0"/>
              <a:t> diversifiable</a:t>
            </a:r>
            <a:r>
              <a:rPr lang="fr-CA" dirty="0">
                <a:sym typeface="Wingdings" panose="05000000000000000000" pitchFamily="2" charset="2"/>
              </a:rPr>
              <a:t>  </a:t>
            </a:r>
            <a:r>
              <a:rPr lang="fr-CA" dirty="0" err="1"/>
              <a:t>risque</a:t>
            </a:r>
            <a:r>
              <a:rPr lang="fr-CA" dirty="0"/>
              <a:t> non pertinent</a:t>
            </a:r>
          </a:p>
          <a:p>
            <a:pPr lvl="1"/>
            <a:r>
              <a:rPr lang="fr-CA" b="1" dirty="0"/>
              <a:t>Synonymes : </a:t>
            </a:r>
            <a:r>
              <a:rPr lang="fr-CA" b="1" dirty="0" err="1"/>
              <a:t>risque non systématique</a:t>
            </a:r>
            <a:r>
              <a:rPr lang="fr-CA" b="1" dirty="0"/>
              <a:t>, </a:t>
            </a:r>
            <a:r>
              <a:rPr lang="fr-CA" b="1" dirty="0" err="1"/>
              <a:t>risque</a:t>
            </a:r>
            <a:r>
              <a:rPr lang="fr-CA" b="1" dirty="0"/>
              <a:t> diversifiable, </a:t>
            </a:r>
            <a:r>
              <a:rPr lang="fr-CA" b="1" dirty="0" err="1"/>
              <a:t>risque idiosyncratique</a:t>
            </a:r>
            <a:endParaRPr lang="fr-CA" b="1" dirty="0"/>
          </a:p>
          <a:p>
            <a:pPr lvl="1"/>
            <a:r>
              <a:rPr lang="fr-CA" dirty="0" err="1"/>
              <a:t>Ex </a:t>
            </a:r>
            <a:r>
              <a:rPr lang="fr-CA" dirty="0"/>
              <a:t>: grève, stock </a:t>
            </a:r>
            <a:r>
              <a:rPr lang="fr-CA" dirty="0" err="1"/>
              <a:t>légal</a:t>
            </a:r>
            <a:r>
              <a:rPr lang="fr-CA" dirty="0"/>
              <a:t>, recherche et développement…</a:t>
            </a:r>
          </a:p>
          <a:p>
            <a:pPr marL="274320" lvl="1" indent="0">
              <a:buNone/>
            </a:pPr>
            <a:endParaRPr lang="fr-CA" sz="1900" dirty="0"/>
          </a:p>
          <a:p>
            <a:r>
              <a:rPr lang="fr-CA" dirty="0"/>
              <a:t>Risque systématique :</a:t>
            </a:r>
          </a:p>
          <a:p>
            <a:pPr lvl="1"/>
            <a:r>
              <a:rPr lang="fr-CA" dirty="0"/>
              <a:t>Risque </a:t>
            </a:r>
            <a:r>
              <a:rPr lang="fr-CA" dirty="0" err="1"/>
              <a:t>affectant </a:t>
            </a:r>
            <a:r>
              <a:rPr lang="en-US" dirty="0"/>
              <a:t>toutes les entreprises de l'économie, mais pas nécessairement avec la même intensité </a:t>
            </a:r>
          </a:p>
          <a:p>
            <a:pPr lvl="1"/>
            <a:r>
              <a:rPr lang="fr-CA" dirty="0" err="1"/>
              <a:t>Risque non diversifiable</a:t>
            </a:r>
            <a:r>
              <a:rPr lang="fr-CA" dirty="0">
                <a:sym typeface="Wingdings" panose="05000000000000000000" pitchFamily="2" charset="2"/>
              </a:rPr>
              <a:t>  risque pertinent</a:t>
            </a:r>
            <a:endParaRPr lang="fr-CA" dirty="0"/>
          </a:p>
          <a:p>
            <a:pPr lvl="1"/>
            <a:r>
              <a:rPr lang="fr-CA" b="1" dirty="0"/>
              <a:t>Synonymes : </a:t>
            </a:r>
            <a:r>
              <a:rPr lang="fr-CA" b="1" dirty="0" err="1"/>
              <a:t>risque de marché</a:t>
            </a:r>
            <a:r>
              <a:rPr lang="fr-CA" b="1" dirty="0"/>
              <a:t>, </a:t>
            </a:r>
            <a:r>
              <a:rPr lang="fr-CA" b="1" dirty="0" err="1"/>
              <a:t>risque non diversifiable</a:t>
            </a:r>
            <a:endParaRPr lang="fr-CA" b="1" dirty="0"/>
          </a:p>
          <a:p>
            <a:pPr lvl="1"/>
            <a:r>
              <a:rPr lang="fr-CA" dirty="0" err="1"/>
              <a:t>Exemple </a:t>
            </a:r>
            <a:r>
              <a:rPr lang="fr-CA" dirty="0"/>
              <a:t>: inflation, récession, guerre, changement de </a:t>
            </a:r>
            <a:r>
              <a:rPr lang="fr-CA" dirty="0" err="1"/>
              <a:t>gouvernement</a:t>
            </a:r>
            <a:r>
              <a:rPr lang="fr-CA" dirty="0"/>
              <a:t>, COVID-19…</a:t>
            </a:r>
          </a:p>
          <a:p>
            <a:pPr marL="274320" lvl="1" indent="0">
              <a:buNone/>
            </a:pPr>
            <a:endParaRPr lang="fr-CA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4BA5AA-6E36-4BD4-B967-3115040F7792}"/>
              </a:ext>
            </a:extLst>
          </p:cNvPr>
          <p:cNvSpPr/>
          <p:nvPr/>
        </p:nvSpPr>
        <p:spPr>
          <a:xfrm>
            <a:off x="420910" y="2636913"/>
            <a:ext cx="360040" cy="3600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b="1" dirty="0">
                <a:solidFill>
                  <a:prstClr val="white"/>
                </a:solidFill>
                <a:latin typeface="Georgia"/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8B6583-B237-4A59-81CD-44402B4F5CC4}"/>
              </a:ext>
            </a:extLst>
          </p:cNvPr>
          <p:cNvSpPr/>
          <p:nvPr/>
        </p:nvSpPr>
        <p:spPr>
          <a:xfrm>
            <a:off x="420910" y="4439108"/>
            <a:ext cx="360040" cy="3600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b="1" dirty="0">
                <a:solidFill>
                  <a:prstClr val="white"/>
                </a:solidFill>
                <a:latin typeface="Georgia"/>
              </a:rPr>
              <a:t>2</a:t>
            </a:r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A045B2C8-E13A-7168-45F3-461B9EB2F875}"/>
              </a:ext>
            </a:extLst>
          </p:cNvPr>
          <p:cNvSpPr/>
          <p:nvPr/>
        </p:nvSpPr>
        <p:spPr>
          <a:xfrm>
            <a:off x="3287688" y="2630065"/>
            <a:ext cx="568224" cy="341759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BC2B6143-0502-DFEF-ABFA-43FAA08EB0E4}"/>
              </a:ext>
            </a:extLst>
          </p:cNvPr>
          <p:cNvSpPr/>
          <p:nvPr/>
        </p:nvSpPr>
        <p:spPr>
          <a:xfrm>
            <a:off x="3719736" y="4401716"/>
            <a:ext cx="568224" cy="341759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9" name="Picture 2" descr="Threat ">
            <a:extLst>
              <a:ext uri="{FF2B5EF4-FFF2-40B4-BE49-F238E27FC236}">
                <a16:creationId xmlns:a16="http://schemas.microsoft.com/office/drawing/2014/main" id="{C936DE79-FAB8-A7C2-BB97-98D57CC72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0152" y="11274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095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2339" y="1527048"/>
            <a:ext cx="11379200" cy="51023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CA"/>
              <a:t>Dites si les éléments suivants relèvent du </a:t>
            </a:r>
            <a:r>
              <a:rPr lang="fr-CA" b="1"/>
              <a:t>risque systématique </a:t>
            </a:r>
            <a:r>
              <a:rPr lang="fr-CA"/>
              <a:t>ou du </a:t>
            </a:r>
            <a:r>
              <a:rPr lang="fr-CA" b="1"/>
              <a:t>risque spécifique:</a:t>
            </a:r>
          </a:p>
          <a:p>
            <a:pPr marL="725170" lvl="1" indent="-342900">
              <a:spcAft>
                <a:spcPts val="1200"/>
              </a:spcAft>
              <a:buFont typeface="Trebuchet MS" pitchFamily="34" charset="0"/>
              <a:buAutoNum type="alphaLcParenR"/>
            </a:pPr>
            <a:r>
              <a:rPr lang="fr-CA" sz="2300"/>
              <a:t>Le risque que le dollar canadien s’apprécie fortement.</a:t>
            </a:r>
          </a:p>
          <a:p>
            <a:pPr marL="725170" lvl="1" indent="-342900">
              <a:spcAft>
                <a:spcPts val="1200"/>
              </a:spcAft>
              <a:buFont typeface="Trebuchet MS" pitchFamily="34" charset="0"/>
              <a:buAutoNum type="alphaLcParenR"/>
            </a:pPr>
            <a:r>
              <a:rPr lang="fr-CA" sz="2300"/>
              <a:t>Le risque pour l’industrie du cinéma québécois que les subventions liées à la culture deviennent illégales, en raison d’ententes internationales conclues avec l’OMC. </a:t>
            </a:r>
          </a:p>
          <a:p>
            <a:pPr marL="725170" lvl="1" indent="-342900">
              <a:spcAft>
                <a:spcPts val="1200"/>
              </a:spcAft>
              <a:buFont typeface="Trebuchet MS" pitchFamily="34" charset="0"/>
              <a:buAutoNum type="alphaLcParenR"/>
            </a:pPr>
            <a:r>
              <a:rPr lang="fr-CA" sz="2300"/>
              <a:t>Le risque que le PIB canadien augmente plus rapidement que prévu au cours de la prochaine année.</a:t>
            </a:r>
          </a:p>
          <a:p>
            <a:pPr marL="725170" lvl="1" indent="-342900">
              <a:spcAft>
                <a:spcPts val="1200"/>
              </a:spcAft>
              <a:buFont typeface="Trebuchet MS" pitchFamily="34" charset="0"/>
              <a:buAutoNum type="alphaLcParenR"/>
            </a:pPr>
            <a:r>
              <a:rPr lang="fr-CA" sz="2300"/>
              <a:t>Le risque que les membres de la haute direction de Fidelity perdent la vie dans un écrasement d’avion.</a:t>
            </a:r>
          </a:p>
          <a:p>
            <a:pPr marL="725170" lvl="1" indent="-342900">
              <a:spcAft>
                <a:spcPts val="1200"/>
              </a:spcAft>
              <a:buFont typeface="Trebuchet MS" pitchFamily="34" charset="0"/>
              <a:buAutoNum type="alphaLcParenR"/>
            </a:pPr>
            <a:r>
              <a:rPr lang="fr-CA" sz="2300"/>
              <a:t>Le risque que les taux d’intérêt varient beaucoup prochainement.</a:t>
            </a:r>
          </a:p>
          <a:p>
            <a:pPr marL="725170" lvl="1" indent="-342900">
              <a:spcAft>
                <a:spcPts val="1200"/>
              </a:spcAft>
              <a:buFont typeface="Trebuchet MS" pitchFamily="34" charset="0"/>
              <a:buAutoNum type="alphaLcParenR"/>
            </a:pPr>
            <a:r>
              <a:rPr lang="fr-CA" sz="2300"/>
              <a:t>Le risque que les dirigeants d’une grande firme gonflent les profits déclarés dans le but que l’action s’apprécie. </a:t>
            </a:r>
          </a:p>
          <a:p>
            <a:pPr marL="725170" lvl="1" indent="-342900">
              <a:spcAft>
                <a:spcPts val="1200"/>
              </a:spcAft>
              <a:buFont typeface="Trebuchet MS" pitchFamily="34" charset="0"/>
              <a:buAutoNum type="alphaLcParenR"/>
            </a:pPr>
            <a:r>
              <a:rPr lang="fr-CA" sz="2300"/>
              <a:t>Le risque que la productivité du secteur du textile chute dû à la concurrence étrangère.</a:t>
            </a:r>
            <a:endParaRPr lang="fr-CA" sz="23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29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7" name="Picture 4" descr="Warning ">
            <a:extLst>
              <a:ext uri="{FF2B5EF4-FFF2-40B4-BE49-F238E27FC236}">
                <a16:creationId xmlns:a16="http://schemas.microsoft.com/office/drawing/2014/main" id="{122397B5-1717-F840-52BA-28F3D037A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608" y="335945"/>
            <a:ext cx="921355" cy="92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Warning ">
            <a:extLst>
              <a:ext uri="{FF2B5EF4-FFF2-40B4-BE49-F238E27FC236}">
                <a16:creationId xmlns:a16="http://schemas.microsoft.com/office/drawing/2014/main" id="{CCB91C5B-8276-D8D5-C6AE-4C7E861FE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671" y="335944"/>
            <a:ext cx="921355" cy="92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168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8287C3-6D85-4467-A6C7-FE5ECBA1A936}"/>
              </a:ext>
            </a:extLst>
          </p:cNvPr>
          <p:cNvSpPr/>
          <p:nvPr/>
        </p:nvSpPr>
        <p:spPr>
          <a:xfrm>
            <a:off x="191344" y="5128785"/>
            <a:ext cx="11809312" cy="12849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>
              <a:solidFill>
                <a:prstClr val="white"/>
              </a:solidFill>
              <a:latin typeface="Georgi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99356" y="1461698"/>
            <a:ext cx="11593288" cy="5133914"/>
          </a:xfrm>
        </p:spPr>
        <p:txBody>
          <a:bodyPr>
            <a:normAutofit lnSpcReduction="10000"/>
          </a:bodyPr>
          <a:lstStyle/>
          <a:p>
            <a:r>
              <a:rPr lang="fr-CA" sz="2300" b="1" dirty="0"/>
              <a:t>Selon le MÉDAF, un seul risque doit être pris en compte. Le risque systématique ou le risque spécifique ?</a:t>
            </a:r>
          </a:p>
          <a:p>
            <a:pPr lvl="1"/>
            <a:r>
              <a:rPr lang="fr-CA" b="1" dirty="0"/>
              <a:t>Lequel ? </a:t>
            </a:r>
            <a:r>
              <a:rPr lang="fr-CA" b="1" dirty="0" err="1"/>
              <a:t>Pourquoi </a:t>
            </a:r>
            <a:r>
              <a:rPr lang="fr-CA" b="1" dirty="0"/>
              <a:t>? 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Le </a:t>
            </a:r>
            <a:r>
              <a:rPr lang="fr-CA" dirty="0" err="1"/>
              <a:t>principe </a:t>
            </a:r>
            <a:r>
              <a:rPr lang="fr-CA" dirty="0"/>
              <a:t>de diversification :</a:t>
            </a:r>
          </a:p>
          <a:p>
            <a:pPr marL="891540" lvl="2" indent="-342900">
              <a:buFont typeface="Wingdings" panose="05000000000000000000" pitchFamily="2" charset="2"/>
              <a:buChar char="q"/>
            </a:pPr>
            <a:r>
              <a:rPr lang="fr-CA" dirty="0">
                <a:solidFill>
                  <a:schemeClr val="tx2"/>
                </a:solidFill>
              </a:rPr>
              <a:t>Les investisseurs sont </a:t>
            </a:r>
            <a:r>
              <a:rPr lang="fr-CA" b="1" dirty="0">
                <a:solidFill>
                  <a:schemeClr val="tx2"/>
                </a:solidFill>
              </a:rPr>
              <a:t>averses </a:t>
            </a:r>
            <a:r>
              <a:rPr lang="fr-CA" b="1" dirty="0" err="1">
                <a:solidFill>
                  <a:schemeClr val="tx2"/>
                </a:solidFill>
              </a:rPr>
              <a:t>au risque</a:t>
            </a:r>
            <a:r>
              <a:rPr lang="fr-CA" dirty="0">
                <a:solidFill>
                  <a:schemeClr val="tx2"/>
                </a:solidFill>
                <a:sym typeface="Wingdings" panose="05000000000000000000" pitchFamily="2" charset="2"/>
              </a:rPr>
              <a:t>  </a:t>
            </a:r>
            <a:r>
              <a:rPr lang="fr-CA" dirty="0" err="1">
                <a:solidFill>
                  <a:schemeClr val="tx2"/>
                </a:solidFill>
              </a:rPr>
              <a:t>ils </a:t>
            </a:r>
            <a:r>
              <a:rPr lang="fr-CA" b="1" dirty="0" err="1">
                <a:solidFill>
                  <a:schemeClr val="tx2"/>
                </a:solidFill>
              </a:rPr>
              <a:t>détiennent </a:t>
            </a:r>
            <a:r>
              <a:rPr lang="fr-CA" dirty="0">
                <a:solidFill>
                  <a:schemeClr val="tx2"/>
                </a:solidFill>
              </a:rPr>
              <a:t>des portefeuilles de titres </a:t>
            </a:r>
            <a:r>
              <a:rPr lang="fr-CA" b="1" dirty="0" err="1">
                <a:solidFill>
                  <a:schemeClr val="tx2"/>
                </a:solidFill>
              </a:rPr>
              <a:t>bien diversifiés </a:t>
            </a:r>
          </a:p>
          <a:p>
            <a:pPr marL="891540" lvl="2" indent="-342900">
              <a:buFont typeface="Wingdings" panose="05000000000000000000" pitchFamily="2" charset="2"/>
              <a:buChar char="q"/>
            </a:pPr>
            <a:r>
              <a:rPr lang="fr-CA" dirty="0" err="1">
                <a:solidFill>
                  <a:schemeClr val="tx2"/>
                </a:solidFill>
              </a:rPr>
              <a:t>Le risque spécifique est alors éliminé </a:t>
            </a:r>
            <a:r>
              <a:rPr lang="fr-CA" dirty="0">
                <a:solidFill>
                  <a:schemeClr val="tx2"/>
                </a:solidFill>
              </a:rPr>
              <a:t>si un investisseur détient un portefeuille diversifié </a:t>
            </a:r>
          </a:p>
          <a:p>
            <a:pPr marL="891540" lvl="2" indent="-342900">
              <a:buFont typeface="Wingdings" panose="05000000000000000000" pitchFamily="2" charset="2"/>
              <a:buChar char="q"/>
            </a:pPr>
            <a:r>
              <a:rPr lang="fr-CA" dirty="0" err="1">
                <a:solidFill>
                  <a:schemeClr val="tx2"/>
                </a:solidFill>
                <a:sym typeface="Wingdings" panose="05000000000000000000" pitchFamily="2" charset="2"/>
              </a:rPr>
              <a:t>Cependant</a:t>
            </a:r>
            <a:r>
              <a:rPr lang="fr-CA" dirty="0">
                <a:solidFill>
                  <a:schemeClr val="tx2"/>
                </a:solidFill>
                <a:sym typeface="Wingdings" panose="05000000000000000000" pitchFamily="2" charset="2"/>
              </a:rPr>
              <a:t>, </a:t>
            </a:r>
            <a:r>
              <a:rPr lang="fr-CA" b="1" dirty="0" err="1">
                <a:solidFill>
                  <a:schemeClr val="tx2"/>
                </a:solidFill>
                <a:sym typeface="Wingdings" panose="05000000000000000000" pitchFamily="2" charset="2"/>
              </a:rPr>
              <a:t>le risque systématique </a:t>
            </a:r>
            <a:r>
              <a:rPr lang="fr-CA" dirty="0">
                <a:solidFill>
                  <a:schemeClr val="tx2"/>
                </a:solidFill>
                <a:sym typeface="Wingdings" panose="05000000000000000000" pitchFamily="2" charset="2"/>
              </a:rPr>
              <a:t>ne peut être éliminé en augmentant le nombre de </a:t>
            </a:r>
            <a:r>
              <a:rPr lang="fr-CA" dirty="0" err="1">
                <a:solidFill>
                  <a:schemeClr val="tx2"/>
                </a:solidFill>
                <a:sym typeface="Wingdings" panose="05000000000000000000" pitchFamily="2" charset="2"/>
              </a:rPr>
              <a:t>titres </a:t>
            </a:r>
            <a:r>
              <a:rPr lang="fr-CA" dirty="0">
                <a:solidFill>
                  <a:schemeClr val="tx2"/>
                </a:solidFill>
                <a:sym typeface="Wingdings" panose="05000000000000000000" pitchFamily="2" charset="2"/>
              </a:rPr>
              <a:t>dans un portefeuille... </a:t>
            </a:r>
            <a:r>
              <a:rPr lang="fr-CA" dirty="0" err="1">
                <a:solidFill>
                  <a:schemeClr val="tx2"/>
                </a:solidFill>
                <a:sym typeface="Wingdings" panose="05000000000000000000" pitchFamily="2" charset="2"/>
              </a:rPr>
              <a:t>c'est donc </a:t>
            </a:r>
            <a:r>
              <a:rPr lang="fr-CA" dirty="0">
                <a:solidFill>
                  <a:schemeClr val="tx2"/>
                </a:solidFill>
                <a:sym typeface="Wingdings" panose="05000000000000000000" pitchFamily="2" charset="2"/>
              </a:rPr>
              <a:t>le </a:t>
            </a:r>
            <a:r>
              <a:rPr lang="fr-CA" b="1" dirty="0">
                <a:solidFill>
                  <a:schemeClr val="tx2"/>
                </a:solidFill>
                <a:sym typeface="Wingdings" panose="05000000000000000000" pitchFamily="2" charset="2"/>
              </a:rPr>
              <a:t>seul risque pertinent</a:t>
            </a:r>
            <a:r>
              <a:rPr lang="fr-CA" dirty="0">
                <a:solidFill>
                  <a:schemeClr val="tx2"/>
                </a:solidFill>
                <a:sym typeface="Wingdings" panose="05000000000000000000" pitchFamily="2" charset="2"/>
              </a:rPr>
              <a:t>.</a:t>
            </a:r>
          </a:p>
          <a:p>
            <a:pPr marL="0" indent="0" algn="ctr">
              <a:buNone/>
            </a:pPr>
            <a:endParaRPr lang="fr-CA" sz="2100" i="1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fr-CA" sz="2100" dirty="0">
                <a:latin typeface="Ink Free" panose="03080402000500000000" pitchFamily="66" charset="0"/>
                <a:sym typeface="Wingdings" panose="05000000000000000000" pitchFamily="2" charset="2"/>
              </a:rPr>
              <a:t>Les investisseurs doivent être récompensés pour le risque</a:t>
            </a:r>
          </a:p>
          <a:p>
            <a:pPr marL="0" indent="0" algn="ctr">
              <a:buNone/>
            </a:pPr>
            <a:r>
              <a:rPr lang="fr-CA" sz="2100" dirty="0" err="1">
                <a:latin typeface="Ink Free" panose="03080402000500000000" pitchFamily="66" charset="0"/>
                <a:sym typeface="Wingdings" panose="05000000000000000000" pitchFamily="2" charset="2"/>
              </a:rPr>
              <a:t>Seul </a:t>
            </a:r>
            <a:r>
              <a:rPr lang="fr-CA" sz="2100" b="1" dirty="0" err="1">
                <a:latin typeface="Ink Free" panose="03080402000500000000" pitchFamily="66" charset="0"/>
                <a:sym typeface="Wingdings" panose="05000000000000000000" pitchFamily="2" charset="2"/>
              </a:rPr>
              <a:t>le risque systématique est récompensé</a:t>
            </a:r>
            <a:endParaRPr lang="fr-CA" sz="2100" b="1" dirty="0">
              <a:latin typeface="Ink Free" panose="03080402000500000000" pitchFamily="66" charset="0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fr-CA" sz="2800" dirty="0">
                <a:solidFill>
                  <a:srgbClr val="0F8D36"/>
                </a:solidFill>
                <a:latin typeface="Ink Free" panose="03080402000500000000" pitchFamily="66" charset="0"/>
              </a:rPr>
              <a:t>👉 </a:t>
            </a:r>
            <a:r>
              <a:rPr lang="fr-CA" sz="2600" b="1" u="sng" dirty="0">
                <a:latin typeface="Ink Free" panose="03080402000500000000" pitchFamily="66" charset="0"/>
                <a:sym typeface="Wingdings" panose="05000000000000000000" pitchFamily="2" charset="2"/>
              </a:rPr>
              <a:t>La prime de risque ne </a:t>
            </a:r>
            <a:r>
              <a:rPr lang="fr-CA" sz="2600" dirty="0">
                <a:latin typeface="Ink Free" panose="03080402000500000000" pitchFamily="66" charset="0"/>
                <a:sym typeface="Wingdings" panose="05000000000000000000" pitchFamily="2" charset="2"/>
              </a:rPr>
              <a:t>devrait alors tenir compte </a:t>
            </a:r>
            <a:r>
              <a:rPr lang="fr-CA" sz="2600" b="1" u="sng" dirty="0">
                <a:latin typeface="Ink Free" panose="03080402000500000000" pitchFamily="66" charset="0"/>
                <a:sym typeface="Wingdings" panose="05000000000000000000" pitchFamily="2" charset="2"/>
              </a:rPr>
              <a:t>que du risque systématique.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47088" y="323636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La prime de risque ne devrait alors tenir compte que du risque systématique...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3983902-ABD2-4CA9-BB77-601D6C75F434}" type="slidenum">
              <a:rPr lang="fr-CA" sz="1600">
                <a:solidFill>
                  <a:srgbClr val="8CADAE">
                    <a:shade val="75000"/>
                  </a:srgbClr>
                </a:solidFill>
                <a:latin typeface="Georg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30</a:t>
            </a:fld>
            <a:endParaRPr lang="fr-CA" sz="1600">
              <a:solidFill>
                <a:srgbClr val="8CADAE">
                  <a:shade val="75000"/>
                </a:srgbClr>
              </a:solidFill>
              <a:latin typeface="Georgia"/>
            </a:endParaRPr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8753FA93-AFDC-48EF-9381-75CF14958902}"/>
              </a:ext>
            </a:extLst>
          </p:cNvPr>
          <p:cNvSpPr/>
          <p:nvPr/>
        </p:nvSpPr>
        <p:spPr>
          <a:xfrm>
            <a:off x="10560496" y="5396302"/>
            <a:ext cx="936104" cy="595597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2091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AA5F254-3FFD-43B1-8E55-8A3E2640B25E}"/>
              </a:ext>
            </a:extLst>
          </p:cNvPr>
          <p:cNvSpPr/>
          <p:nvPr/>
        </p:nvSpPr>
        <p:spPr>
          <a:xfrm>
            <a:off x="623392" y="3573017"/>
            <a:ext cx="5262296" cy="2862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sz="1800" dirty="0"/>
              <a:t>🔴 </a:t>
            </a:r>
            <a:r>
              <a:rPr lang="fr-CA" b="1" dirty="0">
                <a:solidFill>
                  <a:prstClr val="black"/>
                </a:solidFill>
                <a:latin typeface="Georgia"/>
              </a:rPr>
              <a:t>Mesure du risque systématique : le bêta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CA" b="1" dirty="0">
              <a:solidFill>
                <a:prstClr val="black"/>
              </a:solidFill>
              <a:latin typeface="Georgi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b="1" dirty="0">
                <a:solidFill>
                  <a:prstClr val="black"/>
                </a:solidFill>
                <a:latin typeface="Georgia"/>
              </a:rPr>
              <a:t>Le coefficient bêta nous indique </a:t>
            </a:r>
            <a:r>
              <a:rPr lang="fr-CA" b="1" dirty="0" err="1">
                <a:solidFill>
                  <a:prstClr val="black"/>
                </a:solidFill>
                <a:latin typeface="Georgia"/>
              </a:rPr>
              <a:t>le niveau de risque systématique </a:t>
            </a:r>
            <a:r>
              <a:rPr lang="fr-CA" b="1" dirty="0">
                <a:solidFill>
                  <a:prstClr val="black"/>
                </a:solidFill>
                <a:latin typeface="Georgia"/>
              </a:rPr>
              <a:t>d'un actif </a:t>
            </a:r>
            <a:r>
              <a:rPr lang="fr-CA" b="1" dirty="0" err="1">
                <a:solidFill>
                  <a:prstClr val="black"/>
                </a:solidFill>
                <a:latin typeface="Georgia"/>
              </a:rPr>
              <a:t>particulier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CA" b="1" dirty="0">
              <a:solidFill>
                <a:prstClr val="black"/>
              </a:solidFill>
              <a:latin typeface="Georgi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dirty="0">
                <a:solidFill>
                  <a:prstClr val="black"/>
                </a:solidFill>
                <a:latin typeface="Georgia"/>
              </a:rPr>
              <a:t>Le bêta moyen est fixé à 1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dirty="0">
                <a:solidFill>
                  <a:prstClr val="black"/>
                </a:solidFill>
                <a:latin typeface="Georgia"/>
              </a:rPr>
              <a:t>Si </a:t>
            </a:r>
            <a:r>
              <a:rPr lang="el-GR" dirty="0"/>
              <a:t>β </a:t>
            </a:r>
            <a:r>
              <a:rPr lang="fr-CA" dirty="0">
                <a:solidFill>
                  <a:prstClr val="black"/>
                </a:solidFill>
                <a:latin typeface="Georgia"/>
              </a:rPr>
              <a:t>&gt; 1 : risque systématique élevé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dirty="0">
                <a:solidFill>
                  <a:prstClr val="black"/>
                </a:solidFill>
                <a:latin typeface="Georgia"/>
              </a:rPr>
              <a:t>Si </a:t>
            </a:r>
            <a:r>
              <a:rPr lang="el-GR" dirty="0"/>
              <a:t>β </a:t>
            </a:r>
            <a:r>
              <a:rPr lang="fr-CA" dirty="0">
                <a:solidFill>
                  <a:prstClr val="black"/>
                </a:solidFill>
                <a:latin typeface="Georgia"/>
              </a:rPr>
              <a:t>&lt; 1 : risque systématique faible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dirty="0">
                <a:solidFill>
                  <a:prstClr val="black"/>
                </a:solidFill>
                <a:latin typeface="Georgia"/>
              </a:rPr>
              <a:t>Si </a:t>
            </a:r>
            <a:r>
              <a:rPr lang="el-GR" dirty="0"/>
              <a:t>β </a:t>
            </a:r>
            <a:r>
              <a:rPr lang="fr-CA" dirty="0">
                <a:solidFill>
                  <a:prstClr val="black"/>
                </a:solidFill>
                <a:latin typeface="Georgia"/>
              </a:rPr>
              <a:t>= 0 : pas de risque systématique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A41E9C-ADAA-6187-9EBF-8ADFCA7A04F2}"/>
              </a:ext>
            </a:extLst>
          </p:cNvPr>
          <p:cNvSpPr/>
          <p:nvPr/>
        </p:nvSpPr>
        <p:spPr>
          <a:xfrm>
            <a:off x="512865" y="6093296"/>
            <a:ext cx="5472608" cy="432048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Comment </a:t>
            </a:r>
            <a:r>
              <a:rPr lang="fr-CA" b="1" dirty="0" err="1">
                <a:solidFill>
                  <a:srgbClr val="FF0000"/>
                </a:solidFill>
              </a:rPr>
              <a:t>mesurer</a:t>
            </a:r>
            <a:r>
              <a:rPr lang="fr-CA" dirty="0" err="1">
                <a:solidFill>
                  <a:srgbClr val="FF0000"/>
                </a:solidFill>
              </a:rPr>
              <a:t> le risque systématique </a:t>
            </a:r>
            <a:r>
              <a:rPr lang="fr-CA" dirty="0">
                <a:solidFill>
                  <a:srgbClr val="FF0000"/>
                </a:solidFill>
              </a:rPr>
              <a:t>? </a:t>
            </a:r>
            <a:r>
              <a:rPr lang="fr-CA" dirty="0" err="1">
                <a:solidFill>
                  <a:srgbClr val="FF0000"/>
                </a:solidFill>
              </a:rPr>
              <a:t>Avec </a:t>
            </a:r>
            <a:r>
              <a:rPr lang="fr-CA" dirty="0">
                <a:solidFill>
                  <a:srgbClr val="FF0000"/>
                </a:solidFill>
              </a:rPr>
              <a:t>le bêta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3983902-ABD2-4CA9-BB77-601D6C75F434}" type="slidenum">
              <a:rPr lang="fr-CA" sz="1600">
                <a:solidFill>
                  <a:srgbClr val="8CADAE">
                    <a:shade val="75000"/>
                  </a:srgbClr>
                </a:solidFill>
                <a:latin typeface="Georg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31</a:t>
            </a:fld>
            <a:endParaRPr lang="fr-CA" sz="1600">
              <a:solidFill>
                <a:srgbClr val="8CADAE">
                  <a:shade val="75000"/>
                </a:srgbClr>
              </a:solidFill>
              <a:latin typeface="Georgi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2339" y="1527048"/>
            <a:ext cx="11166269" cy="2045968"/>
          </a:xfrm>
        </p:spPr>
        <p:txBody>
          <a:bodyPr>
            <a:normAutofit fontScale="92500" lnSpcReduction="10000"/>
          </a:bodyPr>
          <a:lstStyle/>
          <a:p>
            <a:r>
              <a:rPr lang="fr-CA" sz="2200" dirty="0"/>
              <a:t>Nous savons que tous les titres réagissent au risque de marché...</a:t>
            </a:r>
          </a:p>
          <a:p>
            <a:endParaRPr lang="fr-CA" sz="2200" dirty="0"/>
          </a:p>
          <a:p>
            <a:r>
              <a:rPr lang="fr-CA" sz="2200" dirty="0"/>
              <a:t>... mais tous les titres ne réagissent pas de la même manière... </a:t>
            </a:r>
            <a:r>
              <a:rPr lang="fr-CA" sz="2200" b="1" dirty="0" err="1"/>
              <a:t>Exemples</a:t>
            </a:r>
            <a:endParaRPr lang="fr-CA" sz="2200" b="1" dirty="0"/>
          </a:p>
          <a:p>
            <a:endParaRPr lang="fr-CA" sz="2200" dirty="0"/>
          </a:p>
          <a:p>
            <a:r>
              <a:rPr lang="fr-CA" sz="2200" dirty="0" err="1"/>
              <a:t>Nous avons donc besoin </a:t>
            </a:r>
            <a:r>
              <a:rPr lang="fr-CA" sz="2200" dirty="0"/>
              <a:t>d'une mesure pour </a:t>
            </a:r>
            <a:r>
              <a:rPr lang="fr-CA" sz="2200" b="1" dirty="0"/>
              <a:t>quantifier la manière dont le rendement d'un actif </a:t>
            </a:r>
            <a:r>
              <a:rPr lang="fr-CA" sz="2200" b="1" dirty="0" err="1"/>
              <a:t>réagit </a:t>
            </a:r>
            <a:r>
              <a:rPr lang="fr-CA" sz="2200" b="1" dirty="0"/>
              <a:t>aux variations </a:t>
            </a:r>
            <a:r>
              <a:rPr lang="fr-CA" sz="2200" b="1" dirty="0" err="1"/>
              <a:t>du risque de marché</a:t>
            </a:r>
            <a:endParaRPr lang="fr-CA" sz="2200" b="1" dirty="0"/>
          </a:p>
          <a:p>
            <a:endParaRPr lang="fr-CA" dirty="0"/>
          </a:p>
        </p:txBody>
      </p:sp>
      <p:pic>
        <p:nvPicPr>
          <p:cNvPr id="6" name="Picture 5" descr="Fig13">
            <a:extLst>
              <a:ext uri="{FF2B5EF4-FFF2-40B4-BE49-F238E27FC236}">
                <a16:creationId xmlns:a16="http://schemas.microsoft.com/office/drawing/2014/main" id="{5A9C7E76-70C5-4E20-8EEE-8548F15BC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3972" t="1627" r="18687" b="6558"/>
          <a:stretch>
            <a:fillRect/>
          </a:stretch>
        </p:blipFill>
        <p:spPr bwMode="auto">
          <a:xfrm>
            <a:off x="6744072" y="3669010"/>
            <a:ext cx="4443984" cy="26703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1558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DC3C-307C-F109-749E-9642BD6AD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272" y="267420"/>
            <a:ext cx="8534400" cy="758952"/>
          </a:xfrm>
        </p:spPr>
        <p:txBody>
          <a:bodyPr/>
          <a:lstStyle/>
          <a:p>
            <a:r>
              <a:rPr lang="en-US" dirty="0"/>
              <a:t>Et la version bêta en pratique... ?</a:t>
            </a:r>
            <a:endParaRPr lang="fr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CD6424-E8B9-9255-643A-A887706F9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32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3B629-B755-F0C2-AB46-76AE821A1DF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 err="1"/>
              <a:t>Jetons </a:t>
            </a:r>
            <a:r>
              <a:rPr lang="fr-CA" dirty="0"/>
              <a:t>un œil à Yahoo Finance... !</a:t>
            </a:r>
          </a:p>
        </p:txBody>
      </p:sp>
      <p:pic>
        <p:nvPicPr>
          <p:cNvPr id="5" name="Graphic 4" descr="Internet with solid fill">
            <a:extLst>
              <a:ext uri="{FF2B5EF4-FFF2-40B4-BE49-F238E27FC236}">
                <a16:creationId xmlns:a16="http://schemas.microsoft.com/office/drawing/2014/main" id="{3FC84973-2221-5A5A-7E6A-CFA1EB8153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42888" y="2483768"/>
            <a:ext cx="2088232" cy="2088232"/>
          </a:xfrm>
          <a:prstGeom prst="rect">
            <a:avLst/>
          </a:prstGeom>
        </p:spPr>
      </p:pic>
      <p:pic>
        <p:nvPicPr>
          <p:cNvPr id="6" name="Picture 2" descr="Yahoo Finance,">
            <a:extLst>
              <a:ext uri="{FF2B5EF4-FFF2-40B4-BE49-F238E27FC236}">
                <a16:creationId xmlns:a16="http://schemas.microsoft.com/office/drawing/2014/main" id="{81CBEC5E-4201-EDA0-B1E7-95C49793A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776" y="2226649"/>
            <a:ext cx="1424778" cy="142477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86685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C43D972D-1DF3-4BED-B89C-4C9E144F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Exemple : </a:t>
            </a:r>
            <a:r>
              <a:rPr lang="fr-CA" dirty="0" err="1">
                <a:solidFill>
                  <a:srgbClr val="FF0000"/>
                </a:solidFill>
              </a:rPr>
              <a:t>risque</a:t>
            </a:r>
            <a:r>
              <a:rPr lang="fr-CA" dirty="0">
                <a:solidFill>
                  <a:srgbClr val="FF0000"/>
                </a:solidFill>
              </a:rPr>
              <a:t> total ou </a:t>
            </a:r>
            <a:r>
              <a:rPr lang="fr-CA" dirty="0" err="1">
                <a:solidFill>
                  <a:srgbClr val="FF0000"/>
                </a:solidFill>
              </a:rPr>
              <a:t>risque systématique </a:t>
            </a:r>
            <a:r>
              <a:rPr lang="fr-CA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96260" name="Slide Number Placeholder 3">
            <a:extLst>
              <a:ext uri="{FF2B5EF4-FFF2-40B4-BE49-F238E27FC236}">
                <a16:creationId xmlns:a16="http://schemas.microsoft.com/office/drawing/2014/main" id="{F5BC5761-39FB-4218-830C-F91A4E52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69463" y="1066146"/>
            <a:ext cx="3044952" cy="3657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25492" indent="-317497"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69987" indent="-253997"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77982" indent="-253997"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5977" indent="-253997"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93972" indent="-253997" eaLnBrk="0" fontAlgn="base" hangingPunct="0">
              <a:spcBef>
                <a:spcPct val="0"/>
              </a:spcBef>
              <a:spcAft>
                <a:spcPct val="0"/>
              </a:spcAft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301967" indent="-253997" eaLnBrk="0" fontAlgn="base" hangingPunct="0">
              <a:spcBef>
                <a:spcPct val="0"/>
              </a:spcBef>
              <a:spcAft>
                <a:spcPct val="0"/>
              </a:spcAft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809962" indent="-253997" eaLnBrk="0" fontAlgn="base" hangingPunct="0">
              <a:spcBef>
                <a:spcPct val="0"/>
              </a:spcBef>
              <a:spcAft>
                <a:spcPct val="0"/>
              </a:spcAft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317957" indent="-253997" eaLnBrk="0" fontAlgn="base" hangingPunct="0">
              <a:spcBef>
                <a:spcPct val="0"/>
              </a:spcBef>
              <a:spcAft>
                <a:spcPct val="0"/>
              </a:spcAft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02C2A9F-D50D-49A5-83F9-B07E1D447F3F}" type="slidenum">
              <a:rPr lang="en-US" altLang="en-US" sz="1333">
                <a:solidFill>
                  <a:srgbClr val="002060"/>
                </a:solidFill>
                <a:latin typeface="Arial" panose="020B0604020202020204" pitchFamily="34" charset="0"/>
              </a:rPr>
              <a:t>33</a:t>
            </a:fld>
            <a:endParaRPr lang="en-US" altLang="en-US" sz="1333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E766E06-F607-4E2A-BF48-F02833FBAAF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Considérez les informations </a:t>
            </a:r>
            <a:r>
              <a:rPr lang="en-US" altLang="en-US" dirty="0" err="1"/>
              <a:t>suivantes</a:t>
            </a:r>
            <a:r>
              <a:rPr lang="en-US" altLang="en-US" dirty="0"/>
              <a:t> :</a:t>
            </a:r>
          </a:p>
          <a:p>
            <a:pPr marL="0" indent="0">
              <a:buNone/>
            </a:pPr>
            <a:endParaRPr lang="en-US" altLang="en-US" dirty="0"/>
          </a:p>
          <a:p>
            <a:pPr lvl="1" eaLnBrk="1" hangingPunct="1">
              <a:buFontTx/>
              <a:buNone/>
            </a:pPr>
            <a:r>
              <a:rPr lang="en-US" altLang="en-US" dirty="0"/>
              <a:t>   		        </a:t>
            </a:r>
            <a:r>
              <a:rPr lang="en-US" altLang="en-US" b="1" dirty="0" err="1"/>
              <a:t>Écart</a:t>
            </a:r>
            <a:r>
              <a:rPr lang="en-US" altLang="en-US" b="1" dirty="0"/>
              <a:t> type              Bêta</a:t>
            </a:r>
          </a:p>
          <a:p>
            <a:pPr marL="274320" lvl="1" indent="0">
              <a:buNone/>
            </a:pPr>
            <a:r>
              <a:rPr lang="en-US" altLang="en-US" b="1" dirty="0"/>
              <a:t>Titre C        </a:t>
            </a:r>
            <a:r>
              <a:rPr lang="en-US" altLang="en-US" dirty="0"/>
              <a:t>20 %                  1,25</a:t>
            </a:r>
          </a:p>
          <a:p>
            <a:pPr marL="274320" lvl="1" indent="0">
              <a:buNone/>
            </a:pPr>
            <a:r>
              <a:rPr lang="en-US" altLang="en-US" b="1" dirty="0"/>
              <a:t>Titre K        </a:t>
            </a:r>
            <a:r>
              <a:rPr lang="en-US" altLang="en-US" dirty="0"/>
              <a:t>30 %                  0,95</a:t>
            </a:r>
          </a:p>
          <a:p>
            <a:pPr lvl="1" eaLnBrk="1" hangingPunct="1"/>
            <a:endParaRPr lang="en-US" altLang="en-US" dirty="0"/>
          </a:p>
          <a:p>
            <a:pPr lvl="1"/>
            <a:r>
              <a:rPr lang="en-US" altLang="en-US" dirty="0"/>
              <a:t>Quel titre présente le risque total le plus élevé ?</a:t>
            </a:r>
          </a:p>
          <a:p>
            <a:pPr lvl="1"/>
            <a:r>
              <a:rPr lang="en-US" altLang="en-US" dirty="0"/>
              <a:t>Quel titre présente le risque systématique le plus élevé ?</a:t>
            </a:r>
          </a:p>
          <a:p>
            <a:pPr lvl="1"/>
            <a:r>
              <a:rPr lang="en-US" altLang="en-US" dirty="0"/>
              <a:t>Quel titre devrait avoir le rendement attendu le plus élevé ?</a:t>
            </a:r>
          </a:p>
        </p:txBody>
      </p:sp>
      <p:pic>
        <p:nvPicPr>
          <p:cNvPr id="2" name="Picture 2" descr="Important ">
            <a:extLst>
              <a:ext uri="{FF2B5EF4-FFF2-40B4-BE49-F238E27FC236}">
                <a16:creationId xmlns:a16="http://schemas.microsoft.com/office/drawing/2014/main" id="{48B7D7E5-7B5A-511C-7DC7-08C49CC30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20" y="3861048"/>
            <a:ext cx="1732163" cy="173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dentification ">
            <a:extLst>
              <a:ext uri="{FF2B5EF4-FFF2-40B4-BE49-F238E27FC236}">
                <a16:creationId xmlns:a16="http://schemas.microsoft.com/office/drawing/2014/main" id="{16A720E7-E59D-EF18-B361-1E8C6269B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350708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5038F753-4516-4273-ACA2-0675FCC03906}"/>
              </a:ext>
            </a:extLst>
          </p:cNvPr>
          <p:cNvSpPr/>
          <p:nvPr/>
        </p:nvSpPr>
        <p:spPr>
          <a:xfrm>
            <a:off x="7464152" y="4538864"/>
            <a:ext cx="2736304" cy="2090536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EE0C31-9FE6-4BE4-8E16-A7A8148C11B6}"/>
              </a:ext>
            </a:extLst>
          </p:cNvPr>
          <p:cNvSpPr/>
          <p:nvPr/>
        </p:nvSpPr>
        <p:spPr>
          <a:xfrm>
            <a:off x="1487488" y="2273885"/>
            <a:ext cx="8343492" cy="18143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Formule MÉDAF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34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51384" y="1527048"/>
            <a:ext cx="9778288" cy="5330952"/>
          </a:xfrm>
        </p:spPr>
        <p:txBody>
          <a:bodyPr>
            <a:normAutofit/>
          </a:bodyPr>
          <a:lstStyle/>
          <a:p>
            <a:r>
              <a:rPr lang="fr-CA" dirty="0"/>
              <a:t>MÉDAF : Modèle d'évaluation des actifs financiers</a:t>
            </a:r>
          </a:p>
          <a:p>
            <a:endParaRPr lang="fr-CA" dirty="0"/>
          </a:p>
          <a:p>
            <a:pPr marL="0" indent="0" algn="ctr">
              <a:buNone/>
            </a:pPr>
            <a:r>
              <a:rPr lang="fr-CA" b="1" dirty="0"/>
              <a:t>Formule MÉDAF :</a:t>
            </a:r>
          </a:p>
          <a:p>
            <a:pPr marL="274320" lvl="1" indent="0" algn="ctr">
              <a:buNone/>
            </a:pPr>
            <a:r>
              <a:rPr lang="fr-CA" dirty="0"/>
              <a:t>rendement </a:t>
            </a:r>
            <a:r>
              <a:rPr lang="fr-CA" dirty="0" err="1"/>
              <a:t>requis </a:t>
            </a:r>
            <a:r>
              <a:rPr lang="fr-CA" dirty="0"/>
              <a:t>= taux sans risque + prime de risque</a:t>
            </a:r>
          </a:p>
          <a:p>
            <a:pPr marL="274320" lvl="1" indent="0" algn="ctr">
              <a:buNone/>
            </a:pPr>
            <a:r>
              <a:rPr lang="fr-CA" dirty="0"/>
              <a:t>rendement requis pour le titre i = E(R</a:t>
            </a:r>
            <a:r>
              <a:rPr lang="fr-CA" baseline="-25000" dirty="0"/>
              <a:t>i</a:t>
            </a:r>
            <a:r>
              <a:rPr lang="fr-CA" dirty="0"/>
              <a:t> ) = R</a:t>
            </a:r>
            <a:r>
              <a:rPr lang="fr-CA" baseline="-25000" dirty="0"/>
              <a:t>f</a:t>
            </a:r>
            <a:r>
              <a:rPr lang="fr-CA" dirty="0"/>
              <a:t> +</a:t>
            </a:r>
            <a:r>
              <a:rPr lang="el-GR" dirty="0"/>
              <a:t> β </a:t>
            </a:r>
            <a:r>
              <a:rPr lang="en-GB" baseline="-25000" dirty="0" err="1"/>
              <a:t>i</a:t>
            </a:r>
            <a:r>
              <a:rPr lang="fr-CA" dirty="0"/>
              <a:t> [E(</a:t>
            </a:r>
            <a:r>
              <a:rPr lang="fr-CA" dirty="0" err="1"/>
              <a:t>R</a:t>
            </a:r>
            <a:r>
              <a:rPr lang="fr-CA" baseline="-25000" dirty="0" err="1"/>
              <a:t>m</a:t>
            </a:r>
            <a:r>
              <a:rPr lang="fr-CA" dirty="0"/>
              <a:t> ) - R</a:t>
            </a:r>
            <a:r>
              <a:rPr lang="fr-CA" baseline="-25000" dirty="0"/>
              <a:t>f</a:t>
            </a:r>
            <a:r>
              <a:rPr lang="fr-CA" dirty="0"/>
              <a:t> ]</a:t>
            </a:r>
          </a:p>
          <a:p>
            <a:pPr marL="274320" lvl="1" indent="0">
              <a:buNone/>
            </a:pPr>
            <a:endParaRPr lang="fr-CA" dirty="0"/>
          </a:p>
          <a:p>
            <a:r>
              <a:rPr lang="fr-CA" sz="2200" dirty="0"/>
              <a:t>Définitions :</a:t>
            </a:r>
          </a:p>
          <a:p>
            <a:pPr lvl="1"/>
            <a:r>
              <a:rPr lang="fr-CA" sz="1600" dirty="0"/>
              <a:t>R</a:t>
            </a:r>
            <a:r>
              <a:rPr lang="fr-CA" sz="1600" baseline="-25000" dirty="0"/>
              <a:t>f</a:t>
            </a:r>
            <a:r>
              <a:rPr lang="fr-CA" sz="1600" dirty="0"/>
              <a:t> = taux sans risque</a:t>
            </a:r>
          </a:p>
          <a:p>
            <a:pPr lvl="1"/>
            <a:r>
              <a:rPr lang="el-GR" sz="1600" dirty="0"/>
              <a:t>β </a:t>
            </a:r>
            <a:r>
              <a:rPr lang="en-GB" sz="2000" baseline="-25000" dirty="0" err="1"/>
              <a:t>i</a:t>
            </a:r>
            <a:r>
              <a:rPr lang="fr-CA" sz="2000" dirty="0"/>
              <a:t> </a:t>
            </a:r>
            <a:r>
              <a:rPr lang="fr-CA" sz="1600" dirty="0"/>
              <a:t>= Mesure le risque systématique de l'actif i</a:t>
            </a:r>
          </a:p>
          <a:p>
            <a:pPr lvl="1"/>
            <a:r>
              <a:rPr lang="fr-CA" sz="1600" dirty="0"/>
              <a:t>E(</a:t>
            </a:r>
            <a:r>
              <a:rPr lang="fr-CA" sz="1600" dirty="0" err="1"/>
              <a:t>Rm</a:t>
            </a:r>
            <a:r>
              <a:rPr lang="fr-CA" sz="1600" dirty="0"/>
              <a:t>) = Rendement attendu du portefeuille </a:t>
            </a:r>
            <a:r>
              <a:rPr lang="fr-CA" sz="1600" dirty="0" err="1"/>
              <a:t>de marché</a:t>
            </a:r>
          </a:p>
          <a:p>
            <a:pPr lvl="1"/>
            <a:r>
              <a:rPr lang="fr-CA" sz="1600" b="1" dirty="0"/>
              <a:t>E(</a:t>
            </a:r>
            <a:r>
              <a:rPr lang="fr-CA" sz="1600" b="1" dirty="0" err="1"/>
              <a:t>Rm</a:t>
            </a:r>
            <a:r>
              <a:rPr lang="fr-CA" sz="1600" b="1" dirty="0"/>
              <a:t>) – R</a:t>
            </a:r>
            <a:r>
              <a:rPr lang="fr-CA" sz="1600" b="1" baseline="-25000" dirty="0"/>
              <a:t>f</a:t>
            </a:r>
            <a:r>
              <a:rPr lang="fr-CA" sz="1600" b="1" dirty="0"/>
              <a:t>  = Prime de risque du marché</a:t>
            </a:r>
          </a:p>
          <a:p>
            <a:pPr lvl="1"/>
            <a:r>
              <a:rPr lang="el-GR" sz="1600" dirty="0"/>
              <a:t>β </a:t>
            </a:r>
            <a:r>
              <a:rPr lang="en-GB" sz="2000" baseline="-25000" dirty="0" err="1"/>
              <a:t>i</a:t>
            </a:r>
            <a:r>
              <a:rPr lang="en-GB" sz="1600" b="1" baseline="-25000" dirty="0"/>
              <a:t> </a:t>
            </a:r>
            <a:r>
              <a:rPr lang="fr-CA" sz="1600" b="1" dirty="0"/>
              <a:t>[E(</a:t>
            </a:r>
            <a:r>
              <a:rPr lang="fr-CA" sz="1600" b="1" dirty="0" err="1"/>
              <a:t>Rm</a:t>
            </a:r>
            <a:r>
              <a:rPr lang="fr-CA" sz="1600" b="1" dirty="0"/>
              <a:t>) - R</a:t>
            </a:r>
            <a:r>
              <a:rPr lang="fr-CA" sz="1600" b="1" baseline="-25000" dirty="0"/>
              <a:t>f</a:t>
            </a:r>
            <a:r>
              <a:rPr lang="fr-CA" sz="1600" b="1" dirty="0"/>
              <a:t> ] = Prime de risque de l'actif i</a:t>
            </a:r>
          </a:p>
          <a:p>
            <a:pPr marL="274320" lvl="1" indent="0">
              <a:buNone/>
            </a:pPr>
            <a:r>
              <a:rPr lang="fr-CA" sz="2400" dirty="0"/>
              <a:t>	</a:t>
            </a:r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53BA101C-8081-472C-8806-E95B301AD381}"/>
              </a:ext>
            </a:extLst>
          </p:cNvPr>
          <p:cNvSpPr/>
          <p:nvPr/>
        </p:nvSpPr>
        <p:spPr>
          <a:xfrm>
            <a:off x="7672776" y="4157095"/>
            <a:ext cx="3967840" cy="2300864"/>
          </a:xfrm>
          <a:prstGeom prst="flowChartPunchedCard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700" dirty="0">
                <a:solidFill>
                  <a:schemeClr val="tx1"/>
                </a:solidFill>
                <a:latin typeface="Ink Free" panose="03080402000500000000" pitchFamily="66" charset="0"/>
              </a:rPr>
              <a:t>Les actifs dont </a:t>
            </a:r>
            <a:r>
              <a:rPr lang="en-GB" sz="1700" b="1" dirty="0">
                <a:solidFill>
                  <a:schemeClr val="tx1"/>
                </a:solidFill>
                <a:latin typeface="Ink Free" panose="03080402000500000000" pitchFamily="66" charset="0"/>
              </a:rPr>
              <a:t>le bêta est élevé </a:t>
            </a:r>
            <a:r>
              <a:rPr lang="en-GB" sz="1700" dirty="0">
                <a:solidFill>
                  <a:schemeClr val="tx1"/>
                </a:solidFill>
                <a:latin typeface="Ink Free" panose="03080402000500000000" pitchFamily="66" charset="0"/>
              </a:rPr>
              <a:t>présentent </a:t>
            </a:r>
            <a:r>
              <a:rPr lang="en-GB" sz="1700" b="1" dirty="0">
                <a:solidFill>
                  <a:schemeClr val="tx1"/>
                </a:solidFill>
                <a:latin typeface="Ink Free" panose="03080402000500000000" pitchFamily="66" charset="0"/>
              </a:rPr>
              <a:t>un risque systématique plus important, des primes de risque</a:t>
            </a:r>
            <a:r>
              <a:rPr lang="en-GB" sz="1700" dirty="0">
                <a:solidFill>
                  <a:schemeClr val="tx1"/>
                </a:solidFill>
                <a:latin typeface="Ink Free" panose="03080402000500000000" pitchFamily="66" charset="0"/>
              </a:rPr>
              <a:t> plus élevées et </a:t>
            </a:r>
            <a:r>
              <a:rPr lang="en-GB" sz="1700" b="1" dirty="0">
                <a:solidFill>
                  <a:schemeClr val="tx1"/>
                </a:solidFill>
                <a:latin typeface="Ink Free" panose="03080402000500000000" pitchFamily="66" charset="0"/>
              </a:rPr>
              <a:t>des rendements attendus plus élevés.</a:t>
            </a:r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626142F2-3A77-DF5E-8AE4-DE5FFC24FBE7}"/>
              </a:ext>
            </a:extLst>
          </p:cNvPr>
          <p:cNvSpPr/>
          <p:nvPr/>
        </p:nvSpPr>
        <p:spPr>
          <a:xfrm>
            <a:off x="7598455" y="2351662"/>
            <a:ext cx="648464" cy="441325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0" name="Picture 2" descr="Important ">
            <a:extLst>
              <a:ext uri="{FF2B5EF4-FFF2-40B4-BE49-F238E27FC236}">
                <a16:creationId xmlns:a16="http://schemas.microsoft.com/office/drawing/2014/main" id="{FE422FEE-164B-893E-CC5A-A73B7DCF2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584" y="4192524"/>
            <a:ext cx="648464" cy="64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F3E3F11-52A2-D4A3-C986-B2ACC5EF3736}"/>
              </a:ext>
            </a:extLst>
          </p:cNvPr>
          <p:cNvSpPr/>
          <p:nvPr/>
        </p:nvSpPr>
        <p:spPr>
          <a:xfrm>
            <a:off x="512865" y="5517232"/>
            <a:ext cx="5472608" cy="758952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44960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1299DB-9414-4BC7-ACC7-F3285B1390CB}"/>
              </a:ext>
            </a:extLst>
          </p:cNvPr>
          <p:cNvSpPr/>
          <p:nvPr/>
        </p:nvSpPr>
        <p:spPr>
          <a:xfrm>
            <a:off x="1631504" y="2431513"/>
            <a:ext cx="8957336" cy="38057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964FE4-E4DD-4170-AE13-1BF879CED2C6}"/>
              </a:ext>
            </a:extLst>
          </p:cNvPr>
          <p:cNvSpPr/>
          <p:nvPr/>
        </p:nvSpPr>
        <p:spPr>
          <a:xfrm>
            <a:off x="6089813" y="3921078"/>
            <a:ext cx="4421440" cy="1350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96367-D9AD-4023-B87E-63250CD14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MÉDAF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325A64-DF7A-4C01-9900-9E27821E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35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4CC025-F40C-418E-A70A-C5DAB90032E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825752" y="1479602"/>
            <a:ext cx="8351838" cy="435202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fr-CA" sz="2000" dirty="0" err="1"/>
              <a:t>    La relation entre </a:t>
            </a:r>
            <a:r>
              <a:rPr lang="fr-CA" sz="2000" dirty="0"/>
              <a:t>le rendement d'un actif et la prime de risque est </a:t>
            </a:r>
            <a:r>
              <a:rPr lang="fr-CA" sz="2000" dirty="0" err="1"/>
              <a:t>linéaire et s'appelle </a:t>
            </a:r>
            <a:r>
              <a:rPr lang="fr-CA" sz="2000" b="1" u="sng" dirty="0"/>
              <a:t>la ligne</a:t>
            </a:r>
            <a:r>
              <a:rPr lang="fr-CA" sz="2000" b="1" u="sng" dirty="0" err="1"/>
              <a:t> du marché des titres.</a:t>
            </a:r>
            <a:endParaRPr lang="fr-CA" sz="2800" dirty="0">
              <a:highlight>
                <a:srgbClr val="FFFF00"/>
              </a:highlight>
            </a:endParaRP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E6AB01AA-7F0B-4FAD-B7F4-FFAE5DE7A528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2517313" y="3194546"/>
            <a:ext cx="0" cy="2376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41960989-5F6A-4982-AC62-A2535F8502FC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517316" y="5571034"/>
            <a:ext cx="4752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2A9CD103-89BE-4EA2-B157-1D0B65CDEA49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2517316" y="3518397"/>
            <a:ext cx="4608513" cy="129659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4D15D50F-6723-4DBC-AFCC-2F8F9F96D3E1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4604876" y="4220868"/>
            <a:ext cx="0" cy="1350169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1F8C7ADB-D9BE-4C48-8E0E-17D6A6A60993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>
            <a:off x="2517315" y="4220865"/>
            <a:ext cx="2087563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CA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C2757652-D554-473E-B94C-7F1CFFB8A85A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064876" y="4718547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charset="0"/>
              </a:rPr>
              <a:t>R</a:t>
            </a:r>
            <a:r>
              <a:rPr lang="fr-CA" baseline="-25000" dirty="0">
                <a:latin typeface="Tahoma" charset="0"/>
              </a:rPr>
              <a:t>f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0A76BF08-8C4F-4682-A366-B423B73C37A5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796590" y="4058940"/>
            <a:ext cx="8963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dirty="0">
                <a:latin typeface="Tahoma" charset="0"/>
              </a:rPr>
              <a:t>E (R</a:t>
            </a:r>
            <a:r>
              <a:rPr lang="fr-CA" baseline="-25000" dirty="0">
                <a:latin typeface="Tahoma" charset="0"/>
              </a:rPr>
              <a:t>M</a:t>
            </a:r>
            <a:r>
              <a:rPr lang="fr-CA" dirty="0">
                <a:latin typeface="Tahoma" charset="0"/>
              </a:rPr>
              <a:t>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1">
                <a:extLst>
                  <a:ext uri="{FF2B5EF4-FFF2-40B4-BE49-F238E27FC236}">
                    <a16:creationId xmlns:a16="http://schemas.microsoft.com/office/drawing/2014/main" id="{B0912C61-E1DC-48FF-A3BE-6BCD2F07D40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041913" y="5624612"/>
                <a:ext cx="121642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CA" dirty="0">
                  <a:latin typeface="Tahoma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3" name="Text Box 11">
                <a:extLst>
                  <a:ext uri="{FF2B5EF4-FFF2-40B4-BE49-F238E27FC236}">
                    <a16:creationId xmlns:a16="http://schemas.microsoft.com/office/drawing/2014/main" id="{B0912C61-E1DC-48FF-A3BE-6BCD2F07D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041913" y="5624612"/>
                <a:ext cx="1216424" cy="369332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2">
            <a:extLst>
              <a:ext uri="{FF2B5EF4-FFF2-40B4-BE49-F238E27FC236}">
                <a16:creationId xmlns:a16="http://schemas.microsoft.com/office/drawing/2014/main" id="{CD802EF7-849D-4B2F-9D1D-E5AE498E78CA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725153" y="3140968"/>
            <a:ext cx="7713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b="1" dirty="0">
                <a:latin typeface="Tahoma" charset="0"/>
              </a:rPr>
              <a:t>E (R)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213FACC0-1B9E-4794-8C24-3A67C0CD73A2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981364" y="5624612"/>
            <a:ext cx="7489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CA" b="1" dirty="0" err="1">
                <a:latin typeface="Tahoma" charset="0"/>
                <a:sym typeface="Symbol" pitchFamily="18" charset="2"/>
              </a:rPr>
              <a:t>bêta</a:t>
            </a:r>
            <a:r>
              <a:rPr lang="fr-CA" b="1" baseline="-25000" dirty="0" err="1">
                <a:latin typeface="Tahoma" charset="0"/>
                <a:sym typeface="Symbol" pitchFamily="18" charset="2"/>
              </a:rPr>
              <a:t>i</a:t>
            </a:r>
            <a:endParaRPr lang="fr-CA" b="1" dirty="0">
              <a:latin typeface="Tahoma" charset="0"/>
              <a:sym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04F464-694A-4FF7-86A4-56A65EC4B340}"/>
                  </a:ext>
                </a:extLst>
              </p:cNvPr>
              <p:cNvSpPr/>
              <p:nvPr/>
            </p:nvSpPr>
            <p:spPr>
              <a:xfrm>
                <a:off x="6513191" y="3974656"/>
                <a:ext cx="34358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74320" lvl="1" algn="ctr"/>
                <a:r>
                  <a:rPr lang="fr-CA" dirty="0"/>
                  <a:t>E (R</a:t>
                </a:r>
                <a:r>
                  <a:rPr lang="fr-CA" baseline="-25000" dirty="0"/>
                  <a:t>i</a:t>
                </a:r>
                <a:r>
                  <a:rPr lang="fr-CA" dirty="0"/>
                  <a:t> ) = R</a:t>
                </a:r>
                <a:r>
                  <a:rPr lang="fr-CA" baseline="-25000" dirty="0"/>
                  <a:t>f</a:t>
                </a:r>
                <a:r>
                  <a:rPr lang="fr-CA" dirty="0"/>
                  <a:t> 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CA" dirty="0"/>
                  <a:t>  [E(</a:t>
                </a:r>
                <a:r>
                  <a:rPr lang="fr-CA" dirty="0" err="1"/>
                  <a:t>R</a:t>
                </a:r>
                <a:r>
                  <a:rPr lang="fr-CA" baseline="-25000" dirty="0" err="1"/>
                  <a:t>m</a:t>
                </a:r>
                <a:r>
                  <a:rPr lang="fr-CA" dirty="0"/>
                  <a:t> ) - R</a:t>
                </a:r>
                <a:r>
                  <a:rPr lang="fr-CA" baseline="-25000" dirty="0"/>
                  <a:t>f</a:t>
                </a:r>
                <a:r>
                  <a:rPr lang="fr-CA" dirty="0"/>
                  <a:t> ]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04F464-694A-4FF7-86A4-56A65EC4B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191" y="3974656"/>
                <a:ext cx="3435877" cy="369332"/>
              </a:xfrm>
              <a:prstGeom prst="rect">
                <a:avLst/>
              </a:prstGeom>
              <a:blipFill>
                <a:blip r:embed="rId16"/>
                <a:stretch>
                  <a:fillRect t="-8197" r="-1064" b="-2459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635F6FC-F7B6-4032-9943-55B3810E8374}"/>
                  </a:ext>
                </a:extLst>
              </p:cNvPr>
              <p:cNvSpPr/>
              <p:nvPr/>
            </p:nvSpPr>
            <p:spPr>
              <a:xfrm>
                <a:off x="6089814" y="4457812"/>
                <a:ext cx="4391523" cy="6814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𝑐𝑜𝑣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𝑣𝑎𝑟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𝑐𝑜𝑟𝑟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635F6FC-F7B6-4032-9943-55B3810E83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814" y="4457812"/>
                <a:ext cx="4391523" cy="68140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319154D5-EA98-D0E9-8FCD-B1C05CC8E465}"/>
              </a:ext>
            </a:extLst>
          </p:cNvPr>
          <p:cNvSpPr/>
          <p:nvPr/>
        </p:nvSpPr>
        <p:spPr>
          <a:xfrm>
            <a:off x="9782976" y="3966860"/>
            <a:ext cx="648464" cy="441325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0924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A97D15-A476-4476-8199-E0ABA233C95F}"/>
              </a:ext>
            </a:extLst>
          </p:cNvPr>
          <p:cNvSpPr/>
          <p:nvPr/>
        </p:nvSpPr>
        <p:spPr>
          <a:xfrm>
            <a:off x="263351" y="2564904"/>
            <a:ext cx="11665298" cy="996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MÉDAF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36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63351" y="1628800"/>
                <a:ext cx="11518187" cy="255002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fr-CA" dirty="0"/>
                  <a:t>Remarque 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𝑐𝑜𝑣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𝑣𝑎𝑟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𝑐𝑜𝑟𝑟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 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endParaRPr lang="fr-CA" sz="2400" dirty="0"/>
              </a:p>
              <a:p>
                <a:pPr lvl="1"/>
                <a:endParaRPr lang="fr-CA" sz="2400" dirty="0"/>
              </a:p>
              <a:p>
                <a:pPr lvl="1"/>
                <a:r>
                  <a:rPr lang="en-CA" sz="2400" b="1" dirty="0"/>
                  <a:t>Le portefeuille de marché a un bêta de portefeuille = 1 </a:t>
                </a:r>
              </a:p>
              <a:p>
                <a:pPr lvl="1"/>
                <a:r>
                  <a:rPr lang="en-GB" sz="2400" dirty="0"/>
                  <a:t>Bêta du portefeuille </a:t>
                </a:r>
                <a:r>
                  <a:rPr lang="fr-CA" sz="2400" dirty="0"/>
                  <a:t>= </a:t>
                </a:r>
                <a:r>
                  <a:rPr lang="en-GB" sz="2400" dirty="0"/>
                  <a:t>somme </a:t>
                </a:r>
                <a:r>
                  <a:rPr lang="fr-CA" sz="2400" dirty="0" err="1"/>
                  <a:t>pondérée </a:t>
                </a:r>
                <a:r>
                  <a:rPr lang="en-GB" sz="2400" dirty="0"/>
                  <a:t>des bêtas individuels </a:t>
                </a:r>
                <a:endParaRPr lang="fr-CA" sz="2400" dirty="0"/>
              </a:p>
              <a:p>
                <a:pPr marL="868680" lvl="3" indent="0">
                  <a:buNone/>
                </a:pPr>
                <a:endParaRPr lang="fr-CA" dirty="0"/>
              </a:p>
              <a:p>
                <a:r>
                  <a:rPr lang="fr-CA" dirty="0"/>
                  <a:t>Relation </a:t>
                </a:r>
                <a:r>
                  <a:rPr lang="fr-CA" dirty="0" err="1"/>
                  <a:t>entre </a:t>
                </a:r>
                <a:r>
                  <a:rPr lang="fr-CA" dirty="0"/>
                  <a:t>le bêta et le rendement </a:t>
                </a:r>
                <a:r>
                  <a:rPr lang="fr-CA" dirty="0" err="1"/>
                  <a:t>attendu </a:t>
                </a:r>
                <a:r>
                  <a:rPr lang="fr-CA" dirty="0"/>
                  <a:t>:</a:t>
                </a:r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endParaRPr lang="fr-CA" dirty="0"/>
              </a:p>
              <a:p>
                <a:pPr marL="0" indent="0">
                  <a:buNone/>
                </a:pPr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63351" y="1628800"/>
                <a:ext cx="11518187" cy="2550024"/>
              </a:xfrm>
              <a:blipFill>
                <a:blip r:embed="rId3"/>
                <a:stretch>
                  <a:fillRect l="-370" t="-4296" b="-358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C2B7E71-D72E-433A-AB84-47AB6D44BA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6573295"/>
                  </p:ext>
                </p:extLst>
              </p:nvPr>
            </p:nvGraphicFramePr>
            <p:xfrm>
              <a:off x="1271464" y="4272152"/>
              <a:ext cx="9577064" cy="2346960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760957">
                      <a:extLst>
                        <a:ext uri="{9D8B030D-6E8A-4147-A177-3AD203B41FA5}">
                          <a16:colId xmlns:a16="http://schemas.microsoft.com/office/drawing/2014/main" val="4245517143"/>
                        </a:ext>
                      </a:extLst>
                    </a:gridCol>
                    <a:gridCol w="3878657">
                      <a:extLst>
                        <a:ext uri="{9D8B030D-6E8A-4147-A177-3AD203B41FA5}">
                          <a16:colId xmlns:a16="http://schemas.microsoft.com/office/drawing/2014/main" val="2466022238"/>
                        </a:ext>
                      </a:extLst>
                    </a:gridCol>
                    <a:gridCol w="3937450">
                      <a:extLst>
                        <a:ext uri="{9D8B030D-6E8A-4147-A177-3AD203B41FA5}">
                          <a16:colId xmlns:a16="http://schemas.microsoft.com/office/drawing/2014/main" val="90995640"/>
                        </a:ext>
                      </a:extLst>
                    </a:gridCol>
                  </a:tblGrid>
                  <a:tr h="196933">
                    <a:tc>
                      <a:txBody>
                        <a:bodyPr/>
                        <a:lstStyle/>
                        <a:p>
                          <a:endParaRPr lang="en-GB" sz="15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Risque systématique de l'actif </a:t>
                          </a:r>
                          <a:r>
                            <a:rPr lang="en-GB" sz="1500" dirty="0" err="1"/>
                            <a:t>i </a:t>
                          </a:r>
                          <a:r>
                            <a:rPr lang="en-GB" sz="1500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Rendement attendu de l'actif </a:t>
                          </a:r>
                          <a:r>
                            <a:rPr lang="en-GB" sz="1500" dirty="0" err="1"/>
                            <a:t>i </a:t>
                          </a:r>
                          <a:r>
                            <a:rPr lang="en-GB" sz="1500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1361274"/>
                      </a:ext>
                    </a:extLst>
                  </a:tr>
                  <a:tr h="223921">
                    <a:tc>
                      <a:txBody>
                        <a:bodyPr/>
                        <a:lstStyle/>
                        <a:p>
                          <a:r>
                            <a:rPr lang="en-CA" sz="1800" dirty="0"/>
                            <a:t>Si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CA" sz="1800" dirty="0"/>
                            <a:t>= 1</a:t>
                          </a:r>
                          <a:endParaRPr lang="en-GB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Risque identique à celui du marché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= rendement attendu du marché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9659173"/>
                      </a:ext>
                    </a:extLst>
                  </a:tr>
                  <a:tr h="335881">
                    <a:tc>
                      <a:txBody>
                        <a:bodyPr/>
                        <a:lstStyle/>
                        <a:p>
                          <a:r>
                            <a:rPr lang="en-CA" sz="1800" dirty="0"/>
                            <a:t>Si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CA" sz="1800" dirty="0"/>
                            <a:t>&gt; 1</a:t>
                          </a:r>
                          <a:endParaRPr lang="en-GB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Risque systématique plus élevé que le marché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500" dirty="0"/>
                            <a:t>&gt; rendement attendu du marché</a:t>
                          </a:r>
                        </a:p>
                        <a:p>
                          <a:endParaRPr lang="en-GB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4513026"/>
                      </a:ext>
                    </a:extLst>
                  </a:tr>
                  <a:tr h="335881">
                    <a:tc>
                      <a:txBody>
                        <a:bodyPr/>
                        <a:lstStyle/>
                        <a:p>
                          <a:r>
                            <a:rPr lang="en-CA" sz="1800" dirty="0"/>
                            <a:t>Si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CA" sz="1800" dirty="0"/>
                            <a:t> </a:t>
                          </a:r>
                          <a:r>
                            <a:rPr lang="fr-CA" dirty="0"/>
                            <a:t>&lt; </a:t>
                          </a:r>
                          <a:r>
                            <a:rPr lang="en-CA" sz="1800" dirty="0"/>
                            <a:t>1</a:t>
                          </a:r>
                          <a:endParaRPr lang="en-GB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Risque systématique inférieur à celui du marché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CA" sz="1600" dirty="0"/>
                            <a:t>&lt; </a:t>
                          </a:r>
                          <a:r>
                            <a:rPr lang="en-GB" sz="1500" dirty="0" err="1"/>
                            <a:t>rendement</a:t>
                          </a:r>
                          <a:r>
                            <a:rPr lang="en-GB" sz="1500" dirty="0"/>
                            <a:t> attendu du marché</a:t>
                          </a:r>
                        </a:p>
                        <a:p>
                          <a:endParaRPr lang="en-GB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9609697"/>
                      </a:ext>
                    </a:extLst>
                  </a:tr>
                  <a:tr h="475831">
                    <a:tc>
                      <a:txBody>
                        <a:bodyPr/>
                        <a:lstStyle/>
                        <a:p>
                          <a:r>
                            <a:rPr lang="en-CA" sz="1800" dirty="0"/>
                            <a:t>Si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CA" sz="1800" dirty="0"/>
                            <a:t> = 0</a:t>
                          </a:r>
                          <a:endParaRPr lang="en-GB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Aucun risque systématique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500" b="1" dirty="0"/>
                            <a:t>= taux sans risque et inférieur au rendement attendu du </a:t>
                          </a:r>
                          <a:r>
                            <a:rPr lang="en-GB" sz="1500" b="1" dirty="0" err="1"/>
                            <a:t>marché</a:t>
                          </a:r>
                          <a:endParaRPr lang="en-GB" sz="15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59237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C2B7E71-D72E-433A-AB84-47AB6D44BA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6573295"/>
                  </p:ext>
                </p:extLst>
              </p:nvPr>
            </p:nvGraphicFramePr>
            <p:xfrm>
              <a:off x="1271464" y="4272152"/>
              <a:ext cx="9577064" cy="2346960"/>
            </p:xfrm>
            <a:graphic>
              <a:graphicData uri="http://schemas.openxmlformats.org/drawingml/2006/table">
                <a:tbl>
                  <a:tblPr firstRow="1" bandRow="1">
                    <a:tableStyleId>{85BE263C-DBD7-4A20-BB59-AAB30ACAA65A}</a:tableStyleId>
                  </a:tblPr>
                  <a:tblGrid>
                    <a:gridCol w="1760957">
                      <a:extLst>
                        <a:ext uri="{9D8B030D-6E8A-4147-A177-3AD203B41FA5}">
                          <a16:colId xmlns:a16="http://schemas.microsoft.com/office/drawing/2014/main" val="4245517143"/>
                        </a:ext>
                      </a:extLst>
                    </a:gridCol>
                    <a:gridCol w="3878657">
                      <a:extLst>
                        <a:ext uri="{9D8B030D-6E8A-4147-A177-3AD203B41FA5}">
                          <a16:colId xmlns:a16="http://schemas.microsoft.com/office/drawing/2014/main" val="2466022238"/>
                        </a:ext>
                      </a:extLst>
                    </a:gridCol>
                    <a:gridCol w="3937450">
                      <a:extLst>
                        <a:ext uri="{9D8B030D-6E8A-4147-A177-3AD203B41FA5}">
                          <a16:colId xmlns:a16="http://schemas.microsoft.com/office/drawing/2014/main" val="90995640"/>
                        </a:ext>
                      </a:extLst>
                    </a:gridCol>
                  </a:tblGrid>
                  <a:tr h="320040">
                    <a:tc>
                      <a:txBody>
                        <a:bodyPr/>
                        <a:lstStyle/>
                        <a:p>
                          <a:endParaRPr lang="en-GB" sz="15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Risque systématique de l'actif </a:t>
                          </a:r>
                          <a:r>
                            <a:rPr lang="en-GB" sz="1500" dirty="0" err="1"/>
                            <a:t>i </a:t>
                          </a:r>
                          <a:r>
                            <a:rPr lang="en-GB" sz="1500" dirty="0"/>
                            <a:t>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Rendement attendu de l'actif </a:t>
                          </a:r>
                          <a:r>
                            <a:rPr lang="en-GB" sz="1500" dirty="0" err="1"/>
                            <a:t>i </a:t>
                          </a:r>
                          <a:r>
                            <a:rPr lang="en-GB" sz="1500" dirty="0"/>
                            <a:t>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136127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4"/>
                          <a:stretch>
                            <a:fillRect t="-91667" r="-444637" b="-4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Risque identique à celui du marché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= rendement attendu du marché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965917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4"/>
                          <a:stretch>
                            <a:fillRect t="-127778" r="-444637" b="-21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Risque systématique plus élevé que le marché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500" dirty="0"/>
                            <a:t>&gt; rendement attendu du marché</a:t>
                          </a:r>
                        </a:p>
                        <a:p>
                          <a:endParaRPr lang="en-GB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4513026"/>
                      </a:ext>
                    </a:extLst>
                  </a:tr>
                  <a:tr h="56388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4"/>
                          <a:stretch>
                            <a:fillRect t="-220430" r="-444637" b="-1086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Risque systématique inférieur à celui du marché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CA" sz="1600" dirty="0"/>
                            <a:t>&lt; </a:t>
                          </a:r>
                          <a:r>
                            <a:rPr lang="en-GB" sz="1500" dirty="0" err="1"/>
                            <a:t>rendement</a:t>
                          </a:r>
                          <a:r>
                            <a:rPr lang="en-GB" sz="1500" dirty="0"/>
                            <a:t> attendu du marché</a:t>
                          </a:r>
                        </a:p>
                        <a:p>
                          <a:endParaRPr lang="en-GB" sz="1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960969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4"/>
                          <a:stretch>
                            <a:fillRect t="-331111" r="-444637" b="-1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500" dirty="0"/>
                            <a:t>Aucun risque systématique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500" b="1" dirty="0"/>
                            <a:t>= taux sans risque et inférieur au rendement attendu du </a:t>
                          </a:r>
                          <a:r>
                            <a:rPr lang="en-GB" sz="1500" b="1" dirty="0" err="1"/>
                            <a:t>marché</a:t>
                          </a:r>
                          <a:endParaRPr lang="en-GB" sz="15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592374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2" descr="Important ">
            <a:extLst>
              <a:ext uri="{FF2B5EF4-FFF2-40B4-BE49-F238E27FC236}">
                <a16:creationId xmlns:a16="http://schemas.microsoft.com/office/drawing/2014/main" id="{82F52E04-5D1F-7758-32D9-C3A22A11B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472" y="4579550"/>
            <a:ext cx="1732163" cy="173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4910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20DA-51ED-0678-6B0C-1DDF03D2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81383-FE91-77FE-D95C-28DB0FD8232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FC90F-9AB2-4A10-5B2D-13291C4999C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81850" y="688572"/>
            <a:ext cx="7463322" cy="5410200"/>
          </a:xfrm>
          <a:solidFill>
            <a:schemeClr val="bg1"/>
          </a:solidFill>
        </p:spPr>
        <p:txBody>
          <a:bodyPr/>
          <a:lstStyle/>
          <a:p>
            <a:pPr marL="0" indent="0" algn="ctr">
              <a:buNone/>
            </a:pPr>
            <a:r>
              <a:rPr lang="en-CA" sz="3200" b="1" u="sng" dirty="0">
                <a:latin typeface="+mj-lt"/>
              </a:rPr>
              <a:t>À </a:t>
            </a:r>
            <a:r>
              <a:rPr lang="en-CA" sz="3200" b="1" u="sng" dirty="0" err="1">
                <a:latin typeface="+mj-lt"/>
              </a:rPr>
              <a:t>retenir</a:t>
            </a:r>
            <a:r>
              <a:rPr lang="en-CA" sz="3200" b="1" u="sng" dirty="0">
                <a:latin typeface="+mj-lt"/>
              </a:rPr>
              <a:t> </a:t>
            </a:r>
            <a:r>
              <a:rPr lang="fr-CA" sz="3600" dirty="0"/>
              <a:t>🎯</a:t>
            </a:r>
            <a:endParaRPr lang="en-CA" sz="3200" b="1" u="sng" dirty="0">
              <a:latin typeface="+mj-lt"/>
            </a:endParaRPr>
          </a:p>
          <a:p>
            <a:pPr marL="0" indent="0" algn="ctr">
              <a:buNone/>
            </a:pPr>
            <a:endParaRPr lang="en-CA" dirty="0">
              <a:latin typeface="+mj-lt"/>
            </a:endParaRPr>
          </a:p>
          <a:p>
            <a:pPr marL="0" indent="0" algn="ctr">
              <a:buNone/>
            </a:pPr>
            <a:endParaRPr lang="en-CA" dirty="0">
              <a:latin typeface="+mj-lt"/>
            </a:endParaRPr>
          </a:p>
          <a:p>
            <a:pPr lvl="1" algn="ctr"/>
            <a:r>
              <a:rPr lang="fr-CA" dirty="0">
                <a:latin typeface="+mj-lt"/>
              </a:rPr>
              <a:t>Le</a:t>
            </a:r>
            <a:r>
              <a:rPr lang="el-GR" dirty="0">
                <a:latin typeface="+mj-lt"/>
              </a:rPr>
              <a:t> β </a:t>
            </a:r>
            <a:r>
              <a:rPr lang="fr-CA" dirty="0">
                <a:latin typeface="+mj-lt"/>
              </a:rPr>
              <a:t>du </a:t>
            </a:r>
            <a:r>
              <a:rPr lang="fr-CA" dirty="0" err="1">
                <a:latin typeface="+mj-lt"/>
              </a:rPr>
              <a:t>marché est toujours égal </a:t>
            </a:r>
            <a:r>
              <a:rPr lang="fr-CA" dirty="0">
                <a:latin typeface="+mj-lt"/>
              </a:rPr>
              <a:t>à 1</a:t>
            </a:r>
          </a:p>
          <a:p>
            <a:pPr lvl="1" algn="ctr"/>
            <a:endParaRPr lang="fr-CA" dirty="0">
              <a:latin typeface="+mj-lt"/>
            </a:endParaRPr>
          </a:p>
          <a:p>
            <a:pPr lvl="1" algn="ctr"/>
            <a:r>
              <a:rPr lang="el-GR" dirty="0">
                <a:latin typeface="+mj-lt"/>
              </a:rPr>
              <a:t>β </a:t>
            </a:r>
            <a:r>
              <a:rPr lang="fr-CA" dirty="0">
                <a:latin typeface="+mj-lt"/>
              </a:rPr>
              <a:t>des bons </a:t>
            </a:r>
            <a:r>
              <a:rPr lang="fr-CA" dirty="0" err="1">
                <a:latin typeface="+mj-lt"/>
              </a:rPr>
              <a:t>du Trésor est toujours égal à</a:t>
            </a:r>
            <a:r>
              <a:rPr lang="fr-CA" dirty="0">
                <a:latin typeface="+mj-lt"/>
              </a:rPr>
              <a:t> 0</a:t>
            </a:r>
          </a:p>
          <a:p>
            <a:pPr lvl="1" algn="ctr"/>
            <a:endParaRPr lang="fr-CA" dirty="0">
              <a:latin typeface="+mj-lt"/>
            </a:endParaRPr>
          </a:p>
          <a:p>
            <a:pPr lvl="1" algn="ctr"/>
            <a:r>
              <a:rPr lang="en-CA" sz="2000" b="1" dirty="0">
                <a:latin typeface="+mj-lt"/>
              </a:rPr>
              <a:t>Le portefeuille de marché a un </a:t>
            </a:r>
            <a:r>
              <a:rPr lang="el-GR" sz="2400" dirty="0">
                <a:latin typeface="+mj-lt"/>
              </a:rPr>
              <a:t>β </a:t>
            </a:r>
            <a:r>
              <a:rPr lang="en-CA" sz="2000" b="1" dirty="0">
                <a:latin typeface="+mj-lt"/>
              </a:rPr>
              <a:t>= 1 </a:t>
            </a:r>
          </a:p>
          <a:p>
            <a:pPr lvl="1" algn="ctr"/>
            <a:endParaRPr lang="en-CA" sz="2000" b="1" dirty="0">
              <a:latin typeface="+mj-lt"/>
            </a:endParaRPr>
          </a:p>
          <a:p>
            <a:pPr lvl="1" algn="ctr"/>
            <a:r>
              <a:rPr lang="en-GB" sz="2000" dirty="0">
                <a:latin typeface="+mj-lt"/>
              </a:rPr>
              <a:t>Bêta du portefeuille </a:t>
            </a:r>
            <a:r>
              <a:rPr lang="fr-CA" sz="2000" dirty="0">
                <a:latin typeface="+mj-lt"/>
              </a:rPr>
              <a:t>= </a:t>
            </a:r>
            <a:r>
              <a:rPr lang="en-GB" sz="2000" dirty="0">
                <a:latin typeface="+mj-lt"/>
              </a:rPr>
              <a:t>somme </a:t>
            </a:r>
            <a:r>
              <a:rPr lang="fr-CA" sz="2000" dirty="0" err="1">
                <a:latin typeface="+mj-lt"/>
              </a:rPr>
              <a:t>pondérée </a:t>
            </a:r>
            <a:r>
              <a:rPr lang="en-GB" sz="2000" dirty="0">
                <a:latin typeface="+mj-lt"/>
              </a:rPr>
              <a:t>des bêtas individuels </a:t>
            </a:r>
            <a:endParaRPr lang="fr-CA" sz="2000" dirty="0">
              <a:latin typeface="+mj-lt"/>
            </a:endParaRPr>
          </a:p>
          <a:p>
            <a:pPr lvl="1" algn="ctr"/>
            <a:endParaRPr lang="fr-CA" dirty="0">
              <a:latin typeface="+mj-lt"/>
            </a:endParaRPr>
          </a:p>
          <a:p>
            <a:pPr lvl="1" algn="ctr"/>
            <a:endParaRPr lang="fr-CA" dirty="0">
              <a:latin typeface="+mj-lt"/>
            </a:endParaRPr>
          </a:p>
          <a:p>
            <a:pPr marL="0" indent="0" algn="ctr">
              <a:buNone/>
            </a:pPr>
            <a:endParaRPr lang="fr-CA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1D401-4167-54BE-D918-3C6989C3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/>
              <a:t>37</a:t>
            </a:fld>
            <a:endParaRPr lang="fr-CA" dirty="0"/>
          </a:p>
        </p:txBody>
      </p:sp>
      <p:pic>
        <p:nvPicPr>
          <p:cNvPr id="8" name="Picture 2" descr="Important ">
            <a:extLst>
              <a:ext uri="{FF2B5EF4-FFF2-40B4-BE49-F238E27FC236}">
                <a16:creationId xmlns:a16="http://schemas.microsoft.com/office/drawing/2014/main" id="{17547ADC-7183-E8EE-8CF2-B4FA52A9B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86" y="1268760"/>
            <a:ext cx="2409628" cy="240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D35984-6AEF-6163-175A-CFB78F26E673}"/>
              </a:ext>
            </a:extLst>
          </p:cNvPr>
          <p:cNvSpPr/>
          <p:nvPr/>
        </p:nvSpPr>
        <p:spPr>
          <a:xfrm>
            <a:off x="4367808" y="1714622"/>
            <a:ext cx="7041805" cy="4234658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347774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9F4E1859-5B5D-42D6-A124-FFB709A52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7672" y="-201153"/>
            <a:ext cx="8382000" cy="1172986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Exemple : Bêta du portefeuille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DBD29C-F45B-46F2-BBAA-B3B64DEB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38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2435316-840C-4087-BAF3-796ADBA3AE5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Reprenons l'exemple précédent avec les quatre titres suivants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000" dirty="0"/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en-US" sz="2000" b="1" dirty="0"/>
              <a:t>   </a:t>
            </a:r>
            <a:r>
              <a:rPr lang="en-US" altLang="en-US" sz="2000" b="1" dirty="0" err="1"/>
              <a:t>Titre</a:t>
            </a:r>
            <a:r>
              <a:rPr lang="en-US" altLang="en-US" sz="2000" b="1" dirty="0"/>
              <a:t>        </a:t>
            </a:r>
            <a:r>
              <a:rPr lang="en-US" altLang="en-US" sz="2000" b="1" dirty="0" err="1"/>
              <a:t>Poids</a:t>
            </a:r>
            <a:r>
              <a:rPr lang="en-US" altLang="en-US" sz="2000" b="1" dirty="0"/>
              <a:t>    Bêta</a:t>
            </a:r>
          </a:p>
          <a:p>
            <a:pPr marL="548640" lvl="2" indent="0">
              <a:lnSpc>
                <a:spcPct val="90000"/>
              </a:lnSpc>
              <a:buNone/>
            </a:pPr>
            <a:r>
              <a:rPr lang="en-US" altLang="en-US" sz="1800" dirty="0"/>
              <a:t>ABC            0,133        3,69</a:t>
            </a:r>
          </a:p>
          <a:p>
            <a:pPr marL="548640" lvl="2" indent="0">
              <a:lnSpc>
                <a:spcPct val="90000"/>
              </a:lnSpc>
              <a:buNone/>
            </a:pPr>
            <a:r>
              <a:rPr lang="en-US" altLang="en-US" sz="1800" dirty="0"/>
              <a:t>DEF            0,2           0,64</a:t>
            </a:r>
          </a:p>
          <a:p>
            <a:pPr marL="548640" lvl="2" indent="0">
              <a:lnSpc>
                <a:spcPct val="90000"/>
              </a:lnSpc>
              <a:buNone/>
            </a:pPr>
            <a:r>
              <a:rPr lang="en-US" altLang="en-US" sz="1800" dirty="0"/>
              <a:t>GHI            0,267       1,64</a:t>
            </a:r>
          </a:p>
          <a:p>
            <a:pPr marL="548640" lvl="2" indent="0">
              <a:lnSpc>
                <a:spcPct val="90000"/>
              </a:lnSpc>
              <a:buNone/>
            </a:pPr>
            <a:r>
              <a:rPr lang="en-US" altLang="en-US" sz="1800" dirty="0"/>
              <a:t>JKL            0,4            1,79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Quel est le bêta du portefeuille ?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en-US" sz="1800" dirty="0"/>
              <a:t>Bêta pf = 0,133 (3,69) + 0,2 (0,64) + 0,267 (1,64) + 0,4 (1,79) = 1,773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000" dirty="0"/>
          </a:p>
          <a:p>
            <a:r>
              <a:rPr lang="en-US" altLang="en-US" sz="2000" dirty="0"/>
              <a:t>Quel titre présente le risque systématique le plus élevé ?</a:t>
            </a:r>
          </a:p>
          <a:p>
            <a:r>
              <a:rPr lang="en-US" altLang="en-US" sz="2000" dirty="0"/>
              <a:t>Quel titre présente le risque systématique le plus faible ?</a:t>
            </a:r>
          </a:p>
          <a:p>
            <a:r>
              <a:rPr lang="en-US" altLang="en-US" sz="2000" dirty="0"/>
              <a:t>Le risque systématique du portefeuille est-il supérieur ou inférieur à celui du marché ?</a:t>
            </a:r>
          </a:p>
        </p:txBody>
      </p:sp>
      <p:pic>
        <p:nvPicPr>
          <p:cNvPr id="4" name="Picture 2" descr="Important ">
            <a:extLst>
              <a:ext uri="{FF2B5EF4-FFF2-40B4-BE49-F238E27FC236}">
                <a16:creationId xmlns:a16="http://schemas.microsoft.com/office/drawing/2014/main" id="{A3CE4479-A0D6-7786-ECE3-1E8E44EE6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208" y="4311188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dentification ">
            <a:extLst>
              <a:ext uri="{FF2B5EF4-FFF2-40B4-BE49-F238E27FC236}">
                <a16:creationId xmlns:a16="http://schemas.microsoft.com/office/drawing/2014/main" id="{34BC1843-3F9F-CF6C-8204-294EF9A94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350708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17849CB5-9990-4931-A273-BCE270FFD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6695" y="486641"/>
            <a:ext cx="8382000" cy="50271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Exemple - MÉDAF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9626EAA-7F35-4C4A-8340-E505AF95252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51384" y="1458738"/>
            <a:ext cx="11233247" cy="1763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500" dirty="0"/>
              <a:t>Considérons les bêtas de chacun des actifs indiqués précédemment. Si le taux sans risque est de 4,5 % et la prime de risque du marché de 8,5 %, quel est le rendement attendu pour chacun ?</a:t>
            </a:r>
          </a:p>
        </p:txBody>
      </p:sp>
      <p:graphicFrame>
        <p:nvGraphicFramePr>
          <p:cNvPr id="60483" name="Group 67">
            <a:extLst>
              <a:ext uri="{FF2B5EF4-FFF2-40B4-BE49-F238E27FC236}">
                <a16:creationId xmlns:a16="http://schemas.microsoft.com/office/drawing/2014/main" id="{3B072BC0-1B75-4F45-90E7-7C1F7C78B80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942924" y="3272817"/>
          <a:ext cx="8306153" cy="2472526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679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1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6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Titre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Bêta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Rendement attendu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ABC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3,6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4,5 + 3,69(8,5) = 35,865 %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7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DEF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0,64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4,5 + 0,64(8,5) = 9,940 %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GHI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1,64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4,5 + 1,64(8,5) = 18,440 %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7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JKL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1,79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43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4,5 + 1,79 (8,5) = 19,715 %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1443" marR="91443" marT="44039" marB="44039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6757" name="Slide Number Placeholder 4">
            <a:extLst>
              <a:ext uri="{FF2B5EF4-FFF2-40B4-BE49-F238E27FC236}">
                <a16:creationId xmlns:a16="http://schemas.microsoft.com/office/drawing/2014/main" id="{967FC1D8-92F4-443B-9749-3093DB0FAE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25492" indent="-317497"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69987" indent="-253997"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77982" indent="-253997"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5977" indent="-253997"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93972" indent="-253997" eaLnBrk="0" fontAlgn="base" hangingPunct="0">
              <a:spcBef>
                <a:spcPct val="0"/>
              </a:spcBef>
              <a:spcAft>
                <a:spcPct val="0"/>
              </a:spcAft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301967" indent="-253997" eaLnBrk="0" fontAlgn="base" hangingPunct="0">
              <a:spcBef>
                <a:spcPct val="0"/>
              </a:spcBef>
              <a:spcAft>
                <a:spcPct val="0"/>
              </a:spcAft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809962" indent="-253997" eaLnBrk="0" fontAlgn="base" hangingPunct="0">
              <a:spcBef>
                <a:spcPct val="0"/>
              </a:spcBef>
              <a:spcAft>
                <a:spcPct val="0"/>
              </a:spcAft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317957" indent="-253997" eaLnBrk="0" fontAlgn="base" hangingPunct="0">
              <a:spcBef>
                <a:spcPct val="0"/>
              </a:spcBef>
              <a:spcAft>
                <a:spcPct val="0"/>
              </a:spcAft>
              <a:defRPr sz="2667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67F8A75-B46F-493D-897A-C7506ADFF26D}" type="slidenum">
              <a:rPr lang="en-US" altLang="en-US" sz="1333">
                <a:solidFill>
                  <a:srgbClr val="002060"/>
                </a:solidFill>
                <a:latin typeface="Arial" panose="020B0604020202020204" pitchFamily="34" charset="0"/>
              </a:rPr>
              <a:t>39</a:t>
            </a:fld>
            <a:endParaRPr lang="en-US" altLang="en-US" sz="1333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2" descr="Identification ">
            <a:extLst>
              <a:ext uri="{FF2B5EF4-FFF2-40B4-BE49-F238E27FC236}">
                <a16:creationId xmlns:a16="http://schemas.microsoft.com/office/drawing/2014/main" id="{26941DAC-0B2B-5F16-EE9F-DFDE60281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248561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 bldLvl="2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A016E69E-CB16-41CE-BB23-96661AD0F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7135" y="-124228"/>
            <a:ext cx="7557107" cy="1172986"/>
          </a:xfrm>
        </p:spPr>
        <p:txBody>
          <a:bodyPr>
            <a:noAutofit/>
          </a:bodyPr>
          <a:lstStyle/>
          <a:p>
            <a:pPr eaLnBrk="1" hangingPunct="1"/>
            <a:r>
              <a:rPr lang="fr-CA" sz="2400" dirty="0"/>
              <a:t>Points clés </a:t>
            </a:r>
            <a:r>
              <a:rPr lang="fr-CA" sz="2400" b="1" dirty="0"/>
              <a:t>à retenir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7AA09E-F83E-4448-9FD2-935277F4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40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3834EAD1-D6EB-4692-B9AF-B37C15AEF22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07368" y="1502974"/>
            <a:ext cx="11161240" cy="47695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CA" sz="2800" dirty="0">
                <a:latin typeface="+mj-lt"/>
              </a:rPr>
              <a:t>👉 </a:t>
            </a:r>
            <a:r>
              <a:rPr lang="fr-CA" dirty="0">
                <a:latin typeface="+mj-lt"/>
              </a:rPr>
              <a:t>Plus le</a:t>
            </a:r>
            <a:r>
              <a:rPr lang="fr-CA" u="sng" dirty="0">
                <a:latin typeface="+mj-lt"/>
              </a:rPr>
              <a:t> bêta </a:t>
            </a:r>
            <a:r>
              <a:rPr lang="fr-CA" dirty="0">
                <a:latin typeface="+mj-lt"/>
              </a:rPr>
              <a:t>est élevé, plus le </a:t>
            </a:r>
            <a:r>
              <a:rPr lang="fr-CA" u="sng" dirty="0">
                <a:latin typeface="+mj-lt"/>
              </a:rPr>
              <a:t>risque systématique </a:t>
            </a:r>
            <a:r>
              <a:rPr lang="fr-CA" dirty="0">
                <a:latin typeface="+mj-lt"/>
              </a:rPr>
              <a:t>est élevé et plus le </a:t>
            </a:r>
          </a:p>
          <a:p>
            <a:pPr marL="0" indent="0">
              <a:buNone/>
            </a:pPr>
            <a:r>
              <a:rPr lang="fr-CA" dirty="0">
                <a:latin typeface="+mj-lt"/>
              </a:rPr>
              <a:t>       </a:t>
            </a:r>
            <a:r>
              <a:rPr lang="fr-CA" u="sng" dirty="0">
                <a:latin typeface="+mj-lt"/>
              </a:rPr>
              <a:t>rendement attendu est élevé</a:t>
            </a:r>
            <a:r>
              <a:rPr lang="fr-CA" dirty="0">
                <a:latin typeface="+mj-lt"/>
              </a:rPr>
              <a:t>.</a:t>
            </a:r>
          </a:p>
          <a:p>
            <a:pPr lvl="1"/>
            <a:r>
              <a:rPr lang="en-GB" dirty="0"/>
              <a:t>Le </a:t>
            </a:r>
            <a:r>
              <a:rPr lang="en-GB" dirty="0" err="1"/>
              <a:t>risque</a:t>
            </a:r>
            <a:r>
              <a:rPr lang="en-GB" dirty="0"/>
              <a:t> </a:t>
            </a:r>
            <a:r>
              <a:rPr lang="en-GB" dirty="0" err="1"/>
              <a:t>spécifique</a:t>
            </a:r>
            <a:r>
              <a:rPr lang="en-GB" dirty="0"/>
              <a:t>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diversifié</a:t>
            </a:r>
            <a:endParaRPr lang="en-GB" dirty="0"/>
          </a:p>
          <a:p>
            <a:pPr marL="274307" lvl="1" indent="0">
              <a:buNone/>
            </a:pPr>
            <a:endParaRPr lang="fr-CA" dirty="0">
              <a:latin typeface="+mj-lt"/>
            </a:endParaRPr>
          </a:p>
          <a:p>
            <a:pPr marL="0" indent="0">
              <a:buNone/>
            </a:pPr>
            <a:r>
              <a:rPr lang="fr-CA" sz="2800" dirty="0">
                <a:latin typeface="+mj-lt"/>
              </a:rPr>
              <a:t>👉 </a:t>
            </a:r>
            <a:r>
              <a:rPr lang="fr-CA" dirty="0">
                <a:latin typeface="+mj-lt"/>
              </a:rPr>
              <a:t>Le bêta de l’actif sans risque (</a:t>
            </a:r>
            <a:r>
              <a:rPr lang="fr-CA" dirty="0" err="1">
                <a:latin typeface="+mj-lt"/>
              </a:rPr>
              <a:t>rf</a:t>
            </a:r>
            <a:r>
              <a:rPr lang="fr-CA" dirty="0">
                <a:latin typeface="+mj-lt"/>
              </a:rPr>
              <a:t>) est = 0.</a:t>
            </a:r>
          </a:p>
          <a:p>
            <a:pPr marL="0" indent="0">
              <a:buNone/>
            </a:pPr>
            <a:endParaRPr lang="fr-CA" dirty="0">
              <a:latin typeface="+mj-lt"/>
            </a:endParaRPr>
          </a:p>
          <a:p>
            <a:pPr marL="0" indent="0">
              <a:buNone/>
            </a:pPr>
            <a:r>
              <a:rPr lang="fr-CA" sz="2800" dirty="0"/>
              <a:t>👉 </a:t>
            </a:r>
            <a:r>
              <a:rPr lang="fr-CA" dirty="0"/>
              <a:t>Le portefeuille de marché a un bêta = 1</a:t>
            </a:r>
          </a:p>
          <a:p>
            <a:pPr marL="0" indent="0">
              <a:buNone/>
            </a:pPr>
            <a:endParaRPr lang="fr-CA" dirty="0">
              <a:latin typeface="+mj-lt"/>
            </a:endParaRPr>
          </a:p>
          <a:p>
            <a:pPr marL="0" indent="0">
              <a:buNone/>
            </a:pPr>
            <a:r>
              <a:rPr lang="fr-CA" sz="2800" dirty="0">
                <a:latin typeface="+mj-lt"/>
              </a:rPr>
              <a:t>👉 </a:t>
            </a:r>
            <a:r>
              <a:rPr lang="fr-CA" dirty="0">
                <a:latin typeface="+mj-lt"/>
              </a:rPr>
              <a:t>Le bêta d’un portefeuille de titres est la somme pondérée des bêtas </a:t>
            </a:r>
          </a:p>
          <a:p>
            <a:pPr marL="0" indent="0">
              <a:buNone/>
            </a:pPr>
            <a:r>
              <a:rPr lang="fr-CA" dirty="0">
                <a:latin typeface="+mj-lt"/>
              </a:rPr>
              <a:t>       individuels.</a:t>
            </a:r>
          </a:p>
          <a:p>
            <a:pPr marL="0" indent="0">
              <a:buNone/>
            </a:pPr>
            <a:endParaRPr lang="fr-CA" dirty="0">
              <a:latin typeface="+mj-lt"/>
            </a:endParaRPr>
          </a:p>
          <a:p>
            <a:pPr marL="0" indent="0">
              <a:buNone/>
            </a:pPr>
            <a:r>
              <a:rPr lang="fr-CA" sz="2800" dirty="0">
                <a:latin typeface="+mj-lt"/>
              </a:rPr>
              <a:t>👉 </a:t>
            </a:r>
            <a:r>
              <a:rPr lang="fr-CA" b="1" dirty="0">
                <a:latin typeface="+mj-lt"/>
              </a:rPr>
              <a:t>Bêta risque systématique. Variance risque total.</a:t>
            </a:r>
          </a:p>
          <a:p>
            <a:pPr marL="0" indent="0">
              <a:buNone/>
            </a:pPr>
            <a:endParaRPr lang="fr-CA" dirty="0">
              <a:latin typeface="+mj-lt"/>
            </a:endParaRPr>
          </a:p>
          <a:p>
            <a:pPr marL="0" indent="0">
              <a:buNone/>
            </a:pPr>
            <a:endParaRPr lang="fr-CA" dirty="0">
              <a:latin typeface="+mj-lt"/>
            </a:endParaRPr>
          </a:p>
          <a:p>
            <a:pPr marL="0" indent="0">
              <a:buNone/>
            </a:pPr>
            <a:endParaRPr lang="fr-CA" dirty="0">
              <a:latin typeface="+mj-lt"/>
            </a:endParaRPr>
          </a:p>
          <a:p>
            <a:pPr eaLnBrk="1" hangingPunct="1"/>
            <a:endParaRPr lang="en-US" altLang="en-US" dirty="0"/>
          </a:p>
        </p:txBody>
      </p:sp>
      <p:pic>
        <p:nvPicPr>
          <p:cNvPr id="4" name="Picture 2" descr="Warning ">
            <a:extLst>
              <a:ext uri="{FF2B5EF4-FFF2-40B4-BE49-F238E27FC236}">
                <a16:creationId xmlns:a16="http://schemas.microsoft.com/office/drawing/2014/main" id="{FFA964A2-4CF6-78EC-02CC-CEA32FBE0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404664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arning ">
            <a:extLst>
              <a:ext uri="{FF2B5EF4-FFF2-40B4-BE49-F238E27FC236}">
                <a16:creationId xmlns:a16="http://schemas.microsoft.com/office/drawing/2014/main" id="{EF2B8271-AC57-24D3-31EA-2B13FB848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158" y="380075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04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811338" y="260649"/>
            <a:ext cx="8569325" cy="756047"/>
          </a:xfrm>
        </p:spPr>
        <p:txBody>
          <a:bodyPr>
            <a:normAutofit/>
          </a:bodyPr>
          <a:lstStyle/>
          <a:p>
            <a:r>
              <a:rPr lang="en-CA" sz="3600" b="1" u="sng" dirty="0"/>
              <a:t>À </a:t>
            </a:r>
            <a:r>
              <a:rPr lang="en-CA" sz="3600" b="1" u="sng" dirty="0" err="1"/>
              <a:t>retenir</a:t>
            </a:r>
            <a:r>
              <a:rPr lang="en-CA" sz="3600" b="1" u="sng" dirty="0"/>
              <a:t> </a:t>
            </a:r>
            <a:r>
              <a:rPr lang="fr-CA" sz="4000" dirty="0"/>
              <a:t>🎯</a:t>
            </a:r>
            <a:endParaRPr lang="en-CA" sz="3600" b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D70E4-8F5F-451C-9FD6-AC0B3964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64075-4FE8-4212-AA8D-27F93E0C3606}" type="slidenum">
              <a:rPr lang="fr-CA" smtClean="0"/>
              <a:t>41</a:t>
            </a:fld>
            <a:endParaRPr lang="fr-CA"/>
          </a:p>
        </p:txBody>
      </p:sp>
      <p:graphicFrame>
        <p:nvGraphicFramePr>
          <p:cNvPr id="2" name="Diagramme 1"/>
          <p:cNvGraphicFramePr/>
          <p:nvPr>
            <p:custDataLst>
              <p:tags r:id="rId2"/>
            </p:custDataLst>
          </p:nvPr>
        </p:nvGraphicFramePr>
        <p:xfrm>
          <a:off x="1774828" y="2655864"/>
          <a:ext cx="8569325" cy="3725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0A10EAF-77CE-460D-AEE4-A0EEE3B4C889}"/>
                  </a:ext>
                </a:extLst>
              </p:cNvPr>
              <p:cNvSpPr/>
              <p:nvPr/>
            </p:nvSpPr>
            <p:spPr>
              <a:xfrm>
                <a:off x="4907360" y="1726556"/>
                <a:ext cx="2304256" cy="63094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3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5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0A10EAF-77CE-460D-AEE4-A0EEE3B4C8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360" y="1726556"/>
                <a:ext cx="2304256" cy="6309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5F51B30-02F7-412D-A45E-8F29064D089B}"/>
              </a:ext>
            </a:extLst>
          </p:cNvPr>
          <p:cNvSpPr/>
          <p:nvPr/>
        </p:nvSpPr>
        <p:spPr>
          <a:xfrm rot="10800000">
            <a:off x="4745090" y="2690075"/>
            <a:ext cx="2628799" cy="180778"/>
          </a:xfrm>
          <a:prstGeom prst="triangl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6BA8DFC-ECBF-483F-982C-0A00D68603C6}"/>
                  </a:ext>
                </a:extLst>
              </p:cNvPr>
              <p:cNvSpPr/>
              <p:nvPr/>
            </p:nvSpPr>
            <p:spPr>
              <a:xfrm>
                <a:off x="1847848" y="1412777"/>
                <a:ext cx="2304256" cy="70282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/>
                        <m:sup>
                          <m:r>
                            <a:rPr lang="en-GB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GB" sz="35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6BA8DFC-ECBF-483F-982C-0A00D6860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848" y="1412777"/>
                <a:ext cx="2304256" cy="7028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EFBD0045-254D-4737-A8B7-D45A653143DB}"/>
              </a:ext>
            </a:extLst>
          </p:cNvPr>
          <p:cNvSpPr/>
          <p:nvPr/>
        </p:nvSpPr>
        <p:spPr>
          <a:xfrm rot="10800000">
            <a:off x="1685578" y="2376295"/>
            <a:ext cx="2628799" cy="180778"/>
          </a:xfrm>
          <a:prstGeom prst="triangle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A4A04E45-5471-72BF-043B-B04B769303A6}"/>
              </a:ext>
            </a:extLst>
          </p:cNvPr>
          <p:cNvSpPr/>
          <p:nvPr/>
        </p:nvSpPr>
        <p:spPr>
          <a:xfrm>
            <a:off x="8342842" y="1303773"/>
            <a:ext cx="1602316" cy="1072523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322644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Exemple 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42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À partir des informations suivantes sur les actions X et Y et sur le marché, calculez la prime de risque du marché et le taux sans risque.</a:t>
            </a:r>
          </a:p>
          <a:p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53D6D72E-7332-4925-B2C0-82B3F208D1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38301" y="3097093"/>
              <a:ext cx="8900493" cy="127698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966831">
                      <a:extLst>
                        <a:ext uri="{9D8B030D-6E8A-4147-A177-3AD203B41FA5}">
                          <a16:colId xmlns:a16="http://schemas.microsoft.com/office/drawing/2014/main" val="4004674147"/>
                        </a:ext>
                      </a:extLst>
                    </a:gridCol>
                    <a:gridCol w="2966831">
                      <a:extLst>
                        <a:ext uri="{9D8B030D-6E8A-4147-A177-3AD203B41FA5}">
                          <a16:colId xmlns:a16="http://schemas.microsoft.com/office/drawing/2014/main" val="534641156"/>
                        </a:ext>
                      </a:extLst>
                    </a:gridCol>
                    <a:gridCol w="2966831">
                      <a:extLst>
                        <a:ext uri="{9D8B030D-6E8A-4147-A177-3AD203B41FA5}">
                          <a16:colId xmlns:a16="http://schemas.microsoft.com/office/drawing/2014/main" val="2209359177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2000" dirty="0"/>
                            <a:t>action X</a:t>
                          </a:r>
                          <a:endParaRPr lang="fr-FR" sz="2000" dirty="0">
                            <a:latin typeface="+mj-lt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2000" dirty="0"/>
                            <a:t>action Y</a:t>
                          </a:r>
                          <a:endParaRPr lang="fr-FR" sz="2000" dirty="0">
                            <a:latin typeface="+mj-lt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2000" dirty="0"/>
                            <a:t>Marché</a:t>
                          </a:r>
                          <a:endParaRPr lang="fr-FR" sz="2000" dirty="0">
                            <a:latin typeface="+mj-lt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96256593"/>
                      </a:ext>
                    </a:extLst>
                  </a:tr>
                  <a:tr h="9005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800" dirty="0" err="1"/>
                            <a:t>Écart</a:t>
                          </a:r>
                          <a:r>
                            <a:rPr lang="fr-CA" sz="1800" dirty="0"/>
                            <a:t> type = 0,40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CA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CA" sz="1800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fr-CA" sz="1800" b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fr-CA" sz="18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CA" sz="1800" b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r>
                                  <a:rPr lang="fr-CA" sz="1800" b="0" smtClean="0">
                                    <a:latin typeface="Cambria Math" panose="02040503050406030204" pitchFamily="18" charset="0"/>
                                  </a:rPr>
                                  <m:t>=0,75</m:t>
                                </m:r>
                              </m:oMath>
                            </m:oMathPara>
                          </a14:m>
                          <a:endParaRPr lang="fr-CA" sz="1800" dirty="0"/>
                        </a:p>
                        <a:p>
                          <a:pPr algn="ctr"/>
                          <a:r>
                            <a:rPr lang="fr-CA" sz="1800" dirty="0"/>
                            <a:t>rendement </a:t>
                          </a:r>
                          <a:r>
                            <a:rPr lang="fr-CA" sz="1800" dirty="0" err="1"/>
                            <a:t>attendu </a:t>
                          </a:r>
                          <a:r>
                            <a:rPr lang="fr-CA" sz="1800" dirty="0"/>
                            <a:t>= 17 % </a:t>
                          </a:r>
                          <a:endParaRPr lang="fr-CA" sz="1800" dirty="0">
                            <a:latin typeface="+mj-lt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800" dirty="0"/>
                            <a:t>Bêta = 0,75</a:t>
                          </a:r>
                        </a:p>
                        <a:p>
                          <a:pPr algn="ctr"/>
                          <a:r>
                            <a:rPr lang="fr-FR" sz="1800" dirty="0"/>
                            <a:t>rendement </a:t>
                          </a:r>
                          <a:r>
                            <a:rPr lang="fr-CA" sz="1800" dirty="0" err="1"/>
                            <a:t>attendu </a:t>
                          </a:r>
                          <a:r>
                            <a:rPr lang="fr-FR" sz="1800" dirty="0"/>
                            <a:t>= 11 %</a:t>
                          </a:r>
                          <a:endParaRPr lang="fr-CA" sz="1800" dirty="0">
                            <a:latin typeface="+mj-lt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800" dirty="0"/>
                            <a:t>Écart type = 0,20</a:t>
                          </a:r>
                          <a:endParaRPr lang="fr-FR" sz="1800" dirty="0">
                            <a:latin typeface="+mj-lt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77548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53D6D72E-7332-4925-B2C0-82B3F208D1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38301" y="3097093"/>
              <a:ext cx="8900493" cy="1276985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966831">
                      <a:extLst>
                        <a:ext uri="{9D8B030D-6E8A-4147-A177-3AD203B41FA5}">
                          <a16:colId xmlns:a16="http://schemas.microsoft.com/office/drawing/2014/main" val="4004674147"/>
                        </a:ext>
                      </a:extLst>
                    </a:gridCol>
                    <a:gridCol w="2966831">
                      <a:extLst>
                        <a:ext uri="{9D8B030D-6E8A-4147-A177-3AD203B41FA5}">
                          <a16:colId xmlns:a16="http://schemas.microsoft.com/office/drawing/2014/main" val="534641156"/>
                        </a:ext>
                      </a:extLst>
                    </a:gridCol>
                    <a:gridCol w="2966831">
                      <a:extLst>
                        <a:ext uri="{9D8B030D-6E8A-4147-A177-3AD203B41FA5}">
                          <a16:colId xmlns:a16="http://schemas.microsoft.com/office/drawing/2014/main" val="2209359177"/>
                        </a:ext>
                      </a:extLst>
                    </a:gridCol>
                  </a:tblGrid>
                  <a:tr h="3733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2000" dirty="0"/>
                            <a:t>action X</a:t>
                          </a:r>
                          <a:endParaRPr lang="fr-FR" sz="2000" dirty="0">
                            <a:latin typeface="+mj-lt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2000" dirty="0"/>
                            <a:t>action Y</a:t>
                          </a:r>
                          <a:endParaRPr lang="fr-FR" sz="2000" dirty="0">
                            <a:latin typeface="+mj-lt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2000" dirty="0"/>
                            <a:t>Marché</a:t>
                          </a:r>
                          <a:endParaRPr lang="fr-FR" sz="2000" dirty="0">
                            <a:latin typeface="+mj-lt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96256593"/>
                      </a:ext>
                    </a:extLst>
                  </a:tr>
                  <a:tr h="90360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05" t="-46309" r="-200821" b="-11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800" dirty="0"/>
                            <a:t>Bêta = 0,75</a:t>
                          </a:r>
                        </a:p>
                        <a:p>
                          <a:pPr algn="ctr"/>
                          <a:r>
                            <a:rPr lang="fr-FR" sz="1800" dirty="0"/>
                            <a:t>rendement </a:t>
                          </a:r>
                          <a:r>
                            <a:rPr lang="fr-CA" sz="1800" dirty="0" err="1"/>
                            <a:t>attendu </a:t>
                          </a:r>
                          <a:r>
                            <a:rPr lang="fr-FR" sz="1800" dirty="0"/>
                            <a:t>= 11 %</a:t>
                          </a:r>
                          <a:endParaRPr lang="fr-CA" sz="1800" dirty="0">
                            <a:latin typeface="+mj-lt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CA" sz="1800" dirty="0"/>
                            <a:t>Écart type = 0,20</a:t>
                          </a:r>
                          <a:endParaRPr lang="fr-FR" sz="1800" dirty="0">
                            <a:latin typeface="+mj-lt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775485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2" descr="Identification ">
            <a:extLst>
              <a:ext uri="{FF2B5EF4-FFF2-40B4-BE49-F238E27FC236}">
                <a16:creationId xmlns:a16="http://schemas.microsoft.com/office/drawing/2014/main" id="{73A34695-EA8F-8DAB-3E8E-A55002BC1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776" y="30006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7098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Exemple 2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3902-ABD2-4CA9-BB77-601D6C75F434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43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2339" y="1340768"/>
            <a:ext cx="11379199" cy="51228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CA" sz="2400" dirty="0"/>
              <a:t>Vous disposez d'une somme d'argent que vous souhaitez investir dans des titres A et B. </a:t>
            </a:r>
            <a:r>
              <a:rPr lang="fr-CA" sz="2400" dirty="0" err="1"/>
              <a:t>Voici quelques </a:t>
            </a:r>
            <a:r>
              <a:rPr lang="fr-CA" sz="2400" dirty="0"/>
              <a:t>informations :</a:t>
            </a:r>
          </a:p>
          <a:p>
            <a:pPr lvl="1"/>
            <a:r>
              <a:rPr lang="fr-CA" sz="2100" dirty="0"/>
              <a:t>Écart type de A = 0,25</a:t>
            </a:r>
          </a:p>
          <a:p>
            <a:pPr lvl="1"/>
            <a:r>
              <a:rPr lang="fr-CA" sz="2100" dirty="0" err="1"/>
              <a:t>Écart</a:t>
            </a:r>
            <a:r>
              <a:rPr lang="fr-CA" sz="2100" dirty="0"/>
              <a:t> type de B = 0,40</a:t>
            </a:r>
          </a:p>
          <a:p>
            <a:pPr lvl="1"/>
            <a:r>
              <a:rPr lang="fr-CA" sz="2100" dirty="0"/>
              <a:t>Écart type du marché (M) = 0,20</a:t>
            </a:r>
          </a:p>
          <a:p>
            <a:pPr lvl="1"/>
            <a:r>
              <a:rPr lang="fr-CA" sz="2100" dirty="0"/>
              <a:t>Coefficient de corrélation A, M = 0,70</a:t>
            </a:r>
          </a:p>
          <a:p>
            <a:pPr lvl="1"/>
            <a:r>
              <a:rPr lang="fr-CA" sz="2100" dirty="0"/>
              <a:t>Coefficient de corrélation B, M = 0,65</a:t>
            </a:r>
          </a:p>
          <a:p>
            <a:pPr lvl="1"/>
            <a:r>
              <a:rPr lang="fr-CA" sz="2100" dirty="0"/>
              <a:t>Prime de risque du marché = 7 %</a:t>
            </a:r>
          </a:p>
          <a:p>
            <a:pPr lvl="1"/>
            <a:r>
              <a:rPr lang="fr-CA" sz="2100" dirty="0"/>
              <a:t>Taux sans risque = 4 %</a:t>
            </a:r>
          </a:p>
          <a:p>
            <a:pPr lvl="1"/>
            <a:endParaRPr lang="fr-CA" sz="2100" dirty="0"/>
          </a:p>
          <a:p>
            <a:pPr marL="0" indent="0">
              <a:buNone/>
            </a:pPr>
            <a:r>
              <a:rPr lang="fr-CA" sz="2400" b="1" dirty="0"/>
              <a:t>Questions</a:t>
            </a:r>
          </a:p>
          <a:p>
            <a:pPr marL="660083" lvl="1" indent="-385763">
              <a:buClr>
                <a:schemeClr val="tx1"/>
              </a:buClr>
              <a:buSzPct val="100000"/>
              <a:buAutoNum type="alphaLcParenR"/>
            </a:pPr>
            <a:r>
              <a:rPr lang="en-US" sz="1900" dirty="0">
                <a:solidFill>
                  <a:schemeClr val="tx1"/>
                </a:solidFill>
              </a:rPr>
              <a:t>Quel est le rendement attendu des titres A et B ?</a:t>
            </a:r>
          </a:p>
          <a:p>
            <a:pPr marL="660083" lvl="1" indent="-385763">
              <a:buClr>
                <a:schemeClr val="tx1"/>
              </a:buClr>
              <a:buSzPct val="100000"/>
              <a:buFont typeface="Wingdings 2"/>
              <a:buAutoNum type="alphaLcParenR"/>
            </a:pPr>
            <a:r>
              <a:rPr lang="en-US" sz="1900" dirty="0">
                <a:solidFill>
                  <a:schemeClr val="tx1"/>
                </a:solidFill>
              </a:rPr>
              <a:t>Si le rendement attendu de votre portefeuille est de 12 %, dans quelles proportions avez-vous investi dans les actions A et B ?</a:t>
            </a:r>
          </a:p>
          <a:p>
            <a:pPr marL="660083" lvl="1" indent="-385763">
              <a:buClr>
                <a:schemeClr val="tx1"/>
              </a:buClr>
              <a:buSzPct val="100000"/>
              <a:buFont typeface="Wingdings 2"/>
              <a:buAutoNum type="alphaLcParenR"/>
            </a:pPr>
            <a:r>
              <a:rPr lang="fr-CA" sz="1900" dirty="0" err="1">
                <a:solidFill>
                  <a:schemeClr val="tx1"/>
                </a:solidFill>
              </a:rPr>
              <a:t>Quel est </a:t>
            </a:r>
            <a:r>
              <a:rPr lang="fr-CA" sz="1900" dirty="0">
                <a:solidFill>
                  <a:schemeClr val="tx1"/>
                </a:solidFill>
              </a:rPr>
              <a:t>le bêta du portefeuille ?</a:t>
            </a:r>
          </a:p>
          <a:p>
            <a:pPr marL="660083" lvl="1" indent="-385763">
              <a:buClr>
                <a:schemeClr val="tx1"/>
              </a:buClr>
              <a:buSzPct val="100000"/>
              <a:buFont typeface="Wingdings 2"/>
              <a:buAutoNum type="alphaLcParenR"/>
            </a:pPr>
            <a:r>
              <a:rPr lang="fr-CA" sz="1900" dirty="0" err="1">
                <a:solidFill>
                  <a:schemeClr val="tx1"/>
                </a:solidFill>
              </a:rPr>
              <a:t>Quelle est </a:t>
            </a:r>
            <a:r>
              <a:rPr lang="fr-CA" sz="1900" dirty="0">
                <a:solidFill>
                  <a:schemeClr val="tx1"/>
                </a:solidFill>
              </a:rPr>
              <a:t>la </a:t>
            </a:r>
            <a:r>
              <a:rPr lang="fr-CA" sz="1900" dirty="0" err="1">
                <a:solidFill>
                  <a:schemeClr val="tx1"/>
                </a:solidFill>
              </a:rPr>
              <a:t>variance </a:t>
            </a:r>
            <a:r>
              <a:rPr lang="fr-CA" sz="1900" dirty="0">
                <a:solidFill>
                  <a:schemeClr val="tx1"/>
                </a:solidFill>
              </a:rPr>
              <a:t>de </a:t>
            </a:r>
            <a:r>
              <a:rPr lang="fr-CA" sz="1900" dirty="0" err="1">
                <a:solidFill>
                  <a:schemeClr val="tx1"/>
                </a:solidFill>
              </a:rPr>
              <a:t>ce </a:t>
            </a:r>
            <a:r>
              <a:rPr lang="fr-CA" sz="1900" dirty="0">
                <a:solidFill>
                  <a:schemeClr val="tx1"/>
                </a:solidFill>
              </a:rPr>
              <a:t>portefeuille si le coefficient </a:t>
            </a:r>
            <a:r>
              <a:rPr lang="fr-CA" sz="1900" dirty="0" err="1">
                <a:solidFill>
                  <a:schemeClr val="tx1"/>
                </a:solidFill>
              </a:rPr>
              <a:t>de corrélation entre </a:t>
            </a:r>
            <a:r>
              <a:rPr lang="fr-CA" sz="1900" dirty="0">
                <a:solidFill>
                  <a:schemeClr val="tx1"/>
                </a:solidFill>
              </a:rPr>
              <a:t>A et B </a:t>
            </a:r>
            <a:r>
              <a:rPr lang="fr-CA" sz="1900" dirty="0" err="1">
                <a:solidFill>
                  <a:schemeClr val="tx1"/>
                </a:solidFill>
              </a:rPr>
              <a:t>est </a:t>
            </a:r>
            <a:r>
              <a:rPr lang="fr-CA" sz="1900" dirty="0">
                <a:solidFill>
                  <a:schemeClr val="tx1"/>
                </a:solidFill>
              </a:rPr>
              <a:t>de 55 % ?</a:t>
            </a:r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  <p:pic>
        <p:nvPicPr>
          <p:cNvPr id="6" name="Picture 2" descr="Identification ">
            <a:extLst>
              <a:ext uri="{FF2B5EF4-FFF2-40B4-BE49-F238E27FC236}">
                <a16:creationId xmlns:a16="http://schemas.microsoft.com/office/drawing/2014/main" id="{C3E56C17-BA7A-8DA4-F962-DEFE1908E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776" y="30006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7242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Ink Free" panose="03080402000500000000" pitchFamily="66" charset="0"/>
              </a:rPr>
              <a:t>C'est en forgeant qu'on devient forgeron !!!</a:t>
            </a:r>
            <a:endParaRPr lang="fr-CA" sz="3200" dirty="0">
              <a:solidFill>
                <a:srgbClr val="FF0000"/>
              </a:solidFill>
              <a:latin typeface="Ink Free" panose="03080402000500000000" pitchFamily="66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63352" y="1580441"/>
            <a:ext cx="10729192" cy="4869758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r>
              <a:rPr lang="en-CA" sz="2000" u="sng" dirty="0"/>
              <a:t>Manuel</a:t>
            </a:r>
            <a:r>
              <a:rPr lang="en-CA" sz="2000" dirty="0"/>
              <a:t>. </a:t>
            </a:r>
            <a:r>
              <a:rPr lang="en-CA" sz="2000" dirty="0" err="1"/>
              <a:t>Voir</a:t>
            </a:r>
            <a:r>
              <a:rPr lang="en-CA" sz="2000" dirty="0"/>
              <a:t> séances 5 &amp; 6 sur ZC.</a:t>
            </a:r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r>
              <a:rPr lang="en-CA" sz="2000" dirty="0" err="1"/>
              <a:t>Exercices</a:t>
            </a:r>
            <a:r>
              <a:rPr lang="en-CA" sz="2000" dirty="0"/>
              <a:t> dans le </a:t>
            </a:r>
            <a:r>
              <a:rPr lang="en-CA" sz="2000" u="sng" dirty="0"/>
              <a:t>cahier de travaux de mi-semestre</a:t>
            </a:r>
            <a:r>
              <a:rPr lang="en-CA" sz="2000" dirty="0"/>
              <a:t>. </a:t>
            </a:r>
            <a:r>
              <a:rPr lang="en-CA" sz="2000" dirty="0" err="1"/>
              <a:t>Voir</a:t>
            </a:r>
            <a:r>
              <a:rPr lang="en-CA" sz="2000" dirty="0"/>
              <a:t> ZC / Modules / </a:t>
            </a:r>
            <a:r>
              <a:rPr lang="en-CA" sz="2000" dirty="0" err="1"/>
              <a:t>Préparation</a:t>
            </a:r>
            <a:r>
              <a:rPr lang="en-CA" sz="2000" dirty="0"/>
              <a:t> aux examens INTRA </a:t>
            </a:r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fr-CA" sz="2000" dirty="0"/>
          </a:p>
          <a:p>
            <a:endParaRPr lang="fr-CA" sz="3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44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9" name="Picture 2" descr="Important ">
            <a:extLst>
              <a:ext uri="{FF2B5EF4-FFF2-40B4-BE49-F238E27FC236}">
                <a16:creationId xmlns:a16="http://schemas.microsoft.com/office/drawing/2014/main" id="{DB3315D7-0DAA-6CB7-9C2F-7D9E91E38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4698" y="386019"/>
            <a:ext cx="1656184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39D8D91-23F2-D831-6963-6F7FB37671DB}"/>
              </a:ext>
            </a:extLst>
          </p:cNvPr>
          <p:cNvSpPr txBox="1"/>
          <p:nvPr/>
        </p:nvSpPr>
        <p:spPr>
          <a:xfrm>
            <a:off x="593779" y="203671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200" dirty="0">
                <a:latin typeface="Ink Free" panose="03080402000500000000" pitchFamily="66" charset="0"/>
              </a:rPr>
              <a:t>Solutions aux exercices des éditions 4 et 5 sur ZC</a:t>
            </a:r>
          </a:p>
        </p:txBody>
      </p:sp>
      <p:pic>
        <p:nvPicPr>
          <p:cNvPr id="12290" name="Picture 2" descr="Work in progress ">
            <a:extLst>
              <a:ext uri="{FF2B5EF4-FFF2-40B4-BE49-F238E27FC236}">
                <a16:creationId xmlns:a16="http://schemas.microsoft.com/office/drawing/2014/main" id="{6C88A424-936D-A17A-5A11-3C32F7D4C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228600"/>
            <a:ext cx="913565" cy="91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A47070-A63D-2D3E-D13B-7836388BA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7841" y="3259319"/>
            <a:ext cx="2257047" cy="7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909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 nouveau 2024 v3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nouveau 2024 v3" id="{E9EE394B-11A2-4972-97DD-70F5505EE67A}" vid="{B6E295EC-CFD5-4099-AC90-43DE5FAA0485}"/>
    </a:ext>
  </a:extLst>
</a:theme>
</file>

<file path=ppt/theme/theme2.xml><?xml version="1.0" encoding="utf-8"?>
<a:theme xmlns:a="http://schemas.openxmlformats.org/drawingml/2006/main" name="1_Civil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1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EABAB"/>
      </a:accent1>
      <a:accent2>
        <a:srgbClr val="70AD47"/>
      </a:accent2>
      <a:accent3>
        <a:srgbClr val="8EAADB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4.xml><?xml version="1.0" encoding="utf-8"?>
<a:theme xmlns:a="http://schemas.openxmlformats.org/drawingml/2006/main" name="1_Theme1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1F497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5.xml><?xml version="1.0" encoding="utf-8"?>
<a:theme xmlns:a="http://schemas.openxmlformats.org/drawingml/2006/main" name="2_Theme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6.xml><?xml version="1.0" encoding="utf-8"?>
<a:theme xmlns:a="http://schemas.openxmlformats.org/drawingml/2006/main" name="3_Theme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7.xml><?xml version="1.0" encoding="utf-8"?>
<a:theme xmlns:a="http://schemas.openxmlformats.org/drawingml/2006/main" name="theme nouveau 2024 v2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EABAB"/>
      </a:accent1>
      <a:accent2>
        <a:srgbClr val="70AD47"/>
      </a:accent2>
      <a:accent3>
        <a:srgbClr val="8EAADB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nouveau 2024 v2" id="{80D6775C-FE4E-4DA0-8FFC-73D90771A4C7}" vid="{D02DAE52-BF4B-4B74-BF16-773B52978150}"/>
    </a:ext>
  </a:extLst>
</a:theme>
</file>

<file path=ppt/theme/theme8.xml><?xml version="1.0" encoding="utf-8"?>
<a:theme xmlns:a="http://schemas.openxmlformats.org/drawingml/2006/main" name="8_Theme1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1F497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9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nouveau 2024 v3</Template>
  <TotalTime>16007</TotalTime>
  <Words>3383</Words>
  <Application>Microsoft Office PowerPoint</Application>
  <PresentationFormat>Widescreen</PresentationFormat>
  <Paragraphs>668</Paragraphs>
  <Slides>44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44</vt:i4>
      </vt:variant>
    </vt:vector>
  </HeadingPairs>
  <TitlesOfParts>
    <vt:vector size="65" baseType="lpstr">
      <vt:lpstr>Amasis MT Pro Light</vt:lpstr>
      <vt:lpstr>Arial</vt:lpstr>
      <vt:lpstr>Calibri</vt:lpstr>
      <vt:lpstr>Cambria Math</vt:lpstr>
      <vt:lpstr>Courier New</vt:lpstr>
      <vt:lpstr>Georgia</vt:lpstr>
      <vt:lpstr>Ink Free</vt:lpstr>
      <vt:lpstr>Segoe UI Emoji</vt:lpstr>
      <vt:lpstr>Symbol</vt:lpstr>
      <vt:lpstr>Tahoma</vt:lpstr>
      <vt:lpstr>Trebuchet MS</vt:lpstr>
      <vt:lpstr>Wingdings</vt:lpstr>
      <vt:lpstr>Wingdings 2</vt:lpstr>
      <vt:lpstr>theme nouveau 2024 v3</vt:lpstr>
      <vt:lpstr>1_Civil</vt:lpstr>
      <vt:lpstr>Theme1</vt:lpstr>
      <vt:lpstr>1_Theme1</vt:lpstr>
      <vt:lpstr>2_Theme1</vt:lpstr>
      <vt:lpstr>3_Theme1</vt:lpstr>
      <vt:lpstr>theme nouveau 2024 v2</vt:lpstr>
      <vt:lpstr>8_Theme1</vt:lpstr>
      <vt:lpstr>10200 Finance</vt:lpstr>
      <vt:lpstr>Qu'avons-nous vu dans la classe 5 ?</vt:lpstr>
      <vt:lpstr>Contexte</vt:lpstr>
      <vt:lpstr>Contexte</vt:lpstr>
      <vt:lpstr>Contexte</vt:lpstr>
      <vt:lpstr>Compromis entre risque et rendement : que pouvons-nous apprendre de l'histoire des marchés financiers ?</vt:lpstr>
      <vt:lpstr>Compromis entre risque et rendement</vt:lpstr>
      <vt:lpstr>Nous disons qu'un investisseur type est averse au risque...  Qu'est-ce qu'un investisseur averse au risque ?</vt:lpstr>
      <vt:lpstr>Comment calculer le rendement et le risque ?</vt:lpstr>
      <vt:lpstr>A - Données historiques et observées (connues)</vt:lpstr>
      <vt:lpstr>Graphiquement, la variance se présente comme suit...</vt:lpstr>
      <vt:lpstr>Mesures statistiques</vt:lpstr>
      <vt:lpstr>B - Données futures projetées (inconnues)</vt:lpstr>
      <vt:lpstr>C - Portefeuille</vt:lpstr>
      <vt:lpstr>Rendement du portefeuille</vt:lpstr>
      <vt:lpstr>Risque lié au portefeuille</vt:lpstr>
      <vt:lpstr>Risque lié au portefeuille</vt:lpstr>
      <vt:lpstr>Exemple : effet de diversification</vt:lpstr>
      <vt:lpstr>Risque de portefeuille</vt:lpstr>
      <vt:lpstr>Comment calculer le risque d'un portefeuille ?</vt:lpstr>
      <vt:lpstr>Calculer le rendement et le risque selon les différents contextes</vt:lpstr>
      <vt:lpstr>Exemple 1 : Calcul du risque/rendement à partir de données historiques</vt:lpstr>
      <vt:lpstr>Exemple 2 : Calcul du risque/rendement à partir de données prévisionnelles</vt:lpstr>
      <vt:lpstr>Exemple 3 : Calcul du risque/rendement d'un portefeuille</vt:lpstr>
      <vt:lpstr>Le MÉDAF</vt:lpstr>
      <vt:lpstr>Risque et MÉDAF</vt:lpstr>
      <vt:lpstr>Lorsque le nombre de titres dans un portefeuille augmente, le risque du portefeuille diminue...</vt:lpstr>
      <vt:lpstr>Le risque spécifique peut être diversifié, mais pas le risque systématique...</vt:lpstr>
      <vt:lpstr>Exemple</vt:lpstr>
      <vt:lpstr>La prime de risque ne devrait alors tenir compte que du risque systématique...</vt:lpstr>
      <vt:lpstr>Comment mesurer le risque systématique ? Avec le bêta !</vt:lpstr>
      <vt:lpstr>Et la version bêta en pratique... ?</vt:lpstr>
      <vt:lpstr>Exemple : risque total ou risque systématique ?</vt:lpstr>
      <vt:lpstr>Formule MÉDAF</vt:lpstr>
      <vt:lpstr>MÉDAF</vt:lpstr>
      <vt:lpstr>MÉDAF</vt:lpstr>
      <vt:lpstr>PowerPoint Presentation</vt:lpstr>
      <vt:lpstr>Exemple : Bêta du portefeuille</vt:lpstr>
      <vt:lpstr>Exemple - MÉDAF</vt:lpstr>
      <vt:lpstr>Points clés à retenir</vt:lpstr>
      <vt:lpstr>À retenir 🎯</vt:lpstr>
      <vt:lpstr>Exemple 1</vt:lpstr>
      <vt:lpstr>Exemple 2</vt:lpstr>
      <vt:lpstr>C'est en forgeant qu'on devient forgeron !!!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Propédeutique en finance 70-200</dc:title>
  <dc:creator>Utilisateur</dc:creator>
  <cp:keywords>, docId:79AFDF6BBB91FADFCE19EBC5B1ABD157</cp:keywords>
  <cp:lastModifiedBy>Mélanie Caron-Harris</cp:lastModifiedBy>
  <cp:revision>350</cp:revision>
  <dcterms:created xsi:type="dcterms:W3CDTF">2014-06-10T14:53:23Z</dcterms:created>
  <dcterms:modified xsi:type="dcterms:W3CDTF">2026-09-28T11:38:00Z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7ccb3-b2f1-4a20-b4b5-4f900b745103_Enabled">
    <vt:lpwstr>true</vt:lpwstr>
  </property>
  <property fmtid="{D5CDD505-2E9C-101B-9397-08002B2CF9AE}" pid="3" name="MSIP_Label_ac57ccb3-b2f1-4a20-b4b5-4f900b745103_SetDate">
    <vt:lpwstr>2025-11-02T21:03:27Z</vt:lpwstr>
  </property>
  <property fmtid="{D5CDD505-2E9C-101B-9397-08002B2CF9AE}" pid="4" name="MSIP_Label_ac57ccb3-b2f1-4a20-b4b5-4f900b745103_Method">
    <vt:lpwstr>Standard</vt:lpwstr>
  </property>
  <property fmtid="{D5CDD505-2E9C-101B-9397-08002B2CF9AE}" pid="5" name="MSIP_Label_ac57ccb3-b2f1-4a20-b4b5-4f900b745103_Name">
    <vt:lpwstr>lbl_groupes_publics</vt:lpwstr>
  </property>
  <property fmtid="{D5CDD505-2E9C-101B-9397-08002B2CF9AE}" pid="6" name="MSIP_Label_ac57ccb3-b2f1-4a20-b4b5-4f900b745103_SiteId">
    <vt:lpwstr>19df09a9-d1f0-4cff-90c4-01385cc40b57</vt:lpwstr>
  </property>
  <property fmtid="{D5CDD505-2E9C-101B-9397-08002B2CF9AE}" pid="7" name="MSIP_Label_ac57ccb3-b2f1-4a20-b4b5-4f900b745103_ActionId">
    <vt:lpwstr>f547e4a0-8bf0-4d75-95e1-66c29f1843bf</vt:lpwstr>
  </property>
  <property fmtid="{D5CDD505-2E9C-101B-9397-08002B2CF9AE}" pid="8" name="MSIP_Label_ac57ccb3-b2f1-4a20-b4b5-4f900b745103_ContentBits">
    <vt:lpwstr>0</vt:lpwstr>
  </property>
  <property fmtid="{D5CDD505-2E9C-101B-9397-08002B2CF9AE}" pid="9" name="MSIP_Label_ac57ccb3-b2f1-4a20-b4b5-4f900b745103_Tag">
    <vt:lpwstr>10, 1, 2, 1</vt:lpwstr>
  </property>
</Properties>
</file>