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4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5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6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7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8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9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10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  <p:sldMasterId id="2147483696" r:id="rId3"/>
    <p:sldMasterId id="2147483701" r:id="rId4"/>
    <p:sldMasterId id="2147483704" r:id="rId5"/>
    <p:sldMasterId id="2147483706" r:id="rId6"/>
    <p:sldMasterId id="2147483718" r:id="rId7"/>
    <p:sldMasterId id="2147483733" r:id="rId8"/>
    <p:sldMasterId id="2147483740" r:id="rId9"/>
    <p:sldMasterId id="2147483752" r:id="rId10"/>
    <p:sldMasterId id="2147483761" r:id="rId11"/>
  </p:sldMasterIdLst>
  <p:notesMasterIdLst>
    <p:notesMasterId r:id="rId46"/>
  </p:notesMasterIdLst>
  <p:sldIdLst>
    <p:sldId id="942" r:id="rId12"/>
    <p:sldId id="943" r:id="rId13"/>
    <p:sldId id="926" r:id="rId14"/>
    <p:sldId id="283" r:id="rId15"/>
    <p:sldId id="263" r:id="rId16"/>
    <p:sldId id="933" r:id="rId17"/>
    <p:sldId id="486" r:id="rId18"/>
    <p:sldId id="321" r:id="rId19"/>
    <p:sldId id="928" r:id="rId20"/>
    <p:sldId id="286" r:id="rId21"/>
    <p:sldId id="317" r:id="rId22"/>
    <p:sldId id="318" r:id="rId23"/>
    <p:sldId id="930" r:id="rId24"/>
    <p:sldId id="304" r:id="rId25"/>
    <p:sldId id="296" r:id="rId26"/>
    <p:sldId id="934" r:id="rId27"/>
    <p:sldId id="936" r:id="rId28"/>
    <p:sldId id="935" r:id="rId29"/>
    <p:sldId id="937" r:id="rId30"/>
    <p:sldId id="510" r:id="rId31"/>
    <p:sldId id="929" r:id="rId32"/>
    <p:sldId id="290" r:id="rId33"/>
    <p:sldId id="544" r:id="rId34"/>
    <p:sldId id="541" r:id="rId35"/>
    <p:sldId id="938" r:id="rId36"/>
    <p:sldId id="513" r:id="rId37"/>
    <p:sldId id="558" r:id="rId38"/>
    <p:sldId id="292" r:id="rId39"/>
    <p:sldId id="299" r:id="rId40"/>
    <p:sldId id="939" r:id="rId41"/>
    <p:sldId id="941" r:id="rId42"/>
    <p:sldId id="542" r:id="rId43"/>
    <p:sldId id="545" r:id="rId44"/>
    <p:sldId id="331" r:id="rId45"/>
  </p:sldIdLst>
  <p:sldSz cx="12192000" cy="6858000"/>
  <p:notesSz cx="6858000" cy="9144000"/>
  <p:defaultTextStyle>
    <a:defPPr>
      <a:defRPr lang="fr-CA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8D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4C167C-9680-4A51-BCC8-6B9E4494653A}" v="2" dt="2026-08-30T14:58:32.6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557" autoAdjust="0"/>
  </p:normalViewPr>
  <p:slideViewPr>
    <p:cSldViewPr>
      <p:cViewPr varScale="1">
        <p:scale>
          <a:sx n="111" d="100"/>
          <a:sy n="111" d="100"/>
        </p:scale>
        <p:origin x="55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1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slide" Target="slides/slide28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slide" Target="slides/slide3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9" Type="http://schemas.openxmlformats.org/officeDocument/2006/relationships/slide" Target="slides/slide18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49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4" Type="http://schemas.openxmlformats.org/officeDocument/2006/relationships/slide" Target="slides/slide33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slide" Target="slides/slide32.xml"/><Relationship Id="rId48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51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élanie Caron-Harris" userId="784ba18a-e74f-420c-a966-05b1322e4383" providerId="ADAL" clId="{2D819EB9-7307-4A86-A40F-5F1833D42680}"/>
    <pc:docChg chg="custSel delSld modSld">
      <pc:chgData name="Mélanie Caron-Harris" userId="784ba18a-e74f-420c-a966-05b1322e4383" providerId="ADAL" clId="{2D819EB9-7307-4A86-A40F-5F1833D42680}" dt="2026-08-30T15:00:21.216" v="191" actId="403"/>
      <pc:docMkLst>
        <pc:docMk/>
      </pc:docMkLst>
      <pc:sldChg chg="modSp mod">
        <pc:chgData name="Mélanie Caron-Harris" userId="784ba18a-e74f-420c-a966-05b1322e4383" providerId="ADAL" clId="{2D819EB9-7307-4A86-A40F-5F1833D42680}" dt="2026-08-30T14:56:38.395" v="86" actId="20577"/>
        <pc:sldMkLst>
          <pc:docMk/>
          <pc:sldMk cId="655062802" sldId="292"/>
        </pc:sldMkLst>
        <pc:spChg chg="mod">
          <ac:chgData name="Mélanie Caron-Harris" userId="784ba18a-e74f-420c-a966-05b1322e4383" providerId="ADAL" clId="{2D819EB9-7307-4A86-A40F-5F1833D42680}" dt="2026-08-30T14:56:38.395" v="86" actId="20577"/>
          <ac:spMkLst>
            <pc:docMk/>
            <pc:sldMk cId="655062802" sldId="292"/>
            <ac:spMk id="3" creationId="{00000000-0000-0000-0000-000000000000}"/>
          </ac:spMkLst>
        </pc:spChg>
      </pc:sldChg>
      <pc:sldChg chg="modSp mod">
        <pc:chgData name="Mélanie Caron-Harris" userId="784ba18a-e74f-420c-a966-05b1322e4383" providerId="ADAL" clId="{2D819EB9-7307-4A86-A40F-5F1833D42680}" dt="2026-08-30T14:57:00.955" v="93" actId="20577"/>
        <pc:sldMkLst>
          <pc:docMk/>
          <pc:sldMk cId="3574893660" sldId="299"/>
        </pc:sldMkLst>
        <pc:spChg chg="mod">
          <ac:chgData name="Mélanie Caron-Harris" userId="784ba18a-e74f-420c-a966-05b1322e4383" providerId="ADAL" clId="{2D819EB9-7307-4A86-A40F-5F1833D42680}" dt="2026-08-30T14:57:00.955" v="93" actId="20577"/>
          <ac:spMkLst>
            <pc:docMk/>
            <pc:sldMk cId="3574893660" sldId="299"/>
            <ac:spMk id="3" creationId="{00000000-0000-0000-0000-000000000000}"/>
          </ac:spMkLst>
        </pc:spChg>
      </pc:sldChg>
      <pc:sldChg chg="modSp mod">
        <pc:chgData name="Mélanie Caron-Harris" userId="784ba18a-e74f-420c-a966-05b1322e4383" providerId="ADAL" clId="{2D819EB9-7307-4A86-A40F-5F1833D42680}" dt="2026-08-30T14:55:28.683" v="18" actId="20577"/>
        <pc:sldMkLst>
          <pc:docMk/>
          <pc:sldMk cId="1513026083" sldId="513"/>
        </pc:sldMkLst>
        <pc:spChg chg="mod">
          <ac:chgData name="Mélanie Caron-Harris" userId="784ba18a-e74f-420c-a966-05b1322e4383" providerId="ADAL" clId="{2D819EB9-7307-4A86-A40F-5F1833D42680}" dt="2026-08-30T14:55:28.683" v="18" actId="20577"/>
          <ac:spMkLst>
            <pc:docMk/>
            <pc:sldMk cId="1513026083" sldId="513"/>
            <ac:spMk id="3" creationId="{00000000-0000-0000-0000-000000000000}"/>
          </ac:spMkLst>
        </pc:spChg>
        <pc:spChg chg="mod">
          <ac:chgData name="Mélanie Caron-Harris" userId="784ba18a-e74f-420c-a966-05b1322e4383" providerId="ADAL" clId="{2D819EB9-7307-4A86-A40F-5F1833D42680}" dt="2026-08-30T14:55:18.619" v="12" actId="20577"/>
          <ac:spMkLst>
            <pc:docMk/>
            <pc:sldMk cId="1513026083" sldId="513"/>
            <ac:spMk id="7" creationId="{7B5D9050-89F0-F9C8-DE87-E8BF8B07AB58}"/>
          </ac:spMkLst>
        </pc:spChg>
        <pc:spChg chg="mod">
          <ac:chgData name="Mélanie Caron-Harris" userId="784ba18a-e74f-420c-a966-05b1322e4383" providerId="ADAL" clId="{2D819EB9-7307-4A86-A40F-5F1833D42680}" dt="2026-08-30T14:54:55.581" v="2" actId="1076"/>
          <ac:spMkLst>
            <pc:docMk/>
            <pc:sldMk cId="1513026083" sldId="513"/>
            <ac:spMk id="8" creationId="{C7539C99-B43A-40BE-13B4-FBD693385228}"/>
          </ac:spMkLst>
        </pc:spChg>
      </pc:sldChg>
      <pc:sldChg chg="modSp mod">
        <pc:chgData name="Mélanie Caron-Harris" userId="784ba18a-e74f-420c-a966-05b1322e4383" providerId="ADAL" clId="{2D819EB9-7307-4A86-A40F-5F1833D42680}" dt="2026-08-30T14:58:16.137" v="101" actId="6549"/>
        <pc:sldMkLst>
          <pc:docMk/>
          <pc:sldMk cId="2603455022" sldId="542"/>
        </pc:sldMkLst>
        <pc:spChg chg="mod">
          <ac:chgData name="Mélanie Caron-Harris" userId="784ba18a-e74f-420c-a966-05b1322e4383" providerId="ADAL" clId="{2D819EB9-7307-4A86-A40F-5F1833D42680}" dt="2026-08-30T14:58:16.137" v="101" actId="6549"/>
          <ac:spMkLst>
            <pc:docMk/>
            <pc:sldMk cId="2603455022" sldId="542"/>
            <ac:spMk id="4" creationId="{17889B03-4D3C-4E71-9B72-F728ADADA082}"/>
          </ac:spMkLst>
        </pc:spChg>
      </pc:sldChg>
      <pc:sldChg chg="del">
        <pc:chgData name="Mélanie Caron-Harris" userId="784ba18a-e74f-420c-a966-05b1322e4383" providerId="ADAL" clId="{2D819EB9-7307-4A86-A40F-5F1833D42680}" dt="2026-08-30T14:58:12.295" v="100" actId="47"/>
        <pc:sldMkLst>
          <pc:docMk/>
          <pc:sldMk cId="1907197119" sldId="555"/>
        </pc:sldMkLst>
      </pc:sldChg>
      <pc:sldChg chg="modSp del mod">
        <pc:chgData name="Mélanie Caron-Harris" userId="784ba18a-e74f-420c-a966-05b1322e4383" providerId="ADAL" clId="{2D819EB9-7307-4A86-A40F-5F1833D42680}" dt="2026-08-30T14:58:11.275" v="99" actId="47"/>
        <pc:sldMkLst>
          <pc:docMk/>
          <pc:sldMk cId="2398520302" sldId="932"/>
        </pc:sldMkLst>
        <pc:spChg chg="mod">
          <ac:chgData name="Mélanie Caron-Harris" userId="784ba18a-e74f-420c-a966-05b1322e4383" providerId="ADAL" clId="{2D819EB9-7307-4A86-A40F-5F1833D42680}" dt="2026-08-30T14:58:01.572" v="98" actId="20577"/>
          <ac:spMkLst>
            <pc:docMk/>
            <pc:sldMk cId="2398520302" sldId="932"/>
            <ac:spMk id="3" creationId="{00000000-0000-0000-0000-000000000000}"/>
          </ac:spMkLst>
        </pc:spChg>
      </pc:sldChg>
      <pc:sldChg chg="addSp modSp mod">
        <pc:chgData name="Mélanie Caron-Harris" userId="784ba18a-e74f-420c-a966-05b1322e4383" providerId="ADAL" clId="{2D819EB9-7307-4A86-A40F-5F1833D42680}" dt="2026-08-30T14:59:46.135" v="174" actId="13822"/>
        <pc:sldMkLst>
          <pc:docMk/>
          <pc:sldMk cId="3403890902" sldId="939"/>
        </pc:sldMkLst>
        <pc:spChg chg="add mod">
          <ac:chgData name="Mélanie Caron-Harris" userId="784ba18a-e74f-420c-a966-05b1322e4383" providerId="ADAL" clId="{2D819EB9-7307-4A86-A40F-5F1833D42680}" dt="2026-08-30T14:58:53.388" v="147" actId="21"/>
          <ac:spMkLst>
            <pc:docMk/>
            <pc:sldMk cId="3403890902" sldId="939"/>
            <ac:spMk id="5" creationId="{5B423DB0-4A12-80AA-4938-6489280FF189}"/>
          </ac:spMkLst>
        </pc:spChg>
        <pc:spChg chg="add mod">
          <ac:chgData name="Mélanie Caron-Harris" userId="784ba18a-e74f-420c-a966-05b1322e4383" providerId="ADAL" clId="{2D819EB9-7307-4A86-A40F-5F1833D42680}" dt="2026-08-30T14:59:21.203" v="169" actId="1076"/>
          <ac:spMkLst>
            <pc:docMk/>
            <pc:sldMk cId="3403890902" sldId="939"/>
            <ac:spMk id="7" creationId="{40D207A2-0AF8-03B4-9F37-14D62500A2C7}"/>
          </ac:spMkLst>
        </pc:spChg>
        <pc:spChg chg="add mod">
          <ac:chgData name="Mélanie Caron-Harris" userId="784ba18a-e74f-420c-a966-05b1322e4383" providerId="ADAL" clId="{2D819EB9-7307-4A86-A40F-5F1833D42680}" dt="2026-08-30T14:59:46.135" v="174" actId="13822"/>
          <ac:spMkLst>
            <pc:docMk/>
            <pc:sldMk cId="3403890902" sldId="939"/>
            <ac:spMk id="8" creationId="{044C4ED3-B1B2-3F40-AFF2-F9552B194D45}"/>
          </ac:spMkLst>
        </pc:spChg>
        <pc:picChg chg="mod">
          <ac:chgData name="Mélanie Caron-Harris" userId="784ba18a-e74f-420c-a966-05b1322e4383" providerId="ADAL" clId="{2D819EB9-7307-4A86-A40F-5F1833D42680}" dt="2026-08-30T14:58:24.928" v="102" actId="1076"/>
          <ac:picMkLst>
            <pc:docMk/>
            <pc:sldMk cId="3403890902" sldId="939"/>
            <ac:picMk id="9" creationId="{DB3315D7-0DAA-6CB7-9C2F-7D9E91E38EA9}"/>
          </ac:picMkLst>
        </pc:picChg>
      </pc:sldChg>
      <pc:sldChg chg="modSp mod">
        <pc:chgData name="Mélanie Caron-Harris" userId="784ba18a-e74f-420c-a966-05b1322e4383" providerId="ADAL" clId="{2D819EB9-7307-4A86-A40F-5F1833D42680}" dt="2026-08-30T15:00:21.216" v="191" actId="403"/>
        <pc:sldMkLst>
          <pc:docMk/>
          <pc:sldMk cId="2943560212" sldId="942"/>
        </pc:sldMkLst>
        <pc:spChg chg="mod">
          <ac:chgData name="Mélanie Caron-Harris" userId="784ba18a-e74f-420c-a966-05b1322e4383" providerId="ADAL" clId="{2D819EB9-7307-4A86-A40F-5F1833D42680}" dt="2026-08-30T15:00:21.216" v="191" actId="403"/>
          <ac:spMkLst>
            <pc:docMk/>
            <pc:sldMk cId="2943560212" sldId="942"/>
            <ac:spMk id="3" creationId="{747C319F-5C1F-DEC0-2BDB-636BD220BBA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B8A0AC-86E4-4B2F-88A9-DB1919766A00}" type="datetimeFigureOut">
              <a:rPr lang="fr-CA" smtClean="0"/>
              <a:t>2026-08-30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801DF5-6BF2-4047-8DA5-606EE14CB4DE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5954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strike="noStri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5E59A1-C51A-4F4A-86C8-22A0EC8DAD15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677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DC72E-6C06-73F3-4944-9DCEAF271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FAB25-B18F-BFDD-77CB-189596CA52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C0D9F0-407A-3CC3-7B82-D3AA9A313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63298-9089-368A-5A18-E1AED5813B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436627-F8D8-47A6-A674-75CD294D5548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22554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36627-F8D8-47A6-A674-75CD294D5548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12304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36627-F8D8-47A6-A674-75CD294D5548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21421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36627-F8D8-47A6-A674-75CD294D5548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01479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36627-F8D8-47A6-A674-75CD294D5548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290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36627-F8D8-47A6-A674-75CD294D5548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82904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36627-F8D8-47A6-A674-75CD294D5548}" type="slidenum">
              <a:rPr lang="fr-CA" smtClean="0"/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222880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36627-F8D8-47A6-A674-75CD294D5548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542016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36627-F8D8-47A6-A674-75CD294D5548}" type="slidenum">
              <a:rPr lang="fr-CA" smtClean="0"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42104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36627-F8D8-47A6-A674-75CD294D5548}" type="slidenum">
              <a:rPr lang="fr-CA" smtClean="0"/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877529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36627-F8D8-47A6-A674-75CD294D5548}" type="slidenum">
              <a:rPr lang="fr-CA" smtClean="0"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199430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36627-F8D8-47A6-A674-75CD294D5548}" type="slidenum">
              <a:rPr lang="fr-CA" smtClean="0"/>
              <a:t>15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680020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36627-F8D8-47A6-A674-75CD294D5548}" type="slidenum">
              <a:rPr lang="fr-CA" smtClean="0"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746027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36627-F8D8-47A6-A674-75CD294D5548}" type="slidenum">
              <a:rPr lang="fr-CA" smtClean="0"/>
              <a:t>17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333145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36627-F8D8-47A6-A674-75CD294D5548}" type="slidenum">
              <a:rPr lang="fr-CA" smtClean="0"/>
              <a:t>18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866806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36627-F8D8-47A6-A674-75CD294D5548}" type="slidenum">
              <a:rPr lang="fr-CA" smtClean="0"/>
              <a:t>19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488231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36627-F8D8-47A6-A674-75CD294D5548}" type="slidenum">
              <a:rPr lang="fr-CA" smtClean="0"/>
              <a:t>20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706532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36627-F8D8-47A6-A674-75CD294D5548}" type="slidenum">
              <a:rPr lang="fr-CA" smtClean="0"/>
              <a:t>21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436630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36627-F8D8-47A6-A674-75CD294D5548}" type="slidenum">
              <a:rPr lang="fr-CA" smtClean="0"/>
              <a:t>22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571293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36627-F8D8-47A6-A674-75CD294D5548}" type="slidenum">
              <a:rPr lang="fr-CA" smtClean="0"/>
              <a:t>23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641296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36627-F8D8-47A6-A674-75CD294D5548}" type="slidenum">
              <a:rPr lang="fr-CA" smtClean="0"/>
              <a:t>24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30442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36627-F8D8-47A6-A674-75CD294D5548}" type="slidenum">
              <a:rPr lang="fr-CA" smtClean="0"/>
              <a:t>25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23643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36627-F8D8-47A6-A674-75CD294D5548}" type="slidenum">
              <a:rPr lang="fr-CA" smtClean="0"/>
              <a:t>26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52536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36627-F8D8-47A6-A674-75CD294D5548}" type="slidenum">
              <a:rPr lang="fr-CA" smtClean="0"/>
              <a:t>28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869630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36627-F8D8-47A6-A674-75CD294D5548}" type="slidenum">
              <a:rPr lang="fr-CA" smtClean="0"/>
              <a:t>29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404345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36627-F8D8-47A6-A674-75CD294D5548}" type="slidenum">
              <a:rPr lang="fr-CA" smtClean="0"/>
              <a:t>30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18233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36627-F8D8-47A6-A674-75CD294D5548}" type="slidenum">
              <a:rPr lang="fr-CA" smtClean="0"/>
              <a:t>31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862892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36627-F8D8-47A6-A674-75CD294D5548}" type="slidenum">
              <a:rPr lang="fr-CA" smtClean="0"/>
              <a:t>33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735145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36627-F8D8-47A6-A674-75CD294D5548}" type="slidenum">
              <a:rPr lang="fr-CA" smtClean="0"/>
              <a:t>34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4182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9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9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3048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5072" y="6391659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828800" y="2819400"/>
            <a:ext cx="8534400" cy="1752600"/>
          </a:xfrm>
        </p:spPr>
        <p:txBody>
          <a:bodyPr/>
          <a:lstStyle>
            <a:lvl1pPr marL="0" indent="0" algn="ctr">
              <a:buNone/>
              <a:defRPr sz="1333" b="1" cap="all" spc="208" baseline="0">
                <a:solidFill>
                  <a:schemeClr val="tx2"/>
                </a:solidFill>
              </a:defRPr>
            </a:lvl1pPr>
            <a:lvl2pPr marL="380985" indent="0" algn="ctr">
              <a:buNone/>
            </a:lvl2pPr>
            <a:lvl3pPr marL="761970" indent="0" algn="ctr">
              <a:buNone/>
            </a:lvl3pPr>
            <a:lvl4pPr marL="1142954" indent="0" algn="ctr">
              <a:buNone/>
            </a:lvl4pPr>
            <a:lvl5pPr marL="1523939" indent="0" algn="ctr">
              <a:buNone/>
            </a:lvl5pPr>
            <a:lvl6pPr marL="1904924" indent="0" algn="ctr">
              <a:buNone/>
            </a:lvl6pPr>
            <a:lvl7pPr marL="2285909" indent="0" algn="ctr">
              <a:buNone/>
            </a:lvl7pPr>
            <a:lvl8pPr marL="2666893" indent="0" algn="ctr">
              <a:buNone/>
            </a:lvl8pPr>
            <a:lvl9pPr marL="3047878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207264" y="2420112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5791200" y="2199452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10363200" cy="1752600"/>
          </a:xfrm>
        </p:spPr>
        <p:txBody>
          <a:bodyPr anchor="b"/>
          <a:lstStyle>
            <a:lvl1pPr>
              <a:defRPr sz="35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8424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815584" y="1026374"/>
            <a:ext cx="609600" cy="441325"/>
          </a:xfrm>
        </p:spPr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 dirty="0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84354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7264" y="142352"/>
            <a:ext cx="11777472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24568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1333" b="1" cap="all" spc="208" baseline="0">
                <a:solidFill>
                  <a:schemeClr val="tx2"/>
                </a:solidFill>
              </a:defRPr>
            </a:lvl1pPr>
            <a:lvl2pPr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5072" y="6391659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91200" y="2199452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533400"/>
            <a:ext cx="10363200" cy="1524000"/>
          </a:xfrm>
        </p:spPr>
        <p:txBody>
          <a:bodyPr anchor="b"/>
          <a:lstStyle>
            <a:lvl1pPr algn="ctr">
              <a:buNone/>
              <a:defRPr sz="35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55612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6084110" y="1575653"/>
            <a:ext cx="11895" cy="4819558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2083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2083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0738600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6096000" y="2200276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12192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3200" y="1371600"/>
            <a:ext cx="11777472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4564" y="6391656"/>
            <a:ext cx="11777472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5386917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1833" b="1" dirty="0" smtClean="0">
                <a:solidFill>
                  <a:srgbClr val="FFFFFF"/>
                </a:solidFill>
              </a:defRPr>
            </a:lvl1pPr>
            <a:lvl2pPr>
              <a:buNone/>
              <a:defRPr sz="1667" b="1"/>
            </a:lvl2pPr>
            <a:lvl3pPr>
              <a:buNone/>
              <a:defRPr sz="1500" b="1"/>
            </a:lvl3pPr>
            <a:lvl4pPr>
              <a:buNone/>
              <a:defRPr sz="1333" b="1"/>
            </a:lvl4pPr>
            <a:lvl5pPr>
              <a:buNone/>
              <a:defRPr sz="1333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6388444" y="1524000"/>
            <a:ext cx="5389033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1833" b="1"/>
            </a:lvl1pPr>
            <a:lvl2pPr>
              <a:buNone/>
              <a:defRPr sz="1667" b="1"/>
            </a:lvl2pPr>
            <a:lvl3pPr>
              <a:buNone/>
              <a:defRPr sz="1500" b="1"/>
            </a:lvl3pPr>
            <a:lvl4pPr>
              <a:buNone/>
              <a:defRPr sz="1333" b="1"/>
            </a:lvl4pPr>
            <a:lvl5pPr>
              <a:buNone/>
              <a:defRPr sz="1333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406400" y="6409944"/>
            <a:ext cx="4775200" cy="365760"/>
          </a:xfrm>
        </p:spPr>
        <p:txBody>
          <a:bodyPr/>
          <a:lstStyle/>
          <a:p>
            <a:endParaRPr lang="fr-CA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203200" y="128016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402336" y="2471384"/>
            <a:ext cx="5388864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6400800" y="2471383"/>
            <a:ext cx="53848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7" name="Ellipse 26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5791200" y="1042418"/>
            <a:ext cx="609600" cy="441325"/>
          </a:xfrm>
        </p:spPr>
        <p:txBody>
          <a:bodyPr/>
          <a:lstStyle>
            <a:lvl1pPr algn="ctr">
              <a:defRPr/>
            </a:lvl1pPr>
          </a:lstStyle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93142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5791200" y="1036022"/>
            <a:ext cx="609600" cy="441325"/>
          </a:xfrm>
        </p:spPr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7313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5072" y="6391659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03200" y="158496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689600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A019D1F-2BC9-41FA-953B-C3256200C508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92354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1833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833"/>
              </a:spcAft>
              <a:buNone/>
              <a:defRPr sz="1333">
                <a:solidFill>
                  <a:srgbClr val="FFFFFF"/>
                </a:solidFill>
              </a:defRPr>
            </a:lvl1pPr>
            <a:lvl2pPr>
              <a:buNone/>
              <a:defRPr sz="1000"/>
            </a:lvl2pPr>
            <a:lvl3pPr>
              <a:buNone/>
              <a:defRPr sz="833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4165600" y="685800"/>
            <a:ext cx="75184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0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9136" y="6388388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5280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203200" y="152400"/>
            <a:ext cx="11777472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0"/>
            <a:ext cx="609600" cy="441325"/>
          </a:xfrm>
        </p:spPr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00500" y="5029200"/>
            <a:ext cx="7823200" cy="1219200"/>
          </a:xfrm>
        </p:spPr>
        <p:txBody>
          <a:bodyPr anchor="t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000500" y="609600"/>
            <a:ext cx="7823200" cy="4267200"/>
          </a:xfrm>
        </p:spPr>
        <p:txBody>
          <a:bodyPr/>
          <a:lstStyle>
            <a:lvl1pPr marL="0" indent="0">
              <a:buNone/>
              <a:defRPr sz="2667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08000" y="990600"/>
            <a:ext cx="3251200" cy="5257800"/>
          </a:xfrm>
        </p:spPr>
        <p:txBody>
          <a:bodyPr/>
          <a:lstStyle>
            <a:lvl1pPr marL="0" indent="0">
              <a:spcAft>
                <a:spcPts val="833"/>
              </a:spcAft>
              <a:buFontTx/>
              <a:buNone/>
              <a:defRPr sz="1333">
                <a:solidFill>
                  <a:srgbClr val="FFFFFF"/>
                </a:solidFill>
              </a:defRPr>
            </a:lvl1pPr>
            <a:lvl2pPr>
              <a:defRPr sz="1000"/>
            </a:lvl2pPr>
            <a:lvl3pPr>
              <a:defRPr sz="833"/>
            </a:lvl3pPr>
            <a:lvl4pPr>
              <a:defRPr sz="750"/>
            </a:lvl4pPr>
            <a:lvl5pPr>
              <a:defRPr sz="75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99136" y="6388388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17536" y="6404984"/>
            <a:ext cx="4059936" cy="365760"/>
          </a:xfrm>
        </p:spPr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779264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68797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76710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9347200" y="0"/>
            <a:ext cx="28448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5072" y="6391659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6403340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9119616" y="2925763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9245600" y="3020251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221216" y="3009903"/>
            <a:ext cx="609600" cy="441325"/>
          </a:xfrm>
        </p:spPr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06400" y="304800"/>
            <a:ext cx="87376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855200" y="304803"/>
            <a:ext cx="1930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1880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3048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5072" y="6391659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828800" y="2819400"/>
            <a:ext cx="8534400" cy="1752600"/>
          </a:xfrm>
        </p:spPr>
        <p:txBody>
          <a:bodyPr/>
          <a:lstStyle>
            <a:lvl1pPr marL="0" indent="0" algn="ctr">
              <a:buNone/>
              <a:defRPr sz="1333" b="1" cap="all" spc="208" baseline="0">
                <a:solidFill>
                  <a:schemeClr val="tx2"/>
                </a:solidFill>
              </a:defRPr>
            </a:lvl1pPr>
            <a:lvl2pPr marL="380985" indent="0" algn="ctr">
              <a:buNone/>
            </a:lvl2pPr>
            <a:lvl3pPr marL="761970" indent="0" algn="ctr">
              <a:buNone/>
            </a:lvl3pPr>
            <a:lvl4pPr marL="1142954" indent="0" algn="ctr">
              <a:buNone/>
            </a:lvl4pPr>
            <a:lvl5pPr marL="1523939" indent="0" algn="ctr">
              <a:buNone/>
            </a:lvl5pPr>
            <a:lvl6pPr marL="1904924" indent="0" algn="ctr">
              <a:buNone/>
            </a:lvl6pPr>
            <a:lvl7pPr marL="2285909" indent="0" algn="ctr">
              <a:buNone/>
            </a:lvl7pPr>
            <a:lvl8pPr marL="2666893" indent="0" algn="ctr">
              <a:buNone/>
            </a:lvl8pPr>
            <a:lvl9pPr marL="3047878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207264" y="2420112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5791200" y="2199452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10363200" cy="1752600"/>
          </a:xfrm>
        </p:spPr>
        <p:txBody>
          <a:bodyPr anchor="b"/>
          <a:lstStyle>
            <a:lvl1pPr>
              <a:defRPr sz="35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81451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815584" y="1026374"/>
            <a:ext cx="609600" cy="441325"/>
          </a:xfrm>
        </p:spPr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7137151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7264" y="142352"/>
            <a:ext cx="11777472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24568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1333" b="1" cap="all" spc="208" baseline="0">
                <a:solidFill>
                  <a:schemeClr val="tx2"/>
                </a:solidFill>
              </a:defRPr>
            </a:lvl1pPr>
            <a:lvl2pPr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5072" y="6391659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91200" y="2199452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533400"/>
            <a:ext cx="10363200" cy="1524000"/>
          </a:xfrm>
        </p:spPr>
        <p:txBody>
          <a:bodyPr anchor="b"/>
          <a:lstStyle>
            <a:lvl1pPr algn="ctr">
              <a:buNone/>
              <a:defRPr sz="35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41070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6084110" y="1575653"/>
            <a:ext cx="11895" cy="4819558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2083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2083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645483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6096000" y="2200276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12192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3200" y="1371600"/>
            <a:ext cx="11777472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4564" y="6391656"/>
            <a:ext cx="11777472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5386917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1833" b="1" dirty="0" smtClean="0">
                <a:solidFill>
                  <a:srgbClr val="FFFFFF"/>
                </a:solidFill>
              </a:defRPr>
            </a:lvl1pPr>
            <a:lvl2pPr>
              <a:buNone/>
              <a:defRPr sz="1667" b="1"/>
            </a:lvl2pPr>
            <a:lvl3pPr>
              <a:buNone/>
              <a:defRPr sz="1500" b="1"/>
            </a:lvl3pPr>
            <a:lvl4pPr>
              <a:buNone/>
              <a:defRPr sz="1333" b="1"/>
            </a:lvl4pPr>
            <a:lvl5pPr>
              <a:buNone/>
              <a:defRPr sz="1333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6388444" y="1524000"/>
            <a:ext cx="5389033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1833" b="1"/>
            </a:lvl1pPr>
            <a:lvl2pPr>
              <a:buNone/>
              <a:defRPr sz="1667" b="1"/>
            </a:lvl2pPr>
            <a:lvl3pPr>
              <a:buNone/>
              <a:defRPr sz="1500" b="1"/>
            </a:lvl3pPr>
            <a:lvl4pPr>
              <a:buNone/>
              <a:defRPr sz="1333" b="1"/>
            </a:lvl4pPr>
            <a:lvl5pPr>
              <a:buNone/>
              <a:defRPr sz="1333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406400" y="6409944"/>
            <a:ext cx="4775200" cy="365760"/>
          </a:xfrm>
        </p:spPr>
        <p:txBody>
          <a:bodyPr/>
          <a:lstStyle/>
          <a:p>
            <a:endParaRPr lang="fr-CA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203200" y="128016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402336" y="2471384"/>
            <a:ext cx="5388864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6400800" y="2471383"/>
            <a:ext cx="53848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Ellipse 26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5791200" y="1042418"/>
            <a:ext cx="609600" cy="441325"/>
          </a:xfrm>
        </p:spPr>
        <p:txBody>
          <a:bodyPr/>
          <a:lstStyle>
            <a:lvl1pPr algn="ctr">
              <a:defRPr/>
            </a:lvl1pPr>
          </a:lstStyle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4345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5791200" y="1036022"/>
            <a:ext cx="609600" cy="441325"/>
          </a:xfrm>
        </p:spPr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89435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5072" y="6391659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03200" y="158496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689600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60443A9-7CF2-4AF6-A108-271190AEB83F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38722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1833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833"/>
              </a:spcAft>
              <a:buNone/>
              <a:defRPr sz="1333">
                <a:solidFill>
                  <a:srgbClr val="FFFFFF"/>
                </a:solidFill>
              </a:defRPr>
            </a:lvl1pPr>
            <a:lvl2pPr>
              <a:buNone/>
              <a:defRPr sz="1000"/>
            </a:lvl2pPr>
            <a:lvl3pPr>
              <a:buNone/>
              <a:defRPr sz="833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4165600" y="685800"/>
            <a:ext cx="75184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0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9136" y="6388388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5181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203200" y="152400"/>
            <a:ext cx="11777472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0"/>
            <a:ext cx="609600" cy="441325"/>
          </a:xfrm>
        </p:spPr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00500" y="5029200"/>
            <a:ext cx="7823200" cy="1219200"/>
          </a:xfrm>
        </p:spPr>
        <p:txBody>
          <a:bodyPr anchor="t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000500" y="609600"/>
            <a:ext cx="7823200" cy="4267200"/>
          </a:xfrm>
        </p:spPr>
        <p:txBody>
          <a:bodyPr/>
          <a:lstStyle>
            <a:lvl1pPr marL="0" indent="0">
              <a:buNone/>
              <a:defRPr sz="2667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08000" y="990600"/>
            <a:ext cx="3251200" cy="5257800"/>
          </a:xfrm>
        </p:spPr>
        <p:txBody>
          <a:bodyPr/>
          <a:lstStyle>
            <a:lvl1pPr marL="0" indent="0">
              <a:spcAft>
                <a:spcPts val="833"/>
              </a:spcAft>
              <a:buFontTx/>
              <a:buNone/>
              <a:defRPr sz="1333">
                <a:solidFill>
                  <a:srgbClr val="FFFFFF"/>
                </a:solidFill>
              </a:defRPr>
            </a:lvl1pPr>
            <a:lvl2pPr>
              <a:defRPr sz="1000"/>
            </a:lvl2pPr>
            <a:lvl3pPr>
              <a:defRPr sz="833"/>
            </a:lvl3pPr>
            <a:lvl4pPr>
              <a:defRPr sz="750"/>
            </a:lvl4pPr>
            <a:lvl5pPr>
              <a:defRPr sz="75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99136" y="6388388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17536" y="6404984"/>
            <a:ext cx="4059936" cy="365760"/>
          </a:xfrm>
        </p:spPr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779264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754927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7408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9347200" y="0"/>
            <a:ext cx="28448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5072" y="6391659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6403340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9119616" y="2925763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9245600" y="3020251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221216" y="3009903"/>
            <a:ext cx="609600" cy="441325"/>
          </a:xfrm>
        </p:spPr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06400" y="304800"/>
            <a:ext cx="87376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855200" y="304803"/>
            <a:ext cx="1930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59875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87139" y="1036639"/>
            <a:ext cx="609600" cy="441325"/>
          </a:xfrm>
        </p:spPr>
        <p:txBody>
          <a:bodyPr>
            <a:normAutofit/>
          </a:bodyPr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fld id="{E7797711-19F7-489A-B9FE-21143DCBA2BB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  <a:noFill/>
        </p:spPr>
        <p:txBody>
          <a:bodyPr/>
          <a:lstStyle>
            <a:lvl1pPr>
              <a:buClrTx/>
              <a:buSzPct val="100000"/>
              <a:defRPr>
                <a:latin typeface="Amasis MT Pro Light" panose="02040304050005020304" pitchFamily="18" charset="0"/>
              </a:defRPr>
            </a:lvl1pPr>
            <a:lvl2pPr marL="457159" indent="-228580">
              <a:buClr>
                <a:schemeClr val="accent6">
                  <a:lumMod val="75000"/>
                </a:schemeClr>
              </a:buClr>
              <a:buSzPct val="85000"/>
              <a:buFont typeface="Wingdings" panose="05000000000000000000" pitchFamily="2" charset="2"/>
              <a:buChar char=""/>
              <a:defRPr>
                <a:solidFill>
                  <a:schemeClr val="accent3">
                    <a:lumMod val="50000"/>
                  </a:schemeClr>
                </a:solidFill>
                <a:latin typeface="Amasis MT Pro Light" panose="02040304050005020304" pitchFamily="18" charset="0"/>
              </a:defRPr>
            </a:lvl2pPr>
            <a:lvl3pPr marL="685739" indent="-190482">
              <a:buClr>
                <a:schemeClr val="tx2"/>
              </a:buClr>
              <a:buSzPct val="85000"/>
              <a:buFont typeface="Courier New" panose="02070309020205020404" pitchFamily="49" charset="0"/>
              <a:buChar char="o"/>
              <a:defRPr>
                <a:solidFill>
                  <a:schemeClr val="accent2">
                    <a:lumMod val="75000"/>
                  </a:schemeClr>
                </a:solidFill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656842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3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7264" y="142352"/>
            <a:ext cx="11777472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24573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1200" b="1" cap="all" spc="187" baseline="0">
                <a:solidFill>
                  <a:schemeClr val="tx2"/>
                </a:solidFill>
                <a:latin typeface="Amasis MT Pro Light" panose="02040304050005020304" pitchFamily="18" charset="0"/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5072" y="639166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 dirty="0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689603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91200" y="2199460"/>
            <a:ext cx="6096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797711-19F7-489A-B9FE-21143DCBA2BB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5" y="533400"/>
            <a:ext cx="10363200" cy="1524000"/>
          </a:xfrm>
        </p:spPr>
        <p:txBody>
          <a:bodyPr anchor="b"/>
          <a:lstStyle>
            <a:lvl1pPr algn="ctr">
              <a:buNone/>
              <a:defRPr sz="3150" b="0" cap="none" baseline="0">
                <a:solidFill>
                  <a:srgbClr val="FFFFFF"/>
                </a:solidFill>
                <a:latin typeface="Amasis MT Pro Light" panose="02040304050005020304" pitchFamily="18" charset="0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978974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165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750"/>
              </a:spcAft>
              <a:buNone/>
              <a:defRPr sz="1200">
                <a:solidFill>
                  <a:srgbClr val="FFFFFF"/>
                </a:solidFill>
              </a:defRPr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6"/>
            </a:lvl4pPr>
            <a:lvl5pPr>
              <a:buNone/>
              <a:defRPr sz="676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4165604" y="685800"/>
            <a:ext cx="7518400" cy="5410200"/>
          </a:xfrm>
          <a:noFill/>
        </p:spPr>
        <p:txBody>
          <a:bodyPr/>
          <a:lstStyle>
            <a:lvl1pPr>
              <a:defRPr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1"/>
            <a:ext cx="6096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0443A9-7CF2-4AF6-A108-271190AEB83F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509116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F0BD8F-A75F-44D8-942F-F1E8634EA224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6084110" y="1575653"/>
            <a:ext cx="11895" cy="4819558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500">
              <a:solidFill>
                <a:prstClr val="black"/>
              </a:solidFill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2083" b="0">
                <a:latin typeface="Amasis MT Pro Light" panose="02040304050005020304" pitchFamily="18" charset="0"/>
              </a:defRPr>
            </a:lvl1pPr>
            <a:lvl2pPr>
              <a:defRPr b="0">
                <a:latin typeface="Amasis MT Pro Light" panose="02040304050005020304" pitchFamily="18" charset="0"/>
              </a:defRPr>
            </a:lvl2pPr>
            <a:lvl3pPr>
              <a:defRPr b="0">
                <a:latin typeface="Amasis MT Pro Light" panose="02040304050005020304" pitchFamily="18" charset="0"/>
              </a:defRPr>
            </a:lvl3pPr>
            <a:lvl4pPr>
              <a:defRPr b="0">
                <a:latin typeface="Amasis MT Pro Light" panose="02040304050005020304" pitchFamily="18" charset="0"/>
              </a:defRPr>
            </a:lvl4pPr>
            <a:lvl5pPr>
              <a:defRPr b="0"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2083"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0771234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828800" y="2819400"/>
            <a:ext cx="8534400" cy="1752600"/>
          </a:xfrm>
        </p:spPr>
        <p:txBody>
          <a:bodyPr/>
          <a:lstStyle>
            <a:lvl1pPr marL="0" indent="0" algn="ctr">
              <a:buNone/>
              <a:defRPr sz="1333" b="1" cap="all" spc="208" baseline="0">
                <a:solidFill>
                  <a:schemeClr val="tx2"/>
                </a:solidFill>
              </a:defRPr>
            </a:lvl1pPr>
            <a:lvl2pPr marL="380985" indent="0" algn="ctr">
              <a:buNone/>
            </a:lvl2pPr>
            <a:lvl3pPr marL="761970" indent="0" algn="ctr">
              <a:buNone/>
            </a:lvl3pPr>
            <a:lvl4pPr marL="1142954" indent="0" algn="ctr">
              <a:buNone/>
            </a:lvl4pPr>
            <a:lvl5pPr marL="1523939" indent="0" algn="ctr">
              <a:buNone/>
            </a:lvl5pPr>
            <a:lvl6pPr marL="1904924" indent="0" algn="ctr">
              <a:buNone/>
            </a:lvl6pPr>
            <a:lvl7pPr marL="2285909" indent="0" algn="ctr">
              <a:buNone/>
            </a:lvl7pPr>
            <a:lvl8pPr marL="2666893" indent="0" algn="ctr">
              <a:buNone/>
            </a:lvl8pPr>
            <a:lvl9pPr marL="3047878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5791200" y="2199452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10363200" cy="1752600"/>
          </a:xfrm>
        </p:spPr>
        <p:txBody>
          <a:bodyPr anchor="b"/>
          <a:lstStyle>
            <a:lvl1pPr>
              <a:defRPr sz="35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97815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689600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A019D1F-2BC9-41FA-953B-C3256200C508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706225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815584" y="1026379"/>
            <a:ext cx="609600" cy="44132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07D78C65-EB30-EA4B-B3AF-ED56473E9FBA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6733266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3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165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750"/>
              </a:spcAft>
              <a:buNone/>
              <a:defRPr sz="1200">
                <a:solidFill>
                  <a:srgbClr val="FFFFFF"/>
                </a:solidFill>
              </a:defRPr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6"/>
            </a:lvl4pPr>
            <a:lvl5pPr>
              <a:buNone/>
              <a:defRPr sz="676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 dirty="0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4165604" y="685800"/>
            <a:ext cx="7518400" cy="5410200"/>
          </a:xfrm>
        </p:spPr>
        <p:txBody>
          <a:bodyPr/>
          <a:lstStyle>
            <a:lvl1pPr>
              <a:defRPr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0" name="Ellipse 9"/>
          <p:cNvSpPr/>
          <p:nvPr/>
        </p:nvSpPr>
        <p:spPr>
          <a:xfrm>
            <a:off x="1727204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1"/>
            <a:ext cx="6096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0443A9-7CF2-4AF6-A108-271190AEB83F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9136" y="638839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38185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F0BD8F-A75F-44D8-942F-F1E8634EA224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2083" b="0">
                <a:latin typeface="Amasis MT Pro Light" panose="02040304050005020304" pitchFamily="18" charset="0"/>
              </a:defRPr>
            </a:lvl1pPr>
            <a:lvl2pPr>
              <a:defRPr b="0">
                <a:latin typeface="Amasis MT Pro Light" panose="02040304050005020304" pitchFamily="18" charset="0"/>
              </a:defRPr>
            </a:lvl2pPr>
            <a:lvl3pPr>
              <a:defRPr b="0">
                <a:latin typeface="Amasis MT Pro Light" panose="02040304050005020304" pitchFamily="18" charset="0"/>
              </a:defRPr>
            </a:lvl3pPr>
            <a:lvl4pPr>
              <a:defRPr b="0">
                <a:latin typeface="Amasis MT Pro Light" panose="02040304050005020304" pitchFamily="18" charset="0"/>
              </a:defRPr>
            </a:lvl4pPr>
            <a:lvl5pPr>
              <a:defRPr b="0"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2083"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5383131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815584" y="1026374"/>
            <a:ext cx="609600" cy="441325"/>
          </a:xfrm>
        </p:spPr>
        <p:txBody>
          <a:bodyPr/>
          <a:lstStyle>
            <a:lvl1pPr>
              <a:defRPr sz="1333"/>
            </a:lvl1pPr>
          </a:lstStyle>
          <a:p>
            <a:pPr>
              <a:defRPr/>
            </a:pPr>
            <a:fld id="{07D78C65-EB30-EA4B-B3AF-ED56473E9FBA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6097524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828800" y="2819400"/>
            <a:ext cx="8534400" cy="1752600"/>
          </a:xfrm>
        </p:spPr>
        <p:txBody>
          <a:bodyPr/>
          <a:lstStyle>
            <a:lvl1pPr marL="0" indent="0" algn="ctr">
              <a:buNone/>
              <a:defRPr sz="1333" b="1" cap="all" spc="208" baseline="0">
                <a:solidFill>
                  <a:schemeClr val="tx2"/>
                </a:solidFill>
              </a:defRPr>
            </a:lvl1pPr>
            <a:lvl2pPr marL="380985" indent="0" algn="ctr">
              <a:buNone/>
            </a:lvl2pPr>
            <a:lvl3pPr marL="761970" indent="0" algn="ctr">
              <a:buNone/>
            </a:lvl3pPr>
            <a:lvl4pPr marL="1142954" indent="0" algn="ctr">
              <a:buNone/>
            </a:lvl4pPr>
            <a:lvl5pPr marL="1523939" indent="0" algn="ctr">
              <a:buNone/>
            </a:lvl5pPr>
            <a:lvl6pPr marL="1904924" indent="0" algn="ctr">
              <a:buNone/>
            </a:lvl6pPr>
            <a:lvl7pPr marL="2285909" indent="0" algn="ctr">
              <a:buNone/>
            </a:lvl7pPr>
            <a:lvl8pPr marL="2666893" indent="0" algn="ctr">
              <a:buNone/>
            </a:lvl8pPr>
            <a:lvl9pPr marL="3047878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5791200" y="2199452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10363200" cy="1752600"/>
          </a:xfrm>
        </p:spPr>
        <p:txBody>
          <a:bodyPr anchor="b"/>
          <a:lstStyle>
            <a:lvl1pPr>
              <a:defRPr sz="35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52541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165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750"/>
              </a:spcAft>
              <a:buNone/>
              <a:defRPr sz="1200">
                <a:solidFill>
                  <a:srgbClr val="FFFFFF"/>
                </a:solidFill>
              </a:defRPr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6"/>
            </a:lvl4pPr>
            <a:lvl5pPr>
              <a:buNone/>
              <a:defRPr sz="676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4165604" y="685800"/>
            <a:ext cx="7518400" cy="5410200"/>
          </a:xfrm>
          <a:noFill/>
        </p:spPr>
        <p:txBody>
          <a:bodyPr/>
          <a:lstStyle>
            <a:lvl1pPr>
              <a:defRPr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1"/>
            <a:ext cx="6096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0443A9-7CF2-4AF6-A108-271190AEB83F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6823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F0BD8F-A75F-44D8-942F-F1E8634EA224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2083" b="0">
                <a:latin typeface="Amasis MT Pro Light" panose="02040304050005020304" pitchFamily="18" charset="0"/>
              </a:defRPr>
            </a:lvl1pPr>
            <a:lvl2pPr>
              <a:defRPr b="0">
                <a:latin typeface="Amasis MT Pro Light" panose="02040304050005020304" pitchFamily="18" charset="0"/>
              </a:defRPr>
            </a:lvl2pPr>
            <a:lvl3pPr>
              <a:defRPr b="0">
                <a:latin typeface="Amasis MT Pro Light" panose="02040304050005020304" pitchFamily="18" charset="0"/>
              </a:defRPr>
            </a:lvl3pPr>
            <a:lvl4pPr>
              <a:defRPr b="0">
                <a:latin typeface="Amasis MT Pro Light" panose="02040304050005020304" pitchFamily="18" charset="0"/>
              </a:defRPr>
            </a:lvl4pPr>
            <a:lvl5pPr>
              <a:defRPr b="0"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2083"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314668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689600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A019D1F-2BC9-41FA-953B-C3256200C508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260372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3048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5072" y="6391662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828800" y="2819400"/>
            <a:ext cx="8534400" cy="1752600"/>
          </a:xfrm>
        </p:spPr>
        <p:txBody>
          <a:bodyPr/>
          <a:lstStyle>
            <a:lvl1pPr marL="0" indent="0" algn="ctr">
              <a:buNone/>
              <a:defRPr sz="1200" b="1" cap="all" spc="188" baseline="0">
                <a:solidFill>
                  <a:schemeClr val="tx2"/>
                </a:solidFill>
              </a:defRPr>
            </a:lvl1pPr>
            <a:lvl2pPr marL="342887" indent="0" algn="ctr">
              <a:buNone/>
            </a:lvl2pPr>
            <a:lvl3pPr marL="685773" indent="0" algn="ctr">
              <a:buNone/>
            </a:lvl3pPr>
            <a:lvl4pPr marL="1028659" indent="0" algn="ctr">
              <a:buNone/>
            </a:lvl4pPr>
            <a:lvl5pPr marL="1371545" indent="0" algn="ctr">
              <a:buNone/>
            </a:lvl5pPr>
            <a:lvl6pPr marL="1714432" indent="0" algn="ctr">
              <a:buNone/>
            </a:lvl6pPr>
            <a:lvl7pPr marL="2057318" indent="0" algn="ctr">
              <a:buNone/>
            </a:lvl7pPr>
            <a:lvl8pPr marL="2400204" indent="0" algn="ctr">
              <a:buNone/>
            </a:lvl8pPr>
            <a:lvl9pPr marL="2743091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207264" y="2420112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5791200" y="2199455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A324EA66-A4B0-4224-BBA5-0FC2F2091774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10363200" cy="1752600"/>
          </a:xfrm>
        </p:spPr>
        <p:txBody>
          <a:bodyPr anchor="b"/>
          <a:lstStyle>
            <a:lvl1pPr>
              <a:defRPr sz="315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23538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815584" y="1026377"/>
            <a:ext cx="609600" cy="441325"/>
          </a:xfrm>
        </p:spPr>
        <p:txBody>
          <a:bodyPr/>
          <a:lstStyle/>
          <a:p>
            <a:pPr>
              <a:defRPr/>
            </a:pPr>
            <a:fld id="{93C7882D-F441-4648-9C50-5072DBCC9D63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83000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7264" y="142352"/>
            <a:ext cx="11777472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24568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1200" b="1" cap="all" spc="188" baseline="0">
                <a:solidFill>
                  <a:schemeClr val="tx2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5072" y="6391662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91200" y="2199455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ACCD3217-9817-4872-9FE9-0F35C2617878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533400"/>
            <a:ext cx="10363200" cy="1524000"/>
          </a:xfrm>
        </p:spPr>
        <p:txBody>
          <a:bodyPr anchor="b"/>
          <a:lstStyle>
            <a:lvl1pPr algn="ctr">
              <a:buNone/>
              <a:defRPr sz="315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34109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B4160-BEC7-480B-A15C-B98BAAC7102F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6084113" y="1575653"/>
            <a:ext cx="11895" cy="4819558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1875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1875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48981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6096000" y="2200276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12192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3200" y="1371600"/>
            <a:ext cx="11777472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4564" y="6391656"/>
            <a:ext cx="11777472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5386917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1650" b="1" dirty="0" smtClean="0">
                <a:solidFill>
                  <a:srgbClr val="FFFFFF"/>
                </a:solidFill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6388446" y="1524000"/>
            <a:ext cx="5389033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1650" b="1"/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406400" y="6409944"/>
            <a:ext cx="4775200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203200" y="128016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402336" y="2471385"/>
            <a:ext cx="5388864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6400800" y="2471383"/>
            <a:ext cx="53848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27" name="Ellipse 26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5791200" y="1042421"/>
            <a:ext cx="609600" cy="4413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3CBA4568-AD52-4CB0-B47B-D5416F603BEE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0582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5791200" y="1036025"/>
            <a:ext cx="609600" cy="441325"/>
          </a:xfrm>
        </p:spPr>
        <p:txBody>
          <a:bodyPr/>
          <a:lstStyle/>
          <a:p>
            <a:pPr>
              <a:defRPr/>
            </a:pPr>
            <a:fld id="{5C3A58B9-6C5A-4C4F-A301-4FE9DEEE0E0C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0848179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5072" y="6391662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03200" y="158496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689600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0E58A79-823B-415C-B96A-0DA0927A0E78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81395528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165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08000" y="1981204"/>
            <a:ext cx="3149600" cy="4144963"/>
          </a:xfrm>
        </p:spPr>
        <p:txBody>
          <a:bodyPr/>
          <a:lstStyle>
            <a:lvl1pPr marL="0" indent="0">
              <a:spcAft>
                <a:spcPts val="750"/>
              </a:spcAft>
              <a:buNone/>
              <a:defRPr sz="1200">
                <a:solidFill>
                  <a:srgbClr val="FFFFFF"/>
                </a:solidFill>
              </a:defRPr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5"/>
            </a:lvl4pPr>
            <a:lvl5pPr>
              <a:buNone/>
              <a:defRPr sz="675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4165600" y="685800"/>
            <a:ext cx="75184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3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354E199E-4E0B-4BED-BDCE-D9E19E8FE615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9136" y="6388391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7352706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203200" y="152400"/>
            <a:ext cx="11777472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3"/>
            <a:ext cx="609600" cy="441325"/>
          </a:xfrm>
        </p:spPr>
        <p:txBody>
          <a:bodyPr/>
          <a:lstStyle/>
          <a:p>
            <a:pPr>
              <a:defRPr/>
            </a:pPr>
            <a:fld id="{8EDA00BC-A223-4E39-95EA-BB8A711B6D1F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00500" y="5029200"/>
            <a:ext cx="7823200" cy="1219200"/>
          </a:xfrm>
        </p:spPr>
        <p:txBody>
          <a:bodyPr anchor="t">
            <a:noAutofit/>
          </a:bodyPr>
          <a:lstStyle>
            <a:lvl1pPr algn="l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000500" y="609600"/>
            <a:ext cx="7823200" cy="426720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08000" y="990600"/>
            <a:ext cx="3251200" cy="5257800"/>
          </a:xfrm>
        </p:spPr>
        <p:txBody>
          <a:bodyPr/>
          <a:lstStyle>
            <a:lvl1pPr marL="0" indent="0">
              <a:spcAft>
                <a:spcPts val="750"/>
              </a:spcAft>
              <a:buFontTx/>
              <a:buNone/>
              <a:defRPr sz="1200">
                <a:solidFill>
                  <a:srgbClr val="FFFFFF"/>
                </a:solidFill>
              </a:defRPr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99136" y="6388391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17536" y="6404984"/>
            <a:ext cx="4059936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779264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4601585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F4BBC-A50D-472A-9282-574269CBB30A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561553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9347200" y="0"/>
            <a:ext cx="28448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5072" y="6391662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6403340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9119616" y="2925763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9245600" y="3020251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221216" y="3009907"/>
            <a:ext cx="609600" cy="441325"/>
          </a:xfrm>
        </p:spPr>
        <p:txBody>
          <a:bodyPr/>
          <a:lstStyle/>
          <a:p>
            <a:pPr>
              <a:defRPr/>
            </a:pPr>
            <a:fld id="{9C18D745-C84B-4C60-BCFC-BE659AADC1CC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06400" y="304800"/>
            <a:ext cx="87376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855200" y="304807"/>
            <a:ext cx="1930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719332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87139" y="1036640"/>
            <a:ext cx="609600" cy="441325"/>
          </a:xfrm>
        </p:spPr>
        <p:txBody>
          <a:bodyPr>
            <a:normAutofit/>
          </a:bodyPr>
          <a:lstStyle>
            <a:lvl1pPr>
              <a:defRPr sz="917">
                <a:solidFill>
                  <a:schemeClr val="tx1"/>
                </a:solidFill>
              </a:defRPr>
            </a:lvl1pPr>
          </a:lstStyle>
          <a:p>
            <a:fld id="{E7797711-19F7-489A-B9FE-21143DCBA2BB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  <a:noFill/>
        </p:spPr>
        <p:txBody>
          <a:bodyPr/>
          <a:lstStyle>
            <a:lvl1pPr>
              <a:buClrTx/>
              <a:buSzPct val="100000"/>
              <a:defRPr>
                <a:latin typeface="Amasis MT Pro Light" panose="02040304050005020304" pitchFamily="18" charset="0"/>
              </a:defRPr>
            </a:lvl1pPr>
            <a:lvl2pPr marL="380951" indent="-190476">
              <a:buClr>
                <a:schemeClr val="accent6">
                  <a:lumMod val="75000"/>
                </a:schemeClr>
              </a:buClr>
              <a:buSzPct val="85000"/>
              <a:buFont typeface="Wingdings" panose="05000000000000000000" pitchFamily="2" charset="2"/>
              <a:buChar char=""/>
              <a:defRPr>
                <a:solidFill>
                  <a:schemeClr val="accent3">
                    <a:lumMod val="50000"/>
                  </a:schemeClr>
                </a:solidFill>
                <a:latin typeface="Amasis MT Pro Light" panose="02040304050005020304" pitchFamily="18" charset="0"/>
              </a:defRPr>
            </a:lvl2pPr>
            <a:lvl3pPr marL="571426" indent="-158729">
              <a:buClr>
                <a:schemeClr val="tx2"/>
              </a:buClr>
              <a:buSzPct val="85000"/>
              <a:buFont typeface="Courier New" panose="02070309020205020404" pitchFamily="49" charset="0"/>
              <a:buChar char="o"/>
              <a:defRPr>
                <a:solidFill>
                  <a:schemeClr val="accent2">
                    <a:lumMod val="75000"/>
                  </a:schemeClr>
                </a:solidFill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5177431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3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23521" y="158496"/>
            <a:ext cx="11777472" cy="213969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24573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1000" b="1" cap="all" spc="156" baseline="0">
                <a:solidFill>
                  <a:schemeClr val="tx2"/>
                </a:solidFill>
                <a:latin typeface="Amasis MT Pro Light" panose="02040304050005020304" pitchFamily="18" charset="0"/>
              </a:defRPr>
            </a:lvl1pPr>
            <a:lvl2pPr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875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875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5072" y="6391668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 dirty="0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689603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125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125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91200" y="2199461"/>
            <a:ext cx="6096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797711-19F7-489A-B9FE-21143DCBA2BB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5" y="533400"/>
            <a:ext cx="10363200" cy="1524000"/>
          </a:xfrm>
        </p:spPr>
        <p:txBody>
          <a:bodyPr anchor="b"/>
          <a:lstStyle>
            <a:lvl1pPr algn="ctr">
              <a:buNone/>
              <a:defRPr sz="2625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0763783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5072" y="6391660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03200" y="158496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689600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7797711-19F7-489A-B9FE-21143DCBA2BB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743888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bg1">
              <a:lumMod val="85000"/>
            </a:schemeClr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1527" b="1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694"/>
              </a:spcAft>
              <a:buNone/>
              <a:defRPr sz="1111">
                <a:solidFill>
                  <a:schemeClr val="tx1"/>
                </a:solidFill>
              </a:defRPr>
            </a:lvl1pPr>
            <a:lvl2pPr>
              <a:buNone/>
              <a:defRPr sz="833"/>
            </a:lvl2pPr>
            <a:lvl3pPr>
              <a:buNone/>
              <a:defRPr sz="694"/>
            </a:lvl3pPr>
            <a:lvl4pPr>
              <a:buNone/>
              <a:defRPr sz="625"/>
            </a:lvl4pPr>
            <a:lvl5pPr>
              <a:buNone/>
              <a:defRPr sz="625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4165600" y="685800"/>
            <a:ext cx="7518400" cy="5410200"/>
          </a:xfrm>
        </p:spPr>
        <p:txBody>
          <a:bodyPr/>
          <a:lstStyle>
            <a:lvl1pPr>
              <a:defRPr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0" name="Ellipse 9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1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60443A9-7CF2-4AF6-A108-271190AEB83F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9136" y="6388389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79612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F0BD8F-A75F-44D8-942F-F1E8634EA224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6084113" y="1575653"/>
            <a:ext cx="11895" cy="4819558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1736"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1736"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6876914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87139" y="1036639"/>
            <a:ext cx="609600" cy="441325"/>
          </a:xfrm>
        </p:spPr>
        <p:txBody>
          <a:bodyPr>
            <a:normAutofit/>
          </a:bodyPr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fld id="{E7797711-19F7-489A-B9FE-21143DCBA2BB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>
            <a:lvl1pPr>
              <a:buClrTx/>
              <a:buSzPct val="100000"/>
              <a:defRPr/>
            </a:lvl1pPr>
            <a:lvl2pPr marL="457159" indent="-228580">
              <a:buClr>
                <a:schemeClr val="accent6">
                  <a:lumMod val="75000"/>
                </a:schemeClr>
              </a:buClr>
              <a:buSzPct val="85000"/>
              <a:buFont typeface="Wingdings" panose="05000000000000000000" pitchFamily="2" charset="2"/>
              <a:buChar char=""/>
              <a:defRPr>
                <a:solidFill>
                  <a:schemeClr val="accent3">
                    <a:lumMod val="50000"/>
                  </a:schemeClr>
                </a:solidFill>
              </a:defRPr>
            </a:lvl2pPr>
            <a:lvl3pPr marL="685739" indent="-190482">
              <a:buClr>
                <a:schemeClr val="tx2"/>
              </a:buClr>
              <a:buSzPct val="85000"/>
              <a:buFont typeface="Courier New" panose="02070309020205020404" pitchFamily="49" charset="0"/>
              <a:buChar char="o"/>
              <a:defRPr>
                <a:solidFill>
                  <a:schemeClr val="accent2">
                    <a:lumMod val="75000"/>
                  </a:schemeClr>
                </a:solidFill>
              </a:defRPr>
            </a:lvl3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5038788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3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7264" y="142352"/>
            <a:ext cx="11777472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24573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1200" b="1" cap="all" spc="187" baseline="0">
                <a:solidFill>
                  <a:schemeClr val="tx2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dirty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5072" y="639166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 dirty="0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689603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91200" y="2199460"/>
            <a:ext cx="6096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797711-19F7-489A-B9FE-21143DCBA2BB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5" y="533400"/>
            <a:ext cx="10363200" cy="1524000"/>
          </a:xfrm>
        </p:spPr>
        <p:txBody>
          <a:bodyPr anchor="b"/>
          <a:lstStyle>
            <a:lvl1pPr algn="ctr">
              <a:buNone/>
              <a:defRPr sz="315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76971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165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750"/>
              </a:spcAft>
              <a:buNone/>
              <a:defRPr sz="1200">
                <a:solidFill>
                  <a:srgbClr val="FFFFFF"/>
                </a:solidFill>
              </a:defRPr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6"/>
            </a:lvl4pPr>
            <a:lvl5pPr>
              <a:buNone/>
              <a:defRPr sz="676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4165604" y="685800"/>
            <a:ext cx="75184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1"/>
            <a:ext cx="6096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0443A9-7CF2-4AF6-A108-271190AEB83F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28361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2339" y="228600"/>
            <a:ext cx="11379200" cy="758952"/>
          </a:xfrm>
        </p:spPr>
        <p:txBody>
          <a:bodyPr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983902-ABD2-4CA9-BB77-601D6C75F434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6084111" y="1575653"/>
            <a:ext cx="11895" cy="4819558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1875"/>
            </a:lvl1pPr>
          </a:lstStyle>
          <a:p>
            <a:pPr lvl="0" eaLnBrk="1" latinLnBrk="0" hangingPunct="1"/>
            <a:r>
              <a:rPr lang="fr-FR" dirty="0"/>
              <a:t>Modifiez les styles du texte du masque</a:t>
            </a:r>
          </a:p>
          <a:p>
            <a:pPr lvl="1" eaLnBrk="1" latinLnBrk="0" hangingPunct="1"/>
            <a:r>
              <a:rPr lang="fr-FR" dirty="0"/>
              <a:t>Deuxième niveau</a:t>
            </a:r>
          </a:p>
          <a:p>
            <a:pPr lvl="2" eaLnBrk="1" latinLnBrk="0" hangingPunct="1"/>
            <a:r>
              <a:rPr lang="fr-FR" dirty="0"/>
              <a:t>Troisième niveau</a:t>
            </a:r>
          </a:p>
          <a:p>
            <a:pPr lvl="3" eaLnBrk="1" latinLnBrk="0" hangingPunct="1"/>
            <a:r>
              <a:rPr lang="fr-FR" dirty="0"/>
              <a:t>Quatrième niveau</a:t>
            </a:r>
          </a:p>
          <a:p>
            <a:pPr lvl="4" eaLnBrk="1" latinLnBrk="0" hangingPunct="1"/>
            <a:r>
              <a:rPr lang="fr-FR" dirty="0"/>
              <a:t>Cinquième niveau</a:t>
            </a:r>
            <a:endParaRPr kumimoji="0" lang="en-US" dirty="0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1875"/>
            </a:lvl1pPr>
          </a:lstStyle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425185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689600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0E58A79-823B-415C-B96A-0DA0927A0E78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85009866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6096000" y="2200276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12192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11988803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3200" y="1371600"/>
            <a:ext cx="11777472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4564" y="6391656"/>
            <a:ext cx="11777472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02339" y="1524000"/>
            <a:ext cx="5386919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1650" b="1" dirty="0" smtClean="0">
                <a:solidFill>
                  <a:srgbClr val="FFFFFF"/>
                </a:solidFill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6388444" y="1524000"/>
            <a:ext cx="5389033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1650" b="1"/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406403" y="6409944"/>
            <a:ext cx="4775200" cy="365760"/>
          </a:xfrm>
        </p:spPr>
        <p:txBody>
          <a:bodyPr/>
          <a:lstStyle/>
          <a:p>
            <a:endParaRPr lang="fr-CA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203200" y="128016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 dirty="0">
              <a:solidFill>
                <a:prstClr val="black"/>
              </a:solidFill>
            </a:endParaRPr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402336" y="2471387"/>
            <a:ext cx="5388864" cy="3818404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6400800" y="2471383"/>
            <a:ext cx="5384800" cy="3822192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5689603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7" name="Ellipse 26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5791200" y="1042421"/>
            <a:ext cx="609600" cy="4413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B3983902-ABD2-4CA9-BB77-601D6C75F434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059699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38400" y="1715040"/>
            <a:ext cx="7032000" cy="1749600"/>
          </a:xfrm>
          <a:solidFill>
            <a:schemeClr val="accent1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243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38400" y="3555191"/>
            <a:ext cx="7022400" cy="482803"/>
          </a:xfrm>
          <a:solidFill>
            <a:schemeClr val="accent1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1350">
                <a:solidFill>
                  <a:schemeClr val="accent2"/>
                </a:solidFill>
              </a:defRPr>
            </a:lvl1pPr>
            <a:lvl2pPr marL="3086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934400" y="6462720"/>
            <a:ext cx="619200" cy="164160"/>
          </a:xfrm>
        </p:spPr>
        <p:txBody>
          <a:bodyPr vert="horz" lIns="91440" tIns="45720" rIns="91440" bIns="45720" rtlCol="0" anchor="ctr"/>
          <a:lstStyle>
            <a:lvl1pPr marL="0" algn="r" defTabSz="617204" rtl="0" eaLnBrk="1" latinLnBrk="0" hangingPunct="1">
              <a:defRPr lang="fr-CA" sz="452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Imag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97" y="280875"/>
            <a:ext cx="7043697" cy="978868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637936" y="6033955"/>
            <a:ext cx="7022592" cy="240067"/>
          </a:xfrm>
          <a:solidFill>
            <a:schemeClr val="accent1"/>
          </a:solidFill>
        </p:spPr>
        <p:txBody>
          <a:bodyPr/>
          <a:lstStyle>
            <a:lvl1pPr algn="l">
              <a:defRPr sz="878" cap="all" baseline="0">
                <a:solidFill>
                  <a:schemeClr val="bg1"/>
                </a:solidFill>
              </a:defRPr>
            </a:lvl1pPr>
          </a:lstStyle>
          <a:p>
            <a:endParaRPr lang="fr-CA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1534986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38400" y="575623"/>
            <a:ext cx="10915200" cy="987552"/>
          </a:xfrm>
        </p:spPr>
        <p:txBody>
          <a:bodyPr/>
          <a:lstStyle/>
          <a:p>
            <a:r>
              <a:rPr lang="fr-FR" dirty="0"/>
              <a:t>Cliquez pour modifier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638400" y="1893227"/>
            <a:ext cx="10915200" cy="3825587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7" name="TextBox 6"/>
          <p:cNvSpPr txBox="1"/>
          <p:nvPr/>
        </p:nvSpPr>
        <p:spPr>
          <a:xfrm>
            <a:off x="461433" y="5718811"/>
            <a:ext cx="1219200" cy="1097280"/>
          </a:xfrm>
          <a:prstGeom prst="rect">
            <a:avLst/>
          </a:prstGeom>
        </p:spPr>
        <p:txBody>
          <a:bodyPr vert="horz" wrap="none" lIns="61722" tIns="30861" rIns="61722" bIns="30861" rtlCol="0">
            <a:normAutofit/>
          </a:bodyPr>
          <a:lstStyle/>
          <a:p>
            <a:pPr marL="104488" indent="-104488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en-US" sz="1127" dirty="0"/>
          </a:p>
        </p:txBody>
      </p:sp>
    </p:spTree>
    <p:extLst>
      <p:ext uri="{BB962C8B-B14F-4D97-AF65-F5344CB8AC3E}">
        <p14:creationId xmlns:p14="http://schemas.microsoft.com/office/powerpoint/2010/main" val="147228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49422" y="4143771"/>
            <a:ext cx="8804180" cy="17337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63" t="-901" b="1413"/>
          <a:stretch/>
        </p:blipFill>
        <p:spPr>
          <a:xfrm>
            <a:off x="7787952" y="1685399"/>
            <a:ext cx="3766109" cy="236782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1715039"/>
            <a:ext cx="7032000" cy="1749600"/>
          </a:xfrm>
          <a:solidFill>
            <a:schemeClr val="accent1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617204" rtl="0" eaLnBrk="1" latinLnBrk="0" hangingPunct="1">
              <a:spcBef>
                <a:spcPct val="0"/>
              </a:spcBef>
              <a:buNone/>
              <a:defRPr lang="fr-CA" sz="243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38400" y="3555191"/>
            <a:ext cx="7022400" cy="482803"/>
          </a:xfrm>
          <a:solidFill>
            <a:schemeClr val="accent1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617204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135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308603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04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0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0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12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14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1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1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13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4" t="27926" r="63211" b="1117"/>
          <a:stretch/>
        </p:blipFill>
        <p:spPr>
          <a:xfrm>
            <a:off x="652800" y="4142796"/>
            <a:ext cx="1997093" cy="1733703"/>
          </a:xfrm>
          <a:prstGeom prst="rect">
            <a:avLst/>
          </a:prstGeom>
        </p:spPr>
      </p:pic>
      <p:pic>
        <p:nvPicPr>
          <p:cNvPr id="14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807" y="6038597"/>
            <a:ext cx="2053463" cy="25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71973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77220"/>
            <a:ext cx="10915200" cy="9880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821283"/>
            <a:ext cx="5384800" cy="3897529"/>
          </a:xfrm>
        </p:spPr>
        <p:txBody>
          <a:bodyPr>
            <a:normAutofit/>
          </a:bodyPr>
          <a:lstStyle>
            <a:lvl1pPr>
              <a:defRPr sz="1127"/>
            </a:lvl1pPr>
            <a:lvl2pPr>
              <a:defRPr sz="1127"/>
            </a:lvl2pPr>
            <a:lvl3pPr>
              <a:defRPr sz="1127"/>
            </a:lvl3pPr>
            <a:lvl4pPr>
              <a:defRPr sz="1127"/>
            </a:lvl4pPr>
            <a:lvl5pPr>
              <a:defRPr sz="1127"/>
            </a:lvl5pPr>
            <a:lvl6pPr>
              <a:defRPr sz="1215"/>
            </a:lvl6pPr>
            <a:lvl7pPr>
              <a:defRPr sz="1215"/>
            </a:lvl7pPr>
            <a:lvl8pPr>
              <a:defRPr sz="1215"/>
            </a:lvl8pPr>
            <a:lvl9pPr>
              <a:defRPr sz="1215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821283"/>
            <a:ext cx="5384800" cy="3897529"/>
          </a:xfrm>
        </p:spPr>
        <p:txBody>
          <a:bodyPr>
            <a:normAutofit/>
          </a:bodyPr>
          <a:lstStyle>
            <a:lvl1pPr>
              <a:defRPr sz="1127"/>
            </a:lvl1pPr>
            <a:lvl2pPr>
              <a:defRPr sz="1127"/>
            </a:lvl2pPr>
            <a:lvl3pPr>
              <a:defRPr sz="1127"/>
            </a:lvl3pPr>
            <a:lvl4pPr>
              <a:defRPr sz="1127"/>
            </a:lvl4pPr>
            <a:lvl5pPr>
              <a:defRPr sz="1127"/>
            </a:lvl5pPr>
            <a:lvl6pPr>
              <a:defRPr sz="1215"/>
            </a:lvl6pPr>
            <a:lvl7pPr>
              <a:defRPr sz="1215"/>
            </a:lvl7pPr>
            <a:lvl8pPr>
              <a:defRPr sz="1215"/>
            </a:lvl8pPr>
            <a:lvl9pPr>
              <a:defRPr sz="1215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534817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74445"/>
            <a:ext cx="10915200" cy="984599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813563"/>
            <a:ext cx="5386917" cy="639763"/>
          </a:xfrm>
        </p:spPr>
        <p:txBody>
          <a:bodyPr anchor="b">
            <a:noAutofit/>
          </a:bodyPr>
          <a:lstStyle>
            <a:lvl1pPr marL="0" indent="0">
              <a:buNone/>
              <a:defRPr sz="1013" b="1" cap="all" baseline="0"/>
            </a:lvl1pPr>
            <a:lvl2pPr marL="308603" indent="0">
              <a:buNone/>
              <a:defRPr sz="1350" b="1"/>
            </a:lvl2pPr>
            <a:lvl3pPr marL="617204" indent="0">
              <a:buNone/>
              <a:defRPr sz="1215" b="1"/>
            </a:lvl3pPr>
            <a:lvl4pPr marL="925807" indent="0">
              <a:buNone/>
              <a:defRPr sz="1080" b="1"/>
            </a:lvl4pPr>
            <a:lvl5pPr marL="1234409" indent="0">
              <a:buNone/>
              <a:defRPr sz="1080" b="1"/>
            </a:lvl5pPr>
            <a:lvl6pPr marL="1543012" indent="0">
              <a:buNone/>
              <a:defRPr sz="1080" b="1"/>
            </a:lvl6pPr>
            <a:lvl7pPr marL="1851614" indent="0">
              <a:buNone/>
              <a:defRPr sz="1080" b="1"/>
            </a:lvl7pPr>
            <a:lvl8pPr marL="2160216" indent="0">
              <a:buNone/>
              <a:defRPr sz="1080" b="1"/>
            </a:lvl8pPr>
            <a:lvl9pPr marL="2468819" indent="0">
              <a:buNone/>
              <a:defRPr sz="108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453323"/>
            <a:ext cx="5386917" cy="3265488"/>
          </a:xfrm>
        </p:spPr>
        <p:txBody>
          <a:bodyPr>
            <a:normAutofit/>
          </a:bodyPr>
          <a:lstStyle>
            <a:lvl1pPr>
              <a:defRPr sz="1127"/>
            </a:lvl1pPr>
            <a:lvl2pPr>
              <a:defRPr sz="1127"/>
            </a:lvl2pPr>
            <a:lvl3pPr>
              <a:defRPr sz="1127"/>
            </a:lvl3pPr>
            <a:lvl4pPr>
              <a:defRPr sz="1127"/>
            </a:lvl4pPr>
            <a:lvl5pPr>
              <a:defRPr sz="1127"/>
            </a:lvl5pPr>
            <a:lvl6pPr>
              <a:defRPr sz="1080"/>
            </a:lvl6pPr>
            <a:lvl7pPr>
              <a:defRPr sz="1080"/>
            </a:lvl7pPr>
            <a:lvl8pPr>
              <a:defRPr sz="1080"/>
            </a:lvl8pPr>
            <a:lvl9pPr>
              <a:defRPr sz="108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74" y="1813563"/>
            <a:ext cx="5389033" cy="639763"/>
          </a:xfrm>
        </p:spPr>
        <p:txBody>
          <a:bodyPr anchor="b">
            <a:noAutofit/>
          </a:bodyPr>
          <a:lstStyle>
            <a:lvl1pPr marL="0" indent="0">
              <a:buNone/>
              <a:defRPr sz="1013" b="1" cap="all" baseline="0"/>
            </a:lvl1pPr>
            <a:lvl2pPr marL="308603" indent="0">
              <a:buNone/>
              <a:defRPr sz="1350" b="1"/>
            </a:lvl2pPr>
            <a:lvl3pPr marL="617204" indent="0">
              <a:buNone/>
              <a:defRPr sz="1215" b="1"/>
            </a:lvl3pPr>
            <a:lvl4pPr marL="925807" indent="0">
              <a:buNone/>
              <a:defRPr sz="1080" b="1"/>
            </a:lvl4pPr>
            <a:lvl5pPr marL="1234409" indent="0">
              <a:buNone/>
              <a:defRPr sz="1080" b="1"/>
            </a:lvl5pPr>
            <a:lvl6pPr marL="1543012" indent="0">
              <a:buNone/>
              <a:defRPr sz="1080" b="1"/>
            </a:lvl6pPr>
            <a:lvl7pPr marL="1851614" indent="0">
              <a:buNone/>
              <a:defRPr sz="1080" b="1"/>
            </a:lvl7pPr>
            <a:lvl8pPr marL="2160216" indent="0">
              <a:buNone/>
              <a:defRPr sz="1080" b="1"/>
            </a:lvl8pPr>
            <a:lvl9pPr marL="2468819" indent="0">
              <a:buNone/>
              <a:defRPr sz="108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74" y="2453323"/>
            <a:ext cx="5389033" cy="3265488"/>
          </a:xfrm>
        </p:spPr>
        <p:txBody>
          <a:bodyPr>
            <a:normAutofit/>
          </a:bodyPr>
          <a:lstStyle>
            <a:lvl1pPr>
              <a:defRPr sz="1127"/>
            </a:lvl1pPr>
            <a:lvl2pPr>
              <a:defRPr sz="1127"/>
            </a:lvl2pPr>
            <a:lvl3pPr>
              <a:defRPr sz="1127"/>
            </a:lvl3pPr>
            <a:lvl4pPr>
              <a:defRPr sz="1127"/>
            </a:lvl4pPr>
            <a:lvl5pPr>
              <a:defRPr sz="1127"/>
            </a:lvl5pPr>
            <a:lvl6pPr>
              <a:defRPr sz="1080"/>
            </a:lvl6pPr>
            <a:lvl7pPr>
              <a:defRPr sz="1080"/>
            </a:lvl7pPr>
            <a:lvl8pPr>
              <a:defRPr sz="1080"/>
            </a:lvl8pPr>
            <a:lvl9pPr>
              <a:defRPr sz="108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041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77219"/>
            <a:ext cx="10915200" cy="98373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99725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098230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72636"/>
            <a:ext cx="10915200" cy="986409"/>
          </a:xfrm>
        </p:spPr>
        <p:txBody>
          <a:bodyPr anchor="ctr" anchorCtr="0"/>
          <a:lstStyle>
            <a:lvl1pPr algn="l">
              <a:defRPr sz="1755" b="1"/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47200" y="1805282"/>
            <a:ext cx="6796800" cy="3913531"/>
          </a:xfrm>
        </p:spPr>
        <p:txBody>
          <a:bodyPr>
            <a:normAutofit/>
          </a:bodyPr>
          <a:lstStyle>
            <a:lvl1pPr>
              <a:defRPr sz="1127"/>
            </a:lvl1pPr>
            <a:lvl2pPr>
              <a:defRPr sz="1127"/>
            </a:lvl2pPr>
            <a:lvl3pPr>
              <a:defRPr sz="1127"/>
            </a:lvl3pPr>
            <a:lvl4pPr>
              <a:defRPr sz="1127"/>
            </a:lvl4pPr>
            <a:lvl5pPr>
              <a:defRPr sz="1127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8400" y="1805282"/>
            <a:ext cx="3984000" cy="3913531"/>
          </a:xfrm>
        </p:spPr>
        <p:txBody>
          <a:bodyPr>
            <a:normAutofit/>
          </a:bodyPr>
          <a:lstStyle>
            <a:lvl1pPr marL="0" indent="0">
              <a:buNone/>
              <a:defRPr sz="1013" b="1" cap="all" baseline="0"/>
            </a:lvl1pPr>
            <a:lvl2pPr marL="308603" indent="0">
              <a:buNone/>
              <a:defRPr sz="810"/>
            </a:lvl2pPr>
            <a:lvl3pPr marL="617204" indent="0">
              <a:buNone/>
              <a:defRPr sz="675"/>
            </a:lvl3pPr>
            <a:lvl4pPr marL="925807" indent="0">
              <a:buNone/>
              <a:defRPr sz="608"/>
            </a:lvl4pPr>
            <a:lvl5pPr marL="1234409" indent="0">
              <a:buNone/>
              <a:defRPr sz="608"/>
            </a:lvl5pPr>
            <a:lvl6pPr marL="1543012" indent="0">
              <a:buNone/>
              <a:defRPr sz="608"/>
            </a:lvl6pPr>
            <a:lvl7pPr marL="1851614" indent="0">
              <a:buNone/>
              <a:defRPr sz="608"/>
            </a:lvl7pPr>
            <a:lvl8pPr marL="2160216" indent="0">
              <a:buNone/>
              <a:defRPr sz="608"/>
            </a:lvl8pPr>
            <a:lvl9pPr marL="2468819" indent="0">
              <a:buNone/>
              <a:defRPr sz="608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848577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87674"/>
            <a:ext cx="10915200" cy="987540"/>
          </a:xfrm>
        </p:spPr>
        <p:txBody>
          <a:bodyPr anchor="ctr" anchorCtr="0"/>
          <a:lstStyle>
            <a:lvl1pPr algn="l">
              <a:defRPr sz="1755" b="1"/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38400" y="2478094"/>
            <a:ext cx="10905600" cy="3240717"/>
          </a:xfrm>
        </p:spPr>
        <p:txBody>
          <a:bodyPr/>
          <a:lstStyle>
            <a:lvl1pPr marL="0" indent="0">
              <a:buNone/>
              <a:defRPr sz="1127"/>
            </a:lvl1pPr>
            <a:lvl2pPr marL="308603" indent="0">
              <a:buNone/>
              <a:defRPr sz="1890"/>
            </a:lvl2pPr>
            <a:lvl3pPr marL="617204" indent="0">
              <a:buNone/>
              <a:defRPr sz="1620"/>
            </a:lvl3pPr>
            <a:lvl4pPr marL="925807" indent="0">
              <a:buNone/>
              <a:defRPr sz="1350"/>
            </a:lvl4pPr>
            <a:lvl5pPr marL="1234409" indent="0">
              <a:buNone/>
              <a:defRPr sz="1350"/>
            </a:lvl5pPr>
            <a:lvl6pPr marL="1543012" indent="0">
              <a:buNone/>
              <a:defRPr sz="1350"/>
            </a:lvl6pPr>
            <a:lvl7pPr marL="1851614" indent="0">
              <a:buNone/>
              <a:defRPr sz="1350"/>
            </a:lvl7pPr>
            <a:lvl8pPr marL="2160216" indent="0">
              <a:buNone/>
              <a:defRPr sz="1350"/>
            </a:lvl8pPr>
            <a:lvl9pPr marL="2468819" indent="0">
              <a:buNone/>
              <a:defRPr sz="1350"/>
            </a:lvl9pPr>
          </a:lstStyle>
          <a:p>
            <a:r>
              <a:rPr lang="fr-FR"/>
              <a:t>Cliquez sur l'icône pour ajouter une image</a:t>
            </a:r>
            <a:endParaRPr lang="fr-CA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8400" y="1821452"/>
            <a:ext cx="10905600" cy="626400"/>
          </a:xfrm>
        </p:spPr>
        <p:txBody>
          <a:bodyPr>
            <a:normAutofit/>
          </a:bodyPr>
          <a:lstStyle>
            <a:lvl1pPr marL="0" indent="0">
              <a:buNone/>
              <a:defRPr sz="1013" b="1" cap="all" baseline="0"/>
            </a:lvl1pPr>
            <a:lvl2pPr marL="308603" indent="0">
              <a:buNone/>
              <a:defRPr sz="810"/>
            </a:lvl2pPr>
            <a:lvl3pPr marL="617204" indent="0">
              <a:buNone/>
              <a:defRPr sz="675"/>
            </a:lvl3pPr>
            <a:lvl4pPr marL="925807" indent="0">
              <a:buNone/>
              <a:defRPr sz="608"/>
            </a:lvl4pPr>
            <a:lvl5pPr marL="1234409" indent="0">
              <a:buNone/>
              <a:defRPr sz="608"/>
            </a:lvl5pPr>
            <a:lvl6pPr marL="1543012" indent="0">
              <a:buNone/>
              <a:defRPr sz="608"/>
            </a:lvl6pPr>
            <a:lvl7pPr marL="1851614" indent="0">
              <a:buNone/>
              <a:defRPr sz="608"/>
            </a:lvl7pPr>
            <a:lvl8pPr marL="2160216" indent="0">
              <a:buNone/>
              <a:defRPr sz="608"/>
            </a:lvl8pPr>
            <a:lvl9pPr marL="2468819" indent="0">
              <a:buNone/>
              <a:defRPr sz="608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368026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6197600" y="1600203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6197600" y="3938595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>
          <a:xfrm>
            <a:off x="609600" y="6245227"/>
            <a:ext cx="2844800" cy="47625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4165600" y="6245227"/>
            <a:ext cx="3860800" cy="47625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8737600" y="6245227"/>
            <a:ext cx="2844800" cy="47625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3660827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609600" y="6245227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165600" y="6245227"/>
            <a:ext cx="3860800" cy="476251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737600" y="6245227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382027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815584" y="1026380"/>
            <a:ext cx="609600" cy="44132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07D78C65-EB30-EA4B-B3AF-ED56473E9FBA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3224287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3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125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1375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625"/>
              </a:spcAft>
              <a:buNone/>
              <a:defRPr sz="1000">
                <a:solidFill>
                  <a:srgbClr val="FFFFFF"/>
                </a:solidFill>
              </a:defRPr>
            </a:lvl1pPr>
            <a:lvl2pPr>
              <a:buNone/>
              <a:defRPr sz="750"/>
            </a:lvl2pPr>
            <a:lvl3pPr>
              <a:buNone/>
              <a:defRPr sz="625"/>
            </a:lvl3pPr>
            <a:lvl4pPr>
              <a:buNone/>
              <a:defRPr sz="563"/>
            </a:lvl4pPr>
            <a:lvl5pPr>
              <a:buNone/>
              <a:defRPr sz="563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 dirty="0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4165604" y="685800"/>
            <a:ext cx="7518400" cy="5410200"/>
          </a:xfrm>
        </p:spPr>
        <p:txBody>
          <a:bodyPr/>
          <a:lstStyle>
            <a:lvl1pPr>
              <a:defRPr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0" name="Ellipse 9"/>
          <p:cNvSpPr/>
          <p:nvPr/>
        </p:nvSpPr>
        <p:spPr>
          <a:xfrm>
            <a:off x="1727204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125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125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2"/>
            <a:ext cx="6096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0443A9-7CF2-4AF6-A108-271190AEB83F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9136" y="638839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18173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76200"/>
            <a:ext cx="11176000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2800" y="1447800"/>
            <a:ext cx="110744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2800" y="4000500"/>
            <a:ext cx="110744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9B1C82-ADAF-4800-B737-740A63359D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13-</a:t>
            </a:r>
            <a:fld id="{630DAC8A-692F-45EA-A35C-B8DA7A27D6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604712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609600" y="6245227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1ACE85D3-DC3F-45F0-91C0-1F5069DED0DD}" type="datetime1">
              <a:rPr lang="fr-CA" smtClean="0"/>
              <a:t>2026-08-30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165600" y="6245227"/>
            <a:ext cx="3860800" cy="476251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737600" y="6245227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4DF64075-4FE8-4212-AA8D-27F93E0C3606}" type="slidenum">
              <a:rPr lang="fr-CA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610266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3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7264" y="142352"/>
            <a:ext cx="11777472" cy="2139696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24573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1000" b="1" cap="all" spc="156" baseline="0">
                <a:solidFill>
                  <a:schemeClr val="tx2"/>
                </a:solidFill>
              </a:defRPr>
            </a:lvl1pPr>
            <a:lvl2pPr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875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875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5072" y="6391668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 dirty="0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689603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125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125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91200" y="2199461"/>
            <a:ext cx="6096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797711-19F7-489A-B9FE-21143DCBA2BB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5" y="533400"/>
            <a:ext cx="10363200" cy="1524000"/>
          </a:xfrm>
        </p:spPr>
        <p:txBody>
          <a:bodyPr anchor="b"/>
          <a:lstStyle>
            <a:lvl1pPr algn="ctr">
              <a:buNone/>
              <a:defRPr sz="2625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691035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19" y="152400"/>
            <a:ext cx="11679381" cy="1143000"/>
          </a:xfrm>
        </p:spPr>
        <p:txBody>
          <a:bodyPr>
            <a:normAutofit/>
          </a:bodyPr>
          <a:lstStyle>
            <a:lvl1pPr>
              <a:defRPr sz="3300" b="0"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CA" noProof="0" dirty="0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1219200" y="1524000"/>
            <a:ext cx="9753600" cy="3962400"/>
          </a:xfrm>
        </p:spPr>
        <p:txBody>
          <a:bodyPr>
            <a:noAutofit/>
          </a:bodyPr>
          <a:lstStyle>
            <a:lvl1pPr marL="457200" indent="-457200">
              <a:defRPr sz="2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914400" indent="-457200">
              <a:defRPr lang="en-US" sz="2400" kern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371600" indent="-457200">
              <a:buFont typeface="Wingdings" panose="05000000000000000000" pitchFamily="2" charset="2"/>
              <a:buChar char="§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828800" indent="-457200">
              <a:buFont typeface="Courier New" panose="02070309020205020404" pitchFamily="49" charset="0"/>
              <a:buChar char="o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286000" indent="-457200">
              <a:buFont typeface="Wingdings" panose="05000000000000000000" pitchFamily="2" charset="2"/>
              <a:buChar char="Ø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CA" noProof="0" dirty="0"/>
              <a:t>Click to edit Master text styles</a:t>
            </a:r>
          </a:p>
          <a:p>
            <a:pPr lvl="1"/>
            <a:r>
              <a:rPr lang="en-CA" noProof="0" dirty="0"/>
              <a:t>Second level</a:t>
            </a:r>
          </a:p>
          <a:p>
            <a:pPr lvl="2"/>
            <a:r>
              <a:rPr lang="en-CA" noProof="0" dirty="0"/>
              <a:t>Third level</a:t>
            </a:r>
          </a:p>
          <a:p>
            <a:pPr lvl="3"/>
            <a:r>
              <a:rPr lang="en-CA" noProof="0" dirty="0"/>
              <a:t>Fourth level</a:t>
            </a:r>
          </a:p>
          <a:p>
            <a:pPr lvl="4"/>
            <a:r>
              <a:rPr lang="en-CA" noProof="0" dirty="0"/>
              <a:t>Fifth level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55B51126-09C9-464E-AEF3-49D721E4A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15584" y="1026373"/>
            <a:ext cx="609600" cy="441325"/>
          </a:xfrm>
        </p:spPr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 dirty="0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80938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689600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7797711-19F7-489A-B9FE-21143DCBA2BB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93359828"/>
      </p:ext>
    </p:extLst>
  </p:cSld>
  <p:clrMapOvr>
    <a:masterClrMapping/>
  </p:clrMapOvr>
  <p:hf hdr="0" ftr="0" dt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0"/>
            <a:ext cx="609600" cy="441325"/>
          </a:xfrm>
        </p:spPr>
        <p:txBody>
          <a:bodyPr/>
          <a:lstStyle/>
          <a:p>
            <a:fld id="{E7797711-19F7-489A-B9FE-21143DCBA2BB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00500" y="5029200"/>
            <a:ext cx="7823200" cy="1219200"/>
          </a:xfrm>
        </p:spPr>
        <p:txBody>
          <a:bodyPr anchor="t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000500" y="609600"/>
            <a:ext cx="7823200" cy="4267200"/>
          </a:xfrm>
        </p:spPr>
        <p:txBody>
          <a:bodyPr/>
          <a:lstStyle>
            <a:lvl1pPr marL="0" indent="0">
              <a:buNone/>
              <a:defRPr sz="2667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08000" y="990600"/>
            <a:ext cx="3251200" cy="5257800"/>
          </a:xfrm>
        </p:spPr>
        <p:txBody>
          <a:bodyPr/>
          <a:lstStyle>
            <a:lvl1pPr marL="0" indent="0">
              <a:spcAft>
                <a:spcPts val="833"/>
              </a:spcAft>
              <a:buFontTx/>
              <a:buNone/>
              <a:defRPr sz="1333">
                <a:solidFill>
                  <a:srgbClr val="FFFFFF"/>
                </a:solidFill>
              </a:defRPr>
            </a:lvl1pPr>
            <a:lvl2pPr>
              <a:defRPr sz="1000"/>
            </a:lvl2pPr>
            <a:lvl3pPr>
              <a:defRPr sz="833"/>
            </a:lvl3pPr>
            <a:lvl4pPr>
              <a:defRPr sz="750"/>
            </a:lvl4pPr>
            <a:lvl5pPr>
              <a:defRPr sz="75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17536" y="6404984"/>
            <a:ext cx="4059936" cy="365760"/>
          </a:xfrm>
        </p:spPr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779264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90077341"/>
      </p:ext>
    </p:extLst>
  </p:cSld>
  <p:clrMapOvr>
    <a:masterClrMapping/>
  </p:clrMapOvr>
  <p:hf hdr="0" ft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87139" y="1036641"/>
            <a:ext cx="609600" cy="441325"/>
          </a:xfrm>
        </p:spPr>
        <p:txBody>
          <a:bodyPr>
            <a:noAutofit/>
          </a:bodyPr>
          <a:lstStyle>
            <a:lvl1pPr>
              <a:defRPr sz="945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fld id="{07D78C65-EB30-EA4B-B3AF-ED56473E9FBA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303656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3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760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929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08000" y="1981203"/>
            <a:ext cx="3149600" cy="4144963"/>
          </a:xfrm>
        </p:spPr>
        <p:txBody>
          <a:bodyPr/>
          <a:lstStyle>
            <a:lvl1pPr marL="0" indent="0">
              <a:spcAft>
                <a:spcPts val="422"/>
              </a:spcAft>
              <a:buNone/>
              <a:defRPr sz="675">
                <a:solidFill>
                  <a:srgbClr val="FFFFFF"/>
                </a:solidFill>
              </a:defRPr>
            </a:lvl1pPr>
            <a:lvl2pPr>
              <a:buNone/>
              <a:defRPr sz="506"/>
            </a:lvl2pPr>
            <a:lvl3pPr>
              <a:buNone/>
              <a:defRPr sz="422"/>
            </a:lvl3pPr>
            <a:lvl4pPr>
              <a:buNone/>
              <a:defRPr sz="380"/>
            </a:lvl4pPr>
            <a:lvl5pPr>
              <a:buNone/>
              <a:defRPr sz="38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 dirty="0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4165605" y="685800"/>
            <a:ext cx="7518400" cy="5410200"/>
          </a:xfrm>
        </p:spPr>
        <p:txBody>
          <a:bodyPr/>
          <a:lstStyle>
            <a:lvl1pPr>
              <a:defRPr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0" name="Ellipse 9"/>
          <p:cNvSpPr/>
          <p:nvPr/>
        </p:nvSpPr>
        <p:spPr>
          <a:xfrm>
            <a:off x="1727205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76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760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5"/>
            <a:ext cx="6096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0443A9-7CF2-4AF6-A108-271190AEB83F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9136" y="6388400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24495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1" y="76200"/>
            <a:ext cx="11176000" cy="1219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2800" y="1447800"/>
            <a:ext cx="110744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2800" y="4000500"/>
            <a:ext cx="110744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9B1C82-ADAF-4800-B737-740A63359D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13-</a:t>
            </a:r>
            <a:fld id="{630DAC8A-692F-45EA-A35C-B8DA7A27D6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552830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09600" y="1600204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1" y="1600204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609601" y="6245229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1ACE85D3-DC3F-45F0-91C0-1F5069DED0DD}" type="datetime1">
              <a:rPr lang="fr-CA" smtClean="0"/>
              <a:t>2026-08-30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165601" y="6245229"/>
            <a:ext cx="3860800" cy="476251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737600" y="6245229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4DF64075-4FE8-4212-AA8D-27F93E0C3606}" type="slidenum">
              <a:rPr lang="fr-CA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0298667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3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7264" y="142352"/>
            <a:ext cx="11777472" cy="2139696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24575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675" b="1" cap="all" spc="105" baseline="0">
                <a:solidFill>
                  <a:schemeClr val="tx2"/>
                </a:solidFill>
              </a:defRPr>
            </a:lvl1pPr>
            <a:lvl2pPr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5072" y="6391672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 dirty="0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689604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76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76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91200" y="2199463"/>
            <a:ext cx="6096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797711-19F7-489A-B9FE-21143DCBA2BB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5" y="533400"/>
            <a:ext cx="10363200" cy="1524000"/>
          </a:xfrm>
        </p:spPr>
        <p:txBody>
          <a:bodyPr anchor="b"/>
          <a:lstStyle>
            <a:lvl1pPr algn="ctr">
              <a:buNone/>
              <a:defRPr sz="1772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476293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2339" y="228600"/>
            <a:ext cx="11379200" cy="758952"/>
          </a:xfrm>
        </p:spPr>
        <p:txBody>
          <a:bodyPr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fld id="{5A0EAEEB-3E8A-40A3-AB11-03CA23E73CA1}" type="datetime1">
              <a:rPr lang="fr-CA" smtClean="0"/>
              <a:t>2026-08-30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983902-ABD2-4CA9-BB77-601D6C75F434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1266"/>
            </a:lvl1pPr>
          </a:lstStyle>
          <a:p>
            <a:pPr lvl="0" eaLnBrk="1" latinLnBrk="0" hangingPunct="1"/>
            <a:r>
              <a:rPr lang="fr-FR" dirty="0"/>
              <a:t>Modifiez les styles du texte du masque</a:t>
            </a:r>
          </a:p>
          <a:p>
            <a:pPr lvl="1" eaLnBrk="1" latinLnBrk="0" hangingPunct="1"/>
            <a:r>
              <a:rPr lang="fr-FR" dirty="0"/>
              <a:t>Deuxième niveau</a:t>
            </a:r>
          </a:p>
          <a:p>
            <a:pPr lvl="2" eaLnBrk="1" latinLnBrk="0" hangingPunct="1"/>
            <a:r>
              <a:rPr lang="fr-FR" dirty="0"/>
              <a:t>Troisième niveau</a:t>
            </a:r>
          </a:p>
          <a:p>
            <a:pPr lvl="3" eaLnBrk="1" latinLnBrk="0" hangingPunct="1"/>
            <a:r>
              <a:rPr lang="fr-FR" dirty="0"/>
              <a:t>Quatrième niveau</a:t>
            </a:r>
          </a:p>
          <a:p>
            <a:pPr lvl="4" eaLnBrk="1" latinLnBrk="0" hangingPunct="1"/>
            <a:r>
              <a:rPr lang="fr-FR" dirty="0"/>
              <a:t>Cinquième niveau</a:t>
            </a:r>
            <a:endParaRPr kumimoji="0" lang="en-US" dirty="0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1266"/>
            </a:lvl1pPr>
          </a:lstStyle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1129876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689601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0E58A79-823B-415C-B96A-0DA0927A0E78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36935900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02341" y="1524000"/>
            <a:ext cx="5386919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1114" b="1" dirty="0" smtClean="0">
                <a:solidFill>
                  <a:srgbClr val="FFFFFF"/>
                </a:solidFill>
              </a:defRPr>
            </a:lvl1pPr>
            <a:lvl2pPr>
              <a:buNone/>
              <a:defRPr sz="1013" b="1"/>
            </a:lvl2pPr>
            <a:lvl3pPr>
              <a:buNone/>
              <a:defRPr sz="911" b="1"/>
            </a:lvl3pPr>
            <a:lvl4pPr>
              <a:buNone/>
              <a:defRPr sz="810" b="1"/>
            </a:lvl4pPr>
            <a:lvl5pPr>
              <a:buNone/>
              <a:defRPr sz="810" b="1"/>
            </a:lvl5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6388446" y="1524000"/>
            <a:ext cx="5389033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1114" b="1"/>
            </a:lvl1pPr>
            <a:lvl2pPr>
              <a:buNone/>
              <a:defRPr sz="1013" b="1"/>
            </a:lvl2pPr>
            <a:lvl3pPr>
              <a:buNone/>
              <a:defRPr sz="911" b="1"/>
            </a:lvl3pPr>
            <a:lvl4pPr>
              <a:buNone/>
              <a:defRPr sz="810" b="1"/>
            </a:lvl4pPr>
            <a:lvl5pPr>
              <a:buNone/>
              <a:defRPr sz="810" b="1"/>
            </a:lvl5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D7785-CC48-4AA0-8D4D-D438F01E5233}" type="datetime1">
              <a:rPr lang="fr-CA" smtClean="0"/>
              <a:t>2026-08-30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406403" y="6409944"/>
            <a:ext cx="4775200" cy="365760"/>
          </a:xfrm>
        </p:spPr>
        <p:txBody>
          <a:bodyPr/>
          <a:lstStyle/>
          <a:p>
            <a:endParaRPr lang="fr-CA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402336" y="2471387"/>
            <a:ext cx="5388864" cy="3818404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6400800" y="2471383"/>
            <a:ext cx="5384800" cy="3822192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5791200" y="1042425"/>
            <a:ext cx="609600" cy="4413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B3983902-ABD2-4CA9-BB77-601D6C75F434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58497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2" Type="http://schemas.openxmlformats.org/officeDocument/2006/relationships/slideLayout" Target="../slideLayouts/slideLayout71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3.xml"/><Relationship Id="rId9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9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88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167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06400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00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203200" y="1276744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5791200" y="1040176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333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534279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275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591" indent="-228591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indent="-228591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1833" kern="1200">
          <a:solidFill>
            <a:schemeClr val="tx2"/>
          </a:solidFill>
          <a:latin typeface="+mn-lt"/>
          <a:ea typeface="+mn-ea"/>
          <a:cs typeface="+mn-cs"/>
        </a:defRPr>
      </a:lvl2pPr>
      <a:lvl3pPr marL="685773" indent="-190492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914363" indent="-190492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1667" kern="1200">
          <a:solidFill>
            <a:schemeClr val="tx2"/>
          </a:solidFill>
          <a:latin typeface="+mn-lt"/>
          <a:ea typeface="+mn-ea"/>
          <a:cs typeface="+mn-cs"/>
        </a:defRPr>
      </a:lvl4pPr>
      <a:lvl5pPr marL="1142954" indent="-190492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545" indent="-152394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136" indent="-152394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333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52530" indent="-152394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1981121" indent="-152394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167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88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167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06400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00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203200" y="1276744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5791200" y="1040176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333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Modifiez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987488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275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591" indent="-228591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indent="-228591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1833" kern="1200">
          <a:solidFill>
            <a:schemeClr val="tx2"/>
          </a:solidFill>
          <a:latin typeface="+mn-lt"/>
          <a:ea typeface="+mn-ea"/>
          <a:cs typeface="+mn-cs"/>
        </a:defRPr>
      </a:lvl2pPr>
      <a:lvl3pPr marL="685773" indent="-190492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914363" indent="-190492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1667" kern="1200">
          <a:solidFill>
            <a:schemeClr val="tx2"/>
          </a:solidFill>
          <a:latin typeface="+mn-lt"/>
          <a:ea typeface="+mn-ea"/>
          <a:cs typeface="+mn-cs"/>
        </a:defRPr>
      </a:lvl4pPr>
      <a:lvl5pPr marL="1142954" indent="-190492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545" indent="-152394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136" indent="-152394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333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52530" indent="-152394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1981121" indent="-152394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167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9"/>
            <a:ext cx="12192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3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9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050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06403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900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203200" y="1276744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5689603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5791200" y="1040185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2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7797711-19F7-489A-B9FE-21143DCBA2BB}" type="slidenum">
              <a:rPr lang="fr-CA" smtClean="0"/>
              <a:t>‹#›</a:t>
            </a:fld>
            <a:endParaRPr lang="fr-CA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02339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02339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857026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24" r:id="rId5"/>
    <p:sldLayoutId id="2147483725" r:id="rId6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2751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580" indent="-22858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251" kern="1200">
          <a:solidFill>
            <a:schemeClr val="tx1"/>
          </a:solidFill>
          <a:latin typeface="+mn-lt"/>
          <a:ea typeface="+mn-ea"/>
          <a:cs typeface="+mn-cs"/>
        </a:defRPr>
      </a:lvl1pPr>
      <a:lvl2pPr marL="457159" indent="-22858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1833" kern="1200">
          <a:solidFill>
            <a:schemeClr val="tx2"/>
          </a:solidFill>
          <a:latin typeface="+mn-lt"/>
          <a:ea typeface="+mn-ea"/>
          <a:cs typeface="+mn-cs"/>
        </a:defRPr>
      </a:lvl2pPr>
      <a:lvl3pPr marL="685739" indent="-190482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914317" indent="-190482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1667" kern="1200">
          <a:solidFill>
            <a:schemeClr val="tx2"/>
          </a:solidFill>
          <a:latin typeface="+mn-lt"/>
          <a:ea typeface="+mn-ea"/>
          <a:cs typeface="+mn-cs"/>
        </a:defRPr>
      </a:lvl4pPr>
      <a:lvl5pPr marL="1142898" indent="-190482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476" indent="-152387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056" indent="-152387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333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52443" indent="-152387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1981022" indent="-152387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167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8096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76193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14289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386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90482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28579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66676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04772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9"/>
            <a:ext cx="12192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3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9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06403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203200" y="1276744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5689603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5791200" y="1040185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D0463A9-3ADC-8645-96FC-E3E0F339007A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02339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02339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113381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27" r:id="rId3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06" indent="-274306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13" indent="-274306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19" indent="-228589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25" indent="-228589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532" indent="-228589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838" indent="-182871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144" indent="-182871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015" indent="-182871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322" indent="-182871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88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167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06400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203200" y="1276744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00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000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5791200" y="1040176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333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4D0463A9-3ADC-8645-96FC-E3E0F339007A}" type="slidenum">
              <a:rPr lang="fr-FR" smtClean="0"/>
              <a:t>‹#›</a:t>
            </a:fld>
            <a:endParaRPr lang="fr-FR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745536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29" r:id="rId2"/>
    <p:sldLayoutId id="2147483730" r:id="rId3"/>
    <p:sldLayoutId id="2147483731" r:id="rId4"/>
    <p:sldLayoutId id="2147483732" r:id="rId5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91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06400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203200" y="1276744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5791200" y="1040180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2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647F8CD8-CA4F-4FC0-B2CB-CA3707B35CC1}" type="slidenum">
              <a:rPr lang="fr-CA" smtClean="0"/>
              <a:t>‹#›</a:t>
            </a:fld>
            <a:endParaRPr lang="fr-CA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25502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2475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05732" indent="-205732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411464" indent="-205732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1650" kern="1200">
          <a:solidFill>
            <a:schemeClr val="tx2"/>
          </a:solidFill>
          <a:latin typeface="+mn-lt"/>
          <a:ea typeface="+mn-ea"/>
          <a:cs typeface="+mn-cs"/>
        </a:defRPr>
      </a:lvl2pPr>
      <a:lvl3pPr marL="617196" indent="-171443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27" indent="-171443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4pPr>
      <a:lvl5pPr marL="1028659" indent="-171443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234391" indent="-137155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1440122" indent="-137155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2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77277" indent="-137155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783009" indent="-137155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05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3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1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0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9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10"/>
            <a:ext cx="12192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3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9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7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06403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7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203200" y="1276744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5689603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125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125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5791200" y="1040186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0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647F8CD8-CA4F-4FC0-B2CB-CA3707B35CC1}" type="slidenum">
              <a:rPr lang="fr-CA" smtClean="0"/>
              <a:t>‹#›</a:t>
            </a:fld>
            <a:endParaRPr lang="fr-CA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02339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dirty="0"/>
              <a:t>Cliquez pour modifier le style du titre</a:t>
            </a:r>
            <a:endParaRPr kumimoji="0" lang="en-US" dirty="0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505969" y="1544364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lang="en-US"/>
              <a:t>Cliquez pour modifier les styles de texte principaux</a:t>
            </a:r>
          </a:p>
          <a:p>
            <a:pPr lvl="1" eaLnBrk="1" latinLnBrk="0" hangingPunct="1"/>
            <a:r>
              <a:rPr lang="en-US"/>
              <a:t>Deuxième niveau</a:t>
            </a:r>
          </a:p>
          <a:p>
            <a:pPr lvl="2" eaLnBrk="1" latinLnBrk="0" hangingPunct="1"/>
            <a:r>
              <a:rPr lang="en-US"/>
              <a:t>Troisième niveau</a:t>
            </a:r>
          </a:p>
          <a:p>
            <a:pPr lvl="3" eaLnBrk="1" latinLnBrk="0" hangingPunct="1"/>
            <a:r>
              <a:rPr lang="en-US"/>
              <a:t>Quatrième niveau</a:t>
            </a:r>
          </a:p>
          <a:p>
            <a:pPr lvl="4" eaLnBrk="1" latinLnBrk="0" hangingPunct="1"/>
            <a:r>
              <a:rPr lang="en-US"/>
              <a:t>Cinquième niveau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012291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2292" kern="1200">
          <a:solidFill>
            <a:schemeClr val="accent5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190476" indent="-190476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lang="en-US" sz="1876" kern="1200" noProof="0" dirty="0" smtClean="0">
          <a:solidFill>
            <a:schemeClr val="tx1"/>
          </a:solidFill>
          <a:latin typeface="Amasis MT Pro Light" panose="02040304050005020304" pitchFamily="18" charset="0"/>
          <a:ea typeface="+mn-ea"/>
          <a:cs typeface="+mn-cs"/>
        </a:defRPr>
      </a:lvl1pPr>
      <a:lvl2pPr marL="380951" indent="-190476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lang="en-US" sz="1876" kern="1200" noProof="0" dirty="0" smtClean="0">
          <a:solidFill>
            <a:schemeClr val="tx1"/>
          </a:solidFill>
          <a:latin typeface="Amasis MT Pro Light" panose="02040304050005020304" pitchFamily="18" charset="0"/>
          <a:ea typeface="+mn-ea"/>
          <a:cs typeface="+mn-cs"/>
        </a:defRPr>
      </a:lvl2pPr>
      <a:lvl3pPr marL="571426" indent="-158729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lang="en-US" sz="1876" kern="1200" noProof="0" dirty="0" smtClean="0">
          <a:solidFill>
            <a:schemeClr val="tx1"/>
          </a:solidFill>
          <a:latin typeface="Amasis MT Pro Light" panose="02040304050005020304" pitchFamily="18" charset="0"/>
          <a:ea typeface="+mn-ea"/>
          <a:cs typeface="+mn-cs"/>
        </a:defRPr>
      </a:lvl3pPr>
      <a:lvl4pPr marL="761900" indent="-158729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lang="en-US" sz="1876" kern="1200" noProof="0" dirty="0" smtClean="0">
          <a:solidFill>
            <a:schemeClr val="tx1"/>
          </a:solidFill>
          <a:latin typeface="Amasis MT Pro Light" panose="02040304050005020304" pitchFamily="18" charset="0"/>
          <a:ea typeface="+mn-ea"/>
          <a:cs typeface="+mn-cs"/>
        </a:defRPr>
      </a:lvl4pPr>
      <a:lvl5pPr marL="952377" indent="-158729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lang="en-US" sz="1876" kern="1200" noProof="0" dirty="0">
          <a:solidFill>
            <a:schemeClr val="tx1"/>
          </a:solidFill>
          <a:latin typeface="Amasis MT Pro Light" panose="02040304050005020304" pitchFamily="18" charset="0"/>
          <a:ea typeface="+mn-ea"/>
          <a:cs typeface="+mn-cs"/>
        </a:defRPr>
      </a:lvl5pPr>
      <a:lvl6pPr marL="1142851" indent="-126984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1333327" indent="-126984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111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460311" indent="-126984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111" kern="1200">
          <a:solidFill>
            <a:schemeClr val="tx1"/>
          </a:solidFill>
          <a:latin typeface="+mn-lt"/>
          <a:ea typeface="+mn-ea"/>
          <a:cs typeface="+mn-cs"/>
        </a:defRPr>
      </a:lvl8pPr>
      <a:lvl9pPr marL="1650786" indent="-126984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972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1745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3491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95237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26983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58729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190475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22221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53967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9"/>
            <a:ext cx="12192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3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9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050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06403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900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203200" y="1276744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5689603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5791200" y="1040185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2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7797711-19F7-489A-B9FE-21143DCBA2BB}" type="slidenum">
              <a:rPr lang="fr-CA" smtClean="0"/>
              <a:t>‹#›</a:t>
            </a:fld>
            <a:endParaRPr lang="fr-CA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02339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02339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428903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2751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580" indent="-22858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251" kern="1200">
          <a:solidFill>
            <a:schemeClr val="tx1"/>
          </a:solidFill>
          <a:latin typeface="+mn-lt"/>
          <a:ea typeface="+mn-ea"/>
          <a:cs typeface="+mn-cs"/>
        </a:defRPr>
      </a:lvl1pPr>
      <a:lvl2pPr marL="457159" indent="-22858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1833" kern="1200">
          <a:solidFill>
            <a:schemeClr val="tx2"/>
          </a:solidFill>
          <a:latin typeface="+mn-lt"/>
          <a:ea typeface="+mn-ea"/>
          <a:cs typeface="+mn-cs"/>
        </a:defRPr>
      </a:lvl2pPr>
      <a:lvl3pPr marL="685739" indent="-190482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914317" indent="-190482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1667" kern="1200">
          <a:solidFill>
            <a:schemeClr val="tx2"/>
          </a:solidFill>
          <a:latin typeface="+mn-lt"/>
          <a:ea typeface="+mn-ea"/>
          <a:cs typeface="+mn-cs"/>
        </a:defRPr>
      </a:lvl4pPr>
      <a:lvl5pPr marL="1142898" indent="-190482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476" indent="-152387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056" indent="-152387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333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52443" indent="-152387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1981022" indent="-152387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167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8096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76193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14289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386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90482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28579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66676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04772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38400" y="582235"/>
            <a:ext cx="10915200" cy="99298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Cliquez pour modifier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38400" y="1821454"/>
            <a:ext cx="10915200" cy="3897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52800" y="6461995"/>
            <a:ext cx="2844800" cy="164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2">
                <a:solidFill>
                  <a:schemeClr val="accent2"/>
                </a:solidFill>
              </a:defRPr>
            </a:lvl1pPr>
          </a:lstStyle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461995"/>
            <a:ext cx="3860800" cy="164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2">
                <a:solidFill>
                  <a:schemeClr val="accent2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934400" y="6461995"/>
            <a:ext cx="619200" cy="164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2">
                <a:solidFill>
                  <a:schemeClr val="accent2"/>
                </a:solidFill>
              </a:defRPr>
            </a:lvl1pPr>
          </a:lstStyle>
          <a:p>
            <a:fld id="{76DBD91B-A6BE-418C-B2C9-88CD34860EFA}" type="slidenum">
              <a:rPr lang="fr-CA" smtClean="0"/>
              <a:t>‹#›</a:t>
            </a:fld>
            <a:endParaRPr lang="fr-CA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807" y="6038597"/>
            <a:ext cx="2053463" cy="25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357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hf hdr="0" ftr="0" dt="0"/>
  <p:txStyles>
    <p:titleStyle>
      <a:lvl1pPr algn="l" defTabSz="617204" rtl="0" eaLnBrk="1" latinLnBrk="0" hangingPunct="1">
        <a:spcBef>
          <a:spcPct val="0"/>
        </a:spcBef>
        <a:buNone/>
        <a:defRPr sz="1755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04488" indent="-104488" algn="l" defTabSz="617204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127" kern="1200">
          <a:solidFill>
            <a:schemeClr val="tx1"/>
          </a:solidFill>
          <a:latin typeface="+mn-lt"/>
          <a:ea typeface="+mn-ea"/>
          <a:cs typeface="+mn-cs"/>
        </a:defRPr>
      </a:lvl1pPr>
      <a:lvl2pPr marL="306173" indent="-104488" algn="l" defTabSz="617204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127" kern="1200">
          <a:solidFill>
            <a:schemeClr val="tx1"/>
          </a:solidFill>
          <a:latin typeface="+mn-lt"/>
          <a:ea typeface="+mn-ea"/>
          <a:cs typeface="+mn-cs"/>
        </a:defRPr>
      </a:lvl2pPr>
      <a:lvl3pPr marL="507857" indent="-104488" algn="l" defTabSz="617204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127" kern="1200">
          <a:solidFill>
            <a:schemeClr val="tx1"/>
          </a:solidFill>
          <a:latin typeface="+mn-lt"/>
          <a:ea typeface="+mn-ea"/>
          <a:cs typeface="+mn-cs"/>
        </a:defRPr>
      </a:lvl3pPr>
      <a:lvl4pPr marL="707112" indent="-104488" algn="l" defTabSz="617204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127" kern="1200">
          <a:solidFill>
            <a:schemeClr val="tx1"/>
          </a:solidFill>
          <a:latin typeface="+mn-lt"/>
          <a:ea typeface="+mn-ea"/>
          <a:cs typeface="+mn-cs"/>
        </a:defRPr>
      </a:lvl4pPr>
      <a:lvl5pPr marL="908798" indent="-104488" algn="l" defTabSz="617204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127" kern="1200">
          <a:solidFill>
            <a:schemeClr val="tx1"/>
          </a:solidFill>
          <a:latin typeface="+mn-lt"/>
          <a:ea typeface="+mn-ea"/>
          <a:cs typeface="+mn-cs"/>
        </a:defRPr>
      </a:lvl5pPr>
      <a:lvl6pPr marL="1697312" indent="-154301" algn="l" defTabSz="61720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05915" indent="-154301" algn="l" defTabSz="61720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14517" indent="-154301" algn="l" defTabSz="61720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623120" indent="-154301" algn="l" defTabSz="617204" rtl="0" eaLnBrk="1" latinLnBrk="0" hangingPunct="1">
        <a:spcBef>
          <a:spcPct val="20000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720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03" algn="l" defTabSz="61720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04" algn="l" defTabSz="61720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07" algn="l" defTabSz="61720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09" algn="l" defTabSz="61720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12" algn="l" defTabSz="61720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14" algn="l" defTabSz="61720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16" algn="l" defTabSz="61720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19" algn="l" defTabSz="61720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5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10"/>
            <a:ext cx="12192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5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5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3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50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9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500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7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06403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7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500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203200" y="1276744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50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5689603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50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500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5791200" y="1040186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D0463A9-3ADC-8645-96FC-E3E0F339007A}" type="slidenum">
              <a:rPr lang="fr-FR" smtClean="0"/>
              <a:pPr>
                <a:defRPr/>
              </a:pPr>
              <a:t>‹#›</a:t>
            </a:fld>
            <a:endParaRPr lang="fr-FR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02339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02339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100923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275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579" indent="-228579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9" indent="-228579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1833" kern="1200">
          <a:solidFill>
            <a:schemeClr val="tx2"/>
          </a:solidFill>
          <a:latin typeface="+mn-lt"/>
          <a:ea typeface="+mn-ea"/>
          <a:cs typeface="+mn-cs"/>
        </a:defRPr>
      </a:lvl2pPr>
      <a:lvl3pPr marL="685738" indent="-190483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914318" indent="-190483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1667" kern="1200">
          <a:solidFill>
            <a:schemeClr val="tx2"/>
          </a:solidFill>
          <a:latin typeface="+mn-lt"/>
          <a:ea typeface="+mn-ea"/>
          <a:cs typeface="+mn-cs"/>
        </a:defRPr>
      </a:lvl4pPr>
      <a:lvl5pPr marL="1142898" indent="-190483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477" indent="-152386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056" indent="-152386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333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52442" indent="-152386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1981022" indent="-152386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167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8096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76193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14289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386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90482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28579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66676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04772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1013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11"/>
            <a:ext cx="12192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1013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1013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3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1013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400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1013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59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06403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506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1013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203200" y="1276744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1013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5689604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5791200" y="1040189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675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D0463A9-3ADC-8645-96FC-E3E0F339007A}" type="slidenum">
              <a:rPr lang="fr-FR" smtClean="0"/>
              <a:pPr>
                <a:defRPr/>
              </a:pPr>
              <a:t>‹#›</a:t>
            </a:fld>
            <a:endParaRPr lang="fr-FR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02339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02339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35446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1856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154291" indent="-154291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1519" kern="1200">
          <a:solidFill>
            <a:schemeClr val="tx1"/>
          </a:solidFill>
          <a:latin typeface="+mn-lt"/>
          <a:ea typeface="+mn-ea"/>
          <a:cs typeface="+mn-cs"/>
        </a:defRPr>
      </a:lvl1pPr>
      <a:lvl2pPr marL="308582" indent="-154291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1238" kern="1200">
          <a:solidFill>
            <a:schemeClr val="tx2"/>
          </a:solidFill>
          <a:latin typeface="+mn-lt"/>
          <a:ea typeface="+mn-ea"/>
          <a:cs typeface="+mn-cs"/>
        </a:defRPr>
      </a:lvl2pPr>
      <a:lvl3pPr marL="462873" indent="-128576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617165" indent="-128576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1125" kern="1200">
          <a:solidFill>
            <a:schemeClr val="tx2"/>
          </a:solidFill>
          <a:latin typeface="+mn-lt"/>
          <a:ea typeface="+mn-ea"/>
          <a:cs typeface="+mn-cs"/>
        </a:defRPr>
      </a:lvl4pPr>
      <a:lvl5pPr marL="771456" indent="-128576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925747" indent="-10286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080038" indent="-10286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9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182899" indent="-10286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337190" indent="-10286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788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25715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51430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77145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02860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28576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154291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180006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05721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7.png"/><Relationship Id="rId5" Type="http://schemas.openxmlformats.org/officeDocument/2006/relationships/tags" Target="../tags/tag5.xml"/><Relationship Id="rId10" Type="http://schemas.openxmlformats.org/officeDocument/2006/relationships/image" Target="../media/image6.jpeg"/><Relationship Id="rId4" Type="http://schemas.openxmlformats.org/officeDocument/2006/relationships/tags" Target="../tags/tag4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18" Type="http://schemas.openxmlformats.org/officeDocument/2006/relationships/tags" Target="../tags/tag25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17" Type="http://schemas.openxmlformats.org/officeDocument/2006/relationships/tags" Target="../tags/tag24.xml"/><Relationship Id="rId2" Type="http://schemas.openxmlformats.org/officeDocument/2006/relationships/tags" Target="../tags/tag9.xml"/><Relationship Id="rId16" Type="http://schemas.openxmlformats.org/officeDocument/2006/relationships/tags" Target="../tags/tag23.xml"/><Relationship Id="rId20" Type="http://schemas.openxmlformats.org/officeDocument/2006/relationships/notesSlide" Target="../notesSlides/notesSlide5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10" Type="http://schemas.openxmlformats.org/officeDocument/2006/relationships/tags" Target="../tags/tag17.xml"/><Relationship Id="rId19" Type="http://schemas.openxmlformats.org/officeDocument/2006/relationships/slideLayout" Target="../slideLayouts/slideLayout29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rbes.com/sites/kellyphillipserb/2014/01/21/warren-buffett-offers-1-billion-for-perfect-march-madness-bracket/#2237611d100b" TargetMode="External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12" Type="http://schemas.openxmlformats.org/officeDocument/2006/relationships/image" Target="../media/image22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notesSlide" Target="../notesSlides/notesSlide12.xml"/><Relationship Id="rId5" Type="http://schemas.openxmlformats.org/officeDocument/2006/relationships/tags" Target="../tags/tag30.xml"/><Relationship Id="rId10" Type="http://schemas.openxmlformats.org/officeDocument/2006/relationships/slideLayout" Target="../slideLayouts/slideLayout29.xml"/><Relationship Id="rId4" Type="http://schemas.openxmlformats.org/officeDocument/2006/relationships/tags" Target="../tags/tag29.xml"/><Relationship Id="rId9" Type="http://schemas.openxmlformats.org/officeDocument/2006/relationships/tags" Target="../tags/tag3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6.pn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6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gif"/><Relationship Id="rId9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pPr defTabSz="617220"/>
            <a:fld id="{EC294168-EDF8-4A56-8236-C8C76B4B0246}" type="slidenum">
              <a:rPr lang="fr-CA">
                <a:solidFill>
                  <a:prstClr val="black"/>
                </a:solidFill>
              </a:rPr>
              <a:pPr defTabSz="617220"/>
              <a:t>1</a:t>
            </a:fld>
            <a:endParaRPr lang="fr-CA" dirty="0">
              <a:solidFill>
                <a:prstClr val="black"/>
              </a:solidFill>
            </a:endParaRPr>
          </a:p>
        </p:txBody>
      </p:sp>
      <p:sp>
        <p:nvSpPr>
          <p:cNvPr id="5" name="Titre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334460" y="678781"/>
            <a:ext cx="5246370" cy="1177245"/>
          </a:xfrm>
        </p:spPr>
        <p:txBody>
          <a:bodyPr>
            <a:noAutofit/>
          </a:bodyPr>
          <a:lstStyle/>
          <a:p>
            <a:r>
              <a:rPr lang="en-CA" sz="4400" dirty="0">
                <a:solidFill>
                  <a:schemeClr val="tx1"/>
                </a:solidFill>
              </a:rPr>
              <a:t>10200</a:t>
            </a:r>
            <a:br>
              <a:rPr lang="en-CA" sz="4400" dirty="0">
                <a:solidFill>
                  <a:schemeClr val="tx1"/>
                </a:solidFill>
              </a:rPr>
            </a:br>
            <a:r>
              <a:rPr lang="en-CA" sz="4400" b="1" dirty="0">
                <a:solidFill>
                  <a:schemeClr val="tx1"/>
                </a:solidFill>
              </a:rPr>
              <a:t>Finance</a:t>
            </a:r>
          </a:p>
        </p:txBody>
      </p:sp>
      <p:sp>
        <p:nvSpPr>
          <p:cNvPr id="6" name="Titre 4">
            <a:extLst>
              <a:ext uri="{FF2B5EF4-FFF2-40B4-BE49-F238E27FC236}">
                <a16:creationId xmlns:a16="http://schemas.microsoft.com/office/drawing/2014/main" id="{79BBBB01-5B6C-3428-08A3-23C6C0FD8DFC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3179678" y="4119834"/>
            <a:ext cx="5784043" cy="1164852"/>
          </a:xfrm>
          <a:prstGeom prst="rect">
            <a:avLst/>
          </a:prstGeom>
        </p:spPr>
        <p:txBody>
          <a:bodyPr vert="horz" anchor="b">
            <a:normAutofit fontScale="70000" lnSpcReduction="20000"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3500" b="0" kern="1200" cap="none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17220"/>
            <a:endParaRPr lang="en-CA" sz="1823" dirty="0">
              <a:solidFill>
                <a:prstClr val="black"/>
              </a:solidFill>
              <a:latin typeface="Georgia"/>
            </a:endParaRPr>
          </a:p>
          <a:p>
            <a:pPr defTabSz="617220"/>
            <a:endParaRPr lang="en-CA" sz="1823" dirty="0">
              <a:solidFill>
                <a:prstClr val="black"/>
              </a:solidFill>
              <a:latin typeface="Georgia"/>
            </a:endParaRPr>
          </a:p>
          <a:p>
            <a:pPr defTabSz="617220"/>
            <a:endParaRPr lang="en-CA" sz="1823" dirty="0">
              <a:solidFill>
                <a:prstClr val="black"/>
              </a:solidFill>
              <a:latin typeface="Georgia"/>
            </a:endParaRPr>
          </a:p>
          <a:p>
            <a:pPr defTabSz="617220"/>
            <a:endParaRPr lang="en-CA" sz="1823" dirty="0">
              <a:solidFill>
                <a:prstClr val="black"/>
              </a:solidFill>
              <a:latin typeface="Georgia"/>
            </a:endParaRPr>
          </a:p>
          <a:p>
            <a:pPr defTabSz="617220"/>
            <a:endParaRPr lang="en-CA" sz="1823" dirty="0">
              <a:solidFill>
                <a:prstClr val="black"/>
              </a:solidFill>
              <a:latin typeface="Georgia"/>
            </a:endParaRPr>
          </a:p>
          <a:p>
            <a:pPr defTabSz="617220"/>
            <a:endParaRPr lang="en-CA" sz="1580" dirty="0">
              <a:solidFill>
                <a:prstClr val="black"/>
              </a:solidFill>
              <a:latin typeface="Georgia"/>
            </a:endParaRPr>
          </a:p>
          <a:p>
            <a:pPr defTabSz="617220"/>
            <a:r>
              <a:rPr lang="en-CA" sz="1350" dirty="0">
                <a:solidFill>
                  <a:prstClr val="white"/>
                </a:solidFill>
                <a:latin typeface="Georgia"/>
              </a:rPr>
              <a:t>© Mélanie Harris 2025</a:t>
            </a:r>
            <a:endParaRPr lang="en-CA" sz="1350" dirty="0">
              <a:solidFill>
                <a:prstClr val="white"/>
              </a:solidFill>
              <a:latin typeface="Ink Free" panose="03080402000500000000" pitchFamily="66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8CEF0A-4CF0-72D8-5BFD-55B004412DB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-168696" y="3857598"/>
            <a:ext cx="515505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555471">
              <a:defRPr/>
            </a:pPr>
            <a:r>
              <a:rPr lang="en-CA" sz="3200" b="1" dirty="0">
                <a:solidFill>
                  <a:prstClr val="black"/>
                </a:solidFill>
                <a:latin typeface="Georgia"/>
              </a:rPr>
              <a:t>Séance 2</a:t>
            </a:r>
          </a:p>
          <a:p>
            <a:pPr algn="ctr" defTabSz="555471">
              <a:defRPr/>
            </a:pPr>
            <a:endParaRPr lang="en-CA" sz="3200" b="1" dirty="0">
              <a:solidFill>
                <a:prstClr val="black"/>
              </a:solidFill>
              <a:latin typeface="Georgia"/>
            </a:endParaRPr>
          </a:p>
          <a:p>
            <a:pPr algn="ctr" defTabSz="555471">
              <a:defRPr/>
            </a:pPr>
            <a:r>
              <a:rPr lang="en-CA" sz="3200" dirty="0" err="1">
                <a:solidFill>
                  <a:prstClr val="black"/>
                </a:solidFill>
                <a:latin typeface="Georgia"/>
              </a:rPr>
              <a:t>Mathématiques</a:t>
            </a:r>
            <a:r>
              <a:rPr lang="en-CA" sz="3200" dirty="0">
                <a:solidFill>
                  <a:prstClr val="black"/>
                </a:solidFill>
                <a:latin typeface="Georgia"/>
              </a:rPr>
              <a:t> </a:t>
            </a:r>
          </a:p>
          <a:p>
            <a:pPr algn="ctr" defTabSz="555471">
              <a:defRPr/>
            </a:pPr>
            <a:r>
              <a:rPr lang="en-CA" sz="3200" dirty="0" err="1">
                <a:solidFill>
                  <a:prstClr val="black"/>
                </a:solidFill>
                <a:latin typeface="Georgia"/>
              </a:rPr>
              <a:t>financières</a:t>
            </a:r>
            <a:endParaRPr lang="en-CA" sz="3200" dirty="0">
              <a:solidFill>
                <a:prstClr val="black"/>
              </a:solidFill>
              <a:latin typeface="Georgia"/>
            </a:endParaRPr>
          </a:p>
        </p:txBody>
      </p:sp>
      <p:pic>
        <p:nvPicPr>
          <p:cNvPr id="7" name="Espace réservé du contenu 5">
            <a:extLst>
              <a:ext uri="{FF2B5EF4-FFF2-40B4-BE49-F238E27FC236}">
                <a16:creationId xmlns:a16="http://schemas.microsoft.com/office/drawing/2014/main" id="{D85F7EBD-DBEB-8885-B674-8A8A7EDB4862}"/>
              </a:ext>
            </a:extLst>
          </p:cNvPr>
          <p:cNvPicPr>
            <a:picLocks noGrp="1" noChangeAspect="1"/>
          </p:cNvPicPr>
          <p:nvPr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6" r="7697"/>
          <a:stretch/>
        </p:blipFill>
        <p:spPr>
          <a:xfrm>
            <a:off x="2639616" y="2763798"/>
            <a:ext cx="2417539" cy="1006106"/>
          </a:xfrm>
          <a:prstGeom prst="rect">
            <a:avLst/>
          </a:prstGeom>
        </p:spPr>
      </p:pic>
      <p:sp>
        <p:nvSpPr>
          <p:cNvPr id="2" name="Titre 4">
            <a:extLst>
              <a:ext uri="{FF2B5EF4-FFF2-40B4-BE49-F238E27FC236}">
                <a16:creationId xmlns:a16="http://schemas.microsoft.com/office/drawing/2014/main" id="{79BBBB01-5B6C-3428-08A3-23C6C0FD8DFC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2900748" y="5569829"/>
            <a:ext cx="6426714" cy="31252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3500" b="0" kern="1200" cap="none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/>
            <a:r>
              <a:rPr lang="en-CA" sz="1200" dirty="0">
                <a:solidFill>
                  <a:prstClr val="white"/>
                </a:solidFill>
                <a:latin typeface="Georgia"/>
              </a:rPr>
              <a:t>© Mélanie Harris 2019 </a:t>
            </a:r>
            <a:r>
              <a:rPr lang="en-CA" sz="1200" dirty="0">
                <a:solidFill>
                  <a:prstClr val="white"/>
                </a:solidFill>
                <a:latin typeface="Ink Free" panose="03080402000500000000" pitchFamily="66" charset="0"/>
              </a:rPr>
              <a:t> (mis à jour </a:t>
            </a:r>
            <a:r>
              <a:rPr lang="en-CA" sz="1200" dirty="0" err="1">
                <a:solidFill>
                  <a:prstClr val="white"/>
                </a:solidFill>
                <a:latin typeface="Ink Free" panose="03080402000500000000" pitchFamily="66" charset="0"/>
              </a:rPr>
              <a:t>en</a:t>
            </a:r>
            <a:r>
              <a:rPr lang="en-CA" sz="1200" dirty="0">
                <a:solidFill>
                  <a:prstClr val="white"/>
                </a:solidFill>
                <a:latin typeface="Ink Free" panose="03080402000500000000" pitchFamily="66" charset="0"/>
              </a:rPr>
              <a:t> 2025)</a:t>
            </a:r>
          </a:p>
        </p:txBody>
      </p:sp>
      <p:pic>
        <p:nvPicPr>
          <p:cNvPr id="8" name="Picture 7" descr="A paper with a pen and a piece of paper with a pie chart and a graph&#10;&#10;AI-generated content may be incorrect.">
            <a:extLst>
              <a:ext uri="{FF2B5EF4-FFF2-40B4-BE49-F238E27FC236}">
                <a16:creationId xmlns:a16="http://schemas.microsoft.com/office/drawing/2014/main" id="{7D505E5A-CDE9-A140-A6A3-3A8647CEB9B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132" y="2917841"/>
            <a:ext cx="4535396" cy="295737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3" name="Titre 4">
            <a:extLst>
              <a:ext uri="{FF2B5EF4-FFF2-40B4-BE49-F238E27FC236}">
                <a16:creationId xmlns:a16="http://schemas.microsoft.com/office/drawing/2014/main" id="{747C319F-5C1F-DEC0-2BDB-636BD220BBA2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2900749" y="6166738"/>
            <a:ext cx="6541799" cy="495796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3500" b="0" kern="1200" cap="none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endParaRPr lang="en-CA" sz="1800" dirty="0">
              <a:solidFill>
                <a:schemeClr val="bg1"/>
              </a:solidFill>
              <a:latin typeface="Georgia"/>
            </a:endParaRPr>
          </a:p>
          <a:p>
            <a:pPr fontAlgn="auto">
              <a:spcAft>
                <a:spcPts val="0"/>
              </a:spcAft>
            </a:pPr>
            <a:endParaRPr lang="en-CA" sz="1800" dirty="0">
              <a:solidFill>
                <a:schemeClr val="bg1"/>
              </a:solidFill>
              <a:latin typeface="Georgia"/>
            </a:endParaRPr>
          </a:p>
          <a:p>
            <a:pPr fontAlgn="auto">
              <a:spcAft>
                <a:spcPts val="0"/>
              </a:spcAft>
            </a:pPr>
            <a:endParaRPr lang="en-CA" sz="1800" dirty="0">
              <a:solidFill>
                <a:schemeClr val="bg1"/>
              </a:solidFill>
              <a:latin typeface="Georgia"/>
            </a:endParaRPr>
          </a:p>
          <a:p>
            <a:pPr fontAlgn="auto">
              <a:spcAft>
                <a:spcPts val="0"/>
              </a:spcAft>
            </a:pPr>
            <a:endParaRPr lang="en-CA" sz="1800" dirty="0">
              <a:solidFill>
                <a:schemeClr val="bg1"/>
              </a:solidFill>
              <a:latin typeface="Georgia"/>
            </a:endParaRPr>
          </a:p>
          <a:p>
            <a:pPr fontAlgn="auto">
              <a:spcAft>
                <a:spcPts val="0"/>
              </a:spcAft>
            </a:pPr>
            <a:endParaRPr lang="en-CA" sz="1800" dirty="0">
              <a:solidFill>
                <a:schemeClr val="bg1"/>
              </a:solidFill>
              <a:latin typeface="Georgia"/>
            </a:endParaRPr>
          </a:p>
          <a:p>
            <a:pPr fontAlgn="auto">
              <a:spcAft>
                <a:spcPts val="0"/>
              </a:spcAft>
            </a:pPr>
            <a:endParaRPr lang="en-CA" sz="1600" dirty="0">
              <a:solidFill>
                <a:schemeClr val="bg1"/>
              </a:solidFill>
              <a:latin typeface="Georgia"/>
            </a:endParaRPr>
          </a:p>
          <a:p>
            <a:r>
              <a:rPr lang="en-CA" sz="1200" dirty="0">
                <a:solidFill>
                  <a:schemeClr val="bg1"/>
                </a:solidFill>
                <a:latin typeface="Georgia"/>
              </a:rPr>
              <a:t>© Mélanie Harris 2019 </a:t>
            </a:r>
            <a:r>
              <a:rPr lang="en-CA" sz="1200" dirty="0">
                <a:solidFill>
                  <a:schemeClr val="bg1"/>
                </a:solidFill>
                <a:latin typeface="Ink Free" panose="03080402000500000000" pitchFamily="66" charset="0"/>
              </a:rPr>
              <a:t> (mis à jour </a:t>
            </a:r>
            <a:r>
              <a:rPr lang="en-CA" sz="1200" dirty="0" err="1">
                <a:solidFill>
                  <a:schemeClr val="bg1"/>
                </a:solidFill>
                <a:latin typeface="Ink Free" panose="03080402000500000000" pitchFamily="66" charset="0"/>
              </a:rPr>
              <a:t>Aout</a:t>
            </a:r>
            <a:r>
              <a:rPr lang="en-CA" sz="1200" dirty="0">
                <a:solidFill>
                  <a:schemeClr val="bg1"/>
                </a:solidFill>
                <a:latin typeface="Ink Free" panose="03080402000500000000" pitchFamily="66" charset="0"/>
              </a:rPr>
              <a:t> 2026)</a:t>
            </a:r>
          </a:p>
        </p:txBody>
      </p:sp>
    </p:spTree>
    <p:extLst>
      <p:ext uri="{BB962C8B-B14F-4D97-AF65-F5344CB8AC3E}">
        <p14:creationId xmlns:p14="http://schemas.microsoft.com/office/powerpoint/2010/main" val="2943560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C09A4-8133-6327-3A39-B8DFAF82B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A72E97-D20E-47A1-7936-B84AB952E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 dirty="0">
                <a:solidFill>
                  <a:srgbClr val="FF0000"/>
                </a:solidFill>
              </a:rPr>
              <a:t>Retour sur la séance 1: </a:t>
            </a:r>
            <a:r>
              <a:rPr lang="fr-CA" dirty="0">
                <a:solidFill>
                  <a:srgbClr val="FF0000"/>
                </a:solidFill>
              </a:rPr>
              <a:t>VF et intérêts composés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68C992-0BE0-0791-126A-685B6EF2A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A019D1F-2BC9-41FA-953B-C3256200C508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srgbClr val="8CADAE">
                    <a:shade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srgbClr val="8CADAE">
                  <a:shade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9" name="Image 1">
            <a:extLst>
              <a:ext uri="{FF2B5EF4-FFF2-40B4-BE49-F238E27FC236}">
                <a16:creationId xmlns:a16="http://schemas.microsoft.com/office/drawing/2014/main" id="{E450532A-4C5B-1932-455B-153D06328EC0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 cstate="print"/>
          <a:stretch>
            <a:fillRect/>
          </a:stretch>
        </p:blipFill>
        <p:spPr>
          <a:xfrm>
            <a:off x="2749953" y="1527175"/>
            <a:ext cx="6642881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943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 dirty="0">
                <a:solidFill>
                  <a:srgbClr val="FF0000"/>
                </a:solidFill>
              </a:rPr>
              <a:t>Qu'avons-nous vu </a:t>
            </a:r>
            <a:r>
              <a:rPr lang="fr-CA" dirty="0">
                <a:solidFill>
                  <a:srgbClr val="FF0000"/>
                </a:solidFill>
              </a:rPr>
              <a:t>à la séance 2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36238" y="1628800"/>
            <a:ext cx="7099922" cy="4869160"/>
          </a:xfrm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fr-CA" sz="2400" b="1" dirty="0">
                <a:solidFill>
                  <a:schemeClr val="bg1">
                    <a:lumMod val="65000"/>
                  </a:schemeClr>
                </a:solidFill>
              </a:rPr>
              <a:t>Capsule 1 </a:t>
            </a:r>
            <a:r>
              <a:rPr lang="fr-CA" sz="2400" dirty="0">
                <a:solidFill>
                  <a:schemeClr val="bg1">
                    <a:lumMod val="65000"/>
                  </a:schemeClr>
                </a:solidFill>
              </a:rPr>
              <a:t>: Définitions de base et évaluation d'un flux monétaire unique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fr-CA" sz="2400" b="1" dirty="0"/>
              <a:t>Capsule 2 </a:t>
            </a:r>
            <a:r>
              <a:rPr lang="fr-CA" sz="2400" dirty="0"/>
              <a:t>: Annuité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fr-CA" sz="2400" b="1" dirty="0"/>
              <a:t>Capsule 3 </a:t>
            </a:r>
            <a:r>
              <a:rPr lang="fr-CA" sz="2400" dirty="0"/>
              <a:t>: </a:t>
            </a:r>
            <a:r>
              <a:rPr lang="fr-CA" sz="2400" dirty="0" err="1"/>
              <a:t>Perpetuité</a:t>
            </a:r>
            <a:r>
              <a:rPr lang="fr-CA" sz="2400" dirty="0"/>
              <a:t> et annuité croissante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fr-CA" sz="2400" b="1" dirty="0"/>
              <a:t>Capsule 4 </a:t>
            </a:r>
            <a:r>
              <a:rPr lang="fr-CA" sz="2400" dirty="0"/>
              <a:t>: Convertir les taux d'intérêts</a:t>
            </a:r>
          </a:p>
          <a:p>
            <a:pPr marL="0" indent="0">
              <a:buClr>
                <a:srgbClr val="C00000"/>
              </a:buClr>
              <a:buNone/>
            </a:pPr>
            <a:endParaRPr lang="fr-CA" sz="2400" dirty="0"/>
          </a:p>
          <a:p>
            <a:pPr marL="0" indent="0">
              <a:buClr>
                <a:srgbClr val="C00000"/>
              </a:buClr>
              <a:buNone/>
            </a:pPr>
            <a:endParaRPr lang="fr-CA" sz="2400" dirty="0"/>
          </a:p>
          <a:p>
            <a:pPr marL="0" indent="0">
              <a:buClr>
                <a:srgbClr val="C00000"/>
              </a:buClr>
              <a:buNone/>
            </a:pPr>
            <a:endParaRPr lang="fr-CA" sz="2400" dirty="0"/>
          </a:p>
          <a:p>
            <a:pPr marL="0" indent="0">
              <a:buClr>
                <a:srgbClr val="C00000"/>
              </a:buClr>
              <a:buNone/>
            </a:pPr>
            <a:r>
              <a:rPr lang="fr-CA" sz="2400" dirty="0"/>
              <a:t>        Lectures : </a:t>
            </a:r>
            <a:r>
              <a:rPr lang="fr-CA" sz="2400" b="1" u="sng" dirty="0"/>
              <a:t>chapitres 5 et 6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3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B8A9AEA1-FE1D-FC03-E33F-D3D630C26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200" y="1467704"/>
            <a:ext cx="3246107" cy="48691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Book ">
            <a:extLst>
              <a:ext uri="{FF2B5EF4-FFF2-40B4-BE49-F238E27FC236}">
                <a16:creationId xmlns:a16="http://schemas.microsoft.com/office/drawing/2014/main" id="{DECDF6E2-3647-63F0-7CC5-842072CA85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339" y="5013176"/>
            <a:ext cx="537592" cy="537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AD3440-6E2E-BD4E-F5AB-77797B166866}"/>
              </a:ext>
            </a:extLst>
          </p:cNvPr>
          <p:cNvSpPr txBox="1"/>
          <p:nvPr/>
        </p:nvSpPr>
        <p:spPr>
          <a:xfrm>
            <a:off x="982954" y="5550768"/>
            <a:ext cx="66562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dirty="0" err="1">
                <a:solidFill>
                  <a:srgbClr val="0F8D36"/>
                </a:solidFill>
                <a:latin typeface="Ink Free" panose="03080402000500000000" pitchFamily="66" charset="0"/>
              </a:rPr>
              <a:t>Voir</a:t>
            </a:r>
            <a:r>
              <a:rPr lang="en-US" altLang="en-US" sz="1800" dirty="0">
                <a:solidFill>
                  <a:srgbClr val="0F8D36"/>
                </a:solidFill>
                <a:latin typeface="Ink Free" panose="03080402000500000000" pitchFamily="66" charset="0"/>
              </a:rPr>
              <a:t> guide de lecture pour </a:t>
            </a:r>
            <a:r>
              <a:rPr lang="en-US" altLang="en-US" sz="1800" dirty="0" err="1">
                <a:solidFill>
                  <a:srgbClr val="0F8D36"/>
                </a:solidFill>
                <a:latin typeface="Ink Free" panose="03080402000500000000" pitchFamily="66" charset="0"/>
              </a:rPr>
              <a:t>l’importance</a:t>
            </a:r>
            <a:r>
              <a:rPr lang="en-US" altLang="en-US" sz="1800" dirty="0">
                <a:solidFill>
                  <a:srgbClr val="0F8D36"/>
                </a:solidFill>
                <a:latin typeface="Ink Free" panose="03080402000500000000" pitchFamily="66" charset="0"/>
              </a:rPr>
              <a:t> de </a:t>
            </a:r>
            <a:r>
              <a:rPr lang="en-US" altLang="en-US" sz="1800" dirty="0" err="1">
                <a:solidFill>
                  <a:srgbClr val="0F8D36"/>
                </a:solidFill>
                <a:latin typeface="Ink Free" panose="03080402000500000000" pitchFamily="66" charset="0"/>
              </a:rPr>
              <a:t>chaque</a:t>
            </a:r>
            <a:r>
              <a:rPr lang="en-US" altLang="en-US" sz="1800" dirty="0">
                <a:solidFill>
                  <a:srgbClr val="0F8D36"/>
                </a:solidFill>
                <a:latin typeface="Ink Free" panose="03080402000500000000" pitchFamily="66" charset="0"/>
              </a:rPr>
              <a:t> section sous ZC / Modules / </a:t>
            </a:r>
            <a:r>
              <a:rPr lang="en-US" altLang="en-US" sz="1800" dirty="0" err="1">
                <a:solidFill>
                  <a:srgbClr val="0F8D36"/>
                </a:solidFill>
                <a:latin typeface="Ink Free" panose="03080402000500000000" pitchFamily="66" charset="0"/>
              </a:rPr>
              <a:t>Informations</a:t>
            </a:r>
            <a:r>
              <a:rPr lang="en-US" altLang="en-US" sz="1800" dirty="0">
                <a:solidFill>
                  <a:srgbClr val="0F8D36"/>
                </a:solidFill>
                <a:latin typeface="Ink Free" panose="03080402000500000000" pitchFamily="66" charset="0"/>
              </a:rPr>
              <a:t> </a:t>
            </a:r>
            <a:r>
              <a:rPr lang="en-US" altLang="en-US" sz="1800" dirty="0" err="1">
                <a:solidFill>
                  <a:srgbClr val="0F8D36"/>
                </a:solidFill>
                <a:latin typeface="Ink Free" panose="03080402000500000000" pitchFamily="66" charset="0"/>
              </a:rPr>
              <a:t>générales</a:t>
            </a:r>
            <a:r>
              <a:rPr lang="en-US" altLang="en-US" sz="1800" dirty="0">
                <a:solidFill>
                  <a:srgbClr val="0F8D36"/>
                </a:solidFill>
                <a:latin typeface="Ink Free" panose="03080402000500000000" pitchFamily="66" charset="0"/>
              </a:rPr>
              <a:t> / Matériel </a:t>
            </a:r>
            <a:r>
              <a:rPr lang="en-US" altLang="en-US" sz="1800" dirty="0" err="1">
                <a:solidFill>
                  <a:srgbClr val="0F8D36"/>
                </a:solidFill>
                <a:latin typeface="Ink Free" panose="03080402000500000000" pitchFamily="66" charset="0"/>
              </a:rPr>
              <a:t>Pédagogique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776828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D90171B-47E1-74D1-A72B-3ED238FA2DF4}"/>
              </a:ext>
            </a:extLst>
          </p:cNvPr>
          <p:cNvSpPr/>
          <p:nvPr/>
        </p:nvSpPr>
        <p:spPr>
          <a:xfrm>
            <a:off x="1703512" y="5301208"/>
            <a:ext cx="8784976" cy="1080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>
                <a:solidFill>
                  <a:srgbClr val="FF0000"/>
                </a:solidFill>
              </a:rPr>
              <a:t>Principes</a:t>
            </a:r>
            <a:r>
              <a:rPr lang="fr-CA" dirty="0">
                <a:solidFill>
                  <a:srgbClr val="FF0000"/>
                </a:solidFill>
              </a:rPr>
              <a:t> </a:t>
            </a:r>
            <a:r>
              <a:rPr lang="fr-CA" b="1" dirty="0">
                <a:solidFill>
                  <a:srgbClr val="FF0000"/>
                </a:solidFill>
              </a:rPr>
              <a:t>clés</a:t>
            </a:r>
            <a:r>
              <a:rPr lang="fr-CA" dirty="0">
                <a:solidFill>
                  <a:srgbClr val="FF0000"/>
                </a:solidFill>
              </a:rPr>
              <a:t>…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02339" y="1485832"/>
            <a:ext cx="11454301" cy="390551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Capitaliser un flux </a:t>
            </a:r>
            <a:r>
              <a:rPr lang="en-US" dirty="0" err="1"/>
              <a:t>monétaire</a:t>
            </a:r>
            <a:r>
              <a:rPr lang="en-US" dirty="0"/>
              <a:t> (FM) _______ sa valeur au fil du temps.</a:t>
            </a:r>
          </a:p>
          <a:p>
            <a:r>
              <a:rPr lang="en-US" dirty="0"/>
              <a:t>Actualiser un flux </a:t>
            </a:r>
            <a:r>
              <a:rPr lang="en-US" dirty="0" err="1"/>
              <a:t>monétaire</a:t>
            </a:r>
            <a:r>
              <a:rPr lang="en-US" dirty="0"/>
              <a:t> ______ sa valeur.</a:t>
            </a:r>
          </a:p>
          <a:p>
            <a:endParaRPr lang="fr-CA" dirty="0"/>
          </a:p>
          <a:p>
            <a:r>
              <a:rPr lang="fr-CA" dirty="0" err="1"/>
              <a:t>Plus </a:t>
            </a:r>
            <a:r>
              <a:rPr lang="fr-CA" dirty="0"/>
              <a:t>le taux </a:t>
            </a:r>
            <a:r>
              <a:rPr lang="fr-CA" dirty="0" err="1"/>
              <a:t>d'intérêt est élevé </a:t>
            </a:r>
            <a:r>
              <a:rPr lang="fr-CA" dirty="0"/>
              <a:t>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Plus la valeur future d'un flux de </a:t>
            </a:r>
            <a:r>
              <a:rPr lang="en-US" dirty="0" err="1"/>
              <a:t>monétaire</a:t>
            </a:r>
            <a:r>
              <a:rPr lang="en-US" dirty="0"/>
              <a:t> ________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Plus la valeur actuelle d'un flux de </a:t>
            </a:r>
            <a:r>
              <a:rPr lang="en-US" dirty="0" err="1"/>
              <a:t>monétaire</a:t>
            </a:r>
            <a:r>
              <a:rPr lang="en-US" dirty="0"/>
              <a:t> ________</a:t>
            </a:r>
          </a:p>
          <a:p>
            <a:pPr marL="274307" lvl="1" indent="0">
              <a:buNone/>
            </a:pPr>
            <a:r>
              <a:rPr lang="fr-CA" sz="1800" dirty="0">
                <a:solidFill>
                  <a:srgbClr val="0F8D36"/>
                </a:solidFill>
              </a:rPr>
              <a:t>    🚨 </a:t>
            </a:r>
            <a:r>
              <a:rPr lang="en-US" altLang="en-US" sz="1800" dirty="0" err="1">
                <a:solidFill>
                  <a:srgbClr val="0F8D36"/>
                </a:solidFill>
                <a:latin typeface="Ink Free" panose="03080402000500000000" pitchFamily="66" charset="0"/>
              </a:rPr>
              <a:t>Vérifiez</a:t>
            </a:r>
            <a:r>
              <a:rPr lang="en-US" altLang="en-US" sz="1800" dirty="0">
                <a:solidFill>
                  <a:srgbClr val="0F8D36"/>
                </a:solidFill>
                <a:latin typeface="Ink Free" panose="03080402000500000000" pitchFamily="66" charset="0"/>
              </a:rPr>
              <a:t> par vous-même : Quelle est la valeur actuelle de 500 $ reçus dans 5 ans si le taux d'intérêt est de 10 % ? De 15 % ?</a:t>
            </a:r>
          </a:p>
          <a:p>
            <a:pPr lvl="1"/>
            <a:endParaRPr lang="fr-CA" sz="1400" dirty="0"/>
          </a:p>
          <a:p>
            <a:r>
              <a:rPr lang="en-US" altLang="en-US" dirty="0"/>
              <a:t>Pour un taux d'intérêt donné, un horizon </a:t>
            </a:r>
            <a:r>
              <a:rPr lang="en-US" altLang="en-US" dirty="0" err="1"/>
              <a:t>d’investissement</a:t>
            </a:r>
            <a:r>
              <a:rPr lang="en-US" altLang="en-US" dirty="0"/>
              <a:t> plus long se traduit par une valeur </a:t>
            </a:r>
            <a:r>
              <a:rPr lang="en-US" altLang="en-US" dirty="0" err="1"/>
              <a:t>actuelle</a:t>
            </a:r>
            <a:r>
              <a:rPr lang="en-US" altLang="en-US" dirty="0"/>
              <a:t> plus _______ et </a:t>
            </a:r>
            <a:r>
              <a:rPr lang="en-US" altLang="en-US" dirty="0" err="1"/>
              <a:t>une</a:t>
            </a:r>
            <a:r>
              <a:rPr lang="en-US" altLang="en-US" dirty="0"/>
              <a:t> </a:t>
            </a:r>
            <a:r>
              <a:rPr lang="en-US" altLang="en-US" dirty="0" err="1"/>
              <a:t>valeur</a:t>
            </a:r>
            <a:r>
              <a:rPr lang="en-US" altLang="en-US" dirty="0"/>
              <a:t> finale plus _________.</a:t>
            </a:r>
          </a:p>
          <a:p>
            <a:pPr marL="0" indent="0">
              <a:buNone/>
            </a:pPr>
            <a:r>
              <a:rPr lang="fr-CA" sz="1600" dirty="0">
                <a:solidFill>
                  <a:srgbClr val="0F8D36"/>
                </a:solidFill>
              </a:rPr>
              <a:t>      🚨 </a:t>
            </a:r>
            <a:r>
              <a:rPr lang="en-US" altLang="en-US" sz="1600" dirty="0" err="1">
                <a:solidFill>
                  <a:srgbClr val="0F8D36"/>
                </a:solidFill>
                <a:latin typeface="Ink Free" panose="03080402000500000000" pitchFamily="66" charset="0"/>
              </a:rPr>
              <a:t>Vérifiez</a:t>
            </a:r>
            <a:r>
              <a:rPr lang="en-US" altLang="en-US" sz="1600" dirty="0">
                <a:solidFill>
                  <a:srgbClr val="0F8D36"/>
                </a:solidFill>
                <a:latin typeface="Ink Free" panose="03080402000500000000" pitchFamily="66" charset="0"/>
              </a:rPr>
              <a:t> par vous-même : quelle est la valeur actuelle de 500 $ à recevoir dans 5 ans ? Dans 10 ans ? Le taux d'actualisation est de 10 %.</a:t>
            </a:r>
          </a:p>
          <a:p>
            <a:pPr lvl="1"/>
            <a:endParaRPr lang="en-US" altLang="en-US" dirty="0"/>
          </a:p>
          <a:p>
            <a:pPr lvl="1"/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4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F43FFE-2FA0-4287-B1E7-E73B14E6CB80}"/>
              </a:ext>
            </a:extLst>
          </p:cNvPr>
          <p:cNvSpPr txBox="1"/>
          <p:nvPr/>
        </p:nvSpPr>
        <p:spPr>
          <a:xfrm>
            <a:off x="2867816" y="5304110"/>
            <a:ext cx="75678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Ink Free" panose="03080402000500000000" pitchFamily="66" charset="0"/>
              </a:rPr>
              <a:t>Les valeurs actuelles </a:t>
            </a:r>
            <a:r>
              <a:rPr lang="en-US" sz="1600" b="1" dirty="0">
                <a:solidFill>
                  <a:srgbClr val="C00000"/>
                </a:solidFill>
                <a:latin typeface="Ink Free" panose="03080402000500000000" pitchFamily="66" charset="0"/>
              </a:rPr>
              <a:t>diminuent </a:t>
            </a:r>
            <a:r>
              <a:rPr lang="en-US" sz="1600" dirty="0">
                <a:solidFill>
                  <a:srgbClr val="C00000"/>
                </a:solidFill>
                <a:latin typeface="Ink Free" panose="03080402000500000000" pitchFamily="66" charset="0"/>
              </a:rPr>
              <a:t>à mesure que l'horizon temporel s'allonge.</a:t>
            </a:r>
          </a:p>
          <a:p>
            <a:pPr algn="ctr"/>
            <a:r>
              <a:rPr lang="en-US" sz="1600" dirty="0">
                <a:solidFill>
                  <a:srgbClr val="C00000"/>
                </a:solidFill>
                <a:latin typeface="Ink Free" panose="03080402000500000000" pitchFamily="66" charset="0"/>
              </a:rPr>
              <a:t>Pour une même période, des taux d'actualisation </a:t>
            </a:r>
            <a:r>
              <a:rPr lang="en-US" sz="1600" u="sng" dirty="0">
                <a:solidFill>
                  <a:srgbClr val="C00000"/>
                </a:solidFill>
                <a:latin typeface="Ink Free" panose="03080402000500000000" pitchFamily="66" charset="0"/>
              </a:rPr>
              <a:t>plus élevés </a:t>
            </a:r>
            <a:r>
              <a:rPr lang="en-US" sz="1600" dirty="0">
                <a:solidFill>
                  <a:srgbClr val="C00000"/>
                </a:solidFill>
                <a:latin typeface="Ink Free" panose="03080402000500000000" pitchFamily="66" charset="0"/>
              </a:rPr>
              <a:t>donnent </a:t>
            </a:r>
            <a:r>
              <a:rPr lang="en-US" sz="1600" u="sng" dirty="0">
                <a:solidFill>
                  <a:srgbClr val="C00000"/>
                </a:solidFill>
                <a:latin typeface="Ink Free" panose="03080402000500000000" pitchFamily="66" charset="0"/>
              </a:rPr>
              <a:t>des valeurs actuelles plus faibles</a:t>
            </a:r>
            <a:r>
              <a:rPr lang="en-US" sz="1600" dirty="0">
                <a:solidFill>
                  <a:srgbClr val="C00000"/>
                </a:solidFill>
                <a:latin typeface="Ink Free" panose="03080402000500000000" pitchFamily="66" charset="0"/>
              </a:rPr>
              <a:t>.</a:t>
            </a:r>
          </a:p>
          <a:p>
            <a:pPr algn="ctr"/>
            <a:r>
              <a:rPr lang="en-US" sz="1600" dirty="0">
                <a:solidFill>
                  <a:srgbClr val="C00000"/>
                </a:solidFill>
                <a:latin typeface="Ink Free" panose="03080402000500000000" pitchFamily="66" charset="0"/>
              </a:rPr>
              <a:t>La valeur </a:t>
            </a:r>
            <a:r>
              <a:rPr lang="en-US" sz="1600" dirty="0" err="1">
                <a:solidFill>
                  <a:srgbClr val="C00000"/>
                </a:solidFill>
                <a:latin typeface="Ink Free" panose="03080402000500000000" pitchFamily="66" charset="0"/>
              </a:rPr>
              <a:t>actuelle</a:t>
            </a:r>
            <a:r>
              <a:rPr lang="en-US" sz="1600" dirty="0">
                <a:solidFill>
                  <a:srgbClr val="C00000"/>
                </a:solidFill>
                <a:latin typeface="Ink Free" panose="03080402000500000000" pitchFamily="66" charset="0"/>
              </a:rPr>
              <a:t> (VA) et les taux d'intérêt sont </a:t>
            </a:r>
            <a:r>
              <a:rPr lang="en-US" sz="1600" b="1" u="sng" dirty="0">
                <a:solidFill>
                  <a:srgbClr val="C00000"/>
                </a:solidFill>
                <a:latin typeface="Ink Free" panose="03080402000500000000" pitchFamily="66" charset="0"/>
              </a:rPr>
              <a:t>inversement </a:t>
            </a:r>
            <a:r>
              <a:rPr lang="en-US" sz="1600" b="1" u="sng" dirty="0" err="1">
                <a:solidFill>
                  <a:srgbClr val="C00000"/>
                </a:solidFill>
                <a:latin typeface="Ink Free" panose="03080402000500000000" pitchFamily="66" charset="0"/>
              </a:rPr>
              <a:t>proportionnels</a:t>
            </a:r>
            <a:r>
              <a:rPr lang="en-US" sz="1600" dirty="0">
                <a:solidFill>
                  <a:srgbClr val="C00000"/>
                </a:solidFill>
                <a:latin typeface="Ink Free" panose="03080402000500000000" pitchFamily="66" charset="0"/>
              </a:rPr>
              <a:t>.</a:t>
            </a:r>
          </a:p>
        </p:txBody>
      </p:sp>
      <p:pic>
        <p:nvPicPr>
          <p:cNvPr id="2050" name="Picture 2" descr="Threat ">
            <a:extLst>
              <a:ext uri="{FF2B5EF4-FFF2-40B4-BE49-F238E27FC236}">
                <a16:creationId xmlns:a16="http://schemas.microsoft.com/office/drawing/2014/main" id="{3E7489F5-5D93-FC08-16AF-638A92611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6" y="5277807"/>
            <a:ext cx="1106848" cy="110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074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rgbClr val="FF0000"/>
                </a:solidFill>
              </a:rPr>
              <a:t>Que sont les annuités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35361" y="960054"/>
            <a:ext cx="11665295" cy="4905766"/>
          </a:xfrm>
        </p:spPr>
        <p:txBody>
          <a:bodyPr>
            <a:noAutofit/>
          </a:bodyPr>
          <a:lstStyle/>
          <a:p>
            <a:pPr>
              <a:buNone/>
            </a:pPr>
            <a:endParaRPr lang="fr-CA" sz="2200" dirty="0"/>
          </a:p>
          <a:p>
            <a:r>
              <a:rPr lang="fr-CA" sz="2200" dirty="0"/>
              <a:t>Série </a:t>
            </a:r>
            <a:r>
              <a:rPr lang="fr-CA" sz="2200" b="1" dirty="0"/>
              <a:t>finie </a:t>
            </a:r>
            <a:r>
              <a:rPr lang="fr-CA" sz="2200" dirty="0"/>
              <a:t>de paiements </a:t>
            </a:r>
            <a:r>
              <a:rPr lang="fr-CA" sz="2200" b="1" dirty="0"/>
              <a:t>égaux</a:t>
            </a:r>
            <a:r>
              <a:rPr lang="fr-CA" sz="2200" dirty="0"/>
              <a:t> – versés ou reçus – qui ont lieu à </a:t>
            </a:r>
            <a:r>
              <a:rPr lang="fr-CA" sz="2200" b="1" dirty="0"/>
              <a:t>intervalles réguliers</a:t>
            </a:r>
            <a:r>
              <a:rPr lang="fr-CA" sz="2200" dirty="0"/>
              <a:t>, pendant une période donnée. </a:t>
            </a:r>
          </a:p>
          <a:p>
            <a:endParaRPr lang="fr-CA" sz="200" dirty="0"/>
          </a:p>
          <a:p>
            <a:pPr marL="731520" lvl="1" indent="-457200">
              <a:buFont typeface="+mj-lt"/>
              <a:buAutoNum type="arabicPeriod"/>
            </a:pPr>
            <a:r>
              <a:rPr lang="en-US" b="1" dirty="0" err="1"/>
              <a:t>annuité</a:t>
            </a:r>
            <a:r>
              <a:rPr lang="en-US" b="1" dirty="0"/>
              <a:t> ordinaire : </a:t>
            </a:r>
            <a:r>
              <a:rPr lang="en-US" dirty="0"/>
              <a:t>les paiements sont effectués à la </a:t>
            </a:r>
            <a:r>
              <a:rPr lang="en-US" b="1" dirty="0"/>
              <a:t>fin </a:t>
            </a:r>
            <a:r>
              <a:rPr lang="en-US" dirty="0"/>
              <a:t>de chaque période.</a:t>
            </a:r>
            <a:endParaRPr lang="en-US" altLang="en-US" b="1" dirty="0"/>
          </a:p>
          <a:p>
            <a:pPr lvl="1"/>
            <a:endParaRPr lang="en-US" altLang="en-US" b="1" dirty="0"/>
          </a:p>
          <a:p>
            <a:pPr lvl="1"/>
            <a:endParaRPr lang="en-US" altLang="en-US" b="1" dirty="0"/>
          </a:p>
          <a:p>
            <a:pPr marL="731520" lvl="1" indent="-457200">
              <a:buFont typeface="+mj-lt"/>
              <a:buAutoNum type="arabicPeriod" startAt="2"/>
            </a:pPr>
            <a:r>
              <a:rPr lang="en-US" b="1" dirty="0" err="1"/>
              <a:t>annuité</a:t>
            </a:r>
            <a:r>
              <a:rPr lang="en-US" b="1" dirty="0"/>
              <a:t> de début de </a:t>
            </a:r>
            <a:r>
              <a:rPr lang="en-US" b="1" dirty="0" err="1"/>
              <a:t>période</a:t>
            </a:r>
            <a:r>
              <a:rPr lang="en-US" b="1" dirty="0"/>
              <a:t>: </a:t>
            </a:r>
            <a:r>
              <a:rPr lang="en-US" dirty="0"/>
              <a:t>les paiements sont effectués au </a:t>
            </a:r>
            <a:r>
              <a:rPr lang="en-US" b="1" dirty="0"/>
              <a:t>début </a:t>
            </a:r>
            <a:r>
              <a:rPr lang="en-US" dirty="0"/>
              <a:t>de chaque période.</a:t>
            </a:r>
            <a:endParaRPr lang="en-US" altLang="en-US" b="1" dirty="0"/>
          </a:p>
          <a:p>
            <a:pPr lvl="1"/>
            <a:endParaRPr lang="en-US" altLang="en-US" b="1" dirty="0"/>
          </a:p>
          <a:p>
            <a:pPr lvl="1"/>
            <a:endParaRPr lang="en-US" altLang="en-US" b="1" dirty="0"/>
          </a:p>
          <a:p>
            <a:pPr marL="731520" lvl="1" indent="-457200">
              <a:buFont typeface="+mj-lt"/>
              <a:buAutoNum type="arabicPeriod" startAt="3"/>
            </a:pPr>
            <a:r>
              <a:rPr lang="en-US" b="1" dirty="0" err="1"/>
              <a:t>annuité</a:t>
            </a:r>
            <a:r>
              <a:rPr lang="en-US" b="1" dirty="0"/>
              <a:t> différée : </a:t>
            </a:r>
            <a:r>
              <a:rPr lang="en-US" dirty="0"/>
              <a:t>les paiements commencent </a:t>
            </a:r>
            <a:r>
              <a:rPr lang="en-US" b="1" dirty="0"/>
              <a:t>après un délai</a:t>
            </a:r>
            <a:r>
              <a:rPr lang="en-US" dirty="0"/>
              <a:t>, et non lors de la première période.</a:t>
            </a:r>
            <a:endParaRPr lang="en-US" altLang="en-US" b="1" dirty="0"/>
          </a:p>
          <a:p>
            <a:pPr lvl="1"/>
            <a:endParaRPr lang="en-US" b="1" dirty="0"/>
          </a:p>
          <a:p>
            <a:pPr lvl="1"/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898825" y="967298"/>
            <a:ext cx="457200" cy="441325"/>
          </a:xfrm>
        </p:spPr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5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cxnSp>
        <p:nvCxnSpPr>
          <p:cNvPr id="8" name="Straight Arrow Connector 22">
            <a:extLst>
              <a:ext uri="{FF2B5EF4-FFF2-40B4-BE49-F238E27FC236}">
                <a16:creationId xmlns:a16="http://schemas.microsoft.com/office/drawing/2014/main" id="{512662AC-32DB-421D-9AF8-1E456857F91D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>
          <a:xfrm>
            <a:off x="4151784" y="3062104"/>
            <a:ext cx="439248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4">
            <a:extLst>
              <a:ext uri="{FF2B5EF4-FFF2-40B4-BE49-F238E27FC236}">
                <a16:creationId xmlns:a16="http://schemas.microsoft.com/office/drawing/2014/main" id="{02098AC9-9382-47D2-8816-2B4E3EDDF855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 rot="5400000" flipH="1" flipV="1">
            <a:off x="4579184" y="3072960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4">
            <a:extLst>
              <a:ext uri="{FF2B5EF4-FFF2-40B4-BE49-F238E27FC236}">
                <a16:creationId xmlns:a16="http://schemas.microsoft.com/office/drawing/2014/main" id="{9DCEE994-51EB-42E7-BBC6-7180B2F039A8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 rot="5400000" flipH="1" flipV="1">
            <a:off x="5492490" y="3081669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4">
            <a:extLst>
              <a:ext uri="{FF2B5EF4-FFF2-40B4-BE49-F238E27FC236}">
                <a16:creationId xmlns:a16="http://schemas.microsoft.com/office/drawing/2014/main" id="{C85942C0-0DC2-48E1-8C3E-E293EC7F8DE9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 rot="5400000" flipH="1" flipV="1">
            <a:off x="6379384" y="3072960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4">
            <a:extLst>
              <a:ext uri="{FF2B5EF4-FFF2-40B4-BE49-F238E27FC236}">
                <a16:creationId xmlns:a16="http://schemas.microsoft.com/office/drawing/2014/main" id="{3AE27C5C-8669-4510-9052-735DA3DC2E84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 rot="5400000" flipH="1" flipV="1">
            <a:off x="7315488" y="3062104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4">
            <a:extLst>
              <a:ext uri="{FF2B5EF4-FFF2-40B4-BE49-F238E27FC236}">
                <a16:creationId xmlns:a16="http://schemas.microsoft.com/office/drawing/2014/main" id="{12248129-8D31-4E6B-A14B-F21494FC84F0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 rot="5400000" flipH="1" flipV="1">
            <a:off x="8179584" y="3062104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22">
            <a:extLst>
              <a:ext uri="{FF2B5EF4-FFF2-40B4-BE49-F238E27FC236}">
                <a16:creationId xmlns:a16="http://schemas.microsoft.com/office/drawing/2014/main" id="{02513693-3989-4D6F-B057-71487491B0DD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>
          <a:xfrm>
            <a:off x="4151784" y="4502264"/>
            <a:ext cx="439248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4">
            <a:extLst>
              <a:ext uri="{FF2B5EF4-FFF2-40B4-BE49-F238E27FC236}">
                <a16:creationId xmlns:a16="http://schemas.microsoft.com/office/drawing/2014/main" id="{C46168CE-D8B2-4AA3-B4F3-8A6606E2643A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 rot="5400000" flipH="1" flipV="1">
            <a:off x="4579184" y="4513120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4">
            <a:extLst>
              <a:ext uri="{FF2B5EF4-FFF2-40B4-BE49-F238E27FC236}">
                <a16:creationId xmlns:a16="http://schemas.microsoft.com/office/drawing/2014/main" id="{466BA063-018A-4E26-B1DA-C88155D5E2BA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 rot="5400000" flipH="1" flipV="1">
            <a:off x="5492490" y="4521829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14">
            <a:extLst>
              <a:ext uri="{FF2B5EF4-FFF2-40B4-BE49-F238E27FC236}">
                <a16:creationId xmlns:a16="http://schemas.microsoft.com/office/drawing/2014/main" id="{A571FA0B-23B4-4E24-9316-EF60485E516C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 rot="5400000" flipH="1" flipV="1">
            <a:off x="6379384" y="4513120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14">
            <a:extLst>
              <a:ext uri="{FF2B5EF4-FFF2-40B4-BE49-F238E27FC236}">
                <a16:creationId xmlns:a16="http://schemas.microsoft.com/office/drawing/2014/main" id="{7460E3D6-6607-4B7E-8A52-A8F3BEE413B6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 rot="5400000" flipH="1" flipV="1">
            <a:off x="7315488" y="4502264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14">
            <a:extLst>
              <a:ext uri="{FF2B5EF4-FFF2-40B4-BE49-F238E27FC236}">
                <a16:creationId xmlns:a16="http://schemas.microsoft.com/office/drawing/2014/main" id="{A85BB4D1-88D8-465A-91ED-0F41458CA55D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 rot="5400000" flipH="1" flipV="1">
            <a:off x="8179584" y="4502264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2">
            <a:extLst>
              <a:ext uri="{FF2B5EF4-FFF2-40B4-BE49-F238E27FC236}">
                <a16:creationId xmlns:a16="http://schemas.microsoft.com/office/drawing/2014/main" id="{F8863A21-686F-41D6-8C5F-31D6EA202395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>
          <a:xfrm>
            <a:off x="4102536" y="6021288"/>
            <a:ext cx="444173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14">
            <a:extLst>
              <a:ext uri="{FF2B5EF4-FFF2-40B4-BE49-F238E27FC236}">
                <a16:creationId xmlns:a16="http://schemas.microsoft.com/office/drawing/2014/main" id="{973F1D37-ACDE-40E3-84E0-DF671149B8B3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 rot="5400000" flipH="1" flipV="1">
            <a:off x="4529936" y="6032144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14">
            <a:extLst>
              <a:ext uri="{FF2B5EF4-FFF2-40B4-BE49-F238E27FC236}">
                <a16:creationId xmlns:a16="http://schemas.microsoft.com/office/drawing/2014/main" id="{DC394D38-BC48-426C-9507-845491C09DEE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 rot="5400000" flipH="1" flipV="1">
            <a:off x="5443242" y="6040853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14">
            <a:extLst>
              <a:ext uri="{FF2B5EF4-FFF2-40B4-BE49-F238E27FC236}">
                <a16:creationId xmlns:a16="http://schemas.microsoft.com/office/drawing/2014/main" id="{DEB55CE9-FE57-4AA8-8F41-09625264E371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 rot="5400000" flipH="1" flipV="1">
            <a:off x="6330136" y="6032144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14">
            <a:extLst>
              <a:ext uri="{FF2B5EF4-FFF2-40B4-BE49-F238E27FC236}">
                <a16:creationId xmlns:a16="http://schemas.microsoft.com/office/drawing/2014/main" id="{F48403AA-EF37-4522-A6D1-C91543035491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 rot="5400000" flipH="1" flipV="1">
            <a:off x="7266240" y="6021288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14">
            <a:extLst>
              <a:ext uri="{FF2B5EF4-FFF2-40B4-BE49-F238E27FC236}">
                <a16:creationId xmlns:a16="http://schemas.microsoft.com/office/drawing/2014/main" id="{FB3BDA2C-5A40-4C67-AC47-DF56EA592B71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 rot="5400000" flipH="1" flipV="1">
            <a:off x="8130336" y="6021288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474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C1097D-4F9C-9EE9-42FD-1AE6F5B5057D}"/>
              </a:ext>
            </a:extLst>
          </p:cNvPr>
          <p:cNvSpPr/>
          <p:nvPr/>
        </p:nvSpPr>
        <p:spPr>
          <a:xfrm>
            <a:off x="1751156" y="2034644"/>
            <a:ext cx="3950008" cy="10910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3DED7E-6520-A6FC-2B54-D672F4D023E8}"/>
              </a:ext>
            </a:extLst>
          </p:cNvPr>
          <p:cNvSpPr/>
          <p:nvPr/>
        </p:nvSpPr>
        <p:spPr>
          <a:xfrm>
            <a:off x="1751155" y="3861047"/>
            <a:ext cx="3950007" cy="103774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Annuités </a:t>
            </a:r>
            <a:r>
              <a:rPr lang="fr-CA" u="sng" dirty="0"/>
              <a:t>ordinaires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842808" y="5703746"/>
            <a:ext cx="591245" cy="123120"/>
          </a:xfrm>
        </p:spPr>
        <p:txBody>
          <a:bodyPr>
            <a:normAutofit fontScale="55000" lnSpcReduction="20000"/>
          </a:bodyPr>
          <a:lstStyle/>
          <a:p>
            <a:pPr algn="r" defTabSz="685800" fontAlgn="auto">
              <a:spcBef>
                <a:spcPts val="0"/>
              </a:spcBef>
              <a:spcAft>
                <a:spcPts val="0"/>
              </a:spcAft>
              <a:defRPr/>
            </a:pPr>
            <a:fld id="{EA019D1F-2BC9-41FA-953B-C3256200C508}" type="slidenum">
              <a:rPr lang="fr-CA" sz="452">
                <a:solidFill>
                  <a:srgbClr val="8CADAE">
                    <a:shade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defTabSz="685800" fontAlgn="auto">
                <a:spcBef>
                  <a:spcPts val="0"/>
                </a:spcBef>
                <a:spcAft>
                  <a:spcPts val="0"/>
                </a:spcAft>
                <a:defRPr/>
              </a:pPr>
              <a:t>6</a:t>
            </a:fld>
            <a:endParaRPr lang="fr-CA" sz="452">
              <a:solidFill>
                <a:srgbClr val="8CADAE">
                  <a:shade val="7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A3A473-6DAF-47DD-979C-C74B98EEDD8D}"/>
              </a:ext>
            </a:extLst>
          </p:cNvPr>
          <p:cNvSpPr/>
          <p:nvPr/>
        </p:nvSpPr>
        <p:spPr>
          <a:xfrm>
            <a:off x="1029898" y="4974696"/>
            <a:ext cx="5661721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defRPr/>
            </a:pPr>
            <a:r>
              <a:rPr lang="fr-FR" sz="1600" kern="0" dirty="0">
                <a:solidFill>
                  <a:srgbClr val="1F497D"/>
                </a:solidFill>
                <a:latin typeface="+mj-lt"/>
                <a:cs typeface="Arial" panose="020B0604020202020204" pitchFamily="34" charset="0"/>
              </a:rPr>
              <a:t>VFA : valeur future de la annuité </a:t>
            </a:r>
          </a:p>
          <a:p>
            <a:pPr algn="ctr" defTabSz="685800" fontAlgn="auto"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defRPr/>
            </a:pPr>
            <a:r>
              <a:rPr lang="fr-FR" sz="1600" kern="0" dirty="0">
                <a:solidFill>
                  <a:srgbClr val="1F497D"/>
                </a:solidFill>
                <a:latin typeface="+mj-lt"/>
                <a:cs typeface="Arial" panose="020B0604020202020204" pitchFamily="34" charset="0"/>
              </a:rPr>
              <a:t>VAA : valeur actuelle de la annuité </a:t>
            </a:r>
          </a:p>
          <a:p>
            <a:pPr algn="ctr" defTabSz="685800" fontAlgn="auto"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defRPr/>
            </a:pPr>
            <a:r>
              <a:rPr lang="fr-FR" sz="1600" kern="0" dirty="0">
                <a:solidFill>
                  <a:srgbClr val="1F497D"/>
                </a:solidFill>
                <a:latin typeface="+mj-lt"/>
                <a:cs typeface="Arial" panose="020B0604020202020204" pitchFamily="34" charset="0"/>
              </a:rPr>
              <a:t>PMT : flux monétaire constant</a:t>
            </a:r>
          </a:p>
          <a:p>
            <a:pPr algn="ctr" defTabSz="685800" fontAlgn="auto"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defRPr/>
            </a:pPr>
            <a:r>
              <a:rPr lang="fr-FR" sz="1600" kern="0" dirty="0">
                <a:solidFill>
                  <a:srgbClr val="1F497D"/>
                </a:solidFill>
                <a:latin typeface="+mj-lt"/>
                <a:cs typeface="Arial" panose="020B0604020202020204" pitchFamily="34" charset="0"/>
              </a:rPr>
              <a:t>r : taux de rendement </a:t>
            </a:r>
            <a:r>
              <a:rPr lang="fr-FR" sz="1600" b="1" u="sng" kern="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périodique </a:t>
            </a:r>
            <a:r>
              <a:rPr lang="fr-FR" sz="1600" b="1" kern="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fr-FR" sz="1600" kern="0" dirty="0">
                <a:solidFill>
                  <a:srgbClr val="1F497D"/>
                </a:solidFill>
                <a:latin typeface="+mj-lt"/>
                <a:cs typeface="Arial" panose="020B0604020202020204" pitchFamily="34" charset="0"/>
              </a:rPr>
              <a:t>(ou noté k, i "I/Y") </a:t>
            </a:r>
            <a:r>
              <a:rPr lang="fr-FR" sz="1600" b="1" u="sng" kern="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 </a:t>
            </a:r>
          </a:p>
          <a:p>
            <a:pPr algn="ctr" defTabSz="685800" fontAlgn="auto"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defRPr/>
            </a:pPr>
            <a:r>
              <a:rPr lang="fr-FR" sz="1600" kern="0" dirty="0">
                <a:solidFill>
                  <a:srgbClr val="1F497D"/>
                </a:solidFill>
                <a:latin typeface="+mj-lt"/>
                <a:cs typeface="Arial" panose="020B0604020202020204" pitchFamily="34" charset="0"/>
              </a:rPr>
              <a:t>t : nombre de </a:t>
            </a:r>
            <a:r>
              <a:rPr lang="fr-FR" sz="1600" b="1" u="sng" kern="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paiements</a:t>
            </a:r>
            <a:r>
              <a:rPr lang="fr-FR" sz="1600" b="1" kern="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   </a:t>
            </a:r>
            <a:r>
              <a:rPr lang="fr-FR" sz="1600" kern="0" dirty="0">
                <a:solidFill>
                  <a:srgbClr val="1F497D"/>
                </a:solidFill>
                <a:latin typeface="+mj-lt"/>
                <a:cs typeface="Arial" panose="020B0604020202020204" pitchFamily="34" charset="0"/>
              </a:rPr>
              <a:t>(ou noté « n »)</a:t>
            </a:r>
            <a:endParaRPr lang="fr-FR" sz="1600" b="1" u="sng" kern="0" dirty="0">
              <a:solidFill>
                <a:srgbClr val="FF0000"/>
              </a:solidFill>
              <a:latin typeface="+mj-lt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E6B281A-0E02-4792-B230-8F5166EA9BC7}"/>
                  </a:ext>
                </a:extLst>
              </p:cNvPr>
              <p:cNvSpPr/>
              <p:nvPr/>
            </p:nvSpPr>
            <p:spPr>
              <a:xfrm>
                <a:off x="263352" y="1545647"/>
                <a:ext cx="6938700" cy="32493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05740" indent="-205740" defTabSz="685800" fontAlgn="auto">
                  <a:spcBef>
                    <a:spcPct val="20000"/>
                  </a:spcBef>
                  <a:spcAft>
                    <a:spcPts val="0"/>
                  </a:spcAft>
                  <a:buClr>
                    <a:srgbClr val="4F81BD"/>
                  </a:buClr>
                  <a:buSzPct val="85000"/>
                  <a:buFont typeface="Wingdings 2"/>
                  <a:buChar char=""/>
                  <a:defRPr/>
                </a:pPr>
                <a:r>
                  <a:rPr lang="fr-CA" sz="2000" b="1" dirty="0">
                    <a:solidFill>
                      <a:prstClr val="black"/>
                    </a:solidFill>
                    <a:latin typeface="+mj-lt"/>
                    <a:cs typeface="Arial" panose="020B0604020202020204" pitchFamily="34" charset="0"/>
                  </a:rPr>
                  <a:t>Capitalisation : </a:t>
                </a:r>
              </a:p>
              <a:p>
                <a:pPr defTabSz="685800" fontAlgn="auto">
                  <a:spcBef>
                    <a:spcPct val="20000"/>
                  </a:spcBef>
                  <a:spcAft>
                    <a:spcPts val="0"/>
                  </a:spcAft>
                  <a:buClr>
                    <a:srgbClr val="4F81BD"/>
                  </a:buClr>
                  <a:buSzPct val="85000"/>
                  <a:defRPr/>
                </a:pPr>
                <a:r>
                  <a:rPr lang="fr-CA" sz="2000" b="1" dirty="0">
                    <a:solidFill>
                      <a:prstClr val="black"/>
                    </a:solidFill>
                    <a:latin typeface="+mj-lt"/>
                    <a:cs typeface="Arial" panose="020B0604020202020204" pitchFamily="34" charset="0"/>
                  </a:rPr>
                  <a:t> </a:t>
                </a:r>
              </a:p>
              <a:p>
                <a:pPr defTabSz="685800" fontAlgn="auto">
                  <a:spcBef>
                    <a:spcPct val="20000"/>
                  </a:spcBef>
                  <a:spcAft>
                    <a:spcPts val="0"/>
                  </a:spcAft>
                  <a:buClr>
                    <a:srgbClr val="4F81BD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0" smtClean="0">
                          <a:latin typeface="Cambria Math" panose="02040503050406030204" pitchFamily="18" charset="0"/>
                        </a:rPr>
                        <m:t>𝐕</m:t>
                      </m:r>
                      <m:r>
                        <a:rPr lang="en-CA" sz="2000" b="1" i="0" smtClean="0">
                          <a:latin typeface="Cambria Math" panose="02040503050406030204" pitchFamily="18" charset="0"/>
                        </a:rPr>
                        <m:t>𝐅𝐀</m:t>
                      </m:r>
                      <m:r>
                        <a:rPr lang="fr-CA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CA" sz="2000" b="1" i="1" smtClean="0">
                          <a:latin typeface="Cambria Math" panose="02040503050406030204" pitchFamily="18" charset="0"/>
                        </a:rPr>
                        <m:t>𝑷𝑴𝑻</m:t>
                      </m:r>
                      <m:r>
                        <a:rPr lang="fr-CA" sz="2000" b="1" i="1" smtClean="0">
                          <a:latin typeface="Cambria Math" panose="02040503050406030204" pitchFamily="18" charset="0"/>
                        </a:rPr>
                        <m:t> ∗ </m:t>
                      </m:r>
                      <m:d>
                        <m:dPr>
                          <m:begChr m:val="["/>
                          <m:endChr m:val="]"/>
                          <m:ctrlPr>
                            <a:rPr lang="fr-CA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CA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fr-CA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CA" sz="2000" b="1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fr-CA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fr-CA" sz="20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CA" sz="2000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fr-CA" sz="2000" b="1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fr-CA" sz="2000" b="1" i="1" smtClean="0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p>
                              <m:r>
                                <a:rPr lang="fr-CA" sz="2000" b="1" i="1" smtClean="0">
                                  <a:latin typeface="Cambria Math" panose="02040503050406030204" pitchFamily="18" charset="0"/>
                                </a:rPr>
                                <m:t> −  </m:t>
                              </m:r>
                              <m:r>
                                <a:rPr lang="fr-CA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fr-CA" sz="2000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fr-CA" sz="2000" b="1" dirty="0">
                  <a:solidFill>
                    <a:srgbClr val="FF0000"/>
                  </a:solidFill>
                  <a:latin typeface="+mj-lt"/>
                  <a:cs typeface="Arial" panose="020B0604020202020204" pitchFamily="34" charset="0"/>
                </a:endParaRPr>
              </a:p>
              <a:p>
                <a:pPr marL="205740" indent="-205740" defTabSz="685800" fontAlgn="auto">
                  <a:spcBef>
                    <a:spcPct val="20000"/>
                  </a:spcBef>
                  <a:spcAft>
                    <a:spcPts val="0"/>
                  </a:spcAft>
                  <a:buClr>
                    <a:srgbClr val="4F81BD"/>
                  </a:buClr>
                  <a:buSzPct val="85000"/>
                  <a:buFont typeface="Wingdings 2"/>
                  <a:buChar char=""/>
                  <a:defRPr/>
                </a:pPr>
                <a:endParaRPr lang="fr-CA" sz="2000" b="1" dirty="0">
                  <a:solidFill>
                    <a:srgbClr val="FF0000"/>
                  </a:solidFill>
                  <a:latin typeface="+mj-lt"/>
                  <a:cs typeface="Arial" panose="020B0604020202020204" pitchFamily="34" charset="0"/>
                </a:endParaRPr>
              </a:p>
              <a:p>
                <a:pPr marL="205740" indent="-205740" defTabSz="685800" fontAlgn="auto">
                  <a:spcBef>
                    <a:spcPct val="20000"/>
                  </a:spcBef>
                  <a:spcAft>
                    <a:spcPts val="0"/>
                  </a:spcAft>
                  <a:buClr>
                    <a:srgbClr val="4F81BD"/>
                  </a:buClr>
                  <a:buSzPct val="85000"/>
                  <a:buFont typeface="Wingdings 2"/>
                  <a:buChar char=""/>
                  <a:defRPr/>
                </a:pPr>
                <a:r>
                  <a:rPr lang="fr-CA" sz="2000" b="1" dirty="0">
                    <a:solidFill>
                      <a:prstClr val="black"/>
                    </a:solidFill>
                    <a:latin typeface="+mj-lt"/>
                    <a:cs typeface="Arial" panose="020B0604020202020204" pitchFamily="34" charset="0"/>
                  </a:rPr>
                  <a:t>Actualisation :</a:t>
                </a:r>
              </a:p>
              <a:p>
                <a:pPr algn="ctr" defTabSz="685800" fontAlgn="auto">
                  <a:spcBef>
                    <a:spcPct val="20000"/>
                  </a:spcBef>
                  <a:spcAft>
                    <a:spcPts val="0"/>
                  </a:spcAft>
                  <a:buClr>
                    <a:srgbClr val="4F81BD"/>
                  </a:buClr>
                  <a:buSzPct val="85000"/>
                  <a:defRPr/>
                </a:pPr>
                <a:endParaRPr lang="fr-CA" sz="2000" b="1" dirty="0">
                  <a:solidFill>
                    <a:prstClr val="black"/>
                  </a:solidFill>
                  <a:latin typeface="+mj-lt"/>
                  <a:cs typeface="Arial" panose="020B0604020202020204" pitchFamily="34" charset="0"/>
                </a:endParaRPr>
              </a:p>
              <a:p>
                <a:pPr algn="ctr" defTabSz="685800" fontAlgn="auto">
                  <a:spcBef>
                    <a:spcPct val="20000"/>
                  </a:spcBef>
                  <a:spcAft>
                    <a:spcPts val="0"/>
                  </a:spcAft>
                  <a:buClr>
                    <a:srgbClr val="4F81BD"/>
                  </a:buClr>
                  <a:buSzPct val="85000"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latin typeface="Cambria Math" panose="02040503050406030204" pitchFamily="18" charset="0"/>
                        </a:rPr>
                        <m:t>𝐕𝐀</m:t>
                      </m:r>
                      <m:r>
                        <a:rPr lang="en-CA" sz="2000" b="1" i="0" smtClean="0">
                          <a:latin typeface="Cambria Math" panose="02040503050406030204" pitchFamily="18" charset="0"/>
                        </a:rPr>
                        <m:t>𝐀</m:t>
                      </m:r>
                      <m:r>
                        <a:rPr lang="fr-CA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CA" sz="2000" b="1" i="1" smtClean="0">
                          <a:latin typeface="Cambria Math" panose="02040503050406030204" pitchFamily="18" charset="0"/>
                        </a:rPr>
                        <m:t>𝑷𝑴𝑻</m:t>
                      </m:r>
                      <m:r>
                        <a:rPr lang="fr-CA" sz="2000" b="1" i="1" smtClean="0">
                          <a:latin typeface="Cambria Math" panose="02040503050406030204" pitchFamily="18" charset="0"/>
                        </a:rPr>
                        <m:t> ∗ </m:t>
                      </m:r>
                      <m:d>
                        <m:dPr>
                          <m:begChr m:val="["/>
                          <m:endChr m:val="]"/>
                          <m:ctrlPr>
                            <a:rPr lang="fr-CA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CA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CA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fr-CA" sz="2000" b="1" i="1" smtClean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sSup>
                                <m:sSupPr>
                                  <m:ctrlPr>
                                    <a:rPr lang="fr-CA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CA" sz="2000" b="1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fr-CA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fr-CA" sz="20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CA" sz="2000" b="1" i="1" smtClean="0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fr-CA" sz="2000" b="1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fr-CA" sz="20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CA" sz="2000" b="1" i="1" smtClean="0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fr-CA" sz="2000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fr-CA" sz="2000" b="1" dirty="0">
                  <a:solidFill>
                    <a:srgbClr val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E6B281A-0E02-4792-B230-8F5166EA9B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52" y="1545647"/>
                <a:ext cx="6938700" cy="3249351"/>
              </a:xfrm>
              <a:prstGeom prst="rect">
                <a:avLst/>
              </a:prstGeom>
              <a:blipFill>
                <a:blip r:embed="rId3"/>
                <a:stretch>
                  <a:fillRect l="-879" t="-1313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bject 3">
            <a:extLst>
              <a:ext uri="{FF2B5EF4-FFF2-40B4-BE49-F238E27FC236}">
                <a16:creationId xmlns:a16="http://schemas.microsoft.com/office/drawing/2014/main" id="{BC545391-91E3-A18A-D2FE-59A82B656E15}"/>
              </a:ext>
            </a:extLst>
          </p:cNvPr>
          <p:cNvSpPr/>
          <p:nvPr/>
        </p:nvSpPr>
        <p:spPr>
          <a:xfrm>
            <a:off x="6816080" y="2276872"/>
            <a:ext cx="3745540" cy="10910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70EAFA2-AB36-EBCD-93C2-9EA938E86BAA}"/>
              </a:ext>
            </a:extLst>
          </p:cNvPr>
          <p:cNvSpPr/>
          <p:nvPr/>
        </p:nvSpPr>
        <p:spPr>
          <a:xfrm>
            <a:off x="6742523" y="4417327"/>
            <a:ext cx="3745540" cy="10910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2" descr="Down left ">
            <a:extLst>
              <a:ext uri="{FF2B5EF4-FFF2-40B4-BE49-F238E27FC236}">
                <a16:creationId xmlns:a16="http://schemas.microsoft.com/office/drawing/2014/main" id="{D570610F-E964-4492-12CC-F6B86A858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8863" y="489879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Upward arrow ">
            <a:extLst>
              <a:ext uri="{FF2B5EF4-FFF2-40B4-BE49-F238E27FC236}">
                <a16:creationId xmlns:a16="http://schemas.microsoft.com/office/drawing/2014/main" id="{39593EF8-B45D-E4B3-DDC3-AE06C61584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8320" y="2103293"/>
            <a:ext cx="923950" cy="92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FCE2B3-017E-671B-CB56-2890A7126C97}"/>
              </a:ext>
            </a:extLst>
          </p:cNvPr>
          <p:cNvSpPr txBox="1"/>
          <p:nvPr/>
        </p:nvSpPr>
        <p:spPr>
          <a:xfrm>
            <a:off x="6922461" y="2375152"/>
            <a:ext cx="35656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altLang="en-US" sz="2400" b="1" dirty="0">
                <a:latin typeface="+mj-lt"/>
              </a:rPr>
              <a:t>Capitalisation </a:t>
            </a:r>
            <a:r>
              <a:rPr lang="en-US" sz="2400" b="1" dirty="0">
                <a:solidFill>
                  <a:srgbClr val="C00000"/>
                </a:solidFill>
                <a:latin typeface="+mj-lt"/>
              </a:rPr>
              <a:t>L'argent fructifie 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BBA3FB-E802-724A-33A0-303CF8DE1643}"/>
              </a:ext>
            </a:extLst>
          </p:cNvPr>
          <p:cNvSpPr txBox="1"/>
          <p:nvPr/>
        </p:nvSpPr>
        <p:spPr>
          <a:xfrm>
            <a:off x="6640715" y="4483296"/>
            <a:ext cx="3800130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1" algn="ctr"/>
            <a:r>
              <a:rPr lang="en-US" altLang="en-US" sz="2400" b="1" dirty="0">
                <a:latin typeface="+mj-lt"/>
              </a:rPr>
              <a:t>Actualisation </a:t>
            </a:r>
            <a:r>
              <a:rPr lang="en-US" sz="2400" b="1" dirty="0" err="1">
                <a:solidFill>
                  <a:srgbClr val="C00000"/>
                </a:solidFill>
                <a:latin typeface="+mj-lt"/>
              </a:rPr>
              <a:t>L'argent</a:t>
            </a:r>
            <a:r>
              <a:rPr lang="en-US" sz="2400" b="1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+mj-lt"/>
              </a:rPr>
              <a:t>rapetisse</a:t>
            </a:r>
            <a:r>
              <a:rPr lang="en-US" sz="2400" b="1" dirty="0">
                <a:solidFill>
                  <a:srgbClr val="C00000"/>
                </a:solidFill>
                <a:latin typeface="+mj-lt"/>
              </a:rPr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3821575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511147-8112-6533-1765-23FE1091126E}"/>
              </a:ext>
            </a:extLst>
          </p:cNvPr>
          <p:cNvSpPr/>
          <p:nvPr/>
        </p:nvSpPr>
        <p:spPr>
          <a:xfrm>
            <a:off x="1751194" y="5517233"/>
            <a:ext cx="8723582" cy="10801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Que </a:t>
            </a:r>
            <a:r>
              <a:rPr lang="en-US" b="1" dirty="0" err="1">
                <a:solidFill>
                  <a:srgbClr val="FF0000"/>
                </a:solidFill>
              </a:rPr>
              <a:t>signifie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les formules ?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7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F3F74D-9CB7-4998-A460-AF8D1C4C339B}"/>
              </a:ext>
            </a:extLst>
          </p:cNvPr>
          <p:cNvSpPr txBox="1"/>
          <p:nvPr/>
        </p:nvSpPr>
        <p:spPr>
          <a:xfrm>
            <a:off x="1734210" y="5821756"/>
            <a:ext cx="8682271" cy="775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82880" algn="ctr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0000"/>
              <a:defRPr/>
            </a:pPr>
            <a:r>
              <a:rPr lang="en-US" altLang="en-US" dirty="0">
                <a:solidFill>
                  <a:schemeClr val="tx2"/>
                </a:solidFill>
              </a:rPr>
              <a:t>Le calcul de la </a:t>
            </a:r>
            <a:r>
              <a:rPr lang="en-US" altLang="en-US" b="1" dirty="0">
                <a:solidFill>
                  <a:schemeClr val="tx2"/>
                </a:solidFill>
              </a:rPr>
              <a:t>VFA </a:t>
            </a:r>
            <a:r>
              <a:rPr lang="en-US" altLang="en-US" dirty="0">
                <a:solidFill>
                  <a:schemeClr val="tx2"/>
                </a:solidFill>
              </a:rPr>
              <a:t>donne la valeur au moment du </a:t>
            </a:r>
            <a:r>
              <a:rPr lang="en-US" altLang="en-US" b="1" dirty="0">
                <a:solidFill>
                  <a:schemeClr val="tx2"/>
                </a:solidFill>
              </a:rPr>
              <a:t>dernier flux </a:t>
            </a:r>
            <a:r>
              <a:rPr lang="en-US" altLang="en-US" b="1" dirty="0" err="1">
                <a:solidFill>
                  <a:schemeClr val="tx2"/>
                </a:solidFill>
              </a:rPr>
              <a:t>monétaire</a:t>
            </a:r>
            <a:r>
              <a:rPr lang="en-US" altLang="en-US" b="1" dirty="0">
                <a:solidFill>
                  <a:schemeClr val="tx2"/>
                </a:solidFill>
              </a:rPr>
              <a:t>.</a:t>
            </a:r>
          </a:p>
          <a:p>
            <a:pPr indent="-182880" algn="ctr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70000"/>
              <a:defRPr/>
            </a:pPr>
            <a:r>
              <a:rPr lang="en-US" altLang="en-US" dirty="0">
                <a:solidFill>
                  <a:schemeClr val="tx2"/>
                </a:solidFill>
              </a:rPr>
              <a:t>Le calcul de la</a:t>
            </a:r>
            <a:r>
              <a:rPr lang="en-US" altLang="en-US" b="1" dirty="0">
                <a:solidFill>
                  <a:schemeClr val="tx2"/>
                </a:solidFill>
              </a:rPr>
              <a:t> VAA </a:t>
            </a:r>
            <a:r>
              <a:rPr lang="en-US" altLang="en-US" dirty="0" err="1">
                <a:solidFill>
                  <a:schemeClr val="tx2"/>
                </a:solidFill>
              </a:rPr>
              <a:t>donne</a:t>
            </a:r>
            <a:r>
              <a:rPr lang="en-US" altLang="en-US" dirty="0">
                <a:solidFill>
                  <a:schemeClr val="tx2"/>
                </a:solidFill>
              </a:rPr>
              <a:t> la valeur une période </a:t>
            </a:r>
            <a:r>
              <a:rPr lang="en-US" altLang="en-US" b="1" dirty="0">
                <a:solidFill>
                  <a:schemeClr val="tx2"/>
                </a:solidFill>
              </a:rPr>
              <a:t>avant le premier flux </a:t>
            </a:r>
            <a:r>
              <a:rPr lang="en-US" altLang="en-US" b="1" dirty="0" err="1">
                <a:solidFill>
                  <a:schemeClr val="tx2"/>
                </a:solidFill>
              </a:rPr>
              <a:t>monétaire</a:t>
            </a:r>
            <a:r>
              <a:rPr lang="en-US" altLang="en-US" b="1" dirty="0">
                <a:solidFill>
                  <a:schemeClr val="tx2"/>
                </a:solidFill>
              </a:rPr>
              <a:t>.</a:t>
            </a:r>
          </a:p>
          <a:p>
            <a:pPr marL="274320" indent="-274320">
              <a:spcBef>
                <a:spcPct val="20000"/>
              </a:spcBef>
              <a:buClr>
                <a:srgbClr val="4F81BD"/>
              </a:buClr>
              <a:buSzPct val="85000"/>
              <a:buFont typeface="Wingdings 2"/>
              <a:buChar char=""/>
              <a:defRPr/>
            </a:pPr>
            <a:endParaRPr lang="en-US" altLang="en-US" sz="1000" dirty="0">
              <a:solidFill>
                <a:prstClr val="black"/>
              </a:solidFill>
              <a:latin typeface="Georgia"/>
            </a:endParaRP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4E8509EB-7B72-C366-7D3A-22F634D0A922}"/>
              </a:ext>
            </a:extLst>
          </p:cNvPr>
          <p:cNvSpPr/>
          <p:nvPr/>
        </p:nvSpPr>
        <p:spPr>
          <a:xfrm>
            <a:off x="8832305" y="4663961"/>
            <a:ext cx="1608501" cy="1080120"/>
          </a:xfrm>
          <a:prstGeom prst="star5">
            <a:avLst/>
          </a:prstGeom>
          <a:solidFill>
            <a:srgbClr val="FF0000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BBDF418D-BD80-9C3B-B74D-51D5D29CCDBB}"/>
              </a:ext>
            </a:extLst>
          </p:cNvPr>
          <p:cNvSpPr/>
          <p:nvPr/>
        </p:nvSpPr>
        <p:spPr>
          <a:xfrm>
            <a:off x="1415481" y="4657801"/>
            <a:ext cx="1608501" cy="1080120"/>
          </a:xfrm>
          <a:prstGeom prst="star5">
            <a:avLst/>
          </a:prstGeom>
          <a:solidFill>
            <a:srgbClr val="FF0000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3074" name="Picture 2" descr="Important ">
            <a:extLst>
              <a:ext uri="{FF2B5EF4-FFF2-40B4-BE49-F238E27FC236}">
                <a16:creationId xmlns:a16="http://schemas.microsoft.com/office/drawing/2014/main" id="{B3451D03-E0A9-5FC4-BC50-9ED9524E5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954" y="116632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6055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AAACB81-FC38-463A-FBF3-B3AC511EF918}"/>
              </a:ext>
            </a:extLst>
          </p:cNvPr>
          <p:cNvSpPr/>
          <p:nvPr/>
        </p:nvSpPr>
        <p:spPr>
          <a:xfrm>
            <a:off x="1703512" y="4716650"/>
            <a:ext cx="8784976" cy="167552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57811" y="465829"/>
            <a:ext cx="7366592" cy="544669"/>
          </a:xfrm>
        </p:spPr>
        <p:txBody>
          <a:bodyPr>
            <a:normAutofit fontScale="90000"/>
          </a:bodyPr>
          <a:lstStyle/>
          <a:p>
            <a:r>
              <a:rPr lang="fr-CA" dirty="0">
                <a:solidFill>
                  <a:srgbClr val="FF0000"/>
                </a:solidFill>
              </a:rPr>
              <a:t>Exemple 1 : annuité ordinaire  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263353" y="1268760"/>
            <a:ext cx="5688634" cy="5360640"/>
          </a:xfrm>
        </p:spPr>
        <p:txBody>
          <a:bodyPr>
            <a:normAutofit/>
          </a:bodyPr>
          <a:lstStyle/>
          <a:p>
            <a:pPr marL="411480" indent="-285750">
              <a:spcBef>
                <a:spcPct val="0"/>
              </a:spcBef>
            </a:pPr>
            <a:endParaRPr lang="fr-CA" altLang="fr-FR" sz="2400" dirty="0">
              <a:latin typeface="+mj-lt"/>
            </a:endParaRPr>
          </a:p>
          <a:p>
            <a:pPr marL="125730" indent="0">
              <a:spcBef>
                <a:spcPct val="0"/>
              </a:spcBef>
              <a:buNone/>
            </a:pPr>
            <a:r>
              <a:rPr lang="en-US" sz="2000" dirty="0">
                <a:latin typeface="+mj-lt"/>
              </a:rPr>
              <a:t>En 2014, Warren Buffett a offert 1 milliard de dollars à toute personne capable de prédire correctement les résultats des 63 matchs du tournoi March Madness. </a:t>
            </a:r>
          </a:p>
          <a:p>
            <a:pPr marL="125730" indent="0">
              <a:spcBef>
                <a:spcPct val="0"/>
              </a:spcBef>
              <a:buNone/>
            </a:pPr>
            <a:endParaRPr lang="en-US" altLang="fr-FR" sz="2000" i="1" dirty="0">
              <a:latin typeface="+mj-lt"/>
            </a:endParaRPr>
          </a:p>
          <a:p>
            <a:pPr marL="125730" indent="0">
              <a:spcBef>
                <a:spcPct val="0"/>
              </a:spcBef>
              <a:buNone/>
            </a:pPr>
            <a:r>
              <a:rPr lang="en-GB" sz="1050" dirty="0">
                <a:latin typeface="+mj-lt"/>
                <a:hlinkClick r:id="rId3"/>
              </a:rPr>
              <a:t>https://www.forbes.com/sites/kellyphillipserb/2014/01/21/warren-buffett-offers-1-billion-for-perfect-march-madness-bracket/#2237611d100b</a:t>
            </a:r>
            <a:endParaRPr lang="fr-CA" altLang="fr-FR" sz="1050" dirty="0">
              <a:latin typeface="+mj-lt"/>
            </a:endParaRPr>
          </a:p>
          <a:p>
            <a:pPr marL="0" indent="0">
              <a:buNone/>
            </a:pPr>
            <a:endParaRPr lang="fr-CA" dirty="0">
              <a:latin typeface="+mj-lt"/>
            </a:endParaRPr>
          </a:p>
        </p:txBody>
      </p:sp>
      <p:pic>
        <p:nvPicPr>
          <p:cNvPr id="6" name="Picture 6" descr="Résultats de recherche d'images pour « march madness bracket 2014 »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5313" y="1548886"/>
            <a:ext cx="3799309" cy="2514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 2" descr="Capture d’écran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2" t="18514" r="54157" b="-4236"/>
          <a:stretch/>
        </p:blipFill>
        <p:spPr bwMode="auto">
          <a:xfrm>
            <a:off x="2207568" y="4755726"/>
            <a:ext cx="1485458" cy="1667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8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5EB190-2DB8-16E9-164E-4E1EC59FDA68}"/>
              </a:ext>
            </a:extLst>
          </p:cNvPr>
          <p:cNvSpPr txBox="1"/>
          <p:nvPr/>
        </p:nvSpPr>
        <p:spPr>
          <a:xfrm>
            <a:off x="3873525" y="4929400"/>
            <a:ext cx="62435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sz="1600" b="1" dirty="0"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🔎 </a:t>
            </a:r>
            <a:r>
              <a:rPr lang="en-US" sz="1600" dirty="0">
                <a:latin typeface="Ink Free" panose="03080402000500000000" pitchFamily="66" charset="0"/>
              </a:rPr>
              <a:t>Le défi d'un milliard de dollars était un événement unique. Bien que Buffett ait continué à proposer des défis liés aux pronostics, ceux-ci ont été plus restreints. Par exemple, ces dernières années, il a offert des prix en espèces aux employés de sa société, Berkshire Hathaway, qui avaient correctement pronostiqué les résultats.</a:t>
            </a:r>
            <a:endParaRPr lang="fr-CA" sz="1600" dirty="0">
              <a:latin typeface="Ink Free" panose="03080402000500000000" pitchFamily="66" charset="0"/>
            </a:endParaRPr>
          </a:p>
        </p:txBody>
      </p:sp>
      <p:pic>
        <p:nvPicPr>
          <p:cNvPr id="4098" name="Picture 2" descr="Critical ">
            <a:extLst>
              <a:ext uri="{FF2B5EF4-FFF2-40B4-BE49-F238E27FC236}">
                <a16:creationId xmlns:a16="http://schemas.microsoft.com/office/drawing/2014/main" id="{E01BAC82-E34D-DAF2-ABAD-DEC39818A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4512" y="4174138"/>
            <a:ext cx="525717" cy="525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B321B3-F359-9881-F92A-41DA6954FE56}"/>
              </a:ext>
            </a:extLst>
          </p:cNvPr>
          <p:cNvSpPr txBox="1"/>
          <p:nvPr/>
        </p:nvSpPr>
        <p:spPr>
          <a:xfrm>
            <a:off x="6684015" y="4267720"/>
            <a:ext cx="41106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 err="1">
                <a:solidFill>
                  <a:srgbClr val="0F8D36"/>
                </a:solidFill>
                <a:latin typeface="Ink Free" panose="03080402000500000000" pitchFamily="66" charset="0"/>
              </a:rPr>
              <a:t>Probabilité</a:t>
            </a:r>
            <a:r>
              <a:rPr lang="en-US" sz="1600" dirty="0">
                <a:solidFill>
                  <a:srgbClr val="0F8D36"/>
                </a:solidFill>
                <a:latin typeface="Ink Free" panose="03080402000500000000" pitchFamily="66" charset="0"/>
              </a:rPr>
              <a:t> de </a:t>
            </a:r>
            <a:r>
              <a:rPr lang="en-US" sz="1600" dirty="0" err="1">
                <a:solidFill>
                  <a:srgbClr val="0F8D36"/>
                </a:solidFill>
                <a:latin typeface="Ink Free" panose="03080402000500000000" pitchFamily="66" charset="0"/>
              </a:rPr>
              <a:t>réussite</a:t>
            </a:r>
            <a:r>
              <a:rPr lang="en-US" sz="1600" dirty="0">
                <a:solidFill>
                  <a:srgbClr val="0F8D36"/>
                </a:solidFill>
                <a:latin typeface="Ink Free" panose="03080402000500000000" pitchFamily="66" charset="0"/>
              </a:rPr>
              <a:t> ??? 1 / 770 million !!!</a:t>
            </a:r>
            <a:endParaRPr lang="fr-CA" sz="1600" dirty="0">
              <a:solidFill>
                <a:srgbClr val="0F8D36"/>
              </a:solidFill>
            </a:endParaRPr>
          </a:p>
        </p:txBody>
      </p:sp>
      <p:pic>
        <p:nvPicPr>
          <p:cNvPr id="13" name="Picture 2" descr="Identification ">
            <a:extLst>
              <a:ext uri="{FF2B5EF4-FFF2-40B4-BE49-F238E27FC236}">
                <a16:creationId xmlns:a16="http://schemas.microsoft.com/office/drawing/2014/main" id="{2F389211-1211-903A-8121-977180D06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353782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2339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2800" dirty="0">
                <a:solidFill>
                  <a:schemeClr val="tx2"/>
                </a:solidFill>
              </a:rPr>
              <a:t>Exemple 1 </a:t>
            </a:r>
            <a:r>
              <a:rPr lang="fr-CA" sz="2800" b="1" dirty="0">
                <a:solidFill>
                  <a:schemeClr val="tx2"/>
                </a:solidFill>
              </a:rPr>
              <a:t>(suite)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59423" indent="-342900" algn="just">
              <a:spcBef>
                <a:spcPct val="0"/>
              </a:spcBef>
            </a:pPr>
            <a:r>
              <a:rPr lang="fr-CA" altLang="fr-FR" sz="2500" dirty="0"/>
              <a:t>Le gagnant pourra choisir l'une des deux options suivantes pour réclamer son prix :</a:t>
            </a:r>
          </a:p>
          <a:p>
            <a:pPr marL="125730" indent="0" algn="just">
              <a:spcBef>
                <a:spcPct val="0"/>
              </a:spcBef>
              <a:buNone/>
            </a:pPr>
            <a:endParaRPr lang="fr-CA" altLang="fr-FR" sz="2000" dirty="0"/>
          </a:p>
          <a:p>
            <a:pPr marL="733743" lvl="1" indent="-342900" algn="just">
              <a:spcBef>
                <a:spcPct val="0"/>
              </a:spcBef>
              <a:buFont typeface="Georgia" panose="02040502050405020303" pitchFamily="18" charset="0"/>
              <a:buAutoNum type="arabicPeriod"/>
            </a:pPr>
            <a:r>
              <a:rPr lang="fr-CA" altLang="fr-FR" sz="2000" dirty="0"/>
              <a:t>Recevoir 40 versements annuels de 25 </a:t>
            </a:r>
            <a:r>
              <a:rPr lang="en-CA" altLang="fr-FR" sz="2000" dirty="0"/>
              <a:t>millions</a:t>
            </a:r>
            <a:r>
              <a:rPr lang="fr-CA" altLang="fr-FR" sz="2000" dirty="0"/>
              <a:t> de dollars.</a:t>
            </a:r>
          </a:p>
          <a:p>
            <a:pPr marL="733743" lvl="1" indent="-342900" algn="just">
              <a:spcBef>
                <a:spcPct val="0"/>
              </a:spcBef>
              <a:buFont typeface="Georgia" panose="02040502050405020303" pitchFamily="18" charset="0"/>
              <a:buAutoNum type="arabicPeriod"/>
            </a:pPr>
            <a:r>
              <a:rPr lang="fr-CA" altLang="fr-FR" sz="2000" dirty="0"/>
              <a:t>Recevoir une somme forfaitaire de 500 millions de dollars aujourd'hui.</a:t>
            </a:r>
          </a:p>
          <a:p>
            <a:pPr marL="733743" lvl="1" indent="-342900" algn="just">
              <a:spcBef>
                <a:spcPct val="0"/>
              </a:spcBef>
              <a:buFont typeface="Georgia" panose="02040502050405020303" pitchFamily="18" charset="0"/>
              <a:buAutoNum type="arabicPeriod"/>
            </a:pPr>
            <a:endParaRPr lang="fr-CA" altLang="fr-FR" sz="2000" dirty="0"/>
          </a:p>
          <a:p>
            <a:pPr marL="733743" lvl="1" indent="-342900" algn="just">
              <a:spcBef>
                <a:spcPct val="0"/>
              </a:spcBef>
              <a:buFont typeface="Georgia" panose="02040502050405020303" pitchFamily="18" charset="0"/>
              <a:buAutoNum type="arabicPeriod"/>
            </a:pPr>
            <a:endParaRPr lang="fr-CA" altLang="fr-FR" sz="2000" dirty="0"/>
          </a:p>
          <a:p>
            <a:pPr marL="459423" indent="-342900" algn="just">
              <a:spcBef>
                <a:spcPct val="0"/>
              </a:spcBef>
            </a:pPr>
            <a:r>
              <a:rPr lang="fr-CA" altLang="fr-FR" sz="2500" b="1" u="sng" dirty="0"/>
              <a:t>Question:</a:t>
            </a:r>
          </a:p>
          <a:p>
            <a:pPr marL="459423" indent="-342900" algn="just">
              <a:spcBef>
                <a:spcPct val="0"/>
              </a:spcBef>
            </a:pPr>
            <a:endParaRPr lang="fr-CA" altLang="fr-FR" sz="2500" dirty="0"/>
          </a:p>
          <a:p>
            <a:pPr marL="733743" lvl="1" indent="-342900" algn="just">
              <a:spcBef>
                <a:spcPct val="0"/>
              </a:spcBef>
            </a:pPr>
            <a:r>
              <a:rPr lang="fr-CA" altLang="fr-FR" sz="2000" dirty="0"/>
              <a:t>Si vous remportiez ce prix alors que votre taux de rendement requis est de 6 % par an, laquelle des deux options de paiement choisiriez-vous ?</a:t>
            </a:r>
          </a:p>
          <a:p>
            <a:pPr marL="733743" lvl="1" indent="-342900" algn="just">
              <a:spcBef>
                <a:spcPct val="0"/>
              </a:spcBef>
            </a:pPr>
            <a:endParaRPr lang="fr-CA" altLang="fr-FR" sz="2000" dirty="0"/>
          </a:p>
          <a:p>
            <a:endParaRPr lang="fr-CA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9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pic>
        <p:nvPicPr>
          <p:cNvPr id="7" name="Picture 2" descr="Identification ">
            <a:extLst>
              <a:ext uri="{FF2B5EF4-FFF2-40B4-BE49-F238E27FC236}">
                <a16:creationId xmlns:a16="http://schemas.microsoft.com/office/drawing/2014/main" id="{8CB786B6-CE33-9A87-59D3-734AF5728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8" y="327244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3910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2800" dirty="0">
                <a:solidFill>
                  <a:srgbClr val="FF0000"/>
                </a:solidFill>
              </a:rPr>
              <a:t>Exemple 2 : annuité </a:t>
            </a:r>
            <a:r>
              <a:rPr lang="en-US" sz="2800" dirty="0">
                <a:solidFill>
                  <a:srgbClr val="FF0000"/>
                </a:solidFill>
              </a:rPr>
              <a:t>ordinaire</a:t>
            </a:r>
            <a:endParaRPr lang="fr-CA" sz="2800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623392" y="1527048"/>
            <a:ext cx="11089232" cy="507030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/>
              <a:t>Reprenons l'exercice que nous </a:t>
            </a:r>
            <a:r>
              <a:rPr lang="en-US" sz="2400" b="1" dirty="0" err="1"/>
              <a:t>avons</a:t>
            </a:r>
            <a:r>
              <a:rPr lang="en-US" sz="2400" b="1" dirty="0"/>
              <a:t> </a:t>
            </a:r>
            <a:r>
              <a:rPr lang="en-US" sz="2400" b="1" dirty="0" err="1"/>
              <a:t>résolu</a:t>
            </a:r>
            <a:r>
              <a:rPr lang="en-US" sz="2400" b="1" dirty="0"/>
              <a:t> la semaine dernière :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>
                <a:latin typeface="Ink Free" panose="03080402000500000000" pitchFamily="66" charset="0"/>
              </a:rPr>
              <a:t>Vous souhaitez acheter une nouvelle voiture dans exactement 4 ans. Cette voiture vous coûtera 35 000 $. Combien devez-vous mettre sur votre compte bancaire aujourd'hui pour pouvoir acheter cette voiture dans 4 ans ? Votre compte bancaire rapporte un taux d'intérêt annuel de 4 %. </a:t>
            </a:r>
          </a:p>
          <a:p>
            <a:endParaRPr lang="en-US" sz="2400" dirty="0"/>
          </a:p>
          <a:p>
            <a:r>
              <a:rPr lang="en-US" sz="2400" dirty="0"/>
              <a:t>Plutôt que de mettre de côté une somme forfaitaire aujourd'hui, vous allez mettre de côté (sur votre compte bancaire) un montant annuel constant à la fin de chaque année pendant les quatre prochaines années. Votre compte bancaire rapporte un taux d'intérêt annuel de 4 %. </a:t>
            </a:r>
          </a:p>
          <a:p>
            <a:endParaRPr lang="en-US" sz="2400" dirty="0"/>
          </a:p>
          <a:p>
            <a:r>
              <a:rPr lang="en-US" sz="2400" b="1" dirty="0"/>
              <a:t>Quel doit être ce montant constant pour que vous puissiez acheter la voiture </a:t>
            </a:r>
            <a:r>
              <a:rPr lang="en-US" sz="2400" b="1" dirty="0" err="1"/>
              <a:t>souhaitée</a:t>
            </a:r>
            <a:r>
              <a:rPr lang="en-US" sz="2400" b="1" dirty="0"/>
              <a:t> ?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10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pic>
        <p:nvPicPr>
          <p:cNvPr id="5" name="Picture 2" descr="Identification ">
            <a:extLst>
              <a:ext uri="{FF2B5EF4-FFF2-40B4-BE49-F238E27FC236}">
                <a16:creationId xmlns:a16="http://schemas.microsoft.com/office/drawing/2014/main" id="{BD6CA6EE-1E52-4E84-B60B-5291C2120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632" y="332656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5077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rgbClr val="FF0000"/>
                </a:solidFill>
              </a:rPr>
              <a:t>Exercice difficile…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altLang="fr-FR" sz="2000" dirty="0"/>
              <a:t>Le 12 septembre 2006, le gardien de but Rick </a:t>
            </a:r>
            <a:r>
              <a:rPr lang="fr-CA" altLang="fr-FR" sz="2000" dirty="0" err="1"/>
              <a:t>Dipietro </a:t>
            </a:r>
            <a:r>
              <a:rPr lang="fr-CA" altLang="fr-FR" sz="2000" dirty="0"/>
              <a:t>a signé un contrat avec les </a:t>
            </a:r>
            <a:r>
              <a:rPr lang="fr-CA" altLang="fr-FR" sz="2000" dirty="0" err="1"/>
              <a:t>Islanders </a:t>
            </a:r>
            <a:r>
              <a:rPr lang="fr-CA" altLang="fr-FR" sz="2000" dirty="0"/>
              <a:t>de New York, une équipe de la Ligue nationale de hockey (LNH), qui lui </a:t>
            </a:r>
            <a:r>
              <a:rPr lang="fr-CA" altLang="fr-FR" sz="2000" dirty="0" err="1"/>
              <a:t>rapportera</a:t>
            </a:r>
            <a:r>
              <a:rPr lang="fr-CA" altLang="fr-FR" sz="2000" dirty="0"/>
              <a:t> 4,5 millions de dollars par an pendant 15 ans. </a:t>
            </a:r>
          </a:p>
          <a:p>
            <a:pPr marL="0" indent="0">
              <a:buNone/>
            </a:pPr>
            <a:endParaRPr lang="fr-CA" dirty="0"/>
          </a:p>
        </p:txBody>
      </p:sp>
      <p:pic>
        <p:nvPicPr>
          <p:cNvPr id="4" name="Picture 6" descr="http://storage.niagarafallsreview.ca/v1/dynamic_resize/sws_path/suns-prod-images/1297380295940_ORIGINAL.jpg?quality=80&amp;size=650x&amp;stmp=136156376368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576" y="3068638"/>
            <a:ext cx="4391025" cy="325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11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pic>
        <p:nvPicPr>
          <p:cNvPr id="6" name="Picture 2" descr="Identification ">
            <a:extLst>
              <a:ext uri="{FF2B5EF4-FFF2-40B4-BE49-F238E27FC236}">
                <a16:creationId xmlns:a16="http://schemas.microsoft.com/office/drawing/2014/main" id="{8A3CDA5C-B096-98D9-00B3-663CBE4D7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696" y="326904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1082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Exercice difficile </a:t>
            </a:r>
            <a:r>
              <a:rPr lang="fr-CA" b="1" dirty="0"/>
              <a:t>(suite)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02338" y="1844824"/>
            <a:ext cx="11238277" cy="4464496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en-CA" altLang="fr-FR" sz="2100" dirty="0"/>
              <a:t>En supposant que les actionnaires des New York Islanders exigent un taux de rendement annuel de 14 % sur leur investissement, que M. DiPietro touche son salaire à la fin de chaque année et que son premier versement ait lieu un an après la signature du contrat, quelle est la valeur actuelle de ce contrat au moment où l'accord a été conclu ?</a:t>
            </a:r>
          </a:p>
          <a:p>
            <a:pPr marL="342900" indent="-342900">
              <a:buFont typeface="+mj-lt"/>
              <a:buAutoNum type="alphaLcParenR"/>
            </a:pPr>
            <a:endParaRPr lang="en-CA" altLang="fr-FR" sz="2100" dirty="0"/>
          </a:p>
          <a:p>
            <a:pPr marL="342900" indent="-342900">
              <a:buFont typeface="+mj-lt"/>
              <a:buAutoNum type="alphaLcParenR"/>
            </a:pPr>
            <a:endParaRPr lang="en-CA" altLang="fr-FR" sz="2100" dirty="0"/>
          </a:p>
          <a:p>
            <a:pPr marL="342900" indent="-342900">
              <a:buFont typeface="+mj-lt"/>
              <a:buAutoNum type="alphaLcParenR"/>
            </a:pPr>
            <a:r>
              <a:rPr lang="en-CA" altLang="fr-FR" sz="2100" dirty="0"/>
              <a:t>Si M. DiPietro investit 20 % de son salaire brut à la fin de chaque année de son contrat à un taux de rendement annuel de 9 %, combien d'argent aura-t-il à la fin du contrat (le 12 septembre 2021) ?</a:t>
            </a:r>
            <a:endParaRPr lang="fr-CA" altLang="fr-FR" sz="2100" dirty="0"/>
          </a:p>
          <a:p>
            <a:pPr marL="342900" indent="-342900">
              <a:buFont typeface="+mj-lt"/>
              <a:buAutoNum type="alphaLcParenR"/>
            </a:pPr>
            <a:endParaRPr lang="en-CA" altLang="fr-FR" sz="2100" dirty="0"/>
          </a:p>
          <a:p>
            <a:pPr marL="342900" indent="-342900">
              <a:buFont typeface="+mj-lt"/>
              <a:buAutoNum type="alphaLcParenR"/>
            </a:pPr>
            <a:endParaRPr lang="en-CA" altLang="fr-FR" sz="2100" dirty="0"/>
          </a:p>
          <a:p>
            <a:pPr marL="342900" indent="-342900">
              <a:buFont typeface="+mj-lt"/>
              <a:buAutoNum type="alphaLcParenR"/>
            </a:pPr>
            <a:endParaRPr lang="en-CA" altLang="fr-FR" sz="2100" dirty="0"/>
          </a:p>
          <a:p>
            <a:pPr marL="342900" indent="-342900">
              <a:buFont typeface="+mj-lt"/>
              <a:buAutoNum type="alphaLcParenR"/>
            </a:pPr>
            <a:endParaRPr lang="fr-CA" altLang="fr-FR" sz="2100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lphaLcParenR"/>
            </a:pPr>
            <a:endParaRPr lang="fr-CA" altLang="fr-FR" sz="2100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lphaLcParenR"/>
            </a:pPr>
            <a:endParaRPr lang="fr-CA" altLang="fr-FR" sz="2100" dirty="0">
              <a:solidFill>
                <a:schemeClr val="bg2">
                  <a:lumMod val="50000"/>
                </a:schemeClr>
              </a:solidFill>
            </a:endParaRPr>
          </a:p>
          <a:p>
            <a:pPr marL="565150" indent="-457200" algn="just">
              <a:spcBef>
                <a:spcPct val="0"/>
              </a:spcBef>
              <a:buFont typeface="+mj-lt"/>
              <a:buAutoNum type="alphaLcParenR"/>
              <a:defRPr/>
            </a:pPr>
            <a:endParaRPr lang="fr-CA" altLang="fr-FR" sz="2100" dirty="0">
              <a:solidFill>
                <a:schemeClr val="accent2"/>
              </a:solidFill>
            </a:endParaRPr>
          </a:p>
          <a:p>
            <a:pPr lvl="1"/>
            <a:endParaRPr lang="fr-CA" altLang="fr-FR" sz="2100" dirty="0"/>
          </a:p>
          <a:p>
            <a:pPr marL="0" indent="0">
              <a:buNone/>
            </a:pPr>
            <a:endParaRPr lang="fr-CA" altLang="fr-FR" sz="2100" dirty="0"/>
          </a:p>
          <a:p>
            <a:pPr marL="0" indent="0">
              <a:buNone/>
            </a:pPr>
            <a:endParaRPr lang="fr-CA" altLang="fr-FR" sz="2100" dirty="0"/>
          </a:p>
          <a:p>
            <a:pPr marL="0" indent="0">
              <a:buNone/>
            </a:pPr>
            <a:endParaRPr lang="fr-CA" sz="2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F3CC3-715D-4884-8B04-584CB9157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12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pic>
        <p:nvPicPr>
          <p:cNvPr id="5" name="Picture 2" descr="Identification ">
            <a:extLst>
              <a:ext uri="{FF2B5EF4-FFF2-40B4-BE49-F238E27FC236}">
                <a16:creationId xmlns:a16="http://schemas.microsoft.com/office/drawing/2014/main" id="{B3A671AB-CB66-AFFA-5331-2729C5FD7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632" y="345178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7997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Exercice difficile </a:t>
            </a:r>
            <a:r>
              <a:rPr lang="fr-CA" b="1" dirty="0"/>
              <a:t>(suite)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551384" y="1527048"/>
            <a:ext cx="10945216" cy="4710264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+mj-lt"/>
              <a:buAutoNum type="alphaLcParenR" startAt="3"/>
            </a:pPr>
            <a:r>
              <a:rPr lang="en-CA" altLang="fr-FR" sz="2400" dirty="0"/>
              <a:t>Imaginons que M. DiPietro ne prenne sa retraite qu'à l'échéance de son contrat, en septembre 2021 (à l'âge de 40 ans). À partir de cette date, ses seuls revenus proviendront du rendement de ses placements. En supposant qu'il vive encore 40 ans à partir de cette date et qu'il dispose du montant indiqué au point b) au moment de sa retraite, combien d'argent pourra-t-il retirer à la fin de chaque année s'il parvient à obtenir un taux de rendement annuel de 9 % sur ses placements ?</a:t>
            </a:r>
          </a:p>
          <a:p>
            <a:pPr marL="342900" indent="-342900">
              <a:buFont typeface="+mj-lt"/>
              <a:buAutoNum type="alphaLcParenR" startAt="3"/>
            </a:pPr>
            <a:endParaRPr lang="en-CA" altLang="fr-FR" sz="2400" dirty="0"/>
          </a:p>
          <a:p>
            <a:pPr marL="342900" indent="-342900">
              <a:buFont typeface="+mj-lt"/>
              <a:buAutoNum type="alphaLcParenR" startAt="3"/>
            </a:pPr>
            <a:r>
              <a:rPr lang="fr-CA" altLang="fr-FR" sz="2400" dirty="0"/>
              <a:t>Supposons que M. </a:t>
            </a:r>
            <a:r>
              <a:rPr lang="fr-CA" altLang="fr-FR" sz="2400" dirty="0" err="1"/>
              <a:t>DiPietro</a:t>
            </a:r>
            <a:r>
              <a:rPr lang="fr-CA" altLang="fr-FR" sz="2400" dirty="0"/>
              <a:t> souhaite disposer de 100 millions de dollars à la fin de sa vie et que toutes les autres hypothèses de l'exemple c) restent inchangées. Combien d'argent peut-il retirer à la fin de chaque année s'il parvient à obtenir un taux de rendement annuel de 9 % sur ses placements pendant sa retraite ?</a:t>
            </a:r>
          </a:p>
          <a:p>
            <a:pPr marL="342900" indent="-342900">
              <a:buFont typeface="+mj-lt"/>
              <a:buAutoNum type="alphaLcParenR" startAt="3"/>
            </a:pPr>
            <a:endParaRPr lang="fr-CA" altLang="fr-FR" sz="2400" dirty="0"/>
          </a:p>
          <a:p>
            <a:pPr marL="342900" indent="-342900">
              <a:buFont typeface="+mj-lt"/>
              <a:buAutoNum type="alphaLcParenR" startAt="3"/>
            </a:pPr>
            <a:r>
              <a:rPr lang="fr-CA" altLang="fr-FR" sz="2400" dirty="0"/>
              <a:t>Supposons que M. </a:t>
            </a:r>
            <a:r>
              <a:rPr lang="fr-CA" altLang="fr-FR" sz="2400" dirty="0" err="1"/>
              <a:t>DiPietro</a:t>
            </a:r>
            <a:r>
              <a:rPr lang="fr-CA" altLang="fr-FR" sz="2400" dirty="0"/>
              <a:t> décide finalement de retirer les montants calculés en c) au moment de sa retraite. Cependant, son taux de rendement annuel pendant sa retraite est de 6 % au lieu de 9 %. À quel âge ses fonds </a:t>
            </a:r>
            <a:r>
              <a:rPr lang="fr-CA" altLang="fr-FR" sz="2400" dirty="0" err="1"/>
              <a:t>seront-ils</a:t>
            </a:r>
            <a:r>
              <a:rPr lang="fr-CA" altLang="fr-FR" sz="2400" dirty="0"/>
              <a:t> épuisés ?</a:t>
            </a:r>
          </a:p>
          <a:p>
            <a:pPr marL="342900" indent="-342900">
              <a:buFont typeface="+mj-lt"/>
              <a:buAutoNum type="alphaLcParenR" startAt="3"/>
            </a:pPr>
            <a:endParaRPr lang="en-CA" altLang="fr-FR" sz="2400" dirty="0"/>
          </a:p>
          <a:p>
            <a:pPr marL="342900" indent="-342900">
              <a:buFont typeface="+mj-lt"/>
              <a:buAutoNum type="alphaLcParenR" startAt="3"/>
            </a:pPr>
            <a:endParaRPr lang="fr-CA" altLang="fr-FR" sz="2400" dirty="0"/>
          </a:p>
          <a:p>
            <a:pPr marL="342900" indent="-342900">
              <a:buFont typeface="+mj-lt"/>
              <a:buAutoNum type="alphaLcParenR" startAt="3"/>
            </a:pPr>
            <a:endParaRPr lang="fr-CA" altLang="fr-FR" sz="2400" dirty="0"/>
          </a:p>
          <a:p>
            <a:pPr marL="0" indent="0">
              <a:buNone/>
            </a:pPr>
            <a:endParaRPr lang="fr-CA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325EA-7B40-41CC-B8C5-21D94DBEC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13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pic>
        <p:nvPicPr>
          <p:cNvPr id="8" name="Picture 2" descr="Identification ">
            <a:extLst>
              <a:ext uri="{FF2B5EF4-FFF2-40B4-BE49-F238E27FC236}">
                <a16:creationId xmlns:a16="http://schemas.microsoft.com/office/drawing/2014/main" id="{B8606FAB-AA25-D1FC-496F-F2145178E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632" y="228600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1271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 dirty="0">
                <a:solidFill>
                  <a:srgbClr val="FF0000"/>
                </a:solidFill>
              </a:rPr>
              <a:t>Cas particulier </a:t>
            </a:r>
            <a:r>
              <a:rPr lang="fr-CA" dirty="0">
                <a:solidFill>
                  <a:srgbClr val="FF0000"/>
                </a:solidFill>
              </a:rPr>
              <a:t>n° 1 : annuité </a:t>
            </a:r>
            <a:r>
              <a:rPr lang="fr-CA" b="1" dirty="0">
                <a:solidFill>
                  <a:srgbClr val="FF0000"/>
                </a:solidFill>
              </a:rPr>
              <a:t>différée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02339" y="1506518"/>
            <a:ext cx="11454301" cy="1922483"/>
          </a:xfrm>
        </p:spPr>
        <p:txBody>
          <a:bodyPr>
            <a:normAutofit fontScale="92500" lnSpcReduction="20000"/>
          </a:bodyPr>
          <a:lstStyle/>
          <a:p>
            <a:r>
              <a:rPr lang="fr-CA" sz="3000" dirty="0"/>
              <a:t>Annuité </a:t>
            </a:r>
            <a:r>
              <a:rPr lang="fr-CA" sz="3000" b="1" u="sng" dirty="0"/>
              <a:t>différée </a:t>
            </a:r>
            <a:r>
              <a:rPr lang="fr-CA" sz="3000" dirty="0"/>
              <a:t>:</a:t>
            </a:r>
          </a:p>
          <a:p>
            <a:pPr lvl="1"/>
            <a:r>
              <a:rPr lang="fr-CA" sz="2500" dirty="0"/>
              <a:t>Impact sur les formules à prendre en compte !</a:t>
            </a:r>
          </a:p>
          <a:p>
            <a:pPr lvl="2"/>
            <a:r>
              <a:rPr lang="fr-FR" sz="2500" dirty="0"/>
              <a:t>Pour </a:t>
            </a:r>
            <a:r>
              <a:rPr lang="fr-FR" sz="2500" dirty="0" err="1"/>
              <a:t>la </a:t>
            </a:r>
            <a:r>
              <a:rPr lang="fr-FR" sz="2500" b="1" dirty="0" err="1"/>
              <a:t>capitalisation</a:t>
            </a:r>
            <a:r>
              <a:rPr lang="fr-FR" sz="2500" dirty="0">
                <a:sym typeface="Wingdings" panose="05000000000000000000" pitchFamily="2" charset="2"/>
              </a:rPr>
              <a:t> </a:t>
            </a:r>
            <a:r>
              <a:rPr lang="fr-FR" sz="2500" b="1" dirty="0">
                <a:sym typeface="Wingdings" panose="05000000000000000000" pitchFamily="2" charset="2"/>
              </a:rPr>
              <a:t> </a:t>
            </a:r>
            <a:r>
              <a:rPr lang="fr-FR" sz="2500" b="1" u="sng" dirty="0"/>
              <a:t>aucun impact réel</a:t>
            </a:r>
          </a:p>
          <a:p>
            <a:pPr lvl="2"/>
            <a:endParaRPr lang="fr-FR" sz="2500" dirty="0"/>
          </a:p>
          <a:p>
            <a:pPr lvl="2"/>
            <a:r>
              <a:rPr lang="fr-FR" sz="2500" dirty="0"/>
              <a:t>Pour l'</a:t>
            </a:r>
            <a:r>
              <a:rPr lang="fr-FR" sz="2500" b="1" dirty="0"/>
              <a:t>actualisation</a:t>
            </a:r>
            <a:r>
              <a:rPr lang="fr-FR" sz="2500" dirty="0">
                <a:sym typeface="Wingdings" panose="05000000000000000000" pitchFamily="2" charset="2"/>
              </a:rPr>
              <a:t>  </a:t>
            </a:r>
            <a:r>
              <a:rPr lang="fr-FR" sz="2500" dirty="0"/>
              <a:t>nous procédons en </a:t>
            </a:r>
            <a:r>
              <a:rPr lang="fr-FR" sz="2500" b="1" dirty="0"/>
              <a:t>deux étapes</a:t>
            </a:r>
            <a:r>
              <a:rPr lang="fr-FR" sz="2500" dirty="0"/>
              <a:t>:</a:t>
            </a:r>
          </a:p>
          <a:p>
            <a:pPr lvl="2"/>
            <a:endParaRPr lang="fr-FR" sz="2500" b="1" dirty="0">
              <a:solidFill>
                <a:srgbClr val="0F8D36"/>
              </a:solidFill>
            </a:endParaRP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14</a:t>
            </a:fld>
            <a:endParaRPr lang="fr-CA" dirty="0">
              <a:solidFill>
                <a:srgbClr val="8CADAE">
                  <a:shade val="75000"/>
                </a:srgbClr>
              </a:solidFill>
            </a:endParaRPr>
          </a:p>
        </p:txBody>
      </p:sp>
      <p:cxnSp>
        <p:nvCxnSpPr>
          <p:cNvPr id="5" name="Straight Arrow Connector 22">
            <a:extLst>
              <a:ext uri="{FF2B5EF4-FFF2-40B4-BE49-F238E27FC236}">
                <a16:creationId xmlns:a16="http://schemas.microsoft.com/office/drawing/2014/main" id="{ADB274AB-6167-438F-B59E-12C5F78045B4}"/>
              </a:ext>
            </a:extLst>
          </p:cNvPr>
          <p:cNvCxnSpPr/>
          <p:nvPr>
            <p:custDataLst>
              <p:tags r:id="rId1"/>
            </p:custDataLst>
          </p:nvPr>
        </p:nvCxnSpPr>
        <p:spPr>
          <a:xfrm>
            <a:off x="2506980" y="5949280"/>
            <a:ext cx="717804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14">
            <a:extLst>
              <a:ext uri="{FF2B5EF4-FFF2-40B4-BE49-F238E27FC236}">
                <a16:creationId xmlns:a16="http://schemas.microsoft.com/office/drawing/2014/main" id="{0E4C1B1D-BEF2-41B1-B2BC-F1E07C0EBBAD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 rot="5400000" flipH="1" flipV="1">
            <a:off x="2934380" y="5960136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4">
            <a:extLst>
              <a:ext uri="{FF2B5EF4-FFF2-40B4-BE49-F238E27FC236}">
                <a16:creationId xmlns:a16="http://schemas.microsoft.com/office/drawing/2014/main" id="{26B067BB-75F8-480C-BB5E-61320178A466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 rot="5400000" flipH="1" flipV="1">
            <a:off x="3847686" y="5968845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4">
            <a:extLst>
              <a:ext uri="{FF2B5EF4-FFF2-40B4-BE49-F238E27FC236}">
                <a16:creationId xmlns:a16="http://schemas.microsoft.com/office/drawing/2014/main" id="{4B3FA7DC-F69E-47A3-A443-C2CE33A2C525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 rot="5400000" flipH="1" flipV="1">
            <a:off x="4734580" y="5960136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14">
            <a:extLst>
              <a:ext uri="{FF2B5EF4-FFF2-40B4-BE49-F238E27FC236}">
                <a16:creationId xmlns:a16="http://schemas.microsoft.com/office/drawing/2014/main" id="{5BBA3B03-013E-427C-88EA-9E3B6294177C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 rot="5400000" flipH="1" flipV="1">
            <a:off x="5670684" y="5949280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14">
            <a:extLst>
              <a:ext uri="{FF2B5EF4-FFF2-40B4-BE49-F238E27FC236}">
                <a16:creationId xmlns:a16="http://schemas.microsoft.com/office/drawing/2014/main" id="{6B178F5F-86BD-4D5E-BBCB-CC1F58BC9A6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 rot="5400000" flipH="1" flipV="1">
            <a:off x="6534780" y="5949280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4">
            <a:extLst>
              <a:ext uri="{FF2B5EF4-FFF2-40B4-BE49-F238E27FC236}">
                <a16:creationId xmlns:a16="http://schemas.microsoft.com/office/drawing/2014/main" id="{9CE9D067-77BD-4481-B431-13770F3A757F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 rot="5400000" flipH="1" flipV="1">
            <a:off x="8341830" y="5949280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4">
            <a:extLst>
              <a:ext uri="{FF2B5EF4-FFF2-40B4-BE49-F238E27FC236}">
                <a16:creationId xmlns:a16="http://schemas.microsoft.com/office/drawing/2014/main" id="{114C7BDF-272D-4475-A0A8-976B1CC32924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 rot="5400000" flipH="1" flipV="1">
            <a:off x="7438071" y="5949280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4">
            <a:extLst>
              <a:ext uri="{FF2B5EF4-FFF2-40B4-BE49-F238E27FC236}">
                <a16:creationId xmlns:a16="http://schemas.microsoft.com/office/drawing/2014/main" id="{3F5826C2-1565-4ECB-86DB-653F75F6B3A4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 rot="5400000" flipH="1" flipV="1">
            <a:off x="9147384" y="5957171"/>
            <a:ext cx="274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71FFA5B-93EC-E3FE-7F37-18A3EFCD1323}"/>
              </a:ext>
            </a:extLst>
          </p:cNvPr>
          <p:cNvSpPr txBox="1"/>
          <p:nvPr/>
        </p:nvSpPr>
        <p:spPr>
          <a:xfrm>
            <a:off x="234964" y="3507831"/>
            <a:ext cx="11765689" cy="19205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20068" lvl="1" algn="ctr" fontAlgn="auto">
              <a:spcBef>
                <a:spcPct val="20000"/>
              </a:spcBef>
              <a:spcAft>
                <a:spcPts val="0"/>
              </a:spcAft>
              <a:buClr>
                <a:srgbClr val="C0504D"/>
              </a:buClr>
              <a:buSzPct val="70000"/>
              <a:defRPr/>
            </a:pPr>
            <a:r>
              <a:rPr lang="fr-CA" dirty="0">
                <a:solidFill>
                  <a:srgbClr val="0F8D36"/>
                </a:solidFill>
                <a:latin typeface="Ink Free" panose="03080402000500000000" pitchFamily="66" charset="0"/>
              </a:rPr>
              <a:t>👉 </a:t>
            </a:r>
            <a:r>
              <a:rPr lang="fr-CA" b="1" dirty="0">
                <a:latin typeface="+mj-lt"/>
              </a:rPr>
              <a:t>ÉTAPE 1: </a:t>
            </a:r>
            <a:r>
              <a:rPr lang="fr-CA" dirty="0">
                <a:solidFill>
                  <a:srgbClr val="0F8D36"/>
                </a:solidFill>
                <a:latin typeface="Ink Free" panose="03080402000500000000" pitchFamily="66" charset="0"/>
              </a:rPr>
              <a:t>On suppose une annuité ordinaire. </a:t>
            </a:r>
            <a:r>
              <a:rPr lang="fr-FR" dirty="0">
                <a:solidFill>
                  <a:srgbClr val="0F8D36"/>
                </a:solidFill>
                <a:latin typeface="Georgia"/>
              </a:rPr>
              <a:t>Trouvez la valeur actuelle de l’annuité avec n = nombre de versements. Cela donne la valeur actuelle une période </a:t>
            </a:r>
            <a:r>
              <a:rPr lang="fr-FR" b="1" dirty="0">
                <a:solidFill>
                  <a:srgbClr val="0F8D36"/>
                </a:solidFill>
                <a:latin typeface="Georgia"/>
              </a:rPr>
              <a:t>avant le premier paiement </a:t>
            </a:r>
          </a:p>
          <a:p>
            <a:pPr marL="320068" lvl="1" algn="ctr" fontAlgn="auto">
              <a:spcBef>
                <a:spcPct val="20000"/>
              </a:spcBef>
              <a:spcAft>
                <a:spcPts val="0"/>
              </a:spcAft>
              <a:buClr>
                <a:srgbClr val="C0504D"/>
              </a:buClr>
              <a:buSzPct val="70000"/>
              <a:defRPr/>
            </a:pPr>
            <a:r>
              <a:rPr lang="fr-FR" b="1" dirty="0">
                <a:solidFill>
                  <a:srgbClr val="0F8D36"/>
                </a:solidFill>
                <a:latin typeface="Georgia"/>
              </a:rPr>
              <a:t>        de l’annuité car c’est une annuité différée et non ordinaire.</a:t>
            </a:r>
            <a:endParaRPr lang="fr-FR" b="1" u="sng" dirty="0">
              <a:solidFill>
                <a:srgbClr val="0F8D36"/>
              </a:solidFill>
              <a:latin typeface="Georgia"/>
            </a:endParaRPr>
          </a:p>
          <a:p>
            <a:pPr marL="320068" lvl="1" algn="ctr" fontAlgn="auto">
              <a:spcBef>
                <a:spcPct val="20000"/>
              </a:spcBef>
              <a:spcAft>
                <a:spcPts val="0"/>
              </a:spcAft>
              <a:buClr>
                <a:srgbClr val="C0504D"/>
              </a:buClr>
              <a:buSzPct val="70000"/>
              <a:defRPr/>
            </a:pPr>
            <a:endParaRPr lang="fr-FR" dirty="0">
              <a:solidFill>
                <a:srgbClr val="0F8D36"/>
              </a:solidFill>
              <a:latin typeface="Georgia"/>
            </a:endParaRPr>
          </a:p>
          <a:p>
            <a:pPr marL="320068" lvl="1" algn="ctr" fontAlgn="auto">
              <a:spcBef>
                <a:spcPct val="20000"/>
              </a:spcBef>
              <a:spcAft>
                <a:spcPts val="0"/>
              </a:spcAft>
              <a:buClr>
                <a:srgbClr val="C0504D"/>
              </a:buClr>
              <a:buSzPct val="70000"/>
              <a:defRPr/>
            </a:pPr>
            <a:r>
              <a:rPr lang="fr-CA" dirty="0">
                <a:solidFill>
                  <a:srgbClr val="0F8D36"/>
                </a:solidFill>
                <a:latin typeface="Ink Free" panose="03080402000500000000" pitchFamily="66" charset="0"/>
              </a:rPr>
              <a:t>     👉 </a:t>
            </a:r>
            <a:r>
              <a:rPr lang="fr-CA" b="1" dirty="0">
                <a:latin typeface="+mj-lt"/>
              </a:rPr>
              <a:t>ÉTAPE 2: </a:t>
            </a:r>
            <a:r>
              <a:rPr lang="fr-FR" dirty="0">
                <a:solidFill>
                  <a:srgbClr val="0F8D36"/>
                </a:solidFill>
                <a:latin typeface="Georgia"/>
              </a:rPr>
              <a:t>Capitalisez la valeur actuelle trouvée à l'étape 1 à la date souhaitée à l'aide de la formule pour un flux de monétaire unique.  </a:t>
            </a:r>
          </a:p>
        </p:txBody>
      </p:sp>
      <p:pic>
        <p:nvPicPr>
          <p:cNvPr id="5122" name="Picture 2" descr="Important ">
            <a:extLst>
              <a:ext uri="{FF2B5EF4-FFF2-40B4-BE49-F238E27FC236}">
                <a16:creationId xmlns:a16="http://schemas.microsoft.com/office/drawing/2014/main" id="{5EA92620-7252-AC37-EDDB-849B853B6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2424" y="1556792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0718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rgbClr val="FF0000"/>
                </a:solidFill>
              </a:rPr>
              <a:t>Exemple 3 : annuité différée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A" sz="2400" dirty="0"/>
              <a:t>Vous recevrez 3 versements annuels de 150 $. Le premier </a:t>
            </a:r>
            <a:r>
              <a:rPr lang="fr-CA" sz="2400" dirty="0" err="1"/>
              <a:t>versement aura </a:t>
            </a:r>
            <a:r>
              <a:rPr lang="fr-CA" sz="2400" u="sng" dirty="0"/>
              <a:t>lieu dans 5 </a:t>
            </a:r>
            <a:r>
              <a:rPr lang="fr-CA" sz="2400" u="sng" dirty="0" err="1"/>
              <a:t>ans</a:t>
            </a:r>
            <a:r>
              <a:rPr lang="fr-CA" sz="2400" dirty="0"/>
              <a:t>. Le taux de rendement </a:t>
            </a:r>
            <a:r>
              <a:rPr lang="fr-CA" sz="2400" dirty="0" err="1"/>
              <a:t>requis est de</a:t>
            </a:r>
            <a:r>
              <a:rPr lang="fr-CA" sz="2400" dirty="0"/>
              <a:t> 8 %.</a:t>
            </a:r>
          </a:p>
          <a:p>
            <a:pPr marL="0" indent="0">
              <a:buNone/>
            </a:pPr>
            <a:endParaRPr lang="fr-CA" sz="2400" dirty="0"/>
          </a:p>
          <a:p>
            <a:pPr marL="617207" lvl="1" indent="-342900">
              <a:buFont typeface="+mj-lt"/>
              <a:buAutoNum type="alphaLcParenR"/>
            </a:pPr>
            <a:r>
              <a:rPr lang="fr-CA" sz="2400" dirty="0"/>
              <a:t>Quelle est la valeur de cette annuité aujourd'hui ?</a:t>
            </a:r>
          </a:p>
          <a:p>
            <a:pPr marL="617207" lvl="1" indent="-342900">
              <a:buFont typeface="+mj-lt"/>
              <a:buAutoNum type="alphaLcParenR"/>
            </a:pPr>
            <a:endParaRPr lang="fr-CA" sz="2400" dirty="0"/>
          </a:p>
          <a:p>
            <a:pPr marL="617207" lvl="1" indent="-342900">
              <a:buFont typeface="+mj-lt"/>
              <a:buAutoNum type="alphaLcParenR"/>
            </a:pPr>
            <a:r>
              <a:rPr lang="fr-CA" sz="2400" dirty="0"/>
              <a:t>Quelle est la valeur de cette annuité au moment du dernier versement ?</a:t>
            </a:r>
          </a:p>
          <a:p>
            <a:pPr marL="617207" lvl="1" indent="-342900">
              <a:buFont typeface="+mj-lt"/>
              <a:buAutoNum type="alphaLcParenR"/>
            </a:pPr>
            <a:endParaRPr lang="fr-CA" sz="2400" dirty="0"/>
          </a:p>
          <a:p>
            <a:pPr lvl="1"/>
            <a:endParaRPr lang="fr-CA" sz="2400" dirty="0"/>
          </a:p>
          <a:p>
            <a:pPr marL="274320" lvl="1" indent="0">
              <a:buNone/>
            </a:pPr>
            <a:endParaRPr lang="fr-CA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15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pic>
        <p:nvPicPr>
          <p:cNvPr id="5" name="Picture 2" descr="Identification ">
            <a:extLst>
              <a:ext uri="{FF2B5EF4-FFF2-40B4-BE49-F238E27FC236}">
                <a16:creationId xmlns:a16="http://schemas.microsoft.com/office/drawing/2014/main" id="{1E96E160-EB3D-EF3A-67C0-ED4777C9A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0" y="271365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8847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7368" y="267427"/>
            <a:ext cx="9811816" cy="758952"/>
          </a:xfrm>
        </p:spPr>
        <p:txBody>
          <a:bodyPr>
            <a:normAutofit/>
          </a:bodyPr>
          <a:lstStyle/>
          <a:p>
            <a:r>
              <a:rPr lang="fr-CA" b="1" dirty="0">
                <a:solidFill>
                  <a:srgbClr val="FF0000"/>
                </a:solidFill>
              </a:rPr>
              <a:t>Cas particulier </a:t>
            </a:r>
            <a:r>
              <a:rPr lang="fr-CA" dirty="0">
                <a:solidFill>
                  <a:srgbClr val="FF0000"/>
                </a:solidFill>
              </a:rPr>
              <a:t>n° 2 : annuité de début de période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551384" y="1506518"/>
            <a:ext cx="11233248" cy="39387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Le premier flux </a:t>
            </a:r>
            <a:r>
              <a:rPr lang="en-CA" dirty="0" err="1"/>
              <a:t>monétaire</a:t>
            </a:r>
            <a:r>
              <a:rPr lang="en-CA" dirty="0"/>
              <a:t> a lieu au </a:t>
            </a:r>
            <a:r>
              <a:rPr lang="en-CA" b="1" u="sng" dirty="0"/>
              <a:t>début </a:t>
            </a:r>
            <a:r>
              <a:rPr lang="en-CA" dirty="0"/>
              <a:t>de chaque période.</a:t>
            </a:r>
          </a:p>
          <a:p>
            <a:endParaRPr lang="fr-CA" sz="2400" dirty="0"/>
          </a:p>
          <a:p>
            <a:endParaRPr lang="fr-CA" sz="2400" dirty="0"/>
          </a:p>
          <a:p>
            <a:r>
              <a:rPr lang="fr-CA" sz="2400" dirty="0"/>
              <a:t>Capitalisation : </a:t>
            </a:r>
            <a:endParaRPr lang="fr-CA" sz="2400" dirty="0">
              <a:solidFill>
                <a:srgbClr val="FF0000"/>
              </a:solidFill>
            </a:endParaRPr>
          </a:p>
          <a:p>
            <a:endParaRPr lang="fr-CA" sz="2400" dirty="0">
              <a:solidFill>
                <a:srgbClr val="FF0000"/>
              </a:solidFill>
            </a:endParaRPr>
          </a:p>
          <a:p>
            <a:endParaRPr lang="fr-CA" sz="2400" dirty="0"/>
          </a:p>
          <a:p>
            <a:r>
              <a:rPr lang="fr-CA" sz="2400" dirty="0" err="1"/>
              <a:t>Actualisation </a:t>
            </a:r>
            <a:r>
              <a:rPr lang="fr-CA" sz="2400" dirty="0"/>
              <a:t>:    </a:t>
            </a:r>
          </a:p>
          <a:p>
            <a:endParaRPr lang="fr-FR" sz="2300" dirty="0"/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16</a:t>
            </a:fld>
            <a:endParaRPr lang="fr-CA" dirty="0">
              <a:solidFill>
                <a:srgbClr val="8CADAE">
                  <a:shade val="75000"/>
                </a:srgbClr>
              </a:solidFill>
            </a:endParaRPr>
          </a:p>
        </p:txBody>
      </p:sp>
      <p:pic>
        <p:nvPicPr>
          <p:cNvPr id="5" name="Picture 2" descr="Important ">
            <a:extLst>
              <a:ext uri="{FF2B5EF4-FFF2-40B4-BE49-F238E27FC236}">
                <a16:creationId xmlns:a16="http://schemas.microsoft.com/office/drawing/2014/main" id="{AC6A168E-570B-8F66-7670-430621081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1968" y="188881"/>
            <a:ext cx="989076" cy="989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50441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50692" y="237754"/>
            <a:ext cx="8534400" cy="758952"/>
          </a:xfrm>
        </p:spPr>
        <p:txBody>
          <a:bodyPr/>
          <a:lstStyle/>
          <a:p>
            <a:r>
              <a:rPr lang="fr-CA" dirty="0">
                <a:solidFill>
                  <a:srgbClr val="FF0000"/>
                </a:solidFill>
              </a:rPr>
              <a:t>Exemple 4 : annuité de début de période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Vous recevrez 5 paiements annuels de 1 000 $, dont le premier est dû aujourd'hui. Taux </a:t>
            </a:r>
            <a:r>
              <a:rPr lang="en-US" sz="2400" dirty="0" err="1"/>
              <a:t>annuel</a:t>
            </a:r>
            <a:r>
              <a:rPr lang="en-US" sz="2400" dirty="0"/>
              <a:t> </a:t>
            </a:r>
            <a:r>
              <a:rPr lang="en-US" sz="2400" dirty="0" err="1"/>
              <a:t>d’intérêt</a:t>
            </a:r>
            <a:r>
              <a:rPr lang="en-US" sz="2400" dirty="0"/>
              <a:t> = 6 %.</a:t>
            </a:r>
          </a:p>
          <a:p>
            <a:pPr marL="0" indent="0">
              <a:buNone/>
            </a:pPr>
            <a:endParaRPr lang="fr-CA" sz="2400" dirty="0"/>
          </a:p>
          <a:p>
            <a:pPr marL="274307" lvl="1" indent="0">
              <a:buNone/>
            </a:pPr>
            <a:r>
              <a:rPr lang="fr-CA" sz="2400" dirty="0"/>
              <a:t>Quelle est la valeur de cette annuité aujourd'hui ?</a:t>
            </a:r>
          </a:p>
          <a:p>
            <a:pPr marL="617207" lvl="1" indent="-342900">
              <a:buFont typeface="+mj-lt"/>
              <a:buAutoNum type="alphaLcParenR"/>
            </a:pPr>
            <a:endParaRPr lang="fr-CA" sz="2400" dirty="0"/>
          </a:p>
          <a:p>
            <a:pPr marL="617207" lvl="1" indent="-342900">
              <a:buFont typeface="+mj-lt"/>
              <a:buAutoNum type="alphaLcParenR"/>
            </a:pPr>
            <a:endParaRPr lang="fr-CA" sz="2400" dirty="0"/>
          </a:p>
          <a:p>
            <a:pPr lvl="1"/>
            <a:endParaRPr lang="fr-CA" sz="2400" dirty="0"/>
          </a:p>
          <a:p>
            <a:pPr marL="274320" lvl="1" indent="0">
              <a:buNone/>
            </a:pPr>
            <a:endParaRPr lang="fr-CA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17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pic>
        <p:nvPicPr>
          <p:cNvPr id="5" name="Picture 2" descr="Identification ">
            <a:extLst>
              <a:ext uri="{FF2B5EF4-FFF2-40B4-BE49-F238E27FC236}">
                <a16:creationId xmlns:a16="http://schemas.microsoft.com/office/drawing/2014/main" id="{E40BFD62-A32F-7FF9-B2E2-4D5797C34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326904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4679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sz="3600" b="1" dirty="0">
                <a:solidFill>
                  <a:srgbClr val="FF0000"/>
                </a:solidFill>
              </a:rPr>
              <a:t>Attention !!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775520" y="1965675"/>
            <a:ext cx="8842248" cy="391159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u="sng" dirty="0"/>
              <a:t>Sauf indication contraire</a:t>
            </a:r>
            <a:r>
              <a:rPr lang="en-CA" dirty="0"/>
              <a:t>, les</a:t>
            </a:r>
            <a:r>
              <a:rPr lang="en-CA" sz="3600" dirty="0"/>
              <a:t> flux </a:t>
            </a:r>
            <a:r>
              <a:rPr lang="en-CA" sz="3600" dirty="0" err="1"/>
              <a:t>monétaires</a:t>
            </a:r>
            <a:r>
              <a:rPr lang="en-CA" sz="3600" dirty="0"/>
              <a:t> </a:t>
            </a:r>
            <a:r>
              <a:rPr lang="en-CA" dirty="0" err="1"/>
              <a:t>sont</a:t>
            </a:r>
            <a:r>
              <a:rPr lang="en-CA" dirty="0"/>
              <a:t> </a:t>
            </a:r>
            <a:r>
              <a:rPr lang="en-CA" dirty="0" err="1"/>
              <a:t>payés</a:t>
            </a:r>
            <a:r>
              <a:rPr lang="en-CA" dirty="0"/>
              <a:t> </a:t>
            </a:r>
            <a:r>
              <a:rPr lang="en-CA" dirty="0" err="1"/>
              <a:t>ou</a:t>
            </a:r>
            <a:r>
              <a:rPr lang="en-CA" dirty="0"/>
              <a:t> </a:t>
            </a:r>
            <a:r>
              <a:rPr lang="en-CA" dirty="0" err="1"/>
              <a:t>reçus</a:t>
            </a:r>
            <a:r>
              <a:rPr lang="en-CA" dirty="0"/>
              <a:t> </a:t>
            </a:r>
            <a:r>
              <a:rPr lang="en-CA" dirty="0" err="1"/>
              <a:t>en</a:t>
            </a:r>
            <a:r>
              <a:rPr lang="en-CA" dirty="0"/>
              <a:t> </a:t>
            </a:r>
            <a:r>
              <a:rPr lang="en-CA" sz="3200" b="1" dirty="0">
                <a:latin typeface="Ink Free" panose="03080402000500000000" pitchFamily="66" charset="0"/>
              </a:rPr>
              <a:t>fin de </a:t>
            </a:r>
            <a:r>
              <a:rPr lang="en-CA" sz="3200" b="1" dirty="0" err="1">
                <a:latin typeface="Ink Free" panose="03080402000500000000" pitchFamily="66" charset="0"/>
              </a:rPr>
              <a:t>période</a:t>
            </a:r>
            <a:r>
              <a:rPr lang="en-CA" dirty="0"/>
              <a:t>. </a:t>
            </a:r>
          </a:p>
          <a:p>
            <a:pPr marL="0" indent="0">
              <a:buNone/>
            </a:pPr>
            <a:endParaRPr lang="en-CA" sz="2300" dirty="0"/>
          </a:p>
          <a:p>
            <a:pPr marL="0" indent="0" algn="ctr">
              <a:buNone/>
            </a:pPr>
            <a:r>
              <a:rPr lang="en-CA" sz="2000" dirty="0">
                <a:solidFill>
                  <a:srgbClr val="0F8D36"/>
                </a:solidFill>
                <a:latin typeface="Ink Free" panose="03080402000500000000" pitchFamily="66" charset="0"/>
              </a:rPr>
              <a:t>(Si au début de la </a:t>
            </a:r>
            <a:r>
              <a:rPr lang="en-CA" sz="2000" dirty="0" err="1">
                <a:solidFill>
                  <a:srgbClr val="0F8D36"/>
                </a:solidFill>
                <a:latin typeface="Ink Free" panose="03080402000500000000" pitchFamily="66" charset="0"/>
              </a:rPr>
              <a:t>période</a:t>
            </a:r>
            <a:r>
              <a:rPr lang="en-CA" sz="2000" dirty="0">
                <a:solidFill>
                  <a:srgbClr val="0F8D36"/>
                </a:solidFill>
                <a:latin typeface="Ink Free" panose="03080402000500000000" pitchFamily="66" charset="0"/>
              </a:rPr>
              <a:t>, </a:t>
            </a:r>
            <a:r>
              <a:rPr lang="en-CA" sz="2000" dirty="0" err="1">
                <a:solidFill>
                  <a:srgbClr val="0F8D36"/>
                </a:solidFill>
                <a:latin typeface="Ink Free" panose="03080402000500000000" pitchFamily="66" charset="0"/>
              </a:rPr>
              <a:t>ce</a:t>
            </a:r>
            <a:r>
              <a:rPr lang="en-CA" sz="2000" dirty="0">
                <a:solidFill>
                  <a:srgbClr val="0F8D36"/>
                </a:solidFill>
                <a:latin typeface="Ink Free" panose="03080402000500000000" pitchFamily="66" charset="0"/>
              </a:rPr>
              <a:t> sera </a:t>
            </a:r>
            <a:r>
              <a:rPr lang="en-CA" sz="2000" dirty="0" err="1">
                <a:solidFill>
                  <a:srgbClr val="0F8D36"/>
                </a:solidFill>
                <a:latin typeface="Ink Free" panose="03080402000500000000" pitchFamily="66" charset="0"/>
              </a:rPr>
              <a:t>clairement</a:t>
            </a:r>
            <a:r>
              <a:rPr lang="en-CA" sz="2000" dirty="0">
                <a:solidFill>
                  <a:srgbClr val="0F8D36"/>
                </a:solidFill>
                <a:latin typeface="Ink Free" panose="03080402000500000000" pitchFamily="66" charset="0"/>
              </a:rPr>
              <a:t> </a:t>
            </a:r>
            <a:r>
              <a:rPr lang="en-CA" sz="2000" dirty="0" err="1">
                <a:solidFill>
                  <a:srgbClr val="0F8D36"/>
                </a:solidFill>
                <a:latin typeface="Ink Free" panose="03080402000500000000" pitchFamily="66" charset="0"/>
              </a:rPr>
              <a:t>indiqué</a:t>
            </a:r>
            <a:r>
              <a:rPr lang="en-CA" sz="2000" dirty="0">
                <a:solidFill>
                  <a:srgbClr val="0F8D36"/>
                </a:solidFill>
                <a:latin typeface="Ink Free" panose="03080402000500000000" pitchFamily="66" charset="0"/>
              </a:rPr>
              <a:t>)</a:t>
            </a:r>
            <a:endParaRPr lang="fr-FR" sz="2000" dirty="0">
              <a:solidFill>
                <a:srgbClr val="0F8D36"/>
              </a:solidFill>
              <a:latin typeface="Ink Free" panose="03080402000500000000" pitchFamily="66" charset="0"/>
            </a:endParaRP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18</a:t>
            </a:fld>
            <a:endParaRPr lang="fr-CA" dirty="0">
              <a:solidFill>
                <a:srgbClr val="8CADAE">
                  <a:shade val="75000"/>
                </a:srgbClr>
              </a:solidFill>
            </a:endParaRPr>
          </a:p>
        </p:txBody>
      </p:sp>
      <p:pic>
        <p:nvPicPr>
          <p:cNvPr id="5" name="Picture 2" descr="Warning ">
            <a:extLst>
              <a:ext uri="{FF2B5EF4-FFF2-40B4-BE49-F238E27FC236}">
                <a16:creationId xmlns:a16="http://schemas.microsoft.com/office/drawing/2014/main" id="{FE7B7ECA-8F07-A073-5B72-339BAA336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8" y="288481"/>
            <a:ext cx="792088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Warning ">
            <a:extLst>
              <a:ext uri="{FF2B5EF4-FFF2-40B4-BE49-F238E27FC236}">
                <a16:creationId xmlns:a16="http://schemas.microsoft.com/office/drawing/2014/main" id="{182C0662-E1DF-FD6D-9C46-AE77C8CDD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8516" y="298978"/>
            <a:ext cx="792088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portant ">
            <a:extLst>
              <a:ext uri="{FF2B5EF4-FFF2-40B4-BE49-F238E27FC236}">
                <a16:creationId xmlns:a16="http://schemas.microsoft.com/office/drawing/2014/main" id="{B92A57BD-3F2B-5E14-E25C-EB1093C2F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5349" y="2204865"/>
            <a:ext cx="1457879" cy="1457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37068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 dirty="0" err="1">
                <a:solidFill>
                  <a:srgbClr val="FF0000"/>
                </a:solidFill>
              </a:rPr>
              <a:t>Perpétuité</a:t>
            </a:r>
            <a:endParaRPr lang="fr-CA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693164" y="1506518"/>
            <a:ext cx="8842248" cy="314026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b="1" dirty="0"/>
              <a:t>Veuillez vous reporter aux </a:t>
            </a:r>
            <a:r>
              <a:rPr lang="en-CA" b="1" u="sng" dirty="0"/>
              <a:t>capsules </a:t>
            </a:r>
            <a:r>
              <a:rPr lang="en-CA" b="1" u="sng" dirty="0" err="1"/>
              <a:t>vidéos</a:t>
            </a:r>
            <a:endParaRPr lang="en-CA" b="1" u="sng" dirty="0"/>
          </a:p>
          <a:p>
            <a:pPr marL="0" indent="0" algn="ctr">
              <a:buNone/>
            </a:pPr>
            <a:r>
              <a:rPr lang="fr-CA" sz="2000" dirty="0">
                <a:solidFill>
                  <a:srgbClr val="0F8D36"/>
                </a:solidFill>
                <a:latin typeface="Ink Free" panose="03080402000500000000" pitchFamily="66" charset="0"/>
              </a:rPr>
              <a:t>👉 </a:t>
            </a:r>
            <a:r>
              <a:rPr lang="en-CA" sz="2300" b="1" u="sng" dirty="0">
                <a:solidFill>
                  <a:srgbClr val="0F8D36"/>
                </a:solidFill>
                <a:latin typeface="Ink Free" panose="03080402000500000000" pitchFamily="66" charset="0"/>
              </a:rPr>
              <a:t>Non </a:t>
            </a:r>
            <a:r>
              <a:rPr lang="en-CA" sz="2300" b="1" u="sng" dirty="0" err="1">
                <a:solidFill>
                  <a:srgbClr val="0F8D36"/>
                </a:solidFill>
                <a:latin typeface="Ink Free" panose="03080402000500000000" pitchFamily="66" charset="0"/>
              </a:rPr>
              <a:t>couvert</a:t>
            </a:r>
            <a:r>
              <a:rPr lang="en-CA" sz="2300" b="1" u="sng" dirty="0">
                <a:solidFill>
                  <a:srgbClr val="0F8D36"/>
                </a:solidFill>
                <a:latin typeface="Ink Free" panose="03080402000500000000" pitchFamily="66" charset="0"/>
              </a:rPr>
              <a:t> </a:t>
            </a:r>
            <a:r>
              <a:rPr lang="en-CA" sz="2300" b="1" u="sng" dirty="0" err="1">
                <a:solidFill>
                  <a:srgbClr val="0F8D36"/>
                </a:solidFill>
                <a:latin typeface="Ink Free" panose="03080402000500000000" pitchFamily="66" charset="0"/>
              </a:rPr>
              <a:t>en</a:t>
            </a:r>
            <a:r>
              <a:rPr lang="en-CA" sz="2300" b="1" u="sng" dirty="0">
                <a:solidFill>
                  <a:srgbClr val="0F8D36"/>
                </a:solidFill>
                <a:latin typeface="Ink Free" panose="03080402000500000000" pitchFamily="66" charset="0"/>
              </a:rPr>
              <a:t> </a:t>
            </a:r>
            <a:r>
              <a:rPr lang="en-CA" sz="2300" b="1" u="sng" dirty="0" err="1">
                <a:solidFill>
                  <a:srgbClr val="0F8D36"/>
                </a:solidFill>
                <a:latin typeface="Ink Free" panose="03080402000500000000" pitchFamily="66" charset="0"/>
              </a:rPr>
              <a:t>classe</a:t>
            </a:r>
            <a:r>
              <a:rPr lang="en-CA" sz="2300" b="1" u="sng" dirty="0">
                <a:solidFill>
                  <a:srgbClr val="0F8D36"/>
                </a:solidFill>
                <a:latin typeface="Ink Free" panose="03080402000500000000" pitchFamily="66" charset="0"/>
              </a:rPr>
              <a:t> </a:t>
            </a:r>
            <a:r>
              <a:rPr lang="en-CA" sz="2300" b="1" u="sng" dirty="0" err="1">
                <a:solidFill>
                  <a:srgbClr val="0F8D36"/>
                </a:solidFill>
                <a:latin typeface="Ink Free" panose="03080402000500000000" pitchFamily="66" charset="0"/>
              </a:rPr>
              <a:t>mais</a:t>
            </a:r>
            <a:r>
              <a:rPr lang="en-CA" sz="2300" b="1" u="sng" dirty="0">
                <a:solidFill>
                  <a:srgbClr val="0F8D36"/>
                </a:solidFill>
                <a:latin typeface="Ink Free" panose="03080402000500000000" pitchFamily="66" charset="0"/>
              </a:rPr>
              <a:t> important pour </a:t>
            </a:r>
            <a:r>
              <a:rPr lang="en-CA" sz="2300" b="1" u="sng" dirty="0" err="1">
                <a:solidFill>
                  <a:srgbClr val="0F8D36"/>
                </a:solidFill>
                <a:latin typeface="Ink Free" panose="03080402000500000000" pitchFamily="66" charset="0"/>
              </a:rPr>
              <a:t>vos</a:t>
            </a:r>
            <a:r>
              <a:rPr lang="en-CA" sz="2300" b="1" u="sng" dirty="0">
                <a:solidFill>
                  <a:srgbClr val="0F8D36"/>
                </a:solidFill>
                <a:latin typeface="Ink Free" panose="03080402000500000000" pitchFamily="66" charset="0"/>
              </a:rPr>
              <a:t> examens et quiz </a:t>
            </a:r>
            <a:endParaRPr lang="fr-FR" sz="2300" u="sng" dirty="0">
              <a:solidFill>
                <a:srgbClr val="0F8D36"/>
              </a:solidFill>
              <a:latin typeface="Ink Free" panose="03080402000500000000" pitchFamily="66" charset="0"/>
            </a:endParaRPr>
          </a:p>
          <a:p>
            <a:pPr algn="ctr"/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19</a:t>
            </a:fld>
            <a:endParaRPr lang="fr-CA" dirty="0">
              <a:solidFill>
                <a:srgbClr val="8CADAE">
                  <a:shade val="75000"/>
                </a:srgbClr>
              </a:solidFill>
            </a:endParaRPr>
          </a:p>
        </p:txBody>
      </p:sp>
      <p:pic>
        <p:nvPicPr>
          <p:cNvPr id="5" name="Picture 2" descr="Important ">
            <a:extLst>
              <a:ext uri="{FF2B5EF4-FFF2-40B4-BE49-F238E27FC236}">
                <a16:creationId xmlns:a16="http://schemas.microsoft.com/office/drawing/2014/main" id="{7F480A79-2119-EE3B-81BF-17701D276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5349" y="1772817"/>
            <a:ext cx="1457879" cy="1457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3694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>
                <a:solidFill>
                  <a:srgbClr val="FF0000"/>
                </a:solidFill>
              </a:rPr>
              <a:t>Capsule 4 : </a:t>
            </a:r>
            <a:r>
              <a:rPr lang="fr-CA">
                <a:solidFill>
                  <a:srgbClr val="FF0000"/>
                </a:solidFill>
              </a:rPr>
              <a:t>Convertir les taux d'intérêts</a:t>
            </a:r>
            <a:endParaRPr lang="fr-CA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75631" y="1628800"/>
            <a:ext cx="11338560" cy="4572000"/>
          </a:xfrm>
        </p:spPr>
        <p:txBody>
          <a:bodyPr>
            <a:normAutofit/>
          </a:bodyPr>
          <a:lstStyle/>
          <a:p>
            <a:pPr marL="514350" indent="-514350">
              <a:buClr>
                <a:srgbClr val="C00000"/>
              </a:buClr>
              <a:buFont typeface="+mj-lt"/>
              <a:buAutoNum type="alphaUcPeriod"/>
            </a:pPr>
            <a:r>
              <a:rPr lang="en-US" dirty="0"/>
              <a:t>Fréquence de capitalisation</a:t>
            </a:r>
          </a:p>
          <a:p>
            <a:pPr marL="514350" indent="-514350">
              <a:buClr>
                <a:srgbClr val="C00000"/>
              </a:buClr>
              <a:buFont typeface="+mj-lt"/>
              <a:buAutoNum type="alphaUcPeriod"/>
            </a:pPr>
            <a:r>
              <a:rPr lang="en-US" dirty="0"/>
              <a:t>Taux d'intérêt divers</a:t>
            </a:r>
          </a:p>
          <a:p>
            <a:pPr marL="514350" indent="-514350">
              <a:buClr>
                <a:srgbClr val="C00000"/>
              </a:buClr>
              <a:buFont typeface="+mj-lt"/>
              <a:buAutoNum type="alphaUcPeriod"/>
            </a:pPr>
            <a:r>
              <a:rPr lang="en-US" dirty="0"/>
              <a:t>Conversion des taux d'intérêt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20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pic>
        <p:nvPicPr>
          <p:cNvPr id="5" name="Picture 6" descr="Generated image">
            <a:extLst>
              <a:ext uri="{FF2B5EF4-FFF2-40B4-BE49-F238E27FC236}">
                <a16:creationId xmlns:a16="http://schemas.microsoft.com/office/drawing/2014/main" id="{C8F6DD0B-848A-8EED-A648-23B87BC61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144" y="1844824"/>
            <a:ext cx="3789040" cy="37890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6657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48FD9CA-4D18-1EBA-1F09-87D4F9DEEEF7}"/>
              </a:ext>
            </a:extLst>
          </p:cNvPr>
          <p:cNvSpPr/>
          <p:nvPr/>
        </p:nvSpPr>
        <p:spPr>
          <a:xfrm>
            <a:off x="3373721" y="3839969"/>
            <a:ext cx="7468671" cy="24175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276" y="225114"/>
            <a:ext cx="11449272" cy="758952"/>
          </a:xfrm>
        </p:spPr>
        <p:txBody>
          <a:bodyPr>
            <a:normAutofit/>
          </a:bodyPr>
          <a:lstStyle/>
          <a:p>
            <a:r>
              <a:rPr lang="fr-CA" dirty="0">
                <a:solidFill>
                  <a:srgbClr val="FF0000"/>
                </a:solidFill>
              </a:rPr>
              <a:t>Il existe </a:t>
            </a:r>
            <a:r>
              <a:rPr lang="fr-CA" b="1" dirty="0" err="1">
                <a:solidFill>
                  <a:srgbClr val="FF0000"/>
                </a:solidFill>
              </a:rPr>
              <a:t>différentes façons </a:t>
            </a:r>
            <a:r>
              <a:rPr lang="fr-CA" dirty="0">
                <a:solidFill>
                  <a:srgbClr val="FF0000"/>
                </a:solidFill>
              </a:rPr>
              <a:t>de </a:t>
            </a:r>
            <a:r>
              <a:rPr lang="fr-CA" dirty="0" err="1">
                <a:solidFill>
                  <a:srgbClr val="FF0000"/>
                </a:solidFill>
              </a:rPr>
              <a:t>citer les taux d'intérêt</a:t>
            </a:r>
            <a:r>
              <a:rPr lang="fr-CA" dirty="0">
                <a:solidFill>
                  <a:srgbClr val="FF0000"/>
                </a:solidFill>
              </a:rPr>
              <a:t>...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95748" y="1470069"/>
            <a:ext cx="11449272" cy="1416475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fr-CA" sz="4000" dirty="0"/>
              <a:t>Un placement rapporte 3 % tous les 6 mois... Est-ce que 3 % tous les 6 mois </a:t>
            </a:r>
            <a:r>
              <a:rPr lang="fr-CA" sz="4000" dirty="0">
                <a:solidFill>
                  <a:srgbClr val="0070C0"/>
                </a:solidFill>
                <a:latin typeface="Bradley Hand ITC" panose="03070402050302030203" pitchFamily="66" charset="0"/>
              </a:rPr>
              <a:t>équivaut à un placement </a:t>
            </a:r>
            <a:r>
              <a:rPr lang="fr-CA" sz="4000" dirty="0"/>
              <a:t>rapportant 6 % par an ? </a:t>
            </a:r>
          </a:p>
          <a:p>
            <a:pPr>
              <a:lnSpc>
                <a:spcPct val="120000"/>
              </a:lnSpc>
            </a:pPr>
            <a:endParaRPr lang="fr-CA" sz="2100" dirty="0"/>
          </a:p>
          <a:p>
            <a:pPr marL="0" indent="0" algn="ctr">
              <a:buNone/>
            </a:pPr>
            <a:r>
              <a:rPr lang="fr-CA" sz="5100" b="1" dirty="0">
                <a:latin typeface="Bradley Hand ITC" panose="03070402050302030203" pitchFamily="66" charset="0"/>
              </a:rPr>
              <a:t>👉</a:t>
            </a:r>
            <a:r>
              <a:rPr lang="fr-CA" sz="5100" b="1" dirty="0">
                <a:solidFill>
                  <a:srgbClr val="0070C0"/>
                </a:solidFill>
                <a:latin typeface="Bradley Hand ITC" panose="03070402050302030203" pitchFamily="66" charset="0"/>
              </a:rPr>
              <a:t>NON ! 3 % / semestre ≠ 6 % effectif annuel</a:t>
            </a:r>
          </a:p>
          <a:p>
            <a:endParaRPr lang="fr-CA" dirty="0"/>
          </a:p>
          <a:p>
            <a:pPr lvl="1"/>
            <a:endParaRPr lang="en-CA" dirty="0"/>
          </a:p>
          <a:p>
            <a:pPr lvl="1"/>
            <a:endParaRPr lang="en-US" altLang="en-US" dirty="0"/>
          </a:p>
          <a:p>
            <a:pPr marL="0" indent="0" fontAlgn="base">
              <a:spcAft>
                <a:spcPct val="0"/>
              </a:spcAft>
              <a:buClr>
                <a:srgbClr val="0000FF"/>
              </a:buClr>
              <a:buSzTx/>
              <a:buNone/>
            </a:pPr>
            <a:endParaRPr lang="fr-CA" sz="2000" dirty="0">
              <a:solidFill>
                <a:prstClr val="black"/>
              </a:solidFill>
              <a:latin typeface="Calibri"/>
            </a:endParaRPr>
          </a:p>
          <a:p>
            <a:pPr marL="0" indent="0">
              <a:buNone/>
            </a:pPr>
            <a:endParaRPr lang="fr-CA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21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F8D3F0-8B2E-1BE3-A697-3E17C5D4F780}"/>
              </a:ext>
            </a:extLst>
          </p:cNvPr>
          <p:cNvCxnSpPr/>
          <p:nvPr/>
        </p:nvCxnSpPr>
        <p:spPr>
          <a:xfrm>
            <a:off x="4073752" y="3401529"/>
            <a:ext cx="583264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9EAF919-506B-F26F-CB19-1587D1BADCDF}"/>
              </a:ext>
            </a:extLst>
          </p:cNvPr>
          <p:cNvCxnSpPr/>
          <p:nvPr/>
        </p:nvCxnSpPr>
        <p:spPr>
          <a:xfrm>
            <a:off x="4073752" y="5794316"/>
            <a:ext cx="583264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5F64B8C-B15A-4E7E-80B5-CCA313198194}"/>
              </a:ext>
            </a:extLst>
          </p:cNvPr>
          <p:cNvCxnSpPr/>
          <p:nvPr/>
        </p:nvCxnSpPr>
        <p:spPr>
          <a:xfrm>
            <a:off x="7031792" y="3257513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5FE6CC9-CEEE-D968-9BB6-BA882D98AB42}"/>
              </a:ext>
            </a:extLst>
          </p:cNvPr>
          <p:cNvSpPr txBox="1"/>
          <p:nvPr/>
        </p:nvSpPr>
        <p:spPr>
          <a:xfrm>
            <a:off x="8106201" y="2835311"/>
            <a:ext cx="936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/>
              <a:t> 3 %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9FDC43-DBC5-F805-8BC1-617DC3B76243}"/>
              </a:ext>
            </a:extLst>
          </p:cNvPr>
          <p:cNvSpPr txBox="1"/>
          <p:nvPr/>
        </p:nvSpPr>
        <p:spPr>
          <a:xfrm>
            <a:off x="5215231" y="2773916"/>
            <a:ext cx="1049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/>
              <a:t> 3 %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6E5F1F-E527-1000-65EB-F32080583BC1}"/>
              </a:ext>
            </a:extLst>
          </p:cNvPr>
          <p:cNvSpPr txBox="1"/>
          <p:nvPr/>
        </p:nvSpPr>
        <p:spPr>
          <a:xfrm>
            <a:off x="3848490" y="3481111"/>
            <a:ext cx="617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/>
              <a:t>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387745-EC73-E049-F5E9-A8E2CFA467F1}"/>
              </a:ext>
            </a:extLst>
          </p:cNvPr>
          <p:cNvSpPr txBox="1"/>
          <p:nvPr/>
        </p:nvSpPr>
        <p:spPr>
          <a:xfrm>
            <a:off x="6810057" y="3481111"/>
            <a:ext cx="617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/>
              <a:t>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16746D-F511-D53A-DCE3-930222C14449}"/>
              </a:ext>
            </a:extLst>
          </p:cNvPr>
          <p:cNvSpPr txBox="1"/>
          <p:nvPr/>
        </p:nvSpPr>
        <p:spPr>
          <a:xfrm>
            <a:off x="9750232" y="3420881"/>
            <a:ext cx="270814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/>
              <a:t> 2 </a:t>
            </a:r>
            <a:r>
              <a:rPr lang="fr-CA" sz="1300" dirty="0" err="1"/>
              <a:t>périodes semestrielles</a:t>
            </a:r>
            <a:endParaRPr lang="fr-CA" sz="1300" dirty="0"/>
          </a:p>
          <a:p>
            <a:endParaRPr lang="fr-CA" sz="13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A374CC-844A-BD27-BF85-D1723EBB8B54}"/>
              </a:ext>
            </a:extLst>
          </p:cNvPr>
          <p:cNvSpPr txBox="1"/>
          <p:nvPr/>
        </p:nvSpPr>
        <p:spPr>
          <a:xfrm>
            <a:off x="9602302" y="5810651"/>
            <a:ext cx="1925291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/>
              <a:t> 1 </a:t>
            </a:r>
            <a:r>
              <a:rPr lang="fr-CA" sz="1300" dirty="0" err="1"/>
              <a:t>an</a:t>
            </a:r>
            <a:endParaRPr lang="fr-CA" sz="1300" dirty="0"/>
          </a:p>
          <a:p>
            <a:endParaRPr lang="fr-CA" sz="13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73491C-D2B3-063D-7B63-EFB89C192F69}"/>
              </a:ext>
            </a:extLst>
          </p:cNvPr>
          <p:cNvSpPr txBox="1"/>
          <p:nvPr/>
        </p:nvSpPr>
        <p:spPr>
          <a:xfrm>
            <a:off x="6724175" y="5444798"/>
            <a:ext cx="923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/>
              <a:t> 6 %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F99925-71D0-3769-9F56-7E385D9CAFAC}"/>
              </a:ext>
            </a:extLst>
          </p:cNvPr>
          <p:cNvSpPr txBox="1"/>
          <p:nvPr/>
        </p:nvSpPr>
        <p:spPr>
          <a:xfrm>
            <a:off x="3848490" y="5794315"/>
            <a:ext cx="617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/>
              <a:t> 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E7BD6AE-7805-A739-2A4E-7DE05EE1C7F5}"/>
              </a:ext>
            </a:extLst>
          </p:cNvPr>
          <p:cNvCxnSpPr/>
          <p:nvPr/>
        </p:nvCxnSpPr>
        <p:spPr>
          <a:xfrm>
            <a:off x="4073751" y="4725641"/>
            <a:ext cx="583264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C98A86A-6811-B58B-1C02-99B607020C7B}"/>
              </a:ext>
            </a:extLst>
          </p:cNvPr>
          <p:cNvSpPr txBox="1"/>
          <p:nvPr/>
        </p:nvSpPr>
        <p:spPr>
          <a:xfrm>
            <a:off x="6654336" y="4328932"/>
            <a:ext cx="1169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/>
              <a:t> 6,09 %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0DF84F-2BB9-DBE4-7871-CB1520689227}"/>
              </a:ext>
            </a:extLst>
          </p:cNvPr>
          <p:cNvSpPr txBox="1"/>
          <p:nvPr/>
        </p:nvSpPr>
        <p:spPr>
          <a:xfrm>
            <a:off x="5328567" y="4159423"/>
            <a:ext cx="6173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/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317B78-C86E-726E-4610-8AFD34FFA1EA}"/>
              </a:ext>
            </a:extLst>
          </p:cNvPr>
          <p:cNvSpPr txBox="1"/>
          <p:nvPr/>
        </p:nvSpPr>
        <p:spPr>
          <a:xfrm>
            <a:off x="3848489" y="4805223"/>
            <a:ext cx="617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/>
              <a:t> 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02066F-199A-A4A7-34A1-3A92FA6A259E}"/>
              </a:ext>
            </a:extLst>
          </p:cNvPr>
          <p:cNvSpPr txBox="1"/>
          <p:nvPr/>
        </p:nvSpPr>
        <p:spPr>
          <a:xfrm>
            <a:off x="6810056" y="4805223"/>
            <a:ext cx="617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/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49AA0F-A300-B118-1048-C533EE62A2BD}"/>
              </a:ext>
            </a:extLst>
          </p:cNvPr>
          <p:cNvSpPr txBox="1"/>
          <p:nvPr/>
        </p:nvSpPr>
        <p:spPr>
          <a:xfrm>
            <a:off x="9602301" y="4808895"/>
            <a:ext cx="1925291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dirty="0"/>
              <a:t> 1 </a:t>
            </a:r>
            <a:r>
              <a:rPr lang="fr-CA" sz="1300" dirty="0" err="1"/>
              <a:t>an</a:t>
            </a:r>
            <a:endParaRPr lang="fr-CA" sz="1300" dirty="0"/>
          </a:p>
          <a:p>
            <a:endParaRPr lang="fr-CA" sz="1300" dirty="0"/>
          </a:p>
        </p:txBody>
      </p:sp>
      <p:pic>
        <p:nvPicPr>
          <p:cNvPr id="6146" name="Picture 2" descr="Close ">
            <a:extLst>
              <a:ext uri="{FF2B5EF4-FFF2-40B4-BE49-F238E27FC236}">
                <a16:creationId xmlns:a16="http://schemas.microsoft.com/office/drawing/2014/main" id="{EEB9A660-DA5A-23D1-18B4-468AF0E70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863" y="5519254"/>
            <a:ext cx="763358" cy="763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Checkmark ">
            <a:extLst>
              <a:ext uri="{FF2B5EF4-FFF2-40B4-BE49-F238E27FC236}">
                <a16:creationId xmlns:a16="http://schemas.microsoft.com/office/drawing/2014/main" id="{9C47E66F-99CD-9AF6-06FC-41D43742C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375" y="4159082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62097C-7A59-BD65-A097-8EA24BE7EA18}"/>
              </a:ext>
            </a:extLst>
          </p:cNvPr>
          <p:cNvSpPr txBox="1"/>
          <p:nvPr/>
        </p:nvSpPr>
        <p:spPr>
          <a:xfrm>
            <a:off x="850579" y="3947063"/>
            <a:ext cx="47866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000" dirty="0">
                <a:solidFill>
                  <a:srgbClr val="0F8D36"/>
                </a:solidFill>
                <a:latin typeface="Bradley Hand ITC" panose="03070402050302030203" pitchFamily="66" charset="0"/>
              </a:rPr>
              <a:t>Équivalent!</a:t>
            </a:r>
            <a:endParaRPr lang="fr-CA" sz="2000" dirty="0">
              <a:solidFill>
                <a:srgbClr val="0F8D36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86261C-C6F1-4E30-E821-8B98AEC5CD3D}"/>
              </a:ext>
            </a:extLst>
          </p:cNvPr>
          <p:cNvSpPr txBox="1"/>
          <p:nvPr/>
        </p:nvSpPr>
        <p:spPr>
          <a:xfrm>
            <a:off x="1664027" y="5546990"/>
            <a:ext cx="17185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sz="2000" dirty="0">
                <a:solidFill>
                  <a:srgbClr val="FF0000"/>
                </a:solidFill>
                <a:latin typeface="Bradley Hand ITC" panose="03070402050302030203" pitchFamily="66" charset="0"/>
              </a:rPr>
              <a:t>Non Équivalent!</a:t>
            </a:r>
            <a:endParaRPr lang="fr-CA" sz="2000" dirty="0">
              <a:solidFill>
                <a:srgbClr val="FF0000"/>
              </a:solidFill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FAEAB197-BEE1-FC0C-87E2-5BDB29CFDA45}"/>
              </a:ext>
            </a:extLst>
          </p:cNvPr>
          <p:cNvSpPr/>
          <p:nvPr/>
        </p:nvSpPr>
        <p:spPr>
          <a:xfrm rot="16200000">
            <a:off x="5398155" y="1738912"/>
            <a:ext cx="321280" cy="2945990"/>
          </a:xfrm>
          <a:prstGeom prst="rightBrace">
            <a:avLst>
              <a:gd name="adj1" fmla="val 37226"/>
              <a:gd name="adj2" fmla="val 48778"/>
            </a:avLst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6CF05B2E-48CB-5905-C7F2-3E4ADD538253}"/>
              </a:ext>
            </a:extLst>
          </p:cNvPr>
          <p:cNvSpPr/>
          <p:nvPr/>
        </p:nvSpPr>
        <p:spPr>
          <a:xfrm rot="16200000">
            <a:off x="8356195" y="1717065"/>
            <a:ext cx="321280" cy="2945990"/>
          </a:xfrm>
          <a:prstGeom prst="rightBrace">
            <a:avLst>
              <a:gd name="adj1" fmla="val 37226"/>
              <a:gd name="adj2" fmla="val 48778"/>
            </a:avLst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5890369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accent3">
                    <a:lumMod val="75000"/>
                  </a:schemeClr>
                </a:solidFill>
              </a:rPr>
              <a:t>Cotation des taux </a:t>
            </a:r>
            <a:r>
              <a:rPr lang="fr-CA" dirty="0" err="1">
                <a:solidFill>
                  <a:schemeClr val="accent3">
                    <a:lumMod val="75000"/>
                  </a:schemeClr>
                </a:solidFill>
              </a:rPr>
              <a:t>d'intérêt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35360" y="1506517"/>
            <a:ext cx="11521280" cy="4809922"/>
          </a:xfrm>
        </p:spPr>
        <p:txBody>
          <a:bodyPr>
            <a:normAutofit fontScale="85000" lnSpcReduction="20000"/>
          </a:bodyPr>
          <a:lstStyle/>
          <a:p>
            <a:r>
              <a:rPr lang="fr-CA" b="1" dirty="0"/>
              <a:t>Taux périodique </a:t>
            </a:r>
            <a:r>
              <a:rPr lang="fr-CA" dirty="0"/>
              <a:t>(r) : Taux d'intérêt </a:t>
            </a:r>
            <a:r>
              <a:rPr lang="en-CA" dirty="0" err="1"/>
              <a:t>payé</a:t>
            </a:r>
            <a:r>
              <a:rPr lang="en-CA" dirty="0"/>
              <a:t> </a:t>
            </a:r>
            <a:r>
              <a:rPr lang="en-CA" dirty="0" err="1"/>
              <a:t>ou</a:t>
            </a:r>
            <a:r>
              <a:rPr lang="en-CA" dirty="0"/>
              <a:t> </a:t>
            </a:r>
            <a:r>
              <a:rPr lang="en-CA" dirty="0" err="1"/>
              <a:t>reçu</a:t>
            </a:r>
            <a:r>
              <a:rPr lang="en-CA" dirty="0"/>
              <a:t> pour </a:t>
            </a:r>
            <a:r>
              <a:rPr lang="en-CA" dirty="0" err="1"/>
              <a:t>une</a:t>
            </a:r>
            <a:r>
              <a:rPr lang="en-CA" dirty="0"/>
              <a:t> </a:t>
            </a:r>
            <a:r>
              <a:rPr lang="en-CA" dirty="0" err="1"/>
              <a:t>période</a:t>
            </a:r>
            <a:endParaRPr lang="en-CA" dirty="0"/>
          </a:p>
          <a:p>
            <a:pPr lvl="1"/>
            <a:r>
              <a:rPr lang="fr-CA" b="1" i="1" dirty="0"/>
              <a:t>Exemple : taux </a:t>
            </a:r>
            <a:r>
              <a:rPr lang="fr-CA" b="1" i="1" dirty="0" err="1"/>
              <a:t>d'intérêt mensuel</a:t>
            </a:r>
            <a:r>
              <a:rPr lang="fr-CA" b="1" i="1" dirty="0"/>
              <a:t>, taux </a:t>
            </a:r>
            <a:r>
              <a:rPr lang="fr-CA" b="1" i="1" dirty="0" err="1"/>
              <a:t>d'intérêt trimestriel</a:t>
            </a:r>
            <a:r>
              <a:rPr lang="fr-CA" b="1" i="1" dirty="0"/>
              <a:t>, taux </a:t>
            </a:r>
            <a:r>
              <a:rPr lang="fr-CA" b="1" i="1" dirty="0" err="1"/>
              <a:t>d'intérêt semestriel, etc.</a:t>
            </a:r>
            <a:endParaRPr lang="fr-CA" b="1" i="1" dirty="0"/>
          </a:p>
          <a:p>
            <a:pPr lvl="1"/>
            <a:r>
              <a:rPr lang="fr-CA" b="1" i="1" dirty="0"/>
              <a:t>Taux mensuel = Taux nominal capitalisation mensuelle / nombre de périodes par an (12)</a:t>
            </a:r>
          </a:p>
          <a:p>
            <a:pPr marL="274320" lvl="1" indent="0">
              <a:buNone/>
            </a:pPr>
            <a:endParaRPr lang="fr-CA" dirty="0"/>
          </a:p>
          <a:p>
            <a:r>
              <a:rPr lang="en-CA" b="1" dirty="0" err="1"/>
              <a:t>Taux</a:t>
            </a:r>
            <a:r>
              <a:rPr lang="en-CA" b="1" dirty="0"/>
              <a:t> nominal :</a:t>
            </a:r>
          </a:p>
          <a:p>
            <a:pPr lvl="1"/>
            <a:r>
              <a:rPr lang="en-CA" dirty="0"/>
              <a:t>Taux d'intérêt périodique exprimé sur une base annuelle </a:t>
            </a:r>
            <a:r>
              <a:rPr lang="en-CA" dirty="0">
                <a:solidFill>
                  <a:srgbClr val="0F8D36"/>
                </a:solidFill>
              </a:rPr>
              <a:t>sans tenir compte des </a:t>
            </a:r>
            <a:r>
              <a:rPr lang="en-CA" dirty="0" err="1">
                <a:solidFill>
                  <a:srgbClr val="0F8D36"/>
                </a:solidFill>
              </a:rPr>
              <a:t>intérêts</a:t>
            </a:r>
            <a:r>
              <a:rPr lang="en-CA" dirty="0">
                <a:solidFill>
                  <a:srgbClr val="0F8D36"/>
                </a:solidFill>
              </a:rPr>
              <a:t> </a:t>
            </a:r>
            <a:r>
              <a:rPr lang="en-CA" dirty="0" err="1">
                <a:solidFill>
                  <a:srgbClr val="0F8D36"/>
                </a:solidFill>
              </a:rPr>
              <a:t>composés</a:t>
            </a:r>
            <a:r>
              <a:rPr lang="en-CA" dirty="0">
                <a:solidFill>
                  <a:srgbClr val="0F8D36"/>
                </a:solidFill>
              </a:rPr>
              <a:t>.</a:t>
            </a:r>
          </a:p>
          <a:p>
            <a:pPr marL="274307" lvl="1" indent="0">
              <a:buNone/>
            </a:pPr>
            <a:r>
              <a:rPr lang="en-CA" dirty="0"/>
              <a:t>⚠️Ce </a:t>
            </a:r>
            <a:r>
              <a:rPr lang="en-CA" dirty="0" err="1"/>
              <a:t>n’est</a:t>
            </a:r>
            <a:r>
              <a:rPr lang="en-CA" dirty="0"/>
              <a:t> pas un </a:t>
            </a:r>
            <a:r>
              <a:rPr lang="en-CA" dirty="0" err="1"/>
              <a:t>taux</a:t>
            </a:r>
            <a:r>
              <a:rPr lang="en-CA" dirty="0"/>
              <a:t> d'intérêt annuel réel !</a:t>
            </a:r>
          </a:p>
          <a:p>
            <a:pPr lvl="1"/>
            <a:r>
              <a:rPr lang="fr-CA" b="1" i="1" dirty="0"/>
              <a:t>Taux nominal à capitalisation y  = Taux périodique y x nombre de périodes par an (m)</a:t>
            </a:r>
          </a:p>
          <a:p>
            <a:pPr lvl="1"/>
            <a:endParaRPr lang="fr-CA" b="1" i="1" dirty="0"/>
          </a:p>
          <a:p>
            <a:r>
              <a:rPr lang="fr-CA" b="1" dirty="0"/>
              <a:t>Taux annuel effectif </a:t>
            </a:r>
            <a:r>
              <a:rPr lang="fr-CA" dirty="0"/>
              <a:t>:</a:t>
            </a:r>
          </a:p>
          <a:p>
            <a:pPr lvl="1"/>
            <a:r>
              <a:rPr lang="en-CA" dirty="0"/>
              <a:t>Taux d'intérêt périodique exprimé sur une base annuelle</a:t>
            </a:r>
            <a:r>
              <a:rPr lang="en-CA" dirty="0">
                <a:solidFill>
                  <a:srgbClr val="0F8D36"/>
                </a:solidFill>
              </a:rPr>
              <a:t>, en tenant compte du principe des intérêts composés</a:t>
            </a:r>
          </a:p>
          <a:p>
            <a:pPr lvl="1"/>
            <a:r>
              <a:rPr lang="fr-CA" b="1" dirty="0"/>
              <a:t>Taux annuel réel ! **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22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D4EB3AF-F2E4-44D5-98A2-DDF880DAEBFE}"/>
                  </a:ext>
                </a:extLst>
              </p:cNvPr>
              <p:cNvSpPr/>
              <p:nvPr/>
            </p:nvSpPr>
            <p:spPr>
              <a:xfrm>
                <a:off x="3647728" y="5661248"/>
                <a:ext cx="7920880" cy="5379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CA" b="1" i="1" smtClean="0">
                        <a:latin typeface="Cambria Math" panose="02040503050406030204" pitchFamily="18" charset="0"/>
                        <a:cs typeface="Helvetica" panose="020B0604020202020204" pitchFamily="34" charset="0"/>
                      </a:rPr>
                      <m:t>𝑻𝒂𝒖𝒙</m:t>
                    </m:r>
                    <m:r>
                      <a:rPr lang="en-CA" b="1" i="1" smtClean="0">
                        <a:latin typeface="Cambria Math" panose="02040503050406030204" pitchFamily="18" charset="0"/>
                        <a:cs typeface="Helvetica" panose="020B0604020202020204" pitchFamily="34" charset="0"/>
                      </a:rPr>
                      <m:t> </m:t>
                    </m:r>
                    <m:r>
                      <a:rPr lang="en-CA" b="1" i="1" smtClean="0">
                        <a:latin typeface="Cambria Math" panose="02040503050406030204" pitchFamily="18" charset="0"/>
                        <a:cs typeface="Helvetica" panose="020B0604020202020204" pitchFamily="34" charset="0"/>
                      </a:rPr>
                      <m:t>𝒆𝒇𝒇𝒆𝒄𝒕𝒊𝒇</m:t>
                    </m:r>
                    <m:r>
                      <a:rPr lang="en-CA" b="1" i="1" smtClean="0">
                        <a:latin typeface="Cambria Math" panose="02040503050406030204" pitchFamily="18" charset="0"/>
                        <a:cs typeface="Helvetica" panose="020B0604020202020204" pitchFamily="34" charset="0"/>
                      </a:rPr>
                      <m:t> </m:t>
                    </m:r>
                    <m:r>
                      <a:rPr lang="en-CA" b="1" i="1" smtClean="0">
                        <a:latin typeface="Cambria Math" panose="02040503050406030204" pitchFamily="18" charset="0"/>
                        <a:cs typeface="Helvetica" panose="020B0604020202020204" pitchFamily="34" charset="0"/>
                      </a:rPr>
                      <m:t>𝒂𝒏𝒏𝒖𝒆𝒍</m:t>
                    </m:r>
                    <m:r>
                      <a:rPr lang="en-CA" b="1" i="1">
                        <a:latin typeface="Cambria Math"/>
                        <a:cs typeface="Helvetica" panose="020B0604020202020204" pitchFamily="34" charset="0"/>
                      </a:rPr>
                      <m:t> = </m:t>
                    </m:r>
                    <m:sSup>
                      <m:sSupPr>
                        <m:ctrlPr>
                          <a:rPr lang="en-CA" i="1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CA" i="1">
                                <a:latin typeface="Cambria Math" panose="02040503050406030204" pitchFamily="18" charset="0"/>
                                <a:cs typeface="Helvetica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CA" b="1" i="1">
                                <a:latin typeface="Cambria Math"/>
                                <a:cs typeface="Helvetica" panose="020B0604020202020204" pitchFamily="34" charset="0"/>
                              </a:rPr>
                              <m:t>𝟏</m:t>
                            </m:r>
                            <m:r>
                              <a:rPr lang="en-CA" b="1" i="1">
                                <a:latin typeface="Cambria Math"/>
                                <a:cs typeface="Helvetica" panose="020B0604020202020204" pitchFamily="34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CA" b="1" i="1">
                                    <a:latin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𝑻𝒂𝒖𝒙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 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𝒏𝒐𝒎𝒊𝒏𝒂𝒍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 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𝒄𝒂𝒑𝒊𝒕𝒂𝒍𝒊𝒔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é 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𝒎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 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𝒇𝒐𝒊𝒔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 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𝒑𝒂𝒓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 </m:t>
                                </m:r>
                                <m:r>
                                  <a:rPr lang="en-CA" b="1" i="1" smtClean="0">
                                    <a:latin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𝒂𝒏</m:t>
                                </m:r>
                              </m:num>
                              <m:den>
                                <m:r>
                                  <a:rPr lang="en-CA" b="1" i="1">
                                    <a:latin typeface="Cambria Math" panose="02040503050406030204" pitchFamily="18" charset="0"/>
                                    <a:cs typeface="Helvetica" panose="020B0604020202020204" pitchFamily="34" charset="0"/>
                                  </a:rPr>
                                  <m:t>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CA" b="1" i="1">
                            <a:latin typeface="Cambria Math"/>
                            <a:cs typeface="Helvetica" panose="020B0604020202020204" pitchFamily="34" charset="0"/>
                          </a:rPr>
                          <m:t>𝒎</m:t>
                        </m:r>
                      </m:sup>
                    </m:sSup>
                    <m:r>
                      <a:rPr lang="en-CA" b="1" i="1">
                        <a:latin typeface="Cambria Math"/>
                        <a:cs typeface="Helvetica" panose="020B0604020202020204" pitchFamily="34" charset="0"/>
                      </a:rPr>
                      <m:t>−</m:t>
                    </m:r>
                    <m:r>
                      <a:rPr lang="en-CA" b="1" i="1">
                        <a:latin typeface="Cambria Math"/>
                        <a:cs typeface="Helvetica" panose="020B0604020202020204" pitchFamily="34" charset="0"/>
                      </a:rPr>
                      <m:t>𝟏</m:t>
                    </m:r>
                  </m:oMath>
                </a14:m>
                <a:r>
                  <a:rPr lang="en-CA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endParaRPr lang="fr-CA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D4EB3AF-F2E4-44D5-98A2-DDF880DAEB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728" y="5661248"/>
                <a:ext cx="7920880" cy="537904"/>
              </a:xfrm>
              <a:prstGeom prst="rect">
                <a:avLst/>
              </a:prstGeom>
              <a:blipFill>
                <a:blip r:embed="rId3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8212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accent3">
                    <a:lumMod val="75000"/>
                  </a:schemeClr>
                </a:solidFill>
              </a:rPr>
              <a:t>Fréquence de </a:t>
            </a:r>
            <a:r>
              <a:rPr lang="fr-CA" dirty="0" err="1">
                <a:solidFill>
                  <a:schemeClr val="accent3">
                    <a:lumMod val="75000"/>
                  </a:schemeClr>
                </a:solidFill>
              </a:rPr>
              <a:t>calcul des intérêts</a:t>
            </a:r>
            <a:endParaRPr lang="fr-CA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35360" y="1467697"/>
            <a:ext cx="11521280" cy="1991783"/>
          </a:xfrm>
        </p:spPr>
        <p:txBody>
          <a:bodyPr>
            <a:normAutofit lnSpcReduction="10000"/>
          </a:bodyPr>
          <a:lstStyle/>
          <a:p>
            <a:r>
              <a:rPr lang="fr-CA" dirty="0"/>
              <a:t>La fréquence de capitalisation est très importante lorsque l'on parle de </a:t>
            </a:r>
            <a:r>
              <a:rPr lang="fr-CA" b="1" dirty="0"/>
              <a:t>taux d'intérêt nominal.</a:t>
            </a:r>
          </a:p>
          <a:p>
            <a:endParaRPr lang="fr-CA" sz="1300" b="1" dirty="0" err="1"/>
          </a:p>
          <a:p>
            <a:r>
              <a:rPr lang="fr-CA" dirty="0"/>
              <a:t>Fréquence de capitalisation </a:t>
            </a:r>
          </a:p>
          <a:p>
            <a:pPr lvl="1"/>
            <a:r>
              <a:rPr lang="en-CA" sz="2400" dirty="0"/>
              <a:t>Fréquence à laquelle les intérêts composés sont calculés et payés</a:t>
            </a:r>
          </a:p>
          <a:p>
            <a:pPr lvl="1"/>
            <a:endParaRPr lang="en-CA" dirty="0"/>
          </a:p>
          <a:p>
            <a:pPr lvl="1"/>
            <a:endParaRPr lang="en-US" altLang="en-US" dirty="0"/>
          </a:p>
          <a:p>
            <a:pPr marL="0" indent="0" fontAlgn="base">
              <a:spcAft>
                <a:spcPct val="0"/>
              </a:spcAft>
              <a:buClr>
                <a:srgbClr val="0000FF"/>
              </a:buClr>
              <a:buSzTx/>
              <a:buNone/>
            </a:pPr>
            <a:endParaRPr lang="fr-CA" sz="2000" dirty="0">
              <a:solidFill>
                <a:prstClr val="black"/>
              </a:solidFill>
              <a:latin typeface="Calibri"/>
            </a:endParaRPr>
          </a:p>
          <a:p>
            <a:pPr marL="0" indent="0">
              <a:buNone/>
            </a:pPr>
            <a:endParaRPr lang="fr-CA" dirty="0"/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717120"/>
              </p:ext>
            </p:extLst>
          </p:nvPr>
        </p:nvGraphicFramePr>
        <p:xfrm>
          <a:off x="335360" y="3717032"/>
          <a:ext cx="11521280" cy="2663497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357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9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4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937">
                <a:tc>
                  <a:txBody>
                    <a:bodyPr/>
                    <a:lstStyle/>
                    <a:p>
                      <a:pPr algn="ctr"/>
                      <a:r>
                        <a:rPr lang="fr-CA" sz="1800" dirty="0"/>
                        <a:t>Taux nominal à capitalisation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dirty="0"/>
                        <a:t>Durée de la </a:t>
                      </a:r>
                      <a:r>
                        <a:rPr lang="fr-CA" sz="1800" dirty="0" err="1"/>
                        <a:t>période</a:t>
                      </a:r>
                      <a:endParaRPr lang="fr-CA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dirty="0"/>
                        <a:t>Nombre de </a:t>
                      </a:r>
                      <a:r>
                        <a:rPr lang="fr-CA" sz="1800" dirty="0" err="1"/>
                        <a:t>périodes </a:t>
                      </a:r>
                      <a:r>
                        <a:rPr lang="fr-CA" sz="1800" dirty="0"/>
                        <a:t>par </a:t>
                      </a:r>
                      <a:r>
                        <a:rPr lang="fr-CA" sz="1800" dirty="0" err="1"/>
                        <a:t>an</a:t>
                      </a:r>
                      <a:endParaRPr lang="fr-CA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29">
                <a:tc>
                  <a:txBody>
                    <a:bodyPr/>
                    <a:lstStyle/>
                    <a:p>
                      <a:pPr algn="ctr"/>
                      <a:r>
                        <a:rPr lang="fr-CA" sz="1800" dirty="0" err="1"/>
                        <a:t>Annuelle</a:t>
                      </a:r>
                      <a:endParaRPr lang="fr-CA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dirty="0"/>
                        <a:t>1 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200">
                <a:tc>
                  <a:txBody>
                    <a:bodyPr/>
                    <a:lstStyle/>
                    <a:p>
                      <a:pPr algn="ctr"/>
                      <a:r>
                        <a:rPr lang="fr-CA" sz="1800" dirty="0" err="1"/>
                        <a:t>Semestrielle</a:t>
                      </a:r>
                      <a:endParaRPr lang="fr-CA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dirty="0"/>
                        <a:t>6 mois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629">
                <a:tc>
                  <a:txBody>
                    <a:bodyPr/>
                    <a:lstStyle/>
                    <a:p>
                      <a:pPr algn="ctr"/>
                      <a:r>
                        <a:rPr lang="fr-CA" sz="1800" dirty="0"/>
                        <a:t>Trimestrielle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dirty="0"/>
                        <a:t>3 mois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629">
                <a:tc>
                  <a:txBody>
                    <a:bodyPr/>
                    <a:lstStyle/>
                    <a:p>
                      <a:pPr algn="ctr"/>
                      <a:r>
                        <a:rPr lang="fr-CA" sz="1800" dirty="0"/>
                        <a:t>Mensuel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dirty="0"/>
                        <a:t>1 mois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629">
                <a:tc>
                  <a:txBody>
                    <a:bodyPr/>
                    <a:lstStyle/>
                    <a:p>
                      <a:pPr algn="ctr"/>
                      <a:r>
                        <a:rPr lang="fr-CA" sz="1800" dirty="0"/>
                        <a:t>Hebdomadaire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dirty="0"/>
                        <a:t>1 </a:t>
                      </a:r>
                      <a:r>
                        <a:rPr lang="fr-CA" sz="1800" baseline="0" dirty="0"/>
                        <a:t>semaine</a:t>
                      </a:r>
                      <a:endParaRPr lang="fr-CA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dirty="0"/>
                        <a:t>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629">
                <a:tc>
                  <a:txBody>
                    <a:bodyPr/>
                    <a:lstStyle/>
                    <a:p>
                      <a:pPr algn="ctr"/>
                      <a:r>
                        <a:rPr lang="fr-CA" sz="1800" dirty="0"/>
                        <a:t>Quotidien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dirty="0"/>
                        <a:t>1 jour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dirty="0"/>
                        <a:t>365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23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843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Période de capitalisation et période de flux de </a:t>
            </a:r>
            <a:r>
              <a:rPr lang="en-CA" dirty="0" err="1"/>
              <a:t>monétaire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551384" y="1527048"/>
            <a:ext cx="11089232" cy="4710264"/>
          </a:xfrm>
        </p:spPr>
        <p:txBody>
          <a:bodyPr>
            <a:normAutofit/>
          </a:bodyPr>
          <a:lstStyle/>
          <a:p>
            <a:r>
              <a:rPr lang="en-CA" sz="3600" dirty="0"/>
              <a:t>Dans </a:t>
            </a:r>
            <a:r>
              <a:rPr lang="en-CA" sz="3600" b="1" dirty="0" err="1"/>
              <a:t>toutes</a:t>
            </a:r>
            <a:r>
              <a:rPr lang="en-CA" sz="3600" b="1" dirty="0"/>
              <a:t> les </a:t>
            </a:r>
            <a:r>
              <a:rPr lang="en-CA" sz="3600" b="1" dirty="0" err="1"/>
              <a:t>formules</a:t>
            </a:r>
            <a:r>
              <a:rPr lang="en-CA" sz="3600" b="1" dirty="0"/>
              <a:t> </a:t>
            </a:r>
            <a:r>
              <a:rPr lang="en-CA" sz="3600" dirty="0"/>
              <a:t>de </a:t>
            </a:r>
            <a:r>
              <a:rPr lang="en-CA" sz="3600" dirty="0" err="1"/>
              <a:t>mathématiques</a:t>
            </a:r>
            <a:r>
              <a:rPr lang="en-CA" sz="3600" dirty="0"/>
              <a:t> </a:t>
            </a:r>
            <a:r>
              <a:rPr lang="en-CA" sz="3600" dirty="0" err="1"/>
              <a:t>financières</a:t>
            </a:r>
            <a:r>
              <a:rPr lang="en-CA" sz="3600" dirty="0"/>
              <a:t>, le </a:t>
            </a:r>
            <a:r>
              <a:rPr lang="en-CA" sz="3600" b="1" dirty="0" err="1"/>
              <a:t>taux</a:t>
            </a:r>
            <a:r>
              <a:rPr lang="en-CA" sz="3600" b="1" dirty="0"/>
              <a:t> r</a:t>
            </a:r>
            <a:r>
              <a:rPr lang="en-CA" sz="3600" dirty="0"/>
              <a:t> </a:t>
            </a:r>
            <a:r>
              <a:rPr lang="en-CA" sz="3600" dirty="0" err="1"/>
              <a:t>est</a:t>
            </a:r>
            <a:r>
              <a:rPr lang="en-CA" sz="3600" dirty="0"/>
              <a:t> un </a:t>
            </a:r>
            <a:r>
              <a:rPr lang="en-CA" sz="3600" b="1" dirty="0" err="1"/>
              <a:t>taux</a:t>
            </a:r>
            <a:r>
              <a:rPr lang="en-CA" sz="3600" b="1" dirty="0"/>
              <a:t> </a:t>
            </a:r>
            <a:r>
              <a:rPr lang="en-CA" sz="3600" b="1" dirty="0" err="1"/>
              <a:t>périodique</a:t>
            </a:r>
            <a:r>
              <a:rPr lang="en-CA" sz="3600" dirty="0"/>
              <a:t>….</a:t>
            </a:r>
          </a:p>
          <a:p>
            <a:endParaRPr lang="en-CA" sz="3600" dirty="0"/>
          </a:p>
          <a:p>
            <a:r>
              <a:rPr lang="en-CA" sz="3600" dirty="0"/>
              <a:t>Quelle </a:t>
            </a:r>
            <a:r>
              <a:rPr lang="en-CA" sz="3600" dirty="0" err="1"/>
              <a:t>période</a:t>
            </a:r>
            <a:r>
              <a:rPr lang="en-CA" sz="3600" dirty="0"/>
              <a:t> ?</a:t>
            </a:r>
          </a:p>
          <a:p>
            <a:pPr lvl="1"/>
            <a:r>
              <a:rPr lang="en-CA" sz="3600" u="sng" dirty="0">
                <a:solidFill>
                  <a:srgbClr val="0F8D36"/>
                </a:solidFill>
                <a:latin typeface="Ink Free" panose="03080402000500000000" pitchFamily="66" charset="0"/>
              </a:rPr>
              <a:t>On </a:t>
            </a:r>
            <a:r>
              <a:rPr lang="en-CA" sz="3600" u="sng" dirty="0" err="1">
                <a:solidFill>
                  <a:srgbClr val="0F8D36"/>
                </a:solidFill>
                <a:latin typeface="Ink Free" panose="03080402000500000000" pitchFamily="66" charset="0"/>
              </a:rPr>
              <a:t>regarde</a:t>
            </a:r>
            <a:r>
              <a:rPr lang="en-CA" sz="3600" u="sng" dirty="0">
                <a:solidFill>
                  <a:srgbClr val="0F8D36"/>
                </a:solidFill>
                <a:latin typeface="Ink Free" panose="03080402000500000000" pitchFamily="66" charset="0"/>
              </a:rPr>
              <a:t> la </a:t>
            </a:r>
            <a:r>
              <a:rPr lang="en-CA" sz="3600" b="1" u="sng" dirty="0" err="1">
                <a:solidFill>
                  <a:srgbClr val="0F8D36"/>
                </a:solidFill>
                <a:latin typeface="Ink Free" panose="03080402000500000000" pitchFamily="66" charset="0"/>
              </a:rPr>
              <a:t>féquence</a:t>
            </a:r>
            <a:r>
              <a:rPr lang="en-CA" sz="3600" b="1" u="sng" dirty="0">
                <a:solidFill>
                  <a:srgbClr val="0F8D36"/>
                </a:solidFill>
                <a:latin typeface="Ink Free" panose="03080402000500000000" pitchFamily="66" charset="0"/>
              </a:rPr>
              <a:t> de </a:t>
            </a:r>
            <a:r>
              <a:rPr lang="en-CA" sz="3600" b="1" u="sng" dirty="0" err="1">
                <a:solidFill>
                  <a:srgbClr val="0F8D36"/>
                </a:solidFill>
                <a:latin typeface="Ink Free" panose="03080402000500000000" pitchFamily="66" charset="0"/>
              </a:rPr>
              <a:t>versement</a:t>
            </a:r>
            <a:r>
              <a:rPr lang="en-CA" sz="3600" b="1" u="sng" dirty="0">
                <a:solidFill>
                  <a:srgbClr val="0F8D36"/>
                </a:solidFill>
                <a:latin typeface="Ink Free" panose="03080402000500000000" pitchFamily="66" charset="0"/>
              </a:rPr>
              <a:t> </a:t>
            </a:r>
            <a:r>
              <a:rPr lang="en-CA" sz="3600" u="sng" dirty="0">
                <a:solidFill>
                  <a:srgbClr val="0F8D36"/>
                </a:solidFill>
                <a:latin typeface="Ink Free" panose="03080402000500000000" pitchFamily="66" charset="0"/>
              </a:rPr>
              <a:t>des flux </a:t>
            </a:r>
            <a:r>
              <a:rPr lang="en-CA" sz="3600" u="sng" dirty="0" err="1">
                <a:solidFill>
                  <a:srgbClr val="0F8D36"/>
                </a:solidFill>
                <a:latin typeface="Ink Free" panose="03080402000500000000" pitchFamily="66" charset="0"/>
              </a:rPr>
              <a:t>monétaires</a:t>
            </a:r>
            <a:r>
              <a:rPr lang="en-CA" sz="3600" u="sng" dirty="0">
                <a:solidFill>
                  <a:srgbClr val="0F8D36"/>
                </a:solidFill>
                <a:latin typeface="Ink Free" panose="03080402000500000000" pitchFamily="66" charset="0"/>
              </a:rPr>
              <a:t>…</a:t>
            </a:r>
          </a:p>
          <a:p>
            <a:endParaRPr lang="en-CA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B0A93-F203-46D9-84CD-C532EE837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24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67F0661F-83DC-DF58-7418-76C0D7A9E09B}"/>
              </a:ext>
            </a:extLst>
          </p:cNvPr>
          <p:cNvSpPr/>
          <p:nvPr/>
        </p:nvSpPr>
        <p:spPr>
          <a:xfrm>
            <a:off x="9840416" y="3104964"/>
            <a:ext cx="1008112" cy="648072"/>
          </a:xfrm>
          <a:prstGeom prst="star5">
            <a:avLst/>
          </a:prstGeom>
          <a:solidFill>
            <a:srgbClr val="FF0000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632255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24309" y="1482891"/>
            <a:ext cx="11593288" cy="75895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CA" sz="2400" dirty="0">
                <a:latin typeface="Ink Free" panose="03080402000500000000" pitchFamily="66" charset="0"/>
              </a:rPr>
              <a:t>👉 </a:t>
            </a:r>
            <a:r>
              <a:rPr lang="en-CA" sz="2400" dirty="0"/>
              <a:t>La </a:t>
            </a:r>
            <a:r>
              <a:rPr lang="en-CA" sz="2400" b="1" dirty="0"/>
              <a:t>cohérence</a:t>
            </a:r>
            <a:r>
              <a:rPr lang="en-CA" sz="2400" dirty="0"/>
              <a:t> est </a:t>
            </a:r>
            <a:r>
              <a:rPr lang="en-CA" sz="2400" b="1" dirty="0"/>
              <a:t>essentielle </a:t>
            </a:r>
            <a:r>
              <a:rPr lang="en-CA" sz="2400" dirty="0"/>
              <a:t>lors de l'application de formules...</a:t>
            </a:r>
          </a:p>
          <a:p>
            <a:pPr marL="0" indent="0">
              <a:buNone/>
            </a:pPr>
            <a:endParaRPr lang="en-CA" sz="600" u="sng" dirty="0"/>
          </a:p>
          <a:p>
            <a:pPr marL="0" indent="0">
              <a:buNone/>
            </a:pPr>
            <a:r>
              <a:rPr lang="fr-CA" sz="2400" dirty="0">
                <a:latin typeface="Ink Free" panose="03080402000500000000" pitchFamily="66" charset="0"/>
              </a:rPr>
              <a:t>👉 </a:t>
            </a:r>
            <a:r>
              <a:rPr lang="en-CA" sz="2400" u="sng" dirty="0" err="1"/>
              <a:t>Méthode</a:t>
            </a:r>
            <a:r>
              <a:rPr lang="en-CA" sz="2400" b="1" dirty="0"/>
              <a:t> étape par étape </a:t>
            </a:r>
            <a:r>
              <a:rPr lang="en-CA" sz="2400" dirty="0"/>
              <a:t>pour travailler avec des taux :</a:t>
            </a:r>
          </a:p>
          <a:p>
            <a:pPr marL="274320" lvl="1" indent="0">
              <a:buNone/>
            </a:pPr>
            <a:endParaRPr lang="en-CA" sz="1800" dirty="0"/>
          </a:p>
          <a:p>
            <a:pPr marL="274320" lvl="1" indent="0">
              <a:buNone/>
            </a:pPr>
            <a:endParaRPr lang="en-CA" sz="1800" dirty="0"/>
          </a:p>
          <a:p>
            <a:pPr marL="274320" lvl="1" indent="0">
              <a:buNone/>
            </a:pPr>
            <a:endParaRPr lang="en-CA" sz="1800" dirty="0"/>
          </a:p>
          <a:p>
            <a:endParaRPr lang="fr-CA" sz="2400" dirty="0"/>
          </a:p>
        </p:txBody>
      </p:sp>
      <p:sp>
        <p:nvSpPr>
          <p:cNvPr id="12" name="object 34">
            <a:extLst>
              <a:ext uri="{FF2B5EF4-FFF2-40B4-BE49-F238E27FC236}">
                <a16:creationId xmlns:a16="http://schemas.microsoft.com/office/drawing/2014/main" id="{649A311A-46B3-51A6-3394-640B48FDB42D}"/>
              </a:ext>
            </a:extLst>
          </p:cNvPr>
          <p:cNvSpPr/>
          <p:nvPr/>
        </p:nvSpPr>
        <p:spPr>
          <a:xfrm>
            <a:off x="6425184" y="5102983"/>
            <a:ext cx="5604405" cy="15426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449091-3FEA-656E-3325-6AAD9D9A5585}"/>
              </a:ext>
            </a:extLst>
          </p:cNvPr>
          <p:cNvSpPr txBox="1"/>
          <p:nvPr/>
        </p:nvSpPr>
        <p:spPr>
          <a:xfrm>
            <a:off x="6413293" y="5381054"/>
            <a:ext cx="577870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-228657" algn="ctr"/>
            <a:r>
              <a:rPr lang="fr-CA" b="1" dirty="0"/>
              <a:t>Si fréquence ≠ taux périodique donné</a:t>
            </a:r>
          </a:p>
          <a:p>
            <a:pPr marL="0" lvl="1" indent="-228657" algn="ctr"/>
            <a:r>
              <a:rPr lang="en-CA" sz="1600" b="1" u="sng" dirty="0">
                <a:solidFill>
                  <a:srgbClr val="0F8D36"/>
                </a:solidFill>
              </a:rPr>
              <a:t>Conversion</a:t>
            </a:r>
          </a:p>
          <a:p>
            <a:pPr marL="0" lvl="1" indent="-228657" algn="ctr"/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600" dirty="0">
                <a:solidFill>
                  <a:srgbClr val="0F8D36"/>
                </a:solidFill>
                <a:latin typeface="Ink Free" panose="03080402000500000000" pitchFamily="66" charset="0"/>
              </a:rPr>
              <a:t>Ajustez le </a:t>
            </a:r>
            <a:r>
              <a:rPr lang="en-US" sz="1600" dirty="0" err="1">
                <a:solidFill>
                  <a:srgbClr val="0F8D36"/>
                </a:solidFill>
                <a:latin typeface="Ink Free" panose="03080402000500000000" pitchFamily="66" charset="0"/>
              </a:rPr>
              <a:t>taux</a:t>
            </a:r>
            <a:r>
              <a:rPr lang="en-US" sz="1600" dirty="0">
                <a:solidFill>
                  <a:srgbClr val="0F8D36"/>
                </a:solidFill>
                <a:latin typeface="Ink Free" panose="03080402000500000000" pitchFamily="66" charset="0"/>
              </a:rPr>
              <a:t> </a:t>
            </a:r>
            <a:r>
              <a:rPr lang="en-US" sz="1600" dirty="0" err="1">
                <a:solidFill>
                  <a:srgbClr val="0F8D36"/>
                </a:solidFill>
                <a:latin typeface="Ink Free" panose="03080402000500000000" pitchFamily="66" charset="0"/>
              </a:rPr>
              <a:t>périodique</a:t>
            </a:r>
            <a:r>
              <a:rPr lang="en-US" sz="1600" dirty="0">
                <a:solidFill>
                  <a:srgbClr val="0F8D36"/>
                </a:solidFill>
                <a:latin typeface="Ink Free" panose="03080402000500000000" pitchFamily="66" charset="0"/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donné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afin</a:t>
            </a:r>
            <a:r>
              <a:rPr lang="en-US" sz="1400" dirty="0">
                <a:solidFill>
                  <a:schemeClr val="tx2"/>
                </a:solidFill>
              </a:rPr>
              <a:t> qu'il </a:t>
            </a:r>
            <a:r>
              <a:rPr lang="en-US" sz="1400" dirty="0" err="1">
                <a:solidFill>
                  <a:schemeClr val="tx2"/>
                </a:solidFill>
              </a:rPr>
              <a:t>corresponde</a:t>
            </a:r>
            <a:r>
              <a:rPr lang="en-US" sz="1400" dirty="0">
                <a:solidFill>
                  <a:schemeClr val="tx2"/>
                </a:solidFill>
              </a:rPr>
              <a:t> à la </a:t>
            </a:r>
            <a:r>
              <a:rPr lang="en-US" sz="1400" dirty="0" err="1">
                <a:solidFill>
                  <a:schemeClr val="tx2"/>
                </a:solidFill>
              </a:rPr>
              <a:t>fréquence</a:t>
            </a:r>
            <a:r>
              <a:rPr lang="en-US" sz="1400" dirty="0">
                <a:solidFill>
                  <a:schemeClr val="tx2"/>
                </a:solidFill>
              </a:rPr>
              <a:t> des FMs</a:t>
            </a:r>
            <a:endParaRPr lang="en-CA" sz="1400" dirty="0">
              <a:solidFill>
                <a:schemeClr val="tx2"/>
              </a:solidFill>
            </a:endParaRPr>
          </a:p>
        </p:txBody>
      </p:sp>
      <p:sp>
        <p:nvSpPr>
          <p:cNvPr id="13" name="object 34">
            <a:extLst>
              <a:ext uri="{FF2B5EF4-FFF2-40B4-BE49-F238E27FC236}">
                <a16:creationId xmlns:a16="http://schemas.microsoft.com/office/drawing/2014/main" id="{AB0FD541-67C6-87CE-C613-D4010AB70925}"/>
              </a:ext>
            </a:extLst>
          </p:cNvPr>
          <p:cNvSpPr/>
          <p:nvPr/>
        </p:nvSpPr>
        <p:spPr>
          <a:xfrm>
            <a:off x="313086" y="5127736"/>
            <a:ext cx="5130719" cy="14696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rgbClr val="FF0000"/>
                </a:solidFill>
              </a:rPr>
              <a:t>Voici la méthode !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25</a:t>
            </a:fld>
            <a:endParaRPr lang="fr-CA" dirty="0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FC493739-A5BD-A53B-A7D7-008777C2D8DA}"/>
              </a:ext>
            </a:extLst>
          </p:cNvPr>
          <p:cNvSpPr/>
          <p:nvPr/>
        </p:nvSpPr>
        <p:spPr>
          <a:xfrm rot="18563135">
            <a:off x="7025101" y="4908565"/>
            <a:ext cx="518646" cy="419284"/>
          </a:xfrm>
          <a:prstGeom prst="downArrow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95E6BF-355A-64A8-F571-C27446321800}"/>
              </a:ext>
            </a:extLst>
          </p:cNvPr>
          <p:cNvSpPr txBox="1"/>
          <p:nvPr/>
        </p:nvSpPr>
        <p:spPr>
          <a:xfrm>
            <a:off x="-1191652" y="5447046"/>
            <a:ext cx="70561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2943" lvl="4" algn="ctr"/>
            <a:r>
              <a:rPr lang="fr-CA" b="1" dirty="0"/>
              <a:t>Si fréquence = taux périodique donné</a:t>
            </a:r>
          </a:p>
          <a:p>
            <a:pPr marL="1142943" lvl="4" algn="ctr"/>
            <a:r>
              <a:rPr lang="en-US" sz="1400" dirty="0" err="1">
                <a:solidFill>
                  <a:schemeClr val="tx2"/>
                </a:solidFill>
              </a:rPr>
              <a:t>Aucun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ajustement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supplémentaire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n'est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nécessaire</a:t>
            </a:r>
            <a:endParaRPr lang="en-US" sz="1400" dirty="0">
              <a:solidFill>
                <a:schemeClr val="tx2"/>
              </a:solidFill>
            </a:endParaRPr>
          </a:p>
          <a:p>
            <a:pPr marL="1142943" lvl="4" algn="ctr"/>
            <a:r>
              <a:rPr lang="en-US" sz="1600" dirty="0" err="1">
                <a:solidFill>
                  <a:srgbClr val="0F8D36"/>
                </a:solidFill>
                <a:latin typeface="Ink Free" panose="03080402000500000000" pitchFamily="66" charset="0"/>
              </a:rPr>
              <a:t>Utilisez</a:t>
            </a:r>
            <a:r>
              <a:rPr lang="en-US" sz="1600" dirty="0">
                <a:solidFill>
                  <a:srgbClr val="0F8D36"/>
                </a:solidFill>
                <a:latin typeface="Ink Free" panose="03080402000500000000" pitchFamily="66" charset="0"/>
              </a:rPr>
              <a:t> le </a:t>
            </a:r>
            <a:r>
              <a:rPr lang="en-US" sz="1600" dirty="0" err="1">
                <a:solidFill>
                  <a:srgbClr val="0F8D36"/>
                </a:solidFill>
                <a:latin typeface="Ink Free" panose="03080402000500000000" pitchFamily="66" charset="0"/>
              </a:rPr>
              <a:t>taux</a:t>
            </a:r>
            <a:r>
              <a:rPr lang="en-US" sz="1600" dirty="0">
                <a:solidFill>
                  <a:srgbClr val="0F8D36"/>
                </a:solidFill>
                <a:latin typeface="Ink Free" panose="03080402000500000000" pitchFamily="66" charset="0"/>
              </a:rPr>
              <a:t> </a:t>
            </a:r>
            <a:r>
              <a:rPr lang="en-US" sz="1600" dirty="0" err="1">
                <a:solidFill>
                  <a:srgbClr val="0F8D36"/>
                </a:solidFill>
                <a:latin typeface="Ink Free" panose="03080402000500000000" pitchFamily="66" charset="0"/>
              </a:rPr>
              <a:t>périodique</a:t>
            </a:r>
            <a:r>
              <a:rPr lang="en-US" sz="1600" dirty="0">
                <a:solidFill>
                  <a:srgbClr val="0F8D36"/>
                </a:solidFill>
                <a:latin typeface="Ink Free" panose="03080402000500000000" pitchFamily="66" charset="0"/>
              </a:rPr>
              <a:t> </a:t>
            </a:r>
            <a:r>
              <a:rPr lang="en-US" sz="1600" dirty="0" err="1">
                <a:solidFill>
                  <a:srgbClr val="0F8D36"/>
                </a:solidFill>
                <a:latin typeface="Ink Free" panose="03080402000500000000" pitchFamily="66" charset="0"/>
              </a:rPr>
              <a:t>tel</a:t>
            </a:r>
            <a:r>
              <a:rPr lang="en-US" sz="1600" dirty="0">
                <a:solidFill>
                  <a:srgbClr val="0F8D36"/>
                </a:solidFill>
                <a:latin typeface="Ink Free" panose="03080402000500000000" pitchFamily="66" charset="0"/>
              </a:rPr>
              <a:t> qu'il </a:t>
            </a:r>
            <a:r>
              <a:rPr lang="en-US" sz="1600" dirty="0" err="1">
                <a:solidFill>
                  <a:srgbClr val="0F8D36"/>
                </a:solidFill>
                <a:latin typeface="Ink Free" panose="03080402000500000000" pitchFamily="66" charset="0"/>
              </a:rPr>
              <a:t>est</a:t>
            </a:r>
            <a:r>
              <a:rPr lang="en-US" sz="1600" dirty="0">
                <a:solidFill>
                  <a:srgbClr val="0F8D36"/>
                </a:solidFill>
                <a:latin typeface="Ink Free" panose="03080402000500000000" pitchFamily="66" charset="0"/>
              </a:rPr>
              <a:t> </a:t>
            </a:r>
            <a:r>
              <a:rPr lang="en-US" sz="1600" dirty="0" err="1">
                <a:solidFill>
                  <a:srgbClr val="0F8D36"/>
                </a:solidFill>
                <a:latin typeface="Ink Free" panose="03080402000500000000" pitchFamily="66" charset="0"/>
              </a:rPr>
              <a:t>donné</a:t>
            </a:r>
            <a:r>
              <a:rPr lang="en-US" sz="1600" dirty="0">
                <a:solidFill>
                  <a:srgbClr val="0F8D36"/>
                </a:solidFill>
                <a:latin typeface="Ink Free" panose="03080402000500000000" pitchFamily="66" charset="0"/>
              </a:rPr>
              <a:t>.</a:t>
            </a:r>
            <a:endParaRPr lang="en-CA" sz="1600" dirty="0">
              <a:solidFill>
                <a:srgbClr val="0F8D36"/>
              </a:solidFill>
              <a:latin typeface="Ink Free" panose="03080402000500000000" pitchFamily="66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561557-6274-D434-304F-9115564D198B}"/>
              </a:ext>
            </a:extLst>
          </p:cNvPr>
          <p:cNvSpPr txBox="1"/>
          <p:nvPr/>
        </p:nvSpPr>
        <p:spPr>
          <a:xfrm>
            <a:off x="5125800" y="4541058"/>
            <a:ext cx="49258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lvl="1" fontAlgn="auto">
              <a:spcBef>
                <a:spcPct val="20000"/>
              </a:spcBef>
              <a:spcAft>
                <a:spcPts val="0"/>
              </a:spcAft>
              <a:buClr>
                <a:srgbClr val="C0504D"/>
              </a:buClr>
              <a:buSzPct val="70000"/>
              <a:defRPr/>
            </a:pPr>
            <a:r>
              <a:rPr lang="en-CA" sz="2000" u="sng" dirty="0">
                <a:solidFill>
                  <a:srgbClr val="1F497D"/>
                </a:solidFill>
                <a:latin typeface="Georgia"/>
              </a:rPr>
              <a:t>Deux options</a:t>
            </a: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9EE84521-F5FB-6EAE-BBE4-F7D1FE932F8C}"/>
              </a:ext>
            </a:extLst>
          </p:cNvPr>
          <p:cNvSpPr/>
          <p:nvPr/>
        </p:nvSpPr>
        <p:spPr>
          <a:xfrm rot="3255683">
            <a:off x="4934173" y="4908049"/>
            <a:ext cx="518646" cy="419284"/>
          </a:xfrm>
          <a:prstGeom prst="downArrow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pic>
        <p:nvPicPr>
          <p:cNvPr id="10244" name="Picture 4" descr="Warning ">
            <a:extLst>
              <a:ext uri="{FF2B5EF4-FFF2-40B4-BE49-F238E27FC236}">
                <a16:creationId xmlns:a16="http://schemas.microsoft.com/office/drawing/2014/main" id="{5DDB0AA0-37AD-ABDA-5A61-92C4A8B5B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414" y="298355"/>
            <a:ext cx="921355" cy="92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Important ">
            <a:extLst>
              <a:ext uri="{FF2B5EF4-FFF2-40B4-BE49-F238E27FC236}">
                <a16:creationId xmlns:a16="http://schemas.microsoft.com/office/drawing/2014/main" id="{1081A55F-769C-8943-C824-37F65C64D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223" y="4970611"/>
            <a:ext cx="537592" cy="537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Warning ">
            <a:extLst>
              <a:ext uri="{FF2B5EF4-FFF2-40B4-BE49-F238E27FC236}">
                <a16:creationId xmlns:a16="http://schemas.microsoft.com/office/drawing/2014/main" id="{6F7AB49E-520B-3572-7C4D-C3DC70946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4232" y="312805"/>
            <a:ext cx="921355" cy="92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2579BFE-9715-C304-614B-6C48E97991FE}"/>
              </a:ext>
            </a:extLst>
          </p:cNvPr>
          <p:cNvSpPr txBox="1"/>
          <p:nvPr/>
        </p:nvSpPr>
        <p:spPr>
          <a:xfrm>
            <a:off x="700548" y="2204864"/>
            <a:ext cx="11449272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buFont typeface="Wingdings 2"/>
              <a:buNone/>
              <a:tabLst/>
              <a:defRPr/>
            </a:pPr>
            <a:r>
              <a:rPr kumimoji="0" lang="en-CA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Étape n° 1 :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Déterminez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la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fréquence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des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paiements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de flux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monétaires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(FMs). </a:t>
            </a:r>
          </a:p>
          <a:p>
            <a:pPr marL="1371532" marR="0" lvl="4" indent="-228589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BACC6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Mensuelle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?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Trimestrielle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?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Annuelle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? etc.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buFont typeface="Wingdings 2"/>
              <a:buNone/>
              <a:tabLst/>
              <a:defRPr/>
            </a:pPr>
            <a:endParaRPr kumimoji="0" lang="en-CA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buFont typeface="Wingdings 2"/>
              <a:buNone/>
              <a:tabLst/>
              <a:defRPr/>
            </a:pPr>
            <a:r>
              <a:rPr kumimoji="0" lang="en-CA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Étape n° 2 :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Identifiez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le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taux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périodique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fourni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dans la question.</a:t>
            </a:r>
          </a:p>
          <a:p>
            <a:pPr marL="1371532" marR="0" lvl="4" indent="-228589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BACC6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CA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Si </a:t>
            </a:r>
            <a:r>
              <a:rPr kumimoji="0" lang="en-CA" b="1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taux</a:t>
            </a:r>
            <a:r>
              <a:rPr kumimoji="0" lang="en-CA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CA" b="1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effectif</a:t>
            </a:r>
            <a:r>
              <a:rPr kumimoji="0" lang="en-CA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CA" b="0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alors</a:t>
            </a:r>
            <a:r>
              <a:rPr kumimoji="0" lang="en-CA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le </a:t>
            </a:r>
            <a:r>
              <a:rPr kumimoji="0" lang="en-CA" b="1" i="0" u="sng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taux</a:t>
            </a:r>
            <a:r>
              <a:rPr kumimoji="0" lang="en-CA" b="1" i="0" u="sng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CA" b="1" i="0" u="sng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périodique</a:t>
            </a:r>
            <a:r>
              <a:rPr kumimoji="0" lang="en-CA" b="1" i="0" u="sng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CA" b="1" i="0" u="sng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donné</a:t>
            </a:r>
            <a:r>
              <a:rPr kumimoji="0" lang="en-CA" b="1" i="0" u="sng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CA" b="1" i="0" u="sng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taux</a:t>
            </a:r>
            <a:r>
              <a:rPr kumimoji="0" lang="en-CA" b="1" i="0" u="sng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CA" b="1" i="0" u="sng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annuel</a:t>
            </a:r>
            <a:endParaRPr kumimoji="0" lang="en-CA" b="1" i="0" u="sng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1371532" marR="0" lvl="4" indent="-228589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BACC6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CA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Si </a:t>
            </a:r>
            <a:r>
              <a:rPr kumimoji="0" lang="en-CA" b="0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taux</a:t>
            </a:r>
            <a:r>
              <a:rPr kumimoji="0" lang="en-CA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nominal </a:t>
            </a:r>
            <a:r>
              <a:rPr kumimoji="0" lang="en-CA" b="0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composé</a:t>
            </a:r>
            <a:r>
              <a:rPr kumimoji="0" lang="en-CA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x </a:t>
            </a:r>
            <a:r>
              <a:rPr kumimoji="0" lang="en-CA" b="0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fois</a:t>
            </a:r>
            <a:r>
              <a:rPr kumimoji="0" lang="en-CA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par an, </a:t>
            </a:r>
            <a:r>
              <a:rPr kumimoji="0" lang="en-CA" b="0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alors</a:t>
            </a:r>
            <a:r>
              <a:rPr kumimoji="0" lang="en-CA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le </a:t>
            </a:r>
            <a:r>
              <a:rPr kumimoji="0" lang="en-CA" b="1" i="0" u="sng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taux</a:t>
            </a:r>
            <a:r>
              <a:rPr kumimoji="0" lang="en-CA" b="1" i="0" u="sng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CA" b="1" i="0" u="sng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périodique</a:t>
            </a:r>
            <a:r>
              <a:rPr kumimoji="0" lang="en-CA" b="1" i="0" u="sng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CA" b="1" i="0" u="sng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donné</a:t>
            </a:r>
            <a:r>
              <a:rPr kumimoji="0" lang="en-CA" b="1" i="0" u="sng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CA" b="1" i="0" u="sng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Taux</a:t>
            </a:r>
            <a:r>
              <a:rPr kumimoji="0" lang="en-CA" b="1" i="0" u="sng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nominal</a:t>
            </a:r>
            <a:r>
              <a:rPr kumimoji="0" lang="fr-CA" b="1" i="0" u="sng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÷ </a:t>
            </a:r>
            <a:r>
              <a:rPr kumimoji="0" lang="en-CA" b="1" i="0" u="sng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x</a:t>
            </a:r>
          </a:p>
          <a:p>
            <a:pPr marL="1142943" marR="0" lvl="4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BACC6"/>
              </a:buClr>
              <a:buSzTx/>
              <a:tabLst/>
              <a:defRPr/>
            </a:pPr>
            <a:endParaRPr kumimoji="0" lang="en-CA" sz="1000" b="1" i="0" u="sng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13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buFont typeface="Wingdings 2"/>
              <a:buNone/>
              <a:tabLst/>
              <a:defRPr/>
            </a:pPr>
            <a:r>
              <a:rPr kumimoji="0" lang="en-CA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Étape n° 3 :</a:t>
            </a:r>
            <a:r>
              <a:rPr kumimoji="0" lang="en-CA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CA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Comparez</a:t>
            </a:r>
            <a:r>
              <a:rPr kumimoji="0" lang="en-CA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la </a:t>
            </a:r>
            <a:r>
              <a:rPr kumimoji="0" lang="en-CA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fréquence</a:t>
            </a:r>
            <a:r>
              <a:rPr kumimoji="0" lang="en-CA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des FMs (étape n° 1) et le </a:t>
            </a:r>
            <a:r>
              <a:rPr kumimoji="0" lang="en-CA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taux</a:t>
            </a:r>
            <a:r>
              <a:rPr kumimoji="0" lang="en-CA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CA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périodique</a:t>
            </a:r>
            <a:r>
              <a:rPr kumimoji="0" lang="en-CA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CA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fourni</a:t>
            </a:r>
            <a:r>
              <a:rPr kumimoji="0" lang="en-CA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(étape n° 2).</a:t>
            </a:r>
          </a:p>
        </p:txBody>
      </p:sp>
    </p:spTree>
    <p:extLst>
      <p:ext uri="{BB962C8B-B14F-4D97-AF65-F5344CB8AC3E}">
        <p14:creationId xmlns:p14="http://schemas.microsoft.com/office/powerpoint/2010/main" val="23071070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FCBF9E3-40D9-B03B-BE78-55C77B6B2C63}"/>
              </a:ext>
            </a:extLst>
          </p:cNvPr>
          <p:cNvSpPr/>
          <p:nvPr/>
        </p:nvSpPr>
        <p:spPr>
          <a:xfrm>
            <a:off x="346854" y="3429000"/>
            <a:ext cx="11521280" cy="28845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35360" y="1422992"/>
            <a:ext cx="11521280" cy="393908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endParaRPr lang="en-US" altLang="en-US" sz="1000" dirty="0">
              <a:sym typeface="Wingdings" panose="05000000000000000000" pitchFamily="2" charset="2"/>
            </a:endParaRPr>
          </a:p>
          <a:p>
            <a:pPr>
              <a:lnSpc>
                <a:spcPct val="120000"/>
              </a:lnSpc>
            </a:pPr>
            <a:r>
              <a:rPr lang="en-US" sz="2400" b="1" dirty="0"/>
              <a:t>Quand deux </a:t>
            </a:r>
            <a:r>
              <a:rPr lang="en-US" sz="2400" b="1" u="sng" dirty="0"/>
              <a:t>taux sont-ils équivalents </a:t>
            </a:r>
            <a:r>
              <a:rPr lang="en-US" sz="2400" b="1" dirty="0"/>
              <a:t>?</a:t>
            </a:r>
          </a:p>
          <a:p>
            <a:pPr lvl="1">
              <a:lnSpc>
                <a:spcPct val="120000"/>
              </a:lnSpc>
            </a:pPr>
            <a:r>
              <a:rPr lang="en-US" sz="2400" dirty="0"/>
              <a:t>Ils produisent le même rendement à la fin de </a:t>
            </a:r>
            <a:r>
              <a:rPr lang="en-US" sz="2400" dirty="0" err="1"/>
              <a:t>l'année</a:t>
            </a:r>
            <a:r>
              <a:rPr lang="en-US" sz="2400" dirty="0"/>
              <a:t> et…</a:t>
            </a:r>
          </a:p>
          <a:p>
            <a:pPr lvl="1">
              <a:lnSpc>
                <a:spcPct val="120000"/>
              </a:lnSpc>
            </a:pPr>
            <a:r>
              <a:rPr lang="en-US" sz="2400" dirty="0" err="1"/>
              <a:t>Ils</a:t>
            </a:r>
            <a:r>
              <a:rPr lang="en-US" sz="2400" dirty="0"/>
              <a:t> représentent le </a:t>
            </a:r>
            <a:r>
              <a:rPr lang="en-US" sz="2400" dirty="0" err="1"/>
              <a:t>même</a:t>
            </a:r>
            <a:r>
              <a:rPr lang="en-US" sz="2400" dirty="0"/>
              <a:t> </a:t>
            </a:r>
            <a:r>
              <a:rPr lang="en-US" sz="2400" dirty="0" err="1"/>
              <a:t>taux</a:t>
            </a:r>
            <a:r>
              <a:rPr lang="en-US" sz="2400" dirty="0"/>
              <a:t> </a:t>
            </a:r>
            <a:r>
              <a:rPr lang="en-US" sz="2400" dirty="0" err="1"/>
              <a:t>effectif</a:t>
            </a:r>
            <a:r>
              <a:rPr lang="en-US" sz="2400" dirty="0"/>
              <a:t> </a:t>
            </a:r>
            <a:r>
              <a:rPr lang="en-US" sz="2400" dirty="0" err="1"/>
              <a:t>annuel</a:t>
            </a:r>
            <a:r>
              <a:rPr lang="en-US" sz="2400" dirty="0"/>
              <a:t>!</a:t>
            </a:r>
          </a:p>
          <a:p>
            <a:pPr lvl="1">
              <a:lnSpc>
                <a:spcPct val="120000"/>
              </a:lnSpc>
            </a:pPr>
            <a:endParaRPr lang="en-US" sz="2400" dirty="0"/>
          </a:p>
          <a:p>
            <a:pPr>
              <a:lnSpc>
                <a:spcPct val="120000"/>
              </a:lnSpc>
            </a:pPr>
            <a:r>
              <a:rPr lang="fr-CA" sz="2400" b="1" dirty="0"/>
              <a:t>Formule d’équivalence de taux:</a:t>
            </a:r>
          </a:p>
          <a:p>
            <a:pPr lvl="1">
              <a:lnSpc>
                <a:spcPct val="120000"/>
              </a:lnSpc>
            </a:pPr>
            <a:r>
              <a:rPr lang="fr-CA" sz="2400" dirty="0"/>
              <a:t>Taux effectif A = Taux effectif B</a:t>
            </a:r>
          </a:p>
          <a:p>
            <a:pPr>
              <a:lnSpc>
                <a:spcPct val="90000"/>
              </a:lnSpc>
            </a:pPr>
            <a:endParaRPr lang="en-US" altLang="en-US" sz="2000" dirty="0">
              <a:sym typeface="Wingdings" panose="05000000000000000000" pitchFamily="2" charset="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000" dirty="0">
                <a:sym typeface="Wingdings" panose="05000000000000000000" pitchFamily="2" charset="2"/>
              </a:rPr>
              <a:t>   </a:t>
            </a:r>
            <a:endParaRPr lang="en-US" altLang="en-US" sz="2000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u="sng" dirty="0" err="1"/>
              <a:t>Conversion </a:t>
            </a:r>
            <a:r>
              <a:rPr lang="fr-CA" dirty="0"/>
              <a:t>des taux </a:t>
            </a:r>
            <a:r>
              <a:rPr lang="fr-CA" dirty="0" err="1"/>
              <a:t>d'intérêt </a:t>
            </a:r>
            <a:endParaRPr lang="fr-CA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26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5D9050-89F0-F9C8-DE87-E8BF8B07AB58}"/>
              </a:ext>
            </a:extLst>
          </p:cNvPr>
          <p:cNvSpPr txBox="1"/>
          <p:nvPr/>
        </p:nvSpPr>
        <p:spPr>
          <a:xfrm>
            <a:off x="379850" y="5126093"/>
            <a:ext cx="11136560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fr-CA" sz="1100" b="1" i="1" dirty="0"/>
          </a:p>
          <a:p>
            <a:pPr marL="548613" lvl="2" indent="0" algn="ctr">
              <a:lnSpc>
                <a:spcPct val="90000"/>
              </a:lnSpc>
              <a:buNone/>
            </a:pPr>
            <a:r>
              <a:rPr lang="en-US" altLang="en-US" sz="2000" b="1" dirty="0"/>
              <a:t>Remarque </a:t>
            </a:r>
            <a:r>
              <a:rPr lang="en-US" altLang="en-US" sz="2000" b="1" dirty="0" err="1"/>
              <a:t>importante</a:t>
            </a:r>
            <a:r>
              <a:rPr lang="en-US" altLang="en-US" sz="2000" b="1" dirty="0"/>
              <a:t> : </a:t>
            </a:r>
            <a:r>
              <a:rPr lang="en-US" altLang="en-US" sz="2000" dirty="0"/>
              <a:t>vous </a:t>
            </a:r>
            <a:r>
              <a:rPr lang="en-US" altLang="en-US" sz="2000" b="1" u="sng" dirty="0"/>
              <a:t>ne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devez</a:t>
            </a:r>
            <a:r>
              <a:rPr lang="en-US" altLang="en-US" sz="2000" dirty="0"/>
              <a:t> </a:t>
            </a:r>
            <a:r>
              <a:rPr lang="en-US" altLang="en-US" sz="2000" b="1" u="sng" dirty="0"/>
              <a:t>JAMAIS </a:t>
            </a:r>
            <a:r>
              <a:rPr lang="en-US" altLang="en-US" sz="2000" u="sng" dirty="0" err="1"/>
              <a:t>diviser</a:t>
            </a:r>
            <a:r>
              <a:rPr lang="en-US" altLang="en-US" sz="2000" u="sng" dirty="0"/>
              <a:t> le </a:t>
            </a:r>
            <a:r>
              <a:rPr lang="en-US" altLang="en-US" sz="2000" u="sng" dirty="0" err="1"/>
              <a:t>taux</a:t>
            </a:r>
            <a:r>
              <a:rPr lang="en-US" altLang="en-US" sz="2000" u="sng" dirty="0"/>
              <a:t> </a:t>
            </a:r>
            <a:r>
              <a:rPr lang="en-US" altLang="en-US" sz="2000" u="sng" dirty="0" err="1"/>
              <a:t>annuel</a:t>
            </a:r>
            <a:r>
              <a:rPr lang="en-US" altLang="en-US" sz="2000" u="sng" dirty="0"/>
              <a:t> </a:t>
            </a:r>
            <a:r>
              <a:rPr lang="en-US" altLang="en-US" sz="2000" u="sng" dirty="0" err="1"/>
              <a:t>effectif</a:t>
            </a:r>
            <a:r>
              <a:rPr lang="en-US" altLang="en-US" sz="2000" u="sng" dirty="0"/>
              <a:t> par le </a:t>
            </a:r>
            <a:r>
              <a:rPr lang="en-US" altLang="en-US" sz="2000" u="sng" dirty="0" err="1"/>
              <a:t>nombre</a:t>
            </a:r>
            <a:r>
              <a:rPr lang="en-US" altLang="en-US" sz="2000" u="sng" dirty="0"/>
              <a:t> de </a:t>
            </a:r>
            <a:r>
              <a:rPr lang="en-US" altLang="en-US" sz="2000" u="sng" dirty="0" err="1"/>
              <a:t>périodes</a:t>
            </a:r>
            <a:r>
              <a:rPr lang="en-US" altLang="en-US" sz="2000" u="sng" dirty="0"/>
              <a:t> </a:t>
            </a:r>
            <a:r>
              <a:rPr lang="en-US" altLang="en-US" sz="2000" dirty="0"/>
              <a:t>par an, </a:t>
            </a:r>
            <a:r>
              <a:rPr lang="en-US" altLang="en-US" sz="2000" dirty="0">
                <a:sym typeface="Wingdings" panose="05000000000000000000" pitchFamily="2" charset="2"/>
              </a:rPr>
              <a:t>car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cela</a:t>
            </a:r>
            <a:r>
              <a:rPr lang="en-US" altLang="en-US" sz="2000" dirty="0"/>
              <a:t> ne vous </a:t>
            </a:r>
            <a:r>
              <a:rPr lang="en-US" altLang="en-US" sz="2000" dirty="0" err="1"/>
              <a:t>donnera</a:t>
            </a:r>
            <a:r>
              <a:rPr lang="en-US" altLang="en-US" sz="2000" dirty="0"/>
              <a:t> pas le </a:t>
            </a:r>
            <a:r>
              <a:rPr lang="en-US" altLang="en-US" sz="2000" dirty="0" err="1"/>
              <a:t>taux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périodique</a:t>
            </a:r>
            <a:r>
              <a:rPr lang="en-US" altLang="en-US" sz="2000" dirty="0"/>
              <a:t>. </a:t>
            </a:r>
            <a:r>
              <a:rPr lang="en-US" altLang="en-US" sz="2000" u="sng" dirty="0" err="1">
                <a:sym typeface="Wingdings" panose="05000000000000000000" pitchFamily="2" charset="2"/>
              </a:rPr>
              <a:t>Convertissez</a:t>
            </a:r>
            <a:r>
              <a:rPr lang="en-US" altLang="en-US" sz="2000" u="sng" dirty="0">
                <a:sym typeface="Wingdings" panose="05000000000000000000" pitchFamily="2" charset="2"/>
              </a:rPr>
              <a:t>.</a:t>
            </a:r>
            <a:endParaRPr lang="en-US" altLang="en-US" sz="2000" dirty="0">
              <a:sym typeface="Wingdings" panose="05000000000000000000" pitchFamily="2" charset="2"/>
            </a:endParaRPr>
          </a:p>
        </p:txBody>
      </p:sp>
      <p:pic>
        <p:nvPicPr>
          <p:cNvPr id="11266" name="Picture 2" descr="Warning ">
            <a:extLst>
              <a:ext uri="{FF2B5EF4-FFF2-40B4-BE49-F238E27FC236}">
                <a16:creationId xmlns:a16="http://schemas.microsoft.com/office/drawing/2014/main" id="{8DCCC938-4A0C-C5FC-193F-6C28FC3A4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310" y="3892627"/>
            <a:ext cx="1106274" cy="1106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bject 34">
            <a:extLst>
              <a:ext uri="{FF2B5EF4-FFF2-40B4-BE49-F238E27FC236}">
                <a16:creationId xmlns:a16="http://schemas.microsoft.com/office/drawing/2014/main" id="{C7539C99-B43A-40BE-13B4-FBD693385228}"/>
              </a:ext>
            </a:extLst>
          </p:cNvPr>
          <p:cNvSpPr/>
          <p:nvPr/>
        </p:nvSpPr>
        <p:spPr>
          <a:xfrm>
            <a:off x="173917" y="3035999"/>
            <a:ext cx="5760640" cy="19279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130260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DAE3B-0285-4ECC-9507-2FDD103E7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Pratiquons la méthode en 3 étapes ….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373FD6-2D30-44FA-BCB2-750A64318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27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9D669D-1C33-4EE1-8131-ABF61281B30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63352" y="1628800"/>
            <a:ext cx="11379200" cy="463135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fr-CA" sz="2800" b="1" dirty="0"/>
              <a:t>Trouvez le taux d'actualisation approprié...</a:t>
            </a:r>
          </a:p>
          <a:p>
            <a:pPr marL="0" indent="0">
              <a:lnSpc>
                <a:spcPct val="120000"/>
              </a:lnSpc>
              <a:buNone/>
            </a:pPr>
            <a:endParaRPr lang="fr-CA" sz="2800" b="1" dirty="0"/>
          </a:p>
          <a:p>
            <a:pPr marL="514350" indent="-514350">
              <a:lnSpc>
                <a:spcPct val="120000"/>
              </a:lnSpc>
              <a:buFont typeface="+mj-lt"/>
              <a:buAutoNum type="arabicParenR"/>
            </a:pPr>
            <a:r>
              <a:rPr lang="fr-CA" sz="2400" b="1" dirty="0"/>
              <a:t>Taux nominal et taux effectif : </a:t>
            </a:r>
            <a:r>
              <a:rPr lang="fr-CA" sz="2400" dirty="0"/>
              <a:t>pour une annuité versant des flux monétaires annuels et un taux nominal de 10 % capitalisé trimestriellement  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arenR"/>
            </a:pPr>
            <a:endParaRPr lang="fr-CA" sz="2400" dirty="0"/>
          </a:p>
          <a:p>
            <a:pPr marL="514350" indent="-514350">
              <a:lnSpc>
                <a:spcPct val="120000"/>
              </a:lnSpc>
              <a:buFont typeface="+mj-lt"/>
              <a:buAutoNum type="arabicParenR"/>
            </a:pPr>
            <a:r>
              <a:rPr lang="fr-CA" sz="2400" b="1" dirty="0"/>
              <a:t>Taux effectif et taux nominal : </a:t>
            </a:r>
            <a:r>
              <a:rPr lang="fr-CA" sz="2400" dirty="0"/>
              <a:t>pour une annuité versant des flux monétaires mensuels et taux effectif annuel de 8 %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arenR"/>
            </a:pPr>
            <a:endParaRPr lang="fr-CA" sz="2400" dirty="0"/>
          </a:p>
          <a:p>
            <a:pPr marL="514350" indent="-514350">
              <a:lnSpc>
                <a:spcPct val="120000"/>
              </a:lnSpc>
              <a:buFont typeface="+mj-lt"/>
              <a:buAutoNum type="arabicParenR"/>
            </a:pPr>
            <a:r>
              <a:rPr lang="fr-CA" sz="2400" b="1" dirty="0"/>
              <a:t>Taux nominaux</a:t>
            </a:r>
            <a:r>
              <a:rPr lang="fr-CA" sz="2400" dirty="0"/>
              <a:t>: pour une annuité versant des flux monétaires semestriels et un taux nominal de 7 % capitalisé mensuellement</a:t>
            </a:r>
          </a:p>
        </p:txBody>
      </p:sp>
    </p:spTree>
    <p:extLst>
      <p:ext uri="{BB962C8B-B14F-4D97-AF65-F5344CB8AC3E}">
        <p14:creationId xmlns:p14="http://schemas.microsoft.com/office/powerpoint/2010/main" val="10533434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11379200" cy="758952"/>
          </a:xfrm>
        </p:spPr>
        <p:txBody>
          <a:bodyPr/>
          <a:lstStyle/>
          <a:p>
            <a:r>
              <a:rPr lang="fr-CA" dirty="0">
                <a:solidFill>
                  <a:srgbClr val="FF0000"/>
                </a:solidFill>
              </a:rPr>
              <a:t>Exercice : </a:t>
            </a:r>
            <a:r>
              <a:rPr lang="fr-CA" b="1" dirty="0">
                <a:solidFill>
                  <a:srgbClr val="FF0000"/>
                </a:solidFill>
              </a:rPr>
              <a:t>vrai ou faux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7328" y="1506531"/>
            <a:ext cx="6265966" cy="4913632"/>
          </a:xfrm>
        </p:spPr>
        <p:txBody>
          <a:bodyPr>
            <a:normAutofit fontScale="92500" lnSpcReduction="20000"/>
          </a:bodyPr>
          <a:lstStyle/>
          <a:p>
            <a:pPr marL="274320" lvl="1" indent="0">
              <a:buNone/>
            </a:pPr>
            <a:r>
              <a:rPr lang="fr-CA" sz="1900" b="1" dirty="0">
                <a:solidFill>
                  <a:schemeClr val="tx1"/>
                </a:solidFill>
              </a:rPr>
              <a:t>Indiquez si les affirmations suivantes sont vraies ou fausses.</a:t>
            </a:r>
          </a:p>
          <a:p>
            <a:endParaRPr lang="fr-CA" sz="1800" dirty="0"/>
          </a:p>
          <a:p>
            <a:pPr lvl="1"/>
            <a:r>
              <a:rPr lang="en-CA" sz="1900" dirty="0"/>
              <a:t>Plus la fréquence de capitalisation est élevée, plus le taux </a:t>
            </a:r>
            <a:r>
              <a:rPr lang="en-CA" sz="1900" dirty="0" err="1"/>
              <a:t>effectif</a:t>
            </a:r>
            <a:r>
              <a:rPr lang="en-CA" sz="1900" dirty="0"/>
              <a:t> </a:t>
            </a:r>
            <a:r>
              <a:rPr lang="en-CA" sz="1900" dirty="0" err="1"/>
              <a:t>annuel</a:t>
            </a:r>
            <a:r>
              <a:rPr lang="en-CA" sz="1900" dirty="0"/>
              <a:t> est élevé.</a:t>
            </a:r>
          </a:p>
          <a:p>
            <a:endParaRPr lang="en-CA" sz="1900" dirty="0"/>
          </a:p>
          <a:p>
            <a:pPr lvl="1"/>
            <a:r>
              <a:rPr lang="en-CA" sz="1900" dirty="0"/>
              <a:t>Il est plus avantageux d'emprunter à un taux effectif de 12 % qu'à un </a:t>
            </a:r>
            <a:r>
              <a:rPr lang="en-CA" sz="1900" dirty="0" err="1"/>
              <a:t>taux</a:t>
            </a:r>
            <a:r>
              <a:rPr lang="en-CA" sz="1900" dirty="0"/>
              <a:t> nominal à capitalisation </a:t>
            </a:r>
            <a:r>
              <a:rPr lang="en-CA" sz="1900" dirty="0" err="1"/>
              <a:t>semestrielle</a:t>
            </a:r>
            <a:r>
              <a:rPr lang="en-CA" sz="1900" dirty="0"/>
              <a:t> de 12 %.</a:t>
            </a:r>
          </a:p>
          <a:p>
            <a:endParaRPr lang="en-CA" sz="1900" dirty="0"/>
          </a:p>
          <a:p>
            <a:pPr lvl="1"/>
            <a:r>
              <a:rPr lang="en-CA" sz="1900" dirty="0"/>
              <a:t>Il est préférable d'investir à un taux trimestriel de 2 % qu'à un taux </a:t>
            </a:r>
            <a:r>
              <a:rPr lang="en-CA" sz="1900" dirty="0" err="1"/>
              <a:t>effectif</a:t>
            </a:r>
            <a:r>
              <a:rPr lang="en-CA" sz="1900" dirty="0"/>
              <a:t> </a:t>
            </a:r>
            <a:r>
              <a:rPr lang="en-CA" sz="1900" dirty="0" err="1"/>
              <a:t>annuel</a:t>
            </a:r>
            <a:r>
              <a:rPr lang="en-CA" sz="1900" dirty="0"/>
              <a:t> de 8 %.</a:t>
            </a:r>
          </a:p>
          <a:p>
            <a:endParaRPr lang="en-CA" sz="1900" dirty="0"/>
          </a:p>
          <a:p>
            <a:pPr lvl="1"/>
            <a:r>
              <a:rPr lang="en-CA" sz="1900" dirty="0"/>
              <a:t>Il est plus avantageux d'emprunter à un taux effectif de 6 % qu'à un taux nominal à capitalisation </a:t>
            </a:r>
            <a:r>
              <a:rPr lang="en-CA" sz="1900" dirty="0" err="1"/>
              <a:t>mensuelle</a:t>
            </a:r>
            <a:r>
              <a:rPr lang="en-CA" sz="1900" dirty="0"/>
              <a:t> de 6 %.</a:t>
            </a:r>
          </a:p>
          <a:p>
            <a:endParaRPr lang="en-CA" sz="1900" dirty="0"/>
          </a:p>
          <a:p>
            <a:pPr lvl="1"/>
            <a:r>
              <a:rPr lang="en-CA" sz="1900" dirty="0"/>
              <a:t>Il est préférable d'investir à un taux mensuel de 1 % qu'à un taux trimestriel de 3 %.</a:t>
            </a:r>
            <a:endParaRPr lang="fr-CA" sz="1900" dirty="0"/>
          </a:p>
          <a:p>
            <a:pPr marL="0" indent="0">
              <a:buNone/>
            </a:pPr>
            <a:endParaRPr lang="fr-CA" sz="2800" dirty="0"/>
          </a:p>
          <a:p>
            <a:pPr marL="0" indent="0">
              <a:buNone/>
            </a:pP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28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pic>
        <p:nvPicPr>
          <p:cNvPr id="14338" name="Picture 2" descr="Important ">
            <a:extLst>
              <a:ext uri="{FF2B5EF4-FFF2-40B4-BE49-F238E27FC236}">
                <a16:creationId xmlns:a16="http://schemas.microsoft.com/office/drawing/2014/main" id="{CBDEB273-A8D7-0F80-3EFE-E16A6DE20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8674" y="188640"/>
            <a:ext cx="1008112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portant ">
            <a:extLst>
              <a:ext uri="{FF2B5EF4-FFF2-40B4-BE49-F238E27FC236}">
                <a16:creationId xmlns:a16="http://schemas.microsoft.com/office/drawing/2014/main" id="{2E49EA9D-7486-B371-E274-C79F31F10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188640"/>
            <a:ext cx="1008112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50628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rgbClr val="FF0000"/>
                </a:solidFill>
              </a:rPr>
              <a:t>Exercice difficile récapitulatif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/>
              <a:t>Vous recevrez 6 versements trimestriels de 80 $, dont le premier sera effectué dans 2 ans. </a:t>
            </a:r>
          </a:p>
          <a:p>
            <a:pPr marL="0" indent="0">
              <a:buNone/>
            </a:pPr>
            <a:endParaRPr lang="en-CA" sz="2400" dirty="0"/>
          </a:p>
          <a:p>
            <a:pPr marL="0" indent="0">
              <a:buNone/>
            </a:pPr>
            <a:r>
              <a:rPr lang="en-CA" sz="2400" dirty="0"/>
              <a:t>Quelle est la valeur actuelle de </a:t>
            </a:r>
            <a:r>
              <a:rPr lang="en-CA" sz="2400" dirty="0" err="1"/>
              <a:t>cette</a:t>
            </a:r>
            <a:r>
              <a:rPr lang="en-CA" sz="2400" dirty="0"/>
              <a:t> </a:t>
            </a:r>
            <a:r>
              <a:rPr lang="en-CA" sz="2400" dirty="0" err="1"/>
              <a:t>annuité</a:t>
            </a:r>
            <a:r>
              <a:rPr lang="en-CA" sz="2400" dirty="0"/>
              <a:t> compte tenu d'un taux </a:t>
            </a:r>
            <a:r>
              <a:rPr lang="en-CA" sz="2400" dirty="0" err="1"/>
              <a:t>effectif</a:t>
            </a:r>
            <a:r>
              <a:rPr lang="en-CA" sz="2400" dirty="0"/>
              <a:t> </a:t>
            </a:r>
            <a:r>
              <a:rPr lang="en-CA" sz="2400" dirty="0" err="1"/>
              <a:t>annuel</a:t>
            </a:r>
            <a:r>
              <a:rPr lang="en-CA" sz="2400" dirty="0"/>
              <a:t> </a:t>
            </a:r>
            <a:r>
              <a:rPr lang="en-CA" sz="2400" dirty="0" err="1"/>
              <a:t>requis</a:t>
            </a:r>
            <a:r>
              <a:rPr lang="en-CA" sz="2400" dirty="0"/>
              <a:t> de 7 % ?</a:t>
            </a:r>
            <a:endParaRPr lang="fr-CA" sz="2400" dirty="0"/>
          </a:p>
          <a:p>
            <a:endParaRPr lang="fr-CA" sz="32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29</a:t>
            </a:fld>
            <a:endParaRPr lang="fr-CA" dirty="0">
              <a:solidFill>
                <a:srgbClr val="8CADAE">
                  <a:shade val="75000"/>
                </a:srgbClr>
              </a:solidFill>
            </a:endParaRPr>
          </a:p>
        </p:txBody>
      </p:sp>
      <p:pic>
        <p:nvPicPr>
          <p:cNvPr id="15362" name="Picture 2" descr="Problem solving ">
            <a:extLst>
              <a:ext uri="{FF2B5EF4-FFF2-40B4-BE49-F238E27FC236}">
                <a16:creationId xmlns:a16="http://schemas.microsoft.com/office/drawing/2014/main" id="{74A067CC-ADCC-2D58-A9C2-915F70FF9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225681"/>
            <a:ext cx="902968" cy="902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48936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dirty="0">
                <a:solidFill>
                  <a:srgbClr val="FF0000"/>
                </a:solidFill>
                <a:latin typeface="Ink Free" panose="03080402000500000000" pitchFamily="66" charset="0"/>
              </a:rPr>
              <a:t>C'est en forgeant qu'on devient forgeron !!!</a:t>
            </a:r>
            <a:endParaRPr lang="fr-CA" sz="3200" dirty="0">
              <a:solidFill>
                <a:srgbClr val="FF0000"/>
              </a:solidFill>
              <a:latin typeface="Ink Free" panose="03080402000500000000" pitchFamily="66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63352" y="1580441"/>
            <a:ext cx="6264696" cy="4869758"/>
          </a:xfrm>
        </p:spPr>
        <p:txBody>
          <a:bodyPr>
            <a:normAutofit fontScale="92500"/>
          </a:bodyPr>
          <a:lstStyle/>
          <a:p>
            <a:pPr marL="342900" indent="-342900">
              <a:buClr>
                <a:schemeClr val="accent2"/>
              </a:buClr>
              <a:buSzPct val="100000"/>
              <a:buFont typeface="+mj-lt"/>
              <a:buAutoNum type="arabicParenR"/>
            </a:pPr>
            <a:r>
              <a:rPr lang="en-CA" sz="2000" u="sng" dirty="0"/>
              <a:t>Manuel</a:t>
            </a:r>
            <a:r>
              <a:rPr lang="en-CA" sz="2000" dirty="0"/>
              <a:t>. </a:t>
            </a:r>
            <a:r>
              <a:rPr lang="en-CA" sz="2000" dirty="0" err="1"/>
              <a:t>Voir</a:t>
            </a:r>
            <a:r>
              <a:rPr lang="en-CA" sz="2000" dirty="0"/>
              <a:t> séances 1 &amp; 2 sur ZC.</a:t>
            </a:r>
          </a:p>
          <a:p>
            <a:pPr marL="342900" indent="-342900">
              <a:buClr>
                <a:schemeClr val="accent2"/>
              </a:buClr>
              <a:buSzPct val="100000"/>
              <a:buFont typeface="+mj-lt"/>
              <a:buAutoNum type="arabicParenR"/>
            </a:pPr>
            <a:endParaRPr lang="en-CA" sz="2000" dirty="0"/>
          </a:p>
          <a:p>
            <a:pPr marL="342900" indent="-342900">
              <a:buClr>
                <a:schemeClr val="accent2"/>
              </a:buClr>
              <a:buSzPct val="100000"/>
              <a:buFont typeface="+mj-lt"/>
              <a:buAutoNum type="arabicParenR"/>
            </a:pPr>
            <a:endParaRPr lang="en-CA" sz="2000" dirty="0"/>
          </a:p>
          <a:p>
            <a:pPr marL="342900" indent="-342900">
              <a:buClr>
                <a:schemeClr val="accent2"/>
              </a:buClr>
              <a:buSzPct val="100000"/>
              <a:buFont typeface="+mj-lt"/>
              <a:buAutoNum type="arabicParenR"/>
            </a:pPr>
            <a:r>
              <a:rPr lang="en-CA" sz="2000" u="sng" dirty="0"/>
              <a:t>Exercices </a:t>
            </a:r>
            <a:r>
              <a:rPr lang="en-CA" sz="2000" u="sng" dirty="0" err="1"/>
              <a:t>résolus</a:t>
            </a:r>
            <a:r>
              <a:rPr lang="en-CA" sz="2000" u="sng" dirty="0"/>
              <a:t> sous</a:t>
            </a:r>
            <a:r>
              <a:rPr lang="en-CA" sz="2000" dirty="0"/>
              <a:t> les sessions 1 et 2. ZC / séances 1 &amp; 2 / </a:t>
            </a:r>
            <a:r>
              <a:rPr lang="en-CA" sz="2000" dirty="0" err="1"/>
              <a:t>Ressources</a:t>
            </a:r>
            <a:r>
              <a:rPr lang="en-CA" sz="2000" dirty="0"/>
              <a:t> après la séance</a:t>
            </a:r>
          </a:p>
          <a:p>
            <a:pPr marL="342900" indent="-342900">
              <a:buClr>
                <a:schemeClr val="accent2"/>
              </a:buClr>
              <a:buSzPct val="100000"/>
              <a:buFont typeface="+mj-lt"/>
              <a:buAutoNum type="arabicParenR"/>
            </a:pPr>
            <a:endParaRPr lang="en-CA" sz="2000" dirty="0"/>
          </a:p>
          <a:p>
            <a:pPr marL="342900" indent="-342900">
              <a:buClr>
                <a:schemeClr val="accent2"/>
              </a:buClr>
              <a:buSzPct val="100000"/>
              <a:buFont typeface="+mj-lt"/>
              <a:buAutoNum type="arabicParenR"/>
            </a:pPr>
            <a:endParaRPr lang="en-CA" sz="2000" dirty="0"/>
          </a:p>
          <a:p>
            <a:pPr marL="342900" indent="-342900">
              <a:buClr>
                <a:schemeClr val="accent2"/>
              </a:buClr>
              <a:buSzPct val="100000"/>
              <a:buFont typeface="+mj-lt"/>
              <a:buAutoNum type="arabicParenR"/>
            </a:pPr>
            <a:endParaRPr lang="en-CA" sz="2000" dirty="0"/>
          </a:p>
          <a:p>
            <a:pPr marL="342900" indent="-342900">
              <a:buClr>
                <a:schemeClr val="accent2"/>
              </a:buClr>
              <a:buSzPct val="100000"/>
              <a:buFont typeface="+mj-lt"/>
              <a:buAutoNum type="arabicParenR"/>
            </a:pPr>
            <a:r>
              <a:rPr lang="en-CA" sz="2000" u="sng" dirty="0"/>
              <a:t>Tutoriel </a:t>
            </a:r>
            <a:r>
              <a:rPr lang="en-CA" sz="2400" u="sng" dirty="0"/>
              <a:t>n° 1</a:t>
            </a:r>
            <a:r>
              <a:rPr lang="en-CA" sz="2000" dirty="0"/>
              <a:t>. </a:t>
            </a:r>
            <a:r>
              <a:rPr lang="en-CA" sz="2000" dirty="0" err="1"/>
              <a:t>Voir</a:t>
            </a:r>
            <a:r>
              <a:rPr lang="en-CA" sz="2000" dirty="0"/>
              <a:t> documents ZC / Modules / Travail pratique </a:t>
            </a:r>
            <a:r>
              <a:rPr lang="en-CA" sz="2000" dirty="0" err="1"/>
              <a:t>Tutoriels</a:t>
            </a:r>
            <a:endParaRPr lang="en-CA" sz="2000" dirty="0"/>
          </a:p>
          <a:p>
            <a:pPr marL="342900" indent="-342900">
              <a:buClr>
                <a:schemeClr val="accent2"/>
              </a:buClr>
              <a:buSzPct val="100000"/>
              <a:buFont typeface="+mj-lt"/>
              <a:buAutoNum type="arabicParenR"/>
            </a:pPr>
            <a:endParaRPr lang="en-CA" sz="2000" dirty="0"/>
          </a:p>
          <a:p>
            <a:pPr marL="342900" indent="-342900">
              <a:buClr>
                <a:schemeClr val="accent2"/>
              </a:buClr>
              <a:buSzPct val="100000"/>
              <a:buFont typeface="+mj-lt"/>
              <a:buAutoNum type="arabicParenR"/>
            </a:pPr>
            <a:endParaRPr lang="en-CA" sz="2000" dirty="0"/>
          </a:p>
          <a:p>
            <a:pPr marL="342900" indent="-342900">
              <a:buClr>
                <a:schemeClr val="accent2"/>
              </a:buClr>
              <a:buSzPct val="100000"/>
              <a:buFont typeface="+mj-lt"/>
              <a:buAutoNum type="arabicParenR"/>
            </a:pPr>
            <a:r>
              <a:rPr lang="en-CA" sz="2000" dirty="0"/>
              <a:t>Exercices dans le </a:t>
            </a:r>
            <a:r>
              <a:rPr lang="en-CA" sz="2000" u="sng" dirty="0"/>
              <a:t>cahier de travaux de mi-semestre</a:t>
            </a:r>
            <a:r>
              <a:rPr lang="en-CA" sz="2000" dirty="0"/>
              <a:t>. </a:t>
            </a:r>
            <a:r>
              <a:rPr lang="en-CA" sz="2000" dirty="0" err="1"/>
              <a:t>Voir</a:t>
            </a:r>
            <a:r>
              <a:rPr lang="en-CA" sz="2000" dirty="0"/>
              <a:t> ZC / Modules / </a:t>
            </a:r>
            <a:r>
              <a:rPr lang="en-CA" sz="2000" dirty="0" err="1"/>
              <a:t>Préparation</a:t>
            </a:r>
            <a:r>
              <a:rPr lang="en-CA" sz="2000" dirty="0"/>
              <a:t> aux examens INTRA </a:t>
            </a:r>
          </a:p>
          <a:p>
            <a:pPr marL="342900" indent="-342900">
              <a:buClr>
                <a:schemeClr val="accent2"/>
              </a:buClr>
              <a:buSzPct val="100000"/>
              <a:buFont typeface="+mj-lt"/>
              <a:buAutoNum type="arabicParenR"/>
            </a:pPr>
            <a:endParaRPr lang="fr-CA" sz="2000" dirty="0"/>
          </a:p>
          <a:p>
            <a:endParaRPr lang="fr-CA" sz="32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30</a:t>
            </a:fld>
            <a:endParaRPr lang="fr-CA" dirty="0">
              <a:solidFill>
                <a:srgbClr val="8CADAE">
                  <a:shade val="75000"/>
                </a:srgbClr>
              </a:solidFill>
            </a:endParaRPr>
          </a:p>
        </p:txBody>
      </p:sp>
      <p:pic>
        <p:nvPicPr>
          <p:cNvPr id="9" name="Picture 2" descr="Important ">
            <a:extLst>
              <a:ext uri="{FF2B5EF4-FFF2-40B4-BE49-F238E27FC236}">
                <a16:creationId xmlns:a16="http://schemas.microsoft.com/office/drawing/2014/main" id="{DB3315D7-0DAA-6CB7-9C2F-7D9E91E38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221" y="892970"/>
            <a:ext cx="1656184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39D8D91-23F2-D831-6963-6F7FB37671DB}"/>
              </a:ext>
            </a:extLst>
          </p:cNvPr>
          <p:cNvSpPr txBox="1"/>
          <p:nvPr/>
        </p:nvSpPr>
        <p:spPr>
          <a:xfrm>
            <a:off x="593779" y="2036711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1200" dirty="0">
                <a:latin typeface="Ink Free" panose="03080402000500000000" pitchFamily="66" charset="0"/>
              </a:rPr>
              <a:t>Solutions aux exercices des éditions 4 et 5 sur ZC</a:t>
            </a:r>
          </a:p>
        </p:txBody>
      </p:sp>
      <p:pic>
        <p:nvPicPr>
          <p:cNvPr id="12290" name="Picture 2" descr="Work in progress ">
            <a:extLst>
              <a:ext uri="{FF2B5EF4-FFF2-40B4-BE49-F238E27FC236}">
                <a16:creationId xmlns:a16="http://schemas.microsoft.com/office/drawing/2014/main" id="{6C88A424-936D-A17A-5A11-3C32F7D4C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488" y="228600"/>
            <a:ext cx="913565" cy="913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30A69F-9205-9B7C-9615-1A149AEE39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4232" y="4298991"/>
            <a:ext cx="3271585" cy="12837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A47070-A63D-2D3E-D13B-7836388BAB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2064" y="5805264"/>
            <a:ext cx="2257047" cy="7560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E75A277-96AB-AC62-09F4-9C80A64175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5978" y="2660421"/>
            <a:ext cx="4185923" cy="147197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DF79776-7144-B371-835B-20B5AB8E49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1584" y="1489861"/>
            <a:ext cx="2504639" cy="1093700"/>
          </a:xfrm>
          <a:prstGeom prst="rect">
            <a:avLst/>
          </a:prstGeom>
        </p:spPr>
      </p:pic>
      <p:sp>
        <p:nvSpPr>
          <p:cNvPr id="5" name="object 34">
            <a:extLst>
              <a:ext uri="{FF2B5EF4-FFF2-40B4-BE49-F238E27FC236}">
                <a16:creationId xmlns:a16="http://schemas.microsoft.com/office/drawing/2014/main" id="{5B423DB0-4A12-80AA-4938-6489280FF189}"/>
              </a:ext>
            </a:extLst>
          </p:cNvPr>
          <p:cNvSpPr/>
          <p:nvPr/>
        </p:nvSpPr>
        <p:spPr>
          <a:xfrm>
            <a:off x="8929111" y="915606"/>
            <a:ext cx="3434269" cy="152228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D207A2-0AF8-03B4-9F37-14D62500A2C7}"/>
              </a:ext>
            </a:extLst>
          </p:cNvPr>
          <p:cNvSpPr txBox="1"/>
          <p:nvPr/>
        </p:nvSpPr>
        <p:spPr>
          <a:xfrm>
            <a:off x="9492752" y="1247041"/>
            <a:ext cx="25046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dirty="0"/>
              <a:t>Extra document sur les exercices de conversions de taux</a:t>
            </a:r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044C4ED3-B1B2-3F40-AFF2-F9552B194D45}"/>
              </a:ext>
            </a:extLst>
          </p:cNvPr>
          <p:cNvSpPr/>
          <p:nvPr/>
        </p:nvSpPr>
        <p:spPr>
          <a:xfrm>
            <a:off x="9205070" y="1456377"/>
            <a:ext cx="575363" cy="569007"/>
          </a:xfrm>
          <a:prstGeom prst="mathPlus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038909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34131" y="370014"/>
            <a:ext cx="7160762" cy="758952"/>
          </a:xfrm>
        </p:spPr>
        <p:txBody>
          <a:bodyPr>
            <a:noAutofit/>
          </a:bodyPr>
          <a:lstStyle/>
          <a:p>
            <a:r>
              <a:rPr lang="en-CA" sz="2800" dirty="0">
                <a:solidFill>
                  <a:srgbClr val="FF0000"/>
                </a:solidFill>
                <a:latin typeface="Ink Free" panose="03080402000500000000" pitchFamily="66" charset="0"/>
              </a:rPr>
              <a:t>Assurez-vous d'avoir </a:t>
            </a:r>
            <a:r>
              <a:rPr lang="en-CA" sz="2800" b="1" u="sng" dirty="0">
                <a:solidFill>
                  <a:srgbClr val="FF0000"/>
                </a:solidFill>
                <a:latin typeface="Ink Free" panose="03080402000500000000" pitchFamily="66" charset="0"/>
              </a:rPr>
              <a:t>ces diapositives </a:t>
            </a:r>
            <a:r>
              <a:rPr lang="en-CA" sz="2800" dirty="0">
                <a:solidFill>
                  <a:srgbClr val="FF0000"/>
                </a:solidFill>
                <a:latin typeface="Ink Free" panose="03080402000500000000" pitchFamily="66" charset="0"/>
              </a:rPr>
              <a:t>à portée de main </a:t>
            </a:r>
            <a:r>
              <a:rPr lang="en-CA" sz="2800" u="sng" dirty="0">
                <a:solidFill>
                  <a:srgbClr val="FF0000"/>
                </a:solidFill>
                <a:latin typeface="Ink Free" panose="03080402000500000000" pitchFamily="66" charset="0"/>
              </a:rPr>
              <a:t>avant de résoudre un problème</a:t>
            </a:r>
            <a:r>
              <a:rPr lang="en-CA" sz="2800" dirty="0">
                <a:solidFill>
                  <a:srgbClr val="FF0000"/>
                </a:solidFill>
                <a:latin typeface="Ink Free" panose="03080402000500000000" pitchFamily="66" charset="0"/>
              </a:rPr>
              <a:t>.</a:t>
            </a:r>
            <a:endParaRPr lang="fr-CA" sz="2800" dirty="0">
              <a:solidFill>
                <a:srgbClr val="FF0000"/>
              </a:solidFill>
              <a:latin typeface="Ink Free" panose="03080402000500000000" pitchFamily="66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31</a:t>
            </a:fld>
            <a:endParaRPr lang="fr-CA" dirty="0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45062D96-A280-9DF2-1E46-9EA97EC32A32}"/>
              </a:ext>
            </a:extLst>
          </p:cNvPr>
          <p:cNvSpPr/>
          <p:nvPr/>
        </p:nvSpPr>
        <p:spPr>
          <a:xfrm>
            <a:off x="627058" y="150033"/>
            <a:ext cx="1584176" cy="1097008"/>
          </a:xfrm>
          <a:prstGeom prst="star5">
            <a:avLst/>
          </a:prstGeom>
          <a:solidFill>
            <a:srgbClr val="FF0000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9" name="Picture 2" descr="Important ">
            <a:extLst>
              <a:ext uri="{FF2B5EF4-FFF2-40B4-BE49-F238E27FC236}">
                <a16:creationId xmlns:a16="http://schemas.microsoft.com/office/drawing/2014/main" id="{DB3315D7-0DAA-6CB7-9C2F-7D9E91E38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0070" y="542023"/>
            <a:ext cx="1732163" cy="1732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498883-5400-69FB-7FA5-A11037543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512" y="3011345"/>
            <a:ext cx="5952662" cy="33483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0EFAFF-FD1A-84C2-B8CD-90A03E2C5F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46" y="1501672"/>
            <a:ext cx="4864540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3952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A47E17-AD03-41E3-B2CA-53AEBDC47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32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889B03-4D3C-4E71-9B72-F728ADADA08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775520" y="1527047"/>
            <a:ext cx="5710408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CA" sz="3300" dirty="0"/>
          </a:p>
          <a:p>
            <a:pPr marL="0" indent="0">
              <a:buNone/>
            </a:pPr>
            <a:endParaRPr lang="fr-CA" sz="3300" dirty="0"/>
          </a:p>
          <a:p>
            <a:pPr marL="0" indent="0" algn="ctr">
              <a:buNone/>
            </a:pPr>
            <a:r>
              <a:rPr lang="fr-CA" sz="3300" b="1" dirty="0"/>
              <a:t>ANNEXES</a:t>
            </a:r>
          </a:p>
          <a:p>
            <a:pPr marL="0" indent="0">
              <a:buNone/>
            </a:pPr>
            <a:endParaRPr lang="fr-CA" sz="3300" dirty="0"/>
          </a:p>
          <a:p>
            <a:pPr marL="514350" indent="-514350" algn="ctr">
              <a:buFont typeface="+mj-lt"/>
              <a:buAutoNum type="alphaUcPeriod"/>
            </a:pPr>
            <a:r>
              <a:rPr lang="fr-CA" sz="2600" dirty="0"/>
              <a:t>Éviter les erreurs courantes en mathématiques financières</a:t>
            </a:r>
          </a:p>
          <a:p>
            <a:pPr marL="514350" indent="-514350" algn="ctr">
              <a:buFont typeface="+mj-lt"/>
              <a:buAutoNum type="alphaUcPeriod"/>
            </a:pPr>
            <a:r>
              <a:rPr lang="fr-CA" sz="2600" dirty="0"/>
              <a:t>Comparaison des taux d'intérêt </a:t>
            </a:r>
          </a:p>
        </p:txBody>
      </p:sp>
      <p:pic>
        <p:nvPicPr>
          <p:cNvPr id="5" name="Picture 2" descr="File ">
            <a:extLst>
              <a:ext uri="{FF2B5EF4-FFF2-40B4-BE49-F238E27FC236}">
                <a16:creationId xmlns:a16="http://schemas.microsoft.com/office/drawing/2014/main" id="{DDF938A1-E53F-EB28-B755-2AAE71030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240" y="2420888"/>
            <a:ext cx="2560775" cy="256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34550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5C8CF-D6C1-4BEF-A426-2ECCF4DA9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7088" y="357336"/>
            <a:ext cx="8534400" cy="758952"/>
          </a:xfrm>
        </p:spPr>
        <p:txBody>
          <a:bodyPr>
            <a:normAutofit fontScale="90000"/>
          </a:bodyPr>
          <a:lstStyle/>
          <a:p>
            <a:r>
              <a:rPr lang="fr-CA" dirty="0">
                <a:solidFill>
                  <a:srgbClr val="002060"/>
                </a:solidFill>
              </a:rPr>
              <a:t>A - </a:t>
            </a:r>
            <a:r>
              <a:rPr lang="en-US" dirty="0">
                <a:solidFill>
                  <a:srgbClr val="002060"/>
                </a:solidFill>
              </a:rPr>
              <a:t>Éviter les </a:t>
            </a:r>
            <a:r>
              <a:rPr lang="en-US" b="1" dirty="0">
                <a:solidFill>
                  <a:srgbClr val="002060"/>
                </a:solidFill>
              </a:rPr>
              <a:t>erreurs courantes </a:t>
            </a:r>
            <a:r>
              <a:rPr lang="en-US" dirty="0">
                <a:solidFill>
                  <a:srgbClr val="002060"/>
                </a:solidFill>
              </a:rPr>
              <a:t>en </a:t>
            </a:r>
            <a:r>
              <a:rPr lang="en-US" dirty="0" err="1">
                <a:solidFill>
                  <a:srgbClr val="002060"/>
                </a:solidFill>
              </a:rPr>
              <a:t>mathématiques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financières</a:t>
            </a:r>
            <a:endParaRPr lang="fr-CA" dirty="0">
              <a:solidFill>
                <a:srgbClr val="00206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2C0770-9FBD-4C7A-B96C-F3362E838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33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6DBE54-5ABF-4740-A836-AB33BD51A37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859934" y="1302296"/>
            <a:ext cx="8555736" cy="5040560"/>
          </a:xfrm>
          <a:solidFill>
            <a:srgbClr val="FFFF00"/>
          </a:solidFill>
        </p:spPr>
        <p:txBody>
          <a:bodyPr>
            <a:normAutofit fontScale="70000" lnSpcReduction="20000"/>
          </a:bodyPr>
          <a:lstStyle/>
          <a:p>
            <a:r>
              <a:rPr lang="fr-CA" b="1" strike="sngStrike" dirty="0"/>
              <a:t>Ne déplacez pas les flux de monétaire </a:t>
            </a:r>
            <a:r>
              <a:rPr lang="fr-CA" strike="sngStrike" dirty="0"/>
              <a:t>dans le temps pour les faire correspondre à la période de capitalisation </a:t>
            </a:r>
          </a:p>
          <a:p>
            <a:pPr marL="0" indent="0">
              <a:buNone/>
            </a:pPr>
            <a:r>
              <a:rPr lang="fr-CA" dirty="0"/>
              <a:t>     </a:t>
            </a:r>
            <a:r>
              <a:rPr lang="fr-CA" b="1" dirty="0" err="1">
                <a:sym typeface="Wingdings" panose="05000000000000000000" pitchFamily="2" charset="2"/>
              </a:rPr>
              <a:t>convertissez</a:t>
            </a:r>
            <a:r>
              <a:rPr lang="fr-CA" dirty="0" err="1">
                <a:sym typeface="Wingdings" panose="05000000000000000000" pitchFamily="2" charset="2"/>
              </a:rPr>
              <a:t> plutôt </a:t>
            </a:r>
            <a:r>
              <a:rPr lang="fr-CA" b="1" dirty="0">
                <a:sym typeface="Wingdings" panose="05000000000000000000" pitchFamily="2" charset="2"/>
              </a:rPr>
              <a:t>les taux</a:t>
            </a:r>
            <a:r>
              <a:rPr lang="fr-CA" b="1" dirty="0" err="1">
                <a:sym typeface="Wingdings" panose="05000000000000000000" pitchFamily="2" charset="2"/>
              </a:rPr>
              <a:t> d'intérêt </a:t>
            </a:r>
            <a:r>
              <a:rPr lang="fr-CA" b="1" dirty="0">
                <a:sym typeface="Wingdings" panose="05000000000000000000" pitchFamily="2" charset="2"/>
              </a:rPr>
              <a:t>pour qu'</a:t>
            </a:r>
            <a:r>
              <a:rPr lang="fr-CA" dirty="0">
                <a:sym typeface="Wingdings" panose="05000000000000000000" pitchFamily="2" charset="2"/>
              </a:rPr>
              <a:t>ils CORRESPONDENT au moment des </a:t>
            </a:r>
          </a:p>
          <a:p>
            <a:pPr marL="0" indent="0">
              <a:buNone/>
            </a:pPr>
            <a:r>
              <a:rPr lang="fr-CA" dirty="0">
                <a:sym typeface="Wingdings" panose="05000000000000000000" pitchFamily="2" charset="2"/>
              </a:rPr>
              <a:t>        flux de monétaire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Vous ne devez </a:t>
            </a:r>
            <a:r>
              <a:rPr lang="en-US" altLang="en-US" sz="2800" b="1" dirty="0"/>
              <a:t>JAMAIS </a:t>
            </a:r>
            <a:r>
              <a:rPr lang="en-US" altLang="en-US" sz="2800" dirty="0"/>
              <a:t>diviser le taux effectif par le nombre de périodes par an, car cela ne vous donnera PAS le taux périodique (le TEG est annuel, le taux périodique est annuel)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800" dirty="0">
                <a:sym typeface="Wingdings" panose="05000000000000000000" pitchFamily="2" charset="2"/>
              </a:rPr>
              <a:t>   vous devez plutôt convertir le TEG en TAEG et/ou en taux périodique... pour correspondre au calendrier des flux de </a:t>
            </a:r>
            <a:r>
              <a:rPr lang="en-US" altLang="en-US" sz="2800" dirty="0" err="1">
                <a:sym typeface="Wingdings" panose="05000000000000000000" pitchFamily="2" charset="2"/>
              </a:rPr>
              <a:t>monétaire</a:t>
            </a:r>
            <a:endParaRPr lang="en-US" altLang="en-US" sz="28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fr-CA" dirty="0">
              <a:sym typeface="Wingdings" panose="05000000000000000000" pitchFamily="2" charset="2"/>
            </a:endParaRPr>
          </a:p>
          <a:p>
            <a:r>
              <a:rPr lang="fr-CA" dirty="0"/>
              <a:t>Utilisez toujours </a:t>
            </a:r>
            <a:r>
              <a:rPr lang="fr-CA" b="1" dirty="0"/>
              <a:t>quatre </a:t>
            </a:r>
            <a:r>
              <a:rPr lang="fr-CA" b="1" dirty="0" err="1"/>
              <a:t>décimales </a:t>
            </a:r>
            <a:r>
              <a:rPr lang="fr-CA" dirty="0"/>
              <a:t>pour les taux </a:t>
            </a:r>
            <a:r>
              <a:rPr lang="fr-CA" dirty="0" err="1"/>
              <a:t>d'intérêt</a:t>
            </a:r>
            <a:r>
              <a:rPr lang="fr-CA" dirty="0"/>
              <a:t>. Ex :  2,</a:t>
            </a:r>
            <a:r>
              <a:rPr lang="fr-CA" b="1" dirty="0"/>
              <a:t>1234 %</a:t>
            </a:r>
          </a:p>
          <a:p>
            <a:pPr lvl="1"/>
            <a:r>
              <a:rPr lang="fr-CA" dirty="0" err="1"/>
              <a:t>Vos calculs peuvent différer légèrement de </a:t>
            </a:r>
            <a:r>
              <a:rPr lang="fr-CA" dirty="0"/>
              <a:t>ceux du livre ou des nôtres, </a:t>
            </a:r>
            <a:r>
              <a:rPr lang="fr-CA" dirty="0" err="1"/>
              <a:t>ce qui </a:t>
            </a:r>
            <a:r>
              <a:rPr lang="fr-CA" dirty="0"/>
              <a:t>peut </a:t>
            </a:r>
            <a:r>
              <a:rPr lang="fr-CA" dirty="0" err="1"/>
              <a:t>être dû </a:t>
            </a:r>
            <a:r>
              <a:rPr lang="fr-CA" dirty="0"/>
              <a:t>à </a:t>
            </a:r>
            <a:r>
              <a:rPr lang="fr-CA" dirty="0" err="1"/>
              <a:t>l'arrondi</a:t>
            </a:r>
            <a:r>
              <a:rPr lang="fr-CA" dirty="0"/>
              <a:t>. </a:t>
            </a:r>
            <a:r>
              <a:rPr lang="fr-CA" dirty="0" err="1"/>
              <a:t>Cela </a:t>
            </a:r>
            <a:r>
              <a:rPr lang="fr-CA" dirty="0"/>
              <a:t>n'</a:t>
            </a:r>
            <a:r>
              <a:rPr lang="fr-CA" dirty="0" err="1"/>
              <a:t>est </a:t>
            </a:r>
            <a:r>
              <a:rPr lang="fr-CA" dirty="0"/>
              <a:t>pas </a:t>
            </a:r>
            <a:r>
              <a:rPr lang="fr-CA" dirty="0" err="1"/>
              <a:t>préoccupant</a:t>
            </a:r>
            <a:r>
              <a:rPr lang="fr-CA" dirty="0"/>
              <a:t>, MAIS veillez à </a:t>
            </a:r>
            <a:r>
              <a:rPr lang="fr-CA" dirty="0" err="1"/>
              <a:t>conserver</a:t>
            </a:r>
            <a:r>
              <a:rPr lang="fr-CA" dirty="0"/>
              <a:t> 4 </a:t>
            </a:r>
            <a:r>
              <a:rPr lang="fr-CA" dirty="0" err="1"/>
              <a:t>décimales </a:t>
            </a:r>
            <a:r>
              <a:rPr lang="fr-CA" dirty="0"/>
              <a:t>pour les taux </a:t>
            </a:r>
            <a:r>
              <a:rPr lang="fr-CA" dirty="0" err="1"/>
              <a:t>d'intérêt</a:t>
            </a:r>
          </a:p>
          <a:p>
            <a:pPr marL="274320" lvl="1" indent="0">
              <a:buNone/>
            </a:pPr>
            <a:endParaRPr lang="fr-CA" dirty="0">
              <a:sym typeface="Wingdings" panose="05000000000000000000" pitchFamily="2" charset="2"/>
            </a:endParaRPr>
          </a:p>
          <a:p>
            <a:r>
              <a:rPr lang="fr-CA" dirty="0">
                <a:sym typeface="Wingdings" panose="05000000000000000000" pitchFamily="2" charset="2"/>
              </a:rPr>
              <a:t>Ne pas </a:t>
            </a:r>
            <a:r>
              <a:rPr lang="fr-CA" dirty="0" err="1">
                <a:sym typeface="Wingdings" panose="05000000000000000000" pitchFamily="2" charset="2"/>
              </a:rPr>
              <a:t>maîtriser </a:t>
            </a:r>
            <a:r>
              <a:rPr lang="fr-CA" dirty="0">
                <a:sym typeface="Wingdings" panose="05000000000000000000" pitchFamily="2" charset="2"/>
              </a:rPr>
              <a:t>« le </a:t>
            </a:r>
            <a:r>
              <a:rPr lang="fr-CA" dirty="0" err="1">
                <a:sym typeface="Wingdings" panose="05000000000000000000" pitchFamily="2" charset="2"/>
              </a:rPr>
              <a:t>nombre de périodes de capitalisation </a:t>
            </a:r>
            <a:r>
              <a:rPr lang="fr-CA" dirty="0">
                <a:sym typeface="Wingdings" panose="05000000000000000000" pitchFamily="2" charset="2"/>
              </a:rPr>
              <a:t>dans une </a:t>
            </a:r>
            <a:r>
              <a:rPr lang="fr-CA" dirty="0" err="1">
                <a:sym typeface="Wingdings" panose="05000000000000000000" pitchFamily="2" charset="2"/>
              </a:rPr>
              <a:t>année </a:t>
            </a:r>
            <a:r>
              <a:rPr lang="fr-CA" dirty="0">
                <a:sym typeface="Wingdings" panose="05000000000000000000" pitchFamily="2" charset="2"/>
              </a:rPr>
              <a:t>».</a:t>
            </a:r>
          </a:p>
          <a:p>
            <a:pPr lvl="1"/>
            <a:r>
              <a:rPr lang="fr-CA" dirty="0" err="1">
                <a:sym typeface="Wingdings" panose="05000000000000000000" pitchFamily="2" charset="2"/>
              </a:rPr>
              <a:t>La capitalisation trimestrielle s'effectue</a:t>
            </a:r>
            <a:r>
              <a:rPr lang="fr-CA" dirty="0">
                <a:sym typeface="Wingdings" panose="05000000000000000000" pitchFamily="2" charset="2"/>
              </a:rPr>
              <a:t> 4 fois par </a:t>
            </a:r>
            <a:r>
              <a:rPr lang="fr-CA" dirty="0" err="1">
                <a:sym typeface="Wingdings" panose="05000000000000000000" pitchFamily="2" charset="2"/>
              </a:rPr>
              <a:t>an </a:t>
            </a:r>
            <a:r>
              <a:rPr lang="fr-CA" dirty="0">
                <a:sym typeface="Wingdings" panose="05000000000000000000" pitchFamily="2" charset="2"/>
              </a:rPr>
              <a:t>: 4 fois </a:t>
            </a:r>
            <a:r>
              <a:rPr lang="fr-CA" dirty="0" err="1">
                <a:sym typeface="Wingdings" panose="05000000000000000000" pitchFamily="2" charset="2"/>
              </a:rPr>
              <a:t>par période de</a:t>
            </a:r>
            <a:r>
              <a:rPr lang="fr-CA" dirty="0">
                <a:sym typeface="Wingdings" panose="05000000000000000000" pitchFamily="2" charset="2"/>
              </a:rPr>
              <a:t> 3 </a:t>
            </a:r>
            <a:r>
              <a:rPr lang="fr-CA" dirty="0" err="1">
                <a:sym typeface="Wingdings" panose="05000000000000000000" pitchFamily="2" charset="2"/>
              </a:rPr>
              <a:t>mois </a:t>
            </a:r>
            <a:r>
              <a:rPr lang="fr-CA" strike="sngStrike" dirty="0">
                <a:sym typeface="Wingdings" panose="05000000000000000000" pitchFamily="2" charset="2"/>
              </a:rPr>
              <a:t>et non 3 fois.</a:t>
            </a:r>
          </a:p>
          <a:p>
            <a:pPr marL="274320" lvl="1" indent="0">
              <a:buNone/>
            </a:pPr>
            <a:endParaRPr lang="fr-CA" dirty="0"/>
          </a:p>
          <a:p>
            <a:pPr lvl="1"/>
            <a:endParaRPr lang="fr-CA" dirty="0"/>
          </a:p>
          <a:p>
            <a:endParaRPr lang="fr-CA" dirty="0"/>
          </a:p>
        </p:txBody>
      </p:sp>
      <p:pic>
        <p:nvPicPr>
          <p:cNvPr id="13314" name="Picture 2" descr="Alert ">
            <a:extLst>
              <a:ext uri="{FF2B5EF4-FFF2-40B4-BE49-F238E27FC236}">
                <a16:creationId xmlns:a16="http://schemas.microsoft.com/office/drawing/2014/main" id="{D1BFA040-2860-96B2-D036-2BA87CB67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1368" y="129172"/>
            <a:ext cx="1080120" cy="108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82264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rgbClr val="002060"/>
                </a:solidFill>
              </a:rPr>
              <a:t>B – Comparaison des taux d'intérêt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19D1F-2BC9-41FA-953B-C3256200C508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34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graphicFrame>
        <p:nvGraphicFramePr>
          <p:cNvPr id="8" name="Tableau 3">
            <a:extLst>
              <a:ext uri="{FF2B5EF4-FFF2-40B4-BE49-F238E27FC236}">
                <a16:creationId xmlns:a16="http://schemas.microsoft.com/office/drawing/2014/main" id="{673EF7EE-CF88-44CE-9CF4-506E41DC5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551433"/>
              </p:ext>
            </p:extLst>
          </p:nvPr>
        </p:nvGraphicFramePr>
        <p:xfrm>
          <a:off x="1884535" y="2996952"/>
          <a:ext cx="8450165" cy="330635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239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2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1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6673">
                  <a:extLst>
                    <a:ext uri="{9D8B030D-6E8A-4147-A177-3AD203B41FA5}">
                      <a16:colId xmlns:a16="http://schemas.microsoft.com/office/drawing/2014/main" val="1070626894"/>
                    </a:ext>
                  </a:extLst>
                </a:gridCol>
              </a:tblGrid>
              <a:tr h="474310"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Taux coté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Taux pour </a:t>
                      </a:r>
                      <a:r>
                        <a:rPr lang="fr-CA" sz="1400" dirty="0" err="1"/>
                        <a:t>la période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Valeur finale (VF)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Taux effectif</a:t>
                      </a:r>
                    </a:p>
                    <a:p>
                      <a:pPr algn="ctr"/>
                      <a:r>
                        <a:rPr lang="fr-CA" sz="1400" dirty="0"/>
                        <a:t>(annuel)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579">
                <a:tc>
                  <a:txBody>
                    <a:bodyPr/>
                    <a:lstStyle/>
                    <a:p>
                      <a:r>
                        <a:rPr lang="fr-CA" sz="1400" dirty="0"/>
                        <a:t>Taux nominal</a:t>
                      </a:r>
                      <a:r>
                        <a:rPr lang="fr-CA" sz="1400" b="1" dirty="0"/>
                        <a:t> de 10 % </a:t>
                      </a:r>
                      <a:r>
                        <a:rPr lang="fr-CA" sz="1400" dirty="0" err="1"/>
                        <a:t>composé annuellement</a:t>
                      </a:r>
                      <a:endParaRPr lang="fr-CA" sz="1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10 %/1 = </a:t>
                      </a:r>
                      <a:r>
                        <a:rPr lang="fr-CA" sz="1400" b="1" dirty="0"/>
                        <a:t>10 %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1 100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b="1" dirty="0"/>
                        <a:t>10 %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6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CA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Taux nominal</a:t>
                      </a:r>
                      <a:r>
                        <a:rPr kumimoji="0" lang="fr-CA" sz="14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de 10 % </a:t>
                      </a:r>
                      <a:r>
                        <a:rPr kumimoji="0" lang="fr-CA" sz="1400" u="none" strike="noStrike" kern="1200" cap="none" spc="0" normalizeH="0" baseline="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composé trimestriellement</a:t>
                      </a:r>
                      <a:endParaRPr kumimoji="0" lang="fr-C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10 %/4 = </a:t>
                      </a:r>
                      <a:r>
                        <a:rPr lang="fr-CA" sz="1400" b="1" dirty="0"/>
                        <a:t>2,5 %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1 103,81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b="1" dirty="0"/>
                        <a:t>10,38 %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5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CA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Taux nominal</a:t>
                      </a:r>
                      <a:r>
                        <a:rPr kumimoji="0" lang="fr-CA" sz="14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de 10 % </a:t>
                      </a:r>
                      <a:r>
                        <a:rPr kumimoji="0" lang="fr-CA" sz="1400" u="none" strike="noStrike" kern="1200" cap="none" spc="0" normalizeH="0" baseline="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composé mensuellement</a:t>
                      </a:r>
                      <a:endParaRPr kumimoji="0" lang="fr-C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10 %/12 = </a:t>
                      </a:r>
                      <a:r>
                        <a:rPr lang="fr-CA" sz="1400" b="1" dirty="0"/>
                        <a:t>0,83 %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1 104,27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b="1" dirty="0"/>
                        <a:t>10,43 %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6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CA" sz="14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Taux nominal</a:t>
                      </a:r>
                      <a:r>
                        <a:rPr kumimoji="0" lang="fr-CA" sz="1400" b="1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de 10 % </a:t>
                      </a:r>
                      <a:r>
                        <a:rPr kumimoji="0" lang="fr-CA" sz="1400" u="none" strike="noStrike" kern="1200" cap="none" spc="0" normalizeH="0" baseline="0" noProof="0" dirty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composé quotidiennement</a:t>
                      </a:r>
                      <a:endParaRPr kumimoji="0" lang="fr-CA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10 %/365 = </a:t>
                      </a:r>
                      <a:r>
                        <a:rPr lang="fr-CA" sz="1400" b="1" dirty="0"/>
                        <a:t>0,0274 %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/>
                        <a:t>1 105,17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b="1" dirty="0"/>
                        <a:t>10,52 %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98F35323-711F-4BEF-8AF0-17AB5963CC69}"/>
              </a:ext>
            </a:extLst>
          </p:cNvPr>
          <p:cNvSpPr/>
          <p:nvPr/>
        </p:nvSpPr>
        <p:spPr>
          <a:xfrm>
            <a:off x="1770887" y="1467703"/>
            <a:ext cx="8534400" cy="14403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ct val="20000"/>
              </a:spcBef>
              <a:buClr>
                <a:srgbClr val="4F81BD"/>
              </a:buClr>
              <a:buSzPct val="85000"/>
              <a:buFont typeface="Wingdings 2"/>
              <a:buChar char=""/>
            </a:pPr>
            <a:r>
              <a:rPr lang="fr-CA" dirty="0">
                <a:solidFill>
                  <a:prstClr val="black"/>
                </a:solidFill>
                <a:latin typeface="+mj-lt"/>
              </a:rPr>
              <a:t>Plus la </a:t>
            </a:r>
            <a:r>
              <a:rPr lang="fr-CA" dirty="0" err="1">
                <a:solidFill>
                  <a:prstClr val="black"/>
                </a:solidFill>
                <a:latin typeface="+mj-lt"/>
              </a:rPr>
              <a:t>capitalisation est fréquente</a:t>
            </a:r>
            <a:r>
              <a:rPr lang="fr-CA" dirty="0">
                <a:solidFill>
                  <a:prstClr val="black"/>
                </a:solidFill>
                <a:latin typeface="+mj-lt"/>
              </a:rPr>
              <a:t>, plus le taux </a:t>
            </a:r>
            <a:r>
              <a:rPr lang="fr-CA" dirty="0" err="1">
                <a:solidFill>
                  <a:prstClr val="black"/>
                </a:solidFill>
                <a:latin typeface="+mj-lt"/>
              </a:rPr>
              <a:t>d'intérêt</a:t>
            </a:r>
            <a:r>
              <a:rPr lang="fr-CA" dirty="0">
                <a:solidFill>
                  <a:prstClr val="black"/>
                </a:solidFill>
                <a:latin typeface="+mj-lt"/>
              </a:rPr>
              <a:t> effectif </a:t>
            </a:r>
            <a:r>
              <a:rPr lang="fr-CA" dirty="0" err="1">
                <a:solidFill>
                  <a:prstClr val="black"/>
                </a:solidFill>
                <a:latin typeface="+mj-lt"/>
              </a:rPr>
              <a:t>sera élevé</a:t>
            </a:r>
            <a:r>
              <a:rPr lang="fr-CA" dirty="0">
                <a:solidFill>
                  <a:prstClr val="black"/>
                </a:solidFill>
                <a:latin typeface="+mj-lt"/>
              </a:rPr>
              <a:t>, </a:t>
            </a:r>
            <a:r>
              <a:rPr lang="fr-CA" dirty="0" err="1">
                <a:solidFill>
                  <a:prstClr val="black"/>
                </a:solidFill>
                <a:latin typeface="+mj-lt"/>
              </a:rPr>
              <a:t>ce qui signifie que </a:t>
            </a:r>
            <a:r>
              <a:rPr lang="fr-CA" dirty="0">
                <a:solidFill>
                  <a:prstClr val="black"/>
                </a:solidFill>
                <a:latin typeface="+mj-lt"/>
              </a:rPr>
              <a:t>la valeur finale d'un </a:t>
            </a:r>
            <a:r>
              <a:rPr lang="fr-CA" dirty="0" err="1">
                <a:solidFill>
                  <a:prstClr val="black"/>
                </a:solidFill>
                <a:latin typeface="+mj-lt"/>
              </a:rPr>
              <a:t>investissement sera plus élevée </a:t>
            </a:r>
            <a:r>
              <a:rPr lang="fr-CA" dirty="0">
                <a:solidFill>
                  <a:prstClr val="black"/>
                </a:solidFill>
                <a:latin typeface="+mj-lt"/>
              </a:rPr>
              <a:t>et que la valeur </a:t>
            </a:r>
            <a:r>
              <a:rPr lang="fr-CA" dirty="0" err="1">
                <a:solidFill>
                  <a:prstClr val="black"/>
                </a:solidFill>
                <a:latin typeface="+mj-lt"/>
              </a:rPr>
              <a:t>actuelle </a:t>
            </a:r>
            <a:r>
              <a:rPr lang="fr-CA" dirty="0">
                <a:solidFill>
                  <a:prstClr val="black"/>
                </a:solidFill>
                <a:latin typeface="+mj-lt"/>
              </a:rPr>
              <a:t>d'un </a:t>
            </a:r>
            <a:r>
              <a:rPr lang="fr-CA" dirty="0" err="1">
                <a:solidFill>
                  <a:prstClr val="black"/>
                </a:solidFill>
                <a:latin typeface="+mj-lt"/>
              </a:rPr>
              <a:t>investissement sera plus faible.</a:t>
            </a:r>
            <a:endParaRPr lang="fr-CA" dirty="0">
              <a:solidFill>
                <a:prstClr val="black"/>
              </a:solidFill>
              <a:latin typeface="+mj-lt"/>
            </a:endParaRPr>
          </a:p>
          <a:p>
            <a:pPr marL="274320" indent="-274320">
              <a:spcBef>
                <a:spcPct val="20000"/>
              </a:spcBef>
              <a:buClr>
                <a:srgbClr val="4F81BD"/>
              </a:buClr>
              <a:buSzPct val="85000"/>
              <a:buFont typeface="Wingdings 2"/>
              <a:buChar char=""/>
            </a:pPr>
            <a:endParaRPr lang="fr-CA" sz="1000" dirty="0">
              <a:solidFill>
                <a:prstClr val="black"/>
              </a:solidFill>
              <a:latin typeface="+mj-lt"/>
            </a:endParaRPr>
          </a:p>
          <a:p>
            <a:pPr marL="274320" indent="-274320">
              <a:spcBef>
                <a:spcPct val="20000"/>
              </a:spcBef>
              <a:buClr>
                <a:srgbClr val="4F81BD"/>
              </a:buClr>
              <a:buSzPct val="85000"/>
              <a:buFont typeface="Wingdings 2"/>
              <a:buChar char=""/>
            </a:pPr>
            <a:r>
              <a:rPr lang="fr-CA" dirty="0">
                <a:solidFill>
                  <a:prstClr val="black"/>
                </a:solidFill>
                <a:latin typeface="+mj-lt"/>
              </a:rPr>
              <a:t>Vous placez 1 000 $ sur un </a:t>
            </a:r>
            <a:r>
              <a:rPr lang="fr-CA" dirty="0" err="1">
                <a:solidFill>
                  <a:prstClr val="black"/>
                </a:solidFill>
                <a:latin typeface="+mj-lt"/>
              </a:rPr>
              <a:t>compte d'épargne</a:t>
            </a:r>
            <a:r>
              <a:rPr lang="fr-CA" dirty="0">
                <a:solidFill>
                  <a:prstClr val="black"/>
                </a:solidFill>
                <a:latin typeface="+mj-lt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3964105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 nouveau 2024 v3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nouveau 2024 v3" id="{E9EE394B-11A2-4972-97DD-70F5505EE67A}" vid="{B6E295EC-CFD5-4099-AC90-43DE5FAA0485}"/>
    </a:ext>
  </a:extLst>
</a:theme>
</file>

<file path=ppt/theme/theme2.xml><?xml version="1.0" encoding="utf-8"?>
<a:theme xmlns:a="http://schemas.openxmlformats.org/drawingml/2006/main" name="1_Civil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eme1">
  <a:themeElements>
    <a:clrScheme name="Custom 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EABAB"/>
      </a:accent1>
      <a:accent2>
        <a:srgbClr val="70AD47"/>
      </a:accent2>
      <a:accent3>
        <a:srgbClr val="8EAADB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8054E3D3-F476-4864-A1F9-DCC07CE71AC5}" vid="{121BF58A-4856-4395-B816-64FE0F6BA8B8}"/>
    </a:ext>
  </a:extLst>
</a:theme>
</file>

<file path=ppt/theme/theme4.xml><?xml version="1.0" encoding="utf-8"?>
<a:theme xmlns:a="http://schemas.openxmlformats.org/drawingml/2006/main" name="1_Theme1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1F497D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8054E3D3-F476-4864-A1F9-DCC07CE71AC5}" vid="{121BF58A-4856-4395-B816-64FE0F6BA8B8}"/>
    </a:ext>
  </a:extLst>
</a:theme>
</file>

<file path=ppt/theme/theme5.xml><?xml version="1.0" encoding="utf-8"?>
<a:theme xmlns:a="http://schemas.openxmlformats.org/drawingml/2006/main" name="2_Theme1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8054E3D3-F476-4864-A1F9-DCC07CE71AC5}" vid="{121BF58A-4856-4395-B816-64FE0F6BA8B8}"/>
    </a:ext>
  </a:extLst>
</a:theme>
</file>

<file path=ppt/theme/theme6.xml><?xml version="1.0" encoding="utf-8"?>
<a:theme xmlns:a="http://schemas.openxmlformats.org/drawingml/2006/main" name="3_Theme1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8054E3D3-F476-4864-A1F9-DCC07CE71AC5}" vid="{121BF58A-4856-4395-B816-64FE0F6BA8B8}"/>
    </a:ext>
  </a:extLst>
</a:theme>
</file>

<file path=ppt/theme/theme7.xml><?xml version="1.0" encoding="utf-8"?>
<a:theme xmlns:a="http://schemas.openxmlformats.org/drawingml/2006/main" name="theme nouveau 2024 v2">
  <a:themeElements>
    <a:clrScheme name="Custom 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EABAB"/>
      </a:accent1>
      <a:accent2>
        <a:srgbClr val="70AD47"/>
      </a:accent2>
      <a:accent3>
        <a:srgbClr val="8EAADB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nouveau 2024 v2" id="{80D6775C-FE4E-4DA0-8FFC-73D90771A4C7}" vid="{D02DAE52-BF4B-4B74-BF16-773B52978150}"/>
    </a:ext>
  </a:extLst>
</a:theme>
</file>

<file path=ppt/theme/theme8.xml><?xml version="1.0" encoding="utf-8"?>
<a:theme xmlns:a="http://schemas.openxmlformats.org/drawingml/2006/main" name="4_Theme1">
  <a:themeElements>
    <a:clrScheme name="Custom 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EABAB"/>
      </a:accent1>
      <a:accent2>
        <a:srgbClr val="70AD47"/>
      </a:accent2>
      <a:accent3>
        <a:srgbClr val="8EAADB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Georgia"/>
        <a:ea typeface=""/>
        <a:cs typeface=""/>
      </a:majorFont>
      <a:minorFont>
        <a:latin typeface="Amasis MT Pro Light"/>
        <a:ea typeface=""/>
        <a:cs typeface="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8054E3D3-F476-4864-A1F9-DCC07CE71AC5}" vid="{121BF58A-4856-4395-B816-64FE0F6BA8B8}"/>
    </a:ext>
  </a:extLst>
</a:theme>
</file>

<file path=ppt/theme/theme9.xml><?xml version="1.0" encoding="utf-8"?>
<a:theme xmlns:a="http://schemas.openxmlformats.org/drawingml/2006/main" name="ThèmeHEC">
  <a:themeElements>
    <a:clrScheme name="HEC2">
      <a:dk1>
        <a:srgbClr val="000000"/>
      </a:dk1>
      <a:lt1>
        <a:srgbClr val="FFFFFF"/>
      </a:lt1>
      <a:dk2>
        <a:srgbClr val="97999B"/>
      </a:dk2>
      <a:lt2>
        <a:srgbClr val="EFF0F0"/>
      </a:lt2>
      <a:accent1>
        <a:srgbClr val="009FDF"/>
      </a:accent1>
      <a:accent2>
        <a:srgbClr val="003C71"/>
      </a:accent2>
      <a:accent3>
        <a:srgbClr val="D40F7D"/>
      </a:accent3>
      <a:accent4>
        <a:srgbClr val="FE5000"/>
      </a:accent4>
      <a:accent5>
        <a:srgbClr val="00C1D5"/>
      </a:accent5>
      <a:accent6>
        <a:srgbClr val="005EB8"/>
      </a:accent6>
      <a:hlink>
        <a:srgbClr val="003C71"/>
      </a:hlink>
      <a:folHlink>
        <a:srgbClr val="9678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èmeHEC" id="{7465C618-7679-4EFC-97C4-7229E9764B6E}" vid="{8FDDE1AC-1B25-4CFF-908F-B02124D657EF}"/>
    </a:ext>
  </a:extLst>
</a:theme>
</file>

<file path=ppt/theme/theme10.xml><?xml version="1.0" encoding="utf-8"?>
<a:theme xmlns:a="http://schemas.openxmlformats.org/drawingml/2006/main" name="9_Theme1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1F497D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8054E3D3-F476-4864-A1F9-DCC07CE71AC5}" vid="{121BF58A-4856-4395-B816-64FE0F6BA8B8}"/>
    </a:ext>
  </a:extLst>
</a:theme>
</file>

<file path=ppt/theme/theme11.xml><?xml version="1.0" encoding="utf-8"?>
<a:theme xmlns:a="http://schemas.openxmlformats.org/drawingml/2006/main" name="8_Theme1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1F497D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8054E3D3-F476-4864-A1F9-DCC07CE71AC5}" vid="{121BF58A-4856-4395-B816-64FE0F6BA8B8}"/>
    </a:ext>
  </a:extLst>
</a:theme>
</file>

<file path=ppt/theme/theme1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 nouveau 2024 v3</Template>
  <TotalTime>13145</TotalTime>
  <Words>2754</Words>
  <Application>Microsoft Office PowerPoint</Application>
  <PresentationFormat>Widescreen</PresentationFormat>
  <Paragraphs>423</Paragraphs>
  <Slides>34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34</vt:i4>
      </vt:variant>
    </vt:vector>
  </HeadingPairs>
  <TitlesOfParts>
    <vt:vector size="58" baseType="lpstr">
      <vt:lpstr>Amasis MT Pro Light</vt:lpstr>
      <vt:lpstr>Arial</vt:lpstr>
      <vt:lpstr>Bradley Hand ITC</vt:lpstr>
      <vt:lpstr>Calibri</vt:lpstr>
      <vt:lpstr>Cambria Math</vt:lpstr>
      <vt:lpstr>Courier New</vt:lpstr>
      <vt:lpstr>Georgia</vt:lpstr>
      <vt:lpstr>Helvetica</vt:lpstr>
      <vt:lpstr>Ink Free</vt:lpstr>
      <vt:lpstr>Segoe UI Emoji</vt:lpstr>
      <vt:lpstr>Verdana</vt:lpstr>
      <vt:lpstr>Wingdings</vt:lpstr>
      <vt:lpstr>Wingdings 2</vt:lpstr>
      <vt:lpstr>theme nouveau 2024 v3</vt:lpstr>
      <vt:lpstr>1_Civil</vt:lpstr>
      <vt:lpstr>Theme1</vt:lpstr>
      <vt:lpstr>1_Theme1</vt:lpstr>
      <vt:lpstr>2_Theme1</vt:lpstr>
      <vt:lpstr>3_Theme1</vt:lpstr>
      <vt:lpstr>theme nouveau 2024 v2</vt:lpstr>
      <vt:lpstr>4_Theme1</vt:lpstr>
      <vt:lpstr>ThèmeHEC</vt:lpstr>
      <vt:lpstr>9_Theme1</vt:lpstr>
      <vt:lpstr>8_Theme1</vt:lpstr>
      <vt:lpstr>10200 Finance</vt:lpstr>
      <vt:lpstr>Retour sur la séance 1: VF et intérêts composés</vt:lpstr>
      <vt:lpstr>Qu'avons-nous vu à la séance 2 ?</vt:lpstr>
      <vt:lpstr>Principes clés…</vt:lpstr>
      <vt:lpstr>Que sont les annuités ?</vt:lpstr>
      <vt:lpstr>Annuités ordinaires</vt:lpstr>
      <vt:lpstr>Que signifie les formules ?</vt:lpstr>
      <vt:lpstr>Exemple 1 : annuité ordinaire  </vt:lpstr>
      <vt:lpstr>Exemple 1 (suite)</vt:lpstr>
      <vt:lpstr>Exemple 2 : annuité ordinaire</vt:lpstr>
      <vt:lpstr>Exercice difficile…</vt:lpstr>
      <vt:lpstr>Exercice difficile (suite)</vt:lpstr>
      <vt:lpstr>Exercice difficile (suite)</vt:lpstr>
      <vt:lpstr>Cas particulier n° 1 : annuité différée</vt:lpstr>
      <vt:lpstr>Exemple 3 : annuité différée</vt:lpstr>
      <vt:lpstr>Cas particulier n° 2 : annuité de début de période</vt:lpstr>
      <vt:lpstr>Exemple 4 : annuité de début de période</vt:lpstr>
      <vt:lpstr>Attention !!</vt:lpstr>
      <vt:lpstr>Perpétuité</vt:lpstr>
      <vt:lpstr>Capsule 4 : Convertir les taux d'intérêts</vt:lpstr>
      <vt:lpstr>Il existe différentes façons de citer les taux d'intérêt...</vt:lpstr>
      <vt:lpstr>Cotation des taux d'intérêt</vt:lpstr>
      <vt:lpstr>Fréquence de calcul des intérêts</vt:lpstr>
      <vt:lpstr>Période de capitalisation et période de flux de monétaire</vt:lpstr>
      <vt:lpstr>Voici la méthode !</vt:lpstr>
      <vt:lpstr>Conversion des taux d'intérêt </vt:lpstr>
      <vt:lpstr>Pratiquons la méthode en 3 étapes ….</vt:lpstr>
      <vt:lpstr>Exercice : vrai ou faux ?</vt:lpstr>
      <vt:lpstr>Exercice difficile récapitulatif</vt:lpstr>
      <vt:lpstr>C'est en forgeant qu'on devient forgeron !!!</vt:lpstr>
      <vt:lpstr>Assurez-vous d'avoir ces diapositives à portée de main avant de résoudre un problème.</vt:lpstr>
      <vt:lpstr>PowerPoint Presentation</vt:lpstr>
      <vt:lpstr>A - Éviter les erreurs courantes en mathématiques financières</vt:lpstr>
      <vt:lpstr>B – Comparaison des taux d'intérêt </vt:lpstr>
    </vt:vector>
  </TitlesOfParts>
  <Company>HEC Montréal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Propédeutique en Finance 70-200-00</dc:title>
  <dc:creator>Utilisateur</dc:creator>
  <cp:keywords>, docId:07ECEE3243C21C8F991114E628127621</cp:keywords>
  <cp:lastModifiedBy>Mélanie Caron-Harris</cp:lastModifiedBy>
  <cp:revision>369</cp:revision>
  <dcterms:created xsi:type="dcterms:W3CDTF">2014-05-01T15:37:25Z</dcterms:created>
  <dcterms:modified xsi:type="dcterms:W3CDTF">2026-08-30T15:00:23Z</dcterms:modified>
</cp:coreProperties>
</file>