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notesMasterIdLst>
    <p:notesMasterId r:id="rId9"/>
  </p:notesMasterIdLst>
  <p:sldIdLst>
    <p:sldId id="918" r:id="rId3"/>
    <p:sldId id="930" r:id="rId4"/>
    <p:sldId id="931" r:id="rId5"/>
    <p:sldId id="932" r:id="rId6"/>
    <p:sldId id="933" r:id="rId7"/>
    <p:sldId id="913" r:id="rId8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4A75AF2-7929-42EB-B1FC-E45212C4D5C0}">
          <p14:sldIdLst>
            <p14:sldId id="918"/>
            <p14:sldId id="930"/>
            <p14:sldId id="931"/>
            <p14:sldId id="932"/>
            <p14:sldId id="933"/>
            <p14:sldId id="91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9412" autoAdjust="0"/>
  </p:normalViewPr>
  <p:slideViewPr>
    <p:cSldViewPr snapToGrid="0">
      <p:cViewPr varScale="1">
        <p:scale>
          <a:sx n="89" d="100"/>
          <a:sy n="89" d="100"/>
        </p:scale>
        <p:origin x="227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élanie Caron-Harris" userId="784ba18a-e74f-420c-a966-05b1322e4383" providerId="ADAL" clId="{4A875117-8A2E-4A08-B55A-EEBEFDC228DE}"/>
    <pc:docChg chg="custSel modSld">
      <pc:chgData name="Mélanie Caron-Harris" userId="784ba18a-e74f-420c-a966-05b1322e4383" providerId="ADAL" clId="{4A875117-8A2E-4A08-B55A-EEBEFDC228DE}" dt="2025-10-06T13:33:24.409" v="22" actId="1076"/>
      <pc:docMkLst>
        <pc:docMk/>
      </pc:docMkLst>
      <pc:sldChg chg="modSp mod">
        <pc:chgData name="Mélanie Caron-Harris" userId="784ba18a-e74f-420c-a966-05b1322e4383" providerId="ADAL" clId="{4A875117-8A2E-4A08-B55A-EEBEFDC228DE}" dt="2025-10-06T13:33:24.409" v="22" actId="1076"/>
        <pc:sldMkLst>
          <pc:docMk/>
          <pc:sldMk cId="225571462" sldId="913"/>
        </pc:sldMkLst>
        <pc:spChg chg="mod">
          <ac:chgData name="Mélanie Caron-Harris" userId="784ba18a-e74f-420c-a966-05b1322e4383" providerId="ADAL" clId="{4A875117-8A2E-4A08-B55A-EEBEFDC228DE}" dt="2025-10-06T13:33:24.409" v="22" actId="1076"/>
          <ac:spMkLst>
            <pc:docMk/>
            <pc:sldMk cId="225571462" sldId="913"/>
            <ac:spMk id="2" creationId="{37316B60-C0EA-8F14-42BB-2CD8811B0F03}"/>
          </ac:spMkLst>
        </pc:spChg>
      </pc:sldChg>
      <pc:sldChg chg="modSp mod">
        <pc:chgData name="Mélanie Caron-Harris" userId="784ba18a-e74f-420c-a966-05b1322e4383" providerId="ADAL" clId="{4A875117-8A2E-4A08-B55A-EEBEFDC228DE}" dt="2025-10-06T13:32:07.106" v="1" actId="20577"/>
        <pc:sldMkLst>
          <pc:docMk/>
          <pc:sldMk cId="3439261569" sldId="918"/>
        </pc:sldMkLst>
        <pc:spChg chg="mod">
          <ac:chgData name="Mélanie Caron-Harris" userId="784ba18a-e74f-420c-a966-05b1322e4383" providerId="ADAL" clId="{4A875117-8A2E-4A08-B55A-EEBEFDC228DE}" dt="2025-10-06T13:32:01.486" v="0" actId="14100"/>
          <ac:spMkLst>
            <pc:docMk/>
            <pc:sldMk cId="3439261569" sldId="918"/>
            <ac:spMk id="2" creationId="{FD37CE3F-EA88-316A-BA25-61E3A68BFC5B}"/>
          </ac:spMkLst>
        </pc:spChg>
        <pc:spChg chg="mod">
          <ac:chgData name="Mélanie Caron-Harris" userId="784ba18a-e74f-420c-a966-05b1322e4383" providerId="ADAL" clId="{4A875117-8A2E-4A08-B55A-EEBEFDC228DE}" dt="2025-10-06T13:32:07.106" v="1" actId="20577"/>
          <ac:spMkLst>
            <pc:docMk/>
            <pc:sldMk cId="3439261569" sldId="918"/>
            <ac:spMk id="3" creationId="{BD2F2975-8E17-55BC-C605-1DF6AB103270}"/>
          </ac:spMkLst>
        </pc:spChg>
      </pc:sldChg>
      <pc:sldChg chg="modSp mod">
        <pc:chgData name="Mélanie Caron-Harris" userId="784ba18a-e74f-420c-a966-05b1322e4383" providerId="ADAL" clId="{4A875117-8A2E-4A08-B55A-EEBEFDC228DE}" dt="2025-10-06T13:32:15.778" v="3" actId="27636"/>
        <pc:sldMkLst>
          <pc:docMk/>
          <pc:sldMk cId="2220350991" sldId="930"/>
        </pc:sldMkLst>
        <pc:spChg chg="mod">
          <ac:chgData name="Mélanie Caron-Harris" userId="784ba18a-e74f-420c-a966-05b1322e4383" providerId="ADAL" clId="{4A875117-8A2E-4A08-B55A-EEBEFDC228DE}" dt="2025-10-06T13:32:15.778" v="3" actId="27636"/>
          <ac:spMkLst>
            <pc:docMk/>
            <pc:sldMk cId="2220350991" sldId="930"/>
            <ac:spMk id="4" creationId="{F1E4BE53-98D0-7803-C4E6-A880ED74FBEA}"/>
          </ac:spMkLst>
        </pc:spChg>
      </pc:sldChg>
      <pc:sldChg chg="modSp mod">
        <pc:chgData name="Mélanie Caron-Harris" userId="784ba18a-e74f-420c-a966-05b1322e4383" providerId="ADAL" clId="{4A875117-8A2E-4A08-B55A-EEBEFDC228DE}" dt="2025-10-06T13:32:55.390" v="13" actId="14100"/>
        <pc:sldMkLst>
          <pc:docMk/>
          <pc:sldMk cId="1388487209" sldId="931"/>
        </pc:sldMkLst>
        <pc:graphicFrameChg chg="mod modGraphic">
          <ac:chgData name="Mélanie Caron-Harris" userId="784ba18a-e74f-420c-a966-05b1322e4383" providerId="ADAL" clId="{4A875117-8A2E-4A08-B55A-EEBEFDC228DE}" dt="2025-10-06T13:32:47.487" v="11" actId="20577"/>
          <ac:graphicFrameMkLst>
            <pc:docMk/>
            <pc:sldMk cId="1388487209" sldId="931"/>
            <ac:graphicFrameMk id="5" creationId="{EA6E133B-12DC-E353-0722-AB64831D3CFF}"/>
          </ac:graphicFrameMkLst>
        </pc:graphicFrameChg>
        <pc:graphicFrameChg chg="mod">
          <ac:chgData name="Mélanie Caron-Harris" userId="784ba18a-e74f-420c-a966-05b1322e4383" providerId="ADAL" clId="{4A875117-8A2E-4A08-B55A-EEBEFDC228DE}" dt="2025-10-06T13:32:55.390" v="13" actId="14100"/>
          <ac:graphicFrameMkLst>
            <pc:docMk/>
            <pc:sldMk cId="1388487209" sldId="931"/>
            <ac:graphicFrameMk id="1033" creationId="{19E51EA7-74CA-673A-6B10-560BF4ACEE1F}"/>
          </ac:graphicFrameMkLst>
        </pc:graphicFrameChg>
      </pc:sldChg>
      <pc:sldChg chg="modSp mod">
        <pc:chgData name="Mélanie Caron-Harris" userId="784ba18a-e74f-420c-a966-05b1322e4383" providerId="ADAL" clId="{4A875117-8A2E-4A08-B55A-EEBEFDC228DE}" dt="2025-10-06T13:33:04.230" v="17" actId="1076"/>
        <pc:sldMkLst>
          <pc:docMk/>
          <pc:sldMk cId="1418812007" sldId="932"/>
        </pc:sldMkLst>
        <pc:spChg chg="mod">
          <ac:chgData name="Mélanie Caron-Harris" userId="784ba18a-e74f-420c-a966-05b1322e4383" providerId="ADAL" clId="{4A875117-8A2E-4A08-B55A-EEBEFDC228DE}" dt="2025-10-06T13:33:04.230" v="17" actId="1076"/>
          <ac:spMkLst>
            <pc:docMk/>
            <pc:sldMk cId="1418812007" sldId="932"/>
            <ac:spMk id="3" creationId="{14C6FAEA-266D-9492-09C4-AE6D249A3090}"/>
          </ac:spMkLst>
        </pc:spChg>
      </pc:sldChg>
      <pc:sldChg chg="modSp mod">
        <pc:chgData name="Mélanie Caron-Harris" userId="784ba18a-e74f-420c-a966-05b1322e4383" providerId="ADAL" clId="{4A875117-8A2E-4A08-B55A-EEBEFDC228DE}" dt="2025-10-06T13:33:17.242" v="20" actId="404"/>
        <pc:sldMkLst>
          <pc:docMk/>
          <pc:sldMk cId="849398203" sldId="933"/>
        </pc:sldMkLst>
        <pc:spChg chg="mod">
          <ac:chgData name="Mélanie Caron-Harris" userId="784ba18a-e74f-420c-a966-05b1322e4383" providerId="ADAL" clId="{4A875117-8A2E-4A08-B55A-EEBEFDC228DE}" dt="2025-10-06T13:33:17.242" v="20" actId="404"/>
          <ac:spMkLst>
            <pc:docMk/>
            <pc:sldMk cId="849398203" sldId="933"/>
            <ac:spMk id="8" creationId="{5967E040-3666-B91B-3BF9-640E52771D0D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EFB5BD8-2202-467D-9728-FF6662A73C3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E001A7B-4481-495C-8E8A-F701B06E716C}">
      <dgm:prSet/>
      <dgm:spPr/>
      <dgm:t>
        <a:bodyPr/>
        <a:lstStyle/>
        <a:p>
          <a:r>
            <a:rPr lang="fr-FR" b="1" i="0" baseline="0" dirty="0" err="1"/>
            <a:t>Marché</a:t>
          </a:r>
          <a:r>
            <a:rPr lang="fr-FR" b="1" i="0" baseline="0" dirty="0"/>
            <a:t> américain : </a:t>
          </a:r>
          <a:r>
            <a:rPr lang="fr-FR" b="0" i="0" baseline="0" dirty="0" err="1"/>
            <a:t>la demande </a:t>
          </a:r>
          <a:r>
            <a:rPr lang="fr-FR" b="0" i="0" baseline="0" dirty="0"/>
            <a:t>s'est </a:t>
          </a:r>
          <a:r>
            <a:rPr lang="fr-FR" b="0" i="0" baseline="0" dirty="0" err="1"/>
            <a:t>affaiblie malgré les baisses de prix </a:t>
          </a:r>
          <a:r>
            <a:rPr lang="fr-FR" b="0" i="0" baseline="0" dirty="0"/>
            <a:t>et </a:t>
          </a:r>
          <a:r>
            <a:rPr lang="fr-FR" b="0" i="0" baseline="0" dirty="0" err="1"/>
            <a:t>les mesures incitatives</a:t>
          </a:r>
          <a:r>
            <a:rPr lang="fr-FR" b="0" i="0" baseline="0" dirty="0"/>
            <a:t>. </a:t>
          </a:r>
          <a:r>
            <a:rPr lang="fr-FR" b="0" i="0" baseline="0" dirty="0" err="1"/>
            <a:t>Certains propriétaires</a:t>
          </a:r>
          <a:r>
            <a:rPr lang="fr-FR" b="0" i="0" baseline="0" dirty="0"/>
            <a:t> de Tesla ont </a:t>
          </a:r>
          <a:r>
            <a:rPr lang="fr-FR" b="0" i="0" baseline="0" dirty="0" err="1"/>
            <a:t>ouvertement critiqué </a:t>
          </a:r>
          <a:r>
            <a:rPr lang="fr-FR" b="0" i="0" baseline="0" dirty="0"/>
            <a:t>l'image publique </a:t>
          </a:r>
          <a:r>
            <a:rPr lang="fr-FR" b="0" i="0" baseline="0" dirty="0" err="1"/>
            <a:t>de Musk</a:t>
          </a:r>
          <a:r>
            <a:rPr lang="fr-FR" b="0" i="0" baseline="0" dirty="0"/>
            <a:t>, </a:t>
          </a:r>
          <a:r>
            <a:rPr lang="fr-FR" b="0" i="0" baseline="0" dirty="0" err="1"/>
            <a:t>avec des déclarations</a:t>
          </a:r>
          <a:r>
            <a:rPr lang="fr-FR" b="0" i="0" baseline="0" dirty="0"/>
            <a:t> visibles </a:t>
          </a:r>
          <a:r>
            <a:rPr lang="fr-FR" b="0" i="0" baseline="0" dirty="0" err="1"/>
            <a:t>telles </a:t>
          </a:r>
          <a:r>
            <a:rPr lang="fr-FR" b="0" i="0" baseline="0" dirty="0"/>
            <a:t>que des autocollants </a:t>
          </a:r>
          <a:r>
            <a:rPr lang="fr-FR" b="0" i="0" baseline="0" dirty="0" err="1"/>
            <a:t>sur lesquels on peut lire </a:t>
          </a:r>
          <a:r>
            <a:rPr lang="fr-FR" b="0" i="1" baseline="0" dirty="0"/>
            <a:t>« </a:t>
          </a:r>
          <a:r>
            <a:rPr lang="fr-FR" b="0" i="1" baseline="0" dirty="0" err="1"/>
            <a:t>Désolé</a:t>
          </a:r>
          <a:r>
            <a:rPr lang="fr-FR" b="0" i="1" baseline="0" dirty="0"/>
            <a:t>, Elon </a:t>
          </a:r>
          <a:r>
            <a:rPr lang="fr-FR" b="0" i="1" baseline="0" dirty="0" err="1"/>
            <a:t>est fou </a:t>
          </a:r>
          <a:r>
            <a:rPr lang="fr-FR" b="0" i="1" baseline="0" dirty="0"/>
            <a:t>».</a:t>
          </a:r>
          <a:endParaRPr lang="en-US" dirty="0"/>
        </a:p>
      </dgm:t>
    </dgm:pt>
    <dgm:pt modelId="{6677AB4B-3DC2-4EB8-A046-6AC19A62D8FE}" type="parTrans" cxnId="{3D94D0A5-478A-456C-9A97-FA3AB3851708}">
      <dgm:prSet/>
      <dgm:spPr/>
      <dgm:t>
        <a:bodyPr/>
        <a:lstStyle/>
        <a:p>
          <a:endParaRPr lang="en-US"/>
        </a:p>
      </dgm:t>
    </dgm:pt>
    <dgm:pt modelId="{28AFBA3A-ED9F-4D57-9D55-1EEE88DBA81A}" type="sibTrans" cxnId="{3D94D0A5-478A-456C-9A97-FA3AB3851708}">
      <dgm:prSet/>
      <dgm:spPr/>
      <dgm:t>
        <a:bodyPr/>
        <a:lstStyle/>
        <a:p>
          <a:endParaRPr lang="en-US"/>
        </a:p>
      </dgm:t>
    </dgm:pt>
    <dgm:pt modelId="{7AD5D0F6-9C3C-40E9-9F33-738DCB4C6D39}">
      <dgm:prSet/>
      <dgm:spPr/>
      <dgm:t>
        <a:bodyPr/>
        <a:lstStyle/>
        <a:p>
          <a:r>
            <a:rPr lang="fr-FR" b="1" i="0" baseline="0"/>
            <a:t>Changement de perception de la marque : </a:t>
          </a:r>
          <a:r>
            <a:rPr lang="fr-FR" b="0" i="0" baseline="0"/>
            <a:t>le sentiment négatif du public peut avoir un impact sur la fidélité des clients et dissuader de nouveaux acheteurs, ce qui pourrait affecter les résultats financiers de Tesla. </a:t>
          </a:r>
          <a:endParaRPr lang="en-US"/>
        </a:p>
      </dgm:t>
    </dgm:pt>
    <dgm:pt modelId="{3656F9B5-ACF2-4CC5-8707-5266D2A7E937}" type="parTrans" cxnId="{A8B1793B-4D43-41F0-89D3-D84A74F17B3F}">
      <dgm:prSet/>
      <dgm:spPr/>
      <dgm:t>
        <a:bodyPr/>
        <a:lstStyle/>
        <a:p>
          <a:endParaRPr lang="en-US"/>
        </a:p>
      </dgm:t>
    </dgm:pt>
    <dgm:pt modelId="{5DBF0276-72EA-43B3-B4B3-1801D63D8FD5}" type="sibTrans" cxnId="{A8B1793B-4D43-41F0-89D3-D84A74F17B3F}">
      <dgm:prSet/>
      <dgm:spPr/>
      <dgm:t>
        <a:bodyPr/>
        <a:lstStyle/>
        <a:p>
          <a:endParaRPr lang="en-US"/>
        </a:p>
      </dgm:t>
    </dgm:pt>
    <dgm:pt modelId="{A58E3933-7C12-444E-948E-607C6CD32727}" type="pres">
      <dgm:prSet presAssocID="{AEFB5BD8-2202-467D-9728-FF6662A73C3F}" presName="linear" presStyleCnt="0">
        <dgm:presLayoutVars>
          <dgm:animLvl val="lvl"/>
          <dgm:resizeHandles val="exact"/>
        </dgm:presLayoutVars>
      </dgm:prSet>
      <dgm:spPr/>
    </dgm:pt>
    <dgm:pt modelId="{1988C628-7F04-4534-B75C-A313CEDFACE8}" type="pres">
      <dgm:prSet presAssocID="{EE001A7B-4481-495C-8E8A-F701B06E716C}" presName="parentText" presStyleLbl="node1" presStyleIdx="0" presStyleCnt="2" custLinFactNeighborX="1086" custLinFactNeighborY="-1919">
        <dgm:presLayoutVars>
          <dgm:chMax val="0"/>
          <dgm:bulletEnabled val="1"/>
        </dgm:presLayoutVars>
      </dgm:prSet>
      <dgm:spPr/>
    </dgm:pt>
    <dgm:pt modelId="{79F0DAFD-E49E-4A94-82E2-C5AA996556C3}" type="pres">
      <dgm:prSet presAssocID="{28AFBA3A-ED9F-4D57-9D55-1EEE88DBA81A}" presName="spacer" presStyleCnt="0"/>
      <dgm:spPr/>
    </dgm:pt>
    <dgm:pt modelId="{71905333-09E9-4B16-B2F7-3AF5E5716525}" type="pres">
      <dgm:prSet presAssocID="{7AD5D0F6-9C3C-40E9-9F33-738DCB4C6D39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A8B1793B-4D43-41F0-89D3-D84A74F17B3F}" srcId="{AEFB5BD8-2202-467D-9728-FF6662A73C3F}" destId="{7AD5D0F6-9C3C-40E9-9F33-738DCB4C6D39}" srcOrd="1" destOrd="0" parTransId="{3656F9B5-ACF2-4CC5-8707-5266D2A7E937}" sibTransId="{5DBF0276-72EA-43B3-B4B3-1801D63D8FD5}"/>
    <dgm:cxn modelId="{B69F3797-8CF3-4458-B36B-A0DCD4615134}" type="presOf" srcId="{AEFB5BD8-2202-467D-9728-FF6662A73C3F}" destId="{A58E3933-7C12-444E-948E-607C6CD32727}" srcOrd="0" destOrd="0" presId="urn:microsoft.com/office/officeart/2005/8/layout/vList2"/>
    <dgm:cxn modelId="{D840499A-D2B8-441E-BDAA-7633B7098E50}" type="presOf" srcId="{EE001A7B-4481-495C-8E8A-F701B06E716C}" destId="{1988C628-7F04-4534-B75C-A313CEDFACE8}" srcOrd="0" destOrd="0" presId="urn:microsoft.com/office/officeart/2005/8/layout/vList2"/>
    <dgm:cxn modelId="{3D94D0A5-478A-456C-9A97-FA3AB3851708}" srcId="{AEFB5BD8-2202-467D-9728-FF6662A73C3F}" destId="{EE001A7B-4481-495C-8E8A-F701B06E716C}" srcOrd="0" destOrd="0" parTransId="{6677AB4B-3DC2-4EB8-A046-6AC19A62D8FE}" sibTransId="{28AFBA3A-ED9F-4D57-9D55-1EEE88DBA81A}"/>
    <dgm:cxn modelId="{FBCB6EAF-BF99-43D1-8255-3816E3176B4E}" type="presOf" srcId="{7AD5D0F6-9C3C-40E9-9F33-738DCB4C6D39}" destId="{71905333-09E9-4B16-B2F7-3AF5E5716525}" srcOrd="0" destOrd="0" presId="urn:microsoft.com/office/officeart/2005/8/layout/vList2"/>
    <dgm:cxn modelId="{BDF07A04-D853-4A32-BEC5-D19BBDE656B1}" type="presParOf" srcId="{A58E3933-7C12-444E-948E-607C6CD32727}" destId="{1988C628-7F04-4534-B75C-A313CEDFACE8}" srcOrd="0" destOrd="0" presId="urn:microsoft.com/office/officeart/2005/8/layout/vList2"/>
    <dgm:cxn modelId="{C2AAEF9B-330B-46E7-825F-5DFAEF7570B2}" type="presParOf" srcId="{A58E3933-7C12-444E-948E-607C6CD32727}" destId="{79F0DAFD-E49E-4A94-82E2-C5AA996556C3}" srcOrd="1" destOrd="0" presId="urn:microsoft.com/office/officeart/2005/8/layout/vList2"/>
    <dgm:cxn modelId="{38951747-704A-469A-BD76-B1E7C9BA710C}" type="presParOf" srcId="{A58E3933-7C12-444E-948E-607C6CD32727}" destId="{71905333-09E9-4B16-B2F7-3AF5E5716525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88C628-7F04-4534-B75C-A313CEDFACE8}">
      <dsp:nvSpPr>
        <dsp:cNvPr id="0" name=""/>
        <dsp:cNvSpPr/>
      </dsp:nvSpPr>
      <dsp:spPr>
        <a:xfrm>
          <a:off x="0" y="44787"/>
          <a:ext cx="6541380" cy="15584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i="0" kern="1200" baseline="0" dirty="0" err="1"/>
            <a:t>Marché</a:t>
          </a:r>
          <a:r>
            <a:rPr lang="fr-FR" sz="1800" b="1" i="0" kern="1200" baseline="0" dirty="0"/>
            <a:t> américain : </a:t>
          </a:r>
          <a:r>
            <a:rPr lang="fr-FR" sz="1800" b="0" i="0" kern="1200" baseline="0" dirty="0" err="1"/>
            <a:t>la demande </a:t>
          </a:r>
          <a:r>
            <a:rPr lang="fr-FR" sz="1800" b="0" i="0" kern="1200" baseline="0" dirty="0"/>
            <a:t>s'est </a:t>
          </a:r>
          <a:r>
            <a:rPr lang="fr-FR" sz="1800" b="0" i="0" kern="1200" baseline="0" dirty="0" err="1"/>
            <a:t>affaiblie malgré les baisses de prix </a:t>
          </a:r>
          <a:r>
            <a:rPr lang="fr-FR" sz="1800" b="0" i="0" kern="1200" baseline="0" dirty="0"/>
            <a:t>et </a:t>
          </a:r>
          <a:r>
            <a:rPr lang="fr-FR" sz="1800" b="0" i="0" kern="1200" baseline="0" dirty="0" err="1"/>
            <a:t>les mesures incitatives</a:t>
          </a:r>
          <a:r>
            <a:rPr lang="fr-FR" sz="1800" b="0" i="0" kern="1200" baseline="0" dirty="0"/>
            <a:t>. </a:t>
          </a:r>
          <a:r>
            <a:rPr lang="fr-FR" sz="1800" b="0" i="0" kern="1200" baseline="0" dirty="0" err="1"/>
            <a:t>Certains propriétaires</a:t>
          </a:r>
          <a:r>
            <a:rPr lang="fr-FR" sz="1800" b="0" i="0" kern="1200" baseline="0" dirty="0"/>
            <a:t> de Tesla ont </a:t>
          </a:r>
          <a:r>
            <a:rPr lang="fr-FR" sz="1800" b="0" i="0" kern="1200" baseline="0" dirty="0" err="1"/>
            <a:t>ouvertement critiqué </a:t>
          </a:r>
          <a:r>
            <a:rPr lang="fr-FR" sz="1800" b="0" i="0" kern="1200" baseline="0" dirty="0"/>
            <a:t>l'image publique </a:t>
          </a:r>
          <a:r>
            <a:rPr lang="fr-FR" sz="1800" b="0" i="0" kern="1200" baseline="0" dirty="0" err="1"/>
            <a:t>de Musk</a:t>
          </a:r>
          <a:r>
            <a:rPr lang="fr-FR" sz="1800" b="0" i="0" kern="1200" baseline="0" dirty="0"/>
            <a:t>, </a:t>
          </a:r>
          <a:r>
            <a:rPr lang="fr-FR" sz="1800" b="0" i="0" kern="1200" baseline="0" dirty="0" err="1"/>
            <a:t>avec des déclarations</a:t>
          </a:r>
          <a:r>
            <a:rPr lang="fr-FR" sz="1800" b="0" i="0" kern="1200" baseline="0" dirty="0"/>
            <a:t> visibles </a:t>
          </a:r>
          <a:r>
            <a:rPr lang="fr-FR" sz="1800" b="0" i="0" kern="1200" baseline="0" dirty="0" err="1"/>
            <a:t>telles </a:t>
          </a:r>
          <a:r>
            <a:rPr lang="fr-FR" sz="1800" b="0" i="0" kern="1200" baseline="0" dirty="0"/>
            <a:t>que des autocollants </a:t>
          </a:r>
          <a:r>
            <a:rPr lang="fr-FR" sz="1800" b="0" i="0" kern="1200" baseline="0" dirty="0" err="1"/>
            <a:t>sur lesquels on peut lire </a:t>
          </a:r>
          <a:r>
            <a:rPr lang="fr-FR" sz="1800" b="0" i="1" kern="1200" baseline="0" dirty="0"/>
            <a:t>« </a:t>
          </a:r>
          <a:r>
            <a:rPr lang="fr-FR" sz="1800" b="0" i="1" kern="1200" baseline="0" dirty="0" err="1"/>
            <a:t>Désolé</a:t>
          </a:r>
          <a:r>
            <a:rPr lang="fr-FR" sz="1800" b="0" i="1" kern="1200" baseline="0" dirty="0"/>
            <a:t>, Elon </a:t>
          </a:r>
          <a:r>
            <a:rPr lang="fr-FR" sz="1800" b="0" i="1" kern="1200" baseline="0" dirty="0" err="1"/>
            <a:t>est fou </a:t>
          </a:r>
          <a:r>
            <a:rPr lang="fr-FR" sz="1800" b="0" i="1" kern="1200" baseline="0" dirty="0"/>
            <a:t>».</a:t>
          </a:r>
          <a:endParaRPr lang="en-US" sz="1800" kern="1200" dirty="0"/>
        </a:p>
      </dsp:txBody>
      <dsp:txXfrm>
        <a:off x="76077" y="120864"/>
        <a:ext cx="6389226" cy="1406285"/>
      </dsp:txXfrm>
    </dsp:sp>
    <dsp:sp modelId="{71905333-09E9-4B16-B2F7-3AF5E5716525}">
      <dsp:nvSpPr>
        <dsp:cNvPr id="0" name=""/>
        <dsp:cNvSpPr/>
      </dsp:nvSpPr>
      <dsp:spPr>
        <a:xfrm>
          <a:off x="0" y="1656062"/>
          <a:ext cx="6541380" cy="15584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800" b="1" i="0" kern="1200" baseline="0"/>
            <a:t>Changement de perception de la marque : </a:t>
          </a:r>
          <a:r>
            <a:rPr lang="fr-FR" sz="1800" b="0" i="0" kern="1200" baseline="0"/>
            <a:t>le sentiment négatif du public peut avoir un impact sur la fidélité des clients et dissuader de nouveaux acheteurs, ce qui pourrait affecter les résultats financiers de Tesla. </a:t>
          </a:r>
          <a:endParaRPr lang="en-US" sz="1800" kern="1200"/>
        </a:p>
      </dsp:txBody>
      <dsp:txXfrm>
        <a:off x="76077" y="1732139"/>
        <a:ext cx="6389226" cy="14062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554AE3-50F2-44EE-B1EB-3502A3D474D5}" type="datetimeFigureOut">
              <a:rPr lang="fr-CA" smtClean="0"/>
              <a:t>2025-10-06</a:t>
            </a:fld>
            <a:endParaRPr lang="fr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Cliquez pour modifier les styles de texte principaux</a:t>
            </a:r>
          </a:p>
          <a:p>
            <a:pPr lvl="1"/>
            <a:r>
              <a:rPr lang="en-US"/>
              <a:t>Deuxième niveau</a:t>
            </a:r>
          </a:p>
          <a:p>
            <a:pPr lvl="2"/>
            <a:r>
              <a:rPr lang="en-US"/>
              <a:t>Troisième niveau</a:t>
            </a:r>
          </a:p>
          <a:p>
            <a:pPr lvl="3"/>
            <a:r>
              <a:rPr lang="en-US"/>
              <a:t>Quatrième niveau</a:t>
            </a:r>
          </a:p>
          <a:p>
            <a:pPr lvl="4"/>
            <a:r>
              <a:rPr lang="en-US"/>
              <a:t>Cinquième niveau</a:t>
            </a:r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4B2A49-13FA-483D-9C82-0BB3F29B353A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65736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8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©Pierre Durand, 26/12/08</a:t>
            </a:r>
            <a:endParaRPr lang="fr-CA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4343400" y="2199452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E35F0CD6-4D21-B546-A7CD-3307EDD2EECA}" type="slidenum">
              <a:rPr lang="fr-CA" smtClean="0"/>
              <a:pPr>
                <a:defRPr/>
              </a:pPr>
              <a:t>‹#›</a:t>
            </a:fld>
            <a:endParaRPr lang="fr-CA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722363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©Pierre Durand, 26/12/08</a:t>
            </a:r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61688" y="1026374"/>
            <a:ext cx="457200" cy="441325"/>
          </a:xfrm>
        </p:spPr>
        <p:txBody>
          <a:bodyPr/>
          <a:lstStyle/>
          <a:p>
            <a:pPr>
              <a:defRPr/>
            </a:pPr>
            <a:fld id="{A36EBACF-F565-E244-8230-FFB82DCE4B7F}" type="slidenum">
              <a:rPr lang="fr-CA" smtClean="0"/>
              <a:pPr>
                <a:defRPr/>
              </a:pPr>
              <a:t>‹#›</a:t>
            </a:fld>
            <a:endParaRPr lang="fr-CA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03449432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8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©Pierre Durand, 26/12/08</a:t>
            </a:r>
            <a:endParaRPr lang="fr-CA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0" name="Ellipse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43400" y="2199452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40A84BC4-1EC8-4347-BACB-34E35B1682E4}" type="slidenum">
              <a:rPr lang="fr-CA" smtClean="0"/>
              <a:pPr>
                <a:defRPr/>
              </a:pPr>
              <a:t>‹#›</a:t>
            </a:fld>
            <a:endParaRPr lang="fr-CA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388851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pPr>
              <a:defRPr/>
            </a:pPr>
            <a:r>
              <a:rPr lang="en-US"/>
              <a:t>©Pierre Durand, 26/12/08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BF2028E-C067-4D44-8983-070EB99985B1}" type="slidenum">
              <a:rPr lang="fr-CA" smtClean="0"/>
              <a:pPr>
                <a:defRPr/>
              </a:pPr>
              <a:t>‹#›</a:t>
            </a:fld>
            <a:endParaRPr lang="fr-CA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 flipV="1">
            <a:off x="4563081" y="1575654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3764180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791331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©Pierre Durand, 26/12/08</a:t>
            </a:r>
            <a:endParaRPr lang="fr-CA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pPr>
              <a:defRPr/>
            </a:pPr>
            <a:endParaRPr lang="en-CA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24" name="Espace réservé du contenu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6" name="Espace réservé du contenu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5" name="Ellipse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7" name="Ellipse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4343400" y="1042418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5B8A2EBE-6792-174C-88F3-8C5CBC1F17F1}" type="slidenum">
              <a:rPr lang="fr-CA" smtClean="0"/>
              <a:pPr>
                <a:defRPr/>
              </a:pPr>
              <a:t>‹#›</a:t>
            </a:fld>
            <a:endParaRPr lang="fr-CA"/>
          </a:p>
        </p:txBody>
      </p:sp>
      <p:sp>
        <p:nvSpPr>
          <p:cNvPr id="23" name="Titr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024253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©Pierre Durand, 26/12/08</a:t>
            </a:r>
            <a:endParaRPr lang="fr-CA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2"/>
            <a:ext cx="457200" cy="441325"/>
          </a:xfrm>
        </p:spPr>
        <p:txBody>
          <a:bodyPr/>
          <a:lstStyle/>
          <a:p>
            <a:pPr>
              <a:defRPr/>
            </a:pPr>
            <a:fld id="{861EDDE8-0149-AA4A-A83C-46DB0EFB8942}" type="slidenum">
              <a:rPr lang="fr-CA" smtClean="0"/>
              <a:pPr>
                <a:defRPr/>
              </a:pPr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1083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8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©Pierre Durand, 26/12/08</a:t>
            </a:r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FECB675A-C08F-B341-8220-619FA1DC7B26}" type="slidenum">
              <a:rPr lang="fr-CA" smtClean="0"/>
              <a:pPr>
                <a:defRPr/>
              </a:pPr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75720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381000" y="1981202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4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BBDB02C3-5F1B-B44C-B459-4336E1CAFA9F}" type="slidenum">
              <a:rPr lang="fr-CA" smtClean="0"/>
              <a:pPr>
                <a:defRPr/>
              </a:pPr>
              <a:t>‹#›</a:t>
            </a:fld>
            <a:endParaRPr lang="fr-CA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7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©Pierre Durand, 26/12/08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pPr>
              <a:defRPr/>
            </a:pP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684699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necteur droit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40"/>
            <a:ext cx="457200" cy="441325"/>
          </a:xfrm>
        </p:spPr>
        <p:txBody>
          <a:bodyPr/>
          <a:lstStyle/>
          <a:p>
            <a:pPr>
              <a:defRPr/>
            </a:pPr>
            <a:fld id="{3E8D161A-6432-D34D-8060-2B7E4E95406D}" type="slidenum">
              <a:rPr lang="fr-CA" smtClean="0"/>
              <a:pPr>
                <a:defRPr/>
              </a:pPr>
              <a:t>‹#›</a:t>
            </a:fld>
            <a:endParaRPr lang="fr-CA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7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pPr>
              <a:defRPr/>
            </a:pPr>
            <a:r>
              <a:rPr lang="en-US"/>
              <a:t>©Pierre Durand, 26/12/08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pPr>
              <a:defRPr/>
            </a:pP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63473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©Pierre Durand, 26/12/08</a:t>
            </a:r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8BD0FE-F1B9-E04E-9CB6-498F2CF828A1}" type="slidenum">
              <a:rPr lang="fr-CA" smtClean="0"/>
              <a:pPr>
                <a:defRPr/>
              </a:pPr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206632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8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915912" y="3009903"/>
            <a:ext cx="457200" cy="441325"/>
          </a:xfrm>
        </p:spPr>
        <p:txBody>
          <a:bodyPr/>
          <a:lstStyle/>
          <a:p>
            <a:pPr>
              <a:defRPr/>
            </a:pPr>
            <a:fld id="{09EE5842-AA29-D448-9B4F-ADEC99BBE270}" type="slidenum">
              <a:rPr lang="fr-CA" smtClean="0"/>
              <a:pPr>
                <a:defRPr/>
              </a:pPr>
              <a:t>‹#›</a:t>
            </a:fld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©Pierre Durand, 26/12/08</a:t>
            </a:r>
            <a:endParaRPr lang="fr-CA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/>
          </a:p>
        </p:txBody>
      </p:sp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391400" y="304803"/>
            <a:ext cx="1447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25440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ag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Tour UdeM"/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35"/>
          <a:stretch/>
        </p:blipFill>
        <p:spPr>
          <a:xfrm>
            <a:off x="0" y="3"/>
            <a:ext cx="9144000" cy="709140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9805552-F195-4C67-AE72-94F541781C2F}"/>
              </a:ext>
            </a:extLst>
          </p:cNvPr>
          <p:cNvSpPr/>
          <p:nvPr userDrawn="1"/>
        </p:nvSpPr>
        <p:spPr>
          <a:xfrm>
            <a:off x="4385511" y="745960"/>
            <a:ext cx="4758490" cy="56285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endParaRPr lang="fr-CA" sz="1800"/>
          </a:p>
        </p:txBody>
      </p:sp>
      <p:pic>
        <p:nvPicPr>
          <p:cNvPr id="13" name="Logo-UdeM" hidden="1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3388" y="5588281"/>
            <a:ext cx="1010414" cy="612984"/>
          </a:xfrm>
          <a:prstGeom prst="rect">
            <a:avLst/>
          </a:prstGeom>
        </p:spPr>
      </p:pic>
      <p:pic>
        <p:nvPicPr>
          <p:cNvPr id="2" name="logoUdeM-service/faculté" hidden="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1190" y="5294778"/>
            <a:ext cx="2157968" cy="968688"/>
          </a:xfrm>
          <a:prstGeom prst="rect">
            <a:avLst/>
          </a:prstGeom>
        </p:spPr>
      </p:pic>
      <p:sp>
        <p:nvSpPr>
          <p:cNvPr id="19" name="Texte-date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4385509" y="5186635"/>
            <a:ext cx="2403000" cy="288000"/>
          </a:xfrm>
        </p:spPr>
        <p:txBody>
          <a:bodyPr lIns="504000" rIns="504000" anchor="b">
            <a:noAutofit/>
          </a:bodyPr>
          <a:lstStyle>
            <a:lvl1pPr>
              <a:spcBef>
                <a:spcPts val="0"/>
              </a:spcBef>
              <a:defRPr sz="825" b="0" baseline="0">
                <a:solidFill>
                  <a:schemeClr val="accent2"/>
                </a:solidFill>
              </a:defRPr>
            </a:lvl1pPr>
            <a:lvl2pPr>
              <a:defRPr sz="1800">
                <a:solidFill>
                  <a:schemeClr val="accent2"/>
                </a:solidFill>
              </a:defRPr>
            </a:lvl2pPr>
            <a:lvl3pPr>
              <a:defRPr sz="1800">
                <a:solidFill>
                  <a:schemeClr val="accent2"/>
                </a:solidFill>
              </a:defRPr>
            </a:lvl3pPr>
            <a:lvl4pPr>
              <a:defRPr sz="1800">
                <a:solidFill>
                  <a:schemeClr val="accent2"/>
                </a:solidFill>
              </a:defRPr>
            </a:lvl4pPr>
            <a:lvl5pPr>
              <a:defRPr sz="1500">
                <a:solidFill>
                  <a:schemeClr val="accent2"/>
                </a:solidFill>
              </a:defRPr>
            </a:lvl5pPr>
          </a:lstStyle>
          <a:p>
            <a:pPr lvl="0"/>
            <a:r>
              <a:rPr lang="fr-FR" dirty="0"/>
              <a:t>Date</a:t>
            </a:r>
          </a:p>
        </p:txBody>
      </p:sp>
      <p:sp>
        <p:nvSpPr>
          <p:cNvPr id="6" name="Texte-NomPresentateur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385510" y="4492900"/>
            <a:ext cx="4758491" cy="684213"/>
          </a:xfrm>
        </p:spPr>
        <p:txBody>
          <a:bodyPr lIns="504000" rIns="504000" anchor="b">
            <a:noAutofit/>
          </a:bodyPr>
          <a:lstStyle>
            <a:lvl1pPr>
              <a:spcBef>
                <a:spcPts val="0"/>
              </a:spcBef>
              <a:defRPr sz="1200" b="1" baseline="0">
                <a:solidFill>
                  <a:schemeClr val="accent2"/>
                </a:solidFill>
              </a:defRPr>
            </a:lvl1pPr>
            <a:lvl2pPr>
              <a:defRPr sz="1800">
                <a:solidFill>
                  <a:schemeClr val="accent2"/>
                </a:solidFill>
              </a:defRPr>
            </a:lvl2pPr>
            <a:lvl3pPr>
              <a:defRPr sz="1800">
                <a:solidFill>
                  <a:schemeClr val="accent2"/>
                </a:solidFill>
              </a:defRPr>
            </a:lvl3pPr>
            <a:lvl4pPr>
              <a:defRPr sz="1800">
                <a:solidFill>
                  <a:schemeClr val="accent2"/>
                </a:solidFill>
              </a:defRPr>
            </a:lvl4pPr>
            <a:lvl5pPr>
              <a:defRPr sz="1500">
                <a:solidFill>
                  <a:schemeClr val="accent2"/>
                </a:solidFill>
              </a:defRPr>
            </a:lvl5pPr>
          </a:lstStyle>
          <a:p>
            <a:pPr lvl="0"/>
            <a:r>
              <a:rPr lang="fr-FR" dirty="0"/>
              <a:t>Prénom Nom du présentateur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77B64BA-960D-4BDC-89A3-A7E560177446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4385511" y="745956"/>
            <a:ext cx="4758490" cy="3496554"/>
          </a:xfrm>
          <a:solidFill>
            <a:schemeClr val="tx2"/>
          </a:solidFill>
        </p:spPr>
        <p:txBody>
          <a:bodyPr lIns="504000" tIns="468000" rIns="504000" bIns="288000" anchor="t">
            <a:normAutofit/>
          </a:bodyPr>
          <a:lstStyle>
            <a:lvl1pPr marL="0" indent="0" algn="l">
              <a:lnSpc>
                <a:spcPct val="90000"/>
              </a:lnSpc>
              <a:spcBef>
                <a:spcPts val="375"/>
              </a:spcBef>
              <a:buFontTx/>
              <a:buNone/>
              <a:defRPr sz="2700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 dirty="0"/>
              <a:t>Modifier les styles du texte du masque</a:t>
            </a:r>
          </a:p>
        </p:txBody>
      </p:sp>
      <p:pic>
        <p:nvPicPr>
          <p:cNvPr id="18" name="logoUdeM-et-du-monde_FR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416" y="5502013"/>
            <a:ext cx="2209584" cy="8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158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  <p15:guide id="3" pos="4513" userDrawn="1">
          <p15:clr>
            <a:srgbClr val="FBAE40"/>
          </p15:clr>
        </p15:guide>
        <p15:guide id="4" pos="5602" userDrawn="1">
          <p15:clr>
            <a:srgbClr val="FBAE40"/>
          </p15:clr>
        </p15:guide>
        <p15:guide id="5" orient="horz" pos="3861" userDrawn="1">
          <p15:clr>
            <a:srgbClr val="FBAE40"/>
          </p15:clr>
        </p15:guide>
        <p15:guide id="6" orient="horz" pos="3566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©Pierre Durand, 26/12/08</a:t>
            </a:r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85649F-876E-A447-8403-6DEDC0440903}" type="slidenum">
              <a:rPr lang="fr-CA" smtClean="0"/>
              <a:pPr>
                <a:defRPr/>
              </a:pPr>
              <a:t>‹#›</a:t>
            </a:fld>
            <a:endParaRPr lang="fr-CA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53814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©Pierre Durand, 26/12/08</a:t>
            </a:r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85649F-876E-A447-8403-6DEDC0440903}" type="slidenum">
              <a:rPr lang="fr-CA" smtClean="0"/>
              <a:pPr>
                <a:defRPr/>
              </a:pPr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20418493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©Pierre Durand, 26/12/08</a:t>
            </a:r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85649F-876E-A447-8403-6DEDC0440903}" type="slidenum">
              <a:rPr lang="fr-CA" smtClean="0"/>
              <a:pPr>
                <a:defRPr/>
              </a:pPr>
              <a:t>‹#›</a:t>
            </a:fld>
            <a:endParaRPr lang="fr-CA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9641459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©Pierre Durand, 26/12/08</a:t>
            </a:r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85649F-876E-A447-8403-6DEDC0440903}" type="slidenum">
              <a:rPr lang="fr-CA" smtClean="0"/>
              <a:pPr>
                <a:defRPr/>
              </a:pPr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158723690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©Pierre Durand, 26/12/08</a:t>
            </a:r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85649F-876E-A447-8403-6DEDC0440903}" type="slidenum">
              <a:rPr lang="fr-CA" smtClean="0"/>
              <a:pPr>
                <a:defRPr/>
              </a:pPr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69402271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©Pierre Durand, 26/12/08</a:t>
            </a:r>
            <a:endParaRPr lang="fr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85649F-876E-A447-8403-6DEDC0440903}" type="slidenum">
              <a:rPr lang="fr-CA" smtClean="0"/>
              <a:pPr>
                <a:defRPr/>
              </a:pPr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42904641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©Pierre Durand, 26/12/08</a:t>
            </a:r>
            <a:endParaRPr lang="fr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85649F-876E-A447-8403-6DEDC0440903}" type="slidenum">
              <a:rPr lang="fr-CA" smtClean="0"/>
              <a:pPr>
                <a:defRPr/>
              </a:pPr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975037588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©Pierre Durand, 26/12/08</a:t>
            </a:r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0585649F-876E-A447-8403-6DEDC0440903}" type="slidenum">
              <a:rPr lang="fr-CA" smtClean="0"/>
              <a:pPr>
                <a:defRPr/>
              </a:pPr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70556023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©Pierre Durand, 26/12/08</a:t>
            </a:r>
            <a:endParaRPr lang="fr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85649F-876E-A447-8403-6DEDC0440903}" type="slidenum">
              <a:rPr lang="fr-CA" smtClean="0"/>
              <a:pPr>
                <a:defRPr/>
              </a:pPr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50985517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©Pierre Durand, 26/12/08</a:t>
            </a:r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85649F-876E-A447-8403-6DEDC0440903}" type="slidenum">
              <a:rPr lang="fr-CA" smtClean="0"/>
              <a:pPr>
                <a:defRPr/>
              </a:pPr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45990177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©Pierre Durand, 26/12/08</a:t>
            </a:r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85649F-876E-A447-8403-6DEDC0440903}" type="slidenum">
              <a:rPr lang="fr-CA" smtClean="0"/>
              <a:pPr>
                <a:defRPr/>
              </a:pPr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98374059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2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7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©Pierre Durand, 26/12/08</a:t>
            </a:r>
            <a:endParaRPr lang="fr-CA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 dirty="0">
              <a:solidFill>
                <a:prstClr val="black"/>
              </a:solidFill>
            </a:endParaRPr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sz="1800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4343400" y="1040176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>
              <a:defRPr/>
            </a:pPr>
            <a:fld id="{0585649F-876E-A447-8403-6DEDC0440903}" type="slidenum">
              <a:rPr lang="fr-CA" smtClean="0"/>
              <a:t>‹#›</a:t>
            </a:fld>
            <a:endParaRPr lang="fr-CA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/>
              <a:t>Cliquez pour modifier les styles du texte du masque</a:t>
            </a:r>
          </a:p>
          <a:p>
            <a:pPr lvl="1" eaLnBrk="1" latinLnBrk="0" hangingPunct="1"/>
            <a:r>
              <a:rPr kumimoji="0" lang="fr-FR"/>
              <a:t>Deuxième niveau</a:t>
            </a:r>
          </a:p>
          <a:p>
            <a:pPr lvl="2" eaLnBrk="1" latinLnBrk="0" hangingPunct="1"/>
            <a:r>
              <a:rPr kumimoji="0" lang="fr-FR"/>
              <a:t>Troisième niveau</a:t>
            </a:r>
          </a:p>
          <a:p>
            <a:pPr lvl="3" eaLnBrk="1" latinLnBrk="0" hangingPunct="1"/>
            <a:r>
              <a:rPr kumimoji="0" lang="fr-FR"/>
              <a:t>Quatrième niveau</a:t>
            </a:r>
          </a:p>
          <a:p>
            <a:pPr lvl="4" eaLnBrk="1" latinLnBrk="0" hangingPunct="1"/>
            <a:r>
              <a:rPr kumimoji="0" lang="fr-FR"/>
              <a:t>Cinquième niveau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285964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Cliquez pour modifier le style du titre principal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Cliquez pour modifier les styles de texte principal</a:t>
            </a:r>
          </a:p>
          <a:p>
            <a:pPr lvl="1"/>
            <a:r>
              <a:rPr lang="en-US"/>
              <a:t>Deuxième niveau</a:t>
            </a:r>
          </a:p>
          <a:p>
            <a:pPr lvl="2"/>
            <a:r>
              <a:rPr lang="en-US"/>
              <a:t>Troisième niveau</a:t>
            </a:r>
          </a:p>
          <a:p>
            <a:pPr lvl="3"/>
            <a:r>
              <a:rPr lang="en-US"/>
              <a:t>Quatrième niveau</a:t>
            </a:r>
          </a:p>
          <a:p>
            <a:pPr lvl="4"/>
            <a:r>
              <a:rPr lang="en-US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©Pierre Durand, 26/12/08</a:t>
            </a:r>
            <a:endParaRPr lang="fr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0585649F-876E-A447-8403-6DEDC0440903}" type="slidenum">
              <a:rPr lang="fr-CA" smtClean="0"/>
              <a:t>‹#›</a:t>
            </a:fld>
            <a:endParaRPr lang="fr-CA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5571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12.jpe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4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10.png"/><Relationship Id="rId9" Type="http://schemas.microsoft.com/office/2007/relationships/diagramDrawing" Target="../diagrams/drawin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rketwatch.com/story/teslas-stock-falls-again-and-this-analyst-says-why-its-an-elon-musk-problem-a7ac0f01?utm_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Relationship Id="rId5" Type="http://schemas.openxmlformats.org/officeDocument/2006/relationships/hyperlink" Target="https://www.reuters.com/business/autos-transportation/musk-effect-tesla-sales-slump-five-european-markets-january-2025-02-04/?utm" TargetMode="External"/><Relationship Id="rId4" Type="http://schemas.openxmlformats.org/officeDocument/2006/relationships/hyperlink" Target="https://www.businessinsider.com/elon-musk-tesla-sales-sliding-europe-problem-politics-2025-1?utm_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11973C2-EB8B-452A-A698-4A252FD3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4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37CE3F-EA88-316A-BA25-61E3A68BF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6200" y="767062"/>
            <a:ext cx="5257800" cy="1450757"/>
          </a:xfrm>
        </p:spPr>
        <p:txBody>
          <a:bodyPr>
            <a:normAutofit/>
          </a:bodyPr>
          <a:lstStyle/>
          <a:p>
            <a:r>
              <a:rPr lang="en-CA" dirty="0"/>
              <a:t>Chronique financière… </a:t>
            </a:r>
            <a:r>
              <a:rPr lang="en-CA" dirty="0">
                <a:solidFill>
                  <a:srgbClr val="C00000"/>
                </a:solidFill>
                <a:latin typeface="Ink Free" panose="03080402000500000000" pitchFamily="66" charset="0"/>
              </a:rPr>
              <a:t>Tesla !</a:t>
            </a:r>
            <a:endParaRPr lang="fr-CA" dirty="0">
              <a:solidFill>
                <a:srgbClr val="C00000"/>
              </a:solidFill>
              <a:latin typeface="Ink Free" panose="03080402000500000000" pitchFamily="66" charset="0"/>
            </a:endParaRPr>
          </a:p>
        </p:txBody>
      </p:sp>
      <p:pic>
        <p:nvPicPr>
          <p:cNvPr id="18" name="Picture 17" descr="Calculatrice, stylo, boussole, argent et un papier avec graphiques imprimés">
            <a:extLst>
              <a:ext uri="{FF2B5EF4-FFF2-40B4-BE49-F238E27FC236}">
                <a16:creationId xmlns:a16="http://schemas.microsoft.com/office/drawing/2014/main" id="{021DAD8B-EBF5-3F41-5E07-1916D317DA5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804" r="32583" b="1"/>
          <a:stretch/>
        </p:blipFill>
        <p:spPr>
          <a:xfrm>
            <a:off x="20" y="-12128"/>
            <a:ext cx="3490702" cy="6870127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965712" y="2085703"/>
            <a:ext cx="4628015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F2975-8E17-55BC-C605-1DF6AB103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6200" y="2198913"/>
            <a:ext cx="5078132" cy="4659085"/>
          </a:xfrm>
        </p:spPr>
        <p:txBody>
          <a:bodyPr>
            <a:normAutofit lnSpcReduction="10000"/>
          </a:bodyPr>
          <a:lstStyle/>
          <a:p>
            <a:endParaRPr lang="en-CA" sz="2900" dirty="0"/>
          </a:p>
          <a:p>
            <a:r>
              <a:rPr lang="fr-CA" sz="2900" b="1" dirty="0"/>
              <a:t>Cours n° 6 : </a:t>
            </a:r>
            <a:r>
              <a:rPr lang="fr-CA" sz="2900" dirty="0"/>
              <a:t>CAPM</a:t>
            </a:r>
          </a:p>
          <a:p>
            <a:endParaRPr lang="fr-CA" sz="200" dirty="0"/>
          </a:p>
          <a:p>
            <a:r>
              <a:rPr lang="en-CA" sz="2900" dirty="0">
                <a:solidFill>
                  <a:srgbClr val="C00000"/>
                </a:solidFill>
                <a:latin typeface="Ink Free" panose="03080402000500000000" pitchFamily="66" charset="0"/>
              </a:rPr>
              <a:t>Exemple concret : risque spécifique affectant Tesla</a:t>
            </a:r>
            <a:endParaRPr lang="en-CA" sz="1100" dirty="0"/>
          </a:p>
          <a:p>
            <a:endParaRPr lang="en-CA" sz="1100" dirty="0"/>
          </a:p>
          <a:p>
            <a:endParaRPr lang="en-CA" sz="1100" dirty="0"/>
          </a:p>
          <a:p>
            <a:endParaRPr lang="en-CA" sz="1100" dirty="0"/>
          </a:p>
          <a:p>
            <a:endParaRPr lang="en-CA" sz="1100" dirty="0"/>
          </a:p>
          <a:p>
            <a:endParaRPr lang="en-CA" sz="1100" dirty="0"/>
          </a:p>
          <a:p>
            <a:endParaRPr lang="en-CA" sz="1100" dirty="0"/>
          </a:p>
          <a:p>
            <a:r>
              <a:rPr lang="fr-CA" sz="2400" dirty="0"/>
              <a:t>©Mélanie Harris (2025)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E848BD-0572-4689-BFEC-99A4DA31A242}"/>
              </a:ext>
            </a:extLst>
          </p:cNvPr>
          <p:cNvSpPr/>
          <p:nvPr/>
        </p:nvSpPr>
        <p:spPr>
          <a:xfrm>
            <a:off x="4332458" y="111262"/>
            <a:ext cx="4185616" cy="628250"/>
          </a:xfrm>
          <a:custGeom>
            <a:avLst/>
            <a:gdLst>
              <a:gd name="connsiteX0" fmla="*/ 0 w 4185616"/>
              <a:gd name="connsiteY0" fmla="*/ 0 h 628250"/>
              <a:gd name="connsiteX1" fmla="*/ 655747 w 4185616"/>
              <a:gd name="connsiteY1" fmla="*/ 0 h 628250"/>
              <a:gd name="connsiteX2" fmla="*/ 1269637 w 4185616"/>
              <a:gd name="connsiteY2" fmla="*/ 0 h 628250"/>
              <a:gd name="connsiteX3" fmla="*/ 2050952 w 4185616"/>
              <a:gd name="connsiteY3" fmla="*/ 0 h 628250"/>
              <a:gd name="connsiteX4" fmla="*/ 2832267 w 4185616"/>
              <a:gd name="connsiteY4" fmla="*/ 0 h 628250"/>
              <a:gd name="connsiteX5" fmla="*/ 3488013 w 4185616"/>
              <a:gd name="connsiteY5" fmla="*/ 0 h 628250"/>
              <a:gd name="connsiteX6" fmla="*/ 4185616 w 4185616"/>
              <a:gd name="connsiteY6" fmla="*/ 0 h 628250"/>
              <a:gd name="connsiteX7" fmla="*/ 4185616 w 4185616"/>
              <a:gd name="connsiteY7" fmla="*/ 628250 h 628250"/>
              <a:gd name="connsiteX8" fmla="*/ 3404301 w 4185616"/>
              <a:gd name="connsiteY8" fmla="*/ 628250 h 628250"/>
              <a:gd name="connsiteX9" fmla="*/ 2748555 w 4185616"/>
              <a:gd name="connsiteY9" fmla="*/ 628250 h 628250"/>
              <a:gd name="connsiteX10" fmla="*/ 2176520 w 4185616"/>
              <a:gd name="connsiteY10" fmla="*/ 628250 h 628250"/>
              <a:gd name="connsiteX11" fmla="*/ 1562630 w 4185616"/>
              <a:gd name="connsiteY11" fmla="*/ 628250 h 628250"/>
              <a:gd name="connsiteX12" fmla="*/ 865027 w 4185616"/>
              <a:gd name="connsiteY12" fmla="*/ 628250 h 628250"/>
              <a:gd name="connsiteX13" fmla="*/ 0 w 4185616"/>
              <a:gd name="connsiteY13" fmla="*/ 628250 h 628250"/>
              <a:gd name="connsiteX14" fmla="*/ 0 w 4185616"/>
              <a:gd name="connsiteY14" fmla="*/ 0 h 628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185616" h="628250" extrusionOk="0">
                <a:moveTo>
                  <a:pt x="0" y="0"/>
                </a:moveTo>
                <a:cubicBezTo>
                  <a:pt x="141772" y="-18766"/>
                  <a:pt x="360120" y="-31141"/>
                  <a:pt x="655747" y="0"/>
                </a:cubicBezTo>
                <a:cubicBezTo>
                  <a:pt x="951374" y="31141"/>
                  <a:pt x="972410" y="26241"/>
                  <a:pt x="1269637" y="0"/>
                </a:cubicBezTo>
                <a:cubicBezTo>
                  <a:pt x="1566864" y="-26241"/>
                  <a:pt x="1768697" y="-24272"/>
                  <a:pt x="2050952" y="0"/>
                </a:cubicBezTo>
                <a:cubicBezTo>
                  <a:pt x="2333207" y="24272"/>
                  <a:pt x="2620039" y="20614"/>
                  <a:pt x="2832267" y="0"/>
                </a:cubicBezTo>
                <a:cubicBezTo>
                  <a:pt x="3044496" y="-20614"/>
                  <a:pt x="3297458" y="3611"/>
                  <a:pt x="3488013" y="0"/>
                </a:cubicBezTo>
                <a:cubicBezTo>
                  <a:pt x="3678568" y="-3611"/>
                  <a:pt x="3861752" y="-7976"/>
                  <a:pt x="4185616" y="0"/>
                </a:cubicBezTo>
                <a:cubicBezTo>
                  <a:pt x="4205637" y="141044"/>
                  <a:pt x="4191918" y="484467"/>
                  <a:pt x="4185616" y="628250"/>
                </a:cubicBezTo>
                <a:cubicBezTo>
                  <a:pt x="3875420" y="608314"/>
                  <a:pt x="3604572" y="635969"/>
                  <a:pt x="3404301" y="628250"/>
                </a:cubicBezTo>
                <a:cubicBezTo>
                  <a:pt x="3204030" y="620531"/>
                  <a:pt x="3059429" y="660673"/>
                  <a:pt x="2748555" y="628250"/>
                </a:cubicBezTo>
                <a:cubicBezTo>
                  <a:pt x="2437681" y="595827"/>
                  <a:pt x="2430159" y="617266"/>
                  <a:pt x="2176520" y="628250"/>
                </a:cubicBezTo>
                <a:cubicBezTo>
                  <a:pt x="1922881" y="639234"/>
                  <a:pt x="1778928" y="646462"/>
                  <a:pt x="1562630" y="628250"/>
                </a:cubicBezTo>
                <a:cubicBezTo>
                  <a:pt x="1346332" y="610039"/>
                  <a:pt x="1099238" y="646173"/>
                  <a:pt x="865027" y="628250"/>
                </a:cubicBezTo>
                <a:cubicBezTo>
                  <a:pt x="630816" y="610327"/>
                  <a:pt x="287519" y="637954"/>
                  <a:pt x="0" y="628250"/>
                </a:cubicBezTo>
                <a:cubicBezTo>
                  <a:pt x="-4188" y="387648"/>
                  <a:pt x="21636" y="282408"/>
                  <a:pt x="0" y="0"/>
                </a:cubicBezTo>
                <a:close/>
              </a:path>
            </a:pathLst>
          </a:custGeom>
          <a:noFill/>
          <a:ln>
            <a:solidFill>
              <a:schemeClr val="tx1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11455964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A" sz="2500" dirty="0">
                <a:solidFill>
                  <a:schemeClr val="tx1"/>
                </a:solidFill>
                <a:latin typeface="Ink Free" panose="03080402000500000000" pitchFamily="66" charset="0"/>
              </a:rPr>
              <a:t>Non </a:t>
            </a:r>
            <a:r>
              <a:rPr lang="fr-CA" sz="2500" dirty="0" err="1">
                <a:solidFill>
                  <a:schemeClr val="tx1"/>
                </a:solidFill>
                <a:latin typeface="Ink Free" panose="03080402000500000000" pitchFamily="66" charset="0"/>
              </a:rPr>
              <a:t>soumis </a:t>
            </a:r>
            <a:r>
              <a:rPr lang="fr-CA" sz="2500" dirty="0">
                <a:solidFill>
                  <a:schemeClr val="tx1"/>
                </a:solidFill>
                <a:latin typeface="Ink Free" panose="03080402000500000000" pitchFamily="66" charset="0"/>
              </a:rPr>
              <a:t>à </a:t>
            </a:r>
            <a:r>
              <a:rPr lang="fr-CA" sz="2500" dirty="0" err="1">
                <a:solidFill>
                  <a:schemeClr val="tx1"/>
                </a:solidFill>
                <a:latin typeface="Ink Free" panose="03080402000500000000" pitchFamily="66" charset="0"/>
              </a:rPr>
              <a:t>examen</a:t>
            </a:r>
            <a:endParaRPr lang="fr-CA" sz="2500" dirty="0">
              <a:solidFill>
                <a:schemeClr val="tx1"/>
              </a:solidFill>
              <a:latin typeface="Ink Free" panose="03080402000500000000" pitchFamily="66" charset="0"/>
            </a:endParaRPr>
          </a:p>
        </p:txBody>
      </p:sp>
      <p:pic>
        <p:nvPicPr>
          <p:cNvPr id="4" name="Espace réservé du contenu 5">
            <a:extLst>
              <a:ext uri="{FF2B5EF4-FFF2-40B4-BE49-F238E27FC236}">
                <a16:creationId xmlns:a16="http://schemas.microsoft.com/office/drawing/2014/main" id="{8D093517-8AE3-6AA4-6C5D-DD0150FF0B27}"/>
              </a:ext>
            </a:extLst>
          </p:cNvPr>
          <p:cNvPicPr>
            <a:picLocks noGrp="1"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9259" y="4902841"/>
            <a:ext cx="2854907" cy="992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261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C33BF9DD-8A45-4EEE-B231-0A14D322E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15B4C8-B096-E482-C58C-F81F075C3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897" y="138654"/>
            <a:ext cx="8374206" cy="1450757"/>
          </a:xfrm>
        </p:spPr>
        <p:txBody>
          <a:bodyPr>
            <a:normAutofit/>
          </a:bodyPr>
          <a:lstStyle/>
          <a:p>
            <a:r>
              <a:rPr lang="en-US" sz="3400" dirty="0">
                <a:latin typeface="Ink Free" panose="03080402000500000000" pitchFamily="66" charset="0"/>
              </a:rPr>
              <a:t>L'impact de la controverse autour de la direction sur les ventes et le cours de l'action Tesla</a:t>
            </a:r>
            <a:endParaRPr lang="fr-CA" sz="3400" dirty="0">
              <a:latin typeface="Ink Free" panose="03080402000500000000" pitchFamily="66" charset="0"/>
            </a:endParaRPr>
          </a:p>
        </p:txBody>
      </p:sp>
      <p:pic>
        <p:nvPicPr>
          <p:cNvPr id="2050" name="Picture 2" descr="Tesla Logo PNG Vectors Free Download">
            <a:extLst>
              <a:ext uri="{FF2B5EF4-FFF2-40B4-BE49-F238E27FC236}">
                <a16:creationId xmlns:a16="http://schemas.microsoft.com/office/drawing/2014/main" id="{AA970888-A02E-87AE-B32C-D888C9CE14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5499" y="1796791"/>
            <a:ext cx="3000986" cy="3000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57" name="Straight Connector 2056">
            <a:extLst>
              <a:ext uri="{FF2B5EF4-FFF2-40B4-BE49-F238E27FC236}">
                <a16:creationId xmlns:a16="http://schemas.microsoft.com/office/drawing/2014/main" id="{9020DCC9-F851-4562-BB20-1AB3C51BF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1077" y="2086188"/>
            <a:ext cx="456732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E4BE53-98D0-7803-C4E6-A880ED74FBEA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731077" y="2086188"/>
            <a:ext cx="5250086" cy="4134916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Tesla est confrontée à </a:t>
            </a:r>
            <a:r>
              <a:rPr lang="en-US" sz="2400" b="1" dirty="0"/>
              <a:t>un risque spécifique (non systématique) </a:t>
            </a:r>
            <a:r>
              <a:rPr lang="en-US" sz="2400" dirty="0"/>
              <a:t>en raison des actions et déclarations controversées de son PDG, Elon Musk.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Les consommateurs se détournent de la marque, ce qui a un impact sur les ventes et la valeur des actions.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/>
              <a:t>Les risques spécifiques sont propres à une entreprise ou à un secteur et peuvent être </a:t>
            </a:r>
            <a:r>
              <a:rPr lang="en-US" sz="2400" u="sng" dirty="0"/>
              <a:t>atténués par la diversification</a:t>
            </a:r>
            <a:r>
              <a:rPr lang="en-US" sz="2400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u="sng" dirty="0">
              <a:latin typeface="Ink Free" panose="03080402000500000000" pitchFamily="66" charset="0"/>
            </a:endParaRPr>
          </a:p>
          <a:p>
            <a:endParaRPr lang="en-US" sz="2400" b="0" i="0" dirty="0">
              <a:effectLst/>
              <a:latin typeface="+mj-lt"/>
            </a:endParaRPr>
          </a:p>
          <a:p>
            <a:endParaRPr lang="en-US" sz="2400" dirty="0">
              <a:latin typeface="+mj-lt"/>
            </a:endParaRPr>
          </a:p>
          <a:p>
            <a:endParaRPr lang="fr-CA" sz="2400" dirty="0">
              <a:latin typeface="+mj-lt"/>
            </a:endParaRPr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D5FBCAC9-BD8B-4F3B-AD74-EF37D4211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3989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9556C5A8-AD7E-4CE7-87BE-9EA3B5E17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BFE575-CA56-96F5-7E0A-EB13D3BE0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3" y="6459785"/>
            <a:ext cx="98401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A36EBACF-F565-E244-8230-FFB82DCE4B7F}" type="slidenum">
              <a:rPr lang="fr-CA" smtClean="0"/>
              <a:t>2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20350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3381B5-0AFD-732F-5E19-60FBDF2AE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84B70D5-875B-433D-BDBD-1522A85D6C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99D988-3932-3174-996F-2FE6C3228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781" y="-464511"/>
            <a:ext cx="7851123" cy="1450757"/>
          </a:xfrm>
        </p:spPr>
        <p:txBody>
          <a:bodyPr>
            <a:normAutofit/>
          </a:bodyPr>
          <a:lstStyle/>
          <a:p>
            <a:r>
              <a:rPr lang="en-US" sz="3400" dirty="0">
                <a:latin typeface="Ink Free" panose="03080402000500000000" pitchFamily="66" charset="0"/>
              </a:rPr>
              <a:t>Les ventes de Tesla sont en baisse</a:t>
            </a:r>
            <a:endParaRPr lang="fr-CA" sz="3400" dirty="0">
              <a:latin typeface="Ink Free" panose="03080402000500000000" pitchFamily="66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47DF4A-614C-4B4C-8B80-E5B9D8E8C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19107" y="2085703"/>
            <a:ext cx="26746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29A731-A530-EBB7-104B-A1408962D83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894613" y="2198914"/>
            <a:ext cx="2767693" cy="3670180"/>
          </a:xfrm>
        </p:spPr>
        <p:txBody>
          <a:bodyPr>
            <a:norm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endParaRPr lang="en-US" u="sng" dirty="0">
              <a:latin typeface="Ink Free" panose="03080402000500000000" pitchFamily="66" charset="0"/>
            </a:endParaRPr>
          </a:p>
          <a:p>
            <a:endParaRPr lang="en-US" b="0" i="0" dirty="0">
              <a:effectLst/>
              <a:latin typeface="+mj-lt"/>
            </a:endParaRPr>
          </a:p>
          <a:p>
            <a:endParaRPr lang="en-US" dirty="0">
              <a:latin typeface="+mj-lt"/>
            </a:endParaRPr>
          </a:p>
          <a:p>
            <a:endParaRPr lang="fr-CA" dirty="0">
              <a:latin typeface="+mj-l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299956-A9E7-4FC1-A0B1-D590CA9730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3989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FC539C-B783-4B03-9F9E-D13430F3F6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E99DB5-89F3-C30F-8459-8BE87CBE4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3" y="6459785"/>
            <a:ext cx="98401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A36EBACF-F565-E244-8230-FFB82DCE4B7F}" type="slidenum">
              <a:rPr lang="fr-CA" smtClean="0"/>
              <a:t>3</a:t>
            </a:fld>
            <a:endParaRPr lang="fr-CA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6E133B-12DC-E353-0722-AB64831D3C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7494202"/>
              </p:ext>
            </p:extLst>
          </p:nvPr>
        </p:nvGraphicFramePr>
        <p:xfrm>
          <a:off x="237206" y="1160013"/>
          <a:ext cx="8818324" cy="1891728"/>
        </p:xfrm>
        <a:graphic>
          <a:graphicData uri="http://schemas.openxmlformats.org/drawingml/2006/table">
            <a:tbl>
              <a:tblPr>
                <a:tableStyleId>{9D7B26C5-4107-4FEC-AEDC-1716B250A1EF}</a:tableStyleId>
              </a:tblPr>
              <a:tblGrid>
                <a:gridCol w="2155950">
                  <a:extLst>
                    <a:ext uri="{9D8B030D-6E8A-4147-A177-3AD203B41FA5}">
                      <a16:colId xmlns:a16="http://schemas.microsoft.com/office/drawing/2014/main" val="1399614584"/>
                    </a:ext>
                  </a:extLst>
                </a:gridCol>
                <a:gridCol w="1934472">
                  <a:extLst>
                    <a:ext uri="{9D8B030D-6E8A-4147-A177-3AD203B41FA5}">
                      <a16:colId xmlns:a16="http://schemas.microsoft.com/office/drawing/2014/main" val="2984125203"/>
                    </a:ext>
                  </a:extLst>
                </a:gridCol>
                <a:gridCol w="2101427">
                  <a:extLst>
                    <a:ext uri="{9D8B030D-6E8A-4147-A177-3AD203B41FA5}">
                      <a16:colId xmlns:a16="http://schemas.microsoft.com/office/drawing/2014/main" val="3972363427"/>
                    </a:ext>
                  </a:extLst>
                </a:gridCol>
                <a:gridCol w="2626475">
                  <a:extLst>
                    <a:ext uri="{9D8B030D-6E8A-4147-A177-3AD203B41FA5}">
                      <a16:colId xmlns:a16="http://schemas.microsoft.com/office/drawing/2014/main" val="547306646"/>
                    </a:ext>
                  </a:extLst>
                </a:gridCol>
              </a:tblGrid>
              <a:tr h="472932">
                <a:tc gridSpan="2">
                  <a:txBody>
                    <a:bodyPr/>
                    <a:lstStyle/>
                    <a:p>
                      <a:pPr algn="l" fontAlgn="b"/>
                      <a:r>
                        <a:rPr lang="fr-CA" sz="2000" b="1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Ventes en </a:t>
                      </a:r>
                      <a:r>
                        <a:rPr lang="fr-CA" sz="2000" b="1" u="none" strike="noStrike" cap="none" spc="0" dirty="0" err="1">
                          <a:solidFill>
                            <a:schemeClr val="tx1"/>
                          </a:solidFill>
                          <a:effectLst/>
                        </a:rPr>
                        <a:t>janvier</a:t>
                      </a:r>
                      <a:r>
                        <a:rPr lang="fr-CA" sz="2000" b="1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 2025</a:t>
                      </a:r>
                      <a:endParaRPr lang="fr-CA" sz="2000" b="1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12385" marT="12385" marB="0" anchor="b"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C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2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fr-CA" sz="20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12385" marT="1238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2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fr-CA" sz="20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12385" marT="1238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6201749"/>
                  </a:ext>
                </a:extLst>
              </a:tr>
              <a:tr h="472932">
                <a:tc>
                  <a:txBody>
                    <a:bodyPr/>
                    <a:lstStyle/>
                    <a:p>
                      <a:pPr algn="l" fontAlgn="b"/>
                      <a:r>
                        <a:rPr lang="fr-CA" sz="2000" b="1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France</a:t>
                      </a:r>
                      <a:endParaRPr lang="fr-CA" sz="2000" b="1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12385" marT="1238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En baisse de 63 %</a:t>
                      </a:r>
                      <a:endParaRPr lang="fr-CA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12385" marT="1238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2000" b="1" u="none" strike="noStrike" cap="none" spc="0" dirty="0" err="1">
                          <a:solidFill>
                            <a:schemeClr val="tx1"/>
                          </a:solidFill>
                          <a:effectLst/>
                        </a:rPr>
                        <a:t>Pays-Bas</a:t>
                      </a:r>
                      <a:endParaRPr lang="fr-CA" sz="2000" b="1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12385" marT="1238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Baisse de 42 %</a:t>
                      </a:r>
                      <a:endParaRPr lang="fr-CA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12385" marT="1238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802587"/>
                  </a:ext>
                </a:extLst>
              </a:tr>
              <a:tr h="472932">
                <a:tc>
                  <a:txBody>
                    <a:bodyPr/>
                    <a:lstStyle/>
                    <a:p>
                      <a:pPr algn="l" fontAlgn="b"/>
                      <a:r>
                        <a:rPr lang="fr-CA" sz="20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Allemagne</a:t>
                      </a:r>
                      <a:endParaRPr lang="fr-CA" sz="2000" b="1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12385" marT="1238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2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Baisse de 60 %</a:t>
                      </a:r>
                      <a:endParaRPr lang="fr-CA" sz="20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12385" marT="1238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2000" b="1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Norvège</a:t>
                      </a:r>
                      <a:endParaRPr lang="fr-CA" sz="2000" b="1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12385" marT="1238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Baisse de 38 %</a:t>
                      </a:r>
                      <a:endParaRPr lang="fr-CA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12385" marT="1238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173522"/>
                  </a:ext>
                </a:extLst>
              </a:tr>
              <a:tr h="472932">
                <a:tc>
                  <a:txBody>
                    <a:bodyPr/>
                    <a:lstStyle/>
                    <a:p>
                      <a:pPr algn="l" fontAlgn="b"/>
                      <a:r>
                        <a:rPr lang="fr-CA" sz="2000" b="1" u="none" strike="noStrike" cap="none" spc="0" dirty="0" err="1">
                          <a:solidFill>
                            <a:schemeClr val="tx1"/>
                          </a:solidFill>
                          <a:effectLst/>
                        </a:rPr>
                        <a:t>Suède</a:t>
                      </a:r>
                      <a:endParaRPr lang="fr-CA" sz="2000" b="1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12385" marT="1238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2000" u="none" strike="noStrike" cap="none" spc="0">
                          <a:solidFill>
                            <a:schemeClr val="tx1"/>
                          </a:solidFill>
                          <a:effectLst/>
                        </a:rPr>
                        <a:t>Baisse de 44 %</a:t>
                      </a:r>
                      <a:endParaRPr lang="fr-CA" sz="2000" b="0" i="0" u="none" strike="noStrike" cap="none" spc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12385" marT="1238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2000" b="1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Royaume-Uni</a:t>
                      </a:r>
                      <a:endParaRPr lang="fr-CA" sz="2000" b="1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12385" marT="1238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CA" sz="2000" u="none" strike="noStrike" cap="none" spc="0" dirty="0">
                          <a:solidFill>
                            <a:schemeClr val="tx1"/>
                          </a:solidFill>
                          <a:effectLst/>
                        </a:rPr>
                        <a:t>Baisse de 12</a:t>
                      </a:r>
                      <a:endParaRPr lang="fr-CA" sz="2000" b="0" i="0" u="none" strike="noStrike" cap="none" spc="0" dirty="0">
                        <a:solidFill>
                          <a:schemeClr val="tx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12385" marT="12385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84599"/>
                  </a:ext>
                </a:extLst>
              </a:tr>
            </a:tbl>
          </a:graphicData>
        </a:graphic>
      </p:graphicFrame>
      <p:pic>
        <p:nvPicPr>
          <p:cNvPr id="1026" name="Picture 2" descr="political endorsements ...">
            <a:extLst>
              <a:ext uri="{FF2B5EF4-FFF2-40B4-BE49-F238E27FC236}">
                <a16:creationId xmlns:a16="http://schemas.microsoft.com/office/drawing/2014/main" id="{481E85D0-E13D-9A01-6A4D-7CF333BF64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0245" y="3143746"/>
            <a:ext cx="1491489" cy="186250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28" name="Picture 4" descr="I BOUGHT THIS BEFORE ELON WENT CRAZY ...">
            <a:extLst>
              <a:ext uri="{FF2B5EF4-FFF2-40B4-BE49-F238E27FC236}">
                <a16:creationId xmlns:a16="http://schemas.microsoft.com/office/drawing/2014/main" id="{21BBF137-B966-5EE9-B192-E9B2B8295F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4753" y="4841654"/>
            <a:ext cx="2438400" cy="18764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1" name="Picture 7" descr="Tesla Logo PNG Vectors Free Download">
            <a:extLst>
              <a:ext uri="{FF2B5EF4-FFF2-40B4-BE49-F238E27FC236}">
                <a16:creationId xmlns:a16="http://schemas.microsoft.com/office/drawing/2014/main" id="{2FDBFF27-B80E-CA89-4F4B-29F782541E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8247" y="207919"/>
            <a:ext cx="1363118" cy="1363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33" name="TextBox 6">
            <a:extLst>
              <a:ext uri="{FF2B5EF4-FFF2-40B4-BE49-F238E27FC236}">
                <a16:creationId xmlns:a16="http://schemas.microsoft.com/office/drawing/2014/main" id="{19E51EA7-74CA-673A-6B10-560BF4ACEE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2342328"/>
              </p:ext>
            </p:extLst>
          </p:nvPr>
        </p:nvGraphicFramePr>
        <p:xfrm>
          <a:off x="0" y="3314699"/>
          <a:ext cx="6541380" cy="32602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388487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06F5C-4803-D78F-CCC5-E198B7821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>
            <a:normAutofit/>
          </a:bodyPr>
          <a:lstStyle/>
          <a:p>
            <a:r>
              <a:rPr lang="en-US" dirty="0"/>
              <a:t>Pourquoi s'agit-il d'un risque spécifique ?</a:t>
            </a:r>
            <a:endParaRPr lang="fr-CA" dirty="0"/>
          </a:p>
        </p:txBody>
      </p:sp>
      <p:pic>
        <p:nvPicPr>
          <p:cNvPr id="3074" name="Picture 2" descr="Tesla Logo PNG Vectors Free Download">
            <a:extLst>
              <a:ext uri="{FF2B5EF4-FFF2-40B4-BE49-F238E27FC236}">
                <a16:creationId xmlns:a16="http://schemas.microsoft.com/office/drawing/2014/main" id="{6C1E165E-31E5-C320-A794-35B1EC61E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7324" y="2491200"/>
            <a:ext cx="2321247" cy="2321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C6FAEA-266D-9492-09C4-AE6D249A30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8976" y="1931459"/>
            <a:ext cx="5850731" cy="4442332"/>
          </a:xfrm>
        </p:spPr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Spécifique à l'entreprise : </a:t>
            </a:r>
            <a:r>
              <a:rPr lang="en-US" dirty="0"/>
              <a:t>le recul des ventes de Tesla </a:t>
            </a:r>
            <a:r>
              <a:rPr lang="en-US" b="1" i="1" u="sng" dirty="0"/>
              <a:t>n'</a:t>
            </a:r>
            <a:r>
              <a:rPr lang="en-US" dirty="0"/>
              <a:t>est </a:t>
            </a:r>
            <a:r>
              <a:rPr lang="en-US" b="1" i="1" u="sng" dirty="0"/>
              <a:t>pas </a:t>
            </a:r>
            <a:r>
              <a:rPr lang="en-US" dirty="0"/>
              <a:t>dû à une récession économique généralisée ni à un ralentissement de la demande de véhicules électriques à l'échelle du secteur.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Ink Free" panose="03080402000500000000" pitchFamily="66" charset="0"/>
              </a:rPr>
              <a:t>Le risque spécifique peut être évité grâce à la diversification : </a:t>
            </a:r>
            <a:r>
              <a:rPr lang="en-US" dirty="0"/>
              <a:t>les problèmes de gouvernance de Tesla n'affectent que Tesla, et non l'ensemble du marché.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Effet de diversification : </a:t>
            </a:r>
            <a:r>
              <a:rPr lang="en-US" dirty="0"/>
              <a:t>les investisseurs qui détiennent un portefeuille bien diversifié peuvent </a:t>
            </a:r>
            <a:r>
              <a:rPr lang="en-US" b="1" dirty="0"/>
              <a:t>réduire leur exposition </a:t>
            </a:r>
            <a:r>
              <a:rPr lang="en-US" dirty="0"/>
              <a:t>au risque spécifique à Tesla.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Contraste avec le risque systématique : </a:t>
            </a:r>
            <a:r>
              <a:rPr lang="en-US" dirty="0"/>
              <a:t>si l'ensemble du secteur automobile souffrait d'une récession, il s'agirait alors </a:t>
            </a:r>
            <a:r>
              <a:rPr lang="en-US" b="1" dirty="0"/>
              <a:t>d'un risque systématique (risque de marché)</a:t>
            </a:r>
            <a:r>
              <a:rPr lang="en-US" dirty="0"/>
              <a:t>.</a:t>
            </a:r>
          </a:p>
          <a:p>
            <a:endParaRPr lang="fr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CECADC-3CAD-1EAE-D277-DB5508757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3" y="6459785"/>
            <a:ext cx="98401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0585649F-876E-A447-8403-6DEDC0440903}" type="slidenum">
              <a:rPr lang="fr-CA" smtClean="0"/>
              <a:t>4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18812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2579DAE-C141-48DB-810E-C070C30081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81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FD90C3-6350-4D5B-9738-6E94EDF30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497DE5-0939-4D1D-9350-0C5E1B209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CC70ED-6C63-4537-B7EB-51990D6C0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043" y="457200"/>
            <a:ext cx="8455914" cy="5943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6E24C1-2968-40DC-A36E-F6B85F0F0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2049" y="521208"/>
            <a:ext cx="8359902" cy="58155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A graph with blue lines and orange dots&#10;&#10;Description automatically generated">
            <a:extLst>
              <a:ext uri="{FF2B5EF4-FFF2-40B4-BE49-F238E27FC236}">
                <a16:creationId xmlns:a16="http://schemas.microsoft.com/office/drawing/2014/main" id="{B2141109-4850-56E8-2C9A-7B40A365CE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26806" y="1112764"/>
            <a:ext cx="7667439" cy="316281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59E843-D2A4-CF3D-3F13-26DF1C981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3" y="6459785"/>
            <a:ext cx="98401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  <a:defRPr/>
            </a:pPr>
            <a:fld id="{0585649F-876E-A447-8403-6DEDC0440903}" type="slidenum">
              <a:rPr lang="en-US" smtClean="0"/>
              <a:t>5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67E040-3666-B91B-3BF9-640E52771D0D}"/>
              </a:ext>
            </a:extLst>
          </p:cNvPr>
          <p:cNvSpPr txBox="1"/>
          <p:nvPr/>
        </p:nvSpPr>
        <p:spPr>
          <a:xfrm>
            <a:off x="504864" y="4334567"/>
            <a:ext cx="813191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Point clé :</a:t>
            </a:r>
          </a:p>
          <a:p>
            <a:endParaRPr lang="en-US" sz="2000" dirty="0"/>
          </a:p>
          <a:p>
            <a:r>
              <a:rPr lang="en-US" dirty="0">
                <a:latin typeface="Ink Free" panose="03080402000500000000" pitchFamily="66" charset="0"/>
              </a:rPr>
              <a:t>Les controverses autour de la direction de Tesla ont créé un </a:t>
            </a:r>
            <a:r>
              <a:rPr lang="en-US" b="1" dirty="0">
                <a:latin typeface="Ink Free" panose="03080402000500000000" pitchFamily="66" charset="0"/>
              </a:rPr>
              <a:t>risque spécifique </a:t>
            </a:r>
            <a:r>
              <a:rPr lang="en-US" dirty="0">
                <a:latin typeface="Ink Free" panose="03080402000500000000" pitchFamily="66" charset="0"/>
              </a:rPr>
              <a:t>que les investisseurs peuvent atténuer grâce à la diversification. Contrairement aux risques systématiques, qui ont un impact sur l'ensemble du marché, les problèmes de Tesla sont propres à l'entreprise elle-même.</a:t>
            </a:r>
            <a:endParaRPr lang="fr-CA" dirty="0">
              <a:latin typeface="Ink Free" panose="03080402000500000000" pitchFamily="66" charset="0"/>
            </a:endParaRP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71FA9FE2-6389-578A-8AFB-69CFD3ABAB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8147" y="1820418"/>
            <a:ext cx="1071563" cy="1071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9398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16B60-C0EA-8F14-42BB-2CD8811B0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75390"/>
            <a:ext cx="8206740" cy="1450757"/>
          </a:xfrm>
        </p:spPr>
        <p:txBody>
          <a:bodyPr>
            <a:normAutofit/>
          </a:bodyPr>
          <a:lstStyle/>
          <a:p>
            <a:r>
              <a:rPr lang="en-CA" dirty="0"/>
              <a:t>Vous </a:t>
            </a:r>
            <a:r>
              <a:rPr lang="en-CA" dirty="0" err="1"/>
              <a:t>souhaitez</a:t>
            </a:r>
            <a:r>
              <a:rPr lang="en-CA" dirty="0"/>
              <a:t> </a:t>
            </a:r>
            <a:r>
              <a:rPr lang="en-CA" dirty="0" err="1"/>
              <a:t>en</a:t>
            </a:r>
            <a:r>
              <a:rPr lang="en-CA" dirty="0"/>
              <a:t> savoir plus ?</a:t>
            </a:r>
            <a:r>
              <a:rPr lang="en-CA" dirty="0">
                <a:sym typeface="Wingdings" panose="05000000000000000000" pitchFamily="2" charset="2"/>
              </a:rPr>
              <a:t> </a:t>
            </a:r>
            <a:endParaRPr lang="fr-CA" dirty="0"/>
          </a:p>
        </p:txBody>
      </p:sp>
      <p:pic>
        <p:nvPicPr>
          <p:cNvPr id="5122" name="Picture 2" descr="A red logo with text&#10;&#10;Description automatically generated">
            <a:extLst>
              <a:ext uri="{FF2B5EF4-FFF2-40B4-BE49-F238E27FC236}">
                <a16:creationId xmlns:a16="http://schemas.microsoft.com/office/drawing/2014/main" id="{6D088851-0764-0F4D-6DB9-8A07CA891C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7324" y="2491200"/>
            <a:ext cx="2321247" cy="2321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2217EB-7713-7A23-8EA4-1C26C0A13B38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3132976" y="1914498"/>
            <a:ext cx="5764909" cy="4504963"/>
          </a:xfrm>
        </p:spPr>
        <p:txBody>
          <a:bodyPr>
            <a:normAutofit lnSpcReduction="10000"/>
          </a:bodyPr>
          <a:lstStyle/>
          <a:p>
            <a:pPr lvl="1">
              <a:buFont typeface="Wingdings" panose="05000000000000000000" pitchFamily="2" charset="2"/>
              <a:buChar char="Ø"/>
            </a:pPr>
            <a:r>
              <a:rPr lang="fr-CA" sz="2400" dirty="0">
                <a:hlinkClick r:id="rId3"/>
              </a:rPr>
              <a:t>https://www.marketwatch.com/story/teslas-stock-falls-again-and-this-analyst-says-why-its-an-elon-musk-problem-a7ac0f01?utm_</a:t>
            </a:r>
            <a:endParaRPr lang="fr-CA" sz="2400" dirty="0"/>
          </a:p>
          <a:p>
            <a:pPr lvl="1">
              <a:buFont typeface="Wingdings" panose="05000000000000000000" pitchFamily="2" charset="2"/>
              <a:buChar char="Ø"/>
            </a:pPr>
            <a:endParaRPr lang="fr-CA" sz="2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fr-CA" sz="2400" dirty="0">
                <a:hlinkClick r:id="rId4"/>
              </a:rPr>
              <a:t>https://www.businessinsider.com/elon-musk-tesla-sales-sliding-europe-problem-politics-2025-1?utm_</a:t>
            </a:r>
            <a:endParaRPr lang="fr-CA" sz="2400" dirty="0"/>
          </a:p>
          <a:p>
            <a:pPr lvl="1">
              <a:buFont typeface="Wingdings" panose="05000000000000000000" pitchFamily="2" charset="2"/>
              <a:buChar char="Ø"/>
            </a:pPr>
            <a:endParaRPr lang="fr-CA" sz="24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fr-CA" sz="2400" dirty="0">
                <a:hlinkClick r:id="rId5"/>
              </a:rPr>
              <a:t>https://www.reuters.com/business/autos-transportation/musk-effect-tesla-sales-slump-five-european-markets-january-2025-02-04/?</a:t>
            </a:r>
            <a:r>
              <a:rPr lang="fr-CA" sz="2400" dirty="0"/>
              <a:t>utm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4779611-23E0-3B41-36D3-791C3424B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5343" y="6459785"/>
            <a:ext cx="98401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  <a:defRPr/>
            </a:pPr>
            <a:fld id="{A36EBACF-F565-E244-8230-FFB82DCE4B7F}" type="slidenum">
              <a:rPr lang="fr-CA" smtClean="0"/>
              <a:t>6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55714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1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8054E3D3-F476-4864-A1F9-DCC07CE71AC5}" vid="{121BF58A-4856-4395-B816-64FE0F6BA8B8}"/>
    </a:ext>
  </a:extLst>
</a:theme>
</file>

<file path=ppt/theme/theme2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9247</TotalTime>
  <Words>458</Words>
  <Application>Microsoft Office PowerPoint</Application>
  <PresentationFormat>On-screen Show (4:3)</PresentationFormat>
  <Paragraphs>62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Aptos Narrow</vt:lpstr>
      <vt:lpstr>Arial</vt:lpstr>
      <vt:lpstr>Calibri</vt:lpstr>
      <vt:lpstr>Calibri Light</vt:lpstr>
      <vt:lpstr>Georgia</vt:lpstr>
      <vt:lpstr>Ink Free</vt:lpstr>
      <vt:lpstr>Wingdings</vt:lpstr>
      <vt:lpstr>Wingdings 2</vt:lpstr>
      <vt:lpstr>Theme1</vt:lpstr>
      <vt:lpstr>Retrospect</vt:lpstr>
      <vt:lpstr>Chronique financière… Tesla !</vt:lpstr>
      <vt:lpstr>L'impact de la controverse autour de la direction sur les ventes et le cours de l'action Tesla</vt:lpstr>
      <vt:lpstr>Les ventes de Tesla sont en baisse</vt:lpstr>
      <vt:lpstr>Pourquoi s'agit-il d'un risque spécifique ?</vt:lpstr>
      <vt:lpstr>PowerPoint Presentation</vt:lpstr>
      <vt:lpstr>Vous souhaitez en savoir plus ?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Chronique financière De quoi parle-t-on cette semaine? Du nouveau mot magique….IA</dc:title>
  <dc:creator>Mélanie Caron-Harris</dc:creator>
  <cp:keywords>, docId:294FCFFEEAB22B18CC8B1291AFE74248</cp:keywords>
  <cp:lastModifiedBy>Mélanie Caron-Harris</cp:lastModifiedBy>
  <cp:revision>61</cp:revision>
  <dcterms:created xsi:type="dcterms:W3CDTF">2023-05-15T16:45:55Z</dcterms:created>
  <dcterms:modified xsi:type="dcterms:W3CDTF">2025-10-06T13:33:26Z</dcterms:modified>
</cp:coreProperties>
</file>