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7" r:id="rId2"/>
    <p:sldId id="333" r:id="rId3"/>
    <p:sldId id="334" r:id="rId4"/>
    <p:sldId id="329" r:id="rId5"/>
    <p:sldId id="330" r:id="rId6"/>
    <p:sldId id="331" r:id="rId7"/>
    <p:sldId id="332" r:id="rId8"/>
    <p:sldId id="336" r:id="rId9"/>
    <p:sldId id="335" r:id="rId10"/>
    <p:sldId id="337" r:id="rId11"/>
    <p:sldId id="338" r:id="rId12"/>
    <p:sldId id="339" r:id="rId13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30" autoAdjust="0"/>
  </p:normalViewPr>
  <p:slideViewPr>
    <p:cSldViewPr>
      <p:cViewPr varScale="1">
        <p:scale>
          <a:sx n="110" d="100"/>
          <a:sy n="110" d="100"/>
        </p:scale>
        <p:origin x="756" y="10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51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53" y="1286467"/>
            <a:ext cx="8187094" cy="342190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78800" y="1286280"/>
            <a:ext cx="5274000" cy="1312200"/>
          </a:xfrm>
          <a:solidFill>
            <a:schemeClr val="accent1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240">
                <a:solidFill>
                  <a:schemeClr val="accent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78800" y="2666391"/>
            <a:ext cx="5266800" cy="362102"/>
          </a:xfrm>
          <a:solidFill>
            <a:schemeClr val="accent1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200800" y="4847040"/>
            <a:ext cx="464400" cy="123120"/>
          </a:xfrm>
        </p:spPr>
        <p:txBody>
          <a:bodyPr vert="horz" lIns="91440" tIns="45720" rIns="91440" bIns="45720" rtlCol="0" anchor="ctr"/>
          <a:lstStyle>
            <a:lvl1pPr marL="0" algn="r" defTabSz="822960" rtl="0" eaLnBrk="1" latinLnBrk="0" hangingPunct="1">
              <a:defRPr lang="fr-CA" sz="603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3F533E7-78E4-4521-B8A5-77462C3B5CAA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19" y="210656"/>
            <a:ext cx="5282773" cy="734151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478452" y="4525465"/>
            <a:ext cx="5266944" cy="180050"/>
          </a:xfrm>
          <a:solidFill>
            <a:schemeClr val="accent1"/>
          </a:solidFill>
        </p:spPr>
        <p:txBody>
          <a:bodyPr/>
          <a:lstStyle>
            <a:lvl1pPr algn="l">
              <a:defRPr sz="1170" cap="all" baseline="0">
                <a:solidFill>
                  <a:schemeClr val="bg1"/>
                </a:solidFill>
              </a:defRPr>
            </a:lvl1pPr>
          </a:lstStyle>
          <a:p>
            <a:endParaRPr lang="fr-CA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AB91D83-E3B1-4E58-8924-5425905C230A}" type="datetimeFigureOut">
              <a:rPr lang="fr-FR" smtClean="0"/>
              <a:pPr/>
              <a:t>09/05/2018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941023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8800" y="431717"/>
            <a:ext cx="8186400" cy="740664"/>
          </a:xfrm>
        </p:spPr>
        <p:txBody>
          <a:bodyPr/>
          <a:lstStyle/>
          <a:p>
            <a:r>
              <a:rPr lang="fr-FR" dirty="0" smtClean="0"/>
              <a:t>Cliquez pour modifier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8800" y="1419918"/>
            <a:ext cx="8186400" cy="2869190"/>
          </a:xfrm>
        </p:spPr>
        <p:txBody>
          <a:bodyPr/>
          <a:lstStyle/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1D83-E3B1-4E58-8924-5425905C230A}" type="datetimeFigureOut">
              <a:rPr lang="fr-FR" smtClean="0"/>
              <a:pPr/>
              <a:t>09/05/2018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33E7-78E4-4521-B8A5-77462C3B5CAA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7" name="TextBox 6"/>
          <p:cNvSpPr txBox="1"/>
          <p:nvPr/>
        </p:nvSpPr>
        <p:spPr>
          <a:xfrm>
            <a:off x="346075" y="4289108"/>
            <a:ext cx="914400" cy="822960"/>
          </a:xfrm>
          <a:prstGeom prst="rect">
            <a:avLst/>
          </a:prstGeom>
        </p:spPr>
        <p:txBody>
          <a:bodyPr vert="horz" wrap="none" lIns="82296" tIns="41148" rIns="82296" bIns="41148" rtlCol="0">
            <a:normAutofit/>
          </a:bodyPr>
          <a:lstStyle/>
          <a:p>
            <a:pPr marL="139320" indent="-13932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en-US" sz="1503" dirty="0" smtClean="0"/>
          </a:p>
        </p:txBody>
      </p:sp>
    </p:spTree>
    <p:extLst>
      <p:ext uri="{BB962C8B-B14F-4D97-AF65-F5344CB8AC3E}">
        <p14:creationId xmlns:p14="http://schemas.microsoft.com/office/powerpoint/2010/main" val="82554825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62065" y="3107825"/>
            <a:ext cx="6603135" cy="13002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-901" b="1413"/>
          <a:stretch/>
        </p:blipFill>
        <p:spPr>
          <a:xfrm>
            <a:off x="5840963" y="1264049"/>
            <a:ext cx="2824582" cy="177586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1286279"/>
            <a:ext cx="5274000" cy="1312200"/>
          </a:xfrm>
          <a:solidFill>
            <a:schemeClr val="accent1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822960" rtl="0" eaLnBrk="1" latinLnBrk="0" hangingPunct="1">
              <a:spcBef>
                <a:spcPct val="0"/>
              </a:spcBef>
              <a:buNone/>
              <a:defRPr lang="fr-CA" sz="324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8800" y="2666391"/>
            <a:ext cx="5266800" cy="362102"/>
          </a:xfrm>
          <a:solidFill>
            <a:schemeClr val="accent1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82296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18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33E7-78E4-4521-B8A5-77462C3B5CAA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DAB91D83-E3B1-4E58-8924-5425905C230A}" type="datetimeFigureOut">
              <a:rPr lang="fr-FR" smtClean="0"/>
              <a:pPr/>
              <a:t>09/05/2018</a:t>
            </a:fld>
            <a:endParaRPr lang="fr-CA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13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" t="27926" r="63211" b="1117"/>
          <a:stretch/>
        </p:blipFill>
        <p:spPr>
          <a:xfrm>
            <a:off x="489600" y="3107094"/>
            <a:ext cx="1497820" cy="1300277"/>
          </a:xfrm>
          <a:prstGeom prst="rect">
            <a:avLst/>
          </a:prstGeom>
        </p:spPr>
      </p:pic>
      <p:pic>
        <p:nvPicPr>
          <p:cNvPr id="14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54" y="4528945"/>
            <a:ext cx="1540097" cy="1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9979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2912"/>
            <a:ext cx="8186400" cy="741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365961"/>
            <a:ext cx="4038600" cy="2923147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365961"/>
            <a:ext cx="4038600" cy="2923147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1D83-E3B1-4E58-8924-5425905C230A}" type="datetimeFigureOut">
              <a:rPr lang="fr-FR" smtClean="0"/>
              <a:pPr/>
              <a:t>09/05/2018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33E7-78E4-4521-B8A5-77462C3B5CA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4858812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0831"/>
            <a:ext cx="8186400" cy="738449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360170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839992"/>
            <a:ext cx="4040188" cy="2449116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7" y="1360170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7" y="1839992"/>
            <a:ext cx="4041775" cy="2449116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1D83-E3B1-4E58-8924-5425905C230A}" type="datetimeFigureOut">
              <a:rPr lang="fr-FR" smtClean="0"/>
              <a:pPr/>
              <a:t>09/05/2018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33E7-78E4-4521-B8A5-77462C3B5CA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5749102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2912"/>
            <a:ext cx="8186400" cy="73779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1D83-E3B1-4E58-8924-5425905C230A}" type="datetimeFigureOut">
              <a:rPr lang="fr-FR" smtClean="0"/>
              <a:pPr/>
              <a:t>09/05/2018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33E7-78E4-4521-B8A5-77462C3B5CA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9730106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1D83-E3B1-4E58-8924-5425905C230A}" type="datetimeFigureOut">
              <a:rPr lang="fr-FR" smtClean="0"/>
              <a:pPr/>
              <a:t>09/05/2018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33E7-78E4-4521-B8A5-77462C3B5CA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030358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29474"/>
            <a:ext cx="8186400" cy="739807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60400" y="1353960"/>
            <a:ext cx="5097600" cy="2935148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8800" y="1353960"/>
            <a:ext cx="2988000" cy="2935148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1D83-E3B1-4E58-8924-5425905C230A}" type="datetimeFigureOut">
              <a:rPr lang="fr-FR" smtClean="0"/>
              <a:pPr/>
              <a:t>09/05/2018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33E7-78E4-4521-B8A5-77462C3B5CA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4589039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40754"/>
            <a:ext cx="8186400" cy="740655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78800" y="1858569"/>
            <a:ext cx="8179200" cy="2430538"/>
          </a:xfrm>
        </p:spPr>
        <p:txBody>
          <a:bodyPr/>
          <a:lstStyle>
            <a:lvl1pPr marL="0" indent="0">
              <a:buNone/>
              <a:defRPr sz="1503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fr-FR" smtClean="0"/>
              <a:t>Cliquez sur l'icône pour ajouter une image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8800" y="1366089"/>
            <a:ext cx="8179200" cy="469800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1D83-E3B1-4E58-8924-5425905C230A}" type="datetimeFigureOut">
              <a:rPr lang="fr-FR" smtClean="0"/>
              <a:pPr/>
              <a:t>09/05/2018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33E7-78E4-4521-B8A5-77462C3B5CA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999294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648200" y="1200151"/>
            <a:ext cx="4038600" cy="16394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4648200" y="2953943"/>
            <a:ext cx="4038600" cy="16406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AB91D83-E3B1-4E58-8924-5425905C230A}" type="datetimeFigureOut">
              <a:rPr lang="fr-FR" smtClean="0"/>
              <a:pPr/>
              <a:t>09/05/2018</a:t>
            </a:fld>
            <a:endParaRPr lang="fr-CA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3F533E7-78E4-4521-B8A5-77462C3B5CA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76179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fld id="{903ABF2B-C0CF-4BFA-8F5D-7736AFAC5296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83747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78800" y="436673"/>
            <a:ext cx="8186400" cy="744737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 smtClean="0"/>
              <a:t>Cliquez pour modifier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8800" y="1366089"/>
            <a:ext cx="8186400" cy="2923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89600" y="4846496"/>
            <a:ext cx="21336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3">
                <a:solidFill>
                  <a:schemeClr val="accent2"/>
                </a:solidFill>
              </a:defRPr>
            </a:lvl1pPr>
          </a:lstStyle>
          <a:p>
            <a:fld id="{DAB91D83-E3B1-4E58-8924-5425905C230A}" type="datetimeFigureOut">
              <a:rPr lang="fr-FR" smtClean="0"/>
              <a:pPr/>
              <a:t>09/05/2018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846496"/>
            <a:ext cx="28956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3">
                <a:solidFill>
                  <a:schemeClr val="accent2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200800" y="4846496"/>
            <a:ext cx="4644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3">
                <a:solidFill>
                  <a:schemeClr val="accent2"/>
                </a:solidFill>
              </a:defRPr>
            </a:lvl1pPr>
          </a:lstStyle>
          <a:p>
            <a:fld id="{03F533E7-78E4-4521-B8A5-77462C3B5CAA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54" y="4528945"/>
            <a:ext cx="1540097" cy="1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538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iming>
    <p:tnLst>
      <p:par>
        <p:cTn id="1" dur="indefinite" restart="never" nodeType="tmRoot"/>
      </p:par>
    </p:tnLst>
  </p:timing>
  <p:txStyles>
    <p:titleStyle>
      <a:lvl1pPr algn="l" defTabSz="822960" rtl="0" eaLnBrk="1" latinLnBrk="0" hangingPunct="1">
        <a:spcBef>
          <a:spcPct val="0"/>
        </a:spcBef>
        <a:buNone/>
        <a:defRPr sz="234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3932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1pPr>
      <a:lvl2pPr marL="40824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67716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3pPr>
      <a:lvl4pPr marL="94284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4pPr>
      <a:lvl5pPr marL="121176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slideLayout" Target="../slideLayouts/slideLayout11.xml"/><Relationship Id="rId5" Type="http://schemas.openxmlformats.org/officeDocument/2006/relationships/tags" Target="../tags/tag9.xml"/><Relationship Id="rId10" Type="http://schemas.openxmlformats.org/officeDocument/2006/relationships/tags" Target="../tags/tag14.xml"/><Relationship Id="rId4" Type="http://schemas.openxmlformats.org/officeDocument/2006/relationships/tags" Target="../tags/tag8.xml"/><Relationship Id="rId9" Type="http://schemas.openxmlformats.org/officeDocument/2006/relationships/tags" Target="../tags/tag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tags" Target="../tags/tag27.xml"/><Relationship Id="rId18" Type="http://schemas.openxmlformats.org/officeDocument/2006/relationships/image" Target="../media/image4.png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tags" Target="../tags/tag26.xml"/><Relationship Id="rId17" Type="http://schemas.openxmlformats.org/officeDocument/2006/relationships/tags" Target="../tags/tag28.xml"/><Relationship Id="rId2" Type="http://schemas.openxmlformats.org/officeDocument/2006/relationships/tags" Target="../tags/tag16.xml"/><Relationship Id="rId16" Type="http://schemas.openxmlformats.org/officeDocument/2006/relationships/slideLayout" Target="../slideLayouts/slideLayout11.xml"/><Relationship Id="rId20" Type="http://schemas.openxmlformats.org/officeDocument/2006/relationships/image" Target="../media/image5.png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5" Type="http://schemas.openxmlformats.org/officeDocument/2006/relationships/tags" Target="../tags/tag19.xml"/><Relationship Id="rId15" Type="http://schemas.openxmlformats.org/officeDocument/2006/relationships/tags" Target="../tags/tag29.xml"/><Relationship Id="rId10" Type="http://schemas.openxmlformats.org/officeDocument/2006/relationships/tags" Target="../tags/tag24.xml"/><Relationship Id="rId19" Type="http://schemas.openxmlformats.org/officeDocument/2006/relationships/tags" Target="../tags/tag29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tags" Target="../tags/tag42.xml"/><Relationship Id="rId18" Type="http://schemas.openxmlformats.org/officeDocument/2006/relationships/tags" Target="../tags/tag47.xml"/><Relationship Id="rId3" Type="http://schemas.openxmlformats.org/officeDocument/2006/relationships/tags" Target="../tags/tag32.xml"/><Relationship Id="rId21" Type="http://schemas.openxmlformats.org/officeDocument/2006/relationships/image" Target="../media/image6.png"/><Relationship Id="rId7" Type="http://schemas.openxmlformats.org/officeDocument/2006/relationships/tags" Target="../tags/tag36.xml"/><Relationship Id="rId12" Type="http://schemas.openxmlformats.org/officeDocument/2006/relationships/tags" Target="../tags/tag41.xml"/><Relationship Id="rId17" Type="http://schemas.openxmlformats.org/officeDocument/2006/relationships/tags" Target="../tags/tag46.xml"/><Relationship Id="rId25" Type="http://schemas.openxmlformats.org/officeDocument/2006/relationships/image" Target="../media/image60.png"/><Relationship Id="rId2" Type="http://schemas.openxmlformats.org/officeDocument/2006/relationships/tags" Target="../tags/tag31.xml"/><Relationship Id="rId16" Type="http://schemas.openxmlformats.org/officeDocument/2006/relationships/tags" Target="../tags/tag45.xml"/><Relationship Id="rId20" Type="http://schemas.openxmlformats.org/officeDocument/2006/relationships/tags" Target="../tags/tag43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24" Type="http://schemas.openxmlformats.org/officeDocument/2006/relationships/image" Target="../media/image50.png"/><Relationship Id="rId5" Type="http://schemas.openxmlformats.org/officeDocument/2006/relationships/tags" Target="../tags/tag34.xml"/><Relationship Id="rId15" Type="http://schemas.openxmlformats.org/officeDocument/2006/relationships/tags" Target="../tags/tag44.xml"/><Relationship Id="rId23" Type="http://schemas.openxmlformats.org/officeDocument/2006/relationships/image" Target="../media/image7.png"/><Relationship Id="rId10" Type="http://schemas.openxmlformats.org/officeDocument/2006/relationships/tags" Target="../tags/tag39.xml"/><Relationship Id="rId19" Type="http://schemas.openxmlformats.org/officeDocument/2006/relationships/slideLayout" Target="../slideLayouts/slideLayout11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tags" Target="../tags/tag43.xml"/><Relationship Id="rId22" Type="http://schemas.openxmlformats.org/officeDocument/2006/relationships/tags" Target="../tags/tag4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5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tags" Target="../tags/tag65.xml"/><Relationship Id="rId18" Type="http://schemas.openxmlformats.org/officeDocument/2006/relationships/tags" Target="../tags/tag70.xml"/><Relationship Id="rId26" Type="http://schemas.openxmlformats.org/officeDocument/2006/relationships/tags" Target="../tags/tag78.xml"/><Relationship Id="rId3" Type="http://schemas.openxmlformats.org/officeDocument/2006/relationships/tags" Target="../tags/tag55.xml"/><Relationship Id="rId21" Type="http://schemas.openxmlformats.org/officeDocument/2006/relationships/tags" Target="../tags/tag73.xml"/><Relationship Id="rId7" Type="http://schemas.openxmlformats.org/officeDocument/2006/relationships/tags" Target="../tags/tag59.xml"/><Relationship Id="rId12" Type="http://schemas.openxmlformats.org/officeDocument/2006/relationships/tags" Target="../tags/tag64.xml"/><Relationship Id="rId17" Type="http://schemas.openxmlformats.org/officeDocument/2006/relationships/tags" Target="../tags/tag69.xml"/><Relationship Id="rId25" Type="http://schemas.openxmlformats.org/officeDocument/2006/relationships/tags" Target="../tags/tag77.xml"/><Relationship Id="rId2" Type="http://schemas.openxmlformats.org/officeDocument/2006/relationships/tags" Target="../tags/tag54.xml"/><Relationship Id="rId16" Type="http://schemas.openxmlformats.org/officeDocument/2006/relationships/tags" Target="../tags/tag68.xml"/><Relationship Id="rId20" Type="http://schemas.openxmlformats.org/officeDocument/2006/relationships/tags" Target="../tags/tag72.xml"/><Relationship Id="rId29" Type="http://schemas.openxmlformats.org/officeDocument/2006/relationships/tags" Target="../tags/tag81.xml"/><Relationship Id="rId1" Type="http://schemas.openxmlformats.org/officeDocument/2006/relationships/vmlDrawing" Target="../drawings/vmlDrawing1.v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24" Type="http://schemas.openxmlformats.org/officeDocument/2006/relationships/tags" Target="../tags/tag76.xml"/><Relationship Id="rId32" Type="http://schemas.openxmlformats.org/officeDocument/2006/relationships/image" Target="../media/image4.wmf"/><Relationship Id="rId5" Type="http://schemas.openxmlformats.org/officeDocument/2006/relationships/tags" Target="../tags/tag57.xml"/><Relationship Id="rId15" Type="http://schemas.openxmlformats.org/officeDocument/2006/relationships/tags" Target="../tags/tag67.xml"/><Relationship Id="rId23" Type="http://schemas.openxmlformats.org/officeDocument/2006/relationships/tags" Target="../tags/tag75.xml"/><Relationship Id="rId28" Type="http://schemas.openxmlformats.org/officeDocument/2006/relationships/tags" Target="../tags/tag80.xml"/><Relationship Id="rId10" Type="http://schemas.openxmlformats.org/officeDocument/2006/relationships/tags" Target="../tags/tag62.xml"/><Relationship Id="rId19" Type="http://schemas.openxmlformats.org/officeDocument/2006/relationships/tags" Target="../tags/tag71.xml"/><Relationship Id="rId31" Type="http://schemas.openxmlformats.org/officeDocument/2006/relationships/oleObject" Target="../embeddings/oleObject1.bin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tags" Target="../tags/tag66.xml"/><Relationship Id="rId22" Type="http://schemas.openxmlformats.org/officeDocument/2006/relationships/tags" Target="../tags/tag74.xml"/><Relationship Id="rId27" Type="http://schemas.openxmlformats.org/officeDocument/2006/relationships/tags" Target="../tags/tag79.xml"/><Relationship Id="rId30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 smtClean="0"/>
              <a:t>VALEUR ENTRE 2 DATES ET CROISSANCE</a:t>
            </a:r>
            <a:endParaRPr lang="fr-CA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90000"/>
              </a:lnSpc>
            </a:pPr>
            <a:r>
              <a:rPr lang="fr-CA" sz="3600" dirty="0"/>
              <a:t>Retour sur les </a:t>
            </a:r>
            <a:r>
              <a:rPr lang="fr-CA" sz="3600" dirty="0" smtClean="0"/>
              <a:t>mathématiques </a:t>
            </a:r>
            <a:r>
              <a:rPr lang="fr-CA" sz="3600" dirty="0"/>
              <a:t>financières</a:t>
            </a:r>
            <a:endParaRPr lang="fr-CA" sz="36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À réviser :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Autofit/>
          </a:bodyPr>
          <a:lstStyle/>
          <a:p>
            <a:pPr marL="715963" indent="-446088">
              <a:buSzPct val="100000"/>
              <a:buAutoNum type="arabicParenR"/>
              <a:tabLst>
                <a:tab pos="715963" algn="l"/>
              </a:tabLst>
            </a:pPr>
            <a:r>
              <a:rPr lang="fr-CA" sz="3200" dirty="0" smtClean="0"/>
              <a:t>Valeur entre deux dates de versements</a:t>
            </a:r>
          </a:p>
          <a:p>
            <a:pPr marL="715963" indent="-446088">
              <a:buSzPct val="100000"/>
              <a:buAutoNum type="arabicParenR"/>
              <a:tabLst>
                <a:tab pos="715963" algn="l"/>
              </a:tabLst>
            </a:pPr>
            <a:r>
              <a:rPr lang="fr-CA" sz="3200" dirty="0" smtClean="0"/>
              <a:t>Regroupement des </a:t>
            </a:r>
            <a:r>
              <a:rPr lang="fr-CA" sz="3200" dirty="0" err="1" smtClean="0"/>
              <a:t>FMs</a:t>
            </a:r>
            <a:r>
              <a:rPr lang="fr-CA" sz="3200" dirty="0" smtClean="0"/>
              <a:t> d’une annuité présentant des montants en croissance</a:t>
            </a:r>
            <a:endParaRPr lang="fr-CA" sz="3200" dirty="0"/>
          </a:p>
        </p:txBody>
      </p:sp>
    </p:spTree>
    <p:extLst>
      <p:ext uri="{BB962C8B-B14F-4D97-AF65-F5344CB8AC3E}">
        <p14:creationId xmlns:p14="http://schemas.microsoft.com/office/powerpoint/2010/main" val="1568746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À réviser :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478800" y="1491630"/>
            <a:ext cx="8125648" cy="2808287"/>
          </a:xfrm>
        </p:spPr>
        <p:txBody>
          <a:bodyPr>
            <a:noAutofit/>
          </a:bodyPr>
          <a:lstStyle/>
          <a:p>
            <a:pPr marL="715963" indent="-446088">
              <a:buSzPct val="100000"/>
              <a:buAutoNum type="arabicParenR"/>
              <a:tabLst>
                <a:tab pos="715963" algn="l"/>
              </a:tabLst>
            </a:pPr>
            <a:r>
              <a:rPr lang="fr-CA" sz="3200" b="1" dirty="0"/>
              <a:t>Valeur entre deux dates de versements</a:t>
            </a:r>
          </a:p>
          <a:p>
            <a:pPr marL="715963" indent="-446088">
              <a:buSzPct val="100000"/>
              <a:buAutoNum type="arabicParenR"/>
              <a:tabLst>
                <a:tab pos="715963" algn="l"/>
              </a:tabLst>
            </a:pPr>
            <a:r>
              <a:rPr lang="fr-CA" sz="3200" dirty="0"/>
              <a:t>Regroupement des </a:t>
            </a:r>
            <a:r>
              <a:rPr lang="fr-CA" sz="3200" dirty="0" err="1"/>
              <a:t>FMs</a:t>
            </a:r>
            <a:r>
              <a:rPr lang="fr-CA" sz="3200" dirty="0"/>
              <a:t> d’une annuité présentant des montants en croissance</a:t>
            </a:r>
          </a:p>
          <a:p>
            <a:pPr marL="0" indent="0">
              <a:buNone/>
            </a:pPr>
            <a:endParaRPr lang="fr-CA" sz="3200" dirty="0"/>
          </a:p>
        </p:txBody>
      </p:sp>
    </p:spTree>
    <p:extLst>
      <p:ext uri="{BB962C8B-B14F-4D97-AF65-F5344CB8AC3E}">
        <p14:creationId xmlns:p14="http://schemas.microsoft.com/office/powerpoint/2010/main" val="245907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95288" y="141685"/>
            <a:ext cx="8229600" cy="1028700"/>
          </a:xfrm>
        </p:spPr>
        <p:txBody>
          <a:bodyPr>
            <a:normAutofit/>
          </a:bodyPr>
          <a:lstStyle/>
          <a:p>
            <a:pPr algn="l"/>
            <a:r>
              <a:rPr lang="fr-CA" dirty="0" smtClean="0"/>
              <a:t>Valeur entre deux dates de versements</a:t>
            </a:r>
            <a:endParaRPr lang="fr-CA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395288" y="1113235"/>
            <a:ext cx="8362950" cy="3726656"/>
          </a:xfrm>
        </p:spPr>
        <p:txBody>
          <a:bodyPr/>
          <a:lstStyle/>
          <a:p>
            <a:pPr marL="1371600" lvl="3" indent="0">
              <a:buNone/>
            </a:pPr>
            <a:r>
              <a:rPr lang="fr-CA" sz="1600" dirty="0" smtClean="0"/>
              <a:t>Aujourd’hui</a:t>
            </a:r>
            <a:endParaRPr lang="fr-CA" sz="1600" dirty="0"/>
          </a:p>
          <a:p>
            <a:pPr marL="1371600" lvl="3" indent="0">
              <a:buNone/>
            </a:pPr>
            <a:r>
              <a:rPr lang="fr-CA" sz="2400" dirty="0" smtClean="0"/>
              <a:t>	  *</a:t>
            </a:r>
            <a:endParaRPr lang="fr-CA" sz="2400" dirty="0"/>
          </a:p>
          <a:p>
            <a:pPr marL="1371600" lvl="3" indent="0">
              <a:buNone/>
            </a:pPr>
            <a:endParaRPr lang="fr-CA" sz="1600" dirty="0"/>
          </a:p>
          <a:p>
            <a:pPr lvl="1"/>
            <a:endParaRPr lang="fr-CA" sz="2400" dirty="0"/>
          </a:p>
          <a:p>
            <a:pPr lvl="1">
              <a:buFontTx/>
              <a:buNone/>
            </a:pPr>
            <a:endParaRPr lang="fr-CA" sz="2400" dirty="0" smtClean="0">
              <a:solidFill>
                <a:schemeClr val="accent1"/>
              </a:solidFill>
            </a:endParaRPr>
          </a:p>
        </p:txBody>
      </p:sp>
      <p:sp>
        <p:nvSpPr>
          <p:cNvPr id="23556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619672" y="1807338"/>
            <a:ext cx="5329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23557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619672" y="1645413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23559" name="Line 7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3851697" y="1645413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23562" name="Line 10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940698" y="1645413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23563" name="Text Box 1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209624" y="1969263"/>
            <a:ext cx="8200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solidFill>
                  <a:srgbClr val="4F81BD"/>
                </a:solidFill>
                <a:latin typeface="Tahoma" pitchFamily="34" charset="0"/>
              </a:rPr>
              <a:t>Valeur</a:t>
            </a:r>
            <a:endParaRPr lang="fr-CA" dirty="0">
              <a:solidFill>
                <a:srgbClr val="4F81BD"/>
              </a:solidFill>
              <a:latin typeface="Tahoma" pitchFamily="34" charset="0"/>
            </a:endParaRPr>
          </a:p>
        </p:txBody>
      </p:sp>
      <p:sp>
        <p:nvSpPr>
          <p:cNvPr id="23564" name="Text Box 12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635226" y="1969263"/>
            <a:ext cx="6238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solidFill>
                  <a:srgbClr val="4F81BD"/>
                </a:solidFill>
                <a:latin typeface="Tahoma" pitchFamily="34" charset="0"/>
              </a:rPr>
              <a:t>PMT</a:t>
            </a:r>
            <a:endParaRPr lang="fr-CA" dirty="0">
              <a:solidFill>
                <a:srgbClr val="4F81BD"/>
              </a:solidFill>
              <a:latin typeface="Tahoma" pitchFamily="34" charset="0"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628754" y="1975216"/>
            <a:ext cx="6238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solidFill>
                  <a:srgbClr val="4F81BD"/>
                </a:solidFill>
                <a:latin typeface="Tahoma" pitchFamily="34" charset="0"/>
              </a:rPr>
              <a:t>PMT</a:t>
            </a:r>
            <a:endParaRPr lang="fr-CA" dirty="0">
              <a:solidFill>
                <a:srgbClr val="4F81BD"/>
              </a:solidFill>
              <a:latin typeface="Tahoma" pitchFamily="34" charset="0"/>
            </a:endParaRPr>
          </a:p>
        </p:txBody>
      </p:sp>
      <p:sp>
        <p:nvSpPr>
          <p:cNvPr id="14" name="Line 7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2365475" y="1645413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435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95288" y="141685"/>
            <a:ext cx="8229600" cy="1028700"/>
          </a:xfrm>
        </p:spPr>
        <p:txBody>
          <a:bodyPr>
            <a:normAutofit/>
          </a:bodyPr>
          <a:lstStyle/>
          <a:p>
            <a:pPr algn="l"/>
            <a:r>
              <a:rPr lang="fr-CA" dirty="0" smtClean="0"/>
              <a:t>Valeur entre deux dates de versements</a:t>
            </a:r>
            <a:endParaRPr lang="fr-CA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395288" y="1113235"/>
            <a:ext cx="8362950" cy="3726656"/>
          </a:xfrm>
        </p:spPr>
        <p:txBody>
          <a:bodyPr>
            <a:normAutofit fontScale="92500" lnSpcReduction="10000"/>
          </a:bodyPr>
          <a:lstStyle/>
          <a:p>
            <a:pPr marL="1371600" lvl="3" indent="0">
              <a:buNone/>
            </a:pPr>
            <a:r>
              <a:rPr lang="fr-CA" sz="1800" dirty="0" smtClean="0">
                <a:solidFill>
                  <a:schemeClr val="tx2"/>
                </a:solidFill>
              </a:rPr>
              <a:t>  n                   m </a:t>
            </a:r>
            <a:r>
              <a:rPr lang="fr-CA" sz="2400" dirty="0" smtClean="0"/>
              <a:t>	</a:t>
            </a:r>
            <a:endParaRPr lang="fr-CA" sz="1600" dirty="0"/>
          </a:p>
          <a:p>
            <a:pPr lvl="1"/>
            <a:endParaRPr lang="fr-CA" sz="2400" dirty="0"/>
          </a:p>
          <a:p>
            <a:pPr lvl="1">
              <a:buFontTx/>
              <a:buNone/>
            </a:pPr>
            <a:endParaRPr lang="fr-CA" sz="2400" dirty="0" smtClean="0">
              <a:solidFill>
                <a:schemeClr val="accent1"/>
              </a:solidFill>
            </a:endParaRPr>
          </a:p>
          <a:p>
            <a:pPr lvl="1">
              <a:buFontTx/>
              <a:buNone/>
            </a:pPr>
            <a:endParaRPr lang="fr-CA" sz="2400" dirty="0" smtClean="0">
              <a:solidFill>
                <a:schemeClr val="accent1"/>
              </a:solidFill>
            </a:endParaRPr>
          </a:p>
          <a:p>
            <a:pPr marL="357188" lvl="1">
              <a:buFontTx/>
              <a:buNone/>
              <a:tabLst>
                <a:tab pos="1614488" algn="l"/>
              </a:tabLst>
            </a:pPr>
            <a:r>
              <a:rPr lang="fr-CA" sz="2400" dirty="0" smtClean="0">
                <a:solidFill>
                  <a:schemeClr val="accent1"/>
                </a:solidFill>
              </a:rPr>
              <a:t>1</a:t>
            </a:r>
            <a:r>
              <a:rPr lang="fr-CA" sz="2400" baseline="30000" dirty="0" smtClean="0">
                <a:solidFill>
                  <a:schemeClr val="accent1"/>
                </a:solidFill>
              </a:rPr>
              <a:t>re</a:t>
            </a:r>
            <a:r>
              <a:rPr lang="fr-CA" sz="2400" dirty="0" smtClean="0">
                <a:solidFill>
                  <a:schemeClr val="accent1"/>
                </a:solidFill>
              </a:rPr>
              <a:t> étape:	actualiser à la période de versement précédente</a:t>
            </a:r>
          </a:p>
          <a:p>
            <a:pPr marL="357188" lvl="1">
              <a:buFontTx/>
              <a:buNone/>
              <a:tabLst>
                <a:tab pos="1614488" algn="l"/>
              </a:tabLst>
            </a:pPr>
            <a:r>
              <a:rPr lang="fr-CA" sz="2400" dirty="0" smtClean="0">
                <a:solidFill>
                  <a:schemeClr val="accent1"/>
                </a:solidFill>
              </a:rPr>
              <a:t>		(calcul habituel pour une annuité et/ou perpétuité)		</a:t>
            </a:r>
          </a:p>
          <a:p>
            <a:pPr marL="357188" lvl="1">
              <a:buFontTx/>
              <a:buNone/>
            </a:pPr>
            <a:r>
              <a:rPr lang="fr-CA" sz="2400" dirty="0" smtClean="0">
                <a:solidFill>
                  <a:schemeClr val="accent1"/>
                </a:solidFill>
              </a:rPr>
              <a:t>			</a:t>
            </a:r>
          </a:p>
          <a:p>
            <a:pPr marL="357188" lvl="1">
              <a:buFontTx/>
              <a:buNone/>
            </a:pPr>
            <a:endParaRPr lang="fr-CA" sz="2400" dirty="0" smtClean="0">
              <a:solidFill>
                <a:schemeClr val="accent1"/>
              </a:solidFill>
            </a:endParaRPr>
          </a:p>
          <a:p>
            <a:pPr marL="357188" lvl="1">
              <a:buFontTx/>
              <a:buNone/>
            </a:pPr>
            <a:r>
              <a:rPr lang="fr-CA" sz="2400" dirty="0" smtClean="0">
                <a:solidFill>
                  <a:schemeClr val="accent1"/>
                </a:solidFill>
              </a:rPr>
              <a:t>		     </a:t>
            </a:r>
            <a:endParaRPr lang="fr-CA" sz="2400" dirty="0" smtClean="0"/>
          </a:p>
        </p:txBody>
      </p:sp>
      <p:sp>
        <p:nvSpPr>
          <p:cNvPr id="23556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619672" y="1807338"/>
            <a:ext cx="5329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23557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619672" y="1645413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23559" name="Line 7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3851697" y="1645413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23562" name="Line 10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940698" y="1645413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23563" name="Text Box 1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209624" y="1969263"/>
            <a:ext cx="8200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solidFill>
                  <a:srgbClr val="4F81BD"/>
                </a:solidFill>
                <a:latin typeface="Tahoma" pitchFamily="34" charset="0"/>
              </a:rPr>
              <a:t>Valeur</a:t>
            </a:r>
            <a:endParaRPr lang="fr-CA" dirty="0">
              <a:solidFill>
                <a:srgbClr val="4F81BD"/>
              </a:solidFill>
              <a:latin typeface="Tahoma" pitchFamily="34" charset="0"/>
            </a:endParaRPr>
          </a:p>
        </p:txBody>
      </p:sp>
      <p:sp>
        <p:nvSpPr>
          <p:cNvPr id="23564" name="Text Box 12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635226" y="1969263"/>
            <a:ext cx="6238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solidFill>
                  <a:srgbClr val="4F81BD"/>
                </a:solidFill>
                <a:latin typeface="Tahoma" pitchFamily="34" charset="0"/>
              </a:rPr>
              <a:t>PMT</a:t>
            </a:r>
            <a:endParaRPr lang="fr-CA" dirty="0">
              <a:solidFill>
                <a:srgbClr val="4F81BD"/>
              </a:solidFill>
              <a:latin typeface="Tahoma" pitchFamily="34" charset="0"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628754" y="1975216"/>
            <a:ext cx="6238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solidFill>
                  <a:srgbClr val="4F81BD"/>
                </a:solidFill>
                <a:latin typeface="Tahoma" pitchFamily="34" charset="0"/>
              </a:rPr>
              <a:t>PMT</a:t>
            </a:r>
            <a:endParaRPr lang="fr-CA" dirty="0">
              <a:solidFill>
                <a:srgbClr val="4F81BD"/>
              </a:solidFill>
              <a:latin typeface="Tahoma" pitchFamily="34" charset="0"/>
            </a:endParaRPr>
          </a:p>
        </p:txBody>
      </p:sp>
      <p:sp>
        <p:nvSpPr>
          <p:cNvPr id="14" name="Line 7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2365475" y="1645413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2" name="Accolade fermante 1"/>
          <p:cNvSpPr/>
          <p:nvPr>
            <p:custDataLst>
              <p:tags r:id="rId11"/>
            </p:custDataLst>
          </p:nvPr>
        </p:nvSpPr>
        <p:spPr>
          <a:xfrm rot="16200000">
            <a:off x="1915692" y="1038252"/>
            <a:ext cx="153769" cy="74580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5" name="Accolade fermante 14"/>
          <p:cNvSpPr/>
          <p:nvPr>
            <p:custDataLst>
              <p:tags r:id="rId12"/>
            </p:custDataLst>
          </p:nvPr>
        </p:nvSpPr>
        <p:spPr>
          <a:xfrm rot="16200000">
            <a:off x="3031702" y="669999"/>
            <a:ext cx="153769" cy="148622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" name="Ellipse 2"/>
          <p:cNvSpPr/>
          <p:nvPr>
            <p:custDataLst>
              <p:tags r:id="rId13"/>
            </p:custDataLst>
          </p:nvPr>
        </p:nvSpPr>
        <p:spPr>
          <a:xfrm>
            <a:off x="827584" y="1935894"/>
            <a:ext cx="1537892" cy="386463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040358" y="3408962"/>
                <a:ext cx="6195938" cy="680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sz="2400" dirty="0" smtClean="0"/>
                  <a:t>Valeur (annuité) </a:t>
                </a:r>
                <a14:m>
                  <m:oMath xmlns:m="http://schemas.openxmlformats.org/officeDocument/2006/math">
                    <m:r>
                      <a:rPr lang="fr-CA" sz="2400" i="1" smtClean="0">
                        <a:latin typeface="Cambria Math"/>
                      </a:rPr>
                      <m:t>=</m:t>
                    </m:r>
                    <m:r>
                      <a:rPr lang="fr-CA" sz="2400" b="0" i="1" smtClean="0">
                        <a:latin typeface="Cambria Math"/>
                      </a:rPr>
                      <m:t>𝑃𝑀𝑇</m:t>
                    </m:r>
                    <m:d>
                      <m:dPr>
                        <m:begChr m:val="["/>
                        <m:endChr m:val="]"/>
                        <m:ctrlPr>
                          <a:rPr lang="fr-CA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CA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fr-CA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CA" sz="2400" b="0" i="1" smtClean="0">
                                    <a:latin typeface="Cambria Math"/>
                                  </a:rPr>
                                  <m:t>1−</m:t>
                                </m:r>
                                <m:d>
                                  <m:dPr>
                                    <m:ctrlPr>
                                      <a:rPr lang="fr-CA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CA" sz="2400" b="0" i="1" smtClean="0">
                                        <a:latin typeface="Cambria Math"/>
                                      </a:rPr>
                                      <m:t>1+</m:t>
                                    </m:r>
                                    <m:r>
                                      <a:rPr lang="fr-CA" sz="2400" b="0" i="1" smtClean="0">
                                        <a:latin typeface="Cambria Math"/>
                                      </a:rPr>
                                      <m:t>𝑟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fr-CA" sz="2400" b="0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fr-CA" sz="2400" b="0" i="1" smtClean="0">
                                    <a:latin typeface="Cambria Math"/>
                                  </a:rPr>
                                  <m:t>𝑡</m:t>
                                </m:r>
                              </m:sup>
                            </m:sSup>
                          </m:num>
                          <m:den>
                            <m:r>
                              <a:rPr lang="fr-CA" sz="2400" b="0" i="1" smtClean="0">
                                <a:latin typeface="Cambria Math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endParaRPr lang="fr-CA" sz="2400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"/>
                </p:custDataLst>
              </p:nvPr>
            </p:nvSpPr>
            <p:spPr>
              <a:xfrm>
                <a:off x="1040358" y="3408962"/>
                <a:ext cx="6195938" cy="680956"/>
              </a:xfrm>
              <a:prstGeom prst="rect">
                <a:avLst/>
              </a:prstGeom>
              <a:blipFill rotWithShape="0">
                <a:blip r:embed="rId18"/>
                <a:stretch>
                  <a:fillRect l="-1575" b="-625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1040358" y="3917404"/>
                <a:ext cx="5908552" cy="1028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sz="2400" dirty="0" smtClean="0"/>
                  <a:t>ou</a:t>
                </a:r>
              </a:p>
              <a:p>
                <a:r>
                  <a:rPr lang="fr-CA" sz="2400" dirty="0" smtClean="0"/>
                  <a:t>Valeur (perpétuité)</a:t>
                </a:r>
                <a:r>
                  <a:rPr lang="fr-CA" dirty="0" smtClean="0"/>
                  <a:t> </a:t>
                </a:r>
                <a14:m>
                  <m:oMath xmlns:m="http://schemas.openxmlformats.org/officeDocument/2006/math">
                    <m:r>
                      <a:rPr lang="fr-CA" sz="240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fr-CA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sz="2400" b="0" i="1" smtClean="0">
                            <a:latin typeface="Cambria Math"/>
                          </a:rPr>
                          <m:t>𝑃𝑀𝑇</m:t>
                        </m:r>
                      </m:num>
                      <m:den>
                        <m:r>
                          <a:rPr lang="fr-CA" sz="2400" b="0" i="1" smtClean="0">
                            <a:latin typeface="Cambria Math"/>
                          </a:rPr>
                          <m:t>𝑟</m:t>
                        </m:r>
                        <m:r>
                          <a:rPr lang="fr-CA" sz="2400" b="0" i="1" smtClean="0">
                            <a:latin typeface="Cambria Math"/>
                          </a:rPr>
                          <m:t>−</m:t>
                        </m:r>
                        <m:r>
                          <a:rPr lang="fr-CA" sz="2400" b="0" i="1" smtClean="0">
                            <a:latin typeface="Cambria Math"/>
                          </a:rPr>
                          <m:t>𝑔</m:t>
                        </m:r>
                      </m:den>
                    </m:f>
                  </m:oMath>
                </a14:m>
                <a:endParaRPr lang="fr-CA" sz="2400" dirty="0"/>
              </a:p>
            </p:txBody>
          </p:sp>
        </mc:Choice>
        <mc:Fallback xmlns="">
          <p:sp>
            <p:nvSpPr>
              <p:cNvPr id="16" name="ZoneTexte 1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1040358" y="3917404"/>
                <a:ext cx="5908552" cy="1028295"/>
              </a:xfrm>
              <a:prstGeom prst="rect">
                <a:avLst/>
              </a:prstGeom>
              <a:blipFill rotWithShape="0">
                <a:blip r:embed="rId20"/>
                <a:stretch>
                  <a:fillRect l="-1651" t="-4167" b="-119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466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95288" y="141685"/>
            <a:ext cx="8229600" cy="1028700"/>
          </a:xfrm>
        </p:spPr>
        <p:txBody>
          <a:bodyPr>
            <a:normAutofit/>
          </a:bodyPr>
          <a:lstStyle/>
          <a:p>
            <a:pPr algn="l"/>
            <a:r>
              <a:rPr lang="fr-CA" dirty="0" smtClean="0"/>
              <a:t>Valeur entre deux dates de versements</a:t>
            </a:r>
            <a:endParaRPr lang="fr-CA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395288" y="1113235"/>
            <a:ext cx="8362950" cy="3726656"/>
          </a:xfrm>
        </p:spPr>
        <p:txBody>
          <a:bodyPr/>
          <a:lstStyle/>
          <a:p>
            <a:pPr marL="1371600" lvl="3" indent="0">
              <a:buNone/>
            </a:pPr>
            <a:r>
              <a:rPr lang="fr-CA" sz="1800" dirty="0" smtClean="0"/>
              <a:t>  n                   m </a:t>
            </a:r>
            <a:r>
              <a:rPr lang="fr-CA" sz="2400" dirty="0" smtClean="0"/>
              <a:t>	</a:t>
            </a:r>
            <a:endParaRPr lang="fr-CA" sz="1600" dirty="0"/>
          </a:p>
          <a:p>
            <a:pPr lvl="1"/>
            <a:endParaRPr lang="fr-CA" sz="2400" dirty="0"/>
          </a:p>
          <a:p>
            <a:pPr lvl="1">
              <a:buFontTx/>
              <a:buNone/>
            </a:pPr>
            <a:endParaRPr lang="fr-CA" sz="2400" dirty="0" smtClean="0">
              <a:solidFill>
                <a:schemeClr val="accent1"/>
              </a:solidFill>
            </a:endParaRPr>
          </a:p>
          <a:p>
            <a:pPr marL="357188" lvl="1">
              <a:buFontTx/>
              <a:buNone/>
              <a:tabLst>
                <a:tab pos="1614488" algn="l"/>
              </a:tabLst>
            </a:pPr>
            <a:endParaRPr lang="fr-CA" sz="2400" dirty="0" smtClean="0"/>
          </a:p>
          <a:p>
            <a:pPr marL="357188" lvl="1">
              <a:buFontTx/>
              <a:buNone/>
              <a:tabLst>
                <a:tab pos="1614488" algn="l"/>
              </a:tabLst>
            </a:pPr>
            <a:r>
              <a:rPr lang="fr-CA" sz="2400" dirty="0" smtClean="0">
                <a:solidFill>
                  <a:schemeClr val="accent2"/>
                </a:solidFill>
              </a:rPr>
              <a:t>2</a:t>
            </a:r>
            <a:r>
              <a:rPr lang="fr-CA" sz="2400" baseline="30000" dirty="0" smtClean="0">
                <a:solidFill>
                  <a:schemeClr val="accent2"/>
                </a:solidFill>
              </a:rPr>
              <a:t>e</a:t>
            </a:r>
            <a:r>
              <a:rPr lang="fr-CA" sz="2400" dirty="0" smtClean="0">
                <a:solidFill>
                  <a:schemeClr val="accent2"/>
                </a:solidFill>
              </a:rPr>
              <a:t> étape:</a:t>
            </a:r>
            <a:r>
              <a:rPr lang="fr-CA" sz="2400" dirty="0">
                <a:solidFill>
                  <a:schemeClr val="accent2"/>
                </a:solidFill>
              </a:rPr>
              <a:t>	</a:t>
            </a:r>
            <a:r>
              <a:rPr lang="fr-CA" sz="2400" dirty="0" smtClean="0">
                <a:solidFill>
                  <a:schemeClr val="accent2"/>
                </a:solidFill>
              </a:rPr>
              <a:t>capitaliser pour la fraction de période</a:t>
            </a:r>
            <a:r>
              <a:rPr lang="fr-CA" sz="2400" dirty="0">
                <a:solidFill>
                  <a:schemeClr val="accent2"/>
                </a:solidFill>
              </a:rPr>
              <a:t>	</a:t>
            </a:r>
            <a:r>
              <a:rPr lang="fr-CA" sz="2400" dirty="0" smtClean="0">
                <a:solidFill>
                  <a:schemeClr val="accent1"/>
                </a:solidFill>
              </a:rPr>
              <a:t>	</a:t>
            </a:r>
          </a:p>
          <a:p>
            <a:pPr marL="357188" lvl="1">
              <a:buFontTx/>
              <a:buNone/>
            </a:pPr>
            <a:r>
              <a:rPr lang="fr-CA" sz="2400" dirty="0">
                <a:solidFill>
                  <a:schemeClr val="accent1"/>
                </a:solidFill>
              </a:rPr>
              <a:t>	</a:t>
            </a:r>
            <a:endParaRPr lang="fr-CA" sz="2400" dirty="0" smtClean="0">
              <a:solidFill>
                <a:schemeClr val="accent1"/>
              </a:solidFill>
            </a:endParaRPr>
          </a:p>
          <a:p>
            <a:pPr marL="357188" lvl="1">
              <a:buFontTx/>
              <a:buNone/>
            </a:pPr>
            <a:r>
              <a:rPr lang="fr-CA" sz="1800" dirty="0" smtClean="0"/>
              <a:t>Ou</a:t>
            </a:r>
            <a:r>
              <a:rPr lang="fr-CA" sz="2400" dirty="0" smtClean="0">
                <a:solidFill>
                  <a:schemeClr val="accent1"/>
                </a:solidFill>
              </a:rPr>
              <a:t>				</a:t>
            </a:r>
            <a:endParaRPr lang="fr-CA" sz="2400" dirty="0" smtClean="0"/>
          </a:p>
        </p:txBody>
      </p:sp>
      <p:sp>
        <p:nvSpPr>
          <p:cNvPr id="23556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619672" y="1807338"/>
            <a:ext cx="5329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23557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619672" y="1645413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23559" name="Line 7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3851697" y="1645413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23562" name="Line 10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940698" y="1645413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23563" name="Text Box 1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209624" y="1969263"/>
            <a:ext cx="8200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solidFill>
                  <a:srgbClr val="4F81BD"/>
                </a:solidFill>
                <a:latin typeface="Tahoma" pitchFamily="34" charset="0"/>
              </a:rPr>
              <a:t>Valeur</a:t>
            </a:r>
            <a:endParaRPr lang="fr-CA" dirty="0">
              <a:solidFill>
                <a:srgbClr val="4F81BD"/>
              </a:solidFill>
              <a:latin typeface="Tahoma" pitchFamily="34" charset="0"/>
            </a:endParaRPr>
          </a:p>
        </p:txBody>
      </p:sp>
      <p:sp>
        <p:nvSpPr>
          <p:cNvPr id="23564" name="Text Box 12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635226" y="1969263"/>
            <a:ext cx="6238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solidFill>
                  <a:srgbClr val="4F81BD"/>
                </a:solidFill>
                <a:latin typeface="Tahoma" pitchFamily="34" charset="0"/>
              </a:rPr>
              <a:t>PMT</a:t>
            </a:r>
            <a:endParaRPr lang="fr-CA" dirty="0">
              <a:solidFill>
                <a:srgbClr val="4F81BD"/>
              </a:solidFill>
              <a:latin typeface="Tahoma" pitchFamily="34" charset="0"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628754" y="1975216"/>
            <a:ext cx="6238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solidFill>
                  <a:srgbClr val="4F81BD"/>
                </a:solidFill>
                <a:latin typeface="Tahoma" pitchFamily="34" charset="0"/>
              </a:rPr>
              <a:t>PMT</a:t>
            </a:r>
            <a:endParaRPr lang="fr-CA" dirty="0">
              <a:solidFill>
                <a:srgbClr val="4F81BD"/>
              </a:solidFill>
              <a:latin typeface="Tahoma" pitchFamily="34" charset="0"/>
            </a:endParaRPr>
          </a:p>
        </p:txBody>
      </p:sp>
      <p:sp>
        <p:nvSpPr>
          <p:cNvPr id="14" name="Line 7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2365475" y="1645413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>
              <a:solidFill>
                <a:prstClr val="black"/>
              </a:solidFill>
            </a:endParaRPr>
          </a:p>
        </p:txBody>
      </p:sp>
      <p:sp>
        <p:nvSpPr>
          <p:cNvPr id="2" name="Accolade fermante 1"/>
          <p:cNvSpPr/>
          <p:nvPr>
            <p:custDataLst>
              <p:tags r:id="rId11"/>
            </p:custDataLst>
          </p:nvPr>
        </p:nvSpPr>
        <p:spPr>
          <a:xfrm rot="16200000">
            <a:off x="1915692" y="1038252"/>
            <a:ext cx="153769" cy="74580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5" name="Accolade fermante 14"/>
          <p:cNvSpPr/>
          <p:nvPr>
            <p:custDataLst>
              <p:tags r:id="rId12"/>
            </p:custDataLst>
          </p:nvPr>
        </p:nvSpPr>
        <p:spPr>
          <a:xfrm rot="16200000">
            <a:off x="3031702" y="669999"/>
            <a:ext cx="153769" cy="148622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" name="Ellipse 2"/>
          <p:cNvSpPr/>
          <p:nvPr>
            <p:custDataLst>
              <p:tags r:id="rId13"/>
            </p:custDataLst>
          </p:nvPr>
        </p:nvSpPr>
        <p:spPr>
          <a:xfrm>
            <a:off x="827584" y="1935894"/>
            <a:ext cx="1537892" cy="386463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181944" y="3327834"/>
                <a:ext cx="4326160" cy="680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sz="2400" dirty="0" smtClean="0"/>
                  <a:t>Valeur </a:t>
                </a:r>
                <a14:m>
                  <m:oMath xmlns:m="http://schemas.openxmlformats.org/officeDocument/2006/math">
                    <m:r>
                      <a:rPr lang="fr-CA" sz="2400" i="1" smtClean="0">
                        <a:latin typeface="Cambria Math"/>
                      </a:rPr>
                      <m:t>=</m:t>
                    </m:r>
                    <m:r>
                      <a:rPr lang="fr-CA" sz="2400" b="0" i="1" smtClean="0">
                        <a:latin typeface="Cambria Math"/>
                      </a:rPr>
                      <m:t>𝑃𝑀𝑇</m:t>
                    </m:r>
                    <m:d>
                      <m:dPr>
                        <m:begChr m:val="["/>
                        <m:endChr m:val="]"/>
                        <m:ctrlPr>
                          <a:rPr lang="fr-CA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CA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fr-CA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CA" sz="2400" b="0" i="1" smtClean="0">
                                    <a:latin typeface="Cambria Math"/>
                                  </a:rPr>
                                  <m:t>1−</m:t>
                                </m:r>
                                <m:d>
                                  <m:dPr>
                                    <m:ctrlPr>
                                      <a:rPr lang="fr-CA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CA" sz="2400" b="0" i="1" smtClean="0">
                                        <a:latin typeface="Cambria Math"/>
                                      </a:rPr>
                                      <m:t>1+</m:t>
                                    </m:r>
                                    <m:r>
                                      <a:rPr lang="fr-CA" sz="2400" b="0" i="1" smtClean="0">
                                        <a:latin typeface="Cambria Math"/>
                                      </a:rPr>
                                      <m:t>𝑟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fr-CA" sz="2400" b="0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fr-CA" sz="2400" b="0" i="1" smtClean="0">
                                    <a:latin typeface="Cambria Math"/>
                                  </a:rPr>
                                  <m:t>𝑡</m:t>
                                </m:r>
                              </m:sup>
                            </m:sSup>
                          </m:num>
                          <m:den>
                            <m:r>
                              <a:rPr lang="fr-CA" sz="2400" b="0" i="1" smtClean="0">
                                <a:latin typeface="Cambria Math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endParaRPr lang="fr-CA" sz="2400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0"/>
                </p:custDataLst>
              </p:nvPr>
            </p:nvSpPr>
            <p:spPr>
              <a:xfrm>
                <a:off x="1181944" y="3327834"/>
                <a:ext cx="4326160" cy="680956"/>
              </a:xfrm>
              <a:prstGeom prst="rect">
                <a:avLst/>
              </a:prstGeom>
              <a:blipFill rotWithShape="0">
                <a:blip r:embed="rId21"/>
                <a:stretch>
                  <a:fillRect l="-2254" b="-625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1207316" y="4029913"/>
                <a:ext cx="2572595" cy="658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sz="2400" dirty="0" smtClean="0"/>
                  <a:t>Valeur</a:t>
                </a:r>
                <a:r>
                  <a:rPr lang="fr-CA" dirty="0" smtClean="0"/>
                  <a:t> </a:t>
                </a:r>
                <a14:m>
                  <m:oMath xmlns:m="http://schemas.openxmlformats.org/officeDocument/2006/math">
                    <m:r>
                      <a:rPr lang="fr-CA" sz="240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fr-CA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sz="2400" b="0" i="1" smtClean="0">
                            <a:latin typeface="Cambria Math"/>
                          </a:rPr>
                          <m:t>𝑃𝑀𝑇</m:t>
                        </m:r>
                      </m:num>
                      <m:den>
                        <m:r>
                          <a:rPr lang="fr-CA" sz="2400" b="0" i="1" smtClean="0">
                            <a:latin typeface="Cambria Math"/>
                          </a:rPr>
                          <m:t>𝑟</m:t>
                        </m:r>
                        <m:r>
                          <a:rPr lang="fr-CA" sz="2400" b="0" i="1" smtClean="0">
                            <a:latin typeface="Cambria Math"/>
                          </a:rPr>
                          <m:t>−</m:t>
                        </m:r>
                        <m:r>
                          <a:rPr lang="fr-CA" sz="2400" b="0" i="1" smtClean="0">
                            <a:latin typeface="Cambria Math"/>
                          </a:rPr>
                          <m:t>𝑔</m:t>
                        </m:r>
                      </m:den>
                    </m:f>
                  </m:oMath>
                </a14:m>
                <a:endParaRPr lang="fr-CA" sz="2400" dirty="0"/>
              </a:p>
            </p:txBody>
          </p:sp>
        </mc:Choice>
        <mc:Fallback xmlns="">
          <p:sp>
            <p:nvSpPr>
              <p:cNvPr id="16" name="ZoneTexte 1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2"/>
                </p:custDataLst>
              </p:nvPr>
            </p:nvSpPr>
            <p:spPr>
              <a:xfrm>
                <a:off x="1207316" y="4029913"/>
                <a:ext cx="2572595" cy="658963"/>
              </a:xfrm>
              <a:prstGeom prst="rect">
                <a:avLst/>
              </a:prstGeom>
              <a:blipFill rotWithShape="0">
                <a:blip r:embed="rId23"/>
                <a:stretch>
                  <a:fillRect l="-3555" b="-185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eur en arc 16"/>
          <p:cNvCxnSpPr/>
          <p:nvPr>
            <p:custDataLst>
              <p:tags r:id="rId16"/>
            </p:custDataLst>
          </p:nvPr>
        </p:nvCxnSpPr>
        <p:spPr>
          <a:xfrm>
            <a:off x="1227136" y="2304937"/>
            <a:ext cx="1138338" cy="141381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4616328" y="3394247"/>
                <a:ext cx="3340048" cy="503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2400" i="1" smtClean="0">
                          <a:solidFill>
                            <a:schemeClr val="accent2"/>
                          </a:solidFill>
                          <a:latin typeface="Cambria Math"/>
                        </a:rPr>
                        <m:t>∗</m:t>
                      </m:r>
                      <m:sSup>
                        <m:sSupPr>
                          <m:ctrlPr>
                            <a:rPr lang="fr-CA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CA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sz="2400" b="0" i="1" smtClean="0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  <m:t>1+</m:t>
                              </m:r>
                              <m:r>
                                <a:rPr lang="fr-CA" sz="2400" b="0" i="1" smtClean="0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f>
                            <m:fPr>
                              <m:type m:val="skw"/>
                              <m:ctrlPr>
                                <a:rPr lang="fr-CA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A" sz="2400" b="0" i="1" smtClean="0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fr-CA" sz="2400" b="0" i="1" smtClean="0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fr-CA" sz="2400" b="0" i="1" smtClean="0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fr-CA" sz="2400" b="0" i="1" smtClean="0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  <m:t>𝑚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fr-CA" sz="24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328" y="3394247"/>
                <a:ext cx="3340048" cy="503856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3093775" y="4146242"/>
                <a:ext cx="3278425" cy="503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2400" i="1" smtClean="0">
                          <a:solidFill>
                            <a:schemeClr val="accent2"/>
                          </a:solidFill>
                          <a:latin typeface="Cambria Math"/>
                        </a:rPr>
                        <m:t>∗</m:t>
                      </m:r>
                      <m:sSup>
                        <m:sSupPr>
                          <m:ctrlPr>
                            <a:rPr lang="fr-CA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CA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sz="2400" b="0" i="1" smtClean="0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  <m:t>1+</m:t>
                              </m:r>
                              <m:r>
                                <a:rPr lang="fr-CA" sz="2400" b="0" i="1" smtClean="0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f>
                            <m:fPr>
                              <m:type m:val="skw"/>
                              <m:ctrlPr>
                                <a:rPr lang="fr-CA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A" sz="2400" b="0" i="1" smtClean="0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fr-CA" sz="2400" b="0" i="1" smtClean="0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fr-CA" sz="2400" b="0" i="1" smtClean="0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fr-CA" sz="2400" b="0" i="1" smtClean="0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  <m:t>𝑚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fr-CA" sz="24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1" name="ZoneTexte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775" y="4146242"/>
                <a:ext cx="3278425" cy="503856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29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16" grpId="0"/>
      <p:bldP spid="5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05978"/>
            <a:ext cx="8229600" cy="529568"/>
          </a:xfrm>
        </p:spPr>
        <p:txBody>
          <a:bodyPr>
            <a:normAutofit/>
          </a:bodyPr>
          <a:lstStyle/>
          <a:p>
            <a:pPr algn="l"/>
            <a:r>
              <a:rPr lang="fr-CA" dirty="0" smtClean="0"/>
              <a:t>Exemple</a:t>
            </a:r>
            <a:endParaRPr lang="fr-CA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2031692"/>
            <a:ext cx="8229600" cy="25629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400" dirty="0" smtClean="0"/>
              <a:t>Le dernier coupon a été versé il y a 1 mois. Quelle est la valeur de l’obligation aujourd’hui s’il reste 9 coupons à verser, le TC est de 8 % et le TRE est de 5 %?</a:t>
            </a:r>
            <a:endParaRPr lang="fr-CA" sz="2400" dirty="0"/>
          </a:p>
        </p:txBody>
      </p:sp>
      <p:sp>
        <p:nvSpPr>
          <p:cNvPr id="4" name="Espace réservé du contenu 5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187624" y="861201"/>
            <a:ext cx="6768752" cy="1080119"/>
          </a:xfrm>
          <a:prstGeom prst="rect">
            <a:avLst/>
          </a:prstGeom>
          <a:ln w="1270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fr-CA" sz="2000" dirty="0" smtClean="0">
                <a:solidFill>
                  <a:schemeClr val="tx2"/>
                </a:solidFill>
              </a:rPr>
              <a:t>*** Note: nous allons privilégier cette approche plus rigoureuse mathématiquement à ce que le livre couvre sur les obligations au point 7.5.3 (clean &amp; </a:t>
            </a:r>
            <a:r>
              <a:rPr lang="fr-CA" sz="2000" dirty="0" err="1" smtClean="0">
                <a:solidFill>
                  <a:schemeClr val="tx2"/>
                </a:solidFill>
              </a:rPr>
              <a:t>dirty</a:t>
            </a:r>
            <a:r>
              <a:rPr lang="fr-CA" sz="2000" dirty="0" smtClean="0">
                <a:solidFill>
                  <a:schemeClr val="tx2"/>
                </a:solidFill>
              </a:rPr>
              <a:t> </a:t>
            </a:r>
            <a:r>
              <a:rPr lang="fr-CA" sz="2000" dirty="0" err="1" smtClean="0">
                <a:solidFill>
                  <a:schemeClr val="tx2"/>
                </a:solidFill>
              </a:rPr>
              <a:t>price</a:t>
            </a:r>
            <a:r>
              <a:rPr lang="fr-CA" sz="2000" dirty="0" smtClean="0">
                <a:solidFill>
                  <a:schemeClr val="tx2"/>
                </a:solidFill>
              </a:rPr>
              <a:t>) ***</a:t>
            </a:r>
          </a:p>
        </p:txBody>
      </p:sp>
    </p:spTree>
    <p:extLst>
      <p:ext uri="{BB962C8B-B14F-4D97-AF65-F5344CB8AC3E}">
        <p14:creationId xmlns:p14="http://schemas.microsoft.com/office/powerpoint/2010/main" val="483267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05978"/>
            <a:ext cx="8229600" cy="529568"/>
          </a:xfrm>
        </p:spPr>
        <p:txBody>
          <a:bodyPr>
            <a:normAutofit/>
          </a:bodyPr>
          <a:lstStyle/>
          <a:p>
            <a:pPr algn="l"/>
            <a:r>
              <a:rPr lang="fr-CA" dirty="0" smtClean="0"/>
              <a:t>Exemple</a:t>
            </a:r>
            <a:endParaRPr lang="fr-CA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843558"/>
            <a:ext cx="8229600" cy="3751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3200" dirty="0" smtClean="0"/>
              <a:t>Le dernier dividende trimestriel de 0,30 $ a été versé il y a 2 mois. Quel est la valeur intrinsèque de l’action si vous exigez un rendement de 12 % et prévoyez une croissance de 6 % </a:t>
            </a:r>
            <a:r>
              <a:rPr lang="fr-CA" sz="1800" dirty="0" smtClean="0"/>
              <a:t>(taux nominaux trimestriels)</a:t>
            </a:r>
            <a:r>
              <a:rPr lang="fr-CA" sz="3200" dirty="0" smtClean="0"/>
              <a:t>?</a:t>
            </a:r>
            <a:endParaRPr lang="fr-CA" sz="3200" dirty="0"/>
          </a:p>
        </p:txBody>
      </p:sp>
    </p:spTree>
    <p:extLst>
      <p:ext uri="{BB962C8B-B14F-4D97-AF65-F5344CB8AC3E}">
        <p14:creationId xmlns:p14="http://schemas.microsoft.com/office/powerpoint/2010/main" val="426474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À réviser :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486670" y="1347614"/>
            <a:ext cx="8117778" cy="2808287"/>
          </a:xfrm>
        </p:spPr>
        <p:txBody>
          <a:bodyPr>
            <a:noAutofit/>
          </a:bodyPr>
          <a:lstStyle/>
          <a:p>
            <a:pPr marL="514350" indent="-514350">
              <a:buSzPct val="100000"/>
              <a:buAutoNum type="arabicParenR"/>
            </a:pPr>
            <a:r>
              <a:rPr lang="fr-CA" sz="3200" dirty="0" smtClean="0"/>
              <a:t>Valeur entre deux dates de versements</a:t>
            </a:r>
          </a:p>
          <a:p>
            <a:pPr marL="514350" indent="-514350">
              <a:buSzPct val="100000"/>
              <a:buAutoNum type="arabicParenR"/>
            </a:pPr>
            <a:r>
              <a:rPr lang="fr-CA" sz="3200" b="1" dirty="0" smtClean="0">
                <a:solidFill>
                  <a:schemeClr val="tx1"/>
                </a:solidFill>
              </a:rPr>
              <a:t>Regroupement des </a:t>
            </a:r>
            <a:r>
              <a:rPr lang="fr-CA" sz="3200" b="1" dirty="0" err="1" smtClean="0">
                <a:solidFill>
                  <a:schemeClr val="tx1"/>
                </a:solidFill>
              </a:rPr>
              <a:t>FMs</a:t>
            </a:r>
            <a:r>
              <a:rPr lang="fr-CA" sz="3200" b="1" dirty="0" smtClean="0">
                <a:solidFill>
                  <a:schemeClr val="tx1"/>
                </a:solidFill>
              </a:rPr>
              <a:t> d’une annuité présentant des montants en croissance</a:t>
            </a:r>
            <a:endParaRPr lang="fr-CA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2668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l"/>
            <a:r>
              <a:rPr lang="fr-CA" dirty="0" smtClean="0"/>
              <a:t>L’annuité en croissance</a:t>
            </a:r>
            <a:endParaRPr lang="fr-CA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4294967295"/>
            <p:custDataLst>
              <p:tags r:id="rId3"/>
            </p:custDataLst>
          </p:nvPr>
        </p:nvSpPr>
        <p:spPr>
          <a:xfrm>
            <a:off x="477333" y="1223664"/>
            <a:ext cx="8291512" cy="11414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CA" sz="2800" dirty="0" smtClean="0"/>
              <a:t>Si un montant croît de façon constante et finie, comme pour l’annuité, on peut regrouper ces montant en un seul calcul :</a:t>
            </a:r>
            <a:endParaRPr lang="fr-CA" sz="2800" dirty="0"/>
          </a:p>
          <a:p>
            <a:pPr algn="ctr">
              <a:buFontTx/>
              <a:buNone/>
            </a:pPr>
            <a:endParaRPr lang="fr-CA" sz="2800" dirty="0"/>
          </a:p>
        </p:txBody>
      </p:sp>
      <p:graphicFrame>
        <p:nvGraphicFramePr>
          <p:cNvPr id="18448" name="Object 16"/>
          <p:cNvGraphicFramePr>
            <a:graphicFrameLocks noGrp="1" noChangeAspect="1"/>
          </p:cNvGraphicFramePr>
          <p:nvPr>
            <p:ph sz="half" idx="4294967295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195123446"/>
              </p:ext>
            </p:extLst>
          </p:nvPr>
        </p:nvGraphicFramePr>
        <p:xfrm>
          <a:off x="2628901" y="2022878"/>
          <a:ext cx="3887787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Equation" r:id="rId31" imgW="1917360" imgH="558720" progId="Equation.3">
                  <p:embed/>
                </p:oleObj>
              </mc:Choice>
              <mc:Fallback>
                <p:oleObj name="Equation" r:id="rId31" imgW="1917360" imgH="558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1" y="2022878"/>
                        <a:ext cx="3887787" cy="1133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Line 4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1258889" y="3651647"/>
            <a:ext cx="3817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8437" name="Line 5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076825" y="3651647"/>
            <a:ext cx="935038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8438" name="Line 6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6011863" y="3651647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8439" name="Line 7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7451725" y="3489722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8440" name="Line 8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6516688" y="3543300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8441" name="Line 9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1258888" y="3489722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8442" name="Line 10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2268538" y="3543300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8443" name="Line 11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3348038" y="3543300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8444" name="Line 12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4427538" y="3543300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8445" name="Text Box 13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042989" y="3165872"/>
            <a:ext cx="7298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 smtClean="0">
                <a:latin typeface="Tahoma" pitchFamily="34" charset="0"/>
              </a:rPr>
              <a:t>VAAC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18446" name="Line 14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3348038" y="3598069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8447" name="Text Box 15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851275" y="3327797"/>
            <a:ext cx="2680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>
                <a:latin typeface="Tahoma" pitchFamily="34" charset="0"/>
              </a:rPr>
              <a:t>r</a:t>
            </a:r>
          </a:p>
        </p:txBody>
      </p:sp>
      <p:sp>
        <p:nvSpPr>
          <p:cNvPr id="18449" name="Text Box 17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031719" y="3797605"/>
            <a:ext cx="5341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200" dirty="0" smtClean="0">
                <a:latin typeface="Tahoma" pitchFamily="34" charset="0"/>
              </a:rPr>
              <a:t>PMT</a:t>
            </a:r>
            <a:r>
              <a:rPr lang="fr-CA" sz="1200" baseline="-25000" dirty="0" smtClean="0">
                <a:latin typeface="Tahoma" pitchFamily="34" charset="0"/>
              </a:rPr>
              <a:t>1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22" name="Ellipse 21"/>
          <p:cNvSpPr/>
          <p:nvPr>
            <p:custDataLst>
              <p:tags r:id="rId18"/>
            </p:custDataLst>
          </p:nvPr>
        </p:nvSpPr>
        <p:spPr>
          <a:xfrm>
            <a:off x="1907704" y="3705876"/>
            <a:ext cx="6028722" cy="441453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57" name="Forme libre 56"/>
          <p:cNvSpPr/>
          <p:nvPr>
            <p:custDataLst>
              <p:tags r:id="rId19"/>
            </p:custDataLst>
          </p:nvPr>
        </p:nvSpPr>
        <p:spPr>
          <a:xfrm>
            <a:off x="1285875" y="4029075"/>
            <a:ext cx="990600" cy="248247"/>
          </a:xfrm>
          <a:custGeom>
            <a:avLst/>
            <a:gdLst>
              <a:gd name="connsiteX0" fmla="*/ 990600 w 990600"/>
              <a:gd name="connsiteY0" fmla="*/ 57150 h 344487"/>
              <a:gd name="connsiteX1" fmla="*/ 666750 w 990600"/>
              <a:gd name="connsiteY1" fmla="*/ 295275 h 344487"/>
              <a:gd name="connsiteX2" fmla="*/ 228600 w 990600"/>
              <a:gd name="connsiteY2" fmla="*/ 295275 h 344487"/>
              <a:gd name="connsiteX3" fmla="*/ 0 w 990600"/>
              <a:gd name="connsiteY3" fmla="*/ 0 h 344487"/>
              <a:gd name="connsiteX0" fmla="*/ 990600 w 990600"/>
              <a:gd name="connsiteY0" fmla="*/ 57150 h 330996"/>
              <a:gd name="connsiteX1" fmla="*/ 666750 w 990600"/>
              <a:gd name="connsiteY1" fmla="*/ 295275 h 330996"/>
              <a:gd name="connsiteX2" fmla="*/ 285729 w 990600"/>
              <a:gd name="connsiteY2" fmla="*/ 271478 h 330996"/>
              <a:gd name="connsiteX3" fmla="*/ 0 w 990600"/>
              <a:gd name="connsiteY3" fmla="*/ 0 h 330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0600" h="330996">
                <a:moveTo>
                  <a:pt x="990600" y="57150"/>
                </a:moveTo>
                <a:cubicBezTo>
                  <a:pt x="892175" y="156369"/>
                  <a:pt x="784228" y="259554"/>
                  <a:pt x="666750" y="295275"/>
                </a:cubicBezTo>
                <a:cubicBezTo>
                  <a:pt x="549272" y="330996"/>
                  <a:pt x="396854" y="320690"/>
                  <a:pt x="285729" y="271478"/>
                </a:cubicBezTo>
                <a:cubicBezTo>
                  <a:pt x="174604" y="222266"/>
                  <a:pt x="58737" y="123031"/>
                  <a:pt x="0" y="0"/>
                </a:cubicBezTo>
              </a:path>
            </a:pathLst>
          </a:cu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58" name="ZoneTexte 57"/>
          <p:cNvSpPr txBox="1"/>
          <p:nvPr>
            <p:custDataLst>
              <p:tags r:id="rId20"/>
            </p:custDataLst>
          </p:nvPr>
        </p:nvSpPr>
        <p:spPr>
          <a:xfrm>
            <a:off x="214282" y="4339841"/>
            <a:ext cx="6528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dirty="0" smtClean="0">
                <a:solidFill>
                  <a:schemeClr val="tx2"/>
                </a:solidFill>
              </a:rPr>
              <a:t>*Résultat de ce calcul d’annuité en croissance est TOUJOURS</a:t>
            </a:r>
          </a:p>
          <a:p>
            <a:r>
              <a:rPr lang="fr-CA" dirty="0" smtClean="0">
                <a:solidFill>
                  <a:schemeClr val="tx2"/>
                </a:solidFill>
              </a:rPr>
              <a:t>trouvé sur une période avant le 1</a:t>
            </a:r>
            <a:r>
              <a:rPr lang="fr-CA" baseline="30000" dirty="0" smtClean="0">
                <a:solidFill>
                  <a:schemeClr val="tx2"/>
                </a:solidFill>
              </a:rPr>
              <a:t>er</a:t>
            </a:r>
            <a:r>
              <a:rPr lang="fr-CA" dirty="0" smtClean="0">
                <a:solidFill>
                  <a:schemeClr val="tx2"/>
                </a:solidFill>
              </a:rPr>
              <a:t> versement</a:t>
            </a:r>
          </a:p>
        </p:txBody>
      </p:sp>
      <p:sp>
        <p:nvSpPr>
          <p:cNvPr id="25" name="Text Box 18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6836933" y="4078231"/>
            <a:ext cx="17363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400" dirty="0" smtClean="0">
                <a:solidFill>
                  <a:schemeClr val="tx2"/>
                </a:solidFill>
                <a:latin typeface="Tahoma" pitchFamily="34" charset="0"/>
              </a:rPr>
              <a:t>t = # de paiements</a:t>
            </a:r>
          </a:p>
          <a:p>
            <a:r>
              <a:rPr lang="fr-CA" sz="1400" dirty="0" smtClean="0">
                <a:solidFill>
                  <a:schemeClr val="tx2"/>
                </a:solidFill>
                <a:latin typeface="Tahoma" pitchFamily="34" charset="0"/>
              </a:rPr>
              <a:t>      à regrouper</a:t>
            </a:r>
            <a:endParaRPr lang="fr-CA" sz="1400" dirty="0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26" name="Text Box 17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109030" y="3783817"/>
            <a:ext cx="5341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200" dirty="0" smtClean="0">
                <a:latin typeface="Tahoma" pitchFamily="34" charset="0"/>
              </a:rPr>
              <a:t>PMT</a:t>
            </a:r>
            <a:r>
              <a:rPr lang="fr-CA" sz="1200" baseline="-25000" dirty="0" smtClean="0">
                <a:latin typeface="Tahoma" pitchFamily="34" charset="0"/>
              </a:rPr>
              <a:t>2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27" name="Text Box 17"/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4177854" y="3783816"/>
            <a:ext cx="5341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200" dirty="0" smtClean="0">
                <a:latin typeface="Tahoma" pitchFamily="34" charset="0"/>
              </a:rPr>
              <a:t>PMT</a:t>
            </a:r>
            <a:r>
              <a:rPr lang="fr-CA" sz="1200" baseline="-25000" dirty="0" smtClean="0">
                <a:latin typeface="Tahoma" pitchFamily="34" charset="0"/>
              </a:rPr>
              <a:t>3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28" name="Text Box 17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7228614" y="3779364"/>
            <a:ext cx="51167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200" dirty="0" err="1" smtClean="0">
                <a:latin typeface="Tahoma" pitchFamily="34" charset="0"/>
              </a:rPr>
              <a:t>PMT</a:t>
            </a:r>
            <a:r>
              <a:rPr lang="fr-CA" sz="1200" baseline="-25000" dirty="0" err="1" smtClean="0">
                <a:latin typeface="Tahoma" pitchFamily="34" charset="0"/>
              </a:rPr>
              <a:t>t</a:t>
            </a:r>
            <a:endParaRPr lang="fr-CA" dirty="0">
              <a:latin typeface="Tahoma" pitchFamily="34" charset="0"/>
            </a:endParaRPr>
          </a:p>
        </p:txBody>
      </p:sp>
      <p:sp>
        <p:nvSpPr>
          <p:cNvPr id="29" name="Text Box 17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277680" y="3788102"/>
            <a:ext cx="60272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sz="1200" dirty="0" smtClean="0">
                <a:latin typeface="Tahoma" pitchFamily="34" charset="0"/>
              </a:rPr>
              <a:t>PMT</a:t>
            </a:r>
            <a:r>
              <a:rPr lang="fr-CA" sz="1200" baseline="-25000" dirty="0" smtClean="0">
                <a:latin typeface="Tahoma" pitchFamily="34" charset="0"/>
              </a:rPr>
              <a:t>t-1</a:t>
            </a:r>
            <a:endParaRPr lang="fr-CA" dirty="0">
              <a:latin typeface="Tahoma" pitchFamily="34" charset="0"/>
            </a:endParaRPr>
          </a:p>
        </p:txBody>
      </p:sp>
      <p:grpSp>
        <p:nvGrpSpPr>
          <p:cNvPr id="4" name="Groupe 3"/>
          <p:cNvGrpSpPr/>
          <p:nvPr>
            <p:custDataLst>
              <p:tags r:id="rId26"/>
            </p:custDataLst>
          </p:nvPr>
        </p:nvGrpSpPr>
        <p:grpSpPr>
          <a:xfrm>
            <a:off x="2624330" y="3675370"/>
            <a:ext cx="484700" cy="338554"/>
            <a:chOff x="2624330" y="3675370"/>
            <a:chExt cx="484700" cy="338554"/>
          </a:xfrm>
        </p:grpSpPr>
        <p:cxnSp>
          <p:nvCxnSpPr>
            <p:cNvPr id="3" name="Connecteur droit avec flèche 2"/>
            <p:cNvCxnSpPr>
              <a:endCxn id="26" idx="1"/>
            </p:cNvCxnSpPr>
            <p:nvPr/>
          </p:nvCxnSpPr>
          <p:spPr>
            <a:xfrm>
              <a:off x="2624330" y="3917863"/>
              <a:ext cx="484700" cy="4454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 Box 17"/>
            <p:cNvSpPr txBox="1">
              <a:spLocks noChangeArrowheads="1"/>
            </p:cNvSpPr>
            <p:nvPr/>
          </p:nvSpPr>
          <p:spPr bwMode="auto">
            <a:xfrm>
              <a:off x="2692385" y="3675370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600" dirty="0">
                  <a:solidFill>
                    <a:schemeClr val="accent6">
                      <a:lumMod val="75000"/>
                    </a:schemeClr>
                  </a:solidFill>
                  <a:latin typeface="Tahoma" pitchFamily="34" charset="0"/>
                </a:rPr>
                <a:t>g</a:t>
              </a:r>
              <a:endParaRPr lang="fr-CA" dirty="0">
                <a:solidFill>
                  <a:schemeClr val="accent6">
                    <a:lumMod val="75000"/>
                  </a:schemeClr>
                </a:solidFill>
                <a:latin typeface="Tahoma" pitchFamily="34" charset="0"/>
              </a:endParaRPr>
            </a:p>
          </p:txBody>
        </p:sp>
      </p:grpSp>
      <p:grpSp>
        <p:nvGrpSpPr>
          <p:cNvPr id="34" name="Groupe 33"/>
          <p:cNvGrpSpPr/>
          <p:nvPr>
            <p:custDataLst>
              <p:tags r:id="rId27"/>
            </p:custDataLst>
          </p:nvPr>
        </p:nvGrpSpPr>
        <p:grpSpPr>
          <a:xfrm>
            <a:off x="3639680" y="3684392"/>
            <a:ext cx="484700" cy="338554"/>
            <a:chOff x="2624330" y="3675370"/>
            <a:chExt cx="484700" cy="338554"/>
          </a:xfrm>
        </p:grpSpPr>
        <p:cxnSp>
          <p:nvCxnSpPr>
            <p:cNvPr id="35" name="Connecteur droit avec flèche 34"/>
            <p:cNvCxnSpPr/>
            <p:nvPr/>
          </p:nvCxnSpPr>
          <p:spPr>
            <a:xfrm>
              <a:off x="2624330" y="3917863"/>
              <a:ext cx="484700" cy="4454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 Box 17"/>
            <p:cNvSpPr txBox="1">
              <a:spLocks noChangeArrowheads="1"/>
            </p:cNvSpPr>
            <p:nvPr/>
          </p:nvSpPr>
          <p:spPr bwMode="auto">
            <a:xfrm>
              <a:off x="2692385" y="3675370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600" dirty="0">
                  <a:solidFill>
                    <a:schemeClr val="accent6">
                      <a:lumMod val="75000"/>
                    </a:schemeClr>
                  </a:solidFill>
                  <a:latin typeface="Tahoma" pitchFamily="34" charset="0"/>
                </a:rPr>
                <a:t>g</a:t>
              </a:r>
              <a:endParaRPr lang="fr-CA" dirty="0">
                <a:solidFill>
                  <a:schemeClr val="accent6">
                    <a:lumMod val="75000"/>
                  </a:schemeClr>
                </a:solidFill>
                <a:latin typeface="Tahoma" pitchFamily="34" charset="0"/>
              </a:endParaRPr>
            </a:p>
          </p:txBody>
        </p:sp>
      </p:grpSp>
      <p:grpSp>
        <p:nvGrpSpPr>
          <p:cNvPr id="37" name="Groupe 36"/>
          <p:cNvGrpSpPr/>
          <p:nvPr>
            <p:custDataLst>
              <p:tags r:id="rId28"/>
            </p:custDataLst>
          </p:nvPr>
        </p:nvGrpSpPr>
        <p:grpSpPr>
          <a:xfrm>
            <a:off x="4658096" y="3704495"/>
            <a:ext cx="484700" cy="338554"/>
            <a:chOff x="2624330" y="3675370"/>
            <a:chExt cx="484700" cy="338554"/>
          </a:xfrm>
        </p:grpSpPr>
        <p:cxnSp>
          <p:nvCxnSpPr>
            <p:cNvPr id="38" name="Connecteur droit avec flèche 37"/>
            <p:cNvCxnSpPr/>
            <p:nvPr/>
          </p:nvCxnSpPr>
          <p:spPr>
            <a:xfrm>
              <a:off x="2624330" y="3917863"/>
              <a:ext cx="484700" cy="4454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 Box 17"/>
            <p:cNvSpPr txBox="1">
              <a:spLocks noChangeArrowheads="1"/>
            </p:cNvSpPr>
            <p:nvPr/>
          </p:nvSpPr>
          <p:spPr bwMode="auto">
            <a:xfrm>
              <a:off x="2692385" y="3675370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600" dirty="0">
                  <a:solidFill>
                    <a:schemeClr val="accent6">
                      <a:lumMod val="75000"/>
                    </a:schemeClr>
                  </a:solidFill>
                  <a:latin typeface="Tahoma" pitchFamily="34" charset="0"/>
                </a:rPr>
                <a:t>g</a:t>
              </a:r>
              <a:endParaRPr lang="fr-CA" dirty="0">
                <a:solidFill>
                  <a:schemeClr val="accent6">
                    <a:lumMod val="75000"/>
                  </a:schemeClr>
                </a:solidFill>
                <a:latin typeface="Tahoma" pitchFamily="34" charset="0"/>
              </a:endParaRPr>
            </a:p>
          </p:txBody>
        </p:sp>
      </p:grpSp>
      <p:grpSp>
        <p:nvGrpSpPr>
          <p:cNvPr id="40" name="Groupe 39"/>
          <p:cNvGrpSpPr/>
          <p:nvPr>
            <p:custDataLst>
              <p:tags r:id="rId29"/>
            </p:custDataLst>
          </p:nvPr>
        </p:nvGrpSpPr>
        <p:grpSpPr>
          <a:xfrm>
            <a:off x="6759172" y="3704495"/>
            <a:ext cx="484700" cy="338554"/>
            <a:chOff x="2624330" y="3675370"/>
            <a:chExt cx="484700" cy="338554"/>
          </a:xfrm>
        </p:grpSpPr>
        <p:cxnSp>
          <p:nvCxnSpPr>
            <p:cNvPr id="41" name="Connecteur droit avec flèche 40"/>
            <p:cNvCxnSpPr/>
            <p:nvPr/>
          </p:nvCxnSpPr>
          <p:spPr>
            <a:xfrm>
              <a:off x="2624330" y="3917863"/>
              <a:ext cx="484700" cy="4454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 Box 17"/>
            <p:cNvSpPr txBox="1">
              <a:spLocks noChangeArrowheads="1"/>
            </p:cNvSpPr>
            <p:nvPr/>
          </p:nvSpPr>
          <p:spPr bwMode="auto">
            <a:xfrm>
              <a:off x="2692385" y="3675370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600" dirty="0">
                  <a:solidFill>
                    <a:schemeClr val="accent6">
                      <a:lumMod val="75000"/>
                    </a:schemeClr>
                  </a:solidFill>
                  <a:latin typeface="Tahoma" pitchFamily="34" charset="0"/>
                </a:rPr>
                <a:t>g</a:t>
              </a:r>
              <a:endParaRPr lang="fr-CA" dirty="0">
                <a:solidFill>
                  <a:schemeClr val="accent6">
                    <a:lumMod val="75000"/>
                  </a:schemeClr>
                </a:solidFill>
                <a:latin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9761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animBg="1"/>
      <p:bldP spid="18437" grpId="0" animBg="1"/>
      <p:bldP spid="18438" grpId="0" animBg="1"/>
      <p:bldP spid="18439" grpId="0" animBg="1"/>
      <p:bldP spid="18440" grpId="0" animBg="1"/>
      <p:bldP spid="18441" grpId="0" animBg="1"/>
      <p:bldP spid="18442" grpId="0" animBg="1"/>
      <p:bldP spid="18443" grpId="0" animBg="1"/>
      <p:bldP spid="18444" grpId="0" animBg="1"/>
      <p:bldP spid="18445" grpId="0"/>
      <p:bldP spid="18446" grpId="0" animBg="1"/>
      <p:bldP spid="18447" grpId="0"/>
      <p:bldP spid="18449" grpId="0"/>
      <p:bldP spid="22" grpId="0" animBg="1"/>
      <p:bldP spid="57" grpId="0" animBg="1"/>
      <p:bldP spid="58" grpId="0"/>
      <p:bldP spid="25" grpId="0"/>
      <p:bldP spid="26" grpId="0"/>
      <p:bldP spid="27" grpId="0"/>
      <p:bldP spid="28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05978"/>
            <a:ext cx="8435280" cy="529568"/>
          </a:xfrm>
        </p:spPr>
        <p:txBody>
          <a:bodyPr>
            <a:normAutofit/>
          </a:bodyPr>
          <a:lstStyle/>
          <a:p>
            <a:pPr algn="l"/>
            <a:r>
              <a:rPr lang="fr-CA" dirty="0" smtClean="0"/>
              <a:t>Exemple</a:t>
            </a:r>
            <a:endParaRPr lang="fr-CA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843558"/>
            <a:ext cx="8435280" cy="3751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800" dirty="0" smtClean="0"/>
              <a:t>À l’âge de 60 ans vous achetez une rente mensuelle indexée au taux d’inflation de 3 % à une compagnie d’assurance. Le premier versement, à la date d’achat, serait de 7 500 $.</a:t>
            </a:r>
          </a:p>
          <a:p>
            <a:pPr marL="0" indent="0">
              <a:buNone/>
            </a:pPr>
            <a:r>
              <a:rPr lang="fr-CA" sz="2800" dirty="0" smtClean="0"/>
              <a:t>Évaluez le coût de cette rente si la compagnie d’assurance estime votre espérance de vie à 85 ans et exige un rendement de 9 % </a:t>
            </a:r>
            <a:r>
              <a:rPr lang="fr-CA" sz="1800" dirty="0" smtClean="0"/>
              <a:t>(tous les taux sont nominaux mensuels)</a:t>
            </a:r>
            <a:r>
              <a:rPr lang="fr-CA" sz="2800" dirty="0" smtClean="0"/>
              <a:t>:</a:t>
            </a:r>
            <a:endParaRPr lang="fr-CA" sz="2800" dirty="0"/>
          </a:p>
        </p:txBody>
      </p:sp>
    </p:spTree>
    <p:extLst>
      <p:ext uri="{BB962C8B-B14F-4D97-AF65-F5344CB8AC3E}">
        <p14:creationId xmlns:p14="http://schemas.microsoft.com/office/powerpoint/2010/main" val="2944558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707654"/>
            <a:ext cx="4736592" cy="1645920"/>
          </a:xfrm>
        </p:spPr>
      </p:pic>
    </p:spTree>
    <p:extLst>
      <p:ext uri="{BB962C8B-B14F-4D97-AF65-F5344CB8AC3E}">
        <p14:creationId xmlns:p14="http://schemas.microsoft.com/office/powerpoint/2010/main" val="4121272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heme/theme1.xml><?xml version="1.0" encoding="utf-8"?>
<a:theme xmlns:a="http://schemas.openxmlformats.org/drawingml/2006/main" name="Thème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èmeHEC" id="{7465C618-7679-4EFC-97C4-7229E9764B6E}" vid="{8FDDE1AC-1B25-4CFF-908F-B02124D657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ThèmeHEC</Template>
  <TotalTime>24140</TotalTime>
  <Words>373</Words>
  <Application>Microsoft Office PowerPoint</Application>
  <PresentationFormat>On-screen Show (16:9)</PresentationFormat>
  <Paragraphs>74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Cambria Math</vt:lpstr>
      <vt:lpstr>Tahoma</vt:lpstr>
      <vt:lpstr>ThèmeHEC</vt:lpstr>
      <vt:lpstr>Equation</vt:lpstr>
      <vt:lpstr>VALEUR ENTRE 2 DATES ET CROISSANCE</vt:lpstr>
      <vt:lpstr>À réviser :</vt:lpstr>
      <vt:lpstr>À réviser :</vt:lpstr>
      <vt:lpstr>Valeur entre deux dates de versements</vt:lpstr>
      <vt:lpstr>Valeur entre deux dates de versements</vt:lpstr>
      <vt:lpstr>Valeur entre deux dates de versements</vt:lpstr>
      <vt:lpstr>Exemple</vt:lpstr>
      <vt:lpstr>Exemple</vt:lpstr>
      <vt:lpstr>À réviser :</vt:lpstr>
      <vt:lpstr>L’annuité en croissance</vt:lpstr>
      <vt:lpstr>Exemple</vt:lpstr>
      <vt:lpstr>PowerPoint Presentation</vt:lpstr>
    </vt:vector>
  </TitlesOfParts>
  <Company>HEC Montréal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10: L’évaluation de projet</dc:title>
  <dc:creator>clihec3</dc:creator>
  <cp:lastModifiedBy>jean-philippe tarte</cp:lastModifiedBy>
  <cp:revision>51</cp:revision>
  <dcterms:created xsi:type="dcterms:W3CDTF">2009-10-06T19:32:40Z</dcterms:created>
  <dcterms:modified xsi:type="dcterms:W3CDTF">2018-05-09T20:00:16Z</dcterms:modified>
</cp:coreProperties>
</file>